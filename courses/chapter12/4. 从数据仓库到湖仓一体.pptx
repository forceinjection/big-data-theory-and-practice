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0" r:id="rId22"/>
    <p:sldId id="276" r:id="rId23"/>
    <p:sldId id="277" r:id="rId24"/>
    <p:sldId id="278" r:id="rId25"/>
    <p:sldId id="279" r:id="rId26"/>
  </p:sldIdLst>
  <p:sldSz cx="16256000" cy="9144000"/>
  <p:notesSz cx="9144000" cy="16256000"/>
  <p:embeddedFontLst>
    <p:embeddedFont>
      <p:font typeface="MiSans" pitchFamily="2" charset="-122"/>
      <p:regular r:id="rId28"/>
    </p:embeddedFont>
    <p:embeddedFont>
      <p:font typeface="Noto Sans SC" panose="020B0200000000000000" pitchFamily="34" charset="-128"/>
      <p:regular r:id="rId29"/>
    </p:embeddedFont>
    <p:embeddedFont>
      <p:font typeface="微软雅黑" panose="020B0503020204020204" pitchFamily="34" charset="-122"/>
      <p:regular r:id="rId30"/>
      <p:bold r:id="rId31"/>
    </p:embeddedFont>
    <p:embeddedFont>
      <p:font typeface="Liter" panose="02000503030000020004" pitchFamily="2" charset="0"/>
      <p:regular r:id="rId3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92"/>
    <p:restoredTop sz="94610"/>
  </p:normalViewPr>
  <p:slideViewPr>
    <p:cSldViewPr snapToGrid="0" snapToObjects="1">
      <p:cViewPr varScale="1">
        <p:scale>
          <a:sx n="90" d="100"/>
          <a:sy n="90" d="100"/>
        </p:scale>
        <p:origin x="36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083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images.squarespace-cdn.com/38c5d118b1e4daa5a481d9c3b57c67b7cc7ba813.jpg"/>
          <p:cNvPicPr>
            <a:picLocks noChangeAspect="1"/>
          </p:cNvPicPr>
          <p:nvPr/>
        </p:nvPicPr>
        <p:blipFill>
          <a:blip r:embed="rId3">
            <a:alphaModFix amt="30000"/>
          </a:blip>
          <a:srcRect t="16518" b="16518"/>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202C">
                  <a:alpha val="95000"/>
                </a:srgbClr>
              </a:gs>
              <a:gs pos="50000">
                <a:srgbClr val="1A202C">
                  <a:alpha val="90000"/>
                </a:srgbClr>
              </a:gs>
              <a:gs pos="100000">
                <a:srgbClr val="4A5568">
                  <a:alpha val="80000"/>
                </a:srgbClr>
              </a:gs>
            </a:gsLst>
            <a:lin ang="2700000" scaled="1"/>
          </a:gradFill>
          <a:ln/>
        </p:spPr>
        <p:txBody>
          <a:bodyPr/>
          <a:lstStyle/>
          <a:p>
            <a:endParaRPr lang="zh-CN" altLang="en-US"/>
          </a:p>
        </p:txBody>
      </p:sp>
      <p:sp>
        <p:nvSpPr>
          <p:cNvPr id="4" name="Shape 1"/>
          <p:cNvSpPr/>
          <p:nvPr/>
        </p:nvSpPr>
        <p:spPr>
          <a:xfrm>
            <a:off x="5769769" y="1593850"/>
            <a:ext cx="4711700" cy="673100"/>
          </a:xfrm>
          <a:custGeom>
            <a:avLst/>
            <a:gdLst/>
            <a:ahLst/>
            <a:cxnLst/>
            <a:rect l="l" t="t" r="r" b="b"/>
            <a:pathLst>
              <a:path w="4711700" h="673100">
                <a:moveTo>
                  <a:pt x="101598" y="0"/>
                </a:moveTo>
                <a:lnTo>
                  <a:pt x="4610102" y="0"/>
                </a:lnTo>
                <a:cubicBezTo>
                  <a:pt x="4666213" y="0"/>
                  <a:pt x="4711700" y="45487"/>
                  <a:pt x="4711700" y="101598"/>
                </a:cubicBezTo>
                <a:lnTo>
                  <a:pt x="4711700" y="571502"/>
                </a:lnTo>
                <a:cubicBezTo>
                  <a:pt x="4711700" y="627613"/>
                  <a:pt x="4666213" y="673100"/>
                  <a:pt x="4610102" y="673100"/>
                </a:cubicBezTo>
                <a:lnTo>
                  <a:pt x="101598" y="673100"/>
                </a:lnTo>
                <a:cubicBezTo>
                  <a:pt x="45487" y="673100"/>
                  <a:pt x="0" y="627613"/>
                  <a:pt x="0" y="571502"/>
                </a:cubicBezTo>
                <a:lnTo>
                  <a:pt x="0" y="101598"/>
                </a:lnTo>
                <a:cubicBezTo>
                  <a:pt x="0" y="45487"/>
                  <a:pt x="45487" y="0"/>
                  <a:pt x="101598" y="0"/>
                </a:cubicBezTo>
                <a:close/>
              </a:path>
            </a:pathLst>
          </a:custGeom>
          <a:solidFill>
            <a:srgbClr val="4FD1C5">
              <a:alpha val="20000"/>
            </a:srgbClr>
          </a:solidFill>
          <a:ln w="12700">
            <a:solidFill>
              <a:srgbClr val="4FD1C5"/>
            </a:solidFill>
            <a:prstDash val="solid"/>
          </a:ln>
        </p:spPr>
        <p:txBody>
          <a:bodyPr/>
          <a:lstStyle/>
          <a:p>
            <a:endParaRPr lang="zh-CN" altLang="en-US"/>
          </a:p>
        </p:txBody>
      </p:sp>
      <p:sp>
        <p:nvSpPr>
          <p:cNvPr id="5" name="Text 2"/>
          <p:cNvSpPr/>
          <p:nvPr/>
        </p:nvSpPr>
        <p:spPr>
          <a:xfrm>
            <a:off x="6017419" y="1758950"/>
            <a:ext cx="4221063" cy="336550"/>
          </a:xfrm>
          <a:prstGeom prst="rect">
            <a:avLst/>
          </a:prstGeom>
          <a:noFill/>
          <a:ln/>
        </p:spPr>
        <p:txBody>
          <a:bodyPr wrap="square" lIns="0" tIns="0" rIns="0" bIns="0" rtlCol="0" anchor="ctr"/>
          <a:lstStyle/>
          <a:p>
            <a:pPr algn="ctr">
              <a:lnSpc>
                <a:spcPct val="120000"/>
              </a:lnSpc>
            </a:pPr>
            <a:r>
              <a:rPr lang="en-US" sz="2000" b="1" kern="0" spc="100" dirty="0">
                <a:solidFill>
                  <a:srgbClr val="4FD1C5"/>
                </a:solidFill>
                <a:latin typeface="MiSans" pitchFamily="34" charset="0"/>
                <a:ea typeface="MiSans" pitchFamily="34" charset="-122"/>
                <a:cs typeface="MiSans" pitchFamily="34" charset="-120"/>
              </a:rPr>
              <a:t>MODERN DATA ARCHITECTURE</a:t>
            </a:r>
            <a:endParaRPr lang="en-US" sz="1600" dirty="0"/>
          </a:p>
        </p:txBody>
      </p:sp>
      <p:sp>
        <p:nvSpPr>
          <p:cNvPr id="6" name="Text 3"/>
          <p:cNvSpPr/>
          <p:nvPr/>
        </p:nvSpPr>
        <p:spPr>
          <a:xfrm>
            <a:off x="3327400" y="2901950"/>
            <a:ext cx="9601200" cy="1301750"/>
          </a:xfrm>
          <a:prstGeom prst="rect">
            <a:avLst/>
          </a:prstGeom>
          <a:noFill/>
          <a:ln/>
        </p:spPr>
        <p:txBody>
          <a:bodyPr wrap="square" lIns="0" tIns="0" rIns="0" bIns="0" rtlCol="0" anchor="ctr"/>
          <a:lstStyle/>
          <a:p>
            <a:pPr algn="ctr">
              <a:lnSpc>
                <a:spcPct val="100000"/>
              </a:lnSpc>
            </a:pPr>
            <a:r>
              <a:rPr lang="en-US" sz="7200" b="1" dirty="0">
                <a:solidFill>
                  <a:srgbClr val="F7FAFC"/>
                </a:solidFill>
                <a:latin typeface="Noto Sans SC" pitchFamily="34" charset="0"/>
                <a:ea typeface="Noto Sans SC" pitchFamily="34" charset="-122"/>
                <a:cs typeface="Noto Sans SC" pitchFamily="34" charset="-120"/>
              </a:rPr>
              <a:t>从数据仓库到湖仓一体</a:t>
            </a:r>
            <a:endParaRPr lang="en-US" sz="1600" dirty="0"/>
          </a:p>
        </p:txBody>
      </p:sp>
      <p:sp>
        <p:nvSpPr>
          <p:cNvPr id="7" name="Text 4"/>
          <p:cNvSpPr/>
          <p:nvPr/>
        </p:nvSpPr>
        <p:spPr>
          <a:xfrm>
            <a:off x="2413000" y="4044950"/>
            <a:ext cx="11430000" cy="1301750"/>
          </a:xfrm>
          <a:prstGeom prst="rect">
            <a:avLst/>
          </a:prstGeom>
          <a:noFill/>
          <a:ln/>
        </p:spPr>
        <p:txBody>
          <a:bodyPr wrap="square" lIns="0" tIns="0" rIns="0" bIns="0" rtlCol="0" anchor="ctr"/>
          <a:lstStyle/>
          <a:p>
            <a:pPr algn="ctr">
              <a:lnSpc>
                <a:spcPct val="100000"/>
              </a:lnSpc>
            </a:pPr>
            <a:r>
              <a:rPr lang="en-US" sz="7200" b="1" dirty="0">
                <a:solidFill>
                  <a:srgbClr val="4FD1C5"/>
                </a:solidFill>
                <a:latin typeface="Noto Sans SC" pitchFamily="34" charset="0"/>
                <a:ea typeface="Noto Sans SC" pitchFamily="34" charset="-122"/>
                <a:cs typeface="Noto Sans SC" pitchFamily="34" charset="-120"/>
              </a:rPr>
              <a:t>现代数据架构的演进与原理</a:t>
            </a:r>
            <a:endParaRPr lang="en-US" sz="1600" dirty="0"/>
          </a:p>
        </p:txBody>
      </p:sp>
      <p:sp>
        <p:nvSpPr>
          <p:cNvPr id="8" name="Text 5"/>
          <p:cNvSpPr/>
          <p:nvPr/>
        </p:nvSpPr>
        <p:spPr>
          <a:xfrm>
            <a:off x="4160242" y="5575300"/>
            <a:ext cx="7937500" cy="990600"/>
          </a:xfrm>
          <a:prstGeom prst="rect">
            <a:avLst/>
          </a:prstGeom>
          <a:noFill/>
          <a:ln/>
        </p:spPr>
        <p:txBody>
          <a:bodyPr wrap="square" lIns="0" tIns="0" rIns="0" bIns="0" rtlCol="0" anchor="ctr"/>
          <a:lstStyle/>
          <a:p>
            <a:pPr algn="ctr">
              <a:lnSpc>
                <a:spcPct val="140000"/>
              </a:lnSpc>
            </a:pPr>
            <a:r>
              <a:rPr lang="en-US" sz="2400" dirty="0">
                <a:solidFill>
                  <a:srgbClr val="A0AEC0"/>
                </a:solidFill>
                <a:latin typeface="MiSans" pitchFamily="34" charset="0"/>
                <a:ea typeface="MiSans" pitchFamily="34" charset="-122"/>
                <a:cs typeface="MiSans" pitchFamily="34" charset="-120"/>
              </a:rPr>
              <a:t>Data Warehouse to Lakehouse: Evolution and Principles</a:t>
            </a:r>
            <a:endParaRPr lang="en-US" sz="1600" dirty="0"/>
          </a:p>
          <a:p>
            <a:pPr algn="ctr">
              <a:lnSpc>
                <a:spcPct val="140000"/>
              </a:lnSpc>
            </a:pPr>
            <a:r>
              <a:rPr lang="en-US" sz="2400" dirty="0">
                <a:solidFill>
                  <a:srgbClr val="A0AEC0"/>
                </a:solidFill>
                <a:latin typeface="MiSans" pitchFamily="34" charset="0"/>
                <a:ea typeface="MiSans" pitchFamily="34" charset="-122"/>
                <a:cs typeface="MiSans" pitchFamily="34" charset="-120"/>
              </a:rPr>
              <a:t>探索数据平台从T+1批处理到近实时分析的架构演进之路</a:t>
            </a:r>
            <a:endParaRPr lang="en-US" sz="1600" dirty="0"/>
          </a:p>
        </p:txBody>
      </p:sp>
      <p:sp>
        <p:nvSpPr>
          <p:cNvPr id="9" name="Shape 6"/>
          <p:cNvSpPr/>
          <p:nvPr/>
        </p:nvSpPr>
        <p:spPr>
          <a:xfrm>
            <a:off x="4081463" y="7175500"/>
            <a:ext cx="333375" cy="381000"/>
          </a:xfrm>
          <a:custGeom>
            <a:avLst/>
            <a:gdLst/>
            <a:ahLst/>
            <a:cxnLst/>
            <a:rect l="l" t="t" r="r" b="b"/>
            <a:pathLst>
              <a:path w="333375" h="381000">
                <a:moveTo>
                  <a:pt x="333375" y="153144"/>
                </a:moveTo>
                <a:cubicBezTo>
                  <a:pt x="322362" y="160437"/>
                  <a:pt x="309711" y="166315"/>
                  <a:pt x="296540" y="171004"/>
                </a:cubicBezTo>
                <a:cubicBezTo>
                  <a:pt x="261565" y="183505"/>
                  <a:pt x="215652" y="190500"/>
                  <a:pt x="166688" y="190500"/>
                </a:cubicBezTo>
                <a:cubicBezTo>
                  <a:pt x="117723" y="190500"/>
                  <a:pt x="71735" y="183431"/>
                  <a:pt x="36835" y="171004"/>
                </a:cubicBezTo>
                <a:cubicBezTo>
                  <a:pt x="23738" y="166315"/>
                  <a:pt x="11013" y="160437"/>
                  <a:pt x="0" y="153144"/>
                </a:cubicBezTo>
                <a:lnTo>
                  <a:pt x="0" y="214313"/>
                </a:lnTo>
                <a:cubicBezTo>
                  <a:pt x="0" y="247204"/>
                  <a:pt x="74637" y="273844"/>
                  <a:pt x="166688" y="273844"/>
                </a:cubicBezTo>
                <a:cubicBezTo>
                  <a:pt x="258738" y="273844"/>
                  <a:pt x="333375" y="247204"/>
                  <a:pt x="333375" y="214313"/>
                </a:cubicBezTo>
                <a:lnTo>
                  <a:pt x="333375" y="153144"/>
                </a:lnTo>
                <a:close/>
                <a:moveTo>
                  <a:pt x="333375" y="95250"/>
                </a:moveTo>
                <a:lnTo>
                  <a:pt x="333375" y="59531"/>
                </a:lnTo>
                <a:cubicBezTo>
                  <a:pt x="333375" y="26640"/>
                  <a:pt x="258738" y="0"/>
                  <a:pt x="166688" y="0"/>
                </a:cubicBezTo>
                <a:cubicBezTo>
                  <a:pt x="74637" y="0"/>
                  <a:pt x="0" y="26640"/>
                  <a:pt x="0" y="59531"/>
                </a:cubicBezTo>
                <a:lnTo>
                  <a:pt x="0" y="95250"/>
                </a:lnTo>
                <a:cubicBezTo>
                  <a:pt x="0" y="128141"/>
                  <a:pt x="74637" y="154781"/>
                  <a:pt x="166688" y="154781"/>
                </a:cubicBezTo>
                <a:cubicBezTo>
                  <a:pt x="258738" y="154781"/>
                  <a:pt x="333375" y="128141"/>
                  <a:pt x="333375" y="95250"/>
                </a:cubicBezTo>
                <a:close/>
                <a:moveTo>
                  <a:pt x="296540" y="290066"/>
                </a:moveTo>
                <a:cubicBezTo>
                  <a:pt x="261640" y="302493"/>
                  <a:pt x="215726" y="309563"/>
                  <a:pt x="166688" y="309563"/>
                </a:cubicBezTo>
                <a:cubicBezTo>
                  <a:pt x="117649" y="309563"/>
                  <a:pt x="71735" y="302493"/>
                  <a:pt x="36835" y="290066"/>
                </a:cubicBezTo>
                <a:cubicBezTo>
                  <a:pt x="23738" y="285378"/>
                  <a:pt x="11013" y="279499"/>
                  <a:pt x="0" y="272207"/>
                </a:cubicBezTo>
                <a:lnTo>
                  <a:pt x="0" y="321469"/>
                </a:lnTo>
                <a:cubicBezTo>
                  <a:pt x="0" y="354360"/>
                  <a:pt x="74637" y="381000"/>
                  <a:pt x="166688" y="381000"/>
                </a:cubicBezTo>
                <a:cubicBezTo>
                  <a:pt x="258738" y="381000"/>
                  <a:pt x="333375" y="354360"/>
                  <a:pt x="333375" y="321469"/>
                </a:cubicBezTo>
                <a:lnTo>
                  <a:pt x="333375" y="272207"/>
                </a:lnTo>
                <a:cubicBezTo>
                  <a:pt x="322362" y="279499"/>
                  <a:pt x="309711" y="285378"/>
                  <a:pt x="296540" y="290066"/>
                </a:cubicBezTo>
                <a:close/>
              </a:path>
            </a:pathLst>
          </a:custGeom>
          <a:solidFill>
            <a:srgbClr val="4FD1C5"/>
          </a:solidFill>
          <a:ln/>
        </p:spPr>
        <p:txBody>
          <a:bodyPr/>
          <a:lstStyle/>
          <a:p>
            <a:endParaRPr lang="zh-CN" altLang="en-US"/>
          </a:p>
        </p:txBody>
      </p:sp>
      <p:sp>
        <p:nvSpPr>
          <p:cNvPr id="10" name="Text 7"/>
          <p:cNvSpPr/>
          <p:nvPr/>
        </p:nvSpPr>
        <p:spPr>
          <a:xfrm>
            <a:off x="4578350" y="7188200"/>
            <a:ext cx="1854200" cy="355600"/>
          </a:xfrm>
          <a:prstGeom prst="rect">
            <a:avLst/>
          </a:prstGeom>
          <a:noFill/>
          <a:ln/>
        </p:spPr>
        <p:txBody>
          <a:bodyPr wrap="square" lIns="0" tIns="0" rIns="0" bIns="0" rtlCol="0" anchor="ctr"/>
          <a:lstStyle/>
          <a:p>
            <a:pPr algn="ctr">
              <a:lnSpc>
                <a:spcPct val="130000"/>
              </a:lnSpc>
            </a:pPr>
            <a:r>
              <a:rPr lang="en-US" sz="1800" dirty="0">
                <a:solidFill>
                  <a:srgbClr val="A0AEC0"/>
                </a:solidFill>
                <a:latin typeface="MiSans" pitchFamily="34" charset="0"/>
                <a:ea typeface="MiSans" pitchFamily="34" charset="-122"/>
                <a:cs typeface="MiSans" pitchFamily="34" charset="-120"/>
              </a:rPr>
              <a:t>Data Warehouse</a:t>
            </a:r>
            <a:endParaRPr lang="en-US" sz="1600" dirty="0"/>
          </a:p>
        </p:txBody>
      </p:sp>
      <p:sp>
        <p:nvSpPr>
          <p:cNvPr id="11" name="Shape 8"/>
          <p:cNvSpPr/>
          <p:nvPr/>
        </p:nvSpPr>
        <p:spPr>
          <a:xfrm>
            <a:off x="6683375" y="7353300"/>
            <a:ext cx="609600" cy="25400"/>
          </a:xfrm>
          <a:custGeom>
            <a:avLst/>
            <a:gdLst/>
            <a:ahLst/>
            <a:cxnLst/>
            <a:rect l="l" t="t" r="r" b="b"/>
            <a:pathLst>
              <a:path w="609600" h="25400">
                <a:moveTo>
                  <a:pt x="0" y="0"/>
                </a:moveTo>
                <a:lnTo>
                  <a:pt x="609600" y="0"/>
                </a:lnTo>
                <a:lnTo>
                  <a:pt x="609600" y="25400"/>
                </a:lnTo>
                <a:lnTo>
                  <a:pt x="0" y="25400"/>
                </a:lnTo>
                <a:lnTo>
                  <a:pt x="0" y="0"/>
                </a:lnTo>
                <a:close/>
              </a:path>
            </a:pathLst>
          </a:custGeom>
          <a:solidFill>
            <a:srgbClr val="4FD1C5"/>
          </a:solidFill>
          <a:ln/>
        </p:spPr>
        <p:txBody>
          <a:bodyPr/>
          <a:lstStyle/>
          <a:p>
            <a:endParaRPr lang="zh-CN" altLang="en-US"/>
          </a:p>
        </p:txBody>
      </p:sp>
      <p:sp>
        <p:nvSpPr>
          <p:cNvPr id="12" name="Shape 9"/>
          <p:cNvSpPr/>
          <p:nvPr/>
        </p:nvSpPr>
        <p:spPr>
          <a:xfrm>
            <a:off x="7648575" y="7175500"/>
            <a:ext cx="381000" cy="381000"/>
          </a:xfrm>
          <a:custGeom>
            <a:avLst/>
            <a:gdLst/>
            <a:ahLst/>
            <a:cxnLst/>
            <a:rect l="l" t="t" r="r" b="b"/>
            <a:pathLst>
              <a:path w="381000" h="381000">
                <a:moveTo>
                  <a:pt x="305544" y="92348"/>
                </a:moveTo>
                <a:cubicBezTo>
                  <a:pt x="320948" y="103956"/>
                  <a:pt x="339775" y="115193"/>
                  <a:pt x="360759" y="118021"/>
                </a:cubicBezTo>
                <a:cubicBezTo>
                  <a:pt x="370508" y="119360"/>
                  <a:pt x="379512" y="112440"/>
                  <a:pt x="380851" y="102691"/>
                </a:cubicBezTo>
                <a:cubicBezTo>
                  <a:pt x="382191" y="92943"/>
                  <a:pt x="375270" y="83939"/>
                  <a:pt x="365522" y="82600"/>
                </a:cubicBezTo>
                <a:cubicBezTo>
                  <a:pt x="353690" y="81037"/>
                  <a:pt x="340816" y="74191"/>
                  <a:pt x="327050" y="63847"/>
                </a:cubicBezTo>
                <a:cubicBezTo>
                  <a:pt x="298475" y="42267"/>
                  <a:pt x="259705" y="42267"/>
                  <a:pt x="231056" y="63847"/>
                </a:cubicBezTo>
                <a:cubicBezTo>
                  <a:pt x="213196" y="77316"/>
                  <a:pt x="200769" y="83418"/>
                  <a:pt x="190500" y="83418"/>
                </a:cubicBezTo>
                <a:cubicBezTo>
                  <a:pt x="180231" y="83418"/>
                  <a:pt x="167804" y="77316"/>
                  <a:pt x="149944" y="63847"/>
                </a:cubicBezTo>
                <a:cubicBezTo>
                  <a:pt x="121369" y="42267"/>
                  <a:pt x="82600" y="42267"/>
                  <a:pt x="53950" y="63847"/>
                </a:cubicBezTo>
                <a:cubicBezTo>
                  <a:pt x="40184" y="74191"/>
                  <a:pt x="27310" y="81037"/>
                  <a:pt x="15478" y="82600"/>
                </a:cubicBezTo>
                <a:cubicBezTo>
                  <a:pt x="5730" y="83939"/>
                  <a:pt x="-1191" y="92869"/>
                  <a:pt x="149" y="102691"/>
                </a:cubicBezTo>
                <a:cubicBezTo>
                  <a:pt x="1488" y="112514"/>
                  <a:pt x="10418" y="119360"/>
                  <a:pt x="20241" y="118021"/>
                </a:cubicBezTo>
                <a:cubicBezTo>
                  <a:pt x="41225" y="115193"/>
                  <a:pt x="60127" y="103956"/>
                  <a:pt x="75456" y="92348"/>
                </a:cubicBezTo>
                <a:cubicBezTo>
                  <a:pt x="91306" y="80367"/>
                  <a:pt x="112588" y="80367"/>
                  <a:pt x="128439" y="92348"/>
                </a:cubicBezTo>
                <a:cubicBezTo>
                  <a:pt x="146447" y="105966"/>
                  <a:pt x="167357" y="119063"/>
                  <a:pt x="190500" y="119063"/>
                </a:cubicBezTo>
                <a:cubicBezTo>
                  <a:pt x="213643" y="119063"/>
                  <a:pt x="234479" y="105891"/>
                  <a:pt x="252561" y="92348"/>
                </a:cubicBezTo>
                <a:cubicBezTo>
                  <a:pt x="268412" y="80367"/>
                  <a:pt x="289694" y="80367"/>
                  <a:pt x="305544" y="92348"/>
                </a:cubicBezTo>
                <a:close/>
                <a:moveTo>
                  <a:pt x="305544" y="199504"/>
                </a:moveTo>
                <a:cubicBezTo>
                  <a:pt x="320948" y="211113"/>
                  <a:pt x="339775" y="222349"/>
                  <a:pt x="360759" y="225177"/>
                </a:cubicBezTo>
                <a:cubicBezTo>
                  <a:pt x="370508" y="226516"/>
                  <a:pt x="379512" y="219596"/>
                  <a:pt x="380851" y="209848"/>
                </a:cubicBezTo>
                <a:cubicBezTo>
                  <a:pt x="382191" y="200099"/>
                  <a:pt x="375270" y="191095"/>
                  <a:pt x="365522" y="189756"/>
                </a:cubicBezTo>
                <a:cubicBezTo>
                  <a:pt x="353690" y="188193"/>
                  <a:pt x="340816" y="181347"/>
                  <a:pt x="327050" y="171004"/>
                </a:cubicBezTo>
                <a:cubicBezTo>
                  <a:pt x="298475" y="149423"/>
                  <a:pt x="259705" y="149423"/>
                  <a:pt x="231056" y="171004"/>
                </a:cubicBezTo>
                <a:cubicBezTo>
                  <a:pt x="213196" y="184472"/>
                  <a:pt x="200769" y="190574"/>
                  <a:pt x="190500" y="190574"/>
                </a:cubicBezTo>
                <a:cubicBezTo>
                  <a:pt x="180231" y="190574"/>
                  <a:pt x="167804" y="184472"/>
                  <a:pt x="149944" y="171004"/>
                </a:cubicBezTo>
                <a:cubicBezTo>
                  <a:pt x="121369" y="149423"/>
                  <a:pt x="82600" y="149423"/>
                  <a:pt x="53950" y="171004"/>
                </a:cubicBezTo>
                <a:cubicBezTo>
                  <a:pt x="40184" y="181347"/>
                  <a:pt x="27310" y="188193"/>
                  <a:pt x="15478" y="189756"/>
                </a:cubicBezTo>
                <a:cubicBezTo>
                  <a:pt x="5730" y="191021"/>
                  <a:pt x="-1191" y="200025"/>
                  <a:pt x="149" y="209848"/>
                </a:cubicBezTo>
                <a:cubicBezTo>
                  <a:pt x="1488" y="219670"/>
                  <a:pt x="10418" y="226516"/>
                  <a:pt x="20241" y="225177"/>
                </a:cubicBezTo>
                <a:cubicBezTo>
                  <a:pt x="41225" y="222349"/>
                  <a:pt x="60127" y="211113"/>
                  <a:pt x="75456" y="199504"/>
                </a:cubicBezTo>
                <a:cubicBezTo>
                  <a:pt x="91306" y="187523"/>
                  <a:pt x="112588" y="187523"/>
                  <a:pt x="128439" y="199504"/>
                </a:cubicBezTo>
                <a:cubicBezTo>
                  <a:pt x="146447" y="213122"/>
                  <a:pt x="167357" y="226219"/>
                  <a:pt x="190500" y="226219"/>
                </a:cubicBezTo>
                <a:cubicBezTo>
                  <a:pt x="213643" y="226219"/>
                  <a:pt x="234479" y="213047"/>
                  <a:pt x="252561" y="199504"/>
                </a:cubicBezTo>
                <a:cubicBezTo>
                  <a:pt x="268412" y="187523"/>
                  <a:pt x="289694" y="187523"/>
                  <a:pt x="305544" y="199504"/>
                </a:cubicBezTo>
                <a:close/>
                <a:moveTo>
                  <a:pt x="252561" y="306660"/>
                </a:moveTo>
                <a:cubicBezTo>
                  <a:pt x="268412" y="294680"/>
                  <a:pt x="289694" y="294680"/>
                  <a:pt x="305544" y="306660"/>
                </a:cubicBezTo>
                <a:cubicBezTo>
                  <a:pt x="320948" y="318269"/>
                  <a:pt x="339775" y="329505"/>
                  <a:pt x="360759" y="332333"/>
                </a:cubicBezTo>
                <a:cubicBezTo>
                  <a:pt x="370508" y="333673"/>
                  <a:pt x="379512" y="326752"/>
                  <a:pt x="380851" y="317004"/>
                </a:cubicBezTo>
                <a:cubicBezTo>
                  <a:pt x="382191" y="307256"/>
                  <a:pt x="375270" y="298252"/>
                  <a:pt x="365522" y="296912"/>
                </a:cubicBezTo>
                <a:cubicBezTo>
                  <a:pt x="353690" y="295349"/>
                  <a:pt x="340816" y="288503"/>
                  <a:pt x="327050" y="278160"/>
                </a:cubicBezTo>
                <a:cubicBezTo>
                  <a:pt x="298475" y="256580"/>
                  <a:pt x="259705" y="256580"/>
                  <a:pt x="231056" y="278160"/>
                </a:cubicBezTo>
                <a:cubicBezTo>
                  <a:pt x="213196" y="291629"/>
                  <a:pt x="200769" y="297731"/>
                  <a:pt x="190500" y="297731"/>
                </a:cubicBezTo>
                <a:cubicBezTo>
                  <a:pt x="180231" y="297731"/>
                  <a:pt x="167804" y="291629"/>
                  <a:pt x="149944" y="278160"/>
                </a:cubicBezTo>
                <a:cubicBezTo>
                  <a:pt x="121369" y="256580"/>
                  <a:pt x="82600" y="256580"/>
                  <a:pt x="53950" y="278160"/>
                </a:cubicBezTo>
                <a:cubicBezTo>
                  <a:pt x="40184" y="288503"/>
                  <a:pt x="27310" y="295349"/>
                  <a:pt x="15478" y="296912"/>
                </a:cubicBezTo>
                <a:cubicBezTo>
                  <a:pt x="5730" y="298252"/>
                  <a:pt x="-1191" y="307181"/>
                  <a:pt x="149" y="317004"/>
                </a:cubicBezTo>
                <a:cubicBezTo>
                  <a:pt x="1488" y="326827"/>
                  <a:pt x="10418" y="333673"/>
                  <a:pt x="20241" y="332333"/>
                </a:cubicBezTo>
                <a:cubicBezTo>
                  <a:pt x="41225" y="329505"/>
                  <a:pt x="60127" y="318269"/>
                  <a:pt x="75456" y="306660"/>
                </a:cubicBezTo>
                <a:cubicBezTo>
                  <a:pt x="91306" y="294680"/>
                  <a:pt x="112588" y="294680"/>
                  <a:pt x="128439" y="306660"/>
                </a:cubicBezTo>
                <a:cubicBezTo>
                  <a:pt x="146447" y="320278"/>
                  <a:pt x="167357" y="333375"/>
                  <a:pt x="190500" y="333375"/>
                </a:cubicBezTo>
                <a:cubicBezTo>
                  <a:pt x="213643" y="333375"/>
                  <a:pt x="234479" y="320204"/>
                  <a:pt x="252561" y="306660"/>
                </a:cubicBezTo>
                <a:close/>
              </a:path>
            </a:pathLst>
          </a:custGeom>
          <a:solidFill>
            <a:srgbClr val="4FD1C5"/>
          </a:solidFill>
          <a:ln/>
        </p:spPr>
        <p:txBody>
          <a:bodyPr/>
          <a:lstStyle/>
          <a:p>
            <a:endParaRPr lang="zh-CN" altLang="en-US"/>
          </a:p>
        </p:txBody>
      </p:sp>
      <p:sp>
        <p:nvSpPr>
          <p:cNvPr id="13" name="Text 10"/>
          <p:cNvSpPr/>
          <p:nvPr/>
        </p:nvSpPr>
        <p:spPr>
          <a:xfrm>
            <a:off x="8169275" y="7188200"/>
            <a:ext cx="1168400" cy="355600"/>
          </a:xfrm>
          <a:prstGeom prst="rect">
            <a:avLst/>
          </a:prstGeom>
          <a:noFill/>
          <a:ln/>
        </p:spPr>
        <p:txBody>
          <a:bodyPr wrap="square" lIns="0" tIns="0" rIns="0" bIns="0" rtlCol="0" anchor="ctr"/>
          <a:lstStyle/>
          <a:p>
            <a:pPr algn="ctr">
              <a:lnSpc>
                <a:spcPct val="130000"/>
              </a:lnSpc>
            </a:pPr>
            <a:r>
              <a:rPr lang="en-US" sz="1800" dirty="0">
                <a:solidFill>
                  <a:srgbClr val="A0AEC0"/>
                </a:solidFill>
                <a:latin typeface="MiSans" pitchFamily="34" charset="0"/>
                <a:ea typeface="MiSans" pitchFamily="34" charset="-122"/>
                <a:cs typeface="MiSans" pitchFamily="34" charset="-120"/>
              </a:rPr>
              <a:t>Data Lake</a:t>
            </a:r>
            <a:endParaRPr lang="en-US" sz="1600" dirty="0"/>
          </a:p>
        </p:txBody>
      </p:sp>
      <p:sp>
        <p:nvSpPr>
          <p:cNvPr id="14" name="Shape 11"/>
          <p:cNvSpPr/>
          <p:nvPr/>
        </p:nvSpPr>
        <p:spPr>
          <a:xfrm>
            <a:off x="9583738" y="7353300"/>
            <a:ext cx="609600" cy="25400"/>
          </a:xfrm>
          <a:custGeom>
            <a:avLst/>
            <a:gdLst/>
            <a:ahLst/>
            <a:cxnLst/>
            <a:rect l="l" t="t" r="r" b="b"/>
            <a:pathLst>
              <a:path w="609600" h="25400">
                <a:moveTo>
                  <a:pt x="0" y="0"/>
                </a:moveTo>
                <a:lnTo>
                  <a:pt x="609600" y="0"/>
                </a:lnTo>
                <a:lnTo>
                  <a:pt x="609600" y="25400"/>
                </a:lnTo>
                <a:lnTo>
                  <a:pt x="0" y="25400"/>
                </a:lnTo>
                <a:lnTo>
                  <a:pt x="0" y="0"/>
                </a:lnTo>
                <a:close/>
              </a:path>
            </a:pathLst>
          </a:custGeom>
          <a:solidFill>
            <a:srgbClr val="4FD1C5"/>
          </a:solidFill>
          <a:ln/>
        </p:spPr>
        <p:txBody>
          <a:bodyPr/>
          <a:lstStyle/>
          <a:p>
            <a:endParaRPr lang="zh-CN" altLang="en-US"/>
          </a:p>
        </p:txBody>
      </p:sp>
      <p:sp>
        <p:nvSpPr>
          <p:cNvPr id="15" name="Shape 12"/>
          <p:cNvSpPr/>
          <p:nvPr/>
        </p:nvSpPr>
        <p:spPr>
          <a:xfrm>
            <a:off x="10548938" y="7175500"/>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4FD1C5"/>
          </a:solidFill>
          <a:ln/>
        </p:spPr>
        <p:txBody>
          <a:bodyPr/>
          <a:lstStyle/>
          <a:p>
            <a:endParaRPr lang="zh-CN" altLang="en-US"/>
          </a:p>
        </p:txBody>
      </p:sp>
      <p:sp>
        <p:nvSpPr>
          <p:cNvPr id="16" name="Text 13"/>
          <p:cNvSpPr/>
          <p:nvPr/>
        </p:nvSpPr>
        <p:spPr>
          <a:xfrm>
            <a:off x="11069638" y="7188200"/>
            <a:ext cx="1231900" cy="355600"/>
          </a:xfrm>
          <a:prstGeom prst="rect">
            <a:avLst/>
          </a:prstGeom>
          <a:noFill/>
          <a:ln/>
        </p:spPr>
        <p:txBody>
          <a:bodyPr wrap="square" lIns="0" tIns="0" rIns="0" bIns="0" rtlCol="0" anchor="ctr"/>
          <a:lstStyle/>
          <a:p>
            <a:pPr algn="ctr">
              <a:lnSpc>
                <a:spcPct val="130000"/>
              </a:lnSpc>
            </a:pPr>
            <a:r>
              <a:rPr lang="en-US" sz="1800" dirty="0">
                <a:solidFill>
                  <a:srgbClr val="A0AEC0"/>
                </a:solidFill>
                <a:latin typeface="MiSans" pitchFamily="34" charset="0"/>
                <a:ea typeface="MiSans" pitchFamily="34" charset="-122"/>
                <a:cs typeface="MiSans" pitchFamily="34" charset="-120"/>
              </a:rPr>
              <a:t>Lakehouse</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0955" y="500955"/>
            <a:ext cx="15554663" cy="601146"/>
          </a:xfrm>
          <a:prstGeom prst="rect">
            <a:avLst/>
          </a:prstGeom>
          <a:noFill/>
          <a:ln/>
        </p:spPr>
        <p:txBody>
          <a:bodyPr wrap="square" lIns="0" tIns="0" rIns="0" bIns="0" rtlCol="0" anchor="ctr"/>
          <a:lstStyle/>
          <a:p>
            <a:pPr>
              <a:lnSpc>
                <a:spcPct val="80000"/>
              </a:lnSpc>
            </a:pPr>
            <a:r>
              <a:rPr lang="en-US" sz="4733" b="1" dirty="0">
                <a:solidFill>
                  <a:srgbClr val="F7FAFC"/>
                </a:solidFill>
                <a:latin typeface="Noto Sans SC" pitchFamily="34" charset="0"/>
                <a:ea typeface="Noto Sans SC" pitchFamily="34" charset="-122"/>
                <a:cs typeface="Noto Sans SC" pitchFamily="34" charset="-120"/>
              </a:rPr>
              <a:t>课程大纲</a:t>
            </a:r>
            <a:endParaRPr lang="en-US" sz="1600" dirty="0"/>
          </a:p>
        </p:txBody>
      </p:sp>
      <p:sp>
        <p:nvSpPr>
          <p:cNvPr id="3" name="Shape 1"/>
          <p:cNvSpPr/>
          <p:nvPr/>
        </p:nvSpPr>
        <p:spPr>
          <a:xfrm>
            <a:off x="500955" y="1302484"/>
            <a:ext cx="1202293" cy="50096"/>
          </a:xfrm>
          <a:custGeom>
            <a:avLst/>
            <a:gdLst/>
            <a:ahLst/>
            <a:cxnLst/>
            <a:rect l="l" t="t" r="r" b="b"/>
            <a:pathLst>
              <a:path w="1202293" h="50096">
                <a:moveTo>
                  <a:pt x="0" y="0"/>
                </a:moveTo>
                <a:lnTo>
                  <a:pt x="1202293" y="0"/>
                </a:lnTo>
                <a:lnTo>
                  <a:pt x="1202293" y="50096"/>
                </a:lnTo>
                <a:lnTo>
                  <a:pt x="0" y="50096"/>
                </a:lnTo>
                <a:lnTo>
                  <a:pt x="0" y="0"/>
                </a:lnTo>
                <a:close/>
              </a:path>
            </a:pathLst>
          </a:custGeom>
          <a:solidFill>
            <a:srgbClr val="4FD1C5"/>
          </a:solidFill>
          <a:ln/>
        </p:spPr>
        <p:txBody>
          <a:bodyPr/>
          <a:lstStyle/>
          <a:p>
            <a:endParaRPr lang="zh-CN" altLang="en-US"/>
          </a:p>
        </p:txBody>
      </p:sp>
      <p:sp>
        <p:nvSpPr>
          <p:cNvPr id="4" name="Shape 2"/>
          <p:cNvSpPr/>
          <p:nvPr/>
        </p:nvSpPr>
        <p:spPr>
          <a:xfrm>
            <a:off x="526003" y="1853535"/>
            <a:ext cx="7451710" cy="1828487"/>
          </a:xfrm>
          <a:custGeom>
            <a:avLst/>
            <a:gdLst/>
            <a:ahLst/>
            <a:cxnLst/>
            <a:rect l="l" t="t" r="r" b="b"/>
            <a:pathLst>
              <a:path w="7451710" h="1828487">
                <a:moveTo>
                  <a:pt x="50096" y="0"/>
                </a:moveTo>
                <a:lnTo>
                  <a:pt x="7351528" y="0"/>
                </a:lnTo>
                <a:cubicBezTo>
                  <a:pt x="7406857" y="0"/>
                  <a:pt x="7451710" y="44853"/>
                  <a:pt x="7451710" y="100183"/>
                </a:cubicBezTo>
                <a:lnTo>
                  <a:pt x="7451710" y="1728304"/>
                </a:lnTo>
                <a:cubicBezTo>
                  <a:pt x="7451710" y="1783634"/>
                  <a:pt x="7406857" y="1828487"/>
                  <a:pt x="7351528" y="1828487"/>
                </a:cubicBezTo>
                <a:lnTo>
                  <a:pt x="50096" y="1828487"/>
                </a:lnTo>
                <a:cubicBezTo>
                  <a:pt x="22429" y="1828487"/>
                  <a:pt x="0" y="1806058"/>
                  <a:pt x="0" y="1778391"/>
                </a:cubicBezTo>
                <a:lnTo>
                  <a:pt x="0" y="50096"/>
                </a:lnTo>
                <a:cubicBezTo>
                  <a:pt x="0" y="22447"/>
                  <a:pt x="22447" y="0"/>
                  <a:pt x="50096" y="0"/>
                </a:cubicBezTo>
                <a:close/>
              </a:path>
            </a:pathLst>
          </a:custGeom>
          <a:solidFill>
            <a:srgbClr val="4A5568">
              <a:alpha val="30196"/>
            </a:srgbClr>
          </a:solidFill>
          <a:ln/>
        </p:spPr>
        <p:txBody>
          <a:bodyPr/>
          <a:lstStyle/>
          <a:p>
            <a:endParaRPr lang="zh-CN" altLang="en-US"/>
          </a:p>
        </p:txBody>
      </p:sp>
      <p:sp>
        <p:nvSpPr>
          <p:cNvPr id="5" name="Shape 3"/>
          <p:cNvSpPr/>
          <p:nvPr/>
        </p:nvSpPr>
        <p:spPr>
          <a:xfrm>
            <a:off x="526003" y="1853535"/>
            <a:ext cx="50096" cy="1828487"/>
          </a:xfrm>
          <a:custGeom>
            <a:avLst/>
            <a:gdLst/>
            <a:ahLst/>
            <a:cxnLst/>
            <a:rect l="l" t="t" r="r" b="b"/>
            <a:pathLst>
              <a:path w="50096" h="1828487">
                <a:moveTo>
                  <a:pt x="50096" y="0"/>
                </a:moveTo>
                <a:lnTo>
                  <a:pt x="50096" y="0"/>
                </a:lnTo>
                <a:lnTo>
                  <a:pt x="50096" y="1828487"/>
                </a:lnTo>
                <a:lnTo>
                  <a:pt x="50096" y="1828487"/>
                </a:lnTo>
                <a:cubicBezTo>
                  <a:pt x="22429" y="1828487"/>
                  <a:pt x="0" y="1806058"/>
                  <a:pt x="0" y="1778391"/>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6" name="Shape 4"/>
          <p:cNvSpPr/>
          <p:nvPr/>
        </p:nvSpPr>
        <p:spPr>
          <a:xfrm>
            <a:off x="851624" y="2154108"/>
            <a:ext cx="701337" cy="701337"/>
          </a:xfrm>
          <a:custGeom>
            <a:avLst/>
            <a:gdLst/>
            <a:ahLst/>
            <a:cxnLst/>
            <a:rect l="l" t="t" r="r" b="b"/>
            <a:pathLst>
              <a:path w="701337" h="701337">
                <a:moveTo>
                  <a:pt x="100193" y="0"/>
                </a:moveTo>
                <a:lnTo>
                  <a:pt x="601144" y="0"/>
                </a:lnTo>
                <a:cubicBezTo>
                  <a:pt x="656479" y="0"/>
                  <a:pt x="701337" y="44858"/>
                  <a:pt x="701337" y="100193"/>
                </a:cubicBezTo>
                <a:lnTo>
                  <a:pt x="701337" y="601144"/>
                </a:lnTo>
                <a:cubicBezTo>
                  <a:pt x="701337" y="656479"/>
                  <a:pt x="656479" y="701337"/>
                  <a:pt x="601144" y="701337"/>
                </a:cubicBezTo>
                <a:lnTo>
                  <a:pt x="100193" y="701337"/>
                </a:lnTo>
                <a:cubicBezTo>
                  <a:pt x="44858" y="701337"/>
                  <a:pt x="0" y="656479"/>
                  <a:pt x="0" y="601144"/>
                </a:cubicBezTo>
                <a:lnTo>
                  <a:pt x="0" y="100193"/>
                </a:lnTo>
                <a:cubicBezTo>
                  <a:pt x="0" y="44895"/>
                  <a:pt x="44895" y="0"/>
                  <a:pt x="100193" y="0"/>
                </a:cubicBezTo>
                <a:close/>
              </a:path>
            </a:pathLst>
          </a:custGeom>
          <a:solidFill>
            <a:srgbClr val="4FD1C5"/>
          </a:solidFill>
          <a:ln/>
        </p:spPr>
        <p:txBody>
          <a:bodyPr/>
          <a:lstStyle/>
          <a:p>
            <a:endParaRPr lang="zh-CN" altLang="en-US"/>
          </a:p>
        </p:txBody>
      </p:sp>
      <p:sp>
        <p:nvSpPr>
          <p:cNvPr id="7" name="Text 5"/>
          <p:cNvSpPr/>
          <p:nvPr/>
        </p:nvSpPr>
        <p:spPr>
          <a:xfrm>
            <a:off x="1046233" y="2304394"/>
            <a:ext cx="463384" cy="400764"/>
          </a:xfrm>
          <a:prstGeom prst="rect">
            <a:avLst/>
          </a:prstGeom>
          <a:noFill/>
          <a:ln/>
        </p:spPr>
        <p:txBody>
          <a:bodyPr wrap="square" lIns="0" tIns="0" rIns="0" bIns="0" rtlCol="0" anchor="ctr"/>
          <a:lstStyle/>
          <a:p>
            <a:pPr>
              <a:lnSpc>
                <a:spcPct val="110000"/>
              </a:lnSpc>
            </a:pPr>
            <a:r>
              <a:rPr lang="en-US" sz="2367" b="1" dirty="0">
                <a:solidFill>
                  <a:srgbClr val="1A202C"/>
                </a:solidFill>
                <a:latin typeface="Liter" pitchFamily="34" charset="0"/>
                <a:ea typeface="Liter" pitchFamily="34" charset="-122"/>
                <a:cs typeface="Liter" pitchFamily="34" charset="-120"/>
              </a:rPr>
              <a:t>01</a:t>
            </a:r>
            <a:endParaRPr lang="en-US" sz="1600" dirty="0"/>
          </a:p>
        </p:txBody>
      </p:sp>
      <p:sp>
        <p:nvSpPr>
          <p:cNvPr id="8" name="Text 6"/>
          <p:cNvSpPr/>
          <p:nvPr/>
        </p:nvSpPr>
        <p:spPr>
          <a:xfrm>
            <a:off x="1753344" y="2304394"/>
            <a:ext cx="1953726" cy="400764"/>
          </a:xfrm>
          <a:prstGeom prst="rect">
            <a:avLst/>
          </a:prstGeom>
          <a:noFill/>
          <a:ln/>
        </p:spPr>
        <p:txBody>
          <a:bodyPr wrap="square" lIns="0" tIns="0" rIns="0" bIns="0" rtlCol="0" anchor="ctr"/>
          <a:lstStyle/>
          <a:p>
            <a:pPr>
              <a:lnSpc>
                <a:spcPct val="110000"/>
              </a:lnSpc>
            </a:pPr>
            <a:r>
              <a:rPr lang="en-US" sz="2367" b="1" dirty="0">
                <a:solidFill>
                  <a:srgbClr val="F7FAFC"/>
                </a:solidFill>
                <a:latin typeface="Noto Sans SC" pitchFamily="34" charset="0"/>
                <a:ea typeface="Noto Sans SC" pitchFamily="34" charset="-122"/>
                <a:cs typeface="Noto Sans SC" pitchFamily="34" charset="-120"/>
              </a:rPr>
              <a:t>典型应用案例</a:t>
            </a:r>
            <a:endParaRPr lang="en-US" sz="1600" dirty="0"/>
          </a:p>
        </p:txBody>
      </p:sp>
      <p:sp>
        <p:nvSpPr>
          <p:cNvPr id="9" name="Text 7"/>
          <p:cNvSpPr/>
          <p:nvPr/>
        </p:nvSpPr>
        <p:spPr>
          <a:xfrm>
            <a:off x="851624" y="3055827"/>
            <a:ext cx="6925707" cy="325621"/>
          </a:xfrm>
          <a:prstGeom prst="rect">
            <a:avLst/>
          </a:prstGeom>
          <a:noFill/>
          <a:ln/>
        </p:spPr>
        <p:txBody>
          <a:bodyPr wrap="square" lIns="0" tIns="0" rIns="0" bIns="0" rtlCol="0" anchor="ctr"/>
          <a:lstStyle/>
          <a:p>
            <a:pPr>
              <a:lnSpc>
                <a:spcPct val="140000"/>
              </a:lnSpc>
            </a:pPr>
            <a:r>
              <a:rPr lang="en-US" sz="1578" dirty="0">
                <a:solidFill>
                  <a:srgbClr val="A0AEC0"/>
                </a:solidFill>
                <a:latin typeface="MiSans" pitchFamily="34" charset="0"/>
                <a:ea typeface="MiSans" pitchFamily="34" charset="-122"/>
                <a:cs typeface="MiSans" pitchFamily="34" charset="-120"/>
              </a:rPr>
              <a:t>银行从数据仓库到湖仓一体的演进路径</a:t>
            </a:r>
            <a:endParaRPr lang="en-US" sz="1600" dirty="0"/>
          </a:p>
        </p:txBody>
      </p:sp>
      <p:sp>
        <p:nvSpPr>
          <p:cNvPr id="10" name="Shape 8"/>
          <p:cNvSpPr/>
          <p:nvPr/>
        </p:nvSpPr>
        <p:spPr>
          <a:xfrm>
            <a:off x="8301867" y="1853535"/>
            <a:ext cx="7451710" cy="1828487"/>
          </a:xfrm>
          <a:custGeom>
            <a:avLst/>
            <a:gdLst/>
            <a:ahLst/>
            <a:cxnLst/>
            <a:rect l="l" t="t" r="r" b="b"/>
            <a:pathLst>
              <a:path w="7451710" h="1828487">
                <a:moveTo>
                  <a:pt x="50096" y="0"/>
                </a:moveTo>
                <a:lnTo>
                  <a:pt x="7351528" y="0"/>
                </a:lnTo>
                <a:cubicBezTo>
                  <a:pt x="7406857" y="0"/>
                  <a:pt x="7451710" y="44853"/>
                  <a:pt x="7451710" y="100183"/>
                </a:cubicBezTo>
                <a:lnTo>
                  <a:pt x="7451710" y="1728304"/>
                </a:lnTo>
                <a:cubicBezTo>
                  <a:pt x="7451710" y="1783634"/>
                  <a:pt x="7406857" y="1828487"/>
                  <a:pt x="7351528" y="1828487"/>
                </a:cubicBezTo>
                <a:lnTo>
                  <a:pt x="50096" y="1828487"/>
                </a:lnTo>
                <a:cubicBezTo>
                  <a:pt x="22429" y="1828487"/>
                  <a:pt x="0" y="1806058"/>
                  <a:pt x="0" y="1778391"/>
                </a:cubicBezTo>
                <a:lnTo>
                  <a:pt x="0" y="50096"/>
                </a:lnTo>
                <a:cubicBezTo>
                  <a:pt x="0" y="22447"/>
                  <a:pt x="22447" y="0"/>
                  <a:pt x="50096" y="0"/>
                </a:cubicBezTo>
                <a:close/>
              </a:path>
            </a:pathLst>
          </a:custGeom>
          <a:solidFill>
            <a:srgbClr val="4A5568">
              <a:alpha val="30196"/>
            </a:srgbClr>
          </a:solidFill>
          <a:ln/>
        </p:spPr>
        <p:txBody>
          <a:bodyPr/>
          <a:lstStyle/>
          <a:p>
            <a:endParaRPr lang="zh-CN" altLang="en-US"/>
          </a:p>
        </p:txBody>
      </p:sp>
      <p:sp>
        <p:nvSpPr>
          <p:cNvPr id="11" name="Shape 9"/>
          <p:cNvSpPr/>
          <p:nvPr/>
        </p:nvSpPr>
        <p:spPr>
          <a:xfrm>
            <a:off x="8301867" y="1853535"/>
            <a:ext cx="50096" cy="1828487"/>
          </a:xfrm>
          <a:custGeom>
            <a:avLst/>
            <a:gdLst/>
            <a:ahLst/>
            <a:cxnLst/>
            <a:rect l="l" t="t" r="r" b="b"/>
            <a:pathLst>
              <a:path w="50096" h="1828487">
                <a:moveTo>
                  <a:pt x="50096" y="0"/>
                </a:moveTo>
                <a:lnTo>
                  <a:pt x="50096" y="0"/>
                </a:lnTo>
                <a:lnTo>
                  <a:pt x="50096" y="1828487"/>
                </a:lnTo>
                <a:lnTo>
                  <a:pt x="50096" y="1828487"/>
                </a:lnTo>
                <a:cubicBezTo>
                  <a:pt x="22429" y="1828487"/>
                  <a:pt x="0" y="1806058"/>
                  <a:pt x="0" y="1778391"/>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12" name="Shape 10"/>
          <p:cNvSpPr/>
          <p:nvPr/>
        </p:nvSpPr>
        <p:spPr>
          <a:xfrm>
            <a:off x="8627488" y="2154108"/>
            <a:ext cx="701337" cy="701337"/>
          </a:xfrm>
          <a:custGeom>
            <a:avLst/>
            <a:gdLst/>
            <a:ahLst/>
            <a:cxnLst/>
            <a:rect l="l" t="t" r="r" b="b"/>
            <a:pathLst>
              <a:path w="701337" h="701337">
                <a:moveTo>
                  <a:pt x="100193" y="0"/>
                </a:moveTo>
                <a:lnTo>
                  <a:pt x="601144" y="0"/>
                </a:lnTo>
                <a:cubicBezTo>
                  <a:pt x="656479" y="0"/>
                  <a:pt x="701337" y="44858"/>
                  <a:pt x="701337" y="100193"/>
                </a:cubicBezTo>
                <a:lnTo>
                  <a:pt x="701337" y="601144"/>
                </a:lnTo>
                <a:cubicBezTo>
                  <a:pt x="701337" y="656479"/>
                  <a:pt x="656479" y="701337"/>
                  <a:pt x="601144" y="701337"/>
                </a:cubicBezTo>
                <a:lnTo>
                  <a:pt x="100193" y="701337"/>
                </a:lnTo>
                <a:cubicBezTo>
                  <a:pt x="44858" y="701337"/>
                  <a:pt x="0" y="656479"/>
                  <a:pt x="0" y="601144"/>
                </a:cubicBezTo>
                <a:lnTo>
                  <a:pt x="0" y="100193"/>
                </a:lnTo>
                <a:cubicBezTo>
                  <a:pt x="0" y="44895"/>
                  <a:pt x="44895" y="0"/>
                  <a:pt x="100193" y="0"/>
                </a:cubicBezTo>
                <a:close/>
              </a:path>
            </a:pathLst>
          </a:custGeom>
          <a:solidFill>
            <a:srgbClr val="4FD1C5"/>
          </a:solidFill>
          <a:ln/>
        </p:spPr>
        <p:txBody>
          <a:bodyPr/>
          <a:lstStyle/>
          <a:p>
            <a:endParaRPr lang="zh-CN" altLang="en-US"/>
          </a:p>
        </p:txBody>
      </p:sp>
      <p:sp>
        <p:nvSpPr>
          <p:cNvPr id="13" name="Text 11"/>
          <p:cNvSpPr/>
          <p:nvPr/>
        </p:nvSpPr>
        <p:spPr>
          <a:xfrm>
            <a:off x="8794897" y="2304394"/>
            <a:ext cx="513479" cy="400764"/>
          </a:xfrm>
          <a:prstGeom prst="rect">
            <a:avLst/>
          </a:prstGeom>
          <a:noFill/>
          <a:ln/>
        </p:spPr>
        <p:txBody>
          <a:bodyPr wrap="square" lIns="0" tIns="0" rIns="0" bIns="0" rtlCol="0" anchor="ctr"/>
          <a:lstStyle/>
          <a:p>
            <a:pPr>
              <a:lnSpc>
                <a:spcPct val="110000"/>
              </a:lnSpc>
            </a:pPr>
            <a:r>
              <a:rPr lang="en-US" sz="2367" b="1" dirty="0">
                <a:solidFill>
                  <a:srgbClr val="1A202C"/>
                </a:solidFill>
                <a:latin typeface="Liter" pitchFamily="34" charset="0"/>
                <a:ea typeface="Liter" pitchFamily="34" charset="-122"/>
                <a:cs typeface="Liter" pitchFamily="34" charset="-120"/>
              </a:rPr>
              <a:t>02</a:t>
            </a:r>
            <a:endParaRPr lang="en-US" sz="1600" dirty="0"/>
          </a:p>
        </p:txBody>
      </p:sp>
      <p:sp>
        <p:nvSpPr>
          <p:cNvPr id="14" name="Text 12"/>
          <p:cNvSpPr/>
          <p:nvPr/>
        </p:nvSpPr>
        <p:spPr>
          <a:xfrm>
            <a:off x="9529207" y="2304394"/>
            <a:ext cx="2855445" cy="400764"/>
          </a:xfrm>
          <a:prstGeom prst="rect">
            <a:avLst/>
          </a:prstGeom>
          <a:noFill/>
          <a:ln/>
        </p:spPr>
        <p:txBody>
          <a:bodyPr wrap="square" lIns="0" tIns="0" rIns="0" bIns="0" rtlCol="0" anchor="ctr"/>
          <a:lstStyle/>
          <a:p>
            <a:pPr>
              <a:lnSpc>
                <a:spcPct val="110000"/>
              </a:lnSpc>
            </a:pPr>
            <a:r>
              <a:rPr lang="en-US" sz="2367" b="1" dirty="0">
                <a:solidFill>
                  <a:srgbClr val="F7FAFC"/>
                </a:solidFill>
                <a:latin typeface="Noto Sans SC" pitchFamily="34" charset="0"/>
                <a:ea typeface="Noto Sans SC" pitchFamily="34" charset="-122"/>
                <a:cs typeface="Noto Sans SC" pitchFamily="34" charset="-120"/>
              </a:rPr>
              <a:t>数据架构的代际演变</a:t>
            </a:r>
            <a:endParaRPr lang="en-US" sz="1600" dirty="0"/>
          </a:p>
        </p:txBody>
      </p:sp>
      <p:sp>
        <p:nvSpPr>
          <p:cNvPr id="15" name="Text 13"/>
          <p:cNvSpPr/>
          <p:nvPr/>
        </p:nvSpPr>
        <p:spPr>
          <a:xfrm>
            <a:off x="8627488" y="3055827"/>
            <a:ext cx="6925707" cy="325621"/>
          </a:xfrm>
          <a:prstGeom prst="rect">
            <a:avLst/>
          </a:prstGeom>
          <a:noFill/>
          <a:ln/>
        </p:spPr>
        <p:txBody>
          <a:bodyPr wrap="square" lIns="0" tIns="0" rIns="0" bIns="0" rtlCol="0" anchor="ctr"/>
          <a:lstStyle/>
          <a:p>
            <a:pPr>
              <a:lnSpc>
                <a:spcPct val="140000"/>
              </a:lnSpc>
            </a:pPr>
            <a:r>
              <a:rPr lang="en-US" sz="1578" dirty="0">
                <a:solidFill>
                  <a:srgbClr val="A0AEC0"/>
                </a:solidFill>
                <a:latin typeface="MiSans" pitchFamily="34" charset="0"/>
                <a:ea typeface="MiSans" pitchFamily="34" charset="-122"/>
                <a:cs typeface="MiSans" pitchFamily="34" charset="-120"/>
              </a:rPr>
              <a:t>从Data Warehouse到Data Lake再到Lakehouse</a:t>
            </a:r>
            <a:endParaRPr lang="en-US" sz="1600" dirty="0"/>
          </a:p>
        </p:txBody>
      </p:sp>
      <p:sp>
        <p:nvSpPr>
          <p:cNvPr id="16" name="Shape 14"/>
          <p:cNvSpPr/>
          <p:nvPr/>
        </p:nvSpPr>
        <p:spPr>
          <a:xfrm>
            <a:off x="526003" y="3982595"/>
            <a:ext cx="7451710" cy="1828487"/>
          </a:xfrm>
          <a:custGeom>
            <a:avLst/>
            <a:gdLst/>
            <a:ahLst/>
            <a:cxnLst/>
            <a:rect l="l" t="t" r="r" b="b"/>
            <a:pathLst>
              <a:path w="7451710" h="1828487">
                <a:moveTo>
                  <a:pt x="50096" y="0"/>
                </a:moveTo>
                <a:lnTo>
                  <a:pt x="7351528" y="0"/>
                </a:lnTo>
                <a:cubicBezTo>
                  <a:pt x="7406857" y="0"/>
                  <a:pt x="7451710" y="44853"/>
                  <a:pt x="7451710" y="100183"/>
                </a:cubicBezTo>
                <a:lnTo>
                  <a:pt x="7451710" y="1728304"/>
                </a:lnTo>
                <a:cubicBezTo>
                  <a:pt x="7451710" y="1783634"/>
                  <a:pt x="7406857" y="1828487"/>
                  <a:pt x="7351528" y="1828487"/>
                </a:cubicBezTo>
                <a:lnTo>
                  <a:pt x="50096" y="1828487"/>
                </a:lnTo>
                <a:cubicBezTo>
                  <a:pt x="22429" y="1828487"/>
                  <a:pt x="0" y="1806058"/>
                  <a:pt x="0" y="1778391"/>
                </a:cubicBezTo>
                <a:lnTo>
                  <a:pt x="0" y="50096"/>
                </a:lnTo>
                <a:cubicBezTo>
                  <a:pt x="0" y="22447"/>
                  <a:pt x="22447" y="0"/>
                  <a:pt x="50096" y="0"/>
                </a:cubicBezTo>
                <a:close/>
              </a:path>
            </a:pathLst>
          </a:custGeom>
          <a:solidFill>
            <a:srgbClr val="4A5568">
              <a:alpha val="30196"/>
            </a:srgbClr>
          </a:solidFill>
          <a:ln/>
        </p:spPr>
        <p:txBody>
          <a:bodyPr/>
          <a:lstStyle/>
          <a:p>
            <a:endParaRPr lang="zh-CN" altLang="en-US"/>
          </a:p>
        </p:txBody>
      </p:sp>
      <p:sp>
        <p:nvSpPr>
          <p:cNvPr id="17" name="Shape 15"/>
          <p:cNvSpPr/>
          <p:nvPr/>
        </p:nvSpPr>
        <p:spPr>
          <a:xfrm>
            <a:off x="526003" y="3982595"/>
            <a:ext cx="50096" cy="1828487"/>
          </a:xfrm>
          <a:custGeom>
            <a:avLst/>
            <a:gdLst/>
            <a:ahLst/>
            <a:cxnLst/>
            <a:rect l="l" t="t" r="r" b="b"/>
            <a:pathLst>
              <a:path w="50096" h="1828487">
                <a:moveTo>
                  <a:pt x="50096" y="0"/>
                </a:moveTo>
                <a:lnTo>
                  <a:pt x="50096" y="0"/>
                </a:lnTo>
                <a:lnTo>
                  <a:pt x="50096" y="1828487"/>
                </a:lnTo>
                <a:lnTo>
                  <a:pt x="50096" y="1828487"/>
                </a:lnTo>
                <a:cubicBezTo>
                  <a:pt x="22429" y="1828487"/>
                  <a:pt x="0" y="1806058"/>
                  <a:pt x="0" y="1778391"/>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18" name="Shape 16"/>
          <p:cNvSpPr/>
          <p:nvPr/>
        </p:nvSpPr>
        <p:spPr>
          <a:xfrm>
            <a:off x="851624" y="4283168"/>
            <a:ext cx="701337" cy="701337"/>
          </a:xfrm>
          <a:custGeom>
            <a:avLst/>
            <a:gdLst/>
            <a:ahLst/>
            <a:cxnLst/>
            <a:rect l="l" t="t" r="r" b="b"/>
            <a:pathLst>
              <a:path w="701337" h="701337">
                <a:moveTo>
                  <a:pt x="100193" y="0"/>
                </a:moveTo>
                <a:lnTo>
                  <a:pt x="601144" y="0"/>
                </a:lnTo>
                <a:cubicBezTo>
                  <a:pt x="656479" y="0"/>
                  <a:pt x="701337" y="44858"/>
                  <a:pt x="701337" y="100193"/>
                </a:cubicBezTo>
                <a:lnTo>
                  <a:pt x="701337" y="601144"/>
                </a:lnTo>
                <a:cubicBezTo>
                  <a:pt x="701337" y="656479"/>
                  <a:pt x="656479" y="701337"/>
                  <a:pt x="601144" y="701337"/>
                </a:cubicBezTo>
                <a:lnTo>
                  <a:pt x="100193" y="701337"/>
                </a:lnTo>
                <a:cubicBezTo>
                  <a:pt x="44858" y="701337"/>
                  <a:pt x="0" y="656479"/>
                  <a:pt x="0" y="601144"/>
                </a:cubicBezTo>
                <a:lnTo>
                  <a:pt x="0" y="100193"/>
                </a:lnTo>
                <a:cubicBezTo>
                  <a:pt x="0" y="44895"/>
                  <a:pt x="44895" y="0"/>
                  <a:pt x="100193" y="0"/>
                </a:cubicBezTo>
                <a:close/>
              </a:path>
            </a:pathLst>
          </a:custGeom>
          <a:solidFill>
            <a:srgbClr val="4FD1C5"/>
          </a:solidFill>
          <a:ln/>
        </p:spPr>
        <p:txBody>
          <a:bodyPr/>
          <a:lstStyle/>
          <a:p>
            <a:endParaRPr lang="zh-CN" altLang="en-US"/>
          </a:p>
        </p:txBody>
      </p:sp>
      <p:sp>
        <p:nvSpPr>
          <p:cNvPr id="19" name="Text 17"/>
          <p:cNvSpPr/>
          <p:nvPr/>
        </p:nvSpPr>
        <p:spPr>
          <a:xfrm>
            <a:off x="1017663" y="4433455"/>
            <a:ext cx="513479" cy="400764"/>
          </a:xfrm>
          <a:prstGeom prst="rect">
            <a:avLst/>
          </a:prstGeom>
          <a:noFill/>
          <a:ln/>
        </p:spPr>
        <p:txBody>
          <a:bodyPr wrap="square" lIns="0" tIns="0" rIns="0" bIns="0" rtlCol="0" anchor="ctr"/>
          <a:lstStyle/>
          <a:p>
            <a:pPr>
              <a:lnSpc>
                <a:spcPct val="110000"/>
              </a:lnSpc>
            </a:pPr>
            <a:r>
              <a:rPr lang="en-US" sz="2367" b="1" dirty="0">
                <a:solidFill>
                  <a:srgbClr val="1A202C"/>
                </a:solidFill>
                <a:latin typeface="Liter" pitchFamily="34" charset="0"/>
                <a:ea typeface="Liter" pitchFamily="34" charset="-122"/>
                <a:cs typeface="Liter" pitchFamily="34" charset="-120"/>
              </a:rPr>
              <a:t>03</a:t>
            </a:r>
            <a:endParaRPr lang="en-US" sz="1600" dirty="0"/>
          </a:p>
        </p:txBody>
      </p:sp>
      <p:sp>
        <p:nvSpPr>
          <p:cNvPr id="20" name="Text 18"/>
          <p:cNvSpPr/>
          <p:nvPr/>
        </p:nvSpPr>
        <p:spPr>
          <a:xfrm>
            <a:off x="1753344" y="4433455"/>
            <a:ext cx="1953726" cy="400764"/>
          </a:xfrm>
          <a:prstGeom prst="rect">
            <a:avLst/>
          </a:prstGeom>
          <a:noFill/>
          <a:ln/>
        </p:spPr>
        <p:txBody>
          <a:bodyPr wrap="square" lIns="0" tIns="0" rIns="0" bIns="0" rtlCol="0" anchor="ctr"/>
          <a:lstStyle/>
          <a:p>
            <a:pPr>
              <a:lnSpc>
                <a:spcPct val="110000"/>
              </a:lnSpc>
            </a:pPr>
            <a:r>
              <a:rPr lang="en-US" sz="2367" b="1" dirty="0">
                <a:solidFill>
                  <a:srgbClr val="F7FAFC"/>
                </a:solidFill>
                <a:latin typeface="Noto Sans SC" pitchFamily="34" charset="0"/>
                <a:ea typeface="Noto Sans SC" pitchFamily="34" charset="-122"/>
                <a:cs typeface="Noto Sans SC" pitchFamily="34" charset="-120"/>
              </a:rPr>
              <a:t>核心技术基石</a:t>
            </a:r>
            <a:endParaRPr lang="en-US" sz="1600" dirty="0"/>
          </a:p>
        </p:txBody>
      </p:sp>
      <p:sp>
        <p:nvSpPr>
          <p:cNvPr id="21" name="Text 19"/>
          <p:cNvSpPr/>
          <p:nvPr/>
        </p:nvSpPr>
        <p:spPr>
          <a:xfrm>
            <a:off x="851624" y="5184888"/>
            <a:ext cx="6925707" cy="325621"/>
          </a:xfrm>
          <a:prstGeom prst="rect">
            <a:avLst/>
          </a:prstGeom>
          <a:noFill/>
          <a:ln/>
        </p:spPr>
        <p:txBody>
          <a:bodyPr wrap="square" lIns="0" tIns="0" rIns="0" bIns="0" rtlCol="0" anchor="ctr"/>
          <a:lstStyle/>
          <a:p>
            <a:pPr>
              <a:lnSpc>
                <a:spcPct val="140000"/>
              </a:lnSpc>
            </a:pPr>
            <a:r>
              <a:rPr lang="en-US" sz="1578" dirty="0">
                <a:solidFill>
                  <a:srgbClr val="A0AEC0"/>
                </a:solidFill>
                <a:latin typeface="MiSans" pitchFamily="34" charset="0"/>
                <a:ea typeface="MiSans" pitchFamily="34" charset="-122"/>
                <a:cs typeface="MiSans" pitchFamily="34" charset="-120"/>
              </a:rPr>
              <a:t>Table Formats——表格式如何连接文件与表</a:t>
            </a:r>
            <a:endParaRPr lang="en-US" sz="1600" dirty="0"/>
          </a:p>
        </p:txBody>
      </p:sp>
      <p:sp>
        <p:nvSpPr>
          <p:cNvPr id="22" name="Shape 20"/>
          <p:cNvSpPr/>
          <p:nvPr/>
        </p:nvSpPr>
        <p:spPr>
          <a:xfrm>
            <a:off x="8301867" y="3982595"/>
            <a:ext cx="7451710" cy="1828487"/>
          </a:xfrm>
          <a:custGeom>
            <a:avLst/>
            <a:gdLst/>
            <a:ahLst/>
            <a:cxnLst/>
            <a:rect l="l" t="t" r="r" b="b"/>
            <a:pathLst>
              <a:path w="7451710" h="1828487">
                <a:moveTo>
                  <a:pt x="50096" y="0"/>
                </a:moveTo>
                <a:lnTo>
                  <a:pt x="7351528" y="0"/>
                </a:lnTo>
                <a:cubicBezTo>
                  <a:pt x="7406857" y="0"/>
                  <a:pt x="7451710" y="44853"/>
                  <a:pt x="7451710" y="100183"/>
                </a:cubicBezTo>
                <a:lnTo>
                  <a:pt x="7451710" y="1728304"/>
                </a:lnTo>
                <a:cubicBezTo>
                  <a:pt x="7451710" y="1783634"/>
                  <a:pt x="7406857" y="1828487"/>
                  <a:pt x="7351528" y="1828487"/>
                </a:cubicBezTo>
                <a:lnTo>
                  <a:pt x="50096" y="1828487"/>
                </a:lnTo>
                <a:cubicBezTo>
                  <a:pt x="22429" y="1828487"/>
                  <a:pt x="0" y="1806058"/>
                  <a:pt x="0" y="1778391"/>
                </a:cubicBezTo>
                <a:lnTo>
                  <a:pt x="0" y="50096"/>
                </a:lnTo>
                <a:cubicBezTo>
                  <a:pt x="0" y="22447"/>
                  <a:pt x="22447" y="0"/>
                  <a:pt x="50096" y="0"/>
                </a:cubicBezTo>
                <a:close/>
              </a:path>
            </a:pathLst>
          </a:custGeom>
          <a:solidFill>
            <a:srgbClr val="4A5568">
              <a:alpha val="30196"/>
            </a:srgbClr>
          </a:solidFill>
          <a:ln/>
        </p:spPr>
        <p:txBody>
          <a:bodyPr/>
          <a:lstStyle/>
          <a:p>
            <a:endParaRPr lang="zh-CN" altLang="en-US"/>
          </a:p>
        </p:txBody>
      </p:sp>
      <p:sp>
        <p:nvSpPr>
          <p:cNvPr id="23" name="Shape 21"/>
          <p:cNvSpPr/>
          <p:nvPr/>
        </p:nvSpPr>
        <p:spPr>
          <a:xfrm>
            <a:off x="8301867" y="3982595"/>
            <a:ext cx="50096" cy="1828487"/>
          </a:xfrm>
          <a:custGeom>
            <a:avLst/>
            <a:gdLst/>
            <a:ahLst/>
            <a:cxnLst/>
            <a:rect l="l" t="t" r="r" b="b"/>
            <a:pathLst>
              <a:path w="50096" h="1828487">
                <a:moveTo>
                  <a:pt x="50096" y="0"/>
                </a:moveTo>
                <a:lnTo>
                  <a:pt x="50096" y="0"/>
                </a:lnTo>
                <a:lnTo>
                  <a:pt x="50096" y="1828487"/>
                </a:lnTo>
                <a:lnTo>
                  <a:pt x="50096" y="1828487"/>
                </a:lnTo>
                <a:cubicBezTo>
                  <a:pt x="22429" y="1828487"/>
                  <a:pt x="0" y="1806058"/>
                  <a:pt x="0" y="1778391"/>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24" name="Shape 22"/>
          <p:cNvSpPr/>
          <p:nvPr/>
        </p:nvSpPr>
        <p:spPr>
          <a:xfrm>
            <a:off x="8627488" y="4283168"/>
            <a:ext cx="701337" cy="701337"/>
          </a:xfrm>
          <a:custGeom>
            <a:avLst/>
            <a:gdLst/>
            <a:ahLst/>
            <a:cxnLst/>
            <a:rect l="l" t="t" r="r" b="b"/>
            <a:pathLst>
              <a:path w="701337" h="701337">
                <a:moveTo>
                  <a:pt x="100193" y="0"/>
                </a:moveTo>
                <a:lnTo>
                  <a:pt x="601144" y="0"/>
                </a:lnTo>
                <a:cubicBezTo>
                  <a:pt x="656479" y="0"/>
                  <a:pt x="701337" y="44858"/>
                  <a:pt x="701337" y="100193"/>
                </a:cubicBezTo>
                <a:lnTo>
                  <a:pt x="701337" y="601144"/>
                </a:lnTo>
                <a:cubicBezTo>
                  <a:pt x="701337" y="656479"/>
                  <a:pt x="656479" y="701337"/>
                  <a:pt x="601144" y="701337"/>
                </a:cubicBezTo>
                <a:lnTo>
                  <a:pt x="100193" y="701337"/>
                </a:lnTo>
                <a:cubicBezTo>
                  <a:pt x="44858" y="701337"/>
                  <a:pt x="0" y="656479"/>
                  <a:pt x="0" y="601144"/>
                </a:cubicBezTo>
                <a:lnTo>
                  <a:pt x="0" y="100193"/>
                </a:lnTo>
                <a:cubicBezTo>
                  <a:pt x="0" y="44895"/>
                  <a:pt x="44895" y="0"/>
                  <a:pt x="100193" y="0"/>
                </a:cubicBezTo>
                <a:close/>
              </a:path>
            </a:pathLst>
          </a:custGeom>
          <a:solidFill>
            <a:srgbClr val="4FD1C5"/>
          </a:solidFill>
          <a:ln/>
        </p:spPr>
        <p:txBody>
          <a:bodyPr/>
          <a:lstStyle/>
          <a:p>
            <a:endParaRPr lang="zh-CN" altLang="en-US"/>
          </a:p>
        </p:txBody>
      </p:sp>
      <p:sp>
        <p:nvSpPr>
          <p:cNvPr id="25" name="Text 23"/>
          <p:cNvSpPr/>
          <p:nvPr/>
        </p:nvSpPr>
        <p:spPr>
          <a:xfrm>
            <a:off x="8793723" y="4433455"/>
            <a:ext cx="513479" cy="400764"/>
          </a:xfrm>
          <a:prstGeom prst="rect">
            <a:avLst/>
          </a:prstGeom>
          <a:noFill/>
          <a:ln/>
        </p:spPr>
        <p:txBody>
          <a:bodyPr wrap="square" lIns="0" tIns="0" rIns="0" bIns="0" rtlCol="0" anchor="ctr"/>
          <a:lstStyle/>
          <a:p>
            <a:pPr>
              <a:lnSpc>
                <a:spcPct val="110000"/>
              </a:lnSpc>
            </a:pPr>
            <a:r>
              <a:rPr lang="en-US" sz="2367" b="1" dirty="0">
                <a:solidFill>
                  <a:srgbClr val="1A202C"/>
                </a:solidFill>
                <a:latin typeface="Liter" pitchFamily="34" charset="0"/>
                <a:ea typeface="Liter" pitchFamily="34" charset="-122"/>
                <a:cs typeface="Liter" pitchFamily="34" charset="-120"/>
              </a:rPr>
              <a:t>04</a:t>
            </a:r>
            <a:endParaRPr lang="en-US" sz="1600" dirty="0"/>
          </a:p>
        </p:txBody>
      </p:sp>
      <p:sp>
        <p:nvSpPr>
          <p:cNvPr id="26" name="Text 24"/>
          <p:cNvSpPr/>
          <p:nvPr/>
        </p:nvSpPr>
        <p:spPr>
          <a:xfrm>
            <a:off x="9529207" y="4433455"/>
            <a:ext cx="1953726" cy="400764"/>
          </a:xfrm>
          <a:prstGeom prst="rect">
            <a:avLst/>
          </a:prstGeom>
          <a:noFill/>
          <a:ln/>
        </p:spPr>
        <p:txBody>
          <a:bodyPr wrap="square" lIns="0" tIns="0" rIns="0" bIns="0" rtlCol="0" anchor="ctr"/>
          <a:lstStyle/>
          <a:p>
            <a:pPr>
              <a:lnSpc>
                <a:spcPct val="110000"/>
              </a:lnSpc>
            </a:pPr>
            <a:r>
              <a:rPr lang="en-US" sz="2367" b="1" dirty="0">
                <a:solidFill>
                  <a:srgbClr val="F7FAFC"/>
                </a:solidFill>
                <a:latin typeface="Noto Sans SC" pitchFamily="34" charset="0"/>
                <a:ea typeface="Noto Sans SC" pitchFamily="34" charset="-122"/>
                <a:cs typeface="Noto Sans SC" pitchFamily="34" charset="-120"/>
              </a:rPr>
              <a:t>核心机制剖析</a:t>
            </a:r>
            <a:endParaRPr lang="en-US" sz="1600" dirty="0"/>
          </a:p>
        </p:txBody>
      </p:sp>
      <p:sp>
        <p:nvSpPr>
          <p:cNvPr id="27" name="Text 25"/>
          <p:cNvSpPr/>
          <p:nvPr/>
        </p:nvSpPr>
        <p:spPr>
          <a:xfrm>
            <a:off x="8627488" y="5184888"/>
            <a:ext cx="6925707" cy="325621"/>
          </a:xfrm>
          <a:prstGeom prst="rect">
            <a:avLst/>
          </a:prstGeom>
          <a:noFill/>
          <a:ln/>
        </p:spPr>
        <p:txBody>
          <a:bodyPr wrap="square" lIns="0" tIns="0" rIns="0" bIns="0" rtlCol="0" anchor="ctr"/>
          <a:lstStyle/>
          <a:p>
            <a:pPr>
              <a:lnSpc>
                <a:spcPct val="140000"/>
              </a:lnSpc>
            </a:pPr>
            <a:r>
              <a:rPr lang="en-US" sz="1578" dirty="0">
                <a:solidFill>
                  <a:srgbClr val="A0AEC0"/>
                </a:solidFill>
                <a:latin typeface="MiSans" pitchFamily="34" charset="0"/>
                <a:ea typeface="MiSans" pitchFamily="34" charset="-122"/>
                <a:cs typeface="MiSans" pitchFamily="34" charset="-120"/>
              </a:rPr>
              <a:t>以Apache Iceberg为例深入内部实现</a:t>
            </a:r>
            <a:endParaRPr lang="en-US" sz="1600" dirty="0"/>
          </a:p>
        </p:txBody>
      </p:sp>
      <p:sp>
        <p:nvSpPr>
          <p:cNvPr id="28" name="Shape 26"/>
          <p:cNvSpPr/>
          <p:nvPr/>
        </p:nvSpPr>
        <p:spPr>
          <a:xfrm>
            <a:off x="526003" y="6111655"/>
            <a:ext cx="15229042" cy="1828487"/>
          </a:xfrm>
          <a:custGeom>
            <a:avLst/>
            <a:gdLst/>
            <a:ahLst/>
            <a:cxnLst/>
            <a:rect l="l" t="t" r="r" b="b"/>
            <a:pathLst>
              <a:path w="15229042" h="1828487">
                <a:moveTo>
                  <a:pt x="50096" y="0"/>
                </a:moveTo>
                <a:lnTo>
                  <a:pt x="15128859" y="0"/>
                </a:lnTo>
                <a:cubicBezTo>
                  <a:pt x="15184188" y="0"/>
                  <a:pt x="15229042" y="44853"/>
                  <a:pt x="15229042" y="100183"/>
                </a:cubicBezTo>
                <a:lnTo>
                  <a:pt x="15229042" y="1728304"/>
                </a:lnTo>
                <a:cubicBezTo>
                  <a:pt x="15229042" y="1783634"/>
                  <a:pt x="15184188" y="1828487"/>
                  <a:pt x="15128859" y="1828487"/>
                </a:cubicBezTo>
                <a:lnTo>
                  <a:pt x="50096" y="1828487"/>
                </a:lnTo>
                <a:cubicBezTo>
                  <a:pt x="22429" y="1828487"/>
                  <a:pt x="0" y="1806058"/>
                  <a:pt x="0" y="1778391"/>
                </a:cubicBezTo>
                <a:lnTo>
                  <a:pt x="0" y="50096"/>
                </a:lnTo>
                <a:cubicBezTo>
                  <a:pt x="0" y="22447"/>
                  <a:pt x="22447" y="0"/>
                  <a:pt x="50096" y="0"/>
                </a:cubicBezTo>
                <a:close/>
              </a:path>
            </a:pathLst>
          </a:custGeom>
          <a:solidFill>
            <a:srgbClr val="4A5568">
              <a:alpha val="30196"/>
            </a:srgbClr>
          </a:solidFill>
          <a:ln/>
        </p:spPr>
        <p:txBody>
          <a:bodyPr/>
          <a:lstStyle/>
          <a:p>
            <a:endParaRPr lang="zh-CN" altLang="en-US"/>
          </a:p>
        </p:txBody>
      </p:sp>
      <p:sp>
        <p:nvSpPr>
          <p:cNvPr id="29" name="Shape 27"/>
          <p:cNvSpPr/>
          <p:nvPr/>
        </p:nvSpPr>
        <p:spPr>
          <a:xfrm>
            <a:off x="526003" y="6111655"/>
            <a:ext cx="50096" cy="1828487"/>
          </a:xfrm>
          <a:custGeom>
            <a:avLst/>
            <a:gdLst/>
            <a:ahLst/>
            <a:cxnLst/>
            <a:rect l="l" t="t" r="r" b="b"/>
            <a:pathLst>
              <a:path w="50096" h="1828487">
                <a:moveTo>
                  <a:pt x="50096" y="0"/>
                </a:moveTo>
                <a:lnTo>
                  <a:pt x="50096" y="0"/>
                </a:lnTo>
                <a:lnTo>
                  <a:pt x="50096" y="1828487"/>
                </a:lnTo>
                <a:lnTo>
                  <a:pt x="50096" y="1828487"/>
                </a:lnTo>
                <a:cubicBezTo>
                  <a:pt x="22429" y="1828487"/>
                  <a:pt x="0" y="1806058"/>
                  <a:pt x="0" y="1778391"/>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30" name="Shape 28"/>
          <p:cNvSpPr/>
          <p:nvPr/>
        </p:nvSpPr>
        <p:spPr>
          <a:xfrm>
            <a:off x="851624" y="6412228"/>
            <a:ext cx="701337" cy="701337"/>
          </a:xfrm>
          <a:custGeom>
            <a:avLst/>
            <a:gdLst/>
            <a:ahLst/>
            <a:cxnLst/>
            <a:rect l="l" t="t" r="r" b="b"/>
            <a:pathLst>
              <a:path w="701337" h="701337">
                <a:moveTo>
                  <a:pt x="100193" y="0"/>
                </a:moveTo>
                <a:lnTo>
                  <a:pt x="601144" y="0"/>
                </a:lnTo>
                <a:cubicBezTo>
                  <a:pt x="656479" y="0"/>
                  <a:pt x="701337" y="44858"/>
                  <a:pt x="701337" y="100193"/>
                </a:cubicBezTo>
                <a:lnTo>
                  <a:pt x="701337" y="601144"/>
                </a:lnTo>
                <a:cubicBezTo>
                  <a:pt x="701337" y="656479"/>
                  <a:pt x="656479" y="701337"/>
                  <a:pt x="601144" y="701337"/>
                </a:cubicBezTo>
                <a:lnTo>
                  <a:pt x="100193" y="701337"/>
                </a:lnTo>
                <a:cubicBezTo>
                  <a:pt x="44858" y="701337"/>
                  <a:pt x="0" y="656479"/>
                  <a:pt x="0" y="601144"/>
                </a:cubicBezTo>
                <a:lnTo>
                  <a:pt x="0" y="100193"/>
                </a:lnTo>
                <a:cubicBezTo>
                  <a:pt x="0" y="44895"/>
                  <a:pt x="44895" y="0"/>
                  <a:pt x="100193" y="0"/>
                </a:cubicBezTo>
                <a:close/>
              </a:path>
            </a:pathLst>
          </a:custGeom>
          <a:solidFill>
            <a:srgbClr val="4FD1C5"/>
          </a:solidFill>
          <a:ln/>
        </p:spPr>
        <p:txBody>
          <a:bodyPr/>
          <a:lstStyle/>
          <a:p>
            <a:endParaRPr lang="zh-CN" altLang="en-US"/>
          </a:p>
        </p:txBody>
      </p:sp>
      <p:sp>
        <p:nvSpPr>
          <p:cNvPr id="31" name="Text 29"/>
          <p:cNvSpPr/>
          <p:nvPr/>
        </p:nvSpPr>
        <p:spPr>
          <a:xfrm>
            <a:off x="1019816" y="6562515"/>
            <a:ext cx="513479" cy="400764"/>
          </a:xfrm>
          <a:prstGeom prst="rect">
            <a:avLst/>
          </a:prstGeom>
          <a:noFill/>
          <a:ln/>
        </p:spPr>
        <p:txBody>
          <a:bodyPr wrap="square" lIns="0" tIns="0" rIns="0" bIns="0" rtlCol="0" anchor="ctr"/>
          <a:lstStyle/>
          <a:p>
            <a:pPr>
              <a:lnSpc>
                <a:spcPct val="110000"/>
              </a:lnSpc>
            </a:pPr>
            <a:r>
              <a:rPr lang="en-US" sz="2367" b="1" dirty="0">
                <a:solidFill>
                  <a:srgbClr val="1A202C"/>
                </a:solidFill>
                <a:latin typeface="Liter" pitchFamily="34" charset="0"/>
                <a:ea typeface="Liter" pitchFamily="34" charset="-122"/>
                <a:cs typeface="Liter" pitchFamily="34" charset="-120"/>
              </a:rPr>
              <a:t>05</a:t>
            </a:r>
            <a:endParaRPr lang="en-US" sz="1600" dirty="0"/>
          </a:p>
        </p:txBody>
      </p:sp>
      <p:sp>
        <p:nvSpPr>
          <p:cNvPr id="32" name="Text 30"/>
          <p:cNvSpPr/>
          <p:nvPr/>
        </p:nvSpPr>
        <p:spPr>
          <a:xfrm>
            <a:off x="1753344" y="6562515"/>
            <a:ext cx="2254299" cy="400764"/>
          </a:xfrm>
          <a:prstGeom prst="rect">
            <a:avLst/>
          </a:prstGeom>
          <a:noFill/>
          <a:ln/>
        </p:spPr>
        <p:txBody>
          <a:bodyPr wrap="square" lIns="0" tIns="0" rIns="0" bIns="0" rtlCol="0" anchor="ctr"/>
          <a:lstStyle/>
          <a:p>
            <a:pPr>
              <a:lnSpc>
                <a:spcPct val="110000"/>
              </a:lnSpc>
            </a:pPr>
            <a:r>
              <a:rPr lang="en-US" sz="2367" b="1" dirty="0">
                <a:solidFill>
                  <a:srgbClr val="F7FAFC"/>
                </a:solidFill>
                <a:latin typeface="Noto Sans SC" pitchFamily="34" charset="0"/>
                <a:ea typeface="Noto Sans SC" pitchFamily="34" charset="-122"/>
                <a:cs typeface="Noto Sans SC" pitchFamily="34" charset="-120"/>
              </a:rPr>
              <a:t>现代数据栈全景</a:t>
            </a:r>
            <a:endParaRPr lang="en-US" sz="1600" dirty="0"/>
          </a:p>
        </p:txBody>
      </p:sp>
      <p:sp>
        <p:nvSpPr>
          <p:cNvPr id="33" name="Text 31"/>
          <p:cNvSpPr/>
          <p:nvPr/>
        </p:nvSpPr>
        <p:spPr>
          <a:xfrm>
            <a:off x="851624" y="7313948"/>
            <a:ext cx="14703039" cy="325621"/>
          </a:xfrm>
          <a:prstGeom prst="rect">
            <a:avLst/>
          </a:prstGeom>
          <a:noFill/>
          <a:ln/>
        </p:spPr>
        <p:txBody>
          <a:bodyPr wrap="square" lIns="0" tIns="0" rIns="0" bIns="0" rtlCol="0" anchor="ctr"/>
          <a:lstStyle/>
          <a:p>
            <a:pPr>
              <a:lnSpc>
                <a:spcPct val="140000"/>
              </a:lnSpc>
            </a:pPr>
            <a:r>
              <a:rPr lang="en-US" sz="1578" dirty="0">
                <a:solidFill>
                  <a:srgbClr val="A0AEC0"/>
                </a:solidFill>
                <a:latin typeface="MiSans" pitchFamily="34" charset="0"/>
                <a:ea typeface="MiSans" pitchFamily="34" charset="-122"/>
                <a:cs typeface="MiSans" pitchFamily="34" charset="-120"/>
              </a:rPr>
              <a:t>Lakehouse在完整数据平台中的定位与应用场景</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02C"/>
        </a:solidFill>
        <a:effectLst/>
      </p:bgPr>
    </p:bg>
    <p:spTree>
      <p:nvGrpSpPr>
        <p:cNvPr id="1" name=""/>
        <p:cNvGrpSpPr/>
        <p:nvPr/>
      </p:nvGrpSpPr>
      <p:grpSpPr>
        <a:xfrm>
          <a:off x="0" y="0"/>
          <a:ext cx="0" cy="0"/>
          <a:chOff x="0" y="0"/>
          <a:chExt cx="0" cy="0"/>
        </a:xfrm>
      </p:grpSpPr>
      <p:sp>
        <p:nvSpPr>
          <p:cNvPr id="4" name="Shape 1"/>
          <p:cNvSpPr/>
          <p:nvPr/>
        </p:nvSpPr>
        <p:spPr>
          <a:xfrm>
            <a:off x="514350" y="2597150"/>
            <a:ext cx="2552700" cy="723900"/>
          </a:xfrm>
          <a:custGeom>
            <a:avLst/>
            <a:gdLst/>
            <a:ahLst/>
            <a:cxnLst/>
            <a:rect l="l" t="t" r="r" b="b"/>
            <a:pathLst>
              <a:path w="2552700" h="723900">
                <a:moveTo>
                  <a:pt x="101599" y="0"/>
                </a:moveTo>
                <a:lnTo>
                  <a:pt x="2451101" y="0"/>
                </a:lnTo>
                <a:cubicBezTo>
                  <a:pt x="2507212" y="0"/>
                  <a:pt x="2552700" y="45488"/>
                  <a:pt x="2552700" y="101599"/>
                </a:cubicBezTo>
                <a:lnTo>
                  <a:pt x="2552700" y="622301"/>
                </a:lnTo>
                <a:cubicBezTo>
                  <a:pt x="2552700" y="678412"/>
                  <a:pt x="2507212" y="723900"/>
                  <a:pt x="2451101" y="723900"/>
                </a:cubicBezTo>
                <a:lnTo>
                  <a:pt x="101599" y="723900"/>
                </a:lnTo>
                <a:cubicBezTo>
                  <a:pt x="45488" y="723900"/>
                  <a:pt x="0" y="678412"/>
                  <a:pt x="0" y="622301"/>
                </a:cubicBezTo>
                <a:lnTo>
                  <a:pt x="0" y="101599"/>
                </a:lnTo>
                <a:cubicBezTo>
                  <a:pt x="0" y="45488"/>
                  <a:pt x="45488" y="0"/>
                  <a:pt x="101599" y="0"/>
                </a:cubicBezTo>
                <a:close/>
              </a:path>
            </a:pathLst>
          </a:custGeom>
          <a:solidFill>
            <a:srgbClr val="4FD1C5">
              <a:alpha val="20000"/>
            </a:srgbClr>
          </a:solidFill>
          <a:ln w="12700">
            <a:solidFill>
              <a:srgbClr val="4FD1C5"/>
            </a:solidFill>
            <a:prstDash val="solid"/>
          </a:ln>
        </p:spPr>
        <p:txBody>
          <a:bodyPr/>
          <a:lstStyle/>
          <a:p>
            <a:endParaRPr lang="zh-CN" altLang="en-US"/>
          </a:p>
        </p:txBody>
      </p:sp>
      <p:sp>
        <p:nvSpPr>
          <p:cNvPr id="5" name="Text 2"/>
          <p:cNvSpPr/>
          <p:nvPr/>
        </p:nvSpPr>
        <p:spPr>
          <a:xfrm>
            <a:off x="825500" y="2755900"/>
            <a:ext cx="2077244" cy="406400"/>
          </a:xfrm>
          <a:prstGeom prst="rect">
            <a:avLst/>
          </a:prstGeom>
          <a:noFill/>
          <a:ln/>
        </p:spPr>
        <p:txBody>
          <a:bodyPr wrap="square" lIns="0" tIns="0" rIns="0" bIns="0" rtlCol="0" anchor="ctr"/>
          <a:lstStyle/>
          <a:p>
            <a:pPr>
              <a:lnSpc>
                <a:spcPct val="110000"/>
              </a:lnSpc>
            </a:pPr>
            <a:r>
              <a:rPr lang="en-US" sz="2400" b="1" kern="0" spc="120" dirty="0">
                <a:solidFill>
                  <a:srgbClr val="4FD1C5"/>
                </a:solidFill>
                <a:latin typeface="MiSans" pitchFamily="34" charset="0"/>
                <a:ea typeface="MiSans" pitchFamily="34" charset="-122"/>
                <a:cs typeface="MiSans" pitchFamily="34" charset="-120"/>
              </a:rPr>
              <a:t>CHAPTER 01</a:t>
            </a:r>
            <a:endParaRPr lang="en-US" sz="1600" dirty="0"/>
          </a:p>
        </p:txBody>
      </p:sp>
      <p:sp>
        <p:nvSpPr>
          <p:cNvPr id="6" name="Text 3"/>
          <p:cNvSpPr/>
          <p:nvPr/>
        </p:nvSpPr>
        <p:spPr>
          <a:xfrm>
            <a:off x="508000" y="3733800"/>
            <a:ext cx="15697200" cy="1143000"/>
          </a:xfrm>
          <a:prstGeom prst="rect">
            <a:avLst/>
          </a:prstGeom>
          <a:noFill/>
          <a:ln/>
        </p:spPr>
        <p:txBody>
          <a:bodyPr wrap="square" lIns="0" tIns="0" rIns="0" bIns="0" rtlCol="0" anchor="ctr"/>
          <a:lstStyle/>
          <a:p>
            <a:pPr>
              <a:lnSpc>
                <a:spcPct val="100000"/>
              </a:lnSpc>
            </a:pPr>
            <a:r>
              <a:rPr lang="en-US" sz="7200" b="1" dirty="0">
                <a:solidFill>
                  <a:srgbClr val="F7FAFC"/>
                </a:solidFill>
                <a:latin typeface="Noto Sans SC" pitchFamily="34" charset="0"/>
                <a:ea typeface="Noto Sans SC" pitchFamily="34" charset="-122"/>
                <a:cs typeface="Noto Sans SC" pitchFamily="34" charset="-120"/>
              </a:rPr>
              <a:t>典型应用案例</a:t>
            </a:r>
            <a:endParaRPr lang="en-US" sz="1600" dirty="0"/>
          </a:p>
        </p:txBody>
      </p:sp>
      <p:sp>
        <p:nvSpPr>
          <p:cNvPr id="7" name="Text 4"/>
          <p:cNvSpPr/>
          <p:nvPr/>
        </p:nvSpPr>
        <p:spPr>
          <a:xfrm>
            <a:off x="508000" y="5181600"/>
            <a:ext cx="15430500" cy="457200"/>
          </a:xfrm>
          <a:prstGeom prst="rect">
            <a:avLst/>
          </a:prstGeom>
          <a:noFill/>
          <a:ln/>
        </p:spPr>
        <p:txBody>
          <a:bodyPr wrap="square" lIns="0" tIns="0" rIns="0" bIns="0" rtlCol="0" anchor="ctr"/>
          <a:lstStyle/>
          <a:p>
            <a:pPr>
              <a:lnSpc>
                <a:spcPct val="100000"/>
              </a:lnSpc>
            </a:pPr>
            <a:r>
              <a:rPr lang="en-US" sz="3000" dirty="0">
                <a:solidFill>
                  <a:srgbClr val="A0AEC0"/>
                </a:solidFill>
                <a:latin typeface="MiSans" pitchFamily="34" charset="0"/>
                <a:ea typeface="MiSans" pitchFamily="34" charset="-122"/>
                <a:cs typeface="MiSans" pitchFamily="34" charset="-120"/>
              </a:rPr>
              <a:t>银行从数据仓库到湖仓一体的演进路径</a:t>
            </a:r>
            <a:endParaRPr lang="en-US" sz="1600" dirty="0"/>
          </a:p>
        </p:txBody>
      </p:sp>
      <p:sp>
        <p:nvSpPr>
          <p:cNvPr id="8" name="Shape 5"/>
          <p:cNvSpPr/>
          <p:nvPr/>
        </p:nvSpPr>
        <p:spPr>
          <a:xfrm>
            <a:off x="508000" y="6045200"/>
            <a:ext cx="1625600" cy="508000"/>
          </a:xfrm>
          <a:custGeom>
            <a:avLst/>
            <a:gdLst/>
            <a:ahLst/>
            <a:cxnLst/>
            <a:rect l="l" t="t" r="r" b="b"/>
            <a:pathLst>
              <a:path w="1625600" h="508000">
                <a:moveTo>
                  <a:pt x="101600" y="0"/>
                </a:moveTo>
                <a:lnTo>
                  <a:pt x="1524000" y="0"/>
                </a:lnTo>
                <a:cubicBezTo>
                  <a:pt x="1580075" y="0"/>
                  <a:pt x="1625600" y="45525"/>
                  <a:pt x="1625600" y="101600"/>
                </a:cubicBezTo>
                <a:lnTo>
                  <a:pt x="1625600" y="406400"/>
                </a:lnTo>
                <a:cubicBezTo>
                  <a:pt x="1625600" y="462475"/>
                  <a:pt x="1580075" y="508000"/>
                  <a:pt x="15240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9" name="Text 6"/>
          <p:cNvSpPr/>
          <p:nvPr/>
        </p:nvSpPr>
        <p:spPr>
          <a:xfrm>
            <a:off x="711200" y="6165850"/>
            <a:ext cx="13208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同一业务场景</a:t>
            </a:r>
            <a:endParaRPr lang="en-US" sz="1600" dirty="0"/>
          </a:p>
        </p:txBody>
      </p:sp>
      <p:sp>
        <p:nvSpPr>
          <p:cNvPr id="10" name="Shape 7"/>
          <p:cNvSpPr/>
          <p:nvPr/>
        </p:nvSpPr>
        <p:spPr>
          <a:xfrm>
            <a:off x="2336800" y="6045200"/>
            <a:ext cx="1625600" cy="508000"/>
          </a:xfrm>
          <a:custGeom>
            <a:avLst/>
            <a:gdLst/>
            <a:ahLst/>
            <a:cxnLst/>
            <a:rect l="l" t="t" r="r" b="b"/>
            <a:pathLst>
              <a:path w="1625600" h="508000">
                <a:moveTo>
                  <a:pt x="101600" y="0"/>
                </a:moveTo>
                <a:lnTo>
                  <a:pt x="1524000" y="0"/>
                </a:lnTo>
                <a:cubicBezTo>
                  <a:pt x="1580075" y="0"/>
                  <a:pt x="1625600" y="45525"/>
                  <a:pt x="1625600" y="101600"/>
                </a:cubicBezTo>
                <a:lnTo>
                  <a:pt x="1625600" y="406400"/>
                </a:lnTo>
                <a:cubicBezTo>
                  <a:pt x="1625600" y="462475"/>
                  <a:pt x="1580075" y="508000"/>
                  <a:pt x="15240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1" name="Text 8"/>
          <p:cNvSpPr/>
          <p:nvPr/>
        </p:nvSpPr>
        <p:spPr>
          <a:xfrm>
            <a:off x="2540000" y="6165850"/>
            <a:ext cx="13208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三种架构阶段</a:t>
            </a:r>
            <a:endParaRPr lang="en-US" sz="1600" dirty="0"/>
          </a:p>
        </p:txBody>
      </p:sp>
      <p:sp>
        <p:nvSpPr>
          <p:cNvPr id="12" name="Shape 9"/>
          <p:cNvSpPr/>
          <p:nvPr/>
        </p:nvSpPr>
        <p:spPr>
          <a:xfrm>
            <a:off x="4165600" y="6045200"/>
            <a:ext cx="1625600" cy="508000"/>
          </a:xfrm>
          <a:custGeom>
            <a:avLst/>
            <a:gdLst/>
            <a:ahLst/>
            <a:cxnLst/>
            <a:rect l="l" t="t" r="r" b="b"/>
            <a:pathLst>
              <a:path w="1625600" h="508000">
                <a:moveTo>
                  <a:pt x="101600" y="0"/>
                </a:moveTo>
                <a:lnTo>
                  <a:pt x="1524000" y="0"/>
                </a:lnTo>
                <a:cubicBezTo>
                  <a:pt x="1580075" y="0"/>
                  <a:pt x="1625600" y="45525"/>
                  <a:pt x="1625600" y="101600"/>
                </a:cubicBezTo>
                <a:lnTo>
                  <a:pt x="1625600" y="406400"/>
                </a:lnTo>
                <a:cubicBezTo>
                  <a:pt x="1625600" y="462475"/>
                  <a:pt x="1580075" y="508000"/>
                  <a:pt x="15240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3" name="Text 10"/>
          <p:cNvSpPr/>
          <p:nvPr/>
        </p:nvSpPr>
        <p:spPr>
          <a:xfrm>
            <a:off x="4368800" y="6165850"/>
            <a:ext cx="13208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持续演进追踪</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23333" y="423333"/>
            <a:ext cx="2571750" cy="254000"/>
          </a:xfrm>
          <a:prstGeom prst="rect">
            <a:avLst/>
          </a:prstGeom>
          <a:noFill/>
          <a:ln/>
        </p:spPr>
        <p:txBody>
          <a:bodyPr wrap="square" lIns="0" tIns="0" rIns="0" bIns="0" rtlCol="0" anchor="ctr"/>
          <a:lstStyle/>
          <a:p>
            <a:pPr>
              <a:lnSpc>
                <a:spcPct val="130000"/>
              </a:lnSpc>
            </a:pPr>
            <a:r>
              <a:rPr lang="en-US" sz="1333" b="1" kern="0" spc="67" dirty="0">
                <a:solidFill>
                  <a:srgbClr val="4FD1C5"/>
                </a:solidFill>
                <a:latin typeface="MiSans" pitchFamily="34" charset="0"/>
                <a:ea typeface="MiSans" pitchFamily="34" charset="-122"/>
                <a:cs typeface="MiSans" pitchFamily="34" charset="-120"/>
              </a:rPr>
              <a:t>TYPICAL APPLICATION CASE</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F7FAFC"/>
                </a:solidFill>
                <a:latin typeface="Noto Sans SC" pitchFamily="34" charset="0"/>
                <a:ea typeface="Noto Sans SC" pitchFamily="34" charset="-122"/>
                <a:cs typeface="Noto Sans SC" pitchFamily="34" charset="-120"/>
              </a:rPr>
              <a:t>传统银行数据仓库：T+1对账与监管报表</a:t>
            </a:r>
            <a:endParaRPr lang="en-US" sz="1600" dirty="0"/>
          </a:p>
        </p:txBody>
      </p:sp>
      <p:sp>
        <p:nvSpPr>
          <p:cNvPr id="4" name="Shape 2"/>
          <p:cNvSpPr/>
          <p:nvPr/>
        </p:nvSpPr>
        <p:spPr>
          <a:xfrm>
            <a:off x="423333" y="1312333"/>
            <a:ext cx="846667" cy="42333"/>
          </a:xfrm>
          <a:custGeom>
            <a:avLst/>
            <a:gdLst/>
            <a:ahLst/>
            <a:cxnLst/>
            <a:rect l="l" t="t" r="r" b="b"/>
            <a:pathLst>
              <a:path w="846667" h="42333">
                <a:moveTo>
                  <a:pt x="0" y="0"/>
                </a:moveTo>
                <a:lnTo>
                  <a:pt x="846667" y="0"/>
                </a:lnTo>
                <a:lnTo>
                  <a:pt x="846667" y="42333"/>
                </a:lnTo>
                <a:lnTo>
                  <a:pt x="0" y="42333"/>
                </a:lnTo>
                <a:lnTo>
                  <a:pt x="0" y="0"/>
                </a:lnTo>
                <a:close/>
              </a:path>
            </a:pathLst>
          </a:custGeom>
          <a:solidFill>
            <a:srgbClr val="4FD1C5"/>
          </a:solidFill>
          <a:ln/>
        </p:spPr>
        <p:txBody>
          <a:bodyPr/>
          <a:lstStyle/>
          <a:p>
            <a:endParaRPr lang="zh-CN" altLang="en-US"/>
          </a:p>
        </p:txBody>
      </p:sp>
      <p:sp>
        <p:nvSpPr>
          <p:cNvPr id="5" name="Shape 3"/>
          <p:cNvSpPr/>
          <p:nvPr/>
        </p:nvSpPr>
        <p:spPr>
          <a:xfrm>
            <a:off x="423333" y="1608667"/>
            <a:ext cx="10202333" cy="1905000"/>
          </a:xfrm>
          <a:custGeom>
            <a:avLst/>
            <a:gdLst/>
            <a:ahLst/>
            <a:cxnLst/>
            <a:rect l="l" t="t" r="r" b="b"/>
            <a:pathLst>
              <a:path w="10202333" h="1905000">
                <a:moveTo>
                  <a:pt x="84658" y="0"/>
                </a:moveTo>
                <a:lnTo>
                  <a:pt x="10117675" y="0"/>
                </a:lnTo>
                <a:cubicBezTo>
                  <a:pt x="10164431" y="0"/>
                  <a:pt x="10202333" y="37903"/>
                  <a:pt x="10202333" y="84658"/>
                </a:cubicBezTo>
                <a:lnTo>
                  <a:pt x="10202333" y="1820342"/>
                </a:lnTo>
                <a:cubicBezTo>
                  <a:pt x="10202333" y="1867097"/>
                  <a:pt x="10164431" y="1905000"/>
                  <a:pt x="10117675" y="1905000"/>
                </a:cubicBezTo>
                <a:lnTo>
                  <a:pt x="84658" y="1905000"/>
                </a:lnTo>
                <a:cubicBezTo>
                  <a:pt x="37903" y="1905000"/>
                  <a:pt x="0" y="1867097"/>
                  <a:pt x="0" y="1820342"/>
                </a:cubicBezTo>
                <a:lnTo>
                  <a:pt x="0" y="84658"/>
                </a:lnTo>
                <a:cubicBezTo>
                  <a:pt x="0" y="37903"/>
                  <a:pt x="37903" y="0"/>
                  <a:pt x="84658" y="0"/>
                </a:cubicBezTo>
                <a:close/>
              </a:path>
            </a:pathLst>
          </a:custGeom>
          <a:solidFill>
            <a:srgbClr val="4A5568">
              <a:alpha val="30196"/>
            </a:srgbClr>
          </a:solidFill>
          <a:ln/>
        </p:spPr>
        <p:txBody>
          <a:bodyPr/>
          <a:lstStyle/>
          <a:p>
            <a:endParaRPr lang="zh-CN" altLang="en-US"/>
          </a:p>
        </p:txBody>
      </p:sp>
      <p:sp>
        <p:nvSpPr>
          <p:cNvPr id="6" name="Text 4"/>
          <p:cNvSpPr/>
          <p:nvPr/>
        </p:nvSpPr>
        <p:spPr>
          <a:xfrm>
            <a:off x="635000" y="1820333"/>
            <a:ext cx="9884833" cy="296333"/>
          </a:xfrm>
          <a:prstGeom prst="rect">
            <a:avLst/>
          </a:prstGeom>
          <a:noFill/>
          <a:ln/>
        </p:spPr>
        <p:txBody>
          <a:bodyPr wrap="square" lIns="0" tIns="0" rIns="0" bIns="0" rtlCol="0" anchor="ctr"/>
          <a:lstStyle/>
          <a:p>
            <a:pPr>
              <a:lnSpc>
                <a:spcPct val="120000"/>
              </a:lnSpc>
            </a:pPr>
            <a:r>
              <a:rPr lang="en-US" sz="1667" b="1" dirty="0">
                <a:solidFill>
                  <a:srgbClr val="4FD1C5"/>
                </a:solidFill>
                <a:latin typeface="Noto Sans SC" pitchFamily="34" charset="0"/>
                <a:ea typeface="Noto Sans SC" pitchFamily="34" charset="-122"/>
                <a:cs typeface="Noto Sans SC" pitchFamily="34" charset="-120"/>
              </a:rPr>
              <a:t>数据来源与抽取</a:t>
            </a:r>
            <a:endParaRPr lang="en-US" sz="1600" dirty="0"/>
          </a:p>
        </p:txBody>
      </p:sp>
      <p:sp>
        <p:nvSpPr>
          <p:cNvPr id="7" name="Shape 5"/>
          <p:cNvSpPr/>
          <p:nvPr/>
        </p:nvSpPr>
        <p:spPr>
          <a:xfrm>
            <a:off x="666750" y="2286000"/>
            <a:ext cx="148167" cy="169333"/>
          </a:xfrm>
          <a:custGeom>
            <a:avLst/>
            <a:gdLst/>
            <a:ahLst/>
            <a:cxnLst/>
            <a:rect l="l" t="t" r="r" b="b"/>
            <a:pathLst>
              <a:path w="148167" h="169333">
                <a:moveTo>
                  <a:pt x="148167" y="68064"/>
                </a:moveTo>
                <a:cubicBezTo>
                  <a:pt x="143272" y="71305"/>
                  <a:pt x="137649" y="73918"/>
                  <a:pt x="131796" y="76002"/>
                </a:cubicBezTo>
                <a:cubicBezTo>
                  <a:pt x="116251" y="81558"/>
                  <a:pt x="95845" y="84667"/>
                  <a:pt x="74083" y="84667"/>
                </a:cubicBezTo>
                <a:cubicBezTo>
                  <a:pt x="52321" y="84667"/>
                  <a:pt x="31882" y="81525"/>
                  <a:pt x="16371" y="76002"/>
                </a:cubicBezTo>
                <a:cubicBezTo>
                  <a:pt x="10550" y="73918"/>
                  <a:pt x="4895" y="71305"/>
                  <a:pt x="0" y="68064"/>
                </a:cubicBezTo>
                <a:lnTo>
                  <a:pt x="0" y="95250"/>
                </a:lnTo>
                <a:cubicBezTo>
                  <a:pt x="0" y="109868"/>
                  <a:pt x="33172" y="121708"/>
                  <a:pt x="74083" y="121708"/>
                </a:cubicBezTo>
                <a:cubicBezTo>
                  <a:pt x="114995" y="121708"/>
                  <a:pt x="148167" y="109868"/>
                  <a:pt x="148167" y="95250"/>
                </a:cubicBezTo>
                <a:lnTo>
                  <a:pt x="148167" y="68064"/>
                </a:lnTo>
                <a:close/>
                <a:moveTo>
                  <a:pt x="148167" y="42333"/>
                </a:moveTo>
                <a:lnTo>
                  <a:pt x="148167" y="26458"/>
                </a:lnTo>
                <a:cubicBezTo>
                  <a:pt x="148167" y="11840"/>
                  <a:pt x="114995" y="0"/>
                  <a:pt x="74083" y="0"/>
                </a:cubicBezTo>
                <a:cubicBezTo>
                  <a:pt x="33172" y="0"/>
                  <a:pt x="0" y="11840"/>
                  <a:pt x="0" y="26458"/>
                </a:cubicBezTo>
                <a:lnTo>
                  <a:pt x="0" y="42333"/>
                </a:lnTo>
                <a:cubicBezTo>
                  <a:pt x="0" y="56952"/>
                  <a:pt x="33172" y="68792"/>
                  <a:pt x="74083" y="68792"/>
                </a:cubicBezTo>
                <a:cubicBezTo>
                  <a:pt x="114995" y="68792"/>
                  <a:pt x="148167" y="56952"/>
                  <a:pt x="148167" y="42333"/>
                </a:cubicBezTo>
                <a:close/>
                <a:moveTo>
                  <a:pt x="131796" y="128918"/>
                </a:moveTo>
                <a:cubicBezTo>
                  <a:pt x="116284" y="134441"/>
                  <a:pt x="95878" y="137583"/>
                  <a:pt x="74083" y="137583"/>
                </a:cubicBezTo>
                <a:cubicBezTo>
                  <a:pt x="52288" y="137583"/>
                  <a:pt x="31882" y="134441"/>
                  <a:pt x="16371" y="128918"/>
                </a:cubicBezTo>
                <a:cubicBezTo>
                  <a:pt x="10550" y="126835"/>
                  <a:pt x="4895" y="124222"/>
                  <a:pt x="0" y="120981"/>
                </a:cubicBezTo>
                <a:lnTo>
                  <a:pt x="0" y="142875"/>
                </a:lnTo>
                <a:cubicBezTo>
                  <a:pt x="0" y="157493"/>
                  <a:pt x="33172" y="169333"/>
                  <a:pt x="74083" y="169333"/>
                </a:cubicBezTo>
                <a:cubicBezTo>
                  <a:pt x="114995" y="169333"/>
                  <a:pt x="148167" y="157493"/>
                  <a:pt x="148167" y="142875"/>
                </a:cubicBezTo>
                <a:lnTo>
                  <a:pt x="148167" y="120981"/>
                </a:lnTo>
                <a:cubicBezTo>
                  <a:pt x="143272" y="124222"/>
                  <a:pt x="137649" y="126835"/>
                  <a:pt x="131796" y="128918"/>
                </a:cubicBezTo>
                <a:close/>
              </a:path>
            </a:pathLst>
          </a:custGeom>
          <a:solidFill>
            <a:srgbClr val="4FD1C5"/>
          </a:solidFill>
          <a:ln/>
        </p:spPr>
        <p:txBody>
          <a:bodyPr/>
          <a:lstStyle/>
          <a:p>
            <a:endParaRPr lang="zh-CN" altLang="en-US"/>
          </a:p>
        </p:txBody>
      </p:sp>
      <p:sp>
        <p:nvSpPr>
          <p:cNvPr id="8" name="Text 6"/>
          <p:cNvSpPr/>
          <p:nvPr/>
        </p:nvSpPr>
        <p:spPr>
          <a:xfrm>
            <a:off x="931333" y="2243667"/>
            <a:ext cx="2360083" cy="254000"/>
          </a:xfrm>
          <a:prstGeom prst="rect">
            <a:avLst/>
          </a:prstGeom>
          <a:noFill/>
          <a:ln/>
        </p:spPr>
        <p:txBody>
          <a:bodyPr wrap="square" lIns="0" tIns="0" rIns="0" bIns="0" rtlCol="0" anchor="ctr"/>
          <a:lstStyle/>
          <a:p>
            <a:pPr>
              <a:lnSpc>
                <a:spcPct val="130000"/>
              </a:lnSpc>
            </a:pPr>
            <a:r>
              <a:rPr lang="en-US" sz="1333" b="1" dirty="0">
                <a:solidFill>
                  <a:srgbClr val="F7FAFC"/>
                </a:solidFill>
                <a:latin typeface="MiSans" pitchFamily="34" charset="0"/>
                <a:ea typeface="MiSans" pitchFamily="34" charset="-122"/>
                <a:cs typeface="MiSans" pitchFamily="34" charset="-120"/>
              </a:rPr>
              <a:t>核心交易系统</a:t>
            </a:r>
            <a:endParaRPr lang="en-US" sz="1600" dirty="0"/>
          </a:p>
        </p:txBody>
      </p:sp>
      <p:sp>
        <p:nvSpPr>
          <p:cNvPr id="9" name="Text 7"/>
          <p:cNvSpPr/>
          <p:nvPr/>
        </p:nvSpPr>
        <p:spPr>
          <a:xfrm>
            <a:off x="931333" y="2497667"/>
            <a:ext cx="2349500"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Oracle/DB2存储跨行转账交易明细</a:t>
            </a:r>
            <a:endParaRPr lang="en-US" sz="1600" dirty="0"/>
          </a:p>
        </p:txBody>
      </p:sp>
      <p:sp>
        <p:nvSpPr>
          <p:cNvPr id="10" name="Shape 8"/>
          <p:cNvSpPr/>
          <p:nvPr/>
        </p:nvSpPr>
        <p:spPr>
          <a:xfrm>
            <a:off x="5609167" y="2286000"/>
            <a:ext cx="169333" cy="169333"/>
          </a:xfrm>
          <a:custGeom>
            <a:avLst/>
            <a:gdLst/>
            <a:ahLst/>
            <a:cxnLst/>
            <a:rect l="l" t="t" r="r" b="b"/>
            <a:pathLst>
              <a:path w="169333" h="169333">
                <a:moveTo>
                  <a:pt x="133548" y="11377"/>
                </a:moveTo>
                <a:cubicBezTo>
                  <a:pt x="137517" y="9723"/>
                  <a:pt x="142048" y="10649"/>
                  <a:pt x="145091" y="13659"/>
                </a:cubicBezTo>
                <a:lnTo>
                  <a:pt x="166258" y="34826"/>
                </a:lnTo>
                <a:cubicBezTo>
                  <a:pt x="168242" y="36810"/>
                  <a:pt x="169366" y="39489"/>
                  <a:pt x="169366" y="42300"/>
                </a:cubicBezTo>
                <a:cubicBezTo>
                  <a:pt x="169366" y="45111"/>
                  <a:pt x="168242" y="47790"/>
                  <a:pt x="166258" y="49775"/>
                </a:cubicBezTo>
                <a:lnTo>
                  <a:pt x="145091" y="70941"/>
                </a:lnTo>
                <a:cubicBezTo>
                  <a:pt x="142048" y="73984"/>
                  <a:pt x="137517" y="74877"/>
                  <a:pt x="133548" y="73223"/>
                </a:cubicBezTo>
                <a:cubicBezTo>
                  <a:pt x="129580" y="71570"/>
                  <a:pt x="127000" y="67766"/>
                  <a:pt x="127000" y="63500"/>
                </a:cubicBezTo>
                <a:lnTo>
                  <a:pt x="127000" y="52917"/>
                </a:lnTo>
                <a:lnTo>
                  <a:pt x="116417" y="52917"/>
                </a:lnTo>
                <a:cubicBezTo>
                  <a:pt x="113076" y="52917"/>
                  <a:pt x="109934" y="54471"/>
                  <a:pt x="107950" y="57150"/>
                </a:cubicBezTo>
                <a:lnTo>
                  <a:pt x="97234" y="71438"/>
                </a:lnTo>
                <a:lnTo>
                  <a:pt x="84005" y="53810"/>
                </a:lnTo>
                <a:lnTo>
                  <a:pt x="91017" y="44450"/>
                </a:lnTo>
                <a:cubicBezTo>
                  <a:pt x="97003" y="36446"/>
                  <a:pt x="106429" y="31750"/>
                  <a:pt x="116417" y="31750"/>
                </a:cubicBezTo>
                <a:lnTo>
                  <a:pt x="127000" y="31750"/>
                </a:lnTo>
                <a:lnTo>
                  <a:pt x="127000" y="21167"/>
                </a:lnTo>
                <a:cubicBezTo>
                  <a:pt x="127000" y="16900"/>
                  <a:pt x="129580" y="13031"/>
                  <a:pt x="133548" y="11377"/>
                </a:cubicBezTo>
                <a:close/>
                <a:moveTo>
                  <a:pt x="50932" y="97896"/>
                </a:moveTo>
                <a:lnTo>
                  <a:pt x="64161" y="115524"/>
                </a:lnTo>
                <a:lnTo>
                  <a:pt x="57150" y="124883"/>
                </a:lnTo>
                <a:cubicBezTo>
                  <a:pt x="51164" y="132887"/>
                  <a:pt x="41738" y="137583"/>
                  <a:pt x="31750" y="137583"/>
                </a:cubicBezTo>
                <a:lnTo>
                  <a:pt x="10583" y="137583"/>
                </a:lnTo>
                <a:cubicBezTo>
                  <a:pt x="4729" y="137583"/>
                  <a:pt x="0" y="132854"/>
                  <a:pt x="0" y="127000"/>
                </a:cubicBezTo>
                <a:cubicBezTo>
                  <a:pt x="0" y="121146"/>
                  <a:pt x="4729" y="116417"/>
                  <a:pt x="10583" y="116417"/>
                </a:cubicBezTo>
                <a:lnTo>
                  <a:pt x="31750" y="116417"/>
                </a:lnTo>
                <a:cubicBezTo>
                  <a:pt x="35090" y="116417"/>
                  <a:pt x="38232" y="114862"/>
                  <a:pt x="40217" y="112183"/>
                </a:cubicBezTo>
                <a:lnTo>
                  <a:pt x="50932" y="97896"/>
                </a:lnTo>
                <a:close/>
                <a:moveTo>
                  <a:pt x="145058" y="155641"/>
                </a:moveTo>
                <a:cubicBezTo>
                  <a:pt x="142015" y="158684"/>
                  <a:pt x="137484" y="159577"/>
                  <a:pt x="133515" y="157923"/>
                </a:cubicBezTo>
                <a:cubicBezTo>
                  <a:pt x="129547" y="156270"/>
                  <a:pt x="127000" y="152433"/>
                  <a:pt x="127000" y="148167"/>
                </a:cubicBezTo>
                <a:lnTo>
                  <a:pt x="127000" y="137583"/>
                </a:lnTo>
                <a:lnTo>
                  <a:pt x="116417" y="137583"/>
                </a:lnTo>
                <a:cubicBezTo>
                  <a:pt x="106429" y="137583"/>
                  <a:pt x="97003" y="132887"/>
                  <a:pt x="91017" y="124883"/>
                </a:cubicBezTo>
                <a:lnTo>
                  <a:pt x="40217" y="57150"/>
                </a:lnTo>
                <a:cubicBezTo>
                  <a:pt x="38232" y="54471"/>
                  <a:pt x="35090" y="52917"/>
                  <a:pt x="31750" y="52917"/>
                </a:cubicBezTo>
                <a:lnTo>
                  <a:pt x="10583" y="52917"/>
                </a:lnTo>
                <a:cubicBezTo>
                  <a:pt x="4729" y="52917"/>
                  <a:pt x="0" y="48187"/>
                  <a:pt x="0" y="42333"/>
                </a:cubicBezTo>
                <a:cubicBezTo>
                  <a:pt x="0" y="36479"/>
                  <a:pt x="4729" y="31750"/>
                  <a:pt x="10583" y="31750"/>
                </a:cubicBezTo>
                <a:lnTo>
                  <a:pt x="31750" y="31750"/>
                </a:lnTo>
                <a:cubicBezTo>
                  <a:pt x="41738" y="31750"/>
                  <a:pt x="51164" y="36446"/>
                  <a:pt x="57150" y="44450"/>
                </a:cubicBezTo>
                <a:lnTo>
                  <a:pt x="107950" y="112183"/>
                </a:lnTo>
                <a:cubicBezTo>
                  <a:pt x="109934" y="114862"/>
                  <a:pt x="113076" y="116417"/>
                  <a:pt x="116417" y="116417"/>
                </a:cubicBezTo>
                <a:lnTo>
                  <a:pt x="127000" y="116417"/>
                </a:lnTo>
                <a:lnTo>
                  <a:pt x="127000" y="105833"/>
                </a:lnTo>
                <a:cubicBezTo>
                  <a:pt x="127000" y="101567"/>
                  <a:pt x="129580" y="97697"/>
                  <a:pt x="133548" y="96044"/>
                </a:cubicBezTo>
                <a:cubicBezTo>
                  <a:pt x="137517" y="94390"/>
                  <a:pt x="142048" y="95316"/>
                  <a:pt x="145091" y="98326"/>
                </a:cubicBezTo>
                <a:lnTo>
                  <a:pt x="166258" y="119492"/>
                </a:lnTo>
                <a:cubicBezTo>
                  <a:pt x="168242" y="121477"/>
                  <a:pt x="169366" y="124156"/>
                  <a:pt x="169366" y="126967"/>
                </a:cubicBezTo>
                <a:cubicBezTo>
                  <a:pt x="169366" y="129778"/>
                  <a:pt x="168242" y="132457"/>
                  <a:pt x="166258" y="134441"/>
                </a:cubicBezTo>
                <a:lnTo>
                  <a:pt x="145091" y="155608"/>
                </a:lnTo>
                <a:close/>
              </a:path>
            </a:pathLst>
          </a:custGeom>
          <a:solidFill>
            <a:srgbClr val="4FD1C5"/>
          </a:solidFill>
          <a:ln/>
        </p:spPr>
        <p:txBody>
          <a:bodyPr/>
          <a:lstStyle/>
          <a:p>
            <a:endParaRPr lang="zh-CN" altLang="en-US"/>
          </a:p>
        </p:txBody>
      </p:sp>
      <p:sp>
        <p:nvSpPr>
          <p:cNvPr id="11" name="Text 9"/>
          <p:cNvSpPr/>
          <p:nvPr/>
        </p:nvSpPr>
        <p:spPr>
          <a:xfrm>
            <a:off x="5884333" y="2243667"/>
            <a:ext cx="2180167" cy="254000"/>
          </a:xfrm>
          <a:prstGeom prst="rect">
            <a:avLst/>
          </a:prstGeom>
          <a:noFill/>
          <a:ln/>
        </p:spPr>
        <p:txBody>
          <a:bodyPr wrap="square" lIns="0" tIns="0" rIns="0" bIns="0" rtlCol="0" anchor="ctr"/>
          <a:lstStyle/>
          <a:p>
            <a:pPr>
              <a:lnSpc>
                <a:spcPct val="130000"/>
              </a:lnSpc>
            </a:pPr>
            <a:r>
              <a:rPr lang="en-US" sz="1333" b="1" dirty="0">
                <a:solidFill>
                  <a:srgbClr val="F7FAFC"/>
                </a:solidFill>
                <a:latin typeface="MiSans" pitchFamily="34" charset="0"/>
                <a:ea typeface="MiSans" pitchFamily="34" charset="-122"/>
                <a:cs typeface="MiSans" pitchFamily="34" charset="-120"/>
              </a:rPr>
              <a:t>渠道系统</a:t>
            </a:r>
            <a:endParaRPr lang="en-US" sz="1600" dirty="0"/>
          </a:p>
        </p:txBody>
      </p:sp>
      <p:sp>
        <p:nvSpPr>
          <p:cNvPr id="12" name="Text 10"/>
          <p:cNvSpPr/>
          <p:nvPr/>
        </p:nvSpPr>
        <p:spPr>
          <a:xfrm>
            <a:off x="5884333" y="2497667"/>
            <a:ext cx="2169583"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网银、手机银行、ATM交易记录</a:t>
            </a:r>
            <a:endParaRPr lang="en-US" sz="1600" dirty="0"/>
          </a:p>
        </p:txBody>
      </p:sp>
      <p:sp>
        <p:nvSpPr>
          <p:cNvPr id="13" name="Shape 11"/>
          <p:cNvSpPr/>
          <p:nvPr/>
        </p:nvSpPr>
        <p:spPr>
          <a:xfrm>
            <a:off x="677333" y="2878667"/>
            <a:ext cx="127000" cy="169333"/>
          </a:xfrm>
          <a:custGeom>
            <a:avLst/>
            <a:gdLst/>
            <a:ahLst/>
            <a:cxnLst/>
            <a:rect l="l" t="t" r="r" b="b"/>
            <a:pathLst>
              <a:path w="127000" h="169333">
                <a:moveTo>
                  <a:pt x="21167" y="0"/>
                </a:moveTo>
                <a:cubicBezTo>
                  <a:pt x="9492" y="0"/>
                  <a:pt x="0" y="9492"/>
                  <a:pt x="0" y="21167"/>
                </a:cubicBezTo>
                <a:lnTo>
                  <a:pt x="0" y="148167"/>
                </a:lnTo>
                <a:cubicBezTo>
                  <a:pt x="0" y="159841"/>
                  <a:pt x="9492" y="169333"/>
                  <a:pt x="21167" y="169333"/>
                </a:cubicBezTo>
                <a:lnTo>
                  <a:pt x="105833" y="169333"/>
                </a:lnTo>
                <a:cubicBezTo>
                  <a:pt x="117508" y="169333"/>
                  <a:pt x="127000" y="159841"/>
                  <a:pt x="127000" y="148167"/>
                </a:cubicBezTo>
                <a:lnTo>
                  <a:pt x="127000" y="56389"/>
                </a:lnTo>
                <a:cubicBezTo>
                  <a:pt x="127000" y="50767"/>
                  <a:pt x="124784" y="45376"/>
                  <a:pt x="120815" y="41407"/>
                </a:cubicBezTo>
                <a:lnTo>
                  <a:pt x="85560" y="6185"/>
                </a:lnTo>
                <a:cubicBezTo>
                  <a:pt x="81591" y="2216"/>
                  <a:pt x="76233" y="0"/>
                  <a:pt x="70611" y="0"/>
                </a:cubicBezTo>
                <a:lnTo>
                  <a:pt x="21167" y="0"/>
                </a:lnTo>
                <a:close/>
                <a:moveTo>
                  <a:pt x="107652" y="58208"/>
                </a:moveTo>
                <a:lnTo>
                  <a:pt x="76729" y="58208"/>
                </a:lnTo>
                <a:cubicBezTo>
                  <a:pt x="72330" y="58208"/>
                  <a:pt x="68792" y="54670"/>
                  <a:pt x="68792" y="50271"/>
                </a:cubicBezTo>
                <a:lnTo>
                  <a:pt x="68792" y="19348"/>
                </a:lnTo>
                <a:lnTo>
                  <a:pt x="107652" y="58208"/>
                </a:lnTo>
                <a:close/>
                <a:moveTo>
                  <a:pt x="21167" y="127000"/>
                </a:moveTo>
                <a:lnTo>
                  <a:pt x="21167" y="105833"/>
                </a:lnTo>
                <a:cubicBezTo>
                  <a:pt x="21167" y="99979"/>
                  <a:pt x="25896" y="95250"/>
                  <a:pt x="31750" y="95250"/>
                </a:cubicBezTo>
                <a:lnTo>
                  <a:pt x="95250" y="95250"/>
                </a:lnTo>
                <a:cubicBezTo>
                  <a:pt x="101104" y="95250"/>
                  <a:pt x="105833" y="99979"/>
                  <a:pt x="105833" y="105833"/>
                </a:cubicBezTo>
                <a:lnTo>
                  <a:pt x="105833" y="127000"/>
                </a:lnTo>
                <a:cubicBezTo>
                  <a:pt x="105833" y="132854"/>
                  <a:pt x="101104" y="137583"/>
                  <a:pt x="95250" y="137583"/>
                </a:cubicBezTo>
                <a:lnTo>
                  <a:pt x="31750" y="137583"/>
                </a:lnTo>
                <a:cubicBezTo>
                  <a:pt x="25896" y="137583"/>
                  <a:pt x="21167" y="132854"/>
                  <a:pt x="21167" y="127000"/>
                </a:cubicBezTo>
                <a:close/>
                <a:moveTo>
                  <a:pt x="29104" y="21167"/>
                </a:moveTo>
                <a:lnTo>
                  <a:pt x="44979" y="21167"/>
                </a:lnTo>
                <a:cubicBezTo>
                  <a:pt x="49378" y="21167"/>
                  <a:pt x="52917" y="24705"/>
                  <a:pt x="52917" y="29104"/>
                </a:cubicBezTo>
                <a:cubicBezTo>
                  <a:pt x="52917" y="33503"/>
                  <a:pt x="49378" y="37042"/>
                  <a:pt x="44979" y="37042"/>
                </a:cubicBezTo>
                <a:lnTo>
                  <a:pt x="29104" y="37042"/>
                </a:lnTo>
                <a:cubicBezTo>
                  <a:pt x="24705" y="37042"/>
                  <a:pt x="21167" y="33503"/>
                  <a:pt x="21167" y="29104"/>
                </a:cubicBezTo>
                <a:cubicBezTo>
                  <a:pt x="21167" y="24705"/>
                  <a:pt x="24705" y="21167"/>
                  <a:pt x="29104" y="21167"/>
                </a:cubicBezTo>
                <a:close/>
                <a:moveTo>
                  <a:pt x="29104" y="52917"/>
                </a:moveTo>
                <a:lnTo>
                  <a:pt x="44979" y="52917"/>
                </a:lnTo>
                <a:cubicBezTo>
                  <a:pt x="49378" y="52917"/>
                  <a:pt x="52917" y="56455"/>
                  <a:pt x="52917" y="60854"/>
                </a:cubicBezTo>
                <a:cubicBezTo>
                  <a:pt x="52917" y="65253"/>
                  <a:pt x="49378" y="68792"/>
                  <a:pt x="44979" y="68792"/>
                </a:cubicBezTo>
                <a:lnTo>
                  <a:pt x="29104" y="68792"/>
                </a:lnTo>
                <a:cubicBezTo>
                  <a:pt x="24705" y="68792"/>
                  <a:pt x="21167" y="65253"/>
                  <a:pt x="21167" y="60854"/>
                </a:cubicBezTo>
                <a:cubicBezTo>
                  <a:pt x="21167" y="56455"/>
                  <a:pt x="24705" y="52917"/>
                  <a:pt x="29104" y="52917"/>
                </a:cubicBezTo>
                <a:close/>
              </a:path>
            </a:pathLst>
          </a:custGeom>
          <a:solidFill>
            <a:srgbClr val="4FD1C5"/>
          </a:solidFill>
          <a:ln/>
        </p:spPr>
        <p:txBody>
          <a:bodyPr/>
          <a:lstStyle/>
          <a:p>
            <a:endParaRPr lang="zh-CN" altLang="en-US"/>
          </a:p>
        </p:txBody>
      </p:sp>
      <p:sp>
        <p:nvSpPr>
          <p:cNvPr id="14" name="Text 12"/>
          <p:cNvSpPr/>
          <p:nvPr/>
        </p:nvSpPr>
        <p:spPr>
          <a:xfrm>
            <a:off x="931333" y="2836333"/>
            <a:ext cx="1862667" cy="254000"/>
          </a:xfrm>
          <a:prstGeom prst="rect">
            <a:avLst/>
          </a:prstGeom>
          <a:noFill/>
          <a:ln/>
        </p:spPr>
        <p:txBody>
          <a:bodyPr wrap="square" lIns="0" tIns="0" rIns="0" bIns="0" rtlCol="0" anchor="ctr"/>
          <a:lstStyle/>
          <a:p>
            <a:pPr>
              <a:lnSpc>
                <a:spcPct val="130000"/>
              </a:lnSpc>
            </a:pPr>
            <a:r>
              <a:rPr lang="en-US" sz="1333" b="1" dirty="0">
                <a:solidFill>
                  <a:srgbClr val="F7FAFC"/>
                </a:solidFill>
                <a:latin typeface="MiSans" pitchFamily="34" charset="0"/>
                <a:ea typeface="MiSans" pitchFamily="34" charset="-122"/>
                <a:cs typeface="MiSans" pitchFamily="34" charset="-120"/>
              </a:rPr>
              <a:t>清算机构系统</a:t>
            </a:r>
            <a:endParaRPr lang="en-US" sz="1600" dirty="0"/>
          </a:p>
        </p:txBody>
      </p:sp>
      <p:sp>
        <p:nvSpPr>
          <p:cNvPr id="15" name="Text 13"/>
          <p:cNvSpPr/>
          <p:nvPr/>
        </p:nvSpPr>
        <p:spPr>
          <a:xfrm>
            <a:off x="931333" y="3090333"/>
            <a:ext cx="1852083"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银联、网联、央行对账文件</a:t>
            </a:r>
            <a:endParaRPr lang="en-US" sz="1600" dirty="0"/>
          </a:p>
        </p:txBody>
      </p:sp>
      <p:sp>
        <p:nvSpPr>
          <p:cNvPr id="16" name="Shape 14"/>
          <p:cNvSpPr/>
          <p:nvPr/>
        </p:nvSpPr>
        <p:spPr>
          <a:xfrm>
            <a:off x="5588000" y="2878667"/>
            <a:ext cx="211667" cy="169333"/>
          </a:xfrm>
          <a:custGeom>
            <a:avLst/>
            <a:gdLst/>
            <a:ahLst/>
            <a:cxnLst/>
            <a:rect l="l" t="t" r="r" b="b"/>
            <a:pathLst>
              <a:path w="211667" h="169333">
                <a:moveTo>
                  <a:pt x="105833" y="5292"/>
                </a:moveTo>
                <a:cubicBezTo>
                  <a:pt x="124817" y="5292"/>
                  <a:pt x="140229" y="20704"/>
                  <a:pt x="140229" y="39688"/>
                </a:cubicBezTo>
                <a:cubicBezTo>
                  <a:pt x="140229" y="58671"/>
                  <a:pt x="124817" y="74083"/>
                  <a:pt x="105833" y="74083"/>
                </a:cubicBezTo>
                <a:cubicBezTo>
                  <a:pt x="86850" y="74083"/>
                  <a:pt x="71438" y="58671"/>
                  <a:pt x="71438" y="39688"/>
                </a:cubicBezTo>
                <a:cubicBezTo>
                  <a:pt x="71438" y="20704"/>
                  <a:pt x="86850" y="5292"/>
                  <a:pt x="105833" y="5292"/>
                </a:cubicBezTo>
                <a:close/>
                <a:moveTo>
                  <a:pt x="31750" y="29104"/>
                </a:moveTo>
                <a:cubicBezTo>
                  <a:pt x="44892" y="29104"/>
                  <a:pt x="55563" y="39774"/>
                  <a:pt x="55563" y="52917"/>
                </a:cubicBezTo>
                <a:cubicBezTo>
                  <a:pt x="55563" y="66059"/>
                  <a:pt x="44892" y="76729"/>
                  <a:pt x="31750" y="76729"/>
                </a:cubicBezTo>
                <a:cubicBezTo>
                  <a:pt x="18608" y="76729"/>
                  <a:pt x="7938" y="66059"/>
                  <a:pt x="7938" y="52917"/>
                </a:cubicBezTo>
                <a:cubicBezTo>
                  <a:pt x="7938" y="39774"/>
                  <a:pt x="18608" y="29104"/>
                  <a:pt x="31750" y="29104"/>
                </a:cubicBezTo>
                <a:close/>
                <a:moveTo>
                  <a:pt x="0" y="137583"/>
                </a:moveTo>
                <a:cubicBezTo>
                  <a:pt x="0" y="114201"/>
                  <a:pt x="18951" y="95250"/>
                  <a:pt x="42333" y="95250"/>
                </a:cubicBezTo>
                <a:cubicBezTo>
                  <a:pt x="46567" y="95250"/>
                  <a:pt x="50668" y="95878"/>
                  <a:pt x="54537" y="97036"/>
                </a:cubicBezTo>
                <a:cubicBezTo>
                  <a:pt x="43656" y="109207"/>
                  <a:pt x="37042" y="125280"/>
                  <a:pt x="37042" y="142875"/>
                </a:cubicBezTo>
                <a:lnTo>
                  <a:pt x="37042" y="148167"/>
                </a:lnTo>
                <a:cubicBezTo>
                  <a:pt x="37042" y="151937"/>
                  <a:pt x="37835" y="155509"/>
                  <a:pt x="39258" y="158750"/>
                </a:cubicBezTo>
                <a:lnTo>
                  <a:pt x="10583" y="158750"/>
                </a:lnTo>
                <a:cubicBezTo>
                  <a:pt x="4729" y="158750"/>
                  <a:pt x="0" y="154021"/>
                  <a:pt x="0" y="148167"/>
                </a:cubicBezTo>
                <a:lnTo>
                  <a:pt x="0" y="137583"/>
                </a:lnTo>
                <a:close/>
                <a:moveTo>
                  <a:pt x="172409" y="158750"/>
                </a:moveTo>
                <a:cubicBezTo>
                  <a:pt x="173831" y="155509"/>
                  <a:pt x="174625" y="151937"/>
                  <a:pt x="174625" y="148167"/>
                </a:cubicBezTo>
                <a:lnTo>
                  <a:pt x="174625" y="142875"/>
                </a:lnTo>
                <a:cubicBezTo>
                  <a:pt x="174625" y="125280"/>
                  <a:pt x="168010" y="109207"/>
                  <a:pt x="157129" y="97036"/>
                </a:cubicBezTo>
                <a:cubicBezTo>
                  <a:pt x="160999" y="95878"/>
                  <a:pt x="165100" y="95250"/>
                  <a:pt x="169333" y="95250"/>
                </a:cubicBezTo>
                <a:cubicBezTo>
                  <a:pt x="192716" y="95250"/>
                  <a:pt x="211667" y="114201"/>
                  <a:pt x="211667" y="137583"/>
                </a:cubicBezTo>
                <a:lnTo>
                  <a:pt x="211667" y="148167"/>
                </a:lnTo>
                <a:cubicBezTo>
                  <a:pt x="211667" y="154021"/>
                  <a:pt x="206937" y="158750"/>
                  <a:pt x="201083" y="158750"/>
                </a:cubicBezTo>
                <a:lnTo>
                  <a:pt x="172409" y="158750"/>
                </a:lnTo>
                <a:close/>
                <a:moveTo>
                  <a:pt x="156104" y="52917"/>
                </a:moveTo>
                <a:cubicBezTo>
                  <a:pt x="156104" y="39774"/>
                  <a:pt x="166774" y="29104"/>
                  <a:pt x="179917" y="29104"/>
                </a:cubicBezTo>
                <a:cubicBezTo>
                  <a:pt x="193059" y="29104"/>
                  <a:pt x="203729" y="39774"/>
                  <a:pt x="203729" y="52917"/>
                </a:cubicBezTo>
                <a:cubicBezTo>
                  <a:pt x="203729" y="66059"/>
                  <a:pt x="193059" y="76729"/>
                  <a:pt x="179917" y="76729"/>
                </a:cubicBezTo>
                <a:cubicBezTo>
                  <a:pt x="166774" y="76729"/>
                  <a:pt x="156104" y="66059"/>
                  <a:pt x="156104" y="52917"/>
                </a:cubicBezTo>
                <a:close/>
                <a:moveTo>
                  <a:pt x="52917" y="142875"/>
                </a:moveTo>
                <a:cubicBezTo>
                  <a:pt x="52917" y="113639"/>
                  <a:pt x="76597" y="89958"/>
                  <a:pt x="105833" y="89958"/>
                </a:cubicBezTo>
                <a:cubicBezTo>
                  <a:pt x="135070" y="89958"/>
                  <a:pt x="158750" y="113639"/>
                  <a:pt x="158750" y="142875"/>
                </a:cubicBezTo>
                <a:lnTo>
                  <a:pt x="158750" y="148167"/>
                </a:lnTo>
                <a:cubicBezTo>
                  <a:pt x="158750" y="154021"/>
                  <a:pt x="154021" y="158750"/>
                  <a:pt x="148167" y="158750"/>
                </a:cubicBezTo>
                <a:lnTo>
                  <a:pt x="63500" y="158750"/>
                </a:lnTo>
                <a:cubicBezTo>
                  <a:pt x="57646" y="158750"/>
                  <a:pt x="52917" y="154021"/>
                  <a:pt x="52917" y="148167"/>
                </a:cubicBezTo>
                <a:lnTo>
                  <a:pt x="52917" y="142875"/>
                </a:lnTo>
                <a:close/>
              </a:path>
            </a:pathLst>
          </a:custGeom>
          <a:solidFill>
            <a:srgbClr val="4FD1C5"/>
          </a:solidFill>
          <a:ln/>
        </p:spPr>
        <p:txBody>
          <a:bodyPr/>
          <a:lstStyle/>
          <a:p>
            <a:endParaRPr lang="zh-CN" altLang="en-US"/>
          </a:p>
        </p:txBody>
      </p:sp>
      <p:sp>
        <p:nvSpPr>
          <p:cNvPr id="17" name="Text 15"/>
          <p:cNvSpPr/>
          <p:nvPr/>
        </p:nvSpPr>
        <p:spPr>
          <a:xfrm>
            <a:off x="5884333" y="2836333"/>
            <a:ext cx="1862667" cy="254000"/>
          </a:xfrm>
          <a:prstGeom prst="rect">
            <a:avLst/>
          </a:prstGeom>
          <a:noFill/>
          <a:ln/>
        </p:spPr>
        <p:txBody>
          <a:bodyPr wrap="square" lIns="0" tIns="0" rIns="0" bIns="0" rtlCol="0" anchor="ctr"/>
          <a:lstStyle/>
          <a:p>
            <a:pPr>
              <a:lnSpc>
                <a:spcPct val="130000"/>
              </a:lnSpc>
            </a:pPr>
            <a:r>
              <a:rPr lang="en-US" sz="1333" b="1" dirty="0">
                <a:solidFill>
                  <a:srgbClr val="F7FAFC"/>
                </a:solidFill>
                <a:latin typeface="MiSans" pitchFamily="34" charset="0"/>
                <a:ea typeface="MiSans" pitchFamily="34" charset="-122"/>
                <a:cs typeface="MiSans" pitchFamily="34" charset="-120"/>
              </a:rPr>
              <a:t>基础数据系统</a:t>
            </a:r>
            <a:endParaRPr lang="en-US" sz="1600" dirty="0"/>
          </a:p>
        </p:txBody>
      </p:sp>
      <p:sp>
        <p:nvSpPr>
          <p:cNvPr id="18" name="Text 16"/>
          <p:cNvSpPr/>
          <p:nvPr/>
        </p:nvSpPr>
        <p:spPr>
          <a:xfrm>
            <a:off x="5884333" y="3090333"/>
            <a:ext cx="1852083"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客户信息、账户、费率规则</a:t>
            </a:r>
            <a:endParaRPr lang="en-US" sz="1600" dirty="0"/>
          </a:p>
        </p:txBody>
      </p:sp>
      <p:sp>
        <p:nvSpPr>
          <p:cNvPr id="19" name="Shape 17"/>
          <p:cNvSpPr/>
          <p:nvPr/>
        </p:nvSpPr>
        <p:spPr>
          <a:xfrm>
            <a:off x="423333" y="3683000"/>
            <a:ext cx="10202333" cy="2328333"/>
          </a:xfrm>
          <a:custGeom>
            <a:avLst/>
            <a:gdLst/>
            <a:ahLst/>
            <a:cxnLst/>
            <a:rect l="l" t="t" r="r" b="b"/>
            <a:pathLst>
              <a:path w="10202333" h="2328333">
                <a:moveTo>
                  <a:pt x="84658" y="0"/>
                </a:moveTo>
                <a:lnTo>
                  <a:pt x="10117675" y="0"/>
                </a:lnTo>
                <a:cubicBezTo>
                  <a:pt x="10164431" y="0"/>
                  <a:pt x="10202333" y="37903"/>
                  <a:pt x="10202333" y="84658"/>
                </a:cubicBezTo>
                <a:lnTo>
                  <a:pt x="10202333" y="2243675"/>
                </a:lnTo>
                <a:cubicBezTo>
                  <a:pt x="10202333" y="2290431"/>
                  <a:pt x="10164431" y="2328333"/>
                  <a:pt x="10117675" y="2328333"/>
                </a:cubicBezTo>
                <a:lnTo>
                  <a:pt x="84658" y="2328333"/>
                </a:lnTo>
                <a:cubicBezTo>
                  <a:pt x="37903" y="2328333"/>
                  <a:pt x="0" y="2290431"/>
                  <a:pt x="0" y="2243675"/>
                </a:cubicBezTo>
                <a:lnTo>
                  <a:pt x="0" y="84658"/>
                </a:lnTo>
                <a:cubicBezTo>
                  <a:pt x="0" y="37903"/>
                  <a:pt x="37903" y="0"/>
                  <a:pt x="84658" y="0"/>
                </a:cubicBezTo>
                <a:close/>
              </a:path>
            </a:pathLst>
          </a:custGeom>
          <a:solidFill>
            <a:srgbClr val="4A5568">
              <a:alpha val="30196"/>
            </a:srgbClr>
          </a:solidFill>
          <a:ln/>
        </p:spPr>
        <p:txBody>
          <a:bodyPr/>
          <a:lstStyle/>
          <a:p>
            <a:endParaRPr lang="zh-CN" altLang="en-US"/>
          </a:p>
        </p:txBody>
      </p:sp>
      <p:sp>
        <p:nvSpPr>
          <p:cNvPr id="20" name="Text 18"/>
          <p:cNvSpPr/>
          <p:nvPr/>
        </p:nvSpPr>
        <p:spPr>
          <a:xfrm>
            <a:off x="635000" y="3894667"/>
            <a:ext cx="9884833" cy="296333"/>
          </a:xfrm>
          <a:prstGeom prst="rect">
            <a:avLst/>
          </a:prstGeom>
          <a:noFill/>
          <a:ln/>
        </p:spPr>
        <p:txBody>
          <a:bodyPr wrap="square" lIns="0" tIns="0" rIns="0" bIns="0" rtlCol="0" anchor="ctr"/>
          <a:lstStyle/>
          <a:p>
            <a:pPr>
              <a:lnSpc>
                <a:spcPct val="120000"/>
              </a:lnSpc>
            </a:pPr>
            <a:r>
              <a:rPr lang="en-US" sz="1667" b="1" dirty="0">
                <a:solidFill>
                  <a:srgbClr val="4FD1C5"/>
                </a:solidFill>
                <a:latin typeface="Noto Sans SC" pitchFamily="34" charset="0"/>
                <a:ea typeface="Noto Sans SC" pitchFamily="34" charset="-122"/>
                <a:cs typeface="Noto Sans SC" pitchFamily="34" charset="-120"/>
              </a:rPr>
              <a:t>数仓分层设计</a:t>
            </a:r>
            <a:endParaRPr lang="en-US" sz="1600" dirty="0"/>
          </a:p>
        </p:txBody>
      </p:sp>
      <p:sp>
        <p:nvSpPr>
          <p:cNvPr id="21" name="Shape 19"/>
          <p:cNvSpPr/>
          <p:nvPr/>
        </p:nvSpPr>
        <p:spPr>
          <a:xfrm>
            <a:off x="1049346" y="4360333"/>
            <a:ext cx="846667" cy="846667"/>
          </a:xfrm>
          <a:custGeom>
            <a:avLst/>
            <a:gdLst/>
            <a:ahLst/>
            <a:cxnLst/>
            <a:rect l="l" t="t" r="r" b="b"/>
            <a:pathLst>
              <a:path w="846667" h="846667">
                <a:moveTo>
                  <a:pt x="423333" y="0"/>
                </a:moveTo>
                <a:lnTo>
                  <a:pt x="423333" y="0"/>
                </a:lnTo>
                <a:cubicBezTo>
                  <a:pt x="656977" y="0"/>
                  <a:pt x="846667" y="189689"/>
                  <a:pt x="846667" y="423333"/>
                </a:cubicBezTo>
                <a:lnTo>
                  <a:pt x="846667" y="423333"/>
                </a:lnTo>
                <a:cubicBezTo>
                  <a:pt x="846667" y="656977"/>
                  <a:pt x="656977" y="846667"/>
                  <a:pt x="423333" y="846667"/>
                </a:cubicBezTo>
                <a:lnTo>
                  <a:pt x="423333" y="846667"/>
                </a:lnTo>
                <a:cubicBezTo>
                  <a:pt x="189689" y="846667"/>
                  <a:pt x="0" y="656977"/>
                  <a:pt x="0" y="423333"/>
                </a:cubicBezTo>
                <a:lnTo>
                  <a:pt x="0" y="423333"/>
                </a:lnTo>
                <a:cubicBezTo>
                  <a:pt x="0" y="189689"/>
                  <a:pt x="189689" y="0"/>
                  <a:pt x="423333" y="0"/>
                </a:cubicBezTo>
                <a:close/>
              </a:path>
            </a:pathLst>
          </a:custGeom>
          <a:solidFill>
            <a:srgbClr val="4FD1C5"/>
          </a:solidFill>
          <a:ln/>
        </p:spPr>
        <p:txBody>
          <a:bodyPr/>
          <a:lstStyle/>
          <a:p>
            <a:endParaRPr lang="zh-CN" altLang="en-US"/>
          </a:p>
        </p:txBody>
      </p:sp>
      <p:sp>
        <p:nvSpPr>
          <p:cNvPr id="22" name="Text 20"/>
          <p:cNvSpPr/>
          <p:nvPr/>
        </p:nvSpPr>
        <p:spPr>
          <a:xfrm>
            <a:off x="1222731" y="4635500"/>
            <a:ext cx="497417" cy="296333"/>
          </a:xfrm>
          <a:prstGeom prst="rect">
            <a:avLst/>
          </a:prstGeom>
          <a:noFill/>
          <a:ln/>
        </p:spPr>
        <p:txBody>
          <a:bodyPr wrap="square" lIns="0" tIns="0" rIns="0" bIns="0" rtlCol="0" anchor="ctr"/>
          <a:lstStyle/>
          <a:p>
            <a:pPr algn="ctr">
              <a:lnSpc>
                <a:spcPct val="130000"/>
              </a:lnSpc>
            </a:pPr>
            <a:r>
              <a:rPr lang="en-US" sz="1500" b="1" dirty="0">
                <a:solidFill>
                  <a:srgbClr val="1A202C"/>
                </a:solidFill>
                <a:latin typeface="MiSans" pitchFamily="34" charset="0"/>
                <a:ea typeface="MiSans" pitchFamily="34" charset="-122"/>
                <a:cs typeface="MiSans" pitchFamily="34" charset="-120"/>
              </a:rPr>
              <a:t>ODS</a:t>
            </a:r>
            <a:endParaRPr lang="en-US" sz="1600" dirty="0"/>
          </a:p>
        </p:txBody>
      </p:sp>
      <p:sp>
        <p:nvSpPr>
          <p:cNvPr id="23" name="Text 21"/>
          <p:cNvSpPr/>
          <p:nvPr/>
        </p:nvSpPr>
        <p:spPr>
          <a:xfrm>
            <a:off x="592667" y="5291667"/>
            <a:ext cx="1714500" cy="254000"/>
          </a:xfrm>
          <a:prstGeom prst="rect">
            <a:avLst/>
          </a:prstGeom>
          <a:noFill/>
          <a:ln/>
        </p:spPr>
        <p:txBody>
          <a:bodyPr wrap="square" lIns="0" tIns="0" rIns="0" bIns="0" rtlCol="0" anchor="ctr"/>
          <a:lstStyle/>
          <a:p>
            <a:pPr algn="ctr">
              <a:lnSpc>
                <a:spcPct val="130000"/>
              </a:lnSpc>
            </a:pPr>
            <a:r>
              <a:rPr lang="en-US" sz="1333" b="1" dirty="0">
                <a:solidFill>
                  <a:srgbClr val="F7FAFC"/>
                </a:solidFill>
                <a:latin typeface="MiSans" pitchFamily="34" charset="0"/>
                <a:ea typeface="MiSans" pitchFamily="34" charset="-122"/>
                <a:cs typeface="MiSans" pitchFamily="34" charset="-120"/>
              </a:rPr>
              <a:t>原始数据层</a:t>
            </a:r>
            <a:endParaRPr lang="en-US" sz="1600" dirty="0"/>
          </a:p>
        </p:txBody>
      </p:sp>
      <p:sp>
        <p:nvSpPr>
          <p:cNvPr id="24" name="Text 22"/>
          <p:cNvSpPr/>
          <p:nvPr/>
        </p:nvSpPr>
        <p:spPr>
          <a:xfrm>
            <a:off x="597958" y="5588000"/>
            <a:ext cx="1703917" cy="211667"/>
          </a:xfrm>
          <a:prstGeom prst="rect">
            <a:avLst/>
          </a:prstGeom>
          <a:noFill/>
          <a:ln/>
        </p:spPr>
        <p:txBody>
          <a:bodyPr wrap="square" lIns="0" tIns="0" rIns="0" bIns="0" rtlCol="0" anchor="ctr"/>
          <a:lstStyle/>
          <a:p>
            <a:pPr algn="ctr">
              <a:lnSpc>
                <a:spcPct val="120000"/>
              </a:lnSpc>
            </a:pPr>
            <a:r>
              <a:rPr lang="en-US" sz="1167" dirty="0">
                <a:solidFill>
                  <a:srgbClr val="A0AEC0"/>
                </a:solidFill>
                <a:latin typeface="MiSans" pitchFamily="34" charset="0"/>
                <a:ea typeface="MiSans" pitchFamily="34" charset="-122"/>
                <a:cs typeface="MiSans" pitchFamily="34" charset="-120"/>
              </a:rPr>
              <a:t>按天落地清洗后对账明细</a:t>
            </a:r>
            <a:endParaRPr lang="en-US" sz="1600" dirty="0"/>
          </a:p>
        </p:txBody>
      </p:sp>
      <p:sp>
        <p:nvSpPr>
          <p:cNvPr id="25" name="Shape 23"/>
          <p:cNvSpPr/>
          <p:nvPr/>
        </p:nvSpPr>
        <p:spPr>
          <a:xfrm>
            <a:off x="2673480" y="4656666"/>
            <a:ext cx="254000" cy="254000"/>
          </a:xfrm>
          <a:custGeom>
            <a:avLst/>
            <a:gdLst/>
            <a:ahLst/>
            <a:cxnLst/>
            <a:rect l="l" t="t" r="r" b="b"/>
            <a:pathLst>
              <a:path w="254000" h="254000">
                <a:moveTo>
                  <a:pt x="249337" y="138212"/>
                </a:moveTo>
                <a:cubicBezTo>
                  <a:pt x="255538" y="132011"/>
                  <a:pt x="255538" y="121940"/>
                  <a:pt x="249337" y="115739"/>
                </a:cubicBezTo>
                <a:lnTo>
                  <a:pt x="169962" y="36364"/>
                </a:lnTo>
                <a:cubicBezTo>
                  <a:pt x="163761" y="30163"/>
                  <a:pt x="153690" y="30163"/>
                  <a:pt x="147489" y="36364"/>
                </a:cubicBezTo>
                <a:cubicBezTo>
                  <a:pt x="141288" y="42565"/>
                  <a:pt x="141288" y="52636"/>
                  <a:pt x="147489" y="58837"/>
                </a:cubicBezTo>
                <a:lnTo>
                  <a:pt x="199777" y="111125"/>
                </a:lnTo>
                <a:lnTo>
                  <a:pt x="15875" y="111125"/>
                </a:lnTo>
                <a:cubicBezTo>
                  <a:pt x="7094" y="111125"/>
                  <a:pt x="0" y="118219"/>
                  <a:pt x="0" y="127000"/>
                </a:cubicBezTo>
                <a:cubicBezTo>
                  <a:pt x="0" y="135781"/>
                  <a:pt x="7094" y="142875"/>
                  <a:pt x="15875" y="142875"/>
                </a:cubicBezTo>
                <a:lnTo>
                  <a:pt x="199777" y="142875"/>
                </a:lnTo>
                <a:lnTo>
                  <a:pt x="147489" y="195163"/>
                </a:lnTo>
                <a:cubicBezTo>
                  <a:pt x="141287" y="201364"/>
                  <a:pt x="141287" y="211435"/>
                  <a:pt x="147489" y="217636"/>
                </a:cubicBezTo>
                <a:cubicBezTo>
                  <a:pt x="153690" y="223838"/>
                  <a:pt x="163761" y="223838"/>
                  <a:pt x="169962" y="217636"/>
                </a:cubicBezTo>
                <a:lnTo>
                  <a:pt x="249337" y="138261"/>
                </a:lnTo>
                <a:close/>
              </a:path>
            </a:pathLst>
          </a:custGeom>
          <a:solidFill>
            <a:srgbClr val="4FD1C5"/>
          </a:solidFill>
          <a:ln/>
        </p:spPr>
        <p:txBody>
          <a:bodyPr/>
          <a:lstStyle/>
          <a:p>
            <a:endParaRPr lang="zh-CN" altLang="en-US"/>
          </a:p>
        </p:txBody>
      </p:sp>
      <p:sp>
        <p:nvSpPr>
          <p:cNvPr id="26" name="Shape 24"/>
          <p:cNvSpPr/>
          <p:nvPr/>
        </p:nvSpPr>
        <p:spPr>
          <a:xfrm>
            <a:off x="3704947" y="4360333"/>
            <a:ext cx="846667" cy="846667"/>
          </a:xfrm>
          <a:custGeom>
            <a:avLst/>
            <a:gdLst/>
            <a:ahLst/>
            <a:cxnLst/>
            <a:rect l="l" t="t" r="r" b="b"/>
            <a:pathLst>
              <a:path w="846667" h="846667">
                <a:moveTo>
                  <a:pt x="423333" y="0"/>
                </a:moveTo>
                <a:lnTo>
                  <a:pt x="423333" y="0"/>
                </a:lnTo>
                <a:cubicBezTo>
                  <a:pt x="656977" y="0"/>
                  <a:pt x="846667" y="189689"/>
                  <a:pt x="846667" y="423333"/>
                </a:cubicBezTo>
                <a:lnTo>
                  <a:pt x="846667" y="423333"/>
                </a:lnTo>
                <a:cubicBezTo>
                  <a:pt x="846667" y="656977"/>
                  <a:pt x="656977" y="846667"/>
                  <a:pt x="423333" y="846667"/>
                </a:cubicBezTo>
                <a:lnTo>
                  <a:pt x="423333" y="846667"/>
                </a:lnTo>
                <a:cubicBezTo>
                  <a:pt x="189689" y="846667"/>
                  <a:pt x="0" y="656977"/>
                  <a:pt x="0" y="423333"/>
                </a:cubicBezTo>
                <a:lnTo>
                  <a:pt x="0" y="423333"/>
                </a:lnTo>
                <a:cubicBezTo>
                  <a:pt x="0" y="189689"/>
                  <a:pt x="189689" y="0"/>
                  <a:pt x="423333" y="0"/>
                </a:cubicBezTo>
                <a:close/>
              </a:path>
            </a:pathLst>
          </a:custGeom>
          <a:solidFill>
            <a:srgbClr val="4FD1C5"/>
          </a:solidFill>
          <a:ln/>
        </p:spPr>
        <p:txBody>
          <a:bodyPr/>
          <a:lstStyle/>
          <a:p>
            <a:endParaRPr lang="zh-CN" altLang="en-US"/>
          </a:p>
        </p:txBody>
      </p:sp>
      <p:sp>
        <p:nvSpPr>
          <p:cNvPr id="27" name="Text 25"/>
          <p:cNvSpPr/>
          <p:nvPr/>
        </p:nvSpPr>
        <p:spPr>
          <a:xfrm>
            <a:off x="3847822" y="4635500"/>
            <a:ext cx="560917" cy="296333"/>
          </a:xfrm>
          <a:prstGeom prst="rect">
            <a:avLst/>
          </a:prstGeom>
          <a:noFill/>
          <a:ln/>
        </p:spPr>
        <p:txBody>
          <a:bodyPr wrap="square" lIns="0" tIns="0" rIns="0" bIns="0" rtlCol="0" anchor="ctr"/>
          <a:lstStyle/>
          <a:p>
            <a:pPr algn="ctr">
              <a:lnSpc>
                <a:spcPct val="130000"/>
              </a:lnSpc>
            </a:pPr>
            <a:r>
              <a:rPr lang="en-US" sz="1500" b="1" dirty="0">
                <a:solidFill>
                  <a:srgbClr val="1A202C"/>
                </a:solidFill>
                <a:latin typeface="MiSans" pitchFamily="34" charset="0"/>
                <a:ea typeface="MiSans" pitchFamily="34" charset="-122"/>
                <a:cs typeface="MiSans" pitchFamily="34" charset="-120"/>
              </a:rPr>
              <a:t>DWD</a:t>
            </a:r>
            <a:endParaRPr lang="en-US" sz="1600" dirty="0"/>
          </a:p>
        </p:txBody>
      </p:sp>
      <p:sp>
        <p:nvSpPr>
          <p:cNvPr id="28" name="Text 26"/>
          <p:cNvSpPr/>
          <p:nvPr/>
        </p:nvSpPr>
        <p:spPr>
          <a:xfrm>
            <a:off x="3012612" y="5291667"/>
            <a:ext cx="2159000" cy="254000"/>
          </a:xfrm>
          <a:prstGeom prst="rect">
            <a:avLst/>
          </a:prstGeom>
          <a:noFill/>
          <a:ln/>
        </p:spPr>
        <p:txBody>
          <a:bodyPr wrap="square" lIns="0" tIns="0" rIns="0" bIns="0" rtlCol="0" anchor="ctr"/>
          <a:lstStyle/>
          <a:p>
            <a:pPr algn="ctr">
              <a:lnSpc>
                <a:spcPct val="130000"/>
              </a:lnSpc>
            </a:pPr>
            <a:r>
              <a:rPr lang="en-US" sz="1333" b="1" dirty="0">
                <a:solidFill>
                  <a:srgbClr val="F7FAFC"/>
                </a:solidFill>
                <a:latin typeface="MiSans" pitchFamily="34" charset="0"/>
                <a:ea typeface="MiSans" pitchFamily="34" charset="-122"/>
                <a:cs typeface="MiSans" pitchFamily="34" charset="-120"/>
              </a:rPr>
              <a:t>明细数据层</a:t>
            </a:r>
            <a:endParaRPr lang="en-US" sz="1600" dirty="0"/>
          </a:p>
        </p:txBody>
      </p:sp>
      <p:sp>
        <p:nvSpPr>
          <p:cNvPr id="29" name="Text 27"/>
          <p:cNvSpPr/>
          <p:nvPr/>
        </p:nvSpPr>
        <p:spPr>
          <a:xfrm>
            <a:off x="3017904" y="5588000"/>
            <a:ext cx="2148417" cy="211667"/>
          </a:xfrm>
          <a:prstGeom prst="rect">
            <a:avLst/>
          </a:prstGeom>
          <a:noFill/>
          <a:ln/>
        </p:spPr>
        <p:txBody>
          <a:bodyPr wrap="square" lIns="0" tIns="0" rIns="0" bIns="0" rtlCol="0" anchor="ctr"/>
          <a:lstStyle/>
          <a:p>
            <a:pPr algn="ctr">
              <a:lnSpc>
                <a:spcPct val="120000"/>
              </a:lnSpc>
            </a:pPr>
            <a:r>
              <a:rPr lang="en-US" sz="1167" dirty="0">
                <a:solidFill>
                  <a:srgbClr val="A0AEC0"/>
                </a:solidFill>
                <a:latin typeface="MiSans" pitchFamily="34" charset="0"/>
                <a:ea typeface="MiSans" pitchFamily="34" charset="-122"/>
                <a:cs typeface="MiSans" pitchFamily="34" charset="-120"/>
              </a:rPr>
              <a:t>统一编码、口径对齐、维度外键</a:t>
            </a:r>
            <a:endParaRPr lang="en-US" sz="1600" dirty="0"/>
          </a:p>
        </p:txBody>
      </p:sp>
      <p:sp>
        <p:nvSpPr>
          <p:cNvPr id="30" name="Shape 28"/>
          <p:cNvSpPr/>
          <p:nvPr/>
        </p:nvSpPr>
        <p:spPr>
          <a:xfrm>
            <a:off x="5329081" y="4656666"/>
            <a:ext cx="254000" cy="254000"/>
          </a:xfrm>
          <a:custGeom>
            <a:avLst/>
            <a:gdLst/>
            <a:ahLst/>
            <a:cxnLst/>
            <a:rect l="l" t="t" r="r" b="b"/>
            <a:pathLst>
              <a:path w="254000" h="254000">
                <a:moveTo>
                  <a:pt x="249337" y="138212"/>
                </a:moveTo>
                <a:cubicBezTo>
                  <a:pt x="255538" y="132011"/>
                  <a:pt x="255538" y="121940"/>
                  <a:pt x="249337" y="115739"/>
                </a:cubicBezTo>
                <a:lnTo>
                  <a:pt x="169962" y="36364"/>
                </a:lnTo>
                <a:cubicBezTo>
                  <a:pt x="163761" y="30163"/>
                  <a:pt x="153690" y="30163"/>
                  <a:pt x="147489" y="36364"/>
                </a:cubicBezTo>
                <a:cubicBezTo>
                  <a:pt x="141288" y="42565"/>
                  <a:pt x="141288" y="52636"/>
                  <a:pt x="147489" y="58837"/>
                </a:cubicBezTo>
                <a:lnTo>
                  <a:pt x="199777" y="111125"/>
                </a:lnTo>
                <a:lnTo>
                  <a:pt x="15875" y="111125"/>
                </a:lnTo>
                <a:cubicBezTo>
                  <a:pt x="7094" y="111125"/>
                  <a:pt x="0" y="118219"/>
                  <a:pt x="0" y="127000"/>
                </a:cubicBezTo>
                <a:cubicBezTo>
                  <a:pt x="0" y="135781"/>
                  <a:pt x="7094" y="142875"/>
                  <a:pt x="15875" y="142875"/>
                </a:cubicBezTo>
                <a:lnTo>
                  <a:pt x="199777" y="142875"/>
                </a:lnTo>
                <a:lnTo>
                  <a:pt x="147489" y="195163"/>
                </a:lnTo>
                <a:cubicBezTo>
                  <a:pt x="141287" y="201364"/>
                  <a:pt x="141287" y="211435"/>
                  <a:pt x="147489" y="217636"/>
                </a:cubicBezTo>
                <a:cubicBezTo>
                  <a:pt x="153690" y="223838"/>
                  <a:pt x="163761" y="223838"/>
                  <a:pt x="169962" y="217636"/>
                </a:cubicBezTo>
                <a:lnTo>
                  <a:pt x="249337" y="138261"/>
                </a:lnTo>
                <a:close/>
              </a:path>
            </a:pathLst>
          </a:custGeom>
          <a:solidFill>
            <a:srgbClr val="4FD1C5"/>
          </a:solidFill>
          <a:ln/>
        </p:spPr>
        <p:txBody>
          <a:bodyPr/>
          <a:lstStyle/>
          <a:p>
            <a:endParaRPr lang="zh-CN" altLang="en-US"/>
          </a:p>
        </p:txBody>
      </p:sp>
      <p:sp>
        <p:nvSpPr>
          <p:cNvPr id="31" name="Shape 29"/>
          <p:cNvSpPr/>
          <p:nvPr/>
        </p:nvSpPr>
        <p:spPr>
          <a:xfrm>
            <a:off x="6360548" y="4360333"/>
            <a:ext cx="846667" cy="846667"/>
          </a:xfrm>
          <a:custGeom>
            <a:avLst/>
            <a:gdLst/>
            <a:ahLst/>
            <a:cxnLst/>
            <a:rect l="l" t="t" r="r" b="b"/>
            <a:pathLst>
              <a:path w="846667" h="846667">
                <a:moveTo>
                  <a:pt x="423333" y="0"/>
                </a:moveTo>
                <a:lnTo>
                  <a:pt x="423333" y="0"/>
                </a:lnTo>
                <a:cubicBezTo>
                  <a:pt x="656977" y="0"/>
                  <a:pt x="846667" y="189689"/>
                  <a:pt x="846667" y="423333"/>
                </a:cubicBezTo>
                <a:lnTo>
                  <a:pt x="846667" y="423333"/>
                </a:lnTo>
                <a:cubicBezTo>
                  <a:pt x="846667" y="656977"/>
                  <a:pt x="656977" y="846667"/>
                  <a:pt x="423333" y="846667"/>
                </a:cubicBezTo>
                <a:lnTo>
                  <a:pt x="423333" y="846667"/>
                </a:lnTo>
                <a:cubicBezTo>
                  <a:pt x="189689" y="846667"/>
                  <a:pt x="0" y="656977"/>
                  <a:pt x="0" y="423333"/>
                </a:cubicBezTo>
                <a:lnTo>
                  <a:pt x="0" y="423333"/>
                </a:lnTo>
                <a:cubicBezTo>
                  <a:pt x="0" y="189689"/>
                  <a:pt x="189689" y="0"/>
                  <a:pt x="423333" y="0"/>
                </a:cubicBezTo>
                <a:close/>
              </a:path>
            </a:pathLst>
          </a:custGeom>
          <a:solidFill>
            <a:srgbClr val="4FD1C5"/>
          </a:solidFill>
          <a:ln/>
        </p:spPr>
        <p:txBody>
          <a:bodyPr/>
          <a:lstStyle/>
          <a:p>
            <a:endParaRPr lang="zh-CN" altLang="en-US"/>
          </a:p>
        </p:txBody>
      </p:sp>
      <p:sp>
        <p:nvSpPr>
          <p:cNvPr id="32" name="Text 30"/>
          <p:cNvSpPr/>
          <p:nvPr/>
        </p:nvSpPr>
        <p:spPr>
          <a:xfrm>
            <a:off x="6519298" y="4635500"/>
            <a:ext cx="529167" cy="296333"/>
          </a:xfrm>
          <a:prstGeom prst="rect">
            <a:avLst/>
          </a:prstGeom>
          <a:noFill/>
          <a:ln/>
        </p:spPr>
        <p:txBody>
          <a:bodyPr wrap="square" lIns="0" tIns="0" rIns="0" bIns="0" rtlCol="0" anchor="ctr"/>
          <a:lstStyle/>
          <a:p>
            <a:pPr algn="ctr">
              <a:lnSpc>
                <a:spcPct val="130000"/>
              </a:lnSpc>
            </a:pPr>
            <a:r>
              <a:rPr lang="en-US" sz="1500" b="1" dirty="0">
                <a:solidFill>
                  <a:srgbClr val="1A202C"/>
                </a:solidFill>
                <a:latin typeface="MiSans" pitchFamily="34" charset="0"/>
                <a:ea typeface="MiSans" pitchFamily="34" charset="-122"/>
                <a:cs typeface="MiSans" pitchFamily="34" charset="-120"/>
              </a:rPr>
              <a:t>DWS</a:t>
            </a:r>
            <a:endParaRPr lang="en-US" sz="1600" dirty="0"/>
          </a:p>
        </p:txBody>
      </p:sp>
      <p:sp>
        <p:nvSpPr>
          <p:cNvPr id="33" name="Text 31"/>
          <p:cNvSpPr/>
          <p:nvPr/>
        </p:nvSpPr>
        <p:spPr>
          <a:xfrm>
            <a:off x="5877057" y="5291667"/>
            <a:ext cx="1862667" cy="254000"/>
          </a:xfrm>
          <a:prstGeom prst="rect">
            <a:avLst/>
          </a:prstGeom>
          <a:noFill/>
          <a:ln/>
        </p:spPr>
        <p:txBody>
          <a:bodyPr wrap="square" lIns="0" tIns="0" rIns="0" bIns="0" rtlCol="0" anchor="ctr"/>
          <a:lstStyle/>
          <a:p>
            <a:pPr algn="ctr">
              <a:lnSpc>
                <a:spcPct val="130000"/>
              </a:lnSpc>
            </a:pPr>
            <a:r>
              <a:rPr lang="en-US" sz="1333" b="1" dirty="0">
                <a:solidFill>
                  <a:srgbClr val="F7FAFC"/>
                </a:solidFill>
                <a:latin typeface="MiSans" pitchFamily="34" charset="0"/>
                <a:ea typeface="MiSans" pitchFamily="34" charset="-122"/>
                <a:cs typeface="MiSans" pitchFamily="34" charset="-120"/>
              </a:rPr>
              <a:t>汇总数据层</a:t>
            </a:r>
            <a:endParaRPr lang="en-US" sz="1600" dirty="0"/>
          </a:p>
        </p:txBody>
      </p:sp>
      <p:sp>
        <p:nvSpPr>
          <p:cNvPr id="34" name="Text 32"/>
          <p:cNvSpPr/>
          <p:nvPr/>
        </p:nvSpPr>
        <p:spPr>
          <a:xfrm>
            <a:off x="5882349" y="5588000"/>
            <a:ext cx="1852083" cy="211667"/>
          </a:xfrm>
          <a:prstGeom prst="rect">
            <a:avLst/>
          </a:prstGeom>
          <a:noFill/>
          <a:ln/>
        </p:spPr>
        <p:txBody>
          <a:bodyPr wrap="square" lIns="0" tIns="0" rIns="0" bIns="0" rtlCol="0" anchor="ctr"/>
          <a:lstStyle/>
          <a:p>
            <a:pPr algn="ctr">
              <a:lnSpc>
                <a:spcPct val="120000"/>
              </a:lnSpc>
            </a:pPr>
            <a:r>
              <a:rPr lang="en-US" sz="1167" dirty="0">
                <a:solidFill>
                  <a:srgbClr val="A0AEC0"/>
                </a:solidFill>
                <a:latin typeface="MiSans" pitchFamily="34" charset="0"/>
                <a:ea typeface="MiSans" pitchFamily="34" charset="-122"/>
                <a:cs typeface="MiSans" pitchFamily="34" charset="-120"/>
              </a:rPr>
              <a:t>按维度汇总生成主题汇总表</a:t>
            </a:r>
            <a:endParaRPr lang="en-US" sz="1600" dirty="0"/>
          </a:p>
        </p:txBody>
      </p:sp>
      <p:sp>
        <p:nvSpPr>
          <p:cNvPr id="35" name="Shape 33"/>
          <p:cNvSpPr/>
          <p:nvPr/>
        </p:nvSpPr>
        <p:spPr>
          <a:xfrm>
            <a:off x="7984682" y="4656666"/>
            <a:ext cx="254000" cy="254000"/>
          </a:xfrm>
          <a:custGeom>
            <a:avLst/>
            <a:gdLst/>
            <a:ahLst/>
            <a:cxnLst/>
            <a:rect l="l" t="t" r="r" b="b"/>
            <a:pathLst>
              <a:path w="254000" h="254000">
                <a:moveTo>
                  <a:pt x="249337" y="138212"/>
                </a:moveTo>
                <a:cubicBezTo>
                  <a:pt x="255538" y="132011"/>
                  <a:pt x="255538" y="121940"/>
                  <a:pt x="249337" y="115739"/>
                </a:cubicBezTo>
                <a:lnTo>
                  <a:pt x="169962" y="36364"/>
                </a:lnTo>
                <a:cubicBezTo>
                  <a:pt x="163761" y="30163"/>
                  <a:pt x="153690" y="30163"/>
                  <a:pt x="147489" y="36364"/>
                </a:cubicBezTo>
                <a:cubicBezTo>
                  <a:pt x="141288" y="42565"/>
                  <a:pt x="141288" y="52636"/>
                  <a:pt x="147489" y="58837"/>
                </a:cubicBezTo>
                <a:lnTo>
                  <a:pt x="199777" y="111125"/>
                </a:lnTo>
                <a:lnTo>
                  <a:pt x="15875" y="111125"/>
                </a:lnTo>
                <a:cubicBezTo>
                  <a:pt x="7094" y="111125"/>
                  <a:pt x="0" y="118219"/>
                  <a:pt x="0" y="127000"/>
                </a:cubicBezTo>
                <a:cubicBezTo>
                  <a:pt x="0" y="135781"/>
                  <a:pt x="7094" y="142875"/>
                  <a:pt x="15875" y="142875"/>
                </a:cubicBezTo>
                <a:lnTo>
                  <a:pt x="199777" y="142875"/>
                </a:lnTo>
                <a:lnTo>
                  <a:pt x="147489" y="195163"/>
                </a:lnTo>
                <a:cubicBezTo>
                  <a:pt x="141287" y="201364"/>
                  <a:pt x="141287" y="211435"/>
                  <a:pt x="147489" y="217636"/>
                </a:cubicBezTo>
                <a:cubicBezTo>
                  <a:pt x="153690" y="223838"/>
                  <a:pt x="163761" y="223838"/>
                  <a:pt x="169962" y="217636"/>
                </a:cubicBezTo>
                <a:lnTo>
                  <a:pt x="249337" y="138261"/>
                </a:lnTo>
                <a:close/>
              </a:path>
            </a:pathLst>
          </a:custGeom>
          <a:solidFill>
            <a:srgbClr val="4FD1C5"/>
          </a:solidFill>
          <a:ln/>
        </p:spPr>
        <p:txBody>
          <a:bodyPr/>
          <a:lstStyle/>
          <a:p>
            <a:endParaRPr lang="zh-CN" altLang="en-US"/>
          </a:p>
        </p:txBody>
      </p:sp>
      <p:sp>
        <p:nvSpPr>
          <p:cNvPr id="36" name="Shape 34"/>
          <p:cNvSpPr/>
          <p:nvPr/>
        </p:nvSpPr>
        <p:spPr>
          <a:xfrm>
            <a:off x="9016149" y="4360333"/>
            <a:ext cx="846667" cy="846667"/>
          </a:xfrm>
          <a:custGeom>
            <a:avLst/>
            <a:gdLst/>
            <a:ahLst/>
            <a:cxnLst/>
            <a:rect l="l" t="t" r="r" b="b"/>
            <a:pathLst>
              <a:path w="846667" h="846667">
                <a:moveTo>
                  <a:pt x="423333" y="0"/>
                </a:moveTo>
                <a:lnTo>
                  <a:pt x="423333" y="0"/>
                </a:lnTo>
                <a:cubicBezTo>
                  <a:pt x="656977" y="0"/>
                  <a:pt x="846667" y="189689"/>
                  <a:pt x="846667" y="423333"/>
                </a:cubicBezTo>
                <a:lnTo>
                  <a:pt x="846667" y="423333"/>
                </a:lnTo>
                <a:cubicBezTo>
                  <a:pt x="846667" y="656977"/>
                  <a:pt x="656977" y="846667"/>
                  <a:pt x="423333" y="846667"/>
                </a:cubicBezTo>
                <a:lnTo>
                  <a:pt x="423333" y="846667"/>
                </a:lnTo>
                <a:cubicBezTo>
                  <a:pt x="189689" y="846667"/>
                  <a:pt x="0" y="656977"/>
                  <a:pt x="0" y="423333"/>
                </a:cubicBezTo>
                <a:lnTo>
                  <a:pt x="0" y="423333"/>
                </a:lnTo>
                <a:cubicBezTo>
                  <a:pt x="0" y="189689"/>
                  <a:pt x="189689" y="0"/>
                  <a:pt x="423333" y="0"/>
                </a:cubicBezTo>
                <a:close/>
              </a:path>
            </a:pathLst>
          </a:custGeom>
          <a:solidFill>
            <a:srgbClr val="4FD1C5"/>
          </a:solidFill>
          <a:ln/>
        </p:spPr>
        <p:txBody>
          <a:bodyPr/>
          <a:lstStyle/>
          <a:p>
            <a:endParaRPr lang="zh-CN" altLang="en-US"/>
          </a:p>
        </p:txBody>
      </p:sp>
      <p:sp>
        <p:nvSpPr>
          <p:cNvPr id="37" name="Text 35"/>
          <p:cNvSpPr/>
          <p:nvPr/>
        </p:nvSpPr>
        <p:spPr>
          <a:xfrm>
            <a:off x="9201109" y="4635500"/>
            <a:ext cx="476250" cy="296333"/>
          </a:xfrm>
          <a:prstGeom prst="rect">
            <a:avLst/>
          </a:prstGeom>
          <a:noFill/>
          <a:ln/>
        </p:spPr>
        <p:txBody>
          <a:bodyPr wrap="square" lIns="0" tIns="0" rIns="0" bIns="0" rtlCol="0" anchor="ctr"/>
          <a:lstStyle/>
          <a:p>
            <a:pPr algn="ctr">
              <a:lnSpc>
                <a:spcPct val="130000"/>
              </a:lnSpc>
            </a:pPr>
            <a:r>
              <a:rPr lang="en-US" sz="1500" b="1" dirty="0">
                <a:solidFill>
                  <a:srgbClr val="1A202C"/>
                </a:solidFill>
                <a:latin typeface="MiSans" pitchFamily="34" charset="0"/>
                <a:ea typeface="MiSans" pitchFamily="34" charset="-122"/>
                <a:cs typeface="MiSans" pitchFamily="34" charset="-120"/>
              </a:rPr>
              <a:t>ADS</a:t>
            </a:r>
            <a:endParaRPr lang="en-US" sz="1600" dirty="0"/>
          </a:p>
        </p:txBody>
      </p:sp>
      <p:sp>
        <p:nvSpPr>
          <p:cNvPr id="38" name="Text 36"/>
          <p:cNvSpPr/>
          <p:nvPr/>
        </p:nvSpPr>
        <p:spPr>
          <a:xfrm>
            <a:off x="8445169" y="5291667"/>
            <a:ext cx="2010833" cy="254000"/>
          </a:xfrm>
          <a:prstGeom prst="rect">
            <a:avLst/>
          </a:prstGeom>
          <a:noFill/>
          <a:ln/>
        </p:spPr>
        <p:txBody>
          <a:bodyPr wrap="square" lIns="0" tIns="0" rIns="0" bIns="0" rtlCol="0" anchor="ctr"/>
          <a:lstStyle/>
          <a:p>
            <a:pPr algn="ctr">
              <a:lnSpc>
                <a:spcPct val="130000"/>
              </a:lnSpc>
            </a:pPr>
            <a:r>
              <a:rPr lang="en-US" sz="1333" b="1" dirty="0">
                <a:solidFill>
                  <a:srgbClr val="F7FAFC"/>
                </a:solidFill>
                <a:latin typeface="MiSans" pitchFamily="34" charset="0"/>
                <a:ea typeface="MiSans" pitchFamily="34" charset="-122"/>
                <a:cs typeface="MiSans" pitchFamily="34" charset="-120"/>
              </a:rPr>
              <a:t>应用数据层</a:t>
            </a:r>
            <a:endParaRPr lang="en-US" sz="1600" dirty="0"/>
          </a:p>
        </p:txBody>
      </p:sp>
      <p:sp>
        <p:nvSpPr>
          <p:cNvPr id="39" name="Text 37"/>
          <p:cNvSpPr/>
          <p:nvPr/>
        </p:nvSpPr>
        <p:spPr>
          <a:xfrm>
            <a:off x="8450461" y="5588000"/>
            <a:ext cx="2000250" cy="211667"/>
          </a:xfrm>
          <a:prstGeom prst="rect">
            <a:avLst/>
          </a:prstGeom>
          <a:noFill/>
          <a:ln/>
        </p:spPr>
        <p:txBody>
          <a:bodyPr wrap="square" lIns="0" tIns="0" rIns="0" bIns="0" rtlCol="0" anchor="ctr"/>
          <a:lstStyle/>
          <a:p>
            <a:pPr algn="ctr">
              <a:lnSpc>
                <a:spcPct val="120000"/>
              </a:lnSpc>
            </a:pPr>
            <a:r>
              <a:rPr lang="en-US" sz="1167" dirty="0">
                <a:solidFill>
                  <a:srgbClr val="A0AEC0"/>
                </a:solidFill>
                <a:latin typeface="MiSans" pitchFamily="34" charset="0"/>
                <a:ea typeface="MiSans" pitchFamily="34" charset="-122"/>
                <a:cs typeface="MiSans" pitchFamily="34" charset="-120"/>
              </a:rPr>
              <a:t>监管报表、风险管理、驾驶舱</a:t>
            </a:r>
            <a:endParaRPr lang="en-US" sz="1600" dirty="0"/>
          </a:p>
        </p:txBody>
      </p:sp>
      <p:sp>
        <p:nvSpPr>
          <p:cNvPr id="40" name="Shape 38"/>
          <p:cNvSpPr/>
          <p:nvPr/>
        </p:nvSpPr>
        <p:spPr>
          <a:xfrm>
            <a:off x="423333" y="6180667"/>
            <a:ext cx="10202333" cy="2709333"/>
          </a:xfrm>
          <a:custGeom>
            <a:avLst/>
            <a:gdLst/>
            <a:ahLst/>
            <a:cxnLst/>
            <a:rect l="l" t="t" r="r" b="b"/>
            <a:pathLst>
              <a:path w="10202333" h="2709333">
                <a:moveTo>
                  <a:pt x="84667" y="0"/>
                </a:moveTo>
                <a:lnTo>
                  <a:pt x="10117667" y="0"/>
                </a:lnTo>
                <a:cubicBezTo>
                  <a:pt x="10164427" y="0"/>
                  <a:pt x="10202333" y="37907"/>
                  <a:pt x="10202333" y="84667"/>
                </a:cubicBezTo>
                <a:lnTo>
                  <a:pt x="10202333" y="2624667"/>
                </a:lnTo>
                <a:cubicBezTo>
                  <a:pt x="10202333" y="2671427"/>
                  <a:pt x="10164427" y="2709333"/>
                  <a:pt x="10117667" y="2709333"/>
                </a:cubicBezTo>
                <a:lnTo>
                  <a:pt x="84667" y="2709333"/>
                </a:lnTo>
                <a:cubicBezTo>
                  <a:pt x="37907" y="2709333"/>
                  <a:pt x="0" y="2671427"/>
                  <a:pt x="0" y="2624667"/>
                </a:cubicBezTo>
                <a:lnTo>
                  <a:pt x="0" y="84667"/>
                </a:lnTo>
                <a:cubicBezTo>
                  <a:pt x="0" y="37907"/>
                  <a:pt x="37907" y="0"/>
                  <a:pt x="84667" y="0"/>
                </a:cubicBezTo>
                <a:close/>
              </a:path>
            </a:pathLst>
          </a:custGeom>
          <a:solidFill>
            <a:srgbClr val="4A5568">
              <a:alpha val="30196"/>
            </a:srgbClr>
          </a:solidFill>
          <a:ln/>
        </p:spPr>
        <p:txBody>
          <a:bodyPr/>
          <a:lstStyle/>
          <a:p>
            <a:endParaRPr lang="zh-CN" altLang="en-US"/>
          </a:p>
        </p:txBody>
      </p:sp>
      <p:sp>
        <p:nvSpPr>
          <p:cNvPr id="41" name="Text 39"/>
          <p:cNvSpPr/>
          <p:nvPr/>
        </p:nvSpPr>
        <p:spPr>
          <a:xfrm>
            <a:off x="592667" y="6350000"/>
            <a:ext cx="9958917" cy="296333"/>
          </a:xfrm>
          <a:prstGeom prst="rect">
            <a:avLst/>
          </a:prstGeom>
          <a:noFill/>
          <a:ln/>
        </p:spPr>
        <p:txBody>
          <a:bodyPr wrap="square" lIns="0" tIns="0" rIns="0" bIns="0" rtlCol="0" anchor="ctr"/>
          <a:lstStyle/>
          <a:p>
            <a:pPr>
              <a:lnSpc>
                <a:spcPct val="130000"/>
              </a:lnSpc>
            </a:pPr>
            <a:r>
              <a:rPr lang="en-US" sz="1500" b="1" dirty="0">
                <a:solidFill>
                  <a:srgbClr val="4FD1C5"/>
                </a:solidFill>
                <a:latin typeface="MiSans" pitchFamily="34" charset="0"/>
                <a:ea typeface="MiSans" pitchFamily="34" charset="-122"/>
                <a:cs typeface="MiSans" pitchFamily="34" charset="-120"/>
              </a:rPr>
              <a:t>典型对账结果表结构</a:t>
            </a:r>
            <a:endParaRPr lang="en-US" sz="1600" dirty="0"/>
          </a:p>
        </p:txBody>
      </p:sp>
      <p:sp>
        <p:nvSpPr>
          <p:cNvPr id="42" name="Shape 40"/>
          <p:cNvSpPr/>
          <p:nvPr/>
        </p:nvSpPr>
        <p:spPr>
          <a:xfrm>
            <a:off x="592667" y="6773333"/>
            <a:ext cx="9863667" cy="1947333"/>
          </a:xfrm>
          <a:custGeom>
            <a:avLst/>
            <a:gdLst/>
            <a:ahLst/>
            <a:cxnLst/>
            <a:rect l="l" t="t" r="r" b="b"/>
            <a:pathLst>
              <a:path w="9863667" h="1947333">
                <a:moveTo>
                  <a:pt x="42335" y="0"/>
                </a:moveTo>
                <a:lnTo>
                  <a:pt x="9821332" y="0"/>
                </a:lnTo>
                <a:cubicBezTo>
                  <a:pt x="9844713" y="0"/>
                  <a:pt x="9863667" y="18954"/>
                  <a:pt x="9863667" y="42335"/>
                </a:cubicBezTo>
                <a:lnTo>
                  <a:pt x="9863667" y="1904998"/>
                </a:lnTo>
                <a:cubicBezTo>
                  <a:pt x="9863667" y="1928379"/>
                  <a:pt x="9844713" y="1947333"/>
                  <a:pt x="9821332" y="1947333"/>
                </a:cubicBezTo>
                <a:lnTo>
                  <a:pt x="42335" y="1947333"/>
                </a:lnTo>
                <a:cubicBezTo>
                  <a:pt x="18954" y="1947333"/>
                  <a:pt x="0" y="1928379"/>
                  <a:pt x="0" y="1904998"/>
                </a:cubicBezTo>
                <a:lnTo>
                  <a:pt x="0" y="42335"/>
                </a:lnTo>
                <a:cubicBezTo>
                  <a:pt x="0" y="18970"/>
                  <a:pt x="18970" y="0"/>
                  <a:pt x="42335" y="0"/>
                </a:cubicBezTo>
                <a:close/>
              </a:path>
            </a:pathLst>
          </a:custGeom>
          <a:solidFill>
            <a:srgbClr val="1A202C"/>
          </a:solidFill>
          <a:ln/>
        </p:spPr>
        <p:txBody>
          <a:bodyPr/>
          <a:lstStyle/>
          <a:p>
            <a:endParaRPr lang="zh-CN" altLang="en-US"/>
          </a:p>
        </p:txBody>
      </p:sp>
      <p:sp>
        <p:nvSpPr>
          <p:cNvPr id="43" name="Text 41"/>
          <p:cNvSpPr/>
          <p:nvPr/>
        </p:nvSpPr>
        <p:spPr>
          <a:xfrm>
            <a:off x="719667" y="6900333"/>
            <a:ext cx="9683750"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 对账结果事实表示例</a:t>
            </a:r>
            <a:endParaRPr lang="en-US" sz="1600" dirty="0"/>
          </a:p>
        </p:txBody>
      </p:sp>
      <p:sp>
        <p:nvSpPr>
          <p:cNvPr id="44" name="Text 42"/>
          <p:cNvSpPr/>
          <p:nvPr/>
        </p:nvSpPr>
        <p:spPr>
          <a:xfrm>
            <a:off x="719667" y="7112000"/>
            <a:ext cx="9683750"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CREATE TABLE dw_fact_reconciliation (</a:t>
            </a:r>
            <a:endParaRPr lang="en-US" sz="1600" dirty="0"/>
          </a:p>
        </p:txBody>
      </p:sp>
      <p:sp>
        <p:nvSpPr>
          <p:cNvPr id="45" name="Text 43"/>
          <p:cNvSpPr/>
          <p:nvPr/>
        </p:nvSpPr>
        <p:spPr>
          <a:xfrm>
            <a:off x="889000" y="7323667"/>
            <a:ext cx="9514417"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batch_date DATE, </a:t>
            </a:r>
            <a:r>
              <a:rPr lang="en-US" sz="1167" dirty="0">
                <a:solidFill>
                  <a:srgbClr val="A0AEC0"/>
                </a:solidFill>
                <a:latin typeface="MiSans" pitchFamily="34" charset="0"/>
                <a:ea typeface="MiSans" pitchFamily="34" charset="-122"/>
                <a:cs typeface="MiSans" pitchFamily="34" charset="-120"/>
              </a:rPr>
              <a:t>-- 对账批次日期</a:t>
            </a:r>
            <a:endParaRPr lang="en-US" sz="1600" dirty="0"/>
          </a:p>
        </p:txBody>
      </p:sp>
      <p:sp>
        <p:nvSpPr>
          <p:cNvPr id="46" name="Text 44"/>
          <p:cNvSpPr/>
          <p:nvPr/>
        </p:nvSpPr>
        <p:spPr>
          <a:xfrm>
            <a:off x="889000" y="7535333"/>
            <a:ext cx="9514417"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channel VARCHAR(20), </a:t>
            </a:r>
            <a:r>
              <a:rPr lang="en-US" sz="1167" dirty="0">
                <a:solidFill>
                  <a:srgbClr val="A0AEC0"/>
                </a:solidFill>
                <a:latin typeface="MiSans" pitchFamily="34" charset="0"/>
                <a:ea typeface="MiSans" pitchFamily="34" charset="-122"/>
                <a:cs typeface="MiSans" pitchFamily="34" charset="-120"/>
              </a:rPr>
              <a:t>-- 交易渠道</a:t>
            </a:r>
            <a:endParaRPr lang="en-US" sz="1600" dirty="0"/>
          </a:p>
        </p:txBody>
      </p:sp>
      <p:sp>
        <p:nvSpPr>
          <p:cNvPr id="47" name="Text 45"/>
          <p:cNvSpPr/>
          <p:nvPr/>
        </p:nvSpPr>
        <p:spPr>
          <a:xfrm>
            <a:off x="889000" y="7747000"/>
            <a:ext cx="9514417"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internal_count INT, </a:t>
            </a:r>
            <a:r>
              <a:rPr lang="en-US" sz="1167" dirty="0">
                <a:solidFill>
                  <a:srgbClr val="A0AEC0"/>
                </a:solidFill>
                <a:latin typeface="MiSans" pitchFamily="34" charset="0"/>
                <a:ea typeface="MiSans" pitchFamily="34" charset="-122"/>
                <a:cs typeface="MiSans" pitchFamily="34" charset="-120"/>
              </a:rPr>
              <a:t>-- 内部交易笔数</a:t>
            </a:r>
            <a:endParaRPr lang="en-US" sz="1600" dirty="0"/>
          </a:p>
        </p:txBody>
      </p:sp>
      <p:sp>
        <p:nvSpPr>
          <p:cNvPr id="48" name="Text 46"/>
          <p:cNvSpPr/>
          <p:nvPr/>
        </p:nvSpPr>
        <p:spPr>
          <a:xfrm>
            <a:off x="889000" y="7958667"/>
            <a:ext cx="9514417"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external_count INT, </a:t>
            </a:r>
            <a:r>
              <a:rPr lang="en-US" sz="1167" dirty="0">
                <a:solidFill>
                  <a:srgbClr val="A0AEC0"/>
                </a:solidFill>
                <a:latin typeface="MiSans" pitchFamily="34" charset="0"/>
                <a:ea typeface="MiSans" pitchFamily="34" charset="-122"/>
                <a:cs typeface="MiSans" pitchFamily="34" charset="-120"/>
              </a:rPr>
              <a:t>-- 外部对账笔数</a:t>
            </a:r>
            <a:endParaRPr lang="en-US" sz="1600" dirty="0"/>
          </a:p>
        </p:txBody>
      </p:sp>
      <p:sp>
        <p:nvSpPr>
          <p:cNvPr id="49" name="Text 47"/>
          <p:cNvSpPr/>
          <p:nvPr/>
        </p:nvSpPr>
        <p:spPr>
          <a:xfrm>
            <a:off x="889000" y="8170333"/>
            <a:ext cx="9514417"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diff_count INT, </a:t>
            </a:r>
            <a:r>
              <a:rPr lang="en-US" sz="1167" dirty="0">
                <a:solidFill>
                  <a:srgbClr val="A0AEC0"/>
                </a:solidFill>
                <a:latin typeface="MiSans" pitchFamily="34" charset="0"/>
                <a:ea typeface="MiSans" pitchFamily="34" charset="-122"/>
                <a:cs typeface="MiSans" pitchFamily="34" charset="-120"/>
              </a:rPr>
              <a:t>-- 差异笔数</a:t>
            </a:r>
            <a:endParaRPr lang="en-US" sz="1600" dirty="0"/>
          </a:p>
        </p:txBody>
      </p:sp>
      <p:sp>
        <p:nvSpPr>
          <p:cNvPr id="50" name="Text 48"/>
          <p:cNvSpPr/>
          <p:nvPr/>
        </p:nvSpPr>
        <p:spPr>
          <a:xfrm>
            <a:off x="719667" y="8382000"/>
            <a:ext cx="9683750"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a:t>
            </a:r>
            <a:endParaRPr lang="en-US" sz="1600" dirty="0"/>
          </a:p>
        </p:txBody>
      </p:sp>
      <p:sp>
        <p:nvSpPr>
          <p:cNvPr id="51" name="Shape 49"/>
          <p:cNvSpPr/>
          <p:nvPr/>
        </p:nvSpPr>
        <p:spPr>
          <a:xfrm>
            <a:off x="10858500" y="1608667"/>
            <a:ext cx="4974167" cy="2540000"/>
          </a:xfrm>
          <a:custGeom>
            <a:avLst/>
            <a:gdLst/>
            <a:ahLst/>
            <a:cxnLst/>
            <a:rect l="l" t="t" r="r" b="b"/>
            <a:pathLst>
              <a:path w="4974167" h="2540000">
                <a:moveTo>
                  <a:pt x="42333" y="0"/>
                </a:moveTo>
                <a:lnTo>
                  <a:pt x="4889508" y="0"/>
                </a:lnTo>
                <a:cubicBezTo>
                  <a:pt x="4936264" y="0"/>
                  <a:pt x="4974167" y="37903"/>
                  <a:pt x="4974167" y="84658"/>
                </a:cubicBezTo>
                <a:lnTo>
                  <a:pt x="4974167" y="2455342"/>
                </a:lnTo>
                <a:cubicBezTo>
                  <a:pt x="4974167" y="2502097"/>
                  <a:pt x="4936264" y="2540000"/>
                  <a:pt x="4889508" y="2540000"/>
                </a:cubicBezTo>
                <a:lnTo>
                  <a:pt x="42333" y="2540000"/>
                </a:lnTo>
                <a:cubicBezTo>
                  <a:pt x="18953" y="2540000"/>
                  <a:pt x="0" y="2521047"/>
                  <a:pt x="0" y="2497667"/>
                </a:cubicBezTo>
                <a:lnTo>
                  <a:pt x="0" y="42333"/>
                </a:lnTo>
                <a:cubicBezTo>
                  <a:pt x="0" y="18953"/>
                  <a:pt x="18953" y="0"/>
                  <a:pt x="42333" y="0"/>
                </a:cubicBezTo>
                <a:close/>
              </a:path>
            </a:pathLst>
          </a:custGeom>
          <a:solidFill>
            <a:srgbClr val="4FD1C5">
              <a:alpha val="10196"/>
            </a:srgbClr>
          </a:solidFill>
          <a:ln/>
        </p:spPr>
        <p:txBody>
          <a:bodyPr/>
          <a:lstStyle/>
          <a:p>
            <a:endParaRPr lang="zh-CN" altLang="en-US"/>
          </a:p>
        </p:txBody>
      </p:sp>
      <p:sp>
        <p:nvSpPr>
          <p:cNvPr id="52" name="Shape 50"/>
          <p:cNvSpPr/>
          <p:nvPr/>
        </p:nvSpPr>
        <p:spPr>
          <a:xfrm>
            <a:off x="10858500" y="1608667"/>
            <a:ext cx="42333" cy="2540000"/>
          </a:xfrm>
          <a:custGeom>
            <a:avLst/>
            <a:gdLst/>
            <a:ahLst/>
            <a:cxnLst/>
            <a:rect l="l" t="t" r="r" b="b"/>
            <a:pathLst>
              <a:path w="42333" h="2540000">
                <a:moveTo>
                  <a:pt x="42333" y="0"/>
                </a:moveTo>
                <a:lnTo>
                  <a:pt x="42333" y="0"/>
                </a:lnTo>
                <a:lnTo>
                  <a:pt x="42333" y="2540000"/>
                </a:lnTo>
                <a:lnTo>
                  <a:pt x="42333" y="2540000"/>
                </a:lnTo>
                <a:cubicBezTo>
                  <a:pt x="18953" y="2540000"/>
                  <a:pt x="0" y="2521047"/>
                  <a:pt x="0" y="2497667"/>
                </a:cubicBezTo>
                <a:lnTo>
                  <a:pt x="0" y="42333"/>
                </a:lnTo>
                <a:cubicBezTo>
                  <a:pt x="0" y="18953"/>
                  <a:pt x="18953" y="0"/>
                  <a:pt x="42333" y="0"/>
                </a:cubicBezTo>
                <a:close/>
              </a:path>
            </a:pathLst>
          </a:custGeom>
          <a:solidFill>
            <a:srgbClr val="4FD1C5"/>
          </a:solidFill>
          <a:ln/>
        </p:spPr>
        <p:txBody>
          <a:bodyPr/>
          <a:lstStyle/>
          <a:p>
            <a:endParaRPr lang="zh-CN" altLang="en-US"/>
          </a:p>
        </p:txBody>
      </p:sp>
      <p:sp>
        <p:nvSpPr>
          <p:cNvPr id="53" name="Text 51"/>
          <p:cNvSpPr/>
          <p:nvPr/>
        </p:nvSpPr>
        <p:spPr>
          <a:xfrm>
            <a:off x="11091333" y="1820333"/>
            <a:ext cx="4624917" cy="296333"/>
          </a:xfrm>
          <a:prstGeom prst="rect">
            <a:avLst/>
          </a:prstGeom>
          <a:noFill/>
          <a:ln/>
        </p:spPr>
        <p:txBody>
          <a:bodyPr wrap="square" lIns="0" tIns="0" rIns="0" bIns="0" rtlCol="0" anchor="ctr"/>
          <a:lstStyle/>
          <a:p>
            <a:pPr>
              <a:lnSpc>
                <a:spcPct val="130000"/>
              </a:lnSpc>
            </a:pPr>
            <a:r>
              <a:rPr lang="en-US" sz="1500" b="1" dirty="0">
                <a:solidFill>
                  <a:srgbClr val="F7FAFC"/>
                </a:solidFill>
                <a:latin typeface="MiSans" pitchFamily="34" charset="0"/>
                <a:ea typeface="MiSans" pitchFamily="34" charset="-122"/>
                <a:cs typeface="MiSans" pitchFamily="34" charset="-120"/>
              </a:rPr>
              <a:t>核心优势</a:t>
            </a:r>
            <a:endParaRPr lang="en-US" sz="1600" dirty="0"/>
          </a:p>
        </p:txBody>
      </p:sp>
      <p:sp>
        <p:nvSpPr>
          <p:cNvPr id="54" name="Shape 52"/>
          <p:cNvSpPr/>
          <p:nvPr/>
        </p:nvSpPr>
        <p:spPr>
          <a:xfrm>
            <a:off x="11112500" y="2328333"/>
            <a:ext cx="169333" cy="169333"/>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112580" y="70346"/>
                </a:moveTo>
                <a:lnTo>
                  <a:pt x="86122" y="112679"/>
                </a:lnTo>
                <a:cubicBezTo>
                  <a:pt x="84733" y="114895"/>
                  <a:pt x="82352" y="116284"/>
                  <a:pt x="79739" y="116417"/>
                </a:cubicBezTo>
                <a:cubicBezTo>
                  <a:pt x="77126" y="116549"/>
                  <a:pt x="74612" y="115358"/>
                  <a:pt x="73058" y="113242"/>
                </a:cubicBezTo>
                <a:lnTo>
                  <a:pt x="57183" y="92075"/>
                </a:lnTo>
                <a:cubicBezTo>
                  <a:pt x="54537" y="88569"/>
                  <a:pt x="55265" y="83608"/>
                  <a:pt x="58771" y="80963"/>
                </a:cubicBezTo>
                <a:cubicBezTo>
                  <a:pt x="62276" y="78317"/>
                  <a:pt x="67237" y="79044"/>
                  <a:pt x="69883" y="82550"/>
                </a:cubicBezTo>
                <a:lnTo>
                  <a:pt x="78813" y="94456"/>
                </a:lnTo>
                <a:lnTo>
                  <a:pt x="99120" y="61946"/>
                </a:lnTo>
                <a:cubicBezTo>
                  <a:pt x="101435" y="58241"/>
                  <a:pt x="106329" y="57084"/>
                  <a:pt x="110067" y="59432"/>
                </a:cubicBezTo>
                <a:cubicBezTo>
                  <a:pt x="113804" y="61780"/>
                  <a:pt x="114928" y="66642"/>
                  <a:pt x="112580" y="70379"/>
                </a:cubicBezTo>
                <a:close/>
              </a:path>
            </a:pathLst>
          </a:custGeom>
          <a:solidFill>
            <a:srgbClr val="4FD1C5"/>
          </a:solidFill>
          <a:ln/>
        </p:spPr>
        <p:txBody>
          <a:bodyPr/>
          <a:lstStyle/>
          <a:p>
            <a:endParaRPr lang="zh-CN" altLang="en-US"/>
          </a:p>
        </p:txBody>
      </p:sp>
      <p:sp>
        <p:nvSpPr>
          <p:cNvPr id="55" name="Text 53"/>
          <p:cNvSpPr/>
          <p:nvPr/>
        </p:nvSpPr>
        <p:spPr>
          <a:xfrm>
            <a:off x="11430000" y="2286000"/>
            <a:ext cx="2159000" cy="254000"/>
          </a:xfrm>
          <a:prstGeom prst="rect">
            <a:avLst/>
          </a:prstGeom>
          <a:noFill/>
          <a:ln/>
        </p:spPr>
        <p:txBody>
          <a:bodyPr wrap="square" lIns="0" tIns="0" rIns="0" bIns="0" rtlCol="0" anchor="ctr"/>
          <a:lstStyle/>
          <a:p>
            <a:pPr>
              <a:lnSpc>
                <a:spcPct val="130000"/>
              </a:lnSpc>
            </a:pPr>
            <a:r>
              <a:rPr lang="en-US" sz="1333" b="1" dirty="0">
                <a:solidFill>
                  <a:srgbClr val="F7FAFC"/>
                </a:solidFill>
                <a:latin typeface="MiSans" pitchFamily="34" charset="0"/>
                <a:ea typeface="MiSans" pitchFamily="34" charset="-122"/>
                <a:cs typeface="MiSans" pitchFamily="34" charset="-120"/>
              </a:rPr>
              <a:t>统一口径</a:t>
            </a:r>
            <a:endParaRPr lang="en-US" sz="1600" dirty="0"/>
          </a:p>
        </p:txBody>
      </p:sp>
      <p:sp>
        <p:nvSpPr>
          <p:cNvPr id="56" name="Text 54"/>
          <p:cNvSpPr/>
          <p:nvPr/>
        </p:nvSpPr>
        <p:spPr>
          <a:xfrm>
            <a:off x="11430000" y="2540000"/>
            <a:ext cx="2148417"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跨系统、跨部门的统一数据口径</a:t>
            </a:r>
            <a:endParaRPr lang="en-US" sz="1600" dirty="0"/>
          </a:p>
        </p:txBody>
      </p:sp>
      <p:sp>
        <p:nvSpPr>
          <p:cNvPr id="57" name="Shape 55"/>
          <p:cNvSpPr/>
          <p:nvPr/>
        </p:nvSpPr>
        <p:spPr>
          <a:xfrm>
            <a:off x="11112500" y="2921000"/>
            <a:ext cx="169333" cy="169333"/>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112580" y="70346"/>
                </a:moveTo>
                <a:lnTo>
                  <a:pt x="86122" y="112679"/>
                </a:lnTo>
                <a:cubicBezTo>
                  <a:pt x="84733" y="114895"/>
                  <a:pt x="82352" y="116284"/>
                  <a:pt x="79739" y="116417"/>
                </a:cubicBezTo>
                <a:cubicBezTo>
                  <a:pt x="77126" y="116549"/>
                  <a:pt x="74612" y="115358"/>
                  <a:pt x="73058" y="113242"/>
                </a:cubicBezTo>
                <a:lnTo>
                  <a:pt x="57183" y="92075"/>
                </a:lnTo>
                <a:cubicBezTo>
                  <a:pt x="54537" y="88569"/>
                  <a:pt x="55265" y="83608"/>
                  <a:pt x="58771" y="80963"/>
                </a:cubicBezTo>
                <a:cubicBezTo>
                  <a:pt x="62276" y="78317"/>
                  <a:pt x="67237" y="79044"/>
                  <a:pt x="69883" y="82550"/>
                </a:cubicBezTo>
                <a:lnTo>
                  <a:pt x="78813" y="94456"/>
                </a:lnTo>
                <a:lnTo>
                  <a:pt x="99120" y="61946"/>
                </a:lnTo>
                <a:cubicBezTo>
                  <a:pt x="101435" y="58241"/>
                  <a:pt x="106329" y="57084"/>
                  <a:pt x="110067" y="59432"/>
                </a:cubicBezTo>
                <a:cubicBezTo>
                  <a:pt x="113804" y="61780"/>
                  <a:pt x="114928" y="66642"/>
                  <a:pt x="112580" y="70379"/>
                </a:cubicBezTo>
                <a:close/>
              </a:path>
            </a:pathLst>
          </a:custGeom>
          <a:solidFill>
            <a:srgbClr val="4FD1C5"/>
          </a:solidFill>
          <a:ln/>
        </p:spPr>
        <p:txBody>
          <a:bodyPr/>
          <a:lstStyle/>
          <a:p>
            <a:endParaRPr lang="zh-CN" altLang="en-US"/>
          </a:p>
        </p:txBody>
      </p:sp>
      <p:sp>
        <p:nvSpPr>
          <p:cNvPr id="58" name="Text 56"/>
          <p:cNvSpPr/>
          <p:nvPr/>
        </p:nvSpPr>
        <p:spPr>
          <a:xfrm>
            <a:off x="11430000" y="2878667"/>
            <a:ext cx="1756833" cy="254000"/>
          </a:xfrm>
          <a:prstGeom prst="rect">
            <a:avLst/>
          </a:prstGeom>
          <a:noFill/>
          <a:ln/>
        </p:spPr>
        <p:txBody>
          <a:bodyPr wrap="square" lIns="0" tIns="0" rIns="0" bIns="0" rtlCol="0" anchor="ctr"/>
          <a:lstStyle/>
          <a:p>
            <a:pPr>
              <a:lnSpc>
                <a:spcPct val="130000"/>
              </a:lnSpc>
            </a:pPr>
            <a:r>
              <a:rPr lang="en-US" sz="1333" b="1" dirty="0">
                <a:solidFill>
                  <a:srgbClr val="F7FAFC"/>
                </a:solidFill>
                <a:latin typeface="MiSans" pitchFamily="34" charset="0"/>
                <a:ea typeface="MiSans" pitchFamily="34" charset="-122"/>
                <a:cs typeface="MiSans" pitchFamily="34" charset="-120"/>
              </a:rPr>
              <a:t>数据质量</a:t>
            </a:r>
            <a:endParaRPr lang="en-US" sz="1600" dirty="0"/>
          </a:p>
        </p:txBody>
      </p:sp>
      <p:sp>
        <p:nvSpPr>
          <p:cNvPr id="59" name="Text 57"/>
          <p:cNvSpPr/>
          <p:nvPr/>
        </p:nvSpPr>
        <p:spPr>
          <a:xfrm>
            <a:off x="11430000" y="3132667"/>
            <a:ext cx="1746250"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严格建模,高质量监管报表</a:t>
            </a:r>
            <a:endParaRPr lang="en-US" sz="1600" dirty="0"/>
          </a:p>
        </p:txBody>
      </p:sp>
      <p:sp>
        <p:nvSpPr>
          <p:cNvPr id="60" name="Shape 58"/>
          <p:cNvSpPr/>
          <p:nvPr/>
        </p:nvSpPr>
        <p:spPr>
          <a:xfrm>
            <a:off x="11112500" y="3513667"/>
            <a:ext cx="169333" cy="169333"/>
          </a:xfrm>
          <a:custGeom>
            <a:avLst/>
            <a:gdLst/>
            <a:ahLst/>
            <a:cxnLst/>
            <a:rect l="l" t="t" r="r" b="b"/>
            <a:pathLst>
              <a:path w="169333" h="169333">
                <a:moveTo>
                  <a:pt x="84667" y="169333"/>
                </a:moveTo>
                <a:cubicBezTo>
                  <a:pt x="131395" y="169333"/>
                  <a:pt x="169333" y="131395"/>
                  <a:pt x="169333" y="84667"/>
                </a:cubicBezTo>
                <a:cubicBezTo>
                  <a:pt x="169333" y="37938"/>
                  <a:pt x="131395" y="0"/>
                  <a:pt x="84667" y="0"/>
                </a:cubicBezTo>
                <a:cubicBezTo>
                  <a:pt x="37938" y="0"/>
                  <a:pt x="0" y="37938"/>
                  <a:pt x="0" y="84667"/>
                </a:cubicBezTo>
                <a:cubicBezTo>
                  <a:pt x="0" y="131395"/>
                  <a:pt x="37938" y="169333"/>
                  <a:pt x="84667" y="169333"/>
                </a:cubicBezTo>
                <a:close/>
                <a:moveTo>
                  <a:pt x="112580" y="70346"/>
                </a:moveTo>
                <a:lnTo>
                  <a:pt x="86122" y="112679"/>
                </a:lnTo>
                <a:cubicBezTo>
                  <a:pt x="84733" y="114895"/>
                  <a:pt x="82352" y="116284"/>
                  <a:pt x="79739" y="116417"/>
                </a:cubicBezTo>
                <a:cubicBezTo>
                  <a:pt x="77126" y="116549"/>
                  <a:pt x="74612" y="115358"/>
                  <a:pt x="73058" y="113242"/>
                </a:cubicBezTo>
                <a:lnTo>
                  <a:pt x="57183" y="92075"/>
                </a:lnTo>
                <a:cubicBezTo>
                  <a:pt x="54537" y="88569"/>
                  <a:pt x="55265" y="83608"/>
                  <a:pt x="58771" y="80963"/>
                </a:cubicBezTo>
                <a:cubicBezTo>
                  <a:pt x="62276" y="78317"/>
                  <a:pt x="67237" y="79044"/>
                  <a:pt x="69883" y="82550"/>
                </a:cubicBezTo>
                <a:lnTo>
                  <a:pt x="78813" y="94456"/>
                </a:lnTo>
                <a:lnTo>
                  <a:pt x="99120" y="61946"/>
                </a:lnTo>
                <a:cubicBezTo>
                  <a:pt x="101435" y="58241"/>
                  <a:pt x="106329" y="57084"/>
                  <a:pt x="110067" y="59432"/>
                </a:cubicBezTo>
                <a:cubicBezTo>
                  <a:pt x="113804" y="61780"/>
                  <a:pt x="114928" y="66642"/>
                  <a:pt x="112580" y="70379"/>
                </a:cubicBezTo>
                <a:close/>
              </a:path>
            </a:pathLst>
          </a:custGeom>
          <a:solidFill>
            <a:srgbClr val="4FD1C5"/>
          </a:solidFill>
          <a:ln/>
        </p:spPr>
        <p:txBody>
          <a:bodyPr/>
          <a:lstStyle/>
          <a:p>
            <a:endParaRPr lang="zh-CN" altLang="en-US"/>
          </a:p>
        </p:txBody>
      </p:sp>
      <p:sp>
        <p:nvSpPr>
          <p:cNvPr id="61" name="Text 59"/>
          <p:cNvSpPr/>
          <p:nvPr/>
        </p:nvSpPr>
        <p:spPr>
          <a:xfrm>
            <a:off x="11430000" y="3471333"/>
            <a:ext cx="1905000" cy="254000"/>
          </a:xfrm>
          <a:prstGeom prst="rect">
            <a:avLst/>
          </a:prstGeom>
          <a:noFill/>
          <a:ln/>
        </p:spPr>
        <p:txBody>
          <a:bodyPr wrap="square" lIns="0" tIns="0" rIns="0" bIns="0" rtlCol="0" anchor="ctr"/>
          <a:lstStyle/>
          <a:p>
            <a:pPr>
              <a:lnSpc>
                <a:spcPct val="130000"/>
              </a:lnSpc>
            </a:pPr>
            <a:r>
              <a:rPr lang="en-US" sz="1333" b="1" dirty="0">
                <a:solidFill>
                  <a:srgbClr val="F7FAFC"/>
                </a:solidFill>
                <a:latin typeface="MiSans" pitchFamily="34" charset="0"/>
                <a:ea typeface="MiSans" pitchFamily="34" charset="-122"/>
                <a:cs typeface="MiSans" pitchFamily="34" charset="-120"/>
              </a:rPr>
              <a:t>稳定可靠</a:t>
            </a:r>
            <a:endParaRPr lang="en-US" sz="1600" dirty="0"/>
          </a:p>
        </p:txBody>
      </p:sp>
      <p:sp>
        <p:nvSpPr>
          <p:cNvPr id="62" name="Text 60"/>
          <p:cNvSpPr/>
          <p:nvPr/>
        </p:nvSpPr>
        <p:spPr>
          <a:xfrm>
            <a:off x="11430000" y="3725333"/>
            <a:ext cx="1894417" cy="211667"/>
          </a:xfrm>
          <a:prstGeom prst="rect">
            <a:avLst/>
          </a:prstGeom>
          <a:noFill/>
          <a:ln/>
        </p:spPr>
        <p:txBody>
          <a:bodyPr wrap="square" lIns="0" tIns="0" rIns="0" bIns="0" rtlCol="0" anchor="ctr"/>
          <a:lstStyle/>
          <a:p>
            <a:pPr>
              <a:lnSpc>
                <a:spcPct val="120000"/>
              </a:lnSpc>
            </a:pPr>
            <a:r>
              <a:rPr lang="en-US" sz="1167" dirty="0">
                <a:solidFill>
                  <a:srgbClr val="A0AEC0"/>
                </a:solidFill>
                <a:latin typeface="MiSans" pitchFamily="34" charset="0"/>
                <a:ea typeface="MiSans" pitchFamily="34" charset="-122"/>
                <a:cs typeface="MiSans" pitchFamily="34" charset="-120"/>
              </a:rPr>
              <a:t>日终批处理,保障数据完整性</a:t>
            </a:r>
            <a:endParaRPr lang="en-US" sz="1600" dirty="0"/>
          </a:p>
        </p:txBody>
      </p:sp>
      <p:sp>
        <p:nvSpPr>
          <p:cNvPr id="63" name="Shape 61"/>
          <p:cNvSpPr/>
          <p:nvPr/>
        </p:nvSpPr>
        <p:spPr>
          <a:xfrm>
            <a:off x="10837333" y="4318000"/>
            <a:ext cx="4995333" cy="1693333"/>
          </a:xfrm>
          <a:custGeom>
            <a:avLst/>
            <a:gdLst/>
            <a:ahLst/>
            <a:cxnLst/>
            <a:rect l="l" t="t" r="r" b="b"/>
            <a:pathLst>
              <a:path w="4995333" h="1693333">
                <a:moveTo>
                  <a:pt x="84667" y="0"/>
                </a:moveTo>
                <a:lnTo>
                  <a:pt x="4910667" y="0"/>
                </a:lnTo>
                <a:cubicBezTo>
                  <a:pt x="4957427" y="0"/>
                  <a:pt x="4995333" y="37907"/>
                  <a:pt x="4995333" y="84667"/>
                </a:cubicBezTo>
                <a:lnTo>
                  <a:pt x="4995333" y="1608667"/>
                </a:lnTo>
                <a:cubicBezTo>
                  <a:pt x="4995333" y="1655427"/>
                  <a:pt x="4957427" y="1693333"/>
                  <a:pt x="4910667" y="1693333"/>
                </a:cubicBezTo>
                <a:lnTo>
                  <a:pt x="84667" y="1693333"/>
                </a:lnTo>
                <a:cubicBezTo>
                  <a:pt x="37907" y="1693333"/>
                  <a:pt x="0" y="1655427"/>
                  <a:pt x="0" y="1608667"/>
                </a:cubicBezTo>
                <a:lnTo>
                  <a:pt x="0" y="84667"/>
                </a:lnTo>
                <a:cubicBezTo>
                  <a:pt x="0" y="37907"/>
                  <a:pt x="37907" y="0"/>
                  <a:pt x="84667" y="0"/>
                </a:cubicBezTo>
                <a:close/>
              </a:path>
            </a:pathLst>
          </a:custGeom>
          <a:solidFill>
            <a:srgbClr val="4A5568">
              <a:alpha val="30196"/>
            </a:srgbClr>
          </a:solidFill>
          <a:ln/>
        </p:spPr>
        <p:txBody>
          <a:bodyPr/>
          <a:lstStyle/>
          <a:p>
            <a:endParaRPr lang="zh-CN" altLang="en-US"/>
          </a:p>
        </p:txBody>
      </p:sp>
      <p:sp>
        <p:nvSpPr>
          <p:cNvPr id="64" name="Text 62"/>
          <p:cNvSpPr/>
          <p:nvPr/>
        </p:nvSpPr>
        <p:spPr>
          <a:xfrm>
            <a:off x="11049000" y="4529667"/>
            <a:ext cx="4667250" cy="296333"/>
          </a:xfrm>
          <a:prstGeom prst="rect">
            <a:avLst/>
          </a:prstGeom>
          <a:noFill/>
          <a:ln/>
        </p:spPr>
        <p:txBody>
          <a:bodyPr wrap="square" lIns="0" tIns="0" rIns="0" bIns="0" rtlCol="0" anchor="ctr"/>
          <a:lstStyle/>
          <a:p>
            <a:pPr>
              <a:lnSpc>
                <a:spcPct val="130000"/>
              </a:lnSpc>
            </a:pPr>
            <a:r>
              <a:rPr lang="en-US" sz="1500" b="1" dirty="0">
                <a:solidFill>
                  <a:srgbClr val="F7FAFC"/>
                </a:solidFill>
                <a:latin typeface="MiSans" pitchFamily="34" charset="0"/>
                <a:ea typeface="MiSans" pitchFamily="34" charset="-122"/>
                <a:cs typeface="MiSans" pitchFamily="34" charset="-120"/>
              </a:rPr>
              <a:t>面临挑战</a:t>
            </a:r>
            <a:endParaRPr lang="en-US" sz="1600" dirty="0"/>
          </a:p>
        </p:txBody>
      </p:sp>
      <p:sp>
        <p:nvSpPr>
          <p:cNvPr id="65" name="Shape 63"/>
          <p:cNvSpPr/>
          <p:nvPr/>
        </p:nvSpPr>
        <p:spPr>
          <a:xfrm>
            <a:off x="11070167" y="5016500"/>
            <a:ext cx="169333" cy="169333"/>
          </a:xfrm>
          <a:custGeom>
            <a:avLst/>
            <a:gdLst/>
            <a:ahLst/>
            <a:cxnLst/>
            <a:rect l="l" t="t" r="r" b="b"/>
            <a:pathLst>
              <a:path w="169333" h="169333">
                <a:moveTo>
                  <a:pt x="84667" y="0"/>
                </a:moveTo>
                <a:cubicBezTo>
                  <a:pt x="89528" y="0"/>
                  <a:pt x="93993" y="2679"/>
                  <a:pt x="96308" y="6945"/>
                </a:cubicBezTo>
                <a:lnTo>
                  <a:pt x="167746" y="139237"/>
                </a:lnTo>
                <a:cubicBezTo>
                  <a:pt x="169962" y="143338"/>
                  <a:pt x="169863" y="148299"/>
                  <a:pt x="167481" y="152301"/>
                </a:cubicBezTo>
                <a:cubicBezTo>
                  <a:pt x="165100" y="156303"/>
                  <a:pt x="160767" y="158750"/>
                  <a:pt x="156104" y="158750"/>
                </a:cubicBezTo>
                <a:lnTo>
                  <a:pt x="13229" y="158750"/>
                </a:lnTo>
                <a:cubicBezTo>
                  <a:pt x="8566" y="158750"/>
                  <a:pt x="4266" y="156303"/>
                  <a:pt x="1852" y="152301"/>
                </a:cubicBezTo>
                <a:cubicBezTo>
                  <a:pt x="-562" y="148299"/>
                  <a:pt x="-628" y="143338"/>
                  <a:pt x="1588" y="139237"/>
                </a:cubicBezTo>
                <a:lnTo>
                  <a:pt x="73025" y="6945"/>
                </a:lnTo>
                <a:cubicBezTo>
                  <a:pt x="75340" y="2679"/>
                  <a:pt x="79805" y="0"/>
                  <a:pt x="84667" y="0"/>
                </a:cubicBezTo>
                <a:close/>
                <a:moveTo>
                  <a:pt x="84667" y="55563"/>
                </a:moveTo>
                <a:cubicBezTo>
                  <a:pt x="80268" y="55563"/>
                  <a:pt x="76729" y="59101"/>
                  <a:pt x="76729" y="63500"/>
                </a:cubicBezTo>
                <a:lnTo>
                  <a:pt x="76729" y="100542"/>
                </a:lnTo>
                <a:cubicBezTo>
                  <a:pt x="76729" y="104940"/>
                  <a:pt x="80268" y="108479"/>
                  <a:pt x="84667" y="108479"/>
                </a:cubicBezTo>
                <a:cubicBezTo>
                  <a:pt x="89065" y="108479"/>
                  <a:pt x="92604" y="104940"/>
                  <a:pt x="92604" y="100542"/>
                </a:cubicBezTo>
                <a:lnTo>
                  <a:pt x="92604" y="63500"/>
                </a:lnTo>
                <a:cubicBezTo>
                  <a:pt x="92604" y="59101"/>
                  <a:pt x="89065" y="55563"/>
                  <a:pt x="84667" y="55563"/>
                </a:cubicBezTo>
                <a:close/>
                <a:moveTo>
                  <a:pt x="93497" y="127000"/>
                </a:moveTo>
                <a:cubicBezTo>
                  <a:pt x="93698" y="123722"/>
                  <a:pt x="92063" y="120604"/>
                  <a:pt x="89254" y="118904"/>
                </a:cubicBezTo>
                <a:cubicBezTo>
                  <a:pt x="86444" y="117204"/>
                  <a:pt x="82923" y="117204"/>
                  <a:pt x="80113" y="118904"/>
                </a:cubicBezTo>
                <a:cubicBezTo>
                  <a:pt x="77303" y="120604"/>
                  <a:pt x="75668" y="123722"/>
                  <a:pt x="75869" y="127000"/>
                </a:cubicBezTo>
                <a:cubicBezTo>
                  <a:pt x="75668" y="130278"/>
                  <a:pt x="77303" y="133396"/>
                  <a:pt x="80113" y="135096"/>
                </a:cubicBezTo>
                <a:cubicBezTo>
                  <a:pt x="82923" y="136796"/>
                  <a:pt x="86444" y="136796"/>
                  <a:pt x="89254" y="135096"/>
                </a:cubicBezTo>
                <a:cubicBezTo>
                  <a:pt x="92063" y="133396"/>
                  <a:pt x="93698" y="130278"/>
                  <a:pt x="93497" y="127000"/>
                </a:cubicBezTo>
                <a:close/>
              </a:path>
            </a:pathLst>
          </a:custGeom>
          <a:solidFill>
            <a:srgbClr val="4FD1C5"/>
          </a:solidFill>
          <a:ln/>
        </p:spPr>
        <p:txBody>
          <a:bodyPr/>
          <a:lstStyle/>
          <a:p>
            <a:endParaRPr lang="zh-CN" altLang="en-US"/>
          </a:p>
        </p:txBody>
      </p:sp>
      <p:sp>
        <p:nvSpPr>
          <p:cNvPr id="66" name="Text 64"/>
          <p:cNvSpPr/>
          <p:nvPr/>
        </p:nvSpPr>
        <p:spPr>
          <a:xfrm>
            <a:off x="11345333" y="4995333"/>
            <a:ext cx="2423583"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实时性不足:T+1难以支撑分钟级需求</a:t>
            </a:r>
            <a:endParaRPr lang="en-US" sz="1600" dirty="0"/>
          </a:p>
        </p:txBody>
      </p:sp>
      <p:sp>
        <p:nvSpPr>
          <p:cNvPr id="67" name="Shape 65"/>
          <p:cNvSpPr/>
          <p:nvPr/>
        </p:nvSpPr>
        <p:spPr>
          <a:xfrm>
            <a:off x="11070167" y="5312833"/>
            <a:ext cx="169333" cy="169333"/>
          </a:xfrm>
          <a:custGeom>
            <a:avLst/>
            <a:gdLst/>
            <a:ahLst/>
            <a:cxnLst/>
            <a:rect l="l" t="t" r="r" b="b"/>
            <a:pathLst>
              <a:path w="169333" h="169333">
                <a:moveTo>
                  <a:pt x="84667" y="0"/>
                </a:moveTo>
                <a:cubicBezTo>
                  <a:pt x="89528" y="0"/>
                  <a:pt x="93993" y="2679"/>
                  <a:pt x="96308" y="6945"/>
                </a:cubicBezTo>
                <a:lnTo>
                  <a:pt x="167746" y="139237"/>
                </a:lnTo>
                <a:cubicBezTo>
                  <a:pt x="169962" y="143338"/>
                  <a:pt x="169863" y="148299"/>
                  <a:pt x="167481" y="152301"/>
                </a:cubicBezTo>
                <a:cubicBezTo>
                  <a:pt x="165100" y="156303"/>
                  <a:pt x="160767" y="158750"/>
                  <a:pt x="156104" y="158750"/>
                </a:cubicBezTo>
                <a:lnTo>
                  <a:pt x="13229" y="158750"/>
                </a:lnTo>
                <a:cubicBezTo>
                  <a:pt x="8566" y="158750"/>
                  <a:pt x="4266" y="156303"/>
                  <a:pt x="1852" y="152301"/>
                </a:cubicBezTo>
                <a:cubicBezTo>
                  <a:pt x="-562" y="148299"/>
                  <a:pt x="-628" y="143338"/>
                  <a:pt x="1588" y="139237"/>
                </a:cubicBezTo>
                <a:lnTo>
                  <a:pt x="73025" y="6945"/>
                </a:lnTo>
                <a:cubicBezTo>
                  <a:pt x="75340" y="2679"/>
                  <a:pt x="79805" y="0"/>
                  <a:pt x="84667" y="0"/>
                </a:cubicBezTo>
                <a:close/>
                <a:moveTo>
                  <a:pt x="84667" y="55563"/>
                </a:moveTo>
                <a:cubicBezTo>
                  <a:pt x="80268" y="55563"/>
                  <a:pt x="76729" y="59101"/>
                  <a:pt x="76729" y="63500"/>
                </a:cubicBezTo>
                <a:lnTo>
                  <a:pt x="76729" y="100542"/>
                </a:lnTo>
                <a:cubicBezTo>
                  <a:pt x="76729" y="104940"/>
                  <a:pt x="80268" y="108479"/>
                  <a:pt x="84667" y="108479"/>
                </a:cubicBezTo>
                <a:cubicBezTo>
                  <a:pt x="89065" y="108479"/>
                  <a:pt x="92604" y="104940"/>
                  <a:pt x="92604" y="100542"/>
                </a:cubicBezTo>
                <a:lnTo>
                  <a:pt x="92604" y="63500"/>
                </a:lnTo>
                <a:cubicBezTo>
                  <a:pt x="92604" y="59101"/>
                  <a:pt x="89065" y="55563"/>
                  <a:pt x="84667" y="55563"/>
                </a:cubicBezTo>
                <a:close/>
                <a:moveTo>
                  <a:pt x="93497" y="127000"/>
                </a:moveTo>
                <a:cubicBezTo>
                  <a:pt x="93698" y="123722"/>
                  <a:pt x="92063" y="120604"/>
                  <a:pt x="89254" y="118904"/>
                </a:cubicBezTo>
                <a:cubicBezTo>
                  <a:pt x="86444" y="117204"/>
                  <a:pt x="82923" y="117204"/>
                  <a:pt x="80113" y="118904"/>
                </a:cubicBezTo>
                <a:cubicBezTo>
                  <a:pt x="77303" y="120604"/>
                  <a:pt x="75668" y="123722"/>
                  <a:pt x="75869" y="127000"/>
                </a:cubicBezTo>
                <a:cubicBezTo>
                  <a:pt x="75668" y="130278"/>
                  <a:pt x="77303" y="133396"/>
                  <a:pt x="80113" y="135096"/>
                </a:cubicBezTo>
                <a:cubicBezTo>
                  <a:pt x="82923" y="136796"/>
                  <a:pt x="86444" y="136796"/>
                  <a:pt x="89254" y="135096"/>
                </a:cubicBezTo>
                <a:cubicBezTo>
                  <a:pt x="92063" y="133396"/>
                  <a:pt x="93698" y="130278"/>
                  <a:pt x="93497" y="127000"/>
                </a:cubicBezTo>
                <a:close/>
              </a:path>
            </a:pathLst>
          </a:custGeom>
          <a:solidFill>
            <a:srgbClr val="4FD1C5"/>
          </a:solidFill>
          <a:ln/>
        </p:spPr>
        <p:txBody>
          <a:bodyPr/>
          <a:lstStyle/>
          <a:p>
            <a:endParaRPr lang="zh-CN" altLang="en-US"/>
          </a:p>
        </p:txBody>
      </p:sp>
      <p:sp>
        <p:nvSpPr>
          <p:cNvPr id="68" name="Text 66"/>
          <p:cNvSpPr/>
          <p:nvPr/>
        </p:nvSpPr>
        <p:spPr>
          <a:xfrm>
            <a:off x="11345333" y="5291667"/>
            <a:ext cx="2984500"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数据类型有限:半结构化/非结构化数据支持弱</a:t>
            </a:r>
            <a:endParaRPr lang="en-US" sz="1600" dirty="0"/>
          </a:p>
        </p:txBody>
      </p:sp>
      <p:sp>
        <p:nvSpPr>
          <p:cNvPr id="69" name="Shape 67"/>
          <p:cNvSpPr/>
          <p:nvPr/>
        </p:nvSpPr>
        <p:spPr>
          <a:xfrm>
            <a:off x="11070167" y="5609167"/>
            <a:ext cx="169333" cy="169333"/>
          </a:xfrm>
          <a:custGeom>
            <a:avLst/>
            <a:gdLst/>
            <a:ahLst/>
            <a:cxnLst/>
            <a:rect l="l" t="t" r="r" b="b"/>
            <a:pathLst>
              <a:path w="169333" h="169333">
                <a:moveTo>
                  <a:pt x="84667" y="0"/>
                </a:moveTo>
                <a:cubicBezTo>
                  <a:pt x="89528" y="0"/>
                  <a:pt x="93993" y="2679"/>
                  <a:pt x="96308" y="6945"/>
                </a:cubicBezTo>
                <a:lnTo>
                  <a:pt x="167746" y="139237"/>
                </a:lnTo>
                <a:cubicBezTo>
                  <a:pt x="169962" y="143338"/>
                  <a:pt x="169863" y="148299"/>
                  <a:pt x="167481" y="152301"/>
                </a:cubicBezTo>
                <a:cubicBezTo>
                  <a:pt x="165100" y="156303"/>
                  <a:pt x="160767" y="158750"/>
                  <a:pt x="156104" y="158750"/>
                </a:cubicBezTo>
                <a:lnTo>
                  <a:pt x="13229" y="158750"/>
                </a:lnTo>
                <a:cubicBezTo>
                  <a:pt x="8566" y="158750"/>
                  <a:pt x="4266" y="156303"/>
                  <a:pt x="1852" y="152301"/>
                </a:cubicBezTo>
                <a:cubicBezTo>
                  <a:pt x="-562" y="148299"/>
                  <a:pt x="-628" y="143338"/>
                  <a:pt x="1588" y="139237"/>
                </a:cubicBezTo>
                <a:lnTo>
                  <a:pt x="73025" y="6945"/>
                </a:lnTo>
                <a:cubicBezTo>
                  <a:pt x="75340" y="2679"/>
                  <a:pt x="79805" y="0"/>
                  <a:pt x="84667" y="0"/>
                </a:cubicBezTo>
                <a:close/>
                <a:moveTo>
                  <a:pt x="84667" y="55563"/>
                </a:moveTo>
                <a:cubicBezTo>
                  <a:pt x="80268" y="55563"/>
                  <a:pt x="76729" y="59101"/>
                  <a:pt x="76729" y="63500"/>
                </a:cubicBezTo>
                <a:lnTo>
                  <a:pt x="76729" y="100542"/>
                </a:lnTo>
                <a:cubicBezTo>
                  <a:pt x="76729" y="104940"/>
                  <a:pt x="80268" y="108479"/>
                  <a:pt x="84667" y="108479"/>
                </a:cubicBezTo>
                <a:cubicBezTo>
                  <a:pt x="89065" y="108479"/>
                  <a:pt x="92604" y="104940"/>
                  <a:pt x="92604" y="100542"/>
                </a:cubicBezTo>
                <a:lnTo>
                  <a:pt x="92604" y="63500"/>
                </a:lnTo>
                <a:cubicBezTo>
                  <a:pt x="92604" y="59101"/>
                  <a:pt x="89065" y="55563"/>
                  <a:pt x="84667" y="55563"/>
                </a:cubicBezTo>
                <a:close/>
                <a:moveTo>
                  <a:pt x="93497" y="127000"/>
                </a:moveTo>
                <a:cubicBezTo>
                  <a:pt x="93698" y="123722"/>
                  <a:pt x="92063" y="120604"/>
                  <a:pt x="89254" y="118904"/>
                </a:cubicBezTo>
                <a:cubicBezTo>
                  <a:pt x="86444" y="117204"/>
                  <a:pt x="82923" y="117204"/>
                  <a:pt x="80113" y="118904"/>
                </a:cubicBezTo>
                <a:cubicBezTo>
                  <a:pt x="77303" y="120604"/>
                  <a:pt x="75668" y="123722"/>
                  <a:pt x="75869" y="127000"/>
                </a:cubicBezTo>
                <a:cubicBezTo>
                  <a:pt x="75668" y="130278"/>
                  <a:pt x="77303" y="133396"/>
                  <a:pt x="80113" y="135096"/>
                </a:cubicBezTo>
                <a:cubicBezTo>
                  <a:pt x="82923" y="136796"/>
                  <a:pt x="86444" y="136796"/>
                  <a:pt x="89254" y="135096"/>
                </a:cubicBezTo>
                <a:cubicBezTo>
                  <a:pt x="92063" y="133396"/>
                  <a:pt x="93698" y="130278"/>
                  <a:pt x="93497" y="127000"/>
                </a:cubicBezTo>
                <a:close/>
              </a:path>
            </a:pathLst>
          </a:custGeom>
          <a:solidFill>
            <a:srgbClr val="4FD1C5"/>
          </a:solidFill>
          <a:ln/>
        </p:spPr>
        <p:txBody>
          <a:bodyPr/>
          <a:lstStyle/>
          <a:p>
            <a:endParaRPr lang="zh-CN" altLang="en-US"/>
          </a:p>
        </p:txBody>
      </p:sp>
      <p:sp>
        <p:nvSpPr>
          <p:cNvPr id="70" name="Text 68"/>
          <p:cNvSpPr/>
          <p:nvPr/>
        </p:nvSpPr>
        <p:spPr>
          <a:xfrm>
            <a:off x="11345333" y="5588000"/>
            <a:ext cx="2328333" cy="211667"/>
          </a:xfrm>
          <a:prstGeom prst="rect">
            <a:avLst/>
          </a:prstGeom>
          <a:noFill/>
          <a:ln/>
        </p:spPr>
        <p:txBody>
          <a:bodyPr wrap="square" lIns="0" tIns="0" rIns="0" bIns="0" rtlCol="0" anchor="ctr"/>
          <a:lstStyle/>
          <a:p>
            <a:pPr>
              <a:lnSpc>
                <a:spcPct val="120000"/>
              </a:lnSpc>
            </a:pPr>
            <a:r>
              <a:rPr lang="en-US" sz="1167" dirty="0">
                <a:solidFill>
                  <a:srgbClr val="F7FAFC"/>
                </a:solidFill>
                <a:latin typeface="MiSans" pitchFamily="34" charset="0"/>
                <a:ea typeface="MiSans" pitchFamily="34" charset="-122"/>
                <a:cs typeface="MiSans" pitchFamily="34" charset="-120"/>
              </a:rPr>
              <a:t>成本压力:历史数据长期存储成本高</a:t>
            </a:r>
            <a:endParaRPr lang="en-US" sz="1600" dirty="0"/>
          </a:p>
        </p:txBody>
      </p:sp>
      <p:sp>
        <p:nvSpPr>
          <p:cNvPr id="71" name="Shape 69"/>
          <p:cNvSpPr/>
          <p:nvPr/>
        </p:nvSpPr>
        <p:spPr>
          <a:xfrm>
            <a:off x="10837333" y="6180667"/>
            <a:ext cx="4995333" cy="973667"/>
          </a:xfrm>
          <a:custGeom>
            <a:avLst/>
            <a:gdLst/>
            <a:ahLst/>
            <a:cxnLst/>
            <a:rect l="l" t="t" r="r" b="b"/>
            <a:pathLst>
              <a:path w="4995333" h="973667">
                <a:moveTo>
                  <a:pt x="84670" y="0"/>
                </a:moveTo>
                <a:lnTo>
                  <a:pt x="4910663" y="0"/>
                </a:lnTo>
                <a:cubicBezTo>
                  <a:pt x="4957425" y="0"/>
                  <a:pt x="4995333" y="37908"/>
                  <a:pt x="4995333" y="84670"/>
                </a:cubicBezTo>
                <a:lnTo>
                  <a:pt x="4995333" y="888997"/>
                </a:lnTo>
                <a:cubicBezTo>
                  <a:pt x="4995333" y="935759"/>
                  <a:pt x="4957425" y="973667"/>
                  <a:pt x="4910663" y="973667"/>
                </a:cubicBezTo>
                <a:lnTo>
                  <a:pt x="84670" y="973667"/>
                </a:lnTo>
                <a:cubicBezTo>
                  <a:pt x="37908" y="973667"/>
                  <a:pt x="0" y="935759"/>
                  <a:pt x="0" y="888997"/>
                </a:cubicBezTo>
                <a:lnTo>
                  <a:pt x="0" y="84670"/>
                </a:lnTo>
                <a:cubicBezTo>
                  <a:pt x="0" y="37939"/>
                  <a:pt x="37939" y="0"/>
                  <a:pt x="84670" y="0"/>
                </a:cubicBezTo>
                <a:close/>
              </a:path>
            </a:pathLst>
          </a:custGeom>
          <a:solidFill>
            <a:srgbClr val="4FD1C5">
              <a:alpha val="10196"/>
            </a:srgbClr>
          </a:solidFill>
          <a:ln/>
        </p:spPr>
        <p:txBody>
          <a:bodyPr/>
          <a:lstStyle/>
          <a:p>
            <a:endParaRPr lang="zh-CN" altLang="en-US"/>
          </a:p>
        </p:txBody>
      </p:sp>
      <p:sp>
        <p:nvSpPr>
          <p:cNvPr id="72" name="Text 70"/>
          <p:cNvSpPr/>
          <p:nvPr/>
        </p:nvSpPr>
        <p:spPr>
          <a:xfrm>
            <a:off x="10927292" y="6350000"/>
            <a:ext cx="4815417" cy="381000"/>
          </a:xfrm>
          <a:prstGeom prst="rect">
            <a:avLst/>
          </a:prstGeom>
          <a:noFill/>
          <a:ln/>
        </p:spPr>
        <p:txBody>
          <a:bodyPr wrap="square" lIns="0" tIns="0" rIns="0" bIns="0" rtlCol="0" anchor="ctr"/>
          <a:lstStyle/>
          <a:p>
            <a:pPr algn="ctr">
              <a:lnSpc>
                <a:spcPct val="100000"/>
              </a:lnSpc>
            </a:pPr>
            <a:r>
              <a:rPr lang="en-US" sz="2500" b="1" dirty="0">
                <a:solidFill>
                  <a:srgbClr val="4FD1C5"/>
                </a:solidFill>
                <a:latin typeface="MiSans" pitchFamily="34" charset="0"/>
                <a:ea typeface="MiSans" pitchFamily="34" charset="-122"/>
                <a:cs typeface="MiSans" pitchFamily="34" charset="-120"/>
              </a:rPr>
              <a:t>4-6小时</a:t>
            </a:r>
            <a:endParaRPr lang="en-US" sz="1600" dirty="0"/>
          </a:p>
        </p:txBody>
      </p:sp>
      <p:sp>
        <p:nvSpPr>
          <p:cNvPr id="73" name="Text 71"/>
          <p:cNvSpPr/>
          <p:nvPr/>
        </p:nvSpPr>
        <p:spPr>
          <a:xfrm>
            <a:off x="10969625" y="6773333"/>
            <a:ext cx="4730750" cy="211667"/>
          </a:xfrm>
          <a:prstGeom prst="rect">
            <a:avLst/>
          </a:prstGeom>
          <a:noFill/>
          <a:ln/>
        </p:spPr>
        <p:txBody>
          <a:bodyPr wrap="square" lIns="0" tIns="0" rIns="0" bIns="0" rtlCol="0" anchor="ctr"/>
          <a:lstStyle/>
          <a:p>
            <a:pPr algn="ctr">
              <a:lnSpc>
                <a:spcPct val="120000"/>
              </a:lnSpc>
            </a:pPr>
            <a:r>
              <a:rPr lang="en-US" sz="1167" dirty="0">
                <a:solidFill>
                  <a:srgbClr val="A0AEC0"/>
                </a:solidFill>
                <a:latin typeface="MiSans" pitchFamily="34" charset="0"/>
                <a:ea typeface="MiSans" pitchFamily="34" charset="-122"/>
                <a:cs typeface="MiSans" pitchFamily="34" charset="-120"/>
              </a:rPr>
              <a:t>日终批处理时间窗</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3086100" cy="304800"/>
          </a:xfrm>
          <a:prstGeom prst="rect">
            <a:avLst/>
          </a:prstGeom>
          <a:noFill/>
          <a:ln/>
        </p:spPr>
        <p:txBody>
          <a:bodyPr wrap="square" lIns="0" tIns="0" rIns="0" bIns="0" rtlCol="0" anchor="ctr"/>
          <a:lstStyle/>
          <a:p>
            <a:pPr>
              <a:lnSpc>
                <a:spcPct val="130000"/>
              </a:lnSpc>
            </a:pPr>
            <a:r>
              <a:rPr lang="en-US" sz="1600" b="1" kern="0" spc="80" dirty="0">
                <a:solidFill>
                  <a:srgbClr val="4FD1C5"/>
                </a:solidFill>
                <a:latin typeface="MiSans" pitchFamily="34" charset="0"/>
                <a:ea typeface="MiSans" pitchFamily="34" charset="-122"/>
                <a:cs typeface="MiSans" pitchFamily="34" charset="-120"/>
              </a:rPr>
              <a:t>TYPICAL APPLICATION CASE</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F7FAFC"/>
                </a:solidFill>
                <a:latin typeface="Noto Sans SC" pitchFamily="34" charset="0"/>
                <a:ea typeface="Noto Sans SC" pitchFamily="34" charset="-122"/>
                <a:cs typeface="Noto Sans SC" pitchFamily="34" charset="-120"/>
              </a:rPr>
              <a:t>数据湖阶段：统一存储与"数据沼泽"化</a:t>
            </a:r>
            <a:endParaRPr lang="en-US" sz="1600" dirty="0"/>
          </a:p>
        </p:txBody>
      </p:sp>
      <p:sp>
        <p:nvSpPr>
          <p:cNvPr id="4" name="Shape 2"/>
          <p:cNvSpPr/>
          <p:nvPr/>
        </p:nvSpPr>
        <p:spPr>
          <a:xfrm>
            <a:off x="508000" y="15748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4FD1C5"/>
          </a:solidFill>
          <a:ln/>
        </p:spPr>
        <p:txBody>
          <a:bodyPr/>
          <a:lstStyle/>
          <a:p>
            <a:endParaRPr lang="zh-CN" altLang="en-US"/>
          </a:p>
        </p:txBody>
      </p:sp>
      <p:sp>
        <p:nvSpPr>
          <p:cNvPr id="5" name="Shape 3"/>
          <p:cNvSpPr/>
          <p:nvPr/>
        </p:nvSpPr>
        <p:spPr>
          <a:xfrm>
            <a:off x="533400" y="1879600"/>
            <a:ext cx="9017000" cy="2108200"/>
          </a:xfrm>
          <a:custGeom>
            <a:avLst/>
            <a:gdLst/>
            <a:ahLst/>
            <a:cxnLst/>
            <a:rect l="l" t="t" r="r" b="b"/>
            <a:pathLst>
              <a:path w="9017000" h="2108200">
                <a:moveTo>
                  <a:pt x="50800" y="0"/>
                </a:moveTo>
                <a:lnTo>
                  <a:pt x="8915406" y="0"/>
                </a:lnTo>
                <a:cubicBezTo>
                  <a:pt x="8971515" y="0"/>
                  <a:pt x="9017000" y="45485"/>
                  <a:pt x="9017000" y="101594"/>
                </a:cubicBezTo>
                <a:lnTo>
                  <a:pt x="9017000" y="2006606"/>
                </a:lnTo>
                <a:cubicBezTo>
                  <a:pt x="9017000" y="2062715"/>
                  <a:pt x="8971515" y="2108200"/>
                  <a:pt x="8915406" y="2108200"/>
                </a:cubicBezTo>
                <a:lnTo>
                  <a:pt x="50800" y="2108200"/>
                </a:lnTo>
                <a:cubicBezTo>
                  <a:pt x="22744" y="2108200"/>
                  <a:pt x="0" y="2085456"/>
                  <a:pt x="0" y="20574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6" name="Shape 4"/>
          <p:cNvSpPr/>
          <p:nvPr/>
        </p:nvSpPr>
        <p:spPr>
          <a:xfrm>
            <a:off x="533400" y="1879600"/>
            <a:ext cx="50800" cy="2108200"/>
          </a:xfrm>
          <a:custGeom>
            <a:avLst/>
            <a:gdLst/>
            <a:ahLst/>
            <a:cxnLst/>
            <a:rect l="l" t="t" r="r" b="b"/>
            <a:pathLst>
              <a:path w="50800" h="2108200">
                <a:moveTo>
                  <a:pt x="50800" y="0"/>
                </a:moveTo>
                <a:lnTo>
                  <a:pt x="50800" y="0"/>
                </a:lnTo>
                <a:lnTo>
                  <a:pt x="50800" y="2108200"/>
                </a:lnTo>
                <a:lnTo>
                  <a:pt x="50800" y="2108200"/>
                </a:lnTo>
                <a:cubicBezTo>
                  <a:pt x="22763" y="2108200"/>
                  <a:pt x="0" y="2085437"/>
                  <a:pt x="0" y="20574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7" name="Text 5"/>
          <p:cNvSpPr/>
          <p:nvPr/>
        </p:nvSpPr>
        <p:spPr>
          <a:xfrm>
            <a:off x="812800" y="2133600"/>
            <a:ext cx="8610600" cy="355600"/>
          </a:xfrm>
          <a:prstGeom prst="rect">
            <a:avLst/>
          </a:prstGeom>
          <a:noFill/>
          <a:ln/>
        </p:spPr>
        <p:txBody>
          <a:bodyPr wrap="square" lIns="0" tIns="0" rIns="0" bIns="0" rtlCol="0" anchor="ctr"/>
          <a:lstStyle/>
          <a:p>
            <a:pPr>
              <a:lnSpc>
                <a:spcPct val="120000"/>
              </a:lnSpc>
            </a:pPr>
            <a:r>
              <a:rPr lang="en-US" sz="2000" b="1" dirty="0">
                <a:solidFill>
                  <a:srgbClr val="F7FAFC"/>
                </a:solidFill>
                <a:latin typeface="Noto Sans SC" pitchFamily="34" charset="0"/>
                <a:ea typeface="Noto Sans SC" pitchFamily="34" charset="-122"/>
                <a:cs typeface="Noto Sans SC" pitchFamily="34" charset="-120"/>
              </a:rPr>
              <a:t>数据湖建设目标</a:t>
            </a:r>
            <a:endParaRPr lang="en-US" sz="1600" dirty="0"/>
          </a:p>
        </p:txBody>
      </p:sp>
      <p:sp>
        <p:nvSpPr>
          <p:cNvPr id="8" name="Shape 6"/>
          <p:cNvSpPr/>
          <p:nvPr/>
        </p:nvSpPr>
        <p:spPr>
          <a:xfrm>
            <a:off x="2012355" y="2641600"/>
            <a:ext cx="333375" cy="381000"/>
          </a:xfrm>
          <a:custGeom>
            <a:avLst/>
            <a:gdLst/>
            <a:ahLst/>
            <a:cxnLst/>
            <a:rect l="l" t="t" r="r" b="b"/>
            <a:pathLst>
              <a:path w="333375" h="381000">
                <a:moveTo>
                  <a:pt x="47625" y="23812"/>
                </a:moveTo>
                <a:cubicBezTo>
                  <a:pt x="21357" y="23812"/>
                  <a:pt x="0" y="45169"/>
                  <a:pt x="0" y="71438"/>
                </a:cubicBezTo>
                <a:lnTo>
                  <a:pt x="0" y="193551"/>
                </a:lnTo>
                <a:cubicBezTo>
                  <a:pt x="13469" y="184100"/>
                  <a:pt x="29914" y="178594"/>
                  <a:pt x="47625" y="178594"/>
                </a:cubicBezTo>
                <a:lnTo>
                  <a:pt x="285750" y="178594"/>
                </a:lnTo>
                <a:cubicBezTo>
                  <a:pt x="303461" y="178594"/>
                  <a:pt x="319906" y="184100"/>
                  <a:pt x="333375" y="193551"/>
                </a:cubicBezTo>
                <a:lnTo>
                  <a:pt x="333375" y="71438"/>
                </a:lnTo>
                <a:cubicBezTo>
                  <a:pt x="333375" y="45169"/>
                  <a:pt x="312018" y="23812"/>
                  <a:pt x="285750" y="23812"/>
                </a:cubicBezTo>
                <a:lnTo>
                  <a:pt x="47625" y="23812"/>
                </a:lnTo>
                <a:close/>
                <a:moveTo>
                  <a:pt x="333375" y="261938"/>
                </a:moveTo>
                <a:cubicBezTo>
                  <a:pt x="333375" y="235669"/>
                  <a:pt x="312018" y="214313"/>
                  <a:pt x="285750" y="214313"/>
                </a:cubicBezTo>
                <a:lnTo>
                  <a:pt x="47625" y="214313"/>
                </a:lnTo>
                <a:cubicBezTo>
                  <a:pt x="21357" y="214313"/>
                  <a:pt x="0" y="235669"/>
                  <a:pt x="0" y="261938"/>
                </a:cubicBezTo>
                <a:lnTo>
                  <a:pt x="0" y="309563"/>
                </a:lnTo>
                <a:cubicBezTo>
                  <a:pt x="0" y="335831"/>
                  <a:pt x="21357" y="357188"/>
                  <a:pt x="47625" y="357188"/>
                </a:cubicBezTo>
                <a:lnTo>
                  <a:pt x="285750" y="357188"/>
                </a:lnTo>
                <a:cubicBezTo>
                  <a:pt x="312018" y="357188"/>
                  <a:pt x="333375" y="335831"/>
                  <a:pt x="333375" y="309563"/>
                </a:cubicBezTo>
                <a:lnTo>
                  <a:pt x="333375" y="261938"/>
                </a:lnTo>
                <a:close/>
                <a:moveTo>
                  <a:pt x="166688" y="285750"/>
                </a:moveTo>
                <a:cubicBezTo>
                  <a:pt x="166688" y="272608"/>
                  <a:pt x="177358" y="261938"/>
                  <a:pt x="190500" y="261938"/>
                </a:cubicBezTo>
                <a:cubicBezTo>
                  <a:pt x="203642" y="261938"/>
                  <a:pt x="214313" y="272608"/>
                  <a:pt x="214313" y="285750"/>
                </a:cubicBezTo>
                <a:cubicBezTo>
                  <a:pt x="214313" y="298892"/>
                  <a:pt x="203642" y="309563"/>
                  <a:pt x="190500" y="309563"/>
                </a:cubicBezTo>
                <a:cubicBezTo>
                  <a:pt x="177358" y="309563"/>
                  <a:pt x="166688" y="298892"/>
                  <a:pt x="166688" y="285750"/>
                </a:cubicBezTo>
                <a:close/>
                <a:moveTo>
                  <a:pt x="261938" y="261938"/>
                </a:moveTo>
                <a:cubicBezTo>
                  <a:pt x="275080" y="261938"/>
                  <a:pt x="285750" y="272608"/>
                  <a:pt x="285750" y="285750"/>
                </a:cubicBezTo>
                <a:cubicBezTo>
                  <a:pt x="285750" y="298892"/>
                  <a:pt x="275080" y="309563"/>
                  <a:pt x="261938" y="309563"/>
                </a:cubicBezTo>
                <a:cubicBezTo>
                  <a:pt x="248795" y="309563"/>
                  <a:pt x="238125" y="298892"/>
                  <a:pt x="238125" y="285750"/>
                </a:cubicBezTo>
                <a:cubicBezTo>
                  <a:pt x="238125" y="272608"/>
                  <a:pt x="248795" y="261938"/>
                  <a:pt x="261938" y="261938"/>
                </a:cubicBezTo>
                <a:close/>
              </a:path>
            </a:pathLst>
          </a:custGeom>
          <a:solidFill>
            <a:srgbClr val="4FD1C5"/>
          </a:solidFill>
          <a:ln/>
        </p:spPr>
        <p:txBody>
          <a:bodyPr/>
          <a:lstStyle/>
          <a:p>
            <a:endParaRPr lang="zh-CN" altLang="en-US"/>
          </a:p>
        </p:txBody>
      </p:sp>
      <p:sp>
        <p:nvSpPr>
          <p:cNvPr id="9" name="Text 7"/>
          <p:cNvSpPr/>
          <p:nvPr/>
        </p:nvSpPr>
        <p:spPr>
          <a:xfrm>
            <a:off x="762000" y="3124200"/>
            <a:ext cx="2832100" cy="304800"/>
          </a:xfrm>
          <a:prstGeom prst="rect">
            <a:avLst/>
          </a:prstGeom>
          <a:noFill/>
          <a:ln/>
        </p:spPr>
        <p:txBody>
          <a:bodyPr wrap="square" lIns="0" tIns="0" rIns="0" bIns="0" rtlCol="0" anchor="ctr"/>
          <a:lstStyle/>
          <a:p>
            <a:pPr algn="ctr">
              <a:lnSpc>
                <a:spcPct val="130000"/>
              </a:lnSpc>
            </a:pPr>
            <a:r>
              <a:rPr lang="en-US" sz="1600" b="1" dirty="0">
                <a:solidFill>
                  <a:srgbClr val="F7FAFC"/>
                </a:solidFill>
                <a:latin typeface="MiSans" pitchFamily="34" charset="0"/>
                <a:ea typeface="MiSans" pitchFamily="34" charset="-122"/>
                <a:cs typeface="MiSans" pitchFamily="34" charset="-120"/>
              </a:rPr>
              <a:t>统一存储</a:t>
            </a:r>
            <a:endParaRPr lang="en-US" sz="1600" dirty="0"/>
          </a:p>
        </p:txBody>
      </p:sp>
      <p:sp>
        <p:nvSpPr>
          <p:cNvPr id="10" name="Text 8"/>
          <p:cNvSpPr/>
          <p:nvPr/>
        </p:nvSpPr>
        <p:spPr>
          <a:xfrm>
            <a:off x="768350" y="3479800"/>
            <a:ext cx="28194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结构化/半结构化/非结构化数据</a:t>
            </a:r>
            <a:endParaRPr lang="en-US" sz="1600" dirty="0"/>
          </a:p>
        </p:txBody>
      </p:sp>
      <p:sp>
        <p:nvSpPr>
          <p:cNvPr id="11" name="Shape 9"/>
          <p:cNvSpPr/>
          <p:nvPr/>
        </p:nvSpPr>
        <p:spPr>
          <a:xfrm>
            <a:off x="4938613" y="2641600"/>
            <a:ext cx="238125" cy="381000"/>
          </a:xfrm>
          <a:custGeom>
            <a:avLst/>
            <a:gdLst/>
            <a:ahLst/>
            <a:cxnLst/>
            <a:rect l="l" t="t" r="r" b="b"/>
            <a:pathLst>
              <a:path w="238125" h="381000">
                <a:moveTo>
                  <a:pt x="101203" y="17859"/>
                </a:moveTo>
                <a:cubicBezTo>
                  <a:pt x="101203" y="7962"/>
                  <a:pt x="109165" y="0"/>
                  <a:pt x="119063" y="0"/>
                </a:cubicBezTo>
                <a:cubicBezTo>
                  <a:pt x="128960" y="0"/>
                  <a:pt x="136922" y="7962"/>
                  <a:pt x="136922" y="17859"/>
                </a:cubicBezTo>
                <a:lnTo>
                  <a:pt x="136922" y="47625"/>
                </a:lnTo>
                <a:lnTo>
                  <a:pt x="178594" y="47625"/>
                </a:lnTo>
                <a:cubicBezTo>
                  <a:pt x="191765" y="47625"/>
                  <a:pt x="202406" y="58266"/>
                  <a:pt x="202406" y="71438"/>
                </a:cubicBezTo>
                <a:cubicBezTo>
                  <a:pt x="202406" y="84609"/>
                  <a:pt x="191765" y="95250"/>
                  <a:pt x="178594" y="95250"/>
                </a:cubicBezTo>
                <a:lnTo>
                  <a:pt x="93092" y="95250"/>
                </a:lnTo>
                <a:cubicBezTo>
                  <a:pt x="74563" y="95250"/>
                  <a:pt x="59531" y="110282"/>
                  <a:pt x="59531" y="128811"/>
                </a:cubicBezTo>
                <a:cubicBezTo>
                  <a:pt x="59531" y="145554"/>
                  <a:pt x="71810" y="159693"/>
                  <a:pt x="88329" y="162074"/>
                </a:cubicBezTo>
                <a:lnTo>
                  <a:pt x="156493" y="171822"/>
                </a:lnTo>
                <a:cubicBezTo>
                  <a:pt x="196528" y="177552"/>
                  <a:pt x="226219" y="211782"/>
                  <a:pt x="226219" y="252189"/>
                </a:cubicBezTo>
                <a:cubicBezTo>
                  <a:pt x="226219" y="297061"/>
                  <a:pt x="189830" y="333375"/>
                  <a:pt x="145033" y="333375"/>
                </a:cubicBezTo>
                <a:lnTo>
                  <a:pt x="136922" y="333375"/>
                </a:lnTo>
                <a:lnTo>
                  <a:pt x="136922" y="363141"/>
                </a:lnTo>
                <a:cubicBezTo>
                  <a:pt x="136922" y="373038"/>
                  <a:pt x="128960" y="381000"/>
                  <a:pt x="119063" y="381000"/>
                </a:cubicBezTo>
                <a:cubicBezTo>
                  <a:pt x="109165" y="381000"/>
                  <a:pt x="101203" y="373038"/>
                  <a:pt x="101203" y="363141"/>
                </a:cubicBezTo>
                <a:lnTo>
                  <a:pt x="101203" y="333375"/>
                </a:lnTo>
                <a:lnTo>
                  <a:pt x="47625" y="333375"/>
                </a:lnTo>
                <a:cubicBezTo>
                  <a:pt x="34454" y="333375"/>
                  <a:pt x="23812" y="322734"/>
                  <a:pt x="23812" y="309563"/>
                </a:cubicBezTo>
                <a:cubicBezTo>
                  <a:pt x="23812" y="296391"/>
                  <a:pt x="34454" y="285750"/>
                  <a:pt x="47625" y="285750"/>
                </a:cubicBezTo>
                <a:lnTo>
                  <a:pt x="145033" y="285750"/>
                </a:lnTo>
                <a:cubicBezTo>
                  <a:pt x="163562" y="285750"/>
                  <a:pt x="178594" y="270718"/>
                  <a:pt x="178594" y="252189"/>
                </a:cubicBezTo>
                <a:cubicBezTo>
                  <a:pt x="178594" y="235446"/>
                  <a:pt x="166315" y="221307"/>
                  <a:pt x="149796" y="218926"/>
                </a:cubicBezTo>
                <a:lnTo>
                  <a:pt x="81632" y="209178"/>
                </a:lnTo>
                <a:cubicBezTo>
                  <a:pt x="41597" y="203522"/>
                  <a:pt x="11906" y="169218"/>
                  <a:pt x="11906" y="128811"/>
                </a:cubicBezTo>
                <a:cubicBezTo>
                  <a:pt x="11906" y="84013"/>
                  <a:pt x="48295" y="47625"/>
                  <a:pt x="93092" y="47625"/>
                </a:cubicBezTo>
                <a:lnTo>
                  <a:pt x="101203" y="47625"/>
                </a:lnTo>
                <a:lnTo>
                  <a:pt x="101203" y="17859"/>
                </a:lnTo>
                <a:close/>
              </a:path>
            </a:pathLst>
          </a:custGeom>
          <a:solidFill>
            <a:srgbClr val="4FD1C5"/>
          </a:solidFill>
          <a:ln/>
        </p:spPr>
        <p:txBody>
          <a:bodyPr/>
          <a:lstStyle/>
          <a:p>
            <a:endParaRPr lang="zh-CN" altLang="en-US"/>
          </a:p>
        </p:txBody>
      </p:sp>
      <p:sp>
        <p:nvSpPr>
          <p:cNvPr id="12" name="Text 10"/>
          <p:cNvSpPr/>
          <p:nvPr/>
        </p:nvSpPr>
        <p:spPr>
          <a:xfrm>
            <a:off x="3640634" y="3124200"/>
            <a:ext cx="2832100" cy="304800"/>
          </a:xfrm>
          <a:prstGeom prst="rect">
            <a:avLst/>
          </a:prstGeom>
          <a:noFill/>
          <a:ln/>
        </p:spPr>
        <p:txBody>
          <a:bodyPr wrap="square" lIns="0" tIns="0" rIns="0" bIns="0" rtlCol="0" anchor="ctr"/>
          <a:lstStyle/>
          <a:p>
            <a:pPr algn="ctr">
              <a:lnSpc>
                <a:spcPct val="130000"/>
              </a:lnSpc>
            </a:pPr>
            <a:r>
              <a:rPr lang="en-US" sz="1600" b="1" dirty="0">
                <a:solidFill>
                  <a:srgbClr val="F7FAFC"/>
                </a:solidFill>
                <a:latin typeface="MiSans" pitchFamily="34" charset="0"/>
                <a:ea typeface="MiSans" pitchFamily="34" charset="-122"/>
                <a:cs typeface="MiSans" pitchFamily="34" charset="-120"/>
              </a:rPr>
              <a:t>降低成本</a:t>
            </a:r>
            <a:endParaRPr lang="en-US" sz="1600" dirty="0"/>
          </a:p>
        </p:txBody>
      </p:sp>
      <p:sp>
        <p:nvSpPr>
          <p:cNvPr id="13" name="Text 11"/>
          <p:cNvSpPr/>
          <p:nvPr/>
        </p:nvSpPr>
        <p:spPr>
          <a:xfrm>
            <a:off x="3646984" y="3479800"/>
            <a:ext cx="28194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HDFS/对象存储长期保留历史数据</a:t>
            </a:r>
            <a:endParaRPr lang="en-US" sz="1600" dirty="0"/>
          </a:p>
        </p:txBody>
      </p:sp>
      <p:sp>
        <p:nvSpPr>
          <p:cNvPr id="14" name="Shape 12"/>
          <p:cNvSpPr/>
          <p:nvPr/>
        </p:nvSpPr>
        <p:spPr>
          <a:xfrm>
            <a:off x="7769721" y="2641600"/>
            <a:ext cx="333375" cy="381000"/>
          </a:xfrm>
          <a:custGeom>
            <a:avLst/>
            <a:gdLst/>
            <a:ahLst/>
            <a:cxnLst/>
            <a:rect l="l" t="t" r="r" b="b"/>
            <a:pathLst>
              <a:path w="333375" h="381000">
                <a:moveTo>
                  <a:pt x="214313" y="0"/>
                </a:moveTo>
                <a:lnTo>
                  <a:pt x="95250" y="0"/>
                </a:lnTo>
                <a:cubicBezTo>
                  <a:pt x="82079" y="0"/>
                  <a:pt x="71438" y="10641"/>
                  <a:pt x="71438" y="23812"/>
                </a:cubicBezTo>
                <a:cubicBezTo>
                  <a:pt x="71438" y="36984"/>
                  <a:pt x="82079" y="47625"/>
                  <a:pt x="95250" y="47625"/>
                </a:cubicBezTo>
                <a:lnTo>
                  <a:pt x="95250" y="160362"/>
                </a:lnTo>
                <a:lnTo>
                  <a:pt x="5581" y="317227"/>
                </a:lnTo>
                <a:cubicBezTo>
                  <a:pt x="1935" y="323701"/>
                  <a:pt x="0" y="330919"/>
                  <a:pt x="0" y="338361"/>
                </a:cubicBezTo>
                <a:cubicBezTo>
                  <a:pt x="0" y="361950"/>
                  <a:pt x="19050" y="381000"/>
                  <a:pt x="42639" y="381000"/>
                </a:cubicBezTo>
                <a:lnTo>
                  <a:pt x="290736" y="381000"/>
                </a:lnTo>
                <a:cubicBezTo>
                  <a:pt x="314251" y="381000"/>
                  <a:pt x="333375" y="361950"/>
                  <a:pt x="333375" y="338361"/>
                </a:cubicBezTo>
                <a:cubicBezTo>
                  <a:pt x="333375" y="330919"/>
                  <a:pt x="331440" y="323627"/>
                  <a:pt x="327794" y="317227"/>
                </a:cubicBezTo>
                <a:lnTo>
                  <a:pt x="238125" y="160362"/>
                </a:lnTo>
                <a:lnTo>
                  <a:pt x="238125" y="47625"/>
                </a:lnTo>
                <a:cubicBezTo>
                  <a:pt x="251296" y="47625"/>
                  <a:pt x="261938" y="36984"/>
                  <a:pt x="261938" y="23812"/>
                </a:cubicBezTo>
                <a:cubicBezTo>
                  <a:pt x="261938" y="10641"/>
                  <a:pt x="251296" y="0"/>
                  <a:pt x="238125" y="0"/>
                </a:cubicBezTo>
                <a:lnTo>
                  <a:pt x="214313" y="0"/>
                </a:lnTo>
                <a:close/>
                <a:moveTo>
                  <a:pt x="142875" y="160362"/>
                </a:moveTo>
                <a:lnTo>
                  <a:pt x="142875" y="47625"/>
                </a:lnTo>
                <a:lnTo>
                  <a:pt x="190500" y="47625"/>
                </a:lnTo>
                <a:lnTo>
                  <a:pt x="190500" y="160362"/>
                </a:lnTo>
                <a:cubicBezTo>
                  <a:pt x="190500" y="168622"/>
                  <a:pt x="192658" y="176808"/>
                  <a:pt x="196751" y="184026"/>
                </a:cubicBezTo>
                <a:lnTo>
                  <a:pt x="227707" y="238125"/>
                </a:lnTo>
                <a:lnTo>
                  <a:pt x="105668" y="238125"/>
                </a:lnTo>
                <a:lnTo>
                  <a:pt x="136624" y="184026"/>
                </a:lnTo>
                <a:cubicBezTo>
                  <a:pt x="140717" y="176808"/>
                  <a:pt x="142875" y="168697"/>
                  <a:pt x="142875" y="160362"/>
                </a:cubicBezTo>
                <a:close/>
              </a:path>
            </a:pathLst>
          </a:custGeom>
          <a:solidFill>
            <a:srgbClr val="4FD1C5"/>
          </a:solidFill>
          <a:ln/>
        </p:spPr>
        <p:txBody>
          <a:bodyPr/>
          <a:lstStyle/>
          <a:p>
            <a:endParaRPr lang="zh-CN" altLang="en-US"/>
          </a:p>
        </p:txBody>
      </p:sp>
      <p:sp>
        <p:nvSpPr>
          <p:cNvPr id="15" name="Text 13"/>
          <p:cNvSpPr/>
          <p:nvPr/>
        </p:nvSpPr>
        <p:spPr>
          <a:xfrm>
            <a:off x="6519267" y="3124200"/>
            <a:ext cx="2832100" cy="304800"/>
          </a:xfrm>
          <a:prstGeom prst="rect">
            <a:avLst/>
          </a:prstGeom>
          <a:noFill/>
          <a:ln/>
        </p:spPr>
        <p:txBody>
          <a:bodyPr wrap="square" lIns="0" tIns="0" rIns="0" bIns="0" rtlCol="0" anchor="ctr"/>
          <a:lstStyle/>
          <a:p>
            <a:pPr algn="ctr">
              <a:lnSpc>
                <a:spcPct val="130000"/>
              </a:lnSpc>
            </a:pPr>
            <a:r>
              <a:rPr lang="en-US" sz="1600" b="1" dirty="0">
                <a:solidFill>
                  <a:srgbClr val="F7FAFC"/>
                </a:solidFill>
                <a:latin typeface="MiSans" pitchFamily="34" charset="0"/>
                <a:ea typeface="MiSans" pitchFamily="34" charset="-122"/>
                <a:cs typeface="MiSans" pitchFamily="34" charset="-120"/>
              </a:rPr>
              <a:t>探索分析</a:t>
            </a:r>
            <a:endParaRPr lang="en-US" sz="1600" dirty="0"/>
          </a:p>
        </p:txBody>
      </p:sp>
      <p:sp>
        <p:nvSpPr>
          <p:cNvPr id="16" name="Text 14"/>
          <p:cNvSpPr/>
          <p:nvPr/>
        </p:nvSpPr>
        <p:spPr>
          <a:xfrm>
            <a:off x="6525617" y="3479800"/>
            <a:ext cx="28194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Schema-on-Read,数据科学实验场</a:t>
            </a:r>
            <a:endParaRPr lang="en-US" sz="1600" dirty="0"/>
          </a:p>
        </p:txBody>
      </p:sp>
      <p:sp>
        <p:nvSpPr>
          <p:cNvPr id="17" name="Shape 15"/>
          <p:cNvSpPr/>
          <p:nvPr/>
        </p:nvSpPr>
        <p:spPr>
          <a:xfrm>
            <a:off x="508000" y="4191000"/>
            <a:ext cx="9042400" cy="2946400"/>
          </a:xfrm>
          <a:custGeom>
            <a:avLst/>
            <a:gdLst/>
            <a:ahLst/>
            <a:cxnLst/>
            <a:rect l="l" t="t" r="r" b="b"/>
            <a:pathLst>
              <a:path w="9042400" h="2946400">
                <a:moveTo>
                  <a:pt x="101592" y="0"/>
                </a:moveTo>
                <a:lnTo>
                  <a:pt x="8940808" y="0"/>
                </a:lnTo>
                <a:cubicBezTo>
                  <a:pt x="8996916" y="0"/>
                  <a:pt x="9042400" y="45484"/>
                  <a:pt x="9042400" y="101592"/>
                </a:cubicBezTo>
                <a:lnTo>
                  <a:pt x="9042400" y="2844808"/>
                </a:lnTo>
                <a:cubicBezTo>
                  <a:pt x="9042400" y="2900916"/>
                  <a:pt x="8996916" y="2946400"/>
                  <a:pt x="8940808" y="2946400"/>
                </a:cubicBezTo>
                <a:lnTo>
                  <a:pt x="101592" y="2946400"/>
                </a:lnTo>
                <a:cubicBezTo>
                  <a:pt x="45484" y="2946400"/>
                  <a:pt x="0" y="2900916"/>
                  <a:pt x="0" y="2844808"/>
                </a:cubicBezTo>
                <a:lnTo>
                  <a:pt x="0" y="101592"/>
                </a:lnTo>
                <a:cubicBezTo>
                  <a:pt x="0" y="45522"/>
                  <a:pt x="45522" y="0"/>
                  <a:pt x="101592" y="0"/>
                </a:cubicBezTo>
                <a:close/>
              </a:path>
            </a:pathLst>
          </a:custGeom>
          <a:solidFill>
            <a:srgbClr val="4A5568">
              <a:alpha val="30196"/>
            </a:srgbClr>
          </a:solidFill>
          <a:ln/>
        </p:spPr>
        <p:txBody>
          <a:bodyPr/>
          <a:lstStyle/>
          <a:p>
            <a:endParaRPr lang="zh-CN" altLang="en-US"/>
          </a:p>
        </p:txBody>
      </p:sp>
      <p:sp>
        <p:nvSpPr>
          <p:cNvPr id="18" name="Text 16"/>
          <p:cNvSpPr/>
          <p:nvPr/>
        </p:nvSpPr>
        <p:spPr>
          <a:xfrm>
            <a:off x="762000" y="4445000"/>
            <a:ext cx="8661400" cy="355600"/>
          </a:xfrm>
          <a:prstGeom prst="rect">
            <a:avLst/>
          </a:prstGeom>
          <a:noFill/>
          <a:ln/>
        </p:spPr>
        <p:txBody>
          <a:bodyPr wrap="square" lIns="0" tIns="0" rIns="0" bIns="0" rtlCol="0" anchor="ctr"/>
          <a:lstStyle/>
          <a:p>
            <a:pPr>
              <a:lnSpc>
                <a:spcPct val="120000"/>
              </a:lnSpc>
            </a:pPr>
            <a:r>
              <a:rPr lang="en-US" sz="2000" b="1" dirty="0">
                <a:solidFill>
                  <a:srgbClr val="4FD1C5"/>
                </a:solidFill>
                <a:latin typeface="Noto Sans SC" pitchFamily="34" charset="0"/>
                <a:ea typeface="Noto Sans SC" pitchFamily="34" charset="-122"/>
                <a:cs typeface="Noto Sans SC" pitchFamily="34" charset="-120"/>
              </a:rPr>
              <a:t>数据湖目录结构示例</a:t>
            </a:r>
            <a:endParaRPr lang="en-US" sz="1600" dirty="0"/>
          </a:p>
        </p:txBody>
      </p:sp>
      <p:sp>
        <p:nvSpPr>
          <p:cNvPr id="19" name="Shape 17"/>
          <p:cNvSpPr/>
          <p:nvPr/>
        </p:nvSpPr>
        <p:spPr>
          <a:xfrm>
            <a:off x="762000" y="4953000"/>
            <a:ext cx="8534400" cy="1930400"/>
          </a:xfrm>
          <a:custGeom>
            <a:avLst/>
            <a:gdLst/>
            <a:ahLst/>
            <a:cxnLst/>
            <a:rect l="l" t="t" r="r" b="b"/>
            <a:pathLst>
              <a:path w="8534400" h="1930400">
                <a:moveTo>
                  <a:pt x="50808" y="0"/>
                </a:moveTo>
                <a:lnTo>
                  <a:pt x="8483592" y="0"/>
                </a:lnTo>
                <a:cubicBezTo>
                  <a:pt x="8511652" y="0"/>
                  <a:pt x="8534400" y="22748"/>
                  <a:pt x="8534400" y="50808"/>
                </a:cubicBezTo>
                <a:lnTo>
                  <a:pt x="8534400" y="1879592"/>
                </a:lnTo>
                <a:cubicBezTo>
                  <a:pt x="8534400" y="1907652"/>
                  <a:pt x="8511652" y="1930400"/>
                  <a:pt x="8483592" y="1930400"/>
                </a:cubicBezTo>
                <a:lnTo>
                  <a:pt x="50808" y="1930400"/>
                </a:lnTo>
                <a:cubicBezTo>
                  <a:pt x="22748" y="1930400"/>
                  <a:pt x="0" y="1907652"/>
                  <a:pt x="0" y="1879592"/>
                </a:cubicBezTo>
                <a:lnTo>
                  <a:pt x="0" y="50808"/>
                </a:lnTo>
                <a:cubicBezTo>
                  <a:pt x="0" y="22766"/>
                  <a:pt x="22766" y="0"/>
                  <a:pt x="50808" y="0"/>
                </a:cubicBezTo>
                <a:close/>
              </a:path>
            </a:pathLst>
          </a:custGeom>
          <a:solidFill>
            <a:srgbClr val="1A202C"/>
          </a:solidFill>
          <a:ln/>
        </p:spPr>
        <p:txBody>
          <a:bodyPr/>
          <a:lstStyle/>
          <a:p>
            <a:endParaRPr lang="zh-CN" altLang="en-US"/>
          </a:p>
        </p:txBody>
      </p:sp>
      <p:sp>
        <p:nvSpPr>
          <p:cNvPr id="20" name="Text 18"/>
          <p:cNvSpPr/>
          <p:nvPr/>
        </p:nvSpPr>
        <p:spPr>
          <a:xfrm>
            <a:off x="965200" y="5156200"/>
            <a:ext cx="8216900" cy="254000"/>
          </a:xfrm>
          <a:prstGeom prst="rect">
            <a:avLst/>
          </a:prstGeom>
          <a:noFill/>
          <a:ln/>
        </p:spPr>
        <p:txBody>
          <a:bodyPr wrap="square" lIns="0" tIns="0" rIns="0" bIns="0" rtlCol="0" anchor="ctr"/>
          <a:lstStyle/>
          <a:p>
            <a:pPr>
              <a:lnSpc>
                <a:spcPct val="120000"/>
              </a:lnSpc>
            </a:pPr>
            <a:r>
              <a:rPr lang="en-US" sz="1400" dirty="0">
                <a:solidFill>
                  <a:srgbClr val="4FD1C5"/>
                </a:solidFill>
                <a:latin typeface="MiSans" pitchFamily="34" charset="0"/>
                <a:ea typeface="MiSans" pitchFamily="34" charset="-122"/>
                <a:cs typeface="MiSans" pitchFamily="34" charset="-120"/>
              </a:rPr>
              <a:t>/bank_lake</a:t>
            </a:r>
            <a:endParaRPr lang="en-US" sz="1600" dirty="0"/>
          </a:p>
        </p:txBody>
      </p:sp>
      <p:sp>
        <p:nvSpPr>
          <p:cNvPr id="21" name="Text 19"/>
          <p:cNvSpPr/>
          <p:nvPr/>
        </p:nvSpPr>
        <p:spPr>
          <a:xfrm>
            <a:off x="1168400" y="5410200"/>
            <a:ext cx="80137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/raw </a:t>
            </a:r>
            <a:r>
              <a:rPr lang="en-US" sz="1400" dirty="0">
                <a:solidFill>
                  <a:srgbClr val="A0AEC0"/>
                </a:solidFill>
                <a:latin typeface="MiSans" pitchFamily="34" charset="0"/>
                <a:ea typeface="MiSans" pitchFamily="34" charset="-122"/>
                <a:cs typeface="MiSans" pitchFamily="34" charset="-120"/>
              </a:rPr>
              <a:t># 原始层:完全保留原始数据</a:t>
            </a:r>
            <a:endParaRPr lang="en-US" sz="1600" dirty="0"/>
          </a:p>
        </p:txBody>
      </p:sp>
      <p:sp>
        <p:nvSpPr>
          <p:cNvPr id="22" name="Text 20"/>
          <p:cNvSpPr/>
          <p:nvPr/>
        </p:nvSpPr>
        <p:spPr>
          <a:xfrm>
            <a:off x="1371600" y="5664200"/>
            <a:ext cx="7810500" cy="254000"/>
          </a:xfrm>
          <a:prstGeom prst="rect">
            <a:avLst/>
          </a:prstGeom>
          <a:noFill/>
          <a:ln/>
        </p:spPr>
        <p:txBody>
          <a:bodyPr wrap="square" lIns="0" tIns="0" rIns="0" bIns="0" rtlCol="0" anchor="ctr"/>
          <a:lstStyle/>
          <a:p>
            <a:pPr>
              <a:lnSpc>
                <a:spcPct val="120000"/>
              </a:lnSpc>
            </a:pPr>
            <a:r>
              <a:rPr lang="en-US" sz="1400" dirty="0">
                <a:solidFill>
                  <a:srgbClr val="4FD1C5"/>
                </a:solidFill>
                <a:latin typeface="MiSans" pitchFamily="34" charset="0"/>
                <a:ea typeface="MiSans" pitchFamily="34" charset="-122"/>
                <a:cs typeface="MiSans" pitchFamily="34" charset="-120"/>
              </a:rPr>
              <a:t>/core_sys, /recon_files, /app_logs</a:t>
            </a:r>
            <a:endParaRPr lang="en-US" sz="1600" dirty="0"/>
          </a:p>
        </p:txBody>
      </p:sp>
      <p:sp>
        <p:nvSpPr>
          <p:cNvPr id="23" name="Text 21"/>
          <p:cNvSpPr/>
          <p:nvPr/>
        </p:nvSpPr>
        <p:spPr>
          <a:xfrm>
            <a:off x="1168400" y="5918200"/>
            <a:ext cx="80137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/clean </a:t>
            </a:r>
            <a:r>
              <a:rPr lang="en-US" sz="1400" dirty="0">
                <a:solidFill>
                  <a:srgbClr val="A0AEC0"/>
                </a:solidFill>
                <a:latin typeface="MiSans" pitchFamily="34" charset="0"/>
                <a:ea typeface="MiSans" pitchFamily="34" charset="-122"/>
                <a:cs typeface="MiSans" pitchFamily="34" charset="-120"/>
              </a:rPr>
              <a:t># 清洗层:基础校验+轻度转换</a:t>
            </a:r>
            <a:endParaRPr lang="en-US" sz="1600" dirty="0"/>
          </a:p>
        </p:txBody>
      </p:sp>
      <p:sp>
        <p:nvSpPr>
          <p:cNvPr id="24" name="Text 22"/>
          <p:cNvSpPr/>
          <p:nvPr/>
        </p:nvSpPr>
        <p:spPr>
          <a:xfrm>
            <a:off x="1168400" y="6172200"/>
            <a:ext cx="80137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/feature </a:t>
            </a:r>
            <a:r>
              <a:rPr lang="en-US" sz="1400" dirty="0">
                <a:solidFill>
                  <a:srgbClr val="A0AEC0"/>
                </a:solidFill>
                <a:latin typeface="MiSans" pitchFamily="34" charset="0"/>
                <a:ea typeface="MiSans" pitchFamily="34" charset="-122"/>
                <a:cs typeface="MiSans" pitchFamily="34" charset="-120"/>
              </a:rPr>
              <a:t># 特征层:风控/反洗钱模型特征</a:t>
            </a:r>
            <a:endParaRPr lang="en-US" sz="1600" dirty="0"/>
          </a:p>
        </p:txBody>
      </p:sp>
      <p:sp>
        <p:nvSpPr>
          <p:cNvPr id="25" name="Text 23"/>
          <p:cNvSpPr/>
          <p:nvPr/>
        </p:nvSpPr>
        <p:spPr>
          <a:xfrm>
            <a:off x="1168400" y="6426200"/>
            <a:ext cx="80137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/warehouse </a:t>
            </a:r>
            <a:r>
              <a:rPr lang="en-US" sz="1400" dirty="0">
                <a:solidFill>
                  <a:srgbClr val="A0AEC0"/>
                </a:solidFill>
                <a:latin typeface="MiSans" pitchFamily="34" charset="0"/>
                <a:ea typeface="MiSans" pitchFamily="34" charset="-122"/>
                <a:cs typeface="MiSans" pitchFamily="34" charset="-120"/>
              </a:rPr>
              <a:t># 数仓层:Hive或Lakehouse表</a:t>
            </a:r>
            <a:endParaRPr lang="en-US" sz="1600" dirty="0"/>
          </a:p>
        </p:txBody>
      </p:sp>
      <p:sp>
        <p:nvSpPr>
          <p:cNvPr id="26" name="Shape 24"/>
          <p:cNvSpPr/>
          <p:nvPr/>
        </p:nvSpPr>
        <p:spPr>
          <a:xfrm>
            <a:off x="508000" y="7340600"/>
            <a:ext cx="9042400" cy="1219200"/>
          </a:xfrm>
          <a:custGeom>
            <a:avLst/>
            <a:gdLst/>
            <a:ahLst/>
            <a:cxnLst/>
            <a:rect l="l" t="t" r="r" b="b"/>
            <a:pathLst>
              <a:path w="9042400" h="1219200">
                <a:moveTo>
                  <a:pt x="101596" y="0"/>
                </a:moveTo>
                <a:lnTo>
                  <a:pt x="8940804" y="0"/>
                </a:lnTo>
                <a:cubicBezTo>
                  <a:pt x="8996914" y="0"/>
                  <a:pt x="9042400" y="45486"/>
                  <a:pt x="9042400" y="101596"/>
                </a:cubicBezTo>
                <a:lnTo>
                  <a:pt x="9042400" y="1117604"/>
                </a:lnTo>
                <a:cubicBezTo>
                  <a:pt x="9042400" y="1173714"/>
                  <a:pt x="8996914" y="1219200"/>
                  <a:pt x="8940804" y="1219200"/>
                </a:cubicBezTo>
                <a:lnTo>
                  <a:pt x="101596" y="1219200"/>
                </a:lnTo>
                <a:cubicBezTo>
                  <a:pt x="45486" y="1219200"/>
                  <a:pt x="0" y="1173714"/>
                  <a:pt x="0" y="1117604"/>
                </a:cubicBezTo>
                <a:lnTo>
                  <a:pt x="0" y="101596"/>
                </a:lnTo>
                <a:cubicBezTo>
                  <a:pt x="0" y="45486"/>
                  <a:pt x="45486" y="0"/>
                  <a:pt x="101596" y="0"/>
                </a:cubicBezTo>
                <a:close/>
              </a:path>
            </a:pathLst>
          </a:custGeom>
          <a:solidFill>
            <a:srgbClr val="4A5568">
              <a:alpha val="30196"/>
            </a:srgbClr>
          </a:solidFill>
          <a:ln/>
        </p:spPr>
        <p:txBody>
          <a:bodyPr/>
          <a:lstStyle/>
          <a:p>
            <a:endParaRPr lang="zh-CN" altLang="en-US"/>
          </a:p>
        </p:txBody>
      </p:sp>
      <p:sp>
        <p:nvSpPr>
          <p:cNvPr id="27" name="Text 25"/>
          <p:cNvSpPr/>
          <p:nvPr/>
        </p:nvSpPr>
        <p:spPr>
          <a:xfrm>
            <a:off x="711200" y="7543800"/>
            <a:ext cx="8750300" cy="355600"/>
          </a:xfrm>
          <a:prstGeom prst="rect">
            <a:avLst/>
          </a:prstGeom>
          <a:noFill/>
          <a:ln/>
        </p:spPr>
        <p:txBody>
          <a:bodyPr wrap="square" lIns="0" tIns="0" rIns="0" bIns="0" rtlCol="0" anchor="ctr"/>
          <a:lstStyle/>
          <a:p>
            <a:pPr>
              <a:lnSpc>
                <a:spcPct val="130000"/>
              </a:lnSpc>
            </a:pPr>
            <a:r>
              <a:rPr lang="en-US" sz="1800" b="1" dirty="0">
                <a:solidFill>
                  <a:srgbClr val="4FD1C5"/>
                </a:solidFill>
                <a:latin typeface="MiSans" pitchFamily="34" charset="0"/>
                <a:ea typeface="MiSans" pitchFamily="34" charset="-122"/>
                <a:cs typeface="MiSans" pitchFamily="34" charset="-120"/>
              </a:rPr>
              <a:t>初期收益</a:t>
            </a:r>
            <a:endParaRPr lang="en-US" sz="1600" dirty="0"/>
          </a:p>
        </p:txBody>
      </p:sp>
      <p:sp>
        <p:nvSpPr>
          <p:cNvPr id="28" name="Shape 26"/>
          <p:cNvSpPr/>
          <p:nvPr/>
        </p:nvSpPr>
        <p:spPr>
          <a:xfrm>
            <a:off x="749300" y="8102600"/>
            <a:ext cx="177800" cy="203200"/>
          </a:xfrm>
          <a:custGeom>
            <a:avLst/>
            <a:gdLst/>
            <a:ahLst/>
            <a:cxnLst/>
            <a:rect l="l" t="t" r="r" b="b"/>
            <a:pathLst>
              <a:path w="177800" h="203200">
                <a:moveTo>
                  <a:pt x="172561" y="27821"/>
                </a:moveTo>
                <a:cubicBezTo>
                  <a:pt x="178237" y="31948"/>
                  <a:pt x="179507" y="39886"/>
                  <a:pt x="175379" y="45561"/>
                </a:cubicBezTo>
                <a:lnTo>
                  <a:pt x="73779" y="185261"/>
                </a:lnTo>
                <a:cubicBezTo>
                  <a:pt x="71596" y="188278"/>
                  <a:pt x="68223" y="190143"/>
                  <a:pt x="64492" y="190460"/>
                </a:cubicBezTo>
                <a:cubicBezTo>
                  <a:pt x="60762" y="190778"/>
                  <a:pt x="57150" y="189389"/>
                  <a:pt x="54531" y="186769"/>
                </a:cubicBezTo>
                <a:lnTo>
                  <a:pt x="3731" y="135969"/>
                </a:lnTo>
                <a:cubicBezTo>
                  <a:pt x="-1230" y="131008"/>
                  <a:pt x="-1230" y="122952"/>
                  <a:pt x="3731" y="117991"/>
                </a:cubicBezTo>
                <a:cubicBezTo>
                  <a:pt x="8692" y="113030"/>
                  <a:pt x="16748" y="113030"/>
                  <a:pt x="21709" y="117991"/>
                </a:cubicBezTo>
                <a:lnTo>
                  <a:pt x="61992" y="158274"/>
                </a:lnTo>
                <a:lnTo>
                  <a:pt x="154861" y="30599"/>
                </a:lnTo>
                <a:cubicBezTo>
                  <a:pt x="158988" y="24924"/>
                  <a:pt x="166926" y="23654"/>
                  <a:pt x="172601" y="27781"/>
                </a:cubicBezTo>
                <a:close/>
              </a:path>
            </a:pathLst>
          </a:custGeom>
          <a:solidFill>
            <a:srgbClr val="4FD1C5"/>
          </a:solidFill>
          <a:ln/>
        </p:spPr>
        <p:txBody>
          <a:bodyPr/>
          <a:lstStyle/>
          <a:p>
            <a:endParaRPr lang="zh-CN" altLang="en-US"/>
          </a:p>
        </p:txBody>
      </p:sp>
      <p:sp>
        <p:nvSpPr>
          <p:cNvPr id="29" name="Text 27"/>
          <p:cNvSpPr/>
          <p:nvPr/>
        </p:nvSpPr>
        <p:spPr>
          <a:xfrm>
            <a:off x="1066800" y="8051800"/>
            <a:ext cx="2336800" cy="304800"/>
          </a:xfrm>
          <a:prstGeom prst="rect">
            <a:avLst/>
          </a:prstGeom>
          <a:noFill/>
          <a:ln/>
        </p:spPr>
        <p:txBody>
          <a:bodyPr wrap="square" lIns="0" tIns="0" rIns="0" bIns="0" rtlCol="0" anchor="ctr"/>
          <a:lstStyle/>
          <a:p>
            <a:pPr>
              <a:lnSpc>
                <a:spcPct val="130000"/>
              </a:lnSpc>
            </a:pPr>
            <a:r>
              <a:rPr lang="en-US" sz="1600" dirty="0">
                <a:solidFill>
                  <a:srgbClr val="F7FAFC"/>
                </a:solidFill>
                <a:latin typeface="MiSans" pitchFamily="34" charset="0"/>
                <a:ea typeface="MiSans" pitchFamily="34" charset="-122"/>
                <a:cs typeface="MiSans" pitchFamily="34" charset="-120"/>
              </a:rPr>
              <a:t>历史数据低成本长期保留</a:t>
            </a:r>
            <a:endParaRPr lang="en-US" sz="1600" dirty="0"/>
          </a:p>
        </p:txBody>
      </p:sp>
      <p:sp>
        <p:nvSpPr>
          <p:cNvPr id="30" name="Shape 28"/>
          <p:cNvSpPr/>
          <p:nvPr/>
        </p:nvSpPr>
        <p:spPr>
          <a:xfrm>
            <a:off x="3644900" y="8102600"/>
            <a:ext cx="177800" cy="203200"/>
          </a:xfrm>
          <a:custGeom>
            <a:avLst/>
            <a:gdLst/>
            <a:ahLst/>
            <a:cxnLst/>
            <a:rect l="l" t="t" r="r" b="b"/>
            <a:pathLst>
              <a:path w="177800" h="203200">
                <a:moveTo>
                  <a:pt x="172561" y="27821"/>
                </a:moveTo>
                <a:cubicBezTo>
                  <a:pt x="178237" y="31948"/>
                  <a:pt x="179507" y="39886"/>
                  <a:pt x="175379" y="45561"/>
                </a:cubicBezTo>
                <a:lnTo>
                  <a:pt x="73779" y="185261"/>
                </a:lnTo>
                <a:cubicBezTo>
                  <a:pt x="71596" y="188278"/>
                  <a:pt x="68223" y="190143"/>
                  <a:pt x="64492" y="190460"/>
                </a:cubicBezTo>
                <a:cubicBezTo>
                  <a:pt x="60762" y="190778"/>
                  <a:pt x="57150" y="189389"/>
                  <a:pt x="54531" y="186769"/>
                </a:cubicBezTo>
                <a:lnTo>
                  <a:pt x="3731" y="135969"/>
                </a:lnTo>
                <a:cubicBezTo>
                  <a:pt x="-1230" y="131008"/>
                  <a:pt x="-1230" y="122952"/>
                  <a:pt x="3731" y="117991"/>
                </a:cubicBezTo>
                <a:cubicBezTo>
                  <a:pt x="8692" y="113030"/>
                  <a:pt x="16748" y="113030"/>
                  <a:pt x="21709" y="117991"/>
                </a:cubicBezTo>
                <a:lnTo>
                  <a:pt x="61992" y="158274"/>
                </a:lnTo>
                <a:lnTo>
                  <a:pt x="154861" y="30599"/>
                </a:lnTo>
                <a:cubicBezTo>
                  <a:pt x="158988" y="24924"/>
                  <a:pt x="166926" y="23654"/>
                  <a:pt x="172601" y="27781"/>
                </a:cubicBezTo>
                <a:close/>
              </a:path>
            </a:pathLst>
          </a:custGeom>
          <a:solidFill>
            <a:srgbClr val="4FD1C5"/>
          </a:solidFill>
          <a:ln/>
        </p:spPr>
        <p:txBody>
          <a:bodyPr/>
          <a:lstStyle/>
          <a:p>
            <a:endParaRPr lang="zh-CN" altLang="en-US"/>
          </a:p>
        </p:txBody>
      </p:sp>
      <p:sp>
        <p:nvSpPr>
          <p:cNvPr id="31" name="Text 29"/>
          <p:cNvSpPr/>
          <p:nvPr/>
        </p:nvSpPr>
        <p:spPr>
          <a:xfrm>
            <a:off x="3962400" y="8051800"/>
            <a:ext cx="2133600" cy="304800"/>
          </a:xfrm>
          <a:prstGeom prst="rect">
            <a:avLst/>
          </a:prstGeom>
          <a:noFill/>
          <a:ln/>
        </p:spPr>
        <p:txBody>
          <a:bodyPr wrap="square" lIns="0" tIns="0" rIns="0" bIns="0" rtlCol="0" anchor="ctr"/>
          <a:lstStyle/>
          <a:p>
            <a:pPr>
              <a:lnSpc>
                <a:spcPct val="130000"/>
              </a:lnSpc>
            </a:pPr>
            <a:r>
              <a:rPr lang="en-US" sz="1600" dirty="0">
                <a:solidFill>
                  <a:srgbClr val="F7FAFC"/>
                </a:solidFill>
                <a:latin typeface="MiSans" pitchFamily="34" charset="0"/>
                <a:ea typeface="MiSans" pitchFamily="34" charset="-122"/>
                <a:cs typeface="MiSans" pitchFamily="34" charset="-120"/>
              </a:rPr>
              <a:t>数据科学团队自由探索</a:t>
            </a:r>
            <a:endParaRPr lang="en-US" sz="1600" dirty="0"/>
          </a:p>
        </p:txBody>
      </p:sp>
      <p:sp>
        <p:nvSpPr>
          <p:cNvPr id="32" name="Shape 30"/>
          <p:cNvSpPr/>
          <p:nvPr/>
        </p:nvSpPr>
        <p:spPr>
          <a:xfrm>
            <a:off x="6337300" y="8102600"/>
            <a:ext cx="177800" cy="203200"/>
          </a:xfrm>
          <a:custGeom>
            <a:avLst/>
            <a:gdLst/>
            <a:ahLst/>
            <a:cxnLst/>
            <a:rect l="l" t="t" r="r" b="b"/>
            <a:pathLst>
              <a:path w="177800" h="203200">
                <a:moveTo>
                  <a:pt x="172561" y="27821"/>
                </a:moveTo>
                <a:cubicBezTo>
                  <a:pt x="178237" y="31948"/>
                  <a:pt x="179507" y="39886"/>
                  <a:pt x="175379" y="45561"/>
                </a:cubicBezTo>
                <a:lnTo>
                  <a:pt x="73779" y="185261"/>
                </a:lnTo>
                <a:cubicBezTo>
                  <a:pt x="71596" y="188278"/>
                  <a:pt x="68223" y="190143"/>
                  <a:pt x="64492" y="190460"/>
                </a:cubicBezTo>
                <a:cubicBezTo>
                  <a:pt x="60762" y="190778"/>
                  <a:pt x="57150" y="189389"/>
                  <a:pt x="54531" y="186769"/>
                </a:cubicBezTo>
                <a:lnTo>
                  <a:pt x="3731" y="135969"/>
                </a:lnTo>
                <a:cubicBezTo>
                  <a:pt x="-1230" y="131008"/>
                  <a:pt x="-1230" y="122952"/>
                  <a:pt x="3731" y="117991"/>
                </a:cubicBezTo>
                <a:cubicBezTo>
                  <a:pt x="8692" y="113030"/>
                  <a:pt x="16748" y="113030"/>
                  <a:pt x="21709" y="117991"/>
                </a:cubicBezTo>
                <a:lnTo>
                  <a:pt x="61992" y="158274"/>
                </a:lnTo>
                <a:lnTo>
                  <a:pt x="154861" y="30599"/>
                </a:lnTo>
                <a:cubicBezTo>
                  <a:pt x="158988" y="24924"/>
                  <a:pt x="166926" y="23654"/>
                  <a:pt x="172601" y="27781"/>
                </a:cubicBezTo>
                <a:close/>
              </a:path>
            </a:pathLst>
          </a:custGeom>
          <a:solidFill>
            <a:srgbClr val="4FD1C5"/>
          </a:solidFill>
          <a:ln/>
        </p:spPr>
        <p:txBody>
          <a:bodyPr/>
          <a:lstStyle/>
          <a:p>
            <a:endParaRPr lang="zh-CN" altLang="en-US"/>
          </a:p>
        </p:txBody>
      </p:sp>
      <p:sp>
        <p:nvSpPr>
          <p:cNvPr id="33" name="Text 31"/>
          <p:cNvSpPr/>
          <p:nvPr/>
        </p:nvSpPr>
        <p:spPr>
          <a:xfrm>
            <a:off x="6654800" y="8051800"/>
            <a:ext cx="1930400" cy="304800"/>
          </a:xfrm>
          <a:prstGeom prst="rect">
            <a:avLst/>
          </a:prstGeom>
          <a:noFill/>
          <a:ln/>
        </p:spPr>
        <p:txBody>
          <a:bodyPr wrap="square" lIns="0" tIns="0" rIns="0" bIns="0" rtlCol="0" anchor="ctr"/>
          <a:lstStyle/>
          <a:p>
            <a:pPr>
              <a:lnSpc>
                <a:spcPct val="130000"/>
              </a:lnSpc>
            </a:pPr>
            <a:r>
              <a:rPr lang="en-US" sz="1600" dirty="0">
                <a:solidFill>
                  <a:srgbClr val="F7FAFC"/>
                </a:solidFill>
                <a:latin typeface="MiSans" pitchFamily="34" charset="0"/>
                <a:ea typeface="MiSans" pitchFamily="34" charset="-122"/>
                <a:cs typeface="MiSans" pitchFamily="34" charset="-120"/>
              </a:rPr>
              <a:t>多计算引擎共享数据</a:t>
            </a:r>
            <a:endParaRPr lang="en-US" sz="1600" dirty="0"/>
          </a:p>
        </p:txBody>
      </p:sp>
      <p:sp>
        <p:nvSpPr>
          <p:cNvPr id="34" name="Shape 32"/>
          <p:cNvSpPr/>
          <p:nvPr/>
        </p:nvSpPr>
        <p:spPr>
          <a:xfrm>
            <a:off x="9829800" y="1879600"/>
            <a:ext cx="5918200" cy="6680200"/>
          </a:xfrm>
          <a:custGeom>
            <a:avLst/>
            <a:gdLst/>
            <a:ahLst/>
            <a:cxnLst/>
            <a:rect l="l" t="t" r="r" b="b"/>
            <a:pathLst>
              <a:path w="5918200" h="6680200">
                <a:moveTo>
                  <a:pt x="50800" y="0"/>
                </a:moveTo>
                <a:lnTo>
                  <a:pt x="5816585" y="0"/>
                </a:lnTo>
                <a:cubicBezTo>
                  <a:pt x="5872705" y="0"/>
                  <a:pt x="5918200" y="45495"/>
                  <a:pt x="5918200" y="101615"/>
                </a:cubicBezTo>
                <a:lnTo>
                  <a:pt x="5918200" y="6578585"/>
                </a:lnTo>
                <a:cubicBezTo>
                  <a:pt x="5918200" y="6634705"/>
                  <a:pt x="5872705" y="6680200"/>
                  <a:pt x="5816585" y="6680200"/>
                </a:cubicBezTo>
                <a:lnTo>
                  <a:pt x="50800" y="6680200"/>
                </a:lnTo>
                <a:cubicBezTo>
                  <a:pt x="22763" y="6680200"/>
                  <a:pt x="0" y="6657437"/>
                  <a:pt x="0" y="6629400"/>
                </a:cubicBezTo>
                <a:lnTo>
                  <a:pt x="0" y="50800"/>
                </a:lnTo>
                <a:cubicBezTo>
                  <a:pt x="0" y="22763"/>
                  <a:pt x="22763" y="0"/>
                  <a:pt x="50800" y="0"/>
                </a:cubicBezTo>
                <a:close/>
              </a:path>
            </a:pathLst>
          </a:custGeom>
          <a:solidFill>
            <a:srgbClr val="4A5568">
              <a:alpha val="30196"/>
            </a:srgbClr>
          </a:solidFill>
          <a:ln/>
        </p:spPr>
        <p:txBody>
          <a:bodyPr/>
          <a:lstStyle/>
          <a:p>
            <a:endParaRPr lang="zh-CN" altLang="en-US"/>
          </a:p>
        </p:txBody>
      </p:sp>
      <p:sp>
        <p:nvSpPr>
          <p:cNvPr id="35" name="Shape 33"/>
          <p:cNvSpPr/>
          <p:nvPr/>
        </p:nvSpPr>
        <p:spPr>
          <a:xfrm>
            <a:off x="9829800" y="1879600"/>
            <a:ext cx="50800" cy="6680200"/>
          </a:xfrm>
          <a:custGeom>
            <a:avLst/>
            <a:gdLst/>
            <a:ahLst/>
            <a:cxnLst/>
            <a:rect l="l" t="t" r="r" b="b"/>
            <a:pathLst>
              <a:path w="50800" h="6680200">
                <a:moveTo>
                  <a:pt x="50800" y="0"/>
                </a:moveTo>
                <a:lnTo>
                  <a:pt x="50800" y="0"/>
                </a:lnTo>
                <a:lnTo>
                  <a:pt x="50800" y="6680200"/>
                </a:lnTo>
                <a:lnTo>
                  <a:pt x="50800" y="6680200"/>
                </a:lnTo>
                <a:cubicBezTo>
                  <a:pt x="22763" y="6680200"/>
                  <a:pt x="0" y="6657437"/>
                  <a:pt x="0" y="66294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36" name="Text 34"/>
          <p:cNvSpPr/>
          <p:nvPr/>
        </p:nvSpPr>
        <p:spPr>
          <a:xfrm>
            <a:off x="10109200" y="2133600"/>
            <a:ext cx="5511800" cy="355600"/>
          </a:xfrm>
          <a:prstGeom prst="rect">
            <a:avLst/>
          </a:prstGeom>
          <a:noFill/>
          <a:ln/>
        </p:spPr>
        <p:txBody>
          <a:bodyPr wrap="square" lIns="0" tIns="0" rIns="0" bIns="0" rtlCol="0" anchor="ctr"/>
          <a:lstStyle/>
          <a:p>
            <a:pPr>
              <a:lnSpc>
                <a:spcPct val="120000"/>
              </a:lnSpc>
            </a:pPr>
            <a:r>
              <a:rPr lang="en-US" sz="2000" b="1" dirty="0">
                <a:solidFill>
                  <a:srgbClr val="F7FAFC"/>
                </a:solidFill>
                <a:latin typeface="Noto Sans SC" pitchFamily="34" charset="0"/>
                <a:ea typeface="Noto Sans SC" pitchFamily="34" charset="-122"/>
                <a:cs typeface="Noto Sans SC" pitchFamily="34" charset="-120"/>
              </a:rPr>
              <a:t>数据沼泽的四大问题</a:t>
            </a:r>
            <a:endParaRPr lang="en-US" sz="1600" dirty="0"/>
          </a:p>
        </p:txBody>
      </p:sp>
      <p:sp>
        <p:nvSpPr>
          <p:cNvPr id="37" name="Shape 35"/>
          <p:cNvSpPr/>
          <p:nvPr/>
        </p:nvSpPr>
        <p:spPr>
          <a:xfrm>
            <a:off x="10109200" y="26924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FD1C5">
              <a:alpha val="20000"/>
            </a:srgbClr>
          </a:solidFill>
          <a:ln/>
        </p:spPr>
        <p:txBody>
          <a:bodyPr/>
          <a:lstStyle/>
          <a:p>
            <a:endParaRPr lang="zh-CN" altLang="en-US"/>
          </a:p>
        </p:txBody>
      </p:sp>
      <p:sp>
        <p:nvSpPr>
          <p:cNvPr id="38" name="Text 36"/>
          <p:cNvSpPr/>
          <p:nvPr/>
        </p:nvSpPr>
        <p:spPr>
          <a:xfrm>
            <a:off x="10272415" y="2743200"/>
            <a:ext cx="177800" cy="304800"/>
          </a:xfrm>
          <a:prstGeom prst="rect">
            <a:avLst/>
          </a:prstGeom>
          <a:noFill/>
          <a:ln/>
        </p:spPr>
        <p:txBody>
          <a:bodyPr wrap="square" lIns="0" tIns="0" rIns="0" bIns="0" rtlCol="0" anchor="ctr"/>
          <a:lstStyle/>
          <a:p>
            <a:pPr>
              <a:lnSpc>
                <a:spcPct val="130000"/>
              </a:lnSpc>
            </a:pPr>
            <a:r>
              <a:rPr lang="en-US" sz="1600" b="1" dirty="0">
                <a:solidFill>
                  <a:srgbClr val="4FD1C5"/>
                </a:solidFill>
                <a:latin typeface="MiSans" pitchFamily="34" charset="0"/>
                <a:ea typeface="MiSans" pitchFamily="34" charset="-122"/>
                <a:cs typeface="MiSans" pitchFamily="34" charset="-120"/>
              </a:rPr>
              <a:t>1</a:t>
            </a:r>
            <a:endParaRPr lang="en-US" sz="1600" dirty="0"/>
          </a:p>
        </p:txBody>
      </p:sp>
      <p:sp>
        <p:nvSpPr>
          <p:cNvPr id="39" name="Text 37"/>
          <p:cNvSpPr/>
          <p:nvPr/>
        </p:nvSpPr>
        <p:spPr>
          <a:xfrm>
            <a:off x="10668000" y="2692400"/>
            <a:ext cx="4927600" cy="304800"/>
          </a:xfrm>
          <a:prstGeom prst="rect">
            <a:avLst/>
          </a:prstGeom>
          <a:noFill/>
          <a:ln/>
        </p:spPr>
        <p:txBody>
          <a:bodyPr wrap="square" lIns="0" tIns="0" rIns="0" bIns="0" rtlCol="0" anchor="ctr"/>
          <a:lstStyle/>
          <a:p>
            <a:pPr>
              <a:lnSpc>
                <a:spcPct val="130000"/>
              </a:lnSpc>
            </a:pPr>
            <a:r>
              <a:rPr lang="en-US" sz="1600" b="1" dirty="0">
                <a:solidFill>
                  <a:srgbClr val="F7FAFC"/>
                </a:solidFill>
                <a:latin typeface="MiSans" pitchFamily="34" charset="0"/>
                <a:ea typeface="MiSans" pitchFamily="34" charset="-122"/>
                <a:cs typeface="MiSans" pitchFamily="34" charset="-120"/>
              </a:rPr>
              <a:t>元数据混乱</a:t>
            </a:r>
            <a:endParaRPr lang="en-US" sz="1600" dirty="0"/>
          </a:p>
        </p:txBody>
      </p:sp>
      <p:sp>
        <p:nvSpPr>
          <p:cNvPr id="40" name="Text 38"/>
          <p:cNvSpPr/>
          <p:nvPr/>
        </p:nvSpPr>
        <p:spPr>
          <a:xfrm>
            <a:off x="10668000" y="3048000"/>
            <a:ext cx="4914900" cy="584200"/>
          </a:xfrm>
          <a:prstGeom prst="rect">
            <a:avLst/>
          </a:prstGeom>
          <a:noFill/>
          <a:ln/>
        </p:spPr>
        <p:txBody>
          <a:bodyPr wrap="square" lIns="0" tIns="0" rIns="0" bIns="0" rtlCol="0" anchor="ctr"/>
          <a:lstStyle/>
          <a:p>
            <a:pPr>
              <a:lnSpc>
                <a:spcPct val="140000"/>
              </a:lnSpc>
            </a:pPr>
            <a:r>
              <a:rPr lang="en-US" sz="1400" dirty="0">
                <a:solidFill>
                  <a:srgbClr val="A0AEC0"/>
                </a:solidFill>
                <a:latin typeface="MiSans" pitchFamily="34" charset="0"/>
                <a:ea typeface="MiSans" pitchFamily="34" charset="-122"/>
                <a:cs typeface="MiSans" pitchFamily="34" charset="-120"/>
              </a:rPr>
              <a:t>缺乏统一规范,目录命名规则各异,文档缺失,难以追溯数据来源与含义</a:t>
            </a:r>
            <a:endParaRPr lang="en-US" sz="1600" dirty="0"/>
          </a:p>
        </p:txBody>
      </p:sp>
      <p:sp>
        <p:nvSpPr>
          <p:cNvPr id="41" name="Shape 39"/>
          <p:cNvSpPr/>
          <p:nvPr/>
        </p:nvSpPr>
        <p:spPr>
          <a:xfrm>
            <a:off x="10109200" y="382905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FD1C5">
              <a:alpha val="20000"/>
            </a:srgbClr>
          </a:solidFill>
          <a:ln/>
        </p:spPr>
        <p:txBody>
          <a:bodyPr/>
          <a:lstStyle/>
          <a:p>
            <a:endParaRPr lang="zh-CN" altLang="en-US"/>
          </a:p>
        </p:txBody>
      </p:sp>
      <p:sp>
        <p:nvSpPr>
          <p:cNvPr id="42" name="Text 40"/>
          <p:cNvSpPr/>
          <p:nvPr/>
        </p:nvSpPr>
        <p:spPr>
          <a:xfrm>
            <a:off x="10255250" y="3879850"/>
            <a:ext cx="215900" cy="304800"/>
          </a:xfrm>
          <a:prstGeom prst="rect">
            <a:avLst/>
          </a:prstGeom>
          <a:noFill/>
          <a:ln/>
        </p:spPr>
        <p:txBody>
          <a:bodyPr wrap="square" lIns="0" tIns="0" rIns="0" bIns="0" rtlCol="0" anchor="ctr"/>
          <a:lstStyle/>
          <a:p>
            <a:pPr>
              <a:lnSpc>
                <a:spcPct val="130000"/>
              </a:lnSpc>
            </a:pPr>
            <a:r>
              <a:rPr lang="en-US" sz="1600" b="1" dirty="0">
                <a:solidFill>
                  <a:srgbClr val="4FD1C5"/>
                </a:solidFill>
                <a:latin typeface="MiSans" pitchFamily="34" charset="0"/>
                <a:ea typeface="MiSans" pitchFamily="34" charset="-122"/>
                <a:cs typeface="MiSans" pitchFamily="34" charset="-120"/>
              </a:rPr>
              <a:t>2</a:t>
            </a:r>
            <a:endParaRPr lang="en-US" sz="1600" dirty="0"/>
          </a:p>
        </p:txBody>
      </p:sp>
      <p:sp>
        <p:nvSpPr>
          <p:cNvPr id="43" name="Text 41"/>
          <p:cNvSpPr/>
          <p:nvPr/>
        </p:nvSpPr>
        <p:spPr>
          <a:xfrm>
            <a:off x="10668000" y="3829050"/>
            <a:ext cx="4927600" cy="304800"/>
          </a:xfrm>
          <a:prstGeom prst="rect">
            <a:avLst/>
          </a:prstGeom>
          <a:noFill/>
          <a:ln/>
        </p:spPr>
        <p:txBody>
          <a:bodyPr wrap="square" lIns="0" tIns="0" rIns="0" bIns="0" rtlCol="0" anchor="ctr"/>
          <a:lstStyle/>
          <a:p>
            <a:pPr>
              <a:lnSpc>
                <a:spcPct val="130000"/>
              </a:lnSpc>
            </a:pPr>
            <a:r>
              <a:rPr lang="en-US" sz="1600" b="1" dirty="0">
                <a:solidFill>
                  <a:srgbClr val="F7FAFC"/>
                </a:solidFill>
                <a:latin typeface="MiSans" pitchFamily="34" charset="0"/>
                <a:ea typeface="MiSans" pitchFamily="34" charset="-122"/>
                <a:cs typeface="MiSans" pitchFamily="34" charset="-120"/>
              </a:rPr>
              <a:t>一致性问题</a:t>
            </a:r>
            <a:endParaRPr lang="en-US" sz="1600" dirty="0"/>
          </a:p>
        </p:txBody>
      </p:sp>
      <p:sp>
        <p:nvSpPr>
          <p:cNvPr id="44" name="Text 42"/>
          <p:cNvSpPr/>
          <p:nvPr/>
        </p:nvSpPr>
        <p:spPr>
          <a:xfrm>
            <a:off x="10668000" y="4184650"/>
            <a:ext cx="4914900" cy="584200"/>
          </a:xfrm>
          <a:prstGeom prst="rect">
            <a:avLst/>
          </a:prstGeom>
          <a:noFill/>
          <a:ln/>
        </p:spPr>
        <p:txBody>
          <a:bodyPr wrap="square" lIns="0" tIns="0" rIns="0" bIns="0" rtlCol="0" anchor="ctr"/>
          <a:lstStyle/>
          <a:p>
            <a:pPr>
              <a:lnSpc>
                <a:spcPct val="140000"/>
              </a:lnSpc>
            </a:pPr>
            <a:r>
              <a:rPr lang="en-US" sz="1400" dirty="0">
                <a:solidFill>
                  <a:srgbClr val="A0AEC0"/>
                </a:solidFill>
                <a:latin typeface="MiSans" pitchFamily="34" charset="0"/>
                <a:ea typeface="MiSans" pitchFamily="34" charset="-122"/>
                <a:cs typeface="MiSans" pitchFamily="34" charset="-120"/>
              </a:rPr>
              <a:t>无事务保障,写入失败留下不完整文件,下游查询可能读到"半写入"数据</a:t>
            </a:r>
            <a:endParaRPr lang="en-US" sz="1600" dirty="0"/>
          </a:p>
        </p:txBody>
      </p:sp>
      <p:sp>
        <p:nvSpPr>
          <p:cNvPr id="45" name="Shape 43"/>
          <p:cNvSpPr/>
          <p:nvPr/>
        </p:nvSpPr>
        <p:spPr>
          <a:xfrm>
            <a:off x="10109200" y="49657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FD1C5">
              <a:alpha val="20000"/>
            </a:srgbClr>
          </a:solidFill>
          <a:ln/>
        </p:spPr>
        <p:txBody>
          <a:bodyPr/>
          <a:lstStyle/>
          <a:p>
            <a:endParaRPr lang="zh-CN" altLang="en-US"/>
          </a:p>
        </p:txBody>
      </p:sp>
      <p:sp>
        <p:nvSpPr>
          <p:cNvPr id="46" name="Text 44"/>
          <p:cNvSpPr/>
          <p:nvPr/>
        </p:nvSpPr>
        <p:spPr>
          <a:xfrm>
            <a:off x="10252571" y="5016500"/>
            <a:ext cx="215900" cy="304800"/>
          </a:xfrm>
          <a:prstGeom prst="rect">
            <a:avLst/>
          </a:prstGeom>
          <a:noFill/>
          <a:ln/>
        </p:spPr>
        <p:txBody>
          <a:bodyPr wrap="square" lIns="0" tIns="0" rIns="0" bIns="0" rtlCol="0" anchor="ctr"/>
          <a:lstStyle/>
          <a:p>
            <a:pPr>
              <a:lnSpc>
                <a:spcPct val="130000"/>
              </a:lnSpc>
            </a:pPr>
            <a:r>
              <a:rPr lang="en-US" sz="1600" b="1" dirty="0">
                <a:solidFill>
                  <a:srgbClr val="4FD1C5"/>
                </a:solidFill>
                <a:latin typeface="MiSans" pitchFamily="34" charset="0"/>
                <a:ea typeface="MiSans" pitchFamily="34" charset="-122"/>
                <a:cs typeface="MiSans" pitchFamily="34" charset="-120"/>
              </a:rPr>
              <a:t>3</a:t>
            </a:r>
            <a:endParaRPr lang="en-US" sz="1600" dirty="0"/>
          </a:p>
        </p:txBody>
      </p:sp>
      <p:sp>
        <p:nvSpPr>
          <p:cNvPr id="47" name="Text 45"/>
          <p:cNvSpPr/>
          <p:nvPr/>
        </p:nvSpPr>
        <p:spPr>
          <a:xfrm>
            <a:off x="10668000" y="4965700"/>
            <a:ext cx="4927600" cy="304800"/>
          </a:xfrm>
          <a:prstGeom prst="rect">
            <a:avLst/>
          </a:prstGeom>
          <a:noFill/>
          <a:ln/>
        </p:spPr>
        <p:txBody>
          <a:bodyPr wrap="square" lIns="0" tIns="0" rIns="0" bIns="0" rtlCol="0" anchor="ctr"/>
          <a:lstStyle/>
          <a:p>
            <a:pPr>
              <a:lnSpc>
                <a:spcPct val="130000"/>
              </a:lnSpc>
            </a:pPr>
            <a:r>
              <a:rPr lang="en-US" sz="1600" b="1" dirty="0">
                <a:solidFill>
                  <a:srgbClr val="F7FAFC"/>
                </a:solidFill>
                <a:latin typeface="MiSans" pitchFamily="34" charset="0"/>
                <a:ea typeface="MiSans" pitchFamily="34" charset="-122"/>
                <a:cs typeface="MiSans" pitchFamily="34" charset="-120"/>
              </a:rPr>
              <a:t>小文件风暴</a:t>
            </a:r>
            <a:endParaRPr lang="en-US" sz="1600" dirty="0"/>
          </a:p>
        </p:txBody>
      </p:sp>
      <p:sp>
        <p:nvSpPr>
          <p:cNvPr id="48" name="Text 46"/>
          <p:cNvSpPr/>
          <p:nvPr/>
        </p:nvSpPr>
        <p:spPr>
          <a:xfrm>
            <a:off x="10668000" y="5321300"/>
            <a:ext cx="4914900" cy="584200"/>
          </a:xfrm>
          <a:prstGeom prst="rect">
            <a:avLst/>
          </a:prstGeom>
          <a:noFill/>
          <a:ln/>
        </p:spPr>
        <p:txBody>
          <a:bodyPr wrap="square" lIns="0" tIns="0" rIns="0" bIns="0" rtlCol="0" anchor="ctr"/>
          <a:lstStyle/>
          <a:p>
            <a:pPr>
              <a:lnSpc>
                <a:spcPct val="140000"/>
              </a:lnSpc>
            </a:pPr>
            <a:r>
              <a:rPr lang="en-US" sz="1400" dirty="0">
                <a:solidFill>
                  <a:srgbClr val="A0AEC0"/>
                </a:solidFill>
                <a:latin typeface="MiSans" pitchFamily="34" charset="0"/>
                <a:ea typeface="MiSans" pitchFamily="34" charset="-122"/>
                <a:cs typeface="MiSans" pitchFamily="34" charset="-120"/>
              </a:rPr>
              <a:t>流式写入产生海量小文件,元数据服务压力大,查询延迟和资源成本倍增</a:t>
            </a:r>
            <a:endParaRPr lang="en-US" sz="1600" dirty="0"/>
          </a:p>
        </p:txBody>
      </p:sp>
      <p:sp>
        <p:nvSpPr>
          <p:cNvPr id="49" name="Shape 47"/>
          <p:cNvSpPr/>
          <p:nvPr/>
        </p:nvSpPr>
        <p:spPr>
          <a:xfrm>
            <a:off x="10109200" y="610235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4FD1C5">
              <a:alpha val="20000"/>
            </a:srgbClr>
          </a:solidFill>
          <a:ln/>
        </p:spPr>
        <p:txBody>
          <a:bodyPr/>
          <a:lstStyle/>
          <a:p>
            <a:endParaRPr lang="zh-CN" altLang="en-US"/>
          </a:p>
        </p:txBody>
      </p:sp>
      <p:sp>
        <p:nvSpPr>
          <p:cNvPr id="50" name="Text 48"/>
          <p:cNvSpPr/>
          <p:nvPr/>
        </p:nvSpPr>
        <p:spPr>
          <a:xfrm>
            <a:off x="10252770" y="6153150"/>
            <a:ext cx="215900" cy="304800"/>
          </a:xfrm>
          <a:prstGeom prst="rect">
            <a:avLst/>
          </a:prstGeom>
          <a:noFill/>
          <a:ln/>
        </p:spPr>
        <p:txBody>
          <a:bodyPr wrap="square" lIns="0" tIns="0" rIns="0" bIns="0" rtlCol="0" anchor="ctr"/>
          <a:lstStyle/>
          <a:p>
            <a:pPr>
              <a:lnSpc>
                <a:spcPct val="130000"/>
              </a:lnSpc>
            </a:pPr>
            <a:r>
              <a:rPr lang="en-US" sz="1600" b="1" dirty="0">
                <a:solidFill>
                  <a:srgbClr val="4FD1C5"/>
                </a:solidFill>
                <a:latin typeface="MiSans" pitchFamily="34" charset="0"/>
                <a:ea typeface="MiSans" pitchFamily="34" charset="-122"/>
                <a:cs typeface="MiSans" pitchFamily="34" charset="-120"/>
              </a:rPr>
              <a:t>4</a:t>
            </a:r>
            <a:endParaRPr lang="en-US" sz="1600" dirty="0"/>
          </a:p>
        </p:txBody>
      </p:sp>
      <p:sp>
        <p:nvSpPr>
          <p:cNvPr id="51" name="Text 49"/>
          <p:cNvSpPr/>
          <p:nvPr/>
        </p:nvSpPr>
        <p:spPr>
          <a:xfrm>
            <a:off x="10668000" y="6102350"/>
            <a:ext cx="4927600" cy="304800"/>
          </a:xfrm>
          <a:prstGeom prst="rect">
            <a:avLst/>
          </a:prstGeom>
          <a:noFill/>
          <a:ln/>
        </p:spPr>
        <p:txBody>
          <a:bodyPr wrap="square" lIns="0" tIns="0" rIns="0" bIns="0" rtlCol="0" anchor="ctr"/>
          <a:lstStyle/>
          <a:p>
            <a:pPr>
              <a:lnSpc>
                <a:spcPct val="130000"/>
              </a:lnSpc>
            </a:pPr>
            <a:r>
              <a:rPr lang="en-US" sz="1600" b="1" dirty="0">
                <a:solidFill>
                  <a:srgbClr val="F7FAFC"/>
                </a:solidFill>
                <a:latin typeface="MiSans" pitchFamily="34" charset="0"/>
                <a:ea typeface="MiSans" pitchFamily="34" charset="-122"/>
                <a:cs typeface="MiSans" pitchFamily="34" charset="-120"/>
              </a:rPr>
              <a:t>合规困难</a:t>
            </a:r>
            <a:endParaRPr lang="en-US" sz="1600" dirty="0"/>
          </a:p>
        </p:txBody>
      </p:sp>
      <p:sp>
        <p:nvSpPr>
          <p:cNvPr id="52" name="Text 50"/>
          <p:cNvSpPr/>
          <p:nvPr/>
        </p:nvSpPr>
        <p:spPr>
          <a:xfrm>
            <a:off x="10668000" y="6457950"/>
            <a:ext cx="4914900" cy="584200"/>
          </a:xfrm>
          <a:prstGeom prst="rect">
            <a:avLst/>
          </a:prstGeom>
          <a:noFill/>
          <a:ln/>
        </p:spPr>
        <p:txBody>
          <a:bodyPr wrap="square" lIns="0" tIns="0" rIns="0" bIns="0" rtlCol="0" anchor="ctr"/>
          <a:lstStyle/>
          <a:p>
            <a:pPr>
              <a:lnSpc>
                <a:spcPct val="140000"/>
              </a:lnSpc>
            </a:pPr>
            <a:r>
              <a:rPr lang="en-US" sz="1400" dirty="0">
                <a:solidFill>
                  <a:srgbClr val="A0AEC0"/>
                </a:solidFill>
                <a:latin typeface="MiSans" pitchFamily="34" charset="0"/>
                <a:ea typeface="MiSans" pitchFamily="34" charset="-122"/>
                <a:cs typeface="MiSans" pitchFamily="34" charset="-120"/>
              </a:rPr>
              <a:t>缺乏行级删除和版本管理,用户"被遗忘权"实现成本高,数据回溯困难</a:t>
            </a:r>
            <a:endParaRPr lang="en-US" sz="1600" dirty="0"/>
          </a:p>
        </p:txBody>
      </p:sp>
      <p:sp>
        <p:nvSpPr>
          <p:cNvPr id="53" name="Shape 51"/>
          <p:cNvSpPr/>
          <p:nvPr/>
        </p:nvSpPr>
        <p:spPr>
          <a:xfrm>
            <a:off x="10121900" y="7239000"/>
            <a:ext cx="5372100" cy="863600"/>
          </a:xfrm>
          <a:custGeom>
            <a:avLst/>
            <a:gdLst/>
            <a:ahLst/>
            <a:cxnLst/>
            <a:rect l="l" t="t" r="r" b="b"/>
            <a:pathLst>
              <a:path w="5372100" h="863600">
                <a:moveTo>
                  <a:pt x="25400" y="0"/>
                </a:moveTo>
                <a:lnTo>
                  <a:pt x="5321303" y="0"/>
                </a:lnTo>
                <a:cubicBezTo>
                  <a:pt x="5349357" y="0"/>
                  <a:pt x="5372100" y="22743"/>
                  <a:pt x="5372100" y="50797"/>
                </a:cubicBezTo>
                <a:lnTo>
                  <a:pt x="5372100" y="812803"/>
                </a:lnTo>
                <a:cubicBezTo>
                  <a:pt x="5372100" y="840857"/>
                  <a:pt x="5349357" y="863600"/>
                  <a:pt x="5321303" y="863600"/>
                </a:cubicBezTo>
                <a:lnTo>
                  <a:pt x="25400" y="863600"/>
                </a:lnTo>
                <a:cubicBezTo>
                  <a:pt x="11381" y="863600"/>
                  <a:pt x="0" y="852219"/>
                  <a:pt x="0" y="838200"/>
                </a:cubicBezTo>
                <a:lnTo>
                  <a:pt x="0" y="25400"/>
                </a:lnTo>
                <a:cubicBezTo>
                  <a:pt x="0" y="11381"/>
                  <a:pt x="11381" y="0"/>
                  <a:pt x="25400" y="0"/>
                </a:cubicBezTo>
                <a:close/>
              </a:path>
            </a:pathLst>
          </a:custGeom>
          <a:solidFill>
            <a:srgbClr val="1A202C"/>
          </a:solidFill>
          <a:ln/>
        </p:spPr>
        <p:txBody>
          <a:bodyPr/>
          <a:lstStyle/>
          <a:p>
            <a:endParaRPr lang="zh-CN" altLang="en-US"/>
          </a:p>
        </p:txBody>
      </p:sp>
      <p:sp>
        <p:nvSpPr>
          <p:cNvPr id="54" name="Shape 52"/>
          <p:cNvSpPr/>
          <p:nvPr/>
        </p:nvSpPr>
        <p:spPr>
          <a:xfrm>
            <a:off x="10121900" y="7239000"/>
            <a:ext cx="25400" cy="863600"/>
          </a:xfrm>
          <a:custGeom>
            <a:avLst/>
            <a:gdLst/>
            <a:ahLst/>
            <a:cxnLst/>
            <a:rect l="l" t="t" r="r" b="b"/>
            <a:pathLst>
              <a:path w="25400" h="863600">
                <a:moveTo>
                  <a:pt x="25400" y="0"/>
                </a:moveTo>
                <a:lnTo>
                  <a:pt x="25400" y="0"/>
                </a:lnTo>
                <a:lnTo>
                  <a:pt x="25400" y="863600"/>
                </a:lnTo>
                <a:lnTo>
                  <a:pt x="25400" y="863600"/>
                </a:lnTo>
                <a:cubicBezTo>
                  <a:pt x="11381" y="863600"/>
                  <a:pt x="0" y="852219"/>
                  <a:pt x="0" y="838200"/>
                </a:cubicBezTo>
                <a:lnTo>
                  <a:pt x="0" y="25400"/>
                </a:lnTo>
                <a:cubicBezTo>
                  <a:pt x="0" y="11381"/>
                  <a:pt x="11381" y="0"/>
                  <a:pt x="25400" y="0"/>
                </a:cubicBezTo>
                <a:close/>
              </a:path>
            </a:pathLst>
          </a:custGeom>
          <a:solidFill>
            <a:srgbClr val="4FD1C5"/>
          </a:solidFill>
          <a:ln/>
        </p:spPr>
        <p:txBody>
          <a:bodyPr/>
          <a:lstStyle/>
          <a:p>
            <a:endParaRPr lang="zh-CN" altLang="en-US"/>
          </a:p>
        </p:txBody>
      </p:sp>
      <p:sp>
        <p:nvSpPr>
          <p:cNvPr id="55" name="Text 53"/>
          <p:cNvSpPr/>
          <p:nvPr/>
        </p:nvSpPr>
        <p:spPr>
          <a:xfrm>
            <a:off x="10287000" y="7391400"/>
            <a:ext cx="5143500" cy="254000"/>
          </a:xfrm>
          <a:prstGeom prst="rect">
            <a:avLst/>
          </a:prstGeom>
          <a:noFill/>
          <a:ln/>
        </p:spPr>
        <p:txBody>
          <a:bodyPr wrap="square" lIns="0" tIns="0" rIns="0" bIns="0" rtlCol="0" anchor="ctr"/>
          <a:lstStyle/>
          <a:p>
            <a:pPr>
              <a:lnSpc>
                <a:spcPct val="120000"/>
              </a:lnSpc>
            </a:pPr>
            <a:r>
              <a:rPr lang="en-US" sz="1400" b="1" dirty="0">
                <a:solidFill>
                  <a:srgbClr val="4FD1C5"/>
                </a:solidFill>
                <a:latin typeface="MiSans" pitchFamily="34" charset="0"/>
                <a:ea typeface="MiSans" pitchFamily="34" charset="-122"/>
                <a:cs typeface="MiSans" pitchFamily="34" charset="-120"/>
              </a:rPr>
              <a:t>核心矛盾</a:t>
            </a:r>
            <a:endParaRPr lang="en-US" sz="1600" dirty="0"/>
          </a:p>
        </p:txBody>
      </p:sp>
      <p:sp>
        <p:nvSpPr>
          <p:cNvPr id="56" name="Text 54"/>
          <p:cNvSpPr/>
          <p:nvPr/>
        </p:nvSpPr>
        <p:spPr>
          <a:xfrm>
            <a:off x="10287000" y="7696200"/>
            <a:ext cx="51435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数据湖解决了"能存",但缺乏"系统性地管、用数据"的机制</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91489" y="491489"/>
            <a:ext cx="2985796" cy="294893"/>
          </a:xfrm>
          <a:prstGeom prst="rect">
            <a:avLst/>
          </a:prstGeom>
          <a:noFill/>
          <a:ln/>
        </p:spPr>
        <p:txBody>
          <a:bodyPr wrap="square" lIns="0" tIns="0" rIns="0" bIns="0" rtlCol="0" anchor="ctr"/>
          <a:lstStyle/>
          <a:p>
            <a:pPr>
              <a:lnSpc>
                <a:spcPct val="130000"/>
              </a:lnSpc>
            </a:pPr>
            <a:r>
              <a:rPr lang="en-US" sz="1548" b="1" kern="0" spc="77" dirty="0">
                <a:solidFill>
                  <a:srgbClr val="4FD1C5"/>
                </a:solidFill>
                <a:latin typeface="MiSans" pitchFamily="34" charset="0"/>
                <a:ea typeface="MiSans" pitchFamily="34" charset="-122"/>
                <a:cs typeface="MiSans" pitchFamily="34" charset="-120"/>
              </a:rPr>
              <a:t>TYPICAL APPLICATION CASE</a:t>
            </a:r>
            <a:endParaRPr lang="en-US" sz="1600" dirty="0"/>
          </a:p>
        </p:txBody>
      </p:sp>
      <p:sp>
        <p:nvSpPr>
          <p:cNvPr id="3" name="Text 1"/>
          <p:cNvSpPr/>
          <p:nvPr/>
        </p:nvSpPr>
        <p:spPr>
          <a:xfrm>
            <a:off x="491489" y="884680"/>
            <a:ext cx="15494192" cy="491489"/>
          </a:xfrm>
          <a:prstGeom prst="rect">
            <a:avLst/>
          </a:prstGeom>
          <a:noFill/>
          <a:ln/>
        </p:spPr>
        <p:txBody>
          <a:bodyPr wrap="square" lIns="0" tIns="0" rIns="0" bIns="0" rtlCol="0" anchor="ctr"/>
          <a:lstStyle/>
          <a:p>
            <a:pPr>
              <a:lnSpc>
                <a:spcPct val="90000"/>
              </a:lnSpc>
            </a:pPr>
            <a:r>
              <a:rPr lang="en-US" sz="3483" b="1" dirty="0">
                <a:solidFill>
                  <a:srgbClr val="F7FAFC"/>
                </a:solidFill>
                <a:latin typeface="Noto Sans SC" pitchFamily="34" charset="0"/>
                <a:ea typeface="Noto Sans SC" pitchFamily="34" charset="-122"/>
                <a:cs typeface="Noto Sans SC" pitchFamily="34" charset="-120"/>
              </a:rPr>
              <a:t>湖仓一体阶段：近实时风控与运营</a:t>
            </a:r>
            <a:endParaRPr lang="en-US" sz="1600" dirty="0"/>
          </a:p>
        </p:txBody>
      </p:sp>
      <p:sp>
        <p:nvSpPr>
          <p:cNvPr id="4" name="Shape 2"/>
          <p:cNvSpPr/>
          <p:nvPr/>
        </p:nvSpPr>
        <p:spPr>
          <a:xfrm>
            <a:off x="491489" y="1523616"/>
            <a:ext cx="982978" cy="49149"/>
          </a:xfrm>
          <a:custGeom>
            <a:avLst/>
            <a:gdLst/>
            <a:ahLst/>
            <a:cxnLst/>
            <a:rect l="l" t="t" r="r" b="b"/>
            <a:pathLst>
              <a:path w="982978" h="49149">
                <a:moveTo>
                  <a:pt x="0" y="0"/>
                </a:moveTo>
                <a:lnTo>
                  <a:pt x="982978" y="0"/>
                </a:lnTo>
                <a:lnTo>
                  <a:pt x="982978" y="49149"/>
                </a:lnTo>
                <a:lnTo>
                  <a:pt x="0" y="49149"/>
                </a:lnTo>
                <a:lnTo>
                  <a:pt x="0" y="0"/>
                </a:lnTo>
                <a:close/>
              </a:path>
            </a:pathLst>
          </a:custGeom>
          <a:solidFill>
            <a:srgbClr val="4FD1C5"/>
          </a:solidFill>
          <a:ln/>
        </p:spPr>
        <p:txBody>
          <a:bodyPr/>
          <a:lstStyle/>
          <a:p>
            <a:endParaRPr lang="zh-CN" altLang="en-US"/>
          </a:p>
        </p:txBody>
      </p:sp>
      <p:sp>
        <p:nvSpPr>
          <p:cNvPr id="5" name="Shape 3"/>
          <p:cNvSpPr/>
          <p:nvPr/>
        </p:nvSpPr>
        <p:spPr>
          <a:xfrm>
            <a:off x="516063" y="1818509"/>
            <a:ext cx="15248447" cy="1621914"/>
          </a:xfrm>
          <a:custGeom>
            <a:avLst/>
            <a:gdLst/>
            <a:ahLst/>
            <a:cxnLst/>
            <a:rect l="l" t="t" r="r" b="b"/>
            <a:pathLst>
              <a:path w="15248447" h="1621914">
                <a:moveTo>
                  <a:pt x="49149" y="0"/>
                </a:moveTo>
                <a:lnTo>
                  <a:pt x="15150143" y="0"/>
                </a:lnTo>
                <a:cubicBezTo>
                  <a:pt x="15204435" y="0"/>
                  <a:pt x="15248447" y="44012"/>
                  <a:pt x="15248447" y="98304"/>
                </a:cubicBezTo>
                <a:lnTo>
                  <a:pt x="15248447" y="1523610"/>
                </a:lnTo>
                <a:cubicBezTo>
                  <a:pt x="15248447" y="1577902"/>
                  <a:pt x="15204435" y="1621914"/>
                  <a:pt x="15150143" y="1621914"/>
                </a:cubicBezTo>
                <a:lnTo>
                  <a:pt x="49149" y="1621914"/>
                </a:lnTo>
                <a:cubicBezTo>
                  <a:pt x="22005" y="1621914"/>
                  <a:pt x="0" y="1599909"/>
                  <a:pt x="0" y="1572765"/>
                </a:cubicBezTo>
                <a:lnTo>
                  <a:pt x="0" y="49149"/>
                </a:lnTo>
                <a:cubicBezTo>
                  <a:pt x="0" y="22023"/>
                  <a:pt x="22023" y="0"/>
                  <a:pt x="49149" y="0"/>
                </a:cubicBezTo>
                <a:close/>
              </a:path>
            </a:pathLst>
          </a:custGeom>
          <a:solidFill>
            <a:srgbClr val="4FD1C5">
              <a:alpha val="10196"/>
            </a:srgbClr>
          </a:solidFill>
          <a:ln/>
        </p:spPr>
        <p:txBody>
          <a:bodyPr/>
          <a:lstStyle/>
          <a:p>
            <a:endParaRPr lang="zh-CN" altLang="en-US"/>
          </a:p>
        </p:txBody>
      </p:sp>
      <p:sp>
        <p:nvSpPr>
          <p:cNvPr id="6" name="Shape 4"/>
          <p:cNvSpPr/>
          <p:nvPr/>
        </p:nvSpPr>
        <p:spPr>
          <a:xfrm>
            <a:off x="516063" y="1818509"/>
            <a:ext cx="49149" cy="1621914"/>
          </a:xfrm>
          <a:custGeom>
            <a:avLst/>
            <a:gdLst/>
            <a:ahLst/>
            <a:cxnLst/>
            <a:rect l="l" t="t" r="r" b="b"/>
            <a:pathLst>
              <a:path w="49149" h="1621914">
                <a:moveTo>
                  <a:pt x="49149" y="0"/>
                </a:moveTo>
                <a:lnTo>
                  <a:pt x="49149" y="0"/>
                </a:lnTo>
                <a:lnTo>
                  <a:pt x="49149" y="1621914"/>
                </a:lnTo>
                <a:lnTo>
                  <a:pt x="49149" y="1621914"/>
                </a:lnTo>
                <a:cubicBezTo>
                  <a:pt x="22005" y="1621914"/>
                  <a:pt x="0" y="1599909"/>
                  <a:pt x="0" y="1572765"/>
                </a:cubicBezTo>
                <a:lnTo>
                  <a:pt x="0" y="49149"/>
                </a:lnTo>
                <a:cubicBezTo>
                  <a:pt x="0" y="22023"/>
                  <a:pt x="22023" y="0"/>
                  <a:pt x="49149" y="0"/>
                </a:cubicBezTo>
                <a:close/>
              </a:path>
            </a:pathLst>
          </a:custGeom>
          <a:solidFill>
            <a:srgbClr val="4FD1C5"/>
          </a:solidFill>
          <a:ln/>
        </p:spPr>
        <p:txBody>
          <a:bodyPr/>
          <a:lstStyle/>
          <a:p>
            <a:endParaRPr lang="zh-CN" altLang="en-US"/>
          </a:p>
        </p:txBody>
      </p:sp>
      <p:sp>
        <p:nvSpPr>
          <p:cNvPr id="7" name="Text 5"/>
          <p:cNvSpPr/>
          <p:nvPr/>
        </p:nvSpPr>
        <p:spPr>
          <a:xfrm>
            <a:off x="786382" y="2064254"/>
            <a:ext cx="14855256" cy="344042"/>
          </a:xfrm>
          <a:prstGeom prst="rect">
            <a:avLst/>
          </a:prstGeom>
          <a:noFill/>
          <a:ln/>
        </p:spPr>
        <p:txBody>
          <a:bodyPr wrap="square" lIns="0" tIns="0" rIns="0" bIns="0" rtlCol="0" anchor="ctr"/>
          <a:lstStyle/>
          <a:p>
            <a:pPr>
              <a:lnSpc>
                <a:spcPct val="120000"/>
              </a:lnSpc>
            </a:pPr>
            <a:r>
              <a:rPr lang="en-US" sz="1935" b="1" dirty="0">
                <a:solidFill>
                  <a:srgbClr val="F7FAFC"/>
                </a:solidFill>
                <a:latin typeface="Noto Sans SC" pitchFamily="34" charset="0"/>
                <a:ea typeface="Noto Sans SC" pitchFamily="34" charset="-122"/>
                <a:cs typeface="Noto Sans SC" pitchFamily="34" charset="-120"/>
              </a:rPr>
              <a:t>湖仓一体整体目标</a:t>
            </a:r>
            <a:endParaRPr lang="en-US" sz="1600" dirty="0"/>
          </a:p>
        </p:txBody>
      </p:sp>
      <p:sp>
        <p:nvSpPr>
          <p:cNvPr id="8" name="Shape 6"/>
          <p:cNvSpPr/>
          <p:nvPr/>
        </p:nvSpPr>
        <p:spPr>
          <a:xfrm>
            <a:off x="841675" y="2654041"/>
            <a:ext cx="258032" cy="294893"/>
          </a:xfrm>
          <a:custGeom>
            <a:avLst/>
            <a:gdLst/>
            <a:ahLst/>
            <a:cxnLst/>
            <a:rect l="l" t="t" r="r" b="b"/>
            <a:pathLst>
              <a:path w="258032" h="294893">
                <a:moveTo>
                  <a:pt x="258032" y="118533"/>
                </a:moveTo>
                <a:cubicBezTo>
                  <a:pt x="249507" y="124178"/>
                  <a:pt x="239716" y="128728"/>
                  <a:pt x="229522" y="132356"/>
                </a:cubicBezTo>
                <a:cubicBezTo>
                  <a:pt x="202451" y="142033"/>
                  <a:pt x="166914" y="147447"/>
                  <a:pt x="129016" y="147447"/>
                </a:cubicBezTo>
                <a:cubicBezTo>
                  <a:pt x="91117" y="147447"/>
                  <a:pt x="55523" y="141975"/>
                  <a:pt x="28510" y="132356"/>
                </a:cubicBezTo>
                <a:cubicBezTo>
                  <a:pt x="18373" y="128728"/>
                  <a:pt x="8524" y="124178"/>
                  <a:pt x="0" y="118533"/>
                </a:cubicBezTo>
                <a:lnTo>
                  <a:pt x="0" y="165878"/>
                </a:lnTo>
                <a:cubicBezTo>
                  <a:pt x="0" y="191335"/>
                  <a:pt x="57769" y="211955"/>
                  <a:pt x="129016" y="211955"/>
                </a:cubicBezTo>
                <a:cubicBezTo>
                  <a:pt x="200263" y="211955"/>
                  <a:pt x="258032" y="191335"/>
                  <a:pt x="258032" y="165878"/>
                </a:cubicBezTo>
                <a:lnTo>
                  <a:pt x="258032" y="118533"/>
                </a:lnTo>
                <a:close/>
                <a:moveTo>
                  <a:pt x="258032" y="73723"/>
                </a:moveTo>
                <a:lnTo>
                  <a:pt x="258032" y="46077"/>
                </a:lnTo>
                <a:cubicBezTo>
                  <a:pt x="258032" y="20620"/>
                  <a:pt x="200263" y="0"/>
                  <a:pt x="129016" y="0"/>
                </a:cubicBezTo>
                <a:cubicBezTo>
                  <a:pt x="57769" y="0"/>
                  <a:pt x="0" y="20620"/>
                  <a:pt x="0" y="46077"/>
                </a:cubicBezTo>
                <a:lnTo>
                  <a:pt x="0" y="73723"/>
                </a:lnTo>
                <a:cubicBezTo>
                  <a:pt x="0" y="99181"/>
                  <a:pt x="57769" y="119800"/>
                  <a:pt x="129016" y="119800"/>
                </a:cubicBezTo>
                <a:cubicBezTo>
                  <a:pt x="200263" y="119800"/>
                  <a:pt x="258032" y="99181"/>
                  <a:pt x="258032" y="73723"/>
                </a:cubicBezTo>
                <a:close/>
                <a:moveTo>
                  <a:pt x="229522" y="224511"/>
                </a:moveTo>
                <a:cubicBezTo>
                  <a:pt x="202509" y="234129"/>
                  <a:pt x="166972" y="239601"/>
                  <a:pt x="129016" y="239601"/>
                </a:cubicBezTo>
                <a:cubicBezTo>
                  <a:pt x="91060" y="239601"/>
                  <a:pt x="55523" y="234129"/>
                  <a:pt x="28510" y="224511"/>
                </a:cubicBezTo>
                <a:cubicBezTo>
                  <a:pt x="18373" y="220882"/>
                  <a:pt x="8524" y="216332"/>
                  <a:pt x="0" y="210688"/>
                </a:cubicBezTo>
                <a:lnTo>
                  <a:pt x="0" y="248816"/>
                </a:lnTo>
                <a:cubicBezTo>
                  <a:pt x="0" y="274274"/>
                  <a:pt x="57769" y="294893"/>
                  <a:pt x="129016" y="294893"/>
                </a:cubicBezTo>
                <a:cubicBezTo>
                  <a:pt x="200263" y="294893"/>
                  <a:pt x="258032" y="274274"/>
                  <a:pt x="258032" y="248816"/>
                </a:cubicBezTo>
                <a:lnTo>
                  <a:pt x="258032" y="210688"/>
                </a:lnTo>
                <a:cubicBezTo>
                  <a:pt x="249507" y="216332"/>
                  <a:pt x="239716" y="220882"/>
                  <a:pt x="229522" y="224511"/>
                </a:cubicBezTo>
                <a:close/>
              </a:path>
            </a:pathLst>
          </a:custGeom>
          <a:solidFill>
            <a:srgbClr val="4FD1C5"/>
          </a:solidFill>
          <a:ln/>
        </p:spPr>
        <p:txBody>
          <a:bodyPr/>
          <a:lstStyle/>
          <a:p>
            <a:endParaRPr lang="zh-CN" altLang="en-US"/>
          </a:p>
        </p:txBody>
      </p:sp>
      <p:sp>
        <p:nvSpPr>
          <p:cNvPr id="9" name="Text 7"/>
          <p:cNvSpPr/>
          <p:nvPr/>
        </p:nvSpPr>
        <p:spPr>
          <a:xfrm>
            <a:off x="1302446" y="2604892"/>
            <a:ext cx="3587870" cy="294893"/>
          </a:xfrm>
          <a:prstGeom prst="rect">
            <a:avLst/>
          </a:prstGeom>
          <a:noFill/>
          <a:ln/>
        </p:spPr>
        <p:txBody>
          <a:bodyPr wrap="square" lIns="0" tIns="0" rIns="0" bIns="0" rtlCol="0" anchor="ctr"/>
          <a:lstStyle/>
          <a:p>
            <a:pPr>
              <a:lnSpc>
                <a:spcPct val="130000"/>
              </a:lnSpc>
            </a:pPr>
            <a:r>
              <a:rPr lang="en-US" sz="1548" b="1" dirty="0">
                <a:solidFill>
                  <a:srgbClr val="F7FAFC"/>
                </a:solidFill>
                <a:latin typeface="MiSans" pitchFamily="34" charset="0"/>
                <a:ea typeface="MiSans" pitchFamily="34" charset="-122"/>
                <a:cs typeface="MiSans" pitchFamily="34" charset="-120"/>
              </a:rPr>
              <a:t>继承数据湖优势</a:t>
            </a:r>
            <a:endParaRPr lang="en-US" sz="1600" dirty="0"/>
          </a:p>
        </p:txBody>
      </p:sp>
      <p:sp>
        <p:nvSpPr>
          <p:cNvPr id="10" name="Text 8"/>
          <p:cNvSpPr/>
          <p:nvPr/>
        </p:nvSpPr>
        <p:spPr>
          <a:xfrm>
            <a:off x="1302446" y="2948934"/>
            <a:ext cx="3575583" cy="245745"/>
          </a:xfrm>
          <a:prstGeom prst="rect">
            <a:avLst/>
          </a:prstGeom>
          <a:noFill/>
          <a:ln/>
        </p:spPr>
        <p:txBody>
          <a:bodyPr wrap="square" lIns="0" tIns="0" rIns="0" bIns="0" rtlCol="0" anchor="ctr"/>
          <a:lstStyle/>
          <a:p>
            <a:pPr>
              <a:lnSpc>
                <a:spcPct val="120000"/>
              </a:lnSpc>
            </a:pPr>
            <a:r>
              <a:rPr lang="en-US" sz="1355" dirty="0">
                <a:solidFill>
                  <a:srgbClr val="A0AEC0"/>
                </a:solidFill>
                <a:latin typeface="MiSans" pitchFamily="34" charset="0"/>
                <a:ea typeface="MiSans" pitchFamily="34" charset="-122"/>
                <a:cs typeface="MiSans" pitchFamily="34" charset="-120"/>
              </a:rPr>
              <a:t>依托HDFS/对象存储,保持低成本与多引擎能力</a:t>
            </a:r>
            <a:endParaRPr lang="en-US" sz="1600" dirty="0"/>
          </a:p>
        </p:txBody>
      </p:sp>
      <p:sp>
        <p:nvSpPr>
          <p:cNvPr id="11" name="Shape 9"/>
          <p:cNvSpPr/>
          <p:nvPr/>
        </p:nvSpPr>
        <p:spPr>
          <a:xfrm>
            <a:off x="5798131" y="2654041"/>
            <a:ext cx="294893" cy="294893"/>
          </a:xfrm>
          <a:custGeom>
            <a:avLst/>
            <a:gdLst/>
            <a:ahLst/>
            <a:cxnLst/>
            <a:rect l="l" t="t" r="r" b="b"/>
            <a:pathLst>
              <a:path w="294893" h="294893">
                <a:moveTo>
                  <a:pt x="147447" y="0"/>
                </a:moveTo>
                <a:cubicBezTo>
                  <a:pt x="150096" y="0"/>
                  <a:pt x="152746" y="576"/>
                  <a:pt x="155165" y="1670"/>
                </a:cubicBezTo>
                <a:lnTo>
                  <a:pt x="263676" y="47690"/>
                </a:lnTo>
                <a:cubicBezTo>
                  <a:pt x="276347" y="53046"/>
                  <a:pt x="285793" y="65545"/>
                  <a:pt x="285736" y="80635"/>
                </a:cubicBezTo>
                <a:cubicBezTo>
                  <a:pt x="285448" y="137771"/>
                  <a:pt x="261948" y="242308"/>
                  <a:pt x="162710" y="289825"/>
                </a:cubicBezTo>
                <a:cubicBezTo>
                  <a:pt x="153091" y="294433"/>
                  <a:pt x="141917" y="294433"/>
                  <a:pt x="132299" y="289825"/>
                </a:cubicBezTo>
                <a:cubicBezTo>
                  <a:pt x="33003" y="242308"/>
                  <a:pt x="9561" y="137771"/>
                  <a:pt x="9273" y="80635"/>
                </a:cubicBezTo>
                <a:cubicBezTo>
                  <a:pt x="9215" y="65545"/>
                  <a:pt x="18661" y="53046"/>
                  <a:pt x="31332" y="47690"/>
                </a:cubicBezTo>
                <a:lnTo>
                  <a:pt x="139786" y="1670"/>
                </a:lnTo>
                <a:cubicBezTo>
                  <a:pt x="142205" y="576"/>
                  <a:pt x="144797" y="0"/>
                  <a:pt x="147447" y="0"/>
                </a:cubicBezTo>
                <a:close/>
                <a:moveTo>
                  <a:pt x="147447" y="38474"/>
                </a:moveTo>
                <a:lnTo>
                  <a:pt x="147447" y="256246"/>
                </a:lnTo>
                <a:cubicBezTo>
                  <a:pt x="226930" y="217772"/>
                  <a:pt x="248298" y="132529"/>
                  <a:pt x="248816" y="81499"/>
                </a:cubicBezTo>
                <a:lnTo>
                  <a:pt x="147447" y="38532"/>
                </a:lnTo>
                <a:lnTo>
                  <a:pt x="147447" y="38532"/>
                </a:lnTo>
                <a:close/>
              </a:path>
            </a:pathLst>
          </a:custGeom>
          <a:solidFill>
            <a:srgbClr val="4FD1C5"/>
          </a:solidFill>
          <a:ln/>
        </p:spPr>
        <p:txBody>
          <a:bodyPr/>
          <a:lstStyle/>
          <a:p>
            <a:endParaRPr lang="zh-CN" altLang="en-US"/>
          </a:p>
        </p:txBody>
      </p:sp>
      <p:sp>
        <p:nvSpPr>
          <p:cNvPr id="12" name="Text 10"/>
          <p:cNvSpPr/>
          <p:nvPr/>
        </p:nvSpPr>
        <p:spPr>
          <a:xfrm>
            <a:off x="6277333" y="2604892"/>
            <a:ext cx="3366700" cy="294893"/>
          </a:xfrm>
          <a:prstGeom prst="rect">
            <a:avLst/>
          </a:prstGeom>
          <a:noFill/>
          <a:ln/>
        </p:spPr>
        <p:txBody>
          <a:bodyPr wrap="square" lIns="0" tIns="0" rIns="0" bIns="0" rtlCol="0" anchor="ctr"/>
          <a:lstStyle/>
          <a:p>
            <a:pPr>
              <a:lnSpc>
                <a:spcPct val="130000"/>
              </a:lnSpc>
            </a:pPr>
            <a:r>
              <a:rPr lang="en-US" sz="1548" b="1" dirty="0">
                <a:solidFill>
                  <a:srgbClr val="F7FAFC"/>
                </a:solidFill>
                <a:latin typeface="MiSans" pitchFamily="34" charset="0"/>
                <a:ea typeface="MiSans" pitchFamily="34" charset="-122"/>
                <a:cs typeface="MiSans" pitchFamily="34" charset="-120"/>
              </a:rPr>
              <a:t>补齐事务能力</a:t>
            </a:r>
            <a:endParaRPr lang="en-US" sz="1600" dirty="0"/>
          </a:p>
        </p:txBody>
      </p:sp>
      <p:sp>
        <p:nvSpPr>
          <p:cNvPr id="13" name="Text 11"/>
          <p:cNvSpPr/>
          <p:nvPr/>
        </p:nvSpPr>
        <p:spPr>
          <a:xfrm>
            <a:off x="6277333" y="2948934"/>
            <a:ext cx="3354413" cy="245745"/>
          </a:xfrm>
          <a:prstGeom prst="rect">
            <a:avLst/>
          </a:prstGeom>
          <a:noFill/>
          <a:ln/>
        </p:spPr>
        <p:txBody>
          <a:bodyPr wrap="square" lIns="0" tIns="0" rIns="0" bIns="0" rtlCol="0" anchor="ctr"/>
          <a:lstStyle/>
          <a:p>
            <a:pPr>
              <a:lnSpc>
                <a:spcPct val="120000"/>
              </a:lnSpc>
            </a:pPr>
            <a:r>
              <a:rPr lang="en-US" sz="1355" dirty="0">
                <a:solidFill>
                  <a:srgbClr val="A0AEC0"/>
                </a:solidFill>
                <a:latin typeface="MiSans" pitchFamily="34" charset="0"/>
                <a:ea typeface="MiSans" pitchFamily="34" charset="-122"/>
                <a:cs typeface="MiSans" pitchFamily="34" charset="-120"/>
              </a:rPr>
              <a:t>引入ACID事务、Schema管控、高性能查询</a:t>
            </a:r>
            <a:endParaRPr lang="en-US" sz="1600" dirty="0"/>
          </a:p>
        </p:txBody>
      </p:sp>
      <p:sp>
        <p:nvSpPr>
          <p:cNvPr id="14" name="Shape 12"/>
          <p:cNvSpPr/>
          <p:nvPr/>
        </p:nvSpPr>
        <p:spPr>
          <a:xfrm>
            <a:off x="10773113" y="2654041"/>
            <a:ext cx="294893" cy="294893"/>
          </a:xfrm>
          <a:custGeom>
            <a:avLst/>
            <a:gdLst/>
            <a:ahLst/>
            <a:cxnLst/>
            <a:rect l="l" t="t" r="r" b="b"/>
            <a:pathLst>
              <a:path w="294893" h="294893">
                <a:moveTo>
                  <a:pt x="133912" y="2995"/>
                </a:moveTo>
                <a:cubicBezTo>
                  <a:pt x="142493" y="-979"/>
                  <a:pt x="152400" y="-979"/>
                  <a:pt x="160982" y="2995"/>
                </a:cubicBezTo>
                <a:lnTo>
                  <a:pt x="286888" y="61167"/>
                </a:lnTo>
                <a:cubicBezTo>
                  <a:pt x="291783" y="63414"/>
                  <a:pt x="294893" y="68309"/>
                  <a:pt x="294893" y="73723"/>
                </a:cubicBezTo>
                <a:cubicBezTo>
                  <a:pt x="294893" y="79137"/>
                  <a:pt x="291783" y="84033"/>
                  <a:pt x="286888" y="86279"/>
                </a:cubicBezTo>
                <a:lnTo>
                  <a:pt x="160982" y="144452"/>
                </a:lnTo>
                <a:cubicBezTo>
                  <a:pt x="152400" y="148426"/>
                  <a:pt x="142493" y="148426"/>
                  <a:pt x="133912" y="144452"/>
                </a:cubicBezTo>
                <a:lnTo>
                  <a:pt x="8006" y="86279"/>
                </a:lnTo>
                <a:cubicBezTo>
                  <a:pt x="3110" y="83976"/>
                  <a:pt x="0" y="79080"/>
                  <a:pt x="0" y="73723"/>
                </a:cubicBezTo>
                <a:cubicBezTo>
                  <a:pt x="0" y="68367"/>
                  <a:pt x="3110" y="63414"/>
                  <a:pt x="8006" y="61167"/>
                </a:cubicBezTo>
                <a:lnTo>
                  <a:pt x="133912" y="2995"/>
                </a:lnTo>
                <a:close/>
                <a:moveTo>
                  <a:pt x="27704" y="125790"/>
                </a:moveTo>
                <a:lnTo>
                  <a:pt x="122335" y="169506"/>
                </a:lnTo>
                <a:cubicBezTo>
                  <a:pt x="138289" y="176878"/>
                  <a:pt x="156662" y="176878"/>
                  <a:pt x="172616" y="169506"/>
                </a:cubicBezTo>
                <a:lnTo>
                  <a:pt x="267247" y="125790"/>
                </a:lnTo>
                <a:lnTo>
                  <a:pt x="286888" y="134891"/>
                </a:lnTo>
                <a:cubicBezTo>
                  <a:pt x="291783" y="137137"/>
                  <a:pt x="294893" y="142033"/>
                  <a:pt x="294893" y="147447"/>
                </a:cubicBezTo>
                <a:cubicBezTo>
                  <a:pt x="294893" y="152861"/>
                  <a:pt x="291783" y="157756"/>
                  <a:pt x="286888" y="160003"/>
                </a:cubicBezTo>
                <a:lnTo>
                  <a:pt x="160982" y="218175"/>
                </a:lnTo>
                <a:cubicBezTo>
                  <a:pt x="152400" y="222149"/>
                  <a:pt x="142493" y="222149"/>
                  <a:pt x="133912" y="218175"/>
                </a:cubicBezTo>
                <a:lnTo>
                  <a:pt x="8006" y="160003"/>
                </a:lnTo>
                <a:cubicBezTo>
                  <a:pt x="3110" y="157699"/>
                  <a:pt x="0" y="152803"/>
                  <a:pt x="0" y="147447"/>
                </a:cubicBezTo>
                <a:cubicBezTo>
                  <a:pt x="0" y="142090"/>
                  <a:pt x="3110" y="137137"/>
                  <a:pt x="8006" y="134891"/>
                </a:cubicBezTo>
                <a:lnTo>
                  <a:pt x="27646" y="125790"/>
                </a:lnTo>
                <a:close/>
                <a:moveTo>
                  <a:pt x="8006" y="208614"/>
                </a:moveTo>
                <a:lnTo>
                  <a:pt x="27646" y="199514"/>
                </a:lnTo>
                <a:lnTo>
                  <a:pt x="122277" y="243229"/>
                </a:lnTo>
                <a:cubicBezTo>
                  <a:pt x="138231" y="250602"/>
                  <a:pt x="156605" y="250602"/>
                  <a:pt x="172559" y="243229"/>
                </a:cubicBezTo>
                <a:lnTo>
                  <a:pt x="267190" y="199514"/>
                </a:lnTo>
                <a:lnTo>
                  <a:pt x="286830" y="208614"/>
                </a:lnTo>
                <a:cubicBezTo>
                  <a:pt x="291726" y="210860"/>
                  <a:pt x="294836" y="215756"/>
                  <a:pt x="294836" y="221170"/>
                </a:cubicBezTo>
                <a:cubicBezTo>
                  <a:pt x="294836" y="226584"/>
                  <a:pt x="291726" y="231480"/>
                  <a:pt x="286830" y="233726"/>
                </a:cubicBezTo>
                <a:lnTo>
                  <a:pt x="160924" y="291898"/>
                </a:lnTo>
                <a:cubicBezTo>
                  <a:pt x="152342" y="295873"/>
                  <a:pt x="142436" y="295873"/>
                  <a:pt x="133854" y="291898"/>
                </a:cubicBezTo>
                <a:lnTo>
                  <a:pt x="8006" y="233726"/>
                </a:lnTo>
                <a:cubicBezTo>
                  <a:pt x="3110" y="231422"/>
                  <a:pt x="0" y="226527"/>
                  <a:pt x="0" y="221170"/>
                </a:cubicBezTo>
                <a:cubicBezTo>
                  <a:pt x="0" y="215814"/>
                  <a:pt x="3110" y="210860"/>
                  <a:pt x="8006" y="208614"/>
                </a:cubicBezTo>
                <a:close/>
              </a:path>
            </a:pathLst>
          </a:custGeom>
          <a:solidFill>
            <a:srgbClr val="4FD1C5"/>
          </a:solidFill>
          <a:ln/>
        </p:spPr>
        <p:txBody>
          <a:bodyPr/>
          <a:lstStyle/>
          <a:p>
            <a:endParaRPr lang="zh-CN" altLang="en-US"/>
          </a:p>
        </p:txBody>
      </p:sp>
      <p:sp>
        <p:nvSpPr>
          <p:cNvPr id="15" name="Text 13"/>
          <p:cNvSpPr/>
          <p:nvPr/>
        </p:nvSpPr>
        <p:spPr>
          <a:xfrm>
            <a:off x="11252315" y="2604892"/>
            <a:ext cx="3084094" cy="294893"/>
          </a:xfrm>
          <a:prstGeom prst="rect">
            <a:avLst/>
          </a:prstGeom>
          <a:noFill/>
          <a:ln/>
        </p:spPr>
        <p:txBody>
          <a:bodyPr wrap="square" lIns="0" tIns="0" rIns="0" bIns="0" rtlCol="0" anchor="ctr"/>
          <a:lstStyle/>
          <a:p>
            <a:pPr>
              <a:lnSpc>
                <a:spcPct val="130000"/>
              </a:lnSpc>
            </a:pPr>
            <a:r>
              <a:rPr lang="en-US" sz="1548" b="1" dirty="0">
                <a:solidFill>
                  <a:srgbClr val="F7FAFC"/>
                </a:solidFill>
                <a:latin typeface="MiSans" pitchFamily="34" charset="0"/>
                <a:ea typeface="MiSans" pitchFamily="34" charset="-122"/>
                <a:cs typeface="MiSans" pitchFamily="34" charset="-120"/>
              </a:rPr>
              <a:t>统一批流平面</a:t>
            </a:r>
            <a:endParaRPr lang="en-US" sz="1600" dirty="0"/>
          </a:p>
        </p:txBody>
      </p:sp>
      <p:sp>
        <p:nvSpPr>
          <p:cNvPr id="16" name="Text 14"/>
          <p:cNvSpPr/>
          <p:nvPr/>
        </p:nvSpPr>
        <p:spPr>
          <a:xfrm>
            <a:off x="11252315" y="2948934"/>
            <a:ext cx="3071807" cy="245745"/>
          </a:xfrm>
          <a:prstGeom prst="rect">
            <a:avLst/>
          </a:prstGeom>
          <a:noFill/>
          <a:ln/>
        </p:spPr>
        <p:txBody>
          <a:bodyPr wrap="square" lIns="0" tIns="0" rIns="0" bIns="0" rtlCol="0" anchor="ctr"/>
          <a:lstStyle/>
          <a:p>
            <a:pPr>
              <a:lnSpc>
                <a:spcPct val="120000"/>
              </a:lnSpc>
            </a:pPr>
            <a:r>
              <a:rPr lang="en-US" sz="1355" dirty="0">
                <a:solidFill>
                  <a:srgbClr val="A0AEC0"/>
                </a:solidFill>
                <a:latin typeface="MiSans" pitchFamily="34" charset="0"/>
                <a:ea typeface="MiSans" pitchFamily="34" charset="-122"/>
                <a:cs typeface="MiSans" pitchFamily="34" charset="-120"/>
              </a:rPr>
              <a:t>同时支撑日终批处理与实时/准实时写入</a:t>
            </a:r>
            <a:endParaRPr lang="en-US" sz="1600" dirty="0"/>
          </a:p>
        </p:txBody>
      </p:sp>
      <p:sp>
        <p:nvSpPr>
          <p:cNvPr id="17" name="Shape 15"/>
          <p:cNvSpPr/>
          <p:nvPr/>
        </p:nvSpPr>
        <p:spPr>
          <a:xfrm>
            <a:off x="491489" y="3637019"/>
            <a:ext cx="4927178" cy="5013188"/>
          </a:xfrm>
          <a:custGeom>
            <a:avLst/>
            <a:gdLst/>
            <a:ahLst/>
            <a:cxnLst/>
            <a:rect l="l" t="t" r="r" b="b"/>
            <a:pathLst>
              <a:path w="4927178" h="5013188">
                <a:moveTo>
                  <a:pt x="98297" y="0"/>
                </a:moveTo>
                <a:lnTo>
                  <a:pt x="4828880" y="0"/>
                </a:lnTo>
                <a:cubicBezTo>
                  <a:pt x="4883168" y="0"/>
                  <a:pt x="4927178" y="44009"/>
                  <a:pt x="4927178" y="98297"/>
                </a:cubicBezTo>
                <a:lnTo>
                  <a:pt x="4927178" y="4914891"/>
                </a:lnTo>
                <a:cubicBezTo>
                  <a:pt x="4927178" y="4969179"/>
                  <a:pt x="4883168" y="5013188"/>
                  <a:pt x="4828880" y="5013188"/>
                </a:cubicBezTo>
                <a:lnTo>
                  <a:pt x="98297" y="5013188"/>
                </a:lnTo>
                <a:cubicBezTo>
                  <a:pt x="44009" y="5013188"/>
                  <a:pt x="0" y="4969179"/>
                  <a:pt x="0" y="4914891"/>
                </a:cubicBezTo>
                <a:lnTo>
                  <a:pt x="0" y="98297"/>
                </a:lnTo>
                <a:cubicBezTo>
                  <a:pt x="0" y="44045"/>
                  <a:pt x="44045" y="0"/>
                  <a:pt x="98297" y="0"/>
                </a:cubicBezTo>
                <a:close/>
              </a:path>
            </a:pathLst>
          </a:custGeom>
          <a:solidFill>
            <a:srgbClr val="4A5568">
              <a:alpha val="30196"/>
            </a:srgbClr>
          </a:solidFill>
          <a:ln/>
        </p:spPr>
        <p:txBody>
          <a:bodyPr/>
          <a:lstStyle/>
          <a:p>
            <a:endParaRPr lang="zh-CN" altLang="en-US"/>
          </a:p>
        </p:txBody>
      </p:sp>
      <p:sp>
        <p:nvSpPr>
          <p:cNvPr id="18" name="Text 16"/>
          <p:cNvSpPr/>
          <p:nvPr/>
        </p:nvSpPr>
        <p:spPr>
          <a:xfrm>
            <a:off x="737234" y="3882763"/>
            <a:ext cx="4546274" cy="344042"/>
          </a:xfrm>
          <a:prstGeom prst="rect">
            <a:avLst/>
          </a:prstGeom>
          <a:noFill/>
          <a:ln/>
        </p:spPr>
        <p:txBody>
          <a:bodyPr wrap="square" lIns="0" tIns="0" rIns="0" bIns="0" rtlCol="0" anchor="ctr"/>
          <a:lstStyle/>
          <a:p>
            <a:pPr>
              <a:lnSpc>
                <a:spcPct val="130000"/>
              </a:lnSpc>
            </a:pPr>
            <a:r>
              <a:rPr lang="en-US" sz="1742" b="1" dirty="0">
                <a:solidFill>
                  <a:srgbClr val="4FD1C5"/>
                </a:solidFill>
                <a:latin typeface="MiSans" pitchFamily="34" charset="0"/>
                <a:ea typeface="MiSans" pitchFamily="34" charset="-122"/>
                <a:cs typeface="MiSans" pitchFamily="34" charset="-120"/>
              </a:rPr>
              <a:t>端到端链路架构</a:t>
            </a:r>
            <a:endParaRPr lang="en-US" sz="1600" dirty="0"/>
          </a:p>
        </p:txBody>
      </p:sp>
      <p:sp>
        <p:nvSpPr>
          <p:cNvPr id="19" name="Shape 17"/>
          <p:cNvSpPr/>
          <p:nvPr/>
        </p:nvSpPr>
        <p:spPr>
          <a:xfrm>
            <a:off x="737234" y="4374252"/>
            <a:ext cx="4435689" cy="442340"/>
          </a:xfrm>
          <a:custGeom>
            <a:avLst/>
            <a:gdLst/>
            <a:ahLst/>
            <a:cxnLst/>
            <a:rect l="l" t="t" r="r" b="b"/>
            <a:pathLst>
              <a:path w="4435689" h="442340">
                <a:moveTo>
                  <a:pt x="49148" y="0"/>
                </a:moveTo>
                <a:lnTo>
                  <a:pt x="4386540" y="0"/>
                </a:lnTo>
                <a:cubicBezTo>
                  <a:pt x="4413684" y="0"/>
                  <a:pt x="4435689" y="22004"/>
                  <a:pt x="4435689" y="49148"/>
                </a:cubicBezTo>
                <a:lnTo>
                  <a:pt x="4435689" y="393192"/>
                </a:lnTo>
                <a:cubicBezTo>
                  <a:pt x="4435689" y="420336"/>
                  <a:pt x="4413684" y="442340"/>
                  <a:pt x="4386540" y="442340"/>
                </a:cubicBezTo>
                <a:lnTo>
                  <a:pt x="49148" y="442340"/>
                </a:lnTo>
                <a:cubicBezTo>
                  <a:pt x="22004" y="442340"/>
                  <a:pt x="0" y="420336"/>
                  <a:pt x="0" y="393192"/>
                </a:cubicBezTo>
                <a:lnTo>
                  <a:pt x="0" y="49148"/>
                </a:lnTo>
                <a:cubicBezTo>
                  <a:pt x="0" y="22023"/>
                  <a:pt x="22023" y="0"/>
                  <a:pt x="49148" y="0"/>
                </a:cubicBezTo>
                <a:close/>
              </a:path>
            </a:pathLst>
          </a:custGeom>
          <a:solidFill>
            <a:srgbClr val="4FD1C5">
              <a:alpha val="20000"/>
            </a:srgbClr>
          </a:solidFill>
          <a:ln/>
        </p:spPr>
        <p:txBody>
          <a:bodyPr/>
          <a:lstStyle/>
          <a:p>
            <a:endParaRPr lang="zh-CN" altLang="en-US"/>
          </a:p>
        </p:txBody>
      </p:sp>
      <p:sp>
        <p:nvSpPr>
          <p:cNvPr id="20" name="Text 18"/>
          <p:cNvSpPr/>
          <p:nvPr/>
        </p:nvSpPr>
        <p:spPr>
          <a:xfrm>
            <a:off x="841675" y="4472550"/>
            <a:ext cx="4226806" cy="245745"/>
          </a:xfrm>
          <a:prstGeom prst="rect">
            <a:avLst/>
          </a:prstGeom>
          <a:noFill/>
          <a:ln/>
        </p:spPr>
        <p:txBody>
          <a:bodyPr wrap="square" lIns="0" tIns="0" rIns="0" bIns="0" rtlCol="0" anchor="ctr"/>
          <a:lstStyle/>
          <a:p>
            <a:pPr algn="ctr">
              <a:lnSpc>
                <a:spcPct val="120000"/>
              </a:lnSpc>
            </a:pPr>
            <a:r>
              <a:rPr lang="en-US" sz="1355" b="1" dirty="0">
                <a:solidFill>
                  <a:srgbClr val="F7FAFC"/>
                </a:solidFill>
                <a:latin typeface="MiSans" pitchFamily="34" charset="0"/>
                <a:ea typeface="MiSans" pitchFamily="34" charset="-122"/>
                <a:cs typeface="MiSans" pitchFamily="34" charset="-120"/>
              </a:rPr>
              <a:t>核心交易数据库</a:t>
            </a:r>
            <a:endParaRPr lang="en-US" sz="1600" dirty="0"/>
          </a:p>
        </p:txBody>
      </p:sp>
      <p:sp>
        <p:nvSpPr>
          <p:cNvPr id="21" name="Shape 19"/>
          <p:cNvSpPr/>
          <p:nvPr/>
        </p:nvSpPr>
        <p:spPr>
          <a:xfrm>
            <a:off x="2862156" y="4914890"/>
            <a:ext cx="184308" cy="245745"/>
          </a:xfrm>
          <a:custGeom>
            <a:avLst/>
            <a:gdLst/>
            <a:ahLst/>
            <a:cxnLst/>
            <a:rect l="l" t="t" r="r" b="b"/>
            <a:pathLst>
              <a:path w="184308" h="245745">
                <a:moveTo>
                  <a:pt x="81307" y="241233"/>
                </a:moveTo>
                <a:cubicBezTo>
                  <a:pt x="87307" y="247232"/>
                  <a:pt x="97050" y="247232"/>
                  <a:pt x="103050" y="241233"/>
                </a:cubicBezTo>
                <a:lnTo>
                  <a:pt x="179845" y="164438"/>
                </a:lnTo>
                <a:cubicBezTo>
                  <a:pt x="185844" y="158438"/>
                  <a:pt x="185844" y="148695"/>
                  <a:pt x="179845" y="142695"/>
                </a:cubicBezTo>
                <a:cubicBezTo>
                  <a:pt x="173845" y="136695"/>
                  <a:pt x="164102" y="136695"/>
                  <a:pt x="158102" y="142695"/>
                </a:cubicBezTo>
                <a:lnTo>
                  <a:pt x="107513" y="193284"/>
                </a:lnTo>
                <a:lnTo>
                  <a:pt x="107513" y="15359"/>
                </a:lnTo>
                <a:cubicBezTo>
                  <a:pt x="107513" y="6864"/>
                  <a:pt x="100650" y="0"/>
                  <a:pt x="92154" y="0"/>
                </a:cubicBezTo>
                <a:cubicBezTo>
                  <a:pt x="83659" y="0"/>
                  <a:pt x="76795" y="6864"/>
                  <a:pt x="76795" y="15359"/>
                </a:cubicBezTo>
                <a:lnTo>
                  <a:pt x="76795" y="193284"/>
                </a:lnTo>
                <a:lnTo>
                  <a:pt x="26206" y="142695"/>
                </a:lnTo>
                <a:cubicBezTo>
                  <a:pt x="20207" y="136695"/>
                  <a:pt x="10463" y="136695"/>
                  <a:pt x="4464" y="142695"/>
                </a:cubicBezTo>
                <a:cubicBezTo>
                  <a:pt x="-1536" y="148695"/>
                  <a:pt x="-1536" y="158438"/>
                  <a:pt x="4464" y="164438"/>
                </a:cubicBezTo>
                <a:lnTo>
                  <a:pt x="81259" y="241233"/>
                </a:lnTo>
                <a:close/>
              </a:path>
            </a:pathLst>
          </a:custGeom>
          <a:solidFill>
            <a:srgbClr val="4FD1C5"/>
          </a:solidFill>
          <a:ln/>
        </p:spPr>
        <p:txBody>
          <a:bodyPr/>
          <a:lstStyle/>
          <a:p>
            <a:endParaRPr lang="zh-CN" altLang="en-US"/>
          </a:p>
        </p:txBody>
      </p:sp>
      <p:sp>
        <p:nvSpPr>
          <p:cNvPr id="22" name="Shape 20"/>
          <p:cNvSpPr/>
          <p:nvPr/>
        </p:nvSpPr>
        <p:spPr>
          <a:xfrm>
            <a:off x="737234" y="5258933"/>
            <a:ext cx="4435689" cy="442340"/>
          </a:xfrm>
          <a:custGeom>
            <a:avLst/>
            <a:gdLst/>
            <a:ahLst/>
            <a:cxnLst/>
            <a:rect l="l" t="t" r="r" b="b"/>
            <a:pathLst>
              <a:path w="4435689" h="442340">
                <a:moveTo>
                  <a:pt x="49148" y="0"/>
                </a:moveTo>
                <a:lnTo>
                  <a:pt x="4386540" y="0"/>
                </a:lnTo>
                <a:cubicBezTo>
                  <a:pt x="4413684" y="0"/>
                  <a:pt x="4435689" y="22004"/>
                  <a:pt x="4435689" y="49148"/>
                </a:cubicBezTo>
                <a:lnTo>
                  <a:pt x="4435689" y="393192"/>
                </a:lnTo>
                <a:cubicBezTo>
                  <a:pt x="4435689" y="420336"/>
                  <a:pt x="4413684" y="442340"/>
                  <a:pt x="4386540" y="442340"/>
                </a:cubicBezTo>
                <a:lnTo>
                  <a:pt x="49148" y="442340"/>
                </a:lnTo>
                <a:cubicBezTo>
                  <a:pt x="22004" y="442340"/>
                  <a:pt x="0" y="420336"/>
                  <a:pt x="0" y="393192"/>
                </a:cubicBezTo>
                <a:lnTo>
                  <a:pt x="0" y="49148"/>
                </a:lnTo>
                <a:cubicBezTo>
                  <a:pt x="0" y="22023"/>
                  <a:pt x="22023" y="0"/>
                  <a:pt x="49148" y="0"/>
                </a:cubicBezTo>
                <a:close/>
              </a:path>
            </a:pathLst>
          </a:custGeom>
          <a:solidFill>
            <a:srgbClr val="4FD1C5">
              <a:alpha val="20000"/>
            </a:srgbClr>
          </a:solidFill>
          <a:ln/>
        </p:spPr>
        <p:txBody>
          <a:bodyPr/>
          <a:lstStyle/>
          <a:p>
            <a:endParaRPr lang="zh-CN" altLang="en-US"/>
          </a:p>
        </p:txBody>
      </p:sp>
      <p:sp>
        <p:nvSpPr>
          <p:cNvPr id="23" name="Text 21"/>
          <p:cNvSpPr/>
          <p:nvPr/>
        </p:nvSpPr>
        <p:spPr>
          <a:xfrm>
            <a:off x="841675" y="5357231"/>
            <a:ext cx="4226806" cy="245745"/>
          </a:xfrm>
          <a:prstGeom prst="rect">
            <a:avLst/>
          </a:prstGeom>
          <a:noFill/>
          <a:ln/>
        </p:spPr>
        <p:txBody>
          <a:bodyPr wrap="square" lIns="0" tIns="0" rIns="0" bIns="0" rtlCol="0" anchor="ctr"/>
          <a:lstStyle/>
          <a:p>
            <a:pPr algn="ctr">
              <a:lnSpc>
                <a:spcPct val="120000"/>
              </a:lnSpc>
            </a:pPr>
            <a:r>
              <a:rPr lang="en-US" sz="1355" b="1" dirty="0">
                <a:solidFill>
                  <a:srgbClr val="F7FAFC"/>
                </a:solidFill>
                <a:latin typeface="MiSans" pitchFamily="34" charset="0"/>
                <a:ea typeface="MiSans" pitchFamily="34" charset="-122"/>
                <a:cs typeface="MiSans" pitchFamily="34" charset="-120"/>
              </a:rPr>
              <a:t>Flink CDC</a:t>
            </a:r>
            <a:endParaRPr lang="en-US" sz="1600" dirty="0"/>
          </a:p>
        </p:txBody>
      </p:sp>
      <p:sp>
        <p:nvSpPr>
          <p:cNvPr id="24" name="Shape 22"/>
          <p:cNvSpPr/>
          <p:nvPr/>
        </p:nvSpPr>
        <p:spPr>
          <a:xfrm>
            <a:off x="2862156" y="5799571"/>
            <a:ext cx="184308" cy="245745"/>
          </a:xfrm>
          <a:custGeom>
            <a:avLst/>
            <a:gdLst/>
            <a:ahLst/>
            <a:cxnLst/>
            <a:rect l="l" t="t" r="r" b="b"/>
            <a:pathLst>
              <a:path w="184308" h="245745">
                <a:moveTo>
                  <a:pt x="81307" y="241233"/>
                </a:moveTo>
                <a:cubicBezTo>
                  <a:pt x="87307" y="247232"/>
                  <a:pt x="97050" y="247232"/>
                  <a:pt x="103050" y="241233"/>
                </a:cubicBezTo>
                <a:lnTo>
                  <a:pt x="179845" y="164438"/>
                </a:lnTo>
                <a:cubicBezTo>
                  <a:pt x="185844" y="158438"/>
                  <a:pt x="185844" y="148695"/>
                  <a:pt x="179845" y="142695"/>
                </a:cubicBezTo>
                <a:cubicBezTo>
                  <a:pt x="173845" y="136695"/>
                  <a:pt x="164102" y="136695"/>
                  <a:pt x="158102" y="142695"/>
                </a:cubicBezTo>
                <a:lnTo>
                  <a:pt x="107513" y="193284"/>
                </a:lnTo>
                <a:lnTo>
                  <a:pt x="107513" y="15359"/>
                </a:lnTo>
                <a:cubicBezTo>
                  <a:pt x="107513" y="6864"/>
                  <a:pt x="100650" y="0"/>
                  <a:pt x="92154" y="0"/>
                </a:cubicBezTo>
                <a:cubicBezTo>
                  <a:pt x="83659" y="0"/>
                  <a:pt x="76795" y="6864"/>
                  <a:pt x="76795" y="15359"/>
                </a:cubicBezTo>
                <a:lnTo>
                  <a:pt x="76795" y="193284"/>
                </a:lnTo>
                <a:lnTo>
                  <a:pt x="26206" y="142695"/>
                </a:lnTo>
                <a:cubicBezTo>
                  <a:pt x="20207" y="136695"/>
                  <a:pt x="10463" y="136695"/>
                  <a:pt x="4464" y="142695"/>
                </a:cubicBezTo>
                <a:cubicBezTo>
                  <a:pt x="-1536" y="148695"/>
                  <a:pt x="-1536" y="158438"/>
                  <a:pt x="4464" y="164438"/>
                </a:cubicBezTo>
                <a:lnTo>
                  <a:pt x="81259" y="241233"/>
                </a:lnTo>
                <a:close/>
              </a:path>
            </a:pathLst>
          </a:custGeom>
          <a:solidFill>
            <a:srgbClr val="4FD1C5"/>
          </a:solidFill>
          <a:ln/>
        </p:spPr>
        <p:txBody>
          <a:bodyPr/>
          <a:lstStyle/>
          <a:p>
            <a:endParaRPr lang="zh-CN" altLang="en-US"/>
          </a:p>
        </p:txBody>
      </p:sp>
      <p:sp>
        <p:nvSpPr>
          <p:cNvPr id="25" name="Shape 23"/>
          <p:cNvSpPr/>
          <p:nvPr/>
        </p:nvSpPr>
        <p:spPr>
          <a:xfrm>
            <a:off x="737234" y="6143613"/>
            <a:ext cx="4435689" cy="638936"/>
          </a:xfrm>
          <a:custGeom>
            <a:avLst/>
            <a:gdLst/>
            <a:ahLst/>
            <a:cxnLst/>
            <a:rect l="l" t="t" r="r" b="b"/>
            <a:pathLst>
              <a:path w="4435689" h="638936">
                <a:moveTo>
                  <a:pt x="49147" y="0"/>
                </a:moveTo>
                <a:lnTo>
                  <a:pt x="4386542" y="0"/>
                </a:lnTo>
                <a:cubicBezTo>
                  <a:pt x="4413685" y="0"/>
                  <a:pt x="4435689" y="22004"/>
                  <a:pt x="4435689" y="49147"/>
                </a:cubicBezTo>
                <a:lnTo>
                  <a:pt x="4435689" y="589789"/>
                </a:lnTo>
                <a:cubicBezTo>
                  <a:pt x="4435689" y="616932"/>
                  <a:pt x="4413685" y="638936"/>
                  <a:pt x="4386542" y="638936"/>
                </a:cubicBezTo>
                <a:lnTo>
                  <a:pt x="49147" y="638936"/>
                </a:lnTo>
                <a:cubicBezTo>
                  <a:pt x="22004" y="638936"/>
                  <a:pt x="0" y="616932"/>
                  <a:pt x="0" y="589789"/>
                </a:cubicBezTo>
                <a:lnTo>
                  <a:pt x="0" y="49147"/>
                </a:lnTo>
                <a:cubicBezTo>
                  <a:pt x="0" y="22004"/>
                  <a:pt x="22004" y="0"/>
                  <a:pt x="49147" y="0"/>
                </a:cubicBezTo>
                <a:close/>
              </a:path>
            </a:pathLst>
          </a:custGeom>
          <a:solidFill>
            <a:srgbClr val="4FD1C5"/>
          </a:solidFill>
          <a:ln/>
        </p:spPr>
        <p:txBody>
          <a:bodyPr/>
          <a:lstStyle/>
          <a:p>
            <a:endParaRPr lang="zh-CN" altLang="en-US"/>
          </a:p>
        </p:txBody>
      </p:sp>
      <p:sp>
        <p:nvSpPr>
          <p:cNvPr id="26" name="Text 24"/>
          <p:cNvSpPr/>
          <p:nvPr/>
        </p:nvSpPr>
        <p:spPr>
          <a:xfrm>
            <a:off x="841675" y="6241911"/>
            <a:ext cx="4226806" cy="245745"/>
          </a:xfrm>
          <a:prstGeom prst="rect">
            <a:avLst/>
          </a:prstGeom>
          <a:noFill/>
          <a:ln/>
        </p:spPr>
        <p:txBody>
          <a:bodyPr wrap="square" lIns="0" tIns="0" rIns="0" bIns="0" rtlCol="0" anchor="ctr"/>
          <a:lstStyle/>
          <a:p>
            <a:pPr algn="ctr">
              <a:lnSpc>
                <a:spcPct val="120000"/>
              </a:lnSpc>
            </a:pPr>
            <a:r>
              <a:rPr lang="en-US" sz="1355" b="1" dirty="0">
                <a:solidFill>
                  <a:srgbClr val="1A202C"/>
                </a:solidFill>
                <a:latin typeface="MiSans" pitchFamily="34" charset="0"/>
                <a:ea typeface="MiSans" pitchFamily="34" charset="-122"/>
                <a:cs typeface="MiSans" pitchFamily="34" charset="-120"/>
              </a:rPr>
              <a:t>Iceberg/Hudi表</a:t>
            </a:r>
            <a:endParaRPr lang="en-US" sz="1600" dirty="0"/>
          </a:p>
        </p:txBody>
      </p:sp>
      <p:sp>
        <p:nvSpPr>
          <p:cNvPr id="27" name="Text 25"/>
          <p:cNvSpPr/>
          <p:nvPr/>
        </p:nvSpPr>
        <p:spPr>
          <a:xfrm>
            <a:off x="847819" y="6487655"/>
            <a:ext cx="4214519" cy="196596"/>
          </a:xfrm>
          <a:prstGeom prst="rect">
            <a:avLst/>
          </a:prstGeom>
          <a:noFill/>
          <a:ln/>
        </p:spPr>
        <p:txBody>
          <a:bodyPr wrap="square" lIns="0" tIns="0" rIns="0" bIns="0" rtlCol="0" anchor="ctr"/>
          <a:lstStyle/>
          <a:p>
            <a:pPr algn="ctr">
              <a:lnSpc>
                <a:spcPct val="110000"/>
              </a:lnSpc>
            </a:pPr>
            <a:r>
              <a:rPr lang="en-US" sz="1161" dirty="0">
                <a:solidFill>
                  <a:srgbClr val="1A202C"/>
                </a:solidFill>
                <a:latin typeface="MiSans" pitchFamily="34" charset="0"/>
                <a:ea typeface="MiSans" pitchFamily="34" charset="-122"/>
                <a:cs typeface="MiSans" pitchFamily="34" charset="-120"/>
              </a:rPr>
              <a:t>交易明细</a:t>
            </a:r>
            <a:endParaRPr lang="en-US" sz="1600" dirty="0"/>
          </a:p>
        </p:txBody>
      </p:sp>
      <p:sp>
        <p:nvSpPr>
          <p:cNvPr id="28" name="Shape 26"/>
          <p:cNvSpPr/>
          <p:nvPr/>
        </p:nvSpPr>
        <p:spPr>
          <a:xfrm>
            <a:off x="2831438" y="6880847"/>
            <a:ext cx="245745" cy="245745"/>
          </a:xfrm>
          <a:custGeom>
            <a:avLst/>
            <a:gdLst/>
            <a:ahLst/>
            <a:cxnLst/>
            <a:rect l="l" t="t" r="r" b="b"/>
            <a:pathLst>
              <a:path w="245745" h="245745">
                <a:moveTo>
                  <a:pt x="241233" y="195156"/>
                </a:moveTo>
                <a:lnTo>
                  <a:pt x="195156" y="241233"/>
                </a:lnTo>
                <a:cubicBezTo>
                  <a:pt x="190740" y="245649"/>
                  <a:pt x="184164" y="246944"/>
                  <a:pt x="178405" y="244545"/>
                </a:cubicBezTo>
                <a:cubicBezTo>
                  <a:pt x="172645" y="242145"/>
                  <a:pt x="168949" y="236577"/>
                  <a:pt x="168949" y="230385"/>
                </a:cubicBezTo>
                <a:lnTo>
                  <a:pt x="168949" y="199667"/>
                </a:lnTo>
                <a:lnTo>
                  <a:pt x="15359" y="199667"/>
                </a:lnTo>
                <a:cubicBezTo>
                  <a:pt x="6864" y="199667"/>
                  <a:pt x="0" y="192804"/>
                  <a:pt x="0" y="184308"/>
                </a:cubicBezTo>
                <a:cubicBezTo>
                  <a:pt x="0" y="175813"/>
                  <a:pt x="6864" y="168949"/>
                  <a:pt x="15359" y="168949"/>
                </a:cubicBezTo>
                <a:lnTo>
                  <a:pt x="168949" y="168949"/>
                </a:lnTo>
                <a:lnTo>
                  <a:pt x="168949" y="138231"/>
                </a:lnTo>
                <a:cubicBezTo>
                  <a:pt x="168949" y="132040"/>
                  <a:pt x="172693" y="126424"/>
                  <a:pt x="178453" y="124024"/>
                </a:cubicBezTo>
                <a:cubicBezTo>
                  <a:pt x="184212" y="121624"/>
                  <a:pt x="190788" y="122968"/>
                  <a:pt x="195204" y="127336"/>
                </a:cubicBezTo>
                <a:lnTo>
                  <a:pt x="241281" y="173413"/>
                </a:lnTo>
                <a:cubicBezTo>
                  <a:pt x="247280" y="179413"/>
                  <a:pt x="247280" y="189156"/>
                  <a:pt x="241281" y="195156"/>
                </a:cubicBezTo>
                <a:close/>
                <a:moveTo>
                  <a:pt x="4512" y="72283"/>
                </a:moveTo>
                <a:cubicBezTo>
                  <a:pt x="-1488" y="66284"/>
                  <a:pt x="-1488" y="56540"/>
                  <a:pt x="4512" y="50541"/>
                </a:cubicBezTo>
                <a:lnTo>
                  <a:pt x="50589" y="4464"/>
                </a:lnTo>
                <a:cubicBezTo>
                  <a:pt x="55005" y="48"/>
                  <a:pt x="61580" y="-1248"/>
                  <a:pt x="67340" y="1152"/>
                </a:cubicBezTo>
                <a:cubicBezTo>
                  <a:pt x="73099" y="3552"/>
                  <a:pt x="76795" y="9167"/>
                  <a:pt x="76795" y="15359"/>
                </a:cubicBezTo>
                <a:lnTo>
                  <a:pt x="76795" y="46077"/>
                </a:lnTo>
                <a:lnTo>
                  <a:pt x="230385" y="46077"/>
                </a:lnTo>
                <a:cubicBezTo>
                  <a:pt x="238881" y="46077"/>
                  <a:pt x="245745" y="52941"/>
                  <a:pt x="245745" y="61436"/>
                </a:cubicBezTo>
                <a:cubicBezTo>
                  <a:pt x="245745" y="69932"/>
                  <a:pt x="238881" y="76795"/>
                  <a:pt x="230385" y="76795"/>
                </a:cubicBezTo>
                <a:lnTo>
                  <a:pt x="76795" y="76795"/>
                </a:lnTo>
                <a:lnTo>
                  <a:pt x="76795" y="107513"/>
                </a:lnTo>
                <a:cubicBezTo>
                  <a:pt x="76795" y="113705"/>
                  <a:pt x="73051" y="119320"/>
                  <a:pt x="67292" y="121720"/>
                </a:cubicBezTo>
                <a:cubicBezTo>
                  <a:pt x="61532" y="124120"/>
                  <a:pt x="54957" y="122776"/>
                  <a:pt x="50541" y="118409"/>
                </a:cubicBezTo>
                <a:lnTo>
                  <a:pt x="4464" y="72331"/>
                </a:lnTo>
                <a:close/>
              </a:path>
            </a:pathLst>
          </a:custGeom>
          <a:solidFill>
            <a:srgbClr val="4FD1C5"/>
          </a:solidFill>
          <a:ln/>
        </p:spPr>
        <p:txBody>
          <a:bodyPr/>
          <a:lstStyle/>
          <a:p>
            <a:endParaRPr lang="zh-CN" altLang="en-US"/>
          </a:p>
        </p:txBody>
      </p:sp>
      <p:sp>
        <p:nvSpPr>
          <p:cNvPr id="29" name="Shape 27"/>
          <p:cNvSpPr/>
          <p:nvPr/>
        </p:nvSpPr>
        <p:spPr>
          <a:xfrm>
            <a:off x="737234" y="7224889"/>
            <a:ext cx="2162552" cy="294893"/>
          </a:xfrm>
          <a:custGeom>
            <a:avLst/>
            <a:gdLst/>
            <a:ahLst/>
            <a:cxnLst/>
            <a:rect l="l" t="t" r="r" b="b"/>
            <a:pathLst>
              <a:path w="2162552" h="294893">
                <a:moveTo>
                  <a:pt x="49150" y="0"/>
                </a:moveTo>
                <a:lnTo>
                  <a:pt x="2113402" y="0"/>
                </a:lnTo>
                <a:cubicBezTo>
                  <a:pt x="2140547" y="0"/>
                  <a:pt x="2162552" y="22005"/>
                  <a:pt x="2162552" y="49150"/>
                </a:cubicBezTo>
                <a:lnTo>
                  <a:pt x="2162552" y="245744"/>
                </a:lnTo>
                <a:cubicBezTo>
                  <a:pt x="2162552" y="272888"/>
                  <a:pt x="2140547" y="294893"/>
                  <a:pt x="2113402" y="294893"/>
                </a:cubicBezTo>
                <a:lnTo>
                  <a:pt x="49150" y="294893"/>
                </a:lnTo>
                <a:cubicBezTo>
                  <a:pt x="22005" y="294893"/>
                  <a:pt x="0" y="272888"/>
                  <a:pt x="0" y="245744"/>
                </a:cubicBezTo>
                <a:lnTo>
                  <a:pt x="0" y="49150"/>
                </a:lnTo>
                <a:cubicBezTo>
                  <a:pt x="0" y="22023"/>
                  <a:pt x="22023" y="0"/>
                  <a:pt x="49150" y="0"/>
                </a:cubicBezTo>
                <a:close/>
              </a:path>
            </a:pathLst>
          </a:custGeom>
          <a:solidFill>
            <a:srgbClr val="4A5568">
              <a:alpha val="50196"/>
            </a:srgbClr>
          </a:solidFill>
          <a:ln/>
        </p:spPr>
        <p:txBody>
          <a:bodyPr/>
          <a:lstStyle/>
          <a:p>
            <a:endParaRPr lang="zh-CN" altLang="en-US"/>
          </a:p>
        </p:txBody>
      </p:sp>
      <p:sp>
        <p:nvSpPr>
          <p:cNvPr id="30" name="Text 28"/>
          <p:cNvSpPr/>
          <p:nvPr/>
        </p:nvSpPr>
        <p:spPr>
          <a:xfrm>
            <a:off x="798670" y="7274038"/>
            <a:ext cx="2039680" cy="196596"/>
          </a:xfrm>
          <a:prstGeom prst="rect">
            <a:avLst/>
          </a:prstGeom>
          <a:noFill/>
          <a:ln/>
        </p:spPr>
        <p:txBody>
          <a:bodyPr wrap="square" lIns="0" tIns="0" rIns="0" bIns="0" rtlCol="0" anchor="ctr"/>
          <a:lstStyle/>
          <a:p>
            <a:pPr algn="ctr">
              <a:lnSpc>
                <a:spcPct val="110000"/>
              </a:lnSpc>
            </a:pPr>
            <a:r>
              <a:rPr lang="en-US" sz="1161" dirty="0">
                <a:solidFill>
                  <a:srgbClr val="F7FAFC"/>
                </a:solidFill>
                <a:latin typeface="MiSans" pitchFamily="34" charset="0"/>
                <a:ea typeface="MiSans" pitchFamily="34" charset="-122"/>
                <a:cs typeface="MiSans" pitchFamily="34" charset="-120"/>
              </a:rPr>
              <a:t>Spark批处理</a:t>
            </a:r>
            <a:endParaRPr lang="en-US" sz="1600" dirty="0"/>
          </a:p>
        </p:txBody>
      </p:sp>
      <p:sp>
        <p:nvSpPr>
          <p:cNvPr id="31" name="Shape 29"/>
          <p:cNvSpPr/>
          <p:nvPr/>
        </p:nvSpPr>
        <p:spPr>
          <a:xfrm>
            <a:off x="3003459" y="7224889"/>
            <a:ext cx="2162552" cy="294893"/>
          </a:xfrm>
          <a:custGeom>
            <a:avLst/>
            <a:gdLst/>
            <a:ahLst/>
            <a:cxnLst/>
            <a:rect l="l" t="t" r="r" b="b"/>
            <a:pathLst>
              <a:path w="2162552" h="294893">
                <a:moveTo>
                  <a:pt x="49150" y="0"/>
                </a:moveTo>
                <a:lnTo>
                  <a:pt x="2113402" y="0"/>
                </a:lnTo>
                <a:cubicBezTo>
                  <a:pt x="2140547" y="0"/>
                  <a:pt x="2162552" y="22005"/>
                  <a:pt x="2162552" y="49150"/>
                </a:cubicBezTo>
                <a:lnTo>
                  <a:pt x="2162552" y="245744"/>
                </a:lnTo>
                <a:cubicBezTo>
                  <a:pt x="2162552" y="272888"/>
                  <a:pt x="2140547" y="294893"/>
                  <a:pt x="2113402" y="294893"/>
                </a:cubicBezTo>
                <a:lnTo>
                  <a:pt x="49150" y="294893"/>
                </a:lnTo>
                <a:cubicBezTo>
                  <a:pt x="22005" y="294893"/>
                  <a:pt x="0" y="272888"/>
                  <a:pt x="0" y="245744"/>
                </a:cubicBezTo>
                <a:lnTo>
                  <a:pt x="0" y="49150"/>
                </a:lnTo>
                <a:cubicBezTo>
                  <a:pt x="0" y="22023"/>
                  <a:pt x="22023" y="0"/>
                  <a:pt x="49150" y="0"/>
                </a:cubicBezTo>
                <a:close/>
              </a:path>
            </a:pathLst>
          </a:custGeom>
          <a:solidFill>
            <a:srgbClr val="4A5568">
              <a:alpha val="50196"/>
            </a:srgbClr>
          </a:solidFill>
          <a:ln/>
        </p:spPr>
        <p:txBody>
          <a:bodyPr/>
          <a:lstStyle/>
          <a:p>
            <a:endParaRPr lang="zh-CN" altLang="en-US"/>
          </a:p>
        </p:txBody>
      </p:sp>
      <p:sp>
        <p:nvSpPr>
          <p:cNvPr id="32" name="Text 30"/>
          <p:cNvSpPr/>
          <p:nvPr/>
        </p:nvSpPr>
        <p:spPr>
          <a:xfrm>
            <a:off x="3064895" y="7274038"/>
            <a:ext cx="2039680" cy="196596"/>
          </a:xfrm>
          <a:prstGeom prst="rect">
            <a:avLst/>
          </a:prstGeom>
          <a:noFill/>
          <a:ln/>
        </p:spPr>
        <p:txBody>
          <a:bodyPr wrap="square" lIns="0" tIns="0" rIns="0" bIns="0" rtlCol="0" anchor="ctr"/>
          <a:lstStyle/>
          <a:p>
            <a:pPr algn="ctr">
              <a:lnSpc>
                <a:spcPct val="110000"/>
              </a:lnSpc>
            </a:pPr>
            <a:r>
              <a:rPr lang="en-US" sz="1161" dirty="0">
                <a:solidFill>
                  <a:srgbClr val="F7FAFC"/>
                </a:solidFill>
                <a:latin typeface="MiSans" pitchFamily="34" charset="0"/>
                <a:ea typeface="MiSans" pitchFamily="34" charset="-122"/>
                <a:cs typeface="MiSans" pitchFamily="34" charset="-120"/>
              </a:rPr>
              <a:t>Trino/Presto查询</a:t>
            </a:r>
            <a:endParaRPr lang="en-US" sz="1600" dirty="0"/>
          </a:p>
        </p:txBody>
      </p:sp>
      <p:sp>
        <p:nvSpPr>
          <p:cNvPr id="33" name="Shape 31"/>
          <p:cNvSpPr/>
          <p:nvPr/>
        </p:nvSpPr>
        <p:spPr>
          <a:xfrm>
            <a:off x="2862156" y="7618080"/>
            <a:ext cx="184308" cy="245745"/>
          </a:xfrm>
          <a:custGeom>
            <a:avLst/>
            <a:gdLst/>
            <a:ahLst/>
            <a:cxnLst/>
            <a:rect l="l" t="t" r="r" b="b"/>
            <a:pathLst>
              <a:path w="184308" h="245745">
                <a:moveTo>
                  <a:pt x="81307" y="241233"/>
                </a:moveTo>
                <a:cubicBezTo>
                  <a:pt x="87307" y="247232"/>
                  <a:pt x="97050" y="247232"/>
                  <a:pt x="103050" y="241233"/>
                </a:cubicBezTo>
                <a:lnTo>
                  <a:pt x="179845" y="164438"/>
                </a:lnTo>
                <a:cubicBezTo>
                  <a:pt x="185844" y="158438"/>
                  <a:pt x="185844" y="148695"/>
                  <a:pt x="179845" y="142695"/>
                </a:cubicBezTo>
                <a:cubicBezTo>
                  <a:pt x="173845" y="136695"/>
                  <a:pt x="164102" y="136695"/>
                  <a:pt x="158102" y="142695"/>
                </a:cubicBezTo>
                <a:lnTo>
                  <a:pt x="107513" y="193284"/>
                </a:lnTo>
                <a:lnTo>
                  <a:pt x="107513" y="15359"/>
                </a:lnTo>
                <a:cubicBezTo>
                  <a:pt x="107513" y="6864"/>
                  <a:pt x="100650" y="0"/>
                  <a:pt x="92154" y="0"/>
                </a:cubicBezTo>
                <a:cubicBezTo>
                  <a:pt x="83659" y="0"/>
                  <a:pt x="76795" y="6864"/>
                  <a:pt x="76795" y="15359"/>
                </a:cubicBezTo>
                <a:lnTo>
                  <a:pt x="76795" y="193284"/>
                </a:lnTo>
                <a:lnTo>
                  <a:pt x="26206" y="142695"/>
                </a:lnTo>
                <a:cubicBezTo>
                  <a:pt x="20207" y="136695"/>
                  <a:pt x="10463" y="136695"/>
                  <a:pt x="4464" y="142695"/>
                </a:cubicBezTo>
                <a:cubicBezTo>
                  <a:pt x="-1536" y="148695"/>
                  <a:pt x="-1536" y="158438"/>
                  <a:pt x="4464" y="164438"/>
                </a:cubicBezTo>
                <a:lnTo>
                  <a:pt x="81259" y="241233"/>
                </a:lnTo>
                <a:close/>
              </a:path>
            </a:pathLst>
          </a:custGeom>
          <a:solidFill>
            <a:srgbClr val="4FD1C5"/>
          </a:solidFill>
          <a:ln/>
        </p:spPr>
        <p:txBody>
          <a:bodyPr/>
          <a:lstStyle/>
          <a:p>
            <a:endParaRPr lang="zh-CN" altLang="en-US"/>
          </a:p>
        </p:txBody>
      </p:sp>
      <p:sp>
        <p:nvSpPr>
          <p:cNvPr id="34" name="Shape 32"/>
          <p:cNvSpPr/>
          <p:nvPr/>
        </p:nvSpPr>
        <p:spPr>
          <a:xfrm>
            <a:off x="737234" y="7962122"/>
            <a:ext cx="4435689" cy="442340"/>
          </a:xfrm>
          <a:custGeom>
            <a:avLst/>
            <a:gdLst/>
            <a:ahLst/>
            <a:cxnLst/>
            <a:rect l="l" t="t" r="r" b="b"/>
            <a:pathLst>
              <a:path w="4435689" h="442340">
                <a:moveTo>
                  <a:pt x="49148" y="0"/>
                </a:moveTo>
                <a:lnTo>
                  <a:pt x="4386540" y="0"/>
                </a:lnTo>
                <a:cubicBezTo>
                  <a:pt x="4413684" y="0"/>
                  <a:pt x="4435689" y="22004"/>
                  <a:pt x="4435689" y="49148"/>
                </a:cubicBezTo>
                <a:lnTo>
                  <a:pt x="4435689" y="393192"/>
                </a:lnTo>
                <a:cubicBezTo>
                  <a:pt x="4435689" y="420336"/>
                  <a:pt x="4413684" y="442340"/>
                  <a:pt x="4386540" y="442340"/>
                </a:cubicBezTo>
                <a:lnTo>
                  <a:pt x="49148" y="442340"/>
                </a:lnTo>
                <a:cubicBezTo>
                  <a:pt x="22004" y="442340"/>
                  <a:pt x="0" y="420336"/>
                  <a:pt x="0" y="393192"/>
                </a:cubicBezTo>
                <a:lnTo>
                  <a:pt x="0" y="49148"/>
                </a:lnTo>
                <a:cubicBezTo>
                  <a:pt x="0" y="22023"/>
                  <a:pt x="22023" y="0"/>
                  <a:pt x="49148" y="0"/>
                </a:cubicBezTo>
                <a:close/>
              </a:path>
            </a:pathLst>
          </a:custGeom>
          <a:solidFill>
            <a:srgbClr val="4FD1C5">
              <a:alpha val="20000"/>
            </a:srgbClr>
          </a:solidFill>
          <a:ln/>
        </p:spPr>
        <p:txBody>
          <a:bodyPr/>
          <a:lstStyle/>
          <a:p>
            <a:endParaRPr lang="zh-CN" altLang="en-US"/>
          </a:p>
        </p:txBody>
      </p:sp>
      <p:sp>
        <p:nvSpPr>
          <p:cNvPr id="35" name="Text 33"/>
          <p:cNvSpPr/>
          <p:nvPr/>
        </p:nvSpPr>
        <p:spPr>
          <a:xfrm>
            <a:off x="841675" y="8060420"/>
            <a:ext cx="4226806" cy="245745"/>
          </a:xfrm>
          <a:prstGeom prst="rect">
            <a:avLst/>
          </a:prstGeom>
          <a:noFill/>
          <a:ln/>
        </p:spPr>
        <p:txBody>
          <a:bodyPr wrap="square" lIns="0" tIns="0" rIns="0" bIns="0" rtlCol="0" anchor="ctr"/>
          <a:lstStyle/>
          <a:p>
            <a:pPr algn="ctr">
              <a:lnSpc>
                <a:spcPct val="120000"/>
              </a:lnSpc>
            </a:pPr>
            <a:r>
              <a:rPr lang="en-US" sz="1355" b="1" dirty="0">
                <a:solidFill>
                  <a:srgbClr val="F7FAFC"/>
                </a:solidFill>
                <a:latin typeface="MiSans" pitchFamily="34" charset="0"/>
                <a:ea typeface="MiSans" pitchFamily="34" charset="-122"/>
                <a:cs typeface="MiSans" pitchFamily="34" charset="-120"/>
              </a:rPr>
              <a:t>风控/运营/报表系统</a:t>
            </a:r>
            <a:endParaRPr lang="en-US" sz="1600" dirty="0"/>
          </a:p>
        </p:txBody>
      </p:sp>
      <p:sp>
        <p:nvSpPr>
          <p:cNvPr id="36" name="Shape 34"/>
          <p:cNvSpPr/>
          <p:nvPr/>
        </p:nvSpPr>
        <p:spPr>
          <a:xfrm>
            <a:off x="5662971" y="3637019"/>
            <a:ext cx="4927178" cy="5013188"/>
          </a:xfrm>
          <a:custGeom>
            <a:avLst/>
            <a:gdLst/>
            <a:ahLst/>
            <a:cxnLst/>
            <a:rect l="l" t="t" r="r" b="b"/>
            <a:pathLst>
              <a:path w="4927178" h="5013188">
                <a:moveTo>
                  <a:pt x="98297" y="0"/>
                </a:moveTo>
                <a:lnTo>
                  <a:pt x="4828880" y="0"/>
                </a:lnTo>
                <a:cubicBezTo>
                  <a:pt x="4883168" y="0"/>
                  <a:pt x="4927178" y="44009"/>
                  <a:pt x="4927178" y="98297"/>
                </a:cubicBezTo>
                <a:lnTo>
                  <a:pt x="4927178" y="4914891"/>
                </a:lnTo>
                <a:cubicBezTo>
                  <a:pt x="4927178" y="4969179"/>
                  <a:pt x="4883168" y="5013188"/>
                  <a:pt x="4828880" y="5013188"/>
                </a:cubicBezTo>
                <a:lnTo>
                  <a:pt x="98297" y="5013188"/>
                </a:lnTo>
                <a:cubicBezTo>
                  <a:pt x="44009" y="5013188"/>
                  <a:pt x="0" y="4969179"/>
                  <a:pt x="0" y="4914891"/>
                </a:cubicBezTo>
                <a:lnTo>
                  <a:pt x="0" y="98297"/>
                </a:lnTo>
                <a:cubicBezTo>
                  <a:pt x="0" y="44045"/>
                  <a:pt x="44045" y="0"/>
                  <a:pt x="98297" y="0"/>
                </a:cubicBezTo>
                <a:close/>
              </a:path>
            </a:pathLst>
          </a:custGeom>
          <a:solidFill>
            <a:srgbClr val="4A5568">
              <a:alpha val="30196"/>
            </a:srgbClr>
          </a:solidFill>
          <a:ln/>
        </p:spPr>
        <p:txBody>
          <a:bodyPr/>
          <a:lstStyle/>
          <a:p>
            <a:endParaRPr lang="zh-CN" altLang="en-US"/>
          </a:p>
        </p:txBody>
      </p:sp>
      <p:sp>
        <p:nvSpPr>
          <p:cNvPr id="37" name="Text 35"/>
          <p:cNvSpPr/>
          <p:nvPr/>
        </p:nvSpPr>
        <p:spPr>
          <a:xfrm>
            <a:off x="5908716" y="3882763"/>
            <a:ext cx="4546274" cy="344042"/>
          </a:xfrm>
          <a:prstGeom prst="rect">
            <a:avLst/>
          </a:prstGeom>
          <a:noFill/>
          <a:ln/>
        </p:spPr>
        <p:txBody>
          <a:bodyPr wrap="square" lIns="0" tIns="0" rIns="0" bIns="0" rtlCol="0" anchor="ctr"/>
          <a:lstStyle/>
          <a:p>
            <a:pPr>
              <a:lnSpc>
                <a:spcPct val="130000"/>
              </a:lnSpc>
            </a:pPr>
            <a:r>
              <a:rPr lang="en-US" sz="1742" b="1" dirty="0">
                <a:solidFill>
                  <a:srgbClr val="4FD1C5"/>
                </a:solidFill>
                <a:latin typeface="MiSans" pitchFamily="34" charset="0"/>
                <a:ea typeface="MiSans" pitchFamily="34" charset="-122"/>
                <a:cs typeface="MiSans" pitchFamily="34" charset="-120"/>
              </a:rPr>
              <a:t>Iceberg表定义示例</a:t>
            </a:r>
            <a:endParaRPr lang="en-US" sz="1600" dirty="0"/>
          </a:p>
        </p:txBody>
      </p:sp>
      <p:sp>
        <p:nvSpPr>
          <p:cNvPr id="38" name="Shape 36"/>
          <p:cNvSpPr/>
          <p:nvPr/>
        </p:nvSpPr>
        <p:spPr>
          <a:xfrm>
            <a:off x="5908716" y="4374252"/>
            <a:ext cx="4435689" cy="2457445"/>
          </a:xfrm>
          <a:custGeom>
            <a:avLst/>
            <a:gdLst/>
            <a:ahLst/>
            <a:cxnLst/>
            <a:rect l="l" t="t" r="r" b="b"/>
            <a:pathLst>
              <a:path w="4435689" h="2457445">
                <a:moveTo>
                  <a:pt x="49149" y="0"/>
                </a:moveTo>
                <a:lnTo>
                  <a:pt x="4386540" y="0"/>
                </a:lnTo>
                <a:cubicBezTo>
                  <a:pt x="4413684" y="0"/>
                  <a:pt x="4435689" y="22005"/>
                  <a:pt x="4435689" y="49149"/>
                </a:cubicBezTo>
                <a:lnTo>
                  <a:pt x="4435689" y="2408296"/>
                </a:lnTo>
                <a:cubicBezTo>
                  <a:pt x="4435689" y="2435440"/>
                  <a:pt x="4413684" y="2457445"/>
                  <a:pt x="4386540" y="2457445"/>
                </a:cubicBezTo>
                <a:lnTo>
                  <a:pt x="49149" y="2457445"/>
                </a:lnTo>
                <a:cubicBezTo>
                  <a:pt x="22005" y="2457445"/>
                  <a:pt x="0" y="2435440"/>
                  <a:pt x="0" y="2408296"/>
                </a:cubicBezTo>
                <a:lnTo>
                  <a:pt x="0" y="49149"/>
                </a:lnTo>
                <a:cubicBezTo>
                  <a:pt x="0" y="22023"/>
                  <a:pt x="22023" y="0"/>
                  <a:pt x="49149" y="0"/>
                </a:cubicBezTo>
                <a:close/>
              </a:path>
            </a:pathLst>
          </a:custGeom>
          <a:solidFill>
            <a:srgbClr val="1A202C"/>
          </a:solidFill>
          <a:ln/>
        </p:spPr>
        <p:txBody>
          <a:bodyPr/>
          <a:lstStyle/>
          <a:p>
            <a:endParaRPr lang="zh-CN" altLang="en-US"/>
          </a:p>
        </p:txBody>
      </p:sp>
      <p:sp>
        <p:nvSpPr>
          <p:cNvPr id="39" name="Text 37"/>
          <p:cNvSpPr/>
          <p:nvPr/>
        </p:nvSpPr>
        <p:spPr>
          <a:xfrm>
            <a:off x="6056163" y="4521699"/>
            <a:ext cx="4214519" cy="196596"/>
          </a:xfrm>
          <a:prstGeom prst="rect">
            <a:avLst/>
          </a:prstGeom>
          <a:noFill/>
          <a:ln/>
        </p:spPr>
        <p:txBody>
          <a:bodyPr wrap="square" lIns="0" tIns="0" rIns="0" bIns="0" rtlCol="0" anchor="ctr"/>
          <a:lstStyle/>
          <a:p>
            <a:pPr>
              <a:lnSpc>
                <a:spcPct val="110000"/>
              </a:lnSpc>
            </a:pPr>
            <a:r>
              <a:rPr lang="en-US" sz="1161" dirty="0">
                <a:solidFill>
                  <a:srgbClr val="A0AEC0"/>
                </a:solidFill>
                <a:latin typeface="MiSans" pitchFamily="34" charset="0"/>
                <a:ea typeface="MiSans" pitchFamily="34" charset="-122"/>
                <a:cs typeface="MiSans" pitchFamily="34" charset="-120"/>
              </a:rPr>
              <a:t>-- 基于Iceberg的对账结果表</a:t>
            </a:r>
            <a:endParaRPr lang="en-US" sz="1600" dirty="0"/>
          </a:p>
        </p:txBody>
      </p:sp>
      <p:sp>
        <p:nvSpPr>
          <p:cNvPr id="40" name="Text 38"/>
          <p:cNvSpPr/>
          <p:nvPr/>
        </p:nvSpPr>
        <p:spPr>
          <a:xfrm>
            <a:off x="6056163" y="4718295"/>
            <a:ext cx="4214519"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CREATE TABLE bank_reconciliation_iceberg (</a:t>
            </a:r>
            <a:endParaRPr lang="en-US" sz="1600" dirty="0"/>
          </a:p>
        </p:txBody>
      </p:sp>
      <p:sp>
        <p:nvSpPr>
          <p:cNvPr id="41" name="Text 39"/>
          <p:cNvSpPr/>
          <p:nvPr/>
        </p:nvSpPr>
        <p:spPr>
          <a:xfrm>
            <a:off x="6154460" y="4914890"/>
            <a:ext cx="4116221"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batch_date DATE,</a:t>
            </a:r>
            <a:endParaRPr lang="en-US" sz="1600" dirty="0"/>
          </a:p>
        </p:txBody>
      </p:sp>
      <p:sp>
        <p:nvSpPr>
          <p:cNvPr id="42" name="Text 40"/>
          <p:cNvSpPr/>
          <p:nvPr/>
        </p:nvSpPr>
        <p:spPr>
          <a:xfrm>
            <a:off x="6154460" y="5111486"/>
            <a:ext cx="4116221"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channel STRING,</a:t>
            </a:r>
            <a:endParaRPr lang="en-US" sz="1600" dirty="0"/>
          </a:p>
        </p:txBody>
      </p:sp>
      <p:sp>
        <p:nvSpPr>
          <p:cNvPr id="43" name="Text 41"/>
          <p:cNvSpPr/>
          <p:nvPr/>
        </p:nvSpPr>
        <p:spPr>
          <a:xfrm>
            <a:off x="6154460" y="5308082"/>
            <a:ext cx="4116221"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trans_seq_no STRING,</a:t>
            </a:r>
            <a:endParaRPr lang="en-US" sz="1600" dirty="0"/>
          </a:p>
        </p:txBody>
      </p:sp>
      <p:sp>
        <p:nvSpPr>
          <p:cNvPr id="44" name="Text 42"/>
          <p:cNvSpPr/>
          <p:nvPr/>
        </p:nvSpPr>
        <p:spPr>
          <a:xfrm>
            <a:off x="6154460" y="5504677"/>
            <a:ext cx="4116221"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internal_amount DECIMAL(18,2),</a:t>
            </a:r>
            <a:endParaRPr lang="en-US" sz="1600" dirty="0"/>
          </a:p>
        </p:txBody>
      </p:sp>
      <p:sp>
        <p:nvSpPr>
          <p:cNvPr id="45" name="Text 43"/>
          <p:cNvSpPr/>
          <p:nvPr/>
        </p:nvSpPr>
        <p:spPr>
          <a:xfrm>
            <a:off x="6154460" y="5701273"/>
            <a:ext cx="4116221"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external_amount DECIMAL(18,2),</a:t>
            </a:r>
            <a:endParaRPr lang="en-US" sz="1600" dirty="0"/>
          </a:p>
        </p:txBody>
      </p:sp>
      <p:sp>
        <p:nvSpPr>
          <p:cNvPr id="46" name="Text 44"/>
          <p:cNvSpPr/>
          <p:nvPr/>
        </p:nvSpPr>
        <p:spPr>
          <a:xfrm>
            <a:off x="6154460" y="5897868"/>
            <a:ext cx="4116221"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recon_result STRING,</a:t>
            </a:r>
            <a:endParaRPr lang="en-US" sz="1600" dirty="0"/>
          </a:p>
        </p:txBody>
      </p:sp>
      <p:sp>
        <p:nvSpPr>
          <p:cNvPr id="47" name="Text 45"/>
          <p:cNvSpPr/>
          <p:nvPr/>
        </p:nvSpPr>
        <p:spPr>
          <a:xfrm>
            <a:off x="6154460" y="6094464"/>
            <a:ext cx="4116221"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update_time TIMESTAMP</a:t>
            </a:r>
            <a:endParaRPr lang="en-US" sz="1600" dirty="0"/>
          </a:p>
        </p:txBody>
      </p:sp>
      <p:sp>
        <p:nvSpPr>
          <p:cNvPr id="48" name="Text 46"/>
          <p:cNvSpPr/>
          <p:nvPr/>
        </p:nvSpPr>
        <p:spPr>
          <a:xfrm>
            <a:off x="6056163" y="6291060"/>
            <a:ext cx="4214519" cy="196596"/>
          </a:xfrm>
          <a:prstGeom prst="rect">
            <a:avLst/>
          </a:prstGeom>
          <a:noFill/>
          <a:ln/>
        </p:spPr>
        <p:txBody>
          <a:bodyPr wrap="square" lIns="0" tIns="0" rIns="0" bIns="0" rtlCol="0" anchor="ctr"/>
          <a:lstStyle/>
          <a:p>
            <a:pPr>
              <a:lnSpc>
                <a:spcPct val="110000"/>
              </a:lnSpc>
            </a:pPr>
            <a:r>
              <a:rPr lang="en-US" sz="1161" dirty="0">
                <a:solidFill>
                  <a:srgbClr val="F7FAFC"/>
                </a:solidFill>
                <a:latin typeface="MiSans" pitchFamily="34" charset="0"/>
                <a:ea typeface="MiSans" pitchFamily="34" charset="-122"/>
                <a:cs typeface="MiSans" pitchFamily="34" charset="-120"/>
              </a:rPr>
              <a:t>) </a:t>
            </a:r>
            <a:r>
              <a:rPr lang="en-US" sz="1161" dirty="0">
                <a:solidFill>
                  <a:srgbClr val="4FD1C5"/>
                </a:solidFill>
                <a:latin typeface="MiSans" pitchFamily="34" charset="0"/>
                <a:ea typeface="MiSans" pitchFamily="34" charset="-122"/>
                <a:cs typeface="MiSans" pitchFamily="34" charset="-120"/>
              </a:rPr>
              <a:t>USING iceberg</a:t>
            </a:r>
            <a:endParaRPr lang="en-US" sz="1600" dirty="0"/>
          </a:p>
        </p:txBody>
      </p:sp>
      <p:sp>
        <p:nvSpPr>
          <p:cNvPr id="49" name="Text 47"/>
          <p:cNvSpPr/>
          <p:nvPr/>
        </p:nvSpPr>
        <p:spPr>
          <a:xfrm>
            <a:off x="6056163" y="6487655"/>
            <a:ext cx="4214519" cy="196596"/>
          </a:xfrm>
          <a:prstGeom prst="rect">
            <a:avLst/>
          </a:prstGeom>
          <a:noFill/>
          <a:ln/>
        </p:spPr>
        <p:txBody>
          <a:bodyPr wrap="square" lIns="0" tIns="0" rIns="0" bIns="0" rtlCol="0" anchor="ctr"/>
          <a:lstStyle/>
          <a:p>
            <a:pPr>
              <a:lnSpc>
                <a:spcPct val="110000"/>
              </a:lnSpc>
            </a:pPr>
            <a:r>
              <a:rPr lang="en-US" sz="1161" dirty="0">
                <a:solidFill>
                  <a:srgbClr val="4FD1C5"/>
                </a:solidFill>
                <a:latin typeface="MiSans" pitchFamily="34" charset="0"/>
                <a:ea typeface="MiSans" pitchFamily="34" charset="-122"/>
                <a:cs typeface="MiSans" pitchFamily="34" charset="-120"/>
              </a:rPr>
              <a:t>PARTITIONED BY</a:t>
            </a:r>
            <a:r>
              <a:rPr lang="en-US" sz="1161" dirty="0">
                <a:solidFill>
                  <a:srgbClr val="F7FAFC"/>
                </a:solidFill>
                <a:latin typeface="MiSans" pitchFamily="34" charset="0"/>
                <a:ea typeface="MiSans" pitchFamily="34" charset="-122"/>
                <a:cs typeface="MiSans" pitchFamily="34" charset="-120"/>
              </a:rPr>
              <a:t> (days(batch_date));</a:t>
            </a:r>
            <a:endParaRPr lang="en-US" sz="1600" dirty="0"/>
          </a:p>
        </p:txBody>
      </p:sp>
      <p:sp>
        <p:nvSpPr>
          <p:cNvPr id="50" name="Shape 48"/>
          <p:cNvSpPr/>
          <p:nvPr/>
        </p:nvSpPr>
        <p:spPr>
          <a:xfrm>
            <a:off x="5945577" y="7003719"/>
            <a:ext cx="172021" cy="196596"/>
          </a:xfrm>
          <a:custGeom>
            <a:avLst/>
            <a:gdLst/>
            <a:ahLst/>
            <a:cxnLst/>
            <a:rect l="l" t="t" r="r" b="b"/>
            <a:pathLst>
              <a:path w="172021" h="196596">
                <a:moveTo>
                  <a:pt x="130091" y="-3801"/>
                </a:moveTo>
                <a:cubicBezTo>
                  <a:pt x="134660" y="-499"/>
                  <a:pt x="136350" y="5491"/>
                  <a:pt x="134276" y="10713"/>
                </a:cubicBezTo>
                <a:lnTo>
                  <a:pt x="104173" y="86011"/>
                </a:lnTo>
                <a:lnTo>
                  <a:pt x="159734" y="86011"/>
                </a:lnTo>
                <a:cubicBezTo>
                  <a:pt x="164918" y="86011"/>
                  <a:pt x="169525" y="89236"/>
                  <a:pt x="171292" y="94112"/>
                </a:cubicBezTo>
                <a:cubicBezTo>
                  <a:pt x="173058" y="98989"/>
                  <a:pt x="171560" y="104441"/>
                  <a:pt x="167605" y="107744"/>
                </a:cubicBezTo>
                <a:lnTo>
                  <a:pt x="57020" y="199898"/>
                </a:lnTo>
                <a:cubicBezTo>
                  <a:pt x="52681" y="203507"/>
                  <a:pt x="46499" y="203699"/>
                  <a:pt x="41930" y="200397"/>
                </a:cubicBezTo>
                <a:cubicBezTo>
                  <a:pt x="37361" y="197095"/>
                  <a:pt x="35671" y="191105"/>
                  <a:pt x="37745" y="185883"/>
                </a:cubicBezTo>
                <a:lnTo>
                  <a:pt x="67849" y="110585"/>
                </a:lnTo>
                <a:lnTo>
                  <a:pt x="12287" y="110585"/>
                </a:lnTo>
                <a:cubicBezTo>
                  <a:pt x="7104" y="110585"/>
                  <a:pt x="2496" y="107360"/>
                  <a:pt x="730" y="102483"/>
                </a:cubicBezTo>
                <a:cubicBezTo>
                  <a:pt x="-1037" y="97607"/>
                  <a:pt x="461" y="92154"/>
                  <a:pt x="4416" y="88852"/>
                </a:cubicBezTo>
                <a:lnTo>
                  <a:pt x="115001" y="-3302"/>
                </a:lnTo>
                <a:cubicBezTo>
                  <a:pt x="119340" y="-6912"/>
                  <a:pt x="125522" y="-7104"/>
                  <a:pt x="130091" y="-3801"/>
                </a:cubicBezTo>
                <a:close/>
              </a:path>
            </a:pathLst>
          </a:custGeom>
          <a:solidFill>
            <a:srgbClr val="4FD1C5"/>
          </a:solidFill>
          <a:ln/>
        </p:spPr>
        <p:txBody>
          <a:bodyPr/>
          <a:lstStyle/>
          <a:p>
            <a:endParaRPr lang="zh-CN" altLang="en-US"/>
          </a:p>
        </p:txBody>
      </p:sp>
      <p:sp>
        <p:nvSpPr>
          <p:cNvPr id="51" name="Text 49"/>
          <p:cNvSpPr/>
          <p:nvPr/>
        </p:nvSpPr>
        <p:spPr>
          <a:xfrm>
            <a:off x="6252758" y="6979144"/>
            <a:ext cx="1904520" cy="245745"/>
          </a:xfrm>
          <a:prstGeom prst="rect">
            <a:avLst/>
          </a:prstGeom>
          <a:noFill/>
          <a:ln/>
        </p:spPr>
        <p:txBody>
          <a:bodyPr wrap="square" lIns="0" tIns="0" rIns="0" bIns="0" rtlCol="0" anchor="ctr"/>
          <a:lstStyle/>
          <a:p>
            <a:pPr>
              <a:lnSpc>
                <a:spcPct val="120000"/>
              </a:lnSpc>
            </a:pPr>
            <a:r>
              <a:rPr lang="en-US" sz="1355" dirty="0">
                <a:solidFill>
                  <a:srgbClr val="F7FAFC"/>
                </a:solidFill>
                <a:latin typeface="MiSans" pitchFamily="34" charset="0"/>
                <a:ea typeface="MiSans" pitchFamily="34" charset="-122"/>
                <a:cs typeface="MiSans" pitchFamily="34" charset="-120"/>
              </a:rPr>
              <a:t>Flink CDC实时写入变更</a:t>
            </a:r>
            <a:endParaRPr lang="en-US" sz="1600" dirty="0"/>
          </a:p>
        </p:txBody>
      </p:sp>
      <p:sp>
        <p:nvSpPr>
          <p:cNvPr id="52" name="Shape 50"/>
          <p:cNvSpPr/>
          <p:nvPr/>
        </p:nvSpPr>
        <p:spPr>
          <a:xfrm>
            <a:off x="5933290" y="7347761"/>
            <a:ext cx="196596" cy="196596"/>
          </a:xfrm>
          <a:custGeom>
            <a:avLst/>
            <a:gdLst/>
            <a:ahLst/>
            <a:cxnLst/>
            <a:rect l="l" t="t" r="r" b="b"/>
            <a:pathLst>
              <a:path w="196596" h="196596">
                <a:moveTo>
                  <a:pt x="98298" y="0"/>
                </a:moveTo>
                <a:cubicBezTo>
                  <a:pt x="152550" y="0"/>
                  <a:pt x="196596" y="44046"/>
                  <a:pt x="196596" y="98298"/>
                </a:cubicBezTo>
                <a:cubicBezTo>
                  <a:pt x="196596" y="152550"/>
                  <a:pt x="152550" y="196596"/>
                  <a:pt x="98298" y="196596"/>
                </a:cubicBezTo>
                <a:cubicBezTo>
                  <a:pt x="44046" y="196596"/>
                  <a:pt x="0" y="152550"/>
                  <a:pt x="0" y="98298"/>
                </a:cubicBezTo>
                <a:cubicBezTo>
                  <a:pt x="0" y="44046"/>
                  <a:pt x="44046" y="0"/>
                  <a:pt x="98298" y="0"/>
                </a:cubicBezTo>
                <a:close/>
                <a:moveTo>
                  <a:pt x="89082" y="46077"/>
                </a:moveTo>
                <a:lnTo>
                  <a:pt x="89082" y="98298"/>
                </a:lnTo>
                <a:cubicBezTo>
                  <a:pt x="89082" y="101370"/>
                  <a:pt x="90618" y="104249"/>
                  <a:pt x="93191" y="105977"/>
                </a:cubicBezTo>
                <a:lnTo>
                  <a:pt x="130053" y="130552"/>
                </a:lnTo>
                <a:cubicBezTo>
                  <a:pt x="134276" y="133393"/>
                  <a:pt x="139998" y="132241"/>
                  <a:pt x="142839" y="127979"/>
                </a:cubicBezTo>
                <a:cubicBezTo>
                  <a:pt x="145680" y="123717"/>
                  <a:pt x="144528" y="118034"/>
                  <a:pt x="140266" y="115193"/>
                </a:cubicBezTo>
                <a:lnTo>
                  <a:pt x="107513" y="93383"/>
                </a:lnTo>
                <a:lnTo>
                  <a:pt x="107513" y="46077"/>
                </a:lnTo>
                <a:cubicBezTo>
                  <a:pt x="107513" y="40970"/>
                  <a:pt x="103405" y="36862"/>
                  <a:pt x="98298" y="36862"/>
                </a:cubicBezTo>
                <a:cubicBezTo>
                  <a:pt x="93191" y="36862"/>
                  <a:pt x="89082" y="40970"/>
                  <a:pt x="89082" y="46077"/>
                </a:cubicBezTo>
                <a:close/>
              </a:path>
            </a:pathLst>
          </a:custGeom>
          <a:solidFill>
            <a:srgbClr val="4FD1C5"/>
          </a:solidFill>
          <a:ln/>
        </p:spPr>
        <p:txBody>
          <a:bodyPr/>
          <a:lstStyle/>
          <a:p>
            <a:endParaRPr lang="zh-CN" altLang="en-US"/>
          </a:p>
        </p:txBody>
      </p:sp>
      <p:sp>
        <p:nvSpPr>
          <p:cNvPr id="53" name="Text 51"/>
          <p:cNvSpPr/>
          <p:nvPr/>
        </p:nvSpPr>
        <p:spPr>
          <a:xfrm>
            <a:off x="6252758" y="7323187"/>
            <a:ext cx="1634201" cy="245745"/>
          </a:xfrm>
          <a:prstGeom prst="rect">
            <a:avLst/>
          </a:prstGeom>
          <a:noFill/>
          <a:ln/>
        </p:spPr>
        <p:txBody>
          <a:bodyPr wrap="square" lIns="0" tIns="0" rIns="0" bIns="0" rtlCol="0" anchor="ctr"/>
          <a:lstStyle/>
          <a:p>
            <a:pPr>
              <a:lnSpc>
                <a:spcPct val="120000"/>
              </a:lnSpc>
            </a:pPr>
            <a:r>
              <a:rPr lang="en-US" sz="1355" dirty="0">
                <a:solidFill>
                  <a:srgbClr val="F7FAFC"/>
                </a:solidFill>
                <a:latin typeface="MiSans" pitchFamily="34" charset="0"/>
                <a:ea typeface="MiSans" pitchFamily="34" charset="-122"/>
                <a:cs typeface="MiSans" pitchFamily="34" charset="-120"/>
              </a:rPr>
              <a:t>分钟级甚至秒级更新</a:t>
            </a:r>
            <a:endParaRPr lang="en-US" sz="1600" dirty="0"/>
          </a:p>
        </p:txBody>
      </p:sp>
      <p:sp>
        <p:nvSpPr>
          <p:cNvPr id="54" name="Shape 52"/>
          <p:cNvSpPr/>
          <p:nvPr/>
        </p:nvSpPr>
        <p:spPr>
          <a:xfrm>
            <a:off x="10859124" y="3637019"/>
            <a:ext cx="4902603" cy="2162552"/>
          </a:xfrm>
          <a:custGeom>
            <a:avLst/>
            <a:gdLst/>
            <a:ahLst/>
            <a:cxnLst/>
            <a:rect l="l" t="t" r="r" b="b"/>
            <a:pathLst>
              <a:path w="4902603" h="2162552">
                <a:moveTo>
                  <a:pt x="49149" y="0"/>
                </a:moveTo>
                <a:lnTo>
                  <a:pt x="4804315" y="0"/>
                </a:lnTo>
                <a:cubicBezTo>
                  <a:pt x="4858598" y="0"/>
                  <a:pt x="4902603" y="44005"/>
                  <a:pt x="4902603" y="98288"/>
                </a:cubicBezTo>
                <a:lnTo>
                  <a:pt x="4902603" y="2064264"/>
                </a:lnTo>
                <a:cubicBezTo>
                  <a:pt x="4902603" y="2118547"/>
                  <a:pt x="4858598" y="2162552"/>
                  <a:pt x="4804315" y="2162552"/>
                </a:cubicBezTo>
                <a:lnTo>
                  <a:pt x="49149" y="2162552"/>
                </a:lnTo>
                <a:cubicBezTo>
                  <a:pt x="22005" y="2162552"/>
                  <a:pt x="0" y="2140547"/>
                  <a:pt x="0" y="2113403"/>
                </a:cubicBezTo>
                <a:lnTo>
                  <a:pt x="0" y="49149"/>
                </a:lnTo>
                <a:cubicBezTo>
                  <a:pt x="0" y="22023"/>
                  <a:pt x="22023" y="0"/>
                  <a:pt x="49149" y="0"/>
                </a:cubicBezTo>
                <a:close/>
              </a:path>
            </a:pathLst>
          </a:custGeom>
          <a:solidFill>
            <a:srgbClr val="4FD1C5">
              <a:alpha val="10196"/>
            </a:srgbClr>
          </a:solidFill>
          <a:ln/>
        </p:spPr>
        <p:txBody>
          <a:bodyPr/>
          <a:lstStyle/>
          <a:p>
            <a:endParaRPr lang="zh-CN" altLang="en-US"/>
          </a:p>
        </p:txBody>
      </p:sp>
      <p:sp>
        <p:nvSpPr>
          <p:cNvPr id="55" name="Shape 53"/>
          <p:cNvSpPr/>
          <p:nvPr/>
        </p:nvSpPr>
        <p:spPr>
          <a:xfrm>
            <a:off x="10859124" y="3637019"/>
            <a:ext cx="49149" cy="2162552"/>
          </a:xfrm>
          <a:custGeom>
            <a:avLst/>
            <a:gdLst/>
            <a:ahLst/>
            <a:cxnLst/>
            <a:rect l="l" t="t" r="r" b="b"/>
            <a:pathLst>
              <a:path w="49149" h="2162552">
                <a:moveTo>
                  <a:pt x="49149" y="0"/>
                </a:moveTo>
                <a:lnTo>
                  <a:pt x="49149" y="0"/>
                </a:lnTo>
                <a:lnTo>
                  <a:pt x="49149" y="2162552"/>
                </a:lnTo>
                <a:lnTo>
                  <a:pt x="49149" y="2162552"/>
                </a:lnTo>
                <a:cubicBezTo>
                  <a:pt x="22005" y="2162552"/>
                  <a:pt x="0" y="2140547"/>
                  <a:pt x="0" y="2113403"/>
                </a:cubicBezTo>
                <a:lnTo>
                  <a:pt x="0" y="49149"/>
                </a:lnTo>
                <a:cubicBezTo>
                  <a:pt x="0" y="22023"/>
                  <a:pt x="22023" y="0"/>
                  <a:pt x="49149" y="0"/>
                </a:cubicBezTo>
                <a:close/>
              </a:path>
            </a:pathLst>
          </a:custGeom>
          <a:solidFill>
            <a:srgbClr val="4FD1C5"/>
          </a:solidFill>
          <a:ln/>
        </p:spPr>
        <p:txBody>
          <a:bodyPr/>
          <a:lstStyle/>
          <a:p>
            <a:endParaRPr lang="zh-CN" altLang="en-US"/>
          </a:p>
        </p:txBody>
      </p:sp>
      <p:sp>
        <p:nvSpPr>
          <p:cNvPr id="56" name="Text 54"/>
          <p:cNvSpPr/>
          <p:nvPr/>
        </p:nvSpPr>
        <p:spPr>
          <a:xfrm>
            <a:off x="11080294" y="3833615"/>
            <a:ext cx="4595423" cy="344042"/>
          </a:xfrm>
          <a:prstGeom prst="rect">
            <a:avLst/>
          </a:prstGeom>
          <a:noFill/>
          <a:ln/>
        </p:spPr>
        <p:txBody>
          <a:bodyPr wrap="square" lIns="0" tIns="0" rIns="0" bIns="0" rtlCol="0" anchor="ctr"/>
          <a:lstStyle/>
          <a:p>
            <a:pPr>
              <a:lnSpc>
                <a:spcPct val="130000"/>
              </a:lnSpc>
            </a:pPr>
            <a:r>
              <a:rPr lang="en-US" sz="1742" b="1" dirty="0">
                <a:solidFill>
                  <a:srgbClr val="F7FAFC"/>
                </a:solidFill>
                <a:latin typeface="MiSans" pitchFamily="34" charset="0"/>
                <a:ea typeface="MiSans" pitchFamily="34" charset="-122"/>
                <a:cs typeface="MiSans" pitchFamily="34" charset="-120"/>
              </a:rPr>
              <a:t>核心能力</a:t>
            </a:r>
            <a:endParaRPr lang="en-US" sz="1600" dirty="0"/>
          </a:p>
        </p:txBody>
      </p:sp>
      <p:sp>
        <p:nvSpPr>
          <p:cNvPr id="57" name="Shape 55"/>
          <p:cNvSpPr/>
          <p:nvPr/>
        </p:nvSpPr>
        <p:spPr>
          <a:xfrm>
            <a:off x="11117156" y="4349678"/>
            <a:ext cx="172021" cy="196596"/>
          </a:xfrm>
          <a:custGeom>
            <a:avLst/>
            <a:gdLst/>
            <a:ahLst/>
            <a:cxnLst/>
            <a:rect l="l" t="t" r="r" b="b"/>
            <a:pathLst>
              <a:path w="172021" h="196596">
                <a:moveTo>
                  <a:pt x="172021" y="79022"/>
                </a:moveTo>
                <a:cubicBezTo>
                  <a:pt x="166338" y="82785"/>
                  <a:pt x="159811" y="85819"/>
                  <a:pt x="153014" y="88238"/>
                </a:cubicBezTo>
                <a:cubicBezTo>
                  <a:pt x="134967" y="94688"/>
                  <a:pt x="111276" y="98298"/>
                  <a:pt x="86011" y="98298"/>
                </a:cubicBezTo>
                <a:cubicBezTo>
                  <a:pt x="60745" y="98298"/>
                  <a:pt x="37015" y="94650"/>
                  <a:pt x="19007" y="88238"/>
                </a:cubicBezTo>
                <a:cubicBezTo>
                  <a:pt x="12249" y="85819"/>
                  <a:pt x="5683" y="82785"/>
                  <a:pt x="0" y="79022"/>
                </a:cubicBezTo>
                <a:lnTo>
                  <a:pt x="0" y="110585"/>
                </a:lnTo>
                <a:cubicBezTo>
                  <a:pt x="0" y="127557"/>
                  <a:pt x="38513" y="141303"/>
                  <a:pt x="86011" y="141303"/>
                </a:cubicBezTo>
                <a:cubicBezTo>
                  <a:pt x="133508" y="141303"/>
                  <a:pt x="172021" y="127557"/>
                  <a:pt x="172021" y="110585"/>
                </a:cubicBezTo>
                <a:lnTo>
                  <a:pt x="172021" y="79022"/>
                </a:lnTo>
                <a:close/>
                <a:moveTo>
                  <a:pt x="172021" y="49149"/>
                </a:moveTo>
                <a:lnTo>
                  <a:pt x="172021" y="30718"/>
                </a:lnTo>
                <a:cubicBezTo>
                  <a:pt x="172021" y="13746"/>
                  <a:pt x="133508" y="0"/>
                  <a:pt x="86011" y="0"/>
                </a:cubicBezTo>
                <a:cubicBezTo>
                  <a:pt x="38513" y="0"/>
                  <a:pt x="0" y="13746"/>
                  <a:pt x="0" y="30718"/>
                </a:cubicBezTo>
                <a:lnTo>
                  <a:pt x="0" y="49149"/>
                </a:lnTo>
                <a:cubicBezTo>
                  <a:pt x="0" y="66121"/>
                  <a:pt x="38513" y="79867"/>
                  <a:pt x="86011" y="79867"/>
                </a:cubicBezTo>
                <a:cubicBezTo>
                  <a:pt x="133508" y="79867"/>
                  <a:pt x="172021" y="66121"/>
                  <a:pt x="172021" y="49149"/>
                </a:cubicBezTo>
                <a:close/>
                <a:moveTo>
                  <a:pt x="153014" y="149674"/>
                </a:moveTo>
                <a:cubicBezTo>
                  <a:pt x="135006" y="156086"/>
                  <a:pt x="111315" y="159734"/>
                  <a:pt x="86011" y="159734"/>
                </a:cubicBezTo>
                <a:cubicBezTo>
                  <a:pt x="60707" y="159734"/>
                  <a:pt x="37015" y="156086"/>
                  <a:pt x="19007" y="149674"/>
                </a:cubicBezTo>
                <a:cubicBezTo>
                  <a:pt x="12249" y="147255"/>
                  <a:pt x="5683" y="144221"/>
                  <a:pt x="0" y="140458"/>
                </a:cubicBezTo>
                <a:lnTo>
                  <a:pt x="0" y="165878"/>
                </a:lnTo>
                <a:cubicBezTo>
                  <a:pt x="0" y="182849"/>
                  <a:pt x="38513" y="196596"/>
                  <a:pt x="86011" y="196596"/>
                </a:cubicBezTo>
                <a:cubicBezTo>
                  <a:pt x="133508" y="196596"/>
                  <a:pt x="172021" y="182849"/>
                  <a:pt x="172021" y="165878"/>
                </a:cubicBezTo>
                <a:lnTo>
                  <a:pt x="172021" y="140458"/>
                </a:lnTo>
                <a:cubicBezTo>
                  <a:pt x="166338" y="144221"/>
                  <a:pt x="159811" y="147255"/>
                  <a:pt x="153014" y="149674"/>
                </a:cubicBezTo>
                <a:close/>
              </a:path>
            </a:pathLst>
          </a:custGeom>
          <a:solidFill>
            <a:srgbClr val="4FD1C5"/>
          </a:solidFill>
          <a:ln/>
        </p:spPr>
        <p:txBody>
          <a:bodyPr/>
          <a:lstStyle/>
          <a:p>
            <a:endParaRPr lang="zh-CN" altLang="en-US"/>
          </a:p>
        </p:txBody>
      </p:sp>
      <p:sp>
        <p:nvSpPr>
          <p:cNvPr id="58" name="Text 56"/>
          <p:cNvSpPr/>
          <p:nvPr/>
        </p:nvSpPr>
        <p:spPr>
          <a:xfrm>
            <a:off x="11424336" y="4325104"/>
            <a:ext cx="1179574" cy="245745"/>
          </a:xfrm>
          <a:prstGeom prst="rect">
            <a:avLst/>
          </a:prstGeom>
          <a:noFill/>
          <a:ln/>
        </p:spPr>
        <p:txBody>
          <a:bodyPr wrap="square" lIns="0" tIns="0" rIns="0" bIns="0" rtlCol="0" anchor="ctr"/>
          <a:lstStyle/>
          <a:p>
            <a:pPr>
              <a:lnSpc>
                <a:spcPct val="120000"/>
              </a:lnSpc>
            </a:pPr>
            <a:r>
              <a:rPr lang="en-US" sz="1355" dirty="0">
                <a:solidFill>
                  <a:srgbClr val="F7FAFC"/>
                </a:solidFill>
                <a:latin typeface="MiSans" pitchFamily="34" charset="0"/>
                <a:ea typeface="MiSans" pitchFamily="34" charset="-122"/>
                <a:cs typeface="MiSans" pitchFamily="34" charset="-120"/>
              </a:rPr>
              <a:t>ACID事务保障</a:t>
            </a:r>
            <a:endParaRPr lang="en-US" sz="1600" dirty="0"/>
          </a:p>
        </p:txBody>
      </p:sp>
      <p:sp>
        <p:nvSpPr>
          <p:cNvPr id="59" name="Shape 57"/>
          <p:cNvSpPr/>
          <p:nvPr/>
        </p:nvSpPr>
        <p:spPr>
          <a:xfrm>
            <a:off x="11092581" y="4693720"/>
            <a:ext cx="221170" cy="196596"/>
          </a:xfrm>
          <a:custGeom>
            <a:avLst/>
            <a:gdLst/>
            <a:ahLst/>
            <a:cxnLst/>
            <a:rect l="l" t="t" r="r" b="b"/>
            <a:pathLst>
              <a:path w="221170" h="196596">
                <a:moveTo>
                  <a:pt x="110585" y="24574"/>
                </a:moveTo>
                <a:cubicBezTo>
                  <a:pt x="151286" y="24574"/>
                  <a:pt x="184308" y="57596"/>
                  <a:pt x="184308" y="98298"/>
                </a:cubicBezTo>
                <a:cubicBezTo>
                  <a:pt x="184308" y="138999"/>
                  <a:pt x="151286" y="172021"/>
                  <a:pt x="110585" y="172021"/>
                </a:cubicBezTo>
                <a:cubicBezTo>
                  <a:pt x="85550" y="172021"/>
                  <a:pt x="63394" y="159542"/>
                  <a:pt x="50070" y="140420"/>
                </a:cubicBezTo>
                <a:cubicBezTo>
                  <a:pt x="46192" y="134852"/>
                  <a:pt x="38513" y="133508"/>
                  <a:pt x="32945" y="137387"/>
                </a:cubicBezTo>
                <a:cubicBezTo>
                  <a:pt x="27377" y="141265"/>
                  <a:pt x="26034" y="148944"/>
                  <a:pt x="29912" y="154512"/>
                </a:cubicBezTo>
                <a:cubicBezTo>
                  <a:pt x="47651" y="179931"/>
                  <a:pt x="77179" y="196596"/>
                  <a:pt x="110585" y="196596"/>
                </a:cubicBezTo>
                <a:cubicBezTo>
                  <a:pt x="164879" y="196596"/>
                  <a:pt x="208883" y="152592"/>
                  <a:pt x="208883" y="98298"/>
                </a:cubicBezTo>
                <a:cubicBezTo>
                  <a:pt x="208883" y="44004"/>
                  <a:pt x="164879" y="0"/>
                  <a:pt x="110585" y="0"/>
                </a:cubicBezTo>
                <a:cubicBezTo>
                  <a:pt x="77678" y="0"/>
                  <a:pt x="48573" y="16165"/>
                  <a:pt x="30718" y="40970"/>
                </a:cubicBezTo>
                <a:lnTo>
                  <a:pt x="30718" y="30718"/>
                </a:lnTo>
                <a:cubicBezTo>
                  <a:pt x="30718" y="23922"/>
                  <a:pt x="25227" y="18431"/>
                  <a:pt x="18431" y="18431"/>
                </a:cubicBezTo>
                <a:cubicBezTo>
                  <a:pt x="11634" y="18431"/>
                  <a:pt x="6144" y="23922"/>
                  <a:pt x="6144" y="30718"/>
                </a:cubicBezTo>
                <a:lnTo>
                  <a:pt x="6144" y="73723"/>
                </a:lnTo>
                <a:cubicBezTo>
                  <a:pt x="6144" y="80520"/>
                  <a:pt x="11634" y="86011"/>
                  <a:pt x="18431" y="86011"/>
                </a:cubicBezTo>
                <a:lnTo>
                  <a:pt x="27877" y="86011"/>
                </a:lnTo>
                <a:cubicBezTo>
                  <a:pt x="28069" y="86011"/>
                  <a:pt x="28261" y="86011"/>
                  <a:pt x="28453" y="86011"/>
                </a:cubicBezTo>
                <a:lnTo>
                  <a:pt x="61475" y="86011"/>
                </a:lnTo>
                <a:cubicBezTo>
                  <a:pt x="68271" y="86011"/>
                  <a:pt x="73762" y="80520"/>
                  <a:pt x="73762" y="73723"/>
                </a:cubicBezTo>
                <a:cubicBezTo>
                  <a:pt x="73762" y="66927"/>
                  <a:pt x="68271" y="61436"/>
                  <a:pt x="61475" y="61436"/>
                </a:cubicBezTo>
                <a:lnTo>
                  <a:pt x="46768" y="61436"/>
                </a:lnTo>
                <a:cubicBezTo>
                  <a:pt x="59478" y="39396"/>
                  <a:pt x="83323" y="24574"/>
                  <a:pt x="110585" y="24574"/>
                </a:cubicBezTo>
                <a:close/>
                <a:moveTo>
                  <a:pt x="119800" y="58364"/>
                </a:moveTo>
                <a:cubicBezTo>
                  <a:pt x="119800" y="53257"/>
                  <a:pt x="115692" y="49149"/>
                  <a:pt x="110585" y="49149"/>
                </a:cubicBezTo>
                <a:cubicBezTo>
                  <a:pt x="105478" y="49149"/>
                  <a:pt x="101370" y="53257"/>
                  <a:pt x="101370" y="58364"/>
                </a:cubicBezTo>
                <a:lnTo>
                  <a:pt x="101370" y="98298"/>
                </a:lnTo>
                <a:cubicBezTo>
                  <a:pt x="101370" y="100755"/>
                  <a:pt x="102330" y="103098"/>
                  <a:pt x="104057" y="104825"/>
                </a:cubicBezTo>
                <a:lnTo>
                  <a:pt x="131704" y="132472"/>
                </a:lnTo>
                <a:cubicBezTo>
                  <a:pt x="135313" y="136081"/>
                  <a:pt x="141150" y="136081"/>
                  <a:pt x="144720" y="132472"/>
                </a:cubicBezTo>
                <a:cubicBezTo>
                  <a:pt x="148291" y="128862"/>
                  <a:pt x="148330" y="123026"/>
                  <a:pt x="144720" y="119455"/>
                </a:cubicBezTo>
                <a:lnTo>
                  <a:pt x="119762" y="94496"/>
                </a:lnTo>
                <a:lnTo>
                  <a:pt x="119762" y="58364"/>
                </a:lnTo>
                <a:close/>
              </a:path>
            </a:pathLst>
          </a:custGeom>
          <a:solidFill>
            <a:srgbClr val="4FD1C5"/>
          </a:solidFill>
          <a:ln/>
        </p:spPr>
        <p:txBody>
          <a:bodyPr/>
          <a:lstStyle/>
          <a:p>
            <a:endParaRPr lang="zh-CN" altLang="en-US"/>
          </a:p>
        </p:txBody>
      </p:sp>
      <p:sp>
        <p:nvSpPr>
          <p:cNvPr id="60" name="Text 58"/>
          <p:cNvSpPr/>
          <p:nvPr/>
        </p:nvSpPr>
        <p:spPr>
          <a:xfrm>
            <a:off x="11424336" y="4669146"/>
            <a:ext cx="1351595" cy="245745"/>
          </a:xfrm>
          <a:prstGeom prst="rect">
            <a:avLst/>
          </a:prstGeom>
          <a:noFill/>
          <a:ln/>
        </p:spPr>
        <p:txBody>
          <a:bodyPr wrap="square" lIns="0" tIns="0" rIns="0" bIns="0" rtlCol="0" anchor="ctr"/>
          <a:lstStyle/>
          <a:p>
            <a:pPr>
              <a:lnSpc>
                <a:spcPct val="120000"/>
              </a:lnSpc>
            </a:pPr>
            <a:r>
              <a:rPr lang="en-US" sz="1355" dirty="0">
                <a:solidFill>
                  <a:srgbClr val="F7FAFC"/>
                </a:solidFill>
                <a:latin typeface="MiSans" pitchFamily="34" charset="0"/>
                <a:ea typeface="MiSans" pitchFamily="34" charset="-122"/>
                <a:cs typeface="MiSans" pitchFamily="34" charset="-120"/>
              </a:rPr>
              <a:t>Time Travel回溯</a:t>
            </a:r>
            <a:endParaRPr lang="en-US" sz="1600" dirty="0"/>
          </a:p>
        </p:txBody>
      </p:sp>
      <p:sp>
        <p:nvSpPr>
          <p:cNvPr id="61" name="Shape 59"/>
          <p:cNvSpPr/>
          <p:nvPr/>
        </p:nvSpPr>
        <p:spPr>
          <a:xfrm>
            <a:off x="11092581" y="5037763"/>
            <a:ext cx="221170" cy="196596"/>
          </a:xfrm>
          <a:custGeom>
            <a:avLst/>
            <a:gdLst/>
            <a:ahLst/>
            <a:cxnLst/>
            <a:rect l="l" t="t" r="r" b="b"/>
            <a:pathLst>
              <a:path w="221170" h="196596">
                <a:moveTo>
                  <a:pt x="15743" y="-9561"/>
                </a:moveTo>
                <a:cubicBezTo>
                  <a:pt x="12134" y="-13170"/>
                  <a:pt x="6297" y="-13170"/>
                  <a:pt x="2726" y="-9561"/>
                </a:cubicBezTo>
                <a:cubicBezTo>
                  <a:pt x="-845" y="-5952"/>
                  <a:pt x="-883" y="-115"/>
                  <a:pt x="2688" y="3494"/>
                </a:cubicBezTo>
                <a:lnTo>
                  <a:pt x="205427" y="206233"/>
                </a:lnTo>
                <a:cubicBezTo>
                  <a:pt x="209036" y="209843"/>
                  <a:pt x="214873" y="209843"/>
                  <a:pt x="218444" y="206233"/>
                </a:cubicBezTo>
                <a:cubicBezTo>
                  <a:pt x="222015" y="202624"/>
                  <a:pt x="222053" y="196788"/>
                  <a:pt x="218444" y="193217"/>
                </a:cubicBezTo>
                <a:lnTo>
                  <a:pt x="181429" y="156201"/>
                </a:lnTo>
                <a:cubicBezTo>
                  <a:pt x="182465" y="155280"/>
                  <a:pt x="183502" y="154358"/>
                  <a:pt x="184500" y="153437"/>
                </a:cubicBezTo>
                <a:cubicBezTo>
                  <a:pt x="202470" y="136734"/>
                  <a:pt x="214489" y="116805"/>
                  <a:pt x="220210" y="103098"/>
                </a:cubicBezTo>
                <a:cubicBezTo>
                  <a:pt x="221477" y="100064"/>
                  <a:pt x="221477" y="96685"/>
                  <a:pt x="220210" y="93652"/>
                </a:cubicBezTo>
                <a:cubicBezTo>
                  <a:pt x="214489" y="79944"/>
                  <a:pt x="202470" y="59977"/>
                  <a:pt x="184500" y="43312"/>
                </a:cubicBezTo>
                <a:cubicBezTo>
                  <a:pt x="166415" y="26533"/>
                  <a:pt x="141572" y="12364"/>
                  <a:pt x="110547" y="12364"/>
                </a:cubicBezTo>
                <a:cubicBezTo>
                  <a:pt x="88737" y="12364"/>
                  <a:pt x="69999" y="19352"/>
                  <a:pt x="54486" y="29336"/>
                </a:cubicBezTo>
                <a:lnTo>
                  <a:pt x="15743" y="-9561"/>
                </a:lnTo>
                <a:close/>
                <a:moveTo>
                  <a:pt x="78523" y="53257"/>
                </a:moveTo>
                <a:cubicBezTo>
                  <a:pt x="87546" y="46807"/>
                  <a:pt x="98643" y="43005"/>
                  <a:pt x="110585" y="43005"/>
                </a:cubicBezTo>
                <a:cubicBezTo>
                  <a:pt x="141111" y="43005"/>
                  <a:pt x="165878" y="67772"/>
                  <a:pt x="165878" y="98298"/>
                </a:cubicBezTo>
                <a:cubicBezTo>
                  <a:pt x="165878" y="110239"/>
                  <a:pt x="162076" y="121298"/>
                  <a:pt x="155625" y="130360"/>
                </a:cubicBezTo>
                <a:lnTo>
                  <a:pt x="142301" y="117036"/>
                </a:lnTo>
                <a:cubicBezTo>
                  <a:pt x="147178" y="108819"/>
                  <a:pt x="148829" y="98720"/>
                  <a:pt x="146180" y="88737"/>
                </a:cubicBezTo>
                <a:cubicBezTo>
                  <a:pt x="140919" y="69077"/>
                  <a:pt x="120684" y="57404"/>
                  <a:pt x="101024" y="62665"/>
                </a:cubicBezTo>
                <a:cubicBezTo>
                  <a:pt x="97722" y="63548"/>
                  <a:pt x="94612" y="64854"/>
                  <a:pt x="91809" y="66505"/>
                </a:cubicBezTo>
                <a:lnTo>
                  <a:pt x="78485" y="53181"/>
                </a:lnTo>
                <a:close/>
                <a:moveTo>
                  <a:pt x="124907" y="151709"/>
                </a:moveTo>
                <a:cubicBezTo>
                  <a:pt x="120338" y="152938"/>
                  <a:pt x="115538" y="153590"/>
                  <a:pt x="110585" y="153590"/>
                </a:cubicBezTo>
                <a:cubicBezTo>
                  <a:pt x="80059" y="153590"/>
                  <a:pt x="55293" y="128824"/>
                  <a:pt x="55293" y="98298"/>
                </a:cubicBezTo>
                <a:cubicBezTo>
                  <a:pt x="55293" y="93345"/>
                  <a:pt x="55945" y="88545"/>
                  <a:pt x="57174" y="83976"/>
                </a:cubicBezTo>
                <a:lnTo>
                  <a:pt x="26648" y="53449"/>
                </a:lnTo>
                <a:cubicBezTo>
                  <a:pt x="14130" y="67580"/>
                  <a:pt x="5529" y="82555"/>
                  <a:pt x="960" y="93575"/>
                </a:cubicBezTo>
                <a:cubicBezTo>
                  <a:pt x="-307" y="96608"/>
                  <a:pt x="-307" y="99987"/>
                  <a:pt x="960" y="103021"/>
                </a:cubicBezTo>
                <a:cubicBezTo>
                  <a:pt x="6681" y="116729"/>
                  <a:pt x="18700" y="136695"/>
                  <a:pt x="36670" y="153360"/>
                </a:cubicBezTo>
                <a:cubicBezTo>
                  <a:pt x="54755" y="170140"/>
                  <a:pt x="79598" y="184308"/>
                  <a:pt x="110623" y="184308"/>
                </a:cubicBezTo>
                <a:cubicBezTo>
                  <a:pt x="124946" y="184308"/>
                  <a:pt x="137963" y="181275"/>
                  <a:pt x="149597" y="176398"/>
                </a:cubicBezTo>
                <a:lnTo>
                  <a:pt x="124946" y="151747"/>
                </a:lnTo>
                <a:close/>
              </a:path>
            </a:pathLst>
          </a:custGeom>
          <a:solidFill>
            <a:srgbClr val="4FD1C5"/>
          </a:solidFill>
          <a:ln/>
        </p:spPr>
        <p:txBody>
          <a:bodyPr/>
          <a:lstStyle/>
          <a:p>
            <a:endParaRPr lang="zh-CN" altLang="en-US"/>
          </a:p>
        </p:txBody>
      </p:sp>
      <p:sp>
        <p:nvSpPr>
          <p:cNvPr id="62" name="Text 60"/>
          <p:cNvSpPr/>
          <p:nvPr/>
        </p:nvSpPr>
        <p:spPr>
          <a:xfrm>
            <a:off x="11424336" y="5013188"/>
            <a:ext cx="1462180" cy="245745"/>
          </a:xfrm>
          <a:prstGeom prst="rect">
            <a:avLst/>
          </a:prstGeom>
          <a:noFill/>
          <a:ln/>
        </p:spPr>
        <p:txBody>
          <a:bodyPr wrap="square" lIns="0" tIns="0" rIns="0" bIns="0" rtlCol="0" anchor="ctr"/>
          <a:lstStyle/>
          <a:p>
            <a:pPr>
              <a:lnSpc>
                <a:spcPct val="120000"/>
              </a:lnSpc>
            </a:pPr>
            <a:r>
              <a:rPr lang="en-US" sz="1355" dirty="0">
                <a:solidFill>
                  <a:srgbClr val="F7FAFC"/>
                </a:solidFill>
                <a:latin typeface="MiSans" pitchFamily="34" charset="0"/>
                <a:ea typeface="MiSans" pitchFamily="34" charset="-122"/>
                <a:cs typeface="MiSans" pitchFamily="34" charset="-120"/>
              </a:rPr>
              <a:t>隐藏分区自动优化</a:t>
            </a:r>
            <a:endParaRPr lang="en-US" sz="1600" dirty="0"/>
          </a:p>
        </p:txBody>
      </p:sp>
      <p:sp>
        <p:nvSpPr>
          <p:cNvPr id="63" name="Shape 61"/>
          <p:cNvSpPr/>
          <p:nvPr/>
        </p:nvSpPr>
        <p:spPr>
          <a:xfrm>
            <a:off x="11104868" y="5381805"/>
            <a:ext cx="196596" cy="196596"/>
          </a:xfrm>
          <a:custGeom>
            <a:avLst/>
            <a:gdLst/>
            <a:ahLst/>
            <a:cxnLst/>
            <a:rect l="l" t="t" r="r" b="b"/>
            <a:pathLst>
              <a:path w="196596" h="196596">
                <a:moveTo>
                  <a:pt x="0" y="36862"/>
                </a:moveTo>
                <a:cubicBezTo>
                  <a:pt x="0" y="30065"/>
                  <a:pt x="5491" y="24574"/>
                  <a:pt x="12287" y="24574"/>
                </a:cubicBezTo>
                <a:lnTo>
                  <a:pt x="159734" y="24574"/>
                </a:lnTo>
                <a:cubicBezTo>
                  <a:pt x="166530" y="24574"/>
                  <a:pt x="172021" y="30065"/>
                  <a:pt x="172021" y="36862"/>
                </a:cubicBezTo>
                <a:cubicBezTo>
                  <a:pt x="172021" y="43658"/>
                  <a:pt x="166530" y="49149"/>
                  <a:pt x="159734" y="49149"/>
                </a:cubicBezTo>
                <a:lnTo>
                  <a:pt x="12287" y="49149"/>
                </a:lnTo>
                <a:cubicBezTo>
                  <a:pt x="5491" y="49149"/>
                  <a:pt x="0" y="43658"/>
                  <a:pt x="0" y="36862"/>
                </a:cubicBezTo>
                <a:close/>
                <a:moveTo>
                  <a:pt x="24574" y="98298"/>
                </a:moveTo>
                <a:cubicBezTo>
                  <a:pt x="24574" y="91501"/>
                  <a:pt x="30065" y="86011"/>
                  <a:pt x="36862" y="86011"/>
                </a:cubicBezTo>
                <a:lnTo>
                  <a:pt x="184308" y="86011"/>
                </a:lnTo>
                <a:cubicBezTo>
                  <a:pt x="191105" y="86011"/>
                  <a:pt x="196596" y="91501"/>
                  <a:pt x="196596" y="98298"/>
                </a:cubicBezTo>
                <a:cubicBezTo>
                  <a:pt x="196596" y="105094"/>
                  <a:pt x="191105" y="110585"/>
                  <a:pt x="184308" y="110585"/>
                </a:cubicBezTo>
                <a:lnTo>
                  <a:pt x="36862" y="110585"/>
                </a:lnTo>
                <a:cubicBezTo>
                  <a:pt x="30065" y="110585"/>
                  <a:pt x="24574" y="105094"/>
                  <a:pt x="24574" y="98298"/>
                </a:cubicBezTo>
                <a:close/>
                <a:moveTo>
                  <a:pt x="172021" y="159734"/>
                </a:moveTo>
                <a:cubicBezTo>
                  <a:pt x="172021" y="166530"/>
                  <a:pt x="166530" y="172021"/>
                  <a:pt x="159734" y="172021"/>
                </a:cubicBezTo>
                <a:lnTo>
                  <a:pt x="12287" y="172021"/>
                </a:lnTo>
                <a:cubicBezTo>
                  <a:pt x="5491" y="172021"/>
                  <a:pt x="0" y="166530"/>
                  <a:pt x="0" y="159734"/>
                </a:cubicBezTo>
                <a:cubicBezTo>
                  <a:pt x="0" y="152938"/>
                  <a:pt x="5491" y="147447"/>
                  <a:pt x="12287" y="147447"/>
                </a:cubicBezTo>
                <a:lnTo>
                  <a:pt x="159734" y="147447"/>
                </a:lnTo>
                <a:cubicBezTo>
                  <a:pt x="166530" y="147447"/>
                  <a:pt x="172021" y="152938"/>
                  <a:pt x="172021" y="159734"/>
                </a:cubicBezTo>
                <a:close/>
              </a:path>
            </a:pathLst>
          </a:custGeom>
          <a:solidFill>
            <a:srgbClr val="4FD1C5"/>
          </a:solidFill>
          <a:ln/>
        </p:spPr>
        <p:txBody>
          <a:bodyPr/>
          <a:lstStyle/>
          <a:p>
            <a:endParaRPr lang="zh-CN" altLang="en-US"/>
          </a:p>
        </p:txBody>
      </p:sp>
      <p:sp>
        <p:nvSpPr>
          <p:cNvPr id="64" name="Text 62"/>
          <p:cNvSpPr/>
          <p:nvPr/>
        </p:nvSpPr>
        <p:spPr>
          <a:xfrm>
            <a:off x="11424336" y="5357231"/>
            <a:ext cx="1118138" cy="245745"/>
          </a:xfrm>
          <a:prstGeom prst="rect">
            <a:avLst/>
          </a:prstGeom>
          <a:noFill/>
          <a:ln/>
        </p:spPr>
        <p:txBody>
          <a:bodyPr wrap="square" lIns="0" tIns="0" rIns="0" bIns="0" rtlCol="0" anchor="ctr"/>
          <a:lstStyle/>
          <a:p>
            <a:pPr>
              <a:lnSpc>
                <a:spcPct val="120000"/>
              </a:lnSpc>
            </a:pPr>
            <a:r>
              <a:rPr lang="en-US" sz="1355" dirty="0">
                <a:solidFill>
                  <a:srgbClr val="F7FAFC"/>
                </a:solidFill>
                <a:latin typeface="MiSans" pitchFamily="34" charset="0"/>
                <a:ea typeface="MiSans" pitchFamily="34" charset="-122"/>
                <a:cs typeface="MiSans" pitchFamily="34" charset="-120"/>
              </a:rPr>
              <a:t>批流一体写入</a:t>
            </a:r>
            <a:endParaRPr lang="en-US" sz="1600" dirty="0"/>
          </a:p>
        </p:txBody>
      </p:sp>
      <p:sp>
        <p:nvSpPr>
          <p:cNvPr id="65" name="Shape 63"/>
          <p:cNvSpPr/>
          <p:nvPr/>
        </p:nvSpPr>
        <p:spPr>
          <a:xfrm>
            <a:off x="10834550" y="5947017"/>
            <a:ext cx="4927178" cy="1130425"/>
          </a:xfrm>
          <a:custGeom>
            <a:avLst/>
            <a:gdLst/>
            <a:ahLst/>
            <a:cxnLst/>
            <a:rect l="l" t="t" r="r" b="b"/>
            <a:pathLst>
              <a:path w="4927178" h="1130425">
                <a:moveTo>
                  <a:pt x="98302" y="0"/>
                </a:moveTo>
                <a:lnTo>
                  <a:pt x="4828876" y="0"/>
                </a:lnTo>
                <a:cubicBezTo>
                  <a:pt x="4883166" y="0"/>
                  <a:pt x="4927178" y="44011"/>
                  <a:pt x="4927178" y="98302"/>
                </a:cubicBezTo>
                <a:lnTo>
                  <a:pt x="4927178" y="1032123"/>
                </a:lnTo>
                <a:cubicBezTo>
                  <a:pt x="4927178" y="1086414"/>
                  <a:pt x="4883166" y="1130425"/>
                  <a:pt x="4828876" y="1130425"/>
                </a:cubicBezTo>
                <a:lnTo>
                  <a:pt x="98302" y="1130425"/>
                </a:lnTo>
                <a:cubicBezTo>
                  <a:pt x="44011" y="1130425"/>
                  <a:pt x="0" y="1086414"/>
                  <a:pt x="0" y="1032123"/>
                </a:cubicBezTo>
                <a:lnTo>
                  <a:pt x="0" y="98302"/>
                </a:lnTo>
                <a:cubicBezTo>
                  <a:pt x="0" y="44048"/>
                  <a:pt x="44048" y="0"/>
                  <a:pt x="98302" y="0"/>
                </a:cubicBezTo>
                <a:close/>
              </a:path>
            </a:pathLst>
          </a:custGeom>
          <a:solidFill>
            <a:srgbClr val="4A5568">
              <a:alpha val="30196"/>
            </a:srgbClr>
          </a:solidFill>
          <a:ln/>
        </p:spPr>
        <p:txBody>
          <a:bodyPr/>
          <a:lstStyle/>
          <a:p>
            <a:endParaRPr lang="zh-CN" altLang="en-US"/>
          </a:p>
        </p:txBody>
      </p:sp>
      <p:sp>
        <p:nvSpPr>
          <p:cNvPr id="66" name="Text 64"/>
          <p:cNvSpPr/>
          <p:nvPr/>
        </p:nvSpPr>
        <p:spPr>
          <a:xfrm>
            <a:off x="10938991" y="6143613"/>
            <a:ext cx="4718295" cy="442340"/>
          </a:xfrm>
          <a:prstGeom prst="rect">
            <a:avLst/>
          </a:prstGeom>
          <a:noFill/>
          <a:ln/>
        </p:spPr>
        <p:txBody>
          <a:bodyPr wrap="square" lIns="0" tIns="0" rIns="0" bIns="0" rtlCol="0" anchor="ctr"/>
          <a:lstStyle/>
          <a:p>
            <a:pPr algn="ctr">
              <a:lnSpc>
                <a:spcPct val="100000"/>
              </a:lnSpc>
            </a:pPr>
            <a:r>
              <a:rPr lang="en-US" sz="2902" b="1" dirty="0">
                <a:solidFill>
                  <a:srgbClr val="4FD1C5"/>
                </a:solidFill>
                <a:latin typeface="MiSans" pitchFamily="34" charset="0"/>
                <a:ea typeface="MiSans" pitchFamily="34" charset="-122"/>
                <a:cs typeface="MiSans" pitchFamily="34" charset="-120"/>
              </a:rPr>
              <a:t>分钟级</a:t>
            </a:r>
            <a:endParaRPr lang="en-US" sz="1600" dirty="0"/>
          </a:p>
        </p:txBody>
      </p:sp>
      <p:sp>
        <p:nvSpPr>
          <p:cNvPr id="67" name="Text 65"/>
          <p:cNvSpPr/>
          <p:nvPr/>
        </p:nvSpPr>
        <p:spPr>
          <a:xfrm>
            <a:off x="10988140" y="6635102"/>
            <a:ext cx="4619997" cy="245745"/>
          </a:xfrm>
          <a:prstGeom prst="rect">
            <a:avLst/>
          </a:prstGeom>
          <a:noFill/>
          <a:ln/>
        </p:spPr>
        <p:txBody>
          <a:bodyPr wrap="square" lIns="0" tIns="0" rIns="0" bIns="0" rtlCol="0" anchor="ctr"/>
          <a:lstStyle/>
          <a:p>
            <a:pPr algn="ctr">
              <a:lnSpc>
                <a:spcPct val="120000"/>
              </a:lnSpc>
            </a:pPr>
            <a:r>
              <a:rPr lang="en-US" sz="1355" dirty="0">
                <a:solidFill>
                  <a:srgbClr val="A0AEC0"/>
                </a:solidFill>
                <a:latin typeface="MiSans" pitchFamily="34" charset="0"/>
                <a:ea typeface="MiSans" pitchFamily="34" charset="-122"/>
                <a:cs typeface="MiSans" pitchFamily="34" charset="-120"/>
              </a:rPr>
              <a:t>数据更新时效</a:t>
            </a:r>
            <a:endParaRPr lang="en-US" sz="1600" dirty="0"/>
          </a:p>
        </p:txBody>
      </p:sp>
      <p:sp>
        <p:nvSpPr>
          <p:cNvPr id="68" name="Shape 66"/>
          <p:cNvSpPr/>
          <p:nvPr/>
        </p:nvSpPr>
        <p:spPr>
          <a:xfrm>
            <a:off x="10834550" y="7224889"/>
            <a:ext cx="4927178" cy="774095"/>
          </a:xfrm>
          <a:custGeom>
            <a:avLst/>
            <a:gdLst/>
            <a:ahLst/>
            <a:cxnLst/>
            <a:rect l="l" t="t" r="r" b="b"/>
            <a:pathLst>
              <a:path w="4927178" h="774095">
                <a:moveTo>
                  <a:pt x="98295" y="0"/>
                </a:moveTo>
                <a:lnTo>
                  <a:pt x="4828883" y="0"/>
                </a:lnTo>
                <a:cubicBezTo>
                  <a:pt x="4883170" y="0"/>
                  <a:pt x="4927178" y="44008"/>
                  <a:pt x="4927178" y="98295"/>
                </a:cubicBezTo>
                <a:lnTo>
                  <a:pt x="4927178" y="675801"/>
                </a:lnTo>
                <a:cubicBezTo>
                  <a:pt x="4927178" y="730087"/>
                  <a:pt x="4883170" y="774095"/>
                  <a:pt x="4828883" y="774095"/>
                </a:cubicBezTo>
                <a:lnTo>
                  <a:pt x="98295" y="774095"/>
                </a:lnTo>
                <a:cubicBezTo>
                  <a:pt x="44008" y="774095"/>
                  <a:pt x="0" y="730087"/>
                  <a:pt x="0" y="675801"/>
                </a:cubicBezTo>
                <a:lnTo>
                  <a:pt x="0" y="98295"/>
                </a:lnTo>
                <a:cubicBezTo>
                  <a:pt x="0" y="44008"/>
                  <a:pt x="44008" y="0"/>
                  <a:pt x="98295" y="0"/>
                </a:cubicBezTo>
                <a:close/>
              </a:path>
            </a:pathLst>
          </a:custGeom>
          <a:solidFill>
            <a:srgbClr val="4A5568">
              <a:alpha val="30196"/>
            </a:srgbClr>
          </a:solidFill>
          <a:ln/>
        </p:spPr>
        <p:txBody>
          <a:bodyPr/>
          <a:lstStyle/>
          <a:p>
            <a:endParaRPr lang="zh-CN" altLang="en-US"/>
          </a:p>
        </p:txBody>
      </p:sp>
      <p:sp>
        <p:nvSpPr>
          <p:cNvPr id="69" name="Text 67"/>
          <p:cNvSpPr/>
          <p:nvPr/>
        </p:nvSpPr>
        <p:spPr>
          <a:xfrm>
            <a:off x="10981996" y="7372336"/>
            <a:ext cx="4706008" cy="479202"/>
          </a:xfrm>
          <a:prstGeom prst="rect">
            <a:avLst/>
          </a:prstGeom>
          <a:noFill/>
          <a:ln/>
        </p:spPr>
        <p:txBody>
          <a:bodyPr wrap="square" lIns="0" tIns="0" rIns="0" bIns="0" rtlCol="0" anchor="ctr"/>
          <a:lstStyle/>
          <a:p>
            <a:pPr>
              <a:lnSpc>
                <a:spcPct val="140000"/>
              </a:lnSpc>
            </a:pPr>
            <a:r>
              <a:rPr lang="en-US" sz="1161" dirty="0">
                <a:solidFill>
                  <a:srgbClr val="A0AEC0"/>
                </a:solidFill>
                <a:latin typeface="MiSans" pitchFamily="34" charset="0"/>
                <a:ea typeface="MiSans" pitchFamily="34" charset="-122"/>
                <a:cs typeface="MiSans" pitchFamily="34" charset="-120"/>
              </a:rPr>
              <a:t>通过Snapshot与Time Travel,银行可回溯任意时刻对账状态,用于问题排查和合规审计</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3086100" cy="304800"/>
          </a:xfrm>
          <a:prstGeom prst="rect">
            <a:avLst/>
          </a:prstGeom>
          <a:noFill/>
          <a:ln/>
        </p:spPr>
        <p:txBody>
          <a:bodyPr wrap="square" lIns="0" tIns="0" rIns="0" bIns="0" rtlCol="0" anchor="ctr"/>
          <a:lstStyle/>
          <a:p>
            <a:pPr>
              <a:lnSpc>
                <a:spcPct val="130000"/>
              </a:lnSpc>
            </a:pPr>
            <a:r>
              <a:rPr lang="en-US" sz="1600" b="1" kern="0" spc="80" dirty="0">
                <a:solidFill>
                  <a:srgbClr val="4FD1C5"/>
                </a:solidFill>
                <a:latin typeface="MiSans" pitchFamily="34" charset="0"/>
                <a:ea typeface="MiSans" pitchFamily="34" charset="-122"/>
                <a:cs typeface="MiSans" pitchFamily="34" charset="-120"/>
              </a:rPr>
              <a:t>TYPICAL APPLICATION CASE</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F7FAFC"/>
                </a:solidFill>
                <a:latin typeface="Noto Sans SC" pitchFamily="34" charset="0"/>
                <a:ea typeface="Noto Sans SC" pitchFamily="34" charset="-122"/>
                <a:cs typeface="Noto Sans SC" pitchFamily="34" charset="-120"/>
              </a:rPr>
              <a:t>三阶段性能与成本对比</a:t>
            </a:r>
            <a:endParaRPr lang="en-US" sz="1600" dirty="0"/>
          </a:p>
        </p:txBody>
      </p:sp>
      <p:sp>
        <p:nvSpPr>
          <p:cNvPr id="4" name="Shape 2"/>
          <p:cNvSpPr/>
          <p:nvPr/>
        </p:nvSpPr>
        <p:spPr>
          <a:xfrm>
            <a:off x="508000" y="15748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4FD1C5"/>
          </a:solidFill>
          <a:ln/>
        </p:spPr>
        <p:txBody>
          <a:bodyPr/>
          <a:lstStyle/>
          <a:p>
            <a:endParaRPr lang="zh-CN" altLang="en-US"/>
          </a:p>
        </p:txBody>
      </p:sp>
      <p:sp>
        <p:nvSpPr>
          <p:cNvPr id="5" name="Shape 3"/>
          <p:cNvSpPr/>
          <p:nvPr/>
        </p:nvSpPr>
        <p:spPr>
          <a:xfrm>
            <a:off x="508000" y="1828800"/>
            <a:ext cx="15240000" cy="4051300"/>
          </a:xfrm>
          <a:custGeom>
            <a:avLst/>
            <a:gdLst/>
            <a:ahLst/>
            <a:cxnLst/>
            <a:rect l="l" t="t" r="r" b="b"/>
            <a:pathLst>
              <a:path w="15240000" h="4051300">
                <a:moveTo>
                  <a:pt x="101607" y="0"/>
                </a:moveTo>
                <a:lnTo>
                  <a:pt x="15138393" y="0"/>
                </a:lnTo>
                <a:cubicBezTo>
                  <a:pt x="15194509" y="0"/>
                  <a:pt x="15240000" y="45491"/>
                  <a:pt x="15240000" y="101607"/>
                </a:cubicBezTo>
                <a:lnTo>
                  <a:pt x="15240000" y="3949693"/>
                </a:lnTo>
                <a:cubicBezTo>
                  <a:pt x="15240000" y="4005809"/>
                  <a:pt x="15194509" y="4051300"/>
                  <a:pt x="15138393" y="4051300"/>
                </a:cubicBezTo>
                <a:lnTo>
                  <a:pt x="101607" y="4051300"/>
                </a:lnTo>
                <a:cubicBezTo>
                  <a:pt x="45491" y="4051300"/>
                  <a:pt x="0" y="4005809"/>
                  <a:pt x="0" y="3949693"/>
                </a:cubicBezTo>
                <a:lnTo>
                  <a:pt x="0" y="101607"/>
                </a:lnTo>
                <a:cubicBezTo>
                  <a:pt x="0" y="45528"/>
                  <a:pt x="45528" y="0"/>
                  <a:pt x="101607" y="0"/>
                </a:cubicBezTo>
                <a:close/>
              </a:path>
            </a:pathLst>
          </a:custGeom>
          <a:solidFill>
            <a:srgbClr val="4A5568">
              <a:alpha val="30196"/>
            </a:srgbClr>
          </a:solidFill>
          <a:ln/>
        </p:spPr>
        <p:txBody>
          <a:bodyPr/>
          <a:lstStyle/>
          <a:p>
            <a:endParaRPr lang="zh-CN" altLang="en-US"/>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11200" y="2032000"/>
          <a:ext cx="14833600" cy="3644900"/>
        </p:xfrm>
        <a:graphic>
          <a:graphicData uri="http://schemas.openxmlformats.org/drawingml/2006/table">
            <a:tbl>
              <a:tblPr/>
              <a:tblGrid>
                <a:gridCol w="2415068">
                  <a:extLst>
                    <a:ext uri="{9D8B030D-6E8A-4147-A177-3AD203B41FA5}">
                      <a16:colId xmlns:a16="http://schemas.microsoft.com/office/drawing/2014/main" val="20000"/>
                    </a:ext>
                  </a:extLst>
                </a:gridCol>
                <a:gridCol w="3686156">
                  <a:extLst>
                    <a:ext uri="{9D8B030D-6E8A-4147-A177-3AD203B41FA5}">
                      <a16:colId xmlns:a16="http://schemas.microsoft.com/office/drawing/2014/main" val="20001"/>
                    </a:ext>
                  </a:extLst>
                </a:gridCol>
                <a:gridCol w="4207302">
                  <a:extLst>
                    <a:ext uri="{9D8B030D-6E8A-4147-A177-3AD203B41FA5}">
                      <a16:colId xmlns:a16="http://schemas.microsoft.com/office/drawing/2014/main" val="20002"/>
                    </a:ext>
                  </a:extLst>
                </a:gridCol>
                <a:gridCol w="4525074">
                  <a:extLst>
                    <a:ext uri="{9D8B030D-6E8A-4147-A177-3AD203B41FA5}">
                      <a16:colId xmlns:a16="http://schemas.microsoft.com/office/drawing/2014/main" val="20003"/>
                    </a:ext>
                  </a:extLst>
                </a:gridCol>
              </a:tblGrid>
              <a:tr h="520700">
                <a:tc>
                  <a:txBody>
                    <a:bodyPr/>
                    <a:lstStyle/>
                    <a:p>
                      <a:pPr algn="l"/>
                      <a:r>
                        <a:rPr lang="en-US" sz="1600" b="1" u="none" dirty="0">
                          <a:solidFill>
                            <a:srgbClr val="4FD1C5"/>
                          </a:solidFill>
                          <a:latin typeface="微软雅黑" pitchFamily="34" charset="0"/>
                          <a:ea typeface="微软雅黑" pitchFamily="34" charset="-122"/>
                          <a:cs typeface="微软雅黑" pitchFamily="34" charset="-120"/>
                        </a:rPr>
                        <a:t>维度</a:t>
                      </a:r>
                      <a:endParaRPr lang="en-US" sz="16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600" b="1" u="none" dirty="0">
                          <a:solidFill>
                            <a:srgbClr val="F7FAFC"/>
                          </a:solidFill>
                          <a:latin typeface="微软雅黑" pitchFamily="34" charset="0"/>
                          <a:ea typeface="微软雅黑" pitchFamily="34" charset="-122"/>
                          <a:cs typeface="微软雅黑" pitchFamily="34" charset="-120"/>
                        </a:rPr>
                        <a:t>数据仓库阶段</a:t>
                      </a:r>
                      <a:endParaRPr lang="en-US" sz="16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600" b="1" u="none" dirty="0">
                          <a:solidFill>
                            <a:srgbClr val="F7FAFC"/>
                          </a:solidFill>
                          <a:latin typeface="微软雅黑" pitchFamily="34" charset="0"/>
                          <a:ea typeface="微软雅黑" pitchFamily="34" charset="-122"/>
                          <a:cs typeface="微软雅黑" pitchFamily="34" charset="-120"/>
                        </a:rPr>
                        <a:t>数据湖阶段</a:t>
                      </a:r>
                      <a:endParaRPr lang="en-US" sz="16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600" b="1" u="none" dirty="0">
                          <a:solidFill>
                            <a:srgbClr val="F7FAFC"/>
                          </a:solidFill>
                          <a:latin typeface="微软雅黑" pitchFamily="34" charset="0"/>
                          <a:ea typeface="微软雅黑" pitchFamily="34" charset="-122"/>
                          <a:cs typeface="微软雅黑" pitchFamily="34" charset="-120"/>
                        </a:rPr>
                        <a:t>湖仓一体阶段</a:t>
                      </a:r>
                      <a:endParaRPr lang="en-US" sz="16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520700">
                <a:tc>
                  <a:txBody>
                    <a:bodyPr/>
                    <a:lstStyle/>
                    <a:p>
                      <a:r>
                        <a:rPr lang="en-US" sz="1400" b="1" u="none" dirty="0">
                          <a:solidFill>
                            <a:srgbClr val="F7FAFC"/>
                          </a:solidFill>
                          <a:latin typeface="微软雅黑" pitchFamily="34" charset="0"/>
                          <a:ea typeface="微软雅黑" pitchFamily="34" charset="-122"/>
                          <a:cs typeface="微软雅黑" pitchFamily="34" charset="-120"/>
                        </a:rPr>
                        <a:t>对账口径一致性</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高 严格数仓建模与批处理</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中 部分分析直接读Raw/Clean层</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高 统一Lakehouse表建模</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520700">
                <a:tc>
                  <a:txBody>
                    <a:bodyPr/>
                    <a:lstStyle/>
                    <a:p>
                      <a:r>
                        <a:rPr lang="en-US" sz="1400" b="1" u="none" dirty="0">
                          <a:solidFill>
                            <a:srgbClr val="F7FAFC"/>
                          </a:solidFill>
                          <a:latin typeface="微软雅黑" pitchFamily="34" charset="0"/>
                          <a:ea typeface="微软雅黑" pitchFamily="34" charset="-122"/>
                          <a:cs typeface="微软雅黑" pitchFamily="34" charset="-120"/>
                        </a:rPr>
                        <a:t>数据更新时效</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T+1 日终批处理</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近实时 但下游读取易不一致</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分钟级 CDC流式写入+快照隔离</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520700">
                <a:tc>
                  <a:txBody>
                    <a:bodyPr/>
                    <a:lstStyle/>
                    <a:p>
                      <a:r>
                        <a:rPr lang="en-US" sz="1400" b="1" u="none" dirty="0">
                          <a:solidFill>
                            <a:srgbClr val="F7FAFC"/>
                          </a:solidFill>
                          <a:latin typeface="微软雅黑" pitchFamily="34" charset="0"/>
                          <a:ea typeface="微软雅黑" pitchFamily="34" charset="-122"/>
                          <a:cs typeface="微软雅黑" pitchFamily="34" charset="-120"/>
                        </a:rPr>
                        <a:t>报表与分析性能</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稳定 MPP/Hive分布式查询</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不确定 受小文件影响大</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稳定 表级元数据+Data Skipping</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520700">
                <a:tc>
                  <a:txBody>
                    <a:bodyPr/>
                    <a:lstStyle/>
                    <a:p>
                      <a:r>
                        <a:rPr lang="en-US" sz="1400" b="1" u="none" dirty="0">
                          <a:solidFill>
                            <a:srgbClr val="F7FAFC"/>
                          </a:solidFill>
                          <a:latin typeface="微软雅黑" pitchFamily="34" charset="0"/>
                          <a:ea typeface="微软雅黑" pitchFamily="34" charset="-122"/>
                          <a:cs typeface="微软雅黑" pitchFamily="34" charset="-120"/>
                        </a:rPr>
                        <a:t>存储成本</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中高 历史数据难以及时下沉</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低 对象存储长期保留</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低 避免重复存储与多套维护</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520700">
                <a:tc>
                  <a:txBody>
                    <a:bodyPr/>
                    <a:lstStyle/>
                    <a:p>
                      <a:r>
                        <a:rPr lang="en-US" sz="1400" b="1" u="none" dirty="0">
                          <a:solidFill>
                            <a:srgbClr val="F7FAFC"/>
                          </a:solidFill>
                          <a:latin typeface="微软雅黑" pitchFamily="34" charset="0"/>
                          <a:ea typeface="微软雅黑" pitchFamily="34" charset="-122"/>
                          <a:cs typeface="微软雅黑" pitchFamily="34" charset="-120"/>
                        </a:rPr>
                        <a:t>数据治理与合规</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有体系 侧重结构化报表</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弱 历史版本与删除管理困难</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强 ACID+Time Travel追溯与擦除</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520700">
                <a:tc>
                  <a:txBody>
                    <a:bodyPr/>
                    <a:lstStyle/>
                    <a:p>
                      <a:r>
                        <a:rPr lang="en-US" sz="1400" b="1" u="none" dirty="0">
                          <a:solidFill>
                            <a:srgbClr val="F7FAFC"/>
                          </a:solidFill>
                          <a:latin typeface="微软雅黑" pitchFamily="34" charset="0"/>
                          <a:ea typeface="微软雅黑" pitchFamily="34" charset="-122"/>
                          <a:cs typeface="微软雅黑" pitchFamily="34" charset="-120"/>
                        </a:rPr>
                        <a:t>建设与运维复杂度</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高 建模与调度复杂</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初期低 后期沼泽化后治理成本高</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400" u="none" dirty="0">
                          <a:solidFill>
                            <a:srgbClr val="A0AEC0"/>
                          </a:solidFill>
                          <a:latin typeface="微软雅黑" pitchFamily="34" charset="0"/>
                          <a:ea typeface="微软雅黑" pitchFamily="34" charset="-122"/>
                          <a:cs typeface="微软雅黑" pitchFamily="34" charset="-120"/>
                        </a:rPr>
                        <a:t>中等 Table Format规范化,长期可控</a:t>
                      </a:r>
                      <a:endParaRPr lang="en-US" sz="14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6"/>
                  </a:ext>
                </a:extLst>
              </a:tr>
            </a:tbl>
          </a:graphicData>
        </a:graphic>
      </p:graphicFrame>
      <p:sp>
        <p:nvSpPr>
          <p:cNvPr id="7" name="Shape 4"/>
          <p:cNvSpPr/>
          <p:nvPr/>
        </p:nvSpPr>
        <p:spPr>
          <a:xfrm>
            <a:off x="533400" y="6083300"/>
            <a:ext cx="4914900" cy="1066800"/>
          </a:xfrm>
          <a:custGeom>
            <a:avLst/>
            <a:gdLst/>
            <a:ahLst/>
            <a:cxnLst/>
            <a:rect l="l" t="t" r="r" b="b"/>
            <a:pathLst>
              <a:path w="4914900" h="1066800">
                <a:moveTo>
                  <a:pt x="50800" y="0"/>
                </a:moveTo>
                <a:lnTo>
                  <a:pt x="4813298" y="0"/>
                </a:lnTo>
                <a:cubicBezTo>
                  <a:pt x="4869411" y="0"/>
                  <a:pt x="4914900" y="45489"/>
                  <a:pt x="4914900" y="101602"/>
                </a:cubicBezTo>
                <a:lnTo>
                  <a:pt x="4914900" y="965198"/>
                </a:lnTo>
                <a:cubicBezTo>
                  <a:pt x="4914900" y="1021311"/>
                  <a:pt x="4869411" y="1066800"/>
                  <a:pt x="4813298" y="1066800"/>
                </a:cubicBezTo>
                <a:lnTo>
                  <a:pt x="50800" y="1066800"/>
                </a:lnTo>
                <a:cubicBezTo>
                  <a:pt x="22744" y="1066800"/>
                  <a:pt x="0" y="1044056"/>
                  <a:pt x="0" y="10160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6" name="Shape 5"/>
          <p:cNvSpPr/>
          <p:nvPr/>
        </p:nvSpPr>
        <p:spPr>
          <a:xfrm>
            <a:off x="533400" y="6083300"/>
            <a:ext cx="50800" cy="1066800"/>
          </a:xfrm>
          <a:custGeom>
            <a:avLst/>
            <a:gdLst/>
            <a:ahLst/>
            <a:cxnLst/>
            <a:rect l="l" t="t" r="r" b="b"/>
            <a:pathLst>
              <a:path w="50800" h="1066800">
                <a:moveTo>
                  <a:pt x="50800" y="0"/>
                </a:moveTo>
                <a:lnTo>
                  <a:pt x="50800" y="0"/>
                </a:lnTo>
                <a:lnTo>
                  <a:pt x="50800" y="1066800"/>
                </a:lnTo>
                <a:lnTo>
                  <a:pt x="50800" y="1066800"/>
                </a:lnTo>
                <a:cubicBezTo>
                  <a:pt x="22763" y="1066800"/>
                  <a:pt x="0" y="1044037"/>
                  <a:pt x="0" y="10160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9" name="Text 6"/>
          <p:cNvSpPr/>
          <p:nvPr/>
        </p:nvSpPr>
        <p:spPr>
          <a:xfrm>
            <a:off x="762000" y="6286500"/>
            <a:ext cx="4584700" cy="304800"/>
          </a:xfrm>
          <a:prstGeom prst="rect">
            <a:avLst/>
          </a:prstGeom>
          <a:noFill/>
          <a:ln/>
        </p:spPr>
        <p:txBody>
          <a:bodyPr wrap="square" lIns="0" tIns="0" rIns="0" bIns="0" rtlCol="0" anchor="ctr"/>
          <a:lstStyle/>
          <a:p>
            <a:pPr>
              <a:lnSpc>
                <a:spcPct val="130000"/>
              </a:lnSpc>
            </a:pPr>
            <a:r>
              <a:rPr lang="en-US" sz="1600" b="1" dirty="0">
                <a:solidFill>
                  <a:srgbClr val="F7FAFC"/>
                </a:solidFill>
                <a:latin typeface="MiSans" pitchFamily="34" charset="0"/>
                <a:ea typeface="MiSans" pitchFamily="34" charset="-122"/>
                <a:cs typeface="MiSans" pitchFamily="34" charset="-120"/>
              </a:rPr>
              <a:t>数据仓库阶段</a:t>
            </a:r>
            <a:endParaRPr lang="en-US" sz="1600" dirty="0"/>
          </a:p>
        </p:txBody>
      </p:sp>
      <p:sp>
        <p:nvSpPr>
          <p:cNvPr id="10" name="Text 7"/>
          <p:cNvSpPr/>
          <p:nvPr/>
        </p:nvSpPr>
        <p:spPr>
          <a:xfrm>
            <a:off x="762000" y="6692900"/>
            <a:ext cx="4572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高质量、高一致性,但成本高、扩展性有限</a:t>
            </a:r>
            <a:endParaRPr lang="en-US" sz="1600" dirty="0"/>
          </a:p>
        </p:txBody>
      </p:sp>
      <p:sp>
        <p:nvSpPr>
          <p:cNvPr id="11" name="Shape 8"/>
          <p:cNvSpPr/>
          <p:nvPr/>
        </p:nvSpPr>
        <p:spPr>
          <a:xfrm>
            <a:off x="5681067" y="6083300"/>
            <a:ext cx="4914900" cy="1066800"/>
          </a:xfrm>
          <a:custGeom>
            <a:avLst/>
            <a:gdLst/>
            <a:ahLst/>
            <a:cxnLst/>
            <a:rect l="l" t="t" r="r" b="b"/>
            <a:pathLst>
              <a:path w="4914900" h="1066800">
                <a:moveTo>
                  <a:pt x="50800" y="0"/>
                </a:moveTo>
                <a:lnTo>
                  <a:pt x="4813298" y="0"/>
                </a:lnTo>
                <a:cubicBezTo>
                  <a:pt x="4869411" y="0"/>
                  <a:pt x="4914900" y="45489"/>
                  <a:pt x="4914900" y="101602"/>
                </a:cubicBezTo>
                <a:lnTo>
                  <a:pt x="4914900" y="965198"/>
                </a:lnTo>
                <a:cubicBezTo>
                  <a:pt x="4914900" y="1021311"/>
                  <a:pt x="4869411" y="1066800"/>
                  <a:pt x="4813298" y="1066800"/>
                </a:cubicBezTo>
                <a:lnTo>
                  <a:pt x="50800" y="1066800"/>
                </a:lnTo>
                <a:cubicBezTo>
                  <a:pt x="22744" y="1066800"/>
                  <a:pt x="0" y="1044056"/>
                  <a:pt x="0" y="10160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12" name="Shape 9"/>
          <p:cNvSpPr/>
          <p:nvPr/>
        </p:nvSpPr>
        <p:spPr>
          <a:xfrm>
            <a:off x="5681067" y="6083300"/>
            <a:ext cx="50800" cy="1066800"/>
          </a:xfrm>
          <a:custGeom>
            <a:avLst/>
            <a:gdLst/>
            <a:ahLst/>
            <a:cxnLst/>
            <a:rect l="l" t="t" r="r" b="b"/>
            <a:pathLst>
              <a:path w="50800" h="1066800">
                <a:moveTo>
                  <a:pt x="50800" y="0"/>
                </a:moveTo>
                <a:lnTo>
                  <a:pt x="50800" y="0"/>
                </a:lnTo>
                <a:lnTo>
                  <a:pt x="50800" y="1066800"/>
                </a:lnTo>
                <a:lnTo>
                  <a:pt x="50800" y="1066800"/>
                </a:lnTo>
                <a:cubicBezTo>
                  <a:pt x="22763" y="1066800"/>
                  <a:pt x="0" y="1044037"/>
                  <a:pt x="0" y="10160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13" name="Text 10"/>
          <p:cNvSpPr/>
          <p:nvPr/>
        </p:nvSpPr>
        <p:spPr>
          <a:xfrm>
            <a:off x="5909667" y="6286500"/>
            <a:ext cx="4584700" cy="304800"/>
          </a:xfrm>
          <a:prstGeom prst="rect">
            <a:avLst/>
          </a:prstGeom>
          <a:noFill/>
          <a:ln/>
        </p:spPr>
        <p:txBody>
          <a:bodyPr wrap="square" lIns="0" tIns="0" rIns="0" bIns="0" rtlCol="0" anchor="ctr"/>
          <a:lstStyle/>
          <a:p>
            <a:pPr>
              <a:lnSpc>
                <a:spcPct val="130000"/>
              </a:lnSpc>
            </a:pPr>
            <a:r>
              <a:rPr lang="en-US" sz="1600" b="1" dirty="0">
                <a:solidFill>
                  <a:srgbClr val="F7FAFC"/>
                </a:solidFill>
                <a:latin typeface="MiSans" pitchFamily="34" charset="0"/>
                <a:ea typeface="MiSans" pitchFamily="34" charset="-122"/>
                <a:cs typeface="MiSans" pitchFamily="34" charset="-120"/>
              </a:rPr>
              <a:t>数据湖阶段</a:t>
            </a:r>
            <a:endParaRPr lang="en-US" sz="1600" dirty="0"/>
          </a:p>
        </p:txBody>
      </p:sp>
      <p:sp>
        <p:nvSpPr>
          <p:cNvPr id="14" name="Text 11"/>
          <p:cNvSpPr/>
          <p:nvPr/>
        </p:nvSpPr>
        <p:spPr>
          <a:xfrm>
            <a:off x="5909667" y="6692900"/>
            <a:ext cx="4572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低成本、高灵活性,但数据质量与治理难度大</a:t>
            </a:r>
            <a:endParaRPr lang="en-US" sz="1600" dirty="0"/>
          </a:p>
        </p:txBody>
      </p:sp>
      <p:sp>
        <p:nvSpPr>
          <p:cNvPr id="15" name="Shape 12"/>
          <p:cNvSpPr/>
          <p:nvPr/>
        </p:nvSpPr>
        <p:spPr>
          <a:xfrm>
            <a:off x="10828834" y="6083300"/>
            <a:ext cx="4914900" cy="1066800"/>
          </a:xfrm>
          <a:custGeom>
            <a:avLst/>
            <a:gdLst/>
            <a:ahLst/>
            <a:cxnLst/>
            <a:rect l="l" t="t" r="r" b="b"/>
            <a:pathLst>
              <a:path w="4914900" h="1066800">
                <a:moveTo>
                  <a:pt x="50800" y="0"/>
                </a:moveTo>
                <a:lnTo>
                  <a:pt x="4813298" y="0"/>
                </a:lnTo>
                <a:cubicBezTo>
                  <a:pt x="4869411" y="0"/>
                  <a:pt x="4914900" y="45489"/>
                  <a:pt x="4914900" y="101602"/>
                </a:cubicBezTo>
                <a:lnTo>
                  <a:pt x="4914900" y="965198"/>
                </a:lnTo>
                <a:cubicBezTo>
                  <a:pt x="4914900" y="1021311"/>
                  <a:pt x="4869411" y="1066800"/>
                  <a:pt x="4813298" y="1066800"/>
                </a:cubicBezTo>
                <a:lnTo>
                  <a:pt x="50800" y="1066800"/>
                </a:lnTo>
                <a:cubicBezTo>
                  <a:pt x="22744" y="1066800"/>
                  <a:pt x="0" y="1044056"/>
                  <a:pt x="0" y="10160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16" name="Shape 13"/>
          <p:cNvSpPr/>
          <p:nvPr/>
        </p:nvSpPr>
        <p:spPr>
          <a:xfrm>
            <a:off x="10828834" y="6083300"/>
            <a:ext cx="50800" cy="1066800"/>
          </a:xfrm>
          <a:custGeom>
            <a:avLst/>
            <a:gdLst/>
            <a:ahLst/>
            <a:cxnLst/>
            <a:rect l="l" t="t" r="r" b="b"/>
            <a:pathLst>
              <a:path w="50800" h="1066800">
                <a:moveTo>
                  <a:pt x="50800" y="0"/>
                </a:moveTo>
                <a:lnTo>
                  <a:pt x="50800" y="0"/>
                </a:lnTo>
                <a:lnTo>
                  <a:pt x="50800" y="1066800"/>
                </a:lnTo>
                <a:lnTo>
                  <a:pt x="50800" y="1066800"/>
                </a:lnTo>
                <a:cubicBezTo>
                  <a:pt x="22763" y="1066800"/>
                  <a:pt x="0" y="1044037"/>
                  <a:pt x="0" y="10160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17" name="Text 14"/>
          <p:cNvSpPr/>
          <p:nvPr/>
        </p:nvSpPr>
        <p:spPr>
          <a:xfrm>
            <a:off x="11057434" y="6286500"/>
            <a:ext cx="4584700" cy="304800"/>
          </a:xfrm>
          <a:prstGeom prst="rect">
            <a:avLst/>
          </a:prstGeom>
          <a:noFill/>
          <a:ln/>
        </p:spPr>
        <p:txBody>
          <a:bodyPr wrap="square" lIns="0" tIns="0" rIns="0" bIns="0" rtlCol="0" anchor="ctr"/>
          <a:lstStyle/>
          <a:p>
            <a:pPr>
              <a:lnSpc>
                <a:spcPct val="130000"/>
              </a:lnSpc>
            </a:pPr>
            <a:r>
              <a:rPr lang="en-US" sz="1600" b="1" dirty="0">
                <a:solidFill>
                  <a:srgbClr val="F7FAFC"/>
                </a:solidFill>
                <a:latin typeface="MiSans" pitchFamily="34" charset="0"/>
                <a:ea typeface="MiSans" pitchFamily="34" charset="-122"/>
                <a:cs typeface="MiSans" pitchFamily="34" charset="-120"/>
              </a:rPr>
              <a:t>湖仓一体阶段</a:t>
            </a:r>
            <a:endParaRPr lang="en-US" sz="1600" dirty="0"/>
          </a:p>
        </p:txBody>
      </p:sp>
      <p:sp>
        <p:nvSpPr>
          <p:cNvPr id="18" name="Text 15"/>
          <p:cNvSpPr/>
          <p:nvPr/>
        </p:nvSpPr>
        <p:spPr>
          <a:xfrm>
            <a:off x="11057434" y="6692900"/>
            <a:ext cx="4572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在低成本之上,通过Table Format重建高质量管理能力</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02C"/>
        </a:solidFill>
        <a:effectLst/>
      </p:bgPr>
    </p:bg>
    <p:spTree>
      <p:nvGrpSpPr>
        <p:cNvPr id="1" name=""/>
        <p:cNvGrpSpPr/>
        <p:nvPr/>
      </p:nvGrpSpPr>
      <p:grpSpPr>
        <a:xfrm>
          <a:off x="0" y="0"/>
          <a:ext cx="0" cy="0"/>
          <a:chOff x="0" y="0"/>
          <a:chExt cx="0" cy="0"/>
        </a:xfrm>
      </p:grpSpPr>
      <p:sp>
        <p:nvSpPr>
          <p:cNvPr id="4" name="Shape 1"/>
          <p:cNvSpPr/>
          <p:nvPr/>
        </p:nvSpPr>
        <p:spPr>
          <a:xfrm>
            <a:off x="514350" y="2597150"/>
            <a:ext cx="2603500" cy="723900"/>
          </a:xfrm>
          <a:custGeom>
            <a:avLst/>
            <a:gdLst/>
            <a:ahLst/>
            <a:cxnLst/>
            <a:rect l="l" t="t" r="r" b="b"/>
            <a:pathLst>
              <a:path w="2603500" h="723900">
                <a:moveTo>
                  <a:pt x="101599" y="0"/>
                </a:moveTo>
                <a:lnTo>
                  <a:pt x="2501901" y="0"/>
                </a:lnTo>
                <a:cubicBezTo>
                  <a:pt x="2558012" y="0"/>
                  <a:pt x="2603500" y="45488"/>
                  <a:pt x="2603500" y="101599"/>
                </a:cubicBezTo>
                <a:lnTo>
                  <a:pt x="2603500" y="622301"/>
                </a:lnTo>
                <a:cubicBezTo>
                  <a:pt x="2603500" y="678412"/>
                  <a:pt x="2558012" y="723900"/>
                  <a:pt x="2501901" y="723900"/>
                </a:cubicBezTo>
                <a:lnTo>
                  <a:pt x="101599" y="723900"/>
                </a:lnTo>
                <a:cubicBezTo>
                  <a:pt x="45488" y="723900"/>
                  <a:pt x="0" y="678412"/>
                  <a:pt x="0" y="622301"/>
                </a:cubicBezTo>
                <a:lnTo>
                  <a:pt x="0" y="101599"/>
                </a:lnTo>
                <a:cubicBezTo>
                  <a:pt x="0" y="45488"/>
                  <a:pt x="45488" y="0"/>
                  <a:pt x="101599" y="0"/>
                </a:cubicBezTo>
                <a:close/>
              </a:path>
            </a:pathLst>
          </a:custGeom>
          <a:solidFill>
            <a:srgbClr val="4FD1C5">
              <a:alpha val="20000"/>
            </a:srgbClr>
          </a:solidFill>
          <a:ln w="12700">
            <a:solidFill>
              <a:srgbClr val="4FD1C5"/>
            </a:solidFill>
            <a:prstDash val="solid"/>
          </a:ln>
        </p:spPr>
        <p:txBody>
          <a:bodyPr/>
          <a:lstStyle/>
          <a:p>
            <a:endParaRPr lang="zh-CN" altLang="en-US"/>
          </a:p>
        </p:txBody>
      </p:sp>
      <p:sp>
        <p:nvSpPr>
          <p:cNvPr id="5" name="Text 2"/>
          <p:cNvSpPr/>
          <p:nvPr/>
        </p:nvSpPr>
        <p:spPr>
          <a:xfrm>
            <a:off x="825500" y="2755900"/>
            <a:ext cx="2128738" cy="406400"/>
          </a:xfrm>
          <a:prstGeom prst="rect">
            <a:avLst/>
          </a:prstGeom>
          <a:noFill/>
          <a:ln/>
        </p:spPr>
        <p:txBody>
          <a:bodyPr wrap="square" lIns="0" tIns="0" rIns="0" bIns="0" rtlCol="0" anchor="ctr"/>
          <a:lstStyle/>
          <a:p>
            <a:pPr>
              <a:lnSpc>
                <a:spcPct val="110000"/>
              </a:lnSpc>
            </a:pPr>
            <a:r>
              <a:rPr lang="en-US" sz="2400" b="1" kern="0" spc="120" dirty="0">
                <a:solidFill>
                  <a:srgbClr val="4FD1C5"/>
                </a:solidFill>
                <a:latin typeface="MiSans" pitchFamily="34" charset="0"/>
                <a:ea typeface="MiSans" pitchFamily="34" charset="-122"/>
                <a:cs typeface="MiSans" pitchFamily="34" charset="-120"/>
              </a:rPr>
              <a:t>CHAPTER 02</a:t>
            </a:r>
            <a:endParaRPr lang="en-US" sz="1600" dirty="0"/>
          </a:p>
        </p:txBody>
      </p:sp>
      <p:sp>
        <p:nvSpPr>
          <p:cNvPr id="6" name="Text 3"/>
          <p:cNvSpPr/>
          <p:nvPr/>
        </p:nvSpPr>
        <p:spPr>
          <a:xfrm>
            <a:off x="508000" y="3733800"/>
            <a:ext cx="15697200" cy="1143000"/>
          </a:xfrm>
          <a:prstGeom prst="rect">
            <a:avLst/>
          </a:prstGeom>
          <a:noFill/>
          <a:ln/>
        </p:spPr>
        <p:txBody>
          <a:bodyPr wrap="square" lIns="0" tIns="0" rIns="0" bIns="0" rtlCol="0" anchor="ctr"/>
          <a:lstStyle/>
          <a:p>
            <a:pPr>
              <a:lnSpc>
                <a:spcPct val="100000"/>
              </a:lnSpc>
            </a:pPr>
            <a:r>
              <a:rPr lang="en-US" sz="7200" b="1" dirty="0">
                <a:solidFill>
                  <a:srgbClr val="F7FAFC"/>
                </a:solidFill>
                <a:latin typeface="Noto Sans SC" pitchFamily="34" charset="0"/>
                <a:ea typeface="Noto Sans SC" pitchFamily="34" charset="-122"/>
                <a:cs typeface="Noto Sans SC" pitchFamily="34" charset="-120"/>
              </a:rPr>
              <a:t>数据架构的代际演变</a:t>
            </a:r>
            <a:endParaRPr lang="en-US" sz="1600" dirty="0"/>
          </a:p>
        </p:txBody>
      </p:sp>
      <p:sp>
        <p:nvSpPr>
          <p:cNvPr id="7" name="Text 4"/>
          <p:cNvSpPr/>
          <p:nvPr/>
        </p:nvSpPr>
        <p:spPr>
          <a:xfrm>
            <a:off x="508000" y="5181600"/>
            <a:ext cx="15430500" cy="457200"/>
          </a:xfrm>
          <a:prstGeom prst="rect">
            <a:avLst/>
          </a:prstGeom>
          <a:noFill/>
          <a:ln/>
        </p:spPr>
        <p:txBody>
          <a:bodyPr wrap="square" lIns="0" tIns="0" rIns="0" bIns="0" rtlCol="0" anchor="ctr"/>
          <a:lstStyle/>
          <a:p>
            <a:pPr>
              <a:lnSpc>
                <a:spcPct val="100000"/>
              </a:lnSpc>
            </a:pPr>
            <a:r>
              <a:rPr lang="en-US" sz="3000" dirty="0">
                <a:solidFill>
                  <a:srgbClr val="A0AEC0"/>
                </a:solidFill>
                <a:latin typeface="MiSans" pitchFamily="34" charset="0"/>
                <a:ea typeface="MiSans" pitchFamily="34" charset="-122"/>
                <a:cs typeface="MiSans" pitchFamily="34" charset="-120"/>
              </a:rPr>
              <a:t>从Data Warehouse到Data Lake再到Lakehouse</a:t>
            </a:r>
            <a:endParaRPr lang="en-US" sz="1600" dirty="0"/>
          </a:p>
        </p:txBody>
      </p:sp>
      <p:sp>
        <p:nvSpPr>
          <p:cNvPr id="8" name="Shape 5"/>
          <p:cNvSpPr/>
          <p:nvPr/>
        </p:nvSpPr>
        <p:spPr>
          <a:xfrm>
            <a:off x="5080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9" name="Text 6"/>
          <p:cNvSpPr/>
          <p:nvPr/>
        </p:nvSpPr>
        <p:spPr>
          <a:xfrm>
            <a:off x="7112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三代架构</a:t>
            </a:r>
            <a:endParaRPr lang="en-US" sz="1600" dirty="0"/>
          </a:p>
        </p:txBody>
      </p:sp>
      <p:sp>
        <p:nvSpPr>
          <p:cNvPr id="10" name="Shape 7"/>
          <p:cNvSpPr/>
          <p:nvPr/>
        </p:nvSpPr>
        <p:spPr>
          <a:xfrm>
            <a:off x="19304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1" name="Text 8"/>
          <p:cNvSpPr/>
          <p:nvPr/>
        </p:nvSpPr>
        <p:spPr>
          <a:xfrm>
            <a:off x="21336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演进逻辑</a:t>
            </a:r>
            <a:endParaRPr lang="en-US" sz="1600" dirty="0"/>
          </a:p>
        </p:txBody>
      </p:sp>
      <p:sp>
        <p:nvSpPr>
          <p:cNvPr id="12" name="Shape 9"/>
          <p:cNvSpPr/>
          <p:nvPr/>
        </p:nvSpPr>
        <p:spPr>
          <a:xfrm>
            <a:off x="33528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3" name="Text 10"/>
          <p:cNvSpPr/>
          <p:nvPr/>
        </p:nvSpPr>
        <p:spPr>
          <a:xfrm>
            <a:off x="35560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特征对比</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94103" y="494103"/>
            <a:ext cx="3569897" cy="296462"/>
          </a:xfrm>
          <a:prstGeom prst="rect">
            <a:avLst/>
          </a:prstGeom>
          <a:noFill/>
          <a:ln/>
        </p:spPr>
        <p:txBody>
          <a:bodyPr wrap="square" lIns="0" tIns="0" rIns="0" bIns="0" rtlCol="0" anchor="ctr"/>
          <a:lstStyle/>
          <a:p>
            <a:pPr>
              <a:lnSpc>
                <a:spcPct val="130000"/>
              </a:lnSpc>
            </a:pPr>
            <a:r>
              <a:rPr lang="en-US" sz="1556" b="1" kern="0" spc="78" dirty="0">
                <a:solidFill>
                  <a:srgbClr val="4FD1C5"/>
                </a:solidFill>
                <a:latin typeface="MiSans" pitchFamily="34" charset="0"/>
                <a:ea typeface="MiSans" pitchFamily="34" charset="-122"/>
                <a:cs typeface="MiSans" pitchFamily="34" charset="-120"/>
              </a:rPr>
              <a:t>DATA ARCHITECTURE EVOLUTION</a:t>
            </a:r>
            <a:endParaRPr lang="en-US" sz="1600" dirty="0"/>
          </a:p>
        </p:txBody>
      </p:sp>
      <p:sp>
        <p:nvSpPr>
          <p:cNvPr id="3" name="Text 1"/>
          <p:cNvSpPr/>
          <p:nvPr/>
        </p:nvSpPr>
        <p:spPr>
          <a:xfrm>
            <a:off x="494103" y="889386"/>
            <a:ext cx="15490140" cy="494103"/>
          </a:xfrm>
          <a:prstGeom prst="rect">
            <a:avLst/>
          </a:prstGeom>
          <a:noFill/>
          <a:ln/>
        </p:spPr>
        <p:txBody>
          <a:bodyPr wrap="square" lIns="0" tIns="0" rIns="0" bIns="0" rtlCol="0" anchor="ctr"/>
          <a:lstStyle/>
          <a:p>
            <a:pPr>
              <a:lnSpc>
                <a:spcPct val="90000"/>
              </a:lnSpc>
            </a:pPr>
            <a:r>
              <a:rPr lang="en-US" sz="3502" b="1" dirty="0">
                <a:solidFill>
                  <a:srgbClr val="F7FAFC"/>
                </a:solidFill>
                <a:latin typeface="Noto Sans SC" pitchFamily="34" charset="0"/>
                <a:ea typeface="Noto Sans SC" pitchFamily="34" charset="-122"/>
                <a:cs typeface="Noto Sans SC" pitchFamily="34" charset="-120"/>
              </a:rPr>
              <a:t>第一代：数据仓库的回顾与局限</a:t>
            </a:r>
            <a:endParaRPr lang="en-US" sz="1600" dirty="0"/>
          </a:p>
        </p:txBody>
      </p:sp>
      <p:sp>
        <p:nvSpPr>
          <p:cNvPr id="4" name="Shape 2"/>
          <p:cNvSpPr/>
          <p:nvPr/>
        </p:nvSpPr>
        <p:spPr>
          <a:xfrm>
            <a:off x="494103" y="1531720"/>
            <a:ext cx="988207" cy="49410"/>
          </a:xfrm>
          <a:custGeom>
            <a:avLst/>
            <a:gdLst/>
            <a:ahLst/>
            <a:cxnLst/>
            <a:rect l="l" t="t" r="r" b="b"/>
            <a:pathLst>
              <a:path w="988207" h="49410">
                <a:moveTo>
                  <a:pt x="0" y="0"/>
                </a:moveTo>
                <a:lnTo>
                  <a:pt x="988207" y="0"/>
                </a:lnTo>
                <a:lnTo>
                  <a:pt x="988207" y="49410"/>
                </a:lnTo>
                <a:lnTo>
                  <a:pt x="0" y="49410"/>
                </a:lnTo>
                <a:lnTo>
                  <a:pt x="0" y="0"/>
                </a:lnTo>
                <a:close/>
              </a:path>
            </a:pathLst>
          </a:custGeom>
          <a:solidFill>
            <a:srgbClr val="4FD1C5"/>
          </a:solidFill>
          <a:ln/>
        </p:spPr>
        <p:txBody>
          <a:bodyPr/>
          <a:lstStyle/>
          <a:p>
            <a:endParaRPr lang="zh-CN" altLang="en-US"/>
          </a:p>
        </p:txBody>
      </p:sp>
      <p:sp>
        <p:nvSpPr>
          <p:cNvPr id="5" name="Shape 3"/>
          <p:cNvSpPr/>
          <p:nvPr/>
        </p:nvSpPr>
        <p:spPr>
          <a:xfrm>
            <a:off x="494103" y="1828182"/>
            <a:ext cx="7510371" cy="2915210"/>
          </a:xfrm>
          <a:custGeom>
            <a:avLst/>
            <a:gdLst/>
            <a:ahLst/>
            <a:cxnLst/>
            <a:rect l="l" t="t" r="r" b="b"/>
            <a:pathLst>
              <a:path w="7510371" h="2915210">
                <a:moveTo>
                  <a:pt x="98826" y="0"/>
                </a:moveTo>
                <a:lnTo>
                  <a:pt x="7411545" y="0"/>
                </a:lnTo>
                <a:cubicBezTo>
                  <a:pt x="7466125" y="0"/>
                  <a:pt x="7510371" y="44246"/>
                  <a:pt x="7510371" y="98826"/>
                </a:cubicBezTo>
                <a:lnTo>
                  <a:pt x="7510371" y="2816384"/>
                </a:lnTo>
                <a:cubicBezTo>
                  <a:pt x="7510371" y="2870964"/>
                  <a:pt x="7466125" y="2915210"/>
                  <a:pt x="7411545" y="2915210"/>
                </a:cubicBezTo>
                <a:lnTo>
                  <a:pt x="98826" y="2915210"/>
                </a:lnTo>
                <a:cubicBezTo>
                  <a:pt x="44246" y="2915210"/>
                  <a:pt x="0" y="2870964"/>
                  <a:pt x="0" y="2816384"/>
                </a:cubicBezTo>
                <a:lnTo>
                  <a:pt x="0" y="98826"/>
                </a:lnTo>
                <a:cubicBezTo>
                  <a:pt x="0" y="44282"/>
                  <a:pt x="44282" y="0"/>
                  <a:pt x="98826" y="0"/>
                </a:cubicBezTo>
                <a:close/>
              </a:path>
            </a:pathLst>
          </a:custGeom>
          <a:solidFill>
            <a:srgbClr val="4A5568">
              <a:alpha val="30196"/>
            </a:srgbClr>
          </a:solidFill>
          <a:ln/>
        </p:spPr>
        <p:txBody>
          <a:bodyPr/>
          <a:lstStyle/>
          <a:p>
            <a:endParaRPr lang="zh-CN" altLang="en-US"/>
          </a:p>
        </p:txBody>
      </p:sp>
      <p:sp>
        <p:nvSpPr>
          <p:cNvPr id="6" name="Text 4"/>
          <p:cNvSpPr/>
          <p:nvPr/>
        </p:nvSpPr>
        <p:spPr>
          <a:xfrm>
            <a:off x="741155" y="2075234"/>
            <a:ext cx="7139793" cy="345872"/>
          </a:xfrm>
          <a:prstGeom prst="rect">
            <a:avLst/>
          </a:prstGeom>
          <a:noFill/>
          <a:ln/>
        </p:spPr>
        <p:txBody>
          <a:bodyPr wrap="square" lIns="0" tIns="0" rIns="0" bIns="0" rtlCol="0" anchor="ctr"/>
          <a:lstStyle/>
          <a:p>
            <a:pPr>
              <a:lnSpc>
                <a:spcPct val="120000"/>
              </a:lnSpc>
            </a:pPr>
            <a:r>
              <a:rPr lang="en-US" sz="1945" b="1" dirty="0">
                <a:solidFill>
                  <a:srgbClr val="4FD1C5"/>
                </a:solidFill>
                <a:latin typeface="Noto Sans SC" pitchFamily="34" charset="0"/>
                <a:ea typeface="Noto Sans SC" pitchFamily="34" charset="-122"/>
                <a:cs typeface="Noto Sans SC" pitchFamily="34" charset="-120"/>
              </a:rPr>
              <a:t>典型应用场景：电商离线数仓</a:t>
            </a:r>
            <a:endParaRPr lang="en-US" sz="1600" dirty="0"/>
          </a:p>
        </p:txBody>
      </p:sp>
      <p:sp>
        <p:nvSpPr>
          <p:cNvPr id="7" name="Shape 5"/>
          <p:cNvSpPr/>
          <p:nvPr/>
        </p:nvSpPr>
        <p:spPr>
          <a:xfrm>
            <a:off x="741155" y="2569337"/>
            <a:ext cx="345872" cy="345872"/>
          </a:xfrm>
          <a:custGeom>
            <a:avLst/>
            <a:gdLst/>
            <a:ahLst/>
            <a:cxnLst/>
            <a:rect l="l" t="t" r="r" b="b"/>
            <a:pathLst>
              <a:path w="345872" h="345872">
                <a:moveTo>
                  <a:pt x="172936" y="0"/>
                </a:moveTo>
                <a:lnTo>
                  <a:pt x="172936" y="0"/>
                </a:lnTo>
                <a:cubicBezTo>
                  <a:pt x="268382" y="0"/>
                  <a:pt x="345872" y="77490"/>
                  <a:pt x="345872" y="172936"/>
                </a:cubicBezTo>
                <a:lnTo>
                  <a:pt x="345872" y="172936"/>
                </a:lnTo>
                <a:cubicBezTo>
                  <a:pt x="345872" y="268382"/>
                  <a:pt x="268382" y="345872"/>
                  <a:pt x="172936" y="345872"/>
                </a:cubicBezTo>
                <a:lnTo>
                  <a:pt x="172936" y="345872"/>
                </a:lnTo>
                <a:cubicBezTo>
                  <a:pt x="77490" y="345872"/>
                  <a:pt x="0" y="268382"/>
                  <a:pt x="0" y="172936"/>
                </a:cubicBezTo>
                <a:lnTo>
                  <a:pt x="0" y="172936"/>
                </a:lnTo>
                <a:cubicBezTo>
                  <a:pt x="0" y="77490"/>
                  <a:pt x="77490" y="0"/>
                  <a:pt x="172936" y="0"/>
                </a:cubicBezTo>
                <a:close/>
              </a:path>
            </a:pathLst>
          </a:custGeom>
          <a:solidFill>
            <a:srgbClr val="4FD1C5">
              <a:alpha val="20000"/>
            </a:srgbClr>
          </a:solidFill>
          <a:ln/>
        </p:spPr>
        <p:txBody>
          <a:bodyPr/>
          <a:lstStyle/>
          <a:p>
            <a:endParaRPr lang="zh-CN" altLang="en-US"/>
          </a:p>
        </p:txBody>
      </p:sp>
      <p:sp>
        <p:nvSpPr>
          <p:cNvPr id="8" name="Text 6"/>
          <p:cNvSpPr/>
          <p:nvPr/>
        </p:nvSpPr>
        <p:spPr>
          <a:xfrm>
            <a:off x="880025" y="2618748"/>
            <a:ext cx="160584" cy="247052"/>
          </a:xfrm>
          <a:prstGeom prst="rect">
            <a:avLst/>
          </a:prstGeom>
          <a:noFill/>
          <a:ln/>
        </p:spPr>
        <p:txBody>
          <a:bodyPr wrap="square" lIns="0" tIns="0" rIns="0" bIns="0" rtlCol="0" anchor="ctr"/>
          <a:lstStyle/>
          <a:p>
            <a:pPr>
              <a:lnSpc>
                <a:spcPct val="120000"/>
              </a:lnSpc>
            </a:pPr>
            <a:r>
              <a:rPr lang="en-US" sz="1362" b="1" dirty="0">
                <a:solidFill>
                  <a:srgbClr val="4FD1C5"/>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1185848" y="2569337"/>
            <a:ext cx="3854006"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ETL抽取</a:t>
            </a:r>
            <a:endParaRPr lang="en-US" sz="1600" dirty="0"/>
          </a:p>
        </p:txBody>
      </p:sp>
      <p:sp>
        <p:nvSpPr>
          <p:cNvPr id="10" name="Text 8"/>
          <p:cNvSpPr/>
          <p:nvPr/>
        </p:nvSpPr>
        <p:spPr>
          <a:xfrm>
            <a:off x="1185848" y="2865799"/>
            <a:ext cx="3841653"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将业务库(订单、支付、用户等)按天抽取到ODS层</a:t>
            </a:r>
            <a:endParaRPr lang="en-US" sz="1600" dirty="0"/>
          </a:p>
        </p:txBody>
      </p:sp>
      <p:sp>
        <p:nvSpPr>
          <p:cNvPr id="11" name="Shape 9"/>
          <p:cNvSpPr/>
          <p:nvPr/>
        </p:nvSpPr>
        <p:spPr>
          <a:xfrm>
            <a:off x="741155" y="3261082"/>
            <a:ext cx="345872" cy="345872"/>
          </a:xfrm>
          <a:custGeom>
            <a:avLst/>
            <a:gdLst/>
            <a:ahLst/>
            <a:cxnLst/>
            <a:rect l="l" t="t" r="r" b="b"/>
            <a:pathLst>
              <a:path w="345872" h="345872">
                <a:moveTo>
                  <a:pt x="172936" y="0"/>
                </a:moveTo>
                <a:lnTo>
                  <a:pt x="172936" y="0"/>
                </a:lnTo>
                <a:cubicBezTo>
                  <a:pt x="268382" y="0"/>
                  <a:pt x="345872" y="77490"/>
                  <a:pt x="345872" y="172936"/>
                </a:cubicBezTo>
                <a:lnTo>
                  <a:pt x="345872" y="172936"/>
                </a:lnTo>
                <a:cubicBezTo>
                  <a:pt x="345872" y="268382"/>
                  <a:pt x="268382" y="345872"/>
                  <a:pt x="172936" y="345872"/>
                </a:cubicBezTo>
                <a:lnTo>
                  <a:pt x="172936" y="345872"/>
                </a:lnTo>
                <a:cubicBezTo>
                  <a:pt x="77490" y="345872"/>
                  <a:pt x="0" y="268382"/>
                  <a:pt x="0" y="172936"/>
                </a:cubicBezTo>
                <a:lnTo>
                  <a:pt x="0" y="172936"/>
                </a:lnTo>
                <a:cubicBezTo>
                  <a:pt x="0" y="77490"/>
                  <a:pt x="77490" y="0"/>
                  <a:pt x="172936" y="0"/>
                </a:cubicBezTo>
                <a:close/>
              </a:path>
            </a:pathLst>
          </a:custGeom>
          <a:solidFill>
            <a:srgbClr val="4FD1C5">
              <a:alpha val="20000"/>
            </a:srgbClr>
          </a:solidFill>
          <a:ln/>
        </p:spPr>
        <p:txBody>
          <a:bodyPr/>
          <a:lstStyle/>
          <a:p>
            <a:endParaRPr lang="zh-CN" altLang="en-US"/>
          </a:p>
        </p:txBody>
      </p:sp>
      <p:sp>
        <p:nvSpPr>
          <p:cNvPr id="12" name="Text 10"/>
          <p:cNvSpPr/>
          <p:nvPr/>
        </p:nvSpPr>
        <p:spPr>
          <a:xfrm>
            <a:off x="865453" y="3310492"/>
            <a:ext cx="185289" cy="247052"/>
          </a:xfrm>
          <a:prstGeom prst="rect">
            <a:avLst/>
          </a:prstGeom>
          <a:noFill/>
          <a:ln/>
        </p:spPr>
        <p:txBody>
          <a:bodyPr wrap="square" lIns="0" tIns="0" rIns="0" bIns="0" rtlCol="0" anchor="ctr"/>
          <a:lstStyle/>
          <a:p>
            <a:pPr>
              <a:lnSpc>
                <a:spcPct val="120000"/>
              </a:lnSpc>
            </a:pPr>
            <a:r>
              <a:rPr lang="en-US" sz="1362" b="1" dirty="0">
                <a:solidFill>
                  <a:srgbClr val="4FD1C5"/>
                </a:solidFill>
                <a:latin typeface="MiSans" pitchFamily="34" charset="0"/>
                <a:ea typeface="MiSans" pitchFamily="34" charset="-122"/>
                <a:cs typeface="MiSans" pitchFamily="34" charset="-120"/>
              </a:rPr>
              <a:t>2</a:t>
            </a:r>
            <a:endParaRPr lang="en-US" sz="1600" dirty="0"/>
          </a:p>
        </p:txBody>
      </p:sp>
      <p:sp>
        <p:nvSpPr>
          <p:cNvPr id="13" name="Text 11"/>
          <p:cNvSpPr/>
          <p:nvPr/>
        </p:nvSpPr>
        <p:spPr>
          <a:xfrm>
            <a:off x="1185848" y="3261082"/>
            <a:ext cx="3804596"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主题建模</a:t>
            </a:r>
            <a:endParaRPr lang="en-US" sz="1600" dirty="0"/>
          </a:p>
        </p:txBody>
      </p:sp>
      <p:sp>
        <p:nvSpPr>
          <p:cNvPr id="14" name="Text 12"/>
          <p:cNvSpPr/>
          <p:nvPr/>
        </p:nvSpPr>
        <p:spPr>
          <a:xfrm>
            <a:off x="1185848" y="3557544"/>
            <a:ext cx="3792243"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按ODS/DWD/DWS/ADS分层构建星型/雪花模型</a:t>
            </a:r>
            <a:endParaRPr lang="en-US" sz="1600" dirty="0"/>
          </a:p>
        </p:txBody>
      </p:sp>
      <p:sp>
        <p:nvSpPr>
          <p:cNvPr id="15" name="Shape 13"/>
          <p:cNvSpPr/>
          <p:nvPr/>
        </p:nvSpPr>
        <p:spPr>
          <a:xfrm>
            <a:off x="741155" y="3952827"/>
            <a:ext cx="345872" cy="345872"/>
          </a:xfrm>
          <a:custGeom>
            <a:avLst/>
            <a:gdLst/>
            <a:ahLst/>
            <a:cxnLst/>
            <a:rect l="l" t="t" r="r" b="b"/>
            <a:pathLst>
              <a:path w="345872" h="345872">
                <a:moveTo>
                  <a:pt x="172936" y="0"/>
                </a:moveTo>
                <a:lnTo>
                  <a:pt x="172936" y="0"/>
                </a:lnTo>
                <a:cubicBezTo>
                  <a:pt x="268382" y="0"/>
                  <a:pt x="345872" y="77490"/>
                  <a:pt x="345872" y="172936"/>
                </a:cubicBezTo>
                <a:lnTo>
                  <a:pt x="345872" y="172936"/>
                </a:lnTo>
                <a:cubicBezTo>
                  <a:pt x="345872" y="268382"/>
                  <a:pt x="268382" y="345872"/>
                  <a:pt x="172936" y="345872"/>
                </a:cubicBezTo>
                <a:lnTo>
                  <a:pt x="172936" y="345872"/>
                </a:lnTo>
                <a:cubicBezTo>
                  <a:pt x="77490" y="345872"/>
                  <a:pt x="0" y="268382"/>
                  <a:pt x="0" y="172936"/>
                </a:cubicBezTo>
                <a:lnTo>
                  <a:pt x="0" y="172936"/>
                </a:lnTo>
                <a:cubicBezTo>
                  <a:pt x="0" y="77490"/>
                  <a:pt x="77490" y="0"/>
                  <a:pt x="172936" y="0"/>
                </a:cubicBezTo>
                <a:close/>
              </a:path>
            </a:pathLst>
          </a:custGeom>
          <a:solidFill>
            <a:srgbClr val="4FD1C5">
              <a:alpha val="20000"/>
            </a:srgbClr>
          </a:solidFill>
          <a:ln/>
        </p:spPr>
        <p:txBody>
          <a:bodyPr/>
          <a:lstStyle/>
          <a:p>
            <a:endParaRPr lang="zh-CN" altLang="en-US"/>
          </a:p>
        </p:txBody>
      </p:sp>
      <p:sp>
        <p:nvSpPr>
          <p:cNvPr id="16" name="Text 14"/>
          <p:cNvSpPr/>
          <p:nvPr/>
        </p:nvSpPr>
        <p:spPr>
          <a:xfrm>
            <a:off x="863233" y="4002237"/>
            <a:ext cx="185289" cy="247052"/>
          </a:xfrm>
          <a:prstGeom prst="rect">
            <a:avLst/>
          </a:prstGeom>
          <a:noFill/>
          <a:ln/>
        </p:spPr>
        <p:txBody>
          <a:bodyPr wrap="square" lIns="0" tIns="0" rIns="0" bIns="0" rtlCol="0" anchor="ctr"/>
          <a:lstStyle/>
          <a:p>
            <a:pPr>
              <a:lnSpc>
                <a:spcPct val="120000"/>
              </a:lnSpc>
            </a:pPr>
            <a:r>
              <a:rPr lang="en-US" sz="1362" b="1" dirty="0">
                <a:solidFill>
                  <a:srgbClr val="4FD1C5"/>
                </a:solidFill>
                <a:latin typeface="MiSans" pitchFamily="34" charset="0"/>
                <a:ea typeface="MiSans" pitchFamily="34" charset="-122"/>
                <a:cs typeface="MiSans" pitchFamily="34" charset="-120"/>
              </a:rPr>
              <a:t>3</a:t>
            </a:r>
            <a:endParaRPr lang="en-US" sz="1600" dirty="0"/>
          </a:p>
        </p:txBody>
      </p:sp>
      <p:sp>
        <p:nvSpPr>
          <p:cNvPr id="17" name="Text 15"/>
          <p:cNvSpPr/>
          <p:nvPr/>
        </p:nvSpPr>
        <p:spPr>
          <a:xfrm>
            <a:off x="1185848" y="3952827"/>
            <a:ext cx="3606954"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离线跑批</a:t>
            </a:r>
            <a:endParaRPr lang="en-US" sz="1600" dirty="0"/>
          </a:p>
        </p:txBody>
      </p:sp>
      <p:sp>
        <p:nvSpPr>
          <p:cNvPr id="18" name="Text 16"/>
          <p:cNvSpPr/>
          <p:nvPr/>
        </p:nvSpPr>
        <p:spPr>
          <a:xfrm>
            <a:off x="1185848" y="4249289"/>
            <a:ext cx="3594602"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每晚生成运营报表、经营分析、AB实验结果等</a:t>
            </a:r>
            <a:endParaRPr lang="en-US" sz="1600" dirty="0"/>
          </a:p>
        </p:txBody>
      </p:sp>
      <p:sp>
        <p:nvSpPr>
          <p:cNvPr id="19" name="Shape 17"/>
          <p:cNvSpPr/>
          <p:nvPr/>
        </p:nvSpPr>
        <p:spPr>
          <a:xfrm>
            <a:off x="494103" y="4941033"/>
            <a:ext cx="7510371" cy="3359903"/>
          </a:xfrm>
          <a:custGeom>
            <a:avLst/>
            <a:gdLst/>
            <a:ahLst/>
            <a:cxnLst/>
            <a:rect l="l" t="t" r="r" b="b"/>
            <a:pathLst>
              <a:path w="7510371" h="3359903">
                <a:moveTo>
                  <a:pt x="98815" y="0"/>
                </a:moveTo>
                <a:lnTo>
                  <a:pt x="7411556" y="0"/>
                </a:lnTo>
                <a:cubicBezTo>
                  <a:pt x="7466130" y="0"/>
                  <a:pt x="7510371" y="44241"/>
                  <a:pt x="7510371" y="98815"/>
                </a:cubicBezTo>
                <a:lnTo>
                  <a:pt x="7510371" y="3261088"/>
                </a:lnTo>
                <a:cubicBezTo>
                  <a:pt x="7510371" y="3315662"/>
                  <a:pt x="7466130" y="3359903"/>
                  <a:pt x="7411556" y="3359903"/>
                </a:cubicBezTo>
                <a:lnTo>
                  <a:pt x="98815" y="3359903"/>
                </a:lnTo>
                <a:cubicBezTo>
                  <a:pt x="44241" y="3359903"/>
                  <a:pt x="0" y="3315662"/>
                  <a:pt x="0" y="3261088"/>
                </a:cubicBezTo>
                <a:lnTo>
                  <a:pt x="0" y="98815"/>
                </a:lnTo>
                <a:cubicBezTo>
                  <a:pt x="0" y="44277"/>
                  <a:pt x="44277" y="0"/>
                  <a:pt x="98815" y="0"/>
                </a:cubicBezTo>
                <a:close/>
              </a:path>
            </a:pathLst>
          </a:custGeom>
          <a:solidFill>
            <a:srgbClr val="4A5568">
              <a:alpha val="30196"/>
            </a:srgbClr>
          </a:solidFill>
          <a:ln/>
        </p:spPr>
        <p:txBody>
          <a:bodyPr/>
          <a:lstStyle/>
          <a:p>
            <a:endParaRPr lang="zh-CN" altLang="en-US"/>
          </a:p>
        </p:txBody>
      </p:sp>
      <p:sp>
        <p:nvSpPr>
          <p:cNvPr id="20" name="Text 18"/>
          <p:cNvSpPr/>
          <p:nvPr/>
        </p:nvSpPr>
        <p:spPr>
          <a:xfrm>
            <a:off x="741155" y="5188085"/>
            <a:ext cx="7127441" cy="345872"/>
          </a:xfrm>
          <a:prstGeom prst="rect">
            <a:avLst/>
          </a:prstGeom>
          <a:noFill/>
          <a:ln/>
        </p:spPr>
        <p:txBody>
          <a:bodyPr wrap="square" lIns="0" tIns="0" rIns="0" bIns="0" rtlCol="0" anchor="ctr"/>
          <a:lstStyle/>
          <a:p>
            <a:pPr>
              <a:lnSpc>
                <a:spcPct val="130000"/>
              </a:lnSpc>
            </a:pPr>
            <a:r>
              <a:rPr lang="en-US" sz="1751" b="1" dirty="0">
                <a:solidFill>
                  <a:srgbClr val="4FD1C5"/>
                </a:solidFill>
                <a:latin typeface="MiSans" pitchFamily="34" charset="0"/>
                <a:ea typeface="MiSans" pitchFamily="34" charset="-122"/>
                <a:cs typeface="MiSans" pitchFamily="34" charset="-120"/>
              </a:rPr>
              <a:t>星型模型示意</a:t>
            </a:r>
            <a:endParaRPr lang="en-US" sz="1600" dirty="0"/>
          </a:p>
        </p:txBody>
      </p:sp>
      <p:sp>
        <p:nvSpPr>
          <p:cNvPr id="21" name="Shape 19"/>
          <p:cNvSpPr/>
          <p:nvPr/>
        </p:nvSpPr>
        <p:spPr>
          <a:xfrm>
            <a:off x="2481422" y="5694541"/>
            <a:ext cx="963502" cy="568219"/>
          </a:xfrm>
          <a:custGeom>
            <a:avLst/>
            <a:gdLst/>
            <a:ahLst/>
            <a:cxnLst/>
            <a:rect l="l" t="t" r="r" b="b"/>
            <a:pathLst>
              <a:path w="963502" h="568219">
                <a:moveTo>
                  <a:pt x="49412" y="0"/>
                </a:moveTo>
                <a:lnTo>
                  <a:pt x="914089" y="0"/>
                </a:lnTo>
                <a:cubicBezTo>
                  <a:pt x="941379" y="0"/>
                  <a:pt x="963502" y="22123"/>
                  <a:pt x="963502" y="49412"/>
                </a:cubicBezTo>
                <a:lnTo>
                  <a:pt x="963502" y="518807"/>
                </a:lnTo>
                <a:cubicBezTo>
                  <a:pt x="963502" y="546096"/>
                  <a:pt x="941379" y="568219"/>
                  <a:pt x="914089" y="568219"/>
                </a:cubicBezTo>
                <a:lnTo>
                  <a:pt x="49412" y="568219"/>
                </a:lnTo>
                <a:cubicBezTo>
                  <a:pt x="22123" y="568219"/>
                  <a:pt x="0" y="546096"/>
                  <a:pt x="0" y="518807"/>
                </a:cubicBezTo>
                <a:lnTo>
                  <a:pt x="0" y="49412"/>
                </a:lnTo>
                <a:cubicBezTo>
                  <a:pt x="0" y="22123"/>
                  <a:pt x="22123" y="0"/>
                  <a:pt x="49412" y="0"/>
                </a:cubicBezTo>
                <a:close/>
              </a:path>
            </a:pathLst>
          </a:custGeom>
          <a:solidFill>
            <a:srgbClr val="4FD1C5">
              <a:alpha val="30196"/>
            </a:srgbClr>
          </a:solidFill>
          <a:ln w="25400">
            <a:solidFill>
              <a:srgbClr val="4FD1C5"/>
            </a:solidFill>
            <a:prstDash val="solid"/>
          </a:ln>
        </p:spPr>
        <p:txBody>
          <a:bodyPr/>
          <a:lstStyle/>
          <a:p>
            <a:endParaRPr lang="zh-CN" altLang="en-US"/>
          </a:p>
        </p:txBody>
      </p:sp>
      <p:sp>
        <p:nvSpPr>
          <p:cNvPr id="22" name="Text 20"/>
          <p:cNvSpPr/>
          <p:nvPr/>
        </p:nvSpPr>
        <p:spPr>
          <a:xfrm>
            <a:off x="2560941" y="5855125"/>
            <a:ext cx="802918" cy="247052"/>
          </a:xfrm>
          <a:prstGeom prst="rect">
            <a:avLst/>
          </a:prstGeom>
          <a:noFill/>
          <a:ln/>
        </p:spPr>
        <p:txBody>
          <a:bodyPr wrap="square" lIns="0" tIns="0" rIns="0" bIns="0" rtlCol="0" anchor="ctr"/>
          <a:lstStyle/>
          <a:p>
            <a:pPr algn="ctr">
              <a:lnSpc>
                <a:spcPct val="120000"/>
              </a:lnSpc>
            </a:pPr>
            <a:r>
              <a:rPr lang="en-US" sz="1362" b="1" dirty="0">
                <a:solidFill>
                  <a:srgbClr val="F7FAFC"/>
                </a:solidFill>
                <a:latin typeface="MiSans" pitchFamily="34" charset="0"/>
                <a:ea typeface="MiSans" pitchFamily="34" charset="-122"/>
                <a:cs typeface="MiSans" pitchFamily="34" charset="-120"/>
              </a:rPr>
              <a:t>dim_user</a:t>
            </a:r>
            <a:endParaRPr lang="en-US" sz="1600" dirty="0"/>
          </a:p>
        </p:txBody>
      </p:sp>
      <p:sp>
        <p:nvSpPr>
          <p:cNvPr id="23" name="Shape 21"/>
          <p:cNvSpPr/>
          <p:nvPr/>
        </p:nvSpPr>
        <p:spPr>
          <a:xfrm>
            <a:off x="3766090" y="5694541"/>
            <a:ext cx="963502" cy="568219"/>
          </a:xfrm>
          <a:custGeom>
            <a:avLst/>
            <a:gdLst/>
            <a:ahLst/>
            <a:cxnLst/>
            <a:rect l="l" t="t" r="r" b="b"/>
            <a:pathLst>
              <a:path w="963502" h="568219">
                <a:moveTo>
                  <a:pt x="49412" y="0"/>
                </a:moveTo>
                <a:lnTo>
                  <a:pt x="914089" y="0"/>
                </a:lnTo>
                <a:cubicBezTo>
                  <a:pt x="941379" y="0"/>
                  <a:pt x="963502" y="22123"/>
                  <a:pt x="963502" y="49412"/>
                </a:cubicBezTo>
                <a:lnTo>
                  <a:pt x="963502" y="518807"/>
                </a:lnTo>
                <a:cubicBezTo>
                  <a:pt x="963502" y="546096"/>
                  <a:pt x="941379" y="568219"/>
                  <a:pt x="914089" y="568219"/>
                </a:cubicBezTo>
                <a:lnTo>
                  <a:pt x="49412" y="568219"/>
                </a:lnTo>
                <a:cubicBezTo>
                  <a:pt x="22123" y="568219"/>
                  <a:pt x="0" y="546096"/>
                  <a:pt x="0" y="518807"/>
                </a:cubicBezTo>
                <a:lnTo>
                  <a:pt x="0" y="49412"/>
                </a:lnTo>
                <a:cubicBezTo>
                  <a:pt x="0" y="22123"/>
                  <a:pt x="22123" y="0"/>
                  <a:pt x="49412" y="0"/>
                </a:cubicBezTo>
                <a:close/>
              </a:path>
            </a:pathLst>
          </a:custGeom>
          <a:solidFill>
            <a:srgbClr val="4FD1C5">
              <a:alpha val="30196"/>
            </a:srgbClr>
          </a:solidFill>
          <a:ln w="25400">
            <a:solidFill>
              <a:srgbClr val="4FD1C5"/>
            </a:solidFill>
            <a:prstDash val="solid"/>
          </a:ln>
        </p:spPr>
        <p:txBody>
          <a:bodyPr/>
          <a:lstStyle/>
          <a:p>
            <a:endParaRPr lang="zh-CN" altLang="en-US"/>
          </a:p>
        </p:txBody>
      </p:sp>
      <p:sp>
        <p:nvSpPr>
          <p:cNvPr id="24" name="Text 22"/>
          <p:cNvSpPr/>
          <p:nvPr/>
        </p:nvSpPr>
        <p:spPr>
          <a:xfrm>
            <a:off x="3705775" y="5855125"/>
            <a:ext cx="1087027" cy="247052"/>
          </a:xfrm>
          <a:prstGeom prst="rect">
            <a:avLst/>
          </a:prstGeom>
          <a:noFill/>
          <a:ln/>
        </p:spPr>
        <p:txBody>
          <a:bodyPr wrap="square" lIns="0" tIns="0" rIns="0" bIns="0" rtlCol="0" anchor="ctr"/>
          <a:lstStyle/>
          <a:p>
            <a:pPr algn="ctr">
              <a:lnSpc>
                <a:spcPct val="120000"/>
              </a:lnSpc>
            </a:pPr>
            <a:r>
              <a:rPr lang="en-US" sz="1362" b="1" dirty="0">
                <a:solidFill>
                  <a:srgbClr val="F7FAFC"/>
                </a:solidFill>
                <a:latin typeface="MiSans" pitchFamily="34" charset="0"/>
                <a:ea typeface="MiSans" pitchFamily="34" charset="-122"/>
                <a:cs typeface="MiSans" pitchFamily="34" charset="-120"/>
              </a:rPr>
              <a:t>dim_product</a:t>
            </a:r>
            <a:endParaRPr lang="en-US" sz="1600" dirty="0"/>
          </a:p>
        </p:txBody>
      </p:sp>
      <p:sp>
        <p:nvSpPr>
          <p:cNvPr id="25" name="Shape 23"/>
          <p:cNvSpPr/>
          <p:nvPr/>
        </p:nvSpPr>
        <p:spPr>
          <a:xfrm>
            <a:off x="5050759" y="5694541"/>
            <a:ext cx="963502" cy="568219"/>
          </a:xfrm>
          <a:custGeom>
            <a:avLst/>
            <a:gdLst/>
            <a:ahLst/>
            <a:cxnLst/>
            <a:rect l="l" t="t" r="r" b="b"/>
            <a:pathLst>
              <a:path w="963502" h="568219">
                <a:moveTo>
                  <a:pt x="49412" y="0"/>
                </a:moveTo>
                <a:lnTo>
                  <a:pt x="914089" y="0"/>
                </a:lnTo>
                <a:cubicBezTo>
                  <a:pt x="941379" y="0"/>
                  <a:pt x="963502" y="22123"/>
                  <a:pt x="963502" y="49412"/>
                </a:cubicBezTo>
                <a:lnTo>
                  <a:pt x="963502" y="518807"/>
                </a:lnTo>
                <a:cubicBezTo>
                  <a:pt x="963502" y="546096"/>
                  <a:pt x="941379" y="568219"/>
                  <a:pt x="914089" y="568219"/>
                </a:cubicBezTo>
                <a:lnTo>
                  <a:pt x="49412" y="568219"/>
                </a:lnTo>
                <a:cubicBezTo>
                  <a:pt x="22123" y="568219"/>
                  <a:pt x="0" y="546096"/>
                  <a:pt x="0" y="518807"/>
                </a:cubicBezTo>
                <a:lnTo>
                  <a:pt x="0" y="49412"/>
                </a:lnTo>
                <a:cubicBezTo>
                  <a:pt x="0" y="22123"/>
                  <a:pt x="22123" y="0"/>
                  <a:pt x="49412" y="0"/>
                </a:cubicBezTo>
                <a:close/>
              </a:path>
            </a:pathLst>
          </a:custGeom>
          <a:solidFill>
            <a:srgbClr val="4FD1C5">
              <a:alpha val="30196"/>
            </a:srgbClr>
          </a:solidFill>
          <a:ln w="25400">
            <a:solidFill>
              <a:srgbClr val="4FD1C5"/>
            </a:solidFill>
            <a:prstDash val="solid"/>
          </a:ln>
        </p:spPr>
        <p:txBody>
          <a:bodyPr/>
          <a:lstStyle/>
          <a:p>
            <a:endParaRPr lang="zh-CN" altLang="en-US"/>
          </a:p>
        </p:txBody>
      </p:sp>
      <p:sp>
        <p:nvSpPr>
          <p:cNvPr id="26" name="Text 24"/>
          <p:cNvSpPr/>
          <p:nvPr/>
        </p:nvSpPr>
        <p:spPr>
          <a:xfrm>
            <a:off x="5124971" y="5855125"/>
            <a:ext cx="815271" cy="247052"/>
          </a:xfrm>
          <a:prstGeom prst="rect">
            <a:avLst/>
          </a:prstGeom>
          <a:noFill/>
          <a:ln/>
        </p:spPr>
        <p:txBody>
          <a:bodyPr wrap="square" lIns="0" tIns="0" rIns="0" bIns="0" rtlCol="0" anchor="ctr"/>
          <a:lstStyle/>
          <a:p>
            <a:pPr algn="ctr">
              <a:lnSpc>
                <a:spcPct val="120000"/>
              </a:lnSpc>
            </a:pPr>
            <a:r>
              <a:rPr lang="en-US" sz="1362" b="1" dirty="0">
                <a:solidFill>
                  <a:srgbClr val="F7FAFC"/>
                </a:solidFill>
                <a:latin typeface="MiSans" pitchFamily="34" charset="0"/>
                <a:ea typeface="MiSans" pitchFamily="34" charset="-122"/>
                <a:cs typeface="MiSans" pitchFamily="34" charset="-120"/>
              </a:rPr>
              <a:t>dim_date</a:t>
            </a:r>
            <a:endParaRPr lang="en-US" sz="1600" dirty="0"/>
          </a:p>
        </p:txBody>
      </p:sp>
      <p:sp>
        <p:nvSpPr>
          <p:cNvPr id="27" name="Shape 25"/>
          <p:cNvSpPr/>
          <p:nvPr/>
        </p:nvSpPr>
        <p:spPr>
          <a:xfrm>
            <a:off x="4136668" y="6472754"/>
            <a:ext cx="222347" cy="296462"/>
          </a:xfrm>
          <a:custGeom>
            <a:avLst/>
            <a:gdLst/>
            <a:ahLst/>
            <a:cxnLst/>
            <a:rect l="l" t="t" r="r" b="b"/>
            <a:pathLst>
              <a:path w="222347" h="296462">
                <a:moveTo>
                  <a:pt x="98087" y="291019"/>
                </a:moveTo>
                <a:cubicBezTo>
                  <a:pt x="105325" y="298257"/>
                  <a:pt x="117079" y="298257"/>
                  <a:pt x="124317" y="291019"/>
                </a:cubicBezTo>
                <a:lnTo>
                  <a:pt x="216962" y="198375"/>
                </a:lnTo>
                <a:cubicBezTo>
                  <a:pt x="224199" y="191137"/>
                  <a:pt x="224199" y="179383"/>
                  <a:pt x="216962" y="172145"/>
                </a:cubicBezTo>
                <a:cubicBezTo>
                  <a:pt x="209724" y="164907"/>
                  <a:pt x="197969" y="164907"/>
                  <a:pt x="190732" y="172145"/>
                </a:cubicBezTo>
                <a:lnTo>
                  <a:pt x="129702" y="233174"/>
                </a:lnTo>
                <a:lnTo>
                  <a:pt x="129702" y="18529"/>
                </a:lnTo>
                <a:cubicBezTo>
                  <a:pt x="129702" y="8280"/>
                  <a:pt x="121422" y="0"/>
                  <a:pt x="111173" y="0"/>
                </a:cubicBezTo>
                <a:cubicBezTo>
                  <a:pt x="100924" y="0"/>
                  <a:pt x="92644" y="8280"/>
                  <a:pt x="92644" y="18529"/>
                </a:cubicBezTo>
                <a:lnTo>
                  <a:pt x="92644" y="233174"/>
                </a:lnTo>
                <a:lnTo>
                  <a:pt x="31615" y="172145"/>
                </a:lnTo>
                <a:cubicBezTo>
                  <a:pt x="24377" y="164907"/>
                  <a:pt x="12623" y="164907"/>
                  <a:pt x="5385" y="172145"/>
                </a:cubicBezTo>
                <a:cubicBezTo>
                  <a:pt x="-1853" y="179383"/>
                  <a:pt x="-1853" y="191137"/>
                  <a:pt x="5385" y="198375"/>
                </a:cubicBezTo>
                <a:lnTo>
                  <a:pt x="98029" y="291019"/>
                </a:lnTo>
                <a:close/>
              </a:path>
            </a:pathLst>
          </a:custGeom>
          <a:solidFill>
            <a:srgbClr val="4FD1C5"/>
          </a:solidFill>
          <a:ln/>
        </p:spPr>
        <p:txBody>
          <a:bodyPr/>
          <a:lstStyle/>
          <a:p>
            <a:endParaRPr lang="zh-CN" altLang="en-US"/>
          </a:p>
        </p:txBody>
      </p:sp>
      <p:sp>
        <p:nvSpPr>
          <p:cNvPr id="28" name="Shape 26"/>
          <p:cNvSpPr/>
          <p:nvPr/>
        </p:nvSpPr>
        <p:spPr>
          <a:xfrm>
            <a:off x="3654917" y="6868036"/>
            <a:ext cx="1185848" cy="790565"/>
          </a:xfrm>
          <a:custGeom>
            <a:avLst/>
            <a:gdLst/>
            <a:ahLst/>
            <a:cxnLst/>
            <a:rect l="l" t="t" r="r" b="b"/>
            <a:pathLst>
              <a:path w="1185848" h="790565">
                <a:moveTo>
                  <a:pt x="49410" y="0"/>
                </a:moveTo>
                <a:lnTo>
                  <a:pt x="1136438" y="0"/>
                </a:lnTo>
                <a:cubicBezTo>
                  <a:pt x="1163726" y="0"/>
                  <a:pt x="1185848" y="22122"/>
                  <a:pt x="1185848" y="49410"/>
                </a:cubicBezTo>
                <a:lnTo>
                  <a:pt x="1185848" y="741155"/>
                </a:lnTo>
                <a:cubicBezTo>
                  <a:pt x="1185848" y="768444"/>
                  <a:pt x="1163726" y="790565"/>
                  <a:pt x="1136438" y="790565"/>
                </a:cubicBezTo>
                <a:lnTo>
                  <a:pt x="49410" y="790565"/>
                </a:lnTo>
                <a:cubicBezTo>
                  <a:pt x="22122" y="790565"/>
                  <a:pt x="0" y="768444"/>
                  <a:pt x="0" y="741155"/>
                </a:cubicBezTo>
                <a:lnTo>
                  <a:pt x="0" y="49410"/>
                </a:lnTo>
                <a:cubicBezTo>
                  <a:pt x="0" y="22140"/>
                  <a:pt x="22140" y="0"/>
                  <a:pt x="49410" y="0"/>
                </a:cubicBezTo>
                <a:close/>
              </a:path>
            </a:pathLst>
          </a:custGeom>
          <a:solidFill>
            <a:srgbClr val="4FD1C5"/>
          </a:solidFill>
          <a:ln/>
        </p:spPr>
        <p:txBody>
          <a:bodyPr/>
          <a:lstStyle/>
          <a:p>
            <a:endParaRPr lang="zh-CN" altLang="en-US"/>
          </a:p>
        </p:txBody>
      </p:sp>
      <p:sp>
        <p:nvSpPr>
          <p:cNvPr id="29" name="Text 27"/>
          <p:cNvSpPr/>
          <p:nvPr/>
        </p:nvSpPr>
        <p:spPr>
          <a:xfrm>
            <a:off x="3784716" y="7115088"/>
            <a:ext cx="1025264" cy="296462"/>
          </a:xfrm>
          <a:prstGeom prst="rect">
            <a:avLst/>
          </a:prstGeom>
          <a:noFill/>
          <a:ln/>
        </p:spPr>
        <p:txBody>
          <a:bodyPr wrap="square" lIns="0" tIns="0" rIns="0" bIns="0" rtlCol="0" anchor="ctr"/>
          <a:lstStyle/>
          <a:p>
            <a:pPr>
              <a:lnSpc>
                <a:spcPct val="130000"/>
              </a:lnSpc>
            </a:pPr>
            <a:r>
              <a:rPr lang="en-US" sz="1556" b="1" dirty="0">
                <a:solidFill>
                  <a:srgbClr val="1A202C"/>
                </a:solidFill>
                <a:latin typeface="MiSans" pitchFamily="34" charset="0"/>
                <a:ea typeface="MiSans" pitchFamily="34" charset="-122"/>
                <a:cs typeface="MiSans" pitchFamily="34" charset="-120"/>
              </a:rPr>
              <a:t>fact_order</a:t>
            </a:r>
            <a:endParaRPr lang="en-US" sz="1600" dirty="0"/>
          </a:p>
        </p:txBody>
      </p:sp>
      <p:sp>
        <p:nvSpPr>
          <p:cNvPr id="30" name="Text 28"/>
          <p:cNvSpPr/>
          <p:nvPr/>
        </p:nvSpPr>
        <p:spPr>
          <a:xfrm>
            <a:off x="697921" y="7806833"/>
            <a:ext cx="7102736" cy="247052"/>
          </a:xfrm>
          <a:prstGeom prst="rect">
            <a:avLst/>
          </a:prstGeom>
          <a:noFill/>
          <a:ln/>
        </p:spPr>
        <p:txBody>
          <a:bodyPr wrap="square" lIns="0" tIns="0" rIns="0" bIns="0" rtlCol="0" anchor="ctr"/>
          <a:lstStyle/>
          <a:p>
            <a:pPr algn="ctr">
              <a:lnSpc>
                <a:spcPct val="120000"/>
              </a:lnSpc>
            </a:pPr>
            <a:r>
              <a:rPr lang="en-US" sz="1362" dirty="0">
                <a:solidFill>
                  <a:srgbClr val="A0AEC0"/>
                </a:solidFill>
                <a:latin typeface="MiSans" pitchFamily="34" charset="0"/>
                <a:ea typeface="MiSans" pitchFamily="34" charset="-122"/>
                <a:cs typeface="MiSans" pitchFamily="34" charset="-120"/>
              </a:rPr>
              <a:t>事实表连接多张维度表,支持多维分析</a:t>
            </a:r>
            <a:endParaRPr lang="en-US" sz="1600" dirty="0"/>
          </a:p>
        </p:txBody>
      </p:sp>
      <p:sp>
        <p:nvSpPr>
          <p:cNvPr id="31" name="Shape 29"/>
          <p:cNvSpPr/>
          <p:nvPr/>
        </p:nvSpPr>
        <p:spPr>
          <a:xfrm>
            <a:off x="8273432" y="1828182"/>
            <a:ext cx="7485666" cy="2964620"/>
          </a:xfrm>
          <a:custGeom>
            <a:avLst/>
            <a:gdLst/>
            <a:ahLst/>
            <a:cxnLst/>
            <a:rect l="l" t="t" r="r" b="b"/>
            <a:pathLst>
              <a:path w="7485666" h="2964620">
                <a:moveTo>
                  <a:pt x="49410" y="0"/>
                </a:moveTo>
                <a:lnTo>
                  <a:pt x="7386855" y="0"/>
                </a:lnTo>
                <a:cubicBezTo>
                  <a:pt x="7441427" y="0"/>
                  <a:pt x="7485666" y="44239"/>
                  <a:pt x="7485666" y="98811"/>
                </a:cubicBezTo>
                <a:lnTo>
                  <a:pt x="7485666" y="2865809"/>
                </a:lnTo>
                <a:cubicBezTo>
                  <a:pt x="7485666" y="2920381"/>
                  <a:pt x="7441427" y="2964620"/>
                  <a:pt x="7386855" y="2964620"/>
                </a:cubicBezTo>
                <a:lnTo>
                  <a:pt x="49410" y="2964620"/>
                </a:lnTo>
                <a:cubicBezTo>
                  <a:pt x="22122" y="2964620"/>
                  <a:pt x="0" y="2942498"/>
                  <a:pt x="0" y="2915210"/>
                </a:cubicBezTo>
                <a:lnTo>
                  <a:pt x="0" y="49410"/>
                </a:lnTo>
                <a:cubicBezTo>
                  <a:pt x="0" y="22140"/>
                  <a:pt x="22140" y="0"/>
                  <a:pt x="49410" y="0"/>
                </a:cubicBezTo>
                <a:close/>
              </a:path>
            </a:pathLst>
          </a:custGeom>
          <a:solidFill>
            <a:srgbClr val="4FD1C5">
              <a:alpha val="10196"/>
            </a:srgbClr>
          </a:solidFill>
          <a:ln/>
        </p:spPr>
        <p:txBody>
          <a:bodyPr/>
          <a:lstStyle/>
          <a:p>
            <a:endParaRPr lang="zh-CN" altLang="en-US"/>
          </a:p>
        </p:txBody>
      </p:sp>
      <p:sp>
        <p:nvSpPr>
          <p:cNvPr id="32" name="Shape 30"/>
          <p:cNvSpPr/>
          <p:nvPr/>
        </p:nvSpPr>
        <p:spPr>
          <a:xfrm>
            <a:off x="8273432" y="1828182"/>
            <a:ext cx="49410" cy="2964620"/>
          </a:xfrm>
          <a:custGeom>
            <a:avLst/>
            <a:gdLst/>
            <a:ahLst/>
            <a:cxnLst/>
            <a:rect l="l" t="t" r="r" b="b"/>
            <a:pathLst>
              <a:path w="49410" h="2964620">
                <a:moveTo>
                  <a:pt x="49410" y="0"/>
                </a:moveTo>
                <a:lnTo>
                  <a:pt x="49410" y="0"/>
                </a:lnTo>
                <a:lnTo>
                  <a:pt x="49410" y="2964620"/>
                </a:lnTo>
                <a:lnTo>
                  <a:pt x="49410" y="2964620"/>
                </a:lnTo>
                <a:cubicBezTo>
                  <a:pt x="22122" y="2964620"/>
                  <a:pt x="0" y="2942498"/>
                  <a:pt x="0" y="2915210"/>
                </a:cubicBezTo>
                <a:lnTo>
                  <a:pt x="0" y="49410"/>
                </a:lnTo>
                <a:cubicBezTo>
                  <a:pt x="0" y="22140"/>
                  <a:pt x="22140" y="0"/>
                  <a:pt x="49410" y="0"/>
                </a:cubicBezTo>
                <a:close/>
              </a:path>
            </a:pathLst>
          </a:custGeom>
          <a:solidFill>
            <a:srgbClr val="4FD1C5"/>
          </a:solidFill>
          <a:ln/>
        </p:spPr>
        <p:txBody>
          <a:bodyPr/>
          <a:lstStyle/>
          <a:p>
            <a:endParaRPr lang="zh-CN" altLang="en-US"/>
          </a:p>
        </p:txBody>
      </p:sp>
      <p:sp>
        <p:nvSpPr>
          <p:cNvPr id="33" name="Text 31"/>
          <p:cNvSpPr/>
          <p:nvPr/>
        </p:nvSpPr>
        <p:spPr>
          <a:xfrm>
            <a:off x="8545189" y="2075234"/>
            <a:ext cx="7090383" cy="345872"/>
          </a:xfrm>
          <a:prstGeom prst="rect">
            <a:avLst/>
          </a:prstGeom>
          <a:noFill/>
          <a:ln/>
        </p:spPr>
        <p:txBody>
          <a:bodyPr wrap="square" lIns="0" tIns="0" rIns="0" bIns="0" rtlCol="0" anchor="ctr"/>
          <a:lstStyle/>
          <a:p>
            <a:pPr>
              <a:lnSpc>
                <a:spcPct val="120000"/>
              </a:lnSpc>
            </a:pPr>
            <a:r>
              <a:rPr lang="en-US" sz="1945" b="1" dirty="0">
                <a:solidFill>
                  <a:srgbClr val="F7FAFC"/>
                </a:solidFill>
                <a:latin typeface="Noto Sans SC" pitchFamily="34" charset="0"/>
                <a:ea typeface="Noto Sans SC" pitchFamily="34" charset="-122"/>
                <a:cs typeface="Noto Sans SC" pitchFamily="34" charset="-120"/>
              </a:rPr>
              <a:t>架构特征</a:t>
            </a:r>
            <a:endParaRPr lang="en-US" sz="1600" dirty="0"/>
          </a:p>
        </p:txBody>
      </p:sp>
      <p:sp>
        <p:nvSpPr>
          <p:cNvPr id="34" name="Shape 32"/>
          <p:cNvSpPr/>
          <p:nvPr/>
        </p:nvSpPr>
        <p:spPr>
          <a:xfrm>
            <a:off x="8591511" y="2668158"/>
            <a:ext cx="216170" cy="247052"/>
          </a:xfrm>
          <a:custGeom>
            <a:avLst/>
            <a:gdLst/>
            <a:ahLst/>
            <a:cxnLst/>
            <a:rect l="l" t="t" r="r" b="b"/>
            <a:pathLst>
              <a:path w="216170" h="247052">
                <a:moveTo>
                  <a:pt x="30881" y="15441"/>
                </a:moveTo>
                <a:cubicBezTo>
                  <a:pt x="13848" y="15441"/>
                  <a:pt x="0" y="29289"/>
                  <a:pt x="0" y="46322"/>
                </a:cubicBezTo>
                <a:lnTo>
                  <a:pt x="0" y="77204"/>
                </a:lnTo>
                <a:cubicBezTo>
                  <a:pt x="0" y="94237"/>
                  <a:pt x="13848" y="108085"/>
                  <a:pt x="30881" y="108085"/>
                </a:cubicBezTo>
                <a:lnTo>
                  <a:pt x="185289" y="108085"/>
                </a:lnTo>
                <a:cubicBezTo>
                  <a:pt x="202322" y="108085"/>
                  <a:pt x="216170" y="94237"/>
                  <a:pt x="216170" y="77204"/>
                </a:cubicBezTo>
                <a:lnTo>
                  <a:pt x="216170" y="46322"/>
                </a:lnTo>
                <a:cubicBezTo>
                  <a:pt x="216170" y="29289"/>
                  <a:pt x="202322" y="15441"/>
                  <a:pt x="185289" y="15441"/>
                </a:cubicBezTo>
                <a:lnTo>
                  <a:pt x="30881" y="15441"/>
                </a:lnTo>
                <a:close/>
                <a:moveTo>
                  <a:pt x="135106" y="50182"/>
                </a:moveTo>
                <a:cubicBezTo>
                  <a:pt x="141498" y="50182"/>
                  <a:pt x="146687" y="55371"/>
                  <a:pt x="146687" y="61763"/>
                </a:cubicBezTo>
                <a:cubicBezTo>
                  <a:pt x="146687" y="68154"/>
                  <a:pt x="141498" y="73343"/>
                  <a:pt x="135106" y="73343"/>
                </a:cubicBezTo>
                <a:cubicBezTo>
                  <a:pt x="128715" y="73343"/>
                  <a:pt x="123526" y="68154"/>
                  <a:pt x="123526" y="61763"/>
                </a:cubicBezTo>
                <a:cubicBezTo>
                  <a:pt x="123526" y="55371"/>
                  <a:pt x="128715" y="50182"/>
                  <a:pt x="135106" y="50182"/>
                </a:cubicBezTo>
                <a:close/>
                <a:moveTo>
                  <a:pt x="162128" y="61763"/>
                </a:moveTo>
                <a:cubicBezTo>
                  <a:pt x="162128" y="55371"/>
                  <a:pt x="167317" y="50182"/>
                  <a:pt x="173708" y="50182"/>
                </a:cubicBezTo>
                <a:cubicBezTo>
                  <a:pt x="180100" y="50182"/>
                  <a:pt x="185289" y="55371"/>
                  <a:pt x="185289" y="61763"/>
                </a:cubicBezTo>
                <a:cubicBezTo>
                  <a:pt x="185289" y="68154"/>
                  <a:pt x="180100" y="73343"/>
                  <a:pt x="173708" y="73343"/>
                </a:cubicBezTo>
                <a:cubicBezTo>
                  <a:pt x="167317" y="73343"/>
                  <a:pt x="162128" y="68154"/>
                  <a:pt x="162128" y="61763"/>
                </a:cubicBezTo>
                <a:close/>
                <a:moveTo>
                  <a:pt x="30881" y="138967"/>
                </a:moveTo>
                <a:cubicBezTo>
                  <a:pt x="13848" y="138967"/>
                  <a:pt x="0" y="152815"/>
                  <a:pt x="0" y="169848"/>
                </a:cubicBezTo>
                <a:lnTo>
                  <a:pt x="0" y="200729"/>
                </a:lnTo>
                <a:cubicBezTo>
                  <a:pt x="0" y="217763"/>
                  <a:pt x="13848" y="231611"/>
                  <a:pt x="30881" y="231611"/>
                </a:cubicBezTo>
                <a:lnTo>
                  <a:pt x="185289" y="231611"/>
                </a:lnTo>
                <a:cubicBezTo>
                  <a:pt x="202322" y="231611"/>
                  <a:pt x="216170" y="217763"/>
                  <a:pt x="216170" y="200729"/>
                </a:cubicBezTo>
                <a:lnTo>
                  <a:pt x="216170" y="169848"/>
                </a:lnTo>
                <a:cubicBezTo>
                  <a:pt x="216170" y="152815"/>
                  <a:pt x="202322" y="138967"/>
                  <a:pt x="185289" y="138967"/>
                </a:cubicBezTo>
                <a:lnTo>
                  <a:pt x="30881" y="138967"/>
                </a:lnTo>
                <a:close/>
                <a:moveTo>
                  <a:pt x="135106" y="173708"/>
                </a:moveTo>
                <a:cubicBezTo>
                  <a:pt x="141498" y="173708"/>
                  <a:pt x="146687" y="178897"/>
                  <a:pt x="146687" y="185289"/>
                </a:cubicBezTo>
                <a:cubicBezTo>
                  <a:pt x="146687" y="191680"/>
                  <a:pt x="141498" y="196869"/>
                  <a:pt x="135106" y="196869"/>
                </a:cubicBezTo>
                <a:cubicBezTo>
                  <a:pt x="128715" y="196869"/>
                  <a:pt x="123526" y="191680"/>
                  <a:pt x="123526" y="185289"/>
                </a:cubicBezTo>
                <a:cubicBezTo>
                  <a:pt x="123526" y="178897"/>
                  <a:pt x="128715" y="173708"/>
                  <a:pt x="135106" y="173708"/>
                </a:cubicBezTo>
                <a:close/>
                <a:moveTo>
                  <a:pt x="162128" y="185289"/>
                </a:moveTo>
                <a:cubicBezTo>
                  <a:pt x="162128" y="178897"/>
                  <a:pt x="167317" y="173708"/>
                  <a:pt x="173708" y="173708"/>
                </a:cubicBezTo>
                <a:cubicBezTo>
                  <a:pt x="180100" y="173708"/>
                  <a:pt x="185289" y="178897"/>
                  <a:pt x="185289" y="185289"/>
                </a:cubicBezTo>
                <a:cubicBezTo>
                  <a:pt x="185289" y="191680"/>
                  <a:pt x="180100" y="196869"/>
                  <a:pt x="173708" y="196869"/>
                </a:cubicBezTo>
                <a:cubicBezTo>
                  <a:pt x="167317" y="196869"/>
                  <a:pt x="162128" y="191680"/>
                  <a:pt x="162128" y="185289"/>
                </a:cubicBezTo>
                <a:close/>
              </a:path>
            </a:pathLst>
          </a:custGeom>
          <a:solidFill>
            <a:srgbClr val="4FD1C5"/>
          </a:solidFill>
          <a:ln/>
        </p:spPr>
        <p:txBody>
          <a:bodyPr/>
          <a:lstStyle/>
          <a:p>
            <a:endParaRPr lang="zh-CN" altLang="en-US"/>
          </a:p>
        </p:txBody>
      </p:sp>
      <p:sp>
        <p:nvSpPr>
          <p:cNvPr id="35" name="Text 33"/>
          <p:cNvSpPr/>
          <p:nvPr/>
        </p:nvSpPr>
        <p:spPr>
          <a:xfrm>
            <a:off x="9002235" y="2618748"/>
            <a:ext cx="5768657"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核心组件</a:t>
            </a:r>
            <a:endParaRPr lang="en-US" sz="1600" dirty="0"/>
          </a:p>
        </p:txBody>
      </p:sp>
      <p:sp>
        <p:nvSpPr>
          <p:cNvPr id="36" name="Text 34"/>
          <p:cNvSpPr/>
          <p:nvPr/>
        </p:nvSpPr>
        <p:spPr>
          <a:xfrm>
            <a:off x="9002235" y="2915210"/>
            <a:ext cx="5756304"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Teradata/Greenplum/Oracle Exadata 或 Hive+HDFS+MapReduce/Spark</a:t>
            </a:r>
            <a:endParaRPr lang="en-US" sz="1600" dirty="0"/>
          </a:p>
        </p:txBody>
      </p:sp>
      <p:sp>
        <p:nvSpPr>
          <p:cNvPr id="37" name="Shape 35"/>
          <p:cNvSpPr/>
          <p:nvPr/>
        </p:nvSpPr>
        <p:spPr>
          <a:xfrm>
            <a:off x="8576071" y="3359903"/>
            <a:ext cx="247052" cy="247052"/>
          </a:xfrm>
          <a:custGeom>
            <a:avLst/>
            <a:gdLst/>
            <a:ahLst/>
            <a:cxnLst/>
            <a:rect l="l" t="t" r="r" b="b"/>
            <a:pathLst>
              <a:path w="247052" h="247052">
                <a:moveTo>
                  <a:pt x="180222" y="13076"/>
                </a:moveTo>
                <a:cubicBezTo>
                  <a:pt x="187460" y="4777"/>
                  <a:pt x="197931" y="0"/>
                  <a:pt x="208981" y="0"/>
                </a:cubicBezTo>
                <a:cubicBezTo>
                  <a:pt x="230019" y="0"/>
                  <a:pt x="247100" y="17081"/>
                  <a:pt x="247100" y="38119"/>
                </a:cubicBezTo>
                <a:cubicBezTo>
                  <a:pt x="247100" y="49121"/>
                  <a:pt x="242323" y="59640"/>
                  <a:pt x="234024" y="66878"/>
                </a:cubicBezTo>
                <a:lnTo>
                  <a:pt x="136892" y="151416"/>
                </a:lnTo>
                <a:lnTo>
                  <a:pt x="131729" y="146204"/>
                </a:lnTo>
                <a:lnTo>
                  <a:pt x="100847" y="115323"/>
                </a:lnTo>
                <a:lnTo>
                  <a:pt x="95636" y="110160"/>
                </a:lnTo>
                <a:lnTo>
                  <a:pt x="180222" y="13076"/>
                </a:lnTo>
                <a:close/>
                <a:moveTo>
                  <a:pt x="77734" y="124973"/>
                </a:moveTo>
                <a:cubicBezTo>
                  <a:pt x="78169" y="125456"/>
                  <a:pt x="90714" y="138002"/>
                  <a:pt x="115323" y="162610"/>
                </a:cubicBezTo>
                <a:lnTo>
                  <a:pt x="122030" y="169317"/>
                </a:lnTo>
                <a:lnTo>
                  <a:pt x="113779" y="205120"/>
                </a:lnTo>
                <a:cubicBezTo>
                  <a:pt x="111897" y="213372"/>
                  <a:pt x="105624" y="219934"/>
                  <a:pt x="97470" y="222202"/>
                </a:cubicBezTo>
                <a:lnTo>
                  <a:pt x="15537" y="245122"/>
                </a:lnTo>
                <a:lnTo>
                  <a:pt x="60074" y="200585"/>
                </a:lnTo>
                <a:cubicBezTo>
                  <a:pt x="60653" y="200633"/>
                  <a:pt x="61184" y="200681"/>
                  <a:pt x="61763" y="200681"/>
                </a:cubicBezTo>
                <a:cubicBezTo>
                  <a:pt x="70304" y="200681"/>
                  <a:pt x="77204" y="193781"/>
                  <a:pt x="77204" y="185241"/>
                </a:cubicBezTo>
                <a:cubicBezTo>
                  <a:pt x="77204" y="176700"/>
                  <a:pt x="70304" y="169800"/>
                  <a:pt x="61763" y="169800"/>
                </a:cubicBezTo>
                <a:cubicBezTo>
                  <a:pt x="53222" y="169800"/>
                  <a:pt x="46322" y="176700"/>
                  <a:pt x="46322" y="185241"/>
                </a:cubicBezTo>
                <a:cubicBezTo>
                  <a:pt x="46322" y="185820"/>
                  <a:pt x="46370" y="186399"/>
                  <a:pt x="46419" y="186929"/>
                </a:cubicBezTo>
                <a:lnTo>
                  <a:pt x="1882" y="231514"/>
                </a:lnTo>
                <a:lnTo>
                  <a:pt x="24850" y="149582"/>
                </a:lnTo>
                <a:cubicBezTo>
                  <a:pt x="27118" y="141427"/>
                  <a:pt x="33680" y="135155"/>
                  <a:pt x="41931" y="133273"/>
                </a:cubicBezTo>
                <a:lnTo>
                  <a:pt x="77734" y="124973"/>
                </a:lnTo>
                <a:close/>
              </a:path>
            </a:pathLst>
          </a:custGeom>
          <a:solidFill>
            <a:srgbClr val="4FD1C5"/>
          </a:solidFill>
          <a:ln/>
        </p:spPr>
        <p:txBody>
          <a:bodyPr/>
          <a:lstStyle/>
          <a:p>
            <a:endParaRPr lang="zh-CN" altLang="en-US"/>
          </a:p>
        </p:txBody>
      </p:sp>
      <p:sp>
        <p:nvSpPr>
          <p:cNvPr id="38" name="Text 36"/>
          <p:cNvSpPr/>
          <p:nvPr/>
        </p:nvSpPr>
        <p:spPr>
          <a:xfrm>
            <a:off x="9002235" y="3310492"/>
            <a:ext cx="4459283"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数据模式</a:t>
            </a:r>
            <a:endParaRPr lang="en-US" sz="1600" dirty="0"/>
          </a:p>
        </p:txBody>
      </p:sp>
      <p:sp>
        <p:nvSpPr>
          <p:cNvPr id="39" name="Text 37"/>
          <p:cNvSpPr/>
          <p:nvPr/>
        </p:nvSpPr>
        <p:spPr>
          <a:xfrm>
            <a:off x="9002235" y="3606954"/>
            <a:ext cx="4446930" cy="247052"/>
          </a:xfrm>
          <a:prstGeom prst="rect">
            <a:avLst/>
          </a:prstGeom>
          <a:noFill/>
          <a:ln/>
        </p:spPr>
        <p:txBody>
          <a:bodyPr wrap="square" lIns="0" tIns="0" rIns="0" bIns="0" rtlCol="0" anchor="ctr"/>
          <a:lstStyle/>
          <a:p>
            <a:pPr>
              <a:lnSpc>
                <a:spcPct val="120000"/>
              </a:lnSpc>
            </a:pPr>
            <a:r>
              <a:rPr lang="en-US" sz="1362" dirty="0">
                <a:solidFill>
                  <a:srgbClr val="4FD1C5"/>
                </a:solidFill>
                <a:latin typeface="MiSans" pitchFamily="34" charset="0"/>
                <a:ea typeface="MiSans" pitchFamily="34" charset="-122"/>
                <a:cs typeface="MiSans" pitchFamily="34" charset="-120"/>
              </a:rPr>
              <a:t>Schema-on-Write</a:t>
            </a:r>
            <a:r>
              <a:rPr lang="en-US" sz="1362" dirty="0">
                <a:solidFill>
                  <a:srgbClr val="A0AEC0"/>
                </a:solidFill>
                <a:latin typeface="MiSans" pitchFamily="34" charset="0"/>
                <a:ea typeface="MiSans" pitchFamily="34" charset="-122"/>
                <a:cs typeface="MiSans" pitchFamily="34" charset="-120"/>
              </a:rPr>
              <a:t> - 写入前必须清洗、标准化和维度建模</a:t>
            </a:r>
            <a:endParaRPr lang="en-US" sz="1600" dirty="0"/>
          </a:p>
        </p:txBody>
      </p:sp>
      <p:sp>
        <p:nvSpPr>
          <p:cNvPr id="40" name="Shape 38"/>
          <p:cNvSpPr/>
          <p:nvPr/>
        </p:nvSpPr>
        <p:spPr>
          <a:xfrm>
            <a:off x="8576071" y="4051647"/>
            <a:ext cx="247052" cy="247052"/>
          </a:xfrm>
          <a:custGeom>
            <a:avLst/>
            <a:gdLst/>
            <a:ahLst/>
            <a:cxnLst/>
            <a:rect l="l" t="t" r="r" b="b"/>
            <a:pathLst>
              <a:path w="247052" h="247052">
                <a:moveTo>
                  <a:pt x="123526" y="0"/>
                </a:moveTo>
                <a:cubicBezTo>
                  <a:pt x="191702" y="0"/>
                  <a:pt x="247052" y="55350"/>
                  <a:pt x="247052" y="123526"/>
                </a:cubicBezTo>
                <a:cubicBezTo>
                  <a:pt x="247052" y="191702"/>
                  <a:pt x="191702" y="247052"/>
                  <a:pt x="123526" y="247052"/>
                </a:cubicBezTo>
                <a:cubicBezTo>
                  <a:pt x="55350" y="247052"/>
                  <a:pt x="0" y="191702"/>
                  <a:pt x="0" y="123526"/>
                </a:cubicBezTo>
                <a:cubicBezTo>
                  <a:pt x="0" y="55350"/>
                  <a:pt x="55350" y="0"/>
                  <a:pt x="123526" y="0"/>
                </a:cubicBezTo>
                <a:close/>
                <a:moveTo>
                  <a:pt x="111945" y="57903"/>
                </a:moveTo>
                <a:lnTo>
                  <a:pt x="111945" y="123526"/>
                </a:lnTo>
                <a:cubicBezTo>
                  <a:pt x="111945" y="127386"/>
                  <a:pt x="113875" y="131005"/>
                  <a:pt x="117108" y="133176"/>
                </a:cubicBezTo>
                <a:lnTo>
                  <a:pt x="163430" y="164058"/>
                </a:lnTo>
                <a:cubicBezTo>
                  <a:pt x="168738" y="167628"/>
                  <a:pt x="175928" y="166181"/>
                  <a:pt x="179498" y="160825"/>
                </a:cubicBezTo>
                <a:cubicBezTo>
                  <a:pt x="183069" y="155469"/>
                  <a:pt x="181622" y="148328"/>
                  <a:pt x="176266" y="144757"/>
                </a:cubicBezTo>
                <a:lnTo>
                  <a:pt x="135106" y="117350"/>
                </a:lnTo>
                <a:lnTo>
                  <a:pt x="135106" y="57903"/>
                </a:lnTo>
                <a:cubicBezTo>
                  <a:pt x="135106" y="51485"/>
                  <a:pt x="129943" y="46322"/>
                  <a:pt x="123526" y="46322"/>
                </a:cubicBezTo>
                <a:cubicBezTo>
                  <a:pt x="117108" y="46322"/>
                  <a:pt x="111945" y="51485"/>
                  <a:pt x="111945" y="57903"/>
                </a:cubicBezTo>
                <a:close/>
              </a:path>
            </a:pathLst>
          </a:custGeom>
          <a:solidFill>
            <a:srgbClr val="4FD1C5"/>
          </a:solidFill>
          <a:ln/>
        </p:spPr>
        <p:txBody>
          <a:bodyPr/>
          <a:lstStyle/>
          <a:p>
            <a:endParaRPr lang="zh-CN" altLang="en-US"/>
          </a:p>
        </p:txBody>
      </p:sp>
      <p:sp>
        <p:nvSpPr>
          <p:cNvPr id="41" name="Text 39"/>
          <p:cNvSpPr/>
          <p:nvPr/>
        </p:nvSpPr>
        <p:spPr>
          <a:xfrm>
            <a:off x="9002235" y="4002237"/>
            <a:ext cx="3532839"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处理时效</a:t>
            </a:r>
            <a:endParaRPr lang="en-US" sz="1600" dirty="0"/>
          </a:p>
        </p:txBody>
      </p:sp>
      <p:sp>
        <p:nvSpPr>
          <p:cNvPr id="42" name="Text 40"/>
          <p:cNvSpPr/>
          <p:nvPr/>
        </p:nvSpPr>
        <p:spPr>
          <a:xfrm>
            <a:off x="9002235" y="4298699"/>
            <a:ext cx="3520486" cy="247052"/>
          </a:xfrm>
          <a:prstGeom prst="rect">
            <a:avLst/>
          </a:prstGeom>
          <a:noFill/>
          <a:ln/>
        </p:spPr>
        <p:txBody>
          <a:bodyPr wrap="square" lIns="0" tIns="0" rIns="0" bIns="0" rtlCol="0" anchor="ctr"/>
          <a:lstStyle/>
          <a:p>
            <a:pPr>
              <a:lnSpc>
                <a:spcPct val="120000"/>
              </a:lnSpc>
            </a:pPr>
            <a:r>
              <a:rPr lang="en-US" sz="1362" dirty="0">
                <a:solidFill>
                  <a:srgbClr val="4FD1C5"/>
                </a:solidFill>
                <a:latin typeface="MiSans" pitchFamily="34" charset="0"/>
                <a:ea typeface="MiSans" pitchFamily="34" charset="-122"/>
                <a:cs typeface="MiSans" pitchFamily="34" charset="-120"/>
              </a:rPr>
              <a:t>T+1日终批处理</a:t>
            </a:r>
            <a:r>
              <a:rPr lang="en-US" sz="1362" dirty="0">
                <a:solidFill>
                  <a:srgbClr val="A0AEC0"/>
                </a:solidFill>
                <a:latin typeface="MiSans" pitchFamily="34" charset="0"/>
                <a:ea typeface="MiSans" pitchFamily="34" charset="-122"/>
                <a:cs typeface="MiSans" pitchFamily="34" charset="-120"/>
              </a:rPr>
              <a:t> - 凌晨批量执行,次日查询分析</a:t>
            </a:r>
            <a:endParaRPr lang="en-US" sz="1600" dirty="0"/>
          </a:p>
        </p:txBody>
      </p:sp>
      <p:sp>
        <p:nvSpPr>
          <p:cNvPr id="43" name="Shape 41"/>
          <p:cNvSpPr/>
          <p:nvPr/>
        </p:nvSpPr>
        <p:spPr>
          <a:xfrm>
            <a:off x="8248727" y="4990444"/>
            <a:ext cx="7510371" cy="3656365"/>
          </a:xfrm>
          <a:custGeom>
            <a:avLst/>
            <a:gdLst/>
            <a:ahLst/>
            <a:cxnLst/>
            <a:rect l="l" t="t" r="r" b="b"/>
            <a:pathLst>
              <a:path w="7510371" h="3656365">
                <a:moveTo>
                  <a:pt x="98832" y="0"/>
                </a:moveTo>
                <a:lnTo>
                  <a:pt x="7411539" y="0"/>
                </a:lnTo>
                <a:cubicBezTo>
                  <a:pt x="7466122" y="0"/>
                  <a:pt x="7510371" y="44248"/>
                  <a:pt x="7510371" y="98832"/>
                </a:cubicBezTo>
                <a:lnTo>
                  <a:pt x="7510371" y="3557533"/>
                </a:lnTo>
                <a:cubicBezTo>
                  <a:pt x="7510371" y="3612116"/>
                  <a:pt x="7466122" y="3656365"/>
                  <a:pt x="7411539" y="3656365"/>
                </a:cubicBezTo>
                <a:lnTo>
                  <a:pt x="98832" y="3656365"/>
                </a:lnTo>
                <a:cubicBezTo>
                  <a:pt x="44248" y="3656365"/>
                  <a:pt x="0" y="3612116"/>
                  <a:pt x="0" y="3557533"/>
                </a:cubicBezTo>
                <a:lnTo>
                  <a:pt x="0" y="98832"/>
                </a:lnTo>
                <a:cubicBezTo>
                  <a:pt x="0" y="44248"/>
                  <a:pt x="44248" y="0"/>
                  <a:pt x="98832" y="0"/>
                </a:cubicBezTo>
                <a:close/>
              </a:path>
            </a:pathLst>
          </a:custGeom>
          <a:solidFill>
            <a:srgbClr val="4A5568">
              <a:alpha val="30196"/>
            </a:srgbClr>
          </a:solidFill>
          <a:ln/>
        </p:spPr>
        <p:txBody>
          <a:bodyPr/>
          <a:lstStyle/>
          <a:p>
            <a:endParaRPr lang="zh-CN" altLang="en-US"/>
          </a:p>
        </p:txBody>
      </p:sp>
      <p:sp>
        <p:nvSpPr>
          <p:cNvPr id="44" name="Text 42"/>
          <p:cNvSpPr/>
          <p:nvPr/>
        </p:nvSpPr>
        <p:spPr>
          <a:xfrm>
            <a:off x="8495779" y="5237495"/>
            <a:ext cx="7139793" cy="345872"/>
          </a:xfrm>
          <a:prstGeom prst="rect">
            <a:avLst/>
          </a:prstGeom>
          <a:noFill/>
          <a:ln/>
        </p:spPr>
        <p:txBody>
          <a:bodyPr wrap="square" lIns="0" tIns="0" rIns="0" bIns="0" rtlCol="0" anchor="ctr"/>
          <a:lstStyle/>
          <a:p>
            <a:pPr>
              <a:lnSpc>
                <a:spcPct val="120000"/>
              </a:lnSpc>
            </a:pPr>
            <a:r>
              <a:rPr lang="en-US" sz="1945" b="1" dirty="0">
                <a:solidFill>
                  <a:srgbClr val="F7FAFC"/>
                </a:solidFill>
                <a:latin typeface="Noto Sans SC" pitchFamily="34" charset="0"/>
                <a:ea typeface="Noto Sans SC" pitchFamily="34" charset="-122"/>
                <a:cs typeface="Noto Sans SC" pitchFamily="34" charset="-120"/>
              </a:rPr>
              <a:t>面临的四大挑战</a:t>
            </a:r>
            <a:endParaRPr lang="en-US" sz="1600" dirty="0"/>
          </a:p>
        </p:txBody>
      </p:sp>
      <p:sp>
        <p:nvSpPr>
          <p:cNvPr id="45" name="Shape 43"/>
          <p:cNvSpPr/>
          <p:nvPr/>
        </p:nvSpPr>
        <p:spPr>
          <a:xfrm>
            <a:off x="8495779" y="5781009"/>
            <a:ext cx="395283" cy="395283"/>
          </a:xfrm>
          <a:custGeom>
            <a:avLst/>
            <a:gdLst/>
            <a:ahLst/>
            <a:cxnLst/>
            <a:rect l="l" t="t" r="r" b="b"/>
            <a:pathLst>
              <a:path w="395283" h="395283">
                <a:moveTo>
                  <a:pt x="197641" y="0"/>
                </a:moveTo>
                <a:lnTo>
                  <a:pt x="197641" y="0"/>
                </a:lnTo>
                <a:cubicBezTo>
                  <a:pt x="306723" y="0"/>
                  <a:pt x="395283" y="88560"/>
                  <a:pt x="395283" y="197641"/>
                </a:cubicBezTo>
                <a:lnTo>
                  <a:pt x="395283" y="197641"/>
                </a:lnTo>
                <a:cubicBezTo>
                  <a:pt x="395283" y="306723"/>
                  <a:pt x="306723" y="395283"/>
                  <a:pt x="197641" y="395283"/>
                </a:cubicBezTo>
                <a:lnTo>
                  <a:pt x="197641" y="395283"/>
                </a:lnTo>
                <a:cubicBezTo>
                  <a:pt x="88560" y="395283"/>
                  <a:pt x="0" y="306723"/>
                  <a:pt x="0" y="197641"/>
                </a:cubicBezTo>
                <a:lnTo>
                  <a:pt x="0" y="197641"/>
                </a:lnTo>
                <a:cubicBezTo>
                  <a:pt x="0" y="88560"/>
                  <a:pt x="88560" y="0"/>
                  <a:pt x="197641" y="0"/>
                </a:cubicBezTo>
                <a:close/>
              </a:path>
            </a:pathLst>
          </a:custGeom>
          <a:solidFill>
            <a:srgbClr val="4FD1C5">
              <a:alpha val="20000"/>
            </a:srgbClr>
          </a:solidFill>
          <a:ln/>
        </p:spPr>
        <p:txBody>
          <a:bodyPr/>
          <a:lstStyle/>
          <a:p>
            <a:endParaRPr lang="zh-CN" altLang="en-US"/>
          </a:p>
        </p:txBody>
      </p:sp>
      <p:sp>
        <p:nvSpPr>
          <p:cNvPr id="46" name="Text 44"/>
          <p:cNvSpPr/>
          <p:nvPr/>
        </p:nvSpPr>
        <p:spPr>
          <a:xfrm>
            <a:off x="8654529" y="5830419"/>
            <a:ext cx="172936" cy="296462"/>
          </a:xfrm>
          <a:prstGeom prst="rect">
            <a:avLst/>
          </a:prstGeom>
          <a:noFill/>
          <a:ln/>
        </p:spPr>
        <p:txBody>
          <a:bodyPr wrap="square" lIns="0" tIns="0" rIns="0" bIns="0" rtlCol="0" anchor="ctr"/>
          <a:lstStyle/>
          <a:p>
            <a:pPr>
              <a:lnSpc>
                <a:spcPct val="130000"/>
              </a:lnSpc>
            </a:pPr>
            <a:r>
              <a:rPr lang="en-US" sz="1556" b="1" dirty="0">
                <a:solidFill>
                  <a:srgbClr val="4FD1C5"/>
                </a:solidFill>
                <a:latin typeface="MiSans" pitchFamily="34" charset="0"/>
                <a:ea typeface="MiSans" pitchFamily="34" charset="-122"/>
                <a:cs typeface="MiSans" pitchFamily="34" charset="-120"/>
              </a:rPr>
              <a:t>1</a:t>
            </a:r>
            <a:endParaRPr lang="en-US" sz="1600" dirty="0"/>
          </a:p>
        </p:txBody>
      </p:sp>
      <p:sp>
        <p:nvSpPr>
          <p:cNvPr id="47" name="Text 45"/>
          <p:cNvSpPr/>
          <p:nvPr/>
        </p:nvSpPr>
        <p:spPr>
          <a:xfrm>
            <a:off x="9039293" y="5781009"/>
            <a:ext cx="4508693"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成本与扩展性瓶颈</a:t>
            </a:r>
            <a:endParaRPr lang="en-US" sz="1600" dirty="0"/>
          </a:p>
        </p:txBody>
      </p:sp>
      <p:sp>
        <p:nvSpPr>
          <p:cNvPr id="48" name="Text 46"/>
          <p:cNvSpPr/>
          <p:nvPr/>
        </p:nvSpPr>
        <p:spPr>
          <a:xfrm>
            <a:off x="9039293" y="6077471"/>
            <a:ext cx="4496340"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计算与存储强耦合,扩容被迫同时扩展,运维复杂度显著上升</a:t>
            </a:r>
            <a:endParaRPr lang="en-US" sz="1600" dirty="0"/>
          </a:p>
        </p:txBody>
      </p:sp>
      <p:sp>
        <p:nvSpPr>
          <p:cNvPr id="49" name="Shape 47"/>
          <p:cNvSpPr/>
          <p:nvPr/>
        </p:nvSpPr>
        <p:spPr>
          <a:xfrm>
            <a:off x="8495779" y="6472754"/>
            <a:ext cx="395283" cy="395283"/>
          </a:xfrm>
          <a:custGeom>
            <a:avLst/>
            <a:gdLst/>
            <a:ahLst/>
            <a:cxnLst/>
            <a:rect l="l" t="t" r="r" b="b"/>
            <a:pathLst>
              <a:path w="395283" h="395283">
                <a:moveTo>
                  <a:pt x="197641" y="0"/>
                </a:moveTo>
                <a:lnTo>
                  <a:pt x="197641" y="0"/>
                </a:lnTo>
                <a:cubicBezTo>
                  <a:pt x="306723" y="0"/>
                  <a:pt x="395283" y="88560"/>
                  <a:pt x="395283" y="197641"/>
                </a:cubicBezTo>
                <a:lnTo>
                  <a:pt x="395283" y="197641"/>
                </a:lnTo>
                <a:cubicBezTo>
                  <a:pt x="395283" y="306723"/>
                  <a:pt x="306723" y="395283"/>
                  <a:pt x="197641" y="395283"/>
                </a:cubicBezTo>
                <a:lnTo>
                  <a:pt x="197641" y="395283"/>
                </a:lnTo>
                <a:cubicBezTo>
                  <a:pt x="88560" y="395283"/>
                  <a:pt x="0" y="306723"/>
                  <a:pt x="0" y="197641"/>
                </a:cubicBezTo>
                <a:lnTo>
                  <a:pt x="0" y="197641"/>
                </a:lnTo>
                <a:cubicBezTo>
                  <a:pt x="0" y="88560"/>
                  <a:pt x="88560" y="0"/>
                  <a:pt x="197641" y="0"/>
                </a:cubicBezTo>
                <a:close/>
              </a:path>
            </a:pathLst>
          </a:custGeom>
          <a:solidFill>
            <a:srgbClr val="4FD1C5">
              <a:alpha val="20000"/>
            </a:srgbClr>
          </a:solidFill>
          <a:ln/>
        </p:spPr>
        <p:txBody>
          <a:bodyPr/>
          <a:lstStyle/>
          <a:p>
            <a:endParaRPr lang="zh-CN" altLang="en-US"/>
          </a:p>
        </p:txBody>
      </p:sp>
      <p:sp>
        <p:nvSpPr>
          <p:cNvPr id="50" name="Text 48"/>
          <p:cNvSpPr/>
          <p:nvPr/>
        </p:nvSpPr>
        <p:spPr>
          <a:xfrm>
            <a:off x="8637834" y="6522164"/>
            <a:ext cx="209994" cy="296462"/>
          </a:xfrm>
          <a:prstGeom prst="rect">
            <a:avLst/>
          </a:prstGeom>
          <a:noFill/>
          <a:ln/>
        </p:spPr>
        <p:txBody>
          <a:bodyPr wrap="square" lIns="0" tIns="0" rIns="0" bIns="0" rtlCol="0" anchor="ctr"/>
          <a:lstStyle/>
          <a:p>
            <a:pPr>
              <a:lnSpc>
                <a:spcPct val="130000"/>
              </a:lnSpc>
            </a:pPr>
            <a:r>
              <a:rPr lang="en-US" sz="1556" b="1" dirty="0">
                <a:solidFill>
                  <a:srgbClr val="4FD1C5"/>
                </a:solidFill>
                <a:latin typeface="MiSans" pitchFamily="34" charset="0"/>
                <a:ea typeface="MiSans" pitchFamily="34" charset="-122"/>
                <a:cs typeface="MiSans" pitchFamily="34" charset="-120"/>
              </a:rPr>
              <a:t>2</a:t>
            </a:r>
            <a:endParaRPr lang="en-US" sz="1600" dirty="0"/>
          </a:p>
        </p:txBody>
      </p:sp>
      <p:sp>
        <p:nvSpPr>
          <p:cNvPr id="51" name="Text 49"/>
          <p:cNvSpPr/>
          <p:nvPr/>
        </p:nvSpPr>
        <p:spPr>
          <a:xfrm>
            <a:off x="9039293" y="6472754"/>
            <a:ext cx="5113970"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数据类型支持有限</a:t>
            </a:r>
            <a:endParaRPr lang="en-US" sz="1600" dirty="0"/>
          </a:p>
        </p:txBody>
      </p:sp>
      <p:sp>
        <p:nvSpPr>
          <p:cNvPr id="52" name="Text 50"/>
          <p:cNvSpPr/>
          <p:nvPr/>
        </p:nvSpPr>
        <p:spPr>
          <a:xfrm>
            <a:off x="9039293" y="6769216"/>
            <a:ext cx="5101617"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对半结构化(JSON/XML)和非结构化数据(图片/音视频/日志)支持弱</a:t>
            </a:r>
            <a:endParaRPr lang="en-US" sz="1600" dirty="0"/>
          </a:p>
        </p:txBody>
      </p:sp>
      <p:sp>
        <p:nvSpPr>
          <p:cNvPr id="53" name="Shape 51"/>
          <p:cNvSpPr/>
          <p:nvPr/>
        </p:nvSpPr>
        <p:spPr>
          <a:xfrm>
            <a:off x="8495779" y="7164498"/>
            <a:ext cx="395283" cy="395283"/>
          </a:xfrm>
          <a:custGeom>
            <a:avLst/>
            <a:gdLst/>
            <a:ahLst/>
            <a:cxnLst/>
            <a:rect l="l" t="t" r="r" b="b"/>
            <a:pathLst>
              <a:path w="395283" h="395283">
                <a:moveTo>
                  <a:pt x="197641" y="0"/>
                </a:moveTo>
                <a:lnTo>
                  <a:pt x="197641" y="0"/>
                </a:lnTo>
                <a:cubicBezTo>
                  <a:pt x="306723" y="0"/>
                  <a:pt x="395283" y="88560"/>
                  <a:pt x="395283" y="197641"/>
                </a:cubicBezTo>
                <a:lnTo>
                  <a:pt x="395283" y="197641"/>
                </a:lnTo>
                <a:cubicBezTo>
                  <a:pt x="395283" y="306723"/>
                  <a:pt x="306723" y="395283"/>
                  <a:pt x="197641" y="395283"/>
                </a:cubicBezTo>
                <a:lnTo>
                  <a:pt x="197641" y="395283"/>
                </a:lnTo>
                <a:cubicBezTo>
                  <a:pt x="88560" y="395283"/>
                  <a:pt x="0" y="306723"/>
                  <a:pt x="0" y="197641"/>
                </a:cubicBezTo>
                <a:lnTo>
                  <a:pt x="0" y="197641"/>
                </a:lnTo>
                <a:cubicBezTo>
                  <a:pt x="0" y="88560"/>
                  <a:pt x="88560" y="0"/>
                  <a:pt x="197641" y="0"/>
                </a:cubicBezTo>
                <a:close/>
              </a:path>
            </a:pathLst>
          </a:custGeom>
          <a:solidFill>
            <a:srgbClr val="4FD1C5">
              <a:alpha val="20000"/>
            </a:srgbClr>
          </a:solidFill>
          <a:ln/>
        </p:spPr>
        <p:txBody>
          <a:bodyPr/>
          <a:lstStyle/>
          <a:p>
            <a:endParaRPr lang="zh-CN" altLang="en-US"/>
          </a:p>
        </p:txBody>
      </p:sp>
      <p:sp>
        <p:nvSpPr>
          <p:cNvPr id="54" name="Text 52"/>
          <p:cNvSpPr/>
          <p:nvPr/>
        </p:nvSpPr>
        <p:spPr>
          <a:xfrm>
            <a:off x="8635228" y="7213909"/>
            <a:ext cx="209994" cy="296462"/>
          </a:xfrm>
          <a:prstGeom prst="rect">
            <a:avLst/>
          </a:prstGeom>
          <a:noFill/>
          <a:ln/>
        </p:spPr>
        <p:txBody>
          <a:bodyPr wrap="square" lIns="0" tIns="0" rIns="0" bIns="0" rtlCol="0" anchor="ctr"/>
          <a:lstStyle/>
          <a:p>
            <a:pPr>
              <a:lnSpc>
                <a:spcPct val="130000"/>
              </a:lnSpc>
            </a:pPr>
            <a:r>
              <a:rPr lang="en-US" sz="1556" b="1" dirty="0">
                <a:solidFill>
                  <a:srgbClr val="4FD1C5"/>
                </a:solidFill>
                <a:latin typeface="MiSans" pitchFamily="34" charset="0"/>
                <a:ea typeface="MiSans" pitchFamily="34" charset="-122"/>
                <a:cs typeface="MiSans" pitchFamily="34" charset="-120"/>
              </a:rPr>
              <a:t>3</a:t>
            </a:r>
            <a:endParaRPr lang="en-US" sz="1600" dirty="0"/>
          </a:p>
        </p:txBody>
      </p:sp>
      <p:sp>
        <p:nvSpPr>
          <p:cNvPr id="55" name="Text 53"/>
          <p:cNvSpPr/>
          <p:nvPr/>
        </p:nvSpPr>
        <p:spPr>
          <a:xfrm>
            <a:off x="9039293" y="7164498"/>
            <a:ext cx="4768097"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缺乏灵活ACID事务</a:t>
            </a:r>
            <a:endParaRPr lang="en-US" sz="1600" dirty="0"/>
          </a:p>
        </p:txBody>
      </p:sp>
      <p:sp>
        <p:nvSpPr>
          <p:cNvPr id="56" name="Text 54"/>
          <p:cNvSpPr/>
          <p:nvPr/>
        </p:nvSpPr>
        <p:spPr>
          <a:xfrm>
            <a:off x="9039293" y="7460960"/>
            <a:ext cx="4755745"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难以支撑用户画像实时修正、风控规则高频更新等高变更场景</a:t>
            </a:r>
            <a:endParaRPr lang="en-US" sz="1600" dirty="0"/>
          </a:p>
        </p:txBody>
      </p:sp>
      <p:sp>
        <p:nvSpPr>
          <p:cNvPr id="57" name="Shape 55"/>
          <p:cNvSpPr/>
          <p:nvPr/>
        </p:nvSpPr>
        <p:spPr>
          <a:xfrm>
            <a:off x="8495779" y="7856243"/>
            <a:ext cx="395283" cy="395283"/>
          </a:xfrm>
          <a:custGeom>
            <a:avLst/>
            <a:gdLst/>
            <a:ahLst/>
            <a:cxnLst/>
            <a:rect l="l" t="t" r="r" b="b"/>
            <a:pathLst>
              <a:path w="395283" h="395283">
                <a:moveTo>
                  <a:pt x="197641" y="0"/>
                </a:moveTo>
                <a:lnTo>
                  <a:pt x="197641" y="0"/>
                </a:lnTo>
                <a:cubicBezTo>
                  <a:pt x="306723" y="0"/>
                  <a:pt x="395283" y="88560"/>
                  <a:pt x="395283" y="197641"/>
                </a:cubicBezTo>
                <a:lnTo>
                  <a:pt x="395283" y="197641"/>
                </a:lnTo>
                <a:cubicBezTo>
                  <a:pt x="395283" y="306723"/>
                  <a:pt x="306723" y="395283"/>
                  <a:pt x="197641" y="395283"/>
                </a:cubicBezTo>
                <a:lnTo>
                  <a:pt x="197641" y="395283"/>
                </a:lnTo>
                <a:cubicBezTo>
                  <a:pt x="88560" y="395283"/>
                  <a:pt x="0" y="306723"/>
                  <a:pt x="0" y="197641"/>
                </a:cubicBezTo>
                <a:lnTo>
                  <a:pt x="0" y="197641"/>
                </a:lnTo>
                <a:cubicBezTo>
                  <a:pt x="0" y="88560"/>
                  <a:pt x="88560" y="0"/>
                  <a:pt x="197641" y="0"/>
                </a:cubicBezTo>
                <a:close/>
              </a:path>
            </a:pathLst>
          </a:custGeom>
          <a:solidFill>
            <a:srgbClr val="4FD1C5">
              <a:alpha val="20000"/>
            </a:srgbClr>
          </a:solidFill>
          <a:ln/>
        </p:spPr>
        <p:txBody>
          <a:bodyPr/>
          <a:lstStyle/>
          <a:p>
            <a:endParaRPr lang="zh-CN" altLang="en-US"/>
          </a:p>
        </p:txBody>
      </p:sp>
      <p:sp>
        <p:nvSpPr>
          <p:cNvPr id="58" name="Text 56"/>
          <p:cNvSpPr/>
          <p:nvPr/>
        </p:nvSpPr>
        <p:spPr>
          <a:xfrm>
            <a:off x="8635421" y="7905653"/>
            <a:ext cx="209994" cy="296462"/>
          </a:xfrm>
          <a:prstGeom prst="rect">
            <a:avLst/>
          </a:prstGeom>
          <a:noFill/>
          <a:ln/>
        </p:spPr>
        <p:txBody>
          <a:bodyPr wrap="square" lIns="0" tIns="0" rIns="0" bIns="0" rtlCol="0" anchor="ctr"/>
          <a:lstStyle/>
          <a:p>
            <a:pPr>
              <a:lnSpc>
                <a:spcPct val="130000"/>
              </a:lnSpc>
            </a:pPr>
            <a:r>
              <a:rPr lang="en-US" sz="1556" b="1" dirty="0">
                <a:solidFill>
                  <a:srgbClr val="4FD1C5"/>
                </a:solidFill>
                <a:latin typeface="MiSans" pitchFamily="34" charset="0"/>
                <a:ea typeface="MiSans" pitchFamily="34" charset="-122"/>
                <a:cs typeface="MiSans" pitchFamily="34" charset="-120"/>
              </a:rPr>
              <a:t>4</a:t>
            </a:r>
            <a:endParaRPr lang="en-US" sz="1600" dirty="0"/>
          </a:p>
        </p:txBody>
      </p:sp>
      <p:sp>
        <p:nvSpPr>
          <p:cNvPr id="59" name="Text 57"/>
          <p:cNvSpPr/>
          <p:nvPr/>
        </p:nvSpPr>
        <p:spPr>
          <a:xfrm>
            <a:off x="9039293" y="7856243"/>
            <a:ext cx="4953386" cy="296462"/>
          </a:xfrm>
          <a:prstGeom prst="rect">
            <a:avLst/>
          </a:prstGeom>
          <a:noFill/>
          <a:ln/>
        </p:spPr>
        <p:txBody>
          <a:bodyPr wrap="square" lIns="0" tIns="0" rIns="0" bIns="0" rtlCol="0" anchor="ctr"/>
          <a:lstStyle/>
          <a:p>
            <a:pPr>
              <a:lnSpc>
                <a:spcPct val="130000"/>
              </a:lnSpc>
            </a:pPr>
            <a:r>
              <a:rPr lang="en-US" sz="1556" b="1" dirty="0">
                <a:solidFill>
                  <a:srgbClr val="F7FAFC"/>
                </a:solidFill>
                <a:latin typeface="MiSans" pitchFamily="34" charset="0"/>
                <a:ea typeface="MiSans" pitchFamily="34" charset="-122"/>
                <a:cs typeface="MiSans" pitchFamily="34" charset="-120"/>
              </a:rPr>
              <a:t>时效性不足与架构割裂</a:t>
            </a:r>
            <a:endParaRPr lang="en-US" sz="1600" dirty="0"/>
          </a:p>
        </p:txBody>
      </p:sp>
      <p:sp>
        <p:nvSpPr>
          <p:cNvPr id="60" name="Text 58"/>
          <p:cNvSpPr/>
          <p:nvPr/>
        </p:nvSpPr>
        <p:spPr>
          <a:xfrm>
            <a:off x="9039293" y="8152705"/>
            <a:ext cx="4941033" cy="247052"/>
          </a:xfrm>
          <a:prstGeom prst="rect">
            <a:avLst/>
          </a:prstGeom>
          <a:noFill/>
          <a:ln/>
        </p:spPr>
        <p:txBody>
          <a:bodyPr wrap="square" lIns="0" tIns="0" rIns="0" bIns="0" rtlCol="0" anchor="ctr"/>
          <a:lstStyle/>
          <a:p>
            <a:pPr>
              <a:lnSpc>
                <a:spcPct val="120000"/>
              </a:lnSpc>
            </a:pPr>
            <a:r>
              <a:rPr lang="en-US" sz="1362" dirty="0">
                <a:solidFill>
                  <a:srgbClr val="A0AEC0"/>
                </a:solidFill>
                <a:latin typeface="MiSans" pitchFamily="34" charset="0"/>
                <a:ea typeface="MiSans" pitchFamily="34" charset="-122"/>
                <a:cs typeface="MiSans" pitchFamily="34" charset="-120"/>
              </a:rPr>
              <a:t>T+1批处理难以支持分钟级监控,需额外搭建实时链路,口径难统一</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89639" y="489639"/>
            <a:ext cx="3537639" cy="293783"/>
          </a:xfrm>
          <a:prstGeom prst="rect">
            <a:avLst/>
          </a:prstGeom>
          <a:noFill/>
          <a:ln/>
        </p:spPr>
        <p:txBody>
          <a:bodyPr wrap="square" lIns="0" tIns="0" rIns="0" bIns="0" rtlCol="0" anchor="ctr"/>
          <a:lstStyle/>
          <a:p>
            <a:pPr>
              <a:lnSpc>
                <a:spcPct val="130000"/>
              </a:lnSpc>
            </a:pPr>
            <a:r>
              <a:rPr lang="en-US" sz="1542" b="1" kern="0" spc="77" dirty="0">
                <a:solidFill>
                  <a:srgbClr val="4FD1C5"/>
                </a:solidFill>
                <a:latin typeface="MiSans" pitchFamily="34" charset="0"/>
                <a:ea typeface="MiSans" pitchFamily="34" charset="-122"/>
                <a:cs typeface="MiSans" pitchFamily="34" charset="-120"/>
              </a:rPr>
              <a:t>DATA ARCHITECTURE EVOLUTION</a:t>
            </a:r>
            <a:endParaRPr lang="en-US" sz="1600" dirty="0"/>
          </a:p>
        </p:txBody>
      </p:sp>
      <p:sp>
        <p:nvSpPr>
          <p:cNvPr id="3" name="Text 1"/>
          <p:cNvSpPr/>
          <p:nvPr/>
        </p:nvSpPr>
        <p:spPr>
          <a:xfrm>
            <a:off x="489639" y="881349"/>
            <a:ext cx="15497060" cy="489639"/>
          </a:xfrm>
          <a:prstGeom prst="rect">
            <a:avLst/>
          </a:prstGeom>
          <a:noFill/>
          <a:ln/>
        </p:spPr>
        <p:txBody>
          <a:bodyPr wrap="square" lIns="0" tIns="0" rIns="0" bIns="0" rtlCol="0" anchor="ctr"/>
          <a:lstStyle/>
          <a:p>
            <a:pPr>
              <a:lnSpc>
                <a:spcPct val="90000"/>
              </a:lnSpc>
            </a:pPr>
            <a:r>
              <a:rPr lang="en-US" sz="3470" b="1" dirty="0">
                <a:solidFill>
                  <a:srgbClr val="F7FAFC"/>
                </a:solidFill>
                <a:latin typeface="Noto Sans SC" pitchFamily="34" charset="0"/>
                <a:ea typeface="Noto Sans SC" pitchFamily="34" charset="-122"/>
                <a:cs typeface="Noto Sans SC" pitchFamily="34" charset="-120"/>
              </a:rPr>
              <a:t>第二代：数据湖的兴起与沼泽化</a:t>
            </a:r>
            <a:endParaRPr lang="en-US" sz="1600" dirty="0"/>
          </a:p>
        </p:txBody>
      </p:sp>
      <p:sp>
        <p:nvSpPr>
          <p:cNvPr id="4" name="Shape 2"/>
          <p:cNvSpPr/>
          <p:nvPr/>
        </p:nvSpPr>
        <p:spPr>
          <a:xfrm>
            <a:off x="489639" y="1517880"/>
            <a:ext cx="979277" cy="48964"/>
          </a:xfrm>
          <a:custGeom>
            <a:avLst/>
            <a:gdLst/>
            <a:ahLst/>
            <a:cxnLst/>
            <a:rect l="l" t="t" r="r" b="b"/>
            <a:pathLst>
              <a:path w="979277" h="48964">
                <a:moveTo>
                  <a:pt x="0" y="0"/>
                </a:moveTo>
                <a:lnTo>
                  <a:pt x="979277" y="0"/>
                </a:lnTo>
                <a:lnTo>
                  <a:pt x="979277" y="48964"/>
                </a:lnTo>
                <a:lnTo>
                  <a:pt x="0" y="48964"/>
                </a:lnTo>
                <a:lnTo>
                  <a:pt x="0" y="0"/>
                </a:lnTo>
                <a:close/>
              </a:path>
            </a:pathLst>
          </a:custGeom>
          <a:solidFill>
            <a:srgbClr val="4FD1C5"/>
          </a:solidFill>
          <a:ln/>
        </p:spPr>
        <p:txBody>
          <a:bodyPr/>
          <a:lstStyle/>
          <a:p>
            <a:endParaRPr lang="zh-CN" altLang="en-US"/>
          </a:p>
        </p:txBody>
      </p:sp>
      <p:sp>
        <p:nvSpPr>
          <p:cNvPr id="5" name="Shape 3"/>
          <p:cNvSpPr/>
          <p:nvPr/>
        </p:nvSpPr>
        <p:spPr>
          <a:xfrm>
            <a:off x="514120" y="1811663"/>
            <a:ext cx="7491470" cy="3084723"/>
          </a:xfrm>
          <a:custGeom>
            <a:avLst/>
            <a:gdLst/>
            <a:ahLst/>
            <a:cxnLst/>
            <a:rect l="l" t="t" r="r" b="b"/>
            <a:pathLst>
              <a:path w="7491470" h="3084723">
                <a:moveTo>
                  <a:pt x="48964" y="0"/>
                </a:moveTo>
                <a:lnTo>
                  <a:pt x="7393530" y="0"/>
                </a:lnTo>
                <a:cubicBezTo>
                  <a:pt x="7447621" y="0"/>
                  <a:pt x="7491470" y="43849"/>
                  <a:pt x="7491470" y="97940"/>
                </a:cubicBezTo>
                <a:lnTo>
                  <a:pt x="7491470" y="2986783"/>
                </a:lnTo>
                <a:cubicBezTo>
                  <a:pt x="7491470" y="3040874"/>
                  <a:pt x="7447621" y="3084723"/>
                  <a:pt x="7393530" y="3084723"/>
                </a:cubicBezTo>
                <a:lnTo>
                  <a:pt x="48964" y="3084723"/>
                </a:lnTo>
                <a:cubicBezTo>
                  <a:pt x="21922" y="3084723"/>
                  <a:pt x="0" y="3062801"/>
                  <a:pt x="0" y="3035759"/>
                </a:cubicBezTo>
                <a:lnTo>
                  <a:pt x="0" y="48964"/>
                </a:lnTo>
                <a:cubicBezTo>
                  <a:pt x="0" y="21940"/>
                  <a:pt x="21940" y="0"/>
                  <a:pt x="48964" y="0"/>
                </a:cubicBezTo>
                <a:close/>
              </a:path>
            </a:pathLst>
          </a:custGeom>
          <a:solidFill>
            <a:srgbClr val="4FD1C5">
              <a:alpha val="10196"/>
            </a:srgbClr>
          </a:solidFill>
          <a:ln/>
        </p:spPr>
        <p:txBody>
          <a:bodyPr/>
          <a:lstStyle/>
          <a:p>
            <a:endParaRPr lang="zh-CN" altLang="en-US"/>
          </a:p>
        </p:txBody>
      </p:sp>
      <p:sp>
        <p:nvSpPr>
          <p:cNvPr id="6" name="Shape 4"/>
          <p:cNvSpPr/>
          <p:nvPr/>
        </p:nvSpPr>
        <p:spPr>
          <a:xfrm>
            <a:off x="514120" y="1811663"/>
            <a:ext cx="48964" cy="3084723"/>
          </a:xfrm>
          <a:custGeom>
            <a:avLst/>
            <a:gdLst/>
            <a:ahLst/>
            <a:cxnLst/>
            <a:rect l="l" t="t" r="r" b="b"/>
            <a:pathLst>
              <a:path w="48964" h="3084723">
                <a:moveTo>
                  <a:pt x="48964" y="0"/>
                </a:moveTo>
                <a:lnTo>
                  <a:pt x="48964" y="0"/>
                </a:lnTo>
                <a:lnTo>
                  <a:pt x="48964" y="3084723"/>
                </a:lnTo>
                <a:lnTo>
                  <a:pt x="48964" y="3084723"/>
                </a:lnTo>
                <a:cubicBezTo>
                  <a:pt x="21922" y="3084723"/>
                  <a:pt x="0" y="3062801"/>
                  <a:pt x="0" y="3035759"/>
                </a:cubicBezTo>
                <a:lnTo>
                  <a:pt x="0" y="48964"/>
                </a:lnTo>
                <a:cubicBezTo>
                  <a:pt x="0" y="21940"/>
                  <a:pt x="21940" y="0"/>
                  <a:pt x="48964" y="0"/>
                </a:cubicBezTo>
                <a:close/>
              </a:path>
            </a:pathLst>
          </a:custGeom>
          <a:solidFill>
            <a:srgbClr val="4FD1C5"/>
          </a:solidFill>
          <a:ln/>
        </p:spPr>
        <p:txBody>
          <a:bodyPr/>
          <a:lstStyle/>
          <a:p>
            <a:endParaRPr lang="zh-CN" altLang="en-US"/>
          </a:p>
        </p:txBody>
      </p:sp>
      <p:sp>
        <p:nvSpPr>
          <p:cNvPr id="7" name="Text 5"/>
          <p:cNvSpPr/>
          <p:nvPr/>
        </p:nvSpPr>
        <p:spPr>
          <a:xfrm>
            <a:off x="783422" y="2056482"/>
            <a:ext cx="7099759" cy="342747"/>
          </a:xfrm>
          <a:prstGeom prst="rect">
            <a:avLst/>
          </a:prstGeom>
          <a:noFill/>
          <a:ln/>
        </p:spPr>
        <p:txBody>
          <a:bodyPr wrap="square" lIns="0" tIns="0" rIns="0" bIns="0" rtlCol="0" anchor="ctr"/>
          <a:lstStyle/>
          <a:p>
            <a:pPr>
              <a:lnSpc>
                <a:spcPct val="120000"/>
              </a:lnSpc>
            </a:pPr>
            <a:r>
              <a:rPr lang="en-US" sz="1928" b="1" dirty="0">
                <a:solidFill>
                  <a:srgbClr val="F7FAFC"/>
                </a:solidFill>
                <a:latin typeface="Noto Sans SC" pitchFamily="34" charset="0"/>
                <a:ea typeface="Noto Sans SC" pitchFamily="34" charset="-122"/>
                <a:cs typeface="Noto Sans SC" pitchFamily="34" charset="-120"/>
              </a:rPr>
              <a:t>数据湖的目标与核心理念</a:t>
            </a:r>
            <a:endParaRPr lang="en-US" sz="1600" dirty="0"/>
          </a:p>
        </p:txBody>
      </p:sp>
      <p:sp>
        <p:nvSpPr>
          <p:cNvPr id="8" name="Shape 6"/>
          <p:cNvSpPr/>
          <p:nvPr/>
        </p:nvSpPr>
        <p:spPr>
          <a:xfrm>
            <a:off x="829325" y="2644048"/>
            <a:ext cx="214217" cy="244819"/>
          </a:xfrm>
          <a:custGeom>
            <a:avLst/>
            <a:gdLst/>
            <a:ahLst/>
            <a:cxnLst/>
            <a:rect l="l" t="t" r="r" b="b"/>
            <a:pathLst>
              <a:path w="214217" h="244819">
                <a:moveTo>
                  <a:pt x="122410" y="15301"/>
                </a:moveTo>
                <a:cubicBezTo>
                  <a:pt x="122410" y="6838"/>
                  <a:pt x="115572" y="0"/>
                  <a:pt x="107108" y="0"/>
                </a:cubicBezTo>
                <a:cubicBezTo>
                  <a:pt x="98645" y="0"/>
                  <a:pt x="91807" y="6838"/>
                  <a:pt x="91807" y="15301"/>
                </a:cubicBezTo>
                <a:lnTo>
                  <a:pt x="91807" y="116050"/>
                </a:lnTo>
                <a:lnTo>
                  <a:pt x="72011" y="96254"/>
                </a:lnTo>
                <a:cubicBezTo>
                  <a:pt x="66034" y="90277"/>
                  <a:pt x="56328" y="90277"/>
                  <a:pt x="50351" y="96254"/>
                </a:cubicBezTo>
                <a:cubicBezTo>
                  <a:pt x="44373" y="102231"/>
                  <a:pt x="44373" y="111938"/>
                  <a:pt x="50351" y="117915"/>
                </a:cubicBezTo>
                <a:lnTo>
                  <a:pt x="96254" y="163819"/>
                </a:lnTo>
                <a:cubicBezTo>
                  <a:pt x="102231" y="169796"/>
                  <a:pt x="111938" y="169796"/>
                  <a:pt x="117915" y="163819"/>
                </a:cubicBezTo>
                <a:lnTo>
                  <a:pt x="163819" y="117915"/>
                </a:lnTo>
                <a:cubicBezTo>
                  <a:pt x="169796" y="111938"/>
                  <a:pt x="169796" y="102231"/>
                  <a:pt x="163819" y="96254"/>
                </a:cubicBezTo>
                <a:cubicBezTo>
                  <a:pt x="157841" y="90277"/>
                  <a:pt x="148135" y="90277"/>
                  <a:pt x="142158" y="96254"/>
                </a:cubicBezTo>
                <a:lnTo>
                  <a:pt x="122410" y="116050"/>
                </a:lnTo>
                <a:lnTo>
                  <a:pt x="122410" y="15301"/>
                </a:lnTo>
                <a:close/>
                <a:moveTo>
                  <a:pt x="30602" y="153012"/>
                </a:moveTo>
                <a:cubicBezTo>
                  <a:pt x="13723" y="153012"/>
                  <a:pt x="0" y="166735"/>
                  <a:pt x="0" y="183614"/>
                </a:cubicBezTo>
                <a:lnTo>
                  <a:pt x="0" y="198916"/>
                </a:lnTo>
                <a:cubicBezTo>
                  <a:pt x="0" y="215795"/>
                  <a:pt x="13723" y="229518"/>
                  <a:pt x="30602" y="229518"/>
                </a:cubicBezTo>
                <a:lnTo>
                  <a:pt x="183614" y="229518"/>
                </a:lnTo>
                <a:cubicBezTo>
                  <a:pt x="200494" y="229518"/>
                  <a:pt x="214217" y="215795"/>
                  <a:pt x="214217" y="198916"/>
                </a:cubicBezTo>
                <a:lnTo>
                  <a:pt x="214217" y="183614"/>
                </a:lnTo>
                <a:cubicBezTo>
                  <a:pt x="214217" y="166735"/>
                  <a:pt x="200494" y="153012"/>
                  <a:pt x="183614" y="153012"/>
                </a:cubicBezTo>
                <a:lnTo>
                  <a:pt x="161189" y="153012"/>
                </a:lnTo>
                <a:lnTo>
                  <a:pt x="134125" y="180076"/>
                </a:lnTo>
                <a:cubicBezTo>
                  <a:pt x="119206" y="194995"/>
                  <a:pt x="94963" y="194995"/>
                  <a:pt x="80044" y="180076"/>
                </a:cubicBezTo>
                <a:lnTo>
                  <a:pt x="53028" y="153012"/>
                </a:lnTo>
                <a:lnTo>
                  <a:pt x="30602" y="153012"/>
                </a:lnTo>
                <a:close/>
                <a:moveTo>
                  <a:pt x="175964" y="179789"/>
                </a:moveTo>
                <a:cubicBezTo>
                  <a:pt x="182298" y="179789"/>
                  <a:pt x="187440" y="184931"/>
                  <a:pt x="187440" y="191265"/>
                </a:cubicBezTo>
                <a:cubicBezTo>
                  <a:pt x="187440" y="197599"/>
                  <a:pt x="182298" y="202741"/>
                  <a:pt x="175964" y="202741"/>
                </a:cubicBezTo>
                <a:cubicBezTo>
                  <a:pt x="169630" y="202741"/>
                  <a:pt x="164488" y="197599"/>
                  <a:pt x="164488" y="191265"/>
                </a:cubicBezTo>
                <a:cubicBezTo>
                  <a:pt x="164488" y="184931"/>
                  <a:pt x="169630" y="179789"/>
                  <a:pt x="175964" y="179789"/>
                </a:cubicBezTo>
                <a:close/>
              </a:path>
            </a:pathLst>
          </a:custGeom>
          <a:solidFill>
            <a:srgbClr val="4FD1C5"/>
          </a:solidFill>
          <a:ln/>
        </p:spPr>
        <p:txBody>
          <a:bodyPr/>
          <a:lstStyle/>
          <a:p>
            <a:endParaRPr lang="zh-CN" altLang="en-US"/>
          </a:p>
        </p:txBody>
      </p:sp>
      <p:sp>
        <p:nvSpPr>
          <p:cNvPr id="9" name="Text 7"/>
          <p:cNvSpPr/>
          <p:nvPr/>
        </p:nvSpPr>
        <p:spPr>
          <a:xfrm>
            <a:off x="1236337" y="2595084"/>
            <a:ext cx="4920867" cy="293783"/>
          </a:xfrm>
          <a:prstGeom prst="rect">
            <a:avLst/>
          </a:prstGeom>
          <a:noFill/>
          <a:ln/>
        </p:spPr>
        <p:txBody>
          <a:bodyPr wrap="square" lIns="0" tIns="0" rIns="0" bIns="0" rtlCol="0" anchor="ctr"/>
          <a:lstStyle/>
          <a:p>
            <a:pPr>
              <a:lnSpc>
                <a:spcPct val="130000"/>
              </a:lnSpc>
            </a:pPr>
            <a:r>
              <a:rPr lang="en-US" sz="1542" b="1" dirty="0">
                <a:solidFill>
                  <a:srgbClr val="F7FAFC"/>
                </a:solidFill>
                <a:latin typeface="MiSans" pitchFamily="34" charset="0"/>
                <a:ea typeface="MiSans" pitchFamily="34" charset="-122"/>
                <a:cs typeface="MiSans" pitchFamily="34" charset="-120"/>
              </a:rPr>
              <a:t>一切数据先"倒"进来</a:t>
            </a:r>
            <a:endParaRPr lang="en-US" sz="1600" dirty="0"/>
          </a:p>
        </p:txBody>
      </p:sp>
      <p:sp>
        <p:nvSpPr>
          <p:cNvPr id="10" name="Text 8"/>
          <p:cNvSpPr/>
          <p:nvPr/>
        </p:nvSpPr>
        <p:spPr>
          <a:xfrm>
            <a:off x="1236337" y="2888867"/>
            <a:ext cx="4908627" cy="244819"/>
          </a:xfrm>
          <a:prstGeom prst="rect">
            <a:avLst/>
          </a:prstGeom>
          <a:noFill/>
          <a:ln/>
        </p:spPr>
        <p:txBody>
          <a:bodyPr wrap="square" lIns="0" tIns="0" rIns="0" bIns="0" rtlCol="0" anchor="ctr"/>
          <a:lstStyle/>
          <a:p>
            <a:pPr>
              <a:lnSpc>
                <a:spcPct val="120000"/>
              </a:lnSpc>
            </a:pPr>
            <a:r>
              <a:rPr lang="en-US" sz="1349" dirty="0">
                <a:solidFill>
                  <a:srgbClr val="A0AEC0"/>
                </a:solidFill>
                <a:latin typeface="MiSans" pitchFamily="34" charset="0"/>
                <a:ea typeface="MiSans" pitchFamily="34" charset="-122"/>
                <a:cs typeface="MiSans" pitchFamily="34" charset="-120"/>
              </a:rPr>
              <a:t>做到"数据不丢",即使暂时没有明确使用场景,也先以原始形态保留</a:t>
            </a:r>
            <a:endParaRPr lang="en-US" sz="1600" dirty="0"/>
          </a:p>
        </p:txBody>
      </p:sp>
      <p:sp>
        <p:nvSpPr>
          <p:cNvPr id="11" name="Shape 9"/>
          <p:cNvSpPr/>
          <p:nvPr/>
        </p:nvSpPr>
        <p:spPr>
          <a:xfrm>
            <a:off x="829325" y="3329542"/>
            <a:ext cx="214217" cy="244819"/>
          </a:xfrm>
          <a:custGeom>
            <a:avLst/>
            <a:gdLst/>
            <a:ahLst/>
            <a:cxnLst/>
            <a:rect l="l" t="t" r="r" b="b"/>
            <a:pathLst>
              <a:path w="214217" h="244819">
                <a:moveTo>
                  <a:pt x="30602" y="15301"/>
                </a:moveTo>
                <a:cubicBezTo>
                  <a:pt x="13723" y="15301"/>
                  <a:pt x="0" y="29024"/>
                  <a:pt x="0" y="45904"/>
                </a:cubicBezTo>
                <a:lnTo>
                  <a:pt x="0" y="124370"/>
                </a:lnTo>
                <a:cubicBezTo>
                  <a:pt x="8655" y="118297"/>
                  <a:pt x="19222" y="114759"/>
                  <a:pt x="30602" y="114759"/>
                </a:cubicBezTo>
                <a:lnTo>
                  <a:pt x="183614" y="114759"/>
                </a:lnTo>
                <a:cubicBezTo>
                  <a:pt x="194995" y="114759"/>
                  <a:pt x="205562" y="118297"/>
                  <a:pt x="214217" y="124370"/>
                </a:cubicBezTo>
                <a:lnTo>
                  <a:pt x="214217" y="45904"/>
                </a:lnTo>
                <a:cubicBezTo>
                  <a:pt x="214217" y="29024"/>
                  <a:pt x="200494" y="15301"/>
                  <a:pt x="183614" y="15301"/>
                </a:cubicBezTo>
                <a:lnTo>
                  <a:pt x="30602" y="15301"/>
                </a:lnTo>
                <a:close/>
                <a:moveTo>
                  <a:pt x="214217" y="168313"/>
                </a:moveTo>
                <a:cubicBezTo>
                  <a:pt x="214217" y="151434"/>
                  <a:pt x="200494" y="137711"/>
                  <a:pt x="183614" y="137711"/>
                </a:cubicBezTo>
                <a:lnTo>
                  <a:pt x="30602" y="137711"/>
                </a:lnTo>
                <a:cubicBezTo>
                  <a:pt x="13723" y="137711"/>
                  <a:pt x="0" y="151434"/>
                  <a:pt x="0" y="168313"/>
                </a:cubicBezTo>
                <a:lnTo>
                  <a:pt x="0" y="198916"/>
                </a:lnTo>
                <a:cubicBezTo>
                  <a:pt x="0" y="215795"/>
                  <a:pt x="13723" y="229518"/>
                  <a:pt x="30602" y="229518"/>
                </a:cubicBezTo>
                <a:lnTo>
                  <a:pt x="183614" y="229518"/>
                </a:lnTo>
                <a:cubicBezTo>
                  <a:pt x="200494" y="229518"/>
                  <a:pt x="214217" y="215795"/>
                  <a:pt x="214217" y="198916"/>
                </a:cubicBezTo>
                <a:lnTo>
                  <a:pt x="214217" y="168313"/>
                </a:lnTo>
                <a:close/>
                <a:moveTo>
                  <a:pt x="107108" y="183614"/>
                </a:moveTo>
                <a:cubicBezTo>
                  <a:pt x="107108" y="175169"/>
                  <a:pt x="113965" y="168313"/>
                  <a:pt x="122410" y="168313"/>
                </a:cubicBezTo>
                <a:cubicBezTo>
                  <a:pt x="130855" y="168313"/>
                  <a:pt x="137711" y="175169"/>
                  <a:pt x="137711" y="183614"/>
                </a:cubicBezTo>
                <a:cubicBezTo>
                  <a:pt x="137711" y="192059"/>
                  <a:pt x="130855" y="198916"/>
                  <a:pt x="122410" y="198916"/>
                </a:cubicBezTo>
                <a:cubicBezTo>
                  <a:pt x="113965" y="198916"/>
                  <a:pt x="107108" y="192059"/>
                  <a:pt x="107108" y="183614"/>
                </a:cubicBezTo>
                <a:close/>
                <a:moveTo>
                  <a:pt x="168313" y="168313"/>
                </a:moveTo>
                <a:cubicBezTo>
                  <a:pt x="176758" y="168313"/>
                  <a:pt x="183614" y="175169"/>
                  <a:pt x="183614" y="183614"/>
                </a:cubicBezTo>
                <a:cubicBezTo>
                  <a:pt x="183614" y="192059"/>
                  <a:pt x="176758" y="198916"/>
                  <a:pt x="168313" y="198916"/>
                </a:cubicBezTo>
                <a:cubicBezTo>
                  <a:pt x="159868" y="198916"/>
                  <a:pt x="153012" y="192059"/>
                  <a:pt x="153012" y="183614"/>
                </a:cubicBezTo>
                <a:cubicBezTo>
                  <a:pt x="153012" y="175169"/>
                  <a:pt x="159868" y="168313"/>
                  <a:pt x="168313" y="168313"/>
                </a:cubicBezTo>
                <a:close/>
              </a:path>
            </a:pathLst>
          </a:custGeom>
          <a:solidFill>
            <a:srgbClr val="4FD1C5"/>
          </a:solidFill>
          <a:ln/>
        </p:spPr>
        <p:txBody>
          <a:bodyPr/>
          <a:lstStyle/>
          <a:p>
            <a:endParaRPr lang="zh-CN" altLang="en-US"/>
          </a:p>
        </p:txBody>
      </p:sp>
      <p:sp>
        <p:nvSpPr>
          <p:cNvPr id="12" name="Text 10"/>
          <p:cNvSpPr/>
          <p:nvPr/>
        </p:nvSpPr>
        <p:spPr>
          <a:xfrm>
            <a:off x="1236337" y="3280578"/>
            <a:ext cx="5643084" cy="293783"/>
          </a:xfrm>
          <a:prstGeom prst="rect">
            <a:avLst/>
          </a:prstGeom>
          <a:noFill/>
          <a:ln/>
        </p:spPr>
        <p:txBody>
          <a:bodyPr wrap="square" lIns="0" tIns="0" rIns="0" bIns="0" rtlCol="0" anchor="ctr"/>
          <a:lstStyle/>
          <a:p>
            <a:pPr>
              <a:lnSpc>
                <a:spcPct val="130000"/>
              </a:lnSpc>
            </a:pPr>
            <a:r>
              <a:rPr lang="en-US" sz="1542" b="1" dirty="0">
                <a:solidFill>
                  <a:srgbClr val="F7FAFC"/>
                </a:solidFill>
                <a:latin typeface="MiSans" pitchFamily="34" charset="0"/>
                <a:ea typeface="MiSans" pitchFamily="34" charset="-122"/>
                <a:cs typeface="MiSans" pitchFamily="34" charset="-120"/>
              </a:rPr>
              <a:t>低成本存储</a:t>
            </a:r>
            <a:endParaRPr lang="en-US" sz="1600" dirty="0"/>
          </a:p>
        </p:txBody>
      </p:sp>
      <p:sp>
        <p:nvSpPr>
          <p:cNvPr id="13" name="Text 11"/>
          <p:cNvSpPr/>
          <p:nvPr/>
        </p:nvSpPr>
        <p:spPr>
          <a:xfrm>
            <a:off x="1236337" y="3574361"/>
            <a:ext cx="5630843" cy="244819"/>
          </a:xfrm>
          <a:prstGeom prst="rect">
            <a:avLst/>
          </a:prstGeom>
          <a:noFill/>
          <a:ln/>
        </p:spPr>
        <p:txBody>
          <a:bodyPr wrap="square" lIns="0" tIns="0" rIns="0" bIns="0" rtlCol="0" anchor="ctr"/>
          <a:lstStyle/>
          <a:p>
            <a:pPr>
              <a:lnSpc>
                <a:spcPct val="120000"/>
              </a:lnSpc>
            </a:pPr>
            <a:r>
              <a:rPr lang="en-US" sz="1349" dirty="0">
                <a:solidFill>
                  <a:srgbClr val="A0AEC0"/>
                </a:solidFill>
                <a:latin typeface="MiSans" pitchFamily="34" charset="0"/>
                <a:ea typeface="MiSans" pitchFamily="34" charset="-122"/>
                <a:cs typeface="MiSans" pitchFamily="34" charset="-120"/>
              </a:rPr>
              <a:t>使用HDFS/S3/OSS/Azure Blob Storage等,存储与计算解耦,降低长期成本</a:t>
            </a:r>
            <a:endParaRPr lang="en-US" sz="1600" dirty="0"/>
          </a:p>
        </p:txBody>
      </p:sp>
      <p:sp>
        <p:nvSpPr>
          <p:cNvPr id="14" name="Shape 12"/>
          <p:cNvSpPr/>
          <p:nvPr/>
        </p:nvSpPr>
        <p:spPr>
          <a:xfrm>
            <a:off x="814024" y="4015036"/>
            <a:ext cx="244819" cy="244819"/>
          </a:xfrm>
          <a:custGeom>
            <a:avLst/>
            <a:gdLst/>
            <a:ahLst/>
            <a:cxnLst/>
            <a:rect l="l" t="t" r="r" b="b"/>
            <a:pathLst>
              <a:path w="244819" h="244819">
                <a:moveTo>
                  <a:pt x="122410" y="67564"/>
                </a:moveTo>
                <a:lnTo>
                  <a:pt x="122410" y="215460"/>
                </a:lnTo>
                <a:lnTo>
                  <a:pt x="122649" y="215364"/>
                </a:lnTo>
                <a:cubicBezTo>
                  <a:pt x="148756" y="204510"/>
                  <a:pt x="176777" y="198916"/>
                  <a:pt x="205036" y="198916"/>
                </a:cubicBezTo>
                <a:lnTo>
                  <a:pt x="214217" y="198916"/>
                </a:lnTo>
                <a:lnTo>
                  <a:pt x="214217" y="45904"/>
                </a:lnTo>
                <a:lnTo>
                  <a:pt x="205036" y="45904"/>
                </a:lnTo>
                <a:cubicBezTo>
                  <a:pt x="184858" y="45904"/>
                  <a:pt x="164823" y="49920"/>
                  <a:pt x="146174" y="57666"/>
                </a:cubicBezTo>
                <a:cubicBezTo>
                  <a:pt x="138141" y="61014"/>
                  <a:pt x="130204" y="64313"/>
                  <a:pt x="122410" y="67564"/>
                </a:cubicBezTo>
                <a:close/>
                <a:moveTo>
                  <a:pt x="110408" y="29407"/>
                </a:moveTo>
                <a:lnTo>
                  <a:pt x="122410" y="34428"/>
                </a:lnTo>
                <a:lnTo>
                  <a:pt x="134412" y="29407"/>
                </a:lnTo>
                <a:cubicBezTo>
                  <a:pt x="156790" y="20083"/>
                  <a:pt x="180793" y="15301"/>
                  <a:pt x="205036" y="15301"/>
                </a:cubicBezTo>
                <a:lnTo>
                  <a:pt x="221867" y="15301"/>
                </a:lnTo>
                <a:cubicBezTo>
                  <a:pt x="234539" y="15301"/>
                  <a:pt x="244819" y="25582"/>
                  <a:pt x="244819" y="38253"/>
                </a:cubicBezTo>
                <a:lnTo>
                  <a:pt x="244819" y="206566"/>
                </a:lnTo>
                <a:cubicBezTo>
                  <a:pt x="244819" y="219238"/>
                  <a:pt x="234539" y="229518"/>
                  <a:pt x="221867" y="229518"/>
                </a:cubicBezTo>
                <a:lnTo>
                  <a:pt x="205036" y="229518"/>
                </a:lnTo>
                <a:cubicBezTo>
                  <a:pt x="180793" y="229518"/>
                  <a:pt x="156790" y="234300"/>
                  <a:pt x="134412" y="243624"/>
                </a:cubicBezTo>
                <a:lnTo>
                  <a:pt x="128291" y="246158"/>
                </a:lnTo>
                <a:cubicBezTo>
                  <a:pt x="124514" y="247736"/>
                  <a:pt x="120306" y="247736"/>
                  <a:pt x="116528" y="246158"/>
                </a:cubicBezTo>
                <a:lnTo>
                  <a:pt x="110408" y="243624"/>
                </a:lnTo>
                <a:cubicBezTo>
                  <a:pt x="88030" y="234300"/>
                  <a:pt x="64026" y="229518"/>
                  <a:pt x="39783" y="229518"/>
                </a:cubicBezTo>
                <a:lnTo>
                  <a:pt x="22952" y="229518"/>
                </a:lnTo>
                <a:cubicBezTo>
                  <a:pt x="10280" y="229518"/>
                  <a:pt x="0" y="219238"/>
                  <a:pt x="0" y="206566"/>
                </a:cubicBezTo>
                <a:lnTo>
                  <a:pt x="0" y="38253"/>
                </a:lnTo>
                <a:cubicBezTo>
                  <a:pt x="0" y="25582"/>
                  <a:pt x="10280" y="15301"/>
                  <a:pt x="22952" y="15301"/>
                </a:cubicBezTo>
                <a:lnTo>
                  <a:pt x="39783" y="15301"/>
                </a:lnTo>
                <a:cubicBezTo>
                  <a:pt x="64026" y="15301"/>
                  <a:pt x="88030" y="20083"/>
                  <a:pt x="110408" y="29407"/>
                </a:cubicBezTo>
                <a:close/>
              </a:path>
            </a:pathLst>
          </a:custGeom>
          <a:solidFill>
            <a:srgbClr val="4FD1C5"/>
          </a:solidFill>
          <a:ln/>
        </p:spPr>
        <p:txBody>
          <a:bodyPr/>
          <a:lstStyle/>
          <a:p>
            <a:endParaRPr lang="zh-CN" altLang="en-US"/>
          </a:p>
        </p:txBody>
      </p:sp>
      <p:sp>
        <p:nvSpPr>
          <p:cNvPr id="15" name="Text 13"/>
          <p:cNvSpPr/>
          <p:nvPr/>
        </p:nvSpPr>
        <p:spPr>
          <a:xfrm>
            <a:off x="1236337" y="3966072"/>
            <a:ext cx="5630843" cy="293783"/>
          </a:xfrm>
          <a:prstGeom prst="rect">
            <a:avLst/>
          </a:prstGeom>
          <a:noFill/>
          <a:ln/>
        </p:spPr>
        <p:txBody>
          <a:bodyPr wrap="square" lIns="0" tIns="0" rIns="0" bIns="0" rtlCol="0" anchor="ctr"/>
          <a:lstStyle/>
          <a:p>
            <a:pPr>
              <a:lnSpc>
                <a:spcPct val="130000"/>
              </a:lnSpc>
            </a:pPr>
            <a:r>
              <a:rPr lang="en-US" sz="1542" b="1" dirty="0">
                <a:solidFill>
                  <a:srgbClr val="F7FAFC"/>
                </a:solidFill>
                <a:latin typeface="MiSans" pitchFamily="34" charset="0"/>
                <a:ea typeface="MiSans" pitchFamily="34" charset="-122"/>
                <a:cs typeface="MiSans" pitchFamily="34" charset="-120"/>
              </a:rPr>
              <a:t>Schema-on-Read</a:t>
            </a:r>
            <a:endParaRPr lang="en-US" sz="1600" dirty="0"/>
          </a:p>
        </p:txBody>
      </p:sp>
      <p:sp>
        <p:nvSpPr>
          <p:cNvPr id="16" name="Text 14"/>
          <p:cNvSpPr/>
          <p:nvPr/>
        </p:nvSpPr>
        <p:spPr>
          <a:xfrm>
            <a:off x="1236337" y="4259855"/>
            <a:ext cx="5618602" cy="244819"/>
          </a:xfrm>
          <a:prstGeom prst="rect">
            <a:avLst/>
          </a:prstGeom>
          <a:noFill/>
          <a:ln/>
        </p:spPr>
        <p:txBody>
          <a:bodyPr wrap="square" lIns="0" tIns="0" rIns="0" bIns="0" rtlCol="0" anchor="ctr"/>
          <a:lstStyle/>
          <a:p>
            <a:pPr>
              <a:lnSpc>
                <a:spcPct val="120000"/>
              </a:lnSpc>
            </a:pPr>
            <a:r>
              <a:rPr lang="en-US" sz="1349" dirty="0">
                <a:solidFill>
                  <a:srgbClr val="A0AEC0"/>
                </a:solidFill>
                <a:latin typeface="MiSans" pitchFamily="34" charset="0"/>
                <a:ea typeface="MiSans" pitchFamily="34" charset="-122"/>
                <a:cs typeface="MiSans" pitchFamily="34" charset="-120"/>
              </a:rPr>
              <a:t>读取阶段再决定如何解析数据,不同计算引擎可按各自方式解释同一批文件</a:t>
            </a:r>
            <a:endParaRPr lang="en-US" sz="1600" dirty="0"/>
          </a:p>
        </p:txBody>
      </p:sp>
      <p:sp>
        <p:nvSpPr>
          <p:cNvPr id="17" name="Shape 15"/>
          <p:cNvSpPr/>
          <p:nvPr/>
        </p:nvSpPr>
        <p:spPr>
          <a:xfrm>
            <a:off x="8250410" y="1811663"/>
            <a:ext cx="7515952" cy="3084723"/>
          </a:xfrm>
          <a:custGeom>
            <a:avLst/>
            <a:gdLst/>
            <a:ahLst/>
            <a:cxnLst/>
            <a:rect l="l" t="t" r="r" b="b"/>
            <a:pathLst>
              <a:path w="7515952" h="3084723">
                <a:moveTo>
                  <a:pt x="97940" y="0"/>
                </a:moveTo>
                <a:lnTo>
                  <a:pt x="7418012" y="0"/>
                </a:lnTo>
                <a:cubicBezTo>
                  <a:pt x="7472103" y="0"/>
                  <a:pt x="7515952" y="43849"/>
                  <a:pt x="7515952" y="97940"/>
                </a:cubicBezTo>
                <a:lnTo>
                  <a:pt x="7515952" y="2986783"/>
                </a:lnTo>
                <a:cubicBezTo>
                  <a:pt x="7515952" y="3040874"/>
                  <a:pt x="7472103" y="3084723"/>
                  <a:pt x="7418012" y="3084723"/>
                </a:cubicBezTo>
                <a:lnTo>
                  <a:pt x="97940" y="3084723"/>
                </a:lnTo>
                <a:cubicBezTo>
                  <a:pt x="43849" y="3084723"/>
                  <a:pt x="0" y="3040874"/>
                  <a:pt x="0" y="2986783"/>
                </a:cubicBezTo>
                <a:lnTo>
                  <a:pt x="0" y="97940"/>
                </a:lnTo>
                <a:cubicBezTo>
                  <a:pt x="0" y="43885"/>
                  <a:pt x="43885" y="0"/>
                  <a:pt x="97940" y="0"/>
                </a:cubicBezTo>
                <a:close/>
              </a:path>
            </a:pathLst>
          </a:custGeom>
          <a:solidFill>
            <a:srgbClr val="4A5568">
              <a:alpha val="30196"/>
            </a:srgbClr>
          </a:solidFill>
          <a:ln/>
        </p:spPr>
        <p:txBody>
          <a:bodyPr/>
          <a:lstStyle/>
          <a:p>
            <a:endParaRPr lang="zh-CN" altLang="en-US"/>
          </a:p>
        </p:txBody>
      </p:sp>
      <p:sp>
        <p:nvSpPr>
          <p:cNvPr id="18" name="Text 16"/>
          <p:cNvSpPr/>
          <p:nvPr/>
        </p:nvSpPr>
        <p:spPr>
          <a:xfrm>
            <a:off x="8495229" y="2056482"/>
            <a:ext cx="7148723" cy="342747"/>
          </a:xfrm>
          <a:prstGeom prst="rect">
            <a:avLst/>
          </a:prstGeom>
          <a:noFill/>
          <a:ln/>
        </p:spPr>
        <p:txBody>
          <a:bodyPr wrap="square" lIns="0" tIns="0" rIns="0" bIns="0" rtlCol="0" anchor="ctr"/>
          <a:lstStyle/>
          <a:p>
            <a:pPr>
              <a:lnSpc>
                <a:spcPct val="120000"/>
              </a:lnSpc>
            </a:pPr>
            <a:r>
              <a:rPr lang="en-US" sz="1928" b="1" dirty="0">
                <a:solidFill>
                  <a:srgbClr val="4FD1C5"/>
                </a:solidFill>
                <a:latin typeface="Noto Sans SC" pitchFamily="34" charset="0"/>
                <a:ea typeface="Noto Sans SC" pitchFamily="34" charset="-122"/>
                <a:cs typeface="Noto Sans SC" pitchFamily="34" charset="-120"/>
              </a:rPr>
              <a:t>典型数据湖目录结构</a:t>
            </a:r>
            <a:endParaRPr lang="en-US" sz="1600" dirty="0"/>
          </a:p>
        </p:txBody>
      </p:sp>
      <p:sp>
        <p:nvSpPr>
          <p:cNvPr id="19" name="Shape 17"/>
          <p:cNvSpPr/>
          <p:nvPr/>
        </p:nvSpPr>
        <p:spPr>
          <a:xfrm>
            <a:off x="8495229" y="2546120"/>
            <a:ext cx="7026313" cy="2595084"/>
          </a:xfrm>
          <a:custGeom>
            <a:avLst/>
            <a:gdLst/>
            <a:ahLst/>
            <a:cxnLst/>
            <a:rect l="l" t="t" r="r" b="b"/>
            <a:pathLst>
              <a:path w="7026313" h="2595084">
                <a:moveTo>
                  <a:pt x="48969" y="0"/>
                </a:moveTo>
                <a:lnTo>
                  <a:pt x="6977344" y="0"/>
                </a:lnTo>
                <a:cubicBezTo>
                  <a:pt x="7004389" y="0"/>
                  <a:pt x="7026313" y="21924"/>
                  <a:pt x="7026313" y="48969"/>
                </a:cubicBezTo>
                <a:lnTo>
                  <a:pt x="7026313" y="2546115"/>
                </a:lnTo>
                <a:cubicBezTo>
                  <a:pt x="7026313" y="2573160"/>
                  <a:pt x="7004389" y="2595084"/>
                  <a:pt x="6977344" y="2595084"/>
                </a:cubicBezTo>
                <a:lnTo>
                  <a:pt x="48969" y="2595084"/>
                </a:lnTo>
                <a:cubicBezTo>
                  <a:pt x="21924" y="2595084"/>
                  <a:pt x="0" y="2573160"/>
                  <a:pt x="0" y="2546115"/>
                </a:cubicBezTo>
                <a:lnTo>
                  <a:pt x="0" y="48969"/>
                </a:lnTo>
                <a:cubicBezTo>
                  <a:pt x="0" y="21942"/>
                  <a:pt x="21942" y="0"/>
                  <a:pt x="48969" y="0"/>
                </a:cubicBezTo>
                <a:close/>
              </a:path>
            </a:pathLst>
          </a:custGeom>
          <a:solidFill>
            <a:srgbClr val="1A202C"/>
          </a:solidFill>
          <a:ln/>
        </p:spPr>
        <p:txBody>
          <a:bodyPr/>
          <a:lstStyle/>
          <a:p>
            <a:endParaRPr lang="zh-CN" altLang="en-US"/>
          </a:p>
        </p:txBody>
      </p:sp>
      <p:sp>
        <p:nvSpPr>
          <p:cNvPr id="20" name="Text 18"/>
          <p:cNvSpPr/>
          <p:nvPr/>
        </p:nvSpPr>
        <p:spPr>
          <a:xfrm>
            <a:off x="8691084" y="2741976"/>
            <a:ext cx="6720289" cy="244819"/>
          </a:xfrm>
          <a:prstGeom prst="rect">
            <a:avLst/>
          </a:prstGeom>
          <a:noFill/>
          <a:ln/>
        </p:spPr>
        <p:txBody>
          <a:bodyPr wrap="square" lIns="0" tIns="0" rIns="0" bIns="0" rtlCol="0" anchor="ctr"/>
          <a:lstStyle/>
          <a:p>
            <a:pPr>
              <a:lnSpc>
                <a:spcPct val="120000"/>
              </a:lnSpc>
            </a:pPr>
            <a:r>
              <a:rPr lang="en-US" sz="1349" dirty="0">
                <a:solidFill>
                  <a:srgbClr val="4FD1C5"/>
                </a:solidFill>
                <a:latin typeface="MiSans" pitchFamily="34" charset="0"/>
                <a:ea typeface="MiSans" pitchFamily="34" charset="-122"/>
                <a:cs typeface="MiSans" pitchFamily="34" charset="-120"/>
              </a:rPr>
              <a:t>/data_lake</a:t>
            </a:r>
            <a:endParaRPr lang="en-US" sz="1600" dirty="0"/>
          </a:p>
        </p:txBody>
      </p:sp>
      <p:sp>
        <p:nvSpPr>
          <p:cNvPr id="21" name="Text 19"/>
          <p:cNvSpPr/>
          <p:nvPr/>
        </p:nvSpPr>
        <p:spPr>
          <a:xfrm>
            <a:off x="8886940" y="2986795"/>
            <a:ext cx="6524434" cy="244819"/>
          </a:xfrm>
          <a:prstGeom prst="rect">
            <a:avLst/>
          </a:prstGeom>
          <a:noFill/>
          <a:ln/>
        </p:spPr>
        <p:txBody>
          <a:bodyPr wrap="square" lIns="0" tIns="0" rIns="0" bIns="0" rtlCol="0" anchor="ctr"/>
          <a:lstStyle/>
          <a:p>
            <a:pPr>
              <a:lnSpc>
                <a:spcPct val="120000"/>
              </a:lnSpc>
            </a:pPr>
            <a:r>
              <a:rPr lang="en-US" sz="1349" dirty="0">
                <a:solidFill>
                  <a:srgbClr val="F7FAFC"/>
                </a:solidFill>
                <a:latin typeface="MiSans" pitchFamily="34" charset="0"/>
                <a:ea typeface="MiSans" pitchFamily="34" charset="-122"/>
                <a:cs typeface="MiSans" pitchFamily="34" charset="-120"/>
              </a:rPr>
              <a:t>/raw </a:t>
            </a:r>
            <a:r>
              <a:rPr lang="en-US" sz="1349" dirty="0">
                <a:solidFill>
                  <a:srgbClr val="A0AEC0"/>
                </a:solidFill>
                <a:latin typeface="MiSans" pitchFamily="34" charset="0"/>
                <a:ea typeface="MiSans" pitchFamily="34" charset="-122"/>
                <a:cs typeface="MiSans" pitchFamily="34" charset="-120"/>
              </a:rPr>
              <a:t># 原始层</a:t>
            </a:r>
            <a:endParaRPr lang="en-US" sz="1600" dirty="0"/>
          </a:p>
        </p:txBody>
      </p:sp>
      <p:sp>
        <p:nvSpPr>
          <p:cNvPr id="22" name="Text 20"/>
          <p:cNvSpPr/>
          <p:nvPr/>
        </p:nvSpPr>
        <p:spPr>
          <a:xfrm>
            <a:off x="9082795" y="3231614"/>
            <a:ext cx="6328578" cy="244819"/>
          </a:xfrm>
          <a:prstGeom prst="rect">
            <a:avLst/>
          </a:prstGeom>
          <a:noFill/>
          <a:ln/>
        </p:spPr>
        <p:txBody>
          <a:bodyPr wrap="square" lIns="0" tIns="0" rIns="0" bIns="0" rtlCol="0" anchor="ctr"/>
          <a:lstStyle/>
          <a:p>
            <a:pPr>
              <a:lnSpc>
                <a:spcPct val="120000"/>
              </a:lnSpc>
            </a:pPr>
            <a:r>
              <a:rPr lang="en-US" sz="1349" dirty="0">
                <a:solidFill>
                  <a:srgbClr val="4FD1C5"/>
                </a:solidFill>
                <a:latin typeface="MiSans" pitchFamily="34" charset="0"/>
                <a:ea typeface="MiSans" pitchFamily="34" charset="-122"/>
                <a:cs typeface="MiSans" pitchFamily="34" charset="-120"/>
              </a:rPr>
              <a:t>/nginx_logs, /app_events, /db_snapshot</a:t>
            </a:r>
            <a:endParaRPr lang="en-US" sz="1600" dirty="0"/>
          </a:p>
        </p:txBody>
      </p:sp>
      <p:sp>
        <p:nvSpPr>
          <p:cNvPr id="23" name="Text 21"/>
          <p:cNvSpPr/>
          <p:nvPr/>
        </p:nvSpPr>
        <p:spPr>
          <a:xfrm>
            <a:off x="8886940" y="3476434"/>
            <a:ext cx="6524434" cy="244819"/>
          </a:xfrm>
          <a:prstGeom prst="rect">
            <a:avLst/>
          </a:prstGeom>
          <a:noFill/>
          <a:ln/>
        </p:spPr>
        <p:txBody>
          <a:bodyPr wrap="square" lIns="0" tIns="0" rIns="0" bIns="0" rtlCol="0" anchor="ctr"/>
          <a:lstStyle/>
          <a:p>
            <a:pPr>
              <a:lnSpc>
                <a:spcPct val="120000"/>
              </a:lnSpc>
            </a:pPr>
            <a:r>
              <a:rPr lang="en-US" sz="1349" dirty="0">
                <a:solidFill>
                  <a:srgbClr val="F7FAFC"/>
                </a:solidFill>
                <a:latin typeface="MiSans" pitchFamily="34" charset="0"/>
                <a:ea typeface="MiSans" pitchFamily="34" charset="-122"/>
                <a:cs typeface="MiSans" pitchFamily="34" charset="-120"/>
              </a:rPr>
              <a:t>/clean </a:t>
            </a:r>
            <a:r>
              <a:rPr lang="en-US" sz="1349" dirty="0">
                <a:solidFill>
                  <a:srgbClr val="A0AEC0"/>
                </a:solidFill>
                <a:latin typeface="MiSans" pitchFamily="34" charset="0"/>
                <a:ea typeface="MiSans" pitchFamily="34" charset="-122"/>
                <a:cs typeface="MiSans" pitchFamily="34" charset="-120"/>
              </a:rPr>
              <a:t># 清洗层</a:t>
            </a:r>
            <a:endParaRPr lang="en-US" sz="1600" dirty="0"/>
          </a:p>
        </p:txBody>
      </p:sp>
      <p:sp>
        <p:nvSpPr>
          <p:cNvPr id="24" name="Text 22"/>
          <p:cNvSpPr/>
          <p:nvPr/>
        </p:nvSpPr>
        <p:spPr>
          <a:xfrm>
            <a:off x="9082795" y="3721253"/>
            <a:ext cx="6328578" cy="244819"/>
          </a:xfrm>
          <a:prstGeom prst="rect">
            <a:avLst/>
          </a:prstGeom>
          <a:noFill/>
          <a:ln/>
        </p:spPr>
        <p:txBody>
          <a:bodyPr wrap="square" lIns="0" tIns="0" rIns="0" bIns="0" rtlCol="0" anchor="ctr"/>
          <a:lstStyle/>
          <a:p>
            <a:pPr>
              <a:lnSpc>
                <a:spcPct val="120000"/>
              </a:lnSpc>
            </a:pPr>
            <a:r>
              <a:rPr lang="en-US" sz="1349" dirty="0">
                <a:solidFill>
                  <a:srgbClr val="4FD1C5"/>
                </a:solidFill>
                <a:latin typeface="MiSans" pitchFamily="34" charset="0"/>
                <a:ea typeface="MiSans" pitchFamily="34" charset="-122"/>
                <a:cs typeface="MiSans" pitchFamily="34" charset="-120"/>
              </a:rPr>
              <a:t>/nginx_logs_parquet, /app_events_parquet</a:t>
            </a:r>
            <a:endParaRPr lang="en-US" sz="1600" dirty="0"/>
          </a:p>
        </p:txBody>
      </p:sp>
      <p:sp>
        <p:nvSpPr>
          <p:cNvPr id="25" name="Text 23"/>
          <p:cNvSpPr/>
          <p:nvPr/>
        </p:nvSpPr>
        <p:spPr>
          <a:xfrm>
            <a:off x="8886940" y="3966072"/>
            <a:ext cx="6524434" cy="244819"/>
          </a:xfrm>
          <a:prstGeom prst="rect">
            <a:avLst/>
          </a:prstGeom>
          <a:noFill/>
          <a:ln/>
        </p:spPr>
        <p:txBody>
          <a:bodyPr wrap="square" lIns="0" tIns="0" rIns="0" bIns="0" rtlCol="0" anchor="ctr"/>
          <a:lstStyle/>
          <a:p>
            <a:pPr>
              <a:lnSpc>
                <a:spcPct val="120000"/>
              </a:lnSpc>
            </a:pPr>
            <a:r>
              <a:rPr lang="en-US" sz="1349" dirty="0">
                <a:solidFill>
                  <a:srgbClr val="F7FAFC"/>
                </a:solidFill>
                <a:latin typeface="MiSans" pitchFamily="34" charset="0"/>
                <a:ea typeface="MiSans" pitchFamily="34" charset="-122"/>
                <a:cs typeface="MiSans" pitchFamily="34" charset="-120"/>
              </a:rPr>
              <a:t>/feature </a:t>
            </a:r>
            <a:r>
              <a:rPr lang="en-US" sz="1349" dirty="0">
                <a:solidFill>
                  <a:srgbClr val="A0AEC0"/>
                </a:solidFill>
                <a:latin typeface="MiSans" pitchFamily="34" charset="0"/>
                <a:ea typeface="MiSans" pitchFamily="34" charset="-122"/>
                <a:cs typeface="MiSans" pitchFamily="34" charset="-120"/>
              </a:rPr>
              <a:t># 特征层</a:t>
            </a:r>
            <a:endParaRPr lang="en-US" sz="1600" dirty="0"/>
          </a:p>
        </p:txBody>
      </p:sp>
      <p:sp>
        <p:nvSpPr>
          <p:cNvPr id="26" name="Text 24"/>
          <p:cNvSpPr/>
          <p:nvPr/>
        </p:nvSpPr>
        <p:spPr>
          <a:xfrm>
            <a:off x="8886940" y="4210892"/>
            <a:ext cx="6524434" cy="244819"/>
          </a:xfrm>
          <a:prstGeom prst="rect">
            <a:avLst/>
          </a:prstGeom>
          <a:noFill/>
          <a:ln/>
        </p:spPr>
        <p:txBody>
          <a:bodyPr wrap="square" lIns="0" tIns="0" rIns="0" bIns="0" rtlCol="0" anchor="ctr"/>
          <a:lstStyle/>
          <a:p>
            <a:pPr>
              <a:lnSpc>
                <a:spcPct val="120000"/>
              </a:lnSpc>
            </a:pPr>
            <a:r>
              <a:rPr lang="en-US" sz="1349" dirty="0">
                <a:solidFill>
                  <a:srgbClr val="F7FAFC"/>
                </a:solidFill>
                <a:latin typeface="MiSans" pitchFamily="34" charset="0"/>
                <a:ea typeface="MiSans" pitchFamily="34" charset="-122"/>
                <a:cs typeface="MiSans" pitchFamily="34" charset="-120"/>
              </a:rPr>
              <a:t>/warehouse </a:t>
            </a:r>
            <a:r>
              <a:rPr lang="en-US" sz="1349" dirty="0">
                <a:solidFill>
                  <a:srgbClr val="A0AEC0"/>
                </a:solidFill>
                <a:latin typeface="MiSans" pitchFamily="34" charset="0"/>
                <a:ea typeface="MiSans" pitchFamily="34" charset="-122"/>
                <a:cs typeface="MiSans" pitchFamily="34" charset="-120"/>
              </a:rPr>
              <a:t># 数仓层</a:t>
            </a:r>
            <a:endParaRPr lang="en-US" sz="1600" dirty="0"/>
          </a:p>
        </p:txBody>
      </p:sp>
      <p:sp>
        <p:nvSpPr>
          <p:cNvPr id="27" name="Shape 25"/>
          <p:cNvSpPr/>
          <p:nvPr/>
        </p:nvSpPr>
        <p:spPr>
          <a:xfrm>
            <a:off x="489639" y="5092241"/>
            <a:ext cx="15276723" cy="3562120"/>
          </a:xfrm>
          <a:custGeom>
            <a:avLst/>
            <a:gdLst/>
            <a:ahLst/>
            <a:cxnLst/>
            <a:rect l="l" t="t" r="r" b="b"/>
            <a:pathLst>
              <a:path w="15276723" h="3562120">
                <a:moveTo>
                  <a:pt x="97923" y="0"/>
                </a:moveTo>
                <a:lnTo>
                  <a:pt x="15178800" y="0"/>
                </a:lnTo>
                <a:cubicBezTo>
                  <a:pt x="15232845" y="0"/>
                  <a:pt x="15276723" y="43878"/>
                  <a:pt x="15276723" y="97923"/>
                </a:cubicBezTo>
                <a:lnTo>
                  <a:pt x="15276723" y="3464198"/>
                </a:lnTo>
                <a:cubicBezTo>
                  <a:pt x="15276723" y="3518279"/>
                  <a:pt x="15232881" y="3562120"/>
                  <a:pt x="15178800" y="3562120"/>
                </a:cubicBezTo>
                <a:lnTo>
                  <a:pt x="97923" y="3562120"/>
                </a:lnTo>
                <a:cubicBezTo>
                  <a:pt x="43841" y="3562120"/>
                  <a:pt x="0" y="3518279"/>
                  <a:pt x="0" y="3464198"/>
                </a:cubicBezTo>
                <a:lnTo>
                  <a:pt x="0" y="97923"/>
                </a:lnTo>
                <a:cubicBezTo>
                  <a:pt x="0" y="43841"/>
                  <a:pt x="43841" y="0"/>
                  <a:pt x="97923" y="0"/>
                </a:cubicBezTo>
                <a:close/>
              </a:path>
            </a:pathLst>
          </a:custGeom>
          <a:solidFill>
            <a:srgbClr val="4A5568">
              <a:alpha val="30196"/>
            </a:srgbClr>
          </a:solidFill>
          <a:ln/>
        </p:spPr>
        <p:txBody>
          <a:bodyPr/>
          <a:lstStyle/>
          <a:p>
            <a:endParaRPr lang="zh-CN" altLang="en-US"/>
          </a:p>
        </p:txBody>
      </p:sp>
      <p:sp>
        <p:nvSpPr>
          <p:cNvPr id="28" name="Text 26"/>
          <p:cNvSpPr/>
          <p:nvPr/>
        </p:nvSpPr>
        <p:spPr>
          <a:xfrm>
            <a:off x="734458" y="5337060"/>
            <a:ext cx="14933976" cy="391711"/>
          </a:xfrm>
          <a:prstGeom prst="rect">
            <a:avLst/>
          </a:prstGeom>
          <a:noFill/>
          <a:ln/>
        </p:spPr>
        <p:txBody>
          <a:bodyPr wrap="square" lIns="0" tIns="0" rIns="0" bIns="0" rtlCol="0" anchor="ctr"/>
          <a:lstStyle/>
          <a:p>
            <a:pPr>
              <a:lnSpc>
                <a:spcPct val="110000"/>
              </a:lnSpc>
            </a:pPr>
            <a:r>
              <a:rPr lang="en-US" sz="2313" b="1" dirty="0">
                <a:solidFill>
                  <a:srgbClr val="F7FAFC"/>
                </a:solidFill>
                <a:latin typeface="Noto Sans SC" pitchFamily="34" charset="0"/>
                <a:ea typeface="Noto Sans SC" pitchFamily="34" charset="-122"/>
                <a:cs typeface="Noto Sans SC" pitchFamily="34" charset="-120"/>
              </a:rPr>
              <a:t>"数据沼泽"的四大问题</a:t>
            </a:r>
            <a:endParaRPr lang="en-US" sz="1600" dirty="0"/>
          </a:p>
        </p:txBody>
      </p:sp>
      <p:sp>
        <p:nvSpPr>
          <p:cNvPr id="29" name="Shape 27"/>
          <p:cNvSpPr/>
          <p:nvPr/>
        </p:nvSpPr>
        <p:spPr>
          <a:xfrm>
            <a:off x="734458" y="5924627"/>
            <a:ext cx="391711" cy="391711"/>
          </a:xfrm>
          <a:custGeom>
            <a:avLst/>
            <a:gdLst/>
            <a:ahLst/>
            <a:cxnLst/>
            <a:rect l="l" t="t" r="r" b="b"/>
            <a:pathLst>
              <a:path w="391711" h="391711">
                <a:moveTo>
                  <a:pt x="195855" y="0"/>
                </a:moveTo>
                <a:lnTo>
                  <a:pt x="195855" y="0"/>
                </a:lnTo>
                <a:cubicBezTo>
                  <a:pt x="303951" y="0"/>
                  <a:pt x="391711" y="87760"/>
                  <a:pt x="391711" y="195855"/>
                </a:cubicBezTo>
                <a:lnTo>
                  <a:pt x="391711" y="195855"/>
                </a:lnTo>
                <a:cubicBezTo>
                  <a:pt x="391711" y="303951"/>
                  <a:pt x="303951" y="391711"/>
                  <a:pt x="195855" y="391711"/>
                </a:cubicBezTo>
                <a:lnTo>
                  <a:pt x="195855" y="391711"/>
                </a:lnTo>
                <a:cubicBezTo>
                  <a:pt x="87760" y="391711"/>
                  <a:pt x="0" y="303951"/>
                  <a:pt x="0" y="195855"/>
                </a:cubicBezTo>
                <a:lnTo>
                  <a:pt x="0" y="195855"/>
                </a:lnTo>
                <a:cubicBezTo>
                  <a:pt x="0" y="87760"/>
                  <a:pt x="87760" y="0"/>
                  <a:pt x="195855" y="0"/>
                </a:cubicBezTo>
                <a:close/>
              </a:path>
            </a:pathLst>
          </a:custGeom>
          <a:solidFill>
            <a:srgbClr val="4FD1C5"/>
          </a:solidFill>
          <a:ln/>
        </p:spPr>
        <p:txBody>
          <a:bodyPr/>
          <a:lstStyle/>
          <a:p>
            <a:endParaRPr lang="zh-CN" altLang="en-US"/>
          </a:p>
        </p:txBody>
      </p:sp>
      <p:sp>
        <p:nvSpPr>
          <p:cNvPr id="30" name="Text 28"/>
          <p:cNvSpPr/>
          <p:nvPr/>
        </p:nvSpPr>
        <p:spPr>
          <a:xfrm>
            <a:off x="891773" y="5973590"/>
            <a:ext cx="171373" cy="293783"/>
          </a:xfrm>
          <a:prstGeom prst="rect">
            <a:avLst/>
          </a:prstGeom>
          <a:noFill/>
          <a:ln/>
        </p:spPr>
        <p:txBody>
          <a:bodyPr wrap="square" lIns="0" tIns="0" rIns="0" bIns="0" rtlCol="0" anchor="ctr"/>
          <a:lstStyle/>
          <a:p>
            <a:pPr>
              <a:lnSpc>
                <a:spcPct val="130000"/>
              </a:lnSpc>
            </a:pPr>
            <a:r>
              <a:rPr lang="en-US" sz="1542" b="1" dirty="0">
                <a:solidFill>
                  <a:srgbClr val="1A202C"/>
                </a:solidFill>
                <a:latin typeface="MiSans" pitchFamily="34" charset="0"/>
                <a:ea typeface="MiSans" pitchFamily="34" charset="-122"/>
                <a:cs typeface="MiSans" pitchFamily="34" charset="-120"/>
              </a:rPr>
              <a:t>1</a:t>
            </a:r>
            <a:endParaRPr lang="en-US" sz="1600" dirty="0"/>
          </a:p>
        </p:txBody>
      </p:sp>
      <p:sp>
        <p:nvSpPr>
          <p:cNvPr id="31" name="Text 29"/>
          <p:cNvSpPr/>
          <p:nvPr/>
        </p:nvSpPr>
        <p:spPr>
          <a:xfrm>
            <a:off x="1224096" y="5949108"/>
            <a:ext cx="1211855" cy="342747"/>
          </a:xfrm>
          <a:prstGeom prst="rect">
            <a:avLst/>
          </a:prstGeom>
          <a:noFill/>
          <a:ln/>
        </p:spPr>
        <p:txBody>
          <a:bodyPr wrap="square" lIns="0" tIns="0" rIns="0" bIns="0" rtlCol="0" anchor="ctr"/>
          <a:lstStyle/>
          <a:p>
            <a:pPr>
              <a:lnSpc>
                <a:spcPct val="130000"/>
              </a:lnSpc>
            </a:pPr>
            <a:r>
              <a:rPr lang="en-US" sz="1735" b="1" dirty="0">
                <a:solidFill>
                  <a:srgbClr val="F7FAFC"/>
                </a:solidFill>
                <a:latin typeface="MiSans" pitchFamily="34" charset="0"/>
                <a:ea typeface="MiSans" pitchFamily="34" charset="-122"/>
                <a:cs typeface="MiSans" pitchFamily="34" charset="-120"/>
              </a:rPr>
              <a:t>脏数据泛滥</a:t>
            </a:r>
            <a:endParaRPr lang="en-US" sz="1600" dirty="0"/>
          </a:p>
        </p:txBody>
      </p:sp>
      <p:sp>
        <p:nvSpPr>
          <p:cNvPr id="32" name="Text 30"/>
          <p:cNvSpPr/>
          <p:nvPr/>
        </p:nvSpPr>
        <p:spPr>
          <a:xfrm>
            <a:off x="734458" y="6414265"/>
            <a:ext cx="3635566" cy="563084"/>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缺乏强Schema约束,写入失败可能留下半截文件或不完整分区</a:t>
            </a:r>
            <a:endParaRPr lang="en-US" sz="1600" dirty="0"/>
          </a:p>
        </p:txBody>
      </p:sp>
      <p:sp>
        <p:nvSpPr>
          <p:cNvPr id="33" name="Text 31"/>
          <p:cNvSpPr/>
          <p:nvPr/>
        </p:nvSpPr>
        <p:spPr>
          <a:xfrm>
            <a:off x="734458" y="7069157"/>
            <a:ext cx="3635566" cy="563084"/>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不同团队各自定义目录结构和命名规则,文档缺失</a:t>
            </a:r>
            <a:endParaRPr lang="en-US" sz="1600" dirty="0"/>
          </a:p>
        </p:txBody>
      </p:sp>
      <p:sp>
        <p:nvSpPr>
          <p:cNvPr id="34" name="Shape 32"/>
          <p:cNvSpPr/>
          <p:nvPr/>
        </p:nvSpPr>
        <p:spPr>
          <a:xfrm>
            <a:off x="4480193" y="5924627"/>
            <a:ext cx="391711" cy="391711"/>
          </a:xfrm>
          <a:custGeom>
            <a:avLst/>
            <a:gdLst/>
            <a:ahLst/>
            <a:cxnLst/>
            <a:rect l="l" t="t" r="r" b="b"/>
            <a:pathLst>
              <a:path w="391711" h="391711">
                <a:moveTo>
                  <a:pt x="195855" y="0"/>
                </a:moveTo>
                <a:lnTo>
                  <a:pt x="195855" y="0"/>
                </a:lnTo>
                <a:cubicBezTo>
                  <a:pt x="303951" y="0"/>
                  <a:pt x="391711" y="87760"/>
                  <a:pt x="391711" y="195855"/>
                </a:cubicBezTo>
                <a:lnTo>
                  <a:pt x="391711" y="195855"/>
                </a:lnTo>
                <a:cubicBezTo>
                  <a:pt x="391711" y="303951"/>
                  <a:pt x="303951" y="391711"/>
                  <a:pt x="195855" y="391711"/>
                </a:cubicBezTo>
                <a:lnTo>
                  <a:pt x="195855" y="391711"/>
                </a:lnTo>
                <a:cubicBezTo>
                  <a:pt x="87760" y="391711"/>
                  <a:pt x="0" y="303951"/>
                  <a:pt x="0" y="195855"/>
                </a:cubicBezTo>
                <a:lnTo>
                  <a:pt x="0" y="195855"/>
                </a:lnTo>
                <a:cubicBezTo>
                  <a:pt x="0" y="87760"/>
                  <a:pt x="87760" y="0"/>
                  <a:pt x="195855" y="0"/>
                </a:cubicBezTo>
                <a:close/>
              </a:path>
            </a:pathLst>
          </a:custGeom>
          <a:solidFill>
            <a:srgbClr val="4FD1C5"/>
          </a:solidFill>
          <a:ln/>
        </p:spPr>
        <p:txBody>
          <a:bodyPr/>
          <a:lstStyle/>
          <a:p>
            <a:endParaRPr lang="zh-CN" altLang="en-US"/>
          </a:p>
        </p:txBody>
      </p:sp>
      <p:sp>
        <p:nvSpPr>
          <p:cNvPr id="35" name="Text 33"/>
          <p:cNvSpPr/>
          <p:nvPr/>
        </p:nvSpPr>
        <p:spPr>
          <a:xfrm>
            <a:off x="4620964" y="5973590"/>
            <a:ext cx="208096" cy="293783"/>
          </a:xfrm>
          <a:prstGeom prst="rect">
            <a:avLst/>
          </a:prstGeom>
          <a:noFill/>
          <a:ln/>
        </p:spPr>
        <p:txBody>
          <a:bodyPr wrap="square" lIns="0" tIns="0" rIns="0" bIns="0" rtlCol="0" anchor="ctr"/>
          <a:lstStyle/>
          <a:p>
            <a:pPr>
              <a:lnSpc>
                <a:spcPct val="130000"/>
              </a:lnSpc>
            </a:pPr>
            <a:r>
              <a:rPr lang="en-US" sz="1542" b="1" dirty="0">
                <a:solidFill>
                  <a:srgbClr val="1A202C"/>
                </a:solidFill>
                <a:latin typeface="MiSans" pitchFamily="34" charset="0"/>
                <a:ea typeface="MiSans" pitchFamily="34" charset="-122"/>
                <a:cs typeface="MiSans" pitchFamily="34" charset="-120"/>
              </a:rPr>
              <a:t>2</a:t>
            </a:r>
            <a:endParaRPr lang="en-US" sz="1600" dirty="0"/>
          </a:p>
        </p:txBody>
      </p:sp>
      <p:sp>
        <p:nvSpPr>
          <p:cNvPr id="36" name="Text 34"/>
          <p:cNvSpPr/>
          <p:nvPr/>
        </p:nvSpPr>
        <p:spPr>
          <a:xfrm>
            <a:off x="4969831" y="5949108"/>
            <a:ext cx="991518" cy="342747"/>
          </a:xfrm>
          <a:prstGeom prst="rect">
            <a:avLst/>
          </a:prstGeom>
          <a:noFill/>
          <a:ln/>
        </p:spPr>
        <p:txBody>
          <a:bodyPr wrap="square" lIns="0" tIns="0" rIns="0" bIns="0" rtlCol="0" anchor="ctr"/>
          <a:lstStyle/>
          <a:p>
            <a:pPr>
              <a:lnSpc>
                <a:spcPct val="130000"/>
              </a:lnSpc>
            </a:pPr>
            <a:r>
              <a:rPr lang="en-US" sz="1735" b="1" dirty="0">
                <a:solidFill>
                  <a:srgbClr val="F7FAFC"/>
                </a:solidFill>
                <a:latin typeface="MiSans" pitchFamily="34" charset="0"/>
                <a:ea typeface="MiSans" pitchFamily="34" charset="-122"/>
                <a:cs typeface="MiSans" pitchFamily="34" charset="-120"/>
              </a:rPr>
              <a:t>读写冲突</a:t>
            </a:r>
            <a:endParaRPr lang="en-US" sz="1600" dirty="0"/>
          </a:p>
        </p:txBody>
      </p:sp>
      <p:sp>
        <p:nvSpPr>
          <p:cNvPr id="37" name="Text 35"/>
          <p:cNvSpPr/>
          <p:nvPr/>
        </p:nvSpPr>
        <p:spPr>
          <a:xfrm>
            <a:off x="4480193" y="6414265"/>
            <a:ext cx="3635566" cy="563084"/>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对象存储只提供最终一致性,而非数据库级强一致性</a:t>
            </a:r>
            <a:endParaRPr lang="en-US" sz="1600" dirty="0"/>
          </a:p>
        </p:txBody>
      </p:sp>
      <p:sp>
        <p:nvSpPr>
          <p:cNvPr id="38" name="Text 36"/>
          <p:cNvSpPr/>
          <p:nvPr/>
        </p:nvSpPr>
        <p:spPr>
          <a:xfrm>
            <a:off x="4480193" y="7069157"/>
            <a:ext cx="3635566" cy="563084"/>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一个任务正在写入时,另一个查询可能读到未写完的数据</a:t>
            </a:r>
            <a:endParaRPr lang="en-US" sz="1600" dirty="0"/>
          </a:p>
        </p:txBody>
      </p:sp>
      <p:sp>
        <p:nvSpPr>
          <p:cNvPr id="39" name="Shape 37"/>
          <p:cNvSpPr/>
          <p:nvPr/>
        </p:nvSpPr>
        <p:spPr>
          <a:xfrm>
            <a:off x="8225928" y="5924627"/>
            <a:ext cx="391711" cy="391711"/>
          </a:xfrm>
          <a:custGeom>
            <a:avLst/>
            <a:gdLst/>
            <a:ahLst/>
            <a:cxnLst/>
            <a:rect l="l" t="t" r="r" b="b"/>
            <a:pathLst>
              <a:path w="391711" h="391711">
                <a:moveTo>
                  <a:pt x="195855" y="0"/>
                </a:moveTo>
                <a:lnTo>
                  <a:pt x="195855" y="0"/>
                </a:lnTo>
                <a:cubicBezTo>
                  <a:pt x="303951" y="0"/>
                  <a:pt x="391711" y="87760"/>
                  <a:pt x="391711" y="195855"/>
                </a:cubicBezTo>
                <a:lnTo>
                  <a:pt x="391711" y="195855"/>
                </a:lnTo>
                <a:cubicBezTo>
                  <a:pt x="391711" y="303951"/>
                  <a:pt x="303951" y="391711"/>
                  <a:pt x="195855" y="391711"/>
                </a:cubicBezTo>
                <a:lnTo>
                  <a:pt x="195855" y="391711"/>
                </a:lnTo>
                <a:cubicBezTo>
                  <a:pt x="87760" y="391711"/>
                  <a:pt x="0" y="303951"/>
                  <a:pt x="0" y="195855"/>
                </a:cubicBezTo>
                <a:lnTo>
                  <a:pt x="0" y="195855"/>
                </a:lnTo>
                <a:cubicBezTo>
                  <a:pt x="0" y="87760"/>
                  <a:pt x="87760" y="0"/>
                  <a:pt x="195855" y="0"/>
                </a:cubicBezTo>
                <a:close/>
              </a:path>
            </a:pathLst>
          </a:custGeom>
          <a:solidFill>
            <a:srgbClr val="4FD1C5"/>
          </a:solidFill>
          <a:ln/>
        </p:spPr>
        <p:txBody>
          <a:bodyPr/>
          <a:lstStyle/>
          <a:p>
            <a:endParaRPr lang="zh-CN" altLang="en-US"/>
          </a:p>
        </p:txBody>
      </p:sp>
      <p:sp>
        <p:nvSpPr>
          <p:cNvPr id="40" name="Text 38"/>
          <p:cNvSpPr/>
          <p:nvPr/>
        </p:nvSpPr>
        <p:spPr>
          <a:xfrm>
            <a:off x="8364117" y="5973590"/>
            <a:ext cx="208096" cy="293783"/>
          </a:xfrm>
          <a:prstGeom prst="rect">
            <a:avLst/>
          </a:prstGeom>
          <a:noFill/>
          <a:ln/>
        </p:spPr>
        <p:txBody>
          <a:bodyPr wrap="square" lIns="0" tIns="0" rIns="0" bIns="0" rtlCol="0" anchor="ctr"/>
          <a:lstStyle/>
          <a:p>
            <a:pPr>
              <a:lnSpc>
                <a:spcPct val="130000"/>
              </a:lnSpc>
            </a:pPr>
            <a:r>
              <a:rPr lang="en-US" sz="1542" b="1" dirty="0">
                <a:solidFill>
                  <a:srgbClr val="1A202C"/>
                </a:solidFill>
                <a:latin typeface="MiSans" pitchFamily="34" charset="0"/>
                <a:ea typeface="MiSans" pitchFamily="34" charset="-122"/>
                <a:cs typeface="MiSans" pitchFamily="34" charset="-120"/>
              </a:rPr>
              <a:t>3</a:t>
            </a:r>
            <a:endParaRPr lang="en-US" sz="1600" dirty="0"/>
          </a:p>
        </p:txBody>
      </p:sp>
      <p:sp>
        <p:nvSpPr>
          <p:cNvPr id="41" name="Text 39"/>
          <p:cNvSpPr/>
          <p:nvPr/>
        </p:nvSpPr>
        <p:spPr>
          <a:xfrm>
            <a:off x="8715566" y="5949108"/>
            <a:ext cx="991518" cy="342747"/>
          </a:xfrm>
          <a:prstGeom prst="rect">
            <a:avLst/>
          </a:prstGeom>
          <a:noFill/>
          <a:ln/>
        </p:spPr>
        <p:txBody>
          <a:bodyPr wrap="square" lIns="0" tIns="0" rIns="0" bIns="0" rtlCol="0" anchor="ctr"/>
          <a:lstStyle/>
          <a:p>
            <a:pPr>
              <a:lnSpc>
                <a:spcPct val="130000"/>
              </a:lnSpc>
            </a:pPr>
            <a:r>
              <a:rPr lang="en-US" sz="1735" b="1" dirty="0">
                <a:solidFill>
                  <a:srgbClr val="F7FAFC"/>
                </a:solidFill>
                <a:latin typeface="MiSans" pitchFamily="34" charset="0"/>
                <a:ea typeface="MiSans" pitchFamily="34" charset="-122"/>
                <a:cs typeface="MiSans" pitchFamily="34" charset="-120"/>
              </a:rPr>
              <a:t>治理困难</a:t>
            </a:r>
            <a:endParaRPr lang="en-US" sz="1600" dirty="0"/>
          </a:p>
        </p:txBody>
      </p:sp>
      <p:sp>
        <p:nvSpPr>
          <p:cNvPr id="42" name="Text 40"/>
          <p:cNvSpPr/>
          <p:nvPr/>
        </p:nvSpPr>
        <p:spPr>
          <a:xfrm>
            <a:off x="8225928" y="6414265"/>
            <a:ext cx="3635566" cy="563084"/>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HDFS/S3上修改数据往往意味着"重写整批文件"</a:t>
            </a:r>
            <a:endParaRPr lang="en-US" sz="1600" dirty="0"/>
          </a:p>
        </p:txBody>
      </p:sp>
      <p:sp>
        <p:nvSpPr>
          <p:cNvPr id="43" name="Text 41"/>
          <p:cNvSpPr/>
          <p:nvPr/>
        </p:nvSpPr>
        <p:spPr>
          <a:xfrm>
            <a:off x="8225928" y="7069157"/>
            <a:ext cx="3635566" cy="563084"/>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对于GDPR等隐私合规权利,成本高昂且操作复杂</a:t>
            </a:r>
            <a:endParaRPr lang="en-US" sz="1600" dirty="0"/>
          </a:p>
        </p:txBody>
      </p:sp>
      <p:sp>
        <p:nvSpPr>
          <p:cNvPr id="44" name="Shape 42"/>
          <p:cNvSpPr/>
          <p:nvPr/>
        </p:nvSpPr>
        <p:spPr>
          <a:xfrm>
            <a:off x="11971663" y="5924627"/>
            <a:ext cx="391711" cy="391711"/>
          </a:xfrm>
          <a:custGeom>
            <a:avLst/>
            <a:gdLst/>
            <a:ahLst/>
            <a:cxnLst/>
            <a:rect l="l" t="t" r="r" b="b"/>
            <a:pathLst>
              <a:path w="391711" h="391711">
                <a:moveTo>
                  <a:pt x="195855" y="0"/>
                </a:moveTo>
                <a:lnTo>
                  <a:pt x="195855" y="0"/>
                </a:lnTo>
                <a:cubicBezTo>
                  <a:pt x="303951" y="0"/>
                  <a:pt x="391711" y="87760"/>
                  <a:pt x="391711" y="195855"/>
                </a:cubicBezTo>
                <a:lnTo>
                  <a:pt x="391711" y="195855"/>
                </a:lnTo>
                <a:cubicBezTo>
                  <a:pt x="391711" y="303951"/>
                  <a:pt x="303951" y="391711"/>
                  <a:pt x="195855" y="391711"/>
                </a:cubicBezTo>
                <a:lnTo>
                  <a:pt x="195855" y="391711"/>
                </a:lnTo>
                <a:cubicBezTo>
                  <a:pt x="87760" y="391711"/>
                  <a:pt x="0" y="303951"/>
                  <a:pt x="0" y="195855"/>
                </a:cubicBezTo>
                <a:lnTo>
                  <a:pt x="0" y="195855"/>
                </a:lnTo>
                <a:cubicBezTo>
                  <a:pt x="0" y="87760"/>
                  <a:pt x="87760" y="0"/>
                  <a:pt x="195855" y="0"/>
                </a:cubicBezTo>
                <a:close/>
              </a:path>
            </a:pathLst>
          </a:custGeom>
          <a:solidFill>
            <a:srgbClr val="4FD1C5"/>
          </a:solidFill>
          <a:ln/>
        </p:spPr>
        <p:txBody>
          <a:bodyPr/>
          <a:lstStyle/>
          <a:p>
            <a:endParaRPr lang="zh-CN" altLang="en-US"/>
          </a:p>
        </p:txBody>
      </p:sp>
      <p:sp>
        <p:nvSpPr>
          <p:cNvPr id="45" name="Text 43"/>
          <p:cNvSpPr/>
          <p:nvPr/>
        </p:nvSpPr>
        <p:spPr>
          <a:xfrm>
            <a:off x="12110043" y="5973590"/>
            <a:ext cx="208096" cy="293783"/>
          </a:xfrm>
          <a:prstGeom prst="rect">
            <a:avLst/>
          </a:prstGeom>
          <a:noFill/>
          <a:ln/>
        </p:spPr>
        <p:txBody>
          <a:bodyPr wrap="square" lIns="0" tIns="0" rIns="0" bIns="0" rtlCol="0" anchor="ctr"/>
          <a:lstStyle/>
          <a:p>
            <a:pPr>
              <a:lnSpc>
                <a:spcPct val="130000"/>
              </a:lnSpc>
            </a:pPr>
            <a:r>
              <a:rPr lang="en-US" sz="1542" b="1" dirty="0">
                <a:solidFill>
                  <a:srgbClr val="1A202C"/>
                </a:solidFill>
                <a:latin typeface="MiSans" pitchFamily="34" charset="0"/>
                <a:ea typeface="MiSans" pitchFamily="34" charset="-122"/>
                <a:cs typeface="MiSans" pitchFamily="34" charset="-120"/>
              </a:rPr>
              <a:t>4</a:t>
            </a:r>
            <a:endParaRPr lang="en-US" sz="1600" dirty="0"/>
          </a:p>
        </p:txBody>
      </p:sp>
      <p:sp>
        <p:nvSpPr>
          <p:cNvPr id="46" name="Text 44"/>
          <p:cNvSpPr/>
          <p:nvPr/>
        </p:nvSpPr>
        <p:spPr>
          <a:xfrm>
            <a:off x="12461301" y="5949108"/>
            <a:ext cx="991518" cy="342747"/>
          </a:xfrm>
          <a:prstGeom prst="rect">
            <a:avLst/>
          </a:prstGeom>
          <a:noFill/>
          <a:ln/>
        </p:spPr>
        <p:txBody>
          <a:bodyPr wrap="square" lIns="0" tIns="0" rIns="0" bIns="0" rtlCol="0" anchor="ctr"/>
          <a:lstStyle/>
          <a:p>
            <a:pPr>
              <a:lnSpc>
                <a:spcPct val="130000"/>
              </a:lnSpc>
            </a:pPr>
            <a:r>
              <a:rPr lang="en-US" sz="1735" b="1" dirty="0">
                <a:solidFill>
                  <a:srgbClr val="F7FAFC"/>
                </a:solidFill>
                <a:latin typeface="MiSans" pitchFamily="34" charset="0"/>
                <a:ea typeface="MiSans" pitchFamily="34" charset="-122"/>
                <a:cs typeface="MiSans" pitchFamily="34" charset="-120"/>
              </a:rPr>
              <a:t>性能陷阱</a:t>
            </a:r>
            <a:endParaRPr lang="en-US" sz="1600" dirty="0"/>
          </a:p>
        </p:txBody>
      </p:sp>
      <p:sp>
        <p:nvSpPr>
          <p:cNvPr id="47" name="Text 45"/>
          <p:cNvSpPr/>
          <p:nvPr/>
        </p:nvSpPr>
        <p:spPr>
          <a:xfrm>
            <a:off x="11971663" y="6414265"/>
            <a:ext cx="3635566" cy="281542"/>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流式写入或高频小批量写入产生海量小文件</a:t>
            </a:r>
            <a:endParaRPr lang="en-US" sz="1600" dirty="0"/>
          </a:p>
        </p:txBody>
      </p:sp>
      <p:sp>
        <p:nvSpPr>
          <p:cNvPr id="48" name="Text 46"/>
          <p:cNvSpPr/>
          <p:nvPr/>
        </p:nvSpPr>
        <p:spPr>
          <a:xfrm>
            <a:off x="11971663" y="6790675"/>
            <a:ext cx="3635566" cy="563084"/>
          </a:xfrm>
          <a:prstGeom prst="rect">
            <a:avLst/>
          </a:prstGeom>
          <a:noFill/>
          <a:ln/>
        </p:spPr>
        <p:txBody>
          <a:bodyPr wrap="square" lIns="0" tIns="0" rIns="0" bIns="0" rtlCol="0" anchor="ctr"/>
          <a:lstStyle/>
          <a:p>
            <a:pPr>
              <a:lnSpc>
                <a:spcPct val="140000"/>
              </a:lnSpc>
            </a:pPr>
            <a:r>
              <a:rPr lang="en-US" sz="1349" dirty="0">
                <a:solidFill>
                  <a:srgbClr val="A0AEC0"/>
                </a:solidFill>
                <a:latin typeface="MiSans" pitchFamily="34" charset="0"/>
                <a:ea typeface="MiSans" pitchFamily="34" charset="-122"/>
                <a:cs typeface="MiSans" pitchFamily="34" charset="-120"/>
              </a:rPr>
              <a:t>NameNode或对象存储元数据服务承受巨大压力</a:t>
            </a:r>
            <a:endParaRPr lang="en-US" sz="1600" dirty="0"/>
          </a:p>
        </p:txBody>
      </p:sp>
      <p:sp>
        <p:nvSpPr>
          <p:cNvPr id="49" name="Shape 47"/>
          <p:cNvSpPr/>
          <p:nvPr/>
        </p:nvSpPr>
        <p:spPr>
          <a:xfrm>
            <a:off x="746699" y="7821976"/>
            <a:ext cx="14774843" cy="587566"/>
          </a:xfrm>
          <a:custGeom>
            <a:avLst/>
            <a:gdLst/>
            <a:ahLst/>
            <a:cxnLst/>
            <a:rect l="l" t="t" r="r" b="b"/>
            <a:pathLst>
              <a:path w="14774843" h="587566">
                <a:moveTo>
                  <a:pt x="24482" y="0"/>
                </a:moveTo>
                <a:lnTo>
                  <a:pt x="14725881" y="0"/>
                </a:lnTo>
                <a:cubicBezTo>
                  <a:pt x="14752922" y="0"/>
                  <a:pt x="14774843" y="21921"/>
                  <a:pt x="14774843" y="48962"/>
                </a:cubicBezTo>
                <a:lnTo>
                  <a:pt x="14774843" y="538604"/>
                </a:lnTo>
                <a:cubicBezTo>
                  <a:pt x="14774843" y="565645"/>
                  <a:pt x="14752922" y="587566"/>
                  <a:pt x="14725881" y="587566"/>
                </a:cubicBezTo>
                <a:lnTo>
                  <a:pt x="24482" y="587566"/>
                </a:lnTo>
                <a:cubicBezTo>
                  <a:pt x="10961" y="587566"/>
                  <a:pt x="0" y="576605"/>
                  <a:pt x="0" y="563084"/>
                </a:cubicBezTo>
                <a:lnTo>
                  <a:pt x="0" y="24482"/>
                </a:lnTo>
                <a:cubicBezTo>
                  <a:pt x="0" y="10970"/>
                  <a:pt x="10970" y="0"/>
                  <a:pt x="24482" y="0"/>
                </a:cubicBezTo>
                <a:close/>
              </a:path>
            </a:pathLst>
          </a:custGeom>
          <a:solidFill>
            <a:srgbClr val="1A202C"/>
          </a:solidFill>
          <a:ln/>
        </p:spPr>
        <p:txBody>
          <a:bodyPr/>
          <a:lstStyle/>
          <a:p>
            <a:endParaRPr lang="zh-CN" altLang="en-US"/>
          </a:p>
        </p:txBody>
      </p:sp>
      <p:sp>
        <p:nvSpPr>
          <p:cNvPr id="50" name="Shape 48"/>
          <p:cNvSpPr/>
          <p:nvPr/>
        </p:nvSpPr>
        <p:spPr>
          <a:xfrm>
            <a:off x="746699" y="7821976"/>
            <a:ext cx="24482" cy="587566"/>
          </a:xfrm>
          <a:custGeom>
            <a:avLst/>
            <a:gdLst/>
            <a:ahLst/>
            <a:cxnLst/>
            <a:rect l="l" t="t" r="r" b="b"/>
            <a:pathLst>
              <a:path w="24482" h="587566">
                <a:moveTo>
                  <a:pt x="24482" y="0"/>
                </a:moveTo>
                <a:lnTo>
                  <a:pt x="24482" y="0"/>
                </a:lnTo>
                <a:lnTo>
                  <a:pt x="24482" y="587566"/>
                </a:lnTo>
                <a:lnTo>
                  <a:pt x="24482" y="587566"/>
                </a:lnTo>
                <a:cubicBezTo>
                  <a:pt x="10961" y="587566"/>
                  <a:pt x="0" y="576605"/>
                  <a:pt x="0" y="563084"/>
                </a:cubicBezTo>
                <a:lnTo>
                  <a:pt x="0" y="24482"/>
                </a:lnTo>
                <a:cubicBezTo>
                  <a:pt x="0" y="10970"/>
                  <a:pt x="10970" y="0"/>
                  <a:pt x="24482" y="0"/>
                </a:cubicBezTo>
                <a:close/>
              </a:path>
            </a:pathLst>
          </a:custGeom>
          <a:solidFill>
            <a:srgbClr val="4FD1C5"/>
          </a:solidFill>
          <a:ln/>
        </p:spPr>
        <p:txBody>
          <a:bodyPr/>
          <a:lstStyle/>
          <a:p>
            <a:endParaRPr lang="zh-CN" altLang="en-US"/>
          </a:p>
        </p:txBody>
      </p:sp>
      <p:sp>
        <p:nvSpPr>
          <p:cNvPr id="51" name="Text 49"/>
          <p:cNvSpPr/>
          <p:nvPr/>
        </p:nvSpPr>
        <p:spPr>
          <a:xfrm>
            <a:off x="905831" y="7968867"/>
            <a:ext cx="14566747" cy="293783"/>
          </a:xfrm>
          <a:prstGeom prst="rect">
            <a:avLst/>
          </a:prstGeom>
          <a:noFill/>
          <a:ln/>
        </p:spPr>
        <p:txBody>
          <a:bodyPr wrap="square" lIns="0" tIns="0" rIns="0" bIns="0" rtlCol="0" anchor="ctr"/>
          <a:lstStyle/>
          <a:p>
            <a:pPr>
              <a:lnSpc>
                <a:spcPct val="130000"/>
              </a:lnSpc>
            </a:pPr>
            <a:r>
              <a:rPr lang="en-US" sz="1542" b="1" dirty="0">
                <a:solidFill>
                  <a:srgbClr val="4FD1C5"/>
                </a:solidFill>
                <a:latin typeface="MiSans" pitchFamily="34" charset="0"/>
                <a:ea typeface="MiSans" pitchFamily="34" charset="-122"/>
                <a:cs typeface="MiSans" pitchFamily="34" charset="-120"/>
              </a:rPr>
              <a:t>根本问题：数据湖在"低成本地存数据"方面非常成功,但在"系统性地管数据、用数据"方面仍然缺乏配套机制</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26387" y="426387"/>
            <a:ext cx="3080645" cy="255832"/>
          </a:xfrm>
          <a:prstGeom prst="rect">
            <a:avLst/>
          </a:prstGeom>
          <a:noFill/>
          <a:ln/>
        </p:spPr>
        <p:txBody>
          <a:bodyPr wrap="square" lIns="0" tIns="0" rIns="0" bIns="0" rtlCol="0" anchor="ctr"/>
          <a:lstStyle/>
          <a:p>
            <a:pPr>
              <a:lnSpc>
                <a:spcPct val="130000"/>
              </a:lnSpc>
            </a:pPr>
            <a:r>
              <a:rPr lang="en-US" sz="1343" b="1" kern="0" spc="67" dirty="0">
                <a:solidFill>
                  <a:srgbClr val="4FD1C5"/>
                </a:solidFill>
                <a:latin typeface="MiSans" pitchFamily="34" charset="0"/>
                <a:ea typeface="MiSans" pitchFamily="34" charset="-122"/>
                <a:cs typeface="MiSans" pitchFamily="34" charset="-120"/>
              </a:rPr>
              <a:t>DATA ARCHITECTURE EVOLUTION</a:t>
            </a:r>
            <a:endParaRPr lang="en-US" sz="1600" dirty="0"/>
          </a:p>
        </p:txBody>
      </p:sp>
      <p:sp>
        <p:nvSpPr>
          <p:cNvPr id="3" name="Text 1"/>
          <p:cNvSpPr/>
          <p:nvPr/>
        </p:nvSpPr>
        <p:spPr>
          <a:xfrm>
            <a:off x="426387" y="767496"/>
            <a:ext cx="15595100" cy="426387"/>
          </a:xfrm>
          <a:prstGeom prst="rect">
            <a:avLst/>
          </a:prstGeom>
          <a:noFill/>
          <a:ln/>
        </p:spPr>
        <p:txBody>
          <a:bodyPr wrap="square" lIns="0" tIns="0" rIns="0" bIns="0" rtlCol="0" anchor="ctr"/>
          <a:lstStyle/>
          <a:p>
            <a:pPr>
              <a:lnSpc>
                <a:spcPct val="90000"/>
              </a:lnSpc>
            </a:pPr>
            <a:r>
              <a:rPr lang="en-US" sz="3022" b="1" dirty="0">
                <a:solidFill>
                  <a:srgbClr val="F7FAFC"/>
                </a:solidFill>
                <a:latin typeface="Noto Sans SC" pitchFamily="34" charset="0"/>
                <a:ea typeface="Noto Sans SC" pitchFamily="34" charset="-122"/>
                <a:cs typeface="Noto Sans SC" pitchFamily="34" charset="-120"/>
              </a:rPr>
              <a:t>第三代：湖仓一体的定义与优势</a:t>
            </a:r>
            <a:endParaRPr lang="en-US" sz="1600" dirty="0"/>
          </a:p>
        </p:txBody>
      </p:sp>
      <p:sp>
        <p:nvSpPr>
          <p:cNvPr id="4" name="Shape 2"/>
          <p:cNvSpPr/>
          <p:nvPr/>
        </p:nvSpPr>
        <p:spPr>
          <a:xfrm>
            <a:off x="426387" y="1321799"/>
            <a:ext cx="852774" cy="42639"/>
          </a:xfrm>
          <a:custGeom>
            <a:avLst/>
            <a:gdLst/>
            <a:ahLst/>
            <a:cxnLst/>
            <a:rect l="l" t="t" r="r" b="b"/>
            <a:pathLst>
              <a:path w="852774" h="42639">
                <a:moveTo>
                  <a:pt x="0" y="0"/>
                </a:moveTo>
                <a:lnTo>
                  <a:pt x="852774" y="0"/>
                </a:lnTo>
                <a:lnTo>
                  <a:pt x="852774" y="42639"/>
                </a:lnTo>
                <a:lnTo>
                  <a:pt x="0" y="42639"/>
                </a:lnTo>
                <a:lnTo>
                  <a:pt x="0" y="0"/>
                </a:lnTo>
                <a:close/>
              </a:path>
            </a:pathLst>
          </a:custGeom>
          <a:solidFill>
            <a:srgbClr val="4FD1C5"/>
          </a:solidFill>
          <a:ln/>
        </p:spPr>
        <p:txBody>
          <a:bodyPr/>
          <a:lstStyle/>
          <a:p>
            <a:endParaRPr lang="zh-CN" altLang="en-US"/>
          </a:p>
        </p:txBody>
      </p:sp>
      <p:sp>
        <p:nvSpPr>
          <p:cNvPr id="5" name="Shape 3"/>
          <p:cNvSpPr/>
          <p:nvPr/>
        </p:nvSpPr>
        <p:spPr>
          <a:xfrm>
            <a:off x="447706" y="1577631"/>
            <a:ext cx="15381907" cy="2462384"/>
          </a:xfrm>
          <a:custGeom>
            <a:avLst/>
            <a:gdLst/>
            <a:ahLst/>
            <a:cxnLst/>
            <a:rect l="l" t="t" r="r" b="b"/>
            <a:pathLst>
              <a:path w="15381907" h="2462384">
                <a:moveTo>
                  <a:pt x="42639" y="0"/>
                </a:moveTo>
                <a:lnTo>
                  <a:pt x="15296635" y="0"/>
                </a:lnTo>
                <a:cubicBezTo>
                  <a:pt x="15343729" y="0"/>
                  <a:pt x="15381907" y="38178"/>
                  <a:pt x="15381907" y="85272"/>
                </a:cubicBezTo>
                <a:lnTo>
                  <a:pt x="15381907" y="2377112"/>
                </a:lnTo>
                <a:cubicBezTo>
                  <a:pt x="15381907" y="2424207"/>
                  <a:pt x="15343729" y="2462384"/>
                  <a:pt x="15296635" y="2462384"/>
                </a:cubicBezTo>
                <a:lnTo>
                  <a:pt x="42639" y="2462384"/>
                </a:lnTo>
                <a:cubicBezTo>
                  <a:pt x="19090" y="2462384"/>
                  <a:pt x="0" y="2443294"/>
                  <a:pt x="0" y="2419746"/>
                </a:cubicBezTo>
                <a:lnTo>
                  <a:pt x="0" y="42639"/>
                </a:lnTo>
                <a:cubicBezTo>
                  <a:pt x="0" y="19106"/>
                  <a:pt x="19106" y="0"/>
                  <a:pt x="42639" y="0"/>
                </a:cubicBezTo>
                <a:close/>
              </a:path>
            </a:pathLst>
          </a:custGeom>
          <a:solidFill>
            <a:srgbClr val="4FD1C5">
              <a:alpha val="10196"/>
            </a:srgbClr>
          </a:solidFill>
          <a:ln/>
        </p:spPr>
        <p:txBody>
          <a:bodyPr/>
          <a:lstStyle/>
          <a:p>
            <a:endParaRPr lang="zh-CN" altLang="en-US"/>
          </a:p>
        </p:txBody>
      </p:sp>
      <p:sp>
        <p:nvSpPr>
          <p:cNvPr id="6" name="Shape 4"/>
          <p:cNvSpPr/>
          <p:nvPr/>
        </p:nvSpPr>
        <p:spPr>
          <a:xfrm>
            <a:off x="447706" y="1577631"/>
            <a:ext cx="42639" cy="2462384"/>
          </a:xfrm>
          <a:custGeom>
            <a:avLst/>
            <a:gdLst/>
            <a:ahLst/>
            <a:cxnLst/>
            <a:rect l="l" t="t" r="r" b="b"/>
            <a:pathLst>
              <a:path w="42639" h="2462384">
                <a:moveTo>
                  <a:pt x="42639" y="0"/>
                </a:moveTo>
                <a:lnTo>
                  <a:pt x="42639" y="0"/>
                </a:lnTo>
                <a:lnTo>
                  <a:pt x="42639" y="2462384"/>
                </a:lnTo>
                <a:lnTo>
                  <a:pt x="42639" y="2462384"/>
                </a:lnTo>
                <a:cubicBezTo>
                  <a:pt x="19090" y="2462384"/>
                  <a:pt x="0" y="2443294"/>
                  <a:pt x="0" y="2419746"/>
                </a:cubicBezTo>
                <a:lnTo>
                  <a:pt x="0" y="42639"/>
                </a:lnTo>
                <a:cubicBezTo>
                  <a:pt x="0" y="19106"/>
                  <a:pt x="19106" y="0"/>
                  <a:pt x="42639" y="0"/>
                </a:cubicBezTo>
                <a:close/>
              </a:path>
            </a:pathLst>
          </a:custGeom>
          <a:solidFill>
            <a:srgbClr val="4FD1C5"/>
          </a:solidFill>
          <a:ln/>
        </p:spPr>
        <p:txBody>
          <a:bodyPr/>
          <a:lstStyle/>
          <a:p>
            <a:endParaRPr lang="zh-CN" altLang="en-US"/>
          </a:p>
        </p:txBody>
      </p:sp>
      <p:sp>
        <p:nvSpPr>
          <p:cNvPr id="7" name="Text 5"/>
          <p:cNvSpPr/>
          <p:nvPr/>
        </p:nvSpPr>
        <p:spPr>
          <a:xfrm>
            <a:off x="682219" y="1790825"/>
            <a:ext cx="15062117" cy="341110"/>
          </a:xfrm>
          <a:prstGeom prst="rect">
            <a:avLst/>
          </a:prstGeom>
          <a:noFill/>
          <a:ln/>
        </p:spPr>
        <p:txBody>
          <a:bodyPr wrap="square" lIns="0" tIns="0" rIns="0" bIns="0" rtlCol="0" anchor="ctr"/>
          <a:lstStyle/>
          <a:p>
            <a:pPr>
              <a:lnSpc>
                <a:spcPct val="110000"/>
              </a:lnSpc>
            </a:pPr>
            <a:r>
              <a:rPr lang="en-US" sz="2014" b="1" dirty="0">
                <a:solidFill>
                  <a:srgbClr val="F7FAFC"/>
                </a:solidFill>
                <a:latin typeface="Noto Sans SC" pitchFamily="34" charset="0"/>
                <a:ea typeface="Noto Sans SC" pitchFamily="34" charset="-122"/>
                <a:cs typeface="Noto Sans SC" pitchFamily="34" charset="-120"/>
              </a:rPr>
              <a:t>湖仓一体定义</a:t>
            </a:r>
            <a:endParaRPr lang="en-US" sz="1600" dirty="0"/>
          </a:p>
        </p:txBody>
      </p:sp>
      <p:sp>
        <p:nvSpPr>
          <p:cNvPr id="8" name="Text 6"/>
          <p:cNvSpPr/>
          <p:nvPr/>
        </p:nvSpPr>
        <p:spPr>
          <a:xfrm>
            <a:off x="682219" y="2302489"/>
            <a:ext cx="15030138" cy="628921"/>
          </a:xfrm>
          <a:prstGeom prst="rect">
            <a:avLst/>
          </a:prstGeom>
          <a:noFill/>
          <a:ln/>
        </p:spPr>
        <p:txBody>
          <a:bodyPr wrap="square" lIns="0" tIns="0" rIns="0" bIns="0" rtlCol="0" anchor="ctr"/>
          <a:lstStyle/>
          <a:p>
            <a:pPr>
              <a:lnSpc>
                <a:spcPct val="140000"/>
              </a:lnSpc>
            </a:pPr>
            <a:r>
              <a:rPr lang="en-US" sz="1511" dirty="0">
                <a:solidFill>
                  <a:srgbClr val="A0AEC0"/>
                </a:solidFill>
                <a:latin typeface="MiSans" pitchFamily="34" charset="0"/>
                <a:ea typeface="MiSans" pitchFamily="34" charset="-122"/>
                <a:cs typeface="MiSans" pitchFamily="34" charset="-120"/>
              </a:rPr>
              <a:t>Lakehouse可以被理解为</a:t>
            </a:r>
            <a:r>
              <a:rPr lang="en-US" sz="1511" b="1" dirty="0">
                <a:solidFill>
                  <a:srgbClr val="4FD1C5"/>
                </a:solidFill>
                <a:latin typeface="MiSans" pitchFamily="34" charset="0"/>
                <a:ea typeface="MiSans" pitchFamily="34" charset="-122"/>
                <a:cs typeface="MiSans" pitchFamily="34" charset="-120"/>
              </a:rPr>
              <a:t>"建在数据湖之上的数仓级表管理层"</a:t>
            </a:r>
            <a:r>
              <a:rPr lang="en-US" sz="1511" dirty="0">
                <a:solidFill>
                  <a:srgbClr val="A0AEC0"/>
                </a:solidFill>
                <a:latin typeface="MiSans" pitchFamily="34" charset="0"/>
                <a:ea typeface="MiSans" pitchFamily="34" charset="-122"/>
                <a:cs typeface="MiSans" pitchFamily="34" charset="-120"/>
              </a:rPr>
              <a:t>。它以Parquet等开放文件格式和对象存储/HDFS为基础存储,将传统数仓才具备的ACID事务、Schema管控和高性能查询能力下沉到数据湖之上,并通过标准化的表格式对外提供统一的表视图。</a:t>
            </a:r>
            <a:endParaRPr lang="en-US" sz="1600" dirty="0"/>
          </a:p>
        </p:txBody>
      </p:sp>
      <p:sp>
        <p:nvSpPr>
          <p:cNvPr id="9" name="Shape 7"/>
          <p:cNvSpPr/>
          <p:nvPr/>
        </p:nvSpPr>
        <p:spPr>
          <a:xfrm>
            <a:off x="719528" y="3139273"/>
            <a:ext cx="223853" cy="255832"/>
          </a:xfrm>
          <a:custGeom>
            <a:avLst/>
            <a:gdLst/>
            <a:ahLst/>
            <a:cxnLst/>
            <a:rect l="l" t="t" r="r" b="b"/>
            <a:pathLst>
              <a:path w="223853" h="255832">
                <a:moveTo>
                  <a:pt x="223853" y="102833"/>
                </a:moveTo>
                <a:cubicBezTo>
                  <a:pt x="216458" y="107729"/>
                  <a:pt x="207964" y="111677"/>
                  <a:pt x="199119" y="114825"/>
                </a:cubicBezTo>
                <a:cubicBezTo>
                  <a:pt x="175635" y="123219"/>
                  <a:pt x="144805" y="127916"/>
                  <a:pt x="111927" y="127916"/>
                </a:cubicBezTo>
                <a:cubicBezTo>
                  <a:pt x="79048" y="127916"/>
                  <a:pt x="48168" y="123169"/>
                  <a:pt x="24734" y="114825"/>
                </a:cubicBezTo>
                <a:cubicBezTo>
                  <a:pt x="15940" y="111677"/>
                  <a:pt x="7395" y="107729"/>
                  <a:pt x="0" y="102833"/>
                </a:cubicBezTo>
                <a:lnTo>
                  <a:pt x="0" y="143906"/>
                </a:lnTo>
                <a:cubicBezTo>
                  <a:pt x="0" y="165991"/>
                  <a:pt x="50117" y="183879"/>
                  <a:pt x="111927" y="183879"/>
                </a:cubicBezTo>
                <a:cubicBezTo>
                  <a:pt x="173736" y="183879"/>
                  <a:pt x="223853" y="165991"/>
                  <a:pt x="223853" y="143906"/>
                </a:cubicBezTo>
                <a:lnTo>
                  <a:pt x="223853" y="102833"/>
                </a:lnTo>
                <a:close/>
                <a:moveTo>
                  <a:pt x="223853" y="63958"/>
                </a:moveTo>
                <a:lnTo>
                  <a:pt x="223853" y="39974"/>
                </a:lnTo>
                <a:cubicBezTo>
                  <a:pt x="223853" y="17888"/>
                  <a:pt x="173736" y="0"/>
                  <a:pt x="111927" y="0"/>
                </a:cubicBezTo>
                <a:cubicBezTo>
                  <a:pt x="50117" y="0"/>
                  <a:pt x="0" y="17888"/>
                  <a:pt x="0" y="39974"/>
                </a:cubicBezTo>
                <a:lnTo>
                  <a:pt x="0" y="63958"/>
                </a:lnTo>
                <a:cubicBezTo>
                  <a:pt x="0" y="86044"/>
                  <a:pt x="50117" y="103932"/>
                  <a:pt x="111927" y="103932"/>
                </a:cubicBezTo>
                <a:cubicBezTo>
                  <a:pt x="173736" y="103932"/>
                  <a:pt x="223853" y="86044"/>
                  <a:pt x="223853" y="63958"/>
                </a:cubicBezTo>
                <a:close/>
                <a:moveTo>
                  <a:pt x="199119" y="194772"/>
                </a:moveTo>
                <a:cubicBezTo>
                  <a:pt x="175685" y="203117"/>
                  <a:pt x="144855" y="207864"/>
                  <a:pt x="111927" y="207864"/>
                </a:cubicBezTo>
                <a:cubicBezTo>
                  <a:pt x="78998" y="207864"/>
                  <a:pt x="48168" y="203117"/>
                  <a:pt x="24734" y="194772"/>
                </a:cubicBezTo>
                <a:cubicBezTo>
                  <a:pt x="15940" y="191624"/>
                  <a:pt x="7395" y="187677"/>
                  <a:pt x="0" y="182780"/>
                </a:cubicBezTo>
                <a:lnTo>
                  <a:pt x="0" y="215858"/>
                </a:lnTo>
                <a:cubicBezTo>
                  <a:pt x="0" y="237944"/>
                  <a:pt x="50117" y="255832"/>
                  <a:pt x="111927" y="255832"/>
                </a:cubicBezTo>
                <a:cubicBezTo>
                  <a:pt x="173736" y="255832"/>
                  <a:pt x="223853" y="237944"/>
                  <a:pt x="223853" y="215858"/>
                </a:cubicBezTo>
                <a:lnTo>
                  <a:pt x="223853" y="182780"/>
                </a:lnTo>
                <a:cubicBezTo>
                  <a:pt x="216458" y="187677"/>
                  <a:pt x="207964" y="191624"/>
                  <a:pt x="199119" y="194772"/>
                </a:cubicBezTo>
                <a:close/>
              </a:path>
            </a:pathLst>
          </a:custGeom>
          <a:solidFill>
            <a:srgbClr val="4FD1C5"/>
          </a:solidFill>
          <a:ln/>
        </p:spPr>
        <p:txBody>
          <a:bodyPr/>
          <a:lstStyle/>
          <a:p>
            <a:endParaRPr lang="zh-CN" altLang="en-US"/>
          </a:p>
        </p:txBody>
      </p:sp>
      <p:sp>
        <p:nvSpPr>
          <p:cNvPr id="10" name="Text 8"/>
          <p:cNvSpPr/>
          <p:nvPr/>
        </p:nvSpPr>
        <p:spPr>
          <a:xfrm>
            <a:off x="1108023" y="3096635"/>
            <a:ext cx="4519701" cy="255832"/>
          </a:xfrm>
          <a:prstGeom prst="rect">
            <a:avLst/>
          </a:prstGeom>
          <a:noFill/>
          <a:ln/>
        </p:spPr>
        <p:txBody>
          <a:bodyPr wrap="square" lIns="0" tIns="0" rIns="0" bIns="0" rtlCol="0" anchor="ctr"/>
          <a:lstStyle/>
          <a:p>
            <a:pPr>
              <a:lnSpc>
                <a:spcPct val="130000"/>
              </a:lnSpc>
            </a:pPr>
            <a:r>
              <a:rPr lang="en-US" sz="1343" b="1" dirty="0">
                <a:solidFill>
                  <a:srgbClr val="F7FAFC"/>
                </a:solidFill>
                <a:latin typeface="MiSans" pitchFamily="34" charset="0"/>
                <a:ea typeface="MiSans" pitchFamily="34" charset="-122"/>
                <a:cs typeface="MiSans" pitchFamily="34" charset="-120"/>
              </a:rPr>
              <a:t>继承数据湖优势</a:t>
            </a:r>
            <a:endParaRPr lang="en-US" sz="1600" dirty="0"/>
          </a:p>
        </p:txBody>
      </p:sp>
      <p:sp>
        <p:nvSpPr>
          <p:cNvPr id="11" name="Text 9"/>
          <p:cNvSpPr/>
          <p:nvPr/>
        </p:nvSpPr>
        <p:spPr>
          <a:xfrm>
            <a:off x="1108023" y="3395106"/>
            <a:ext cx="4509041" cy="426387"/>
          </a:xfrm>
          <a:prstGeom prst="rect">
            <a:avLst/>
          </a:prstGeom>
          <a:noFill/>
          <a:ln/>
        </p:spPr>
        <p:txBody>
          <a:bodyPr wrap="square" lIns="0" tIns="0" rIns="0" bIns="0" rtlCol="0" anchor="ctr"/>
          <a:lstStyle/>
          <a:p>
            <a:pPr>
              <a:lnSpc>
                <a:spcPct val="120000"/>
              </a:lnSpc>
            </a:pPr>
            <a:r>
              <a:rPr lang="en-US" sz="1175" dirty="0">
                <a:solidFill>
                  <a:srgbClr val="A0AEC0"/>
                </a:solidFill>
                <a:latin typeface="MiSans" pitchFamily="34" charset="0"/>
                <a:ea typeface="MiSans" pitchFamily="34" charset="-122"/>
                <a:cs typeface="MiSans" pitchFamily="34" charset="-120"/>
              </a:rPr>
              <a:t>利用对象存储/HDFS的低成本与高扩展性,保留"能放得下、放得久"的优势</a:t>
            </a:r>
            <a:endParaRPr lang="en-US" sz="1600" dirty="0"/>
          </a:p>
        </p:txBody>
      </p:sp>
      <p:sp>
        <p:nvSpPr>
          <p:cNvPr id="12" name="Shape 10"/>
          <p:cNvSpPr/>
          <p:nvPr/>
        </p:nvSpPr>
        <p:spPr>
          <a:xfrm>
            <a:off x="5739567" y="3139273"/>
            <a:ext cx="255832" cy="255832"/>
          </a:xfrm>
          <a:custGeom>
            <a:avLst/>
            <a:gdLst/>
            <a:ahLst/>
            <a:cxnLst/>
            <a:rect l="l" t="t" r="r" b="b"/>
            <a:pathLst>
              <a:path w="255832" h="255832">
                <a:moveTo>
                  <a:pt x="127916" y="0"/>
                </a:moveTo>
                <a:cubicBezTo>
                  <a:pt x="130215" y="0"/>
                  <a:pt x="132513" y="500"/>
                  <a:pt x="134612" y="1449"/>
                </a:cubicBezTo>
                <a:lnTo>
                  <a:pt x="228750" y="41373"/>
                </a:lnTo>
                <a:cubicBezTo>
                  <a:pt x="239743" y="46020"/>
                  <a:pt x="247937" y="56863"/>
                  <a:pt x="247887" y="69954"/>
                </a:cubicBezTo>
                <a:cubicBezTo>
                  <a:pt x="247638" y="119522"/>
                  <a:pt x="227251" y="210212"/>
                  <a:pt x="141157" y="251435"/>
                </a:cubicBezTo>
                <a:cubicBezTo>
                  <a:pt x="132813" y="255432"/>
                  <a:pt x="123119" y="255432"/>
                  <a:pt x="114775" y="251435"/>
                </a:cubicBezTo>
                <a:cubicBezTo>
                  <a:pt x="28631" y="210212"/>
                  <a:pt x="8295" y="119522"/>
                  <a:pt x="8045" y="69954"/>
                </a:cubicBezTo>
                <a:cubicBezTo>
                  <a:pt x="7995" y="56863"/>
                  <a:pt x="16189" y="46020"/>
                  <a:pt x="27182" y="41373"/>
                </a:cubicBezTo>
                <a:lnTo>
                  <a:pt x="121270" y="1449"/>
                </a:lnTo>
                <a:cubicBezTo>
                  <a:pt x="123369" y="500"/>
                  <a:pt x="125618" y="0"/>
                  <a:pt x="127916" y="0"/>
                </a:cubicBezTo>
                <a:close/>
                <a:moveTo>
                  <a:pt x="127916" y="33378"/>
                </a:moveTo>
                <a:lnTo>
                  <a:pt x="127916" y="222304"/>
                </a:lnTo>
                <a:cubicBezTo>
                  <a:pt x="196871" y="188926"/>
                  <a:pt x="215409" y="114975"/>
                  <a:pt x="215858" y="70704"/>
                </a:cubicBezTo>
                <a:lnTo>
                  <a:pt x="127916" y="33428"/>
                </a:lnTo>
                <a:lnTo>
                  <a:pt x="127916" y="33428"/>
                </a:lnTo>
                <a:close/>
              </a:path>
            </a:pathLst>
          </a:custGeom>
          <a:solidFill>
            <a:srgbClr val="4FD1C5"/>
          </a:solidFill>
          <a:ln/>
        </p:spPr>
        <p:txBody>
          <a:bodyPr/>
          <a:lstStyle/>
          <a:p>
            <a:endParaRPr lang="zh-CN" altLang="en-US"/>
          </a:p>
        </p:txBody>
      </p:sp>
      <p:sp>
        <p:nvSpPr>
          <p:cNvPr id="13" name="Text 11"/>
          <p:cNvSpPr/>
          <p:nvPr/>
        </p:nvSpPr>
        <p:spPr>
          <a:xfrm>
            <a:off x="6147133" y="3096635"/>
            <a:ext cx="4519701" cy="255832"/>
          </a:xfrm>
          <a:prstGeom prst="rect">
            <a:avLst/>
          </a:prstGeom>
          <a:noFill/>
          <a:ln/>
        </p:spPr>
        <p:txBody>
          <a:bodyPr wrap="square" lIns="0" tIns="0" rIns="0" bIns="0" rtlCol="0" anchor="ctr"/>
          <a:lstStyle/>
          <a:p>
            <a:pPr>
              <a:lnSpc>
                <a:spcPct val="130000"/>
              </a:lnSpc>
            </a:pPr>
            <a:r>
              <a:rPr lang="en-US" sz="1343" b="1" dirty="0">
                <a:solidFill>
                  <a:srgbClr val="F7FAFC"/>
                </a:solidFill>
                <a:latin typeface="MiSans" pitchFamily="34" charset="0"/>
                <a:ea typeface="MiSans" pitchFamily="34" charset="-122"/>
                <a:cs typeface="MiSans" pitchFamily="34" charset="-120"/>
              </a:rPr>
              <a:t>补齐数仓能力</a:t>
            </a:r>
            <a:endParaRPr lang="en-US" sz="1600" dirty="0"/>
          </a:p>
        </p:txBody>
      </p:sp>
      <p:sp>
        <p:nvSpPr>
          <p:cNvPr id="14" name="Text 12"/>
          <p:cNvSpPr/>
          <p:nvPr/>
        </p:nvSpPr>
        <p:spPr>
          <a:xfrm>
            <a:off x="6147133" y="3395106"/>
            <a:ext cx="4509041" cy="426387"/>
          </a:xfrm>
          <a:prstGeom prst="rect">
            <a:avLst/>
          </a:prstGeom>
          <a:noFill/>
          <a:ln/>
        </p:spPr>
        <p:txBody>
          <a:bodyPr wrap="square" lIns="0" tIns="0" rIns="0" bIns="0" rtlCol="0" anchor="ctr"/>
          <a:lstStyle/>
          <a:p>
            <a:pPr>
              <a:lnSpc>
                <a:spcPct val="120000"/>
              </a:lnSpc>
            </a:pPr>
            <a:r>
              <a:rPr lang="en-US" sz="1175" dirty="0">
                <a:solidFill>
                  <a:srgbClr val="A0AEC0"/>
                </a:solidFill>
                <a:latin typeface="MiSans" pitchFamily="34" charset="0"/>
                <a:ea typeface="MiSans" pitchFamily="34" charset="-122"/>
                <a:cs typeface="MiSans" pitchFamily="34" charset="-120"/>
              </a:rPr>
              <a:t>引入ACID事务、快照隔离、数据跳过等,使复杂分析在湖上也能稳定运行</a:t>
            </a:r>
            <a:endParaRPr lang="en-US" sz="1600" dirty="0"/>
          </a:p>
        </p:txBody>
      </p:sp>
      <p:sp>
        <p:nvSpPr>
          <p:cNvPr id="15" name="Shape 13"/>
          <p:cNvSpPr/>
          <p:nvPr/>
        </p:nvSpPr>
        <p:spPr>
          <a:xfrm>
            <a:off x="10802329" y="3139273"/>
            <a:ext cx="223853" cy="255832"/>
          </a:xfrm>
          <a:custGeom>
            <a:avLst/>
            <a:gdLst/>
            <a:ahLst/>
            <a:cxnLst/>
            <a:rect l="l" t="t" r="r" b="b"/>
            <a:pathLst>
              <a:path w="223853" h="255832">
                <a:moveTo>
                  <a:pt x="63958" y="-15990"/>
                </a:moveTo>
                <a:cubicBezTo>
                  <a:pt x="72802" y="-15990"/>
                  <a:pt x="79948" y="-8844"/>
                  <a:pt x="79948" y="0"/>
                </a:cubicBezTo>
                <a:lnTo>
                  <a:pt x="79948" y="47969"/>
                </a:lnTo>
                <a:lnTo>
                  <a:pt x="143906" y="47969"/>
                </a:lnTo>
                <a:lnTo>
                  <a:pt x="143906" y="0"/>
                </a:lnTo>
                <a:cubicBezTo>
                  <a:pt x="143906" y="-8844"/>
                  <a:pt x="151051" y="-15990"/>
                  <a:pt x="159895" y="-15990"/>
                </a:cubicBezTo>
                <a:cubicBezTo>
                  <a:pt x="168739" y="-15990"/>
                  <a:pt x="175885" y="-8844"/>
                  <a:pt x="175885" y="0"/>
                </a:cubicBezTo>
                <a:lnTo>
                  <a:pt x="175885" y="47969"/>
                </a:lnTo>
                <a:lnTo>
                  <a:pt x="207864" y="47969"/>
                </a:lnTo>
                <a:cubicBezTo>
                  <a:pt x="216708" y="47969"/>
                  <a:pt x="223853" y="55114"/>
                  <a:pt x="223853" y="63958"/>
                </a:cubicBezTo>
                <a:cubicBezTo>
                  <a:pt x="223853" y="72802"/>
                  <a:pt x="216708" y="79948"/>
                  <a:pt x="207864" y="79948"/>
                </a:cubicBezTo>
                <a:lnTo>
                  <a:pt x="207864" y="111927"/>
                </a:lnTo>
                <a:cubicBezTo>
                  <a:pt x="207864" y="159445"/>
                  <a:pt x="173286" y="198919"/>
                  <a:pt x="127916" y="206514"/>
                </a:cubicBezTo>
                <a:lnTo>
                  <a:pt x="127916" y="239843"/>
                </a:lnTo>
                <a:cubicBezTo>
                  <a:pt x="127916" y="248687"/>
                  <a:pt x="120771" y="255832"/>
                  <a:pt x="111927" y="255832"/>
                </a:cubicBezTo>
                <a:cubicBezTo>
                  <a:pt x="103082" y="255832"/>
                  <a:pt x="95937" y="248687"/>
                  <a:pt x="95937" y="239843"/>
                </a:cubicBezTo>
                <a:lnTo>
                  <a:pt x="95937" y="206514"/>
                </a:lnTo>
                <a:cubicBezTo>
                  <a:pt x="50567" y="198919"/>
                  <a:pt x="15990" y="159445"/>
                  <a:pt x="15990" y="111927"/>
                </a:cubicBezTo>
                <a:lnTo>
                  <a:pt x="15990" y="79948"/>
                </a:lnTo>
                <a:cubicBezTo>
                  <a:pt x="7145" y="79948"/>
                  <a:pt x="0" y="72802"/>
                  <a:pt x="0" y="63958"/>
                </a:cubicBezTo>
                <a:cubicBezTo>
                  <a:pt x="0" y="55114"/>
                  <a:pt x="7145" y="47969"/>
                  <a:pt x="15990" y="47969"/>
                </a:cubicBezTo>
                <a:lnTo>
                  <a:pt x="47969" y="47969"/>
                </a:lnTo>
                <a:lnTo>
                  <a:pt x="47969" y="0"/>
                </a:lnTo>
                <a:cubicBezTo>
                  <a:pt x="47969" y="-8844"/>
                  <a:pt x="55114" y="-15990"/>
                  <a:pt x="63958" y="-15990"/>
                </a:cubicBezTo>
                <a:close/>
              </a:path>
            </a:pathLst>
          </a:custGeom>
          <a:solidFill>
            <a:srgbClr val="4FD1C5"/>
          </a:solidFill>
          <a:ln/>
        </p:spPr>
        <p:txBody>
          <a:bodyPr/>
          <a:lstStyle/>
          <a:p>
            <a:endParaRPr lang="zh-CN" altLang="en-US"/>
          </a:p>
        </p:txBody>
      </p:sp>
      <p:sp>
        <p:nvSpPr>
          <p:cNvPr id="16" name="Text 14"/>
          <p:cNvSpPr/>
          <p:nvPr/>
        </p:nvSpPr>
        <p:spPr>
          <a:xfrm>
            <a:off x="11198569" y="3096635"/>
            <a:ext cx="4509041" cy="255832"/>
          </a:xfrm>
          <a:prstGeom prst="rect">
            <a:avLst/>
          </a:prstGeom>
          <a:noFill/>
          <a:ln/>
        </p:spPr>
        <p:txBody>
          <a:bodyPr wrap="square" lIns="0" tIns="0" rIns="0" bIns="0" rtlCol="0" anchor="ctr"/>
          <a:lstStyle/>
          <a:p>
            <a:pPr>
              <a:lnSpc>
                <a:spcPct val="130000"/>
              </a:lnSpc>
            </a:pPr>
            <a:r>
              <a:rPr lang="en-US" sz="1343" b="1" dirty="0">
                <a:solidFill>
                  <a:srgbClr val="F7FAFC"/>
                </a:solidFill>
                <a:latin typeface="MiSans" pitchFamily="34" charset="0"/>
                <a:ea typeface="MiSans" pitchFamily="34" charset="-122"/>
                <a:cs typeface="MiSans" pitchFamily="34" charset="-120"/>
              </a:rPr>
              <a:t>保持引擎中立</a:t>
            </a:r>
            <a:endParaRPr lang="en-US" sz="1600" dirty="0"/>
          </a:p>
        </p:txBody>
      </p:sp>
      <p:sp>
        <p:nvSpPr>
          <p:cNvPr id="17" name="Text 15"/>
          <p:cNvSpPr/>
          <p:nvPr/>
        </p:nvSpPr>
        <p:spPr>
          <a:xfrm>
            <a:off x="11198569" y="3395106"/>
            <a:ext cx="4498382" cy="426387"/>
          </a:xfrm>
          <a:prstGeom prst="rect">
            <a:avLst/>
          </a:prstGeom>
          <a:noFill/>
          <a:ln/>
        </p:spPr>
        <p:txBody>
          <a:bodyPr wrap="square" lIns="0" tIns="0" rIns="0" bIns="0" rtlCol="0" anchor="ctr"/>
          <a:lstStyle/>
          <a:p>
            <a:pPr>
              <a:lnSpc>
                <a:spcPct val="120000"/>
              </a:lnSpc>
            </a:pPr>
            <a:r>
              <a:rPr lang="en-US" sz="1175" dirty="0">
                <a:solidFill>
                  <a:srgbClr val="A0AEC0"/>
                </a:solidFill>
                <a:latin typeface="MiSans" pitchFamily="34" charset="0"/>
                <a:ea typeface="MiSans" pitchFamily="34" charset="-122"/>
                <a:cs typeface="MiSans" pitchFamily="34" charset="-120"/>
              </a:rPr>
              <a:t>Spark、Flink、Trino、Presto等多种引擎可共享同一套Lakehouse表</a:t>
            </a:r>
            <a:endParaRPr lang="en-US" sz="1600" dirty="0"/>
          </a:p>
        </p:txBody>
      </p:sp>
      <p:sp>
        <p:nvSpPr>
          <p:cNvPr id="18" name="Shape 16"/>
          <p:cNvSpPr/>
          <p:nvPr/>
        </p:nvSpPr>
        <p:spPr>
          <a:xfrm>
            <a:off x="426387" y="4205241"/>
            <a:ext cx="15403226" cy="3570990"/>
          </a:xfrm>
          <a:custGeom>
            <a:avLst/>
            <a:gdLst/>
            <a:ahLst/>
            <a:cxnLst/>
            <a:rect l="l" t="t" r="r" b="b"/>
            <a:pathLst>
              <a:path w="15403226" h="3570990">
                <a:moveTo>
                  <a:pt x="85275" y="0"/>
                </a:moveTo>
                <a:lnTo>
                  <a:pt x="15317951" y="0"/>
                </a:lnTo>
                <a:cubicBezTo>
                  <a:pt x="15365047" y="0"/>
                  <a:pt x="15403226" y="38179"/>
                  <a:pt x="15403226" y="85275"/>
                </a:cubicBezTo>
                <a:lnTo>
                  <a:pt x="15403226" y="3485715"/>
                </a:lnTo>
                <a:cubicBezTo>
                  <a:pt x="15403226" y="3532811"/>
                  <a:pt x="15365047" y="3570990"/>
                  <a:pt x="15317951" y="3570990"/>
                </a:cubicBezTo>
                <a:lnTo>
                  <a:pt x="85275" y="3570990"/>
                </a:lnTo>
                <a:cubicBezTo>
                  <a:pt x="38179" y="3570990"/>
                  <a:pt x="0" y="3532811"/>
                  <a:pt x="0" y="3485715"/>
                </a:cubicBezTo>
                <a:lnTo>
                  <a:pt x="0" y="85275"/>
                </a:lnTo>
                <a:cubicBezTo>
                  <a:pt x="0" y="38179"/>
                  <a:pt x="38179" y="0"/>
                  <a:pt x="85275" y="0"/>
                </a:cubicBezTo>
                <a:close/>
              </a:path>
            </a:pathLst>
          </a:custGeom>
          <a:solidFill>
            <a:srgbClr val="4A5568">
              <a:alpha val="30196"/>
            </a:srgbClr>
          </a:solidFill>
          <a:ln/>
        </p:spPr>
        <p:txBody>
          <a:bodyPr/>
          <a:lstStyle/>
          <a:p>
            <a:endParaRPr lang="zh-CN" altLang="en-US"/>
          </a:p>
        </p:txBody>
      </p:sp>
      <p:sp>
        <p:nvSpPr>
          <p:cNvPr id="19" name="Text 17"/>
          <p:cNvSpPr/>
          <p:nvPr/>
        </p:nvSpPr>
        <p:spPr>
          <a:xfrm>
            <a:off x="596942" y="4375795"/>
            <a:ext cx="15168713" cy="298471"/>
          </a:xfrm>
          <a:prstGeom prst="rect">
            <a:avLst/>
          </a:prstGeom>
          <a:noFill/>
          <a:ln/>
        </p:spPr>
        <p:txBody>
          <a:bodyPr wrap="square" lIns="0" tIns="0" rIns="0" bIns="0" rtlCol="0" anchor="ctr"/>
          <a:lstStyle/>
          <a:p>
            <a:pPr>
              <a:lnSpc>
                <a:spcPct val="120000"/>
              </a:lnSpc>
            </a:pPr>
            <a:r>
              <a:rPr lang="en-US" sz="1679" b="1" dirty="0">
                <a:solidFill>
                  <a:srgbClr val="4FD1C5"/>
                </a:solidFill>
                <a:latin typeface="Noto Sans SC" pitchFamily="34" charset="0"/>
                <a:ea typeface="Noto Sans SC" pitchFamily="34" charset="-122"/>
                <a:cs typeface="Noto Sans SC" pitchFamily="34" charset="-120"/>
              </a:rPr>
              <a:t>Data Warehouse / Data Lake / Lakehouse 对比</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6942" y="4802182"/>
          <a:ext cx="15062116" cy="2803493"/>
        </p:xfrm>
        <a:graphic>
          <a:graphicData uri="http://schemas.openxmlformats.org/drawingml/2006/table">
            <a:tbl>
              <a:tblPr/>
              <a:tblGrid>
                <a:gridCol w="2025338">
                  <a:extLst>
                    <a:ext uri="{9D8B030D-6E8A-4147-A177-3AD203B41FA5}">
                      <a16:colId xmlns:a16="http://schemas.microsoft.com/office/drawing/2014/main" val="20000"/>
                    </a:ext>
                  </a:extLst>
                </a:gridCol>
                <a:gridCol w="3464393">
                  <a:extLst>
                    <a:ext uri="{9D8B030D-6E8A-4147-A177-3AD203B41FA5}">
                      <a16:colId xmlns:a16="http://schemas.microsoft.com/office/drawing/2014/main" val="20001"/>
                    </a:ext>
                  </a:extLst>
                </a:gridCol>
                <a:gridCol w="4189251">
                  <a:extLst>
                    <a:ext uri="{9D8B030D-6E8A-4147-A177-3AD203B41FA5}">
                      <a16:colId xmlns:a16="http://schemas.microsoft.com/office/drawing/2014/main" val="20002"/>
                    </a:ext>
                  </a:extLst>
                </a:gridCol>
                <a:gridCol w="5383134">
                  <a:extLst>
                    <a:ext uri="{9D8B030D-6E8A-4147-A177-3AD203B41FA5}">
                      <a16:colId xmlns:a16="http://schemas.microsoft.com/office/drawing/2014/main" val="20003"/>
                    </a:ext>
                  </a:extLst>
                </a:gridCol>
              </a:tblGrid>
              <a:tr h="400499">
                <a:tc>
                  <a:txBody>
                    <a:bodyPr/>
                    <a:lstStyle/>
                    <a:p>
                      <a:pPr algn="l"/>
                      <a:r>
                        <a:rPr lang="en-US" sz="1300" b="1" u="none" dirty="0">
                          <a:solidFill>
                            <a:srgbClr val="4FD1C5"/>
                          </a:solidFill>
                          <a:latin typeface="微软雅黑" pitchFamily="34" charset="0"/>
                          <a:ea typeface="微软雅黑" pitchFamily="34" charset="-122"/>
                          <a:cs typeface="微软雅黑" pitchFamily="34" charset="-120"/>
                        </a:rPr>
                        <a:t>维度</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F7FAFC"/>
                          </a:solidFill>
                          <a:latin typeface="微软雅黑" pitchFamily="34" charset="0"/>
                          <a:ea typeface="微软雅黑" pitchFamily="34" charset="-122"/>
                          <a:cs typeface="微软雅黑" pitchFamily="34" charset="-120"/>
                        </a:rPr>
                        <a:t>Data Warehouse</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F7FAFC"/>
                          </a:solidFill>
                          <a:latin typeface="微软雅黑" pitchFamily="34" charset="0"/>
                          <a:ea typeface="微软雅黑" pitchFamily="34" charset="-122"/>
                          <a:cs typeface="微软雅黑" pitchFamily="34" charset="-120"/>
                        </a:rPr>
                        <a:t>Data Lake</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300" b="1" u="none" dirty="0">
                          <a:solidFill>
                            <a:srgbClr val="F7FAFC"/>
                          </a:solidFill>
                          <a:latin typeface="微软雅黑" pitchFamily="34" charset="0"/>
                          <a:ea typeface="微软雅黑" pitchFamily="34" charset="-122"/>
                          <a:cs typeface="微软雅黑" pitchFamily="34" charset="-120"/>
                        </a:rPr>
                        <a:t>Lakehouse</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400499">
                <a:tc>
                  <a:txBody>
                    <a:bodyPr/>
                    <a:lstStyle/>
                    <a:p>
                      <a:r>
                        <a:rPr lang="en-US" sz="1100" b="1" u="none" dirty="0">
                          <a:solidFill>
                            <a:srgbClr val="F7FAFC"/>
                          </a:solidFill>
                          <a:latin typeface="微软雅黑" pitchFamily="34" charset="0"/>
                          <a:ea typeface="微软雅黑" pitchFamily="34" charset="-122"/>
                          <a:cs typeface="微软雅黑" pitchFamily="34" charset="-120"/>
                        </a:rPr>
                        <a:t>存储介质</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专有存储/MPP节点本地盘</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HDFS/对象存储</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HDFS/对象存储</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400499">
                <a:tc>
                  <a:txBody>
                    <a:bodyPr/>
                    <a:lstStyle/>
                    <a:p>
                      <a:r>
                        <a:rPr lang="en-US" sz="1100" b="1" u="none" dirty="0">
                          <a:solidFill>
                            <a:srgbClr val="F7FAFC"/>
                          </a:solidFill>
                          <a:latin typeface="微软雅黑" pitchFamily="34" charset="0"/>
                          <a:ea typeface="微软雅黑" pitchFamily="34" charset="-122"/>
                          <a:cs typeface="微软雅黑" pitchFamily="34" charset="-120"/>
                        </a:rPr>
                        <a:t>数据模型</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强Schema,结构化为主</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弱Schema,支持任意格式</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在湖上施加Schema与约束</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400499">
                <a:tc>
                  <a:txBody>
                    <a:bodyPr/>
                    <a:lstStyle/>
                    <a:p>
                      <a:r>
                        <a:rPr lang="en-US" sz="1100" b="1" u="none" dirty="0">
                          <a:solidFill>
                            <a:srgbClr val="F7FAFC"/>
                          </a:solidFill>
                          <a:latin typeface="微软雅黑" pitchFamily="34" charset="0"/>
                          <a:ea typeface="微软雅黑" pitchFamily="34" charset="-122"/>
                          <a:cs typeface="微软雅黑" pitchFamily="34" charset="-120"/>
                        </a:rPr>
                        <a:t>模式时机</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Schema-on-Write</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Schema-on-Read</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读写结合:写入时校验,读取时可演进</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400499">
                <a:tc>
                  <a:txBody>
                    <a:bodyPr/>
                    <a:lstStyle/>
                    <a:p>
                      <a:r>
                        <a:rPr lang="en-US" sz="1100" b="1" u="none" dirty="0">
                          <a:solidFill>
                            <a:srgbClr val="F7FAFC"/>
                          </a:solidFill>
                          <a:latin typeface="微软雅黑" pitchFamily="34" charset="0"/>
                          <a:ea typeface="微软雅黑" pitchFamily="34" charset="-122"/>
                          <a:cs typeface="微软雅黑" pitchFamily="34" charset="-120"/>
                        </a:rPr>
                        <a:t>事务能力</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强ACID</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无事务或弱事务</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基于Table Format提供ACID/MVCC</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400499">
                <a:tc>
                  <a:txBody>
                    <a:bodyPr/>
                    <a:lstStyle/>
                    <a:p>
                      <a:r>
                        <a:rPr lang="en-US" sz="1100" b="1" u="none" dirty="0">
                          <a:solidFill>
                            <a:srgbClr val="F7FAFC"/>
                          </a:solidFill>
                          <a:latin typeface="微软雅黑" pitchFamily="34" charset="0"/>
                          <a:ea typeface="微软雅黑" pitchFamily="34" charset="-122"/>
                          <a:cs typeface="微软雅黑" pitchFamily="34" charset="-120"/>
                        </a:rPr>
                        <a:t>时效性</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T+1批处理为主</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可以近实时写,但一致性问题突出</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既可支撑批处理,又可支撑流式/近实时写入</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5"/>
                  </a:ext>
                </a:extLst>
              </a:tr>
              <a:tr h="400499">
                <a:tc>
                  <a:txBody>
                    <a:bodyPr/>
                    <a:lstStyle/>
                    <a:p>
                      <a:r>
                        <a:rPr lang="en-US" sz="1100" b="1" u="none" dirty="0">
                          <a:solidFill>
                            <a:srgbClr val="F7FAFC"/>
                          </a:solidFill>
                          <a:latin typeface="微软雅黑" pitchFamily="34" charset="0"/>
                          <a:ea typeface="微软雅黑" pitchFamily="34" charset="-122"/>
                          <a:cs typeface="微软雅黑" pitchFamily="34" charset="-120"/>
                        </a:rPr>
                        <a:t>计算引擎绑定</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与内部引擎强绑定</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弱绑定,主要依赖文件格式</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100" u="none" dirty="0">
                          <a:solidFill>
                            <a:srgbClr val="A0AEC0"/>
                          </a:solidFill>
                          <a:latin typeface="微软雅黑" pitchFamily="34" charset="0"/>
                          <a:ea typeface="微软雅黑" pitchFamily="34" charset="-122"/>
                          <a:cs typeface="微软雅黑" pitchFamily="34" charset="-120"/>
                        </a:rPr>
                        <a:t>尽量引擎中立,通过开放规范与Catalog对接</a:t>
                      </a:r>
                      <a:endParaRPr lang="en-US" sz="11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6"/>
                  </a:ext>
                </a:extLst>
              </a:tr>
            </a:tbl>
          </a:graphicData>
        </a:graphic>
      </p:graphicFrame>
      <p:sp>
        <p:nvSpPr>
          <p:cNvPr id="21" name="Shape 18"/>
          <p:cNvSpPr/>
          <p:nvPr/>
        </p:nvSpPr>
        <p:spPr>
          <a:xfrm>
            <a:off x="447706" y="7946786"/>
            <a:ext cx="4999386" cy="767496"/>
          </a:xfrm>
          <a:custGeom>
            <a:avLst/>
            <a:gdLst/>
            <a:ahLst/>
            <a:cxnLst/>
            <a:rect l="l" t="t" r="r" b="b"/>
            <a:pathLst>
              <a:path w="4999386" h="767496">
                <a:moveTo>
                  <a:pt x="42639" y="0"/>
                </a:moveTo>
                <a:lnTo>
                  <a:pt x="4914110" y="0"/>
                </a:lnTo>
                <a:cubicBezTo>
                  <a:pt x="4961207" y="0"/>
                  <a:pt x="4999386" y="38180"/>
                  <a:pt x="4999386" y="85277"/>
                </a:cubicBezTo>
                <a:lnTo>
                  <a:pt x="4999386" y="682220"/>
                </a:lnTo>
                <a:cubicBezTo>
                  <a:pt x="4999386" y="729317"/>
                  <a:pt x="4961207" y="767496"/>
                  <a:pt x="4914110" y="767496"/>
                </a:cubicBezTo>
                <a:lnTo>
                  <a:pt x="42639" y="767496"/>
                </a:lnTo>
                <a:cubicBezTo>
                  <a:pt x="19090" y="767496"/>
                  <a:pt x="0" y="748406"/>
                  <a:pt x="0" y="724858"/>
                </a:cubicBezTo>
                <a:lnTo>
                  <a:pt x="0" y="42639"/>
                </a:lnTo>
                <a:cubicBezTo>
                  <a:pt x="0" y="19106"/>
                  <a:pt x="19106" y="0"/>
                  <a:pt x="42639" y="0"/>
                </a:cubicBezTo>
                <a:close/>
              </a:path>
            </a:pathLst>
          </a:custGeom>
          <a:solidFill>
            <a:srgbClr val="4FD1C5">
              <a:alpha val="10196"/>
            </a:srgbClr>
          </a:solidFill>
          <a:ln/>
        </p:spPr>
        <p:txBody>
          <a:bodyPr/>
          <a:lstStyle/>
          <a:p>
            <a:endParaRPr lang="zh-CN" altLang="en-US"/>
          </a:p>
        </p:txBody>
      </p:sp>
      <p:sp>
        <p:nvSpPr>
          <p:cNvPr id="22" name="Shape 19"/>
          <p:cNvSpPr/>
          <p:nvPr/>
        </p:nvSpPr>
        <p:spPr>
          <a:xfrm>
            <a:off x="447706" y="7946786"/>
            <a:ext cx="42639" cy="767496"/>
          </a:xfrm>
          <a:custGeom>
            <a:avLst/>
            <a:gdLst/>
            <a:ahLst/>
            <a:cxnLst/>
            <a:rect l="l" t="t" r="r" b="b"/>
            <a:pathLst>
              <a:path w="42639" h="767496">
                <a:moveTo>
                  <a:pt x="42639" y="0"/>
                </a:moveTo>
                <a:lnTo>
                  <a:pt x="42639" y="0"/>
                </a:lnTo>
                <a:lnTo>
                  <a:pt x="42639" y="767496"/>
                </a:lnTo>
                <a:lnTo>
                  <a:pt x="42639" y="767496"/>
                </a:lnTo>
                <a:cubicBezTo>
                  <a:pt x="19090" y="767496"/>
                  <a:pt x="0" y="748406"/>
                  <a:pt x="0" y="724858"/>
                </a:cubicBezTo>
                <a:lnTo>
                  <a:pt x="0" y="42639"/>
                </a:lnTo>
                <a:cubicBezTo>
                  <a:pt x="0" y="19106"/>
                  <a:pt x="19106" y="0"/>
                  <a:pt x="42639" y="0"/>
                </a:cubicBezTo>
                <a:close/>
              </a:path>
            </a:pathLst>
          </a:custGeom>
          <a:solidFill>
            <a:srgbClr val="4FD1C5"/>
          </a:solidFill>
          <a:ln/>
        </p:spPr>
        <p:txBody>
          <a:bodyPr/>
          <a:lstStyle/>
          <a:p>
            <a:endParaRPr lang="zh-CN" altLang="en-US"/>
          </a:p>
        </p:txBody>
      </p:sp>
      <p:sp>
        <p:nvSpPr>
          <p:cNvPr id="23" name="Text 20"/>
          <p:cNvSpPr/>
          <p:nvPr/>
        </p:nvSpPr>
        <p:spPr>
          <a:xfrm>
            <a:off x="596942" y="8074702"/>
            <a:ext cx="4807512" cy="255832"/>
          </a:xfrm>
          <a:prstGeom prst="rect">
            <a:avLst/>
          </a:prstGeom>
          <a:noFill/>
          <a:ln/>
        </p:spPr>
        <p:txBody>
          <a:bodyPr wrap="square" lIns="0" tIns="0" rIns="0" bIns="0" rtlCol="0" anchor="ctr"/>
          <a:lstStyle/>
          <a:p>
            <a:pPr>
              <a:lnSpc>
                <a:spcPct val="130000"/>
              </a:lnSpc>
            </a:pPr>
            <a:r>
              <a:rPr lang="en-US" sz="1343" b="1" dirty="0">
                <a:solidFill>
                  <a:srgbClr val="F7FAFC"/>
                </a:solidFill>
                <a:latin typeface="MiSans" pitchFamily="34" charset="0"/>
                <a:ea typeface="MiSans" pitchFamily="34" charset="-122"/>
                <a:cs typeface="MiSans" pitchFamily="34" charset="-120"/>
              </a:rPr>
              <a:t>Data Warehouse</a:t>
            </a:r>
            <a:endParaRPr lang="en-US" sz="1600" dirty="0"/>
          </a:p>
        </p:txBody>
      </p:sp>
      <p:sp>
        <p:nvSpPr>
          <p:cNvPr id="24" name="Text 21"/>
          <p:cNvSpPr/>
          <p:nvPr/>
        </p:nvSpPr>
        <p:spPr>
          <a:xfrm>
            <a:off x="596942" y="8373172"/>
            <a:ext cx="4796852" cy="213193"/>
          </a:xfrm>
          <a:prstGeom prst="rect">
            <a:avLst/>
          </a:prstGeom>
          <a:noFill/>
          <a:ln/>
        </p:spPr>
        <p:txBody>
          <a:bodyPr wrap="square" lIns="0" tIns="0" rIns="0" bIns="0" rtlCol="0" anchor="ctr"/>
          <a:lstStyle/>
          <a:p>
            <a:pPr>
              <a:lnSpc>
                <a:spcPct val="120000"/>
              </a:lnSpc>
            </a:pPr>
            <a:r>
              <a:rPr lang="en-US" sz="1175" dirty="0">
                <a:solidFill>
                  <a:srgbClr val="A0AEC0"/>
                </a:solidFill>
                <a:latin typeface="MiSans" pitchFamily="34" charset="0"/>
                <a:ea typeface="MiSans" pitchFamily="34" charset="-122"/>
                <a:cs typeface="MiSans" pitchFamily="34" charset="-120"/>
              </a:rPr>
              <a:t>高质量、高一致性,但成本高、扩展性有限</a:t>
            </a:r>
            <a:endParaRPr lang="en-US" sz="1600" dirty="0"/>
          </a:p>
        </p:txBody>
      </p:sp>
      <p:sp>
        <p:nvSpPr>
          <p:cNvPr id="25" name="Shape 22"/>
          <p:cNvSpPr/>
          <p:nvPr/>
        </p:nvSpPr>
        <p:spPr>
          <a:xfrm>
            <a:off x="5640132" y="7946786"/>
            <a:ext cx="4999386" cy="767496"/>
          </a:xfrm>
          <a:custGeom>
            <a:avLst/>
            <a:gdLst/>
            <a:ahLst/>
            <a:cxnLst/>
            <a:rect l="l" t="t" r="r" b="b"/>
            <a:pathLst>
              <a:path w="4999386" h="767496">
                <a:moveTo>
                  <a:pt x="42639" y="0"/>
                </a:moveTo>
                <a:lnTo>
                  <a:pt x="4914110" y="0"/>
                </a:lnTo>
                <a:cubicBezTo>
                  <a:pt x="4961207" y="0"/>
                  <a:pt x="4999386" y="38180"/>
                  <a:pt x="4999386" y="85277"/>
                </a:cubicBezTo>
                <a:lnTo>
                  <a:pt x="4999386" y="682220"/>
                </a:lnTo>
                <a:cubicBezTo>
                  <a:pt x="4999386" y="729317"/>
                  <a:pt x="4961207" y="767496"/>
                  <a:pt x="4914110" y="767496"/>
                </a:cubicBezTo>
                <a:lnTo>
                  <a:pt x="42639" y="767496"/>
                </a:lnTo>
                <a:cubicBezTo>
                  <a:pt x="19090" y="767496"/>
                  <a:pt x="0" y="748406"/>
                  <a:pt x="0" y="724858"/>
                </a:cubicBezTo>
                <a:lnTo>
                  <a:pt x="0" y="42639"/>
                </a:lnTo>
                <a:cubicBezTo>
                  <a:pt x="0" y="19106"/>
                  <a:pt x="19106" y="0"/>
                  <a:pt x="42639" y="0"/>
                </a:cubicBezTo>
                <a:close/>
              </a:path>
            </a:pathLst>
          </a:custGeom>
          <a:solidFill>
            <a:srgbClr val="4FD1C5">
              <a:alpha val="10196"/>
            </a:srgbClr>
          </a:solidFill>
          <a:ln/>
        </p:spPr>
        <p:txBody>
          <a:bodyPr/>
          <a:lstStyle/>
          <a:p>
            <a:endParaRPr lang="zh-CN" altLang="en-US"/>
          </a:p>
        </p:txBody>
      </p:sp>
      <p:sp>
        <p:nvSpPr>
          <p:cNvPr id="26" name="Shape 23"/>
          <p:cNvSpPr/>
          <p:nvPr/>
        </p:nvSpPr>
        <p:spPr>
          <a:xfrm>
            <a:off x="5640132" y="7946786"/>
            <a:ext cx="42639" cy="767496"/>
          </a:xfrm>
          <a:custGeom>
            <a:avLst/>
            <a:gdLst/>
            <a:ahLst/>
            <a:cxnLst/>
            <a:rect l="l" t="t" r="r" b="b"/>
            <a:pathLst>
              <a:path w="42639" h="767496">
                <a:moveTo>
                  <a:pt x="42639" y="0"/>
                </a:moveTo>
                <a:lnTo>
                  <a:pt x="42639" y="0"/>
                </a:lnTo>
                <a:lnTo>
                  <a:pt x="42639" y="767496"/>
                </a:lnTo>
                <a:lnTo>
                  <a:pt x="42639" y="767496"/>
                </a:lnTo>
                <a:cubicBezTo>
                  <a:pt x="19090" y="767496"/>
                  <a:pt x="0" y="748406"/>
                  <a:pt x="0" y="724858"/>
                </a:cubicBezTo>
                <a:lnTo>
                  <a:pt x="0" y="42639"/>
                </a:lnTo>
                <a:cubicBezTo>
                  <a:pt x="0" y="19106"/>
                  <a:pt x="19106" y="0"/>
                  <a:pt x="42639" y="0"/>
                </a:cubicBezTo>
                <a:close/>
              </a:path>
            </a:pathLst>
          </a:custGeom>
          <a:solidFill>
            <a:srgbClr val="4FD1C5"/>
          </a:solidFill>
          <a:ln/>
        </p:spPr>
        <p:txBody>
          <a:bodyPr/>
          <a:lstStyle/>
          <a:p>
            <a:endParaRPr lang="zh-CN" altLang="en-US"/>
          </a:p>
        </p:txBody>
      </p:sp>
      <p:sp>
        <p:nvSpPr>
          <p:cNvPr id="27" name="Text 24"/>
          <p:cNvSpPr/>
          <p:nvPr/>
        </p:nvSpPr>
        <p:spPr>
          <a:xfrm>
            <a:off x="5789368" y="8074702"/>
            <a:ext cx="4807512" cy="255832"/>
          </a:xfrm>
          <a:prstGeom prst="rect">
            <a:avLst/>
          </a:prstGeom>
          <a:noFill/>
          <a:ln/>
        </p:spPr>
        <p:txBody>
          <a:bodyPr wrap="square" lIns="0" tIns="0" rIns="0" bIns="0" rtlCol="0" anchor="ctr"/>
          <a:lstStyle/>
          <a:p>
            <a:pPr>
              <a:lnSpc>
                <a:spcPct val="130000"/>
              </a:lnSpc>
            </a:pPr>
            <a:r>
              <a:rPr lang="en-US" sz="1343" b="1" dirty="0">
                <a:solidFill>
                  <a:srgbClr val="F7FAFC"/>
                </a:solidFill>
                <a:latin typeface="MiSans" pitchFamily="34" charset="0"/>
                <a:ea typeface="MiSans" pitchFamily="34" charset="-122"/>
                <a:cs typeface="MiSans" pitchFamily="34" charset="-120"/>
              </a:rPr>
              <a:t>Data Lake</a:t>
            </a:r>
            <a:endParaRPr lang="en-US" sz="1600" dirty="0"/>
          </a:p>
        </p:txBody>
      </p:sp>
      <p:sp>
        <p:nvSpPr>
          <p:cNvPr id="28" name="Text 25"/>
          <p:cNvSpPr/>
          <p:nvPr/>
        </p:nvSpPr>
        <p:spPr>
          <a:xfrm>
            <a:off x="5789368" y="8373172"/>
            <a:ext cx="4796852" cy="213193"/>
          </a:xfrm>
          <a:prstGeom prst="rect">
            <a:avLst/>
          </a:prstGeom>
          <a:noFill/>
          <a:ln/>
        </p:spPr>
        <p:txBody>
          <a:bodyPr wrap="square" lIns="0" tIns="0" rIns="0" bIns="0" rtlCol="0" anchor="ctr"/>
          <a:lstStyle/>
          <a:p>
            <a:pPr>
              <a:lnSpc>
                <a:spcPct val="120000"/>
              </a:lnSpc>
            </a:pPr>
            <a:r>
              <a:rPr lang="en-US" sz="1175" dirty="0">
                <a:solidFill>
                  <a:srgbClr val="A0AEC0"/>
                </a:solidFill>
                <a:latin typeface="MiSans" pitchFamily="34" charset="0"/>
                <a:ea typeface="MiSans" pitchFamily="34" charset="-122"/>
                <a:cs typeface="MiSans" pitchFamily="34" charset="-120"/>
              </a:rPr>
              <a:t>低成本、高灵活性,但数据质量与治理难度大</a:t>
            </a:r>
            <a:endParaRPr lang="en-US" sz="1600" dirty="0"/>
          </a:p>
        </p:txBody>
      </p:sp>
      <p:sp>
        <p:nvSpPr>
          <p:cNvPr id="29" name="Shape 26"/>
          <p:cNvSpPr/>
          <p:nvPr/>
        </p:nvSpPr>
        <p:spPr>
          <a:xfrm>
            <a:off x="10832559" y="7946786"/>
            <a:ext cx="4999386" cy="767496"/>
          </a:xfrm>
          <a:custGeom>
            <a:avLst/>
            <a:gdLst/>
            <a:ahLst/>
            <a:cxnLst/>
            <a:rect l="l" t="t" r="r" b="b"/>
            <a:pathLst>
              <a:path w="4999386" h="767496">
                <a:moveTo>
                  <a:pt x="42639" y="0"/>
                </a:moveTo>
                <a:lnTo>
                  <a:pt x="4914110" y="0"/>
                </a:lnTo>
                <a:cubicBezTo>
                  <a:pt x="4961207" y="0"/>
                  <a:pt x="4999386" y="38180"/>
                  <a:pt x="4999386" y="85277"/>
                </a:cubicBezTo>
                <a:lnTo>
                  <a:pt x="4999386" y="682220"/>
                </a:lnTo>
                <a:cubicBezTo>
                  <a:pt x="4999386" y="729317"/>
                  <a:pt x="4961207" y="767496"/>
                  <a:pt x="4914110" y="767496"/>
                </a:cubicBezTo>
                <a:lnTo>
                  <a:pt x="42639" y="767496"/>
                </a:lnTo>
                <a:cubicBezTo>
                  <a:pt x="19090" y="767496"/>
                  <a:pt x="0" y="748406"/>
                  <a:pt x="0" y="724858"/>
                </a:cubicBezTo>
                <a:lnTo>
                  <a:pt x="0" y="42639"/>
                </a:lnTo>
                <a:cubicBezTo>
                  <a:pt x="0" y="19106"/>
                  <a:pt x="19106" y="0"/>
                  <a:pt x="42639" y="0"/>
                </a:cubicBezTo>
                <a:close/>
              </a:path>
            </a:pathLst>
          </a:custGeom>
          <a:solidFill>
            <a:srgbClr val="4FD1C5">
              <a:alpha val="10196"/>
            </a:srgbClr>
          </a:solidFill>
          <a:ln/>
        </p:spPr>
        <p:txBody>
          <a:bodyPr/>
          <a:lstStyle/>
          <a:p>
            <a:endParaRPr lang="zh-CN" altLang="en-US"/>
          </a:p>
        </p:txBody>
      </p:sp>
      <p:sp>
        <p:nvSpPr>
          <p:cNvPr id="30" name="Shape 27"/>
          <p:cNvSpPr/>
          <p:nvPr/>
        </p:nvSpPr>
        <p:spPr>
          <a:xfrm>
            <a:off x="10832559" y="7946786"/>
            <a:ext cx="42639" cy="767496"/>
          </a:xfrm>
          <a:custGeom>
            <a:avLst/>
            <a:gdLst/>
            <a:ahLst/>
            <a:cxnLst/>
            <a:rect l="l" t="t" r="r" b="b"/>
            <a:pathLst>
              <a:path w="42639" h="767496">
                <a:moveTo>
                  <a:pt x="42639" y="0"/>
                </a:moveTo>
                <a:lnTo>
                  <a:pt x="42639" y="0"/>
                </a:lnTo>
                <a:lnTo>
                  <a:pt x="42639" y="767496"/>
                </a:lnTo>
                <a:lnTo>
                  <a:pt x="42639" y="767496"/>
                </a:lnTo>
                <a:cubicBezTo>
                  <a:pt x="19090" y="767496"/>
                  <a:pt x="0" y="748406"/>
                  <a:pt x="0" y="724858"/>
                </a:cubicBezTo>
                <a:lnTo>
                  <a:pt x="0" y="42639"/>
                </a:lnTo>
                <a:cubicBezTo>
                  <a:pt x="0" y="19106"/>
                  <a:pt x="19106" y="0"/>
                  <a:pt x="42639" y="0"/>
                </a:cubicBezTo>
                <a:close/>
              </a:path>
            </a:pathLst>
          </a:custGeom>
          <a:solidFill>
            <a:srgbClr val="4FD1C5"/>
          </a:solidFill>
          <a:ln/>
        </p:spPr>
        <p:txBody>
          <a:bodyPr/>
          <a:lstStyle/>
          <a:p>
            <a:endParaRPr lang="zh-CN" altLang="en-US"/>
          </a:p>
        </p:txBody>
      </p:sp>
      <p:sp>
        <p:nvSpPr>
          <p:cNvPr id="31" name="Text 28"/>
          <p:cNvSpPr/>
          <p:nvPr/>
        </p:nvSpPr>
        <p:spPr>
          <a:xfrm>
            <a:off x="10981794" y="8074702"/>
            <a:ext cx="4807512" cy="255832"/>
          </a:xfrm>
          <a:prstGeom prst="rect">
            <a:avLst/>
          </a:prstGeom>
          <a:noFill/>
          <a:ln/>
        </p:spPr>
        <p:txBody>
          <a:bodyPr wrap="square" lIns="0" tIns="0" rIns="0" bIns="0" rtlCol="0" anchor="ctr"/>
          <a:lstStyle/>
          <a:p>
            <a:pPr>
              <a:lnSpc>
                <a:spcPct val="130000"/>
              </a:lnSpc>
            </a:pPr>
            <a:r>
              <a:rPr lang="en-US" sz="1343" b="1" dirty="0">
                <a:solidFill>
                  <a:srgbClr val="F7FAFC"/>
                </a:solidFill>
                <a:latin typeface="MiSans" pitchFamily="34" charset="0"/>
                <a:ea typeface="MiSans" pitchFamily="34" charset="-122"/>
                <a:cs typeface="MiSans" pitchFamily="34" charset="-120"/>
              </a:rPr>
              <a:t>Lakehouse</a:t>
            </a:r>
            <a:endParaRPr lang="en-US" sz="1600" dirty="0"/>
          </a:p>
        </p:txBody>
      </p:sp>
      <p:sp>
        <p:nvSpPr>
          <p:cNvPr id="32" name="Text 29"/>
          <p:cNvSpPr/>
          <p:nvPr/>
        </p:nvSpPr>
        <p:spPr>
          <a:xfrm>
            <a:off x="10981794" y="8373172"/>
            <a:ext cx="4796852" cy="213193"/>
          </a:xfrm>
          <a:prstGeom prst="rect">
            <a:avLst/>
          </a:prstGeom>
          <a:noFill/>
          <a:ln/>
        </p:spPr>
        <p:txBody>
          <a:bodyPr wrap="square" lIns="0" tIns="0" rIns="0" bIns="0" rtlCol="0" anchor="ctr"/>
          <a:lstStyle/>
          <a:p>
            <a:pPr>
              <a:lnSpc>
                <a:spcPct val="120000"/>
              </a:lnSpc>
            </a:pPr>
            <a:r>
              <a:rPr lang="en-US" sz="1175" dirty="0">
                <a:solidFill>
                  <a:srgbClr val="A0AEC0"/>
                </a:solidFill>
                <a:latin typeface="MiSans" pitchFamily="34" charset="0"/>
                <a:ea typeface="MiSans" pitchFamily="34" charset="-122"/>
                <a:cs typeface="MiSans" pitchFamily="34" charset="-120"/>
              </a:rPr>
              <a:t>在低成本之上,通过Table Format重建高质量管理能力</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02C"/>
        </a:solidFill>
        <a:effectLst/>
      </p:bgPr>
    </p:bg>
    <p:spTree>
      <p:nvGrpSpPr>
        <p:cNvPr id="1" name=""/>
        <p:cNvGrpSpPr/>
        <p:nvPr/>
      </p:nvGrpSpPr>
      <p:grpSpPr>
        <a:xfrm>
          <a:off x="0" y="0"/>
          <a:ext cx="0" cy="0"/>
          <a:chOff x="0" y="0"/>
          <a:chExt cx="0" cy="0"/>
        </a:xfrm>
      </p:grpSpPr>
      <p:sp>
        <p:nvSpPr>
          <p:cNvPr id="4" name="Shape 1"/>
          <p:cNvSpPr/>
          <p:nvPr/>
        </p:nvSpPr>
        <p:spPr>
          <a:xfrm>
            <a:off x="514350" y="2597150"/>
            <a:ext cx="2603500" cy="723900"/>
          </a:xfrm>
          <a:custGeom>
            <a:avLst/>
            <a:gdLst/>
            <a:ahLst/>
            <a:cxnLst/>
            <a:rect l="l" t="t" r="r" b="b"/>
            <a:pathLst>
              <a:path w="2603500" h="723900">
                <a:moveTo>
                  <a:pt x="101599" y="0"/>
                </a:moveTo>
                <a:lnTo>
                  <a:pt x="2501901" y="0"/>
                </a:lnTo>
                <a:cubicBezTo>
                  <a:pt x="2558012" y="0"/>
                  <a:pt x="2603500" y="45488"/>
                  <a:pt x="2603500" y="101599"/>
                </a:cubicBezTo>
                <a:lnTo>
                  <a:pt x="2603500" y="622301"/>
                </a:lnTo>
                <a:cubicBezTo>
                  <a:pt x="2603500" y="678412"/>
                  <a:pt x="2558012" y="723900"/>
                  <a:pt x="2501901" y="723900"/>
                </a:cubicBezTo>
                <a:lnTo>
                  <a:pt x="101599" y="723900"/>
                </a:lnTo>
                <a:cubicBezTo>
                  <a:pt x="45488" y="723900"/>
                  <a:pt x="0" y="678412"/>
                  <a:pt x="0" y="622301"/>
                </a:cubicBezTo>
                <a:lnTo>
                  <a:pt x="0" y="101599"/>
                </a:lnTo>
                <a:cubicBezTo>
                  <a:pt x="0" y="45488"/>
                  <a:pt x="45488" y="0"/>
                  <a:pt x="101599" y="0"/>
                </a:cubicBezTo>
                <a:close/>
              </a:path>
            </a:pathLst>
          </a:custGeom>
          <a:solidFill>
            <a:srgbClr val="4FD1C5">
              <a:alpha val="20000"/>
            </a:srgbClr>
          </a:solidFill>
          <a:ln w="12700">
            <a:solidFill>
              <a:srgbClr val="4FD1C5"/>
            </a:solidFill>
            <a:prstDash val="solid"/>
          </a:ln>
        </p:spPr>
        <p:txBody>
          <a:bodyPr/>
          <a:lstStyle/>
          <a:p>
            <a:endParaRPr lang="zh-CN" altLang="en-US"/>
          </a:p>
        </p:txBody>
      </p:sp>
      <p:sp>
        <p:nvSpPr>
          <p:cNvPr id="5" name="Text 2"/>
          <p:cNvSpPr/>
          <p:nvPr/>
        </p:nvSpPr>
        <p:spPr>
          <a:xfrm>
            <a:off x="825500" y="2755900"/>
            <a:ext cx="2136676" cy="406400"/>
          </a:xfrm>
          <a:prstGeom prst="rect">
            <a:avLst/>
          </a:prstGeom>
          <a:noFill/>
          <a:ln/>
        </p:spPr>
        <p:txBody>
          <a:bodyPr wrap="square" lIns="0" tIns="0" rIns="0" bIns="0" rtlCol="0" anchor="ctr"/>
          <a:lstStyle/>
          <a:p>
            <a:pPr>
              <a:lnSpc>
                <a:spcPct val="110000"/>
              </a:lnSpc>
            </a:pPr>
            <a:r>
              <a:rPr lang="en-US" sz="2400" b="1" kern="0" spc="120" dirty="0">
                <a:solidFill>
                  <a:srgbClr val="4FD1C5"/>
                </a:solidFill>
                <a:latin typeface="MiSans" pitchFamily="34" charset="0"/>
                <a:ea typeface="MiSans" pitchFamily="34" charset="-122"/>
                <a:cs typeface="MiSans" pitchFamily="34" charset="-120"/>
              </a:rPr>
              <a:t>CHAPTER 03</a:t>
            </a:r>
            <a:endParaRPr lang="en-US" sz="1600" dirty="0"/>
          </a:p>
        </p:txBody>
      </p:sp>
      <p:sp>
        <p:nvSpPr>
          <p:cNvPr id="6" name="Text 3"/>
          <p:cNvSpPr/>
          <p:nvPr/>
        </p:nvSpPr>
        <p:spPr>
          <a:xfrm>
            <a:off x="508000" y="3733800"/>
            <a:ext cx="15697200" cy="1143000"/>
          </a:xfrm>
          <a:prstGeom prst="rect">
            <a:avLst/>
          </a:prstGeom>
          <a:noFill/>
          <a:ln/>
        </p:spPr>
        <p:txBody>
          <a:bodyPr wrap="square" lIns="0" tIns="0" rIns="0" bIns="0" rtlCol="0" anchor="ctr"/>
          <a:lstStyle/>
          <a:p>
            <a:pPr>
              <a:lnSpc>
                <a:spcPct val="100000"/>
              </a:lnSpc>
            </a:pPr>
            <a:r>
              <a:rPr lang="en-US" sz="7200" b="1" dirty="0">
                <a:solidFill>
                  <a:srgbClr val="F7FAFC"/>
                </a:solidFill>
                <a:latin typeface="Noto Sans SC" pitchFamily="34" charset="0"/>
                <a:ea typeface="Noto Sans SC" pitchFamily="34" charset="-122"/>
                <a:cs typeface="Noto Sans SC" pitchFamily="34" charset="-120"/>
              </a:rPr>
              <a:t>核心技术基石</a:t>
            </a:r>
            <a:endParaRPr lang="en-US" sz="1600" dirty="0"/>
          </a:p>
        </p:txBody>
      </p:sp>
      <p:sp>
        <p:nvSpPr>
          <p:cNvPr id="7" name="Text 4"/>
          <p:cNvSpPr/>
          <p:nvPr/>
        </p:nvSpPr>
        <p:spPr>
          <a:xfrm>
            <a:off x="508000" y="5181600"/>
            <a:ext cx="15430500" cy="457200"/>
          </a:xfrm>
          <a:prstGeom prst="rect">
            <a:avLst/>
          </a:prstGeom>
          <a:noFill/>
          <a:ln/>
        </p:spPr>
        <p:txBody>
          <a:bodyPr wrap="square" lIns="0" tIns="0" rIns="0" bIns="0" rtlCol="0" anchor="ctr"/>
          <a:lstStyle/>
          <a:p>
            <a:pPr>
              <a:lnSpc>
                <a:spcPct val="100000"/>
              </a:lnSpc>
            </a:pPr>
            <a:r>
              <a:rPr lang="en-US" sz="3000" dirty="0">
                <a:solidFill>
                  <a:srgbClr val="A0AEC0"/>
                </a:solidFill>
                <a:latin typeface="MiSans" pitchFamily="34" charset="0"/>
                <a:ea typeface="MiSans" pitchFamily="34" charset="-122"/>
                <a:cs typeface="MiSans" pitchFamily="34" charset="-120"/>
              </a:rPr>
              <a:t>Table Formats——表格式如何连接文件与表</a:t>
            </a:r>
            <a:endParaRPr lang="en-US" sz="1600" dirty="0"/>
          </a:p>
        </p:txBody>
      </p:sp>
      <p:sp>
        <p:nvSpPr>
          <p:cNvPr id="8" name="Shape 5"/>
          <p:cNvSpPr/>
          <p:nvPr/>
        </p:nvSpPr>
        <p:spPr>
          <a:xfrm>
            <a:off x="508000" y="6045200"/>
            <a:ext cx="1104900" cy="508000"/>
          </a:xfrm>
          <a:custGeom>
            <a:avLst/>
            <a:gdLst/>
            <a:ahLst/>
            <a:cxnLst/>
            <a:rect l="l" t="t" r="r" b="b"/>
            <a:pathLst>
              <a:path w="1104900" h="508000">
                <a:moveTo>
                  <a:pt x="101600" y="0"/>
                </a:moveTo>
                <a:lnTo>
                  <a:pt x="1003300" y="0"/>
                </a:lnTo>
                <a:cubicBezTo>
                  <a:pt x="1059375" y="0"/>
                  <a:pt x="1104900" y="45525"/>
                  <a:pt x="1104900" y="101600"/>
                </a:cubicBezTo>
                <a:lnTo>
                  <a:pt x="1104900" y="406400"/>
                </a:lnTo>
                <a:cubicBezTo>
                  <a:pt x="1104900" y="462475"/>
                  <a:pt x="1059375" y="508000"/>
                  <a:pt x="10033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9" name="Text 6"/>
          <p:cNvSpPr/>
          <p:nvPr/>
        </p:nvSpPr>
        <p:spPr>
          <a:xfrm>
            <a:off x="711200" y="6165850"/>
            <a:ext cx="802481"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Iceberg</a:t>
            </a:r>
            <a:endParaRPr lang="en-US" sz="1600" dirty="0"/>
          </a:p>
        </p:txBody>
      </p:sp>
      <p:sp>
        <p:nvSpPr>
          <p:cNvPr id="10" name="Shape 7"/>
          <p:cNvSpPr/>
          <p:nvPr/>
        </p:nvSpPr>
        <p:spPr>
          <a:xfrm>
            <a:off x="1818481" y="6045200"/>
            <a:ext cx="838200" cy="508000"/>
          </a:xfrm>
          <a:custGeom>
            <a:avLst/>
            <a:gdLst/>
            <a:ahLst/>
            <a:cxnLst/>
            <a:rect l="l" t="t" r="r" b="b"/>
            <a:pathLst>
              <a:path w="838200" h="508000">
                <a:moveTo>
                  <a:pt x="101600" y="0"/>
                </a:moveTo>
                <a:lnTo>
                  <a:pt x="736600" y="0"/>
                </a:lnTo>
                <a:cubicBezTo>
                  <a:pt x="792675" y="0"/>
                  <a:pt x="838200" y="45525"/>
                  <a:pt x="838200" y="101600"/>
                </a:cubicBezTo>
                <a:lnTo>
                  <a:pt x="838200" y="406400"/>
                </a:lnTo>
                <a:cubicBezTo>
                  <a:pt x="838200" y="462475"/>
                  <a:pt x="792675" y="508000"/>
                  <a:pt x="736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1" name="Text 8"/>
          <p:cNvSpPr/>
          <p:nvPr/>
        </p:nvSpPr>
        <p:spPr>
          <a:xfrm>
            <a:off x="2021681" y="6165850"/>
            <a:ext cx="534293"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Hudi</a:t>
            </a:r>
            <a:endParaRPr lang="en-US" sz="1600" dirty="0"/>
          </a:p>
        </p:txBody>
      </p:sp>
      <p:sp>
        <p:nvSpPr>
          <p:cNvPr id="12" name="Shape 9"/>
          <p:cNvSpPr/>
          <p:nvPr/>
        </p:nvSpPr>
        <p:spPr>
          <a:xfrm>
            <a:off x="2860774" y="6045200"/>
            <a:ext cx="1397000" cy="508000"/>
          </a:xfrm>
          <a:custGeom>
            <a:avLst/>
            <a:gdLst/>
            <a:ahLst/>
            <a:cxnLst/>
            <a:rect l="l" t="t" r="r" b="b"/>
            <a:pathLst>
              <a:path w="1397000" h="508000">
                <a:moveTo>
                  <a:pt x="101600" y="0"/>
                </a:moveTo>
                <a:lnTo>
                  <a:pt x="1295400" y="0"/>
                </a:lnTo>
                <a:cubicBezTo>
                  <a:pt x="1351475" y="0"/>
                  <a:pt x="1397000" y="45525"/>
                  <a:pt x="1397000" y="101600"/>
                </a:cubicBezTo>
                <a:lnTo>
                  <a:pt x="1397000" y="406400"/>
                </a:lnTo>
                <a:cubicBezTo>
                  <a:pt x="1397000" y="462475"/>
                  <a:pt x="1351475" y="508000"/>
                  <a:pt x="12954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3" name="Text 10"/>
          <p:cNvSpPr/>
          <p:nvPr/>
        </p:nvSpPr>
        <p:spPr>
          <a:xfrm>
            <a:off x="3063974" y="6165850"/>
            <a:ext cx="1091208"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Delta Lake</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68810" y="468810"/>
            <a:ext cx="1605676" cy="281286"/>
          </a:xfrm>
          <a:prstGeom prst="rect">
            <a:avLst/>
          </a:prstGeom>
          <a:noFill/>
          <a:ln/>
        </p:spPr>
        <p:txBody>
          <a:bodyPr wrap="square" lIns="0" tIns="0" rIns="0" bIns="0" rtlCol="0" anchor="ctr"/>
          <a:lstStyle/>
          <a:p>
            <a:pPr>
              <a:lnSpc>
                <a:spcPct val="130000"/>
              </a:lnSpc>
            </a:pPr>
            <a:r>
              <a:rPr lang="en-US" sz="1477" b="1" kern="0" spc="74" dirty="0">
                <a:solidFill>
                  <a:srgbClr val="4FD1C5"/>
                </a:solidFill>
                <a:latin typeface="MiSans" pitchFamily="34" charset="0"/>
                <a:ea typeface="MiSans" pitchFamily="34" charset="-122"/>
                <a:cs typeface="MiSans" pitchFamily="34" charset="-120"/>
              </a:rPr>
              <a:t>TABLE FORMAT</a:t>
            </a:r>
            <a:endParaRPr lang="en-US" sz="1600" dirty="0"/>
          </a:p>
        </p:txBody>
      </p:sp>
      <p:sp>
        <p:nvSpPr>
          <p:cNvPr id="3" name="Text 1"/>
          <p:cNvSpPr/>
          <p:nvPr/>
        </p:nvSpPr>
        <p:spPr>
          <a:xfrm>
            <a:off x="468810" y="843859"/>
            <a:ext cx="15529344" cy="468810"/>
          </a:xfrm>
          <a:prstGeom prst="rect">
            <a:avLst/>
          </a:prstGeom>
          <a:noFill/>
          <a:ln/>
        </p:spPr>
        <p:txBody>
          <a:bodyPr wrap="square" lIns="0" tIns="0" rIns="0" bIns="0" rtlCol="0" anchor="ctr"/>
          <a:lstStyle/>
          <a:p>
            <a:pPr>
              <a:lnSpc>
                <a:spcPct val="90000"/>
              </a:lnSpc>
            </a:pPr>
            <a:r>
              <a:rPr lang="en-US" sz="3322" b="1" dirty="0">
                <a:solidFill>
                  <a:srgbClr val="F7FAFC"/>
                </a:solidFill>
                <a:latin typeface="Noto Sans SC" pitchFamily="34" charset="0"/>
                <a:ea typeface="Noto Sans SC" pitchFamily="34" charset="-122"/>
                <a:cs typeface="Noto Sans SC" pitchFamily="34" charset="-120"/>
              </a:rPr>
              <a:t>什么是Table Format?</a:t>
            </a:r>
            <a:endParaRPr lang="en-US" sz="1600" dirty="0"/>
          </a:p>
        </p:txBody>
      </p:sp>
      <p:sp>
        <p:nvSpPr>
          <p:cNvPr id="4" name="Shape 2"/>
          <p:cNvSpPr/>
          <p:nvPr/>
        </p:nvSpPr>
        <p:spPr>
          <a:xfrm>
            <a:off x="468810" y="1453312"/>
            <a:ext cx="937621" cy="46881"/>
          </a:xfrm>
          <a:custGeom>
            <a:avLst/>
            <a:gdLst/>
            <a:ahLst/>
            <a:cxnLst/>
            <a:rect l="l" t="t" r="r" b="b"/>
            <a:pathLst>
              <a:path w="937621" h="46881">
                <a:moveTo>
                  <a:pt x="0" y="0"/>
                </a:moveTo>
                <a:lnTo>
                  <a:pt x="937621" y="0"/>
                </a:lnTo>
                <a:lnTo>
                  <a:pt x="937621" y="46881"/>
                </a:lnTo>
                <a:lnTo>
                  <a:pt x="0" y="46881"/>
                </a:lnTo>
                <a:lnTo>
                  <a:pt x="0" y="0"/>
                </a:lnTo>
                <a:close/>
              </a:path>
            </a:pathLst>
          </a:custGeom>
          <a:solidFill>
            <a:srgbClr val="4FD1C5"/>
          </a:solidFill>
          <a:ln/>
        </p:spPr>
        <p:txBody>
          <a:bodyPr/>
          <a:lstStyle/>
          <a:p>
            <a:endParaRPr lang="zh-CN" altLang="en-US"/>
          </a:p>
        </p:txBody>
      </p:sp>
      <p:sp>
        <p:nvSpPr>
          <p:cNvPr id="5" name="Shape 3"/>
          <p:cNvSpPr/>
          <p:nvPr/>
        </p:nvSpPr>
        <p:spPr>
          <a:xfrm>
            <a:off x="492251" y="1734598"/>
            <a:ext cx="7512686" cy="3000386"/>
          </a:xfrm>
          <a:custGeom>
            <a:avLst/>
            <a:gdLst/>
            <a:ahLst/>
            <a:cxnLst/>
            <a:rect l="l" t="t" r="r" b="b"/>
            <a:pathLst>
              <a:path w="7512686" h="3000386">
                <a:moveTo>
                  <a:pt x="46881" y="0"/>
                </a:moveTo>
                <a:lnTo>
                  <a:pt x="7418924" y="0"/>
                </a:lnTo>
                <a:cubicBezTo>
                  <a:pt x="7470673" y="0"/>
                  <a:pt x="7512686" y="42013"/>
                  <a:pt x="7512686" y="93762"/>
                </a:cubicBezTo>
                <a:lnTo>
                  <a:pt x="7512686" y="2906624"/>
                </a:lnTo>
                <a:cubicBezTo>
                  <a:pt x="7512686" y="2958373"/>
                  <a:pt x="7470673" y="3000386"/>
                  <a:pt x="7418924" y="3000386"/>
                </a:cubicBezTo>
                <a:lnTo>
                  <a:pt x="46881" y="3000386"/>
                </a:lnTo>
                <a:cubicBezTo>
                  <a:pt x="21007" y="3000386"/>
                  <a:pt x="0" y="2979380"/>
                  <a:pt x="0" y="2953505"/>
                </a:cubicBezTo>
                <a:lnTo>
                  <a:pt x="0" y="46881"/>
                </a:lnTo>
                <a:cubicBezTo>
                  <a:pt x="0" y="21007"/>
                  <a:pt x="21007" y="0"/>
                  <a:pt x="46881" y="0"/>
                </a:cubicBezTo>
                <a:close/>
              </a:path>
            </a:pathLst>
          </a:custGeom>
          <a:solidFill>
            <a:srgbClr val="4FD1C5">
              <a:alpha val="10196"/>
            </a:srgbClr>
          </a:solidFill>
          <a:ln/>
        </p:spPr>
        <p:txBody>
          <a:bodyPr/>
          <a:lstStyle/>
          <a:p>
            <a:endParaRPr lang="zh-CN" altLang="en-US"/>
          </a:p>
        </p:txBody>
      </p:sp>
      <p:sp>
        <p:nvSpPr>
          <p:cNvPr id="6" name="Shape 4"/>
          <p:cNvSpPr/>
          <p:nvPr/>
        </p:nvSpPr>
        <p:spPr>
          <a:xfrm>
            <a:off x="492251" y="1734598"/>
            <a:ext cx="46881" cy="3000386"/>
          </a:xfrm>
          <a:custGeom>
            <a:avLst/>
            <a:gdLst/>
            <a:ahLst/>
            <a:cxnLst/>
            <a:rect l="l" t="t" r="r" b="b"/>
            <a:pathLst>
              <a:path w="46881" h="3000386">
                <a:moveTo>
                  <a:pt x="46881" y="0"/>
                </a:moveTo>
                <a:lnTo>
                  <a:pt x="46881" y="0"/>
                </a:lnTo>
                <a:lnTo>
                  <a:pt x="46881" y="3000386"/>
                </a:lnTo>
                <a:lnTo>
                  <a:pt x="46881" y="3000386"/>
                </a:lnTo>
                <a:cubicBezTo>
                  <a:pt x="21007" y="3000386"/>
                  <a:pt x="0" y="2979380"/>
                  <a:pt x="0" y="2953505"/>
                </a:cubicBezTo>
                <a:lnTo>
                  <a:pt x="0" y="46881"/>
                </a:lnTo>
                <a:cubicBezTo>
                  <a:pt x="0" y="21007"/>
                  <a:pt x="21007" y="0"/>
                  <a:pt x="46881" y="0"/>
                </a:cubicBezTo>
                <a:close/>
              </a:path>
            </a:pathLst>
          </a:custGeom>
          <a:solidFill>
            <a:srgbClr val="4FD1C5"/>
          </a:solidFill>
          <a:ln/>
        </p:spPr>
        <p:txBody>
          <a:bodyPr/>
          <a:lstStyle/>
          <a:p>
            <a:endParaRPr lang="zh-CN" altLang="en-US"/>
          </a:p>
        </p:txBody>
      </p:sp>
      <p:sp>
        <p:nvSpPr>
          <p:cNvPr id="7" name="Text 5"/>
          <p:cNvSpPr/>
          <p:nvPr/>
        </p:nvSpPr>
        <p:spPr>
          <a:xfrm>
            <a:off x="750097" y="1969004"/>
            <a:ext cx="7137638" cy="328167"/>
          </a:xfrm>
          <a:prstGeom prst="rect">
            <a:avLst/>
          </a:prstGeom>
          <a:noFill/>
          <a:ln/>
        </p:spPr>
        <p:txBody>
          <a:bodyPr wrap="square" lIns="0" tIns="0" rIns="0" bIns="0" rtlCol="0" anchor="ctr"/>
          <a:lstStyle/>
          <a:p>
            <a:pPr>
              <a:lnSpc>
                <a:spcPct val="120000"/>
              </a:lnSpc>
            </a:pPr>
            <a:r>
              <a:rPr lang="en-US" sz="1846" b="1" dirty="0">
                <a:solidFill>
                  <a:srgbClr val="F7FAFC"/>
                </a:solidFill>
                <a:latin typeface="Noto Sans SC" pitchFamily="34" charset="0"/>
                <a:ea typeface="Noto Sans SC" pitchFamily="34" charset="-122"/>
                <a:cs typeface="Noto Sans SC" pitchFamily="34" charset="-120"/>
              </a:rPr>
              <a:t>核心概念</a:t>
            </a:r>
            <a:endParaRPr lang="en-US" sz="1600" dirty="0"/>
          </a:p>
        </p:txBody>
      </p:sp>
      <p:sp>
        <p:nvSpPr>
          <p:cNvPr id="8" name="Text 6"/>
          <p:cNvSpPr/>
          <p:nvPr/>
        </p:nvSpPr>
        <p:spPr>
          <a:xfrm>
            <a:off x="750097" y="2484695"/>
            <a:ext cx="7114198" cy="609453"/>
          </a:xfrm>
          <a:prstGeom prst="rect">
            <a:avLst/>
          </a:prstGeom>
          <a:noFill/>
          <a:ln/>
        </p:spPr>
        <p:txBody>
          <a:bodyPr wrap="square" lIns="0" tIns="0" rIns="0" bIns="0" rtlCol="0" anchor="ctr"/>
          <a:lstStyle/>
          <a:p>
            <a:pPr>
              <a:lnSpc>
                <a:spcPct val="140000"/>
              </a:lnSpc>
            </a:pPr>
            <a:r>
              <a:rPr lang="en-US" sz="1477" dirty="0">
                <a:solidFill>
                  <a:srgbClr val="A0AEC0"/>
                </a:solidFill>
                <a:latin typeface="MiSans" pitchFamily="34" charset="0"/>
                <a:ea typeface="MiSans" pitchFamily="34" charset="-122"/>
                <a:cs typeface="MiSans" pitchFamily="34" charset="-120"/>
              </a:rPr>
              <a:t>Table Format是在</a:t>
            </a:r>
            <a:r>
              <a:rPr lang="en-US" sz="1477" b="1" dirty="0">
                <a:solidFill>
                  <a:srgbClr val="4FD1C5"/>
                </a:solidFill>
                <a:latin typeface="MiSans" pitchFamily="34" charset="0"/>
                <a:ea typeface="MiSans" pitchFamily="34" charset="-122"/>
                <a:cs typeface="MiSans" pitchFamily="34" charset="-120"/>
              </a:rPr>
              <a:t>文件格式之上管理表的协议与实现</a:t>
            </a:r>
            <a:r>
              <a:rPr lang="en-US" sz="1477" dirty="0">
                <a:solidFill>
                  <a:srgbClr val="A0AEC0"/>
                </a:solidFill>
                <a:latin typeface="MiSans" pitchFamily="34" charset="0"/>
                <a:ea typeface="MiSans" pitchFamily="34" charset="-122"/>
                <a:cs typeface="MiSans" pitchFamily="34" charset="-120"/>
              </a:rPr>
              <a:t>。它解决了"哪些文件属于这张表,以及如何在多版本之间切换"的问题。</a:t>
            </a:r>
            <a:endParaRPr lang="en-US" sz="1600" dirty="0"/>
          </a:p>
        </p:txBody>
      </p:sp>
      <p:sp>
        <p:nvSpPr>
          <p:cNvPr id="9" name="Shape 7"/>
          <p:cNvSpPr/>
          <p:nvPr/>
        </p:nvSpPr>
        <p:spPr>
          <a:xfrm>
            <a:off x="820418" y="3375435"/>
            <a:ext cx="210965" cy="281286"/>
          </a:xfrm>
          <a:custGeom>
            <a:avLst/>
            <a:gdLst/>
            <a:ahLst/>
            <a:cxnLst/>
            <a:rect l="l" t="t" r="r" b="b"/>
            <a:pathLst>
              <a:path w="210965" h="281286">
                <a:moveTo>
                  <a:pt x="35161" y="0"/>
                </a:moveTo>
                <a:cubicBezTo>
                  <a:pt x="15767" y="0"/>
                  <a:pt x="0" y="15767"/>
                  <a:pt x="0" y="35161"/>
                </a:cubicBezTo>
                <a:lnTo>
                  <a:pt x="0" y="246125"/>
                </a:lnTo>
                <a:cubicBezTo>
                  <a:pt x="0" y="265519"/>
                  <a:pt x="15767" y="281286"/>
                  <a:pt x="35161" y="281286"/>
                </a:cubicBezTo>
                <a:lnTo>
                  <a:pt x="175804" y="281286"/>
                </a:lnTo>
                <a:cubicBezTo>
                  <a:pt x="195197" y="281286"/>
                  <a:pt x="210965" y="265519"/>
                  <a:pt x="210965" y="246125"/>
                </a:cubicBezTo>
                <a:lnTo>
                  <a:pt x="210965" y="93671"/>
                </a:lnTo>
                <a:cubicBezTo>
                  <a:pt x="210965" y="84331"/>
                  <a:pt x="207284" y="75376"/>
                  <a:pt x="200691" y="68783"/>
                </a:cubicBezTo>
                <a:lnTo>
                  <a:pt x="142126" y="10274"/>
                </a:lnTo>
                <a:cubicBezTo>
                  <a:pt x="135534" y="3681"/>
                  <a:pt x="126634" y="0"/>
                  <a:pt x="117294" y="0"/>
                </a:cubicBezTo>
                <a:lnTo>
                  <a:pt x="35161" y="0"/>
                </a:lnTo>
                <a:close/>
                <a:moveTo>
                  <a:pt x="178826" y="96692"/>
                </a:moveTo>
                <a:lnTo>
                  <a:pt x="127458" y="96692"/>
                </a:lnTo>
                <a:cubicBezTo>
                  <a:pt x="120151" y="96692"/>
                  <a:pt x="114273" y="90814"/>
                  <a:pt x="114273" y="83507"/>
                </a:cubicBezTo>
                <a:lnTo>
                  <a:pt x="114273" y="32139"/>
                </a:lnTo>
                <a:lnTo>
                  <a:pt x="178826" y="96692"/>
                </a:lnTo>
                <a:close/>
              </a:path>
            </a:pathLst>
          </a:custGeom>
          <a:solidFill>
            <a:srgbClr val="4FD1C5"/>
          </a:solidFill>
          <a:ln/>
        </p:spPr>
        <p:txBody>
          <a:bodyPr/>
          <a:lstStyle/>
          <a:p>
            <a:endParaRPr lang="zh-CN" altLang="en-US"/>
          </a:p>
        </p:txBody>
      </p:sp>
      <p:sp>
        <p:nvSpPr>
          <p:cNvPr id="10" name="Text 8"/>
          <p:cNvSpPr/>
          <p:nvPr/>
        </p:nvSpPr>
        <p:spPr>
          <a:xfrm>
            <a:off x="1242348" y="3328554"/>
            <a:ext cx="5649165"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File Format</a:t>
            </a:r>
            <a:endParaRPr lang="en-US" sz="1600" dirty="0"/>
          </a:p>
        </p:txBody>
      </p:sp>
      <p:sp>
        <p:nvSpPr>
          <p:cNvPr id="11" name="Text 9"/>
          <p:cNvSpPr/>
          <p:nvPr/>
        </p:nvSpPr>
        <p:spPr>
          <a:xfrm>
            <a:off x="1242348" y="3609840"/>
            <a:ext cx="5637445"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解决"如何高效存储数据"(Parquet/ORC/Avro的列式压缩、编码、向量化读取)</a:t>
            </a:r>
            <a:endParaRPr lang="en-US" sz="1600" dirty="0"/>
          </a:p>
        </p:txBody>
      </p:sp>
      <p:sp>
        <p:nvSpPr>
          <p:cNvPr id="12" name="Shape 10"/>
          <p:cNvSpPr/>
          <p:nvPr/>
        </p:nvSpPr>
        <p:spPr>
          <a:xfrm>
            <a:off x="802838" y="4031769"/>
            <a:ext cx="246125" cy="281286"/>
          </a:xfrm>
          <a:custGeom>
            <a:avLst/>
            <a:gdLst/>
            <a:ahLst/>
            <a:cxnLst/>
            <a:rect l="l" t="t" r="r" b="b"/>
            <a:pathLst>
              <a:path w="246125" h="281286">
                <a:moveTo>
                  <a:pt x="140643" y="87902"/>
                </a:moveTo>
                <a:lnTo>
                  <a:pt x="140643" y="140643"/>
                </a:lnTo>
                <a:lnTo>
                  <a:pt x="210965" y="140643"/>
                </a:lnTo>
                <a:lnTo>
                  <a:pt x="210965" y="87902"/>
                </a:lnTo>
                <a:lnTo>
                  <a:pt x="140643" y="87902"/>
                </a:lnTo>
                <a:close/>
                <a:moveTo>
                  <a:pt x="105482" y="87902"/>
                </a:moveTo>
                <a:lnTo>
                  <a:pt x="35161" y="87902"/>
                </a:lnTo>
                <a:lnTo>
                  <a:pt x="35161" y="140643"/>
                </a:lnTo>
                <a:lnTo>
                  <a:pt x="105482" y="140643"/>
                </a:lnTo>
                <a:lnTo>
                  <a:pt x="105482" y="87902"/>
                </a:lnTo>
                <a:close/>
                <a:moveTo>
                  <a:pt x="0" y="175804"/>
                </a:moveTo>
                <a:lnTo>
                  <a:pt x="0" y="52741"/>
                </a:lnTo>
                <a:cubicBezTo>
                  <a:pt x="0" y="33348"/>
                  <a:pt x="15767" y="17580"/>
                  <a:pt x="35161" y="17580"/>
                </a:cubicBezTo>
                <a:lnTo>
                  <a:pt x="210965" y="17580"/>
                </a:lnTo>
                <a:cubicBezTo>
                  <a:pt x="230358" y="17580"/>
                  <a:pt x="246125" y="33348"/>
                  <a:pt x="246125" y="52741"/>
                </a:cubicBezTo>
                <a:lnTo>
                  <a:pt x="246125" y="228545"/>
                </a:lnTo>
                <a:cubicBezTo>
                  <a:pt x="246125" y="247938"/>
                  <a:pt x="230358" y="263706"/>
                  <a:pt x="210965" y="263706"/>
                </a:cubicBezTo>
                <a:lnTo>
                  <a:pt x="35161" y="263706"/>
                </a:lnTo>
                <a:cubicBezTo>
                  <a:pt x="15767" y="263706"/>
                  <a:pt x="0" y="247938"/>
                  <a:pt x="0" y="228545"/>
                </a:cubicBezTo>
                <a:lnTo>
                  <a:pt x="0" y="175804"/>
                </a:lnTo>
                <a:close/>
                <a:moveTo>
                  <a:pt x="210965" y="175804"/>
                </a:moveTo>
                <a:lnTo>
                  <a:pt x="140643" y="175804"/>
                </a:lnTo>
                <a:lnTo>
                  <a:pt x="140643" y="228545"/>
                </a:lnTo>
                <a:lnTo>
                  <a:pt x="210965" y="228545"/>
                </a:lnTo>
                <a:lnTo>
                  <a:pt x="210965" y="175804"/>
                </a:lnTo>
                <a:close/>
                <a:moveTo>
                  <a:pt x="105482" y="228545"/>
                </a:moveTo>
                <a:lnTo>
                  <a:pt x="105482" y="175804"/>
                </a:lnTo>
                <a:lnTo>
                  <a:pt x="35161" y="175804"/>
                </a:lnTo>
                <a:lnTo>
                  <a:pt x="35161" y="228545"/>
                </a:lnTo>
                <a:lnTo>
                  <a:pt x="105482" y="228545"/>
                </a:lnTo>
                <a:close/>
              </a:path>
            </a:pathLst>
          </a:custGeom>
          <a:solidFill>
            <a:srgbClr val="4FD1C5"/>
          </a:solidFill>
          <a:ln/>
        </p:spPr>
        <p:txBody>
          <a:bodyPr/>
          <a:lstStyle/>
          <a:p>
            <a:endParaRPr lang="zh-CN" altLang="en-US"/>
          </a:p>
        </p:txBody>
      </p:sp>
      <p:sp>
        <p:nvSpPr>
          <p:cNvPr id="13" name="Text 11"/>
          <p:cNvSpPr/>
          <p:nvPr/>
        </p:nvSpPr>
        <p:spPr>
          <a:xfrm>
            <a:off x="1242348" y="3984888"/>
            <a:ext cx="4020049"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Table Format</a:t>
            </a:r>
            <a:endParaRPr lang="en-US" sz="1600" dirty="0"/>
          </a:p>
        </p:txBody>
      </p:sp>
      <p:sp>
        <p:nvSpPr>
          <p:cNvPr id="14" name="Text 12"/>
          <p:cNvSpPr/>
          <p:nvPr/>
        </p:nvSpPr>
        <p:spPr>
          <a:xfrm>
            <a:off x="1242348" y="4266174"/>
            <a:ext cx="4008329"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解决"哪些文件属于这张表,以及如何在多版本之间切换"</a:t>
            </a:r>
            <a:endParaRPr lang="en-US" sz="1600" dirty="0"/>
          </a:p>
        </p:txBody>
      </p:sp>
      <p:sp>
        <p:nvSpPr>
          <p:cNvPr id="15" name="Shape 13"/>
          <p:cNvSpPr/>
          <p:nvPr/>
        </p:nvSpPr>
        <p:spPr>
          <a:xfrm>
            <a:off x="468810" y="4922509"/>
            <a:ext cx="7536127" cy="2109647"/>
          </a:xfrm>
          <a:custGeom>
            <a:avLst/>
            <a:gdLst/>
            <a:ahLst/>
            <a:cxnLst/>
            <a:rect l="l" t="t" r="r" b="b"/>
            <a:pathLst>
              <a:path w="7536127" h="2109647">
                <a:moveTo>
                  <a:pt x="93753" y="0"/>
                </a:moveTo>
                <a:lnTo>
                  <a:pt x="7442374" y="0"/>
                </a:lnTo>
                <a:cubicBezTo>
                  <a:pt x="7494152" y="0"/>
                  <a:pt x="7536127" y="41975"/>
                  <a:pt x="7536127" y="93753"/>
                </a:cubicBezTo>
                <a:lnTo>
                  <a:pt x="7536127" y="2015894"/>
                </a:lnTo>
                <a:cubicBezTo>
                  <a:pt x="7536127" y="2067672"/>
                  <a:pt x="7494152" y="2109647"/>
                  <a:pt x="7442374" y="2109647"/>
                </a:cubicBezTo>
                <a:lnTo>
                  <a:pt x="93753" y="2109647"/>
                </a:lnTo>
                <a:cubicBezTo>
                  <a:pt x="42009" y="2109647"/>
                  <a:pt x="0" y="2067638"/>
                  <a:pt x="0" y="2015894"/>
                </a:cubicBezTo>
                <a:lnTo>
                  <a:pt x="0" y="93753"/>
                </a:lnTo>
                <a:cubicBezTo>
                  <a:pt x="0" y="42009"/>
                  <a:pt x="42009" y="0"/>
                  <a:pt x="93753" y="0"/>
                </a:cubicBezTo>
                <a:close/>
              </a:path>
            </a:pathLst>
          </a:custGeom>
          <a:solidFill>
            <a:srgbClr val="4A5568">
              <a:alpha val="30196"/>
            </a:srgbClr>
          </a:solidFill>
          <a:ln/>
        </p:spPr>
        <p:txBody>
          <a:bodyPr/>
          <a:lstStyle/>
          <a:p>
            <a:endParaRPr lang="zh-CN" altLang="en-US"/>
          </a:p>
        </p:txBody>
      </p:sp>
      <p:sp>
        <p:nvSpPr>
          <p:cNvPr id="16" name="Text 14"/>
          <p:cNvSpPr/>
          <p:nvPr/>
        </p:nvSpPr>
        <p:spPr>
          <a:xfrm>
            <a:off x="703216" y="5156914"/>
            <a:ext cx="7172799" cy="328167"/>
          </a:xfrm>
          <a:prstGeom prst="rect">
            <a:avLst/>
          </a:prstGeom>
          <a:noFill/>
          <a:ln/>
        </p:spPr>
        <p:txBody>
          <a:bodyPr wrap="square" lIns="0" tIns="0" rIns="0" bIns="0" rtlCol="0" anchor="ctr"/>
          <a:lstStyle/>
          <a:p>
            <a:pPr>
              <a:lnSpc>
                <a:spcPct val="130000"/>
              </a:lnSpc>
            </a:pPr>
            <a:r>
              <a:rPr lang="en-US" sz="1661" b="1" dirty="0">
                <a:solidFill>
                  <a:srgbClr val="F7FAFC"/>
                </a:solidFill>
                <a:latin typeface="MiSans" pitchFamily="34" charset="0"/>
                <a:ea typeface="MiSans" pitchFamily="34" charset="-122"/>
                <a:cs typeface="MiSans" pitchFamily="34" charset="-120"/>
              </a:rPr>
              <a:t>传统Hive方案的缺陷</a:t>
            </a:r>
            <a:endParaRPr lang="en-US" sz="1600" dirty="0"/>
          </a:p>
        </p:txBody>
      </p:sp>
      <p:sp>
        <p:nvSpPr>
          <p:cNvPr id="17" name="Shape 15"/>
          <p:cNvSpPr/>
          <p:nvPr/>
        </p:nvSpPr>
        <p:spPr>
          <a:xfrm>
            <a:off x="726656" y="5672606"/>
            <a:ext cx="187524" cy="187524"/>
          </a:xfrm>
          <a:custGeom>
            <a:avLst/>
            <a:gdLst/>
            <a:ahLst/>
            <a:cxnLst/>
            <a:rect l="l" t="t" r="r" b="b"/>
            <a:pathLst>
              <a:path w="187524" h="187524">
                <a:moveTo>
                  <a:pt x="93762" y="0"/>
                </a:moveTo>
                <a:cubicBezTo>
                  <a:pt x="99146" y="0"/>
                  <a:pt x="104091" y="2967"/>
                  <a:pt x="106654" y="7691"/>
                </a:cubicBezTo>
                <a:lnTo>
                  <a:pt x="185766" y="154195"/>
                </a:lnTo>
                <a:cubicBezTo>
                  <a:pt x="188220" y="158736"/>
                  <a:pt x="188110" y="164230"/>
                  <a:pt x="185473" y="168662"/>
                </a:cubicBezTo>
                <a:cubicBezTo>
                  <a:pt x="182836" y="173094"/>
                  <a:pt x="178038" y="175804"/>
                  <a:pt x="172874" y="175804"/>
                </a:cubicBezTo>
                <a:lnTo>
                  <a:pt x="14650" y="175804"/>
                </a:lnTo>
                <a:cubicBezTo>
                  <a:pt x="9486" y="175804"/>
                  <a:pt x="4725" y="173094"/>
                  <a:pt x="2051" y="168662"/>
                </a:cubicBezTo>
                <a:cubicBezTo>
                  <a:pt x="-623" y="164230"/>
                  <a:pt x="-696" y="158736"/>
                  <a:pt x="1758" y="154195"/>
                </a:cubicBezTo>
                <a:lnTo>
                  <a:pt x="80870" y="7691"/>
                </a:lnTo>
                <a:cubicBezTo>
                  <a:pt x="83434" y="2967"/>
                  <a:pt x="88378" y="0"/>
                  <a:pt x="93762" y="0"/>
                </a:cubicBezTo>
                <a:close/>
                <a:moveTo>
                  <a:pt x="93762" y="61531"/>
                </a:moveTo>
                <a:cubicBezTo>
                  <a:pt x="88891" y="61531"/>
                  <a:pt x="84972" y="65450"/>
                  <a:pt x="84972" y="70322"/>
                </a:cubicBezTo>
                <a:lnTo>
                  <a:pt x="84972" y="111342"/>
                </a:lnTo>
                <a:cubicBezTo>
                  <a:pt x="84972" y="116214"/>
                  <a:pt x="88891" y="120133"/>
                  <a:pt x="93762" y="120133"/>
                </a:cubicBezTo>
                <a:cubicBezTo>
                  <a:pt x="98633" y="120133"/>
                  <a:pt x="102552" y="116214"/>
                  <a:pt x="102552" y="111342"/>
                </a:cubicBezTo>
                <a:lnTo>
                  <a:pt x="102552" y="70322"/>
                </a:lnTo>
                <a:cubicBezTo>
                  <a:pt x="102552" y="65450"/>
                  <a:pt x="98633" y="61531"/>
                  <a:pt x="93762" y="61531"/>
                </a:cubicBezTo>
                <a:close/>
                <a:moveTo>
                  <a:pt x="103541" y="140643"/>
                </a:moveTo>
                <a:cubicBezTo>
                  <a:pt x="103764" y="137013"/>
                  <a:pt x="101953" y="133560"/>
                  <a:pt x="98842" y="131677"/>
                </a:cubicBezTo>
                <a:cubicBezTo>
                  <a:pt x="95730" y="129795"/>
                  <a:pt x="91831" y="129795"/>
                  <a:pt x="88719" y="131677"/>
                </a:cubicBezTo>
                <a:cubicBezTo>
                  <a:pt x="85607" y="133560"/>
                  <a:pt x="83797" y="137013"/>
                  <a:pt x="84020" y="140643"/>
                </a:cubicBezTo>
                <a:cubicBezTo>
                  <a:pt x="83797" y="144273"/>
                  <a:pt x="85607" y="147727"/>
                  <a:pt x="88719" y="149609"/>
                </a:cubicBezTo>
                <a:cubicBezTo>
                  <a:pt x="91831" y="151491"/>
                  <a:pt x="95730" y="151491"/>
                  <a:pt x="98842" y="149609"/>
                </a:cubicBezTo>
                <a:cubicBezTo>
                  <a:pt x="101953" y="147727"/>
                  <a:pt x="103764" y="144273"/>
                  <a:pt x="103541" y="140643"/>
                </a:cubicBezTo>
                <a:close/>
              </a:path>
            </a:pathLst>
          </a:custGeom>
          <a:solidFill>
            <a:srgbClr val="4FD1C5"/>
          </a:solidFill>
          <a:ln/>
        </p:spPr>
        <p:txBody>
          <a:bodyPr/>
          <a:lstStyle/>
          <a:p>
            <a:endParaRPr lang="zh-CN" altLang="en-US"/>
          </a:p>
        </p:txBody>
      </p:sp>
      <p:sp>
        <p:nvSpPr>
          <p:cNvPr id="18" name="Text 16"/>
          <p:cNvSpPr/>
          <p:nvPr/>
        </p:nvSpPr>
        <p:spPr>
          <a:xfrm>
            <a:off x="1031383" y="5625725"/>
            <a:ext cx="4008329"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目录Listing性能差</a:t>
            </a:r>
            <a:endParaRPr lang="en-US" sz="1600" dirty="0"/>
          </a:p>
        </p:txBody>
      </p:sp>
      <p:sp>
        <p:nvSpPr>
          <p:cNvPr id="19" name="Text 17"/>
          <p:cNvSpPr/>
          <p:nvPr/>
        </p:nvSpPr>
        <p:spPr>
          <a:xfrm>
            <a:off x="1031383" y="5907011"/>
            <a:ext cx="3996609"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包含数万个文件的目录Listing非常慢(在S3上尤为明显)</a:t>
            </a:r>
            <a:endParaRPr lang="en-US" sz="1600" dirty="0"/>
          </a:p>
        </p:txBody>
      </p:sp>
      <p:sp>
        <p:nvSpPr>
          <p:cNvPr id="20" name="Shape 18"/>
          <p:cNvSpPr/>
          <p:nvPr/>
        </p:nvSpPr>
        <p:spPr>
          <a:xfrm>
            <a:off x="726656" y="6328940"/>
            <a:ext cx="187524" cy="187524"/>
          </a:xfrm>
          <a:custGeom>
            <a:avLst/>
            <a:gdLst/>
            <a:ahLst/>
            <a:cxnLst/>
            <a:rect l="l" t="t" r="r" b="b"/>
            <a:pathLst>
              <a:path w="187524" h="187524">
                <a:moveTo>
                  <a:pt x="93762" y="0"/>
                </a:moveTo>
                <a:cubicBezTo>
                  <a:pt x="99146" y="0"/>
                  <a:pt x="104091" y="2967"/>
                  <a:pt x="106654" y="7691"/>
                </a:cubicBezTo>
                <a:lnTo>
                  <a:pt x="185766" y="154195"/>
                </a:lnTo>
                <a:cubicBezTo>
                  <a:pt x="188220" y="158736"/>
                  <a:pt x="188110" y="164230"/>
                  <a:pt x="185473" y="168662"/>
                </a:cubicBezTo>
                <a:cubicBezTo>
                  <a:pt x="182836" y="173094"/>
                  <a:pt x="178038" y="175804"/>
                  <a:pt x="172874" y="175804"/>
                </a:cubicBezTo>
                <a:lnTo>
                  <a:pt x="14650" y="175804"/>
                </a:lnTo>
                <a:cubicBezTo>
                  <a:pt x="9486" y="175804"/>
                  <a:pt x="4725" y="173094"/>
                  <a:pt x="2051" y="168662"/>
                </a:cubicBezTo>
                <a:cubicBezTo>
                  <a:pt x="-623" y="164230"/>
                  <a:pt x="-696" y="158736"/>
                  <a:pt x="1758" y="154195"/>
                </a:cubicBezTo>
                <a:lnTo>
                  <a:pt x="80870" y="7691"/>
                </a:lnTo>
                <a:cubicBezTo>
                  <a:pt x="83434" y="2967"/>
                  <a:pt x="88378" y="0"/>
                  <a:pt x="93762" y="0"/>
                </a:cubicBezTo>
                <a:close/>
                <a:moveTo>
                  <a:pt x="93762" y="61531"/>
                </a:moveTo>
                <a:cubicBezTo>
                  <a:pt x="88891" y="61531"/>
                  <a:pt x="84972" y="65450"/>
                  <a:pt x="84972" y="70322"/>
                </a:cubicBezTo>
                <a:lnTo>
                  <a:pt x="84972" y="111342"/>
                </a:lnTo>
                <a:cubicBezTo>
                  <a:pt x="84972" y="116214"/>
                  <a:pt x="88891" y="120133"/>
                  <a:pt x="93762" y="120133"/>
                </a:cubicBezTo>
                <a:cubicBezTo>
                  <a:pt x="98633" y="120133"/>
                  <a:pt x="102552" y="116214"/>
                  <a:pt x="102552" y="111342"/>
                </a:cubicBezTo>
                <a:lnTo>
                  <a:pt x="102552" y="70322"/>
                </a:lnTo>
                <a:cubicBezTo>
                  <a:pt x="102552" y="65450"/>
                  <a:pt x="98633" y="61531"/>
                  <a:pt x="93762" y="61531"/>
                </a:cubicBezTo>
                <a:close/>
                <a:moveTo>
                  <a:pt x="103541" y="140643"/>
                </a:moveTo>
                <a:cubicBezTo>
                  <a:pt x="103764" y="137013"/>
                  <a:pt x="101953" y="133560"/>
                  <a:pt x="98842" y="131677"/>
                </a:cubicBezTo>
                <a:cubicBezTo>
                  <a:pt x="95730" y="129795"/>
                  <a:pt x="91831" y="129795"/>
                  <a:pt x="88719" y="131677"/>
                </a:cubicBezTo>
                <a:cubicBezTo>
                  <a:pt x="85607" y="133560"/>
                  <a:pt x="83797" y="137013"/>
                  <a:pt x="84020" y="140643"/>
                </a:cubicBezTo>
                <a:cubicBezTo>
                  <a:pt x="83797" y="144273"/>
                  <a:pt x="85607" y="147727"/>
                  <a:pt x="88719" y="149609"/>
                </a:cubicBezTo>
                <a:cubicBezTo>
                  <a:pt x="91831" y="151491"/>
                  <a:pt x="95730" y="151491"/>
                  <a:pt x="98842" y="149609"/>
                </a:cubicBezTo>
                <a:cubicBezTo>
                  <a:pt x="101953" y="147727"/>
                  <a:pt x="103764" y="144273"/>
                  <a:pt x="103541" y="140643"/>
                </a:cubicBezTo>
                <a:close/>
              </a:path>
            </a:pathLst>
          </a:custGeom>
          <a:solidFill>
            <a:srgbClr val="4FD1C5"/>
          </a:solidFill>
          <a:ln/>
        </p:spPr>
        <p:txBody>
          <a:bodyPr/>
          <a:lstStyle/>
          <a:p>
            <a:endParaRPr lang="zh-CN" altLang="en-US"/>
          </a:p>
        </p:txBody>
      </p:sp>
      <p:sp>
        <p:nvSpPr>
          <p:cNvPr id="21" name="Text 19"/>
          <p:cNvSpPr/>
          <p:nvPr/>
        </p:nvSpPr>
        <p:spPr>
          <a:xfrm>
            <a:off x="1031383" y="6282059"/>
            <a:ext cx="3691882"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无法原子性变更</a:t>
            </a:r>
            <a:endParaRPr lang="en-US" sz="1600" dirty="0"/>
          </a:p>
        </p:txBody>
      </p:sp>
      <p:sp>
        <p:nvSpPr>
          <p:cNvPr id="22" name="Text 20"/>
          <p:cNvSpPr/>
          <p:nvPr/>
        </p:nvSpPr>
        <p:spPr>
          <a:xfrm>
            <a:off x="1031383" y="6563345"/>
            <a:ext cx="3680161"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一旦中间出现失败,目录内容可能处于"半更新"状态</a:t>
            </a:r>
            <a:endParaRPr lang="en-US" sz="1600" dirty="0"/>
          </a:p>
        </p:txBody>
      </p:sp>
      <p:sp>
        <p:nvSpPr>
          <p:cNvPr id="23" name="Shape 21"/>
          <p:cNvSpPr/>
          <p:nvPr/>
        </p:nvSpPr>
        <p:spPr>
          <a:xfrm>
            <a:off x="8243188" y="1734598"/>
            <a:ext cx="7536127" cy="5766368"/>
          </a:xfrm>
          <a:custGeom>
            <a:avLst/>
            <a:gdLst/>
            <a:ahLst/>
            <a:cxnLst/>
            <a:rect l="l" t="t" r="r" b="b"/>
            <a:pathLst>
              <a:path w="7536127" h="5766368">
                <a:moveTo>
                  <a:pt x="93761" y="0"/>
                </a:moveTo>
                <a:lnTo>
                  <a:pt x="7442366" y="0"/>
                </a:lnTo>
                <a:cubicBezTo>
                  <a:pt x="7494149" y="0"/>
                  <a:pt x="7536127" y="41978"/>
                  <a:pt x="7536127" y="93761"/>
                </a:cubicBezTo>
                <a:lnTo>
                  <a:pt x="7536127" y="5672607"/>
                </a:lnTo>
                <a:cubicBezTo>
                  <a:pt x="7536127" y="5724389"/>
                  <a:pt x="7494149" y="5766368"/>
                  <a:pt x="7442366" y="5766368"/>
                </a:cubicBezTo>
                <a:lnTo>
                  <a:pt x="93761" y="5766368"/>
                </a:lnTo>
                <a:cubicBezTo>
                  <a:pt x="41978" y="5766368"/>
                  <a:pt x="0" y="5724389"/>
                  <a:pt x="0" y="5672607"/>
                </a:cubicBezTo>
                <a:lnTo>
                  <a:pt x="0" y="93761"/>
                </a:lnTo>
                <a:cubicBezTo>
                  <a:pt x="0" y="41978"/>
                  <a:pt x="41978" y="0"/>
                  <a:pt x="93761" y="0"/>
                </a:cubicBezTo>
                <a:close/>
              </a:path>
            </a:pathLst>
          </a:custGeom>
          <a:solidFill>
            <a:srgbClr val="4A5568">
              <a:alpha val="30196"/>
            </a:srgbClr>
          </a:solidFill>
          <a:ln/>
        </p:spPr>
        <p:txBody>
          <a:bodyPr/>
          <a:lstStyle/>
          <a:p>
            <a:endParaRPr lang="zh-CN" altLang="en-US"/>
          </a:p>
        </p:txBody>
      </p:sp>
      <p:sp>
        <p:nvSpPr>
          <p:cNvPr id="24" name="Text 22"/>
          <p:cNvSpPr/>
          <p:nvPr/>
        </p:nvSpPr>
        <p:spPr>
          <a:xfrm>
            <a:off x="8477593" y="1969004"/>
            <a:ext cx="7184519" cy="328167"/>
          </a:xfrm>
          <a:prstGeom prst="rect">
            <a:avLst/>
          </a:prstGeom>
          <a:noFill/>
          <a:ln/>
        </p:spPr>
        <p:txBody>
          <a:bodyPr wrap="square" lIns="0" tIns="0" rIns="0" bIns="0" rtlCol="0" anchor="ctr"/>
          <a:lstStyle/>
          <a:p>
            <a:pPr>
              <a:lnSpc>
                <a:spcPct val="120000"/>
              </a:lnSpc>
            </a:pPr>
            <a:r>
              <a:rPr lang="en-US" sz="1846" b="1" dirty="0">
                <a:solidFill>
                  <a:srgbClr val="4FD1C5"/>
                </a:solidFill>
                <a:latin typeface="Noto Sans SC" pitchFamily="34" charset="0"/>
                <a:ea typeface="Noto Sans SC" pitchFamily="34" charset="-122"/>
                <a:cs typeface="Noto Sans SC" pitchFamily="34" charset="-120"/>
              </a:rPr>
              <a:t>现代Table Format的解决方案</a:t>
            </a:r>
            <a:endParaRPr lang="en-US" sz="1600" dirty="0"/>
          </a:p>
        </p:txBody>
      </p:sp>
      <p:sp>
        <p:nvSpPr>
          <p:cNvPr id="25" name="Text 23"/>
          <p:cNvSpPr/>
          <p:nvPr/>
        </p:nvSpPr>
        <p:spPr>
          <a:xfrm>
            <a:off x="8477593" y="2484695"/>
            <a:ext cx="7161079" cy="609453"/>
          </a:xfrm>
          <a:prstGeom prst="rect">
            <a:avLst/>
          </a:prstGeom>
          <a:noFill/>
          <a:ln/>
        </p:spPr>
        <p:txBody>
          <a:bodyPr wrap="square" lIns="0" tIns="0" rIns="0" bIns="0" rtlCol="0" anchor="ctr"/>
          <a:lstStyle/>
          <a:p>
            <a:pPr>
              <a:lnSpc>
                <a:spcPct val="140000"/>
              </a:lnSpc>
            </a:pPr>
            <a:r>
              <a:rPr lang="en-US" sz="1477" dirty="0">
                <a:solidFill>
                  <a:srgbClr val="A0AEC0"/>
                </a:solidFill>
                <a:latin typeface="MiSans" pitchFamily="34" charset="0"/>
                <a:ea typeface="MiSans" pitchFamily="34" charset="-122"/>
                <a:cs typeface="MiSans" pitchFamily="34" charset="-120"/>
              </a:rPr>
              <a:t>现代Table Format(如Apache Iceberg)通过</a:t>
            </a:r>
            <a:r>
              <a:rPr lang="en-US" sz="1477" b="1" dirty="0">
                <a:solidFill>
                  <a:srgbClr val="4FD1C5"/>
                </a:solidFill>
                <a:latin typeface="MiSans" pitchFamily="34" charset="0"/>
                <a:ea typeface="MiSans" pitchFamily="34" charset="-122"/>
                <a:cs typeface="MiSans" pitchFamily="34" charset="-120"/>
              </a:rPr>
              <a:t>显式元数据文件</a:t>
            </a:r>
            <a:r>
              <a:rPr lang="en-US" sz="1477" dirty="0">
                <a:solidFill>
                  <a:srgbClr val="A0AEC0"/>
                </a:solidFill>
                <a:latin typeface="MiSans" pitchFamily="34" charset="0"/>
                <a:ea typeface="MiSans" pitchFamily="34" charset="-122"/>
                <a:cs typeface="MiSans" pitchFamily="34" charset="-120"/>
              </a:rPr>
              <a:t>来精确追踪每一个数据文件,避免了对目录Listing的依赖。</a:t>
            </a:r>
            <a:endParaRPr lang="en-US" sz="1600" dirty="0"/>
          </a:p>
        </p:txBody>
      </p:sp>
      <p:sp>
        <p:nvSpPr>
          <p:cNvPr id="26" name="Shape 24"/>
          <p:cNvSpPr/>
          <p:nvPr/>
        </p:nvSpPr>
        <p:spPr>
          <a:xfrm>
            <a:off x="8477593" y="3281673"/>
            <a:ext cx="7067317" cy="3984888"/>
          </a:xfrm>
          <a:custGeom>
            <a:avLst/>
            <a:gdLst/>
            <a:ahLst/>
            <a:cxnLst/>
            <a:rect l="l" t="t" r="r" b="b"/>
            <a:pathLst>
              <a:path w="7067317" h="3984888">
                <a:moveTo>
                  <a:pt x="46862" y="0"/>
                </a:moveTo>
                <a:lnTo>
                  <a:pt x="7020454" y="0"/>
                </a:lnTo>
                <a:cubicBezTo>
                  <a:pt x="7046336" y="0"/>
                  <a:pt x="7067317" y="20981"/>
                  <a:pt x="7067317" y="46862"/>
                </a:cubicBezTo>
                <a:lnTo>
                  <a:pt x="7067317" y="3938026"/>
                </a:lnTo>
                <a:cubicBezTo>
                  <a:pt x="7067317" y="3963907"/>
                  <a:pt x="7046336" y="3984888"/>
                  <a:pt x="7020454" y="3984888"/>
                </a:cubicBezTo>
                <a:lnTo>
                  <a:pt x="46862" y="3984888"/>
                </a:lnTo>
                <a:cubicBezTo>
                  <a:pt x="20981" y="3984888"/>
                  <a:pt x="0" y="3963907"/>
                  <a:pt x="0" y="3938026"/>
                </a:cubicBezTo>
                <a:lnTo>
                  <a:pt x="0" y="46862"/>
                </a:lnTo>
                <a:cubicBezTo>
                  <a:pt x="0" y="20981"/>
                  <a:pt x="20981" y="0"/>
                  <a:pt x="46862" y="0"/>
                </a:cubicBezTo>
                <a:close/>
              </a:path>
            </a:pathLst>
          </a:custGeom>
          <a:solidFill>
            <a:srgbClr val="1A202C"/>
          </a:solidFill>
          <a:ln/>
        </p:spPr>
        <p:txBody>
          <a:bodyPr/>
          <a:lstStyle/>
          <a:p>
            <a:endParaRPr lang="zh-CN" altLang="en-US"/>
          </a:p>
        </p:txBody>
      </p:sp>
      <p:sp>
        <p:nvSpPr>
          <p:cNvPr id="27" name="Shape 25"/>
          <p:cNvSpPr/>
          <p:nvPr/>
        </p:nvSpPr>
        <p:spPr>
          <a:xfrm>
            <a:off x="8665118" y="3492637"/>
            <a:ext cx="468810" cy="468810"/>
          </a:xfrm>
          <a:custGeom>
            <a:avLst/>
            <a:gdLst/>
            <a:ahLst/>
            <a:cxnLst/>
            <a:rect l="l" t="t" r="r" b="b"/>
            <a:pathLst>
              <a:path w="468810" h="468810">
                <a:moveTo>
                  <a:pt x="93762" y="0"/>
                </a:moveTo>
                <a:lnTo>
                  <a:pt x="375048" y="0"/>
                </a:lnTo>
                <a:cubicBezTo>
                  <a:pt x="426797" y="0"/>
                  <a:pt x="468810" y="42013"/>
                  <a:pt x="468810" y="93762"/>
                </a:cubicBezTo>
                <a:lnTo>
                  <a:pt x="468810" y="375048"/>
                </a:lnTo>
                <a:cubicBezTo>
                  <a:pt x="468810" y="426797"/>
                  <a:pt x="426797" y="468810"/>
                  <a:pt x="375048" y="468810"/>
                </a:cubicBezTo>
                <a:lnTo>
                  <a:pt x="93762" y="468810"/>
                </a:lnTo>
                <a:cubicBezTo>
                  <a:pt x="42013" y="468810"/>
                  <a:pt x="0" y="426797"/>
                  <a:pt x="0" y="375048"/>
                </a:cubicBezTo>
                <a:lnTo>
                  <a:pt x="0" y="93762"/>
                </a:lnTo>
                <a:cubicBezTo>
                  <a:pt x="0" y="42013"/>
                  <a:pt x="42013" y="0"/>
                  <a:pt x="93762" y="0"/>
                </a:cubicBezTo>
                <a:close/>
              </a:path>
            </a:pathLst>
          </a:custGeom>
          <a:solidFill>
            <a:srgbClr val="4FD1C5"/>
          </a:solidFill>
          <a:ln/>
        </p:spPr>
        <p:txBody>
          <a:bodyPr/>
          <a:lstStyle/>
          <a:p>
            <a:endParaRPr lang="zh-CN" altLang="en-US"/>
          </a:p>
        </p:txBody>
      </p:sp>
      <p:sp>
        <p:nvSpPr>
          <p:cNvPr id="28" name="Shape 26"/>
          <p:cNvSpPr/>
          <p:nvPr/>
        </p:nvSpPr>
        <p:spPr>
          <a:xfrm>
            <a:off x="8829201" y="3633280"/>
            <a:ext cx="140643" cy="187524"/>
          </a:xfrm>
          <a:custGeom>
            <a:avLst/>
            <a:gdLst/>
            <a:ahLst/>
            <a:cxnLst/>
            <a:rect l="l" t="t" r="r" b="b"/>
            <a:pathLst>
              <a:path w="140643" h="187524">
                <a:moveTo>
                  <a:pt x="0" y="23441"/>
                </a:moveTo>
                <a:cubicBezTo>
                  <a:pt x="0" y="10512"/>
                  <a:pt x="10512" y="0"/>
                  <a:pt x="23441" y="0"/>
                </a:cubicBezTo>
                <a:lnTo>
                  <a:pt x="78196" y="0"/>
                </a:lnTo>
                <a:cubicBezTo>
                  <a:pt x="84422" y="0"/>
                  <a:pt x="90393" y="2454"/>
                  <a:pt x="94788" y="6849"/>
                </a:cubicBezTo>
                <a:lnTo>
                  <a:pt x="133794" y="45892"/>
                </a:lnTo>
                <a:cubicBezTo>
                  <a:pt x="138189" y="50287"/>
                  <a:pt x="140643" y="56257"/>
                  <a:pt x="140643" y="62484"/>
                </a:cubicBezTo>
                <a:lnTo>
                  <a:pt x="140643" y="164084"/>
                </a:lnTo>
                <a:cubicBezTo>
                  <a:pt x="140643" y="177013"/>
                  <a:pt x="130132" y="187524"/>
                  <a:pt x="117203" y="187524"/>
                </a:cubicBezTo>
                <a:lnTo>
                  <a:pt x="23441" y="187524"/>
                </a:lnTo>
                <a:cubicBezTo>
                  <a:pt x="10512" y="187524"/>
                  <a:pt x="0" y="177013"/>
                  <a:pt x="0" y="164084"/>
                </a:cubicBezTo>
                <a:lnTo>
                  <a:pt x="0" y="23441"/>
                </a:lnTo>
                <a:close/>
                <a:moveTo>
                  <a:pt x="76182" y="21426"/>
                </a:moveTo>
                <a:lnTo>
                  <a:pt x="76182" y="55671"/>
                </a:lnTo>
                <a:cubicBezTo>
                  <a:pt x="76182" y="60542"/>
                  <a:pt x="80101" y="64461"/>
                  <a:pt x="84972" y="64461"/>
                </a:cubicBezTo>
                <a:lnTo>
                  <a:pt x="119217" y="64461"/>
                </a:lnTo>
                <a:lnTo>
                  <a:pt x="76182" y="21426"/>
                </a:lnTo>
                <a:close/>
                <a:moveTo>
                  <a:pt x="43951" y="93762"/>
                </a:moveTo>
                <a:cubicBezTo>
                  <a:pt x="39080" y="93762"/>
                  <a:pt x="35161" y="97681"/>
                  <a:pt x="35161" y="102552"/>
                </a:cubicBezTo>
                <a:cubicBezTo>
                  <a:pt x="35161" y="107424"/>
                  <a:pt x="39080" y="111342"/>
                  <a:pt x="43951" y="111342"/>
                </a:cubicBezTo>
                <a:lnTo>
                  <a:pt x="96692" y="111342"/>
                </a:lnTo>
                <a:cubicBezTo>
                  <a:pt x="101563" y="111342"/>
                  <a:pt x="105482" y="107424"/>
                  <a:pt x="105482" y="102552"/>
                </a:cubicBezTo>
                <a:cubicBezTo>
                  <a:pt x="105482" y="97681"/>
                  <a:pt x="101563" y="93762"/>
                  <a:pt x="96692" y="93762"/>
                </a:cubicBezTo>
                <a:lnTo>
                  <a:pt x="43951" y="93762"/>
                </a:lnTo>
                <a:close/>
                <a:moveTo>
                  <a:pt x="43951" y="128923"/>
                </a:moveTo>
                <a:cubicBezTo>
                  <a:pt x="39080" y="128923"/>
                  <a:pt x="35161" y="132842"/>
                  <a:pt x="35161" y="137713"/>
                </a:cubicBezTo>
                <a:cubicBezTo>
                  <a:pt x="35161" y="142584"/>
                  <a:pt x="39080" y="146503"/>
                  <a:pt x="43951" y="146503"/>
                </a:cubicBezTo>
                <a:lnTo>
                  <a:pt x="96692" y="146503"/>
                </a:lnTo>
                <a:cubicBezTo>
                  <a:pt x="101563" y="146503"/>
                  <a:pt x="105482" y="142584"/>
                  <a:pt x="105482" y="137713"/>
                </a:cubicBezTo>
                <a:cubicBezTo>
                  <a:pt x="105482" y="132842"/>
                  <a:pt x="101563" y="128923"/>
                  <a:pt x="96692" y="128923"/>
                </a:cubicBezTo>
                <a:lnTo>
                  <a:pt x="43951" y="128923"/>
                </a:lnTo>
                <a:close/>
              </a:path>
            </a:pathLst>
          </a:custGeom>
          <a:solidFill>
            <a:srgbClr val="1A202C"/>
          </a:solidFill>
          <a:ln/>
        </p:spPr>
        <p:txBody>
          <a:bodyPr/>
          <a:lstStyle/>
          <a:p>
            <a:endParaRPr lang="zh-CN" altLang="en-US"/>
          </a:p>
        </p:txBody>
      </p:sp>
      <p:sp>
        <p:nvSpPr>
          <p:cNvPr id="29" name="Text 27"/>
          <p:cNvSpPr/>
          <p:nvPr/>
        </p:nvSpPr>
        <p:spPr>
          <a:xfrm>
            <a:off x="9274571" y="3469197"/>
            <a:ext cx="3211351"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Metadata File</a:t>
            </a:r>
            <a:endParaRPr lang="en-US" sz="1600" dirty="0"/>
          </a:p>
        </p:txBody>
      </p:sp>
      <p:sp>
        <p:nvSpPr>
          <p:cNvPr id="30" name="Text 28"/>
          <p:cNvSpPr/>
          <p:nvPr/>
        </p:nvSpPr>
        <p:spPr>
          <a:xfrm>
            <a:off x="9274571" y="3750483"/>
            <a:ext cx="3199631"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记录表Schema、分区策略、Snapshot列表</a:t>
            </a:r>
            <a:endParaRPr lang="en-US" sz="1600" dirty="0"/>
          </a:p>
        </p:txBody>
      </p:sp>
      <p:sp>
        <p:nvSpPr>
          <p:cNvPr id="31" name="Shape 29"/>
          <p:cNvSpPr/>
          <p:nvPr/>
        </p:nvSpPr>
        <p:spPr>
          <a:xfrm>
            <a:off x="11925273" y="4125531"/>
            <a:ext cx="175804" cy="234405"/>
          </a:xfrm>
          <a:custGeom>
            <a:avLst/>
            <a:gdLst/>
            <a:ahLst/>
            <a:cxnLst/>
            <a:rect l="l" t="t" r="r" b="b"/>
            <a:pathLst>
              <a:path w="175804" h="234405">
                <a:moveTo>
                  <a:pt x="77555" y="230102"/>
                </a:moveTo>
                <a:cubicBezTo>
                  <a:pt x="83278" y="235824"/>
                  <a:pt x="92572" y="235824"/>
                  <a:pt x="98295" y="230102"/>
                </a:cubicBezTo>
                <a:lnTo>
                  <a:pt x="171546" y="156850"/>
                </a:lnTo>
                <a:cubicBezTo>
                  <a:pt x="177269" y="151127"/>
                  <a:pt x="177269" y="141833"/>
                  <a:pt x="171546" y="136111"/>
                </a:cubicBezTo>
                <a:cubicBezTo>
                  <a:pt x="165823" y="130388"/>
                  <a:pt x="156530" y="130388"/>
                  <a:pt x="150807" y="136111"/>
                </a:cubicBezTo>
                <a:lnTo>
                  <a:pt x="102552" y="184365"/>
                </a:lnTo>
                <a:lnTo>
                  <a:pt x="102552" y="14650"/>
                </a:lnTo>
                <a:cubicBezTo>
                  <a:pt x="102552" y="6547"/>
                  <a:pt x="96005" y="0"/>
                  <a:pt x="87902" y="0"/>
                </a:cubicBezTo>
                <a:cubicBezTo>
                  <a:pt x="79798" y="0"/>
                  <a:pt x="73252" y="6547"/>
                  <a:pt x="73252" y="14650"/>
                </a:cubicBezTo>
                <a:lnTo>
                  <a:pt x="73252" y="184365"/>
                </a:lnTo>
                <a:lnTo>
                  <a:pt x="24997" y="136111"/>
                </a:lnTo>
                <a:cubicBezTo>
                  <a:pt x="19274" y="130388"/>
                  <a:pt x="9981" y="130388"/>
                  <a:pt x="4258" y="136111"/>
                </a:cubicBezTo>
                <a:cubicBezTo>
                  <a:pt x="-1465" y="141833"/>
                  <a:pt x="-1465" y="151127"/>
                  <a:pt x="4258" y="156850"/>
                </a:cubicBezTo>
                <a:lnTo>
                  <a:pt x="77509" y="230102"/>
                </a:lnTo>
                <a:close/>
              </a:path>
            </a:pathLst>
          </a:custGeom>
          <a:solidFill>
            <a:srgbClr val="4FD1C5"/>
          </a:solidFill>
          <a:ln/>
        </p:spPr>
        <p:txBody>
          <a:bodyPr/>
          <a:lstStyle/>
          <a:p>
            <a:endParaRPr lang="zh-CN" altLang="en-US"/>
          </a:p>
        </p:txBody>
      </p:sp>
      <p:sp>
        <p:nvSpPr>
          <p:cNvPr id="32" name="Shape 30"/>
          <p:cNvSpPr/>
          <p:nvPr/>
        </p:nvSpPr>
        <p:spPr>
          <a:xfrm>
            <a:off x="8665118" y="4524020"/>
            <a:ext cx="468810" cy="468810"/>
          </a:xfrm>
          <a:custGeom>
            <a:avLst/>
            <a:gdLst/>
            <a:ahLst/>
            <a:cxnLst/>
            <a:rect l="l" t="t" r="r" b="b"/>
            <a:pathLst>
              <a:path w="468810" h="468810">
                <a:moveTo>
                  <a:pt x="93762" y="0"/>
                </a:moveTo>
                <a:lnTo>
                  <a:pt x="375048" y="0"/>
                </a:lnTo>
                <a:cubicBezTo>
                  <a:pt x="426797" y="0"/>
                  <a:pt x="468810" y="42013"/>
                  <a:pt x="468810" y="93762"/>
                </a:cubicBezTo>
                <a:lnTo>
                  <a:pt x="468810" y="375048"/>
                </a:lnTo>
                <a:cubicBezTo>
                  <a:pt x="468810" y="426797"/>
                  <a:pt x="426797" y="468810"/>
                  <a:pt x="375048" y="468810"/>
                </a:cubicBezTo>
                <a:lnTo>
                  <a:pt x="93762" y="468810"/>
                </a:lnTo>
                <a:cubicBezTo>
                  <a:pt x="42013" y="468810"/>
                  <a:pt x="0" y="426797"/>
                  <a:pt x="0" y="375048"/>
                </a:cubicBezTo>
                <a:lnTo>
                  <a:pt x="0" y="93762"/>
                </a:lnTo>
                <a:cubicBezTo>
                  <a:pt x="0" y="42013"/>
                  <a:pt x="42013" y="0"/>
                  <a:pt x="93762" y="0"/>
                </a:cubicBezTo>
                <a:close/>
              </a:path>
            </a:pathLst>
          </a:custGeom>
          <a:solidFill>
            <a:srgbClr val="4FD1C5"/>
          </a:solidFill>
          <a:ln/>
        </p:spPr>
        <p:txBody>
          <a:bodyPr/>
          <a:lstStyle/>
          <a:p>
            <a:endParaRPr lang="zh-CN" altLang="en-US"/>
          </a:p>
        </p:txBody>
      </p:sp>
      <p:sp>
        <p:nvSpPr>
          <p:cNvPr id="33" name="Shape 31"/>
          <p:cNvSpPr/>
          <p:nvPr/>
        </p:nvSpPr>
        <p:spPr>
          <a:xfrm>
            <a:off x="8805761" y="4664663"/>
            <a:ext cx="187524" cy="187524"/>
          </a:xfrm>
          <a:custGeom>
            <a:avLst/>
            <a:gdLst/>
            <a:ahLst/>
            <a:cxnLst/>
            <a:rect l="l" t="t" r="r" b="b"/>
            <a:pathLst>
              <a:path w="187524" h="187524">
                <a:moveTo>
                  <a:pt x="14650" y="17580"/>
                </a:moveTo>
                <a:cubicBezTo>
                  <a:pt x="9779" y="17580"/>
                  <a:pt x="5860" y="21499"/>
                  <a:pt x="5860" y="26371"/>
                </a:cubicBezTo>
                <a:lnTo>
                  <a:pt x="5860" y="43951"/>
                </a:lnTo>
                <a:cubicBezTo>
                  <a:pt x="5860" y="48822"/>
                  <a:pt x="9779" y="52741"/>
                  <a:pt x="14650" y="52741"/>
                </a:cubicBezTo>
                <a:lnTo>
                  <a:pt x="32231" y="52741"/>
                </a:lnTo>
                <a:cubicBezTo>
                  <a:pt x="37102" y="52741"/>
                  <a:pt x="41021" y="48822"/>
                  <a:pt x="41021" y="43951"/>
                </a:cubicBezTo>
                <a:lnTo>
                  <a:pt x="41021" y="26371"/>
                </a:lnTo>
                <a:cubicBezTo>
                  <a:pt x="41021" y="21499"/>
                  <a:pt x="37102" y="17580"/>
                  <a:pt x="32231" y="17580"/>
                </a:cubicBezTo>
                <a:lnTo>
                  <a:pt x="14650" y="17580"/>
                </a:lnTo>
                <a:close/>
                <a:moveTo>
                  <a:pt x="70322" y="23441"/>
                </a:moveTo>
                <a:cubicBezTo>
                  <a:pt x="63839" y="23441"/>
                  <a:pt x="58601" y="28678"/>
                  <a:pt x="58601" y="35161"/>
                </a:cubicBezTo>
                <a:cubicBezTo>
                  <a:pt x="58601" y="41644"/>
                  <a:pt x="63839" y="46881"/>
                  <a:pt x="70322" y="46881"/>
                </a:cubicBezTo>
                <a:lnTo>
                  <a:pt x="175804" y="46881"/>
                </a:lnTo>
                <a:cubicBezTo>
                  <a:pt x="182287" y="46881"/>
                  <a:pt x="187524" y="41644"/>
                  <a:pt x="187524" y="35161"/>
                </a:cubicBezTo>
                <a:cubicBezTo>
                  <a:pt x="187524" y="28678"/>
                  <a:pt x="182287" y="23441"/>
                  <a:pt x="175804" y="23441"/>
                </a:cubicBezTo>
                <a:lnTo>
                  <a:pt x="70322" y="23441"/>
                </a:lnTo>
                <a:close/>
                <a:moveTo>
                  <a:pt x="70322" y="82042"/>
                </a:moveTo>
                <a:cubicBezTo>
                  <a:pt x="63839" y="82042"/>
                  <a:pt x="58601" y="87279"/>
                  <a:pt x="58601" y="93762"/>
                </a:cubicBezTo>
                <a:cubicBezTo>
                  <a:pt x="58601" y="100245"/>
                  <a:pt x="63839" y="105482"/>
                  <a:pt x="70322" y="105482"/>
                </a:cubicBezTo>
                <a:lnTo>
                  <a:pt x="175804" y="105482"/>
                </a:lnTo>
                <a:cubicBezTo>
                  <a:pt x="182287" y="105482"/>
                  <a:pt x="187524" y="100245"/>
                  <a:pt x="187524" y="93762"/>
                </a:cubicBezTo>
                <a:cubicBezTo>
                  <a:pt x="187524" y="87279"/>
                  <a:pt x="182287" y="82042"/>
                  <a:pt x="175804" y="82042"/>
                </a:cubicBezTo>
                <a:lnTo>
                  <a:pt x="70322" y="82042"/>
                </a:lnTo>
                <a:close/>
                <a:moveTo>
                  <a:pt x="70322" y="140643"/>
                </a:moveTo>
                <a:cubicBezTo>
                  <a:pt x="63839" y="140643"/>
                  <a:pt x="58601" y="145881"/>
                  <a:pt x="58601" y="152363"/>
                </a:cubicBezTo>
                <a:cubicBezTo>
                  <a:pt x="58601" y="158846"/>
                  <a:pt x="63839" y="164084"/>
                  <a:pt x="70322" y="164084"/>
                </a:cubicBezTo>
                <a:lnTo>
                  <a:pt x="175804" y="164084"/>
                </a:lnTo>
                <a:cubicBezTo>
                  <a:pt x="182287" y="164084"/>
                  <a:pt x="187524" y="158846"/>
                  <a:pt x="187524" y="152363"/>
                </a:cubicBezTo>
                <a:cubicBezTo>
                  <a:pt x="187524" y="145881"/>
                  <a:pt x="182287" y="140643"/>
                  <a:pt x="175804" y="140643"/>
                </a:cubicBezTo>
                <a:lnTo>
                  <a:pt x="70322" y="140643"/>
                </a:lnTo>
                <a:close/>
                <a:moveTo>
                  <a:pt x="5860" y="84972"/>
                </a:moveTo>
                <a:lnTo>
                  <a:pt x="5860" y="102552"/>
                </a:lnTo>
                <a:cubicBezTo>
                  <a:pt x="5860" y="107424"/>
                  <a:pt x="9779" y="111342"/>
                  <a:pt x="14650" y="111342"/>
                </a:cubicBezTo>
                <a:lnTo>
                  <a:pt x="32231" y="111342"/>
                </a:lnTo>
                <a:cubicBezTo>
                  <a:pt x="37102" y="111342"/>
                  <a:pt x="41021" y="107424"/>
                  <a:pt x="41021" y="102552"/>
                </a:cubicBezTo>
                <a:lnTo>
                  <a:pt x="41021" y="84972"/>
                </a:lnTo>
                <a:cubicBezTo>
                  <a:pt x="41021" y="80101"/>
                  <a:pt x="37102" y="76182"/>
                  <a:pt x="32231" y="76182"/>
                </a:cubicBezTo>
                <a:lnTo>
                  <a:pt x="14650" y="76182"/>
                </a:lnTo>
                <a:cubicBezTo>
                  <a:pt x="9779" y="76182"/>
                  <a:pt x="5860" y="80101"/>
                  <a:pt x="5860" y="84972"/>
                </a:cubicBezTo>
                <a:close/>
                <a:moveTo>
                  <a:pt x="14650" y="134783"/>
                </a:moveTo>
                <a:cubicBezTo>
                  <a:pt x="9779" y="134783"/>
                  <a:pt x="5860" y="138702"/>
                  <a:pt x="5860" y="143573"/>
                </a:cubicBezTo>
                <a:lnTo>
                  <a:pt x="5860" y="161154"/>
                </a:lnTo>
                <a:cubicBezTo>
                  <a:pt x="5860" y="166025"/>
                  <a:pt x="9779" y="169944"/>
                  <a:pt x="14650" y="169944"/>
                </a:cubicBezTo>
                <a:lnTo>
                  <a:pt x="32231" y="169944"/>
                </a:lnTo>
                <a:cubicBezTo>
                  <a:pt x="37102" y="169944"/>
                  <a:pt x="41021" y="166025"/>
                  <a:pt x="41021" y="161154"/>
                </a:cubicBezTo>
                <a:lnTo>
                  <a:pt x="41021" y="143573"/>
                </a:lnTo>
                <a:cubicBezTo>
                  <a:pt x="41021" y="138702"/>
                  <a:pt x="37102" y="134783"/>
                  <a:pt x="32231" y="134783"/>
                </a:cubicBezTo>
                <a:lnTo>
                  <a:pt x="14650" y="134783"/>
                </a:lnTo>
                <a:close/>
              </a:path>
            </a:pathLst>
          </a:custGeom>
          <a:solidFill>
            <a:srgbClr val="1A202C"/>
          </a:solidFill>
          <a:ln/>
        </p:spPr>
        <p:txBody>
          <a:bodyPr/>
          <a:lstStyle/>
          <a:p>
            <a:endParaRPr lang="zh-CN" altLang="en-US"/>
          </a:p>
        </p:txBody>
      </p:sp>
      <p:sp>
        <p:nvSpPr>
          <p:cNvPr id="34" name="Text 32"/>
          <p:cNvSpPr/>
          <p:nvPr/>
        </p:nvSpPr>
        <p:spPr>
          <a:xfrm>
            <a:off x="9274571" y="4500580"/>
            <a:ext cx="2871464"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Manifest List</a:t>
            </a:r>
            <a:endParaRPr lang="en-US" sz="1600" dirty="0"/>
          </a:p>
        </p:txBody>
      </p:sp>
      <p:sp>
        <p:nvSpPr>
          <p:cNvPr id="35" name="Text 33"/>
          <p:cNvSpPr/>
          <p:nvPr/>
        </p:nvSpPr>
        <p:spPr>
          <a:xfrm>
            <a:off x="9274571" y="4781866"/>
            <a:ext cx="2859743"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记录构建快照所需的所有Manifest文件</a:t>
            </a:r>
            <a:endParaRPr lang="en-US" sz="1600" dirty="0"/>
          </a:p>
        </p:txBody>
      </p:sp>
      <p:sp>
        <p:nvSpPr>
          <p:cNvPr id="36" name="Shape 34"/>
          <p:cNvSpPr/>
          <p:nvPr/>
        </p:nvSpPr>
        <p:spPr>
          <a:xfrm>
            <a:off x="11925273" y="5156914"/>
            <a:ext cx="175804" cy="234405"/>
          </a:xfrm>
          <a:custGeom>
            <a:avLst/>
            <a:gdLst/>
            <a:ahLst/>
            <a:cxnLst/>
            <a:rect l="l" t="t" r="r" b="b"/>
            <a:pathLst>
              <a:path w="175804" h="234405">
                <a:moveTo>
                  <a:pt x="77555" y="230102"/>
                </a:moveTo>
                <a:cubicBezTo>
                  <a:pt x="83278" y="235824"/>
                  <a:pt x="92572" y="235824"/>
                  <a:pt x="98295" y="230102"/>
                </a:cubicBezTo>
                <a:lnTo>
                  <a:pt x="171546" y="156850"/>
                </a:lnTo>
                <a:cubicBezTo>
                  <a:pt x="177269" y="151127"/>
                  <a:pt x="177269" y="141833"/>
                  <a:pt x="171546" y="136111"/>
                </a:cubicBezTo>
                <a:cubicBezTo>
                  <a:pt x="165823" y="130388"/>
                  <a:pt x="156530" y="130388"/>
                  <a:pt x="150807" y="136111"/>
                </a:cubicBezTo>
                <a:lnTo>
                  <a:pt x="102552" y="184365"/>
                </a:lnTo>
                <a:lnTo>
                  <a:pt x="102552" y="14650"/>
                </a:lnTo>
                <a:cubicBezTo>
                  <a:pt x="102552" y="6547"/>
                  <a:pt x="96005" y="0"/>
                  <a:pt x="87902" y="0"/>
                </a:cubicBezTo>
                <a:cubicBezTo>
                  <a:pt x="79798" y="0"/>
                  <a:pt x="73252" y="6547"/>
                  <a:pt x="73252" y="14650"/>
                </a:cubicBezTo>
                <a:lnTo>
                  <a:pt x="73252" y="184365"/>
                </a:lnTo>
                <a:lnTo>
                  <a:pt x="24997" y="136111"/>
                </a:lnTo>
                <a:cubicBezTo>
                  <a:pt x="19274" y="130388"/>
                  <a:pt x="9981" y="130388"/>
                  <a:pt x="4258" y="136111"/>
                </a:cubicBezTo>
                <a:cubicBezTo>
                  <a:pt x="-1465" y="141833"/>
                  <a:pt x="-1465" y="151127"/>
                  <a:pt x="4258" y="156850"/>
                </a:cubicBezTo>
                <a:lnTo>
                  <a:pt x="77509" y="230102"/>
                </a:lnTo>
                <a:close/>
              </a:path>
            </a:pathLst>
          </a:custGeom>
          <a:solidFill>
            <a:srgbClr val="4FD1C5"/>
          </a:solidFill>
          <a:ln/>
        </p:spPr>
        <p:txBody>
          <a:bodyPr/>
          <a:lstStyle/>
          <a:p>
            <a:endParaRPr lang="zh-CN" altLang="en-US"/>
          </a:p>
        </p:txBody>
      </p:sp>
      <p:sp>
        <p:nvSpPr>
          <p:cNvPr id="37" name="Shape 35"/>
          <p:cNvSpPr/>
          <p:nvPr/>
        </p:nvSpPr>
        <p:spPr>
          <a:xfrm>
            <a:off x="8665118" y="5555403"/>
            <a:ext cx="468810" cy="468810"/>
          </a:xfrm>
          <a:custGeom>
            <a:avLst/>
            <a:gdLst/>
            <a:ahLst/>
            <a:cxnLst/>
            <a:rect l="l" t="t" r="r" b="b"/>
            <a:pathLst>
              <a:path w="468810" h="468810">
                <a:moveTo>
                  <a:pt x="93762" y="0"/>
                </a:moveTo>
                <a:lnTo>
                  <a:pt x="375048" y="0"/>
                </a:lnTo>
                <a:cubicBezTo>
                  <a:pt x="426797" y="0"/>
                  <a:pt x="468810" y="42013"/>
                  <a:pt x="468810" y="93762"/>
                </a:cubicBezTo>
                <a:lnTo>
                  <a:pt x="468810" y="375048"/>
                </a:lnTo>
                <a:cubicBezTo>
                  <a:pt x="468810" y="426797"/>
                  <a:pt x="426797" y="468810"/>
                  <a:pt x="375048" y="468810"/>
                </a:cubicBezTo>
                <a:lnTo>
                  <a:pt x="93762" y="468810"/>
                </a:lnTo>
                <a:cubicBezTo>
                  <a:pt x="42013" y="468810"/>
                  <a:pt x="0" y="426797"/>
                  <a:pt x="0" y="375048"/>
                </a:cubicBezTo>
                <a:lnTo>
                  <a:pt x="0" y="93762"/>
                </a:lnTo>
                <a:cubicBezTo>
                  <a:pt x="0" y="42013"/>
                  <a:pt x="42013" y="0"/>
                  <a:pt x="93762" y="0"/>
                </a:cubicBezTo>
                <a:close/>
              </a:path>
            </a:pathLst>
          </a:custGeom>
          <a:solidFill>
            <a:srgbClr val="4FD1C5"/>
          </a:solidFill>
          <a:ln/>
        </p:spPr>
        <p:txBody>
          <a:bodyPr/>
          <a:lstStyle/>
          <a:p>
            <a:endParaRPr lang="zh-CN" altLang="en-US"/>
          </a:p>
        </p:txBody>
      </p:sp>
      <p:sp>
        <p:nvSpPr>
          <p:cNvPr id="38" name="Shape 36"/>
          <p:cNvSpPr/>
          <p:nvPr/>
        </p:nvSpPr>
        <p:spPr>
          <a:xfrm>
            <a:off x="8829201" y="5696046"/>
            <a:ext cx="140643" cy="187524"/>
          </a:xfrm>
          <a:custGeom>
            <a:avLst/>
            <a:gdLst/>
            <a:ahLst/>
            <a:cxnLst/>
            <a:rect l="l" t="t" r="r" b="b"/>
            <a:pathLst>
              <a:path w="140643" h="187524">
                <a:moveTo>
                  <a:pt x="23441" y="0"/>
                </a:moveTo>
                <a:cubicBezTo>
                  <a:pt x="10512" y="0"/>
                  <a:pt x="0" y="10512"/>
                  <a:pt x="0" y="23441"/>
                </a:cubicBezTo>
                <a:lnTo>
                  <a:pt x="0" y="164084"/>
                </a:lnTo>
                <a:cubicBezTo>
                  <a:pt x="0" y="177013"/>
                  <a:pt x="10512" y="187524"/>
                  <a:pt x="23441" y="187524"/>
                </a:cubicBezTo>
                <a:lnTo>
                  <a:pt x="117203" y="187524"/>
                </a:lnTo>
                <a:cubicBezTo>
                  <a:pt x="130132" y="187524"/>
                  <a:pt x="140643" y="177013"/>
                  <a:pt x="140643" y="164084"/>
                </a:cubicBezTo>
                <a:lnTo>
                  <a:pt x="140643" y="62447"/>
                </a:lnTo>
                <a:cubicBezTo>
                  <a:pt x="140643" y="56221"/>
                  <a:pt x="138189" y="50251"/>
                  <a:pt x="133794" y="45856"/>
                </a:cubicBezTo>
                <a:lnTo>
                  <a:pt x="94751" y="6849"/>
                </a:lnTo>
                <a:cubicBezTo>
                  <a:pt x="90356" y="2454"/>
                  <a:pt x="84422" y="0"/>
                  <a:pt x="78196" y="0"/>
                </a:cubicBezTo>
                <a:lnTo>
                  <a:pt x="23441" y="0"/>
                </a:lnTo>
                <a:close/>
                <a:moveTo>
                  <a:pt x="119217" y="64461"/>
                </a:moveTo>
                <a:lnTo>
                  <a:pt x="84972" y="64461"/>
                </a:lnTo>
                <a:cubicBezTo>
                  <a:pt x="80101" y="64461"/>
                  <a:pt x="76182" y="60542"/>
                  <a:pt x="76182" y="55671"/>
                </a:cubicBezTo>
                <a:lnTo>
                  <a:pt x="76182" y="21426"/>
                </a:lnTo>
                <a:lnTo>
                  <a:pt x="119217" y="64461"/>
                </a:lnTo>
                <a:close/>
              </a:path>
            </a:pathLst>
          </a:custGeom>
          <a:solidFill>
            <a:srgbClr val="1A202C"/>
          </a:solidFill>
          <a:ln/>
        </p:spPr>
        <p:txBody>
          <a:bodyPr/>
          <a:lstStyle/>
          <a:p>
            <a:endParaRPr lang="zh-CN" altLang="en-US"/>
          </a:p>
        </p:txBody>
      </p:sp>
      <p:sp>
        <p:nvSpPr>
          <p:cNvPr id="39" name="Text 37"/>
          <p:cNvSpPr/>
          <p:nvPr/>
        </p:nvSpPr>
        <p:spPr>
          <a:xfrm>
            <a:off x="9274571" y="5531963"/>
            <a:ext cx="3223071"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Manifest File</a:t>
            </a:r>
            <a:endParaRPr lang="en-US" sz="1600" dirty="0"/>
          </a:p>
        </p:txBody>
      </p:sp>
      <p:sp>
        <p:nvSpPr>
          <p:cNvPr id="40" name="Text 38"/>
          <p:cNvSpPr/>
          <p:nvPr/>
        </p:nvSpPr>
        <p:spPr>
          <a:xfrm>
            <a:off x="9274571" y="5813249"/>
            <a:ext cx="3211351"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记录一批Data File的路径、分区、统计信息</a:t>
            </a:r>
            <a:endParaRPr lang="en-US" sz="1600" dirty="0"/>
          </a:p>
        </p:txBody>
      </p:sp>
      <p:sp>
        <p:nvSpPr>
          <p:cNvPr id="41" name="Shape 39"/>
          <p:cNvSpPr/>
          <p:nvPr/>
        </p:nvSpPr>
        <p:spPr>
          <a:xfrm>
            <a:off x="11925273" y="6188297"/>
            <a:ext cx="175804" cy="234405"/>
          </a:xfrm>
          <a:custGeom>
            <a:avLst/>
            <a:gdLst/>
            <a:ahLst/>
            <a:cxnLst/>
            <a:rect l="l" t="t" r="r" b="b"/>
            <a:pathLst>
              <a:path w="175804" h="234405">
                <a:moveTo>
                  <a:pt x="77555" y="230102"/>
                </a:moveTo>
                <a:cubicBezTo>
                  <a:pt x="83278" y="235824"/>
                  <a:pt x="92572" y="235824"/>
                  <a:pt x="98295" y="230102"/>
                </a:cubicBezTo>
                <a:lnTo>
                  <a:pt x="171546" y="156850"/>
                </a:lnTo>
                <a:cubicBezTo>
                  <a:pt x="177269" y="151127"/>
                  <a:pt x="177269" y="141833"/>
                  <a:pt x="171546" y="136111"/>
                </a:cubicBezTo>
                <a:cubicBezTo>
                  <a:pt x="165823" y="130388"/>
                  <a:pt x="156530" y="130388"/>
                  <a:pt x="150807" y="136111"/>
                </a:cubicBezTo>
                <a:lnTo>
                  <a:pt x="102552" y="184365"/>
                </a:lnTo>
                <a:lnTo>
                  <a:pt x="102552" y="14650"/>
                </a:lnTo>
                <a:cubicBezTo>
                  <a:pt x="102552" y="6547"/>
                  <a:pt x="96005" y="0"/>
                  <a:pt x="87902" y="0"/>
                </a:cubicBezTo>
                <a:cubicBezTo>
                  <a:pt x="79798" y="0"/>
                  <a:pt x="73252" y="6547"/>
                  <a:pt x="73252" y="14650"/>
                </a:cubicBezTo>
                <a:lnTo>
                  <a:pt x="73252" y="184365"/>
                </a:lnTo>
                <a:lnTo>
                  <a:pt x="24997" y="136111"/>
                </a:lnTo>
                <a:cubicBezTo>
                  <a:pt x="19274" y="130388"/>
                  <a:pt x="9981" y="130388"/>
                  <a:pt x="4258" y="136111"/>
                </a:cubicBezTo>
                <a:cubicBezTo>
                  <a:pt x="-1465" y="141833"/>
                  <a:pt x="-1465" y="151127"/>
                  <a:pt x="4258" y="156850"/>
                </a:cubicBezTo>
                <a:lnTo>
                  <a:pt x="77509" y="230102"/>
                </a:lnTo>
                <a:close/>
              </a:path>
            </a:pathLst>
          </a:custGeom>
          <a:solidFill>
            <a:srgbClr val="4FD1C5"/>
          </a:solidFill>
          <a:ln/>
        </p:spPr>
        <p:txBody>
          <a:bodyPr/>
          <a:lstStyle/>
          <a:p>
            <a:endParaRPr lang="zh-CN" altLang="en-US"/>
          </a:p>
        </p:txBody>
      </p:sp>
      <p:sp>
        <p:nvSpPr>
          <p:cNvPr id="42" name="Shape 40"/>
          <p:cNvSpPr/>
          <p:nvPr/>
        </p:nvSpPr>
        <p:spPr>
          <a:xfrm>
            <a:off x="8665118" y="6586786"/>
            <a:ext cx="468810" cy="468810"/>
          </a:xfrm>
          <a:custGeom>
            <a:avLst/>
            <a:gdLst/>
            <a:ahLst/>
            <a:cxnLst/>
            <a:rect l="l" t="t" r="r" b="b"/>
            <a:pathLst>
              <a:path w="468810" h="468810">
                <a:moveTo>
                  <a:pt x="93762" y="0"/>
                </a:moveTo>
                <a:lnTo>
                  <a:pt x="375048" y="0"/>
                </a:lnTo>
                <a:cubicBezTo>
                  <a:pt x="426797" y="0"/>
                  <a:pt x="468810" y="42013"/>
                  <a:pt x="468810" y="93762"/>
                </a:cubicBezTo>
                <a:lnTo>
                  <a:pt x="468810" y="375048"/>
                </a:lnTo>
                <a:cubicBezTo>
                  <a:pt x="468810" y="426797"/>
                  <a:pt x="426797" y="468810"/>
                  <a:pt x="375048" y="468810"/>
                </a:cubicBezTo>
                <a:lnTo>
                  <a:pt x="93762" y="468810"/>
                </a:lnTo>
                <a:cubicBezTo>
                  <a:pt x="42013" y="468810"/>
                  <a:pt x="0" y="426797"/>
                  <a:pt x="0" y="375048"/>
                </a:cubicBezTo>
                <a:lnTo>
                  <a:pt x="0" y="93762"/>
                </a:lnTo>
                <a:cubicBezTo>
                  <a:pt x="0" y="42013"/>
                  <a:pt x="42013" y="0"/>
                  <a:pt x="93762" y="0"/>
                </a:cubicBezTo>
                <a:close/>
              </a:path>
            </a:pathLst>
          </a:custGeom>
          <a:solidFill>
            <a:srgbClr val="4FD1C5"/>
          </a:solidFill>
          <a:ln/>
        </p:spPr>
        <p:txBody>
          <a:bodyPr/>
          <a:lstStyle/>
          <a:p>
            <a:endParaRPr lang="zh-CN" altLang="en-US"/>
          </a:p>
        </p:txBody>
      </p:sp>
      <p:sp>
        <p:nvSpPr>
          <p:cNvPr id="43" name="Shape 41"/>
          <p:cNvSpPr/>
          <p:nvPr/>
        </p:nvSpPr>
        <p:spPr>
          <a:xfrm>
            <a:off x="8817481" y="6727429"/>
            <a:ext cx="164084" cy="187524"/>
          </a:xfrm>
          <a:custGeom>
            <a:avLst/>
            <a:gdLst/>
            <a:ahLst/>
            <a:cxnLst/>
            <a:rect l="l" t="t" r="r" b="b"/>
            <a:pathLst>
              <a:path w="164084" h="187524">
                <a:moveTo>
                  <a:pt x="164084" y="75376"/>
                </a:moveTo>
                <a:cubicBezTo>
                  <a:pt x="158663" y="78965"/>
                  <a:pt x="152437" y="81859"/>
                  <a:pt x="145954" y="84166"/>
                </a:cubicBezTo>
                <a:cubicBezTo>
                  <a:pt x="128740" y="90319"/>
                  <a:pt x="106142" y="93762"/>
                  <a:pt x="82042" y="93762"/>
                </a:cubicBezTo>
                <a:cubicBezTo>
                  <a:pt x="57942" y="93762"/>
                  <a:pt x="35307" y="90283"/>
                  <a:pt x="18130" y="84166"/>
                </a:cubicBezTo>
                <a:cubicBezTo>
                  <a:pt x="11684" y="81859"/>
                  <a:pt x="5421" y="78965"/>
                  <a:pt x="0" y="75376"/>
                </a:cubicBezTo>
                <a:lnTo>
                  <a:pt x="0" y="105482"/>
                </a:lnTo>
                <a:cubicBezTo>
                  <a:pt x="0" y="121671"/>
                  <a:pt x="36736" y="134783"/>
                  <a:pt x="82042" y="134783"/>
                </a:cubicBezTo>
                <a:cubicBezTo>
                  <a:pt x="127348" y="134783"/>
                  <a:pt x="164084" y="121671"/>
                  <a:pt x="164084" y="105482"/>
                </a:cubicBezTo>
                <a:lnTo>
                  <a:pt x="164084" y="75376"/>
                </a:lnTo>
                <a:close/>
                <a:moveTo>
                  <a:pt x="164084" y="46881"/>
                </a:moveTo>
                <a:lnTo>
                  <a:pt x="164084" y="29301"/>
                </a:lnTo>
                <a:cubicBezTo>
                  <a:pt x="164084" y="13112"/>
                  <a:pt x="127348" y="0"/>
                  <a:pt x="82042" y="0"/>
                </a:cubicBezTo>
                <a:cubicBezTo>
                  <a:pt x="36736" y="0"/>
                  <a:pt x="0" y="13112"/>
                  <a:pt x="0" y="29301"/>
                </a:cubicBezTo>
                <a:lnTo>
                  <a:pt x="0" y="46881"/>
                </a:lnTo>
                <a:cubicBezTo>
                  <a:pt x="0" y="63070"/>
                  <a:pt x="36736" y="76182"/>
                  <a:pt x="82042" y="76182"/>
                </a:cubicBezTo>
                <a:cubicBezTo>
                  <a:pt x="127348" y="76182"/>
                  <a:pt x="164084" y="63070"/>
                  <a:pt x="164084" y="46881"/>
                </a:cubicBezTo>
                <a:close/>
                <a:moveTo>
                  <a:pt x="145954" y="142767"/>
                </a:moveTo>
                <a:cubicBezTo>
                  <a:pt x="128776" y="148884"/>
                  <a:pt x="106178" y="152363"/>
                  <a:pt x="82042" y="152363"/>
                </a:cubicBezTo>
                <a:cubicBezTo>
                  <a:pt x="57905" y="152363"/>
                  <a:pt x="35307" y="148884"/>
                  <a:pt x="18130" y="142767"/>
                </a:cubicBezTo>
                <a:cubicBezTo>
                  <a:pt x="11684" y="140460"/>
                  <a:pt x="5421" y="137567"/>
                  <a:pt x="0" y="133977"/>
                </a:cubicBezTo>
                <a:lnTo>
                  <a:pt x="0" y="158224"/>
                </a:lnTo>
                <a:cubicBezTo>
                  <a:pt x="0" y="174412"/>
                  <a:pt x="36736" y="187524"/>
                  <a:pt x="82042" y="187524"/>
                </a:cubicBezTo>
                <a:cubicBezTo>
                  <a:pt x="127348" y="187524"/>
                  <a:pt x="164084" y="174412"/>
                  <a:pt x="164084" y="158224"/>
                </a:cubicBezTo>
                <a:lnTo>
                  <a:pt x="164084" y="133977"/>
                </a:lnTo>
                <a:cubicBezTo>
                  <a:pt x="158663" y="137567"/>
                  <a:pt x="152437" y="140460"/>
                  <a:pt x="145954" y="142767"/>
                </a:cubicBezTo>
                <a:close/>
              </a:path>
            </a:pathLst>
          </a:custGeom>
          <a:solidFill>
            <a:srgbClr val="1A202C"/>
          </a:solidFill>
          <a:ln/>
        </p:spPr>
        <p:txBody>
          <a:bodyPr/>
          <a:lstStyle/>
          <a:p>
            <a:endParaRPr lang="zh-CN" altLang="en-US"/>
          </a:p>
        </p:txBody>
      </p:sp>
      <p:sp>
        <p:nvSpPr>
          <p:cNvPr id="44" name="Text 42"/>
          <p:cNvSpPr/>
          <p:nvPr/>
        </p:nvSpPr>
        <p:spPr>
          <a:xfrm>
            <a:off x="9274571" y="6563345"/>
            <a:ext cx="2238570"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Data File</a:t>
            </a:r>
            <a:endParaRPr lang="en-US" sz="1600" dirty="0"/>
          </a:p>
        </p:txBody>
      </p:sp>
      <p:sp>
        <p:nvSpPr>
          <p:cNvPr id="45" name="Text 43"/>
          <p:cNvSpPr/>
          <p:nvPr/>
        </p:nvSpPr>
        <p:spPr>
          <a:xfrm>
            <a:off x="9274571" y="6844632"/>
            <a:ext cx="2226849"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Parquet/ORC等底层数据文件</a:t>
            </a:r>
            <a:endParaRPr lang="en-US" sz="1600" dirty="0"/>
          </a:p>
        </p:txBody>
      </p:sp>
      <p:sp>
        <p:nvSpPr>
          <p:cNvPr id="46" name="Shape 44"/>
          <p:cNvSpPr/>
          <p:nvPr/>
        </p:nvSpPr>
        <p:spPr>
          <a:xfrm>
            <a:off x="8266629" y="7688490"/>
            <a:ext cx="7512686" cy="984502"/>
          </a:xfrm>
          <a:custGeom>
            <a:avLst/>
            <a:gdLst/>
            <a:ahLst/>
            <a:cxnLst/>
            <a:rect l="l" t="t" r="r" b="b"/>
            <a:pathLst>
              <a:path w="7512686" h="984502">
                <a:moveTo>
                  <a:pt x="46881" y="0"/>
                </a:moveTo>
                <a:lnTo>
                  <a:pt x="7418922" y="0"/>
                </a:lnTo>
                <a:cubicBezTo>
                  <a:pt x="7470707" y="0"/>
                  <a:pt x="7512686" y="41980"/>
                  <a:pt x="7512686" y="93764"/>
                </a:cubicBezTo>
                <a:lnTo>
                  <a:pt x="7512686" y="890738"/>
                </a:lnTo>
                <a:cubicBezTo>
                  <a:pt x="7512686" y="942522"/>
                  <a:pt x="7470707" y="984502"/>
                  <a:pt x="7418922" y="984502"/>
                </a:cubicBezTo>
                <a:lnTo>
                  <a:pt x="46881" y="984502"/>
                </a:lnTo>
                <a:cubicBezTo>
                  <a:pt x="21007" y="984502"/>
                  <a:pt x="0" y="963495"/>
                  <a:pt x="0" y="937621"/>
                </a:cubicBezTo>
                <a:lnTo>
                  <a:pt x="0" y="46881"/>
                </a:lnTo>
                <a:cubicBezTo>
                  <a:pt x="0" y="21007"/>
                  <a:pt x="21007" y="0"/>
                  <a:pt x="46881" y="0"/>
                </a:cubicBezTo>
                <a:close/>
              </a:path>
            </a:pathLst>
          </a:custGeom>
          <a:solidFill>
            <a:srgbClr val="4FD1C5">
              <a:alpha val="10196"/>
            </a:srgbClr>
          </a:solidFill>
          <a:ln/>
        </p:spPr>
        <p:txBody>
          <a:bodyPr/>
          <a:lstStyle/>
          <a:p>
            <a:endParaRPr lang="zh-CN" altLang="en-US"/>
          </a:p>
        </p:txBody>
      </p:sp>
      <p:sp>
        <p:nvSpPr>
          <p:cNvPr id="47" name="Shape 45"/>
          <p:cNvSpPr/>
          <p:nvPr/>
        </p:nvSpPr>
        <p:spPr>
          <a:xfrm>
            <a:off x="8266629" y="7688490"/>
            <a:ext cx="46881" cy="984502"/>
          </a:xfrm>
          <a:custGeom>
            <a:avLst/>
            <a:gdLst/>
            <a:ahLst/>
            <a:cxnLst/>
            <a:rect l="l" t="t" r="r" b="b"/>
            <a:pathLst>
              <a:path w="46881" h="984502">
                <a:moveTo>
                  <a:pt x="46881" y="0"/>
                </a:moveTo>
                <a:lnTo>
                  <a:pt x="46881" y="0"/>
                </a:lnTo>
                <a:lnTo>
                  <a:pt x="46881" y="984502"/>
                </a:lnTo>
                <a:lnTo>
                  <a:pt x="46881" y="984502"/>
                </a:lnTo>
                <a:cubicBezTo>
                  <a:pt x="21007" y="984502"/>
                  <a:pt x="0" y="963495"/>
                  <a:pt x="0" y="937621"/>
                </a:cubicBezTo>
                <a:lnTo>
                  <a:pt x="0" y="46881"/>
                </a:lnTo>
                <a:cubicBezTo>
                  <a:pt x="0" y="21007"/>
                  <a:pt x="21007" y="0"/>
                  <a:pt x="46881" y="0"/>
                </a:cubicBezTo>
                <a:close/>
              </a:path>
            </a:pathLst>
          </a:custGeom>
          <a:solidFill>
            <a:srgbClr val="4FD1C5"/>
          </a:solidFill>
          <a:ln/>
        </p:spPr>
        <p:txBody>
          <a:bodyPr/>
          <a:lstStyle/>
          <a:p>
            <a:endParaRPr lang="zh-CN" altLang="en-US"/>
          </a:p>
        </p:txBody>
      </p:sp>
      <p:sp>
        <p:nvSpPr>
          <p:cNvPr id="48" name="Text 46"/>
          <p:cNvSpPr/>
          <p:nvPr/>
        </p:nvSpPr>
        <p:spPr>
          <a:xfrm>
            <a:off x="8477593" y="7876014"/>
            <a:ext cx="7207960" cy="281286"/>
          </a:xfrm>
          <a:prstGeom prst="rect">
            <a:avLst/>
          </a:prstGeom>
          <a:noFill/>
          <a:ln/>
        </p:spPr>
        <p:txBody>
          <a:bodyPr wrap="square" lIns="0" tIns="0" rIns="0" bIns="0" rtlCol="0" anchor="ctr"/>
          <a:lstStyle/>
          <a:p>
            <a:pPr>
              <a:lnSpc>
                <a:spcPct val="130000"/>
              </a:lnSpc>
            </a:pPr>
            <a:r>
              <a:rPr lang="en-US" sz="1477" b="1" dirty="0">
                <a:solidFill>
                  <a:srgbClr val="F7FAFC"/>
                </a:solidFill>
                <a:latin typeface="MiSans" pitchFamily="34" charset="0"/>
                <a:ea typeface="MiSans" pitchFamily="34" charset="-122"/>
                <a:cs typeface="MiSans" pitchFamily="34" charset="-120"/>
              </a:rPr>
              <a:t>分层配合关系</a:t>
            </a:r>
            <a:endParaRPr lang="en-US" sz="1600" dirty="0"/>
          </a:p>
        </p:txBody>
      </p:sp>
      <p:sp>
        <p:nvSpPr>
          <p:cNvPr id="49" name="Text 47"/>
          <p:cNvSpPr/>
          <p:nvPr/>
        </p:nvSpPr>
        <p:spPr>
          <a:xfrm>
            <a:off x="8477593" y="8251063"/>
            <a:ext cx="7196239" cy="234405"/>
          </a:xfrm>
          <a:prstGeom prst="rect">
            <a:avLst/>
          </a:prstGeom>
          <a:noFill/>
          <a:ln/>
        </p:spPr>
        <p:txBody>
          <a:bodyPr wrap="square" lIns="0" tIns="0" rIns="0" bIns="0" rtlCol="0" anchor="ctr"/>
          <a:lstStyle/>
          <a:p>
            <a:pPr>
              <a:lnSpc>
                <a:spcPct val="120000"/>
              </a:lnSpc>
            </a:pPr>
            <a:r>
              <a:rPr lang="en-US" sz="1292" dirty="0">
                <a:solidFill>
                  <a:srgbClr val="A0AEC0"/>
                </a:solidFill>
                <a:latin typeface="MiSans" pitchFamily="34" charset="0"/>
                <a:ea typeface="MiSans" pitchFamily="34" charset="-122"/>
                <a:cs typeface="MiSans" pitchFamily="34" charset="-120"/>
              </a:rPr>
              <a:t>工程实践中常见组合：</a:t>
            </a:r>
            <a:r>
              <a:rPr lang="en-US" sz="1292" b="1" dirty="0">
                <a:solidFill>
                  <a:srgbClr val="4FD1C5"/>
                </a:solidFill>
                <a:latin typeface="MiSans" pitchFamily="34" charset="0"/>
                <a:ea typeface="MiSans" pitchFamily="34" charset="-122"/>
                <a:cs typeface="MiSans" pitchFamily="34" charset="-120"/>
              </a:rPr>
              <a:t>"Iceberg表 + 底层Parquet文件"</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1739900" cy="304800"/>
          </a:xfrm>
          <a:prstGeom prst="rect">
            <a:avLst/>
          </a:prstGeom>
          <a:noFill/>
          <a:ln/>
        </p:spPr>
        <p:txBody>
          <a:bodyPr wrap="square" lIns="0" tIns="0" rIns="0" bIns="0" rtlCol="0" anchor="ctr"/>
          <a:lstStyle/>
          <a:p>
            <a:pPr>
              <a:lnSpc>
                <a:spcPct val="130000"/>
              </a:lnSpc>
            </a:pPr>
            <a:r>
              <a:rPr lang="en-US" sz="1600" b="1" kern="0" spc="80" dirty="0">
                <a:solidFill>
                  <a:srgbClr val="4FD1C5"/>
                </a:solidFill>
                <a:latin typeface="MiSans" pitchFamily="34" charset="0"/>
                <a:ea typeface="MiSans" pitchFamily="34" charset="-122"/>
                <a:cs typeface="MiSans" pitchFamily="34" charset="-120"/>
              </a:rPr>
              <a:t>TABLE FORMAT</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F7FAFC"/>
                </a:solidFill>
                <a:latin typeface="Noto Sans SC" pitchFamily="34" charset="0"/>
                <a:ea typeface="Noto Sans SC" pitchFamily="34" charset="-122"/>
                <a:cs typeface="Noto Sans SC" pitchFamily="34" charset="-120"/>
              </a:rPr>
              <a:t>业界主流三剑客：Iceberg/Hudi/Delta Lake</a:t>
            </a:r>
            <a:endParaRPr lang="en-US" sz="1600" dirty="0"/>
          </a:p>
        </p:txBody>
      </p:sp>
      <p:sp>
        <p:nvSpPr>
          <p:cNvPr id="4" name="Shape 2"/>
          <p:cNvSpPr/>
          <p:nvPr/>
        </p:nvSpPr>
        <p:spPr>
          <a:xfrm>
            <a:off x="508000" y="15748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4FD1C5"/>
          </a:solidFill>
          <a:ln/>
        </p:spPr>
        <p:txBody>
          <a:bodyPr/>
          <a:lstStyle/>
          <a:p>
            <a:endParaRPr lang="zh-CN" altLang="en-US"/>
          </a:p>
        </p:txBody>
      </p:sp>
      <p:sp>
        <p:nvSpPr>
          <p:cNvPr id="5" name="Shape 3"/>
          <p:cNvSpPr/>
          <p:nvPr/>
        </p:nvSpPr>
        <p:spPr>
          <a:xfrm>
            <a:off x="533400" y="1879600"/>
            <a:ext cx="4889500" cy="4267200"/>
          </a:xfrm>
          <a:custGeom>
            <a:avLst/>
            <a:gdLst/>
            <a:ahLst/>
            <a:cxnLst/>
            <a:rect l="l" t="t" r="r" b="b"/>
            <a:pathLst>
              <a:path w="4889500" h="4267200">
                <a:moveTo>
                  <a:pt x="50800" y="0"/>
                </a:moveTo>
                <a:lnTo>
                  <a:pt x="4787898" y="0"/>
                </a:lnTo>
                <a:cubicBezTo>
                  <a:pt x="4844011" y="0"/>
                  <a:pt x="4889500" y="45489"/>
                  <a:pt x="4889500" y="101602"/>
                </a:cubicBezTo>
                <a:lnTo>
                  <a:pt x="4889500" y="4165598"/>
                </a:lnTo>
                <a:cubicBezTo>
                  <a:pt x="4889500" y="4221711"/>
                  <a:pt x="4844011" y="4267200"/>
                  <a:pt x="4787898" y="4267200"/>
                </a:cubicBezTo>
                <a:lnTo>
                  <a:pt x="50800" y="4267200"/>
                </a:lnTo>
                <a:cubicBezTo>
                  <a:pt x="22744" y="4267200"/>
                  <a:pt x="0" y="4244456"/>
                  <a:pt x="0" y="42164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6" name="Shape 4"/>
          <p:cNvSpPr/>
          <p:nvPr/>
        </p:nvSpPr>
        <p:spPr>
          <a:xfrm>
            <a:off x="533400" y="1879600"/>
            <a:ext cx="50800" cy="4267200"/>
          </a:xfrm>
          <a:custGeom>
            <a:avLst/>
            <a:gdLst/>
            <a:ahLst/>
            <a:cxnLst/>
            <a:rect l="l" t="t" r="r" b="b"/>
            <a:pathLst>
              <a:path w="50800" h="4267200">
                <a:moveTo>
                  <a:pt x="50800" y="0"/>
                </a:moveTo>
                <a:lnTo>
                  <a:pt x="50800" y="0"/>
                </a:lnTo>
                <a:lnTo>
                  <a:pt x="50800" y="4267200"/>
                </a:lnTo>
                <a:lnTo>
                  <a:pt x="50800" y="4267200"/>
                </a:lnTo>
                <a:cubicBezTo>
                  <a:pt x="22763" y="4267200"/>
                  <a:pt x="0" y="4244437"/>
                  <a:pt x="0" y="42164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7" name="Shape 5"/>
          <p:cNvSpPr/>
          <p:nvPr/>
        </p:nvSpPr>
        <p:spPr>
          <a:xfrm>
            <a:off x="812800" y="2133600"/>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4FD1C5"/>
          </a:solidFill>
          <a:ln/>
        </p:spPr>
        <p:txBody>
          <a:bodyPr/>
          <a:lstStyle/>
          <a:p>
            <a:endParaRPr lang="zh-CN" altLang="en-US"/>
          </a:p>
        </p:txBody>
      </p:sp>
      <p:sp>
        <p:nvSpPr>
          <p:cNvPr id="8" name="Shape 6"/>
          <p:cNvSpPr/>
          <p:nvPr/>
        </p:nvSpPr>
        <p:spPr>
          <a:xfrm>
            <a:off x="1003300" y="2286000"/>
            <a:ext cx="228600" cy="304800"/>
          </a:xfrm>
          <a:custGeom>
            <a:avLst/>
            <a:gdLst/>
            <a:ahLst/>
            <a:cxnLst/>
            <a:rect l="l" t="t" r="r" b="b"/>
            <a:pathLst>
              <a:path w="228600" h="304800">
                <a:moveTo>
                  <a:pt x="199489" y="95250"/>
                </a:moveTo>
                <a:cubicBezTo>
                  <a:pt x="199846" y="92095"/>
                  <a:pt x="200025" y="88940"/>
                  <a:pt x="200025" y="85725"/>
                </a:cubicBezTo>
                <a:cubicBezTo>
                  <a:pt x="200025" y="38398"/>
                  <a:pt x="161627" y="0"/>
                  <a:pt x="114300" y="0"/>
                </a:cubicBezTo>
                <a:cubicBezTo>
                  <a:pt x="66973" y="0"/>
                  <a:pt x="28575" y="38398"/>
                  <a:pt x="28575" y="85725"/>
                </a:cubicBezTo>
                <a:cubicBezTo>
                  <a:pt x="28575" y="88940"/>
                  <a:pt x="28754" y="92095"/>
                  <a:pt x="29111" y="95250"/>
                </a:cubicBezTo>
                <a:lnTo>
                  <a:pt x="28575" y="95250"/>
                </a:lnTo>
                <a:cubicBezTo>
                  <a:pt x="12799" y="95250"/>
                  <a:pt x="0" y="108049"/>
                  <a:pt x="0" y="123825"/>
                </a:cubicBezTo>
                <a:cubicBezTo>
                  <a:pt x="0" y="139601"/>
                  <a:pt x="12799" y="152400"/>
                  <a:pt x="28575" y="152400"/>
                </a:cubicBezTo>
                <a:lnTo>
                  <a:pt x="200025" y="152400"/>
                </a:lnTo>
                <a:cubicBezTo>
                  <a:pt x="215801" y="152400"/>
                  <a:pt x="228600" y="139601"/>
                  <a:pt x="228600" y="123825"/>
                </a:cubicBezTo>
                <a:cubicBezTo>
                  <a:pt x="228600" y="108049"/>
                  <a:pt x="215801" y="95250"/>
                  <a:pt x="200025" y="95250"/>
                </a:cubicBezTo>
                <a:lnTo>
                  <a:pt x="199489" y="95250"/>
                </a:lnTo>
                <a:close/>
                <a:moveTo>
                  <a:pt x="38100" y="180975"/>
                </a:moveTo>
                <a:lnTo>
                  <a:pt x="100727" y="315218"/>
                </a:lnTo>
                <a:cubicBezTo>
                  <a:pt x="103168" y="320457"/>
                  <a:pt x="108466" y="323850"/>
                  <a:pt x="114300" y="323850"/>
                </a:cubicBezTo>
                <a:cubicBezTo>
                  <a:pt x="120134" y="323850"/>
                  <a:pt x="125373" y="320457"/>
                  <a:pt x="127873" y="315218"/>
                </a:cubicBezTo>
                <a:lnTo>
                  <a:pt x="190500" y="180975"/>
                </a:lnTo>
                <a:lnTo>
                  <a:pt x="38100" y="180975"/>
                </a:lnTo>
                <a:close/>
              </a:path>
            </a:pathLst>
          </a:custGeom>
          <a:solidFill>
            <a:srgbClr val="1A202C"/>
          </a:solidFill>
          <a:ln/>
        </p:spPr>
        <p:txBody>
          <a:bodyPr/>
          <a:lstStyle/>
          <a:p>
            <a:endParaRPr lang="zh-CN" altLang="en-US"/>
          </a:p>
        </p:txBody>
      </p:sp>
      <p:sp>
        <p:nvSpPr>
          <p:cNvPr id="9" name="Text 7"/>
          <p:cNvSpPr/>
          <p:nvPr/>
        </p:nvSpPr>
        <p:spPr>
          <a:xfrm>
            <a:off x="1574800" y="2235200"/>
            <a:ext cx="2260600" cy="406400"/>
          </a:xfrm>
          <a:prstGeom prst="rect">
            <a:avLst/>
          </a:prstGeom>
          <a:noFill/>
          <a:ln/>
        </p:spPr>
        <p:txBody>
          <a:bodyPr wrap="square" lIns="0" tIns="0" rIns="0" bIns="0" rtlCol="0" anchor="ctr"/>
          <a:lstStyle/>
          <a:p>
            <a:pPr>
              <a:lnSpc>
                <a:spcPct val="110000"/>
              </a:lnSpc>
            </a:pPr>
            <a:r>
              <a:rPr lang="en-US" sz="2400" b="1" dirty="0">
                <a:solidFill>
                  <a:srgbClr val="F7FAFC"/>
                </a:solidFill>
                <a:latin typeface="Liter" pitchFamily="34" charset="0"/>
                <a:ea typeface="Liter" pitchFamily="34" charset="-122"/>
                <a:cs typeface="Liter" pitchFamily="34" charset="-120"/>
              </a:rPr>
              <a:t>Apache Iceberg</a:t>
            </a:r>
            <a:endParaRPr lang="en-US" sz="1600" dirty="0"/>
          </a:p>
        </p:txBody>
      </p:sp>
      <p:sp>
        <p:nvSpPr>
          <p:cNvPr id="10" name="Text 8"/>
          <p:cNvSpPr/>
          <p:nvPr/>
        </p:nvSpPr>
        <p:spPr>
          <a:xfrm>
            <a:off x="812800" y="29464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起源</a:t>
            </a:r>
            <a:endParaRPr lang="en-US" sz="1600" dirty="0"/>
          </a:p>
        </p:txBody>
      </p:sp>
      <p:sp>
        <p:nvSpPr>
          <p:cNvPr id="11" name="Text 9"/>
          <p:cNvSpPr/>
          <p:nvPr/>
        </p:nvSpPr>
        <p:spPr>
          <a:xfrm>
            <a:off x="812800" y="32512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Netflix出品</a:t>
            </a:r>
            <a:endParaRPr lang="en-US" sz="1600" dirty="0"/>
          </a:p>
        </p:txBody>
      </p:sp>
      <p:sp>
        <p:nvSpPr>
          <p:cNvPr id="12" name="Text 10"/>
          <p:cNvSpPr/>
          <p:nvPr/>
        </p:nvSpPr>
        <p:spPr>
          <a:xfrm>
            <a:off x="812800" y="36576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设计初衷</a:t>
            </a:r>
            <a:endParaRPr lang="en-US" sz="1600" dirty="0"/>
          </a:p>
        </p:txBody>
      </p:sp>
      <p:sp>
        <p:nvSpPr>
          <p:cNvPr id="13" name="Text 11"/>
          <p:cNvSpPr/>
          <p:nvPr/>
        </p:nvSpPr>
        <p:spPr>
          <a:xfrm>
            <a:off x="812800" y="3962400"/>
            <a:ext cx="4445000" cy="508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解决S3上大规模数据目录Listing慢的问题,提供严格的快照隔离</a:t>
            </a:r>
            <a:endParaRPr lang="en-US" sz="1600" dirty="0"/>
          </a:p>
        </p:txBody>
      </p:sp>
      <p:sp>
        <p:nvSpPr>
          <p:cNvPr id="14" name="Text 12"/>
          <p:cNvSpPr/>
          <p:nvPr/>
        </p:nvSpPr>
        <p:spPr>
          <a:xfrm>
            <a:off x="812800" y="46228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核心亮点</a:t>
            </a:r>
            <a:endParaRPr lang="en-US" sz="1600" dirty="0"/>
          </a:p>
        </p:txBody>
      </p:sp>
      <p:sp>
        <p:nvSpPr>
          <p:cNvPr id="15" name="Text 13"/>
          <p:cNvSpPr/>
          <p:nvPr/>
        </p:nvSpPr>
        <p:spPr>
          <a:xfrm>
            <a:off x="812800" y="49276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Hidden Partitioning(隐藏分区)、设计简洁、引擎中立</a:t>
            </a:r>
            <a:endParaRPr lang="en-US" sz="1600" dirty="0"/>
          </a:p>
        </p:txBody>
      </p:sp>
      <p:sp>
        <p:nvSpPr>
          <p:cNvPr id="16" name="Text 14"/>
          <p:cNvSpPr/>
          <p:nvPr/>
        </p:nvSpPr>
        <p:spPr>
          <a:xfrm>
            <a:off x="812800" y="53340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适用场景</a:t>
            </a:r>
            <a:endParaRPr lang="en-US" sz="1600" dirty="0"/>
          </a:p>
        </p:txBody>
      </p:sp>
      <p:sp>
        <p:nvSpPr>
          <p:cNvPr id="17" name="Text 15"/>
          <p:cNvSpPr/>
          <p:nvPr/>
        </p:nvSpPr>
        <p:spPr>
          <a:xfrm>
            <a:off x="812800" y="56388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通用离线/近实时数仓,元数据管理要求高</a:t>
            </a:r>
            <a:endParaRPr lang="en-US" sz="1600" dirty="0"/>
          </a:p>
        </p:txBody>
      </p:sp>
      <p:sp>
        <p:nvSpPr>
          <p:cNvPr id="18" name="Shape 16"/>
          <p:cNvSpPr/>
          <p:nvPr/>
        </p:nvSpPr>
        <p:spPr>
          <a:xfrm>
            <a:off x="5698034" y="1879600"/>
            <a:ext cx="4889500" cy="4267200"/>
          </a:xfrm>
          <a:custGeom>
            <a:avLst/>
            <a:gdLst/>
            <a:ahLst/>
            <a:cxnLst/>
            <a:rect l="l" t="t" r="r" b="b"/>
            <a:pathLst>
              <a:path w="4889500" h="4267200">
                <a:moveTo>
                  <a:pt x="50800" y="0"/>
                </a:moveTo>
                <a:lnTo>
                  <a:pt x="4787898" y="0"/>
                </a:lnTo>
                <a:cubicBezTo>
                  <a:pt x="4844011" y="0"/>
                  <a:pt x="4889500" y="45489"/>
                  <a:pt x="4889500" y="101602"/>
                </a:cubicBezTo>
                <a:lnTo>
                  <a:pt x="4889500" y="4165598"/>
                </a:lnTo>
                <a:cubicBezTo>
                  <a:pt x="4889500" y="4221711"/>
                  <a:pt x="4844011" y="4267200"/>
                  <a:pt x="4787898" y="4267200"/>
                </a:cubicBezTo>
                <a:lnTo>
                  <a:pt x="50800" y="4267200"/>
                </a:lnTo>
                <a:cubicBezTo>
                  <a:pt x="22744" y="4267200"/>
                  <a:pt x="0" y="4244456"/>
                  <a:pt x="0" y="42164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19" name="Shape 17"/>
          <p:cNvSpPr/>
          <p:nvPr/>
        </p:nvSpPr>
        <p:spPr>
          <a:xfrm>
            <a:off x="5698034" y="1879600"/>
            <a:ext cx="50800" cy="4267200"/>
          </a:xfrm>
          <a:custGeom>
            <a:avLst/>
            <a:gdLst/>
            <a:ahLst/>
            <a:cxnLst/>
            <a:rect l="l" t="t" r="r" b="b"/>
            <a:pathLst>
              <a:path w="50800" h="4267200">
                <a:moveTo>
                  <a:pt x="50800" y="0"/>
                </a:moveTo>
                <a:lnTo>
                  <a:pt x="50800" y="0"/>
                </a:lnTo>
                <a:lnTo>
                  <a:pt x="50800" y="4267200"/>
                </a:lnTo>
                <a:lnTo>
                  <a:pt x="50800" y="4267200"/>
                </a:lnTo>
                <a:cubicBezTo>
                  <a:pt x="22763" y="4267200"/>
                  <a:pt x="0" y="4244437"/>
                  <a:pt x="0" y="42164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20" name="Shape 18"/>
          <p:cNvSpPr/>
          <p:nvPr/>
        </p:nvSpPr>
        <p:spPr>
          <a:xfrm>
            <a:off x="5977434" y="2133600"/>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4FD1C5"/>
          </a:solidFill>
          <a:ln/>
        </p:spPr>
        <p:txBody>
          <a:bodyPr/>
          <a:lstStyle/>
          <a:p>
            <a:endParaRPr lang="zh-CN" altLang="en-US"/>
          </a:p>
        </p:txBody>
      </p:sp>
      <p:sp>
        <p:nvSpPr>
          <p:cNvPr id="21" name="Shape 19"/>
          <p:cNvSpPr/>
          <p:nvPr/>
        </p:nvSpPr>
        <p:spPr>
          <a:xfrm>
            <a:off x="6148884" y="2286000"/>
            <a:ext cx="266700" cy="304800"/>
          </a:xfrm>
          <a:custGeom>
            <a:avLst/>
            <a:gdLst/>
            <a:ahLst/>
            <a:cxnLst/>
            <a:rect l="l" t="t" r="r" b="b"/>
            <a:pathLst>
              <a:path w="266700" h="304800">
                <a:moveTo>
                  <a:pt x="95548" y="-15716"/>
                </a:moveTo>
                <a:cubicBezTo>
                  <a:pt x="101084" y="-20360"/>
                  <a:pt x="109240" y="-20181"/>
                  <a:pt x="114538" y="-15180"/>
                </a:cubicBezTo>
                <a:cubicBezTo>
                  <a:pt x="121860" y="-8275"/>
                  <a:pt x="128409" y="-655"/>
                  <a:pt x="134719" y="7084"/>
                </a:cubicBezTo>
                <a:cubicBezTo>
                  <a:pt x="142756" y="16907"/>
                  <a:pt x="152400" y="29885"/>
                  <a:pt x="161687" y="45303"/>
                </a:cubicBezTo>
                <a:cubicBezTo>
                  <a:pt x="164783" y="41255"/>
                  <a:pt x="167640" y="37683"/>
                  <a:pt x="170140" y="34647"/>
                </a:cubicBezTo>
                <a:cubicBezTo>
                  <a:pt x="170795" y="33873"/>
                  <a:pt x="171450" y="33040"/>
                  <a:pt x="172105" y="32206"/>
                </a:cubicBezTo>
                <a:cubicBezTo>
                  <a:pt x="176808" y="26372"/>
                  <a:pt x="182642" y="19050"/>
                  <a:pt x="190440" y="19050"/>
                </a:cubicBezTo>
                <a:cubicBezTo>
                  <a:pt x="198418" y="19050"/>
                  <a:pt x="204014" y="26134"/>
                  <a:pt x="208776" y="32206"/>
                </a:cubicBezTo>
                <a:cubicBezTo>
                  <a:pt x="209550" y="33218"/>
                  <a:pt x="210324" y="34171"/>
                  <a:pt x="211098" y="35064"/>
                </a:cubicBezTo>
                <a:cubicBezTo>
                  <a:pt x="217230" y="42446"/>
                  <a:pt x="225385" y="53102"/>
                  <a:pt x="233541" y="66258"/>
                </a:cubicBezTo>
                <a:cubicBezTo>
                  <a:pt x="249734" y="92393"/>
                  <a:pt x="266640" y="129600"/>
                  <a:pt x="266640" y="171390"/>
                </a:cubicBezTo>
                <a:cubicBezTo>
                  <a:pt x="266640" y="245031"/>
                  <a:pt x="206931" y="304740"/>
                  <a:pt x="133290" y="304740"/>
                </a:cubicBezTo>
                <a:cubicBezTo>
                  <a:pt x="59650" y="304740"/>
                  <a:pt x="0" y="245090"/>
                  <a:pt x="0" y="171450"/>
                </a:cubicBezTo>
                <a:cubicBezTo>
                  <a:pt x="0" y="117217"/>
                  <a:pt x="24467" y="70247"/>
                  <a:pt x="47923" y="37505"/>
                </a:cubicBezTo>
                <a:cubicBezTo>
                  <a:pt x="59769" y="21015"/>
                  <a:pt x="71557" y="7799"/>
                  <a:pt x="80427" y="-1250"/>
                </a:cubicBezTo>
                <a:cubicBezTo>
                  <a:pt x="85308" y="-6251"/>
                  <a:pt x="90249" y="-11192"/>
                  <a:pt x="95607" y="-15657"/>
                </a:cubicBezTo>
                <a:close/>
                <a:moveTo>
                  <a:pt x="134362" y="247650"/>
                </a:moveTo>
                <a:cubicBezTo>
                  <a:pt x="149423" y="247650"/>
                  <a:pt x="162758" y="243483"/>
                  <a:pt x="175320" y="235148"/>
                </a:cubicBezTo>
                <a:cubicBezTo>
                  <a:pt x="200382" y="217646"/>
                  <a:pt x="207109" y="182642"/>
                  <a:pt x="192048" y="155138"/>
                </a:cubicBezTo>
                <a:cubicBezTo>
                  <a:pt x="189369" y="149781"/>
                  <a:pt x="182523" y="149423"/>
                  <a:pt x="178653" y="153948"/>
                </a:cubicBezTo>
                <a:lnTo>
                  <a:pt x="163651" y="171390"/>
                </a:lnTo>
                <a:cubicBezTo>
                  <a:pt x="159722" y="175915"/>
                  <a:pt x="152638" y="175796"/>
                  <a:pt x="148947" y="171093"/>
                </a:cubicBezTo>
                <a:cubicBezTo>
                  <a:pt x="138648" y="157936"/>
                  <a:pt x="119717" y="133945"/>
                  <a:pt x="110073" y="121682"/>
                </a:cubicBezTo>
                <a:cubicBezTo>
                  <a:pt x="106859" y="117574"/>
                  <a:pt x="101025" y="116919"/>
                  <a:pt x="97274" y="120551"/>
                </a:cubicBezTo>
                <a:cubicBezTo>
                  <a:pt x="86380" y="131147"/>
                  <a:pt x="66615" y="154365"/>
                  <a:pt x="66615" y="182642"/>
                </a:cubicBezTo>
                <a:cubicBezTo>
                  <a:pt x="66615" y="223480"/>
                  <a:pt x="96738" y="247650"/>
                  <a:pt x="134303" y="247650"/>
                </a:cubicBezTo>
                <a:close/>
              </a:path>
            </a:pathLst>
          </a:custGeom>
          <a:solidFill>
            <a:srgbClr val="1A202C"/>
          </a:solidFill>
          <a:ln/>
        </p:spPr>
        <p:txBody>
          <a:bodyPr/>
          <a:lstStyle/>
          <a:p>
            <a:endParaRPr lang="zh-CN" altLang="en-US"/>
          </a:p>
        </p:txBody>
      </p:sp>
      <p:sp>
        <p:nvSpPr>
          <p:cNvPr id="22" name="Text 20"/>
          <p:cNvSpPr/>
          <p:nvPr/>
        </p:nvSpPr>
        <p:spPr>
          <a:xfrm>
            <a:off x="6739434" y="2235200"/>
            <a:ext cx="1879600" cy="406400"/>
          </a:xfrm>
          <a:prstGeom prst="rect">
            <a:avLst/>
          </a:prstGeom>
          <a:noFill/>
          <a:ln/>
        </p:spPr>
        <p:txBody>
          <a:bodyPr wrap="square" lIns="0" tIns="0" rIns="0" bIns="0" rtlCol="0" anchor="ctr"/>
          <a:lstStyle/>
          <a:p>
            <a:pPr>
              <a:lnSpc>
                <a:spcPct val="110000"/>
              </a:lnSpc>
            </a:pPr>
            <a:r>
              <a:rPr lang="en-US" sz="2400" b="1" dirty="0">
                <a:solidFill>
                  <a:srgbClr val="F7FAFC"/>
                </a:solidFill>
                <a:latin typeface="Liter" pitchFamily="34" charset="0"/>
                <a:ea typeface="Liter" pitchFamily="34" charset="-122"/>
                <a:cs typeface="Liter" pitchFamily="34" charset="-120"/>
              </a:rPr>
              <a:t>Apache Hudi</a:t>
            </a:r>
            <a:endParaRPr lang="en-US" sz="1600" dirty="0"/>
          </a:p>
        </p:txBody>
      </p:sp>
      <p:sp>
        <p:nvSpPr>
          <p:cNvPr id="23" name="Text 21"/>
          <p:cNvSpPr/>
          <p:nvPr/>
        </p:nvSpPr>
        <p:spPr>
          <a:xfrm>
            <a:off x="5977434" y="29464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起源</a:t>
            </a:r>
            <a:endParaRPr lang="en-US" sz="1600" dirty="0"/>
          </a:p>
        </p:txBody>
      </p:sp>
      <p:sp>
        <p:nvSpPr>
          <p:cNvPr id="24" name="Text 22"/>
          <p:cNvSpPr/>
          <p:nvPr/>
        </p:nvSpPr>
        <p:spPr>
          <a:xfrm>
            <a:off x="5977434" y="32512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Uber出品</a:t>
            </a:r>
            <a:endParaRPr lang="en-US" sz="1600" dirty="0"/>
          </a:p>
        </p:txBody>
      </p:sp>
      <p:sp>
        <p:nvSpPr>
          <p:cNvPr id="25" name="Text 23"/>
          <p:cNvSpPr/>
          <p:nvPr/>
        </p:nvSpPr>
        <p:spPr>
          <a:xfrm>
            <a:off x="5977434" y="36576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设计初衷</a:t>
            </a:r>
            <a:endParaRPr lang="en-US" sz="1600" dirty="0"/>
          </a:p>
        </p:txBody>
      </p:sp>
      <p:sp>
        <p:nvSpPr>
          <p:cNvPr id="26" name="Text 24"/>
          <p:cNvSpPr/>
          <p:nvPr/>
        </p:nvSpPr>
        <p:spPr>
          <a:xfrm>
            <a:off x="5977434" y="39624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解决流式数据的快速Upsert/Delete(流式入湖)</a:t>
            </a:r>
            <a:endParaRPr lang="en-US" sz="1600" dirty="0"/>
          </a:p>
        </p:txBody>
      </p:sp>
      <p:sp>
        <p:nvSpPr>
          <p:cNvPr id="27" name="Text 25"/>
          <p:cNvSpPr/>
          <p:nvPr/>
        </p:nvSpPr>
        <p:spPr>
          <a:xfrm>
            <a:off x="5977434" y="43688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核心亮点</a:t>
            </a:r>
            <a:endParaRPr lang="en-US" sz="1600" dirty="0"/>
          </a:p>
        </p:txBody>
      </p:sp>
      <p:sp>
        <p:nvSpPr>
          <p:cNvPr id="28" name="Text 26"/>
          <p:cNvSpPr/>
          <p:nvPr/>
        </p:nvSpPr>
        <p:spPr>
          <a:xfrm>
            <a:off x="5977434" y="46736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COW/MOR双模式、索引能力丰富</a:t>
            </a:r>
            <a:endParaRPr lang="en-US" sz="1600" dirty="0"/>
          </a:p>
        </p:txBody>
      </p:sp>
      <p:sp>
        <p:nvSpPr>
          <p:cNvPr id="29" name="Text 27"/>
          <p:cNvSpPr/>
          <p:nvPr/>
        </p:nvSpPr>
        <p:spPr>
          <a:xfrm>
            <a:off x="5977434" y="50800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适用场景</a:t>
            </a:r>
            <a:endParaRPr lang="en-US" sz="1600" dirty="0"/>
          </a:p>
        </p:txBody>
      </p:sp>
      <p:sp>
        <p:nvSpPr>
          <p:cNvPr id="30" name="Text 28"/>
          <p:cNvSpPr/>
          <p:nvPr/>
        </p:nvSpPr>
        <p:spPr>
          <a:xfrm>
            <a:off x="5977434" y="53848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高频CDC、实时更新/删除场景</a:t>
            </a:r>
            <a:endParaRPr lang="en-US" sz="1600" dirty="0"/>
          </a:p>
        </p:txBody>
      </p:sp>
      <p:sp>
        <p:nvSpPr>
          <p:cNvPr id="31" name="Shape 29"/>
          <p:cNvSpPr/>
          <p:nvPr/>
        </p:nvSpPr>
        <p:spPr>
          <a:xfrm>
            <a:off x="10862667" y="1879600"/>
            <a:ext cx="4889500" cy="4267200"/>
          </a:xfrm>
          <a:custGeom>
            <a:avLst/>
            <a:gdLst/>
            <a:ahLst/>
            <a:cxnLst/>
            <a:rect l="l" t="t" r="r" b="b"/>
            <a:pathLst>
              <a:path w="4889500" h="4267200">
                <a:moveTo>
                  <a:pt x="50800" y="0"/>
                </a:moveTo>
                <a:lnTo>
                  <a:pt x="4787898" y="0"/>
                </a:lnTo>
                <a:cubicBezTo>
                  <a:pt x="4844011" y="0"/>
                  <a:pt x="4889500" y="45489"/>
                  <a:pt x="4889500" y="101602"/>
                </a:cubicBezTo>
                <a:lnTo>
                  <a:pt x="4889500" y="4165598"/>
                </a:lnTo>
                <a:cubicBezTo>
                  <a:pt x="4889500" y="4221711"/>
                  <a:pt x="4844011" y="4267200"/>
                  <a:pt x="4787898" y="4267200"/>
                </a:cubicBezTo>
                <a:lnTo>
                  <a:pt x="50800" y="4267200"/>
                </a:lnTo>
                <a:cubicBezTo>
                  <a:pt x="22744" y="4267200"/>
                  <a:pt x="0" y="4244456"/>
                  <a:pt x="0" y="42164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32" name="Shape 30"/>
          <p:cNvSpPr/>
          <p:nvPr/>
        </p:nvSpPr>
        <p:spPr>
          <a:xfrm>
            <a:off x="10862667" y="1879600"/>
            <a:ext cx="50800" cy="4267200"/>
          </a:xfrm>
          <a:custGeom>
            <a:avLst/>
            <a:gdLst/>
            <a:ahLst/>
            <a:cxnLst/>
            <a:rect l="l" t="t" r="r" b="b"/>
            <a:pathLst>
              <a:path w="50800" h="4267200">
                <a:moveTo>
                  <a:pt x="50800" y="0"/>
                </a:moveTo>
                <a:lnTo>
                  <a:pt x="50800" y="0"/>
                </a:lnTo>
                <a:lnTo>
                  <a:pt x="50800" y="4267200"/>
                </a:lnTo>
                <a:lnTo>
                  <a:pt x="50800" y="4267200"/>
                </a:lnTo>
                <a:cubicBezTo>
                  <a:pt x="22763" y="4267200"/>
                  <a:pt x="0" y="4244437"/>
                  <a:pt x="0" y="42164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33" name="Shape 31"/>
          <p:cNvSpPr/>
          <p:nvPr/>
        </p:nvSpPr>
        <p:spPr>
          <a:xfrm>
            <a:off x="11142067" y="2133600"/>
            <a:ext cx="609600" cy="609600"/>
          </a:xfrm>
          <a:custGeom>
            <a:avLst/>
            <a:gdLst/>
            <a:ahLst/>
            <a:cxnLst/>
            <a:rect l="l" t="t" r="r" b="b"/>
            <a:pathLst>
              <a:path w="609600" h="609600">
                <a:moveTo>
                  <a:pt x="101602" y="0"/>
                </a:moveTo>
                <a:lnTo>
                  <a:pt x="507998" y="0"/>
                </a:lnTo>
                <a:cubicBezTo>
                  <a:pt x="564111" y="0"/>
                  <a:pt x="609600" y="45489"/>
                  <a:pt x="609600" y="101602"/>
                </a:cubicBezTo>
                <a:lnTo>
                  <a:pt x="609600" y="507998"/>
                </a:lnTo>
                <a:cubicBezTo>
                  <a:pt x="609600" y="564111"/>
                  <a:pt x="564111" y="609600"/>
                  <a:pt x="507998" y="609600"/>
                </a:cubicBezTo>
                <a:lnTo>
                  <a:pt x="101602" y="609600"/>
                </a:lnTo>
                <a:cubicBezTo>
                  <a:pt x="45489" y="609600"/>
                  <a:pt x="0" y="564111"/>
                  <a:pt x="0" y="507998"/>
                </a:cubicBezTo>
                <a:lnTo>
                  <a:pt x="0" y="101602"/>
                </a:lnTo>
                <a:cubicBezTo>
                  <a:pt x="0" y="45526"/>
                  <a:pt x="45526" y="0"/>
                  <a:pt x="101602" y="0"/>
                </a:cubicBezTo>
                <a:close/>
              </a:path>
            </a:pathLst>
          </a:custGeom>
          <a:solidFill>
            <a:srgbClr val="4FD1C5"/>
          </a:solidFill>
          <a:ln/>
        </p:spPr>
        <p:txBody>
          <a:bodyPr/>
          <a:lstStyle/>
          <a:p>
            <a:endParaRPr lang="zh-CN" altLang="en-US"/>
          </a:p>
        </p:txBody>
      </p:sp>
      <p:sp>
        <p:nvSpPr>
          <p:cNvPr id="34" name="Shape 32"/>
          <p:cNvSpPr/>
          <p:nvPr/>
        </p:nvSpPr>
        <p:spPr>
          <a:xfrm>
            <a:off x="11294467" y="2286000"/>
            <a:ext cx="304800" cy="304800"/>
          </a:xfrm>
          <a:custGeom>
            <a:avLst/>
            <a:gdLst/>
            <a:ahLst/>
            <a:cxnLst/>
            <a:rect l="l" t="t" r="r" b="b"/>
            <a:pathLst>
              <a:path w="304800" h="304800">
                <a:moveTo>
                  <a:pt x="138410" y="3096"/>
                </a:moveTo>
                <a:cubicBezTo>
                  <a:pt x="147280" y="-1012"/>
                  <a:pt x="157520" y="-1012"/>
                  <a:pt x="166390" y="3096"/>
                </a:cubicBezTo>
                <a:lnTo>
                  <a:pt x="296525" y="63222"/>
                </a:lnTo>
                <a:cubicBezTo>
                  <a:pt x="301585" y="65544"/>
                  <a:pt x="304800" y="70604"/>
                  <a:pt x="304800" y="76200"/>
                </a:cubicBezTo>
                <a:cubicBezTo>
                  <a:pt x="304800" y="81796"/>
                  <a:pt x="301585" y="86856"/>
                  <a:pt x="296525" y="89178"/>
                </a:cubicBezTo>
                <a:lnTo>
                  <a:pt x="166390" y="149304"/>
                </a:lnTo>
                <a:cubicBezTo>
                  <a:pt x="157520" y="153412"/>
                  <a:pt x="147280" y="153412"/>
                  <a:pt x="138410" y="149304"/>
                </a:cubicBezTo>
                <a:lnTo>
                  <a:pt x="8275" y="89178"/>
                </a:lnTo>
                <a:cubicBezTo>
                  <a:pt x="3215" y="86797"/>
                  <a:pt x="0" y="81736"/>
                  <a:pt x="0" y="76200"/>
                </a:cubicBezTo>
                <a:cubicBezTo>
                  <a:pt x="0" y="70664"/>
                  <a:pt x="3215" y="65544"/>
                  <a:pt x="8275" y="63222"/>
                </a:cubicBezTo>
                <a:lnTo>
                  <a:pt x="138410" y="3096"/>
                </a:lnTo>
                <a:close/>
                <a:moveTo>
                  <a:pt x="28635" y="130016"/>
                </a:moveTo>
                <a:lnTo>
                  <a:pt x="126444" y="175200"/>
                </a:lnTo>
                <a:cubicBezTo>
                  <a:pt x="142935" y="182820"/>
                  <a:pt x="161925" y="182820"/>
                  <a:pt x="178415" y="175200"/>
                </a:cubicBezTo>
                <a:lnTo>
                  <a:pt x="276225" y="130016"/>
                </a:lnTo>
                <a:lnTo>
                  <a:pt x="296525" y="139422"/>
                </a:lnTo>
                <a:cubicBezTo>
                  <a:pt x="301585" y="141744"/>
                  <a:pt x="304800" y="146804"/>
                  <a:pt x="304800" y="152400"/>
                </a:cubicBezTo>
                <a:cubicBezTo>
                  <a:pt x="304800" y="157996"/>
                  <a:pt x="301585" y="163056"/>
                  <a:pt x="296525" y="165378"/>
                </a:cubicBezTo>
                <a:lnTo>
                  <a:pt x="166390" y="225504"/>
                </a:lnTo>
                <a:cubicBezTo>
                  <a:pt x="157520" y="229612"/>
                  <a:pt x="147280" y="229612"/>
                  <a:pt x="138410" y="225504"/>
                </a:cubicBezTo>
                <a:lnTo>
                  <a:pt x="8275" y="165378"/>
                </a:lnTo>
                <a:cubicBezTo>
                  <a:pt x="3215" y="162997"/>
                  <a:pt x="0" y="157936"/>
                  <a:pt x="0" y="152400"/>
                </a:cubicBezTo>
                <a:cubicBezTo>
                  <a:pt x="0" y="146864"/>
                  <a:pt x="3215" y="141744"/>
                  <a:pt x="8275" y="139422"/>
                </a:cubicBezTo>
                <a:lnTo>
                  <a:pt x="28575" y="130016"/>
                </a:lnTo>
                <a:close/>
                <a:moveTo>
                  <a:pt x="8275" y="215622"/>
                </a:moveTo>
                <a:lnTo>
                  <a:pt x="28575" y="206216"/>
                </a:lnTo>
                <a:lnTo>
                  <a:pt x="126385" y="251400"/>
                </a:lnTo>
                <a:cubicBezTo>
                  <a:pt x="142875" y="259020"/>
                  <a:pt x="161865" y="259020"/>
                  <a:pt x="178356" y="251400"/>
                </a:cubicBezTo>
                <a:lnTo>
                  <a:pt x="276165" y="206216"/>
                </a:lnTo>
                <a:lnTo>
                  <a:pt x="296466" y="215622"/>
                </a:lnTo>
                <a:cubicBezTo>
                  <a:pt x="301526" y="217944"/>
                  <a:pt x="304740" y="223004"/>
                  <a:pt x="304740" y="228600"/>
                </a:cubicBezTo>
                <a:cubicBezTo>
                  <a:pt x="304740" y="234196"/>
                  <a:pt x="301526" y="239256"/>
                  <a:pt x="296466" y="241578"/>
                </a:cubicBezTo>
                <a:lnTo>
                  <a:pt x="166330" y="301704"/>
                </a:lnTo>
                <a:cubicBezTo>
                  <a:pt x="157460" y="305812"/>
                  <a:pt x="147221" y="305812"/>
                  <a:pt x="138351" y="301704"/>
                </a:cubicBezTo>
                <a:lnTo>
                  <a:pt x="8275" y="241578"/>
                </a:lnTo>
                <a:cubicBezTo>
                  <a:pt x="3215" y="239197"/>
                  <a:pt x="0" y="234136"/>
                  <a:pt x="0" y="228600"/>
                </a:cubicBezTo>
                <a:cubicBezTo>
                  <a:pt x="0" y="223064"/>
                  <a:pt x="3215" y="217944"/>
                  <a:pt x="8275" y="215622"/>
                </a:cubicBezTo>
                <a:close/>
              </a:path>
            </a:pathLst>
          </a:custGeom>
          <a:solidFill>
            <a:srgbClr val="1A202C"/>
          </a:solidFill>
          <a:ln/>
        </p:spPr>
        <p:txBody>
          <a:bodyPr/>
          <a:lstStyle/>
          <a:p>
            <a:endParaRPr lang="zh-CN" altLang="en-US"/>
          </a:p>
        </p:txBody>
      </p:sp>
      <p:sp>
        <p:nvSpPr>
          <p:cNvPr id="35" name="Text 33"/>
          <p:cNvSpPr/>
          <p:nvPr/>
        </p:nvSpPr>
        <p:spPr>
          <a:xfrm>
            <a:off x="11904067" y="2235200"/>
            <a:ext cx="1562100" cy="406400"/>
          </a:xfrm>
          <a:prstGeom prst="rect">
            <a:avLst/>
          </a:prstGeom>
          <a:noFill/>
          <a:ln/>
        </p:spPr>
        <p:txBody>
          <a:bodyPr wrap="square" lIns="0" tIns="0" rIns="0" bIns="0" rtlCol="0" anchor="ctr"/>
          <a:lstStyle/>
          <a:p>
            <a:pPr>
              <a:lnSpc>
                <a:spcPct val="110000"/>
              </a:lnSpc>
            </a:pPr>
            <a:r>
              <a:rPr lang="en-US" sz="2400" b="1" dirty="0">
                <a:solidFill>
                  <a:srgbClr val="F7FAFC"/>
                </a:solidFill>
                <a:latin typeface="Liter" pitchFamily="34" charset="0"/>
                <a:ea typeface="Liter" pitchFamily="34" charset="-122"/>
                <a:cs typeface="Liter" pitchFamily="34" charset="-120"/>
              </a:rPr>
              <a:t>Delta Lake</a:t>
            </a:r>
            <a:endParaRPr lang="en-US" sz="1600" dirty="0"/>
          </a:p>
        </p:txBody>
      </p:sp>
      <p:sp>
        <p:nvSpPr>
          <p:cNvPr id="36" name="Text 34"/>
          <p:cNvSpPr/>
          <p:nvPr/>
        </p:nvSpPr>
        <p:spPr>
          <a:xfrm>
            <a:off x="11142067" y="29464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起源</a:t>
            </a:r>
            <a:endParaRPr lang="en-US" sz="1600" dirty="0"/>
          </a:p>
        </p:txBody>
      </p:sp>
      <p:sp>
        <p:nvSpPr>
          <p:cNvPr id="37" name="Text 35"/>
          <p:cNvSpPr/>
          <p:nvPr/>
        </p:nvSpPr>
        <p:spPr>
          <a:xfrm>
            <a:off x="11142067" y="32512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Databricks出品</a:t>
            </a:r>
            <a:endParaRPr lang="en-US" sz="1600" dirty="0"/>
          </a:p>
        </p:txBody>
      </p:sp>
      <p:sp>
        <p:nvSpPr>
          <p:cNvPr id="38" name="Text 36"/>
          <p:cNvSpPr/>
          <p:nvPr/>
        </p:nvSpPr>
        <p:spPr>
          <a:xfrm>
            <a:off x="11142067" y="36576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设计初衷</a:t>
            </a:r>
            <a:endParaRPr lang="en-US" sz="1600" dirty="0"/>
          </a:p>
        </p:txBody>
      </p:sp>
      <p:sp>
        <p:nvSpPr>
          <p:cNvPr id="39" name="Text 37"/>
          <p:cNvSpPr/>
          <p:nvPr/>
        </p:nvSpPr>
        <p:spPr>
          <a:xfrm>
            <a:off x="11142067" y="39624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深度优化Spark性能,提供数仓级体验</a:t>
            </a:r>
            <a:endParaRPr lang="en-US" sz="1600" dirty="0"/>
          </a:p>
        </p:txBody>
      </p:sp>
      <p:sp>
        <p:nvSpPr>
          <p:cNvPr id="40" name="Text 38"/>
          <p:cNvSpPr/>
          <p:nvPr/>
        </p:nvSpPr>
        <p:spPr>
          <a:xfrm>
            <a:off x="11142067" y="43688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核心亮点</a:t>
            </a:r>
            <a:endParaRPr lang="en-US" sz="1600" dirty="0"/>
          </a:p>
        </p:txBody>
      </p:sp>
      <p:sp>
        <p:nvSpPr>
          <p:cNvPr id="41" name="Text 39"/>
          <p:cNvSpPr/>
          <p:nvPr/>
        </p:nvSpPr>
        <p:spPr>
          <a:xfrm>
            <a:off x="11142067" y="46736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Z-Order排序优化、Data Skipping性能极强</a:t>
            </a:r>
            <a:endParaRPr lang="en-US" sz="1600" dirty="0"/>
          </a:p>
        </p:txBody>
      </p:sp>
      <p:sp>
        <p:nvSpPr>
          <p:cNvPr id="42" name="Text 40"/>
          <p:cNvSpPr/>
          <p:nvPr/>
        </p:nvSpPr>
        <p:spPr>
          <a:xfrm>
            <a:off x="11142067" y="5080000"/>
            <a:ext cx="4445000" cy="254000"/>
          </a:xfrm>
          <a:prstGeom prst="rect">
            <a:avLst/>
          </a:prstGeom>
          <a:noFill/>
          <a:ln/>
        </p:spPr>
        <p:txBody>
          <a:bodyPr wrap="square" lIns="0" tIns="0" rIns="0" bIns="0" rtlCol="0" anchor="ctr"/>
          <a:lstStyle/>
          <a:p>
            <a:pPr>
              <a:lnSpc>
                <a:spcPct val="120000"/>
              </a:lnSpc>
            </a:pPr>
            <a:r>
              <a:rPr lang="en-US" sz="1400" b="1" dirty="0">
                <a:solidFill>
                  <a:srgbClr val="F7FAFC"/>
                </a:solidFill>
                <a:latin typeface="MiSans" pitchFamily="34" charset="0"/>
                <a:ea typeface="MiSans" pitchFamily="34" charset="-122"/>
                <a:cs typeface="MiSans" pitchFamily="34" charset="-120"/>
              </a:rPr>
              <a:t>适用场景</a:t>
            </a:r>
            <a:endParaRPr lang="en-US" sz="1600" dirty="0"/>
          </a:p>
        </p:txBody>
      </p:sp>
      <p:sp>
        <p:nvSpPr>
          <p:cNvPr id="43" name="Text 41"/>
          <p:cNvSpPr/>
          <p:nvPr/>
        </p:nvSpPr>
        <p:spPr>
          <a:xfrm>
            <a:off x="11142067" y="5384800"/>
            <a:ext cx="4445000" cy="254000"/>
          </a:xfrm>
          <a:prstGeom prst="rect">
            <a:avLst/>
          </a:prstGeom>
          <a:noFill/>
          <a:ln/>
        </p:spPr>
        <p:txBody>
          <a:bodyPr wrap="square" lIns="0" tIns="0" rIns="0" bIns="0" rtlCol="0" anchor="ctr"/>
          <a:lstStyle/>
          <a:p>
            <a:pPr>
              <a:lnSpc>
                <a:spcPct val="120000"/>
              </a:lnSpc>
            </a:pPr>
            <a:r>
              <a:rPr lang="en-US" sz="1400" dirty="0">
                <a:solidFill>
                  <a:srgbClr val="A0AEC0"/>
                </a:solidFill>
                <a:latin typeface="MiSans" pitchFamily="34" charset="0"/>
                <a:ea typeface="MiSans" pitchFamily="34" charset="-122"/>
                <a:cs typeface="MiSans" pitchFamily="34" charset="-120"/>
              </a:rPr>
              <a:t>Spark生态为主,追求高性能交互式查询</a:t>
            </a:r>
            <a:endParaRPr lang="en-US" sz="1600" dirty="0"/>
          </a:p>
        </p:txBody>
      </p:sp>
      <p:sp>
        <p:nvSpPr>
          <p:cNvPr id="44" name="Shape 42"/>
          <p:cNvSpPr/>
          <p:nvPr/>
        </p:nvSpPr>
        <p:spPr>
          <a:xfrm>
            <a:off x="508000" y="6350000"/>
            <a:ext cx="15240000" cy="1574800"/>
          </a:xfrm>
          <a:custGeom>
            <a:avLst/>
            <a:gdLst/>
            <a:ahLst/>
            <a:cxnLst/>
            <a:rect l="l" t="t" r="r" b="b"/>
            <a:pathLst>
              <a:path w="15240000" h="1574800">
                <a:moveTo>
                  <a:pt x="101606" y="0"/>
                </a:moveTo>
                <a:lnTo>
                  <a:pt x="15138394" y="0"/>
                </a:lnTo>
                <a:cubicBezTo>
                  <a:pt x="15194509" y="0"/>
                  <a:pt x="15240000" y="45491"/>
                  <a:pt x="15240000" y="101606"/>
                </a:cubicBezTo>
                <a:lnTo>
                  <a:pt x="15240000" y="1473194"/>
                </a:lnTo>
                <a:cubicBezTo>
                  <a:pt x="15240000" y="1529309"/>
                  <a:pt x="15194509" y="1574800"/>
                  <a:pt x="15138394" y="1574800"/>
                </a:cubicBezTo>
                <a:lnTo>
                  <a:pt x="101606" y="1574800"/>
                </a:lnTo>
                <a:cubicBezTo>
                  <a:pt x="45491" y="1574800"/>
                  <a:pt x="0" y="1529309"/>
                  <a:pt x="0" y="1473194"/>
                </a:cubicBezTo>
                <a:lnTo>
                  <a:pt x="0" y="101606"/>
                </a:lnTo>
                <a:cubicBezTo>
                  <a:pt x="0" y="45528"/>
                  <a:pt x="45528" y="0"/>
                  <a:pt x="101606" y="0"/>
                </a:cubicBezTo>
                <a:close/>
              </a:path>
            </a:pathLst>
          </a:custGeom>
          <a:solidFill>
            <a:srgbClr val="4A5568">
              <a:alpha val="30196"/>
            </a:srgbClr>
          </a:solidFill>
          <a:ln/>
        </p:spPr>
        <p:txBody>
          <a:bodyPr/>
          <a:lstStyle/>
          <a:p>
            <a:endParaRPr lang="zh-CN" altLang="en-US"/>
          </a:p>
        </p:txBody>
      </p:sp>
      <p:sp>
        <p:nvSpPr>
          <p:cNvPr id="45" name="Text 43"/>
          <p:cNvSpPr/>
          <p:nvPr/>
        </p:nvSpPr>
        <p:spPr>
          <a:xfrm>
            <a:off x="660400" y="6553200"/>
            <a:ext cx="3657600" cy="304800"/>
          </a:xfrm>
          <a:prstGeom prst="rect">
            <a:avLst/>
          </a:prstGeom>
          <a:noFill/>
          <a:ln/>
        </p:spPr>
        <p:txBody>
          <a:bodyPr wrap="square" lIns="0" tIns="0" rIns="0" bIns="0" rtlCol="0" anchor="ctr"/>
          <a:lstStyle/>
          <a:p>
            <a:pPr algn="ctr">
              <a:lnSpc>
                <a:spcPct val="130000"/>
              </a:lnSpc>
            </a:pPr>
            <a:r>
              <a:rPr lang="en-US" sz="1600" b="1" dirty="0">
                <a:solidFill>
                  <a:srgbClr val="F7FAFC"/>
                </a:solidFill>
                <a:latin typeface="MiSans" pitchFamily="34" charset="0"/>
                <a:ea typeface="MiSans" pitchFamily="34" charset="-122"/>
                <a:cs typeface="MiSans" pitchFamily="34" charset="-120"/>
              </a:rPr>
              <a:t>设计哲学</a:t>
            </a:r>
            <a:endParaRPr lang="en-US" sz="1600" dirty="0"/>
          </a:p>
        </p:txBody>
      </p:sp>
      <p:sp>
        <p:nvSpPr>
          <p:cNvPr id="46" name="Text 44"/>
          <p:cNvSpPr/>
          <p:nvPr/>
        </p:nvSpPr>
        <p:spPr>
          <a:xfrm>
            <a:off x="666750" y="6959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Iceberg: 简洁中立</a:t>
            </a:r>
            <a:endParaRPr lang="en-US" sz="1600" dirty="0"/>
          </a:p>
        </p:txBody>
      </p:sp>
      <p:sp>
        <p:nvSpPr>
          <p:cNvPr id="47" name="Text 45"/>
          <p:cNvSpPr/>
          <p:nvPr/>
        </p:nvSpPr>
        <p:spPr>
          <a:xfrm>
            <a:off x="666750" y="7213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Hudi: 流式优化</a:t>
            </a:r>
            <a:endParaRPr lang="en-US" sz="1600" dirty="0"/>
          </a:p>
        </p:txBody>
      </p:sp>
      <p:sp>
        <p:nvSpPr>
          <p:cNvPr id="48" name="Text 46"/>
          <p:cNvSpPr/>
          <p:nvPr/>
        </p:nvSpPr>
        <p:spPr>
          <a:xfrm>
            <a:off x="666750" y="7467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Delta: Spark深度集成</a:t>
            </a:r>
            <a:endParaRPr lang="en-US" sz="1600" dirty="0"/>
          </a:p>
        </p:txBody>
      </p:sp>
      <p:sp>
        <p:nvSpPr>
          <p:cNvPr id="49" name="Text 47"/>
          <p:cNvSpPr/>
          <p:nvPr/>
        </p:nvSpPr>
        <p:spPr>
          <a:xfrm>
            <a:off x="4419600" y="6553200"/>
            <a:ext cx="3657600" cy="304800"/>
          </a:xfrm>
          <a:prstGeom prst="rect">
            <a:avLst/>
          </a:prstGeom>
          <a:noFill/>
          <a:ln/>
        </p:spPr>
        <p:txBody>
          <a:bodyPr wrap="square" lIns="0" tIns="0" rIns="0" bIns="0" rtlCol="0" anchor="ctr"/>
          <a:lstStyle/>
          <a:p>
            <a:pPr algn="ctr">
              <a:lnSpc>
                <a:spcPct val="130000"/>
              </a:lnSpc>
            </a:pPr>
            <a:r>
              <a:rPr lang="en-US" sz="1600" b="1" dirty="0">
                <a:solidFill>
                  <a:srgbClr val="F7FAFC"/>
                </a:solidFill>
                <a:latin typeface="MiSans" pitchFamily="34" charset="0"/>
                <a:ea typeface="MiSans" pitchFamily="34" charset="-122"/>
                <a:cs typeface="MiSans" pitchFamily="34" charset="-120"/>
              </a:rPr>
              <a:t>事务模型</a:t>
            </a:r>
            <a:endParaRPr lang="en-US" sz="1600" dirty="0"/>
          </a:p>
        </p:txBody>
      </p:sp>
      <p:sp>
        <p:nvSpPr>
          <p:cNvPr id="50" name="Text 48"/>
          <p:cNvSpPr/>
          <p:nvPr/>
        </p:nvSpPr>
        <p:spPr>
          <a:xfrm>
            <a:off x="4425950" y="6959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三者均支持ACID</a:t>
            </a:r>
            <a:endParaRPr lang="en-US" sz="1600" dirty="0"/>
          </a:p>
        </p:txBody>
      </p:sp>
      <p:sp>
        <p:nvSpPr>
          <p:cNvPr id="51" name="Text 49"/>
          <p:cNvSpPr/>
          <p:nvPr/>
        </p:nvSpPr>
        <p:spPr>
          <a:xfrm>
            <a:off x="4425950" y="7213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实现方式略有差异</a:t>
            </a:r>
            <a:endParaRPr lang="en-US" sz="1600" dirty="0"/>
          </a:p>
        </p:txBody>
      </p:sp>
      <p:sp>
        <p:nvSpPr>
          <p:cNvPr id="52" name="Text 50"/>
          <p:cNvSpPr/>
          <p:nvPr/>
        </p:nvSpPr>
        <p:spPr>
          <a:xfrm>
            <a:off x="8178800" y="6553200"/>
            <a:ext cx="3657600" cy="304800"/>
          </a:xfrm>
          <a:prstGeom prst="rect">
            <a:avLst/>
          </a:prstGeom>
          <a:noFill/>
          <a:ln/>
        </p:spPr>
        <p:txBody>
          <a:bodyPr wrap="square" lIns="0" tIns="0" rIns="0" bIns="0" rtlCol="0" anchor="ctr"/>
          <a:lstStyle/>
          <a:p>
            <a:pPr algn="ctr">
              <a:lnSpc>
                <a:spcPct val="130000"/>
              </a:lnSpc>
            </a:pPr>
            <a:r>
              <a:rPr lang="en-US" sz="1600" b="1" dirty="0">
                <a:solidFill>
                  <a:srgbClr val="F7FAFC"/>
                </a:solidFill>
                <a:latin typeface="MiSans" pitchFamily="34" charset="0"/>
                <a:ea typeface="MiSans" pitchFamily="34" charset="-122"/>
                <a:cs typeface="MiSans" pitchFamily="34" charset="-120"/>
              </a:rPr>
              <a:t>性能优化</a:t>
            </a:r>
            <a:endParaRPr lang="en-US" sz="1600" dirty="0"/>
          </a:p>
        </p:txBody>
      </p:sp>
      <p:sp>
        <p:nvSpPr>
          <p:cNvPr id="53" name="Text 51"/>
          <p:cNvSpPr/>
          <p:nvPr/>
        </p:nvSpPr>
        <p:spPr>
          <a:xfrm>
            <a:off x="8185150" y="6959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Iceberg: 隐藏分区</a:t>
            </a:r>
            <a:endParaRPr lang="en-US" sz="1600" dirty="0"/>
          </a:p>
        </p:txBody>
      </p:sp>
      <p:sp>
        <p:nvSpPr>
          <p:cNvPr id="54" name="Text 52"/>
          <p:cNvSpPr/>
          <p:nvPr/>
        </p:nvSpPr>
        <p:spPr>
          <a:xfrm>
            <a:off x="8185150" y="7213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Hudi: 索引加速</a:t>
            </a:r>
            <a:endParaRPr lang="en-US" sz="1600" dirty="0"/>
          </a:p>
        </p:txBody>
      </p:sp>
      <p:sp>
        <p:nvSpPr>
          <p:cNvPr id="55" name="Text 53"/>
          <p:cNvSpPr/>
          <p:nvPr/>
        </p:nvSpPr>
        <p:spPr>
          <a:xfrm>
            <a:off x="8185150" y="7467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Delta: Z-Order排序</a:t>
            </a:r>
            <a:endParaRPr lang="en-US" sz="1600" dirty="0"/>
          </a:p>
        </p:txBody>
      </p:sp>
      <p:sp>
        <p:nvSpPr>
          <p:cNvPr id="56" name="Text 54"/>
          <p:cNvSpPr/>
          <p:nvPr/>
        </p:nvSpPr>
        <p:spPr>
          <a:xfrm>
            <a:off x="11938000" y="6553200"/>
            <a:ext cx="3657600" cy="304800"/>
          </a:xfrm>
          <a:prstGeom prst="rect">
            <a:avLst/>
          </a:prstGeom>
          <a:noFill/>
          <a:ln/>
        </p:spPr>
        <p:txBody>
          <a:bodyPr wrap="square" lIns="0" tIns="0" rIns="0" bIns="0" rtlCol="0" anchor="ctr"/>
          <a:lstStyle/>
          <a:p>
            <a:pPr algn="ctr">
              <a:lnSpc>
                <a:spcPct val="130000"/>
              </a:lnSpc>
            </a:pPr>
            <a:r>
              <a:rPr lang="en-US" sz="1600" b="1" dirty="0">
                <a:solidFill>
                  <a:srgbClr val="F7FAFC"/>
                </a:solidFill>
                <a:latin typeface="MiSans" pitchFamily="34" charset="0"/>
                <a:ea typeface="MiSans" pitchFamily="34" charset="-122"/>
                <a:cs typeface="MiSans" pitchFamily="34" charset="-120"/>
              </a:rPr>
              <a:t>引擎生态</a:t>
            </a:r>
            <a:endParaRPr lang="en-US" sz="1600" dirty="0"/>
          </a:p>
        </p:txBody>
      </p:sp>
      <p:sp>
        <p:nvSpPr>
          <p:cNvPr id="57" name="Text 55"/>
          <p:cNvSpPr/>
          <p:nvPr/>
        </p:nvSpPr>
        <p:spPr>
          <a:xfrm>
            <a:off x="11944350" y="6959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Iceberg: 广泛兼容</a:t>
            </a:r>
            <a:endParaRPr lang="en-US" sz="1600" dirty="0"/>
          </a:p>
        </p:txBody>
      </p:sp>
      <p:sp>
        <p:nvSpPr>
          <p:cNvPr id="58" name="Text 56"/>
          <p:cNvSpPr/>
          <p:nvPr/>
        </p:nvSpPr>
        <p:spPr>
          <a:xfrm>
            <a:off x="11944350" y="7213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Hudi: Flink友好</a:t>
            </a:r>
            <a:endParaRPr lang="en-US" sz="1600" dirty="0"/>
          </a:p>
        </p:txBody>
      </p:sp>
      <p:sp>
        <p:nvSpPr>
          <p:cNvPr id="59" name="Text 57"/>
          <p:cNvSpPr/>
          <p:nvPr/>
        </p:nvSpPr>
        <p:spPr>
          <a:xfrm>
            <a:off x="11944350" y="7467600"/>
            <a:ext cx="3644900" cy="254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Delta: Spark最佳</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8000" y="508000"/>
            <a:ext cx="1739900" cy="304800"/>
          </a:xfrm>
          <a:prstGeom prst="rect">
            <a:avLst/>
          </a:prstGeom>
          <a:noFill/>
          <a:ln/>
        </p:spPr>
        <p:txBody>
          <a:bodyPr wrap="square" lIns="0" tIns="0" rIns="0" bIns="0" rtlCol="0" anchor="ctr"/>
          <a:lstStyle/>
          <a:p>
            <a:pPr>
              <a:lnSpc>
                <a:spcPct val="130000"/>
              </a:lnSpc>
            </a:pPr>
            <a:r>
              <a:rPr lang="en-US" sz="1600" b="1" kern="0" spc="80" dirty="0">
                <a:solidFill>
                  <a:srgbClr val="4FD1C5"/>
                </a:solidFill>
                <a:latin typeface="MiSans" pitchFamily="34" charset="0"/>
                <a:ea typeface="MiSans" pitchFamily="34" charset="-122"/>
                <a:cs typeface="MiSans" pitchFamily="34" charset="-120"/>
              </a:rPr>
              <a:t>TABLE FORMAT</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F7FAFC"/>
                </a:solidFill>
                <a:latin typeface="Noto Sans SC" pitchFamily="34" charset="0"/>
                <a:ea typeface="Noto Sans SC" pitchFamily="34" charset="-122"/>
                <a:cs typeface="Noto Sans SC" pitchFamily="34" charset="-120"/>
              </a:rPr>
              <a:t>Table Format解决的四大关键问题</a:t>
            </a:r>
            <a:endParaRPr lang="en-US" sz="1600" dirty="0"/>
          </a:p>
        </p:txBody>
      </p:sp>
      <p:sp>
        <p:nvSpPr>
          <p:cNvPr id="4" name="Shape 2"/>
          <p:cNvSpPr/>
          <p:nvPr/>
        </p:nvSpPr>
        <p:spPr>
          <a:xfrm>
            <a:off x="508000" y="1574800"/>
            <a:ext cx="1016000" cy="50800"/>
          </a:xfrm>
          <a:custGeom>
            <a:avLst/>
            <a:gdLst/>
            <a:ahLst/>
            <a:cxnLst/>
            <a:rect l="l" t="t" r="r" b="b"/>
            <a:pathLst>
              <a:path w="1016000" h="50800">
                <a:moveTo>
                  <a:pt x="0" y="0"/>
                </a:moveTo>
                <a:lnTo>
                  <a:pt x="1016000" y="0"/>
                </a:lnTo>
                <a:lnTo>
                  <a:pt x="1016000" y="50800"/>
                </a:lnTo>
                <a:lnTo>
                  <a:pt x="0" y="50800"/>
                </a:lnTo>
                <a:lnTo>
                  <a:pt x="0" y="0"/>
                </a:lnTo>
                <a:close/>
              </a:path>
            </a:pathLst>
          </a:custGeom>
          <a:solidFill>
            <a:srgbClr val="4FD1C5"/>
          </a:solidFill>
          <a:ln/>
        </p:spPr>
        <p:txBody>
          <a:bodyPr/>
          <a:lstStyle/>
          <a:p>
            <a:endParaRPr lang="zh-CN" altLang="en-US"/>
          </a:p>
        </p:txBody>
      </p:sp>
      <p:sp>
        <p:nvSpPr>
          <p:cNvPr id="5" name="Shape 3"/>
          <p:cNvSpPr/>
          <p:nvPr/>
        </p:nvSpPr>
        <p:spPr>
          <a:xfrm>
            <a:off x="533400" y="1879600"/>
            <a:ext cx="7467600" cy="2565400"/>
          </a:xfrm>
          <a:custGeom>
            <a:avLst/>
            <a:gdLst/>
            <a:ahLst/>
            <a:cxnLst/>
            <a:rect l="l" t="t" r="r" b="b"/>
            <a:pathLst>
              <a:path w="7467600" h="2565400">
                <a:moveTo>
                  <a:pt x="50800" y="0"/>
                </a:moveTo>
                <a:lnTo>
                  <a:pt x="7366010" y="0"/>
                </a:lnTo>
                <a:cubicBezTo>
                  <a:pt x="7422117" y="0"/>
                  <a:pt x="7467600" y="45483"/>
                  <a:pt x="7467600" y="101590"/>
                </a:cubicBezTo>
                <a:lnTo>
                  <a:pt x="7467600" y="2463810"/>
                </a:lnTo>
                <a:cubicBezTo>
                  <a:pt x="7467600" y="2519917"/>
                  <a:pt x="7422117" y="2565400"/>
                  <a:pt x="7366010" y="2565400"/>
                </a:cubicBezTo>
                <a:lnTo>
                  <a:pt x="50800" y="2565400"/>
                </a:lnTo>
                <a:cubicBezTo>
                  <a:pt x="22763" y="2565400"/>
                  <a:pt x="0" y="2542637"/>
                  <a:pt x="0" y="25146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6" name="Shape 4"/>
          <p:cNvSpPr/>
          <p:nvPr/>
        </p:nvSpPr>
        <p:spPr>
          <a:xfrm>
            <a:off x="533400" y="1879600"/>
            <a:ext cx="50800" cy="2565400"/>
          </a:xfrm>
          <a:custGeom>
            <a:avLst/>
            <a:gdLst/>
            <a:ahLst/>
            <a:cxnLst/>
            <a:rect l="l" t="t" r="r" b="b"/>
            <a:pathLst>
              <a:path w="50800" h="2565400">
                <a:moveTo>
                  <a:pt x="50800" y="0"/>
                </a:moveTo>
                <a:lnTo>
                  <a:pt x="50800" y="0"/>
                </a:lnTo>
                <a:lnTo>
                  <a:pt x="50800" y="2565400"/>
                </a:lnTo>
                <a:lnTo>
                  <a:pt x="50800" y="2565400"/>
                </a:lnTo>
                <a:cubicBezTo>
                  <a:pt x="22763" y="2565400"/>
                  <a:pt x="0" y="2542637"/>
                  <a:pt x="0" y="25146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7" name="Shape 5"/>
          <p:cNvSpPr/>
          <p:nvPr/>
        </p:nvSpPr>
        <p:spPr>
          <a:xfrm>
            <a:off x="812800" y="21336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FD1C5"/>
          </a:solidFill>
          <a:ln/>
        </p:spPr>
        <p:txBody>
          <a:bodyPr/>
          <a:lstStyle/>
          <a:p>
            <a:endParaRPr lang="zh-CN" altLang="en-US"/>
          </a:p>
        </p:txBody>
      </p:sp>
      <p:sp>
        <p:nvSpPr>
          <p:cNvPr id="8" name="Text 6"/>
          <p:cNvSpPr/>
          <p:nvPr/>
        </p:nvSpPr>
        <p:spPr>
          <a:xfrm>
            <a:off x="1021854" y="2209800"/>
            <a:ext cx="2032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1473200" y="2209800"/>
            <a:ext cx="1905000" cy="355600"/>
          </a:xfrm>
          <a:prstGeom prst="rect">
            <a:avLst/>
          </a:prstGeom>
          <a:noFill/>
          <a:ln/>
        </p:spPr>
        <p:txBody>
          <a:bodyPr wrap="square" lIns="0" tIns="0" rIns="0" bIns="0" rtlCol="0" anchor="ctr"/>
          <a:lstStyle/>
          <a:p>
            <a:pPr>
              <a:lnSpc>
                <a:spcPct val="120000"/>
              </a:lnSpc>
            </a:pPr>
            <a:r>
              <a:rPr lang="en-US" sz="2000" b="1" dirty="0">
                <a:solidFill>
                  <a:srgbClr val="F7FAFC"/>
                </a:solidFill>
                <a:latin typeface="Noto Sans SC" pitchFamily="34" charset="0"/>
                <a:ea typeface="Noto Sans SC" pitchFamily="34" charset="-122"/>
                <a:cs typeface="Noto Sans SC" pitchFamily="34" charset="-120"/>
              </a:rPr>
              <a:t>元数据可扩展性</a:t>
            </a:r>
            <a:endParaRPr lang="en-US" sz="1600" dirty="0"/>
          </a:p>
        </p:txBody>
      </p:sp>
      <p:sp>
        <p:nvSpPr>
          <p:cNvPr id="10" name="Text 8"/>
          <p:cNvSpPr/>
          <p:nvPr/>
        </p:nvSpPr>
        <p:spPr>
          <a:xfrm>
            <a:off x="812800" y="2794000"/>
            <a:ext cx="7035800" cy="9906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传统"目录即元数据"方案中,目录Listing成为性能瓶颈。Table Format通过使用多层次元数据文件替代目录Listing,可以在数十亿级别的数据文件规模下仍然保持可接受的管理与查询性能。</a:t>
            </a:r>
            <a:endParaRPr lang="en-US" sz="1600" dirty="0"/>
          </a:p>
        </p:txBody>
      </p:sp>
      <p:sp>
        <p:nvSpPr>
          <p:cNvPr id="11" name="Shape 9"/>
          <p:cNvSpPr/>
          <p:nvPr/>
        </p:nvSpPr>
        <p:spPr>
          <a:xfrm>
            <a:off x="838200" y="39624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4FD1C5"/>
          </a:solidFill>
          <a:ln/>
        </p:spPr>
        <p:txBody>
          <a:bodyPr/>
          <a:lstStyle/>
          <a:p>
            <a:endParaRPr lang="zh-CN" altLang="en-US"/>
          </a:p>
        </p:txBody>
      </p:sp>
      <p:sp>
        <p:nvSpPr>
          <p:cNvPr id="12" name="Text 10"/>
          <p:cNvSpPr/>
          <p:nvPr/>
        </p:nvSpPr>
        <p:spPr>
          <a:xfrm>
            <a:off x="1168400" y="3937000"/>
            <a:ext cx="32258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解决"数据湖目录和元数据易失控"的痛点</a:t>
            </a:r>
            <a:endParaRPr lang="en-US" sz="1600" dirty="0"/>
          </a:p>
        </p:txBody>
      </p:sp>
      <p:sp>
        <p:nvSpPr>
          <p:cNvPr id="13" name="Shape 11"/>
          <p:cNvSpPr/>
          <p:nvPr/>
        </p:nvSpPr>
        <p:spPr>
          <a:xfrm>
            <a:off x="533400" y="4648200"/>
            <a:ext cx="7467600" cy="2565400"/>
          </a:xfrm>
          <a:custGeom>
            <a:avLst/>
            <a:gdLst/>
            <a:ahLst/>
            <a:cxnLst/>
            <a:rect l="l" t="t" r="r" b="b"/>
            <a:pathLst>
              <a:path w="7467600" h="2565400">
                <a:moveTo>
                  <a:pt x="50800" y="0"/>
                </a:moveTo>
                <a:lnTo>
                  <a:pt x="7366010" y="0"/>
                </a:lnTo>
                <a:cubicBezTo>
                  <a:pt x="7422117" y="0"/>
                  <a:pt x="7467600" y="45483"/>
                  <a:pt x="7467600" y="101590"/>
                </a:cubicBezTo>
                <a:lnTo>
                  <a:pt x="7467600" y="2463810"/>
                </a:lnTo>
                <a:cubicBezTo>
                  <a:pt x="7467600" y="2519917"/>
                  <a:pt x="7422117" y="2565400"/>
                  <a:pt x="7366010" y="2565400"/>
                </a:cubicBezTo>
                <a:lnTo>
                  <a:pt x="50800" y="2565400"/>
                </a:lnTo>
                <a:cubicBezTo>
                  <a:pt x="22763" y="2565400"/>
                  <a:pt x="0" y="2542637"/>
                  <a:pt x="0" y="25146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14" name="Shape 12"/>
          <p:cNvSpPr/>
          <p:nvPr/>
        </p:nvSpPr>
        <p:spPr>
          <a:xfrm>
            <a:off x="533400" y="4648200"/>
            <a:ext cx="50800" cy="2565400"/>
          </a:xfrm>
          <a:custGeom>
            <a:avLst/>
            <a:gdLst/>
            <a:ahLst/>
            <a:cxnLst/>
            <a:rect l="l" t="t" r="r" b="b"/>
            <a:pathLst>
              <a:path w="50800" h="2565400">
                <a:moveTo>
                  <a:pt x="50800" y="0"/>
                </a:moveTo>
                <a:lnTo>
                  <a:pt x="50800" y="0"/>
                </a:lnTo>
                <a:lnTo>
                  <a:pt x="50800" y="2565400"/>
                </a:lnTo>
                <a:lnTo>
                  <a:pt x="50800" y="2565400"/>
                </a:lnTo>
                <a:cubicBezTo>
                  <a:pt x="22763" y="2565400"/>
                  <a:pt x="0" y="2542637"/>
                  <a:pt x="0" y="25146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15" name="Shape 13"/>
          <p:cNvSpPr/>
          <p:nvPr/>
        </p:nvSpPr>
        <p:spPr>
          <a:xfrm>
            <a:off x="812800" y="49022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FD1C5"/>
          </a:solidFill>
          <a:ln/>
        </p:spPr>
        <p:txBody>
          <a:bodyPr/>
          <a:lstStyle/>
          <a:p>
            <a:endParaRPr lang="zh-CN" altLang="en-US"/>
          </a:p>
        </p:txBody>
      </p:sp>
      <p:sp>
        <p:nvSpPr>
          <p:cNvPr id="16" name="Text 14"/>
          <p:cNvSpPr/>
          <p:nvPr/>
        </p:nvSpPr>
        <p:spPr>
          <a:xfrm>
            <a:off x="1002506" y="4978400"/>
            <a:ext cx="2413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MiSans" pitchFamily="34" charset="0"/>
                <a:ea typeface="MiSans" pitchFamily="34" charset="-122"/>
                <a:cs typeface="MiSans" pitchFamily="34" charset="-120"/>
              </a:rPr>
              <a:t>2</a:t>
            </a:r>
            <a:endParaRPr lang="en-US" sz="1600" dirty="0"/>
          </a:p>
        </p:txBody>
      </p:sp>
      <p:sp>
        <p:nvSpPr>
          <p:cNvPr id="17" name="Text 15"/>
          <p:cNvSpPr/>
          <p:nvPr/>
        </p:nvSpPr>
        <p:spPr>
          <a:xfrm>
            <a:off x="1473200" y="4978400"/>
            <a:ext cx="2654300" cy="355600"/>
          </a:xfrm>
          <a:prstGeom prst="rect">
            <a:avLst/>
          </a:prstGeom>
          <a:noFill/>
          <a:ln/>
        </p:spPr>
        <p:txBody>
          <a:bodyPr wrap="square" lIns="0" tIns="0" rIns="0" bIns="0" rtlCol="0" anchor="ctr"/>
          <a:lstStyle/>
          <a:p>
            <a:pPr>
              <a:lnSpc>
                <a:spcPct val="120000"/>
              </a:lnSpc>
            </a:pPr>
            <a:r>
              <a:rPr lang="en-US" sz="2000" b="1" dirty="0">
                <a:solidFill>
                  <a:srgbClr val="F7FAFC"/>
                </a:solidFill>
                <a:latin typeface="Noto Sans SC" pitchFamily="34" charset="0"/>
                <a:ea typeface="Noto Sans SC" pitchFamily="34" charset="-122"/>
                <a:cs typeface="Noto Sans SC" pitchFamily="34" charset="-120"/>
              </a:rPr>
              <a:t>多版本并发控制MVCC</a:t>
            </a:r>
            <a:endParaRPr lang="en-US" sz="1600" dirty="0"/>
          </a:p>
        </p:txBody>
      </p:sp>
      <p:sp>
        <p:nvSpPr>
          <p:cNvPr id="18" name="Text 16"/>
          <p:cNvSpPr/>
          <p:nvPr/>
        </p:nvSpPr>
        <p:spPr>
          <a:xfrm>
            <a:off x="812800" y="5562600"/>
            <a:ext cx="7035800" cy="9906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数据湖阶段缺乏明确的事务边界和版本管理。Table Format通过Snapshot机制实现读写隔离,新写入不会影响正在进行的查询,并支持"快照回滚""时间旅行"等高级能力。</a:t>
            </a:r>
            <a:endParaRPr lang="en-US" sz="1600" dirty="0"/>
          </a:p>
        </p:txBody>
      </p:sp>
      <p:sp>
        <p:nvSpPr>
          <p:cNvPr id="19" name="Shape 17"/>
          <p:cNvSpPr/>
          <p:nvPr/>
        </p:nvSpPr>
        <p:spPr>
          <a:xfrm>
            <a:off x="838200" y="67310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4FD1C5"/>
          </a:solidFill>
          <a:ln/>
        </p:spPr>
        <p:txBody>
          <a:bodyPr/>
          <a:lstStyle/>
          <a:p>
            <a:endParaRPr lang="zh-CN" altLang="en-US"/>
          </a:p>
        </p:txBody>
      </p:sp>
      <p:sp>
        <p:nvSpPr>
          <p:cNvPr id="20" name="Text 18"/>
          <p:cNvSpPr/>
          <p:nvPr/>
        </p:nvSpPr>
        <p:spPr>
          <a:xfrm>
            <a:off x="1168400" y="6705600"/>
            <a:ext cx="29210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在湖上实现类似数据库的MVCC语义</a:t>
            </a:r>
            <a:endParaRPr lang="en-US" sz="1600" dirty="0"/>
          </a:p>
        </p:txBody>
      </p:sp>
      <p:sp>
        <p:nvSpPr>
          <p:cNvPr id="21" name="Shape 19"/>
          <p:cNvSpPr/>
          <p:nvPr/>
        </p:nvSpPr>
        <p:spPr>
          <a:xfrm>
            <a:off x="8280400" y="1879600"/>
            <a:ext cx="7467600" cy="2235200"/>
          </a:xfrm>
          <a:custGeom>
            <a:avLst/>
            <a:gdLst/>
            <a:ahLst/>
            <a:cxnLst/>
            <a:rect l="l" t="t" r="r" b="b"/>
            <a:pathLst>
              <a:path w="7467600" h="2235200">
                <a:moveTo>
                  <a:pt x="50800" y="0"/>
                </a:moveTo>
                <a:lnTo>
                  <a:pt x="7366010" y="0"/>
                </a:lnTo>
                <a:cubicBezTo>
                  <a:pt x="7422117" y="0"/>
                  <a:pt x="7467600" y="45483"/>
                  <a:pt x="7467600" y="101590"/>
                </a:cubicBezTo>
                <a:lnTo>
                  <a:pt x="7467600" y="2133610"/>
                </a:lnTo>
                <a:cubicBezTo>
                  <a:pt x="7467600" y="2189717"/>
                  <a:pt x="7422117" y="2235200"/>
                  <a:pt x="7366010" y="2235200"/>
                </a:cubicBezTo>
                <a:lnTo>
                  <a:pt x="50800" y="2235200"/>
                </a:lnTo>
                <a:cubicBezTo>
                  <a:pt x="22744" y="2235200"/>
                  <a:pt x="0" y="2212456"/>
                  <a:pt x="0" y="21844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22" name="Shape 20"/>
          <p:cNvSpPr/>
          <p:nvPr/>
        </p:nvSpPr>
        <p:spPr>
          <a:xfrm>
            <a:off x="8280400" y="1879600"/>
            <a:ext cx="50800" cy="2235200"/>
          </a:xfrm>
          <a:custGeom>
            <a:avLst/>
            <a:gdLst/>
            <a:ahLst/>
            <a:cxnLst/>
            <a:rect l="l" t="t" r="r" b="b"/>
            <a:pathLst>
              <a:path w="50800" h="2235200">
                <a:moveTo>
                  <a:pt x="50800" y="0"/>
                </a:moveTo>
                <a:lnTo>
                  <a:pt x="50800" y="0"/>
                </a:lnTo>
                <a:lnTo>
                  <a:pt x="50800" y="2235200"/>
                </a:lnTo>
                <a:lnTo>
                  <a:pt x="50800" y="2235200"/>
                </a:lnTo>
                <a:cubicBezTo>
                  <a:pt x="22763" y="2235200"/>
                  <a:pt x="0" y="2212437"/>
                  <a:pt x="0" y="21844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23" name="Shape 21"/>
          <p:cNvSpPr/>
          <p:nvPr/>
        </p:nvSpPr>
        <p:spPr>
          <a:xfrm>
            <a:off x="8559800" y="21336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FD1C5"/>
          </a:solidFill>
          <a:ln/>
        </p:spPr>
        <p:txBody>
          <a:bodyPr/>
          <a:lstStyle/>
          <a:p>
            <a:endParaRPr lang="zh-CN" altLang="en-US"/>
          </a:p>
        </p:txBody>
      </p:sp>
      <p:sp>
        <p:nvSpPr>
          <p:cNvPr id="24" name="Text 22"/>
          <p:cNvSpPr/>
          <p:nvPr/>
        </p:nvSpPr>
        <p:spPr>
          <a:xfrm>
            <a:off x="8746530" y="2209800"/>
            <a:ext cx="2540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MiSans" pitchFamily="34" charset="0"/>
                <a:ea typeface="MiSans" pitchFamily="34" charset="-122"/>
                <a:cs typeface="MiSans" pitchFamily="34" charset="-120"/>
              </a:rPr>
              <a:t>3</a:t>
            </a:r>
            <a:endParaRPr lang="en-US" sz="1600" dirty="0"/>
          </a:p>
        </p:txBody>
      </p:sp>
      <p:sp>
        <p:nvSpPr>
          <p:cNvPr id="25" name="Text 23"/>
          <p:cNvSpPr/>
          <p:nvPr/>
        </p:nvSpPr>
        <p:spPr>
          <a:xfrm>
            <a:off x="9220200" y="2209800"/>
            <a:ext cx="3327400" cy="355600"/>
          </a:xfrm>
          <a:prstGeom prst="rect">
            <a:avLst/>
          </a:prstGeom>
          <a:noFill/>
          <a:ln/>
        </p:spPr>
        <p:txBody>
          <a:bodyPr wrap="square" lIns="0" tIns="0" rIns="0" bIns="0" rtlCol="0" anchor="ctr"/>
          <a:lstStyle/>
          <a:p>
            <a:pPr>
              <a:lnSpc>
                <a:spcPct val="120000"/>
              </a:lnSpc>
            </a:pPr>
            <a:r>
              <a:rPr lang="en-US" sz="2000" b="1" dirty="0">
                <a:solidFill>
                  <a:srgbClr val="F7FAFC"/>
                </a:solidFill>
                <a:latin typeface="Noto Sans SC" pitchFamily="34" charset="0"/>
                <a:ea typeface="Noto Sans SC" pitchFamily="34" charset="-122"/>
                <a:cs typeface="Noto Sans SC" pitchFamily="34" charset="-120"/>
              </a:rPr>
              <a:t>Schema演进与数据演进解耦</a:t>
            </a:r>
            <a:endParaRPr lang="en-US" sz="1600" dirty="0"/>
          </a:p>
        </p:txBody>
      </p:sp>
      <p:sp>
        <p:nvSpPr>
          <p:cNvPr id="26" name="Text 24"/>
          <p:cNvSpPr/>
          <p:nvPr/>
        </p:nvSpPr>
        <p:spPr>
          <a:xfrm>
            <a:off x="8559800" y="2794000"/>
            <a:ext cx="7035800" cy="6604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字段新增、类型调整、字段重命名是常态。现代Table Format支持这些操作,并通过字段ID而非字段名进行绑定,避免简单重命名导致的兼容性问题。</a:t>
            </a:r>
            <a:endParaRPr lang="en-US" sz="1600" dirty="0"/>
          </a:p>
        </p:txBody>
      </p:sp>
      <p:sp>
        <p:nvSpPr>
          <p:cNvPr id="27" name="Shape 25"/>
          <p:cNvSpPr/>
          <p:nvPr/>
        </p:nvSpPr>
        <p:spPr>
          <a:xfrm>
            <a:off x="8585200" y="36322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4FD1C5"/>
          </a:solidFill>
          <a:ln/>
        </p:spPr>
        <p:txBody>
          <a:bodyPr/>
          <a:lstStyle/>
          <a:p>
            <a:endParaRPr lang="zh-CN" altLang="en-US"/>
          </a:p>
        </p:txBody>
      </p:sp>
      <p:sp>
        <p:nvSpPr>
          <p:cNvPr id="28" name="Text 26"/>
          <p:cNvSpPr/>
          <p:nvPr/>
        </p:nvSpPr>
        <p:spPr>
          <a:xfrm>
            <a:off x="8915400" y="3606800"/>
            <a:ext cx="39497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在不重写全部历史数据的前提下支撑Schema演进</a:t>
            </a:r>
            <a:endParaRPr lang="en-US" sz="1600" dirty="0"/>
          </a:p>
        </p:txBody>
      </p:sp>
      <p:sp>
        <p:nvSpPr>
          <p:cNvPr id="29" name="Shape 27"/>
          <p:cNvSpPr/>
          <p:nvPr/>
        </p:nvSpPr>
        <p:spPr>
          <a:xfrm>
            <a:off x="8280400" y="4318000"/>
            <a:ext cx="7467600" cy="2565400"/>
          </a:xfrm>
          <a:custGeom>
            <a:avLst/>
            <a:gdLst/>
            <a:ahLst/>
            <a:cxnLst/>
            <a:rect l="l" t="t" r="r" b="b"/>
            <a:pathLst>
              <a:path w="7467600" h="2565400">
                <a:moveTo>
                  <a:pt x="50800" y="0"/>
                </a:moveTo>
                <a:lnTo>
                  <a:pt x="7366010" y="0"/>
                </a:lnTo>
                <a:cubicBezTo>
                  <a:pt x="7422117" y="0"/>
                  <a:pt x="7467600" y="45483"/>
                  <a:pt x="7467600" y="101590"/>
                </a:cubicBezTo>
                <a:lnTo>
                  <a:pt x="7467600" y="2463810"/>
                </a:lnTo>
                <a:cubicBezTo>
                  <a:pt x="7467600" y="2519917"/>
                  <a:pt x="7422117" y="2565400"/>
                  <a:pt x="7366010" y="2565400"/>
                </a:cubicBezTo>
                <a:lnTo>
                  <a:pt x="50800" y="2565400"/>
                </a:lnTo>
                <a:cubicBezTo>
                  <a:pt x="22763" y="2565400"/>
                  <a:pt x="0" y="2542637"/>
                  <a:pt x="0" y="25146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30" name="Shape 28"/>
          <p:cNvSpPr/>
          <p:nvPr/>
        </p:nvSpPr>
        <p:spPr>
          <a:xfrm>
            <a:off x="8280400" y="4318000"/>
            <a:ext cx="50800" cy="2565400"/>
          </a:xfrm>
          <a:custGeom>
            <a:avLst/>
            <a:gdLst/>
            <a:ahLst/>
            <a:cxnLst/>
            <a:rect l="l" t="t" r="r" b="b"/>
            <a:pathLst>
              <a:path w="50800" h="2565400">
                <a:moveTo>
                  <a:pt x="50800" y="0"/>
                </a:moveTo>
                <a:lnTo>
                  <a:pt x="50800" y="0"/>
                </a:lnTo>
                <a:lnTo>
                  <a:pt x="50800" y="2565400"/>
                </a:lnTo>
                <a:lnTo>
                  <a:pt x="50800" y="2565400"/>
                </a:lnTo>
                <a:cubicBezTo>
                  <a:pt x="22763" y="2565400"/>
                  <a:pt x="0" y="2542637"/>
                  <a:pt x="0" y="25146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31" name="Shape 29"/>
          <p:cNvSpPr/>
          <p:nvPr/>
        </p:nvSpPr>
        <p:spPr>
          <a:xfrm>
            <a:off x="8559800" y="45720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FD1C5"/>
          </a:solidFill>
          <a:ln/>
        </p:spPr>
        <p:txBody>
          <a:bodyPr/>
          <a:lstStyle/>
          <a:p>
            <a:endParaRPr lang="zh-CN" altLang="en-US"/>
          </a:p>
        </p:txBody>
      </p:sp>
      <p:sp>
        <p:nvSpPr>
          <p:cNvPr id="32" name="Text 30"/>
          <p:cNvSpPr/>
          <p:nvPr/>
        </p:nvSpPr>
        <p:spPr>
          <a:xfrm>
            <a:off x="8746728" y="4648200"/>
            <a:ext cx="254000" cy="355600"/>
          </a:xfrm>
          <a:prstGeom prst="rect">
            <a:avLst/>
          </a:prstGeom>
          <a:noFill/>
          <a:ln/>
        </p:spPr>
        <p:txBody>
          <a:bodyPr wrap="square" lIns="0" tIns="0" rIns="0" bIns="0" rtlCol="0" anchor="ctr"/>
          <a:lstStyle/>
          <a:p>
            <a:pPr>
              <a:lnSpc>
                <a:spcPct val="130000"/>
              </a:lnSpc>
            </a:pPr>
            <a:r>
              <a:rPr lang="en-US" sz="1800" b="1" dirty="0">
                <a:solidFill>
                  <a:srgbClr val="1A202C"/>
                </a:solidFill>
                <a:latin typeface="MiSans" pitchFamily="34" charset="0"/>
                <a:ea typeface="MiSans" pitchFamily="34" charset="-122"/>
                <a:cs typeface="MiSans" pitchFamily="34" charset="-120"/>
              </a:rPr>
              <a:t>4</a:t>
            </a:r>
            <a:endParaRPr lang="en-US" sz="1600" dirty="0"/>
          </a:p>
        </p:txBody>
      </p:sp>
      <p:sp>
        <p:nvSpPr>
          <p:cNvPr id="33" name="Text 31"/>
          <p:cNvSpPr/>
          <p:nvPr/>
        </p:nvSpPr>
        <p:spPr>
          <a:xfrm>
            <a:off x="9220200" y="4648200"/>
            <a:ext cx="2159000" cy="355600"/>
          </a:xfrm>
          <a:prstGeom prst="rect">
            <a:avLst/>
          </a:prstGeom>
          <a:noFill/>
          <a:ln/>
        </p:spPr>
        <p:txBody>
          <a:bodyPr wrap="square" lIns="0" tIns="0" rIns="0" bIns="0" rtlCol="0" anchor="ctr"/>
          <a:lstStyle/>
          <a:p>
            <a:pPr>
              <a:lnSpc>
                <a:spcPct val="120000"/>
              </a:lnSpc>
            </a:pPr>
            <a:r>
              <a:rPr lang="en-US" sz="2000" b="1" dirty="0">
                <a:solidFill>
                  <a:srgbClr val="F7FAFC"/>
                </a:solidFill>
                <a:latin typeface="Noto Sans SC" pitchFamily="34" charset="0"/>
                <a:ea typeface="Noto Sans SC" pitchFamily="34" charset="-122"/>
                <a:cs typeface="Noto Sans SC" pitchFamily="34" charset="-120"/>
              </a:rPr>
              <a:t>统一批流写入模型</a:t>
            </a:r>
            <a:endParaRPr lang="en-US" sz="1600" dirty="0"/>
          </a:p>
        </p:txBody>
      </p:sp>
      <p:sp>
        <p:nvSpPr>
          <p:cNvPr id="34" name="Text 32"/>
          <p:cNvSpPr/>
          <p:nvPr/>
        </p:nvSpPr>
        <p:spPr>
          <a:xfrm>
            <a:off x="8559800" y="5232400"/>
            <a:ext cx="7035800" cy="990600"/>
          </a:xfrm>
          <a:prstGeom prst="rect">
            <a:avLst/>
          </a:prstGeom>
          <a:noFill/>
          <a:ln/>
        </p:spPr>
        <p:txBody>
          <a:bodyPr wrap="square" lIns="0" tIns="0" rIns="0" bIns="0" rtlCol="0" anchor="ctr"/>
          <a:lstStyle/>
          <a:p>
            <a:pPr>
              <a:lnSpc>
                <a:spcPct val="140000"/>
              </a:lnSpc>
            </a:pPr>
            <a:r>
              <a:rPr lang="en-US" sz="1600" dirty="0">
                <a:solidFill>
                  <a:srgbClr val="A0AEC0"/>
                </a:solidFill>
                <a:latin typeface="MiSans" pitchFamily="34" charset="0"/>
                <a:ea typeface="MiSans" pitchFamily="34" charset="-122"/>
                <a:cs typeface="MiSans" pitchFamily="34" charset="-120"/>
              </a:rPr>
              <a:t>Table Format同时支持批任务一次性生成大量文件,以及流任务以小批量/高频方式持续写入,再结合Compaction机制对小文件进行合并,从而在同一套Lakehouse表中实现统一的批流写入模型。</a:t>
            </a:r>
            <a:endParaRPr lang="en-US" sz="1600" dirty="0"/>
          </a:p>
        </p:txBody>
      </p:sp>
      <p:sp>
        <p:nvSpPr>
          <p:cNvPr id="35" name="Shape 33"/>
          <p:cNvSpPr/>
          <p:nvPr/>
        </p:nvSpPr>
        <p:spPr>
          <a:xfrm>
            <a:off x="8585200" y="640080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4FD1C5"/>
          </a:solidFill>
          <a:ln/>
        </p:spPr>
        <p:txBody>
          <a:bodyPr/>
          <a:lstStyle/>
          <a:p>
            <a:endParaRPr lang="zh-CN" altLang="en-US"/>
          </a:p>
        </p:txBody>
      </p:sp>
      <p:sp>
        <p:nvSpPr>
          <p:cNvPr id="36" name="Text 34"/>
          <p:cNvSpPr/>
          <p:nvPr/>
        </p:nvSpPr>
        <p:spPr>
          <a:xfrm>
            <a:off x="8915400" y="6375400"/>
            <a:ext cx="2159000" cy="254000"/>
          </a:xfrm>
          <a:prstGeom prst="rect">
            <a:avLst/>
          </a:prstGeom>
          <a:noFill/>
          <a:ln/>
        </p:spPr>
        <p:txBody>
          <a:bodyPr wrap="square" lIns="0" tIns="0" rIns="0" bIns="0" rtlCol="0" anchor="ctr"/>
          <a:lstStyle/>
          <a:p>
            <a:pPr>
              <a:lnSpc>
                <a:spcPct val="120000"/>
              </a:lnSpc>
            </a:pPr>
            <a:r>
              <a:rPr lang="en-US" sz="1400" dirty="0">
                <a:solidFill>
                  <a:srgbClr val="F7FAFC"/>
                </a:solidFill>
                <a:latin typeface="MiSans" pitchFamily="34" charset="0"/>
                <a:ea typeface="MiSans" pitchFamily="34" charset="-122"/>
                <a:cs typeface="MiSans" pitchFamily="34" charset="-120"/>
              </a:rPr>
              <a:t>为"批流一体"提供落地基础</a:t>
            </a:r>
            <a:endParaRPr lang="en-US" sz="1600" dirty="0"/>
          </a:p>
        </p:txBody>
      </p:sp>
      <p:sp>
        <p:nvSpPr>
          <p:cNvPr id="37" name="Shape 35"/>
          <p:cNvSpPr/>
          <p:nvPr/>
        </p:nvSpPr>
        <p:spPr>
          <a:xfrm>
            <a:off x="508000" y="7467600"/>
            <a:ext cx="15240000" cy="1066800"/>
          </a:xfrm>
          <a:custGeom>
            <a:avLst/>
            <a:gdLst/>
            <a:ahLst/>
            <a:cxnLst/>
            <a:rect l="l" t="t" r="r" b="b"/>
            <a:pathLst>
              <a:path w="15240000" h="1066800">
                <a:moveTo>
                  <a:pt x="101602" y="0"/>
                </a:moveTo>
                <a:lnTo>
                  <a:pt x="15138398" y="0"/>
                </a:lnTo>
                <a:cubicBezTo>
                  <a:pt x="15194511" y="0"/>
                  <a:pt x="15240000" y="45489"/>
                  <a:pt x="15240000" y="101602"/>
                </a:cubicBezTo>
                <a:lnTo>
                  <a:pt x="15240000" y="965198"/>
                </a:lnTo>
                <a:cubicBezTo>
                  <a:pt x="15240000" y="1021311"/>
                  <a:pt x="15194511" y="1066800"/>
                  <a:pt x="15138398" y="1066800"/>
                </a:cubicBezTo>
                <a:lnTo>
                  <a:pt x="101602" y="1066800"/>
                </a:lnTo>
                <a:cubicBezTo>
                  <a:pt x="45489" y="1066800"/>
                  <a:pt x="0" y="1021311"/>
                  <a:pt x="0" y="965198"/>
                </a:cubicBezTo>
                <a:lnTo>
                  <a:pt x="0" y="101602"/>
                </a:lnTo>
                <a:cubicBezTo>
                  <a:pt x="0" y="45526"/>
                  <a:pt x="45526" y="0"/>
                  <a:pt x="101602" y="0"/>
                </a:cubicBezTo>
                <a:close/>
              </a:path>
            </a:pathLst>
          </a:custGeom>
          <a:solidFill>
            <a:srgbClr val="4A5568">
              <a:alpha val="30196"/>
            </a:srgbClr>
          </a:solidFill>
          <a:ln/>
        </p:spPr>
        <p:txBody>
          <a:bodyPr/>
          <a:lstStyle/>
          <a:p>
            <a:endParaRPr lang="zh-CN" altLang="en-US"/>
          </a:p>
        </p:txBody>
      </p:sp>
      <p:sp>
        <p:nvSpPr>
          <p:cNvPr id="38" name="Text 36"/>
          <p:cNvSpPr/>
          <p:nvPr/>
        </p:nvSpPr>
        <p:spPr>
          <a:xfrm>
            <a:off x="711200" y="7670800"/>
            <a:ext cx="14935200" cy="660400"/>
          </a:xfrm>
          <a:prstGeom prst="rect">
            <a:avLst/>
          </a:prstGeom>
          <a:noFill/>
          <a:ln/>
        </p:spPr>
        <p:txBody>
          <a:bodyPr wrap="square" lIns="0" tIns="0" rIns="0" bIns="0" rtlCol="0" anchor="ctr"/>
          <a:lstStyle/>
          <a:p>
            <a:pPr>
              <a:lnSpc>
                <a:spcPct val="140000"/>
              </a:lnSpc>
            </a:pPr>
            <a:r>
              <a:rPr lang="en-US" sz="1600" b="1" dirty="0">
                <a:solidFill>
                  <a:srgbClr val="4FD1C5"/>
                </a:solidFill>
                <a:latin typeface="MiSans" pitchFamily="34" charset="0"/>
                <a:ea typeface="MiSans" pitchFamily="34" charset="-122"/>
                <a:cs typeface="MiSans" pitchFamily="34" charset="-120"/>
              </a:rPr>
              <a:t>核心洞察：</a:t>
            </a:r>
            <a:r>
              <a:rPr lang="en-US" sz="1600" dirty="0">
                <a:solidFill>
                  <a:srgbClr val="F7FAFC"/>
                </a:solidFill>
                <a:latin typeface="MiSans" pitchFamily="34" charset="0"/>
                <a:ea typeface="MiSans" pitchFamily="34" charset="-122"/>
                <a:cs typeface="MiSans" pitchFamily="34" charset="-120"/>
              </a:rPr>
              <a:t>Table Format通过在文件系统之上构建一层标准化的表管理能力,既保留数据湖的低成本和开放性,又为上层计算引擎屏蔽底层存储的复杂性,并在事务、一致性和时效性之间寻求更好的平衡。</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02C"/>
        </a:solidFill>
        <a:effectLst/>
      </p:bgPr>
    </p:bg>
    <p:spTree>
      <p:nvGrpSpPr>
        <p:cNvPr id="1" name=""/>
        <p:cNvGrpSpPr/>
        <p:nvPr/>
      </p:nvGrpSpPr>
      <p:grpSpPr>
        <a:xfrm>
          <a:off x="0" y="0"/>
          <a:ext cx="0" cy="0"/>
          <a:chOff x="0" y="0"/>
          <a:chExt cx="0" cy="0"/>
        </a:xfrm>
      </p:grpSpPr>
      <p:sp>
        <p:nvSpPr>
          <p:cNvPr id="4" name="Shape 1"/>
          <p:cNvSpPr/>
          <p:nvPr/>
        </p:nvSpPr>
        <p:spPr>
          <a:xfrm>
            <a:off x="514350" y="2597150"/>
            <a:ext cx="2603500" cy="723900"/>
          </a:xfrm>
          <a:custGeom>
            <a:avLst/>
            <a:gdLst/>
            <a:ahLst/>
            <a:cxnLst/>
            <a:rect l="l" t="t" r="r" b="b"/>
            <a:pathLst>
              <a:path w="2603500" h="723900">
                <a:moveTo>
                  <a:pt x="101599" y="0"/>
                </a:moveTo>
                <a:lnTo>
                  <a:pt x="2501901" y="0"/>
                </a:lnTo>
                <a:cubicBezTo>
                  <a:pt x="2558012" y="0"/>
                  <a:pt x="2603500" y="45488"/>
                  <a:pt x="2603500" y="101599"/>
                </a:cubicBezTo>
                <a:lnTo>
                  <a:pt x="2603500" y="622301"/>
                </a:lnTo>
                <a:cubicBezTo>
                  <a:pt x="2603500" y="678412"/>
                  <a:pt x="2558012" y="723900"/>
                  <a:pt x="2501901" y="723900"/>
                </a:cubicBezTo>
                <a:lnTo>
                  <a:pt x="101599" y="723900"/>
                </a:lnTo>
                <a:cubicBezTo>
                  <a:pt x="45488" y="723900"/>
                  <a:pt x="0" y="678412"/>
                  <a:pt x="0" y="622301"/>
                </a:cubicBezTo>
                <a:lnTo>
                  <a:pt x="0" y="101599"/>
                </a:lnTo>
                <a:cubicBezTo>
                  <a:pt x="0" y="45488"/>
                  <a:pt x="45488" y="0"/>
                  <a:pt x="101599" y="0"/>
                </a:cubicBezTo>
                <a:close/>
              </a:path>
            </a:pathLst>
          </a:custGeom>
          <a:solidFill>
            <a:srgbClr val="4FD1C5">
              <a:alpha val="20000"/>
            </a:srgbClr>
          </a:solidFill>
          <a:ln w="12700">
            <a:solidFill>
              <a:srgbClr val="4FD1C5"/>
            </a:solidFill>
            <a:prstDash val="solid"/>
          </a:ln>
        </p:spPr>
        <p:txBody>
          <a:bodyPr/>
          <a:lstStyle/>
          <a:p>
            <a:endParaRPr lang="zh-CN" altLang="en-US"/>
          </a:p>
        </p:txBody>
      </p:sp>
      <p:sp>
        <p:nvSpPr>
          <p:cNvPr id="5" name="Text 2"/>
          <p:cNvSpPr/>
          <p:nvPr/>
        </p:nvSpPr>
        <p:spPr>
          <a:xfrm>
            <a:off x="825500" y="2755900"/>
            <a:ext cx="2136080" cy="406400"/>
          </a:xfrm>
          <a:prstGeom prst="rect">
            <a:avLst/>
          </a:prstGeom>
          <a:noFill/>
          <a:ln/>
        </p:spPr>
        <p:txBody>
          <a:bodyPr wrap="square" lIns="0" tIns="0" rIns="0" bIns="0" rtlCol="0" anchor="ctr"/>
          <a:lstStyle/>
          <a:p>
            <a:pPr>
              <a:lnSpc>
                <a:spcPct val="110000"/>
              </a:lnSpc>
            </a:pPr>
            <a:r>
              <a:rPr lang="en-US" sz="2400" b="1" kern="0" spc="120" dirty="0">
                <a:solidFill>
                  <a:srgbClr val="4FD1C5"/>
                </a:solidFill>
                <a:latin typeface="MiSans" pitchFamily="34" charset="0"/>
                <a:ea typeface="MiSans" pitchFamily="34" charset="-122"/>
                <a:cs typeface="MiSans" pitchFamily="34" charset="-120"/>
              </a:rPr>
              <a:t>CHAPTER 04</a:t>
            </a:r>
            <a:endParaRPr lang="en-US" sz="1600" dirty="0"/>
          </a:p>
        </p:txBody>
      </p:sp>
      <p:sp>
        <p:nvSpPr>
          <p:cNvPr id="6" name="Text 3"/>
          <p:cNvSpPr/>
          <p:nvPr/>
        </p:nvSpPr>
        <p:spPr>
          <a:xfrm>
            <a:off x="508000" y="3733800"/>
            <a:ext cx="15697200" cy="1143000"/>
          </a:xfrm>
          <a:prstGeom prst="rect">
            <a:avLst/>
          </a:prstGeom>
          <a:noFill/>
          <a:ln/>
        </p:spPr>
        <p:txBody>
          <a:bodyPr wrap="square" lIns="0" tIns="0" rIns="0" bIns="0" rtlCol="0" anchor="ctr"/>
          <a:lstStyle/>
          <a:p>
            <a:pPr>
              <a:lnSpc>
                <a:spcPct val="100000"/>
              </a:lnSpc>
            </a:pPr>
            <a:r>
              <a:rPr lang="en-US" sz="7200" b="1" dirty="0">
                <a:solidFill>
                  <a:srgbClr val="F7FAFC"/>
                </a:solidFill>
                <a:latin typeface="Noto Sans SC" pitchFamily="34" charset="0"/>
                <a:ea typeface="Noto Sans SC" pitchFamily="34" charset="-122"/>
                <a:cs typeface="Noto Sans SC" pitchFamily="34" charset="-120"/>
              </a:rPr>
              <a:t>核心机制剖析</a:t>
            </a:r>
            <a:endParaRPr lang="en-US" sz="1600" dirty="0"/>
          </a:p>
        </p:txBody>
      </p:sp>
      <p:sp>
        <p:nvSpPr>
          <p:cNvPr id="7" name="Text 4"/>
          <p:cNvSpPr/>
          <p:nvPr/>
        </p:nvSpPr>
        <p:spPr>
          <a:xfrm>
            <a:off x="508000" y="5181600"/>
            <a:ext cx="15430500" cy="457200"/>
          </a:xfrm>
          <a:prstGeom prst="rect">
            <a:avLst/>
          </a:prstGeom>
          <a:noFill/>
          <a:ln/>
        </p:spPr>
        <p:txBody>
          <a:bodyPr wrap="square" lIns="0" tIns="0" rIns="0" bIns="0" rtlCol="0" anchor="ctr"/>
          <a:lstStyle/>
          <a:p>
            <a:pPr>
              <a:lnSpc>
                <a:spcPct val="100000"/>
              </a:lnSpc>
            </a:pPr>
            <a:r>
              <a:rPr lang="en-US" sz="3000" dirty="0">
                <a:solidFill>
                  <a:srgbClr val="A0AEC0"/>
                </a:solidFill>
                <a:latin typeface="MiSans" pitchFamily="34" charset="0"/>
                <a:ea typeface="MiSans" pitchFamily="34" charset="-122"/>
                <a:cs typeface="MiSans" pitchFamily="34" charset="-120"/>
              </a:rPr>
              <a:t>以Apache Iceberg为例深入内部实现</a:t>
            </a:r>
            <a:endParaRPr lang="en-US" sz="1600" dirty="0"/>
          </a:p>
        </p:txBody>
      </p:sp>
      <p:sp>
        <p:nvSpPr>
          <p:cNvPr id="8" name="Shape 5"/>
          <p:cNvSpPr/>
          <p:nvPr/>
        </p:nvSpPr>
        <p:spPr>
          <a:xfrm>
            <a:off x="508000" y="6045200"/>
            <a:ext cx="1625600" cy="508000"/>
          </a:xfrm>
          <a:custGeom>
            <a:avLst/>
            <a:gdLst/>
            <a:ahLst/>
            <a:cxnLst/>
            <a:rect l="l" t="t" r="r" b="b"/>
            <a:pathLst>
              <a:path w="1625600" h="508000">
                <a:moveTo>
                  <a:pt x="101600" y="0"/>
                </a:moveTo>
                <a:lnTo>
                  <a:pt x="1524000" y="0"/>
                </a:lnTo>
                <a:cubicBezTo>
                  <a:pt x="1580075" y="0"/>
                  <a:pt x="1625600" y="45525"/>
                  <a:pt x="1625600" y="101600"/>
                </a:cubicBezTo>
                <a:lnTo>
                  <a:pt x="1625600" y="406400"/>
                </a:lnTo>
                <a:cubicBezTo>
                  <a:pt x="1625600" y="462475"/>
                  <a:pt x="1580075" y="508000"/>
                  <a:pt x="15240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9" name="Text 6"/>
          <p:cNvSpPr/>
          <p:nvPr/>
        </p:nvSpPr>
        <p:spPr>
          <a:xfrm>
            <a:off x="711200" y="6165850"/>
            <a:ext cx="13208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元数据层设计</a:t>
            </a:r>
            <a:endParaRPr lang="en-US" sz="1600" dirty="0"/>
          </a:p>
        </p:txBody>
      </p:sp>
      <p:sp>
        <p:nvSpPr>
          <p:cNvPr id="10" name="Shape 7"/>
          <p:cNvSpPr/>
          <p:nvPr/>
        </p:nvSpPr>
        <p:spPr>
          <a:xfrm>
            <a:off x="23368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1" name="Text 8"/>
          <p:cNvSpPr/>
          <p:nvPr/>
        </p:nvSpPr>
        <p:spPr>
          <a:xfrm>
            <a:off x="25400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读写原理</a:t>
            </a:r>
            <a:endParaRPr lang="en-US" sz="1600" dirty="0"/>
          </a:p>
        </p:txBody>
      </p:sp>
      <p:sp>
        <p:nvSpPr>
          <p:cNvPr id="12" name="Shape 9"/>
          <p:cNvSpPr/>
          <p:nvPr/>
        </p:nvSpPr>
        <p:spPr>
          <a:xfrm>
            <a:off x="37592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3" name="Text 10"/>
          <p:cNvSpPr/>
          <p:nvPr/>
        </p:nvSpPr>
        <p:spPr>
          <a:xfrm>
            <a:off x="39624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时间旅行</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57271" y="457271"/>
            <a:ext cx="1977699" cy="274363"/>
          </a:xfrm>
          <a:prstGeom prst="rect">
            <a:avLst/>
          </a:prstGeom>
          <a:noFill/>
          <a:ln/>
        </p:spPr>
        <p:txBody>
          <a:bodyPr wrap="square" lIns="0" tIns="0" rIns="0" bIns="0" rtlCol="0" anchor="ctr"/>
          <a:lstStyle/>
          <a:p>
            <a:pPr>
              <a:lnSpc>
                <a:spcPct val="130000"/>
              </a:lnSpc>
            </a:pPr>
            <a:r>
              <a:rPr lang="en-US" sz="1440" b="1" kern="0" spc="72" dirty="0">
                <a:solidFill>
                  <a:srgbClr val="4FD1C5"/>
                </a:solidFill>
                <a:latin typeface="MiSans" pitchFamily="34" charset="0"/>
                <a:ea typeface="MiSans" pitchFamily="34" charset="-122"/>
                <a:cs typeface="MiSans" pitchFamily="34" charset="-120"/>
              </a:rPr>
              <a:t>CORE MECHANISMS</a:t>
            </a:r>
            <a:endParaRPr lang="en-US" sz="1600" dirty="0"/>
          </a:p>
        </p:txBody>
      </p:sp>
      <p:sp>
        <p:nvSpPr>
          <p:cNvPr id="3" name="Text 1"/>
          <p:cNvSpPr/>
          <p:nvPr/>
        </p:nvSpPr>
        <p:spPr>
          <a:xfrm>
            <a:off x="457271" y="823089"/>
            <a:ext cx="15547229" cy="457271"/>
          </a:xfrm>
          <a:prstGeom prst="rect">
            <a:avLst/>
          </a:prstGeom>
          <a:noFill/>
          <a:ln/>
        </p:spPr>
        <p:txBody>
          <a:bodyPr wrap="square" lIns="0" tIns="0" rIns="0" bIns="0" rtlCol="0" anchor="ctr"/>
          <a:lstStyle/>
          <a:p>
            <a:pPr>
              <a:lnSpc>
                <a:spcPct val="90000"/>
              </a:lnSpc>
            </a:pPr>
            <a:r>
              <a:rPr lang="en-US" sz="3241" b="1" dirty="0">
                <a:solidFill>
                  <a:srgbClr val="F7FAFC"/>
                </a:solidFill>
                <a:latin typeface="Noto Sans SC" pitchFamily="34" charset="0"/>
                <a:ea typeface="Noto Sans SC" pitchFamily="34" charset="-122"/>
                <a:cs typeface="Noto Sans SC" pitchFamily="34" charset="-120"/>
              </a:rPr>
              <a:t>元数据层设计：五层架构</a:t>
            </a:r>
            <a:endParaRPr lang="en-US" sz="1600" dirty="0"/>
          </a:p>
        </p:txBody>
      </p:sp>
      <p:sp>
        <p:nvSpPr>
          <p:cNvPr id="4" name="Shape 2"/>
          <p:cNvSpPr/>
          <p:nvPr/>
        </p:nvSpPr>
        <p:spPr>
          <a:xfrm>
            <a:off x="457271" y="1417541"/>
            <a:ext cx="914543" cy="45727"/>
          </a:xfrm>
          <a:custGeom>
            <a:avLst/>
            <a:gdLst/>
            <a:ahLst/>
            <a:cxnLst/>
            <a:rect l="l" t="t" r="r" b="b"/>
            <a:pathLst>
              <a:path w="914543" h="45727">
                <a:moveTo>
                  <a:pt x="0" y="0"/>
                </a:moveTo>
                <a:lnTo>
                  <a:pt x="914543" y="0"/>
                </a:lnTo>
                <a:lnTo>
                  <a:pt x="914543" y="45727"/>
                </a:lnTo>
                <a:lnTo>
                  <a:pt x="0" y="45727"/>
                </a:lnTo>
                <a:lnTo>
                  <a:pt x="0" y="0"/>
                </a:lnTo>
                <a:close/>
              </a:path>
            </a:pathLst>
          </a:custGeom>
          <a:solidFill>
            <a:srgbClr val="4FD1C5"/>
          </a:solidFill>
          <a:ln/>
        </p:spPr>
        <p:txBody>
          <a:bodyPr/>
          <a:lstStyle/>
          <a:p>
            <a:endParaRPr lang="zh-CN" altLang="en-US"/>
          </a:p>
        </p:txBody>
      </p:sp>
      <p:sp>
        <p:nvSpPr>
          <p:cNvPr id="5" name="Shape 3"/>
          <p:cNvSpPr/>
          <p:nvPr/>
        </p:nvSpPr>
        <p:spPr>
          <a:xfrm>
            <a:off x="457271" y="1691904"/>
            <a:ext cx="9111134" cy="6767617"/>
          </a:xfrm>
          <a:custGeom>
            <a:avLst/>
            <a:gdLst/>
            <a:ahLst/>
            <a:cxnLst/>
            <a:rect l="l" t="t" r="r" b="b"/>
            <a:pathLst>
              <a:path w="9111134" h="6767617">
                <a:moveTo>
                  <a:pt x="91431" y="0"/>
                </a:moveTo>
                <a:lnTo>
                  <a:pt x="9019703" y="0"/>
                </a:lnTo>
                <a:cubicBezTo>
                  <a:pt x="9070199" y="0"/>
                  <a:pt x="9111134" y="40935"/>
                  <a:pt x="9111134" y="91431"/>
                </a:cubicBezTo>
                <a:lnTo>
                  <a:pt x="9111134" y="6676187"/>
                </a:lnTo>
                <a:cubicBezTo>
                  <a:pt x="9111134" y="6726683"/>
                  <a:pt x="9070199" y="6767617"/>
                  <a:pt x="9019703" y="6767617"/>
                </a:cubicBezTo>
                <a:lnTo>
                  <a:pt x="91431" y="6767617"/>
                </a:lnTo>
                <a:cubicBezTo>
                  <a:pt x="40935" y="6767617"/>
                  <a:pt x="0" y="6726683"/>
                  <a:pt x="0" y="6676187"/>
                </a:cubicBezTo>
                <a:lnTo>
                  <a:pt x="0" y="91431"/>
                </a:lnTo>
                <a:cubicBezTo>
                  <a:pt x="0" y="40969"/>
                  <a:pt x="40969" y="0"/>
                  <a:pt x="91431" y="0"/>
                </a:cubicBezTo>
                <a:close/>
              </a:path>
            </a:pathLst>
          </a:custGeom>
          <a:solidFill>
            <a:srgbClr val="4A5568">
              <a:alpha val="30196"/>
            </a:srgbClr>
          </a:solidFill>
          <a:ln/>
        </p:spPr>
        <p:txBody>
          <a:bodyPr/>
          <a:lstStyle/>
          <a:p>
            <a:endParaRPr lang="zh-CN" altLang="en-US"/>
          </a:p>
        </p:txBody>
      </p:sp>
      <p:sp>
        <p:nvSpPr>
          <p:cNvPr id="6" name="Text 4"/>
          <p:cNvSpPr/>
          <p:nvPr/>
        </p:nvSpPr>
        <p:spPr>
          <a:xfrm>
            <a:off x="685907" y="1920540"/>
            <a:ext cx="8768180" cy="320090"/>
          </a:xfrm>
          <a:prstGeom prst="rect">
            <a:avLst/>
          </a:prstGeom>
          <a:noFill/>
          <a:ln/>
        </p:spPr>
        <p:txBody>
          <a:bodyPr wrap="square" lIns="0" tIns="0" rIns="0" bIns="0" rtlCol="0" anchor="ctr"/>
          <a:lstStyle/>
          <a:p>
            <a:pPr>
              <a:lnSpc>
                <a:spcPct val="120000"/>
              </a:lnSpc>
            </a:pPr>
            <a:r>
              <a:rPr lang="en-US" sz="1800" b="1" dirty="0">
                <a:solidFill>
                  <a:srgbClr val="4FD1C5"/>
                </a:solidFill>
                <a:latin typeface="Noto Sans SC" pitchFamily="34" charset="0"/>
                <a:ea typeface="Noto Sans SC" pitchFamily="34" charset="-122"/>
                <a:cs typeface="Noto Sans SC" pitchFamily="34" charset="-120"/>
              </a:rPr>
              <a:t>Iceberg元数据层级关系</a:t>
            </a:r>
            <a:endParaRPr lang="en-US" sz="1600" dirty="0"/>
          </a:p>
        </p:txBody>
      </p:sp>
      <p:sp>
        <p:nvSpPr>
          <p:cNvPr id="7" name="Shape 5"/>
          <p:cNvSpPr/>
          <p:nvPr/>
        </p:nvSpPr>
        <p:spPr>
          <a:xfrm>
            <a:off x="685907" y="2423539"/>
            <a:ext cx="548726" cy="548726"/>
          </a:xfrm>
          <a:custGeom>
            <a:avLst/>
            <a:gdLst/>
            <a:ahLst/>
            <a:cxnLst/>
            <a:rect l="l" t="t" r="r" b="b"/>
            <a:pathLst>
              <a:path w="548726" h="548726">
                <a:moveTo>
                  <a:pt x="91456" y="0"/>
                </a:moveTo>
                <a:lnTo>
                  <a:pt x="457270" y="0"/>
                </a:lnTo>
                <a:cubicBezTo>
                  <a:pt x="507779" y="0"/>
                  <a:pt x="548726" y="40946"/>
                  <a:pt x="548726" y="91456"/>
                </a:cubicBezTo>
                <a:lnTo>
                  <a:pt x="548726" y="457270"/>
                </a:lnTo>
                <a:cubicBezTo>
                  <a:pt x="548726" y="507779"/>
                  <a:pt x="507779" y="548726"/>
                  <a:pt x="457270" y="548726"/>
                </a:cubicBezTo>
                <a:lnTo>
                  <a:pt x="91456" y="548726"/>
                </a:lnTo>
                <a:cubicBezTo>
                  <a:pt x="40946" y="548726"/>
                  <a:pt x="0" y="507779"/>
                  <a:pt x="0" y="457270"/>
                </a:cubicBezTo>
                <a:lnTo>
                  <a:pt x="0" y="91456"/>
                </a:lnTo>
                <a:cubicBezTo>
                  <a:pt x="0" y="40980"/>
                  <a:pt x="40980" y="0"/>
                  <a:pt x="91456" y="0"/>
                </a:cubicBezTo>
                <a:close/>
              </a:path>
            </a:pathLst>
          </a:custGeom>
          <a:solidFill>
            <a:srgbClr val="4FD1C5"/>
          </a:solidFill>
          <a:ln/>
        </p:spPr>
        <p:txBody>
          <a:bodyPr/>
          <a:lstStyle/>
          <a:p>
            <a:endParaRPr lang="zh-CN" altLang="en-US"/>
          </a:p>
        </p:txBody>
      </p:sp>
      <p:sp>
        <p:nvSpPr>
          <p:cNvPr id="8" name="Shape 6"/>
          <p:cNvSpPr/>
          <p:nvPr/>
        </p:nvSpPr>
        <p:spPr>
          <a:xfrm>
            <a:off x="874532" y="2583584"/>
            <a:ext cx="171477" cy="228636"/>
          </a:xfrm>
          <a:custGeom>
            <a:avLst/>
            <a:gdLst/>
            <a:ahLst/>
            <a:cxnLst/>
            <a:rect l="l" t="t" r="r" b="b"/>
            <a:pathLst>
              <a:path w="171477" h="228636">
                <a:moveTo>
                  <a:pt x="28579" y="0"/>
                </a:moveTo>
                <a:cubicBezTo>
                  <a:pt x="12816" y="0"/>
                  <a:pt x="0" y="12816"/>
                  <a:pt x="0" y="28579"/>
                </a:cubicBezTo>
                <a:lnTo>
                  <a:pt x="0" y="214346"/>
                </a:lnTo>
                <a:cubicBezTo>
                  <a:pt x="0" y="219481"/>
                  <a:pt x="2769" y="224259"/>
                  <a:pt x="7234" y="226760"/>
                </a:cubicBezTo>
                <a:cubicBezTo>
                  <a:pt x="11700" y="229261"/>
                  <a:pt x="17192" y="229216"/>
                  <a:pt x="21613" y="226582"/>
                </a:cubicBezTo>
                <a:lnTo>
                  <a:pt x="85738" y="188133"/>
                </a:lnTo>
                <a:lnTo>
                  <a:pt x="149819" y="226582"/>
                </a:lnTo>
                <a:cubicBezTo>
                  <a:pt x="154240" y="229216"/>
                  <a:pt x="159732" y="229306"/>
                  <a:pt x="164198" y="226760"/>
                </a:cubicBezTo>
                <a:cubicBezTo>
                  <a:pt x="168664" y="224215"/>
                  <a:pt x="171477" y="219481"/>
                  <a:pt x="171477" y="214346"/>
                </a:cubicBezTo>
                <a:lnTo>
                  <a:pt x="171477" y="28579"/>
                </a:lnTo>
                <a:cubicBezTo>
                  <a:pt x="171477" y="12816"/>
                  <a:pt x="158661" y="0"/>
                  <a:pt x="142897" y="0"/>
                </a:cubicBezTo>
                <a:lnTo>
                  <a:pt x="28579" y="0"/>
                </a:lnTo>
                <a:close/>
              </a:path>
            </a:pathLst>
          </a:custGeom>
          <a:solidFill>
            <a:srgbClr val="1A202C"/>
          </a:solidFill>
          <a:ln/>
        </p:spPr>
        <p:txBody>
          <a:bodyPr/>
          <a:lstStyle/>
          <a:p>
            <a:endParaRPr lang="zh-CN" altLang="en-US"/>
          </a:p>
        </p:txBody>
      </p:sp>
      <p:sp>
        <p:nvSpPr>
          <p:cNvPr id="9" name="Text 7"/>
          <p:cNvSpPr/>
          <p:nvPr/>
        </p:nvSpPr>
        <p:spPr>
          <a:xfrm>
            <a:off x="1371814" y="2446402"/>
            <a:ext cx="8059409" cy="274363"/>
          </a:xfrm>
          <a:prstGeom prst="rect">
            <a:avLst/>
          </a:prstGeom>
          <a:noFill/>
          <a:ln/>
        </p:spPr>
        <p:txBody>
          <a:bodyPr wrap="square" lIns="0" tIns="0" rIns="0" bIns="0" rtlCol="0" anchor="ctr"/>
          <a:lstStyle/>
          <a:p>
            <a:pPr>
              <a:lnSpc>
                <a:spcPct val="130000"/>
              </a:lnSpc>
            </a:pPr>
            <a:r>
              <a:rPr lang="en-US" sz="1440" b="1" dirty="0">
                <a:solidFill>
                  <a:srgbClr val="F7FAFC"/>
                </a:solidFill>
                <a:latin typeface="MiSans" pitchFamily="34" charset="0"/>
                <a:ea typeface="MiSans" pitchFamily="34" charset="-122"/>
                <a:cs typeface="MiSans" pitchFamily="34" charset="-120"/>
              </a:rPr>
              <a:t>Catalog</a:t>
            </a:r>
            <a:endParaRPr lang="en-US" sz="1600" dirty="0"/>
          </a:p>
        </p:txBody>
      </p:sp>
      <p:sp>
        <p:nvSpPr>
          <p:cNvPr id="10" name="Text 8"/>
          <p:cNvSpPr/>
          <p:nvPr/>
        </p:nvSpPr>
        <p:spPr>
          <a:xfrm>
            <a:off x="1371814" y="2720765"/>
            <a:ext cx="8047977" cy="228636"/>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指向当前Metadata File的指针</a:t>
            </a:r>
            <a:endParaRPr lang="en-US" sz="1600" dirty="0"/>
          </a:p>
        </p:txBody>
      </p:sp>
      <p:sp>
        <p:nvSpPr>
          <p:cNvPr id="11" name="Shape 9"/>
          <p:cNvSpPr/>
          <p:nvPr/>
        </p:nvSpPr>
        <p:spPr>
          <a:xfrm>
            <a:off x="883106" y="3017992"/>
            <a:ext cx="154329" cy="205772"/>
          </a:xfrm>
          <a:custGeom>
            <a:avLst/>
            <a:gdLst/>
            <a:ahLst/>
            <a:cxnLst/>
            <a:rect l="l" t="t" r="r" b="b"/>
            <a:pathLst>
              <a:path w="154329" h="205772">
                <a:moveTo>
                  <a:pt x="68082" y="201994"/>
                </a:moveTo>
                <a:cubicBezTo>
                  <a:pt x="73105" y="207018"/>
                  <a:pt x="81264" y="207018"/>
                  <a:pt x="86288" y="201994"/>
                </a:cubicBezTo>
                <a:lnTo>
                  <a:pt x="150591" y="137691"/>
                </a:lnTo>
                <a:cubicBezTo>
                  <a:pt x="155615" y="132667"/>
                  <a:pt x="155615" y="124508"/>
                  <a:pt x="150591" y="119484"/>
                </a:cubicBezTo>
                <a:cubicBezTo>
                  <a:pt x="145568" y="114461"/>
                  <a:pt x="137409" y="114461"/>
                  <a:pt x="132385" y="119484"/>
                </a:cubicBezTo>
                <a:lnTo>
                  <a:pt x="90025" y="161845"/>
                </a:lnTo>
                <a:lnTo>
                  <a:pt x="90025" y="12861"/>
                </a:lnTo>
                <a:cubicBezTo>
                  <a:pt x="90025" y="5747"/>
                  <a:pt x="84278" y="0"/>
                  <a:pt x="77165" y="0"/>
                </a:cubicBezTo>
                <a:cubicBezTo>
                  <a:pt x="70051" y="0"/>
                  <a:pt x="64304" y="5747"/>
                  <a:pt x="64304" y="12861"/>
                </a:cubicBezTo>
                <a:lnTo>
                  <a:pt x="64304" y="161845"/>
                </a:lnTo>
                <a:lnTo>
                  <a:pt x="21944" y="119484"/>
                </a:lnTo>
                <a:cubicBezTo>
                  <a:pt x="16920" y="114461"/>
                  <a:pt x="8761" y="114461"/>
                  <a:pt x="3738" y="119484"/>
                </a:cubicBezTo>
                <a:cubicBezTo>
                  <a:pt x="-1286" y="124508"/>
                  <a:pt x="-1286" y="132667"/>
                  <a:pt x="3738" y="137691"/>
                </a:cubicBezTo>
                <a:lnTo>
                  <a:pt x="68041" y="201994"/>
                </a:lnTo>
                <a:close/>
              </a:path>
            </a:pathLst>
          </a:custGeom>
          <a:solidFill>
            <a:srgbClr val="4FD1C5"/>
          </a:solidFill>
          <a:ln/>
        </p:spPr>
        <p:txBody>
          <a:bodyPr/>
          <a:lstStyle/>
          <a:p>
            <a:endParaRPr lang="zh-CN" altLang="en-US"/>
          </a:p>
        </p:txBody>
      </p:sp>
      <p:sp>
        <p:nvSpPr>
          <p:cNvPr id="12" name="Shape 10"/>
          <p:cNvSpPr/>
          <p:nvPr/>
        </p:nvSpPr>
        <p:spPr>
          <a:xfrm>
            <a:off x="685907" y="3269491"/>
            <a:ext cx="548726" cy="548726"/>
          </a:xfrm>
          <a:custGeom>
            <a:avLst/>
            <a:gdLst/>
            <a:ahLst/>
            <a:cxnLst/>
            <a:rect l="l" t="t" r="r" b="b"/>
            <a:pathLst>
              <a:path w="548726" h="548726">
                <a:moveTo>
                  <a:pt x="91456" y="0"/>
                </a:moveTo>
                <a:lnTo>
                  <a:pt x="457270" y="0"/>
                </a:lnTo>
                <a:cubicBezTo>
                  <a:pt x="507779" y="0"/>
                  <a:pt x="548726" y="40946"/>
                  <a:pt x="548726" y="91456"/>
                </a:cubicBezTo>
                <a:lnTo>
                  <a:pt x="548726" y="457270"/>
                </a:lnTo>
                <a:cubicBezTo>
                  <a:pt x="548726" y="507779"/>
                  <a:pt x="507779" y="548726"/>
                  <a:pt x="457270" y="548726"/>
                </a:cubicBezTo>
                <a:lnTo>
                  <a:pt x="91456" y="548726"/>
                </a:lnTo>
                <a:cubicBezTo>
                  <a:pt x="40946" y="548726"/>
                  <a:pt x="0" y="507779"/>
                  <a:pt x="0" y="457270"/>
                </a:cubicBezTo>
                <a:lnTo>
                  <a:pt x="0" y="91456"/>
                </a:lnTo>
                <a:cubicBezTo>
                  <a:pt x="0" y="40980"/>
                  <a:pt x="40980" y="0"/>
                  <a:pt x="91456" y="0"/>
                </a:cubicBezTo>
                <a:close/>
              </a:path>
            </a:pathLst>
          </a:custGeom>
          <a:solidFill>
            <a:srgbClr val="4FD1C5"/>
          </a:solidFill>
          <a:ln/>
        </p:spPr>
        <p:txBody>
          <a:bodyPr/>
          <a:lstStyle/>
          <a:p>
            <a:endParaRPr lang="zh-CN" altLang="en-US"/>
          </a:p>
        </p:txBody>
      </p:sp>
      <p:sp>
        <p:nvSpPr>
          <p:cNvPr id="13" name="Shape 11"/>
          <p:cNvSpPr/>
          <p:nvPr/>
        </p:nvSpPr>
        <p:spPr>
          <a:xfrm>
            <a:off x="874532" y="3429536"/>
            <a:ext cx="171477" cy="228636"/>
          </a:xfrm>
          <a:custGeom>
            <a:avLst/>
            <a:gdLst/>
            <a:ahLst/>
            <a:cxnLst/>
            <a:rect l="l" t="t" r="r" b="b"/>
            <a:pathLst>
              <a:path w="171477" h="228636">
                <a:moveTo>
                  <a:pt x="0" y="28579"/>
                </a:moveTo>
                <a:cubicBezTo>
                  <a:pt x="0" y="12816"/>
                  <a:pt x="12816" y="0"/>
                  <a:pt x="28579" y="0"/>
                </a:cubicBezTo>
                <a:lnTo>
                  <a:pt x="95339" y="0"/>
                </a:lnTo>
                <a:cubicBezTo>
                  <a:pt x="102931" y="0"/>
                  <a:pt x="110210" y="2992"/>
                  <a:pt x="115568" y="8351"/>
                </a:cubicBezTo>
                <a:lnTo>
                  <a:pt x="163126" y="55953"/>
                </a:lnTo>
                <a:cubicBezTo>
                  <a:pt x="168485" y="61312"/>
                  <a:pt x="171477" y="68591"/>
                  <a:pt x="171477" y="76182"/>
                </a:cubicBezTo>
                <a:lnTo>
                  <a:pt x="171477" y="200056"/>
                </a:lnTo>
                <a:cubicBezTo>
                  <a:pt x="171477" y="215820"/>
                  <a:pt x="158661" y="228636"/>
                  <a:pt x="142897" y="228636"/>
                </a:cubicBezTo>
                <a:lnTo>
                  <a:pt x="28579" y="228636"/>
                </a:lnTo>
                <a:cubicBezTo>
                  <a:pt x="12816" y="228636"/>
                  <a:pt x="0" y="215820"/>
                  <a:pt x="0" y="200056"/>
                </a:cubicBezTo>
                <a:lnTo>
                  <a:pt x="0" y="28579"/>
                </a:lnTo>
                <a:close/>
                <a:moveTo>
                  <a:pt x="92883" y="26123"/>
                </a:moveTo>
                <a:lnTo>
                  <a:pt x="92883" y="67876"/>
                </a:lnTo>
                <a:cubicBezTo>
                  <a:pt x="92883" y="73815"/>
                  <a:pt x="97661" y="78594"/>
                  <a:pt x="103601" y="78594"/>
                </a:cubicBezTo>
                <a:lnTo>
                  <a:pt x="145353" y="78594"/>
                </a:lnTo>
                <a:lnTo>
                  <a:pt x="92883" y="26123"/>
                </a:lnTo>
                <a:close/>
                <a:moveTo>
                  <a:pt x="53586" y="114318"/>
                </a:moveTo>
                <a:cubicBezTo>
                  <a:pt x="47647" y="114318"/>
                  <a:pt x="42869" y="119096"/>
                  <a:pt x="42869" y="125035"/>
                </a:cubicBezTo>
                <a:cubicBezTo>
                  <a:pt x="42869" y="130974"/>
                  <a:pt x="47647" y="135752"/>
                  <a:pt x="53586" y="135752"/>
                </a:cubicBezTo>
                <a:lnTo>
                  <a:pt x="117890" y="135752"/>
                </a:lnTo>
                <a:cubicBezTo>
                  <a:pt x="123829" y="135752"/>
                  <a:pt x="128608" y="130974"/>
                  <a:pt x="128608" y="125035"/>
                </a:cubicBezTo>
                <a:cubicBezTo>
                  <a:pt x="128608" y="119096"/>
                  <a:pt x="123829" y="114318"/>
                  <a:pt x="117890" y="114318"/>
                </a:cubicBezTo>
                <a:lnTo>
                  <a:pt x="53586" y="114318"/>
                </a:lnTo>
                <a:close/>
                <a:moveTo>
                  <a:pt x="53586" y="157187"/>
                </a:moveTo>
                <a:cubicBezTo>
                  <a:pt x="47647" y="157187"/>
                  <a:pt x="42869" y="161965"/>
                  <a:pt x="42869" y="167904"/>
                </a:cubicBezTo>
                <a:cubicBezTo>
                  <a:pt x="42869" y="173844"/>
                  <a:pt x="47647" y="178622"/>
                  <a:pt x="53586" y="178622"/>
                </a:cubicBezTo>
                <a:lnTo>
                  <a:pt x="117890" y="178622"/>
                </a:lnTo>
                <a:cubicBezTo>
                  <a:pt x="123829" y="178622"/>
                  <a:pt x="128608" y="173844"/>
                  <a:pt x="128608" y="167904"/>
                </a:cubicBezTo>
                <a:cubicBezTo>
                  <a:pt x="128608" y="161965"/>
                  <a:pt x="123829" y="157187"/>
                  <a:pt x="117890" y="157187"/>
                </a:cubicBezTo>
                <a:lnTo>
                  <a:pt x="53586" y="157187"/>
                </a:lnTo>
                <a:close/>
              </a:path>
            </a:pathLst>
          </a:custGeom>
          <a:solidFill>
            <a:srgbClr val="1A202C"/>
          </a:solidFill>
          <a:ln/>
        </p:spPr>
        <p:txBody>
          <a:bodyPr/>
          <a:lstStyle/>
          <a:p>
            <a:endParaRPr lang="zh-CN" altLang="en-US"/>
          </a:p>
        </p:txBody>
      </p:sp>
      <p:sp>
        <p:nvSpPr>
          <p:cNvPr id="14" name="Text 12"/>
          <p:cNvSpPr/>
          <p:nvPr/>
        </p:nvSpPr>
        <p:spPr>
          <a:xfrm>
            <a:off x="1371814" y="3292354"/>
            <a:ext cx="8059409" cy="274363"/>
          </a:xfrm>
          <a:prstGeom prst="rect">
            <a:avLst/>
          </a:prstGeom>
          <a:noFill/>
          <a:ln/>
        </p:spPr>
        <p:txBody>
          <a:bodyPr wrap="square" lIns="0" tIns="0" rIns="0" bIns="0" rtlCol="0" anchor="ctr"/>
          <a:lstStyle/>
          <a:p>
            <a:pPr>
              <a:lnSpc>
                <a:spcPct val="130000"/>
              </a:lnSpc>
            </a:pPr>
            <a:r>
              <a:rPr lang="en-US" sz="1440" b="1" dirty="0">
                <a:solidFill>
                  <a:srgbClr val="F7FAFC"/>
                </a:solidFill>
                <a:latin typeface="MiSans" pitchFamily="34" charset="0"/>
                <a:ea typeface="MiSans" pitchFamily="34" charset="-122"/>
                <a:cs typeface="MiSans" pitchFamily="34" charset="-120"/>
              </a:rPr>
              <a:t>Metadata File</a:t>
            </a:r>
            <a:endParaRPr lang="en-US" sz="1600" dirty="0"/>
          </a:p>
        </p:txBody>
      </p:sp>
      <p:sp>
        <p:nvSpPr>
          <p:cNvPr id="15" name="Text 13"/>
          <p:cNvSpPr/>
          <p:nvPr/>
        </p:nvSpPr>
        <p:spPr>
          <a:xfrm>
            <a:off x="1371814" y="3566717"/>
            <a:ext cx="8047977" cy="228636"/>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表定义 + Snapshot列表</a:t>
            </a:r>
            <a:endParaRPr lang="en-US" sz="1600" dirty="0"/>
          </a:p>
        </p:txBody>
      </p:sp>
      <p:sp>
        <p:nvSpPr>
          <p:cNvPr id="16" name="Shape 14"/>
          <p:cNvSpPr/>
          <p:nvPr/>
        </p:nvSpPr>
        <p:spPr>
          <a:xfrm>
            <a:off x="883106" y="3863944"/>
            <a:ext cx="154329" cy="205772"/>
          </a:xfrm>
          <a:custGeom>
            <a:avLst/>
            <a:gdLst/>
            <a:ahLst/>
            <a:cxnLst/>
            <a:rect l="l" t="t" r="r" b="b"/>
            <a:pathLst>
              <a:path w="154329" h="205772">
                <a:moveTo>
                  <a:pt x="68082" y="201994"/>
                </a:moveTo>
                <a:cubicBezTo>
                  <a:pt x="73105" y="207018"/>
                  <a:pt x="81264" y="207018"/>
                  <a:pt x="86288" y="201994"/>
                </a:cubicBezTo>
                <a:lnTo>
                  <a:pt x="150591" y="137691"/>
                </a:lnTo>
                <a:cubicBezTo>
                  <a:pt x="155615" y="132667"/>
                  <a:pt x="155615" y="124508"/>
                  <a:pt x="150591" y="119484"/>
                </a:cubicBezTo>
                <a:cubicBezTo>
                  <a:pt x="145568" y="114461"/>
                  <a:pt x="137409" y="114461"/>
                  <a:pt x="132385" y="119484"/>
                </a:cubicBezTo>
                <a:lnTo>
                  <a:pt x="90025" y="161845"/>
                </a:lnTo>
                <a:lnTo>
                  <a:pt x="90025" y="12861"/>
                </a:lnTo>
                <a:cubicBezTo>
                  <a:pt x="90025" y="5747"/>
                  <a:pt x="84278" y="0"/>
                  <a:pt x="77165" y="0"/>
                </a:cubicBezTo>
                <a:cubicBezTo>
                  <a:pt x="70051" y="0"/>
                  <a:pt x="64304" y="5747"/>
                  <a:pt x="64304" y="12861"/>
                </a:cubicBezTo>
                <a:lnTo>
                  <a:pt x="64304" y="161845"/>
                </a:lnTo>
                <a:lnTo>
                  <a:pt x="21944" y="119484"/>
                </a:lnTo>
                <a:cubicBezTo>
                  <a:pt x="16920" y="114461"/>
                  <a:pt x="8761" y="114461"/>
                  <a:pt x="3738" y="119484"/>
                </a:cubicBezTo>
                <a:cubicBezTo>
                  <a:pt x="-1286" y="124508"/>
                  <a:pt x="-1286" y="132667"/>
                  <a:pt x="3738" y="137691"/>
                </a:cubicBezTo>
                <a:lnTo>
                  <a:pt x="68041" y="201994"/>
                </a:lnTo>
                <a:close/>
              </a:path>
            </a:pathLst>
          </a:custGeom>
          <a:solidFill>
            <a:srgbClr val="4FD1C5"/>
          </a:solidFill>
          <a:ln/>
        </p:spPr>
        <p:txBody>
          <a:bodyPr/>
          <a:lstStyle/>
          <a:p>
            <a:endParaRPr lang="zh-CN" altLang="en-US"/>
          </a:p>
        </p:txBody>
      </p:sp>
      <p:sp>
        <p:nvSpPr>
          <p:cNvPr id="17" name="Shape 15"/>
          <p:cNvSpPr/>
          <p:nvPr/>
        </p:nvSpPr>
        <p:spPr>
          <a:xfrm>
            <a:off x="685907" y="4115443"/>
            <a:ext cx="548726" cy="548726"/>
          </a:xfrm>
          <a:custGeom>
            <a:avLst/>
            <a:gdLst/>
            <a:ahLst/>
            <a:cxnLst/>
            <a:rect l="l" t="t" r="r" b="b"/>
            <a:pathLst>
              <a:path w="548726" h="548726">
                <a:moveTo>
                  <a:pt x="91456" y="0"/>
                </a:moveTo>
                <a:lnTo>
                  <a:pt x="457270" y="0"/>
                </a:lnTo>
                <a:cubicBezTo>
                  <a:pt x="507779" y="0"/>
                  <a:pt x="548726" y="40946"/>
                  <a:pt x="548726" y="91456"/>
                </a:cubicBezTo>
                <a:lnTo>
                  <a:pt x="548726" y="457270"/>
                </a:lnTo>
                <a:cubicBezTo>
                  <a:pt x="548726" y="507779"/>
                  <a:pt x="507779" y="548726"/>
                  <a:pt x="457270" y="548726"/>
                </a:cubicBezTo>
                <a:lnTo>
                  <a:pt x="91456" y="548726"/>
                </a:lnTo>
                <a:cubicBezTo>
                  <a:pt x="40946" y="548726"/>
                  <a:pt x="0" y="507779"/>
                  <a:pt x="0" y="457270"/>
                </a:cubicBezTo>
                <a:lnTo>
                  <a:pt x="0" y="91456"/>
                </a:lnTo>
                <a:cubicBezTo>
                  <a:pt x="0" y="40980"/>
                  <a:pt x="40980" y="0"/>
                  <a:pt x="91456" y="0"/>
                </a:cubicBezTo>
                <a:close/>
              </a:path>
            </a:pathLst>
          </a:custGeom>
          <a:solidFill>
            <a:srgbClr val="4FD1C5"/>
          </a:solidFill>
          <a:ln/>
        </p:spPr>
        <p:txBody>
          <a:bodyPr/>
          <a:lstStyle/>
          <a:p>
            <a:endParaRPr lang="zh-CN" altLang="en-US"/>
          </a:p>
        </p:txBody>
      </p:sp>
      <p:sp>
        <p:nvSpPr>
          <p:cNvPr id="18" name="Shape 16"/>
          <p:cNvSpPr/>
          <p:nvPr/>
        </p:nvSpPr>
        <p:spPr>
          <a:xfrm>
            <a:off x="845952" y="4275488"/>
            <a:ext cx="228636" cy="228636"/>
          </a:xfrm>
          <a:custGeom>
            <a:avLst/>
            <a:gdLst/>
            <a:ahLst/>
            <a:cxnLst/>
            <a:rect l="l" t="t" r="r" b="b"/>
            <a:pathLst>
              <a:path w="228636" h="228636">
                <a:moveTo>
                  <a:pt x="17862" y="21435"/>
                </a:moveTo>
                <a:cubicBezTo>
                  <a:pt x="11923" y="21435"/>
                  <a:pt x="7145" y="26213"/>
                  <a:pt x="7145" y="32152"/>
                </a:cubicBezTo>
                <a:lnTo>
                  <a:pt x="7145" y="53586"/>
                </a:lnTo>
                <a:cubicBezTo>
                  <a:pt x="7145" y="59526"/>
                  <a:pt x="11923" y="64304"/>
                  <a:pt x="17862" y="64304"/>
                </a:cubicBezTo>
                <a:lnTo>
                  <a:pt x="39297" y="64304"/>
                </a:lnTo>
                <a:cubicBezTo>
                  <a:pt x="45236" y="64304"/>
                  <a:pt x="50014" y="59526"/>
                  <a:pt x="50014" y="53586"/>
                </a:cubicBezTo>
                <a:lnTo>
                  <a:pt x="50014" y="32152"/>
                </a:lnTo>
                <a:cubicBezTo>
                  <a:pt x="50014" y="26213"/>
                  <a:pt x="45236" y="21435"/>
                  <a:pt x="39297" y="21435"/>
                </a:cubicBezTo>
                <a:lnTo>
                  <a:pt x="17862" y="21435"/>
                </a:lnTo>
                <a:close/>
                <a:moveTo>
                  <a:pt x="85738" y="28579"/>
                </a:moveTo>
                <a:cubicBezTo>
                  <a:pt x="77834" y="28579"/>
                  <a:pt x="71449" y="34965"/>
                  <a:pt x="71449" y="42869"/>
                </a:cubicBezTo>
                <a:cubicBezTo>
                  <a:pt x="71449" y="50773"/>
                  <a:pt x="77834" y="57159"/>
                  <a:pt x="85738" y="57159"/>
                </a:cubicBezTo>
                <a:lnTo>
                  <a:pt x="214346" y="57159"/>
                </a:lnTo>
                <a:cubicBezTo>
                  <a:pt x="222250" y="57159"/>
                  <a:pt x="228636" y="50773"/>
                  <a:pt x="228636" y="42869"/>
                </a:cubicBezTo>
                <a:cubicBezTo>
                  <a:pt x="228636" y="34965"/>
                  <a:pt x="222250" y="28579"/>
                  <a:pt x="214346" y="28579"/>
                </a:cubicBezTo>
                <a:lnTo>
                  <a:pt x="85738" y="28579"/>
                </a:lnTo>
                <a:close/>
                <a:moveTo>
                  <a:pt x="85738" y="100028"/>
                </a:moveTo>
                <a:cubicBezTo>
                  <a:pt x="77834" y="100028"/>
                  <a:pt x="71449" y="106414"/>
                  <a:pt x="71449" y="114318"/>
                </a:cubicBezTo>
                <a:cubicBezTo>
                  <a:pt x="71449" y="122222"/>
                  <a:pt x="77834" y="128608"/>
                  <a:pt x="85738" y="128608"/>
                </a:cubicBezTo>
                <a:lnTo>
                  <a:pt x="214346" y="128608"/>
                </a:lnTo>
                <a:cubicBezTo>
                  <a:pt x="222250" y="128608"/>
                  <a:pt x="228636" y="122222"/>
                  <a:pt x="228636" y="114318"/>
                </a:cubicBezTo>
                <a:cubicBezTo>
                  <a:pt x="228636" y="106414"/>
                  <a:pt x="222250" y="100028"/>
                  <a:pt x="214346" y="100028"/>
                </a:cubicBezTo>
                <a:lnTo>
                  <a:pt x="85738" y="100028"/>
                </a:lnTo>
                <a:close/>
                <a:moveTo>
                  <a:pt x="85738" y="171477"/>
                </a:moveTo>
                <a:cubicBezTo>
                  <a:pt x="77834" y="171477"/>
                  <a:pt x="71449" y="177863"/>
                  <a:pt x="71449" y="185767"/>
                </a:cubicBezTo>
                <a:cubicBezTo>
                  <a:pt x="71449" y="193671"/>
                  <a:pt x="77834" y="200056"/>
                  <a:pt x="85738" y="200056"/>
                </a:cubicBezTo>
                <a:lnTo>
                  <a:pt x="214346" y="200056"/>
                </a:lnTo>
                <a:cubicBezTo>
                  <a:pt x="222250" y="200056"/>
                  <a:pt x="228636" y="193671"/>
                  <a:pt x="228636" y="185767"/>
                </a:cubicBezTo>
                <a:cubicBezTo>
                  <a:pt x="228636" y="177863"/>
                  <a:pt x="222250" y="171477"/>
                  <a:pt x="214346" y="171477"/>
                </a:cubicBezTo>
                <a:lnTo>
                  <a:pt x="85738" y="171477"/>
                </a:lnTo>
                <a:close/>
                <a:moveTo>
                  <a:pt x="7145" y="103601"/>
                </a:moveTo>
                <a:lnTo>
                  <a:pt x="7145" y="125035"/>
                </a:lnTo>
                <a:cubicBezTo>
                  <a:pt x="7145" y="130974"/>
                  <a:pt x="11923" y="135752"/>
                  <a:pt x="17862" y="135752"/>
                </a:cubicBezTo>
                <a:lnTo>
                  <a:pt x="39297" y="135752"/>
                </a:lnTo>
                <a:cubicBezTo>
                  <a:pt x="45236" y="135752"/>
                  <a:pt x="50014" y="130974"/>
                  <a:pt x="50014" y="125035"/>
                </a:cubicBezTo>
                <a:lnTo>
                  <a:pt x="50014" y="103601"/>
                </a:lnTo>
                <a:cubicBezTo>
                  <a:pt x="50014" y="97661"/>
                  <a:pt x="45236" y="92883"/>
                  <a:pt x="39297" y="92883"/>
                </a:cubicBezTo>
                <a:lnTo>
                  <a:pt x="17862" y="92883"/>
                </a:lnTo>
                <a:cubicBezTo>
                  <a:pt x="11923" y="92883"/>
                  <a:pt x="7145" y="97661"/>
                  <a:pt x="7145" y="103601"/>
                </a:cubicBezTo>
                <a:close/>
                <a:moveTo>
                  <a:pt x="17862" y="164332"/>
                </a:moveTo>
                <a:cubicBezTo>
                  <a:pt x="11923" y="164332"/>
                  <a:pt x="7145" y="169110"/>
                  <a:pt x="7145" y="175049"/>
                </a:cubicBezTo>
                <a:lnTo>
                  <a:pt x="7145" y="196484"/>
                </a:lnTo>
                <a:cubicBezTo>
                  <a:pt x="7145" y="202423"/>
                  <a:pt x="11923" y="207201"/>
                  <a:pt x="17862" y="207201"/>
                </a:cubicBezTo>
                <a:lnTo>
                  <a:pt x="39297" y="207201"/>
                </a:lnTo>
                <a:cubicBezTo>
                  <a:pt x="45236" y="207201"/>
                  <a:pt x="50014" y="202423"/>
                  <a:pt x="50014" y="196484"/>
                </a:cubicBezTo>
                <a:lnTo>
                  <a:pt x="50014" y="175049"/>
                </a:lnTo>
                <a:cubicBezTo>
                  <a:pt x="50014" y="169110"/>
                  <a:pt x="45236" y="164332"/>
                  <a:pt x="39297" y="164332"/>
                </a:cubicBezTo>
                <a:lnTo>
                  <a:pt x="17862" y="164332"/>
                </a:lnTo>
                <a:close/>
              </a:path>
            </a:pathLst>
          </a:custGeom>
          <a:solidFill>
            <a:srgbClr val="1A202C"/>
          </a:solidFill>
          <a:ln/>
        </p:spPr>
        <p:txBody>
          <a:bodyPr/>
          <a:lstStyle/>
          <a:p>
            <a:endParaRPr lang="zh-CN" altLang="en-US"/>
          </a:p>
        </p:txBody>
      </p:sp>
      <p:sp>
        <p:nvSpPr>
          <p:cNvPr id="19" name="Text 17"/>
          <p:cNvSpPr/>
          <p:nvPr/>
        </p:nvSpPr>
        <p:spPr>
          <a:xfrm>
            <a:off x="1371814" y="4138307"/>
            <a:ext cx="8059409" cy="274363"/>
          </a:xfrm>
          <a:prstGeom prst="rect">
            <a:avLst/>
          </a:prstGeom>
          <a:noFill/>
          <a:ln/>
        </p:spPr>
        <p:txBody>
          <a:bodyPr wrap="square" lIns="0" tIns="0" rIns="0" bIns="0" rtlCol="0" anchor="ctr"/>
          <a:lstStyle/>
          <a:p>
            <a:pPr>
              <a:lnSpc>
                <a:spcPct val="130000"/>
              </a:lnSpc>
            </a:pPr>
            <a:r>
              <a:rPr lang="en-US" sz="1440" b="1" dirty="0">
                <a:solidFill>
                  <a:srgbClr val="F7FAFC"/>
                </a:solidFill>
                <a:latin typeface="MiSans" pitchFamily="34" charset="0"/>
                <a:ea typeface="MiSans" pitchFamily="34" charset="-122"/>
                <a:cs typeface="MiSans" pitchFamily="34" charset="-120"/>
              </a:rPr>
              <a:t>Manifest List</a:t>
            </a:r>
            <a:endParaRPr lang="en-US" sz="1600" dirty="0"/>
          </a:p>
        </p:txBody>
      </p:sp>
      <p:sp>
        <p:nvSpPr>
          <p:cNvPr id="20" name="Text 18"/>
          <p:cNvSpPr/>
          <p:nvPr/>
        </p:nvSpPr>
        <p:spPr>
          <a:xfrm>
            <a:off x="1371814" y="4412669"/>
            <a:ext cx="8047977" cy="228636"/>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一个快照的清单表</a:t>
            </a:r>
            <a:endParaRPr lang="en-US" sz="1600" dirty="0"/>
          </a:p>
        </p:txBody>
      </p:sp>
      <p:sp>
        <p:nvSpPr>
          <p:cNvPr id="21" name="Shape 19"/>
          <p:cNvSpPr/>
          <p:nvPr/>
        </p:nvSpPr>
        <p:spPr>
          <a:xfrm>
            <a:off x="883106" y="4709896"/>
            <a:ext cx="154329" cy="205772"/>
          </a:xfrm>
          <a:custGeom>
            <a:avLst/>
            <a:gdLst/>
            <a:ahLst/>
            <a:cxnLst/>
            <a:rect l="l" t="t" r="r" b="b"/>
            <a:pathLst>
              <a:path w="154329" h="205772">
                <a:moveTo>
                  <a:pt x="68082" y="201994"/>
                </a:moveTo>
                <a:cubicBezTo>
                  <a:pt x="73105" y="207018"/>
                  <a:pt x="81264" y="207018"/>
                  <a:pt x="86288" y="201994"/>
                </a:cubicBezTo>
                <a:lnTo>
                  <a:pt x="150591" y="137691"/>
                </a:lnTo>
                <a:cubicBezTo>
                  <a:pt x="155615" y="132667"/>
                  <a:pt x="155615" y="124508"/>
                  <a:pt x="150591" y="119484"/>
                </a:cubicBezTo>
                <a:cubicBezTo>
                  <a:pt x="145568" y="114461"/>
                  <a:pt x="137409" y="114461"/>
                  <a:pt x="132385" y="119484"/>
                </a:cubicBezTo>
                <a:lnTo>
                  <a:pt x="90025" y="161845"/>
                </a:lnTo>
                <a:lnTo>
                  <a:pt x="90025" y="12861"/>
                </a:lnTo>
                <a:cubicBezTo>
                  <a:pt x="90025" y="5747"/>
                  <a:pt x="84278" y="0"/>
                  <a:pt x="77165" y="0"/>
                </a:cubicBezTo>
                <a:cubicBezTo>
                  <a:pt x="70051" y="0"/>
                  <a:pt x="64304" y="5747"/>
                  <a:pt x="64304" y="12861"/>
                </a:cubicBezTo>
                <a:lnTo>
                  <a:pt x="64304" y="161845"/>
                </a:lnTo>
                <a:lnTo>
                  <a:pt x="21944" y="119484"/>
                </a:lnTo>
                <a:cubicBezTo>
                  <a:pt x="16920" y="114461"/>
                  <a:pt x="8761" y="114461"/>
                  <a:pt x="3738" y="119484"/>
                </a:cubicBezTo>
                <a:cubicBezTo>
                  <a:pt x="-1286" y="124508"/>
                  <a:pt x="-1286" y="132667"/>
                  <a:pt x="3738" y="137691"/>
                </a:cubicBezTo>
                <a:lnTo>
                  <a:pt x="68041" y="201994"/>
                </a:lnTo>
                <a:close/>
              </a:path>
            </a:pathLst>
          </a:custGeom>
          <a:solidFill>
            <a:srgbClr val="4FD1C5"/>
          </a:solidFill>
          <a:ln/>
        </p:spPr>
        <p:txBody>
          <a:bodyPr/>
          <a:lstStyle/>
          <a:p>
            <a:endParaRPr lang="zh-CN" altLang="en-US"/>
          </a:p>
        </p:txBody>
      </p:sp>
      <p:sp>
        <p:nvSpPr>
          <p:cNvPr id="22" name="Shape 20"/>
          <p:cNvSpPr/>
          <p:nvPr/>
        </p:nvSpPr>
        <p:spPr>
          <a:xfrm>
            <a:off x="685907" y="4961395"/>
            <a:ext cx="548726" cy="548726"/>
          </a:xfrm>
          <a:custGeom>
            <a:avLst/>
            <a:gdLst/>
            <a:ahLst/>
            <a:cxnLst/>
            <a:rect l="l" t="t" r="r" b="b"/>
            <a:pathLst>
              <a:path w="548726" h="548726">
                <a:moveTo>
                  <a:pt x="91456" y="0"/>
                </a:moveTo>
                <a:lnTo>
                  <a:pt x="457270" y="0"/>
                </a:lnTo>
                <a:cubicBezTo>
                  <a:pt x="507779" y="0"/>
                  <a:pt x="548726" y="40946"/>
                  <a:pt x="548726" y="91456"/>
                </a:cubicBezTo>
                <a:lnTo>
                  <a:pt x="548726" y="457270"/>
                </a:lnTo>
                <a:cubicBezTo>
                  <a:pt x="548726" y="507779"/>
                  <a:pt x="507779" y="548726"/>
                  <a:pt x="457270" y="548726"/>
                </a:cubicBezTo>
                <a:lnTo>
                  <a:pt x="91456" y="548726"/>
                </a:lnTo>
                <a:cubicBezTo>
                  <a:pt x="40946" y="548726"/>
                  <a:pt x="0" y="507779"/>
                  <a:pt x="0" y="457270"/>
                </a:cubicBezTo>
                <a:lnTo>
                  <a:pt x="0" y="91456"/>
                </a:lnTo>
                <a:cubicBezTo>
                  <a:pt x="0" y="40980"/>
                  <a:pt x="40980" y="0"/>
                  <a:pt x="91456" y="0"/>
                </a:cubicBezTo>
                <a:close/>
              </a:path>
            </a:pathLst>
          </a:custGeom>
          <a:solidFill>
            <a:srgbClr val="4FD1C5"/>
          </a:solidFill>
          <a:ln/>
        </p:spPr>
        <p:txBody>
          <a:bodyPr/>
          <a:lstStyle/>
          <a:p>
            <a:endParaRPr lang="zh-CN" altLang="en-US"/>
          </a:p>
        </p:txBody>
      </p:sp>
      <p:sp>
        <p:nvSpPr>
          <p:cNvPr id="23" name="Shape 21"/>
          <p:cNvSpPr/>
          <p:nvPr/>
        </p:nvSpPr>
        <p:spPr>
          <a:xfrm>
            <a:off x="874532" y="5121440"/>
            <a:ext cx="171477" cy="228636"/>
          </a:xfrm>
          <a:custGeom>
            <a:avLst/>
            <a:gdLst/>
            <a:ahLst/>
            <a:cxnLst/>
            <a:rect l="l" t="t" r="r" b="b"/>
            <a:pathLst>
              <a:path w="171477" h="228636">
                <a:moveTo>
                  <a:pt x="28579" y="0"/>
                </a:moveTo>
                <a:cubicBezTo>
                  <a:pt x="12816" y="0"/>
                  <a:pt x="0" y="12816"/>
                  <a:pt x="0" y="28579"/>
                </a:cubicBezTo>
                <a:lnTo>
                  <a:pt x="0" y="200056"/>
                </a:lnTo>
                <a:cubicBezTo>
                  <a:pt x="0" y="215820"/>
                  <a:pt x="12816" y="228636"/>
                  <a:pt x="28579" y="228636"/>
                </a:cubicBezTo>
                <a:lnTo>
                  <a:pt x="142897" y="228636"/>
                </a:lnTo>
                <a:cubicBezTo>
                  <a:pt x="158661" y="228636"/>
                  <a:pt x="171477" y="215820"/>
                  <a:pt x="171477" y="200056"/>
                </a:cubicBezTo>
                <a:lnTo>
                  <a:pt x="171477" y="76137"/>
                </a:lnTo>
                <a:cubicBezTo>
                  <a:pt x="171477" y="68546"/>
                  <a:pt x="168485" y="61267"/>
                  <a:pt x="163126" y="55909"/>
                </a:cubicBezTo>
                <a:lnTo>
                  <a:pt x="115524" y="8351"/>
                </a:lnTo>
                <a:cubicBezTo>
                  <a:pt x="110165" y="2992"/>
                  <a:pt x="102931" y="0"/>
                  <a:pt x="95339" y="0"/>
                </a:cubicBezTo>
                <a:lnTo>
                  <a:pt x="28579" y="0"/>
                </a:lnTo>
                <a:close/>
                <a:moveTo>
                  <a:pt x="145353" y="78594"/>
                </a:moveTo>
                <a:lnTo>
                  <a:pt x="103601" y="78594"/>
                </a:lnTo>
                <a:cubicBezTo>
                  <a:pt x="97661" y="78594"/>
                  <a:pt x="92883" y="73815"/>
                  <a:pt x="92883" y="67876"/>
                </a:cubicBezTo>
                <a:lnTo>
                  <a:pt x="92883" y="26123"/>
                </a:lnTo>
                <a:lnTo>
                  <a:pt x="145353" y="78594"/>
                </a:lnTo>
                <a:close/>
              </a:path>
            </a:pathLst>
          </a:custGeom>
          <a:solidFill>
            <a:srgbClr val="1A202C"/>
          </a:solidFill>
          <a:ln/>
        </p:spPr>
        <p:txBody>
          <a:bodyPr/>
          <a:lstStyle/>
          <a:p>
            <a:endParaRPr lang="zh-CN" altLang="en-US"/>
          </a:p>
        </p:txBody>
      </p:sp>
      <p:sp>
        <p:nvSpPr>
          <p:cNvPr id="24" name="Text 22"/>
          <p:cNvSpPr/>
          <p:nvPr/>
        </p:nvSpPr>
        <p:spPr>
          <a:xfrm>
            <a:off x="1371814" y="4984259"/>
            <a:ext cx="8059409" cy="274363"/>
          </a:xfrm>
          <a:prstGeom prst="rect">
            <a:avLst/>
          </a:prstGeom>
          <a:noFill/>
          <a:ln/>
        </p:spPr>
        <p:txBody>
          <a:bodyPr wrap="square" lIns="0" tIns="0" rIns="0" bIns="0" rtlCol="0" anchor="ctr"/>
          <a:lstStyle/>
          <a:p>
            <a:pPr>
              <a:lnSpc>
                <a:spcPct val="130000"/>
              </a:lnSpc>
            </a:pPr>
            <a:r>
              <a:rPr lang="en-US" sz="1440" b="1" dirty="0">
                <a:solidFill>
                  <a:srgbClr val="F7FAFC"/>
                </a:solidFill>
                <a:latin typeface="MiSans" pitchFamily="34" charset="0"/>
                <a:ea typeface="MiSans" pitchFamily="34" charset="-122"/>
                <a:cs typeface="MiSans" pitchFamily="34" charset="-120"/>
              </a:rPr>
              <a:t>Manifest File</a:t>
            </a:r>
            <a:endParaRPr lang="en-US" sz="1600" dirty="0"/>
          </a:p>
        </p:txBody>
      </p:sp>
      <p:sp>
        <p:nvSpPr>
          <p:cNvPr id="25" name="Text 23"/>
          <p:cNvSpPr/>
          <p:nvPr/>
        </p:nvSpPr>
        <p:spPr>
          <a:xfrm>
            <a:off x="1371814" y="5258622"/>
            <a:ext cx="8047977" cy="228636"/>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一批Data File的信息(路径、分区、统计信息)</a:t>
            </a:r>
            <a:endParaRPr lang="en-US" sz="1600" dirty="0"/>
          </a:p>
        </p:txBody>
      </p:sp>
      <p:sp>
        <p:nvSpPr>
          <p:cNvPr id="26" name="Shape 24"/>
          <p:cNvSpPr/>
          <p:nvPr/>
        </p:nvSpPr>
        <p:spPr>
          <a:xfrm>
            <a:off x="883106" y="5555848"/>
            <a:ext cx="154329" cy="205772"/>
          </a:xfrm>
          <a:custGeom>
            <a:avLst/>
            <a:gdLst/>
            <a:ahLst/>
            <a:cxnLst/>
            <a:rect l="l" t="t" r="r" b="b"/>
            <a:pathLst>
              <a:path w="154329" h="205772">
                <a:moveTo>
                  <a:pt x="68082" y="201994"/>
                </a:moveTo>
                <a:cubicBezTo>
                  <a:pt x="73105" y="207018"/>
                  <a:pt x="81264" y="207018"/>
                  <a:pt x="86288" y="201994"/>
                </a:cubicBezTo>
                <a:lnTo>
                  <a:pt x="150591" y="137691"/>
                </a:lnTo>
                <a:cubicBezTo>
                  <a:pt x="155615" y="132667"/>
                  <a:pt x="155615" y="124508"/>
                  <a:pt x="150591" y="119484"/>
                </a:cubicBezTo>
                <a:cubicBezTo>
                  <a:pt x="145568" y="114461"/>
                  <a:pt x="137409" y="114461"/>
                  <a:pt x="132385" y="119484"/>
                </a:cubicBezTo>
                <a:lnTo>
                  <a:pt x="90025" y="161845"/>
                </a:lnTo>
                <a:lnTo>
                  <a:pt x="90025" y="12861"/>
                </a:lnTo>
                <a:cubicBezTo>
                  <a:pt x="90025" y="5747"/>
                  <a:pt x="84278" y="0"/>
                  <a:pt x="77165" y="0"/>
                </a:cubicBezTo>
                <a:cubicBezTo>
                  <a:pt x="70051" y="0"/>
                  <a:pt x="64304" y="5747"/>
                  <a:pt x="64304" y="12861"/>
                </a:cubicBezTo>
                <a:lnTo>
                  <a:pt x="64304" y="161845"/>
                </a:lnTo>
                <a:lnTo>
                  <a:pt x="21944" y="119484"/>
                </a:lnTo>
                <a:cubicBezTo>
                  <a:pt x="16920" y="114461"/>
                  <a:pt x="8761" y="114461"/>
                  <a:pt x="3738" y="119484"/>
                </a:cubicBezTo>
                <a:cubicBezTo>
                  <a:pt x="-1286" y="124508"/>
                  <a:pt x="-1286" y="132667"/>
                  <a:pt x="3738" y="137691"/>
                </a:cubicBezTo>
                <a:lnTo>
                  <a:pt x="68041" y="201994"/>
                </a:lnTo>
                <a:close/>
              </a:path>
            </a:pathLst>
          </a:custGeom>
          <a:solidFill>
            <a:srgbClr val="4FD1C5"/>
          </a:solidFill>
          <a:ln/>
        </p:spPr>
        <p:txBody>
          <a:bodyPr/>
          <a:lstStyle/>
          <a:p>
            <a:endParaRPr lang="zh-CN" altLang="en-US"/>
          </a:p>
        </p:txBody>
      </p:sp>
      <p:sp>
        <p:nvSpPr>
          <p:cNvPr id="27" name="Shape 25"/>
          <p:cNvSpPr/>
          <p:nvPr/>
        </p:nvSpPr>
        <p:spPr>
          <a:xfrm>
            <a:off x="685907" y="5807347"/>
            <a:ext cx="548726" cy="548726"/>
          </a:xfrm>
          <a:custGeom>
            <a:avLst/>
            <a:gdLst/>
            <a:ahLst/>
            <a:cxnLst/>
            <a:rect l="l" t="t" r="r" b="b"/>
            <a:pathLst>
              <a:path w="548726" h="548726">
                <a:moveTo>
                  <a:pt x="91456" y="0"/>
                </a:moveTo>
                <a:lnTo>
                  <a:pt x="457270" y="0"/>
                </a:lnTo>
                <a:cubicBezTo>
                  <a:pt x="507779" y="0"/>
                  <a:pt x="548726" y="40946"/>
                  <a:pt x="548726" y="91456"/>
                </a:cubicBezTo>
                <a:lnTo>
                  <a:pt x="548726" y="457270"/>
                </a:lnTo>
                <a:cubicBezTo>
                  <a:pt x="548726" y="507779"/>
                  <a:pt x="507779" y="548726"/>
                  <a:pt x="457270" y="548726"/>
                </a:cubicBezTo>
                <a:lnTo>
                  <a:pt x="91456" y="548726"/>
                </a:lnTo>
                <a:cubicBezTo>
                  <a:pt x="40946" y="548726"/>
                  <a:pt x="0" y="507779"/>
                  <a:pt x="0" y="457270"/>
                </a:cubicBezTo>
                <a:lnTo>
                  <a:pt x="0" y="91456"/>
                </a:lnTo>
                <a:cubicBezTo>
                  <a:pt x="0" y="40980"/>
                  <a:pt x="40980" y="0"/>
                  <a:pt x="91456" y="0"/>
                </a:cubicBezTo>
                <a:close/>
              </a:path>
            </a:pathLst>
          </a:custGeom>
          <a:solidFill>
            <a:srgbClr val="4FD1C5"/>
          </a:solidFill>
          <a:ln/>
        </p:spPr>
        <p:txBody>
          <a:bodyPr/>
          <a:lstStyle/>
          <a:p>
            <a:endParaRPr lang="zh-CN" altLang="en-US"/>
          </a:p>
        </p:txBody>
      </p:sp>
      <p:sp>
        <p:nvSpPr>
          <p:cNvPr id="28" name="Shape 26"/>
          <p:cNvSpPr/>
          <p:nvPr/>
        </p:nvSpPr>
        <p:spPr>
          <a:xfrm>
            <a:off x="860242" y="5967392"/>
            <a:ext cx="200056" cy="228636"/>
          </a:xfrm>
          <a:custGeom>
            <a:avLst/>
            <a:gdLst/>
            <a:ahLst/>
            <a:cxnLst/>
            <a:rect l="l" t="t" r="r" b="b"/>
            <a:pathLst>
              <a:path w="200056" h="228636">
                <a:moveTo>
                  <a:pt x="200056" y="91901"/>
                </a:moveTo>
                <a:cubicBezTo>
                  <a:pt x="193447" y="96277"/>
                  <a:pt x="185856" y="99805"/>
                  <a:pt x="177952" y="102618"/>
                </a:cubicBezTo>
                <a:cubicBezTo>
                  <a:pt x="156964" y="110120"/>
                  <a:pt x="129411" y="114318"/>
                  <a:pt x="100028" y="114318"/>
                </a:cubicBezTo>
                <a:cubicBezTo>
                  <a:pt x="70645" y="114318"/>
                  <a:pt x="43048" y="110076"/>
                  <a:pt x="22104" y="102618"/>
                </a:cubicBezTo>
                <a:cubicBezTo>
                  <a:pt x="14245" y="99805"/>
                  <a:pt x="6609" y="96277"/>
                  <a:pt x="0" y="91901"/>
                </a:cubicBezTo>
                <a:lnTo>
                  <a:pt x="0" y="128608"/>
                </a:lnTo>
                <a:cubicBezTo>
                  <a:pt x="0" y="148345"/>
                  <a:pt x="44789" y="164332"/>
                  <a:pt x="100028" y="164332"/>
                </a:cubicBezTo>
                <a:cubicBezTo>
                  <a:pt x="155267" y="164332"/>
                  <a:pt x="200056" y="148345"/>
                  <a:pt x="200056" y="128608"/>
                </a:cubicBezTo>
                <a:lnTo>
                  <a:pt x="200056" y="91901"/>
                </a:lnTo>
                <a:close/>
                <a:moveTo>
                  <a:pt x="200056" y="57159"/>
                </a:moveTo>
                <a:lnTo>
                  <a:pt x="200056" y="35724"/>
                </a:lnTo>
                <a:cubicBezTo>
                  <a:pt x="200056" y="15987"/>
                  <a:pt x="155267" y="0"/>
                  <a:pt x="100028" y="0"/>
                </a:cubicBezTo>
                <a:cubicBezTo>
                  <a:pt x="44789" y="0"/>
                  <a:pt x="0" y="15987"/>
                  <a:pt x="0" y="35724"/>
                </a:cubicBezTo>
                <a:lnTo>
                  <a:pt x="0" y="57159"/>
                </a:lnTo>
                <a:cubicBezTo>
                  <a:pt x="0" y="76897"/>
                  <a:pt x="44789" y="92883"/>
                  <a:pt x="100028" y="92883"/>
                </a:cubicBezTo>
                <a:cubicBezTo>
                  <a:pt x="155267" y="92883"/>
                  <a:pt x="200056" y="76897"/>
                  <a:pt x="200056" y="57159"/>
                </a:cubicBezTo>
                <a:close/>
                <a:moveTo>
                  <a:pt x="177952" y="174067"/>
                </a:moveTo>
                <a:cubicBezTo>
                  <a:pt x="157008" y="181524"/>
                  <a:pt x="129456" y="185767"/>
                  <a:pt x="100028" y="185767"/>
                </a:cubicBezTo>
                <a:cubicBezTo>
                  <a:pt x="70600" y="185767"/>
                  <a:pt x="43048" y="181524"/>
                  <a:pt x="22104" y="174067"/>
                </a:cubicBezTo>
                <a:cubicBezTo>
                  <a:pt x="14245" y="171254"/>
                  <a:pt x="6609" y="167726"/>
                  <a:pt x="0" y="163350"/>
                </a:cubicBezTo>
                <a:lnTo>
                  <a:pt x="0" y="192911"/>
                </a:lnTo>
                <a:cubicBezTo>
                  <a:pt x="0" y="212649"/>
                  <a:pt x="44789" y="228636"/>
                  <a:pt x="100028" y="228636"/>
                </a:cubicBezTo>
                <a:cubicBezTo>
                  <a:pt x="155267" y="228636"/>
                  <a:pt x="200056" y="212649"/>
                  <a:pt x="200056" y="192911"/>
                </a:cubicBezTo>
                <a:lnTo>
                  <a:pt x="200056" y="163350"/>
                </a:lnTo>
                <a:cubicBezTo>
                  <a:pt x="193447" y="167726"/>
                  <a:pt x="185856" y="171254"/>
                  <a:pt x="177952" y="174067"/>
                </a:cubicBezTo>
                <a:close/>
              </a:path>
            </a:pathLst>
          </a:custGeom>
          <a:solidFill>
            <a:srgbClr val="1A202C"/>
          </a:solidFill>
          <a:ln/>
        </p:spPr>
        <p:txBody>
          <a:bodyPr/>
          <a:lstStyle/>
          <a:p>
            <a:endParaRPr lang="zh-CN" altLang="en-US"/>
          </a:p>
        </p:txBody>
      </p:sp>
      <p:sp>
        <p:nvSpPr>
          <p:cNvPr id="29" name="Text 27"/>
          <p:cNvSpPr/>
          <p:nvPr/>
        </p:nvSpPr>
        <p:spPr>
          <a:xfrm>
            <a:off x="1371814" y="5830211"/>
            <a:ext cx="8059409" cy="274363"/>
          </a:xfrm>
          <a:prstGeom prst="rect">
            <a:avLst/>
          </a:prstGeom>
          <a:noFill/>
          <a:ln/>
        </p:spPr>
        <p:txBody>
          <a:bodyPr wrap="square" lIns="0" tIns="0" rIns="0" bIns="0" rtlCol="0" anchor="ctr"/>
          <a:lstStyle/>
          <a:p>
            <a:pPr>
              <a:lnSpc>
                <a:spcPct val="130000"/>
              </a:lnSpc>
            </a:pPr>
            <a:r>
              <a:rPr lang="en-US" sz="1440" b="1" dirty="0">
                <a:solidFill>
                  <a:srgbClr val="F7FAFC"/>
                </a:solidFill>
                <a:latin typeface="MiSans" pitchFamily="34" charset="0"/>
                <a:ea typeface="MiSans" pitchFamily="34" charset="-122"/>
                <a:cs typeface="MiSans" pitchFamily="34" charset="-120"/>
              </a:rPr>
              <a:t>Data File</a:t>
            </a:r>
            <a:endParaRPr lang="en-US" sz="1600" dirty="0"/>
          </a:p>
        </p:txBody>
      </p:sp>
      <p:sp>
        <p:nvSpPr>
          <p:cNvPr id="30" name="Text 28"/>
          <p:cNvSpPr/>
          <p:nvPr/>
        </p:nvSpPr>
        <p:spPr>
          <a:xfrm>
            <a:off x="1371814" y="6104574"/>
            <a:ext cx="8047977" cy="228636"/>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Parquet/ORC数据文件,存放真实业务数据</a:t>
            </a:r>
            <a:endParaRPr lang="en-US" sz="1600" dirty="0"/>
          </a:p>
        </p:txBody>
      </p:sp>
      <p:sp>
        <p:nvSpPr>
          <p:cNvPr id="31" name="Shape 29"/>
          <p:cNvSpPr/>
          <p:nvPr/>
        </p:nvSpPr>
        <p:spPr>
          <a:xfrm>
            <a:off x="9823655" y="1691904"/>
            <a:ext cx="5978824" cy="4664169"/>
          </a:xfrm>
          <a:custGeom>
            <a:avLst/>
            <a:gdLst/>
            <a:ahLst/>
            <a:cxnLst/>
            <a:rect l="l" t="t" r="r" b="b"/>
            <a:pathLst>
              <a:path w="5978824" h="4664169">
                <a:moveTo>
                  <a:pt x="45727" y="0"/>
                </a:moveTo>
                <a:lnTo>
                  <a:pt x="5887360" y="0"/>
                </a:lnTo>
                <a:cubicBezTo>
                  <a:pt x="5937874" y="0"/>
                  <a:pt x="5978824" y="40950"/>
                  <a:pt x="5978824" y="91464"/>
                </a:cubicBezTo>
                <a:lnTo>
                  <a:pt x="5978824" y="4572704"/>
                </a:lnTo>
                <a:cubicBezTo>
                  <a:pt x="5978824" y="4623219"/>
                  <a:pt x="5937874" y="4664169"/>
                  <a:pt x="5887360" y="4664169"/>
                </a:cubicBezTo>
                <a:lnTo>
                  <a:pt x="45727" y="4664169"/>
                </a:lnTo>
                <a:cubicBezTo>
                  <a:pt x="20473" y="4664169"/>
                  <a:pt x="0" y="4643696"/>
                  <a:pt x="0" y="4618442"/>
                </a:cubicBezTo>
                <a:lnTo>
                  <a:pt x="0" y="45727"/>
                </a:lnTo>
                <a:cubicBezTo>
                  <a:pt x="0" y="20490"/>
                  <a:pt x="20490" y="0"/>
                  <a:pt x="45727" y="0"/>
                </a:cubicBezTo>
                <a:close/>
              </a:path>
            </a:pathLst>
          </a:custGeom>
          <a:solidFill>
            <a:srgbClr val="4FD1C5">
              <a:alpha val="10196"/>
            </a:srgbClr>
          </a:solidFill>
          <a:ln/>
        </p:spPr>
        <p:txBody>
          <a:bodyPr/>
          <a:lstStyle/>
          <a:p>
            <a:endParaRPr lang="zh-CN" altLang="en-US"/>
          </a:p>
        </p:txBody>
      </p:sp>
      <p:sp>
        <p:nvSpPr>
          <p:cNvPr id="32" name="Shape 30"/>
          <p:cNvSpPr/>
          <p:nvPr/>
        </p:nvSpPr>
        <p:spPr>
          <a:xfrm>
            <a:off x="9823655" y="1691904"/>
            <a:ext cx="45727" cy="4664169"/>
          </a:xfrm>
          <a:custGeom>
            <a:avLst/>
            <a:gdLst/>
            <a:ahLst/>
            <a:cxnLst/>
            <a:rect l="l" t="t" r="r" b="b"/>
            <a:pathLst>
              <a:path w="45727" h="4664169">
                <a:moveTo>
                  <a:pt x="45727" y="0"/>
                </a:moveTo>
                <a:lnTo>
                  <a:pt x="45727" y="0"/>
                </a:lnTo>
                <a:lnTo>
                  <a:pt x="45727" y="4664169"/>
                </a:lnTo>
                <a:lnTo>
                  <a:pt x="45727" y="4664169"/>
                </a:lnTo>
                <a:cubicBezTo>
                  <a:pt x="20473" y="4664169"/>
                  <a:pt x="0" y="4643696"/>
                  <a:pt x="0" y="4618442"/>
                </a:cubicBezTo>
                <a:lnTo>
                  <a:pt x="0" y="45727"/>
                </a:lnTo>
                <a:cubicBezTo>
                  <a:pt x="0" y="20473"/>
                  <a:pt x="20473" y="0"/>
                  <a:pt x="45727" y="0"/>
                </a:cubicBezTo>
                <a:close/>
              </a:path>
            </a:pathLst>
          </a:custGeom>
          <a:solidFill>
            <a:srgbClr val="4FD1C5"/>
          </a:solidFill>
          <a:ln/>
        </p:spPr>
        <p:txBody>
          <a:bodyPr/>
          <a:lstStyle/>
          <a:p>
            <a:endParaRPr lang="zh-CN" altLang="en-US"/>
          </a:p>
        </p:txBody>
      </p:sp>
      <p:sp>
        <p:nvSpPr>
          <p:cNvPr id="33" name="Text 31"/>
          <p:cNvSpPr/>
          <p:nvPr/>
        </p:nvSpPr>
        <p:spPr>
          <a:xfrm>
            <a:off x="10075155" y="1920540"/>
            <a:ext cx="5601575" cy="320090"/>
          </a:xfrm>
          <a:prstGeom prst="rect">
            <a:avLst/>
          </a:prstGeom>
          <a:noFill/>
          <a:ln/>
        </p:spPr>
        <p:txBody>
          <a:bodyPr wrap="square" lIns="0" tIns="0" rIns="0" bIns="0" rtlCol="0" anchor="ctr"/>
          <a:lstStyle/>
          <a:p>
            <a:pPr>
              <a:lnSpc>
                <a:spcPct val="130000"/>
              </a:lnSpc>
            </a:pPr>
            <a:r>
              <a:rPr lang="en-US" sz="1620" b="1" dirty="0">
                <a:solidFill>
                  <a:srgbClr val="F7FAFC"/>
                </a:solidFill>
                <a:latin typeface="MiSans" pitchFamily="34" charset="0"/>
                <a:ea typeface="MiSans" pitchFamily="34" charset="-122"/>
                <a:cs typeface="MiSans" pitchFamily="34" charset="-120"/>
              </a:rPr>
              <a:t>分层职责</a:t>
            </a:r>
            <a:endParaRPr lang="en-US" sz="1600" dirty="0"/>
          </a:p>
        </p:txBody>
      </p:sp>
      <p:sp>
        <p:nvSpPr>
          <p:cNvPr id="34" name="Text 32"/>
          <p:cNvSpPr/>
          <p:nvPr/>
        </p:nvSpPr>
        <p:spPr>
          <a:xfrm>
            <a:off x="10075155" y="2377812"/>
            <a:ext cx="5578712" cy="228636"/>
          </a:xfrm>
          <a:prstGeom prst="rect">
            <a:avLst/>
          </a:prstGeom>
          <a:noFill/>
          <a:ln/>
        </p:spPr>
        <p:txBody>
          <a:bodyPr wrap="square" lIns="0" tIns="0" rIns="0" bIns="0" rtlCol="0" anchor="ctr"/>
          <a:lstStyle/>
          <a:p>
            <a:pPr>
              <a:lnSpc>
                <a:spcPct val="120000"/>
              </a:lnSpc>
            </a:pPr>
            <a:r>
              <a:rPr lang="en-US" sz="1260" b="1" dirty="0">
                <a:solidFill>
                  <a:srgbClr val="F7FAFC"/>
                </a:solidFill>
                <a:latin typeface="MiSans" pitchFamily="34" charset="0"/>
                <a:ea typeface="MiSans" pitchFamily="34" charset="-122"/>
                <a:cs typeface="MiSans" pitchFamily="34" charset="-120"/>
              </a:rPr>
              <a:t>Catalog</a:t>
            </a:r>
            <a:endParaRPr lang="en-US" sz="1600" dirty="0"/>
          </a:p>
        </p:txBody>
      </p:sp>
      <p:sp>
        <p:nvSpPr>
          <p:cNvPr id="35" name="Text 33"/>
          <p:cNvSpPr/>
          <p:nvPr/>
        </p:nvSpPr>
        <p:spPr>
          <a:xfrm>
            <a:off x="10075155" y="2652174"/>
            <a:ext cx="5578712" cy="457271"/>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存放对"当前Metadata File"的指针,托管在Hive Metastore、RDBMS或专用Catalog服务中</a:t>
            </a:r>
            <a:endParaRPr lang="en-US" sz="1600" dirty="0"/>
          </a:p>
        </p:txBody>
      </p:sp>
      <p:sp>
        <p:nvSpPr>
          <p:cNvPr id="36" name="Text 34"/>
          <p:cNvSpPr/>
          <p:nvPr/>
        </p:nvSpPr>
        <p:spPr>
          <a:xfrm>
            <a:off x="10075155" y="3246627"/>
            <a:ext cx="5578712" cy="228636"/>
          </a:xfrm>
          <a:prstGeom prst="rect">
            <a:avLst/>
          </a:prstGeom>
          <a:noFill/>
          <a:ln/>
        </p:spPr>
        <p:txBody>
          <a:bodyPr wrap="square" lIns="0" tIns="0" rIns="0" bIns="0" rtlCol="0" anchor="ctr"/>
          <a:lstStyle/>
          <a:p>
            <a:pPr>
              <a:lnSpc>
                <a:spcPct val="120000"/>
              </a:lnSpc>
            </a:pPr>
            <a:r>
              <a:rPr lang="en-US" sz="1260" b="1" dirty="0">
                <a:solidFill>
                  <a:srgbClr val="F7FAFC"/>
                </a:solidFill>
                <a:latin typeface="MiSans" pitchFamily="34" charset="0"/>
                <a:ea typeface="MiSans" pitchFamily="34" charset="-122"/>
                <a:cs typeface="MiSans" pitchFamily="34" charset="-120"/>
              </a:rPr>
              <a:t>Metadata File</a:t>
            </a:r>
            <a:endParaRPr lang="en-US" sz="1600" dirty="0"/>
          </a:p>
        </p:txBody>
      </p:sp>
      <p:sp>
        <p:nvSpPr>
          <p:cNvPr id="37" name="Text 35"/>
          <p:cNvSpPr/>
          <p:nvPr/>
        </p:nvSpPr>
        <p:spPr>
          <a:xfrm>
            <a:off x="10075155" y="3520990"/>
            <a:ext cx="5578712" cy="228636"/>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定义表Schema、分区策略及当前最新Snapshot ID,同时维护Snapshots列表</a:t>
            </a:r>
            <a:endParaRPr lang="en-US" sz="1600" dirty="0"/>
          </a:p>
        </p:txBody>
      </p:sp>
      <p:sp>
        <p:nvSpPr>
          <p:cNvPr id="38" name="Text 36"/>
          <p:cNvSpPr/>
          <p:nvPr/>
        </p:nvSpPr>
        <p:spPr>
          <a:xfrm>
            <a:off x="10075155" y="3886807"/>
            <a:ext cx="5578712" cy="228636"/>
          </a:xfrm>
          <a:prstGeom prst="rect">
            <a:avLst/>
          </a:prstGeom>
          <a:noFill/>
          <a:ln/>
        </p:spPr>
        <p:txBody>
          <a:bodyPr wrap="square" lIns="0" tIns="0" rIns="0" bIns="0" rtlCol="0" anchor="ctr"/>
          <a:lstStyle/>
          <a:p>
            <a:pPr>
              <a:lnSpc>
                <a:spcPct val="120000"/>
              </a:lnSpc>
            </a:pPr>
            <a:r>
              <a:rPr lang="en-US" sz="1260" b="1" dirty="0">
                <a:solidFill>
                  <a:srgbClr val="F7FAFC"/>
                </a:solidFill>
                <a:latin typeface="MiSans" pitchFamily="34" charset="0"/>
                <a:ea typeface="MiSans" pitchFamily="34" charset="-122"/>
                <a:cs typeface="MiSans" pitchFamily="34" charset="-120"/>
              </a:rPr>
              <a:t>Manifest List</a:t>
            </a:r>
            <a:endParaRPr lang="en-US" sz="1600" dirty="0"/>
          </a:p>
        </p:txBody>
      </p:sp>
      <p:sp>
        <p:nvSpPr>
          <p:cNvPr id="39" name="Text 37"/>
          <p:cNvSpPr/>
          <p:nvPr/>
        </p:nvSpPr>
        <p:spPr>
          <a:xfrm>
            <a:off x="10075155" y="4161170"/>
            <a:ext cx="5578712" cy="457271"/>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一个快照对应一个Manifest List,记录构建当前表状态所需的所有Manifest Files</a:t>
            </a:r>
            <a:endParaRPr lang="en-US" sz="1600" dirty="0"/>
          </a:p>
        </p:txBody>
      </p:sp>
      <p:sp>
        <p:nvSpPr>
          <p:cNvPr id="40" name="Text 38"/>
          <p:cNvSpPr/>
          <p:nvPr/>
        </p:nvSpPr>
        <p:spPr>
          <a:xfrm>
            <a:off x="10075155" y="4755623"/>
            <a:ext cx="5578712" cy="228636"/>
          </a:xfrm>
          <a:prstGeom prst="rect">
            <a:avLst/>
          </a:prstGeom>
          <a:noFill/>
          <a:ln/>
        </p:spPr>
        <p:txBody>
          <a:bodyPr wrap="square" lIns="0" tIns="0" rIns="0" bIns="0" rtlCol="0" anchor="ctr"/>
          <a:lstStyle/>
          <a:p>
            <a:pPr>
              <a:lnSpc>
                <a:spcPct val="120000"/>
              </a:lnSpc>
            </a:pPr>
            <a:r>
              <a:rPr lang="en-US" sz="1260" b="1" dirty="0">
                <a:solidFill>
                  <a:srgbClr val="F7FAFC"/>
                </a:solidFill>
                <a:latin typeface="MiSans" pitchFamily="34" charset="0"/>
                <a:ea typeface="MiSans" pitchFamily="34" charset="-122"/>
                <a:cs typeface="MiSans" pitchFamily="34" charset="-120"/>
              </a:rPr>
              <a:t>Manifest File</a:t>
            </a:r>
            <a:endParaRPr lang="en-US" sz="1600" dirty="0"/>
          </a:p>
        </p:txBody>
      </p:sp>
      <p:sp>
        <p:nvSpPr>
          <p:cNvPr id="41" name="Text 39"/>
          <p:cNvSpPr/>
          <p:nvPr/>
        </p:nvSpPr>
        <p:spPr>
          <a:xfrm>
            <a:off x="10075155" y="5029986"/>
            <a:ext cx="5578712" cy="457271"/>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记录一批Data File的路径、分区信息、文件级统计信息(行数、列Min/Max值等)</a:t>
            </a:r>
            <a:endParaRPr lang="en-US" sz="1600" dirty="0"/>
          </a:p>
        </p:txBody>
      </p:sp>
      <p:sp>
        <p:nvSpPr>
          <p:cNvPr id="42" name="Text 40"/>
          <p:cNvSpPr/>
          <p:nvPr/>
        </p:nvSpPr>
        <p:spPr>
          <a:xfrm>
            <a:off x="10075155" y="5624439"/>
            <a:ext cx="5578712" cy="228636"/>
          </a:xfrm>
          <a:prstGeom prst="rect">
            <a:avLst/>
          </a:prstGeom>
          <a:noFill/>
          <a:ln/>
        </p:spPr>
        <p:txBody>
          <a:bodyPr wrap="square" lIns="0" tIns="0" rIns="0" bIns="0" rtlCol="0" anchor="ctr"/>
          <a:lstStyle/>
          <a:p>
            <a:pPr>
              <a:lnSpc>
                <a:spcPct val="120000"/>
              </a:lnSpc>
            </a:pPr>
            <a:r>
              <a:rPr lang="en-US" sz="1260" b="1" dirty="0">
                <a:solidFill>
                  <a:srgbClr val="F7FAFC"/>
                </a:solidFill>
                <a:latin typeface="MiSans" pitchFamily="34" charset="0"/>
                <a:ea typeface="MiSans" pitchFamily="34" charset="-122"/>
                <a:cs typeface="MiSans" pitchFamily="34" charset="-120"/>
              </a:rPr>
              <a:t>Data File</a:t>
            </a:r>
            <a:endParaRPr lang="en-US" sz="1600" dirty="0"/>
          </a:p>
        </p:txBody>
      </p:sp>
      <p:sp>
        <p:nvSpPr>
          <p:cNvPr id="43" name="Text 41"/>
          <p:cNvSpPr/>
          <p:nvPr/>
        </p:nvSpPr>
        <p:spPr>
          <a:xfrm>
            <a:off x="10075155" y="5898802"/>
            <a:ext cx="5578712" cy="228636"/>
          </a:xfrm>
          <a:prstGeom prst="rect">
            <a:avLst/>
          </a:prstGeom>
          <a:noFill/>
          <a:ln/>
        </p:spPr>
        <p:txBody>
          <a:bodyPr wrap="square" lIns="0" tIns="0" rIns="0" bIns="0" rtlCol="0" anchor="ctr"/>
          <a:lstStyle/>
          <a:p>
            <a:pPr>
              <a:lnSpc>
                <a:spcPct val="120000"/>
              </a:lnSpc>
            </a:pPr>
            <a:r>
              <a:rPr lang="en-US" sz="1260" dirty="0">
                <a:solidFill>
                  <a:srgbClr val="A0AEC0"/>
                </a:solidFill>
                <a:latin typeface="MiSans" pitchFamily="34" charset="0"/>
                <a:ea typeface="MiSans" pitchFamily="34" charset="-122"/>
                <a:cs typeface="MiSans" pitchFamily="34" charset="-120"/>
              </a:rPr>
              <a:t>底层的Parquet/ORC数据文件,存放真实业务数据</a:t>
            </a:r>
            <a:endParaRPr lang="en-US" sz="1600" dirty="0"/>
          </a:p>
        </p:txBody>
      </p:sp>
      <p:sp>
        <p:nvSpPr>
          <p:cNvPr id="44" name="Shape 42"/>
          <p:cNvSpPr/>
          <p:nvPr/>
        </p:nvSpPr>
        <p:spPr>
          <a:xfrm>
            <a:off x="9800792" y="6538982"/>
            <a:ext cx="6001688" cy="1920540"/>
          </a:xfrm>
          <a:custGeom>
            <a:avLst/>
            <a:gdLst/>
            <a:ahLst/>
            <a:cxnLst/>
            <a:rect l="l" t="t" r="r" b="b"/>
            <a:pathLst>
              <a:path w="6001688" h="1920540">
                <a:moveTo>
                  <a:pt x="91456" y="0"/>
                </a:moveTo>
                <a:lnTo>
                  <a:pt x="5910232" y="0"/>
                </a:lnTo>
                <a:cubicBezTo>
                  <a:pt x="5960741" y="0"/>
                  <a:pt x="6001688" y="40946"/>
                  <a:pt x="6001688" y="91456"/>
                </a:cubicBezTo>
                <a:lnTo>
                  <a:pt x="6001688" y="1829084"/>
                </a:lnTo>
                <a:cubicBezTo>
                  <a:pt x="6001688" y="1879594"/>
                  <a:pt x="5960741" y="1920540"/>
                  <a:pt x="5910232" y="1920540"/>
                </a:cubicBezTo>
                <a:lnTo>
                  <a:pt x="91456" y="1920540"/>
                </a:lnTo>
                <a:cubicBezTo>
                  <a:pt x="40946" y="1920540"/>
                  <a:pt x="0" y="1879594"/>
                  <a:pt x="0" y="1829084"/>
                </a:cubicBezTo>
                <a:lnTo>
                  <a:pt x="0" y="91456"/>
                </a:lnTo>
                <a:cubicBezTo>
                  <a:pt x="0" y="40980"/>
                  <a:pt x="40980" y="0"/>
                  <a:pt x="91456" y="0"/>
                </a:cubicBezTo>
                <a:close/>
              </a:path>
            </a:pathLst>
          </a:custGeom>
          <a:solidFill>
            <a:srgbClr val="4A5568">
              <a:alpha val="30196"/>
            </a:srgbClr>
          </a:solidFill>
          <a:ln/>
        </p:spPr>
        <p:txBody>
          <a:bodyPr/>
          <a:lstStyle/>
          <a:p>
            <a:endParaRPr lang="zh-CN" altLang="en-US"/>
          </a:p>
        </p:txBody>
      </p:sp>
      <p:sp>
        <p:nvSpPr>
          <p:cNvPr id="45" name="Text 43"/>
          <p:cNvSpPr/>
          <p:nvPr/>
        </p:nvSpPr>
        <p:spPr>
          <a:xfrm>
            <a:off x="9983700" y="6721890"/>
            <a:ext cx="5738757" cy="320090"/>
          </a:xfrm>
          <a:prstGeom prst="rect">
            <a:avLst/>
          </a:prstGeom>
          <a:noFill/>
          <a:ln/>
        </p:spPr>
        <p:txBody>
          <a:bodyPr wrap="square" lIns="0" tIns="0" rIns="0" bIns="0" rtlCol="0" anchor="ctr"/>
          <a:lstStyle/>
          <a:p>
            <a:pPr>
              <a:lnSpc>
                <a:spcPct val="130000"/>
              </a:lnSpc>
            </a:pPr>
            <a:r>
              <a:rPr lang="en-US" sz="1620" b="1" dirty="0">
                <a:solidFill>
                  <a:srgbClr val="4FD1C5"/>
                </a:solidFill>
                <a:latin typeface="MiSans" pitchFamily="34" charset="0"/>
                <a:ea typeface="MiSans" pitchFamily="34" charset="-122"/>
                <a:cs typeface="MiSans" pitchFamily="34" charset="-120"/>
              </a:rPr>
              <a:t>分层配合关系</a:t>
            </a:r>
            <a:endParaRPr lang="en-US" sz="1600" dirty="0"/>
          </a:p>
        </p:txBody>
      </p:sp>
      <p:sp>
        <p:nvSpPr>
          <p:cNvPr id="46" name="Shape 44"/>
          <p:cNvSpPr/>
          <p:nvPr/>
        </p:nvSpPr>
        <p:spPr>
          <a:xfrm>
            <a:off x="10006564" y="7202025"/>
            <a:ext cx="182909" cy="182909"/>
          </a:xfrm>
          <a:custGeom>
            <a:avLst/>
            <a:gdLst/>
            <a:ahLst/>
            <a:cxnLst/>
            <a:rect l="l" t="t" r="r" b="b"/>
            <a:pathLst>
              <a:path w="182909" h="182909">
                <a:moveTo>
                  <a:pt x="83059" y="1858"/>
                </a:moveTo>
                <a:cubicBezTo>
                  <a:pt x="88382" y="-607"/>
                  <a:pt x="94527" y="-607"/>
                  <a:pt x="99850" y="1858"/>
                </a:cubicBezTo>
                <a:lnTo>
                  <a:pt x="177943" y="37939"/>
                </a:lnTo>
                <a:cubicBezTo>
                  <a:pt x="180979" y="39332"/>
                  <a:pt x="182909" y="42369"/>
                  <a:pt x="182909" y="45727"/>
                </a:cubicBezTo>
                <a:cubicBezTo>
                  <a:pt x="182909" y="49085"/>
                  <a:pt x="180979" y="52122"/>
                  <a:pt x="177943" y="53515"/>
                </a:cubicBezTo>
                <a:lnTo>
                  <a:pt x="99850" y="89597"/>
                </a:lnTo>
                <a:cubicBezTo>
                  <a:pt x="94527" y="92062"/>
                  <a:pt x="88382" y="92062"/>
                  <a:pt x="83059" y="89597"/>
                </a:cubicBezTo>
                <a:lnTo>
                  <a:pt x="4966" y="53515"/>
                </a:lnTo>
                <a:cubicBezTo>
                  <a:pt x="1929" y="52086"/>
                  <a:pt x="0" y="49050"/>
                  <a:pt x="0" y="45727"/>
                </a:cubicBezTo>
                <a:cubicBezTo>
                  <a:pt x="0" y="42405"/>
                  <a:pt x="1929" y="39332"/>
                  <a:pt x="4966" y="37939"/>
                </a:cubicBezTo>
                <a:lnTo>
                  <a:pt x="83059" y="1858"/>
                </a:lnTo>
                <a:close/>
                <a:moveTo>
                  <a:pt x="17183" y="78022"/>
                </a:moveTo>
                <a:lnTo>
                  <a:pt x="75878" y="105137"/>
                </a:lnTo>
                <a:cubicBezTo>
                  <a:pt x="85774" y="109709"/>
                  <a:pt x="97170" y="109709"/>
                  <a:pt x="107066" y="105137"/>
                </a:cubicBezTo>
                <a:lnTo>
                  <a:pt x="165761" y="78022"/>
                </a:lnTo>
                <a:lnTo>
                  <a:pt x="177943" y="83666"/>
                </a:lnTo>
                <a:cubicBezTo>
                  <a:pt x="180979" y="85060"/>
                  <a:pt x="182909" y="88096"/>
                  <a:pt x="182909" y="91454"/>
                </a:cubicBezTo>
                <a:cubicBezTo>
                  <a:pt x="182909" y="94812"/>
                  <a:pt x="180979" y="97849"/>
                  <a:pt x="177943" y="99242"/>
                </a:cubicBezTo>
                <a:lnTo>
                  <a:pt x="99850" y="135324"/>
                </a:lnTo>
                <a:cubicBezTo>
                  <a:pt x="94527" y="137789"/>
                  <a:pt x="88382" y="137789"/>
                  <a:pt x="83059" y="135324"/>
                </a:cubicBezTo>
                <a:lnTo>
                  <a:pt x="4966" y="99242"/>
                </a:lnTo>
                <a:cubicBezTo>
                  <a:pt x="1929" y="97813"/>
                  <a:pt x="0" y="94777"/>
                  <a:pt x="0" y="91454"/>
                </a:cubicBezTo>
                <a:cubicBezTo>
                  <a:pt x="0" y="88132"/>
                  <a:pt x="1929" y="85060"/>
                  <a:pt x="4966" y="83666"/>
                </a:cubicBezTo>
                <a:lnTo>
                  <a:pt x="17148" y="78022"/>
                </a:lnTo>
                <a:close/>
                <a:moveTo>
                  <a:pt x="4966" y="129394"/>
                </a:moveTo>
                <a:lnTo>
                  <a:pt x="17148" y="123749"/>
                </a:lnTo>
                <a:lnTo>
                  <a:pt x="75843" y="150864"/>
                </a:lnTo>
                <a:cubicBezTo>
                  <a:pt x="85738" y="155437"/>
                  <a:pt x="97134" y="155437"/>
                  <a:pt x="107030" y="150864"/>
                </a:cubicBezTo>
                <a:lnTo>
                  <a:pt x="165725" y="123749"/>
                </a:lnTo>
                <a:lnTo>
                  <a:pt x="177907" y="129394"/>
                </a:lnTo>
                <a:cubicBezTo>
                  <a:pt x="180944" y="130787"/>
                  <a:pt x="182873" y="133823"/>
                  <a:pt x="182873" y="137181"/>
                </a:cubicBezTo>
                <a:cubicBezTo>
                  <a:pt x="182873" y="140540"/>
                  <a:pt x="180944" y="143576"/>
                  <a:pt x="177907" y="144969"/>
                </a:cubicBezTo>
                <a:lnTo>
                  <a:pt x="99814" y="181051"/>
                </a:lnTo>
                <a:cubicBezTo>
                  <a:pt x="94491" y="183516"/>
                  <a:pt x="88346" y="183516"/>
                  <a:pt x="83023" y="181051"/>
                </a:cubicBezTo>
                <a:lnTo>
                  <a:pt x="4966" y="144969"/>
                </a:lnTo>
                <a:cubicBezTo>
                  <a:pt x="1929" y="143540"/>
                  <a:pt x="0" y="140504"/>
                  <a:pt x="0" y="137181"/>
                </a:cubicBezTo>
                <a:cubicBezTo>
                  <a:pt x="0" y="133859"/>
                  <a:pt x="1929" y="130787"/>
                  <a:pt x="4966" y="129394"/>
                </a:cubicBezTo>
                <a:close/>
              </a:path>
            </a:pathLst>
          </a:custGeom>
          <a:solidFill>
            <a:srgbClr val="4FD1C5"/>
          </a:solidFill>
          <a:ln/>
        </p:spPr>
        <p:txBody>
          <a:bodyPr/>
          <a:lstStyle/>
          <a:p>
            <a:endParaRPr lang="zh-CN" altLang="en-US"/>
          </a:p>
        </p:txBody>
      </p:sp>
      <p:sp>
        <p:nvSpPr>
          <p:cNvPr id="47" name="Text 45"/>
          <p:cNvSpPr/>
          <p:nvPr/>
        </p:nvSpPr>
        <p:spPr>
          <a:xfrm>
            <a:off x="10303790" y="7179162"/>
            <a:ext cx="3338082" cy="228636"/>
          </a:xfrm>
          <a:prstGeom prst="rect">
            <a:avLst/>
          </a:prstGeom>
          <a:noFill/>
          <a:ln/>
        </p:spPr>
        <p:txBody>
          <a:bodyPr wrap="square" lIns="0" tIns="0" rIns="0" bIns="0" rtlCol="0" anchor="ctr"/>
          <a:lstStyle/>
          <a:p>
            <a:pPr>
              <a:lnSpc>
                <a:spcPct val="120000"/>
              </a:lnSpc>
            </a:pPr>
            <a:r>
              <a:rPr lang="en-US" sz="1260" dirty="0">
                <a:solidFill>
                  <a:srgbClr val="F7FAFC"/>
                </a:solidFill>
                <a:latin typeface="MiSans" pitchFamily="34" charset="0"/>
                <a:ea typeface="MiSans" pitchFamily="34" charset="-122"/>
                <a:cs typeface="MiSans" pitchFamily="34" charset="-120"/>
              </a:rPr>
              <a:t>File Format: 解决"单个文件内部如何高效存储"</a:t>
            </a:r>
            <a:endParaRPr lang="en-US" sz="1600" dirty="0"/>
          </a:p>
        </p:txBody>
      </p:sp>
      <p:sp>
        <p:nvSpPr>
          <p:cNvPr id="48" name="Shape 46"/>
          <p:cNvSpPr/>
          <p:nvPr/>
        </p:nvSpPr>
        <p:spPr>
          <a:xfrm>
            <a:off x="10017996" y="7522115"/>
            <a:ext cx="160045" cy="182909"/>
          </a:xfrm>
          <a:custGeom>
            <a:avLst/>
            <a:gdLst/>
            <a:ahLst/>
            <a:cxnLst/>
            <a:rect l="l" t="t" r="r" b="b"/>
            <a:pathLst>
              <a:path w="160045" h="182909">
                <a:moveTo>
                  <a:pt x="91454" y="57159"/>
                </a:moveTo>
                <a:lnTo>
                  <a:pt x="91454" y="91454"/>
                </a:lnTo>
                <a:lnTo>
                  <a:pt x="137181" y="91454"/>
                </a:lnTo>
                <a:lnTo>
                  <a:pt x="137181" y="57159"/>
                </a:lnTo>
                <a:lnTo>
                  <a:pt x="91454" y="57159"/>
                </a:lnTo>
                <a:close/>
                <a:moveTo>
                  <a:pt x="68591" y="57159"/>
                </a:moveTo>
                <a:lnTo>
                  <a:pt x="22864" y="57159"/>
                </a:lnTo>
                <a:lnTo>
                  <a:pt x="22864" y="91454"/>
                </a:lnTo>
                <a:lnTo>
                  <a:pt x="68591" y="91454"/>
                </a:lnTo>
                <a:lnTo>
                  <a:pt x="68591" y="57159"/>
                </a:lnTo>
                <a:close/>
                <a:moveTo>
                  <a:pt x="0" y="114318"/>
                </a:moveTo>
                <a:lnTo>
                  <a:pt x="0" y="34295"/>
                </a:lnTo>
                <a:cubicBezTo>
                  <a:pt x="0" y="21685"/>
                  <a:pt x="10253" y="11432"/>
                  <a:pt x="22864" y="11432"/>
                </a:cubicBezTo>
                <a:lnTo>
                  <a:pt x="137181" y="11432"/>
                </a:lnTo>
                <a:cubicBezTo>
                  <a:pt x="149792" y="11432"/>
                  <a:pt x="160045" y="21685"/>
                  <a:pt x="160045" y="34295"/>
                </a:cubicBezTo>
                <a:lnTo>
                  <a:pt x="160045" y="148613"/>
                </a:lnTo>
                <a:cubicBezTo>
                  <a:pt x="160045" y="161224"/>
                  <a:pt x="149792" y="171477"/>
                  <a:pt x="137181" y="171477"/>
                </a:cubicBezTo>
                <a:lnTo>
                  <a:pt x="22864" y="171477"/>
                </a:lnTo>
                <a:cubicBezTo>
                  <a:pt x="10253" y="171477"/>
                  <a:pt x="0" y="161224"/>
                  <a:pt x="0" y="148613"/>
                </a:cubicBezTo>
                <a:lnTo>
                  <a:pt x="0" y="114318"/>
                </a:lnTo>
                <a:close/>
                <a:moveTo>
                  <a:pt x="137181" y="114318"/>
                </a:moveTo>
                <a:lnTo>
                  <a:pt x="91454" y="114318"/>
                </a:lnTo>
                <a:lnTo>
                  <a:pt x="91454" y="148613"/>
                </a:lnTo>
                <a:lnTo>
                  <a:pt x="137181" y="148613"/>
                </a:lnTo>
                <a:lnTo>
                  <a:pt x="137181" y="114318"/>
                </a:lnTo>
                <a:close/>
                <a:moveTo>
                  <a:pt x="68591" y="148613"/>
                </a:moveTo>
                <a:lnTo>
                  <a:pt x="68591" y="114318"/>
                </a:lnTo>
                <a:lnTo>
                  <a:pt x="22864" y="114318"/>
                </a:lnTo>
                <a:lnTo>
                  <a:pt x="22864" y="148613"/>
                </a:lnTo>
                <a:lnTo>
                  <a:pt x="68591" y="148613"/>
                </a:lnTo>
                <a:close/>
              </a:path>
            </a:pathLst>
          </a:custGeom>
          <a:solidFill>
            <a:srgbClr val="4FD1C5"/>
          </a:solidFill>
          <a:ln/>
        </p:spPr>
        <p:txBody>
          <a:bodyPr/>
          <a:lstStyle/>
          <a:p>
            <a:endParaRPr lang="zh-CN" altLang="en-US"/>
          </a:p>
        </p:txBody>
      </p:sp>
      <p:sp>
        <p:nvSpPr>
          <p:cNvPr id="49" name="Text 47"/>
          <p:cNvSpPr/>
          <p:nvPr/>
        </p:nvSpPr>
        <p:spPr>
          <a:xfrm>
            <a:off x="10303790" y="7499252"/>
            <a:ext cx="3486695" cy="228636"/>
          </a:xfrm>
          <a:prstGeom prst="rect">
            <a:avLst/>
          </a:prstGeom>
          <a:noFill/>
          <a:ln/>
        </p:spPr>
        <p:txBody>
          <a:bodyPr wrap="square" lIns="0" tIns="0" rIns="0" bIns="0" rtlCol="0" anchor="ctr"/>
          <a:lstStyle/>
          <a:p>
            <a:pPr>
              <a:lnSpc>
                <a:spcPct val="120000"/>
              </a:lnSpc>
            </a:pPr>
            <a:r>
              <a:rPr lang="en-US" sz="1260" dirty="0">
                <a:solidFill>
                  <a:srgbClr val="F7FAFC"/>
                </a:solidFill>
                <a:latin typeface="MiSans" pitchFamily="34" charset="0"/>
                <a:ea typeface="MiSans" pitchFamily="34" charset="-122"/>
                <a:cs typeface="MiSans" pitchFamily="34" charset="-120"/>
              </a:rPr>
              <a:t>Table Format: 解决"这一整张表由哪些文件组成"</a:t>
            </a:r>
            <a:endParaRPr lang="en-US" sz="1600" dirty="0"/>
          </a:p>
        </p:txBody>
      </p:sp>
      <p:sp>
        <p:nvSpPr>
          <p:cNvPr id="50" name="Shape 48"/>
          <p:cNvSpPr/>
          <p:nvPr/>
        </p:nvSpPr>
        <p:spPr>
          <a:xfrm>
            <a:off x="9995132" y="7865069"/>
            <a:ext cx="5624439" cy="411544"/>
          </a:xfrm>
          <a:custGeom>
            <a:avLst/>
            <a:gdLst/>
            <a:ahLst/>
            <a:cxnLst/>
            <a:rect l="l" t="t" r="r" b="b"/>
            <a:pathLst>
              <a:path w="5624439" h="411544">
                <a:moveTo>
                  <a:pt x="22864" y="0"/>
                </a:moveTo>
                <a:lnTo>
                  <a:pt x="5578712" y="0"/>
                </a:lnTo>
                <a:cubicBezTo>
                  <a:pt x="5603966" y="0"/>
                  <a:pt x="5624439" y="20473"/>
                  <a:pt x="5624439" y="45727"/>
                </a:cubicBezTo>
                <a:lnTo>
                  <a:pt x="5624439" y="365818"/>
                </a:lnTo>
                <a:cubicBezTo>
                  <a:pt x="5624439" y="391072"/>
                  <a:pt x="5603966" y="411544"/>
                  <a:pt x="5578712" y="411544"/>
                </a:cubicBezTo>
                <a:lnTo>
                  <a:pt x="22864" y="411544"/>
                </a:lnTo>
                <a:cubicBezTo>
                  <a:pt x="10236" y="411544"/>
                  <a:pt x="0" y="401308"/>
                  <a:pt x="0" y="388681"/>
                </a:cubicBezTo>
                <a:lnTo>
                  <a:pt x="0" y="22864"/>
                </a:lnTo>
                <a:cubicBezTo>
                  <a:pt x="0" y="10245"/>
                  <a:pt x="10245" y="0"/>
                  <a:pt x="22864" y="0"/>
                </a:cubicBezTo>
                <a:close/>
              </a:path>
            </a:pathLst>
          </a:custGeom>
          <a:solidFill>
            <a:srgbClr val="1A202C"/>
          </a:solidFill>
          <a:ln/>
        </p:spPr>
        <p:txBody>
          <a:bodyPr/>
          <a:lstStyle/>
          <a:p>
            <a:endParaRPr lang="zh-CN" altLang="en-US"/>
          </a:p>
        </p:txBody>
      </p:sp>
      <p:sp>
        <p:nvSpPr>
          <p:cNvPr id="51" name="Shape 49"/>
          <p:cNvSpPr/>
          <p:nvPr/>
        </p:nvSpPr>
        <p:spPr>
          <a:xfrm>
            <a:off x="9995132" y="7865069"/>
            <a:ext cx="22864" cy="411544"/>
          </a:xfrm>
          <a:custGeom>
            <a:avLst/>
            <a:gdLst/>
            <a:ahLst/>
            <a:cxnLst/>
            <a:rect l="l" t="t" r="r" b="b"/>
            <a:pathLst>
              <a:path w="22864" h="411544">
                <a:moveTo>
                  <a:pt x="22864" y="0"/>
                </a:moveTo>
                <a:lnTo>
                  <a:pt x="22864" y="0"/>
                </a:lnTo>
                <a:lnTo>
                  <a:pt x="22864" y="411544"/>
                </a:lnTo>
                <a:lnTo>
                  <a:pt x="22864" y="411544"/>
                </a:lnTo>
                <a:cubicBezTo>
                  <a:pt x="10236" y="411544"/>
                  <a:pt x="0" y="401308"/>
                  <a:pt x="0" y="388681"/>
                </a:cubicBezTo>
                <a:lnTo>
                  <a:pt x="0" y="22864"/>
                </a:lnTo>
                <a:cubicBezTo>
                  <a:pt x="0" y="10236"/>
                  <a:pt x="10236" y="0"/>
                  <a:pt x="22864" y="0"/>
                </a:cubicBezTo>
                <a:close/>
              </a:path>
            </a:pathLst>
          </a:custGeom>
          <a:solidFill>
            <a:srgbClr val="4FD1C5"/>
          </a:solidFill>
          <a:ln/>
        </p:spPr>
        <p:txBody>
          <a:bodyPr/>
          <a:lstStyle/>
          <a:p>
            <a:endParaRPr lang="zh-CN" altLang="en-US"/>
          </a:p>
        </p:txBody>
      </p:sp>
      <p:sp>
        <p:nvSpPr>
          <p:cNvPr id="52" name="Text 50"/>
          <p:cNvSpPr/>
          <p:nvPr/>
        </p:nvSpPr>
        <p:spPr>
          <a:xfrm>
            <a:off x="10098018" y="7956523"/>
            <a:ext cx="5510121" cy="228636"/>
          </a:xfrm>
          <a:prstGeom prst="rect">
            <a:avLst/>
          </a:prstGeom>
          <a:noFill/>
          <a:ln/>
        </p:spPr>
        <p:txBody>
          <a:bodyPr wrap="square" lIns="0" tIns="0" rIns="0" bIns="0" rtlCol="0" anchor="ctr"/>
          <a:lstStyle/>
          <a:p>
            <a:pPr>
              <a:lnSpc>
                <a:spcPct val="120000"/>
              </a:lnSpc>
            </a:pPr>
            <a:r>
              <a:rPr lang="en-US" sz="1260" dirty="0">
                <a:solidFill>
                  <a:srgbClr val="4FD1C5"/>
                </a:solidFill>
                <a:latin typeface="MiSans" pitchFamily="34" charset="0"/>
                <a:ea typeface="MiSans" pitchFamily="34" charset="-122"/>
                <a:cs typeface="MiSans" pitchFamily="34" charset="-120"/>
              </a:rPr>
              <a:t>常见组合: </a:t>
            </a:r>
            <a:r>
              <a:rPr lang="en-US" sz="1260" dirty="0">
                <a:solidFill>
                  <a:srgbClr val="F7FAFC"/>
                </a:solidFill>
                <a:latin typeface="MiSans" pitchFamily="34" charset="0"/>
                <a:ea typeface="MiSans" pitchFamily="34" charset="-122"/>
                <a:cs typeface="MiSans" pitchFamily="34" charset="-120"/>
              </a:rPr>
              <a:t>"Iceberg表 + 底层Parquet文件"</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66456" y="466456"/>
            <a:ext cx="2017423" cy="279874"/>
          </a:xfrm>
          <a:prstGeom prst="rect">
            <a:avLst/>
          </a:prstGeom>
          <a:noFill/>
          <a:ln/>
        </p:spPr>
        <p:txBody>
          <a:bodyPr wrap="square" lIns="0" tIns="0" rIns="0" bIns="0" rtlCol="0" anchor="ctr"/>
          <a:lstStyle/>
          <a:p>
            <a:pPr>
              <a:lnSpc>
                <a:spcPct val="130000"/>
              </a:lnSpc>
            </a:pPr>
            <a:r>
              <a:rPr lang="en-US" sz="1469" b="1" kern="0" spc="73" dirty="0">
                <a:solidFill>
                  <a:srgbClr val="4FD1C5"/>
                </a:solidFill>
                <a:latin typeface="MiSans" pitchFamily="34" charset="0"/>
                <a:ea typeface="MiSans" pitchFamily="34" charset="-122"/>
                <a:cs typeface="MiSans" pitchFamily="34" charset="-120"/>
              </a:rPr>
              <a:t>CORE MECHANISMS</a:t>
            </a:r>
            <a:endParaRPr lang="en-US" sz="1600" dirty="0"/>
          </a:p>
        </p:txBody>
      </p:sp>
      <p:sp>
        <p:nvSpPr>
          <p:cNvPr id="3" name="Text 1"/>
          <p:cNvSpPr/>
          <p:nvPr/>
        </p:nvSpPr>
        <p:spPr>
          <a:xfrm>
            <a:off x="466456" y="839621"/>
            <a:ext cx="15532993" cy="466456"/>
          </a:xfrm>
          <a:prstGeom prst="rect">
            <a:avLst/>
          </a:prstGeom>
          <a:noFill/>
          <a:ln/>
        </p:spPr>
        <p:txBody>
          <a:bodyPr wrap="square" lIns="0" tIns="0" rIns="0" bIns="0" rtlCol="0" anchor="ctr"/>
          <a:lstStyle/>
          <a:p>
            <a:pPr>
              <a:lnSpc>
                <a:spcPct val="90000"/>
              </a:lnSpc>
            </a:pPr>
            <a:r>
              <a:rPr lang="en-US" sz="3306" b="1" dirty="0">
                <a:solidFill>
                  <a:srgbClr val="F7FAFC"/>
                </a:solidFill>
                <a:latin typeface="Noto Sans SC" pitchFamily="34" charset="0"/>
                <a:ea typeface="Noto Sans SC" pitchFamily="34" charset="-122"/>
                <a:cs typeface="Noto Sans SC" pitchFamily="34" charset="-120"/>
              </a:rPr>
              <a:t>读写操作原理：Copy-On-Write与ACID语义</a:t>
            </a:r>
            <a:endParaRPr lang="en-US" sz="1600" dirty="0"/>
          </a:p>
        </p:txBody>
      </p:sp>
      <p:sp>
        <p:nvSpPr>
          <p:cNvPr id="4" name="Shape 2"/>
          <p:cNvSpPr/>
          <p:nvPr/>
        </p:nvSpPr>
        <p:spPr>
          <a:xfrm>
            <a:off x="466456" y="1446014"/>
            <a:ext cx="932912" cy="46646"/>
          </a:xfrm>
          <a:custGeom>
            <a:avLst/>
            <a:gdLst/>
            <a:ahLst/>
            <a:cxnLst/>
            <a:rect l="l" t="t" r="r" b="b"/>
            <a:pathLst>
              <a:path w="932912" h="46646">
                <a:moveTo>
                  <a:pt x="0" y="0"/>
                </a:moveTo>
                <a:lnTo>
                  <a:pt x="932912" y="0"/>
                </a:lnTo>
                <a:lnTo>
                  <a:pt x="932912" y="46646"/>
                </a:lnTo>
                <a:lnTo>
                  <a:pt x="0" y="46646"/>
                </a:lnTo>
                <a:lnTo>
                  <a:pt x="0" y="0"/>
                </a:lnTo>
                <a:close/>
              </a:path>
            </a:pathLst>
          </a:custGeom>
          <a:solidFill>
            <a:srgbClr val="4FD1C5"/>
          </a:solidFill>
          <a:ln/>
        </p:spPr>
        <p:txBody>
          <a:bodyPr/>
          <a:lstStyle/>
          <a:p>
            <a:endParaRPr lang="zh-CN" altLang="en-US"/>
          </a:p>
        </p:txBody>
      </p:sp>
      <p:sp>
        <p:nvSpPr>
          <p:cNvPr id="5" name="Shape 3"/>
          <p:cNvSpPr/>
          <p:nvPr/>
        </p:nvSpPr>
        <p:spPr>
          <a:xfrm>
            <a:off x="489779" y="1725888"/>
            <a:ext cx="7521607" cy="4058169"/>
          </a:xfrm>
          <a:custGeom>
            <a:avLst/>
            <a:gdLst/>
            <a:ahLst/>
            <a:cxnLst/>
            <a:rect l="l" t="t" r="r" b="b"/>
            <a:pathLst>
              <a:path w="7521607" h="4058169">
                <a:moveTo>
                  <a:pt x="46646" y="0"/>
                </a:moveTo>
                <a:lnTo>
                  <a:pt x="7428310" y="0"/>
                </a:lnTo>
                <a:cubicBezTo>
                  <a:pt x="7479836" y="0"/>
                  <a:pt x="7521607" y="41771"/>
                  <a:pt x="7521607" y="93297"/>
                </a:cubicBezTo>
                <a:lnTo>
                  <a:pt x="7521607" y="3964872"/>
                </a:lnTo>
                <a:cubicBezTo>
                  <a:pt x="7521607" y="4016399"/>
                  <a:pt x="7479836" y="4058169"/>
                  <a:pt x="7428310" y="4058169"/>
                </a:cubicBezTo>
                <a:lnTo>
                  <a:pt x="46646" y="4058169"/>
                </a:lnTo>
                <a:cubicBezTo>
                  <a:pt x="20884" y="4058169"/>
                  <a:pt x="0" y="4037285"/>
                  <a:pt x="0" y="4011524"/>
                </a:cubicBezTo>
                <a:lnTo>
                  <a:pt x="0" y="46646"/>
                </a:lnTo>
                <a:cubicBezTo>
                  <a:pt x="0" y="20884"/>
                  <a:pt x="20884" y="0"/>
                  <a:pt x="46646" y="0"/>
                </a:cubicBezTo>
                <a:close/>
              </a:path>
            </a:pathLst>
          </a:custGeom>
          <a:solidFill>
            <a:srgbClr val="4FD1C5">
              <a:alpha val="10196"/>
            </a:srgbClr>
          </a:solidFill>
          <a:ln/>
        </p:spPr>
        <p:txBody>
          <a:bodyPr/>
          <a:lstStyle/>
          <a:p>
            <a:endParaRPr lang="zh-CN" altLang="en-US"/>
          </a:p>
        </p:txBody>
      </p:sp>
      <p:sp>
        <p:nvSpPr>
          <p:cNvPr id="6" name="Shape 4"/>
          <p:cNvSpPr/>
          <p:nvPr/>
        </p:nvSpPr>
        <p:spPr>
          <a:xfrm>
            <a:off x="489779" y="1725888"/>
            <a:ext cx="46646" cy="4058169"/>
          </a:xfrm>
          <a:custGeom>
            <a:avLst/>
            <a:gdLst/>
            <a:ahLst/>
            <a:cxnLst/>
            <a:rect l="l" t="t" r="r" b="b"/>
            <a:pathLst>
              <a:path w="46646" h="4058169">
                <a:moveTo>
                  <a:pt x="46646" y="0"/>
                </a:moveTo>
                <a:lnTo>
                  <a:pt x="46646" y="0"/>
                </a:lnTo>
                <a:lnTo>
                  <a:pt x="46646" y="4058169"/>
                </a:lnTo>
                <a:lnTo>
                  <a:pt x="46646" y="4058169"/>
                </a:lnTo>
                <a:cubicBezTo>
                  <a:pt x="20884" y="4058169"/>
                  <a:pt x="0" y="4037285"/>
                  <a:pt x="0" y="4011524"/>
                </a:cubicBezTo>
                <a:lnTo>
                  <a:pt x="0" y="46646"/>
                </a:lnTo>
                <a:cubicBezTo>
                  <a:pt x="0" y="20884"/>
                  <a:pt x="20884" y="0"/>
                  <a:pt x="46646" y="0"/>
                </a:cubicBezTo>
                <a:close/>
              </a:path>
            </a:pathLst>
          </a:custGeom>
          <a:solidFill>
            <a:srgbClr val="4FD1C5"/>
          </a:solidFill>
          <a:ln/>
        </p:spPr>
        <p:txBody>
          <a:bodyPr/>
          <a:lstStyle/>
          <a:p>
            <a:endParaRPr lang="zh-CN" altLang="en-US"/>
          </a:p>
        </p:txBody>
      </p:sp>
      <p:sp>
        <p:nvSpPr>
          <p:cNvPr id="7" name="Text 5"/>
          <p:cNvSpPr/>
          <p:nvPr/>
        </p:nvSpPr>
        <p:spPr>
          <a:xfrm>
            <a:off x="746330" y="1959116"/>
            <a:ext cx="7148442" cy="326519"/>
          </a:xfrm>
          <a:prstGeom prst="rect">
            <a:avLst/>
          </a:prstGeom>
          <a:noFill/>
          <a:ln/>
        </p:spPr>
        <p:txBody>
          <a:bodyPr wrap="square" lIns="0" tIns="0" rIns="0" bIns="0" rtlCol="0" anchor="ctr"/>
          <a:lstStyle/>
          <a:p>
            <a:pPr>
              <a:lnSpc>
                <a:spcPct val="120000"/>
              </a:lnSpc>
            </a:pPr>
            <a:r>
              <a:rPr lang="en-US" sz="1836" b="1" dirty="0">
                <a:solidFill>
                  <a:srgbClr val="F7FAFC"/>
                </a:solidFill>
                <a:latin typeface="Noto Sans SC" pitchFamily="34" charset="0"/>
                <a:ea typeface="Noto Sans SC" pitchFamily="34" charset="-122"/>
                <a:cs typeface="Noto Sans SC" pitchFamily="34" charset="-120"/>
              </a:rPr>
              <a:t>写入流程：生成新快照</a:t>
            </a:r>
            <a:endParaRPr lang="en-US" sz="1600" dirty="0"/>
          </a:p>
        </p:txBody>
      </p:sp>
      <p:sp>
        <p:nvSpPr>
          <p:cNvPr id="8" name="Shape 6"/>
          <p:cNvSpPr/>
          <p:nvPr/>
        </p:nvSpPr>
        <p:spPr>
          <a:xfrm>
            <a:off x="746330" y="2495541"/>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9" name="Text 7"/>
          <p:cNvSpPr/>
          <p:nvPr/>
        </p:nvSpPr>
        <p:spPr>
          <a:xfrm>
            <a:off x="858753" y="2542187"/>
            <a:ext cx="128275"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1</a:t>
            </a:r>
            <a:endParaRPr lang="en-US" sz="1600" dirty="0"/>
          </a:p>
        </p:txBody>
      </p:sp>
      <p:sp>
        <p:nvSpPr>
          <p:cNvPr id="10" name="Text 8"/>
          <p:cNvSpPr/>
          <p:nvPr/>
        </p:nvSpPr>
        <p:spPr>
          <a:xfrm>
            <a:off x="1119495" y="2472218"/>
            <a:ext cx="5177664"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从Catalog读取当前Metadata File(v1.json),得到current snapshot = 100</a:t>
            </a:r>
            <a:endParaRPr lang="en-US" sz="1600" dirty="0"/>
          </a:p>
        </p:txBody>
      </p:sp>
      <p:sp>
        <p:nvSpPr>
          <p:cNvPr id="11" name="Shape 9"/>
          <p:cNvSpPr/>
          <p:nvPr/>
        </p:nvSpPr>
        <p:spPr>
          <a:xfrm>
            <a:off x="746330" y="2892029"/>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12" name="Text 10"/>
          <p:cNvSpPr/>
          <p:nvPr/>
        </p:nvSpPr>
        <p:spPr>
          <a:xfrm>
            <a:off x="846910" y="2938674"/>
            <a:ext cx="151598"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2</a:t>
            </a:r>
            <a:endParaRPr lang="en-US" sz="1600" dirty="0"/>
          </a:p>
        </p:txBody>
      </p:sp>
      <p:sp>
        <p:nvSpPr>
          <p:cNvPr id="13" name="Text 11"/>
          <p:cNvSpPr/>
          <p:nvPr/>
        </p:nvSpPr>
        <p:spPr>
          <a:xfrm>
            <a:off x="1119495" y="2868706"/>
            <a:ext cx="3894910"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基于current snapshot读取需要更新的数据(某个分区)</a:t>
            </a:r>
            <a:endParaRPr lang="en-US" sz="1600" dirty="0"/>
          </a:p>
        </p:txBody>
      </p:sp>
      <p:sp>
        <p:nvSpPr>
          <p:cNvPr id="14" name="Shape 12"/>
          <p:cNvSpPr/>
          <p:nvPr/>
        </p:nvSpPr>
        <p:spPr>
          <a:xfrm>
            <a:off x="746330" y="3288516"/>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15" name="Text 13"/>
          <p:cNvSpPr/>
          <p:nvPr/>
        </p:nvSpPr>
        <p:spPr>
          <a:xfrm>
            <a:off x="845088" y="3335162"/>
            <a:ext cx="151598"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3</a:t>
            </a:r>
            <a:endParaRPr lang="en-US" sz="1600" dirty="0"/>
          </a:p>
        </p:txBody>
      </p:sp>
      <p:sp>
        <p:nvSpPr>
          <p:cNvPr id="16" name="Text 14"/>
          <p:cNvSpPr/>
          <p:nvPr/>
        </p:nvSpPr>
        <p:spPr>
          <a:xfrm>
            <a:off x="1119495" y="3265194"/>
            <a:ext cx="3568390"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计算引擎(Spark/Flink)生成新的Parquet文件集合</a:t>
            </a:r>
            <a:endParaRPr lang="en-US" sz="1600" dirty="0"/>
          </a:p>
        </p:txBody>
      </p:sp>
      <p:sp>
        <p:nvSpPr>
          <p:cNvPr id="17" name="Shape 15"/>
          <p:cNvSpPr/>
          <p:nvPr/>
        </p:nvSpPr>
        <p:spPr>
          <a:xfrm>
            <a:off x="746330" y="3685004"/>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18" name="Text 16"/>
          <p:cNvSpPr/>
          <p:nvPr/>
        </p:nvSpPr>
        <p:spPr>
          <a:xfrm>
            <a:off x="845179" y="3731650"/>
            <a:ext cx="151598"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4</a:t>
            </a:r>
            <a:endParaRPr lang="en-US" sz="1600" dirty="0"/>
          </a:p>
        </p:txBody>
      </p:sp>
      <p:sp>
        <p:nvSpPr>
          <p:cNvPr id="19" name="Text 17"/>
          <p:cNvSpPr/>
          <p:nvPr/>
        </p:nvSpPr>
        <p:spPr>
          <a:xfrm>
            <a:off x="1119495" y="3661681"/>
            <a:ext cx="3580052"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写入新的Manifest File(记录新文件及其统计信息)</a:t>
            </a:r>
            <a:endParaRPr lang="en-US" sz="1600" dirty="0"/>
          </a:p>
        </p:txBody>
      </p:sp>
      <p:sp>
        <p:nvSpPr>
          <p:cNvPr id="20" name="Shape 18"/>
          <p:cNvSpPr/>
          <p:nvPr/>
        </p:nvSpPr>
        <p:spPr>
          <a:xfrm>
            <a:off x="746330" y="4081492"/>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21" name="Text 19"/>
          <p:cNvSpPr/>
          <p:nvPr/>
        </p:nvSpPr>
        <p:spPr>
          <a:xfrm>
            <a:off x="844450" y="4128138"/>
            <a:ext cx="151598"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5</a:t>
            </a:r>
            <a:endParaRPr lang="en-US" sz="1600" dirty="0"/>
          </a:p>
        </p:txBody>
      </p:sp>
      <p:sp>
        <p:nvSpPr>
          <p:cNvPr id="22" name="Text 20"/>
          <p:cNvSpPr/>
          <p:nvPr/>
        </p:nvSpPr>
        <p:spPr>
          <a:xfrm>
            <a:off x="1119495" y="4058169"/>
            <a:ext cx="3976539"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写入新的Manifest List(描述本次快照使用的Manifests)</a:t>
            </a:r>
            <a:endParaRPr lang="en-US" sz="1600" dirty="0"/>
          </a:p>
        </p:txBody>
      </p:sp>
      <p:sp>
        <p:nvSpPr>
          <p:cNvPr id="23" name="Shape 21"/>
          <p:cNvSpPr/>
          <p:nvPr/>
        </p:nvSpPr>
        <p:spPr>
          <a:xfrm>
            <a:off x="746330" y="4477980"/>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24" name="Text 22"/>
          <p:cNvSpPr/>
          <p:nvPr/>
        </p:nvSpPr>
        <p:spPr>
          <a:xfrm>
            <a:off x="844176" y="4524626"/>
            <a:ext cx="151598"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6</a:t>
            </a:r>
            <a:endParaRPr lang="en-US" sz="1600" dirty="0"/>
          </a:p>
        </p:txBody>
      </p:sp>
      <p:sp>
        <p:nvSpPr>
          <p:cNvPr id="25" name="Text 23"/>
          <p:cNvSpPr/>
          <p:nvPr/>
        </p:nvSpPr>
        <p:spPr>
          <a:xfrm>
            <a:off x="1119495" y="4454657"/>
            <a:ext cx="5247633"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生成新的Metadata File(v2.json),将current snapshot指向新快照ID = 101</a:t>
            </a:r>
            <a:endParaRPr lang="en-US" sz="1600" dirty="0"/>
          </a:p>
        </p:txBody>
      </p:sp>
      <p:sp>
        <p:nvSpPr>
          <p:cNvPr id="26" name="Shape 24"/>
          <p:cNvSpPr/>
          <p:nvPr/>
        </p:nvSpPr>
        <p:spPr>
          <a:xfrm>
            <a:off x="746330" y="4874468"/>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27" name="Text 25"/>
          <p:cNvSpPr/>
          <p:nvPr/>
        </p:nvSpPr>
        <p:spPr>
          <a:xfrm>
            <a:off x="850007" y="4921113"/>
            <a:ext cx="139937"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7</a:t>
            </a:r>
            <a:endParaRPr lang="en-US" sz="1600" dirty="0"/>
          </a:p>
        </p:txBody>
      </p:sp>
      <p:sp>
        <p:nvSpPr>
          <p:cNvPr id="28" name="Text 26"/>
          <p:cNvSpPr/>
          <p:nvPr/>
        </p:nvSpPr>
        <p:spPr>
          <a:xfrm>
            <a:off x="1119495" y="4851145"/>
            <a:ext cx="3230209"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尝试向Catalog提交v2.json的引用(原子更新)</a:t>
            </a:r>
            <a:endParaRPr lang="en-US" sz="1600" dirty="0"/>
          </a:p>
        </p:txBody>
      </p:sp>
      <p:sp>
        <p:nvSpPr>
          <p:cNvPr id="29" name="Shape 27"/>
          <p:cNvSpPr/>
          <p:nvPr/>
        </p:nvSpPr>
        <p:spPr>
          <a:xfrm>
            <a:off x="746330" y="5270956"/>
            <a:ext cx="279874" cy="279874"/>
          </a:xfrm>
          <a:custGeom>
            <a:avLst/>
            <a:gdLst/>
            <a:ahLst/>
            <a:cxnLst/>
            <a:rect l="l" t="t" r="r" b="b"/>
            <a:pathLst>
              <a:path w="279874" h="279874">
                <a:moveTo>
                  <a:pt x="139937" y="0"/>
                </a:moveTo>
                <a:lnTo>
                  <a:pt x="139937" y="0"/>
                </a:lnTo>
                <a:cubicBezTo>
                  <a:pt x="217170" y="0"/>
                  <a:pt x="279874" y="62704"/>
                  <a:pt x="279874" y="139937"/>
                </a:cubicBezTo>
                <a:lnTo>
                  <a:pt x="279874" y="139937"/>
                </a:lnTo>
                <a:cubicBezTo>
                  <a:pt x="279874" y="217170"/>
                  <a:pt x="217170" y="279874"/>
                  <a:pt x="139937" y="279874"/>
                </a:cubicBezTo>
                <a:lnTo>
                  <a:pt x="139937" y="279874"/>
                </a:lnTo>
                <a:cubicBezTo>
                  <a:pt x="62704" y="279874"/>
                  <a:pt x="0" y="217170"/>
                  <a:pt x="0" y="139937"/>
                </a:cubicBezTo>
                <a:lnTo>
                  <a:pt x="0" y="139937"/>
                </a:lnTo>
                <a:cubicBezTo>
                  <a:pt x="0" y="62704"/>
                  <a:pt x="62704" y="0"/>
                  <a:pt x="139937" y="0"/>
                </a:cubicBezTo>
                <a:close/>
              </a:path>
            </a:pathLst>
          </a:custGeom>
          <a:solidFill>
            <a:srgbClr val="4FD1C5">
              <a:alpha val="20000"/>
            </a:srgbClr>
          </a:solidFill>
          <a:ln/>
        </p:spPr>
        <p:txBody>
          <a:bodyPr/>
          <a:lstStyle/>
          <a:p>
            <a:endParaRPr lang="zh-CN" altLang="en-US"/>
          </a:p>
        </p:txBody>
      </p:sp>
      <p:sp>
        <p:nvSpPr>
          <p:cNvPr id="30" name="Text 28"/>
          <p:cNvSpPr/>
          <p:nvPr/>
        </p:nvSpPr>
        <p:spPr>
          <a:xfrm>
            <a:off x="842628" y="5317601"/>
            <a:ext cx="151598" cy="186582"/>
          </a:xfrm>
          <a:prstGeom prst="rect">
            <a:avLst/>
          </a:prstGeom>
          <a:noFill/>
          <a:ln/>
        </p:spPr>
        <p:txBody>
          <a:bodyPr wrap="square" lIns="0" tIns="0" rIns="0" bIns="0" rtlCol="0" anchor="ctr"/>
          <a:lstStyle/>
          <a:p>
            <a:pPr>
              <a:lnSpc>
                <a:spcPct val="110000"/>
              </a:lnSpc>
            </a:pPr>
            <a:r>
              <a:rPr lang="en-US" sz="1102" b="1" dirty="0">
                <a:solidFill>
                  <a:srgbClr val="4FD1C5"/>
                </a:solidFill>
                <a:latin typeface="MiSans" pitchFamily="34" charset="0"/>
                <a:ea typeface="MiSans" pitchFamily="34" charset="-122"/>
                <a:cs typeface="MiSans" pitchFamily="34" charset="-120"/>
              </a:rPr>
              <a:t>8</a:t>
            </a:r>
            <a:endParaRPr lang="en-US" sz="1600" dirty="0"/>
          </a:p>
        </p:txBody>
      </p:sp>
      <p:sp>
        <p:nvSpPr>
          <p:cNvPr id="31" name="Text 29"/>
          <p:cNvSpPr/>
          <p:nvPr/>
        </p:nvSpPr>
        <p:spPr>
          <a:xfrm>
            <a:off x="1119495" y="5247633"/>
            <a:ext cx="3393469" cy="233228"/>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老的快照(100)处于"可回滚/可查询"的历史状态</a:t>
            </a:r>
            <a:endParaRPr lang="en-US" sz="1600" dirty="0"/>
          </a:p>
        </p:txBody>
      </p:sp>
      <p:sp>
        <p:nvSpPr>
          <p:cNvPr id="32" name="Shape 30"/>
          <p:cNvSpPr/>
          <p:nvPr/>
        </p:nvSpPr>
        <p:spPr>
          <a:xfrm>
            <a:off x="466456" y="5970640"/>
            <a:ext cx="7544930" cy="1632597"/>
          </a:xfrm>
          <a:custGeom>
            <a:avLst/>
            <a:gdLst/>
            <a:ahLst/>
            <a:cxnLst/>
            <a:rect l="l" t="t" r="r" b="b"/>
            <a:pathLst>
              <a:path w="7544930" h="1632597">
                <a:moveTo>
                  <a:pt x="93287" y="0"/>
                </a:moveTo>
                <a:lnTo>
                  <a:pt x="7451643" y="0"/>
                </a:lnTo>
                <a:cubicBezTo>
                  <a:pt x="7503164" y="0"/>
                  <a:pt x="7544930" y="41766"/>
                  <a:pt x="7544930" y="93287"/>
                </a:cubicBezTo>
                <a:lnTo>
                  <a:pt x="7544930" y="1539310"/>
                </a:lnTo>
                <a:cubicBezTo>
                  <a:pt x="7544930" y="1590831"/>
                  <a:pt x="7503164" y="1632597"/>
                  <a:pt x="7451643" y="1632597"/>
                </a:cubicBezTo>
                <a:lnTo>
                  <a:pt x="93287" y="1632597"/>
                </a:lnTo>
                <a:cubicBezTo>
                  <a:pt x="41766" y="1632597"/>
                  <a:pt x="0" y="1590831"/>
                  <a:pt x="0" y="1539310"/>
                </a:cubicBezTo>
                <a:lnTo>
                  <a:pt x="0" y="93287"/>
                </a:lnTo>
                <a:cubicBezTo>
                  <a:pt x="0" y="41800"/>
                  <a:pt x="41800" y="0"/>
                  <a:pt x="93287" y="0"/>
                </a:cubicBezTo>
                <a:close/>
              </a:path>
            </a:pathLst>
          </a:custGeom>
          <a:solidFill>
            <a:srgbClr val="4A5568">
              <a:alpha val="30196"/>
            </a:srgbClr>
          </a:solidFill>
          <a:ln/>
        </p:spPr>
        <p:txBody>
          <a:bodyPr/>
          <a:lstStyle/>
          <a:p>
            <a:endParaRPr lang="zh-CN" altLang="en-US"/>
          </a:p>
        </p:txBody>
      </p:sp>
      <p:sp>
        <p:nvSpPr>
          <p:cNvPr id="33" name="Text 31"/>
          <p:cNvSpPr/>
          <p:nvPr/>
        </p:nvSpPr>
        <p:spPr>
          <a:xfrm>
            <a:off x="653039" y="6157222"/>
            <a:ext cx="7276717" cy="326519"/>
          </a:xfrm>
          <a:prstGeom prst="rect">
            <a:avLst/>
          </a:prstGeom>
          <a:noFill/>
          <a:ln/>
        </p:spPr>
        <p:txBody>
          <a:bodyPr wrap="square" lIns="0" tIns="0" rIns="0" bIns="0" rtlCol="0" anchor="ctr"/>
          <a:lstStyle/>
          <a:p>
            <a:pPr>
              <a:lnSpc>
                <a:spcPct val="130000"/>
              </a:lnSpc>
            </a:pPr>
            <a:r>
              <a:rPr lang="en-US" sz="1653" b="1" dirty="0">
                <a:solidFill>
                  <a:srgbClr val="4FD1C5"/>
                </a:solidFill>
                <a:latin typeface="MiSans" pitchFamily="34" charset="0"/>
                <a:ea typeface="MiSans" pitchFamily="34" charset="-122"/>
                <a:cs typeface="MiSans" pitchFamily="34" charset="-120"/>
              </a:rPr>
              <a:t>Copy-On-Write核心思想</a:t>
            </a:r>
            <a:endParaRPr lang="en-US" sz="1600" dirty="0"/>
          </a:p>
        </p:txBody>
      </p:sp>
      <p:sp>
        <p:nvSpPr>
          <p:cNvPr id="34" name="Text 32"/>
          <p:cNvSpPr/>
          <p:nvPr/>
        </p:nvSpPr>
        <p:spPr>
          <a:xfrm>
            <a:off x="653039" y="6623679"/>
            <a:ext cx="7253395" cy="792976"/>
          </a:xfrm>
          <a:prstGeom prst="rect">
            <a:avLst/>
          </a:prstGeom>
          <a:noFill/>
          <a:ln/>
        </p:spPr>
        <p:txBody>
          <a:bodyPr wrap="square" lIns="0" tIns="0" rIns="0" bIns="0" rtlCol="0" anchor="ctr"/>
          <a:lstStyle/>
          <a:p>
            <a:pPr>
              <a:lnSpc>
                <a:spcPct val="140000"/>
              </a:lnSpc>
            </a:pPr>
            <a:r>
              <a:rPr lang="en-US" sz="1286" dirty="0">
                <a:solidFill>
                  <a:srgbClr val="A0AEC0"/>
                </a:solidFill>
                <a:latin typeface="MiSans" pitchFamily="34" charset="0"/>
                <a:ea typeface="MiSans" pitchFamily="34" charset="-122"/>
                <a:cs typeface="MiSans" pitchFamily="34" charset="-120"/>
              </a:rPr>
              <a:t>在不可变文件系统上实现UPDATE或DELETE,核心思想是使用Copy-On-Write：不直接修改旧文件,而是写出新文件,再通过快照切换暴露新版本。一次"写入并提交"既是对数据文件的更新,也是对"当前快照指针"的原子性更新。</a:t>
            </a:r>
            <a:endParaRPr lang="en-US" sz="1600" dirty="0"/>
          </a:p>
        </p:txBody>
      </p:sp>
      <p:sp>
        <p:nvSpPr>
          <p:cNvPr id="35" name="Shape 33"/>
          <p:cNvSpPr/>
          <p:nvPr/>
        </p:nvSpPr>
        <p:spPr>
          <a:xfrm>
            <a:off x="8266570" y="1725888"/>
            <a:ext cx="7521607" cy="4384689"/>
          </a:xfrm>
          <a:custGeom>
            <a:avLst/>
            <a:gdLst/>
            <a:ahLst/>
            <a:cxnLst/>
            <a:rect l="l" t="t" r="r" b="b"/>
            <a:pathLst>
              <a:path w="7521607" h="4384689">
                <a:moveTo>
                  <a:pt x="46646" y="0"/>
                </a:moveTo>
                <a:lnTo>
                  <a:pt x="7428301" y="0"/>
                </a:lnTo>
                <a:cubicBezTo>
                  <a:pt x="7479832" y="0"/>
                  <a:pt x="7521607" y="41775"/>
                  <a:pt x="7521607" y="93306"/>
                </a:cubicBezTo>
                <a:lnTo>
                  <a:pt x="7521607" y="4291382"/>
                </a:lnTo>
                <a:cubicBezTo>
                  <a:pt x="7521607" y="4342914"/>
                  <a:pt x="7479832" y="4384689"/>
                  <a:pt x="7428301" y="4384689"/>
                </a:cubicBezTo>
                <a:lnTo>
                  <a:pt x="46646" y="4384689"/>
                </a:lnTo>
                <a:cubicBezTo>
                  <a:pt x="20884" y="4384689"/>
                  <a:pt x="0" y="4363805"/>
                  <a:pt x="0" y="4338043"/>
                </a:cubicBezTo>
                <a:lnTo>
                  <a:pt x="0" y="46646"/>
                </a:lnTo>
                <a:cubicBezTo>
                  <a:pt x="0" y="20884"/>
                  <a:pt x="20884" y="0"/>
                  <a:pt x="46646" y="0"/>
                </a:cubicBezTo>
                <a:close/>
              </a:path>
            </a:pathLst>
          </a:custGeom>
          <a:solidFill>
            <a:srgbClr val="4FD1C5">
              <a:alpha val="10196"/>
            </a:srgbClr>
          </a:solidFill>
          <a:ln/>
        </p:spPr>
        <p:txBody>
          <a:bodyPr/>
          <a:lstStyle/>
          <a:p>
            <a:endParaRPr lang="zh-CN" altLang="en-US"/>
          </a:p>
        </p:txBody>
      </p:sp>
      <p:sp>
        <p:nvSpPr>
          <p:cNvPr id="36" name="Shape 34"/>
          <p:cNvSpPr/>
          <p:nvPr/>
        </p:nvSpPr>
        <p:spPr>
          <a:xfrm>
            <a:off x="8266570" y="1725888"/>
            <a:ext cx="46646" cy="4384689"/>
          </a:xfrm>
          <a:custGeom>
            <a:avLst/>
            <a:gdLst/>
            <a:ahLst/>
            <a:cxnLst/>
            <a:rect l="l" t="t" r="r" b="b"/>
            <a:pathLst>
              <a:path w="46646" h="4384689">
                <a:moveTo>
                  <a:pt x="46646" y="0"/>
                </a:moveTo>
                <a:lnTo>
                  <a:pt x="46646" y="0"/>
                </a:lnTo>
                <a:lnTo>
                  <a:pt x="46646" y="4384689"/>
                </a:lnTo>
                <a:lnTo>
                  <a:pt x="46646" y="4384689"/>
                </a:lnTo>
                <a:cubicBezTo>
                  <a:pt x="20884" y="4384689"/>
                  <a:pt x="0" y="4363805"/>
                  <a:pt x="0" y="4338043"/>
                </a:cubicBezTo>
                <a:lnTo>
                  <a:pt x="0" y="46646"/>
                </a:lnTo>
                <a:cubicBezTo>
                  <a:pt x="0" y="20884"/>
                  <a:pt x="20884" y="0"/>
                  <a:pt x="46646" y="0"/>
                </a:cubicBezTo>
                <a:close/>
              </a:path>
            </a:pathLst>
          </a:custGeom>
          <a:solidFill>
            <a:srgbClr val="4FD1C5"/>
          </a:solidFill>
          <a:ln/>
        </p:spPr>
        <p:txBody>
          <a:bodyPr/>
          <a:lstStyle/>
          <a:p>
            <a:endParaRPr lang="zh-CN" altLang="en-US"/>
          </a:p>
        </p:txBody>
      </p:sp>
      <p:sp>
        <p:nvSpPr>
          <p:cNvPr id="37" name="Text 35"/>
          <p:cNvSpPr/>
          <p:nvPr/>
        </p:nvSpPr>
        <p:spPr>
          <a:xfrm>
            <a:off x="8523121" y="1959116"/>
            <a:ext cx="7148442" cy="326519"/>
          </a:xfrm>
          <a:prstGeom prst="rect">
            <a:avLst/>
          </a:prstGeom>
          <a:noFill/>
          <a:ln/>
        </p:spPr>
        <p:txBody>
          <a:bodyPr wrap="square" lIns="0" tIns="0" rIns="0" bIns="0" rtlCol="0" anchor="ctr"/>
          <a:lstStyle/>
          <a:p>
            <a:pPr>
              <a:lnSpc>
                <a:spcPct val="120000"/>
              </a:lnSpc>
            </a:pPr>
            <a:r>
              <a:rPr lang="en-US" sz="1836" b="1" dirty="0">
                <a:solidFill>
                  <a:srgbClr val="F7FAFC"/>
                </a:solidFill>
                <a:latin typeface="Noto Sans SC" pitchFamily="34" charset="0"/>
                <a:ea typeface="Noto Sans SC" pitchFamily="34" charset="-122"/>
                <a:cs typeface="Noto Sans SC" pitchFamily="34" charset="-120"/>
              </a:rPr>
              <a:t>ACID语义保证</a:t>
            </a:r>
            <a:endParaRPr lang="en-US" sz="1600" dirty="0"/>
          </a:p>
        </p:txBody>
      </p:sp>
      <p:sp>
        <p:nvSpPr>
          <p:cNvPr id="38" name="Shape 36"/>
          <p:cNvSpPr/>
          <p:nvPr/>
        </p:nvSpPr>
        <p:spPr>
          <a:xfrm>
            <a:off x="8523121" y="2472218"/>
            <a:ext cx="349842" cy="373165"/>
          </a:xfrm>
          <a:custGeom>
            <a:avLst/>
            <a:gdLst/>
            <a:ahLst/>
            <a:cxnLst/>
            <a:rect l="l" t="t" r="r" b="b"/>
            <a:pathLst>
              <a:path w="349842" h="373165">
                <a:moveTo>
                  <a:pt x="46644" y="0"/>
                </a:moveTo>
                <a:lnTo>
                  <a:pt x="303198" y="0"/>
                </a:lnTo>
                <a:cubicBezTo>
                  <a:pt x="328959" y="0"/>
                  <a:pt x="349842" y="20883"/>
                  <a:pt x="349842" y="46644"/>
                </a:cubicBezTo>
                <a:lnTo>
                  <a:pt x="349842" y="326521"/>
                </a:lnTo>
                <a:cubicBezTo>
                  <a:pt x="349842" y="352282"/>
                  <a:pt x="328959" y="373165"/>
                  <a:pt x="303198" y="373165"/>
                </a:cubicBezTo>
                <a:lnTo>
                  <a:pt x="46644" y="373165"/>
                </a:lnTo>
                <a:cubicBezTo>
                  <a:pt x="20883" y="373165"/>
                  <a:pt x="0" y="352282"/>
                  <a:pt x="0" y="326521"/>
                </a:cubicBezTo>
                <a:lnTo>
                  <a:pt x="0" y="46644"/>
                </a:lnTo>
                <a:cubicBezTo>
                  <a:pt x="0" y="20901"/>
                  <a:pt x="20901" y="0"/>
                  <a:pt x="46644" y="0"/>
                </a:cubicBezTo>
                <a:close/>
              </a:path>
            </a:pathLst>
          </a:custGeom>
          <a:solidFill>
            <a:srgbClr val="4FD1C5"/>
          </a:solidFill>
          <a:ln/>
        </p:spPr>
        <p:txBody>
          <a:bodyPr/>
          <a:lstStyle/>
          <a:p>
            <a:endParaRPr lang="zh-CN" altLang="en-US"/>
          </a:p>
        </p:txBody>
      </p:sp>
      <p:sp>
        <p:nvSpPr>
          <p:cNvPr id="39" name="Text 37"/>
          <p:cNvSpPr/>
          <p:nvPr/>
        </p:nvSpPr>
        <p:spPr>
          <a:xfrm>
            <a:off x="8635818" y="2518864"/>
            <a:ext cx="221567" cy="279874"/>
          </a:xfrm>
          <a:prstGeom prst="rect">
            <a:avLst/>
          </a:prstGeom>
          <a:noFill/>
          <a:ln/>
        </p:spPr>
        <p:txBody>
          <a:bodyPr wrap="square" lIns="0" tIns="0" rIns="0" bIns="0" rtlCol="0" anchor="ctr"/>
          <a:lstStyle/>
          <a:p>
            <a:pPr>
              <a:lnSpc>
                <a:spcPct val="130000"/>
              </a:lnSpc>
            </a:pPr>
            <a:r>
              <a:rPr lang="en-US" sz="1469" b="1" dirty="0">
                <a:solidFill>
                  <a:srgbClr val="1A202C"/>
                </a:solidFill>
                <a:latin typeface="MiSans" pitchFamily="34" charset="0"/>
                <a:ea typeface="MiSans" pitchFamily="34" charset="-122"/>
                <a:cs typeface="MiSans" pitchFamily="34" charset="-120"/>
              </a:rPr>
              <a:t>A</a:t>
            </a:r>
            <a:endParaRPr lang="en-US" sz="1600" dirty="0"/>
          </a:p>
        </p:txBody>
      </p:sp>
      <p:sp>
        <p:nvSpPr>
          <p:cNvPr id="40" name="Text 38"/>
          <p:cNvSpPr/>
          <p:nvPr/>
        </p:nvSpPr>
        <p:spPr>
          <a:xfrm>
            <a:off x="9011260" y="2472218"/>
            <a:ext cx="6635340" cy="279874"/>
          </a:xfrm>
          <a:prstGeom prst="rect">
            <a:avLst/>
          </a:prstGeom>
          <a:noFill/>
          <a:ln/>
        </p:spPr>
        <p:txBody>
          <a:bodyPr wrap="square" lIns="0" tIns="0" rIns="0" bIns="0" rtlCol="0" anchor="ctr"/>
          <a:lstStyle/>
          <a:p>
            <a:pPr>
              <a:lnSpc>
                <a:spcPct val="130000"/>
              </a:lnSpc>
            </a:pPr>
            <a:r>
              <a:rPr lang="en-US" sz="1469" b="1" dirty="0">
                <a:solidFill>
                  <a:srgbClr val="F7FAFC"/>
                </a:solidFill>
                <a:latin typeface="MiSans" pitchFamily="34" charset="0"/>
                <a:ea typeface="MiSans" pitchFamily="34" charset="-122"/>
                <a:cs typeface="MiSans" pitchFamily="34" charset="-120"/>
              </a:rPr>
              <a:t>原子性 Atomicity</a:t>
            </a:r>
            <a:endParaRPr lang="en-US" sz="1600" dirty="0"/>
          </a:p>
        </p:txBody>
      </p:sp>
      <p:sp>
        <p:nvSpPr>
          <p:cNvPr id="41" name="Text 39"/>
          <p:cNvSpPr/>
          <p:nvPr/>
        </p:nvSpPr>
        <p:spPr>
          <a:xfrm>
            <a:off x="9011260" y="2752092"/>
            <a:ext cx="6623679" cy="466456"/>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要么Catalog成功切换到新Metadata File,要么保持指向旧版本,不会出现"部分文件可见"的中间状态</a:t>
            </a:r>
            <a:endParaRPr lang="en-US" sz="1600" dirty="0"/>
          </a:p>
        </p:txBody>
      </p:sp>
      <p:sp>
        <p:nvSpPr>
          <p:cNvPr id="42" name="Shape 40"/>
          <p:cNvSpPr/>
          <p:nvPr/>
        </p:nvSpPr>
        <p:spPr>
          <a:xfrm>
            <a:off x="8523121" y="3358485"/>
            <a:ext cx="338181" cy="373165"/>
          </a:xfrm>
          <a:custGeom>
            <a:avLst/>
            <a:gdLst/>
            <a:ahLst/>
            <a:cxnLst/>
            <a:rect l="l" t="t" r="r" b="b"/>
            <a:pathLst>
              <a:path w="338181" h="373165">
                <a:moveTo>
                  <a:pt x="46645" y="0"/>
                </a:moveTo>
                <a:lnTo>
                  <a:pt x="291536" y="0"/>
                </a:lnTo>
                <a:cubicBezTo>
                  <a:pt x="317297" y="0"/>
                  <a:pt x="338181" y="20884"/>
                  <a:pt x="338181" y="46645"/>
                </a:cubicBezTo>
                <a:lnTo>
                  <a:pt x="338181" y="326520"/>
                </a:lnTo>
                <a:cubicBezTo>
                  <a:pt x="338181" y="352281"/>
                  <a:pt x="317297" y="373165"/>
                  <a:pt x="291536" y="373165"/>
                </a:cubicBezTo>
                <a:lnTo>
                  <a:pt x="46645" y="373165"/>
                </a:lnTo>
                <a:cubicBezTo>
                  <a:pt x="20884" y="373165"/>
                  <a:pt x="0" y="352281"/>
                  <a:pt x="0" y="326520"/>
                </a:cubicBezTo>
                <a:lnTo>
                  <a:pt x="0" y="46645"/>
                </a:lnTo>
                <a:cubicBezTo>
                  <a:pt x="0" y="20884"/>
                  <a:pt x="20884" y="0"/>
                  <a:pt x="46645" y="0"/>
                </a:cubicBezTo>
                <a:close/>
              </a:path>
            </a:pathLst>
          </a:custGeom>
          <a:solidFill>
            <a:srgbClr val="4FD1C5"/>
          </a:solidFill>
          <a:ln/>
        </p:spPr>
        <p:txBody>
          <a:bodyPr/>
          <a:lstStyle/>
          <a:p>
            <a:endParaRPr lang="zh-CN" altLang="en-US"/>
          </a:p>
        </p:txBody>
      </p:sp>
      <p:sp>
        <p:nvSpPr>
          <p:cNvPr id="43" name="Text 41"/>
          <p:cNvSpPr/>
          <p:nvPr/>
        </p:nvSpPr>
        <p:spPr>
          <a:xfrm>
            <a:off x="8628529" y="3405131"/>
            <a:ext cx="221567" cy="279874"/>
          </a:xfrm>
          <a:prstGeom prst="rect">
            <a:avLst/>
          </a:prstGeom>
          <a:noFill/>
          <a:ln/>
        </p:spPr>
        <p:txBody>
          <a:bodyPr wrap="square" lIns="0" tIns="0" rIns="0" bIns="0" rtlCol="0" anchor="ctr"/>
          <a:lstStyle/>
          <a:p>
            <a:pPr>
              <a:lnSpc>
                <a:spcPct val="130000"/>
              </a:lnSpc>
            </a:pPr>
            <a:r>
              <a:rPr lang="en-US" sz="1469" b="1" dirty="0">
                <a:solidFill>
                  <a:srgbClr val="1A202C"/>
                </a:solidFill>
                <a:latin typeface="MiSans" pitchFamily="34" charset="0"/>
                <a:ea typeface="MiSans" pitchFamily="34" charset="-122"/>
                <a:cs typeface="MiSans" pitchFamily="34" charset="-120"/>
              </a:rPr>
              <a:t>C</a:t>
            </a:r>
            <a:endParaRPr lang="en-US" sz="1600" dirty="0"/>
          </a:p>
        </p:txBody>
      </p:sp>
      <p:sp>
        <p:nvSpPr>
          <p:cNvPr id="44" name="Text 42"/>
          <p:cNvSpPr/>
          <p:nvPr/>
        </p:nvSpPr>
        <p:spPr>
          <a:xfrm>
            <a:off x="9003972" y="3358485"/>
            <a:ext cx="6647001" cy="279874"/>
          </a:xfrm>
          <a:prstGeom prst="rect">
            <a:avLst/>
          </a:prstGeom>
          <a:noFill/>
          <a:ln/>
        </p:spPr>
        <p:txBody>
          <a:bodyPr wrap="square" lIns="0" tIns="0" rIns="0" bIns="0" rtlCol="0" anchor="ctr"/>
          <a:lstStyle/>
          <a:p>
            <a:pPr>
              <a:lnSpc>
                <a:spcPct val="130000"/>
              </a:lnSpc>
            </a:pPr>
            <a:r>
              <a:rPr lang="en-US" sz="1469" b="1" dirty="0">
                <a:solidFill>
                  <a:srgbClr val="F7FAFC"/>
                </a:solidFill>
                <a:latin typeface="MiSans" pitchFamily="34" charset="0"/>
                <a:ea typeface="MiSans" pitchFamily="34" charset="-122"/>
                <a:cs typeface="MiSans" pitchFamily="34" charset="-120"/>
              </a:rPr>
              <a:t>一致性 Consistency</a:t>
            </a:r>
            <a:endParaRPr lang="en-US" sz="1600" dirty="0"/>
          </a:p>
        </p:txBody>
      </p:sp>
      <p:sp>
        <p:nvSpPr>
          <p:cNvPr id="45" name="Text 43"/>
          <p:cNvSpPr/>
          <p:nvPr/>
        </p:nvSpPr>
        <p:spPr>
          <a:xfrm>
            <a:off x="9003972" y="3638359"/>
            <a:ext cx="6635340" cy="466456"/>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只有通过完整快照提交流程生成的新版本才会对外可见,所有读者看到的都是"某个快照下的一致视图"</a:t>
            </a:r>
            <a:endParaRPr lang="en-US" sz="1600" dirty="0"/>
          </a:p>
        </p:txBody>
      </p:sp>
      <p:sp>
        <p:nvSpPr>
          <p:cNvPr id="46" name="Shape 44"/>
          <p:cNvSpPr/>
          <p:nvPr/>
        </p:nvSpPr>
        <p:spPr>
          <a:xfrm>
            <a:off x="8523121" y="4244752"/>
            <a:ext cx="349842" cy="373165"/>
          </a:xfrm>
          <a:custGeom>
            <a:avLst/>
            <a:gdLst/>
            <a:ahLst/>
            <a:cxnLst/>
            <a:rect l="l" t="t" r="r" b="b"/>
            <a:pathLst>
              <a:path w="349842" h="373165">
                <a:moveTo>
                  <a:pt x="46644" y="0"/>
                </a:moveTo>
                <a:lnTo>
                  <a:pt x="303198" y="0"/>
                </a:lnTo>
                <a:cubicBezTo>
                  <a:pt x="328959" y="0"/>
                  <a:pt x="349842" y="20883"/>
                  <a:pt x="349842" y="46644"/>
                </a:cubicBezTo>
                <a:lnTo>
                  <a:pt x="349842" y="326521"/>
                </a:lnTo>
                <a:cubicBezTo>
                  <a:pt x="349842" y="352282"/>
                  <a:pt x="328959" y="373165"/>
                  <a:pt x="303198" y="373165"/>
                </a:cubicBezTo>
                <a:lnTo>
                  <a:pt x="46644" y="373165"/>
                </a:lnTo>
                <a:cubicBezTo>
                  <a:pt x="20883" y="373165"/>
                  <a:pt x="0" y="352282"/>
                  <a:pt x="0" y="326521"/>
                </a:cubicBezTo>
                <a:lnTo>
                  <a:pt x="0" y="46644"/>
                </a:lnTo>
                <a:cubicBezTo>
                  <a:pt x="0" y="20901"/>
                  <a:pt x="20901" y="0"/>
                  <a:pt x="46644" y="0"/>
                </a:cubicBezTo>
                <a:close/>
              </a:path>
            </a:pathLst>
          </a:custGeom>
          <a:solidFill>
            <a:srgbClr val="4FD1C5"/>
          </a:solidFill>
          <a:ln/>
        </p:spPr>
        <p:txBody>
          <a:bodyPr/>
          <a:lstStyle/>
          <a:p>
            <a:endParaRPr lang="zh-CN" altLang="en-US"/>
          </a:p>
        </p:txBody>
      </p:sp>
      <p:sp>
        <p:nvSpPr>
          <p:cNvPr id="47" name="Text 45"/>
          <p:cNvSpPr/>
          <p:nvPr/>
        </p:nvSpPr>
        <p:spPr>
          <a:xfrm>
            <a:off x="8673900" y="4291397"/>
            <a:ext cx="139937" cy="279874"/>
          </a:xfrm>
          <a:prstGeom prst="rect">
            <a:avLst/>
          </a:prstGeom>
          <a:noFill/>
          <a:ln/>
        </p:spPr>
        <p:txBody>
          <a:bodyPr wrap="square" lIns="0" tIns="0" rIns="0" bIns="0" rtlCol="0" anchor="ctr"/>
          <a:lstStyle/>
          <a:p>
            <a:pPr>
              <a:lnSpc>
                <a:spcPct val="130000"/>
              </a:lnSpc>
            </a:pPr>
            <a:r>
              <a:rPr lang="en-US" sz="1469" b="1" dirty="0">
                <a:solidFill>
                  <a:srgbClr val="1A202C"/>
                </a:solidFill>
                <a:latin typeface="MiSans" pitchFamily="34" charset="0"/>
                <a:ea typeface="MiSans" pitchFamily="34" charset="-122"/>
                <a:cs typeface="MiSans" pitchFamily="34" charset="-120"/>
              </a:rPr>
              <a:t>I</a:t>
            </a:r>
            <a:endParaRPr lang="en-US" sz="1600" dirty="0"/>
          </a:p>
        </p:txBody>
      </p:sp>
      <p:sp>
        <p:nvSpPr>
          <p:cNvPr id="48" name="Text 46"/>
          <p:cNvSpPr/>
          <p:nvPr/>
        </p:nvSpPr>
        <p:spPr>
          <a:xfrm>
            <a:off x="9008892" y="4244752"/>
            <a:ext cx="6635340" cy="279874"/>
          </a:xfrm>
          <a:prstGeom prst="rect">
            <a:avLst/>
          </a:prstGeom>
          <a:noFill/>
          <a:ln/>
        </p:spPr>
        <p:txBody>
          <a:bodyPr wrap="square" lIns="0" tIns="0" rIns="0" bIns="0" rtlCol="0" anchor="ctr"/>
          <a:lstStyle/>
          <a:p>
            <a:pPr>
              <a:lnSpc>
                <a:spcPct val="130000"/>
              </a:lnSpc>
            </a:pPr>
            <a:r>
              <a:rPr lang="en-US" sz="1469" b="1" dirty="0">
                <a:solidFill>
                  <a:srgbClr val="F7FAFC"/>
                </a:solidFill>
                <a:latin typeface="MiSans" pitchFamily="34" charset="0"/>
                <a:ea typeface="MiSans" pitchFamily="34" charset="-122"/>
                <a:cs typeface="MiSans" pitchFamily="34" charset="-120"/>
              </a:rPr>
              <a:t>隔离性 Isolation</a:t>
            </a:r>
            <a:endParaRPr lang="en-US" sz="1600" dirty="0"/>
          </a:p>
        </p:txBody>
      </p:sp>
      <p:sp>
        <p:nvSpPr>
          <p:cNvPr id="49" name="Text 47"/>
          <p:cNvSpPr/>
          <p:nvPr/>
        </p:nvSpPr>
        <p:spPr>
          <a:xfrm>
            <a:off x="9008892" y="4524626"/>
            <a:ext cx="6623679" cy="466456"/>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正在进行的查询会一直基于其启动时绑定的快照读取数据,即使有新的快照提交也不会干扰当前查询</a:t>
            </a:r>
            <a:endParaRPr lang="en-US" sz="1600" dirty="0"/>
          </a:p>
        </p:txBody>
      </p:sp>
      <p:sp>
        <p:nvSpPr>
          <p:cNvPr id="50" name="Shape 48"/>
          <p:cNvSpPr/>
          <p:nvPr/>
        </p:nvSpPr>
        <p:spPr>
          <a:xfrm>
            <a:off x="8523121" y="5131019"/>
            <a:ext cx="338181" cy="373165"/>
          </a:xfrm>
          <a:custGeom>
            <a:avLst/>
            <a:gdLst/>
            <a:ahLst/>
            <a:cxnLst/>
            <a:rect l="l" t="t" r="r" b="b"/>
            <a:pathLst>
              <a:path w="338181" h="373165">
                <a:moveTo>
                  <a:pt x="46645" y="0"/>
                </a:moveTo>
                <a:lnTo>
                  <a:pt x="291536" y="0"/>
                </a:lnTo>
                <a:cubicBezTo>
                  <a:pt x="317297" y="0"/>
                  <a:pt x="338181" y="20884"/>
                  <a:pt x="338181" y="46645"/>
                </a:cubicBezTo>
                <a:lnTo>
                  <a:pt x="338181" y="326520"/>
                </a:lnTo>
                <a:cubicBezTo>
                  <a:pt x="338181" y="352281"/>
                  <a:pt x="317297" y="373165"/>
                  <a:pt x="291536" y="373165"/>
                </a:cubicBezTo>
                <a:lnTo>
                  <a:pt x="46645" y="373165"/>
                </a:lnTo>
                <a:cubicBezTo>
                  <a:pt x="20884" y="373165"/>
                  <a:pt x="0" y="352281"/>
                  <a:pt x="0" y="326520"/>
                </a:cubicBezTo>
                <a:lnTo>
                  <a:pt x="0" y="46645"/>
                </a:lnTo>
                <a:cubicBezTo>
                  <a:pt x="0" y="20884"/>
                  <a:pt x="20884" y="0"/>
                  <a:pt x="46645" y="0"/>
                </a:cubicBezTo>
                <a:close/>
              </a:path>
            </a:pathLst>
          </a:custGeom>
          <a:solidFill>
            <a:srgbClr val="4FD1C5"/>
          </a:solidFill>
          <a:ln/>
        </p:spPr>
        <p:txBody>
          <a:bodyPr/>
          <a:lstStyle/>
          <a:p>
            <a:endParaRPr lang="zh-CN" altLang="en-US"/>
          </a:p>
        </p:txBody>
      </p:sp>
      <p:sp>
        <p:nvSpPr>
          <p:cNvPr id="51" name="Text 49"/>
          <p:cNvSpPr/>
          <p:nvPr/>
        </p:nvSpPr>
        <p:spPr>
          <a:xfrm>
            <a:off x="8622243" y="5177664"/>
            <a:ext cx="233228" cy="279874"/>
          </a:xfrm>
          <a:prstGeom prst="rect">
            <a:avLst/>
          </a:prstGeom>
          <a:noFill/>
          <a:ln/>
        </p:spPr>
        <p:txBody>
          <a:bodyPr wrap="square" lIns="0" tIns="0" rIns="0" bIns="0" rtlCol="0" anchor="ctr"/>
          <a:lstStyle/>
          <a:p>
            <a:pPr>
              <a:lnSpc>
                <a:spcPct val="130000"/>
              </a:lnSpc>
            </a:pPr>
            <a:r>
              <a:rPr lang="en-US" sz="1469" b="1" dirty="0">
                <a:solidFill>
                  <a:srgbClr val="1A202C"/>
                </a:solidFill>
                <a:latin typeface="MiSans" pitchFamily="34" charset="0"/>
                <a:ea typeface="MiSans" pitchFamily="34" charset="-122"/>
                <a:cs typeface="MiSans" pitchFamily="34" charset="-120"/>
              </a:rPr>
              <a:t>D</a:t>
            </a:r>
            <a:endParaRPr lang="en-US" sz="1600" dirty="0"/>
          </a:p>
        </p:txBody>
      </p:sp>
      <p:sp>
        <p:nvSpPr>
          <p:cNvPr id="52" name="Text 50"/>
          <p:cNvSpPr/>
          <p:nvPr/>
        </p:nvSpPr>
        <p:spPr>
          <a:xfrm>
            <a:off x="8999599" y="5131019"/>
            <a:ext cx="6647001" cy="279874"/>
          </a:xfrm>
          <a:prstGeom prst="rect">
            <a:avLst/>
          </a:prstGeom>
          <a:noFill/>
          <a:ln/>
        </p:spPr>
        <p:txBody>
          <a:bodyPr wrap="square" lIns="0" tIns="0" rIns="0" bIns="0" rtlCol="0" anchor="ctr"/>
          <a:lstStyle/>
          <a:p>
            <a:pPr>
              <a:lnSpc>
                <a:spcPct val="130000"/>
              </a:lnSpc>
            </a:pPr>
            <a:r>
              <a:rPr lang="en-US" sz="1469" b="1" dirty="0">
                <a:solidFill>
                  <a:srgbClr val="F7FAFC"/>
                </a:solidFill>
                <a:latin typeface="MiSans" pitchFamily="34" charset="0"/>
                <a:ea typeface="MiSans" pitchFamily="34" charset="-122"/>
                <a:cs typeface="MiSans" pitchFamily="34" charset="-120"/>
              </a:rPr>
              <a:t>持久性 Durability</a:t>
            </a:r>
            <a:endParaRPr lang="en-US" sz="1600" dirty="0"/>
          </a:p>
        </p:txBody>
      </p:sp>
      <p:sp>
        <p:nvSpPr>
          <p:cNvPr id="53" name="Text 51"/>
          <p:cNvSpPr/>
          <p:nvPr/>
        </p:nvSpPr>
        <p:spPr>
          <a:xfrm>
            <a:off x="8999599" y="5410892"/>
            <a:ext cx="6635340" cy="466456"/>
          </a:xfrm>
          <a:prstGeom prst="rect">
            <a:avLst/>
          </a:prstGeom>
          <a:noFill/>
          <a:ln/>
        </p:spPr>
        <p:txBody>
          <a:bodyPr wrap="square" lIns="0" tIns="0" rIns="0" bIns="0" rtlCol="0" anchor="ctr"/>
          <a:lstStyle/>
          <a:p>
            <a:pPr>
              <a:lnSpc>
                <a:spcPct val="120000"/>
              </a:lnSpc>
            </a:pPr>
            <a:r>
              <a:rPr lang="en-US" sz="1286" dirty="0">
                <a:solidFill>
                  <a:srgbClr val="A0AEC0"/>
                </a:solidFill>
                <a:latin typeface="MiSans" pitchFamily="34" charset="0"/>
                <a:ea typeface="MiSans" pitchFamily="34" charset="-122"/>
                <a:cs typeface="MiSans" pitchFamily="34" charset="-120"/>
              </a:rPr>
              <a:t>一旦快照提交成功并持久化到Metadata/Manifest/Data Files,对外暴露的版本在存储层不会"悄然消失"</a:t>
            </a:r>
            <a:endParaRPr lang="en-US" sz="1600" dirty="0"/>
          </a:p>
        </p:txBody>
      </p:sp>
      <p:sp>
        <p:nvSpPr>
          <p:cNvPr id="54" name="Shape 52"/>
          <p:cNvSpPr/>
          <p:nvPr/>
        </p:nvSpPr>
        <p:spPr>
          <a:xfrm>
            <a:off x="8243247" y="6297159"/>
            <a:ext cx="7544930" cy="2378927"/>
          </a:xfrm>
          <a:custGeom>
            <a:avLst/>
            <a:gdLst/>
            <a:ahLst/>
            <a:cxnLst/>
            <a:rect l="l" t="t" r="r" b="b"/>
            <a:pathLst>
              <a:path w="7544930" h="2378927">
                <a:moveTo>
                  <a:pt x="93302" y="0"/>
                </a:moveTo>
                <a:lnTo>
                  <a:pt x="7451628" y="0"/>
                </a:lnTo>
                <a:cubicBezTo>
                  <a:pt x="7503157" y="0"/>
                  <a:pt x="7544930" y="41773"/>
                  <a:pt x="7544930" y="93302"/>
                </a:cubicBezTo>
                <a:lnTo>
                  <a:pt x="7544930" y="2285625"/>
                </a:lnTo>
                <a:cubicBezTo>
                  <a:pt x="7544930" y="2337154"/>
                  <a:pt x="7503157" y="2378927"/>
                  <a:pt x="7451628" y="2378927"/>
                </a:cubicBezTo>
                <a:lnTo>
                  <a:pt x="93302" y="2378927"/>
                </a:lnTo>
                <a:cubicBezTo>
                  <a:pt x="41773" y="2378927"/>
                  <a:pt x="0" y="2337154"/>
                  <a:pt x="0" y="2285625"/>
                </a:cubicBezTo>
                <a:lnTo>
                  <a:pt x="0" y="93302"/>
                </a:lnTo>
                <a:cubicBezTo>
                  <a:pt x="0" y="41807"/>
                  <a:pt x="41807" y="0"/>
                  <a:pt x="93302" y="0"/>
                </a:cubicBezTo>
                <a:close/>
              </a:path>
            </a:pathLst>
          </a:custGeom>
          <a:solidFill>
            <a:srgbClr val="4A5568">
              <a:alpha val="30196"/>
            </a:srgbClr>
          </a:solidFill>
          <a:ln/>
        </p:spPr>
        <p:txBody>
          <a:bodyPr/>
          <a:lstStyle/>
          <a:p>
            <a:endParaRPr lang="zh-CN" altLang="en-US"/>
          </a:p>
        </p:txBody>
      </p:sp>
      <p:sp>
        <p:nvSpPr>
          <p:cNvPr id="55" name="Text 53"/>
          <p:cNvSpPr/>
          <p:nvPr/>
        </p:nvSpPr>
        <p:spPr>
          <a:xfrm>
            <a:off x="8429830" y="6483742"/>
            <a:ext cx="7276717" cy="326519"/>
          </a:xfrm>
          <a:prstGeom prst="rect">
            <a:avLst/>
          </a:prstGeom>
          <a:noFill/>
          <a:ln/>
        </p:spPr>
        <p:txBody>
          <a:bodyPr wrap="square" lIns="0" tIns="0" rIns="0" bIns="0" rtlCol="0" anchor="ctr"/>
          <a:lstStyle/>
          <a:p>
            <a:pPr>
              <a:lnSpc>
                <a:spcPct val="130000"/>
              </a:lnSpc>
            </a:pPr>
            <a:r>
              <a:rPr lang="en-US" sz="1653" b="1" dirty="0">
                <a:solidFill>
                  <a:srgbClr val="4FD1C5"/>
                </a:solidFill>
                <a:latin typeface="MiSans" pitchFamily="34" charset="0"/>
                <a:ea typeface="MiSans" pitchFamily="34" charset="-122"/>
                <a:cs typeface="MiSans" pitchFamily="34" charset="-120"/>
              </a:rPr>
              <a:t>并发控制</a:t>
            </a:r>
            <a:endParaRPr lang="en-US" sz="1600" dirty="0"/>
          </a:p>
        </p:txBody>
      </p:sp>
      <p:sp>
        <p:nvSpPr>
          <p:cNvPr id="56" name="Text 54"/>
          <p:cNvSpPr/>
          <p:nvPr/>
        </p:nvSpPr>
        <p:spPr>
          <a:xfrm>
            <a:off x="8429830" y="6950198"/>
            <a:ext cx="7253395" cy="792976"/>
          </a:xfrm>
          <a:prstGeom prst="rect">
            <a:avLst/>
          </a:prstGeom>
          <a:noFill/>
          <a:ln/>
        </p:spPr>
        <p:txBody>
          <a:bodyPr wrap="square" lIns="0" tIns="0" rIns="0" bIns="0" rtlCol="0" anchor="ctr"/>
          <a:lstStyle/>
          <a:p>
            <a:pPr>
              <a:lnSpc>
                <a:spcPct val="140000"/>
              </a:lnSpc>
            </a:pPr>
            <a:r>
              <a:rPr lang="en-US" sz="1286" dirty="0">
                <a:solidFill>
                  <a:srgbClr val="A0AEC0"/>
                </a:solidFill>
                <a:latin typeface="MiSans" pitchFamily="34" charset="0"/>
                <a:ea typeface="MiSans" pitchFamily="34" charset="-122"/>
                <a:cs typeface="MiSans" pitchFamily="34" charset="-120"/>
              </a:rPr>
              <a:t>Iceberg采用</a:t>
            </a:r>
            <a:r>
              <a:rPr lang="en-US" sz="1286" b="1" dirty="0">
                <a:solidFill>
                  <a:srgbClr val="4FD1C5"/>
                </a:solidFill>
                <a:latin typeface="MiSans" pitchFamily="34" charset="0"/>
                <a:ea typeface="MiSans" pitchFamily="34" charset="-122"/>
                <a:cs typeface="MiSans" pitchFamily="34" charset="-120"/>
              </a:rPr>
              <a:t>乐观并发控制</a:t>
            </a:r>
            <a:r>
              <a:rPr lang="en-US" sz="1286" dirty="0">
                <a:solidFill>
                  <a:srgbClr val="A0AEC0"/>
                </a:solidFill>
                <a:latin typeface="MiSans" pitchFamily="34" charset="0"/>
                <a:ea typeface="MiSans" pitchFamily="34" charset="-122"/>
                <a:cs typeface="MiSans" pitchFamily="34" charset="-120"/>
              </a:rPr>
              <a:t>处理多作业同时写入的场景。每个写入任务基于当前快照生成新文件和Manifest,提交时检查Catalog中最新快照ID是否仍然是自己开始时看到的那个,如果不一致则需要重新基于新的快照重放写入或合并变更。</a:t>
            </a:r>
            <a:endParaRPr lang="en-US" sz="1600" dirty="0"/>
          </a:p>
        </p:txBody>
      </p:sp>
      <p:sp>
        <p:nvSpPr>
          <p:cNvPr id="57" name="Shape 55"/>
          <p:cNvSpPr/>
          <p:nvPr/>
        </p:nvSpPr>
        <p:spPr>
          <a:xfrm>
            <a:off x="8429830" y="7886026"/>
            <a:ext cx="3510083" cy="606393"/>
          </a:xfrm>
          <a:custGeom>
            <a:avLst/>
            <a:gdLst/>
            <a:ahLst/>
            <a:cxnLst/>
            <a:rect l="l" t="t" r="r" b="b"/>
            <a:pathLst>
              <a:path w="3510083" h="606393">
                <a:moveTo>
                  <a:pt x="46644" y="0"/>
                </a:moveTo>
                <a:lnTo>
                  <a:pt x="3463439" y="0"/>
                </a:lnTo>
                <a:cubicBezTo>
                  <a:pt x="3489200" y="0"/>
                  <a:pt x="3510083" y="20883"/>
                  <a:pt x="3510083" y="46644"/>
                </a:cubicBezTo>
                <a:lnTo>
                  <a:pt x="3510083" y="559749"/>
                </a:lnTo>
                <a:cubicBezTo>
                  <a:pt x="3510083" y="585510"/>
                  <a:pt x="3489200" y="606393"/>
                  <a:pt x="3463439" y="606393"/>
                </a:cubicBezTo>
                <a:lnTo>
                  <a:pt x="46644" y="606393"/>
                </a:lnTo>
                <a:cubicBezTo>
                  <a:pt x="20883" y="606393"/>
                  <a:pt x="0" y="585510"/>
                  <a:pt x="0" y="559749"/>
                </a:cubicBezTo>
                <a:lnTo>
                  <a:pt x="0" y="46644"/>
                </a:lnTo>
                <a:cubicBezTo>
                  <a:pt x="0" y="20900"/>
                  <a:pt x="20900" y="0"/>
                  <a:pt x="46644" y="0"/>
                </a:cubicBezTo>
                <a:close/>
              </a:path>
            </a:pathLst>
          </a:custGeom>
          <a:solidFill>
            <a:srgbClr val="1A202C"/>
          </a:solidFill>
          <a:ln/>
        </p:spPr>
        <p:txBody>
          <a:bodyPr/>
          <a:lstStyle/>
          <a:p>
            <a:endParaRPr lang="zh-CN" altLang="en-US"/>
          </a:p>
        </p:txBody>
      </p:sp>
      <p:sp>
        <p:nvSpPr>
          <p:cNvPr id="58" name="Text 56"/>
          <p:cNvSpPr/>
          <p:nvPr/>
        </p:nvSpPr>
        <p:spPr>
          <a:xfrm>
            <a:off x="8482306" y="7979317"/>
            <a:ext cx="3405131" cy="233228"/>
          </a:xfrm>
          <a:prstGeom prst="rect">
            <a:avLst/>
          </a:prstGeom>
          <a:noFill/>
          <a:ln/>
        </p:spPr>
        <p:txBody>
          <a:bodyPr wrap="square" lIns="0" tIns="0" rIns="0" bIns="0" rtlCol="0" anchor="ctr"/>
          <a:lstStyle/>
          <a:p>
            <a:pPr algn="ctr">
              <a:lnSpc>
                <a:spcPct val="120000"/>
              </a:lnSpc>
            </a:pPr>
            <a:r>
              <a:rPr lang="en-US" sz="1286" b="1" dirty="0">
                <a:solidFill>
                  <a:srgbClr val="F7FAFC"/>
                </a:solidFill>
                <a:latin typeface="MiSans" pitchFamily="34" charset="0"/>
                <a:ea typeface="MiSans" pitchFamily="34" charset="-122"/>
                <a:cs typeface="MiSans" pitchFamily="34" charset="-120"/>
              </a:rPr>
              <a:t>CDC Upsert</a:t>
            </a:r>
            <a:endParaRPr lang="en-US" sz="1600" dirty="0"/>
          </a:p>
        </p:txBody>
      </p:sp>
      <p:sp>
        <p:nvSpPr>
          <p:cNvPr id="59" name="Text 57"/>
          <p:cNvSpPr/>
          <p:nvPr/>
        </p:nvSpPr>
        <p:spPr>
          <a:xfrm>
            <a:off x="8488137" y="8212545"/>
            <a:ext cx="3393469" cy="186582"/>
          </a:xfrm>
          <a:prstGeom prst="rect">
            <a:avLst/>
          </a:prstGeom>
          <a:noFill/>
          <a:ln/>
        </p:spPr>
        <p:txBody>
          <a:bodyPr wrap="square" lIns="0" tIns="0" rIns="0" bIns="0" rtlCol="0" anchor="ctr"/>
          <a:lstStyle/>
          <a:p>
            <a:pPr algn="ctr">
              <a:lnSpc>
                <a:spcPct val="110000"/>
              </a:lnSpc>
            </a:pPr>
            <a:r>
              <a:rPr lang="en-US" sz="1102" dirty="0">
                <a:solidFill>
                  <a:srgbClr val="A0AEC0"/>
                </a:solidFill>
                <a:latin typeface="MiSans" pitchFamily="34" charset="0"/>
                <a:ea typeface="MiSans" pitchFamily="34" charset="-122"/>
                <a:cs typeface="MiSans" pitchFamily="34" charset="-120"/>
              </a:rPr>
              <a:t>通过Equality/Position Delete File支持</a:t>
            </a:r>
            <a:endParaRPr lang="en-US" sz="1600" dirty="0"/>
          </a:p>
        </p:txBody>
      </p:sp>
      <p:sp>
        <p:nvSpPr>
          <p:cNvPr id="60" name="Shape 58"/>
          <p:cNvSpPr/>
          <p:nvPr/>
        </p:nvSpPr>
        <p:spPr>
          <a:xfrm>
            <a:off x="12085043" y="7886026"/>
            <a:ext cx="3510083" cy="606393"/>
          </a:xfrm>
          <a:custGeom>
            <a:avLst/>
            <a:gdLst/>
            <a:ahLst/>
            <a:cxnLst/>
            <a:rect l="l" t="t" r="r" b="b"/>
            <a:pathLst>
              <a:path w="3510083" h="606393">
                <a:moveTo>
                  <a:pt x="46644" y="0"/>
                </a:moveTo>
                <a:lnTo>
                  <a:pt x="3463439" y="0"/>
                </a:lnTo>
                <a:cubicBezTo>
                  <a:pt x="3489200" y="0"/>
                  <a:pt x="3510083" y="20883"/>
                  <a:pt x="3510083" y="46644"/>
                </a:cubicBezTo>
                <a:lnTo>
                  <a:pt x="3510083" y="559749"/>
                </a:lnTo>
                <a:cubicBezTo>
                  <a:pt x="3510083" y="585510"/>
                  <a:pt x="3489200" y="606393"/>
                  <a:pt x="3463439" y="606393"/>
                </a:cubicBezTo>
                <a:lnTo>
                  <a:pt x="46644" y="606393"/>
                </a:lnTo>
                <a:cubicBezTo>
                  <a:pt x="20883" y="606393"/>
                  <a:pt x="0" y="585510"/>
                  <a:pt x="0" y="559749"/>
                </a:cubicBezTo>
                <a:lnTo>
                  <a:pt x="0" y="46644"/>
                </a:lnTo>
                <a:cubicBezTo>
                  <a:pt x="0" y="20900"/>
                  <a:pt x="20900" y="0"/>
                  <a:pt x="46644" y="0"/>
                </a:cubicBezTo>
                <a:close/>
              </a:path>
            </a:pathLst>
          </a:custGeom>
          <a:solidFill>
            <a:srgbClr val="1A202C"/>
          </a:solidFill>
          <a:ln/>
        </p:spPr>
        <p:txBody>
          <a:bodyPr/>
          <a:lstStyle/>
          <a:p>
            <a:endParaRPr lang="zh-CN" altLang="en-US"/>
          </a:p>
        </p:txBody>
      </p:sp>
      <p:sp>
        <p:nvSpPr>
          <p:cNvPr id="61" name="Text 59"/>
          <p:cNvSpPr/>
          <p:nvPr/>
        </p:nvSpPr>
        <p:spPr>
          <a:xfrm>
            <a:off x="12137519" y="7979317"/>
            <a:ext cx="3405131" cy="233228"/>
          </a:xfrm>
          <a:prstGeom prst="rect">
            <a:avLst/>
          </a:prstGeom>
          <a:noFill/>
          <a:ln/>
        </p:spPr>
        <p:txBody>
          <a:bodyPr wrap="square" lIns="0" tIns="0" rIns="0" bIns="0" rtlCol="0" anchor="ctr"/>
          <a:lstStyle/>
          <a:p>
            <a:pPr algn="ctr">
              <a:lnSpc>
                <a:spcPct val="120000"/>
              </a:lnSpc>
            </a:pPr>
            <a:r>
              <a:rPr lang="en-US" sz="1286" b="1" dirty="0">
                <a:solidFill>
                  <a:srgbClr val="F7FAFC"/>
                </a:solidFill>
                <a:latin typeface="MiSans" pitchFamily="34" charset="0"/>
                <a:ea typeface="MiSans" pitchFamily="34" charset="-122"/>
                <a:cs typeface="MiSans" pitchFamily="34" charset="-120"/>
              </a:rPr>
              <a:t>行级变更</a:t>
            </a:r>
            <a:endParaRPr lang="en-US" sz="1600" dirty="0"/>
          </a:p>
        </p:txBody>
      </p:sp>
      <p:sp>
        <p:nvSpPr>
          <p:cNvPr id="62" name="Text 60"/>
          <p:cNvSpPr/>
          <p:nvPr/>
        </p:nvSpPr>
        <p:spPr>
          <a:xfrm>
            <a:off x="12143350" y="8212545"/>
            <a:ext cx="3393469" cy="186582"/>
          </a:xfrm>
          <a:prstGeom prst="rect">
            <a:avLst/>
          </a:prstGeom>
          <a:noFill/>
          <a:ln/>
        </p:spPr>
        <p:txBody>
          <a:bodyPr wrap="square" lIns="0" tIns="0" rIns="0" bIns="0" rtlCol="0" anchor="ctr"/>
          <a:lstStyle/>
          <a:p>
            <a:pPr algn="ctr">
              <a:lnSpc>
                <a:spcPct val="110000"/>
              </a:lnSpc>
            </a:pPr>
            <a:r>
              <a:rPr lang="en-US" sz="1102" dirty="0">
                <a:solidFill>
                  <a:srgbClr val="A0AEC0"/>
                </a:solidFill>
                <a:latin typeface="MiSans" pitchFamily="34" charset="0"/>
                <a:ea typeface="MiSans" pitchFamily="34" charset="-122"/>
                <a:cs typeface="MiSans" pitchFamily="34" charset="-120"/>
              </a:rPr>
              <a:t>精确的数据修正与擦除</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50305" y="450305"/>
            <a:ext cx="1947568" cy="270183"/>
          </a:xfrm>
          <a:prstGeom prst="rect">
            <a:avLst/>
          </a:prstGeom>
          <a:noFill/>
          <a:ln/>
        </p:spPr>
        <p:txBody>
          <a:bodyPr wrap="square" lIns="0" tIns="0" rIns="0" bIns="0" rtlCol="0" anchor="ctr"/>
          <a:lstStyle/>
          <a:p>
            <a:pPr>
              <a:lnSpc>
                <a:spcPct val="130000"/>
              </a:lnSpc>
            </a:pPr>
            <a:r>
              <a:rPr lang="en-US" sz="1418" b="1" kern="0" spc="71" dirty="0">
                <a:solidFill>
                  <a:srgbClr val="4FD1C5"/>
                </a:solidFill>
                <a:latin typeface="MiSans" pitchFamily="34" charset="0"/>
                <a:ea typeface="MiSans" pitchFamily="34" charset="-122"/>
                <a:cs typeface="MiSans" pitchFamily="34" charset="-120"/>
              </a:rPr>
              <a:t>CORE MECHANISMS</a:t>
            </a:r>
            <a:endParaRPr lang="en-US" sz="1600" dirty="0"/>
          </a:p>
        </p:txBody>
      </p:sp>
      <p:sp>
        <p:nvSpPr>
          <p:cNvPr id="3" name="Text 1"/>
          <p:cNvSpPr/>
          <p:nvPr/>
        </p:nvSpPr>
        <p:spPr>
          <a:xfrm>
            <a:off x="450305" y="810548"/>
            <a:ext cx="15558028" cy="450305"/>
          </a:xfrm>
          <a:prstGeom prst="rect">
            <a:avLst/>
          </a:prstGeom>
          <a:noFill/>
          <a:ln/>
        </p:spPr>
        <p:txBody>
          <a:bodyPr wrap="square" lIns="0" tIns="0" rIns="0" bIns="0" rtlCol="0" anchor="ctr"/>
          <a:lstStyle/>
          <a:p>
            <a:pPr>
              <a:lnSpc>
                <a:spcPct val="90000"/>
              </a:lnSpc>
            </a:pPr>
            <a:r>
              <a:rPr lang="en-US" sz="3191" b="1" dirty="0">
                <a:solidFill>
                  <a:srgbClr val="F7FAFC"/>
                </a:solidFill>
                <a:latin typeface="Noto Sans SC" pitchFamily="34" charset="0"/>
                <a:ea typeface="Noto Sans SC" pitchFamily="34" charset="-122"/>
                <a:cs typeface="Noto Sans SC" pitchFamily="34" charset="-120"/>
              </a:rPr>
              <a:t>时间旅行与隐藏分区</a:t>
            </a:r>
            <a:endParaRPr lang="en-US" sz="1600" dirty="0"/>
          </a:p>
        </p:txBody>
      </p:sp>
      <p:sp>
        <p:nvSpPr>
          <p:cNvPr id="4" name="Shape 2"/>
          <p:cNvSpPr/>
          <p:nvPr/>
        </p:nvSpPr>
        <p:spPr>
          <a:xfrm>
            <a:off x="450305" y="1395945"/>
            <a:ext cx="900609" cy="45030"/>
          </a:xfrm>
          <a:custGeom>
            <a:avLst/>
            <a:gdLst/>
            <a:ahLst/>
            <a:cxnLst/>
            <a:rect l="l" t="t" r="r" b="b"/>
            <a:pathLst>
              <a:path w="900609" h="45030">
                <a:moveTo>
                  <a:pt x="0" y="0"/>
                </a:moveTo>
                <a:lnTo>
                  <a:pt x="900609" y="0"/>
                </a:lnTo>
                <a:lnTo>
                  <a:pt x="900609" y="45030"/>
                </a:lnTo>
                <a:lnTo>
                  <a:pt x="0" y="45030"/>
                </a:lnTo>
                <a:lnTo>
                  <a:pt x="0" y="0"/>
                </a:lnTo>
                <a:close/>
              </a:path>
            </a:pathLst>
          </a:custGeom>
          <a:solidFill>
            <a:srgbClr val="4FD1C5"/>
          </a:solidFill>
          <a:ln/>
        </p:spPr>
        <p:txBody>
          <a:bodyPr/>
          <a:lstStyle/>
          <a:p>
            <a:endParaRPr lang="zh-CN" altLang="en-US"/>
          </a:p>
        </p:txBody>
      </p:sp>
      <p:sp>
        <p:nvSpPr>
          <p:cNvPr id="5" name="Shape 3"/>
          <p:cNvSpPr/>
          <p:nvPr/>
        </p:nvSpPr>
        <p:spPr>
          <a:xfrm>
            <a:off x="472820" y="1666127"/>
            <a:ext cx="7542604" cy="4773230"/>
          </a:xfrm>
          <a:custGeom>
            <a:avLst/>
            <a:gdLst/>
            <a:ahLst/>
            <a:cxnLst/>
            <a:rect l="l" t="t" r="r" b="b"/>
            <a:pathLst>
              <a:path w="7542604" h="4773230">
                <a:moveTo>
                  <a:pt x="45030" y="0"/>
                </a:moveTo>
                <a:lnTo>
                  <a:pt x="7452533" y="0"/>
                </a:lnTo>
                <a:cubicBezTo>
                  <a:pt x="7502278" y="0"/>
                  <a:pt x="7542604" y="40326"/>
                  <a:pt x="7542604" y="90071"/>
                </a:cubicBezTo>
                <a:lnTo>
                  <a:pt x="7542604" y="4683159"/>
                </a:lnTo>
                <a:cubicBezTo>
                  <a:pt x="7542604" y="4732904"/>
                  <a:pt x="7502278" y="4773230"/>
                  <a:pt x="7452533" y="4773230"/>
                </a:cubicBezTo>
                <a:lnTo>
                  <a:pt x="45030" y="4773230"/>
                </a:lnTo>
                <a:cubicBezTo>
                  <a:pt x="20161" y="4773230"/>
                  <a:pt x="0" y="4753069"/>
                  <a:pt x="0" y="4728199"/>
                </a:cubicBezTo>
                <a:lnTo>
                  <a:pt x="0" y="45030"/>
                </a:lnTo>
                <a:cubicBezTo>
                  <a:pt x="0" y="20161"/>
                  <a:pt x="20161" y="0"/>
                  <a:pt x="45030" y="0"/>
                </a:cubicBezTo>
                <a:close/>
              </a:path>
            </a:pathLst>
          </a:custGeom>
          <a:solidFill>
            <a:srgbClr val="4FD1C5">
              <a:alpha val="10196"/>
            </a:srgbClr>
          </a:solidFill>
          <a:ln/>
        </p:spPr>
        <p:txBody>
          <a:bodyPr/>
          <a:lstStyle/>
          <a:p>
            <a:endParaRPr lang="zh-CN" altLang="en-US"/>
          </a:p>
        </p:txBody>
      </p:sp>
      <p:sp>
        <p:nvSpPr>
          <p:cNvPr id="6" name="Shape 4"/>
          <p:cNvSpPr/>
          <p:nvPr/>
        </p:nvSpPr>
        <p:spPr>
          <a:xfrm>
            <a:off x="472820" y="1666127"/>
            <a:ext cx="45030" cy="4773230"/>
          </a:xfrm>
          <a:custGeom>
            <a:avLst/>
            <a:gdLst/>
            <a:ahLst/>
            <a:cxnLst/>
            <a:rect l="l" t="t" r="r" b="b"/>
            <a:pathLst>
              <a:path w="45030" h="4773230">
                <a:moveTo>
                  <a:pt x="45030" y="0"/>
                </a:moveTo>
                <a:lnTo>
                  <a:pt x="45030" y="0"/>
                </a:lnTo>
                <a:lnTo>
                  <a:pt x="45030" y="4773230"/>
                </a:lnTo>
                <a:lnTo>
                  <a:pt x="45030" y="4773230"/>
                </a:lnTo>
                <a:cubicBezTo>
                  <a:pt x="20161" y="4773230"/>
                  <a:pt x="0" y="4753069"/>
                  <a:pt x="0" y="4728199"/>
                </a:cubicBezTo>
                <a:lnTo>
                  <a:pt x="0" y="45030"/>
                </a:lnTo>
                <a:cubicBezTo>
                  <a:pt x="0" y="20177"/>
                  <a:pt x="20177" y="0"/>
                  <a:pt x="45030" y="0"/>
                </a:cubicBezTo>
                <a:close/>
              </a:path>
            </a:pathLst>
          </a:custGeom>
          <a:solidFill>
            <a:srgbClr val="4FD1C5"/>
          </a:solidFill>
          <a:ln/>
        </p:spPr>
        <p:txBody>
          <a:bodyPr/>
          <a:lstStyle/>
          <a:p>
            <a:endParaRPr lang="zh-CN" altLang="en-US"/>
          </a:p>
        </p:txBody>
      </p:sp>
      <p:sp>
        <p:nvSpPr>
          <p:cNvPr id="7" name="Text 5"/>
          <p:cNvSpPr/>
          <p:nvPr/>
        </p:nvSpPr>
        <p:spPr>
          <a:xfrm>
            <a:off x="720488" y="1891280"/>
            <a:ext cx="7182360" cy="315213"/>
          </a:xfrm>
          <a:prstGeom prst="rect">
            <a:avLst/>
          </a:prstGeom>
          <a:noFill/>
          <a:ln/>
        </p:spPr>
        <p:txBody>
          <a:bodyPr wrap="square" lIns="0" tIns="0" rIns="0" bIns="0" rtlCol="0" anchor="ctr"/>
          <a:lstStyle/>
          <a:p>
            <a:pPr>
              <a:lnSpc>
                <a:spcPct val="120000"/>
              </a:lnSpc>
            </a:pPr>
            <a:r>
              <a:rPr lang="en-US" sz="1773" b="1" dirty="0">
                <a:solidFill>
                  <a:srgbClr val="F7FAFC"/>
                </a:solidFill>
                <a:latin typeface="Noto Sans SC" pitchFamily="34" charset="0"/>
                <a:ea typeface="Noto Sans SC" pitchFamily="34" charset="-122"/>
                <a:cs typeface="Noto Sans SC" pitchFamily="34" charset="-120"/>
              </a:rPr>
              <a:t>时间旅行 Time Travel</a:t>
            </a:r>
            <a:endParaRPr lang="en-US" sz="1600" dirty="0"/>
          </a:p>
        </p:txBody>
      </p:sp>
      <p:sp>
        <p:nvSpPr>
          <p:cNvPr id="8" name="Text 6"/>
          <p:cNvSpPr/>
          <p:nvPr/>
        </p:nvSpPr>
        <p:spPr>
          <a:xfrm>
            <a:off x="720488" y="2386615"/>
            <a:ext cx="7159845" cy="585396"/>
          </a:xfrm>
          <a:prstGeom prst="rect">
            <a:avLst/>
          </a:prstGeom>
          <a:noFill/>
          <a:ln/>
        </p:spPr>
        <p:txBody>
          <a:bodyPr wrap="square" lIns="0" tIns="0" rIns="0" bIns="0" rtlCol="0" anchor="ctr"/>
          <a:lstStyle/>
          <a:p>
            <a:pPr>
              <a:lnSpc>
                <a:spcPct val="140000"/>
              </a:lnSpc>
            </a:pPr>
            <a:r>
              <a:rPr lang="en-US" sz="1418" dirty="0">
                <a:solidFill>
                  <a:srgbClr val="A0AEC0"/>
                </a:solidFill>
                <a:latin typeface="MiSans" pitchFamily="34" charset="0"/>
                <a:ea typeface="MiSans" pitchFamily="34" charset="-122"/>
                <a:cs typeface="MiSans" pitchFamily="34" charset="-120"/>
              </a:rPr>
              <a:t>基于历史快照查询,支持按时间点和按版本号回溯。由于每次提交都会生成一个新的Snapshot,且旧的Snapshot和数据文件不会立即删除,可以轻松查询历史时刻的数据状态。</a:t>
            </a:r>
            <a:endParaRPr lang="en-US" sz="1600" dirty="0"/>
          </a:p>
        </p:txBody>
      </p:sp>
      <p:sp>
        <p:nvSpPr>
          <p:cNvPr id="9" name="Shape 7"/>
          <p:cNvSpPr/>
          <p:nvPr/>
        </p:nvSpPr>
        <p:spPr>
          <a:xfrm>
            <a:off x="720488" y="3152133"/>
            <a:ext cx="7069784" cy="2026371"/>
          </a:xfrm>
          <a:custGeom>
            <a:avLst/>
            <a:gdLst/>
            <a:ahLst/>
            <a:cxnLst/>
            <a:rect l="l" t="t" r="r" b="b"/>
            <a:pathLst>
              <a:path w="7069784" h="2026371">
                <a:moveTo>
                  <a:pt x="45026" y="0"/>
                </a:moveTo>
                <a:lnTo>
                  <a:pt x="7024758" y="0"/>
                </a:lnTo>
                <a:cubicBezTo>
                  <a:pt x="7049625" y="0"/>
                  <a:pt x="7069784" y="20159"/>
                  <a:pt x="7069784" y="45026"/>
                </a:cubicBezTo>
                <a:lnTo>
                  <a:pt x="7069784" y="1981345"/>
                </a:lnTo>
                <a:cubicBezTo>
                  <a:pt x="7069784" y="2006212"/>
                  <a:pt x="7049625" y="2026371"/>
                  <a:pt x="7024758" y="2026371"/>
                </a:cubicBezTo>
                <a:lnTo>
                  <a:pt x="45026" y="2026371"/>
                </a:lnTo>
                <a:cubicBezTo>
                  <a:pt x="20159" y="2026371"/>
                  <a:pt x="0" y="2006212"/>
                  <a:pt x="0" y="1981345"/>
                </a:cubicBezTo>
                <a:lnTo>
                  <a:pt x="0" y="45026"/>
                </a:lnTo>
                <a:cubicBezTo>
                  <a:pt x="0" y="20175"/>
                  <a:pt x="20175" y="0"/>
                  <a:pt x="45026" y="0"/>
                </a:cubicBezTo>
                <a:close/>
              </a:path>
            </a:pathLst>
          </a:custGeom>
          <a:solidFill>
            <a:srgbClr val="1A202C"/>
          </a:solidFill>
          <a:ln/>
        </p:spPr>
        <p:txBody>
          <a:bodyPr/>
          <a:lstStyle/>
          <a:p>
            <a:endParaRPr lang="zh-CN" altLang="en-US"/>
          </a:p>
        </p:txBody>
      </p:sp>
      <p:sp>
        <p:nvSpPr>
          <p:cNvPr id="10" name="Text 8"/>
          <p:cNvSpPr/>
          <p:nvPr/>
        </p:nvSpPr>
        <p:spPr>
          <a:xfrm>
            <a:off x="900609" y="3332255"/>
            <a:ext cx="6788343" cy="225152"/>
          </a:xfrm>
          <a:prstGeom prst="rect">
            <a:avLst/>
          </a:prstGeom>
          <a:noFill/>
          <a:ln/>
        </p:spPr>
        <p:txBody>
          <a:bodyPr wrap="square" lIns="0" tIns="0" rIns="0" bIns="0" rtlCol="0" anchor="ctr"/>
          <a:lstStyle/>
          <a:p>
            <a:pPr>
              <a:lnSpc>
                <a:spcPct val="120000"/>
              </a:lnSpc>
            </a:pPr>
            <a:r>
              <a:rPr lang="en-US" sz="1241" dirty="0">
                <a:solidFill>
                  <a:srgbClr val="A0AEC0"/>
                </a:solidFill>
                <a:latin typeface="MiSans" pitchFamily="34" charset="0"/>
                <a:ea typeface="MiSans" pitchFamily="34" charset="-122"/>
                <a:cs typeface="MiSans" pitchFamily="34" charset="-120"/>
              </a:rPr>
              <a:t>-- 按时间点查询历史状态</a:t>
            </a:r>
            <a:endParaRPr lang="en-US" sz="1600" dirty="0"/>
          </a:p>
        </p:txBody>
      </p:sp>
      <p:sp>
        <p:nvSpPr>
          <p:cNvPr id="11" name="Text 9"/>
          <p:cNvSpPr/>
          <p:nvPr/>
        </p:nvSpPr>
        <p:spPr>
          <a:xfrm>
            <a:off x="900609" y="3647468"/>
            <a:ext cx="6788343"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SELECT * FROM my_table</a:t>
            </a:r>
            <a:endParaRPr lang="en-US" sz="1600" dirty="0"/>
          </a:p>
        </p:txBody>
      </p:sp>
      <p:sp>
        <p:nvSpPr>
          <p:cNvPr id="12" name="Text 10"/>
          <p:cNvSpPr/>
          <p:nvPr/>
        </p:nvSpPr>
        <p:spPr>
          <a:xfrm>
            <a:off x="900609" y="3872620"/>
            <a:ext cx="6788343" cy="225152"/>
          </a:xfrm>
          <a:prstGeom prst="rect">
            <a:avLst/>
          </a:prstGeom>
          <a:noFill/>
          <a:ln/>
        </p:spPr>
        <p:txBody>
          <a:bodyPr wrap="square" lIns="0" tIns="0" rIns="0" bIns="0" rtlCol="0" anchor="ctr"/>
          <a:lstStyle/>
          <a:p>
            <a:pPr>
              <a:lnSpc>
                <a:spcPct val="120000"/>
              </a:lnSpc>
            </a:pPr>
            <a:r>
              <a:rPr lang="en-US" sz="1241" dirty="0">
                <a:solidFill>
                  <a:srgbClr val="4FD1C5"/>
                </a:solidFill>
                <a:latin typeface="MiSans" pitchFamily="34" charset="0"/>
                <a:ea typeface="MiSans" pitchFamily="34" charset="-122"/>
                <a:cs typeface="MiSans" pitchFamily="34" charset="-120"/>
              </a:rPr>
              <a:t>TIMESTAMP AS OF '2023-12-12 10:00:00';</a:t>
            </a:r>
            <a:endParaRPr lang="en-US" sz="1600" dirty="0"/>
          </a:p>
        </p:txBody>
      </p:sp>
      <p:sp>
        <p:nvSpPr>
          <p:cNvPr id="13" name="Text 11"/>
          <p:cNvSpPr/>
          <p:nvPr/>
        </p:nvSpPr>
        <p:spPr>
          <a:xfrm>
            <a:off x="900609" y="4232864"/>
            <a:ext cx="6788343" cy="225152"/>
          </a:xfrm>
          <a:prstGeom prst="rect">
            <a:avLst/>
          </a:prstGeom>
          <a:noFill/>
          <a:ln/>
        </p:spPr>
        <p:txBody>
          <a:bodyPr wrap="square" lIns="0" tIns="0" rIns="0" bIns="0" rtlCol="0" anchor="ctr"/>
          <a:lstStyle/>
          <a:p>
            <a:pPr>
              <a:lnSpc>
                <a:spcPct val="120000"/>
              </a:lnSpc>
            </a:pPr>
            <a:r>
              <a:rPr lang="en-US" sz="1241" dirty="0">
                <a:solidFill>
                  <a:srgbClr val="A0AEC0"/>
                </a:solidFill>
                <a:latin typeface="MiSans" pitchFamily="34" charset="0"/>
                <a:ea typeface="MiSans" pitchFamily="34" charset="-122"/>
                <a:cs typeface="MiSans" pitchFamily="34" charset="-120"/>
              </a:rPr>
              <a:t>-- 按快照ID查询对应版本</a:t>
            </a:r>
            <a:endParaRPr lang="en-US" sz="1600" dirty="0"/>
          </a:p>
        </p:txBody>
      </p:sp>
      <p:sp>
        <p:nvSpPr>
          <p:cNvPr id="14" name="Text 12"/>
          <p:cNvSpPr/>
          <p:nvPr/>
        </p:nvSpPr>
        <p:spPr>
          <a:xfrm>
            <a:off x="900609" y="4548078"/>
            <a:ext cx="6788343"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SELECT * FROM my_table</a:t>
            </a:r>
            <a:endParaRPr lang="en-US" sz="1600" dirty="0"/>
          </a:p>
        </p:txBody>
      </p:sp>
      <p:sp>
        <p:nvSpPr>
          <p:cNvPr id="15" name="Text 13"/>
          <p:cNvSpPr/>
          <p:nvPr/>
        </p:nvSpPr>
        <p:spPr>
          <a:xfrm>
            <a:off x="900609" y="4773230"/>
            <a:ext cx="6788343" cy="225152"/>
          </a:xfrm>
          <a:prstGeom prst="rect">
            <a:avLst/>
          </a:prstGeom>
          <a:noFill/>
          <a:ln/>
        </p:spPr>
        <p:txBody>
          <a:bodyPr wrap="square" lIns="0" tIns="0" rIns="0" bIns="0" rtlCol="0" anchor="ctr"/>
          <a:lstStyle/>
          <a:p>
            <a:pPr>
              <a:lnSpc>
                <a:spcPct val="120000"/>
              </a:lnSpc>
            </a:pPr>
            <a:r>
              <a:rPr lang="en-US" sz="1241" dirty="0">
                <a:solidFill>
                  <a:srgbClr val="4FD1C5"/>
                </a:solidFill>
                <a:latin typeface="MiSans" pitchFamily="34" charset="0"/>
                <a:ea typeface="MiSans" pitchFamily="34" charset="-122"/>
                <a:cs typeface="MiSans" pitchFamily="34" charset="-120"/>
              </a:rPr>
              <a:t>VERSION AS OF 123456789;</a:t>
            </a:r>
            <a:endParaRPr lang="en-US" sz="1600" dirty="0"/>
          </a:p>
        </p:txBody>
      </p:sp>
      <p:sp>
        <p:nvSpPr>
          <p:cNvPr id="16" name="Shape 14"/>
          <p:cNvSpPr/>
          <p:nvPr/>
        </p:nvSpPr>
        <p:spPr>
          <a:xfrm>
            <a:off x="731745" y="5381141"/>
            <a:ext cx="202637" cy="180122"/>
          </a:xfrm>
          <a:custGeom>
            <a:avLst/>
            <a:gdLst/>
            <a:ahLst/>
            <a:cxnLst/>
            <a:rect l="l" t="t" r="r" b="b"/>
            <a:pathLst>
              <a:path w="202637" h="180122">
                <a:moveTo>
                  <a:pt x="101319" y="22515"/>
                </a:moveTo>
                <a:cubicBezTo>
                  <a:pt x="138609" y="22515"/>
                  <a:pt x="168864" y="52770"/>
                  <a:pt x="168864" y="90061"/>
                </a:cubicBezTo>
                <a:cubicBezTo>
                  <a:pt x="168864" y="127352"/>
                  <a:pt x="138609" y="157607"/>
                  <a:pt x="101319" y="157607"/>
                </a:cubicBezTo>
                <a:cubicBezTo>
                  <a:pt x="78381" y="157607"/>
                  <a:pt x="58082" y="146173"/>
                  <a:pt x="45875" y="128653"/>
                </a:cubicBezTo>
                <a:cubicBezTo>
                  <a:pt x="42322" y="123552"/>
                  <a:pt x="35286" y="122321"/>
                  <a:pt x="30184" y="125874"/>
                </a:cubicBezTo>
                <a:cubicBezTo>
                  <a:pt x="25083" y="129427"/>
                  <a:pt x="23852" y="136463"/>
                  <a:pt x="27405" y="141565"/>
                </a:cubicBezTo>
                <a:cubicBezTo>
                  <a:pt x="43658" y="164854"/>
                  <a:pt x="70712" y="180122"/>
                  <a:pt x="101319" y="180122"/>
                </a:cubicBezTo>
                <a:cubicBezTo>
                  <a:pt x="151063" y="180122"/>
                  <a:pt x="191380" y="139806"/>
                  <a:pt x="191380" y="90061"/>
                </a:cubicBezTo>
                <a:cubicBezTo>
                  <a:pt x="191380" y="40316"/>
                  <a:pt x="151063" y="0"/>
                  <a:pt x="101319" y="0"/>
                </a:cubicBezTo>
                <a:cubicBezTo>
                  <a:pt x="71169" y="0"/>
                  <a:pt x="44503" y="14811"/>
                  <a:pt x="28144" y="37537"/>
                </a:cubicBezTo>
                <a:lnTo>
                  <a:pt x="28144" y="28144"/>
                </a:lnTo>
                <a:cubicBezTo>
                  <a:pt x="28144" y="21917"/>
                  <a:pt x="23113" y="16886"/>
                  <a:pt x="16886" y="16886"/>
                </a:cubicBezTo>
                <a:cubicBezTo>
                  <a:pt x="10660" y="16886"/>
                  <a:pt x="5629" y="21917"/>
                  <a:pt x="5629" y="28144"/>
                </a:cubicBezTo>
                <a:lnTo>
                  <a:pt x="5629" y="67546"/>
                </a:lnTo>
                <a:cubicBezTo>
                  <a:pt x="5629" y="73773"/>
                  <a:pt x="10660" y="78803"/>
                  <a:pt x="16886" y="78803"/>
                </a:cubicBezTo>
                <a:lnTo>
                  <a:pt x="25541" y="78803"/>
                </a:lnTo>
                <a:cubicBezTo>
                  <a:pt x="25717" y="78803"/>
                  <a:pt x="25893" y="78803"/>
                  <a:pt x="26068" y="78803"/>
                </a:cubicBezTo>
                <a:lnTo>
                  <a:pt x="56323" y="78803"/>
                </a:lnTo>
                <a:cubicBezTo>
                  <a:pt x="62550" y="78803"/>
                  <a:pt x="67581" y="73773"/>
                  <a:pt x="67581" y="67546"/>
                </a:cubicBezTo>
                <a:cubicBezTo>
                  <a:pt x="67581" y="61319"/>
                  <a:pt x="62550" y="56288"/>
                  <a:pt x="56323" y="56288"/>
                </a:cubicBezTo>
                <a:lnTo>
                  <a:pt x="42849" y="56288"/>
                </a:lnTo>
                <a:cubicBezTo>
                  <a:pt x="54494" y="36095"/>
                  <a:pt x="76341" y="22515"/>
                  <a:pt x="101319" y="22515"/>
                </a:cubicBezTo>
                <a:close/>
                <a:moveTo>
                  <a:pt x="109762" y="53474"/>
                </a:moveTo>
                <a:cubicBezTo>
                  <a:pt x="109762" y="48795"/>
                  <a:pt x="105998" y="45030"/>
                  <a:pt x="101319" y="45030"/>
                </a:cubicBezTo>
                <a:cubicBezTo>
                  <a:pt x="96640" y="45030"/>
                  <a:pt x="92875" y="48795"/>
                  <a:pt x="92875" y="53474"/>
                </a:cubicBezTo>
                <a:lnTo>
                  <a:pt x="92875" y="90061"/>
                </a:lnTo>
                <a:cubicBezTo>
                  <a:pt x="92875" y="92312"/>
                  <a:pt x="93755" y="94458"/>
                  <a:pt x="95338" y="96042"/>
                </a:cubicBezTo>
                <a:lnTo>
                  <a:pt x="120668" y="121371"/>
                </a:lnTo>
                <a:cubicBezTo>
                  <a:pt x="123975" y="124678"/>
                  <a:pt x="129322" y="124678"/>
                  <a:pt x="132594" y="121371"/>
                </a:cubicBezTo>
                <a:cubicBezTo>
                  <a:pt x="135865" y="118064"/>
                  <a:pt x="135901" y="112717"/>
                  <a:pt x="132594" y="109445"/>
                </a:cubicBezTo>
                <a:lnTo>
                  <a:pt x="109727" y="86578"/>
                </a:lnTo>
                <a:lnTo>
                  <a:pt x="109727" y="53474"/>
                </a:lnTo>
                <a:close/>
              </a:path>
            </a:pathLst>
          </a:custGeom>
          <a:solidFill>
            <a:srgbClr val="4FD1C5"/>
          </a:solidFill>
          <a:ln/>
        </p:spPr>
        <p:txBody>
          <a:bodyPr/>
          <a:lstStyle/>
          <a:p>
            <a:endParaRPr lang="zh-CN" altLang="en-US"/>
          </a:p>
        </p:txBody>
      </p:sp>
      <p:sp>
        <p:nvSpPr>
          <p:cNvPr id="17" name="Text 15"/>
          <p:cNvSpPr/>
          <p:nvPr/>
        </p:nvSpPr>
        <p:spPr>
          <a:xfrm>
            <a:off x="1035701" y="5358626"/>
            <a:ext cx="3388543"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追溯某个线上报表在某天的计算口径与原始数据</a:t>
            </a:r>
            <a:endParaRPr lang="en-US" sz="1600" dirty="0"/>
          </a:p>
        </p:txBody>
      </p:sp>
      <p:sp>
        <p:nvSpPr>
          <p:cNvPr id="18" name="Shape 16"/>
          <p:cNvSpPr/>
          <p:nvPr/>
        </p:nvSpPr>
        <p:spPr>
          <a:xfrm>
            <a:off x="743003" y="5696355"/>
            <a:ext cx="180122" cy="180122"/>
          </a:xfrm>
          <a:custGeom>
            <a:avLst/>
            <a:gdLst/>
            <a:ahLst/>
            <a:cxnLst/>
            <a:rect l="l" t="t" r="r" b="b"/>
            <a:pathLst>
              <a:path w="180122" h="180122">
                <a:moveTo>
                  <a:pt x="153631" y="26280"/>
                </a:moveTo>
                <a:lnTo>
                  <a:pt x="157607" y="30044"/>
                </a:lnTo>
                <a:lnTo>
                  <a:pt x="157607" y="11258"/>
                </a:lnTo>
                <a:cubicBezTo>
                  <a:pt x="157607" y="5031"/>
                  <a:pt x="162637" y="0"/>
                  <a:pt x="168864" y="0"/>
                </a:cubicBezTo>
                <a:cubicBezTo>
                  <a:pt x="175091" y="0"/>
                  <a:pt x="180122" y="5031"/>
                  <a:pt x="180122" y="11258"/>
                </a:cubicBezTo>
                <a:lnTo>
                  <a:pt x="180122" y="56288"/>
                </a:lnTo>
                <a:cubicBezTo>
                  <a:pt x="180122" y="62515"/>
                  <a:pt x="175091" y="67546"/>
                  <a:pt x="168864" y="67546"/>
                </a:cubicBezTo>
                <a:lnTo>
                  <a:pt x="123834" y="67546"/>
                </a:lnTo>
                <a:cubicBezTo>
                  <a:pt x="117607" y="67546"/>
                  <a:pt x="112576" y="62515"/>
                  <a:pt x="112576" y="56288"/>
                </a:cubicBezTo>
                <a:cubicBezTo>
                  <a:pt x="112576" y="50061"/>
                  <a:pt x="117607" y="45030"/>
                  <a:pt x="123834" y="45030"/>
                </a:cubicBezTo>
                <a:lnTo>
                  <a:pt x="140685" y="45030"/>
                </a:lnTo>
                <a:lnTo>
                  <a:pt x="138011" y="42498"/>
                </a:lnTo>
                <a:cubicBezTo>
                  <a:pt x="137941" y="42427"/>
                  <a:pt x="137871" y="42357"/>
                  <a:pt x="137800" y="42286"/>
                </a:cubicBezTo>
                <a:cubicBezTo>
                  <a:pt x="111415" y="15901"/>
                  <a:pt x="68671" y="15901"/>
                  <a:pt x="42286" y="42286"/>
                </a:cubicBezTo>
                <a:cubicBezTo>
                  <a:pt x="15901" y="68671"/>
                  <a:pt x="15901" y="111415"/>
                  <a:pt x="42286" y="137800"/>
                </a:cubicBezTo>
                <a:cubicBezTo>
                  <a:pt x="68671" y="164185"/>
                  <a:pt x="111415" y="164185"/>
                  <a:pt x="137800" y="137800"/>
                </a:cubicBezTo>
                <a:cubicBezTo>
                  <a:pt x="140685" y="134916"/>
                  <a:pt x="143253" y="131855"/>
                  <a:pt x="145505" y="128618"/>
                </a:cubicBezTo>
                <a:cubicBezTo>
                  <a:pt x="149058" y="123517"/>
                  <a:pt x="156094" y="122286"/>
                  <a:pt x="161195" y="125839"/>
                </a:cubicBezTo>
                <a:cubicBezTo>
                  <a:pt x="166296" y="129392"/>
                  <a:pt x="167527" y="136428"/>
                  <a:pt x="163974" y="141529"/>
                </a:cubicBezTo>
                <a:cubicBezTo>
                  <a:pt x="160984" y="145821"/>
                  <a:pt x="157571" y="149902"/>
                  <a:pt x="153737" y="153737"/>
                </a:cubicBezTo>
                <a:cubicBezTo>
                  <a:pt x="118557" y="188917"/>
                  <a:pt x="61530" y="188917"/>
                  <a:pt x="26385" y="153737"/>
                </a:cubicBezTo>
                <a:cubicBezTo>
                  <a:pt x="-8760" y="118557"/>
                  <a:pt x="-8795" y="61565"/>
                  <a:pt x="26385" y="26385"/>
                </a:cubicBezTo>
                <a:cubicBezTo>
                  <a:pt x="61530" y="-8760"/>
                  <a:pt x="118451" y="-8795"/>
                  <a:pt x="153631" y="26280"/>
                </a:cubicBezTo>
                <a:close/>
              </a:path>
            </a:pathLst>
          </a:custGeom>
          <a:solidFill>
            <a:srgbClr val="4FD1C5"/>
          </a:solidFill>
          <a:ln/>
        </p:spPr>
        <p:txBody>
          <a:bodyPr/>
          <a:lstStyle/>
          <a:p>
            <a:endParaRPr lang="zh-CN" altLang="en-US"/>
          </a:p>
        </p:txBody>
      </p:sp>
      <p:sp>
        <p:nvSpPr>
          <p:cNvPr id="19" name="Text 17"/>
          <p:cNvSpPr/>
          <p:nvPr/>
        </p:nvSpPr>
        <p:spPr>
          <a:xfrm>
            <a:off x="1035701" y="5673839"/>
            <a:ext cx="2330327"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回放历史数据,重训机器学习模型</a:t>
            </a:r>
            <a:endParaRPr lang="en-US" sz="1600" dirty="0"/>
          </a:p>
        </p:txBody>
      </p:sp>
      <p:sp>
        <p:nvSpPr>
          <p:cNvPr id="20" name="Shape 18"/>
          <p:cNvSpPr/>
          <p:nvPr/>
        </p:nvSpPr>
        <p:spPr>
          <a:xfrm>
            <a:off x="743003" y="6011568"/>
            <a:ext cx="180122" cy="180122"/>
          </a:xfrm>
          <a:custGeom>
            <a:avLst/>
            <a:gdLst/>
            <a:ahLst/>
            <a:cxnLst/>
            <a:rect l="l" t="t" r="r" b="b"/>
            <a:pathLst>
              <a:path w="180122" h="180122">
                <a:moveTo>
                  <a:pt x="90061" y="22515"/>
                </a:moveTo>
                <a:cubicBezTo>
                  <a:pt x="70079" y="22515"/>
                  <a:pt x="52102" y="31205"/>
                  <a:pt x="39718" y="45030"/>
                </a:cubicBezTo>
                <a:lnTo>
                  <a:pt x="56288" y="45030"/>
                </a:lnTo>
                <a:cubicBezTo>
                  <a:pt x="62515" y="45030"/>
                  <a:pt x="67546" y="50061"/>
                  <a:pt x="67546" y="56288"/>
                </a:cubicBezTo>
                <a:cubicBezTo>
                  <a:pt x="67546" y="62515"/>
                  <a:pt x="62515" y="67546"/>
                  <a:pt x="56288" y="67546"/>
                </a:cubicBezTo>
                <a:lnTo>
                  <a:pt x="11258" y="67546"/>
                </a:lnTo>
                <a:cubicBezTo>
                  <a:pt x="5031" y="67546"/>
                  <a:pt x="0" y="62515"/>
                  <a:pt x="0" y="56288"/>
                </a:cubicBezTo>
                <a:lnTo>
                  <a:pt x="0" y="11258"/>
                </a:lnTo>
                <a:cubicBezTo>
                  <a:pt x="0" y="5031"/>
                  <a:pt x="5031" y="0"/>
                  <a:pt x="11258" y="0"/>
                </a:cubicBezTo>
                <a:cubicBezTo>
                  <a:pt x="17484" y="0"/>
                  <a:pt x="22515" y="5031"/>
                  <a:pt x="22515" y="11258"/>
                </a:cubicBezTo>
                <a:lnTo>
                  <a:pt x="22515" y="30501"/>
                </a:lnTo>
                <a:cubicBezTo>
                  <a:pt x="39015" y="11820"/>
                  <a:pt x="63148" y="0"/>
                  <a:pt x="90061" y="0"/>
                </a:cubicBezTo>
                <a:cubicBezTo>
                  <a:pt x="139806" y="0"/>
                  <a:pt x="180122" y="40316"/>
                  <a:pt x="180122" y="90061"/>
                </a:cubicBezTo>
                <a:cubicBezTo>
                  <a:pt x="180122" y="139806"/>
                  <a:pt x="139806" y="180122"/>
                  <a:pt x="90061" y="180122"/>
                </a:cubicBezTo>
                <a:cubicBezTo>
                  <a:pt x="59454" y="180122"/>
                  <a:pt x="32401" y="164854"/>
                  <a:pt x="16148" y="141529"/>
                </a:cubicBezTo>
                <a:cubicBezTo>
                  <a:pt x="12594" y="136428"/>
                  <a:pt x="13826" y="129427"/>
                  <a:pt x="18927" y="125839"/>
                </a:cubicBezTo>
                <a:cubicBezTo>
                  <a:pt x="24028" y="122251"/>
                  <a:pt x="31029" y="123517"/>
                  <a:pt x="34617" y="128618"/>
                </a:cubicBezTo>
                <a:cubicBezTo>
                  <a:pt x="46860" y="146138"/>
                  <a:pt x="67124" y="157571"/>
                  <a:pt x="90061" y="157571"/>
                </a:cubicBezTo>
                <a:cubicBezTo>
                  <a:pt x="127352" y="157571"/>
                  <a:pt x="157607" y="127317"/>
                  <a:pt x="157607" y="90026"/>
                </a:cubicBezTo>
                <a:cubicBezTo>
                  <a:pt x="157607" y="52735"/>
                  <a:pt x="127352" y="22515"/>
                  <a:pt x="90061" y="22515"/>
                </a:cubicBezTo>
                <a:close/>
              </a:path>
            </a:pathLst>
          </a:custGeom>
          <a:solidFill>
            <a:srgbClr val="4FD1C5"/>
          </a:solidFill>
          <a:ln/>
        </p:spPr>
        <p:txBody>
          <a:bodyPr/>
          <a:lstStyle/>
          <a:p>
            <a:endParaRPr lang="zh-CN" altLang="en-US"/>
          </a:p>
        </p:txBody>
      </p:sp>
      <p:sp>
        <p:nvSpPr>
          <p:cNvPr id="21" name="Text 19"/>
          <p:cNvSpPr/>
          <p:nvPr/>
        </p:nvSpPr>
        <p:spPr>
          <a:xfrm>
            <a:off x="1035701" y="5989053"/>
            <a:ext cx="3275967"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在更新出现问题时,快速回滚到上一个稳定快照</a:t>
            </a:r>
            <a:endParaRPr lang="en-US" sz="1600" dirty="0"/>
          </a:p>
        </p:txBody>
      </p:sp>
      <p:sp>
        <p:nvSpPr>
          <p:cNvPr id="22" name="Shape 20"/>
          <p:cNvSpPr/>
          <p:nvPr/>
        </p:nvSpPr>
        <p:spPr>
          <a:xfrm>
            <a:off x="8238026" y="1666127"/>
            <a:ext cx="7565119" cy="5268565"/>
          </a:xfrm>
          <a:custGeom>
            <a:avLst/>
            <a:gdLst/>
            <a:ahLst/>
            <a:cxnLst/>
            <a:rect l="l" t="t" r="r" b="b"/>
            <a:pathLst>
              <a:path w="7565119" h="5268565">
                <a:moveTo>
                  <a:pt x="90040" y="0"/>
                </a:moveTo>
                <a:lnTo>
                  <a:pt x="7475079" y="0"/>
                </a:lnTo>
                <a:cubicBezTo>
                  <a:pt x="7524807" y="0"/>
                  <a:pt x="7565119" y="40312"/>
                  <a:pt x="7565119" y="90040"/>
                </a:cubicBezTo>
                <a:lnTo>
                  <a:pt x="7565119" y="5178525"/>
                </a:lnTo>
                <a:cubicBezTo>
                  <a:pt x="7565119" y="5228253"/>
                  <a:pt x="7524807" y="5268565"/>
                  <a:pt x="7475079" y="5268565"/>
                </a:cubicBezTo>
                <a:lnTo>
                  <a:pt x="90040" y="5268565"/>
                </a:lnTo>
                <a:cubicBezTo>
                  <a:pt x="40312" y="5268565"/>
                  <a:pt x="0" y="5228253"/>
                  <a:pt x="0" y="5178525"/>
                </a:cubicBezTo>
                <a:lnTo>
                  <a:pt x="0" y="90040"/>
                </a:lnTo>
                <a:cubicBezTo>
                  <a:pt x="0" y="40312"/>
                  <a:pt x="40312" y="0"/>
                  <a:pt x="90040" y="0"/>
                </a:cubicBezTo>
                <a:close/>
              </a:path>
            </a:pathLst>
          </a:custGeom>
          <a:solidFill>
            <a:srgbClr val="4A5568">
              <a:alpha val="30196"/>
            </a:srgbClr>
          </a:solidFill>
          <a:ln/>
        </p:spPr>
        <p:txBody>
          <a:bodyPr/>
          <a:lstStyle/>
          <a:p>
            <a:endParaRPr lang="zh-CN" altLang="en-US"/>
          </a:p>
        </p:txBody>
      </p:sp>
      <p:sp>
        <p:nvSpPr>
          <p:cNvPr id="23" name="Text 21"/>
          <p:cNvSpPr/>
          <p:nvPr/>
        </p:nvSpPr>
        <p:spPr>
          <a:xfrm>
            <a:off x="8463178" y="1891280"/>
            <a:ext cx="7227391" cy="315213"/>
          </a:xfrm>
          <a:prstGeom prst="rect">
            <a:avLst/>
          </a:prstGeom>
          <a:noFill/>
          <a:ln/>
        </p:spPr>
        <p:txBody>
          <a:bodyPr wrap="square" lIns="0" tIns="0" rIns="0" bIns="0" rtlCol="0" anchor="ctr"/>
          <a:lstStyle/>
          <a:p>
            <a:pPr>
              <a:lnSpc>
                <a:spcPct val="120000"/>
              </a:lnSpc>
            </a:pPr>
            <a:r>
              <a:rPr lang="en-US" sz="1773" b="1" dirty="0">
                <a:solidFill>
                  <a:srgbClr val="4FD1C5"/>
                </a:solidFill>
                <a:latin typeface="Noto Sans SC" pitchFamily="34" charset="0"/>
                <a:ea typeface="Noto Sans SC" pitchFamily="34" charset="-122"/>
                <a:cs typeface="Noto Sans SC" pitchFamily="34" charset="-120"/>
              </a:rPr>
              <a:t>隐藏分区 Hidden Partitioning</a:t>
            </a:r>
            <a:endParaRPr lang="en-US" sz="1600" dirty="0"/>
          </a:p>
        </p:txBody>
      </p:sp>
      <p:sp>
        <p:nvSpPr>
          <p:cNvPr id="24" name="Text 22"/>
          <p:cNvSpPr/>
          <p:nvPr/>
        </p:nvSpPr>
        <p:spPr>
          <a:xfrm>
            <a:off x="8463178" y="2386615"/>
            <a:ext cx="7204875" cy="585396"/>
          </a:xfrm>
          <a:prstGeom prst="rect">
            <a:avLst/>
          </a:prstGeom>
          <a:noFill/>
          <a:ln/>
        </p:spPr>
        <p:txBody>
          <a:bodyPr wrap="square" lIns="0" tIns="0" rIns="0" bIns="0" rtlCol="0" anchor="ctr"/>
          <a:lstStyle/>
          <a:p>
            <a:pPr>
              <a:lnSpc>
                <a:spcPct val="140000"/>
              </a:lnSpc>
            </a:pPr>
            <a:r>
              <a:rPr lang="en-US" sz="1418" dirty="0">
                <a:solidFill>
                  <a:srgbClr val="A0AEC0"/>
                </a:solidFill>
                <a:latin typeface="MiSans" pitchFamily="34" charset="0"/>
                <a:ea typeface="MiSans" pitchFamily="34" charset="-122"/>
                <a:cs typeface="MiSans" pitchFamily="34" charset="-120"/>
              </a:rPr>
              <a:t>Iceberg支持隐藏分区,自动将业务字段映射到分区,用户无需关心底层分区字段,查询时自动下推过滤条件实现高效分区裁剪。</a:t>
            </a:r>
            <a:endParaRPr lang="en-US" sz="1600" dirty="0"/>
          </a:p>
        </p:txBody>
      </p:sp>
      <p:sp>
        <p:nvSpPr>
          <p:cNvPr id="25" name="Shape 23"/>
          <p:cNvSpPr/>
          <p:nvPr/>
        </p:nvSpPr>
        <p:spPr>
          <a:xfrm>
            <a:off x="8463178" y="3152133"/>
            <a:ext cx="7114814" cy="2386615"/>
          </a:xfrm>
          <a:custGeom>
            <a:avLst/>
            <a:gdLst/>
            <a:ahLst/>
            <a:cxnLst/>
            <a:rect l="l" t="t" r="r" b="b"/>
            <a:pathLst>
              <a:path w="7114814" h="2386615">
                <a:moveTo>
                  <a:pt x="45035" y="0"/>
                </a:moveTo>
                <a:lnTo>
                  <a:pt x="7069779" y="0"/>
                </a:lnTo>
                <a:cubicBezTo>
                  <a:pt x="7094651" y="0"/>
                  <a:pt x="7114814" y="20163"/>
                  <a:pt x="7114814" y="45035"/>
                </a:cubicBezTo>
                <a:lnTo>
                  <a:pt x="7114814" y="2341580"/>
                </a:lnTo>
                <a:cubicBezTo>
                  <a:pt x="7114814" y="2366452"/>
                  <a:pt x="7094651" y="2386615"/>
                  <a:pt x="7069779" y="2386615"/>
                </a:cubicBezTo>
                <a:lnTo>
                  <a:pt x="45035" y="2386615"/>
                </a:lnTo>
                <a:cubicBezTo>
                  <a:pt x="20163" y="2386615"/>
                  <a:pt x="0" y="2366452"/>
                  <a:pt x="0" y="2341580"/>
                </a:cubicBezTo>
                <a:lnTo>
                  <a:pt x="0" y="45035"/>
                </a:lnTo>
                <a:cubicBezTo>
                  <a:pt x="0" y="20180"/>
                  <a:pt x="20180" y="0"/>
                  <a:pt x="45035" y="0"/>
                </a:cubicBezTo>
                <a:close/>
              </a:path>
            </a:pathLst>
          </a:custGeom>
          <a:solidFill>
            <a:srgbClr val="1A202C"/>
          </a:solidFill>
          <a:ln/>
        </p:spPr>
        <p:txBody>
          <a:bodyPr/>
          <a:lstStyle/>
          <a:p>
            <a:endParaRPr lang="zh-CN" altLang="en-US"/>
          </a:p>
        </p:txBody>
      </p:sp>
      <p:sp>
        <p:nvSpPr>
          <p:cNvPr id="26" name="Text 24"/>
          <p:cNvSpPr/>
          <p:nvPr/>
        </p:nvSpPr>
        <p:spPr>
          <a:xfrm>
            <a:off x="8643300" y="3332255"/>
            <a:ext cx="6833374" cy="225152"/>
          </a:xfrm>
          <a:prstGeom prst="rect">
            <a:avLst/>
          </a:prstGeom>
          <a:noFill/>
          <a:ln/>
        </p:spPr>
        <p:txBody>
          <a:bodyPr wrap="square" lIns="0" tIns="0" rIns="0" bIns="0" rtlCol="0" anchor="ctr"/>
          <a:lstStyle/>
          <a:p>
            <a:pPr>
              <a:lnSpc>
                <a:spcPct val="120000"/>
              </a:lnSpc>
            </a:pPr>
            <a:r>
              <a:rPr lang="en-US" sz="1241" dirty="0">
                <a:solidFill>
                  <a:srgbClr val="A0AEC0"/>
                </a:solidFill>
                <a:latin typeface="MiSans" pitchFamily="34" charset="0"/>
                <a:ea typeface="MiSans" pitchFamily="34" charset="-122"/>
                <a:cs typeface="MiSans" pitchFamily="34" charset="-120"/>
              </a:rPr>
              <a:t>-- 建表时定义分区策略</a:t>
            </a:r>
            <a:endParaRPr lang="en-US" sz="1600" dirty="0"/>
          </a:p>
        </p:txBody>
      </p:sp>
      <p:sp>
        <p:nvSpPr>
          <p:cNvPr id="27" name="Text 25"/>
          <p:cNvSpPr/>
          <p:nvPr/>
        </p:nvSpPr>
        <p:spPr>
          <a:xfrm>
            <a:off x="8643300" y="3647468"/>
            <a:ext cx="6833374"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PARTITIONED BY (days(event_time));</a:t>
            </a:r>
            <a:endParaRPr lang="en-US" sz="1600" dirty="0"/>
          </a:p>
        </p:txBody>
      </p:sp>
      <p:sp>
        <p:nvSpPr>
          <p:cNvPr id="28" name="Text 26"/>
          <p:cNvSpPr/>
          <p:nvPr/>
        </p:nvSpPr>
        <p:spPr>
          <a:xfrm>
            <a:off x="8643300" y="4007712"/>
            <a:ext cx="6833374" cy="225152"/>
          </a:xfrm>
          <a:prstGeom prst="rect">
            <a:avLst/>
          </a:prstGeom>
          <a:noFill/>
          <a:ln/>
        </p:spPr>
        <p:txBody>
          <a:bodyPr wrap="square" lIns="0" tIns="0" rIns="0" bIns="0" rtlCol="0" anchor="ctr"/>
          <a:lstStyle/>
          <a:p>
            <a:pPr>
              <a:lnSpc>
                <a:spcPct val="120000"/>
              </a:lnSpc>
            </a:pPr>
            <a:r>
              <a:rPr lang="en-US" sz="1241" dirty="0">
                <a:solidFill>
                  <a:srgbClr val="A0AEC0"/>
                </a:solidFill>
                <a:latin typeface="MiSans" pitchFamily="34" charset="0"/>
                <a:ea typeface="MiSans" pitchFamily="34" charset="-122"/>
                <a:cs typeface="MiSans" pitchFamily="34" charset="-120"/>
              </a:rPr>
              <a:t>-- 查询时只需写业务字段</a:t>
            </a:r>
            <a:endParaRPr lang="en-US" sz="1600" dirty="0"/>
          </a:p>
        </p:txBody>
      </p:sp>
      <p:sp>
        <p:nvSpPr>
          <p:cNvPr id="29" name="Text 27"/>
          <p:cNvSpPr/>
          <p:nvPr/>
        </p:nvSpPr>
        <p:spPr>
          <a:xfrm>
            <a:off x="8643300" y="4322925"/>
            <a:ext cx="6833374"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SELECT * FROM user_events</a:t>
            </a:r>
            <a:endParaRPr lang="en-US" sz="1600" dirty="0"/>
          </a:p>
        </p:txBody>
      </p:sp>
      <p:sp>
        <p:nvSpPr>
          <p:cNvPr id="30" name="Text 28"/>
          <p:cNvSpPr/>
          <p:nvPr/>
        </p:nvSpPr>
        <p:spPr>
          <a:xfrm>
            <a:off x="8643300" y="4548078"/>
            <a:ext cx="6833374"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WHERE event_time &gt;= '2023-12-12'</a:t>
            </a:r>
            <a:endParaRPr lang="en-US" sz="1600" dirty="0"/>
          </a:p>
        </p:txBody>
      </p:sp>
      <p:sp>
        <p:nvSpPr>
          <p:cNvPr id="31" name="Text 29"/>
          <p:cNvSpPr/>
          <p:nvPr/>
        </p:nvSpPr>
        <p:spPr>
          <a:xfrm>
            <a:off x="8643300" y="4773230"/>
            <a:ext cx="6833374" cy="225152"/>
          </a:xfrm>
          <a:prstGeom prst="rect">
            <a:avLst/>
          </a:prstGeom>
          <a:noFill/>
          <a:ln/>
        </p:spPr>
        <p:txBody>
          <a:bodyPr wrap="square" lIns="0" tIns="0" rIns="0" bIns="0" rtlCol="0" anchor="ctr"/>
          <a:lstStyle/>
          <a:p>
            <a:pPr>
              <a:lnSpc>
                <a:spcPct val="120000"/>
              </a:lnSpc>
            </a:pPr>
            <a:r>
              <a:rPr lang="en-US" sz="1241" dirty="0">
                <a:solidFill>
                  <a:srgbClr val="F7FAFC"/>
                </a:solidFill>
                <a:latin typeface="MiSans" pitchFamily="34" charset="0"/>
                <a:ea typeface="MiSans" pitchFamily="34" charset="-122"/>
                <a:cs typeface="MiSans" pitchFamily="34" charset="-120"/>
              </a:rPr>
              <a:t>AND event_time &lt; '2023-12-13';</a:t>
            </a:r>
            <a:endParaRPr lang="en-US" sz="1600" dirty="0"/>
          </a:p>
        </p:txBody>
      </p:sp>
      <p:sp>
        <p:nvSpPr>
          <p:cNvPr id="32" name="Text 30"/>
          <p:cNvSpPr/>
          <p:nvPr/>
        </p:nvSpPr>
        <p:spPr>
          <a:xfrm>
            <a:off x="8643300" y="5133474"/>
            <a:ext cx="6833374" cy="225152"/>
          </a:xfrm>
          <a:prstGeom prst="rect">
            <a:avLst/>
          </a:prstGeom>
          <a:noFill/>
          <a:ln/>
        </p:spPr>
        <p:txBody>
          <a:bodyPr wrap="square" lIns="0" tIns="0" rIns="0" bIns="0" rtlCol="0" anchor="ctr"/>
          <a:lstStyle/>
          <a:p>
            <a:pPr>
              <a:lnSpc>
                <a:spcPct val="120000"/>
              </a:lnSpc>
            </a:pPr>
            <a:r>
              <a:rPr lang="en-US" sz="1241" dirty="0">
                <a:solidFill>
                  <a:srgbClr val="A0AEC0"/>
                </a:solidFill>
                <a:latin typeface="MiSans" pitchFamily="34" charset="0"/>
                <a:ea typeface="MiSans" pitchFamily="34" charset="-122"/>
                <a:cs typeface="MiSans" pitchFamily="34" charset="-120"/>
              </a:rPr>
              <a:t>-- Iceberg自动下推到分区层面</a:t>
            </a:r>
            <a:endParaRPr lang="en-US" sz="1600" dirty="0"/>
          </a:p>
        </p:txBody>
      </p:sp>
      <p:sp>
        <p:nvSpPr>
          <p:cNvPr id="33" name="Shape 31"/>
          <p:cNvSpPr/>
          <p:nvPr/>
        </p:nvSpPr>
        <p:spPr>
          <a:xfrm>
            <a:off x="8463178" y="5718870"/>
            <a:ext cx="3489861" cy="990670"/>
          </a:xfrm>
          <a:custGeom>
            <a:avLst/>
            <a:gdLst/>
            <a:ahLst/>
            <a:cxnLst/>
            <a:rect l="l" t="t" r="r" b="b"/>
            <a:pathLst>
              <a:path w="3489861" h="990670">
                <a:moveTo>
                  <a:pt x="45026" y="0"/>
                </a:moveTo>
                <a:lnTo>
                  <a:pt x="3444836" y="0"/>
                </a:lnTo>
                <a:cubicBezTo>
                  <a:pt x="3469703" y="0"/>
                  <a:pt x="3489861" y="20159"/>
                  <a:pt x="3489861" y="45026"/>
                </a:cubicBezTo>
                <a:lnTo>
                  <a:pt x="3489861" y="945644"/>
                </a:lnTo>
                <a:cubicBezTo>
                  <a:pt x="3489861" y="970512"/>
                  <a:pt x="3469703" y="990670"/>
                  <a:pt x="3444836" y="990670"/>
                </a:cubicBezTo>
                <a:lnTo>
                  <a:pt x="45026" y="990670"/>
                </a:lnTo>
                <a:cubicBezTo>
                  <a:pt x="20159" y="990670"/>
                  <a:pt x="0" y="970512"/>
                  <a:pt x="0" y="945644"/>
                </a:cubicBezTo>
                <a:lnTo>
                  <a:pt x="0" y="45026"/>
                </a:lnTo>
                <a:cubicBezTo>
                  <a:pt x="0" y="20159"/>
                  <a:pt x="20159" y="0"/>
                  <a:pt x="45026" y="0"/>
                </a:cubicBezTo>
                <a:close/>
              </a:path>
            </a:pathLst>
          </a:custGeom>
          <a:solidFill>
            <a:srgbClr val="4FD1C5">
              <a:alpha val="10196"/>
            </a:srgbClr>
          </a:solidFill>
          <a:ln/>
        </p:spPr>
        <p:txBody>
          <a:bodyPr/>
          <a:lstStyle/>
          <a:p>
            <a:endParaRPr lang="zh-CN" altLang="en-US"/>
          </a:p>
        </p:txBody>
      </p:sp>
      <p:sp>
        <p:nvSpPr>
          <p:cNvPr id="34" name="Text 32"/>
          <p:cNvSpPr/>
          <p:nvPr/>
        </p:nvSpPr>
        <p:spPr>
          <a:xfrm>
            <a:off x="8598269" y="5853961"/>
            <a:ext cx="3298482" cy="225152"/>
          </a:xfrm>
          <a:prstGeom prst="rect">
            <a:avLst/>
          </a:prstGeom>
          <a:noFill/>
          <a:ln/>
        </p:spPr>
        <p:txBody>
          <a:bodyPr wrap="square" lIns="0" tIns="0" rIns="0" bIns="0" rtlCol="0" anchor="ctr"/>
          <a:lstStyle/>
          <a:p>
            <a:pPr>
              <a:lnSpc>
                <a:spcPct val="120000"/>
              </a:lnSpc>
            </a:pPr>
            <a:r>
              <a:rPr lang="en-US" sz="1241" b="1" dirty="0">
                <a:solidFill>
                  <a:srgbClr val="F7FAFC"/>
                </a:solidFill>
                <a:latin typeface="MiSans" pitchFamily="34" charset="0"/>
                <a:ea typeface="MiSans" pitchFamily="34" charset="-122"/>
                <a:cs typeface="MiSans" pitchFamily="34" charset="-120"/>
              </a:rPr>
              <a:t>Hive方式</a:t>
            </a:r>
            <a:endParaRPr lang="en-US" sz="1600" dirty="0"/>
          </a:p>
        </p:txBody>
      </p:sp>
      <p:sp>
        <p:nvSpPr>
          <p:cNvPr id="35" name="Text 33"/>
          <p:cNvSpPr/>
          <p:nvPr/>
        </p:nvSpPr>
        <p:spPr>
          <a:xfrm>
            <a:off x="8598269" y="6124144"/>
            <a:ext cx="3298482" cy="450305"/>
          </a:xfrm>
          <a:prstGeom prst="rect">
            <a:avLst/>
          </a:prstGeom>
          <a:noFill/>
          <a:ln/>
        </p:spPr>
        <p:txBody>
          <a:bodyPr wrap="square" lIns="0" tIns="0" rIns="0" bIns="0" rtlCol="0" anchor="ctr"/>
          <a:lstStyle/>
          <a:p>
            <a:pPr>
              <a:lnSpc>
                <a:spcPct val="120000"/>
              </a:lnSpc>
            </a:pPr>
            <a:r>
              <a:rPr lang="en-US" sz="1241" dirty="0">
                <a:solidFill>
                  <a:srgbClr val="A0AEC0"/>
                </a:solidFill>
                <a:latin typeface="MiSans" pitchFamily="34" charset="0"/>
                <a:ea typeface="MiSans" pitchFamily="34" charset="-122"/>
                <a:cs typeface="MiSans" pitchFamily="34" charset="-120"/>
              </a:rPr>
              <a:t>需显式增加dt字段,查询时必须写WHERE dt='...'</a:t>
            </a:r>
            <a:endParaRPr lang="en-US" sz="1600" dirty="0"/>
          </a:p>
        </p:txBody>
      </p:sp>
      <p:sp>
        <p:nvSpPr>
          <p:cNvPr id="36" name="Shape 34"/>
          <p:cNvSpPr/>
          <p:nvPr/>
        </p:nvSpPr>
        <p:spPr>
          <a:xfrm>
            <a:off x="12086900" y="5718870"/>
            <a:ext cx="3489861" cy="990670"/>
          </a:xfrm>
          <a:custGeom>
            <a:avLst/>
            <a:gdLst/>
            <a:ahLst/>
            <a:cxnLst/>
            <a:rect l="l" t="t" r="r" b="b"/>
            <a:pathLst>
              <a:path w="3489861" h="990670">
                <a:moveTo>
                  <a:pt x="45026" y="0"/>
                </a:moveTo>
                <a:lnTo>
                  <a:pt x="3444836" y="0"/>
                </a:lnTo>
                <a:cubicBezTo>
                  <a:pt x="3469703" y="0"/>
                  <a:pt x="3489861" y="20159"/>
                  <a:pt x="3489861" y="45026"/>
                </a:cubicBezTo>
                <a:lnTo>
                  <a:pt x="3489861" y="945644"/>
                </a:lnTo>
                <a:cubicBezTo>
                  <a:pt x="3489861" y="970512"/>
                  <a:pt x="3469703" y="990670"/>
                  <a:pt x="3444836" y="990670"/>
                </a:cubicBezTo>
                <a:lnTo>
                  <a:pt x="45026" y="990670"/>
                </a:lnTo>
                <a:cubicBezTo>
                  <a:pt x="20159" y="990670"/>
                  <a:pt x="0" y="970512"/>
                  <a:pt x="0" y="945644"/>
                </a:cubicBezTo>
                <a:lnTo>
                  <a:pt x="0" y="45026"/>
                </a:lnTo>
                <a:cubicBezTo>
                  <a:pt x="0" y="20159"/>
                  <a:pt x="20159" y="0"/>
                  <a:pt x="45026" y="0"/>
                </a:cubicBezTo>
                <a:close/>
              </a:path>
            </a:pathLst>
          </a:custGeom>
          <a:solidFill>
            <a:srgbClr val="4FD1C5">
              <a:alpha val="10196"/>
            </a:srgbClr>
          </a:solidFill>
          <a:ln/>
        </p:spPr>
        <p:txBody>
          <a:bodyPr/>
          <a:lstStyle/>
          <a:p>
            <a:endParaRPr lang="zh-CN" altLang="en-US"/>
          </a:p>
        </p:txBody>
      </p:sp>
      <p:sp>
        <p:nvSpPr>
          <p:cNvPr id="37" name="Text 35"/>
          <p:cNvSpPr/>
          <p:nvPr/>
        </p:nvSpPr>
        <p:spPr>
          <a:xfrm>
            <a:off x="12221991" y="5853961"/>
            <a:ext cx="3298482" cy="225152"/>
          </a:xfrm>
          <a:prstGeom prst="rect">
            <a:avLst/>
          </a:prstGeom>
          <a:noFill/>
          <a:ln/>
        </p:spPr>
        <p:txBody>
          <a:bodyPr wrap="square" lIns="0" tIns="0" rIns="0" bIns="0" rtlCol="0" anchor="ctr"/>
          <a:lstStyle/>
          <a:p>
            <a:pPr>
              <a:lnSpc>
                <a:spcPct val="120000"/>
              </a:lnSpc>
            </a:pPr>
            <a:r>
              <a:rPr lang="en-US" sz="1241" b="1" dirty="0">
                <a:solidFill>
                  <a:srgbClr val="F7FAFC"/>
                </a:solidFill>
                <a:latin typeface="MiSans" pitchFamily="34" charset="0"/>
                <a:ea typeface="MiSans" pitchFamily="34" charset="-122"/>
                <a:cs typeface="MiSans" pitchFamily="34" charset="-120"/>
              </a:rPr>
              <a:t>Iceberg方式</a:t>
            </a:r>
            <a:endParaRPr lang="en-US" sz="1600" dirty="0"/>
          </a:p>
        </p:txBody>
      </p:sp>
      <p:sp>
        <p:nvSpPr>
          <p:cNvPr id="38" name="Text 36"/>
          <p:cNvSpPr/>
          <p:nvPr/>
        </p:nvSpPr>
        <p:spPr>
          <a:xfrm>
            <a:off x="12221991" y="6124144"/>
            <a:ext cx="3298482" cy="225152"/>
          </a:xfrm>
          <a:prstGeom prst="rect">
            <a:avLst/>
          </a:prstGeom>
          <a:noFill/>
          <a:ln/>
        </p:spPr>
        <p:txBody>
          <a:bodyPr wrap="square" lIns="0" tIns="0" rIns="0" bIns="0" rtlCol="0" anchor="ctr"/>
          <a:lstStyle/>
          <a:p>
            <a:pPr>
              <a:lnSpc>
                <a:spcPct val="120000"/>
              </a:lnSpc>
            </a:pPr>
            <a:r>
              <a:rPr lang="en-US" sz="1241" dirty="0">
                <a:solidFill>
                  <a:srgbClr val="A0AEC0"/>
                </a:solidFill>
                <a:latin typeface="MiSans" pitchFamily="34" charset="0"/>
                <a:ea typeface="MiSans" pitchFamily="34" charset="-122"/>
                <a:cs typeface="MiSans" pitchFamily="34" charset="-120"/>
              </a:rPr>
              <a:t>只需写业务字段,自动完成分区映射与裁剪</a:t>
            </a:r>
            <a:endParaRPr lang="en-US" sz="1600" dirty="0"/>
          </a:p>
        </p:txBody>
      </p:sp>
      <p:sp>
        <p:nvSpPr>
          <p:cNvPr id="39" name="Shape 37"/>
          <p:cNvSpPr/>
          <p:nvPr/>
        </p:nvSpPr>
        <p:spPr>
          <a:xfrm>
            <a:off x="8260541" y="7114814"/>
            <a:ext cx="7542604" cy="1576066"/>
          </a:xfrm>
          <a:custGeom>
            <a:avLst/>
            <a:gdLst/>
            <a:ahLst/>
            <a:cxnLst/>
            <a:rect l="l" t="t" r="r" b="b"/>
            <a:pathLst>
              <a:path w="7542604" h="1576066">
                <a:moveTo>
                  <a:pt x="45030" y="0"/>
                </a:moveTo>
                <a:lnTo>
                  <a:pt x="7452547" y="0"/>
                </a:lnTo>
                <a:cubicBezTo>
                  <a:pt x="7502284" y="0"/>
                  <a:pt x="7542604" y="40320"/>
                  <a:pt x="7542604" y="90056"/>
                </a:cubicBezTo>
                <a:lnTo>
                  <a:pt x="7542604" y="1486010"/>
                </a:lnTo>
                <a:cubicBezTo>
                  <a:pt x="7542604" y="1535747"/>
                  <a:pt x="7502284" y="1576066"/>
                  <a:pt x="7452547" y="1576066"/>
                </a:cubicBezTo>
                <a:lnTo>
                  <a:pt x="45030" y="1576066"/>
                </a:lnTo>
                <a:cubicBezTo>
                  <a:pt x="20161" y="1576066"/>
                  <a:pt x="0" y="1555906"/>
                  <a:pt x="0" y="1531036"/>
                </a:cubicBezTo>
                <a:lnTo>
                  <a:pt x="0" y="45030"/>
                </a:lnTo>
                <a:cubicBezTo>
                  <a:pt x="0" y="20161"/>
                  <a:pt x="20161" y="0"/>
                  <a:pt x="45030" y="0"/>
                </a:cubicBezTo>
                <a:close/>
              </a:path>
            </a:pathLst>
          </a:custGeom>
          <a:solidFill>
            <a:srgbClr val="4FD1C5">
              <a:alpha val="10196"/>
            </a:srgbClr>
          </a:solidFill>
          <a:ln/>
        </p:spPr>
        <p:txBody>
          <a:bodyPr/>
          <a:lstStyle/>
          <a:p>
            <a:endParaRPr lang="zh-CN" altLang="en-US"/>
          </a:p>
        </p:txBody>
      </p:sp>
      <p:sp>
        <p:nvSpPr>
          <p:cNvPr id="40" name="Shape 38"/>
          <p:cNvSpPr/>
          <p:nvPr/>
        </p:nvSpPr>
        <p:spPr>
          <a:xfrm>
            <a:off x="8260541" y="7114814"/>
            <a:ext cx="45030" cy="1576066"/>
          </a:xfrm>
          <a:custGeom>
            <a:avLst/>
            <a:gdLst/>
            <a:ahLst/>
            <a:cxnLst/>
            <a:rect l="l" t="t" r="r" b="b"/>
            <a:pathLst>
              <a:path w="45030" h="1576066">
                <a:moveTo>
                  <a:pt x="45030" y="0"/>
                </a:moveTo>
                <a:lnTo>
                  <a:pt x="45030" y="0"/>
                </a:lnTo>
                <a:lnTo>
                  <a:pt x="45030" y="1576066"/>
                </a:lnTo>
                <a:lnTo>
                  <a:pt x="45030" y="1576066"/>
                </a:lnTo>
                <a:cubicBezTo>
                  <a:pt x="20161" y="1576066"/>
                  <a:pt x="0" y="1555906"/>
                  <a:pt x="0" y="1531036"/>
                </a:cubicBezTo>
                <a:lnTo>
                  <a:pt x="0" y="45030"/>
                </a:lnTo>
                <a:cubicBezTo>
                  <a:pt x="0" y="20177"/>
                  <a:pt x="20177" y="0"/>
                  <a:pt x="45030" y="0"/>
                </a:cubicBezTo>
                <a:close/>
              </a:path>
            </a:pathLst>
          </a:custGeom>
          <a:solidFill>
            <a:srgbClr val="4FD1C5"/>
          </a:solidFill>
          <a:ln/>
        </p:spPr>
        <p:txBody>
          <a:bodyPr/>
          <a:lstStyle/>
          <a:p>
            <a:endParaRPr lang="zh-CN" altLang="en-US"/>
          </a:p>
        </p:txBody>
      </p:sp>
      <p:sp>
        <p:nvSpPr>
          <p:cNvPr id="41" name="Text 39"/>
          <p:cNvSpPr/>
          <p:nvPr/>
        </p:nvSpPr>
        <p:spPr>
          <a:xfrm>
            <a:off x="8463178" y="7294936"/>
            <a:ext cx="7261163" cy="315213"/>
          </a:xfrm>
          <a:prstGeom prst="rect">
            <a:avLst/>
          </a:prstGeom>
          <a:noFill/>
          <a:ln/>
        </p:spPr>
        <p:txBody>
          <a:bodyPr wrap="square" lIns="0" tIns="0" rIns="0" bIns="0" rtlCol="0" anchor="ctr"/>
          <a:lstStyle/>
          <a:p>
            <a:pPr>
              <a:lnSpc>
                <a:spcPct val="130000"/>
              </a:lnSpc>
            </a:pPr>
            <a:r>
              <a:rPr lang="en-US" sz="1596" b="1" dirty="0">
                <a:solidFill>
                  <a:srgbClr val="F7FAFC"/>
                </a:solidFill>
                <a:latin typeface="MiSans" pitchFamily="34" charset="0"/>
                <a:ea typeface="MiSans" pitchFamily="34" charset="-122"/>
                <a:cs typeface="MiSans" pitchFamily="34" charset="-120"/>
              </a:rPr>
              <a:t>Data Skipping 数据跳过</a:t>
            </a:r>
            <a:endParaRPr lang="en-US" sz="1600" dirty="0"/>
          </a:p>
        </p:txBody>
      </p:sp>
      <p:sp>
        <p:nvSpPr>
          <p:cNvPr id="42" name="Text 40"/>
          <p:cNvSpPr/>
          <p:nvPr/>
        </p:nvSpPr>
        <p:spPr>
          <a:xfrm>
            <a:off x="8463178" y="7745241"/>
            <a:ext cx="7238648" cy="765518"/>
          </a:xfrm>
          <a:prstGeom prst="rect">
            <a:avLst/>
          </a:prstGeom>
          <a:noFill/>
          <a:ln/>
        </p:spPr>
        <p:txBody>
          <a:bodyPr wrap="square" lIns="0" tIns="0" rIns="0" bIns="0" rtlCol="0" anchor="ctr"/>
          <a:lstStyle/>
          <a:p>
            <a:pPr>
              <a:lnSpc>
                <a:spcPct val="140000"/>
              </a:lnSpc>
            </a:pPr>
            <a:r>
              <a:rPr lang="en-US" sz="1241" dirty="0">
                <a:solidFill>
                  <a:srgbClr val="A0AEC0"/>
                </a:solidFill>
                <a:latin typeface="MiSans" pitchFamily="34" charset="0"/>
                <a:ea typeface="MiSans" pitchFamily="34" charset="-122"/>
                <a:cs typeface="MiSans" pitchFamily="34" charset="-120"/>
              </a:rPr>
              <a:t>Iceberg依托Manifest中记录的</a:t>
            </a:r>
            <a:r>
              <a:rPr lang="en-US" sz="1241" b="1" dirty="0">
                <a:solidFill>
                  <a:srgbClr val="4FD1C5"/>
                </a:solidFill>
                <a:latin typeface="MiSans" pitchFamily="34" charset="0"/>
                <a:ea typeface="MiSans" pitchFamily="34" charset="-122"/>
                <a:cs typeface="MiSans" pitchFamily="34" charset="-120"/>
              </a:rPr>
              <a:t>列级统计信息</a:t>
            </a:r>
            <a:r>
              <a:rPr lang="en-US" sz="1241" dirty="0">
                <a:solidFill>
                  <a:srgbClr val="A0AEC0"/>
                </a:solidFill>
                <a:latin typeface="MiSans" pitchFamily="34" charset="0"/>
                <a:ea typeface="MiSans" pitchFamily="34" charset="-122"/>
                <a:cs typeface="MiSans" pitchFamily="34" charset="-120"/>
              </a:rPr>
              <a:t>(最小值/最大值、空值数量等)实现更细粒度的Data Skipping。当查询条件中包含这些字段时,可以在"不真正打开数据文件"的前提下,先基于统计信息过滤掉不可能命中的文件,从而显著降低扫描数据量。</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60510" y="460510"/>
            <a:ext cx="1991705" cy="276306"/>
          </a:xfrm>
          <a:prstGeom prst="rect">
            <a:avLst/>
          </a:prstGeom>
          <a:noFill/>
          <a:ln/>
        </p:spPr>
        <p:txBody>
          <a:bodyPr wrap="square" lIns="0" tIns="0" rIns="0" bIns="0" rtlCol="0" anchor="ctr"/>
          <a:lstStyle/>
          <a:p>
            <a:pPr>
              <a:lnSpc>
                <a:spcPct val="130000"/>
              </a:lnSpc>
            </a:pPr>
            <a:r>
              <a:rPr lang="en-US" sz="1450" b="1" kern="0" spc="73" dirty="0">
                <a:solidFill>
                  <a:srgbClr val="4FD1C5"/>
                </a:solidFill>
                <a:latin typeface="MiSans" pitchFamily="34" charset="0"/>
                <a:ea typeface="MiSans" pitchFamily="34" charset="-122"/>
                <a:cs typeface="MiSans" pitchFamily="34" charset="-120"/>
              </a:rPr>
              <a:t>CORE MECHANISMS</a:t>
            </a:r>
            <a:endParaRPr lang="en-US" sz="1600" dirty="0"/>
          </a:p>
        </p:txBody>
      </p:sp>
      <p:sp>
        <p:nvSpPr>
          <p:cNvPr id="3" name="Text 1"/>
          <p:cNvSpPr/>
          <p:nvPr/>
        </p:nvSpPr>
        <p:spPr>
          <a:xfrm>
            <a:off x="460510" y="828918"/>
            <a:ext cx="15542210" cy="460510"/>
          </a:xfrm>
          <a:prstGeom prst="rect">
            <a:avLst/>
          </a:prstGeom>
          <a:noFill/>
          <a:ln/>
        </p:spPr>
        <p:txBody>
          <a:bodyPr wrap="square" lIns="0" tIns="0" rIns="0" bIns="0" rtlCol="0" anchor="ctr"/>
          <a:lstStyle/>
          <a:p>
            <a:pPr>
              <a:lnSpc>
                <a:spcPct val="90000"/>
              </a:lnSpc>
            </a:pPr>
            <a:r>
              <a:rPr lang="en-US" sz="3263" b="1" dirty="0">
                <a:solidFill>
                  <a:srgbClr val="F7FAFC"/>
                </a:solidFill>
                <a:latin typeface="Noto Sans SC" pitchFamily="34" charset="0"/>
                <a:ea typeface="Noto Sans SC" pitchFamily="34" charset="-122"/>
                <a:cs typeface="Noto Sans SC" pitchFamily="34" charset="-120"/>
              </a:rPr>
              <a:t>一致性与垃圾回收</a:t>
            </a:r>
            <a:endParaRPr lang="en-US" sz="1600" dirty="0"/>
          </a:p>
        </p:txBody>
      </p:sp>
      <p:sp>
        <p:nvSpPr>
          <p:cNvPr id="4" name="Shape 2"/>
          <p:cNvSpPr/>
          <p:nvPr/>
        </p:nvSpPr>
        <p:spPr>
          <a:xfrm>
            <a:off x="460510" y="1427581"/>
            <a:ext cx="921020" cy="46051"/>
          </a:xfrm>
          <a:custGeom>
            <a:avLst/>
            <a:gdLst/>
            <a:ahLst/>
            <a:cxnLst/>
            <a:rect l="l" t="t" r="r" b="b"/>
            <a:pathLst>
              <a:path w="921020" h="46051">
                <a:moveTo>
                  <a:pt x="0" y="0"/>
                </a:moveTo>
                <a:lnTo>
                  <a:pt x="921020" y="0"/>
                </a:lnTo>
                <a:lnTo>
                  <a:pt x="921020" y="46051"/>
                </a:lnTo>
                <a:lnTo>
                  <a:pt x="0" y="46051"/>
                </a:lnTo>
                <a:lnTo>
                  <a:pt x="0" y="0"/>
                </a:lnTo>
                <a:close/>
              </a:path>
            </a:pathLst>
          </a:custGeom>
          <a:solidFill>
            <a:srgbClr val="4FD1C5"/>
          </a:solidFill>
          <a:ln/>
        </p:spPr>
        <p:txBody>
          <a:bodyPr/>
          <a:lstStyle/>
          <a:p>
            <a:endParaRPr lang="zh-CN" altLang="en-US"/>
          </a:p>
        </p:txBody>
      </p:sp>
      <p:sp>
        <p:nvSpPr>
          <p:cNvPr id="5" name="Shape 3"/>
          <p:cNvSpPr/>
          <p:nvPr/>
        </p:nvSpPr>
        <p:spPr>
          <a:xfrm>
            <a:off x="483535" y="1703887"/>
            <a:ext cx="7529337" cy="3845258"/>
          </a:xfrm>
          <a:custGeom>
            <a:avLst/>
            <a:gdLst/>
            <a:ahLst/>
            <a:cxnLst/>
            <a:rect l="l" t="t" r="r" b="b"/>
            <a:pathLst>
              <a:path w="7529337" h="3845258">
                <a:moveTo>
                  <a:pt x="46051" y="0"/>
                </a:moveTo>
                <a:lnTo>
                  <a:pt x="7437243" y="0"/>
                </a:lnTo>
                <a:cubicBezTo>
                  <a:pt x="7488105" y="0"/>
                  <a:pt x="7529337" y="41232"/>
                  <a:pt x="7529337" y="92094"/>
                </a:cubicBezTo>
                <a:lnTo>
                  <a:pt x="7529337" y="3753164"/>
                </a:lnTo>
                <a:cubicBezTo>
                  <a:pt x="7529337" y="3804026"/>
                  <a:pt x="7488105" y="3845258"/>
                  <a:pt x="7437243" y="3845258"/>
                </a:cubicBezTo>
                <a:lnTo>
                  <a:pt x="46051" y="3845258"/>
                </a:lnTo>
                <a:cubicBezTo>
                  <a:pt x="20618" y="3845258"/>
                  <a:pt x="0" y="3824640"/>
                  <a:pt x="0" y="3799207"/>
                </a:cubicBezTo>
                <a:lnTo>
                  <a:pt x="0" y="46051"/>
                </a:lnTo>
                <a:cubicBezTo>
                  <a:pt x="0" y="20635"/>
                  <a:pt x="20635" y="0"/>
                  <a:pt x="46051" y="0"/>
                </a:cubicBezTo>
                <a:close/>
              </a:path>
            </a:pathLst>
          </a:custGeom>
          <a:solidFill>
            <a:srgbClr val="4FD1C5">
              <a:alpha val="10196"/>
            </a:srgbClr>
          </a:solidFill>
          <a:ln/>
        </p:spPr>
        <p:txBody>
          <a:bodyPr/>
          <a:lstStyle/>
          <a:p>
            <a:endParaRPr lang="zh-CN" altLang="en-US"/>
          </a:p>
        </p:txBody>
      </p:sp>
      <p:sp>
        <p:nvSpPr>
          <p:cNvPr id="6" name="Shape 4"/>
          <p:cNvSpPr/>
          <p:nvPr/>
        </p:nvSpPr>
        <p:spPr>
          <a:xfrm>
            <a:off x="483535" y="1703887"/>
            <a:ext cx="46051" cy="3845258"/>
          </a:xfrm>
          <a:custGeom>
            <a:avLst/>
            <a:gdLst/>
            <a:ahLst/>
            <a:cxnLst/>
            <a:rect l="l" t="t" r="r" b="b"/>
            <a:pathLst>
              <a:path w="46051" h="3845258">
                <a:moveTo>
                  <a:pt x="46051" y="0"/>
                </a:moveTo>
                <a:lnTo>
                  <a:pt x="46051" y="0"/>
                </a:lnTo>
                <a:lnTo>
                  <a:pt x="46051" y="3845258"/>
                </a:lnTo>
                <a:lnTo>
                  <a:pt x="46051" y="3845258"/>
                </a:lnTo>
                <a:cubicBezTo>
                  <a:pt x="20618" y="3845258"/>
                  <a:pt x="0" y="3824640"/>
                  <a:pt x="0" y="3799207"/>
                </a:cubicBezTo>
                <a:lnTo>
                  <a:pt x="0" y="46051"/>
                </a:lnTo>
                <a:cubicBezTo>
                  <a:pt x="0" y="20635"/>
                  <a:pt x="20635" y="0"/>
                  <a:pt x="46051" y="0"/>
                </a:cubicBezTo>
                <a:close/>
              </a:path>
            </a:pathLst>
          </a:custGeom>
          <a:solidFill>
            <a:srgbClr val="4FD1C5"/>
          </a:solidFill>
          <a:ln/>
        </p:spPr>
        <p:txBody>
          <a:bodyPr/>
          <a:lstStyle/>
          <a:p>
            <a:endParaRPr lang="zh-CN" altLang="en-US"/>
          </a:p>
        </p:txBody>
      </p:sp>
      <p:sp>
        <p:nvSpPr>
          <p:cNvPr id="7" name="Text 5"/>
          <p:cNvSpPr/>
          <p:nvPr/>
        </p:nvSpPr>
        <p:spPr>
          <a:xfrm>
            <a:off x="736816" y="1934142"/>
            <a:ext cx="7160929" cy="322357"/>
          </a:xfrm>
          <a:prstGeom prst="rect">
            <a:avLst/>
          </a:prstGeom>
          <a:noFill/>
          <a:ln/>
        </p:spPr>
        <p:txBody>
          <a:bodyPr wrap="square" lIns="0" tIns="0" rIns="0" bIns="0" rtlCol="0" anchor="ctr"/>
          <a:lstStyle/>
          <a:p>
            <a:pPr>
              <a:lnSpc>
                <a:spcPct val="120000"/>
              </a:lnSpc>
            </a:pPr>
            <a:r>
              <a:rPr lang="en-US" sz="1813" b="1" dirty="0">
                <a:solidFill>
                  <a:srgbClr val="F7FAFC"/>
                </a:solidFill>
                <a:latin typeface="Noto Sans SC" pitchFamily="34" charset="0"/>
                <a:ea typeface="Noto Sans SC" pitchFamily="34" charset="-122"/>
                <a:cs typeface="Noto Sans SC" pitchFamily="34" charset="-120"/>
              </a:rPr>
              <a:t>Retention保留策略</a:t>
            </a:r>
            <a:endParaRPr lang="en-US" sz="1600" dirty="0"/>
          </a:p>
        </p:txBody>
      </p:sp>
      <p:sp>
        <p:nvSpPr>
          <p:cNvPr id="8" name="Text 6"/>
          <p:cNvSpPr/>
          <p:nvPr/>
        </p:nvSpPr>
        <p:spPr>
          <a:xfrm>
            <a:off x="736816" y="2440703"/>
            <a:ext cx="7137904" cy="897994"/>
          </a:xfrm>
          <a:prstGeom prst="rect">
            <a:avLst/>
          </a:prstGeom>
          <a:noFill/>
          <a:ln/>
        </p:spPr>
        <p:txBody>
          <a:bodyPr wrap="square" lIns="0" tIns="0" rIns="0" bIns="0" rtlCol="0" anchor="ctr"/>
          <a:lstStyle/>
          <a:p>
            <a:pPr>
              <a:lnSpc>
                <a:spcPct val="140000"/>
              </a:lnSpc>
            </a:pPr>
            <a:r>
              <a:rPr lang="en-US" sz="1450" dirty="0">
                <a:solidFill>
                  <a:srgbClr val="A0AEC0"/>
                </a:solidFill>
                <a:latin typeface="MiSans" pitchFamily="34" charset="0"/>
                <a:ea typeface="MiSans" pitchFamily="34" charset="-122"/>
                <a:cs typeface="MiSans" pitchFamily="34" charset="-120"/>
              </a:rPr>
              <a:t>Time Travel带来了强大的追溯能力,但如果不加控制,历史快照和老文件会越积越多,最终拖垮存储与查询性能。因此需要通过有计划地过期快照和清理孤儿文件,维持系统长期运行的稳定性与成本可控性。</a:t>
            </a:r>
            <a:endParaRPr lang="en-US" sz="1600" dirty="0"/>
          </a:p>
        </p:txBody>
      </p:sp>
      <p:sp>
        <p:nvSpPr>
          <p:cNvPr id="9" name="Shape 7"/>
          <p:cNvSpPr/>
          <p:nvPr/>
        </p:nvSpPr>
        <p:spPr>
          <a:xfrm>
            <a:off x="765598" y="3568952"/>
            <a:ext cx="230255" cy="230255"/>
          </a:xfrm>
          <a:custGeom>
            <a:avLst/>
            <a:gdLst/>
            <a:ahLst/>
            <a:cxnLst/>
            <a:rect l="l" t="t" r="r" b="b"/>
            <a:pathLst>
              <a:path w="230255" h="230255">
                <a:moveTo>
                  <a:pt x="115127" y="0"/>
                </a:moveTo>
                <a:cubicBezTo>
                  <a:pt x="178668" y="0"/>
                  <a:pt x="230255" y="51587"/>
                  <a:pt x="230255" y="115127"/>
                </a:cubicBezTo>
                <a:cubicBezTo>
                  <a:pt x="230255" y="178668"/>
                  <a:pt x="178668" y="230255"/>
                  <a:pt x="115127" y="230255"/>
                </a:cubicBezTo>
                <a:cubicBezTo>
                  <a:pt x="51587" y="230255"/>
                  <a:pt x="0" y="178668"/>
                  <a:pt x="0" y="115127"/>
                </a:cubicBezTo>
                <a:cubicBezTo>
                  <a:pt x="0" y="51587"/>
                  <a:pt x="51587" y="0"/>
                  <a:pt x="115127" y="0"/>
                </a:cubicBezTo>
                <a:close/>
                <a:moveTo>
                  <a:pt x="104334" y="53966"/>
                </a:moveTo>
                <a:lnTo>
                  <a:pt x="104334" y="115127"/>
                </a:lnTo>
                <a:cubicBezTo>
                  <a:pt x="104334" y="118725"/>
                  <a:pt x="106133" y="122098"/>
                  <a:pt x="109146" y="124122"/>
                </a:cubicBezTo>
                <a:lnTo>
                  <a:pt x="152319" y="152904"/>
                </a:lnTo>
                <a:cubicBezTo>
                  <a:pt x="157266" y="156232"/>
                  <a:pt x="163967" y="154882"/>
                  <a:pt x="167295" y="149891"/>
                </a:cubicBezTo>
                <a:cubicBezTo>
                  <a:pt x="170623" y="144899"/>
                  <a:pt x="169273" y="138243"/>
                  <a:pt x="164282" y="134915"/>
                </a:cubicBezTo>
                <a:lnTo>
                  <a:pt x="125921" y="109371"/>
                </a:lnTo>
                <a:lnTo>
                  <a:pt x="125921" y="53966"/>
                </a:lnTo>
                <a:cubicBezTo>
                  <a:pt x="125921" y="47985"/>
                  <a:pt x="121109" y="43173"/>
                  <a:pt x="115127" y="43173"/>
                </a:cubicBezTo>
                <a:cubicBezTo>
                  <a:pt x="109146" y="43173"/>
                  <a:pt x="104334" y="47985"/>
                  <a:pt x="104334" y="53966"/>
                </a:cubicBezTo>
                <a:close/>
              </a:path>
            </a:pathLst>
          </a:custGeom>
          <a:solidFill>
            <a:srgbClr val="4FD1C5"/>
          </a:solidFill>
          <a:ln/>
        </p:spPr>
        <p:txBody>
          <a:bodyPr/>
          <a:lstStyle/>
          <a:p>
            <a:endParaRPr lang="zh-CN" altLang="en-US"/>
          </a:p>
        </p:txBody>
      </p:sp>
      <p:sp>
        <p:nvSpPr>
          <p:cNvPr id="10" name="Text 8"/>
          <p:cNvSpPr/>
          <p:nvPr/>
        </p:nvSpPr>
        <p:spPr>
          <a:xfrm>
            <a:off x="1162788" y="3522901"/>
            <a:ext cx="1738425"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时间策略</a:t>
            </a:r>
            <a:endParaRPr lang="en-US" sz="1600" dirty="0"/>
          </a:p>
        </p:txBody>
      </p:sp>
      <p:sp>
        <p:nvSpPr>
          <p:cNvPr id="11" name="Text 9"/>
          <p:cNvSpPr/>
          <p:nvPr/>
        </p:nvSpPr>
        <p:spPr>
          <a:xfrm>
            <a:off x="1162788" y="3799207"/>
            <a:ext cx="1726912"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例如"保留最近7天快照"</a:t>
            </a:r>
            <a:endParaRPr lang="en-US" sz="1600" dirty="0"/>
          </a:p>
        </p:txBody>
      </p:sp>
      <p:sp>
        <p:nvSpPr>
          <p:cNvPr id="12" name="Shape 10"/>
          <p:cNvSpPr/>
          <p:nvPr/>
        </p:nvSpPr>
        <p:spPr>
          <a:xfrm>
            <a:off x="765598" y="4213666"/>
            <a:ext cx="230255" cy="230255"/>
          </a:xfrm>
          <a:custGeom>
            <a:avLst/>
            <a:gdLst/>
            <a:ahLst/>
            <a:cxnLst/>
            <a:rect l="l" t="t" r="r" b="b"/>
            <a:pathLst>
              <a:path w="230255" h="230255">
                <a:moveTo>
                  <a:pt x="0" y="32380"/>
                </a:moveTo>
                <a:cubicBezTo>
                  <a:pt x="0" y="26443"/>
                  <a:pt x="4812" y="21586"/>
                  <a:pt x="10793" y="21586"/>
                </a:cubicBezTo>
                <a:lnTo>
                  <a:pt x="32380" y="21586"/>
                </a:lnTo>
                <a:cubicBezTo>
                  <a:pt x="38361" y="21586"/>
                  <a:pt x="43173" y="26398"/>
                  <a:pt x="43173" y="32380"/>
                </a:cubicBezTo>
                <a:lnTo>
                  <a:pt x="43173" y="79150"/>
                </a:lnTo>
                <a:lnTo>
                  <a:pt x="53966" y="79150"/>
                </a:lnTo>
                <a:cubicBezTo>
                  <a:pt x="59947" y="79150"/>
                  <a:pt x="64759" y="83962"/>
                  <a:pt x="64759" y="89943"/>
                </a:cubicBezTo>
                <a:cubicBezTo>
                  <a:pt x="64759" y="95925"/>
                  <a:pt x="59947" y="100737"/>
                  <a:pt x="53966" y="100737"/>
                </a:cubicBezTo>
                <a:lnTo>
                  <a:pt x="10793" y="100737"/>
                </a:lnTo>
                <a:cubicBezTo>
                  <a:pt x="4812" y="100737"/>
                  <a:pt x="0" y="95925"/>
                  <a:pt x="0" y="89943"/>
                </a:cubicBezTo>
                <a:cubicBezTo>
                  <a:pt x="0" y="83962"/>
                  <a:pt x="4812" y="79150"/>
                  <a:pt x="10793" y="79150"/>
                </a:cubicBezTo>
                <a:lnTo>
                  <a:pt x="21586" y="79150"/>
                </a:lnTo>
                <a:lnTo>
                  <a:pt x="21586" y="43173"/>
                </a:lnTo>
                <a:lnTo>
                  <a:pt x="10793" y="43173"/>
                </a:lnTo>
                <a:cubicBezTo>
                  <a:pt x="4812" y="43173"/>
                  <a:pt x="0" y="38361"/>
                  <a:pt x="0" y="32380"/>
                </a:cubicBezTo>
                <a:close/>
                <a:moveTo>
                  <a:pt x="13671" y="135455"/>
                </a:moveTo>
                <a:cubicBezTo>
                  <a:pt x="18798" y="131587"/>
                  <a:pt x="25049" y="129518"/>
                  <a:pt x="31480" y="129518"/>
                </a:cubicBezTo>
                <a:lnTo>
                  <a:pt x="33684" y="129518"/>
                </a:lnTo>
                <a:cubicBezTo>
                  <a:pt x="48839" y="129518"/>
                  <a:pt x="61161" y="141841"/>
                  <a:pt x="61161" y="156996"/>
                </a:cubicBezTo>
                <a:cubicBezTo>
                  <a:pt x="61161" y="165811"/>
                  <a:pt x="56934" y="174040"/>
                  <a:pt x="49829" y="179212"/>
                </a:cubicBezTo>
                <a:lnTo>
                  <a:pt x="39035" y="187082"/>
                </a:lnTo>
                <a:lnTo>
                  <a:pt x="53966" y="187082"/>
                </a:lnTo>
                <a:cubicBezTo>
                  <a:pt x="59947" y="187082"/>
                  <a:pt x="64759" y="191894"/>
                  <a:pt x="64759" y="197875"/>
                </a:cubicBezTo>
                <a:cubicBezTo>
                  <a:pt x="64759" y="203857"/>
                  <a:pt x="59947" y="208669"/>
                  <a:pt x="53966" y="208669"/>
                </a:cubicBezTo>
                <a:lnTo>
                  <a:pt x="13177" y="208669"/>
                </a:lnTo>
                <a:cubicBezTo>
                  <a:pt x="5891" y="208669"/>
                  <a:pt x="0" y="202777"/>
                  <a:pt x="0" y="195492"/>
                </a:cubicBezTo>
                <a:cubicBezTo>
                  <a:pt x="0" y="191265"/>
                  <a:pt x="2024" y="187307"/>
                  <a:pt x="5442" y="184834"/>
                </a:cubicBezTo>
                <a:lnTo>
                  <a:pt x="37147" y="161763"/>
                </a:lnTo>
                <a:cubicBezTo>
                  <a:pt x="38676" y="160639"/>
                  <a:pt x="39575" y="158885"/>
                  <a:pt x="39575" y="156996"/>
                </a:cubicBezTo>
                <a:cubicBezTo>
                  <a:pt x="39575" y="153758"/>
                  <a:pt x="36922" y="151105"/>
                  <a:pt x="33684" y="151105"/>
                </a:cubicBezTo>
                <a:lnTo>
                  <a:pt x="31480" y="151105"/>
                </a:lnTo>
                <a:cubicBezTo>
                  <a:pt x="29726" y="151105"/>
                  <a:pt x="28017" y="151689"/>
                  <a:pt x="26623" y="152724"/>
                </a:cubicBezTo>
                <a:lnTo>
                  <a:pt x="17269" y="159739"/>
                </a:lnTo>
                <a:cubicBezTo>
                  <a:pt x="12502" y="163337"/>
                  <a:pt x="5756" y="162348"/>
                  <a:pt x="2159" y="157581"/>
                </a:cubicBezTo>
                <a:cubicBezTo>
                  <a:pt x="-1439" y="152814"/>
                  <a:pt x="-450" y="146068"/>
                  <a:pt x="4317" y="142470"/>
                </a:cubicBezTo>
                <a:lnTo>
                  <a:pt x="13671" y="135455"/>
                </a:lnTo>
                <a:close/>
                <a:moveTo>
                  <a:pt x="100737" y="28782"/>
                </a:moveTo>
                <a:lnTo>
                  <a:pt x="215864" y="28782"/>
                </a:lnTo>
                <a:cubicBezTo>
                  <a:pt x="223824" y="28782"/>
                  <a:pt x="230255" y="35213"/>
                  <a:pt x="230255" y="43173"/>
                </a:cubicBezTo>
                <a:cubicBezTo>
                  <a:pt x="230255" y="51133"/>
                  <a:pt x="223824" y="57564"/>
                  <a:pt x="215864" y="57564"/>
                </a:cubicBezTo>
                <a:lnTo>
                  <a:pt x="100737" y="57564"/>
                </a:lnTo>
                <a:cubicBezTo>
                  <a:pt x="92777" y="57564"/>
                  <a:pt x="86346" y="51133"/>
                  <a:pt x="86346" y="43173"/>
                </a:cubicBezTo>
                <a:cubicBezTo>
                  <a:pt x="86346" y="35213"/>
                  <a:pt x="92777" y="28782"/>
                  <a:pt x="100737" y="28782"/>
                </a:cubicBezTo>
                <a:close/>
                <a:moveTo>
                  <a:pt x="100737" y="100737"/>
                </a:moveTo>
                <a:lnTo>
                  <a:pt x="215864" y="100737"/>
                </a:lnTo>
                <a:cubicBezTo>
                  <a:pt x="223824" y="100737"/>
                  <a:pt x="230255" y="107167"/>
                  <a:pt x="230255" y="115127"/>
                </a:cubicBezTo>
                <a:cubicBezTo>
                  <a:pt x="230255" y="123087"/>
                  <a:pt x="223824" y="129518"/>
                  <a:pt x="215864" y="129518"/>
                </a:cubicBezTo>
                <a:lnTo>
                  <a:pt x="100737" y="129518"/>
                </a:lnTo>
                <a:cubicBezTo>
                  <a:pt x="92777" y="129518"/>
                  <a:pt x="86346" y="123087"/>
                  <a:pt x="86346" y="115127"/>
                </a:cubicBezTo>
                <a:cubicBezTo>
                  <a:pt x="86346" y="107167"/>
                  <a:pt x="92777" y="100737"/>
                  <a:pt x="100737" y="100737"/>
                </a:cubicBezTo>
                <a:close/>
                <a:moveTo>
                  <a:pt x="100737" y="172691"/>
                </a:moveTo>
                <a:lnTo>
                  <a:pt x="215864" y="172691"/>
                </a:lnTo>
                <a:cubicBezTo>
                  <a:pt x="223824" y="172691"/>
                  <a:pt x="230255" y="179122"/>
                  <a:pt x="230255" y="187082"/>
                </a:cubicBezTo>
                <a:cubicBezTo>
                  <a:pt x="230255" y="195042"/>
                  <a:pt x="223824" y="201473"/>
                  <a:pt x="215864" y="201473"/>
                </a:cubicBezTo>
                <a:lnTo>
                  <a:pt x="100737" y="201473"/>
                </a:lnTo>
                <a:cubicBezTo>
                  <a:pt x="92777" y="201473"/>
                  <a:pt x="86346" y="195042"/>
                  <a:pt x="86346" y="187082"/>
                </a:cubicBezTo>
                <a:cubicBezTo>
                  <a:pt x="86346" y="179122"/>
                  <a:pt x="92777" y="172691"/>
                  <a:pt x="100737" y="172691"/>
                </a:cubicBezTo>
                <a:close/>
              </a:path>
            </a:pathLst>
          </a:custGeom>
          <a:solidFill>
            <a:srgbClr val="4FD1C5"/>
          </a:solidFill>
          <a:ln/>
        </p:spPr>
        <p:txBody>
          <a:bodyPr/>
          <a:lstStyle/>
          <a:p>
            <a:endParaRPr lang="zh-CN" altLang="en-US"/>
          </a:p>
        </p:txBody>
      </p:sp>
      <p:sp>
        <p:nvSpPr>
          <p:cNvPr id="13" name="Text 11"/>
          <p:cNvSpPr/>
          <p:nvPr/>
        </p:nvSpPr>
        <p:spPr>
          <a:xfrm>
            <a:off x="1162788" y="4167615"/>
            <a:ext cx="1772963"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数量策略</a:t>
            </a:r>
            <a:endParaRPr lang="en-US" sz="1600" dirty="0"/>
          </a:p>
        </p:txBody>
      </p:sp>
      <p:sp>
        <p:nvSpPr>
          <p:cNvPr id="14" name="Text 12"/>
          <p:cNvSpPr/>
          <p:nvPr/>
        </p:nvSpPr>
        <p:spPr>
          <a:xfrm>
            <a:off x="1162788" y="4443921"/>
            <a:ext cx="1761450"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例如"保留最近N个快照"</a:t>
            </a:r>
            <a:endParaRPr lang="en-US" sz="1600" dirty="0"/>
          </a:p>
        </p:txBody>
      </p:sp>
      <p:sp>
        <p:nvSpPr>
          <p:cNvPr id="15" name="Shape 13"/>
          <p:cNvSpPr/>
          <p:nvPr/>
        </p:nvSpPr>
        <p:spPr>
          <a:xfrm>
            <a:off x="779989" y="4858380"/>
            <a:ext cx="201473" cy="230255"/>
          </a:xfrm>
          <a:custGeom>
            <a:avLst/>
            <a:gdLst/>
            <a:ahLst/>
            <a:cxnLst/>
            <a:rect l="l" t="t" r="r" b="b"/>
            <a:pathLst>
              <a:path w="201473" h="230255">
                <a:moveTo>
                  <a:pt x="57564" y="0"/>
                </a:moveTo>
                <a:cubicBezTo>
                  <a:pt x="49604" y="0"/>
                  <a:pt x="43173" y="6431"/>
                  <a:pt x="43173" y="14391"/>
                </a:cubicBezTo>
                <a:lnTo>
                  <a:pt x="43173" y="28782"/>
                </a:lnTo>
                <a:lnTo>
                  <a:pt x="28782" y="28782"/>
                </a:lnTo>
                <a:cubicBezTo>
                  <a:pt x="12907" y="28782"/>
                  <a:pt x="0" y="41689"/>
                  <a:pt x="0" y="57564"/>
                </a:cubicBezTo>
                <a:lnTo>
                  <a:pt x="0" y="79150"/>
                </a:lnTo>
                <a:lnTo>
                  <a:pt x="201473" y="79150"/>
                </a:lnTo>
                <a:lnTo>
                  <a:pt x="201473" y="57564"/>
                </a:lnTo>
                <a:cubicBezTo>
                  <a:pt x="201473" y="41689"/>
                  <a:pt x="188566" y="28782"/>
                  <a:pt x="172691" y="28782"/>
                </a:cubicBezTo>
                <a:lnTo>
                  <a:pt x="158300" y="28782"/>
                </a:lnTo>
                <a:lnTo>
                  <a:pt x="158300" y="14391"/>
                </a:lnTo>
                <a:cubicBezTo>
                  <a:pt x="158300" y="6431"/>
                  <a:pt x="151869" y="0"/>
                  <a:pt x="143909" y="0"/>
                </a:cubicBezTo>
                <a:cubicBezTo>
                  <a:pt x="135949" y="0"/>
                  <a:pt x="129518" y="6431"/>
                  <a:pt x="129518" y="14391"/>
                </a:cubicBezTo>
                <a:lnTo>
                  <a:pt x="129518" y="28782"/>
                </a:lnTo>
                <a:lnTo>
                  <a:pt x="71955" y="28782"/>
                </a:lnTo>
                <a:lnTo>
                  <a:pt x="71955" y="14391"/>
                </a:lnTo>
                <a:cubicBezTo>
                  <a:pt x="71955" y="6431"/>
                  <a:pt x="65524" y="0"/>
                  <a:pt x="57564" y="0"/>
                </a:cubicBezTo>
                <a:close/>
                <a:moveTo>
                  <a:pt x="0" y="100737"/>
                </a:moveTo>
                <a:lnTo>
                  <a:pt x="0" y="187082"/>
                </a:lnTo>
                <a:cubicBezTo>
                  <a:pt x="0" y="202957"/>
                  <a:pt x="12907" y="215864"/>
                  <a:pt x="28782" y="215864"/>
                </a:cubicBezTo>
                <a:lnTo>
                  <a:pt x="172691" y="215864"/>
                </a:lnTo>
                <a:cubicBezTo>
                  <a:pt x="188566" y="215864"/>
                  <a:pt x="201473" y="202957"/>
                  <a:pt x="201473" y="187082"/>
                </a:cubicBezTo>
                <a:lnTo>
                  <a:pt x="201473" y="100737"/>
                </a:lnTo>
                <a:lnTo>
                  <a:pt x="0" y="100737"/>
                </a:lnTo>
                <a:close/>
              </a:path>
            </a:pathLst>
          </a:custGeom>
          <a:solidFill>
            <a:srgbClr val="4FD1C5"/>
          </a:solidFill>
          <a:ln/>
        </p:spPr>
        <p:txBody>
          <a:bodyPr/>
          <a:lstStyle/>
          <a:p>
            <a:endParaRPr lang="zh-CN" altLang="en-US"/>
          </a:p>
        </p:txBody>
      </p:sp>
      <p:sp>
        <p:nvSpPr>
          <p:cNvPr id="16" name="Text 14"/>
          <p:cNvSpPr/>
          <p:nvPr/>
        </p:nvSpPr>
        <p:spPr>
          <a:xfrm>
            <a:off x="1162788" y="4812329"/>
            <a:ext cx="1911116"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混合策略</a:t>
            </a:r>
            <a:endParaRPr lang="en-US" sz="1600" dirty="0"/>
          </a:p>
        </p:txBody>
      </p:sp>
      <p:sp>
        <p:nvSpPr>
          <p:cNvPr id="17" name="Text 15"/>
          <p:cNvSpPr/>
          <p:nvPr/>
        </p:nvSpPr>
        <p:spPr>
          <a:xfrm>
            <a:off x="1162788" y="5088635"/>
            <a:ext cx="1899603"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结合时间和数量,灵活配置</a:t>
            </a:r>
            <a:endParaRPr lang="en-US" sz="1600" dirty="0"/>
          </a:p>
        </p:txBody>
      </p:sp>
      <p:sp>
        <p:nvSpPr>
          <p:cNvPr id="18" name="Shape 16"/>
          <p:cNvSpPr/>
          <p:nvPr/>
        </p:nvSpPr>
        <p:spPr>
          <a:xfrm>
            <a:off x="8240519" y="1703887"/>
            <a:ext cx="7552363" cy="3845258"/>
          </a:xfrm>
          <a:custGeom>
            <a:avLst/>
            <a:gdLst/>
            <a:ahLst/>
            <a:cxnLst/>
            <a:rect l="l" t="t" r="r" b="b"/>
            <a:pathLst>
              <a:path w="7552363" h="3845258">
                <a:moveTo>
                  <a:pt x="92094" y="0"/>
                </a:moveTo>
                <a:lnTo>
                  <a:pt x="7460269" y="0"/>
                </a:lnTo>
                <a:cubicBezTo>
                  <a:pt x="7511131" y="0"/>
                  <a:pt x="7552363" y="41232"/>
                  <a:pt x="7552363" y="92094"/>
                </a:cubicBezTo>
                <a:lnTo>
                  <a:pt x="7552363" y="3753164"/>
                </a:lnTo>
                <a:cubicBezTo>
                  <a:pt x="7552363" y="3804026"/>
                  <a:pt x="7511131" y="3845258"/>
                  <a:pt x="7460269" y="3845258"/>
                </a:cubicBezTo>
                <a:lnTo>
                  <a:pt x="92094" y="3845258"/>
                </a:lnTo>
                <a:cubicBezTo>
                  <a:pt x="41232" y="3845258"/>
                  <a:pt x="0" y="3804026"/>
                  <a:pt x="0" y="3753164"/>
                </a:cubicBezTo>
                <a:lnTo>
                  <a:pt x="0" y="92094"/>
                </a:lnTo>
                <a:cubicBezTo>
                  <a:pt x="0" y="41232"/>
                  <a:pt x="41232" y="0"/>
                  <a:pt x="92094" y="0"/>
                </a:cubicBezTo>
                <a:close/>
              </a:path>
            </a:pathLst>
          </a:custGeom>
          <a:solidFill>
            <a:srgbClr val="4A5568">
              <a:alpha val="30196"/>
            </a:srgbClr>
          </a:solidFill>
          <a:ln/>
        </p:spPr>
        <p:txBody>
          <a:bodyPr/>
          <a:lstStyle/>
          <a:p>
            <a:endParaRPr lang="zh-CN" altLang="en-US"/>
          </a:p>
        </p:txBody>
      </p:sp>
      <p:sp>
        <p:nvSpPr>
          <p:cNvPr id="19" name="Text 17"/>
          <p:cNvSpPr/>
          <p:nvPr/>
        </p:nvSpPr>
        <p:spPr>
          <a:xfrm>
            <a:off x="8470774" y="1934142"/>
            <a:ext cx="7206980" cy="322357"/>
          </a:xfrm>
          <a:prstGeom prst="rect">
            <a:avLst/>
          </a:prstGeom>
          <a:noFill/>
          <a:ln/>
        </p:spPr>
        <p:txBody>
          <a:bodyPr wrap="square" lIns="0" tIns="0" rIns="0" bIns="0" rtlCol="0" anchor="ctr"/>
          <a:lstStyle/>
          <a:p>
            <a:pPr>
              <a:lnSpc>
                <a:spcPct val="120000"/>
              </a:lnSpc>
            </a:pPr>
            <a:r>
              <a:rPr lang="en-US" sz="1813" b="1" dirty="0">
                <a:solidFill>
                  <a:srgbClr val="4FD1C5"/>
                </a:solidFill>
                <a:latin typeface="Noto Sans SC" pitchFamily="34" charset="0"/>
                <a:ea typeface="Noto Sans SC" pitchFamily="34" charset="-122"/>
                <a:cs typeface="Noto Sans SC" pitchFamily="34" charset="-120"/>
              </a:rPr>
              <a:t>垃圾回收机制</a:t>
            </a:r>
            <a:endParaRPr lang="en-US" sz="1600" dirty="0"/>
          </a:p>
        </p:txBody>
      </p:sp>
      <p:sp>
        <p:nvSpPr>
          <p:cNvPr id="20" name="Shape 18"/>
          <p:cNvSpPr/>
          <p:nvPr/>
        </p:nvSpPr>
        <p:spPr>
          <a:xfrm>
            <a:off x="8505312" y="2486754"/>
            <a:ext cx="161178" cy="184204"/>
          </a:xfrm>
          <a:custGeom>
            <a:avLst/>
            <a:gdLst/>
            <a:ahLst/>
            <a:cxnLst/>
            <a:rect l="l" t="t" r="r" b="b"/>
            <a:pathLst>
              <a:path w="161178" h="184204">
                <a:moveTo>
                  <a:pt x="49181" y="2123"/>
                </a:moveTo>
                <a:cubicBezTo>
                  <a:pt x="50764" y="-2590"/>
                  <a:pt x="55153" y="-5756"/>
                  <a:pt x="60118" y="-5756"/>
                </a:cubicBezTo>
                <a:lnTo>
                  <a:pt x="101096" y="-5756"/>
                </a:lnTo>
                <a:cubicBezTo>
                  <a:pt x="106061" y="-5756"/>
                  <a:pt x="110450" y="-2590"/>
                  <a:pt x="112033" y="2123"/>
                </a:cubicBezTo>
                <a:lnTo>
                  <a:pt x="115127" y="11513"/>
                </a:lnTo>
                <a:lnTo>
                  <a:pt x="149666" y="11513"/>
                </a:lnTo>
                <a:cubicBezTo>
                  <a:pt x="156034" y="11513"/>
                  <a:pt x="161178" y="16658"/>
                  <a:pt x="161178" y="23025"/>
                </a:cubicBezTo>
                <a:cubicBezTo>
                  <a:pt x="161178" y="29393"/>
                  <a:pt x="156034" y="34538"/>
                  <a:pt x="149666" y="34538"/>
                </a:cubicBezTo>
                <a:lnTo>
                  <a:pt x="11513" y="34538"/>
                </a:lnTo>
                <a:cubicBezTo>
                  <a:pt x="5145" y="34538"/>
                  <a:pt x="0" y="29393"/>
                  <a:pt x="0" y="23025"/>
                </a:cubicBezTo>
                <a:cubicBezTo>
                  <a:pt x="0" y="16658"/>
                  <a:pt x="5145" y="11513"/>
                  <a:pt x="11513" y="11513"/>
                </a:cubicBezTo>
                <a:lnTo>
                  <a:pt x="46051" y="11513"/>
                </a:lnTo>
                <a:lnTo>
                  <a:pt x="49181" y="2123"/>
                </a:lnTo>
                <a:close/>
                <a:moveTo>
                  <a:pt x="11513" y="51807"/>
                </a:moveTo>
                <a:lnTo>
                  <a:pt x="149666" y="51807"/>
                </a:lnTo>
                <a:lnTo>
                  <a:pt x="149666" y="161178"/>
                </a:lnTo>
                <a:cubicBezTo>
                  <a:pt x="149666" y="173878"/>
                  <a:pt x="139340" y="184204"/>
                  <a:pt x="126640" y="184204"/>
                </a:cubicBezTo>
                <a:lnTo>
                  <a:pt x="34538" y="184204"/>
                </a:lnTo>
                <a:cubicBezTo>
                  <a:pt x="21838" y="184204"/>
                  <a:pt x="11513" y="173878"/>
                  <a:pt x="11513" y="161178"/>
                </a:cubicBezTo>
                <a:lnTo>
                  <a:pt x="11513" y="51807"/>
                </a:lnTo>
                <a:close/>
                <a:moveTo>
                  <a:pt x="43173" y="74833"/>
                </a:moveTo>
                <a:cubicBezTo>
                  <a:pt x="38388" y="74833"/>
                  <a:pt x="34538" y="78682"/>
                  <a:pt x="34538" y="83467"/>
                </a:cubicBezTo>
                <a:lnTo>
                  <a:pt x="34538" y="152544"/>
                </a:lnTo>
                <a:cubicBezTo>
                  <a:pt x="34538" y="157329"/>
                  <a:pt x="38388" y="161178"/>
                  <a:pt x="43173" y="161178"/>
                </a:cubicBezTo>
                <a:cubicBezTo>
                  <a:pt x="47958" y="161178"/>
                  <a:pt x="51807" y="157329"/>
                  <a:pt x="51807" y="152544"/>
                </a:cubicBezTo>
                <a:lnTo>
                  <a:pt x="51807" y="83467"/>
                </a:lnTo>
                <a:cubicBezTo>
                  <a:pt x="51807" y="78682"/>
                  <a:pt x="47958" y="74833"/>
                  <a:pt x="43173" y="74833"/>
                </a:cubicBezTo>
                <a:close/>
                <a:moveTo>
                  <a:pt x="80589" y="74833"/>
                </a:moveTo>
                <a:cubicBezTo>
                  <a:pt x="75804" y="74833"/>
                  <a:pt x="71955" y="78682"/>
                  <a:pt x="71955" y="83467"/>
                </a:cubicBezTo>
                <a:lnTo>
                  <a:pt x="71955" y="152544"/>
                </a:lnTo>
                <a:cubicBezTo>
                  <a:pt x="71955" y="157329"/>
                  <a:pt x="75804" y="161178"/>
                  <a:pt x="80589" y="161178"/>
                </a:cubicBezTo>
                <a:cubicBezTo>
                  <a:pt x="85374" y="161178"/>
                  <a:pt x="89224" y="157329"/>
                  <a:pt x="89224" y="152544"/>
                </a:cubicBezTo>
                <a:lnTo>
                  <a:pt x="89224" y="83467"/>
                </a:lnTo>
                <a:cubicBezTo>
                  <a:pt x="89224" y="78682"/>
                  <a:pt x="85374" y="74833"/>
                  <a:pt x="80589" y="74833"/>
                </a:cubicBezTo>
                <a:close/>
                <a:moveTo>
                  <a:pt x="118006" y="74833"/>
                </a:moveTo>
                <a:cubicBezTo>
                  <a:pt x="113221" y="74833"/>
                  <a:pt x="109371" y="78682"/>
                  <a:pt x="109371" y="83467"/>
                </a:cubicBezTo>
                <a:lnTo>
                  <a:pt x="109371" y="152544"/>
                </a:lnTo>
                <a:cubicBezTo>
                  <a:pt x="109371" y="157329"/>
                  <a:pt x="113221" y="161178"/>
                  <a:pt x="118006" y="161178"/>
                </a:cubicBezTo>
                <a:cubicBezTo>
                  <a:pt x="122791" y="161178"/>
                  <a:pt x="126640" y="157329"/>
                  <a:pt x="126640" y="152544"/>
                </a:cubicBezTo>
                <a:lnTo>
                  <a:pt x="126640" y="83467"/>
                </a:lnTo>
                <a:cubicBezTo>
                  <a:pt x="126640" y="78682"/>
                  <a:pt x="122791" y="74833"/>
                  <a:pt x="118006" y="74833"/>
                </a:cubicBezTo>
                <a:close/>
              </a:path>
            </a:pathLst>
          </a:custGeom>
          <a:solidFill>
            <a:srgbClr val="4FD1C5"/>
          </a:solidFill>
          <a:ln/>
        </p:spPr>
        <p:txBody>
          <a:bodyPr/>
          <a:lstStyle/>
          <a:p>
            <a:endParaRPr lang="zh-CN" altLang="en-US"/>
          </a:p>
        </p:txBody>
      </p:sp>
      <p:sp>
        <p:nvSpPr>
          <p:cNvPr id="21" name="Text 19"/>
          <p:cNvSpPr/>
          <p:nvPr/>
        </p:nvSpPr>
        <p:spPr>
          <a:xfrm>
            <a:off x="8793131" y="2440703"/>
            <a:ext cx="1542708"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expire_snapshots</a:t>
            </a:r>
            <a:endParaRPr lang="en-US" sz="1600" dirty="0"/>
          </a:p>
        </p:txBody>
      </p:sp>
      <p:sp>
        <p:nvSpPr>
          <p:cNvPr id="22" name="Text 20"/>
          <p:cNvSpPr/>
          <p:nvPr/>
        </p:nvSpPr>
        <p:spPr>
          <a:xfrm>
            <a:off x="8470774" y="2809110"/>
            <a:ext cx="7172442"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定期运行,清理不再被任何快照引用的文件</a:t>
            </a:r>
            <a:endParaRPr lang="en-US" sz="1600" dirty="0"/>
          </a:p>
        </p:txBody>
      </p:sp>
      <p:sp>
        <p:nvSpPr>
          <p:cNvPr id="23" name="Shape 21"/>
          <p:cNvSpPr/>
          <p:nvPr/>
        </p:nvSpPr>
        <p:spPr>
          <a:xfrm>
            <a:off x="8482287" y="3223569"/>
            <a:ext cx="207229" cy="184204"/>
          </a:xfrm>
          <a:custGeom>
            <a:avLst/>
            <a:gdLst/>
            <a:ahLst/>
            <a:cxnLst/>
            <a:rect l="l" t="t" r="r" b="b"/>
            <a:pathLst>
              <a:path w="207229" h="184204">
                <a:moveTo>
                  <a:pt x="203848" y="19644"/>
                </a:moveTo>
                <a:cubicBezTo>
                  <a:pt x="208345" y="15146"/>
                  <a:pt x="208345" y="7843"/>
                  <a:pt x="203848" y="3346"/>
                </a:cubicBezTo>
                <a:cubicBezTo>
                  <a:pt x="199350" y="-1151"/>
                  <a:pt x="192047" y="-1151"/>
                  <a:pt x="187550" y="3346"/>
                </a:cubicBezTo>
                <a:lnTo>
                  <a:pt x="118473" y="72422"/>
                </a:lnTo>
                <a:lnTo>
                  <a:pt x="105989" y="59938"/>
                </a:lnTo>
                <a:cubicBezTo>
                  <a:pt x="104478" y="58427"/>
                  <a:pt x="102392" y="57564"/>
                  <a:pt x="100233" y="57564"/>
                </a:cubicBezTo>
                <a:cubicBezTo>
                  <a:pt x="95736" y="57564"/>
                  <a:pt x="92102" y="61197"/>
                  <a:pt x="92102" y="65695"/>
                </a:cubicBezTo>
                <a:lnTo>
                  <a:pt x="92102" y="76164"/>
                </a:lnTo>
                <a:lnTo>
                  <a:pt x="131065" y="115127"/>
                </a:lnTo>
                <a:lnTo>
                  <a:pt x="141535" y="115127"/>
                </a:lnTo>
                <a:cubicBezTo>
                  <a:pt x="146032" y="115127"/>
                  <a:pt x="149666" y="111494"/>
                  <a:pt x="149666" y="106997"/>
                </a:cubicBezTo>
                <a:cubicBezTo>
                  <a:pt x="149666" y="104838"/>
                  <a:pt x="148802" y="102751"/>
                  <a:pt x="147291" y="101240"/>
                </a:cubicBezTo>
                <a:lnTo>
                  <a:pt x="134807" y="88756"/>
                </a:lnTo>
                <a:lnTo>
                  <a:pt x="203884" y="19680"/>
                </a:lnTo>
                <a:close/>
                <a:moveTo>
                  <a:pt x="122719" y="127144"/>
                </a:moveTo>
                <a:lnTo>
                  <a:pt x="80086" y="84511"/>
                </a:lnTo>
                <a:cubicBezTo>
                  <a:pt x="64723" y="83180"/>
                  <a:pt x="49433" y="88720"/>
                  <a:pt x="38424" y="99729"/>
                </a:cubicBezTo>
                <a:lnTo>
                  <a:pt x="35546" y="102607"/>
                </a:lnTo>
                <a:cubicBezTo>
                  <a:pt x="27523" y="110630"/>
                  <a:pt x="23025" y="121495"/>
                  <a:pt x="23025" y="132828"/>
                </a:cubicBezTo>
                <a:cubicBezTo>
                  <a:pt x="23025" y="135275"/>
                  <a:pt x="25580" y="136858"/>
                  <a:pt x="27775" y="135778"/>
                </a:cubicBezTo>
                <a:lnTo>
                  <a:pt x="46159" y="126604"/>
                </a:lnTo>
                <a:cubicBezTo>
                  <a:pt x="47958" y="125705"/>
                  <a:pt x="49577" y="128079"/>
                  <a:pt x="48102" y="129446"/>
                </a:cubicBezTo>
                <a:lnTo>
                  <a:pt x="2626" y="170317"/>
                </a:lnTo>
                <a:cubicBezTo>
                  <a:pt x="971" y="171828"/>
                  <a:pt x="0" y="173986"/>
                  <a:pt x="0" y="176253"/>
                </a:cubicBezTo>
                <a:cubicBezTo>
                  <a:pt x="0" y="180642"/>
                  <a:pt x="3562" y="184204"/>
                  <a:pt x="7951" y="184204"/>
                </a:cubicBezTo>
                <a:lnTo>
                  <a:pt x="70300" y="184204"/>
                </a:lnTo>
                <a:cubicBezTo>
                  <a:pt x="84259" y="184204"/>
                  <a:pt x="97607" y="178663"/>
                  <a:pt x="107500" y="168806"/>
                </a:cubicBezTo>
                <a:cubicBezTo>
                  <a:pt x="118509" y="157797"/>
                  <a:pt x="124014" y="142506"/>
                  <a:pt x="122719" y="127144"/>
                </a:cubicBezTo>
                <a:close/>
              </a:path>
            </a:pathLst>
          </a:custGeom>
          <a:solidFill>
            <a:srgbClr val="4FD1C5"/>
          </a:solidFill>
          <a:ln/>
        </p:spPr>
        <p:txBody>
          <a:bodyPr/>
          <a:lstStyle/>
          <a:p>
            <a:endParaRPr lang="zh-CN" altLang="en-US"/>
          </a:p>
        </p:txBody>
      </p:sp>
      <p:sp>
        <p:nvSpPr>
          <p:cNvPr id="24" name="Text 22"/>
          <p:cNvSpPr/>
          <p:nvPr/>
        </p:nvSpPr>
        <p:spPr>
          <a:xfrm>
            <a:off x="8793131" y="3177518"/>
            <a:ext cx="1830527"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remove_orphan_files</a:t>
            </a:r>
            <a:endParaRPr lang="en-US" sz="1600" dirty="0"/>
          </a:p>
        </p:txBody>
      </p:sp>
      <p:sp>
        <p:nvSpPr>
          <p:cNvPr id="25" name="Text 23"/>
          <p:cNvSpPr/>
          <p:nvPr/>
        </p:nvSpPr>
        <p:spPr>
          <a:xfrm>
            <a:off x="8470774" y="3545926"/>
            <a:ext cx="7172442"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清理孤儿文件(未被任何Manifest引用的文件)</a:t>
            </a:r>
            <a:endParaRPr lang="en-US" sz="1600" dirty="0"/>
          </a:p>
        </p:txBody>
      </p:sp>
      <p:sp>
        <p:nvSpPr>
          <p:cNvPr id="26" name="Shape 24"/>
          <p:cNvSpPr/>
          <p:nvPr/>
        </p:nvSpPr>
        <p:spPr>
          <a:xfrm>
            <a:off x="8505312" y="3960385"/>
            <a:ext cx="161178" cy="184204"/>
          </a:xfrm>
          <a:custGeom>
            <a:avLst/>
            <a:gdLst/>
            <a:ahLst/>
            <a:cxnLst/>
            <a:rect l="l" t="t" r="r" b="b"/>
            <a:pathLst>
              <a:path w="161178" h="184204">
                <a:moveTo>
                  <a:pt x="57564" y="23025"/>
                </a:moveTo>
                <a:cubicBezTo>
                  <a:pt x="57564" y="16658"/>
                  <a:pt x="52419" y="11513"/>
                  <a:pt x="46051" y="11513"/>
                </a:cubicBezTo>
                <a:cubicBezTo>
                  <a:pt x="39683" y="11513"/>
                  <a:pt x="34538" y="16658"/>
                  <a:pt x="34538" y="23025"/>
                </a:cubicBezTo>
                <a:lnTo>
                  <a:pt x="34538" y="46051"/>
                </a:lnTo>
                <a:lnTo>
                  <a:pt x="11513" y="46051"/>
                </a:lnTo>
                <a:cubicBezTo>
                  <a:pt x="5145" y="46051"/>
                  <a:pt x="0" y="51196"/>
                  <a:pt x="0" y="57564"/>
                </a:cubicBezTo>
                <a:cubicBezTo>
                  <a:pt x="0" y="63932"/>
                  <a:pt x="5145" y="69076"/>
                  <a:pt x="11513" y="69076"/>
                </a:cubicBezTo>
                <a:lnTo>
                  <a:pt x="46051" y="69076"/>
                </a:lnTo>
                <a:cubicBezTo>
                  <a:pt x="52419" y="69076"/>
                  <a:pt x="57564" y="63932"/>
                  <a:pt x="57564" y="57564"/>
                </a:cubicBezTo>
                <a:lnTo>
                  <a:pt x="57564" y="23025"/>
                </a:lnTo>
                <a:close/>
                <a:moveTo>
                  <a:pt x="11513" y="115127"/>
                </a:moveTo>
                <a:cubicBezTo>
                  <a:pt x="5145" y="115127"/>
                  <a:pt x="0" y="120272"/>
                  <a:pt x="0" y="126640"/>
                </a:cubicBezTo>
                <a:cubicBezTo>
                  <a:pt x="0" y="133008"/>
                  <a:pt x="5145" y="138153"/>
                  <a:pt x="11513" y="138153"/>
                </a:cubicBezTo>
                <a:lnTo>
                  <a:pt x="34538" y="138153"/>
                </a:lnTo>
                <a:lnTo>
                  <a:pt x="34538" y="161178"/>
                </a:lnTo>
                <a:cubicBezTo>
                  <a:pt x="34538" y="167546"/>
                  <a:pt x="39683" y="172691"/>
                  <a:pt x="46051" y="172691"/>
                </a:cubicBezTo>
                <a:cubicBezTo>
                  <a:pt x="52419" y="172691"/>
                  <a:pt x="57564" y="167546"/>
                  <a:pt x="57564" y="161178"/>
                </a:cubicBezTo>
                <a:lnTo>
                  <a:pt x="57564" y="126640"/>
                </a:lnTo>
                <a:cubicBezTo>
                  <a:pt x="57564" y="120272"/>
                  <a:pt x="52419" y="115127"/>
                  <a:pt x="46051" y="115127"/>
                </a:cubicBezTo>
                <a:lnTo>
                  <a:pt x="11513" y="115127"/>
                </a:lnTo>
                <a:close/>
                <a:moveTo>
                  <a:pt x="126640" y="23025"/>
                </a:moveTo>
                <a:cubicBezTo>
                  <a:pt x="126640" y="16658"/>
                  <a:pt x="121495" y="11513"/>
                  <a:pt x="115127" y="11513"/>
                </a:cubicBezTo>
                <a:cubicBezTo>
                  <a:pt x="108759" y="11513"/>
                  <a:pt x="103615" y="16658"/>
                  <a:pt x="103615" y="23025"/>
                </a:cubicBezTo>
                <a:lnTo>
                  <a:pt x="103615" y="57564"/>
                </a:lnTo>
                <a:cubicBezTo>
                  <a:pt x="103615" y="63932"/>
                  <a:pt x="108759" y="69076"/>
                  <a:pt x="115127" y="69076"/>
                </a:cubicBezTo>
                <a:lnTo>
                  <a:pt x="149666" y="69076"/>
                </a:lnTo>
                <a:cubicBezTo>
                  <a:pt x="156034" y="69076"/>
                  <a:pt x="161178" y="63932"/>
                  <a:pt x="161178" y="57564"/>
                </a:cubicBezTo>
                <a:cubicBezTo>
                  <a:pt x="161178" y="51196"/>
                  <a:pt x="156034" y="46051"/>
                  <a:pt x="149666" y="46051"/>
                </a:cubicBezTo>
                <a:lnTo>
                  <a:pt x="126640" y="46051"/>
                </a:lnTo>
                <a:lnTo>
                  <a:pt x="126640" y="23025"/>
                </a:lnTo>
                <a:close/>
                <a:moveTo>
                  <a:pt x="115127" y="115127"/>
                </a:moveTo>
                <a:cubicBezTo>
                  <a:pt x="108759" y="115127"/>
                  <a:pt x="103615" y="120272"/>
                  <a:pt x="103615" y="126640"/>
                </a:cubicBezTo>
                <a:lnTo>
                  <a:pt x="103615" y="161178"/>
                </a:lnTo>
                <a:cubicBezTo>
                  <a:pt x="103615" y="167546"/>
                  <a:pt x="108759" y="172691"/>
                  <a:pt x="115127" y="172691"/>
                </a:cubicBezTo>
                <a:cubicBezTo>
                  <a:pt x="121495" y="172691"/>
                  <a:pt x="126640" y="167546"/>
                  <a:pt x="126640" y="161178"/>
                </a:cubicBezTo>
                <a:lnTo>
                  <a:pt x="126640" y="138153"/>
                </a:lnTo>
                <a:lnTo>
                  <a:pt x="149666" y="138153"/>
                </a:lnTo>
                <a:cubicBezTo>
                  <a:pt x="156034" y="138153"/>
                  <a:pt x="161178" y="133008"/>
                  <a:pt x="161178" y="126640"/>
                </a:cubicBezTo>
                <a:cubicBezTo>
                  <a:pt x="161178" y="120272"/>
                  <a:pt x="156034" y="115127"/>
                  <a:pt x="149666" y="115127"/>
                </a:cubicBezTo>
                <a:lnTo>
                  <a:pt x="115127" y="115127"/>
                </a:lnTo>
                <a:close/>
              </a:path>
            </a:pathLst>
          </a:custGeom>
          <a:solidFill>
            <a:srgbClr val="4FD1C5"/>
          </a:solidFill>
          <a:ln/>
        </p:spPr>
        <p:txBody>
          <a:bodyPr/>
          <a:lstStyle/>
          <a:p>
            <a:endParaRPr lang="zh-CN" altLang="en-US"/>
          </a:p>
        </p:txBody>
      </p:sp>
      <p:sp>
        <p:nvSpPr>
          <p:cNvPr id="27" name="Text 25"/>
          <p:cNvSpPr/>
          <p:nvPr/>
        </p:nvSpPr>
        <p:spPr>
          <a:xfrm>
            <a:off x="8793131" y="3914334"/>
            <a:ext cx="2291037"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rewrite_files / compaction</a:t>
            </a:r>
            <a:endParaRPr lang="en-US" sz="1600" dirty="0"/>
          </a:p>
        </p:txBody>
      </p:sp>
      <p:sp>
        <p:nvSpPr>
          <p:cNvPr id="28" name="Text 26"/>
          <p:cNvSpPr/>
          <p:nvPr/>
        </p:nvSpPr>
        <p:spPr>
          <a:xfrm>
            <a:off x="8470774" y="4282742"/>
            <a:ext cx="7172442"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合并小文件,优化查询性能</a:t>
            </a:r>
            <a:endParaRPr lang="en-US" sz="1600" dirty="0"/>
          </a:p>
        </p:txBody>
      </p:sp>
      <p:sp>
        <p:nvSpPr>
          <p:cNvPr id="29" name="Shape 27"/>
          <p:cNvSpPr/>
          <p:nvPr/>
        </p:nvSpPr>
        <p:spPr>
          <a:xfrm>
            <a:off x="460510" y="5733348"/>
            <a:ext cx="15334980" cy="1795989"/>
          </a:xfrm>
          <a:custGeom>
            <a:avLst/>
            <a:gdLst/>
            <a:ahLst/>
            <a:cxnLst/>
            <a:rect l="l" t="t" r="r" b="b"/>
            <a:pathLst>
              <a:path w="15334980" h="1795989">
                <a:moveTo>
                  <a:pt x="92098" y="0"/>
                </a:moveTo>
                <a:lnTo>
                  <a:pt x="15242882" y="0"/>
                </a:lnTo>
                <a:cubicBezTo>
                  <a:pt x="15293746" y="0"/>
                  <a:pt x="15334980" y="41234"/>
                  <a:pt x="15334980" y="92098"/>
                </a:cubicBezTo>
                <a:lnTo>
                  <a:pt x="15334980" y="1703890"/>
                </a:lnTo>
                <a:cubicBezTo>
                  <a:pt x="15334980" y="1754755"/>
                  <a:pt x="15293746" y="1795989"/>
                  <a:pt x="15242882" y="1795989"/>
                </a:cubicBezTo>
                <a:lnTo>
                  <a:pt x="92098" y="1795989"/>
                </a:lnTo>
                <a:cubicBezTo>
                  <a:pt x="41234" y="1795989"/>
                  <a:pt x="0" y="1754755"/>
                  <a:pt x="0" y="1703890"/>
                </a:cubicBezTo>
                <a:lnTo>
                  <a:pt x="0" y="92098"/>
                </a:lnTo>
                <a:cubicBezTo>
                  <a:pt x="0" y="41268"/>
                  <a:pt x="41268" y="0"/>
                  <a:pt x="92098" y="0"/>
                </a:cubicBezTo>
                <a:close/>
              </a:path>
            </a:pathLst>
          </a:custGeom>
          <a:solidFill>
            <a:srgbClr val="4A5568">
              <a:alpha val="30196"/>
            </a:srgbClr>
          </a:solidFill>
          <a:ln/>
        </p:spPr>
        <p:txBody>
          <a:bodyPr/>
          <a:lstStyle/>
          <a:p>
            <a:endParaRPr lang="zh-CN" altLang="en-US"/>
          </a:p>
        </p:txBody>
      </p:sp>
      <p:sp>
        <p:nvSpPr>
          <p:cNvPr id="30" name="Text 28"/>
          <p:cNvSpPr/>
          <p:nvPr/>
        </p:nvSpPr>
        <p:spPr>
          <a:xfrm>
            <a:off x="690765" y="5963603"/>
            <a:ext cx="14989598" cy="322357"/>
          </a:xfrm>
          <a:prstGeom prst="rect">
            <a:avLst/>
          </a:prstGeom>
          <a:noFill/>
          <a:ln/>
        </p:spPr>
        <p:txBody>
          <a:bodyPr wrap="square" lIns="0" tIns="0" rIns="0" bIns="0" rtlCol="0" anchor="ctr"/>
          <a:lstStyle/>
          <a:p>
            <a:pPr>
              <a:lnSpc>
                <a:spcPct val="120000"/>
              </a:lnSpc>
            </a:pPr>
            <a:r>
              <a:rPr lang="en-US" sz="1813" b="1" dirty="0">
                <a:solidFill>
                  <a:srgbClr val="4FD1C5"/>
                </a:solidFill>
                <a:latin typeface="Noto Sans SC" pitchFamily="34" charset="0"/>
                <a:ea typeface="Noto Sans SC" pitchFamily="34" charset="-122"/>
                <a:cs typeface="Noto Sans SC" pitchFamily="34" charset="-120"/>
              </a:rPr>
              <a:t>企业实践中的维护策略</a:t>
            </a:r>
            <a:endParaRPr lang="en-US" sz="1600" dirty="0"/>
          </a:p>
        </p:txBody>
      </p:sp>
      <p:sp>
        <p:nvSpPr>
          <p:cNvPr id="31" name="Shape 29"/>
          <p:cNvSpPr/>
          <p:nvPr/>
        </p:nvSpPr>
        <p:spPr>
          <a:xfrm>
            <a:off x="690765" y="6493190"/>
            <a:ext cx="287819" cy="230255"/>
          </a:xfrm>
          <a:custGeom>
            <a:avLst/>
            <a:gdLst/>
            <a:ahLst/>
            <a:cxnLst/>
            <a:rect l="l" t="t" r="r" b="b"/>
            <a:pathLst>
              <a:path w="287819" h="230255">
                <a:moveTo>
                  <a:pt x="187037" y="94665"/>
                </a:moveTo>
                <a:cubicBezTo>
                  <a:pt x="192524" y="93181"/>
                  <a:pt x="198280" y="95790"/>
                  <a:pt x="200754" y="100871"/>
                </a:cubicBezTo>
                <a:lnTo>
                  <a:pt x="209118" y="117781"/>
                </a:lnTo>
                <a:cubicBezTo>
                  <a:pt x="213750" y="118410"/>
                  <a:pt x="218292" y="119670"/>
                  <a:pt x="222565" y="121424"/>
                </a:cubicBezTo>
                <a:lnTo>
                  <a:pt x="238305" y="110945"/>
                </a:lnTo>
                <a:cubicBezTo>
                  <a:pt x="243027" y="107797"/>
                  <a:pt x="249278" y="108427"/>
                  <a:pt x="253280" y="112429"/>
                </a:cubicBezTo>
                <a:lnTo>
                  <a:pt x="261915" y="121064"/>
                </a:lnTo>
                <a:cubicBezTo>
                  <a:pt x="265917" y="125066"/>
                  <a:pt x="266547" y="131362"/>
                  <a:pt x="263399" y="136039"/>
                </a:cubicBezTo>
                <a:lnTo>
                  <a:pt x="252921" y="151734"/>
                </a:lnTo>
                <a:cubicBezTo>
                  <a:pt x="253775" y="153848"/>
                  <a:pt x="254540" y="156052"/>
                  <a:pt x="255169" y="158345"/>
                </a:cubicBezTo>
                <a:cubicBezTo>
                  <a:pt x="255799" y="160639"/>
                  <a:pt x="256204" y="162887"/>
                  <a:pt x="256518" y="165181"/>
                </a:cubicBezTo>
                <a:lnTo>
                  <a:pt x="273473" y="173546"/>
                </a:lnTo>
                <a:cubicBezTo>
                  <a:pt x="278555" y="176064"/>
                  <a:pt x="281163" y="181820"/>
                  <a:pt x="279679" y="187262"/>
                </a:cubicBezTo>
                <a:lnTo>
                  <a:pt x="276531" y="199045"/>
                </a:lnTo>
                <a:cubicBezTo>
                  <a:pt x="275047" y="204486"/>
                  <a:pt x="269965" y="208174"/>
                  <a:pt x="264299" y="207814"/>
                </a:cubicBezTo>
                <a:lnTo>
                  <a:pt x="245410" y="206600"/>
                </a:lnTo>
                <a:cubicBezTo>
                  <a:pt x="242577" y="210243"/>
                  <a:pt x="239294" y="213615"/>
                  <a:pt x="235562" y="216494"/>
                </a:cubicBezTo>
                <a:lnTo>
                  <a:pt x="236776" y="235337"/>
                </a:lnTo>
                <a:cubicBezTo>
                  <a:pt x="237136" y="241003"/>
                  <a:pt x="233448" y="246130"/>
                  <a:pt x="228006" y="247569"/>
                </a:cubicBezTo>
                <a:lnTo>
                  <a:pt x="216224" y="250717"/>
                </a:lnTo>
                <a:cubicBezTo>
                  <a:pt x="210737" y="252201"/>
                  <a:pt x="205026" y="249593"/>
                  <a:pt x="202507" y="244511"/>
                </a:cubicBezTo>
                <a:lnTo>
                  <a:pt x="194143" y="227602"/>
                </a:lnTo>
                <a:cubicBezTo>
                  <a:pt x="189511" y="226972"/>
                  <a:pt x="184968" y="225713"/>
                  <a:pt x="180696" y="223959"/>
                </a:cubicBezTo>
                <a:lnTo>
                  <a:pt x="164956" y="234437"/>
                </a:lnTo>
                <a:cubicBezTo>
                  <a:pt x="160234" y="237585"/>
                  <a:pt x="153983" y="236956"/>
                  <a:pt x="149981" y="232953"/>
                </a:cubicBezTo>
                <a:lnTo>
                  <a:pt x="141346" y="224319"/>
                </a:lnTo>
                <a:cubicBezTo>
                  <a:pt x="137343" y="220316"/>
                  <a:pt x="136714" y="214065"/>
                  <a:pt x="139862" y="209343"/>
                </a:cubicBezTo>
                <a:lnTo>
                  <a:pt x="150340" y="193603"/>
                </a:lnTo>
                <a:cubicBezTo>
                  <a:pt x="149486" y="191489"/>
                  <a:pt x="148721" y="189286"/>
                  <a:pt x="148092" y="186992"/>
                </a:cubicBezTo>
                <a:cubicBezTo>
                  <a:pt x="147462" y="184699"/>
                  <a:pt x="147057" y="182405"/>
                  <a:pt x="146743" y="180157"/>
                </a:cubicBezTo>
                <a:lnTo>
                  <a:pt x="129788" y="171792"/>
                </a:lnTo>
                <a:cubicBezTo>
                  <a:pt x="124706" y="169273"/>
                  <a:pt x="122143" y="163517"/>
                  <a:pt x="123582" y="158075"/>
                </a:cubicBezTo>
                <a:lnTo>
                  <a:pt x="126730" y="146293"/>
                </a:lnTo>
                <a:cubicBezTo>
                  <a:pt x="128214" y="140851"/>
                  <a:pt x="133296" y="137164"/>
                  <a:pt x="138962" y="137523"/>
                </a:cubicBezTo>
                <a:lnTo>
                  <a:pt x="157806" y="138738"/>
                </a:lnTo>
                <a:cubicBezTo>
                  <a:pt x="160639" y="135095"/>
                  <a:pt x="163922" y="131722"/>
                  <a:pt x="167654" y="128844"/>
                </a:cubicBezTo>
                <a:lnTo>
                  <a:pt x="166440" y="110046"/>
                </a:lnTo>
                <a:cubicBezTo>
                  <a:pt x="166080" y="104379"/>
                  <a:pt x="169768" y="99252"/>
                  <a:pt x="175210" y="97813"/>
                </a:cubicBezTo>
                <a:lnTo>
                  <a:pt x="186992" y="94665"/>
                </a:lnTo>
                <a:close/>
                <a:moveTo>
                  <a:pt x="201653" y="152904"/>
                </a:moveTo>
                <a:cubicBezTo>
                  <a:pt x="190732" y="152916"/>
                  <a:pt x="181876" y="161793"/>
                  <a:pt x="181888" y="172714"/>
                </a:cubicBezTo>
                <a:cubicBezTo>
                  <a:pt x="181900" y="183635"/>
                  <a:pt x="190777" y="192491"/>
                  <a:pt x="201698" y="192479"/>
                </a:cubicBezTo>
                <a:cubicBezTo>
                  <a:pt x="212619" y="192466"/>
                  <a:pt x="221475" y="183590"/>
                  <a:pt x="221463" y="172669"/>
                </a:cubicBezTo>
                <a:cubicBezTo>
                  <a:pt x="221451" y="161748"/>
                  <a:pt x="212574" y="152891"/>
                  <a:pt x="201653" y="152904"/>
                </a:cubicBezTo>
                <a:close/>
                <a:moveTo>
                  <a:pt x="101141" y="-20462"/>
                </a:moveTo>
                <a:lnTo>
                  <a:pt x="112924" y="-17314"/>
                </a:lnTo>
                <a:cubicBezTo>
                  <a:pt x="118365" y="-15830"/>
                  <a:pt x="122053" y="-10703"/>
                  <a:pt x="121693" y="-5082"/>
                </a:cubicBezTo>
                <a:lnTo>
                  <a:pt x="120479" y="13716"/>
                </a:lnTo>
                <a:cubicBezTo>
                  <a:pt x="124212" y="16595"/>
                  <a:pt x="127495" y="19922"/>
                  <a:pt x="130328" y="23610"/>
                </a:cubicBezTo>
                <a:lnTo>
                  <a:pt x="149216" y="22396"/>
                </a:lnTo>
                <a:cubicBezTo>
                  <a:pt x="154837" y="22036"/>
                  <a:pt x="159964" y="25724"/>
                  <a:pt x="161448" y="31165"/>
                </a:cubicBezTo>
                <a:lnTo>
                  <a:pt x="164596" y="42948"/>
                </a:lnTo>
                <a:cubicBezTo>
                  <a:pt x="166035" y="48390"/>
                  <a:pt x="163472" y="54146"/>
                  <a:pt x="158390" y="56664"/>
                </a:cubicBezTo>
                <a:lnTo>
                  <a:pt x="141436" y="65029"/>
                </a:lnTo>
                <a:cubicBezTo>
                  <a:pt x="141121" y="67323"/>
                  <a:pt x="140671" y="69616"/>
                  <a:pt x="140087" y="71865"/>
                </a:cubicBezTo>
                <a:cubicBezTo>
                  <a:pt x="139502" y="74113"/>
                  <a:pt x="138693" y="76362"/>
                  <a:pt x="137838" y="78476"/>
                </a:cubicBezTo>
                <a:lnTo>
                  <a:pt x="148317" y="94216"/>
                </a:lnTo>
                <a:cubicBezTo>
                  <a:pt x="151465" y="98938"/>
                  <a:pt x="150835" y="105189"/>
                  <a:pt x="146833" y="109191"/>
                </a:cubicBezTo>
                <a:lnTo>
                  <a:pt x="138198" y="117826"/>
                </a:lnTo>
                <a:cubicBezTo>
                  <a:pt x="134195" y="121828"/>
                  <a:pt x="127944" y="122458"/>
                  <a:pt x="123222" y="119310"/>
                </a:cubicBezTo>
                <a:lnTo>
                  <a:pt x="107482" y="108831"/>
                </a:lnTo>
                <a:cubicBezTo>
                  <a:pt x="103210" y="110585"/>
                  <a:pt x="98668" y="111845"/>
                  <a:pt x="94036" y="112474"/>
                </a:cubicBezTo>
                <a:lnTo>
                  <a:pt x="85671" y="129383"/>
                </a:lnTo>
                <a:cubicBezTo>
                  <a:pt x="83153" y="134465"/>
                  <a:pt x="77396" y="137029"/>
                  <a:pt x="71955" y="135590"/>
                </a:cubicBezTo>
                <a:lnTo>
                  <a:pt x="60172" y="132442"/>
                </a:lnTo>
                <a:cubicBezTo>
                  <a:pt x="54686" y="130958"/>
                  <a:pt x="51043" y="125831"/>
                  <a:pt x="51403" y="120209"/>
                </a:cubicBezTo>
                <a:lnTo>
                  <a:pt x="52617" y="101366"/>
                </a:lnTo>
                <a:cubicBezTo>
                  <a:pt x="48884" y="98488"/>
                  <a:pt x="45601" y="95160"/>
                  <a:pt x="42768" y="91472"/>
                </a:cubicBezTo>
                <a:lnTo>
                  <a:pt x="23880" y="92687"/>
                </a:lnTo>
                <a:cubicBezTo>
                  <a:pt x="18258" y="93046"/>
                  <a:pt x="13132" y="89359"/>
                  <a:pt x="11648" y="83917"/>
                </a:cubicBezTo>
                <a:lnTo>
                  <a:pt x="8500" y="72135"/>
                </a:lnTo>
                <a:cubicBezTo>
                  <a:pt x="7061" y="66693"/>
                  <a:pt x="9624" y="60937"/>
                  <a:pt x="14706" y="58418"/>
                </a:cubicBezTo>
                <a:lnTo>
                  <a:pt x="31660" y="50053"/>
                </a:lnTo>
                <a:cubicBezTo>
                  <a:pt x="31975" y="47760"/>
                  <a:pt x="32425" y="45511"/>
                  <a:pt x="33009" y="43218"/>
                </a:cubicBezTo>
                <a:cubicBezTo>
                  <a:pt x="33639" y="40924"/>
                  <a:pt x="34358" y="38721"/>
                  <a:pt x="35258" y="36607"/>
                </a:cubicBezTo>
                <a:lnTo>
                  <a:pt x="24779" y="20912"/>
                </a:lnTo>
                <a:cubicBezTo>
                  <a:pt x="21631" y="16190"/>
                  <a:pt x="22261" y="9939"/>
                  <a:pt x="26263" y="5936"/>
                </a:cubicBezTo>
                <a:lnTo>
                  <a:pt x="34898" y="-2698"/>
                </a:lnTo>
                <a:cubicBezTo>
                  <a:pt x="38900" y="-6701"/>
                  <a:pt x="45152" y="-7330"/>
                  <a:pt x="49874" y="-4182"/>
                </a:cubicBezTo>
                <a:lnTo>
                  <a:pt x="65614" y="6296"/>
                </a:lnTo>
                <a:cubicBezTo>
                  <a:pt x="69886" y="4542"/>
                  <a:pt x="74428" y="3283"/>
                  <a:pt x="79060" y="2653"/>
                </a:cubicBezTo>
                <a:lnTo>
                  <a:pt x="87425" y="-14256"/>
                </a:lnTo>
                <a:cubicBezTo>
                  <a:pt x="89943" y="-19338"/>
                  <a:pt x="95655" y="-21901"/>
                  <a:pt x="101141" y="-20462"/>
                </a:cubicBezTo>
                <a:close/>
                <a:moveTo>
                  <a:pt x="86525" y="37776"/>
                </a:moveTo>
                <a:cubicBezTo>
                  <a:pt x="75604" y="37776"/>
                  <a:pt x="66738" y="46643"/>
                  <a:pt x="66738" y="57564"/>
                </a:cubicBezTo>
                <a:cubicBezTo>
                  <a:pt x="66738" y="68485"/>
                  <a:pt x="75604" y="77351"/>
                  <a:pt x="86525" y="77351"/>
                </a:cubicBezTo>
                <a:cubicBezTo>
                  <a:pt x="97447" y="77351"/>
                  <a:pt x="106313" y="68485"/>
                  <a:pt x="106313" y="57564"/>
                </a:cubicBezTo>
                <a:cubicBezTo>
                  <a:pt x="106313" y="46643"/>
                  <a:pt x="97447" y="37776"/>
                  <a:pt x="86525" y="37776"/>
                </a:cubicBezTo>
                <a:close/>
              </a:path>
            </a:pathLst>
          </a:custGeom>
          <a:solidFill>
            <a:srgbClr val="4FD1C5"/>
          </a:solidFill>
          <a:ln/>
        </p:spPr>
        <p:txBody>
          <a:bodyPr/>
          <a:lstStyle/>
          <a:p>
            <a:endParaRPr lang="zh-CN" altLang="en-US"/>
          </a:p>
        </p:txBody>
      </p:sp>
      <p:sp>
        <p:nvSpPr>
          <p:cNvPr id="32" name="Text 30"/>
          <p:cNvSpPr/>
          <p:nvPr/>
        </p:nvSpPr>
        <p:spPr>
          <a:xfrm>
            <a:off x="1070686" y="6470164"/>
            <a:ext cx="1197326"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调度系统整合</a:t>
            </a:r>
            <a:endParaRPr lang="en-US" sz="1600" dirty="0"/>
          </a:p>
        </p:txBody>
      </p:sp>
      <p:sp>
        <p:nvSpPr>
          <p:cNvPr id="33" name="Text 31"/>
          <p:cNvSpPr/>
          <p:nvPr/>
        </p:nvSpPr>
        <p:spPr>
          <a:xfrm>
            <a:off x="690765" y="6838572"/>
            <a:ext cx="4881405"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结合Apache Airflow、DolphinScheduler等进行周期性维护</a:t>
            </a:r>
            <a:endParaRPr lang="en-US" sz="1600" dirty="0"/>
          </a:p>
        </p:txBody>
      </p:sp>
      <p:sp>
        <p:nvSpPr>
          <p:cNvPr id="34" name="Shape 32"/>
          <p:cNvSpPr/>
          <p:nvPr/>
        </p:nvSpPr>
        <p:spPr>
          <a:xfrm>
            <a:off x="5752686" y="6493190"/>
            <a:ext cx="230255" cy="230255"/>
          </a:xfrm>
          <a:custGeom>
            <a:avLst/>
            <a:gdLst/>
            <a:ahLst/>
            <a:cxnLst/>
            <a:rect l="l" t="t" r="r" b="b"/>
            <a:pathLst>
              <a:path w="230255" h="230255">
                <a:moveTo>
                  <a:pt x="28782" y="28782"/>
                </a:moveTo>
                <a:cubicBezTo>
                  <a:pt x="28782" y="20822"/>
                  <a:pt x="22351" y="14391"/>
                  <a:pt x="14391" y="14391"/>
                </a:cubicBezTo>
                <a:cubicBezTo>
                  <a:pt x="6431" y="14391"/>
                  <a:pt x="0" y="20822"/>
                  <a:pt x="0" y="28782"/>
                </a:cubicBezTo>
                <a:lnTo>
                  <a:pt x="0" y="179887"/>
                </a:lnTo>
                <a:cubicBezTo>
                  <a:pt x="0" y="199764"/>
                  <a:pt x="16100" y="215864"/>
                  <a:pt x="35977" y="215864"/>
                </a:cubicBezTo>
                <a:lnTo>
                  <a:pt x="215864" y="215864"/>
                </a:lnTo>
                <a:cubicBezTo>
                  <a:pt x="223824" y="215864"/>
                  <a:pt x="230255" y="209433"/>
                  <a:pt x="230255" y="201473"/>
                </a:cubicBezTo>
                <a:cubicBezTo>
                  <a:pt x="230255" y="193513"/>
                  <a:pt x="223824" y="187082"/>
                  <a:pt x="215864" y="187082"/>
                </a:cubicBezTo>
                <a:lnTo>
                  <a:pt x="35977" y="187082"/>
                </a:lnTo>
                <a:cubicBezTo>
                  <a:pt x="32020" y="187082"/>
                  <a:pt x="28782" y="183844"/>
                  <a:pt x="28782" y="179887"/>
                </a:cubicBezTo>
                <a:lnTo>
                  <a:pt x="28782" y="28782"/>
                </a:lnTo>
                <a:close/>
                <a:moveTo>
                  <a:pt x="211637" y="67727"/>
                </a:moveTo>
                <a:cubicBezTo>
                  <a:pt x="217258" y="62106"/>
                  <a:pt x="217258" y="52977"/>
                  <a:pt x="211637" y="47355"/>
                </a:cubicBezTo>
                <a:cubicBezTo>
                  <a:pt x="206015" y="41734"/>
                  <a:pt x="196886" y="41734"/>
                  <a:pt x="191265" y="47355"/>
                </a:cubicBezTo>
                <a:lnTo>
                  <a:pt x="143909" y="94755"/>
                </a:lnTo>
                <a:lnTo>
                  <a:pt x="118096" y="68987"/>
                </a:lnTo>
                <a:cubicBezTo>
                  <a:pt x="112474" y="63365"/>
                  <a:pt x="103345" y="63365"/>
                  <a:pt x="97723" y="68987"/>
                </a:cubicBezTo>
                <a:lnTo>
                  <a:pt x="54551" y="112159"/>
                </a:lnTo>
                <a:cubicBezTo>
                  <a:pt x="48929" y="117781"/>
                  <a:pt x="48929" y="126910"/>
                  <a:pt x="54551" y="132532"/>
                </a:cubicBezTo>
                <a:cubicBezTo>
                  <a:pt x="60172" y="138153"/>
                  <a:pt x="69301" y="138153"/>
                  <a:pt x="74923" y="132532"/>
                </a:cubicBezTo>
                <a:lnTo>
                  <a:pt x="107932" y="99522"/>
                </a:lnTo>
                <a:lnTo>
                  <a:pt x="133746" y="125336"/>
                </a:lnTo>
                <a:cubicBezTo>
                  <a:pt x="139367" y="130958"/>
                  <a:pt x="148496" y="130958"/>
                  <a:pt x="154118" y="125336"/>
                </a:cubicBezTo>
                <a:lnTo>
                  <a:pt x="211682" y="67772"/>
                </a:lnTo>
                <a:close/>
              </a:path>
            </a:pathLst>
          </a:custGeom>
          <a:solidFill>
            <a:srgbClr val="4FD1C5"/>
          </a:solidFill>
          <a:ln/>
        </p:spPr>
        <p:txBody>
          <a:bodyPr/>
          <a:lstStyle/>
          <a:p>
            <a:endParaRPr lang="zh-CN" altLang="en-US"/>
          </a:p>
        </p:txBody>
      </p:sp>
      <p:sp>
        <p:nvSpPr>
          <p:cNvPr id="35" name="Text 33"/>
          <p:cNvSpPr/>
          <p:nvPr/>
        </p:nvSpPr>
        <p:spPr>
          <a:xfrm>
            <a:off x="6103825" y="6470164"/>
            <a:ext cx="1381530"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成本与性能平衡</a:t>
            </a:r>
            <a:endParaRPr lang="en-US" sz="1600" dirty="0"/>
          </a:p>
        </p:txBody>
      </p:sp>
      <p:sp>
        <p:nvSpPr>
          <p:cNvPr id="36" name="Text 34"/>
          <p:cNvSpPr/>
          <p:nvPr/>
        </p:nvSpPr>
        <p:spPr>
          <a:xfrm>
            <a:off x="5723904" y="6838572"/>
            <a:ext cx="4881405" cy="230255"/>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在保证可追溯性的同时,避免"时间旅行导致存储成本无限膨胀"</a:t>
            </a:r>
            <a:endParaRPr lang="en-US" sz="1600" dirty="0"/>
          </a:p>
        </p:txBody>
      </p:sp>
      <p:sp>
        <p:nvSpPr>
          <p:cNvPr id="37" name="Shape 35"/>
          <p:cNvSpPr/>
          <p:nvPr/>
        </p:nvSpPr>
        <p:spPr>
          <a:xfrm>
            <a:off x="10785916" y="6493190"/>
            <a:ext cx="230255" cy="230255"/>
          </a:xfrm>
          <a:custGeom>
            <a:avLst/>
            <a:gdLst/>
            <a:ahLst/>
            <a:cxnLst/>
            <a:rect l="l" t="t" r="r" b="b"/>
            <a:pathLst>
              <a:path w="230255" h="230255">
                <a:moveTo>
                  <a:pt x="115127" y="0"/>
                </a:moveTo>
                <a:cubicBezTo>
                  <a:pt x="117196" y="0"/>
                  <a:pt x="119265" y="450"/>
                  <a:pt x="121154" y="1304"/>
                </a:cubicBezTo>
                <a:lnTo>
                  <a:pt x="205880" y="37237"/>
                </a:lnTo>
                <a:cubicBezTo>
                  <a:pt x="215774" y="41419"/>
                  <a:pt x="223149" y="51178"/>
                  <a:pt x="223104" y="62960"/>
                </a:cubicBezTo>
                <a:cubicBezTo>
                  <a:pt x="222880" y="107572"/>
                  <a:pt x="204531" y="189196"/>
                  <a:pt x="127045" y="226297"/>
                </a:cubicBezTo>
                <a:cubicBezTo>
                  <a:pt x="119535" y="229895"/>
                  <a:pt x="110810" y="229895"/>
                  <a:pt x="103300" y="226297"/>
                </a:cubicBezTo>
                <a:cubicBezTo>
                  <a:pt x="25769" y="189196"/>
                  <a:pt x="7465" y="107572"/>
                  <a:pt x="7240" y="62960"/>
                </a:cubicBezTo>
                <a:cubicBezTo>
                  <a:pt x="7195" y="51178"/>
                  <a:pt x="14571" y="41419"/>
                  <a:pt x="24465" y="37237"/>
                </a:cubicBezTo>
                <a:lnTo>
                  <a:pt x="109146" y="1304"/>
                </a:lnTo>
                <a:cubicBezTo>
                  <a:pt x="111035" y="450"/>
                  <a:pt x="113059" y="0"/>
                  <a:pt x="115127" y="0"/>
                </a:cubicBezTo>
                <a:close/>
                <a:moveTo>
                  <a:pt x="115127" y="30041"/>
                </a:moveTo>
                <a:lnTo>
                  <a:pt x="115127" y="200079"/>
                </a:lnTo>
                <a:cubicBezTo>
                  <a:pt x="177188" y="170038"/>
                  <a:pt x="193873" y="103480"/>
                  <a:pt x="194278" y="63635"/>
                </a:cubicBezTo>
                <a:lnTo>
                  <a:pt x="115127" y="30086"/>
                </a:lnTo>
                <a:lnTo>
                  <a:pt x="115127" y="30086"/>
                </a:lnTo>
                <a:close/>
              </a:path>
            </a:pathLst>
          </a:custGeom>
          <a:solidFill>
            <a:srgbClr val="4FD1C5"/>
          </a:solidFill>
          <a:ln/>
        </p:spPr>
        <p:txBody>
          <a:bodyPr/>
          <a:lstStyle/>
          <a:p>
            <a:endParaRPr lang="zh-CN" altLang="en-US"/>
          </a:p>
        </p:txBody>
      </p:sp>
      <p:sp>
        <p:nvSpPr>
          <p:cNvPr id="38" name="Text 36"/>
          <p:cNvSpPr/>
          <p:nvPr/>
        </p:nvSpPr>
        <p:spPr>
          <a:xfrm>
            <a:off x="11137055" y="6470164"/>
            <a:ext cx="1013122" cy="276306"/>
          </a:xfrm>
          <a:prstGeom prst="rect">
            <a:avLst/>
          </a:prstGeom>
          <a:noFill/>
          <a:ln/>
        </p:spPr>
        <p:txBody>
          <a:bodyPr wrap="square" lIns="0" tIns="0" rIns="0" bIns="0" rtlCol="0" anchor="ctr"/>
          <a:lstStyle/>
          <a:p>
            <a:pPr>
              <a:lnSpc>
                <a:spcPct val="130000"/>
              </a:lnSpc>
            </a:pPr>
            <a:r>
              <a:rPr lang="en-US" sz="1450" b="1" dirty="0">
                <a:solidFill>
                  <a:srgbClr val="F7FAFC"/>
                </a:solidFill>
                <a:latin typeface="MiSans" pitchFamily="34" charset="0"/>
                <a:ea typeface="MiSans" pitchFamily="34" charset="-122"/>
                <a:cs typeface="MiSans" pitchFamily="34" charset="-120"/>
              </a:rPr>
              <a:t>长期稳定性</a:t>
            </a:r>
            <a:endParaRPr lang="en-US" sz="1600" dirty="0"/>
          </a:p>
        </p:txBody>
      </p:sp>
      <p:sp>
        <p:nvSpPr>
          <p:cNvPr id="39" name="Text 37"/>
          <p:cNvSpPr/>
          <p:nvPr/>
        </p:nvSpPr>
        <p:spPr>
          <a:xfrm>
            <a:off x="10757134" y="6838572"/>
            <a:ext cx="4881405" cy="460510"/>
          </a:xfrm>
          <a:prstGeom prst="rect">
            <a:avLst/>
          </a:prstGeom>
          <a:noFill/>
          <a:ln/>
        </p:spPr>
        <p:txBody>
          <a:bodyPr wrap="square" lIns="0" tIns="0" rIns="0" bIns="0" rtlCol="0" anchor="ctr"/>
          <a:lstStyle/>
          <a:p>
            <a:pPr>
              <a:lnSpc>
                <a:spcPct val="120000"/>
              </a:lnSpc>
            </a:pPr>
            <a:r>
              <a:rPr lang="en-US" sz="1269" dirty="0">
                <a:solidFill>
                  <a:srgbClr val="A0AEC0"/>
                </a:solidFill>
                <a:latin typeface="MiSans" pitchFamily="34" charset="0"/>
                <a:ea typeface="MiSans" pitchFamily="34" charset="-122"/>
                <a:cs typeface="MiSans" pitchFamily="34" charset="-120"/>
              </a:rPr>
              <a:t>通过系统化的维护策略,确保湖仓一体平台在长期运行中保持可持续性</a:t>
            </a:r>
            <a:endParaRPr lang="en-US" sz="1600" dirty="0"/>
          </a:p>
        </p:txBody>
      </p:sp>
      <p:sp>
        <p:nvSpPr>
          <p:cNvPr id="40" name="Shape 38"/>
          <p:cNvSpPr/>
          <p:nvPr/>
        </p:nvSpPr>
        <p:spPr>
          <a:xfrm>
            <a:off x="483535" y="7713541"/>
            <a:ext cx="15311955" cy="967071"/>
          </a:xfrm>
          <a:custGeom>
            <a:avLst/>
            <a:gdLst/>
            <a:ahLst/>
            <a:cxnLst/>
            <a:rect l="l" t="t" r="r" b="b"/>
            <a:pathLst>
              <a:path w="15311955" h="967071">
                <a:moveTo>
                  <a:pt x="46051" y="0"/>
                </a:moveTo>
                <a:lnTo>
                  <a:pt x="15219851" y="0"/>
                </a:lnTo>
                <a:cubicBezTo>
                  <a:pt x="15270718" y="0"/>
                  <a:pt x="15311955" y="41236"/>
                  <a:pt x="15311955" y="92104"/>
                </a:cubicBezTo>
                <a:lnTo>
                  <a:pt x="15311955" y="874967"/>
                </a:lnTo>
                <a:cubicBezTo>
                  <a:pt x="15311955" y="925835"/>
                  <a:pt x="15270718" y="967071"/>
                  <a:pt x="15219851" y="967071"/>
                </a:cubicBezTo>
                <a:lnTo>
                  <a:pt x="46051" y="967071"/>
                </a:lnTo>
                <a:cubicBezTo>
                  <a:pt x="20618" y="967071"/>
                  <a:pt x="0" y="946453"/>
                  <a:pt x="0" y="921020"/>
                </a:cubicBezTo>
                <a:lnTo>
                  <a:pt x="0" y="46051"/>
                </a:lnTo>
                <a:cubicBezTo>
                  <a:pt x="0" y="20635"/>
                  <a:pt x="20635" y="0"/>
                  <a:pt x="46051" y="0"/>
                </a:cubicBezTo>
                <a:close/>
              </a:path>
            </a:pathLst>
          </a:custGeom>
          <a:solidFill>
            <a:srgbClr val="4FD1C5">
              <a:alpha val="10196"/>
            </a:srgbClr>
          </a:solidFill>
          <a:ln/>
        </p:spPr>
        <p:txBody>
          <a:bodyPr/>
          <a:lstStyle/>
          <a:p>
            <a:endParaRPr lang="zh-CN" altLang="en-US"/>
          </a:p>
        </p:txBody>
      </p:sp>
      <p:sp>
        <p:nvSpPr>
          <p:cNvPr id="41" name="Shape 39"/>
          <p:cNvSpPr/>
          <p:nvPr/>
        </p:nvSpPr>
        <p:spPr>
          <a:xfrm>
            <a:off x="483535" y="7713541"/>
            <a:ext cx="46051" cy="967071"/>
          </a:xfrm>
          <a:custGeom>
            <a:avLst/>
            <a:gdLst/>
            <a:ahLst/>
            <a:cxnLst/>
            <a:rect l="l" t="t" r="r" b="b"/>
            <a:pathLst>
              <a:path w="46051" h="967071">
                <a:moveTo>
                  <a:pt x="46051" y="0"/>
                </a:moveTo>
                <a:lnTo>
                  <a:pt x="46051" y="0"/>
                </a:lnTo>
                <a:lnTo>
                  <a:pt x="46051" y="967071"/>
                </a:lnTo>
                <a:lnTo>
                  <a:pt x="46051" y="967071"/>
                </a:lnTo>
                <a:cubicBezTo>
                  <a:pt x="20618" y="967071"/>
                  <a:pt x="0" y="946453"/>
                  <a:pt x="0" y="921020"/>
                </a:cubicBezTo>
                <a:lnTo>
                  <a:pt x="0" y="46051"/>
                </a:lnTo>
                <a:cubicBezTo>
                  <a:pt x="0" y="20635"/>
                  <a:pt x="20635" y="0"/>
                  <a:pt x="46051" y="0"/>
                </a:cubicBezTo>
                <a:close/>
              </a:path>
            </a:pathLst>
          </a:custGeom>
          <a:solidFill>
            <a:srgbClr val="4FD1C5"/>
          </a:solidFill>
          <a:ln/>
        </p:spPr>
        <p:txBody>
          <a:bodyPr/>
          <a:lstStyle/>
          <a:p>
            <a:endParaRPr lang="zh-CN" altLang="en-US"/>
          </a:p>
        </p:txBody>
      </p:sp>
      <p:sp>
        <p:nvSpPr>
          <p:cNvPr id="42" name="Text 40"/>
          <p:cNvSpPr/>
          <p:nvPr/>
        </p:nvSpPr>
        <p:spPr>
          <a:xfrm>
            <a:off x="690765" y="7897745"/>
            <a:ext cx="15012623" cy="598663"/>
          </a:xfrm>
          <a:prstGeom prst="rect">
            <a:avLst/>
          </a:prstGeom>
          <a:noFill/>
          <a:ln/>
        </p:spPr>
        <p:txBody>
          <a:bodyPr wrap="square" lIns="0" tIns="0" rIns="0" bIns="0" rtlCol="0" anchor="ctr"/>
          <a:lstStyle/>
          <a:p>
            <a:pPr>
              <a:lnSpc>
                <a:spcPct val="140000"/>
              </a:lnSpc>
            </a:pPr>
            <a:r>
              <a:rPr lang="en-US" sz="1450" b="1" dirty="0">
                <a:solidFill>
                  <a:srgbClr val="4FD1C5"/>
                </a:solidFill>
                <a:latin typeface="MiSans" pitchFamily="34" charset="0"/>
                <a:ea typeface="MiSans" pitchFamily="34" charset="-122"/>
                <a:cs typeface="MiSans" pitchFamily="34" charset="-120"/>
              </a:rPr>
              <a:t>关键洞察：</a:t>
            </a:r>
            <a:r>
              <a:rPr lang="en-US" sz="1450" dirty="0">
                <a:solidFill>
                  <a:srgbClr val="F7FAFC"/>
                </a:solidFill>
                <a:latin typeface="MiSans" pitchFamily="34" charset="0"/>
                <a:ea typeface="MiSans" pitchFamily="34" charset="-122"/>
                <a:cs typeface="MiSans" pitchFamily="34" charset="-120"/>
              </a:rPr>
              <a:t>Retention策略与垃圾回收机制是维持Lakehouse系统长期健康运行的重要保障。它们与Time Travel能力形成互补,在提供强大追溯能力的同时,确保存储成本和查询性能始终处于可控范围。</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032" y="0"/>
            <a:ext cx="16251936" cy="914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图片 1" descr="图示&#10;&#10;AI 生成的内容可能不正确。">
            <a:extLst>
              <a:ext uri="{FF2B5EF4-FFF2-40B4-BE49-F238E27FC236}">
                <a16:creationId xmlns:a16="http://schemas.microsoft.com/office/drawing/2014/main" id="{113C9040-A465-5D2F-ED95-02A0E5D766CF}"/>
              </a:ext>
            </a:extLst>
          </p:cNvPr>
          <p:cNvPicPr>
            <a:picLocks noChangeAspect="1"/>
          </p:cNvPicPr>
          <p:nvPr/>
        </p:nvPicPr>
        <p:blipFill>
          <a:blip r:embed="rId2"/>
          <a:srcRect l="870"/>
          <a:stretch>
            <a:fillRect/>
          </a:stretch>
        </p:blipFill>
        <p:spPr>
          <a:xfrm>
            <a:off x="20" y="1709"/>
            <a:ext cx="16255980" cy="9142291"/>
          </a:xfrm>
          <a:prstGeom prst="rect">
            <a:avLst/>
          </a:prstGeom>
        </p:spPr>
      </p:pic>
    </p:spTree>
    <p:extLst>
      <p:ext uri="{BB962C8B-B14F-4D97-AF65-F5344CB8AC3E}">
        <p14:creationId xmlns:p14="http://schemas.microsoft.com/office/powerpoint/2010/main" val="3627531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A202C"/>
        </a:solidFill>
        <a:effectLst/>
      </p:bgPr>
    </p:bg>
    <p:spTree>
      <p:nvGrpSpPr>
        <p:cNvPr id="1" name=""/>
        <p:cNvGrpSpPr/>
        <p:nvPr/>
      </p:nvGrpSpPr>
      <p:grpSpPr>
        <a:xfrm>
          <a:off x="0" y="0"/>
          <a:ext cx="0" cy="0"/>
          <a:chOff x="0" y="0"/>
          <a:chExt cx="0" cy="0"/>
        </a:xfrm>
      </p:grpSpPr>
      <p:sp>
        <p:nvSpPr>
          <p:cNvPr id="4" name="Shape 1"/>
          <p:cNvSpPr/>
          <p:nvPr/>
        </p:nvSpPr>
        <p:spPr>
          <a:xfrm>
            <a:off x="514350" y="2597150"/>
            <a:ext cx="2603500" cy="723900"/>
          </a:xfrm>
          <a:custGeom>
            <a:avLst/>
            <a:gdLst/>
            <a:ahLst/>
            <a:cxnLst/>
            <a:rect l="l" t="t" r="r" b="b"/>
            <a:pathLst>
              <a:path w="2603500" h="723900">
                <a:moveTo>
                  <a:pt x="101599" y="0"/>
                </a:moveTo>
                <a:lnTo>
                  <a:pt x="2501901" y="0"/>
                </a:lnTo>
                <a:cubicBezTo>
                  <a:pt x="2558012" y="0"/>
                  <a:pt x="2603500" y="45488"/>
                  <a:pt x="2603500" y="101599"/>
                </a:cubicBezTo>
                <a:lnTo>
                  <a:pt x="2603500" y="622301"/>
                </a:lnTo>
                <a:cubicBezTo>
                  <a:pt x="2603500" y="678412"/>
                  <a:pt x="2558012" y="723900"/>
                  <a:pt x="2501901" y="723900"/>
                </a:cubicBezTo>
                <a:lnTo>
                  <a:pt x="101599" y="723900"/>
                </a:lnTo>
                <a:cubicBezTo>
                  <a:pt x="45488" y="723900"/>
                  <a:pt x="0" y="678412"/>
                  <a:pt x="0" y="622301"/>
                </a:cubicBezTo>
                <a:lnTo>
                  <a:pt x="0" y="101599"/>
                </a:lnTo>
                <a:cubicBezTo>
                  <a:pt x="0" y="45488"/>
                  <a:pt x="45488" y="0"/>
                  <a:pt x="101599" y="0"/>
                </a:cubicBezTo>
                <a:close/>
              </a:path>
            </a:pathLst>
          </a:custGeom>
          <a:solidFill>
            <a:srgbClr val="4FD1C5">
              <a:alpha val="20000"/>
            </a:srgbClr>
          </a:solidFill>
          <a:ln w="12700">
            <a:solidFill>
              <a:srgbClr val="4FD1C5"/>
            </a:solidFill>
            <a:prstDash val="solid"/>
          </a:ln>
        </p:spPr>
        <p:txBody>
          <a:bodyPr/>
          <a:lstStyle/>
          <a:p>
            <a:endParaRPr lang="zh-CN" altLang="en-US"/>
          </a:p>
        </p:txBody>
      </p:sp>
      <p:sp>
        <p:nvSpPr>
          <p:cNvPr id="5" name="Text 2"/>
          <p:cNvSpPr/>
          <p:nvPr/>
        </p:nvSpPr>
        <p:spPr>
          <a:xfrm>
            <a:off x="825500" y="2755900"/>
            <a:ext cx="2139454" cy="406400"/>
          </a:xfrm>
          <a:prstGeom prst="rect">
            <a:avLst/>
          </a:prstGeom>
          <a:noFill/>
          <a:ln/>
        </p:spPr>
        <p:txBody>
          <a:bodyPr wrap="square" lIns="0" tIns="0" rIns="0" bIns="0" rtlCol="0" anchor="ctr"/>
          <a:lstStyle/>
          <a:p>
            <a:pPr>
              <a:lnSpc>
                <a:spcPct val="110000"/>
              </a:lnSpc>
            </a:pPr>
            <a:r>
              <a:rPr lang="en-US" sz="2400" b="1" kern="0" spc="120" dirty="0">
                <a:solidFill>
                  <a:srgbClr val="4FD1C5"/>
                </a:solidFill>
                <a:latin typeface="MiSans" pitchFamily="34" charset="0"/>
                <a:ea typeface="MiSans" pitchFamily="34" charset="-122"/>
                <a:cs typeface="MiSans" pitchFamily="34" charset="-120"/>
              </a:rPr>
              <a:t>CHAPTER 05</a:t>
            </a:r>
            <a:endParaRPr lang="en-US" sz="1600" dirty="0"/>
          </a:p>
        </p:txBody>
      </p:sp>
      <p:sp>
        <p:nvSpPr>
          <p:cNvPr id="6" name="Text 3"/>
          <p:cNvSpPr/>
          <p:nvPr/>
        </p:nvSpPr>
        <p:spPr>
          <a:xfrm>
            <a:off x="508000" y="3733800"/>
            <a:ext cx="15697200" cy="1143000"/>
          </a:xfrm>
          <a:prstGeom prst="rect">
            <a:avLst/>
          </a:prstGeom>
          <a:noFill/>
          <a:ln/>
        </p:spPr>
        <p:txBody>
          <a:bodyPr wrap="square" lIns="0" tIns="0" rIns="0" bIns="0" rtlCol="0" anchor="ctr"/>
          <a:lstStyle/>
          <a:p>
            <a:pPr>
              <a:lnSpc>
                <a:spcPct val="100000"/>
              </a:lnSpc>
            </a:pPr>
            <a:r>
              <a:rPr lang="en-US" sz="7200" b="1" dirty="0">
                <a:solidFill>
                  <a:srgbClr val="F7FAFC"/>
                </a:solidFill>
                <a:latin typeface="Noto Sans SC" pitchFamily="34" charset="0"/>
                <a:ea typeface="Noto Sans SC" pitchFamily="34" charset="-122"/>
                <a:cs typeface="Noto Sans SC" pitchFamily="34" charset="-120"/>
              </a:rPr>
              <a:t>现代数据栈全景</a:t>
            </a:r>
            <a:endParaRPr lang="en-US" sz="1600" dirty="0"/>
          </a:p>
        </p:txBody>
      </p:sp>
      <p:sp>
        <p:nvSpPr>
          <p:cNvPr id="7" name="Text 4"/>
          <p:cNvSpPr/>
          <p:nvPr/>
        </p:nvSpPr>
        <p:spPr>
          <a:xfrm>
            <a:off x="508000" y="5181600"/>
            <a:ext cx="15430500" cy="457200"/>
          </a:xfrm>
          <a:prstGeom prst="rect">
            <a:avLst/>
          </a:prstGeom>
          <a:noFill/>
          <a:ln/>
        </p:spPr>
        <p:txBody>
          <a:bodyPr wrap="square" lIns="0" tIns="0" rIns="0" bIns="0" rtlCol="0" anchor="ctr"/>
          <a:lstStyle/>
          <a:p>
            <a:pPr>
              <a:lnSpc>
                <a:spcPct val="100000"/>
              </a:lnSpc>
            </a:pPr>
            <a:r>
              <a:rPr lang="en-US" sz="3000" dirty="0">
                <a:solidFill>
                  <a:srgbClr val="A0AEC0"/>
                </a:solidFill>
                <a:latin typeface="MiSans" pitchFamily="34" charset="0"/>
                <a:ea typeface="MiSans" pitchFamily="34" charset="-122"/>
                <a:cs typeface="MiSans" pitchFamily="34" charset="-120"/>
              </a:rPr>
              <a:t>Lakehouse在完整数据平台中的定位</a:t>
            </a:r>
            <a:endParaRPr lang="en-US" sz="1600" dirty="0"/>
          </a:p>
        </p:txBody>
      </p:sp>
      <p:sp>
        <p:nvSpPr>
          <p:cNvPr id="8" name="Shape 5"/>
          <p:cNvSpPr/>
          <p:nvPr/>
        </p:nvSpPr>
        <p:spPr>
          <a:xfrm>
            <a:off x="5080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9" name="Text 6"/>
          <p:cNvSpPr/>
          <p:nvPr/>
        </p:nvSpPr>
        <p:spPr>
          <a:xfrm>
            <a:off x="7112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五层架构</a:t>
            </a:r>
            <a:endParaRPr lang="en-US" sz="1600" dirty="0"/>
          </a:p>
        </p:txBody>
      </p:sp>
      <p:sp>
        <p:nvSpPr>
          <p:cNvPr id="10" name="Shape 7"/>
          <p:cNvSpPr/>
          <p:nvPr/>
        </p:nvSpPr>
        <p:spPr>
          <a:xfrm>
            <a:off x="19304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1" name="Text 8"/>
          <p:cNvSpPr/>
          <p:nvPr/>
        </p:nvSpPr>
        <p:spPr>
          <a:xfrm>
            <a:off x="21336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组件协同</a:t>
            </a:r>
            <a:endParaRPr lang="en-US" sz="1600" dirty="0"/>
          </a:p>
        </p:txBody>
      </p:sp>
      <p:sp>
        <p:nvSpPr>
          <p:cNvPr id="12" name="Shape 9"/>
          <p:cNvSpPr/>
          <p:nvPr/>
        </p:nvSpPr>
        <p:spPr>
          <a:xfrm>
            <a:off x="3352800" y="6045200"/>
            <a:ext cx="1219200" cy="508000"/>
          </a:xfrm>
          <a:custGeom>
            <a:avLst/>
            <a:gdLst/>
            <a:ahLst/>
            <a:cxnLst/>
            <a:rect l="l" t="t" r="r" b="b"/>
            <a:pathLst>
              <a:path w="1219200" h="508000">
                <a:moveTo>
                  <a:pt x="101600" y="0"/>
                </a:moveTo>
                <a:lnTo>
                  <a:pt x="1117600" y="0"/>
                </a:lnTo>
                <a:cubicBezTo>
                  <a:pt x="1173675" y="0"/>
                  <a:pt x="1219200" y="45525"/>
                  <a:pt x="1219200" y="101600"/>
                </a:cubicBezTo>
                <a:lnTo>
                  <a:pt x="1219200" y="406400"/>
                </a:lnTo>
                <a:cubicBezTo>
                  <a:pt x="1219200" y="462475"/>
                  <a:pt x="1173675" y="508000"/>
                  <a:pt x="1117600" y="508000"/>
                </a:cubicBezTo>
                <a:lnTo>
                  <a:pt x="101600" y="508000"/>
                </a:lnTo>
                <a:cubicBezTo>
                  <a:pt x="45525" y="508000"/>
                  <a:pt x="0" y="462475"/>
                  <a:pt x="0" y="406400"/>
                </a:cubicBezTo>
                <a:lnTo>
                  <a:pt x="0" y="101600"/>
                </a:lnTo>
                <a:cubicBezTo>
                  <a:pt x="0" y="45525"/>
                  <a:pt x="45525" y="0"/>
                  <a:pt x="101600" y="0"/>
                </a:cubicBezTo>
                <a:close/>
              </a:path>
            </a:pathLst>
          </a:custGeom>
          <a:solidFill>
            <a:srgbClr val="4A5568">
              <a:alpha val="50196"/>
            </a:srgbClr>
          </a:solidFill>
          <a:ln/>
        </p:spPr>
        <p:txBody>
          <a:bodyPr/>
          <a:lstStyle/>
          <a:p>
            <a:endParaRPr lang="zh-CN" altLang="en-US"/>
          </a:p>
        </p:txBody>
      </p:sp>
      <p:sp>
        <p:nvSpPr>
          <p:cNvPr id="13" name="Text 10"/>
          <p:cNvSpPr/>
          <p:nvPr/>
        </p:nvSpPr>
        <p:spPr>
          <a:xfrm>
            <a:off x="3556000" y="6165850"/>
            <a:ext cx="914400" cy="266700"/>
          </a:xfrm>
          <a:prstGeom prst="rect">
            <a:avLst/>
          </a:prstGeom>
          <a:noFill/>
          <a:ln/>
        </p:spPr>
        <p:txBody>
          <a:bodyPr wrap="square" lIns="0" tIns="0" rIns="0" bIns="0" rtlCol="0" anchor="ctr"/>
          <a:lstStyle/>
          <a:p>
            <a:pPr>
              <a:lnSpc>
                <a:spcPct val="130000"/>
              </a:lnSpc>
            </a:pPr>
            <a:r>
              <a:rPr lang="en-US" sz="1600" dirty="0">
                <a:solidFill>
                  <a:srgbClr val="A0AEC0"/>
                </a:solidFill>
                <a:latin typeface="MiSans" pitchFamily="34" charset="0"/>
                <a:ea typeface="MiSans" pitchFamily="34" charset="-122"/>
                <a:cs typeface="MiSans" pitchFamily="34" charset="-120"/>
              </a:rPr>
              <a:t>应用场景</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500955" y="500955"/>
            <a:ext cx="2429633" cy="300573"/>
          </a:xfrm>
          <a:prstGeom prst="rect">
            <a:avLst/>
          </a:prstGeom>
          <a:noFill/>
          <a:ln/>
        </p:spPr>
        <p:txBody>
          <a:bodyPr wrap="square" lIns="0" tIns="0" rIns="0" bIns="0" rtlCol="0" anchor="ctr"/>
          <a:lstStyle/>
          <a:p>
            <a:pPr>
              <a:lnSpc>
                <a:spcPct val="120000"/>
              </a:lnSpc>
            </a:pPr>
            <a:r>
              <a:rPr lang="en-US" sz="1578" b="1" kern="0" spc="79" dirty="0">
                <a:solidFill>
                  <a:srgbClr val="4FD1C5"/>
                </a:solidFill>
                <a:latin typeface="MiSans" pitchFamily="34" charset="0"/>
                <a:ea typeface="MiSans" pitchFamily="34" charset="-122"/>
                <a:cs typeface="MiSans" pitchFamily="34" charset="-120"/>
              </a:rPr>
              <a:t>MODERN DATA STACK</a:t>
            </a:r>
            <a:endParaRPr lang="en-US" sz="1600" dirty="0"/>
          </a:p>
        </p:txBody>
      </p:sp>
      <p:sp>
        <p:nvSpPr>
          <p:cNvPr id="3" name="Text 1"/>
          <p:cNvSpPr/>
          <p:nvPr/>
        </p:nvSpPr>
        <p:spPr>
          <a:xfrm>
            <a:off x="500955" y="901720"/>
            <a:ext cx="15479519" cy="500955"/>
          </a:xfrm>
          <a:prstGeom prst="rect">
            <a:avLst/>
          </a:prstGeom>
          <a:noFill/>
          <a:ln/>
        </p:spPr>
        <p:txBody>
          <a:bodyPr wrap="square" lIns="0" tIns="0" rIns="0" bIns="0" rtlCol="0" anchor="ctr"/>
          <a:lstStyle/>
          <a:p>
            <a:pPr>
              <a:lnSpc>
                <a:spcPct val="90000"/>
              </a:lnSpc>
            </a:pPr>
            <a:r>
              <a:rPr lang="en-US" sz="3550" b="1" dirty="0">
                <a:solidFill>
                  <a:srgbClr val="F7FAFC"/>
                </a:solidFill>
                <a:latin typeface="Noto Sans SC" pitchFamily="34" charset="0"/>
                <a:ea typeface="Noto Sans SC" pitchFamily="34" charset="-122"/>
                <a:cs typeface="Noto Sans SC" pitchFamily="34" charset="-120"/>
              </a:rPr>
              <a:t>架构组件映射：五层模型</a:t>
            </a:r>
            <a:endParaRPr lang="en-US" sz="1600" dirty="0"/>
          </a:p>
        </p:txBody>
      </p:sp>
      <p:sp>
        <p:nvSpPr>
          <p:cNvPr id="4" name="Shape 2"/>
          <p:cNvSpPr/>
          <p:nvPr/>
        </p:nvSpPr>
        <p:spPr>
          <a:xfrm>
            <a:off x="500955" y="1552961"/>
            <a:ext cx="1001911" cy="50096"/>
          </a:xfrm>
          <a:custGeom>
            <a:avLst/>
            <a:gdLst/>
            <a:ahLst/>
            <a:cxnLst/>
            <a:rect l="l" t="t" r="r" b="b"/>
            <a:pathLst>
              <a:path w="1001911" h="50096">
                <a:moveTo>
                  <a:pt x="0" y="0"/>
                </a:moveTo>
                <a:lnTo>
                  <a:pt x="1001911" y="0"/>
                </a:lnTo>
                <a:lnTo>
                  <a:pt x="1001911" y="50096"/>
                </a:lnTo>
                <a:lnTo>
                  <a:pt x="0" y="50096"/>
                </a:lnTo>
                <a:lnTo>
                  <a:pt x="0" y="0"/>
                </a:lnTo>
                <a:close/>
              </a:path>
            </a:pathLst>
          </a:custGeom>
          <a:solidFill>
            <a:srgbClr val="4FD1C5"/>
          </a:solidFill>
          <a:ln/>
        </p:spPr>
        <p:txBody>
          <a:bodyPr/>
          <a:lstStyle/>
          <a:p>
            <a:endParaRPr lang="zh-CN" altLang="en-US"/>
          </a:p>
        </p:txBody>
      </p:sp>
      <p:sp>
        <p:nvSpPr>
          <p:cNvPr id="5" name="Shape 3"/>
          <p:cNvSpPr/>
          <p:nvPr/>
        </p:nvSpPr>
        <p:spPr>
          <a:xfrm>
            <a:off x="500955" y="1853535"/>
            <a:ext cx="15254089" cy="5234983"/>
          </a:xfrm>
          <a:custGeom>
            <a:avLst/>
            <a:gdLst/>
            <a:ahLst/>
            <a:cxnLst/>
            <a:rect l="l" t="t" r="r" b="b"/>
            <a:pathLst>
              <a:path w="15254089" h="5234983">
                <a:moveTo>
                  <a:pt x="100198" y="0"/>
                </a:moveTo>
                <a:lnTo>
                  <a:pt x="15153892" y="0"/>
                </a:lnTo>
                <a:cubicBezTo>
                  <a:pt x="15209229" y="0"/>
                  <a:pt x="15254089" y="44860"/>
                  <a:pt x="15254089" y="100198"/>
                </a:cubicBezTo>
                <a:lnTo>
                  <a:pt x="15254089" y="5134785"/>
                </a:lnTo>
                <a:cubicBezTo>
                  <a:pt x="15254089" y="5190123"/>
                  <a:pt x="15209229" y="5234983"/>
                  <a:pt x="15153892" y="5234983"/>
                </a:cubicBezTo>
                <a:lnTo>
                  <a:pt x="100198" y="5234983"/>
                </a:lnTo>
                <a:cubicBezTo>
                  <a:pt x="44860" y="5234983"/>
                  <a:pt x="0" y="5190123"/>
                  <a:pt x="0" y="5134785"/>
                </a:cubicBezTo>
                <a:lnTo>
                  <a:pt x="0" y="100198"/>
                </a:lnTo>
                <a:cubicBezTo>
                  <a:pt x="0" y="44860"/>
                  <a:pt x="44860" y="0"/>
                  <a:pt x="100198" y="0"/>
                </a:cubicBezTo>
                <a:close/>
              </a:path>
            </a:pathLst>
          </a:custGeom>
          <a:solidFill>
            <a:srgbClr val="4A5568">
              <a:alpha val="30196"/>
            </a:srgbClr>
          </a:solidFill>
          <a:ln/>
        </p:spPr>
        <p:txBody>
          <a:bodyPr/>
          <a:lstStyle/>
          <a:p>
            <a:endParaRPr lang="zh-CN" altLang="en-US"/>
          </a:p>
        </p:txBody>
      </p:sp>
      <p:graphicFrame>
        <p:nvGraphicFramePr>
          <p:cNvPr id="23" name="Table 0"/>
          <p:cNvGraphicFramePr>
            <a:graphicFrameLocks noGrp="1"/>
          </p:cNvGraphicFramePr>
          <p:nvPr>
            <p:extLst>
              <p:ext uri="{D42A27DB-BD31-4B8C-83A1-F6EECF244321}">
                <p14:modId xmlns:p14="http://schemas.microsoft.com/office/powerpoint/2010/main" val="1067877950"/>
              </p:ext>
            </p:extLst>
          </p:nvPr>
        </p:nvGraphicFramePr>
        <p:xfrm>
          <a:off x="751433" y="2104012"/>
          <a:ext cx="14753134" cy="4734030"/>
        </p:xfrm>
        <a:graphic>
          <a:graphicData uri="http://schemas.openxmlformats.org/drawingml/2006/table">
            <a:tbl>
              <a:tblPr/>
              <a:tblGrid>
                <a:gridCol w="2955636">
                  <a:extLst>
                    <a:ext uri="{9D8B030D-6E8A-4147-A177-3AD203B41FA5}">
                      <a16:colId xmlns:a16="http://schemas.microsoft.com/office/drawing/2014/main" val="20000"/>
                    </a:ext>
                  </a:extLst>
                </a:gridCol>
                <a:gridCol w="5898749">
                  <a:extLst>
                    <a:ext uri="{9D8B030D-6E8A-4147-A177-3AD203B41FA5}">
                      <a16:colId xmlns:a16="http://schemas.microsoft.com/office/drawing/2014/main" val="20001"/>
                    </a:ext>
                  </a:extLst>
                </a:gridCol>
                <a:gridCol w="5898749">
                  <a:extLst>
                    <a:ext uri="{9D8B030D-6E8A-4147-A177-3AD203B41FA5}">
                      <a16:colId xmlns:a16="http://schemas.microsoft.com/office/drawing/2014/main" val="20002"/>
                    </a:ext>
                  </a:extLst>
                </a:gridCol>
              </a:tblGrid>
              <a:tr h="789005">
                <a:tc>
                  <a:txBody>
                    <a:bodyPr/>
                    <a:lstStyle/>
                    <a:p>
                      <a:pPr algn="l"/>
                      <a:r>
                        <a:rPr lang="en-US" sz="1700" b="1" u="none" dirty="0">
                          <a:solidFill>
                            <a:srgbClr val="4FD1C5"/>
                          </a:solidFill>
                          <a:latin typeface="微软雅黑" pitchFamily="34" charset="0"/>
                          <a:ea typeface="微软雅黑" pitchFamily="34" charset="-122"/>
                          <a:cs typeface="微软雅黑" pitchFamily="34" charset="-120"/>
                        </a:rPr>
                        <a:t>层级</a:t>
                      </a:r>
                      <a:endParaRPr lang="en-US" sz="17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700" b="1" u="none" dirty="0">
                          <a:solidFill>
                            <a:srgbClr val="F7FAFC"/>
                          </a:solidFill>
                          <a:latin typeface="微软雅黑" pitchFamily="34" charset="0"/>
                          <a:ea typeface="微软雅黑" pitchFamily="34" charset="-122"/>
                          <a:cs typeface="微软雅黑" pitchFamily="34" charset="-120"/>
                        </a:rPr>
                        <a:t>代表性组件</a:t>
                      </a:r>
                      <a:endParaRPr lang="en-US" sz="17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tc>
                  <a:txBody>
                    <a:bodyPr/>
                    <a:lstStyle/>
                    <a:p>
                      <a:pPr algn="l"/>
                      <a:r>
                        <a:rPr lang="en-US" sz="1700" b="1" u="none" dirty="0">
                          <a:solidFill>
                            <a:srgbClr val="F7FAFC"/>
                          </a:solidFill>
                          <a:latin typeface="微软雅黑" pitchFamily="34" charset="0"/>
                          <a:ea typeface="微软雅黑" pitchFamily="34" charset="-122"/>
                          <a:cs typeface="微软雅黑" pitchFamily="34" charset="-120"/>
                        </a:rPr>
                        <a:t>职责</a:t>
                      </a:r>
                      <a:endParaRPr lang="en-US" sz="1700" dirty="0">
                        <a:latin typeface="微软雅黑" charset="0"/>
                        <a:ea typeface="微软雅黑" charset="0"/>
                        <a:cs typeface="微软雅黑" charset="0"/>
                      </a:endParaRPr>
                    </a:p>
                  </a:txBody>
                  <a:tcPr anchor="ctr">
                    <a:lnL w="0" cap="flat" cmpd="sng" algn="ctr">
                      <a:noFill/>
                    </a:lnL>
                    <a:lnR w="0" cap="flat" cmpd="sng" algn="ctr">
                      <a:noFill/>
                    </a:lnR>
                    <a:lnT w="0" cap="flat" cmpd="sng" algn="ctr">
                      <a:noFill/>
                    </a:lnT>
                    <a:lnB w="25400" cap="flat" cmpd="sng" algn="ctr">
                      <a:solidFill>
                        <a:srgbClr val="4FD1C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0"/>
                  </a:ext>
                </a:extLst>
              </a:tr>
              <a:tr h="789005">
                <a:tc>
                  <a:txBody>
                    <a:bodyPr/>
                    <a:lstStyle/>
                    <a:p>
                      <a:r>
                        <a:rPr lang="en-US" sz="1300" u="none" dirty="0">
                          <a:solidFill>
                            <a:srgbClr val="A0AEC0"/>
                          </a:solidFill>
                          <a:latin typeface="微软雅黑" pitchFamily="34" charset="0"/>
                          <a:ea typeface="微软雅黑" pitchFamily="34" charset="-122"/>
                          <a:cs typeface="微软雅黑" pitchFamily="34" charset="-120"/>
                        </a:rPr>
                        <a:t>接入层</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Kafka, Pulsar, </a:t>
                      </a:r>
                      <a:r>
                        <a:rPr lang="en-US" sz="1300" u="none" dirty="0" err="1">
                          <a:solidFill>
                            <a:srgbClr val="A0AEC0"/>
                          </a:solidFill>
                          <a:latin typeface="微软雅黑" pitchFamily="34" charset="0"/>
                          <a:ea typeface="微软雅黑" pitchFamily="34" charset="-122"/>
                          <a:cs typeface="微软雅黑" pitchFamily="34" charset="-120"/>
                        </a:rPr>
                        <a:t>CDC工具</a:t>
                      </a:r>
                      <a:r>
                        <a:rPr lang="en-US" sz="1300" u="none" dirty="0">
                          <a:solidFill>
                            <a:srgbClr val="A0AEC0"/>
                          </a:solidFill>
                          <a:latin typeface="微软雅黑" pitchFamily="34" charset="0"/>
                          <a:ea typeface="微软雅黑" pitchFamily="34" charset="-122"/>
                          <a:cs typeface="微软雅黑" pitchFamily="34" charset="-120"/>
                        </a:rPr>
                        <a:t> (Debezium, Flink CDC)</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数据采集、缓冲与解耦</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25400" cap="flat" cmpd="sng" algn="ctr">
                      <a:solidFill>
                        <a:srgbClr val="4FD1C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789005">
                <a:tc>
                  <a:txBody>
                    <a:bodyPr/>
                    <a:lstStyle/>
                    <a:p>
                      <a:r>
                        <a:rPr lang="en-US" sz="1300" u="none" dirty="0">
                          <a:solidFill>
                            <a:srgbClr val="A0AEC0"/>
                          </a:solidFill>
                          <a:latin typeface="微软雅黑" pitchFamily="34" charset="0"/>
                          <a:ea typeface="微软雅黑" pitchFamily="34" charset="-122"/>
                          <a:cs typeface="微软雅黑" pitchFamily="34" charset="-120"/>
                        </a:rPr>
                        <a:t>计算层</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MapReduce, Spark, Flink</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数据的批处理、流式处理、即席查询</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789005">
                <a:tc>
                  <a:txBody>
                    <a:bodyPr/>
                    <a:lstStyle/>
                    <a:p>
                      <a:r>
                        <a:rPr lang="en-US" sz="1300" u="none" dirty="0">
                          <a:solidFill>
                            <a:srgbClr val="A0AEC0"/>
                          </a:solidFill>
                          <a:latin typeface="微软雅黑" pitchFamily="34" charset="0"/>
                          <a:ea typeface="微软雅黑" pitchFamily="34" charset="-122"/>
                          <a:cs typeface="微软雅黑" pitchFamily="34" charset="-120"/>
                        </a:rPr>
                        <a:t>表格式层</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Iceberg, Hudi, Delta Lake</a:t>
                      </a: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表级元数据管理、ACID事务、快照与回滚</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789005">
                <a:tc>
                  <a:txBody>
                    <a:bodyPr/>
                    <a:lstStyle/>
                    <a:p>
                      <a:r>
                        <a:rPr lang="en-US" sz="1300" u="none" dirty="0">
                          <a:solidFill>
                            <a:srgbClr val="A0AEC0"/>
                          </a:solidFill>
                          <a:latin typeface="微软雅黑" pitchFamily="34" charset="0"/>
                          <a:ea typeface="微软雅黑" pitchFamily="34" charset="-122"/>
                          <a:cs typeface="微软雅黑" pitchFamily="34" charset="-120"/>
                        </a:rPr>
                        <a:t>存储层</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HDFS, S3, OSS, </a:t>
                      </a:r>
                      <a:r>
                        <a:rPr lang="en-US" sz="1300" u="none" dirty="0" err="1">
                          <a:solidFill>
                            <a:srgbClr val="A0AEC0"/>
                          </a:solidFill>
                          <a:latin typeface="微软雅黑" pitchFamily="34" charset="0"/>
                          <a:ea typeface="微软雅黑" pitchFamily="34" charset="-122"/>
                          <a:cs typeface="微软雅黑" pitchFamily="34" charset="-120"/>
                        </a:rPr>
                        <a:t>MinIO</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低成本、高扩展的数据持久化</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789005">
                <a:tc>
                  <a:txBody>
                    <a:bodyPr/>
                    <a:lstStyle/>
                    <a:p>
                      <a:r>
                        <a:rPr lang="en-US" sz="1300" u="none" dirty="0">
                          <a:solidFill>
                            <a:srgbClr val="A0AEC0"/>
                          </a:solidFill>
                          <a:latin typeface="微软雅黑" pitchFamily="34" charset="0"/>
                          <a:ea typeface="微软雅黑" pitchFamily="34" charset="-122"/>
                          <a:cs typeface="微软雅黑" pitchFamily="34" charset="-120"/>
                        </a:rPr>
                        <a:t>元数据与编排</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Hive Metastore, </a:t>
                      </a:r>
                      <a:r>
                        <a:rPr lang="en-US" sz="1300" u="none" dirty="0" err="1">
                          <a:solidFill>
                            <a:srgbClr val="A0AEC0"/>
                          </a:solidFill>
                          <a:latin typeface="微软雅黑" pitchFamily="34" charset="0"/>
                          <a:ea typeface="微软雅黑" pitchFamily="34" charset="-122"/>
                          <a:cs typeface="微软雅黑" pitchFamily="34" charset="-120"/>
                        </a:rPr>
                        <a:t>CatalogAirflow</a:t>
                      </a:r>
                      <a:r>
                        <a:rPr lang="en-US" sz="1300" u="none" dirty="0">
                          <a:solidFill>
                            <a:srgbClr val="A0AEC0"/>
                          </a:solidFill>
                          <a:latin typeface="微软雅黑" pitchFamily="34" charset="0"/>
                          <a:ea typeface="微软雅黑" pitchFamily="34" charset="-122"/>
                          <a:cs typeface="微软雅黑" pitchFamily="34" charset="-120"/>
                        </a:rPr>
                        <a:t>, DolphinScheduler</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r>
                        <a:rPr lang="en-US" sz="1300" u="none" dirty="0">
                          <a:solidFill>
                            <a:srgbClr val="A0AEC0"/>
                          </a:solidFill>
                          <a:latin typeface="微软雅黑" pitchFamily="34" charset="0"/>
                          <a:ea typeface="微软雅黑" pitchFamily="34" charset="-122"/>
                          <a:cs typeface="微软雅黑" pitchFamily="34" charset="-120"/>
                        </a:rPr>
                        <a:t>元数据管理、任务调度与依赖编排</a:t>
                      </a:r>
                      <a:endParaRPr lang="en-US" sz="1300" dirty="0">
                        <a:latin typeface="微软雅黑" charset="0"/>
                        <a:ea typeface="微软雅黑" charset="0"/>
                        <a:cs typeface="微软雅黑" charset="0"/>
                      </a:endParaRPr>
                    </a:p>
                  </a:txBody>
                  <a:tcPr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5"/>
                  </a:ext>
                </a:extLst>
              </a:tr>
            </a:tbl>
          </a:graphicData>
        </a:graphic>
      </p:graphicFrame>
      <p:sp>
        <p:nvSpPr>
          <p:cNvPr id="7" name="Shape 4"/>
          <p:cNvSpPr/>
          <p:nvPr/>
        </p:nvSpPr>
        <p:spPr>
          <a:xfrm>
            <a:off x="526003" y="7338995"/>
            <a:ext cx="4921886" cy="1302484"/>
          </a:xfrm>
          <a:custGeom>
            <a:avLst/>
            <a:gdLst/>
            <a:ahLst/>
            <a:cxnLst/>
            <a:rect l="l" t="t" r="r" b="b"/>
            <a:pathLst>
              <a:path w="4921886" h="1302484">
                <a:moveTo>
                  <a:pt x="50096" y="0"/>
                </a:moveTo>
                <a:lnTo>
                  <a:pt x="4821699" y="0"/>
                </a:lnTo>
                <a:cubicBezTo>
                  <a:pt x="4877031" y="0"/>
                  <a:pt x="4921886" y="44855"/>
                  <a:pt x="4921886" y="100187"/>
                </a:cubicBezTo>
                <a:lnTo>
                  <a:pt x="4921886" y="1202297"/>
                </a:lnTo>
                <a:cubicBezTo>
                  <a:pt x="4921886" y="1257629"/>
                  <a:pt x="4877031" y="1302484"/>
                  <a:pt x="4821699" y="1302484"/>
                </a:cubicBezTo>
                <a:lnTo>
                  <a:pt x="50096" y="1302484"/>
                </a:lnTo>
                <a:cubicBezTo>
                  <a:pt x="22429" y="1302484"/>
                  <a:pt x="0" y="1280055"/>
                  <a:pt x="0" y="1252388"/>
                </a:cubicBezTo>
                <a:lnTo>
                  <a:pt x="0" y="50096"/>
                </a:lnTo>
                <a:cubicBezTo>
                  <a:pt x="0" y="22447"/>
                  <a:pt x="22447" y="0"/>
                  <a:pt x="50096" y="0"/>
                </a:cubicBezTo>
                <a:close/>
              </a:path>
            </a:pathLst>
          </a:custGeom>
          <a:solidFill>
            <a:srgbClr val="4FD1C5">
              <a:alpha val="10196"/>
            </a:srgbClr>
          </a:solidFill>
          <a:ln/>
        </p:spPr>
        <p:txBody>
          <a:bodyPr/>
          <a:lstStyle/>
          <a:p>
            <a:endParaRPr lang="zh-CN" altLang="en-US"/>
          </a:p>
        </p:txBody>
      </p:sp>
      <p:sp>
        <p:nvSpPr>
          <p:cNvPr id="8" name="Shape 5"/>
          <p:cNvSpPr/>
          <p:nvPr/>
        </p:nvSpPr>
        <p:spPr>
          <a:xfrm>
            <a:off x="526003" y="7338995"/>
            <a:ext cx="50096" cy="1302484"/>
          </a:xfrm>
          <a:custGeom>
            <a:avLst/>
            <a:gdLst/>
            <a:ahLst/>
            <a:cxnLst/>
            <a:rect l="l" t="t" r="r" b="b"/>
            <a:pathLst>
              <a:path w="50096" h="1302484">
                <a:moveTo>
                  <a:pt x="50096" y="0"/>
                </a:moveTo>
                <a:lnTo>
                  <a:pt x="50096" y="0"/>
                </a:lnTo>
                <a:lnTo>
                  <a:pt x="50096" y="1302484"/>
                </a:lnTo>
                <a:lnTo>
                  <a:pt x="50096" y="1302484"/>
                </a:lnTo>
                <a:cubicBezTo>
                  <a:pt x="22429" y="1302484"/>
                  <a:pt x="0" y="1280055"/>
                  <a:pt x="0" y="1252388"/>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9" name="Text 6"/>
          <p:cNvSpPr/>
          <p:nvPr/>
        </p:nvSpPr>
        <p:spPr>
          <a:xfrm>
            <a:off x="751433" y="7539378"/>
            <a:ext cx="4596265" cy="300573"/>
          </a:xfrm>
          <a:prstGeom prst="rect">
            <a:avLst/>
          </a:prstGeom>
          <a:noFill/>
          <a:ln/>
        </p:spPr>
        <p:txBody>
          <a:bodyPr wrap="square" lIns="0" tIns="0" rIns="0" bIns="0" rtlCol="0" anchor="ctr"/>
          <a:lstStyle/>
          <a:p>
            <a:pPr>
              <a:lnSpc>
                <a:spcPct val="120000"/>
              </a:lnSpc>
            </a:pPr>
            <a:r>
              <a:rPr lang="en-US" sz="1578" b="1" dirty="0">
                <a:solidFill>
                  <a:srgbClr val="F7FAFC"/>
                </a:solidFill>
                <a:latin typeface="MiSans" pitchFamily="34" charset="0"/>
                <a:ea typeface="MiSans" pitchFamily="34" charset="-122"/>
                <a:cs typeface="MiSans" pitchFamily="34" charset="-120"/>
              </a:rPr>
              <a:t>Lakehouse的定位</a:t>
            </a:r>
            <a:endParaRPr lang="en-US" sz="1600" dirty="0"/>
          </a:p>
        </p:txBody>
      </p:sp>
      <p:sp>
        <p:nvSpPr>
          <p:cNvPr id="10" name="Text 7"/>
          <p:cNvSpPr/>
          <p:nvPr/>
        </p:nvSpPr>
        <p:spPr>
          <a:xfrm>
            <a:off x="751433" y="7940142"/>
            <a:ext cx="4583741" cy="500955"/>
          </a:xfrm>
          <a:prstGeom prst="rect">
            <a:avLst/>
          </a:prstGeom>
          <a:noFill/>
          <a:ln/>
        </p:spPr>
        <p:txBody>
          <a:bodyPr wrap="square" lIns="0" tIns="0" rIns="0" bIns="0" rtlCol="0" anchor="ctr"/>
          <a:lstStyle/>
          <a:p>
            <a:pPr>
              <a:lnSpc>
                <a:spcPct val="120000"/>
              </a:lnSpc>
            </a:pPr>
            <a:r>
              <a:rPr lang="en-US" sz="1381" dirty="0">
                <a:solidFill>
                  <a:srgbClr val="A0AEC0"/>
                </a:solidFill>
                <a:latin typeface="MiSans" pitchFamily="34" charset="0"/>
                <a:ea typeface="MiSans" pitchFamily="34" charset="-122"/>
                <a:cs typeface="MiSans" pitchFamily="34" charset="-120"/>
              </a:rPr>
              <a:t>表格式层是连接存储层与计算层的关键桥梁,在对象存储之上提供表级管理能力</a:t>
            </a:r>
            <a:endParaRPr lang="en-US" sz="1600" dirty="0"/>
          </a:p>
        </p:txBody>
      </p:sp>
      <p:sp>
        <p:nvSpPr>
          <p:cNvPr id="11" name="Shape 8"/>
          <p:cNvSpPr/>
          <p:nvPr/>
        </p:nvSpPr>
        <p:spPr>
          <a:xfrm>
            <a:off x="5676548" y="7338995"/>
            <a:ext cx="4921886" cy="1302484"/>
          </a:xfrm>
          <a:custGeom>
            <a:avLst/>
            <a:gdLst/>
            <a:ahLst/>
            <a:cxnLst/>
            <a:rect l="l" t="t" r="r" b="b"/>
            <a:pathLst>
              <a:path w="4921886" h="1302484">
                <a:moveTo>
                  <a:pt x="50096" y="0"/>
                </a:moveTo>
                <a:lnTo>
                  <a:pt x="4821699" y="0"/>
                </a:lnTo>
                <a:cubicBezTo>
                  <a:pt x="4877031" y="0"/>
                  <a:pt x="4921886" y="44855"/>
                  <a:pt x="4921886" y="100187"/>
                </a:cubicBezTo>
                <a:lnTo>
                  <a:pt x="4921886" y="1202297"/>
                </a:lnTo>
                <a:cubicBezTo>
                  <a:pt x="4921886" y="1257629"/>
                  <a:pt x="4877031" y="1302484"/>
                  <a:pt x="4821699" y="1302484"/>
                </a:cubicBezTo>
                <a:lnTo>
                  <a:pt x="50096" y="1302484"/>
                </a:lnTo>
                <a:cubicBezTo>
                  <a:pt x="22429" y="1302484"/>
                  <a:pt x="0" y="1280055"/>
                  <a:pt x="0" y="1252388"/>
                </a:cubicBezTo>
                <a:lnTo>
                  <a:pt x="0" y="50096"/>
                </a:lnTo>
                <a:cubicBezTo>
                  <a:pt x="0" y="22447"/>
                  <a:pt x="22447" y="0"/>
                  <a:pt x="50096" y="0"/>
                </a:cubicBezTo>
                <a:close/>
              </a:path>
            </a:pathLst>
          </a:custGeom>
          <a:solidFill>
            <a:srgbClr val="4FD1C5">
              <a:alpha val="10196"/>
            </a:srgbClr>
          </a:solidFill>
          <a:ln/>
        </p:spPr>
        <p:txBody>
          <a:bodyPr/>
          <a:lstStyle/>
          <a:p>
            <a:endParaRPr lang="zh-CN" altLang="en-US"/>
          </a:p>
        </p:txBody>
      </p:sp>
      <p:sp>
        <p:nvSpPr>
          <p:cNvPr id="12" name="Shape 9"/>
          <p:cNvSpPr/>
          <p:nvPr/>
        </p:nvSpPr>
        <p:spPr>
          <a:xfrm>
            <a:off x="5676548" y="7338995"/>
            <a:ext cx="50096" cy="1302484"/>
          </a:xfrm>
          <a:custGeom>
            <a:avLst/>
            <a:gdLst/>
            <a:ahLst/>
            <a:cxnLst/>
            <a:rect l="l" t="t" r="r" b="b"/>
            <a:pathLst>
              <a:path w="50096" h="1302484">
                <a:moveTo>
                  <a:pt x="50096" y="0"/>
                </a:moveTo>
                <a:lnTo>
                  <a:pt x="50096" y="0"/>
                </a:lnTo>
                <a:lnTo>
                  <a:pt x="50096" y="1302484"/>
                </a:lnTo>
                <a:lnTo>
                  <a:pt x="50096" y="1302484"/>
                </a:lnTo>
                <a:cubicBezTo>
                  <a:pt x="22429" y="1302484"/>
                  <a:pt x="0" y="1280055"/>
                  <a:pt x="0" y="1252388"/>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13" name="Text 10"/>
          <p:cNvSpPr/>
          <p:nvPr/>
        </p:nvSpPr>
        <p:spPr>
          <a:xfrm>
            <a:off x="5901978" y="7539378"/>
            <a:ext cx="4596265" cy="300573"/>
          </a:xfrm>
          <a:prstGeom prst="rect">
            <a:avLst/>
          </a:prstGeom>
          <a:noFill/>
          <a:ln/>
        </p:spPr>
        <p:txBody>
          <a:bodyPr wrap="square" lIns="0" tIns="0" rIns="0" bIns="0" rtlCol="0" anchor="ctr"/>
          <a:lstStyle/>
          <a:p>
            <a:pPr>
              <a:lnSpc>
                <a:spcPct val="120000"/>
              </a:lnSpc>
            </a:pPr>
            <a:r>
              <a:rPr lang="en-US" sz="1578" b="1" dirty="0">
                <a:solidFill>
                  <a:srgbClr val="F7FAFC"/>
                </a:solidFill>
                <a:latin typeface="MiSans" pitchFamily="34" charset="0"/>
                <a:ea typeface="MiSans" pitchFamily="34" charset="-122"/>
                <a:cs typeface="MiSans" pitchFamily="34" charset="-120"/>
              </a:rPr>
              <a:t>组件协同</a:t>
            </a:r>
            <a:endParaRPr lang="en-US" sz="1600" dirty="0"/>
          </a:p>
        </p:txBody>
      </p:sp>
      <p:sp>
        <p:nvSpPr>
          <p:cNvPr id="14" name="Text 11"/>
          <p:cNvSpPr/>
          <p:nvPr/>
        </p:nvSpPr>
        <p:spPr>
          <a:xfrm>
            <a:off x="5901978" y="7940142"/>
            <a:ext cx="4583741" cy="500955"/>
          </a:xfrm>
          <a:prstGeom prst="rect">
            <a:avLst/>
          </a:prstGeom>
          <a:noFill/>
          <a:ln/>
        </p:spPr>
        <p:txBody>
          <a:bodyPr wrap="square" lIns="0" tIns="0" rIns="0" bIns="0" rtlCol="0" anchor="ctr"/>
          <a:lstStyle/>
          <a:p>
            <a:pPr>
              <a:lnSpc>
                <a:spcPct val="120000"/>
              </a:lnSpc>
            </a:pPr>
            <a:r>
              <a:rPr lang="en-US" sz="1381" dirty="0">
                <a:solidFill>
                  <a:srgbClr val="A0AEC0"/>
                </a:solidFill>
                <a:latin typeface="MiSans" pitchFamily="34" charset="0"/>
                <a:ea typeface="MiSans" pitchFamily="34" charset="-122"/>
                <a:cs typeface="MiSans" pitchFamily="34" charset="-120"/>
              </a:rPr>
              <a:t>各层组件围绕Lakehouse表格式协同工作,形成完整的数据平台生态</a:t>
            </a:r>
            <a:endParaRPr lang="en-US" sz="1600" dirty="0"/>
          </a:p>
        </p:txBody>
      </p:sp>
      <p:sp>
        <p:nvSpPr>
          <p:cNvPr id="15" name="Shape 12"/>
          <p:cNvSpPr/>
          <p:nvPr/>
        </p:nvSpPr>
        <p:spPr>
          <a:xfrm>
            <a:off x="10827092" y="7338995"/>
            <a:ext cx="4921886" cy="1302484"/>
          </a:xfrm>
          <a:custGeom>
            <a:avLst/>
            <a:gdLst/>
            <a:ahLst/>
            <a:cxnLst/>
            <a:rect l="l" t="t" r="r" b="b"/>
            <a:pathLst>
              <a:path w="4921886" h="1302484">
                <a:moveTo>
                  <a:pt x="50096" y="0"/>
                </a:moveTo>
                <a:lnTo>
                  <a:pt x="4821699" y="0"/>
                </a:lnTo>
                <a:cubicBezTo>
                  <a:pt x="4877031" y="0"/>
                  <a:pt x="4921886" y="44855"/>
                  <a:pt x="4921886" y="100187"/>
                </a:cubicBezTo>
                <a:lnTo>
                  <a:pt x="4921886" y="1202297"/>
                </a:lnTo>
                <a:cubicBezTo>
                  <a:pt x="4921886" y="1257629"/>
                  <a:pt x="4877031" y="1302484"/>
                  <a:pt x="4821699" y="1302484"/>
                </a:cubicBezTo>
                <a:lnTo>
                  <a:pt x="50096" y="1302484"/>
                </a:lnTo>
                <a:cubicBezTo>
                  <a:pt x="22429" y="1302484"/>
                  <a:pt x="0" y="1280055"/>
                  <a:pt x="0" y="1252388"/>
                </a:cubicBezTo>
                <a:lnTo>
                  <a:pt x="0" y="50096"/>
                </a:lnTo>
                <a:cubicBezTo>
                  <a:pt x="0" y="22447"/>
                  <a:pt x="22447" y="0"/>
                  <a:pt x="50096" y="0"/>
                </a:cubicBezTo>
                <a:close/>
              </a:path>
            </a:pathLst>
          </a:custGeom>
          <a:solidFill>
            <a:srgbClr val="4FD1C5">
              <a:alpha val="10196"/>
            </a:srgbClr>
          </a:solidFill>
          <a:ln/>
        </p:spPr>
        <p:txBody>
          <a:bodyPr/>
          <a:lstStyle/>
          <a:p>
            <a:endParaRPr lang="zh-CN" altLang="en-US"/>
          </a:p>
        </p:txBody>
      </p:sp>
      <p:sp>
        <p:nvSpPr>
          <p:cNvPr id="16" name="Shape 13"/>
          <p:cNvSpPr/>
          <p:nvPr/>
        </p:nvSpPr>
        <p:spPr>
          <a:xfrm>
            <a:off x="10827092" y="7338995"/>
            <a:ext cx="50096" cy="1302484"/>
          </a:xfrm>
          <a:custGeom>
            <a:avLst/>
            <a:gdLst/>
            <a:ahLst/>
            <a:cxnLst/>
            <a:rect l="l" t="t" r="r" b="b"/>
            <a:pathLst>
              <a:path w="50096" h="1302484">
                <a:moveTo>
                  <a:pt x="50096" y="0"/>
                </a:moveTo>
                <a:lnTo>
                  <a:pt x="50096" y="0"/>
                </a:lnTo>
                <a:lnTo>
                  <a:pt x="50096" y="1302484"/>
                </a:lnTo>
                <a:lnTo>
                  <a:pt x="50096" y="1302484"/>
                </a:lnTo>
                <a:cubicBezTo>
                  <a:pt x="22429" y="1302484"/>
                  <a:pt x="0" y="1280055"/>
                  <a:pt x="0" y="1252388"/>
                </a:cubicBezTo>
                <a:lnTo>
                  <a:pt x="0" y="50096"/>
                </a:lnTo>
                <a:cubicBezTo>
                  <a:pt x="0" y="22447"/>
                  <a:pt x="22447" y="0"/>
                  <a:pt x="50096" y="0"/>
                </a:cubicBezTo>
                <a:close/>
              </a:path>
            </a:pathLst>
          </a:custGeom>
          <a:solidFill>
            <a:srgbClr val="4FD1C5"/>
          </a:solidFill>
          <a:ln/>
        </p:spPr>
        <p:txBody>
          <a:bodyPr/>
          <a:lstStyle/>
          <a:p>
            <a:endParaRPr lang="zh-CN" altLang="en-US"/>
          </a:p>
        </p:txBody>
      </p:sp>
      <p:sp>
        <p:nvSpPr>
          <p:cNvPr id="17" name="Text 14"/>
          <p:cNvSpPr/>
          <p:nvPr/>
        </p:nvSpPr>
        <p:spPr>
          <a:xfrm>
            <a:off x="11052522" y="7539378"/>
            <a:ext cx="4596265" cy="300573"/>
          </a:xfrm>
          <a:prstGeom prst="rect">
            <a:avLst/>
          </a:prstGeom>
          <a:noFill/>
          <a:ln/>
        </p:spPr>
        <p:txBody>
          <a:bodyPr wrap="square" lIns="0" tIns="0" rIns="0" bIns="0" rtlCol="0" anchor="ctr"/>
          <a:lstStyle/>
          <a:p>
            <a:pPr>
              <a:lnSpc>
                <a:spcPct val="120000"/>
              </a:lnSpc>
            </a:pPr>
            <a:r>
              <a:rPr lang="en-US" sz="1578" b="1" dirty="0">
                <a:solidFill>
                  <a:srgbClr val="F7FAFC"/>
                </a:solidFill>
                <a:latin typeface="MiSans" pitchFamily="34" charset="0"/>
                <a:ea typeface="MiSans" pitchFamily="34" charset="-122"/>
                <a:cs typeface="MiSans" pitchFamily="34" charset="-120"/>
              </a:rPr>
              <a:t>架构思维</a:t>
            </a:r>
            <a:endParaRPr lang="en-US" sz="1600" dirty="0"/>
          </a:p>
        </p:txBody>
      </p:sp>
      <p:sp>
        <p:nvSpPr>
          <p:cNvPr id="18" name="Text 15"/>
          <p:cNvSpPr/>
          <p:nvPr/>
        </p:nvSpPr>
        <p:spPr>
          <a:xfrm>
            <a:off x="11052522" y="7940142"/>
            <a:ext cx="4583741" cy="250478"/>
          </a:xfrm>
          <a:prstGeom prst="rect">
            <a:avLst/>
          </a:prstGeom>
          <a:noFill/>
          <a:ln/>
        </p:spPr>
        <p:txBody>
          <a:bodyPr wrap="square" lIns="0" tIns="0" rIns="0" bIns="0" rtlCol="0" anchor="ctr"/>
          <a:lstStyle/>
          <a:p>
            <a:pPr>
              <a:lnSpc>
                <a:spcPct val="120000"/>
              </a:lnSpc>
            </a:pPr>
            <a:r>
              <a:rPr lang="en-US" sz="1381" dirty="0">
                <a:solidFill>
                  <a:srgbClr val="A0AEC0"/>
                </a:solidFill>
                <a:latin typeface="MiSans" pitchFamily="34" charset="0"/>
                <a:ea typeface="MiSans" pitchFamily="34" charset="-122"/>
                <a:cs typeface="MiSans" pitchFamily="34" charset="-120"/>
              </a:rPr>
              <a:t>理解每一层的职责与边界,有助于设计合理的数据平台架构</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A202C"/>
        </a:solidFill>
        <a:effectLst/>
      </p:bgPr>
    </p:bg>
    <p:spTree>
      <p:nvGrpSpPr>
        <p:cNvPr id="1" name=""/>
        <p:cNvGrpSpPr/>
        <p:nvPr/>
      </p:nvGrpSpPr>
      <p:grpSpPr>
        <a:xfrm>
          <a:off x="0" y="0"/>
          <a:ext cx="0" cy="0"/>
          <a:chOff x="0" y="0"/>
          <a:chExt cx="0" cy="0"/>
        </a:xfrm>
      </p:grpSpPr>
      <p:sp>
        <p:nvSpPr>
          <p:cNvPr id="2" name="Text 0"/>
          <p:cNvSpPr/>
          <p:nvPr/>
        </p:nvSpPr>
        <p:spPr>
          <a:xfrm>
            <a:off x="484531" y="484531"/>
            <a:ext cx="2349973" cy="290718"/>
          </a:xfrm>
          <a:prstGeom prst="rect">
            <a:avLst/>
          </a:prstGeom>
          <a:noFill/>
          <a:ln/>
        </p:spPr>
        <p:txBody>
          <a:bodyPr wrap="square" lIns="0" tIns="0" rIns="0" bIns="0" rtlCol="0" anchor="ctr"/>
          <a:lstStyle/>
          <a:p>
            <a:pPr>
              <a:lnSpc>
                <a:spcPct val="130000"/>
              </a:lnSpc>
            </a:pPr>
            <a:r>
              <a:rPr lang="en-US" sz="1526" b="1" kern="0" spc="76" dirty="0">
                <a:solidFill>
                  <a:srgbClr val="4FD1C5"/>
                </a:solidFill>
                <a:latin typeface="MiSans" pitchFamily="34" charset="0"/>
                <a:ea typeface="MiSans" pitchFamily="34" charset="-122"/>
                <a:cs typeface="MiSans" pitchFamily="34" charset="-120"/>
              </a:rPr>
              <a:t>MODERN DATA STACK</a:t>
            </a:r>
            <a:endParaRPr lang="en-US" sz="1600" dirty="0"/>
          </a:p>
        </p:txBody>
      </p:sp>
      <p:sp>
        <p:nvSpPr>
          <p:cNvPr id="3" name="Text 1"/>
          <p:cNvSpPr/>
          <p:nvPr/>
        </p:nvSpPr>
        <p:spPr>
          <a:xfrm>
            <a:off x="484531" y="872155"/>
            <a:ext cx="15504978" cy="484531"/>
          </a:xfrm>
          <a:prstGeom prst="rect">
            <a:avLst/>
          </a:prstGeom>
          <a:noFill/>
          <a:ln/>
        </p:spPr>
        <p:txBody>
          <a:bodyPr wrap="square" lIns="0" tIns="0" rIns="0" bIns="0" rtlCol="0" anchor="ctr"/>
          <a:lstStyle/>
          <a:p>
            <a:pPr>
              <a:lnSpc>
                <a:spcPct val="90000"/>
              </a:lnSpc>
            </a:pPr>
            <a:r>
              <a:rPr lang="en-US" sz="3434" b="1" dirty="0">
                <a:solidFill>
                  <a:srgbClr val="F7FAFC"/>
                </a:solidFill>
                <a:latin typeface="Noto Sans SC" pitchFamily="34" charset="0"/>
                <a:ea typeface="Noto Sans SC" pitchFamily="34" charset="-122"/>
                <a:cs typeface="Noto Sans SC" pitchFamily="34" charset="-120"/>
              </a:rPr>
              <a:t>典型应用场景方案</a:t>
            </a:r>
            <a:endParaRPr lang="en-US" sz="1600" dirty="0"/>
          </a:p>
        </p:txBody>
      </p:sp>
      <p:sp>
        <p:nvSpPr>
          <p:cNvPr id="4" name="Shape 2"/>
          <p:cNvSpPr/>
          <p:nvPr/>
        </p:nvSpPr>
        <p:spPr>
          <a:xfrm>
            <a:off x="484531" y="1502045"/>
            <a:ext cx="969061" cy="48453"/>
          </a:xfrm>
          <a:custGeom>
            <a:avLst/>
            <a:gdLst/>
            <a:ahLst/>
            <a:cxnLst/>
            <a:rect l="l" t="t" r="r" b="b"/>
            <a:pathLst>
              <a:path w="969061" h="48453">
                <a:moveTo>
                  <a:pt x="0" y="0"/>
                </a:moveTo>
                <a:lnTo>
                  <a:pt x="969061" y="0"/>
                </a:lnTo>
                <a:lnTo>
                  <a:pt x="969061" y="48453"/>
                </a:lnTo>
                <a:lnTo>
                  <a:pt x="0" y="48453"/>
                </a:lnTo>
                <a:lnTo>
                  <a:pt x="0" y="0"/>
                </a:lnTo>
                <a:close/>
              </a:path>
            </a:pathLst>
          </a:custGeom>
          <a:solidFill>
            <a:srgbClr val="4FD1C5"/>
          </a:solidFill>
          <a:ln/>
        </p:spPr>
        <p:txBody>
          <a:bodyPr/>
          <a:lstStyle/>
          <a:p>
            <a:endParaRPr lang="zh-CN" altLang="en-US"/>
          </a:p>
        </p:txBody>
      </p:sp>
      <p:sp>
        <p:nvSpPr>
          <p:cNvPr id="5" name="Shape 3"/>
          <p:cNvSpPr/>
          <p:nvPr/>
        </p:nvSpPr>
        <p:spPr>
          <a:xfrm>
            <a:off x="508757" y="1792763"/>
            <a:ext cx="7498110" cy="3052542"/>
          </a:xfrm>
          <a:custGeom>
            <a:avLst/>
            <a:gdLst/>
            <a:ahLst/>
            <a:cxnLst/>
            <a:rect l="l" t="t" r="r" b="b"/>
            <a:pathLst>
              <a:path w="7498110" h="3052542">
                <a:moveTo>
                  <a:pt x="48453" y="0"/>
                </a:moveTo>
                <a:lnTo>
                  <a:pt x="7401192" y="0"/>
                </a:lnTo>
                <a:cubicBezTo>
                  <a:pt x="7454719" y="0"/>
                  <a:pt x="7498110" y="43392"/>
                  <a:pt x="7498110" y="96918"/>
                </a:cubicBezTo>
                <a:lnTo>
                  <a:pt x="7498110" y="2955624"/>
                </a:lnTo>
                <a:cubicBezTo>
                  <a:pt x="7498110" y="3009151"/>
                  <a:pt x="7454719" y="3052542"/>
                  <a:pt x="7401192" y="3052542"/>
                </a:cubicBezTo>
                <a:lnTo>
                  <a:pt x="48453" y="3052542"/>
                </a:lnTo>
                <a:cubicBezTo>
                  <a:pt x="21693" y="3052542"/>
                  <a:pt x="0" y="3030849"/>
                  <a:pt x="0" y="3004089"/>
                </a:cubicBezTo>
                <a:lnTo>
                  <a:pt x="0" y="48453"/>
                </a:lnTo>
                <a:cubicBezTo>
                  <a:pt x="0" y="21711"/>
                  <a:pt x="21711" y="0"/>
                  <a:pt x="48453" y="0"/>
                </a:cubicBezTo>
                <a:close/>
              </a:path>
            </a:pathLst>
          </a:custGeom>
          <a:solidFill>
            <a:srgbClr val="4FD1C5">
              <a:alpha val="10196"/>
            </a:srgbClr>
          </a:solidFill>
          <a:ln/>
        </p:spPr>
        <p:txBody>
          <a:bodyPr/>
          <a:lstStyle/>
          <a:p>
            <a:endParaRPr lang="zh-CN" altLang="en-US"/>
          </a:p>
        </p:txBody>
      </p:sp>
      <p:sp>
        <p:nvSpPr>
          <p:cNvPr id="6" name="Shape 4"/>
          <p:cNvSpPr/>
          <p:nvPr/>
        </p:nvSpPr>
        <p:spPr>
          <a:xfrm>
            <a:off x="508757" y="1792763"/>
            <a:ext cx="48453" cy="3052542"/>
          </a:xfrm>
          <a:custGeom>
            <a:avLst/>
            <a:gdLst/>
            <a:ahLst/>
            <a:cxnLst/>
            <a:rect l="l" t="t" r="r" b="b"/>
            <a:pathLst>
              <a:path w="48453" h="3052542">
                <a:moveTo>
                  <a:pt x="48453" y="0"/>
                </a:moveTo>
                <a:lnTo>
                  <a:pt x="48453" y="0"/>
                </a:lnTo>
                <a:lnTo>
                  <a:pt x="48453" y="3052542"/>
                </a:lnTo>
                <a:lnTo>
                  <a:pt x="48453" y="3052542"/>
                </a:lnTo>
                <a:cubicBezTo>
                  <a:pt x="21693" y="3052542"/>
                  <a:pt x="0" y="3030849"/>
                  <a:pt x="0" y="3004089"/>
                </a:cubicBezTo>
                <a:lnTo>
                  <a:pt x="0" y="48453"/>
                </a:lnTo>
                <a:cubicBezTo>
                  <a:pt x="0" y="21711"/>
                  <a:pt x="21711" y="0"/>
                  <a:pt x="48453" y="0"/>
                </a:cubicBezTo>
                <a:close/>
              </a:path>
            </a:pathLst>
          </a:custGeom>
          <a:solidFill>
            <a:srgbClr val="4FD1C5"/>
          </a:solidFill>
          <a:ln/>
        </p:spPr>
        <p:txBody>
          <a:bodyPr/>
          <a:lstStyle/>
          <a:p>
            <a:endParaRPr lang="zh-CN" altLang="en-US"/>
          </a:p>
        </p:txBody>
      </p:sp>
      <p:sp>
        <p:nvSpPr>
          <p:cNvPr id="7" name="Shape 5"/>
          <p:cNvSpPr/>
          <p:nvPr/>
        </p:nvSpPr>
        <p:spPr>
          <a:xfrm>
            <a:off x="775249" y="2035028"/>
            <a:ext cx="484531" cy="484531"/>
          </a:xfrm>
          <a:custGeom>
            <a:avLst/>
            <a:gdLst/>
            <a:ahLst/>
            <a:cxnLst/>
            <a:rect l="l" t="t" r="r" b="b"/>
            <a:pathLst>
              <a:path w="484531" h="484531">
                <a:moveTo>
                  <a:pt x="96906" y="0"/>
                </a:moveTo>
                <a:lnTo>
                  <a:pt x="387624" y="0"/>
                </a:lnTo>
                <a:cubicBezTo>
                  <a:pt x="441108" y="0"/>
                  <a:pt x="484531" y="43422"/>
                  <a:pt x="484531" y="96906"/>
                </a:cubicBezTo>
                <a:lnTo>
                  <a:pt x="484531" y="387624"/>
                </a:lnTo>
                <a:cubicBezTo>
                  <a:pt x="484531" y="441108"/>
                  <a:pt x="441108" y="484531"/>
                  <a:pt x="387624" y="484531"/>
                </a:cubicBezTo>
                <a:lnTo>
                  <a:pt x="96906" y="484531"/>
                </a:lnTo>
                <a:cubicBezTo>
                  <a:pt x="43422" y="484531"/>
                  <a:pt x="0" y="441108"/>
                  <a:pt x="0" y="387624"/>
                </a:cubicBezTo>
                <a:lnTo>
                  <a:pt x="0" y="96906"/>
                </a:lnTo>
                <a:cubicBezTo>
                  <a:pt x="0" y="43422"/>
                  <a:pt x="43422" y="0"/>
                  <a:pt x="96906" y="0"/>
                </a:cubicBezTo>
                <a:close/>
              </a:path>
            </a:pathLst>
          </a:custGeom>
          <a:solidFill>
            <a:srgbClr val="4FD1C5"/>
          </a:solidFill>
          <a:ln/>
        </p:spPr>
        <p:txBody>
          <a:bodyPr/>
          <a:lstStyle/>
          <a:p>
            <a:endParaRPr lang="zh-CN" altLang="en-US"/>
          </a:p>
        </p:txBody>
      </p:sp>
      <p:sp>
        <p:nvSpPr>
          <p:cNvPr id="8" name="Text 6"/>
          <p:cNvSpPr/>
          <p:nvPr/>
        </p:nvSpPr>
        <p:spPr>
          <a:xfrm>
            <a:off x="974645" y="2107708"/>
            <a:ext cx="193812" cy="339171"/>
          </a:xfrm>
          <a:prstGeom prst="rect">
            <a:avLst/>
          </a:prstGeom>
          <a:noFill/>
          <a:ln/>
        </p:spPr>
        <p:txBody>
          <a:bodyPr wrap="square" lIns="0" tIns="0" rIns="0" bIns="0" rtlCol="0" anchor="ctr"/>
          <a:lstStyle/>
          <a:p>
            <a:pPr>
              <a:lnSpc>
                <a:spcPct val="130000"/>
              </a:lnSpc>
            </a:pPr>
            <a:r>
              <a:rPr lang="en-US" sz="1717" b="1" dirty="0">
                <a:solidFill>
                  <a:srgbClr val="1A202C"/>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1405139" y="2107708"/>
            <a:ext cx="1598951" cy="339171"/>
          </a:xfrm>
          <a:prstGeom prst="rect">
            <a:avLst/>
          </a:prstGeom>
          <a:noFill/>
          <a:ln/>
        </p:spPr>
        <p:txBody>
          <a:bodyPr wrap="square" lIns="0" tIns="0" rIns="0" bIns="0" rtlCol="0" anchor="ctr"/>
          <a:lstStyle/>
          <a:p>
            <a:pPr>
              <a:lnSpc>
                <a:spcPct val="120000"/>
              </a:lnSpc>
            </a:pPr>
            <a:r>
              <a:rPr lang="en-US" sz="1908" b="1" dirty="0">
                <a:solidFill>
                  <a:srgbClr val="F7FAFC"/>
                </a:solidFill>
                <a:latin typeface="Noto Sans SC" pitchFamily="34" charset="0"/>
                <a:ea typeface="Noto Sans SC" pitchFamily="34" charset="-122"/>
                <a:cs typeface="Noto Sans SC" pitchFamily="34" charset="-120"/>
              </a:rPr>
              <a:t>CDC实时入湖</a:t>
            </a:r>
            <a:endParaRPr lang="en-US" sz="1600" dirty="0"/>
          </a:p>
        </p:txBody>
      </p:sp>
      <p:sp>
        <p:nvSpPr>
          <p:cNvPr id="10" name="Text 8"/>
          <p:cNvSpPr/>
          <p:nvPr/>
        </p:nvSpPr>
        <p:spPr>
          <a:xfrm>
            <a:off x="775249" y="2664918"/>
            <a:ext cx="7074146" cy="557210"/>
          </a:xfrm>
          <a:prstGeom prst="rect">
            <a:avLst/>
          </a:prstGeom>
          <a:noFill/>
          <a:ln/>
        </p:spPr>
        <p:txBody>
          <a:bodyPr wrap="square" lIns="0" tIns="0" rIns="0" bIns="0" rtlCol="0" anchor="ctr"/>
          <a:lstStyle/>
          <a:p>
            <a:pPr>
              <a:lnSpc>
                <a:spcPct val="140000"/>
              </a:lnSpc>
            </a:pPr>
            <a:r>
              <a:rPr lang="en-US" sz="1335" dirty="0">
                <a:solidFill>
                  <a:srgbClr val="A0AEC0"/>
                </a:solidFill>
                <a:latin typeface="MiSans" pitchFamily="34" charset="0"/>
                <a:ea typeface="MiSans" pitchFamily="34" charset="-122"/>
                <a:cs typeface="MiSans" pitchFamily="34" charset="-120"/>
              </a:rPr>
              <a:t>将业务库变更实时同步到湖仓,延迟缩短到分钟级甚至秒级,并在表级层面保留Upsert/Delete语义。</a:t>
            </a:r>
            <a:endParaRPr lang="en-US" sz="1600" dirty="0"/>
          </a:p>
        </p:txBody>
      </p:sp>
      <p:sp>
        <p:nvSpPr>
          <p:cNvPr id="11" name="Shape 9"/>
          <p:cNvSpPr/>
          <p:nvPr/>
        </p:nvSpPr>
        <p:spPr>
          <a:xfrm>
            <a:off x="775249" y="3361431"/>
            <a:ext cx="6989353" cy="1235553"/>
          </a:xfrm>
          <a:custGeom>
            <a:avLst/>
            <a:gdLst/>
            <a:ahLst/>
            <a:cxnLst/>
            <a:rect l="l" t="t" r="r" b="b"/>
            <a:pathLst>
              <a:path w="6989353" h="1235553">
                <a:moveTo>
                  <a:pt x="48458" y="0"/>
                </a:moveTo>
                <a:lnTo>
                  <a:pt x="6940895" y="0"/>
                </a:lnTo>
                <a:cubicBezTo>
                  <a:pt x="6967658" y="0"/>
                  <a:pt x="6989353" y="21696"/>
                  <a:pt x="6989353" y="48458"/>
                </a:cubicBezTo>
                <a:lnTo>
                  <a:pt x="6989353" y="1187095"/>
                </a:lnTo>
                <a:cubicBezTo>
                  <a:pt x="6989353" y="1213857"/>
                  <a:pt x="6967658" y="1235553"/>
                  <a:pt x="6940895" y="1235553"/>
                </a:cubicBezTo>
                <a:lnTo>
                  <a:pt x="48458" y="1235553"/>
                </a:lnTo>
                <a:cubicBezTo>
                  <a:pt x="21696" y="1235553"/>
                  <a:pt x="0" y="1213857"/>
                  <a:pt x="0" y="1187095"/>
                </a:cubicBezTo>
                <a:lnTo>
                  <a:pt x="0" y="48458"/>
                </a:lnTo>
                <a:cubicBezTo>
                  <a:pt x="0" y="21713"/>
                  <a:pt x="21713" y="0"/>
                  <a:pt x="48458" y="0"/>
                </a:cubicBezTo>
                <a:close/>
              </a:path>
            </a:pathLst>
          </a:custGeom>
          <a:solidFill>
            <a:srgbClr val="1A202C"/>
          </a:solidFill>
          <a:ln/>
        </p:spPr>
        <p:txBody>
          <a:bodyPr/>
          <a:lstStyle/>
          <a:p>
            <a:endParaRPr lang="zh-CN" altLang="en-US"/>
          </a:p>
        </p:txBody>
      </p:sp>
      <p:sp>
        <p:nvSpPr>
          <p:cNvPr id="12" name="Shape 10"/>
          <p:cNvSpPr/>
          <p:nvPr/>
        </p:nvSpPr>
        <p:spPr>
          <a:xfrm>
            <a:off x="920608" y="3506790"/>
            <a:ext cx="1296119" cy="339171"/>
          </a:xfrm>
          <a:custGeom>
            <a:avLst/>
            <a:gdLst/>
            <a:ahLst/>
            <a:cxnLst/>
            <a:rect l="l" t="t" r="r" b="b"/>
            <a:pathLst>
              <a:path w="1296119" h="339171">
                <a:moveTo>
                  <a:pt x="48454" y="0"/>
                </a:moveTo>
                <a:lnTo>
                  <a:pt x="1247665" y="0"/>
                </a:lnTo>
                <a:cubicBezTo>
                  <a:pt x="1274426" y="0"/>
                  <a:pt x="1296119" y="21694"/>
                  <a:pt x="1296119" y="48454"/>
                </a:cubicBezTo>
                <a:lnTo>
                  <a:pt x="1296119" y="290717"/>
                </a:lnTo>
                <a:cubicBezTo>
                  <a:pt x="1296119" y="317478"/>
                  <a:pt x="1274426" y="339171"/>
                  <a:pt x="1247665" y="339171"/>
                </a:cubicBezTo>
                <a:lnTo>
                  <a:pt x="48454" y="339171"/>
                </a:lnTo>
                <a:cubicBezTo>
                  <a:pt x="21712" y="339171"/>
                  <a:pt x="0" y="317460"/>
                  <a:pt x="0" y="290717"/>
                </a:cubicBezTo>
                <a:lnTo>
                  <a:pt x="0" y="48454"/>
                </a:lnTo>
                <a:cubicBezTo>
                  <a:pt x="0" y="21694"/>
                  <a:pt x="21694" y="0"/>
                  <a:pt x="48454" y="0"/>
                </a:cubicBezTo>
                <a:close/>
              </a:path>
            </a:pathLst>
          </a:custGeom>
          <a:solidFill>
            <a:srgbClr val="4FD1C5">
              <a:alpha val="30196"/>
            </a:srgbClr>
          </a:solidFill>
          <a:ln/>
        </p:spPr>
        <p:txBody>
          <a:bodyPr/>
          <a:lstStyle/>
          <a:p>
            <a:endParaRPr lang="zh-CN" altLang="en-US"/>
          </a:p>
        </p:txBody>
      </p:sp>
      <p:sp>
        <p:nvSpPr>
          <p:cNvPr id="13" name="Text 11"/>
          <p:cNvSpPr/>
          <p:nvPr/>
        </p:nvSpPr>
        <p:spPr>
          <a:xfrm>
            <a:off x="920608" y="3506790"/>
            <a:ext cx="1380912" cy="339171"/>
          </a:xfrm>
          <a:prstGeom prst="rect">
            <a:avLst/>
          </a:prstGeom>
          <a:noFill/>
          <a:ln/>
        </p:spPr>
        <p:txBody>
          <a:bodyPr wrap="square" lIns="96906" tIns="48453" rIns="96906" bIns="48453"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MySQL Binlog</a:t>
            </a:r>
            <a:endParaRPr lang="en-US" sz="1600" dirty="0"/>
          </a:p>
        </p:txBody>
      </p:sp>
      <p:sp>
        <p:nvSpPr>
          <p:cNvPr id="14" name="Shape 12"/>
          <p:cNvSpPr/>
          <p:nvPr/>
        </p:nvSpPr>
        <p:spPr>
          <a:xfrm>
            <a:off x="2339090" y="3591583"/>
            <a:ext cx="169586" cy="169586"/>
          </a:xfrm>
          <a:custGeom>
            <a:avLst/>
            <a:gdLst/>
            <a:ahLst/>
            <a:cxnLst/>
            <a:rect l="l" t="t" r="r" b="b"/>
            <a:pathLst>
              <a:path w="169586" h="169586">
                <a:moveTo>
                  <a:pt x="166472" y="92278"/>
                </a:moveTo>
                <a:cubicBezTo>
                  <a:pt x="170612" y="88138"/>
                  <a:pt x="170612" y="81414"/>
                  <a:pt x="166472" y="77274"/>
                </a:cubicBezTo>
                <a:lnTo>
                  <a:pt x="113477" y="24279"/>
                </a:lnTo>
                <a:cubicBezTo>
                  <a:pt x="109336" y="20138"/>
                  <a:pt x="102613" y="20138"/>
                  <a:pt x="98472" y="24279"/>
                </a:cubicBezTo>
                <a:cubicBezTo>
                  <a:pt x="94332" y="28419"/>
                  <a:pt x="94332" y="35143"/>
                  <a:pt x="98472" y="39283"/>
                </a:cubicBezTo>
                <a:lnTo>
                  <a:pt x="133383" y="74194"/>
                </a:lnTo>
                <a:lnTo>
                  <a:pt x="10599" y="74194"/>
                </a:lnTo>
                <a:cubicBezTo>
                  <a:pt x="4736" y="74194"/>
                  <a:pt x="0" y="78930"/>
                  <a:pt x="0" y="84793"/>
                </a:cubicBezTo>
                <a:cubicBezTo>
                  <a:pt x="0" y="90655"/>
                  <a:pt x="4736" y="95392"/>
                  <a:pt x="10599" y="95392"/>
                </a:cubicBezTo>
                <a:lnTo>
                  <a:pt x="133383" y="95392"/>
                </a:lnTo>
                <a:lnTo>
                  <a:pt x="98472" y="130303"/>
                </a:lnTo>
                <a:cubicBezTo>
                  <a:pt x="94332" y="134443"/>
                  <a:pt x="94332" y="141167"/>
                  <a:pt x="98472" y="145307"/>
                </a:cubicBezTo>
                <a:cubicBezTo>
                  <a:pt x="102613" y="149447"/>
                  <a:pt x="109336" y="149447"/>
                  <a:pt x="113477" y="145307"/>
                </a:cubicBezTo>
                <a:lnTo>
                  <a:pt x="166472" y="92312"/>
                </a:lnTo>
                <a:close/>
              </a:path>
            </a:pathLst>
          </a:custGeom>
          <a:solidFill>
            <a:srgbClr val="4FD1C5"/>
          </a:solidFill>
          <a:ln/>
        </p:spPr>
        <p:txBody>
          <a:bodyPr/>
          <a:lstStyle/>
          <a:p>
            <a:endParaRPr lang="zh-CN" altLang="en-US"/>
          </a:p>
        </p:txBody>
      </p:sp>
      <p:sp>
        <p:nvSpPr>
          <p:cNvPr id="15" name="Shape 13"/>
          <p:cNvSpPr/>
          <p:nvPr/>
        </p:nvSpPr>
        <p:spPr>
          <a:xfrm>
            <a:off x="2623752" y="3506790"/>
            <a:ext cx="969061" cy="339171"/>
          </a:xfrm>
          <a:custGeom>
            <a:avLst/>
            <a:gdLst/>
            <a:ahLst/>
            <a:cxnLst/>
            <a:rect l="l" t="t" r="r" b="b"/>
            <a:pathLst>
              <a:path w="969061" h="339171">
                <a:moveTo>
                  <a:pt x="48454" y="0"/>
                </a:moveTo>
                <a:lnTo>
                  <a:pt x="920607" y="0"/>
                </a:lnTo>
                <a:cubicBezTo>
                  <a:pt x="947367" y="0"/>
                  <a:pt x="969061" y="21694"/>
                  <a:pt x="969061" y="48454"/>
                </a:cubicBezTo>
                <a:lnTo>
                  <a:pt x="969061" y="290717"/>
                </a:lnTo>
                <a:cubicBezTo>
                  <a:pt x="969061" y="317478"/>
                  <a:pt x="947367" y="339171"/>
                  <a:pt x="920607" y="339171"/>
                </a:cubicBezTo>
                <a:lnTo>
                  <a:pt x="48454" y="339171"/>
                </a:lnTo>
                <a:cubicBezTo>
                  <a:pt x="21712" y="339171"/>
                  <a:pt x="0" y="317460"/>
                  <a:pt x="0" y="290717"/>
                </a:cubicBezTo>
                <a:lnTo>
                  <a:pt x="0" y="48454"/>
                </a:lnTo>
                <a:cubicBezTo>
                  <a:pt x="0" y="21694"/>
                  <a:pt x="21694" y="0"/>
                  <a:pt x="48454" y="0"/>
                </a:cubicBezTo>
                <a:close/>
              </a:path>
            </a:pathLst>
          </a:custGeom>
          <a:solidFill>
            <a:srgbClr val="4FD1C5">
              <a:alpha val="30196"/>
            </a:srgbClr>
          </a:solidFill>
          <a:ln/>
        </p:spPr>
        <p:txBody>
          <a:bodyPr/>
          <a:lstStyle/>
          <a:p>
            <a:endParaRPr lang="zh-CN" altLang="en-US"/>
          </a:p>
        </p:txBody>
      </p:sp>
      <p:sp>
        <p:nvSpPr>
          <p:cNvPr id="16" name="Text 14"/>
          <p:cNvSpPr/>
          <p:nvPr/>
        </p:nvSpPr>
        <p:spPr>
          <a:xfrm>
            <a:off x="2623752" y="3506790"/>
            <a:ext cx="1053854" cy="339171"/>
          </a:xfrm>
          <a:prstGeom prst="rect">
            <a:avLst/>
          </a:prstGeom>
          <a:noFill/>
          <a:ln/>
        </p:spPr>
        <p:txBody>
          <a:bodyPr wrap="square" lIns="96906" tIns="48453" rIns="96906" bIns="48453"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Flink CDC</a:t>
            </a:r>
            <a:endParaRPr lang="en-US" sz="1600" dirty="0"/>
          </a:p>
        </p:txBody>
      </p:sp>
      <p:sp>
        <p:nvSpPr>
          <p:cNvPr id="17" name="Shape 15"/>
          <p:cNvSpPr/>
          <p:nvPr/>
        </p:nvSpPr>
        <p:spPr>
          <a:xfrm>
            <a:off x="3711390" y="3591583"/>
            <a:ext cx="169586" cy="169586"/>
          </a:xfrm>
          <a:custGeom>
            <a:avLst/>
            <a:gdLst/>
            <a:ahLst/>
            <a:cxnLst/>
            <a:rect l="l" t="t" r="r" b="b"/>
            <a:pathLst>
              <a:path w="169586" h="169586">
                <a:moveTo>
                  <a:pt x="166472" y="92278"/>
                </a:moveTo>
                <a:cubicBezTo>
                  <a:pt x="170612" y="88138"/>
                  <a:pt x="170612" y="81414"/>
                  <a:pt x="166472" y="77274"/>
                </a:cubicBezTo>
                <a:lnTo>
                  <a:pt x="113477" y="24279"/>
                </a:lnTo>
                <a:cubicBezTo>
                  <a:pt x="109336" y="20138"/>
                  <a:pt x="102613" y="20138"/>
                  <a:pt x="98472" y="24279"/>
                </a:cubicBezTo>
                <a:cubicBezTo>
                  <a:pt x="94332" y="28419"/>
                  <a:pt x="94332" y="35143"/>
                  <a:pt x="98472" y="39283"/>
                </a:cubicBezTo>
                <a:lnTo>
                  <a:pt x="133383" y="74194"/>
                </a:lnTo>
                <a:lnTo>
                  <a:pt x="10599" y="74194"/>
                </a:lnTo>
                <a:cubicBezTo>
                  <a:pt x="4736" y="74194"/>
                  <a:pt x="0" y="78930"/>
                  <a:pt x="0" y="84793"/>
                </a:cubicBezTo>
                <a:cubicBezTo>
                  <a:pt x="0" y="90655"/>
                  <a:pt x="4736" y="95392"/>
                  <a:pt x="10599" y="95392"/>
                </a:cubicBezTo>
                <a:lnTo>
                  <a:pt x="133383" y="95392"/>
                </a:lnTo>
                <a:lnTo>
                  <a:pt x="98472" y="130303"/>
                </a:lnTo>
                <a:cubicBezTo>
                  <a:pt x="94332" y="134443"/>
                  <a:pt x="94332" y="141167"/>
                  <a:pt x="98472" y="145307"/>
                </a:cubicBezTo>
                <a:cubicBezTo>
                  <a:pt x="102613" y="149447"/>
                  <a:pt x="109336" y="149447"/>
                  <a:pt x="113477" y="145307"/>
                </a:cubicBezTo>
                <a:lnTo>
                  <a:pt x="166472" y="92312"/>
                </a:lnTo>
                <a:close/>
              </a:path>
            </a:pathLst>
          </a:custGeom>
          <a:solidFill>
            <a:srgbClr val="4FD1C5"/>
          </a:solidFill>
          <a:ln/>
        </p:spPr>
        <p:txBody>
          <a:bodyPr/>
          <a:lstStyle/>
          <a:p>
            <a:endParaRPr lang="zh-CN" altLang="en-US"/>
          </a:p>
        </p:txBody>
      </p:sp>
      <p:sp>
        <p:nvSpPr>
          <p:cNvPr id="18" name="Shape 16"/>
          <p:cNvSpPr/>
          <p:nvPr/>
        </p:nvSpPr>
        <p:spPr>
          <a:xfrm>
            <a:off x="3996052" y="3506790"/>
            <a:ext cx="944835" cy="339171"/>
          </a:xfrm>
          <a:custGeom>
            <a:avLst/>
            <a:gdLst/>
            <a:ahLst/>
            <a:cxnLst/>
            <a:rect l="l" t="t" r="r" b="b"/>
            <a:pathLst>
              <a:path w="944835" h="339171">
                <a:moveTo>
                  <a:pt x="48454" y="0"/>
                </a:moveTo>
                <a:lnTo>
                  <a:pt x="896381" y="0"/>
                </a:lnTo>
                <a:cubicBezTo>
                  <a:pt x="923141" y="0"/>
                  <a:pt x="944835" y="21694"/>
                  <a:pt x="944835" y="48454"/>
                </a:cubicBezTo>
                <a:lnTo>
                  <a:pt x="944835" y="290717"/>
                </a:lnTo>
                <a:cubicBezTo>
                  <a:pt x="944835" y="317478"/>
                  <a:pt x="923141" y="339171"/>
                  <a:pt x="896381" y="339171"/>
                </a:cubicBezTo>
                <a:lnTo>
                  <a:pt x="48454" y="339171"/>
                </a:lnTo>
                <a:cubicBezTo>
                  <a:pt x="21712" y="339171"/>
                  <a:pt x="0" y="317460"/>
                  <a:pt x="0" y="290717"/>
                </a:cubicBezTo>
                <a:lnTo>
                  <a:pt x="0" y="48454"/>
                </a:lnTo>
                <a:cubicBezTo>
                  <a:pt x="0" y="21694"/>
                  <a:pt x="21694" y="0"/>
                  <a:pt x="48454" y="0"/>
                </a:cubicBezTo>
                <a:close/>
              </a:path>
            </a:pathLst>
          </a:custGeom>
          <a:solidFill>
            <a:srgbClr val="4FD1C5"/>
          </a:solidFill>
          <a:ln/>
        </p:spPr>
        <p:txBody>
          <a:bodyPr/>
          <a:lstStyle/>
          <a:p>
            <a:endParaRPr lang="zh-CN" altLang="en-US"/>
          </a:p>
        </p:txBody>
      </p:sp>
      <p:sp>
        <p:nvSpPr>
          <p:cNvPr id="19" name="Text 17"/>
          <p:cNvSpPr/>
          <p:nvPr/>
        </p:nvSpPr>
        <p:spPr>
          <a:xfrm>
            <a:off x="3996052" y="3506790"/>
            <a:ext cx="1029627" cy="339171"/>
          </a:xfrm>
          <a:prstGeom prst="rect">
            <a:avLst/>
          </a:prstGeom>
          <a:noFill/>
          <a:ln/>
        </p:spPr>
        <p:txBody>
          <a:bodyPr wrap="square" lIns="96906" tIns="48453" rIns="96906" bIns="48453" rtlCol="0" anchor="ctr"/>
          <a:lstStyle/>
          <a:p>
            <a:pPr>
              <a:lnSpc>
                <a:spcPct val="120000"/>
              </a:lnSpc>
            </a:pPr>
            <a:r>
              <a:rPr lang="en-US" sz="1335" b="1" dirty="0">
                <a:solidFill>
                  <a:srgbClr val="1A202C"/>
                </a:solidFill>
                <a:latin typeface="MiSans" pitchFamily="34" charset="0"/>
                <a:ea typeface="MiSans" pitchFamily="34" charset="-122"/>
                <a:cs typeface="MiSans" pitchFamily="34" charset="-120"/>
              </a:rPr>
              <a:t>Iceberg表</a:t>
            </a:r>
            <a:endParaRPr lang="en-US" sz="1600" dirty="0"/>
          </a:p>
        </p:txBody>
      </p:sp>
      <p:sp>
        <p:nvSpPr>
          <p:cNvPr id="20" name="Shape 18"/>
          <p:cNvSpPr/>
          <p:nvPr/>
        </p:nvSpPr>
        <p:spPr>
          <a:xfrm>
            <a:off x="4410050" y="3942867"/>
            <a:ext cx="127189" cy="169586"/>
          </a:xfrm>
          <a:custGeom>
            <a:avLst/>
            <a:gdLst/>
            <a:ahLst/>
            <a:cxnLst/>
            <a:rect l="l" t="t" r="r" b="b"/>
            <a:pathLst>
              <a:path w="127189" h="169586">
                <a:moveTo>
                  <a:pt x="56109" y="166472"/>
                </a:moveTo>
                <a:cubicBezTo>
                  <a:pt x="60249" y="170612"/>
                  <a:pt x="66973" y="170612"/>
                  <a:pt x="71113" y="166472"/>
                </a:cubicBezTo>
                <a:lnTo>
                  <a:pt x="124109" y="113477"/>
                </a:lnTo>
                <a:cubicBezTo>
                  <a:pt x="128249" y="109336"/>
                  <a:pt x="128249" y="102613"/>
                  <a:pt x="124109" y="98472"/>
                </a:cubicBezTo>
                <a:cubicBezTo>
                  <a:pt x="119969" y="94332"/>
                  <a:pt x="113245" y="94332"/>
                  <a:pt x="109105" y="98472"/>
                </a:cubicBezTo>
                <a:lnTo>
                  <a:pt x="74194" y="133383"/>
                </a:lnTo>
                <a:lnTo>
                  <a:pt x="74194" y="10599"/>
                </a:lnTo>
                <a:cubicBezTo>
                  <a:pt x="74194" y="4736"/>
                  <a:pt x="69457" y="0"/>
                  <a:pt x="63595" y="0"/>
                </a:cubicBezTo>
                <a:cubicBezTo>
                  <a:pt x="57732" y="0"/>
                  <a:pt x="52996" y="4736"/>
                  <a:pt x="52996" y="10599"/>
                </a:cubicBezTo>
                <a:lnTo>
                  <a:pt x="52996" y="133383"/>
                </a:lnTo>
                <a:lnTo>
                  <a:pt x="18085" y="98472"/>
                </a:lnTo>
                <a:cubicBezTo>
                  <a:pt x="13944" y="94332"/>
                  <a:pt x="7221" y="94332"/>
                  <a:pt x="3080" y="98472"/>
                </a:cubicBezTo>
                <a:cubicBezTo>
                  <a:pt x="-1060" y="102613"/>
                  <a:pt x="-1060" y="109336"/>
                  <a:pt x="3080" y="113477"/>
                </a:cubicBezTo>
                <a:lnTo>
                  <a:pt x="56076" y="166472"/>
                </a:lnTo>
                <a:close/>
              </a:path>
            </a:pathLst>
          </a:custGeom>
          <a:solidFill>
            <a:srgbClr val="4FD1C5"/>
          </a:solidFill>
          <a:ln/>
        </p:spPr>
        <p:txBody>
          <a:bodyPr/>
          <a:lstStyle/>
          <a:p>
            <a:endParaRPr lang="zh-CN" altLang="en-US"/>
          </a:p>
        </p:txBody>
      </p:sp>
      <p:sp>
        <p:nvSpPr>
          <p:cNvPr id="21" name="Shape 19"/>
          <p:cNvSpPr/>
          <p:nvPr/>
        </p:nvSpPr>
        <p:spPr>
          <a:xfrm>
            <a:off x="3749309" y="4112453"/>
            <a:ext cx="1441478" cy="339171"/>
          </a:xfrm>
          <a:custGeom>
            <a:avLst/>
            <a:gdLst/>
            <a:ahLst/>
            <a:cxnLst/>
            <a:rect l="l" t="t" r="r" b="b"/>
            <a:pathLst>
              <a:path w="1441478" h="339171">
                <a:moveTo>
                  <a:pt x="48454" y="0"/>
                </a:moveTo>
                <a:lnTo>
                  <a:pt x="1393024" y="0"/>
                </a:lnTo>
                <a:cubicBezTo>
                  <a:pt x="1419785" y="0"/>
                  <a:pt x="1441478" y="21694"/>
                  <a:pt x="1441478" y="48454"/>
                </a:cubicBezTo>
                <a:lnTo>
                  <a:pt x="1441478" y="290717"/>
                </a:lnTo>
                <a:cubicBezTo>
                  <a:pt x="1441478" y="317478"/>
                  <a:pt x="1419785" y="339171"/>
                  <a:pt x="1393024" y="339171"/>
                </a:cubicBezTo>
                <a:lnTo>
                  <a:pt x="48454" y="339171"/>
                </a:lnTo>
                <a:cubicBezTo>
                  <a:pt x="21712" y="339171"/>
                  <a:pt x="0" y="317460"/>
                  <a:pt x="0" y="290717"/>
                </a:cubicBezTo>
                <a:lnTo>
                  <a:pt x="0" y="48454"/>
                </a:lnTo>
                <a:cubicBezTo>
                  <a:pt x="0" y="21694"/>
                  <a:pt x="21694" y="0"/>
                  <a:pt x="48454" y="0"/>
                </a:cubicBezTo>
                <a:close/>
              </a:path>
            </a:pathLst>
          </a:custGeom>
          <a:solidFill>
            <a:srgbClr val="4FD1C5">
              <a:alpha val="30196"/>
            </a:srgbClr>
          </a:solidFill>
          <a:ln/>
        </p:spPr>
        <p:txBody>
          <a:bodyPr/>
          <a:lstStyle/>
          <a:p>
            <a:endParaRPr lang="zh-CN" altLang="en-US"/>
          </a:p>
        </p:txBody>
      </p:sp>
      <p:sp>
        <p:nvSpPr>
          <p:cNvPr id="22" name="Text 20"/>
          <p:cNvSpPr/>
          <p:nvPr/>
        </p:nvSpPr>
        <p:spPr>
          <a:xfrm>
            <a:off x="3706913" y="4112453"/>
            <a:ext cx="1526271" cy="339171"/>
          </a:xfrm>
          <a:prstGeom prst="rect">
            <a:avLst/>
          </a:prstGeom>
          <a:noFill/>
          <a:ln/>
        </p:spPr>
        <p:txBody>
          <a:bodyPr wrap="square" lIns="96906" tIns="48453" rIns="96906" bIns="48453" rtlCol="0" anchor="ctr"/>
          <a:lstStyle/>
          <a:p>
            <a:pPr algn="ctr">
              <a:lnSpc>
                <a:spcPct val="120000"/>
              </a:lnSpc>
            </a:pPr>
            <a:r>
              <a:rPr lang="en-US" sz="1335" dirty="0">
                <a:solidFill>
                  <a:srgbClr val="F7FAFC"/>
                </a:solidFill>
                <a:latin typeface="MiSans" pitchFamily="34" charset="0"/>
                <a:ea typeface="MiSans" pitchFamily="34" charset="-122"/>
                <a:cs typeface="MiSans" pitchFamily="34" charset="-120"/>
              </a:rPr>
              <a:t>Trino/Spark查询</a:t>
            </a:r>
            <a:endParaRPr lang="en-US" sz="1600" dirty="0"/>
          </a:p>
        </p:txBody>
      </p:sp>
      <p:sp>
        <p:nvSpPr>
          <p:cNvPr id="23" name="Shape 21"/>
          <p:cNvSpPr/>
          <p:nvPr/>
        </p:nvSpPr>
        <p:spPr>
          <a:xfrm>
            <a:off x="508757" y="5033061"/>
            <a:ext cx="7498110" cy="2737598"/>
          </a:xfrm>
          <a:custGeom>
            <a:avLst/>
            <a:gdLst/>
            <a:ahLst/>
            <a:cxnLst/>
            <a:rect l="l" t="t" r="r" b="b"/>
            <a:pathLst>
              <a:path w="7498110" h="2737598">
                <a:moveTo>
                  <a:pt x="48453" y="0"/>
                </a:moveTo>
                <a:lnTo>
                  <a:pt x="7401199" y="0"/>
                </a:lnTo>
                <a:cubicBezTo>
                  <a:pt x="7454722" y="0"/>
                  <a:pt x="7498110" y="43389"/>
                  <a:pt x="7498110" y="96911"/>
                </a:cubicBezTo>
                <a:lnTo>
                  <a:pt x="7498110" y="2640687"/>
                </a:lnTo>
                <a:cubicBezTo>
                  <a:pt x="7498110" y="2694209"/>
                  <a:pt x="7454722" y="2737598"/>
                  <a:pt x="7401199" y="2737598"/>
                </a:cubicBezTo>
                <a:lnTo>
                  <a:pt x="48453" y="2737598"/>
                </a:lnTo>
                <a:cubicBezTo>
                  <a:pt x="21693" y="2737598"/>
                  <a:pt x="0" y="2715904"/>
                  <a:pt x="0" y="2689145"/>
                </a:cubicBezTo>
                <a:lnTo>
                  <a:pt x="0" y="48453"/>
                </a:lnTo>
                <a:cubicBezTo>
                  <a:pt x="0" y="21711"/>
                  <a:pt x="21711" y="0"/>
                  <a:pt x="48453" y="0"/>
                </a:cubicBezTo>
                <a:close/>
              </a:path>
            </a:pathLst>
          </a:custGeom>
          <a:solidFill>
            <a:srgbClr val="4FD1C5">
              <a:alpha val="10196"/>
            </a:srgbClr>
          </a:solidFill>
          <a:ln/>
        </p:spPr>
        <p:txBody>
          <a:bodyPr/>
          <a:lstStyle/>
          <a:p>
            <a:endParaRPr lang="zh-CN" altLang="en-US"/>
          </a:p>
        </p:txBody>
      </p:sp>
      <p:sp>
        <p:nvSpPr>
          <p:cNvPr id="24" name="Shape 22"/>
          <p:cNvSpPr/>
          <p:nvPr/>
        </p:nvSpPr>
        <p:spPr>
          <a:xfrm>
            <a:off x="508757" y="5033061"/>
            <a:ext cx="48453" cy="2737598"/>
          </a:xfrm>
          <a:custGeom>
            <a:avLst/>
            <a:gdLst/>
            <a:ahLst/>
            <a:cxnLst/>
            <a:rect l="l" t="t" r="r" b="b"/>
            <a:pathLst>
              <a:path w="48453" h="2737598">
                <a:moveTo>
                  <a:pt x="48453" y="0"/>
                </a:moveTo>
                <a:lnTo>
                  <a:pt x="48453" y="0"/>
                </a:lnTo>
                <a:lnTo>
                  <a:pt x="48453" y="2737598"/>
                </a:lnTo>
                <a:lnTo>
                  <a:pt x="48453" y="2737598"/>
                </a:lnTo>
                <a:cubicBezTo>
                  <a:pt x="21693" y="2737598"/>
                  <a:pt x="0" y="2715904"/>
                  <a:pt x="0" y="2689145"/>
                </a:cubicBezTo>
                <a:lnTo>
                  <a:pt x="0" y="48453"/>
                </a:lnTo>
                <a:cubicBezTo>
                  <a:pt x="0" y="21711"/>
                  <a:pt x="21711" y="0"/>
                  <a:pt x="48453" y="0"/>
                </a:cubicBezTo>
                <a:close/>
              </a:path>
            </a:pathLst>
          </a:custGeom>
          <a:solidFill>
            <a:srgbClr val="4FD1C5"/>
          </a:solidFill>
          <a:ln/>
        </p:spPr>
        <p:txBody>
          <a:bodyPr/>
          <a:lstStyle/>
          <a:p>
            <a:endParaRPr lang="zh-CN" altLang="en-US"/>
          </a:p>
        </p:txBody>
      </p:sp>
      <p:sp>
        <p:nvSpPr>
          <p:cNvPr id="25" name="Shape 23"/>
          <p:cNvSpPr/>
          <p:nvPr/>
        </p:nvSpPr>
        <p:spPr>
          <a:xfrm>
            <a:off x="775249" y="5275326"/>
            <a:ext cx="484531" cy="484531"/>
          </a:xfrm>
          <a:custGeom>
            <a:avLst/>
            <a:gdLst/>
            <a:ahLst/>
            <a:cxnLst/>
            <a:rect l="l" t="t" r="r" b="b"/>
            <a:pathLst>
              <a:path w="484531" h="484531">
                <a:moveTo>
                  <a:pt x="96906" y="0"/>
                </a:moveTo>
                <a:lnTo>
                  <a:pt x="387624" y="0"/>
                </a:lnTo>
                <a:cubicBezTo>
                  <a:pt x="441108" y="0"/>
                  <a:pt x="484531" y="43422"/>
                  <a:pt x="484531" y="96906"/>
                </a:cubicBezTo>
                <a:lnTo>
                  <a:pt x="484531" y="387624"/>
                </a:lnTo>
                <a:cubicBezTo>
                  <a:pt x="484531" y="441108"/>
                  <a:pt x="441108" y="484531"/>
                  <a:pt x="387624" y="484531"/>
                </a:cubicBezTo>
                <a:lnTo>
                  <a:pt x="96906" y="484531"/>
                </a:lnTo>
                <a:cubicBezTo>
                  <a:pt x="43422" y="484531"/>
                  <a:pt x="0" y="441108"/>
                  <a:pt x="0" y="387624"/>
                </a:cubicBezTo>
                <a:lnTo>
                  <a:pt x="0" y="96906"/>
                </a:lnTo>
                <a:cubicBezTo>
                  <a:pt x="0" y="43422"/>
                  <a:pt x="43422" y="0"/>
                  <a:pt x="96906" y="0"/>
                </a:cubicBezTo>
                <a:close/>
              </a:path>
            </a:pathLst>
          </a:custGeom>
          <a:solidFill>
            <a:srgbClr val="4FD1C5"/>
          </a:solidFill>
          <a:ln/>
        </p:spPr>
        <p:txBody>
          <a:bodyPr/>
          <a:lstStyle/>
          <a:p>
            <a:endParaRPr lang="zh-CN" altLang="en-US"/>
          </a:p>
        </p:txBody>
      </p:sp>
      <p:sp>
        <p:nvSpPr>
          <p:cNvPr id="26" name="Text 24"/>
          <p:cNvSpPr/>
          <p:nvPr/>
        </p:nvSpPr>
        <p:spPr>
          <a:xfrm>
            <a:off x="956191" y="5348006"/>
            <a:ext cx="230152" cy="339171"/>
          </a:xfrm>
          <a:prstGeom prst="rect">
            <a:avLst/>
          </a:prstGeom>
          <a:noFill/>
          <a:ln/>
        </p:spPr>
        <p:txBody>
          <a:bodyPr wrap="square" lIns="0" tIns="0" rIns="0" bIns="0" rtlCol="0" anchor="ctr"/>
          <a:lstStyle/>
          <a:p>
            <a:pPr>
              <a:lnSpc>
                <a:spcPct val="130000"/>
              </a:lnSpc>
            </a:pPr>
            <a:r>
              <a:rPr lang="en-US" sz="1717" b="1" dirty="0">
                <a:solidFill>
                  <a:srgbClr val="1A202C"/>
                </a:solidFill>
                <a:latin typeface="MiSans" pitchFamily="34" charset="0"/>
                <a:ea typeface="MiSans" pitchFamily="34" charset="-122"/>
                <a:cs typeface="MiSans" pitchFamily="34" charset="-120"/>
              </a:rPr>
              <a:t>2</a:t>
            </a:r>
            <a:endParaRPr lang="en-US" sz="1600" dirty="0"/>
          </a:p>
        </p:txBody>
      </p:sp>
      <p:sp>
        <p:nvSpPr>
          <p:cNvPr id="27" name="Text 25"/>
          <p:cNvSpPr/>
          <p:nvPr/>
        </p:nvSpPr>
        <p:spPr>
          <a:xfrm>
            <a:off x="1405139" y="5348006"/>
            <a:ext cx="1090194" cy="339171"/>
          </a:xfrm>
          <a:prstGeom prst="rect">
            <a:avLst/>
          </a:prstGeom>
          <a:noFill/>
          <a:ln/>
        </p:spPr>
        <p:txBody>
          <a:bodyPr wrap="square" lIns="0" tIns="0" rIns="0" bIns="0" rtlCol="0" anchor="ctr"/>
          <a:lstStyle/>
          <a:p>
            <a:pPr>
              <a:lnSpc>
                <a:spcPct val="120000"/>
              </a:lnSpc>
            </a:pPr>
            <a:r>
              <a:rPr lang="en-US" sz="1908" b="1" dirty="0">
                <a:solidFill>
                  <a:srgbClr val="F7FAFC"/>
                </a:solidFill>
                <a:latin typeface="Noto Sans SC" pitchFamily="34" charset="0"/>
                <a:ea typeface="Noto Sans SC" pitchFamily="34" charset="-122"/>
                <a:cs typeface="Noto Sans SC" pitchFamily="34" charset="-120"/>
              </a:rPr>
              <a:t>流批一体</a:t>
            </a:r>
            <a:endParaRPr lang="en-US" sz="1600" dirty="0"/>
          </a:p>
        </p:txBody>
      </p:sp>
      <p:sp>
        <p:nvSpPr>
          <p:cNvPr id="28" name="Text 26"/>
          <p:cNvSpPr/>
          <p:nvPr/>
        </p:nvSpPr>
        <p:spPr>
          <a:xfrm>
            <a:off x="775249" y="5905216"/>
            <a:ext cx="7074146" cy="557210"/>
          </a:xfrm>
          <a:prstGeom prst="rect">
            <a:avLst/>
          </a:prstGeom>
          <a:noFill/>
          <a:ln/>
        </p:spPr>
        <p:txBody>
          <a:bodyPr wrap="square" lIns="0" tIns="0" rIns="0" bIns="0" rtlCol="0" anchor="ctr"/>
          <a:lstStyle/>
          <a:p>
            <a:pPr>
              <a:lnSpc>
                <a:spcPct val="140000"/>
              </a:lnSpc>
            </a:pPr>
            <a:r>
              <a:rPr lang="en-US" sz="1335" dirty="0">
                <a:solidFill>
                  <a:srgbClr val="A0AEC0"/>
                </a:solidFill>
                <a:latin typeface="MiSans" pitchFamily="34" charset="0"/>
                <a:ea typeface="MiSans" pitchFamily="34" charset="-122"/>
                <a:cs typeface="MiSans" pitchFamily="34" charset="-120"/>
              </a:rPr>
              <a:t>避免离线链路和实时链路各自为政、口径不一致。流任务和批任务共享同一张表,同一套SQL逻辑。</a:t>
            </a:r>
            <a:endParaRPr lang="en-US" sz="1600" dirty="0"/>
          </a:p>
        </p:txBody>
      </p:sp>
      <p:sp>
        <p:nvSpPr>
          <p:cNvPr id="29" name="Shape 27"/>
          <p:cNvSpPr/>
          <p:nvPr/>
        </p:nvSpPr>
        <p:spPr>
          <a:xfrm>
            <a:off x="799475" y="6625955"/>
            <a:ext cx="193812" cy="193812"/>
          </a:xfrm>
          <a:custGeom>
            <a:avLst/>
            <a:gdLst/>
            <a:ahLst/>
            <a:cxnLst/>
            <a:rect l="l" t="t" r="r" b="b"/>
            <a:pathLst>
              <a:path w="193812" h="193812">
                <a:moveTo>
                  <a:pt x="0" y="36340"/>
                </a:moveTo>
                <a:cubicBezTo>
                  <a:pt x="0" y="29640"/>
                  <a:pt x="5413" y="24227"/>
                  <a:pt x="12113" y="24227"/>
                </a:cubicBezTo>
                <a:lnTo>
                  <a:pt x="157472" y="24227"/>
                </a:lnTo>
                <a:cubicBezTo>
                  <a:pt x="164173" y="24227"/>
                  <a:pt x="169586" y="29640"/>
                  <a:pt x="169586" y="36340"/>
                </a:cubicBezTo>
                <a:cubicBezTo>
                  <a:pt x="169586" y="43040"/>
                  <a:pt x="164173" y="48453"/>
                  <a:pt x="157472" y="48453"/>
                </a:cubicBezTo>
                <a:lnTo>
                  <a:pt x="12113" y="48453"/>
                </a:lnTo>
                <a:cubicBezTo>
                  <a:pt x="5413" y="48453"/>
                  <a:pt x="0" y="43040"/>
                  <a:pt x="0" y="36340"/>
                </a:cubicBezTo>
                <a:close/>
                <a:moveTo>
                  <a:pt x="24227" y="96906"/>
                </a:moveTo>
                <a:cubicBezTo>
                  <a:pt x="24227" y="90206"/>
                  <a:pt x="29640" y="84793"/>
                  <a:pt x="36340" y="84793"/>
                </a:cubicBezTo>
                <a:lnTo>
                  <a:pt x="181699" y="84793"/>
                </a:lnTo>
                <a:cubicBezTo>
                  <a:pt x="188399" y="84793"/>
                  <a:pt x="193812" y="90206"/>
                  <a:pt x="193812" y="96906"/>
                </a:cubicBezTo>
                <a:cubicBezTo>
                  <a:pt x="193812" y="103606"/>
                  <a:pt x="188399" y="109019"/>
                  <a:pt x="181699" y="109019"/>
                </a:cubicBezTo>
                <a:lnTo>
                  <a:pt x="36340" y="109019"/>
                </a:lnTo>
                <a:cubicBezTo>
                  <a:pt x="29640" y="109019"/>
                  <a:pt x="24227" y="103606"/>
                  <a:pt x="24227" y="96906"/>
                </a:cubicBezTo>
                <a:close/>
                <a:moveTo>
                  <a:pt x="169586" y="157472"/>
                </a:moveTo>
                <a:cubicBezTo>
                  <a:pt x="169586" y="164173"/>
                  <a:pt x="164173" y="169586"/>
                  <a:pt x="157472" y="169586"/>
                </a:cubicBezTo>
                <a:lnTo>
                  <a:pt x="12113" y="169586"/>
                </a:lnTo>
                <a:cubicBezTo>
                  <a:pt x="5413" y="169586"/>
                  <a:pt x="0" y="164173"/>
                  <a:pt x="0" y="157472"/>
                </a:cubicBezTo>
                <a:cubicBezTo>
                  <a:pt x="0" y="150772"/>
                  <a:pt x="5413" y="145359"/>
                  <a:pt x="12113" y="145359"/>
                </a:cubicBezTo>
                <a:lnTo>
                  <a:pt x="157472" y="145359"/>
                </a:lnTo>
                <a:cubicBezTo>
                  <a:pt x="164173" y="145359"/>
                  <a:pt x="169586" y="150772"/>
                  <a:pt x="169586" y="157472"/>
                </a:cubicBezTo>
                <a:close/>
              </a:path>
            </a:pathLst>
          </a:custGeom>
          <a:solidFill>
            <a:srgbClr val="4FD1C5"/>
          </a:solidFill>
          <a:ln/>
        </p:spPr>
        <p:txBody>
          <a:bodyPr/>
          <a:lstStyle/>
          <a:p>
            <a:endParaRPr lang="zh-CN" altLang="en-US"/>
          </a:p>
        </p:txBody>
      </p:sp>
      <p:sp>
        <p:nvSpPr>
          <p:cNvPr id="30" name="Text 28"/>
          <p:cNvSpPr/>
          <p:nvPr/>
        </p:nvSpPr>
        <p:spPr>
          <a:xfrm>
            <a:off x="1114420" y="6601729"/>
            <a:ext cx="2652805"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Flink流任务实时写入最新对账结果</a:t>
            </a:r>
            <a:endParaRPr lang="en-US" sz="1600" dirty="0"/>
          </a:p>
        </p:txBody>
      </p:sp>
      <p:sp>
        <p:nvSpPr>
          <p:cNvPr id="31" name="Shape 29"/>
          <p:cNvSpPr/>
          <p:nvPr/>
        </p:nvSpPr>
        <p:spPr>
          <a:xfrm>
            <a:off x="811589" y="6965127"/>
            <a:ext cx="169586" cy="193812"/>
          </a:xfrm>
          <a:custGeom>
            <a:avLst/>
            <a:gdLst/>
            <a:ahLst/>
            <a:cxnLst/>
            <a:rect l="l" t="t" r="r" b="b"/>
            <a:pathLst>
              <a:path w="169586" h="193812">
                <a:moveTo>
                  <a:pt x="169586" y="77903"/>
                </a:moveTo>
                <a:cubicBezTo>
                  <a:pt x="163983" y="81613"/>
                  <a:pt x="157548" y="84604"/>
                  <a:pt x="150848" y="86988"/>
                </a:cubicBezTo>
                <a:cubicBezTo>
                  <a:pt x="133057" y="93348"/>
                  <a:pt x="109701" y="96906"/>
                  <a:pt x="84793" y="96906"/>
                </a:cubicBezTo>
                <a:cubicBezTo>
                  <a:pt x="59885" y="96906"/>
                  <a:pt x="36491" y="93310"/>
                  <a:pt x="18738" y="86988"/>
                </a:cubicBezTo>
                <a:cubicBezTo>
                  <a:pt x="12075" y="84604"/>
                  <a:pt x="5602" y="81613"/>
                  <a:pt x="0" y="77903"/>
                </a:cubicBezTo>
                <a:lnTo>
                  <a:pt x="0" y="109019"/>
                </a:lnTo>
                <a:cubicBezTo>
                  <a:pt x="0" y="125751"/>
                  <a:pt x="37968" y="139303"/>
                  <a:pt x="84793" y="139303"/>
                </a:cubicBezTo>
                <a:cubicBezTo>
                  <a:pt x="131618" y="139303"/>
                  <a:pt x="169586" y="125751"/>
                  <a:pt x="169586" y="109019"/>
                </a:cubicBezTo>
                <a:lnTo>
                  <a:pt x="169586" y="77903"/>
                </a:lnTo>
                <a:close/>
                <a:moveTo>
                  <a:pt x="169586" y="48453"/>
                </a:moveTo>
                <a:lnTo>
                  <a:pt x="169586" y="30283"/>
                </a:lnTo>
                <a:cubicBezTo>
                  <a:pt x="169586" y="13552"/>
                  <a:pt x="131618" y="0"/>
                  <a:pt x="84793" y="0"/>
                </a:cubicBezTo>
                <a:cubicBezTo>
                  <a:pt x="37968" y="0"/>
                  <a:pt x="0" y="13552"/>
                  <a:pt x="0" y="30283"/>
                </a:cubicBezTo>
                <a:lnTo>
                  <a:pt x="0" y="48453"/>
                </a:lnTo>
                <a:cubicBezTo>
                  <a:pt x="0" y="65185"/>
                  <a:pt x="37968" y="78736"/>
                  <a:pt x="84793" y="78736"/>
                </a:cubicBezTo>
                <a:cubicBezTo>
                  <a:pt x="131618" y="78736"/>
                  <a:pt x="169586" y="65185"/>
                  <a:pt x="169586" y="48453"/>
                </a:cubicBezTo>
                <a:close/>
                <a:moveTo>
                  <a:pt x="150848" y="147555"/>
                </a:moveTo>
                <a:cubicBezTo>
                  <a:pt x="133094" y="153876"/>
                  <a:pt x="109739" y="157472"/>
                  <a:pt x="84793" y="157472"/>
                </a:cubicBezTo>
                <a:cubicBezTo>
                  <a:pt x="59847" y="157472"/>
                  <a:pt x="36491" y="153876"/>
                  <a:pt x="18738" y="147555"/>
                </a:cubicBezTo>
                <a:cubicBezTo>
                  <a:pt x="12075" y="145170"/>
                  <a:pt x="5602" y="142179"/>
                  <a:pt x="0" y="138470"/>
                </a:cubicBezTo>
                <a:lnTo>
                  <a:pt x="0" y="163529"/>
                </a:lnTo>
                <a:cubicBezTo>
                  <a:pt x="0" y="180261"/>
                  <a:pt x="37968" y="193812"/>
                  <a:pt x="84793" y="193812"/>
                </a:cubicBezTo>
                <a:cubicBezTo>
                  <a:pt x="131618" y="193812"/>
                  <a:pt x="169586" y="180261"/>
                  <a:pt x="169586" y="163529"/>
                </a:cubicBezTo>
                <a:lnTo>
                  <a:pt x="169586" y="138470"/>
                </a:lnTo>
                <a:cubicBezTo>
                  <a:pt x="163983" y="142179"/>
                  <a:pt x="157548" y="145170"/>
                  <a:pt x="150848" y="147555"/>
                </a:cubicBezTo>
                <a:close/>
              </a:path>
            </a:pathLst>
          </a:custGeom>
          <a:solidFill>
            <a:srgbClr val="4FD1C5"/>
          </a:solidFill>
          <a:ln/>
        </p:spPr>
        <p:txBody>
          <a:bodyPr/>
          <a:lstStyle/>
          <a:p>
            <a:endParaRPr lang="zh-CN" altLang="en-US"/>
          </a:p>
        </p:txBody>
      </p:sp>
      <p:sp>
        <p:nvSpPr>
          <p:cNvPr id="32" name="Text 30"/>
          <p:cNvSpPr/>
          <p:nvPr/>
        </p:nvSpPr>
        <p:spPr>
          <a:xfrm>
            <a:off x="1114420" y="6940900"/>
            <a:ext cx="2568012"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Spark批任务日终汇总与历史分析</a:t>
            </a:r>
            <a:endParaRPr lang="en-US" sz="1600" dirty="0"/>
          </a:p>
        </p:txBody>
      </p:sp>
      <p:sp>
        <p:nvSpPr>
          <p:cNvPr id="33" name="Shape 31"/>
          <p:cNvSpPr/>
          <p:nvPr/>
        </p:nvSpPr>
        <p:spPr>
          <a:xfrm>
            <a:off x="823702" y="7304298"/>
            <a:ext cx="145359" cy="193812"/>
          </a:xfrm>
          <a:custGeom>
            <a:avLst/>
            <a:gdLst/>
            <a:ahLst/>
            <a:cxnLst/>
            <a:rect l="l" t="t" r="r" b="b"/>
            <a:pathLst>
              <a:path w="145359" h="193812">
                <a:moveTo>
                  <a:pt x="94597" y="25286"/>
                </a:moveTo>
                <a:cubicBezTo>
                  <a:pt x="98534" y="19873"/>
                  <a:pt x="97323" y="12303"/>
                  <a:pt x="91909" y="8366"/>
                </a:cubicBezTo>
                <a:cubicBezTo>
                  <a:pt x="86496" y="4429"/>
                  <a:pt x="78925" y="5640"/>
                  <a:pt x="74989" y="11053"/>
                </a:cubicBezTo>
                <a:lnTo>
                  <a:pt x="34863" y="66207"/>
                </a:lnTo>
                <a:lnTo>
                  <a:pt x="20668" y="52011"/>
                </a:lnTo>
                <a:cubicBezTo>
                  <a:pt x="15937" y="47280"/>
                  <a:pt x="8252" y="47280"/>
                  <a:pt x="3520" y="52011"/>
                </a:cubicBezTo>
                <a:cubicBezTo>
                  <a:pt x="-1211" y="56743"/>
                  <a:pt x="-1211" y="64427"/>
                  <a:pt x="3520" y="69159"/>
                </a:cubicBezTo>
                <a:lnTo>
                  <a:pt x="27747" y="93386"/>
                </a:lnTo>
                <a:cubicBezTo>
                  <a:pt x="30245" y="95884"/>
                  <a:pt x="33728" y="97171"/>
                  <a:pt x="37248" y="96906"/>
                </a:cubicBezTo>
                <a:cubicBezTo>
                  <a:pt x="40769" y="96641"/>
                  <a:pt x="44024" y="94824"/>
                  <a:pt x="46106" y="91947"/>
                </a:cubicBezTo>
                <a:lnTo>
                  <a:pt x="94559" y="25324"/>
                </a:lnTo>
                <a:close/>
                <a:moveTo>
                  <a:pt x="143050" y="76768"/>
                </a:moveTo>
                <a:cubicBezTo>
                  <a:pt x="146987" y="71355"/>
                  <a:pt x="145776" y="63784"/>
                  <a:pt x="140362" y="59847"/>
                </a:cubicBezTo>
                <a:cubicBezTo>
                  <a:pt x="134949" y="55910"/>
                  <a:pt x="127379" y="57122"/>
                  <a:pt x="123442" y="62535"/>
                </a:cubicBezTo>
                <a:lnTo>
                  <a:pt x="59090" y="150999"/>
                </a:lnTo>
                <a:lnTo>
                  <a:pt x="32782" y="124691"/>
                </a:lnTo>
                <a:cubicBezTo>
                  <a:pt x="28050" y="119959"/>
                  <a:pt x="20365" y="119959"/>
                  <a:pt x="15634" y="124691"/>
                </a:cubicBezTo>
                <a:cubicBezTo>
                  <a:pt x="10902" y="129423"/>
                  <a:pt x="10902" y="137107"/>
                  <a:pt x="15634" y="141839"/>
                </a:cubicBezTo>
                <a:lnTo>
                  <a:pt x="51973" y="178179"/>
                </a:lnTo>
                <a:cubicBezTo>
                  <a:pt x="54472" y="180677"/>
                  <a:pt x="57954" y="181964"/>
                  <a:pt x="61475" y="181699"/>
                </a:cubicBezTo>
                <a:cubicBezTo>
                  <a:pt x="64995" y="181434"/>
                  <a:pt x="68251" y="179617"/>
                  <a:pt x="70333" y="176740"/>
                </a:cubicBezTo>
                <a:lnTo>
                  <a:pt x="143012" y="76806"/>
                </a:lnTo>
                <a:close/>
              </a:path>
            </a:pathLst>
          </a:custGeom>
          <a:solidFill>
            <a:srgbClr val="4FD1C5"/>
          </a:solidFill>
          <a:ln/>
        </p:spPr>
        <p:txBody>
          <a:bodyPr/>
          <a:lstStyle/>
          <a:p>
            <a:endParaRPr lang="zh-CN" altLang="en-US"/>
          </a:p>
        </p:txBody>
      </p:sp>
      <p:sp>
        <p:nvSpPr>
          <p:cNvPr id="34" name="Text 32"/>
          <p:cNvSpPr/>
          <p:nvPr/>
        </p:nvSpPr>
        <p:spPr>
          <a:xfrm>
            <a:off x="1114420" y="7280072"/>
            <a:ext cx="2458993"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共享同一张表和同一套指标定义</a:t>
            </a:r>
            <a:endParaRPr lang="en-US" sz="1600" dirty="0"/>
          </a:p>
        </p:txBody>
      </p:sp>
      <p:sp>
        <p:nvSpPr>
          <p:cNvPr id="35" name="Shape 33"/>
          <p:cNvSpPr/>
          <p:nvPr/>
        </p:nvSpPr>
        <p:spPr>
          <a:xfrm>
            <a:off x="8250458" y="1792763"/>
            <a:ext cx="7522337" cy="2458993"/>
          </a:xfrm>
          <a:custGeom>
            <a:avLst/>
            <a:gdLst/>
            <a:ahLst/>
            <a:cxnLst/>
            <a:rect l="l" t="t" r="r" b="b"/>
            <a:pathLst>
              <a:path w="7522337" h="2458993">
                <a:moveTo>
                  <a:pt x="96909" y="0"/>
                </a:moveTo>
                <a:lnTo>
                  <a:pt x="7425428" y="0"/>
                </a:lnTo>
                <a:cubicBezTo>
                  <a:pt x="7478949" y="0"/>
                  <a:pt x="7522337" y="43388"/>
                  <a:pt x="7522337" y="96909"/>
                </a:cubicBezTo>
                <a:lnTo>
                  <a:pt x="7522337" y="2362084"/>
                </a:lnTo>
                <a:cubicBezTo>
                  <a:pt x="7522337" y="2415605"/>
                  <a:pt x="7478949" y="2458993"/>
                  <a:pt x="7425428" y="2458993"/>
                </a:cubicBezTo>
                <a:lnTo>
                  <a:pt x="96909" y="2458993"/>
                </a:lnTo>
                <a:cubicBezTo>
                  <a:pt x="43388" y="2458993"/>
                  <a:pt x="0" y="2415605"/>
                  <a:pt x="0" y="2362084"/>
                </a:cubicBezTo>
                <a:lnTo>
                  <a:pt x="0" y="96909"/>
                </a:lnTo>
                <a:cubicBezTo>
                  <a:pt x="0" y="43388"/>
                  <a:pt x="43388" y="0"/>
                  <a:pt x="96909" y="0"/>
                </a:cubicBezTo>
                <a:close/>
              </a:path>
            </a:pathLst>
          </a:custGeom>
          <a:solidFill>
            <a:srgbClr val="4A5568">
              <a:alpha val="30196"/>
            </a:srgbClr>
          </a:solidFill>
          <a:ln/>
        </p:spPr>
        <p:txBody>
          <a:bodyPr/>
          <a:lstStyle/>
          <a:p>
            <a:endParaRPr lang="zh-CN" altLang="en-US"/>
          </a:p>
        </p:txBody>
      </p:sp>
      <p:sp>
        <p:nvSpPr>
          <p:cNvPr id="36" name="Shape 34"/>
          <p:cNvSpPr/>
          <p:nvPr/>
        </p:nvSpPr>
        <p:spPr>
          <a:xfrm>
            <a:off x="8492723" y="2035028"/>
            <a:ext cx="484531" cy="484531"/>
          </a:xfrm>
          <a:custGeom>
            <a:avLst/>
            <a:gdLst/>
            <a:ahLst/>
            <a:cxnLst/>
            <a:rect l="l" t="t" r="r" b="b"/>
            <a:pathLst>
              <a:path w="484531" h="484531">
                <a:moveTo>
                  <a:pt x="96906" y="0"/>
                </a:moveTo>
                <a:lnTo>
                  <a:pt x="387624" y="0"/>
                </a:lnTo>
                <a:cubicBezTo>
                  <a:pt x="441108" y="0"/>
                  <a:pt x="484531" y="43422"/>
                  <a:pt x="484531" y="96906"/>
                </a:cubicBezTo>
                <a:lnTo>
                  <a:pt x="484531" y="387624"/>
                </a:lnTo>
                <a:cubicBezTo>
                  <a:pt x="484531" y="441108"/>
                  <a:pt x="441108" y="484531"/>
                  <a:pt x="387624" y="484531"/>
                </a:cubicBezTo>
                <a:lnTo>
                  <a:pt x="96906" y="484531"/>
                </a:lnTo>
                <a:cubicBezTo>
                  <a:pt x="43422" y="484531"/>
                  <a:pt x="0" y="441108"/>
                  <a:pt x="0" y="387624"/>
                </a:cubicBezTo>
                <a:lnTo>
                  <a:pt x="0" y="96906"/>
                </a:lnTo>
                <a:cubicBezTo>
                  <a:pt x="0" y="43422"/>
                  <a:pt x="43422" y="0"/>
                  <a:pt x="96906" y="0"/>
                </a:cubicBezTo>
                <a:close/>
              </a:path>
            </a:pathLst>
          </a:custGeom>
          <a:solidFill>
            <a:srgbClr val="4FD1C5"/>
          </a:solidFill>
          <a:ln/>
        </p:spPr>
        <p:txBody>
          <a:bodyPr/>
          <a:lstStyle/>
          <a:p>
            <a:endParaRPr lang="zh-CN" altLang="en-US"/>
          </a:p>
        </p:txBody>
      </p:sp>
      <p:sp>
        <p:nvSpPr>
          <p:cNvPr id="37" name="Text 35"/>
          <p:cNvSpPr/>
          <p:nvPr/>
        </p:nvSpPr>
        <p:spPr>
          <a:xfrm>
            <a:off x="8670826" y="2107708"/>
            <a:ext cx="242265" cy="339171"/>
          </a:xfrm>
          <a:prstGeom prst="rect">
            <a:avLst/>
          </a:prstGeom>
          <a:noFill/>
          <a:ln/>
        </p:spPr>
        <p:txBody>
          <a:bodyPr wrap="square" lIns="0" tIns="0" rIns="0" bIns="0" rtlCol="0" anchor="ctr"/>
          <a:lstStyle/>
          <a:p>
            <a:pPr>
              <a:lnSpc>
                <a:spcPct val="130000"/>
              </a:lnSpc>
            </a:pPr>
            <a:r>
              <a:rPr lang="en-US" sz="1717" b="1" dirty="0">
                <a:solidFill>
                  <a:srgbClr val="1A202C"/>
                </a:solidFill>
                <a:latin typeface="MiSans" pitchFamily="34" charset="0"/>
                <a:ea typeface="MiSans" pitchFamily="34" charset="-122"/>
                <a:cs typeface="MiSans" pitchFamily="34" charset="-120"/>
              </a:rPr>
              <a:t>3</a:t>
            </a:r>
            <a:endParaRPr lang="en-US" sz="1600" dirty="0"/>
          </a:p>
        </p:txBody>
      </p:sp>
      <p:sp>
        <p:nvSpPr>
          <p:cNvPr id="38" name="Text 36"/>
          <p:cNvSpPr/>
          <p:nvPr/>
        </p:nvSpPr>
        <p:spPr>
          <a:xfrm>
            <a:off x="9122613" y="2107708"/>
            <a:ext cx="2301520" cy="339171"/>
          </a:xfrm>
          <a:prstGeom prst="rect">
            <a:avLst/>
          </a:prstGeom>
          <a:noFill/>
          <a:ln/>
        </p:spPr>
        <p:txBody>
          <a:bodyPr wrap="square" lIns="0" tIns="0" rIns="0" bIns="0" rtlCol="0" anchor="ctr"/>
          <a:lstStyle/>
          <a:p>
            <a:pPr>
              <a:lnSpc>
                <a:spcPct val="120000"/>
              </a:lnSpc>
            </a:pPr>
            <a:r>
              <a:rPr lang="en-US" sz="1908" b="1" dirty="0">
                <a:solidFill>
                  <a:srgbClr val="F7FAFC"/>
                </a:solidFill>
                <a:latin typeface="Noto Sans SC" pitchFamily="34" charset="0"/>
                <a:ea typeface="Noto Sans SC" pitchFamily="34" charset="-122"/>
                <a:cs typeface="Noto Sans SC" pitchFamily="34" charset="-120"/>
              </a:rPr>
              <a:t>历史数据修正与合规</a:t>
            </a:r>
            <a:endParaRPr lang="en-US" sz="1600" dirty="0"/>
          </a:p>
        </p:txBody>
      </p:sp>
      <p:sp>
        <p:nvSpPr>
          <p:cNvPr id="39" name="Text 37"/>
          <p:cNvSpPr/>
          <p:nvPr/>
        </p:nvSpPr>
        <p:spPr>
          <a:xfrm>
            <a:off x="8492723" y="2664918"/>
            <a:ext cx="7122599" cy="278605"/>
          </a:xfrm>
          <a:prstGeom prst="rect">
            <a:avLst/>
          </a:prstGeom>
          <a:noFill/>
          <a:ln/>
        </p:spPr>
        <p:txBody>
          <a:bodyPr wrap="square" lIns="0" tIns="0" rIns="0" bIns="0" rtlCol="0" anchor="ctr"/>
          <a:lstStyle/>
          <a:p>
            <a:pPr>
              <a:lnSpc>
                <a:spcPct val="140000"/>
              </a:lnSpc>
            </a:pPr>
            <a:r>
              <a:rPr lang="en-US" sz="1335" dirty="0">
                <a:solidFill>
                  <a:srgbClr val="A0AEC0"/>
                </a:solidFill>
                <a:latin typeface="MiSans" pitchFamily="34" charset="0"/>
                <a:ea typeface="MiSans" pitchFamily="34" charset="-122"/>
                <a:cs typeface="MiSans" pitchFamily="34" charset="-120"/>
              </a:rPr>
              <a:t>在不重写整库的前提下,精确修正历史数据并满足合规要求。</a:t>
            </a:r>
            <a:endParaRPr lang="en-US" sz="1600" dirty="0"/>
          </a:p>
        </p:txBody>
      </p:sp>
      <p:sp>
        <p:nvSpPr>
          <p:cNvPr id="40" name="Shape 38"/>
          <p:cNvSpPr/>
          <p:nvPr/>
        </p:nvSpPr>
        <p:spPr>
          <a:xfrm>
            <a:off x="8516949" y="3110080"/>
            <a:ext cx="193812" cy="193812"/>
          </a:xfrm>
          <a:custGeom>
            <a:avLst/>
            <a:gdLst/>
            <a:ahLst/>
            <a:cxnLst/>
            <a:rect l="l" t="t" r="r" b="b"/>
            <a:pathLst>
              <a:path w="193812" h="193812">
                <a:moveTo>
                  <a:pt x="178519" y="8214"/>
                </a:moveTo>
                <a:cubicBezTo>
                  <a:pt x="170229" y="-76"/>
                  <a:pt x="156829" y="-76"/>
                  <a:pt x="148539" y="8214"/>
                </a:cubicBezTo>
                <a:lnTo>
                  <a:pt x="139303" y="17451"/>
                </a:lnTo>
                <a:lnTo>
                  <a:pt x="176362" y="54510"/>
                </a:lnTo>
                <a:lnTo>
                  <a:pt x="185598" y="45273"/>
                </a:lnTo>
                <a:cubicBezTo>
                  <a:pt x="193888" y="36983"/>
                  <a:pt x="193888" y="23583"/>
                  <a:pt x="185598" y="15293"/>
                </a:cubicBezTo>
                <a:lnTo>
                  <a:pt x="178519" y="8214"/>
                </a:lnTo>
                <a:close/>
                <a:moveTo>
                  <a:pt x="65260" y="91493"/>
                </a:moveTo>
                <a:cubicBezTo>
                  <a:pt x="62951" y="93802"/>
                  <a:pt x="61172" y="96641"/>
                  <a:pt x="60150" y="99783"/>
                </a:cubicBezTo>
                <a:lnTo>
                  <a:pt x="48945" y="133397"/>
                </a:lnTo>
                <a:cubicBezTo>
                  <a:pt x="47847" y="136653"/>
                  <a:pt x="48718" y="140249"/>
                  <a:pt x="51141" y="142709"/>
                </a:cubicBezTo>
                <a:cubicBezTo>
                  <a:pt x="53563" y="145170"/>
                  <a:pt x="57159" y="146003"/>
                  <a:pt x="60453" y="144905"/>
                </a:cubicBezTo>
                <a:lnTo>
                  <a:pt x="94067" y="133700"/>
                </a:lnTo>
                <a:cubicBezTo>
                  <a:pt x="97171" y="132678"/>
                  <a:pt x="100010" y="130899"/>
                  <a:pt x="102357" y="128590"/>
                </a:cubicBezTo>
                <a:lnTo>
                  <a:pt x="163529" y="67342"/>
                </a:lnTo>
                <a:lnTo>
                  <a:pt x="126470" y="30283"/>
                </a:lnTo>
                <a:lnTo>
                  <a:pt x="65260" y="91493"/>
                </a:lnTo>
                <a:close/>
                <a:moveTo>
                  <a:pt x="36340" y="24227"/>
                </a:moveTo>
                <a:cubicBezTo>
                  <a:pt x="16277" y="24227"/>
                  <a:pt x="0" y="40504"/>
                  <a:pt x="0" y="60566"/>
                </a:cubicBezTo>
                <a:lnTo>
                  <a:pt x="0" y="157472"/>
                </a:lnTo>
                <a:cubicBezTo>
                  <a:pt x="0" y="177535"/>
                  <a:pt x="16277" y="193812"/>
                  <a:pt x="36340" y="193812"/>
                </a:cubicBezTo>
                <a:lnTo>
                  <a:pt x="133246" y="193812"/>
                </a:lnTo>
                <a:cubicBezTo>
                  <a:pt x="153308" y="193812"/>
                  <a:pt x="169586" y="177535"/>
                  <a:pt x="169586" y="157472"/>
                </a:cubicBezTo>
                <a:lnTo>
                  <a:pt x="169586" y="121133"/>
                </a:lnTo>
                <a:cubicBezTo>
                  <a:pt x="169586" y="114432"/>
                  <a:pt x="164173" y="109019"/>
                  <a:pt x="157472" y="109019"/>
                </a:cubicBezTo>
                <a:cubicBezTo>
                  <a:pt x="150772" y="109019"/>
                  <a:pt x="145359" y="114432"/>
                  <a:pt x="145359" y="121133"/>
                </a:cubicBezTo>
                <a:lnTo>
                  <a:pt x="145359" y="157472"/>
                </a:lnTo>
                <a:cubicBezTo>
                  <a:pt x="145359" y="164173"/>
                  <a:pt x="139946" y="169586"/>
                  <a:pt x="133246" y="169586"/>
                </a:cubicBezTo>
                <a:lnTo>
                  <a:pt x="36340" y="169586"/>
                </a:lnTo>
                <a:cubicBezTo>
                  <a:pt x="29640" y="169586"/>
                  <a:pt x="24227" y="164173"/>
                  <a:pt x="24227" y="157472"/>
                </a:cubicBezTo>
                <a:lnTo>
                  <a:pt x="24227" y="60566"/>
                </a:lnTo>
                <a:cubicBezTo>
                  <a:pt x="24227" y="53866"/>
                  <a:pt x="29640" y="48453"/>
                  <a:pt x="36340" y="48453"/>
                </a:cubicBezTo>
                <a:lnTo>
                  <a:pt x="72680" y="48453"/>
                </a:lnTo>
                <a:cubicBezTo>
                  <a:pt x="79380" y="48453"/>
                  <a:pt x="84793" y="43040"/>
                  <a:pt x="84793" y="36340"/>
                </a:cubicBezTo>
                <a:cubicBezTo>
                  <a:pt x="84793" y="29640"/>
                  <a:pt x="79380" y="24227"/>
                  <a:pt x="72680" y="24227"/>
                </a:cubicBezTo>
                <a:lnTo>
                  <a:pt x="36340" y="24227"/>
                </a:lnTo>
                <a:close/>
              </a:path>
            </a:pathLst>
          </a:custGeom>
          <a:solidFill>
            <a:srgbClr val="4FD1C5"/>
          </a:solidFill>
          <a:ln/>
        </p:spPr>
        <p:txBody>
          <a:bodyPr/>
          <a:lstStyle/>
          <a:p>
            <a:endParaRPr lang="zh-CN" altLang="en-US"/>
          </a:p>
        </p:txBody>
      </p:sp>
      <p:sp>
        <p:nvSpPr>
          <p:cNvPr id="41" name="Text 39"/>
          <p:cNvSpPr/>
          <p:nvPr/>
        </p:nvSpPr>
        <p:spPr>
          <a:xfrm>
            <a:off x="8831894" y="3085854"/>
            <a:ext cx="3149449"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使用MERGE INTO精准修正历史分区数据</a:t>
            </a:r>
            <a:endParaRPr lang="en-US" sz="1600" dirty="0"/>
          </a:p>
        </p:txBody>
      </p:sp>
      <p:sp>
        <p:nvSpPr>
          <p:cNvPr id="42" name="Shape 40"/>
          <p:cNvSpPr/>
          <p:nvPr/>
        </p:nvSpPr>
        <p:spPr>
          <a:xfrm>
            <a:off x="8504836" y="3449252"/>
            <a:ext cx="218039" cy="193812"/>
          </a:xfrm>
          <a:custGeom>
            <a:avLst/>
            <a:gdLst/>
            <a:ahLst/>
            <a:cxnLst/>
            <a:rect l="l" t="t" r="r" b="b"/>
            <a:pathLst>
              <a:path w="218039" h="193812">
                <a:moveTo>
                  <a:pt x="109019" y="24227"/>
                </a:moveTo>
                <a:cubicBezTo>
                  <a:pt x="149145" y="24227"/>
                  <a:pt x="181699" y="56781"/>
                  <a:pt x="181699" y="96906"/>
                </a:cubicBezTo>
                <a:cubicBezTo>
                  <a:pt x="181699" y="137031"/>
                  <a:pt x="149145" y="169586"/>
                  <a:pt x="109019" y="169586"/>
                </a:cubicBezTo>
                <a:cubicBezTo>
                  <a:pt x="84339" y="169586"/>
                  <a:pt x="62497" y="157283"/>
                  <a:pt x="49362" y="138432"/>
                </a:cubicBezTo>
                <a:cubicBezTo>
                  <a:pt x="45538" y="132943"/>
                  <a:pt x="37968" y="131618"/>
                  <a:pt x="32479" y="135441"/>
                </a:cubicBezTo>
                <a:cubicBezTo>
                  <a:pt x="26990" y="139265"/>
                  <a:pt x="25665" y="146835"/>
                  <a:pt x="29488" y="152324"/>
                </a:cubicBezTo>
                <a:cubicBezTo>
                  <a:pt x="46977" y="177384"/>
                  <a:pt x="76086" y="193812"/>
                  <a:pt x="109019" y="193812"/>
                </a:cubicBezTo>
                <a:cubicBezTo>
                  <a:pt x="162545" y="193812"/>
                  <a:pt x="205925" y="150432"/>
                  <a:pt x="205925" y="96906"/>
                </a:cubicBezTo>
                <a:cubicBezTo>
                  <a:pt x="205925" y="43381"/>
                  <a:pt x="162545" y="0"/>
                  <a:pt x="109019" y="0"/>
                </a:cubicBezTo>
                <a:cubicBezTo>
                  <a:pt x="76579" y="0"/>
                  <a:pt x="47885" y="15937"/>
                  <a:pt x="30283" y="40390"/>
                </a:cubicBezTo>
                <a:lnTo>
                  <a:pt x="30283" y="30283"/>
                </a:lnTo>
                <a:cubicBezTo>
                  <a:pt x="30283" y="23583"/>
                  <a:pt x="24870" y="18170"/>
                  <a:pt x="18170" y="18170"/>
                </a:cubicBezTo>
                <a:cubicBezTo>
                  <a:pt x="11470" y="18170"/>
                  <a:pt x="6057" y="23583"/>
                  <a:pt x="6057" y="30283"/>
                </a:cubicBezTo>
                <a:lnTo>
                  <a:pt x="6057" y="72680"/>
                </a:lnTo>
                <a:cubicBezTo>
                  <a:pt x="6057" y="79380"/>
                  <a:pt x="11470" y="84793"/>
                  <a:pt x="18170" y="84793"/>
                </a:cubicBezTo>
                <a:lnTo>
                  <a:pt x="27482" y="84793"/>
                </a:lnTo>
                <a:cubicBezTo>
                  <a:pt x="27671" y="84793"/>
                  <a:pt x="27861" y="84793"/>
                  <a:pt x="28050" y="84793"/>
                </a:cubicBezTo>
                <a:lnTo>
                  <a:pt x="60604" y="84793"/>
                </a:lnTo>
                <a:cubicBezTo>
                  <a:pt x="67304" y="84793"/>
                  <a:pt x="72717" y="79380"/>
                  <a:pt x="72717" y="72680"/>
                </a:cubicBezTo>
                <a:cubicBezTo>
                  <a:pt x="72717" y="65979"/>
                  <a:pt x="67304" y="60566"/>
                  <a:pt x="60604" y="60566"/>
                </a:cubicBezTo>
                <a:lnTo>
                  <a:pt x="46106" y="60566"/>
                </a:lnTo>
                <a:cubicBezTo>
                  <a:pt x="58636" y="38838"/>
                  <a:pt x="82143" y="24227"/>
                  <a:pt x="109019" y="24227"/>
                </a:cubicBezTo>
                <a:close/>
                <a:moveTo>
                  <a:pt x="118104" y="57538"/>
                </a:moveTo>
                <a:cubicBezTo>
                  <a:pt x="118104" y="52503"/>
                  <a:pt x="114054" y="48453"/>
                  <a:pt x="109019" y="48453"/>
                </a:cubicBezTo>
                <a:cubicBezTo>
                  <a:pt x="103985" y="48453"/>
                  <a:pt x="99934" y="52503"/>
                  <a:pt x="99934" y="57538"/>
                </a:cubicBezTo>
                <a:lnTo>
                  <a:pt x="99934" y="96906"/>
                </a:lnTo>
                <a:cubicBezTo>
                  <a:pt x="99934" y="99329"/>
                  <a:pt x="100881" y="101638"/>
                  <a:pt x="102584" y="103341"/>
                </a:cubicBezTo>
                <a:lnTo>
                  <a:pt x="129839" y="130596"/>
                </a:lnTo>
                <a:cubicBezTo>
                  <a:pt x="133397" y="134154"/>
                  <a:pt x="139151" y="134154"/>
                  <a:pt x="142672" y="130596"/>
                </a:cubicBezTo>
                <a:cubicBezTo>
                  <a:pt x="146192" y="127038"/>
                  <a:pt x="146230" y="121284"/>
                  <a:pt x="142672" y="117764"/>
                </a:cubicBezTo>
                <a:lnTo>
                  <a:pt x="118066" y="93159"/>
                </a:lnTo>
                <a:lnTo>
                  <a:pt x="118066" y="57538"/>
                </a:lnTo>
                <a:close/>
              </a:path>
            </a:pathLst>
          </a:custGeom>
          <a:solidFill>
            <a:srgbClr val="4FD1C5"/>
          </a:solidFill>
          <a:ln/>
        </p:spPr>
        <p:txBody>
          <a:bodyPr/>
          <a:lstStyle/>
          <a:p>
            <a:endParaRPr lang="zh-CN" altLang="en-US"/>
          </a:p>
        </p:txBody>
      </p:sp>
      <p:sp>
        <p:nvSpPr>
          <p:cNvPr id="43" name="Text 41"/>
          <p:cNvSpPr/>
          <p:nvPr/>
        </p:nvSpPr>
        <p:spPr>
          <a:xfrm>
            <a:off x="8831894" y="3425025"/>
            <a:ext cx="2689145"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利用Time Travel对比修正前后数据</a:t>
            </a:r>
            <a:endParaRPr lang="en-US" sz="1600" dirty="0"/>
          </a:p>
        </p:txBody>
      </p:sp>
      <p:sp>
        <p:nvSpPr>
          <p:cNvPr id="44" name="Shape 42"/>
          <p:cNvSpPr/>
          <p:nvPr/>
        </p:nvSpPr>
        <p:spPr>
          <a:xfrm>
            <a:off x="8504836" y="3788423"/>
            <a:ext cx="218039" cy="193812"/>
          </a:xfrm>
          <a:custGeom>
            <a:avLst/>
            <a:gdLst/>
            <a:ahLst/>
            <a:cxnLst/>
            <a:rect l="l" t="t" r="r" b="b"/>
            <a:pathLst>
              <a:path w="218039" h="193812">
                <a:moveTo>
                  <a:pt x="67569" y="157472"/>
                </a:moveTo>
                <a:lnTo>
                  <a:pt x="114130" y="157472"/>
                </a:lnTo>
                <a:lnTo>
                  <a:pt x="138848" y="132754"/>
                </a:lnTo>
                <a:lnTo>
                  <a:pt x="73172" y="67077"/>
                </a:lnTo>
                <a:lnTo>
                  <a:pt x="25211" y="115038"/>
                </a:lnTo>
                <a:lnTo>
                  <a:pt x="67607" y="157435"/>
                </a:lnTo>
                <a:close/>
                <a:moveTo>
                  <a:pt x="84793" y="181699"/>
                </a:moveTo>
                <a:lnTo>
                  <a:pt x="67569" y="181699"/>
                </a:lnTo>
                <a:cubicBezTo>
                  <a:pt x="61134" y="181699"/>
                  <a:pt x="54964" y="179163"/>
                  <a:pt x="50421" y="174620"/>
                </a:cubicBezTo>
                <a:lnTo>
                  <a:pt x="6435" y="130596"/>
                </a:lnTo>
                <a:cubicBezTo>
                  <a:pt x="2309" y="126470"/>
                  <a:pt x="0" y="120906"/>
                  <a:pt x="0" y="115076"/>
                </a:cubicBezTo>
                <a:cubicBezTo>
                  <a:pt x="0" y="109246"/>
                  <a:pt x="2309" y="103682"/>
                  <a:pt x="6435" y="99556"/>
                </a:cubicBezTo>
                <a:lnTo>
                  <a:pt x="99556" y="6435"/>
                </a:lnTo>
                <a:cubicBezTo>
                  <a:pt x="103682" y="2309"/>
                  <a:pt x="109246" y="0"/>
                  <a:pt x="115076" y="0"/>
                </a:cubicBezTo>
                <a:cubicBezTo>
                  <a:pt x="120906" y="0"/>
                  <a:pt x="126470" y="2309"/>
                  <a:pt x="130596" y="6435"/>
                </a:cubicBezTo>
                <a:lnTo>
                  <a:pt x="199490" y="75329"/>
                </a:lnTo>
                <a:cubicBezTo>
                  <a:pt x="203616" y="79455"/>
                  <a:pt x="205925" y="85020"/>
                  <a:pt x="205925" y="90849"/>
                </a:cubicBezTo>
                <a:cubicBezTo>
                  <a:pt x="205925" y="96679"/>
                  <a:pt x="203616" y="102244"/>
                  <a:pt x="199490" y="106370"/>
                </a:cubicBezTo>
                <a:lnTo>
                  <a:pt x="148387" y="157472"/>
                </a:lnTo>
                <a:lnTo>
                  <a:pt x="193812" y="157472"/>
                </a:lnTo>
                <a:cubicBezTo>
                  <a:pt x="200512" y="157472"/>
                  <a:pt x="205925" y="162886"/>
                  <a:pt x="205925" y="169586"/>
                </a:cubicBezTo>
                <a:cubicBezTo>
                  <a:pt x="205925" y="176286"/>
                  <a:pt x="200512" y="181699"/>
                  <a:pt x="193812" y="181699"/>
                </a:cubicBezTo>
                <a:lnTo>
                  <a:pt x="84793" y="181699"/>
                </a:lnTo>
                <a:close/>
              </a:path>
            </a:pathLst>
          </a:custGeom>
          <a:solidFill>
            <a:srgbClr val="4FD1C5"/>
          </a:solidFill>
          <a:ln/>
        </p:spPr>
        <p:txBody>
          <a:bodyPr/>
          <a:lstStyle/>
          <a:p>
            <a:endParaRPr lang="zh-CN" altLang="en-US"/>
          </a:p>
        </p:txBody>
      </p:sp>
      <p:sp>
        <p:nvSpPr>
          <p:cNvPr id="45" name="Text 43"/>
          <p:cNvSpPr/>
          <p:nvPr/>
        </p:nvSpPr>
        <p:spPr>
          <a:xfrm>
            <a:off x="8831894" y="3764197"/>
            <a:ext cx="3488620"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Delete + Expire Snapshots实现真正数据擦除</a:t>
            </a:r>
            <a:endParaRPr lang="en-US" sz="1600" dirty="0"/>
          </a:p>
        </p:txBody>
      </p:sp>
      <p:sp>
        <p:nvSpPr>
          <p:cNvPr id="46" name="Shape 44"/>
          <p:cNvSpPr/>
          <p:nvPr/>
        </p:nvSpPr>
        <p:spPr>
          <a:xfrm>
            <a:off x="8250458" y="4442539"/>
            <a:ext cx="7522337" cy="2458993"/>
          </a:xfrm>
          <a:custGeom>
            <a:avLst/>
            <a:gdLst/>
            <a:ahLst/>
            <a:cxnLst/>
            <a:rect l="l" t="t" r="r" b="b"/>
            <a:pathLst>
              <a:path w="7522337" h="2458993">
                <a:moveTo>
                  <a:pt x="96909" y="0"/>
                </a:moveTo>
                <a:lnTo>
                  <a:pt x="7425428" y="0"/>
                </a:lnTo>
                <a:cubicBezTo>
                  <a:pt x="7478949" y="0"/>
                  <a:pt x="7522337" y="43388"/>
                  <a:pt x="7522337" y="96909"/>
                </a:cubicBezTo>
                <a:lnTo>
                  <a:pt x="7522337" y="2362084"/>
                </a:lnTo>
                <a:cubicBezTo>
                  <a:pt x="7522337" y="2415605"/>
                  <a:pt x="7478949" y="2458993"/>
                  <a:pt x="7425428" y="2458993"/>
                </a:cubicBezTo>
                <a:lnTo>
                  <a:pt x="96909" y="2458993"/>
                </a:lnTo>
                <a:cubicBezTo>
                  <a:pt x="43388" y="2458993"/>
                  <a:pt x="0" y="2415605"/>
                  <a:pt x="0" y="2362084"/>
                </a:cubicBezTo>
                <a:lnTo>
                  <a:pt x="0" y="96909"/>
                </a:lnTo>
                <a:cubicBezTo>
                  <a:pt x="0" y="43388"/>
                  <a:pt x="43388" y="0"/>
                  <a:pt x="96909" y="0"/>
                </a:cubicBezTo>
                <a:close/>
              </a:path>
            </a:pathLst>
          </a:custGeom>
          <a:solidFill>
            <a:srgbClr val="4A5568">
              <a:alpha val="30196"/>
            </a:srgbClr>
          </a:solidFill>
          <a:ln/>
        </p:spPr>
        <p:txBody>
          <a:bodyPr/>
          <a:lstStyle/>
          <a:p>
            <a:endParaRPr lang="zh-CN" altLang="en-US"/>
          </a:p>
        </p:txBody>
      </p:sp>
      <p:sp>
        <p:nvSpPr>
          <p:cNvPr id="47" name="Shape 45"/>
          <p:cNvSpPr/>
          <p:nvPr/>
        </p:nvSpPr>
        <p:spPr>
          <a:xfrm>
            <a:off x="8492723" y="4684805"/>
            <a:ext cx="484531" cy="484531"/>
          </a:xfrm>
          <a:custGeom>
            <a:avLst/>
            <a:gdLst/>
            <a:ahLst/>
            <a:cxnLst/>
            <a:rect l="l" t="t" r="r" b="b"/>
            <a:pathLst>
              <a:path w="484531" h="484531">
                <a:moveTo>
                  <a:pt x="96906" y="0"/>
                </a:moveTo>
                <a:lnTo>
                  <a:pt x="387624" y="0"/>
                </a:lnTo>
                <a:cubicBezTo>
                  <a:pt x="441108" y="0"/>
                  <a:pt x="484531" y="43422"/>
                  <a:pt x="484531" y="96906"/>
                </a:cubicBezTo>
                <a:lnTo>
                  <a:pt x="484531" y="387624"/>
                </a:lnTo>
                <a:cubicBezTo>
                  <a:pt x="484531" y="441108"/>
                  <a:pt x="441108" y="484531"/>
                  <a:pt x="387624" y="484531"/>
                </a:cubicBezTo>
                <a:lnTo>
                  <a:pt x="96906" y="484531"/>
                </a:lnTo>
                <a:cubicBezTo>
                  <a:pt x="43422" y="484531"/>
                  <a:pt x="0" y="441108"/>
                  <a:pt x="0" y="387624"/>
                </a:cubicBezTo>
                <a:lnTo>
                  <a:pt x="0" y="96906"/>
                </a:lnTo>
                <a:cubicBezTo>
                  <a:pt x="0" y="43422"/>
                  <a:pt x="43422" y="0"/>
                  <a:pt x="96906" y="0"/>
                </a:cubicBezTo>
                <a:close/>
              </a:path>
            </a:pathLst>
          </a:custGeom>
          <a:solidFill>
            <a:srgbClr val="4FD1C5"/>
          </a:solidFill>
          <a:ln/>
        </p:spPr>
        <p:txBody>
          <a:bodyPr/>
          <a:lstStyle/>
          <a:p>
            <a:endParaRPr lang="zh-CN" altLang="en-US"/>
          </a:p>
        </p:txBody>
      </p:sp>
      <p:sp>
        <p:nvSpPr>
          <p:cNvPr id="48" name="Text 46"/>
          <p:cNvSpPr/>
          <p:nvPr/>
        </p:nvSpPr>
        <p:spPr>
          <a:xfrm>
            <a:off x="8671015" y="4757484"/>
            <a:ext cx="242265" cy="339171"/>
          </a:xfrm>
          <a:prstGeom prst="rect">
            <a:avLst/>
          </a:prstGeom>
          <a:noFill/>
          <a:ln/>
        </p:spPr>
        <p:txBody>
          <a:bodyPr wrap="square" lIns="0" tIns="0" rIns="0" bIns="0" rtlCol="0" anchor="ctr"/>
          <a:lstStyle/>
          <a:p>
            <a:pPr>
              <a:lnSpc>
                <a:spcPct val="130000"/>
              </a:lnSpc>
            </a:pPr>
            <a:r>
              <a:rPr lang="en-US" sz="1717" b="1" dirty="0">
                <a:solidFill>
                  <a:srgbClr val="1A202C"/>
                </a:solidFill>
                <a:latin typeface="MiSans" pitchFamily="34" charset="0"/>
                <a:ea typeface="MiSans" pitchFamily="34" charset="-122"/>
                <a:cs typeface="MiSans" pitchFamily="34" charset="-120"/>
              </a:rPr>
              <a:t>4</a:t>
            </a:r>
            <a:endParaRPr lang="en-US" sz="1600" dirty="0"/>
          </a:p>
        </p:txBody>
      </p:sp>
      <p:sp>
        <p:nvSpPr>
          <p:cNvPr id="49" name="Text 47"/>
          <p:cNvSpPr/>
          <p:nvPr/>
        </p:nvSpPr>
        <p:spPr>
          <a:xfrm>
            <a:off x="9122613" y="4757484"/>
            <a:ext cx="2059255" cy="339171"/>
          </a:xfrm>
          <a:prstGeom prst="rect">
            <a:avLst/>
          </a:prstGeom>
          <a:noFill/>
          <a:ln/>
        </p:spPr>
        <p:txBody>
          <a:bodyPr wrap="square" lIns="0" tIns="0" rIns="0" bIns="0" rtlCol="0" anchor="ctr"/>
          <a:lstStyle/>
          <a:p>
            <a:pPr>
              <a:lnSpc>
                <a:spcPct val="120000"/>
              </a:lnSpc>
            </a:pPr>
            <a:r>
              <a:rPr lang="en-US" sz="1908" b="1" dirty="0">
                <a:solidFill>
                  <a:srgbClr val="F7FAFC"/>
                </a:solidFill>
                <a:latin typeface="Noto Sans SC" pitchFamily="34" charset="0"/>
                <a:ea typeface="Noto Sans SC" pitchFamily="34" charset="-122"/>
                <a:cs typeface="Noto Sans SC" pitchFamily="34" charset="-120"/>
              </a:rPr>
              <a:t>特征湖与机器学习</a:t>
            </a:r>
            <a:endParaRPr lang="en-US" sz="1600" dirty="0"/>
          </a:p>
        </p:txBody>
      </p:sp>
      <p:sp>
        <p:nvSpPr>
          <p:cNvPr id="50" name="Text 48"/>
          <p:cNvSpPr/>
          <p:nvPr/>
        </p:nvSpPr>
        <p:spPr>
          <a:xfrm>
            <a:off x="8492723" y="5314694"/>
            <a:ext cx="7122599" cy="278605"/>
          </a:xfrm>
          <a:prstGeom prst="rect">
            <a:avLst/>
          </a:prstGeom>
          <a:noFill/>
          <a:ln/>
        </p:spPr>
        <p:txBody>
          <a:bodyPr wrap="square" lIns="0" tIns="0" rIns="0" bIns="0" rtlCol="0" anchor="ctr"/>
          <a:lstStyle/>
          <a:p>
            <a:pPr>
              <a:lnSpc>
                <a:spcPct val="140000"/>
              </a:lnSpc>
            </a:pPr>
            <a:r>
              <a:rPr lang="en-US" sz="1335" dirty="0">
                <a:solidFill>
                  <a:srgbClr val="A0AEC0"/>
                </a:solidFill>
                <a:latin typeface="MiSans" pitchFamily="34" charset="0"/>
                <a:ea typeface="MiSans" pitchFamily="34" charset="-122"/>
                <a:cs typeface="MiSans" pitchFamily="34" charset="-120"/>
              </a:rPr>
              <a:t>为大规模机器学习提供统一、可回放的特征底座。</a:t>
            </a:r>
            <a:endParaRPr lang="en-US" sz="1600" dirty="0"/>
          </a:p>
        </p:txBody>
      </p:sp>
      <p:sp>
        <p:nvSpPr>
          <p:cNvPr id="51" name="Shape 49"/>
          <p:cNvSpPr/>
          <p:nvPr/>
        </p:nvSpPr>
        <p:spPr>
          <a:xfrm>
            <a:off x="8504836" y="5759857"/>
            <a:ext cx="218039" cy="193812"/>
          </a:xfrm>
          <a:custGeom>
            <a:avLst/>
            <a:gdLst/>
            <a:ahLst/>
            <a:cxnLst/>
            <a:rect l="l" t="t" r="r" b="b"/>
            <a:pathLst>
              <a:path w="218039" h="193812">
                <a:moveTo>
                  <a:pt x="109019" y="24227"/>
                </a:moveTo>
                <a:cubicBezTo>
                  <a:pt x="149145" y="24227"/>
                  <a:pt x="181699" y="56781"/>
                  <a:pt x="181699" y="96906"/>
                </a:cubicBezTo>
                <a:cubicBezTo>
                  <a:pt x="181699" y="137031"/>
                  <a:pt x="149145" y="169586"/>
                  <a:pt x="109019" y="169586"/>
                </a:cubicBezTo>
                <a:cubicBezTo>
                  <a:pt x="84339" y="169586"/>
                  <a:pt x="62497" y="157283"/>
                  <a:pt x="49362" y="138432"/>
                </a:cubicBezTo>
                <a:cubicBezTo>
                  <a:pt x="45538" y="132943"/>
                  <a:pt x="37968" y="131618"/>
                  <a:pt x="32479" y="135441"/>
                </a:cubicBezTo>
                <a:cubicBezTo>
                  <a:pt x="26990" y="139265"/>
                  <a:pt x="25665" y="146835"/>
                  <a:pt x="29488" y="152324"/>
                </a:cubicBezTo>
                <a:cubicBezTo>
                  <a:pt x="46977" y="177384"/>
                  <a:pt x="76086" y="193812"/>
                  <a:pt x="109019" y="193812"/>
                </a:cubicBezTo>
                <a:cubicBezTo>
                  <a:pt x="162545" y="193812"/>
                  <a:pt x="205925" y="150432"/>
                  <a:pt x="205925" y="96906"/>
                </a:cubicBezTo>
                <a:cubicBezTo>
                  <a:pt x="205925" y="43381"/>
                  <a:pt x="162545" y="0"/>
                  <a:pt x="109019" y="0"/>
                </a:cubicBezTo>
                <a:cubicBezTo>
                  <a:pt x="76579" y="0"/>
                  <a:pt x="47885" y="15937"/>
                  <a:pt x="30283" y="40390"/>
                </a:cubicBezTo>
                <a:lnTo>
                  <a:pt x="30283" y="30283"/>
                </a:lnTo>
                <a:cubicBezTo>
                  <a:pt x="30283" y="23583"/>
                  <a:pt x="24870" y="18170"/>
                  <a:pt x="18170" y="18170"/>
                </a:cubicBezTo>
                <a:cubicBezTo>
                  <a:pt x="11470" y="18170"/>
                  <a:pt x="6057" y="23583"/>
                  <a:pt x="6057" y="30283"/>
                </a:cubicBezTo>
                <a:lnTo>
                  <a:pt x="6057" y="72680"/>
                </a:lnTo>
                <a:cubicBezTo>
                  <a:pt x="6057" y="79380"/>
                  <a:pt x="11470" y="84793"/>
                  <a:pt x="18170" y="84793"/>
                </a:cubicBezTo>
                <a:lnTo>
                  <a:pt x="27482" y="84793"/>
                </a:lnTo>
                <a:cubicBezTo>
                  <a:pt x="27671" y="84793"/>
                  <a:pt x="27861" y="84793"/>
                  <a:pt x="28050" y="84793"/>
                </a:cubicBezTo>
                <a:lnTo>
                  <a:pt x="60604" y="84793"/>
                </a:lnTo>
                <a:cubicBezTo>
                  <a:pt x="67304" y="84793"/>
                  <a:pt x="72717" y="79380"/>
                  <a:pt x="72717" y="72680"/>
                </a:cubicBezTo>
                <a:cubicBezTo>
                  <a:pt x="72717" y="65979"/>
                  <a:pt x="67304" y="60566"/>
                  <a:pt x="60604" y="60566"/>
                </a:cubicBezTo>
                <a:lnTo>
                  <a:pt x="46106" y="60566"/>
                </a:lnTo>
                <a:cubicBezTo>
                  <a:pt x="58636" y="38838"/>
                  <a:pt x="82143" y="24227"/>
                  <a:pt x="109019" y="24227"/>
                </a:cubicBezTo>
                <a:close/>
                <a:moveTo>
                  <a:pt x="118104" y="57538"/>
                </a:moveTo>
                <a:cubicBezTo>
                  <a:pt x="118104" y="52503"/>
                  <a:pt x="114054" y="48453"/>
                  <a:pt x="109019" y="48453"/>
                </a:cubicBezTo>
                <a:cubicBezTo>
                  <a:pt x="103985" y="48453"/>
                  <a:pt x="99934" y="52503"/>
                  <a:pt x="99934" y="57538"/>
                </a:cubicBezTo>
                <a:lnTo>
                  <a:pt x="99934" y="96906"/>
                </a:lnTo>
                <a:cubicBezTo>
                  <a:pt x="99934" y="99329"/>
                  <a:pt x="100881" y="101638"/>
                  <a:pt x="102584" y="103341"/>
                </a:cubicBezTo>
                <a:lnTo>
                  <a:pt x="129839" y="130596"/>
                </a:lnTo>
                <a:cubicBezTo>
                  <a:pt x="133397" y="134154"/>
                  <a:pt x="139151" y="134154"/>
                  <a:pt x="142672" y="130596"/>
                </a:cubicBezTo>
                <a:cubicBezTo>
                  <a:pt x="146192" y="127038"/>
                  <a:pt x="146230" y="121284"/>
                  <a:pt x="142672" y="117764"/>
                </a:cubicBezTo>
                <a:lnTo>
                  <a:pt x="118066" y="93159"/>
                </a:lnTo>
                <a:lnTo>
                  <a:pt x="118066" y="57538"/>
                </a:lnTo>
                <a:close/>
              </a:path>
            </a:pathLst>
          </a:custGeom>
          <a:solidFill>
            <a:srgbClr val="4FD1C5"/>
          </a:solidFill>
          <a:ln/>
        </p:spPr>
        <p:txBody>
          <a:bodyPr/>
          <a:lstStyle/>
          <a:p>
            <a:endParaRPr lang="zh-CN" altLang="en-US"/>
          </a:p>
        </p:txBody>
      </p:sp>
      <p:sp>
        <p:nvSpPr>
          <p:cNvPr id="52" name="Text 50"/>
          <p:cNvSpPr/>
          <p:nvPr/>
        </p:nvSpPr>
        <p:spPr>
          <a:xfrm>
            <a:off x="8831894" y="5735630"/>
            <a:ext cx="2349973"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Time Travel回放历史时点特征</a:t>
            </a:r>
            <a:endParaRPr lang="en-US" sz="1600" dirty="0"/>
          </a:p>
        </p:txBody>
      </p:sp>
      <p:sp>
        <p:nvSpPr>
          <p:cNvPr id="53" name="Shape 51"/>
          <p:cNvSpPr/>
          <p:nvPr/>
        </p:nvSpPr>
        <p:spPr>
          <a:xfrm>
            <a:off x="8516949" y="6099028"/>
            <a:ext cx="193812" cy="193812"/>
          </a:xfrm>
          <a:custGeom>
            <a:avLst/>
            <a:gdLst/>
            <a:ahLst/>
            <a:cxnLst/>
            <a:rect l="l" t="t" r="r" b="b"/>
            <a:pathLst>
              <a:path w="193812" h="193812">
                <a:moveTo>
                  <a:pt x="88010" y="1968"/>
                </a:moveTo>
                <a:cubicBezTo>
                  <a:pt x="93651" y="-644"/>
                  <a:pt x="100162" y="-644"/>
                  <a:pt x="105802" y="1968"/>
                </a:cubicBezTo>
                <a:lnTo>
                  <a:pt x="188551" y="40201"/>
                </a:lnTo>
                <a:cubicBezTo>
                  <a:pt x="191768" y="41677"/>
                  <a:pt x="193812" y="44895"/>
                  <a:pt x="193812" y="48453"/>
                </a:cubicBezTo>
                <a:cubicBezTo>
                  <a:pt x="193812" y="52011"/>
                  <a:pt x="191768" y="55229"/>
                  <a:pt x="188551" y="56705"/>
                </a:cubicBezTo>
                <a:lnTo>
                  <a:pt x="105802" y="94938"/>
                </a:lnTo>
                <a:cubicBezTo>
                  <a:pt x="100162" y="97550"/>
                  <a:pt x="93651" y="97550"/>
                  <a:pt x="88010" y="94938"/>
                </a:cubicBezTo>
                <a:lnTo>
                  <a:pt x="5262" y="56705"/>
                </a:lnTo>
                <a:cubicBezTo>
                  <a:pt x="2044" y="55191"/>
                  <a:pt x="0" y="51973"/>
                  <a:pt x="0" y="48453"/>
                </a:cubicBezTo>
                <a:cubicBezTo>
                  <a:pt x="0" y="44933"/>
                  <a:pt x="2044" y="41677"/>
                  <a:pt x="5262" y="40201"/>
                </a:cubicBezTo>
                <a:lnTo>
                  <a:pt x="88010" y="1968"/>
                </a:lnTo>
                <a:close/>
                <a:moveTo>
                  <a:pt x="18208" y="82673"/>
                </a:moveTo>
                <a:lnTo>
                  <a:pt x="80402" y="111404"/>
                </a:lnTo>
                <a:cubicBezTo>
                  <a:pt x="90887" y="116249"/>
                  <a:pt x="102963" y="116249"/>
                  <a:pt x="113448" y="111404"/>
                </a:cubicBezTo>
                <a:lnTo>
                  <a:pt x="175642" y="82673"/>
                </a:lnTo>
                <a:lnTo>
                  <a:pt x="188551" y="88654"/>
                </a:lnTo>
                <a:cubicBezTo>
                  <a:pt x="191768" y="90130"/>
                  <a:pt x="193812" y="93348"/>
                  <a:pt x="193812" y="96906"/>
                </a:cubicBezTo>
                <a:cubicBezTo>
                  <a:pt x="193812" y="100464"/>
                  <a:pt x="191768" y="103682"/>
                  <a:pt x="188551" y="105158"/>
                </a:cubicBezTo>
                <a:lnTo>
                  <a:pt x="105802" y="143391"/>
                </a:lnTo>
                <a:cubicBezTo>
                  <a:pt x="100162" y="146003"/>
                  <a:pt x="93651" y="146003"/>
                  <a:pt x="88010" y="143391"/>
                </a:cubicBezTo>
                <a:lnTo>
                  <a:pt x="5262" y="105158"/>
                </a:lnTo>
                <a:cubicBezTo>
                  <a:pt x="2044" y="103644"/>
                  <a:pt x="0" y="100427"/>
                  <a:pt x="0" y="96906"/>
                </a:cubicBezTo>
                <a:cubicBezTo>
                  <a:pt x="0" y="93386"/>
                  <a:pt x="2044" y="90130"/>
                  <a:pt x="5262" y="88654"/>
                </a:cubicBezTo>
                <a:lnTo>
                  <a:pt x="18170" y="82673"/>
                </a:lnTo>
                <a:close/>
                <a:moveTo>
                  <a:pt x="5262" y="137107"/>
                </a:moveTo>
                <a:lnTo>
                  <a:pt x="18170" y="131126"/>
                </a:lnTo>
                <a:lnTo>
                  <a:pt x="80364" y="159857"/>
                </a:lnTo>
                <a:cubicBezTo>
                  <a:pt x="90849" y="164703"/>
                  <a:pt x="102925" y="164703"/>
                  <a:pt x="113410" y="159857"/>
                </a:cubicBezTo>
                <a:lnTo>
                  <a:pt x="175604" y="131126"/>
                </a:lnTo>
                <a:lnTo>
                  <a:pt x="188513" y="137107"/>
                </a:lnTo>
                <a:cubicBezTo>
                  <a:pt x="191730" y="138583"/>
                  <a:pt x="193774" y="141801"/>
                  <a:pt x="193774" y="145359"/>
                </a:cubicBezTo>
                <a:cubicBezTo>
                  <a:pt x="193774" y="148917"/>
                  <a:pt x="191730" y="152135"/>
                  <a:pt x="188513" y="153611"/>
                </a:cubicBezTo>
                <a:lnTo>
                  <a:pt x="105764" y="191844"/>
                </a:lnTo>
                <a:cubicBezTo>
                  <a:pt x="100124" y="194456"/>
                  <a:pt x="93613" y="194456"/>
                  <a:pt x="87973" y="191844"/>
                </a:cubicBezTo>
                <a:lnTo>
                  <a:pt x="5262" y="153611"/>
                </a:lnTo>
                <a:cubicBezTo>
                  <a:pt x="2044" y="152097"/>
                  <a:pt x="0" y="148880"/>
                  <a:pt x="0" y="145359"/>
                </a:cubicBezTo>
                <a:cubicBezTo>
                  <a:pt x="0" y="141839"/>
                  <a:pt x="2044" y="138583"/>
                  <a:pt x="5262" y="137107"/>
                </a:cubicBezTo>
                <a:close/>
              </a:path>
            </a:pathLst>
          </a:custGeom>
          <a:solidFill>
            <a:srgbClr val="4FD1C5"/>
          </a:solidFill>
          <a:ln/>
        </p:spPr>
        <p:txBody>
          <a:bodyPr/>
          <a:lstStyle/>
          <a:p>
            <a:endParaRPr lang="zh-CN" altLang="en-US"/>
          </a:p>
        </p:txBody>
      </p:sp>
      <p:sp>
        <p:nvSpPr>
          <p:cNvPr id="54" name="Text 52"/>
          <p:cNvSpPr/>
          <p:nvPr/>
        </p:nvSpPr>
        <p:spPr>
          <a:xfrm>
            <a:off x="8831894" y="6074802"/>
            <a:ext cx="2010802"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批/流任务写入统一特征表</a:t>
            </a:r>
            <a:endParaRPr lang="en-US" sz="1600" dirty="0"/>
          </a:p>
        </p:txBody>
      </p:sp>
      <p:sp>
        <p:nvSpPr>
          <p:cNvPr id="55" name="Shape 53"/>
          <p:cNvSpPr/>
          <p:nvPr/>
        </p:nvSpPr>
        <p:spPr>
          <a:xfrm>
            <a:off x="8516949" y="6438200"/>
            <a:ext cx="193812" cy="193812"/>
          </a:xfrm>
          <a:custGeom>
            <a:avLst/>
            <a:gdLst/>
            <a:ahLst/>
            <a:cxnLst/>
            <a:rect l="l" t="t" r="r" b="b"/>
            <a:pathLst>
              <a:path w="193812" h="193812">
                <a:moveTo>
                  <a:pt x="45425" y="21198"/>
                </a:moveTo>
                <a:cubicBezTo>
                  <a:pt x="45425" y="9501"/>
                  <a:pt x="54926" y="0"/>
                  <a:pt x="66623" y="0"/>
                </a:cubicBezTo>
                <a:lnTo>
                  <a:pt x="75708" y="0"/>
                </a:lnTo>
                <a:cubicBezTo>
                  <a:pt x="82408" y="0"/>
                  <a:pt x="87821" y="5413"/>
                  <a:pt x="87821" y="12113"/>
                </a:cubicBezTo>
                <a:lnTo>
                  <a:pt x="87821" y="181699"/>
                </a:lnTo>
                <a:cubicBezTo>
                  <a:pt x="87821" y="188399"/>
                  <a:pt x="82408" y="193812"/>
                  <a:pt x="75708" y="193812"/>
                </a:cubicBezTo>
                <a:lnTo>
                  <a:pt x="63595" y="193812"/>
                </a:lnTo>
                <a:cubicBezTo>
                  <a:pt x="52314" y="193812"/>
                  <a:pt x="42813" y="186090"/>
                  <a:pt x="40125" y="175642"/>
                </a:cubicBezTo>
                <a:cubicBezTo>
                  <a:pt x="39860" y="175642"/>
                  <a:pt x="39633" y="175642"/>
                  <a:pt x="39368" y="175642"/>
                </a:cubicBezTo>
                <a:cubicBezTo>
                  <a:pt x="22637" y="175642"/>
                  <a:pt x="9085" y="162091"/>
                  <a:pt x="9085" y="145359"/>
                </a:cubicBezTo>
                <a:cubicBezTo>
                  <a:pt x="9085" y="138545"/>
                  <a:pt x="11356" y="132262"/>
                  <a:pt x="15142" y="127189"/>
                </a:cubicBezTo>
                <a:cubicBezTo>
                  <a:pt x="7798" y="121663"/>
                  <a:pt x="3028" y="112880"/>
                  <a:pt x="3028" y="102963"/>
                </a:cubicBezTo>
                <a:cubicBezTo>
                  <a:pt x="3028" y="91266"/>
                  <a:pt x="9691" y="81083"/>
                  <a:pt x="19381" y="76049"/>
                </a:cubicBezTo>
                <a:cubicBezTo>
                  <a:pt x="16694" y="71506"/>
                  <a:pt x="15142" y="66207"/>
                  <a:pt x="15142" y="60566"/>
                </a:cubicBezTo>
                <a:cubicBezTo>
                  <a:pt x="15142" y="43835"/>
                  <a:pt x="28693" y="30283"/>
                  <a:pt x="45425" y="30283"/>
                </a:cubicBezTo>
                <a:lnTo>
                  <a:pt x="45425" y="21198"/>
                </a:lnTo>
                <a:close/>
                <a:moveTo>
                  <a:pt x="148387" y="21198"/>
                </a:moveTo>
                <a:lnTo>
                  <a:pt x="148387" y="30283"/>
                </a:lnTo>
                <a:cubicBezTo>
                  <a:pt x="165119" y="30283"/>
                  <a:pt x="178671" y="43835"/>
                  <a:pt x="178671" y="60566"/>
                </a:cubicBezTo>
                <a:cubicBezTo>
                  <a:pt x="178671" y="66244"/>
                  <a:pt x="177119" y="71544"/>
                  <a:pt x="174431" y="76049"/>
                </a:cubicBezTo>
                <a:cubicBezTo>
                  <a:pt x="184159" y="81083"/>
                  <a:pt x="190784" y="91228"/>
                  <a:pt x="190784" y="102963"/>
                </a:cubicBezTo>
                <a:cubicBezTo>
                  <a:pt x="190784" y="112880"/>
                  <a:pt x="186014" y="121663"/>
                  <a:pt x="178671" y="127189"/>
                </a:cubicBezTo>
                <a:cubicBezTo>
                  <a:pt x="182456" y="132262"/>
                  <a:pt x="184727" y="138545"/>
                  <a:pt x="184727" y="145359"/>
                </a:cubicBezTo>
                <a:cubicBezTo>
                  <a:pt x="184727" y="162091"/>
                  <a:pt x="171176" y="175642"/>
                  <a:pt x="154444" y="175642"/>
                </a:cubicBezTo>
                <a:cubicBezTo>
                  <a:pt x="154179" y="175642"/>
                  <a:pt x="153952" y="175642"/>
                  <a:pt x="153687" y="175642"/>
                </a:cubicBezTo>
                <a:cubicBezTo>
                  <a:pt x="150999" y="186090"/>
                  <a:pt x="141498" y="193812"/>
                  <a:pt x="130218" y="193812"/>
                </a:cubicBezTo>
                <a:lnTo>
                  <a:pt x="118104" y="193812"/>
                </a:lnTo>
                <a:cubicBezTo>
                  <a:pt x="111404" y="193812"/>
                  <a:pt x="105991" y="188399"/>
                  <a:pt x="105991" y="181699"/>
                </a:cubicBezTo>
                <a:lnTo>
                  <a:pt x="105991" y="12113"/>
                </a:lnTo>
                <a:cubicBezTo>
                  <a:pt x="105991" y="5413"/>
                  <a:pt x="111404" y="0"/>
                  <a:pt x="118104" y="0"/>
                </a:cubicBezTo>
                <a:lnTo>
                  <a:pt x="127189" y="0"/>
                </a:lnTo>
                <a:cubicBezTo>
                  <a:pt x="138886" y="0"/>
                  <a:pt x="148387" y="9501"/>
                  <a:pt x="148387" y="21198"/>
                </a:cubicBezTo>
                <a:close/>
              </a:path>
            </a:pathLst>
          </a:custGeom>
          <a:solidFill>
            <a:srgbClr val="4FD1C5"/>
          </a:solidFill>
          <a:ln/>
        </p:spPr>
        <p:txBody>
          <a:bodyPr/>
          <a:lstStyle/>
          <a:p>
            <a:endParaRPr lang="zh-CN" altLang="en-US"/>
          </a:p>
        </p:txBody>
      </p:sp>
      <p:sp>
        <p:nvSpPr>
          <p:cNvPr id="56" name="Text 54"/>
          <p:cNvSpPr/>
          <p:nvPr/>
        </p:nvSpPr>
        <p:spPr>
          <a:xfrm>
            <a:off x="8831894" y="6413973"/>
            <a:ext cx="1950235" cy="242265"/>
          </a:xfrm>
          <a:prstGeom prst="rect">
            <a:avLst/>
          </a:prstGeom>
          <a:noFill/>
          <a:ln/>
        </p:spPr>
        <p:txBody>
          <a:bodyPr wrap="square" lIns="0" tIns="0" rIns="0" bIns="0" rtlCol="0" anchor="ctr"/>
          <a:lstStyle/>
          <a:p>
            <a:pPr>
              <a:lnSpc>
                <a:spcPct val="120000"/>
              </a:lnSpc>
            </a:pPr>
            <a:r>
              <a:rPr lang="en-US" sz="1335" dirty="0">
                <a:solidFill>
                  <a:srgbClr val="F7FAFC"/>
                </a:solidFill>
                <a:latin typeface="MiSans" pitchFamily="34" charset="0"/>
                <a:ea typeface="MiSans" pitchFamily="34" charset="-122"/>
                <a:cs typeface="MiSans" pitchFamily="34" charset="-120"/>
              </a:rPr>
              <a:t>支撑模型训练与在线推断</a:t>
            </a:r>
            <a:endParaRPr lang="en-US" sz="1600" dirty="0"/>
          </a:p>
        </p:txBody>
      </p:sp>
      <p:sp>
        <p:nvSpPr>
          <p:cNvPr id="57" name="Shape 55"/>
          <p:cNvSpPr/>
          <p:nvPr/>
        </p:nvSpPr>
        <p:spPr>
          <a:xfrm>
            <a:off x="508757" y="7958414"/>
            <a:ext cx="15262712" cy="702569"/>
          </a:xfrm>
          <a:custGeom>
            <a:avLst/>
            <a:gdLst/>
            <a:ahLst/>
            <a:cxnLst/>
            <a:rect l="l" t="t" r="r" b="b"/>
            <a:pathLst>
              <a:path w="15262712" h="702569">
                <a:moveTo>
                  <a:pt x="48453" y="0"/>
                </a:moveTo>
                <a:lnTo>
                  <a:pt x="15165807" y="0"/>
                </a:lnTo>
                <a:cubicBezTo>
                  <a:pt x="15219326" y="0"/>
                  <a:pt x="15262712" y="43386"/>
                  <a:pt x="15262712" y="96905"/>
                </a:cubicBezTo>
                <a:lnTo>
                  <a:pt x="15262712" y="605664"/>
                </a:lnTo>
                <a:cubicBezTo>
                  <a:pt x="15262712" y="659183"/>
                  <a:pt x="15219326" y="702569"/>
                  <a:pt x="15165807" y="702569"/>
                </a:cubicBezTo>
                <a:lnTo>
                  <a:pt x="48453" y="702569"/>
                </a:lnTo>
                <a:cubicBezTo>
                  <a:pt x="21693" y="702569"/>
                  <a:pt x="0" y="680876"/>
                  <a:pt x="0" y="654116"/>
                </a:cubicBezTo>
                <a:lnTo>
                  <a:pt x="0" y="48453"/>
                </a:lnTo>
                <a:cubicBezTo>
                  <a:pt x="0" y="21711"/>
                  <a:pt x="21711" y="0"/>
                  <a:pt x="48453" y="0"/>
                </a:cubicBezTo>
                <a:close/>
              </a:path>
            </a:pathLst>
          </a:custGeom>
          <a:solidFill>
            <a:srgbClr val="4FD1C5">
              <a:alpha val="10196"/>
            </a:srgbClr>
          </a:solidFill>
          <a:ln/>
        </p:spPr>
        <p:txBody>
          <a:bodyPr/>
          <a:lstStyle/>
          <a:p>
            <a:endParaRPr lang="zh-CN" altLang="en-US"/>
          </a:p>
        </p:txBody>
      </p:sp>
      <p:sp>
        <p:nvSpPr>
          <p:cNvPr id="58" name="Shape 56"/>
          <p:cNvSpPr/>
          <p:nvPr/>
        </p:nvSpPr>
        <p:spPr>
          <a:xfrm>
            <a:off x="508757" y="7958414"/>
            <a:ext cx="48453" cy="702569"/>
          </a:xfrm>
          <a:custGeom>
            <a:avLst/>
            <a:gdLst/>
            <a:ahLst/>
            <a:cxnLst/>
            <a:rect l="l" t="t" r="r" b="b"/>
            <a:pathLst>
              <a:path w="48453" h="702569">
                <a:moveTo>
                  <a:pt x="48453" y="0"/>
                </a:moveTo>
                <a:lnTo>
                  <a:pt x="48453" y="0"/>
                </a:lnTo>
                <a:lnTo>
                  <a:pt x="48453" y="702569"/>
                </a:lnTo>
                <a:lnTo>
                  <a:pt x="48453" y="702569"/>
                </a:lnTo>
                <a:cubicBezTo>
                  <a:pt x="21693" y="702569"/>
                  <a:pt x="0" y="680876"/>
                  <a:pt x="0" y="654116"/>
                </a:cubicBezTo>
                <a:lnTo>
                  <a:pt x="0" y="48453"/>
                </a:lnTo>
                <a:cubicBezTo>
                  <a:pt x="0" y="21711"/>
                  <a:pt x="21711" y="0"/>
                  <a:pt x="48453" y="0"/>
                </a:cubicBezTo>
                <a:close/>
              </a:path>
            </a:pathLst>
          </a:custGeom>
          <a:solidFill>
            <a:srgbClr val="4FD1C5"/>
          </a:solidFill>
          <a:ln/>
        </p:spPr>
        <p:txBody>
          <a:bodyPr/>
          <a:lstStyle/>
          <a:p>
            <a:endParaRPr lang="zh-CN" altLang="en-US"/>
          </a:p>
        </p:txBody>
      </p:sp>
      <p:sp>
        <p:nvSpPr>
          <p:cNvPr id="59" name="Text 57"/>
          <p:cNvSpPr/>
          <p:nvPr/>
        </p:nvSpPr>
        <p:spPr>
          <a:xfrm>
            <a:off x="726796" y="8152227"/>
            <a:ext cx="14947768" cy="314945"/>
          </a:xfrm>
          <a:prstGeom prst="rect">
            <a:avLst/>
          </a:prstGeom>
          <a:noFill/>
          <a:ln/>
        </p:spPr>
        <p:txBody>
          <a:bodyPr wrap="square" lIns="0" tIns="0" rIns="0" bIns="0" rtlCol="0" anchor="ctr"/>
          <a:lstStyle/>
          <a:p>
            <a:pPr>
              <a:lnSpc>
                <a:spcPct val="140000"/>
              </a:lnSpc>
            </a:pPr>
            <a:r>
              <a:rPr lang="en-US" sz="1526" b="1" dirty="0">
                <a:solidFill>
                  <a:srgbClr val="4FD1C5"/>
                </a:solidFill>
                <a:latin typeface="MiSans" pitchFamily="34" charset="0"/>
                <a:ea typeface="MiSans" pitchFamily="34" charset="-122"/>
                <a:cs typeface="MiSans" pitchFamily="34" charset="-120"/>
              </a:rPr>
              <a:t>核心价值：</a:t>
            </a:r>
            <a:r>
              <a:rPr lang="en-US" sz="1526" dirty="0">
                <a:solidFill>
                  <a:srgbClr val="F7FAFC"/>
                </a:solidFill>
                <a:latin typeface="MiSans" pitchFamily="34" charset="0"/>
                <a:ea typeface="MiSans" pitchFamily="34" charset="-122"/>
                <a:cs typeface="MiSans" pitchFamily="34" charset="-120"/>
              </a:rPr>
              <a:t>这四大场景展示了Lakehouse如何在不同业务需求下提供统一的解决方案,从实时性、正确性、合规性到数据科学,全面覆盖现代数据平台的关键能力。</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A202C"/>
        </a:solidFill>
        <a:effectLst/>
      </p:bgPr>
    </p:bg>
    <p:spTree>
      <p:nvGrpSpPr>
        <p:cNvPr id="1" name=""/>
        <p:cNvGrpSpPr/>
        <p:nvPr/>
      </p:nvGrpSpPr>
      <p:grpSpPr>
        <a:xfrm>
          <a:off x="0" y="0"/>
          <a:ext cx="0" cy="0"/>
          <a:chOff x="0" y="0"/>
          <a:chExt cx="0" cy="0"/>
        </a:xfrm>
      </p:grpSpPr>
      <p:pic>
        <p:nvPicPr>
          <p:cNvPr id="2" name="Image 0" descr="https://kimi-web-img.moonshot.cn/img/substackcdn.com/054e3703ccb1d21be549bdbf1b436413f67bef5b.png"/>
          <p:cNvPicPr>
            <a:picLocks noChangeAspect="1"/>
          </p:cNvPicPr>
          <p:nvPr/>
        </p:nvPicPr>
        <p:blipFill>
          <a:blip r:embed="rId3">
            <a:alphaModFix amt="20000"/>
          </a:blip>
          <a:srcRect t="5102" b="5102"/>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202C">
                  <a:alpha val="95000"/>
                </a:srgbClr>
              </a:gs>
              <a:gs pos="50000">
                <a:srgbClr val="1A202C">
                  <a:alpha val="90000"/>
                </a:srgbClr>
              </a:gs>
              <a:gs pos="100000">
                <a:srgbClr val="4A5568">
                  <a:alpha val="80000"/>
                </a:srgbClr>
              </a:gs>
            </a:gsLst>
            <a:lin ang="2700000" scaled="1"/>
          </a:gradFill>
          <a:ln/>
        </p:spPr>
        <p:txBody>
          <a:bodyPr/>
          <a:lstStyle/>
          <a:p>
            <a:endParaRPr lang="zh-CN" altLang="en-US"/>
          </a:p>
        </p:txBody>
      </p:sp>
      <p:sp>
        <p:nvSpPr>
          <p:cNvPr id="6" name="Text 3"/>
          <p:cNvSpPr/>
          <p:nvPr/>
        </p:nvSpPr>
        <p:spPr>
          <a:xfrm>
            <a:off x="4508500" y="1458913"/>
            <a:ext cx="7239000" cy="1092200"/>
          </a:xfrm>
          <a:prstGeom prst="rect">
            <a:avLst/>
          </a:prstGeom>
          <a:noFill/>
          <a:ln/>
        </p:spPr>
        <p:txBody>
          <a:bodyPr wrap="square" lIns="0" tIns="0" rIns="0" bIns="0" rtlCol="0" anchor="ctr"/>
          <a:lstStyle/>
          <a:p>
            <a:pPr algn="ctr">
              <a:lnSpc>
                <a:spcPct val="100000"/>
              </a:lnSpc>
            </a:pPr>
            <a:r>
              <a:rPr lang="en-US" sz="6000" b="1" dirty="0">
                <a:solidFill>
                  <a:srgbClr val="F7FAFC"/>
                </a:solidFill>
                <a:latin typeface="Noto Sans SC" pitchFamily="34" charset="0"/>
                <a:ea typeface="Noto Sans SC" pitchFamily="34" charset="-122"/>
                <a:cs typeface="Noto Sans SC" pitchFamily="34" charset="-120"/>
              </a:rPr>
              <a:t>架构演进的底层逻辑</a:t>
            </a:r>
            <a:endParaRPr lang="en-US" sz="1600" dirty="0"/>
          </a:p>
        </p:txBody>
      </p:sp>
      <p:sp>
        <p:nvSpPr>
          <p:cNvPr id="7" name="Text 4"/>
          <p:cNvSpPr/>
          <p:nvPr/>
        </p:nvSpPr>
        <p:spPr>
          <a:xfrm>
            <a:off x="3254970" y="2411413"/>
            <a:ext cx="9746059" cy="1092200"/>
          </a:xfrm>
          <a:prstGeom prst="rect">
            <a:avLst/>
          </a:prstGeom>
          <a:noFill/>
          <a:ln/>
        </p:spPr>
        <p:txBody>
          <a:bodyPr wrap="square" lIns="0" tIns="0" rIns="0" bIns="0" rtlCol="0" anchor="ctr"/>
          <a:lstStyle/>
          <a:p>
            <a:pPr algn="ctr">
              <a:lnSpc>
                <a:spcPct val="100000"/>
              </a:lnSpc>
            </a:pPr>
            <a:r>
              <a:rPr lang="en-US" sz="5400" b="1" dirty="0">
                <a:solidFill>
                  <a:srgbClr val="4FD1C5"/>
                </a:solidFill>
                <a:latin typeface="Noto Sans SC" pitchFamily="34" charset="0"/>
                <a:ea typeface="Noto Sans SC" pitchFamily="34" charset="-122"/>
                <a:cs typeface="Noto Sans SC" pitchFamily="34" charset="-120"/>
              </a:rPr>
              <a:t>成本 · 效率 · 质量的平衡艺术</a:t>
            </a:r>
            <a:endParaRPr lang="en-US" sz="1400" dirty="0"/>
          </a:p>
        </p:txBody>
      </p:sp>
      <p:sp>
        <p:nvSpPr>
          <p:cNvPr id="8" name="Shape 5"/>
          <p:cNvSpPr/>
          <p:nvPr/>
        </p:nvSpPr>
        <p:spPr>
          <a:xfrm>
            <a:off x="3311922" y="3840163"/>
            <a:ext cx="2933700" cy="2590800"/>
          </a:xfrm>
          <a:custGeom>
            <a:avLst/>
            <a:gdLst/>
            <a:ahLst/>
            <a:cxnLst/>
            <a:rect l="l" t="t" r="r" b="b"/>
            <a:pathLst>
              <a:path w="2933700" h="2590800">
                <a:moveTo>
                  <a:pt x="101611" y="0"/>
                </a:moveTo>
                <a:lnTo>
                  <a:pt x="2832089" y="0"/>
                </a:lnTo>
                <a:cubicBezTo>
                  <a:pt x="2888207" y="0"/>
                  <a:pt x="2933700" y="45493"/>
                  <a:pt x="2933700" y="101611"/>
                </a:cubicBezTo>
                <a:lnTo>
                  <a:pt x="2933700" y="2489189"/>
                </a:lnTo>
                <a:cubicBezTo>
                  <a:pt x="2933700" y="2545307"/>
                  <a:pt x="2888207" y="2590800"/>
                  <a:pt x="2832089" y="2590800"/>
                </a:cubicBezTo>
                <a:lnTo>
                  <a:pt x="101611" y="2590800"/>
                </a:lnTo>
                <a:cubicBezTo>
                  <a:pt x="45493" y="2590800"/>
                  <a:pt x="0" y="2545307"/>
                  <a:pt x="0" y="2489189"/>
                </a:cubicBezTo>
                <a:lnTo>
                  <a:pt x="0" y="101611"/>
                </a:lnTo>
                <a:cubicBezTo>
                  <a:pt x="0" y="45530"/>
                  <a:pt x="45530" y="0"/>
                  <a:pt x="101611" y="0"/>
                </a:cubicBezTo>
                <a:close/>
              </a:path>
            </a:pathLst>
          </a:custGeom>
          <a:solidFill>
            <a:srgbClr val="4A5568">
              <a:alpha val="30196"/>
            </a:srgbClr>
          </a:solidFill>
          <a:ln/>
        </p:spPr>
        <p:txBody>
          <a:bodyPr/>
          <a:lstStyle/>
          <a:p>
            <a:endParaRPr lang="zh-CN" altLang="en-US"/>
          </a:p>
        </p:txBody>
      </p:sp>
      <p:sp>
        <p:nvSpPr>
          <p:cNvPr id="9" name="Shape 6"/>
          <p:cNvSpPr/>
          <p:nvPr/>
        </p:nvSpPr>
        <p:spPr>
          <a:xfrm>
            <a:off x="4375348" y="4144962"/>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4FD1C5">
              <a:alpha val="20000"/>
            </a:srgbClr>
          </a:solidFill>
          <a:ln/>
        </p:spPr>
        <p:txBody>
          <a:bodyPr/>
          <a:lstStyle/>
          <a:p>
            <a:endParaRPr lang="zh-CN" altLang="en-US"/>
          </a:p>
        </p:txBody>
      </p:sp>
      <p:sp>
        <p:nvSpPr>
          <p:cNvPr id="10" name="Shape 7"/>
          <p:cNvSpPr/>
          <p:nvPr/>
        </p:nvSpPr>
        <p:spPr>
          <a:xfrm>
            <a:off x="4648398" y="4398963"/>
            <a:ext cx="266700" cy="304800"/>
          </a:xfrm>
          <a:custGeom>
            <a:avLst/>
            <a:gdLst/>
            <a:ahLst/>
            <a:cxnLst/>
            <a:rect l="l" t="t" r="r" b="b"/>
            <a:pathLst>
              <a:path w="266700" h="304800">
                <a:moveTo>
                  <a:pt x="266700" y="122515"/>
                </a:moveTo>
                <a:cubicBezTo>
                  <a:pt x="257889" y="128349"/>
                  <a:pt x="247769" y="133052"/>
                  <a:pt x="237232" y="136803"/>
                </a:cubicBezTo>
                <a:cubicBezTo>
                  <a:pt x="209252" y="146804"/>
                  <a:pt x="172522" y="152400"/>
                  <a:pt x="133350" y="152400"/>
                </a:cubicBezTo>
                <a:cubicBezTo>
                  <a:pt x="94178" y="152400"/>
                  <a:pt x="57388" y="146745"/>
                  <a:pt x="29468" y="136803"/>
                </a:cubicBezTo>
                <a:cubicBezTo>
                  <a:pt x="18990" y="133052"/>
                  <a:pt x="8811" y="128349"/>
                  <a:pt x="0" y="122515"/>
                </a:cubicBezTo>
                <a:lnTo>
                  <a:pt x="0" y="171450"/>
                </a:lnTo>
                <a:cubicBezTo>
                  <a:pt x="0" y="197763"/>
                  <a:pt x="59710" y="219075"/>
                  <a:pt x="133350" y="219075"/>
                </a:cubicBezTo>
                <a:cubicBezTo>
                  <a:pt x="206990" y="219075"/>
                  <a:pt x="266700" y="197763"/>
                  <a:pt x="266700" y="171450"/>
                </a:cubicBezTo>
                <a:lnTo>
                  <a:pt x="266700" y="122515"/>
                </a:lnTo>
                <a:close/>
                <a:moveTo>
                  <a:pt x="266700" y="76200"/>
                </a:moveTo>
                <a:lnTo>
                  <a:pt x="266700" y="47625"/>
                </a:lnTo>
                <a:cubicBezTo>
                  <a:pt x="266700" y="21312"/>
                  <a:pt x="206990" y="0"/>
                  <a:pt x="133350" y="0"/>
                </a:cubicBezTo>
                <a:cubicBezTo>
                  <a:pt x="59710" y="0"/>
                  <a:pt x="0" y="21312"/>
                  <a:pt x="0" y="47625"/>
                </a:cubicBezTo>
                <a:lnTo>
                  <a:pt x="0" y="76200"/>
                </a:lnTo>
                <a:cubicBezTo>
                  <a:pt x="0" y="102513"/>
                  <a:pt x="59710" y="123825"/>
                  <a:pt x="133350" y="123825"/>
                </a:cubicBezTo>
                <a:cubicBezTo>
                  <a:pt x="206990" y="123825"/>
                  <a:pt x="266700" y="102513"/>
                  <a:pt x="266700" y="76200"/>
                </a:cubicBezTo>
                <a:close/>
                <a:moveTo>
                  <a:pt x="237232" y="232053"/>
                </a:moveTo>
                <a:cubicBezTo>
                  <a:pt x="209312" y="241995"/>
                  <a:pt x="172581" y="247650"/>
                  <a:pt x="133350" y="247650"/>
                </a:cubicBezTo>
                <a:cubicBezTo>
                  <a:pt x="94119" y="247650"/>
                  <a:pt x="57388" y="241995"/>
                  <a:pt x="29468" y="232053"/>
                </a:cubicBezTo>
                <a:cubicBezTo>
                  <a:pt x="18990" y="228302"/>
                  <a:pt x="8811" y="223599"/>
                  <a:pt x="0" y="217765"/>
                </a:cubicBezTo>
                <a:lnTo>
                  <a:pt x="0" y="257175"/>
                </a:lnTo>
                <a:cubicBezTo>
                  <a:pt x="0" y="283488"/>
                  <a:pt x="59710" y="304800"/>
                  <a:pt x="133350" y="304800"/>
                </a:cubicBezTo>
                <a:cubicBezTo>
                  <a:pt x="206990" y="304800"/>
                  <a:pt x="266700" y="283488"/>
                  <a:pt x="266700" y="257175"/>
                </a:cubicBezTo>
                <a:lnTo>
                  <a:pt x="266700" y="217765"/>
                </a:lnTo>
                <a:cubicBezTo>
                  <a:pt x="257889" y="223599"/>
                  <a:pt x="247769" y="228302"/>
                  <a:pt x="237232" y="232053"/>
                </a:cubicBezTo>
                <a:close/>
              </a:path>
            </a:pathLst>
          </a:custGeom>
          <a:solidFill>
            <a:srgbClr val="4FD1C5"/>
          </a:solidFill>
          <a:ln/>
        </p:spPr>
        <p:txBody>
          <a:bodyPr/>
          <a:lstStyle/>
          <a:p>
            <a:endParaRPr lang="zh-CN" altLang="en-US"/>
          </a:p>
        </p:txBody>
      </p:sp>
      <p:sp>
        <p:nvSpPr>
          <p:cNvPr id="11" name="Text 8"/>
          <p:cNvSpPr/>
          <p:nvPr/>
        </p:nvSpPr>
        <p:spPr>
          <a:xfrm>
            <a:off x="3553222" y="5160963"/>
            <a:ext cx="2451100" cy="355600"/>
          </a:xfrm>
          <a:prstGeom prst="rect">
            <a:avLst/>
          </a:prstGeom>
          <a:noFill/>
          <a:ln/>
        </p:spPr>
        <p:txBody>
          <a:bodyPr wrap="square" lIns="0" tIns="0" rIns="0" bIns="0" rtlCol="0" anchor="ctr"/>
          <a:lstStyle/>
          <a:p>
            <a:pPr algn="ctr">
              <a:lnSpc>
                <a:spcPct val="120000"/>
              </a:lnSpc>
            </a:pPr>
            <a:r>
              <a:rPr lang="en-US" sz="2000" b="1" dirty="0">
                <a:solidFill>
                  <a:srgbClr val="F7FAFC"/>
                </a:solidFill>
                <a:latin typeface="Liter" pitchFamily="34" charset="0"/>
                <a:ea typeface="Liter" pitchFamily="34" charset="-122"/>
                <a:cs typeface="Liter" pitchFamily="34" charset="-120"/>
              </a:rPr>
              <a:t>Data Warehouse</a:t>
            </a:r>
            <a:endParaRPr lang="en-US" sz="1600" dirty="0"/>
          </a:p>
        </p:txBody>
      </p:sp>
      <p:sp>
        <p:nvSpPr>
          <p:cNvPr id="12" name="Text 9"/>
          <p:cNvSpPr/>
          <p:nvPr/>
        </p:nvSpPr>
        <p:spPr>
          <a:xfrm>
            <a:off x="3572272" y="5618163"/>
            <a:ext cx="24130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高质量、高一致性</a:t>
            </a:r>
            <a:endParaRPr lang="en-US" sz="1600" dirty="0"/>
          </a:p>
          <a:p>
            <a:pPr algn="ctr">
              <a:lnSpc>
                <a:spcPct val="120000"/>
              </a:lnSpc>
            </a:pPr>
            <a:r>
              <a:rPr lang="en-US" sz="1400" dirty="0">
                <a:solidFill>
                  <a:srgbClr val="A0AEC0"/>
                </a:solidFill>
                <a:latin typeface="MiSans" pitchFamily="34" charset="0"/>
                <a:ea typeface="MiSans" pitchFamily="34" charset="-122"/>
                <a:cs typeface="MiSans" pitchFamily="34" charset="-120"/>
              </a:rPr>
              <a:t>但成本高、扩展性有限</a:t>
            </a:r>
            <a:endParaRPr lang="en-US" sz="1600" dirty="0"/>
          </a:p>
        </p:txBody>
      </p:sp>
      <p:sp>
        <p:nvSpPr>
          <p:cNvPr id="13" name="Shape 10"/>
          <p:cNvSpPr/>
          <p:nvPr/>
        </p:nvSpPr>
        <p:spPr>
          <a:xfrm>
            <a:off x="6658074" y="3840163"/>
            <a:ext cx="2933700" cy="2590800"/>
          </a:xfrm>
          <a:custGeom>
            <a:avLst/>
            <a:gdLst/>
            <a:ahLst/>
            <a:cxnLst/>
            <a:rect l="l" t="t" r="r" b="b"/>
            <a:pathLst>
              <a:path w="2933700" h="2590800">
                <a:moveTo>
                  <a:pt x="101611" y="0"/>
                </a:moveTo>
                <a:lnTo>
                  <a:pt x="2832089" y="0"/>
                </a:lnTo>
                <a:cubicBezTo>
                  <a:pt x="2888207" y="0"/>
                  <a:pt x="2933700" y="45493"/>
                  <a:pt x="2933700" y="101611"/>
                </a:cubicBezTo>
                <a:lnTo>
                  <a:pt x="2933700" y="2489189"/>
                </a:lnTo>
                <a:cubicBezTo>
                  <a:pt x="2933700" y="2545307"/>
                  <a:pt x="2888207" y="2590800"/>
                  <a:pt x="2832089" y="2590800"/>
                </a:cubicBezTo>
                <a:lnTo>
                  <a:pt x="101611" y="2590800"/>
                </a:lnTo>
                <a:cubicBezTo>
                  <a:pt x="45493" y="2590800"/>
                  <a:pt x="0" y="2545307"/>
                  <a:pt x="0" y="2489189"/>
                </a:cubicBezTo>
                <a:lnTo>
                  <a:pt x="0" y="101611"/>
                </a:lnTo>
                <a:cubicBezTo>
                  <a:pt x="0" y="45530"/>
                  <a:pt x="45530" y="0"/>
                  <a:pt x="101611" y="0"/>
                </a:cubicBezTo>
                <a:close/>
              </a:path>
            </a:pathLst>
          </a:custGeom>
          <a:solidFill>
            <a:srgbClr val="4A5568">
              <a:alpha val="30196"/>
            </a:srgbClr>
          </a:solidFill>
          <a:ln/>
        </p:spPr>
        <p:txBody>
          <a:bodyPr/>
          <a:lstStyle/>
          <a:p>
            <a:endParaRPr lang="zh-CN" altLang="en-US"/>
          </a:p>
        </p:txBody>
      </p:sp>
      <p:sp>
        <p:nvSpPr>
          <p:cNvPr id="14" name="Shape 11"/>
          <p:cNvSpPr/>
          <p:nvPr/>
        </p:nvSpPr>
        <p:spPr>
          <a:xfrm>
            <a:off x="7721501" y="4144962"/>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4FD1C5">
              <a:alpha val="20000"/>
            </a:srgbClr>
          </a:solidFill>
          <a:ln/>
        </p:spPr>
        <p:txBody>
          <a:bodyPr/>
          <a:lstStyle/>
          <a:p>
            <a:endParaRPr lang="zh-CN" altLang="en-US"/>
          </a:p>
        </p:txBody>
      </p:sp>
      <p:sp>
        <p:nvSpPr>
          <p:cNvPr id="15" name="Shape 12"/>
          <p:cNvSpPr/>
          <p:nvPr/>
        </p:nvSpPr>
        <p:spPr>
          <a:xfrm>
            <a:off x="7975501" y="4398963"/>
            <a:ext cx="304800" cy="304800"/>
          </a:xfrm>
          <a:custGeom>
            <a:avLst/>
            <a:gdLst/>
            <a:ahLst/>
            <a:cxnLst/>
            <a:rect l="l" t="t" r="r" b="b"/>
            <a:pathLst>
              <a:path w="304800" h="304800">
                <a:moveTo>
                  <a:pt x="244435" y="73878"/>
                </a:moveTo>
                <a:cubicBezTo>
                  <a:pt x="256758" y="83165"/>
                  <a:pt x="271820" y="92154"/>
                  <a:pt x="288608" y="94417"/>
                </a:cubicBezTo>
                <a:cubicBezTo>
                  <a:pt x="296406" y="95488"/>
                  <a:pt x="303609" y="89952"/>
                  <a:pt x="304681" y="82153"/>
                </a:cubicBezTo>
                <a:cubicBezTo>
                  <a:pt x="305753" y="74355"/>
                  <a:pt x="300216" y="67151"/>
                  <a:pt x="292418" y="66080"/>
                </a:cubicBezTo>
                <a:cubicBezTo>
                  <a:pt x="282952" y="64830"/>
                  <a:pt x="272653" y="59353"/>
                  <a:pt x="261640" y="51078"/>
                </a:cubicBezTo>
                <a:cubicBezTo>
                  <a:pt x="238780" y="33814"/>
                  <a:pt x="207764" y="33814"/>
                  <a:pt x="184845" y="51078"/>
                </a:cubicBezTo>
                <a:cubicBezTo>
                  <a:pt x="170557" y="61853"/>
                  <a:pt x="160615" y="66735"/>
                  <a:pt x="152400" y="66735"/>
                </a:cubicBezTo>
                <a:cubicBezTo>
                  <a:pt x="144185" y="66735"/>
                  <a:pt x="134243" y="61853"/>
                  <a:pt x="119955" y="51078"/>
                </a:cubicBezTo>
                <a:cubicBezTo>
                  <a:pt x="97095" y="33814"/>
                  <a:pt x="66080" y="33814"/>
                  <a:pt x="43160" y="51078"/>
                </a:cubicBezTo>
                <a:cubicBezTo>
                  <a:pt x="32147" y="59353"/>
                  <a:pt x="21848" y="64830"/>
                  <a:pt x="12382" y="66080"/>
                </a:cubicBezTo>
                <a:cubicBezTo>
                  <a:pt x="4584" y="67151"/>
                  <a:pt x="-953" y="74295"/>
                  <a:pt x="119" y="82153"/>
                </a:cubicBezTo>
                <a:cubicBezTo>
                  <a:pt x="1191" y="90011"/>
                  <a:pt x="8334" y="95488"/>
                  <a:pt x="16192" y="94417"/>
                </a:cubicBezTo>
                <a:cubicBezTo>
                  <a:pt x="32980" y="92154"/>
                  <a:pt x="48101" y="83165"/>
                  <a:pt x="60365" y="73878"/>
                </a:cubicBezTo>
                <a:cubicBezTo>
                  <a:pt x="73045" y="64294"/>
                  <a:pt x="90071" y="64294"/>
                  <a:pt x="102751" y="73878"/>
                </a:cubicBezTo>
                <a:cubicBezTo>
                  <a:pt x="117157" y="84773"/>
                  <a:pt x="133886" y="95250"/>
                  <a:pt x="152400" y="95250"/>
                </a:cubicBezTo>
                <a:cubicBezTo>
                  <a:pt x="170914" y="95250"/>
                  <a:pt x="187583" y="84713"/>
                  <a:pt x="202049" y="73878"/>
                </a:cubicBezTo>
                <a:cubicBezTo>
                  <a:pt x="214729" y="64294"/>
                  <a:pt x="231755" y="64294"/>
                  <a:pt x="244435" y="73878"/>
                </a:cubicBezTo>
                <a:close/>
                <a:moveTo>
                  <a:pt x="244435" y="159603"/>
                </a:moveTo>
                <a:cubicBezTo>
                  <a:pt x="256758" y="168890"/>
                  <a:pt x="271820" y="177879"/>
                  <a:pt x="288608" y="180142"/>
                </a:cubicBezTo>
                <a:cubicBezTo>
                  <a:pt x="296406" y="181213"/>
                  <a:pt x="303609" y="175677"/>
                  <a:pt x="304681" y="167878"/>
                </a:cubicBezTo>
                <a:cubicBezTo>
                  <a:pt x="305753" y="160080"/>
                  <a:pt x="300216" y="152876"/>
                  <a:pt x="292418" y="151805"/>
                </a:cubicBezTo>
                <a:cubicBezTo>
                  <a:pt x="282952" y="150555"/>
                  <a:pt x="272653" y="145078"/>
                  <a:pt x="261640" y="136803"/>
                </a:cubicBezTo>
                <a:cubicBezTo>
                  <a:pt x="238780" y="119539"/>
                  <a:pt x="207764" y="119539"/>
                  <a:pt x="184845" y="136803"/>
                </a:cubicBezTo>
                <a:cubicBezTo>
                  <a:pt x="170557" y="147578"/>
                  <a:pt x="160615" y="152460"/>
                  <a:pt x="152400" y="152460"/>
                </a:cubicBezTo>
                <a:cubicBezTo>
                  <a:pt x="144185" y="152460"/>
                  <a:pt x="134243" y="147578"/>
                  <a:pt x="119955" y="136803"/>
                </a:cubicBezTo>
                <a:cubicBezTo>
                  <a:pt x="97095" y="119539"/>
                  <a:pt x="66080" y="119539"/>
                  <a:pt x="43160" y="136803"/>
                </a:cubicBezTo>
                <a:cubicBezTo>
                  <a:pt x="32147" y="145078"/>
                  <a:pt x="21848" y="150555"/>
                  <a:pt x="12382" y="151805"/>
                </a:cubicBezTo>
                <a:cubicBezTo>
                  <a:pt x="4584" y="152817"/>
                  <a:pt x="-953" y="160020"/>
                  <a:pt x="119" y="167878"/>
                </a:cubicBezTo>
                <a:cubicBezTo>
                  <a:pt x="1191" y="175736"/>
                  <a:pt x="8334" y="181213"/>
                  <a:pt x="16192" y="180142"/>
                </a:cubicBezTo>
                <a:cubicBezTo>
                  <a:pt x="32980" y="177879"/>
                  <a:pt x="48101" y="168890"/>
                  <a:pt x="60365" y="159603"/>
                </a:cubicBezTo>
                <a:cubicBezTo>
                  <a:pt x="73045" y="150019"/>
                  <a:pt x="90071" y="150019"/>
                  <a:pt x="102751" y="159603"/>
                </a:cubicBezTo>
                <a:cubicBezTo>
                  <a:pt x="117157" y="170498"/>
                  <a:pt x="133886" y="180975"/>
                  <a:pt x="152400" y="180975"/>
                </a:cubicBezTo>
                <a:cubicBezTo>
                  <a:pt x="170914" y="180975"/>
                  <a:pt x="187583" y="170438"/>
                  <a:pt x="202049" y="159603"/>
                </a:cubicBezTo>
                <a:cubicBezTo>
                  <a:pt x="214729" y="150019"/>
                  <a:pt x="231755" y="150019"/>
                  <a:pt x="244435" y="159603"/>
                </a:cubicBezTo>
                <a:close/>
                <a:moveTo>
                  <a:pt x="202049" y="245328"/>
                </a:moveTo>
                <a:cubicBezTo>
                  <a:pt x="214729" y="235744"/>
                  <a:pt x="231755" y="235744"/>
                  <a:pt x="244435" y="245328"/>
                </a:cubicBezTo>
                <a:cubicBezTo>
                  <a:pt x="256758" y="254615"/>
                  <a:pt x="271820" y="263604"/>
                  <a:pt x="288608" y="265867"/>
                </a:cubicBezTo>
                <a:cubicBezTo>
                  <a:pt x="296406" y="266938"/>
                  <a:pt x="303609" y="261402"/>
                  <a:pt x="304681" y="253603"/>
                </a:cubicBezTo>
                <a:cubicBezTo>
                  <a:pt x="305753" y="245805"/>
                  <a:pt x="300216" y="238601"/>
                  <a:pt x="292418" y="237530"/>
                </a:cubicBezTo>
                <a:cubicBezTo>
                  <a:pt x="282952" y="236280"/>
                  <a:pt x="272653" y="230803"/>
                  <a:pt x="261640" y="222528"/>
                </a:cubicBezTo>
                <a:cubicBezTo>
                  <a:pt x="238780" y="205264"/>
                  <a:pt x="207764" y="205264"/>
                  <a:pt x="184845" y="222528"/>
                </a:cubicBezTo>
                <a:cubicBezTo>
                  <a:pt x="170557" y="233303"/>
                  <a:pt x="160615" y="238185"/>
                  <a:pt x="152400" y="238185"/>
                </a:cubicBezTo>
                <a:cubicBezTo>
                  <a:pt x="144185" y="238185"/>
                  <a:pt x="134243" y="233303"/>
                  <a:pt x="119955" y="222528"/>
                </a:cubicBezTo>
                <a:cubicBezTo>
                  <a:pt x="97095" y="205264"/>
                  <a:pt x="66080" y="205264"/>
                  <a:pt x="43160" y="222528"/>
                </a:cubicBezTo>
                <a:cubicBezTo>
                  <a:pt x="32147" y="230803"/>
                  <a:pt x="21848" y="236280"/>
                  <a:pt x="12382" y="237530"/>
                </a:cubicBezTo>
                <a:cubicBezTo>
                  <a:pt x="4584" y="238601"/>
                  <a:pt x="-953" y="245745"/>
                  <a:pt x="119" y="253603"/>
                </a:cubicBezTo>
                <a:cubicBezTo>
                  <a:pt x="1191" y="261461"/>
                  <a:pt x="8334" y="266938"/>
                  <a:pt x="16192" y="265867"/>
                </a:cubicBezTo>
                <a:cubicBezTo>
                  <a:pt x="32980" y="263604"/>
                  <a:pt x="48101" y="254615"/>
                  <a:pt x="60365" y="245328"/>
                </a:cubicBezTo>
                <a:cubicBezTo>
                  <a:pt x="73045" y="235744"/>
                  <a:pt x="90071" y="235744"/>
                  <a:pt x="102751" y="245328"/>
                </a:cubicBezTo>
                <a:cubicBezTo>
                  <a:pt x="117157" y="256223"/>
                  <a:pt x="133886" y="266700"/>
                  <a:pt x="152400" y="266700"/>
                </a:cubicBezTo>
                <a:cubicBezTo>
                  <a:pt x="170914" y="266700"/>
                  <a:pt x="187583" y="256163"/>
                  <a:pt x="202049" y="245328"/>
                </a:cubicBezTo>
                <a:close/>
              </a:path>
            </a:pathLst>
          </a:custGeom>
          <a:solidFill>
            <a:srgbClr val="4FD1C5"/>
          </a:solidFill>
          <a:ln/>
        </p:spPr>
        <p:txBody>
          <a:bodyPr/>
          <a:lstStyle/>
          <a:p>
            <a:endParaRPr lang="zh-CN" altLang="en-US"/>
          </a:p>
        </p:txBody>
      </p:sp>
      <p:sp>
        <p:nvSpPr>
          <p:cNvPr id="16" name="Text 13"/>
          <p:cNvSpPr/>
          <p:nvPr/>
        </p:nvSpPr>
        <p:spPr>
          <a:xfrm>
            <a:off x="6899374" y="5160963"/>
            <a:ext cx="2451100" cy="355600"/>
          </a:xfrm>
          <a:prstGeom prst="rect">
            <a:avLst/>
          </a:prstGeom>
          <a:noFill/>
          <a:ln/>
        </p:spPr>
        <p:txBody>
          <a:bodyPr wrap="square" lIns="0" tIns="0" rIns="0" bIns="0" rtlCol="0" anchor="ctr"/>
          <a:lstStyle/>
          <a:p>
            <a:pPr algn="ctr">
              <a:lnSpc>
                <a:spcPct val="120000"/>
              </a:lnSpc>
            </a:pPr>
            <a:r>
              <a:rPr lang="en-US" sz="2000" b="1" dirty="0">
                <a:solidFill>
                  <a:srgbClr val="F7FAFC"/>
                </a:solidFill>
                <a:latin typeface="Liter" pitchFamily="34" charset="0"/>
                <a:ea typeface="Liter" pitchFamily="34" charset="-122"/>
                <a:cs typeface="Liter" pitchFamily="34" charset="-120"/>
              </a:rPr>
              <a:t>Data Lake</a:t>
            </a:r>
            <a:endParaRPr lang="en-US" sz="1600" dirty="0"/>
          </a:p>
        </p:txBody>
      </p:sp>
      <p:sp>
        <p:nvSpPr>
          <p:cNvPr id="17" name="Text 14"/>
          <p:cNvSpPr/>
          <p:nvPr/>
        </p:nvSpPr>
        <p:spPr>
          <a:xfrm>
            <a:off x="6918424" y="5618163"/>
            <a:ext cx="24130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低成本、高灵活性</a:t>
            </a:r>
            <a:endParaRPr lang="en-US" sz="1600" dirty="0"/>
          </a:p>
          <a:p>
            <a:pPr algn="ctr">
              <a:lnSpc>
                <a:spcPct val="120000"/>
              </a:lnSpc>
            </a:pPr>
            <a:r>
              <a:rPr lang="en-US" sz="1400" dirty="0">
                <a:solidFill>
                  <a:srgbClr val="A0AEC0"/>
                </a:solidFill>
                <a:latin typeface="MiSans" pitchFamily="34" charset="0"/>
                <a:ea typeface="MiSans" pitchFamily="34" charset="-122"/>
                <a:cs typeface="MiSans" pitchFamily="34" charset="-120"/>
              </a:rPr>
              <a:t>但数据质量与治理难度大</a:t>
            </a:r>
            <a:endParaRPr lang="en-US" sz="1600" dirty="0"/>
          </a:p>
        </p:txBody>
      </p:sp>
      <p:sp>
        <p:nvSpPr>
          <p:cNvPr id="18" name="Shape 15"/>
          <p:cNvSpPr/>
          <p:nvPr/>
        </p:nvSpPr>
        <p:spPr>
          <a:xfrm>
            <a:off x="10004227" y="3840163"/>
            <a:ext cx="2933700" cy="2590800"/>
          </a:xfrm>
          <a:custGeom>
            <a:avLst/>
            <a:gdLst/>
            <a:ahLst/>
            <a:cxnLst/>
            <a:rect l="l" t="t" r="r" b="b"/>
            <a:pathLst>
              <a:path w="2933700" h="2590800">
                <a:moveTo>
                  <a:pt x="101611" y="0"/>
                </a:moveTo>
                <a:lnTo>
                  <a:pt x="2832089" y="0"/>
                </a:lnTo>
                <a:cubicBezTo>
                  <a:pt x="2888207" y="0"/>
                  <a:pt x="2933700" y="45493"/>
                  <a:pt x="2933700" y="101611"/>
                </a:cubicBezTo>
                <a:lnTo>
                  <a:pt x="2933700" y="2489189"/>
                </a:lnTo>
                <a:cubicBezTo>
                  <a:pt x="2933700" y="2545307"/>
                  <a:pt x="2888207" y="2590800"/>
                  <a:pt x="2832089" y="2590800"/>
                </a:cubicBezTo>
                <a:lnTo>
                  <a:pt x="101611" y="2590800"/>
                </a:lnTo>
                <a:cubicBezTo>
                  <a:pt x="45493" y="2590800"/>
                  <a:pt x="0" y="2545307"/>
                  <a:pt x="0" y="2489189"/>
                </a:cubicBezTo>
                <a:lnTo>
                  <a:pt x="0" y="101611"/>
                </a:lnTo>
                <a:cubicBezTo>
                  <a:pt x="0" y="45530"/>
                  <a:pt x="45530" y="0"/>
                  <a:pt x="101611" y="0"/>
                </a:cubicBezTo>
                <a:close/>
              </a:path>
            </a:pathLst>
          </a:custGeom>
          <a:solidFill>
            <a:srgbClr val="4A5568">
              <a:alpha val="30196"/>
            </a:srgbClr>
          </a:solidFill>
          <a:ln/>
        </p:spPr>
        <p:txBody>
          <a:bodyPr/>
          <a:lstStyle/>
          <a:p>
            <a:endParaRPr lang="zh-CN" altLang="en-US"/>
          </a:p>
        </p:txBody>
      </p:sp>
      <p:sp>
        <p:nvSpPr>
          <p:cNvPr id="19" name="Shape 16"/>
          <p:cNvSpPr/>
          <p:nvPr/>
        </p:nvSpPr>
        <p:spPr>
          <a:xfrm>
            <a:off x="11067653" y="4144962"/>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4FD1C5">
              <a:alpha val="20000"/>
            </a:srgbClr>
          </a:solidFill>
          <a:ln/>
        </p:spPr>
        <p:txBody>
          <a:bodyPr/>
          <a:lstStyle/>
          <a:p>
            <a:endParaRPr lang="zh-CN" altLang="en-US"/>
          </a:p>
        </p:txBody>
      </p:sp>
      <p:sp>
        <p:nvSpPr>
          <p:cNvPr id="20" name="Shape 17"/>
          <p:cNvSpPr/>
          <p:nvPr/>
        </p:nvSpPr>
        <p:spPr>
          <a:xfrm>
            <a:off x="11321653" y="4398963"/>
            <a:ext cx="304800" cy="304800"/>
          </a:xfrm>
          <a:custGeom>
            <a:avLst/>
            <a:gdLst/>
            <a:ahLst/>
            <a:cxnLst/>
            <a:rect l="l" t="t" r="r" b="b"/>
            <a:pathLst>
              <a:path w="304800" h="304800">
                <a:moveTo>
                  <a:pt x="138410" y="3096"/>
                </a:moveTo>
                <a:cubicBezTo>
                  <a:pt x="147280" y="-1012"/>
                  <a:pt x="157520" y="-1012"/>
                  <a:pt x="166390" y="3096"/>
                </a:cubicBezTo>
                <a:lnTo>
                  <a:pt x="296525" y="63222"/>
                </a:lnTo>
                <a:cubicBezTo>
                  <a:pt x="301585" y="65544"/>
                  <a:pt x="304800" y="70604"/>
                  <a:pt x="304800" y="76200"/>
                </a:cubicBezTo>
                <a:cubicBezTo>
                  <a:pt x="304800" y="81796"/>
                  <a:pt x="301585" y="86856"/>
                  <a:pt x="296525" y="89178"/>
                </a:cubicBezTo>
                <a:lnTo>
                  <a:pt x="166390" y="149304"/>
                </a:lnTo>
                <a:cubicBezTo>
                  <a:pt x="157520" y="153412"/>
                  <a:pt x="147280" y="153412"/>
                  <a:pt x="138410" y="149304"/>
                </a:cubicBezTo>
                <a:lnTo>
                  <a:pt x="8275" y="89178"/>
                </a:lnTo>
                <a:cubicBezTo>
                  <a:pt x="3215" y="86797"/>
                  <a:pt x="0" y="81736"/>
                  <a:pt x="0" y="76200"/>
                </a:cubicBezTo>
                <a:cubicBezTo>
                  <a:pt x="0" y="70664"/>
                  <a:pt x="3215" y="65544"/>
                  <a:pt x="8275" y="63222"/>
                </a:cubicBezTo>
                <a:lnTo>
                  <a:pt x="138410" y="3096"/>
                </a:lnTo>
                <a:close/>
                <a:moveTo>
                  <a:pt x="28635" y="130016"/>
                </a:moveTo>
                <a:lnTo>
                  <a:pt x="126444" y="175200"/>
                </a:lnTo>
                <a:cubicBezTo>
                  <a:pt x="142935" y="182820"/>
                  <a:pt x="161925" y="182820"/>
                  <a:pt x="178415" y="175200"/>
                </a:cubicBezTo>
                <a:lnTo>
                  <a:pt x="276225" y="130016"/>
                </a:lnTo>
                <a:lnTo>
                  <a:pt x="296525" y="139422"/>
                </a:lnTo>
                <a:cubicBezTo>
                  <a:pt x="301585" y="141744"/>
                  <a:pt x="304800" y="146804"/>
                  <a:pt x="304800" y="152400"/>
                </a:cubicBezTo>
                <a:cubicBezTo>
                  <a:pt x="304800" y="157996"/>
                  <a:pt x="301585" y="163056"/>
                  <a:pt x="296525" y="165378"/>
                </a:cubicBezTo>
                <a:lnTo>
                  <a:pt x="166390" y="225504"/>
                </a:lnTo>
                <a:cubicBezTo>
                  <a:pt x="157520" y="229612"/>
                  <a:pt x="147280" y="229612"/>
                  <a:pt x="138410" y="225504"/>
                </a:cubicBezTo>
                <a:lnTo>
                  <a:pt x="8275" y="165378"/>
                </a:lnTo>
                <a:cubicBezTo>
                  <a:pt x="3215" y="162997"/>
                  <a:pt x="0" y="157936"/>
                  <a:pt x="0" y="152400"/>
                </a:cubicBezTo>
                <a:cubicBezTo>
                  <a:pt x="0" y="146864"/>
                  <a:pt x="3215" y="141744"/>
                  <a:pt x="8275" y="139422"/>
                </a:cubicBezTo>
                <a:lnTo>
                  <a:pt x="28575" y="130016"/>
                </a:lnTo>
                <a:close/>
                <a:moveTo>
                  <a:pt x="8275" y="215622"/>
                </a:moveTo>
                <a:lnTo>
                  <a:pt x="28575" y="206216"/>
                </a:lnTo>
                <a:lnTo>
                  <a:pt x="126385" y="251400"/>
                </a:lnTo>
                <a:cubicBezTo>
                  <a:pt x="142875" y="259020"/>
                  <a:pt x="161865" y="259020"/>
                  <a:pt x="178356" y="251400"/>
                </a:cubicBezTo>
                <a:lnTo>
                  <a:pt x="276165" y="206216"/>
                </a:lnTo>
                <a:lnTo>
                  <a:pt x="296466" y="215622"/>
                </a:lnTo>
                <a:cubicBezTo>
                  <a:pt x="301526" y="217944"/>
                  <a:pt x="304740" y="223004"/>
                  <a:pt x="304740" y="228600"/>
                </a:cubicBezTo>
                <a:cubicBezTo>
                  <a:pt x="304740" y="234196"/>
                  <a:pt x="301526" y="239256"/>
                  <a:pt x="296466" y="241578"/>
                </a:cubicBezTo>
                <a:lnTo>
                  <a:pt x="166330" y="301704"/>
                </a:lnTo>
                <a:cubicBezTo>
                  <a:pt x="157460" y="305812"/>
                  <a:pt x="147221" y="305812"/>
                  <a:pt x="138351" y="301704"/>
                </a:cubicBezTo>
                <a:lnTo>
                  <a:pt x="8275" y="241578"/>
                </a:lnTo>
                <a:cubicBezTo>
                  <a:pt x="3215" y="239197"/>
                  <a:pt x="0" y="234136"/>
                  <a:pt x="0" y="228600"/>
                </a:cubicBezTo>
                <a:cubicBezTo>
                  <a:pt x="0" y="223064"/>
                  <a:pt x="3215" y="217944"/>
                  <a:pt x="8275" y="215622"/>
                </a:cubicBezTo>
                <a:close/>
              </a:path>
            </a:pathLst>
          </a:custGeom>
          <a:solidFill>
            <a:srgbClr val="4FD1C5"/>
          </a:solidFill>
          <a:ln/>
        </p:spPr>
        <p:txBody>
          <a:bodyPr/>
          <a:lstStyle/>
          <a:p>
            <a:endParaRPr lang="zh-CN" altLang="en-US"/>
          </a:p>
        </p:txBody>
      </p:sp>
      <p:sp>
        <p:nvSpPr>
          <p:cNvPr id="21" name="Text 18"/>
          <p:cNvSpPr/>
          <p:nvPr/>
        </p:nvSpPr>
        <p:spPr>
          <a:xfrm>
            <a:off x="10245527" y="5160963"/>
            <a:ext cx="2451100" cy="355600"/>
          </a:xfrm>
          <a:prstGeom prst="rect">
            <a:avLst/>
          </a:prstGeom>
          <a:noFill/>
          <a:ln/>
        </p:spPr>
        <p:txBody>
          <a:bodyPr wrap="square" lIns="0" tIns="0" rIns="0" bIns="0" rtlCol="0" anchor="ctr"/>
          <a:lstStyle/>
          <a:p>
            <a:pPr algn="ctr">
              <a:lnSpc>
                <a:spcPct val="120000"/>
              </a:lnSpc>
            </a:pPr>
            <a:r>
              <a:rPr lang="en-US" sz="2000" b="1" dirty="0">
                <a:solidFill>
                  <a:srgbClr val="F7FAFC"/>
                </a:solidFill>
                <a:latin typeface="Liter" pitchFamily="34" charset="0"/>
                <a:ea typeface="Liter" pitchFamily="34" charset="-122"/>
                <a:cs typeface="Liter" pitchFamily="34" charset="-120"/>
              </a:rPr>
              <a:t>Lakehouse</a:t>
            </a:r>
            <a:endParaRPr lang="en-US" sz="1600" dirty="0"/>
          </a:p>
        </p:txBody>
      </p:sp>
      <p:sp>
        <p:nvSpPr>
          <p:cNvPr id="22" name="Text 19"/>
          <p:cNvSpPr/>
          <p:nvPr/>
        </p:nvSpPr>
        <p:spPr>
          <a:xfrm>
            <a:off x="10264577" y="5618163"/>
            <a:ext cx="2413000" cy="508000"/>
          </a:xfrm>
          <a:prstGeom prst="rect">
            <a:avLst/>
          </a:prstGeom>
          <a:noFill/>
          <a:ln/>
        </p:spPr>
        <p:txBody>
          <a:bodyPr wrap="square" lIns="0" tIns="0" rIns="0" bIns="0" rtlCol="0" anchor="ctr"/>
          <a:lstStyle/>
          <a:p>
            <a:pPr algn="ctr">
              <a:lnSpc>
                <a:spcPct val="120000"/>
              </a:lnSpc>
            </a:pPr>
            <a:r>
              <a:rPr lang="en-US" sz="1400" dirty="0">
                <a:solidFill>
                  <a:srgbClr val="A0AEC0"/>
                </a:solidFill>
                <a:latin typeface="MiSans" pitchFamily="34" charset="0"/>
                <a:ea typeface="MiSans" pitchFamily="34" charset="-122"/>
                <a:cs typeface="MiSans" pitchFamily="34" charset="-120"/>
              </a:rPr>
              <a:t>在低成本之上</a:t>
            </a:r>
            <a:endParaRPr lang="en-US" sz="1600" dirty="0"/>
          </a:p>
          <a:p>
            <a:pPr algn="ctr">
              <a:lnSpc>
                <a:spcPct val="120000"/>
              </a:lnSpc>
            </a:pPr>
            <a:r>
              <a:rPr lang="en-US" sz="1400" dirty="0">
                <a:solidFill>
                  <a:srgbClr val="A0AEC0"/>
                </a:solidFill>
                <a:latin typeface="MiSans" pitchFamily="34" charset="0"/>
                <a:ea typeface="MiSans" pitchFamily="34" charset="-122"/>
                <a:cs typeface="MiSans" pitchFamily="34" charset="-120"/>
              </a:rPr>
              <a:t>通过Table Format重建高质量</a:t>
            </a:r>
            <a:endParaRPr lang="en-US" sz="1600" dirty="0"/>
          </a:p>
        </p:txBody>
      </p:sp>
      <p:sp>
        <p:nvSpPr>
          <p:cNvPr id="23" name="Shape 20"/>
          <p:cNvSpPr/>
          <p:nvPr/>
        </p:nvSpPr>
        <p:spPr>
          <a:xfrm>
            <a:off x="2720380" y="6837363"/>
            <a:ext cx="10845800" cy="1460500"/>
          </a:xfrm>
          <a:custGeom>
            <a:avLst/>
            <a:gdLst/>
            <a:ahLst/>
            <a:cxnLst/>
            <a:rect l="l" t="t" r="r" b="b"/>
            <a:pathLst>
              <a:path w="10845800" h="1460500">
                <a:moveTo>
                  <a:pt x="50800" y="0"/>
                </a:moveTo>
                <a:lnTo>
                  <a:pt x="10744193" y="0"/>
                </a:lnTo>
                <a:cubicBezTo>
                  <a:pt x="10800309" y="0"/>
                  <a:pt x="10845800" y="45491"/>
                  <a:pt x="10845800" y="101607"/>
                </a:cubicBezTo>
                <a:lnTo>
                  <a:pt x="10845800" y="1358893"/>
                </a:lnTo>
                <a:cubicBezTo>
                  <a:pt x="10845800" y="1415009"/>
                  <a:pt x="10800309" y="1460500"/>
                  <a:pt x="10744193" y="1460500"/>
                </a:cubicBezTo>
                <a:lnTo>
                  <a:pt x="50800" y="1460500"/>
                </a:lnTo>
                <a:cubicBezTo>
                  <a:pt x="22763" y="1460500"/>
                  <a:pt x="0" y="1437737"/>
                  <a:pt x="0" y="1409700"/>
                </a:cubicBezTo>
                <a:lnTo>
                  <a:pt x="0" y="50800"/>
                </a:lnTo>
                <a:cubicBezTo>
                  <a:pt x="0" y="22763"/>
                  <a:pt x="22763" y="0"/>
                  <a:pt x="50800" y="0"/>
                </a:cubicBezTo>
                <a:close/>
              </a:path>
            </a:pathLst>
          </a:custGeom>
          <a:solidFill>
            <a:srgbClr val="4FD1C5">
              <a:alpha val="10196"/>
            </a:srgbClr>
          </a:solidFill>
          <a:ln/>
        </p:spPr>
        <p:txBody>
          <a:bodyPr/>
          <a:lstStyle/>
          <a:p>
            <a:endParaRPr lang="zh-CN" altLang="en-US"/>
          </a:p>
        </p:txBody>
      </p:sp>
      <p:sp>
        <p:nvSpPr>
          <p:cNvPr id="24" name="Shape 21"/>
          <p:cNvSpPr/>
          <p:nvPr/>
        </p:nvSpPr>
        <p:spPr>
          <a:xfrm>
            <a:off x="2720380" y="6837363"/>
            <a:ext cx="50800" cy="1460500"/>
          </a:xfrm>
          <a:custGeom>
            <a:avLst/>
            <a:gdLst/>
            <a:ahLst/>
            <a:cxnLst/>
            <a:rect l="l" t="t" r="r" b="b"/>
            <a:pathLst>
              <a:path w="50800" h="1460500">
                <a:moveTo>
                  <a:pt x="50800" y="0"/>
                </a:moveTo>
                <a:lnTo>
                  <a:pt x="50800" y="0"/>
                </a:lnTo>
                <a:lnTo>
                  <a:pt x="50800" y="1460500"/>
                </a:lnTo>
                <a:lnTo>
                  <a:pt x="50800" y="1460500"/>
                </a:lnTo>
                <a:cubicBezTo>
                  <a:pt x="22763" y="1460500"/>
                  <a:pt x="0" y="1437737"/>
                  <a:pt x="0" y="1409700"/>
                </a:cubicBezTo>
                <a:lnTo>
                  <a:pt x="0" y="50800"/>
                </a:lnTo>
                <a:cubicBezTo>
                  <a:pt x="0" y="22763"/>
                  <a:pt x="22763" y="0"/>
                  <a:pt x="50800" y="0"/>
                </a:cubicBezTo>
                <a:close/>
              </a:path>
            </a:pathLst>
          </a:custGeom>
          <a:solidFill>
            <a:srgbClr val="4FD1C5"/>
          </a:solidFill>
          <a:ln/>
        </p:spPr>
        <p:txBody>
          <a:bodyPr/>
          <a:lstStyle/>
          <a:p>
            <a:endParaRPr lang="zh-CN" altLang="en-US"/>
          </a:p>
        </p:txBody>
      </p:sp>
      <p:sp>
        <p:nvSpPr>
          <p:cNvPr id="25" name="Text 22"/>
          <p:cNvSpPr/>
          <p:nvPr/>
        </p:nvSpPr>
        <p:spPr>
          <a:xfrm>
            <a:off x="2993430" y="7142163"/>
            <a:ext cx="10325100" cy="368300"/>
          </a:xfrm>
          <a:prstGeom prst="rect">
            <a:avLst/>
          </a:prstGeom>
          <a:noFill/>
          <a:ln/>
        </p:spPr>
        <p:txBody>
          <a:bodyPr wrap="square" lIns="0" tIns="0" rIns="0" bIns="0" rtlCol="0" anchor="ctr"/>
          <a:lstStyle/>
          <a:p>
            <a:pPr algn="ctr">
              <a:lnSpc>
                <a:spcPct val="140000"/>
              </a:lnSpc>
            </a:pPr>
            <a:r>
              <a:rPr lang="en-US" sz="1800" dirty="0">
                <a:solidFill>
                  <a:srgbClr val="F7FAFC"/>
                </a:solidFill>
                <a:latin typeface="MiSans" pitchFamily="34" charset="0"/>
                <a:ea typeface="MiSans" pitchFamily="34" charset="-122"/>
                <a:cs typeface="MiSans" pitchFamily="34" charset="-120"/>
              </a:rPr>
              <a:t>从Data Warehouse到Data Lake,再到Lakehouse,本质上是对</a:t>
            </a:r>
            <a:r>
              <a:rPr lang="en-US" sz="1800" b="1" dirty="0">
                <a:solidFill>
                  <a:srgbClr val="4FD1C5"/>
                </a:solidFill>
                <a:latin typeface="MiSans" pitchFamily="34" charset="0"/>
                <a:ea typeface="MiSans" pitchFamily="34" charset="-122"/>
                <a:cs typeface="MiSans" pitchFamily="34" charset="-120"/>
              </a:rPr>
              <a:t>成本</a:t>
            </a:r>
            <a:r>
              <a:rPr lang="en-US" sz="1800" dirty="0">
                <a:solidFill>
                  <a:srgbClr val="F7FAFC"/>
                </a:solidFill>
                <a:latin typeface="MiSans" pitchFamily="34" charset="0"/>
                <a:ea typeface="MiSans" pitchFamily="34" charset="-122"/>
                <a:cs typeface="MiSans" pitchFamily="34" charset="-120"/>
              </a:rPr>
              <a:t>、</a:t>
            </a:r>
            <a:r>
              <a:rPr lang="en-US" sz="1800" b="1" dirty="0">
                <a:solidFill>
                  <a:srgbClr val="4FD1C5"/>
                </a:solidFill>
                <a:latin typeface="MiSans" pitchFamily="34" charset="0"/>
                <a:ea typeface="MiSans" pitchFamily="34" charset="-122"/>
                <a:cs typeface="MiSans" pitchFamily="34" charset="-120"/>
              </a:rPr>
              <a:t>效率</a:t>
            </a:r>
            <a:r>
              <a:rPr lang="en-US" sz="1800" dirty="0">
                <a:solidFill>
                  <a:srgbClr val="F7FAFC"/>
                </a:solidFill>
                <a:latin typeface="MiSans" pitchFamily="34" charset="0"/>
                <a:ea typeface="MiSans" pitchFamily="34" charset="-122"/>
                <a:cs typeface="MiSans" pitchFamily="34" charset="-120"/>
              </a:rPr>
              <a:t>和</a:t>
            </a:r>
            <a:r>
              <a:rPr lang="en-US" sz="1800" b="1" dirty="0">
                <a:solidFill>
                  <a:srgbClr val="4FD1C5"/>
                </a:solidFill>
                <a:latin typeface="MiSans" pitchFamily="34" charset="0"/>
                <a:ea typeface="MiSans" pitchFamily="34" charset="-122"/>
                <a:cs typeface="MiSans" pitchFamily="34" charset="-120"/>
              </a:rPr>
              <a:t>质量</a:t>
            </a:r>
            <a:r>
              <a:rPr lang="en-US" sz="1800" dirty="0">
                <a:solidFill>
                  <a:srgbClr val="F7FAFC"/>
                </a:solidFill>
                <a:latin typeface="MiSans" pitchFamily="34" charset="0"/>
                <a:ea typeface="MiSans" pitchFamily="34" charset="-122"/>
                <a:cs typeface="MiSans" pitchFamily="34" charset="-120"/>
              </a:rPr>
              <a:t>的不断平衡与再平衡。</a:t>
            </a:r>
            <a:endParaRPr lang="en-US" sz="1600" dirty="0"/>
          </a:p>
        </p:txBody>
      </p:sp>
      <p:sp>
        <p:nvSpPr>
          <p:cNvPr id="26" name="Text 23"/>
          <p:cNvSpPr/>
          <p:nvPr/>
        </p:nvSpPr>
        <p:spPr>
          <a:xfrm>
            <a:off x="2999780" y="7666038"/>
            <a:ext cx="10312400" cy="330200"/>
          </a:xfrm>
          <a:prstGeom prst="rect">
            <a:avLst/>
          </a:prstGeom>
          <a:noFill/>
          <a:ln/>
        </p:spPr>
        <p:txBody>
          <a:bodyPr wrap="square" lIns="0" tIns="0" rIns="0" bIns="0" rtlCol="0" anchor="ctr"/>
          <a:lstStyle/>
          <a:p>
            <a:pPr algn="ctr">
              <a:lnSpc>
                <a:spcPct val="140000"/>
              </a:lnSpc>
            </a:pPr>
            <a:r>
              <a:rPr lang="en-US" sz="1600" dirty="0">
                <a:solidFill>
                  <a:srgbClr val="A0AEC0"/>
                </a:solidFill>
                <a:latin typeface="MiSans" pitchFamily="34" charset="0"/>
                <a:ea typeface="MiSans" pitchFamily="34" charset="-122"/>
                <a:cs typeface="MiSans" pitchFamily="34" charset="-120"/>
              </a:rPr>
              <a:t>掌握Lakehouse架构及Table Format原理,已成为继Hadoop、Spark之后的新一代基础能力。</a:t>
            </a:r>
            <a:endParaRPr lang="en-US" sz="1600" dirty="0"/>
          </a:p>
        </p:txBody>
      </p:sp>
      <p:sp>
        <p:nvSpPr>
          <p:cNvPr id="27" name="Shape 24"/>
          <p:cNvSpPr/>
          <p:nvPr/>
        </p:nvSpPr>
        <p:spPr>
          <a:xfrm>
            <a:off x="4433888" y="8758238"/>
            <a:ext cx="228600" cy="203200"/>
          </a:xfrm>
          <a:custGeom>
            <a:avLst/>
            <a:gdLst/>
            <a:ahLst/>
            <a:cxnLst/>
            <a:rect l="l" t="t" r="r" b="b"/>
            <a:pathLst>
              <a:path w="228600" h="203200">
                <a:moveTo>
                  <a:pt x="19050" y="77708"/>
                </a:moveTo>
                <a:lnTo>
                  <a:pt x="102076" y="111879"/>
                </a:lnTo>
                <a:cubicBezTo>
                  <a:pt x="105966" y="113467"/>
                  <a:pt x="110093" y="114300"/>
                  <a:pt x="114300" y="114300"/>
                </a:cubicBezTo>
                <a:cubicBezTo>
                  <a:pt x="118507" y="114300"/>
                  <a:pt x="122634" y="113467"/>
                  <a:pt x="126524" y="111879"/>
                </a:cubicBezTo>
                <a:lnTo>
                  <a:pt x="222726" y="72271"/>
                </a:lnTo>
                <a:cubicBezTo>
                  <a:pt x="226298" y="70802"/>
                  <a:pt x="228600" y="67350"/>
                  <a:pt x="228600" y="63500"/>
                </a:cubicBezTo>
                <a:cubicBezTo>
                  <a:pt x="228600" y="59650"/>
                  <a:pt x="226298" y="56197"/>
                  <a:pt x="222726" y="54729"/>
                </a:cubicBezTo>
                <a:lnTo>
                  <a:pt x="126524" y="15121"/>
                </a:lnTo>
                <a:cubicBezTo>
                  <a:pt x="122634" y="13533"/>
                  <a:pt x="118507" y="12700"/>
                  <a:pt x="114300" y="12700"/>
                </a:cubicBezTo>
                <a:cubicBezTo>
                  <a:pt x="110093" y="12700"/>
                  <a:pt x="105966" y="13533"/>
                  <a:pt x="102076" y="15121"/>
                </a:cubicBezTo>
                <a:lnTo>
                  <a:pt x="5874" y="54729"/>
                </a:lnTo>
                <a:cubicBezTo>
                  <a:pt x="2302" y="56198"/>
                  <a:pt x="0" y="59650"/>
                  <a:pt x="0" y="63500"/>
                </a:cubicBezTo>
                <a:lnTo>
                  <a:pt x="0" y="180975"/>
                </a:lnTo>
                <a:cubicBezTo>
                  <a:pt x="0" y="186253"/>
                  <a:pt x="4247" y="190500"/>
                  <a:pt x="9525" y="190500"/>
                </a:cubicBezTo>
                <a:cubicBezTo>
                  <a:pt x="14803" y="190500"/>
                  <a:pt x="19050" y="186253"/>
                  <a:pt x="19050" y="180975"/>
                </a:cubicBezTo>
                <a:lnTo>
                  <a:pt x="19050" y="77708"/>
                </a:lnTo>
                <a:close/>
                <a:moveTo>
                  <a:pt x="38100" y="106164"/>
                </a:moveTo>
                <a:lnTo>
                  <a:pt x="38100" y="152400"/>
                </a:lnTo>
                <a:cubicBezTo>
                  <a:pt x="38100" y="173434"/>
                  <a:pt x="72231" y="190500"/>
                  <a:pt x="114300" y="190500"/>
                </a:cubicBezTo>
                <a:cubicBezTo>
                  <a:pt x="156369" y="190500"/>
                  <a:pt x="190500" y="173434"/>
                  <a:pt x="190500" y="152400"/>
                </a:cubicBezTo>
                <a:lnTo>
                  <a:pt x="190500" y="106124"/>
                </a:lnTo>
                <a:lnTo>
                  <a:pt x="133787" y="129500"/>
                </a:lnTo>
                <a:cubicBezTo>
                  <a:pt x="127595" y="132040"/>
                  <a:pt x="121007" y="133350"/>
                  <a:pt x="114300" y="133350"/>
                </a:cubicBezTo>
                <a:cubicBezTo>
                  <a:pt x="107593" y="133350"/>
                  <a:pt x="101005" y="132040"/>
                  <a:pt x="94813" y="129500"/>
                </a:cubicBezTo>
                <a:lnTo>
                  <a:pt x="38100" y="106124"/>
                </a:lnTo>
                <a:close/>
              </a:path>
            </a:pathLst>
          </a:custGeom>
          <a:solidFill>
            <a:srgbClr val="4FD1C5"/>
          </a:solidFill>
          <a:ln/>
        </p:spPr>
        <p:txBody>
          <a:bodyPr/>
          <a:lstStyle/>
          <a:p>
            <a:endParaRPr lang="zh-CN" altLang="en-US"/>
          </a:p>
        </p:txBody>
      </p:sp>
      <p:sp>
        <p:nvSpPr>
          <p:cNvPr id="28" name="Text 25"/>
          <p:cNvSpPr/>
          <p:nvPr/>
        </p:nvSpPr>
        <p:spPr>
          <a:xfrm>
            <a:off x="4725988" y="8707438"/>
            <a:ext cx="1943100" cy="304800"/>
          </a:xfrm>
          <a:prstGeom prst="rect">
            <a:avLst/>
          </a:prstGeom>
          <a:noFill/>
          <a:ln/>
        </p:spPr>
        <p:txBody>
          <a:bodyPr wrap="square" lIns="0" tIns="0" rIns="0" bIns="0" rtlCol="0" anchor="ctr"/>
          <a:lstStyle/>
          <a:p>
            <a:pPr algn="ctr">
              <a:lnSpc>
                <a:spcPct val="130000"/>
              </a:lnSpc>
            </a:pPr>
            <a:r>
              <a:rPr lang="en-US" sz="1600" dirty="0">
                <a:solidFill>
                  <a:srgbClr val="A0AEC0"/>
                </a:solidFill>
                <a:latin typeface="MiSans" pitchFamily="34" charset="0"/>
                <a:ea typeface="MiSans" pitchFamily="34" charset="-122"/>
                <a:cs typeface="MiSans" pitchFamily="34" charset="-120"/>
              </a:rPr>
              <a:t>持续学习 · 深入实践</a:t>
            </a:r>
            <a:endParaRPr lang="en-US" sz="1600" dirty="0"/>
          </a:p>
        </p:txBody>
      </p:sp>
      <p:sp>
        <p:nvSpPr>
          <p:cNvPr id="29" name="Shape 26"/>
          <p:cNvSpPr/>
          <p:nvPr/>
        </p:nvSpPr>
        <p:spPr>
          <a:xfrm>
            <a:off x="7040563" y="8758238"/>
            <a:ext cx="228600" cy="203200"/>
          </a:xfrm>
          <a:custGeom>
            <a:avLst/>
            <a:gdLst/>
            <a:ahLst/>
            <a:cxnLst/>
            <a:rect l="l" t="t" r="r" b="b"/>
            <a:pathLst>
              <a:path w="228600" h="203200">
                <a:moveTo>
                  <a:pt x="143193" y="476"/>
                </a:moveTo>
                <a:cubicBezTo>
                  <a:pt x="136446" y="-1468"/>
                  <a:pt x="129421" y="2461"/>
                  <a:pt x="127476" y="9207"/>
                </a:cubicBezTo>
                <a:lnTo>
                  <a:pt x="76676" y="187008"/>
                </a:lnTo>
                <a:cubicBezTo>
                  <a:pt x="74732" y="193754"/>
                  <a:pt x="78661" y="200779"/>
                  <a:pt x="85408" y="202724"/>
                </a:cubicBezTo>
                <a:cubicBezTo>
                  <a:pt x="92154" y="204668"/>
                  <a:pt x="99179" y="200739"/>
                  <a:pt x="101124" y="193993"/>
                </a:cubicBezTo>
                <a:lnTo>
                  <a:pt x="151924" y="16193"/>
                </a:lnTo>
                <a:cubicBezTo>
                  <a:pt x="153868" y="9446"/>
                  <a:pt x="149939" y="2421"/>
                  <a:pt x="143192" y="476"/>
                </a:cubicBezTo>
                <a:close/>
                <a:moveTo>
                  <a:pt x="168831" y="54491"/>
                </a:moveTo>
                <a:cubicBezTo>
                  <a:pt x="163870" y="59452"/>
                  <a:pt x="163870" y="67508"/>
                  <a:pt x="168831" y="72469"/>
                </a:cubicBezTo>
                <a:lnTo>
                  <a:pt x="197961" y="101600"/>
                </a:lnTo>
                <a:lnTo>
                  <a:pt x="168831" y="130731"/>
                </a:lnTo>
                <a:cubicBezTo>
                  <a:pt x="163870" y="135692"/>
                  <a:pt x="163870" y="143748"/>
                  <a:pt x="168831" y="148709"/>
                </a:cubicBezTo>
                <a:cubicBezTo>
                  <a:pt x="173792" y="153670"/>
                  <a:pt x="181848" y="153670"/>
                  <a:pt x="186809" y="148709"/>
                </a:cubicBezTo>
                <a:lnTo>
                  <a:pt x="224909" y="110609"/>
                </a:lnTo>
                <a:cubicBezTo>
                  <a:pt x="229870" y="105648"/>
                  <a:pt x="229870" y="97592"/>
                  <a:pt x="224909" y="92631"/>
                </a:cubicBezTo>
                <a:lnTo>
                  <a:pt x="186809" y="54531"/>
                </a:lnTo>
                <a:cubicBezTo>
                  <a:pt x="181848" y="49570"/>
                  <a:pt x="173792" y="49570"/>
                  <a:pt x="168831" y="54531"/>
                </a:cubicBezTo>
                <a:close/>
                <a:moveTo>
                  <a:pt x="59809" y="54491"/>
                </a:moveTo>
                <a:cubicBezTo>
                  <a:pt x="54848" y="49530"/>
                  <a:pt x="46792" y="49530"/>
                  <a:pt x="41831" y="54491"/>
                </a:cubicBezTo>
                <a:lnTo>
                  <a:pt x="3731" y="92591"/>
                </a:lnTo>
                <a:cubicBezTo>
                  <a:pt x="-1230" y="97552"/>
                  <a:pt x="-1230" y="105608"/>
                  <a:pt x="3731" y="110569"/>
                </a:cubicBezTo>
                <a:lnTo>
                  <a:pt x="41831" y="148669"/>
                </a:lnTo>
                <a:cubicBezTo>
                  <a:pt x="46792" y="153630"/>
                  <a:pt x="54848" y="153630"/>
                  <a:pt x="59809" y="148669"/>
                </a:cubicBezTo>
                <a:cubicBezTo>
                  <a:pt x="64770" y="143708"/>
                  <a:pt x="64770" y="135652"/>
                  <a:pt x="59809" y="130691"/>
                </a:cubicBezTo>
                <a:lnTo>
                  <a:pt x="30678" y="101600"/>
                </a:lnTo>
                <a:lnTo>
                  <a:pt x="59769" y="72469"/>
                </a:lnTo>
                <a:cubicBezTo>
                  <a:pt x="64730" y="67508"/>
                  <a:pt x="64730" y="59452"/>
                  <a:pt x="59769" y="54491"/>
                </a:cubicBezTo>
                <a:close/>
              </a:path>
            </a:pathLst>
          </a:custGeom>
          <a:solidFill>
            <a:srgbClr val="4FD1C5"/>
          </a:solidFill>
          <a:ln/>
        </p:spPr>
        <p:txBody>
          <a:bodyPr/>
          <a:lstStyle/>
          <a:p>
            <a:endParaRPr lang="zh-CN" altLang="en-US"/>
          </a:p>
        </p:txBody>
      </p:sp>
      <p:sp>
        <p:nvSpPr>
          <p:cNvPr id="30" name="Text 27"/>
          <p:cNvSpPr/>
          <p:nvPr/>
        </p:nvSpPr>
        <p:spPr>
          <a:xfrm>
            <a:off x="7332662" y="8707438"/>
            <a:ext cx="1943100" cy="304800"/>
          </a:xfrm>
          <a:prstGeom prst="rect">
            <a:avLst/>
          </a:prstGeom>
          <a:noFill/>
          <a:ln/>
        </p:spPr>
        <p:txBody>
          <a:bodyPr wrap="square" lIns="0" tIns="0" rIns="0" bIns="0" rtlCol="0" anchor="ctr"/>
          <a:lstStyle/>
          <a:p>
            <a:pPr algn="ctr">
              <a:lnSpc>
                <a:spcPct val="130000"/>
              </a:lnSpc>
            </a:pPr>
            <a:r>
              <a:rPr lang="en-US" sz="1600" dirty="0">
                <a:solidFill>
                  <a:srgbClr val="A0AEC0"/>
                </a:solidFill>
                <a:latin typeface="MiSans" pitchFamily="34" charset="0"/>
                <a:ea typeface="MiSans" pitchFamily="34" charset="-122"/>
                <a:cs typeface="MiSans" pitchFamily="34" charset="-120"/>
              </a:rPr>
              <a:t>阅读源码 · 掌握原理</a:t>
            </a:r>
            <a:endParaRPr lang="en-US" sz="1600" dirty="0"/>
          </a:p>
        </p:txBody>
      </p:sp>
      <p:sp>
        <p:nvSpPr>
          <p:cNvPr id="31" name="Shape 28"/>
          <p:cNvSpPr/>
          <p:nvPr/>
        </p:nvSpPr>
        <p:spPr>
          <a:xfrm>
            <a:off x="9659938" y="8758238"/>
            <a:ext cx="203200" cy="203200"/>
          </a:xfrm>
          <a:custGeom>
            <a:avLst/>
            <a:gdLst/>
            <a:ahLst/>
            <a:cxnLst/>
            <a:rect l="l" t="t" r="r" b="b"/>
            <a:pathLst>
              <a:path w="203200" h="203200">
                <a:moveTo>
                  <a:pt x="50800" y="127000"/>
                </a:moveTo>
                <a:lnTo>
                  <a:pt x="9723" y="127000"/>
                </a:lnTo>
                <a:cubicBezTo>
                  <a:pt x="-159" y="127000"/>
                  <a:pt x="-6231" y="116245"/>
                  <a:pt x="-1151" y="107752"/>
                </a:cubicBezTo>
                <a:lnTo>
                  <a:pt x="19844" y="72747"/>
                </a:lnTo>
                <a:cubicBezTo>
                  <a:pt x="23297" y="66993"/>
                  <a:pt x="29488" y="63500"/>
                  <a:pt x="36195" y="63500"/>
                </a:cubicBezTo>
                <a:lnTo>
                  <a:pt x="73898" y="63500"/>
                </a:lnTo>
                <a:cubicBezTo>
                  <a:pt x="104100" y="12343"/>
                  <a:pt x="149146" y="9763"/>
                  <a:pt x="179268" y="14168"/>
                </a:cubicBezTo>
                <a:cubicBezTo>
                  <a:pt x="184348" y="14923"/>
                  <a:pt x="188317" y="18891"/>
                  <a:pt x="189032" y="23932"/>
                </a:cubicBezTo>
                <a:cubicBezTo>
                  <a:pt x="193437" y="54054"/>
                  <a:pt x="190857" y="99100"/>
                  <a:pt x="139700" y="129302"/>
                </a:cubicBezTo>
                <a:lnTo>
                  <a:pt x="139700" y="167005"/>
                </a:lnTo>
                <a:cubicBezTo>
                  <a:pt x="139700" y="173712"/>
                  <a:pt x="136208" y="179903"/>
                  <a:pt x="130453" y="183356"/>
                </a:cubicBezTo>
                <a:lnTo>
                  <a:pt x="95448" y="204351"/>
                </a:lnTo>
                <a:cubicBezTo>
                  <a:pt x="86995" y="209431"/>
                  <a:pt x="76200" y="203319"/>
                  <a:pt x="76200" y="193477"/>
                </a:cubicBezTo>
                <a:lnTo>
                  <a:pt x="76200" y="152400"/>
                </a:lnTo>
                <a:cubicBezTo>
                  <a:pt x="76200" y="138390"/>
                  <a:pt x="64810" y="127000"/>
                  <a:pt x="50800" y="127000"/>
                </a:cubicBezTo>
                <a:lnTo>
                  <a:pt x="50760" y="127000"/>
                </a:lnTo>
                <a:close/>
                <a:moveTo>
                  <a:pt x="158750" y="63500"/>
                </a:moveTo>
                <a:cubicBezTo>
                  <a:pt x="158750" y="52986"/>
                  <a:pt x="150214" y="44450"/>
                  <a:pt x="139700" y="44450"/>
                </a:cubicBezTo>
                <a:cubicBezTo>
                  <a:pt x="129186" y="44450"/>
                  <a:pt x="120650" y="52986"/>
                  <a:pt x="120650" y="63500"/>
                </a:cubicBezTo>
                <a:cubicBezTo>
                  <a:pt x="120650" y="74014"/>
                  <a:pt x="129186" y="82550"/>
                  <a:pt x="139700" y="82550"/>
                </a:cubicBezTo>
                <a:cubicBezTo>
                  <a:pt x="150214" y="82550"/>
                  <a:pt x="158750" y="74014"/>
                  <a:pt x="158750" y="63500"/>
                </a:cubicBezTo>
                <a:close/>
              </a:path>
            </a:pathLst>
          </a:custGeom>
          <a:solidFill>
            <a:srgbClr val="4FD1C5"/>
          </a:solidFill>
          <a:ln/>
        </p:spPr>
        <p:txBody>
          <a:bodyPr/>
          <a:lstStyle/>
          <a:p>
            <a:endParaRPr lang="zh-CN" altLang="en-US"/>
          </a:p>
        </p:txBody>
      </p:sp>
      <p:sp>
        <p:nvSpPr>
          <p:cNvPr id="32" name="Text 29"/>
          <p:cNvSpPr/>
          <p:nvPr/>
        </p:nvSpPr>
        <p:spPr>
          <a:xfrm>
            <a:off x="9939338" y="8707438"/>
            <a:ext cx="1943100" cy="304800"/>
          </a:xfrm>
          <a:prstGeom prst="rect">
            <a:avLst/>
          </a:prstGeom>
          <a:noFill/>
          <a:ln/>
        </p:spPr>
        <p:txBody>
          <a:bodyPr wrap="square" lIns="0" tIns="0" rIns="0" bIns="0" rtlCol="0" anchor="ctr"/>
          <a:lstStyle/>
          <a:p>
            <a:pPr algn="ctr">
              <a:lnSpc>
                <a:spcPct val="130000"/>
              </a:lnSpc>
            </a:pPr>
            <a:r>
              <a:rPr lang="en-US" sz="1600" dirty="0">
                <a:solidFill>
                  <a:srgbClr val="A0AEC0"/>
                </a:solidFill>
                <a:latin typeface="MiSans" pitchFamily="34" charset="0"/>
                <a:ea typeface="MiSans" pitchFamily="34" charset="-122"/>
                <a:cs typeface="MiSans" pitchFamily="34" charset="-120"/>
              </a:rPr>
              <a:t>拥抱演进 · 引领变革</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2241</Words>
  <Application>Microsoft Macintosh PowerPoint</Application>
  <PresentationFormat>自定义</PresentationFormat>
  <Paragraphs>631</Paragraphs>
  <Slides>25</Slides>
  <Notes>24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Noto Sans SC</vt:lpstr>
      <vt:lpstr>微软雅黑</vt:lpstr>
      <vt:lpstr>MiSans</vt:lpstr>
      <vt:lpstr>Arial</vt:lpstr>
      <vt:lpstr>Liter</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从数据仓库到湖仓一体</dc:title>
  <dc:subject>从数据仓库到湖仓一体</dc:subject>
  <dc:creator>Kimi</dc:creator>
  <cp:lastModifiedBy>王 天青</cp:lastModifiedBy>
  <cp:revision>12</cp:revision>
  <dcterms:created xsi:type="dcterms:W3CDTF">2025-12-18T23:12:33Z</dcterms:created>
  <dcterms:modified xsi:type="dcterms:W3CDTF">2025-12-29T12:58:45Z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从数据仓库到湖仓一体","ContentProducer":"001191110108MACG2KBH8F10000","ProduceID":"19b33b33-8f92-86c8-8000-00007674851d","ReservedCode1":"","ContentPropagator":"001191110108MACG2KBH8F20000","PropagateID":"19b33b33-8f92-86c8-8000-00007674851d","ReservedCode2":""}</vt:lpwstr>
  </property>
</Properties>
</file>