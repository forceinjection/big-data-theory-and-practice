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9144000" cy="16256000"/>
  <p:embeddedFontLst>
    <p:embeddedFont>
      <p:font typeface="MiSans" pitchFamily="2" charset="-122"/>
      <p:regular r:id="rId19"/>
    </p:embeddedFont>
    <p:embeddedFont>
      <p:font typeface="Noto Sans SC" panose="020B0200000000000000" pitchFamily="34" charset="-128"/>
      <p:regular r:id="rId20"/>
    </p:embeddedFont>
    <p:embeddedFont>
      <p:font typeface="Liter" panose="02000503030000020004" pitchFamily="2" charset="0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3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a120b50e014cd6e63e9b9172f4a1032b01a6e0d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8" r="1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850900"/>
            <a:ext cx="5105400" cy="584200"/>
          </a:xfrm>
          <a:custGeom>
            <a:avLst/>
            <a:gdLst/>
            <a:ahLst/>
            <a:cxnLst/>
            <a:rect l="l" t="t" r="r" b="b"/>
            <a:pathLst>
              <a:path w="5105400" h="584200">
                <a:moveTo>
                  <a:pt x="101598" y="0"/>
                </a:moveTo>
                <a:lnTo>
                  <a:pt x="5003802" y="0"/>
                </a:lnTo>
                <a:cubicBezTo>
                  <a:pt x="5059913" y="0"/>
                  <a:pt x="5105400" y="45487"/>
                  <a:pt x="5105400" y="101598"/>
                </a:cubicBezTo>
                <a:lnTo>
                  <a:pt x="5105400" y="482602"/>
                </a:lnTo>
                <a:cubicBezTo>
                  <a:pt x="5105400" y="538713"/>
                  <a:pt x="5059913" y="584200"/>
                  <a:pt x="5003802" y="584200"/>
                </a:cubicBezTo>
                <a:lnTo>
                  <a:pt x="101598" y="584200"/>
                </a:lnTo>
                <a:cubicBezTo>
                  <a:pt x="45487" y="584200"/>
                  <a:pt x="0" y="538713"/>
                  <a:pt x="0" y="482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958850"/>
            <a:ext cx="470237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2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LAKEHOUSE CORE TECHNOLOGY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854200"/>
            <a:ext cx="15849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核心机制深度剖析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3086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50800" y="0"/>
                </a:moveTo>
                <a:lnTo>
                  <a:pt x="1981200" y="0"/>
                </a:lnTo>
                <a:cubicBezTo>
                  <a:pt x="2009237" y="0"/>
                  <a:pt x="2032000" y="22763"/>
                  <a:pt x="2032000" y="50800"/>
                </a:cubicBezTo>
                <a:lnTo>
                  <a:pt x="2032000" y="50800"/>
                </a:lnTo>
                <a:cubicBezTo>
                  <a:pt x="2032000" y="78837"/>
                  <a:pt x="2009237" y="101600"/>
                  <a:pt x="1981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81660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从元数据到性能优化 · Lakehouse 内功心法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3400" y="7213600"/>
            <a:ext cx="4851400" cy="1422400"/>
          </a:xfrm>
          <a:custGeom>
            <a:avLst/>
            <a:gdLst/>
            <a:ahLst/>
            <a:cxnLst/>
            <a:rect l="l" t="t" r="r" b="b"/>
            <a:pathLst>
              <a:path w="4851400" h="1422400">
                <a:moveTo>
                  <a:pt x="50800" y="0"/>
                </a:moveTo>
                <a:lnTo>
                  <a:pt x="4749798" y="0"/>
                </a:lnTo>
                <a:cubicBezTo>
                  <a:pt x="4805911" y="0"/>
                  <a:pt x="4851400" y="45489"/>
                  <a:pt x="4851400" y="101602"/>
                </a:cubicBezTo>
                <a:lnTo>
                  <a:pt x="4851400" y="1320798"/>
                </a:lnTo>
                <a:cubicBezTo>
                  <a:pt x="4851400" y="1376911"/>
                  <a:pt x="4805911" y="1422400"/>
                  <a:pt x="4749798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33400" y="7213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7467600"/>
            <a:ext cx="454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2800" y="80772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元数据层级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15000" y="7213600"/>
            <a:ext cx="4851400" cy="1422400"/>
          </a:xfrm>
          <a:custGeom>
            <a:avLst/>
            <a:gdLst/>
            <a:ahLst/>
            <a:cxnLst/>
            <a:rect l="l" t="t" r="r" b="b"/>
            <a:pathLst>
              <a:path w="4851400" h="1422400">
                <a:moveTo>
                  <a:pt x="50800" y="0"/>
                </a:moveTo>
                <a:lnTo>
                  <a:pt x="4749798" y="0"/>
                </a:lnTo>
                <a:cubicBezTo>
                  <a:pt x="4805911" y="0"/>
                  <a:pt x="4851400" y="45489"/>
                  <a:pt x="4851400" y="101602"/>
                </a:cubicBezTo>
                <a:lnTo>
                  <a:pt x="4851400" y="1320798"/>
                </a:lnTo>
                <a:cubicBezTo>
                  <a:pt x="4851400" y="1376911"/>
                  <a:pt x="4805911" y="1422400"/>
                  <a:pt x="4749798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715000" y="7213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994400" y="7467600"/>
            <a:ext cx="454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94400" y="80772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事务保障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896600" y="7213600"/>
            <a:ext cx="4851400" cy="1422400"/>
          </a:xfrm>
          <a:custGeom>
            <a:avLst/>
            <a:gdLst/>
            <a:ahLst/>
            <a:cxnLst/>
            <a:rect l="l" t="t" r="r" b="b"/>
            <a:pathLst>
              <a:path w="4851400" h="1422400">
                <a:moveTo>
                  <a:pt x="50800" y="0"/>
                </a:moveTo>
                <a:lnTo>
                  <a:pt x="4749798" y="0"/>
                </a:lnTo>
                <a:cubicBezTo>
                  <a:pt x="4805911" y="0"/>
                  <a:pt x="4851400" y="45489"/>
                  <a:pt x="4851400" y="101602"/>
                </a:cubicBezTo>
                <a:lnTo>
                  <a:pt x="4851400" y="1320798"/>
                </a:lnTo>
                <a:cubicBezTo>
                  <a:pt x="4851400" y="1376911"/>
                  <a:pt x="4805911" y="1422400"/>
                  <a:pt x="4749798" y="1422400"/>
                </a:cubicBezTo>
                <a:lnTo>
                  <a:pt x="50800" y="1422400"/>
                </a:lnTo>
                <a:cubicBezTo>
                  <a:pt x="22744" y="1422400"/>
                  <a:pt x="0" y="1399656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10896600" y="7213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1176000" y="7467600"/>
            <a:ext cx="454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COW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76000" y="80772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写时复制机制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内容导航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7272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25400" y="0"/>
                </a:moveTo>
                <a:lnTo>
                  <a:pt x="1193800" y="0"/>
                </a:lnTo>
                <a:cubicBezTo>
                  <a:pt x="1207819" y="0"/>
                  <a:pt x="1219200" y="11381"/>
                  <a:pt x="1219200" y="25400"/>
                </a:cubicBezTo>
                <a:lnTo>
                  <a:pt x="1219200" y="25400"/>
                </a:lnTo>
                <a:cubicBezTo>
                  <a:pt x="1219200" y="39419"/>
                  <a:pt x="1207819" y="50800"/>
                  <a:pt x="11938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2184400"/>
            <a:ext cx="7442200" cy="2336800"/>
          </a:xfrm>
          <a:custGeom>
            <a:avLst/>
            <a:gdLst/>
            <a:ahLst/>
            <a:cxnLst/>
            <a:rect l="l" t="t" r="r" b="b"/>
            <a:pathLst>
              <a:path w="7442200" h="2336800">
                <a:moveTo>
                  <a:pt x="50800" y="0"/>
                </a:moveTo>
                <a:lnTo>
                  <a:pt x="7340596" y="0"/>
                </a:lnTo>
                <a:cubicBezTo>
                  <a:pt x="7396710" y="0"/>
                  <a:pt x="7442200" y="45490"/>
                  <a:pt x="7442200" y="101604"/>
                </a:cubicBezTo>
                <a:lnTo>
                  <a:pt x="7442200" y="2235196"/>
                </a:lnTo>
                <a:cubicBezTo>
                  <a:pt x="7442200" y="2291310"/>
                  <a:pt x="7396710" y="2336800"/>
                  <a:pt x="73405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21844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63600" y="2489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72257" y="26670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79600" y="2489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元数据层的"俄罗斯套娃"结构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9600" y="3048000"/>
            <a:ext cx="589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分层元数据管理的核心设计思想，从Catalog到Data File的五层架构详解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05800" y="2184400"/>
            <a:ext cx="7442200" cy="2336800"/>
          </a:xfrm>
          <a:custGeom>
            <a:avLst/>
            <a:gdLst/>
            <a:ahLst/>
            <a:cxnLst/>
            <a:rect l="l" t="t" r="r" b="b"/>
            <a:pathLst>
              <a:path w="7442200" h="2336800">
                <a:moveTo>
                  <a:pt x="50800" y="0"/>
                </a:moveTo>
                <a:lnTo>
                  <a:pt x="7340596" y="0"/>
                </a:lnTo>
                <a:cubicBezTo>
                  <a:pt x="7396710" y="0"/>
                  <a:pt x="7442200" y="45490"/>
                  <a:pt x="7442200" y="101604"/>
                </a:cubicBezTo>
                <a:lnTo>
                  <a:pt x="7442200" y="2235196"/>
                </a:lnTo>
                <a:cubicBezTo>
                  <a:pt x="7442200" y="2291310"/>
                  <a:pt x="7396710" y="2336800"/>
                  <a:pt x="7340596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305800" y="21844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636000" y="2489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10129" y="26670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24892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读写操作的核心：Copy-On-Write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52000" y="3048000"/>
            <a:ext cx="589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在不可变对象存储上实现ACID的关键机制，完整推演Update流程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826000"/>
            <a:ext cx="7442200" cy="2006600"/>
          </a:xfrm>
          <a:custGeom>
            <a:avLst/>
            <a:gdLst/>
            <a:ahLst/>
            <a:cxnLst/>
            <a:rect l="l" t="t" r="r" b="b"/>
            <a:pathLst>
              <a:path w="7442200" h="2006600">
                <a:moveTo>
                  <a:pt x="50800" y="0"/>
                </a:moveTo>
                <a:lnTo>
                  <a:pt x="7340606" y="0"/>
                </a:lnTo>
                <a:cubicBezTo>
                  <a:pt x="7396715" y="0"/>
                  <a:pt x="7442200" y="45485"/>
                  <a:pt x="7442200" y="101594"/>
                </a:cubicBezTo>
                <a:lnTo>
                  <a:pt x="7442200" y="1905006"/>
                </a:lnTo>
                <a:cubicBezTo>
                  <a:pt x="7442200" y="1961115"/>
                  <a:pt x="7396715" y="2006600"/>
                  <a:pt x="7340606" y="2006600"/>
                </a:cubicBezTo>
                <a:lnTo>
                  <a:pt x="50800" y="2006600"/>
                </a:lnTo>
                <a:cubicBezTo>
                  <a:pt x="22744" y="2006600"/>
                  <a:pt x="0" y="1983856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533400" y="48260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5080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50800" y="2006600"/>
                </a:lnTo>
                <a:cubicBezTo>
                  <a:pt x="22763" y="2006600"/>
                  <a:pt x="0" y="1983837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63600" y="5130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36042" y="5308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79600" y="51308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性能优化的两大杀器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79600" y="5689600"/>
            <a:ext cx="589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隐藏分区与数据跳过的智能索引技术，最小化I/O开销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4826000"/>
            <a:ext cx="7442200" cy="2006600"/>
          </a:xfrm>
          <a:custGeom>
            <a:avLst/>
            <a:gdLst/>
            <a:ahLst/>
            <a:cxnLst/>
            <a:rect l="l" t="t" r="r" b="b"/>
            <a:pathLst>
              <a:path w="7442200" h="2006600">
                <a:moveTo>
                  <a:pt x="50800" y="0"/>
                </a:moveTo>
                <a:lnTo>
                  <a:pt x="7340606" y="0"/>
                </a:lnTo>
                <a:cubicBezTo>
                  <a:pt x="7396715" y="0"/>
                  <a:pt x="7442200" y="45485"/>
                  <a:pt x="7442200" y="101594"/>
                </a:cubicBezTo>
                <a:lnTo>
                  <a:pt x="7442200" y="1905006"/>
                </a:lnTo>
                <a:cubicBezTo>
                  <a:pt x="7442200" y="1961115"/>
                  <a:pt x="7396715" y="2006600"/>
                  <a:pt x="7340606" y="2006600"/>
                </a:cubicBezTo>
                <a:lnTo>
                  <a:pt x="50800" y="2006600"/>
                </a:lnTo>
                <a:cubicBezTo>
                  <a:pt x="22744" y="2006600"/>
                  <a:pt x="0" y="1983856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305800" y="48260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5080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50800" y="2006600"/>
                </a:lnTo>
                <a:cubicBezTo>
                  <a:pt x="22763" y="2006600"/>
                  <a:pt x="0" y="1983837"/>
                  <a:pt x="0" y="195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6000" y="5130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808641" y="5308600"/>
            <a:ext cx="66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52000" y="5130800"/>
            <a:ext cx="594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生命周期管理：防止存储爆炸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52000" y="5689600"/>
            <a:ext cx="5892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快照过期与孤儿文件清理机制，保证系统长期健康运行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7137400"/>
            <a:ext cx="15214600" cy="1498600"/>
          </a:xfrm>
          <a:custGeom>
            <a:avLst/>
            <a:gdLst/>
            <a:ahLst/>
            <a:cxnLst/>
            <a:rect l="l" t="t" r="r" b="b"/>
            <a:pathLst>
              <a:path w="15214600" h="1498600">
                <a:moveTo>
                  <a:pt x="50800" y="0"/>
                </a:moveTo>
                <a:lnTo>
                  <a:pt x="15112995" y="0"/>
                </a:lnTo>
                <a:cubicBezTo>
                  <a:pt x="15169110" y="0"/>
                  <a:pt x="15214600" y="45490"/>
                  <a:pt x="15214600" y="101605"/>
                </a:cubicBezTo>
                <a:lnTo>
                  <a:pt x="15214600" y="1396995"/>
                </a:lnTo>
                <a:cubicBezTo>
                  <a:pt x="15214600" y="1453110"/>
                  <a:pt x="15169110" y="1498600"/>
                  <a:pt x="15112995" y="1498600"/>
                </a:cubicBezTo>
                <a:lnTo>
                  <a:pt x="50800" y="1498600"/>
                </a:lnTo>
                <a:cubicBezTo>
                  <a:pt x="22763" y="1498600"/>
                  <a:pt x="0" y="1475837"/>
                  <a:pt x="0" y="1447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3400" y="7137400"/>
            <a:ext cx="50800" cy="1498600"/>
          </a:xfrm>
          <a:custGeom>
            <a:avLst/>
            <a:gdLst/>
            <a:ahLst/>
            <a:cxnLst/>
            <a:rect l="l" t="t" r="r" b="b"/>
            <a:pathLst>
              <a:path w="50800" h="1498600">
                <a:moveTo>
                  <a:pt x="50800" y="0"/>
                </a:moveTo>
                <a:lnTo>
                  <a:pt x="50800" y="0"/>
                </a:lnTo>
                <a:lnTo>
                  <a:pt x="50800" y="1498600"/>
                </a:lnTo>
                <a:lnTo>
                  <a:pt x="50800" y="1498600"/>
                </a:lnTo>
                <a:cubicBezTo>
                  <a:pt x="22763" y="1498600"/>
                  <a:pt x="0" y="1475837"/>
                  <a:pt x="0" y="1447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63600" y="7442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01600" y="0"/>
                </a:moveTo>
                <a:lnTo>
                  <a:pt x="711200" y="0"/>
                </a:lnTo>
                <a:cubicBezTo>
                  <a:pt x="767275" y="0"/>
                  <a:pt x="812800" y="45525"/>
                  <a:pt x="812800" y="101600"/>
                </a:cubicBezTo>
                <a:lnTo>
                  <a:pt x="812800" y="711200"/>
                </a:lnTo>
                <a:cubicBezTo>
                  <a:pt x="812800" y="767275"/>
                  <a:pt x="767275" y="812800"/>
                  <a:pt x="7112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38721" y="76200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879600" y="7442200"/>
            <a:ext cx="1371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总结：像数据库一样管理文件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879600" y="8001000"/>
            <a:ext cx="1366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Iceberg四大核心机制的综合价值与Lakehouse架构的技术优势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2.dev.to/5de4c02eb4ab46a21ab80223fa46f12a83ff33e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1257300"/>
            <a:ext cx="2247900" cy="584200"/>
          </a:xfrm>
          <a:custGeom>
            <a:avLst/>
            <a:gdLst/>
            <a:ahLst/>
            <a:cxnLst/>
            <a:rect l="l" t="t" r="r" b="b"/>
            <a:pathLst>
              <a:path w="2247900" h="584200">
                <a:moveTo>
                  <a:pt x="101598" y="0"/>
                </a:moveTo>
                <a:lnTo>
                  <a:pt x="2146302" y="0"/>
                </a:lnTo>
                <a:cubicBezTo>
                  <a:pt x="2202413" y="0"/>
                  <a:pt x="2247900" y="45487"/>
                  <a:pt x="2247900" y="101598"/>
                </a:cubicBezTo>
                <a:lnTo>
                  <a:pt x="2247900" y="482602"/>
                </a:lnTo>
                <a:cubicBezTo>
                  <a:pt x="2247900" y="538713"/>
                  <a:pt x="2202413" y="584200"/>
                  <a:pt x="2146302" y="584200"/>
                </a:cubicBezTo>
                <a:lnTo>
                  <a:pt x="101598" y="584200"/>
                </a:lnTo>
                <a:cubicBezTo>
                  <a:pt x="45487" y="584200"/>
                  <a:pt x="0" y="538713"/>
                  <a:pt x="0" y="482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365250"/>
            <a:ext cx="184259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2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2606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元数据层的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"俄罗斯套娃"结构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53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50800" y="0"/>
                </a:moveTo>
                <a:lnTo>
                  <a:pt x="1981200" y="0"/>
                </a:lnTo>
                <a:cubicBezTo>
                  <a:pt x="2009237" y="0"/>
                  <a:pt x="2032000" y="22763"/>
                  <a:pt x="2032000" y="50800"/>
                </a:cubicBezTo>
                <a:lnTo>
                  <a:pt x="2032000" y="50800"/>
                </a:lnTo>
                <a:cubicBezTo>
                  <a:pt x="2032000" y="78837"/>
                  <a:pt x="2009237" y="101600"/>
                  <a:pt x="1981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461000"/>
            <a:ext cx="994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分层元数据管理的核心设计思想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3400" y="6527800"/>
            <a:ext cx="3568700" cy="1371600"/>
          </a:xfrm>
          <a:custGeom>
            <a:avLst/>
            <a:gdLst/>
            <a:ahLst/>
            <a:cxnLst/>
            <a:rect l="l" t="t" r="r" b="b"/>
            <a:pathLst>
              <a:path w="3568700" h="1371600">
                <a:moveTo>
                  <a:pt x="50800" y="0"/>
                </a:moveTo>
                <a:lnTo>
                  <a:pt x="3467106" y="0"/>
                </a:lnTo>
                <a:cubicBezTo>
                  <a:pt x="3523215" y="0"/>
                  <a:pt x="3568700" y="45485"/>
                  <a:pt x="3568700" y="101594"/>
                </a:cubicBezTo>
                <a:lnTo>
                  <a:pt x="3568700" y="1270006"/>
                </a:lnTo>
                <a:cubicBezTo>
                  <a:pt x="3568700" y="1326115"/>
                  <a:pt x="3523215" y="1371600"/>
                  <a:pt x="34671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33400" y="65278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781800"/>
            <a:ext cx="322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Layers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2800" y="7340600"/>
            <a:ext cx="313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28034" y="6527800"/>
            <a:ext cx="3568700" cy="1371600"/>
          </a:xfrm>
          <a:custGeom>
            <a:avLst/>
            <a:gdLst/>
            <a:ahLst/>
            <a:cxnLst/>
            <a:rect l="l" t="t" r="r" b="b"/>
            <a:pathLst>
              <a:path w="3568700" h="1371600">
                <a:moveTo>
                  <a:pt x="50800" y="0"/>
                </a:moveTo>
                <a:lnTo>
                  <a:pt x="3467106" y="0"/>
                </a:lnTo>
                <a:cubicBezTo>
                  <a:pt x="3523215" y="0"/>
                  <a:pt x="3568700" y="45485"/>
                  <a:pt x="3568700" y="101594"/>
                </a:cubicBezTo>
                <a:lnTo>
                  <a:pt x="3568700" y="1270006"/>
                </a:lnTo>
                <a:cubicBezTo>
                  <a:pt x="3568700" y="1326115"/>
                  <a:pt x="3523215" y="1371600"/>
                  <a:pt x="34671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428034" y="65278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707434" y="6781800"/>
            <a:ext cx="322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7434" y="7340600"/>
            <a:ext cx="313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元数据树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22667" y="6527800"/>
            <a:ext cx="3568700" cy="1371600"/>
          </a:xfrm>
          <a:custGeom>
            <a:avLst/>
            <a:gdLst/>
            <a:ahLst/>
            <a:cxnLst/>
            <a:rect l="l" t="t" r="r" b="b"/>
            <a:pathLst>
              <a:path w="3568700" h="1371600">
                <a:moveTo>
                  <a:pt x="50800" y="0"/>
                </a:moveTo>
                <a:lnTo>
                  <a:pt x="3467106" y="0"/>
                </a:lnTo>
                <a:cubicBezTo>
                  <a:pt x="3523215" y="0"/>
                  <a:pt x="3568700" y="45485"/>
                  <a:pt x="3568700" y="101594"/>
                </a:cubicBezTo>
                <a:lnTo>
                  <a:pt x="3568700" y="1270006"/>
                </a:lnTo>
                <a:cubicBezTo>
                  <a:pt x="3568700" y="1326115"/>
                  <a:pt x="3523215" y="1371600"/>
                  <a:pt x="34671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322667" y="65278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602067" y="6781800"/>
            <a:ext cx="322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Pruning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02067" y="7340600"/>
            <a:ext cx="313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剪枝下推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556" y="451556"/>
            <a:ext cx="154432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2" b="1" kern="0" spc="142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1556" y="812800"/>
            <a:ext cx="15556089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的五层元数据结构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1556" y="1399822"/>
            <a:ext cx="1083733" cy="45156"/>
          </a:xfrm>
          <a:custGeom>
            <a:avLst/>
            <a:gdLst/>
            <a:ahLst/>
            <a:cxnLst/>
            <a:rect l="l" t="t" r="r" b="b"/>
            <a:pathLst>
              <a:path w="1083733" h="45156">
                <a:moveTo>
                  <a:pt x="22578" y="0"/>
                </a:moveTo>
                <a:lnTo>
                  <a:pt x="1061156" y="0"/>
                </a:lnTo>
                <a:cubicBezTo>
                  <a:pt x="1073625" y="0"/>
                  <a:pt x="1083733" y="10108"/>
                  <a:pt x="1083733" y="22578"/>
                </a:cubicBezTo>
                <a:lnTo>
                  <a:pt x="1083733" y="22578"/>
                </a:lnTo>
                <a:cubicBezTo>
                  <a:pt x="1083733" y="35047"/>
                  <a:pt x="1073625" y="45156"/>
                  <a:pt x="1061156" y="45156"/>
                </a:cubicBezTo>
                <a:lnTo>
                  <a:pt x="22578" y="45156"/>
                </a:lnTo>
                <a:cubicBezTo>
                  <a:pt x="10117" y="45156"/>
                  <a:pt x="0" y="35039"/>
                  <a:pt x="0" y="22578"/>
                </a:cubicBezTo>
                <a:lnTo>
                  <a:pt x="0" y="22578"/>
                </a:lnTo>
                <a:cubicBezTo>
                  <a:pt x="0" y="10117"/>
                  <a:pt x="10117" y="0"/>
                  <a:pt x="2257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1556" y="1541192"/>
            <a:ext cx="7586133" cy="7473244"/>
          </a:xfrm>
          <a:custGeom>
            <a:avLst/>
            <a:gdLst/>
            <a:ahLst/>
            <a:cxnLst/>
            <a:rect l="l" t="t" r="r" b="b"/>
            <a:pathLst>
              <a:path w="7586133" h="8207022">
                <a:moveTo>
                  <a:pt x="90275" y="0"/>
                </a:moveTo>
                <a:lnTo>
                  <a:pt x="7495858" y="0"/>
                </a:lnTo>
                <a:cubicBezTo>
                  <a:pt x="7545716" y="0"/>
                  <a:pt x="7586133" y="40417"/>
                  <a:pt x="7586133" y="90275"/>
                </a:cubicBezTo>
                <a:lnTo>
                  <a:pt x="7586133" y="8116747"/>
                </a:lnTo>
                <a:cubicBezTo>
                  <a:pt x="7586133" y="8166605"/>
                  <a:pt x="7545716" y="8207022"/>
                  <a:pt x="7495858" y="8207022"/>
                </a:cubicBezTo>
                <a:lnTo>
                  <a:pt x="90275" y="8207022"/>
                </a:lnTo>
                <a:cubicBezTo>
                  <a:pt x="40417" y="8207022"/>
                  <a:pt x="0" y="8166605"/>
                  <a:pt x="0" y="8116747"/>
                </a:cubicBezTo>
                <a:lnTo>
                  <a:pt x="0" y="90275"/>
                </a:lnTo>
                <a:cubicBezTo>
                  <a:pt x="0" y="40417"/>
                  <a:pt x="40417" y="0"/>
                  <a:pt x="90275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https://kimi-img.moonshot.cn/pub/slides/25-12-19-09:55:37-d52b16bacc47hcsqi86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178" y="1721814"/>
            <a:ext cx="6321778" cy="7157156"/>
          </a:xfrm>
          <a:prstGeom prst="roundRect">
            <a:avLst>
              <a:gd name="adj" fmla="val 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8240889" y="1541192"/>
            <a:ext cx="7563556" cy="1433689"/>
          </a:xfrm>
          <a:custGeom>
            <a:avLst/>
            <a:gdLst/>
            <a:ahLst/>
            <a:cxnLst/>
            <a:rect l="l" t="t" r="r" b="b"/>
            <a:pathLst>
              <a:path w="7563556" h="1433689">
                <a:moveTo>
                  <a:pt x="45156" y="0"/>
                </a:moveTo>
                <a:lnTo>
                  <a:pt x="7473247" y="0"/>
                </a:lnTo>
                <a:cubicBezTo>
                  <a:pt x="7523123" y="0"/>
                  <a:pt x="7563556" y="40432"/>
                  <a:pt x="7563556" y="90308"/>
                </a:cubicBezTo>
                <a:lnTo>
                  <a:pt x="7563556" y="1343381"/>
                </a:lnTo>
                <a:cubicBezTo>
                  <a:pt x="7563556" y="1393257"/>
                  <a:pt x="7523123" y="1433689"/>
                  <a:pt x="7473247" y="1433689"/>
                </a:cubicBez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8240889" y="1541192"/>
            <a:ext cx="45156" cy="1433689"/>
          </a:xfrm>
          <a:custGeom>
            <a:avLst/>
            <a:gdLst/>
            <a:ahLst/>
            <a:cxnLst/>
            <a:rect l="l" t="t" r="r" b="b"/>
            <a:pathLst>
              <a:path w="45156" h="1433689">
                <a:moveTo>
                  <a:pt x="45156" y="0"/>
                </a:moveTo>
                <a:lnTo>
                  <a:pt x="45156" y="0"/>
                </a:lnTo>
                <a:lnTo>
                  <a:pt x="45156" y="1433689"/>
                </a:ln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8398933" y="1721814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90311" y="0"/>
                </a:moveTo>
                <a:lnTo>
                  <a:pt x="361244" y="0"/>
                </a:lnTo>
                <a:cubicBezTo>
                  <a:pt x="411089" y="0"/>
                  <a:pt x="451556" y="40467"/>
                  <a:pt x="451556" y="90311"/>
                </a:cubicBezTo>
                <a:lnTo>
                  <a:pt x="451556" y="361244"/>
                </a:lnTo>
                <a:cubicBezTo>
                  <a:pt x="451556" y="411122"/>
                  <a:pt x="411122" y="451556"/>
                  <a:pt x="361244" y="451556"/>
                </a:cubicBezTo>
                <a:lnTo>
                  <a:pt x="90311" y="451556"/>
                </a:lnTo>
                <a:cubicBezTo>
                  <a:pt x="40467" y="451556"/>
                  <a:pt x="0" y="411089"/>
                  <a:pt x="0" y="361244"/>
                </a:cubicBezTo>
                <a:lnTo>
                  <a:pt x="0" y="90311"/>
                </a:lnTo>
                <a:cubicBezTo>
                  <a:pt x="0" y="40467"/>
                  <a:pt x="40467" y="0"/>
                  <a:pt x="90311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8495594" y="1789548"/>
            <a:ext cx="372533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985956" y="1676659"/>
            <a:ext cx="1016000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85956" y="1992748"/>
            <a:ext cx="982133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Entry Pointer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98933" y="2308836"/>
            <a:ext cx="7349067" cy="25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仅存储一个指针：</a:t>
            </a:r>
            <a:r>
              <a:rPr lang="en-US" sz="1067" dirty="0">
                <a:solidFill>
                  <a:srgbClr val="4FD1C5"/>
                </a:solidFill>
                <a:highlight>
                  <a:srgbClr val="1A202C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current_metadata_location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98933" y="2655970"/>
            <a:ext cx="7337778" cy="18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►</a:t>
            </a:r>
            <a:r>
              <a:rPr lang="en-US" sz="106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无论表多大，Catalog压力极小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40889" y="3062370"/>
            <a:ext cx="7563556" cy="1433689"/>
          </a:xfrm>
          <a:custGeom>
            <a:avLst/>
            <a:gdLst/>
            <a:ahLst/>
            <a:cxnLst/>
            <a:rect l="l" t="t" r="r" b="b"/>
            <a:pathLst>
              <a:path w="7563556" h="1433689">
                <a:moveTo>
                  <a:pt x="45156" y="0"/>
                </a:moveTo>
                <a:lnTo>
                  <a:pt x="7473247" y="0"/>
                </a:lnTo>
                <a:cubicBezTo>
                  <a:pt x="7523123" y="0"/>
                  <a:pt x="7563556" y="40432"/>
                  <a:pt x="7563556" y="90308"/>
                </a:cubicBezTo>
                <a:lnTo>
                  <a:pt x="7563556" y="1343381"/>
                </a:lnTo>
                <a:cubicBezTo>
                  <a:pt x="7563556" y="1393257"/>
                  <a:pt x="7523123" y="1433689"/>
                  <a:pt x="7473247" y="1433689"/>
                </a:cubicBez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3"/>
          <p:cNvSpPr/>
          <p:nvPr/>
        </p:nvSpPr>
        <p:spPr>
          <a:xfrm>
            <a:off x="8240889" y="3062370"/>
            <a:ext cx="45156" cy="1433689"/>
          </a:xfrm>
          <a:custGeom>
            <a:avLst/>
            <a:gdLst/>
            <a:ahLst/>
            <a:cxnLst/>
            <a:rect l="l" t="t" r="r" b="b"/>
            <a:pathLst>
              <a:path w="45156" h="1433689">
                <a:moveTo>
                  <a:pt x="45156" y="0"/>
                </a:moveTo>
                <a:lnTo>
                  <a:pt x="45156" y="0"/>
                </a:lnTo>
                <a:lnTo>
                  <a:pt x="45156" y="1433689"/>
                </a:ln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8398933" y="3242992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90311" y="0"/>
                </a:moveTo>
                <a:lnTo>
                  <a:pt x="361244" y="0"/>
                </a:lnTo>
                <a:cubicBezTo>
                  <a:pt x="411089" y="0"/>
                  <a:pt x="451556" y="40467"/>
                  <a:pt x="451556" y="90311"/>
                </a:cubicBezTo>
                <a:lnTo>
                  <a:pt x="451556" y="361244"/>
                </a:lnTo>
                <a:cubicBezTo>
                  <a:pt x="451556" y="411122"/>
                  <a:pt x="411122" y="451556"/>
                  <a:pt x="361244" y="451556"/>
                </a:cubicBezTo>
                <a:lnTo>
                  <a:pt x="90311" y="451556"/>
                </a:lnTo>
                <a:cubicBezTo>
                  <a:pt x="40467" y="451556"/>
                  <a:pt x="0" y="411089"/>
                  <a:pt x="0" y="361244"/>
                </a:cubicBezTo>
                <a:lnTo>
                  <a:pt x="0" y="90311"/>
                </a:lnTo>
                <a:cubicBezTo>
                  <a:pt x="0" y="40467"/>
                  <a:pt x="40467" y="0"/>
                  <a:pt x="9031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8495506" y="3310725"/>
            <a:ext cx="372533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985956" y="3197836"/>
            <a:ext cx="1524000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File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985956" y="3513925"/>
            <a:ext cx="1490133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Definition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98933" y="3830014"/>
            <a:ext cx="7349067" cy="25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表的Schema、分区策略、排序策略、Snapshots历史列表、当前快照ID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98933" y="4177148"/>
            <a:ext cx="7337778" cy="18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►</a:t>
            </a:r>
            <a:r>
              <a:rPr lang="en-US" sz="106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表级别的完整定义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40889" y="4583548"/>
            <a:ext cx="7563556" cy="1433689"/>
          </a:xfrm>
          <a:custGeom>
            <a:avLst/>
            <a:gdLst/>
            <a:ahLst/>
            <a:cxnLst/>
            <a:rect l="l" t="t" r="r" b="b"/>
            <a:pathLst>
              <a:path w="7563556" h="1433689">
                <a:moveTo>
                  <a:pt x="45156" y="0"/>
                </a:moveTo>
                <a:lnTo>
                  <a:pt x="7473247" y="0"/>
                </a:lnTo>
                <a:cubicBezTo>
                  <a:pt x="7523123" y="0"/>
                  <a:pt x="7563556" y="40432"/>
                  <a:pt x="7563556" y="90308"/>
                </a:cubicBezTo>
                <a:lnTo>
                  <a:pt x="7563556" y="1343381"/>
                </a:lnTo>
                <a:cubicBezTo>
                  <a:pt x="7563556" y="1393257"/>
                  <a:pt x="7523123" y="1433689"/>
                  <a:pt x="7473247" y="1433689"/>
                </a:cubicBez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8240889" y="4583548"/>
            <a:ext cx="45156" cy="1433689"/>
          </a:xfrm>
          <a:custGeom>
            <a:avLst/>
            <a:gdLst/>
            <a:ahLst/>
            <a:cxnLst/>
            <a:rect l="l" t="t" r="r" b="b"/>
            <a:pathLst>
              <a:path w="45156" h="1433689">
                <a:moveTo>
                  <a:pt x="45156" y="0"/>
                </a:moveTo>
                <a:lnTo>
                  <a:pt x="45156" y="0"/>
                </a:lnTo>
                <a:lnTo>
                  <a:pt x="45156" y="1433689"/>
                </a:ln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2"/>
          <p:cNvSpPr/>
          <p:nvPr/>
        </p:nvSpPr>
        <p:spPr>
          <a:xfrm>
            <a:off x="8398933" y="4764170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90311" y="0"/>
                </a:moveTo>
                <a:lnTo>
                  <a:pt x="361244" y="0"/>
                </a:lnTo>
                <a:cubicBezTo>
                  <a:pt x="411089" y="0"/>
                  <a:pt x="451556" y="40467"/>
                  <a:pt x="451556" y="90311"/>
                </a:cubicBezTo>
                <a:lnTo>
                  <a:pt x="451556" y="361244"/>
                </a:lnTo>
                <a:cubicBezTo>
                  <a:pt x="451556" y="411122"/>
                  <a:pt x="411122" y="451556"/>
                  <a:pt x="361244" y="451556"/>
                </a:cubicBezTo>
                <a:lnTo>
                  <a:pt x="90311" y="451556"/>
                </a:lnTo>
                <a:cubicBezTo>
                  <a:pt x="40467" y="451556"/>
                  <a:pt x="0" y="411089"/>
                  <a:pt x="0" y="361244"/>
                </a:cubicBezTo>
                <a:lnTo>
                  <a:pt x="0" y="90311"/>
                </a:lnTo>
                <a:cubicBezTo>
                  <a:pt x="0" y="40467"/>
                  <a:pt x="40467" y="0"/>
                  <a:pt x="9031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8496565" y="4831903"/>
            <a:ext cx="372533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985956" y="4719014"/>
            <a:ext cx="1569156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985956" y="5035103"/>
            <a:ext cx="153528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Snapshot-level Index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398933" y="5351192"/>
            <a:ext cx="7349067" cy="25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记录构成当前快照的所有Manifest Files，以及每个Manifest的分区范围统计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98933" y="5698325"/>
            <a:ext cx="7337778" cy="18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►</a:t>
            </a:r>
            <a:r>
              <a:rPr lang="en-US" sz="106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快照级别的元数据索引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40889" y="6104725"/>
            <a:ext cx="7563556" cy="1433689"/>
          </a:xfrm>
          <a:custGeom>
            <a:avLst/>
            <a:gdLst/>
            <a:ahLst/>
            <a:cxnLst/>
            <a:rect l="l" t="t" r="r" b="b"/>
            <a:pathLst>
              <a:path w="7563556" h="1433689">
                <a:moveTo>
                  <a:pt x="45156" y="0"/>
                </a:moveTo>
                <a:lnTo>
                  <a:pt x="7473247" y="0"/>
                </a:lnTo>
                <a:cubicBezTo>
                  <a:pt x="7523123" y="0"/>
                  <a:pt x="7563556" y="40432"/>
                  <a:pt x="7563556" y="90308"/>
                </a:cubicBezTo>
                <a:lnTo>
                  <a:pt x="7563556" y="1343381"/>
                </a:lnTo>
                <a:cubicBezTo>
                  <a:pt x="7563556" y="1393257"/>
                  <a:pt x="7523123" y="1433689"/>
                  <a:pt x="7473247" y="1433689"/>
                </a:cubicBez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9"/>
          <p:cNvSpPr/>
          <p:nvPr/>
        </p:nvSpPr>
        <p:spPr>
          <a:xfrm>
            <a:off x="8240889" y="6104725"/>
            <a:ext cx="45156" cy="1433689"/>
          </a:xfrm>
          <a:custGeom>
            <a:avLst/>
            <a:gdLst/>
            <a:ahLst/>
            <a:cxnLst/>
            <a:rect l="l" t="t" r="r" b="b"/>
            <a:pathLst>
              <a:path w="45156" h="1433689">
                <a:moveTo>
                  <a:pt x="45156" y="0"/>
                </a:moveTo>
                <a:lnTo>
                  <a:pt x="45156" y="0"/>
                </a:lnTo>
                <a:lnTo>
                  <a:pt x="45156" y="1433689"/>
                </a:ln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0"/>
          <p:cNvSpPr/>
          <p:nvPr/>
        </p:nvSpPr>
        <p:spPr>
          <a:xfrm>
            <a:off x="8398933" y="6285348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90311" y="0"/>
                </a:moveTo>
                <a:lnTo>
                  <a:pt x="361244" y="0"/>
                </a:lnTo>
                <a:cubicBezTo>
                  <a:pt x="411089" y="0"/>
                  <a:pt x="451556" y="40467"/>
                  <a:pt x="451556" y="90311"/>
                </a:cubicBezTo>
                <a:lnTo>
                  <a:pt x="451556" y="361244"/>
                </a:lnTo>
                <a:cubicBezTo>
                  <a:pt x="451556" y="411122"/>
                  <a:pt x="411122" y="451556"/>
                  <a:pt x="361244" y="451556"/>
                </a:cubicBezTo>
                <a:lnTo>
                  <a:pt x="90311" y="451556"/>
                </a:lnTo>
                <a:cubicBezTo>
                  <a:pt x="40467" y="451556"/>
                  <a:pt x="0" y="411089"/>
                  <a:pt x="0" y="361244"/>
                </a:cubicBezTo>
                <a:lnTo>
                  <a:pt x="0" y="90311"/>
                </a:lnTo>
                <a:cubicBezTo>
                  <a:pt x="0" y="40467"/>
                  <a:pt x="40467" y="0"/>
                  <a:pt x="9031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8516938" y="6353081"/>
            <a:ext cx="327378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985956" y="6240192"/>
            <a:ext cx="1433689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985956" y="6556281"/>
            <a:ext cx="13998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File-level Index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398933" y="6872370"/>
            <a:ext cx="7349067" cy="25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记录一组Data Files的路径、分区值、</a:t>
            </a:r>
            <a:r>
              <a:rPr lang="en-US" sz="1244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列级统计信息</a:t>
            </a:r>
            <a:r>
              <a:rPr lang="en-US" sz="124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(Min/Max/Null Count)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398933" y="7219503"/>
            <a:ext cx="7337778" cy="18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►</a:t>
            </a:r>
            <a:r>
              <a:rPr lang="en-US" sz="106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文件级别的智能索引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40889" y="7625903"/>
            <a:ext cx="7563556" cy="1433689"/>
          </a:xfrm>
          <a:custGeom>
            <a:avLst/>
            <a:gdLst/>
            <a:ahLst/>
            <a:cxnLst/>
            <a:rect l="l" t="t" r="r" b="b"/>
            <a:pathLst>
              <a:path w="7563556" h="1433689">
                <a:moveTo>
                  <a:pt x="45156" y="0"/>
                </a:moveTo>
                <a:lnTo>
                  <a:pt x="7473247" y="0"/>
                </a:lnTo>
                <a:cubicBezTo>
                  <a:pt x="7523123" y="0"/>
                  <a:pt x="7563556" y="40432"/>
                  <a:pt x="7563556" y="90308"/>
                </a:cubicBezTo>
                <a:lnTo>
                  <a:pt x="7563556" y="1343381"/>
                </a:lnTo>
                <a:cubicBezTo>
                  <a:pt x="7563556" y="1393257"/>
                  <a:pt x="7523123" y="1433689"/>
                  <a:pt x="7473247" y="1433689"/>
                </a:cubicBez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7"/>
          <p:cNvSpPr/>
          <p:nvPr/>
        </p:nvSpPr>
        <p:spPr>
          <a:xfrm>
            <a:off x="8240889" y="7625903"/>
            <a:ext cx="45156" cy="1433689"/>
          </a:xfrm>
          <a:custGeom>
            <a:avLst/>
            <a:gdLst/>
            <a:ahLst/>
            <a:cxnLst/>
            <a:rect l="l" t="t" r="r" b="b"/>
            <a:pathLst>
              <a:path w="45156" h="1433689">
                <a:moveTo>
                  <a:pt x="45156" y="0"/>
                </a:moveTo>
                <a:lnTo>
                  <a:pt x="45156" y="0"/>
                </a:lnTo>
                <a:lnTo>
                  <a:pt x="45156" y="1433689"/>
                </a:lnTo>
                <a:lnTo>
                  <a:pt x="45156" y="1433689"/>
                </a:lnTo>
                <a:cubicBezTo>
                  <a:pt x="20217" y="1433689"/>
                  <a:pt x="0" y="1413472"/>
                  <a:pt x="0" y="1388533"/>
                </a:cubicBezTo>
                <a:lnTo>
                  <a:pt x="0" y="45156"/>
                </a:lnTo>
                <a:cubicBezTo>
                  <a:pt x="0" y="20234"/>
                  <a:pt x="20234" y="0"/>
                  <a:pt x="45156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8"/>
          <p:cNvSpPr/>
          <p:nvPr/>
        </p:nvSpPr>
        <p:spPr>
          <a:xfrm>
            <a:off x="8398933" y="7806525"/>
            <a:ext cx="451556" cy="451556"/>
          </a:xfrm>
          <a:custGeom>
            <a:avLst/>
            <a:gdLst/>
            <a:ahLst/>
            <a:cxnLst/>
            <a:rect l="l" t="t" r="r" b="b"/>
            <a:pathLst>
              <a:path w="451556" h="451556">
                <a:moveTo>
                  <a:pt x="90311" y="0"/>
                </a:moveTo>
                <a:lnTo>
                  <a:pt x="361244" y="0"/>
                </a:lnTo>
                <a:cubicBezTo>
                  <a:pt x="411089" y="0"/>
                  <a:pt x="451556" y="40467"/>
                  <a:pt x="451556" y="90311"/>
                </a:cubicBezTo>
                <a:lnTo>
                  <a:pt x="451556" y="361244"/>
                </a:lnTo>
                <a:cubicBezTo>
                  <a:pt x="451556" y="411122"/>
                  <a:pt x="411122" y="451556"/>
                  <a:pt x="361244" y="451556"/>
                </a:cubicBezTo>
                <a:lnTo>
                  <a:pt x="90311" y="451556"/>
                </a:lnTo>
                <a:cubicBezTo>
                  <a:pt x="40467" y="451556"/>
                  <a:pt x="0" y="411089"/>
                  <a:pt x="0" y="361244"/>
                </a:cubicBezTo>
                <a:lnTo>
                  <a:pt x="0" y="90311"/>
                </a:lnTo>
                <a:cubicBezTo>
                  <a:pt x="0" y="40467"/>
                  <a:pt x="40467" y="0"/>
                  <a:pt x="90311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8490126" y="7874259"/>
            <a:ext cx="383822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L0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985956" y="7761370"/>
            <a:ext cx="1027289" cy="31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78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File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985956" y="8077459"/>
            <a:ext cx="993422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4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398933" y="8393548"/>
            <a:ext cx="7349067" cy="259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Parquet/ORC文件，包含实际的行数据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398933" y="8740681"/>
            <a:ext cx="7337778" cy="18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67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►</a:t>
            </a:r>
            <a:r>
              <a:rPr lang="en-US" sz="106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真实数据存储层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981" y="445981"/>
            <a:ext cx="15453235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kern="0" spc="14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RATIONALE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5981" y="802765"/>
            <a:ext cx="15564730" cy="4459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分层设计的价值：为什么设计得这么复杂？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5981" y="1382540"/>
            <a:ext cx="1070354" cy="44598"/>
          </a:xfrm>
          <a:custGeom>
            <a:avLst/>
            <a:gdLst/>
            <a:ahLst/>
            <a:cxnLst/>
            <a:rect l="l" t="t" r="r" b="b"/>
            <a:pathLst>
              <a:path w="1070354" h="44598">
                <a:moveTo>
                  <a:pt x="22299" y="0"/>
                </a:moveTo>
                <a:lnTo>
                  <a:pt x="1048055" y="0"/>
                </a:lnTo>
                <a:cubicBezTo>
                  <a:pt x="1060370" y="0"/>
                  <a:pt x="1070354" y="9984"/>
                  <a:pt x="1070354" y="22299"/>
                </a:cubicBezTo>
                <a:lnTo>
                  <a:pt x="1070354" y="22299"/>
                </a:lnTo>
                <a:cubicBezTo>
                  <a:pt x="1070354" y="34614"/>
                  <a:pt x="1060370" y="44598"/>
                  <a:pt x="1048055" y="44598"/>
                </a:cubicBezTo>
                <a:lnTo>
                  <a:pt x="22299" y="44598"/>
                </a:lnTo>
                <a:cubicBezTo>
                  <a:pt x="9992" y="44598"/>
                  <a:pt x="0" y="34606"/>
                  <a:pt x="0" y="22299"/>
                </a:cubicBezTo>
                <a:lnTo>
                  <a:pt x="0" y="22299"/>
                </a:lnTo>
                <a:cubicBezTo>
                  <a:pt x="0" y="9992"/>
                  <a:pt x="9992" y="0"/>
                  <a:pt x="22299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68280" y="1694727"/>
            <a:ext cx="15341739" cy="813915"/>
          </a:xfrm>
          <a:custGeom>
            <a:avLst/>
            <a:gdLst/>
            <a:ahLst/>
            <a:cxnLst/>
            <a:rect l="l" t="t" r="r" b="b"/>
            <a:pathLst>
              <a:path w="15341739" h="813915">
                <a:moveTo>
                  <a:pt x="44598" y="0"/>
                </a:moveTo>
                <a:lnTo>
                  <a:pt x="15252542" y="0"/>
                </a:lnTo>
                <a:cubicBezTo>
                  <a:pt x="15301805" y="0"/>
                  <a:pt x="15341739" y="39935"/>
                  <a:pt x="15341739" y="89197"/>
                </a:cubicBezTo>
                <a:lnTo>
                  <a:pt x="15341739" y="724718"/>
                </a:lnTo>
                <a:cubicBezTo>
                  <a:pt x="15341739" y="773980"/>
                  <a:pt x="15301805" y="813915"/>
                  <a:pt x="15252542" y="813915"/>
                </a:cubicBezTo>
                <a:lnTo>
                  <a:pt x="44598" y="813915"/>
                </a:lnTo>
                <a:cubicBezTo>
                  <a:pt x="19967" y="813915"/>
                  <a:pt x="0" y="793948"/>
                  <a:pt x="0" y="769317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68280" y="1694727"/>
            <a:ext cx="44598" cy="813915"/>
          </a:xfrm>
          <a:custGeom>
            <a:avLst/>
            <a:gdLst/>
            <a:ahLst/>
            <a:cxnLst/>
            <a:rect l="l" t="t" r="r" b="b"/>
            <a:pathLst>
              <a:path w="44598" h="813915">
                <a:moveTo>
                  <a:pt x="44598" y="0"/>
                </a:moveTo>
                <a:lnTo>
                  <a:pt x="44598" y="0"/>
                </a:lnTo>
                <a:lnTo>
                  <a:pt x="44598" y="813915"/>
                </a:lnTo>
                <a:lnTo>
                  <a:pt x="44598" y="813915"/>
                </a:lnTo>
                <a:cubicBezTo>
                  <a:pt x="19967" y="813915"/>
                  <a:pt x="0" y="793948"/>
                  <a:pt x="0" y="769317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13569" y="1917717"/>
            <a:ext cx="14984955" cy="367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5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这种分层设计是为了解决</a:t>
            </a:r>
            <a:r>
              <a:rPr lang="en-US" sz="1756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大规模数据集下的性能问题 </a:t>
            </a:r>
            <a:r>
              <a:rPr lang="en-US" sz="1756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，通过元数据树实现高效的查询剪枝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5981" y="2770656"/>
            <a:ext cx="7548225" cy="4850041"/>
          </a:xfrm>
          <a:custGeom>
            <a:avLst/>
            <a:gdLst/>
            <a:ahLst/>
            <a:cxnLst/>
            <a:rect l="l" t="t" r="r" b="b"/>
            <a:pathLst>
              <a:path w="7548225" h="4850041">
                <a:moveTo>
                  <a:pt x="89192" y="0"/>
                </a:moveTo>
                <a:lnTo>
                  <a:pt x="7459033" y="0"/>
                </a:lnTo>
                <a:cubicBezTo>
                  <a:pt x="7508292" y="0"/>
                  <a:pt x="7548225" y="39933"/>
                  <a:pt x="7548225" y="89192"/>
                </a:cubicBezTo>
                <a:lnTo>
                  <a:pt x="7548225" y="4760849"/>
                </a:lnTo>
                <a:cubicBezTo>
                  <a:pt x="7548225" y="4810108"/>
                  <a:pt x="7508292" y="4850041"/>
                  <a:pt x="7459033" y="4850041"/>
                </a:cubicBezTo>
                <a:lnTo>
                  <a:pt x="89192" y="4850041"/>
                </a:lnTo>
                <a:cubicBezTo>
                  <a:pt x="39933" y="4850041"/>
                  <a:pt x="0" y="4810108"/>
                  <a:pt x="0" y="4760849"/>
                </a:cubicBezTo>
                <a:lnTo>
                  <a:pt x="0" y="89192"/>
                </a:lnTo>
                <a:cubicBezTo>
                  <a:pt x="0" y="39933"/>
                  <a:pt x="39933" y="0"/>
                  <a:pt x="8919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13569" y="3038244"/>
            <a:ext cx="535177" cy="535177"/>
          </a:xfrm>
          <a:custGeom>
            <a:avLst/>
            <a:gdLst/>
            <a:ahLst/>
            <a:cxnLst/>
            <a:rect l="l" t="t" r="r" b="b"/>
            <a:pathLst>
              <a:path w="535177" h="535177">
                <a:moveTo>
                  <a:pt x="89198" y="0"/>
                </a:moveTo>
                <a:lnTo>
                  <a:pt x="445979" y="0"/>
                </a:lnTo>
                <a:cubicBezTo>
                  <a:pt x="495242" y="0"/>
                  <a:pt x="535177" y="39935"/>
                  <a:pt x="535177" y="89198"/>
                </a:cubicBezTo>
                <a:lnTo>
                  <a:pt x="535177" y="445979"/>
                </a:lnTo>
                <a:cubicBezTo>
                  <a:pt x="535177" y="495242"/>
                  <a:pt x="495242" y="535177"/>
                  <a:pt x="445979" y="535177"/>
                </a:cubicBezTo>
                <a:lnTo>
                  <a:pt x="89198" y="535177"/>
                </a:lnTo>
                <a:cubicBezTo>
                  <a:pt x="39935" y="535177"/>
                  <a:pt x="0" y="495242"/>
                  <a:pt x="0" y="445979"/>
                </a:cubicBezTo>
                <a:lnTo>
                  <a:pt x="0" y="89198"/>
                </a:lnTo>
                <a:cubicBezTo>
                  <a:pt x="0" y="39968"/>
                  <a:pt x="39968" y="0"/>
                  <a:pt x="8919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69663" y="3194337"/>
            <a:ext cx="222990" cy="222990"/>
          </a:xfrm>
          <a:custGeom>
            <a:avLst/>
            <a:gdLst/>
            <a:ahLst/>
            <a:cxnLst/>
            <a:rect l="l" t="t" r="r" b="b"/>
            <a:pathLst>
              <a:path w="222990" h="222990">
                <a:moveTo>
                  <a:pt x="207007" y="44"/>
                </a:moveTo>
                <a:cubicBezTo>
                  <a:pt x="211318" y="-305"/>
                  <a:pt x="215543" y="1350"/>
                  <a:pt x="218592" y="4399"/>
                </a:cubicBezTo>
                <a:cubicBezTo>
                  <a:pt x="221640" y="7448"/>
                  <a:pt x="223295" y="11672"/>
                  <a:pt x="222947" y="15984"/>
                </a:cubicBezTo>
                <a:cubicBezTo>
                  <a:pt x="221205" y="37455"/>
                  <a:pt x="215369" y="70948"/>
                  <a:pt x="202782" y="102959"/>
                </a:cubicBezTo>
                <a:cubicBezTo>
                  <a:pt x="201998" y="104919"/>
                  <a:pt x="200386" y="106400"/>
                  <a:pt x="198340" y="107009"/>
                </a:cubicBezTo>
                <a:lnTo>
                  <a:pt x="163105" y="117593"/>
                </a:lnTo>
                <a:cubicBezTo>
                  <a:pt x="161407" y="118115"/>
                  <a:pt x="160274" y="119640"/>
                  <a:pt x="160274" y="121425"/>
                </a:cubicBezTo>
                <a:cubicBezTo>
                  <a:pt x="160274" y="123646"/>
                  <a:pt x="162060" y="125432"/>
                  <a:pt x="164281" y="125432"/>
                </a:cubicBezTo>
                <a:lnTo>
                  <a:pt x="181093" y="125432"/>
                </a:lnTo>
                <a:cubicBezTo>
                  <a:pt x="186319" y="125432"/>
                  <a:pt x="189672" y="131007"/>
                  <a:pt x="186972" y="135493"/>
                </a:cubicBezTo>
                <a:cubicBezTo>
                  <a:pt x="185230" y="138411"/>
                  <a:pt x="183357" y="141242"/>
                  <a:pt x="181441" y="144029"/>
                </a:cubicBezTo>
                <a:cubicBezTo>
                  <a:pt x="180570" y="145292"/>
                  <a:pt x="179263" y="146207"/>
                  <a:pt x="177783" y="146686"/>
                </a:cubicBezTo>
                <a:lnTo>
                  <a:pt x="135231" y="159403"/>
                </a:lnTo>
                <a:cubicBezTo>
                  <a:pt x="133533" y="159926"/>
                  <a:pt x="132401" y="161450"/>
                  <a:pt x="132401" y="163236"/>
                </a:cubicBezTo>
                <a:cubicBezTo>
                  <a:pt x="132401" y="165457"/>
                  <a:pt x="134186" y="167243"/>
                  <a:pt x="136407" y="167243"/>
                </a:cubicBezTo>
                <a:lnTo>
                  <a:pt x="143376" y="167243"/>
                </a:lnTo>
                <a:cubicBezTo>
                  <a:pt x="149735" y="167243"/>
                  <a:pt x="152522" y="174821"/>
                  <a:pt x="147209" y="178305"/>
                </a:cubicBezTo>
                <a:cubicBezTo>
                  <a:pt x="117593" y="197904"/>
                  <a:pt x="87236" y="197164"/>
                  <a:pt x="67768" y="191937"/>
                </a:cubicBezTo>
                <a:cubicBezTo>
                  <a:pt x="62237" y="190456"/>
                  <a:pt x="57316" y="187626"/>
                  <a:pt x="52786" y="184141"/>
                </a:cubicBezTo>
                <a:lnTo>
                  <a:pt x="20905" y="216022"/>
                </a:lnTo>
                <a:cubicBezTo>
                  <a:pt x="17073" y="219855"/>
                  <a:pt x="10801" y="219855"/>
                  <a:pt x="6968" y="216022"/>
                </a:cubicBezTo>
                <a:cubicBezTo>
                  <a:pt x="3136" y="212189"/>
                  <a:pt x="3136" y="205918"/>
                  <a:pt x="6968" y="202085"/>
                </a:cubicBezTo>
                <a:lnTo>
                  <a:pt x="41811" y="167243"/>
                </a:lnTo>
                <a:lnTo>
                  <a:pt x="42028" y="167461"/>
                </a:lnTo>
                <a:cubicBezTo>
                  <a:pt x="42333" y="166894"/>
                  <a:pt x="42725" y="166372"/>
                  <a:pt x="43204" y="165893"/>
                </a:cubicBezTo>
                <a:lnTo>
                  <a:pt x="111495" y="97558"/>
                </a:lnTo>
                <a:cubicBezTo>
                  <a:pt x="115328" y="93726"/>
                  <a:pt x="115328" y="87454"/>
                  <a:pt x="111495" y="83621"/>
                </a:cubicBezTo>
                <a:cubicBezTo>
                  <a:pt x="107663" y="79789"/>
                  <a:pt x="101391" y="79789"/>
                  <a:pt x="97558" y="83621"/>
                </a:cubicBezTo>
                <a:lnTo>
                  <a:pt x="39067" y="142069"/>
                </a:lnTo>
                <a:cubicBezTo>
                  <a:pt x="35191" y="145945"/>
                  <a:pt x="28614" y="143986"/>
                  <a:pt x="28179" y="138498"/>
                </a:cubicBezTo>
                <a:cubicBezTo>
                  <a:pt x="26306" y="115328"/>
                  <a:pt x="32229" y="84884"/>
                  <a:pt x="59798" y="57316"/>
                </a:cubicBezTo>
                <a:cubicBezTo>
                  <a:pt x="99475" y="17639"/>
                  <a:pt x="170509" y="3005"/>
                  <a:pt x="206963" y="4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82540" y="3127440"/>
            <a:ext cx="1962316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轻量化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569" y="3796412"/>
            <a:ext cx="7113394" cy="65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只存储一个指针，指向当前元数据文件的位置。无论表的数据量有多大、文件有多少，Catalog 的压力都非常小。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3569" y="4671649"/>
            <a:ext cx="7013048" cy="1973465"/>
          </a:xfrm>
          <a:custGeom>
            <a:avLst/>
            <a:gdLst/>
            <a:ahLst/>
            <a:cxnLst/>
            <a:rect l="l" t="t" r="r" b="b"/>
            <a:pathLst>
              <a:path w="7013048" h="1973465">
                <a:moveTo>
                  <a:pt x="89201" y="0"/>
                </a:moveTo>
                <a:lnTo>
                  <a:pt x="6923847" y="0"/>
                </a:lnTo>
                <a:cubicBezTo>
                  <a:pt x="6973112" y="0"/>
                  <a:pt x="7013048" y="39936"/>
                  <a:pt x="7013048" y="89201"/>
                </a:cubicBezTo>
                <a:lnTo>
                  <a:pt x="7013048" y="1884264"/>
                </a:lnTo>
                <a:cubicBezTo>
                  <a:pt x="7013048" y="1933529"/>
                  <a:pt x="6973112" y="1973465"/>
                  <a:pt x="6923847" y="1973465"/>
                </a:cubicBezTo>
                <a:lnTo>
                  <a:pt x="89201" y="1973465"/>
                </a:lnTo>
                <a:cubicBezTo>
                  <a:pt x="39969" y="1973465"/>
                  <a:pt x="0" y="1933496"/>
                  <a:pt x="0" y="1884264"/>
                </a:cubicBezTo>
                <a:lnTo>
                  <a:pt x="0" y="89201"/>
                </a:lnTo>
                <a:cubicBezTo>
                  <a:pt x="0" y="39969"/>
                  <a:pt x="39969" y="0"/>
                  <a:pt x="89201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36560" y="4894639"/>
            <a:ext cx="6645114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Approach: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6560" y="5251424"/>
            <a:ext cx="665626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需要扫描整个目录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36560" y="5652807"/>
            <a:ext cx="6567067" cy="11150"/>
          </a:xfrm>
          <a:custGeom>
            <a:avLst/>
            <a:gdLst/>
            <a:ahLst/>
            <a:cxnLst/>
            <a:rect l="l" t="t" r="r" b="b"/>
            <a:pathLst>
              <a:path w="6567067" h="11150">
                <a:moveTo>
                  <a:pt x="0" y="0"/>
                </a:moveTo>
                <a:lnTo>
                  <a:pt x="6567067" y="0"/>
                </a:lnTo>
                <a:lnTo>
                  <a:pt x="6567067" y="11150"/>
                </a:lnTo>
                <a:lnTo>
                  <a:pt x="0" y="11150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36560" y="5797750"/>
            <a:ext cx="6645114" cy="222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29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Iceberg Approach: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6560" y="6154535"/>
            <a:ext cx="6656263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直接定位元数据文件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60488" y="2770656"/>
            <a:ext cx="7548225" cy="4850041"/>
          </a:xfrm>
          <a:custGeom>
            <a:avLst/>
            <a:gdLst/>
            <a:ahLst/>
            <a:cxnLst/>
            <a:rect l="l" t="t" r="r" b="b"/>
            <a:pathLst>
              <a:path w="7548225" h="4850041">
                <a:moveTo>
                  <a:pt x="89192" y="0"/>
                </a:moveTo>
                <a:lnTo>
                  <a:pt x="7459033" y="0"/>
                </a:lnTo>
                <a:cubicBezTo>
                  <a:pt x="7508292" y="0"/>
                  <a:pt x="7548225" y="39933"/>
                  <a:pt x="7548225" y="89192"/>
                </a:cubicBezTo>
                <a:lnTo>
                  <a:pt x="7548225" y="4760849"/>
                </a:lnTo>
                <a:cubicBezTo>
                  <a:pt x="7548225" y="4810108"/>
                  <a:pt x="7508292" y="4850041"/>
                  <a:pt x="7459033" y="4850041"/>
                </a:cubicBezTo>
                <a:lnTo>
                  <a:pt x="89192" y="4850041"/>
                </a:lnTo>
                <a:cubicBezTo>
                  <a:pt x="39933" y="4850041"/>
                  <a:pt x="0" y="4810108"/>
                  <a:pt x="0" y="4760849"/>
                </a:cubicBezTo>
                <a:lnTo>
                  <a:pt x="0" y="89192"/>
                </a:lnTo>
                <a:cubicBezTo>
                  <a:pt x="0" y="39933"/>
                  <a:pt x="39933" y="0"/>
                  <a:pt x="8919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28076" y="3038244"/>
            <a:ext cx="535177" cy="535177"/>
          </a:xfrm>
          <a:custGeom>
            <a:avLst/>
            <a:gdLst/>
            <a:ahLst/>
            <a:cxnLst/>
            <a:rect l="l" t="t" r="r" b="b"/>
            <a:pathLst>
              <a:path w="535177" h="535177">
                <a:moveTo>
                  <a:pt x="89198" y="0"/>
                </a:moveTo>
                <a:lnTo>
                  <a:pt x="445979" y="0"/>
                </a:lnTo>
                <a:cubicBezTo>
                  <a:pt x="495242" y="0"/>
                  <a:pt x="535177" y="39935"/>
                  <a:pt x="535177" y="89198"/>
                </a:cubicBezTo>
                <a:lnTo>
                  <a:pt x="535177" y="445979"/>
                </a:lnTo>
                <a:cubicBezTo>
                  <a:pt x="535177" y="495242"/>
                  <a:pt x="495242" y="535177"/>
                  <a:pt x="445979" y="535177"/>
                </a:cubicBezTo>
                <a:lnTo>
                  <a:pt x="89198" y="535177"/>
                </a:lnTo>
                <a:cubicBezTo>
                  <a:pt x="39935" y="535177"/>
                  <a:pt x="0" y="495242"/>
                  <a:pt x="0" y="445979"/>
                </a:cubicBezTo>
                <a:lnTo>
                  <a:pt x="0" y="89198"/>
                </a:lnTo>
                <a:cubicBezTo>
                  <a:pt x="0" y="39968"/>
                  <a:pt x="39968" y="0"/>
                  <a:pt x="89198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684169" y="3194337"/>
            <a:ext cx="222990" cy="222990"/>
          </a:xfrm>
          <a:custGeom>
            <a:avLst/>
            <a:gdLst/>
            <a:ahLst/>
            <a:cxnLst/>
            <a:rect l="l" t="t" r="r" b="b"/>
            <a:pathLst>
              <a:path w="222990" h="222990">
                <a:moveTo>
                  <a:pt x="83621" y="111495"/>
                </a:moveTo>
                <a:lnTo>
                  <a:pt x="66418" y="128699"/>
                </a:lnTo>
                <a:cubicBezTo>
                  <a:pt x="60930" y="126564"/>
                  <a:pt x="55007" y="125432"/>
                  <a:pt x="48779" y="125432"/>
                </a:cubicBezTo>
                <a:cubicBezTo>
                  <a:pt x="21820" y="125432"/>
                  <a:pt x="0" y="147252"/>
                  <a:pt x="0" y="174211"/>
                </a:cubicBezTo>
                <a:cubicBezTo>
                  <a:pt x="0" y="201170"/>
                  <a:pt x="21820" y="222990"/>
                  <a:pt x="48779" y="222990"/>
                </a:cubicBezTo>
                <a:cubicBezTo>
                  <a:pt x="75738" y="222990"/>
                  <a:pt x="97558" y="201170"/>
                  <a:pt x="97558" y="174211"/>
                </a:cubicBezTo>
                <a:cubicBezTo>
                  <a:pt x="97558" y="167983"/>
                  <a:pt x="96382" y="162060"/>
                  <a:pt x="94292" y="156572"/>
                </a:cubicBezTo>
                <a:lnTo>
                  <a:pt x="217416" y="33449"/>
                </a:lnTo>
                <a:cubicBezTo>
                  <a:pt x="220508" y="30356"/>
                  <a:pt x="220508" y="25391"/>
                  <a:pt x="217416" y="22299"/>
                </a:cubicBezTo>
                <a:cubicBezTo>
                  <a:pt x="205090" y="9974"/>
                  <a:pt x="185143" y="9974"/>
                  <a:pt x="172818" y="22299"/>
                </a:cubicBezTo>
                <a:lnTo>
                  <a:pt x="111495" y="83621"/>
                </a:lnTo>
                <a:lnTo>
                  <a:pt x="94292" y="66418"/>
                </a:lnTo>
                <a:cubicBezTo>
                  <a:pt x="96426" y="60930"/>
                  <a:pt x="97558" y="55007"/>
                  <a:pt x="97558" y="48779"/>
                </a:cubicBezTo>
                <a:cubicBezTo>
                  <a:pt x="97558" y="21820"/>
                  <a:pt x="75738" y="0"/>
                  <a:pt x="48779" y="0"/>
                </a:cubicBezTo>
                <a:cubicBezTo>
                  <a:pt x="21820" y="0"/>
                  <a:pt x="0" y="21820"/>
                  <a:pt x="0" y="48779"/>
                </a:cubicBezTo>
                <a:cubicBezTo>
                  <a:pt x="0" y="75738"/>
                  <a:pt x="21820" y="97558"/>
                  <a:pt x="48779" y="97558"/>
                </a:cubicBezTo>
                <a:cubicBezTo>
                  <a:pt x="55007" y="97558"/>
                  <a:pt x="60930" y="96382"/>
                  <a:pt x="66418" y="94292"/>
                </a:cubicBezTo>
                <a:lnTo>
                  <a:pt x="83621" y="111495"/>
                </a:lnTo>
                <a:close/>
                <a:moveTo>
                  <a:pt x="126260" y="154133"/>
                </a:moveTo>
                <a:lnTo>
                  <a:pt x="172818" y="200691"/>
                </a:lnTo>
                <a:cubicBezTo>
                  <a:pt x="185143" y="213017"/>
                  <a:pt x="205090" y="213017"/>
                  <a:pt x="217416" y="200691"/>
                </a:cubicBezTo>
                <a:cubicBezTo>
                  <a:pt x="220508" y="197599"/>
                  <a:pt x="220508" y="192634"/>
                  <a:pt x="217416" y="189542"/>
                </a:cubicBezTo>
                <a:lnTo>
                  <a:pt x="154133" y="126260"/>
                </a:lnTo>
                <a:lnTo>
                  <a:pt x="126260" y="154133"/>
                </a:lnTo>
                <a:close/>
                <a:moveTo>
                  <a:pt x="27874" y="48779"/>
                </a:moveTo>
                <a:cubicBezTo>
                  <a:pt x="27874" y="37241"/>
                  <a:pt x="37241" y="27874"/>
                  <a:pt x="48779" y="27874"/>
                </a:cubicBezTo>
                <a:cubicBezTo>
                  <a:pt x="60317" y="27874"/>
                  <a:pt x="69684" y="37241"/>
                  <a:pt x="69684" y="48779"/>
                </a:cubicBezTo>
                <a:cubicBezTo>
                  <a:pt x="69684" y="60317"/>
                  <a:pt x="60317" y="69684"/>
                  <a:pt x="48779" y="69684"/>
                </a:cubicBezTo>
                <a:cubicBezTo>
                  <a:pt x="37241" y="69684"/>
                  <a:pt x="27874" y="60317"/>
                  <a:pt x="27874" y="48779"/>
                </a:cubicBezTo>
                <a:close/>
                <a:moveTo>
                  <a:pt x="48779" y="153306"/>
                </a:moveTo>
                <a:cubicBezTo>
                  <a:pt x="60317" y="153306"/>
                  <a:pt x="69684" y="162673"/>
                  <a:pt x="69684" y="174211"/>
                </a:cubicBezTo>
                <a:cubicBezTo>
                  <a:pt x="69684" y="185749"/>
                  <a:pt x="60317" y="195117"/>
                  <a:pt x="48779" y="195117"/>
                </a:cubicBezTo>
                <a:cubicBezTo>
                  <a:pt x="37241" y="195117"/>
                  <a:pt x="27874" y="185749"/>
                  <a:pt x="27874" y="174211"/>
                </a:cubicBezTo>
                <a:cubicBezTo>
                  <a:pt x="27874" y="162673"/>
                  <a:pt x="37241" y="153306"/>
                  <a:pt x="48779" y="15330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197047" y="3127440"/>
            <a:ext cx="2397147" cy="3567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0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剪枝下推 (Pruning)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28076" y="3796412"/>
            <a:ext cx="7113394" cy="32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8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查询引擎只需读取极少量的元数据即可定位目标文件，无需扫描整个目录。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50375" y="4345525"/>
            <a:ext cx="6990749" cy="1014606"/>
          </a:xfrm>
          <a:custGeom>
            <a:avLst/>
            <a:gdLst/>
            <a:ahLst/>
            <a:cxnLst/>
            <a:rect l="l" t="t" r="r" b="b"/>
            <a:pathLst>
              <a:path w="6990749" h="1014606">
                <a:moveTo>
                  <a:pt x="44598" y="0"/>
                </a:moveTo>
                <a:lnTo>
                  <a:pt x="6901555" y="0"/>
                </a:lnTo>
                <a:cubicBezTo>
                  <a:pt x="6950815" y="0"/>
                  <a:pt x="6990749" y="39934"/>
                  <a:pt x="6990749" y="89194"/>
                </a:cubicBezTo>
                <a:lnTo>
                  <a:pt x="6990749" y="925412"/>
                </a:lnTo>
                <a:cubicBezTo>
                  <a:pt x="6990749" y="974673"/>
                  <a:pt x="6950815" y="1014606"/>
                  <a:pt x="6901555" y="1014606"/>
                </a:cubicBezTo>
                <a:lnTo>
                  <a:pt x="44598" y="1014606"/>
                </a:lnTo>
                <a:cubicBezTo>
                  <a:pt x="19967" y="1014606"/>
                  <a:pt x="0" y="994639"/>
                  <a:pt x="0" y="970008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50375" y="4345525"/>
            <a:ext cx="44598" cy="1014606"/>
          </a:xfrm>
          <a:custGeom>
            <a:avLst/>
            <a:gdLst/>
            <a:ahLst/>
            <a:cxnLst/>
            <a:rect l="l" t="t" r="r" b="b"/>
            <a:pathLst>
              <a:path w="44598" h="1014606">
                <a:moveTo>
                  <a:pt x="44598" y="0"/>
                </a:moveTo>
                <a:lnTo>
                  <a:pt x="44598" y="0"/>
                </a:lnTo>
                <a:lnTo>
                  <a:pt x="44598" y="1014606"/>
                </a:lnTo>
                <a:lnTo>
                  <a:pt x="44598" y="1014606"/>
                </a:lnTo>
                <a:cubicBezTo>
                  <a:pt x="19967" y="1014606"/>
                  <a:pt x="0" y="994639"/>
                  <a:pt x="0" y="970008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51067" y="4523918"/>
            <a:ext cx="6700861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 1: 分区过滤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51067" y="4880702"/>
            <a:ext cx="670086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 </a:t>
            </a:r>
            <a:r>
              <a:rPr lang="en-US" sz="1405" dirty="0">
                <a:solidFill>
                  <a:srgbClr val="4FD1C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dt='2023' </a:t>
            </a:r>
            <a:r>
              <a:rPr lang="en-US" sz="140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检查 Manifest List → 跳过不包含该日期的 Manifest Files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50375" y="5532949"/>
            <a:ext cx="6990749" cy="1014606"/>
          </a:xfrm>
          <a:custGeom>
            <a:avLst/>
            <a:gdLst/>
            <a:ahLst/>
            <a:cxnLst/>
            <a:rect l="l" t="t" r="r" b="b"/>
            <a:pathLst>
              <a:path w="6990749" h="1014606">
                <a:moveTo>
                  <a:pt x="44598" y="0"/>
                </a:moveTo>
                <a:lnTo>
                  <a:pt x="6901555" y="0"/>
                </a:lnTo>
                <a:cubicBezTo>
                  <a:pt x="6950815" y="0"/>
                  <a:pt x="6990749" y="39934"/>
                  <a:pt x="6990749" y="89194"/>
                </a:cubicBezTo>
                <a:lnTo>
                  <a:pt x="6990749" y="925412"/>
                </a:lnTo>
                <a:cubicBezTo>
                  <a:pt x="6990749" y="974673"/>
                  <a:pt x="6950815" y="1014606"/>
                  <a:pt x="6901555" y="1014606"/>
                </a:cubicBezTo>
                <a:lnTo>
                  <a:pt x="44598" y="1014606"/>
                </a:lnTo>
                <a:cubicBezTo>
                  <a:pt x="19967" y="1014606"/>
                  <a:pt x="0" y="994639"/>
                  <a:pt x="0" y="970008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550375" y="5532949"/>
            <a:ext cx="44598" cy="1014606"/>
          </a:xfrm>
          <a:custGeom>
            <a:avLst/>
            <a:gdLst/>
            <a:ahLst/>
            <a:cxnLst/>
            <a:rect l="l" t="t" r="r" b="b"/>
            <a:pathLst>
              <a:path w="44598" h="1014606">
                <a:moveTo>
                  <a:pt x="44598" y="0"/>
                </a:moveTo>
                <a:lnTo>
                  <a:pt x="44598" y="0"/>
                </a:lnTo>
                <a:lnTo>
                  <a:pt x="44598" y="1014606"/>
                </a:lnTo>
                <a:lnTo>
                  <a:pt x="44598" y="1014606"/>
                </a:lnTo>
                <a:cubicBezTo>
                  <a:pt x="19967" y="1014606"/>
                  <a:pt x="0" y="994639"/>
                  <a:pt x="0" y="970008"/>
                </a:cubicBezTo>
                <a:lnTo>
                  <a:pt x="0" y="44598"/>
                </a:lnTo>
                <a:cubicBezTo>
                  <a:pt x="0" y="19984"/>
                  <a:pt x="19984" y="0"/>
                  <a:pt x="44598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51067" y="5711342"/>
            <a:ext cx="6700861" cy="267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 2: 范围过滤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51067" y="6068126"/>
            <a:ext cx="670086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 </a:t>
            </a:r>
            <a:r>
              <a:rPr lang="en-US" sz="1405" dirty="0">
                <a:solidFill>
                  <a:srgbClr val="F6AD5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id &gt; 100 </a:t>
            </a:r>
            <a:r>
              <a:rPr lang="en-US" sz="140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 检查 Manifest File → 跳过 </a:t>
            </a:r>
            <a:r>
              <a:rPr lang="en-US" sz="1405" dirty="0">
                <a:solidFill>
                  <a:srgbClr val="A0AEC0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max_id &lt; 100 </a:t>
            </a:r>
            <a:r>
              <a:rPr lang="en-US" sz="140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Data Files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130" y="7903703"/>
            <a:ext cx="15341739" cy="1137251"/>
          </a:xfrm>
          <a:custGeom>
            <a:avLst/>
            <a:gdLst/>
            <a:ahLst/>
            <a:cxnLst/>
            <a:rect l="l" t="t" r="r" b="b"/>
            <a:pathLst>
              <a:path w="15341739" h="1137251">
                <a:moveTo>
                  <a:pt x="89195" y="0"/>
                </a:moveTo>
                <a:lnTo>
                  <a:pt x="15252545" y="0"/>
                </a:lnTo>
                <a:cubicBezTo>
                  <a:pt x="15301806" y="0"/>
                  <a:pt x="15341739" y="39934"/>
                  <a:pt x="15341739" y="89195"/>
                </a:cubicBezTo>
                <a:lnTo>
                  <a:pt x="15341739" y="1048056"/>
                </a:lnTo>
                <a:cubicBezTo>
                  <a:pt x="15341739" y="1097317"/>
                  <a:pt x="15301806" y="1137251"/>
                  <a:pt x="15252545" y="1137251"/>
                </a:cubicBezTo>
                <a:lnTo>
                  <a:pt x="89195" y="1137251"/>
                </a:lnTo>
                <a:cubicBezTo>
                  <a:pt x="39934" y="1137251"/>
                  <a:pt x="0" y="1097317"/>
                  <a:pt x="0" y="1048056"/>
                </a:cubicBezTo>
                <a:lnTo>
                  <a:pt x="0" y="89195"/>
                </a:lnTo>
                <a:cubicBezTo>
                  <a:pt x="0" y="39967"/>
                  <a:pt x="39967" y="0"/>
                  <a:pt x="8919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91270" y="8204740"/>
            <a:ext cx="535177" cy="535177"/>
          </a:xfrm>
          <a:custGeom>
            <a:avLst/>
            <a:gdLst/>
            <a:ahLst/>
            <a:cxnLst/>
            <a:rect l="l" t="t" r="r" b="b"/>
            <a:pathLst>
              <a:path w="535177" h="535177">
                <a:moveTo>
                  <a:pt x="267588" y="0"/>
                </a:moveTo>
                <a:lnTo>
                  <a:pt x="267588" y="0"/>
                </a:lnTo>
                <a:cubicBezTo>
                  <a:pt x="415374" y="0"/>
                  <a:pt x="535177" y="119803"/>
                  <a:pt x="535177" y="267588"/>
                </a:cubicBezTo>
                <a:lnTo>
                  <a:pt x="535177" y="267588"/>
                </a:lnTo>
                <a:cubicBezTo>
                  <a:pt x="535177" y="415374"/>
                  <a:pt x="415374" y="535177"/>
                  <a:pt x="267588" y="535177"/>
                </a:cubicBezTo>
                <a:lnTo>
                  <a:pt x="267588" y="535177"/>
                </a:lnTo>
                <a:cubicBezTo>
                  <a:pt x="119803" y="535177"/>
                  <a:pt x="0" y="415374"/>
                  <a:pt x="0" y="267588"/>
                </a:cubicBezTo>
                <a:lnTo>
                  <a:pt x="0" y="267588"/>
                </a:lnTo>
                <a:cubicBezTo>
                  <a:pt x="0" y="119803"/>
                  <a:pt x="119803" y="0"/>
                  <a:pt x="26758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75237" y="8360833"/>
            <a:ext cx="167243" cy="222990"/>
          </a:xfrm>
          <a:custGeom>
            <a:avLst/>
            <a:gdLst/>
            <a:ahLst/>
            <a:cxnLst/>
            <a:rect l="l" t="t" r="r" b="b"/>
            <a:pathLst>
              <a:path w="167243" h="222990">
                <a:moveTo>
                  <a:pt x="127566" y="167243"/>
                </a:moveTo>
                <a:cubicBezTo>
                  <a:pt x="130746" y="157531"/>
                  <a:pt x="137104" y="148733"/>
                  <a:pt x="144290" y="141155"/>
                </a:cubicBezTo>
                <a:cubicBezTo>
                  <a:pt x="158532" y="126172"/>
                  <a:pt x="167243" y="105920"/>
                  <a:pt x="167243" y="83621"/>
                </a:cubicBezTo>
                <a:cubicBezTo>
                  <a:pt x="167243" y="37455"/>
                  <a:pt x="129787" y="0"/>
                  <a:pt x="83621" y="0"/>
                </a:cubicBezTo>
                <a:cubicBezTo>
                  <a:pt x="37455" y="0"/>
                  <a:pt x="0" y="37455"/>
                  <a:pt x="0" y="83621"/>
                </a:cubicBezTo>
                <a:cubicBezTo>
                  <a:pt x="0" y="105920"/>
                  <a:pt x="8711" y="126172"/>
                  <a:pt x="22952" y="141155"/>
                </a:cubicBezTo>
                <a:cubicBezTo>
                  <a:pt x="30139" y="148733"/>
                  <a:pt x="36541" y="157531"/>
                  <a:pt x="39677" y="167243"/>
                </a:cubicBezTo>
                <a:lnTo>
                  <a:pt x="127523" y="167243"/>
                </a:lnTo>
                <a:close/>
                <a:moveTo>
                  <a:pt x="125432" y="188148"/>
                </a:moveTo>
                <a:lnTo>
                  <a:pt x="41811" y="188148"/>
                </a:lnTo>
                <a:lnTo>
                  <a:pt x="41811" y="195117"/>
                </a:lnTo>
                <a:cubicBezTo>
                  <a:pt x="41811" y="214367"/>
                  <a:pt x="57403" y="229959"/>
                  <a:pt x="76653" y="229959"/>
                </a:cubicBezTo>
                <a:lnTo>
                  <a:pt x="90590" y="229959"/>
                </a:lnTo>
                <a:cubicBezTo>
                  <a:pt x="109840" y="229959"/>
                  <a:pt x="125432" y="214367"/>
                  <a:pt x="125432" y="195117"/>
                </a:cubicBezTo>
                <a:lnTo>
                  <a:pt x="125432" y="188148"/>
                </a:lnTo>
                <a:close/>
                <a:moveTo>
                  <a:pt x="80137" y="48779"/>
                </a:moveTo>
                <a:cubicBezTo>
                  <a:pt x="62803" y="48779"/>
                  <a:pt x="48779" y="62803"/>
                  <a:pt x="48779" y="80137"/>
                </a:cubicBezTo>
                <a:cubicBezTo>
                  <a:pt x="48779" y="85930"/>
                  <a:pt x="44119" y="90590"/>
                  <a:pt x="38326" y="90590"/>
                </a:cubicBezTo>
                <a:cubicBezTo>
                  <a:pt x="32534" y="90590"/>
                  <a:pt x="27874" y="85930"/>
                  <a:pt x="27874" y="80137"/>
                </a:cubicBezTo>
                <a:cubicBezTo>
                  <a:pt x="27874" y="51262"/>
                  <a:pt x="51262" y="27874"/>
                  <a:pt x="80137" y="27874"/>
                </a:cubicBezTo>
                <a:cubicBezTo>
                  <a:pt x="85930" y="27874"/>
                  <a:pt x="90590" y="32534"/>
                  <a:pt x="90590" y="38326"/>
                </a:cubicBezTo>
                <a:cubicBezTo>
                  <a:pt x="90590" y="44119"/>
                  <a:pt x="85930" y="48779"/>
                  <a:pt x="80137" y="4877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404840" y="8137843"/>
            <a:ext cx="14271385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5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04840" y="8494628"/>
            <a:ext cx="14260236" cy="312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查询引擎通过多级剪枝，将元数据扫描量从</a:t>
            </a:r>
            <a:r>
              <a:rPr lang="en-US" sz="158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全目录扫描</a:t>
            </a:r>
            <a:r>
              <a:rPr lang="en-US" sz="158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降低到</a:t>
            </a:r>
            <a:r>
              <a:rPr lang="en-US" sz="158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少量元数据文件</a:t>
            </a:r>
            <a:r>
              <a:rPr lang="en-US" sz="158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，实现数量级的性能提升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printo.com/75782c4ddb8062e2a64f194159108fc0a3c8712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489" b="48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1257300"/>
            <a:ext cx="2298700" cy="584200"/>
          </a:xfrm>
          <a:custGeom>
            <a:avLst/>
            <a:gdLst/>
            <a:ahLst/>
            <a:cxnLst/>
            <a:rect l="l" t="t" r="r" b="b"/>
            <a:pathLst>
              <a:path w="2298700" h="584200">
                <a:moveTo>
                  <a:pt x="101598" y="0"/>
                </a:moveTo>
                <a:lnTo>
                  <a:pt x="2197102" y="0"/>
                </a:lnTo>
                <a:cubicBezTo>
                  <a:pt x="2253213" y="0"/>
                  <a:pt x="2298700" y="45487"/>
                  <a:pt x="2298700" y="101598"/>
                </a:cubicBezTo>
                <a:lnTo>
                  <a:pt x="2298700" y="482602"/>
                </a:lnTo>
                <a:cubicBezTo>
                  <a:pt x="2298700" y="538713"/>
                  <a:pt x="2253213" y="584200"/>
                  <a:pt x="2197102" y="584200"/>
                </a:cubicBezTo>
                <a:lnTo>
                  <a:pt x="101598" y="584200"/>
                </a:lnTo>
                <a:cubicBezTo>
                  <a:pt x="45487" y="584200"/>
                  <a:pt x="0" y="538713"/>
                  <a:pt x="0" y="482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365250"/>
            <a:ext cx="18885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20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2606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读写操作的核心：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Copy-On-Write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530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50800" y="0"/>
                </a:moveTo>
                <a:lnTo>
                  <a:pt x="1981200" y="0"/>
                </a:lnTo>
                <a:cubicBezTo>
                  <a:pt x="2009237" y="0"/>
                  <a:pt x="2032000" y="22763"/>
                  <a:pt x="2032000" y="50800"/>
                </a:cubicBezTo>
                <a:lnTo>
                  <a:pt x="2032000" y="50800"/>
                </a:lnTo>
                <a:cubicBezTo>
                  <a:pt x="2032000" y="78837"/>
                  <a:pt x="2009237" y="101600"/>
                  <a:pt x="1981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461000"/>
            <a:ext cx="994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在不可变对象存储上实现 ACID 的关键机制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3400" y="6527800"/>
            <a:ext cx="3568700" cy="1371600"/>
          </a:xfrm>
          <a:custGeom>
            <a:avLst/>
            <a:gdLst/>
            <a:ahLst/>
            <a:cxnLst/>
            <a:rect l="l" t="t" r="r" b="b"/>
            <a:pathLst>
              <a:path w="3568700" h="1371600">
                <a:moveTo>
                  <a:pt x="50800" y="0"/>
                </a:moveTo>
                <a:lnTo>
                  <a:pt x="3467106" y="0"/>
                </a:lnTo>
                <a:cubicBezTo>
                  <a:pt x="3523215" y="0"/>
                  <a:pt x="3568700" y="45485"/>
                  <a:pt x="3568700" y="101594"/>
                </a:cubicBezTo>
                <a:lnTo>
                  <a:pt x="3568700" y="1270006"/>
                </a:lnTo>
                <a:cubicBezTo>
                  <a:pt x="3568700" y="1326115"/>
                  <a:pt x="3523215" y="1371600"/>
                  <a:pt x="34671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33400" y="65278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12800" y="6781800"/>
            <a:ext cx="322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12800" y="7340600"/>
            <a:ext cx="313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写时复制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428034" y="6527800"/>
            <a:ext cx="3568700" cy="1371600"/>
          </a:xfrm>
          <a:custGeom>
            <a:avLst/>
            <a:gdLst/>
            <a:ahLst/>
            <a:cxnLst/>
            <a:rect l="l" t="t" r="r" b="b"/>
            <a:pathLst>
              <a:path w="3568700" h="1371600">
                <a:moveTo>
                  <a:pt x="50800" y="0"/>
                </a:moveTo>
                <a:lnTo>
                  <a:pt x="3467106" y="0"/>
                </a:lnTo>
                <a:cubicBezTo>
                  <a:pt x="3523215" y="0"/>
                  <a:pt x="3568700" y="45485"/>
                  <a:pt x="3568700" y="101594"/>
                </a:cubicBezTo>
                <a:lnTo>
                  <a:pt x="3568700" y="1270006"/>
                </a:lnTo>
                <a:cubicBezTo>
                  <a:pt x="3568700" y="1326115"/>
                  <a:pt x="3523215" y="1371600"/>
                  <a:pt x="34671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428034" y="65278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707434" y="6781800"/>
            <a:ext cx="322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7434" y="7340600"/>
            <a:ext cx="313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事务保障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22667" y="6527800"/>
            <a:ext cx="3568700" cy="1371600"/>
          </a:xfrm>
          <a:custGeom>
            <a:avLst/>
            <a:gdLst/>
            <a:ahLst/>
            <a:cxnLst/>
            <a:rect l="l" t="t" r="r" b="b"/>
            <a:pathLst>
              <a:path w="3568700" h="1371600">
                <a:moveTo>
                  <a:pt x="50800" y="0"/>
                </a:moveTo>
                <a:lnTo>
                  <a:pt x="3467106" y="0"/>
                </a:lnTo>
                <a:cubicBezTo>
                  <a:pt x="3523215" y="0"/>
                  <a:pt x="3568700" y="45485"/>
                  <a:pt x="3568700" y="101594"/>
                </a:cubicBezTo>
                <a:lnTo>
                  <a:pt x="3568700" y="1270006"/>
                </a:lnTo>
                <a:cubicBezTo>
                  <a:pt x="3568700" y="1326115"/>
                  <a:pt x="3523215" y="1371600"/>
                  <a:pt x="3467106" y="1371600"/>
                </a:cubicBez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322667" y="6527800"/>
            <a:ext cx="50800" cy="1371600"/>
          </a:xfrm>
          <a:custGeom>
            <a:avLst/>
            <a:gdLst/>
            <a:ahLst/>
            <a:cxnLst/>
            <a:rect l="l" t="t" r="r" b="b"/>
            <a:pathLst>
              <a:path w="50800" h="1371600">
                <a:moveTo>
                  <a:pt x="50800" y="0"/>
                </a:moveTo>
                <a:lnTo>
                  <a:pt x="50800" y="0"/>
                </a:lnTo>
                <a:lnTo>
                  <a:pt x="50800" y="1371600"/>
                </a:lnTo>
                <a:lnTo>
                  <a:pt x="50800" y="1371600"/>
                </a:lnTo>
                <a:cubicBezTo>
                  <a:pt x="22763" y="1371600"/>
                  <a:pt x="0" y="1348837"/>
                  <a:pt x="0" y="132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602067" y="6781800"/>
            <a:ext cx="322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MVCC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02067" y="7340600"/>
            <a:ext cx="313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多版本并发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160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COPY-ON-WRITE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COW 机制推演：Update 一行数据的完整流程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25400" y="0"/>
                </a:moveTo>
                <a:lnTo>
                  <a:pt x="1193800" y="0"/>
                </a:lnTo>
                <a:cubicBezTo>
                  <a:pt x="1207819" y="0"/>
                  <a:pt x="1219200" y="11381"/>
                  <a:pt x="1219200" y="25400"/>
                </a:cubicBezTo>
                <a:lnTo>
                  <a:pt x="1219200" y="25400"/>
                </a:lnTo>
                <a:cubicBezTo>
                  <a:pt x="1219200" y="39419"/>
                  <a:pt x="1207819" y="50800"/>
                  <a:pt x="1193800" y="50800"/>
                </a:cubicBezTo>
                <a:lnTo>
                  <a:pt x="25400" y="50800"/>
                </a:lnTo>
                <a:cubicBezTo>
                  <a:pt x="11381" y="50800"/>
                  <a:pt x="0" y="39419"/>
                  <a:pt x="0" y="25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15214600" cy="762000"/>
          </a:xfrm>
          <a:custGeom>
            <a:avLst/>
            <a:gdLst/>
            <a:ahLst/>
            <a:cxnLst/>
            <a:rect l="l" t="t" r="r" b="b"/>
            <a:pathLst>
              <a:path w="15214600" h="762000">
                <a:moveTo>
                  <a:pt x="50800" y="0"/>
                </a:moveTo>
                <a:lnTo>
                  <a:pt x="15113003" y="0"/>
                </a:lnTo>
                <a:cubicBezTo>
                  <a:pt x="15169113" y="0"/>
                  <a:pt x="15214600" y="45487"/>
                  <a:pt x="15214600" y="101597"/>
                </a:cubicBezTo>
                <a:lnTo>
                  <a:pt x="15214600" y="660403"/>
                </a:lnTo>
                <a:cubicBezTo>
                  <a:pt x="15214600" y="716513"/>
                  <a:pt x="15169113" y="762000"/>
                  <a:pt x="15113003" y="762000"/>
                </a:cubicBez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33400" y="1828800"/>
            <a:ext cx="50800" cy="762000"/>
          </a:xfrm>
          <a:custGeom>
            <a:avLst/>
            <a:gdLst/>
            <a:ahLst/>
            <a:cxnLst/>
            <a:rect l="l" t="t" r="r" b="b"/>
            <a:pathLst>
              <a:path w="50800" h="762000">
                <a:moveTo>
                  <a:pt x="50800" y="0"/>
                </a:moveTo>
                <a:lnTo>
                  <a:pt x="50800" y="0"/>
                </a:lnTo>
                <a:lnTo>
                  <a:pt x="50800" y="762000"/>
                </a:lnTo>
                <a:lnTo>
                  <a:pt x="50800" y="762000"/>
                </a:lnTo>
                <a:cubicBezTo>
                  <a:pt x="22763" y="762000"/>
                  <a:pt x="0" y="739237"/>
                  <a:pt x="0" y="71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09625" y="2082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31900" y="2032000"/>
            <a:ext cx="558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users SET status = 'active' WHERE id = 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8000" y="2819400"/>
            <a:ext cx="4940300" cy="4775200"/>
          </a:xfrm>
          <a:custGeom>
            <a:avLst/>
            <a:gdLst/>
            <a:ahLst/>
            <a:cxnLst/>
            <a:rect l="l" t="t" r="r" b="b"/>
            <a:pathLst>
              <a:path w="4940300" h="47752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4673584"/>
                </a:lnTo>
                <a:cubicBezTo>
                  <a:pt x="4940300" y="4729705"/>
                  <a:pt x="4894805" y="4775200"/>
                  <a:pt x="4838684" y="4775200"/>
                </a:cubicBezTo>
                <a:lnTo>
                  <a:pt x="101616" y="4775200"/>
                </a:lnTo>
                <a:cubicBezTo>
                  <a:pt x="45495" y="4775200"/>
                  <a:pt x="0" y="4729705"/>
                  <a:pt x="0" y="4673584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508000" y="2819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11200" y="31591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65200" y="3286125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73200" y="3048000"/>
            <a:ext cx="762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定位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200" y="4083050"/>
            <a:ext cx="463550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引擎扫描当前快照，找到 </a:t>
            </a:r>
            <a:r>
              <a:rPr lang="en-US" sz="1600" dirty="0">
                <a:solidFill>
                  <a:srgbClr val="4FD1C5"/>
                </a:solidFill>
                <a:highlight>
                  <a:srgbClr val="1A202C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id=1 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所在的 Data File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200" y="4953000"/>
            <a:ext cx="4533900" cy="1422400"/>
          </a:xfrm>
          <a:custGeom>
            <a:avLst/>
            <a:gdLst/>
            <a:ahLst/>
            <a:cxnLst/>
            <a:rect l="l" t="t" r="r" b="b"/>
            <a:pathLst>
              <a:path w="4533900" h="1422400">
                <a:moveTo>
                  <a:pt x="101602" y="0"/>
                </a:moveTo>
                <a:lnTo>
                  <a:pt x="4432298" y="0"/>
                </a:lnTo>
                <a:cubicBezTo>
                  <a:pt x="4488411" y="0"/>
                  <a:pt x="4533900" y="45489"/>
                  <a:pt x="4533900" y="101602"/>
                </a:cubicBezTo>
                <a:lnTo>
                  <a:pt x="4533900" y="1320798"/>
                </a:lnTo>
                <a:cubicBezTo>
                  <a:pt x="4533900" y="1376911"/>
                  <a:pt x="4488411" y="1422400"/>
                  <a:pt x="44322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515620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目标文件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5562600"/>
            <a:ext cx="4127500" cy="609600"/>
          </a:xfrm>
          <a:custGeom>
            <a:avLst/>
            <a:gdLst/>
            <a:ahLst/>
            <a:cxnLst/>
            <a:rect l="l" t="t" r="r" b="b"/>
            <a:pathLst>
              <a:path w="4127500" h="609600">
                <a:moveTo>
                  <a:pt x="50798" y="0"/>
                </a:moveTo>
                <a:lnTo>
                  <a:pt x="4076702" y="0"/>
                </a:lnTo>
                <a:cubicBezTo>
                  <a:pt x="4104757" y="0"/>
                  <a:pt x="4127500" y="22743"/>
                  <a:pt x="4127500" y="50798"/>
                </a:cubicBezTo>
                <a:lnTo>
                  <a:pt x="4127500" y="558802"/>
                </a:lnTo>
                <a:cubicBezTo>
                  <a:pt x="4127500" y="586857"/>
                  <a:pt x="4104757" y="609600"/>
                  <a:pt x="40767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14400" y="5562600"/>
            <a:ext cx="42291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file_A.parquet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55667" y="2819400"/>
            <a:ext cx="4940300" cy="4775200"/>
          </a:xfrm>
          <a:custGeom>
            <a:avLst/>
            <a:gdLst/>
            <a:ahLst/>
            <a:cxnLst/>
            <a:rect l="l" t="t" r="r" b="b"/>
            <a:pathLst>
              <a:path w="4940300" h="47752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4673584"/>
                </a:lnTo>
                <a:cubicBezTo>
                  <a:pt x="4940300" y="4729705"/>
                  <a:pt x="4894805" y="4775200"/>
                  <a:pt x="4838684" y="4775200"/>
                </a:cubicBezTo>
                <a:lnTo>
                  <a:pt x="101616" y="4775200"/>
                </a:lnTo>
                <a:cubicBezTo>
                  <a:pt x="45495" y="4775200"/>
                  <a:pt x="0" y="4729705"/>
                  <a:pt x="0" y="4673584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655667" y="2819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5858867" y="31591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089848" y="3286125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0867" y="3048000"/>
            <a:ext cx="762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重写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8867" y="4133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981303" y="4184650"/>
            <a:ext cx="13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5267" y="4083050"/>
            <a:ext cx="355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 </a:t>
            </a:r>
            <a:r>
              <a:rPr lang="en-US" sz="1600" dirty="0">
                <a:solidFill>
                  <a:srgbClr val="A0AEC0"/>
                </a:solidFill>
                <a:highlight>
                  <a:srgbClr val="1A202C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file_A.parquet 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的所有数据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58867" y="4641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68405" y="469265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65267" y="4591050"/>
            <a:ext cx="27813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在内存中修改 </a:t>
            </a:r>
            <a:r>
              <a:rPr lang="en-US" sz="1600" dirty="0">
                <a:solidFill>
                  <a:srgbClr val="F6AD55"/>
                </a:solidFill>
                <a:highlight>
                  <a:srgbClr val="1A202C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status 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8867" y="5149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66420" y="520065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5267" y="509905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写入新文件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58867" y="5657850"/>
            <a:ext cx="4533900" cy="1727200"/>
          </a:xfrm>
          <a:custGeom>
            <a:avLst/>
            <a:gdLst/>
            <a:ahLst/>
            <a:cxnLst/>
            <a:rect l="l" t="t" r="r" b="b"/>
            <a:pathLst>
              <a:path w="4533900" h="1727200">
                <a:moveTo>
                  <a:pt x="101594" y="0"/>
                </a:moveTo>
                <a:lnTo>
                  <a:pt x="4432306" y="0"/>
                </a:lnTo>
                <a:cubicBezTo>
                  <a:pt x="4488415" y="0"/>
                  <a:pt x="4533900" y="45485"/>
                  <a:pt x="4533900" y="101594"/>
                </a:cubicBezTo>
                <a:lnTo>
                  <a:pt x="4533900" y="1625606"/>
                </a:lnTo>
                <a:cubicBezTo>
                  <a:pt x="4533900" y="1681715"/>
                  <a:pt x="4488415" y="1727200"/>
                  <a:pt x="44323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062067" y="586105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新文件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62067" y="6267450"/>
            <a:ext cx="4127500" cy="609600"/>
          </a:xfrm>
          <a:custGeom>
            <a:avLst/>
            <a:gdLst/>
            <a:ahLst/>
            <a:cxnLst/>
            <a:rect l="l" t="t" r="r" b="b"/>
            <a:pathLst>
              <a:path w="4127500" h="609600">
                <a:moveTo>
                  <a:pt x="50798" y="0"/>
                </a:moveTo>
                <a:lnTo>
                  <a:pt x="4076702" y="0"/>
                </a:lnTo>
                <a:cubicBezTo>
                  <a:pt x="4104757" y="0"/>
                  <a:pt x="4127500" y="22743"/>
                  <a:pt x="4127500" y="50798"/>
                </a:cubicBezTo>
                <a:lnTo>
                  <a:pt x="4127500" y="558802"/>
                </a:lnTo>
                <a:cubicBezTo>
                  <a:pt x="4127500" y="586857"/>
                  <a:pt x="4104757" y="609600"/>
                  <a:pt x="40767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062067" y="6267450"/>
            <a:ext cx="4229100" cy="6096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file_A_new.parquet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62067" y="6978650"/>
            <a:ext cx="4203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原文件依然存在，对其他读任务可见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03434" y="2819400"/>
            <a:ext cx="4940300" cy="4775200"/>
          </a:xfrm>
          <a:custGeom>
            <a:avLst/>
            <a:gdLst/>
            <a:ahLst/>
            <a:cxnLst/>
            <a:rect l="l" t="t" r="r" b="b"/>
            <a:pathLst>
              <a:path w="4940300" h="4775200">
                <a:moveTo>
                  <a:pt x="50800" y="0"/>
                </a:moveTo>
                <a:lnTo>
                  <a:pt x="4889500" y="0"/>
                </a:lnTo>
                <a:cubicBezTo>
                  <a:pt x="4917556" y="0"/>
                  <a:pt x="4940300" y="22744"/>
                  <a:pt x="4940300" y="50800"/>
                </a:cubicBezTo>
                <a:lnTo>
                  <a:pt x="4940300" y="4673584"/>
                </a:lnTo>
                <a:cubicBezTo>
                  <a:pt x="4940300" y="4729705"/>
                  <a:pt x="4894805" y="4775200"/>
                  <a:pt x="4838684" y="4775200"/>
                </a:cubicBezTo>
                <a:lnTo>
                  <a:pt x="101616" y="4775200"/>
                </a:lnTo>
                <a:cubicBezTo>
                  <a:pt x="45495" y="4775200"/>
                  <a:pt x="0" y="4729705"/>
                  <a:pt x="0" y="4673584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803434" y="2819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1006634" y="31591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236424" y="3286125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768634" y="3048000"/>
            <a:ext cx="965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Commit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06634" y="4133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129070" y="4184650"/>
            <a:ext cx="13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413034" y="4083050"/>
            <a:ext cx="215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生成新的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06634" y="4641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116171" y="469265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413034" y="4591050"/>
            <a:ext cx="215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生成新的 </a:t>
            </a: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List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006634" y="5149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1114187" y="520065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413034" y="5099050"/>
            <a:ext cx="26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生成新的 </a:t>
            </a:r>
            <a:r>
              <a:rPr lang="en-US" sz="16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 File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(v2)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06634" y="5657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114286" y="570865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13034" y="5607050"/>
            <a:ext cx="345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原子交换</a:t>
            </a: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：Catalog指针从v1切换到v2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0700" y="7804150"/>
            <a:ext cx="7493000" cy="1193800"/>
          </a:xfrm>
          <a:custGeom>
            <a:avLst/>
            <a:gdLst/>
            <a:ahLst/>
            <a:cxnLst/>
            <a:rect l="l" t="t" r="r" b="b"/>
            <a:pathLst>
              <a:path w="7493000" h="1193800">
                <a:moveTo>
                  <a:pt x="101604" y="0"/>
                </a:moveTo>
                <a:lnTo>
                  <a:pt x="7391396" y="0"/>
                </a:lnTo>
                <a:cubicBezTo>
                  <a:pt x="7447510" y="0"/>
                  <a:pt x="7493000" y="45490"/>
                  <a:pt x="7493000" y="101604"/>
                </a:cubicBezTo>
                <a:lnTo>
                  <a:pt x="7493000" y="1092196"/>
                </a:lnTo>
                <a:cubicBezTo>
                  <a:pt x="7493000" y="1148310"/>
                  <a:pt x="7447510" y="1193800"/>
                  <a:pt x="7391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768350" y="8070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206500" y="802005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原子性保障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6600" y="847725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指针切换是原子操作，要么全可见，要么全不可见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42300" y="7804150"/>
            <a:ext cx="7493000" cy="1193800"/>
          </a:xfrm>
          <a:custGeom>
            <a:avLst/>
            <a:gdLst/>
            <a:ahLst/>
            <a:cxnLst/>
            <a:rect l="l" t="t" r="r" b="b"/>
            <a:pathLst>
              <a:path w="7493000" h="1193800">
                <a:moveTo>
                  <a:pt x="101604" y="0"/>
                </a:moveTo>
                <a:lnTo>
                  <a:pt x="7391396" y="0"/>
                </a:lnTo>
                <a:cubicBezTo>
                  <a:pt x="7447510" y="0"/>
                  <a:pt x="7493000" y="45490"/>
                  <a:pt x="7493000" y="101604"/>
                </a:cubicBezTo>
                <a:lnTo>
                  <a:pt x="7493000" y="1092196"/>
                </a:lnTo>
                <a:cubicBezTo>
                  <a:pt x="7493000" y="1148310"/>
                  <a:pt x="7447510" y="1193800"/>
                  <a:pt x="7391396" y="1193800"/>
                </a:cubicBezTo>
                <a:lnTo>
                  <a:pt x="101604" y="1193800"/>
                </a:lnTo>
                <a:cubicBezTo>
                  <a:pt x="45490" y="1193800"/>
                  <a:pt x="0" y="1148310"/>
                  <a:pt x="0" y="1092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489950" y="8070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928100" y="802005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隔离性保障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458200" y="8477250"/>
            <a:ext cx="716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老版本文件保持不变，正在进行的读操作不受影响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3333" y="423333"/>
            <a:ext cx="154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kern="0" spc="133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ACID GUARANTEE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23333" y="762000"/>
            <a:ext cx="155998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ACID 语义保障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23333" y="1312333"/>
            <a:ext cx="1016000" cy="42333"/>
          </a:xfrm>
          <a:custGeom>
            <a:avLst/>
            <a:gdLst/>
            <a:ahLst/>
            <a:cxnLst/>
            <a:rect l="l" t="t" r="r" b="b"/>
            <a:pathLst>
              <a:path w="1016000" h="42333">
                <a:moveTo>
                  <a:pt x="21167" y="0"/>
                </a:moveTo>
                <a:lnTo>
                  <a:pt x="994833" y="0"/>
                </a:lnTo>
                <a:cubicBezTo>
                  <a:pt x="1006523" y="0"/>
                  <a:pt x="1016000" y="9477"/>
                  <a:pt x="1016000" y="21167"/>
                </a:cubicBezTo>
                <a:lnTo>
                  <a:pt x="1016000" y="21167"/>
                </a:lnTo>
                <a:cubicBezTo>
                  <a:pt x="1016000" y="32857"/>
                  <a:pt x="1006523" y="42333"/>
                  <a:pt x="994833" y="42333"/>
                </a:cubicBezTo>
                <a:lnTo>
                  <a:pt x="21167" y="42333"/>
                </a:lnTo>
                <a:cubicBezTo>
                  <a:pt x="9477" y="42333"/>
                  <a:pt x="0" y="32857"/>
                  <a:pt x="0" y="21167"/>
                </a:cubicBezTo>
                <a:lnTo>
                  <a:pt x="0" y="21167"/>
                </a:lnTo>
                <a:cubicBezTo>
                  <a:pt x="0" y="9477"/>
                  <a:pt x="9477" y="0"/>
                  <a:pt x="21167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4500" y="1608667"/>
            <a:ext cx="7556500" cy="3086033"/>
          </a:xfrm>
          <a:custGeom>
            <a:avLst/>
            <a:gdLst/>
            <a:ahLst/>
            <a:cxnLst/>
            <a:rect l="l" t="t" r="r" b="b"/>
            <a:pathLst>
              <a:path w="7556500" h="3503083">
                <a:moveTo>
                  <a:pt x="42333" y="0"/>
                </a:moveTo>
                <a:lnTo>
                  <a:pt x="7471830" y="0"/>
                </a:lnTo>
                <a:cubicBezTo>
                  <a:pt x="7518592" y="0"/>
                  <a:pt x="7556500" y="37908"/>
                  <a:pt x="7556500" y="84670"/>
                </a:cubicBezTo>
                <a:lnTo>
                  <a:pt x="7556500" y="3418414"/>
                </a:lnTo>
                <a:cubicBezTo>
                  <a:pt x="7556500" y="3465175"/>
                  <a:pt x="7518592" y="3503083"/>
                  <a:pt x="7471830" y="3503083"/>
                </a:cubicBez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44500" y="1608667"/>
            <a:ext cx="42333" cy="3096000"/>
          </a:xfrm>
          <a:custGeom>
            <a:avLst/>
            <a:gdLst/>
            <a:ahLst/>
            <a:cxnLst/>
            <a:rect l="l" t="t" r="r" b="b"/>
            <a:pathLst>
              <a:path w="42333" h="3503083">
                <a:moveTo>
                  <a:pt x="42333" y="0"/>
                </a:moveTo>
                <a:lnTo>
                  <a:pt x="42333" y="0"/>
                </a:lnTo>
                <a:lnTo>
                  <a:pt x="42333" y="3503083"/>
                </a:ln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9667" y="1947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88752" y="2032000"/>
            <a:ext cx="296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54667" y="1862667"/>
            <a:ext cx="1227667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Atomicity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67" y="2709333"/>
            <a:ext cx="7112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Catalog 的指针切换是原子的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要么切换成功（新数据全可见），要么失败（新数据全不可见）</a:t>
            </a: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，不存在中间状态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9667" y="3429000"/>
            <a:ext cx="7027333" cy="889000"/>
          </a:xfrm>
          <a:custGeom>
            <a:avLst/>
            <a:gdLst/>
            <a:ahLst/>
            <a:cxnLst/>
            <a:rect l="l" t="t" r="r" b="b"/>
            <a:pathLst>
              <a:path w="7027333" h="889000">
                <a:moveTo>
                  <a:pt x="84668" y="0"/>
                </a:moveTo>
                <a:lnTo>
                  <a:pt x="6942665" y="0"/>
                </a:lnTo>
                <a:cubicBezTo>
                  <a:pt x="6989426" y="0"/>
                  <a:pt x="7027333" y="37907"/>
                  <a:pt x="7027333" y="84668"/>
                </a:cubicBezTo>
                <a:lnTo>
                  <a:pt x="7027333" y="804332"/>
                </a:lnTo>
                <a:cubicBezTo>
                  <a:pt x="7027333" y="851093"/>
                  <a:pt x="6989426" y="889000"/>
                  <a:pt x="694266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89000" y="3598333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实现机制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3894667"/>
            <a:ext cx="677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CAS (Compare-And-Swap) 原子操作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" y="4807792"/>
            <a:ext cx="7556500" cy="3086034"/>
          </a:xfrm>
          <a:custGeom>
            <a:avLst/>
            <a:gdLst/>
            <a:ahLst/>
            <a:cxnLst/>
            <a:rect l="l" t="t" r="r" b="b"/>
            <a:pathLst>
              <a:path w="7556500" h="3503083">
                <a:moveTo>
                  <a:pt x="42333" y="0"/>
                </a:moveTo>
                <a:lnTo>
                  <a:pt x="7471830" y="0"/>
                </a:lnTo>
                <a:cubicBezTo>
                  <a:pt x="7518592" y="0"/>
                  <a:pt x="7556500" y="37908"/>
                  <a:pt x="7556500" y="84670"/>
                </a:cubicBezTo>
                <a:lnTo>
                  <a:pt x="7556500" y="3418414"/>
                </a:lnTo>
                <a:cubicBezTo>
                  <a:pt x="7556500" y="3465175"/>
                  <a:pt x="7518592" y="3503083"/>
                  <a:pt x="7471830" y="3503083"/>
                </a:cubicBez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44500" y="4807791"/>
            <a:ext cx="42333" cy="3096000"/>
          </a:xfrm>
          <a:custGeom>
            <a:avLst/>
            <a:gdLst/>
            <a:ahLst/>
            <a:cxnLst/>
            <a:rect l="l" t="t" r="r" b="b"/>
            <a:pathLst>
              <a:path w="42333" h="3503083">
                <a:moveTo>
                  <a:pt x="42333" y="0"/>
                </a:moveTo>
                <a:lnTo>
                  <a:pt x="42333" y="0"/>
                </a:lnTo>
                <a:lnTo>
                  <a:pt x="42333" y="3503083"/>
                </a:ln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19667" y="514645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5527" y="5231125"/>
            <a:ext cx="306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54667" y="5061791"/>
            <a:ext cx="153458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Consistency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9667" y="5908458"/>
            <a:ext cx="7112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新快照经过</a:t>
            </a:r>
            <a:r>
              <a:rPr lang="en-US" sz="133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完整性校验</a:t>
            </a: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（Schema 匹配、分区合法）后才会被提交，确保数据状态的一致性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9667" y="6352958"/>
            <a:ext cx="7027333" cy="889000"/>
          </a:xfrm>
          <a:custGeom>
            <a:avLst/>
            <a:gdLst/>
            <a:ahLst/>
            <a:cxnLst/>
            <a:rect l="l" t="t" r="r" b="b"/>
            <a:pathLst>
              <a:path w="7027333" h="889000">
                <a:moveTo>
                  <a:pt x="84668" y="0"/>
                </a:moveTo>
                <a:lnTo>
                  <a:pt x="6942665" y="0"/>
                </a:lnTo>
                <a:cubicBezTo>
                  <a:pt x="6989426" y="0"/>
                  <a:pt x="7027333" y="37907"/>
                  <a:pt x="7027333" y="84668"/>
                </a:cubicBezTo>
                <a:lnTo>
                  <a:pt x="7027333" y="804332"/>
                </a:lnTo>
                <a:cubicBezTo>
                  <a:pt x="7027333" y="851093"/>
                  <a:pt x="6989426" y="889000"/>
                  <a:pt x="694266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89000" y="6522291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校验内容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" y="6818625"/>
            <a:ext cx="677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Schema、分区策略、文件完整性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76167" y="1608667"/>
            <a:ext cx="7556500" cy="3086033"/>
          </a:xfrm>
          <a:custGeom>
            <a:avLst/>
            <a:gdLst/>
            <a:ahLst/>
            <a:cxnLst/>
            <a:rect l="l" t="t" r="r" b="b"/>
            <a:pathLst>
              <a:path w="7556500" h="3503083">
                <a:moveTo>
                  <a:pt x="42333" y="0"/>
                </a:moveTo>
                <a:lnTo>
                  <a:pt x="7471830" y="0"/>
                </a:lnTo>
                <a:cubicBezTo>
                  <a:pt x="7518592" y="0"/>
                  <a:pt x="7556500" y="37908"/>
                  <a:pt x="7556500" y="84670"/>
                </a:cubicBezTo>
                <a:lnTo>
                  <a:pt x="7556500" y="3418414"/>
                </a:lnTo>
                <a:cubicBezTo>
                  <a:pt x="7556500" y="3465175"/>
                  <a:pt x="7518592" y="3503083"/>
                  <a:pt x="7471830" y="3503083"/>
                </a:cubicBez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276167" y="1608667"/>
            <a:ext cx="42333" cy="3096000"/>
          </a:xfrm>
          <a:custGeom>
            <a:avLst/>
            <a:gdLst/>
            <a:ahLst/>
            <a:cxnLst/>
            <a:rect l="l" t="t" r="r" b="b"/>
            <a:pathLst>
              <a:path w="42333" h="3503083">
                <a:moveTo>
                  <a:pt x="42333" y="0"/>
                </a:moveTo>
                <a:lnTo>
                  <a:pt x="42333" y="0"/>
                </a:lnTo>
                <a:lnTo>
                  <a:pt x="42333" y="3503083"/>
                </a:ln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551333" y="194733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72260" y="2032000"/>
            <a:ext cx="1905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6333" y="1862667"/>
            <a:ext cx="109008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Isolation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51333" y="2709333"/>
            <a:ext cx="7112000" cy="550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读任务 A 正在读 v1 快照，写任务 B 提交了 v2 快照。</a:t>
            </a:r>
            <a:r>
              <a:rPr lang="en-US" sz="133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读任务 A 继续读它的老文件，完全感知不到 v2 的存在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51333" y="3429000"/>
            <a:ext cx="7027333" cy="889000"/>
          </a:xfrm>
          <a:custGeom>
            <a:avLst/>
            <a:gdLst/>
            <a:ahLst/>
            <a:cxnLst/>
            <a:rect l="l" t="t" r="r" b="b"/>
            <a:pathLst>
              <a:path w="7027333" h="889000">
                <a:moveTo>
                  <a:pt x="84668" y="0"/>
                </a:moveTo>
                <a:lnTo>
                  <a:pt x="6942665" y="0"/>
                </a:lnTo>
                <a:cubicBezTo>
                  <a:pt x="6989426" y="0"/>
                  <a:pt x="7027333" y="37907"/>
                  <a:pt x="7027333" y="84668"/>
                </a:cubicBezTo>
                <a:lnTo>
                  <a:pt x="7027333" y="804332"/>
                </a:lnTo>
                <a:cubicBezTo>
                  <a:pt x="7027333" y="851093"/>
                  <a:pt x="6989426" y="889000"/>
                  <a:pt x="694266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20667" y="3598333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隔离级别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20667" y="3894667"/>
            <a:ext cx="677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MVCC (多版本并发控制)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76167" y="4807791"/>
            <a:ext cx="7556500" cy="3086033"/>
          </a:xfrm>
          <a:custGeom>
            <a:avLst/>
            <a:gdLst/>
            <a:ahLst/>
            <a:cxnLst/>
            <a:rect l="l" t="t" r="r" b="b"/>
            <a:pathLst>
              <a:path w="7556500" h="3503083">
                <a:moveTo>
                  <a:pt x="42333" y="0"/>
                </a:moveTo>
                <a:lnTo>
                  <a:pt x="7471830" y="0"/>
                </a:lnTo>
                <a:cubicBezTo>
                  <a:pt x="7518592" y="0"/>
                  <a:pt x="7556500" y="37908"/>
                  <a:pt x="7556500" y="84670"/>
                </a:cubicBezTo>
                <a:lnTo>
                  <a:pt x="7556500" y="3418414"/>
                </a:lnTo>
                <a:cubicBezTo>
                  <a:pt x="7556500" y="3465175"/>
                  <a:pt x="7518592" y="3503083"/>
                  <a:pt x="7471830" y="3503083"/>
                </a:cubicBez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276167" y="4807791"/>
            <a:ext cx="42333" cy="3096000"/>
          </a:xfrm>
          <a:custGeom>
            <a:avLst/>
            <a:gdLst/>
            <a:ahLst/>
            <a:cxnLst/>
            <a:rect l="l" t="t" r="r" b="b"/>
            <a:pathLst>
              <a:path w="42333" h="3503083">
                <a:moveTo>
                  <a:pt x="42333" y="0"/>
                </a:moveTo>
                <a:lnTo>
                  <a:pt x="42333" y="0"/>
                </a:lnTo>
                <a:lnTo>
                  <a:pt x="42333" y="3503083"/>
                </a:lnTo>
                <a:lnTo>
                  <a:pt x="42333" y="3503083"/>
                </a:lnTo>
                <a:cubicBezTo>
                  <a:pt x="18953" y="3503083"/>
                  <a:pt x="0" y="3484130"/>
                  <a:pt x="0" y="3460750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551333" y="514645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716863" y="5231125"/>
            <a:ext cx="30691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86333" y="5061791"/>
            <a:ext cx="12488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Durability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51333" y="5908458"/>
            <a:ext cx="7112000" cy="27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一旦事务提交成功，数据的变更将</a:t>
            </a:r>
            <a:r>
              <a:rPr lang="en-US" sz="1333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永久保存</a:t>
            </a: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，即使系统崩溃也不会丢失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51333" y="6352958"/>
            <a:ext cx="7027333" cy="889000"/>
          </a:xfrm>
          <a:custGeom>
            <a:avLst/>
            <a:gdLst/>
            <a:ahLst/>
            <a:cxnLst/>
            <a:rect l="l" t="t" r="r" b="b"/>
            <a:pathLst>
              <a:path w="7027333" h="889000">
                <a:moveTo>
                  <a:pt x="84668" y="0"/>
                </a:moveTo>
                <a:lnTo>
                  <a:pt x="6942665" y="0"/>
                </a:lnTo>
                <a:cubicBezTo>
                  <a:pt x="6989426" y="0"/>
                  <a:pt x="7027333" y="37907"/>
                  <a:pt x="7027333" y="84668"/>
                </a:cubicBezTo>
                <a:lnTo>
                  <a:pt x="7027333" y="804332"/>
                </a:lnTo>
                <a:cubicBezTo>
                  <a:pt x="7027333" y="851093"/>
                  <a:pt x="6989426" y="889000"/>
                  <a:pt x="6942665" y="889000"/>
                </a:cubicBezTo>
                <a:lnTo>
                  <a:pt x="84668" y="889000"/>
                </a:lnTo>
                <a:cubicBezTo>
                  <a:pt x="37907" y="889000"/>
                  <a:pt x="0" y="851093"/>
                  <a:pt x="0" y="804332"/>
                </a:cubicBezTo>
                <a:lnTo>
                  <a:pt x="0" y="84668"/>
                </a:lnTo>
                <a:cubicBezTo>
                  <a:pt x="0" y="37939"/>
                  <a:pt x="37939" y="0"/>
                  <a:pt x="84668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20667" y="6522291"/>
            <a:ext cx="6762750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保障机制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20667" y="6818625"/>
            <a:ext cx="677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对象存储持久化 + 元数据备份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3917" y="7999568"/>
            <a:ext cx="15388167" cy="1079500"/>
          </a:xfrm>
          <a:custGeom>
            <a:avLst/>
            <a:gdLst/>
            <a:ahLst/>
            <a:cxnLst/>
            <a:rect l="l" t="t" r="r" b="b"/>
            <a:pathLst>
              <a:path w="15388167" h="1079500">
                <a:moveTo>
                  <a:pt x="84665" y="0"/>
                </a:moveTo>
                <a:lnTo>
                  <a:pt x="15303501" y="0"/>
                </a:lnTo>
                <a:cubicBezTo>
                  <a:pt x="15350261" y="0"/>
                  <a:pt x="15388167" y="37906"/>
                  <a:pt x="15388167" y="84665"/>
                </a:cubicBezTo>
                <a:lnTo>
                  <a:pt x="15388167" y="994835"/>
                </a:lnTo>
                <a:cubicBezTo>
                  <a:pt x="15388167" y="1041594"/>
                  <a:pt x="15350261" y="1079500"/>
                  <a:pt x="15303501" y="1079500"/>
                </a:cubicBezTo>
                <a:lnTo>
                  <a:pt x="84665" y="1079500"/>
                </a:lnTo>
                <a:cubicBezTo>
                  <a:pt x="37906" y="1079500"/>
                  <a:pt x="0" y="1041594"/>
                  <a:pt x="0" y="994835"/>
                </a:cubicBezTo>
                <a:lnTo>
                  <a:pt x="0" y="84665"/>
                </a:lnTo>
                <a:cubicBezTo>
                  <a:pt x="0" y="37937"/>
                  <a:pt x="37937" y="0"/>
                  <a:pt x="84665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56167" y="828531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91104" y="8433485"/>
            <a:ext cx="238125" cy="211667"/>
          </a:xfrm>
          <a:custGeom>
            <a:avLst/>
            <a:gdLst/>
            <a:ahLst/>
            <a:cxnLst/>
            <a:rect l="l" t="t" r="r" b="b"/>
            <a:pathLst>
              <a:path w="238125" h="211667">
                <a:moveTo>
                  <a:pt x="129398" y="36049"/>
                </a:moveTo>
                <a:cubicBezTo>
                  <a:pt x="133201" y="33032"/>
                  <a:pt x="135599" y="28360"/>
                  <a:pt x="135599" y="23151"/>
                </a:cubicBezTo>
                <a:cubicBezTo>
                  <a:pt x="135599" y="14015"/>
                  <a:pt x="128199" y="6615"/>
                  <a:pt x="119063" y="6615"/>
                </a:cubicBezTo>
                <a:cubicBezTo>
                  <a:pt x="109926" y="6615"/>
                  <a:pt x="102526" y="14015"/>
                  <a:pt x="102526" y="23151"/>
                </a:cubicBezTo>
                <a:cubicBezTo>
                  <a:pt x="102526" y="28360"/>
                  <a:pt x="104965" y="33032"/>
                  <a:pt x="108727" y="36049"/>
                </a:cubicBezTo>
                <a:lnTo>
                  <a:pt x="80450" y="80533"/>
                </a:lnTo>
                <a:cubicBezTo>
                  <a:pt x="76316" y="87023"/>
                  <a:pt x="67510" y="88635"/>
                  <a:pt x="61350" y="84005"/>
                </a:cubicBezTo>
                <a:lnTo>
                  <a:pt x="36752" y="65608"/>
                </a:lnTo>
                <a:cubicBezTo>
                  <a:pt x="38613" y="62963"/>
                  <a:pt x="39688" y="59697"/>
                  <a:pt x="39688" y="56224"/>
                </a:cubicBezTo>
                <a:cubicBezTo>
                  <a:pt x="39688" y="47088"/>
                  <a:pt x="32287" y="39688"/>
                  <a:pt x="23151" y="39688"/>
                </a:cubicBezTo>
                <a:cubicBezTo>
                  <a:pt x="14015" y="39688"/>
                  <a:pt x="6615" y="47088"/>
                  <a:pt x="6615" y="56224"/>
                </a:cubicBezTo>
                <a:cubicBezTo>
                  <a:pt x="6615" y="65236"/>
                  <a:pt x="13849" y="72595"/>
                  <a:pt x="22820" y="72760"/>
                </a:cubicBezTo>
                <a:lnTo>
                  <a:pt x="36298" y="162677"/>
                </a:lnTo>
                <a:cubicBezTo>
                  <a:pt x="38241" y="175617"/>
                  <a:pt x="49361" y="185208"/>
                  <a:pt x="62466" y="185208"/>
                </a:cubicBezTo>
                <a:lnTo>
                  <a:pt x="175659" y="185208"/>
                </a:lnTo>
                <a:cubicBezTo>
                  <a:pt x="188764" y="185208"/>
                  <a:pt x="199884" y="175617"/>
                  <a:pt x="201827" y="162677"/>
                </a:cubicBezTo>
                <a:lnTo>
                  <a:pt x="215305" y="72760"/>
                </a:lnTo>
                <a:cubicBezTo>
                  <a:pt x="224276" y="72595"/>
                  <a:pt x="231510" y="65236"/>
                  <a:pt x="231510" y="56224"/>
                </a:cubicBezTo>
                <a:cubicBezTo>
                  <a:pt x="231510" y="47088"/>
                  <a:pt x="224110" y="39688"/>
                  <a:pt x="214974" y="39688"/>
                </a:cubicBezTo>
                <a:cubicBezTo>
                  <a:pt x="205838" y="39688"/>
                  <a:pt x="198438" y="47088"/>
                  <a:pt x="198438" y="56224"/>
                </a:cubicBezTo>
                <a:cubicBezTo>
                  <a:pt x="198438" y="59697"/>
                  <a:pt x="199512" y="62963"/>
                  <a:pt x="201373" y="65608"/>
                </a:cubicBezTo>
                <a:lnTo>
                  <a:pt x="176816" y="84047"/>
                </a:lnTo>
                <a:cubicBezTo>
                  <a:pt x="170656" y="88677"/>
                  <a:pt x="161851" y="87064"/>
                  <a:pt x="157716" y="80574"/>
                </a:cubicBezTo>
                <a:lnTo>
                  <a:pt x="129398" y="36049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333500" y="8221818"/>
            <a:ext cx="143721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6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数据库级别的 ACID 保障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33500" y="8560485"/>
            <a:ext cx="14361583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通过不可变快照链 + 原子指针切换，在分布式文件系统上实现了与传统数据库同等的事务保障能力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8a161eb2191ff3322169e222b4a0d5df5028e07b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8813" b="2881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1206500"/>
            <a:ext cx="2298700" cy="584200"/>
          </a:xfrm>
          <a:custGeom>
            <a:avLst/>
            <a:gdLst/>
            <a:ahLst/>
            <a:cxnLst/>
            <a:rect l="l" t="t" r="r" b="b"/>
            <a:pathLst>
              <a:path w="2298700" h="584200">
                <a:moveTo>
                  <a:pt x="101598" y="0"/>
                </a:moveTo>
                <a:lnTo>
                  <a:pt x="2197102" y="0"/>
                </a:lnTo>
                <a:cubicBezTo>
                  <a:pt x="2253213" y="0"/>
                  <a:pt x="2298700" y="45487"/>
                  <a:pt x="2298700" y="101598"/>
                </a:cubicBezTo>
                <a:lnTo>
                  <a:pt x="2298700" y="482602"/>
                </a:lnTo>
                <a:cubicBezTo>
                  <a:pt x="2298700" y="538713"/>
                  <a:pt x="2253213" y="584200"/>
                  <a:pt x="2197102" y="584200"/>
                </a:cubicBezTo>
                <a:lnTo>
                  <a:pt x="101598" y="584200"/>
                </a:lnTo>
                <a:cubicBezTo>
                  <a:pt x="45487" y="584200"/>
                  <a:pt x="0" y="538713"/>
                  <a:pt x="0" y="482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314450"/>
            <a:ext cx="189081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200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2098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两大杀器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022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50800" y="0"/>
                </a:moveTo>
                <a:lnTo>
                  <a:pt x="1981200" y="0"/>
                </a:lnTo>
                <a:cubicBezTo>
                  <a:pt x="2009237" y="0"/>
                  <a:pt x="2032000" y="22763"/>
                  <a:pt x="2032000" y="50800"/>
                </a:cubicBezTo>
                <a:lnTo>
                  <a:pt x="2032000" y="50800"/>
                </a:lnTo>
                <a:cubicBezTo>
                  <a:pt x="2032000" y="78837"/>
                  <a:pt x="2009237" y="101600"/>
                  <a:pt x="1981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410200"/>
            <a:ext cx="994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隐藏分区与数据跳过的智能索引技术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3400" y="6477000"/>
            <a:ext cx="4699000" cy="1473200"/>
          </a:xfrm>
          <a:custGeom>
            <a:avLst/>
            <a:gdLst/>
            <a:ahLst/>
            <a:cxnLst/>
            <a:rect l="l" t="t" r="r" b="b"/>
            <a:pathLst>
              <a:path w="4699000" h="1473200">
                <a:moveTo>
                  <a:pt x="50800" y="0"/>
                </a:moveTo>
                <a:lnTo>
                  <a:pt x="4597393" y="0"/>
                </a:lnTo>
                <a:cubicBezTo>
                  <a:pt x="4653509" y="0"/>
                  <a:pt x="4699000" y="45491"/>
                  <a:pt x="4699000" y="101607"/>
                </a:cubicBezTo>
                <a:lnTo>
                  <a:pt x="4699000" y="1371593"/>
                </a:lnTo>
                <a:cubicBezTo>
                  <a:pt x="4699000" y="1427709"/>
                  <a:pt x="4653509" y="1473200"/>
                  <a:pt x="45973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33400" y="6477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63600" y="67818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Hidden Partitioning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" y="7340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隐藏分区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62600" y="6477000"/>
            <a:ext cx="4699000" cy="1473200"/>
          </a:xfrm>
          <a:custGeom>
            <a:avLst/>
            <a:gdLst/>
            <a:ahLst/>
            <a:cxnLst/>
            <a:rect l="l" t="t" r="r" b="b"/>
            <a:pathLst>
              <a:path w="4699000" h="1473200">
                <a:moveTo>
                  <a:pt x="50800" y="0"/>
                </a:moveTo>
                <a:lnTo>
                  <a:pt x="4597393" y="0"/>
                </a:lnTo>
                <a:cubicBezTo>
                  <a:pt x="4653509" y="0"/>
                  <a:pt x="4699000" y="45491"/>
                  <a:pt x="4699000" y="101607"/>
                </a:cubicBezTo>
                <a:lnTo>
                  <a:pt x="4699000" y="1371593"/>
                </a:lnTo>
                <a:cubicBezTo>
                  <a:pt x="4699000" y="1427709"/>
                  <a:pt x="4653509" y="1473200"/>
                  <a:pt x="45973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562600" y="6477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892800" y="67818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Skipping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92800" y="7340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数据跳过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140" y="441140"/>
            <a:ext cx="15461948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kern="0" spc="139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HIDDEN PARTITIONING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1140" y="794052"/>
            <a:ext cx="15572233" cy="441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2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隐藏分区 (Hidden Partitioning)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1140" y="1367533"/>
            <a:ext cx="1058735" cy="44114"/>
          </a:xfrm>
          <a:custGeom>
            <a:avLst/>
            <a:gdLst/>
            <a:ahLst/>
            <a:cxnLst/>
            <a:rect l="l" t="t" r="r" b="b"/>
            <a:pathLst>
              <a:path w="1058735" h="44114">
                <a:moveTo>
                  <a:pt x="22057" y="0"/>
                </a:moveTo>
                <a:lnTo>
                  <a:pt x="1036678" y="0"/>
                </a:lnTo>
                <a:cubicBezTo>
                  <a:pt x="1048860" y="0"/>
                  <a:pt x="1058735" y="9875"/>
                  <a:pt x="1058735" y="22057"/>
                </a:cubicBezTo>
                <a:lnTo>
                  <a:pt x="1058735" y="22057"/>
                </a:lnTo>
                <a:cubicBezTo>
                  <a:pt x="1058735" y="34239"/>
                  <a:pt x="1048860" y="44114"/>
                  <a:pt x="1036678" y="44114"/>
                </a:cubicBezTo>
                <a:lnTo>
                  <a:pt x="22057" y="44114"/>
                </a:lnTo>
                <a:cubicBezTo>
                  <a:pt x="9875" y="44114"/>
                  <a:pt x="0" y="34239"/>
                  <a:pt x="0" y="22057"/>
                </a:cubicBezTo>
                <a:lnTo>
                  <a:pt x="0" y="22057"/>
                </a:lnTo>
                <a:cubicBezTo>
                  <a:pt x="0" y="9875"/>
                  <a:pt x="9875" y="0"/>
                  <a:pt x="2205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1140" y="1588103"/>
            <a:ext cx="7598632" cy="6252427"/>
          </a:xfrm>
          <a:custGeom>
            <a:avLst/>
            <a:gdLst/>
            <a:ahLst/>
            <a:cxnLst/>
            <a:rect l="l" t="t" r="r" b="b"/>
            <a:pathLst>
              <a:path w="7598632" h="7267777">
                <a:moveTo>
                  <a:pt x="88231" y="0"/>
                </a:moveTo>
                <a:lnTo>
                  <a:pt x="7510401" y="0"/>
                </a:lnTo>
                <a:cubicBezTo>
                  <a:pt x="7559130" y="0"/>
                  <a:pt x="7598632" y="39502"/>
                  <a:pt x="7598632" y="88231"/>
                </a:cubicBezTo>
                <a:lnTo>
                  <a:pt x="7598632" y="7179547"/>
                </a:lnTo>
                <a:cubicBezTo>
                  <a:pt x="7598632" y="7228275"/>
                  <a:pt x="7559130" y="7267777"/>
                  <a:pt x="7510401" y="7267777"/>
                </a:cubicBezTo>
                <a:lnTo>
                  <a:pt x="88231" y="7267777"/>
                </a:lnTo>
                <a:cubicBezTo>
                  <a:pt x="39502" y="7267777"/>
                  <a:pt x="0" y="7228275"/>
                  <a:pt x="0" y="7179547"/>
                </a:cubicBezTo>
                <a:lnTo>
                  <a:pt x="0" y="88231"/>
                </a:lnTo>
                <a:cubicBezTo>
                  <a:pt x="0" y="39502"/>
                  <a:pt x="39502" y="0"/>
                  <a:pt x="8823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17596" y="1764559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88230" y="0"/>
                </a:moveTo>
                <a:lnTo>
                  <a:pt x="441138" y="0"/>
                </a:lnTo>
                <a:cubicBezTo>
                  <a:pt x="489866" y="0"/>
                  <a:pt x="529368" y="39502"/>
                  <a:pt x="529368" y="88230"/>
                </a:cubicBezTo>
                <a:lnTo>
                  <a:pt x="529368" y="441138"/>
                </a:lnTo>
                <a:cubicBezTo>
                  <a:pt x="529368" y="489866"/>
                  <a:pt x="489866" y="529368"/>
                  <a:pt x="441138" y="529368"/>
                </a:cubicBezTo>
                <a:lnTo>
                  <a:pt x="88230" y="529368"/>
                </a:lnTo>
                <a:cubicBezTo>
                  <a:pt x="39502" y="529368"/>
                  <a:pt x="0" y="489866"/>
                  <a:pt x="0" y="441138"/>
                </a:cubicBezTo>
                <a:lnTo>
                  <a:pt x="0" y="88230"/>
                </a:lnTo>
                <a:cubicBezTo>
                  <a:pt x="0" y="39534"/>
                  <a:pt x="39534" y="0"/>
                  <a:pt x="8823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71995" y="1918958"/>
            <a:ext cx="220570" cy="220570"/>
          </a:xfrm>
          <a:custGeom>
            <a:avLst/>
            <a:gdLst/>
            <a:ahLst/>
            <a:cxnLst/>
            <a:rect l="l" t="t" r="r" b="b"/>
            <a:pathLst>
              <a:path w="220570" h="220570">
                <a:moveTo>
                  <a:pt x="110285" y="220570"/>
                </a:moveTo>
                <a:cubicBezTo>
                  <a:pt x="171153" y="220570"/>
                  <a:pt x="220570" y="171153"/>
                  <a:pt x="220570" y="110285"/>
                </a:cubicBezTo>
                <a:cubicBezTo>
                  <a:pt x="220570" y="49417"/>
                  <a:pt x="171153" y="0"/>
                  <a:pt x="110285" y="0"/>
                </a:cubicBezTo>
                <a:cubicBezTo>
                  <a:pt x="49417" y="0"/>
                  <a:pt x="0" y="49417"/>
                  <a:pt x="0" y="110285"/>
                </a:cubicBezTo>
                <a:cubicBezTo>
                  <a:pt x="0" y="171153"/>
                  <a:pt x="49417" y="220570"/>
                  <a:pt x="110285" y="220570"/>
                </a:cubicBezTo>
                <a:close/>
                <a:moveTo>
                  <a:pt x="71944" y="71944"/>
                </a:moveTo>
                <a:cubicBezTo>
                  <a:pt x="75993" y="67894"/>
                  <a:pt x="82541" y="67894"/>
                  <a:pt x="86548" y="71944"/>
                </a:cubicBezTo>
                <a:lnTo>
                  <a:pt x="110242" y="95638"/>
                </a:lnTo>
                <a:lnTo>
                  <a:pt x="133936" y="71944"/>
                </a:lnTo>
                <a:cubicBezTo>
                  <a:pt x="137985" y="67894"/>
                  <a:pt x="144534" y="67894"/>
                  <a:pt x="148540" y="71944"/>
                </a:cubicBezTo>
                <a:cubicBezTo>
                  <a:pt x="152546" y="75993"/>
                  <a:pt x="152590" y="82541"/>
                  <a:pt x="148540" y="86548"/>
                </a:cubicBezTo>
                <a:lnTo>
                  <a:pt x="124846" y="110242"/>
                </a:lnTo>
                <a:lnTo>
                  <a:pt x="148540" y="133936"/>
                </a:lnTo>
                <a:cubicBezTo>
                  <a:pt x="152590" y="137985"/>
                  <a:pt x="152590" y="144534"/>
                  <a:pt x="148540" y="148540"/>
                </a:cubicBezTo>
                <a:cubicBezTo>
                  <a:pt x="144491" y="152546"/>
                  <a:pt x="137942" y="152590"/>
                  <a:pt x="133936" y="148540"/>
                </a:cubicBezTo>
                <a:lnTo>
                  <a:pt x="110242" y="124846"/>
                </a:lnTo>
                <a:lnTo>
                  <a:pt x="86548" y="148540"/>
                </a:lnTo>
                <a:cubicBezTo>
                  <a:pt x="82498" y="152590"/>
                  <a:pt x="75950" y="152590"/>
                  <a:pt x="71944" y="148540"/>
                </a:cubicBezTo>
                <a:cubicBezTo>
                  <a:pt x="67937" y="144491"/>
                  <a:pt x="67894" y="137942"/>
                  <a:pt x="71944" y="133936"/>
                </a:cubicBezTo>
                <a:lnTo>
                  <a:pt x="95638" y="110242"/>
                </a:lnTo>
                <a:lnTo>
                  <a:pt x="71944" y="86548"/>
                </a:lnTo>
                <a:cubicBezTo>
                  <a:pt x="67894" y="82498"/>
                  <a:pt x="67894" y="75950"/>
                  <a:pt x="71944" y="71944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79305" y="1852787"/>
            <a:ext cx="2139528" cy="35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 Hive 的痛点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596" y="2470383"/>
            <a:ext cx="7344977" cy="319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用户必须手动创建分区列，查询时必须显式使用分区列，否则无法利用分区剪枝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596" y="2969422"/>
            <a:ext cx="7245720" cy="1599132"/>
          </a:xfrm>
          <a:custGeom>
            <a:avLst/>
            <a:gdLst/>
            <a:ahLst/>
            <a:cxnLst/>
            <a:rect l="l" t="t" r="r" b="b"/>
            <a:pathLst>
              <a:path w="7245720" h="1599132">
                <a:moveTo>
                  <a:pt x="88224" y="0"/>
                </a:moveTo>
                <a:lnTo>
                  <a:pt x="7157496" y="0"/>
                </a:lnTo>
                <a:cubicBezTo>
                  <a:pt x="7206221" y="0"/>
                  <a:pt x="7245720" y="39499"/>
                  <a:pt x="7245720" y="88224"/>
                </a:cubicBezTo>
                <a:lnTo>
                  <a:pt x="7245720" y="1510908"/>
                </a:lnTo>
                <a:cubicBezTo>
                  <a:pt x="7245720" y="1559632"/>
                  <a:pt x="7206221" y="1599132"/>
                  <a:pt x="7157496" y="1599132"/>
                </a:cubicBezTo>
                <a:lnTo>
                  <a:pt x="88224" y="1599132"/>
                </a:lnTo>
                <a:cubicBezTo>
                  <a:pt x="39499" y="1599132"/>
                  <a:pt x="0" y="1559632"/>
                  <a:pt x="0" y="1510908"/>
                </a:cubicBezTo>
                <a:lnTo>
                  <a:pt x="0" y="88224"/>
                </a:lnTo>
                <a:cubicBezTo>
                  <a:pt x="0" y="39532"/>
                  <a:pt x="39532" y="0"/>
                  <a:pt x="8822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94052" y="3145878"/>
            <a:ext cx="6970008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 分区定义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4052" y="3498790"/>
            <a:ext cx="6892809" cy="529368"/>
          </a:xfrm>
          <a:custGeom>
            <a:avLst/>
            <a:gdLst/>
            <a:ahLst/>
            <a:cxnLst/>
            <a:rect l="l" t="t" r="r" b="b"/>
            <a:pathLst>
              <a:path w="6892809" h="529368">
                <a:moveTo>
                  <a:pt x="44112" y="0"/>
                </a:moveTo>
                <a:lnTo>
                  <a:pt x="6848696" y="0"/>
                </a:lnTo>
                <a:cubicBezTo>
                  <a:pt x="6873059" y="0"/>
                  <a:pt x="6892809" y="19750"/>
                  <a:pt x="6892809" y="44112"/>
                </a:cubicBezTo>
                <a:lnTo>
                  <a:pt x="6892809" y="485255"/>
                </a:lnTo>
                <a:cubicBezTo>
                  <a:pt x="6892809" y="509618"/>
                  <a:pt x="6873059" y="529368"/>
                  <a:pt x="6848696" y="529368"/>
                </a:cubicBezTo>
                <a:lnTo>
                  <a:pt x="44112" y="529368"/>
                </a:lnTo>
                <a:cubicBezTo>
                  <a:pt x="19766" y="529368"/>
                  <a:pt x="0" y="509602"/>
                  <a:pt x="0" y="485255"/>
                </a:cubicBezTo>
                <a:lnTo>
                  <a:pt x="0" y="44112"/>
                </a:lnTo>
                <a:cubicBezTo>
                  <a:pt x="0" y="19766"/>
                  <a:pt x="19766" y="0"/>
                  <a:pt x="4411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94052" y="3498790"/>
            <a:ext cx="6981037" cy="529368"/>
          </a:xfrm>
          <a:prstGeom prst="rect">
            <a:avLst/>
          </a:prstGeom>
          <a:noFill/>
          <a:ln/>
        </p:spPr>
        <p:txBody>
          <a:bodyPr wrap="square" lIns="132342" tIns="132342" rIns="132342" bIns="132342" rtlCol="0" anchor="ctr"/>
          <a:lstStyle/>
          <a:p>
            <a:pPr>
              <a:lnSpc>
                <a:spcPct val="130000"/>
              </a:lnSpc>
            </a:pP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 BY date_str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4052" y="4160499"/>
            <a:ext cx="6970008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需要手动创建 </a:t>
            </a:r>
            <a:r>
              <a:rPr lang="en-US" sz="1216" dirty="0">
                <a:solidFill>
                  <a:srgbClr val="F6AD5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date_str </a:t>
            </a:r>
            <a:r>
              <a:rPr lang="en-US" sz="121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9653" y="4739495"/>
            <a:ext cx="7223664" cy="1003593"/>
          </a:xfrm>
          <a:custGeom>
            <a:avLst/>
            <a:gdLst/>
            <a:ahLst/>
            <a:cxnLst/>
            <a:rect l="l" t="t" r="r" b="b"/>
            <a:pathLst>
              <a:path w="7223664" h="1003593">
                <a:moveTo>
                  <a:pt x="44114" y="0"/>
                </a:moveTo>
                <a:lnTo>
                  <a:pt x="7135438" y="0"/>
                </a:lnTo>
                <a:cubicBezTo>
                  <a:pt x="7184163" y="0"/>
                  <a:pt x="7223664" y="39500"/>
                  <a:pt x="7223664" y="88226"/>
                </a:cubicBezTo>
                <a:lnTo>
                  <a:pt x="7223664" y="915367"/>
                </a:lnTo>
                <a:cubicBezTo>
                  <a:pt x="7223664" y="964093"/>
                  <a:pt x="7184163" y="1003593"/>
                  <a:pt x="7135438" y="1003593"/>
                </a:cubicBezTo>
                <a:lnTo>
                  <a:pt x="44114" y="1003593"/>
                </a:lnTo>
                <a:cubicBezTo>
                  <a:pt x="19750" y="1003593"/>
                  <a:pt x="0" y="983842"/>
                  <a:pt x="0" y="959479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39653" y="4739495"/>
            <a:ext cx="44114" cy="1003593"/>
          </a:xfrm>
          <a:custGeom>
            <a:avLst/>
            <a:gdLst/>
            <a:ahLst/>
            <a:cxnLst/>
            <a:rect l="l" t="t" r="r" b="b"/>
            <a:pathLst>
              <a:path w="44114" h="1003593">
                <a:moveTo>
                  <a:pt x="44114" y="0"/>
                </a:moveTo>
                <a:lnTo>
                  <a:pt x="44114" y="0"/>
                </a:lnTo>
                <a:lnTo>
                  <a:pt x="44114" y="1003593"/>
                </a:lnTo>
                <a:lnTo>
                  <a:pt x="44114" y="1003593"/>
                </a:lnTo>
                <a:cubicBezTo>
                  <a:pt x="19750" y="1003593"/>
                  <a:pt x="0" y="983842"/>
                  <a:pt x="0" y="959479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8166" y="4915951"/>
            <a:ext cx="6936923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166" y="5268863"/>
            <a:ext cx="6936923" cy="29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如果用户写 </a:t>
            </a:r>
            <a:r>
              <a:rPr lang="en-US" sz="1389" dirty="0">
                <a:solidFill>
                  <a:srgbClr val="F6AD55"/>
                </a:solidFill>
                <a:highlight>
                  <a:srgbClr val="1A202C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WHERE timestamp = ... </a:t>
            </a: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389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无法利用分区剪枝</a:t>
            </a: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，导致全表扫描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5964" y="1599133"/>
            <a:ext cx="7576575" cy="6252426"/>
          </a:xfrm>
          <a:custGeom>
            <a:avLst/>
            <a:gdLst/>
            <a:ahLst/>
            <a:cxnLst/>
            <a:rect l="l" t="t" r="r" b="b"/>
            <a:pathLst>
              <a:path w="7576575" h="7245720">
                <a:moveTo>
                  <a:pt x="88253" y="0"/>
                </a:moveTo>
                <a:lnTo>
                  <a:pt x="7488322" y="0"/>
                </a:lnTo>
                <a:cubicBezTo>
                  <a:pt x="7537063" y="0"/>
                  <a:pt x="7576575" y="39512"/>
                  <a:pt x="7576575" y="88253"/>
                </a:cubicBezTo>
                <a:lnTo>
                  <a:pt x="7576575" y="7157468"/>
                </a:lnTo>
                <a:cubicBezTo>
                  <a:pt x="7576575" y="7206208"/>
                  <a:pt x="7537063" y="7245720"/>
                  <a:pt x="7488322" y="7245720"/>
                </a:cubicBezTo>
                <a:lnTo>
                  <a:pt x="88253" y="7245720"/>
                </a:lnTo>
                <a:cubicBezTo>
                  <a:pt x="39512" y="7245720"/>
                  <a:pt x="0" y="7206208"/>
                  <a:pt x="0" y="7157468"/>
                </a:cubicBezTo>
                <a:lnTo>
                  <a:pt x="0" y="88253"/>
                </a:lnTo>
                <a:cubicBezTo>
                  <a:pt x="0" y="39545"/>
                  <a:pt x="39545" y="0"/>
                  <a:pt x="88253" y="0"/>
                </a:cubicBezTo>
                <a:close/>
              </a:path>
            </a:pathLst>
          </a:custGeom>
          <a:solidFill>
            <a:srgbClr val="2D3748"/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13448" y="1786616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88230" y="0"/>
                </a:moveTo>
                <a:lnTo>
                  <a:pt x="441138" y="0"/>
                </a:lnTo>
                <a:cubicBezTo>
                  <a:pt x="489866" y="0"/>
                  <a:pt x="529368" y="39502"/>
                  <a:pt x="529368" y="88230"/>
                </a:cubicBezTo>
                <a:lnTo>
                  <a:pt x="529368" y="441138"/>
                </a:lnTo>
                <a:cubicBezTo>
                  <a:pt x="529368" y="489866"/>
                  <a:pt x="489866" y="529368"/>
                  <a:pt x="441138" y="529368"/>
                </a:cubicBezTo>
                <a:lnTo>
                  <a:pt x="88230" y="529368"/>
                </a:lnTo>
                <a:cubicBezTo>
                  <a:pt x="39502" y="529368"/>
                  <a:pt x="0" y="489866"/>
                  <a:pt x="0" y="441138"/>
                </a:cubicBezTo>
                <a:lnTo>
                  <a:pt x="0" y="88230"/>
                </a:lnTo>
                <a:cubicBezTo>
                  <a:pt x="0" y="39534"/>
                  <a:pt x="39534" y="0"/>
                  <a:pt x="8823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567847" y="1941015"/>
            <a:ext cx="220570" cy="220570"/>
          </a:xfrm>
          <a:custGeom>
            <a:avLst/>
            <a:gdLst/>
            <a:ahLst/>
            <a:cxnLst/>
            <a:rect l="l" t="t" r="r" b="b"/>
            <a:pathLst>
              <a:path w="220570" h="220570">
                <a:moveTo>
                  <a:pt x="110285" y="220570"/>
                </a:moveTo>
                <a:cubicBezTo>
                  <a:pt x="171153" y="220570"/>
                  <a:pt x="220570" y="171153"/>
                  <a:pt x="220570" y="110285"/>
                </a:cubicBezTo>
                <a:cubicBezTo>
                  <a:pt x="220570" y="49417"/>
                  <a:pt x="171153" y="0"/>
                  <a:pt x="110285" y="0"/>
                </a:cubicBezTo>
                <a:cubicBezTo>
                  <a:pt x="49417" y="0"/>
                  <a:pt x="0" y="49417"/>
                  <a:pt x="0" y="110285"/>
                </a:cubicBezTo>
                <a:cubicBezTo>
                  <a:pt x="0" y="171153"/>
                  <a:pt x="49417" y="220570"/>
                  <a:pt x="110285" y="220570"/>
                </a:cubicBezTo>
                <a:close/>
                <a:moveTo>
                  <a:pt x="146645" y="91631"/>
                </a:moveTo>
                <a:lnTo>
                  <a:pt x="112180" y="146774"/>
                </a:lnTo>
                <a:cubicBezTo>
                  <a:pt x="110371" y="149660"/>
                  <a:pt x="107269" y="151469"/>
                  <a:pt x="103866" y="151642"/>
                </a:cubicBezTo>
                <a:cubicBezTo>
                  <a:pt x="100463" y="151814"/>
                  <a:pt x="97189" y="150263"/>
                  <a:pt x="95164" y="147506"/>
                </a:cubicBezTo>
                <a:lnTo>
                  <a:pt x="74485" y="119935"/>
                </a:lnTo>
                <a:cubicBezTo>
                  <a:pt x="71039" y="115368"/>
                  <a:pt x="71987" y="108906"/>
                  <a:pt x="76553" y="105460"/>
                </a:cubicBezTo>
                <a:cubicBezTo>
                  <a:pt x="81120" y="102014"/>
                  <a:pt x="87582" y="102961"/>
                  <a:pt x="91028" y="107528"/>
                </a:cubicBezTo>
                <a:lnTo>
                  <a:pt x="102660" y="123037"/>
                </a:lnTo>
                <a:lnTo>
                  <a:pt x="129111" y="80689"/>
                </a:lnTo>
                <a:cubicBezTo>
                  <a:pt x="132127" y="75864"/>
                  <a:pt x="138502" y="74356"/>
                  <a:pt x="143370" y="77415"/>
                </a:cubicBezTo>
                <a:cubicBezTo>
                  <a:pt x="148238" y="80474"/>
                  <a:pt x="149703" y="86806"/>
                  <a:pt x="146645" y="9167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075158" y="1874844"/>
            <a:ext cx="1918958" cy="35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8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的解法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35505" y="2492440"/>
            <a:ext cx="7179550" cy="1323419"/>
          </a:xfrm>
          <a:custGeom>
            <a:avLst/>
            <a:gdLst/>
            <a:ahLst/>
            <a:cxnLst/>
            <a:rect l="l" t="t" r="r" b="b"/>
            <a:pathLst>
              <a:path w="7179550" h="1323419">
                <a:moveTo>
                  <a:pt x="44114" y="0"/>
                </a:moveTo>
                <a:lnTo>
                  <a:pt x="7091317" y="0"/>
                </a:lnTo>
                <a:cubicBezTo>
                  <a:pt x="7140047" y="0"/>
                  <a:pt x="7179550" y="39503"/>
                  <a:pt x="7179550" y="88232"/>
                </a:cubicBezTo>
                <a:lnTo>
                  <a:pt x="7179550" y="1235187"/>
                </a:lnTo>
                <a:cubicBezTo>
                  <a:pt x="7179550" y="1283916"/>
                  <a:pt x="7140047" y="1323419"/>
                  <a:pt x="7091317" y="1323419"/>
                </a:cubicBezTo>
                <a:lnTo>
                  <a:pt x="44114" y="1323419"/>
                </a:lnTo>
                <a:cubicBezTo>
                  <a:pt x="19750" y="1323419"/>
                  <a:pt x="0" y="1303669"/>
                  <a:pt x="0" y="1279305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435505" y="2492440"/>
            <a:ext cx="44114" cy="1323419"/>
          </a:xfrm>
          <a:custGeom>
            <a:avLst/>
            <a:gdLst/>
            <a:ahLst/>
            <a:cxnLst/>
            <a:rect l="l" t="t" r="r" b="b"/>
            <a:pathLst>
              <a:path w="44114" h="1323419">
                <a:moveTo>
                  <a:pt x="44114" y="0"/>
                </a:moveTo>
                <a:lnTo>
                  <a:pt x="44114" y="0"/>
                </a:lnTo>
                <a:lnTo>
                  <a:pt x="44114" y="1323419"/>
                </a:lnTo>
                <a:lnTo>
                  <a:pt x="44114" y="1323419"/>
                </a:lnTo>
                <a:cubicBezTo>
                  <a:pt x="19750" y="1323419"/>
                  <a:pt x="0" y="1303669"/>
                  <a:pt x="0" y="1279305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634018" y="2668896"/>
            <a:ext cx="352912" cy="352912"/>
          </a:xfrm>
          <a:custGeom>
            <a:avLst/>
            <a:gdLst/>
            <a:ahLst/>
            <a:cxnLst/>
            <a:rect l="l" t="t" r="r" b="b"/>
            <a:pathLst>
              <a:path w="352912" h="352912">
                <a:moveTo>
                  <a:pt x="176456" y="0"/>
                </a:moveTo>
                <a:lnTo>
                  <a:pt x="176456" y="0"/>
                </a:lnTo>
                <a:cubicBezTo>
                  <a:pt x="273910" y="0"/>
                  <a:pt x="352912" y="79002"/>
                  <a:pt x="352912" y="176456"/>
                </a:cubicBezTo>
                <a:lnTo>
                  <a:pt x="352912" y="176456"/>
                </a:lnTo>
                <a:cubicBezTo>
                  <a:pt x="352912" y="273910"/>
                  <a:pt x="273910" y="352912"/>
                  <a:pt x="176456" y="352912"/>
                </a:cubicBezTo>
                <a:lnTo>
                  <a:pt x="176456" y="352912"/>
                </a:lnTo>
                <a:cubicBezTo>
                  <a:pt x="79002" y="352912"/>
                  <a:pt x="0" y="273910"/>
                  <a:pt x="0" y="176456"/>
                </a:cubicBezTo>
                <a:lnTo>
                  <a:pt x="0" y="176456"/>
                </a:lnTo>
                <a:cubicBezTo>
                  <a:pt x="0" y="79002"/>
                  <a:pt x="79002" y="0"/>
                  <a:pt x="1764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780060" y="2735066"/>
            <a:ext cx="143370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75158" y="2713009"/>
            <a:ext cx="441140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4018" y="3110035"/>
            <a:ext cx="6804581" cy="529368"/>
          </a:xfrm>
          <a:custGeom>
            <a:avLst/>
            <a:gdLst/>
            <a:ahLst/>
            <a:cxnLst/>
            <a:rect l="l" t="t" r="r" b="b"/>
            <a:pathLst>
              <a:path w="6804581" h="529368">
                <a:moveTo>
                  <a:pt x="44112" y="0"/>
                </a:moveTo>
                <a:lnTo>
                  <a:pt x="6760469" y="0"/>
                </a:lnTo>
                <a:cubicBezTo>
                  <a:pt x="6784831" y="0"/>
                  <a:pt x="6804581" y="19750"/>
                  <a:pt x="6804581" y="44112"/>
                </a:cubicBezTo>
                <a:lnTo>
                  <a:pt x="6804581" y="485255"/>
                </a:lnTo>
                <a:cubicBezTo>
                  <a:pt x="6804581" y="509618"/>
                  <a:pt x="6784831" y="529368"/>
                  <a:pt x="6760469" y="529368"/>
                </a:cubicBezTo>
                <a:lnTo>
                  <a:pt x="44112" y="529368"/>
                </a:lnTo>
                <a:cubicBezTo>
                  <a:pt x="19766" y="529368"/>
                  <a:pt x="0" y="509602"/>
                  <a:pt x="0" y="485255"/>
                </a:cubicBezTo>
                <a:lnTo>
                  <a:pt x="0" y="44112"/>
                </a:lnTo>
                <a:cubicBezTo>
                  <a:pt x="0" y="19766"/>
                  <a:pt x="19766" y="0"/>
                  <a:pt x="4411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634018" y="3110035"/>
            <a:ext cx="6892809" cy="529368"/>
          </a:xfrm>
          <a:prstGeom prst="rect">
            <a:avLst/>
          </a:prstGeom>
          <a:noFill/>
          <a:ln/>
        </p:spPr>
        <p:txBody>
          <a:bodyPr wrap="square" lIns="132342" tIns="132342" rIns="132342" bIns="132342" rtlCol="0" anchor="ctr"/>
          <a:lstStyle/>
          <a:p>
            <a:pPr>
              <a:lnSpc>
                <a:spcPct val="130000"/>
              </a:lnSpc>
            </a:pPr>
            <a:r>
              <a:rPr lang="en-US" sz="1389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PARTITION BY days(timestamp_col)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35505" y="3948201"/>
            <a:ext cx="7179550" cy="1091821"/>
          </a:xfrm>
          <a:custGeom>
            <a:avLst/>
            <a:gdLst/>
            <a:ahLst/>
            <a:cxnLst/>
            <a:rect l="l" t="t" r="r" b="b"/>
            <a:pathLst>
              <a:path w="7179550" h="1091821">
                <a:moveTo>
                  <a:pt x="44114" y="0"/>
                </a:moveTo>
                <a:lnTo>
                  <a:pt x="7091319" y="0"/>
                </a:lnTo>
                <a:cubicBezTo>
                  <a:pt x="7140048" y="0"/>
                  <a:pt x="7179550" y="39502"/>
                  <a:pt x="7179550" y="88230"/>
                </a:cubicBezTo>
                <a:lnTo>
                  <a:pt x="7179550" y="1003591"/>
                </a:lnTo>
                <a:cubicBezTo>
                  <a:pt x="7179550" y="1052319"/>
                  <a:pt x="7140048" y="1091821"/>
                  <a:pt x="7091319" y="1091821"/>
                </a:cubicBezTo>
                <a:lnTo>
                  <a:pt x="44114" y="1091821"/>
                </a:lnTo>
                <a:cubicBezTo>
                  <a:pt x="19750" y="1091821"/>
                  <a:pt x="0" y="1072070"/>
                  <a:pt x="0" y="104770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35505" y="3948201"/>
            <a:ext cx="44114" cy="1091821"/>
          </a:xfrm>
          <a:custGeom>
            <a:avLst/>
            <a:gdLst/>
            <a:ahLst/>
            <a:cxnLst/>
            <a:rect l="l" t="t" r="r" b="b"/>
            <a:pathLst>
              <a:path w="44114" h="1091821">
                <a:moveTo>
                  <a:pt x="44114" y="0"/>
                </a:moveTo>
                <a:lnTo>
                  <a:pt x="44114" y="0"/>
                </a:lnTo>
                <a:lnTo>
                  <a:pt x="44114" y="1091821"/>
                </a:lnTo>
                <a:lnTo>
                  <a:pt x="44114" y="1091821"/>
                </a:lnTo>
                <a:cubicBezTo>
                  <a:pt x="19750" y="1091821"/>
                  <a:pt x="0" y="1072070"/>
                  <a:pt x="0" y="104770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34018" y="4124657"/>
            <a:ext cx="352912" cy="352912"/>
          </a:xfrm>
          <a:custGeom>
            <a:avLst/>
            <a:gdLst/>
            <a:ahLst/>
            <a:cxnLst/>
            <a:rect l="l" t="t" r="r" b="b"/>
            <a:pathLst>
              <a:path w="352912" h="352912">
                <a:moveTo>
                  <a:pt x="176456" y="0"/>
                </a:moveTo>
                <a:lnTo>
                  <a:pt x="176456" y="0"/>
                </a:lnTo>
                <a:cubicBezTo>
                  <a:pt x="273910" y="0"/>
                  <a:pt x="352912" y="79002"/>
                  <a:pt x="352912" y="176456"/>
                </a:cubicBezTo>
                <a:lnTo>
                  <a:pt x="352912" y="176456"/>
                </a:lnTo>
                <a:cubicBezTo>
                  <a:pt x="352912" y="273910"/>
                  <a:pt x="273910" y="352912"/>
                  <a:pt x="176456" y="352912"/>
                </a:cubicBezTo>
                <a:lnTo>
                  <a:pt x="176456" y="352912"/>
                </a:lnTo>
                <a:cubicBezTo>
                  <a:pt x="79002" y="352912"/>
                  <a:pt x="0" y="273910"/>
                  <a:pt x="0" y="176456"/>
                </a:cubicBezTo>
                <a:lnTo>
                  <a:pt x="0" y="176456"/>
                </a:lnTo>
                <a:cubicBezTo>
                  <a:pt x="0" y="79002"/>
                  <a:pt x="79002" y="0"/>
                  <a:pt x="1764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767050" y="4190828"/>
            <a:ext cx="165427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75158" y="4168771"/>
            <a:ext cx="441140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34018" y="4565796"/>
            <a:ext cx="6892809" cy="29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内部维护 </a:t>
            </a:r>
            <a:r>
              <a:rPr lang="en-US" sz="1389" dirty="0">
                <a:solidFill>
                  <a:srgbClr val="4FD1C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timestamp -&gt; day </a:t>
            </a: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的转换函数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435505" y="5166849"/>
            <a:ext cx="7179550" cy="1323419"/>
          </a:xfrm>
          <a:custGeom>
            <a:avLst/>
            <a:gdLst/>
            <a:ahLst/>
            <a:cxnLst/>
            <a:rect l="l" t="t" r="r" b="b"/>
            <a:pathLst>
              <a:path w="7179550" h="1323419">
                <a:moveTo>
                  <a:pt x="44114" y="0"/>
                </a:moveTo>
                <a:lnTo>
                  <a:pt x="7091317" y="0"/>
                </a:lnTo>
                <a:cubicBezTo>
                  <a:pt x="7140047" y="0"/>
                  <a:pt x="7179550" y="39503"/>
                  <a:pt x="7179550" y="88232"/>
                </a:cubicBezTo>
                <a:lnTo>
                  <a:pt x="7179550" y="1235187"/>
                </a:lnTo>
                <a:cubicBezTo>
                  <a:pt x="7179550" y="1283916"/>
                  <a:pt x="7140047" y="1323419"/>
                  <a:pt x="7091317" y="1323419"/>
                </a:cubicBezTo>
                <a:lnTo>
                  <a:pt x="44114" y="1323419"/>
                </a:lnTo>
                <a:cubicBezTo>
                  <a:pt x="19750" y="1323419"/>
                  <a:pt x="0" y="1303669"/>
                  <a:pt x="0" y="1279305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35505" y="5166849"/>
            <a:ext cx="44114" cy="1323419"/>
          </a:xfrm>
          <a:custGeom>
            <a:avLst/>
            <a:gdLst/>
            <a:ahLst/>
            <a:cxnLst/>
            <a:rect l="l" t="t" r="r" b="b"/>
            <a:pathLst>
              <a:path w="44114" h="1323419">
                <a:moveTo>
                  <a:pt x="44114" y="0"/>
                </a:moveTo>
                <a:lnTo>
                  <a:pt x="44114" y="0"/>
                </a:lnTo>
                <a:lnTo>
                  <a:pt x="44114" y="1323419"/>
                </a:lnTo>
                <a:lnTo>
                  <a:pt x="44114" y="1323419"/>
                </a:lnTo>
                <a:cubicBezTo>
                  <a:pt x="19750" y="1323419"/>
                  <a:pt x="0" y="1303669"/>
                  <a:pt x="0" y="1279305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34018" y="5343305"/>
            <a:ext cx="352912" cy="352912"/>
          </a:xfrm>
          <a:custGeom>
            <a:avLst/>
            <a:gdLst/>
            <a:ahLst/>
            <a:cxnLst/>
            <a:rect l="l" t="t" r="r" b="b"/>
            <a:pathLst>
              <a:path w="352912" h="352912">
                <a:moveTo>
                  <a:pt x="176456" y="0"/>
                </a:moveTo>
                <a:lnTo>
                  <a:pt x="176456" y="0"/>
                </a:lnTo>
                <a:cubicBezTo>
                  <a:pt x="273910" y="0"/>
                  <a:pt x="352912" y="79002"/>
                  <a:pt x="352912" y="176456"/>
                </a:cubicBezTo>
                <a:lnTo>
                  <a:pt x="352912" y="176456"/>
                </a:lnTo>
                <a:cubicBezTo>
                  <a:pt x="352912" y="273910"/>
                  <a:pt x="273910" y="352912"/>
                  <a:pt x="176456" y="352912"/>
                </a:cubicBezTo>
                <a:lnTo>
                  <a:pt x="176456" y="352912"/>
                </a:lnTo>
                <a:cubicBezTo>
                  <a:pt x="79002" y="352912"/>
                  <a:pt x="0" y="273910"/>
                  <a:pt x="0" y="176456"/>
                </a:cubicBezTo>
                <a:lnTo>
                  <a:pt x="0" y="176456"/>
                </a:lnTo>
                <a:cubicBezTo>
                  <a:pt x="0" y="79002"/>
                  <a:pt x="79002" y="0"/>
                  <a:pt x="176456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765068" y="5409476"/>
            <a:ext cx="165427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75158" y="5387419"/>
            <a:ext cx="441140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34018" y="5784445"/>
            <a:ext cx="6804581" cy="529368"/>
          </a:xfrm>
          <a:custGeom>
            <a:avLst/>
            <a:gdLst/>
            <a:ahLst/>
            <a:cxnLst/>
            <a:rect l="l" t="t" r="r" b="b"/>
            <a:pathLst>
              <a:path w="6804581" h="529368">
                <a:moveTo>
                  <a:pt x="44112" y="0"/>
                </a:moveTo>
                <a:lnTo>
                  <a:pt x="6760469" y="0"/>
                </a:lnTo>
                <a:cubicBezTo>
                  <a:pt x="6784831" y="0"/>
                  <a:pt x="6804581" y="19750"/>
                  <a:pt x="6804581" y="44112"/>
                </a:cubicBezTo>
                <a:lnTo>
                  <a:pt x="6804581" y="485255"/>
                </a:lnTo>
                <a:cubicBezTo>
                  <a:pt x="6804581" y="509618"/>
                  <a:pt x="6784831" y="529368"/>
                  <a:pt x="6760469" y="529368"/>
                </a:cubicBezTo>
                <a:lnTo>
                  <a:pt x="44112" y="529368"/>
                </a:lnTo>
                <a:cubicBezTo>
                  <a:pt x="19766" y="529368"/>
                  <a:pt x="0" y="509602"/>
                  <a:pt x="0" y="485255"/>
                </a:cubicBezTo>
                <a:lnTo>
                  <a:pt x="0" y="44112"/>
                </a:lnTo>
                <a:cubicBezTo>
                  <a:pt x="0" y="19766"/>
                  <a:pt x="19766" y="0"/>
                  <a:pt x="4411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634018" y="5784445"/>
            <a:ext cx="6892809" cy="529368"/>
          </a:xfrm>
          <a:prstGeom prst="rect">
            <a:avLst/>
          </a:prstGeom>
          <a:noFill/>
          <a:ln/>
        </p:spPr>
        <p:txBody>
          <a:bodyPr wrap="square" lIns="132342" tIns="132342" rIns="132342" bIns="132342" rtlCol="0" anchor="ctr"/>
          <a:lstStyle/>
          <a:p>
            <a:pPr>
              <a:lnSpc>
                <a:spcPct val="130000"/>
              </a:lnSpc>
            </a:pPr>
            <a:r>
              <a:rPr lang="en-US" sz="1389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 timestamp_col &gt; '2023-12-01 10:00:00'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35505" y="6622611"/>
            <a:ext cx="7179550" cy="1091821"/>
          </a:xfrm>
          <a:custGeom>
            <a:avLst/>
            <a:gdLst/>
            <a:ahLst/>
            <a:cxnLst/>
            <a:rect l="l" t="t" r="r" b="b"/>
            <a:pathLst>
              <a:path w="7179550" h="1091821">
                <a:moveTo>
                  <a:pt x="44114" y="0"/>
                </a:moveTo>
                <a:lnTo>
                  <a:pt x="7091319" y="0"/>
                </a:lnTo>
                <a:cubicBezTo>
                  <a:pt x="7140048" y="0"/>
                  <a:pt x="7179550" y="39502"/>
                  <a:pt x="7179550" y="88230"/>
                </a:cubicBezTo>
                <a:lnTo>
                  <a:pt x="7179550" y="1003591"/>
                </a:lnTo>
                <a:cubicBezTo>
                  <a:pt x="7179550" y="1052319"/>
                  <a:pt x="7140048" y="1091821"/>
                  <a:pt x="7091319" y="1091821"/>
                </a:cubicBezTo>
                <a:lnTo>
                  <a:pt x="44114" y="1091821"/>
                </a:lnTo>
                <a:cubicBezTo>
                  <a:pt x="19750" y="1091821"/>
                  <a:pt x="0" y="1072070"/>
                  <a:pt x="0" y="104770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435505" y="6622611"/>
            <a:ext cx="44114" cy="1091821"/>
          </a:xfrm>
          <a:custGeom>
            <a:avLst/>
            <a:gdLst/>
            <a:ahLst/>
            <a:cxnLst/>
            <a:rect l="l" t="t" r="r" b="b"/>
            <a:pathLst>
              <a:path w="44114" h="1091821">
                <a:moveTo>
                  <a:pt x="44114" y="0"/>
                </a:moveTo>
                <a:lnTo>
                  <a:pt x="44114" y="0"/>
                </a:lnTo>
                <a:lnTo>
                  <a:pt x="44114" y="1091821"/>
                </a:lnTo>
                <a:lnTo>
                  <a:pt x="44114" y="1091821"/>
                </a:lnTo>
                <a:cubicBezTo>
                  <a:pt x="19750" y="1091821"/>
                  <a:pt x="0" y="1072070"/>
                  <a:pt x="0" y="1047707"/>
                </a:cubicBezTo>
                <a:lnTo>
                  <a:pt x="0" y="44114"/>
                </a:lnTo>
                <a:cubicBezTo>
                  <a:pt x="0" y="19750"/>
                  <a:pt x="19750" y="0"/>
                  <a:pt x="44114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634018" y="6799066"/>
            <a:ext cx="352912" cy="352912"/>
          </a:xfrm>
          <a:custGeom>
            <a:avLst/>
            <a:gdLst/>
            <a:ahLst/>
            <a:cxnLst/>
            <a:rect l="l" t="t" r="r" b="b"/>
            <a:pathLst>
              <a:path w="352912" h="352912">
                <a:moveTo>
                  <a:pt x="176456" y="0"/>
                </a:moveTo>
                <a:lnTo>
                  <a:pt x="176456" y="0"/>
                </a:lnTo>
                <a:cubicBezTo>
                  <a:pt x="273910" y="0"/>
                  <a:pt x="352912" y="79002"/>
                  <a:pt x="352912" y="176456"/>
                </a:cubicBezTo>
                <a:lnTo>
                  <a:pt x="352912" y="176456"/>
                </a:lnTo>
                <a:cubicBezTo>
                  <a:pt x="352912" y="273910"/>
                  <a:pt x="273910" y="352912"/>
                  <a:pt x="176456" y="352912"/>
                </a:cubicBezTo>
                <a:lnTo>
                  <a:pt x="176456" y="352912"/>
                </a:lnTo>
                <a:cubicBezTo>
                  <a:pt x="79002" y="352912"/>
                  <a:pt x="0" y="273910"/>
                  <a:pt x="0" y="176456"/>
                </a:cubicBezTo>
                <a:lnTo>
                  <a:pt x="0" y="176456"/>
                </a:lnTo>
                <a:cubicBezTo>
                  <a:pt x="0" y="79002"/>
                  <a:pt x="79002" y="0"/>
                  <a:pt x="176456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765154" y="6865237"/>
            <a:ext cx="165427" cy="220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6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75158" y="6843180"/>
            <a:ext cx="794052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9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自动推导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34018" y="7240206"/>
            <a:ext cx="6892809" cy="29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自动计算出需要扫描的分区是 </a:t>
            </a:r>
            <a:r>
              <a:rPr lang="en-US" sz="1389" dirty="0">
                <a:solidFill>
                  <a:srgbClr val="F6AD5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2023-12-01 </a:t>
            </a:r>
            <a:r>
              <a:rPr lang="en-US" sz="1389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及之后的分区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2168" y="7996838"/>
            <a:ext cx="15351664" cy="1036678"/>
          </a:xfrm>
          <a:custGeom>
            <a:avLst/>
            <a:gdLst/>
            <a:ahLst/>
            <a:cxnLst/>
            <a:rect l="l" t="t" r="r" b="b"/>
            <a:pathLst>
              <a:path w="15351664" h="1036678">
                <a:moveTo>
                  <a:pt x="88232" y="0"/>
                </a:moveTo>
                <a:lnTo>
                  <a:pt x="15263432" y="0"/>
                </a:lnTo>
                <a:cubicBezTo>
                  <a:pt x="15312161" y="0"/>
                  <a:pt x="15351664" y="39503"/>
                  <a:pt x="15351664" y="88232"/>
                </a:cubicBezTo>
                <a:lnTo>
                  <a:pt x="15351664" y="948447"/>
                </a:lnTo>
                <a:cubicBezTo>
                  <a:pt x="15351664" y="997176"/>
                  <a:pt x="15312161" y="1036678"/>
                  <a:pt x="15263432" y="1036678"/>
                </a:cubicBezTo>
                <a:lnTo>
                  <a:pt x="88232" y="1036678"/>
                </a:lnTo>
                <a:cubicBezTo>
                  <a:pt x="39503" y="1036678"/>
                  <a:pt x="0" y="997176"/>
                  <a:pt x="0" y="948447"/>
                </a:cubicBezTo>
                <a:lnTo>
                  <a:pt x="0" y="88232"/>
                </a:lnTo>
                <a:cubicBezTo>
                  <a:pt x="0" y="39535"/>
                  <a:pt x="39535" y="0"/>
                  <a:pt x="88232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39653" y="8250493"/>
            <a:ext cx="529368" cy="529368"/>
          </a:xfrm>
          <a:custGeom>
            <a:avLst/>
            <a:gdLst/>
            <a:ahLst/>
            <a:cxnLst/>
            <a:rect l="l" t="t" r="r" b="b"/>
            <a:pathLst>
              <a:path w="529368" h="529368">
                <a:moveTo>
                  <a:pt x="264684" y="0"/>
                </a:moveTo>
                <a:lnTo>
                  <a:pt x="264684" y="0"/>
                </a:lnTo>
                <a:cubicBezTo>
                  <a:pt x="410767" y="0"/>
                  <a:pt x="529368" y="118601"/>
                  <a:pt x="529368" y="264684"/>
                </a:cubicBezTo>
                <a:lnTo>
                  <a:pt x="529368" y="264684"/>
                </a:lnTo>
                <a:cubicBezTo>
                  <a:pt x="529368" y="410767"/>
                  <a:pt x="410767" y="529368"/>
                  <a:pt x="264684" y="529368"/>
                </a:cubicBezTo>
                <a:lnTo>
                  <a:pt x="264684" y="529368"/>
                </a:lnTo>
                <a:cubicBezTo>
                  <a:pt x="118601" y="529368"/>
                  <a:pt x="0" y="410767"/>
                  <a:pt x="0" y="264684"/>
                </a:cubicBezTo>
                <a:lnTo>
                  <a:pt x="0" y="264684"/>
                </a:lnTo>
                <a:cubicBezTo>
                  <a:pt x="0" y="118601"/>
                  <a:pt x="118601" y="0"/>
                  <a:pt x="26468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794052" y="8404892"/>
            <a:ext cx="220570" cy="220570"/>
          </a:xfrm>
          <a:custGeom>
            <a:avLst/>
            <a:gdLst/>
            <a:ahLst/>
            <a:cxnLst/>
            <a:rect l="l" t="t" r="r" b="b"/>
            <a:pathLst>
              <a:path w="220570" h="220570">
                <a:moveTo>
                  <a:pt x="171674" y="5256"/>
                </a:moveTo>
                <a:lnTo>
                  <a:pt x="133677" y="43252"/>
                </a:lnTo>
                <a:lnTo>
                  <a:pt x="177318" y="86892"/>
                </a:lnTo>
                <a:lnTo>
                  <a:pt x="215314" y="48896"/>
                </a:lnTo>
                <a:cubicBezTo>
                  <a:pt x="218674" y="45493"/>
                  <a:pt x="220570" y="40926"/>
                  <a:pt x="220570" y="36187"/>
                </a:cubicBezTo>
                <a:cubicBezTo>
                  <a:pt x="220570" y="31448"/>
                  <a:pt x="218674" y="26882"/>
                  <a:pt x="215314" y="23479"/>
                </a:cubicBezTo>
                <a:lnTo>
                  <a:pt x="197091" y="5256"/>
                </a:lnTo>
                <a:cubicBezTo>
                  <a:pt x="193688" y="1896"/>
                  <a:pt x="189121" y="0"/>
                  <a:pt x="184383" y="0"/>
                </a:cubicBezTo>
                <a:cubicBezTo>
                  <a:pt x="179644" y="0"/>
                  <a:pt x="175077" y="1896"/>
                  <a:pt x="171674" y="5256"/>
                </a:cubicBezTo>
                <a:close/>
                <a:moveTo>
                  <a:pt x="119073" y="57857"/>
                </a:moveTo>
                <a:lnTo>
                  <a:pt x="5256" y="171674"/>
                </a:lnTo>
                <a:cubicBezTo>
                  <a:pt x="1896" y="175077"/>
                  <a:pt x="0" y="179644"/>
                  <a:pt x="0" y="184383"/>
                </a:cubicBezTo>
                <a:cubicBezTo>
                  <a:pt x="0" y="189121"/>
                  <a:pt x="1896" y="193688"/>
                  <a:pt x="5256" y="197091"/>
                </a:cubicBezTo>
                <a:lnTo>
                  <a:pt x="23479" y="215314"/>
                </a:lnTo>
                <a:cubicBezTo>
                  <a:pt x="26882" y="218674"/>
                  <a:pt x="31448" y="220570"/>
                  <a:pt x="36187" y="220570"/>
                </a:cubicBezTo>
                <a:cubicBezTo>
                  <a:pt x="40926" y="220570"/>
                  <a:pt x="45493" y="218674"/>
                  <a:pt x="48896" y="215314"/>
                </a:cubicBezTo>
                <a:lnTo>
                  <a:pt x="162713" y="101497"/>
                </a:lnTo>
                <a:lnTo>
                  <a:pt x="119073" y="57857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345476" y="8184322"/>
            <a:ext cx="14381156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345476" y="8537234"/>
            <a:ext cx="14370128" cy="30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用户无需显式指定分区列，Iceberg 自动推导分区范围，</a:t>
            </a:r>
            <a:r>
              <a:rPr lang="en-US" sz="156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大幅降低使用复杂度</a:t>
            </a:r>
            <a:r>
              <a:rPr lang="en-US" sz="156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，同时保证分区剪枝的效率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0847" y="470847"/>
            <a:ext cx="15408475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b="1" kern="0" spc="148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SKIPPING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0847" y="847525"/>
            <a:ext cx="15526187" cy="470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3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Skipping：智能数据跳过技术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0847" y="1459626"/>
            <a:ext cx="1130033" cy="47085"/>
          </a:xfrm>
          <a:custGeom>
            <a:avLst/>
            <a:gdLst/>
            <a:ahLst/>
            <a:cxnLst/>
            <a:rect l="l" t="t" r="r" b="b"/>
            <a:pathLst>
              <a:path w="1130033" h="47085">
                <a:moveTo>
                  <a:pt x="23542" y="0"/>
                </a:moveTo>
                <a:lnTo>
                  <a:pt x="1106491" y="0"/>
                </a:lnTo>
                <a:cubicBezTo>
                  <a:pt x="1119493" y="0"/>
                  <a:pt x="1130033" y="10540"/>
                  <a:pt x="1130033" y="23542"/>
                </a:cubicBezTo>
                <a:lnTo>
                  <a:pt x="1130033" y="23542"/>
                </a:lnTo>
                <a:cubicBezTo>
                  <a:pt x="1130033" y="36544"/>
                  <a:pt x="1119493" y="47085"/>
                  <a:pt x="1106491" y="47085"/>
                </a:cubicBezTo>
                <a:lnTo>
                  <a:pt x="23542" y="47085"/>
                </a:lnTo>
                <a:cubicBezTo>
                  <a:pt x="10549" y="47085"/>
                  <a:pt x="0" y="36536"/>
                  <a:pt x="0" y="23542"/>
                </a:cubicBezTo>
                <a:lnTo>
                  <a:pt x="0" y="23542"/>
                </a:lnTo>
                <a:cubicBezTo>
                  <a:pt x="0" y="10549"/>
                  <a:pt x="10549" y="0"/>
                  <a:pt x="2354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4390" y="1695050"/>
            <a:ext cx="15290763" cy="718042"/>
          </a:xfrm>
          <a:custGeom>
            <a:avLst/>
            <a:gdLst/>
            <a:ahLst/>
            <a:cxnLst/>
            <a:rect l="l" t="t" r="r" b="b"/>
            <a:pathLst>
              <a:path w="15290763" h="718042">
                <a:moveTo>
                  <a:pt x="47085" y="0"/>
                </a:moveTo>
                <a:lnTo>
                  <a:pt x="15196592" y="0"/>
                </a:lnTo>
                <a:cubicBezTo>
                  <a:pt x="15248601" y="0"/>
                  <a:pt x="15290763" y="42162"/>
                  <a:pt x="15290763" y="94171"/>
                </a:cubicBezTo>
                <a:lnTo>
                  <a:pt x="15290763" y="623871"/>
                </a:lnTo>
                <a:cubicBezTo>
                  <a:pt x="15290763" y="675880"/>
                  <a:pt x="15248601" y="718042"/>
                  <a:pt x="15196592" y="718042"/>
                </a:cubicBezTo>
                <a:lnTo>
                  <a:pt x="47085" y="718042"/>
                </a:lnTo>
                <a:cubicBezTo>
                  <a:pt x="21098" y="718042"/>
                  <a:pt x="0" y="696944"/>
                  <a:pt x="0" y="670957"/>
                </a:cubicBezTo>
                <a:lnTo>
                  <a:pt x="0" y="47085"/>
                </a:lnTo>
                <a:cubicBezTo>
                  <a:pt x="0" y="21098"/>
                  <a:pt x="21098" y="0"/>
                  <a:pt x="47085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94390" y="1695050"/>
            <a:ext cx="47085" cy="718042"/>
          </a:xfrm>
          <a:custGeom>
            <a:avLst/>
            <a:gdLst/>
            <a:ahLst/>
            <a:cxnLst/>
            <a:rect l="l" t="t" r="r" b="b"/>
            <a:pathLst>
              <a:path w="47085" h="718042">
                <a:moveTo>
                  <a:pt x="47085" y="0"/>
                </a:moveTo>
                <a:lnTo>
                  <a:pt x="47085" y="0"/>
                </a:lnTo>
                <a:lnTo>
                  <a:pt x="47085" y="718042"/>
                </a:lnTo>
                <a:lnTo>
                  <a:pt x="47085" y="718042"/>
                </a:lnTo>
                <a:cubicBezTo>
                  <a:pt x="21098" y="718042"/>
                  <a:pt x="0" y="696944"/>
                  <a:pt x="0" y="670957"/>
                </a:cubicBezTo>
                <a:lnTo>
                  <a:pt x="0" y="47085"/>
                </a:lnTo>
                <a:cubicBezTo>
                  <a:pt x="0" y="21098"/>
                  <a:pt x="21098" y="0"/>
                  <a:pt x="4708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06271" y="1883389"/>
            <a:ext cx="14996484" cy="341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6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在 </a:t>
            </a:r>
            <a:r>
              <a:rPr lang="en-US" sz="166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Manifest File</a:t>
            </a:r>
            <a:r>
              <a:rPr lang="en-US" sz="166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级别存储了每个 Data File 的</a:t>
            </a:r>
            <a:r>
              <a:rPr lang="en-US" sz="1668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列统计信息 </a:t>
            </a:r>
            <a:r>
              <a:rPr lang="en-US" sz="1668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（Min/Max/Null Count）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847" y="2604375"/>
            <a:ext cx="7568869" cy="5158812"/>
          </a:xfrm>
          <a:custGeom>
            <a:avLst/>
            <a:gdLst/>
            <a:ahLst/>
            <a:cxnLst/>
            <a:rect l="l" t="t" r="r" b="b"/>
            <a:pathLst>
              <a:path w="7568869" h="5379429">
                <a:moveTo>
                  <a:pt x="94194" y="0"/>
                </a:moveTo>
                <a:lnTo>
                  <a:pt x="7474675" y="0"/>
                </a:lnTo>
                <a:cubicBezTo>
                  <a:pt x="7526697" y="0"/>
                  <a:pt x="7568869" y="42172"/>
                  <a:pt x="7568869" y="94194"/>
                </a:cubicBezTo>
                <a:lnTo>
                  <a:pt x="7568869" y="5285236"/>
                </a:lnTo>
                <a:cubicBezTo>
                  <a:pt x="7568869" y="5337257"/>
                  <a:pt x="7526697" y="5379429"/>
                  <a:pt x="7474675" y="5379429"/>
                </a:cubicBezTo>
                <a:lnTo>
                  <a:pt x="94194" y="5379429"/>
                </a:lnTo>
                <a:cubicBezTo>
                  <a:pt x="42172" y="5379429"/>
                  <a:pt x="0" y="5337257"/>
                  <a:pt x="0" y="5285236"/>
                </a:cubicBezTo>
                <a:lnTo>
                  <a:pt x="0" y="94194"/>
                </a:lnTo>
                <a:cubicBezTo>
                  <a:pt x="0" y="42207"/>
                  <a:pt x="42207" y="0"/>
                  <a:pt x="9419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59186" y="2792713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94171" y="0"/>
                </a:moveTo>
                <a:lnTo>
                  <a:pt x="470845" y="0"/>
                </a:lnTo>
                <a:cubicBezTo>
                  <a:pt x="522855" y="0"/>
                  <a:pt x="565017" y="42162"/>
                  <a:pt x="565017" y="94171"/>
                </a:cubicBezTo>
                <a:lnTo>
                  <a:pt x="565017" y="470845"/>
                </a:lnTo>
                <a:cubicBezTo>
                  <a:pt x="565017" y="522855"/>
                  <a:pt x="522855" y="565017"/>
                  <a:pt x="470845" y="565017"/>
                </a:cubicBezTo>
                <a:lnTo>
                  <a:pt x="94171" y="565017"/>
                </a:lnTo>
                <a:cubicBezTo>
                  <a:pt x="42162" y="565017"/>
                  <a:pt x="0" y="522855"/>
                  <a:pt x="0" y="470845"/>
                </a:cubicBezTo>
                <a:lnTo>
                  <a:pt x="0" y="94171"/>
                </a:lnTo>
                <a:cubicBezTo>
                  <a:pt x="0" y="42197"/>
                  <a:pt x="42197" y="0"/>
                  <a:pt x="9417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3983" y="2957509"/>
            <a:ext cx="235424" cy="235424"/>
          </a:xfrm>
          <a:custGeom>
            <a:avLst/>
            <a:gdLst/>
            <a:ahLst/>
            <a:cxnLst/>
            <a:rect l="l" t="t" r="r" b="b"/>
            <a:pathLst>
              <a:path w="235424" h="235424">
                <a:moveTo>
                  <a:pt x="117712" y="235424"/>
                </a:moveTo>
                <a:cubicBezTo>
                  <a:pt x="182679" y="235424"/>
                  <a:pt x="235424" y="182679"/>
                  <a:pt x="235424" y="117712"/>
                </a:cubicBezTo>
                <a:cubicBezTo>
                  <a:pt x="235424" y="52745"/>
                  <a:pt x="182679" y="0"/>
                  <a:pt x="117712" y="0"/>
                </a:cubicBezTo>
                <a:cubicBezTo>
                  <a:pt x="52745" y="0"/>
                  <a:pt x="0" y="52745"/>
                  <a:pt x="0" y="117712"/>
                </a:cubicBezTo>
                <a:cubicBezTo>
                  <a:pt x="0" y="182679"/>
                  <a:pt x="52745" y="235424"/>
                  <a:pt x="117712" y="235424"/>
                </a:cubicBezTo>
                <a:close/>
                <a:moveTo>
                  <a:pt x="76789" y="76789"/>
                </a:moveTo>
                <a:cubicBezTo>
                  <a:pt x="81111" y="72466"/>
                  <a:pt x="88100" y="72466"/>
                  <a:pt x="92376" y="76789"/>
                </a:cubicBezTo>
                <a:lnTo>
                  <a:pt x="117666" y="102078"/>
                </a:lnTo>
                <a:lnTo>
                  <a:pt x="142955" y="76789"/>
                </a:lnTo>
                <a:cubicBezTo>
                  <a:pt x="147278" y="72466"/>
                  <a:pt x="154267" y="72466"/>
                  <a:pt x="158543" y="76789"/>
                </a:cubicBezTo>
                <a:cubicBezTo>
                  <a:pt x="162819" y="81111"/>
                  <a:pt x="162865" y="88100"/>
                  <a:pt x="158543" y="92376"/>
                </a:cubicBezTo>
                <a:lnTo>
                  <a:pt x="133253" y="117666"/>
                </a:lnTo>
                <a:lnTo>
                  <a:pt x="158543" y="142955"/>
                </a:lnTo>
                <a:cubicBezTo>
                  <a:pt x="162865" y="147278"/>
                  <a:pt x="162865" y="154267"/>
                  <a:pt x="158543" y="158543"/>
                </a:cubicBezTo>
                <a:cubicBezTo>
                  <a:pt x="154221" y="162819"/>
                  <a:pt x="147232" y="162865"/>
                  <a:pt x="142955" y="158543"/>
                </a:cubicBezTo>
                <a:lnTo>
                  <a:pt x="117666" y="133253"/>
                </a:lnTo>
                <a:lnTo>
                  <a:pt x="92376" y="158543"/>
                </a:lnTo>
                <a:cubicBezTo>
                  <a:pt x="88054" y="162865"/>
                  <a:pt x="81065" y="162865"/>
                  <a:pt x="76789" y="158543"/>
                </a:cubicBezTo>
                <a:cubicBezTo>
                  <a:pt x="72512" y="154221"/>
                  <a:pt x="72466" y="147232"/>
                  <a:pt x="76789" y="142955"/>
                </a:cubicBezTo>
                <a:lnTo>
                  <a:pt x="102078" y="117666"/>
                </a:lnTo>
                <a:lnTo>
                  <a:pt x="76789" y="92376"/>
                </a:lnTo>
                <a:cubicBezTo>
                  <a:pt x="72466" y="88054"/>
                  <a:pt x="72466" y="81065"/>
                  <a:pt x="76789" y="76789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65457" y="2910424"/>
            <a:ext cx="1130033" cy="32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 Hive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9186" y="3546068"/>
            <a:ext cx="7192191" cy="1553796"/>
          </a:xfrm>
          <a:custGeom>
            <a:avLst/>
            <a:gdLst/>
            <a:ahLst/>
            <a:cxnLst/>
            <a:rect l="l" t="t" r="r" b="b"/>
            <a:pathLst>
              <a:path w="7192191" h="1553796">
                <a:moveTo>
                  <a:pt x="94176" y="0"/>
                </a:moveTo>
                <a:lnTo>
                  <a:pt x="7098016" y="0"/>
                </a:lnTo>
                <a:cubicBezTo>
                  <a:pt x="7150027" y="0"/>
                  <a:pt x="7192191" y="42164"/>
                  <a:pt x="7192191" y="94176"/>
                </a:cubicBezTo>
                <a:lnTo>
                  <a:pt x="7192191" y="1459620"/>
                </a:lnTo>
                <a:cubicBezTo>
                  <a:pt x="7192191" y="1511632"/>
                  <a:pt x="7150027" y="1553796"/>
                  <a:pt x="7098016" y="1553796"/>
                </a:cubicBezTo>
                <a:lnTo>
                  <a:pt x="94176" y="1553796"/>
                </a:lnTo>
                <a:cubicBezTo>
                  <a:pt x="42199" y="1553796"/>
                  <a:pt x="0" y="1511597"/>
                  <a:pt x="0" y="1459620"/>
                </a:cubicBezTo>
                <a:lnTo>
                  <a:pt x="0" y="94176"/>
                </a:lnTo>
                <a:cubicBezTo>
                  <a:pt x="0" y="42199"/>
                  <a:pt x="42199" y="0"/>
                  <a:pt x="9417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7525" y="3734407"/>
            <a:ext cx="6909683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查询场景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7525" y="4158169"/>
            <a:ext cx="6909683" cy="612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表中有 100 个文件，查询：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83" dirty="0">
                <a:solidFill>
                  <a:srgbClr val="E2E8F0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SELECT * FROM table WHERE id &gt; 1000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9186" y="5288203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15062" y="5358830"/>
            <a:ext cx="153025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7118" y="5288203"/>
            <a:ext cx="6768429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打开所有 100 个 Parquet 文件 footer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7118" y="5570711"/>
            <a:ext cx="6756657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开销巨大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9186" y="5947389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1176" y="6018016"/>
            <a:ext cx="176568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7118" y="5947389"/>
            <a:ext cx="6768429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读取每个文件的统计信息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7118" y="6229897"/>
            <a:ext cx="6756657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100次I/O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9186" y="6606575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99061" y="6677202"/>
            <a:ext cx="176568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77118" y="6606575"/>
            <a:ext cx="6768429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筛选出符合条件的文件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7118" y="6889083"/>
            <a:ext cx="6756657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耗时长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35872" y="2616146"/>
            <a:ext cx="7545327" cy="5147042"/>
          </a:xfrm>
          <a:custGeom>
            <a:avLst/>
            <a:gdLst/>
            <a:ahLst/>
            <a:cxnLst/>
            <a:rect l="l" t="t" r="r" b="b"/>
            <a:pathLst>
              <a:path w="7545327" h="5355887">
                <a:moveTo>
                  <a:pt x="94156" y="0"/>
                </a:moveTo>
                <a:lnTo>
                  <a:pt x="7451170" y="0"/>
                </a:lnTo>
                <a:cubicBezTo>
                  <a:pt x="7503171" y="0"/>
                  <a:pt x="7545327" y="42155"/>
                  <a:pt x="7545327" y="94156"/>
                </a:cubicBezTo>
                <a:lnTo>
                  <a:pt x="7545327" y="5261731"/>
                </a:lnTo>
                <a:cubicBezTo>
                  <a:pt x="7545327" y="5313732"/>
                  <a:pt x="7503171" y="5355887"/>
                  <a:pt x="7451170" y="5355887"/>
                </a:cubicBezTo>
                <a:lnTo>
                  <a:pt x="94156" y="5355887"/>
                </a:lnTo>
                <a:cubicBezTo>
                  <a:pt x="42190" y="5355887"/>
                  <a:pt x="0" y="5313697"/>
                  <a:pt x="0" y="5261731"/>
                </a:cubicBezTo>
                <a:lnTo>
                  <a:pt x="0" y="94156"/>
                </a:lnTo>
                <a:cubicBezTo>
                  <a:pt x="0" y="42190"/>
                  <a:pt x="42190" y="0"/>
                  <a:pt x="94156" y="0"/>
                </a:cubicBezTo>
                <a:close/>
              </a:path>
            </a:pathLst>
          </a:custGeom>
          <a:solidFill>
            <a:srgbClr val="2D3748"/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35982" y="2816255"/>
            <a:ext cx="565017" cy="565017"/>
          </a:xfrm>
          <a:custGeom>
            <a:avLst/>
            <a:gdLst/>
            <a:ahLst/>
            <a:cxnLst/>
            <a:rect l="l" t="t" r="r" b="b"/>
            <a:pathLst>
              <a:path w="565017" h="565017">
                <a:moveTo>
                  <a:pt x="94171" y="0"/>
                </a:moveTo>
                <a:lnTo>
                  <a:pt x="470845" y="0"/>
                </a:lnTo>
                <a:cubicBezTo>
                  <a:pt x="522855" y="0"/>
                  <a:pt x="565017" y="42162"/>
                  <a:pt x="565017" y="94171"/>
                </a:cubicBezTo>
                <a:lnTo>
                  <a:pt x="565017" y="470845"/>
                </a:lnTo>
                <a:cubicBezTo>
                  <a:pt x="565017" y="522855"/>
                  <a:pt x="522855" y="565017"/>
                  <a:pt x="470845" y="565017"/>
                </a:cubicBezTo>
                <a:lnTo>
                  <a:pt x="94171" y="565017"/>
                </a:lnTo>
                <a:cubicBezTo>
                  <a:pt x="42162" y="565017"/>
                  <a:pt x="0" y="522855"/>
                  <a:pt x="0" y="470845"/>
                </a:cubicBezTo>
                <a:lnTo>
                  <a:pt x="0" y="94171"/>
                </a:lnTo>
                <a:cubicBezTo>
                  <a:pt x="0" y="42197"/>
                  <a:pt x="42197" y="0"/>
                  <a:pt x="9417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600778" y="2981051"/>
            <a:ext cx="235424" cy="235424"/>
          </a:xfrm>
          <a:custGeom>
            <a:avLst/>
            <a:gdLst/>
            <a:ahLst/>
            <a:cxnLst/>
            <a:rect l="l" t="t" r="r" b="b"/>
            <a:pathLst>
              <a:path w="235424" h="235424">
                <a:moveTo>
                  <a:pt x="117712" y="235424"/>
                </a:moveTo>
                <a:cubicBezTo>
                  <a:pt x="182679" y="235424"/>
                  <a:pt x="235424" y="182679"/>
                  <a:pt x="235424" y="117712"/>
                </a:cubicBezTo>
                <a:cubicBezTo>
                  <a:pt x="235424" y="52745"/>
                  <a:pt x="182679" y="0"/>
                  <a:pt x="117712" y="0"/>
                </a:cubicBezTo>
                <a:cubicBezTo>
                  <a:pt x="52745" y="0"/>
                  <a:pt x="0" y="52745"/>
                  <a:pt x="0" y="117712"/>
                </a:cubicBezTo>
                <a:cubicBezTo>
                  <a:pt x="0" y="182679"/>
                  <a:pt x="52745" y="235424"/>
                  <a:pt x="117712" y="235424"/>
                </a:cubicBezTo>
                <a:close/>
                <a:moveTo>
                  <a:pt x="156520" y="97802"/>
                </a:moveTo>
                <a:lnTo>
                  <a:pt x="119735" y="156658"/>
                </a:lnTo>
                <a:cubicBezTo>
                  <a:pt x="117804" y="159739"/>
                  <a:pt x="114493" y="161670"/>
                  <a:pt x="110861" y="161854"/>
                </a:cubicBezTo>
                <a:cubicBezTo>
                  <a:pt x="107228" y="162038"/>
                  <a:pt x="103734" y="160382"/>
                  <a:pt x="101572" y="157440"/>
                </a:cubicBezTo>
                <a:lnTo>
                  <a:pt x="79501" y="128012"/>
                </a:lnTo>
                <a:cubicBezTo>
                  <a:pt x="75823" y="123138"/>
                  <a:pt x="76835" y="116240"/>
                  <a:pt x="81709" y="112562"/>
                </a:cubicBezTo>
                <a:cubicBezTo>
                  <a:pt x="86583" y="108883"/>
                  <a:pt x="93480" y="109895"/>
                  <a:pt x="97158" y="114769"/>
                </a:cubicBezTo>
                <a:lnTo>
                  <a:pt x="109573" y="131322"/>
                </a:lnTo>
                <a:lnTo>
                  <a:pt x="137806" y="86123"/>
                </a:lnTo>
                <a:cubicBezTo>
                  <a:pt x="141024" y="80973"/>
                  <a:pt x="147829" y="79364"/>
                  <a:pt x="153025" y="82628"/>
                </a:cubicBezTo>
                <a:cubicBezTo>
                  <a:pt x="158221" y="85893"/>
                  <a:pt x="159785" y="92652"/>
                  <a:pt x="156520" y="97848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142253" y="2933967"/>
            <a:ext cx="929923" cy="329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5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35982" y="3569610"/>
            <a:ext cx="7145106" cy="1247745"/>
          </a:xfrm>
          <a:custGeom>
            <a:avLst/>
            <a:gdLst/>
            <a:ahLst/>
            <a:cxnLst/>
            <a:rect l="l" t="t" r="r" b="b"/>
            <a:pathLst>
              <a:path w="7145106" h="1247745">
                <a:moveTo>
                  <a:pt x="94167" y="0"/>
                </a:moveTo>
                <a:lnTo>
                  <a:pt x="7050939" y="0"/>
                </a:lnTo>
                <a:cubicBezTo>
                  <a:pt x="7102946" y="0"/>
                  <a:pt x="7145106" y="42160"/>
                  <a:pt x="7145106" y="94167"/>
                </a:cubicBezTo>
                <a:lnTo>
                  <a:pt x="7145106" y="1153578"/>
                </a:lnTo>
                <a:cubicBezTo>
                  <a:pt x="7145106" y="1205585"/>
                  <a:pt x="7102946" y="1247745"/>
                  <a:pt x="7050939" y="1247745"/>
                </a:cubicBezTo>
                <a:lnTo>
                  <a:pt x="94167" y="1247745"/>
                </a:lnTo>
                <a:cubicBezTo>
                  <a:pt x="42160" y="1247745"/>
                  <a:pt x="0" y="1205585"/>
                  <a:pt x="0" y="1153578"/>
                </a:cubicBezTo>
                <a:lnTo>
                  <a:pt x="0" y="94167"/>
                </a:lnTo>
                <a:cubicBezTo>
                  <a:pt x="0" y="42160"/>
                  <a:pt x="42160" y="0"/>
                  <a:pt x="941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624321" y="3757949"/>
            <a:ext cx="6862598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查询场景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24321" y="4181712"/>
            <a:ext cx="6862598" cy="306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相同的查询，不同的实现方式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35982" y="5005694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591858" y="5076322"/>
            <a:ext cx="153025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53914" y="5005694"/>
            <a:ext cx="6721344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 Manifest File（仅几MB）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53914" y="5288203"/>
            <a:ext cx="6709573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极小I/O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35982" y="5664881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577972" y="5735508"/>
            <a:ext cx="176568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53914" y="5664881"/>
            <a:ext cx="6721344" cy="29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发现 </a:t>
            </a:r>
            <a:r>
              <a:rPr lang="en-US" sz="1483" dirty="0">
                <a:solidFill>
                  <a:srgbClr val="F6AD5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file_1 </a:t>
            </a: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</a:t>
            </a:r>
            <a:r>
              <a:rPr lang="en-US" sz="1483" dirty="0">
                <a:solidFill>
                  <a:srgbClr val="F6AD5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max_id = 500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53914" y="5953274"/>
            <a:ext cx="6709573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跳过该文件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35982" y="6329952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575857" y="6400579"/>
            <a:ext cx="176568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53914" y="6329952"/>
            <a:ext cx="6721344" cy="29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发现 </a:t>
            </a:r>
            <a:r>
              <a:rPr lang="en-US" sz="1483" dirty="0">
                <a:solidFill>
                  <a:srgbClr val="4FD1C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file_2 </a:t>
            </a: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 </a:t>
            </a:r>
            <a:r>
              <a:rPr lang="en-US" sz="1483" dirty="0">
                <a:solidFill>
                  <a:srgbClr val="4FD1C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max_id = 1200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953914" y="6618346"/>
            <a:ext cx="6709573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保留该文件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35982" y="6995024"/>
            <a:ext cx="376678" cy="376678"/>
          </a:xfrm>
          <a:custGeom>
            <a:avLst/>
            <a:gdLst/>
            <a:ahLst/>
            <a:cxnLst/>
            <a:rect l="l" t="t" r="r" b="b"/>
            <a:pathLst>
              <a:path w="376678" h="376678">
                <a:moveTo>
                  <a:pt x="188339" y="0"/>
                </a:moveTo>
                <a:lnTo>
                  <a:pt x="188339" y="0"/>
                </a:lnTo>
                <a:cubicBezTo>
                  <a:pt x="292286" y="0"/>
                  <a:pt x="376678" y="84392"/>
                  <a:pt x="376678" y="188339"/>
                </a:cubicBezTo>
                <a:lnTo>
                  <a:pt x="376678" y="188339"/>
                </a:lnTo>
                <a:cubicBezTo>
                  <a:pt x="376678" y="292286"/>
                  <a:pt x="292286" y="376678"/>
                  <a:pt x="188339" y="376678"/>
                </a:cubicBezTo>
                <a:lnTo>
                  <a:pt x="188339" y="376678"/>
                </a:lnTo>
                <a:cubicBezTo>
                  <a:pt x="84392" y="376678"/>
                  <a:pt x="0" y="292286"/>
                  <a:pt x="0" y="188339"/>
                </a:cubicBezTo>
                <a:lnTo>
                  <a:pt x="0" y="188339"/>
                </a:lnTo>
                <a:cubicBezTo>
                  <a:pt x="0" y="84392"/>
                  <a:pt x="84392" y="0"/>
                  <a:pt x="188339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75949" y="7065651"/>
            <a:ext cx="176568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53914" y="6995024"/>
            <a:ext cx="6721344" cy="294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最终只打开 </a:t>
            </a:r>
            <a:r>
              <a:rPr lang="en-US" sz="1483" dirty="0">
                <a:solidFill>
                  <a:srgbClr val="F6AD55"/>
                </a:solidFill>
                <a:highlight>
                  <a:srgbClr val="2D3748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file_2 </a:t>
            </a: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进行扫描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953914" y="7283418"/>
            <a:ext cx="6709573" cy="23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✓ 大幅减少I/O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2618" y="7877458"/>
            <a:ext cx="7545327" cy="1200660"/>
          </a:xfrm>
          <a:custGeom>
            <a:avLst/>
            <a:gdLst/>
            <a:ahLst/>
            <a:cxnLst/>
            <a:rect l="l" t="t" r="r" b="b"/>
            <a:pathLst>
              <a:path w="7545327" h="1200660">
                <a:moveTo>
                  <a:pt x="94168" y="0"/>
                </a:moveTo>
                <a:lnTo>
                  <a:pt x="7451159" y="0"/>
                </a:lnTo>
                <a:cubicBezTo>
                  <a:pt x="7503166" y="0"/>
                  <a:pt x="7545327" y="42160"/>
                  <a:pt x="7545327" y="94168"/>
                </a:cubicBezTo>
                <a:lnTo>
                  <a:pt x="7545327" y="1106493"/>
                </a:lnTo>
                <a:cubicBezTo>
                  <a:pt x="7545327" y="1158500"/>
                  <a:pt x="7503166" y="1200660"/>
                  <a:pt x="7451159" y="1200660"/>
                </a:cubicBezTo>
                <a:lnTo>
                  <a:pt x="94168" y="1200660"/>
                </a:lnTo>
                <a:cubicBezTo>
                  <a:pt x="42160" y="1200660"/>
                  <a:pt x="0" y="1158500"/>
                  <a:pt x="0" y="1106493"/>
                </a:cubicBezTo>
                <a:lnTo>
                  <a:pt x="0" y="94168"/>
                </a:lnTo>
                <a:cubicBezTo>
                  <a:pt x="0" y="42160"/>
                  <a:pt x="42160" y="0"/>
                  <a:pt x="94168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594445" y="8077568"/>
            <a:ext cx="7321674" cy="42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81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Hive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5644" y="8595500"/>
            <a:ext cx="7239276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100次文件读取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35872" y="7877458"/>
            <a:ext cx="7545327" cy="1200660"/>
          </a:xfrm>
          <a:custGeom>
            <a:avLst/>
            <a:gdLst/>
            <a:ahLst/>
            <a:cxnLst/>
            <a:rect l="l" t="t" r="r" b="b"/>
            <a:pathLst>
              <a:path w="7545327" h="1200660">
                <a:moveTo>
                  <a:pt x="94168" y="0"/>
                </a:moveTo>
                <a:lnTo>
                  <a:pt x="7451159" y="0"/>
                </a:lnTo>
                <a:cubicBezTo>
                  <a:pt x="7503166" y="0"/>
                  <a:pt x="7545327" y="42160"/>
                  <a:pt x="7545327" y="94168"/>
                </a:cubicBezTo>
                <a:lnTo>
                  <a:pt x="7545327" y="1106493"/>
                </a:lnTo>
                <a:cubicBezTo>
                  <a:pt x="7545327" y="1158500"/>
                  <a:pt x="7503166" y="1200660"/>
                  <a:pt x="7451159" y="1200660"/>
                </a:cubicBezTo>
                <a:lnTo>
                  <a:pt x="94168" y="1200660"/>
                </a:lnTo>
                <a:cubicBezTo>
                  <a:pt x="42160" y="1200660"/>
                  <a:pt x="0" y="1158500"/>
                  <a:pt x="0" y="1106493"/>
                </a:cubicBezTo>
                <a:lnTo>
                  <a:pt x="0" y="94168"/>
                </a:lnTo>
                <a:cubicBezTo>
                  <a:pt x="0" y="42160"/>
                  <a:pt x="42160" y="0"/>
                  <a:pt x="94168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347698" y="8077568"/>
            <a:ext cx="7321674" cy="423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81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Iceberg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88897" y="8595500"/>
            <a:ext cx="7239276" cy="282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1次元数据读取 + 1次数据读取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123.net/4fd077d6f6ed876af08cc90e0d67b486ea3c4926.webp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/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1206500"/>
            <a:ext cx="2298700" cy="584200"/>
          </a:xfrm>
          <a:custGeom>
            <a:avLst/>
            <a:gdLst/>
            <a:ahLst/>
            <a:cxnLst/>
            <a:rect l="l" t="t" r="r" b="b"/>
            <a:pathLst>
              <a:path w="2298700" h="584200">
                <a:moveTo>
                  <a:pt x="101598" y="0"/>
                </a:moveTo>
                <a:lnTo>
                  <a:pt x="2197102" y="0"/>
                </a:lnTo>
                <a:cubicBezTo>
                  <a:pt x="2253213" y="0"/>
                  <a:pt x="2298700" y="45487"/>
                  <a:pt x="2298700" y="101598"/>
                </a:cubicBezTo>
                <a:lnTo>
                  <a:pt x="2298700" y="482602"/>
                </a:lnTo>
                <a:cubicBezTo>
                  <a:pt x="2298700" y="538713"/>
                  <a:pt x="2253213" y="584200"/>
                  <a:pt x="2197102" y="584200"/>
                </a:cubicBezTo>
                <a:lnTo>
                  <a:pt x="101598" y="584200"/>
                </a:lnTo>
                <a:cubicBezTo>
                  <a:pt x="45487" y="584200"/>
                  <a:pt x="0" y="538713"/>
                  <a:pt x="0" y="4826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A0AEC0">
              <a:alpha val="10196"/>
            </a:srgbClr>
          </a:solidFill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314450"/>
            <a:ext cx="189061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200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20980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生命周期管理：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防止存储爆炸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49022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50800" y="0"/>
                </a:moveTo>
                <a:lnTo>
                  <a:pt x="1981200" y="0"/>
                </a:lnTo>
                <a:cubicBezTo>
                  <a:pt x="2009237" y="0"/>
                  <a:pt x="2032000" y="22763"/>
                  <a:pt x="2032000" y="50800"/>
                </a:cubicBezTo>
                <a:lnTo>
                  <a:pt x="2032000" y="50800"/>
                </a:lnTo>
                <a:cubicBezTo>
                  <a:pt x="2032000" y="78837"/>
                  <a:pt x="2009237" y="101600"/>
                  <a:pt x="19812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8000" y="5410200"/>
            <a:ext cx="9944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快照过期与孤儿文件清理机制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33400" y="6477000"/>
            <a:ext cx="4699000" cy="1473200"/>
          </a:xfrm>
          <a:custGeom>
            <a:avLst/>
            <a:gdLst/>
            <a:ahLst/>
            <a:cxnLst/>
            <a:rect l="l" t="t" r="r" b="b"/>
            <a:pathLst>
              <a:path w="4699000" h="1473200">
                <a:moveTo>
                  <a:pt x="50800" y="0"/>
                </a:moveTo>
                <a:lnTo>
                  <a:pt x="4597393" y="0"/>
                </a:lnTo>
                <a:cubicBezTo>
                  <a:pt x="4653509" y="0"/>
                  <a:pt x="4699000" y="45491"/>
                  <a:pt x="4699000" y="101607"/>
                </a:cubicBezTo>
                <a:lnTo>
                  <a:pt x="4699000" y="1371593"/>
                </a:lnTo>
                <a:cubicBezTo>
                  <a:pt x="4699000" y="1427709"/>
                  <a:pt x="4653509" y="1473200"/>
                  <a:pt x="45973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533400" y="6477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63600" y="67818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Expire Snapshots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3600" y="7340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快照过期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62600" y="6477000"/>
            <a:ext cx="4699000" cy="1473200"/>
          </a:xfrm>
          <a:custGeom>
            <a:avLst/>
            <a:gdLst/>
            <a:ahLst/>
            <a:cxnLst/>
            <a:rect l="l" t="t" r="r" b="b"/>
            <a:pathLst>
              <a:path w="4699000" h="1473200">
                <a:moveTo>
                  <a:pt x="50800" y="0"/>
                </a:moveTo>
                <a:lnTo>
                  <a:pt x="4597393" y="0"/>
                </a:lnTo>
                <a:cubicBezTo>
                  <a:pt x="4653509" y="0"/>
                  <a:pt x="4699000" y="45491"/>
                  <a:pt x="4699000" y="101607"/>
                </a:cubicBezTo>
                <a:lnTo>
                  <a:pt x="4699000" y="1371593"/>
                </a:lnTo>
                <a:cubicBezTo>
                  <a:pt x="4699000" y="1427709"/>
                  <a:pt x="4653509" y="1473200"/>
                  <a:pt x="45973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562600" y="6477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892800" y="6781800"/>
            <a:ext cx="42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Orphan Files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892800" y="7340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孤儿文件清理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244" y="440244"/>
            <a:ext cx="1546356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b="1" kern="0" spc="139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LIFECYCLE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0244" y="792439"/>
            <a:ext cx="15573622" cy="440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2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快照过期 (Expire Snapshots)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0244" y="1364756"/>
            <a:ext cx="1056585" cy="44024"/>
          </a:xfrm>
          <a:custGeom>
            <a:avLst/>
            <a:gdLst/>
            <a:ahLst/>
            <a:cxnLst/>
            <a:rect l="l" t="t" r="r" b="b"/>
            <a:pathLst>
              <a:path w="1056585" h="44024">
                <a:moveTo>
                  <a:pt x="22012" y="0"/>
                </a:moveTo>
                <a:lnTo>
                  <a:pt x="1034573" y="0"/>
                </a:lnTo>
                <a:cubicBezTo>
                  <a:pt x="1046730" y="0"/>
                  <a:pt x="1056585" y="9855"/>
                  <a:pt x="1056585" y="22012"/>
                </a:cubicBezTo>
                <a:lnTo>
                  <a:pt x="1056585" y="22012"/>
                </a:lnTo>
                <a:cubicBezTo>
                  <a:pt x="1056585" y="34169"/>
                  <a:pt x="1046730" y="44024"/>
                  <a:pt x="1034573" y="44024"/>
                </a:cubicBezTo>
                <a:lnTo>
                  <a:pt x="22012" y="44024"/>
                </a:lnTo>
                <a:cubicBezTo>
                  <a:pt x="9863" y="44024"/>
                  <a:pt x="0" y="34161"/>
                  <a:pt x="0" y="22012"/>
                </a:cubicBezTo>
                <a:lnTo>
                  <a:pt x="0" y="22012"/>
                </a:lnTo>
                <a:cubicBezTo>
                  <a:pt x="0" y="9863"/>
                  <a:pt x="9863" y="0"/>
                  <a:pt x="22012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62256" y="1584877"/>
            <a:ext cx="15353500" cy="671372"/>
          </a:xfrm>
          <a:custGeom>
            <a:avLst/>
            <a:gdLst/>
            <a:ahLst/>
            <a:cxnLst/>
            <a:rect l="l" t="t" r="r" b="b"/>
            <a:pathLst>
              <a:path w="15353500" h="671372">
                <a:moveTo>
                  <a:pt x="44024" y="0"/>
                </a:moveTo>
                <a:lnTo>
                  <a:pt x="15265450" y="0"/>
                </a:lnTo>
                <a:cubicBezTo>
                  <a:pt x="15314079" y="0"/>
                  <a:pt x="15353500" y="39422"/>
                  <a:pt x="15353500" y="88050"/>
                </a:cubicBezTo>
                <a:lnTo>
                  <a:pt x="15353500" y="583321"/>
                </a:lnTo>
                <a:cubicBezTo>
                  <a:pt x="15353500" y="631950"/>
                  <a:pt x="15314079" y="671372"/>
                  <a:pt x="15265450" y="671372"/>
                </a:cubicBezTo>
                <a:lnTo>
                  <a:pt x="44024" y="671372"/>
                </a:lnTo>
                <a:cubicBezTo>
                  <a:pt x="19710" y="671372"/>
                  <a:pt x="0" y="651661"/>
                  <a:pt x="0" y="627347"/>
                </a:cubicBez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A0AEC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62256" y="1584877"/>
            <a:ext cx="44024" cy="671372"/>
          </a:xfrm>
          <a:custGeom>
            <a:avLst/>
            <a:gdLst/>
            <a:ahLst/>
            <a:cxnLst/>
            <a:rect l="l" t="t" r="r" b="b"/>
            <a:pathLst>
              <a:path w="44024" h="671372">
                <a:moveTo>
                  <a:pt x="44024" y="0"/>
                </a:moveTo>
                <a:lnTo>
                  <a:pt x="44024" y="0"/>
                </a:lnTo>
                <a:lnTo>
                  <a:pt x="44024" y="671372"/>
                </a:lnTo>
                <a:lnTo>
                  <a:pt x="44024" y="671372"/>
                </a:lnTo>
                <a:cubicBezTo>
                  <a:pt x="19710" y="671372"/>
                  <a:pt x="0" y="651661"/>
                  <a:pt x="0" y="627347"/>
                </a:cubicBez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60366" y="1760975"/>
            <a:ext cx="15078348" cy="319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6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随着 </a:t>
            </a:r>
            <a:r>
              <a:rPr lang="en-US" sz="156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Update/Delete</a:t>
            </a:r>
            <a:r>
              <a:rPr lang="en-US" sz="156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操作的不断进行，系统中会产生大量的</a:t>
            </a:r>
            <a:r>
              <a:rPr lang="en-US" sz="1560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"废弃文件" </a:t>
            </a:r>
            <a:r>
              <a:rPr lang="en-US" sz="1560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和历史快照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244" y="2457110"/>
            <a:ext cx="5007773" cy="5391353"/>
          </a:xfrm>
          <a:custGeom>
            <a:avLst/>
            <a:gdLst/>
            <a:ahLst/>
            <a:cxnLst/>
            <a:rect l="l" t="t" r="r" b="b"/>
            <a:pathLst>
              <a:path w="5007773" h="6053351">
                <a:moveTo>
                  <a:pt x="44024" y="0"/>
                </a:moveTo>
                <a:lnTo>
                  <a:pt x="4963748" y="0"/>
                </a:lnTo>
                <a:cubicBezTo>
                  <a:pt x="4988062" y="0"/>
                  <a:pt x="5007773" y="19710"/>
                  <a:pt x="5007773" y="44024"/>
                </a:cubicBezTo>
                <a:lnTo>
                  <a:pt x="5007773" y="5965315"/>
                </a:lnTo>
                <a:cubicBezTo>
                  <a:pt x="5007773" y="6013936"/>
                  <a:pt x="4968357" y="6053351"/>
                  <a:pt x="4919736" y="6053351"/>
                </a:cubicBezTo>
                <a:lnTo>
                  <a:pt x="88037" y="6053351"/>
                </a:lnTo>
                <a:cubicBezTo>
                  <a:pt x="39415" y="6053351"/>
                  <a:pt x="0" y="6013936"/>
                  <a:pt x="0" y="5965315"/>
                </a:cubicBez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440244" y="2457110"/>
            <a:ext cx="5007773" cy="44024"/>
          </a:xfrm>
          <a:custGeom>
            <a:avLst/>
            <a:gdLst/>
            <a:ahLst/>
            <a:cxnLst/>
            <a:rect l="l" t="t" r="r" b="b"/>
            <a:pathLst>
              <a:path w="5007773" h="44024">
                <a:moveTo>
                  <a:pt x="44024" y="0"/>
                </a:moveTo>
                <a:lnTo>
                  <a:pt x="4963748" y="0"/>
                </a:lnTo>
                <a:cubicBezTo>
                  <a:pt x="4988062" y="0"/>
                  <a:pt x="5007773" y="19710"/>
                  <a:pt x="5007773" y="44024"/>
                </a:cubicBezTo>
                <a:lnTo>
                  <a:pt x="5007773" y="44024"/>
                </a:lnTo>
                <a:lnTo>
                  <a:pt x="0" y="44024"/>
                </a:ln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16341" y="2655220"/>
            <a:ext cx="528292" cy="528292"/>
          </a:xfrm>
          <a:custGeom>
            <a:avLst/>
            <a:gdLst/>
            <a:ahLst/>
            <a:cxnLst/>
            <a:rect l="l" t="t" r="r" b="b"/>
            <a:pathLst>
              <a:path w="528292" h="528292">
                <a:moveTo>
                  <a:pt x="88051" y="0"/>
                </a:moveTo>
                <a:lnTo>
                  <a:pt x="440242" y="0"/>
                </a:lnTo>
                <a:cubicBezTo>
                  <a:pt x="488871" y="0"/>
                  <a:pt x="528292" y="39422"/>
                  <a:pt x="528292" y="88051"/>
                </a:cubicBezTo>
                <a:lnTo>
                  <a:pt x="528292" y="440242"/>
                </a:lnTo>
                <a:cubicBezTo>
                  <a:pt x="528292" y="488871"/>
                  <a:pt x="488871" y="528292"/>
                  <a:pt x="440242" y="528292"/>
                </a:cubicBezTo>
                <a:lnTo>
                  <a:pt x="88051" y="528292"/>
                </a:lnTo>
                <a:cubicBezTo>
                  <a:pt x="39422" y="528292"/>
                  <a:pt x="0" y="488871"/>
                  <a:pt x="0" y="440242"/>
                </a:cubicBezTo>
                <a:lnTo>
                  <a:pt x="0" y="88051"/>
                </a:lnTo>
                <a:cubicBezTo>
                  <a:pt x="0" y="39454"/>
                  <a:pt x="39454" y="0"/>
                  <a:pt x="8805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70427" y="2809305"/>
            <a:ext cx="220122" cy="220122"/>
          </a:xfrm>
          <a:custGeom>
            <a:avLst/>
            <a:gdLst/>
            <a:ahLst/>
            <a:cxnLst/>
            <a:rect l="l" t="t" r="r" b="b"/>
            <a:pathLst>
              <a:path w="220122" h="220122">
                <a:moveTo>
                  <a:pt x="83878" y="4084"/>
                </a:moveTo>
                <a:cubicBezTo>
                  <a:pt x="85168" y="-2279"/>
                  <a:pt x="90800" y="-6879"/>
                  <a:pt x="97335" y="-6879"/>
                </a:cubicBezTo>
                <a:lnTo>
                  <a:pt x="123045" y="-6879"/>
                </a:lnTo>
                <a:cubicBezTo>
                  <a:pt x="129580" y="-6879"/>
                  <a:pt x="135212" y="-2279"/>
                  <a:pt x="136501" y="4084"/>
                </a:cubicBezTo>
                <a:lnTo>
                  <a:pt x="142735" y="34179"/>
                </a:lnTo>
                <a:cubicBezTo>
                  <a:pt x="148797" y="36759"/>
                  <a:pt x="154472" y="40069"/>
                  <a:pt x="159631" y="43981"/>
                </a:cubicBezTo>
                <a:lnTo>
                  <a:pt x="188780" y="34308"/>
                </a:lnTo>
                <a:cubicBezTo>
                  <a:pt x="194971" y="32244"/>
                  <a:pt x="201764" y="34824"/>
                  <a:pt x="205031" y="40499"/>
                </a:cubicBezTo>
                <a:lnTo>
                  <a:pt x="217886" y="62769"/>
                </a:lnTo>
                <a:cubicBezTo>
                  <a:pt x="221154" y="68444"/>
                  <a:pt x="219993" y="75581"/>
                  <a:pt x="215092" y="79923"/>
                </a:cubicBezTo>
                <a:lnTo>
                  <a:pt x="192177" y="100302"/>
                </a:lnTo>
                <a:cubicBezTo>
                  <a:pt x="192564" y="103483"/>
                  <a:pt x="192736" y="106751"/>
                  <a:pt x="192736" y="110061"/>
                </a:cubicBezTo>
                <a:cubicBezTo>
                  <a:pt x="192736" y="113371"/>
                  <a:pt x="192521" y="116639"/>
                  <a:pt x="192177" y="119820"/>
                </a:cubicBezTo>
                <a:lnTo>
                  <a:pt x="215135" y="140242"/>
                </a:lnTo>
                <a:cubicBezTo>
                  <a:pt x="220036" y="144584"/>
                  <a:pt x="221154" y="151764"/>
                  <a:pt x="217929" y="157396"/>
                </a:cubicBezTo>
                <a:lnTo>
                  <a:pt x="205074" y="179666"/>
                </a:lnTo>
                <a:cubicBezTo>
                  <a:pt x="201807" y="185298"/>
                  <a:pt x="195014" y="187920"/>
                  <a:pt x="188823" y="185857"/>
                </a:cubicBezTo>
                <a:lnTo>
                  <a:pt x="159674" y="176183"/>
                </a:lnTo>
                <a:cubicBezTo>
                  <a:pt x="154472" y="180096"/>
                  <a:pt x="148797" y="183363"/>
                  <a:pt x="142778" y="185986"/>
                </a:cubicBezTo>
                <a:lnTo>
                  <a:pt x="136587" y="216038"/>
                </a:lnTo>
                <a:cubicBezTo>
                  <a:pt x="135255" y="222443"/>
                  <a:pt x="129623" y="227001"/>
                  <a:pt x="123131" y="227001"/>
                </a:cubicBezTo>
                <a:lnTo>
                  <a:pt x="97421" y="227001"/>
                </a:lnTo>
                <a:cubicBezTo>
                  <a:pt x="90886" y="227001"/>
                  <a:pt x="85254" y="222400"/>
                  <a:pt x="83964" y="216038"/>
                </a:cubicBezTo>
                <a:lnTo>
                  <a:pt x="77774" y="185986"/>
                </a:lnTo>
                <a:cubicBezTo>
                  <a:pt x="71712" y="183406"/>
                  <a:pt x="66080" y="180096"/>
                  <a:pt x="60877" y="176183"/>
                </a:cubicBezTo>
                <a:lnTo>
                  <a:pt x="31600" y="185857"/>
                </a:lnTo>
                <a:cubicBezTo>
                  <a:pt x="25409" y="187920"/>
                  <a:pt x="18616" y="185341"/>
                  <a:pt x="15348" y="179666"/>
                </a:cubicBezTo>
                <a:lnTo>
                  <a:pt x="2494" y="157396"/>
                </a:lnTo>
                <a:cubicBezTo>
                  <a:pt x="-774" y="151721"/>
                  <a:pt x="387" y="144584"/>
                  <a:pt x="5288" y="140242"/>
                </a:cubicBezTo>
                <a:lnTo>
                  <a:pt x="28246" y="119820"/>
                </a:lnTo>
                <a:cubicBezTo>
                  <a:pt x="27859" y="116639"/>
                  <a:pt x="27687" y="113371"/>
                  <a:pt x="27687" y="110061"/>
                </a:cubicBezTo>
                <a:cubicBezTo>
                  <a:pt x="27687" y="106751"/>
                  <a:pt x="27902" y="103483"/>
                  <a:pt x="28246" y="100302"/>
                </a:cubicBezTo>
                <a:lnTo>
                  <a:pt x="5288" y="79880"/>
                </a:lnTo>
                <a:cubicBezTo>
                  <a:pt x="387" y="75538"/>
                  <a:pt x="-731" y="68358"/>
                  <a:pt x="2494" y="62726"/>
                </a:cubicBezTo>
                <a:lnTo>
                  <a:pt x="15348" y="40456"/>
                </a:lnTo>
                <a:cubicBezTo>
                  <a:pt x="18616" y="34781"/>
                  <a:pt x="25409" y="32201"/>
                  <a:pt x="31600" y="34265"/>
                </a:cubicBezTo>
                <a:lnTo>
                  <a:pt x="60748" y="43938"/>
                </a:lnTo>
                <a:cubicBezTo>
                  <a:pt x="65951" y="40026"/>
                  <a:pt x="71626" y="36759"/>
                  <a:pt x="77645" y="34136"/>
                </a:cubicBezTo>
                <a:lnTo>
                  <a:pt x="83878" y="4084"/>
                </a:lnTo>
                <a:close/>
                <a:moveTo>
                  <a:pt x="110190" y="144455"/>
                </a:moveTo>
                <a:cubicBezTo>
                  <a:pt x="122478" y="144409"/>
                  <a:pt x="133808" y="137811"/>
                  <a:pt x="139912" y="127146"/>
                </a:cubicBezTo>
                <a:cubicBezTo>
                  <a:pt x="146016" y="116482"/>
                  <a:pt x="145966" y="103371"/>
                  <a:pt x="139783" y="92752"/>
                </a:cubicBezTo>
                <a:cubicBezTo>
                  <a:pt x="133599" y="82134"/>
                  <a:pt x="122220" y="75621"/>
                  <a:pt x="109932" y="75667"/>
                </a:cubicBezTo>
                <a:cubicBezTo>
                  <a:pt x="97644" y="75713"/>
                  <a:pt x="86314" y="82311"/>
                  <a:pt x="80210" y="92976"/>
                </a:cubicBezTo>
                <a:cubicBezTo>
                  <a:pt x="74106" y="103640"/>
                  <a:pt x="74155" y="116751"/>
                  <a:pt x="80339" y="127370"/>
                </a:cubicBezTo>
                <a:cubicBezTo>
                  <a:pt x="86523" y="137988"/>
                  <a:pt x="97902" y="144501"/>
                  <a:pt x="110190" y="14445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76707" y="2765281"/>
            <a:ext cx="990548" cy="308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保留策略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6341" y="3359610"/>
            <a:ext cx="4655578" cy="968536"/>
          </a:xfrm>
          <a:custGeom>
            <a:avLst/>
            <a:gdLst/>
            <a:ahLst/>
            <a:cxnLst/>
            <a:rect l="l" t="t" r="r" b="b"/>
            <a:pathLst>
              <a:path w="4655578" h="968536">
                <a:moveTo>
                  <a:pt x="88050" y="0"/>
                </a:moveTo>
                <a:lnTo>
                  <a:pt x="4567528" y="0"/>
                </a:lnTo>
                <a:cubicBezTo>
                  <a:pt x="4616156" y="0"/>
                  <a:pt x="4655578" y="39421"/>
                  <a:pt x="4655578" y="88050"/>
                </a:cubicBezTo>
                <a:lnTo>
                  <a:pt x="4655578" y="880487"/>
                </a:lnTo>
                <a:cubicBezTo>
                  <a:pt x="4655578" y="929115"/>
                  <a:pt x="4616156" y="968536"/>
                  <a:pt x="4567528" y="968536"/>
                </a:cubicBezTo>
                <a:lnTo>
                  <a:pt x="88050" y="968536"/>
                </a:lnTo>
                <a:cubicBezTo>
                  <a:pt x="39421" y="968536"/>
                  <a:pt x="0" y="929115"/>
                  <a:pt x="0" y="880487"/>
                </a:cubicBezTo>
                <a:lnTo>
                  <a:pt x="0" y="88050"/>
                </a:lnTo>
                <a:cubicBezTo>
                  <a:pt x="0" y="39454"/>
                  <a:pt x="39454" y="0"/>
                  <a:pt x="880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4451" y="3579732"/>
            <a:ext cx="176097" cy="176097"/>
          </a:xfrm>
          <a:custGeom>
            <a:avLst/>
            <a:gdLst/>
            <a:ahLst/>
            <a:cxnLst/>
            <a:rect l="l" t="t" r="r" b="b"/>
            <a:pathLst>
              <a:path w="176097" h="176097">
                <a:moveTo>
                  <a:pt x="88049" y="0"/>
                </a:moveTo>
                <a:cubicBezTo>
                  <a:pt x="136644" y="0"/>
                  <a:pt x="176097" y="39453"/>
                  <a:pt x="176097" y="88049"/>
                </a:cubicBezTo>
                <a:cubicBezTo>
                  <a:pt x="176097" y="136644"/>
                  <a:pt x="136644" y="176097"/>
                  <a:pt x="88049" y="176097"/>
                </a:cubicBezTo>
                <a:cubicBezTo>
                  <a:pt x="39453" y="176097"/>
                  <a:pt x="0" y="136644"/>
                  <a:pt x="0" y="88049"/>
                </a:cubicBezTo>
                <a:cubicBezTo>
                  <a:pt x="0" y="39453"/>
                  <a:pt x="39453" y="0"/>
                  <a:pt x="88049" y="0"/>
                </a:cubicBezTo>
                <a:close/>
                <a:moveTo>
                  <a:pt x="79794" y="41273"/>
                </a:moveTo>
                <a:lnTo>
                  <a:pt x="79794" y="88049"/>
                </a:lnTo>
                <a:cubicBezTo>
                  <a:pt x="79794" y="90800"/>
                  <a:pt x="81170" y="93380"/>
                  <a:pt x="83474" y="94928"/>
                </a:cubicBezTo>
                <a:lnTo>
                  <a:pt x="116493" y="116940"/>
                </a:lnTo>
                <a:cubicBezTo>
                  <a:pt x="120276" y="119485"/>
                  <a:pt x="125401" y="118453"/>
                  <a:pt x="127946" y="114635"/>
                </a:cubicBezTo>
                <a:cubicBezTo>
                  <a:pt x="130491" y="110818"/>
                  <a:pt x="129459" y="105727"/>
                  <a:pt x="125641" y="103182"/>
                </a:cubicBezTo>
                <a:lnTo>
                  <a:pt x="96303" y="83646"/>
                </a:lnTo>
                <a:lnTo>
                  <a:pt x="96303" y="41273"/>
                </a:lnTo>
                <a:cubicBezTo>
                  <a:pt x="96303" y="36698"/>
                  <a:pt x="92623" y="33018"/>
                  <a:pt x="88049" y="33018"/>
                </a:cubicBezTo>
                <a:cubicBezTo>
                  <a:pt x="83474" y="33018"/>
                  <a:pt x="79794" y="36698"/>
                  <a:pt x="79794" y="4127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00609" y="3535708"/>
            <a:ext cx="792439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时间策略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2439" y="3887903"/>
            <a:ext cx="439143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只保留最近 </a:t>
            </a:r>
            <a:r>
              <a:rPr lang="en-US" sz="138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天</a:t>
            </a: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的快照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6341" y="4460219"/>
            <a:ext cx="4655578" cy="968536"/>
          </a:xfrm>
          <a:custGeom>
            <a:avLst/>
            <a:gdLst/>
            <a:ahLst/>
            <a:cxnLst/>
            <a:rect l="l" t="t" r="r" b="b"/>
            <a:pathLst>
              <a:path w="4655578" h="968536">
                <a:moveTo>
                  <a:pt x="88050" y="0"/>
                </a:moveTo>
                <a:lnTo>
                  <a:pt x="4567528" y="0"/>
                </a:lnTo>
                <a:cubicBezTo>
                  <a:pt x="4616156" y="0"/>
                  <a:pt x="4655578" y="39421"/>
                  <a:pt x="4655578" y="88050"/>
                </a:cubicBezTo>
                <a:lnTo>
                  <a:pt x="4655578" y="880487"/>
                </a:lnTo>
                <a:cubicBezTo>
                  <a:pt x="4655578" y="929115"/>
                  <a:pt x="4616156" y="968536"/>
                  <a:pt x="4567528" y="968536"/>
                </a:cubicBezTo>
                <a:lnTo>
                  <a:pt x="88050" y="968536"/>
                </a:lnTo>
                <a:cubicBezTo>
                  <a:pt x="39421" y="968536"/>
                  <a:pt x="0" y="929115"/>
                  <a:pt x="0" y="880487"/>
                </a:cubicBezTo>
                <a:lnTo>
                  <a:pt x="0" y="88050"/>
                </a:lnTo>
                <a:cubicBezTo>
                  <a:pt x="0" y="39454"/>
                  <a:pt x="39454" y="0"/>
                  <a:pt x="880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14451" y="4680341"/>
            <a:ext cx="176097" cy="176097"/>
          </a:xfrm>
          <a:custGeom>
            <a:avLst/>
            <a:gdLst/>
            <a:ahLst/>
            <a:cxnLst/>
            <a:rect l="l" t="t" r="r" b="b"/>
            <a:pathLst>
              <a:path w="176097" h="176097">
                <a:moveTo>
                  <a:pt x="0" y="24764"/>
                </a:moveTo>
                <a:cubicBezTo>
                  <a:pt x="0" y="20224"/>
                  <a:pt x="3680" y="16509"/>
                  <a:pt x="8255" y="16509"/>
                </a:cubicBezTo>
                <a:lnTo>
                  <a:pt x="24764" y="16509"/>
                </a:lnTo>
                <a:cubicBezTo>
                  <a:pt x="29338" y="16509"/>
                  <a:pt x="33018" y="20189"/>
                  <a:pt x="33018" y="24764"/>
                </a:cubicBezTo>
                <a:lnTo>
                  <a:pt x="33018" y="60534"/>
                </a:lnTo>
                <a:lnTo>
                  <a:pt x="41273" y="60534"/>
                </a:lnTo>
                <a:cubicBezTo>
                  <a:pt x="45847" y="60534"/>
                  <a:pt x="49527" y="64214"/>
                  <a:pt x="49527" y="68788"/>
                </a:cubicBezTo>
                <a:cubicBezTo>
                  <a:pt x="49527" y="73362"/>
                  <a:pt x="45847" y="77043"/>
                  <a:pt x="41273" y="77043"/>
                </a:cubicBezTo>
                <a:lnTo>
                  <a:pt x="8255" y="77043"/>
                </a:lnTo>
                <a:cubicBezTo>
                  <a:pt x="3680" y="77043"/>
                  <a:pt x="0" y="73362"/>
                  <a:pt x="0" y="68788"/>
                </a:cubicBezTo>
                <a:cubicBezTo>
                  <a:pt x="0" y="64214"/>
                  <a:pt x="3680" y="60534"/>
                  <a:pt x="8255" y="60534"/>
                </a:cubicBezTo>
                <a:lnTo>
                  <a:pt x="16509" y="60534"/>
                </a:lnTo>
                <a:lnTo>
                  <a:pt x="16509" y="33018"/>
                </a:lnTo>
                <a:lnTo>
                  <a:pt x="8255" y="33018"/>
                </a:lnTo>
                <a:cubicBezTo>
                  <a:pt x="3680" y="33018"/>
                  <a:pt x="0" y="29338"/>
                  <a:pt x="0" y="24764"/>
                </a:cubicBezTo>
                <a:close/>
                <a:moveTo>
                  <a:pt x="10456" y="103595"/>
                </a:moveTo>
                <a:cubicBezTo>
                  <a:pt x="14377" y="100637"/>
                  <a:pt x="19157" y="99055"/>
                  <a:pt x="24076" y="99055"/>
                </a:cubicBezTo>
                <a:lnTo>
                  <a:pt x="25761" y="99055"/>
                </a:lnTo>
                <a:cubicBezTo>
                  <a:pt x="37352" y="99055"/>
                  <a:pt x="46776" y="108479"/>
                  <a:pt x="46776" y="120070"/>
                </a:cubicBezTo>
                <a:cubicBezTo>
                  <a:pt x="46776" y="126811"/>
                  <a:pt x="43543" y="133105"/>
                  <a:pt x="38109" y="137060"/>
                </a:cubicBezTo>
                <a:lnTo>
                  <a:pt x="29854" y="143079"/>
                </a:lnTo>
                <a:lnTo>
                  <a:pt x="41273" y="143079"/>
                </a:lnTo>
                <a:cubicBezTo>
                  <a:pt x="45847" y="143079"/>
                  <a:pt x="49527" y="146759"/>
                  <a:pt x="49527" y="151334"/>
                </a:cubicBezTo>
                <a:cubicBezTo>
                  <a:pt x="49527" y="155908"/>
                  <a:pt x="45847" y="159588"/>
                  <a:pt x="41273" y="159588"/>
                </a:cubicBezTo>
                <a:lnTo>
                  <a:pt x="10077" y="159588"/>
                </a:lnTo>
                <a:cubicBezTo>
                  <a:pt x="4506" y="159588"/>
                  <a:pt x="0" y="155083"/>
                  <a:pt x="0" y="149511"/>
                </a:cubicBezTo>
                <a:cubicBezTo>
                  <a:pt x="0" y="146278"/>
                  <a:pt x="1548" y="143251"/>
                  <a:pt x="4162" y="141360"/>
                </a:cubicBezTo>
                <a:lnTo>
                  <a:pt x="28409" y="123715"/>
                </a:lnTo>
                <a:cubicBezTo>
                  <a:pt x="29579" y="122856"/>
                  <a:pt x="30267" y="121514"/>
                  <a:pt x="30267" y="120070"/>
                </a:cubicBezTo>
                <a:cubicBezTo>
                  <a:pt x="30267" y="117593"/>
                  <a:pt x="28238" y="115564"/>
                  <a:pt x="25761" y="115564"/>
                </a:cubicBezTo>
                <a:lnTo>
                  <a:pt x="24076" y="115564"/>
                </a:lnTo>
                <a:cubicBezTo>
                  <a:pt x="22734" y="115564"/>
                  <a:pt x="21427" y="116011"/>
                  <a:pt x="20361" y="116802"/>
                </a:cubicBezTo>
                <a:lnTo>
                  <a:pt x="13207" y="122168"/>
                </a:lnTo>
                <a:cubicBezTo>
                  <a:pt x="9562" y="124919"/>
                  <a:pt x="4402" y="124162"/>
                  <a:pt x="1651" y="120517"/>
                </a:cubicBezTo>
                <a:cubicBezTo>
                  <a:pt x="-1101" y="116871"/>
                  <a:pt x="-344" y="111712"/>
                  <a:pt x="3302" y="108960"/>
                </a:cubicBezTo>
                <a:lnTo>
                  <a:pt x="10456" y="103595"/>
                </a:lnTo>
                <a:close/>
                <a:moveTo>
                  <a:pt x="77043" y="22012"/>
                </a:moveTo>
                <a:lnTo>
                  <a:pt x="165091" y="22012"/>
                </a:lnTo>
                <a:cubicBezTo>
                  <a:pt x="171179" y="22012"/>
                  <a:pt x="176097" y="26931"/>
                  <a:pt x="176097" y="33018"/>
                </a:cubicBezTo>
                <a:cubicBezTo>
                  <a:pt x="176097" y="39106"/>
                  <a:pt x="171179" y="44024"/>
                  <a:pt x="165091" y="44024"/>
                </a:cubicBezTo>
                <a:lnTo>
                  <a:pt x="77043" y="44024"/>
                </a:lnTo>
                <a:cubicBezTo>
                  <a:pt x="70955" y="44024"/>
                  <a:pt x="66037" y="39106"/>
                  <a:pt x="66037" y="33018"/>
                </a:cubicBezTo>
                <a:cubicBezTo>
                  <a:pt x="66037" y="26931"/>
                  <a:pt x="70955" y="22012"/>
                  <a:pt x="77043" y="22012"/>
                </a:cubicBezTo>
                <a:close/>
                <a:moveTo>
                  <a:pt x="77043" y="77043"/>
                </a:moveTo>
                <a:lnTo>
                  <a:pt x="165091" y="77043"/>
                </a:lnTo>
                <a:cubicBezTo>
                  <a:pt x="171179" y="77043"/>
                  <a:pt x="176097" y="81961"/>
                  <a:pt x="176097" y="88049"/>
                </a:cubicBezTo>
                <a:cubicBezTo>
                  <a:pt x="176097" y="94136"/>
                  <a:pt x="171179" y="99055"/>
                  <a:pt x="165091" y="99055"/>
                </a:cubicBezTo>
                <a:lnTo>
                  <a:pt x="77043" y="99055"/>
                </a:lnTo>
                <a:cubicBezTo>
                  <a:pt x="70955" y="99055"/>
                  <a:pt x="66037" y="94136"/>
                  <a:pt x="66037" y="88049"/>
                </a:cubicBezTo>
                <a:cubicBezTo>
                  <a:pt x="66037" y="81961"/>
                  <a:pt x="70955" y="77043"/>
                  <a:pt x="77043" y="77043"/>
                </a:cubicBezTo>
                <a:close/>
                <a:moveTo>
                  <a:pt x="77043" y="132073"/>
                </a:moveTo>
                <a:lnTo>
                  <a:pt x="165091" y="132073"/>
                </a:lnTo>
                <a:cubicBezTo>
                  <a:pt x="171179" y="132073"/>
                  <a:pt x="176097" y="136991"/>
                  <a:pt x="176097" y="143079"/>
                </a:cubicBezTo>
                <a:cubicBezTo>
                  <a:pt x="176097" y="149167"/>
                  <a:pt x="171179" y="154085"/>
                  <a:pt x="165091" y="154085"/>
                </a:cubicBezTo>
                <a:lnTo>
                  <a:pt x="77043" y="154085"/>
                </a:lnTo>
                <a:cubicBezTo>
                  <a:pt x="70955" y="154085"/>
                  <a:pt x="66037" y="149167"/>
                  <a:pt x="66037" y="143079"/>
                </a:cubicBezTo>
                <a:cubicBezTo>
                  <a:pt x="66037" y="136991"/>
                  <a:pt x="70955" y="132073"/>
                  <a:pt x="77043" y="132073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00609" y="4636317"/>
            <a:ext cx="792439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数量策略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2439" y="4988512"/>
            <a:ext cx="439143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只保留最近 </a:t>
            </a:r>
            <a:r>
              <a:rPr lang="en-US" sz="138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 个</a:t>
            </a: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快照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6341" y="5560829"/>
            <a:ext cx="4655578" cy="968536"/>
          </a:xfrm>
          <a:custGeom>
            <a:avLst/>
            <a:gdLst/>
            <a:ahLst/>
            <a:cxnLst/>
            <a:rect l="l" t="t" r="r" b="b"/>
            <a:pathLst>
              <a:path w="4655578" h="968536">
                <a:moveTo>
                  <a:pt x="88050" y="0"/>
                </a:moveTo>
                <a:lnTo>
                  <a:pt x="4567528" y="0"/>
                </a:lnTo>
                <a:cubicBezTo>
                  <a:pt x="4616156" y="0"/>
                  <a:pt x="4655578" y="39421"/>
                  <a:pt x="4655578" y="88050"/>
                </a:cubicBezTo>
                <a:lnTo>
                  <a:pt x="4655578" y="880487"/>
                </a:lnTo>
                <a:cubicBezTo>
                  <a:pt x="4655578" y="929115"/>
                  <a:pt x="4616156" y="968536"/>
                  <a:pt x="4567528" y="968536"/>
                </a:cubicBezTo>
                <a:lnTo>
                  <a:pt x="88050" y="968536"/>
                </a:lnTo>
                <a:cubicBezTo>
                  <a:pt x="39421" y="968536"/>
                  <a:pt x="0" y="929115"/>
                  <a:pt x="0" y="880487"/>
                </a:cubicBezTo>
                <a:lnTo>
                  <a:pt x="0" y="88050"/>
                </a:lnTo>
                <a:cubicBezTo>
                  <a:pt x="0" y="39454"/>
                  <a:pt x="39454" y="0"/>
                  <a:pt x="88050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14451" y="5780951"/>
            <a:ext cx="176097" cy="176097"/>
          </a:xfrm>
          <a:custGeom>
            <a:avLst/>
            <a:gdLst/>
            <a:ahLst/>
            <a:cxnLst/>
            <a:rect l="l" t="t" r="r" b="b"/>
            <a:pathLst>
              <a:path w="176097" h="176097">
                <a:moveTo>
                  <a:pt x="22666" y="78590"/>
                </a:moveTo>
                <a:cubicBezTo>
                  <a:pt x="27240" y="46604"/>
                  <a:pt x="54790" y="22012"/>
                  <a:pt x="88049" y="22012"/>
                </a:cubicBezTo>
                <a:cubicBezTo>
                  <a:pt x="106278" y="22012"/>
                  <a:pt x="122787" y="29407"/>
                  <a:pt x="134756" y="41342"/>
                </a:cubicBezTo>
                <a:cubicBezTo>
                  <a:pt x="134825" y="41410"/>
                  <a:pt x="134893" y="41479"/>
                  <a:pt x="134962" y="41548"/>
                </a:cubicBezTo>
                <a:lnTo>
                  <a:pt x="137576" y="44024"/>
                </a:lnTo>
                <a:lnTo>
                  <a:pt x="121101" y="44024"/>
                </a:lnTo>
                <a:cubicBezTo>
                  <a:pt x="115014" y="44024"/>
                  <a:pt x="110095" y="48943"/>
                  <a:pt x="110095" y="55030"/>
                </a:cubicBezTo>
                <a:cubicBezTo>
                  <a:pt x="110095" y="61118"/>
                  <a:pt x="115014" y="66037"/>
                  <a:pt x="121101" y="66037"/>
                </a:cubicBezTo>
                <a:lnTo>
                  <a:pt x="165126" y="66037"/>
                </a:lnTo>
                <a:cubicBezTo>
                  <a:pt x="171214" y="66037"/>
                  <a:pt x="176132" y="61118"/>
                  <a:pt x="176132" y="55030"/>
                </a:cubicBezTo>
                <a:lnTo>
                  <a:pt x="176132" y="11006"/>
                </a:lnTo>
                <a:cubicBezTo>
                  <a:pt x="176132" y="4918"/>
                  <a:pt x="171214" y="0"/>
                  <a:pt x="165126" y="0"/>
                </a:cubicBezTo>
                <a:cubicBezTo>
                  <a:pt x="159038" y="0"/>
                  <a:pt x="154120" y="4918"/>
                  <a:pt x="154120" y="11006"/>
                </a:cubicBezTo>
                <a:lnTo>
                  <a:pt x="154120" y="29373"/>
                </a:lnTo>
                <a:lnTo>
                  <a:pt x="150233" y="25692"/>
                </a:lnTo>
                <a:cubicBezTo>
                  <a:pt x="134309" y="9837"/>
                  <a:pt x="112297" y="0"/>
                  <a:pt x="88049" y="0"/>
                </a:cubicBezTo>
                <a:cubicBezTo>
                  <a:pt x="43680" y="0"/>
                  <a:pt x="6982" y="32812"/>
                  <a:pt x="894" y="75495"/>
                </a:cubicBezTo>
                <a:cubicBezTo>
                  <a:pt x="34" y="81514"/>
                  <a:pt x="4196" y="87086"/>
                  <a:pt x="10215" y="87946"/>
                </a:cubicBezTo>
                <a:cubicBezTo>
                  <a:pt x="16234" y="88805"/>
                  <a:pt x="21806" y="84609"/>
                  <a:pt x="22666" y="78625"/>
                </a:cubicBezTo>
                <a:close/>
                <a:moveTo>
                  <a:pt x="175203" y="100603"/>
                </a:moveTo>
                <a:cubicBezTo>
                  <a:pt x="176063" y="94584"/>
                  <a:pt x="171867" y="89012"/>
                  <a:pt x="165882" y="88152"/>
                </a:cubicBezTo>
                <a:cubicBezTo>
                  <a:pt x="159898" y="87292"/>
                  <a:pt x="154292" y="91488"/>
                  <a:pt x="153432" y="97473"/>
                </a:cubicBezTo>
                <a:cubicBezTo>
                  <a:pt x="148857" y="129459"/>
                  <a:pt x="121308" y="154051"/>
                  <a:pt x="88049" y="154051"/>
                </a:cubicBezTo>
                <a:cubicBezTo>
                  <a:pt x="69820" y="154051"/>
                  <a:pt x="53311" y="146656"/>
                  <a:pt x="41342" y="134721"/>
                </a:cubicBezTo>
                <a:cubicBezTo>
                  <a:pt x="41273" y="134653"/>
                  <a:pt x="41204" y="134584"/>
                  <a:pt x="41135" y="134515"/>
                </a:cubicBezTo>
                <a:lnTo>
                  <a:pt x="38521" y="132039"/>
                </a:lnTo>
                <a:lnTo>
                  <a:pt x="54996" y="132039"/>
                </a:lnTo>
                <a:cubicBezTo>
                  <a:pt x="61084" y="132039"/>
                  <a:pt x="66002" y="127120"/>
                  <a:pt x="66002" y="121033"/>
                </a:cubicBezTo>
                <a:cubicBezTo>
                  <a:pt x="66002" y="114945"/>
                  <a:pt x="61084" y="110027"/>
                  <a:pt x="54996" y="110027"/>
                </a:cubicBezTo>
                <a:lnTo>
                  <a:pt x="11006" y="110061"/>
                </a:lnTo>
                <a:cubicBezTo>
                  <a:pt x="8083" y="110061"/>
                  <a:pt x="5262" y="111230"/>
                  <a:pt x="3199" y="113328"/>
                </a:cubicBezTo>
                <a:cubicBezTo>
                  <a:pt x="1135" y="115426"/>
                  <a:pt x="-34" y="118212"/>
                  <a:pt x="0" y="121170"/>
                </a:cubicBezTo>
                <a:lnTo>
                  <a:pt x="344" y="164851"/>
                </a:lnTo>
                <a:cubicBezTo>
                  <a:pt x="378" y="170938"/>
                  <a:pt x="5365" y="175822"/>
                  <a:pt x="11453" y="175754"/>
                </a:cubicBezTo>
                <a:cubicBezTo>
                  <a:pt x="17541" y="175685"/>
                  <a:pt x="22425" y="170732"/>
                  <a:pt x="22356" y="164644"/>
                </a:cubicBezTo>
                <a:lnTo>
                  <a:pt x="22219" y="146931"/>
                </a:lnTo>
                <a:lnTo>
                  <a:pt x="25899" y="150405"/>
                </a:lnTo>
                <a:cubicBezTo>
                  <a:pt x="41823" y="166261"/>
                  <a:pt x="63801" y="176097"/>
                  <a:pt x="88049" y="176097"/>
                </a:cubicBezTo>
                <a:cubicBezTo>
                  <a:pt x="132417" y="176097"/>
                  <a:pt x="169116" y="143286"/>
                  <a:pt x="175203" y="100603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00609" y="5736926"/>
            <a:ext cx="792439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混合策略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2439" y="6089121"/>
            <a:ext cx="4391431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结合时间和数量双重约束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25318" y="2457110"/>
            <a:ext cx="5007773" cy="5403089"/>
          </a:xfrm>
          <a:custGeom>
            <a:avLst/>
            <a:gdLst/>
            <a:ahLst/>
            <a:cxnLst/>
            <a:rect l="l" t="t" r="r" b="b"/>
            <a:pathLst>
              <a:path w="5007773" h="6053351">
                <a:moveTo>
                  <a:pt x="44024" y="0"/>
                </a:moveTo>
                <a:lnTo>
                  <a:pt x="4963748" y="0"/>
                </a:lnTo>
                <a:cubicBezTo>
                  <a:pt x="4988062" y="0"/>
                  <a:pt x="5007773" y="19710"/>
                  <a:pt x="5007773" y="44024"/>
                </a:cubicBezTo>
                <a:lnTo>
                  <a:pt x="5007773" y="5965315"/>
                </a:lnTo>
                <a:cubicBezTo>
                  <a:pt x="5007773" y="6013936"/>
                  <a:pt x="4968357" y="6053351"/>
                  <a:pt x="4919736" y="6053351"/>
                </a:cubicBezTo>
                <a:lnTo>
                  <a:pt x="88037" y="6053351"/>
                </a:lnTo>
                <a:cubicBezTo>
                  <a:pt x="39415" y="6053351"/>
                  <a:pt x="0" y="6013936"/>
                  <a:pt x="0" y="5965315"/>
                </a:cubicBez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625318" y="2457110"/>
            <a:ext cx="5007773" cy="44024"/>
          </a:xfrm>
          <a:custGeom>
            <a:avLst/>
            <a:gdLst/>
            <a:ahLst/>
            <a:cxnLst/>
            <a:rect l="l" t="t" r="r" b="b"/>
            <a:pathLst>
              <a:path w="5007773" h="44024">
                <a:moveTo>
                  <a:pt x="44024" y="0"/>
                </a:moveTo>
                <a:lnTo>
                  <a:pt x="4963748" y="0"/>
                </a:lnTo>
                <a:cubicBezTo>
                  <a:pt x="4988062" y="0"/>
                  <a:pt x="5007773" y="19710"/>
                  <a:pt x="5007773" y="44024"/>
                </a:cubicBezTo>
                <a:lnTo>
                  <a:pt x="5007773" y="44024"/>
                </a:lnTo>
                <a:lnTo>
                  <a:pt x="0" y="44024"/>
                </a:ln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5801415" y="2655220"/>
            <a:ext cx="528292" cy="528292"/>
          </a:xfrm>
          <a:custGeom>
            <a:avLst/>
            <a:gdLst/>
            <a:ahLst/>
            <a:cxnLst/>
            <a:rect l="l" t="t" r="r" b="b"/>
            <a:pathLst>
              <a:path w="528292" h="528292">
                <a:moveTo>
                  <a:pt x="88051" y="0"/>
                </a:moveTo>
                <a:lnTo>
                  <a:pt x="440242" y="0"/>
                </a:lnTo>
                <a:cubicBezTo>
                  <a:pt x="488871" y="0"/>
                  <a:pt x="528292" y="39422"/>
                  <a:pt x="528292" y="88051"/>
                </a:cubicBezTo>
                <a:lnTo>
                  <a:pt x="528292" y="440242"/>
                </a:lnTo>
                <a:cubicBezTo>
                  <a:pt x="528292" y="488871"/>
                  <a:pt x="488871" y="528292"/>
                  <a:pt x="440242" y="528292"/>
                </a:cubicBezTo>
                <a:lnTo>
                  <a:pt x="88051" y="528292"/>
                </a:lnTo>
                <a:cubicBezTo>
                  <a:pt x="39422" y="528292"/>
                  <a:pt x="0" y="488871"/>
                  <a:pt x="0" y="440242"/>
                </a:cubicBezTo>
                <a:lnTo>
                  <a:pt x="0" y="88051"/>
                </a:lnTo>
                <a:cubicBezTo>
                  <a:pt x="0" y="39454"/>
                  <a:pt x="39454" y="0"/>
                  <a:pt x="88051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5955500" y="2809305"/>
            <a:ext cx="220122" cy="220122"/>
          </a:xfrm>
          <a:custGeom>
            <a:avLst/>
            <a:gdLst/>
            <a:ahLst/>
            <a:cxnLst/>
            <a:rect l="l" t="t" r="r" b="b"/>
            <a:pathLst>
              <a:path w="220122" h="220122">
                <a:moveTo>
                  <a:pt x="4041" y="50989"/>
                </a:moveTo>
                <a:cubicBezTo>
                  <a:pt x="-1333" y="45615"/>
                  <a:pt x="-1333" y="36888"/>
                  <a:pt x="4041" y="31514"/>
                </a:cubicBezTo>
                <a:cubicBezTo>
                  <a:pt x="9415" y="26139"/>
                  <a:pt x="18143" y="26139"/>
                  <a:pt x="23517" y="31514"/>
                </a:cubicBezTo>
                <a:lnTo>
                  <a:pt x="92305" y="100302"/>
                </a:lnTo>
                <a:cubicBezTo>
                  <a:pt x="97679" y="105676"/>
                  <a:pt x="97679" y="114403"/>
                  <a:pt x="92305" y="119777"/>
                </a:cubicBezTo>
                <a:lnTo>
                  <a:pt x="23517" y="188565"/>
                </a:lnTo>
                <a:cubicBezTo>
                  <a:pt x="18143" y="193939"/>
                  <a:pt x="9415" y="193939"/>
                  <a:pt x="4041" y="188565"/>
                </a:cubicBezTo>
                <a:cubicBezTo>
                  <a:pt x="-1333" y="183191"/>
                  <a:pt x="-1333" y="174464"/>
                  <a:pt x="4041" y="169090"/>
                </a:cubicBezTo>
                <a:lnTo>
                  <a:pt x="63070" y="110061"/>
                </a:lnTo>
                <a:lnTo>
                  <a:pt x="4041" y="50989"/>
                </a:lnTo>
                <a:close/>
                <a:moveTo>
                  <a:pt x="96303" y="165091"/>
                </a:moveTo>
                <a:lnTo>
                  <a:pt x="206364" y="165091"/>
                </a:lnTo>
                <a:cubicBezTo>
                  <a:pt x="213974" y="165091"/>
                  <a:pt x="220122" y="171239"/>
                  <a:pt x="220122" y="178849"/>
                </a:cubicBezTo>
                <a:cubicBezTo>
                  <a:pt x="220122" y="186459"/>
                  <a:pt x="213974" y="192607"/>
                  <a:pt x="206364" y="192607"/>
                </a:cubicBezTo>
                <a:lnTo>
                  <a:pt x="96303" y="192607"/>
                </a:lnTo>
                <a:cubicBezTo>
                  <a:pt x="88694" y="192607"/>
                  <a:pt x="82546" y="186459"/>
                  <a:pt x="82546" y="178849"/>
                </a:cubicBezTo>
                <a:cubicBezTo>
                  <a:pt x="82546" y="171239"/>
                  <a:pt x="88694" y="165091"/>
                  <a:pt x="96303" y="16509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461781" y="2765281"/>
            <a:ext cx="990548" cy="308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操作命令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01415" y="3359610"/>
            <a:ext cx="4655578" cy="2113170"/>
          </a:xfrm>
          <a:custGeom>
            <a:avLst/>
            <a:gdLst/>
            <a:ahLst/>
            <a:cxnLst/>
            <a:rect l="l" t="t" r="r" b="b"/>
            <a:pathLst>
              <a:path w="4655578" h="2113170">
                <a:moveTo>
                  <a:pt x="88056" y="0"/>
                </a:moveTo>
                <a:lnTo>
                  <a:pt x="4567522" y="0"/>
                </a:lnTo>
                <a:cubicBezTo>
                  <a:pt x="4616154" y="0"/>
                  <a:pt x="4655578" y="39424"/>
                  <a:pt x="4655578" y="88056"/>
                </a:cubicBezTo>
                <a:lnTo>
                  <a:pt x="4655578" y="2025114"/>
                </a:lnTo>
                <a:cubicBezTo>
                  <a:pt x="4655578" y="2073746"/>
                  <a:pt x="4616154" y="2113170"/>
                  <a:pt x="4567522" y="2113170"/>
                </a:cubicBezTo>
                <a:lnTo>
                  <a:pt x="88056" y="2113170"/>
                </a:lnTo>
                <a:cubicBezTo>
                  <a:pt x="39424" y="2113170"/>
                  <a:pt x="0" y="2073746"/>
                  <a:pt x="0" y="2025114"/>
                </a:cubicBezTo>
                <a:lnTo>
                  <a:pt x="0" y="88056"/>
                </a:lnTo>
                <a:cubicBezTo>
                  <a:pt x="0" y="39456"/>
                  <a:pt x="39456" y="0"/>
                  <a:pt x="88056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77513" y="3535708"/>
            <a:ext cx="4380425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 SQL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77513" y="3887903"/>
            <a:ext cx="4303383" cy="1408780"/>
          </a:xfrm>
          <a:custGeom>
            <a:avLst/>
            <a:gdLst/>
            <a:ahLst/>
            <a:cxnLst/>
            <a:rect l="l" t="t" r="r" b="b"/>
            <a:pathLst>
              <a:path w="4303383" h="1408780">
                <a:moveTo>
                  <a:pt x="44024" y="0"/>
                </a:moveTo>
                <a:lnTo>
                  <a:pt x="4259358" y="0"/>
                </a:lnTo>
                <a:cubicBezTo>
                  <a:pt x="4283672" y="0"/>
                  <a:pt x="4303383" y="19710"/>
                  <a:pt x="4303383" y="44024"/>
                </a:cubicBezTo>
                <a:lnTo>
                  <a:pt x="4303383" y="1364756"/>
                </a:lnTo>
                <a:cubicBezTo>
                  <a:pt x="4303383" y="1389070"/>
                  <a:pt x="4283672" y="1408780"/>
                  <a:pt x="4259358" y="1408780"/>
                </a:cubicBezTo>
                <a:lnTo>
                  <a:pt x="44024" y="1408780"/>
                </a:lnTo>
                <a:cubicBezTo>
                  <a:pt x="19710" y="1408780"/>
                  <a:pt x="0" y="1389070"/>
                  <a:pt x="0" y="1364756"/>
                </a:cubicBez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5977513" y="3887903"/>
            <a:ext cx="4391431" cy="1408780"/>
          </a:xfrm>
          <a:prstGeom prst="rect">
            <a:avLst/>
          </a:prstGeom>
          <a:noFill/>
          <a:ln/>
        </p:spPr>
        <p:txBody>
          <a:bodyPr wrap="square" lIns="132073" tIns="132073" rIns="132073" bIns="132073" rtlCol="0" anchor="ctr"/>
          <a:lstStyle/>
          <a:p>
            <a:pPr>
              <a:lnSpc>
                <a:spcPct val="14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 catalog.system.expire_snapshots(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retain_last =&gt; 100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01415" y="5648877"/>
            <a:ext cx="4655578" cy="1760975"/>
          </a:xfrm>
          <a:custGeom>
            <a:avLst/>
            <a:gdLst/>
            <a:ahLst/>
            <a:cxnLst/>
            <a:rect l="l" t="t" r="r" b="b"/>
            <a:pathLst>
              <a:path w="4655578" h="1760975">
                <a:moveTo>
                  <a:pt x="88049" y="0"/>
                </a:moveTo>
                <a:lnTo>
                  <a:pt x="4567529" y="0"/>
                </a:lnTo>
                <a:cubicBezTo>
                  <a:pt x="4616157" y="0"/>
                  <a:pt x="4655578" y="39421"/>
                  <a:pt x="4655578" y="88049"/>
                </a:cubicBezTo>
                <a:lnTo>
                  <a:pt x="4655578" y="1672926"/>
                </a:lnTo>
                <a:cubicBezTo>
                  <a:pt x="4655578" y="1721554"/>
                  <a:pt x="4616157" y="1760975"/>
                  <a:pt x="4567529" y="1760975"/>
                </a:cubicBezTo>
                <a:lnTo>
                  <a:pt x="88049" y="1760975"/>
                </a:lnTo>
                <a:cubicBezTo>
                  <a:pt x="39421" y="1760975"/>
                  <a:pt x="0" y="1721554"/>
                  <a:pt x="0" y="1672926"/>
                </a:cubicBezTo>
                <a:lnTo>
                  <a:pt x="0" y="88049"/>
                </a:lnTo>
                <a:cubicBezTo>
                  <a:pt x="0" y="39453"/>
                  <a:pt x="39453" y="0"/>
                  <a:pt x="88049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977513" y="5824975"/>
            <a:ext cx="4380425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API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77513" y="6177170"/>
            <a:ext cx="4303383" cy="1056585"/>
          </a:xfrm>
          <a:custGeom>
            <a:avLst/>
            <a:gdLst/>
            <a:ahLst/>
            <a:cxnLst/>
            <a:rect l="l" t="t" r="r" b="b"/>
            <a:pathLst>
              <a:path w="4303383" h="1056585">
                <a:moveTo>
                  <a:pt x="44028" y="0"/>
                </a:moveTo>
                <a:lnTo>
                  <a:pt x="4259355" y="0"/>
                </a:lnTo>
                <a:cubicBezTo>
                  <a:pt x="4283671" y="0"/>
                  <a:pt x="4303383" y="19712"/>
                  <a:pt x="4303383" y="44028"/>
                </a:cubicBezTo>
                <a:lnTo>
                  <a:pt x="4303383" y="1012557"/>
                </a:lnTo>
                <a:cubicBezTo>
                  <a:pt x="4303383" y="1036873"/>
                  <a:pt x="4283671" y="1056585"/>
                  <a:pt x="4259355" y="1056585"/>
                </a:cubicBezTo>
                <a:lnTo>
                  <a:pt x="44028" y="1056585"/>
                </a:lnTo>
                <a:cubicBezTo>
                  <a:pt x="19712" y="1056585"/>
                  <a:pt x="0" y="1036873"/>
                  <a:pt x="0" y="1012557"/>
                </a:cubicBezTo>
                <a:lnTo>
                  <a:pt x="0" y="44028"/>
                </a:lnTo>
                <a:cubicBezTo>
                  <a:pt x="0" y="19728"/>
                  <a:pt x="19728" y="0"/>
                  <a:pt x="44028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977513" y="6177170"/>
            <a:ext cx="4391431" cy="1056585"/>
          </a:xfrm>
          <a:prstGeom prst="rect">
            <a:avLst/>
          </a:prstGeom>
          <a:noFill/>
          <a:ln/>
        </p:spPr>
        <p:txBody>
          <a:bodyPr wrap="square" lIns="132073" tIns="132073" rIns="132073" bIns="132073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table.expireSnapshots()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.retainLast(100)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.commit()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810391" y="2457110"/>
            <a:ext cx="5007773" cy="5403089"/>
          </a:xfrm>
          <a:custGeom>
            <a:avLst/>
            <a:gdLst/>
            <a:ahLst/>
            <a:cxnLst/>
            <a:rect l="l" t="t" r="r" b="b"/>
            <a:pathLst>
              <a:path w="5007773" h="6053351">
                <a:moveTo>
                  <a:pt x="44024" y="0"/>
                </a:moveTo>
                <a:lnTo>
                  <a:pt x="4963748" y="0"/>
                </a:lnTo>
                <a:cubicBezTo>
                  <a:pt x="4988062" y="0"/>
                  <a:pt x="5007773" y="19710"/>
                  <a:pt x="5007773" y="44024"/>
                </a:cubicBezTo>
                <a:lnTo>
                  <a:pt x="5007773" y="5965315"/>
                </a:lnTo>
                <a:cubicBezTo>
                  <a:pt x="5007773" y="6013936"/>
                  <a:pt x="4968357" y="6053351"/>
                  <a:pt x="4919736" y="6053351"/>
                </a:cubicBezTo>
                <a:lnTo>
                  <a:pt x="88037" y="6053351"/>
                </a:lnTo>
                <a:cubicBezTo>
                  <a:pt x="39415" y="6053351"/>
                  <a:pt x="0" y="6013936"/>
                  <a:pt x="0" y="5965315"/>
                </a:cubicBez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10810391" y="2457110"/>
            <a:ext cx="5007773" cy="44024"/>
          </a:xfrm>
          <a:custGeom>
            <a:avLst/>
            <a:gdLst/>
            <a:ahLst/>
            <a:cxnLst/>
            <a:rect l="l" t="t" r="r" b="b"/>
            <a:pathLst>
              <a:path w="5007773" h="44024">
                <a:moveTo>
                  <a:pt x="44024" y="0"/>
                </a:moveTo>
                <a:lnTo>
                  <a:pt x="4963748" y="0"/>
                </a:lnTo>
                <a:cubicBezTo>
                  <a:pt x="4988062" y="0"/>
                  <a:pt x="5007773" y="19710"/>
                  <a:pt x="5007773" y="44024"/>
                </a:cubicBezTo>
                <a:lnTo>
                  <a:pt x="5007773" y="44024"/>
                </a:lnTo>
                <a:lnTo>
                  <a:pt x="0" y="44024"/>
                </a:lnTo>
                <a:lnTo>
                  <a:pt x="0" y="44024"/>
                </a:lnTo>
                <a:cubicBezTo>
                  <a:pt x="0" y="19727"/>
                  <a:pt x="19727" y="0"/>
                  <a:pt x="4402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0986489" y="2655220"/>
            <a:ext cx="528292" cy="528292"/>
          </a:xfrm>
          <a:custGeom>
            <a:avLst/>
            <a:gdLst/>
            <a:ahLst/>
            <a:cxnLst/>
            <a:rect l="l" t="t" r="r" b="b"/>
            <a:pathLst>
              <a:path w="528292" h="528292">
                <a:moveTo>
                  <a:pt x="88051" y="0"/>
                </a:moveTo>
                <a:lnTo>
                  <a:pt x="440242" y="0"/>
                </a:lnTo>
                <a:cubicBezTo>
                  <a:pt x="488871" y="0"/>
                  <a:pt x="528292" y="39422"/>
                  <a:pt x="528292" y="88051"/>
                </a:cubicBezTo>
                <a:lnTo>
                  <a:pt x="528292" y="440242"/>
                </a:lnTo>
                <a:cubicBezTo>
                  <a:pt x="528292" y="488871"/>
                  <a:pt x="488871" y="528292"/>
                  <a:pt x="440242" y="528292"/>
                </a:cubicBezTo>
                <a:lnTo>
                  <a:pt x="88051" y="528292"/>
                </a:lnTo>
                <a:cubicBezTo>
                  <a:pt x="39422" y="528292"/>
                  <a:pt x="0" y="488871"/>
                  <a:pt x="0" y="440242"/>
                </a:cubicBezTo>
                <a:lnTo>
                  <a:pt x="0" y="88051"/>
                </a:lnTo>
                <a:cubicBezTo>
                  <a:pt x="0" y="39454"/>
                  <a:pt x="39454" y="0"/>
                  <a:pt x="8805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126817" y="2809305"/>
            <a:ext cx="247637" cy="220122"/>
          </a:xfrm>
          <a:custGeom>
            <a:avLst/>
            <a:gdLst/>
            <a:ahLst/>
            <a:cxnLst/>
            <a:rect l="l" t="t" r="r" b="b"/>
            <a:pathLst>
              <a:path w="247637" h="220122">
                <a:moveTo>
                  <a:pt x="243596" y="23474"/>
                </a:moveTo>
                <a:cubicBezTo>
                  <a:pt x="248970" y="18100"/>
                  <a:pt x="248970" y="9372"/>
                  <a:pt x="243596" y="3998"/>
                </a:cubicBezTo>
                <a:cubicBezTo>
                  <a:pt x="238222" y="-1376"/>
                  <a:pt x="229494" y="-1376"/>
                  <a:pt x="224120" y="3998"/>
                </a:cubicBezTo>
                <a:lnTo>
                  <a:pt x="141574" y="86544"/>
                </a:lnTo>
                <a:lnTo>
                  <a:pt x="126656" y="71626"/>
                </a:lnTo>
                <a:cubicBezTo>
                  <a:pt x="124850" y="69820"/>
                  <a:pt x="122357" y="68788"/>
                  <a:pt x="119777" y="68788"/>
                </a:cubicBezTo>
                <a:cubicBezTo>
                  <a:pt x="114403" y="68788"/>
                  <a:pt x="110061" y="73130"/>
                  <a:pt x="110061" y="78504"/>
                </a:cubicBezTo>
                <a:lnTo>
                  <a:pt x="110061" y="91015"/>
                </a:lnTo>
                <a:lnTo>
                  <a:pt x="156622" y="137576"/>
                </a:lnTo>
                <a:lnTo>
                  <a:pt x="169133" y="137576"/>
                </a:lnTo>
                <a:cubicBezTo>
                  <a:pt x="174507" y="137576"/>
                  <a:pt x="178849" y="133234"/>
                  <a:pt x="178849" y="127860"/>
                </a:cubicBezTo>
                <a:cubicBezTo>
                  <a:pt x="178849" y="125280"/>
                  <a:pt x="177817" y="122787"/>
                  <a:pt x="176012" y="120981"/>
                </a:cubicBezTo>
                <a:lnTo>
                  <a:pt x="161093" y="106063"/>
                </a:lnTo>
                <a:lnTo>
                  <a:pt x="243639" y="23517"/>
                </a:lnTo>
                <a:close/>
                <a:moveTo>
                  <a:pt x="146648" y="151936"/>
                </a:moveTo>
                <a:lnTo>
                  <a:pt x="95701" y="100990"/>
                </a:lnTo>
                <a:cubicBezTo>
                  <a:pt x="77344" y="99399"/>
                  <a:pt x="59072" y="106020"/>
                  <a:pt x="45916" y="119175"/>
                </a:cubicBezTo>
                <a:lnTo>
                  <a:pt x="42477" y="122615"/>
                </a:lnTo>
                <a:cubicBezTo>
                  <a:pt x="32889" y="132202"/>
                  <a:pt x="27515" y="145186"/>
                  <a:pt x="27515" y="158729"/>
                </a:cubicBezTo>
                <a:cubicBezTo>
                  <a:pt x="27515" y="161652"/>
                  <a:pt x="30568" y="163544"/>
                  <a:pt x="33190" y="162254"/>
                </a:cubicBezTo>
                <a:lnTo>
                  <a:pt x="55159" y="151291"/>
                </a:lnTo>
                <a:cubicBezTo>
                  <a:pt x="57309" y="150216"/>
                  <a:pt x="59244" y="153053"/>
                  <a:pt x="57481" y="154687"/>
                </a:cubicBezTo>
                <a:lnTo>
                  <a:pt x="3138" y="203527"/>
                </a:lnTo>
                <a:cubicBezTo>
                  <a:pt x="1161" y="205332"/>
                  <a:pt x="0" y="207912"/>
                  <a:pt x="0" y="210621"/>
                </a:cubicBezTo>
                <a:cubicBezTo>
                  <a:pt x="0" y="215866"/>
                  <a:pt x="4256" y="220122"/>
                  <a:pt x="9501" y="220122"/>
                </a:cubicBezTo>
                <a:lnTo>
                  <a:pt x="84007" y="220122"/>
                </a:lnTo>
                <a:cubicBezTo>
                  <a:pt x="100689" y="220122"/>
                  <a:pt x="116639" y="213501"/>
                  <a:pt x="128462" y="201721"/>
                </a:cubicBezTo>
                <a:cubicBezTo>
                  <a:pt x="141617" y="188565"/>
                  <a:pt x="148195" y="170294"/>
                  <a:pt x="146648" y="151936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646854" y="2765281"/>
            <a:ext cx="990548" cy="308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3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清理机制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986489" y="3359610"/>
            <a:ext cx="352195" cy="352195"/>
          </a:xfrm>
          <a:custGeom>
            <a:avLst/>
            <a:gdLst/>
            <a:ahLst/>
            <a:cxnLst/>
            <a:rect l="l" t="t" r="r" b="b"/>
            <a:pathLst>
              <a:path w="352195" h="352195">
                <a:moveTo>
                  <a:pt x="176097" y="0"/>
                </a:moveTo>
                <a:lnTo>
                  <a:pt x="176097" y="0"/>
                </a:lnTo>
                <a:cubicBezTo>
                  <a:pt x="273288" y="0"/>
                  <a:pt x="352195" y="78907"/>
                  <a:pt x="352195" y="176097"/>
                </a:cubicBezTo>
                <a:lnTo>
                  <a:pt x="352195" y="176097"/>
                </a:lnTo>
                <a:cubicBezTo>
                  <a:pt x="352195" y="273288"/>
                  <a:pt x="273288" y="352195"/>
                  <a:pt x="176097" y="352195"/>
                </a:cubicBezTo>
                <a:lnTo>
                  <a:pt x="176097" y="352195"/>
                </a:lnTo>
                <a:cubicBezTo>
                  <a:pt x="78907" y="352195"/>
                  <a:pt x="0" y="273288"/>
                  <a:pt x="0" y="176097"/>
                </a:cubicBezTo>
                <a:lnTo>
                  <a:pt x="0" y="176097"/>
                </a:lnTo>
                <a:cubicBezTo>
                  <a:pt x="0" y="78907"/>
                  <a:pt x="78907" y="0"/>
                  <a:pt x="17609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132234" y="3425647"/>
            <a:ext cx="143079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470757" y="3359610"/>
            <a:ext cx="4259358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识别过期快照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470757" y="3623756"/>
            <a:ext cx="4248352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根据保留策略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986489" y="3975951"/>
            <a:ext cx="352195" cy="352195"/>
          </a:xfrm>
          <a:custGeom>
            <a:avLst/>
            <a:gdLst/>
            <a:ahLst/>
            <a:cxnLst/>
            <a:rect l="l" t="t" r="r" b="b"/>
            <a:pathLst>
              <a:path w="352195" h="352195">
                <a:moveTo>
                  <a:pt x="176097" y="0"/>
                </a:moveTo>
                <a:lnTo>
                  <a:pt x="176097" y="0"/>
                </a:lnTo>
                <a:cubicBezTo>
                  <a:pt x="273288" y="0"/>
                  <a:pt x="352195" y="78907"/>
                  <a:pt x="352195" y="176097"/>
                </a:cubicBezTo>
                <a:lnTo>
                  <a:pt x="352195" y="176097"/>
                </a:lnTo>
                <a:cubicBezTo>
                  <a:pt x="352195" y="273288"/>
                  <a:pt x="273288" y="352195"/>
                  <a:pt x="176097" y="352195"/>
                </a:cubicBezTo>
                <a:lnTo>
                  <a:pt x="176097" y="352195"/>
                </a:lnTo>
                <a:cubicBezTo>
                  <a:pt x="78907" y="352195"/>
                  <a:pt x="0" y="273288"/>
                  <a:pt x="0" y="176097"/>
                </a:cubicBezTo>
                <a:lnTo>
                  <a:pt x="0" y="176097"/>
                </a:lnTo>
                <a:cubicBezTo>
                  <a:pt x="0" y="78907"/>
                  <a:pt x="78907" y="0"/>
                  <a:pt x="176097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119250" y="4041988"/>
            <a:ext cx="165091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470757" y="3975951"/>
            <a:ext cx="4259358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找出仅被过期快照引用的数据文件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470757" y="4240097"/>
            <a:ext cx="4248352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计算引用关系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986489" y="4592292"/>
            <a:ext cx="352195" cy="352195"/>
          </a:xfrm>
          <a:custGeom>
            <a:avLst/>
            <a:gdLst/>
            <a:ahLst/>
            <a:cxnLst/>
            <a:rect l="l" t="t" r="r" b="b"/>
            <a:pathLst>
              <a:path w="352195" h="352195">
                <a:moveTo>
                  <a:pt x="176097" y="0"/>
                </a:moveTo>
                <a:lnTo>
                  <a:pt x="176097" y="0"/>
                </a:lnTo>
                <a:cubicBezTo>
                  <a:pt x="273288" y="0"/>
                  <a:pt x="352195" y="78907"/>
                  <a:pt x="352195" y="176097"/>
                </a:cubicBezTo>
                <a:lnTo>
                  <a:pt x="352195" y="176097"/>
                </a:lnTo>
                <a:cubicBezTo>
                  <a:pt x="352195" y="273288"/>
                  <a:pt x="273288" y="352195"/>
                  <a:pt x="176097" y="352195"/>
                </a:cubicBezTo>
                <a:lnTo>
                  <a:pt x="176097" y="352195"/>
                </a:lnTo>
                <a:cubicBezTo>
                  <a:pt x="78907" y="352195"/>
                  <a:pt x="0" y="273288"/>
                  <a:pt x="0" y="176097"/>
                </a:cubicBezTo>
                <a:lnTo>
                  <a:pt x="0" y="176097"/>
                </a:lnTo>
                <a:cubicBezTo>
                  <a:pt x="0" y="78907"/>
                  <a:pt x="78907" y="0"/>
                  <a:pt x="176097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1117272" y="4658329"/>
            <a:ext cx="165091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470757" y="4592292"/>
            <a:ext cx="4259358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物理删除这些文件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470757" y="4856439"/>
            <a:ext cx="4248352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释放存储空间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986489" y="5252658"/>
            <a:ext cx="4655578" cy="1232682"/>
          </a:xfrm>
          <a:custGeom>
            <a:avLst/>
            <a:gdLst/>
            <a:ahLst/>
            <a:cxnLst/>
            <a:rect l="l" t="t" r="r" b="b"/>
            <a:pathLst>
              <a:path w="4655578" h="1232682">
                <a:moveTo>
                  <a:pt x="88051" y="0"/>
                </a:moveTo>
                <a:lnTo>
                  <a:pt x="4567527" y="0"/>
                </a:lnTo>
                <a:cubicBezTo>
                  <a:pt x="4616156" y="0"/>
                  <a:pt x="4655578" y="39422"/>
                  <a:pt x="4655578" y="88051"/>
                </a:cubicBezTo>
                <a:lnTo>
                  <a:pt x="4655578" y="1144632"/>
                </a:lnTo>
                <a:cubicBezTo>
                  <a:pt x="4655578" y="1193261"/>
                  <a:pt x="4616156" y="1232682"/>
                  <a:pt x="4567527" y="1232682"/>
                </a:cubicBezTo>
                <a:lnTo>
                  <a:pt x="88051" y="1232682"/>
                </a:lnTo>
                <a:cubicBezTo>
                  <a:pt x="39422" y="1232682"/>
                  <a:pt x="0" y="1193261"/>
                  <a:pt x="0" y="1144632"/>
                </a:cubicBezTo>
                <a:lnTo>
                  <a:pt x="0" y="88051"/>
                </a:lnTo>
                <a:cubicBezTo>
                  <a:pt x="0" y="39454"/>
                  <a:pt x="39454" y="0"/>
                  <a:pt x="88051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1162586" y="5428756"/>
            <a:ext cx="4380425" cy="220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13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安全机制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162586" y="5736926"/>
            <a:ext cx="4391431" cy="572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只删除</a:t>
            </a:r>
            <a:r>
              <a:rPr lang="en-US" sz="1387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仅被过期快照引用</a:t>
            </a: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的文件，仍在使用的文件不会被删除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51250" y="7978477"/>
            <a:ext cx="7583198" cy="1078597"/>
          </a:xfrm>
          <a:custGeom>
            <a:avLst/>
            <a:gdLst/>
            <a:ahLst/>
            <a:cxnLst/>
            <a:rect l="l" t="t" r="r" b="b"/>
            <a:pathLst>
              <a:path w="7583198" h="1078597">
                <a:moveTo>
                  <a:pt x="88046" y="0"/>
                </a:moveTo>
                <a:lnTo>
                  <a:pt x="7495152" y="0"/>
                </a:lnTo>
                <a:cubicBezTo>
                  <a:pt x="7543779" y="0"/>
                  <a:pt x="7583198" y="39419"/>
                  <a:pt x="7583198" y="88046"/>
                </a:cubicBezTo>
                <a:lnTo>
                  <a:pt x="7583198" y="990551"/>
                </a:lnTo>
                <a:cubicBezTo>
                  <a:pt x="7583198" y="1039178"/>
                  <a:pt x="7543779" y="1078597"/>
                  <a:pt x="7495152" y="1078597"/>
                </a:cubicBezTo>
                <a:lnTo>
                  <a:pt x="88046" y="1078597"/>
                </a:lnTo>
                <a:cubicBezTo>
                  <a:pt x="39419" y="1078597"/>
                  <a:pt x="0" y="1039178"/>
                  <a:pt x="0" y="990551"/>
                </a:cubicBezTo>
                <a:lnTo>
                  <a:pt x="0" y="88046"/>
                </a:lnTo>
                <a:cubicBezTo>
                  <a:pt x="0" y="39419"/>
                  <a:pt x="39419" y="0"/>
                  <a:pt x="88046" y="0"/>
                </a:cubicBezTo>
                <a:close/>
              </a:path>
            </a:pathLst>
          </a:custGeom>
          <a:solidFill>
            <a:srgbClr val="A0AEC0">
              <a:alpha val="10196"/>
            </a:srgbClr>
          </a:solidFill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72317" y="8165580"/>
            <a:ext cx="7341064" cy="3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80" b="1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空间回收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94329" y="8605824"/>
            <a:ext cx="7297040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删除废弃数据文件，释放存储空间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28861" y="7978477"/>
            <a:ext cx="7583198" cy="1078597"/>
          </a:xfrm>
          <a:custGeom>
            <a:avLst/>
            <a:gdLst/>
            <a:ahLst/>
            <a:cxnLst/>
            <a:rect l="l" t="t" r="r" b="b"/>
            <a:pathLst>
              <a:path w="7583198" h="1078597">
                <a:moveTo>
                  <a:pt x="88046" y="0"/>
                </a:moveTo>
                <a:lnTo>
                  <a:pt x="7495152" y="0"/>
                </a:lnTo>
                <a:cubicBezTo>
                  <a:pt x="7543779" y="0"/>
                  <a:pt x="7583198" y="39419"/>
                  <a:pt x="7583198" y="88046"/>
                </a:cubicBezTo>
                <a:lnTo>
                  <a:pt x="7583198" y="990551"/>
                </a:lnTo>
                <a:cubicBezTo>
                  <a:pt x="7583198" y="1039178"/>
                  <a:pt x="7543779" y="1078597"/>
                  <a:pt x="7495152" y="1078597"/>
                </a:cubicBezTo>
                <a:lnTo>
                  <a:pt x="88046" y="1078597"/>
                </a:lnTo>
                <a:cubicBezTo>
                  <a:pt x="39419" y="1078597"/>
                  <a:pt x="0" y="1039178"/>
                  <a:pt x="0" y="990551"/>
                </a:cubicBezTo>
                <a:lnTo>
                  <a:pt x="0" y="88046"/>
                </a:lnTo>
                <a:cubicBezTo>
                  <a:pt x="0" y="39419"/>
                  <a:pt x="39419" y="0"/>
                  <a:pt x="88046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349928" y="8165580"/>
            <a:ext cx="7341064" cy="352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80" b="1" dirty="0">
                <a:solidFill>
                  <a:srgbClr val="4FD1C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性能维护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71940" y="8605824"/>
            <a:ext cx="7297040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87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减少元数据膨胀，保持查询效率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132" y="448132"/>
            <a:ext cx="15449362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kern="0" spc="141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ORPHAN FILES CLEANUP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48132" y="806638"/>
            <a:ext cx="15561395" cy="4481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76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孤儿文件清理 (Remove Orphan Files)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132" y="1389210"/>
            <a:ext cx="1075518" cy="44813"/>
          </a:xfrm>
          <a:custGeom>
            <a:avLst/>
            <a:gdLst/>
            <a:ahLst/>
            <a:cxnLst/>
            <a:rect l="l" t="t" r="r" b="b"/>
            <a:pathLst>
              <a:path w="1075518" h="44813">
                <a:moveTo>
                  <a:pt x="22407" y="0"/>
                </a:moveTo>
                <a:lnTo>
                  <a:pt x="1053111" y="0"/>
                </a:lnTo>
                <a:cubicBezTo>
                  <a:pt x="1065486" y="0"/>
                  <a:pt x="1075518" y="10032"/>
                  <a:pt x="1075518" y="22407"/>
                </a:cubicBezTo>
                <a:lnTo>
                  <a:pt x="1075518" y="22407"/>
                </a:lnTo>
                <a:cubicBezTo>
                  <a:pt x="1075518" y="34781"/>
                  <a:pt x="1065486" y="44813"/>
                  <a:pt x="1053111" y="44813"/>
                </a:cubicBezTo>
                <a:lnTo>
                  <a:pt x="22407" y="44813"/>
                </a:lnTo>
                <a:cubicBezTo>
                  <a:pt x="10032" y="44813"/>
                  <a:pt x="0" y="34781"/>
                  <a:pt x="0" y="22407"/>
                </a:cubicBezTo>
                <a:lnTo>
                  <a:pt x="0" y="22407"/>
                </a:lnTo>
                <a:cubicBezTo>
                  <a:pt x="0" y="10032"/>
                  <a:pt x="10032" y="0"/>
                  <a:pt x="22407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48132" y="1613276"/>
            <a:ext cx="7584640" cy="6271577"/>
          </a:xfrm>
          <a:custGeom>
            <a:avLst/>
            <a:gdLst/>
            <a:ahLst/>
            <a:cxnLst/>
            <a:rect l="l" t="t" r="r" b="b"/>
            <a:pathLst>
              <a:path w="7584640" h="7046881">
                <a:moveTo>
                  <a:pt x="89636" y="0"/>
                </a:moveTo>
                <a:lnTo>
                  <a:pt x="7495003" y="0"/>
                </a:lnTo>
                <a:cubicBezTo>
                  <a:pt x="7544508" y="0"/>
                  <a:pt x="7584640" y="40132"/>
                  <a:pt x="7584640" y="89636"/>
                </a:cubicBezTo>
                <a:lnTo>
                  <a:pt x="7584640" y="6957244"/>
                </a:lnTo>
                <a:cubicBezTo>
                  <a:pt x="7584640" y="7006749"/>
                  <a:pt x="7544508" y="7046881"/>
                  <a:pt x="7495003" y="7046881"/>
                </a:cubicBezTo>
                <a:lnTo>
                  <a:pt x="89636" y="7046881"/>
                </a:lnTo>
                <a:cubicBezTo>
                  <a:pt x="40132" y="7046881"/>
                  <a:pt x="0" y="7006749"/>
                  <a:pt x="0" y="6957244"/>
                </a:cubicBezTo>
                <a:lnTo>
                  <a:pt x="0" y="89636"/>
                </a:lnTo>
                <a:cubicBezTo>
                  <a:pt x="0" y="40132"/>
                  <a:pt x="40132" y="0"/>
                  <a:pt x="89636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27385" y="1792529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84232" y="1949376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112033" y="0"/>
                </a:moveTo>
                <a:cubicBezTo>
                  <a:pt x="118466" y="0"/>
                  <a:pt x="124374" y="3545"/>
                  <a:pt x="127438" y="9190"/>
                </a:cubicBezTo>
                <a:lnTo>
                  <a:pt x="221966" y="184242"/>
                </a:lnTo>
                <a:cubicBezTo>
                  <a:pt x="224898" y="189669"/>
                  <a:pt x="224766" y="196233"/>
                  <a:pt x="221615" y="201528"/>
                </a:cubicBezTo>
                <a:cubicBezTo>
                  <a:pt x="218465" y="206824"/>
                  <a:pt x="212732" y="210062"/>
                  <a:pt x="206561" y="210062"/>
                </a:cubicBezTo>
                <a:lnTo>
                  <a:pt x="17505" y="210062"/>
                </a:lnTo>
                <a:cubicBezTo>
                  <a:pt x="11335" y="210062"/>
                  <a:pt x="5645" y="206824"/>
                  <a:pt x="2451" y="201528"/>
                </a:cubicBezTo>
                <a:cubicBezTo>
                  <a:pt x="-744" y="196233"/>
                  <a:pt x="-831" y="189669"/>
                  <a:pt x="2101" y="184242"/>
                </a:cubicBezTo>
                <a:lnTo>
                  <a:pt x="96629" y="9190"/>
                </a:lnTo>
                <a:cubicBezTo>
                  <a:pt x="99692" y="3545"/>
                  <a:pt x="105600" y="0"/>
                  <a:pt x="112033" y="0"/>
                </a:cubicBezTo>
                <a:close/>
                <a:moveTo>
                  <a:pt x="112033" y="73522"/>
                </a:moveTo>
                <a:cubicBezTo>
                  <a:pt x="106213" y="73522"/>
                  <a:pt x="101530" y="78204"/>
                  <a:pt x="101530" y="84025"/>
                </a:cubicBezTo>
                <a:lnTo>
                  <a:pt x="101530" y="133039"/>
                </a:lnTo>
                <a:cubicBezTo>
                  <a:pt x="101530" y="138860"/>
                  <a:pt x="106213" y="143542"/>
                  <a:pt x="112033" y="143542"/>
                </a:cubicBezTo>
                <a:cubicBezTo>
                  <a:pt x="117854" y="143542"/>
                  <a:pt x="122536" y="138860"/>
                  <a:pt x="122536" y="133039"/>
                </a:cubicBezTo>
                <a:lnTo>
                  <a:pt x="122536" y="84025"/>
                </a:lnTo>
                <a:cubicBezTo>
                  <a:pt x="122536" y="78204"/>
                  <a:pt x="117854" y="73522"/>
                  <a:pt x="112033" y="73522"/>
                </a:cubicBezTo>
                <a:close/>
                <a:moveTo>
                  <a:pt x="123718" y="168050"/>
                </a:moveTo>
                <a:cubicBezTo>
                  <a:pt x="123984" y="163712"/>
                  <a:pt x="121821" y="159586"/>
                  <a:pt x="118103" y="157337"/>
                </a:cubicBezTo>
                <a:cubicBezTo>
                  <a:pt x="114384" y="155088"/>
                  <a:pt x="109725" y="155088"/>
                  <a:pt x="106007" y="157337"/>
                </a:cubicBezTo>
                <a:cubicBezTo>
                  <a:pt x="102289" y="159586"/>
                  <a:pt x="100126" y="163712"/>
                  <a:pt x="100392" y="168050"/>
                </a:cubicBezTo>
                <a:cubicBezTo>
                  <a:pt x="100126" y="172387"/>
                  <a:pt x="102289" y="176513"/>
                  <a:pt x="106007" y="178762"/>
                </a:cubicBezTo>
                <a:cubicBezTo>
                  <a:pt x="109725" y="181011"/>
                  <a:pt x="114384" y="181011"/>
                  <a:pt x="118103" y="178762"/>
                </a:cubicBezTo>
                <a:cubicBezTo>
                  <a:pt x="121821" y="176513"/>
                  <a:pt x="123984" y="172387"/>
                  <a:pt x="123718" y="16805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99584" y="1882156"/>
            <a:ext cx="2554354" cy="358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17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孤儿文件的产生场景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9792" y="2509541"/>
            <a:ext cx="7203727" cy="1008298"/>
          </a:xfrm>
          <a:custGeom>
            <a:avLst/>
            <a:gdLst/>
            <a:ahLst/>
            <a:cxnLst/>
            <a:rect l="l" t="t" r="r" b="b"/>
            <a:pathLst>
              <a:path w="7203727" h="1008298">
                <a:moveTo>
                  <a:pt x="44813" y="0"/>
                </a:moveTo>
                <a:lnTo>
                  <a:pt x="7114099" y="0"/>
                </a:lnTo>
                <a:cubicBezTo>
                  <a:pt x="7163599" y="0"/>
                  <a:pt x="7203727" y="40128"/>
                  <a:pt x="7203727" y="89628"/>
                </a:cubicBezTo>
                <a:lnTo>
                  <a:pt x="7203727" y="918670"/>
                </a:lnTo>
                <a:cubicBezTo>
                  <a:pt x="7203727" y="968170"/>
                  <a:pt x="7163599" y="1008298"/>
                  <a:pt x="7114099" y="1008298"/>
                </a:cubicBez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649792" y="2509541"/>
            <a:ext cx="44813" cy="1008298"/>
          </a:xfrm>
          <a:custGeom>
            <a:avLst/>
            <a:gdLst/>
            <a:ahLst/>
            <a:cxnLst/>
            <a:rect l="l" t="t" r="r" b="b"/>
            <a:pathLst>
              <a:path w="44813" h="1008298">
                <a:moveTo>
                  <a:pt x="44813" y="0"/>
                </a:moveTo>
                <a:lnTo>
                  <a:pt x="44813" y="0"/>
                </a:lnTo>
                <a:lnTo>
                  <a:pt x="44813" y="1008298"/>
                </a:ln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73858" y="2733607"/>
            <a:ext cx="179253" cy="179253"/>
          </a:xfrm>
          <a:custGeom>
            <a:avLst/>
            <a:gdLst/>
            <a:ahLst/>
            <a:cxnLst/>
            <a:rect l="l" t="t" r="r" b="b"/>
            <a:pathLst>
              <a:path w="179253" h="179253">
                <a:moveTo>
                  <a:pt x="89626" y="179253"/>
                </a:moveTo>
                <a:cubicBezTo>
                  <a:pt x="139093" y="179253"/>
                  <a:pt x="179253" y="139093"/>
                  <a:pt x="179253" y="89626"/>
                </a:cubicBezTo>
                <a:cubicBezTo>
                  <a:pt x="179253" y="40160"/>
                  <a:pt x="139093" y="0"/>
                  <a:pt x="89626" y="0"/>
                </a:cubicBezTo>
                <a:cubicBezTo>
                  <a:pt x="40160" y="0"/>
                  <a:pt x="0" y="40160"/>
                  <a:pt x="0" y="89626"/>
                </a:cubicBezTo>
                <a:cubicBezTo>
                  <a:pt x="0" y="139093"/>
                  <a:pt x="40160" y="179253"/>
                  <a:pt x="89626" y="179253"/>
                </a:cubicBezTo>
                <a:close/>
                <a:moveTo>
                  <a:pt x="58467" y="58467"/>
                </a:moveTo>
                <a:cubicBezTo>
                  <a:pt x="61758" y="55176"/>
                  <a:pt x="67080" y="55176"/>
                  <a:pt x="70336" y="58467"/>
                </a:cubicBezTo>
                <a:lnTo>
                  <a:pt x="89591" y="77723"/>
                </a:lnTo>
                <a:lnTo>
                  <a:pt x="108847" y="58467"/>
                </a:lnTo>
                <a:cubicBezTo>
                  <a:pt x="112138" y="55176"/>
                  <a:pt x="117460" y="55176"/>
                  <a:pt x="120716" y="58467"/>
                </a:cubicBezTo>
                <a:cubicBezTo>
                  <a:pt x="123972" y="61758"/>
                  <a:pt x="124007" y="67080"/>
                  <a:pt x="120716" y="70336"/>
                </a:cubicBezTo>
                <a:lnTo>
                  <a:pt x="101460" y="89591"/>
                </a:lnTo>
                <a:lnTo>
                  <a:pt x="120716" y="108847"/>
                </a:lnTo>
                <a:cubicBezTo>
                  <a:pt x="124007" y="112138"/>
                  <a:pt x="124007" y="117460"/>
                  <a:pt x="120716" y="120716"/>
                </a:cubicBezTo>
                <a:cubicBezTo>
                  <a:pt x="117425" y="123972"/>
                  <a:pt x="112103" y="124007"/>
                  <a:pt x="108847" y="120716"/>
                </a:cubicBezTo>
                <a:lnTo>
                  <a:pt x="89591" y="101460"/>
                </a:lnTo>
                <a:lnTo>
                  <a:pt x="70336" y="120716"/>
                </a:lnTo>
                <a:cubicBezTo>
                  <a:pt x="67045" y="124007"/>
                  <a:pt x="61723" y="124007"/>
                  <a:pt x="58467" y="120716"/>
                </a:cubicBezTo>
                <a:cubicBezTo>
                  <a:pt x="55211" y="117425"/>
                  <a:pt x="55176" y="112103"/>
                  <a:pt x="58467" y="108847"/>
                </a:cubicBezTo>
                <a:lnTo>
                  <a:pt x="77723" y="89591"/>
                </a:lnTo>
                <a:lnTo>
                  <a:pt x="58467" y="70336"/>
                </a:lnTo>
                <a:cubicBezTo>
                  <a:pt x="55176" y="67045"/>
                  <a:pt x="55176" y="61723"/>
                  <a:pt x="58467" y="5846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65144" y="2688794"/>
            <a:ext cx="1501243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 写任务中断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1451" y="3047300"/>
            <a:ext cx="6912441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任务写到一半挂了，留下了未提交的 Parquet 文件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792" y="3652278"/>
            <a:ext cx="7203727" cy="1008298"/>
          </a:xfrm>
          <a:custGeom>
            <a:avLst/>
            <a:gdLst/>
            <a:ahLst/>
            <a:cxnLst/>
            <a:rect l="l" t="t" r="r" b="b"/>
            <a:pathLst>
              <a:path w="7203727" h="1008298">
                <a:moveTo>
                  <a:pt x="44813" y="0"/>
                </a:moveTo>
                <a:lnTo>
                  <a:pt x="7114099" y="0"/>
                </a:lnTo>
                <a:cubicBezTo>
                  <a:pt x="7163599" y="0"/>
                  <a:pt x="7203727" y="40128"/>
                  <a:pt x="7203727" y="89628"/>
                </a:cubicBezTo>
                <a:lnTo>
                  <a:pt x="7203727" y="918670"/>
                </a:lnTo>
                <a:cubicBezTo>
                  <a:pt x="7203727" y="968170"/>
                  <a:pt x="7163599" y="1008298"/>
                  <a:pt x="7114099" y="1008298"/>
                </a:cubicBez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49792" y="3652278"/>
            <a:ext cx="44813" cy="1008298"/>
          </a:xfrm>
          <a:custGeom>
            <a:avLst/>
            <a:gdLst/>
            <a:ahLst/>
            <a:cxnLst/>
            <a:rect l="l" t="t" r="r" b="b"/>
            <a:pathLst>
              <a:path w="44813" h="1008298">
                <a:moveTo>
                  <a:pt x="44813" y="0"/>
                </a:moveTo>
                <a:lnTo>
                  <a:pt x="44813" y="0"/>
                </a:lnTo>
                <a:lnTo>
                  <a:pt x="44813" y="1008298"/>
                </a:ln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73858" y="3876345"/>
            <a:ext cx="179253" cy="179253"/>
          </a:xfrm>
          <a:custGeom>
            <a:avLst/>
            <a:gdLst/>
            <a:ahLst/>
            <a:cxnLst/>
            <a:rect l="l" t="t" r="r" b="b"/>
            <a:pathLst>
              <a:path w="179253" h="179253">
                <a:moveTo>
                  <a:pt x="89626" y="179253"/>
                </a:moveTo>
                <a:cubicBezTo>
                  <a:pt x="139093" y="179253"/>
                  <a:pt x="179253" y="139093"/>
                  <a:pt x="179253" y="89626"/>
                </a:cubicBezTo>
                <a:cubicBezTo>
                  <a:pt x="179253" y="40160"/>
                  <a:pt x="139093" y="0"/>
                  <a:pt x="89626" y="0"/>
                </a:cubicBezTo>
                <a:cubicBezTo>
                  <a:pt x="40160" y="0"/>
                  <a:pt x="0" y="40160"/>
                  <a:pt x="0" y="89626"/>
                </a:cubicBezTo>
                <a:cubicBezTo>
                  <a:pt x="0" y="139093"/>
                  <a:pt x="40160" y="179253"/>
                  <a:pt x="89626" y="179253"/>
                </a:cubicBezTo>
                <a:close/>
                <a:moveTo>
                  <a:pt x="58467" y="58467"/>
                </a:moveTo>
                <a:cubicBezTo>
                  <a:pt x="61758" y="55176"/>
                  <a:pt x="67080" y="55176"/>
                  <a:pt x="70336" y="58467"/>
                </a:cubicBezTo>
                <a:lnTo>
                  <a:pt x="89591" y="77723"/>
                </a:lnTo>
                <a:lnTo>
                  <a:pt x="108847" y="58467"/>
                </a:lnTo>
                <a:cubicBezTo>
                  <a:pt x="112138" y="55176"/>
                  <a:pt x="117460" y="55176"/>
                  <a:pt x="120716" y="58467"/>
                </a:cubicBezTo>
                <a:cubicBezTo>
                  <a:pt x="123972" y="61758"/>
                  <a:pt x="124007" y="67080"/>
                  <a:pt x="120716" y="70336"/>
                </a:cubicBezTo>
                <a:lnTo>
                  <a:pt x="101460" y="89591"/>
                </a:lnTo>
                <a:lnTo>
                  <a:pt x="120716" y="108847"/>
                </a:lnTo>
                <a:cubicBezTo>
                  <a:pt x="124007" y="112138"/>
                  <a:pt x="124007" y="117460"/>
                  <a:pt x="120716" y="120716"/>
                </a:cubicBezTo>
                <a:cubicBezTo>
                  <a:pt x="117425" y="123972"/>
                  <a:pt x="112103" y="124007"/>
                  <a:pt x="108847" y="120716"/>
                </a:cubicBezTo>
                <a:lnTo>
                  <a:pt x="89591" y="101460"/>
                </a:lnTo>
                <a:lnTo>
                  <a:pt x="70336" y="120716"/>
                </a:lnTo>
                <a:cubicBezTo>
                  <a:pt x="67045" y="124007"/>
                  <a:pt x="61723" y="124007"/>
                  <a:pt x="58467" y="120716"/>
                </a:cubicBezTo>
                <a:cubicBezTo>
                  <a:pt x="55211" y="117425"/>
                  <a:pt x="55176" y="112103"/>
                  <a:pt x="58467" y="108847"/>
                </a:cubicBezTo>
                <a:lnTo>
                  <a:pt x="77723" y="89591"/>
                </a:lnTo>
                <a:lnTo>
                  <a:pt x="58467" y="70336"/>
                </a:lnTo>
                <a:cubicBezTo>
                  <a:pt x="55176" y="67045"/>
                  <a:pt x="55176" y="61723"/>
                  <a:pt x="58467" y="5846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65144" y="3831531"/>
            <a:ext cx="80663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网络异常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1451" y="4190037"/>
            <a:ext cx="6912441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写入过程中网络中断，数据文件已写入但元数据未提交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792" y="4795016"/>
            <a:ext cx="7203727" cy="1008298"/>
          </a:xfrm>
          <a:custGeom>
            <a:avLst/>
            <a:gdLst/>
            <a:ahLst/>
            <a:cxnLst/>
            <a:rect l="l" t="t" r="r" b="b"/>
            <a:pathLst>
              <a:path w="7203727" h="1008298">
                <a:moveTo>
                  <a:pt x="44813" y="0"/>
                </a:moveTo>
                <a:lnTo>
                  <a:pt x="7114099" y="0"/>
                </a:lnTo>
                <a:cubicBezTo>
                  <a:pt x="7163599" y="0"/>
                  <a:pt x="7203727" y="40128"/>
                  <a:pt x="7203727" y="89628"/>
                </a:cubicBezTo>
                <a:lnTo>
                  <a:pt x="7203727" y="918670"/>
                </a:lnTo>
                <a:cubicBezTo>
                  <a:pt x="7203727" y="968170"/>
                  <a:pt x="7163599" y="1008298"/>
                  <a:pt x="7114099" y="1008298"/>
                </a:cubicBez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9792" y="4795016"/>
            <a:ext cx="44813" cy="1008298"/>
          </a:xfrm>
          <a:custGeom>
            <a:avLst/>
            <a:gdLst/>
            <a:ahLst/>
            <a:cxnLst/>
            <a:rect l="l" t="t" r="r" b="b"/>
            <a:pathLst>
              <a:path w="44813" h="1008298">
                <a:moveTo>
                  <a:pt x="44813" y="0"/>
                </a:moveTo>
                <a:lnTo>
                  <a:pt x="44813" y="0"/>
                </a:lnTo>
                <a:lnTo>
                  <a:pt x="44813" y="1008298"/>
                </a:lnTo>
                <a:lnTo>
                  <a:pt x="44813" y="1008298"/>
                </a:lnTo>
                <a:cubicBezTo>
                  <a:pt x="20064" y="1008298"/>
                  <a:pt x="0" y="988234"/>
                  <a:pt x="0" y="963484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73858" y="5019082"/>
            <a:ext cx="179253" cy="179253"/>
          </a:xfrm>
          <a:custGeom>
            <a:avLst/>
            <a:gdLst/>
            <a:ahLst/>
            <a:cxnLst/>
            <a:rect l="l" t="t" r="r" b="b"/>
            <a:pathLst>
              <a:path w="179253" h="179253">
                <a:moveTo>
                  <a:pt x="89626" y="179253"/>
                </a:moveTo>
                <a:cubicBezTo>
                  <a:pt x="139093" y="179253"/>
                  <a:pt x="179253" y="139093"/>
                  <a:pt x="179253" y="89626"/>
                </a:cubicBezTo>
                <a:cubicBezTo>
                  <a:pt x="179253" y="40160"/>
                  <a:pt x="139093" y="0"/>
                  <a:pt x="89626" y="0"/>
                </a:cubicBezTo>
                <a:cubicBezTo>
                  <a:pt x="40160" y="0"/>
                  <a:pt x="0" y="40160"/>
                  <a:pt x="0" y="89626"/>
                </a:cubicBezTo>
                <a:cubicBezTo>
                  <a:pt x="0" y="139093"/>
                  <a:pt x="40160" y="179253"/>
                  <a:pt x="89626" y="179253"/>
                </a:cubicBezTo>
                <a:close/>
                <a:moveTo>
                  <a:pt x="58467" y="58467"/>
                </a:moveTo>
                <a:cubicBezTo>
                  <a:pt x="61758" y="55176"/>
                  <a:pt x="67080" y="55176"/>
                  <a:pt x="70336" y="58467"/>
                </a:cubicBezTo>
                <a:lnTo>
                  <a:pt x="89591" y="77723"/>
                </a:lnTo>
                <a:lnTo>
                  <a:pt x="108847" y="58467"/>
                </a:lnTo>
                <a:cubicBezTo>
                  <a:pt x="112138" y="55176"/>
                  <a:pt x="117460" y="55176"/>
                  <a:pt x="120716" y="58467"/>
                </a:cubicBezTo>
                <a:cubicBezTo>
                  <a:pt x="123972" y="61758"/>
                  <a:pt x="124007" y="67080"/>
                  <a:pt x="120716" y="70336"/>
                </a:cubicBezTo>
                <a:lnTo>
                  <a:pt x="101460" y="89591"/>
                </a:lnTo>
                <a:lnTo>
                  <a:pt x="120716" y="108847"/>
                </a:lnTo>
                <a:cubicBezTo>
                  <a:pt x="124007" y="112138"/>
                  <a:pt x="124007" y="117460"/>
                  <a:pt x="120716" y="120716"/>
                </a:cubicBezTo>
                <a:cubicBezTo>
                  <a:pt x="117425" y="123972"/>
                  <a:pt x="112103" y="124007"/>
                  <a:pt x="108847" y="120716"/>
                </a:cubicBezTo>
                <a:lnTo>
                  <a:pt x="89591" y="101460"/>
                </a:lnTo>
                <a:lnTo>
                  <a:pt x="70336" y="120716"/>
                </a:lnTo>
                <a:cubicBezTo>
                  <a:pt x="67045" y="124007"/>
                  <a:pt x="61723" y="124007"/>
                  <a:pt x="58467" y="120716"/>
                </a:cubicBezTo>
                <a:cubicBezTo>
                  <a:pt x="55211" y="117425"/>
                  <a:pt x="55176" y="112103"/>
                  <a:pt x="58467" y="108847"/>
                </a:cubicBezTo>
                <a:lnTo>
                  <a:pt x="77723" y="89591"/>
                </a:lnTo>
                <a:lnTo>
                  <a:pt x="58467" y="70336"/>
                </a:lnTo>
                <a:cubicBezTo>
                  <a:pt x="55176" y="67045"/>
                  <a:pt x="55176" y="61723"/>
                  <a:pt x="58467" y="58467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65144" y="4974269"/>
            <a:ext cx="829045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程序 Bug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1451" y="5332775"/>
            <a:ext cx="6912441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写入逻辑出错，导致数据文件未被元数据引用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589" y="5993770"/>
            <a:ext cx="7203727" cy="1030704"/>
          </a:xfrm>
          <a:custGeom>
            <a:avLst/>
            <a:gdLst/>
            <a:ahLst/>
            <a:cxnLst/>
            <a:rect l="l" t="t" r="r" b="b"/>
            <a:pathLst>
              <a:path w="7203727" h="1030704">
                <a:moveTo>
                  <a:pt x="89630" y="0"/>
                </a:moveTo>
                <a:lnTo>
                  <a:pt x="7114097" y="0"/>
                </a:lnTo>
                <a:cubicBezTo>
                  <a:pt x="7163598" y="0"/>
                  <a:pt x="7203727" y="40129"/>
                  <a:pt x="7203727" y="89630"/>
                </a:cubicBezTo>
                <a:lnTo>
                  <a:pt x="7203727" y="941074"/>
                </a:lnTo>
                <a:cubicBezTo>
                  <a:pt x="7203727" y="990576"/>
                  <a:pt x="7163598" y="1030704"/>
                  <a:pt x="7114097" y="1030704"/>
                </a:cubicBezTo>
                <a:lnTo>
                  <a:pt x="89630" y="1030704"/>
                </a:lnTo>
                <a:cubicBezTo>
                  <a:pt x="40129" y="1030704"/>
                  <a:pt x="0" y="990576"/>
                  <a:pt x="0" y="941074"/>
                </a:cubicBezTo>
                <a:lnTo>
                  <a:pt x="0" y="89630"/>
                </a:lnTo>
                <a:cubicBezTo>
                  <a:pt x="0" y="40129"/>
                  <a:pt x="40129" y="0"/>
                  <a:pt x="89630" y="0"/>
                </a:cubicBezTo>
                <a:close/>
              </a:path>
            </a:pathLst>
          </a:custGeom>
          <a:solidFill>
            <a:srgbClr val="F6AD55">
              <a:alpha val="10196"/>
            </a:srgbClr>
          </a:solidFill>
          <a:ln w="254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9045" y="6184226"/>
            <a:ext cx="691244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9045" y="6542732"/>
            <a:ext cx="6912441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这些文件</a:t>
            </a:r>
            <a:r>
              <a:rPr lang="en-US" sz="1411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不在任何 Metadata 中记录</a:t>
            </a:r>
            <a:r>
              <a:rPr lang="en-US" sz="141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，被称为</a:t>
            </a:r>
            <a:r>
              <a:rPr lang="en-US" sz="1411" dirty="0">
                <a:solidFill>
                  <a:srgbClr val="F6AD55"/>
                </a:solidFill>
                <a:highlight>
                  <a:srgbClr val="F6AD55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"孤儿文件"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15701" y="1635683"/>
            <a:ext cx="7584640" cy="3831531"/>
          </a:xfrm>
          <a:custGeom>
            <a:avLst/>
            <a:gdLst/>
            <a:ahLst/>
            <a:cxnLst/>
            <a:rect l="l" t="t" r="r" b="b"/>
            <a:pathLst>
              <a:path w="7584640" h="3831531">
                <a:moveTo>
                  <a:pt x="44813" y="0"/>
                </a:moveTo>
                <a:lnTo>
                  <a:pt x="7539826" y="0"/>
                </a:lnTo>
                <a:cubicBezTo>
                  <a:pt x="7564576" y="0"/>
                  <a:pt x="7584640" y="20064"/>
                  <a:pt x="7584640" y="44813"/>
                </a:cubicBezTo>
                <a:lnTo>
                  <a:pt x="7584640" y="3741912"/>
                </a:lnTo>
                <a:cubicBezTo>
                  <a:pt x="7584640" y="3791407"/>
                  <a:pt x="7544516" y="3831531"/>
                  <a:pt x="7495020" y="3831531"/>
                </a:cubicBezTo>
                <a:lnTo>
                  <a:pt x="89620" y="3831531"/>
                </a:lnTo>
                <a:cubicBezTo>
                  <a:pt x="40124" y="3831531"/>
                  <a:pt x="0" y="3791407"/>
                  <a:pt x="0" y="3741912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215701" y="1635683"/>
            <a:ext cx="7584640" cy="44813"/>
          </a:xfrm>
          <a:custGeom>
            <a:avLst/>
            <a:gdLst/>
            <a:ahLst/>
            <a:cxnLst/>
            <a:rect l="l" t="t" r="r" b="b"/>
            <a:pathLst>
              <a:path w="7584640" h="44813">
                <a:moveTo>
                  <a:pt x="44813" y="0"/>
                </a:moveTo>
                <a:lnTo>
                  <a:pt x="7539826" y="0"/>
                </a:lnTo>
                <a:cubicBezTo>
                  <a:pt x="7564576" y="0"/>
                  <a:pt x="7584640" y="20064"/>
                  <a:pt x="7584640" y="44813"/>
                </a:cubicBezTo>
                <a:lnTo>
                  <a:pt x="7584640" y="44813"/>
                </a:lnTo>
                <a:lnTo>
                  <a:pt x="0" y="44813"/>
                </a:ln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394954" y="1837343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51800" y="1994189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182054" y="91027"/>
                </a:moveTo>
                <a:cubicBezTo>
                  <a:pt x="182054" y="111114"/>
                  <a:pt x="175533" y="129670"/>
                  <a:pt x="164549" y="144724"/>
                </a:cubicBezTo>
                <a:lnTo>
                  <a:pt x="219952" y="200172"/>
                </a:lnTo>
                <a:cubicBezTo>
                  <a:pt x="225423" y="205642"/>
                  <a:pt x="225423" y="214526"/>
                  <a:pt x="219952" y="219996"/>
                </a:cubicBezTo>
                <a:cubicBezTo>
                  <a:pt x="214482" y="225467"/>
                  <a:pt x="205598" y="225467"/>
                  <a:pt x="200128" y="219996"/>
                </a:cubicBezTo>
                <a:lnTo>
                  <a:pt x="144724" y="164549"/>
                </a:lnTo>
                <a:cubicBezTo>
                  <a:pt x="129670" y="175533"/>
                  <a:pt x="111114" y="182054"/>
                  <a:pt x="91027" y="182054"/>
                </a:cubicBezTo>
                <a:cubicBezTo>
                  <a:pt x="40743" y="182054"/>
                  <a:pt x="0" y="141310"/>
                  <a:pt x="0" y="91027"/>
                </a:cubicBezTo>
                <a:cubicBezTo>
                  <a:pt x="0" y="40743"/>
                  <a:pt x="40743" y="0"/>
                  <a:pt x="91027" y="0"/>
                </a:cubicBezTo>
                <a:cubicBezTo>
                  <a:pt x="141310" y="0"/>
                  <a:pt x="182054" y="40743"/>
                  <a:pt x="182054" y="91027"/>
                </a:cubicBezTo>
                <a:close/>
                <a:moveTo>
                  <a:pt x="91027" y="154045"/>
                </a:moveTo>
                <a:cubicBezTo>
                  <a:pt x="125808" y="154045"/>
                  <a:pt x="154045" y="125808"/>
                  <a:pt x="154045" y="91027"/>
                </a:cubicBezTo>
                <a:cubicBezTo>
                  <a:pt x="154045" y="56246"/>
                  <a:pt x="125808" y="28008"/>
                  <a:pt x="91027" y="28008"/>
                </a:cubicBezTo>
                <a:cubicBezTo>
                  <a:pt x="56246" y="28008"/>
                  <a:pt x="28008" y="56246"/>
                  <a:pt x="28008" y="91027"/>
                </a:cubicBezTo>
                <a:cubicBezTo>
                  <a:pt x="28008" y="125808"/>
                  <a:pt x="56246" y="154045"/>
                  <a:pt x="91027" y="154045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9067152" y="1949376"/>
            <a:ext cx="100829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识别机制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94954" y="2554354"/>
            <a:ext cx="7226134" cy="851451"/>
          </a:xfrm>
          <a:custGeom>
            <a:avLst/>
            <a:gdLst/>
            <a:ahLst/>
            <a:cxnLst/>
            <a:rect l="l" t="t" r="r" b="b"/>
            <a:pathLst>
              <a:path w="7226134" h="851451">
                <a:moveTo>
                  <a:pt x="89624" y="0"/>
                </a:moveTo>
                <a:lnTo>
                  <a:pt x="7136510" y="0"/>
                </a:lnTo>
                <a:cubicBezTo>
                  <a:pt x="7186008" y="0"/>
                  <a:pt x="7226134" y="40126"/>
                  <a:pt x="7226134" y="89624"/>
                </a:cubicBezTo>
                <a:lnTo>
                  <a:pt x="7226134" y="761828"/>
                </a:lnTo>
                <a:cubicBezTo>
                  <a:pt x="7226134" y="811325"/>
                  <a:pt x="7186008" y="851451"/>
                  <a:pt x="7136510" y="851451"/>
                </a:cubicBezTo>
                <a:lnTo>
                  <a:pt x="89624" y="851451"/>
                </a:lnTo>
                <a:cubicBezTo>
                  <a:pt x="40159" y="851451"/>
                  <a:pt x="0" y="811292"/>
                  <a:pt x="0" y="761828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529394" y="2688794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37400" y="2733607"/>
            <a:ext cx="123236" cy="179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9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887899" y="2688794"/>
            <a:ext cx="80663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列举目录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29394" y="3047300"/>
            <a:ext cx="7035677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扫描数据目录下的所有文件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94954" y="3495432"/>
            <a:ext cx="7226134" cy="851451"/>
          </a:xfrm>
          <a:custGeom>
            <a:avLst/>
            <a:gdLst/>
            <a:ahLst/>
            <a:cxnLst/>
            <a:rect l="l" t="t" r="r" b="b"/>
            <a:pathLst>
              <a:path w="7226134" h="851451">
                <a:moveTo>
                  <a:pt x="89624" y="0"/>
                </a:moveTo>
                <a:lnTo>
                  <a:pt x="7136510" y="0"/>
                </a:lnTo>
                <a:cubicBezTo>
                  <a:pt x="7186008" y="0"/>
                  <a:pt x="7226134" y="40126"/>
                  <a:pt x="7226134" y="89624"/>
                </a:cubicBezTo>
                <a:lnTo>
                  <a:pt x="7226134" y="761828"/>
                </a:lnTo>
                <a:cubicBezTo>
                  <a:pt x="7226134" y="811325"/>
                  <a:pt x="7186008" y="851451"/>
                  <a:pt x="7136510" y="851451"/>
                </a:cubicBezTo>
                <a:lnTo>
                  <a:pt x="89624" y="851451"/>
                </a:lnTo>
                <a:cubicBezTo>
                  <a:pt x="40159" y="851451"/>
                  <a:pt x="0" y="811292"/>
                  <a:pt x="0" y="761828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529394" y="3629872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626022" y="3674685"/>
            <a:ext cx="145643" cy="179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9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87899" y="3629872"/>
            <a:ext cx="985891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对比元数据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29394" y="3988378"/>
            <a:ext cx="7035677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对比 Metadata 中的文件列表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394954" y="4436510"/>
            <a:ext cx="7226134" cy="851451"/>
          </a:xfrm>
          <a:custGeom>
            <a:avLst/>
            <a:gdLst/>
            <a:ahLst/>
            <a:cxnLst/>
            <a:rect l="l" t="t" r="r" b="b"/>
            <a:pathLst>
              <a:path w="7226134" h="851451">
                <a:moveTo>
                  <a:pt x="89624" y="0"/>
                </a:moveTo>
                <a:lnTo>
                  <a:pt x="7136510" y="0"/>
                </a:lnTo>
                <a:cubicBezTo>
                  <a:pt x="7186008" y="0"/>
                  <a:pt x="7226134" y="40126"/>
                  <a:pt x="7226134" y="89624"/>
                </a:cubicBezTo>
                <a:lnTo>
                  <a:pt x="7226134" y="761828"/>
                </a:lnTo>
                <a:cubicBezTo>
                  <a:pt x="7226134" y="811325"/>
                  <a:pt x="7186008" y="851451"/>
                  <a:pt x="7136510" y="851451"/>
                </a:cubicBezTo>
                <a:lnTo>
                  <a:pt x="89624" y="851451"/>
                </a:lnTo>
                <a:cubicBezTo>
                  <a:pt x="40159" y="851451"/>
                  <a:pt x="0" y="811292"/>
                  <a:pt x="0" y="761828"/>
                </a:cubicBezTo>
                <a:lnTo>
                  <a:pt x="0" y="89624"/>
                </a:lnTo>
                <a:cubicBezTo>
                  <a:pt x="0" y="40159"/>
                  <a:pt x="40159" y="0"/>
                  <a:pt x="89624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529394" y="4570950"/>
            <a:ext cx="268879" cy="268879"/>
          </a:xfrm>
          <a:custGeom>
            <a:avLst/>
            <a:gdLst/>
            <a:ahLst/>
            <a:cxnLst/>
            <a:rect l="l" t="t" r="r" b="b"/>
            <a:pathLst>
              <a:path w="268879" h="268879">
                <a:moveTo>
                  <a:pt x="134440" y="0"/>
                </a:moveTo>
                <a:lnTo>
                  <a:pt x="134440" y="0"/>
                </a:lnTo>
                <a:cubicBezTo>
                  <a:pt x="208689" y="0"/>
                  <a:pt x="268879" y="60191"/>
                  <a:pt x="268879" y="134440"/>
                </a:cubicBezTo>
                <a:lnTo>
                  <a:pt x="268879" y="134440"/>
                </a:lnTo>
                <a:cubicBezTo>
                  <a:pt x="268879" y="208689"/>
                  <a:pt x="208689" y="268879"/>
                  <a:pt x="134440" y="268879"/>
                </a:cubicBezTo>
                <a:lnTo>
                  <a:pt x="134440" y="268879"/>
                </a:lnTo>
                <a:cubicBezTo>
                  <a:pt x="60191" y="268879"/>
                  <a:pt x="0" y="208689"/>
                  <a:pt x="0" y="134440"/>
                </a:cubicBezTo>
                <a:lnTo>
                  <a:pt x="0" y="134440"/>
                </a:lnTo>
                <a:cubicBezTo>
                  <a:pt x="0" y="60191"/>
                  <a:pt x="60191" y="0"/>
                  <a:pt x="134440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624272" y="4615763"/>
            <a:ext cx="145643" cy="1792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9" b="1" dirty="0">
                <a:solidFill>
                  <a:srgbClr val="1A202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87899" y="4570950"/>
            <a:ext cx="806638" cy="268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1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识别孤儿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29394" y="4929456"/>
            <a:ext cx="7035677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找出不在列表中的文件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15701" y="5624061"/>
            <a:ext cx="7584640" cy="2263068"/>
          </a:xfrm>
          <a:custGeom>
            <a:avLst/>
            <a:gdLst/>
            <a:ahLst/>
            <a:cxnLst/>
            <a:rect l="l" t="t" r="r" b="b"/>
            <a:pathLst>
              <a:path w="7584640" h="2263068">
                <a:moveTo>
                  <a:pt x="44813" y="0"/>
                </a:moveTo>
                <a:lnTo>
                  <a:pt x="7539826" y="0"/>
                </a:lnTo>
                <a:cubicBezTo>
                  <a:pt x="7564576" y="0"/>
                  <a:pt x="7584640" y="20064"/>
                  <a:pt x="7584640" y="44813"/>
                </a:cubicBezTo>
                <a:lnTo>
                  <a:pt x="7584640" y="2173451"/>
                </a:lnTo>
                <a:cubicBezTo>
                  <a:pt x="7584640" y="2222945"/>
                  <a:pt x="7544516" y="2263068"/>
                  <a:pt x="7495022" y="2263068"/>
                </a:cubicBezTo>
                <a:lnTo>
                  <a:pt x="89618" y="2263068"/>
                </a:lnTo>
                <a:cubicBezTo>
                  <a:pt x="40123" y="2263068"/>
                  <a:pt x="0" y="2222945"/>
                  <a:pt x="0" y="2173451"/>
                </a:cubicBez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215701" y="5624061"/>
            <a:ext cx="7584640" cy="44813"/>
          </a:xfrm>
          <a:custGeom>
            <a:avLst/>
            <a:gdLst/>
            <a:ahLst/>
            <a:cxnLst/>
            <a:rect l="l" t="t" r="r" b="b"/>
            <a:pathLst>
              <a:path w="7584640" h="44813">
                <a:moveTo>
                  <a:pt x="44813" y="0"/>
                </a:moveTo>
                <a:lnTo>
                  <a:pt x="7539826" y="0"/>
                </a:lnTo>
                <a:cubicBezTo>
                  <a:pt x="7564576" y="0"/>
                  <a:pt x="7584640" y="20064"/>
                  <a:pt x="7584640" y="44813"/>
                </a:cubicBezTo>
                <a:lnTo>
                  <a:pt x="7584640" y="44813"/>
                </a:lnTo>
                <a:lnTo>
                  <a:pt x="0" y="44813"/>
                </a:lnTo>
                <a:lnTo>
                  <a:pt x="0" y="44813"/>
                </a:lnTo>
                <a:cubicBezTo>
                  <a:pt x="0" y="20064"/>
                  <a:pt x="20064" y="0"/>
                  <a:pt x="44813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8394954" y="5825720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89628" y="0"/>
                </a:moveTo>
                <a:lnTo>
                  <a:pt x="448131" y="0"/>
                </a:lnTo>
                <a:cubicBezTo>
                  <a:pt x="497631" y="0"/>
                  <a:pt x="537759" y="40128"/>
                  <a:pt x="537759" y="89628"/>
                </a:cubicBezTo>
                <a:lnTo>
                  <a:pt x="537759" y="448131"/>
                </a:lnTo>
                <a:cubicBezTo>
                  <a:pt x="537759" y="497631"/>
                  <a:pt x="497631" y="537759"/>
                  <a:pt x="448131" y="537759"/>
                </a:cubicBezTo>
                <a:lnTo>
                  <a:pt x="89628" y="537759"/>
                </a:lnTo>
                <a:cubicBezTo>
                  <a:pt x="40128" y="537759"/>
                  <a:pt x="0" y="497631"/>
                  <a:pt x="0" y="448131"/>
                </a:cubicBezTo>
                <a:lnTo>
                  <a:pt x="0" y="89628"/>
                </a:lnTo>
                <a:cubicBezTo>
                  <a:pt x="0" y="40161"/>
                  <a:pt x="40161" y="0"/>
                  <a:pt x="89628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8551800" y="5982567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4114" y="51903"/>
                </a:moveTo>
                <a:cubicBezTo>
                  <a:pt x="-1357" y="46432"/>
                  <a:pt x="-1357" y="37549"/>
                  <a:pt x="4114" y="32078"/>
                </a:cubicBezTo>
                <a:cubicBezTo>
                  <a:pt x="9584" y="26608"/>
                  <a:pt x="18468" y="26608"/>
                  <a:pt x="23938" y="32078"/>
                </a:cubicBezTo>
                <a:lnTo>
                  <a:pt x="93959" y="102099"/>
                </a:lnTo>
                <a:cubicBezTo>
                  <a:pt x="99429" y="107569"/>
                  <a:pt x="99429" y="116453"/>
                  <a:pt x="93959" y="121924"/>
                </a:cubicBezTo>
                <a:lnTo>
                  <a:pt x="23938" y="191944"/>
                </a:lnTo>
                <a:cubicBezTo>
                  <a:pt x="18468" y="197415"/>
                  <a:pt x="9584" y="197415"/>
                  <a:pt x="4114" y="191944"/>
                </a:cubicBezTo>
                <a:cubicBezTo>
                  <a:pt x="-1357" y="186474"/>
                  <a:pt x="-1357" y="177590"/>
                  <a:pt x="4114" y="172120"/>
                </a:cubicBezTo>
                <a:lnTo>
                  <a:pt x="64200" y="112033"/>
                </a:lnTo>
                <a:lnTo>
                  <a:pt x="4114" y="51903"/>
                </a:lnTo>
                <a:close/>
                <a:moveTo>
                  <a:pt x="98029" y="168050"/>
                </a:moveTo>
                <a:lnTo>
                  <a:pt x="210062" y="168050"/>
                </a:lnTo>
                <a:cubicBezTo>
                  <a:pt x="217808" y="168050"/>
                  <a:pt x="224066" y="174308"/>
                  <a:pt x="224066" y="182054"/>
                </a:cubicBezTo>
                <a:cubicBezTo>
                  <a:pt x="224066" y="189800"/>
                  <a:pt x="217808" y="196058"/>
                  <a:pt x="210062" y="196058"/>
                </a:cubicBezTo>
                <a:lnTo>
                  <a:pt x="98029" y="196058"/>
                </a:lnTo>
                <a:cubicBezTo>
                  <a:pt x="90283" y="196058"/>
                  <a:pt x="84025" y="189800"/>
                  <a:pt x="84025" y="182054"/>
                </a:cubicBezTo>
                <a:cubicBezTo>
                  <a:pt x="84025" y="174308"/>
                  <a:pt x="90283" y="168050"/>
                  <a:pt x="98029" y="1680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9067152" y="5937753"/>
            <a:ext cx="100829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清理命令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94954" y="6497919"/>
            <a:ext cx="7226134" cy="1209957"/>
          </a:xfrm>
          <a:custGeom>
            <a:avLst/>
            <a:gdLst/>
            <a:ahLst/>
            <a:cxnLst/>
            <a:rect l="l" t="t" r="r" b="b"/>
            <a:pathLst>
              <a:path w="7226134" h="1209957">
                <a:moveTo>
                  <a:pt x="89622" y="0"/>
                </a:moveTo>
                <a:lnTo>
                  <a:pt x="7136512" y="0"/>
                </a:lnTo>
                <a:cubicBezTo>
                  <a:pt x="7186009" y="0"/>
                  <a:pt x="7226134" y="40125"/>
                  <a:pt x="7226134" y="89622"/>
                </a:cubicBezTo>
                <a:lnTo>
                  <a:pt x="7226134" y="1120336"/>
                </a:lnTo>
                <a:cubicBezTo>
                  <a:pt x="7226134" y="1169832"/>
                  <a:pt x="7186009" y="1209957"/>
                  <a:pt x="7136512" y="1209957"/>
                </a:cubicBezTo>
                <a:lnTo>
                  <a:pt x="89622" y="1209957"/>
                </a:lnTo>
                <a:cubicBezTo>
                  <a:pt x="40158" y="1209957"/>
                  <a:pt x="0" y="1169799"/>
                  <a:pt x="0" y="1120336"/>
                </a:cubicBezTo>
                <a:lnTo>
                  <a:pt x="0" y="89622"/>
                </a:lnTo>
                <a:cubicBezTo>
                  <a:pt x="0" y="40158"/>
                  <a:pt x="40158" y="0"/>
                  <a:pt x="89622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74207" y="6677172"/>
            <a:ext cx="6946051" cy="22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5" b="1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Spark SQL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74207" y="6990864"/>
            <a:ext cx="6867628" cy="537759"/>
          </a:xfrm>
          <a:custGeom>
            <a:avLst/>
            <a:gdLst/>
            <a:ahLst/>
            <a:cxnLst/>
            <a:rect l="l" t="t" r="r" b="b"/>
            <a:pathLst>
              <a:path w="6867628" h="537759">
                <a:moveTo>
                  <a:pt x="44811" y="0"/>
                </a:moveTo>
                <a:lnTo>
                  <a:pt x="6822816" y="0"/>
                </a:lnTo>
                <a:cubicBezTo>
                  <a:pt x="6847565" y="0"/>
                  <a:pt x="6867628" y="20063"/>
                  <a:pt x="6867628" y="44811"/>
                </a:cubicBezTo>
                <a:lnTo>
                  <a:pt x="6867628" y="492947"/>
                </a:lnTo>
                <a:cubicBezTo>
                  <a:pt x="6867628" y="517696"/>
                  <a:pt x="6847565" y="537759"/>
                  <a:pt x="6822816" y="537759"/>
                </a:cubicBezTo>
                <a:lnTo>
                  <a:pt x="44811" y="537759"/>
                </a:lnTo>
                <a:cubicBezTo>
                  <a:pt x="20079" y="537759"/>
                  <a:pt x="0" y="517679"/>
                  <a:pt x="0" y="492947"/>
                </a:cubicBezTo>
                <a:lnTo>
                  <a:pt x="0" y="44811"/>
                </a:lnTo>
                <a:cubicBezTo>
                  <a:pt x="0" y="20079"/>
                  <a:pt x="20079" y="0"/>
                  <a:pt x="44811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74207" y="6990864"/>
            <a:ext cx="6957254" cy="537759"/>
          </a:xfrm>
          <a:prstGeom prst="rect">
            <a:avLst/>
          </a:prstGeom>
          <a:noFill/>
          <a:ln/>
        </p:spPr>
        <p:txBody>
          <a:bodyPr wrap="square" lIns="134440" tIns="134440" rIns="134440" bIns="134440" rtlCol="0" anchor="ctr"/>
          <a:lstStyle/>
          <a:p>
            <a:pPr>
              <a:lnSpc>
                <a:spcPct val="130000"/>
              </a:lnSpc>
            </a:pPr>
            <a:r>
              <a:rPr lang="en-US" sz="141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 catalog.system.remove_orphan_files(table)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59336" y="7969801"/>
            <a:ext cx="15337329" cy="1053111"/>
          </a:xfrm>
          <a:custGeom>
            <a:avLst/>
            <a:gdLst/>
            <a:ahLst/>
            <a:cxnLst/>
            <a:rect l="l" t="t" r="r" b="b"/>
            <a:pathLst>
              <a:path w="15337329" h="1053111">
                <a:moveTo>
                  <a:pt x="89630" y="0"/>
                </a:moveTo>
                <a:lnTo>
                  <a:pt x="15247698" y="0"/>
                </a:lnTo>
                <a:cubicBezTo>
                  <a:pt x="15297200" y="0"/>
                  <a:pt x="15337329" y="40129"/>
                  <a:pt x="15337329" y="89630"/>
                </a:cubicBezTo>
                <a:lnTo>
                  <a:pt x="15337329" y="963481"/>
                </a:lnTo>
                <a:cubicBezTo>
                  <a:pt x="15337329" y="1012982"/>
                  <a:pt x="15297200" y="1053111"/>
                  <a:pt x="15247698" y="1053111"/>
                </a:cubicBezTo>
                <a:lnTo>
                  <a:pt x="89630" y="1053111"/>
                </a:lnTo>
                <a:cubicBezTo>
                  <a:pt x="40162" y="1053111"/>
                  <a:pt x="0" y="1012949"/>
                  <a:pt x="0" y="963481"/>
                </a:cubicBezTo>
                <a:lnTo>
                  <a:pt x="0" y="89630"/>
                </a:lnTo>
                <a:cubicBezTo>
                  <a:pt x="0" y="40162"/>
                  <a:pt x="40162" y="0"/>
                  <a:pt x="89630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49792" y="8227477"/>
            <a:ext cx="537759" cy="537759"/>
          </a:xfrm>
          <a:custGeom>
            <a:avLst/>
            <a:gdLst/>
            <a:ahLst/>
            <a:cxnLst/>
            <a:rect l="l" t="t" r="r" b="b"/>
            <a:pathLst>
              <a:path w="537759" h="537759">
                <a:moveTo>
                  <a:pt x="268879" y="0"/>
                </a:moveTo>
                <a:lnTo>
                  <a:pt x="268879" y="0"/>
                </a:lnTo>
                <a:cubicBezTo>
                  <a:pt x="417377" y="0"/>
                  <a:pt x="537759" y="120381"/>
                  <a:pt x="537759" y="268879"/>
                </a:cubicBezTo>
                <a:lnTo>
                  <a:pt x="537759" y="268879"/>
                </a:lnTo>
                <a:cubicBezTo>
                  <a:pt x="537759" y="417377"/>
                  <a:pt x="417377" y="537759"/>
                  <a:pt x="268879" y="537759"/>
                </a:cubicBezTo>
                <a:lnTo>
                  <a:pt x="268879" y="537759"/>
                </a:lnTo>
                <a:cubicBezTo>
                  <a:pt x="120381" y="537759"/>
                  <a:pt x="0" y="417377"/>
                  <a:pt x="0" y="268879"/>
                </a:cubicBezTo>
                <a:lnTo>
                  <a:pt x="0" y="268879"/>
                </a:lnTo>
                <a:cubicBezTo>
                  <a:pt x="0" y="120381"/>
                  <a:pt x="120381" y="0"/>
                  <a:pt x="268879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06638" y="8384323"/>
            <a:ext cx="224066" cy="224066"/>
          </a:xfrm>
          <a:custGeom>
            <a:avLst/>
            <a:gdLst/>
            <a:ahLst/>
            <a:cxnLst/>
            <a:rect l="l" t="t" r="r" b="b"/>
            <a:pathLst>
              <a:path w="224066" h="224066">
                <a:moveTo>
                  <a:pt x="112033" y="0"/>
                </a:moveTo>
                <a:cubicBezTo>
                  <a:pt x="114046" y="0"/>
                  <a:pt x="116059" y="438"/>
                  <a:pt x="117897" y="1269"/>
                </a:cubicBezTo>
                <a:lnTo>
                  <a:pt x="200347" y="36236"/>
                </a:lnTo>
                <a:cubicBezTo>
                  <a:pt x="209975" y="40306"/>
                  <a:pt x="217152" y="49802"/>
                  <a:pt x="217108" y="61268"/>
                </a:cubicBezTo>
                <a:cubicBezTo>
                  <a:pt x="216889" y="104681"/>
                  <a:pt x="199034" y="184111"/>
                  <a:pt x="123630" y="220215"/>
                </a:cubicBezTo>
                <a:cubicBezTo>
                  <a:pt x="116322" y="223716"/>
                  <a:pt x="107832" y="223716"/>
                  <a:pt x="100523" y="220215"/>
                </a:cubicBezTo>
                <a:cubicBezTo>
                  <a:pt x="25076" y="184111"/>
                  <a:pt x="7265" y="104681"/>
                  <a:pt x="7046" y="61268"/>
                </a:cubicBezTo>
                <a:cubicBezTo>
                  <a:pt x="7002" y="49802"/>
                  <a:pt x="14179" y="40306"/>
                  <a:pt x="23807" y="36236"/>
                </a:cubicBezTo>
                <a:lnTo>
                  <a:pt x="106213" y="1269"/>
                </a:lnTo>
                <a:cubicBezTo>
                  <a:pt x="108051" y="438"/>
                  <a:pt x="110020" y="0"/>
                  <a:pt x="112033" y="0"/>
                </a:cubicBezTo>
                <a:close/>
                <a:moveTo>
                  <a:pt x="112033" y="29234"/>
                </a:moveTo>
                <a:lnTo>
                  <a:pt x="112033" y="194701"/>
                </a:lnTo>
                <a:cubicBezTo>
                  <a:pt x="172426" y="165468"/>
                  <a:pt x="188662" y="100698"/>
                  <a:pt x="189056" y="61925"/>
                </a:cubicBezTo>
                <a:lnTo>
                  <a:pt x="112033" y="29277"/>
                </a:lnTo>
                <a:lnTo>
                  <a:pt x="112033" y="29277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366804" y="8160257"/>
            <a:ext cx="14351438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4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安全清理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366804" y="8518763"/>
            <a:ext cx="14340234" cy="31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通过列举与对比机制，安全识别并删除孤儿文件，</a:t>
            </a:r>
            <a:r>
              <a:rPr lang="en-US" sz="158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避免误删有效数据</a:t>
            </a:r>
            <a:r>
              <a:rPr lang="en-US" sz="158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，保持存储空间的健康状态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8822" y="478822"/>
            <a:ext cx="15394121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b="1" kern="0" spc="15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8822" y="861879"/>
            <a:ext cx="15513826" cy="478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93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如何实现"像数据库一样管理文件"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8822" y="1484348"/>
            <a:ext cx="1149172" cy="47882"/>
          </a:xfrm>
          <a:custGeom>
            <a:avLst/>
            <a:gdLst/>
            <a:ahLst/>
            <a:cxnLst/>
            <a:rect l="l" t="t" r="r" b="b"/>
            <a:pathLst>
              <a:path w="1149172" h="47882">
                <a:moveTo>
                  <a:pt x="23941" y="0"/>
                </a:moveTo>
                <a:lnTo>
                  <a:pt x="1125231" y="0"/>
                </a:lnTo>
                <a:cubicBezTo>
                  <a:pt x="1138454" y="0"/>
                  <a:pt x="1149172" y="10719"/>
                  <a:pt x="1149172" y="23941"/>
                </a:cubicBezTo>
                <a:lnTo>
                  <a:pt x="1149172" y="23941"/>
                </a:lnTo>
                <a:cubicBezTo>
                  <a:pt x="1149172" y="37163"/>
                  <a:pt x="1138454" y="47882"/>
                  <a:pt x="1125231" y="47882"/>
                </a:cubicBezTo>
                <a:lnTo>
                  <a:pt x="23941" y="47882"/>
                </a:lnTo>
                <a:cubicBezTo>
                  <a:pt x="10728" y="47882"/>
                  <a:pt x="0" y="37155"/>
                  <a:pt x="0" y="23941"/>
                </a:cubicBezTo>
                <a:lnTo>
                  <a:pt x="0" y="23941"/>
                </a:lnTo>
                <a:cubicBezTo>
                  <a:pt x="0" y="10728"/>
                  <a:pt x="10728" y="0"/>
                  <a:pt x="23941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02763" y="1723758"/>
            <a:ext cx="7529473" cy="2956725"/>
          </a:xfrm>
          <a:custGeom>
            <a:avLst/>
            <a:gdLst/>
            <a:ahLst/>
            <a:cxnLst/>
            <a:rect l="l" t="t" r="r" b="b"/>
            <a:pathLst>
              <a:path w="7529473" h="2956725">
                <a:moveTo>
                  <a:pt x="47882" y="0"/>
                </a:moveTo>
                <a:lnTo>
                  <a:pt x="7433704" y="0"/>
                </a:lnTo>
                <a:cubicBezTo>
                  <a:pt x="7486596" y="0"/>
                  <a:pt x="7529473" y="42877"/>
                  <a:pt x="7529473" y="95768"/>
                </a:cubicBezTo>
                <a:lnTo>
                  <a:pt x="7529473" y="2860956"/>
                </a:lnTo>
                <a:cubicBezTo>
                  <a:pt x="7529473" y="2913848"/>
                  <a:pt x="7486596" y="2956725"/>
                  <a:pt x="7433704" y="2956725"/>
                </a:cubicBezTo>
                <a:lnTo>
                  <a:pt x="47882" y="2956725"/>
                </a:lnTo>
                <a:cubicBezTo>
                  <a:pt x="21438" y="2956725"/>
                  <a:pt x="0" y="2935287"/>
                  <a:pt x="0" y="29088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02763" y="1723758"/>
            <a:ext cx="47882" cy="2956725"/>
          </a:xfrm>
          <a:custGeom>
            <a:avLst/>
            <a:gdLst/>
            <a:ahLst/>
            <a:cxnLst/>
            <a:rect l="l" t="t" r="r" b="b"/>
            <a:pathLst>
              <a:path w="47882" h="2956725">
                <a:moveTo>
                  <a:pt x="47882" y="0"/>
                </a:moveTo>
                <a:lnTo>
                  <a:pt x="47882" y="0"/>
                </a:lnTo>
                <a:lnTo>
                  <a:pt x="47882" y="2956725"/>
                </a:lnTo>
                <a:lnTo>
                  <a:pt x="47882" y="2956725"/>
                </a:lnTo>
                <a:cubicBezTo>
                  <a:pt x="21438" y="2956725"/>
                  <a:pt x="0" y="2935287"/>
                  <a:pt x="0" y="29088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18233" y="1915287"/>
            <a:ext cx="766115" cy="766115"/>
          </a:xfrm>
          <a:custGeom>
            <a:avLst/>
            <a:gdLst/>
            <a:ahLst/>
            <a:cxnLst/>
            <a:rect l="l" t="t" r="r" b="b"/>
            <a:pathLst>
              <a:path w="766115" h="766115">
                <a:moveTo>
                  <a:pt x="95764" y="0"/>
                </a:moveTo>
                <a:lnTo>
                  <a:pt x="670351" y="0"/>
                </a:lnTo>
                <a:cubicBezTo>
                  <a:pt x="723240" y="0"/>
                  <a:pt x="766115" y="42875"/>
                  <a:pt x="766115" y="95764"/>
                </a:cubicBezTo>
                <a:lnTo>
                  <a:pt x="766115" y="670351"/>
                </a:lnTo>
                <a:cubicBezTo>
                  <a:pt x="766115" y="723240"/>
                  <a:pt x="723240" y="766115"/>
                  <a:pt x="670351" y="766115"/>
                </a:cubicBezTo>
                <a:lnTo>
                  <a:pt x="95764" y="766115"/>
                </a:lnTo>
                <a:cubicBezTo>
                  <a:pt x="42875" y="766115"/>
                  <a:pt x="0" y="723240"/>
                  <a:pt x="0" y="670351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14905" y="2082875"/>
            <a:ext cx="550645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2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5876" y="1915287"/>
            <a:ext cx="1616024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显式元数据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75876" y="2394109"/>
            <a:ext cx="1568141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Explicit Metadata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8233" y="2825049"/>
            <a:ext cx="7218239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</a:t>
            </a:r>
            <a:r>
              <a:rPr lang="en-US" sz="150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文件清单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代替目录扫描，解决 S3 Listing 性能问题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8233" y="3279929"/>
            <a:ext cx="7122474" cy="1173113"/>
          </a:xfrm>
          <a:custGeom>
            <a:avLst/>
            <a:gdLst/>
            <a:ahLst/>
            <a:cxnLst/>
            <a:rect l="l" t="t" r="r" b="b"/>
            <a:pathLst>
              <a:path w="7122474" h="1173113">
                <a:moveTo>
                  <a:pt x="95761" y="0"/>
                </a:moveTo>
                <a:lnTo>
                  <a:pt x="7026713" y="0"/>
                </a:lnTo>
                <a:cubicBezTo>
                  <a:pt x="7079600" y="0"/>
                  <a:pt x="7122474" y="42874"/>
                  <a:pt x="7122474" y="95761"/>
                </a:cubicBezTo>
                <a:lnTo>
                  <a:pt x="7122474" y="1077352"/>
                </a:lnTo>
                <a:cubicBezTo>
                  <a:pt x="7122474" y="1130240"/>
                  <a:pt x="7079600" y="1173113"/>
                  <a:pt x="7026713" y="1173113"/>
                </a:cubicBezTo>
                <a:lnTo>
                  <a:pt x="95761" y="1173113"/>
                </a:lnTo>
                <a:cubicBezTo>
                  <a:pt x="42909" y="1173113"/>
                  <a:pt x="0" y="1130204"/>
                  <a:pt x="0" y="1077352"/>
                </a:cubicBezTo>
                <a:lnTo>
                  <a:pt x="0" y="95761"/>
                </a:lnTo>
                <a:cubicBezTo>
                  <a:pt x="0" y="42909"/>
                  <a:pt x="42909" y="0"/>
                  <a:pt x="95761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61879" y="3423576"/>
            <a:ext cx="6918975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1879" y="3758751"/>
            <a:ext cx="6918975" cy="550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无论表有多大，查询引擎只需读取少量元数据文件即可定位目标数据，实现</a:t>
            </a:r>
            <a:r>
              <a:rPr lang="en-US" sz="132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数量级的性能提升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49015" y="1723758"/>
            <a:ext cx="7529473" cy="2956725"/>
          </a:xfrm>
          <a:custGeom>
            <a:avLst/>
            <a:gdLst/>
            <a:ahLst/>
            <a:cxnLst/>
            <a:rect l="l" t="t" r="r" b="b"/>
            <a:pathLst>
              <a:path w="7529473" h="2956725">
                <a:moveTo>
                  <a:pt x="47882" y="0"/>
                </a:moveTo>
                <a:lnTo>
                  <a:pt x="7433704" y="0"/>
                </a:lnTo>
                <a:cubicBezTo>
                  <a:pt x="7486596" y="0"/>
                  <a:pt x="7529473" y="42877"/>
                  <a:pt x="7529473" y="95768"/>
                </a:cubicBezTo>
                <a:lnTo>
                  <a:pt x="7529473" y="2860956"/>
                </a:lnTo>
                <a:cubicBezTo>
                  <a:pt x="7529473" y="2913848"/>
                  <a:pt x="7486596" y="2956725"/>
                  <a:pt x="7433704" y="2956725"/>
                </a:cubicBezTo>
                <a:lnTo>
                  <a:pt x="47882" y="2956725"/>
                </a:lnTo>
                <a:cubicBezTo>
                  <a:pt x="21438" y="2956725"/>
                  <a:pt x="0" y="2935287"/>
                  <a:pt x="0" y="29088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249015" y="1723758"/>
            <a:ext cx="47882" cy="2956725"/>
          </a:xfrm>
          <a:custGeom>
            <a:avLst/>
            <a:gdLst/>
            <a:ahLst/>
            <a:cxnLst/>
            <a:rect l="l" t="t" r="r" b="b"/>
            <a:pathLst>
              <a:path w="47882" h="2956725">
                <a:moveTo>
                  <a:pt x="47882" y="0"/>
                </a:moveTo>
                <a:lnTo>
                  <a:pt x="47882" y="0"/>
                </a:lnTo>
                <a:lnTo>
                  <a:pt x="47882" y="2956725"/>
                </a:lnTo>
                <a:lnTo>
                  <a:pt x="47882" y="2956725"/>
                </a:lnTo>
                <a:cubicBezTo>
                  <a:pt x="21438" y="2956725"/>
                  <a:pt x="0" y="2935287"/>
                  <a:pt x="0" y="2908842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464485" y="1915287"/>
            <a:ext cx="766115" cy="766115"/>
          </a:xfrm>
          <a:custGeom>
            <a:avLst/>
            <a:gdLst/>
            <a:ahLst/>
            <a:cxnLst/>
            <a:rect l="l" t="t" r="r" b="b"/>
            <a:pathLst>
              <a:path w="766115" h="766115">
                <a:moveTo>
                  <a:pt x="95764" y="0"/>
                </a:moveTo>
                <a:lnTo>
                  <a:pt x="670351" y="0"/>
                </a:lnTo>
                <a:cubicBezTo>
                  <a:pt x="723240" y="0"/>
                  <a:pt x="766115" y="42875"/>
                  <a:pt x="766115" y="95764"/>
                </a:cubicBezTo>
                <a:lnTo>
                  <a:pt x="766115" y="670351"/>
                </a:lnTo>
                <a:cubicBezTo>
                  <a:pt x="766115" y="723240"/>
                  <a:pt x="723240" y="766115"/>
                  <a:pt x="670351" y="766115"/>
                </a:cubicBezTo>
                <a:lnTo>
                  <a:pt x="95764" y="766115"/>
                </a:lnTo>
                <a:cubicBezTo>
                  <a:pt x="42875" y="766115"/>
                  <a:pt x="0" y="723240"/>
                  <a:pt x="0" y="670351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F6AD5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628612" y="2082875"/>
            <a:ext cx="622468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2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22128" y="1915287"/>
            <a:ext cx="1963169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快照机制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22128" y="2394109"/>
            <a:ext cx="191528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F6AD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Snapshot Mechanism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64485" y="2825049"/>
            <a:ext cx="7218239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508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不可变快照链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 MVCC 和 ACID，支持读写分离和时间旅行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64485" y="3279929"/>
            <a:ext cx="7122474" cy="897791"/>
          </a:xfrm>
          <a:custGeom>
            <a:avLst/>
            <a:gdLst/>
            <a:ahLst/>
            <a:cxnLst/>
            <a:rect l="l" t="t" r="r" b="b"/>
            <a:pathLst>
              <a:path w="7122474" h="897791">
                <a:moveTo>
                  <a:pt x="95767" y="0"/>
                </a:moveTo>
                <a:lnTo>
                  <a:pt x="7026707" y="0"/>
                </a:lnTo>
                <a:cubicBezTo>
                  <a:pt x="7079598" y="0"/>
                  <a:pt x="7122474" y="42877"/>
                  <a:pt x="7122474" y="95767"/>
                </a:cubicBezTo>
                <a:lnTo>
                  <a:pt x="7122474" y="802024"/>
                </a:lnTo>
                <a:cubicBezTo>
                  <a:pt x="7122474" y="854914"/>
                  <a:pt x="7079598" y="897791"/>
                  <a:pt x="7026707" y="897791"/>
                </a:cubicBezTo>
                <a:lnTo>
                  <a:pt x="95767" y="897791"/>
                </a:lnTo>
                <a:cubicBezTo>
                  <a:pt x="42877" y="897791"/>
                  <a:pt x="0" y="854914"/>
                  <a:pt x="0" y="802024"/>
                </a:cubicBezTo>
                <a:lnTo>
                  <a:pt x="0" y="95767"/>
                </a:lnTo>
                <a:cubicBezTo>
                  <a:pt x="0" y="42912"/>
                  <a:pt x="42912" y="0"/>
                  <a:pt x="957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608131" y="3423576"/>
            <a:ext cx="6918975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08131" y="3758751"/>
            <a:ext cx="6918975" cy="27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在分布式文件系统上实现</a:t>
            </a:r>
            <a:r>
              <a:rPr lang="en-US" sz="1320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数据库级别的事务保障</a:t>
            </a: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，读写任务互不干扰，支持数据版本回溯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2763" y="4779000"/>
            <a:ext cx="7529473" cy="2681402"/>
          </a:xfrm>
          <a:custGeom>
            <a:avLst/>
            <a:gdLst/>
            <a:ahLst/>
            <a:cxnLst/>
            <a:rect l="l" t="t" r="r" b="b"/>
            <a:pathLst>
              <a:path w="7529473" h="2681402">
                <a:moveTo>
                  <a:pt x="47882" y="0"/>
                </a:moveTo>
                <a:lnTo>
                  <a:pt x="7433720" y="0"/>
                </a:lnTo>
                <a:cubicBezTo>
                  <a:pt x="7486603" y="0"/>
                  <a:pt x="7529473" y="42870"/>
                  <a:pt x="7529473" y="95753"/>
                </a:cubicBezTo>
                <a:lnTo>
                  <a:pt x="7529473" y="2585649"/>
                </a:lnTo>
                <a:cubicBezTo>
                  <a:pt x="7529473" y="2638532"/>
                  <a:pt x="7486603" y="2681402"/>
                  <a:pt x="7433720" y="2681402"/>
                </a:cubicBezTo>
                <a:lnTo>
                  <a:pt x="47882" y="2681402"/>
                </a:lnTo>
                <a:cubicBezTo>
                  <a:pt x="21438" y="2681402"/>
                  <a:pt x="0" y="2659964"/>
                  <a:pt x="0" y="263352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02763" y="4779000"/>
            <a:ext cx="47882" cy="2681402"/>
          </a:xfrm>
          <a:custGeom>
            <a:avLst/>
            <a:gdLst/>
            <a:ahLst/>
            <a:cxnLst/>
            <a:rect l="l" t="t" r="r" b="b"/>
            <a:pathLst>
              <a:path w="47882" h="2681402">
                <a:moveTo>
                  <a:pt x="47882" y="0"/>
                </a:moveTo>
                <a:lnTo>
                  <a:pt x="47882" y="0"/>
                </a:lnTo>
                <a:lnTo>
                  <a:pt x="47882" y="2681402"/>
                </a:lnTo>
                <a:lnTo>
                  <a:pt x="47882" y="2681402"/>
                </a:lnTo>
                <a:cubicBezTo>
                  <a:pt x="21438" y="2681402"/>
                  <a:pt x="0" y="2659964"/>
                  <a:pt x="0" y="263352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18233" y="4970529"/>
            <a:ext cx="766115" cy="766115"/>
          </a:xfrm>
          <a:custGeom>
            <a:avLst/>
            <a:gdLst/>
            <a:ahLst/>
            <a:cxnLst/>
            <a:rect l="l" t="t" r="r" b="b"/>
            <a:pathLst>
              <a:path w="766115" h="766115">
                <a:moveTo>
                  <a:pt x="95764" y="0"/>
                </a:moveTo>
                <a:lnTo>
                  <a:pt x="670351" y="0"/>
                </a:lnTo>
                <a:cubicBezTo>
                  <a:pt x="723240" y="0"/>
                  <a:pt x="766115" y="42875"/>
                  <a:pt x="766115" y="95764"/>
                </a:cubicBezTo>
                <a:lnTo>
                  <a:pt x="766115" y="670351"/>
                </a:lnTo>
                <a:cubicBezTo>
                  <a:pt x="766115" y="723240"/>
                  <a:pt x="723240" y="766115"/>
                  <a:pt x="670351" y="766115"/>
                </a:cubicBezTo>
                <a:lnTo>
                  <a:pt x="95764" y="766115"/>
                </a:lnTo>
                <a:cubicBezTo>
                  <a:pt x="42875" y="766115"/>
                  <a:pt x="0" y="723240"/>
                  <a:pt x="0" y="670351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0770" y="5138116"/>
            <a:ext cx="622468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2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75876" y="4970529"/>
            <a:ext cx="1412524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智能索引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75876" y="5449351"/>
            <a:ext cx="136464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Indexing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8233" y="5880290"/>
            <a:ext cx="7218239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</a:t>
            </a:r>
            <a:r>
              <a:rPr lang="en-US" sz="150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隐藏分区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0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Min/Max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统计信息，最小化 I/O 开销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8233" y="6335171"/>
            <a:ext cx="7122474" cy="897791"/>
          </a:xfrm>
          <a:custGeom>
            <a:avLst/>
            <a:gdLst/>
            <a:ahLst/>
            <a:cxnLst/>
            <a:rect l="l" t="t" r="r" b="b"/>
            <a:pathLst>
              <a:path w="7122474" h="897791">
                <a:moveTo>
                  <a:pt x="95767" y="0"/>
                </a:moveTo>
                <a:lnTo>
                  <a:pt x="7026707" y="0"/>
                </a:lnTo>
                <a:cubicBezTo>
                  <a:pt x="7079598" y="0"/>
                  <a:pt x="7122474" y="42877"/>
                  <a:pt x="7122474" y="95767"/>
                </a:cubicBezTo>
                <a:lnTo>
                  <a:pt x="7122474" y="802024"/>
                </a:lnTo>
                <a:cubicBezTo>
                  <a:pt x="7122474" y="854914"/>
                  <a:pt x="7079598" y="897791"/>
                  <a:pt x="7026707" y="897791"/>
                </a:cubicBezTo>
                <a:lnTo>
                  <a:pt x="95767" y="897791"/>
                </a:lnTo>
                <a:cubicBezTo>
                  <a:pt x="42877" y="897791"/>
                  <a:pt x="0" y="854914"/>
                  <a:pt x="0" y="802024"/>
                </a:cubicBezTo>
                <a:lnTo>
                  <a:pt x="0" y="95767"/>
                </a:lnTo>
                <a:cubicBezTo>
                  <a:pt x="0" y="42912"/>
                  <a:pt x="42912" y="0"/>
                  <a:pt x="957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1879" y="6478817"/>
            <a:ext cx="6918975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1879" y="6813993"/>
            <a:ext cx="6918975" cy="27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自动分区推导 + 文件级统计信息，</a:t>
            </a:r>
            <a:r>
              <a:rPr lang="en-US" sz="132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大幅减少扫描的数据量</a:t>
            </a: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，提升查询性能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49015" y="4779000"/>
            <a:ext cx="7529473" cy="2681402"/>
          </a:xfrm>
          <a:custGeom>
            <a:avLst/>
            <a:gdLst/>
            <a:ahLst/>
            <a:cxnLst/>
            <a:rect l="l" t="t" r="r" b="b"/>
            <a:pathLst>
              <a:path w="7529473" h="2681402">
                <a:moveTo>
                  <a:pt x="47882" y="0"/>
                </a:moveTo>
                <a:lnTo>
                  <a:pt x="7433720" y="0"/>
                </a:lnTo>
                <a:cubicBezTo>
                  <a:pt x="7486603" y="0"/>
                  <a:pt x="7529473" y="42870"/>
                  <a:pt x="7529473" y="95753"/>
                </a:cubicBezTo>
                <a:lnTo>
                  <a:pt x="7529473" y="2585649"/>
                </a:lnTo>
                <a:cubicBezTo>
                  <a:pt x="7529473" y="2638532"/>
                  <a:pt x="7486603" y="2681402"/>
                  <a:pt x="7433720" y="2681402"/>
                </a:cubicBezTo>
                <a:lnTo>
                  <a:pt x="47882" y="2681402"/>
                </a:lnTo>
                <a:cubicBezTo>
                  <a:pt x="21438" y="2681402"/>
                  <a:pt x="0" y="2659964"/>
                  <a:pt x="0" y="263352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2D374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249015" y="4779000"/>
            <a:ext cx="47882" cy="2681402"/>
          </a:xfrm>
          <a:custGeom>
            <a:avLst/>
            <a:gdLst/>
            <a:ahLst/>
            <a:cxnLst/>
            <a:rect l="l" t="t" r="r" b="b"/>
            <a:pathLst>
              <a:path w="47882" h="2681402">
                <a:moveTo>
                  <a:pt x="47882" y="0"/>
                </a:moveTo>
                <a:lnTo>
                  <a:pt x="47882" y="0"/>
                </a:lnTo>
                <a:lnTo>
                  <a:pt x="47882" y="2681402"/>
                </a:lnTo>
                <a:lnTo>
                  <a:pt x="47882" y="2681402"/>
                </a:lnTo>
                <a:cubicBezTo>
                  <a:pt x="21438" y="2681402"/>
                  <a:pt x="0" y="2659964"/>
                  <a:pt x="0" y="2633520"/>
                </a:cubicBezTo>
                <a:lnTo>
                  <a:pt x="0" y="47882"/>
                </a:lnTo>
                <a:cubicBezTo>
                  <a:pt x="0" y="21455"/>
                  <a:pt x="21455" y="0"/>
                  <a:pt x="47882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8464485" y="4970529"/>
            <a:ext cx="766115" cy="766115"/>
          </a:xfrm>
          <a:custGeom>
            <a:avLst/>
            <a:gdLst/>
            <a:ahLst/>
            <a:cxnLst/>
            <a:rect l="l" t="t" r="r" b="b"/>
            <a:pathLst>
              <a:path w="766115" h="766115">
                <a:moveTo>
                  <a:pt x="95764" y="0"/>
                </a:moveTo>
                <a:lnTo>
                  <a:pt x="670351" y="0"/>
                </a:lnTo>
                <a:cubicBezTo>
                  <a:pt x="723240" y="0"/>
                  <a:pt x="766115" y="42875"/>
                  <a:pt x="766115" y="95764"/>
                </a:cubicBezTo>
                <a:lnTo>
                  <a:pt x="766115" y="670351"/>
                </a:lnTo>
                <a:cubicBezTo>
                  <a:pt x="766115" y="723240"/>
                  <a:pt x="723240" y="766115"/>
                  <a:pt x="670351" y="766115"/>
                </a:cubicBezTo>
                <a:lnTo>
                  <a:pt x="95764" y="766115"/>
                </a:lnTo>
                <a:cubicBezTo>
                  <a:pt x="42875" y="766115"/>
                  <a:pt x="0" y="723240"/>
                  <a:pt x="0" y="670351"/>
                </a:cubicBezTo>
                <a:lnTo>
                  <a:pt x="0" y="95764"/>
                </a:lnTo>
                <a:cubicBezTo>
                  <a:pt x="0" y="42911"/>
                  <a:pt x="42911" y="0"/>
                  <a:pt x="95764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627209" y="5138116"/>
            <a:ext cx="622468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28" b="1" dirty="0">
                <a:solidFill>
                  <a:srgbClr val="1A20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22128" y="4970529"/>
            <a:ext cx="2238492" cy="383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262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闭环治理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22128" y="5449351"/>
            <a:ext cx="2190610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8" dirty="0">
                <a:solidFill>
                  <a:srgbClr val="A0AEC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Closed-loop Governance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64485" y="5880290"/>
            <a:ext cx="7218239" cy="311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</a:t>
            </a:r>
            <a:r>
              <a:rPr lang="en-US" sz="1508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过期清理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08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孤儿文件回收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机制，保证系统长期健康运行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64485" y="6335171"/>
            <a:ext cx="7122474" cy="897791"/>
          </a:xfrm>
          <a:custGeom>
            <a:avLst/>
            <a:gdLst/>
            <a:ahLst/>
            <a:cxnLst/>
            <a:rect l="l" t="t" r="r" b="b"/>
            <a:pathLst>
              <a:path w="7122474" h="897791">
                <a:moveTo>
                  <a:pt x="95767" y="0"/>
                </a:moveTo>
                <a:lnTo>
                  <a:pt x="7026707" y="0"/>
                </a:lnTo>
                <a:cubicBezTo>
                  <a:pt x="7079598" y="0"/>
                  <a:pt x="7122474" y="42877"/>
                  <a:pt x="7122474" y="95767"/>
                </a:cubicBezTo>
                <a:lnTo>
                  <a:pt x="7122474" y="802024"/>
                </a:lnTo>
                <a:cubicBezTo>
                  <a:pt x="7122474" y="854914"/>
                  <a:pt x="7079598" y="897791"/>
                  <a:pt x="7026707" y="897791"/>
                </a:cubicBezTo>
                <a:lnTo>
                  <a:pt x="95767" y="897791"/>
                </a:lnTo>
                <a:cubicBezTo>
                  <a:pt x="42877" y="897791"/>
                  <a:pt x="0" y="854914"/>
                  <a:pt x="0" y="802024"/>
                </a:cubicBezTo>
                <a:lnTo>
                  <a:pt x="0" y="95767"/>
                </a:lnTo>
                <a:cubicBezTo>
                  <a:pt x="0" y="42912"/>
                  <a:pt x="42912" y="0"/>
                  <a:pt x="9576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608131" y="6478817"/>
            <a:ext cx="6918975" cy="239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0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08131" y="6813993"/>
            <a:ext cx="6918975" cy="275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自动清理历史垃圾数据，</a:t>
            </a:r>
            <a:r>
              <a:rPr lang="en-US" sz="1320" b="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防止存储爆炸</a:t>
            </a:r>
            <a:r>
              <a:rPr lang="en-US" sz="132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，维持系统长期稳定运行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90792" y="7609740"/>
            <a:ext cx="15274415" cy="1460406"/>
          </a:xfrm>
          <a:custGeom>
            <a:avLst/>
            <a:gdLst/>
            <a:ahLst/>
            <a:cxnLst/>
            <a:rect l="l" t="t" r="r" b="b"/>
            <a:pathLst>
              <a:path w="15274415" h="1460406">
                <a:moveTo>
                  <a:pt x="95759" y="0"/>
                </a:moveTo>
                <a:lnTo>
                  <a:pt x="15178656" y="0"/>
                </a:lnTo>
                <a:cubicBezTo>
                  <a:pt x="15231543" y="0"/>
                  <a:pt x="15274415" y="42873"/>
                  <a:pt x="15274415" y="95759"/>
                </a:cubicBezTo>
                <a:lnTo>
                  <a:pt x="15274415" y="1364648"/>
                </a:lnTo>
                <a:cubicBezTo>
                  <a:pt x="15274415" y="1417534"/>
                  <a:pt x="15231543" y="1460406"/>
                  <a:pt x="15178656" y="1460406"/>
                </a:cubicBezTo>
                <a:lnTo>
                  <a:pt x="95759" y="1460406"/>
                </a:lnTo>
                <a:cubicBezTo>
                  <a:pt x="42873" y="1460406"/>
                  <a:pt x="0" y="1417534"/>
                  <a:pt x="0" y="1364648"/>
                </a:cubicBezTo>
                <a:lnTo>
                  <a:pt x="0" y="95759"/>
                </a:lnTo>
                <a:cubicBezTo>
                  <a:pt x="0" y="42908"/>
                  <a:pt x="42908" y="0"/>
                  <a:pt x="95759" y="0"/>
                </a:cubicBezTo>
                <a:close/>
              </a:path>
            </a:pathLst>
          </a:custGeom>
          <a:solidFill>
            <a:srgbClr val="4FD1C5">
              <a:alpha val="10196"/>
            </a:srgbClr>
          </a:solidFill>
          <a:ln w="25400">
            <a:solidFill>
              <a:srgbClr val="4FD1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694292" y="8004768"/>
            <a:ext cx="670351" cy="670351"/>
          </a:xfrm>
          <a:custGeom>
            <a:avLst/>
            <a:gdLst/>
            <a:ahLst/>
            <a:cxnLst/>
            <a:rect l="l" t="t" r="r" b="b"/>
            <a:pathLst>
              <a:path w="670351" h="670351">
                <a:moveTo>
                  <a:pt x="335175" y="0"/>
                </a:moveTo>
                <a:lnTo>
                  <a:pt x="335175" y="0"/>
                </a:lnTo>
                <a:cubicBezTo>
                  <a:pt x="520164" y="0"/>
                  <a:pt x="670351" y="150187"/>
                  <a:pt x="670351" y="335175"/>
                </a:cubicBezTo>
                <a:lnTo>
                  <a:pt x="670351" y="335175"/>
                </a:lnTo>
                <a:cubicBezTo>
                  <a:pt x="670351" y="520164"/>
                  <a:pt x="520164" y="670351"/>
                  <a:pt x="335175" y="670351"/>
                </a:cubicBezTo>
                <a:lnTo>
                  <a:pt x="335175" y="670351"/>
                </a:lnTo>
                <a:cubicBezTo>
                  <a:pt x="150187" y="670351"/>
                  <a:pt x="0" y="520164"/>
                  <a:pt x="0" y="335175"/>
                </a:cubicBezTo>
                <a:lnTo>
                  <a:pt x="0" y="335175"/>
                </a:lnTo>
                <a:cubicBezTo>
                  <a:pt x="0" y="150187"/>
                  <a:pt x="150187" y="0"/>
                  <a:pt x="335175" y="0"/>
                </a:cubicBez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67865" y="8196297"/>
            <a:ext cx="323205" cy="287293"/>
          </a:xfrm>
          <a:custGeom>
            <a:avLst/>
            <a:gdLst/>
            <a:ahLst/>
            <a:cxnLst/>
            <a:rect l="l" t="t" r="r" b="b"/>
            <a:pathLst>
              <a:path w="323205" h="287293">
                <a:moveTo>
                  <a:pt x="175630" y="48930"/>
                </a:moveTo>
                <a:cubicBezTo>
                  <a:pt x="180793" y="44833"/>
                  <a:pt x="184047" y="38493"/>
                  <a:pt x="184047" y="31423"/>
                </a:cubicBezTo>
                <a:cubicBezTo>
                  <a:pt x="184047" y="19022"/>
                  <a:pt x="174003" y="8978"/>
                  <a:pt x="161602" y="8978"/>
                </a:cubicBezTo>
                <a:cubicBezTo>
                  <a:pt x="149202" y="8978"/>
                  <a:pt x="139158" y="19022"/>
                  <a:pt x="139158" y="31423"/>
                </a:cubicBezTo>
                <a:cubicBezTo>
                  <a:pt x="139158" y="38493"/>
                  <a:pt x="142468" y="44833"/>
                  <a:pt x="147574" y="48930"/>
                </a:cubicBezTo>
                <a:lnTo>
                  <a:pt x="109194" y="109306"/>
                </a:lnTo>
                <a:cubicBezTo>
                  <a:pt x="103583" y="118116"/>
                  <a:pt x="91631" y="120304"/>
                  <a:pt x="83270" y="114019"/>
                </a:cubicBezTo>
                <a:lnTo>
                  <a:pt x="49884" y="89050"/>
                </a:lnTo>
                <a:cubicBezTo>
                  <a:pt x="52409" y="85458"/>
                  <a:pt x="53867" y="81026"/>
                  <a:pt x="53867" y="76312"/>
                </a:cubicBezTo>
                <a:cubicBezTo>
                  <a:pt x="53867" y="63911"/>
                  <a:pt x="43823" y="53867"/>
                  <a:pt x="31423" y="53867"/>
                </a:cubicBezTo>
                <a:cubicBezTo>
                  <a:pt x="19022" y="53867"/>
                  <a:pt x="8978" y="63911"/>
                  <a:pt x="8978" y="76312"/>
                </a:cubicBezTo>
                <a:cubicBezTo>
                  <a:pt x="8978" y="88545"/>
                  <a:pt x="18797" y="98533"/>
                  <a:pt x="30974" y="98757"/>
                </a:cubicBezTo>
                <a:lnTo>
                  <a:pt x="49266" y="220800"/>
                </a:lnTo>
                <a:cubicBezTo>
                  <a:pt x="51904" y="238363"/>
                  <a:pt x="66998" y="251381"/>
                  <a:pt x="84785" y="251381"/>
                </a:cubicBezTo>
                <a:lnTo>
                  <a:pt x="238420" y="251381"/>
                </a:lnTo>
                <a:cubicBezTo>
                  <a:pt x="256207" y="251381"/>
                  <a:pt x="271301" y="238363"/>
                  <a:pt x="273938" y="220800"/>
                </a:cubicBezTo>
                <a:lnTo>
                  <a:pt x="292231" y="98757"/>
                </a:lnTo>
                <a:cubicBezTo>
                  <a:pt x="304407" y="98533"/>
                  <a:pt x="314227" y="88545"/>
                  <a:pt x="314227" y="76312"/>
                </a:cubicBezTo>
                <a:cubicBezTo>
                  <a:pt x="314227" y="63911"/>
                  <a:pt x="304183" y="53867"/>
                  <a:pt x="291782" y="53867"/>
                </a:cubicBezTo>
                <a:cubicBezTo>
                  <a:pt x="279381" y="53867"/>
                  <a:pt x="269337" y="63911"/>
                  <a:pt x="269337" y="76312"/>
                </a:cubicBezTo>
                <a:cubicBezTo>
                  <a:pt x="269337" y="81026"/>
                  <a:pt x="270796" y="85458"/>
                  <a:pt x="273321" y="89050"/>
                </a:cubicBezTo>
                <a:lnTo>
                  <a:pt x="239991" y="114076"/>
                </a:lnTo>
                <a:cubicBezTo>
                  <a:pt x="231630" y="120360"/>
                  <a:pt x="219678" y="118172"/>
                  <a:pt x="214067" y="109362"/>
                </a:cubicBezTo>
                <a:lnTo>
                  <a:pt x="175630" y="48930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556171" y="7813240"/>
            <a:ext cx="14125243" cy="33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85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Lakehouse 架构的技术价值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556171" y="8244179"/>
            <a:ext cx="14101302" cy="622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Iceberg 通过这四大核心机制，在数据湖之上构建了</a:t>
            </a:r>
            <a:r>
              <a:rPr lang="en-US" sz="1508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数据库级别的管理能力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，实现了</a:t>
            </a:r>
            <a:r>
              <a:rPr lang="en-US" sz="1508" b="1" dirty="0">
                <a:solidFill>
                  <a:srgbClr val="F6AD5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事务保障、性能优化、生命周期管理</a:t>
            </a:r>
            <a:r>
              <a:rPr lang="en-US" sz="1508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的完整闭环，真正做到了"像数据库一样管理文件"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telecomramblings.com/ad878d5c99335bd040419dee3a59cdc7d34c3673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422" r="14422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4608413" y="1971675"/>
            <a:ext cx="7035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2E8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 Lakehouse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4FD1C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内功心法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12000" y="4664075"/>
            <a:ext cx="2032000" cy="0"/>
          </a:xfrm>
          <a:custGeom>
            <a:avLst/>
            <a:gdLst/>
            <a:ahLst/>
            <a:cxnLst/>
            <a:rect l="l" t="t" r="r" b="b"/>
            <a:pathLst>
              <a:path w="2032000">
                <a:moveTo>
                  <a:pt x="0" y="0"/>
                </a:moveTo>
                <a:lnTo>
                  <a:pt x="2032000" y="0"/>
                </a:lnTo>
                <a:lnTo>
                  <a:pt x="20320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556250" y="5070475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 Iceberg 核心机制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构建高效可靠的数据湖仓架构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55827" y="6594475"/>
            <a:ext cx="1955800" cy="1524000"/>
          </a:xfrm>
          <a:custGeom>
            <a:avLst/>
            <a:gdLst/>
            <a:ahLst/>
            <a:cxnLst/>
            <a:rect l="l" t="t" r="r" b="b"/>
            <a:pathLst>
              <a:path w="1955800" h="1524000">
                <a:moveTo>
                  <a:pt x="101605" y="0"/>
                </a:moveTo>
                <a:lnTo>
                  <a:pt x="1854195" y="0"/>
                </a:lnTo>
                <a:cubicBezTo>
                  <a:pt x="1910310" y="0"/>
                  <a:pt x="1955800" y="45490"/>
                  <a:pt x="1955800" y="101605"/>
                </a:cubicBezTo>
                <a:lnTo>
                  <a:pt x="1955800" y="1422395"/>
                </a:lnTo>
                <a:cubicBezTo>
                  <a:pt x="1955800" y="1478510"/>
                  <a:pt x="1910310" y="1524000"/>
                  <a:pt x="1854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3946327" y="6899275"/>
            <a:ext cx="15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009827" y="750887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元数据层级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18113" y="6594475"/>
            <a:ext cx="1955800" cy="1524000"/>
          </a:xfrm>
          <a:custGeom>
            <a:avLst/>
            <a:gdLst/>
            <a:ahLst/>
            <a:cxnLst/>
            <a:rect l="l" t="t" r="r" b="b"/>
            <a:pathLst>
              <a:path w="1955800" h="1524000">
                <a:moveTo>
                  <a:pt x="101605" y="0"/>
                </a:moveTo>
                <a:lnTo>
                  <a:pt x="1854195" y="0"/>
                </a:lnTo>
                <a:cubicBezTo>
                  <a:pt x="1910310" y="0"/>
                  <a:pt x="1955800" y="45490"/>
                  <a:pt x="1955800" y="101605"/>
                </a:cubicBezTo>
                <a:lnTo>
                  <a:pt x="1955800" y="1422395"/>
                </a:lnTo>
                <a:cubicBezTo>
                  <a:pt x="1955800" y="1478510"/>
                  <a:pt x="1910310" y="1524000"/>
                  <a:pt x="1854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208613" y="6899275"/>
            <a:ext cx="15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ACID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272113" y="750887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事务保障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80400" y="6594475"/>
            <a:ext cx="1955800" cy="1524000"/>
          </a:xfrm>
          <a:custGeom>
            <a:avLst/>
            <a:gdLst/>
            <a:ahLst/>
            <a:cxnLst/>
            <a:rect l="l" t="t" r="r" b="b"/>
            <a:pathLst>
              <a:path w="1955800" h="1524000">
                <a:moveTo>
                  <a:pt x="101605" y="0"/>
                </a:moveTo>
                <a:lnTo>
                  <a:pt x="1854195" y="0"/>
                </a:lnTo>
                <a:cubicBezTo>
                  <a:pt x="1910310" y="0"/>
                  <a:pt x="1955800" y="45490"/>
                  <a:pt x="1955800" y="101605"/>
                </a:cubicBezTo>
                <a:lnTo>
                  <a:pt x="1955800" y="1422395"/>
                </a:lnTo>
                <a:cubicBezTo>
                  <a:pt x="1955800" y="1478510"/>
                  <a:pt x="1910310" y="1524000"/>
                  <a:pt x="1854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8470900" y="6899275"/>
            <a:ext cx="15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34400" y="750887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写时复制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542687" y="6594475"/>
            <a:ext cx="1955800" cy="1524000"/>
          </a:xfrm>
          <a:custGeom>
            <a:avLst/>
            <a:gdLst/>
            <a:ahLst/>
            <a:cxnLst/>
            <a:rect l="l" t="t" r="r" b="b"/>
            <a:pathLst>
              <a:path w="1955800" h="1524000">
                <a:moveTo>
                  <a:pt x="101605" y="0"/>
                </a:moveTo>
                <a:lnTo>
                  <a:pt x="1854195" y="0"/>
                </a:lnTo>
                <a:cubicBezTo>
                  <a:pt x="1910310" y="0"/>
                  <a:pt x="1955800" y="45490"/>
                  <a:pt x="1955800" y="101605"/>
                </a:cubicBezTo>
                <a:lnTo>
                  <a:pt x="1955800" y="1422395"/>
                </a:lnTo>
                <a:cubicBezTo>
                  <a:pt x="1955800" y="1478510"/>
                  <a:pt x="1910310" y="1524000"/>
                  <a:pt x="18541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2D3748">
              <a:alpha val="6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0733187" y="6899275"/>
            <a:ext cx="1574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4FD1C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MVCC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96687" y="750887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多版本并发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970</Words>
  <Application>Microsoft Macintosh PowerPoint</Application>
  <PresentationFormat>自定义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Noto Sans SC</vt:lpstr>
      <vt:lpstr>Arial</vt:lpstr>
      <vt:lpstr>MiSans</vt:lpstr>
      <vt:lpstr>Liter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Iceberg核心机制深度剖析</dc:title>
  <dc:subject>Iceberg核心机制深度剖析</dc:subject>
  <dc:creator>Kimi</dc:creator>
  <cp:lastModifiedBy>王 天青</cp:lastModifiedBy>
  <cp:revision>3</cp:revision>
  <dcterms:created xsi:type="dcterms:W3CDTF">2025-12-19T01:55:53Z</dcterms:created>
  <dcterms:modified xsi:type="dcterms:W3CDTF">2025-12-19T03:23:20Z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ceberg核心机制深度剖析","ContentProducer":"001191110108MACG2KBH8F10000","ProduceID":"19b344d6-3ec2-8ef7-8000-0000ab193d5e","ReservedCode1":"","ContentPropagator":"001191110108MACG2KBH8F20000","PropagateID":"19b344d6-3ec2-8ef7-8000-0000ab193d5e","ReservedCode2":""}</vt:lpwstr>
  </property>
</Properties>
</file>