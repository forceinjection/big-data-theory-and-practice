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6256000" cy="9144000"/>
  <p:notesSz cx="9144000" cy="16256000"/>
  <p:embeddedFontLst>
    <p:embeddedFont>
      <p:font typeface="MiSans" pitchFamily="2" charset="-122"/>
      <p:regular r:id="rId29"/>
    </p:embeddedFont>
    <p:embeddedFont>
      <p:font typeface="Noto Sans SC" panose="020B0200000000000000" pitchFamily="34" charset="-128"/>
      <p:regular r:id="rId30"/>
    </p:embeddedFont>
    <p:embeddedFont>
      <p:font typeface="Liter" panose="02000503030000020004" pitchFamily="2" charset="0"/>
      <p:regular r:id="rId3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545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4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BD79CC2-3BA3-9242-91CF-2AE0B4F71E87}" type="doc">
      <dgm:prSet loTypeId="urn:microsoft.com/office/officeart/2005/8/layout/pyramid1" loCatId="" qsTypeId="urn:microsoft.com/office/officeart/2005/8/quickstyle/simple1" qsCatId="simple" csTypeId="urn:microsoft.com/office/officeart/2005/8/colors/colorful4" csCatId="colorful" phldr="1"/>
      <dgm:spPr/>
    </dgm:pt>
    <dgm:pt modelId="{58ED5A7C-4744-C644-8CB3-F77AD73BDB23}">
      <dgm:prSet phldrT="[文本]" custT="1"/>
      <dgm:spPr/>
      <dgm:t>
        <a:bodyPr/>
        <a:lstStyle/>
        <a:p>
          <a:r>
            <a:rPr lang="en-US" altLang="zh-CN" sz="4000" dirty="0">
              <a:latin typeface="Calibri" panose="020F0502020204030204" pitchFamily="34" charset="0"/>
              <a:cs typeface="Calibri" panose="020F0502020204030204" pitchFamily="34" charset="0"/>
            </a:rPr>
            <a:t>ADS</a:t>
          </a:r>
          <a:endParaRPr lang="zh-CN" altLang="en-US" sz="40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B87075BA-3B1A-8D49-8D8E-7F59CA8BA472}" type="parTrans" cxnId="{3FE4D833-56A3-C24D-816A-44B82B58E30C}">
      <dgm:prSet/>
      <dgm:spPr/>
      <dgm:t>
        <a:bodyPr/>
        <a:lstStyle/>
        <a:p>
          <a:endParaRPr lang="zh-CN" altLang="en-US" sz="40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224806E9-9599-EF4C-AB94-310209D10E3D}" type="sibTrans" cxnId="{3FE4D833-56A3-C24D-816A-44B82B58E30C}">
      <dgm:prSet/>
      <dgm:spPr/>
      <dgm:t>
        <a:bodyPr/>
        <a:lstStyle/>
        <a:p>
          <a:endParaRPr lang="zh-CN" altLang="en-US" sz="40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3EFC0848-94A0-B041-B7D5-99A4E7A03198}">
      <dgm:prSet phldrT="[文本]" custT="1"/>
      <dgm:spPr/>
      <dgm:t>
        <a:bodyPr/>
        <a:lstStyle/>
        <a:p>
          <a:r>
            <a:rPr lang="en-US" altLang="zh-CN" sz="4000" dirty="0">
              <a:latin typeface="Calibri" panose="020F0502020204030204" pitchFamily="34" charset="0"/>
              <a:cs typeface="Calibri" panose="020F0502020204030204" pitchFamily="34" charset="0"/>
            </a:rPr>
            <a:t>DWS</a:t>
          </a:r>
          <a:endParaRPr lang="zh-CN" altLang="en-US" sz="40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C7BA277B-CF84-6541-8DFA-C5BB01C7DA13}" type="parTrans" cxnId="{03FC48C4-5216-2F44-8052-C08648454E3F}">
      <dgm:prSet/>
      <dgm:spPr/>
      <dgm:t>
        <a:bodyPr/>
        <a:lstStyle/>
        <a:p>
          <a:endParaRPr lang="zh-CN" altLang="en-US" sz="40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2BCB2060-02AF-7546-84D0-8B14BF2DC09A}" type="sibTrans" cxnId="{03FC48C4-5216-2F44-8052-C08648454E3F}">
      <dgm:prSet/>
      <dgm:spPr/>
      <dgm:t>
        <a:bodyPr/>
        <a:lstStyle/>
        <a:p>
          <a:endParaRPr lang="zh-CN" altLang="en-US" sz="40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92E88362-E093-264C-8BC8-48D553097B49}">
      <dgm:prSet phldrT="[文本]" custT="1"/>
      <dgm:spPr/>
      <dgm:t>
        <a:bodyPr/>
        <a:lstStyle/>
        <a:p>
          <a:r>
            <a:rPr lang="en-US" altLang="zh-CN" sz="4000" dirty="0">
              <a:latin typeface="Calibri" panose="020F0502020204030204" pitchFamily="34" charset="0"/>
              <a:cs typeface="Calibri" panose="020F0502020204030204" pitchFamily="34" charset="0"/>
            </a:rPr>
            <a:t>DWD</a:t>
          </a:r>
          <a:endParaRPr lang="zh-CN" altLang="en-US" sz="40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535805C1-4A3C-374E-87F8-BF23BC9D9857}" type="parTrans" cxnId="{C80BB0EA-D85E-2349-B33D-A74002862FD1}">
      <dgm:prSet/>
      <dgm:spPr/>
      <dgm:t>
        <a:bodyPr/>
        <a:lstStyle/>
        <a:p>
          <a:endParaRPr lang="zh-CN" altLang="en-US" sz="40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6E309A32-F818-7B48-8631-E8EEAA1A81E8}" type="sibTrans" cxnId="{C80BB0EA-D85E-2349-B33D-A74002862FD1}">
      <dgm:prSet/>
      <dgm:spPr/>
      <dgm:t>
        <a:bodyPr/>
        <a:lstStyle/>
        <a:p>
          <a:endParaRPr lang="zh-CN" altLang="en-US" sz="40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0E7843B5-9B2A-8D42-8F5F-097C5C7FE236}">
      <dgm:prSet phldrT="[文本]" custT="1"/>
      <dgm:spPr/>
      <dgm:t>
        <a:bodyPr/>
        <a:lstStyle/>
        <a:p>
          <a:r>
            <a:rPr lang="en-US" altLang="zh-CN" sz="4000" dirty="0">
              <a:latin typeface="Calibri" panose="020F0502020204030204" pitchFamily="34" charset="0"/>
              <a:cs typeface="Calibri" panose="020F0502020204030204" pitchFamily="34" charset="0"/>
            </a:rPr>
            <a:t>ODS</a:t>
          </a:r>
          <a:endParaRPr lang="zh-CN" altLang="en-US" sz="40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C5920F7F-2735-AF4F-B30A-137D01220F77}" type="parTrans" cxnId="{8A4687BF-C2DB-784C-8786-F15C339854A7}">
      <dgm:prSet/>
      <dgm:spPr/>
      <dgm:t>
        <a:bodyPr/>
        <a:lstStyle/>
        <a:p>
          <a:endParaRPr lang="zh-CN" altLang="en-US" sz="40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DE8011F7-19C7-9E4E-AA13-01F97B1AE76E}" type="sibTrans" cxnId="{8A4687BF-C2DB-784C-8786-F15C339854A7}">
      <dgm:prSet/>
      <dgm:spPr/>
      <dgm:t>
        <a:bodyPr/>
        <a:lstStyle/>
        <a:p>
          <a:endParaRPr lang="zh-CN" altLang="en-US" sz="400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3AEC5BA1-85A4-9A4F-AF8B-0300C9F0F71D}" type="pres">
      <dgm:prSet presAssocID="{CBD79CC2-3BA3-9242-91CF-2AE0B4F71E87}" presName="Name0" presStyleCnt="0">
        <dgm:presLayoutVars>
          <dgm:dir/>
          <dgm:animLvl val="lvl"/>
          <dgm:resizeHandles val="exact"/>
        </dgm:presLayoutVars>
      </dgm:prSet>
      <dgm:spPr/>
    </dgm:pt>
    <dgm:pt modelId="{9931ADC3-66C1-D44A-AFF1-0B5FFFA55975}" type="pres">
      <dgm:prSet presAssocID="{58ED5A7C-4744-C644-8CB3-F77AD73BDB23}" presName="Name8" presStyleCnt="0"/>
      <dgm:spPr/>
    </dgm:pt>
    <dgm:pt modelId="{4C6DA69A-36AF-494F-B24B-E211D198DAA6}" type="pres">
      <dgm:prSet presAssocID="{58ED5A7C-4744-C644-8CB3-F77AD73BDB23}" presName="level" presStyleLbl="node1" presStyleIdx="0" presStyleCnt="4">
        <dgm:presLayoutVars>
          <dgm:chMax val="1"/>
          <dgm:bulletEnabled val="1"/>
        </dgm:presLayoutVars>
      </dgm:prSet>
      <dgm:spPr/>
    </dgm:pt>
    <dgm:pt modelId="{373C2DAB-A579-6E47-A51A-533A5CA29CBB}" type="pres">
      <dgm:prSet presAssocID="{58ED5A7C-4744-C644-8CB3-F77AD73BDB2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1F5A55DF-F7C1-A840-9DF6-61AC8B9F8612}" type="pres">
      <dgm:prSet presAssocID="{3EFC0848-94A0-B041-B7D5-99A4E7A03198}" presName="Name8" presStyleCnt="0"/>
      <dgm:spPr/>
    </dgm:pt>
    <dgm:pt modelId="{F8BF4E64-5039-0D45-A53E-41C914ADDD54}" type="pres">
      <dgm:prSet presAssocID="{3EFC0848-94A0-B041-B7D5-99A4E7A03198}" presName="level" presStyleLbl="node1" presStyleIdx="1" presStyleCnt="4">
        <dgm:presLayoutVars>
          <dgm:chMax val="1"/>
          <dgm:bulletEnabled val="1"/>
        </dgm:presLayoutVars>
      </dgm:prSet>
      <dgm:spPr/>
    </dgm:pt>
    <dgm:pt modelId="{9D6C26B4-3F39-9E47-9FAB-B5EC678D6CE6}" type="pres">
      <dgm:prSet presAssocID="{3EFC0848-94A0-B041-B7D5-99A4E7A03198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80A53B17-14EB-FD4F-A422-FE45B587619D}" type="pres">
      <dgm:prSet presAssocID="{92E88362-E093-264C-8BC8-48D553097B49}" presName="Name8" presStyleCnt="0"/>
      <dgm:spPr/>
    </dgm:pt>
    <dgm:pt modelId="{DE64B81E-9643-5743-B8E4-29AB2E25EAF6}" type="pres">
      <dgm:prSet presAssocID="{92E88362-E093-264C-8BC8-48D553097B49}" presName="level" presStyleLbl="node1" presStyleIdx="2" presStyleCnt="4">
        <dgm:presLayoutVars>
          <dgm:chMax val="1"/>
          <dgm:bulletEnabled val="1"/>
        </dgm:presLayoutVars>
      </dgm:prSet>
      <dgm:spPr/>
    </dgm:pt>
    <dgm:pt modelId="{1A0B88FC-A39A-0F4D-8B4F-6AB311F32DB1}" type="pres">
      <dgm:prSet presAssocID="{92E88362-E093-264C-8BC8-48D553097B49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8A3B2F29-1B19-1348-AA04-BF3376E9E714}" type="pres">
      <dgm:prSet presAssocID="{0E7843B5-9B2A-8D42-8F5F-097C5C7FE236}" presName="Name8" presStyleCnt="0"/>
      <dgm:spPr/>
    </dgm:pt>
    <dgm:pt modelId="{F31C0FB8-4B1C-164A-989D-D4840FBF506D}" type="pres">
      <dgm:prSet presAssocID="{0E7843B5-9B2A-8D42-8F5F-097C5C7FE236}" presName="level" presStyleLbl="node1" presStyleIdx="3" presStyleCnt="4">
        <dgm:presLayoutVars>
          <dgm:chMax val="1"/>
          <dgm:bulletEnabled val="1"/>
        </dgm:presLayoutVars>
      </dgm:prSet>
      <dgm:spPr/>
    </dgm:pt>
    <dgm:pt modelId="{2EE8D78C-E2DD-F64C-84F3-FACB71BEE0A0}" type="pres">
      <dgm:prSet presAssocID="{0E7843B5-9B2A-8D42-8F5F-097C5C7FE236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D7C4A51F-9473-E348-9D80-B885394CC87F}" type="presOf" srcId="{0E7843B5-9B2A-8D42-8F5F-097C5C7FE236}" destId="{F31C0FB8-4B1C-164A-989D-D4840FBF506D}" srcOrd="0" destOrd="0" presId="urn:microsoft.com/office/officeart/2005/8/layout/pyramid1"/>
    <dgm:cxn modelId="{3FE4D833-56A3-C24D-816A-44B82B58E30C}" srcId="{CBD79CC2-3BA3-9242-91CF-2AE0B4F71E87}" destId="{58ED5A7C-4744-C644-8CB3-F77AD73BDB23}" srcOrd="0" destOrd="0" parTransId="{B87075BA-3B1A-8D49-8D8E-7F59CA8BA472}" sibTransId="{224806E9-9599-EF4C-AB94-310209D10E3D}"/>
    <dgm:cxn modelId="{7A516C3C-E6D8-D64D-853A-DEC43285A8C8}" type="presOf" srcId="{92E88362-E093-264C-8BC8-48D553097B49}" destId="{DE64B81E-9643-5743-B8E4-29AB2E25EAF6}" srcOrd="0" destOrd="0" presId="urn:microsoft.com/office/officeart/2005/8/layout/pyramid1"/>
    <dgm:cxn modelId="{5EDBD255-A180-E649-8D23-0367712D81BA}" type="presOf" srcId="{58ED5A7C-4744-C644-8CB3-F77AD73BDB23}" destId="{4C6DA69A-36AF-494F-B24B-E211D198DAA6}" srcOrd="0" destOrd="0" presId="urn:microsoft.com/office/officeart/2005/8/layout/pyramid1"/>
    <dgm:cxn modelId="{46584D56-1289-DB43-8BD9-D4D67D3A2326}" type="presOf" srcId="{58ED5A7C-4744-C644-8CB3-F77AD73BDB23}" destId="{373C2DAB-A579-6E47-A51A-533A5CA29CBB}" srcOrd="1" destOrd="0" presId="urn:microsoft.com/office/officeart/2005/8/layout/pyramid1"/>
    <dgm:cxn modelId="{652C8C56-3855-8346-8A4F-EDB3B3849C8F}" type="presOf" srcId="{92E88362-E093-264C-8BC8-48D553097B49}" destId="{1A0B88FC-A39A-0F4D-8B4F-6AB311F32DB1}" srcOrd="1" destOrd="0" presId="urn:microsoft.com/office/officeart/2005/8/layout/pyramid1"/>
    <dgm:cxn modelId="{85DB6D5F-8F01-804C-AD0E-0AE2DCD4AAB3}" type="presOf" srcId="{CBD79CC2-3BA3-9242-91CF-2AE0B4F71E87}" destId="{3AEC5BA1-85A4-9A4F-AF8B-0300C9F0F71D}" srcOrd="0" destOrd="0" presId="urn:microsoft.com/office/officeart/2005/8/layout/pyramid1"/>
    <dgm:cxn modelId="{8A4687BF-C2DB-784C-8786-F15C339854A7}" srcId="{CBD79CC2-3BA3-9242-91CF-2AE0B4F71E87}" destId="{0E7843B5-9B2A-8D42-8F5F-097C5C7FE236}" srcOrd="3" destOrd="0" parTransId="{C5920F7F-2735-AF4F-B30A-137D01220F77}" sibTransId="{DE8011F7-19C7-9E4E-AA13-01F97B1AE76E}"/>
    <dgm:cxn modelId="{97E39EC1-123C-114D-BFB1-D72718FBC2DF}" type="presOf" srcId="{3EFC0848-94A0-B041-B7D5-99A4E7A03198}" destId="{9D6C26B4-3F39-9E47-9FAB-B5EC678D6CE6}" srcOrd="1" destOrd="0" presId="urn:microsoft.com/office/officeart/2005/8/layout/pyramid1"/>
    <dgm:cxn modelId="{03FC48C4-5216-2F44-8052-C08648454E3F}" srcId="{CBD79CC2-3BA3-9242-91CF-2AE0B4F71E87}" destId="{3EFC0848-94A0-B041-B7D5-99A4E7A03198}" srcOrd="1" destOrd="0" parTransId="{C7BA277B-CF84-6541-8DFA-C5BB01C7DA13}" sibTransId="{2BCB2060-02AF-7546-84D0-8B14BF2DC09A}"/>
    <dgm:cxn modelId="{C80BB0EA-D85E-2349-B33D-A74002862FD1}" srcId="{CBD79CC2-3BA3-9242-91CF-2AE0B4F71E87}" destId="{92E88362-E093-264C-8BC8-48D553097B49}" srcOrd="2" destOrd="0" parTransId="{535805C1-4A3C-374E-87F8-BF23BC9D9857}" sibTransId="{6E309A32-F818-7B48-8631-E8EEAA1A81E8}"/>
    <dgm:cxn modelId="{163840ED-9ED0-5F4A-80DC-2739399FE367}" type="presOf" srcId="{0E7843B5-9B2A-8D42-8F5F-097C5C7FE236}" destId="{2EE8D78C-E2DD-F64C-84F3-FACB71BEE0A0}" srcOrd="1" destOrd="0" presId="urn:microsoft.com/office/officeart/2005/8/layout/pyramid1"/>
    <dgm:cxn modelId="{E699CBFF-F377-644F-ACF3-089077AB2BB9}" type="presOf" srcId="{3EFC0848-94A0-B041-B7D5-99A4E7A03198}" destId="{F8BF4E64-5039-0D45-A53E-41C914ADDD54}" srcOrd="0" destOrd="0" presId="urn:microsoft.com/office/officeart/2005/8/layout/pyramid1"/>
    <dgm:cxn modelId="{B49F0B98-7025-094E-9757-2EB3D19096D7}" type="presParOf" srcId="{3AEC5BA1-85A4-9A4F-AF8B-0300C9F0F71D}" destId="{9931ADC3-66C1-D44A-AFF1-0B5FFFA55975}" srcOrd="0" destOrd="0" presId="urn:microsoft.com/office/officeart/2005/8/layout/pyramid1"/>
    <dgm:cxn modelId="{AE22F602-71F3-3A41-BE42-8C8CA4A2835E}" type="presParOf" srcId="{9931ADC3-66C1-D44A-AFF1-0B5FFFA55975}" destId="{4C6DA69A-36AF-494F-B24B-E211D198DAA6}" srcOrd="0" destOrd="0" presId="urn:microsoft.com/office/officeart/2005/8/layout/pyramid1"/>
    <dgm:cxn modelId="{21E9581C-18ED-6C4A-BAF3-E6A3795D0402}" type="presParOf" srcId="{9931ADC3-66C1-D44A-AFF1-0B5FFFA55975}" destId="{373C2DAB-A579-6E47-A51A-533A5CA29CBB}" srcOrd="1" destOrd="0" presId="urn:microsoft.com/office/officeart/2005/8/layout/pyramid1"/>
    <dgm:cxn modelId="{126B2FE9-B251-C141-80F6-543BA1D95015}" type="presParOf" srcId="{3AEC5BA1-85A4-9A4F-AF8B-0300C9F0F71D}" destId="{1F5A55DF-F7C1-A840-9DF6-61AC8B9F8612}" srcOrd="1" destOrd="0" presId="urn:microsoft.com/office/officeart/2005/8/layout/pyramid1"/>
    <dgm:cxn modelId="{C89BAE56-BC13-AC40-B053-1B1E9D8585FE}" type="presParOf" srcId="{1F5A55DF-F7C1-A840-9DF6-61AC8B9F8612}" destId="{F8BF4E64-5039-0D45-A53E-41C914ADDD54}" srcOrd="0" destOrd="0" presId="urn:microsoft.com/office/officeart/2005/8/layout/pyramid1"/>
    <dgm:cxn modelId="{307C8A4F-E035-0948-9259-2B07C7DAB564}" type="presParOf" srcId="{1F5A55DF-F7C1-A840-9DF6-61AC8B9F8612}" destId="{9D6C26B4-3F39-9E47-9FAB-B5EC678D6CE6}" srcOrd="1" destOrd="0" presId="urn:microsoft.com/office/officeart/2005/8/layout/pyramid1"/>
    <dgm:cxn modelId="{CDE4BC01-E89D-324B-95B7-A0864F63E616}" type="presParOf" srcId="{3AEC5BA1-85A4-9A4F-AF8B-0300C9F0F71D}" destId="{80A53B17-14EB-FD4F-A422-FE45B587619D}" srcOrd="2" destOrd="0" presId="urn:microsoft.com/office/officeart/2005/8/layout/pyramid1"/>
    <dgm:cxn modelId="{29C346D4-738D-7A49-958D-F2689BEE4758}" type="presParOf" srcId="{80A53B17-14EB-FD4F-A422-FE45B587619D}" destId="{DE64B81E-9643-5743-B8E4-29AB2E25EAF6}" srcOrd="0" destOrd="0" presId="urn:microsoft.com/office/officeart/2005/8/layout/pyramid1"/>
    <dgm:cxn modelId="{E1B7FD13-F425-B146-8D79-02288AAD9A47}" type="presParOf" srcId="{80A53B17-14EB-FD4F-A422-FE45B587619D}" destId="{1A0B88FC-A39A-0F4D-8B4F-6AB311F32DB1}" srcOrd="1" destOrd="0" presId="urn:microsoft.com/office/officeart/2005/8/layout/pyramid1"/>
    <dgm:cxn modelId="{F541B042-7AE5-D649-BC1A-23F60DEFA22D}" type="presParOf" srcId="{3AEC5BA1-85A4-9A4F-AF8B-0300C9F0F71D}" destId="{8A3B2F29-1B19-1348-AA04-BF3376E9E714}" srcOrd="3" destOrd="0" presId="urn:microsoft.com/office/officeart/2005/8/layout/pyramid1"/>
    <dgm:cxn modelId="{E84DDAFE-0CD1-2B43-BCC3-127E6DC82442}" type="presParOf" srcId="{8A3B2F29-1B19-1348-AA04-BF3376E9E714}" destId="{F31C0FB8-4B1C-164A-989D-D4840FBF506D}" srcOrd="0" destOrd="0" presId="urn:microsoft.com/office/officeart/2005/8/layout/pyramid1"/>
    <dgm:cxn modelId="{30EE2099-8E65-0A4A-9BC0-2E9B42A45165}" type="presParOf" srcId="{8A3B2F29-1B19-1348-AA04-BF3376E9E714}" destId="{2EE8D78C-E2DD-F64C-84F3-FACB71BEE0A0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6DA69A-36AF-494F-B24B-E211D198DAA6}">
      <dsp:nvSpPr>
        <dsp:cNvPr id="0" name=""/>
        <dsp:cNvSpPr/>
      </dsp:nvSpPr>
      <dsp:spPr>
        <a:xfrm>
          <a:off x="4063999" y="0"/>
          <a:ext cx="2709333" cy="1806222"/>
        </a:xfrm>
        <a:prstGeom prst="trapezoid">
          <a:avLst>
            <a:gd name="adj" fmla="val 75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4000" kern="1200" dirty="0">
              <a:latin typeface="Calibri" panose="020F0502020204030204" pitchFamily="34" charset="0"/>
              <a:cs typeface="Calibri" panose="020F0502020204030204" pitchFamily="34" charset="0"/>
            </a:rPr>
            <a:t>ADS</a:t>
          </a:r>
          <a:endParaRPr lang="zh-CN" altLang="en-US" sz="40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4063999" y="0"/>
        <a:ext cx="2709333" cy="1806222"/>
      </dsp:txXfrm>
    </dsp:sp>
    <dsp:sp modelId="{F8BF4E64-5039-0D45-A53E-41C914ADDD54}">
      <dsp:nvSpPr>
        <dsp:cNvPr id="0" name=""/>
        <dsp:cNvSpPr/>
      </dsp:nvSpPr>
      <dsp:spPr>
        <a:xfrm>
          <a:off x="2709333" y="1806222"/>
          <a:ext cx="5418666" cy="1806222"/>
        </a:xfrm>
        <a:prstGeom prst="trapezoid">
          <a:avLst>
            <a:gd name="adj" fmla="val 75000"/>
          </a:avLst>
        </a:prstGeom>
        <a:solidFill>
          <a:schemeClr val="accent4">
            <a:hueOff val="3465231"/>
            <a:satOff val="-15989"/>
            <a:lumOff val="5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4000" kern="1200" dirty="0">
              <a:latin typeface="Calibri" panose="020F0502020204030204" pitchFamily="34" charset="0"/>
              <a:cs typeface="Calibri" panose="020F0502020204030204" pitchFamily="34" charset="0"/>
            </a:rPr>
            <a:t>DWS</a:t>
          </a:r>
          <a:endParaRPr lang="zh-CN" altLang="en-US" sz="40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3657599" y="1806222"/>
        <a:ext cx="3522133" cy="1806222"/>
      </dsp:txXfrm>
    </dsp:sp>
    <dsp:sp modelId="{DE64B81E-9643-5743-B8E4-29AB2E25EAF6}">
      <dsp:nvSpPr>
        <dsp:cNvPr id="0" name=""/>
        <dsp:cNvSpPr/>
      </dsp:nvSpPr>
      <dsp:spPr>
        <a:xfrm>
          <a:off x="1354666" y="3612444"/>
          <a:ext cx="8127999" cy="1806222"/>
        </a:xfrm>
        <a:prstGeom prst="trapezoid">
          <a:avLst>
            <a:gd name="adj" fmla="val 75000"/>
          </a:avLst>
        </a:prstGeom>
        <a:solidFill>
          <a:schemeClr val="accent4">
            <a:hueOff val="6930461"/>
            <a:satOff val="-31979"/>
            <a:lumOff val="117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4000" kern="1200" dirty="0">
              <a:latin typeface="Calibri" panose="020F0502020204030204" pitchFamily="34" charset="0"/>
              <a:cs typeface="Calibri" panose="020F0502020204030204" pitchFamily="34" charset="0"/>
            </a:rPr>
            <a:t>DWD</a:t>
          </a:r>
          <a:endParaRPr lang="zh-CN" altLang="en-US" sz="40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2777066" y="3612444"/>
        <a:ext cx="5283199" cy="1806222"/>
      </dsp:txXfrm>
    </dsp:sp>
    <dsp:sp modelId="{F31C0FB8-4B1C-164A-989D-D4840FBF506D}">
      <dsp:nvSpPr>
        <dsp:cNvPr id="0" name=""/>
        <dsp:cNvSpPr/>
      </dsp:nvSpPr>
      <dsp:spPr>
        <a:xfrm>
          <a:off x="0" y="5418666"/>
          <a:ext cx="10837333" cy="1806222"/>
        </a:xfrm>
        <a:prstGeom prst="trapezoid">
          <a:avLst>
            <a:gd name="adj" fmla="val 75000"/>
          </a:avLst>
        </a:prstGeom>
        <a:solidFill>
          <a:schemeClr val="accent4">
            <a:hueOff val="10395692"/>
            <a:satOff val="-47968"/>
            <a:lumOff val="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4000" kern="1200" dirty="0">
              <a:latin typeface="Calibri" panose="020F0502020204030204" pitchFamily="34" charset="0"/>
              <a:cs typeface="Calibri" panose="020F0502020204030204" pitchFamily="34" charset="0"/>
            </a:rPr>
            <a:t>ODS</a:t>
          </a:r>
          <a:endParaRPr lang="zh-CN" altLang="en-US" sz="40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1896533" y="5418666"/>
        <a:ext cx="7044266" cy="180622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77890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043d1be2df5622346651b1e0003799c11951d0bf.jpg"/>
          <p:cNvPicPr>
            <a:picLocks noChangeAspect="1"/>
          </p:cNvPicPr>
          <p:nvPr/>
        </p:nvPicPr>
        <p:blipFill>
          <a:blip r:embed="rId3">
            <a:alphaModFix amt="40000"/>
          </a:blip>
          <a:srcRect t="21875" b="21875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202C">
                  <a:alpha val="95000"/>
                </a:srgbClr>
              </a:gs>
              <a:gs pos="50000">
                <a:srgbClr val="1A202C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533400" y="1570038"/>
            <a:ext cx="4991100" cy="558800"/>
          </a:xfrm>
          <a:custGeom>
            <a:avLst/>
            <a:gdLst/>
            <a:ahLst/>
            <a:cxnLst/>
            <a:rect l="l" t="t" r="r" b="b"/>
            <a:pathLst>
              <a:path w="4991100" h="558800">
                <a:moveTo>
                  <a:pt x="0" y="0"/>
                </a:moveTo>
                <a:lnTo>
                  <a:pt x="4991100" y="0"/>
                </a:lnTo>
                <a:lnTo>
                  <a:pt x="4991100" y="558800"/>
                </a:lnTo>
                <a:lnTo>
                  <a:pt x="0" y="558800"/>
                </a:lnTo>
                <a:lnTo>
                  <a:pt x="0" y="0"/>
                </a:lnTo>
                <a:close/>
              </a:path>
            </a:pathLst>
          </a:custGeom>
          <a:solidFill>
            <a:srgbClr val="D69E2E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2"/>
          <p:cNvSpPr/>
          <p:nvPr/>
        </p:nvSpPr>
        <p:spPr>
          <a:xfrm>
            <a:off x="533400" y="1570038"/>
            <a:ext cx="50800" cy="558800"/>
          </a:xfrm>
          <a:custGeom>
            <a:avLst/>
            <a:gdLst/>
            <a:ahLst/>
            <a:cxnLst/>
            <a:rect l="l" t="t" r="r" b="b"/>
            <a:pathLst>
              <a:path w="50800" h="558800">
                <a:moveTo>
                  <a:pt x="0" y="0"/>
                </a:moveTo>
                <a:lnTo>
                  <a:pt x="50800" y="0"/>
                </a:lnTo>
                <a:lnTo>
                  <a:pt x="50800" y="558800"/>
                </a:lnTo>
                <a:lnTo>
                  <a:pt x="0" y="558800"/>
                </a:lnTo>
                <a:lnTo>
                  <a:pt x="0" y="0"/>
                </a:ln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812800" y="1697038"/>
            <a:ext cx="457021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kern="0" spc="180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 WAREHOUSE ARCHITECTURE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8000" y="2433638"/>
            <a:ext cx="158496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9600" b="1" dirty="0">
                <a:solidFill>
                  <a:srgbClr val="E2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数据仓库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600" b="1" dirty="0">
                <a:solidFill>
                  <a:srgbClr val="E2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分层架构详解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8000" y="5786438"/>
            <a:ext cx="1625600" cy="50800"/>
          </a:xfrm>
          <a:custGeom>
            <a:avLst/>
            <a:gdLst/>
            <a:ahLst/>
            <a:cxnLst/>
            <a:rect l="l" t="t" r="r" b="b"/>
            <a:pathLst>
              <a:path w="1625600" h="50800">
                <a:moveTo>
                  <a:pt x="0" y="0"/>
                </a:moveTo>
                <a:lnTo>
                  <a:pt x="1625600" y="0"/>
                </a:lnTo>
                <a:lnTo>
                  <a:pt x="1625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508000" y="6142038"/>
            <a:ext cx="994410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000" dirty="0">
                <a:solidFill>
                  <a:srgbClr val="71809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从ODS到ADS的完整数据治理体系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08000" y="78232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50800" y="0"/>
                </a:moveTo>
                <a:lnTo>
                  <a:pt x="762000" y="0"/>
                </a:lnTo>
                <a:cubicBezTo>
                  <a:pt x="790037" y="0"/>
                  <a:pt x="812800" y="22763"/>
                  <a:pt x="812800" y="50800"/>
                </a:cubicBezTo>
                <a:lnTo>
                  <a:pt x="812800" y="762000"/>
                </a:lnTo>
                <a:cubicBezTo>
                  <a:pt x="812800" y="790037"/>
                  <a:pt x="790037" y="812800"/>
                  <a:pt x="762000" y="812800"/>
                </a:cubicBezTo>
                <a:lnTo>
                  <a:pt x="50800" y="812800"/>
                </a:lnTo>
                <a:cubicBezTo>
                  <a:pt x="22763" y="812800"/>
                  <a:pt x="0" y="790037"/>
                  <a:pt x="0" y="76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8"/>
          <p:cNvSpPr/>
          <p:nvPr/>
        </p:nvSpPr>
        <p:spPr>
          <a:xfrm>
            <a:off x="781050" y="80772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66700" y="122515"/>
                </a:moveTo>
                <a:cubicBezTo>
                  <a:pt x="257889" y="128349"/>
                  <a:pt x="247769" y="133052"/>
                  <a:pt x="237232" y="136803"/>
                </a:cubicBezTo>
                <a:cubicBezTo>
                  <a:pt x="209252" y="146804"/>
                  <a:pt x="172522" y="152400"/>
                  <a:pt x="133350" y="152400"/>
                </a:cubicBezTo>
                <a:cubicBezTo>
                  <a:pt x="94178" y="152400"/>
                  <a:pt x="57388" y="146745"/>
                  <a:pt x="29468" y="136803"/>
                </a:cubicBezTo>
                <a:cubicBezTo>
                  <a:pt x="18990" y="133052"/>
                  <a:pt x="8811" y="128349"/>
                  <a:pt x="0" y="122515"/>
                </a:cubicBezTo>
                <a:lnTo>
                  <a:pt x="0" y="171450"/>
                </a:lnTo>
                <a:cubicBezTo>
                  <a:pt x="0" y="197763"/>
                  <a:pt x="59710" y="219075"/>
                  <a:pt x="133350" y="219075"/>
                </a:cubicBezTo>
                <a:cubicBezTo>
                  <a:pt x="206990" y="219075"/>
                  <a:pt x="266700" y="197763"/>
                  <a:pt x="266700" y="171450"/>
                </a:cubicBezTo>
                <a:lnTo>
                  <a:pt x="266700" y="122515"/>
                </a:lnTo>
                <a:close/>
                <a:moveTo>
                  <a:pt x="266700" y="76200"/>
                </a:moveTo>
                <a:lnTo>
                  <a:pt x="266700" y="47625"/>
                </a:lnTo>
                <a:cubicBezTo>
                  <a:pt x="266700" y="21312"/>
                  <a:pt x="206990" y="0"/>
                  <a:pt x="133350" y="0"/>
                </a:cubicBezTo>
                <a:cubicBezTo>
                  <a:pt x="59710" y="0"/>
                  <a:pt x="0" y="21312"/>
                  <a:pt x="0" y="47625"/>
                </a:cubicBezTo>
                <a:lnTo>
                  <a:pt x="0" y="76200"/>
                </a:lnTo>
                <a:cubicBezTo>
                  <a:pt x="0" y="102513"/>
                  <a:pt x="59710" y="123825"/>
                  <a:pt x="133350" y="123825"/>
                </a:cubicBezTo>
                <a:cubicBezTo>
                  <a:pt x="206990" y="123825"/>
                  <a:pt x="266700" y="102513"/>
                  <a:pt x="266700" y="76200"/>
                </a:cubicBezTo>
                <a:close/>
                <a:moveTo>
                  <a:pt x="237232" y="232053"/>
                </a:moveTo>
                <a:cubicBezTo>
                  <a:pt x="209312" y="241995"/>
                  <a:pt x="172581" y="247650"/>
                  <a:pt x="133350" y="247650"/>
                </a:cubicBezTo>
                <a:cubicBezTo>
                  <a:pt x="94119" y="247650"/>
                  <a:pt x="57388" y="241995"/>
                  <a:pt x="29468" y="232053"/>
                </a:cubicBezTo>
                <a:cubicBezTo>
                  <a:pt x="18990" y="228302"/>
                  <a:pt x="8811" y="223599"/>
                  <a:pt x="0" y="217765"/>
                </a:cubicBezTo>
                <a:lnTo>
                  <a:pt x="0" y="257175"/>
                </a:lnTo>
                <a:cubicBezTo>
                  <a:pt x="0" y="283488"/>
                  <a:pt x="59710" y="304800"/>
                  <a:pt x="133350" y="304800"/>
                </a:cubicBezTo>
                <a:cubicBezTo>
                  <a:pt x="206990" y="304800"/>
                  <a:pt x="266700" y="283488"/>
                  <a:pt x="266700" y="257175"/>
                </a:cubicBezTo>
                <a:lnTo>
                  <a:pt x="266700" y="217765"/>
                </a:lnTo>
                <a:cubicBezTo>
                  <a:pt x="257889" y="223599"/>
                  <a:pt x="247769" y="228302"/>
                  <a:pt x="237232" y="232053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1524000" y="7874000"/>
            <a:ext cx="111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架构体系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524000" y="8229600"/>
            <a:ext cx="114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四层模型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2946400" y="7823200"/>
            <a:ext cx="12700" cy="812800"/>
          </a:xfrm>
          <a:custGeom>
            <a:avLst/>
            <a:gdLst/>
            <a:ahLst/>
            <a:cxnLst/>
            <a:rect l="l" t="t" r="r" b="b"/>
            <a:pathLst>
              <a:path w="12700" h="812800">
                <a:moveTo>
                  <a:pt x="0" y="0"/>
                </a:moveTo>
                <a:lnTo>
                  <a:pt x="12700" y="0"/>
                </a:lnTo>
                <a:lnTo>
                  <a:pt x="1270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2"/>
          <p:cNvSpPr/>
          <p:nvPr/>
        </p:nvSpPr>
        <p:spPr>
          <a:xfrm>
            <a:off x="3365500" y="78232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50800" y="0"/>
                </a:moveTo>
                <a:lnTo>
                  <a:pt x="762000" y="0"/>
                </a:lnTo>
                <a:cubicBezTo>
                  <a:pt x="790037" y="0"/>
                  <a:pt x="812800" y="22763"/>
                  <a:pt x="812800" y="50800"/>
                </a:cubicBezTo>
                <a:lnTo>
                  <a:pt x="812800" y="762000"/>
                </a:lnTo>
                <a:cubicBezTo>
                  <a:pt x="812800" y="790037"/>
                  <a:pt x="790037" y="812800"/>
                  <a:pt x="762000" y="812800"/>
                </a:cubicBezTo>
                <a:lnTo>
                  <a:pt x="50800" y="812800"/>
                </a:lnTo>
                <a:cubicBezTo>
                  <a:pt x="22763" y="812800"/>
                  <a:pt x="0" y="790037"/>
                  <a:pt x="0" y="76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3"/>
          <p:cNvSpPr/>
          <p:nvPr/>
        </p:nvSpPr>
        <p:spPr>
          <a:xfrm>
            <a:off x="3619500" y="8077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8410" y="3096"/>
                </a:moveTo>
                <a:cubicBezTo>
                  <a:pt x="147280" y="-1012"/>
                  <a:pt x="157520" y="-1012"/>
                  <a:pt x="166390" y="3096"/>
                </a:cubicBezTo>
                <a:lnTo>
                  <a:pt x="296525" y="63222"/>
                </a:lnTo>
                <a:cubicBezTo>
                  <a:pt x="301585" y="65544"/>
                  <a:pt x="304800" y="70604"/>
                  <a:pt x="304800" y="76200"/>
                </a:cubicBezTo>
                <a:cubicBezTo>
                  <a:pt x="304800" y="81796"/>
                  <a:pt x="301585" y="86856"/>
                  <a:pt x="296525" y="89178"/>
                </a:cubicBezTo>
                <a:lnTo>
                  <a:pt x="166390" y="149304"/>
                </a:lnTo>
                <a:cubicBezTo>
                  <a:pt x="157520" y="153412"/>
                  <a:pt x="147280" y="153412"/>
                  <a:pt x="138410" y="149304"/>
                </a:cubicBezTo>
                <a:lnTo>
                  <a:pt x="8275" y="89178"/>
                </a:lnTo>
                <a:cubicBezTo>
                  <a:pt x="3215" y="86797"/>
                  <a:pt x="0" y="81736"/>
                  <a:pt x="0" y="76200"/>
                </a:cubicBezTo>
                <a:cubicBezTo>
                  <a:pt x="0" y="70664"/>
                  <a:pt x="3215" y="65544"/>
                  <a:pt x="8275" y="63222"/>
                </a:cubicBezTo>
                <a:lnTo>
                  <a:pt x="138410" y="3096"/>
                </a:lnTo>
                <a:close/>
                <a:moveTo>
                  <a:pt x="28635" y="130016"/>
                </a:moveTo>
                <a:lnTo>
                  <a:pt x="126444" y="175200"/>
                </a:lnTo>
                <a:cubicBezTo>
                  <a:pt x="142935" y="182820"/>
                  <a:pt x="161925" y="182820"/>
                  <a:pt x="178415" y="175200"/>
                </a:cubicBezTo>
                <a:lnTo>
                  <a:pt x="276225" y="130016"/>
                </a:lnTo>
                <a:lnTo>
                  <a:pt x="296525" y="139422"/>
                </a:lnTo>
                <a:cubicBezTo>
                  <a:pt x="301585" y="141744"/>
                  <a:pt x="304800" y="146804"/>
                  <a:pt x="304800" y="152400"/>
                </a:cubicBezTo>
                <a:cubicBezTo>
                  <a:pt x="304800" y="157996"/>
                  <a:pt x="301585" y="163056"/>
                  <a:pt x="296525" y="165378"/>
                </a:cubicBezTo>
                <a:lnTo>
                  <a:pt x="166390" y="225504"/>
                </a:lnTo>
                <a:cubicBezTo>
                  <a:pt x="157520" y="229612"/>
                  <a:pt x="147280" y="229612"/>
                  <a:pt x="138410" y="225504"/>
                </a:cubicBezTo>
                <a:lnTo>
                  <a:pt x="8275" y="165378"/>
                </a:lnTo>
                <a:cubicBezTo>
                  <a:pt x="3215" y="162997"/>
                  <a:pt x="0" y="157936"/>
                  <a:pt x="0" y="152400"/>
                </a:cubicBezTo>
                <a:cubicBezTo>
                  <a:pt x="0" y="146864"/>
                  <a:pt x="3215" y="141744"/>
                  <a:pt x="8275" y="139422"/>
                </a:cubicBezTo>
                <a:lnTo>
                  <a:pt x="28575" y="130016"/>
                </a:lnTo>
                <a:close/>
                <a:moveTo>
                  <a:pt x="8275" y="215622"/>
                </a:moveTo>
                <a:lnTo>
                  <a:pt x="28575" y="206216"/>
                </a:lnTo>
                <a:lnTo>
                  <a:pt x="126385" y="251400"/>
                </a:lnTo>
                <a:cubicBezTo>
                  <a:pt x="142875" y="259020"/>
                  <a:pt x="161865" y="259020"/>
                  <a:pt x="178356" y="251400"/>
                </a:cubicBezTo>
                <a:lnTo>
                  <a:pt x="276165" y="206216"/>
                </a:lnTo>
                <a:lnTo>
                  <a:pt x="296466" y="215622"/>
                </a:lnTo>
                <a:cubicBezTo>
                  <a:pt x="301526" y="217944"/>
                  <a:pt x="304740" y="223004"/>
                  <a:pt x="304740" y="228600"/>
                </a:cubicBezTo>
                <a:cubicBezTo>
                  <a:pt x="304740" y="234196"/>
                  <a:pt x="301526" y="239256"/>
                  <a:pt x="296466" y="241578"/>
                </a:cubicBezTo>
                <a:lnTo>
                  <a:pt x="166330" y="301704"/>
                </a:lnTo>
                <a:cubicBezTo>
                  <a:pt x="157460" y="305812"/>
                  <a:pt x="147221" y="305812"/>
                  <a:pt x="138351" y="301704"/>
                </a:cubicBezTo>
                <a:lnTo>
                  <a:pt x="8275" y="241578"/>
                </a:lnTo>
                <a:cubicBezTo>
                  <a:pt x="3215" y="239197"/>
                  <a:pt x="0" y="234136"/>
                  <a:pt x="0" y="228600"/>
                </a:cubicBezTo>
                <a:cubicBezTo>
                  <a:pt x="0" y="223064"/>
                  <a:pt x="3215" y="217944"/>
                  <a:pt x="8275" y="215622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4"/>
          <p:cNvSpPr/>
          <p:nvPr/>
        </p:nvSpPr>
        <p:spPr>
          <a:xfrm>
            <a:off x="4381500" y="7874000"/>
            <a:ext cx="137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核心价值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381500" y="8229600"/>
            <a:ext cx="1397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解耦与复用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08000"/>
            <a:ext cx="2298700" cy="406400"/>
          </a:xfrm>
          <a:custGeom>
            <a:avLst/>
            <a:gdLst/>
            <a:ahLst/>
            <a:cxnLst/>
            <a:rect l="l" t="t" r="r" b="b"/>
            <a:pathLst>
              <a:path w="2298700" h="406400">
                <a:moveTo>
                  <a:pt x="0" y="0"/>
                </a:moveTo>
                <a:lnTo>
                  <a:pt x="2298700" y="0"/>
                </a:lnTo>
                <a:lnTo>
                  <a:pt x="22987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D69E2E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533400" y="508000"/>
            <a:ext cx="50800" cy="406400"/>
          </a:xfrm>
          <a:custGeom>
            <a:avLst/>
            <a:gdLst/>
            <a:ahLst/>
            <a:cxnLst/>
            <a:rect l="l" t="t" r="r" b="b"/>
            <a:pathLst>
              <a:path w="50800" h="406400">
                <a:moveTo>
                  <a:pt x="0" y="0"/>
                </a:moveTo>
                <a:lnTo>
                  <a:pt x="50800" y="0"/>
                </a:lnTo>
                <a:lnTo>
                  <a:pt x="508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2000" y="577850"/>
            <a:ext cx="19680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COURSE OUTLINE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8000" y="1066800"/>
            <a:ext cx="15544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E2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课程大纲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8000" y="20828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" y="0"/>
                </a:moveTo>
                <a:lnTo>
                  <a:pt x="965200" y="0"/>
                </a:lnTo>
                <a:cubicBezTo>
                  <a:pt x="993237" y="0"/>
                  <a:pt x="1016000" y="22763"/>
                  <a:pt x="1016000" y="50800"/>
                </a:cubicBezTo>
                <a:lnTo>
                  <a:pt x="1016000" y="965200"/>
                </a:lnTo>
                <a:cubicBezTo>
                  <a:pt x="1016000" y="993237"/>
                  <a:pt x="993237" y="1016000"/>
                  <a:pt x="965200" y="1016000"/>
                </a:cubicBezTo>
                <a:lnTo>
                  <a:pt x="50800" y="1016000"/>
                </a:lnTo>
                <a:cubicBezTo>
                  <a:pt x="22763" y="1016000"/>
                  <a:pt x="0" y="993237"/>
                  <a:pt x="0" y="965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818257" y="2362200"/>
            <a:ext cx="58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1A20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78000" y="2082800"/>
            <a:ext cx="6299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核心理念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78000" y="2590800"/>
            <a:ext cx="6248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数据治理的熵减过程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828800" y="3073400"/>
            <a:ext cx="152400" cy="203200"/>
          </a:xfrm>
          <a:custGeom>
            <a:avLst/>
            <a:gdLst/>
            <a:ahLst/>
            <a:cxnLst/>
            <a:rect l="l" t="t" r="r" b="b"/>
            <a:pathLst>
              <a:path w="152400" h="203200">
                <a:moveTo>
                  <a:pt x="116245" y="152400"/>
                </a:moveTo>
                <a:cubicBezTo>
                  <a:pt x="119142" y="143550"/>
                  <a:pt x="124936" y="135533"/>
                  <a:pt x="131485" y="128627"/>
                </a:cubicBezTo>
                <a:cubicBezTo>
                  <a:pt x="144462" y="114975"/>
                  <a:pt x="152400" y="96520"/>
                  <a:pt x="152400" y="76200"/>
                </a:cubicBezTo>
                <a:cubicBezTo>
                  <a:pt x="152400" y="34131"/>
                  <a:pt x="118269" y="0"/>
                  <a:pt x="76200" y="0"/>
                </a:cubicBezTo>
                <a:cubicBezTo>
                  <a:pt x="34131" y="0"/>
                  <a:pt x="0" y="34131"/>
                  <a:pt x="0" y="76200"/>
                </a:cubicBezTo>
                <a:cubicBezTo>
                  <a:pt x="0" y="96520"/>
                  <a:pt x="7938" y="114975"/>
                  <a:pt x="20915" y="128627"/>
                </a:cubicBezTo>
                <a:cubicBezTo>
                  <a:pt x="27464" y="135533"/>
                  <a:pt x="33298" y="143550"/>
                  <a:pt x="36155" y="152400"/>
                </a:cubicBezTo>
                <a:lnTo>
                  <a:pt x="116205" y="152400"/>
                </a:lnTo>
                <a:close/>
                <a:moveTo>
                  <a:pt x="114300" y="171450"/>
                </a:moveTo>
                <a:lnTo>
                  <a:pt x="38100" y="171450"/>
                </a:lnTo>
                <a:lnTo>
                  <a:pt x="38100" y="177800"/>
                </a:lnTo>
                <a:cubicBezTo>
                  <a:pt x="38100" y="195342"/>
                  <a:pt x="52308" y="209550"/>
                  <a:pt x="69850" y="209550"/>
                </a:cubicBezTo>
                <a:lnTo>
                  <a:pt x="82550" y="209550"/>
                </a:lnTo>
                <a:cubicBezTo>
                  <a:pt x="100092" y="209550"/>
                  <a:pt x="114300" y="195342"/>
                  <a:pt x="114300" y="177800"/>
                </a:cubicBezTo>
                <a:lnTo>
                  <a:pt x="114300" y="171450"/>
                </a:lnTo>
                <a:close/>
                <a:moveTo>
                  <a:pt x="73025" y="44450"/>
                </a:moveTo>
                <a:cubicBezTo>
                  <a:pt x="57229" y="44450"/>
                  <a:pt x="44450" y="57229"/>
                  <a:pt x="44450" y="73025"/>
                </a:cubicBezTo>
                <a:cubicBezTo>
                  <a:pt x="44450" y="78303"/>
                  <a:pt x="40203" y="82550"/>
                  <a:pt x="34925" y="82550"/>
                </a:cubicBezTo>
                <a:cubicBezTo>
                  <a:pt x="29647" y="82550"/>
                  <a:pt x="25400" y="78303"/>
                  <a:pt x="25400" y="73025"/>
                </a:cubicBezTo>
                <a:cubicBezTo>
                  <a:pt x="25400" y="46712"/>
                  <a:pt x="46712" y="25400"/>
                  <a:pt x="73025" y="25400"/>
                </a:cubicBezTo>
                <a:cubicBezTo>
                  <a:pt x="78303" y="25400"/>
                  <a:pt x="82550" y="29647"/>
                  <a:pt x="82550" y="34925"/>
                </a:cubicBezTo>
                <a:cubicBezTo>
                  <a:pt x="82550" y="40203"/>
                  <a:pt x="78303" y="44450"/>
                  <a:pt x="73025" y="44450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2133600" y="3022600"/>
            <a:ext cx="111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解耦与复用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331200" y="20828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" y="0"/>
                </a:moveTo>
                <a:lnTo>
                  <a:pt x="965200" y="0"/>
                </a:lnTo>
                <a:cubicBezTo>
                  <a:pt x="993237" y="0"/>
                  <a:pt x="1016000" y="22763"/>
                  <a:pt x="1016000" y="50800"/>
                </a:cubicBezTo>
                <a:lnTo>
                  <a:pt x="1016000" y="965200"/>
                </a:lnTo>
                <a:cubicBezTo>
                  <a:pt x="1016000" y="993237"/>
                  <a:pt x="993237" y="1016000"/>
                  <a:pt x="965200" y="1016000"/>
                </a:cubicBezTo>
                <a:lnTo>
                  <a:pt x="50800" y="1016000"/>
                </a:lnTo>
                <a:cubicBezTo>
                  <a:pt x="22763" y="1016000"/>
                  <a:pt x="0" y="993237"/>
                  <a:pt x="0" y="965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8606929" y="2362200"/>
            <a:ext cx="66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0" y="2082800"/>
            <a:ext cx="6299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分层架构全景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01200" y="2590800"/>
            <a:ext cx="6248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ODS、DWD、DWS、ADS四层体系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626600" y="30734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92273" y="2064"/>
                </a:moveTo>
                <a:cubicBezTo>
                  <a:pt x="98187" y="-675"/>
                  <a:pt x="105013" y="-675"/>
                  <a:pt x="110927" y="2064"/>
                </a:cubicBezTo>
                <a:lnTo>
                  <a:pt x="197683" y="42148"/>
                </a:lnTo>
                <a:cubicBezTo>
                  <a:pt x="201057" y="43696"/>
                  <a:pt x="203200" y="47069"/>
                  <a:pt x="203200" y="50800"/>
                </a:cubicBezTo>
                <a:cubicBezTo>
                  <a:pt x="203200" y="54531"/>
                  <a:pt x="201057" y="57904"/>
                  <a:pt x="197683" y="59452"/>
                </a:cubicBezTo>
                <a:lnTo>
                  <a:pt x="110927" y="99536"/>
                </a:lnTo>
                <a:cubicBezTo>
                  <a:pt x="105013" y="102275"/>
                  <a:pt x="98187" y="102275"/>
                  <a:pt x="92273" y="99536"/>
                </a:cubicBezTo>
                <a:lnTo>
                  <a:pt x="5517" y="59452"/>
                </a:lnTo>
                <a:cubicBezTo>
                  <a:pt x="2143" y="57864"/>
                  <a:pt x="0" y="54491"/>
                  <a:pt x="0" y="50800"/>
                </a:cubicBezTo>
                <a:cubicBezTo>
                  <a:pt x="0" y="47109"/>
                  <a:pt x="2143" y="43696"/>
                  <a:pt x="5517" y="42148"/>
                </a:cubicBezTo>
                <a:lnTo>
                  <a:pt x="92273" y="2064"/>
                </a:lnTo>
                <a:close/>
                <a:moveTo>
                  <a:pt x="19090" y="86678"/>
                </a:moveTo>
                <a:lnTo>
                  <a:pt x="84296" y="116800"/>
                </a:lnTo>
                <a:cubicBezTo>
                  <a:pt x="95290" y="121880"/>
                  <a:pt x="107950" y="121880"/>
                  <a:pt x="118943" y="116800"/>
                </a:cubicBezTo>
                <a:lnTo>
                  <a:pt x="184150" y="86678"/>
                </a:lnTo>
                <a:lnTo>
                  <a:pt x="197683" y="92948"/>
                </a:lnTo>
                <a:cubicBezTo>
                  <a:pt x="201057" y="94496"/>
                  <a:pt x="203200" y="97869"/>
                  <a:pt x="203200" y="101600"/>
                </a:cubicBezTo>
                <a:cubicBezTo>
                  <a:pt x="203200" y="105331"/>
                  <a:pt x="201057" y="108704"/>
                  <a:pt x="197683" y="110252"/>
                </a:cubicBezTo>
                <a:lnTo>
                  <a:pt x="110927" y="150336"/>
                </a:lnTo>
                <a:cubicBezTo>
                  <a:pt x="105013" y="153075"/>
                  <a:pt x="98187" y="153075"/>
                  <a:pt x="92273" y="150336"/>
                </a:cubicBezTo>
                <a:lnTo>
                  <a:pt x="5517" y="110252"/>
                </a:lnTo>
                <a:cubicBezTo>
                  <a:pt x="2143" y="108664"/>
                  <a:pt x="0" y="105291"/>
                  <a:pt x="0" y="101600"/>
                </a:cubicBezTo>
                <a:cubicBezTo>
                  <a:pt x="0" y="97909"/>
                  <a:pt x="2143" y="94496"/>
                  <a:pt x="5517" y="92948"/>
                </a:cubicBezTo>
                <a:lnTo>
                  <a:pt x="19050" y="86678"/>
                </a:lnTo>
                <a:close/>
                <a:moveTo>
                  <a:pt x="5517" y="143748"/>
                </a:moveTo>
                <a:lnTo>
                  <a:pt x="19050" y="137478"/>
                </a:lnTo>
                <a:lnTo>
                  <a:pt x="84257" y="167600"/>
                </a:lnTo>
                <a:cubicBezTo>
                  <a:pt x="95250" y="172680"/>
                  <a:pt x="107910" y="172680"/>
                  <a:pt x="118904" y="167600"/>
                </a:cubicBezTo>
                <a:lnTo>
                  <a:pt x="184110" y="137478"/>
                </a:lnTo>
                <a:lnTo>
                  <a:pt x="197644" y="143748"/>
                </a:lnTo>
                <a:cubicBezTo>
                  <a:pt x="201017" y="145296"/>
                  <a:pt x="203160" y="148669"/>
                  <a:pt x="203160" y="152400"/>
                </a:cubicBezTo>
                <a:cubicBezTo>
                  <a:pt x="203160" y="156131"/>
                  <a:pt x="201017" y="159504"/>
                  <a:pt x="197644" y="161052"/>
                </a:cubicBezTo>
                <a:lnTo>
                  <a:pt x="110887" y="201136"/>
                </a:lnTo>
                <a:cubicBezTo>
                  <a:pt x="104973" y="203875"/>
                  <a:pt x="98147" y="203875"/>
                  <a:pt x="92234" y="201136"/>
                </a:cubicBezTo>
                <a:lnTo>
                  <a:pt x="5517" y="161052"/>
                </a:lnTo>
                <a:cubicBezTo>
                  <a:pt x="2143" y="159464"/>
                  <a:pt x="0" y="156091"/>
                  <a:pt x="0" y="152400"/>
                </a:cubicBezTo>
                <a:cubicBezTo>
                  <a:pt x="0" y="148709"/>
                  <a:pt x="2143" y="145296"/>
                  <a:pt x="5517" y="143748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9956800" y="3022600"/>
            <a:ext cx="111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完整数据流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08000" y="4148634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" y="0"/>
                </a:moveTo>
                <a:lnTo>
                  <a:pt x="965200" y="0"/>
                </a:lnTo>
                <a:cubicBezTo>
                  <a:pt x="993237" y="0"/>
                  <a:pt x="1016000" y="22763"/>
                  <a:pt x="1016000" y="50800"/>
                </a:cubicBezTo>
                <a:lnTo>
                  <a:pt x="1016000" y="965200"/>
                </a:lnTo>
                <a:cubicBezTo>
                  <a:pt x="1016000" y="993237"/>
                  <a:pt x="993237" y="1016000"/>
                  <a:pt x="965200" y="1016000"/>
                </a:cubicBezTo>
                <a:lnTo>
                  <a:pt x="50800" y="1016000"/>
                </a:lnTo>
                <a:cubicBezTo>
                  <a:pt x="22763" y="1016000"/>
                  <a:pt x="0" y="993237"/>
                  <a:pt x="0" y="965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782042" y="4428034"/>
            <a:ext cx="66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1A20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778000" y="4148634"/>
            <a:ext cx="6299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厨房类比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778000" y="4656634"/>
            <a:ext cx="6248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用中央厨房理解分层逻辑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803400" y="5139234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25360" y="5715"/>
                </a:moveTo>
                <a:cubicBezTo>
                  <a:pt x="25043" y="2461"/>
                  <a:pt x="22304" y="0"/>
                  <a:pt x="19050" y="0"/>
                </a:cubicBezTo>
                <a:cubicBezTo>
                  <a:pt x="15796" y="0"/>
                  <a:pt x="13057" y="2461"/>
                  <a:pt x="12700" y="5675"/>
                </a:cubicBezTo>
                <a:lnTo>
                  <a:pt x="7104" y="59412"/>
                </a:lnTo>
                <a:cubicBezTo>
                  <a:pt x="6588" y="61793"/>
                  <a:pt x="6350" y="64214"/>
                  <a:pt x="6350" y="66635"/>
                </a:cubicBezTo>
                <a:cubicBezTo>
                  <a:pt x="6350" y="84852"/>
                  <a:pt x="20280" y="99814"/>
                  <a:pt x="38100" y="101441"/>
                </a:cubicBezTo>
                <a:lnTo>
                  <a:pt x="38100" y="190500"/>
                </a:lnTo>
                <a:cubicBezTo>
                  <a:pt x="38100" y="197525"/>
                  <a:pt x="43775" y="203200"/>
                  <a:pt x="50800" y="203200"/>
                </a:cubicBezTo>
                <a:cubicBezTo>
                  <a:pt x="57825" y="203200"/>
                  <a:pt x="63500" y="197525"/>
                  <a:pt x="63500" y="190500"/>
                </a:cubicBezTo>
                <a:lnTo>
                  <a:pt x="63500" y="101441"/>
                </a:lnTo>
                <a:cubicBezTo>
                  <a:pt x="81320" y="99814"/>
                  <a:pt x="95250" y="84852"/>
                  <a:pt x="95250" y="66635"/>
                </a:cubicBezTo>
                <a:cubicBezTo>
                  <a:pt x="95250" y="64214"/>
                  <a:pt x="95012" y="61793"/>
                  <a:pt x="94496" y="59412"/>
                </a:cubicBezTo>
                <a:lnTo>
                  <a:pt x="88860" y="5675"/>
                </a:lnTo>
                <a:cubicBezTo>
                  <a:pt x="88543" y="2461"/>
                  <a:pt x="85804" y="0"/>
                  <a:pt x="82550" y="0"/>
                </a:cubicBezTo>
                <a:cubicBezTo>
                  <a:pt x="79296" y="0"/>
                  <a:pt x="76557" y="2461"/>
                  <a:pt x="76240" y="5715"/>
                </a:cubicBezTo>
                <a:lnTo>
                  <a:pt x="70842" y="59492"/>
                </a:lnTo>
                <a:cubicBezTo>
                  <a:pt x="70604" y="61754"/>
                  <a:pt x="68699" y="63500"/>
                  <a:pt x="66437" y="63500"/>
                </a:cubicBezTo>
                <a:cubicBezTo>
                  <a:pt x="64135" y="63500"/>
                  <a:pt x="62230" y="61754"/>
                  <a:pt x="61992" y="59452"/>
                </a:cubicBezTo>
                <a:lnTo>
                  <a:pt x="57110" y="5794"/>
                </a:lnTo>
                <a:cubicBezTo>
                  <a:pt x="56832" y="2500"/>
                  <a:pt x="54094" y="0"/>
                  <a:pt x="50800" y="0"/>
                </a:cubicBezTo>
                <a:cubicBezTo>
                  <a:pt x="47506" y="0"/>
                  <a:pt x="44768" y="2500"/>
                  <a:pt x="44490" y="5794"/>
                </a:cubicBezTo>
                <a:lnTo>
                  <a:pt x="39608" y="59452"/>
                </a:lnTo>
                <a:cubicBezTo>
                  <a:pt x="39410" y="61754"/>
                  <a:pt x="37465" y="63500"/>
                  <a:pt x="35163" y="63500"/>
                </a:cubicBezTo>
                <a:cubicBezTo>
                  <a:pt x="32861" y="63500"/>
                  <a:pt x="30956" y="61754"/>
                  <a:pt x="30758" y="59492"/>
                </a:cubicBezTo>
                <a:lnTo>
                  <a:pt x="25360" y="5715"/>
                </a:lnTo>
                <a:close/>
                <a:moveTo>
                  <a:pt x="177800" y="0"/>
                </a:moveTo>
                <a:cubicBezTo>
                  <a:pt x="171450" y="0"/>
                  <a:pt x="127000" y="12700"/>
                  <a:pt x="127000" y="69850"/>
                </a:cubicBezTo>
                <a:lnTo>
                  <a:pt x="127000" y="114300"/>
                </a:lnTo>
                <a:cubicBezTo>
                  <a:pt x="127000" y="128310"/>
                  <a:pt x="138390" y="139700"/>
                  <a:pt x="152400" y="139700"/>
                </a:cubicBezTo>
                <a:lnTo>
                  <a:pt x="165100" y="139700"/>
                </a:lnTo>
                <a:lnTo>
                  <a:pt x="165100" y="190500"/>
                </a:lnTo>
                <a:cubicBezTo>
                  <a:pt x="165100" y="197525"/>
                  <a:pt x="170775" y="203200"/>
                  <a:pt x="177800" y="203200"/>
                </a:cubicBezTo>
                <a:cubicBezTo>
                  <a:pt x="184825" y="203200"/>
                  <a:pt x="190500" y="197525"/>
                  <a:pt x="190500" y="190500"/>
                </a:cubicBezTo>
                <a:lnTo>
                  <a:pt x="190500" y="12700"/>
                </a:lnTo>
                <a:cubicBezTo>
                  <a:pt x="190500" y="5675"/>
                  <a:pt x="184825" y="0"/>
                  <a:pt x="177800" y="0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2133600" y="5088434"/>
            <a:ext cx="111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生活化理解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331200" y="4148634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" y="0"/>
                </a:moveTo>
                <a:lnTo>
                  <a:pt x="965200" y="0"/>
                </a:lnTo>
                <a:cubicBezTo>
                  <a:pt x="993237" y="0"/>
                  <a:pt x="1016000" y="22763"/>
                  <a:pt x="1016000" y="50800"/>
                </a:cubicBezTo>
                <a:lnTo>
                  <a:pt x="1016000" y="965200"/>
                </a:lnTo>
                <a:cubicBezTo>
                  <a:pt x="1016000" y="993237"/>
                  <a:pt x="993237" y="1016000"/>
                  <a:pt x="965200" y="1016000"/>
                </a:cubicBezTo>
                <a:lnTo>
                  <a:pt x="50800" y="1016000"/>
                </a:lnTo>
                <a:cubicBezTo>
                  <a:pt x="22763" y="1016000"/>
                  <a:pt x="0" y="993237"/>
                  <a:pt x="0" y="965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8605441" y="4428034"/>
            <a:ext cx="66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1A20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601200" y="4148634"/>
            <a:ext cx="6299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案例推演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601200" y="4656634"/>
            <a:ext cx="6248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银行转账数据的升维之旅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626600" y="5139234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99469" y="59769"/>
                </a:moveTo>
                <a:lnTo>
                  <a:pt x="161369" y="97869"/>
                </a:lnTo>
                <a:cubicBezTo>
                  <a:pt x="157718" y="101521"/>
                  <a:pt x="152281" y="102592"/>
                  <a:pt x="147518" y="100608"/>
                </a:cubicBezTo>
                <a:cubicBezTo>
                  <a:pt x="142756" y="98623"/>
                  <a:pt x="139700" y="94020"/>
                  <a:pt x="139700" y="88900"/>
                </a:cubicBezTo>
                <a:lnTo>
                  <a:pt x="139700" y="63500"/>
                </a:lnTo>
                <a:lnTo>
                  <a:pt x="12700" y="63500"/>
                </a:lnTo>
                <a:cubicBezTo>
                  <a:pt x="5675" y="63500"/>
                  <a:pt x="0" y="57825"/>
                  <a:pt x="0" y="50800"/>
                </a:cubicBezTo>
                <a:cubicBezTo>
                  <a:pt x="0" y="43775"/>
                  <a:pt x="5675" y="38100"/>
                  <a:pt x="12700" y="38100"/>
                </a:cubicBezTo>
                <a:lnTo>
                  <a:pt x="139700" y="38100"/>
                </a:lnTo>
                <a:lnTo>
                  <a:pt x="139700" y="12700"/>
                </a:lnTo>
                <a:cubicBezTo>
                  <a:pt x="139700" y="7580"/>
                  <a:pt x="142796" y="2937"/>
                  <a:pt x="147558" y="952"/>
                </a:cubicBezTo>
                <a:cubicBezTo>
                  <a:pt x="152321" y="-1032"/>
                  <a:pt x="157758" y="79"/>
                  <a:pt x="161409" y="3691"/>
                </a:cubicBezTo>
                <a:lnTo>
                  <a:pt x="199509" y="41791"/>
                </a:lnTo>
                <a:cubicBezTo>
                  <a:pt x="204470" y="46752"/>
                  <a:pt x="204470" y="54808"/>
                  <a:pt x="199509" y="59769"/>
                </a:cubicBezTo>
                <a:close/>
                <a:moveTo>
                  <a:pt x="41791" y="199469"/>
                </a:moveTo>
                <a:lnTo>
                  <a:pt x="3691" y="161369"/>
                </a:lnTo>
                <a:cubicBezTo>
                  <a:pt x="-1270" y="156408"/>
                  <a:pt x="-1270" y="148352"/>
                  <a:pt x="3691" y="143391"/>
                </a:cubicBezTo>
                <a:lnTo>
                  <a:pt x="41791" y="105291"/>
                </a:lnTo>
                <a:cubicBezTo>
                  <a:pt x="45442" y="101640"/>
                  <a:pt x="50879" y="100568"/>
                  <a:pt x="55642" y="102553"/>
                </a:cubicBezTo>
                <a:cubicBezTo>
                  <a:pt x="60404" y="104537"/>
                  <a:pt x="63500" y="109180"/>
                  <a:pt x="63500" y="114300"/>
                </a:cubicBezTo>
                <a:lnTo>
                  <a:pt x="63500" y="139700"/>
                </a:lnTo>
                <a:lnTo>
                  <a:pt x="190500" y="139700"/>
                </a:lnTo>
                <a:cubicBezTo>
                  <a:pt x="197525" y="139700"/>
                  <a:pt x="203200" y="145375"/>
                  <a:pt x="203200" y="152400"/>
                </a:cubicBezTo>
                <a:cubicBezTo>
                  <a:pt x="203200" y="159425"/>
                  <a:pt x="197525" y="165100"/>
                  <a:pt x="190500" y="165100"/>
                </a:cubicBezTo>
                <a:lnTo>
                  <a:pt x="63500" y="165100"/>
                </a:lnTo>
                <a:lnTo>
                  <a:pt x="63500" y="190500"/>
                </a:lnTo>
                <a:cubicBezTo>
                  <a:pt x="63500" y="195620"/>
                  <a:pt x="60404" y="200263"/>
                  <a:pt x="55642" y="202248"/>
                </a:cubicBezTo>
                <a:cubicBezTo>
                  <a:pt x="50879" y="204232"/>
                  <a:pt x="45442" y="203121"/>
                  <a:pt x="41791" y="199509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9956800" y="5088434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实战演练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08000" y="6214467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" y="0"/>
                </a:moveTo>
                <a:lnTo>
                  <a:pt x="965200" y="0"/>
                </a:lnTo>
                <a:cubicBezTo>
                  <a:pt x="993237" y="0"/>
                  <a:pt x="1016000" y="22763"/>
                  <a:pt x="1016000" y="50800"/>
                </a:cubicBezTo>
                <a:lnTo>
                  <a:pt x="1016000" y="965200"/>
                </a:lnTo>
                <a:cubicBezTo>
                  <a:pt x="1016000" y="993237"/>
                  <a:pt x="993237" y="1016000"/>
                  <a:pt x="965200" y="1016000"/>
                </a:cubicBezTo>
                <a:lnTo>
                  <a:pt x="50800" y="1016000"/>
                </a:lnTo>
                <a:cubicBezTo>
                  <a:pt x="22763" y="1016000"/>
                  <a:pt x="0" y="993237"/>
                  <a:pt x="0" y="965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784721" y="6493867"/>
            <a:ext cx="647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778000" y="6214467"/>
            <a:ext cx="14122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最佳实践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778000" y="6722467"/>
            <a:ext cx="14071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常见误区与工程经验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790700" y="7205067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122833" y="-7501"/>
                </a:moveTo>
                <a:cubicBezTo>
                  <a:pt x="121206" y="-10676"/>
                  <a:pt x="117912" y="-12700"/>
                  <a:pt x="114340" y="-12700"/>
                </a:cubicBezTo>
                <a:cubicBezTo>
                  <a:pt x="110768" y="-12700"/>
                  <a:pt x="107474" y="-10676"/>
                  <a:pt x="105847" y="-7501"/>
                </a:cubicBezTo>
                <a:lnTo>
                  <a:pt x="76637" y="49728"/>
                </a:lnTo>
                <a:lnTo>
                  <a:pt x="13176" y="59809"/>
                </a:lnTo>
                <a:cubicBezTo>
                  <a:pt x="9644" y="60365"/>
                  <a:pt x="6707" y="62865"/>
                  <a:pt x="5596" y="66278"/>
                </a:cubicBezTo>
                <a:cubicBezTo>
                  <a:pt x="4485" y="69691"/>
                  <a:pt x="5398" y="73422"/>
                  <a:pt x="7898" y="75962"/>
                </a:cubicBezTo>
                <a:lnTo>
                  <a:pt x="53300" y="121404"/>
                </a:lnTo>
                <a:lnTo>
                  <a:pt x="43299" y="184864"/>
                </a:lnTo>
                <a:cubicBezTo>
                  <a:pt x="42743" y="188397"/>
                  <a:pt x="44212" y="191968"/>
                  <a:pt x="47109" y="194072"/>
                </a:cubicBezTo>
                <a:cubicBezTo>
                  <a:pt x="50006" y="196175"/>
                  <a:pt x="53816" y="196493"/>
                  <a:pt x="57031" y="194866"/>
                </a:cubicBezTo>
                <a:lnTo>
                  <a:pt x="114340" y="165735"/>
                </a:lnTo>
                <a:lnTo>
                  <a:pt x="171609" y="194866"/>
                </a:lnTo>
                <a:cubicBezTo>
                  <a:pt x="174784" y="196493"/>
                  <a:pt x="178633" y="196175"/>
                  <a:pt x="181531" y="194072"/>
                </a:cubicBezTo>
                <a:cubicBezTo>
                  <a:pt x="184428" y="191968"/>
                  <a:pt x="185896" y="188436"/>
                  <a:pt x="185341" y="184864"/>
                </a:cubicBezTo>
                <a:lnTo>
                  <a:pt x="175300" y="121404"/>
                </a:lnTo>
                <a:lnTo>
                  <a:pt x="220702" y="75962"/>
                </a:lnTo>
                <a:cubicBezTo>
                  <a:pt x="223242" y="73422"/>
                  <a:pt x="224115" y="69691"/>
                  <a:pt x="223004" y="66278"/>
                </a:cubicBezTo>
                <a:cubicBezTo>
                  <a:pt x="221893" y="62865"/>
                  <a:pt x="218996" y="60365"/>
                  <a:pt x="215424" y="59809"/>
                </a:cubicBezTo>
                <a:lnTo>
                  <a:pt x="152003" y="49728"/>
                </a:lnTo>
                <a:lnTo>
                  <a:pt x="122833" y="-7501"/>
                </a:ln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2133600" y="7154267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工程智慧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33400" y="83820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0"/>
                </a:moveTo>
                <a:cubicBezTo>
                  <a:pt x="157675" y="0"/>
                  <a:pt x="203200" y="45525"/>
                  <a:pt x="203200" y="101600"/>
                </a:cubicBezTo>
                <a:cubicBezTo>
                  <a:pt x="203200" y="157675"/>
                  <a:pt x="157675" y="203200"/>
                  <a:pt x="101600" y="203200"/>
                </a:cubicBezTo>
                <a:cubicBezTo>
                  <a:pt x="45525" y="203200"/>
                  <a:pt x="0" y="157675"/>
                  <a:pt x="0" y="101600"/>
                </a:cubicBezTo>
                <a:cubicBezTo>
                  <a:pt x="0" y="45525"/>
                  <a:pt x="45525" y="0"/>
                  <a:pt x="101600" y="0"/>
                </a:cubicBezTo>
                <a:close/>
                <a:moveTo>
                  <a:pt x="92075" y="47625"/>
                </a:moveTo>
                <a:lnTo>
                  <a:pt x="92075" y="101600"/>
                </a:lnTo>
                <a:cubicBezTo>
                  <a:pt x="92075" y="104775"/>
                  <a:pt x="93663" y="107752"/>
                  <a:pt x="96322" y="109538"/>
                </a:cubicBezTo>
                <a:lnTo>
                  <a:pt x="134422" y="134938"/>
                </a:lnTo>
                <a:cubicBezTo>
                  <a:pt x="138787" y="137874"/>
                  <a:pt x="144701" y="136684"/>
                  <a:pt x="147638" y="132278"/>
                </a:cubicBezTo>
                <a:cubicBezTo>
                  <a:pt x="150574" y="127873"/>
                  <a:pt x="149384" y="121999"/>
                  <a:pt x="144978" y="119063"/>
                </a:cubicBezTo>
                <a:lnTo>
                  <a:pt x="111125" y="96520"/>
                </a:lnTo>
                <a:lnTo>
                  <a:pt x="111125" y="47625"/>
                </a:lnTo>
                <a:cubicBezTo>
                  <a:pt x="111125" y="42347"/>
                  <a:pt x="106878" y="38100"/>
                  <a:pt x="101600" y="38100"/>
                </a:cubicBezTo>
                <a:cubicBezTo>
                  <a:pt x="96322" y="38100"/>
                  <a:pt x="92075" y="42347"/>
                  <a:pt x="92075" y="47625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863600" y="8331200"/>
            <a:ext cx="218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预计课程时长：90分钟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245545" y="8356600"/>
            <a:ext cx="12700" cy="254000"/>
          </a:xfrm>
          <a:custGeom>
            <a:avLst/>
            <a:gdLst/>
            <a:ahLst/>
            <a:cxnLst/>
            <a:rect l="l" t="t" r="r" b="b"/>
            <a:pathLst>
              <a:path w="12700" h="254000">
                <a:moveTo>
                  <a:pt x="0" y="0"/>
                </a:moveTo>
                <a:lnTo>
                  <a:pt x="12700" y="0"/>
                </a:lnTo>
                <a:lnTo>
                  <a:pt x="12700" y="254000"/>
                </a:lnTo>
                <a:lnTo>
                  <a:pt x="0" y="254000"/>
                </a:lnTo>
                <a:lnTo>
                  <a:pt x="0" y="0"/>
                </a:ln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3563045" y="8382000"/>
            <a:ext cx="254000" cy="203200"/>
          </a:xfrm>
          <a:custGeom>
            <a:avLst/>
            <a:gdLst/>
            <a:ahLst/>
            <a:cxnLst/>
            <a:rect l="l" t="t" r="r" b="b"/>
            <a:pathLst>
              <a:path w="254000" h="203200">
                <a:moveTo>
                  <a:pt x="127000" y="6350"/>
                </a:moveTo>
                <a:cubicBezTo>
                  <a:pt x="149780" y="6350"/>
                  <a:pt x="168275" y="24845"/>
                  <a:pt x="168275" y="47625"/>
                </a:cubicBezTo>
                <a:cubicBezTo>
                  <a:pt x="168275" y="70405"/>
                  <a:pt x="149780" y="88900"/>
                  <a:pt x="127000" y="88900"/>
                </a:cubicBezTo>
                <a:cubicBezTo>
                  <a:pt x="104220" y="88900"/>
                  <a:pt x="85725" y="70405"/>
                  <a:pt x="85725" y="47625"/>
                </a:cubicBezTo>
                <a:cubicBezTo>
                  <a:pt x="85725" y="24845"/>
                  <a:pt x="104220" y="6350"/>
                  <a:pt x="127000" y="6350"/>
                </a:cubicBezTo>
                <a:close/>
                <a:moveTo>
                  <a:pt x="38100" y="34925"/>
                </a:moveTo>
                <a:cubicBezTo>
                  <a:pt x="53871" y="34925"/>
                  <a:pt x="66675" y="47729"/>
                  <a:pt x="66675" y="63500"/>
                </a:cubicBezTo>
                <a:cubicBezTo>
                  <a:pt x="66675" y="79271"/>
                  <a:pt x="53871" y="92075"/>
                  <a:pt x="38100" y="92075"/>
                </a:cubicBezTo>
                <a:cubicBezTo>
                  <a:pt x="22329" y="92075"/>
                  <a:pt x="9525" y="79271"/>
                  <a:pt x="9525" y="63500"/>
                </a:cubicBezTo>
                <a:cubicBezTo>
                  <a:pt x="9525" y="47729"/>
                  <a:pt x="22329" y="34925"/>
                  <a:pt x="38100" y="34925"/>
                </a:cubicBezTo>
                <a:close/>
                <a:moveTo>
                  <a:pt x="0" y="165100"/>
                </a:moveTo>
                <a:cubicBezTo>
                  <a:pt x="0" y="137041"/>
                  <a:pt x="22741" y="114300"/>
                  <a:pt x="50800" y="114300"/>
                </a:cubicBezTo>
                <a:cubicBezTo>
                  <a:pt x="55880" y="114300"/>
                  <a:pt x="60801" y="115054"/>
                  <a:pt x="65445" y="116443"/>
                </a:cubicBezTo>
                <a:cubicBezTo>
                  <a:pt x="52388" y="131048"/>
                  <a:pt x="44450" y="150336"/>
                  <a:pt x="44450" y="171450"/>
                </a:cubicBezTo>
                <a:lnTo>
                  <a:pt x="44450" y="177800"/>
                </a:lnTo>
                <a:cubicBezTo>
                  <a:pt x="44450" y="182324"/>
                  <a:pt x="45403" y="186611"/>
                  <a:pt x="47109" y="190500"/>
                </a:cubicBezTo>
                <a:lnTo>
                  <a:pt x="12700" y="190500"/>
                </a:lnTo>
                <a:cubicBezTo>
                  <a:pt x="5675" y="190500"/>
                  <a:pt x="0" y="184825"/>
                  <a:pt x="0" y="177800"/>
                </a:cubicBezTo>
                <a:lnTo>
                  <a:pt x="0" y="165100"/>
                </a:lnTo>
                <a:close/>
                <a:moveTo>
                  <a:pt x="206891" y="190500"/>
                </a:moveTo>
                <a:cubicBezTo>
                  <a:pt x="208597" y="186611"/>
                  <a:pt x="209550" y="182324"/>
                  <a:pt x="209550" y="177800"/>
                </a:cubicBezTo>
                <a:lnTo>
                  <a:pt x="209550" y="171450"/>
                </a:lnTo>
                <a:cubicBezTo>
                  <a:pt x="209550" y="150336"/>
                  <a:pt x="201613" y="131048"/>
                  <a:pt x="188555" y="116443"/>
                </a:cubicBezTo>
                <a:cubicBezTo>
                  <a:pt x="193199" y="115054"/>
                  <a:pt x="198120" y="114300"/>
                  <a:pt x="203200" y="114300"/>
                </a:cubicBezTo>
                <a:cubicBezTo>
                  <a:pt x="231259" y="114300"/>
                  <a:pt x="254000" y="137041"/>
                  <a:pt x="254000" y="165100"/>
                </a:cubicBezTo>
                <a:lnTo>
                  <a:pt x="254000" y="177800"/>
                </a:lnTo>
                <a:cubicBezTo>
                  <a:pt x="254000" y="184825"/>
                  <a:pt x="248325" y="190500"/>
                  <a:pt x="241300" y="190500"/>
                </a:cubicBezTo>
                <a:lnTo>
                  <a:pt x="206891" y="190500"/>
                </a:lnTo>
                <a:close/>
                <a:moveTo>
                  <a:pt x="187325" y="63500"/>
                </a:moveTo>
                <a:cubicBezTo>
                  <a:pt x="187325" y="47729"/>
                  <a:pt x="200129" y="34925"/>
                  <a:pt x="215900" y="34925"/>
                </a:cubicBezTo>
                <a:cubicBezTo>
                  <a:pt x="231671" y="34925"/>
                  <a:pt x="244475" y="47729"/>
                  <a:pt x="244475" y="63500"/>
                </a:cubicBezTo>
                <a:cubicBezTo>
                  <a:pt x="244475" y="79271"/>
                  <a:pt x="231671" y="92075"/>
                  <a:pt x="215900" y="92075"/>
                </a:cubicBezTo>
                <a:cubicBezTo>
                  <a:pt x="200129" y="92075"/>
                  <a:pt x="187325" y="79271"/>
                  <a:pt x="187325" y="63500"/>
                </a:cubicBezTo>
                <a:close/>
                <a:moveTo>
                  <a:pt x="63500" y="171450"/>
                </a:moveTo>
                <a:cubicBezTo>
                  <a:pt x="63500" y="136366"/>
                  <a:pt x="91916" y="107950"/>
                  <a:pt x="127000" y="107950"/>
                </a:cubicBezTo>
                <a:cubicBezTo>
                  <a:pt x="162084" y="107950"/>
                  <a:pt x="190500" y="136366"/>
                  <a:pt x="190500" y="171450"/>
                </a:cubicBezTo>
                <a:lnTo>
                  <a:pt x="190500" y="177800"/>
                </a:lnTo>
                <a:cubicBezTo>
                  <a:pt x="190500" y="184825"/>
                  <a:pt x="184825" y="190500"/>
                  <a:pt x="177800" y="190500"/>
                </a:cubicBezTo>
                <a:lnTo>
                  <a:pt x="76200" y="190500"/>
                </a:lnTo>
                <a:cubicBezTo>
                  <a:pt x="69175" y="190500"/>
                  <a:pt x="63500" y="184825"/>
                  <a:pt x="63500" y="177800"/>
                </a:cubicBezTo>
                <a:lnTo>
                  <a:pt x="63500" y="171450"/>
                </a:ln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3918645" y="8331200"/>
            <a:ext cx="335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适合对象：数据工程师、数据架构师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stockcake.com/4b348ac86aef5e41b603daece7dac19c48ea7ef2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781" b="781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202C"/>
              </a:gs>
              <a:gs pos="50000">
                <a:srgbClr val="1A202C">
                  <a:alpha val="95000"/>
                </a:srgbClr>
              </a:gs>
              <a:gs pos="100000">
                <a:srgbClr val="1A202C">
                  <a:alpha val="7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508000" y="2540000"/>
            <a:ext cx="2717800" cy="711200"/>
          </a:xfrm>
          <a:custGeom>
            <a:avLst/>
            <a:gdLst/>
            <a:ahLst/>
            <a:cxnLst/>
            <a:rect l="l" t="t" r="r" b="b"/>
            <a:pathLst>
              <a:path w="2717800" h="711200">
                <a:moveTo>
                  <a:pt x="0" y="0"/>
                </a:moveTo>
                <a:lnTo>
                  <a:pt x="2717800" y="0"/>
                </a:lnTo>
                <a:lnTo>
                  <a:pt x="27178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914400" y="2679700"/>
            <a:ext cx="205869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kern="0" spc="120" dirty="0">
                <a:solidFill>
                  <a:srgbClr val="1A20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3657600"/>
            <a:ext cx="158496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9600" b="1" dirty="0">
                <a:solidFill>
                  <a:srgbClr val="E2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核心理念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8000" y="5588000"/>
            <a:ext cx="2032000" cy="101600"/>
          </a:xfrm>
          <a:custGeom>
            <a:avLst/>
            <a:gdLst/>
            <a:ahLst/>
            <a:cxnLst/>
            <a:rect l="l" t="t" r="r" b="b"/>
            <a:pathLst>
              <a:path w="2032000" h="101600">
                <a:moveTo>
                  <a:pt x="0" y="0"/>
                </a:moveTo>
                <a:lnTo>
                  <a:pt x="2032000" y="0"/>
                </a:lnTo>
                <a:lnTo>
                  <a:pt x="2032000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508000" y="60960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dirty="0">
                <a:solidFill>
                  <a:srgbClr val="71809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数据治理的熵减过程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08000"/>
            <a:ext cx="2120900" cy="406400"/>
          </a:xfrm>
          <a:custGeom>
            <a:avLst/>
            <a:gdLst/>
            <a:ahLst/>
            <a:cxnLst/>
            <a:rect l="l" t="t" r="r" b="b"/>
            <a:pathLst>
              <a:path w="2120900" h="406400">
                <a:moveTo>
                  <a:pt x="0" y="0"/>
                </a:moveTo>
                <a:lnTo>
                  <a:pt x="2120900" y="0"/>
                </a:lnTo>
                <a:lnTo>
                  <a:pt x="21209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D69E2E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533400" y="508000"/>
            <a:ext cx="50800" cy="406400"/>
          </a:xfrm>
          <a:custGeom>
            <a:avLst/>
            <a:gdLst/>
            <a:ahLst/>
            <a:cxnLst/>
            <a:rect l="l" t="t" r="r" b="b"/>
            <a:pathLst>
              <a:path w="50800" h="406400">
                <a:moveTo>
                  <a:pt x="0" y="0"/>
                </a:moveTo>
                <a:lnTo>
                  <a:pt x="50800" y="0"/>
                </a:lnTo>
                <a:lnTo>
                  <a:pt x="508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2000" y="577850"/>
            <a:ext cx="178802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CORE CONCEPT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8000" y="10160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2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数据分层的本质：工业流水线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33400" y="1828800"/>
            <a:ext cx="10033000" cy="2095500"/>
          </a:xfrm>
          <a:custGeom>
            <a:avLst/>
            <a:gdLst/>
            <a:ahLst/>
            <a:cxnLst/>
            <a:rect l="l" t="t" r="r" b="b"/>
            <a:pathLst>
              <a:path w="10033000" h="2095500">
                <a:moveTo>
                  <a:pt x="50800" y="0"/>
                </a:moveTo>
                <a:lnTo>
                  <a:pt x="9931410" y="0"/>
                </a:lnTo>
                <a:cubicBezTo>
                  <a:pt x="9987517" y="0"/>
                  <a:pt x="10033000" y="45483"/>
                  <a:pt x="10033000" y="101590"/>
                </a:cubicBezTo>
                <a:lnTo>
                  <a:pt x="10033000" y="1993910"/>
                </a:lnTo>
                <a:cubicBezTo>
                  <a:pt x="10033000" y="2050017"/>
                  <a:pt x="9987517" y="2095500"/>
                  <a:pt x="9931410" y="2095500"/>
                </a:cubicBezTo>
                <a:lnTo>
                  <a:pt x="50800" y="2095500"/>
                </a:lnTo>
                <a:cubicBezTo>
                  <a:pt x="22744" y="2095500"/>
                  <a:pt x="0" y="2072756"/>
                  <a:pt x="0" y="20447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>
              <a:alpha val="4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33400" y="1828800"/>
            <a:ext cx="50800" cy="2095500"/>
          </a:xfrm>
          <a:custGeom>
            <a:avLst/>
            <a:gdLst/>
            <a:ahLst/>
            <a:cxnLst/>
            <a:rect l="l" t="t" r="r" b="b"/>
            <a:pathLst>
              <a:path w="50800" h="2095500">
                <a:moveTo>
                  <a:pt x="50800" y="0"/>
                </a:moveTo>
                <a:lnTo>
                  <a:pt x="50800" y="0"/>
                </a:lnTo>
                <a:lnTo>
                  <a:pt x="50800" y="2095500"/>
                </a:lnTo>
                <a:lnTo>
                  <a:pt x="50800" y="2095500"/>
                </a:lnTo>
                <a:cubicBezTo>
                  <a:pt x="22763" y="2095500"/>
                  <a:pt x="0" y="2072737"/>
                  <a:pt x="0" y="20447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863600" y="2192834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50801" y="0"/>
                </a:moveTo>
                <a:lnTo>
                  <a:pt x="660399" y="0"/>
                </a:lnTo>
                <a:cubicBezTo>
                  <a:pt x="688456" y="0"/>
                  <a:pt x="711200" y="22744"/>
                  <a:pt x="711200" y="50801"/>
                </a:cubicBezTo>
                <a:lnTo>
                  <a:pt x="711200" y="660399"/>
                </a:lnTo>
                <a:cubicBezTo>
                  <a:pt x="711200" y="688456"/>
                  <a:pt x="688456" y="711200"/>
                  <a:pt x="660399" y="711200"/>
                </a:cubicBezTo>
                <a:lnTo>
                  <a:pt x="50801" y="711200"/>
                </a:lnTo>
                <a:cubicBezTo>
                  <a:pt x="22744" y="711200"/>
                  <a:pt x="0" y="688456"/>
                  <a:pt x="0" y="6603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D69E2E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1066800" y="2396034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8410" y="3096"/>
                </a:moveTo>
                <a:cubicBezTo>
                  <a:pt x="147280" y="-1012"/>
                  <a:pt x="157520" y="-1012"/>
                  <a:pt x="166390" y="3096"/>
                </a:cubicBezTo>
                <a:lnTo>
                  <a:pt x="296525" y="63222"/>
                </a:lnTo>
                <a:cubicBezTo>
                  <a:pt x="301585" y="65544"/>
                  <a:pt x="304800" y="70604"/>
                  <a:pt x="304800" y="76200"/>
                </a:cubicBezTo>
                <a:cubicBezTo>
                  <a:pt x="304800" y="81796"/>
                  <a:pt x="301585" y="86856"/>
                  <a:pt x="296525" y="89178"/>
                </a:cubicBezTo>
                <a:lnTo>
                  <a:pt x="166390" y="149304"/>
                </a:lnTo>
                <a:cubicBezTo>
                  <a:pt x="157520" y="153412"/>
                  <a:pt x="147280" y="153412"/>
                  <a:pt x="138410" y="149304"/>
                </a:cubicBezTo>
                <a:lnTo>
                  <a:pt x="8275" y="89178"/>
                </a:lnTo>
                <a:cubicBezTo>
                  <a:pt x="3215" y="86797"/>
                  <a:pt x="0" y="81736"/>
                  <a:pt x="0" y="76200"/>
                </a:cubicBezTo>
                <a:cubicBezTo>
                  <a:pt x="0" y="70664"/>
                  <a:pt x="3215" y="65544"/>
                  <a:pt x="8275" y="63222"/>
                </a:cubicBezTo>
                <a:lnTo>
                  <a:pt x="138410" y="3096"/>
                </a:lnTo>
                <a:close/>
                <a:moveTo>
                  <a:pt x="28635" y="130016"/>
                </a:moveTo>
                <a:lnTo>
                  <a:pt x="126444" y="175200"/>
                </a:lnTo>
                <a:cubicBezTo>
                  <a:pt x="142935" y="182820"/>
                  <a:pt x="161925" y="182820"/>
                  <a:pt x="178415" y="175200"/>
                </a:cubicBezTo>
                <a:lnTo>
                  <a:pt x="276225" y="130016"/>
                </a:lnTo>
                <a:lnTo>
                  <a:pt x="296525" y="139422"/>
                </a:lnTo>
                <a:cubicBezTo>
                  <a:pt x="301585" y="141744"/>
                  <a:pt x="304800" y="146804"/>
                  <a:pt x="304800" y="152400"/>
                </a:cubicBezTo>
                <a:cubicBezTo>
                  <a:pt x="304800" y="157996"/>
                  <a:pt x="301585" y="163056"/>
                  <a:pt x="296525" y="165378"/>
                </a:cubicBezTo>
                <a:lnTo>
                  <a:pt x="166390" y="225504"/>
                </a:lnTo>
                <a:cubicBezTo>
                  <a:pt x="157520" y="229612"/>
                  <a:pt x="147280" y="229612"/>
                  <a:pt x="138410" y="225504"/>
                </a:cubicBezTo>
                <a:lnTo>
                  <a:pt x="8275" y="165378"/>
                </a:lnTo>
                <a:cubicBezTo>
                  <a:pt x="3215" y="162997"/>
                  <a:pt x="0" y="157936"/>
                  <a:pt x="0" y="152400"/>
                </a:cubicBezTo>
                <a:cubicBezTo>
                  <a:pt x="0" y="146864"/>
                  <a:pt x="3215" y="141744"/>
                  <a:pt x="8275" y="139422"/>
                </a:cubicBezTo>
                <a:lnTo>
                  <a:pt x="28575" y="130016"/>
                </a:lnTo>
                <a:close/>
                <a:moveTo>
                  <a:pt x="8275" y="215622"/>
                </a:moveTo>
                <a:lnTo>
                  <a:pt x="28575" y="206216"/>
                </a:lnTo>
                <a:lnTo>
                  <a:pt x="126385" y="251400"/>
                </a:lnTo>
                <a:cubicBezTo>
                  <a:pt x="142875" y="259020"/>
                  <a:pt x="161865" y="259020"/>
                  <a:pt x="178356" y="251400"/>
                </a:cubicBezTo>
                <a:lnTo>
                  <a:pt x="276165" y="206216"/>
                </a:lnTo>
                <a:lnTo>
                  <a:pt x="296466" y="215622"/>
                </a:lnTo>
                <a:cubicBezTo>
                  <a:pt x="301526" y="217944"/>
                  <a:pt x="304740" y="223004"/>
                  <a:pt x="304740" y="228600"/>
                </a:cubicBezTo>
                <a:cubicBezTo>
                  <a:pt x="304740" y="234196"/>
                  <a:pt x="301526" y="239256"/>
                  <a:pt x="296466" y="241578"/>
                </a:cubicBezTo>
                <a:lnTo>
                  <a:pt x="166330" y="301704"/>
                </a:lnTo>
                <a:cubicBezTo>
                  <a:pt x="157460" y="305812"/>
                  <a:pt x="147221" y="305812"/>
                  <a:pt x="138351" y="301704"/>
                </a:cubicBezTo>
                <a:lnTo>
                  <a:pt x="8275" y="241578"/>
                </a:lnTo>
                <a:cubicBezTo>
                  <a:pt x="3215" y="239197"/>
                  <a:pt x="0" y="234136"/>
                  <a:pt x="0" y="228600"/>
                </a:cubicBezTo>
                <a:cubicBezTo>
                  <a:pt x="0" y="223064"/>
                  <a:pt x="3215" y="217944"/>
                  <a:pt x="8275" y="215622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778000" y="2192834"/>
            <a:ext cx="8636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核心理念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778000" y="2751634"/>
            <a:ext cx="8585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数据分层是一条将</a:t>
            </a:r>
            <a:r>
              <a:rPr lang="en-US" sz="1600" dirty="0">
                <a:solidFill>
                  <a:srgbClr val="D69E2E"/>
                </a:solidFill>
                <a:highlight>
                  <a:srgbClr val="D69E2E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「原始数据」加工成「数据资产」 </a:t>
            </a:r>
            <a:r>
              <a:rPr lang="en-US" sz="160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的工业流水线。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778000" y="3234234"/>
            <a:ext cx="8585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其核心目的是通过</a:t>
            </a:r>
            <a:r>
              <a:rPr lang="en-US" sz="1600" b="1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解耦(Decoupling)</a:t>
            </a:r>
            <a:r>
              <a:rPr lang="en-US" sz="16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和</a:t>
            </a:r>
            <a:r>
              <a:rPr lang="en-US" sz="1600" b="1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复用(Reusability)</a:t>
            </a:r>
            <a:r>
              <a:rPr lang="en-US" sz="16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来实现数据治理的熵减。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33400" y="4182566"/>
            <a:ext cx="10033000" cy="2095500"/>
          </a:xfrm>
          <a:custGeom>
            <a:avLst/>
            <a:gdLst/>
            <a:ahLst/>
            <a:cxnLst/>
            <a:rect l="l" t="t" r="r" b="b"/>
            <a:pathLst>
              <a:path w="10033000" h="2095500">
                <a:moveTo>
                  <a:pt x="50800" y="0"/>
                </a:moveTo>
                <a:lnTo>
                  <a:pt x="9931410" y="0"/>
                </a:lnTo>
                <a:cubicBezTo>
                  <a:pt x="9987517" y="0"/>
                  <a:pt x="10033000" y="45483"/>
                  <a:pt x="10033000" y="101590"/>
                </a:cubicBezTo>
                <a:lnTo>
                  <a:pt x="10033000" y="1993910"/>
                </a:lnTo>
                <a:cubicBezTo>
                  <a:pt x="10033000" y="2050017"/>
                  <a:pt x="9987517" y="2095500"/>
                  <a:pt x="9931410" y="2095500"/>
                </a:cubicBezTo>
                <a:lnTo>
                  <a:pt x="50800" y="2095500"/>
                </a:lnTo>
                <a:cubicBezTo>
                  <a:pt x="22744" y="2095500"/>
                  <a:pt x="0" y="2072756"/>
                  <a:pt x="0" y="20447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>
              <a:alpha val="4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533400" y="4182566"/>
            <a:ext cx="50800" cy="2095500"/>
          </a:xfrm>
          <a:custGeom>
            <a:avLst/>
            <a:gdLst/>
            <a:ahLst/>
            <a:cxnLst/>
            <a:rect l="l" t="t" r="r" b="b"/>
            <a:pathLst>
              <a:path w="50800" h="2095500">
                <a:moveTo>
                  <a:pt x="50800" y="0"/>
                </a:moveTo>
                <a:lnTo>
                  <a:pt x="50800" y="0"/>
                </a:lnTo>
                <a:lnTo>
                  <a:pt x="50800" y="2095500"/>
                </a:lnTo>
                <a:lnTo>
                  <a:pt x="50800" y="2095500"/>
                </a:lnTo>
                <a:cubicBezTo>
                  <a:pt x="22763" y="2095500"/>
                  <a:pt x="0" y="2072737"/>
                  <a:pt x="0" y="20447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863600" y="46228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50801" y="0"/>
                </a:moveTo>
                <a:lnTo>
                  <a:pt x="660399" y="0"/>
                </a:lnTo>
                <a:cubicBezTo>
                  <a:pt x="688456" y="0"/>
                  <a:pt x="711200" y="22744"/>
                  <a:pt x="711200" y="50801"/>
                </a:cubicBezTo>
                <a:lnTo>
                  <a:pt x="711200" y="660399"/>
                </a:lnTo>
                <a:cubicBezTo>
                  <a:pt x="711200" y="688456"/>
                  <a:pt x="688456" y="711200"/>
                  <a:pt x="660399" y="711200"/>
                </a:cubicBezTo>
                <a:lnTo>
                  <a:pt x="50801" y="711200"/>
                </a:lnTo>
                <a:cubicBezTo>
                  <a:pt x="22744" y="711200"/>
                  <a:pt x="0" y="688456"/>
                  <a:pt x="0" y="6603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1047750" y="48260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24408" y="-14823"/>
                </a:moveTo>
                <a:cubicBezTo>
                  <a:pt x="18812" y="-20419"/>
                  <a:pt x="9763" y="-20419"/>
                  <a:pt x="4227" y="-14823"/>
                </a:cubicBezTo>
                <a:cubicBezTo>
                  <a:pt x="-1310" y="-9227"/>
                  <a:pt x="-1369" y="-179"/>
                  <a:pt x="4167" y="5417"/>
                </a:cubicBezTo>
                <a:lnTo>
                  <a:pt x="318492" y="319742"/>
                </a:lnTo>
                <a:cubicBezTo>
                  <a:pt x="324088" y="325338"/>
                  <a:pt x="333137" y="325338"/>
                  <a:pt x="338673" y="319742"/>
                </a:cubicBezTo>
                <a:cubicBezTo>
                  <a:pt x="344210" y="314146"/>
                  <a:pt x="344269" y="305098"/>
                  <a:pt x="338673" y="299561"/>
                </a:cubicBezTo>
                <a:lnTo>
                  <a:pt x="266045" y="226933"/>
                </a:lnTo>
                <a:cubicBezTo>
                  <a:pt x="268545" y="224909"/>
                  <a:pt x="270986" y="222706"/>
                  <a:pt x="273248" y="220444"/>
                </a:cubicBezTo>
                <a:lnTo>
                  <a:pt x="315575" y="178118"/>
                </a:lnTo>
                <a:cubicBezTo>
                  <a:pt x="333018" y="160675"/>
                  <a:pt x="342840" y="136981"/>
                  <a:pt x="342840" y="112276"/>
                </a:cubicBezTo>
                <a:cubicBezTo>
                  <a:pt x="342840" y="60841"/>
                  <a:pt x="301169" y="19110"/>
                  <a:pt x="249674" y="19110"/>
                </a:cubicBezTo>
                <a:cubicBezTo>
                  <a:pt x="227469" y="19110"/>
                  <a:pt x="206157" y="27027"/>
                  <a:pt x="189369" y="41255"/>
                </a:cubicBezTo>
                <a:cubicBezTo>
                  <a:pt x="201454" y="47268"/>
                  <a:pt x="212407" y="55245"/>
                  <a:pt x="221813" y="64770"/>
                </a:cubicBezTo>
                <a:cubicBezTo>
                  <a:pt x="230207" y="59829"/>
                  <a:pt x="239792" y="57210"/>
                  <a:pt x="249674" y="57210"/>
                </a:cubicBezTo>
                <a:cubicBezTo>
                  <a:pt x="280095" y="57210"/>
                  <a:pt x="304740" y="81855"/>
                  <a:pt x="304740" y="112276"/>
                </a:cubicBezTo>
                <a:cubicBezTo>
                  <a:pt x="304740" y="126861"/>
                  <a:pt x="298966" y="140851"/>
                  <a:pt x="288607" y="151209"/>
                </a:cubicBezTo>
                <a:lnTo>
                  <a:pt x="246281" y="193536"/>
                </a:lnTo>
                <a:cubicBezTo>
                  <a:pt x="243959" y="195858"/>
                  <a:pt x="241459" y="197941"/>
                  <a:pt x="238780" y="199787"/>
                </a:cubicBezTo>
                <a:lnTo>
                  <a:pt x="210502" y="171510"/>
                </a:lnTo>
                <a:cubicBezTo>
                  <a:pt x="220325" y="170974"/>
                  <a:pt x="228183" y="162937"/>
                  <a:pt x="228481" y="152995"/>
                </a:cubicBezTo>
                <a:cubicBezTo>
                  <a:pt x="228481" y="152221"/>
                  <a:pt x="228481" y="151448"/>
                  <a:pt x="228481" y="150674"/>
                </a:cubicBezTo>
                <a:cubicBezTo>
                  <a:pt x="228481" y="99298"/>
                  <a:pt x="186869" y="57269"/>
                  <a:pt x="135315" y="57269"/>
                </a:cubicBezTo>
                <a:cubicBezTo>
                  <a:pt x="123885" y="57269"/>
                  <a:pt x="112752" y="59353"/>
                  <a:pt x="102275" y="63341"/>
                </a:cubicBezTo>
                <a:lnTo>
                  <a:pt x="24408" y="-14823"/>
                </a:lnTo>
                <a:close/>
                <a:moveTo>
                  <a:pt x="134481" y="95250"/>
                </a:moveTo>
                <a:cubicBezTo>
                  <a:pt x="134838" y="95250"/>
                  <a:pt x="135136" y="95250"/>
                  <a:pt x="135493" y="95250"/>
                </a:cubicBezTo>
                <a:cubicBezTo>
                  <a:pt x="144482" y="95250"/>
                  <a:pt x="153055" y="97453"/>
                  <a:pt x="160556" y="101322"/>
                </a:cubicBezTo>
                <a:cubicBezTo>
                  <a:pt x="161627" y="102037"/>
                  <a:pt x="162699" y="102691"/>
                  <a:pt x="163830" y="103168"/>
                </a:cubicBezTo>
                <a:cubicBezTo>
                  <a:pt x="179784" y="112871"/>
                  <a:pt x="190500" y="130493"/>
                  <a:pt x="190500" y="150555"/>
                </a:cubicBezTo>
                <a:cubicBezTo>
                  <a:pt x="190500" y="150793"/>
                  <a:pt x="190500" y="151031"/>
                  <a:pt x="190500" y="151269"/>
                </a:cubicBezTo>
                <a:lnTo>
                  <a:pt x="134481" y="95250"/>
                </a:lnTo>
                <a:close/>
                <a:moveTo>
                  <a:pt x="206097" y="247650"/>
                </a:moveTo>
                <a:lnTo>
                  <a:pt x="114300" y="155853"/>
                </a:lnTo>
                <a:cubicBezTo>
                  <a:pt x="115014" y="206216"/>
                  <a:pt x="155734" y="246876"/>
                  <a:pt x="206038" y="247590"/>
                </a:cubicBezTo>
                <a:close/>
                <a:moveTo>
                  <a:pt x="83165" y="124718"/>
                </a:moveTo>
                <a:lnTo>
                  <a:pt x="56197" y="97750"/>
                </a:lnTo>
                <a:lnTo>
                  <a:pt x="27265" y="126682"/>
                </a:lnTo>
                <a:cubicBezTo>
                  <a:pt x="9823" y="144125"/>
                  <a:pt x="0" y="167819"/>
                  <a:pt x="0" y="192524"/>
                </a:cubicBezTo>
                <a:cubicBezTo>
                  <a:pt x="0" y="243959"/>
                  <a:pt x="41672" y="285690"/>
                  <a:pt x="93166" y="285690"/>
                </a:cubicBezTo>
                <a:cubicBezTo>
                  <a:pt x="115312" y="285690"/>
                  <a:pt x="136684" y="277773"/>
                  <a:pt x="153472" y="263545"/>
                </a:cubicBezTo>
                <a:cubicBezTo>
                  <a:pt x="141387" y="257532"/>
                  <a:pt x="130373" y="249555"/>
                  <a:pt x="120968" y="240030"/>
                </a:cubicBezTo>
                <a:cubicBezTo>
                  <a:pt x="112633" y="244912"/>
                  <a:pt x="103049" y="247531"/>
                  <a:pt x="93166" y="247531"/>
                </a:cubicBezTo>
                <a:cubicBezTo>
                  <a:pt x="62746" y="247531"/>
                  <a:pt x="38100" y="222885"/>
                  <a:pt x="38100" y="192465"/>
                </a:cubicBezTo>
                <a:cubicBezTo>
                  <a:pt x="38100" y="177879"/>
                  <a:pt x="43875" y="163890"/>
                  <a:pt x="54233" y="153531"/>
                </a:cubicBezTo>
                <a:lnTo>
                  <a:pt x="83165" y="124599"/>
                </a:ln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1778000" y="4622800"/>
            <a:ext cx="8636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解耦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778000" y="5181600"/>
            <a:ext cx="85852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每一层仅关注特定的处理逻辑(如清洗、标准化、聚合),层与层之间松耦合,上游业务变更对下游的影响被中间层缓冲。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33400" y="6536333"/>
            <a:ext cx="10033000" cy="2095500"/>
          </a:xfrm>
          <a:custGeom>
            <a:avLst/>
            <a:gdLst/>
            <a:ahLst/>
            <a:cxnLst/>
            <a:rect l="l" t="t" r="r" b="b"/>
            <a:pathLst>
              <a:path w="10033000" h="2095500">
                <a:moveTo>
                  <a:pt x="50800" y="0"/>
                </a:moveTo>
                <a:lnTo>
                  <a:pt x="9931410" y="0"/>
                </a:lnTo>
                <a:cubicBezTo>
                  <a:pt x="9987517" y="0"/>
                  <a:pt x="10033000" y="45483"/>
                  <a:pt x="10033000" y="101590"/>
                </a:cubicBezTo>
                <a:lnTo>
                  <a:pt x="10033000" y="1993910"/>
                </a:lnTo>
                <a:cubicBezTo>
                  <a:pt x="10033000" y="2050017"/>
                  <a:pt x="9987517" y="2095500"/>
                  <a:pt x="9931410" y="2095500"/>
                </a:cubicBezTo>
                <a:lnTo>
                  <a:pt x="50800" y="2095500"/>
                </a:lnTo>
                <a:cubicBezTo>
                  <a:pt x="22744" y="2095500"/>
                  <a:pt x="0" y="2072756"/>
                  <a:pt x="0" y="20447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>
              <a:alpha val="4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533400" y="6536333"/>
            <a:ext cx="50800" cy="2095500"/>
          </a:xfrm>
          <a:custGeom>
            <a:avLst/>
            <a:gdLst/>
            <a:ahLst/>
            <a:cxnLst/>
            <a:rect l="l" t="t" r="r" b="b"/>
            <a:pathLst>
              <a:path w="50800" h="2095500">
                <a:moveTo>
                  <a:pt x="50800" y="0"/>
                </a:moveTo>
                <a:lnTo>
                  <a:pt x="50800" y="0"/>
                </a:lnTo>
                <a:lnTo>
                  <a:pt x="50800" y="2095500"/>
                </a:lnTo>
                <a:lnTo>
                  <a:pt x="50800" y="2095500"/>
                </a:lnTo>
                <a:cubicBezTo>
                  <a:pt x="22763" y="2095500"/>
                  <a:pt x="0" y="2072737"/>
                  <a:pt x="0" y="20447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863600" y="6976566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50801" y="0"/>
                </a:moveTo>
                <a:lnTo>
                  <a:pt x="660399" y="0"/>
                </a:lnTo>
                <a:cubicBezTo>
                  <a:pt x="688456" y="0"/>
                  <a:pt x="711200" y="22744"/>
                  <a:pt x="711200" y="50801"/>
                </a:cubicBezTo>
                <a:lnTo>
                  <a:pt x="711200" y="660399"/>
                </a:lnTo>
                <a:cubicBezTo>
                  <a:pt x="711200" y="688456"/>
                  <a:pt x="688456" y="711200"/>
                  <a:pt x="660399" y="711200"/>
                </a:cubicBezTo>
                <a:lnTo>
                  <a:pt x="50801" y="711200"/>
                </a:lnTo>
                <a:cubicBezTo>
                  <a:pt x="22744" y="711200"/>
                  <a:pt x="0" y="688456"/>
                  <a:pt x="0" y="6603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1066800" y="7179766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90666" y="35719"/>
                </a:moveTo>
                <a:cubicBezTo>
                  <a:pt x="118170" y="-11906"/>
                  <a:pt x="186928" y="-11906"/>
                  <a:pt x="214432" y="35719"/>
                </a:cubicBezTo>
                <a:lnTo>
                  <a:pt x="236637" y="74176"/>
                </a:lnTo>
                <a:lnTo>
                  <a:pt x="253127" y="64651"/>
                </a:lnTo>
                <a:cubicBezTo>
                  <a:pt x="258128" y="61734"/>
                  <a:pt x="264378" y="62151"/>
                  <a:pt x="268962" y="65663"/>
                </a:cubicBezTo>
                <a:cubicBezTo>
                  <a:pt x="273546" y="69175"/>
                  <a:pt x="275570" y="75128"/>
                  <a:pt x="274082" y="80724"/>
                </a:cubicBezTo>
                <a:lnTo>
                  <a:pt x="260092" y="132755"/>
                </a:lnTo>
                <a:cubicBezTo>
                  <a:pt x="258068" y="140375"/>
                  <a:pt x="250210" y="144899"/>
                  <a:pt x="242590" y="142875"/>
                </a:cubicBezTo>
                <a:lnTo>
                  <a:pt x="190560" y="128945"/>
                </a:lnTo>
                <a:cubicBezTo>
                  <a:pt x="184964" y="127456"/>
                  <a:pt x="180856" y="122753"/>
                  <a:pt x="180082" y="117038"/>
                </a:cubicBezTo>
                <a:cubicBezTo>
                  <a:pt x="179308" y="111323"/>
                  <a:pt x="182106" y="105668"/>
                  <a:pt x="187107" y="102810"/>
                </a:cubicBezTo>
                <a:lnTo>
                  <a:pt x="203597" y="93285"/>
                </a:lnTo>
                <a:lnTo>
                  <a:pt x="181392" y="54828"/>
                </a:lnTo>
                <a:cubicBezTo>
                  <a:pt x="168533" y="32623"/>
                  <a:pt x="136505" y="32623"/>
                  <a:pt x="123646" y="54828"/>
                </a:cubicBezTo>
                <a:lnTo>
                  <a:pt x="120491" y="60246"/>
                </a:lnTo>
                <a:cubicBezTo>
                  <a:pt x="115252" y="69354"/>
                  <a:pt x="103584" y="72450"/>
                  <a:pt x="94476" y="67211"/>
                </a:cubicBezTo>
                <a:cubicBezTo>
                  <a:pt x="85368" y="61972"/>
                  <a:pt x="82272" y="50304"/>
                  <a:pt x="87511" y="41136"/>
                </a:cubicBezTo>
                <a:lnTo>
                  <a:pt x="90666" y="35719"/>
                </a:lnTo>
                <a:close/>
                <a:moveTo>
                  <a:pt x="267712" y="166152"/>
                </a:moveTo>
                <a:cubicBezTo>
                  <a:pt x="276820" y="160913"/>
                  <a:pt x="288488" y="164009"/>
                  <a:pt x="293727" y="173117"/>
                </a:cubicBezTo>
                <a:lnTo>
                  <a:pt x="296882" y="178534"/>
                </a:lnTo>
                <a:cubicBezTo>
                  <a:pt x="324386" y="226159"/>
                  <a:pt x="290036" y="285690"/>
                  <a:pt x="235029" y="285690"/>
                </a:cubicBezTo>
                <a:lnTo>
                  <a:pt x="190619" y="285690"/>
                </a:lnTo>
                <a:lnTo>
                  <a:pt x="190619" y="304740"/>
                </a:lnTo>
                <a:cubicBezTo>
                  <a:pt x="190619" y="310515"/>
                  <a:pt x="187166" y="315754"/>
                  <a:pt x="181808" y="317956"/>
                </a:cubicBezTo>
                <a:cubicBezTo>
                  <a:pt x="176451" y="320159"/>
                  <a:pt x="170319" y="318968"/>
                  <a:pt x="166211" y="314861"/>
                </a:cubicBezTo>
                <a:lnTo>
                  <a:pt x="128111" y="276761"/>
                </a:lnTo>
                <a:cubicBezTo>
                  <a:pt x="122515" y="271165"/>
                  <a:pt x="122515" y="262116"/>
                  <a:pt x="128111" y="256580"/>
                </a:cubicBezTo>
                <a:lnTo>
                  <a:pt x="166211" y="218480"/>
                </a:lnTo>
                <a:cubicBezTo>
                  <a:pt x="170319" y="214372"/>
                  <a:pt x="176451" y="213181"/>
                  <a:pt x="181808" y="215384"/>
                </a:cubicBezTo>
                <a:cubicBezTo>
                  <a:pt x="187166" y="217587"/>
                  <a:pt x="190619" y="222825"/>
                  <a:pt x="190619" y="228600"/>
                </a:cubicBezTo>
                <a:lnTo>
                  <a:pt x="190619" y="247650"/>
                </a:lnTo>
                <a:lnTo>
                  <a:pt x="235029" y="247650"/>
                </a:lnTo>
                <a:cubicBezTo>
                  <a:pt x="260687" y="247650"/>
                  <a:pt x="276761" y="219849"/>
                  <a:pt x="263902" y="197644"/>
                </a:cubicBezTo>
                <a:lnTo>
                  <a:pt x="260747" y="192226"/>
                </a:lnTo>
                <a:cubicBezTo>
                  <a:pt x="255508" y="183118"/>
                  <a:pt x="258604" y="171450"/>
                  <a:pt x="267712" y="166211"/>
                </a:cubicBezTo>
                <a:close/>
                <a:moveTo>
                  <a:pt x="30361" y="140137"/>
                </a:moveTo>
                <a:lnTo>
                  <a:pt x="13871" y="130612"/>
                </a:lnTo>
                <a:cubicBezTo>
                  <a:pt x="8870" y="127695"/>
                  <a:pt x="6072" y="122099"/>
                  <a:pt x="6846" y="116384"/>
                </a:cubicBezTo>
                <a:cubicBezTo>
                  <a:pt x="7620" y="110669"/>
                  <a:pt x="11728" y="105966"/>
                  <a:pt x="17324" y="104477"/>
                </a:cubicBezTo>
                <a:lnTo>
                  <a:pt x="69354" y="90488"/>
                </a:lnTo>
                <a:cubicBezTo>
                  <a:pt x="76974" y="88463"/>
                  <a:pt x="84832" y="92988"/>
                  <a:pt x="86856" y="100608"/>
                </a:cubicBezTo>
                <a:lnTo>
                  <a:pt x="100786" y="152638"/>
                </a:lnTo>
                <a:cubicBezTo>
                  <a:pt x="102275" y="158234"/>
                  <a:pt x="100251" y="164128"/>
                  <a:pt x="95667" y="167700"/>
                </a:cubicBezTo>
                <a:cubicBezTo>
                  <a:pt x="91083" y="171271"/>
                  <a:pt x="84832" y="171629"/>
                  <a:pt x="79831" y="168712"/>
                </a:cubicBezTo>
                <a:lnTo>
                  <a:pt x="63341" y="159187"/>
                </a:lnTo>
                <a:lnTo>
                  <a:pt x="41136" y="197644"/>
                </a:lnTo>
                <a:cubicBezTo>
                  <a:pt x="28277" y="219849"/>
                  <a:pt x="44351" y="247650"/>
                  <a:pt x="70009" y="247650"/>
                </a:cubicBezTo>
                <a:lnTo>
                  <a:pt x="76319" y="247650"/>
                </a:lnTo>
                <a:cubicBezTo>
                  <a:pt x="86856" y="247650"/>
                  <a:pt x="95369" y="256163"/>
                  <a:pt x="95369" y="266700"/>
                </a:cubicBezTo>
                <a:cubicBezTo>
                  <a:pt x="95369" y="277237"/>
                  <a:pt x="86856" y="285750"/>
                  <a:pt x="76319" y="285750"/>
                </a:cubicBezTo>
                <a:lnTo>
                  <a:pt x="70009" y="285750"/>
                </a:lnTo>
                <a:cubicBezTo>
                  <a:pt x="15061" y="285750"/>
                  <a:pt x="-19288" y="226219"/>
                  <a:pt x="8215" y="178594"/>
                </a:cubicBezTo>
                <a:lnTo>
                  <a:pt x="30361" y="140137"/>
                </a:ln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1778000" y="6976566"/>
            <a:ext cx="8636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复用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778000" y="7535366"/>
            <a:ext cx="85852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中间层(DWD/DWS)作为公共数据底座,被多个下游应用反复使用,避免了重复开发和计算资源的浪费。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871200" y="1828800"/>
            <a:ext cx="4876800" cy="6807200"/>
          </a:xfrm>
          <a:custGeom>
            <a:avLst/>
            <a:gdLst/>
            <a:ahLst/>
            <a:cxnLst/>
            <a:rect l="l" t="t" r="r" b="b"/>
            <a:pathLst>
              <a:path w="4876800" h="6807200">
                <a:moveTo>
                  <a:pt x="101584" y="0"/>
                </a:moveTo>
                <a:lnTo>
                  <a:pt x="4775216" y="0"/>
                </a:lnTo>
                <a:cubicBezTo>
                  <a:pt x="4831319" y="0"/>
                  <a:pt x="4876800" y="45481"/>
                  <a:pt x="4876800" y="101584"/>
                </a:cubicBezTo>
                <a:lnTo>
                  <a:pt x="4876800" y="6705616"/>
                </a:lnTo>
                <a:cubicBezTo>
                  <a:pt x="4876800" y="6761719"/>
                  <a:pt x="4831319" y="6807200"/>
                  <a:pt x="4775216" y="6807200"/>
                </a:cubicBezTo>
                <a:lnTo>
                  <a:pt x="101584" y="6807200"/>
                </a:lnTo>
                <a:cubicBezTo>
                  <a:pt x="45481" y="6807200"/>
                  <a:pt x="0" y="6761719"/>
                  <a:pt x="0" y="6705616"/>
                </a:cubicBezTo>
                <a:lnTo>
                  <a:pt x="0" y="101584"/>
                </a:lnTo>
                <a:cubicBezTo>
                  <a:pt x="0" y="45518"/>
                  <a:pt x="45518" y="0"/>
                  <a:pt x="101584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11214100" y="2184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9050" y="19050"/>
                </a:moveTo>
                <a:cubicBezTo>
                  <a:pt x="8513" y="19050"/>
                  <a:pt x="0" y="27563"/>
                  <a:pt x="0" y="38100"/>
                </a:cubicBezTo>
                <a:lnTo>
                  <a:pt x="0" y="257175"/>
                </a:lnTo>
                <a:cubicBezTo>
                  <a:pt x="0" y="272951"/>
                  <a:pt x="12799" y="285750"/>
                  <a:pt x="28575" y="285750"/>
                </a:cubicBezTo>
                <a:lnTo>
                  <a:pt x="276225" y="285750"/>
                </a:lnTo>
                <a:cubicBezTo>
                  <a:pt x="292001" y="285750"/>
                  <a:pt x="304800" y="272951"/>
                  <a:pt x="304800" y="257175"/>
                </a:cubicBezTo>
                <a:lnTo>
                  <a:pt x="304800" y="90607"/>
                </a:lnTo>
                <a:cubicBezTo>
                  <a:pt x="304800" y="79772"/>
                  <a:pt x="293251" y="72926"/>
                  <a:pt x="283726" y="78045"/>
                </a:cubicBezTo>
                <a:lnTo>
                  <a:pt x="190500" y="128230"/>
                </a:lnTo>
                <a:lnTo>
                  <a:pt x="190500" y="90607"/>
                </a:lnTo>
                <a:cubicBezTo>
                  <a:pt x="190500" y="79772"/>
                  <a:pt x="178951" y="72926"/>
                  <a:pt x="169426" y="78045"/>
                </a:cubicBezTo>
                <a:lnTo>
                  <a:pt x="76200" y="128230"/>
                </a:lnTo>
                <a:lnTo>
                  <a:pt x="76200" y="38100"/>
                </a:lnTo>
                <a:cubicBezTo>
                  <a:pt x="76200" y="27563"/>
                  <a:pt x="67687" y="19050"/>
                  <a:pt x="57150" y="19050"/>
                </a:cubicBezTo>
                <a:lnTo>
                  <a:pt x="19050" y="19050"/>
                </a:ln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11557000" y="2133600"/>
            <a:ext cx="4038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工业流水线类比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1176000" y="2895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11435854" y="3022600"/>
            <a:ext cx="203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988800" y="2844800"/>
            <a:ext cx="3568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原材料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988800" y="3251200"/>
            <a:ext cx="355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原始数据(ODS)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3214350" y="3759200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84038" y="249337"/>
                </a:moveTo>
                <a:cubicBezTo>
                  <a:pt x="90239" y="255538"/>
                  <a:pt x="100310" y="255538"/>
                  <a:pt x="106511" y="249337"/>
                </a:cubicBezTo>
                <a:lnTo>
                  <a:pt x="185886" y="169962"/>
                </a:lnTo>
                <a:cubicBezTo>
                  <a:pt x="192087" y="163761"/>
                  <a:pt x="192087" y="153690"/>
                  <a:pt x="185886" y="147489"/>
                </a:cubicBezTo>
                <a:cubicBezTo>
                  <a:pt x="179685" y="141288"/>
                  <a:pt x="169614" y="141288"/>
                  <a:pt x="163413" y="147489"/>
                </a:cubicBezTo>
                <a:lnTo>
                  <a:pt x="111125" y="199777"/>
                </a:lnTo>
                <a:lnTo>
                  <a:pt x="111125" y="15875"/>
                </a:lnTo>
                <a:cubicBezTo>
                  <a:pt x="111125" y="7094"/>
                  <a:pt x="104031" y="0"/>
                  <a:pt x="95250" y="0"/>
                </a:cubicBezTo>
                <a:cubicBezTo>
                  <a:pt x="86469" y="0"/>
                  <a:pt x="79375" y="7094"/>
                  <a:pt x="79375" y="15875"/>
                </a:cubicBezTo>
                <a:lnTo>
                  <a:pt x="79375" y="199777"/>
                </a:lnTo>
                <a:lnTo>
                  <a:pt x="27087" y="147489"/>
                </a:lnTo>
                <a:cubicBezTo>
                  <a:pt x="20886" y="141287"/>
                  <a:pt x="10815" y="141287"/>
                  <a:pt x="4614" y="147489"/>
                </a:cubicBezTo>
                <a:cubicBezTo>
                  <a:pt x="-1588" y="153690"/>
                  <a:pt x="-1588" y="163761"/>
                  <a:pt x="4614" y="169962"/>
                </a:cubicBezTo>
                <a:lnTo>
                  <a:pt x="83989" y="249337"/>
                </a:ln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11176000" y="4267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11416506" y="4394200"/>
            <a:ext cx="241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1988800" y="4216400"/>
            <a:ext cx="3568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加工处理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1988800" y="4622800"/>
            <a:ext cx="355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清洗、标准化、聚合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3214350" y="5130800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84038" y="249337"/>
                </a:moveTo>
                <a:cubicBezTo>
                  <a:pt x="90239" y="255538"/>
                  <a:pt x="100310" y="255538"/>
                  <a:pt x="106511" y="249337"/>
                </a:cubicBezTo>
                <a:lnTo>
                  <a:pt x="185886" y="169962"/>
                </a:lnTo>
                <a:cubicBezTo>
                  <a:pt x="192087" y="163761"/>
                  <a:pt x="192087" y="153690"/>
                  <a:pt x="185886" y="147489"/>
                </a:cubicBezTo>
                <a:cubicBezTo>
                  <a:pt x="179685" y="141288"/>
                  <a:pt x="169614" y="141288"/>
                  <a:pt x="163413" y="147489"/>
                </a:cubicBezTo>
                <a:lnTo>
                  <a:pt x="111125" y="199777"/>
                </a:lnTo>
                <a:lnTo>
                  <a:pt x="111125" y="15875"/>
                </a:lnTo>
                <a:cubicBezTo>
                  <a:pt x="111125" y="7094"/>
                  <a:pt x="104031" y="0"/>
                  <a:pt x="95250" y="0"/>
                </a:cubicBezTo>
                <a:cubicBezTo>
                  <a:pt x="86469" y="0"/>
                  <a:pt x="79375" y="7094"/>
                  <a:pt x="79375" y="15875"/>
                </a:cubicBezTo>
                <a:lnTo>
                  <a:pt x="79375" y="199777"/>
                </a:lnTo>
                <a:lnTo>
                  <a:pt x="27087" y="147489"/>
                </a:lnTo>
                <a:cubicBezTo>
                  <a:pt x="20886" y="141287"/>
                  <a:pt x="10815" y="141287"/>
                  <a:pt x="4614" y="147489"/>
                </a:cubicBezTo>
                <a:cubicBezTo>
                  <a:pt x="-1588" y="153690"/>
                  <a:pt x="-1588" y="163761"/>
                  <a:pt x="4614" y="169962"/>
                </a:cubicBezTo>
                <a:lnTo>
                  <a:pt x="83989" y="249337"/>
                </a:ln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11176000" y="56388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11413530" y="5765800"/>
            <a:ext cx="25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1988800" y="5588000"/>
            <a:ext cx="3568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成品输出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1988800" y="5994400"/>
            <a:ext cx="355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数据资产(ADS)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1176000" y="6610350"/>
            <a:ext cx="4267200" cy="12700"/>
          </a:xfrm>
          <a:custGeom>
            <a:avLst/>
            <a:gdLst/>
            <a:ahLst/>
            <a:cxnLst/>
            <a:rect l="l" t="t" r="r" b="b"/>
            <a:pathLst>
              <a:path w="4267200" h="12700">
                <a:moveTo>
                  <a:pt x="0" y="0"/>
                </a:moveTo>
                <a:lnTo>
                  <a:pt x="4267200" y="0"/>
                </a:lnTo>
                <a:lnTo>
                  <a:pt x="42672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11226800" y="6972300"/>
            <a:ext cx="152400" cy="203200"/>
          </a:xfrm>
          <a:custGeom>
            <a:avLst/>
            <a:gdLst/>
            <a:ahLst/>
            <a:cxnLst/>
            <a:rect l="l" t="t" r="r" b="b"/>
            <a:pathLst>
              <a:path w="152400" h="203200">
                <a:moveTo>
                  <a:pt x="116245" y="152400"/>
                </a:moveTo>
                <a:cubicBezTo>
                  <a:pt x="119142" y="143550"/>
                  <a:pt x="124936" y="135533"/>
                  <a:pt x="131485" y="128627"/>
                </a:cubicBezTo>
                <a:cubicBezTo>
                  <a:pt x="144462" y="114975"/>
                  <a:pt x="152400" y="96520"/>
                  <a:pt x="152400" y="76200"/>
                </a:cubicBezTo>
                <a:cubicBezTo>
                  <a:pt x="152400" y="34131"/>
                  <a:pt x="118269" y="0"/>
                  <a:pt x="76200" y="0"/>
                </a:cubicBezTo>
                <a:cubicBezTo>
                  <a:pt x="34131" y="0"/>
                  <a:pt x="0" y="34131"/>
                  <a:pt x="0" y="76200"/>
                </a:cubicBezTo>
                <a:cubicBezTo>
                  <a:pt x="0" y="96520"/>
                  <a:pt x="7938" y="114975"/>
                  <a:pt x="20915" y="128627"/>
                </a:cubicBezTo>
                <a:cubicBezTo>
                  <a:pt x="27464" y="135533"/>
                  <a:pt x="33298" y="143550"/>
                  <a:pt x="36155" y="152400"/>
                </a:cubicBezTo>
                <a:lnTo>
                  <a:pt x="116205" y="152400"/>
                </a:lnTo>
                <a:close/>
                <a:moveTo>
                  <a:pt x="114300" y="171450"/>
                </a:moveTo>
                <a:lnTo>
                  <a:pt x="38100" y="171450"/>
                </a:lnTo>
                <a:lnTo>
                  <a:pt x="38100" y="177800"/>
                </a:lnTo>
                <a:cubicBezTo>
                  <a:pt x="38100" y="195342"/>
                  <a:pt x="52308" y="209550"/>
                  <a:pt x="69850" y="209550"/>
                </a:cubicBezTo>
                <a:lnTo>
                  <a:pt x="82550" y="209550"/>
                </a:lnTo>
                <a:cubicBezTo>
                  <a:pt x="100092" y="209550"/>
                  <a:pt x="114300" y="195342"/>
                  <a:pt x="114300" y="177800"/>
                </a:cubicBezTo>
                <a:lnTo>
                  <a:pt x="114300" y="171450"/>
                </a:lnTo>
                <a:close/>
                <a:moveTo>
                  <a:pt x="73025" y="44450"/>
                </a:moveTo>
                <a:cubicBezTo>
                  <a:pt x="57229" y="44450"/>
                  <a:pt x="44450" y="57229"/>
                  <a:pt x="44450" y="73025"/>
                </a:cubicBezTo>
                <a:cubicBezTo>
                  <a:pt x="44450" y="78303"/>
                  <a:pt x="40203" y="82550"/>
                  <a:pt x="34925" y="82550"/>
                </a:cubicBezTo>
                <a:cubicBezTo>
                  <a:pt x="29647" y="82550"/>
                  <a:pt x="25400" y="78303"/>
                  <a:pt x="25400" y="73025"/>
                </a:cubicBezTo>
                <a:cubicBezTo>
                  <a:pt x="25400" y="46712"/>
                  <a:pt x="46712" y="25400"/>
                  <a:pt x="73025" y="25400"/>
                </a:cubicBezTo>
                <a:cubicBezTo>
                  <a:pt x="78303" y="25400"/>
                  <a:pt x="82550" y="29647"/>
                  <a:pt x="82550" y="34925"/>
                </a:cubicBezTo>
                <a:cubicBezTo>
                  <a:pt x="82550" y="40203"/>
                  <a:pt x="78303" y="44450"/>
                  <a:pt x="73025" y="44450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11531600" y="69215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关键洞察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1176000" y="7327900"/>
            <a:ext cx="43688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就像工厂流水线一样，数据分层架构通过专业化分工和质量控制，将原始数据转化为可信赖的数据资产。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8788" y="455989"/>
            <a:ext cx="2074749" cy="364791"/>
          </a:xfrm>
          <a:custGeom>
            <a:avLst/>
            <a:gdLst/>
            <a:ahLst/>
            <a:cxnLst/>
            <a:rect l="l" t="t" r="r" b="b"/>
            <a:pathLst>
              <a:path w="2074749" h="364791">
                <a:moveTo>
                  <a:pt x="0" y="0"/>
                </a:moveTo>
                <a:lnTo>
                  <a:pt x="2074749" y="0"/>
                </a:lnTo>
                <a:lnTo>
                  <a:pt x="2074749" y="364791"/>
                </a:lnTo>
                <a:lnTo>
                  <a:pt x="0" y="364791"/>
                </a:lnTo>
                <a:lnTo>
                  <a:pt x="0" y="0"/>
                </a:lnTo>
                <a:close/>
              </a:path>
            </a:pathLst>
          </a:custGeom>
          <a:solidFill>
            <a:srgbClr val="D69E2E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478788" y="455989"/>
            <a:ext cx="45599" cy="364791"/>
          </a:xfrm>
          <a:custGeom>
            <a:avLst/>
            <a:gdLst/>
            <a:ahLst/>
            <a:cxnLst/>
            <a:rect l="l" t="t" r="r" b="b"/>
            <a:pathLst>
              <a:path w="45599" h="364791">
                <a:moveTo>
                  <a:pt x="0" y="0"/>
                </a:moveTo>
                <a:lnTo>
                  <a:pt x="45599" y="0"/>
                </a:lnTo>
                <a:lnTo>
                  <a:pt x="45599" y="364791"/>
                </a:lnTo>
                <a:lnTo>
                  <a:pt x="0" y="364791"/>
                </a:lnTo>
                <a:lnTo>
                  <a:pt x="0" y="0"/>
                </a:ln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683983" y="518687"/>
            <a:ext cx="1783700" cy="239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36" b="1" kern="0" spc="72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 EVOLUTION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5989" y="911978"/>
            <a:ext cx="15549217" cy="455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231" b="1" dirty="0">
                <a:solidFill>
                  <a:srgbClr val="E2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数据在各层的形态演进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5989" y="1375870"/>
            <a:ext cx="7558014" cy="3704909"/>
          </a:xfrm>
          <a:custGeom>
            <a:avLst/>
            <a:gdLst/>
            <a:ahLst/>
            <a:cxnLst/>
            <a:rect l="l" t="t" r="r" b="b"/>
            <a:pathLst>
              <a:path w="7558014" h="3704909">
                <a:moveTo>
                  <a:pt x="45599" y="0"/>
                </a:moveTo>
                <a:lnTo>
                  <a:pt x="7512415" y="0"/>
                </a:lnTo>
                <a:cubicBezTo>
                  <a:pt x="7537599" y="0"/>
                  <a:pt x="7558014" y="20415"/>
                  <a:pt x="7558014" y="45599"/>
                </a:cubicBezTo>
                <a:lnTo>
                  <a:pt x="7558014" y="3613694"/>
                </a:lnTo>
                <a:cubicBezTo>
                  <a:pt x="7558014" y="3664071"/>
                  <a:pt x="7517176" y="3704909"/>
                  <a:pt x="7466799" y="3704909"/>
                </a:cubicBezTo>
                <a:lnTo>
                  <a:pt x="91215" y="3704909"/>
                </a:lnTo>
                <a:cubicBezTo>
                  <a:pt x="40838" y="3704909"/>
                  <a:pt x="0" y="3664071"/>
                  <a:pt x="0" y="3613694"/>
                </a:cubicBezTo>
                <a:lnTo>
                  <a:pt x="0" y="45599"/>
                </a:lnTo>
                <a:cubicBezTo>
                  <a:pt x="0" y="20432"/>
                  <a:pt x="20432" y="0"/>
                  <a:pt x="45599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55989" y="1375870"/>
            <a:ext cx="7558014" cy="45599"/>
          </a:xfrm>
          <a:custGeom>
            <a:avLst/>
            <a:gdLst/>
            <a:ahLst/>
            <a:cxnLst/>
            <a:rect l="l" t="t" r="r" b="b"/>
            <a:pathLst>
              <a:path w="7558014" h="45599">
                <a:moveTo>
                  <a:pt x="45599" y="0"/>
                </a:moveTo>
                <a:lnTo>
                  <a:pt x="7512415" y="0"/>
                </a:lnTo>
                <a:cubicBezTo>
                  <a:pt x="7537599" y="0"/>
                  <a:pt x="7558014" y="20415"/>
                  <a:pt x="7558014" y="45599"/>
                </a:cubicBezTo>
                <a:lnTo>
                  <a:pt x="7558014" y="45599"/>
                </a:lnTo>
                <a:lnTo>
                  <a:pt x="0" y="45599"/>
                </a:lnTo>
                <a:lnTo>
                  <a:pt x="0" y="45599"/>
                </a:lnTo>
                <a:cubicBezTo>
                  <a:pt x="0" y="20432"/>
                  <a:pt x="20432" y="0"/>
                  <a:pt x="45599" y="0"/>
                </a:cubicBez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683983" y="1626664"/>
            <a:ext cx="729582" cy="729582"/>
          </a:xfrm>
          <a:custGeom>
            <a:avLst/>
            <a:gdLst/>
            <a:ahLst/>
            <a:cxnLst/>
            <a:rect l="l" t="t" r="r" b="b"/>
            <a:pathLst>
              <a:path w="729582" h="729582">
                <a:moveTo>
                  <a:pt x="45599" y="0"/>
                </a:moveTo>
                <a:lnTo>
                  <a:pt x="683983" y="0"/>
                </a:lnTo>
                <a:cubicBezTo>
                  <a:pt x="709167" y="0"/>
                  <a:pt x="729582" y="20415"/>
                  <a:pt x="729582" y="45599"/>
                </a:cubicBezTo>
                <a:lnTo>
                  <a:pt x="729582" y="683983"/>
                </a:lnTo>
                <a:cubicBezTo>
                  <a:pt x="729582" y="709167"/>
                  <a:pt x="709167" y="729582"/>
                  <a:pt x="683983" y="729582"/>
                </a:cubicBezTo>
                <a:lnTo>
                  <a:pt x="45599" y="729582"/>
                </a:lnTo>
                <a:cubicBezTo>
                  <a:pt x="20415" y="729582"/>
                  <a:pt x="0" y="709167"/>
                  <a:pt x="0" y="683983"/>
                </a:cubicBezTo>
                <a:lnTo>
                  <a:pt x="0" y="45599"/>
                </a:lnTo>
                <a:cubicBezTo>
                  <a:pt x="0" y="20432"/>
                  <a:pt x="20432" y="0"/>
                  <a:pt x="45599" y="0"/>
                </a:cubicBezTo>
                <a:close/>
              </a:path>
            </a:pathLst>
          </a:custGeom>
          <a:solidFill>
            <a:srgbClr val="718096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769659" y="1809060"/>
            <a:ext cx="695383" cy="3647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54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ODS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95961" y="1672263"/>
            <a:ext cx="2063349" cy="3647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54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原始数据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95961" y="2037054"/>
            <a:ext cx="2017750" cy="273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36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Operational Data Store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01083" y="2629839"/>
            <a:ext cx="136797" cy="136797"/>
          </a:xfrm>
          <a:custGeom>
            <a:avLst/>
            <a:gdLst/>
            <a:ahLst/>
            <a:cxnLst/>
            <a:rect l="l" t="t" r="r" b="b"/>
            <a:pathLst>
              <a:path w="136797" h="136797">
                <a:moveTo>
                  <a:pt x="0" y="68398"/>
                </a:moveTo>
                <a:cubicBezTo>
                  <a:pt x="0" y="30648"/>
                  <a:pt x="30648" y="0"/>
                  <a:pt x="68398" y="0"/>
                </a:cubicBezTo>
                <a:cubicBezTo>
                  <a:pt x="106148" y="0"/>
                  <a:pt x="136797" y="30648"/>
                  <a:pt x="136797" y="68398"/>
                </a:cubicBezTo>
                <a:cubicBezTo>
                  <a:pt x="136797" y="106148"/>
                  <a:pt x="106148" y="136797"/>
                  <a:pt x="68398" y="136797"/>
                </a:cubicBezTo>
                <a:cubicBezTo>
                  <a:pt x="30648" y="136797"/>
                  <a:pt x="0" y="106148"/>
                  <a:pt x="0" y="68398"/>
                </a:cubicBez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991776" y="2538642"/>
            <a:ext cx="3055125" cy="273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36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原始：</a:t>
            </a:r>
            <a:r>
              <a:rPr lang="en-US" sz="1436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保持源系统原貌,未做任何处理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01083" y="3040229"/>
            <a:ext cx="136797" cy="136797"/>
          </a:xfrm>
          <a:custGeom>
            <a:avLst/>
            <a:gdLst/>
            <a:ahLst/>
            <a:cxnLst/>
            <a:rect l="l" t="t" r="r" b="b"/>
            <a:pathLst>
              <a:path w="136797" h="136797">
                <a:moveTo>
                  <a:pt x="0" y="68398"/>
                </a:moveTo>
                <a:cubicBezTo>
                  <a:pt x="0" y="30648"/>
                  <a:pt x="30648" y="0"/>
                  <a:pt x="68398" y="0"/>
                </a:cubicBezTo>
                <a:cubicBezTo>
                  <a:pt x="106148" y="0"/>
                  <a:pt x="136797" y="30648"/>
                  <a:pt x="136797" y="68398"/>
                </a:cubicBezTo>
                <a:cubicBezTo>
                  <a:pt x="136797" y="106148"/>
                  <a:pt x="106148" y="136797"/>
                  <a:pt x="68398" y="136797"/>
                </a:cubicBezTo>
                <a:cubicBezTo>
                  <a:pt x="30648" y="136797"/>
                  <a:pt x="0" y="106148"/>
                  <a:pt x="0" y="68398"/>
                </a:cubicBez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991776" y="2949031"/>
            <a:ext cx="2507938" cy="273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36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杂乱：</a:t>
            </a:r>
            <a:r>
              <a:rPr lang="en-US" sz="1436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字段名晦涩,格式不统一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01083" y="3450619"/>
            <a:ext cx="136797" cy="136797"/>
          </a:xfrm>
          <a:custGeom>
            <a:avLst/>
            <a:gdLst/>
            <a:ahLst/>
            <a:cxnLst/>
            <a:rect l="l" t="t" r="r" b="b"/>
            <a:pathLst>
              <a:path w="136797" h="136797">
                <a:moveTo>
                  <a:pt x="0" y="68398"/>
                </a:moveTo>
                <a:cubicBezTo>
                  <a:pt x="0" y="30648"/>
                  <a:pt x="30648" y="0"/>
                  <a:pt x="68398" y="0"/>
                </a:cubicBezTo>
                <a:cubicBezTo>
                  <a:pt x="106148" y="0"/>
                  <a:pt x="136797" y="30648"/>
                  <a:pt x="136797" y="68398"/>
                </a:cubicBezTo>
                <a:cubicBezTo>
                  <a:pt x="136797" y="106148"/>
                  <a:pt x="106148" y="136797"/>
                  <a:pt x="68398" y="136797"/>
                </a:cubicBezTo>
                <a:cubicBezTo>
                  <a:pt x="30648" y="136797"/>
                  <a:pt x="0" y="106148"/>
                  <a:pt x="0" y="68398"/>
                </a:cubicBez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991776" y="3359421"/>
            <a:ext cx="2507938" cy="273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36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高保真：</a:t>
            </a:r>
            <a:r>
              <a:rPr lang="en-US" sz="1436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无损快照,确保可追溯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83983" y="3821110"/>
            <a:ext cx="7102025" cy="11400"/>
          </a:xfrm>
          <a:custGeom>
            <a:avLst/>
            <a:gdLst/>
            <a:ahLst/>
            <a:cxnLst/>
            <a:rect l="l" t="t" r="r" b="b"/>
            <a:pathLst>
              <a:path w="7102025" h="11400">
                <a:moveTo>
                  <a:pt x="0" y="0"/>
                </a:moveTo>
                <a:lnTo>
                  <a:pt x="7102025" y="0"/>
                </a:lnTo>
                <a:lnTo>
                  <a:pt x="7102025" y="11400"/>
                </a:lnTo>
                <a:lnTo>
                  <a:pt x="0" y="11400"/>
                </a:lnTo>
                <a:lnTo>
                  <a:pt x="0" y="0"/>
                </a:ln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706783" y="4009205"/>
            <a:ext cx="182396" cy="182396"/>
          </a:xfrm>
          <a:custGeom>
            <a:avLst/>
            <a:gdLst/>
            <a:ahLst/>
            <a:cxnLst/>
            <a:rect l="l" t="t" r="r" b="b"/>
            <a:pathLst>
              <a:path w="182396" h="182396">
                <a:moveTo>
                  <a:pt x="91198" y="0"/>
                </a:moveTo>
                <a:cubicBezTo>
                  <a:pt x="92836" y="0"/>
                  <a:pt x="94475" y="356"/>
                  <a:pt x="95971" y="1033"/>
                </a:cubicBezTo>
                <a:lnTo>
                  <a:pt x="163087" y="29497"/>
                </a:lnTo>
                <a:cubicBezTo>
                  <a:pt x="170925" y="32810"/>
                  <a:pt x="176767" y="40540"/>
                  <a:pt x="176731" y="49874"/>
                </a:cubicBezTo>
                <a:cubicBezTo>
                  <a:pt x="176553" y="85213"/>
                  <a:pt x="162019" y="149871"/>
                  <a:pt x="100638" y="179261"/>
                </a:cubicBezTo>
                <a:cubicBezTo>
                  <a:pt x="94689" y="182111"/>
                  <a:pt x="87778" y="182111"/>
                  <a:pt x="81829" y="179261"/>
                </a:cubicBezTo>
                <a:cubicBezTo>
                  <a:pt x="20413" y="149871"/>
                  <a:pt x="5914" y="85213"/>
                  <a:pt x="5735" y="49874"/>
                </a:cubicBezTo>
                <a:cubicBezTo>
                  <a:pt x="5700" y="40540"/>
                  <a:pt x="11542" y="32810"/>
                  <a:pt x="19380" y="29497"/>
                </a:cubicBezTo>
                <a:lnTo>
                  <a:pt x="86460" y="1033"/>
                </a:lnTo>
                <a:cubicBezTo>
                  <a:pt x="87956" y="356"/>
                  <a:pt x="89559" y="0"/>
                  <a:pt x="91198" y="0"/>
                </a:cubicBezTo>
                <a:close/>
                <a:moveTo>
                  <a:pt x="91198" y="23797"/>
                </a:moveTo>
                <a:lnTo>
                  <a:pt x="91198" y="158492"/>
                </a:lnTo>
                <a:cubicBezTo>
                  <a:pt x="140359" y="134695"/>
                  <a:pt x="153576" y="81971"/>
                  <a:pt x="153896" y="50408"/>
                </a:cubicBezTo>
                <a:lnTo>
                  <a:pt x="91198" y="23833"/>
                </a:lnTo>
                <a:lnTo>
                  <a:pt x="91198" y="23833"/>
                </a:ln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1003175" y="3963606"/>
            <a:ext cx="820780" cy="273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36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核心价值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3983" y="4282799"/>
            <a:ext cx="7193223" cy="273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36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数据血缘追溯,问题定位的源头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240661" y="1375870"/>
            <a:ext cx="7558014" cy="3704909"/>
          </a:xfrm>
          <a:custGeom>
            <a:avLst/>
            <a:gdLst/>
            <a:ahLst/>
            <a:cxnLst/>
            <a:rect l="l" t="t" r="r" b="b"/>
            <a:pathLst>
              <a:path w="7558014" h="3704909">
                <a:moveTo>
                  <a:pt x="45599" y="0"/>
                </a:moveTo>
                <a:lnTo>
                  <a:pt x="7512415" y="0"/>
                </a:lnTo>
                <a:cubicBezTo>
                  <a:pt x="7537599" y="0"/>
                  <a:pt x="7558014" y="20415"/>
                  <a:pt x="7558014" y="45599"/>
                </a:cubicBezTo>
                <a:lnTo>
                  <a:pt x="7558014" y="3613694"/>
                </a:lnTo>
                <a:cubicBezTo>
                  <a:pt x="7558014" y="3664071"/>
                  <a:pt x="7517176" y="3704909"/>
                  <a:pt x="7466799" y="3704909"/>
                </a:cubicBezTo>
                <a:lnTo>
                  <a:pt x="91215" y="3704909"/>
                </a:lnTo>
                <a:cubicBezTo>
                  <a:pt x="40838" y="3704909"/>
                  <a:pt x="0" y="3664071"/>
                  <a:pt x="0" y="3613694"/>
                </a:cubicBezTo>
                <a:lnTo>
                  <a:pt x="0" y="45599"/>
                </a:lnTo>
                <a:cubicBezTo>
                  <a:pt x="0" y="20432"/>
                  <a:pt x="20432" y="0"/>
                  <a:pt x="45599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8240661" y="1375870"/>
            <a:ext cx="7558014" cy="45599"/>
          </a:xfrm>
          <a:custGeom>
            <a:avLst/>
            <a:gdLst/>
            <a:ahLst/>
            <a:cxnLst/>
            <a:rect l="l" t="t" r="r" b="b"/>
            <a:pathLst>
              <a:path w="7558014" h="45599">
                <a:moveTo>
                  <a:pt x="45599" y="0"/>
                </a:moveTo>
                <a:lnTo>
                  <a:pt x="7512415" y="0"/>
                </a:lnTo>
                <a:cubicBezTo>
                  <a:pt x="7537599" y="0"/>
                  <a:pt x="7558014" y="20415"/>
                  <a:pt x="7558014" y="45599"/>
                </a:cubicBezTo>
                <a:lnTo>
                  <a:pt x="7558014" y="45599"/>
                </a:lnTo>
                <a:lnTo>
                  <a:pt x="0" y="45599"/>
                </a:lnTo>
                <a:lnTo>
                  <a:pt x="0" y="45599"/>
                </a:lnTo>
                <a:cubicBezTo>
                  <a:pt x="0" y="20432"/>
                  <a:pt x="20432" y="0"/>
                  <a:pt x="45599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8468656" y="1626664"/>
            <a:ext cx="729582" cy="729582"/>
          </a:xfrm>
          <a:custGeom>
            <a:avLst/>
            <a:gdLst/>
            <a:ahLst/>
            <a:cxnLst/>
            <a:rect l="l" t="t" r="r" b="b"/>
            <a:pathLst>
              <a:path w="729582" h="729582">
                <a:moveTo>
                  <a:pt x="45599" y="0"/>
                </a:moveTo>
                <a:lnTo>
                  <a:pt x="683983" y="0"/>
                </a:lnTo>
                <a:cubicBezTo>
                  <a:pt x="709167" y="0"/>
                  <a:pt x="729582" y="20415"/>
                  <a:pt x="729582" y="45599"/>
                </a:cubicBezTo>
                <a:lnTo>
                  <a:pt x="729582" y="683983"/>
                </a:lnTo>
                <a:cubicBezTo>
                  <a:pt x="729582" y="709167"/>
                  <a:pt x="709167" y="729582"/>
                  <a:pt x="683983" y="729582"/>
                </a:cubicBezTo>
                <a:lnTo>
                  <a:pt x="45599" y="729582"/>
                </a:lnTo>
                <a:cubicBezTo>
                  <a:pt x="20415" y="729582"/>
                  <a:pt x="0" y="709167"/>
                  <a:pt x="0" y="683983"/>
                </a:cubicBezTo>
                <a:lnTo>
                  <a:pt x="0" y="45599"/>
                </a:lnTo>
                <a:cubicBezTo>
                  <a:pt x="0" y="20432"/>
                  <a:pt x="20432" y="0"/>
                  <a:pt x="45599" y="0"/>
                </a:cubicBezTo>
                <a:close/>
              </a:path>
            </a:pathLst>
          </a:custGeom>
          <a:solidFill>
            <a:srgbClr val="4A5568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8508377" y="1809060"/>
            <a:ext cx="786581" cy="3647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54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DWD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380633" y="1672263"/>
            <a:ext cx="2063349" cy="3647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54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标准明细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380633" y="2037054"/>
            <a:ext cx="2017750" cy="273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36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 Warehouse Detail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485755" y="2629839"/>
            <a:ext cx="136797" cy="136797"/>
          </a:xfrm>
          <a:custGeom>
            <a:avLst/>
            <a:gdLst/>
            <a:ahLst/>
            <a:cxnLst/>
            <a:rect l="l" t="t" r="r" b="b"/>
            <a:pathLst>
              <a:path w="136797" h="136797">
                <a:moveTo>
                  <a:pt x="0" y="68398"/>
                </a:moveTo>
                <a:cubicBezTo>
                  <a:pt x="0" y="30648"/>
                  <a:pt x="30648" y="0"/>
                  <a:pt x="68398" y="0"/>
                </a:cubicBezTo>
                <a:cubicBezTo>
                  <a:pt x="106148" y="0"/>
                  <a:pt x="136797" y="30648"/>
                  <a:pt x="136797" y="68398"/>
                </a:cubicBezTo>
                <a:cubicBezTo>
                  <a:pt x="136797" y="106148"/>
                  <a:pt x="106148" y="136797"/>
                  <a:pt x="68398" y="136797"/>
                </a:cubicBezTo>
                <a:cubicBezTo>
                  <a:pt x="30648" y="136797"/>
                  <a:pt x="0" y="106148"/>
                  <a:pt x="0" y="68398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8776448" y="2538642"/>
            <a:ext cx="2644735" cy="273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36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标准：</a:t>
            </a:r>
            <a:r>
              <a:rPr lang="en-US" sz="1436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统一字段命名和数据类型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485755" y="3040229"/>
            <a:ext cx="136797" cy="136797"/>
          </a:xfrm>
          <a:custGeom>
            <a:avLst/>
            <a:gdLst/>
            <a:ahLst/>
            <a:cxnLst/>
            <a:rect l="l" t="t" r="r" b="b"/>
            <a:pathLst>
              <a:path w="136797" h="136797">
                <a:moveTo>
                  <a:pt x="0" y="68398"/>
                </a:moveTo>
                <a:cubicBezTo>
                  <a:pt x="0" y="30648"/>
                  <a:pt x="30648" y="0"/>
                  <a:pt x="68398" y="0"/>
                </a:cubicBezTo>
                <a:cubicBezTo>
                  <a:pt x="106148" y="0"/>
                  <a:pt x="136797" y="30648"/>
                  <a:pt x="136797" y="68398"/>
                </a:cubicBezTo>
                <a:cubicBezTo>
                  <a:pt x="136797" y="106148"/>
                  <a:pt x="106148" y="136797"/>
                  <a:pt x="68398" y="136797"/>
                </a:cubicBezTo>
                <a:cubicBezTo>
                  <a:pt x="30648" y="136797"/>
                  <a:pt x="0" y="106148"/>
                  <a:pt x="0" y="68398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8776448" y="2949031"/>
            <a:ext cx="3009526" cy="273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36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清洗：</a:t>
            </a:r>
            <a:r>
              <a:rPr lang="en-US" sz="1436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处理缺失值、异常值、重复值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485755" y="3450619"/>
            <a:ext cx="136797" cy="136797"/>
          </a:xfrm>
          <a:custGeom>
            <a:avLst/>
            <a:gdLst/>
            <a:ahLst/>
            <a:cxnLst/>
            <a:rect l="l" t="t" r="r" b="b"/>
            <a:pathLst>
              <a:path w="136797" h="136797">
                <a:moveTo>
                  <a:pt x="0" y="68398"/>
                </a:moveTo>
                <a:cubicBezTo>
                  <a:pt x="0" y="30648"/>
                  <a:pt x="30648" y="0"/>
                  <a:pt x="68398" y="0"/>
                </a:cubicBezTo>
                <a:cubicBezTo>
                  <a:pt x="106148" y="0"/>
                  <a:pt x="136797" y="30648"/>
                  <a:pt x="136797" y="68398"/>
                </a:cubicBezTo>
                <a:cubicBezTo>
                  <a:pt x="136797" y="106148"/>
                  <a:pt x="106148" y="136797"/>
                  <a:pt x="68398" y="136797"/>
                </a:cubicBezTo>
                <a:cubicBezTo>
                  <a:pt x="30648" y="136797"/>
                  <a:pt x="0" y="106148"/>
                  <a:pt x="0" y="68398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8776448" y="3359421"/>
            <a:ext cx="2462339" cy="273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36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明细化：</a:t>
            </a:r>
            <a:r>
              <a:rPr lang="en-US" sz="1436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保留完整的明细数据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468656" y="3821110"/>
            <a:ext cx="7102025" cy="11400"/>
          </a:xfrm>
          <a:custGeom>
            <a:avLst/>
            <a:gdLst/>
            <a:ahLst/>
            <a:cxnLst/>
            <a:rect l="l" t="t" r="r" b="b"/>
            <a:pathLst>
              <a:path w="7102025" h="11400">
                <a:moveTo>
                  <a:pt x="0" y="0"/>
                </a:moveTo>
                <a:lnTo>
                  <a:pt x="7102025" y="0"/>
                </a:lnTo>
                <a:lnTo>
                  <a:pt x="7102025" y="11400"/>
                </a:lnTo>
                <a:lnTo>
                  <a:pt x="0" y="11400"/>
                </a:lnTo>
                <a:lnTo>
                  <a:pt x="0" y="0"/>
                </a:ln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8480055" y="4009205"/>
            <a:ext cx="205195" cy="182396"/>
          </a:xfrm>
          <a:custGeom>
            <a:avLst/>
            <a:gdLst/>
            <a:ahLst/>
            <a:cxnLst/>
            <a:rect l="l" t="t" r="r" b="b"/>
            <a:pathLst>
              <a:path w="205195" h="182396">
                <a:moveTo>
                  <a:pt x="201846" y="19451"/>
                </a:moveTo>
                <a:cubicBezTo>
                  <a:pt x="206299" y="14998"/>
                  <a:pt x="206299" y="7766"/>
                  <a:pt x="201846" y="3313"/>
                </a:cubicBezTo>
                <a:cubicBezTo>
                  <a:pt x="197393" y="-1140"/>
                  <a:pt x="190162" y="-1140"/>
                  <a:pt x="185709" y="3313"/>
                </a:cubicBezTo>
                <a:lnTo>
                  <a:pt x="117310" y="71711"/>
                </a:lnTo>
                <a:lnTo>
                  <a:pt x="104949" y="59350"/>
                </a:lnTo>
                <a:cubicBezTo>
                  <a:pt x="103452" y="57854"/>
                  <a:pt x="101386" y="56999"/>
                  <a:pt x="99249" y="56999"/>
                </a:cubicBezTo>
                <a:cubicBezTo>
                  <a:pt x="94796" y="56999"/>
                  <a:pt x="91198" y="60597"/>
                  <a:pt x="91198" y="65050"/>
                </a:cubicBezTo>
                <a:lnTo>
                  <a:pt x="91198" y="75416"/>
                </a:lnTo>
                <a:lnTo>
                  <a:pt x="129779" y="113997"/>
                </a:lnTo>
                <a:lnTo>
                  <a:pt x="140145" y="113997"/>
                </a:lnTo>
                <a:cubicBezTo>
                  <a:pt x="144598" y="113997"/>
                  <a:pt x="148196" y="110399"/>
                  <a:pt x="148196" y="105946"/>
                </a:cubicBezTo>
                <a:cubicBezTo>
                  <a:pt x="148196" y="103809"/>
                  <a:pt x="147341" y="101742"/>
                  <a:pt x="145845" y="100246"/>
                </a:cubicBezTo>
                <a:lnTo>
                  <a:pt x="133484" y="87885"/>
                </a:lnTo>
                <a:lnTo>
                  <a:pt x="201882" y="19486"/>
                </a:lnTo>
                <a:close/>
                <a:moveTo>
                  <a:pt x="121514" y="125896"/>
                </a:moveTo>
                <a:lnTo>
                  <a:pt x="79299" y="83681"/>
                </a:lnTo>
                <a:cubicBezTo>
                  <a:pt x="64088" y="82363"/>
                  <a:pt x="48948" y="87849"/>
                  <a:pt x="38047" y="98750"/>
                </a:cubicBezTo>
                <a:lnTo>
                  <a:pt x="35197" y="101600"/>
                </a:lnTo>
                <a:cubicBezTo>
                  <a:pt x="27252" y="109544"/>
                  <a:pt x="22799" y="120303"/>
                  <a:pt x="22799" y="131524"/>
                </a:cubicBezTo>
                <a:cubicBezTo>
                  <a:pt x="22799" y="133947"/>
                  <a:pt x="25329" y="135514"/>
                  <a:pt x="27502" y="134445"/>
                </a:cubicBezTo>
                <a:lnTo>
                  <a:pt x="45706" y="125361"/>
                </a:lnTo>
                <a:cubicBezTo>
                  <a:pt x="47487" y="124471"/>
                  <a:pt x="49090" y="126822"/>
                  <a:pt x="47629" y="128176"/>
                </a:cubicBezTo>
                <a:lnTo>
                  <a:pt x="2601" y="168645"/>
                </a:lnTo>
                <a:cubicBezTo>
                  <a:pt x="962" y="170141"/>
                  <a:pt x="0" y="172278"/>
                  <a:pt x="0" y="174523"/>
                </a:cubicBezTo>
                <a:cubicBezTo>
                  <a:pt x="0" y="178869"/>
                  <a:pt x="3527" y="182396"/>
                  <a:pt x="7873" y="182396"/>
                </a:cubicBezTo>
                <a:lnTo>
                  <a:pt x="69610" y="182396"/>
                </a:lnTo>
                <a:cubicBezTo>
                  <a:pt x="83432" y="182396"/>
                  <a:pt x="96648" y="176909"/>
                  <a:pt x="106445" y="167148"/>
                </a:cubicBezTo>
                <a:cubicBezTo>
                  <a:pt x="117346" y="156247"/>
                  <a:pt x="122796" y="141107"/>
                  <a:pt x="121514" y="125896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8787848" y="3963606"/>
            <a:ext cx="820780" cy="273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36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核心价值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468656" y="4282799"/>
            <a:ext cx="7193223" cy="273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36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统一口径,消除源系统差异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55989" y="5327743"/>
            <a:ext cx="7558014" cy="3704909"/>
          </a:xfrm>
          <a:custGeom>
            <a:avLst/>
            <a:gdLst/>
            <a:ahLst/>
            <a:cxnLst/>
            <a:rect l="l" t="t" r="r" b="b"/>
            <a:pathLst>
              <a:path w="7558014" h="3704909">
                <a:moveTo>
                  <a:pt x="45599" y="0"/>
                </a:moveTo>
                <a:lnTo>
                  <a:pt x="7512415" y="0"/>
                </a:lnTo>
                <a:cubicBezTo>
                  <a:pt x="7537599" y="0"/>
                  <a:pt x="7558014" y="20415"/>
                  <a:pt x="7558014" y="45599"/>
                </a:cubicBezTo>
                <a:lnTo>
                  <a:pt x="7558014" y="3613694"/>
                </a:lnTo>
                <a:cubicBezTo>
                  <a:pt x="7558014" y="3664071"/>
                  <a:pt x="7517176" y="3704909"/>
                  <a:pt x="7466799" y="3704909"/>
                </a:cubicBezTo>
                <a:lnTo>
                  <a:pt x="91215" y="3704909"/>
                </a:lnTo>
                <a:cubicBezTo>
                  <a:pt x="40838" y="3704909"/>
                  <a:pt x="0" y="3664071"/>
                  <a:pt x="0" y="3613694"/>
                </a:cubicBezTo>
                <a:lnTo>
                  <a:pt x="0" y="45599"/>
                </a:lnTo>
                <a:cubicBezTo>
                  <a:pt x="0" y="20432"/>
                  <a:pt x="20432" y="0"/>
                  <a:pt x="45599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455989" y="5327743"/>
            <a:ext cx="7558014" cy="45599"/>
          </a:xfrm>
          <a:custGeom>
            <a:avLst/>
            <a:gdLst/>
            <a:ahLst/>
            <a:cxnLst/>
            <a:rect l="l" t="t" r="r" b="b"/>
            <a:pathLst>
              <a:path w="7558014" h="45599">
                <a:moveTo>
                  <a:pt x="45599" y="0"/>
                </a:moveTo>
                <a:lnTo>
                  <a:pt x="7512415" y="0"/>
                </a:lnTo>
                <a:cubicBezTo>
                  <a:pt x="7537599" y="0"/>
                  <a:pt x="7558014" y="20415"/>
                  <a:pt x="7558014" y="45599"/>
                </a:cubicBezTo>
                <a:lnTo>
                  <a:pt x="7558014" y="45599"/>
                </a:lnTo>
                <a:lnTo>
                  <a:pt x="0" y="45599"/>
                </a:lnTo>
                <a:lnTo>
                  <a:pt x="0" y="45599"/>
                </a:lnTo>
                <a:cubicBezTo>
                  <a:pt x="0" y="20432"/>
                  <a:pt x="20432" y="0"/>
                  <a:pt x="45599" y="0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683983" y="5578537"/>
            <a:ext cx="729582" cy="729582"/>
          </a:xfrm>
          <a:custGeom>
            <a:avLst/>
            <a:gdLst/>
            <a:ahLst/>
            <a:cxnLst/>
            <a:rect l="l" t="t" r="r" b="b"/>
            <a:pathLst>
              <a:path w="729582" h="729582">
                <a:moveTo>
                  <a:pt x="45599" y="0"/>
                </a:moveTo>
                <a:lnTo>
                  <a:pt x="683983" y="0"/>
                </a:lnTo>
                <a:cubicBezTo>
                  <a:pt x="709167" y="0"/>
                  <a:pt x="729582" y="20415"/>
                  <a:pt x="729582" y="45599"/>
                </a:cubicBezTo>
                <a:lnTo>
                  <a:pt x="729582" y="683983"/>
                </a:lnTo>
                <a:cubicBezTo>
                  <a:pt x="729582" y="709167"/>
                  <a:pt x="709167" y="729582"/>
                  <a:pt x="683983" y="729582"/>
                </a:cubicBezTo>
                <a:lnTo>
                  <a:pt x="45599" y="729582"/>
                </a:lnTo>
                <a:cubicBezTo>
                  <a:pt x="20415" y="729582"/>
                  <a:pt x="0" y="709167"/>
                  <a:pt x="0" y="683983"/>
                </a:cubicBezTo>
                <a:lnTo>
                  <a:pt x="0" y="45599"/>
                </a:lnTo>
                <a:cubicBezTo>
                  <a:pt x="0" y="20432"/>
                  <a:pt x="20432" y="0"/>
                  <a:pt x="45599" y="0"/>
                </a:cubicBezTo>
                <a:close/>
              </a:path>
            </a:pathLst>
          </a:custGeom>
          <a:solidFill>
            <a:srgbClr val="D69E2E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734926" y="5760933"/>
            <a:ext cx="763781" cy="3647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54" b="1" dirty="0">
                <a:solidFill>
                  <a:srgbClr val="D69E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DWS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595961" y="5624136"/>
            <a:ext cx="2188746" cy="3647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54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汇总数据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595961" y="5988927"/>
            <a:ext cx="2143147" cy="273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36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 Warehouse Service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01083" y="6581712"/>
            <a:ext cx="136797" cy="136797"/>
          </a:xfrm>
          <a:custGeom>
            <a:avLst/>
            <a:gdLst/>
            <a:ahLst/>
            <a:cxnLst/>
            <a:rect l="l" t="t" r="r" b="b"/>
            <a:pathLst>
              <a:path w="136797" h="136797">
                <a:moveTo>
                  <a:pt x="0" y="68398"/>
                </a:moveTo>
                <a:cubicBezTo>
                  <a:pt x="0" y="30648"/>
                  <a:pt x="30648" y="0"/>
                  <a:pt x="68398" y="0"/>
                </a:cubicBezTo>
                <a:cubicBezTo>
                  <a:pt x="106148" y="0"/>
                  <a:pt x="136797" y="30648"/>
                  <a:pt x="136797" y="68398"/>
                </a:cubicBezTo>
                <a:cubicBezTo>
                  <a:pt x="136797" y="106148"/>
                  <a:pt x="106148" y="136797"/>
                  <a:pt x="68398" y="136797"/>
                </a:cubicBezTo>
                <a:cubicBezTo>
                  <a:pt x="30648" y="136797"/>
                  <a:pt x="0" y="106148"/>
                  <a:pt x="0" y="68398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991776" y="6490515"/>
            <a:ext cx="2644735" cy="273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36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汇总：</a:t>
            </a:r>
            <a:r>
              <a:rPr lang="en-US" sz="1436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按时间、主体、维度聚合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701083" y="6992102"/>
            <a:ext cx="136797" cy="136797"/>
          </a:xfrm>
          <a:custGeom>
            <a:avLst/>
            <a:gdLst/>
            <a:ahLst/>
            <a:cxnLst/>
            <a:rect l="l" t="t" r="r" b="b"/>
            <a:pathLst>
              <a:path w="136797" h="136797">
                <a:moveTo>
                  <a:pt x="0" y="68398"/>
                </a:moveTo>
                <a:cubicBezTo>
                  <a:pt x="0" y="30648"/>
                  <a:pt x="30648" y="0"/>
                  <a:pt x="68398" y="0"/>
                </a:cubicBezTo>
                <a:cubicBezTo>
                  <a:pt x="106148" y="0"/>
                  <a:pt x="136797" y="30648"/>
                  <a:pt x="136797" y="68398"/>
                </a:cubicBezTo>
                <a:cubicBezTo>
                  <a:pt x="136797" y="106148"/>
                  <a:pt x="106148" y="136797"/>
                  <a:pt x="68398" y="136797"/>
                </a:cubicBezTo>
                <a:cubicBezTo>
                  <a:pt x="30648" y="136797"/>
                  <a:pt x="0" y="106148"/>
                  <a:pt x="0" y="68398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991776" y="6900905"/>
            <a:ext cx="3055125" cy="273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36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聚合：</a:t>
            </a:r>
            <a:r>
              <a:rPr lang="en-US" sz="1436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计算统计指标,数据量大幅减少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701083" y="7402492"/>
            <a:ext cx="136797" cy="136797"/>
          </a:xfrm>
          <a:custGeom>
            <a:avLst/>
            <a:gdLst/>
            <a:ahLst/>
            <a:cxnLst/>
            <a:rect l="l" t="t" r="r" b="b"/>
            <a:pathLst>
              <a:path w="136797" h="136797">
                <a:moveTo>
                  <a:pt x="0" y="68398"/>
                </a:moveTo>
                <a:cubicBezTo>
                  <a:pt x="0" y="30648"/>
                  <a:pt x="30648" y="0"/>
                  <a:pt x="68398" y="0"/>
                </a:cubicBezTo>
                <a:cubicBezTo>
                  <a:pt x="106148" y="0"/>
                  <a:pt x="136797" y="30648"/>
                  <a:pt x="136797" y="68398"/>
                </a:cubicBezTo>
                <a:cubicBezTo>
                  <a:pt x="136797" y="106148"/>
                  <a:pt x="106148" y="136797"/>
                  <a:pt x="68398" y="136797"/>
                </a:cubicBezTo>
                <a:cubicBezTo>
                  <a:pt x="30648" y="136797"/>
                  <a:pt x="0" y="106148"/>
                  <a:pt x="0" y="68398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991776" y="7311294"/>
            <a:ext cx="2644735" cy="273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36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主题化：</a:t>
            </a:r>
            <a:r>
              <a:rPr lang="en-US" sz="1436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面向业务主题组织数据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83983" y="7772983"/>
            <a:ext cx="7102025" cy="11400"/>
          </a:xfrm>
          <a:custGeom>
            <a:avLst/>
            <a:gdLst/>
            <a:ahLst/>
            <a:cxnLst/>
            <a:rect l="l" t="t" r="r" b="b"/>
            <a:pathLst>
              <a:path w="7102025" h="11400">
                <a:moveTo>
                  <a:pt x="0" y="0"/>
                </a:moveTo>
                <a:lnTo>
                  <a:pt x="7102025" y="0"/>
                </a:lnTo>
                <a:lnTo>
                  <a:pt x="7102025" y="11400"/>
                </a:lnTo>
                <a:lnTo>
                  <a:pt x="0" y="11400"/>
                </a:lnTo>
                <a:lnTo>
                  <a:pt x="0" y="0"/>
                </a:ln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9"/>
          <p:cNvSpPr/>
          <p:nvPr/>
        </p:nvSpPr>
        <p:spPr>
          <a:xfrm>
            <a:off x="706783" y="7961078"/>
            <a:ext cx="182396" cy="182396"/>
          </a:xfrm>
          <a:custGeom>
            <a:avLst/>
            <a:gdLst/>
            <a:ahLst/>
            <a:cxnLst/>
            <a:rect l="l" t="t" r="r" b="b"/>
            <a:pathLst>
              <a:path w="182396" h="182396">
                <a:moveTo>
                  <a:pt x="101173" y="-463"/>
                </a:moveTo>
                <a:cubicBezTo>
                  <a:pt x="95010" y="-4026"/>
                  <a:pt x="87386" y="-4026"/>
                  <a:pt x="81223" y="-463"/>
                </a:cubicBezTo>
                <a:lnTo>
                  <a:pt x="51227" y="16850"/>
                </a:lnTo>
                <a:cubicBezTo>
                  <a:pt x="45065" y="20413"/>
                  <a:pt x="41253" y="27003"/>
                  <a:pt x="41253" y="34128"/>
                </a:cubicBezTo>
                <a:lnTo>
                  <a:pt x="41253" y="70429"/>
                </a:lnTo>
                <a:lnTo>
                  <a:pt x="9797" y="88597"/>
                </a:lnTo>
                <a:cubicBezTo>
                  <a:pt x="3634" y="92160"/>
                  <a:pt x="-178" y="98750"/>
                  <a:pt x="-178" y="105875"/>
                </a:cubicBezTo>
                <a:lnTo>
                  <a:pt x="-178" y="140537"/>
                </a:lnTo>
                <a:cubicBezTo>
                  <a:pt x="-178" y="147662"/>
                  <a:pt x="3634" y="154252"/>
                  <a:pt x="9797" y="157815"/>
                </a:cubicBezTo>
                <a:lnTo>
                  <a:pt x="39828" y="175128"/>
                </a:lnTo>
                <a:cubicBezTo>
                  <a:pt x="45991" y="178691"/>
                  <a:pt x="53614" y="178691"/>
                  <a:pt x="59777" y="175128"/>
                </a:cubicBezTo>
                <a:lnTo>
                  <a:pt x="91233" y="156960"/>
                </a:lnTo>
                <a:lnTo>
                  <a:pt x="122689" y="175128"/>
                </a:lnTo>
                <a:cubicBezTo>
                  <a:pt x="128852" y="178691"/>
                  <a:pt x="136476" y="178691"/>
                  <a:pt x="142639" y="175128"/>
                </a:cubicBezTo>
                <a:lnTo>
                  <a:pt x="172599" y="157815"/>
                </a:lnTo>
                <a:cubicBezTo>
                  <a:pt x="178762" y="154252"/>
                  <a:pt x="182574" y="147662"/>
                  <a:pt x="182574" y="140537"/>
                </a:cubicBezTo>
                <a:lnTo>
                  <a:pt x="182574" y="105875"/>
                </a:lnTo>
                <a:cubicBezTo>
                  <a:pt x="182574" y="98750"/>
                  <a:pt x="178762" y="92160"/>
                  <a:pt x="172599" y="88597"/>
                </a:cubicBezTo>
                <a:lnTo>
                  <a:pt x="141143" y="70429"/>
                </a:lnTo>
                <a:lnTo>
                  <a:pt x="141143" y="34128"/>
                </a:lnTo>
                <a:cubicBezTo>
                  <a:pt x="141143" y="27003"/>
                  <a:pt x="137331" y="20413"/>
                  <a:pt x="131168" y="16850"/>
                </a:cubicBezTo>
                <a:lnTo>
                  <a:pt x="101173" y="-463"/>
                </a:lnTo>
                <a:close/>
                <a:moveTo>
                  <a:pt x="82648" y="104236"/>
                </a:moveTo>
                <a:lnTo>
                  <a:pt x="82648" y="142176"/>
                </a:lnTo>
                <a:lnTo>
                  <a:pt x="51192" y="160344"/>
                </a:lnTo>
                <a:cubicBezTo>
                  <a:pt x="50764" y="160594"/>
                  <a:pt x="50266" y="160736"/>
                  <a:pt x="49767" y="160736"/>
                </a:cubicBezTo>
                <a:lnTo>
                  <a:pt x="49767" y="123224"/>
                </a:lnTo>
                <a:lnTo>
                  <a:pt x="82648" y="104236"/>
                </a:lnTo>
                <a:close/>
                <a:moveTo>
                  <a:pt x="165082" y="104450"/>
                </a:moveTo>
                <a:cubicBezTo>
                  <a:pt x="165332" y="104877"/>
                  <a:pt x="165474" y="105376"/>
                  <a:pt x="165474" y="105875"/>
                </a:cubicBezTo>
                <a:lnTo>
                  <a:pt x="165474" y="140537"/>
                </a:lnTo>
                <a:cubicBezTo>
                  <a:pt x="165474" y="141570"/>
                  <a:pt x="164940" y="142496"/>
                  <a:pt x="164049" y="142995"/>
                </a:cubicBezTo>
                <a:lnTo>
                  <a:pt x="134018" y="160309"/>
                </a:lnTo>
                <a:cubicBezTo>
                  <a:pt x="133590" y="160558"/>
                  <a:pt x="133092" y="160700"/>
                  <a:pt x="132593" y="160700"/>
                </a:cubicBezTo>
                <a:lnTo>
                  <a:pt x="132593" y="123188"/>
                </a:lnTo>
                <a:lnTo>
                  <a:pt x="165082" y="104450"/>
                </a:lnTo>
                <a:close/>
                <a:moveTo>
                  <a:pt x="124079" y="34128"/>
                </a:moveTo>
                <a:lnTo>
                  <a:pt x="124079" y="70429"/>
                </a:lnTo>
                <a:lnTo>
                  <a:pt x="91198" y="89417"/>
                </a:lnTo>
                <a:lnTo>
                  <a:pt x="91198" y="51477"/>
                </a:lnTo>
                <a:lnTo>
                  <a:pt x="123687" y="32739"/>
                </a:lnTo>
                <a:cubicBezTo>
                  <a:pt x="123936" y="33166"/>
                  <a:pt x="124079" y="33665"/>
                  <a:pt x="124079" y="34164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1003175" y="7915480"/>
            <a:ext cx="820780" cy="273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36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核心价值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83983" y="8234672"/>
            <a:ext cx="7193223" cy="273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36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沉淀公共指标,加速查询性能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240661" y="5327743"/>
            <a:ext cx="7558014" cy="3704909"/>
          </a:xfrm>
          <a:custGeom>
            <a:avLst/>
            <a:gdLst/>
            <a:ahLst/>
            <a:cxnLst/>
            <a:rect l="l" t="t" r="r" b="b"/>
            <a:pathLst>
              <a:path w="7558014" h="3704909">
                <a:moveTo>
                  <a:pt x="45599" y="0"/>
                </a:moveTo>
                <a:lnTo>
                  <a:pt x="7512415" y="0"/>
                </a:lnTo>
                <a:cubicBezTo>
                  <a:pt x="7537599" y="0"/>
                  <a:pt x="7558014" y="20415"/>
                  <a:pt x="7558014" y="45599"/>
                </a:cubicBezTo>
                <a:lnTo>
                  <a:pt x="7558014" y="3613694"/>
                </a:lnTo>
                <a:cubicBezTo>
                  <a:pt x="7558014" y="3664071"/>
                  <a:pt x="7517176" y="3704909"/>
                  <a:pt x="7466799" y="3704909"/>
                </a:cubicBezTo>
                <a:lnTo>
                  <a:pt x="91215" y="3704909"/>
                </a:lnTo>
                <a:cubicBezTo>
                  <a:pt x="40838" y="3704909"/>
                  <a:pt x="0" y="3664071"/>
                  <a:pt x="0" y="3613694"/>
                </a:cubicBezTo>
                <a:lnTo>
                  <a:pt x="0" y="45599"/>
                </a:lnTo>
                <a:cubicBezTo>
                  <a:pt x="0" y="20432"/>
                  <a:pt x="20432" y="0"/>
                  <a:pt x="45599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Shape 53"/>
          <p:cNvSpPr/>
          <p:nvPr/>
        </p:nvSpPr>
        <p:spPr>
          <a:xfrm>
            <a:off x="8240661" y="5327743"/>
            <a:ext cx="7558014" cy="45599"/>
          </a:xfrm>
          <a:custGeom>
            <a:avLst/>
            <a:gdLst/>
            <a:ahLst/>
            <a:cxnLst/>
            <a:rect l="l" t="t" r="r" b="b"/>
            <a:pathLst>
              <a:path w="7558014" h="45599">
                <a:moveTo>
                  <a:pt x="45599" y="0"/>
                </a:moveTo>
                <a:lnTo>
                  <a:pt x="7512415" y="0"/>
                </a:lnTo>
                <a:cubicBezTo>
                  <a:pt x="7537599" y="0"/>
                  <a:pt x="7558014" y="20415"/>
                  <a:pt x="7558014" y="45599"/>
                </a:cubicBezTo>
                <a:lnTo>
                  <a:pt x="7558014" y="45599"/>
                </a:lnTo>
                <a:lnTo>
                  <a:pt x="0" y="45599"/>
                </a:lnTo>
                <a:lnTo>
                  <a:pt x="0" y="45599"/>
                </a:lnTo>
                <a:cubicBezTo>
                  <a:pt x="0" y="20432"/>
                  <a:pt x="20432" y="0"/>
                  <a:pt x="45599" y="0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Shape 54"/>
          <p:cNvSpPr/>
          <p:nvPr/>
        </p:nvSpPr>
        <p:spPr>
          <a:xfrm>
            <a:off x="8468656" y="5578537"/>
            <a:ext cx="729582" cy="729582"/>
          </a:xfrm>
          <a:custGeom>
            <a:avLst/>
            <a:gdLst/>
            <a:ahLst/>
            <a:cxnLst/>
            <a:rect l="l" t="t" r="r" b="b"/>
            <a:pathLst>
              <a:path w="729582" h="729582">
                <a:moveTo>
                  <a:pt x="45599" y="0"/>
                </a:moveTo>
                <a:lnTo>
                  <a:pt x="683983" y="0"/>
                </a:lnTo>
                <a:cubicBezTo>
                  <a:pt x="709167" y="0"/>
                  <a:pt x="729582" y="20415"/>
                  <a:pt x="729582" y="45599"/>
                </a:cubicBezTo>
                <a:lnTo>
                  <a:pt x="729582" y="683983"/>
                </a:lnTo>
                <a:cubicBezTo>
                  <a:pt x="729582" y="709167"/>
                  <a:pt x="709167" y="729582"/>
                  <a:pt x="683983" y="729582"/>
                </a:cubicBezTo>
                <a:lnTo>
                  <a:pt x="45599" y="729582"/>
                </a:lnTo>
                <a:cubicBezTo>
                  <a:pt x="20415" y="729582"/>
                  <a:pt x="0" y="709167"/>
                  <a:pt x="0" y="683983"/>
                </a:cubicBezTo>
                <a:lnTo>
                  <a:pt x="0" y="45599"/>
                </a:lnTo>
                <a:cubicBezTo>
                  <a:pt x="0" y="20432"/>
                  <a:pt x="20432" y="0"/>
                  <a:pt x="45599" y="0"/>
                </a:cubicBezTo>
                <a:close/>
              </a:path>
            </a:pathLst>
          </a:custGeom>
          <a:solidFill>
            <a:srgbClr val="D69E2E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8562792" y="5760933"/>
            <a:ext cx="672583" cy="3647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54" b="1" dirty="0">
                <a:solidFill>
                  <a:srgbClr val="D69E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ADS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9380633" y="5624136"/>
            <a:ext cx="2188746" cy="3647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54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业务结果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9380633" y="5988927"/>
            <a:ext cx="2143147" cy="273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36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Application Data Service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8485755" y="6581712"/>
            <a:ext cx="136797" cy="136797"/>
          </a:xfrm>
          <a:custGeom>
            <a:avLst/>
            <a:gdLst/>
            <a:ahLst/>
            <a:cxnLst/>
            <a:rect l="l" t="t" r="r" b="b"/>
            <a:pathLst>
              <a:path w="136797" h="136797">
                <a:moveTo>
                  <a:pt x="0" y="68398"/>
                </a:moveTo>
                <a:cubicBezTo>
                  <a:pt x="0" y="30648"/>
                  <a:pt x="30648" y="0"/>
                  <a:pt x="68398" y="0"/>
                </a:cubicBezTo>
                <a:cubicBezTo>
                  <a:pt x="106148" y="0"/>
                  <a:pt x="136797" y="30648"/>
                  <a:pt x="136797" y="68398"/>
                </a:cubicBezTo>
                <a:cubicBezTo>
                  <a:pt x="136797" y="106148"/>
                  <a:pt x="106148" y="136797"/>
                  <a:pt x="68398" y="136797"/>
                </a:cubicBezTo>
                <a:cubicBezTo>
                  <a:pt x="30648" y="136797"/>
                  <a:pt x="0" y="106148"/>
                  <a:pt x="0" y="68398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1" name="Text 59"/>
          <p:cNvSpPr/>
          <p:nvPr/>
        </p:nvSpPr>
        <p:spPr>
          <a:xfrm>
            <a:off x="8776448" y="6490515"/>
            <a:ext cx="2462339" cy="273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36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精简：</a:t>
            </a:r>
            <a:r>
              <a:rPr lang="en-US" sz="1436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只包含业务需要的数据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8485755" y="6992102"/>
            <a:ext cx="136797" cy="136797"/>
          </a:xfrm>
          <a:custGeom>
            <a:avLst/>
            <a:gdLst/>
            <a:ahLst/>
            <a:cxnLst/>
            <a:rect l="l" t="t" r="r" b="b"/>
            <a:pathLst>
              <a:path w="136797" h="136797">
                <a:moveTo>
                  <a:pt x="0" y="68398"/>
                </a:moveTo>
                <a:cubicBezTo>
                  <a:pt x="0" y="30648"/>
                  <a:pt x="30648" y="0"/>
                  <a:pt x="68398" y="0"/>
                </a:cubicBezTo>
                <a:cubicBezTo>
                  <a:pt x="106148" y="0"/>
                  <a:pt x="136797" y="30648"/>
                  <a:pt x="136797" y="68398"/>
                </a:cubicBezTo>
                <a:cubicBezTo>
                  <a:pt x="136797" y="106148"/>
                  <a:pt x="106148" y="136797"/>
                  <a:pt x="68398" y="136797"/>
                </a:cubicBezTo>
                <a:cubicBezTo>
                  <a:pt x="30648" y="136797"/>
                  <a:pt x="0" y="106148"/>
                  <a:pt x="0" y="68398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3" name="Text 61"/>
          <p:cNvSpPr/>
          <p:nvPr/>
        </p:nvSpPr>
        <p:spPr>
          <a:xfrm>
            <a:off x="8776448" y="6900905"/>
            <a:ext cx="2279944" cy="273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36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结果：</a:t>
            </a:r>
            <a:r>
              <a:rPr lang="en-US" sz="1436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直接可用的报表数据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8485755" y="7402492"/>
            <a:ext cx="136797" cy="136797"/>
          </a:xfrm>
          <a:custGeom>
            <a:avLst/>
            <a:gdLst/>
            <a:ahLst/>
            <a:cxnLst/>
            <a:rect l="l" t="t" r="r" b="b"/>
            <a:pathLst>
              <a:path w="136797" h="136797">
                <a:moveTo>
                  <a:pt x="0" y="68398"/>
                </a:moveTo>
                <a:cubicBezTo>
                  <a:pt x="0" y="30648"/>
                  <a:pt x="30648" y="0"/>
                  <a:pt x="68398" y="0"/>
                </a:cubicBezTo>
                <a:cubicBezTo>
                  <a:pt x="106148" y="0"/>
                  <a:pt x="136797" y="30648"/>
                  <a:pt x="136797" y="68398"/>
                </a:cubicBezTo>
                <a:cubicBezTo>
                  <a:pt x="136797" y="106148"/>
                  <a:pt x="106148" y="136797"/>
                  <a:pt x="68398" y="136797"/>
                </a:cubicBezTo>
                <a:cubicBezTo>
                  <a:pt x="30648" y="136797"/>
                  <a:pt x="0" y="106148"/>
                  <a:pt x="0" y="68398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5" name="Text 63"/>
          <p:cNvSpPr/>
          <p:nvPr/>
        </p:nvSpPr>
        <p:spPr>
          <a:xfrm>
            <a:off x="8776448" y="7311294"/>
            <a:ext cx="2462339" cy="273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36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业务化：</a:t>
            </a:r>
            <a:r>
              <a:rPr lang="en-US" sz="1436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贴合业务场景和需求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8468656" y="7772983"/>
            <a:ext cx="7102025" cy="11400"/>
          </a:xfrm>
          <a:custGeom>
            <a:avLst/>
            <a:gdLst/>
            <a:ahLst/>
            <a:cxnLst/>
            <a:rect l="l" t="t" r="r" b="b"/>
            <a:pathLst>
              <a:path w="7102025" h="11400">
                <a:moveTo>
                  <a:pt x="0" y="0"/>
                </a:moveTo>
                <a:lnTo>
                  <a:pt x="7102025" y="0"/>
                </a:lnTo>
                <a:lnTo>
                  <a:pt x="7102025" y="11400"/>
                </a:lnTo>
                <a:lnTo>
                  <a:pt x="0" y="11400"/>
                </a:lnTo>
                <a:lnTo>
                  <a:pt x="0" y="0"/>
                </a:ln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7" name="Shape 65"/>
          <p:cNvSpPr/>
          <p:nvPr/>
        </p:nvSpPr>
        <p:spPr>
          <a:xfrm>
            <a:off x="8491455" y="7961078"/>
            <a:ext cx="182396" cy="182396"/>
          </a:xfrm>
          <a:custGeom>
            <a:avLst/>
            <a:gdLst/>
            <a:ahLst/>
            <a:cxnLst/>
            <a:rect l="l" t="t" r="r" b="b"/>
            <a:pathLst>
              <a:path w="182396" h="182396">
                <a:moveTo>
                  <a:pt x="22799" y="22799"/>
                </a:moveTo>
                <a:cubicBezTo>
                  <a:pt x="22799" y="16494"/>
                  <a:pt x="17705" y="11400"/>
                  <a:pt x="11400" y="11400"/>
                </a:cubicBezTo>
                <a:cubicBezTo>
                  <a:pt x="5094" y="11400"/>
                  <a:pt x="0" y="16494"/>
                  <a:pt x="0" y="22799"/>
                </a:cubicBezTo>
                <a:lnTo>
                  <a:pt x="0" y="142496"/>
                </a:lnTo>
                <a:cubicBezTo>
                  <a:pt x="0" y="158242"/>
                  <a:pt x="12753" y="170996"/>
                  <a:pt x="28499" y="170996"/>
                </a:cubicBezTo>
                <a:lnTo>
                  <a:pt x="170996" y="170996"/>
                </a:lnTo>
                <a:cubicBezTo>
                  <a:pt x="177301" y="170996"/>
                  <a:pt x="182396" y="165902"/>
                  <a:pt x="182396" y="159596"/>
                </a:cubicBezTo>
                <a:cubicBezTo>
                  <a:pt x="182396" y="153291"/>
                  <a:pt x="177301" y="148196"/>
                  <a:pt x="170996" y="148196"/>
                </a:cubicBezTo>
                <a:lnTo>
                  <a:pt x="28499" y="148196"/>
                </a:lnTo>
                <a:cubicBezTo>
                  <a:pt x="25364" y="148196"/>
                  <a:pt x="22799" y="145631"/>
                  <a:pt x="22799" y="142496"/>
                </a:cubicBezTo>
                <a:lnTo>
                  <a:pt x="22799" y="22799"/>
                </a:lnTo>
                <a:close/>
                <a:moveTo>
                  <a:pt x="167647" y="53650"/>
                </a:moveTo>
                <a:cubicBezTo>
                  <a:pt x="172100" y="49197"/>
                  <a:pt x="172100" y="41965"/>
                  <a:pt x="167647" y="37512"/>
                </a:cubicBezTo>
                <a:cubicBezTo>
                  <a:pt x="163194" y="33059"/>
                  <a:pt x="155962" y="33059"/>
                  <a:pt x="151509" y="37512"/>
                </a:cubicBezTo>
                <a:lnTo>
                  <a:pt x="113997" y="75060"/>
                </a:lnTo>
                <a:lnTo>
                  <a:pt x="93549" y="54647"/>
                </a:lnTo>
                <a:cubicBezTo>
                  <a:pt x="89096" y="50194"/>
                  <a:pt x="81864" y="50194"/>
                  <a:pt x="77411" y="54647"/>
                </a:cubicBezTo>
                <a:lnTo>
                  <a:pt x="43212" y="88847"/>
                </a:lnTo>
                <a:cubicBezTo>
                  <a:pt x="38759" y="93300"/>
                  <a:pt x="38759" y="100531"/>
                  <a:pt x="43212" y="104984"/>
                </a:cubicBezTo>
                <a:cubicBezTo>
                  <a:pt x="47665" y="109437"/>
                  <a:pt x="54897" y="109437"/>
                  <a:pt x="59350" y="104984"/>
                </a:cubicBezTo>
                <a:lnTo>
                  <a:pt x="85498" y="78836"/>
                </a:lnTo>
                <a:lnTo>
                  <a:pt x="105946" y="99284"/>
                </a:lnTo>
                <a:cubicBezTo>
                  <a:pt x="110399" y="103737"/>
                  <a:pt x="117631" y="103737"/>
                  <a:pt x="122084" y="99284"/>
                </a:cubicBezTo>
                <a:lnTo>
                  <a:pt x="167683" y="53686"/>
                </a:ln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8" name="Text 66"/>
          <p:cNvSpPr/>
          <p:nvPr/>
        </p:nvSpPr>
        <p:spPr>
          <a:xfrm>
            <a:off x="8787848" y="7915480"/>
            <a:ext cx="820780" cy="273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36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核心价值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8468656" y="8234672"/>
            <a:ext cx="7193223" cy="273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36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直接支撑业务决策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6121738" y="9454197"/>
            <a:ext cx="1185571" cy="273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36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数据形态演进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7421306" y="9499796"/>
            <a:ext cx="182396" cy="182396"/>
          </a:xfrm>
          <a:custGeom>
            <a:avLst/>
            <a:gdLst/>
            <a:ahLst/>
            <a:cxnLst/>
            <a:rect l="l" t="t" r="r" b="b"/>
            <a:pathLst>
              <a:path w="182396" h="182396">
                <a:moveTo>
                  <a:pt x="179047" y="99249"/>
                </a:moveTo>
                <a:cubicBezTo>
                  <a:pt x="183500" y="94796"/>
                  <a:pt x="183500" y="87564"/>
                  <a:pt x="179047" y="83111"/>
                </a:cubicBezTo>
                <a:lnTo>
                  <a:pt x="122048" y="26112"/>
                </a:lnTo>
                <a:cubicBezTo>
                  <a:pt x="117595" y="21659"/>
                  <a:pt x="110364" y="21659"/>
                  <a:pt x="105911" y="26112"/>
                </a:cubicBezTo>
                <a:cubicBezTo>
                  <a:pt x="101458" y="30565"/>
                  <a:pt x="101458" y="37797"/>
                  <a:pt x="105911" y="42250"/>
                </a:cubicBezTo>
                <a:lnTo>
                  <a:pt x="143458" y="79798"/>
                </a:lnTo>
                <a:lnTo>
                  <a:pt x="11400" y="79798"/>
                </a:lnTo>
                <a:cubicBezTo>
                  <a:pt x="5094" y="79798"/>
                  <a:pt x="0" y="84892"/>
                  <a:pt x="0" y="91198"/>
                </a:cubicBezTo>
                <a:cubicBezTo>
                  <a:pt x="0" y="97503"/>
                  <a:pt x="5094" y="102597"/>
                  <a:pt x="11400" y="102597"/>
                </a:cubicBezTo>
                <a:lnTo>
                  <a:pt x="143458" y="102597"/>
                </a:lnTo>
                <a:lnTo>
                  <a:pt x="105911" y="140145"/>
                </a:lnTo>
                <a:cubicBezTo>
                  <a:pt x="101458" y="144598"/>
                  <a:pt x="101458" y="151830"/>
                  <a:pt x="105911" y="156283"/>
                </a:cubicBezTo>
                <a:cubicBezTo>
                  <a:pt x="110364" y="160736"/>
                  <a:pt x="117595" y="160736"/>
                  <a:pt x="122048" y="156283"/>
                </a:cubicBezTo>
                <a:lnTo>
                  <a:pt x="179047" y="99284"/>
                </a:ln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2" name="Text 70"/>
          <p:cNvSpPr/>
          <p:nvPr/>
        </p:nvSpPr>
        <p:spPr>
          <a:xfrm>
            <a:off x="7808897" y="9454197"/>
            <a:ext cx="2416741" cy="273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36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原始 → 标准 → 汇总 → 业务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a6c31c4fadd79fdf2d1a9e7edbd9056480999fef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21875" b="21875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202C"/>
              </a:gs>
              <a:gs pos="50000">
                <a:srgbClr val="1A202C">
                  <a:alpha val="95000"/>
                </a:srgbClr>
              </a:gs>
              <a:gs pos="100000">
                <a:srgbClr val="1A202C">
                  <a:alpha val="7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508000" y="2540000"/>
            <a:ext cx="2768600" cy="711200"/>
          </a:xfrm>
          <a:custGeom>
            <a:avLst/>
            <a:gdLst/>
            <a:ahLst/>
            <a:cxnLst/>
            <a:rect l="l" t="t" r="r" b="b"/>
            <a:pathLst>
              <a:path w="2768600" h="711200">
                <a:moveTo>
                  <a:pt x="0" y="0"/>
                </a:moveTo>
                <a:lnTo>
                  <a:pt x="2768600" y="0"/>
                </a:lnTo>
                <a:lnTo>
                  <a:pt x="27686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914400" y="2679700"/>
            <a:ext cx="2113855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kern="0" spc="12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02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3657600"/>
            <a:ext cx="158496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9600" b="1" dirty="0">
                <a:solidFill>
                  <a:srgbClr val="E2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分层架构全景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8000" y="5588000"/>
            <a:ext cx="2032000" cy="101600"/>
          </a:xfrm>
          <a:custGeom>
            <a:avLst/>
            <a:gdLst/>
            <a:ahLst/>
            <a:cxnLst/>
            <a:rect l="l" t="t" r="r" b="b"/>
            <a:pathLst>
              <a:path w="2032000" h="101600">
                <a:moveTo>
                  <a:pt x="0" y="0"/>
                </a:moveTo>
                <a:lnTo>
                  <a:pt x="2032000" y="0"/>
                </a:lnTo>
                <a:lnTo>
                  <a:pt x="2032000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508000" y="60960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dirty="0">
                <a:solidFill>
                  <a:srgbClr val="71809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ODS、DWD、DWS、ADS四层体系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60386" y="438463"/>
            <a:ext cx="2784237" cy="350770"/>
          </a:xfrm>
          <a:custGeom>
            <a:avLst/>
            <a:gdLst/>
            <a:ahLst/>
            <a:cxnLst/>
            <a:rect l="l" t="t" r="r" b="b"/>
            <a:pathLst>
              <a:path w="2784237" h="350770">
                <a:moveTo>
                  <a:pt x="0" y="0"/>
                </a:moveTo>
                <a:lnTo>
                  <a:pt x="2784237" y="0"/>
                </a:lnTo>
                <a:lnTo>
                  <a:pt x="2784237" y="350770"/>
                </a:lnTo>
                <a:lnTo>
                  <a:pt x="0" y="350770"/>
                </a:lnTo>
                <a:lnTo>
                  <a:pt x="0" y="0"/>
                </a:lnTo>
                <a:close/>
              </a:path>
            </a:pathLst>
          </a:custGeom>
          <a:solidFill>
            <a:srgbClr val="D69E2E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460386" y="438463"/>
            <a:ext cx="43846" cy="350770"/>
          </a:xfrm>
          <a:custGeom>
            <a:avLst/>
            <a:gdLst/>
            <a:ahLst/>
            <a:cxnLst/>
            <a:rect l="l" t="t" r="r" b="b"/>
            <a:pathLst>
              <a:path w="43846" h="350770">
                <a:moveTo>
                  <a:pt x="0" y="0"/>
                </a:moveTo>
                <a:lnTo>
                  <a:pt x="43846" y="0"/>
                </a:lnTo>
                <a:lnTo>
                  <a:pt x="43846" y="350770"/>
                </a:lnTo>
                <a:lnTo>
                  <a:pt x="0" y="350770"/>
                </a:lnTo>
                <a:lnTo>
                  <a:pt x="0" y="0"/>
                </a:ln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657694" y="498751"/>
            <a:ext cx="2504032" cy="230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81" b="1" kern="0" spc="69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ARCHITECTURE OVERVIEW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38463" y="876925"/>
            <a:ext cx="15576383" cy="438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107" b="1" dirty="0">
                <a:solidFill>
                  <a:srgbClr val="E2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四层架构体系全景图</a:t>
            </a:r>
            <a:endParaRPr lang="en-US" sz="1600" dirty="0"/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4B1876C3-2EF7-6DB9-A386-C02EF4C1F922}"/>
              </a:ext>
            </a:extLst>
          </p:cNvPr>
          <p:cNvGrpSpPr/>
          <p:nvPr/>
        </p:nvGrpSpPr>
        <p:grpSpPr>
          <a:xfrm>
            <a:off x="12656923" y="6905785"/>
            <a:ext cx="3485777" cy="1841543"/>
            <a:chOff x="12328078" y="1534619"/>
            <a:chExt cx="3485777" cy="1841543"/>
          </a:xfrm>
        </p:grpSpPr>
        <p:sp>
          <p:nvSpPr>
            <p:cNvPr id="8" name="Shape 5"/>
            <p:cNvSpPr/>
            <p:nvPr/>
          </p:nvSpPr>
          <p:spPr>
            <a:xfrm>
              <a:off x="12328078" y="1534619"/>
              <a:ext cx="3485777" cy="1841543"/>
            </a:xfrm>
            <a:custGeom>
              <a:avLst/>
              <a:gdLst/>
              <a:ahLst/>
              <a:cxnLst/>
              <a:rect l="l" t="t" r="r" b="b"/>
              <a:pathLst>
                <a:path w="3485777" h="1841543">
                  <a:moveTo>
                    <a:pt x="43846" y="0"/>
                  </a:moveTo>
                  <a:lnTo>
                    <a:pt x="3398083" y="0"/>
                  </a:lnTo>
                  <a:cubicBezTo>
                    <a:pt x="3446515" y="0"/>
                    <a:pt x="3485777" y="39262"/>
                    <a:pt x="3485777" y="87694"/>
                  </a:cubicBezTo>
                  <a:lnTo>
                    <a:pt x="3485777" y="1753849"/>
                  </a:lnTo>
                  <a:cubicBezTo>
                    <a:pt x="3485777" y="1802281"/>
                    <a:pt x="3446515" y="1841543"/>
                    <a:pt x="3398083" y="1841543"/>
                  </a:cubicBezTo>
                  <a:lnTo>
                    <a:pt x="43846" y="1841543"/>
                  </a:lnTo>
                  <a:cubicBezTo>
                    <a:pt x="19631" y="1841543"/>
                    <a:pt x="0" y="1821912"/>
                    <a:pt x="0" y="1797697"/>
                  </a:cubicBezTo>
                  <a:lnTo>
                    <a:pt x="0" y="43846"/>
                  </a:lnTo>
                  <a:cubicBezTo>
                    <a:pt x="0" y="19631"/>
                    <a:pt x="19631" y="0"/>
                    <a:pt x="43846" y="0"/>
                  </a:cubicBezTo>
                  <a:close/>
                </a:path>
              </a:pathLst>
            </a:custGeom>
            <a:solidFill>
              <a:srgbClr val="2D3748">
                <a:alpha val="60000"/>
              </a:srgbClr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Shape 6"/>
            <p:cNvSpPr/>
            <p:nvPr/>
          </p:nvSpPr>
          <p:spPr>
            <a:xfrm>
              <a:off x="12328078" y="1534619"/>
              <a:ext cx="43846" cy="1841543"/>
            </a:xfrm>
            <a:custGeom>
              <a:avLst/>
              <a:gdLst/>
              <a:ahLst/>
              <a:cxnLst/>
              <a:rect l="l" t="t" r="r" b="b"/>
              <a:pathLst>
                <a:path w="43846" h="1841543">
                  <a:moveTo>
                    <a:pt x="43846" y="0"/>
                  </a:moveTo>
                  <a:lnTo>
                    <a:pt x="43846" y="0"/>
                  </a:lnTo>
                  <a:lnTo>
                    <a:pt x="43846" y="1841543"/>
                  </a:lnTo>
                  <a:lnTo>
                    <a:pt x="43846" y="1841543"/>
                  </a:lnTo>
                  <a:cubicBezTo>
                    <a:pt x="19631" y="1841543"/>
                    <a:pt x="0" y="1821912"/>
                    <a:pt x="0" y="1797697"/>
                  </a:cubicBezTo>
                  <a:lnTo>
                    <a:pt x="0" y="43846"/>
                  </a:lnTo>
                  <a:cubicBezTo>
                    <a:pt x="0" y="19631"/>
                    <a:pt x="19631" y="0"/>
                    <a:pt x="43846" y="0"/>
                  </a:cubicBezTo>
                  <a:close/>
                </a:path>
              </a:pathLst>
            </a:custGeom>
            <a:solidFill>
              <a:srgbClr val="718096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Shape 7"/>
            <p:cNvSpPr/>
            <p:nvPr/>
          </p:nvSpPr>
          <p:spPr>
            <a:xfrm>
              <a:off x="12525386" y="1710004"/>
              <a:ext cx="438463" cy="438463"/>
            </a:xfrm>
            <a:custGeom>
              <a:avLst/>
              <a:gdLst/>
              <a:ahLst/>
              <a:cxnLst/>
              <a:rect l="l" t="t" r="r" b="b"/>
              <a:pathLst>
                <a:path w="438463" h="438463">
                  <a:moveTo>
                    <a:pt x="43846" y="0"/>
                  </a:moveTo>
                  <a:lnTo>
                    <a:pt x="394616" y="0"/>
                  </a:lnTo>
                  <a:cubicBezTo>
                    <a:pt x="418832" y="0"/>
                    <a:pt x="438463" y="19631"/>
                    <a:pt x="438463" y="43846"/>
                  </a:cubicBezTo>
                  <a:lnTo>
                    <a:pt x="438463" y="394616"/>
                  </a:lnTo>
                  <a:cubicBezTo>
                    <a:pt x="438463" y="418832"/>
                    <a:pt x="418832" y="438463"/>
                    <a:pt x="394616" y="438463"/>
                  </a:cubicBezTo>
                  <a:lnTo>
                    <a:pt x="43846" y="438463"/>
                  </a:lnTo>
                  <a:cubicBezTo>
                    <a:pt x="19631" y="438463"/>
                    <a:pt x="0" y="418832"/>
                    <a:pt x="0" y="394616"/>
                  </a:cubicBezTo>
                  <a:lnTo>
                    <a:pt x="0" y="43846"/>
                  </a:lnTo>
                  <a:cubicBezTo>
                    <a:pt x="0" y="19631"/>
                    <a:pt x="19631" y="0"/>
                    <a:pt x="43846" y="0"/>
                  </a:cubicBezTo>
                  <a:close/>
                </a:path>
              </a:pathLst>
            </a:custGeom>
            <a:solidFill>
              <a:srgbClr val="718096">
                <a:alpha val="30196"/>
              </a:srgbClr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Text 8"/>
            <p:cNvSpPr/>
            <p:nvPr/>
          </p:nvSpPr>
          <p:spPr>
            <a:xfrm>
              <a:off x="12558356" y="1797697"/>
              <a:ext cx="460386" cy="26307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81" b="1" dirty="0">
                  <a:solidFill>
                    <a:srgbClr val="E2E8F0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ODS</a:t>
              </a:r>
              <a:endParaRPr lang="en-US" sz="1600" dirty="0"/>
            </a:p>
          </p:txBody>
        </p:sp>
        <p:sp>
          <p:nvSpPr>
            <p:cNvPr id="12" name="Text 9"/>
            <p:cNvSpPr/>
            <p:nvPr/>
          </p:nvSpPr>
          <p:spPr>
            <a:xfrm>
              <a:off x="13095387" y="1775773"/>
              <a:ext cx="1205772" cy="3069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726" b="1" dirty="0">
                  <a:solidFill>
                    <a:srgbClr val="E2E8F0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原始数据层</a:t>
              </a:r>
              <a:endParaRPr lang="en-US" sz="1600" dirty="0"/>
            </a:p>
          </p:txBody>
        </p:sp>
        <p:sp>
          <p:nvSpPr>
            <p:cNvPr id="13" name="Text 10"/>
            <p:cNvSpPr/>
            <p:nvPr/>
          </p:nvSpPr>
          <p:spPr>
            <a:xfrm>
              <a:off x="12525386" y="2236159"/>
              <a:ext cx="3200777" cy="57000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1381" dirty="0">
                  <a:solidFill>
                    <a:srgbClr val="718096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操作数据存储层,保持源系统原貌,确保数据可追溯</a:t>
              </a:r>
              <a:endParaRPr lang="en-US" sz="1600" dirty="0"/>
            </a:p>
          </p:txBody>
        </p:sp>
        <p:sp>
          <p:nvSpPr>
            <p:cNvPr id="14" name="Shape 11"/>
            <p:cNvSpPr/>
            <p:nvPr/>
          </p:nvSpPr>
          <p:spPr>
            <a:xfrm>
              <a:off x="12525386" y="2893853"/>
              <a:ext cx="876925" cy="306924"/>
            </a:xfrm>
            <a:custGeom>
              <a:avLst/>
              <a:gdLst/>
              <a:ahLst/>
              <a:cxnLst/>
              <a:rect l="l" t="t" r="r" b="b"/>
              <a:pathLst>
                <a:path w="876925" h="306924">
                  <a:moveTo>
                    <a:pt x="43847" y="0"/>
                  </a:moveTo>
                  <a:lnTo>
                    <a:pt x="833078" y="0"/>
                  </a:lnTo>
                  <a:cubicBezTo>
                    <a:pt x="857294" y="0"/>
                    <a:pt x="876925" y="19631"/>
                    <a:pt x="876925" y="43847"/>
                  </a:cubicBezTo>
                  <a:lnTo>
                    <a:pt x="876925" y="263077"/>
                  </a:lnTo>
                  <a:cubicBezTo>
                    <a:pt x="876925" y="287293"/>
                    <a:pt x="857294" y="306924"/>
                    <a:pt x="833078" y="306924"/>
                  </a:cubicBezTo>
                  <a:lnTo>
                    <a:pt x="43847" y="306924"/>
                  </a:lnTo>
                  <a:cubicBezTo>
                    <a:pt x="19631" y="306924"/>
                    <a:pt x="0" y="287293"/>
                    <a:pt x="0" y="263077"/>
                  </a:cubicBezTo>
                  <a:lnTo>
                    <a:pt x="0" y="43847"/>
                  </a:lnTo>
                  <a:cubicBezTo>
                    <a:pt x="0" y="19647"/>
                    <a:pt x="19647" y="0"/>
                    <a:pt x="43847" y="0"/>
                  </a:cubicBezTo>
                  <a:close/>
                </a:path>
              </a:pathLst>
            </a:custGeom>
            <a:solidFill>
              <a:srgbClr val="718096">
                <a:alpha val="20000"/>
              </a:srgbClr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Text 12"/>
            <p:cNvSpPr/>
            <p:nvPr/>
          </p:nvSpPr>
          <p:spPr>
            <a:xfrm>
              <a:off x="12525386" y="2893853"/>
              <a:ext cx="953656" cy="306924"/>
            </a:xfrm>
            <a:prstGeom prst="rect">
              <a:avLst/>
            </a:prstGeom>
            <a:noFill/>
            <a:ln/>
          </p:spPr>
          <p:txBody>
            <a:bodyPr wrap="square" lIns="131539" tIns="43846" rIns="131539" bIns="43846" rtlCol="0" anchor="ctr"/>
            <a:lstStyle/>
            <a:p>
              <a:pPr>
                <a:lnSpc>
                  <a:spcPct val="120000"/>
                </a:lnSpc>
              </a:pPr>
              <a:r>
                <a:rPr lang="en-US" sz="1208" dirty="0">
                  <a:solidFill>
                    <a:srgbClr val="E2E8F0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无损快照</a:t>
              </a:r>
              <a:endParaRPr lang="en-US" sz="1600" dirty="0"/>
            </a:p>
          </p:txBody>
        </p:sp>
        <p:sp>
          <p:nvSpPr>
            <p:cNvPr id="16" name="Shape 13"/>
            <p:cNvSpPr/>
            <p:nvPr/>
          </p:nvSpPr>
          <p:spPr>
            <a:xfrm>
              <a:off x="13490003" y="2893853"/>
              <a:ext cx="876925" cy="306924"/>
            </a:xfrm>
            <a:custGeom>
              <a:avLst/>
              <a:gdLst/>
              <a:ahLst/>
              <a:cxnLst/>
              <a:rect l="l" t="t" r="r" b="b"/>
              <a:pathLst>
                <a:path w="876925" h="306924">
                  <a:moveTo>
                    <a:pt x="43847" y="0"/>
                  </a:moveTo>
                  <a:lnTo>
                    <a:pt x="833078" y="0"/>
                  </a:lnTo>
                  <a:cubicBezTo>
                    <a:pt x="857294" y="0"/>
                    <a:pt x="876925" y="19631"/>
                    <a:pt x="876925" y="43847"/>
                  </a:cubicBezTo>
                  <a:lnTo>
                    <a:pt x="876925" y="263077"/>
                  </a:lnTo>
                  <a:cubicBezTo>
                    <a:pt x="876925" y="287293"/>
                    <a:pt x="857294" y="306924"/>
                    <a:pt x="833078" y="306924"/>
                  </a:cubicBezTo>
                  <a:lnTo>
                    <a:pt x="43847" y="306924"/>
                  </a:lnTo>
                  <a:cubicBezTo>
                    <a:pt x="19631" y="306924"/>
                    <a:pt x="0" y="287293"/>
                    <a:pt x="0" y="263077"/>
                  </a:cubicBezTo>
                  <a:lnTo>
                    <a:pt x="0" y="43847"/>
                  </a:lnTo>
                  <a:cubicBezTo>
                    <a:pt x="0" y="19647"/>
                    <a:pt x="19647" y="0"/>
                    <a:pt x="43847" y="0"/>
                  </a:cubicBezTo>
                  <a:close/>
                </a:path>
              </a:pathLst>
            </a:custGeom>
            <a:solidFill>
              <a:srgbClr val="718096">
                <a:alpha val="20000"/>
              </a:srgbClr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Text 14"/>
            <p:cNvSpPr/>
            <p:nvPr/>
          </p:nvSpPr>
          <p:spPr>
            <a:xfrm>
              <a:off x="13490003" y="2893853"/>
              <a:ext cx="953656" cy="306924"/>
            </a:xfrm>
            <a:prstGeom prst="rect">
              <a:avLst/>
            </a:prstGeom>
            <a:noFill/>
            <a:ln/>
          </p:spPr>
          <p:txBody>
            <a:bodyPr wrap="square" lIns="131539" tIns="43846" rIns="131539" bIns="43846" rtlCol="0" anchor="ctr"/>
            <a:lstStyle/>
            <a:p>
              <a:pPr>
                <a:lnSpc>
                  <a:spcPct val="120000"/>
                </a:lnSpc>
              </a:pPr>
              <a:r>
                <a:rPr lang="en-US" sz="1208" dirty="0">
                  <a:solidFill>
                    <a:srgbClr val="E2E8F0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原始编码</a:t>
              </a:r>
              <a:endParaRPr lang="en-US" sz="1600" dirty="0"/>
            </a:p>
          </p:txBody>
        </p: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F9EC6365-C83D-0C7A-E645-5D2164144EE8}"/>
              </a:ext>
            </a:extLst>
          </p:cNvPr>
          <p:cNvGrpSpPr/>
          <p:nvPr/>
        </p:nvGrpSpPr>
        <p:grpSpPr>
          <a:xfrm>
            <a:off x="11188073" y="4947319"/>
            <a:ext cx="3485777" cy="1841543"/>
            <a:chOff x="12328078" y="3551547"/>
            <a:chExt cx="3485777" cy="1841543"/>
          </a:xfrm>
        </p:grpSpPr>
        <p:sp>
          <p:nvSpPr>
            <p:cNvPr id="18" name="Shape 15"/>
            <p:cNvSpPr/>
            <p:nvPr/>
          </p:nvSpPr>
          <p:spPr>
            <a:xfrm>
              <a:off x="12328078" y="3551547"/>
              <a:ext cx="3485777" cy="1841543"/>
            </a:xfrm>
            <a:custGeom>
              <a:avLst/>
              <a:gdLst/>
              <a:ahLst/>
              <a:cxnLst/>
              <a:rect l="l" t="t" r="r" b="b"/>
              <a:pathLst>
                <a:path w="3485777" h="1841543">
                  <a:moveTo>
                    <a:pt x="43846" y="0"/>
                  </a:moveTo>
                  <a:lnTo>
                    <a:pt x="3398083" y="0"/>
                  </a:lnTo>
                  <a:cubicBezTo>
                    <a:pt x="3446515" y="0"/>
                    <a:pt x="3485777" y="39262"/>
                    <a:pt x="3485777" y="87694"/>
                  </a:cubicBezTo>
                  <a:lnTo>
                    <a:pt x="3485777" y="1753849"/>
                  </a:lnTo>
                  <a:cubicBezTo>
                    <a:pt x="3485777" y="1802281"/>
                    <a:pt x="3446515" y="1841543"/>
                    <a:pt x="3398083" y="1841543"/>
                  </a:cubicBezTo>
                  <a:lnTo>
                    <a:pt x="43846" y="1841543"/>
                  </a:lnTo>
                  <a:cubicBezTo>
                    <a:pt x="19631" y="1841543"/>
                    <a:pt x="0" y="1821912"/>
                    <a:pt x="0" y="1797697"/>
                  </a:cubicBezTo>
                  <a:lnTo>
                    <a:pt x="0" y="43846"/>
                  </a:lnTo>
                  <a:cubicBezTo>
                    <a:pt x="0" y="19631"/>
                    <a:pt x="19631" y="0"/>
                    <a:pt x="43846" y="0"/>
                  </a:cubicBezTo>
                  <a:close/>
                </a:path>
              </a:pathLst>
            </a:custGeom>
            <a:solidFill>
              <a:srgbClr val="2D3748">
                <a:alpha val="60000"/>
              </a:srgbClr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Shape 16"/>
            <p:cNvSpPr/>
            <p:nvPr/>
          </p:nvSpPr>
          <p:spPr>
            <a:xfrm>
              <a:off x="12328078" y="3551547"/>
              <a:ext cx="43846" cy="1841543"/>
            </a:xfrm>
            <a:custGeom>
              <a:avLst/>
              <a:gdLst/>
              <a:ahLst/>
              <a:cxnLst/>
              <a:rect l="l" t="t" r="r" b="b"/>
              <a:pathLst>
                <a:path w="43846" h="1841543">
                  <a:moveTo>
                    <a:pt x="43846" y="0"/>
                  </a:moveTo>
                  <a:lnTo>
                    <a:pt x="43846" y="0"/>
                  </a:lnTo>
                  <a:lnTo>
                    <a:pt x="43846" y="1841543"/>
                  </a:lnTo>
                  <a:lnTo>
                    <a:pt x="43846" y="1841543"/>
                  </a:lnTo>
                  <a:cubicBezTo>
                    <a:pt x="19631" y="1841543"/>
                    <a:pt x="0" y="1821912"/>
                    <a:pt x="0" y="1797697"/>
                  </a:cubicBezTo>
                  <a:lnTo>
                    <a:pt x="0" y="43846"/>
                  </a:lnTo>
                  <a:cubicBezTo>
                    <a:pt x="0" y="19631"/>
                    <a:pt x="19631" y="0"/>
                    <a:pt x="43846" y="0"/>
                  </a:cubicBezTo>
                  <a:close/>
                </a:path>
              </a:pathLst>
            </a:custGeom>
            <a:solidFill>
              <a:srgbClr val="4A5568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Shape 17"/>
            <p:cNvSpPr/>
            <p:nvPr/>
          </p:nvSpPr>
          <p:spPr>
            <a:xfrm>
              <a:off x="12525386" y="3726932"/>
              <a:ext cx="438463" cy="438463"/>
            </a:xfrm>
            <a:custGeom>
              <a:avLst/>
              <a:gdLst/>
              <a:ahLst/>
              <a:cxnLst/>
              <a:rect l="l" t="t" r="r" b="b"/>
              <a:pathLst>
                <a:path w="438463" h="438463">
                  <a:moveTo>
                    <a:pt x="43846" y="0"/>
                  </a:moveTo>
                  <a:lnTo>
                    <a:pt x="394616" y="0"/>
                  </a:lnTo>
                  <a:cubicBezTo>
                    <a:pt x="418832" y="0"/>
                    <a:pt x="438463" y="19631"/>
                    <a:pt x="438463" y="43846"/>
                  </a:cubicBezTo>
                  <a:lnTo>
                    <a:pt x="438463" y="394616"/>
                  </a:lnTo>
                  <a:cubicBezTo>
                    <a:pt x="438463" y="418832"/>
                    <a:pt x="418832" y="438463"/>
                    <a:pt x="394616" y="438463"/>
                  </a:cubicBezTo>
                  <a:lnTo>
                    <a:pt x="43846" y="438463"/>
                  </a:lnTo>
                  <a:cubicBezTo>
                    <a:pt x="19631" y="438463"/>
                    <a:pt x="0" y="418832"/>
                    <a:pt x="0" y="394616"/>
                  </a:cubicBezTo>
                  <a:lnTo>
                    <a:pt x="0" y="43846"/>
                  </a:lnTo>
                  <a:cubicBezTo>
                    <a:pt x="0" y="19631"/>
                    <a:pt x="19631" y="0"/>
                    <a:pt x="43846" y="0"/>
                  </a:cubicBezTo>
                  <a:close/>
                </a:path>
              </a:pathLst>
            </a:custGeom>
            <a:solidFill>
              <a:srgbClr val="4A5568">
                <a:alpha val="50196"/>
              </a:srgbClr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Text 18"/>
            <p:cNvSpPr/>
            <p:nvPr/>
          </p:nvSpPr>
          <p:spPr>
            <a:xfrm>
              <a:off x="12531209" y="3814624"/>
              <a:ext cx="515194" cy="26307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81" b="1" dirty="0">
                  <a:solidFill>
                    <a:srgbClr val="E2E8F0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DWD</a:t>
              </a:r>
              <a:endParaRPr lang="en-US" sz="1600" dirty="0"/>
            </a:p>
          </p:txBody>
        </p:sp>
        <p:sp>
          <p:nvSpPr>
            <p:cNvPr id="22" name="Text 19"/>
            <p:cNvSpPr/>
            <p:nvPr/>
          </p:nvSpPr>
          <p:spPr>
            <a:xfrm>
              <a:off x="13095387" y="3792701"/>
              <a:ext cx="1205772" cy="3069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726" b="1" dirty="0">
                  <a:solidFill>
                    <a:srgbClr val="E2E8F0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明细数据层</a:t>
              </a:r>
              <a:endParaRPr lang="en-US" sz="1600" dirty="0"/>
            </a:p>
          </p:txBody>
        </p:sp>
        <p:sp>
          <p:nvSpPr>
            <p:cNvPr id="23" name="Text 20"/>
            <p:cNvSpPr/>
            <p:nvPr/>
          </p:nvSpPr>
          <p:spPr>
            <a:xfrm>
              <a:off x="12525386" y="4253087"/>
              <a:ext cx="3200777" cy="57000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1381" dirty="0">
                  <a:solidFill>
                    <a:srgbClr val="718096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数据仓库明细层,清洗标准化,形成统一明细数据</a:t>
              </a:r>
              <a:endParaRPr lang="en-US" sz="1600" dirty="0"/>
            </a:p>
          </p:txBody>
        </p:sp>
        <p:sp>
          <p:nvSpPr>
            <p:cNvPr id="24" name="Shape 21"/>
            <p:cNvSpPr/>
            <p:nvPr/>
          </p:nvSpPr>
          <p:spPr>
            <a:xfrm>
              <a:off x="12525386" y="4910781"/>
              <a:ext cx="844040" cy="306924"/>
            </a:xfrm>
            <a:custGeom>
              <a:avLst/>
              <a:gdLst/>
              <a:ahLst/>
              <a:cxnLst/>
              <a:rect l="l" t="t" r="r" b="b"/>
              <a:pathLst>
                <a:path w="844040" h="306924">
                  <a:moveTo>
                    <a:pt x="43847" y="0"/>
                  </a:moveTo>
                  <a:lnTo>
                    <a:pt x="800193" y="0"/>
                  </a:lnTo>
                  <a:cubicBezTo>
                    <a:pt x="824409" y="0"/>
                    <a:pt x="844040" y="19631"/>
                    <a:pt x="844040" y="43847"/>
                  </a:cubicBezTo>
                  <a:lnTo>
                    <a:pt x="844040" y="263077"/>
                  </a:lnTo>
                  <a:cubicBezTo>
                    <a:pt x="844040" y="287293"/>
                    <a:pt x="824409" y="306924"/>
                    <a:pt x="800193" y="306924"/>
                  </a:cubicBezTo>
                  <a:lnTo>
                    <a:pt x="43847" y="306924"/>
                  </a:lnTo>
                  <a:cubicBezTo>
                    <a:pt x="19631" y="306924"/>
                    <a:pt x="0" y="287293"/>
                    <a:pt x="0" y="263077"/>
                  </a:cubicBezTo>
                  <a:lnTo>
                    <a:pt x="0" y="43847"/>
                  </a:lnTo>
                  <a:cubicBezTo>
                    <a:pt x="0" y="19647"/>
                    <a:pt x="19647" y="0"/>
                    <a:pt x="43847" y="0"/>
                  </a:cubicBezTo>
                  <a:close/>
                </a:path>
              </a:pathLst>
            </a:custGeom>
            <a:solidFill>
              <a:srgbClr val="4A5568">
                <a:alpha val="30196"/>
              </a:srgbClr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Text 22"/>
            <p:cNvSpPr/>
            <p:nvPr/>
          </p:nvSpPr>
          <p:spPr>
            <a:xfrm>
              <a:off x="12525386" y="4910781"/>
              <a:ext cx="920771" cy="306924"/>
            </a:xfrm>
            <a:prstGeom prst="rect">
              <a:avLst/>
            </a:prstGeom>
            <a:noFill/>
            <a:ln/>
          </p:spPr>
          <p:txBody>
            <a:bodyPr wrap="square" lIns="131539" tIns="43846" rIns="131539" bIns="43846" rtlCol="0" anchor="ctr"/>
            <a:lstStyle/>
            <a:p>
              <a:pPr>
                <a:lnSpc>
                  <a:spcPct val="120000"/>
                </a:lnSpc>
              </a:pPr>
              <a:r>
                <a:rPr lang="en-US" sz="1208" dirty="0">
                  <a:solidFill>
                    <a:srgbClr val="E2E8F0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ETL清洗</a:t>
              </a:r>
              <a:endParaRPr lang="en-US" sz="1600" dirty="0"/>
            </a:p>
          </p:txBody>
        </p:sp>
        <p:sp>
          <p:nvSpPr>
            <p:cNvPr id="26" name="Shape 23"/>
            <p:cNvSpPr/>
            <p:nvPr/>
          </p:nvSpPr>
          <p:spPr>
            <a:xfrm>
              <a:off x="13451809" y="4910781"/>
              <a:ext cx="876925" cy="306924"/>
            </a:xfrm>
            <a:custGeom>
              <a:avLst/>
              <a:gdLst/>
              <a:ahLst/>
              <a:cxnLst/>
              <a:rect l="l" t="t" r="r" b="b"/>
              <a:pathLst>
                <a:path w="876925" h="306924">
                  <a:moveTo>
                    <a:pt x="43847" y="0"/>
                  </a:moveTo>
                  <a:lnTo>
                    <a:pt x="833078" y="0"/>
                  </a:lnTo>
                  <a:cubicBezTo>
                    <a:pt x="857294" y="0"/>
                    <a:pt x="876925" y="19631"/>
                    <a:pt x="876925" y="43847"/>
                  </a:cubicBezTo>
                  <a:lnTo>
                    <a:pt x="876925" y="263077"/>
                  </a:lnTo>
                  <a:cubicBezTo>
                    <a:pt x="876925" y="287293"/>
                    <a:pt x="857294" y="306924"/>
                    <a:pt x="833078" y="306924"/>
                  </a:cubicBezTo>
                  <a:lnTo>
                    <a:pt x="43847" y="306924"/>
                  </a:lnTo>
                  <a:cubicBezTo>
                    <a:pt x="19631" y="306924"/>
                    <a:pt x="0" y="287293"/>
                    <a:pt x="0" y="263077"/>
                  </a:cubicBezTo>
                  <a:lnTo>
                    <a:pt x="0" y="43847"/>
                  </a:lnTo>
                  <a:cubicBezTo>
                    <a:pt x="0" y="19647"/>
                    <a:pt x="19647" y="0"/>
                    <a:pt x="43847" y="0"/>
                  </a:cubicBezTo>
                  <a:close/>
                </a:path>
              </a:pathLst>
            </a:custGeom>
            <a:solidFill>
              <a:srgbClr val="4A5568">
                <a:alpha val="30196"/>
              </a:srgbClr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Text 24"/>
            <p:cNvSpPr/>
            <p:nvPr/>
          </p:nvSpPr>
          <p:spPr>
            <a:xfrm>
              <a:off x="13451809" y="4910781"/>
              <a:ext cx="953656" cy="306924"/>
            </a:xfrm>
            <a:prstGeom prst="rect">
              <a:avLst/>
            </a:prstGeom>
            <a:noFill/>
            <a:ln/>
          </p:spPr>
          <p:txBody>
            <a:bodyPr wrap="square" lIns="131539" tIns="43846" rIns="131539" bIns="43846" rtlCol="0" anchor="ctr"/>
            <a:lstStyle/>
            <a:p>
              <a:pPr>
                <a:lnSpc>
                  <a:spcPct val="120000"/>
                </a:lnSpc>
              </a:pPr>
              <a:r>
                <a:rPr lang="en-US" sz="1208" dirty="0">
                  <a:solidFill>
                    <a:srgbClr val="E2E8F0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统一口径</a:t>
              </a:r>
              <a:endParaRPr lang="en-US" sz="1600" dirty="0"/>
            </a:p>
          </p:txBody>
        </p: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C3CF38B0-A58A-1BA9-BF02-43CA8C2010C0}"/>
              </a:ext>
            </a:extLst>
          </p:cNvPr>
          <p:cNvGrpSpPr/>
          <p:nvPr/>
        </p:nvGrpSpPr>
        <p:grpSpPr>
          <a:xfrm>
            <a:off x="9719224" y="3273854"/>
            <a:ext cx="3485777" cy="1556542"/>
            <a:chOff x="12328078" y="5568475"/>
            <a:chExt cx="3485777" cy="1556542"/>
          </a:xfrm>
        </p:grpSpPr>
        <p:sp>
          <p:nvSpPr>
            <p:cNvPr id="28" name="Shape 25"/>
            <p:cNvSpPr/>
            <p:nvPr/>
          </p:nvSpPr>
          <p:spPr>
            <a:xfrm>
              <a:off x="12328078" y="5568475"/>
              <a:ext cx="3485777" cy="1556542"/>
            </a:xfrm>
            <a:custGeom>
              <a:avLst/>
              <a:gdLst/>
              <a:ahLst/>
              <a:cxnLst/>
              <a:rect l="l" t="t" r="r" b="b"/>
              <a:pathLst>
                <a:path w="3485777" h="1556542">
                  <a:moveTo>
                    <a:pt x="43846" y="0"/>
                  </a:moveTo>
                  <a:lnTo>
                    <a:pt x="3398082" y="0"/>
                  </a:lnTo>
                  <a:cubicBezTo>
                    <a:pt x="3446515" y="0"/>
                    <a:pt x="3485777" y="39263"/>
                    <a:pt x="3485777" y="87696"/>
                  </a:cubicBezTo>
                  <a:lnTo>
                    <a:pt x="3485777" y="1468847"/>
                  </a:lnTo>
                  <a:cubicBezTo>
                    <a:pt x="3485777" y="1517279"/>
                    <a:pt x="3446515" y="1556542"/>
                    <a:pt x="3398082" y="1556542"/>
                  </a:cubicBezTo>
                  <a:lnTo>
                    <a:pt x="43846" y="1556542"/>
                  </a:lnTo>
                  <a:cubicBezTo>
                    <a:pt x="19631" y="1556542"/>
                    <a:pt x="0" y="1536912"/>
                    <a:pt x="0" y="1512696"/>
                  </a:cubicBezTo>
                  <a:lnTo>
                    <a:pt x="0" y="43846"/>
                  </a:lnTo>
                  <a:cubicBezTo>
                    <a:pt x="0" y="19631"/>
                    <a:pt x="19631" y="0"/>
                    <a:pt x="43846" y="0"/>
                  </a:cubicBezTo>
                  <a:close/>
                </a:path>
              </a:pathLst>
            </a:custGeom>
            <a:solidFill>
              <a:srgbClr val="2D3748">
                <a:alpha val="60000"/>
              </a:srgbClr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Shape 26"/>
            <p:cNvSpPr/>
            <p:nvPr/>
          </p:nvSpPr>
          <p:spPr>
            <a:xfrm>
              <a:off x="12328078" y="5568475"/>
              <a:ext cx="43846" cy="1556542"/>
            </a:xfrm>
            <a:custGeom>
              <a:avLst/>
              <a:gdLst/>
              <a:ahLst/>
              <a:cxnLst/>
              <a:rect l="l" t="t" r="r" b="b"/>
              <a:pathLst>
                <a:path w="43846" h="1556542">
                  <a:moveTo>
                    <a:pt x="43846" y="0"/>
                  </a:moveTo>
                  <a:lnTo>
                    <a:pt x="43846" y="0"/>
                  </a:lnTo>
                  <a:lnTo>
                    <a:pt x="43846" y="1556542"/>
                  </a:lnTo>
                  <a:lnTo>
                    <a:pt x="43846" y="1556542"/>
                  </a:lnTo>
                  <a:cubicBezTo>
                    <a:pt x="19631" y="1556542"/>
                    <a:pt x="0" y="1536912"/>
                    <a:pt x="0" y="1512696"/>
                  </a:cubicBezTo>
                  <a:lnTo>
                    <a:pt x="0" y="43846"/>
                  </a:lnTo>
                  <a:cubicBezTo>
                    <a:pt x="0" y="19631"/>
                    <a:pt x="19631" y="0"/>
                    <a:pt x="43846" y="0"/>
                  </a:cubicBezTo>
                  <a:close/>
                </a:path>
              </a:pathLst>
            </a:custGeom>
            <a:solidFill>
              <a:srgbClr val="D69E2E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Shape 27"/>
            <p:cNvSpPr/>
            <p:nvPr/>
          </p:nvSpPr>
          <p:spPr>
            <a:xfrm>
              <a:off x="12525386" y="5743860"/>
              <a:ext cx="438463" cy="438463"/>
            </a:xfrm>
            <a:custGeom>
              <a:avLst/>
              <a:gdLst/>
              <a:ahLst/>
              <a:cxnLst/>
              <a:rect l="l" t="t" r="r" b="b"/>
              <a:pathLst>
                <a:path w="438463" h="438463">
                  <a:moveTo>
                    <a:pt x="43846" y="0"/>
                  </a:moveTo>
                  <a:lnTo>
                    <a:pt x="394616" y="0"/>
                  </a:lnTo>
                  <a:cubicBezTo>
                    <a:pt x="418832" y="0"/>
                    <a:pt x="438463" y="19631"/>
                    <a:pt x="438463" y="43846"/>
                  </a:cubicBezTo>
                  <a:lnTo>
                    <a:pt x="438463" y="394616"/>
                  </a:lnTo>
                  <a:cubicBezTo>
                    <a:pt x="438463" y="418832"/>
                    <a:pt x="418832" y="438463"/>
                    <a:pt x="394616" y="438463"/>
                  </a:cubicBezTo>
                  <a:lnTo>
                    <a:pt x="43846" y="438463"/>
                  </a:lnTo>
                  <a:cubicBezTo>
                    <a:pt x="19631" y="438463"/>
                    <a:pt x="0" y="418832"/>
                    <a:pt x="0" y="394616"/>
                  </a:cubicBezTo>
                  <a:lnTo>
                    <a:pt x="0" y="43846"/>
                  </a:lnTo>
                  <a:cubicBezTo>
                    <a:pt x="0" y="19631"/>
                    <a:pt x="19631" y="0"/>
                    <a:pt x="43846" y="0"/>
                  </a:cubicBezTo>
                  <a:close/>
                </a:path>
              </a:pathLst>
            </a:custGeom>
            <a:solidFill>
              <a:srgbClr val="D69E2E">
                <a:alpha val="20000"/>
              </a:srgbClr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Text 28"/>
            <p:cNvSpPr/>
            <p:nvPr/>
          </p:nvSpPr>
          <p:spPr>
            <a:xfrm>
              <a:off x="12543284" y="5831552"/>
              <a:ext cx="493270" cy="26307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81" b="1" dirty="0">
                  <a:solidFill>
                    <a:srgbClr val="D69E2E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DWS</a:t>
              </a:r>
              <a:endParaRPr lang="en-US" sz="1600" dirty="0"/>
            </a:p>
          </p:txBody>
        </p:sp>
        <p:sp>
          <p:nvSpPr>
            <p:cNvPr id="32" name="Text 29"/>
            <p:cNvSpPr/>
            <p:nvPr/>
          </p:nvSpPr>
          <p:spPr>
            <a:xfrm>
              <a:off x="13095387" y="5809629"/>
              <a:ext cx="1205772" cy="3069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726" b="1" dirty="0">
                  <a:solidFill>
                    <a:srgbClr val="E2E8F0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汇总数据层</a:t>
              </a:r>
              <a:endParaRPr lang="en-US" sz="1600" dirty="0"/>
            </a:p>
          </p:txBody>
        </p:sp>
        <p:sp>
          <p:nvSpPr>
            <p:cNvPr id="33" name="Text 30"/>
            <p:cNvSpPr/>
            <p:nvPr/>
          </p:nvSpPr>
          <p:spPr>
            <a:xfrm>
              <a:off x="12525386" y="6270015"/>
              <a:ext cx="3200777" cy="28500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1381" dirty="0">
                  <a:solidFill>
                    <a:srgbClr val="718096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数据仓库服务层,轻度汇总,沉淀公共指标</a:t>
              </a:r>
              <a:endParaRPr lang="en-US" sz="1600" dirty="0"/>
            </a:p>
          </p:txBody>
        </p:sp>
        <p:sp>
          <p:nvSpPr>
            <p:cNvPr id="34" name="Shape 31"/>
            <p:cNvSpPr/>
            <p:nvPr/>
          </p:nvSpPr>
          <p:spPr>
            <a:xfrm>
              <a:off x="12525386" y="6642708"/>
              <a:ext cx="876925" cy="306924"/>
            </a:xfrm>
            <a:custGeom>
              <a:avLst/>
              <a:gdLst/>
              <a:ahLst/>
              <a:cxnLst/>
              <a:rect l="l" t="t" r="r" b="b"/>
              <a:pathLst>
                <a:path w="876925" h="306924">
                  <a:moveTo>
                    <a:pt x="43847" y="0"/>
                  </a:moveTo>
                  <a:lnTo>
                    <a:pt x="833078" y="0"/>
                  </a:lnTo>
                  <a:cubicBezTo>
                    <a:pt x="857294" y="0"/>
                    <a:pt x="876925" y="19631"/>
                    <a:pt x="876925" y="43847"/>
                  </a:cubicBezTo>
                  <a:lnTo>
                    <a:pt x="876925" y="263077"/>
                  </a:lnTo>
                  <a:cubicBezTo>
                    <a:pt x="876925" y="287293"/>
                    <a:pt x="857294" y="306924"/>
                    <a:pt x="833078" y="306924"/>
                  </a:cubicBezTo>
                  <a:lnTo>
                    <a:pt x="43847" y="306924"/>
                  </a:lnTo>
                  <a:cubicBezTo>
                    <a:pt x="19631" y="306924"/>
                    <a:pt x="0" y="287293"/>
                    <a:pt x="0" y="263077"/>
                  </a:cubicBezTo>
                  <a:lnTo>
                    <a:pt x="0" y="43847"/>
                  </a:lnTo>
                  <a:cubicBezTo>
                    <a:pt x="0" y="19647"/>
                    <a:pt x="19647" y="0"/>
                    <a:pt x="43847" y="0"/>
                  </a:cubicBezTo>
                  <a:close/>
                </a:path>
              </a:pathLst>
            </a:custGeom>
            <a:solidFill>
              <a:srgbClr val="D69E2E">
                <a:alpha val="20000"/>
              </a:srgbClr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Text 32"/>
            <p:cNvSpPr/>
            <p:nvPr/>
          </p:nvSpPr>
          <p:spPr>
            <a:xfrm>
              <a:off x="12525386" y="6642708"/>
              <a:ext cx="953656" cy="306924"/>
            </a:xfrm>
            <a:prstGeom prst="rect">
              <a:avLst/>
            </a:prstGeom>
            <a:noFill/>
            <a:ln/>
          </p:spPr>
          <p:txBody>
            <a:bodyPr wrap="square" lIns="131539" tIns="43846" rIns="131539" bIns="43846" rtlCol="0" anchor="ctr"/>
            <a:lstStyle/>
            <a:p>
              <a:pPr>
                <a:lnSpc>
                  <a:spcPct val="120000"/>
                </a:lnSpc>
              </a:pPr>
              <a:r>
                <a:rPr lang="en-US" sz="1208" dirty="0">
                  <a:solidFill>
                    <a:srgbClr val="E2E8F0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主题聚合</a:t>
              </a:r>
              <a:endParaRPr lang="en-US" sz="1600" dirty="0"/>
            </a:p>
          </p:txBody>
        </p:sp>
        <p:sp>
          <p:nvSpPr>
            <p:cNvPr id="36" name="Shape 33"/>
            <p:cNvSpPr/>
            <p:nvPr/>
          </p:nvSpPr>
          <p:spPr>
            <a:xfrm>
              <a:off x="13490003" y="6642708"/>
              <a:ext cx="876925" cy="306924"/>
            </a:xfrm>
            <a:custGeom>
              <a:avLst/>
              <a:gdLst/>
              <a:ahLst/>
              <a:cxnLst/>
              <a:rect l="l" t="t" r="r" b="b"/>
              <a:pathLst>
                <a:path w="876925" h="306924">
                  <a:moveTo>
                    <a:pt x="43847" y="0"/>
                  </a:moveTo>
                  <a:lnTo>
                    <a:pt x="833078" y="0"/>
                  </a:lnTo>
                  <a:cubicBezTo>
                    <a:pt x="857294" y="0"/>
                    <a:pt x="876925" y="19631"/>
                    <a:pt x="876925" y="43847"/>
                  </a:cubicBezTo>
                  <a:lnTo>
                    <a:pt x="876925" y="263077"/>
                  </a:lnTo>
                  <a:cubicBezTo>
                    <a:pt x="876925" y="287293"/>
                    <a:pt x="857294" y="306924"/>
                    <a:pt x="833078" y="306924"/>
                  </a:cubicBezTo>
                  <a:lnTo>
                    <a:pt x="43847" y="306924"/>
                  </a:lnTo>
                  <a:cubicBezTo>
                    <a:pt x="19631" y="306924"/>
                    <a:pt x="0" y="287293"/>
                    <a:pt x="0" y="263077"/>
                  </a:cubicBezTo>
                  <a:lnTo>
                    <a:pt x="0" y="43847"/>
                  </a:lnTo>
                  <a:cubicBezTo>
                    <a:pt x="0" y="19647"/>
                    <a:pt x="19647" y="0"/>
                    <a:pt x="43847" y="0"/>
                  </a:cubicBezTo>
                  <a:close/>
                </a:path>
              </a:pathLst>
            </a:custGeom>
            <a:solidFill>
              <a:srgbClr val="D69E2E">
                <a:alpha val="20000"/>
              </a:srgbClr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Text 34"/>
            <p:cNvSpPr/>
            <p:nvPr/>
          </p:nvSpPr>
          <p:spPr>
            <a:xfrm>
              <a:off x="13490003" y="6642708"/>
              <a:ext cx="953656" cy="306924"/>
            </a:xfrm>
            <a:prstGeom prst="rect">
              <a:avLst/>
            </a:prstGeom>
            <a:noFill/>
            <a:ln/>
          </p:spPr>
          <p:txBody>
            <a:bodyPr wrap="square" lIns="131539" tIns="43846" rIns="131539" bIns="43846" rtlCol="0" anchor="ctr"/>
            <a:lstStyle/>
            <a:p>
              <a:pPr>
                <a:lnSpc>
                  <a:spcPct val="120000"/>
                </a:lnSpc>
              </a:pPr>
              <a:r>
                <a:rPr lang="en-US" sz="1208" dirty="0">
                  <a:solidFill>
                    <a:srgbClr val="E2E8F0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宽表构建</a:t>
              </a:r>
              <a:endParaRPr lang="en-US" sz="1600" dirty="0"/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303DA3D8-9827-BFEF-348C-64965E109ADD}"/>
              </a:ext>
            </a:extLst>
          </p:cNvPr>
          <p:cNvGrpSpPr/>
          <p:nvPr/>
        </p:nvGrpSpPr>
        <p:grpSpPr>
          <a:xfrm>
            <a:off x="8250375" y="1315388"/>
            <a:ext cx="3485777" cy="1841543"/>
            <a:chOff x="12328078" y="7300402"/>
            <a:chExt cx="3485777" cy="1841543"/>
          </a:xfrm>
        </p:grpSpPr>
        <p:sp>
          <p:nvSpPr>
            <p:cNvPr id="38" name="Shape 35"/>
            <p:cNvSpPr/>
            <p:nvPr/>
          </p:nvSpPr>
          <p:spPr>
            <a:xfrm>
              <a:off x="12328078" y="7300402"/>
              <a:ext cx="3485777" cy="1841543"/>
            </a:xfrm>
            <a:custGeom>
              <a:avLst/>
              <a:gdLst/>
              <a:ahLst/>
              <a:cxnLst/>
              <a:rect l="l" t="t" r="r" b="b"/>
              <a:pathLst>
                <a:path w="3485777" h="1841543">
                  <a:moveTo>
                    <a:pt x="43846" y="0"/>
                  </a:moveTo>
                  <a:lnTo>
                    <a:pt x="3398083" y="0"/>
                  </a:lnTo>
                  <a:cubicBezTo>
                    <a:pt x="3446515" y="0"/>
                    <a:pt x="3485777" y="39262"/>
                    <a:pt x="3485777" y="87694"/>
                  </a:cubicBezTo>
                  <a:lnTo>
                    <a:pt x="3485777" y="1753849"/>
                  </a:lnTo>
                  <a:cubicBezTo>
                    <a:pt x="3485777" y="1802281"/>
                    <a:pt x="3446515" y="1841543"/>
                    <a:pt x="3398083" y="1841543"/>
                  </a:cubicBezTo>
                  <a:lnTo>
                    <a:pt x="43846" y="1841543"/>
                  </a:lnTo>
                  <a:cubicBezTo>
                    <a:pt x="19631" y="1841543"/>
                    <a:pt x="0" y="1821912"/>
                    <a:pt x="0" y="1797697"/>
                  </a:cubicBezTo>
                  <a:lnTo>
                    <a:pt x="0" y="43846"/>
                  </a:lnTo>
                  <a:cubicBezTo>
                    <a:pt x="0" y="19631"/>
                    <a:pt x="19631" y="0"/>
                    <a:pt x="43846" y="0"/>
                  </a:cubicBezTo>
                  <a:close/>
                </a:path>
              </a:pathLst>
            </a:custGeom>
            <a:solidFill>
              <a:srgbClr val="2D3748">
                <a:alpha val="60000"/>
              </a:srgbClr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Shape 36"/>
            <p:cNvSpPr/>
            <p:nvPr/>
          </p:nvSpPr>
          <p:spPr>
            <a:xfrm>
              <a:off x="12328078" y="7300402"/>
              <a:ext cx="43846" cy="1841543"/>
            </a:xfrm>
            <a:custGeom>
              <a:avLst/>
              <a:gdLst/>
              <a:ahLst/>
              <a:cxnLst/>
              <a:rect l="l" t="t" r="r" b="b"/>
              <a:pathLst>
                <a:path w="43846" h="1841543">
                  <a:moveTo>
                    <a:pt x="43846" y="0"/>
                  </a:moveTo>
                  <a:lnTo>
                    <a:pt x="43846" y="0"/>
                  </a:lnTo>
                  <a:lnTo>
                    <a:pt x="43846" y="1841543"/>
                  </a:lnTo>
                  <a:lnTo>
                    <a:pt x="43846" y="1841543"/>
                  </a:lnTo>
                  <a:cubicBezTo>
                    <a:pt x="19631" y="1841543"/>
                    <a:pt x="0" y="1821912"/>
                    <a:pt x="0" y="1797697"/>
                  </a:cubicBezTo>
                  <a:lnTo>
                    <a:pt x="0" y="43846"/>
                  </a:lnTo>
                  <a:cubicBezTo>
                    <a:pt x="0" y="19631"/>
                    <a:pt x="19631" y="0"/>
                    <a:pt x="43846" y="0"/>
                  </a:cubicBezTo>
                  <a:close/>
                </a:path>
              </a:pathLst>
            </a:custGeom>
            <a:solidFill>
              <a:srgbClr val="D69E2E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Shape 37"/>
            <p:cNvSpPr/>
            <p:nvPr/>
          </p:nvSpPr>
          <p:spPr>
            <a:xfrm>
              <a:off x="12525386" y="7475787"/>
              <a:ext cx="438463" cy="438463"/>
            </a:xfrm>
            <a:custGeom>
              <a:avLst/>
              <a:gdLst/>
              <a:ahLst/>
              <a:cxnLst/>
              <a:rect l="l" t="t" r="r" b="b"/>
              <a:pathLst>
                <a:path w="438463" h="438463">
                  <a:moveTo>
                    <a:pt x="43846" y="0"/>
                  </a:moveTo>
                  <a:lnTo>
                    <a:pt x="394616" y="0"/>
                  </a:lnTo>
                  <a:cubicBezTo>
                    <a:pt x="418832" y="0"/>
                    <a:pt x="438463" y="19631"/>
                    <a:pt x="438463" y="43846"/>
                  </a:cubicBezTo>
                  <a:lnTo>
                    <a:pt x="438463" y="394616"/>
                  </a:lnTo>
                  <a:cubicBezTo>
                    <a:pt x="438463" y="418832"/>
                    <a:pt x="418832" y="438463"/>
                    <a:pt x="394616" y="438463"/>
                  </a:cubicBezTo>
                  <a:lnTo>
                    <a:pt x="43846" y="438463"/>
                  </a:lnTo>
                  <a:cubicBezTo>
                    <a:pt x="19631" y="438463"/>
                    <a:pt x="0" y="418832"/>
                    <a:pt x="0" y="394616"/>
                  </a:cubicBezTo>
                  <a:lnTo>
                    <a:pt x="0" y="43846"/>
                  </a:lnTo>
                  <a:cubicBezTo>
                    <a:pt x="0" y="19631"/>
                    <a:pt x="19631" y="0"/>
                    <a:pt x="43846" y="0"/>
                  </a:cubicBezTo>
                  <a:close/>
                </a:path>
              </a:pathLst>
            </a:custGeom>
            <a:solidFill>
              <a:srgbClr val="D69E2E">
                <a:alpha val="20000"/>
              </a:srgbClr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Text 38"/>
            <p:cNvSpPr/>
            <p:nvPr/>
          </p:nvSpPr>
          <p:spPr>
            <a:xfrm>
              <a:off x="12568975" y="7563479"/>
              <a:ext cx="438463" cy="26307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81" b="1" dirty="0">
                  <a:solidFill>
                    <a:srgbClr val="D69E2E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ADS</a:t>
              </a:r>
              <a:endParaRPr lang="en-US" sz="1600" dirty="0"/>
            </a:p>
          </p:txBody>
        </p:sp>
        <p:sp>
          <p:nvSpPr>
            <p:cNvPr id="42" name="Text 39"/>
            <p:cNvSpPr/>
            <p:nvPr/>
          </p:nvSpPr>
          <p:spPr>
            <a:xfrm>
              <a:off x="13095387" y="7541556"/>
              <a:ext cx="1205772" cy="3069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726" b="1" dirty="0">
                  <a:solidFill>
                    <a:srgbClr val="E2E8F0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应用数据层</a:t>
              </a:r>
              <a:endParaRPr lang="en-US" sz="1600" dirty="0"/>
            </a:p>
          </p:txBody>
        </p:sp>
        <p:sp>
          <p:nvSpPr>
            <p:cNvPr id="43" name="Text 40"/>
            <p:cNvSpPr/>
            <p:nvPr/>
          </p:nvSpPr>
          <p:spPr>
            <a:xfrm>
              <a:off x="12525386" y="8001942"/>
              <a:ext cx="3200777" cy="57000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1381" dirty="0">
                  <a:solidFill>
                    <a:srgbClr val="718096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应用数据服务层,面向应用,直接支撑业务决策</a:t>
              </a:r>
              <a:endParaRPr lang="en-US" sz="1600" dirty="0"/>
            </a:p>
          </p:txBody>
        </p:sp>
        <p:sp>
          <p:nvSpPr>
            <p:cNvPr id="44" name="Shape 41"/>
            <p:cNvSpPr/>
            <p:nvPr/>
          </p:nvSpPr>
          <p:spPr>
            <a:xfrm>
              <a:off x="12525386" y="8659636"/>
              <a:ext cx="876925" cy="306924"/>
            </a:xfrm>
            <a:custGeom>
              <a:avLst/>
              <a:gdLst/>
              <a:ahLst/>
              <a:cxnLst/>
              <a:rect l="l" t="t" r="r" b="b"/>
              <a:pathLst>
                <a:path w="876925" h="306924">
                  <a:moveTo>
                    <a:pt x="43847" y="0"/>
                  </a:moveTo>
                  <a:lnTo>
                    <a:pt x="833078" y="0"/>
                  </a:lnTo>
                  <a:cubicBezTo>
                    <a:pt x="857294" y="0"/>
                    <a:pt x="876925" y="19631"/>
                    <a:pt x="876925" y="43847"/>
                  </a:cubicBezTo>
                  <a:lnTo>
                    <a:pt x="876925" y="263077"/>
                  </a:lnTo>
                  <a:cubicBezTo>
                    <a:pt x="876925" y="287293"/>
                    <a:pt x="857294" y="306924"/>
                    <a:pt x="833078" y="306924"/>
                  </a:cubicBezTo>
                  <a:lnTo>
                    <a:pt x="43847" y="306924"/>
                  </a:lnTo>
                  <a:cubicBezTo>
                    <a:pt x="19631" y="306924"/>
                    <a:pt x="0" y="287293"/>
                    <a:pt x="0" y="263077"/>
                  </a:cubicBezTo>
                  <a:lnTo>
                    <a:pt x="0" y="43847"/>
                  </a:lnTo>
                  <a:cubicBezTo>
                    <a:pt x="0" y="19647"/>
                    <a:pt x="19647" y="0"/>
                    <a:pt x="43847" y="0"/>
                  </a:cubicBezTo>
                  <a:close/>
                </a:path>
              </a:pathLst>
            </a:custGeom>
            <a:solidFill>
              <a:srgbClr val="D69E2E">
                <a:alpha val="20000"/>
              </a:srgbClr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Text 42"/>
            <p:cNvSpPr/>
            <p:nvPr/>
          </p:nvSpPr>
          <p:spPr>
            <a:xfrm>
              <a:off x="12525386" y="8659636"/>
              <a:ext cx="953656" cy="306924"/>
            </a:xfrm>
            <a:prstGeom prst="rect">
              <a:avLst/>
            </a:prstGeom>
            <a:noFill/>
            <a:ln/>
          </p:spPr>
          <p:txBody>
            <a:bodyPr wrap="square" lIns="131539" tIns="43846" rIns="131539" bIns="43846" rtlCol="0" anchor="ctr"/>
            <a:lstStyle/>
            <a:p>
              <a:pPr>
                <a:lnSpc>
                  <a:spcPct val="120000"/>
                </a:lnSpc>
              </a:pPr>
              <a:r>
                <a:rPr lang="en-US" sz="1208" dirty="0">
                  <a:solidFill>
                    <a:srgbClr val="E2E8F0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报表数据</a:t>
              </a:r>
              <a:endParaRPr lang="en-US" sz="1600" dirty="0"/>
            </a:p>
          </p:txBody>
        </p:sp>
        <p:sp>
          <p:nvSpPr>
            <p:cNvPr id="46" name="Shape 43"/>
            <p:cNvSpPr/>
            <p:nvPr/>
          </p:nvSpPr>
          <p:spPr>
            <a:xfrm>
              <a:off x="13490003" y="8659636"/>
              <a:ext cx="876925" cy="306924"/>
            </a:xfrm>
            <a:custGeom>
              <a:avLst/>
              <a:gdLst/>
              <a:ahLst/>
              <a:cxnLst/>
              <a:rect l="l" t="t" r="r" b="b"/>
              <a:pathLst>
                <a:path w="876925" h="306924">
                  <a:moveTo>
                    <a:pt x="43847" y="0"/>
                  </a:moveTo>
                  <a:lnTo>
                    <a:pt x="833078" y="0"/>
                  </a:lnTo>
                  <a:cubicBezTo>
                    <a:pt x="857294" y="0"/>
                    <a:pt x="876925" y="19631"/>
                    <a:pt x="876925" y="43847"/>
                  </a:cubicBezTo>
                  <a:lnTo>
                    <a:pt x="876925" y="263077"/>
                  </a:lnTo>
                  <a:cubicBezTo>
                    <a:pt x="876925" y="287293"/>
                    <a:pt x="857294" y="306924"/>
                    <a:pt x="833078" y="306924"/>
                  </a:cubicBezTo>
                  <a:lnTo>
                    <a:pt x="43847" y="306924"/>
                  </a:lnTo>
                  <a:cubicBezTo>
                    <a:pt x="19631" y="306924"/>
                    <a:pt x="0" y="287293"/>
                    <a:pt x="0" y="263077"/>
                  </a:cubicBezTo>
                  <a:lnTo>
                    <a:pt x="0" y="43847"/>
                  </a:lnTo>
                  <a:cubicBezTo>
                    <a:pt x="0" y="19647"/>
                    <a:pt x="19647" y="0"/>
                    <a:pt x="43847" y="0"/>
                  </a:cubicBezTo>
                  <a:close/>
                </a:path>
              </a:pathLst>
            </a:custGeom>
            <a:solidFill>
              <a:srgbClr val="D69E2E">
                <a:alpha val="20000"/>
              </a:srgbClr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Text 44"/>
            <p:cNvSpPr/>
            <p:nvPr/>
          </p:nvSpPr>
          <p:spPr>
            <a:xfrm>
              <a:off x="13490003" y="8659636"/>
              <a:ext cx="953656" cy="306924"/>
            </a:xfrm>
            <a:prstGeom prst="rect">
              <a:avLst/>
            </a:prstGeom>
            <a:noFill/>
            <a:ln/>
          </p:spPr>
          <p:txBody>
            <a:bodyPr wrap="square" lIns="131539" tIns="43846" rIns="131539" bIns="43846" rtlCol="0" anchor="ctr"/>
            <a:lstStyle/>
            <a:p>
              <a:pPr>
                <a:lnSpc>
                  <a:spcPct val="120000"/>
                </a:lnSpc>
              </a:pPr>
              <a:r>
                <a:rPr lang="en-US" sz="1208" dirty="0">
                  <a:solidFill>
                    <a:srgbClr val="E2E8F0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决策支撑</a:t>
              </a:r>
              <a:endParaRPr lang="en-US" sz="1600" dirty="0"/>
            </a:p>
          </p:txBody>
        </p:sp>
      </p:grpSp>
      <p:graphicFrame>
        <p:nvGraphicFramePr>
          <p:cNvPr id="48" name="图示 47">
            <a:extLst>
              <a:ext uri="{FF2B5EF4-FFF2-40B4-BE49-F238E27FC236}">
                <a16:creationId xmlns:a16="http://schemas.microsoft.com/office/drawing/2014/main" id="{0FB884E7-DE23-AAEF-30B0-505AA57AE8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48359031"/>
              </p:ext>
            </p:extLst>
          </p:nvPr>
        </p:nvGraphicFramePr>
        <p:xfrm>
          <a:off x="849664" y="1528118"/>
          <a:ext cx="10837333" cy="72248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6063" y="491489"/>
            <a:ext cx="2961221" cy="393191"/>
          </a:xfrm>
          <a:custGeom>
            <a:avLst/>
            <a:gdLst/>
            <a:ahLst/>
            <a:cxnLst/>
            <a:rect l="l" t="t" r="r" b="b"/>
            <a:pathLst>
              <a:path w="2961221" h="393191">
                <a:moveTo>
                  <a:pt x="0" y="0"/>
                </a:moveTo>
                <a:lnTo>
                  <a:pt x="2961221" y="0"/>
                </a:lnTo>
                <a:lnTo>
                  <a:pt x="2961221" y="393191"/>
                </a:lnTo>
                <a:lnTo>
                  <a:pt x="0" y="393191"/>
                </a:lnTo>
                <a:lnTo>
                  <a:pt x="0" y="0"/>
                </a:lnTo>
                <a:close/>
              </a:path>
            </a:pathLst>
          </a:custGeom>
          <a:solidFill>
            <a:srgbClr val="D69E2E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516063" y="491489"/>
            <a:ext cx="49149" cy="393191"/>
          </a:xfrm>
          <a:custGeom>
            <a:avLst/>
            <a:gdLst/>
            <a:ahLst/>
            <a:cxnLst/>
            <a:rect l="l" t="t" r="r" b="b"/>
            <a:pathLst>
              <a:path w="49149" h="393191">
                <a:moveTo>
                  <a:pt x="0" y="0"/>
                </a:moveTo>
                <a:lnTo>
                  <a:pt x="49149" y="0"/>
                </a:lnTo>
                <a:lnTo>
                  <a:pt x="49149" y="393191"/>
                </a:lnTo>
                <a:lnTo>
                  <a:pt x="0" y="393191"/>
                </a:lnTo>
                <a:lnTo>
                  <a:pt x="0" y="0"/>
                </a:ln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37234" y="559069"/>
            <a:ext cx="2646457" cy="25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8" b="1" kern="0" spc="77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LAYER RESPONSIBILITIES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91489" y="982978"/>
            <a:ext cx="15494192" cy="491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483" b="1" dirty="0">
                <a:solidFill>
                  <a:srgbClr val="E2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各层核心职责与定位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6063" y="1563048"/>
            <a:ext cx="15248447" cy="1744786"/>
          </a:xfrm>
          <a:custGeom>
            <a:avLst/>
            <a:gdLst/>
            <a:ahLst/>
            <a:cxnLst/>
            <a:rect l="l" t="t" r="r" b="b"/>
            <a:pathLst>
              <a:path w="15248447" h="1744786">
                <a:moveTo>
                  <a:pt x="49149" y="0"/>
                </a:moveTo>
                <a:lnTo>
                  <a:pt x="15150146" y="0"/>
                </a:lnTo>
                <a:cubicBezTo>
                  <a:pt x="15204436" y="0"/>
                  <a:pt x="15248447" y="44011"/>
                  <a:pt x="15248447" y="98301"/>
                </a:cubicBezTo>
                <a:lnTo>
                  <a:pt x="15248447" y="1646485"/>
                </a:lnTo>
                <a:cubicBezTo>
                  <a:pt x="15248447" y="1700775"/>
                  <a:pt x="15204436" y="1744786"/>
                  <a:pt x="15150146" y="1744786"/>
                </a:cubicBezTo>
                <a:lnTo>
                  <a:pt x="49149" y="1744786"/>
                </a:lnTo>
                <a:cubicBezTo>
                  <a:pt x="22005" y="1744786"/>
                  <a:pt x="0" y="1722781"/>
                  <a:pt x="0" y="1695637"/>
                </a:cubicBezTo>
                <a:lnTo>
                  <a:pt x="0" y="49149"/>
                </a:lnTo>
                <a:cubicBezTo>
                  <a:pt x="0" y="22023"/>
                  <a:pt x="22023" y="0"/>
                  <a:pt x="49149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16063" y="1563048"/>
            <a:ext cx="49149" cy="1744786"/>
          </a:xfrm>
          <a:custGeom>
            <a:avLst/>
            <a:gdLst/>
            <a:ahLst/>
            <a:cxnLst/>
            <a:rect l="l" t="t" r="r" b="b"/>
            <a:pathLst>
              <a:path w="49149" h="1744786">
                <a:moveTo>
                  <a:pt x="49149" y="0"/>
                </a:moveTo>
                <a:lnTo>
                  <a:pt x="49149" y="0"/>
                </a:lnTo>
                <a:lnTo>
                  <a:pt x="49149" y="1744786"/>
                </a:lnTo>
                <a:lnTo>
                  <a:pt x="49149" y="1744786"/>
                </a:lnTo>
                <a:cubicBezTo>
                  <a:pt x="22005" y="1744786"/>
                  <a:pt x="0" y="1722781"/>
                  <a:pt x="0" y="1695637"/>
                </a:cubicBezTo>
                <a:lnTo>
                  <a:pt x="0" y="49149"/>
                </a:lnTo>
                <a:cubicBezTo>
                  <a:pt x="0" y="22023"/>
                  <a:pt x="22023" y="0"/>
                  <a:pt x="49149" y="0"/>
                </a:cubicBez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786382" y="1943952"/>
            <a:ext cx="982978" cy="982978"/>
          </a:xfrm>
          <a:custGeom>
            <a:avLst/>
            <a:gdLst/>
            <a:ahLst/>
            <a:cxnLst/>
            <a:rect l="l" t="t" r="r" b="b"/>
            <a:pathLst>
              <a:path w="982978" h="982978">
                <a:moveTo>
                  <a:pt x="49149" y="0"/>
                </a:moveTo>
                <a:lnTo>
                  <a:pt x="933829" y="0"/>
                </a:lnTo>
                <a:cubicBezTo>
                  <a:pt x="960973" y="0"/>
                  <a:pt x="982978" y="22005"/>
                  <a:pt x="982978" y="49149"/>
                </a:cubicBezTo>
                <a:lnTo>
                  <a:pt x="982978" y="933829"/>
                </a:lnTo>
                <a:cubicBezTo>
                  <a:pt x="982978" y="960973"/>
                  <a:pt x="960973" y="982978"/>
                  <a:pt x="933829" y="982978"/>
                </a:cubicBezTo>
                <a:lnTo>
                  <a:pt x="49149" y="982978"/>
                </a:lnTo>
                <a:cubicBezTo>
                  <a:pt x="22005" y="982978"/>
                  <a:pt x="0" y="960973"/>
                  <a:pt x="0" y="933829"/>
                </a:cubicBezTo>
                <a:lnTo>
                  <a:pt x="0" y="49149"/>
                </a:lnTo>
                <a:cubicBezTo>
                  <a:pt x="0" y="22023"/>
                  <a:pt x="22023" y="0"/>
                  <a:pt x="49149" y="0"/>
                </a:cubicBezTo>
                <a:close/>
              </a:path>
            </a:pathLst>
          </a:custGeom>
          <a:solidFill>
            <a:srgbClr val="718096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901863" y="2214271"/>
            <a:ext cx="933829" cy="442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902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ODS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015105" y="1808792"/>
            <a:ext cx="13651108" cy="393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22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原始数据存储层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039680" y="2398579"/>
            <a:ext cx="196596" cy="196596"/>
          </a:xfrm>
          <a:custGeom>
            <a:avLst/>
            <a:gdLst/>
            <a:ahLst/>
            <a:cxnLst/>
            <a:rect l="l" t="t" r="r" b="b"/>
            <a:pathLst>
              <a:path w="196596" h="196596">
                <a:moveTo>
                  <a:pt x="172021" y="98298"/>
                </a:moveTo>
                <a:cubicBezTo>
                  <a:pt x="172021" y="57609"/>
                  <a:pt x="138987" y="24574"/>
                  <a:pt x="98298" y="24574"/>
                </a:cubicBezTo>
                <a:cubicBezTo>
                  <a:pt x="57609" y="24574"/>
                  <a:pt x="24574" y="57609"/>
                  <a:pt x="24574" y="98298"/>
                </a:cubicBezTo>
                <a:cubicBezTo>
                  <a:pt x="24574" y="138987"/>
                  <a:pt x="57609" y="172021"/>
                  <a:pt x="98298" y="172021"/>
                </a:cubicBezTo>
                <a:cubicBezTo>
                  <a:pt x="138987" y="172021"/>
                  <a:pt x="172021" y="138987"/>
                  <a:pt x="172021" y="98298"/>
                </a:cubicBezTo>
                <a:close/>
                <a:moveTo>
                  <a:pt x="0" y="98298"/>
                </a:moveTo>
                <a:cubicBezTo>
                  <a:pt x="0" y="44046"/>
                  <a:pt x="44046" y="0"/>
                  <a:pt x="98298" y="0"/>
                </a:cubicBezTo>
                <a:cubicBezTo>
                  <a:pt x="152550" y="0"/>
                  <a:pt x="196596" y="44046"/>
                  <a:pt x="196596" y="98298"/>
                </a:cubicBezTo>
                <a:cubicBezTo>
                  <a:pt x="196596" y="152550"/>
                  <a:pt x="152550" y="196596"/>
                  <a:pt x="98298" y="196596"/>
                </a:cubicBezTo>
                <a:cubicBezTo>
                  <a:pt x="44046" y="196596"/>
                  <a:pt x="0" y="152550"/>
                  <a:pt x="0" y="98298"/>
                </a:cubicBezTo>
                <a:close/>
                <a:moveTo>
                  <a:pt x="98298" y="129016"/>
                </a:moveTo>
                <a:cubicBezTo>
                  <a:pt x="115252" y="129016"/>
                  <a:pt x="129016" y="115252"/>
                  <a:pt x="129016" y="98298"/>
                </a:cubicBezTo>
                <a:cubicBezTo>
                  <a:pt x="129016" y="81344"/>
                  <a:pt x="115252" y="67580"/>
                  <a:pt x="98298" y="67580"/>
                </a:cubicBezTo>
                <a:cubicBezTo>
                  <a:pt x="81344" y="67580"/>
                  <a:pt x="67580" y="81344"/>
                  <a:pt x="67580" y="98298"/>
                </a:cubicBezTo>
                <a:cubicBezTo>
                  <a:pt x="67580" y="115252"/>
                  <a:pt x="81344" y="129016"/>
                  <a:pt x="98298" y="129016"/>
                </a:cubicBezTo>
                <a:close/>
                <a:moveTo>
                  <a:pt x="98298" y="43005"/>
                </a:moveTo>
                <a:cubicBezTo>
                  <a:pt x="128815" y="43005"/>
                  <a:pt x="153590" y="67781"/>
                  <a:pt x="153590" y="98298"/>
                </a:cubicBezTo>
                <a:cubicBezTo>
                  <a:pt x="153590" y="128815"/>
                  <a:pt x="128815" y="153590"/>
                  <a:pt x="98298" y="153590"/>
                </a:cubicBezTo>
                <a:cubicBezTo>
                  <a:pt x="67781" y="153590"/>
                  <a:pt x="43005" y="128815"/>
                  <a:pt x="43005" y="98298"/>
                </a:cubicBezTo>
                <a:cubicBezTo>
                  <a:pt x="43005" y="67781"/>
                  <a:pt x="67781" y="43005"/>
                  <a:pt x="98298" y="43005"/>
                </a:cubicBezTo>
                <a:close/>
                <a:moveTo>
                  <a:pt x="86011" y="98298"/>
                </a:moveTo>
                <a:cubicBezTo>
                  <a:pt x="86011" y="91516"/>
                  <a:pt x="91516" y="86011"/>
                  <a:pt x="98298" y="86011"/>
                </a:cubicBezTo>
                <a:cubicBezTo>
                  <a:pt x="105079" y="86011"/>
                  <a:pt x="110585" y="91516"/>
                  <a:pt x="110585" y="98298"/>
                </a:cubicBezTo>
                <a:cubicBezTo>
                  <a:pt x="110585" y="105079"/>
                  <a:pt x="105079" y="110585"/>
                  <a:pt x="98298" y="110585"/>
                </a:cubicBezTo>
                <a:cubicBezTo>
                  <a:pt x="91516" y="110585"/>
                  <a:pt x="86011" y="105079"/>
                  <a:pt x="86011" y="98298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2260850" y="2349430"/>
            <a:ext cx="4226806" cy="294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8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核心职责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015105" y="2742621"/>
            <a:ext cx="4472550" cy="319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48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保持源系统原貌,无损存储原始数据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605056" y="2398579"/>
            <a:ext cx="196596" cy="196596"/>
          </a:xfrm>
          <a:custGeom>
            <a:avLst/>
            <a:gdLst/>
            <a:ahLst/>
            <a:cxnLst/>
            <a:rect l="l" t="t" r="r" b="b"/>
            <a:pathLst>
              <a:path w="196596" h="196596">
                <a:moveTo>
                  <a:pt x="51376" y="13938"/>
                </a:moveTo>
                <a:cubicBezTo>
                  <a:pt x="55561" y="16857"/>
                  <a:pt x="56560" y="22616"/>
                  <a:pt x="53641" y="26763"/>
                </a:cubicBezTo>
                <a:lnTo>
                  <a:pt x="32139" y="57481"/>
                </a:lnTo>
                <a:cubicBezTo>
                  <a:pt x="30564" y="59708"/>
                  <a:pt x="28107" y="61129"/>
                  <a:pt x="25381" y="61359"/>
                </a:cubicBezTo>
                <a:cubicBezTo>
                  <a:pt x="22655" y="61590"/>
                  <a:pt x="19967" y="60668"/>
                  <a:pt x="18047" y="58748"/>
                </a:cubicBezTo>
                <a:lnTo>
                  <a:pt x="2688" y="43389"/>
                </a:lnTo>
                <a:cubicBezTo>
                  <a:pt x="-883" y="39780"/>
                  <a:pt x="-883" y="33943"/>
                  <a:pt x="2688" y="30334"/>
                </a:cubicBezTo>
                <a:cubicBezTo>
                  <a:pt x="6259" y="26725"/>
                  <a:pt x="12134" y="26763"/>
                  <a:pt x="15743" y="30334"/>
                </a:cubicBezTo>
                <a:lnTo>
                  <a:pt x="23346" y="37937"/>
                </a:lnTo>
                <a:lnTo>
                  <a:pt x="38551" y="16204"/>
                </a:lnTo>
                <a:cubicBezTo>
                  <a:pt x="41469" y="12018"/>
                  <a:pt x="47229" y="11020"/>
                  <a:pt x="51376" y="13938"/>
                </a:cubicBezTo>
                <a:close/>
                <a:moveTo>
                  <a:pt x="51376" y="75374"/>
                </a:moveTo>
                <a:cubicBezTo>
                  <a:pt x="55561" y="78293"/>
                  <a:pt x="56560" y="84052"/>
                  <a:pt x="53641" y="88199"/>
                </a:cubicBezTo>
                <a:lnTo>
                  <a:pt x="32139" y="118917"/>
                </a:lnTo>
                <a:cubicBezTo>
                  <a:pt x="30564" y="121144"/>
                  <a:pt x="28107" y="122565"/>
                  <a:pt x="25381" y="122795"/>
                </a:cubicBezTo>
                <a:cubicBezTo>
                  <a:pt x="22655" y="123026"/>
                  <a:pt x="19967" y="122104"/>
                  <a:pt x="18047" y="120184"/>
                </a:cubicBezTo>
                <a:lnTo>
                  <a:pt x="2688" y="104825"/>
                </a:lnTo>
                <a:cubicBezTo>
                  <a:pt x="-922" y="101216"/>
                  <a:pt x="-922" y="95380"/>
                  <a:pt x="2688" y="91809"/>
                </a:cubicBezTo>
                <a:cubicBezTo>
                  <a:pt x="6297" y="88238"/>
                  <a:pt x="12134" y="88199"/>
                  <a:pt x="15705" y="91809"/>
                </a:cubicBezTo>
                <a:lnTo>
                  <a:pt x="23307" y="99411"/>
                </a:lnTo>
                <a:lnTo>
                  <a:pt x="38513" y="77678"/>
                </a:lnTo>
                <a:cubicBezTo>
                  <a:pt x="41431" y="73493"/>
                  <a:pt x="47191" y="72495"/>
                  <a:pt x="51338" y="75413"/>
                </a:cubicBezTo>
                <a:close/>
                <a:moveTo>
                  <a:pt x="86011" y="36862"/>
                </a:moveTo>
                <a:cubicBezTo>
                  <a:pt x="86011" y="30065"/>
                  <a:pt x="91501" y="24574"/>
                  <a:pt x="98298" y="24574"/>
                </a:cubicBezTo>
                <a:lnTo>
                  <a:pt x="184308" y="24574"/>
                </a:lnTo>
                <a:cubicBezTo>
                  <a:pt x="191105" y="24574"/>
                  <a:pt x="196596" y="30065"/>
                  <a:pt x="196596" y="36862"/>
                </a:cubicBezTo>
                <a:cubicBezTo>
                  <a:pt x="196596" y="43658"/>
                  <a:pt x="191105" y="49149"/>
                  <a:pt x="184308" y="49149"/>
                </a:cubicBezTo>
                <a:lnTo>
                  <a:pt x="98298" y="49149"/>
                </a:lnTo>
                <a:cubicBezTo>
                  <a:pt x="91501" y="49149"/>
                  <a:pt x="86011" y="43658"/>
                  <a:pt x="86011" y="36862"/>
                </a:cubicBezTo>
                <a:close/>
                <a:moveTo>
                  <a:pt x="86011" y="98298"/>
                </a:moveTo>
                <a:cubicBezTo>
                  <a:pt x="86011" y="91501"/>
                  <a:pt x="91501" y="86011"/>
                  <a:pt x="98298" y="86011"/>
                </a:cubicBezTo>
                <a:lnTo>
                  <a:pt x="184308" y="86011"/>
                </a:lnTo>
                <a:cubicBezTo>
                  <a:pt x="191105" y="86011"/>
                  <a:pt x="196596" y="91501"/>
                  <a:pt x="196596" y="98298"/>
                </a:cubicBezTo>
                <a:cubicBezTo>
                  <a:pt x="196596" y="105094"/>
                  <a:pt x="191105" y="110585"/>
                  <a:pt x="184308" y="110585"/>
                </a:cubicBezTo>
                <a:lnTo>
                  <a:pt x="98298" y="110585"/>
                </a:lnTo>
                <a:cubicBezTo>
                  <a:pt x="91501" y="110585"/>
                  <a:pt x="86011" y="105094"/>
                  <a:pt x="86011" y="98298"/>
                </a:cubicBezTo>
                <a:close/>
                <a:moveTo>
                  <a:pt x="61436" y="159734"/>
                </a:moveTo>
                <a:cubicBezTo>
                  <a:pt x="61436" y="152938"/>
                  <a:pt x="66927" y="147447"/>
                  <a:pt x="73723" y="147447"/>
                </a:cubicBezTo>
                <a:lnTo>
                  <a:pt x="184308" y="147447"/>
                </a:lnTo>
                <a:cubicBezTo>
                  <a:pt x="191105" y="147447"/>
                  <a:pt x="196596" y="152938"/>
                  <a:pt x="196596" y="159734"/>
                </a:cubicBezTo>
                <a:cubicBezTo>
                  <a:pt x="196596" y="166530"/>
                  <a:pt x="191105" y="172021"/>
                  <a:pt x="184308" y="172021"/>
                </a:cubicBezTo>
                <a:lnTo>
                  <a:pt x="73723" y="172021"/>
                </a:lnTo>
                <a:cubicBezTo>
                  <a:pt x="66927" y="172021"/>
                  <a:pt x="61436" y="166530"/>
                  <a:pt x="61436" y="159734"/>
                </a:cubicBezTo>
                <a:close/>
                <a:moveTo>
                  <a:pt x="24574" y="144375"/>
                </a:moveTo>
                <a:cubicBezTo>
                  <a:pt x="33051" y="144375"/>
                  <a:pt x="39933" y="151257"/>
                  <a:pt x="39933" y="159734"/>
                </a:cubicBezTo>
                <a:cubicBezTo>
                  <a:pt x="39933" y="168211"/>
                  <a:pt x="33051" y="175093"/>
                  <a:pt x="24574" y="175093"/>
                </a:cubicBezTo>
                <a:cubicBezTo>
                  <a:pt x="16098" y="175093"/>
                  <a:pt x="9215" y="168211"/>
                  <a:pt x="9215" y="159734"/>
                </a:cubicBezTo>
                <a:cubicBezTo>
                  <a:pt x="9215" y="151257"/>
                  <a:pt x="16098" y="144375"/>
                  <a:pt x="24574" y="144375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6826226" y="2349430"/>
            <a:ext cx="4226806" cy="294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8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处理内容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80481" y="2742621"/>
            <a:ext cx="4472550" cy="319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48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数据接入、格式转换、增量采集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1170432" y="2398579"/>
            <a:ext cx="196596" cy="196596"/>
          </a:xfrm>
          <a:custGeom>
            <a:avLst/>
            <a:gdLst/>
            <a:ahLst/>
            <a:cxnLst/>
            <a:rect l="l" t="t" r="r" b="b"/>
            <a:pathLst>
              <a:path w="196596" h="196596">
                <a:moveTo>
                  <a:pt x="44810" y="12978"/>
                </a:moveTo>
                <a:cubicBezTo>
                  <a:pt x="46538" y="10636"/>
                  <a:pt x="49302" y="9215"/>
                  <a:pt x="52221" y="9215"/>
                </a:cubicBezTo>
                <a:lnTo>
                  <a:pt x="144375" y="9215"/>
                </a:lnTo>
                <a:cubicBezTo>
                  <a:pt x="147293" y="9215"/>
                  <a:pt x="150058" y="10598"/>
                  <a:pt x="151786" y="12978"/>
                </a:cubicBezTo>
                <a:lnTo>
                  <a:pt x="194791" y="71343"/>
                </a:lnTo>
                <a:cubicBezTo>
                  <a:pt x="197402" y="74875"/>
                  <a:pt x="197133" y="79752"/>
                  <a:pt x="194215" y="83016"/>
                </a:cubicBezTo>
                <a:lnTo>
                  <a:pt x="105133" y="181313"/>
                </a:lnTo>
                <a:cubicBezTo>
                  <a:pt x="103405" y="183233"/>
                  <a:pt x="100909" y="184347"/>
                  <a:pt x="98298" y="184347"/>
                </a:cubicBezTo>
                <a:cubicBezTo>
                  <a:pt x="95687" y="184347"/>
                  <a:pt x="93229" y="183233"/>
                  <a:pt x="91463" y="181313"/>
                </a:cubicBezTo>
                <a:lnTo>
                  <a:pt x="2381" y="83016"/>
                </a:lnTo>
                <a:cubicBezTo>
                  <a:pt x="-576" y="79752"/>
                  <a:pt x="-806" y="74875"/>
                  <a:pt x="1805" y="71343"/>
                </a:cubicBezTo>
                <a:lnTo>
                  <a:pt x="44810" y="12978"/>
                </a:lnTo>
                <a:close/>
                <a:moveTo>
                  <a:pt x="59593" y="28261"/>
                </a:moveTo>
                <a:cubicBezTo>
                  <a:pt x="58326" y="29221"/>
                  <a:pt x="57980" y="30948"/>
                  <a:pt x="58787" y="32292"/>
                </a:cubicBezTo>
                <a:lnTo>
                  <a:pt x="80827" y="69039"/>
                </a:lnTo>
                <a:lnTo>
                  <a:pt x="24306" y="73723"/>
                </a:lnTo>
                <a:cubicBezTo>
                  <a:pt x="22731" y="73839"/>
                  <a:pt x="21503" y="75182"/>
                  <a:pt x="21503" y="76795"/>
                </a:cubicBezTo>
                <a:cubicBezTo>
                  <a:pt x="21503" y="78408"/>
                  <a:pt x="22731" y="79713"/>
                  <a:pt x="24306" y="79867"/>
                </a:cubicBezTo>
                <a:lnTo>
                  <a:pt x="98029" y="86011"/>
                </a:lnTo>
                <a:cubicBezTo>
                  <a:pt x="98183" y="86011"/>
                  <a:pt x="98375" y="86011"/>
                  <a:pt x="98528" y="86011"/>
                </a:cubicBezTo>
                <a:lnTo>
                  <a:pt x="172252" y="79867"/>
                </a:lnTo>
                <a:cubicBezTo>
                  <a:pt x="173826" y="79752"/>
                  <a:pt x="175055" y="78408"/>
                  <a:pt x="175055" y="76795"/>
                </a:cubicBezTo>
                <a:cubicBezTo>
                  <a:pt x="175055" y="75182"/>
                  <a:pt x="173826" y="73877"/>
                  <a:pt x="172252" y="73723"/>
                </a:cubicBezTo>
                <a:lnTo>
                  <a:pt x="115730" y="69000"/>
                </a:lnTo>
                <a:lnTo>
                  <a:pt x="137771" y="32292"/>
                </a:lnTo>
                <a:cubicBezTo>
                  <a:pt x="138577" y="30948"/>
                  <a:pt x="138231" y="29182"/>
                  <a:pt x="136964" y="28261"/>
                </a:cubicBezTo>
                <a:cubicBezTo>
                  <a:pt x="135697" y="27339"/>
                  <a:pt x="133931" y="27493"/>
                  <a:pt x="132856" y="28645"/>
                </a:cubicBezTo>
                <a:lnTo>
                  <a:pt x="98298" y="66121"/>
                </a:lnTo>
                <a:lnTo>
                  <a:pt x="63702" y="28645"/>
                </a:lnTo>
                <a:cubicBezTo>
                  <a:pt x="62626" y="27493"/>
                  <a:pt x="60860" y="27339"/>
                  <a:pt x="59593" y="28261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11391602" y="2349430"/>
            <a:ext cx="4226806" cy="294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8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价值定位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145858" y="2742621"/>
            <a:ext cx="4472550" cy="319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48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数据血缘追溯,问题定位的源头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16063" y="3455280"/>
            <a:ext cx="15248447" cy="1744786"/>
          </a:xfrm>
          <a:custGeom>
            <a:avLst/>
            <a:gdLst/>
            <a:ahLst/>
            <a:cxnLst/>
            <a:rect l="l" t="t" r="r" b="b"/>
            <a:pathLst>
              <a:path w="15248447" h="1744786">
                <a:moveTo>
                  <a:pt x="49149" y="0"/>
                </a:moveTo>
                <a:lnTo>
                  <a:pt x="15150146" y="0"/>
                </a:lnTo>
                <a:cubicBezTo>
                  <a:pt x="15204436" y="0"/>
                  <a:pt x="15248447" y="44011"/>
                  <a:pt x="15248447" y="98301"/>
                </a:cubicBezTo>
                <a:lnTo>
                  <a:pt x="15248447" y="1646485"/>
                </a:lnTo>
                <a:cubicBezTo>
                  <a:pt x="15248447" y="1700775"/>
                  <a:pt x="15204436" y="1744786"/>
                  <a:pt x="15150146" y="1744786"/>
                </a:cubicBezTo>
                <a:lnTo>
                  <a:pt x="49149" y="1744786"/>
                </a:lnTo>
                <a:cubicBezTo>
                  <a:pt x="22005" y="1744786"/>
                  <a:pt x="0" y="1722781"/>
                  <a:pt x="0" y="1695637"/>
                </a:cubicBezTo>
                <a:lnTo>
                  <a:pt x="0" y="49149"/>
                </a:lnTo>
                <a:cubicBezTo>
                  <a:pt x="0" y="22023"/>
                  <a:pt x="22023" y="0"/>
                  <a:pt x="49149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516063" y="3455280"/>
            <a:ext cx="49149" cy="1744786"/>
          </a:xfrm>
          <a:custGeom>
            <a:avLst/>
            <a:gdLst/>
            <a:ahLst/>
            <a:cxnLst/>
            <a:rect l="l" t="t" r="r" b="b"/>
            <a:pathLst>
              <a:path w="49149" h="1744786">
                <a:moveTo>
                  <a:pt x="49149" y="0"/>
                </a:moveTo>
                <a:lnTo>
                  <a:pt x="49149" y="0"/>
                </a:lnTo>
                <a:lnTo>
                  <a:pt x="49149" y="1744786"/>
                </a:lnTo>
                <a:lnTo>
                  <a:pt x="49149" y="1744786"/>
                </a:lnTo>
                <a:cubicBezTo>
                  <a:pt x="22005" y="1744786"/>
                  <a:pt x="0" y="1722781"/>
                  <a:pt x="0" y="1695637"/>
                </a:cubicBezTo>
                <a:lnTo>
                  <a:pt x="0" y="49149"/>
                </a:lnTo>
                <a:cubicBezTo>
                  <a:pt x="0" y="22023"/>
                  <a:pt x="22023" y="0"/>
                  <a:pt x="49149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786382" y="3836184"/>
            <a:ext cx="982978" cy="982978"/>
          </a:xfrm>
          <a:custGeom>
            <a:avLst/>
            <a:gdLst/>
            <a:ahLst/>
            <a:cxnLst/>
            <a:rect l="l" t="t" r="r" b="b"/>
            <a:pathLst>
              <a:path w="982978" h="982978">
                <a:moveTo>
                  <a:pt x="49149" y="0"/>
                </a:moveTo>
                <a:lnTo>
                  <a:pt x="933829" y="0"/>
                </a:lnTo>
                <a:cubicBezTo>
                  <a:pt x="960973" y="0"/>
                  <a:pt x="982978" y="22005"/>
                  <a:pt x="982978" y="49149"/>
                </a:cubicBezTo>
                <a:lnTo>
                  <a:pt x="982978" y="933829"/>
                </a:lnTo>
                <a:cubicBezTo>
                  <a:pt x="982978" y="960973"/>
                  <a:pt x="960973" y="982978"/>
                  <a:pt x="933829" y="982978"/>
                </a:cubicBezTo>
                <a:lnTo>
                  <a:pt x="49149" y="982978"/>
                </a:lnTo>
                <a:cubicBezTo>
                  <a:pt x="22005" y="982978"/>
                  <a:pt x="0" y="960973"/>
                  <a:pt x="0" y="933829"/>
                </a:cubicBezTo>
                <a:lnTo>
                  <a:pt x="0" y="49149"/>
                </a:lnTo>
                <a:cubicBezTo>
                  <a:pt x="0" y="22023"/>
                  <a:pt x="22023" y="0"/>
                  <a:pt x="49149" y="0"/>
                </a:cubicBezTo>
                <a:close/>
              </a:path>
            </a:pathLst>
          </a:custGeom>
          <a:solidFill>
            <a:srgbClr val="4A5568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839947" y="4106503"/>
            <a:ext cx="1056701" cy="442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902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DWD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015105" y="3701025"/>
            <a:ext cx="13651108" cy="393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22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数据仓库明细层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2039680" y="4290812"/>
            <a:ext cx="196596" cy="196596"/>
          </a:xfrm>
          <a:custGeom>
            <a:avLst/>
            <a:gdLst/>
            <a:ahLst/>
            <a:cxnLst/>
            <a:rect l="l" t="t" r="r" b="b"/>
            <a:pathLst>
              <a:path w="196596" h="196596">
                <a:moveTo>
                  <a:pt x="172021" y="98298"/>
                </a:moveTo>
                <a:cubicBezTo>
                  <a:pt x="172021" y="57609"/>
                  <a:pt x="138987" y="24574"/>
                  <a:pt x="98298" y="24574"/>
                </a:cubicBezTo>
                <a:cubicBezTo>
                  <a:pt x="57609" y="24574"/>
                  <a:pt x="24574" y="57609"/>
                  <a:pt x="24574" y="98298"/>
                </a:cubicBezTo>
                <a:cubicBezTo>
                  <a:pt x="24574" y="138987"/>
                  <a:pt x="57609" y="172021"/>
                  <a:pt x="98298" y="172021"/>
                </a:cubicBezTo>
                <a:cubicBezTo>
                  <a:pt x="138987" y="172021"/>
                  <a:pt x="172021" y="138987"/>
                  <a:pt x="172021" y="98298"/>
                </a:cubicBezTo>
                <a:close/>
                <a:moveTo>
                  <a:pt x="0" y="98298"/>
                </a:moveTo>
                <a:cubicBezTo>
                  <a:pt x="0" y="44046"/>
                  <a:pt x="44046" y="0"/>
                  <a:pt x="98298" y="0"/>
                </a:cubicBezTo>
                <a:cubicBezTo>
                  <a:pt x="152550" y="0"/>
                  <a:pt x="196596" y="44046"/>
                  <a:pt x="196596" y="98298"/>
                </a:cubicBezTo>
                <a:cubicBezTo>
                  <a:pt x="196596" y="152550"/>
                  <a:pt x="152550" y="196596"/>
                  <a:pt x="98298" y="196596"/>
                </a:cubicBezTo>
                <a:cubicBezTo>
                  <a:pt x="44046" y="196596"/>
                  <a:pt x="0" y="152550"/>
                  <a:pt x="0" y="98298"/>
                </a:cubicBezTo>
                <a:close/>
                <a:moveTo>
                  <a:pt x="98298" y="129016"/>
                </a:moveTo>
                <a:cubicBezTo>
                  <a:pt x="115252" y="129016"/>
                  <a:pt x="129016" y="115252"/>
                  <a:pt x="129016" y="98298"/>
                </a:cubicBezTo>
                <a:cubicBezTo>
                  <a:pt x="129016" y="81344"/>
                  <a:pt x="115252" y="67580"/>
                  <a:pt x="98298" y="67580"/>
                </a:cubicBezTo>
                <a:cubicBezTo>
                  <a:pt x="81344" y="67580"/>
                  <a:pt x="67580" y="81344"/>
                  <a:pt x="67580" y="98298"/>
                </a:cubicBezTo>
                <a:cubicBezTo>
                  <a:pt x="67580" y="115252"/>
                  <a:pt x="81344" y="129016"/>
                  <a:pt x="98298" y="129016"/>
                </a:cubicBezTo>
                <a:close/>
                <a:moveTo>
                  <a:pt x="98298" y="43005"/>
                </a:moveTo>
                <a:cubicBezTo>
                  <a:pt x="128815" y="43005"/>
                  <a:pt x="153590" y="67781"/>
                  <a:pt x="153590" y="98298"/>
                </a:cubicBezTo>
                <a:cubicBezTo>
                  <a:pt x="153590" y="128815"/>
                  <a:pt x="128815" y="153590"/>
                  <a:pt x="98298" y="153590"/>
                </a:cubicBezTo>
                <a:cubicBezTo>
                  <a:pt x="67781" y="153590"/>
                  <a:pt x="43005" y="128815"/>
                  <a:pt x="43005" y="98298"/>
                </a:cubicBezTo>
                <a:cubicBezTo>
                  <a:pt x="43005" y="67781"/>
                  <a:pt x="67781" y="43005"/>
                  <a:pt x="98298" y="43005"/>
                </a:cubicBezTo>
                <a:close/>
                <a:moveTo>
                  <a:pt x="86011" y="98298"/>
                </a:moveTo>
                <a:cubicBezTo>
                  <a:pt x="86011" y="91516"/>
                  <a:pt x="91516" y="86011"/>
                  <a:pt x="98298" y="86011"/>
                </a:cubicBezTo>
                <a:cubicBezTo>
                  <a:pt x="105079" y="86011"/>
                  <a:pt x="110585" y="91516"/>
                  <a:pt x="110585" y="98298"/>
                </a:cubicBezTo>
                <a:cubicBezTo>
                  <a:pt x="110585" y="105079"/>
                  <a:pt x="105079" y="110585"/>
                  <a:pt x="98298" y="110585"/>
                </a:cubicBezTo>
                <a:cubicBezTo>
                  <a:pt x="91516" y="110585"/>
                  <a:pt x="86011" y="105079"/>
                  <a:pt x="86011" y="98298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2260850" y="4241663"/>
            <a:ext cx="4226806" cy="294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8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核心职责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015105" y="4634854"/>
            <a:ext cx="4472550" cy="319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48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数据清洗、标准化、维度建模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605056" y="4290812"/>
            <a:ext cx="196596" cy="196596"/>
          </a:xfrm>
          <a:custGeom>
            <a:avLst/>
            <a:gdLst/>
            <a:ahLst/>
            <a:cxnLst/>
            <a:rect l="l" t="t" r="r" b="b"/>
            <a:pathLst>
              <a:path w="196596" h="196596">
                <a:moveTo>
                  <a:pt x="51376" y="13938"/>
                </a:moveTo>
                <a:cubicBezTo>
                  <a:pt x="55561" y="16857"/>
                  <a:pt x="56560" y="22616"/>
                  <a:pt x="53641" y="26763"/>
                </a:cubicBezTo>
                <a:lnTo>
                  <a:pt x="32139" y="57481"/>
                </a:lnTo>
                <a:cubicBezTo>
                  <a:pt x="30564" y="59708"/>
                  <a:pt x="28107" y="61129"/>
                  <a:pt x="25381" y="61359"/>
                </a:cubicBezTo>
                <a:cubicBezTo>
                  <a:pt x="22655" y="61590"/>
                  <a:pt x="19967" y="60668"/>
                  <a:pt x="18047" y="58748"/>
                </a:cubicBezTo>
                <a:lnTo>
                  <a:pt x="2688" y="43389"/>
                </a:lnTo>
                <a:cubicBezTo>
                  <a:pt x="-883" y="39780"/>
                  <a:pt x="-883" y="33943"/>
                  <a:pt x="2688" y="30334"/>
                </a:cubicBezTo>
                <a:cubicBezTo>
                  <a:pt x="6259" y="26725"/>
                  <a:pt x="12134" y="26763"/>
                  <a:pt x="15743" y="30334"/>
                </a:cubicBezTo>
                <a:lnTo>
                  <a:pt x="23346" y="37937"/>
                </a:lnTo>
                <a:lnTo>
                  <a:pt x="38551" y="16204"/>
                </a:lnTo>
                <a:cubicBezTo>
                  <a:pt x="41469" y="12018"/>
                  <a:pt x="47229" y="11020"/>
                  <a:pt x="51376" y="13938"/>
                </a:cubicBezTo>
                <a:close/>
                <a:moveTo>
                  <a:pt x="51376" y="75374"/>
                </a:moveTo>
                <a:cubicBezTo>
                  <a:pt x="55561" y="78293"/>
                  <a:pt x="56560" y="84052"/>
                  <a:pt x="53641" y="88199"/>
                </a:cubicBezTo>
                <a:lnTo>
                  <a:pt x="32139" y="118917"/>
                </a:lnTo>
                <a:cubicBezTo>
                  <a:pt x="30564" y="121144"/>
                  <a:pt x="28107" y="122565"/>
                  <a:pt x="25381" y="122795"/>
                </a:cubicBezTo>
                <a:cubicBezTo>
                  <a:pt x="22655" y="123026"/>
                  <a:pt x="19967" y="122104"/>
                  <a:pt x="18047" y="120184"/>
                </a:cubicBezTo>
                <a:lnTo>
                  <a:pt x="2688" y="104825"/>
                </a:lnTo>
                <a:cubicBezTo>
                  <a:pt x="-922" y="101216"/>
                  <a:pt x="-922" y="95380"/>
                  <a:pt x="2688" y="91809"/>
                </a:cubicBezTo>
                <a:cubicBezTo>
                  <a:pt x="6297" y="88238"/>
                  <a:pt x="12134" y="88199"/>
                  <a:pt x="15705" y="91809"/>
                </a:cubicBezTo>
                <a:lnTo>
                  <a:pt x="23307" y="99411"/>
                </a:lnTo>
                <a:lnTo>
                  <a:pt x="38513" y="77678"/>
                </a:lnTo>
                <a:cubicBezTo>
                  <a:pt x="41431" y="73493"/>
                  <a:pt x="47191" y="72495"/>
                  <a:pt x="51338" y="75413"/>
                </a:cubicBezTo>
                <a:close/>
                <a:moveTo>
                  <a:pt x="86011" y="36862"/>
                </a:moveTo>
                <a:cubicBezTo>
                  <a:pt x="86011" y="30065"/>
                  <a:pt x="91501" y="24574"/>
                  <a:pt x="98298" y="24574"/>
                </a:cubicBezTo>
                <a:lnTo>
                  <a:pt x="184308" y="24574"/>
                </a:lnTo>
                <a:cubicBezTo>
                  <a:pt x="191105" y="24574"/>
                  <a:pt x="196596" y="30065"/>
                  <a:pt x="196596" y="36862"/>
                </a:cubicBezTo>
                <a:cubicBezTo>
                  <a:pt x="196596" y="43658"/>
                  <a:pt x="191105" y="49149"/>
                  <a:pt x="184308" y="49149"/>
                </a:cubicBezTo>
                <a:lnTo>
                  <a:pt x="98298" y="49149"/>
                </a:lnTo>
                <a:cubicBezTo>
                  <a:pt x="91501" y="49149"/>
                  <a:pt x="86011" y="43658"/>
                  <a:pt x="86011" y="36862"/>
                </a:cubicBezTo>
                <a:close/>
                <a:moveTo>
                  <a:pt x="86011" y="98298"/>
                </a:moveTo>
                <a:cubicBezTo>
                  <a:pt x="86011" y="91501"/>
                  <a:pt x="91501" y="86011"/>
                  <a:pt x="98298" y="86011"/>
                </a:cubicBezTo>
                <a:lnTo>
                  <a:pt x="184308" y="86011"/>
                </a:lnTo>
                <a:cubicBezTo>
                  <a:pt x="191105" y="86011"/>
                  <a:pt x="196596" y="91501"/>
                  <a:pt x="196596" y="98298"/>
                </a:cubicBezTo>
                <a:cubicBezTo>
                  <a:pt x="196596" y="105094"/>
                  <a:pt x="191105" y="110585"/>
                  <a:pt x="184308" y="110585"/>
                </a:cubicBezTo>
                <a:lnTo>
                  <a:pt x="98298" y="110585"/>
                </a:lnTo>
                <a:cubicBezTo>
                  <a:pt x="91501" y="110585"/>
                  <a:pt x="86011" y="105094"/>
                  <a:pt x="86011" y="98298"/>
                </a:cubicBezTo>
                <a:close/>
                <a:moveTo>
                  <a:pt x="61436" y="159734"/>
                </a:moveTo>
                <a:cubicBezTo>
                  <a:pt x="61436" y="152938"/>
                  <a:pt x="66927" y="147447"/>
                  <a:pt x="73723" y="147447"/>
                </a:cubicBezTo>
                <a:lnTo>
                  <a:pt x="184308" y="147447"/>
                </a:lnTo>
                <a:cubicBezTo>
                  <a:pt x="191105" y="147447"/>
                  <a:pt x="196596" y="152938"/>
                  <a:pt x="196596" y="159734"/>
                </a:cubicBezTo>
                <a:cubicBezTo>
                  <a:pt x="196596" y="166530"/>
                  <a:pt x="191105" y="172021"/>
                  <a:pt x="184308" y="172021"/>
                </a:cubicBezTo>
                <a:lnTo>
                  <a:pt x="73723" y="172021"/>
                </a:lnTo>
                <a:cubicBezTo>
                  <a:pt x="66927" y="172021"/>
                  <a:pt x="61436" y="166530"/>
                  <a:pt x="61436" y="159734"/>
                </a:cubicBezTo>
                <a:close/>
                <a:moveTo>
                  <a:pt x="24574" y="144375"/>
                </a:moveTo>
                <a:cubicBezTo>
                  <a:pt x="33051" y="144375"/>
                  <a:pt x="39933" y="151257"/>
                  <a:pt x="39933" y="159734"/>
                </a:cubicBezTo>
                <a:cubicBezTo>
                  <a:pt x="39933" y="168211"/>
                  <a:pt x="33051" y="175093"/>
                  <a:pt x="24574" y="175093"/>
                </a:cubicBezTo>
                <a:cubicBezTo>
                  <a:pt x="16098" y="175093"/>
                  <a:pt x="9215" y="168211"/>
                  <a:pt x="9215" y="159734"/>
                </a:cubicBezTo>
                <a:cubicBezTo>
                  <a:pt x="9215" y="151257"/>
                  <a:pt x="16098" y="144375"/>
                  <a:pt x="24574" y="144375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6826226" y="4241663"/>
            <a:ext cx="4226806" cy="294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8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处理内容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580481" y="4634854"/>
            <a:ext cx="4472550" cy="319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48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ETL清洗、数据字典映射、去重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1170432" y="4290812"/>
            <a:ext cx="196596" cy="196596"/>
          </a:xfrm>
          <a:custGeom>
            <a:avLst/>
            <a:gdLst/>
            <a:ahLst/>
            <a:cxnLst/>
            <a:rect l="l" t="t" r="r" b="b"/>
            <a:pathLst>
              <a:path w="196596" h="196596">
                <a:moveTo>
                  <a:pt x="44810" y="12978"/>
                </a:moveTo>
                <a:cubicBezTo>
                  <a:pt x="46538" y="10636"/>
                  <a:pt x="49302" y="9215"/>
                  <a:pt x="52221" y="9215"/>
                </a:cubicBezTo>
                <a:lnTo>
                  <a:pt x="144375" y="9215"/>
                </a:lnTo>
                <a:cubicBezTo>
                  <a:pt x="147293" y="9215"/>
                  <a:pt x="150058" y="10598"/>
                  <a:pt x="151786" y="12978"/>
                </a:cubicBezTo>
                <a:lnTo>
                  <a:pt x="194791" y="71343"/>
                </a:lnTo>
                <a:cubicBezTo>
                  <a:pt x="197402" y="74875"/>
                  <a:pt x="197133" y="79752"/>
                  <a:pt x="194215" y="83016"/>
                </a:cubicBezTo>
                <a:lnTo>
                  <a:pt x="105133" y="181313"/>
                </a:lnTo>
                <a:cubicBezTo>
                  <a:pt x="103405" y="183233"/>
                  <a:pt x="100909" y="184347"/>
                  <a:pt x="98298" y="184347"/>
                </a:cubicBezTo>
                <a:cubicBezTo>
                  <a:pt x="95687" y="184347"/>
                  <a:pt x="93229" y="183233"/>
                  <a:pt x="91463" y="181313"/>
                </a:cubicBezTo>
                <a:lnTo>
                  <a:pt x="2381" y="83016"/>
                </a:lnTo>
                <a:cubicBezTo>
                  <a:pt x="-576" y="79752"/>
                  <a:pt x="-806" y="74875"/>
                  <a:pt x="1805" y="71343"/>
                </a:cubicBezTo>
                <a:lnTo>
                  <a:pt x="44810" y="12978"/>
                </a:lnTo>
                <a:close/>
                <a:moveTo>
                  <a:pt x="59593" y="28261"/>
                </a:moveTo>
                <a:cubicBezTo>
                  <a:pt x="58326" y="29221"/>
                  <a:pt x="57980" y="30948"/>
                  <a:pt x="58787" y="32292"/>
                </a:cubicBezTo>
                <a:lnTo>
                  <a:pt x="80827" y="69039"/>
                </a:lnTo>
                <a:lnTo>
                  <a:pt x="24306" y="73723"/>
                </a:lnTo>
                <a:cubicBezTo>
                  <a:pt x="22731" y="73839"/>
                  <a:pt x="21503" y="75182"/>
                  <a:pt x="21503" y="76795"/>
                </a:cubicBezTo>
                <a:cubicBezTo>
                  <a:pt x="21503" y="78408"/>
                  <a:pt x="22731" y="79713"/>
                  <a:pt x="24306" y="79867"/>
                </a:cubicBezTo>
                <a:lnTo>
                  <a:pt x="98029" y="86011"/>
                </a:lnTo>
                <a:cubicBezTo>
                  <a:pt x="98183" y="86011"/>
                  <a:pt x="98375" y="86011"/>
                  <a:pt x="98528" y="86011"/>
                </a:cubicBezTo>
                <a:lnTo>
                  <a:pt x="172252" y="79867"/>
                </a:lnTo>
                <a:cubicBezTo>
                  <a:pt x="173826" y="79752"/>
                  <a:pt x="175055" y="78408"/>
                  <a:pt x="175055" y="76795"/>
                </a:cubicBezTo>
                <a:cubicBezTo>
                  <a:pt x="175055" y="75182"/>
                  <a:pt x="173826" y="73877"/>
                  <a:pt x="172252" y="73723"/>
                </a:cubicBezTo>
                <a:lnTo>
                  <a:pt x="115730" y="69000"/>
                </a:lnTo>
                <a:lnTo>
                  <a:pt x="137771" y="32292"/>
                </a:lnTo>
                <a:cubicBezTo>
                  <a:pt x="138577" y="30948"/>
                  <a:pt x="138231" y="29182"/>
                  <a:pt x="136964" y="28261"/>
                </a:cubicBezTo>
                <a:cubicBezTo>
                  <a:pt x="135697" y="27339"/>
                  <a:pt x="133931" y="27493"/>
                  <a:pt x="132856" y="28645"/>
                </a:cubicBezTo>
                <a:lnTo>
                  <a:pt x="98298" y="66121"/>
                </a:lnTo>
                <a:lnTo>
                  <a:pt x="63702" y="28645"/>
                </a:lnTo>
                <a:cubicBezTo>
                  <a:pt x="62626" y="27493"/>
                  <a:pt x="60860" y="27339"/>
                  <a:pt x="59593" y="28261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11391602" y="4241663"/>
            <a:ext cx="4226806" cy="294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8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价值定位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145858" y="4634854"/>
            <a:ext cx="4472550" cy="319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48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统一口径,消除源系统差异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16063" y="5347513"/>
            <a:ext cx="15248447" cy="1744786"/>
          </a:xfrm>
          <a:custGeom>
            <a:avLst/>
            <a:gdLst/>
            <a:ahLst/>
            <a:cxnLst/>
            <a:rect l="l" t="t" r="r" b="b"/>
            <a:pathLst>
              <a:path w="15248447" h="1744786">
                <a:moveTo>
                  <a:pt x="49149" y="0"/>
                </a:moveTo>
                <a:lnTo>
                  <a:pt x="15150146" y="0"/>
                </a:lnTo>
                <a:cubicBezTo>
                  <a:pt x="15204436" y="0"/>
                  <a:pt x="15248447" y="44011"/>
                  <a:pt x="15248447" y="98301"/>
                </a:cubicBezTo>
                <a:lnTo>
                  <a:pt x="15248447" y="1646485"/>
                </a:lnTo>
                <a:cubicBezTo>
                  <a:pt x="15248447" y="1700775"/>
                  <a:pt x="15204436" y="1744786"/>
                  <a:pt x="15150146" y="1744786"/>
                </a:cubicBezTo>
                <a:lnTo>
                  <a:pt x="49149" y="1744786"/>
                </a:lnTo>
                <a:cubicBezTo>
                  <a:pt x="22005" y="1744786"/>
                  <a:pt x="0" y="1722781"/>
                  <a:pt x="0" y="1695637"/>
                </a:cubicBezTo>
                <a:lnTo>
                  <a:pt x="0" y="49149"/>
                </a:lnTo>
                <a:cubicBezTo>
                  <a:pt x="0" y="22023"/>
                  <a:pt x="22023" y="0"/>
                  <a:pt x="49149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516063" y="5347513"/>
            <a:ext cx="49149" cy="1744786"/>
          </a:xfrm>
          <a:custGeom>
            <a:avLst/>
            <a:gdLst/>
            <a:ahLst/>
            <a:cxnLst/>
            <a:rect l="l" t="t" r="r" b="b"/>
            <a:pathLst>
              <a:path w="49149" h="1744786">
                <a:moveTo>
                  <a:pt x="49149" y="0"/>
                </a:moveTo>
                <a:lnTo>
                  <a:pt x="49149" y="0"/>
                </a:lnTo>
                <a:lnTo>
                  <a:pt x="49149" y="1744786"/>
                </a:lnTo>
                <a:lnTo>
                  <a:pt x="49149" y="1744786"/>
                </a:lnTo>
                <a:cubicBezTo>
                  <a:pt x="22005" y="1744786"/>
                  <a:pt x="0" y="1722781"/>
                  <a:pt x="0" y="1695637"/>
                </a:cubicBezTo>
                <a:lnTo>
                  <a:pt x="0" y="49149"/>
                </a:lnTo>
                <a:cubicBezTo>
                  <a:pt x="0" y="22023"/>
                  <a:pt x="22023" y="0"/>
                  <a:pt x="49149" y="0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786382" y="5728417"/>
            <a:ext cx="982978" cy="982978"/>
          </a:xfrm>
          <a:custGeom>
            <a:avLst/>
            <a:gdLst/>
            <a:ahLst/>
            <a:cxnLst/>
            <a:rect l="l" t="t" r="r" b="b"/>
            <a:pathLst>
              <a:path w="982978" h="982978">
                <a:moveTo>
                  <a:pt x="49149" y="0"/>
                </a:moveTo>
                <a:lnTo>
                  <a:pt x="933829" y="0"/>
                </a:lnTo>
                <a:cubicBezTo>
                  <a:pt x="960973" y="0"/>
                  <a:pt x="982978" y="22005"/>
                  <a:pt x="982978" y="49149"/>
                </a:cubicBezTo>
                <a:lnTo>
                  <a:pt x="982978" y="933829"/>
                </a:lnTo>
                <a:cubicBezTo>
                  <a:pt x="982978" y="960973"/>
                  <a:pt x="960973" y="982978"/>
                  <a:pt x="933829" y="982978"/>
                </a:cubicBezTo>
                <a:lnTo>
                  <a:pt x="49149" y="982978"/>
                </a:lnTo>
                <a:cubicBezTo>
                  <a:pt x="22005" y="982978"/>
                  <a:pt x="0" y="960973"/>
                  <a:pt x="0" y="933829"/>
                </a:cubicBezTo>
                <a:lnTo>
                  <a:pt x="0" y="49149"/>
                </a:lnTo>
                <a:cubicBezTo>
                  <a:pt x="0" y="22023"/>
                  <a:pt x="22023" y="0"/>
                  <a:pt x="49149" y="0"/>
                </a:cubicBezTo>
                <a:close/>
              </a:path>
            </a:pathLst>
          </a:custGeom>
          <a:solidFill>
            <a:srgbClr val="D69E2E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855018" y="5998736"/>
            <a:ext cx="1032127" cy="442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902" b="1" dirty="0">
                <a:solidFill>
                  <a:srgbClr val="D69E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DWS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2015105" y="5593258"/>
            <a:ext cx="13651108" cy="393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22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数据仓库服务层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2039680" y="6183045"/>
            <a:ext cx="196596" cy="196596"/>
          </a:xfrm>
          <a:custGeom>
            <a:avLst/>
            <a:gdLst/>
            <a:ahLst/>
            <a:cxnLst/>
            <a:rect l="l" t="t" r="r" b="b"/>
            <a:pathLst>
              <a:path w="196596" h="196596">
                <a:moveTo>
                  <a:pt x="172021" y="98298"/>
                </a:moveTo>
                <a:cubicBezTo>
                  <a:pt x="172021" y="57609"/>
                  <a:pt x="138987" y="24574"/>
                  <a:pt x="98298" y="24574"/>
                </a:cubicBezTo>
                <a:cubicBezTo>
                  <a:pt x="57609" y="24574"/>
                  <a:pt x="24574" y="57609"/>
                  <a:pt x="24574" y="98298"/>
                </a:cubicBezTo>
                <a:cubicBezTo>
                  <a:pt x="24574" y="138987"/>
                  <a:pt x="57609" y="172021"/>
                  <a:pt x="98298" y="172021"/>
                </a:cubicBezTo>
                <a:cubicBezTo>
                  <a:pt x="138987" y="172021"/>
                  <a:pt x="172021" y="138987"/>
                  <a:pt x="172021" y="98298"/>
                </a:cubicBezTo>
                <a:close/>
                <a:moveTo>
                  <a:pt x="0" y="98298"/>
                </a:moveTo>
                <a:cubicBezTo>
                  <a:pt x="0" y="44046"/>
                  <a:pt x="44046" y="0"/>
                  <a:pt x="98298" y="0"/>
                </a:cubicBezTo>
                <a:cubicBezTo>
                  <a:pt x="152550" y="0"/>
                  <a:pt x="196596" y="44046"/>
                  <a:pt x="196596" y="98298"/>
                </a:cubicBezTo>
                <a:cubicBezTo>
                  <a:pt x="196596" y="152550"/>
                  <a:pt x="152550" y="196596"/>
                  <a:pt x="98298" y="196596"/>
                </a:cubicBezTo>
                <a:cubicBezTo>
                  <a:pt x="44046" y="196596"/>
                  <a:pt x="0" y="152550"/>
                  <a:pt x="0" y="98298"/>
                </a:cubicBezTo>
                <a:close/>
                <a:moveTo>
                  <a:pt x="98298" y="129016"/>
                </a:moveTo>
                <a:cubicBezTo>
                  <a:pt x="115252" y="129016"/>
                  <a:pt x="129016" y="115252"/>
                  <a:pt x="129016" y="98298"/>
                </a:cubicBezTo>
                <a:cubicBezTo>
                  <a:pt x="129016" y="81344"/>
                  <a:pt x="115252" y="67580"/>
                  <a:pt x="98298" y="67580"/>
                </a:cubicBezTo>
                <a:cubicBezTo>
                  <a:pt x="81344" y="67580"/>
                  <a:pt x="67580" y="81344"/>
                  <a:pt x="67580" y="98298"/>
                </a:cubicBezTo>
                <a:cubicBezTo>
                  <a:pt x="67580" y="115252"/>
                  <a:pt x="81344" y="129016"/>
                  <a:pt x="98298" y="129016"/>
                </a:cubicBezTo>
                <a:close/>
                <a:moveTo>
                  <a:pt x="98298" y="43005"/>
                </a:moveTo>
                <a:cubicBezTo>
                  <a:pt x="128815" y="43005"/>
                  <a:pt x="153590" y="67781"/>
                  <a:pt x="153590" y="98298"/>
                </a:cubicBezTo>
                <a:cubicBezTo>
                  <a:pt x="153590" y="128815"/>
                  <a:pt x="128815" y="153590"/>
                  <a:pt x="98298" y="153590"/>
                </a:cubicBezTo>
                <a:cubicBezTo>
                  <a:pt x="67781" y="153590"/>
                  <a:pt x="43005" y="128815"/>
                  <a:pt x="43005" y="98298"/>
                </a:cubicBezTo>
                <a:cubicBezTo>
                  <a:pt x="43005" y="67781"/>
                  <a:pt x="67781" y="43005"/>
                  <a:pt x="98298" y="43005"/>
                </a:cubicBezTo>
                <a:close/>
                <a:moveTo>
                  <a:pt x="86011" y="98298"/>
                </a:moveTo>
                <a:cubicBezTo>
                  <a:pt x="86011" y="91516"/>
                  <a:pt x="91516" y="86011"/>
                  <a:pt x="98298" y="86011"/>
                </a:cubicBezTo>
                <a:cubicBezTo>
                  <a:pt x="105079" y="86011"/>
                  <a:pt x="110585" y="91516"/>
                  <a:pt x="110585" y="98298"/>
                </a:cubicBezTo>
                <a:cubicBezTo>
                  <a:pt x="110585" y="105079"/>
                  <a:pt x="105079" y="110585"/>
                  <a:pt x="98298" y="110585"/>
                </a:cubicBezTo>
                <a:cubicBezTo>
                  <a:pt x="91516" y="110585"/>
                  <a:pt x="86011" y="105079"/>
                  <a:pt x="86011" y="98298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2260850" y="6133896"/>
            <a:ext cx="4226806" cy="294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8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核心职责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2015105" y="6527087"/>
            <a:ext cx="4472550" cy="319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48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轻度汇总、宽表构建、公共指标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605056" y="6183045"/>
            <a:ext cx="196596" cy="196596"/>
          </a:xfrm>
          <a:custGeom>
            <a:avLst/>
            <a:gdLst/>
            <a:ahLst/>
            <a:cxnLst/>
            <a:rect l="l" t="t" r="r" b="b"/>
            <a:pathLst>
              <a:path w="196596" h="196596">
                <a:moveTo>
                  <a:pt x="51376" y="13938"/>
                </a:moveTo>
                <a:cubicBezTo>
                  <a:pt x="55561" y="16857"/>
                  <a:pt x="56560" y="22616"/>
                  <a:pt x="53641" y="26763"/>
                </a:cubicBezTo>
                <a:lnTo>
                  <a:pt x="32139" y="57481"/>
                </a:lnTo>
                <a:cubicBezTo>
                  <a:pt x="30564" y="59708"/>
                  <a:pt x="28107" y="61129"/>
                  <a:pt x="25381" y="61359"/>
                </a:cubicBezTo>
                <a:cubicBezTo>
                  <a:pt x="22655" y="61590"/>
                  <a:pt x="19967" y="60668"/>
                  <a:pt x="18047" y="58748"/>
                </a:cubicBezTo>
                <a:lnTo>
                  <a:pt x="2688" y="43389"/>
                </a:lnTo>
                <a:cubicBezTo>
                  <a:pt x="-883" y="39780"/>
                  <a:pt x="-883" y="33943"/>
                  <a:pt x="2688" y="30334"/>
                </a:cubicBezTo>
                <a:cubicBezTo>
                  <a:pt x="6259" y="26725"/>
                  <a:pt x="12134" y="26763"/>
                  <a:pt x="15743" y="30334"/>
                </a:cubicBezTo>
                <a:lnTo>
                  <a:pt x="23346" y="37937"/>
                </a:lnTo>
                <a:lnTo>
                  <a:pt x="38551" y="16204"/>
                </a:lnTo>
                <a:cubicBezTo>
                  <a:pt x="41469" y="12018"/>
                  <a:pt x="47229" y="11020"/>
                  <a:pt x="51376" y="13938"/>
                </a:cubicBezTo>
                <a:close/>
                <a:moveTo>
                  <a:pt x="51376" y="75374"/>
                </a:moveTo>
                <a:cubicBezTo>
                  <a:pt x="55561" y="78293"/>
                  <a:pt x="56560" y="84052"/>
                  <a:pt x="53641" y="88199"/>
                </a:cubicBezTo>
                <a:lnTo>
                  <a:pt x="32139" y="118917"/>
                </a:lnTo>
                <a:cubicBezTo>
                  <a:pt x="30564" y="121144"/>
                  <a:pt x="28107" y="122565"/>
                  <a:pt x="25381" y="122795"/>
                </a:cubicBezTo>
                <a:cubicBezTo>
                  <a:pt x="22655" y="123026"/>
                  <a:pt x="19967" y="122104"/>
                  <a:pt x="18047" y="120184"/>
                </a:cubicBezTo>
                <a:lnTo>
                  <a:pt x="2688" y="104825"/>
                </a:lnTo>
                <a:cubicBezTo>
                  <a:pt x="-922" y="101216"/>
                  <a:pt x="-922" y="95380"/>
                  <a:pt x="2688" y="91809"/>
                </a:cubicBezTo>
                <a:cubicBezTo>
                  <a:pt x="6297" y="88238"/>
                  <a:pt x="12134" y="88199"/>
                  <a:pt x="15705" y="91809"/>
                </a:cubicBezTo>
                <a:lnTo>
                  <a:pt x="23307" y="99411"/>
                </a:lnTo>
                <a:lnTo>
                  <a:pt x="38513" y="77678"/>
                </a:lnTo>
                <a:cubicBezTo>
                  <a:pt x="41431" y="73493"/>
                  <a:pt x="47191" y="72495"/>
                  <a:pt x="51338" y="75413"/>
                </a:cubicBezTo>
                <a:close/>
                <a:moveTo>
                  <a:pt x="86011" y="36862"/>
                </a:moveTo>
                <a:cubicBezTo>
                  <a:pt x="86011" y="30065"/>
                  <a:pt x="91501" y="24574"/>
                  <a:pt x="98298" y="24574"/>
                </a:cubicBezTo>
                <a:lnTo>
                  <a:pt x="184308" y="24574"/>
                </a:lnTo>
                <a:cubicBezTo>
                  <a:pt x="191105" y="24574"/>
                  <a:pt x="196596" y="30065"/>
                  <a:pt x="196596" y="36862"/>
                </a:cubicBezTo>
                <a:cubicBezTo>
                  <a:pt x="196596" y="43658"/>
                  <a:pt x="191105" y="49149"/>
                  <a:pt x="184308" y="49149"/>
                </a:cubicBezTo>
                <a:lnTo>
                  <a:pt x="98298" y="49149"/>
                </a:lnTo>
                <a:cubicBezTo>
                  <a:pt x="91501" y="49149"/>
                  <a:pt x="86011" y="43658"/>
                  <a:pt x="86011" y="36862"/>
                </a:cubicBezTo>
                <a:close/>
                <a:moveTo>
                  <a:pt x="86011" y="98298"/>
                </a:moveTo>
                <a:cubicBezTo>
                  <a:pt x="86011" y="91501"/>
                  <a:pt x="91501" y="86011"/>
                  <a:pt x="98298" y="86011"/>
                </a:cubicBezTo>
                <a:lnTo>
                  <a:pt x="184308" y="86011"/>
                </a:lnTo>
                <a:cubicBezTo>
                  <a:pt x="191105" y="86011"/>
                  <a:pt x="196596" y="91501"/>
                  <a:pt x="196596" y="98298"/>
                </a:cubicBezTo>
                <a:cubicBezTo>
                  <a:pt x="196596" y="105094"/>
                  <a:pt x="191105" y="110585"/>
                  <a:pt x="184308" y="110585"/>
                </a:cubicBezTo>
                <a:lnTo>
                  <a:pt x="98298" y="110585"/>
                </a:lnTo>
                <a:cubicBezTo>
                  <a:pt x="91501" y="110585"/>
                  <a:pt x="86011" y="105094"/>
                  <a:pt x="86011" y="98298"/>
                </a:cubicBezTo>
                <a:close/>
                <a:moveTo>
                  <a:pt x="61436" y="159734"/>
                </a:moveTo>
                <a:cubicBezTo>
                  <a:pt x="61436" y="152938"/>
                  <a:pt x="66927" y="147447"/>
                  <a:pt x="73723" y="147447"/>
                </a:cubicBezTo>
                <a:lnTo>
                  <a:pt x="184308" y="147447"/>
                </a:lnTo>
                <a:cubicBezTo>
                  <a:pt x="191105" y="147447"/>
                  <a:pt x="196596" y="152938"/>
                  <a:pt x="196596" y="159734"/>
                </a:cubicBezTo>
                <a:cubicBezTo>
                  <a:pt x="196596" y="166530"/>
                  <a:pt x="191105" y="172021"/>
                  <a:pt x="184308" y="172021"/>
                </a:cubicBezTo>
                <a:lnTo>
                  <a:pt x="73723" y="172021"/>
                </a:lnTo>
                <a:cubicBezTo>
                  <a:pt x="66927" y="172021"/>
                  <a:pt x="61436" y="166530"/>
                  <a:pt x="61436" y="159734"/>
                </a:cubicBezTo>
                <a:close/>
                <a:moveTo>
                  <a:pt x="24574" y="144375"/>
                </a:moveTo>
                <a:cubicBezTo>
                  <a:pt x="33051" y="144375"/>
                  <a:pt x="39933" y="151257"/>
                  <a:pt x="39933" y="159734"/>
                </a:cubicBezTo>
                <a:cubicBezTo>
                  <a:pt x="39933" y="168211"/>
                  <a:pt x="33051" y="175093"/>
                  <a:pt x="24574" y="175093"/>
                </a:cubicBezTo>
                <a:cubicBezTo>
                  <a:pt x="16098" y="175093"/>
                  <a:pt x="9215" y="168211"/>
                  <a:pt x="9215" y="159734"/>
                </a:cubicBezTo>
                <a:cubicBezTo>
                  <a:pt x="9215" y="151257"/>
                  <a:pt x="16098" y="144375"/>
                  <a:pt x="24574" y="144375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6826226" y="6133896"/>
            <a:ext cx="4226806" cy="294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8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处理内容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580481" y="6527087"/>
            <a:ext cx="4472550" cy="319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48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按主题聚合、多表关联、预计算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11170432" y="6183045"/>
            <a:ext cx="196596" cy="196596"/>
          </a:xfrm>
          <a:custGeom>
            <a:avLst/>
            <a:gdLst/>
            <a:ahLst/>
            <a:cxnLst/>
            <a:rect l="l" t="t" r="r" b="b"/>
            <a:pathLst>
              <a:path w="196596" h="196596">
                <a:moveTo>
                  <a:pt x="44810" y="12978"/>
                </a:moveTo>
                <a:cubicBezTo>
                  <a:pt x="46538" y="10636"/>
                  <a:pt x="49302" y="9215"/>
                  <a:pt x="52221" y="9215"/>
                </a:cubicBezTo>
                <a:lnTo>
                  <a:pt x="144375" y="9215"/>
                </a:lnTo>
                <a:cubicBezTo>
                  <a:pt x="147293" y="9215"/>
                  <a:pt x="150058" y="10598"/>
                  <a:pt x="151786" y="12978"/>
                </a:cubicBezTo>
                <a:lnTo>
                  <a:pt x="194791" y="71343"/>
                </a:lnTo>
                <a:cubicBezTo>
                  <a:pt x="197402" y="74875"/>
                  <a:pt x="197133" y="79752"/>
                  <a:pt x="194215" y="83016"/>
                </a:cubicBezTo>
                <a:lnTo>
                  <a:pt x="105133" y="181313"/>
                </a:lnTo>
                <a:cubicBezTo>
                  <a:pt x="103405" y="183233"/>
                  <a:pt x="100909" y="184347"/>
                  <a:pt x="98298" y="184347"/>
                </a:cubicBezTo>
                <a:cubicBezTo>
                  <a:pt x="95687" y="184347"/>
                  <a:pt x="93229" y="183233"/>
                  <a:pt x="91463" y="181313"/>
                </a:cubicBezTo>
                <a:lnTo>
                  <a:pt x="2381" y="83016"/>
                </a:lnTo>
                <a:cubicBezTo>
                  <a:pt x="-576" y="79752"/>
                  <a:pt x="-806" y="74875"/>
                  <a:pt x="1805" y="71343"/>
                </a:cubicBezTo>
                <a:lnTo>
                  <a:pt x="44810" y="12978"/>
                </a:lnTo>
                <a:close/>
                <a:moveTo>
                  <a:pt x="59593" y="28261"/>
                </a:moveTo>
                <a:cubicBezTo>
                  <a:pt x="58326" y="29221"/>
                  <a:pt x="57980" y="30948"/>
                  <a:pt x="58787" y="32292"/>
                </a:cubicBezTo>
                <a:lnTo>
                  <a:pt x="80827" y="69039"/>
                </a:lnTo>
                <a:lnTo>
                  <a:pt x="24306" y="73723"/>
                </a:lnTo>
                <a:cubicBezTo>
                  <a:pt x="22731" y="73839"/>
                  <a:pt x="21503" y="75182"/>
                  <a:pt x="21503" y="76795"/>
                </a:cubicBezTo>
                <a:cubicBezTo>
                  <a:pt x="21503" y="78408"/>
                  <a:pt x="22731" y="79713"/>
                  <a:pt x="24306" y="79867"/>
                </a:cubicBezTo>
                <a:lnTo>
                  <a:pt x="98029" y="86011"/>
                </a:lnTo>
                <a:cubicBezTo>
                  <a:pt x="98183" y="86011"/>
                  <a:pt x="98375" y="86011"/>
                  <a:pt x="98528" y="86011"/>
                </a:cubicBezTo>
                <a:lnTo>
                  <a:pt x="172252" y="79867"/>
                </a:lnTo>
                <a:cubicBezTo>
                  <a:pt x="173826" y="79752"/>
                  <a:pt x="175055" y="78408"/>
                  <a:pt x="175055" y="76795"/>
                </a:cubicBezTo>
                <a:cubicBezTo>
                  <a:pt x="175055" y="75182"/>
                  <a:pt x="173826" y="73877"/>
                  <a:pt x="172252" y="73723"/>
                </a:cubicBezTo>
                <a:lnTo>
                  <a:pt x="115730" y="69000"/>
                </a:lnTo>
                <a:lnTo>
                  <a:pt x="137771" y="32292"/>
                </a:lnTo>
                <a:cubicBezTo>
                  <a:pt x="138577" y="30948"/>
                  <a:pt x="138231" y="29182"/>
                  <a:pt x="136964" y="28261"/>
                </a:cubicBezTo>
                <a:cubicBezTo>
                  <a:pt x="135697" y="27339"/>
                  <a:pt x="133931" y="27493"/>
                  <a:pt x="132856" y="28645"/>
                </a:cubicBezTo>
                <a:lnTo>
                  <a:pt x="98298" y="66121"/>
                </a:lnTo>
                <a:lnTo>
                  <a:pt x="63702" y="28645"/>
                </a:lnTo>
                <a:cubicBezTo>
                  <a:pt x="62626" y="27493"/>
                  <a:pt x="60860" y="27339"/>
                  <a:pt x="59593" y="28261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11391602" y="6133896"/>
            <a:ext cx="4226806" cy="294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8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价值定位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1145858" y="6527087"/>
            <a:ext cx="4472550" cy="319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48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沉淀公共指标,加速查询性能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516063" y="7239746"/>
            <a:ext cx="15248447" cy="1744786"/>
          </a:xfrm>
          <a:custGeom>
            <a:avLst/>
            <a:gdLst/>
            <a:ahLst/>
            <a:cxnLst/>
            <a:rect l="l" t="t" r="r" b="b"/>
            <a:pathLst>
              <a:path w="15248447" h="1744786">
                <a:moveTo>
                  <a:pt x="49149" y="0"/>
                </a:moveTo>
                <a:lnTo>
                  <a:pt x="15150146" y="0"/>
                </a:lnTo>
                <a:cubicBezTo>
                  <a:pt x="15204436" y="0"/>
                  <a:pt x="15248447" y="44011"/>
                  <a:pt x="15248447" y="98301"/>
                </a:cubicBezTo>
                <a:lnTo>
                  <a:pt x="15248447" y="1646485"/>
                </a:lnTo>
                <a:cubicBezTo>
                  <a:pt x="15248447" y="1700775"/>
                  <a:pt x="15204436" y="1744786"/>
                  <a:pt x="15150146" y="1744786"/>
                </a:cubicBezTo>
                <a:lnTo>
                  <a:pt x="49149" y="1744786"/>
                </a:lnTo>
                <a:cubicBezTo>
                  <a:pt x="22005" y="1744786"/>
                  <a:pt x="0" y="1722781"/>
                  <a:pt x="0" y="1695637"/>
                </a:cubicBezTo>
                <a:lnTo>
                  <a:pt x="0" y="49149"/>
                </a:lnTo>
                <a:cubicBezTo>
                  <a:pt x="0" y="22023"/>
                  <a:pt x="22023" y="0"/>
                  <a:pt x="49149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>
            <a:off x="516063" y="7239746"/>
            <a:ext cx="49149" cy="1744786"/>
          </a:xfrm>
          <a:custGeom>
            <a:avLst/>
            <a:gdLst/>
            <a:ahLst/>
            <a:cxnLst/>
            <a:rect l="l" t="t" r="r" b="b"/>
            <a:pathLst>
              <a:path w="49149" h="1744786">
                <a:moveTo>
                  <a:pt x="49149" y="0"/>
                </a:moveTo>
                <a:lnTo>
                  <a:pt x="49149" y="0"/>
                </a:lnTo>
                <a:lnTo>
                  <a:pt x="49149" y="1744786"/>
                </a:lnTo>
                <a:lnTo>
                  <a:pt x="49149" y="1744786"/>
                </a:lnTo>
                <a:cubicBezTo>
                  <a:pt x="22005" y="1744786"/>
                  <a:pt x="0" y="1722781"/>
                  <a:pt x="0" y="1695637"/>
                </a:cubicBezTo>
                <a:lnTo>
                  <a:pt x="0" y="49149"/>
                </a:lnTo>
                <a:cubicBezTo>
                  <a:pt x="0" y="22023"/>
                  <a:pt x="22023" y="0"/>
                  <a:pt x="49149" y="0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786382" y="7620650"/>
            <a:ext cx="982978" cy="982978"/>
          </a:xfrm>
          <a:custGeom>
            <a:avLst/>
            <a:gdLst/>
            <a:ahLst/>
            <a:cxnLst/>
            <a:rect l="l" t="t" r="r" b="b"/>
            <a:pathLst>
              <a:path w="982978" h="982978">
                <a:moveTo>
                  <a:pt x="49149" y="0"/>
                </a:moveTo>
                <a:lnTo>
                  <a:pt x="933829" y="0"/>
                </a:lnTo>
                <a:cubicBezTo>
                  <a:pt x="960973" y="0"/>
                  <a:pt x="982978" y="22005"/>
                  <a:pt x="982978" y="49149"/>
                </a:cubicBezTo>
                <a:lnTo>
                  <a:pt x="982978" y="933829"/>
                </a:lnTo>
                <a:cubicBezTo>
                  <a:pt x="982978" y="960973"/>
                  <a:pt x="960973" y="982978"/>
                  <a:pt x="933829" y="982978"/>
                </a:cubicBezTo>
                <a:lnTo>
                  <a:pt x="49149" y="982978"/>
                </a:lnTo>
                <a:cubicBezTo>
                  <a:pt x="22005" y="982978"/>
                  <a:pt x="0" y="960973"/>
                  <a:pt x="0" y="933829"/>
                </a:cubicBezTo>
                <a:lnTo>
                  <a:pt x="0" y="49149"/>
                </a:lnTo>
                <a:cubicBezTo>
                  <a:pt x="0" y="22023"/>
                  <a:pt x="22023" y="0"/>
                  <a:pt x="49149" y="0"/>
                </a:cubicBezTo>
                <a:close/>
              </a:path>
            </a:pathLst>
          </a:custGeom>
          <a:solidFill>
            <a:srgbClr val="D69E2E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913286" y="7890969"/>
            <a:ext cx="909255" cy="442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902" b="1" dirty="0">
                <a:solidFill>
                  <a:srgbClr val="D69E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ADS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2015105" y="7485491"/>
            <a:ext cx="13651108" cy="393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22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应用数据服务层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2039680" y="8075277"/>
            <a:ext cx="196596" cy="196596"/>
          </a:xfrm>
          <a:custGeom>
            <a:avLst/>
            <a:gdLst/>
            <a:ahLst/>
            <a:cxnLst/>
            <a:rect l="l" t="t" r="r" b="b"/>
            <a:pathLst>
              <a:path w="196596" h="196596">
                <a:moveTo>
                  <a:pt x="172021" y="98298"/>
                </a:moveTo>
                <a:cubicBezTo>
                  <a:pt x="172021" y="57609"/>
                  <a:pt x="138987" y="24574"/>
                  <a:pt x="98298" y="24574"/>
                </a:cubicBezTo>
                <a:cubicBezTo>
                  <a:pt x="57609" y="24574"/>
                  <a:pt x="24574" y="57609"/>
                  <a:pt x="24574" y="98298"/>
                </a:cubicBezTo>
                <a:cubicBezTo>
                  <a:pt x="24574" y="138987"/>
                  <a:pt x="57609" y="172021"/>
                  <a:pt x="98298" y="172021"/>
                </a:cubicBezTo>
                <a:cubicBezTo>
                  <a:pt x="138987" y="172021"/>
                  <a:pt x="172021" y="138987"/>
                  <a:pt x="172021" y="98298"/>
                </a:cubicBezTo>
                <a:close/>
                <a:moveTo>
                  <a:pt x="0" y="98298"/>
                </a:moveTo>
                <a:cubicBezTo>
                  <a:pt x="0" y="44046"/>
                  <a:pt x="44046" y="0"/>
                  <a:pt x="98298" y="0"/>
                </a:cubicBezTo>
                <a:cubicBezTo>
                  <a:pt x="152550" y="0"/>
                  <a:pt x="196596" y="44046"/>
                  <a:pt x="196596" y="98298"/>
                </a:cubicBezTo>
                <a:cubicBezTo>
                  <a:pt x="196596" y="152550"/>
                  <a:pt x="152550" y="196596"/>
                  <a:pt x="98298" y="196596"/>
                </a:cubicBezTo>
                <a:cubicBezTo>
                  <a:pt x="44046" y="196596"/>
                  <a:pt x="0" y="152550"/>
                  <a:pt x="0" y="98298"/>
                </a:cubicBezTo>
                <a:close/>
                <a:moveTo>
                  <a:pt x="98298" y="129016"/>
                </a:moveTo>
                <a:cubicBezTo>
                  <a:pt x="115252" y="129016"/>
                  <a:pt x="129016" y="115252"/>
                  <a:pt x="129016" y="98298"/>
                </a:cubicBezTo>
                <a:cubicBezTo>
                  <a:pt x="129016" y="81344"/>
                  <a:pt x="115252" y="67580"/>
                  <a:pt x="98298" y="67580"/>
                </a:cubicBezTo>
                <a:cubicBezTo>
                  <a:pt x="81344" y="67580"/>
                  <a:pt x="67580" y="81344"/>
                  <a:pt x="67580" y="98298"/>
                </a:cubicBezTo>
                <a:cubicBezTo>
                  <a:pt x="67580" y="115252"/>
                  <a:pt x="81344" y="129016"/>
                  <a:pt x="98298" y="129016"/>
                </a:cubicBezTo>
                <a:close/>
                <a:moveTo>
                  <a:pt x="98298" y="43005"/>
                </a:moveTo>
                <a:cubicBezTo>
                  <a:pt x="128815" y="43005"/>
                  <a:pt x="153590" y="67781"/>
                  <a:pt x="153590" y="98298"/>
                </a:cubicBezTo>
                <a:cubicBezTo>
                  <a:pt x="153590" y="128815"/>
                  <a:pt x="128815" y="153590"/>
                  <a:pt x="98298" y="153590"/>
                </a:cubicBezTo>
                <a:cubicBezTo>
                  <a:pt x="67781" y="153590"/>
                  <a:pt x="43005" y="128815"/>
                  <a:pt x="43005" y="98298"/>
                </a:cubicBezTo>
                <a:cubicBezTo>
                  <a:pt x="43005" y="67781"/>
                  <a:pt x="67781" y="43005"/>
                  <a:pt x="98298" y="43005"/>
                </a:cubicBezTo>
                <a:close/>
                <a:moveTo>
                  <a:pt x="86011" y="98298"/>
                </a:moveTo>
                <a:cubicBezTo>
                  <a:pt x="86011" y="91516"/>
                  <a:pt x="91516" y="86011"/>
                  <a:pt x="98298" y="86011"/>
                </a:cubicBezTo>
                <a:cubicBezTo>
                  <a:pt x="105079" y="86011"/>
                  <a:pt x="110585" y="91516"/>
                  <a:pt x="110585" y="98298"/>
                </a:cubicBezTo>
                <a:cubicBezTo>
                  <a:pt x="110585" y="105079"/>
                  <a:pt x="105079" y="110585"/>
                  <a:pt x="98298" y="110585"/>
                </a:cubicBezTo>
                <a:cubicBezTo>
                  <a:pt x="91516" y="110585"/>
                  <a:pt x="86011" y="105079"/>
                  <a:pt x="86011" y="98298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2260850" y="8026129"/>
            <a:ext cx="4226806" cy="294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8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核心职责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2015105" y="8419320"/>
            <a:ext cx="4472550" cy="319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48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面向应用、报表数据、业务定制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605056" y="8075277"/>
            <a:ext cx="196596" cy="196596"/>
          </a:xfrm>
          <a:custGeom>
            <a:avLst/>
            <a:gdLst/>
            <a:ahLst/>
            <a:cxnLst/>
            <a:rect l="l" t="t" r="r" b="b"/>
            <a:pathLst>
              <a:path w="196596" h="196596">
                <a:moveTo>
                  <a:pt x="51376" y="13938"/>
                </a:moveTo>
                <a:cubicBezTo>
                  <a:pt x="55561" y="16857"/>
                  <a:pt x="56560" y="22616"/>
                  <a:pt x="53641" y="26763"/>
                </a:cubicBezTo>
                <a:lnTo>
                  <a:pt x="32139" y="57481"/>
                </a:lnTo>
                <a:cubicBezTo>
                  <a:pt x="30564" y="59708"/>
                  <a:pt x="28107" y="61129"/>
                  <a:pt x="25381" y="61359"/>
                </a:cubicBezTo>
                <a:cubicBezTo>
                  <a:pt x="22655" y="61590"/>
                  <a:pt x="19967" y="60668"/>
                  <a:pt x="18047" y="58748"/>
                </a:cubicBezTo>
                <a:lnTo>
                  <a:pt x="2688" y="43389"/>
                </a:lnTo>
                <a:cubicBezTo>
                  <a:pt x="-883" y="39780"/>
                  <a:pt x="-883" y="33943"/>
                  <a:pt x="2688" y="30334"/>
                </a:cubicBezTo>
                <a:cubicBezTo>
                  <a:pt x="6259" y="26725"/>
                  <a:pt x="12134" y="26763"/>
                  <a:pt x="15743" y="30334"/>
                </a:cubicBezTo>
                <a:lnTo>
                  <a:pt x="23346" y="37937"/>
                </a:lnTo>
                <a:lnTo>
                  <a:pt x="38551" y="16204"/>
                </a:lnTo>
                <a:cubicBezTo>
                  <a:pt x="41469" y="12018"/>
                  <a:pt x="47229" y="11020"/>
                  <a:pt x="51376" y="13938"/>
                </a:cubicBezTo>
                <a:close/>
                <a:moveTo>
                  <a:pt x="51376" y="75374"/>
                </a:moveTo>
                <a:cubicBezTo>
                  <a:pt x="55561" y="78293"/>
                  <a:pt x="56560" y="84052"/>
                  <a:pt x="53641" y="88199"/>
                </a:cubicBezTo>
                <a:lnTo>
                  <a:pt x="32139" y="118917"/>
                </a:lnTo>
                <a:cubicBezTo>
                  <a:pt x="30564" y="121144"/>
                  <a:pt x="28107" y="122565"/>
                  <a:pt x="25381" y="122795"/>
                </a:cubicBezTo>
                <a:cubicBezTo>
                  <a:pt x="22655" y="123026"/>
                  <a:pt x="19967" y="122104"/>
                  <a:pt x="18047" y="120184"/>
                </a:cubicBezTo>
                <a:lnTo>
                  <a:pt x="2688" y="104825"/>
                </a:lnTo>
                <a:cubicBezTo>
                  <a:pt x="-922" y="101216"/>
                  <a:pt x="-922" y="95380"/>
                  <a:pt x="2688" y="91809"/>
                </a:cubicBezTo>
                <a:cubicBezTo>
                  <a:pt x="6297" y="88238"/>
                  <a:pt x="12134" y="88199"/>
                  <a:pt x="15705" y="91809"/>
                </a:cubicBezTo>
                <a:lnTo>
                  <a:pt x="23307" y="99411"/>
                </a:lnTo>
                <a:lnTo>
                  <a:pt x="38513" y="77678"/>
                </a:lnTo>
                <a:cubicBezTo>
                  <a:pt x="41431" y="73493"/>
                  <a:pt x="47191" y="72495"/>
                  <a:pt x="51338" y="75413"/>
                </a:cubicBezTo>
                <a:close/>
                <a:moveTo>
                  <a:pt x="86011" y="36862"/>
                </a:moveTo>
                <a:cubicBezTo>
                  <a:pt x="86011" y="30065"/>
                  <a:pt x="91501" y="24574"/>
                  <a:pt x="98298" y="24574"/>
                </a:cubicBezTo>
                <a:lnTo>
                  <a:pt x="184308" y="24574"/>
                </a:lnTo>
                <a:cubicBezTo>
                  <a:pt x="191105" y="24574"/>
                  <a:pt x="196596" y="30065"/>
                  <a:pt x="196596" y="36862"/>
                </a:cubicBezTo>
                <a:cubicBezTo>
                  <a:pt x="196596" y="43658"/>
                  <a:pt x="191105" y="49149"/>
                  <a:pt x="184308" y="49149"/>
                </a:cubicBezTo>
                <a:lnTo>
                  <a:pt x="98298" y="49149"/>
                </a:lnTo>
                <a:cubicBezTo>
                  <a:pt x="91501" y="49149"/>
                  <a:pt x="86011" y="43658"/>
                  <a:pt x="86011" y="36862"/>
                </a:cubicBezTo>
                <a:close/>
                <a:moveTo>
                  <a:pt x="86011" y="98298"/>
                </a:moveTo>
                <a:cubicBezTo>
                  <a:pt x="86011" y="91501"/>
                  <a:pt x="91501" y="86011"/>
                  <a:pt x="98298" y="86011"/>
                </a:cubicBezTo>
                <a:lnTo>
                  <a:pt x="184308" y="86011"/>
                </a:lnTo>
                <a:cubicBezTo>
                  <a:pt x="191105" y="86011"/>
                  <a:pt x="196596" y="91501"/>
                  <a:pt x="196596" y="98298"/>
                </a:cubicBezTo>
                <a:cubicBezTo>
                  <a:pt x="196596" y="105094"/>
                  <a:pt x="191105" y="110585"/>
                  <a:pt x="184308" y="110585"/>
                </a:cubicBezTo>
                <a:lnTo>
                  <a:pt x="98298" y="110585"/>
                </a:lnTo>
                <a:cubicBezTo>
                  <a:pt x="91501" y="110585"/>
                  <a:pt x="86011" y="105094"/>
                  <a:pt x="86011" y="98298"/>
                </a:cubicBezTo>
                <a:close/>
                <a:moveTo>
                  <a:pt x="61436" y="159734"/>
                </a:moveTo>
                <a:cubicBezTo>
                  <a:pt x="61436" y="152938"/>
                  <a:pt x="66927" y="147447"/>
                  <a:pt x="73723" y="147447"/>
                </a:cubicBezTo>
                <a:lnTo>
                  <a:pt x="184308" y="147447"/>
                </a:lnTo>
                <a:cubicBezTo>
                  <a:pt x="191105" y="147447"/>
                  <a:pt x="196596" y="152938"/>
                  <a:pt x="196596" y="159734"/>
                </a:cubicBezTo>
                <a:cubicBezTo>
                  <a:pt x="196596" y="166530"/>
                  <a:pt x="191105" y="172021"/>
                  <a:pt x="184308" y="172021"/>
                </a:cubicBezTo>
                <a:lnTo>
                  <a:pt x="73723" y="172021"/>
                </a:lnTo>
                <a:cubicBezTo>
                  <a:pt x="66927" y="172021"/>
                  <a:pt x="61436" y="166530"/>
                  <a:pt x="61436" y="159734"/>
                </a:cubicBezTo>
                <a:close/>
                <a:moveTo>
                  <a:pt x="24574" y="144375"/>
                </a:moveTo>
                <a:cubicBezTo>
                  <a:pt x="33051" y="144375"/>
                  <a:pt x="39933" y="151257"/>
                  <a:pt x="39933" y="159734"/>
                </a:cubicBezTo>
                <a:cubicBezTo>
                  <a:pt x="39933" y="168211"/>
                  <a:pt x="33051" y="175093"/>
                  <a:pt x="24574" y="175093"/>
                </a:cubicBezTo>
                <a:cubicBezTo>
                  <a:pt x="16098" y="175093"/>
                  <a:pt x="9215" y="168211"/>
                  <a:pt x="9215" y="159734"/>
                </a:cubicBezTo>
                <a:cubicBezTo>
                  <a:pt x="9215" y="151257"/>
                  <a:pt x="16098" y="144375"/>
                  <a:pt x="24574" y="144375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6826226" y="8026129"/>
            <a:ext cx="4226806" cy="294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8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处理内容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580481" y="8419320"/>
            <a:ext cx="4472550" cy="319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48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筛选排序、比率计算、同环比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11170432" y="8075277"/>
            <a:ext cx="196596" cy="196596"/>
          </a:xfrm>
          <a:custGeom>
            <a:avLst/>
            <a:gdLst/>
            <a:ahLst/>
            <a:cxnLst/>
            <a:rect l="l" t="t" r="r" b="b"/>
            <a:pathLst>
              <a:path w="196596" h="196596">
                <a:moveTo>
                  <a:pt x="44810" y="12978"/>
                </a:moveTo>
                <a:cubicBezTo>
                  <a:pt x="46538" y="10636"/>
                  <a:pt x="49302" y="9215"/>
                  <a:pt x="52221" y="9215"/>
                </a:cubicBezTo>
                <a:lnTo>
                  <a:pt x="144375" y="9215"/>
                </a:lnTo>
                <a:cubicBezTo>
                  <a:pt x="147293" y="9215"/>
                  <a:pt x="150058" y="10598"/>
                  <a:pt x="151786" y="12978"/>
                </a:cubicBezTo>
                <a:lnTo>
                  <a:pt x="194791" y="71343"/>
                </a:lnTo>
                <a:cubicBezTo>
                  <a:pt x="197402" y="74875"/>
                  <a:pt x="197133" y="79752"/>
                  <a:pt x="194215" y="83016"/>
                </a:cubicBezTo>
                <a:lnTo>
                  <a:pt x="105133" y="181313"/>
                </a:lnTo>
                <a:cubicBezTo>
                  <a:pt x="103405" y="183233"/>
                  <a:pt x="100909" y="184347"/>
                  <a:pt x="98298" y="184347"/>
                </a:cubicBezTo>
                <a:cubicBezTo>
                  <a:pt x="95687" y="184347"/>
                  <a:pt x="93229" y="183233"/>
                  <a:pt x="91463" y="181313"/>
                </a:cubicBezTo>
                <a:lnTo>
                  <a:pt x="2381" y="83016"/>
                </a:lnTo>
                <a:cubicBezTo>
                  <a:pt x="-576" y="79752"/>
                  <a:pt x="-806" y="74875"/>
                  <a:pt x="1805" y="71343"/>
                </a:cubicBezTo>
                <a:lnTo>
                  <a:pt x="44810" y="12978"/>
                </a:lnTo>
                <a:close/>
                <a:moveTo>
                  <a:pt x="59593" y="28261"/>
                </a:moveTo>
                <a:cubicBezTo>
                  <a:pt x="58326" y="29221"/>
                  <a:pt x="57980" y="30948"/>
                  <a:pt x="58787" y="32292"/>
                </a:cubicBezTo>
                <a:lnTo>
                  <a:pt x="80827" y="69039"/>
                </a:lnTo>
                <a:lnTo>
                  <a:pt x="24306" y="73723"/>
                </a:lnTo>
                <a:cubicBezTo>
                  <a:pt x="22731" y="73839"/>
                  <a:pt x="21503" y="75182"/>
                  <a:pt x="21503" y="76795"/>
                </a:cubicBezTo>
                <a:cubicBezTo>
                  <a:pt x="21503" y="78408"/>
                  <a:pt x="22731" y="79713"/>
                  <a:pt x="24306" y="79867"/>
                </a:cubicBezTo>
                <a:lnTo>
                  <a:pt x="98029" y="86011"/>
                </a:lnTo>
                <a:cubicBezTo>
                  <a:pt x="98183" y="86011"/>
                  <a:pt x="98375" y="86011"/>
                  <a:pt x="98528" y="86011"/>
                </a:cubicBezTo>
                <a:lnTo>
                  <a:pt x="172252" y="79867"/>
                </a:lnTo>
                <a:cubicBezTo>
                  <a:pt x="173826" y="79752"/>
                  <a:pt x="175055" y="78408"/>
                  <a:pt x="175055" y="76795"/>
                </a:cubicBezTo>
                <a:cubicBezTo>
                  <a:pt x="175055" y="75182"/>
                  <a:pt x="173826" y="73877"/>
                  <a:pt x="172252" y="73723"/>
                </a:cubicBezTo>
                <a:lnTo>
                  <a:pt x="115730" y="69000"/>
                </a:lnTo>
                <a:lnTo>
                  <a:pt x="137771" y="32292"/>
                </a:lnTo>
                <a:cubicBezTo>
                  <a:pt x="138577" y="30948"/>
                  <a:pt x="138231" y="29182"/>
                  <a:pt x="136964" y="28261"/>
                </a:cubicBezTo>
                <a:cubicBezTo>
                  <a:pt x="135697" y="27339"/>
                  <a:pt x="133931" y="27493"/>
                  <a:pt x="132856" y="28645"/>
                </a:cubicBezTo>
                <a:lnTo>
                  <a:pt x="98298" y="66121"/>
                </a:lnTo>
                <a:lnTo>
                  <a:pt x="63702" y="28645"/>
                </a:lnTo>
                <a:cubicBezTo>
                  <a:pt x="62626" y="27493"/>
                  <a:pt x="60860" y="27339"/>
                  <a:pt x="59593" y="28261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0" name="Text 58"/>
          <p:cNvSpPr/>
          <p:nvPr/>
        </p:nvSpPr>
        <p:spPr>
          <a:xfrm>
            <a:off x="11391602" y="8026129"/>
            <a:ext cx="4226806" cy="294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8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价值定位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11145858" y="8419320"/>
            <a:ext cx="4472550" cy="319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48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直接支撑业务决策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as1.ftcdn.net/0d4ce13b51aabba3d6c2d116f9f3ccbc1dd7c566.jpg"/>
          <p:cNvPicPr>
            <a:picLocks noChangeAspect="1"/>
          </p:cNvPicPr>
          <p:nvPr/>
        </p:nvPicPr>
        <p:blipFill>
          <a:blip r:embed="rId3">
            <a:alphaModFix amt="30000"/>
          </a:blip>
          <a:srcRect l="10089" r="10089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202C"/>
              </a:gs>
              <a:gs pos="50000">
                <a:srgbClr val="1A202C">
                  <a:alpha val="95000"/>
                </a:srgbClr>
              </a:gs>
              <a:gs pos="100000">
                <a:srgbClr val="1A202C">
                  <a:alpha val="7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508000" y="2540000"/>
            <a:ext cx="2781300" cy="711200"/>
          </a:xfrm>
          <a:custGeom>
            <a:avLst/>
            <a:gdLst/>
            <a:ahLst/>
            <a:cxnLst/>
            <a:rect l="l" t="t" r="r" b="b"/>
            <a:pathLst>
              <a:path w="2781300" h="711200">
                <a:moveTo>
                  <a:pt x="0" y="0"/>
                </a:moveTo>
                <a:lnTo>
                  <a:pt x="2781300" y="0"/>
                </a:lnTo>
                <a:lnTo>
                  <a:pt x="27813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914400" y="2679700"/>
            <a:ext cx="2116534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kern="0" spc="120" dirty="0">
                <a:solidFill>
                  <a:srgbClr val="1A20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03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3657600"/>
            <a:ext cx="158496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9600" b="1" dirty="0">
                <a:solidFill>
                  <a:srgbClr val="E2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厨房类比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8000" y="5588000"/>
            <a:ext cx="2032000" cy="101600"/>
          </a:xfrm>
          <a:custGeom>
            <a:avLst/>
            <a:gdLst/>
            <a:ahLst/>
            <a:cxnLst/>
            <a:rect l="l" t="t" r="r" b="b"/>
            <a:pathLst>
              <a:path w="2032000" h="101600">
                <a:moveTo>
                  <a:pt x="0" y="0"/>
                </a:moveTo>
                <a:lnTo>
                  <a:pt x="2032000" y="0"/>
                </a:lnTo>
                <a:lnTo>
                  <a:pt x="2032000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508000" y="60960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dirty="0">
                <a:solidFill>
                  <a:srgbClr val="71809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用中央厨房理解分层逻辑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08000"/>
            <a:ext cx="1460500" cy="406400"/>
          </a:xfrm>
          <a:custGeom>
            <a:avLst/>
            <a:gdLst/>
            <a:ahLst/>
            <a:cxnLst/>
            <a:rect l="l" t="t" r="r" b="b"/>
            <a:pathLst>
              <a:path w="1460500" h="406400">
                <a:moveTo>
                  <a:pt x="0" y="0"/>
                </a:moveTo>
                <a:lnTo>
                  <a:pt x="1460500" y="0"/>
                </a:lnTo>
                <a:lnTo>
                  <a:pt x="14605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D69E2E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533400" y="508000"/>
            <a:ext cx="50800" cy="406400"/>
          </a:xfrm>
          <a:custGeom>
            <a:avLst/>
            <a:gdLst/>
            <a:ahLst/>
            <a:cxnLst/>
            <a:rect l="l" t="t" r="r" b="b"/>
            <a:pathLst>
              <a:path w="50800" h="406400">
                <a:moveTo>
                  <a:pt x="0" y="0"/>
                </a:moveTo>
                <a:lnTo>
                  <a:pt x="50800" y="0"/>
                </a:lnTo>
                <a:lnTo>
                  <a:pt x="508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2000" y="577850"/>
            <a:ext cx="113496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ANALOGY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8000" y="10160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2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中央厨房的标准化流水线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8000" y="1778000"/>
            <a:ext cx="10058400" cy="6883400"/>
          </a:xfrm>
          <a:custGeom>
            <a:avLst/>
            <a:gdLst/>
            <a:ahLst/>
            <a:cxnLst/>
            <a:rect l="l" t="t" r="r" b="b"/>
            <a:pathLst>
              <a:path w="10058400" h="6883400">
                <a:moveTo>
                  <a:pt x="101599" y="0"/>
                </a:moveTo>
                <a:lnTo>
                  <a:pt x="9956801" y="0"/>
                </a:lnTo>
                <a:cubicBezTo>
                  <a:pt x="10012913" y="0"/>
                  <a:pt x="10058400" y="45487"/>
                  <a:pt x="10058400" y="101599"/>
                </a:cubicBezTo>
                <a:lnTo>
                  <a:pt x="10058400" y="6781801"/>
                </a:lnTo>
                <a:cubicBezTo>
                  <a:pt x="10058400" y="6837913"/>
                  <a:pt x="10012913" y="6883400"/>
                  <a:pt x="9956801" y="6883400"/>
                </a:cubicBezTo>
                <a:lnTo>
                  <a:pt x="101599" y="6883400"/>
                </a:lnTo>
                <a:cubicBezTo>
                  <a:pt x="45487" y="6883400"/>
                  <a:pt x="0" y="6837913"/>
                  <a:pt x="0" y="6781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2D3748">
              <a:alpha val="4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756150" y="2082800"/>
            <a:ext cx="1562100" cy="1371600"/>
          </a:xfrm>
          <a:custGeom>
            <a:avLst/>
            <a:gdLst/>
            <a:ahLst/>
            <a:cxnLst/>
            <a:rect l="l" t="t" r="r" b="b"/>
            <a:pathLst>
              <a:path w="1562100" h="1371600">
                <a:moveTo>
                  <a:pt x="685800" y="0"/>
                </a:moveTo>
                <a:lnTo>
                  <a:pt x="876300" y="0"/>
                </a:lnTo>
                <a:cubicBezTo>
                  <a:pt x="1254803" y="0"/>
                  <a:pt x="1562100" y="307297"/>
                  <a:pt x="1562100" y="685800"/>
                </a:cubicBezTo>
                <a:lnTo>
                  <a:pt x="1562100" y="685800"/>
                </a:lnTo>
                <a:cubicBezTo>
                  <a:pt x="1562100" y="1064303"/>
                  <a:pt x="1254803" y="1371600"/>
                  <a:pt x="876300" y="1371600"/>
                </a:cubicBezTo>
                <a:lnTo>
                  <a:pt x="685800" y="1371600"/>
                </a:lnTo>
                <a:cubicBezTo>
                  <a:pt x="307297" y="1371600"/>
                  <a:pt x="0" y="1064303"/>
                  <a:pt x="0" y="685800"/>
                </a:cubicBezTo>
                <a:lnTo>
                  <a:pt x="0" y="685800"/>
                </a:lnTo>
                <a:cubicBezTo>
                  <a:pt x="0" y="307297"/>
                  <a:pt x="307297" y="0"/>
                  <a:pt x="685800" y="0"/>
                </a:cubicBezTo>
                <a:close/>
              </a:path>
            </a:pathLst>
          </a:custGeom>
          <a:solidFill>
            <a:srgbClr val="D69E2E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5156200" y="23876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95101" y="21431"/>
                </a:moveTo>
                <a:cubicBezTo>
                  <a:pt x="93911" y="9227"/>
                  <a:pt x="83641" y="0"/>
                  <a:pt x="71438" y="0"/>
                </a:cubicBezTo>
                <a:cubicBezTo>
                  <a:pt x="59234" y="0"/>
                  <a:pt x="48964" y="9227"/>
                  <a:pt x="47625" y="21282"/>
                </a:cubicBezTo>
                <a:lnTo>
                  <a:pt x="26640" y="222796"/>
                </a:lnTo>
                <a:cubicBezTo>
                  <a:pt x="24705" y="231725"/>
                  <a:pt x="23812" y="240804"/>
                  <a:pt x="23812" y="249882"/>
                </a:cubicBezTo>
                <a:cubicBezTo>
                  <a:pt x="23812" y="318195"/>
                  <a:pt x="76051" y="374303"/>
                  <a:pt x="142875" y="380405"/>
                </a:cubicBezTo>
                <a:lnTo>
                  <a:pt x="142875" y="714375"/>
                </a:lnTo>
                <a:cubicBezTo>
                  <a:pt x="142875" y="740718"/>
                  <a:pt x="164157" y="762000"/>
                  <a:pt x="190500" y="762000"/>
                </a:cubicBezTo>
                <a:cubicBezTo>
                  <a:pt x="216843" y="762000"/>
                  <a:pt x="238125" y="740718"/>
                  <a:pt x="238125" y="714375"/>
                </a:cubicBezTo>
                <a:lnTo>
                  <a:pt x="238125" y="380405"/>
                </a:lnTo>
                <a:cubicBezTo>
                  <a:pt x="304949" y="374303"/>
                  <a:pt x="357188" y="318195"/>
                  <a:pt x="357188" y="249882"/>
                </a:cubicBezTo>
                <a:cubicBezTo>
                  <a:pt x="357188" y="240804"/>
                  <a:pt x="356295" y="231725"/>
                  <a:pt x="354360" y="222796"/>
                </a:cubicBezTo>
                <a:lnTo>
                  <a:pt x="333226" y="21282"/>
                </a:lnTo>
                <a:cubicBezTo>
                  <a:pt x="332036" y="9227"/>
                  <a:pt x="321766" y="0"/>
                  <a:pt x="309563" y="0"/>
                </a:cubicBezTo>
                <a:cubicBezTo>
                  <a:pt x="297359" y="0"/>
                  <a:pt x="287089" y="9227"/>
                  <a:pt x="285899" y="21431"/>
                </a:cubicBezTo>
                <a:lnTo>
                  <a:pt x="265658" y="223093"/>
                </a:lnTo>
                <a:cubicBezTo>
                  <a:pt x="264765" y="231577"/>
                  <a:pt x="257621" y="238125"/>
                  <a:pt x="249138" y="238125"/>
                </a:cubicBezTo>
                <a:cubicBezTo>
                  <a:pt x="240506" y="238125"/>
                  <a:pt x="233363" y="231577"/>
                  <a:pt x="232470" y="222945"/>
                </a:cubicBezTo>
                <a:lnTo>
                  <a:pt x="214164" y="21729"/>
                </a:lnTo>
                <a:cubicBezTo>
                  <a:pt x="213122" y="9376"/>
                  <a:pt x="202853" y="0"/>
                  <a:pt x="190500" y="0"/>
                </a:cubicBezTo>
                <a:cubicBezTo>
                  <a:pt x="178147" y="0"/>
                  <a:pt x="167878" y="9376"/>
                  <a:pt x="166836" y="21729"/>
                </a:cubicBezTo>
                <a:lnTo>
                  <a:pt x="148530" y="222945"/>
                </a:lnTo>
                <a:cubicBezTo>
                  <a:pt x="147786" y="231577"/>
                  <a:pt x="140494" y="238125"/>
                  <a:pt x="131862" y="238125"/>
                </a:cubicBezTo>
                <a:cubicBezTo>
                  <a:pt x="123230" y="238125"/>
                  <a:pt x="116086" y="231577"/>
                  <a:pt x="115342" y="223093"/>
                </a:cubicBezTo>
                <a:lnTo>
                  <a:pt x="95101" y="21431"/>
                </a:lnTo>
                <a:close/>
                <a:moveTo>
                  <a:pt x="666750" y="0"/>
                </a:moveTo>
                <a:cubicBezTo>
                  <a:pt x="642938" y="0"/>
                  <a:pt x="476250" y="47625"/>
                  <a:pt x="476250" y="261938"/>
                </a:cubicBezTo>
                <a:lnTo>
                  <a:pt x="476250" y="428625"/>
                </a:lnTo>
                <a:cubicBezTo>
                  <a:pt x="476250" y="481161"/>
                  <a:pt x="518964" y="523875"/>
                  <a:pt x="571500" y="523875"/>
                </a:cubicBezTo>
                <a:lnTo>
                  <a:pt x="619125" y="523875"/>
                </a:lnTo>
                <a:lnTo>
                  <a:pt x="619125" y="714375"/>
                </a:lnTo>
                <a:cubicBezTo>
                  <a:pt x="619125" y="740718"/>
                  <a:pt x="640407" y="762000"/>
                  <a:pt x="666750" y="762000"/>
                </a:cubicBezTo>
                <a:cubicBezTo>
                  <a:pt x="693093" y="762000"/>
                  <a:pt x="714375" y="740718"/>
                  <a:pt x="714375" y="714375"/>
                </a:cubicBezTo>
                <a:lnTo>
                  <a:pt x="714375" y="47625"/>
                </a:lnTo>
                <a:cubicBezTo>
                  <a:pt x="714375" y="21282"/>
                  <a:pt x="693093" y="0"/>
                  <a:pt x="666750" y="0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717550" y="3657600"/>
            <a:ext cx="9639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数据仓库 ≈ 中央厨房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55650" y="4267200"/>
            <a:ext cx="9563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将抽象的数据分层转化为具象的餐饮加工流程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12800" y="5029200"/>
            <a:ext cx="4572000" cy="1676400"/>
          </a:xfrm>
          <a:custGeom>
            <a:avLst/>
            <a:gdLst/>
            <a:ahLst/>
            <a:cxnLst/>
            <a:rect l="l" t="t" r="r" b="b"/>
            <a:pathLst>
              <a:path w="4572000" h="1676400">
                <a:moveTo>
                  <a:pt x="101607" y="0"/>
                </a:moveTo>
                <a:lnTo>
                  <a:pt x="4470393" y="0"/>
                </a:lnTo>
                <a:cubicBezTo>
                  <a:pt x="4526509" y="0"/>
                  <a:pt x="4572000" y="45491"/>
                  <a:pt x="4572000" y="101607"/>
                </a:cubicBezTo>
                <a:lnTo>
                  <a:pt x="4572000" y="1574793"/>
                </a:lnTo>
                <a:cubicBezTo>
                  <a:pt x="4572000" y="1630909"/>
                  <a:pt x="4526509" y="1676400"/>
                  <a:pt x="4470393" y="1676400"/>
                </a:cubicBezTo>
                <a:lnTo>
                  <a:pt x="101607" y="1676400"/>
                </a:lnTo>
                <a:cubicBezTo>
                  <a:pt x="45491" y="1676400"/>
                  <a:pt x="0" y="1630909"/>
                  <a:pt x="0" y="1574793"/>
                </a:cubicBezTo>
                <a:lnTo>
                  <a:pt x="0" y="101607"/>
                </a:lnTo>
                <a:cubicBezTo>
                  <a:pt x="0" y="45528"/>
                  <a:pt x="45528" y="0"/>
                  <a:pt x="101607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1104900" y="5308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202644" y="126623"/>
                </a:moveTo>
                <a:lnTo>
                  <a:pt x="155019" y="202823"/>
                </a:lnTo>
                <a:cubicBezTo>
                  <a:pt x="152519" y="206812"/>
                  <a:pt x="148233" y="209312"/>
                  <a:pt x="143530" y="209550"/>
                </a:cubicBezTo>
                <a:cubicBezTo>
                  <a:pt x="138827" y="209788"/>
                  <a:pt x="134302" y="207645"/>
                  <a:pt x="131505" y="203835"/>
                </a:cubicBezTo>
                <a:lnTo>
                  <a:pt x="102930" y="165735"/>
                </a:lnTo>
                <a:cubicBezTo>
                  <a:pt x="98167" y="159425"/>
                  <a:pt x="99477" y="150495"/>
                  <a:pt x="105787" y="145733"/>
                </a:cubicBezTo>
                <a:cubicBezTo>
                  <a:pt x="112097" y="140970"/>
                  <a:pt x="121027" y="142280"/>
                  <a:pt x="125790" y="148590"/>
                </a:cubicBezTo>
                <a:lnTo>
                  <a:pt x="141863" y="170021"/>
                </a:lnTo>
                <a:lnTo>
                  <a:pt x="178415" y="111502"/>
                </a:lnTo>
                <a:cubicBezTo>
                  <a:pt x="182582" y="104835"/>
                  <a:pt x="191393" y="102751"/>
                  <a:pt x="198120" y="106978"/>
                </a:cubicBezTo>
                <a:cubicBezTo>
                  <a:pt x="204847" y="111204"/>
                  <a:pt x="206871" y="119955"/>
                  <a:pt x="202644" y="126683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600200" y="5283200"/>
            <a:ext cx="889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标准化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66800" y="5791200"/>
            <a:ext cx="41656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统一加工标准和质量控制,确保每个环节输出一致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689600" y="5029200"/>
            <a:ext cx="4572000" cy="1676400"/>
          </a:xfrm>
          <a:custGeom>
            <a:avLst/>
            <a:gdLst/>
            <a:ahLst/>
            <a:cxnLst/>
            <a:rect l="l" t="t" r="r" b="b"/>
            <a:pathLst>
              <a:path w="4572000" h="1676400">
                <a:moveTo>
                  <a:pt x="101607" y="0"/>
                </a:moveTo>
                <a:lnTo>
                  <a:pt x="4470393" y="0"/>
                </a:lnTo>
                <a:cubicBezTo>
                  <a:pt x="4526509" y="0"/>
                  <a:pt x="4572000" y="45491"/>
                  <a:pt x="4572000" y="101607"/>
                </a:cubicBezTo>
                <a:lnTo>
                  <a:pt x="4572000" y="1574793"/>
                </a:lnTo>
                <a:cubicBezTo>
                  <a:pt x="4572000" y="1630909"/>
                  <a:pt x="4526509" y="1676400"/>
                  <a:pt x="4470393" y="1676400"/>
                </a:cubicBezTo>
                <a:lnTo>
                  <a:pt x="101607" y="1676400"/>
                </a:lnTo>
                <a:cubicBezTo>
                  <a:pt x="45491" y="1676400"/>
                  <a:pt x="0" y="1630909"/>
                  <a:pt x="0" y="1574793"/>
                </a:cubicBezTo>
                <a:lnTo>
                  <a:pt x="0" y="101607"/>
                </a:lnTo>
                <a:cubicBezTo>
                  <a:pt x="0" y="45528"/>
                  <a:pt x="45528" y="0"/>
                  <a:pt x="101607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5981700" y="5308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202644" y="126623"/>
                </a:moveTo>
                <a:lnTo>
                  <a:pt x="155019" y="202823"/>
                </a:lnTo>
                <a:cubicBezTo>
                  <a:pt x="152519" y="206812"/>
                  <a:pt x="148233" y="209312"/>
                  <a:pt x="143530" y="209550"/>
                </a:cubicBezTo>
                <a:cubicBezTo>
                  <a:pt x="138827" y="209788"/>
                  <a:pt x="134302" y="207645"/>
                  <a:pt x="131505" y="203835"/>
                </a:cubicBezTo>
                <a:lnTo>
                  <a:pt x="102930" y="165735"/>
                </a:lnTo>
                <a:cubicBezTo>
                  <a:pt x="98167" y="159425"/>
                  <a:pt x="99477" y="150495"/>
                  <a:pt x="105787" y="145733"/>
                </a:cubicBezTo>
                <a:cubicBezTo>
                  <a:pt x="112097" y="140970"/>
                  <a:pt x="121027" y="142280"/>
                  <a:pt x="125790" y="148590"/>
                </a:cubicBezTo>
                <a:lnTo>
                  <a:pt x="141863" y="170021"/>
                </a:lnTo>
                <a:lnTo>
                  <a:pt x="178415" y="111502"/>
                </a:lnTo>
                <a:cubicBezTo>
                  <a:pt x="182582" y="104835"/>
                  <a:pt x="191393" y="102751"/>
                  <a:pt x="198120" y="106978"/>
                </a:cubicBezTo>
                <a:cubicBezTo>
                  <a:pt x="204847" y="111204"/>
                  <a:pt x="206871" y="119955"/>
                  <a:pt x="202644" y="126683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6477000" y="5283200"/>
            <a:ext cx="889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专业化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943600" y="5791200"/>
            <a:ext cx="4165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每个环节专注特定任务,提升效率和质量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12800" y="7010400"/>
            <a:ext cx="4572000" cy="1346200"/>
          </a:xfrm>
          <a:custGeom>
            <a:avLst/>
            <a:gdLst/>
            <a:ahLst/>
            <a:cxnLst/>
            <a:rect l="l" t="t" r="r" b="b"/>
            <a:pathLst>
              <a:path w="4572000" h="1346200">
                <a:moveTo>
                  <a:pt x="101598" y="0"/>
                </a:moveTo>
                <a:lnTo>
                  <a:pt x="4470402" y="0"/>
                </a:lnTo>
                <a:cubicBezTo>
                  <a:pt x="4526513" y="0"/>
                  <a:pt x="4572000" y="45487"/>
                  <a:pt x="4572000" y="101598"/>
                </a:cubicBezTo>
                <a:lnTo>
                  <a:pt x="4572000" y="1244602"/>
                </a:lnTo>
                <a:cubicBezTo>
                  <a:pt x="4572000" y="1300713"/>
                  <a:pt x="4526513" y="1346200"/>
                  <a:pt x="4470402" y="1346200"/>
                </a:cubicBezTo>
                <a:lnTo>
                  <a:pt x="101598" y="1346200"/>
                </a:lnTo>
                <a:cubicBezTo>
                  <a:pt x="45487" y="1346200"/>
                  <a:pt x="0" y="1300713"/>
                  <a:pt x="0" y="1244602"/>
                </a:cubicBezTo>
                <a:lnTo>
                  <a:pt x="0" y="101598"/>
                </a:lnTo>
                <a:cubicBezTo>
                  <a:pt x="0" y="45487"/>
                  <a:pt x="45487" y="0"/>
                  <a:pt x="101598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1104900" y="7289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202644" y="126623"/>
                </a:moveTo>
                <a:lnTo>
                  <a:pt x="155019" y="202823"/>
                </a:lnTo>
                <a:cubicBezTo>
                  <a:pt x="152519" y="206812"/>
                  <a:pt x="148233" y="209312"/>
                  <a:pt x="143530" y="209550"/>
                </a:cubicBezTo>
                <a:cubicBezTo>
                  <a:pt x="138827" y="209788"/>
                  <a:pt x="134302" y="207645"/>
                  <a:pt x="131505" y="203835"/>
                </a:cubicBezTo>
                <a:lnTo>
                  <a:pt x="102930" y="165735"/>
                </a:lnTo>
                <a:cubicBezTo>
                  <a:pt x="98167" y="159425"/>
                  <a:pt x="99477" y="150495"/>
                  <a:pt x="105787" y="145733"/>
                </a:cubicBezTo>
                <a:cubicBezTo>
                  <a:pt x="112097" y="140970"/>
                  <a:pt x="121027" y="142280"/>
                  <a:pt x="125790" y="148590"/>
                </a:cubicBezTo>
                <a:lnTo>
                  <a:pt x="141863" y="170021"/>
                </a:lnTo>
                <a:lnTo>
                  <a:pt x="178415" y="111502"/>
                </a:lnTo>
                <a:cubicBezTo>
                  <a:pt x="182582" y="104835"/>
                  <a:pt x="191393" y="102751"/>
                  <a:pt x="198120" y="106978"/>
                </a:cubicBezTo>
                <a:cubicBezTo>
                  <a:pt x="204847" y="111204"/>
                  <a:pt x="206871" y="119955"/>
                  <a:pt x="202644" y="126683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1600200" y="7264400"/>
            <a:ext cx="889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可追溯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66800" y="7772400"/>
            <a:ext cx="4165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从原材料到成品,每个环节都有记录可查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689600" y="7010400"/>
            <a:ext cx="4572000" cy="1346200"/>
          </a:xfrm>
          <a:custGeom>
            <a:avLst/>
            <a:gdLst/>
            <a:ahLst/>
            <a:cxnLst/>
            <a:rect l="l" t="t" r="r" b="b"/>
            <a:pathLst>
              <a:path w="4572000" h="1346200">
                <a:moveTo>
                  <a:pt x="101598" y="0"/>
                </a:moveTo>
                <a:lnTo>
                  <a:pt x="4470402" y="0"/>
                </a:lnTo>
                <a:cubicBezTo>
                  <a:pt x="4526513" y="0"/>
                  <a:pt x="4572000" y="45487"/>
                  <a:pt x="4572000" y="101598"/>
                </a:cubicBezTo>
                <a:lnTo>
                  <a:pt x="4572000" y="1244602"/>
                </a:lnTo>
                <a:cubicBezTo>
                  <a:pt x="4572000" y="1300713"/>
                  <a:pt x="4526513" y="1346200"/>
                  <a:pt x="4470402" y="1346200"/>
                </a:cubicBezTo>
                <a:lnTo>
                  <a:pt x="101598" y="1346200"/>
                </a:lnTo>
                <a:cubicBezTo>
                  <a:pt x="45487" y="1346200"/>
                  <a:pt x="0" y="1300713"/>
                  <a:pt x="0" y="1244602"/>
                </a:cubicBezTo>
                <a:lnTo>
                  <a:pt x="0" y="101598"/>
                </a:lnTo>
                <a:cubicBezTo>
                  <a:pt x="0" y="45487"/>
                  <a:pt x="45487" y="0"/>
                  <a:pt x="101598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5981700" y="7289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202644" y="126623"/>
                </a:moveTo>
                <a:lnTo>
                  <a:pt x="155019" y="202823"/>
                </a:lnTo>
                <a:cubicBezTo>
                  <a:pt x="152519" y="206812"/>
                  <a:pt x="148233" y="209312"/>
                  <a:pt x="143530" y="209550"/>
                </a:cubicBezTo>
                <a:cubicBezTo>
                  <a:pt x="138827" y="209788"/>
                  <a:pt x="134302" y="207645"/>
                  <a:pt x="131505" y="203835"/>
                </a:cubicBezTo>
                <a:lnTo>
                  <a:pt x="102930" y="165735"/>
                </a:lnTo>
                <a:cubicBezTo>
                  <a:pt x="98167" y="159425"/>
                  <a:pt x="99477" y="150495"/>
                  <a:pt x="105787" y="145733"/>
                </a:cubicBezTo>
                <a:cubicBezTo>
                  <a:pt x="112097" y="140970"/>
                  <a:pt x="121027" y="142280"/>
                  <a:pt x="125790" y="148590"/>
                </a:cubicBezTo>
                <a:lnTo>
                  <a:pt x="141863" y="170021"/>
                </a:lnTo>
                <a:lnTo>
                  <a:pt x="178415" y="111502"/>
                </a:lnTo>
                <a:cubicBezTo>
                  <a:pt x="182582" y="104835"/>
                  <a:pt x="191393" y="102751"/>
                  <a:pt x="198120" y="106978"/>
                </a:cubicBezTo>
                <a:cubicBezTo>
                  <a:pt x="204847" y="111204"/>
                  <a:pt x="206871" y="119955"/>
                  <a:pt x="202644" y="126683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477000" y="7264400"/>
            <a:ext cx="889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规模化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943600" y="7772400"/>
            <a:ext cx="4165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通过流水线作业支撑大规模生产需求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0871200" y="1778000"/>
            <a:ext cx="4876800" cy="6883400"/>
          </a:xfrm>
          <a:custGeom>
            <a:avLst/>
            <a:gdLst/>
            <a:ahLst/>
            <a:cxnLst/>
            <a:rect l="l" t="t" r="r" b="b"/>
            <a:pathLst>
              <a:path w="4876800" h="6883400">
                <a:moveTo>
                  <a:pt x="101584" y="0"/>
                </a:moveTo>
                <a:lnTo>
                  <a:pt x="4775216" y="0"/>
                </a:lnTo>
                <a:cubicBezTo>
                  <a:pt x="4831319" y="0"/>
                  <a:pt x="4876800" y="45481"/>
                  <a:pt x="4876800" y="101584"/>
                </a:cubicBezTo>
                <a:lnTo>
                  <a:pt x="4876800" y="6781816"/>
                </a:lnTo>
                <a:cubicBezTo>
                  <a:pt x="4876800" y="6837919"/>
                  <a:pt x="4831319" y="6883400"/>
                  <a:pt x="4775216" y="6883400"/>
                </a:cubicBezTo>
                <a:lnTo>
                  <a:pt x="101584" y="6883400"/>
                </a:lnTo>
                <a:cubicBezTo>
                  <a:pt x="45481" y="6883400"/>
                  <a:pt x="0" y="6837919"/>
                  <a:pt x="0" y="6781816"/>
                </a:cubicBezTo>
                <a:lnTo>
                  <a:pt x="0" y="101584"/>
                </a:lnTo>
                <a:cubicBezTo>
                  <a:pt x="0" y="45518"/>
                  <a:pt x="45518" y="0"/>
                  <a:pt x="101584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11214100" y="2133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8410" y="3096"/>
                </a:moveTo>
                <a:cubicBezTo>
                  <a:pt x="147280" y="-1012"/>
                  <a:pt x="157520" y="-1012"/>
                  <a:pt x="166390" y="3096"/>
                </a:cubicBezTo>
                <a:lnTo>
                  <a:pt x="296525" y="63222"/>
                </a:lnTo>
                <a:cubicBezTo>
                  <a:pt x="301585" y="65544"/>
                  <a:pt x="304800" y="70604"/>
                  <a:pt x="304800" y="76200"/>
                </a:cubicBezTo>
                <a:cubicBezTo>
                  <a:pt x="304800" y="81796"/>
                  <a:pt x="301585" y="86856"/>
                  <a:pt x="296525" y="89178"/>
                </a:cubicBezTo>
                <a:lnTo>
                  <a:pt x="166390" y="149304"/>
                </a:lnTo>
                <a:cubicBezTo>
                  <a:pt x="157520" y="153412"/>
                  <a:pt x="147280" y="153412"/>
                  <a:pt x="138410" y="149304"/>
                </a:cubicBezTo>
                <a:lnTo>
                  <a:pt x="8275" y="89178"/>
                </a:lnTo>
                <a:cubicBezTo>
                  <a:pt x="3215" y="86797"/>
                  <a:pt x="0" y="81736"/>
                  <a:pt x="0" y="76200"/>
                </a:cubicBezTo>
                <a:cubicBezTo>
                  <a:pt x="0" y="70664"/>
                  <a:pt x="3215" y="65544"/>
                  <a:pt x="8275" y="63222"/>
                </a:cubicBezTo>
                <a:lnTo>
                  <a:pt x="138410" y="3096"/>
                </a:lnTo>
                <a:close/>
                <a:moveTo>
                  <a:pt x="28635" y="130016"/>
                </a:moveTo>
                <a:lnTo>
                  <a:pt x="126444" y="175200"/>
                </a:lnTo>
                <a:cubicBezTo>
                  <a:pt x="142935" y="182820"/>
                  <a:pt x="161925" y="182820"/>
                  <a:pt x="178415" y="175200"/>
                </a:cubicBezTo>
                <a:lnTo>
                  <a:pt x="276225" y="130016"/>
                </a:lnTo>
                <a:lnTo>
                  <a:pt x="296525" y="139422"/>
                </a:lnTo>
                <a:cubicBezTo>
                  <a:pt x="301585" y="141744"/>
                  <a:pt x="304800" y="146804"/>
                  <a:pt x="304800" y="152400"/>
                </a:cubicBezTo>
                <a:cubicBezTo>
                  <a:pt x="304800" y="157996"/>
                  <a:pt x="301585" y="163056"/>
                  <a:pt x="296525" y="165378"/>
                </a:cubicBezTo>
                <a:lnTo>
                  <a:pt x="166390" y="225504"/>
                </a:lnTo>
                <a:cubicBezTo>
                  <a:pt x="157520" y="229612"/>
                  <a:pt x="147280" y="229612"/>
                  <a:pt x="138410" y="225504"/>
                </a:cubicBezTo>
                <a:lnTo>
                  <a:pt x="8275" y="165378"/>
                </a:lnTo>
                <a:cubicBezTo>
                  <a:pt x="3215" y="162997"/>
                  <a:pt x="0" y="157936"/>
                  <a:pt x="0" y="152400"/>
                </a:cubicBezTo>
                <a:cubicBezTo>
                  <a:pt x="0" y="146864"/>
                  <a:pt x="3215" y="141744"/>
                  <a:pt x="8275" y="139422"/>
                </a:cubicBezTo>
                <a:lnTo>
                  <a:pt x="28575" y="130016"/>
                </a:lnTo>
                <a:close/>
                <a:moveTo>
                  <a:pt x="8275" y="215622"/>
                </a:moveTo>
                <a:lnTo>
                  <a:pt x="28575" y="206216"/>
                </a:lnTo>
                <a:lnTo>
                  <a:pt x="126385" y="251400"/>
                </a:lnTo>
                <a:cubicBezTo>
                  <a:pt x="142875" y="259020"/>
                  <a:pt x="161865" y="259020"/>
                  <a:pt x="178356" y="251400"/>
                </a:cubicBezTo>
                <a:lnTo>
                  <a:pt x="276165" y="206216"/>
                </a:lnTo>
                <a:lnTo>
                  <a:pt x="296466" y="215622"/>
                </a:lnTo>
                <a:cubicBezTo>
                  <a:pt x="301526" y="217944"/>
                  <a:pt x="304740" y="223004"/>
                  <a:pt x="304740" y="228600"/>
                </a:cubicBezTo>
                <a:cubicBezTo>
                  <a:pt x="304740" y="234196"/>
                  <a:pt x="301526" y="239256"/>
                  <a:pt x="296466" y="241578"/>
                </a:cubicBezTo>
                <a:lnTo>
                  <a:pt x="166330" y="301704"/>
                </a:lnTo>
                <a:cubicBezTo>
                  <a:pt x="157460" y="305812"/>
                  <a:pt x="147221" y="305812"/>
                  <a:pt x="138351" y="301704"/>
                </a:cubicBezTo>
                <a:lnTo>
                  <a:pt x="8275" y="241578"/>
                </a:lnTo>
                <a:cubicBezTo>
                  <a:pt x="3215" y="239197"/>
                  <a:pt x="0" y="234136"/>
                  <a:pt x="0" y="228600"/>
                </a:cubicBezTo>
                <a:cubicBezTo>
                  <a:pt x="0" y="223064"/>
                  <a:pt x="3215" y="217944"/>
                  <a:pt x="8275" y="215622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11557000" y="2082800"/>
            <a:ext cx="4038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分层对应关系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1176000" y="3562350"/>
            <a:ext cx="4267200" cy="12700"/>
          </a:xfrm>
          <a:custGeom>
            <a:avLst/>
            <a:gdLst/>
            <a:ahLst/>
            <a:cxnLst/>
            <a:rect l="l" t="t" r="r" b="b"/>
            <a:pathLst>
              <a:path w="4267200" h="12700">
                <a:moveTo>
                  <a:pt x="0" y="0"/>
                </a:moveTo>
                <a:lnTo>
                  <a:pt x="4267200" y="0"/>
                </a:lnTo>
                <a:lnTo>
                  <a:pt x="42672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11176000" y="2768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0798" y="0"/>
                </a:moveTo>
                <a:lnTo>
                  <a:pt x="558802" y="0"/>
                </a:lnTo>
                <a:cubicBezTo>
                  <a:pt x="586857" y="0"/>
                  <a:pt x="609600" y="22743"/>
                  <a:pt x="609600" y="50798"/>
                </a:cubicBezTo>
                <a:lnTo>
                  <a:pt x="609600" y="558802"/>
                </a:lnTo>
                <a:cubicBezTo>
                  <a:pt x="609600" y="586857"/>
                  <a:pt x="586857" y="609600"/>
                  <a:pt x="558802" y="609600"/>
                </a:cubicBezTo>
                <a:lnTo>
                  <a:pt x="50798" y="609600"/>
                </a:lnTo>
                <a:cubicBezTo>
                  <a:pt x="22743" y="609600"/>
                  <a:pt x="0" y="586857"/>
                  <a:pt x="0" y="5588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718096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11264999" y="2921000"/>
            <a:ext cx="533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ODS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938000" y="2743200"/>
            <a:ext cx="3213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采购入库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1938000" y="3098800"/>
            <a:ext cx="3200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原材料验收存储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5214600" y="29718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99469" y="110569"/>
                </a:moveTo>
                <a:cubicBezTo>
                  <a:pt x="204430" y="105608"/>
                  <a:pt x="204430" y="97552"/>
                  <a:pt x="199469" y="92591"/>
                </a:cubicBezTo>
                <a:lnTo>
                  <a:pt x="135969" y="29091"/>
                </a:lnTo>
                <a:cubicBezTo>
                  <a:pt x="131008" y="24130"/>
                  <a:pt x="122952" y="24130"/>
                  <a:pt x="117991" y="29091"/>
                </a:cubicBezTo>
                <a:cubicBezTo>
                  <a:pt x="113030" y="34052"/>
                  <a:pt x="113030" y="42108"/>
                  <a:pt x="117991" y="47069"/>
                </a:cubicBezTo>
                <a:lnTo>
                  <a:pt x="159822" y="88900"/>
                </a:lnTo>
                <a:lnTo>
                  <a:pt x="12700" y="88900"/>
                </a:lnTo>
                <a:cubicBezTo>
                  <a:pt x="5675" y="88900"/>
                  <a:pt x="0" y="94575"/>
                  <a:pt x="0" y="101600"/>
                </a:cubicBezTo>
                <a:cubicBezTo>
                  <a:pt x="0" y="108625"/>
                  <a:pt x="5675" y="114300"/>
                  <a:pt x="12700" y="114300"/>
                </a:cubicBezTo>
                <a:lnTo>
                  <a:pt x="159822" y="114300"/>
                </a:lnTo>
                <a:lnTo>
                  <a:pt x="117991" y="156131"/>
                </a:lnTo>
                <a:cubicBezTo>
                  <a:pt x="113030" y="161092"/>
                  <a:pt x="113030" y="169148"/>
                  <a:pt x="117991" y="174109"/>
                </a:cubicBezTo>
                <a:cubicBezTo>
                  <a:pt x="122952" y="179070"/>
                  <a:pt x="131008" y="179070"/>
                  <a:pt x="135969" y="174109"/>
                </a:cubicBezTo>
                <a:lnTo>
                  <a:pt x="199469" y="110609"/>
                </a:ln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11176000" y="4591050"/>
            <a:ext cx="4267200" cy="12700"/>
          </a:xfrm>
          <a:custGeom>
            <a:avLst/>
            <a:gdLst/>
            <a:ahLst/>
            <a:cxnLst/>
            <a:rect l="l" t="t" r="r" b="b"/>
            <a:pathLst>
              <a:path w="4267200" h="12700">
                <a:moveTo>
                  <a:pt x="0" y="0"/>
                </a:moveTo>
                <a:lnTo>
                  <a:pt x="4267200" y="0"/>
                </a:lnTo>
                <a:lnTo>
                  <a:pt x="42672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11176000" y="37973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0798" y="0"/>
                </a:moveTo>
                <a:lnTo>
                  <a:pt x="558802" y="0"/>
                </a:lnTo>
                <a:cubicBezTo>
                  <a:pt x="586857" y="0"/>
                  <a:pt x="609600" y="22743"/>
                  <a:pt x="609600" y="50798"/>
                </a:cubicBezTo>
                <a:lnTo>
                  <a:pt x="609600" y="558802"/>
                </a:lnTo>
                <a:cubicBezTo>
                  <a:pt x="609600" y="586857"/>
                  <a:pt x="586857" y="609600"/>
                  <a:pt x="558802" y="609600"/>
                </a:cubicBezTo>
                <a:lnTo>
                  <a:pt x="50798" y="609600"/>
                </a:lnTo>
                <a:cubicBezTo>
                  <a:pt x="22743" y="609600"/>
                  <a:pt x="0" y="586857"/>
                  <a:pt x="0" y="5588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4A5568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11233547" y="3949700"/>
            <a:ext cx="596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DWD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1938000" y="3771900"/>
            <a:ext cx="3213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清洗切配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1938000" y="4127500"/>
            <a:ext cx="3200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原材料加工处理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5214600" y="40005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99469" y="110569"/>
                </a:moveTo>
                <a:cubicBezTo>
                  <a:pt x="204430" y="105608"/>
                  <a:pt x="204430" y="97552"/>
                  <a:pt x="199469" y="92591"/>
                </a:cubicBezTo>
                <a:lnTo>
                  <a:pt x="135969" y="29091"/>
                </a:lnTo>
                <a:cubicBezTo>
                  <a:pt x="131008" y="24130"/>
                  <a:pt x="122952" y="24130"/>
                  <a:pt x="117991" y="29091"/>
                </a:cubicBezTo>
                <a:cubicBezTo>
                  <a:pt x="113030" y="34052"/>
                  <a:pt x="113030" y="42108"/>
                  <a:pt x="117991" y="47069"/>
                </a:cubicBezTo>
                <a:lnTo>
                  <a:pt x="159822" y="88900"/>
                </a:lnTo>
                <a:lnTo>
                  <a:pt x="12700" y="88900"/>
                </a:lnTo>
                <a:cubicBezTo>
                  <a:pt x="5675" y="88900"/>
                  <a:pt x="0" y="94575"/>
                  <a:pt x="0" y="101600"/>
                </a:cubicBezTo>
                <a:cubicBezTo>
                  <a:pt x="0" y="108625"/>
                  <a:pt x="5675" y="114300"/>
                  <a:pt x="12700" y="114300"/>
                </a:cubicBezTo>
                <a:lnTo>
                  <a:pt x="159822" y="114300"/>
                </a:lnTo>
                <a:lnTo>
                  <a:pt x="117991" y="156131"/>
                </a:lnTo>
                <a:cubicBezTo>
                  <a:pt x="113030" y="161092"/>
                  <a:pt x="113030" y="169148"/>
                  <a:pt x="117991" y="174109"/>
                </a:cubicBezTo>
                <a:cubicBezTo>
                  <a:pt x="122952" y="179070"/>
                  <a:pt x="131008" y="179070"/>
                  <a:pt x="135969" y="174109"/>
                </a:cubicBezTo>
                <a:lnTo>
                  <a:pt x="199469" y="110609"/>
                </a:ln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11176000" y="5619750"/>
            <a:ext cx="4267200" cy="12700"/>
          </a:xfrm>
          <a:custGeom>
            <a:avLst/>
            <a:gdLst/>
            <a:ahLst/>
            <a:cxnLst/>
            <a:rect l="l" t="t" r="r" b="b"/>
            <a:pathLst>
              <a:path w="4267200" h="12700">
                <a:moveTo>
                  <a:pt x="0" y="0"/>
                </a:moveTo>
                <a:lnTo>
                  <a:pt x="4267200" y="0"/>
                </a:lnTo>
                <a:lnTo>
                  <a:pt x="42672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11176000" y="4826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0798" y="0"/>
                </a:moveTo>
                <a:lnTo>
                  <a:pt x="558802" y="0"/>
                </a:lnTo>
                <a:cubicBezTo>
                  <a:pt x="586857" y="0"/>
                  <a:pt x="609600" y="22743"/>
                  <a:pt x="609600" y="50798"/>
                </a:cubicBezTo>
                <a:lnTo>
                  <a:pt x="609600" y="558802"/>
                </a:lnTo>
                <a:cubicBezTo>
                  <a:pt x="609600" y="586857"/>
                  <a:pt x="586857" y="609600"/>
                  <a:pt x="558802" y="609600"/>
                </a:cubicBezTo>
                <a:lnTo>
                  <a:pt x="50798" y="609600"/>
                </a:lnTo>
                <a:cubicBezTo>
                  <a:pt x="22743" y="609600"/>
                  <a:pt x="0" y="586857"/>
                  <a:pt x="0" y="5588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D69E2E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11247537" y="4978400"/>
            <a:ext cx="571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DWS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1938000" y="4800600"/>
            <a:ext cx="3213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半成品加工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1938000" y="5156200"/>
            <a:ext cx="3200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通用预制组件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15214600" y="50292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99469" y="110569"/>
                </a:moveTo>
                <a:cubicBezTo>
                  <a:pt x="204430" y="105608"/>
                  <a:pt x="204430" y="97552"/>
                  <a:pt x="199469" y="92591"/>
                </a:cubicBezTo>
                <a:lnTo>
                  <a:pt x="135969" y="29091"/>
                </a:lnTo>
                <a:cubicBezTo>
                  <a:pt x="131008" y="24130"/>
                  <a:pt x="122952" y="24130"/>
                  <a:pt x="117991" y="29091"/>
                </a:cubicBezTo>
                <a:cubicBezTo>
                  <a:pt x="113030" y="34052"/>
                  <a:pt x="113030" y="42108"/>
                  <a:pt x="117991" y="47069"/>
                </a:cubicBezTo>
                <a:lnTo>
                  <a:pt x="159822" y="88900"/>
                </a:lnTo>
                <a:lnTo>
                  <a:pt x="12700" y="88900"/>
                </a:lnTo>
                <a:cubicBezTo>
                  <a:pt x="5675" y="88900"/>
                  <a:pt x="0" y="94575"/>
                  <a:pt x="0" y="101600"/>
                </a:cubicBezTo>
                <a:cubicBezTo>
                  <a:pt x="0" y="108625"/>
                  <a:pt x="5675" y="114300"/>
                  <a:pt x="12700" y="114300"/>
                </a:cubicBezTo>
                <a:lnTo>
                  <a:pt x="159822" y="114300"/>
                </a:lnTo>
                <a:lnTo>
                  <a:pt x="117991" y="156131"/>
                </a:lnTo>
                <a:cubicBezTo>
                  <a:pt x="113030" y="161092"/>
                  <a:pt x="113030" y="169148"/>
                  <a:pt x="117991" y="174109"/>
                </a:cubicBezTo>
                <a:cubicBezTo>
                  <a:pt x="122952" y="179070"/>
                  <a:pt x="131008" y="179070"/>
                  <a:pt x="135969" y="174109"/>
                </a:cubicBezTo>
                <a:lnTo>
                  <a:pt x="199469" y="110609"/>
                </a:ln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>
            <a:off x="11176000" y="58547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0798" y="0"/>
                </a:moveTo>
                <a:lnTo>
                  <a:pt x="558802" y="0"/>
                </a:lnTo>
                <a:cubicBezTo>
                  <a:pt x="586857" y="0"/>
                  <a:pt x="609600" y="22743"/>
                  <a:pt x="609600" y="50798"/>
                </a:cubicBezTo>
                <a:lnTo>
                  <a:pt x="609600" y="558802"/>
                </a:lnTo>
                <a:cubicBezTo>
                  <a:pt x="609600" y="586857"/>
                  <a:pt x="586857" y="609600"/>
                  <a:pt x="558802" y="609600"/>
                </a:cubicBezTo>
                <a:lnTo>
                  <a:pt x="50798" y="609600"/>
                </a:lnTo>
                <a:cubicBezTo>
                  <a:pt x="22743" y="609600"/>
                  <a:pt x="0" y="586857"/>
                  <a:pt x="0" y="5588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D69E2E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11277302" y="6007100"/>
            <a:ext cx="50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ADS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1938000" y="5829300"/>
            <a:ext cx="3213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精致摆盘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1938000" y="6184900"/>
            <a:ext cx="3200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成品定制输出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15214600" y="60579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Shape 51"/>
          <p:cNvSpPr/>
          <p:nvPr/>
        </p:nvSpPr>
        <p:spPr>
          <a:xfrm>
            <a:off x="11176000" y="6800850"/>
            <a:ext cx="4267200" cy="12700"/>
          </a:xfrm>
          <a:custGeom>
            <a:avLst/>
            <a:gdLst/>
            <a:ahLst/>
            <a:cxnLst/>
            <a:rect l="l" t="t" r="r" b="b"/>
            <a:pathLst>
              <a:path w="4267200" h="12700">
                <a:moveTo>
                  <a:pt x="0" y="0"/>
                </a:moveTo>
                <a:lnTo>
                  <a:pt x="4267200" y="0"/>
                </a:lnTo>
                <a:lnTo>
                  <a:pt x="42672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Shape 52"/>
          <p:cNvSpPr/>
          <p:nvPr/>
        </p:nvSpPr>
        <p:spPr>
          <a:xfrm>
            <a:off x="11226800" y="7061200"/>
            <a:ext cx="152400" cy="203200"/>
          </a:xfrm>
          <a:custGeom>
            <a:avLst/>
            <a:gdLst/>
            <a:ahLst/>
            <a:cxnLst/>
            <a:rect l="l" t="t" r="r" b="b"/>
            <a:pathLst>
              <a:path w="152400" h="203200">
                <a:moveTo>
                  <a:pt x="116245" y="152400"/>
                </a:moveTo>
                <a:cubicBezTo>
                  <a:pt x="119142" y="143550"/>
                  <a:pt x="124936" y="135533"/>
                  <a:pt x="131485" y="128627"/>
                </a:cubicBezTo>
                <a:cubicBezTo>
                  <a:pt x="144462" y="114975"/>
                  <a:pt x="152400" y="96520"/>
                  <a:pt x="152400" y="76200"/>
                </a:cubicBezTo>
                <a:cubicBezTo>
                  <a:pt x="152400" y="34131"/>
                  <a:pt x="118269" y="0"/>
                  <a:pt x="76200" y="0"/>
                </a:cubicBezTo>
                <a:cubicBezTo>
                  <a:pt x="34131" y="0"/>
                  <a:pt x="0" y="34131"/>
                  <a:pt x="0" y="76200"/>
                </a:cubicBezTo>
                <a:cubicBezTo>
                  <a:pt x="0" y="96520"/>
                  <a:pt x="7938" y="114975"/>
                  <a:pt x="20915" y="128627"/>
                </a:cubicBezTo>
                <a:cubicBezTo>
                  <a:pt x="27464" y="135533"/>
                  <a:pt x="33298" y="143550"/>
                  <a:pt x="36155" y="152400"/>
                </a:cubicBezTo>
                <a:lnTo>
                  <a:pt x="116205" y="152400"/>
                </a:lnTo>
                <a:close/>
                <a:moveTo>
                  <a:pt x="114300" y="171450"/>
                </a:moveTo>
                <a:lnTo>
                  <a:pt x="38100" y="171450"/>
                </a:lnTo>
                <a:lnTo>
                  <a:pt x="38100" y="177800"/>
                </a:lnTo>
                <a:cubicBezTo>
                  <a:pt x="38100" y="195342"/>
                  <a:pt x="52308" y="209550"/>
                  <a:pt x="69850" y="209550"/>
                </a:cubicBezTo>
                <a:lnTo>
                  <a:pt x="82550" y="209550"/>
                </a:lnTo>
                <a:cubicBezTo>
                  <a:pt x="100092" y="209550"/>
                  <a:pt x="114300" y="195342"/>
                  <a:pt x="114300" y="177800"/>
                </a:cubicBezTo>
                <a:lnTo>
                  <a:pt x="114300" y="171450"/>
                </a:lnTo>
                <a:close/>
                <a:moveTo>
                  <a:pt x="73025" y="44450"/>
                </a:moveTo>
                <a:cubicBezTo>
                  <a:pt x="57229" y="44450"/>
                  <a:pt x="44450" y="57229"/>
                  <a:pt x="44450" y="73025"/>
                </a:cubicBezTo>
                <a:cubicBezTo>
                  <a:pt x="44450" y="78303"/>
                  <a:pt x="40203" y="82550"/>
                  <a:pt x="34925" y="82550"/>
                </a:cubicBezTo>
                <a:cubicBezTo>
                  <a:pt x="29647" y="82550"/>
                  <a:pt x="25400" y="78303"/>
                  <a:pt x="25400" y="73025"/>
                </a:cubicBezTo>
                <a:cubicBezTo>
                  <a:pt x="25400" y="46712"/>
                  <a:pt x="46712" y="25400"/>
                  <a:pt x="73025" y="25400"/>
                </a:cubicBezTo>
                <a:cubicBezTo>
                  <a:pt x="78303" y="25400"/>
                  <a:pt x="82550" y="29647"/>
                  <a:pt x="82550" y="34925"/>
                </a:cubicBezTo>
                <a:cubicBezTo>
                  <a:pt x="82550" y="40203"/>
                  <a:pt x="78303" y="44450"/>
                  <a:pt x="73025" y="44450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/>
          <p:nvPr/>
        </p:nvSpPr>
        <p:spPr>
          <a:xfrm>
            <a:off x="11531600" y="70104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类比价值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1176000" y="7416800"/>
            <a:ext cx="43688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通过中央厨房这个生活化的例子,我们可以更直观地理解数据分层的必要性和价值。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4221" y="461163"/>
            <a:ext cx="1913827" cy="368930"/>
          </a:xfrm>
          <a:custGeom>
            <a:avLst/>
            <a:gdLst/>
            <a:ahLst/>
            <a:cxnLst/>
            <a:rect l="l" t="t" r="r" b="b"/>
            <a:pathLst>
              <a:path w="1913827" h="368930">
                <a:moveTo>
                  <a:pt x="0" y="0"/>
                </a:moveTo>
                <a:lnTo>
                  <a:pt x="1913827" y="0"/>
                </a:lnTo>
                <a:lnTo>
                  <a:pt x="1913827" y="368930"/>
                </a:lnTo>
                <a:lnTo>
                  <a:pt x="0" y="368930"/>
                </a:lnTo>
                <a:lnTo>
                  <a:pt x="0" y="0"/>
                </a:lnTo>
                <a:close/>
              </a:path>
            </a:pathLst>
          </a:custGeom>
          <a:solidFill>
            <a:srgbClr val="718096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484221" y="461163"/>
            <a:ext cx="46116" cy="368930"/>
          </a:xfrm>
          <a:custGeom>
            <a:avLst/>
            <a:gdLst/>
            <a:ahLst/>
            <a:cxnLst/>
            <a:rect l="l" t="t" r="r" b="b"/>
            <a:pathLst>
              <a:path w="46116" h="368930">
                <a:moveTo>
                  <a:pt x="0" y="0"/>
                </a:moveTo>
                <a:lnTo>
                  <a:pt x="46116" y="0"/>
                </a:lnTo>
                <a:lnTo>
                  <a:pt x="46116" y="368930"/>
                </a:lnTo>
                <a:lnTo>
                  <a:pt x="0" y="368930"/>
                </a:lnTo>
                <a:lnTo>
                  <a:pt x="0" y="0"/>
                </a:ln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691745" y="524573"/>
            <a:ext cx="1617043" cy="242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52" b="1" kern="0" spc="73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LAYER 01 · ODS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61163" y="922326"/>
            <a:ext cx="15541197" cy="4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268" b="1" dirty="0">
                <a:solidFill>
                  <a:srgbClr val="E2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ODS层：采购入库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4221" y="1614071"/>
            <a:ext cx="10606752" cy="1360431"/>
          </a:xfrm>
          <a:custGeom>
            <a:avLst/>
            <a:gdLst/>
            <a:ahLst/>
            <a:cxnLst/>
            <a:rect l="l" t="t" r="r" b="b"/>
            <a:pathLst>
              <a:path w="10606752" h="1360431">
                <a:moveTo>
                  <a:pt x="46116" y="0"/>
                </a:moveTo>
                <a:lnTo>
                  <a:pt x="10514515" y="0"/>
                </a:lnTo>
                <a:cubicBezTo>
                  <a:pt x="10565456" y="0"/>
                  <a:pt x="10606752" y="41296"/>
                  <a:pt x="10606752" y="92237"/>
                </a:cubicBezTo>
                <a:lnTo>
                  <a:pt x="10606752" y="1268194"/>
                </a:lnTo>
                <a:cubicBezTo>
                  <a:pt x="10606752" y="1319135"/>
                  <a:pt x="10565456" y="1360431"/>
                  <a:pt x="10514515" y="1360431"/>
                </a:cubicBezTo>
                <a:lnTo>
                  <a:pt x="46116" y="1360431"/>
                </a:lnTo>
                <a:cubicBezTo>
                  <a:pt x="20647" y="1360431"/>
                  <a:pt x="0" y="1339784"/>
                  <a:pt x="0" y="1314315"/>
                </a:cubicBezTo>
                <a:lnTo>
                  <a:pt x="0" y="46116"/>
                </a:lnTo>
                <a:cubicBezTo>
                  <a:pt x="0" y="20664"/>
                  <a:pt x="20664" y="0"/>
                  <a:pt x="46116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84221" y="1614071"/>
            <a:ext cx="46116" cy="1360431"/>
          </a:xfrm>
          <a:custGeom>
            <a:avLst/>
            <a:gdLst/>
            <a:ahLst/>
            <a:cxnLst/>
            <a:rect l="l" t="t" r="r" b="b"/>
            <a:pathLst>
              <a:path w="46116" h="1360431">
                <a:moveTo>
                  <a:pt x="46116" y="0"/>
                </a:moveTo>
                <a:lnTo>
                  <a:pt x="46116" y="0"/>
                </a:lnTo>
                <a:lnTo>
                  <a:pt x="46116" y="1360431"/>
                </a:lnTo>
                <a:lnTo>
                  <a:pt x="46116" y="1360431"/>
                </a:lnTo>
                <a:cubicBezTo>
                  <a:pt x="20647" y="1360431"/>
                  <a:pt x="0" y="1339784"/>
                  <a:pt x="0" y="1314315"/>
                </a:cubicBezTo>
                <a:lnTo>
                  <a:pt x="0" y="46116"/>
                </a:lnTo>
                <a:cubicBezTo>
                  <a:pt x="0" y="20647"/>
                  <a:pt x="20647" y="0"/>
                  <a:pt x="46116" y="0"/>
                </a:cubicBez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783977" y="1890769"/>
            <a:ext cx="737861" cy="737861"/>
          </a:xfrm>
          <a:custGeom>
            <a:avLst/>
            <a:gdLst/>
            <a:ahLst/>
            <a:cxnLst/>
            <a:rect l="l" t="t" r="r" b="b"/>
            <a:pathLst>
              <a:path w="737861" h="737861">
                <a:moveTo>
                  <a:pt x="46116" y="0"/>
                </a:moveTo>
                <a:lnTo>
                  <a:pt x="691745" y="0"/>
                </a:lnTo>
                <a:cubicBezTo>
                  <a:pt x="717214" y="0"/>
                  <a:pt x="737861" y="20647"/>
                  <a:pt x="737861" y="46116"/>
                </a:cubicBezTo>
                <a:lnTo>
                  <a:pt x="737861" y="691745"/>
                </a:lnTo>
                <a:cubicBezTo>
                  <a:pt x="737861" y="717214"/>
                  <a:pt x="717214" y="737861"/>
                  <a:pt x="691745" y="737861"/>
                </a:cubicBezTo>
                <a:lnTo>
                  <a:pt x="46116" y="737861"/>
                </a:lnTo>
                <a:cubicBezTo>
                  <a:pt x="20647" y="737861"/>
                  <a:pt x="0" y="717214"/>
                  <a:pt x="0" y="691745"/>
                </a:cubicBezTo>
                <a:lnTo>
                  <a:pt x="0" y="46116"/>
                </a:lnTo>
                <a:cubicBezTo>
                  <a:pt x="0" y="20647"/>
                  <a:pt x="20647" y="0"/>
                  <a:pt x="46116" y="0"/>
                </a:cubicBezTo>
                <a:close/>
              </a:path>
            </a:pathLst>
          </a:custGeom>
          <a:solidFill>
            <a:srgbClr val="718096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997265" y="2121350"/>
            <a:ext cx="311285" cy="276698"/>
          </a:xfrm>
          <a:custGeom>
            <a:avLst/>
            <a:gdLst/>
            <a:ahLst/>
            <a:cxnLst/>
            <a:rect l="l" t="t" r="r" b="b"/>
            <a:pathLst>
              <a:path w="311285" h="276698">
                <a:moveTo>
                  <a:pt x="0" y="51881"/>
                </a:moveTo>
                <a:cubicBezTo>
                  <a:pt x="0" y="32804"/>
                  <a:pt x="15510" y="17294"/>
                  <a:pt x="34587" y="17294"/>
                </a:cubicBezTo>
                <a:lnTo>
                  <a:pt x="190230" y="17294"/>
                </a:lnTo>
                <a:cubicBezTo>
                  <a:pt x="209307" y="17294"/>
                  <a:pt x="224817" y="32804"/>
                  <a:pt x="224817" y="51881"/>
                </a:cubicBezTo>
                <a:lnTo>
                  <a:pt x="224817" y="69174"/>
                </a:lnTo>
                <a:lnTo>
                  <a:pt x="252217" y="69174"/>
                </a:lnTo>
                <a:cubicBezTo>
                  <a:pt x="261404" y="69174"/>
                  <a:pt x="270213" y="72795"/>
                  <a:pt x="276698" y="79280"/>
                </a:cubicBezTo>
                <a:lnTo>
                  <a:pt x="301179" y="103762"/>
                </a:lnTo>
                <a:cubicBezTo>
                  <a:pt x="307664" y="110247"/>
                  <a:pt x="311285" y="119056"/>
                  <a:pt x="311285" y="128243"/>
                </a:cubicBezTo>
                <a:lnTo>
                  <a:pt x="311285" y="207523"/>
                </a:lnTo>
                <a:cubicBezTo>
                  <a:pt x="311285" y="226600"/>
                  <a:pt x="295775" y="242111"/>
                  <a:pt x="276698" y="242111"/>
                </a:cubicBezTo>
                <a:lnTo>
                  <a:pt x="274914" y="242111"/>
                </a:lnTo>
                <a:cubicBezTo>
                  <a:pt x="269294" y="262052"/>
                  <a:pt x="250920" y="276698"/>
                  <a:pt x="229140" y="276698"/>
                </a:cubicBezTo>
                <a:cubicBezTo>
                  <a:pt x="207361" y="276698"/>
                  <a:pt x="189041" y="262052"/>
                  <a:pt x="183366" y="242111"/>
                </a:cubicBezTo>
                <a:lnTo>
                  <a:pt x="127919" y="242111"/>
                </a:lnTo>
                <a:cubicBezTo>
                  <a:pt x="122298" y="262052"/>
                  <a:pt x="103924" y="276698"/>
                  <a:pt x="82145" y="276698"/>
                </a:cubicBezTo>
                <a:cubicBezTo>
                  <a:pt x="60366" y="276698"/>
                  <a:pt x="42045" y="262052"/>
                  <a:pt x="36371" y="242111"/>
                </a:cubicBezTo>
                <a:lnTo>
                  <a:pt x="34587" y="242111"/>
                </a:lnTo>
                <a:cubicBezTo>
                  <a:pt x="15510" y="242111"/>
                  <a:pt x="0" y="226600"/>
                  <a:pt x="0" y="207523"/>
                </a:cubicBezTo>
                <a:lnTo>
                  <a:pt x="0" y="51881"/>
                </a:lnTo>
                <a:close/>
                <a:moveTo>
                  <a:pt x="276698" y="155643"/>
                </a:moveTo>
                <a:lnTo>
                  <a:pt x="276698" y="128243"/>
                </a:lnTo>
                <a:lnTo>
                  <a:pt x="252217" y="103762"/>
                </a:lnTo>
                <a:lnTo>
                  <a:pt x="224817" y="103762"/>
                </a:lnTo>
                <a:lnTo>
                  <a:pt x="224817" y="155643"/>
                </a:lnTo>
                <a:lnTo>
                  <a:pt x="276698" y="155643"/>
                </a:lnTo>
                <a:close/>
                <a:moveTo>
                  <a:pt x="103762" y="229140"/>
                </a:moveTo>
                <a:cubicBezTo>
                  <a:pt x="103762" y="217210"/>
                  <a:pt x="94075" y="207523"/>
                  <a:pt x="82145" y="207523"/>
                </a:cubicBezTo>
                <a:cubicBezTo>
                  <a:pt x="70214" y="207523"/>
                  <a:pt x="60528" y="217210"/>
                  <a:pt x="60528" y="229140"/>
                </a:cubicBezTo>
                <a:cubicBezTo>
                  <a:pt x="60528" y="241071"/>
                  <a:pt x="70214" y="250757"/>
                  <a:pt x="82145" y="250757"/>
                </a:cubicBezTo>
                <a:cubicBezTo>
                  <a:pt x="94075" y="250757"/>
                  <a:pt x="103762" y="241071"/>
                  <a:pt x="103762" y="229140"/>
                </a:cubicBezTo>
                <a:close/>
                <a:moveTo>
                  <a:pt x="229140" y="250757"/>
                </a:moveTo>
                <a:cubicBezTo>
                  <a:pt x="241071" y="250757"/>
                  <a:pt x="250757" y="241071"/>
                  <a:pt x="250757" y="229140"/>
                </a:cubicBezTo>
                <a:cubicBezTo>
                  <a:pt x="250757" y="217210"/>
                  <a:pt x="241071" y="207523"/>
                  <a:pt x="229140" y="207523"/>
                </a:cubicBezTo>
                <a:cubicBezTo>
                  <a:pt x="217210" y="207523"/>
                  <a:pt x="207523" y="217210"/>
                  <a:pt x="207523" y="229140"/>
                </a:cubicBezTo>
                <a:cubicBezTo>
                  <a:pt x="207523" y="241071"/>
                  <a:pt x="217210" y="250757"/>
                  <a:pt x="229140" y="250757"/>
                </a:cubicBez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706304" y="1890769"/>
            <a:ext cx="9246321" cy="36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79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动作：原材料验收存储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706304" y="2398048"/>
            <a:ext cx="9200204" cy="299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52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供应商送来的</a:t>
            </a:r>
            <a:r>
              <a:rPr lang="en-US" sz="1452" dirty="0">
                <a:solidFill>
                  <a:srgbClr val="718096"/>
                </a:solidFill>
                <a:highlight>
                  <a:srgbClr val="718096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土豆、活鱼、青菜,带着泥土 </a:t>
            </a:r>
            <a:r>
              <a:rPr lang="en-US" sz="1452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,原封不动地搬进仓库。不做任何处理,保持原材料的原始状态。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84221" y="3205084"/>
            <a:ext cx="10606752" cy="1775478"/>
          </a:xfrm>
          <a:custGeom>
            <a:avLst/>
            <a:gdLst/>
            <a:ahLst/>
            <a:cxnLst/>
            <a:rect l="l" t="t" r="r" b="b"/>
            <a:pathLst>
              <a:path w="10606752" h="1775478">
                <a:moveTo>
                  <a:pt x="46116" y="0"/>
                </a:moveTo>
                <a:lnTo>
                  <a:pt x="10514516" y="0"/>
                </a:lnTo>
                <a:cubicBezTo>
                  <a:pt x="10565456" y="0"/>
                  <a:pt x="10606752" y="41296"/>
                  <a:pt x="10606752" y="92236"/>
                </a:cubicBezTo>
                <a:lnTo>
                  <a:pt x="10606752" y="1683242"/>
                </a:lnTo>
                <a:cubicBezTo>
                  <a:pt x="10606752" y="1734183"/>
                  <a:pt x="10565456" y="1775478"/>
                  <a:pt x="10514516" y="1775478"/>
                </a:cubicBezTo>
                <a:lnTo>
                  <a:pt x="46116" y="1775478"/>
                </a:lnTo>
                <a:cubicBezTo>
                  <a:pt x="20647" y="1775478"/>
                  <a:pt x="0" y="1754831"/>
                  <a:pt x="0" y="1729362"/>
                </a:cubicBezTo>
                <a:lnTo>
                  <a:pt x="0" y="46116"/>
                </a:lnTo>
                <a:cubicBezTo>
                  <a:pt x="0" y="20647"/>
                  <a:pt x="20647" y="0"/>
                  <a:pt x="46116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484221" y="3205084"/>
            <a:ext cx="46116" cy="1775478"/>
          </a:xfrm>
          <a:custGeom>
            <a:avLst/>
            <a:gdLst/>
            <a:ahLst/>
            <a:cxnLst/>
            <a:rect l="l" t="t" r="r" b="b"/>
            <a:pathLst>
              <a:path w="46116" h="1775478">
                <a:moveTo>
                  <a:pt x="46116" y="0"/>
                </a:moveTo>
                <a:lnTo>
                  <a:pt x="46116" y="0"/>
                </a:lnTo>
                <a:lnTo>
                  <a:pt x="46116" y="1775478"/>
                </a:lnTo>
                <a:lnTo>
                  <a:pt x="46116" y="1775478"/>
                </a:lnTo>
                <a:cubicBezTo>
                  <a:pt x="20647" y="1775478"/>
                  <a:pt x="0" y="1754831"/>
                  <a:pt x="0" y="1729362"/>
                </a:cubicBezTo>
                <a:lnTo>
                  <a:pt x="0" y="46116"/>
                </a:lnTo>
                <a:cubicBezTo>
                  <a:pt x="0" y="20647"/>
                  <a:pt x="20647" y="0"/>
                  <a:pt x="46116" y="0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783977" y="3481782"/>
            <a:ext cx="737861" cy="737861"/>
          </a:xfrm>
          <a:custGeom>
            <a:avLst/>
            <a:gdLst/>
            <a:ahLst/>
            <a:cxnLst/>
            <a:rect l="l" t="t" r="r" b="b"/>
            <a:pathLst>
              <a:path w="737861" h="737861">
                <a:moveTo>
                  <a:pt x="46116" y="0"/>
                </a:moveTo>
                <a:lnTo>
                  <a:pt x="691745" y="0"/>
                </a:lnTo>
                <a:cubicBezTo>
                  <a:pt x="717214" y="0"/>
                  <a:pt x="737861" y="20647"/>
                  <a:pt x="737861" y="46116"/>
                </a:cubicBezTo>
                <a:lnTo>
                  <a:pt x="737861" y="691745"/>
                </a:lnTo>
                <a:cubicBezTo>
                  <a:pt x="737861" y="717214"/>
                  <a:pt x="717214" y="737861"/>
                  <a:pt x="691745" y="737861"/>
                </a:cubicBezTo>
                <a:lnTo>
                  <a:pt x="46116" y="737861"/>
                </a:lnTo>
                <a:cubicBezTo>
                  <a:pt x="20647" y="737861"/>
                  <a:pt x="0" y="717214"/>
                  <a:pt x="0" y="691745"/>
                </a:cubicBezTo>
                <a:lnTo>
                  <a:pt x="0" y="46116"/>
                </a:lnTo>
                <a:cubicBezTo>
                  <a:pt x="0" y="20647"/>
                  <a:pt x="20647" y="0"/>
                  <a:pt x="46116" y="0"/>
                </a:cubicBezTo>
                <a:close/>
              </a:path>
            </a:pathLst>
          </a:custGeom>
          <a:solidFill>
            <a:srgbClr val="D69E2E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1014559" y="3712363"/>
            <a:ext cx="276698" cy="276698"/>
          </a:xfrm>
          <a:custGeom>
            <a:avLst/>
            <a:gdLst/>
            <a:ahLst/>
            <a:cxnLst/>
            <a:rect l="l" t="t" r="r" b="b"/>
            <a:pathLst>
              <a:path w="276698" h="276698">
                <a:moveTo>
                  <a:pt x="138349" y="0"/>
                </a:moveTo>
                <a:cubicBezTo>
                  <a:pt x="140835" y="0"/>
                  <a:pt x="143321" y="540"/>
                  <a:pt x="145591" y="1567"/>
                </a:cubicBezTo>
                <a:lnTo>
                  <a:pt x="247407" y="44747"/>
                </a:lnTo>
                <a:cubicBezTo>
                  <a:pt x="259296" y="49773"/>
                  <a:pt x="268159" y="61500"/>
                  <a:pt x="268105" y="75660"/>
                </a:cubicBezTo>
                <a:cubicBezTo>
                  <a:pt x="267835" y="129270"/>
                  <a:pt x="245786" y="227357"/>
                  <a:pt x="152670" y="271942"/>
                </a:cubicBezTo>
                <a:cubicBezTo>
                  <a:pt x="143645" y="276266"/>
                  <a:pt x="133161" y="276266"/>
                  <a:pt x="124136" y="271942"/>
                </a:cubicBezTo>
                <a:cubicBezTo>
                  <a:pt x="30966" y="227357"/>
                  <a:pt x="8971" y="129270"/>
                  <a:pt x="8701" y="75660"/>
                </a:cubicBezTo>
                <a:cubicBezTo>
                  <a:pt x="8647" y="61500"/>
                  <a:pt x="17510" y="49773"/>
                  <a:pt x="29399" y="44747"/>
                </a:cubicBezTo>
                <a:lnTo>
                  <a:pt x="131161" y="1567"/>
                </a:lnTo>
                <a:cubicBezTo>
                  <a:pt x="133431" y="540"/>
                  <a:pt x="135863" y="0"/>
                  <a:pt x="138349" y="0"/>
                </a:cubicBezTo>
                <a:close/>
                <a:moveTo>
                  <a:pt x="138349" y="36100"/>
                </a:moveTo>
                <a:lnTo>
                  <a:pt x="138349" y="240435"/>
                </a:lnTo>
                <a:cubicBezTo>
                  <a:pt x="212928" y="204335"/>
                  <a:pt x="232977" y="124352"/>
                  <a:pt x="233464" y="76470"/>
                </a:cubicBezTo>
                <a:lnTo>
                  <a:pt x="138349" y="36154"/>
                </a:lnTo>
                <a:lnTo>
                  <a:pt x="138349" y="36154"/>
                </a:ln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1706304" y="3481782"/>
            <a:ext cx="9246321" cy="36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79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原则：保持原貌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706304" y="3989061"/>
            <a:ext cx="9200204" cy="299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52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即使收到的是次品,也要如实记录,确保后续出现问题时可追溯到源头。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729362" y="4473282"/>
            <a:ext cx="184465" cy="184465"/>
          </a:xfrm>
          <a:custGeom>
            <a:avLst/>
            <a:gdLst/>
            <a:ahLst/>
            <a:cxnLst/>
            <a:rect l="l" t="t" r="r" b="b"/>
            <a:pathLst>
              <a:path w="184465" h="184465">
                <a:moveTo>
                  <a:pt x="92233" y="184465"/>
                </a:moveTo>
                <a:cubicBezTo>
                  <a:pt x="143137" y="184465"/>
                  <a:pt x="184465" y="143137"/>
                  <a:pt x="184465" y="92233"/>
                </a:cubicBezTo>
                <a:cubicBezTo>
                  <a:pt x="184465" y="41328"/>
                  <a:pt x="143137" y="0"/>
                  <a:pt x="92233" y="0"/>
                </a:cubicBezTo>
                <a:cubicBezTo>
                  <a:pt x="41328" y="0"/>
                  <a:pt x="0" y="41328"/>
                  <a:pt x="0" y="92233"/>
                </a:cubicBezTo>
                <a:cubicBezTo>
                  <a:pt x="0" y="143137"/>
                  <a:pt x="41328" y="184465"/>
                  <a:pt x="92233" y="184465"/>
                </a:cubicBezTo>
                <a:close/>
                <a:moveTo>
                  <a:pt x="122641" y="76632"/>
                </a:moveTo>
                <a:lnTo>
                  <a:pt x="93818" y="122749"/>
                </a:lnTo>
                <a:cubicBezTo>
                  <a:pt x="92305" y="125163"/>
                  <a:pt x="89711" y="126676"/>
                  <a:pt x="86864" y="126820"/>
                </a:cubicBezTo>
                <a:cubicBezTo>
                  <a:pt x="84018" y="126964"/>
                  <a:pt x="81280" y="125667"/>
                  <a:pt x="79587" y="123361"/>
                </a:cubicBezTo>
                <a:lnTo>
                  <a:pt x="62293" y="100303"/>
                </a:lnTo>
                <a:cubicBezTo>
                  <a:pt x="59411" y="96484"/>
                  <a:pt x="60203" y="91080"/>
                  <a:pt x="64022" y="88197"/>
                </a:cubicBezTo>
                <a:cubicBezTo>
                  <a:pt x="67841" y="85315"/>
                  <a:pt x="73246" y="86108"/>
                  <a:pt x="76128" y="89927"/>
                </a:cubicBezTo>
                <a:lnTo>
                  <a:pt x="85856" y="102897"/>
                </a:lnTo>
                <a:lnTo>
                  <a:pt x="107977" y="67481"/>
                </a:lnTo>
                <a:cubicBezTo>
                  <a:pt x="110499" y="63446"/>
                  <a:pt x="115831" y="62185"/>
                  <a:pt x="119902" y="64743"/>
                </a:cubicBezTo>
                <a:cubicBezTo>
                  <a:pt x="123974" y="67301"/>
                  <a:pt x="125199" y="72597"/>
                  <a:pt x="122641" y="76668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2029118" y="4427166"/>
            <a:ext cx="3043677" cy="276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52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这是质量控制和责任划分的重要依据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61163" y="5211143"/>
            <a:ext cx="10629810" cy="2167467"/>
          </a:xfrm>
          <a:custGeom>
            <a:avLst/>
            <a:gdLst/>
            <a:ahLst/>
            <a:cxnLst/>
            <a:rect l="l" t="t" r="r" b="b"/>
            <a:pathLst>
              <a:path w="10629810" h="2167467">
                <a:moveTo>
                  <a:pt x="92226" y="0"/>
                </a:moveTo>
                <a:lnTo>
                  <a:pt x="10537584" y="0"/>
                </a:lnTo>
                <a:cubicBezTo>
                  <a:pt x="10588519" y="0"/>
                  <a:pt x="10629810" y="41291"/>
                  <a:pt x="10629810" y="92226"/>
                </a:cubicBezTo>
                <a:lnTo>
                  <a:pt x="10629810" y="2075241"/>
                </a:lnTo>
                <a:cubicBezTo>
                  <a:pt x="10629810" y="2126176"/>
                  <a:pt x="10588519" y="2167467"/>
                  <a:pt x="10537584" y="2167467"/>
                </a:cubicBezTo>
                <a:lnTo>
                  <a:pt x="92226" y="2167467"/>
                </a:lnTo>
                <a:cubicBezTo>
                  <a:pt x="41291" y="2167467"/>
                  <a:pt x="0" y="2126176"/>
                  <a:pt x="0" y="2075241"/>
                </a:cubicBezTo>
                <a:lnTo>
                  <a:pt x="0" y="92226"/>
                </a:lnTo>
                <a:cubicBezTo>
                  <a:pt x="0" y="41291"/>
                  <a:pt x="41291" y="0"/>
                  <a:pt x="92226" y="0"/>
                </a:cubicBezTo>
                <a:close/>
              </a:path>
            </a:pathLst>
          </a:custGeom>
          <a:solidFill>
            <a:srgbClr val="2D3748">
              <a:alpha val="4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781095" y="5533957"/>
            <a:ext cx="201759" cy="230582"/>
          </a:xfrm>
          <a:custGeom>
            <a:avLst/>
            <a:gdLst/>
            <a:ahLst/>
            <a:cxnLst/>
            <a:rect l="l" t="t" r="r" b="b"/>
            <a:pathLst>
              <a:path w="201759" h="230582">
                <a:moveTo>
                  <a:pt x="201759" y="92683"/>
                </a:moveTo>
                <a:cubicBezTo>
                  <a:pt x="195094" y="97096"/>
                  <a:pt x="187438" y="100654"/>
                  <a:pt x="179466" y="103491"/>
                </a:cubicBezTo>
                <a:cubicBezTo>
                  <a:pt x="158300" y="111057"/>
                  <a:pt x="130513" y="115291"/>
                  <a:pt x="100879" y="115291"/>
                </a:cubicBezTo>
                <a:cubicBezTo>
                  <a:pt x="71246" y="115291"/>
                  <a:pt x="43414" y="111012"/>
                  <a:pt x="22293" y="103491"/>
                </a:cubicBezTo>
                <a:cubicBezTo>
                  <a:pt x="14366" y="100654"/>
                  <a:pt x="6665" y="97096"/>
                  <a:pt x="0" y="92683"/>
                </a:cubicBezTo>
                <a:lnTo>
                  <a:pt x="0" y="129702"/>
                </a:lnTo>
                <a:cubicBezTo>
                  <a:pt x="0" y="149608"/>
                  <a:pt x="45171" y="165730"/>
                  <a:pt x="100879" y="165730"/>
                </a:cubicBezTo>
                <a:cubicBezTo>
                  <a:pt x="156588" y="165730"/>
                  <a:pt x="201759" y="149608"/>
                  <a:pt x="201759" y="129702"/>
                </a:cubicBezTo>
                <a:lnTo>
                  <a:pt x="201759" y="92683"/>
                </a:lnTo>
                <a:close/>
                <a:moveTo>
                  <a:pt x="201759" y="57645"/>
                </a:moveTo>
                <a:lnTo>
                  <a:pt x="201759" y="36028"/>
                </a:lnTo>
                <a:cubicBezTo>
                  <a:pt x="201759" y="16123"/>
                  <a:pt x="156588" y="0"/>
                  <a:pt x="100879" y="0"/>
                </a:cubicBezTo>
                <a:cubicBezTo>
                  <a:pt x="45171" y="0"/>
                  <a:pt x="0" y="16123"/>
                  <a:pt x="0" y="36028"/>
                </a:cubicBezTo>
                <a:lnTo>
                  <a:pt x="0" y="57645"/>
                </a:lnTo>
                <a:cubicBezTo>
                  <a:pt x="0" y="77551"/>
                  <a:pt x="45171" y="93674"/>
                  <a:pt x="100879" y="93674"/>
                </a:cubicBezTo>
                <a:cubicBezTo>
                  <a:pt x="156588" y="93674"/>
                  <a:pt x="201759" y="77551"/>
                  <a:pt x="201759" y="57645"/>
                </a:cubicBezTo>
                <a:close/>
                <a:moveTo>
                  <a:pt x="179466" y="175548"/>
                </a:moveTo>
                <a:cubicBezTo>
                  <a:pt x="158345" y="183069"/>
                  <a:pt x="130558" y="187348"/>
                  <a:pt x="100879" y="187348"/>
                </a:cubicBezTo>
                <a:cubicBezTo>
                  <a:pt x="71201" y="187348"/>
                  <a:pt x="43414" y="183069"/>
                  <a:pt x="22293" y="175548"/>
                </a:cubicBezTo>
                <a:cubicBezTo>
                  <a:pt x="14366" y="172711"/>
                  <a:pt x="6665" y="169153"/>
                  <a:pt x="0" y="164740"/>
                </a:cubicBezTo>
                <a:lnTo>
                  <a:pt x="0" y="194553"/>
                </a:lnTo>
                <a:cubicBezTo>
                  <a:pt x="0" y="214459"/>
                  <a:pt x="45171" y="230582"/>
                  <a:pt x="100879" y="230582"/>
                </a:cubicBezTo>
                <a:cubicBezTo>
                  <a:pt x="156588" y="230582"/>
                  <a:pt x="201759" y="214459"/>
                  <a:pt x="201759" y="194553"/>
                </a:cubicBezTo>
                <a:lnTo>
                  <a:pt x="201759" y="164740"/>
                </a:lnTo>
                <a:cubicBezTo>
                  <a:pt x="195094" y="169153"/>
                  <a:pt x="187438" y="172711"/>
                  <a:pt x="179466" y="175548"/>
                </a:cubicBez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1026088" y="5487841"/>
            <a:ext cx="9903478" cy="322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16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数据领域的映射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55155" y="6087353"/>
            <a:ext cx="138349" cy="138349"/>
          </a:xfrm>
          <a:custGeom>
            <a:avLst/>
            <a:gdLst/>
            <a:ahLst/>
            <a:cxnLst/>
            <a:rect l="l" t="t" r="r" b="b"/>
            <a:pathLst>
              <a:path w="138349" h="138349">
                <a:moveTo>
                  <a:pt x="0" y="69174"/>
                </a:moveTo>
                <a:cubicBezTo>
                  <a:pt x="0" y="30996"/>
                  <a:pt x="30996" y="0"/>
                  <a:pt x="69174" y="0"/>
                </a:cubicBezTo>
                <a:cubicBezTo>
                  <a:pt x="107353" y="0"/>
                  <a:pt x="138349" y="30996"/>
                  <a:pt x="138349" y="69174"/>
                </a:cubicBezTo>
                <a:cubicBezTo>
                  <a:pt x="138349" y="107353"/>
                  <a:pt x="107353" y="138349"/>
                  <a:pt x="69174" y="138349"/>
                </a:cubicBezTo>
                <a:cubicBezTo>
                  <a:pt x="30996" y="138349"/>
                  <a:pt x="0" y="107353"/>
                  <a:pt x="0" y="69174"/>
                </a:cubicBez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1049146" y="5995121"/>
            <a:ext cx="5118911" cy="276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52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原始数据无损快照：</a:t>
            </a:r>
            <a:r>
              <a:rPr lang="en-US" sz="1452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保留所有字段名和编码,不做任何清洗转换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55155" y="6502400"/>
            <a:ext cx="138349" cy="138349"/>
          </a:xfrm>
          <a:custGeom>
            <a:avLst/>
            <a:gdLst/>
            <a:ahLst/>
            <a:cxnLst/>
            <a:rect l="l" t="t" r="r" b="b"/>
            <a:pathLst>
              <a:path w="138349" h="138349">
                <a:moveTo>
                  <a:pt x="0" y="69174"/>
                </a:moveTo>
                <a:cubicBezTo>
                  <a:pt x="0" y="30996"/>
                  <a:pt x="30996" y="0"/>
                  <a:pt x="69174" y="0"/>
                </a:cubicBezTo>
                <a:cubicBezTo>
                  <a:pt x="107353" y="0"/>
                  <a:pt x="138349" y="30996"/>
                  <a:pt x="138349" y="69174"/>
                </a:cubicBezTo>
                <a:cubicBezTo>
                  <a:pt x="138349" y="107353"/>
                  <a:pt x="107353" y="138349"/>
                  <a:pt x="69174" y="138349"/>
                </a:cubicBezTo>
                <a:cubicBezTo>
                  <a:pt x="30996" y="138349"/>
                  <a:pt x="0" y="107353"/>
                  <a:pt x="0" y="69174"/>
                </a:cubicBez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1049146" y="6410167"/>
            <a:ext cx="4623160" cy="276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52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半结构化存储：</a:t>
            </a:r>
            <a:r>
              <a:rPr lang="en-US" sz="1452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可能是JSON、XML或数据库Binlog格式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55155" y="6917447"/>
            <a:ext cx="138349" cy="138349"/>
          </a:xfrm>
          <a:custGeom>
            <a:avLst/>
            <a:gdLst/>
            <a:ahLst/>
            <a:cxnLst/>
            <a:rect l="l" t="t" r="r" b="b"/>
            <a:pathLst>
              <a:path w="138349" h="138349">
                <a:moveTo>
                  <a:pt x="0" y="69174"/>
                </a:moveTo>
                <a:cubicBezTo>
                  <a:pt x="0" y="30996"/>
                  <a:pt x="30996" y="0"/>
                  <a:pt x="69174" y="0"/>
                </a:cubicBezTo>
                <a:cubicBezTo>
                  <a:pt x="107353" y="0"/>
                  <a:pt x="138349" y="30996"/>
                  <a:pt x="138349" y="69174"/>
                </a:cubicBezTo>
                <a:cubicBezTo>
                  <a:pt x="138349" y="107353"/>
                  <a:pt x="107353" y="138349"/>
                  <a:pt x="69174" y="138349"/>
                </a:cubicBezTo>
                <a:cubicBezTo>
                  <a:pt x="30996" y="138349"/>
                  <a:pt x="0" y="107353"/>
                  <a:pt x="0" y="69174"/>
                </a:cubicBez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1049146" y="6825214"/>
            <a:ext cx="3412607" cy="276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52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可追溯性：</a:t>
            </a:r>
            <a:r>
              <a:rPr lang="en-US" sz="1452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为后续所有加工提供源头依据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1365059" y="1614072"/>
            <a:ext cx="4427166" cy="7401342"/>
          </a:xfrm>
          <a:custGeom>
            <a:avLst/>
            <a:gdLst/>
            <a:ahLst/>
            <a:cxnLst/>
            <a:rect l="l" t="t" r="r" b="b"/>
            <a:pathLst>
              <a:path w="4427166" h="7989651">
                <a:moveTo>
                  <a:pt x="92218" y="0"/>
                </a:moveTo>
                <a:lnTo>
                  <a:pt x="4334948" y="0"/>
                </a:lnTo>
                <a:cubicBezTo>
                  <a:pt x="4385879" y="0"/>
                  <a:pt x="4427166" y="41287"/>
                  <a:pt x="4427166" y="92218"/>
                </a:cubicBezTo>
                <a:lnTo>
                  <a:pt x="4427166" y="7897433"/>
                </a:lnTo>
                <a:cubicBezTo>
                  <a:pt x="4427166" y="7948364"/>
                  <a:pt x="4385879" y="7989651"/>
                  <a:pt x="4334948" y="7989651"/>
                </a:cubicBezTo>
                <a:lnTo>
                  <a:pt x="92218" y="7989651"/>
                </a:lnTo>
                <a:cubicBezTo>
                  <a:pt x="41287" y="7989651"/>
                  <a:pt x="0" y="7948364"/>
                  <a:pt x="0" y="7897433"/>
                </a:cubicBezTo>
                <a:lnTo>
                  <a:pt x="0" y="92218"/>
                </a:lnTo>
                <a:cubicBezTo>
                  <a:pt x="0" y="41287"/>
                  <a:pt x="41287" y="0"/>
                  <a:pt x="92218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11676344" y="1936885"/>
            <a:ext cx="276698" cy="276698"/>
          </a:xfrm>
          <a:custGeom>
            <a:avLst/>
            <a:gdLst/>
            <a:ahLst/>
            <a:cxnLst/>
            <a:rect l="l" t="t" r="r" b="b"/>
            <a:pathLst>
              <a:path w="276698" h="276698">
                <a:moveTo>
                  <a:pt x="121055" y="0"/>
                </a:moveTo>
                <a:lnTo>
                  <a:pt x="121055" y="34587"/>
                </a:lnTo>
                <a:cubicBezTo>
                  <a:pt x="121055" y="39343"/>
                  <a:pt x="124946" y="43234"/>
                  <a:pt x="129702" y="43234"/>
                </a:cubicBezTo>
                <a:lnTo>
                  <a:pt x="146996" y="43234"/>
                </a:lnTo>
                <a:cubicBezTo>
                  <a:pt x="151751" y="43234"/>
                  <a:pt x="155643" y="39343"/>
                  <a:pt x="155643" y="34587"/>
                </a:cubicBezTo>
                <a:lnTo>
                  <a:pt x="155643" y="0"/>
                </a:lnTo>
                <a:lnTo>
                  <a:pt x="172936" y="0"/>
                </a:lnTo>
                <a:cubicBezTo>
                  <a:pt x="192013" y="0"/>
                  <a:pt x="207523" y="15510"/>
                  <a:pt x="207523" y="34587"/>
                </a:cubicBezTo>
                <a:lnTo>
                  <a:pt x="207523" y="103762"/>
                </a:lnTo>
                <a:cubicBezTo>
                  <a:pt x="207523" y="106734"/>
                  <a:pt x="207145" y="109652"/>
                  <a:pt x="206443" y="112409"/>
                </a:cubicBezTo>
                <a:lnTo>
                  <a:pt x="70255" y="112409"/>
                </a:lnTo>
                <a:cubicBezTo>
                  <a:pt x="69553" y="109652"/>
                  <a:pt x="69174" y="106734"/>
                  <a:pt x="69174" y="103762"/>
                </a:cubicBezTo>
                <a:lnTo>
                  <a:pt x="69174" y="34587"/>
                </a:lnTo>
                <a:cubicBezTo>
                  <a:pt x="69174" y="15510"/>
                  <a:pt x="84685" y="0"/>
                  <a:pt x="103762" y="0"/>
                </a:cubicBezTo>
                <a:lnTo>
                  <a:pt x="121055" y="0"/>
                </a:lnTo>
                <a:close/>
                <a:moveTo>
                  <a:pt x="172936" y="276698"/>
                </a:moveTo>
                <a:cubicBezTo>
                  <a:pt x="166883" y="276698"/>
                  <a:pt x="161155" y="275131"/>
                  <a:pt x="156183" y="272374"/>
                </a:cubicBezTo>
                <a:cubicBezTo>
                  <a:pt x="161317" y="263457"/>
                  <a:pt x="164289" y="253135"/>
                  <a:pt x="164289" y="242111"/>
                </a:cubicBezTo>
                <a:lnTo>
                  <a:pt x="164289" y="172936"/>
                </a:lnTo>
                <a:cubicBezTo>
                  <a:pt x="164289" y="161911"/>
                  <a:pt x="161317" y="151589"/>
                  <a:pt x="156183" y="142672"/>
                </a:cubicBezTo>
                <a:cubicBezTo>
                  <a:pt x="161155" y="139916"/>
                  <a:pt x="166829" y="138349"/>
                  <a:pt x="172936" y="138349"/>
                </a:cubicBezTo>
                <a:lnTo>
                  <a:pt x="190230" y="138349"/>
                </a:lnTo>
                <a:lnTo>
                  <a:pt x="190230" y="172936"/>
                </a:lnTo>
                <a:cubicBezTo>
                  <a:pt x="190230" y="177692"/>
                  <a:pt x="194121" y="181583"/>
                  <a:pt x="198877" y="181583"/>
                </a:cubicBezTo>
                <a:lnTo>
                  <a:pt x="216170" y="181583"/>
                </a:lnTo>
                <a:cubicBezTo>
                  <a:pt x="220926" y="181583"/>
                  <a:pt x="224817" y="177692"/>
                  <a:pt x="224817" y="172936"/>
                </a:cubicBezTo>
                <a:lnTo>
                  <a:pt x="224817" y="138349"/>
                </a:lnTo>
                <a:lnTo>
                  <a:pt x="242111" y="138349"/>
                </a:lnTo>
                <a:cubicBezTo>
                  <a:pt x="261188" y="138349"/>
                  <a:pt x="276698" y="153859"/>
                  <a:pt x="276698" y="172936"/>
                </a:cubicBezTo>
                <a:lnTo>
                  <a:pt x="276698" y="242111"/>
                </a:lnTo>
                <a:cubicBezTo>
                  <a:pt x="276698" y="261188"/>
                  <a:pt x="261188" y="276698"/>
                  <a:pt x="242111" y="276698"/>
                </a:cubicBezTo>
                <a:lnTo>
                  <a:pt x="172936" y="276698"/>
                </a:lnTo>
                <a:close/>
                <a:moveTo>
                  <a:pt x="0" y="172936"/>
                </a:moveTo>
                <a:cubicBezTo>
                  <a:pt x="0" y="153859"/>
                  <a:pt x="15510" y="138349"/>
                  <a:pt x="34587" y="138349"/>
                </a:cubicBezTo>
                <a:lnTo>
                  <a:pt x="51881" y="138349"/>
                </a:lnTo>
                <a:lnTo>
                  <a:pt x="51881" y="172936"/>
                </a:lnTo>
                <a:cubicBezTo>
                  <a:pt x="51881" y="177692"/>
                  <a:pt x="55772" y="181583"/>
                  <a:pt x="60528" y="181583"/>
                </a:cubicBezTo>
                <a:lnTo>
                  <a:pt x="77821" y="181583"/>
                </a:lnTo>
                <a:cubicBezTo>
                  <a:pt x="82577" y="181583"/>
                  <a:pt x="86468" y="177692"/>
                  <a:pt x="86468" y="172936"/>
                </a:cubicBezTo>
                <a:lnTo>
                  <a:pt x="86468" y="138349"/>
                </a:lnTo>
                <a:lnTo>
                  <a:pt x="103762" y="138349"/>
                </a:lnTo>
                <a:cubicBezTo>
                  <a:pt x="122839" y="138349"/>
                  <a:pt x="138349" y="153859"/>
                  <a:pt x="138349" y="172936"/>
                </a:cubicBezTo>
                <a:lnTo>
                  <a:pt x="138349" y="242111"/>
                </a:lnTo>
                <a:cubicBezTo>
                  <a:pt x="138349" y="261188"/>
                  <a:pt x="122839" y="276698"/>
                  <a:pt x="103762" y="276698"/>
                </a:cubicBezTo>
                <a:lnTo>
                  <a:pt x="34587" y="276698"/>
                </a:lnTo>
                <a:cubicBezTo>
                  <a:pt x="15510" y="276698"/>
                  <a:pt x="0" y="261188"/>
                  <a:pt x="0" y="242111"/>
                </a:cubicBezTo>
                <a:lnTo>
                  <a:pt x="0" y="172936"/>
                </a:ln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11987629" y="1890769"/>
            <a:ext cx="3666247" cy="36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79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核心价值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1641757" y="2490281"/>
            <a:ext cx="3873770" cy="1521838"/>
          </a:xfrm>
          <a:custGeom>
            <a:avLst/>
            <a:gdLst/>
            <a:ahLst/>
            <a:cxnLst/>
            <a:rect l="l" t="t" r="r" b="b"/>
            <a:pathLst>
              <a:path w="3873770" h="1521838">
                <a:moveTo>
                  <a:pt x="92239" y="0"/>
                </a:moveTo>
                <a:lnTo>
                  <a:pt x="3781532" y="0"/>
                </a:lnTo>
                <a:cubicBezTo>
                  <a:pt x="3832439" y="0"/>
                  <a:pt x="3873770" y="41331"/>
                  <a:pt x="3873770" y="92239"/>
                </a:cubicBezTo>
                <a:lnTo>
                  <a:pt x="3873770" y="1429600"/>
                </a:lnTo>
                <a:cubicBezTo>
                  <a:pt x="3873770" y="1480508"/>
                  <a:pt x="3832439" y="1521838"/>
                  <a:pt x="3781532" y="1521838"/>
                </a:cubicBezTo>
                <a:lnTo>
                  <a:pt x="92239" y="1521838"/>
                </a:lnTo>
                <a:cubicBezTo>
                  <a:pt x="41331" y="1521838"/>
                  <a:pt x="0" y="1480508"/>
                  <a:pt x="0" y="1429600"/>
                </a:cubicBezTo>
                <a:lnTo>
                  <a:pt x="0" y="92239"/>
                </a:lnTo>
                <a:cubicBezTo>
                  <a:pt x="0" y="41331"/>
                  <a:pt x="41331" y="0"/>
                  <a:pt x="92239" y="0"/>
                </a:cubicBezTo>
                <a:close/>
              </a:path>
            </a:pathLst>
          </a:custGeom>
          <a:solidFill>
            <a:srgbClr val="2D3748">
              <a:alpha val="8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11826222" y="2674746"/>
            <a:ext cx="461163" cy="461163"/>
          </a:xfrm>
          <a:custGeom>
            <a:avLst/>
            <a:gdLst/>
            <a:ahLst/>
            <a:cxnLst/>
            <a:rect l="l" t="t" r="r" b="b"/>
            <a:pathLst>
              <a:path w="461163" h="461163">
                <a:moveTo>
                  <a:pt x="230582" y="0"/>
                </a:moveTo>
                <a:lnTo>
                  <a:pt x="230582" y="0"/>
                </a:lnTo>
                <a:cubicBezTo>
                  <a:pt x="357928" y="0"/>
                  <a:pt x="461163" y="103235"/>
                  <a:pt x="461163" y="230582"/>
                </a:cubicBezTo>
                <a:lnTo>
                  <a:pt x="461163" y="230582"/>
                </a:lnTo>
                <a:cubicBezTo>
                  <a:pt x="461163" y="357928"/>
                  <a:pt x="357928" y="461163"/>
                  <a:pt x="230582" y="461163"/>
                </a:cubicBezTo>
                <a:lnTo>
                  <a:pt x="230582" y="461163"/>
                </a:lnTo>
                <a:cubicBezTo>
                  <a:pt x="103235" y="461163"/>
                  <a:pt x="0" y="357928"/>
                  <a:pt x="0" y="230582"/>
                </a:cubicBezTo>
                <a:lnTo>
                  <a:pt x="0" y="230582"/>
                </a:lnTo>
                <a:cubicBezTo>
                  <a:pt x="0" y="103235"/>
                  <a:pt x="103235" y="0"/>
                  <a:pt x="230582" y="0"/>
                </a:cubicBezTo>
                <a:close/>
              </a:path>
            </a:pathLst>
          </a:custGeom>
          <a:solidFill>
            <a:srgbClr val="718096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12020505" y="2766979"/>
            <a:ext cx="161407" cy="276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52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2425734" y="2743921"/>
            <a:ext cx="1348902" cy="322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34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数据血缘追溯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1826222" y="3228142"/>
            <a:ext cx="3597072" cy="599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52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当出现问题时,可以回溯到最原始的输入,定位问题根源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1641757" y="4196584"/>
            <a:ext cx="3873770" cy="1521838"/>
          </a:xfrm>
          <a:custGeom>
            <a:avLst/>
            <a:gdLst/>
            <a:ahLst/>
            <a:cxnLst/>
            <a:rect l="l" t="t" r="r" b="b"/>
            <a:pathLst>
              <a:path w="3873770" h="1521838">
                <a:moveTo>
                  <a:pt x="92239" y="0"/>
                </a:moveTo>
                <a:lnTo>
                  <a:pt x="3781532" y="0"/>
                </a:lnTo>
                <a:cubicBezTo>
                  <a:pt x="3832439" y="0"/>
                  <a:pt x="3873770" y="41331"/>
                  <a:pt x="3873770" y="92239"/>
                </a:cubicBezTo>
                <a:lnTo>
                  <a:pt x="3873770" y="1429600"/>
                </a:lnTo>
                <a:cubicBezTo>
                  <a:pt x="3873770" y="1480508"/>
                  <a:pt x="3832439" y="1521838"/>
                  <a:pt x="3781532" y="1521838"/>
                </a:cubicBezTo>
                <a:lnTo>
                  <a:pt x="92239" y="1521838"/>
                </a:lnTo>
                <a:cubicBezTo>
                  <a:pt x="41331" y="1521838"/>
                  <a:pt x="0" y="1480508"/>
                  <a:pt x="0" y="1429600"/>
                </a:cubicBezTo>
                <a:lnTo>
                  <a:pt x="0" y="92239"/>
                </a:lnTo>
                <a:cubicBezTo>
                  <a:pt x="0" y="41331"/>
                  <a:pt x="41331" y="0"/>
                  <a:pt x="92239" y="0"/>
                </a:cubicBezTo>
                <a:close/>
              </a:path>
            </a:pathLst>
          </a:custGeom>
          <a:solidFill>
            <a:srgbClr val="2D3748">
              <a:alpha val="8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11826222" y="4381050"/>
            <a:ext cx="461163" cy="461163"/>
          </a:xfrm>
          <a:custGeom>
            <a:avLst/>
            <a:gdLst/>
            <a:ahLst/>
            <a:cxnLst/>
            <a:rect l="l" t="t" r="r" b="b"/>
            <a:pathLst>
              <a:path w="461163" h="461163">
                <a:moveTo>
                  <a:pt x="230582" y="0"/>
                </a:moveTo>
                <a:lnTo>
                  <a:pt x="230582" y="0"/>
                </a:lnTo>
                <a:cubicBezTo>
                  <a:pt x="357928" y="0"/>
                  <a:pt x="461163" y="103235"/>
                  <a:pt x="461163" y="230582"/>
                </a:cubicBezTo>
                <a:lnTo>
                  <a:pt x="461163" y="230582"/>
                </a:lnTo>
                <a:cubicBezTo>
                  <a:pt x="461163" y="357928"/>
                  <a:pt x="357928" y="461163"/>
                  <a:pt x="230582" y="461163"/>
                </a:cubicBezTo>
                <a:lnTo>
                  <a:pt x="230582" y="461163"/>
                </a:lnTo>
                <a:cubicBezTo>
                  <a:pt x="103235" y="461163"/>
                  <a:pt x="0" y="357928"/>
                  <a:pt x="0" y="230582"/>
                </a:cubicBezTo>
                <a:lnTo>
                  <a:pt x="0" y="230582"/>
                </a:lnTo>
                <a:cubicBezTo>
                  <a:pt x="0" y="103235"/>
                  <a:pt x="103235" y="0"/>
                  <a:pt x="230582" y="0"/>
                </a:cubicBezTo>
                <a:close/>
              </a:path>
            </a:pathLst>
          </a:custGeom>
          <a:solidFill>
            <a:srgbClr val="718096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12004923" y="4473282"/>
            <a:ext cx="195994" cy="276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52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2425734" y="4450224"/>
            <a:ext cx="1348902" cy="322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34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问题责任划分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1826222" y="4934445"/>
            <a:ext cx="3597072" cy="599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52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明确是源数据问题还是加工过程问题,避免责任推诿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1641757" y="5902888"/>
            <a:ext cx="3873770" cy="1521838"/>
          </a:xfrm>
          <a:custGeom>
            <a:avLst/>
            <a:gdLst/>
            <a:ahLst/>
            <a:cxnLst/>
            <a:rect l="l" t="t" r="r" b="b"/>
            <a:pathLst>
              <a:path w="3873770" h="1521838">
                <a:moveTo>
                  <a:pt x="92239" y="0"/>
                </a:moveTo>
                <a:lnTo>
                  <a:pt x="3781532" y="0"/>
                </a:lnTo>
                <a:cubicBezTo>
                  <a:pt x="3832439" y="0"/>
                  <a:pt x="3873770" y="41331"/>
                  <a:pt x="3873770" y="92239"/>
                </a:cubicBezTo>
                <a:lnTo>
                  <a:pt x="3873770" y="1429600"/>
                </a:lnTo>
                <a:cubicBezTo>
                  <a:pt x="3873770" y="1480508"/>
                  <a:pt x="3832439" y="1521838"/>
                  <a:pt x="3781532" y="1521838"/>
                </a:cubicBezTo>
                <a:lnTo>
                  <a:pt x="92239" y="1521838"/>
                </a:lnTo>
                <a:cubicBezTo>
                  <a:pt x="41331" y="1521838"/>
                  <a:pt x="0" y="1480508"/>
                  <a:pt x="0" y="1429600"/>
                </a:cubicBezTo>
                <a:lnTo>
                  <a:pt x="0" y="92239"/>
                </a:lnTo>
                <a:cubicBezTo>
                  <a:pt x="0" y="41331"/>
                  <a:pt x="41331" y="0"/>
                  <a:pt x="92239" y="0"/>
                </a:cubicBezTo>
                <a:close/>
              </a:path>
            </a:pathLst>
          </a:custGeom>
          <a:solidFill>
            <a:srgbClr val="2D3748">
              <a:alpha val="8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11826222" y="6087353"/>
            <a:ext cx="461163" cy="461163"/>
          </a:xfrm>
          <a:custGeom>
            <a:avLst/>
            <a:gdLst/>
            <a:ahLst/>
            <a:cxnLst/>
            <a:rect l="l" t="t" r="r" b="b"/>
            <a:pathLst>
              <a:path w="461163" h="461163">
                <a:moveTo>
                  <a:pt x="230582" y="0"/>
                </a:moveTo>
                <a:lnTo>
                  <a:pt x="230582" y="0"/>
                </a:lnTo>
                <a:cubicBezTo>
                  <a:pt x="357928" y="0"/>
                  <a:pt x="461163" y="103235"/>
                  <a:pt x="461163" y="230582"/>
                </a:cubicBezTo>
                <a:lnTo>
                  <a:pt x="461163" y="230582"/>
                </a:lnTo>
                <a:cubicBezTo>
                  <a:pt x="461163" y="357928"/>
                  <a:pt x="357928" y="461163"/>
                  <a:pt x="230582" y="461163"/>
                </a:cubicBezTo>
                <a:lnTo>
                  <a:pt x="230582" y="461163"/>
                </a:lnTo>
                <a:cubicBezTo>
                  <a:pt x="103235" y="461163"/>
                  <a:pt x="0" y="357928"/>
                  <a:pt x="0" y="230582"/>
                </a:cubicBezTo>
                <a:lnTo>
                  <a:pt x="0" y="230582"/>
                </a:lnTo>
                <a:cubicBezTo>
                  <a:pt x="0" y="103235"/>
                  <a:pt x="103235" y="0"/>
                  <a:pt x="230582" y="0"/>
                </a:cubicBezTo>
                <a:close/>
              </a:path>
            </a:pathLst>
          </a:custGeom>
          <a:solidFill>
            <a:srgbClr val="718096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12002491" y="6179586"/>
            <a:ext cx="195994" cy="276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52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2425734" y="6156528"/>
            <a:ext cx="1348902" cy="322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34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历史状态还原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1826222" y="6640749"/>
            <a:ext cx="3597072" cy="599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52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可以查看任意时间点的原始数据状态,满足合规要求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11641757" y="7707189"/>
            <a:ext cx="3873770" cy="11529"/>
          </a:xfrm>
          <a:custGeom>
            <a:avLst/>
            <a:gdLst/>
            <a:ahLst/>
            <a:cxnLst/>
            <a:rect l="l" t="t" r="r" b="b"/>
            <a:pathLst>
              <a:path w="3873770" h="11529">
                <a:moveTo>
                  <a:pt x="0" y="0"/>
                </a:moveTo>
                <a:lnTo>
                  <a:pt x="3873770" y="0"/>
                </a:lnTo>
                <a:lnTo>
                  <a:pt x="3873770" y="11529"/>
                </a:lnTo>
                <a:lnTo>
                  <a:pt x="0" y="11529"/>
                </a:lnTo>
                <a:lnTo>
                  <a:pt x="0" y="0"/>
                </a:ln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>
            <a:off x="11664815" y="7943535"/>
            <a:ext cx="184465" cy="184465"/>
          </a:xfrm>
          <a:custGeom>
            <a:avLst/>
            <a:gdLst/>
            <a:ahLst/>
            <a:cxnLst/>
            <a:rect l="l" t="t" r="r" b="b"/>
            <a:pathLst>
              <a:path w="184465" h="184465">
                <a:moveTo>
                  <a:pt x="92233" y="0"/>
                </a:moveTo>
                <a:cubicBezTo>
                  <a:pt x="97529" y="0"/>
                  <a:pt x="102393" y="2918"/>
                  <a:pt x="104915" y="7566"/>
                </a:cubicBezTo>
                <a:lnTo>
                  <a:pt x="182736" y="151679"/>
                </a:lnTo>
                <a:cubicBezTo>
                  <a:pt x="185150" y="156147"/>
                  <a:pt x="185042" y="161551"/>
                  <a:pt x="182448" y="165911"/>
                </a:cubicBezTo>
                <a:cubicBezTo>
                  <a:pt x="179854" y="170270"/>
                  <a:pt x="175134" y="172936"/>
                  <a:pt x="170054" y="172936"/>
                </a:cubicBezTo>
                <a:lnTo>
                  <a:pt x="14411" y="172936"/>
                </a:lnTo>
                <a:cubicBezTo>
                  <a:pt x="9331" y="172936"/>
                  <a:pt x="4648" y="170270"/>
                  <a:pt x="2018" y="165911"/>
                </a:cubicBezTo>
                <a:cubicBezTo>
                  <a:pt x="-612" y="161551"/>
                  <a:pt x="-685" y="156147"/>
                  <a:pt x="1729" y="151679"/>
                </a:cubicBezTo>
                <a:lnTo>
                  <a:pt x="79551" y="7566"/>
                </a:lnTo>
                <a:cubicBezTo>
                  <a:pt x="82073" y="2918"/>
                  <a:pt x="86936" y="0"/>
                  <a:pt x="92233" y="0"/>
                </a:cubicBezTo>
                <a:close/>
                <a:moveTo>
                  <a:pt x="92233" y="60528"/>
                </a:moveTo>
                <a:cubicBezTo>
                  <a:pt x="87441" y="60528"/>
                  <a:pt x="83586" y="64383"/>
                  <a:pt x="83586" y="69174"/>
                </a:cubicBezTo>
                <a:lnTo>
                  <a:pt x="83586" y="109526"/>
                </a:lnTo>
                <a:cubicBezTo>
                  <a:pt x="83586" y="114318"/>
                  <a:pt x="87441" y="118173"/>
                  <a:pt x="92233" y="118173"/>
                </a:cubicBezTo>
                <a:cubicBezTo>
                  <a:pt x="97024" y="118173"/>
                  <a:pt x="100879" y="114318"/>
                  <a:pt x="100879" y="109526"/>
                </a:cubicBezTo>
                <a:lnTo>
                  <a:pt x="100879" y="69174"/>
                </a:lnTo>
                <a:cubicBezTo>
                  <a:pt x="100879" y="64383"/>
                  <a:pt x="97024" y="60528"/>
                  <a:pt x="92233" y="60528"/>
                </a:cubicBezTo>
                <a:close/>
                <a:moveTo>
                  <a:pt x="101852" y="138349"/>
                </a:moveTo>
                <a:cubicBezTo>
                  <a:pt x="102071" y="134778"/>
                  <a:pt x="100290" y="131381"/>
                  <a:pt x="97229" y="129530"/>
                </a:cubicBezTo>
                <a:cubicBezTo>
                  <a:pt x="94168" y="127678"/>
                  <a:pt x="90333" y="127678"/>
                  <a:pt x="87272" y="129530"/>
                </a:cubicBezTo>
                <a:cubicBezTo>
                  <a:pt x="84211" y="131381"/>
                  <a:pt x="82430" y="134778"/>
                  <a:pt x="82649" y="138349"/>
                </a:cubicBezTo>
                <a:cubicBezTo>
                  <a:pt x="82430" y="141920"/>
                  <a:pt x="84211" y="145317"/>
                  <a:pt x="87272" y="147168"/>
                </a:cubicBezTo>
                <a:cubicBezTo>
                  <a:pt x="90333" y="149020"/>
                  <a:pt x="94168" y="149020"/>
                  <a:pt x="97229" y="147168"/>
                </a:cubicBezTo>
                <a:cubicBezTo>
                  <a:pt x="100290" y="145317"/>
                  <a:pt x="102071" y="141920"/>
                  <a:pt x="101852" y="138349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11964571" y="7897418"/>
            <a:ext cx="830094" cy="276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52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关键要点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1641757" y="8266349"/>
            <a:ext cx="3966003" cy="599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52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ODS层虽然"杂乱",但它是整个数据仓库的基石,没有它就无法进行准确的问题定位和血缘追溯。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5080" y="423885"/>
            <a:ext cx="1843901" cy="339108"/>
          </a:xfrm>
          <a:custGeom>
            <a:avLst/>
            <a:gdLst/>
            <a:ahLst/>
            <a:cxnLst/>
            <a:rect l="l" t="t" r="r" b="b"/>
            <a:pathLst>
              <a:path w="1843901" h="339108">
                <a:moveTo>
                  <a:pt x="0" y="0"/>
                </a:moveTo>
                <a:lnTo>
                  <a:pt x="1843901" y="0"/>
                </a:lnTo>
                <a:lnTo>
                  <a:pt x="1843901" y="339108"/>
                </a:lnTo>
                <a:lnTo>
                  <a:pt x="0" y="339108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445080" y="423885"/>
            <a:ext cx="42389" cy="339108"/>
          </a:xfrm>
          <a:custGeom>
            <a:avLst/>
            <a:gdLst/>
            <a:ahLst/>
            <a:cxnLst/>
            <a:rect l="l" t="t" r="r" b="b"/>
            <a:pathLst>
              <a:path w="42389" h="339108">
                <a:moveTo>
                  <a:pt x="0" y="0"/>
                </a:moveTo>
                <a:lnTo>
                  <a:pt x="42389" y="0"/>
                </a:lnTo>
                <a:lnTo>
                  <a:pt x="42389" y="339108"/>
                </a:lnTo>
                <a:lnTo>
                  <a:pt x="0" y="339108"/>
                </a:lnTo>
                <a:lnTo>
                  <a:pt x="0" y="0"/>
                </a:ln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635828" y="482169"/>
            <a:ext cx="1567382" cy="222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kern="0" spc="67" dirty="0">
                <a:solidFill>
                  <a:srgbClr val="4A556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LAYER 02 · DWD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23885" y="847771"/>
            <a:ext cx="15598978" cy="423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04" b="1" dirty="0">
                <a:solidFill>
                  <a:srgbClr val="E2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DWD层：清洗切配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5080" y="1483598"/>
            <a:ext cx="11063405" cy="1250462"/>
          </a:xfrm>
          <a:custGeom>
            <a:avLst/>
            <a:gdLst/>
            <a:ahLst/>
            <a:cxnLst/>
            <a:rect l="l" t="t" r="r" b="b"/>
            <a:pathLst>
              <a:path w="11063405" h="1250462">
                <a:moveTo>
                  <a:pt x="42389" y="0"/>
                </a:moveTo>
                <a:lnTo>
                  <a:pt x="10978624" y="0"/>
                </a:lnTo>
                <a:cubicBezTo>
                  <a:pt x="11025448" y="0"/>
                  <a:pt x="11063405" y="37958"/>
                  <a:pt x="11063405" y="84781"/>
                </a:cubicBezTo>
                <a:lnTo>
                  <a:pt x="11063405" y="1165680"/>
                </a:lnTo>
                <a:cubicBezTo>
                  <a:pt x="11063405" y="1212504"/>
                  <a:pt x="11025448" y="1250462"/>
                  <a:pt x="10978624" y="1250462"/>
                </a:cubicBezTo>
                <a:lnTo>
                  <a:pt x="42389" y="1250462"/>
                </a:lnTo>
                <a:cubicBezTo>
                  <a:pt x="18978" y="1250462"/>
                  <a:pt x="0" y="1231484"/>
                  <a:pt x="0" y="1208073"/>
                </a:cubicBezTo>
                <a:lnTo>
                  <a:pt x="0" y="42389"/>
                </a:lnTo>
                <a:cubicBezTo>
                  <a:pt x="0" y="18994"/>
                  <a:pt x="18994" y="0"/>
                  <a:pt x="42389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45080" y="1483598"/>
            <a:ext cx="42389" cy="1250462"/>
          </a:xfrm>
          <a:custGeom>
            <a:avLst/>
            <a:gdLst/>
            <a:ahLst/>
            <a:cxnLst/>
            <a:rect l="l" t="t" r="r" b="b"/>
            <a:pathLst>
              <a:path w="42389" h="1250462">
                <a:moveTo>
                  <a:pt x="42389" y="0"/>
                </a:moveTo>
                <a:lnTo>
                  <a:pt x="42389" y="0"/>
                </a:lnTo>
                <a:lnTo>
                  <a:pt x="42389" y="1250462"/>
                </a:lnTo>
                <a:lnTo>
                  <a:pt x="42389" y="1250462"/>
                </a:lnTo>
                <a:cubicBezTo>
                  <a:pt x="18978" y="1250462"/>
                  <a:pt x="0" y="1231484"/>
                  <a:pt x="0" y="1208073"/>
                </a:cubicBezTo>
                <a:lnTo>
                  <a:pt x="0" y="42389"/>
                </a:lnTo>
                <a:cubicBezTo>
                  <a:pt x="0" y="18994"/>
                  <a:pt x="18994" y="0"/>
                  <a:pt x="42389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720605" y="1737930"/>
            <a:ext cx="678216" cy="678216"/>
          </a:xfrm>
          <a:custGeom>
            <a:avLst/>
            <a:gdLst/>
            <a:ahLst/>
            <a:cxnLst/>
            <a:rect l="l" t="t" r="r" b="b"/>
            <a:pathLst>
              <a:path w="678216" h="678216">
                <a:moveTo>
                  <a:pt x="42389" y="0"/>
                </a:moveTo>
                <a:lnTo>
                  <a:pt x="635828" y="0"/>
                </a:lnTo>
                <a:cubicBezTo>
                  <a:pt x="659238" y="0"/>
                  <a:pt x="678216" y="18978"/>
                  <a:pt x="678216" y="42389"/>
                </a:cubicBezTo>
                <a:lnTo>
                  <a:pt x="678216" y="635828"/>
                </a:lnTo>
                <a:cubicBezTo>
                  <a:pt x="678216" y="659238"/>
                  <a:pt x="659238" y="678216"/>
                  <a:pt x="635828" y="678216"/>
                </a:cubicBezTo>
                <a:lnTo>
                  <a:pt x="42389" y="678216"/>
                </a:lnTo>
                <a:cubicBezTo>
                  <a:pt x="18978" y="678216"/>
                  <a:pt x="0" y="659238"/>
                  <a:pt x="0" y="635828"/>
                </a:cubicBezTo>
                <a:lnTo>
                  <a:pt x="0" y="42389"/>
                </a:lnTo>
                <a:cubicBezTo>
                  <a:pt x="0" y="18994"/>
                  <a:pt x="18994" y="0"/>
                  <a:pt x="42389" y="0"/>
                </a:cubicBezTo>
                <a:close/>
              </a:path>
            </a:pathLst>
          </a:custGeom>
          <a:solidFill>
            <a:srgbClr val="4A5568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916652" y="1949872"/>
            <a:ext cx="286123" cy="254331"/>
          </a:xfrm>
          <a:custGeom>
            <a:avLst/>
            <a:gdLst/>
            <a:ahLst/>
            <a:cxnLst/>
            <a:rect l="l" t="t" r="r" b="b"/>
            <a:pathLst>
              <a:path w="286123" h="254331">
                <a:moveTo>
                  <a:pt x="281453" y="27122"/>
                </a:moveTo>
                <a:cubicBezTo>
                  <a:pt x="287662" y="20913"/>
                  <a:pt x="287662" y="10829"/>
                  <a:pt x="281453" y="4620"/>
                </a:cubicBezTo>
                <a:cubicBezTo>
                  <a:pt x="275244" y="-1590"/>
                  <a:pt x="265160" y="-1590"/>
                  <a:pt x="258951" y="4620"/>
                </a:cubicBezTo>
                <a:lnTo>
                  <a:pt x="163577" y="99994"/>
                </a:lnTo>
                <a:lnTo>
                  <a:pt x="146340" y="82757"/>
                </a:lnTo>
                <a:cubicBezTo>
                  <a:pt x="144253" y="80671"/>
                  <a:pt x="141372" y="79478"/>
                  <a:pt x="138392" y="79478"/>
                </a:cubicBezTo>
                <a:cubicBezTo>
                  <a:pt x="132183" y="79478"/>
                  <a:pt x="127166" y="84496"/>
                  <a:pt x="127166" y="90705"/>
                </a:cubicBezTo>
                <a:lnTo>
                  <a:pt x="127166" y="105160"/>
                </a:lnTo>
                <a:lnTo>
                  <a:pt x="180963" y="158957"/>
                </a:lnTo>
                <a:lnTo>
                  <a:pt x="195418" y="158957"/>
                </a:lnTo>
                <a:cubicBezTo>
                  <a:pt x="201627" y="158957"/>
                  <a:pt x="206644" y="153940"/>
                  <a:pt x="206644" y="147731"/>
                </a:cubicBezTo>
                <a:cubicBezTo>
                  <a:pt x="206644" y="144750"/>
                  <a:pt x="205452" y="141869"/>
                  <a:pt x="203366" y="139783"/>
                </a:cubicBezTo>
                <a:lnTo>
                  <a:pt x="186129" y="122546"/>
                </a:lnTo>
                <a:lnTo>
                  <a:pt x="281503" y="27172"/>
                </a:lnTo>
                <a:close/>
                <a:moveTo>
                  <a:pt x="169438" y="175548"/>
                </a:moveTo>
                <a:lnTo>
                  <a:pt x="110574" y="116684"/>
                </a:lnTo>
                <a:cubicBezTo>
                  <a:pt x="89364" y="114846"/>
                  <a:pt x="68252" y="122496"/>
                  <a:pt x="53052" y="137696"/>
                </a:cubicBezTo>
                <a:lnTo>
                  <a:pt x="49078" y="141670"/>
                </a:lnTo>
                <a:cubicBezTo>
                  <a:pt x="38001" y="152748"/>
                  <a:pt x="31791" y="167749"/>
                  <a:pt x="31791" y="183397"/>
                </a:cubicBezTo>
                <a:cubicBezTo>
                  <a:pt x="31791" y="186774"/>
                  <a:pt x="35318" y="188960"/>
                  <a:pt x="38348" y="187470"/>
                </a:cubicBezTo>
                <a:lnTo>
                  <a:pt x="63732" y="174803"/>
                </a:lnTo>
                <a:cubicBezTo>
                  <a:pt x="66216" y="173561"/>
                  <a:pt x="68451" y="176840"/>
                  <a:pt x="66414" y="178727"/>
                </a:cubicBezTo>
                <a:lnTo>
                  <a:pt x="3626" y="235157"/>
                </a:lnTo>
                <a:cubicBezTo>
                  <a:pt x="1341" y="237243"/>
                  <a:pt x="0" y="240224"/>
                  <a:pt x="0" y="243353"/>
                </a:cubicBezTo>
                <a:cubicBezTo>
                  <a:pt x="0" y="249413"/>
                  <a:pt x="4918" y="254331"/>
                  <a:pt x="10978" y="254331"/>
                </a:cubicBezTo>
                <a:lnTo>
                  <a:pt x="97063" y="254331"/>
                </a:lnTo>
                <a:cubicBezTo>
                  <a:pt x="116337" y="254331"/>
                  <a:pt x="134766" y="246681"/>
                  <a:pt x="148426" y="233071"/>
                </a:cubicBezTo>
                <a:cubicBezTo>
                  <a:pt x="163626" y="217870"/>
                  <a:pt x="171226" y="196759"/>
                  <a:pt x="169438" y="175548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568375" y="1737930"/>
            <a:ext cx="9812944" cy="339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3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动作：原材料加工处理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68375" y="2204203"/>
            <a:ext cx="9770555" cy="2755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5" dirty="0">
                <a:solidFill>
                  <a:srgbClr val="4A5568"/>
                </a:solidFill>
                <a:highlight>
                  <a:srgbClr val="4A5568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洗菜、削皮、切丝、去鳞 </a:t>
            </a:r>
            <a:r>
              <a:rPr lang="en-US" sz="1335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。无论原材料来自哪个供应商,在这里都被加工成统一规格的"净菜"。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45080" y="2946003"/>
            <a:ext cx="11063405" cy="1631958"/>
          </a:xfrm>
          <a:custGeom>
            <a:avLst/>
            <a:gdLst/>
            <a:ahLst/>
            <a:cxnLst/>
            <a:rect l="l" t="t" r="r" b="b"/>
            <a:pathLst>
              <a:path w="11063405" h="1631958">
                <a:moveTo>
                  <a:pt x="42389" y="0"/>
                </a:moveTo>
                <a:lnTo>
                  <a:pt x="10978625" y="0"/>
                </a:lnTo>
                <a:cubicBezTo>
                  <a:pt x="11025448" y="0"/>
                  <a:pt x="11063405" y="37957"/>
                  <a:pt x="11063405" y="84780"/>
                </a:cubicBezTo>
                <a:lnTo>
                  <a:pt x="11063405" y="1547178"/>
                </a:lnTo>
                <a:cubicBezTo>
                  <a:pt x="11063405" y="1594001"/>
                  <a:pt x="11025448" y="1631958"/>
                  <a:pt x="10978625" y="1631958"/>
                </a:cubicBezTo>
                <a:lnTo>
                  <a:pt x="42389" y="1631958"/>
                </a:lnTo>
                <a:cubicBezTo>
                  <a:pt x="18978" y="1631958"/>
                  <a:pt x="0" y="1612980"/>
                  <a:pt x="0" y="1589570"/>
                </a:cubicBezTo>
                <a:lnTo>
                  <a:pt x="0" y="42389"/>
                </a:lnTo>
                <a:cubicBezTo>
                  <a:pt x="0" y="18994"/>
                  <a:pt x="18994" y="0"/>
                  <a:pt x="42389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445080" y="2946003"/>
            <a:ext cx="42389" cy="1631958"/>
          </a:xfrm>
          <a:custGeom>
            <a:avLst/>
            <a:gdLst/>
            <a:ahLst/>
            <a:cxnLst/>
            <a:rect l="l" t="t" r="r" b="b"/>
            <a:pathLst>
              <a:path w="42389" h="1631958">
                <a:moveTo>
                  <a:pt x="42389" y="0"/>
                </a:moveTo>
                <a:lnTo>
                  <a:pt x="42389" y="0"/>
                </a:lnTo>
                <a:lnTo>
                  <a:pt x="42389" y="1631958"/>
                </a:lnTo>
                <a:lnTo>
                  <a:pt x="42389" y="1631958"/>
                </a:lnTo>
                <a:cubicBezTo>
                  <a:pt x="18978" y="1631958"/>
                  <a:pt x="0" y="1612980"/>
                  <a:pt x="0" y="1589570"/>
                </a:cubicBezTo>
                <a:lnTo>
                  <a:pt x="0" y="42389"/>
                </a:lnTo>
                <a:cubicBezTo>
                  <a:pt x="0" y="18994"/>
                  <a:pt x="18994" y="0"/>
                  <a:pt x="42389" y="0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720605" y="3200334"/>
            <a:ext cx="678216" cy="678216"/>
          </a:xfrm>
          <a:custGeom>
            <a:avLst/>
            <a:gdLst/>
            <a:ahLst/>
            <a:cxnLst/>
            <a:rect l="l" t="t" r="r" b="b"/>
            <a:pathLst>
              <a:path w="678216" h="678216">
                <a:moveTo>
                  <a:pt x="42389" y="0"/>
                </a:moveTo>
                <a:lnTo>
                  <a:pt x="635828" y="0"/>
                </a:lnTo>
                <a:cubicBezTo>
                  <a:pt x="659238" y="0"/>
                  <a:pt x="678216" y="18978"/>
                  <a:pt x="678216" y="42389"/>
                </a:cubicBezTo>
                <a:lnTo>
                  <a:pt x="678216" y="635828"/>
                </a:lnTo>
                <a:cubicBezTo>
                  <a:pt x="678216" y="659238"/>
                  <a:pt x="659238" y="678216"/>
                  <a:pt x="635828" y="678216"/>
                </a:cubicBezTo>
                <a:lnTo>
                  <a:pt x="42389" y="678216"/>
                </a:lnTo>
                <a:cubicBezTo>
                  <a:pt x="18978" y="678216"/>
                  <a:pt x="0" y="659238"/>
                  <a:pt x="0" y="635828"/>
                </a:cubicBezTo>
                <a:lnTo>
                  <a:pt x="0" y="42389"/>
                </a:lnTo>
                <a:cubicBezTo>
                  <a:pt x="0" y="18994"/>
                  <a:pt x="18994" y="0"/>
                  <a:pt x="42389" y="0"/>
                </a:cubicBezTo>
                <a:close/>
              </a:path>
            </a:pathLst>
          </a:custGeom>
          <a:solidFill>
            <a:srgbClr val="D69E2E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948443" y="3412276"/>
            <a:ext cx="222540" cy="254331"/>
          </a:xfrm>
          <a:custGeom>
            <a:avLst/>
            <a:gdLst/>
            <a:ahLst/>
            <a:cxnLst/>
            <a:rect l="l" t="t" r="r" b="b"/>
            <a:pathLst>
              <a:path w="222540" h="254331">
                <a:moveTo>
                  <a:pt x="497" y="219410"/>
                </a:moveTo>
                <a:cubicBezTo>
                  <a:pt x="2732" y="230239"/>
                  <a:pt x="12319" y="238435"/>
                  <a:pt x="23844" y="238435"/>
                </a:cubicBezTo>
                <a:lnTo>
                  <a:pt x="198696" y="238435"/>
                </a:lnTo>
                <a:cubicBezTo>
                  <a:pt x="211860" y="238435"/>
                  <a:pt x="222540" y="227756"/>
                  <a:pt x="222540" y="214592"/>
                </a:cubicBezTo>
                <a:lnTo>
                  <a:pt x="222540" y="166905"/>
                </a:lnTo>
                <a:cubicBezTo>
                  <a:pt x="222540" y="153741"/>
                  <a:pt x="211860" y="143061"/>
                  <a:pt x="198696" y="143061"/>
                </a:cubicBezTo>
                <a:lnTo>
                  <a:pt x="174853" y="143061"/>
                </a:lnTo>
                <a:lnTo>
                  <a:pt x="174853" y="178827"/>
                </a:lnTo>
                <a:cubicBezTo>
                  <a:pt x="174853" y="185433"/>
                  <a:pt x="169538" y="190748"/>
                  <a:pt x="162931" y="190748"/>
                </a:cubicBezTo>
                <a:cubicBezTo>
                  <a:pt x="156324" y="190748"/>
                  <a:pt x="151009" y="185433"/>
                  <a:pt x="151009" y="178827"/>
                </a:cubicBezTo>
                <a:lnTo>
                  <a:pt x="151009" y="143061"/>
                </a:lnTo>
                <a:lnTo>
                  <a:pt x="119218" y="143061"/>
                </a:lnTo>
                <a:lnTo>
                  <a:pt x="119218" y="178827"/>
                </a:lnTo>
                <a:cubicBezTo>
                  <a:pt x="119218" y="185433"/>
                  <a:pt x="113903" y="190748"/>
                  <a:pt x="107296" y="190748"/>
                </a:cubicBezTo>
                <a:cubicBezTo>
                  <a:pt x="100689" y="190748"/>
                  <a:pt x="95374" y="185433"/>
                  <a:pt x="95374" y="178827"/>
                </a:cubicBezTo>
                <a:lnTo>
                  <a:pt x="95374" y="143061"/>
                </a:lnTo>
                <a:lnTo>
                  <a:pt x="59609" y="143061"/>
                </a:lnTo>
                <a:cubicBezTo>
                  <a:pt x="53002" y="143061"/>
                  <a:pt x="47687" y="137746"/>
                  <a:pt x="47687" y="131140"/>
                </a:cubicBezTo>
                <a:cubicBezTo>
                  <a:pt x="47687" y="124533"/>
                  <a:pt x="53002" y="119218"/>
                  <a:pt x="59609" y="119218"/>
                </a:cubicBezTo>
                <a:lnTo>
                  <a:pt x="95374" y="119218"/>
                </a:lnTo>
                <a:lnTo>
                  <a:pt x="95374" y="87426"/>
                </a:lnTo>
                <a:lnTo>
                  <a:pt x="59609" y="87426"/>
                </a:lnTo>
                <a:cubicBezTo>
                  <a:pt x="53002" y="87426"/>
                  <a:pt x="47687" y="82111"/>
                  <a:pt x="47687" y="75505"/>
                </a:cubicBezTo>
                <a:cubicBezTo>
                  <a:pt x="47687" y="68898"/>
                  <a:pt x="53002" y="63583"/>
                  <a:pt x="59609" y="63583"/>
                </a:cubicBezTo>
                <a:lnTo>
                  <a:pt x="95374" y="63583"/>
                </a:lnTo>
                <a:lnTo>
                  <a:pt x="95374" y="39739"/>
                </a:lnTo>
                <a:cubicBezTo>
                  <a:pt x="95374" y="26576"/>
                  <a:pt x="84694" y="15896"/>
                  <a:pt x="71531" y="15896"/>
                </a:cubicBezTo>
                <a:lnTo>
                  <a:pt x="23844" y="15896"/>
                </a:lnTo>
                <a:cubicBezTo>
                  <a:pt x="10680" y="15896"/>
                  <a:pt x="0" y="26576"/>
                  <a:pt x="0" y="39739"/>
                </a:cubicBezTo>
                <a:lnTo>
                  <a:pt x="0" y="214592"/>
                </a:lnTo>
                <a:cubicBezTo>
                  <a:pt x="0" y="216231"/>
                  <a:pt x="149" y="217870"/>
                  <a:pt x="497" y="219410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1568375" y="3200334"/>
            <a:ext cx="9812944" cy="339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3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原则：标准化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68375" y="3666608"/>
            <a:ext cx="9770555" cy="2755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5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消除源系统之间的差异,形成统一的内部标准。所有原材料按照统一规格加工,确保后续加工环节的一致性。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589570" y="4111687"/>
            <a:ext cx="169554" cy="169554"/>
          </a:xfrm>
          <a:custGeom>
            <a:avLst/>
            <a:gdLst/>
            <a:ahLst/>
            <a:cxnLst/>
            <a:rect l="l" t="t" r="r" b="b"/>
            <a:pathLst>
              <a:path w="169554" h="169554">
                <a:moveTo>
                  <a:pt x="84777" y="169554"/>
                </a:moveTo>
                <a:cubicBezTo>
                  <a:pt x="131567" y="169554"/>
                  <a:pt x="169554" y="131567"/>
                  <a:pt x="169554" y="84777"/>
                </a:cubicBezTo>
                <a:cubicBezTo>
                  <a:pt x="169554" y="37987"/>
                  <a:pt x="131567" y="0"/>
                  <a:pt x="84777" y="0"/>
                </a:cubicBezTo>
                <a:cubicBezTo>
                  <a:pt x="37987" y="0"/>
                  <a:pt x="0" y="37987"/>
                  <a:pt x="0" y="84777"/>
                </a:cubicBezTo>
                <a:cubicBezTo>
                  <a:pt x="0" y="131567"/>
                  <a:pt x="37987" y="169554"/>
                  <a:pt x="84777" y="169554"/>
                </a:cubicBezTo>
                <a:close/>
                <a:moveTo>
                  <a:pt x="112727" y="70438"/>
                </a:moveTo>
                <a:lnTo>
                  <a:pt x="86234" y="112826"/>
                </a:lnTo>
                <a:cubicBezTo>
                  <a:pt x="84843" y="115045"/>
                  <a:pt x="82459" y="116436"/>
                  <a:pt x="79843" y="116568"/>
                </a:cubicBezTo>
                <a:cubicBezTo>
                  <a:pt x="77227" y="116701"/>
                  <a:pt x="74710" y="115509"/>
                  <a:pt x="73153" y="113389"/>
                </a:cubicBezTo>
                <a:lnTo>
                  <a:pt x="57258" y="92195"/>
                </a:lnTo>
                <a:cubicBezTo>
                  <a:pt x="54608" y="88685"/>
                  <a:pt x="55337" y="83717"/>
                  <a:pt x="58847" y="81068"/>
                </a:cubicBezTo>
                <a:cubicBezTo>
                  <a:pt x="62357" y="78419"/>
                  <a:pt x="67325" y="79147"/>
                  <a:pt x="69974" y="82658"/>
                </a:cubicBezTo>
                <a:lnTo>
                  <a:pt x="78916" y="94579"/>
                </a:lnTo>
                <a:lnTo>
                  <a:pt x="99249" y="62026"/>
                </a:lnTo>
                <a:cubicBezTo>
                  <a:pt x="101567" y="58317"/>
                  <a:pt x="106468" y="57158"/>
                  <a:pt x="110210" y="59510"/>
                </a:cubicBezTo>
                <a:cubicBezTo>
                  <a:pt x="113952" y="61861"/>
                  <a:pt x="115078" y="66729"/>
                  <a:pt x="112727" y="70471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1865095" y="4069299"/>
            <a:ext cx="2628089" cy="254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这是保证最终菜品质量的关键环节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23885" y="4789904"/>
            <a:ext cx="5457523" cy="1780318"/>
          </a:xfrm>
          <a:custGeom>
            <a:avLst/>
            <a:gdLst/>
            <a:ahLst/>
            <a:cxnLst/>
            <a:rect l="l" t="t" r="r" b="b"/>
            <a:pathLst>
              <a:path w="5457523" h="1780318">
                <a:moveTo>
                  <a:pt x="84779" y="0"/>
                </a:moveTo>
                <a:lnTo>
                  <a:pt x="5372744" y="0"/>
                </a:lnTo>
                <a:cubicBezTo>
                  <a:pt x="5419566" y="0"/>
                  <a:pt x="5457523" y="37957"/>
                  <a:pt x="5457523" y="84779"/>
                </a:cubicBezTo>
                <a:lnTo>
                  <a:pt x="5457523" y="1695539"/>
                </a:lnTo>
                <a:cubicBezTo>
                  <a:pt x="5457523" y="1742361"/>
                  <a:pt x="5419566" y="1780318"/>
                  <a:pt x="5372744" y="1780318"/>
                </a:cubicBezTo>
                <a:lnTo>
                  <a:pt x="84779" y="1780318"/>
                </a:lnTo>
                <a:cubicBezTo>
                  <a:pt x="37957" y="1780318"/>
                  <a:pt x="0" y="1742361"/>
                  <a:pt x="0" y="1695539"/>
                </a:cubicBezTo>
                <a:lnTo>
                  <a:pt x="0" y="84779"/>
                </a:lnTo>
                <a:cubicBezTo>
                  <a:pt x="0" y="37988"/>
                  <a:pt x="37988" y="0"/>
                  <a:pt x="84779" y="0"/>
                </a:cubicBezTo>
                <a:close/>
              </a:path>
            </a:pathLst>
          </a:custGeom>
          <a:solidFill>
            <a:srgbClr val="2D3748">
              <a:alpha val="4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674243" y="5054832"/>
            <a:ext cx="166905" cy="190748"/>
          </a:xfrm>
          <a:custGeom>
            <a:avLst/>
            <a:gdLst/>
            <a:ahLst/>
            <a:cxnLst/>
            <a:rect l="l" t="t" r="r" b="b"/>
            <a:pathLst>
              <a:path w="166905" h="190748">
                <a:moveTo>
                  <a:pt x="83452" y="41726"/>
                </a:moveTo>
                <a:cubicBezTo>
                  <a:pt x="80174" y="41726"/>
                  <a:pt x="77492" y="39044"/>
                  <a:pt x="77492" y="35765"/>
                </a:cubicBezTo>
                <a:lnTo>
                  <a:pt x="77492" y="29804"/>
                </a:lnTo>
                <a:cubicBezTo>
                  <a:pt x="77492" y="13337"/>
                  <a:pt x="90829" y="0"/>
                  <a:pt x="107296" y="0"/>
                </a:cubicBezTo>
                <a:lnTo>
                  <a:pt x="113257" y="0"/>
                </a:lnTo>
                <a:cubicBezTo>
                  <a:pt x="116535" y="0"/>
                  <a:pt x="119218" y="2682"/>
                  <a:pt x="119218" y="5961"/>
                </a:cubicBezTo>
                <a:lnTo>
                  <a:pt x="119218" y="11922"/>
                </a:lnTo>
                <a:cubicBezTo>
                  <a:pt x="119218" y="28389"/>
                  <a:pt x="105880" y="41726"/>
                  <a:pt x="89413" y="41726"/>
                </a:cubicBezTo>
                <a:lnTo>
                  <a:pt x="83452" y="41726"/>
                </a:lnTo>
                <a:close/>
                <a:moveTo>
                  <a:pt x="0" y="107296"/>
                </a:moveTo>
                <a:cubicBezTo>
                  <a:pt x="0" y="78870"/>
                  <a:pt x="13300" y="47687"/>
                  <a:pt x="41726" y="47687"/>
                </a:cubicBezTo>
                <a:cubicBezTo>
                  <a:pt x="51897" y="47687"/>
                  <a:pt x="63968" y="51524"/>
                  <a:pt x="72537" y="54877"/>
                </a:cubicBezTo>
                <a:cubicBezTo>
                  <a:pt x="79541" y="57597"/>
                  <a:pt x="87401" y="57597"/>
                  <a:pt x="94406" y="54877"/>
                </a:cubicBezTo>
                <a:cubicBezTo>
                  <a:pt x="102937" y="51562"/>
                  <a:pt x="115045" y="47687"/>
                  <a:pt x="125216" y="47687"/>
                </a:cubicBezTo>
                <a:cubicBezTo>
                  <a:pt x="153642" y="47687"/>
                  <a:pt x="166942" y="78870"/>
                  <a:pt x="166942" y="107296"/>
                </a:cubicBezTo>
                <a:cubicBezTo>
                  <a:pt x="166942" y="154983"/>
                  <a:pt x="137138" y="190748"/>
                  <a:pt x="107333" y="190748"/>
                </a:cubicBezTo>
                <a:cubicBezTo>
                  <a:pt x="101186" y="190748"/>
                  <a:pt x="93139" y="188290"/>
                  <a:pt x="88147" y="186538"/>
                </a:cubicBezTo>
                <a:cubicBezTo>
                  <a:pt x="85129" y="185495"/>
                  <a:pt x="81850" y="185495"/>
                  <a:pt x="78833" y="186538"/>
                </a:cubicBezTo>
                <a:cubicBezTo>
                  <a:pt x="73840" y="188290"/>
                  <a:pt x="65793" y="190748"/>
                  <a:pt x="59646" y="190748"/>
                </a:cubicBezTo>
                <a:cubicBezTo>
                  <a:pt x="29842" y="190748"/>
                  <a:pt x="37" y="154983"/>
                  <a:pt x="37" y="107296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879562" y="5001846"/>
            <a:ext cx="4885278" cy="29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2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加工前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5828" y="5425731"/>
            <a:ext cx="5118415" cy="254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土豆:大小不一,带泥土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5828" y="5764840"/>
            <a:ext cx="5118415" cy="254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青菜:有黄叶,需挑选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35828" y="6103948"/>
            <a:ext cx="5118415" cy="254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活鱼:需要去鳞去内脏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052121" y="4789904"/>
            <a:ext cx="5457523" cy="1780318"/>
          </a:xfrm>
          <a:custGeom>
            <a:avLst/>
            <a:gdLst/>
            <a:ahLst/>
            <a:cxnLst/>
            <a:rect l="l" t="t" r="r" b="b"/>
            <a:pathLst>
              <a:path w="5457523" h="1780318">
                <a:moveTo>
                  <a:pt x="84779" y="0"/>
                </a:moveTo>
                <a:lnTo>
                  <a:pt x="5372744" y="0"/>
                </a:lnTo>
                <a:cubicBezTo>
                  <a:pt x="5419566" y="0"/>
                  <a:pt x="5457523" y="37957"/>
                  <a:pt x="5457523" y="84779"/>
                </a:cubicBezTo>
                <a:lnTo>
                  <a:pt x="5457523" y="1695539"/>
                </a:lnTo>
                <a:cubicBezTo>
                  <a:pt x="5457523" y="1742361"/>
                  <a:pt x="5419566" y="1780318"/>
                  <a:pt x="5372744" y="1780318"/>
                </a:cubicBezTo>
                <a:lnTo>
                  <a:pt x="84779" y="1780318"/>
                </a:lnTo>
                <a:cubicBezTo>
                  <a:pt x="37957" y="1780318"/>
                  <a:pt x="0" y="1742361"/>
                  <a:pt x="0" y="1695539"/>
                </a:cubicBezTo>
                <a:lnTo>
                  <a:pt x="0" y="84779"/>
                </a:lnTo>
                <a:cubicBezTo>
                  <a:pt x="0" y="37988"/>
                  <a:pt x="37988" y="0"/>
                  <a:pt x="84779" y="0"/>
                </a:cubicBezTo>
                <a:close/>
              </a:path>
            </a:pathLst>
          </a:custGeom>
          <a:solidFill>
            <a:srgbClr val="2D3748">
              <a:alpha val="4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6302478" y="5054832"/>
            <a:ext cx="166905" cy="190748"/>
          </a:xfrm>
          <a:custGeom>
            <a:avLst/>
            <a:gdLst/>
            <a:ahLst/>
            <a:cxnLst/>
            <a:rect l="l" t="t" r="r" b="b"/>
            <a:pathLst>
              <a:path w="166905" h="190748">
                <a:moveTo>
                  <a:pt x="161987" y="26116"/>
                </a:moveTo>
                <a:cubicBezTo>
                  <a:pt x="167315" y="29991"/>
                  <a:pt x="168507" y="37442"/>
                  <a:pt x="164632" y="42769"/>
                </a:cubicBezTo>
                <a:lnTo>
                  <a:pt x="69258" y="173909"/>
                </a:lnTo>
                <a:cubicBezTo>
                  <a:pt x="67209" y="176740"/>
                  <a:pt x="64042" y="178491"/>
                  <a:pt x="60540" y="178789"/>
                </a:cubicBezTo>
                <a:cubicBezTo>
                  <a:pt x="57038" y="179087"/>
                  <a:pt x="53648" y="177783"/>
                  <a:pt x="51189" y="175325"/>
                </a:cubicBezTo>
                <a:lnTo>
                  <a:pt x="3502" y="127637"/>
                </a:lnTo>
                <a:cubicBezTo>
                  <a:pt x="-1155" y="122981"/>
                  <a:pt x="-1155" y="115418"/>
                  <a:pt x="3502" y="110761"/>
                </a:cubicBezTo>
                <a:cubicBezTo>
                  <a:pt x="8159" y="106104"/>
                  <a:pt x="15722" y="106104"/>
                  <a:pt x="20379" y="110761"/>
                </a:cubicBezTo>
                <a:lnTo>
                  <a:pt x="58193" y="148575"/>
                </a:lnTo>
                <a:lnTo>
                  <a:pt x="145371" y="28724"/>
                </a:lnTo>
                <a:cubicBezTo>
                  <a:pt x="149246" y="23396"/>
                  <a:pt x="156697" y="22204"/>
                  <a:pt x="162024" y="26079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6507798" y="5001846"/>
            <a:ext cx="4885278" cy="29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2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加工后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264064" y="5425731"/>
            <a:ext cx="5118415" cy="254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土豆:标准切块,净菜包装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264064" y="5764840"/>
            <a:ext cx="5118415" cy="254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青菜:筛选完毕,统一规格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264064" y="6103948"/>
            <a:ext cx="5118415" cy="254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鱼肉:处理完成,分块装袋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1765134" y="1483598"/>
            <a:ext cx="4069299" cy="7531815"/>
          </a:xfrm>
          <a:custGeom>
            <a:avLst/>
            <a:gdLst/>
            <a:ahLst/>
            <a:cxnLst/>
            <a:rect l="l" t="t" r="r" b="b"/>
            <a:pathLst>
              <a:path w="4069299" h="9049950">
                <a:moveTo>
                  <a:pt x="84763" y="0"/>
                </a:moveTo>
                <a:lnTo>
                  <a:pt x="3984535" y="0"/>
                </a:lnTo>
                <a:cubicBezTo>
                  <a:pt x="4031349" y="0"/>
                  <a:pt x="4069299" y="37950"/>
                  <a:pt x="4069299" y="84763"/>
                </a:cubicBezTo>
                <a:lnTo>
                  <a:pt x="4069299" y="8965187"/>
                </a:lnTo>
                <a:cubicBezTo>
                  <a:pt x="4069299" y="9012001"/>
                  <a:pt x="4031349" y="9049950"/>
                  <a:pt x="3984535" y="9049950"/>
                </a:cubicBezTo>
                <a:lnTo>
                  <a:pt x="84763" y="9049950"/>
                </a:lnTo>
                <a:cubicBezTo>
                  <a:pt x="37950" y="9049950"/>
                  <a:pt x="0" y="9012001"/>
                  <a:pt x="0" y="8965187"/>
                </a:cubicBezTo>
                <a:lnTo>
                  <a:pt x="0" y="84763"/>
                </a:lnTo>
                <a:cubicBezTo>
                  <a:pt x="0" y="37981"/>
                  <a:pt x="37981" y="0"/>
                  <a:pt x="84763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12019465" y="1780318"/>
            <a:ext cx="317914" cy="254331"/>
          </a:xfrm>
          <a:custGeom>
            <a:avLst/>
            <a:gdLst/>
            <a:ahLst/>
            <a:cxnLst/>
            <a:rect l="l" t="t" r="r" b="b"/>
            <a:pathLst>
              <a:path w="317914" h="254331">
                <a:moveTo>
                  <a:pt x="206594" y="104564"/>
                </a:moveTo>
                <a:cubicBezTo>
                  <a:pt x="212655" y="102925"/>
                  <a:pt x="219013" y="105806"/>
                  <a:pt x="221745" y="111419"/>
                </a:cubicBezTo>
                <a:lnTo>
                  <a:pt x="230984" y="130096"/>
                </a:lnTo>
                <a:cubicBezTo>
                  <a:pt x="236101" y="130792"/>
                  <a:pt x="241118" y="132183"/>
                  <a:pt x="245837" y="134120"/>
                </a:cubicBezTo>
                <a:lnTo>
                  <a:pt x="263223" y="122546"/>
                </a:lnTo>
                <a:cubicBezTo>
                  <a:pt x="268439" y="119069"/>
                  <a:pt x="275343" y="119764"/>
                  <a:pt x="279764" y="124185"/>
                </a:cubicBezTo>
                <a:lnTo>
                  <a:pt x="289302" y="133723"/>
                </a:lnTo>
                <a:cubicBezTo>
                  <a:pt x="293723" y="138144"/>
                  <a:pt x="294418" y="145098"/>
                  <a:pt x="290941" y="150264"/>
                </a:cubicBezTo>
                <a:lnTo>
                  <a:pt x="279367" y="167600"/>
                </a:lnTo>
                <a:cubicBezTo>
                  <a:pt x="280311" y="169935"/>
                  <a:pt x="281155" y="172369"/>
                  <a:pt x="281851" y="174902"/>
                </a:cubicBezTo>
                <a:cubicBezTo>
                  <a:pt x="282546" y="177436"/>
                  <a:pt x="282993" y="179919"/>
                  <a:pt x="283341" y="182453"/>
                </a:cubicBezTo>
                <a:lnTo>
                  <a:pt x="302068" y="191692"/>
                </a:lnTo>
                <a:cubicBezTo>
                  <a:pt x="307681" y="194474"/>
                  <a:pt x="310562" y="200832"/>
                  <a:pt x="308923" y="206843"/>
                </a:cubicBezTo>
                <a:lnTo>
                  <a:pt x="305446" y="219857"/>
                </a:lnTo>
                <a:cubicBezTo>
                  <a:pt x="303807" y="225868"/>
                  <a:pt x="298193" y="229941"/>
                  <a:pt x="291934" y="229544"/>
                </a:cubicBezTo>
                <a:lnTo>
                  <a:pt x="271071" y="228203"/>
                </a:lnTo>
                <a:cubicBezTo>
                  <a:pt x="267942" y="232226"/>
                  <a:pt x="264316" y="235952"/>
                  <a:pt x="260193" y="239131"/>
                </a:cubicBezTo>
                <a:lnTo>
                  <a:pt x="261534" y="259944"/>
                </a:lnTo>
                <a:cubicBezTo>
                  <a:pt x="261931" y="266203"/>
                  <a:pt x="257858" y="271866"/>
                  <a:pt x="251847" y="273456"/>
                </a:cubicBezTo>
                <a:lnTo>
                  <a:pt x="238833" y="276933"/>
                </a:lnTo>
                <a:cubicBezTo>
                  <a:pt x="232773" y="278572"/>
                  <a:pt x="226464" y="275691"/>
                  <a:pt x="223682" y="270078"/>
                </a:cubicBezTo>
                <a:lnTo>
                  <a:pt x="214443" y="251400"/>
                </a:lnTo>
                <a:cubicBezTo>
                  <a:pt x="209326" y="250705"/>
                  <a:pt x="204309" y="249314"/>
                  <a:pt x="199590" y="247377"/>
                </a:cubicBezTo>
                <a:lnTo>
                  <a:pt x="182204" y="258951"/>
                </a:lnTo>
                <a:cubicBezTo>
                  <a:pt x="176989" y="262428"/>
                  <a:pt x="170084" y="261733"/>
                  <a:pt x="165663" y="257312"/>
                </a:cubicBezTo>
                <a:lnTo>
                  <a:pt x="156126" y="247774"/>
                </a:lnTo>
                <a:cubicBezTo>
                  <a:pt x="151705" y="243353"/>
                  <a:pt x="151009" y="236449"/>
                  <a:pt x="154486" y="231233"/>
                </a:cubicBezTo>
                <a:lnTo>
                  <a:pt x="166060" y="213847"/>
                </a:lnTo>
                <a:cubicBezTo>
                  <a:pt x="165117" y="211512"/>
                  <a:pt x="164272" y="209078"/>
                  <a:pt x="163577" y="206545"/>
                </a:cubicBezTo>
                <a:cubicBezTo>
                  <a:pt x="162881" y="204011"/>
                  <a:pt x="162434" y="201478"/>
                  <a:pt x="162086" y="198994"/>
                </a:cubicBezTo>
                <a:lnTo>
                  <a:pt x="143359" y="189755"/>
                </a:lnTo>
                <a:cubicBezTo>
                  <a:pt x="137746" y="186973"/>
                  <a:pt x="134915" y="180615"/>
                  <a:pt x="136504" y="174604"/>
                </a:cubicBezTo>
                <a:lnTo>
                  <a:pt x="139981" y="161590"/>
                </a:lnTo>
                <a:cubicBezTo>
                  <a:pt x="141621" y="155579"/>
                  <a:pt x="147234" y="151506"/>
                  <a:pt x="153493" y="151903"/>
                </a:cubicBezTo>
                <a:lnTo>
                  <a:pt x="174306" y="153244"/>
                </a:lnTo>
                <a:cubicBezTo>
                  <a:pt x="177436" y="149221"/>
                  <a:pt x="181062" y="145495"/>
                  <a:pt x="185185" y="142316"/>
                </a:cubicBezTo>
                <a:lnTo>
                  <a:pt x="183844" y="121552"/>
                </a:lnTo>
                <a:cubicBezTo>
                  <a:pt x="183446" y="115293"/>
                  <a:pt x="187520" y="109631"/>
                  <a:pt x="193530" y="108041"/>
                </a:cubicBezTo>
                <a:lnTo>
                  <a:pt x="206545" y="104564"/>
                </a:lnTo>
                <a:close/>
                <a:moveTo>
                  <a:pt x="222738" y="168892"/>
                </a:moveTo>
                <a:cubicBezTo>
                  <a:pt x="210675" y="168905"/>
                  <a:pt x="200893" y="178710"/>
                  <a:pt x="200907" y="190773"/>
                </a:cubicBezTo>
                <a:cubicBezTo>
                  <a:pt x="200920" y="202836"/>
                  <a:pt x="210725" y="212619"/>
                  <a:pt x="222788" y="212605"/>
                </a:cubicBezTo>
                <a:cubicBezTo>
                  <a:pt x="234851" y="212591"/>
                  <a:pt x="244634" y="202787"/>
                  <a:pt x="244620" y="190724"/>
                </a:cubicBezTo>
                <a:cubicBezTo>
                  <a:pt x="244606" y="178661"/>
                  <a:pt x="234801" y="168878"/>
                  <a:pt x="222738" y="168892"/>
                </a:cubicBezTo>
                <a:close/>
                <a:moveTo>
                  <a:pt x="111717" y="-22602"/>
                </a:moveTo>
                <a:lnTo>
                  <a:pt x="124732" y="-19125"/>
                </a:lnTo>
                <a:cubicBezTo>
                  <a:pt x="130742" y="-17485"/>
                  <a:pt x="134815" y="-11822"/>
                  <a:pt x="134418" y="-5613"/>
                </a:cubicBezTo>
                <a:lnTo>
                  <a:pt x="133077" y="15151"/>
                </a:lnTo>
                <a:cubicBezTo>
                  <a:pt x="137200" y="18330"/>
                  <a:pt x="140826" y="22006"/>
                  <a:pt x="143955" y="26079"/>
                </a:cubicBezTo>
                <a:lnTo>
                  <a:pt x="164819" y="24738"/>
                </a:lnTo>
                <a:cubicBezTo>
                  <a:pt x="171028" y="24340"/>
                  <a:pt x="176691" y="28414"/>
                  <a:pt x="178330" y="34424"/>
                </a:cubicBezTo>
                <a:lnTo>
                  <a:pt x="181807" y="47439"/>
                </a:lnTo>
                <a:cubicBezTo>
                  <a:pt x="183397" y="53449"/>
                  <a:pt x="180565" y="59808"/>
                  <a:pt x="174952" y="62589"/>
                </a:cubicBezTo>
                <a:lnTo>
                  <a:pt x="156225" y="71829"/>
                </a:lnTo>
                <a:cubicBezTo>
                  <a:pt x="155877" y="74362"/>
                  <a:pt x="155380" y="76895"/>
                  <a:pt x="154735" y="79379"/>
                </a:cubicBezTo>
                <a:cubicBezTo>
                  <a:pt x="154089" y="81863"/>
                  <a:pt x="153195" y="84347"/>
                  <a:pt x="152251" y="86681"/>
                </a:cubicBezTo>
                <a:lnTo>
                  <a:pt x="163825" y="104067"/>
                </a:lnTo>
                <a:cubicBezTo>
                  <a:pt x="167302" y="109283"/>
                  <a:pt x="166607" y="116188"/>
                  <a:pt x="162186" y="120609"/>
                </a:cubicBezTo>
                <a:lnTo>
                  <a:pt x="152648" y="130146"/>
                </a:lnTo>
                <a:cubicBezTo>
                  <a:pt x="148227" y="134567"/>
                  <a:pt x="141323" y="135262"/>
                  <a:pt x="136107" y="131785"/>
                </a:cubicBezTo>
                <a:lnTo>
                  <a:pt x="118721" y="120211"/>
                </a:lnTo>
                <a:cubicBezTo>
                  <a:pt x="114002" y="122149"/>
                  <a:pt x="108985" y="123539"/>
                  <a:pt x="103868" y="124235"/>
                </a:cubicBezTo>
                <a:lnTo>
                  <a:pt x="94629" y="142912"/>
                </a:lnTo>
                <a:cubicBezTo>
                  <a:pt x="91847" y="148525"/>
                  <a:pt x="85489" y="151357"/>
                  <a:pt x="79478" y="149767"/>
                </a:cubicBezTo>
                <a:lnTo>
                  <a:pt x="66464" y="146290"/>
                </a:lnTo>
                <a:cubicBezTo>
                  <a:pt x="60404" y="144651"/>
                  <a:pt x="56380" y="138988"/>
                  <a:pt x="56777" y="132779"/>
                </a:cubicBezTo>
                <a:lnTo>
                  <a:pt x="58119" y="111965"/>
                </a:lnTo>
                <a:cubicBezTo>
                  <a:pt x="53996" y="108786"/>
                  <a:pt x="50369" y="105110"/>
                  <a:pt x="47240" y="101037"/>
                </a:cubicBezTo>
                <a:lnTo>
                  <a:pt x="26377" y="102378"/>
                </a:lnTo>
                <a:cubicBezTo>
                  <a:pt x="20168" y="102776"/>
                  <a:pt x="14505" y="98702"/>
                  <a:pt x="12866" y="92692"/>
                </a:cubicBezTo>
                <a:lnTo>
                  <a:pt x="9388" y="79677"/>
                </a:lnTo>
                <a:cubicBezTo>
                  <a:pt x="7799" y="73667"/>
                  <a:pt x="10630" y="67308"/>
                  <a:pt x="16243" y="64527"/>
                </a:cubicBezTo>
                <a:lnTo>
                  <a:pt x="34971" y="55287"/>
                </a:lnTo>
                <a:cubicBezTo>
                  <a:pt x="35318" y="52754"/>
                  <a:pt x="35815" y="50270"/>
                  <a:pt x="36461" y="47737"/>
                </a:cubicBezTo>
                <a:cubicBezTo>
                  <a:pt x="37156" y="45203"/>
                  <a:pt x="37951" y="42769"/>
                  <a:pt x="38944" y="40435"/>
                </a:cubicBezTo>
                <a:lnTo>
                  <a:pt x="27370" y="23098"/>
                </a:lnTo>
                <a:cubicBezTo>
                  <a:pt x="23893" y="17883"/>
                  <a:pt x="24589" y="10978"/>
                  <a:pt x="29010" y="6557"/>
                </a:cubicBezTo>
                <a:lnTo>
                  <a:pt x="38547" y="-2980"/>
                </a:lnTo>
                <a:cubicBezTo>
                  <a:pt x="42968" y="-7401"/>
                  <a:pt x="49873" y="-8097"/>
                  <a:pt x="55089" y="-4620"/>
                </a:cubicBezTo>
                <a:lnTo>
                  <a:pt x="72474" y="6954"/>
                </a:lnTo>
                <a:cubicBezTo>
                  <a:pt x="77193" y="5017"/>
                  <a:pt x="82211" y="3626"/>
                  <a:pt x="87327" y="2931"/>
                </a:cubicBezTo>
                <a:lnTo>
                  <a:pt x="96566" y="-15747"/>
                </a:lnTo>
                <a:cubicBezTo>
                  <a:pt x="99348" y="-21360"/>
                  <a:pt x="105657" y="-24191"/>
                  <a:pt x="111717" y="-22602"/>
                </a:cubicBezTo>
                <a:close/>
                <a:moveTo>
                  <a:pt x="95573" y="41726"/>
                </a:moveTo>
                <a:cubicBezTo>
                  <a:pt x="83510" y="41726"/>
                  <a:pt x="73716" y="51520"/>
                  <a:pt x="73716" y="63583"/>
                </a:cubicBezTo>
                <a:cubicBezTo>
                  <a:pt x="73716" y="75646"/>
                  <a:pt x="83510" y="85439"/>
                  <a:pt x="95573" y="85439"/>
                </a:cubicBezTo>
                <a:cubicBezTo>
                  <a:pt x="107636" y="85439"/>
                  <a:pt x="117429" y="75646"/>
                  <a:pt x="117429" y="63583"/>
                </a:cubicBezTo>
                <a:cubicBezTo>
                  <a:pt x="117429" y="51520"/>
                  <a:pt x="107636" y="41726"/>
                  <a:pt x="95573" y="41726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12337379" y="1737930"/>
            <a:ext cx="3369888" cy="339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3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数据领域的映射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2019465" y="2288980"/>
            <a:ext cx="3560636" cy="1398821"/>
          </a:xfrm>
          <a:custGeom>
            <a:avLst/>
            <a:gdLst/>
            <a:ahLst/>
            <a:cxnLst/>
            <a:rect l="l" t="t" r="r" b="b"/>
            <a:pathLst>
              <a:path w="3560636" h="1398821">
                <a:moveTo>
                  <a:pt x="84783" y="0"/>
                </a:moveTo>
                <a:lnTo>
                  <a:pt x="3475854" y="0"/>
                </a:lnTo>
                <a:cubicBezTo>
                  <a:pt x="3522678" y="0"/>
                  <a:pt x="3560636" y="37958"/>
                  <a:pt x="3560636" y="84783"/>
                </a:cubicBezTo>
                <a:lnTo>
                  <a:pt x="3560636" y="1314039"/>
                </a:lnTo>
                <a:cubicBezTo>
                  <a:pt x="3560636" y="1360863"/>
                  <a:pt x="3522678" y="1398821"/>
                  <a:pt x="3475854" y="1398821"/>
                </a:cubicBezTo>
                <a:lnTo>
                  <a:pt x="84783" y="1398821"/>
                </a:lnTo>
                <a:cubicBezTo>
                  <a:pt x="37958" y="1398821"/>
                  <a:pt x="0" y="1360863"/>
                  <a:pt x="0" y="1314039"/>
                </a:cubicBezTo>
                <a:lnTo>
                  <a:pt x="0" y="84783"/>
                </a:lnTo>
                <a:cubicBezTo>
                  <a:pt x="0" y="37990"/>
                  <a:pt x="37990" y="0"/>
                  <a:pt x="84783" y="0"/>
                </a:cubicBezTo>
                <a:close/>
              </a:path>
            </a:pathLst>
          </a:custGeom>
          <a:solidFill>
            <a:srgbClr val="2D3748">
              <a:alpha val="8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12189020" y="2458535"/>
            <a:ext cx="423885" cy="423885"/>
          </a:xfrm>
          <a:custGeom>
            <a:avLst/>
            <a:gdLst/>
            <a:ahLst/>
            <a:cxnLst/>
            <a:rect l="l" t="t" r="r" b="b"/>
            <a:pathLst>
              <a:path w="423885" h="423885">
                <a:moveTo>
                  <a:pt x="211943" y="0"/>
                </a:moveTo>
                <a:lnTo>
                  <a:pt x="211943" y="0"/>
                </a:lnTo>
                <a:cubicBezTo>
                  <a:pt x="328995" y="0"/>
                  <a:pt x="423885" y="94890"/>
                  <a:pt x="423885" y="211943"/>
                </a:cubicBezTo>
                <a:lnTo>
                  <a:pt x="423885" y="211943"/>
                </a:lnTo>
                <a:cubicBezTo>
                  <a:pt x="423885" y="328995"/>
                  <a:pt x="328995" y="423885"/>
                  <a:pt x="211943" y="423885"/>
                </a:cubicBezTo>
                <a:lnTo>
                  <a:pt x="211943" y="423885"/>
                </a:lnTo>
                <a:cubicBezTo>
                  <a:pt x="94890" y="423885"/>
                  <a:pt x="0" y="328995"/>
                  <a:pt x="0" y="211943"/>
                </a:cubicBezTo>
                <a:lnTo>
                  <a:pt x="0" y="211943"/>
                </a:lnTo>
                <a:cubicBezTo>
                  <a:pt x="0" y="94890"/>
                  <a:pt x="94890" y="0"/>
                  <a:pt x="211943" y="0"/>
                </a:cubicBezTo>
                <a:close/>
              </a:path>
            </a:pathLst>
          </a:custGeom>
          <a:solidFill>
            <a:srgbClr val="4A5568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12305588" y="2585700"/>
            <a:ext cx="190748" cy="169554"/>
          </a:xfrm>
          <a:custGeom>
            <a:avLst/>
            <a:gdLst/>
            <a:ahLst/>
            <a:cxnLst/>
            <a:rect l="l" t="t" r="r" b="b"/>
            <a:pathLst>
              <a:path w="190748" h="169554">
                <a:moveTo>
                  <a:pt x="187635" y="18081"/>
                </a:moveTo>
                <a:cubicBezTo>
                  <a:pt x="191775" y="13942"/>
                  <a:pt x="191775" y="7219"/>
                  <a:pt x="187635" y="3080"/>
                </a:cubicBezTo>
                <a:cubicBezTo>
                  <a:pt x="183496" y="-1060"/>
                  <a:pt x="176773" y="-1060"/>
                  <a:pt x="172634" y="3080"/>
                </a:cubicBezTo>
                <a:lnTo>
                  <a:pt x="109051" y="66663"/>
                </a:lnTo>
                <a:lnTo>
                  <a:pt x="97560" y="55171"/>
                </a:lnTo>
                <a:cubicBezTo>
                  <a:pt x="96169" y="53780"/>
                  <a:pt x="94248" y="52986"/>
                  <a:pt x="92261" y="52986"/>
                </a:cubicBezTo>
                <a:cubicBezTo>
                  <a:pt x="88122" y="52986"/>
                  <a:pt x="84777" y="56330"/>
                  <a:pt x="84777" y="60470"/>
                </a:cubicBezTo>
                <a:lnTo>
                  <a:pt x="84777" y="70107"/>
                </a:lnTo>
                <a:lnTo>
                  <a:pt x="120642" y="105971"/>
                </a:lnTo>
                <a:lnTo>
                  <a:pt x="130278" y="105971"/>
                </a:lnTo>
                <a:cubicBezTo>
                  <a:pt x="134418" y="105971"/>
                  <a:pt x="137763" y="102627"/>
                  <a:pt x="137763" y="98487"/>
                </a:cubicBezTo>
                <a:cubicBezTo>
                  <a:pt x="137763" y="96500"/>
                  <a:pt x="136968" y="94579"/>
                  <a:pt x="135577" y="93189"/>
                </a:cubicBezTo>
                <a:lnTo>
                  <a:pt x="124086" y="81697"/>
                </a:lnTo>
                <a:lnTo>
                  <a:pt x="187669" y="18114"/>
                </a:lnTo>
                <a:close/>
                <a:moveTo>
                  <a:pt x="112959" y="117032"/>
                </a:moveTo>
                <a:lnTo>
                  <a:pt x="73716" y="77790"/>
                </a:lnTo>
                <a:cubicBezTo>
                  <a:pt x="59576" y="76564"/>
                  <a:pt x="45501" y="81664"/>
                  <a:pt x="35368" y="91798"/>
                </a:cubicBezTo>
                <a:lnTo>
                  <a:pt x="32719" y="94447"/>
                </a:lnTo>
                <a:cubicBezTo>
                  <a:pt x="25334" y="101832"/>
                  <a:pt x="21194" y="111833"/>
                  <a:pt x="21194" y="122264"/>
                </a:cubicBezTo>
                <a:cubicBezTo>
                  <a:pt x="21194" y="124516"/>
                  <a:pt x="23546" y="125973"/>
                  <a:pt x="25566" y="124980"/>
                </a:cubicBezTo>
                <a:lnTo>
                  <a:pt x="42488" y="116535"/>
                </a:lnTo>
                <a:cubicBezTo>
                  <a:pt x="44144" y="115707"/>
                  <a:pt x="45634" y="117893"/>
                  <a:pt x="44276" y="119151"/>
                </a:cubicBezTo>
                <a:lnTo>
                  <a:pt x="2417" y="156771"/>
                </a:lnTo>
                <a:cubicBezTo>
                  <a:pt x="894" y="158162"/>
                  <a:pt x="0" y="160149"/>
                  <a:pt x="0" y="162235"/>
                </a:cubicBezTo>
                <a:cubicBezTo>
                  <a:pt x="0" y="166276"/>
                  <a:pt x="3278" y="169554"/>
                  <a:pt x="7319" y="169554"/>
                </a:cubicBezTo>
                <a:lnTo>
                  <a:pt x="64709" y="169554"/>
                </a:lnTo>
                <a:cubicBezTo>
                  <a:pt x="77558" y="169554"/>
                  <a:pt x="89844" y="164454"/>
                  <a:pt x="98951" y="155380"/>
                </a:cubicBezTo>
                <a:cubicBezTo>
                  <a:pt x="109084" y="145247"/>
                  <a:pt x="114151" y="131173"/>
                  <a:pt x="112959" y="117032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12740070" y="2522117"/>
            <a:ext cx="815979" cy="29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2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ETL清洗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2189020" y="2967197"/>
            <a:ext cx="3306305" cy="55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5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处理缺失值、异常值、重复值,提升数据质量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2019465" y="3857356"/>
            <a:ext cx="3560636" cy="1123296"/>
          </a:xfrm>
          <a:custGeom>
            <a:avLst/>
            <a:gdLst/>
            <a:ahLst/>
            <a:cxnLst/>
            <a:rect l="l" t="t" r="r" b="b"/>
            <a:pathLst>
              <a:path w="3560636" h="1123296">
                <a:moveTo>
                  <a:pt x="84775" y="0"/>
                </a:moveTo>
                <a:lnTo>
                  <a:pt x="3475861" y="0"/>
                </a:lnTo>
                <a:cubicBezTo>
                  <a:pt x="3522681" y="0"/>
                  <a:pt x="3560636" y="37955"/>
                  <a:pt x="3560636" y="84775"/>
                </a:cubicBezTo>
                <a:lnTo>
                  <a:pt x="3560636" y="1038521"/>
                </a:lnTo>
                <a:cubicBezTo>
                  <a:pt x="3560636" y="1085341"/>
                  <a:pt x="3522681" y="1123296"/>
                  <a:pt x="3475861" y="1123296"/>
                </a:cubicBezTo>
                <a:lnTo>
                  <a:pt x="84775" y="1123296"/>
                </a:lnTo>
                <a:cubicBezTo>
                  <a:pt x="37955" y="1123296"/>
                  <a:pt x="0" y="1085341"/>
                  <a:pt x="0" y="1038521"/>
                </a:cubicBezTo>
                <a:lnTo>
                  <a:pt x="0" y="84775"/>
                </a:lnTo>
                <a:cubicBezTo>
                  <a:pt x="0" y="37986"/>
                  <a:pt x="37986" y="0"/>
                  <a:pt x="84775" y="0"/>
                </a:cubicBezTo>
                <a:close/>
              </a:path>
            </a:pathLst>
          </a:custGeom>
          <a:solidFill>
            <a:srgbClr val="2D3748">
              <a:alpha val="8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12189020" y="4026910"/>
            <a:ext cx="423885" cy="423885"/>
          </a:xfrm>
          <a:custGeom>
            <a:avLst/>
            <a:gdLst/>
            <a:ahLst/>
            <a:cxnLst/>
            <a:rect l="l" t="t" r="r" b="b"/>
            <a:pathLst>
              <a:path w="423885" h="423885">
                <a:moveTo>
                  <a:pt x="211943" y="0"/>
                </a:moveTo>
                <a:lnTo>
                  <a:pt x="211943" y="0"/>
                </a:lnTo>
                <a:cubicBezTo>
                  <a:pt x="328995" y="0"/>
                  <a:pt x="423885" y="94890"/>
                  <a:pt x="423885" y="211943"/>
                </a:cubicBezTo>
                <a:lnTo>
                  <a:pt x="423885" y="211943"/>
                </a:lnTo>
                <a:cubicBezTo>
                  <a:pt x="423885" y="328995"/>
                  <a:pt x="328995" y="423885"/>
                  <a:pt x="211943" y="423885"/>
                </a:cubicBezTo>
                <a:lnTo>
                  <a:pt x="211943" y="423885"/>
                </a:lnTo>
                <a:cubicBezTo>
                  <a:pt x="94890" y="423885"/>
                  <a:pt x="0" y="328995"/>
                  <a:pt x="0" y="211943"/>
                </a:cubicBezTo>
                <a:lnTo>
                  <a:pt x="0" y="211943"/>
                </a:lnTo>
                <a:cubicBezTo>
                  <a:pt x="0" y="94890"/>
                  <a:pt x="94890" y="0"/>
                  <a:pt x="211943" y="0"/>
                </a:cubicBezTo>
                <a:close/>
              </a:path>
            </a:pathLst>
          </a:custGeom>
          <a:solidFill>
            <a:srgbClr val="4A5568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12326782" y="4154076"/>
            <a:ext cx="148360" cy="169554"/>
          </a:xfrm>
          <a:custGeom>
            <a:avLst/>
            <a:gdLst/>
            <a:ahLst/>
            <a:cxnLst/>
            <a:rect l="l" t="t" r="r" b="b"/>
            <a:pathLst>
              <a:path w="148360" h="169554">
                <a:moveTo>
                  <a:pt x="127166" y="169554"/>
                </a:moveTo>
                <a:lnTo>
                  <a:pt x="31791" y="169554"/>
                </a:lnTo>
                <a:cubicBezTo>
                  <a:pt x="14240" y="169554"/>
                  <a:pt x="0" y="155314"/>
                  <a:pt x="0" y="137763"/>
                </a:cubicBezTo>
                <a:lnTo>
                  <a:pt x="0" y="31791"/>
                </a:lnTo>
                <a:cubicBezTo>
                  <a:pt x="0" y="14240"/>
                  <a:pt x="14240" y="0"/>
                  <a:pt x="31791" y="0"/>
                </a:cubicBezTo>
                <a:lnTo>
                  <a:pt x="132464" y="0"/>
                </a:lnTo>
                <a:cubicBezTo>
                  <a:pt x="141240" y="0"/>
                  <a:pt x="148360" y="7120"/>
                  <a:pt x="148360" y="15896"/>
                </a:cubicBezTo>
                <a:lnTo>
                  <a:pt x="148360" y="111270"/>
                </a:lnTo>
                <a:cubicBezTo>
                  <a:pt x="148360" y="118191"/>
                  <a:pt x="143922" y="124086"/>
                  <a:pt x="137763" y="126271"/>
                </a:cubicBezTo>
                <a:lnTo>
                  <a:pt x="137763" y="148360"/>
                </a:lnTo>
                <a:cubicBezTo>
                  <a:pt x="143624" y="148360"/>
                  <a:pt x="148360" y="153095"/>
                  <a:pt x="148360" y="158957"/>
                </a:cubicBezTo>
                <a:cubicBezTo>
                  <a:pt x="148360" y="164819"/>
                  <a:pt x="143624" y="169554"/>
                  <a:pt x="137763" y="169554"/>
                </a:cubicBezTo>
                <a:lnTo>
                  <a:pt x="127166" y="169554"/>
                </a:lnTo>
                <a:close/>
                <a:moveTo>
                  <a:pt x="31791" y="127166"/>
                </a:moveTo>
                <a:cubicBezTo>
                  <a:pt x="25930" y="127166"/>
                  <a:pt x="21194" y="131901"/>
                  <a:pt x="21194" y="137763"/>
                </a:cubicBezTo>
                <a:cubicBezTo>
                  <a:pt x="21194" y="143624"/>
                  <a:pt x="25930" y="148360"/>
                  <a:pt x="31791" y="148360"/>
                </a:cubicBezTo>
                <a:lnTo>
                  <a:pt x="116568" y="148360"/>
                </a:lnTo>
                <a:lnTo>
                  <a:pt x="116568" y="127166"/>
                </a:lnTo>
                <a:lnTo>
                  <a:pt x="31791" y="127166"/>
                </a:lnTo>
                <a:close/>
                <a:moveTo>
                  <a:pt x="42389" y="50336"/>
                </a:moveTo>
                <a:cubicBezTo>
                  <a:pt x="42389" y="54741"/>
                  <a:pt x="45932" y="58284"/>
                  <a:pt x="50336" y="58284"/>
                </a:cubicBezTo>
                <a:lnTo>
                  <a:pt x="108621" y="58284"/>
                </a:lnTo>
                <a:cubicBezTo>
                  <a:pt x="113025" y="58284"/>
                  <a:pt x="116568" y="54741"/>
                  <a:pt x="116568" y="50336"/>
                </a:cubicBezTo>
                <a:cubicBezTo>
                  <a:pt x="116568" y="45932"/>
                  <a:pt x="113025" y="42389"/>
                  <a:pt x="108621" y="42389"/>
                </a:cubicBezTo>
                <a:lnTo>
                  <a:pt x="50336" y="42389"/>
                </a:lnTo>
                <a:cubicBezTo>
                  <a:pt x="45932" y="42389"/>
                  <a:pt x="42389" y="45932"/>
                  <a:pt x="42389" y="50336"/>
                </a:cubicBezTo>
                <a:close/>
                <a:moveTo>
                  <a:pt x="50336" y="74180"/>
                </a:moveTo>
                <a:cubicBezTo>
                  <a:pt x="45932" y="74180"/>
                  <a:pt x="42389" y="77723"/>
                  <a:pt x="42389" y="82128"/>
                </a:cubicBezTo>
                <a:cubicBezTo>
                  <a:pt x="42389" y="86532"/>
                  <a:pt x="45932" y="90076"/>
                  <a:pt x="50336" y="90076"/>
                </a:cubicBezTo>
                <a:lnTo>
                  <a:pt x="108621" y="90076"/>
                </a:lnTo>
                <a:cubicBezTo>
                  <a:pt x="113025" y="90076"/>
                  <a:pt x="116568" y="86532"/>
                  <a:pt x="116568" y="82128"/>
                </a:cubicBezTo>
                <a:cubicBezTo>
                  <a:pt x="116568" y="77723"/>
                  <a:pt x="113025" y="74180"/>
                  <a:pt x="108621" y="74180"/>
                </a:cubicBezTo>
                <a:lnTo>
                  <a:pt x="50336" y="74180"/>
                </a:ln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12740070" y="4090493"/>
            <a:ext cx="1239864" cy="29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2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数据字典映射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2189020" y="4535572"/>
            <a:ext cx="3306305" cy="2755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5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将不同源系统的编码统一为标准枚举值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12019465" y="5150206"/>
            <a:ext cx="3560636" cy="1123296"/>
          </a:xfrm>
          <a:custGeom>
            <a:avLst/>
            <a:gdLst/>
            <a:ahLst/>
            <a:cxnLst/>
            <a:rect l="l" t="t" r="r" b="b"/>
            <a:pathLst>
              <a:path w="3560636" h="1123296">
                <a:moveTo>
                  <a:pt x="84775" y="0"/>
                </a:moveTo>
                <a:lnTo>
                  <a:pt x="3475861" y="0"/>
                </a:lnTo>
                <a:cubicBezTo>
                  <a:pt x="3522681" y="0"/>
                  <a:pt x="3560636" y="37955"/>
                  <a:pt x="3560636" y="84775"/>
                </a:cubicBezTo>
                <a:lnTo>
                  <a:pt x="3560636" y="1038521"/>
                </a:lnTo>
                <a:cubicBezTo>
                  <a:pt x="3560636" y="1085341"/>
                  <a:pt x="3522681" y="1123296"/>
                  <a:pt x="3475861" y="1123296"/>
                </a:cubicBezTo>
                <a:lnTo>
                  <a:pt x="84775" y="1123296"/>
                </a:lnTo>
                <a:cubicBezTo>
                  <a:pt x="37955" y="1123296"/>
                  <a:pt x="0" y="1085341"/>
                  <a:pt x="0" y="1038521"/>
                </a:cubicBezTo>
                <a:lnTo>
                  <a:pt x="0" y="84775"/>
                </a:lnTo>
                <a:cubicBezTo>
                  <a:pt x="0" y="37986"/>
                  <a:pt x="37986" y="0"/>
                  <a:pt x="84775" y="0"/>
                </a:cubicBezTo>
                <a:close/>
              </a:path>
            </a:pathLst>
          </a:custGeom>
          <a:solidFill>
            <a:srgbClr val="2D3748">
              <a:alpha val="8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12189020" y="5319760"/>
            <a:ext cx="423885" cy="423885"/>
          </a:xfrm>
          <a:custGeom>
            <a:avLst/>
            <a:gdLst/>
            <a:ahLst/>
            <a:cxnLst/>
            <a:rect l="l" t="t" r="r" b="b"/>
            <a:pathLst>
              <a:path w="423885" h="423885">
                <a:moveTo>
                  <a:pt x="211943" y="0"/>
                </a:moveTo>
                <a:lnTo>
                  <a:pt x="211943" y="0"/>
                </a:lnTo>
                <a:cubicBezTo>
                  <a:pt x="328995" y="0"/>
                  <a:pt x="423885" y="94890"/>
                  <a:pt x="423885" y="211943"/>
                </a:cubicBezTo>
                <a:lnTo>
                  <a:pt x="423885" y="211943"/>
                </a:lnTo>
                <a:cubicBezTo>
                  <a:pt x="423885" y="328995"/>
                  <a:pt x="328995" y="423885"/>
                  <a:pt x="211943" y="423885"/>
                </a:cubicBezTo>
                <a:lnTo>
                  <a:pt x="211943" y="423885"/>
                </a:lnTo>
                <a:cubicBezTo>
                  <a:pt x="94890" y="423885"/>
                  <a:pt x="0" y="328995"/>
                  <a:pt x="0" y="211943"/>
                </a:cubicBezTo>
                <a:lnTo>
                  <a:pt x="0" y="211943"/>
                </a:lnTo>
                <a:cubicBezTo>
                  <a:pt x="0" y="94890"/>
                  <a:pt x="94890" y="0"/>
                  <a:pt x="211943" y="0"/>
                </a:cubicBezTo>
                <a:close/>
              </a:path>
            </a:pathLst>
          </a:custGeom>
          <a:solidFill>
            <a:srgbClr val="4A5568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12305588" y="5446926"/>
            <a:ext cx="190748" cy="169554"/>
          </a:xfrm>
          <a:custGeom>
            <a:avLst/>
            <a:gdLst/>
            <a:ahLst/>
            <a:cxnLst/>
            <a:rect l="l" t="t" r="r" b="b"/>
            <a:pathLst>
              <a:path w="190748" h="169554">
                <a:moveTo>
                  <a:pt x="138922" y="31791"/>
                </a:moveTo>
                <a:cubicBezTo>
                  <a:pt x="133425" y="31791"/>
                  <a:pt x="128093" y="33282"/>
                  <a:pt x="123423" y="35997"/>
                </a:cubicBezTo>
                <a:cubicBezTo>
                  <a:pt x="118191" y="30699"/>
                  <a:pt x="112098" y="26261"/>
                  <a:pt x="105375" y="22916"/>
                </a:cubicBezTo>
                <a:cubicBezTo>
                  <a:pt x="114714" y="14968"/>
                  <a:pt x="126603" y="10597"/>
                  <a:pt x="138922" y="10597"/>
                </a:cubicBezTo>
                <a:cubicBezTo>
                  <a:pt x="167534" y="10597"/>
                  <a:pt x="190748" y="33778"/>
                  <a:pt x="190748" y="62424"/>
                </a:cubicBezTo>
                <a:cubicBezTo>
                  <a:pt x="190748" y="76167"/>
                  <a:pt x="185284" y="89347"/>
                  <a:pt x="175581" y="99050"/>
                </a:cubicBezTo>
                <a:lnTo>
                  <a:pt x="152036" y="122596"/>
                </a:lnTo>
                <a:cubicBezTo>
                  <a:pt x="142333" y="132299"/>
                  <a:pt x="129153" y="137763"/>
                  <a:pt x="115409" y="137763"/>
                </a:cubicBezTo>
                <a:cubicBezTo>
                  <a:pt x="86797" y="137763"/>
                  <a:pt x="63583" y="114581"/>
                  <a:pt x="63583" y="85936"/>
                </a:cubicBezTo>
                <a:cubicBezTo>
                  <a:pt x="63583" y="85439"/>
                  <a:pt x="63583" y="84943"/>
                  <a:pt x="63616" y="84446"/>
                </a:cubicBezTo>
                <a:cubicBezTo>
                  <a:pt x="63781" y="78584"/>
                  <a:pt x="68650" y="73981"/>
                  <a:pt x="74511" y="74147"/>
                </a:cubicBezTo>
                <a:cubicBezTo>
                  <a:pt x="80373" y="74312"/>
                  <a:pt x="84976" y="79180"/>
                  <a:pt x="84810" y="85042"/>
                </a:cubicBezTo>
                <a:cubicBezTo>
                  <a:pt x="84810" y="85340"/>
                  <a:pt x="84810" y="85638"/>
                  <a:pt x="84810" y="85903"/>
                </a:cubicBezTo>
                <a:cubicBezTo>
                  <a:pt x="84810" y="102825"/>
                  <a:pt x="98520" y="116535"/>
                  <a:pt x="115443" y="116535"/>
                </a:cubicBezTo>
                <a:cubicBezTo>
                  <a:pt x="123556" y="116535"/>
                  <a:pt x="131338" y="113323"/>
                  <a:pt x="137100" y="107561"/>
                </a:cubicBezTo>
                <a:lnTo>
                  <a:pt x="160646" y="84015"/>
                </a:lnTo>
                <a:cubicBezTo>
                  <a:pt x="166375" y="78286"/>
                  <a:pt x="169620" y="70471"/>
                  <a:pt x="169620" y="62357"/>
                </a:cubicBezTo>
                <a:cubicBezTo>
                  <a:pt x="169620" y="45435"/>
                  <a:pt x="155910" y="31725"/>
                  <a:pt x="138988" y="31725"/>
                </a:cubicBezTo>
                <a:close/>
                <a:moveTo>
                  <a:pt x="91135" y="57390"/>
                </a:moveTo>
                <a:cubicBezTo>
                  <a:pt x="90506" y="57125"/>
                  <a:pt x="89877" y="56761"/>
                  <a:pt x="89314" y="56363"/>
                </a:cubicBezTo>
                <a:cubicBezTo>
                  <a:pt x="85141" y="54211"/>
                  <a:pt x="80373" y="52986"/>
                  <a:pt x="75372" y="52986"/>
                </a:cubicBezTo>
                <a:cubicBezTo>
                  <a:pt x="67259" y="52986"/>
                  <a:pt x="59476" y="56198"/>
                  <a:pt x="53714" y="61960"/>
                </a:cubicBezTo>
                <a:lnTo>
                  <a:pt x="30169" y="85506"/>
                </a:lnTo>
                <a:cubicBezTo>
                  <a:pt x="24440" y="91235"/>
                  <a:pt x="21194" y="99050"/>
                  <a:pt x="21194" y="107163"/>
                </a:cubicBezTo>
                <a:cubicBezTo>
                  <a:pt x="21194" y="124086"/>
                  <a:pt x="34904" y="137796"/>
                  <a:pt x="51827" y="137796"/>
                </a:cubicBezTo>
                <a:cubicBezTo>
                  <a:pt x="57291" y="137796"/>
                  <a:pt x="62622" y="136339"/>
                  <a:pt x="67292" y="133623"/>
                </a:cubicBezTo>
                <a:cubicBezTo>
                  <a:pt x="72524" y="138922"/>
                  <a:pt x="78617" y="143359"/>
                  <a:pt x="85373" y="146704"/>
                </a:cubicBezTo>
                <a:cubicBezTo>
                  <a:pt x="76034" y="154619"/>
                  <a:pt x="64179" y="159023"/>
                  <a:pt x="51827" y="159023"/>
                </a:cubicBezTo>
                <a:cubicBezTo>
                  <a:pt x="23214" y="159023"/>
                  <a:pt x="0" y="135842"/>
                  <a:pt x="0" y="107197"/>
                </a:cubicBezTo>
                <a:cubicBezTo>
                  <a:pt x="0" y="93453"/>
                  <a:pt x="5464" y="80273"/>
                  <a:pt x="15167" y="70570"/>
                </a:cubicBezTo>
                <a:lnTo>
                  <a:pt x="38713" y="47025"/>
                </a:lnTo>
                <a:cubicBezTo>
                  <a:pt x="48416" y="37322"/>
                  <a:pt x="61596" y="31858"/>
                  <a:pt x="75339" y="31858"/>
                </a:cubicBezTo>
                <a:cubicBezTo>
                  <a:pt x="104017" y="31858"/>
                  <a:pt x="127166" y="55238"/>
                  <a:pt x="127166" y="83817"/>
                </a:cubicBezTo>
                <a:cubicBezTo>
                  <a:pt x="127166" y="84247"/>
                  <a:pt x="127166" y="84678"/>
                  <a:pt x="127166" y="85108"/>
                </a:cubicBezTo>
                <a:cubicBezTo>
                  <a:pt x="127033" y="90970"/>
                  <a:pt x="122165" y="95573"/>
                  <a:pt x="116304" y="95440"/>
                </a:cubicBezTo>
                <a:cubicBezTo>
                  <a:pt x="110442" y="95308"/>
                  <a:pt x="105839" y="90440"/>
                  <a:pt x="105971" y="84578"/>
                </a:cubicBezTo>
                <a:cubicBezTo>
                  <a:pt x="105971" y="84313"/>
                  <a:pt x="105971" y="84082"/>
                  <a:pt x="105971" y="83817"/>
                </a:cubicBezTo>
                <a:cubicBezTo>
                  <a:pt x="105971" y="72657"/>
                  <a:pt x="100010" y="62854"/>
                  <a:pt x="91135" y="57456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12740070" y="5383343"/>
            <a:ext cx="858368" cy="29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2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维度关联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2189020" y="5828422"/>
            <a:ext cx="3306305" cy="2755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5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关联维度表,将代码翻译为有意义的描述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12019465" y="6443056"/>
            <a:ext cx="3560636" cy="1123296"/>
          </a:xfrm>
          <a:custGeom>
            <a:avLst/>
            <a:gdLst/>
            <a:ahLst/>
            <a:cxnLst/>
            <a:rect l="l" t="t" r="r" b="b"/>
            <a:pathLst>
              <a:path w="3560636" h="1123296">
                <a:moveTo>
                  <a:pt x="84775" y="0"/>
                </a:moveTo>
                <a:lnTo>
                  <a:pt x="3475861" y="0"/>
                </a:lnTo>
                <a:cubicBezTo>
                  <a:pt x="3522681" y="0"/>
                  <a:pt x="3560636" y="37955"/>
                  <a:pt x="3560636" y="84775"/>
                </a:cubicBezTo>
                <a:lnTo>
                  <a:pt x="3560636" y="1038521"/>
                </a:lnTo>
                <a:cubicBezTo>
                  <a:pt x="3560636" y="1085341"/>
                  <a:pt x="3522681" y="1123296"/>
                  <a:pt x="3475861" y="1123296"/>
                </a:cubicBezTo>
                <a:lnTo>
                  <a:pt x="84775" y="1123296"/>
                </a:lnTo>
                <a:cubicBezTo>
                  <a:pt x="37955" y="1123296"/>
                  <a:pt x="0" y="1085341"/>
                  <a:pt x="0" y="1038521"/>
                </a:cubicBezTo>
                <a:lnTo>
                  <a:pt x="0" y="84775"/>
                </a:lnTo>
                <a:cubicBezTo>
                  <a:pt x="0" y="37986"/>
                  <a:pt x="37986" y="0"/>
                  <a:pt x="84775" y="0"/>
                </a:cubicBezTo>
                <a:close/>
              </a:path>
            </a:pathLst>
          </a:custGeom>
          <a:solidFill>
            <a:srgbClr val="2D3748">
              <a:alpha val="8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9"/>
          <p:cNvSpPr/>
          <p:nvPr/>
        </p:nvSpPr>
        <p:spPr>
          <a:xfrm>
            <a:off x="12189020" y="6612610"/>
            <a:ext cx="423885" cy="423885"/>
          </a:xfrm>
          <a:custGeom>
            <a:avLst/>
            <a:gdLst/>
            <a:ahLst/>
            <a:cxnLst/>
            <a:rect l="l" t="t" r="r" b="b"/>
            <a:pathLst>
              <a:path w="423885" h="423885">
                <a:moveTo>
                  <a:pt x="211943" y="0"/>
                </a:moveTo>
                <a:lnTo>
                  <a:pt x="211943" y="0"/>
                </a:lnTo>
                <a:cubicBezTo>
                  <a:pt x="328995" y="0"/>
                  <a:pt x="423885" y="94890"/>
                  <a:pt x="423885" y="211943"/>
                </a:cubicBezTo>
                <a:lnTo>
                  <a:pt x="423885" y="211943"/>
                </a:lnTo>
                <a:cubicBezTo>
                  <a:pt x="423885" y="328995"/>
                  <a:pt x="328995" y="423885"/>
                  <a:pt x="211943" y="423885"/>
                </a:cubicBezTo>
                <a:lnTo>
                  <a:pt x="211943" y="423885"/>
                </a:lnTo>
                <a:cubicBezTo>
                  <a:pt x="94890" y="423885"/>
                  <a:pt x="0" y="328995"/>
                  <a:pt x="0" y="211943"/>
                </a:cubicBezTo>
                <a:lnTo>
                  <a:pt x="0" y="211943"/>
                </a:lnTo>
                <a:cubicBezTo>
                  <a:pt x="0" y="94890"/>
                  <a:pt x="94890" y="0"/>
                  <a:pt x="211943" y="0"/>
                </a:cubicBezTo>
                <a:close/>
              </a:path>
            </a:pathLst>
          </a:custGeom>
          <a:solidFill>
            <a:srgbClr val="4A5568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50"/>
          <p:cNvSpPr/>
          <p:nvPr/>
        </p:nvSpPr>
        <p:spPr>
          <a:xfrm>
            <a:off x="12305588" y="6739776"/>
            <a:ext cx="190748" cy="169554"/>
          </a:xfrm>
          <a:custGeom>
            <a:avLst/>
            <a:gdLst/>
            <a:ahLst/>
            <a:cxnLst/>
            <a:rect l="l" t="t" r="r" b="b"/>
            <a:pathLst>
              <a:path w="190748" h="169554">
                <a:moveTo>
                  <a:pt x="39739" y="10597"/>
                </a:moveTo>
                <a:cubicBezTo>
                  <a:pt x="23645" y="10597"/>
                  <a:pt x="10597" y="23645"/>
                  <a:pt x="10597" y="39739"/>
                </a:cubicBezTo>
                <a:lnTo>
                  <a:pt x="10597" y="95374"/>
                </a:lnTo>
                <a:cubicBezTo>
                  <a:pt x="10597" y="101236"/>
                  <a:pt x="15333" y="105971"/>
                  <a:pt x="21194" y="105971"/>
                </a:cubicBezTo>
                <a:cubicBezTo>
                  <a:pt x="27056" y="105971"/>
                  <a:pt x="31791" y="101236"/>
                  <a:pt x="31791" y="95374"/>
                </a:cubicBezTo>
                <a:lnTo>
                  <a:pt x="31791" y="74180"/>
                </a:lnTo>
                <a:lnTo>
                  <a:pt x="52986" y="74180"/>
                </a:lnTo>
                <a:lnTo>
                  <a:pt x="52986" y="95374"/>
                </a:lnTo>
                <a:cubicBezTo>
                  <a:pt x="52986" y="101236"/>
                  <a:pt x="57721" y="105971"/>
                  <a:pt x="63583" y="105971"/>
                </a:cubicBezTo>
                <a:cubicBezTo>
                  <a:pt x="69444" y="105971"/>
                  <a:pt x="74180" y="101236"/>
                  <a:pt x="74180" y="95374"/>
                </a:cubicBezTo>
                <a:lnTo>
                  <a:pt x="74180" y="39739"/>
                </a:lnTo>
                <a:cubicBezTo>
                  <a:pt x="74180" y="23645"/>
                  <a:pt x="61132" y="10597"/>
                  <a:pt x="45038" y="10597"/>
                </a:cubicBezTo>
                <a:lnTo>
                  <a:pt x="39739" y="10597"/>
                </a:lnTo>
                <a:close/>
                <a:moveTo>
                  <a:pt x="52986" y="52986"/>
                </a:moveTo>
                <a:lnTo>
                  <a:pt x="31791" y="52986"/>
                </a:lnTo>
                <a:lnTo>
                  <a:pt x="31791" y="39739"/>
                </a:lnTo>
                <a:cubicBezTo>
                  <a:pt x="31791" y="35335"/>
                  <a:pt x="35335" y="31791"/>
                  <a:pt x="39739" y="31791"/>
                </a:cubicBezTo>
                <a:lnTo>
                  <a:pt x="45038" y="31791"/>
                </a:lnTo>
                <a:cubicBezTo>
                  <a:pt x="49442" y="31791"/>
                  <a:pt x="52986" y="35335"/>
                  <a:pt x="52986" y="39739"/>
                </a:cubicBezTo>
                <a:lnTo>
                  <a:pt x="52986" y="52986"/>
                </a:lnTo>
                <a:close/>
                <a:moveTo>
                  <a:pt x="100673" y="10597"/>
                </a:moveTo>
                <a:cubicBezTo>
                  <a:pt x="94811" y="10597"/>
                  <a:pt x="90076" y="15333"/>
                  <a:pt x="90076" y="21194"/>
                </a:cubicBezTo>
                <a:lnTo>
                  <a:pt x="90076" y="95374"/>
                </a:lnTo>
                <a:cubicBezTo>
                  <a:pt x="90076" y="101236"/>
                  <a:pt x="94811" y="105971"/>
                  <a:pt x="100673" y="105971"/>
                </a:cubicBezTo>
                <a:lnTo>
                  <a:pt x="124516" y="105971"/>
                </a:lnTo>
                <a:cubicBezTo>
                  <a:pt x="140611" y="105971"/>
                  <a:pt x="153658" y="92924"/>
                  <a:pt x="153658" y="76829"/>
                </a:cubicBezTo>
                <a:cubicBezTo>
                  <a:pt x="153658" y="69014"/>
                  <a:pt x="150579" y="61927"/>
                  <a:pt x="145578" y="56695"/>
                </a:cubicBezTo>
                <a:cubicBezTo>
                  <a:pt x="148989" y="51926"/>
                  <a:pt x="151009" y="46064"/>
                  <a:pt x="151009" y="39739"/>
                </a:cubicBezTo>
                <a:cubicBezTo>
                  <a:pt x="151009" y="23645"/>
                  <a:pt x="137961" y="10597"/>
                  <a:pt x="121867" y="10597"/>
                </a:cubicBezTo>
                <a:lnTo>
                  <a:pt x="100673" y="10597"/>
                </a:lnTo>
                <a:close/>
                <a:moveTo>
                  <a:pt x="121867" y="47687"/>
                </a:moveTo>
                <a:lnTo>
                  <a:pt x="111270" y="47687"/>
                </a:lnTo>
                <a:lnTo>
                  <a:pt x="111270" y="31791"/>
                </a:lnTo>
                <a:lnTo>
                  <a:pt x="121867" y="31791"/>
                </a:lnTo>
                <a:cubicBezTo>
                  <a:pt x="126271" y="31791"/>
                  <a:pt x="129815" y="35335"/>
                  <a:pt x="129815" y="39739"/>
                </a:cubicBezTo>
                <a:cubicBezTo>
                  <a:pt x="129815" y="44144"/>
                  <a:pt x="126271" y="47687"/>
                  <a:pt x="121867" y="47687"/>
                </a:cubicBezTo>
                <a:close/>
                <a:moveTo>
                  <a:pt x="111270" y="84777"/>
                </a:moveTo>
                <a:lnTo>
                  <a:pt x="111270" y="68881"/>
                </a:lnTo>
                <a:lnTo>
                  <a:pt x="124516" y="68881"/>
                </a:lnTo>
                <a:cubicBezTo>
                  <a:pt x="128921" y="68881"/>
                  <a:pt x="132464" y="72425"/>
                  <a:pt x="132464" y="76829"/>
                </a:cubicBezTo>
                <a:cubicBezTo>
                  <a:pt x="132464" y="81234"/>
                  <a:pt x="128921" y="84777"/>
                  <a:pt x="124516" y="84777"/>
                </a:cubicBezTo>
                <a:lnTo>
                  <a:pt x="111270" y="84777"/>
                </a:lnTo>
                <a:close/>
                <a:moveTo>
                  <a:pt x="188430" y="112595"/>
                </a:moveTo>
                <a:cubicBezTo>
                  <a:pt x="192073" y="108025"/>
                  <a:pt x="191344" y="101368"/>
                  <a:pt x="186774" y="97692"/>
                </a:cubicBezTo>
                <a:cubicBezTo>
                  <a:pt x="182204" y="94016"/>
                  <a:pt x="175548" y="94778"/>
                  <a:pt x="171872" y="99348"/>
                </a:cubicBezTo>
                <a:lnTo>
                  <a:pt x="136869" y="143094"/>
                </a:lnTo>
                <a:lnTo>
                  <a:pt x="124053" y="130278"/>
                </a:lnTo>
                <a:cubicBezTo>
                  <a:pt x="119913" y="126139"/>
                  <a:pt x="113191" y="126139"/>
                  <a:pt x="109051" y="130278"/>
                </a:cubicBezTo>
                <a:cubicBezTo>
                  <a:pt x="104912" y="134418"/>
                  <a:pt x="104912" y="141141"/>
                  <a:pt x="109051" y="145280"/>
                </a:cubicBezTo>
                <a:lnTo>
                  <a:pt x="130245" y="166474"/>
                </a:lnTo>
                <a:cubicBezTo>
                  <a:pt x="132365" y="168594"/>
                  <a:pt x="135312" y="169720"/>
                  <a:pt x="138326" y="169554"/>
                </a:cubicBezTo>
                <a:cubicBezTo>
                  <a:pt x="141339" y="169389"/>
                  <a:pt x="144121" y="167931"/>
                  <a:pt x="146009" y="165580"/>
                </a:cubicBezTo>
                <a:lnTo>
                  <a:pt x="188430" y="112595"/>
                </a:ln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12740070" y="6676193"/>
            <a:ext cx="1049116" cy="29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2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字段标准化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2189020" y="7121272"/>
            <a:ext cx="3306305" cy="2755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5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统一字段命名、数据类型和格式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12019465" y="7825982"/>
            <a:ext cx="3560636" cy="10597"/>
          </a:xfrm>
          <a:custGeom>
            <a:avLst/>
            <a:gdLst/>
            <a:ahLst/>
            <a:cxnLst/>
            <a:rect l="l" t="t" r="r" b="b"/>
            <a:pathLst>
              <a:path w="3560636" h="10597">
                <a:moveTo>
                  <a:pt x="0" y="0"/>
                </a:moveTo>
                <a:lnTo>
                  <a:pt x="3560636" y="0"/>
                </a:lnTo>
                <a:lnTo>
                  <a:pt x="3560636" y="10597"/>
                </a:lnTo>
                <a:lnTo>
                  <a:pt x="0" y="10597"/>
                </a:lnTo>
                <a:lnTo>
                  <a:pt x="0" y="0"/>
                </a:ln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Shape 54"/>
          <p:cNvSpPr/>
          <p:nvPr/>
        </p:nvSpPr>
        <p:spPr>
          <a:xfrm>
            <a:off x="12030063" y="8043223"/>
            <a:ext cx="190748" cy="169554"/>
          </a:xfrm>
          <a:custGeom>
            <a:avLst/>
            <a:gdLst/>
            <a:ahLst/>
            <a:cxnLst/>
            <a:rect l="l" t="t" r="r" b="b"/>
            <a:pathLst>
              <a:path w="190748" h="169554">
                <a:moveTo>
                  <a:pt x="102494" y="-6259"/>
                </a:moveTo>
                <a:cubicBezTo>
                  <a:pt x="101136" y="-8908"/>
                  <a:pt x="98388" y="-10597"/>
                  <a:pt x="95407" y="-10597"/>
                </a:cubicBezTo>
                <a:cubicBezTo>
                  <a:pt x="92427" y="-10597"/>
                  <a:pt x="89678" y="-8908"/>
                  <a:pt x="88320" y="-6259"/>
                </a:cubicBezTo>
                <a:lnTo>
                  <a:pt x="63947" y="41494"/>
                </a:lnTo>
                <a:lnTo>
                  <a:pt x="10995" y="49906"/>
                </a:lnTo>
                <a:cubicBezTo>
                  <a:pt x="8047" y="50369"/>
                  <a:pt x="5597" y="52456"/>
                  <a:pt x="4669" y="55304"/>
                </a:cubicBezTo>
                <a:cubicBezTo>
                  <a:pt x="3742" y="58152"/>
                  <a:pt x="4504" y="61265"/>
                  <a:pt x="6590" y="63384"/>
                </a:cubicBezTo>
                <a:lnTo>
                  <a:pt x="44475" y="101302"/>
                </a:lnTo>
                <a:lnTo>
                  <a:pt x="36130" y="154254"/>
                </a:lnTo>
                <a:cubicBezTo>
                  <a:pt x="35666" y="157202"/>
                  <a:pt x="36891" y="160182"/>
                  <a:pt x="39309" y="161937"/>
                </a:cubicBezTo>
                <a:cubicBezTo>
                  <a:pt x="41726" y="163693"/>
                  <a:pt x="44905" y="163957"/>
                  <a:pt x="47588" y="162600"/>
                </a:cubicBezTo>
                <a:lnTo>
                  <a:pt x="95407" y="138293"/>
                </a:lnTo>
                <a:lnTo>
                  <a:pt x="143194" y="162600"/>
                </a:lnTo>
                <a:cubicBezTo>
                  <a:pt x="145843" y="163957"/>
                  <a:pt x="149055" y="163693"/>
                  <a:pt x="151473" y="161937"/>
                </a:cubicBezTo>
                <a:cubicBezTo>
                  <a:pt x="153890" y="160182"/>
                  <a:pt x="155116" y="157235"/>
                  <a:pt x="154652" y="154254"/>
                </a:cubicBezTo>
                <a:lnTo>
                  <a:pt x="146274" y="101302"/>
                </a:lnTo>
                <a:lnTo>
                  <a:pt x="184158" y="63384"/>
                </a:lnTo>
                <a:cubicBezTo>
                  <a:pt x="186278" y="61265"/>
                  <a:pt x="187006" y="58152"/>
                  <a:pt x="186079" y="55304"/>
                </a:cubicBezTo>
                <a:cubicBezTo>
                  <a:pt x="185152" y="52456"/>
                  <a:pt x="182734" y="50369"/>
                  <a:pt x="179754" y="49906"/>
                </a:cubicBezTo>
                <a:lnTo>
                  <a:pt x="126834" y="41494"/>
                </a:lnTo>
                <a:lnTo>
                  <a:pt x="102494" y="-6259"/>
                </a:ln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12316185" y="8000834"/>
            <a:ext cx="762993" cy="254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核心价值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2019465" y="8339943"/>
            <a:ext cx="3645413" cy="55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5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DWD是数据质量的第一道关口,它的标准化程度直接影响后续所有环节的可靠性。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5080" y="423885"/>
            <a:ext cx="1822707" cy="339108"/>
          </a:xfrm>
          <a:custGeom>
            <a:avLst/>
            <a:gdLst/>
            <a:ahLst/>
            <a:cxnLst/>
            <a:rect l="l" t="t" r="r" b="b"/>
            <a:pathLst>
              <a:path w="1822707" h="339108">
                <a:moveTo>
                  <a:pt x="0" y="0"/>
                </a:moveTo>
                <a:lnTo>
                  <a:pt x="1822707" y="0"/>
                </a:lnTo>
                <a:lnTo>
                  <a:pt x="1822707" y="339108"/>
                </a:lnTo>
                <a:lnTo>
                  <a:pt x="0" y="339108"/>
                </a:lnTo>
                <a:lnTo>
                  <a:pt x="0" y="0"/>
                </a:lnTo>
                <a:close/>
              </a:path>
            </a:pathLst>
          </a:custGeom>
          <a:solidFill>
            <a:srgbClr val="D69E2E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445080" y="423885"/>
            <a:ext cx="42389" cy="339108"/>
          </a:xfrm>
          <a:custGeom>
            <a:avLst/>
            <a:gdLst/>
            <a:ahLst/>
            <a:cxnLst/>
            <a:rect l="l" t="t" r="r" b="b"/>
            <a:pathLst>
              <a:path w="42389" h="339108">
                <a:moveTo>
                  <a:pt x="0" y="0"/>
                </a:moveTo>
                <a:lnTo>
                  <a:pt x="42389" y="0"/>
                </a:lnTo>
                <a:lnTo>
                  <a:pt x="42389" y="339108"/>
                </a:lnTo>
                <a:lnTo>
                  <a:pt x="0" y="339108"/>
                </a:lnTo>
                <a:lnTo>
                  <a:pt x="0" y="0"/>
                </a:ln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635828" y="482169"/>
            <a:ext cx="1548423" cy="222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kern="0" spc="67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LAYER 03 · DWS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23885" y="847771"/>
            <a:ext cx="15598978" cy="423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04" b="1" dirty="0">
                <a:solidFill>
                  <a:srgbClr val="E2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DWS层：半成品加工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5080" y="1483598"/>
            <a:ext cx="11063405" cy="1250462"/>
          </a:xfrm>
          <a:custGeom>
            <a:avLst/>
            <a:gdLst/>
            <a:ahLst/>
            <a:cxnLst/>
            <a:rect l="l" t="t" r="r" b="b"/>
            <a:pathLst>
              <a:path w="11063405" h="1250462">
                <a:moveTo>
                  <a:pt x="42389" y="0"/>
                </a:moveTo>
                <a:lnTo>
                  <a:pt x="10978624" y="0"/>
                </a:lnTo>
                <a:cubicBezTo>
                  <a:pt x="11025448" y="0"/>
                  <a:pt x="11063405" y="37958"/>
                  <a:pt x="11063405" y="84781"/>
                </a:cubicBezTo>
                <a:lnTo>
                  <a:pt x="11063405" y="1165680"/>
                </a:lnTo>
                <a:cubicBezTo>
                  <a:pt x="11063405" y="1212504"/>
                  <a:pt x="11025448" y="1250462"/>
                  <a:pt x="10978624" y="1250462"/>
                </a:cubicBezTo>
                <a:lnTo>
                  <a:pt x="42389" y="1250462"/>
                </a:lnTo>
                <a:cubicBezTo>
                  <a:pt x="18978" y="1250462"/>
                  <a:pt x="0" y="1231484"/>
                  <a:pt x="0" y="1208073"/>
                </a:cubicBezTo>
                <a:lnTo>
                  <a:pt x="0" y="42389"/>
                </a:lnTo>
                <a:cubicBezTo>
                  <a:pt x="0" y="18994"/>
                  <a:pt x="18994" y="0"/>
                  <a:pt x="42389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45080" y="1483598"/>
            <a:ext cx="42389" cy="1250462"/>
          </a:xfrm>
          <a:custGeom>
            <a:avLst/>
            <a:gdLst/>
            <a:ahLst/>
            <a:cxnLst/>
            <a:rect l="l" t="t" r="r" b="b"/>
            <a:pathLst>
              <a:path w="42389" h="1250462">
                <a:moveTo>
                  <a:pt x="42389" y="0"/>
                </a:moveTo>
                <a:lnTo>
                  <a:pt x="42389" y="0"/>
                </a:lnTo>
                <a:lnTo>
                  <a:pt x="42389" y="1250462"/>
                </a:lnTo>
                <a:lnTo>
                  <a:pt x="42389" y="1250462"/>
                </a:lnTo>
                <a:cubicBezTo>
                  <a:pt x="18978" y="1250462"/>
                  <a:pt x="0" y="1231484"/>
                  <a:pt x="0" y="1208073"/>
                </a:cubicBezTo>
                <a:lnTo>
                  <a:pt x="0" y="42389"/>
                </a:lnTo>
                <a:cubicBezTo>
                  <a:pt x="0" y="18994"/>
                  <a:pt x="18994" y="0"/>
                  <a:pt x="42389" y="0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720605" y="1737930"/>
            <a:ext cx="678216" cy="678216"/>
          </a:xfrm>
          <a:custGeom>
            <a:avLst/>
            <a:gdLst/>
            <a:ahLst/>
            <a:cxnLst/>
            <a:rect l="l" t="t" r="r" b="b"/>
            <a:pathLst>
              <a:path w="678216" h="678216">
                <a:moveTo>
                  <a:pt x="42389" y="0"/>
                </a:moveTo>
                <a:lnTo>
                  <a:pt x="635828" y="0"/>
                </a:lnTo>
                <a:cubicBezTo>
                  <a:pt x="659238" y="0"/>
                  <a:pt x="678216" y="18978"/>
                  <a:pt x="678216" y="42389"/>
                </a:cubicBezTo>
                <a:lnTo>
                  <a:pt x="678216" y="635828"/>
                </a:lnTo>
                <a:cubicBezTo>
                  <a:pt x="678216" y="659238"/>
                  <a:pt x="659238" y="678216"/>
                  <a:pt x="635828" y="678216"/>
                </a:cubicBezTo>
                <a:lnTo>
                  <a:pt x="42389" y="678216"/>
                </a:lnTo>
                <a:cubicBezTo>
                  <a:pt x="18978" y="678216"/>
                  <a:pt x="0" y="659238"/>
                  <a:pt x="0" y="635828"/>
                </a:cubicBezTo>
                <a:lnTo>
                  <a:pt x="0" y="42389"/>
                </a:lnTo>
                <a:cubicBezTo>
                  <a:pt x="0" y="18994"/>
                  <a:pt x="18994" y="0"/>
                  <a:pt x="42389" y="0"/>
                </a:cubicBezTo>
                <a:close/>
              </a:path>
            </a:pathLst>
          </a:custGeom>
          <a:solidFill>
            <a:srgbClr val="D69E2E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932548" y="1949872"/>
            <a:ext cx="254331" cy="254331"/>
          </a:xfrm>
          <a:custGeom>
            <a:avLst/>
            <a:gdLst/>
            <a:ahLst/>
            <a:cxnLst/>
            <a:rect l="l" t="t" r="r" b="b"/>
            <a:pathLst>
              <a:path w="254331" h="254331">
                <a:moveTo>
                  <a:pt x="15896" y="15896"/>
                </a:moveTo>
                <a:cubicBezTo>
                  <a:pt x="7103" y="15896"/>
                  <a:pt x="0" y="22999"/>
                  <a:pt x="0" y="31791"/>
                </a:cubicBezTo>
                <a:lnTo>
                  <a:pt x="0" y="214592"/>
                </a:lnTo>
                <a:cubicBezTo>
                  <a:pt x="0" y="227756"/>
                  <a:pt x="10680" y="238435"/>
                  <a:pt x="23844" y="238435"/>
                </a:cubicBezTo>
                <a:lnTo>
                  <a:pt x="230488" y="238435"/>
                </a:lnTo>
                <a:cubicBezTo>
                  <a:pt x="243651" y="238435"/>
                  <a:pt x="254331" y="227756"/>
                  <a:pt x="254331" y="214592"/>
                </a:cubicBezTo>
                <a:lnTo>
                  <a:pt x="254331" y="75604"/>
                </a:lnTo>
                <a:cubicBezTo>
                  <a:pt x="254331" y="66563"/>
                  <a:pt x="244694" y="60851"/>
                  <a:pt x="236747" y="65123"/>
                </a:cubicBezTo>
                <a:lnTo>
                  <a:pt x="158957" y="106998"/>
                </a:lnTo>
                <a:lnTo>
                  <a:pt x="158957" y="75604"/>
                </a:lnTo>
                <a:cubicBezTo>
                  <a:pt x="158957" y="66563"/>
                  <a:pt x="149320" y="60851"/>
                  <a:pt x="141372" y="65123"/>
                </a:cubicBezTo>
                <a:lnTo>
                  <a:pt x="63583" y="106998"/>
                </a:lnTo>
                <a:lnTo>
                  <a:pt x="63583" y="31791"/>
                </a:lnTo>
                <a:cubicBezTo>
                  <a:pt x="63583" y="22999"/>
                  <a:pt x="56479" y="15896"/>
                  <a:pt x="47687" y="15896"/>
                </a:cubicBezTo>
                <a:lnTo>
                  <a:pt x="15896" y="15896"/>
                </a:ln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568375" y="1737930"/>
            <a:ext cx="9812944" cy="339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3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动作：制作半成品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68375" y="2204203"/>
            <a:ext cx="9770555" cy="2755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5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制作</a:t>
            </a:r>
            <a:r>
              <a:rPr lang="en-US" sz="1335" dirty="0">
                <a:solidFill>
                  <a:srgbClr val="D69E2E"/>
                </a:solidFill>
                <a:highlight>
                  <a:srgbClr val="D69E2E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炸薯条、炒肉丝、炖鱼汤底 </a:t>
            </a:r>
            <a:r>
              <a:rPr lang="en-US" sz="1335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(未调味)。将标准化的原材料加工成更高阶的半成品,供后续环节复用。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45080" y="2946003"/>
            <a:ext cx="11063405" cy="1631958"/>
          </a:xfrm>
          <a:custGeom>
            <a:avLst/>
            <a:gdLst/>
            <a:ahLst/>
            <a:cxnLst/>
            <a:rect l="l" t="t" r="r" b="b"/>
            <a:pathLst>
              <a:path w="11063405" h="1631958">
                <a:moveTo>
                  <a:pt x="42389" y="0"/>
                </a:moveTo>
                <a:lnTo>
                  <a:pt x="10978625" y="0"/>
                </a:lnTo>
                <a:cubicBezTo>
                  <a:pt x="11025448" y="0"/>
                  <a:pt x="11063405" y="37957"/>
                  <a:pt x="11063405" y="84780"/>
                </a:cubicBezTo>
                <a:lnTo>
                  <a:pt x="11063405" y="1547178"/>
                </a:lnTo>
                <a:cubicBezTo>
                  <a:pt x="11063405" y="1594001"/>
                  <a:pt x="11025448" y="1631958"/>
                  <a:pt x="10978625" y="1631958"/>
                </a:cubicBezTo>
                <a:lnTo>
                  <a:pt x="42389" y="1631958"/>
                </a:lnTo>
                <a:cubicBezTo>
                  <a:pt x="18978" y="1631958"/>
                  <a:pt x="0" y="1612980"/>
                  <a:pt x="0" y="1589570"/>
                </a:cubicBezTo>
                <a:lnTo>
                  <a:pt x="0" y="42389"/>
                </a:lnTo>
                <a:cubicBezTo>
                  <a:pt x="0" y="18994"/>
                  <a:pt x="18994" y="0"/>
                  <a:pt x="42389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445080" y="2946003"/>
            <a:ext cx="42389" cy="1631958"/>
          </a:xfrm>
          <a:custGeom>
            <a:avLst/>
            <a:gdLst/>
            <a:ahLst/>
            <a:cxnLst/>
            <a:rect l="l" t="t" r="r" b="b"/>
            <a:pathLst>
              <a:path w="42389" h="1631958">
                <a:moveTo>
                  <a:pt x="42389" y="0"/>
                </a:moveTo>
                <a:lnTo>
                  <a:pt x="42389" y="0"/>
                </a:lnTo>
                <a:lnTo>
                  <a:pt x="42389" y="1631958"/>
                </a:lnTo>
                <a:lnTo>
                  <a:pt x="42389" y="1631958"/>
                </a:lnTo>
                <a:cubicBezTo>
                  <a:pt x="18978" y="1631958"/>
                  <a:pt x="0" y="1612980"/>
                  <a:pt x="0" y="1589570"/>
                </a:cubicBezTo>
                <a:lnTo>
                  <a:pt x="0" y="42389"/>
                </a:lnTo>
                <a:cubicBezTo>
                  <a:pt x="0" y="18994"/>
                  <a:pt x="18994" y="0"/>
                  <a:pt x="42389" y="0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720605" y="3200334"/>
            <a:ext cx="678216" cy="678216"/>
          </a:xfrm>
          <a:custGeom>
            <a:avLst/>
            <a:gdLst/>
            <a:ahLst/>
            <a:cxnLst/>
            <a:rect l="l" t="t" r="r" b="b"/>
            <a:pathLst>
              <a:path w="678216" h="678216">
                <a:moveTo>
                  <a:pt x="42389" y="0"/>
                </a:moveTo>
                <a:lnTo>
                  <a:pt x="635828" y="0"/>
                </a:lnTo>
                <a:cubicBezTo>
                  <a:pt x="659238" y="0"/>
                  <a:pt x="678216" y="18978"/>
                  <a:pt x="678216" y="42389"/>
                </a:cubicBezTo>
                <a:lnTo>
                  <a:pt x="678216" y="635828"/>
                </a:lnTo>
                <a:cubicBezTo>
                  <a:pt x="678216" y="659238"/>
                  <a:pt x="659238" y="678216"/>
                  <a:pt x="635828" y="678216"/>
                </a:cubicBezTo>
                <a:lnTo>
                  <a:pt x="42389" y="678216"/>
                </a:lnTo>
                <a:cubicBezTo>
                  <a:pt x="18978" y="678216"/>
                  <a:pt x="0" y="659238"/>
                  <a:pt x="0" y="635828"/>
                </a:cubicBezTo>
                <a:lnTo>
                  <a:pt x="0" y="42389"/>
                </a:lnTo>
                <a:cubicBezTo>
                  <a:pt x="0" y="18994"/>
                  <a:pt x="18994" y="0"/>
                  <a:pt x="42389" y="0"/>
                </a:cubicBezTo>
                <a:close/>
              </a:path>
            </a:pathLst>
          </a:custGeom>
          <a:solidFill>
            <a:srgbClr val="D69E2E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932548" y="3412276"/>
            <a:ext cx="254331" cy="254331"/>
          </a:xfrm>
          <a:custGeom>
            <a:avLst/>
            <a:gdLst/>
            <a:ahLst/>
            <a:cxnLst/>
            <a:rect l="l" t="t" r="r" b="b"/>
            <a:pathLst>
              <a:path w="254331" h="254331">
                <a:moveTo>
                  <a:pt x="75654" y="29804"/>
                </a:moveTo>
                <a:cubicBezTo>
                  <a:pt x="98603" y="-9935"/>
                  <a:pt x="155977" y="-9935"/>
                  <a:pt x="178926" y="29804"/>
                </a:cubicBezTo>
                <a:lnTo>
                  <a:pt x="197454" y="61894"/>
                </a:lnTo>
                <a:lnTo>
                  <a:pt x="211214" y="53946"/>
                </a:lnTo>
                <a:cubicBezTo>
                  <a:pt x="215387" y="51512"/>
                  <a:pt x="220602" y="51860"/>
                  <a:pt x="224427" y="54790"/>
                </a:cubicBezTo>
                <a:cubicBezTo>
                  <a:pt x="228252" y="57721"/>
                  <a:pt x="229941" y="62689"/>
                  <a:pt x="228699" y="67358"/>
                </a:cubicBezTo>
                <a:lnTo>
                  <a:pt x="217026" y="110773"/>
                </a:lnTo>
                <a:cubicBezTo>
                  <a:pt x="215337" y="117131"/>
                  <a:pt x="208780" y="120907"/>
                  <a:pt x="202422" y="119218"/>
                </a:cubicBezTo>
                <a:lnTo>
                  <a:pt x="159007" y="107594"/>
                </a:lnTo>
                <a:cubicBezTo>
                  <a:pt x="154337" y="106352"/>
                  <a:pt x="150910" y="102428"/>
                  <a:pt x="150264" y="97659"/>
                </a:cubicBezTo>
                <a:cubicBezTo>
                  <a:pt x="149618" y="92890"/>
                  <a:pt x="151953" y="88171"/>
                  <a:pt x="156126" y="85787"/>
                </a:cubicBezTo>
                <a:lnTo>
                  <a:pt x="169885" y="77839"/>
                </a:lnTo>
                <a:lnTo>
                  <a:pt x="151357" y="45750"/>
                </a:lnTo>
                <a:cubicBezTo>
                  <a:pt x="140627" y="27221"/>
                  <a:pt x="113903" y="27221"/>
                  <a:pt x="103173" y="45750"/>
                </a:cubicBezTo>
                <a:lnTo>
                  <a:pt x="100540" y="50270"/>
                </a:lnTo>
                <a:cubicBezTo>
                  <a:pt x="96169" y="57870"/>
                  <a:pt x="86433" y="60453"/>
                  <a:pt x="78833" y="56082"/>
                </a:cubicBezTo>
                <a:cubicBezTo>
                  <a:pt x="71233" y="51711"/>
                  <a:pt x="68650" y="41975"/>
                  <a:pt x="73021" y="34325"/>
                </a:cubicBezTo>
                <a:lnTo>
                  <a:pt x="75654" y="29804"/>
                </a:lnTo>
                <a:close/>
                <a:moveTo>
                  <a:pt x="223384" y="138640"/>
                </a:moveTo>
                <a:cubicBezTo>
                  <a:pt x="230984" y="134269"/>
                  <a:pt x="240720" y="136852"/>
                  <a:pt x="245092" y="144452"/>
                </a:cubicBezTo>
                <a:lnTo>
                  <a:pt x="247725" y="148972"/>
                </a:lnTo>
                <a:cubicBezTo>
                  <a:pt x="270674" y="188712"/>
                  <a:pt x="242012" y="238386"/>
                  <a:pt x="196113" y="238386"/>
                </a:cubicBezTo>
                <a:lnTo>
                  <a:pt x="159056" y="238386"/>
                </a:lnTo>
                <a:lnTo>
                  <a:pt x="159056" y="254281"/>
                </a:lnTo>
                <a:cubicBezTo>
                  <a:pt x="159056" y="259100"/>
                  <a:pt x="156175" y="263471"/>
                  <a:pt x="151705" y="265309"/>
                </a:cubicBezTo>
                <a:cubicBezTo>
                  <a:pt x="147234" y="267147"/>
                  <a:pt x="142117" y="266154"/>
                  <a:pt x="138690" y="262726"/>
                </a:cubicBezTo>
                <a:lnTo>
                  <a:pt x="106899" y="230935"/>
                </a:lnTo>
                <a:cubicBezTo>
                  <a:pt x="102229" y="226265"/>
                  <a:pt x="102229" y="218715"/>
                  <a:pt x="106899" y="214095"/>
                </a:cubicBezTo>
                <a:lnTo>
                  <a:pt x="138690" y="182304"/>
                </a:lnTo>
                <a:cubicBezTo>
                  <a:pt x="142117" y="178876"/>
                  <a:pt x="147234" y="177883"/>
                  <a:pt x="151705" y="179721"/>
                </a:cubicBezTo>
                <a:cubicBezTo>
                  <a:pt x="156175" y="181559"/>
                  <a:pt x="159056" y="185930"/>
                  <a:pt x="159056" y="190748"/>
                </a:cubicBezTo>
                <a:lnTo>
                  <a:pt x="159056" y="206644"/>
                </a:lnTo>
                <a:lnTo>
                  <a:pt x="196113" y="206644"/>
                </a:lnTo>
                <a:cubicBezTo>
                  <a:pt x="217523" y="206644"/>
                  <a:pt x="230935" y="183446"/>
                  <a:pt x="220205" y="164918"/>
                </a:cubicBezTo>
                <a:lnTo>
                  <a:pt x="217572" y="160398"/>
                </a:lnTo>
                <a:cubicBezTo>
                  <a:pt x="213201" y="152797"/>
                  <a:pt x="215784" y="143061"/>
                  <a:pt x="223384" y="138690"/>
                </a:cubicBezTo>
                <a:close/>
                <a:moveTo>
                  <a:pt x="25334" y="116933"/>
                </a:moveTo>
                <a:lnTo>
                  <a:pt x="11574" y="108985"/>
                </a:lnTo>
                <a:cubicBezTo>
                  <a:pt x="7401" y="106551"/>
                  <a:pt x="5067" y="101881"/>
                  <a:pt x="5713" y="97113"/>
                </a:cubicBezTo>
                <a:cubicBezTo>
                  <a:pt x="6358" y="92344"/>
                  <a:pt x="9786" y="88420"/>
                  <a:pt x="14455" y="87178"/>
                </a:cubicBezTo>
                <a:lnTo>
                  <a:pt x="57870" y="75505"/>
                </a:lnTo>
                <a:cubicBezTo>
                  <a:pt x="64229" y="73816"/>
                  <a:pt x="70786" y="77591"/>
                  <a:pt x="72474" y="83949"/>
                </a:cubicBezTo>
                <a:lnTo>
                  <a:pt x="84098" y="127364"/>
                </a:lnTo>
                <a:cubicBezTo>
                  <a:pt x="85340" y="132034"/>
                  <a:pt x="83651" y="136951"/>
                  <a:pt x="79826" y="139932"/>
                </a:cubicBezTo>
                <a:cubicBezTo>
                  <a:pt x="76001" y="142912"/>
                  <a:pt x="70786" y="143210"/>
                  <a:pt x="66613" y="140776"/>
                </a:cubicBezTo>
                <a:lnTo>
                  <a:pt x="52853" y="132828"/>
                </a:lnTo>
                <a:lnTo>
                  <a:pt x="34325" y="164918"/>
                </a:lnTo>
                <a:cubicBezTo>
                  <a:pt x="23595" y="183446"/>
                  <a:pt x="37007" y="206644"/>
                  <a:pt x="58417" y="206644"/>
                </a:cubicBezTo>
                <a:lnTo>
                  <a:pt x="63682" y="206644"/>
                </a:lnTo>
                <a:cubicBezTo>
                  <a:pt x="72474" y="206644"/>
                  <a:pt x="79578" y="213747"/>
                  <a:pt x="79578" y="222540"/>
                </a:cubicBezTo>
                <a:cubicBezTo>
                  <a:pt x="79578" y="231332"/>
                  <a:pt x="72474" y="238435"/>
                  <a:pt x="63682" y="238435"/>
                </a:cubicBezTo>
                <a:lnTo>
                  <a:pt x="58417" y="238435"/>
                </a:lnTo>
                <a:cubicBezTo>
                  <a:pt x="12568" y="238435"/>
                  <a:pt x="-16094" y="188761"/>
                  <a:pt x="6855" y="149022"/>
                </a:cubicBezTo>
                <a:lnTo>
                  <a:pt x="25334" y="116933"/>
                </a:ln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1568375" y="3200334"/>
            <a:ext cx="9812944" cy="339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3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原则：通用复用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68375" y="3666608"/>
            <a:ext cx="9770555" cy="2755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5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炸好的薯条既可以做"美式炸薯条",也可以做"薯条汉堡",公共的加工步骤在此层完成,避免重复劳动。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589570" y="4111687"/>
            <a:ext cx="169554" cy="169554"/>
          </a:xfrm>
          <a:custGeom>
            <a:avLst/>
            <a:gdLst/>
            <a:ahLst/>
            <a:cxnLst/>
            <a:rect l="l" t="t" r="r" b="b"/>
            <a:pathLst>
              <a:path w="169554" h="169554">
                <a:moveTo>
                  <a:pt x="84777" y="169554"/>
                </a:moveTo>
                <a:cubicBezTo>
                  <a:pt x="131567" y="169554"/>
                  <a:pt x="169554" y="131567"/>
                  <a:pt x="169554" y="84777"/>
                </a:cubicBezTo>
                <a:cubicBezTo>
                  <a:pt x="169554" y="37987"/>
                  <a:pt x="131567" y="0"/>
                  <a:pt x="84777" y="0"/>
                </a:cubicBezTo>
                <a:cubicBezTo>
                  <a:pt x="37987" y="0"/>
                  <a:pt x="0" y="37987"/>
                  <a:pt x="0" y="84777"/>
                </a:cubicBezTo>
                <a:cubicBezTo>
                  <a:pt x="0" y="131567"/>
                  <a:pt x="37987" y="169554"/>
                  <a:pt x="84777" y="169554"/>
                </a:cubicBezTo>
                <a:close/>
                <a:moveTo>
                  <a:pt x="112727" y="70438"/>
                </a:moveTo>
                <a:lnTo>
                  <a:pt x="86234" y="112826"/>
                </a:lnTo>
                <a:cubicBezTo>
                  <a:pt x="84843" y="115045"/>
                  <a:pt x="82459" y="116436"/>
                  <a:pt x="79843" y="116568"/>
                </a:cubicBezTo>
                <a:cubicBezTo>
                  <a:pt x="77227" y="116701"/>
                  <a:pt x="74710" y="115509"/>
                  <a:pt x="73153" y="113389"/>
                </a:cubicBezTo>
                <a:lnTo>
                  <a:pt x="57258" y="92195"/>
                </a:lnTo>
                <a:cubicBezTo>
                  <a:pt x="54608" y="88685"/>
                  <a:pt x="55337" y="83717"/>
                  <a:pt x="58847" y="81068"/>
                </a:cubicBezTo>
                <a:cubicBezTo>
                  <a:pt x="62357" y="78419"/>
                  <a:pt x="67325" y="79147"/>
                  <a:pt x="69974" y="82658"/>
                </a:cubicBezTo>
                <a:lnTo>
                  <a:pt x="78916" y="94579"/>
                </a:lnTo>
                <a:lnTo>
                  <a:pt x="99249" y="62026"/>
                </a:lnTo>
                <a:cubicBezTo>
                  <a:pt x="101567" y="58317"/>
                  <a:pt x="106468" y="57158"/>
                  <a:pt x="110210" y="59510"/>
                </a:cubicBezTo>
                <a:cubicBezTo>
                  <a:pt x="113952" y="61861"/>
                  <a:pt x="115078" y="66729"/>
                  <a:pt x="112727" y="70471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1865095" y="4069299"/>
            <a:ext cx="2458535" cy="254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这是提升效率和降低成本的关键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23885" y="4789904"/>
            <a:ext cx="5457523" cy="1780318"/>
          </a:xfrm>
          <a:custGeom>
            <a:avLst/>
            <a:gdLst/>
            <a:ahLst/>
            <a:cxnLst/>
            <a:rect l="l" t="t" r="r" b="b"/>
            <a:pathLst>
              <a:path w="5457523" h="1780318">
                <a:moveTo>
                  <a:pt x="84779" y="0"/>
                </a:moveTo>
                <a:lnTo>
                  <a:pt x="5372744" y="0"/>
                </a:lnTo>
                <a:cubicBezTo>
                  <a:pt x="5419566" y="0"/>
                  <a:pt x="5457523" y="37957"/>
                  <a:pt x="5457523" y="84779"/>
                </a:cubicBezTo>
                <a:lnTo>
                  <a:pt x="5457523" y="1695539"/>
                </a:lnTo>
                <a:cubicBezTo>
                  <a:pt x="5457523" y="1742361"/>
                  <a:pt x="5419566" y="1780318"/>
                  <a:pt x="5372744" y="1780318"/>
                </a:cubicBezTo>
                <a:lnTo>
                  <a:pt x="84779" y="1780318"/>
                </a:lnTo>
                <a:cubicBezTo>
                  <a:pt x="37957" y="1780318"/>
                  <a:pt x="0" y="1742361"/>
                  <a:pt x="0" y="1695539"/>
                </a:cubicBezTo>
                <a:lnTo>
                  <a:pt x="0" y="84779"/>
                </a:lnTo>
                <a:cubicBezTo>
                  <a:pt x="0" y="37988"/>
                  <a:pt x="37988" y="0"/>
                  <a:pt x="84779" y="0"/>
                </a:cubicBezTo>
                <a:close/>
              </a:path>
            </a:pathLst>
          </a:custGeom>
          <a:solidFill>
            <a:srgbClr val="2D3748">
              <a:alpha val="4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662321" y="5054832"/>
            <a:ext cx="190748" cy="190748"/>
          </a:xfrm>
          <a:custGeom>
            <a:avLst/>
            <a:gdLst/>
            <a:ahLst/>
            <a:cxnLst/>
            <a:rect l="l" t="t" r="r" b="b"/>
            <a:pathLst>
              <a:path w="190748" h="190748">
                <a:moveTo>
                  <a:pt x="83564" y="-931"/>
                </a:moveTo>
                <a:cubicBezTo>
                  <a:pt x="90941" y="-5179"/>
                  <a:pt x="100031" y="-5179"/>
                  <a:pt x="107408" y="-931"/>
                </a:cubicBezTo>
                <a:lnTo>
                  <a:pt x="172940" y="36883"/>
                </a:lnTo>
                <a:cubicBezTo>
                  <a:pt x="180317" y="41130"/>
                  <a:pt x="184862" y="49028"/>
                  <a:pt x="184862" y="57523"/>
                </a:cubicBezTo>
                <a:lnTo>
                  <a:pt x="184862" y="133151"/>
                </a:lnTo>
                <a:cubicBezTo>
                  <a:pt x="184862" y="141683"/>
                  <a:pt x="180317" y="149544"/>
                  <a:pt x="172940" y="153791"/>
                </a:cubicBezTo>
                <a:lnTo>
                  <a:pt x="107408" y="191680"/>
                </a:lnTo>
                <a:cubicBezTo>
                  <a:pt x="100031" y="195927"/>
                  <a:pt x="90941" y="195927"/>
                  <a:pt x="83564" y="191680"/>
                </a:cubicBezTo>
                <a:lnTo>
                  <a:pt x="18069" y="153865"/>
                </a:lnTo>
                <a:cubicBezTo>
                  <a:pt x="10692" y="149618"/>
                  <a:pt x="6147" y="141720"/>
                  <a:pt x="6147" y="133226"/>
                </a:cubicBezTo>
                <a:lnTo>
                  <a:pt x="6147" y="57597"/>
                </a:lnTo>
                <a:cubicBezTo>
                  <a:pt x="6147" y="49066"/>
                  <a:pt x="10692" y="41205"/>
                  <a:pt x="18069" y="36957"/>
                </a:cubicBezTo>
                <a:lnTo>
                  <a:pt x="83564" y="-931"/>
                </a:lnTo>
                <a:close/>
                <a:moveTo>
                  <a:pt x="160981" y="133189"/>
                </a:moveTo>
                <a:lnTo>
                  <a:pt x="160981" y="71307"/>
                </a:lnTo>
                <a:lnTo>
                  <a:pt x="107408" y="102229"/>
                </a:lnTo>
                <a:lnTo>
                  <a:pt x="107408" y="164111"/>
                </a:lnTo>
                <a:lnTo>
                  <a:pt x="160981" y="133189"/>
                </a:ln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879562" y="5001846"/>
            <a:ext cx="4885278" cy="29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2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半成品示例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5828" y="5425731"/>
            <a:ext cx="5118415" cy="254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炸薯条 → 多种菜品可用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5828" y="5764840"/>
            <a:ext cx="5118415" cy="254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炖鱼汤底 → 多种汤品基础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35828" y="6103948"/>
            <a:ext cx="5118415" cy="254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炒肉丝 → 多个炒菜组件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052121" y="4789904"/>
            <a:ext cx="5457523" cy="1780318"/>
          </a:xfrm>
          <a:custGeom>
            <a:avLst/>
            <a:gdLst/>
            <a:ahLst/>
            <a:cxnLst/>
            <a:rect l="l" t="t" r="r" b="b"/>
            <a:pathLst>
              <a:path w="5457523" h="1780318">
                <a:moveTo>
                  <a:pt x="84779" y="0"/>
                </a:moveTo>
                <a:lnTo>
                  <a:pt x="5372744" y="0"/>
                </a:lnTo>
                <a:cubicBezTo>
                  <a:pt x="5419566" y="0"/>
                  <a:pt x="5457523" y="37957"/>
                  <a:pt x="5457523" y="84779"/>
                </a:cubicBezTo>
                <a:lnTo>
                  <a:pt x="5457523" y="1695539"/>
                </a:lnTo>
                <a:cubicBezTo>
                  <a:pt x="5457523" y="1742361"/>
                  <a:pt x="5419566" y="1780318"/>
                  <a:pt x="5372744" y="1780318"/>
                </a:cubicBezTo>
                <a:lnTo>
                  <a:pt x="84779" y="1780318"/>
                </a:lnTo>
                <a:cubicBezTo>
                  <a:pt x="37957" y="1780318"/>
                  <a:pt x="0" y="1742361"/>
                  <a:pt x="0" y="1695539"/>
                </a:cubicBezTo>
                <a:lnTo>
                  <a:pt x="0" y="84779"/>
                </a:lnTo>
                <a:cubicBezTo>
                  <a:pt x="0" y="37988"/>
                  <a:pt x="37988" y="0"/>
                  <a:pt x="84779" y="0"/>
                </a:cubicBezTo>
                <a:close/>
              </a:path>
            </a:pathLst>
          </a:custGeom>
          <a:solidFill>
            <a:srgbClr val="2D3748">
              <a:alpha val="4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6290557" y="5054832"/>
            <a:ext cx="190748" cy="190748"/>
          </a:xfrm>
          <a:custGeom>
            <a:avLst/>
            <a:gdLst/>
            <a:ahLst/>
            <a:cxnLst/>
            <a:rect l="l" t="t" r="r" b="b"/>
            <a:pathLst>
              <a:path w="190748" h="190748">
                <a:moveTo>
                  <a:pt x="23844" y="23844"/>
                </a:moveTo>
                <a:cubicBezTo>
                  <a:pt x="23844" y="17249"/>
                  <a:pt x="18516" y="11922"/>
                  <a:pt x="11922" y="11922"/>
                </a:cubicBezTo>
                <a:cubicBezTo>
                  <a:pt x="5328" y="11922"/>
                  <a:pt x="0" y="17249"/>
                  <a:pt x="0" y="23844"/>
                </a:cubicBezTo>
                <a:lnTo>
                  <a:pt x="0" y="149022"/>
                </a:lnTo>
                <a:cubicBezTo>
                  <a:pt x="0" y="165489"/>
                  <a:pt x="13337" y="178827"/>
                  <a:pt x="29804" y="178827"/>
                </a:cubicBezTo>
                <a:lnTo>
                  <a:pt x="178827" y="178827"/>
                </a:lnTo>
                <a:cubicBezTo>
                  <a:pt x="185421" y="178827"/>
                  <a:pt x="190748" y="173499"/>
                  <a:pt x="190748" y="166905"/>
                </a:cubicBezTo>
                <a:cubicBezTo>
                  <a:pt x="190748" y="160311"/>
                  <a:pt x="185421" y="154983"/>
                  <a:pt x="178827" y="154983"/>
                </a:cubicBezTo>
                <a:lnTo>
                  <a:pt x="29804" y="154983"/>
                </a:lnTo>
                <a:cubicBezTo>
                  <a:pt x="26526" y="154983"/>
                  <a:pt x="23844" y="152301"/>
                  <a:pt x="23844" y="149022"/>
                </a:cubicBezTo>
                <a:lnTo>
                  <a:pt x="23844" y="23844"/>
                </a:lnTo>
                <a:close/>
                <a:moveTo>
                  <a:pt x="175325" y="56107"/>
                </a:moveTo>
                <a:cubicBezTo>
                  <a:pt x="179982" y="51450"/>
                  <a:pt x="179982" y="43887"/>
                  <a:pt x="175325" y="39230"/>
                </a:cubicBezTo>
                <a:cubicBezTo>
                  <a:pt x="170668" y="34573"/>
                  <a:pt x="163105" y="34573"/>
                  <a:pt x="158448" y="39230"/>
                </a:cubicBezTo>
                <a:lnTo>
                  <a:pt x="119218" y="78497"/>
                </a:lnTo>
                <a:lnTo>
                  <a:pt x="97833" y="57150"/>
                </a:lnTo>
                <a:cubicBezTo>
                  <a:pt x="93176" y="52493"/>
                  <a:pt x="85613" y="52493"/>
                  <a:pt x="80956" y="57150"/>
                </a:cubicBezTo>
                <a:lnTo>
                  <a:pt x="45191" y="92915"/>
                </a:lnTo>
                <a:cubicBezTo>
                  <a:pt x="40534" y="97572"/>
                  <a:pt x="40534" y="105135"/>
                  <a:pt x="45191" y="109792"/>
                </a:cubicBezTo>
                <a:cubicBezTo>
                  <a:pt x="49848" y="114449"/>
                  <a:pt x="57411" y="114449"/>
                  <a:pt x="62068" y="109792"/>
                </a:cubicBezTo>
                <a:lnTo>
                  <a:pt x="89413" y="82447"/>
                </a:lnTo>
                <a:lnTo>
                  <a:pt x="110798" y="103831"/>
                </a:lnTo>
                <a:cubicBezTo>
                  <a:pt x="115455" y="108488"/>
                  <a:pt x="123018" y="108488"/>
                  <a:pt x="127675" y="103831"/>
                </a:cubicBezTo>
                <a:lnTo>
                  <a:pt x="175362" y="56144"/>
                </a:ln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6507798" y="5001846"/>
            <a:ext cx="4885278" cy="29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2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价值体现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264064" y="5425731"/>
            <a:ext cx="5118415" cy="254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减少重复加工时间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264064" y="5764840"/>
            <a:ext cx="5118415" cy="254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提升出餐(响应)速度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264064" y="6103948"/>
            <a:ext cx="5118415" cy="254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保证不同菜品口味一致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1765134" y="1483598"/>
            <a:ext cx="4069299" cy="7546102"/>
          </a:xfrm>
          <a:custGeom>
            <a:avLst/>
            <a:gdLst/>
            <a:ahLst/>
            <a:cxnLst/>
            <a:rect l="l" t="t" r="r" b="b"/>
            <a:pathLst>
              <a:path w="4069299" h="9049950">
                <a:moveTo>
                  <a:pt x="84763" y="0"/>
                </a:moveTo>
                <a:lnTo>
                  <a:pt x="3984535" y="0"/>
                </a:lnTo>
                <a:cubicBezTo>
                  <a:pt x="4031349" y="0"/>
                  <a:pt x="4069299" y="37950"/>
                  <a:pt x="4069299" y="84763"/>
                </a:cubicBezTo>
                <a:lnTo>
                  <a:pt x="4069299" y="8965187"/>
                </a:lnTo>
                <a:cubicBezTo>
                  <a:pt x="4069299" y="9012001"/>
                  <a:pt x="4031349" y="9049950"/>
                  <a:pt x="3984535" y="9049950"/>
                </a:cubicBezTo>
                <a:lnTo>
                  <a:pt x="84763" y="9049950"/>
                </a:lnTo>
                <a:cubicBezTo>
                  <a:pt x="37950" y="9049950"/>
                  <a:pt x="0" y="9012001"/>
                  <a:pt x="0" y="8965187"/>
                </a:cubicBezTo>
                <a:lnTo>
                  <a:pt x="0" y="84763"/>
                </a:lnTo>
                <a:cubicBezTo>
                  <a:pt x="0" y="37981"/>
                  <a:pt x="37981" y="0"/>
                  <a:pt x="84763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12051257" y="1780318"/>
            <a:ext cx="254331" cy="254331"/>
          </a:xfrm>
          <a:custGeom>
            <a:avLst/>
            <a:gdLst/>
            <a:ahLst/>
            <a:cxnLst/>
            <a:rect l="l" t="t" r="r" b="b"/>
            <a:pathLst>
              <a:path w="254331" h="254331">
                <a:moveTo>
                  <a:pt x="141074" y="-646"/>
                </a:moveTo>
                <a:cubicBezTo>
                  <a:pt x="132481" y="-5613"/>
                  <a:pt x="121850" y="-5613"/>
                  <a:pt x="113257" y="-646"/>
                </a:cubicBezTo>
                <a:lnTo>
                  <a:pt x="71431" y="23496"/>
                </a:lnTo>
                <a:cubicBezTo>
                  <a:pt x="62838" y="28463"/>
                  <a:pt x="57523" y="37653"/>
                  <a:pt x="57523" y="47588"/>
                </a:cubicBezTo>
                <a:lnTo>
                  <a:pt x="57523" y="98206"/>
                </a:lnTo>
                <a:lnTo>
                  <a:pt x="13660" y="123539"/>
                </a:lnTo>
                <a:cubicBezTo>
                  <a:pt x="5067" y="128507"/>
                  <a:pt x="-248" y="137696"/>
                  <a:pt x="-248" y="147631"/>
                </a:cubicBezTo>
                <a:lnTo>
                  <a:pt x="-248" y="195964"/>
                </a:lnTo>
                <a:cubicBezTo>
                  <a:pt x="-248" y="205899"/>
                  <a:pt x="5067" y="215089"/>
                  <a:pt x="13660" y="220056"/>
                </a:cubicBezTo>
                <a:lnTo>
                  <a:pt x="55536" y="244198"/>
                </a:lnTo>
                <a:cubicBezTo>
                  <a:pt x="64129" y="249165"/>
                  <a:pt x="74759" y="249165"/>
                  <a:pt x="83353" y="244198"/>
                </a:cubicBezTo>
                <a:lnTo>
                  <a:pt x="127215" y="218864"/>
                </a:lnTo>
                <a:lnTo>
                  <a:pt x="171077" y="244198"/>
                </a:lnTo>
                <a:cubicBezTo>
                  <a:pt x="179671" y="249165"/>
                  <a:pt x="190301" y="249165"/>
                  <a:pt x="198895" y="244198"/>
                </a:cubicBezTo>
                <a:lnTo>
                  <a:pt x="240671" y="220056"/>
                </a:lnTo>
                <a:cubicBezTo>
                  <a:pt x="249264" y="215089"/>
                  <a:pt x="254580" y="205899"/>
                  <a:pt x="254580" y="195964"/>
                </a:cubicBezTo>
                <a:lnTo>
                  <a:pt x="254580" y="147631"/>
                </a:lnTo>
                <a:cubicBezTo>
                  <a:pt x="254580" y="137696"/>
                  <a:pt x="249264" y="128507"/>
                  <a:pt x="240671" y="123539"/>
                </a:cubicBezTo>
                <a:lnTo>
                  <a:pt x="196809" y="98206"/>
                </a:lnTo>
                <a:lnTo>
                  <a:pt x="196809" y="47588"/>
                </a:lnTo>
                <a:cubicBezTo>
                  <a:pt x="196809" y="37653"/>
                  <a:pt x="191493" y="28463"/>
                  <a:pt x="182900" y="23496"/>
                </a:cubicBezTo>
                <a:lnTo>
                  <a:pt x="141074" y="-646"/>
                </a:lnTo>
                <a:close/>
                <a:moveTo>
                  <a:pt x="115244" y="145346"/>
                </a:moveTo>
                <a:lnTo>
                  <a:pt x="115244" y="198249"/>
                </a:lnTo>
                <a:lnTo>
                  <a:pt x="71382" y="223583"/>
                </a:lnTo>
                <a:cubicBezTo>
                  <a:pt x="70786" y="223931"/>
                  <a:pt x="70090" y="224129"/>
                  <a:pt x="69395" y="224129"/>
                </a:cubicBezTo>
                <a:lnTo>
                  <a:pt x="69395" y="171823"/>
                </a:lnTo>
                <a:lnTo>
                  <a:pt x="115244" y="145346"/>
                </a:lnTo>
                <a:close/>
                <a:moveTo>
                  <a:pt x="230190" y="145644"/>
                </a:moveTo>
                <a:cubicBezTo>
                  <a:pt x="230537" y="146240"/>
                  <a:pt x="230736" y="146936"/>
                  <a:pt x="230736" y="147631"/>
                </a:cubicBezTo>
                <a:lnTo>
                  <a:pt x="230736" y="195964"/>
                </a:lnTo>
                <a:cubicBezTo>
                  <a:pt x="230736" y="197405"/>
                  <a:pt x="229991" y="198696"/>
                  <a:pt x="228749" y="199392"/>
                </a:cubicBezTo>
                <a:lnTo>
                  <a:pt x="186874" y="223533"/>
                </a:lnTo>
                <a:cubicBezTo>
                  <a:pt x="186278" y="223881"/>
                  <a:pt x="185582" y="224080"/>
                  <a:pt x="184887" y="224080"/>
                </a:cubicBezTo>
                <a:lnTo>
                  <a:pt x="184887" y="171773"/>
                </a:lnTo>
                <a:lnTo>
                  <a:pt x="230190" y="145644"/>
                </a:lnTo>
                <a:close/>
                <a:moveTo>
                  <a:pt x="173015" y="47588"/>
                </a:moveTo>
                <a:lnTo>
                  <a:pt x="173015" y="98206"/>
                </a:lnTo>
                <a:lnTo>
                  <a:pt x="127166" y="124682"/>
                </a:lnTo>
                <a:lnTo>
                  <a:pt x="127166" y="71779"/>
                </a:lnTo>
                <a:lnTo>
                  <a:pt x="172468" y="45650"/>
                </a:lnTo>
                <a:cubicBezTo>
                  <a:pt x="172816" y="46247"/>
                  <a:pt x="173015" y="46942"/>
                  <a:pt x="173015" y="47637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12337379" y="1737930"/>
            <a:ext cx="3369888" cy="339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3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数据领域的映射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2019465" y="2288980"/>
            <a:ext cx="3560636" cy="1123296"/>
          </a:xfrm>
          <a:custGeom>
            <a:avLst/>
            <a:gdLst/>
            <a:ahLst/>
            <a:cxnLst/>
            <a:rect l="l" t="t" r="r" b="b"/>
            <a:pathLst>
              <a:path w="3560636" h="1123296">
                <a:moveTo>
                  <a:pt x="84775" y="0"/>
                </a:moveTo>
                <a:lnTo>
                  <a:pt x="3475861" y="0"/>
                </a:lnTo>
                <a:cubicBezTo>
                  <a:pt x="3522681" y="0"/>
                  <a:pt x="3560636" y="37955"/>
                  <a:pt x="3560636" y="84775"/>
                </a:cubicBezTo>
                <a:lnTo>
                  <a:pt x="3560636" y="1038521"/>
                </a:lnTo>
                <a:cubicBezTo>
                  <a:pt x="3560636" y="1085341"/>
                  <a:pt x="3522681" y="1123296"/>
                  <a:pt x="3475861" y="1123296"/>
                </a:cubicBezTo>
                <a:lnTo>
                  <a:pt x="84775" y="1123296"/>
                </a:lnTo>
                <a:cubicBezTo>
                  <a:pt x="37955" y="1123296"/>
                  <a:pt x="0" y="1085341"/>
                  <a:pt x="0" y="1038521"/>
                </a:cubicBezTo>
                <a:lnTo>
                  <a:pt x="0" y="84775"/>
                </a:lnTo>
                <a:cubicBezTo>
                  <a:pt x="0" y="37986"/>
                  <a:pt x="37986" y="0"/>
                  <a:pt x="84775" y="0"/>
                </a:cubicBezTo>
                <a:close/>
              </a:path>
            </a:pathLst>
          </a:custGeom>
          <a:solidFill>
            <a:srgbClr val="2D3748">
              <a:alpha val="8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12189020" y="2458535"/>
            <a:ext cx="423885" cy="423885"/>
          </a:xfrm>
          <a:custGeom>
            <a:avLst/>
            <a:gdLst/>
            <a:ahLst/>
            <a:cxnLst/>
            <a:rect l="l" t="t" r="r" b="b"/>
            <a:pathLst>
              <a:path w="423885" h="423885">
                <a:moveTo>
                  <a:pt x="211943" y="0"/>
                </a:moveTo>
                <a:lnTo>
                  <a:pt x="211943" y="0"/>
                </a:lnTo>
                <a:cubicBezTo>
                  <a:pt x="328995" y="0"/>
                  <a:pt x="423885" y="94890"/>
                  <a:pt x="423885" y="211943"/>
                </a:cubicBezTo>
                <a:lnTo>
                  <a:pt x="423885" y="211943"/>
                </a:lnTo>
                <a:cubicBezTo>
                  <a:pt x="423885" y="328995"/>
                  <a:pt x="328995" y="423885"/>
                  <a:pt x="211943" y="423885"/>
                </a:cubicBezTo>
                <a:lnTo>
                  <a:pt x="211943" y="423885"/>
                </a:lnTo>
                <a:cubicBezTo>
                  <a:pt x="94890" y="423885"/>
                  <a:pt x="0" y="328995"/>
                  <a:pt x="0" y="211943"/>
                </a:cubicBezTo>
                <a:lnTo>
                  <a:pt x="0" y="211943"/>
                </a:lnTo>
                <a:cubicBezTo>
                  <a:pt x="0" y="94890"/>
                  <a:pt x="94890" y="0"/>
                  <a:pt x="211943" y="0"/>
                </a:cubicBezTo>
                <a:close/>
              </a:path>
            </a:pathLst>
          </a:custGeom>
          <a:solidFill>
            <a:srgbClr val="D69E2E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12316185" y="2585700"/>
            <a:ext cx="169554" cy="169554"/>
          </a:xfrm>
          <a:custGeom>
            <a:avLst/>
            <a:gdLst/>
            <a:ahLst/>
            <a:cxnLst/>
            <a:rect l="l" t="t" r="r" b="b"/>
            <a:pathLst>
              <a:path w="169554" h="169554">
                <a:moveTo>
                  <a:pt x="76995" y="1722"/>
                </a:moveTo>
                <a:cubicBezTo>
                  <a:pt x="81929" y="-563"/>
                  <a:pt x="87625" y="-563"/>
                  <a:pt x="92559" y="1722"/>
                </a:cubicBezTo>
                <a:lnTo>
                  <a:pt x="164951" y="35169"/>
                </a:lnTo>
                <a:cubicBezTo>
                  <a:pt x="167766" y="36461"/>
                  <a:pt x="169554" y="39276"/>
                  <a:pt x="169554" y="42389"/>
                </a:cubicBezTo>
                <a:cubicBezTo>
                  <a:pt x="169554" y="45501"/>
                  <a:pt x="167766" y="48316"/>
                  <a:pt x="164951" y="49608"/>
                </a:cubicBezTo>
                <a:lnTo>
                  <a:pt x="92559" y="83055"/>
                </a:lnTo>
                <a:cubicBezTo>
                  <a:pt x="87625" y="85340"/>
                  <a:pt x="81929" y="85340"/>
                  <a:pt x="76995" y="83055"/>
                </a:cubicBezTo>
                <a:lnTo>
                  <a:pt x="4603" y="49608"/>
                </a:lnTo>
                <a:cubicBezTo>
                  <a:pt x="1788" y="48283"/>
                  <a:pt x="0" y="45468"/>
                  <a:pt x="0" y="42389"/>
                </a:cubicBezTo>
                <a:cubicBezTo>
                  <a:pt x="0" y="39309"/>
                  <a:pt x="1788" y="36461"/>
                  <a:pt x="4603" y="35169"/>
                </a:cubicBezTo>
                <a:lnTo>
                  <a:pt x="76995" y="1722"/>
                </a:lnTo>
                <a:close/>
                <a:moveTo>
                  <a:pt x="15929" y="72325"/>
                </a:moveTo>
                <a:lnTo>
                  <a:pt x="70338" y="97460"/>
                </a:lnTo>
                <a:cubicBezTo>
                  <a:pt x="79512" y="101699"/>
                  <a:pt x="90076" y="101699"/>
                  <a:pt x="99249" y="97460"/>
                </a:cubicBezTo>
                <a:lnTo>
                  <a:pt x="153658" y="72325"/>
                </a:lnTo>
                <a:lnTo>
                  <a:pt x="164951" y="77558"/>
                </a:lnTo>
                <a:cubicBezTo>
                  <a:pt x="167766" y="78849"/>
                  <a:pt x="169554" y="81664"/>
                  <a:pt x="169554" y="84777"/>
                </a:cubicBezTo>
                <a:cubicBezTo>
                  <a:pt x="169554" y="87890"/>
                  <a:pt x="167766" y="90705"/>
                  <a:pt x="164951" y="91996"/>
                </a:cubicBezTo>
                <a:lnTo>
                  <a:pt x="92559" y="125444"/>
                </a:lnTo>
                <a:cubicBezTo>
                  <a:pt x="87625" y="127729"/>
                  <a:pt x="81929" y="127729"/>
                  <a:pt x="76995" y="125444"/>
                </a:cubicBezTo>
                <a:lnTo>
                  <a:pt x="4603" y="91996"/>
                </a:lnTo>
                <a:cubicBezTo>
                  <a:pt x="1788" y="90672"/>
                  <a:pt x="0" y="87857"/>
                  <a:pt x="0" y="84777"/>
                </a:cubicBezTo>
                <a:cubicBezTo>
                  <a:pt x="0" y="81697"/>
                  <a:pt x="1788" y="78849"/>
                  <a:pt x="4603" y="77558"/>
                </a:cubicBezTo>
                <a:lnTo>
                  <a:pt x="15896" y="72325"/>
                </a:lnTo>
                <a:close/>
                <a:moveTo>
                  <a:pt x="4603" y="119946"/>
                </a:moveTo>
                <a:lnTo>
                  <a:pt x="15896" y="114714"/>
                </a:lnTo>
                <a:lnTo>
                  <a:pt x="70305" y="139849"/>
                </a:lnTo>
                <a:cubicBezTo>
                  <a:pt x="79478" y="144088"/>
                  <a:pt x="90043" y="144088"/>
                  <a:pt x="99216" y="139849"/>
                </a:cubicBezTo>
                <a:lnTo>
                  <a:pt x="153625" y="114714"/>
                </a:lnTo>
                <a:lnTo>
                  <a:pt x="164918" y="119946"/>
                </a:lnTo>
                <a:cubicBezTo>
                  <a:pt x="167733" y="121238"/>
                  <a:pt x="169521" y="124053"/>
                  <a:pt x="169521" y="127166"/>
                </a:cubicBezTo>
                <a:cubicBezTo>
                  <a:pt x="169521" y="130278"/>
                  <a:pt x="167733" y="133093"/>
                  <a:pt x="164918" y="134385"/>
                </a:cubicBezTo>
                <a:lnTo>
                  <a:pt x="92526" y="167832"/>
                </a:lnTo>
                <a:cubicBezTo>
                  <a:pt x="87592" y="170117"/>
                  <a:pt x="81896" y="170117"/>
                  <a:pt x="76962" y="167832"/>
                </a:cubicBezTo>
                <a:lnTo>
                  <a:pt x="4603" y="134385"/>
                </a:lnTo>
                <a:cubicBezTo>
                  <a:pt x="1788" y="133060"/>
                  <a:pt x="0" y="130245"/>
                  <a:pt x="0" y="127166"/>
                </a:cubicBezTo>
                <a:cubicBezTo>
                  <a:pt x="0" y="124086"/>
                  <a:pt x="1788" y="121238"/>
                  <a:pt x="4603" y="119946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12740070" y="2522117"/>
            <a:ext cx="858368" cy="29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2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主题聚合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2189020" y="2967197"/>
            <a:ext cx="3306305" cy="2755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5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按时间、主体、业务维度进行聚合统计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2019465" y="3581831"/>
            <a:ext cx="3560636" cy="1398821"/>
          </a:xfrm>
          <a:custGeom>
            <a:avLst/>
            <a:gdLst/>
            <a:ahLst/>
            <a:cxnLst/>
            <a:rect l="l" t="t" r="r" b="b"/>
            <a:pathLst>
              <a:path w="3560636" h="1398821">
                <a:moveTo>
                  <a:pt x="84783" y="0"/>
                </a:moveTo>
                <a:lnTo>
                  <a:pt x="3475854" y="0"/>
                </a:lnTo>
                <a:cubicBezTo>
                  <a:pt x="3522678" y="0"/>
                  <a:pt x="3560636" y="37958"/>
                  <a:pt x="3560636" y="84783"/>
                </a:cubicBezTo>
                <a:lnTo>
                  <a:pt x="3560636" y="1314039"/>
                </a:lnTo>
                <a:cubicBezTo>
                  <a:pt x="3560636" y="1360863"/>
                  <a:pt x="3522678" y="1398821"/>
                  <a:pt x="3475854" y="1398821"/>
                </a:cubicBezTo>
                <a:lnTo>
                  <a:pt x="84783" y="1398821"/>
                </a:lnTo>
                <a:cubicBezTo>
                  <a:pt x="37958" y="1398821"/>
                  <a:pt x="0" y="1360863"/>
                  <a:pt x="0" y="1314039"/>
                </a:cubicBezTo>
                <a:lnTo>
                  <a:pt x="0" y="84783"/>
                </a:lnTo>
                <a:cubicBezTo>
                  <a:pt x="0" y="37990"/>
                  <a:pt x="37990" y="0"/>
                  <a:pt x="84783" y="0"/>
                </a:cubicBezTo>
                <a:close/>
              </a:path>
            </a:pathLst>
          </a:custGeom>
          <a:solidFill>
            <a:srgbClr val="2D3748">
              <a:alpha val="8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12189020" y="3751385"/>
            <a:ext cx="423885" cy="423885"/>
          </a:xfrm>
          <a:custGeom>
            <a:avLst/>
            <a:gdLst/>
            <a:ahLst/>
            <a:cxnLst/>
            <a:rect l="l" t="t" r="r" b="b"/>
            <a:pathLst>
              <a:path w="423885" h="423885">
                <a:moveTo>
                  <a:pt x="211943" y="0"/>
                </a:moveTo>
                <a:lnTo>
                  <a:pt x="211943" y="0"/>
                </a:lnTo>
                <a:cubicBezTo>
                  <a:pt x="328995" y="0"/>
                  <a:pt x="423885" y="94890"/>
                  <a:pt x="423885" y="211943"/>
                </a:cubicBezTo>
                <a:lnTo>
                  <a:pt x="423885" y="211943"/>
                </a:lnTo>
                <a:cubicBezTo>
                  <a:pt x="423885" y="328995"/>
                  <a:pt x="328995" y="423885"/>
                  <a:pt x="211943" y="423885"/>
                </a:cubicBezTo>
                <a:lnTo>
                  <a:pt x="211943" y="423885"/>
                </a:lnTo>
                <a:cubicBezTo>
                  <a:pt x="94890" y="423885"/>
                  <a:pt x="0" y="328995"/>
                  <a:pt x="0" y="211943"/>
                </a:cubicBezTo>
                <a:lnTo>
                  <a:pt x="0" y="211943"/>
                </a:lnTo>
                <a:cubicBezTo>
                  <a:pt x="0" y="94890"/>
                  <a:pt x="94890" y="0"/>
                  <a:pt x="211943" y="0"/>
                </a:cubicBezTo>
                <a:close/>
              </a:path>
            </a:pathLst>
          </a:custGeom>
          <a:solidFill>
            <a:srgbClr val="D69E2E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12326782" y="3878550"/>
            <a:ext cx="148360" cy="169554"/>
          </a:xfrm>
          <a:custGeom>
            <a:avLst/>
            <a:gdLst/>
            <a:ahLst/>
            <a:cxnLst/>
            <a:rect l="l" t="t" r="r" b="b"/>
            <a:pathLst>
              <a:path w="148360" h="169554">
                <a:moveTo>
                  <a:pt x="84777" y="52986"/>
                </a:moveTo>
                <a:lnTo>
                  <a:pt x="84777" y="84777"/>
                </a:lnTo>
                <a:lnTo>
                  <a:pt x="127166" y="84777"/>
                </a:lnTo>
                <a:lnTo>
                  <a:pt x="127166" y="52986"/>
                </a:lnTo>
                <a:lnTo>
                  <a:pt x="84777" y="52986"/>
                </a:lnTo>
                <a:close/>
                <a:moveTo>
                  <a:pt x="63583" y="52986"/>
                </a:moveTo>
                <a:lnTo>
                  <a:pt x="21194" y="52986"/>
                </a:lnTo>
                <a:lnTo>
                  <a:pt x="21194" y="84777"/>
                </a:lnTo>
                <a:lnTo>
                  <a:pt x="63583" y="84777"/>
                </a:lnTo>
                <a:lnTo>
                  <a:pt x="63583" y="52986"/>
                </a:lnTo>
                <a:close/>
                <a:moveTo>
                  <a:pt x="0" y="105971"/>
                </a:moveTo>
                <a:lnTo>
                  <a:pt x="0" y="31791"/>
                </a:lnTo>
                <a:cubicBezTo>
                  <a:pt x="0" y="20101"/>
                  <a:pt x="9504" y="10597"/>
                  <a:pt x="21194" y="10597"/>
                </a:cubicBezTo>
                <a:lnTo>
                  <a:pt x="127166" y="10597"/>
                </a:lnTo>
                <a:cubicBezTo>
                  <a:pt x="138856" y="10597"/>
                  <a:pt x="148360" y="20101"/>
                  <a:pt x="148360" y="31791"/>
                </a:cubicBezTo>
                <a:lnTo>
                  <a:pt x="148360" y="137763"/>
                </a:lnTo>
                <a:cubicBezTo>
                  <a:pt x="148360" y="149453"/>
                  <a:pt x="138856" y="158957"/>
                  <a:pt x="127166" y="158957"/>
                </a:cubicBezTo>
                <a:lnTo>
                  <a:pt x="21194" y="158957"/>
                </a:lnTo>
                <a:cubicBezTo>
                  <a:pt x="9504" y="158957"/>
                  <a:pt x="0" y="149453"/>
                  <a:pt x="0" y="137763"/>
                </a:cubicBezTo>
                <a:lnTo>
                  <a:pt x="0" y="105971"/>
                </a:lnTo>
                <a:close/>
                <a:moveTo>
                  <a:pt x="127166" y="105971"/>
                </a:moveTo>
                <a:lnTo>
                  <a:pt x="84777" y="105971"/>
                </a:lnTo>
                <a:lnTo>
                  <a:pt x="84777" y="137763"/>
                </a:lnTo>
                <a:lnTo>
                  <a:pt x="127166" y="137763"/>
                </a:lnTo>
                <a:lnTo>
                  <a:pt x="127166" y="105971"/>
                </a:lnTo>
                <a:close/>
                <a:moveTo>
                  <a:pt x="63583" y="137763"/>
                </a:moveTo>
                <a:lnTo>
                  <a:pt x="63583" y="105971"/>
                </a:lnTo>
                <a:lnTo>
                  <a:pt x="21194" y="105971"/>
                </a:lnTo>
                <a:lnTo>
                  <a:pt x="21194" y="137763"/>
                </a:lnTo>
                <a:lnTo>
                  <a:pt x="63583" y="137763"/>
                </a:ln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12740070" y="3814967"/>
            <a:ext cx="858368" cy="29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2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宽表构建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2189020" y="4260047"/>
            <a:ext cx="3306305" cy="55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5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将多个相关表拼接成一张宽表,支持跨域分析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12019465" y="5150206"/>
            <a:ext cx="3560636" cy="1123296"/>
          </a:xfrm>
          <a:custGeom>
            <a:avLst/>
            <a:gdLst/>
            <a:ahLst/>
            <a:cxnLst/>
            <a:rect l="l" t="t" r="r" b="b"/>
            <a:pathLst>
              <a:path w="3560636" h="1123296">
                <a:moveTo>
                  <a:pt x="84775" y="0"/>
                </a:moveTo>
                <a:lnTo>
                  <a:pt x="3475861" y="0"/>
                </a:lnTo>
                <a:cubicBezTo>
                  <a:pt x="3522681" y="0"/>
                  <a:pt x="3560636" y="37955"/>
                  <a:pt x="3560636" y="84775"/>
                </a:cubicBezTo>
                <a:lnTo>
                  <a:pt x="3560636" y="1038521"/>
                </a:lnTo>
                <a:cubicBezTo>
                  <a:pt x="3560636" y="1085341"/>
                  <a:pt x="3522681" y="1123296"/>
                  <a:pt x="3475861" y="1123296"/>
                </a:cubicBezTo>
                <a:lnTo>
                  <a:pt x="84775" y="1123296"/>
                </a:lnTo>
                <a:cubicBezTo>
                  <a:pt x="37955" y="1123296"/>
                  <a:pt x="0" y="1085341"/>
                  <a:pt x="0" y="1038521"/>
                </a:cubicBezTo>
                <a:lnTo>
                  <a:pt x="0" y="84775"/>
                </a:lnTo>
                <a:cubicBezTo>
                  <a:pt x="0" y="37986"/>
                  <a:pt x="37986" y="0"/>
                  <a:pt x="84775" y="0"/>
                </a:cubicBezTo>
                <a:close/>
              </a:path>
            </a:pathLst>
          </a:custGeom>
          <a:solidFill>
            <a:srgbClr val="2D3748">
              <a:alpha val="8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12189020" y="5319760"/>
            <a:ext cx="423885" cy="423885"/>
          </a:xfrm>
          <a:custGeom>
            <a:avLst/>
            <a:gdLst/>
            <a:ahLst/>
            <a:cxnLst/>
            <a:rect l="l" t="t" r="r" b="b"/>
            <a:pathLst>
              <a:path w="423885" h="423885">
                <a:moveTo>
                  <a:pt x="211943" y="0"/>
                </a:moveTo>
                <a:lnTo>
                  <a:pt x="211943" y="0"/>
                </a:lnTo>
                <a:cubicBezTo>
                  <a:pt x="328995" y="0"/>
                  <a:pt x="423885" y="94890"/>
                  <a:pt x="423885" y="211943"/>
                </a:cubicBezTo>
                <a:lnTo>
                  <a:pt x="423885" y="211943"/>
                </a:lnTo>
                <a:cubicBezTo>
                  <a:pt x="423885" y="328995"/>
                  <a:pt x="328995" y="423885"/>
                  <a:pt x="211943" y="423885"/>
                </a:cubicBezTo>
                <a:lnTo>
                  <a:pt x="211943" y="423885"/>
                </a:lnTo>
                <a:cubicBezTo>
                  <a:pt x="94890" y="423885"/>
                  <a:pt x="0" y="328995"/>
                  <a:pt x="0" y="211943"/>
                </a:cubicBezTo>
                <a:lnTo>
                  <a:pt x="0" y="211943"/>
                </a:lnTo>
                <a:cubicBezTo>
                  <a:pt x="0" y="94890"/>
                  <a:pt x="94890" y="0"/>
                  <a:pt x="211943" y="0"/>
                </a:cubicBezTo>
                <a:close/>
              </a:path>
            </a:pathLst>
          </a:custGeom>
          <a:solidFill>
            <a:srgbClr val="D69E2E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12337379" y="5446926"/>
            <a:ext cx="127166" cy="169554"/>
          </a:xfrm>
          <a:custGeom>
            <a:avLst/>
            <a:gdLst/>
            <a:ahLst/>
            <a:cxnLst/>
            <a:rect l="l" t="t" r="r" b="b"/>
            <a:pathLst>
              <a:path w="127166" h="169554">
                <a:moveTo>
                  <a:pt x="21194" y="0"/>
                </a:moveTo>
                <a:cubicBezTo>
                  <a:pt x="9504" y="0"/>
                  <a:pt x="0" y="9504"/>
                  <a:pt x="0" y="21194"/>
                </a:cubicBezTo>
                <a:lnTo>
                  <a:pt x="0" y="148360"/>
                </a:lnTo>
                <a:cubicBezTo>
                  <a:pt x="0" y="160050"/>
                  <a:pt x="9504" y="169554"/>
                  <a:pt x="21194" y="169554"/>
                </a:cubicBezTo>
                <a:lnTo>
                  <a:pt x="105971" y="169554"/>
                </a:lnTo>
                <a:cubicBezTo>
                  <a:pt x="117661" y="169554"/>
                  <a:pt x="127166" y="160050"/>
                  <a:pt x="127166" y="148360"/>
                </a:cubicBezTo>
                <a:lnTo>
                  <a:pt x="127166" y="21194"/>
                </a:lnTo>
                <a:cubicBezTo>
                  <a:pt x="127166" y="9504"/>
                  <a:pt x="117661" y="0"/>
                  <a:pt x="105971" y="0"/>
                </a:cubicBezTo>
                <a:lnTo>
                  <a:pt x="21194" y="0"/>
                </a:lnTo>
                <a:close/>
                <a:moveTo>
                  <a:pt x="31791" y="21194"/>
                </a:moveTo>
                <a:lnTo>
                  <a:pt x="95374" y="21194"/>
                </a:lnTo>
                <a:cubicBezTo>
                  <a:pt x="101236" y="21194"/>
                  <a:pt x="105971" y="25930"/>
                  <a:pt x="105971" y="31791"/>
                </a:cubicBezTo>
                <a:lnTo>
                  <a:pt x="105971" y="42389"/>
                </a:lnTo>
                <a:cubicBezTo>
                  <a:pt x="105971" y="48250"/>
                  <a:pt x="101236" y="52986"/>
                  <a:pt x="95374" y="52986"/>
                </a:cubicBezTo>
                <a:lnTo>
                  <a:pt x="31791" y="52986"/>
                </a:lnTo>
                <a:cubicBezTo>
                  <a:pt x="25930" y="52986"/>
                  <a:pt x="21194" y="48250"/>
                  <a:pt x="21194" y="42389"/>
                </a:cubicBezTo>
                <a:lnTo>
                  <a:pt x="21194" y="31791"/>
                </a:lnTo>
                <a:cubicBezTo>
                  <a:pt x="21194" y="25930"/>
                  <a:pt x="25930" y="21194"/>
                  <a:pt x="31791" y="21194"/>
                </a:cubicBezTo>
                <a:close/>
                <a:moveTo>
                  <a:pt x="37090" y="76829"/>
                </a:moveTo>
                <a:cubicBezTo>
                  <a:pt x="37090" y="81216"/>
                  <a:pt x="33529" y="84777"/>
                  <a:pt x="29142" y="84777"/>
                </a:cubicBezTo>
                <a:cubicBezTo>
                  <a:pt x="24756" y="84777"/>
                  <a:pt x="21194" y="81216"/>
                  <a:pt x="21194" y="76829"/>
                </a:cubicBezTo>
                <a:cubicBezTo>
                  <a:pt x="21194" y="72443"/>
                  <a:pt x="24756" y="68881"/>
                  <a:pt x="29142" y="68881"/>
                </a:cubicBezTo>
                <a:cubicBezTo>
                  <a:pt x="33529" y="68881"/>
                  <a:pt x="37090" y="72443"/>
                  <a:pt x="37090" y="76829"/>
                </a:cubicBezTo>
                <a:close/>
                <a:moveTo>
                  <a:pt x="63583" y="84777"/>
                </a:moveTo>
                <a:cubicBezTo>
                  <a:pt x="59196" y="84777"/>
                  <a:pt x="55635" y="81216"/>
                  <a:pt x="55635" y="76829"/>
                </a:cubicBezTo>
                <a:cubicBezTo>
                  <a:pt x="55635" y="72443"/>
                  <a:pt x="59196" y="68881"/>
                  <a:pt x="63583" y="68881"/>
                </a:cubicBezTo>
                <a:cubicBezTo>
                  <a:pt x="67969" y="68881"/>
                  <a:pt x="71531" y="72443"/>
                  <a:pt x="71531" y="76829"/>
                </a:cubicBezTo>
                <a:cubicBezTo>
                  <a:pt x="71531" y="81216"/>
                  <a:pt x="67969" y="84777"/>
                  <a:pt x="63583" y="84777"/>
                </a:cubicBezTo>
                <a:close/>
                <a:moveTo>
                  <a:pt x="105971" y="76829"/>
                </a:moveTo>
                <a:cubicBezTo>
                  <a:pt x="105971" y="81216"/>
                  <a:pt x="102410" y="84777"/>
                  <a:pt x="98023" y="84777"/>
                </a:cubicBezTo>
                <a:cubicBezTo>
                  <a:pt x="93637" y="84777"/>
                  <a:pt x="90076" y="81216"/>
                  <a:pt x="90076" y="76829"/>
                </a:cubicBezTo>
                <a:cubicBezTo>
                  <a:pt x="90076" y="72443"/>
                  <a:pt x="93637" y="68881"/>
                  <a:pt x="98023" y="68881"/>
                </a:cubicBezTo>
                <a:cubicBezTo>
                  <a:pt x="102410" y="68881"/>
                  <a:pt x="105971" y="72443"/>
                  <a:pt x="105971" y="76829"/>
                </a:cubicBezTo>
                <a:close/>
                <a:moveTo>
                  <a:pt x="29142" y="116568"/>
                </a:moveTo>
                <a:cubicBezTo>
                  <a:pt x="24756" y="116568"/>
                  <a:pt x="21194" y="113007"/>
                  <a:pt x="21194" y="108621"/>
                </a:cubicBezTo>
                <a:cubicBezTo>
                  <a:pt x="21194" y="104234"/>
                  <a:pt x="24756" y="100673"/>
                  <a:pt x="29142" y="100673"/>
                </a:cubicBezTo>
                <a:cubicBezTo>
                  <a:pt x="33529" y="100673"/>
                  <a:pt x="37090" y="104234"/>
                  <a:pt x="37090" y="108621"/>
                </a:cubicBezTo>
                <a:cubicBezTo>
                  <a:pt x="37090" y="113007"/>
                  <a:pt x="33529" y="116568"/>
                  <a:pt x="29142" y="116568"/>
                </a:cubicBezTo>
                <a:close/>
                <a:moveTo>
                  <a:pt x="71531" y="108621"/>
                </a:moveTo>
                <a:cubicBezTo>
                  <a:pt x="71531" y="113007"/>
                  <a:pt x="67969" y="116568"/>
                  <a:pt x="63583" y="116568"/>
                </a:cubicBezTo>
                <a:cubicBezTo>
                  <a:pt x="59196" y="116568"/>
                  <a:pt x="55635" y="113007"/>
                  <a:pt x="55635" y="108621"/>
                </a:cubicBezTo>
                <a:cubicBezTo>
                  <a:pt x="55635" y="104234"/>
                  <a:pt x="59196" y="100673"/>
                  <a:pt x="63583" y="100673"/>
                </a:cubicBezTo>
                <a:cubicBezTo>
                  <a:pt x="67969" y="100673"/>
                  <a:pt x="71531" y="104234"/>
                  <a:pt x="71531" y="108621"/>
                </a:cubicBezTo>
                <a:close/>
                <a:moveTo>
                  <a:pt x="98023" y="116568"/>
                </a:moveTo>
                <a:cubicBezTo>
                  <a:pt x="93637" y="116568"/>
                  <a:pt x="90076" y="113007"/>
                  <a:pt x="90076" y="108621"/>
                </a:cubicBezTo>
                <a:cubicBezTo>
                  <a:pt x="90076" y="104234"/>
                  <a:pt x="93637" y="100673"/>
                  <a:pt x="98023" y="100673"/>
                </a:cubicBezTo>
                <a:cubicBezTo>
                  <a:pt x="102410" y="100673"/>
                  <a:pt x="105971" y="104234"/>
                  <a:pt x="105971" y="108621"/>
                </a:cubicBezTo>
                <a:cubicBezTo>
                  <a:pt x="105971" y="113007"/>
                  <a:pt x="102410" y="116568"/>
                  <a:pt x="98023" y="116568"/>
                </a:cubicBezTo>
                <a:close/>
                <a:moveTo>
                  <a:pt x="21194" y="140412"/>
                </a:moveTo>
                <a:cubicBezTo>
                  <a:pt x="21194" y="136008"/>
                  <a:pt x="24738" y="132464"/>
                  <a:pt x="29142" y="132464"/>
                </a:cubicBezTo>
                <a:lnTo>
                  <a:pt x="66232" y="132464"/>
                </a:lnTo>
                <a:cubicBezTo>
                  <a:pt x="70637" y="132464"/>
                  <a:pt x="74180" y="136008"/>
                  <a:pt x="74180" y="140412"/>
                </a:cubicBezTo>
                <a:cubicBezTo>
                  <a:pt x="74180" y="144816"/>
                  <a:pt x="70637" y="148360"/>
                  <a:pt x="66232" y="148360"/>
                </a:cubicBezTo>
                <a:lnTo>
                  <a:pt x="29142" y="148360"/>
                </a:lnTo>
                <a:cubicBezTo>
                  <a:pt x="24738" y="148360"/>
                  <a:pt x="21194" y="144816"/>
                  <a:pt x="21194" y="140412"/>
                </a:cubicBezTo>
                <a:close/>
                <a:moveTo>
                  <a:pt x="98023" y="132464"/>
                </a:moveTo>
                <a:cubicBezTo>
                  <a:pt x="102428" y="132464"/>
                  <a:pt x="105971" y="136008"/>
                  <a:pt x="105971" y="140412"/>
                </a:cubicBezTo>
                <a:cubicBezTo>
                  <a:pt x="105971" y="144816"/>
                  <a:pt x="102428" y="148360"/>
                  <a:pt x="98023" y="148360"/>
                </a:cubicBezTo>
                <a:cubicBezTo>
                  <a:pt x="93619" y="148360"/>
                  <a:pt x="90076" y="144816"/>
                  <a:pt x="90076" y="140412"/>
                </a:cubicBezTo>
                <a:cubicBezTo>
                  <a:pt x="90076" y="136008"/>
                  <a:pt x="93619" y="132464"/>
                  <a:pt x="98023" y="132464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12740070" y="5383343"/>
            <a:ext cx="667619" cy="29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2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预计算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2189020" y="5828422"/>
            <a:ext cx="3306305" cy="2755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5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提前计算常用指标,数据量大幅减少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12019465" y="6443056"/>
            <a:ext cx="3560636" cy="1123296"/>
          </a:xfrm>
          <a:custGeom>
            <a:avLst/>
            <a:gdLst/>
            <a:ahLst/>
            <a:cxnLst/>
            <a:rect l="l" t="t" r="r" b="b"/>
            <a:pathLst>
              <a:path w="3560636" h="1123296">
                <a:moveTo>
                  <a:pt x="84775" y="0"/>
                </a:moveTo>
                <a:lnTo>
                  <a:pt x="3475861" y="0"/>
                </a:lnTo>
                <a:cubicBezTo>
                  <a:pt x="3522681" y="0"/>
                  <a:pt x="3560636" y="37955"/>
                  <a:pt x="3560636" y="84775"/>
                </a:cubicBezTo>
                <a:lnTo>
                  <a:pt x="3560636" y="1038521"/>
                </a:lnTo>
                <a:cubicBezTo>
                  <a:pt x="3560636" y="1085341"/>
                  <a:pt x="3522681" y="1123296"/>
                  <a:pt x="3475861" y="1123296"/>
                </a:cubicBezTo>
                <a:lnTo>
                  <a:pt x="84775" y="1123296"/>
                </a:lnTo>
                <a:cubicBezTo>
                  <a:pt x="37955" y="1123296"/>
                  <a:pt x="0" y="1085341"/>
                  <a:pt x="0" y="1038521"/>
                </a:cubicBezTo>
                <a:lnTo>
                  <a:pt x="0" y="84775"/>
                </a:lnTo>
                <a:cubicBezTo>
                  <a:pt x="0" y="37986"/>
                  <a:pt x="37986" y="0"/>
                  <a:pt x="84775" y="0"/>
                </a:cubicBezTo>
                <a:close/>
              </a:path>
            </a:pathLst>
          </a:custGeom>
          <a:solidFill>
            <a:srgbClr val="2D3748">
              <a:alpha val="8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9"/>
          <p:cNvSpPr/>
          <p:nvPr/>
        </p:nvSpPr>
        <p:spPr>
          <a:xfrm>
            <a:off x="12189020" y="6612610"/>
            <a:ext cx="423885" cy="423885"/>
          </a:xfrm>
          <a:custGeom>
            <a:avLst/>
            <a:gdLst/>
            <a:ahLst/>
            <a:cxnLst/>
            <a:rect l="l" t="t" r="r" b="b"/>
            <a:pathLst>
              <a:path w="423885" h="423885">
                <a:moveTo>
                  <a:pt x="211943" y="0"/>
                </a:moveTo>
                <a:lnTo>
                  <a:pt x="211943" y="0"/>
                </a:lnTo>
                <a:cubicBezTo>
                  <a:pt x="328995" y="0"/>
                  <a:pt x="423885" y="94890"/>
                  <a:pt x="423885" y="211943"/>
                </a:cubicBezTo>
                <a:lnTo>
                  <a:pt x="423885" y="211943"/>
                </a:lnTo>
                <a:cubicBezTo>
                  <a:pt x="423885" y="328995"/>
                  <a:pt x="328995" y="423885"/>
                  <a:pt x="211943" y="423885"/>
                </a:cubicBezTo>
                <a:lnTo>
                  <a:pt x="211943" y="423885"/>
                </a:lnTo>
                <a:cubicBezTo>
                  <a:pt x="94890" y="423885"/>
                  <a:pt x="0" y="328995"/>
                  <a:pt x="0" y="211943"/>
                </a:cubicBezTo>
                <a:lnTo>
                  <a:pt x="0" y="211943"/>
                </a:lnTo>
                <a:cubicBezTo>
                  <a:pt x="0" y="94890"/>
                  <a:pt x="94890" y="0"/>
                  <a:pt x="211943" y="0"/>
                </a:cubicBezTo>
                <a:close/>
              </a:path>
            </a:pathLst>
          </a:custGeom>
          <a:solidFill>
            <a:srgbClr val="D69E2E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50"/>
          <p:cNvSpPr/>
          <p:nvPr/>
        </p:nvSpPr>
        <p:spPr>
          <a:xfrm>
            <a:off x="12326782" y="6739776"/>
            <a:ext cx="148360" cy="169554"/>
          </a:xfrm>
          <a:custGeom>
            <a:avLst/>
            <a:gdLst/>
            <a:ahLst/>
            <a:cxnLst/>
            <a:rect l="l" t="t" r="r" b="b"/>
            <a:pathLst>
              <a:path w="148360" h="169554">
                <a:moveTo>
                  <a:pt x="148360" y="68153"/>
                </a:moveTo>
                <a:cubicBezTo>
                  <a:pt x="143459" y="71398"/>
                  <a:pt x="137829" y="74014"/>
                  <a:pt x="131967" y="76101"/>
                </a:cubicBezTo>
                <a:cubicBezTo>
                  <a:pt x="116403" y="81664"/>
                  <a:pt x="95970" y="84777"/>
                  <a:pt x="74180" y="84777"/>
                </a:cubicBezTo>
                <a:cubicBezTo>
                  <a:pt x="52390" y="84777"/>
                  <a:pt x="31924" y="81631"/>
                  <a:pt x="16392" y="76101"/>
                </a:cubicBezTo>
                <a:cubicBezTo>
                  <a:pt x="10564" y="74014"/>
                  <a:pt x="4901" y="71398"/>
                  <a:pt x="0" y="68153"/>
                </a:cubicBezTo>
                <a:lnTo>
                  <a:pt x="0" y="95374"/>
                </a:lnTo>
                <a:cubicBezTo>
                  <a:pt x="0" y="110011"/>
                  <a:pt x="33215" y="121867"/>
                  <a:pt x="74180" y="121867"/>
                </a:cubicBezTo>
                <a:cubicBezTo>
                  <a:pt x="115144" y="121867"/>
                  <a:pt x="148360" y="110011"/>
                  <a:pt x="148360" y="95374"/>
                </a:cubicBezTo>
                <a:lnTo>
                  <a:pt x="148360" y="68153"/>
                </a:lnTo>
                <a:close/>
                <a:moveTo>
                  <a:pt x="148360" y="42389"/>
                </a:moveTo>
                <a:lnTo>
                  <a:pt x="148360" y="26493"/>
                </a:lnTo>
                <a:cubicBezTo>
                  <a:pt x="148360" y="11856"/>
                  <a:pt x="115144" y="0"/>
                  <a:pt x="74180" y="0"/>
                </a:cubicBezTo>
                <a:cubicBezTo>
                  <a:pt x="33215" y="0"/>
                  <a:pt x="0" y="11856"/>
                  <a:pt x="0" y="26493"/>
                </a:cubicBezTo>
                <a:lnTo>
                  <a:pt x="0" y="42389"/>
                </a:lnTo>
                <a:cubicBezTo>
                  <a:pt x="0" y="57026"/>
                  <a:pt x="33215" y="68881"/>
                  <a:pt x="74180" y="68881"/>
                </a:cubicBezTo>
                <a:cubicBezTo>
                  <a:pt x="115144" y="68881"/>
                  <a:pt x="148360" y="57026"/>
                  <a:pt x="148360" y="42389"/>
                </a:cubicBezTo>
                <a:close/>
                <a:moveTo>
                  <a:pt x="131967" y="129086"/>
                </a:moveTo>
                <a:cubicBezTo>
                  <a:pt x="116436" y="134617"/>
                  <a:pt x="96003" y="137763"/>
                  <a:pt x="74180" y="137763"/>
                </a:cubicBezTo>
                <a:cubicBezTo>
                  <a:pt x="52356" y="137763"/>
                  <a:pt x="31924" y="134617"/>
                  <a:pt x="16392" y="129086"/>
                </a:cubicBezTo>
                <a:cubicBezTo>
                  <a:pt x="10564" y="127000"/>
                  <a:pt x="4901" y="124384"/>
                  <a:pt x="0" y="121138"/>
                </a:cubicBezTo>
                <a:lnTo>
                  <a:pt x="0" y="143061"/>
                </a:lnTo>
                <a:cubicBezTo>
                  <a:pt x="0" y="157699"/>
                  <a:pt x="33215" y="169554"/>
                  <a:pt x="74180" y="169554"/>
                </a:cubicBezTo>
                <a:cubicBezTo>
                  <a:pt x="115144" y="169554"/>
                  <a:pt x="148360" y="157699"/>
                  <a:pt x="148360" y="143061"/>
                </a:cubicBezTo>
                <a:lnTo>
                  <a:pt x="148360" y="121138"/>
                </a:lnTo>
                <a:cubicBezTo>
                  <a:pt x="143459" y="124384"/>
                  <a:pt x="137829" y="127000"/>
                  <a:pt x="131967" y="129086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12740070" y="6676193"/>
            <a:ext cx="858368" cy="29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2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公共沉淀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2189020" y="7121272"/>
            <a:ext cx="3306305" cy="2755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5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沉淀通用指标,避免重复计算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12019465" y="7825982"/>
            <a:ext cx="3560636" cy="10597"/>
          </a:xfrm>
          <a:custGeom>
            <a:avLst/>
            <a:gdLst/>
            <a:ahLst/>
            <a:cxnLst/>
            <a:rect l="l" t="t" r="r" b="b"/>
            <a:pathLst>
              <a:path w="3560636" h="10597">
                <a:moveTo>
                  <a:pt x="0" y="0"/>
                </a:moveTo>
                <a:lnTo>
                  <a:pt x="3560636" y="0"/>
                </a:lnTo>
                <a:lnTo>
                  <a:pt x="3560636" y="10597"/>
                </a:lnTo>
                <a:lnTo>
                  <a:pt x="0" y="10597"/>
                </a:lnTo>
                <a:lnTo>
                  <a:pt x="0" y="0"/>
                </a:ln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Shape 54"/>
          <p:cNvSpPr/>
          <p:nvPr/>
        </p:nvSpPr>
        <p:spPr>
          <a:xfrm>
            <a:off x="12040660" y="8043223"/>
            <a:ext cx="169554" cy="169554"/>
          </a:xfrm>
          <a:custGeom>
            <a:avLst/>
            <a:gdLst/>
            <a:ahLst/>
            <a:cxnLst/>
            <a:rect l="l" t="t" r="r" b="b"/>
            <a:pathLst>
              <a:path w="169554" h="169554">
                <a:moveTo>
                  <a:pt x="47786" y="0"/>
                </a:moveTo>
                <a:lnTo>
                  <a:pt x="121966" y="0"/>
                </a:lnTo>
                <a:cubicBezTo>
                  <a:pt x="130742" y="0"/>
                  <a:pt x="137895" y="7219"/>
                  <a:pt x="137564" y="15962"/>
                </a:cubicBezTo>
                <a:cubicBezTo>
                  <a:pt x="137498" y="17717"/>
                  <a:pt x="137432" y="19472"/>
                  <a:pt x="137332" y="21194"/>
                </a:cubicBezTo>
                <a:lnTo>
                  <a:pt x="153758" y="21194"/>
                </a:lnTo>
                <a:cubicBezTo>
                  <a:pt x="162401" y="21194"/>
                  <a:pt x="170018" y="28347"/>
                  <a:pt x="169355" y="37686"/>
                </a:cubicBezTo>
                <a:cubicBezTo>
                  <a:pt x="166872" y="72027"/>
                  <a:pt x="149320" y="90904"/>
                  <a:pt x="130278" y="100772"/>
                </a:cubicBezTo>
                <a:cubicBezTo>
                  <a:pt x="125046" y="103488"/>
                  <a:pt x="119714" y="105508"/>
                  <a:pt x="114648" y="106998"/>
                </a:cubicBezTo>
                <a:cubicBezTo>
                  <a:pt x="107958" y="116469"/>
                  <a:pt x="101004" y="121470"/>
                  <a:pt x="95474" y="124152"/>
                </a:cubicBezTo>
                <a:lnTo>
                  <a:pt x="95474" y="148360"/>
                </a:lnTo>
                <a:lnTo>
                  <a:pt x="116668" y="148360"/>
                </a:lnTo>
                <a:cubicBezTo>
                  <a:pt x="122529" y="148360"/>
                  <a:pt x="127265" y="153095"/>
                  <a:pt x="127265" y="158957"/>
                </a:cubicBezTo>
                <a:cubicBezTo>
                  <a:pt x="127265" y="164819"/>
                  <a:pt x="122529" y="169554"/>
                  <a:pt x="116668" y="169554"/>
                </a:cubicBezTo>
                <a:lnTo>
                  <a:pt x="53085" y="169554"/>
                </a:lnTo>
                <a:cubicBezTo>
                  <a:pt x="47223" y="169554"/>
                  <a:pt x="42488" y="164819"/>
                  <a:pt x="42488" y="158957"/>
                </a:cubicBezTo>
                <a:cubicBezTo>
                  <a:pt x="42488" y="153095"/>
                  <a:pt x="47223" y="148360"/>
                  <a:pt x="53085" y="148360"/>
                </a:cubicBezTo>
                <a:lnTo>
                  <a:pt x="74279" y="148360"/>
                </a:lnTo>
                <a:lnTo>
                  <a:pt x="74279" y="124152"/>
                </a:lnTo>
                <a:cubicBezTo>
                  <a:pt x="68981" y="121602"/>
                  <a:pt x="62391" y="116866"/>
                  <a:pt x="55966" y="108157"/>
                </a:cubicBezTo>
                <a:cubicBezTo>
                  <a:pt x="49873" y="106567"/>
                  <a:pt x="43250" y="104150"/>
                  <a:pt x="36792" y="100507"/>
                </a:cubicBezTo>
                <a:cubicBezTo>
                  <a:pt x="18876" y="90473"/>
                  <a:pt x="2716" y="71564"/>
                  <a:pt x="397" y="37620"/>
                </a:cubicBezTo>
                <a:cubicBezTo>
                  <a:pt x="-232" y="28314"/>
                  <a:pt x="7352" y="21161"/>
                  <a:pt x="15995" y="21161"/>
                </a:cubicBezTo>
                <a:lnTo>
                  <a:pt x="32421" y="21161"/>
                </a:lnTo>
                <a:cubicBezTo>
                  <a:pt x="32321" y="19439"/>
                  <a:pt x="32255" y="17717"/>
                  <a:pt x="32189" y="15929"/>
                </a:cubicBezTo>
                <a:cubicBezTo>
                  <a:pt x="31858" y="7153"/>
                  <a:pt x="39011" y="-33"/>
                  <a:pt x="47786" y="-33"/>
                </a:cubicBezTo>
                <a:close/>
                <a:moveTo>
                  <a:pt x="33613" y="37090"/>
                </a:moveTo>
                <a:lnTo>
                  <a:pt x="16260" y="37090"/>
                </a:lnTo>
                <a:cubicBezTo>
                  <a:pt x="18313" y="65139"/>
                  <a:pt x="31195" y="79180"/>
                  <a:pt x="44475" y="86632"/>
                </a:cubicBezTo>
                <a:cubicBezTo>
                  <a:pt x="39706" y="74279"/>
                  <a:pt x="35765" y="58152"/>
                  <a:pt x="33613" y="37090"/>
                </a:cubicBezTo>
                <a:close/>
                <a:moveTo>
                  <a:pt x="125841" y="85042"/>
                </a:moveTo>
                <a:cubicBezTo>
                  <a:pt x="139253" y="77160"/>
                  <a:pt x="151373" y="63152"/>
                  <a:pt x="153427" y="37090"/>
                </a:cubicBezTo>
                <a:lnTo>
                  <a:pt x="136107" y="37090"/>
                </a:lnTo>
                <a:cubicBezTo>
                  <a:pt x="134054" y="57258"/>
                  <a:pt x="130345" y="72922"/>
                  <a:pt x="125841" y="85042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12316185" y="8000834"/>
            <a:ext cx="762993" cy="254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核心价值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2019465" y="8339943"/>
            <a:ext cx="3645413" cy="55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5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DWS是性能优化的关键层,通过预计算和沉淀,大幅提升查询效率。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8839" y="436989"/>
            <a:ext cx="1824430" cy="349591"/>
          </a:xfrm>
          <a:custGeom>
            <a:avLst/>
            <a:gdLst/>
            <a:ahLst/>
            <a:cxnLst/>
            <a:rect l="l" t="t" r="r" b="b"/>
            <a:pathLst>
              <a:path w="1824430" h="349591">
                <a:moveTo>
                  <a:pt x="0" y="0"/>
                </a:moveTo>
                <a:lnTo>
                  <a:pt x="1824430" y="0"/>
                </a:lnTo>
                <a:lnTo>
                  <a:pt x="1824430" y="349591"/>
                </a:lnTo>
                <a:lnTo>
                  <a:pt x="0" y="349591"/>
                </a:lnTo>
                <a:lnTo>
                  <a:pt x="0" y="0"/>
                </a:lnTo>
                <a:close/>
              </a:path>
            </a:pathLst>
          </a:custGeom>
          <a:solidFill>
            <a:srgbClr val="D69E2E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458839" y="436989"/>
            <a:ext cx="43699" cy="349591"/>
          </a:xfrm>
          <a:custGeom>
            <a:avLst/>
            <a:gdLst/>
            <a:ahLst/>
            <a:cxnLst/>
            <a:rect l="l" t="t" r="r" b="b"/>
            <a:pathLst>
              <a:path w="43699" h="349591">
                <a:moveTo>
                  <a:pt x="0" y="0"/>
                </a:moveTo>
                <a:lnTo>
                  <a:pt x="43699" y="0"/>
                </a:lnTo>
                <a:lnTo>
                  <a:pt x="43699" y="349591"/>
                </a:lnTo>
                <a:lnTo>
                  <a:pt x="0" y="349591"/>
                </a:lnTo>
                <a:lnTo>
                  <a:pt x="0" y="0"/>
                </a:ln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655484" y="497075"/>
            <a:ext cx="1544740" cy="229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6" b="1" kern="0" spc="69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LAYER 04 · ADS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36989" y="873978"/>
            <a:ext cx="15578667" cy="436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97" b="1" dirty="0">
                <a:solidFill>
                  <a:srgbClr val="E2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ADS层：精致摆盘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8839" y="1529462"/>
            <a:ext cx="10902882" cy="1289118"/>
          </a:xfrm>
          <a:custGeom>
            <a:avLst/>
            <a:gdLst/>
            <a:ahLst/>
            <a:cxnLst/>
            <a:rect l="l" t="t" r="r" b="b"/>
            <a:pathLst>
              <a:path w="10902882" h="1289118">
                <a:moveTo>
                  <a:pt x="43699" y="0"/>
                </a:moveTo>
                <a:lnTo>
                  <a:pt x="10815480" y="0"/>
                </a:lnTo>
                <a:cubicBezTo>
                  <a:pt x="10863750" y="0"/>
                  <a:pt x="10902882" y="39131"/>
                  <a:pt x="10902882" y="87402"/>
                </a:cubicBezTo>
                <a:lnTo>
                  <a:pt x="10902882" y="1201716"/>
                </a:lnTo>
                <a:cubicBezTo>
                  <a:pt x="10902882" y="1249987"/>
                  <a:pt x="10863750" y="1289118"/>
                  <a:pt x="10815480" y="1289118"/>
                </a:cubicBezTo>
                <a:lnTo>
                  <a:pt x="43699" y="1289118"/>
                </a:lnTo>
                <a:cubicBezTo>
                  <a:pt x="19565" y="1289118"/>
                  <a:pt x="0" y="1269554"/>
                  <a:pt x="0" y="1245419"/>
                </a:cubicBezTo>
                <a:lnTo>
                  <a:pt x="0" y="43699"/>
                </a:lnTo>
                <a:cubicBezTo>
                  <a:pt x="0" y="19565"/>
                  <a:pt x="19565" y="0"/>
                  <a:pt x="43699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58839" y="1529462"/>
            <a:ext cx="43699" cy="1289118"/>
          </a:xfrm>
          <a:custGeom>
            <a:avLst/>
            <a:gdLst/>
            <a:ahLst/>
            <a:cxnLst/>
            <a:rect l="l" t="t" r="r" b="b"/>
            <a:pathLst>
              <a:path w="43699" h="1289118">
                <a:moveTo>
                  <a:pt x="43699" y="0"/>
                </a:moveTo>
                <a:lnTo>
                  <a:pt x="43699" y="0"/>
                </a:lnTo>
                <a:lnTo>
                  <a:pt x="43699" y="1289118"/>
                </a:lnTo>
                <a:lnTo>
                  <a:pt x="43699" y="1289118"/>
                </a:lnTo>
                <a:cubicBezTo>
                  <a:pt x="19565" y="1289118"/>
                  <a:pt x="0" y="1269554"/>
                  <a:pt x="0" y="1245419"/>
                </a:cubicBezTo>
                <a:lnTo>
                  <a:pt x="0" y="43699"/>
                </a:lnTo>
                <a:cubicBezTo>
                  <a:pt x="0" y="19565"/>
                  <a:pt x="19565" y="0"/>
                  <a:pt x="43699" y="0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742882" y="1791656"/>
            <a:ext cx="699183" cy="699183"/>
          </a:xfrm>
          <a:custGeom>
            <a:avLst/>
            <a:gdLst/>
            <a:ahLst/>
            <a:cxnLst/>
            <a:rect l="l" t="t" r="r" b="b"/>
            <a:pathLst>
              <a:path w="699183" h="699183">
                <a:moveTo>
                  <a:pt x="43699" y="0"/>
                </a:moveTo>
                <a:lnTo>
                  <a:pt x="655484" y="0"/>
                </a:lnTo>
                <a:cubicBezTo>
                  <a:pt x="679618" y="0"/>
                  <a:pt x="699183" y="19565"/>
                  <a:pt x="699183" y="43699"/>
                </a:cubicBezTo>
                <a:lnTo>
                  <a:pt x="699183" y="655484"/>
                </a:lnTo>
                <a:cubicBezTo>
                  <a:pt x="699183" y="679618"/>
                  <a:pt x="679618" y="699183"/>
                  <a:pt x="655484" y="699183"/>
                </a:cubicBezTo>
                <a:lnTo>
                  <a:pt x="43699" y="699183"/>
                </a:lnTo>
                <a:cubicBezTo>
                  <a:pt x="19565" y="699183"/>
                  <a:pt x="0" y="679618"/>
                  <a:pt x="0" y="655484"/>
                </a:cubicBezTo>
                <a:lnTo>
                  <a:pt x="0" y="43699"/>
                </a:lnTo>
                <a:cubicBezTo>
                  <a:pt x="0" y="19565"/>
                  <a:pt x="19565" y="0"/>
                  <a:pt x="43699" y="0"/>
                </a:cubicBezTo>
                <a:close/>
              </a:path>
            </a:pathLst>
          </a:custGeom>
          <a:solidFill>
            <a:srgbClr val="D69E2E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961376" y="2010151"/>
            <a:ext cx="262194" cy="262194"/>
          </a:xfrm>
          <a:custGeom>
            <a:avLst/>
            <a:gdLst/>
            <a:ahLst/>
            <a:cxnLst/>
            <a:rect l="l" t="t" r="r" b="b"/>
            <a:pathLst>
              <a:path w="262194" h="262194">
                <a:moveTo>
                  <a:pt x="32723" y="7374"/>
                </a:moveTo>
                <a:cubicBezTo>
                  <a:pt x="32313" y="3175"/>
                  <a:pt x="28780" y="0"/>
                  <a:pt x="24581" y="0"/>
                </a:cubicBezTo>
                <a:cubicBezTo>
                  <a:pt x="20381" y="0"/>
                  <a:pt x="16848" y="3175"/>
                  <a:pt x="16387" y="7323"/>
                </a:cubicBezTo>
                <a:lnTo>
                  <a:pt x="9167" y="76661"/>
                </a:lnTo>
                <a:cubicBezTo>
                  <a:pt x="8501" y="79733"/>
                  <a:pt x="8194" y="82857"/>
                  <a:pt x="8194" y="85981"/>
                </a:cubicBezTo>
                <a:cubicBezTo>
                  <a:pt x="8194" y="109486"/>
                  <a:pt x="26168" y="128792"/>
                  <a:pt x="49161" y="130892"/>
                </a:cubicBezTo>
                <a:lnTo>
                  <a:pt x="49161" y="245806"/>
                </a:lnTo>
                <a:cubicBezTo>
                  <a:pt x="49161" y="254871"/>
                  <a:pt x="56484" y="262194"/>
                  <a:pt x="65548" y="262194"/>
                </a:cubicBezTo>
                <a:cubicBezTo>
                  <a:pt x="74612" y="262194"/>
                  <a:pt x="81935" y="254871"/>
                  <a:pt x="81935" y="245806"/>
                </a:cubicBezTo>
                <a:lnTo>
                  <a:pt x="81935" y="130892"/>
                </a:lnTo>
                <a:cubicBezTo>
                  <a:pt x="104929" y="128792"/>
                  <a:pt x="122903" y="109486"/>
                  <a:pt x="122903" y="85981"/>
                </a:cubicBezTo>
                <a:cubicBezTo>
                  <a:pt x="122903" y="82857"/>
                  <a:pt x="122596" y="79733"/>
                  <a:pt x="121930" y="76661"/>
                </a:cubicBezTo>
                <a:lnTo>
                  <a:pt x="114658" y="7323"/>
                </a:lnTo>
                <a:cubicBezTo>
                  <a:pt x="114249" y="3175"/>
                  <a:pt x="110715" y="0"/>
                  <a:pt x="106516" y="0"/>
                </a:cubicBezTo>
                <a:cubicBezTo>
                  <a:pt x="102317" y="0"/>
                  <a:pt x="98783" y="3175"/>
                  <a:pt x="98374" y="7374"/>
                </a:cubicBezTo>
                <a:lnTo>
                  <a:pt x="91409" y="76763"/>
                </a:lnTo>
                <a:cubicBezTo>
                  <a:pt x="91102" y="79682"/>
                  <a:pt x="88644" y="81935"/>
                  <a:pt x="85725" y="81935"/>
                </a:cubicBezTo>
                <a:cubicBezTo>
                  <a:pt x="82755" y="81935"/>
                  <a:pt x="80297" y="79682"/>
                  <a:pt x="79990" y="76712"/>
                </a:cubicBezTo>
                <a:lnTo>
                  <a:pt x="73691" y="7477"/>
                </a:lnTo>
                <a:cubicBezTo>
                  <a:pt x="73332" y="3226"/>
                  <a:pt x="69799" y="0"/>
                  <a:pt x="65548" y="0"/>
                </a:cubicBezTo>
                <a:cubicBezTo>
                  <a:pt x="61298" y="0"/>
                  <a:pt x="57765" y="3226"/>
                  <a:pt x="57406" y="7477"/>
                </a:cubicBezTo>
                <a:lnTo>
                  <a:pt x="51107" y="76712"/>
                </a:lnTo>
                <a:cubicBezTo>
                  <a:pt x="50851" y="79682"/>
                  <a:pt x="48342" y="81935"/>
                  <a:pt x="45372" y="81935"/>
                </a:cubicBezTo>
                <a:cubicBezTo>
                  <a:pt x="42402" y="81935"/>
                  <a:pt x="39944" y="79682"/>
                  <a:pt x="39688" y="76763"/>
                </a:cubicBezTo>
                <a:lnTo>
                  <a:pt x="32723" y="7374"/>
                </a:lnTo>
                <a:close/>
                <a:moveTo>
                  <a:pt x="229419" y="0"/>
                </a:moveTo>
                <a:cubicBezTo>
                  <a:pt x="221226" y="0"/>
                  <a:pt x="163871" y="16387"/>
                  <a:pt x="163871" y="90129"/>
                </a:cubicBezTo>
                <a:lnTo>
                  <a:pt x="163871" y="147484"/>
                </a:lnTo>
                <a:cubicBezTo>
                  <a:pt x="163871" y="165561"/>
                  <a:pt x="178568" y="180258"/>
                  <a:pt x="196645" y="180258"/>
                </a:cubicBezTo>
                <a:lnTo>
                  <a:pt x="213032" y="180258"/>
                </a:lnTo>
                <a:lnTo>
                  <a:pt x="213032" y="245806"/>
                </a:lnTo>
                <a:cubicBezTo>
                  <a:pt x="213032" y="254871"/>
                  <a:pt x="220355" y="262194"/>
                  <a:pt x="229419" y="262194"/>
                </a:cubicBezTo>
                <a:cubicBezTo>
                  <a:pt x="238483" y="262194"/>
                  <a:pt x="245806" y="254871"/>
                  <a:pt x="245806" y="245806"/>
                </a:cubicBezTo>
                <a:lnTo>
                  <a:pt x="245806" y="16387"/>
                </a:lnTo>
                <a:cubicBezTo>
                  <a:pt x="245806" y="7323"/>
                  <a:pt x="238483" y="0"/>
                  <a:pt x="229419" y="0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616860" y="1791656"/>
            <a:ext cx="9613763" cy="349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65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动作：定制成品输出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16860" y="2272344"/>
            <a:ext cx="9570065" cy="284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76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淋上</a:t>
            </a:r>
            <a:r>
              <a:rPr lang="en-US" sz="1376" dirty="0">
                <a:solidFill>
                  <a:srgbClr val="D69E2E"/>
                </a:solidFill>
                <a:highlight>
                  <a:srgbClr val="D69E2E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番茄酱的薯条、撒上葱花的鱼汤 </a:t>
            </a:r>
            <a:r>
              <a:rPr lang="en-US" sz="1376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,端到具体的餐桌(CEO、财务、运营)上。根据客人的具体口味提供最终成品。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8839" y="3037075"/>
            <a:ext cx="10902882" cy="1682409"/>
          </a:xfrm>
          <a:custGeom>
            <a:avLst/>
            <a:gdLst/>
            <a:ahLst/>
            <a:cxnLst/>
            <a:rect l="l" t="t" r="r" b="b"/>
            <a:pathLst>
              <a:path w="10902882" h="1682409">
                <a:moveTo>
                  <a:pt x="43699" y="0"/>
                </a:moveTo>
                <a:lnTo>
                  <a:pt x="10815481" y="0"/>
                </a:lnTo>
                <a:cubicBezTo>
                  <a:pt x="10863751" y="0"/>
                  <a:pt x="10902882" y="39131"/>
                  <a:pt x="10902882" y="87401"/>
                </a:cubicBezTo>
                <a:lnTo>
                  <a:pt x="10902882" y="1595007"/>
                </a:lnTo>
                <a:cubicBezTo>
                  <a:pt x="10902882" y="1643278"/>
                  <a:pt x="10863751" y="1682409"/>
                  <a:pt x="10815481" y="1682409"/>
                </a:cubicBezTo>
                <a:lnTo>
                  <a:pt x="43699" y="1682409"/>
                </a:lnTo>
                <a:cubicBezTo>
                  <a:pt x="19565" y="1682409"/>
                  <a:pt x="0" y="1662844"/>
                  <a:pt x="0" y="1638710"/>
                </a:cubicBezTo>
                <a:lnTo>
                  <a:pt x="0" y="43699"/>
                </a:lnTo>
                <a:cubicBezTo>
                  <a:pt x="0" y="19581"/>
                  <a:pt x="19581" y="0"/>
                  <a:pt x="43699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458839" y="3037075"/>
            <a:ext cx="43699" cy="1682409"/>
          </a:xfrm>
          <a:custGeom>
            <a:avLst/>
            <a:gdLst/>
            <a:ahLst/>
            <a:cxnLst/>
            <a:rect l="l" t="t" r="r" b="b"/>
            <a:pathLst>
              <a:path w="43699" h="1682409">
                <a:moveTo>
                  <a:pt x="43699" y="0"/>
                </a:moveTo>
                <a:lnTo>
                  <a:pt x="43699" y="0"/>
                </a:lnTo>
                <a:lnTo>
                  <a:pt x="43699" y="1682409"/>
                </a:lnTo>
                <a:lnTo>
                  <a:pt x="43699" y="1682409"/>
                </a:lnTo>
                <a:cubicBezTo>
                  <a:pt x="19565" y="1682409"/>
                  <a:pt x="0" y="1662844"/>
                  <a:pt x="0" y="1638710"/>
                </a:cubicBezTo>
                <a:lnTo>
                  <a:pt x="0" y="43699"/>
                </a:lnTo>
                <a:cubicBezTo>
                  <a:pt x="0" y="19565"/>
                  <a:pt x="19565" y="0"/>
                  <a:pt x="43699" y="0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742882" y="3299269"/>
            <a:ext cx="699183" cy="699183"/>
          </a:xfrm>
          <a:custGeom>
            <a:avLst/>
            <a:gdLst/>
            <a:ahLst/>
            <a:cxnLst/>
            <a:rect l="l" t="t" r="r" b="b"/>
            <a:pathLst>
              <a:path w="699183" h="699183">
                <a:moveTo>
                  <a:pt x="43699" y="0"/>
                </a:moveTo>
                <a:lnTo>
                  <a:pt x="655484" y="0"/>
                </a:lnTo>
                <a:cubicBezTo>
                  <a:pt x="679618" y="0"/>
                  <a:pt x="699183" y="19565"/>
                  <a:pt x="699183" y="43699"/>
                </a:cubicBezTo>
                <a:lnTo>
                  <a:pt x="699183" y="655484"/>
                </a:lnTo>
                <a:cubicBezTo>
                  <a:pt x="699183" y="679618"/>
                  <a:pt x="679618" y="699183"/>
                  <a:pt x="655484" y="699183"/>
                </a:cubicBezTo>
                <a:lnTo>
                  <a:pt x="43699" y="699183"/>
                </a:lnTo>
                <a:cubicBezTo>
                  <a:pt x="19565" y="699183"/>
                  <a:pt x="0" y="679618"/>
                  <a:pt x="0" y="655484"/>
                </a:cubicBezTo>
                <a:lnTo>
                  <a:pt x="0" y="43699"/>
                </a:lnTo>
                <a:cubicBezTo>
                  <a:pt x="0" y="19565"/>
                  <a:pt x="19565" y="0"/>
                  <a:pt x="43699" y="0"/>
                </a:cubicBezTo>
                <a:close/>
              </a:path>
            </a:pathLst>
          </a:custGeom>
          <a:solidFill>
            <a:srgbClr val="D69E2E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928602" y="3517763"/>
            <a:ext cx="327742" cy="262194"/>
          </a:xfrm>
          <a:custGeom>
            <a:avLst/>
            <a:gdLst/>
            <a:ahLst/>
            <a:cxnLst/>
            <a:rect l="l" t="t" r="r" b="b"/>
            <a:pathLst>
              <a:path w="327742" h="262194">
                <a:moveTo>
                  <a:pt x="69645" y="65548"/>
                </a:moveTo>
                <a:cubicBezTo>
                  <a:pt x="69645" y="31632"/>
                  <a:pt x="97181" y="4097"/>
                  <a:pt x="131097" y="4097"/>
                </a:cubicBezTo>
                <a:cubicBezTo>
                  <a:pt x="165013" y="4097"/>
                  <a:pt x="192548" y="31632"/>
                  <a:pt x="192548" y="65548"/>
                </a:cubicBezTo>
                <a:cubicBezTo>
                  <a:pt x="192548" y="99464"/>
                  <a:pt x="165013" y="127000"/>
                  <a:pt x="131097" y="127000"/>
                </a:cubicBezTo>
                <a:cubicBezTo>
                  <a:pt x="97181" y="127000"/>
                  <a:pt x="69645" y="99464"/>
                  <a:pt x="69645" y="65548"/>
                </a:cubicBezTo>
                <a:close/>
                <a:moveTo>
                  <a:pt x="24581" y="246984"/>
                </a:moveTo>
                <a:cubicBezTo>
                  <a:pt x="24581" y="196543"/>
                  <a:pt x="65446" y="155677"/>
                  <a:pt x="115888" y="155677"/>
                </a:cubicBezTo>
                <a:lnTo>
                  <a:pt x="146306" y="155677"/>
                </a:lnTo>
                <a:cubicBezTo>
                  <a:pt x="196748" y="155677"/>
                  <a:pt x="237613" y="196543"/>
                  <a:pt x="237613" y="246984"/>
                </a:cubicBezTo>
                <a:cubicBezTo>
                  <a:pt x="237613" y="255383"/>
                  <a:pt x="230802" y="262194"/>
                  <a:pt x="222404" y="262194"/>
                </a:cubicBezTo>
                <a:lnTo>
                  <a:pt x="39790" y="262194"/>
                </a:lnTo>
                <a:cubicBezTo>
                  <a:pt x="31392" y="262194"/>
                  <a:pt x="24581" y="255383"/>
                  <a:pt x="24581" y="246984"/>
                </a:cubicBezTo>
                <a:close/>
                <a:moveTo>
                  <a:pt x="313608" y="67955"/>
                </a:moveTo>
                <a:lnTo>
                  <a:pt x="272640" y="133504"/>
                </a:lnTo>
                <a:cubicBezTo>
                  <a:pt x="270490" y="136935"/>
                  <a:pt x="266802" y="139085"/>
                  <a:pt x="262757" y="139290"/>
                </a:cubicBezTo>
                <a:cubicBezTo>
                  <a:pt x="258711" y="139495"/>
                  <a:pt x="254819" y="137652"/>
                  <a:pt x="252413" y="134374"/>
                </a:cubicBezTo>
                <a:lnTo>
                  <a:pt x="227832" y="101600"/>
                </a:lnTo>
                <a:cubicBezTo>
                  <a:pt x="223735" y="96172"/>
                  <a:pt x="224862" y="88490"/>
                  <a:pt x="230290" y="84394"/>
                </a:cubicBezTo>
                <a:cubicBezTo>
                  <a:pt x="235718" y="80297"/>
                  <a:pt x="243400" y="81423"/>
                  <a:pt x="247496" y="86852"/>
                </a:cubicBezTo>
                <a:lnTo>
                  <a:pt x="261323" y="105287"/>
                </a:lnTo>
                <a:lnTo>
                  <a:pt x="292766" y="54948"/>
                </a:lnTo>
                <a:cubicBezTo>
                  <a:pt x="296350" y="49213"/>
                  <a:pt x="303929" y="47420"/>
                  <a:pt x="309716" y="51056"/>
                </a:cubicBezTo>
                <a:cubicBezTo>
                  <a:pt x="315503" y="54692"/>
                  <a:pt x="317244" y="62220"/>
                  <a:pt x="313608" y="68006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1616860" y="3299269"/>
            <a:ext cx="9613763" cy="349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65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原则：按需定制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16860" y="3779957"/>
            <a:ext cx="9570065" cy="284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76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根据客人的具体口味提供最终成品,只呈现结果,隐藏复杂的加工过程。CEO看核心指标,财务看收入数据,运营看用户数据。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638710" y="4238796"/>
            <a:ext cx="174796" cy="174796"/>
          </a:xfrm>
          <a:custGeom>
            <a:avLst/>
            <a:gdLst/>
            <a:ahLst/>
            <a:cxnLst/>
            <a:rect l="l" t="t" r="r" b="b"/>
            <a:pathLst>
              <a:path w="174796" h="174796">
                <a:moveTo>
                  <a:pt x="87398" y="174796"/>
                </a:moveTo>
                <a:cubicBezTo>
                  <a:pt x="135634" y="174796"/>
                  <a:pt x="174796" y="135634"/>
                  <a:pt x="174796" y="87398"/>
                </a:cubicBezTo>
                <a:cubicBezTo>
                  <a:pt x="174796" y="39162"/>
                  <a:pt x="135634" y="0"/>
                  <a:pt x="87398" y="0"/>
                </a:cubicBezTo>
                <a:cubicBezTo>
                  <a:pt x="39162" y="0"/>
                  <a:pt x="0" y="39162"/>
                  <a:pt x="0" y="87398"/>
                </a:cubicBezTo>
                <a:cubicBezTo>
                  <a:pt x="0" y="135634"/>
                  <a:pt x="39162" y="174796"/>
                  <a:pt x="87398" y="174796"/>
                </a:cubicBezTo>
                <a:close/>
                <a:moveTo>
                  <a:pt x="116212" y="72615"/>
                </a:moveTo>
                <a:lnTo>
                  <a:pt x="88900" y="116314"/>
                </a:lnTo>
                <a:cubicBezTo>
                  <a:pt x="87466" y="118602"/>
                  <a:pt x="85008" y="120035"/>
                  <a:pt x="82311" y="120172"/>
                </a:cubicBezTo>
                <a:cubicBezTo>
                  <a:pt x="79614" y="120309"/>
                  <a:pt x="77019" y="119080"/>
                  <a:pt x="75415" y="116895"/>
                </a:cubicBezTo>
                <a:lnTo>
                  <a:pt x="59028" y="95045"/>
                </a:lnTo>
                <a:cubicBezTo>
                  <a:pt x="56297" y="91426"/>
                  <a:pt x="57048" y="86305"/>
                  <a:pt x="60666" y="83574"/>
                </a:cubicBezTo>
                <a:cubicBezTo>
                  <a:pt x="64285" y="80843"/>
                  <a:pt x="69406" y="81594"/>
                  <a:pt x="72137" y="85213"/>
                </a:cubicBezTo>
                <a:lnTo>
                  <a:pt x="81355" y="97503"/>
                </a:lnTo>
                <a:lnTo>
                  <a:pt x="102317" y="63944"/>
                </a:lnTo>
                <a:cubicBezTo>
                  <a:pt x="104707" y="60120"/>
                  <a:pt x="109759" y="58925"/>
                  <a:pt x="113617" y="61349"/>
                </a:cubicBezTo>
                <a:cubicBezTo>
                  <a:pt x="117475" y="63773"/>
                  <a:pt x="118636" y="68792"/>
                  <a:pt x="116212" y="72649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1922753" y="4195097"/>
            <a:ext cx="2010151" cy="262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6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这是提升用户体验的关键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36989" y="4937978"/>
            <a:ext cx="5374968" cy="1835355"/>
          </a:xfrm>
          <a:custGeom>
            <a:avLst/>
            <a:gdLst/>
            <a:ahLst/>
            <a:cxnLst/>
            <a:rect l="l" t="t" r="r" b="b"/>
            <a:pathLst>
              <a:path w="5374968" h="1835355">
                <a:moveTo>
                  <a:pt x="87400" y="0"/>
                </a:moveTo>
                <a:lnTo>
                  <a:pt x="5287568" y="0"/>
                </a:lnTo>
                <a:cubicBezTo>
                  <a:pt x="5335838" y="0"/>
                  <a:pt x="5374968" y="39130"/>
                  <a:pt x="5374968" y="87400"/>
                </a:cubicBezTo>
                <a:lnTo>
                  <a:pt x="5374968" y="1747955"/>
                </a:lnTo>
                <a:cubicBezTo>
                  <a:pt x="5374968" y="1796225"/>
                  <a:pt x="5335838" y="1835355"/>
                  <a:pt x="5287568" y="1835355"/>
                </a:cubicBezTo>
                <a:lnTo>
                  <a:pt x="87400" y="1835355"/>
                </a:lnTo>
                <a:cubicBezTo>
                  <a:pt x="39130" y="1835355"/>
                  <a:pt x="0" y="1796225"/>
                  <a:pt x="0" y="1747955"/>
                </a:cubicBezTo>
                <a:lnTo>
                  <a:pt x="0" y="87400"/>
                </a:lnTo>
                <a:cubicBezTo>
                  <a:pt x="0" y="39162"/>
                  <a:pt x="39162" y="0"/>
                  <a:pt x="87400" y="0"/>
                </a:cubicBezTo>
                <a:close/>
              </a:path>
            </a:pathLst>
          </a:custGeom>
          <a:solidFill>
            <a:srgbClr val="2D3748">
              <a:alpha val="4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695086" y="5211097"/>
            <a:ext cx="172065" cy="196645"/>
          </a:xfrm>
          <a:custGeom>
            <a:avLst/>
            <a:gdLst/>
            <a:ahLst/>
            <a:cxnLst/>
            <a:rect l="l" t="t" r="r" b="b"/>
            <a:pathLst>
              <a:path w="172065" h="196645">
                <a:moveTo>
                  <a:pt x="86032" y="95250"/>
                </a:moveTo>
                <a:cubicBezTo>
                  <a:pt x="60595" y="95250"/>
                  <a:pt x="39944" y="74598"/>
                  <a:pt x="39944" y="49161"/>
                </a:cubicBezTo>
                <a:cubicBezTo>
                  <a:pt x="39944" y="23724"/>
                  <a:pt x="60595" y="3073"/>
                  <a:pt x="86032" y="3073"/>
                </a:cubicBezTo>
                <a:cubicBezTo>
                  <a:pt x="111469" y="3073"/>
                  <a:pt x="132121" y="23724"/>
                  <a:pt x="132121" y="49161"/>
                </a:cubicBezTo>
                <a:cubicBezTo>
                  <a:pt x="132121" y="74598"/>
                  <a:pt x="111469" y="95250"/>
                  <a:pt x="86032" y="95250"/>
                </a:cubicBezTo>
                <a:close/>
                <a:moveTo>
                  <a:pt x="74318" y="116758"/>
                </a:moveTo>
                <a:lnTo>
                  <a:pt x="97746" y="116758"/>
                </a:lnTo>
                <a:cubicBezTo>
                  <a:pt x="101472" y="116758"/>
                  <a:pt x="104468" y="119754"/>
                  <a:pt x="104468" y="123479"/>
                </a:cubicBezTo>
                <a:cubicBezTo>
                  <a:pt x="104468" y="125092"/>
                  <a:pt x="103892" y="126629"/>
                  <a:pt x="102855" y="127858"/>
                </a:cubicBezTo>
                <a:lnTo>
                  <a:pt x="92331" y="140148"/>
                </a:lnTo>
                <a:lnTo>
                  <a:pt x="104237" y="184355"/>
                </a:lnTo>
                <a:lnTo>
                  <a:pt x="104468" y="184355"/>
                </a:lnTo>
                <a:lnTo>
                  <a:pt x="117757" y="131161"/>
                </a:lnTo>
                <a:cubicBezTo>
                  <a:pt x="118602" y="127819"/>
                  <a:pt x="122020" y="125784"/>
                  <a:pt x="125246" y="127013"/>
                </a:cubicBezTo>
                <a:cubicBezTo>
                  <a:pt x="149020" y="136077"/>
                  <a:pt x="165919" y="159121"/>
                  <a:pt x="165919" y="186083"/>
                </a:cubicBezTo>
                <a:cubicBezTo>
                  <a:pt x="165919" y="191883"/>
                  <a:pt x="161195" y="196607"/>
                  <a:pt x="155396" y="196607"/>
                </a:cubicBezTo>
                <a:lnTo>
                  <a:pt x="16669" y="196645"/>
                </a:lnTo>
                <a:cubicBezTo>
                  <a:pt x="10869" y="196645"/>
                  <a:pt x="6145" y="191921"/>
                  <a:pt x="6145" y="186122"/>
                </a:cubicBezTo>
                <a:cubicBezTo>
                  <a:pt x="6145" y="159160"/>
                  <a:pt x="23044" y="136115"/>
                  <a:pt x="46818" y="127051"/>
                </a:cubicBezTo>
                <a:cubicBezTo>
                  <a:pt x="50045" y="125822"/>
                  <a:pt x="53463" y="127858"/>
                  <a:pt x="54308" y="131199"/>
                </a:cubicBezTo>
                <a:lnTo>
                  <a:pt x="67597" y="184393"/>
                </a:lnTo>
                <a:lnTo>
                  <a:pt x="67827" y="184393"/>
                </a:lnTo>
                <a:lnTo>
                  <a:pt x="79733" y="140186"/>
                </a:lnTo>
                <a:lnTo>
                  <a:pt x="69210" y="127896"/>
                </a:lnTo>
                <a:cubicBezTo>
                  <a:pt x="68173" y="126667"/>
                  <a:pt x="67597" y="125131"/>
                  <a:pt x="67597" y="123518"/>
                </a:cubicBezTo>
                <a:cubicBezTo>
                  <a:pt x="67597" y="119792"/>
                  <a:pt x="70593" y="116796"/>
                  <a:pt x="74318" y="116796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906753" y="5156473"/>
            <a:ext cx="4785032" cy="305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8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不同用户不同视图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5484" y="5593462"/>
            <a:ext cx="5025376" cy="262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6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CEO:核心经营指标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5484" y="5943054"/>
            <a:ext cx="5025376" cy="262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6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财务:收入成本分析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55484" y="6292645"/>
            <a:ext cx="5025376" cy="262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6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运营:用户行为数据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986753" y="4937978"/>
            <a:ext cx="5374968" cy="1835355"/>
          </a:xfrm>
          <a:custGeom>
            <a:avLst/>
            <a:gdLst/>
            <a:ahLst/>
            <a:cxnLst/>
            <a:rect l="l" t="t" r="r" b="b"/>
            <a:pathLst>
              <a:path w="5374968" h="1835355">
                <a:moveTo>
                  <a:pt x="87400" y="0"/>
                </a:moveTo>
                <a:lnTo>
                  <a:pt x="5287568" y="0"/>
                </a:lnTo>
                <a:cubicBezTo>
                  <a:pt x="5335838" y="0"/>
                  <a:pt x="5374968" y="39130"/>
                  <a:pt x="5374968" y="87400"/>
                </a:cubicBezTo>
                <a:lnTo>
                  <a:pt x="5374968" y="1747955"/>
                </a:lnTo>
                <a:cubicBezTo>
                  <a:pt x="5374968" y="1796225"/>
                  <a:pt x="5335838" y="1835355"/>
                  <a:pt x="5287568" y="1835355"/>
                </a:cubicBezTo>
                <a:lnTo>
                  <a:pt x="87400" y="1835355"/>
                </a:lnTo>
                <a:cubicBezTo>
                  <a:pt x="39130" y="1835355"/>
                  <a:pt x="0" y="1796225"/>
                  <a:pt x="0" y="1747955"/>
                </a:cubicBezTo>
                <a:lnTo>
                  <a:pt x="0" y="87400"/>
                </a:lnTo>
                <a:cubicBezTo>
                  <a:pt x="0" y="39162"/>
                  <a:pt x="39162" y="0"/>
                  <a:pt x="87400" y="0"/>
                </a:cubicBezTo>
                <a:close/>
              </a:path>
            </a:pathLst>
          </a:custGeom>
          <a:solidFill>
            <a:srgbClr val="2D3748">
              <a:alpha val="4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6220269" y="5211097"/>
            <a:ext cx="221226" cy="196645"/>
          </a:xfrm>
          <a:custGeom>
            <a:avLst/>
            <a:gdLst/>
            <a:ahLst/>
            <a:cxnLst/>
            <a:rect l="l" t="t" r="r" b="b"/>
            <a:pathLst>
              <a:path w="221226" h="196645">
                <a:moveTo>
                  <a:pt x="15747" y="-9563"/>
                </a:moveTo>
                <a:cubicBezTo>
                  <a:pt x="12137" y="-13174"/>
                  <a:pt x="6299" y="-13174"/>
                  <a:pt x="2727" y="-9563"/>
                </a:cubicBezTo>
                <a:cubicBezTo>
                  <a:pt x="-845" y="-5953"/>
                  <a:pt x="-883" y="-115"/>
                  <a:pt x="2689" y="3495"/>
                </a:cubicBezTo>
                <a:lnTo>
                  <a:pt x="205479" y="206285"/>
                </a:lnTo>
                <a:cubicBezTo>
                  <a:pt x="209089" y="209896"/>
                  <a:pt x="214927" y="209896"/>
                  <a:pt x="218499" y="206285"/>
                </a:cubicBezTo>
                <a:cubicBezTo>
                  <a:pt x="222071" y="202675"/>
                  <a:pt x="222109" y="196837"/>
                  <a:pt x="218499" y="193265"/>
                </a:cubicBezTo>
                <a:lnTo>
                  <a:pt x="181474" y="156241"/>
                </a:lnTo>
                <a:cubicBezTo>
                  <a:pt x="182511" y="155319"/>
                  <a:pt x="183548" y="154397"/>
                  <a:pt x="184547" y="153475"/>
                </a:cubicBezTo>
                <a:cubicBezTo>
                  <a:pt x="202521" y="136768"/>
                  <a:pt x="214543" y="116835"/>
                  <a:pt x="220266" y="103123"/>
                </a:cubicBezTo>
                <a:cubicBezTo>
                  <a:pt x="221533" y="100089"/>
                  <a:pt x="221533" y="96709"/>
                  <a:pt x="220266" y="93675"/>
                </a:cubicBezTo>
                <a:cubicBezTo>
                  <a:pt x="214543" y="79964"/>
                  <a:pt x="202521" y="59992"/>
                  <a:pt x="184547" y="43323"/>
                </a:cubicBezTo>
                <a:cubicBezTo>
                  <a:pt x="166457" y="26539"/>
                  <a:pt x="141608" y="12367"/>
                  <a:pt x="110574" y="12367"/>
                </a:cubicBezTo>
                <a:cubicBezTo>
                  <a:pt x="88759" y="12367"/>
                  <a:pt x="70016" y="19357"/>
                  <a:pt x="54500" y="29343"/>
                </a:cubicBezTo>
                <a:lnTo>
                  <a:pt x="15747" y="-9563"/>
                </a:lnTo>
                <a:close/>
                <a:moveTo>
                  <a:pt x="78543" y="53271"/>
                </a:moveTo>
                <a:cubicBezTo>
                  <a:pt x="87569" y="46818"/>
                  <a:pt x="98668" y="43016"/>
                  <a:pt x="110613" y="43016"/>
                </a:cubicBezTo>
                <a:cubicBezTo>
                  <a:pt x="141147" y="43016"/>
                  <a:pt x="165919" y="67789"/>
                  <a:pt x="165919" y="98323"/>
                </a:cubicBezTo>
                <a:cubicBezTo>
                  <a:pt x="165919" y="110267"/>
                  <a:pt x="162117" y="121329"/>
                  <a:pt x="155665" y="130393"/>
                </a:cubicBezTo>
                <a:lnTo>
                  <a:pt x="142337" y="117065"/>
                </a:lnTo>
                <a:cubicBezTo>
                  <a:pt x="147215" y="108846"/>
                  <a:pt x="148867" y="98745"/>
                  <a:pt x="146216" y="88759"/>
                </a:cubicBezTo>
                <a:cubicBezTo>
                  <a:pt x="140955" y="69095"/>
                  <a:pt x="120714" y="57419"/>
                  <a:pt x="101049" y="62681"/>
                </a:cubicBezTo>
                <a:cubicBezTo>
                  <a:pt x="97746" y="63564"/>
                  <a:pt x="94635" y="64870"/>
                  <a:pt x="91832" y="66521"/>
                </a:cubicBezTo>
                <a:lnTo>
                  <a:pt x="78504" y="53194"/>
                </a:lnTo>
                <a:close/>
                <a:moveTo>
                  <a:pt x="124939" y="151747"/>
                </a:moveTo>
                <a:cubicBezTo>
                  <a:pt x="120368" y="152976"/>
                  <a:pt x="115567" y="153629"/>
                  <a:pt x="110613" y="153629"/>
                </a:cubicBezTo>
                <a:cubicBezTo>
                  <a:pt x="80079" y="153629"/>
                  <a:pt x="55306" y="128856"/>
                  <a:pt x="55306" y="98323"/>
                </a:cubicBezTo>
                <a:cubicBezTo>
                  <a:pt x="55306" y="93368"/>
                  <a:pt x="55959" y="88567"/>
                  <a:pt x="57188" y="83997"/>
                </a:cubicBezTo>
                <a:lnTo>
                  <a:pt x="26655" y="53463"/>
                </a:lnTo>
                <a:cubicBezTo>
                  <a:pt x="14134" y="67597"/>
                  <a:pt x="5531" y="82576"/>
                  <a:pt x="960" y="93598"/>
                </a:cubicBezTo>
                <a:cubicBezTo>
                  <a:pt x="-307" y="96633"/>
                  <a:pt x="-307" y="100012"/>
                  <a:pt x="960" y="103047"/>
                </a:cubicBezTo>
                <a:cubicBezTo>
                  <a:pt x="6683" y="116758"/>
                  <a:pt x="18704" y="136730"/>
                  <a:pt x="36679" y="153399"/>
                </a:cubicBezTo>
                <a:cubicBezTo>
                  <a:pt x="54769" y="170183"/>
                  <a:pt x="79618" y="184355"/>
                  <a:pt x="110651" y="184355"/>
                </a:cubicBezTo>
                <a:cubicBezTo>
                  <a:pt x="124977" y="184355"/>
                  <a:pt x="137997" y="181321"/>
                  <a:pt x="149635" y="176443"/>
                </a:cubicBezTo>
                <a:lnTo>
                  <a:pt x="124977" y="151785"/>
                </a:ln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6456516" y="5156473"/>
            <a:ext cx="4785032" cy="305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8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隐藏复杂性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205247" y="5593462"/>
            <a:ext cx="5025376" cy="262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6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屏蔽底层数据结构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205247" y="5943054"/>
            <a:ext cx="5025376" cy="262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6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隐藏复杂计算逻辑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205247" y="6292645"/>
            <a:ext cx="5025376" cy="262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6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直接呈现业务结果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1623914" y="1529462"/>
            <a:ext cx="4195097" cy="7485951"/>
          </a:xfrm>
          <a:custGeom>
            <a:avLst/>
            <a:gdLst/>
            <a:ahLst/>
            <a:cxnLst/>
            <a:rect l="l" t="t" r="r" b="b"/>
            <a:pathLst>
              <a:path w="4195097" h="8663312">
                <a:moveTo>
                  <a:pt x="87384" y="0"/>
                </a:moveTo>
                <a:lnTo>
                  <a:pt x="4107713" y="0"/>
                </a:lnTo>
                <a:cubicBezTo>
                  <a:pt x="4155974" y="0"/>
                  <a:pt x="4195097" y="39123"/>
                  <a:pt x="4195097" y="87384"/>
                </a:cubicBezTo>
                <a:lnTo>
                  <a:pt x="4195097" y="8575928"/>
                </a:lnTo>
                <a:cubicBezTo>
                  <a:pt x="4195097" y="8624189"/>
                  <a:pt x="4155974" y="8663312"/>
                  <a:pt x="4107713" y="8663312"/>
                </a:cubicBezTo>
                <a:lnTo>
                  <a:pt x="87384" y="8663312"/>
                </a:lnTo>
                <a:cubicBezTo>
                  <a:pt x="39123" y="8663312"/>
                  <a:pt x="0" y="8624189"/>
                  <a:pt x="0" y="8575928"/>
                </a:cubicBezTo>
                <a:lnTo>
                  <a:pt x="0" y="87384"/>
                </a:lnTo>
                <a:cubicBezTo>
                  <a:pt x="0" y="39123"/>
                  <a:pt x="39123" y="0"/>
                  <a:pt x="87384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11918882" y="1835355"/>
            <a:ext cx="262194" cy="262194"/>
          </a:xfrm>
          <a:custGeom>
            <a:avLst/>
            <a:gdLst/>
            <a:ahLst/>
            <a:cxnLst/>
            <a:rect l="l" t="t" r="r" b="b"/>
            <a:pathLst>
              <a:path w="262194" h="262194">
                <a:moveTo>
                  <a:pt x="32774" y="32774"/>
                </a:moveTo>
                <a:cubicBezTo>
                  <a:pt x="32774" y="23710"/>
                  <a:pt x="25451" y="16387"/>
                  <a:pt x="16387" y="16387"/>
                </a:cubicBezTo>
                <a:cubicBezTo>
                  <a:pt x="7323" y="16387"/>
                  <a:pt x="0" y="23710"/>
                  <a:pt x="0" y="32774"/>
                </a:cubicBezTo>
                <a:lnTo>
                  <a:pt x="0" y="204839"/>
                </a:lnTo>
                <a:cubicBezTo>
                  <a:pt x="0" y="227473"/>
                  <a:pt x="18333" y="245806"/>
                  <a:pt x="40968" y="245806"/>
                </a:cubicBezTo>
                <a:lnTo>
                  <a:pt x="245806" y="245806"/>
                </a:lnTo>
                <a:cubicBezTo>
                  <a:pt x="254871" y="245806"/>
                  <a:pt x="262194" y="238483"/>
                  <a:pt x="262194" y="229419"/>
                </a:cubicBezTo>
                <a:cubicBezTo>
                  <a:pt x="262194" y="220355"/>
                  <a:pt x="254871" y="213032"/>
                  <a:pt x="245806" y="213032"/>
                </a:cubicBezTo>
                <a:lnTo>
                  <a:pt x="40968" y="213032"/>
                </a:lnTo>
                <a:cubicBezTo>
                  <a:pt x="36461" y="213032"/>
                  <a:pt x="32774" y="209345"/>
                  <a:pt x="32774" y="204839"/>
                </a:cubicBezTo>
                <a:lnTo>
                  <a:pt x="32774" y="32774"/>
                </a:lnTo>
                <a:close/>
                <a:moveTo>
                  <a:pt x="240993" y="77122"/>
                </a:moveTo>
                <a:cubicBezTo>
                  <a:pt x="247394" y="70721"/>
                  <a:pt x="247394" y="60325"/>
                  <a:pt x="240993" y="53924"/>
                </a:cubicBezTo>
                <a:cubicBezTo>
                  <a:pt x="234592" y="47523"/>
                  <a:pt x="224196" y="47523"/>
                  <a:pt x="217795" y="53924"/>
                </a:cubicBezTo>
                <a:lnTo>
                  <a:pt x="163871" y="107899"/>
                </a:lnTo>
                <a:lnTo>
                  <a:pt x="134477" y="78556"/>
                </a:lnTo>
                <a:cubicBezTo>
                  <a:pt x="128075" y="72154"/>
                  <a:pt x="117680" y="72154"/>
                  <a:pt x="111279" y="78556"/>
                </a:cubicBezTo>
                <a:lnTo>
                  <a:pt x="62117" y="127717"/>
                </a:lnTo>
                <a:cubicBezTo>
                  <a:pt x="55716" y="134118"/>
                  <a:pt x="55716" y="144514"/>
                  <a:pt x="62117" y="150915"/>
                </a:cubicBezTo>
                <a:cubicBezTo>
                  <a:pt x="68519" y="157316"/>
                  <a:pt x="78914" y="157316"/>
                  <a:pt x="85315" y="150915"/>
                </a:cubicBezTo>
                <a:lnTo>
                  <a:pt x="122903" y="113327"/>
                </a:lnTo>
                <a:lnTo>
                  <a:pt x="152298" y="142721"/>
                </a:lnTo>
                <a:cubicBezTo>
                  <a:pt x="158699" y="149123"/>
                  <a:pt x="169094" y="149123"/>
                  <a:pt x="175496" y="142721"/>
                </a:cubicBezTo>
                <a:lnTo>
                  <a:pt x="241044" y="77173"/>
                </a:ln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12213849" y="1791656"/>
            <a:ext cx="3474065" cy="349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65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数据领域的映射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1886108" y="2359742"/>
            <a:ext cx="3670710" cy="1158022"/>
          </a:xfrm>
          <a:custGeom>
            <a:avLst/>
            <a:gdLst/>
            <a:ahLst/>
            <a:cxnLst/>
            <a:rect l="l" t="t" r="r" b="b"/>
            <a:pathLst>
              <a:path w="3670710" h="1158022">
                <a:moveTo>
                  <a:pt x="87396" y="0"/>
                </a:moveTo>
                <a:lnTo>
                  <a:pt x="3583314" y="0"/>
                </a:lnTo>
                <a:cubicBezTo>
                  <a:pt x="3631581" y="0"/>
                  <a:pt x="3670710" y="39128"/>
                  <a:pt x="3670710" y="87396"/>
                </a:cubicBezTo>
                <a:lnTo>
                  <a:pt x="3670710" y="1070626"/>
                </a:lnTo>
                <a:cubicBezTo>
                  <a:pt x="3670710" y="1118893"/>
                  <a:pt x="3631581" y="1158022"/>
                  <a:pt x="3583314" y="1158022"/>
                </a:cubicBezTo>
                <a:lnTo>
                  <a:pt x="87396" y="1158022"/>
                </a:lnTo>
                <a:cubicBezTo>
                  <a:pt x="39128" y="1158022"/>
                  <a:pt x="0" y="1118893"/>
                  <a:pt x="0" y="1070626"/>
                </a:cubicBezTo>
                <a:lnTo>
                  <a:pt x="0" y="87396"/>
                </a:lnTo>
                <a:cubicBezTo>
                  <a:pt x="0" y="39128"/>
                  <a:pt x="39128" y="0"/>
                  <a:pt x="87396" y="0"/>
                </a:cubicBezTo>
                <a:close/>
              </a:path>
            </a:pathLst>
          </a:custGeom>
          <a:solidFill>
            <a:srgbClr val="2D3748">
              <a:alpha val="8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12060903" y="2534538"/>
            <a:ext cx="436989" cy="436989"/>
          </a:xfrm>
          <a:custGeom>
            <a:avLst/>
            <a:gdLst/>
            <a:ahLst/>
            <a:cxnLst/>
            <a:rect l="l" t="t" r="r" b="b"/>
            <a:pathLst>
              <a:path w="436989" h="436989">
                <a:moveTo>
                  <a:pt x="218495" y="0"/>
                </a:moveTo>
                <a:lnTo>
                  <a:pt x="218495" y="0"/>
                </a:lnTo>
                <a:cubicBezTo>
                  <a:pt x="339085" y="0"/>
                  <a:pt x="436989" y="97904"/>
                  <a:pt x="436989" y="218495"/>
                </a:cubicBezTo>
                <a:lnTo>
                  <a:pt x="436989" y="218495"/>
                </a:lnTo>
                <a:cubicBezTo>
                  <a:pt x="436989" y="339085"/>
                  <a:pt x="339085" y="436989"/>
                  <a:pt x="218495" y="436989"/>
                </a:cubicBezTo>
                <a:lnTo>
                  <a:pt x="218495" y="436989"/>
                </a:lnTo>
                <a:cubicBezTo>
                  <a:pt x="97904" y="436989"/>
                  <a:pt x="0" y="339085"/>
                  <a:pt x="0" y="218495"/>
                </a:cubicBezTo>
                <a:lnTo>
                  <a:pt x="0" y="218495"/>
                </a:lnTo>
                <a:cubicBezTo>
                  <a:pt x="0" y="97904"/>
                  <a:pt x="97904" y="0"/>
                  <a:pt x="218495" y="0"/>
                </a:cubicBezTo>
                <a:close/>
              </a:path>
            </a:pathLst>
          </a:custGeom>
          <a:solidFill>
            <a:srgbClr val="D69E2E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12192000" y="2665634"/>
            <a:ext cx="174796" cy="174796"/>
          </a:xfrm>
          <a:custGeom>
            <a:avLst/>
            <a:gdLst/>
            <a:ahLst/>
            <a:cxnLst/>
            <a:rect l="l" t="t" r="r" b="b"/>
            <a:pathLst>
              <a:path w="174796" h="174796">
                <a:moveTo>
                  <a:pt x="10925" y="21849"/>
                </a:moveTo>
                <a:cubicBezTo>
                  <a:pt x="6521" y="21849"/>
                  <a:pt x="2526" y="24512"/>
                  <a:pt x="819" y="28609"/>
                </a:cubicBezTo>
                <a:cubicBezTo>
                  <a:pt x="-888" y="32706"/>
                  <a:pt x="68" y="37383"/>
                  <a:pt x="3209" y="40490"/>
                </a:cubicBezTo>
                <a:lnTo>
                  <a:pt x="65548" y="102863"/>
                </a:lnTo>
                <a:lnTo>
                  <a:pt x="65548" y="142022"/>
                </a:lnTo>
                <a:cubicBezTo>
                  <a:pt x="65548" y="144923"/>
                  <a:pt x="66709" y="147689"/>
                  <a:pt x="68758" y="149737"/>
                </a:cubicBezTo>
                <a:lnTo>
                  <a:pt x="90607" y="171587"/>
                </a:lnTo>
                <a:cubicBezTo>
                  <a:pt x="93748" y="174727"/>
                  <a:pt x="98425" y="175649"/>
                  <a:pt x="102522" y="173942"/>
                </a:cubicBezTo>
                <a:cubicBezTo>
                  <a:pt x="106619" y="172235"/>
                  <a:pt x="109247" y="168275"/>
                  <a:pt x="109247" y="163871"/>
                </a:cubicBezTo>
                <a:lnTo>
                  <a:pt x="109247" y="102863"/>
                </a:lnTo>
                <a:lnTo>
                  <a:pt x="171587" y="40524"/>
                </a:lnTo>
                <a:cubicBezTo>
                  <a:pt x="174727" y="37383"/>
                  <a:pt x="175649" y="32706"/>
                  <a:pt x="173942" y="28609"/>
                </a:cubicBezTo>
                <a:cubicBezTo>
                  <a:pt x="172235" y="24512"/>
                  <a:pt x="168275" y="21849"/>
                  <a:pt x="163871" y="21849"/>
                </a:cubicBezTo>
                <a:lnTo>
                  <a:pt x="10925" y="21849"/>
                </a:ln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12628989" y="2600086"/>
            <a:ext cx="884903" cy="305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8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数据筛选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2060903" y="3058925"/>
            <a:ext cx="3408516" cy="284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76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只保留业务关心的数据和指标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1886108" y="3692559"/>
            <a:ext cx="3670710" cy="1158022"/>
          </a:xfrm>
          <a:custGeom>
            <a:avLst/>
            <a:gdLst/>
            <a:ahLst/>
            <a:cxnLst/>
            <a:rect l="l" t="t" r="r" b="b"/>
            <a:pathLst>
              <a:path w="3670710" h="1158022">
                <a:moveTo>
                  <a:pt x="87396" y="0"/>
                </a:moveTo>
                <a:lnTo>
                  <a:pt x="3583314" y="0"/>
                </a:lnTo>
                <a:cubicBezTo>
                  <a:pt x="3631581" y="0"/>
                  <a:pt x="3670710" y="39128"/>
                  <a:pt x="3670710" y="87396"/>
                </a:cubicBezTo>
                <a:lnTo>
                  <a:pt x="3670710" y="1070626"/>
                </a:lnTo>
                <a:cubicBezTo>
                  <a:pt x="3670710" y="1118893"/>
                  <a:pt x="3631581" y="1158022"/>
                  <a:pt x="3583314" y="1158022"/>
                </a:cubicBezTo>
                <a:lnTo>
                  <a:pt x="87396" y="1158022"/>
                </a:lnTo>
                <a:cubicBezTo>
                  <a:pt x="39128" y="1158022"/>
                  <a:pt x="0" y="1118893"/>
                  <a:pt x="0" y="1070626"/>
                </a:cubicBezTo>
                <a:lnTo>
                  <a:pt x="0" y="87396"/>
                </a:lnTo>
                <a:cubicBezTo>
                  <a:pt x="0" y="39128"/>
                  <a:pt x="39128" y="0"/>
                  <a:pt x="87396" y="0"/>
                </a:cubicBezTo>
                <a:close/>
              </a:path>
            </a:pathLst>
          </a:custGeom>
          <a:solidFill>
            <a:srgbClr val="2D3748">
              <a:alpha val="8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12060903" y="3867355"/>
            <a:ext cx="436989" cy="436989"/>
          </a:xfrm>
          <a:custGeom>
            <a:avLst/>
            <a:gdLst/>
            <a:ahLst/>
            <a:cxnLst/>
            <a:rect l="l" t="t" r="r" b="b"/>
            <a:pathLst>
              <a:path w="436989" h="436989">
                <a:moveTo>
                  <a:pt x="218495" y="0"/>
                </a:moveTo>
                <a:lnTo>
                  <a:pt x="218495" y="0"/>
                </a:lnTo>
                <a:cubicBezTo>
                  <a:pt x="339085" y="0"/>
                  <a:pt x="436989" y="97904"/>
                  <a:pt x="436989" y="218495"/>
                </a:cubicBezTo>
                <a:lnTo>
                  <a:pt x="436989" y="218495"/>
                </a:lnTo>
                <a:cubicBezTo>
                  <a:pt x="436989" y="339085"/>
                  <a:pt x="339085" y="436989"/>
                  <a:pt x="218495" y="436989"/>
                </a:cubicBezTo>
                <a:lnTo>
                  <a:pt x="218495" y="436989"/>
                </a:lnTo>
                <a:cubicBezTo>
                  <a:pt x="97904" y="436989"/>
                  <a:pt x="0" y="339085"/>
                  <a:pt x="0" y="218495"/>
                </a:cubicBezTo>
                <a:lnTo>
                  <a:pt x="0" y="218495"/>
                </a:lnTo>
                <a:cubicBezTo>
                  <a:pt x="0" y="97904"/>
                  <a:pt x="97904" y="0"/>
                  <a:pt x="218495" y="0"/>
                </a:cubicBezTo>
                <a:close/>
              </a:path>
            </a:pathLst>
          </a:custGeom>
          <a:solidFill>
            <a:srgbClr val="D69E2E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12181075" y="3998452"/>
            <a:ext cx="196645" cy="174796"/>
          </a:xfrm>
          <a:custGeom>
            <a:avLst/>
            <a:gdLst/>
            <a:ahLst/>
            <a:cxnLst/>
            <a:rect l="l" t="t" r="r" b="b"/>
            <a:pathLst>
              <a:path w="196645" h="174796">
                <a:moveTo>
                  <a:pt x="51415" y="14134"/>
                </a:moveTo>
                <a:cubicBezTo>
                  <a:pt x="47147" y="9866"/>
                  <a:pt x="40217" y="9866"/>
                  <a:pt x="35949" y="14134"/>
                </a:cubicBezTo>
                <a:lnTo>
                  <a:pt x="3175" y="46908"/>
                </a:lnTo>
                <a:cubicBezTo>
                  <a:pt x="-1092" y="51176"/>
                  <a:pt x="-1092" y="58106"/>
                  <a:pt x="3175" y="62373"/>
                </a:cubicBezTo>
                <a:cubicBezTo>
                  <a:pt x="7442" y="66641"/>
                  <a:pt x="14373" y="66641"/>
                  <a:pt x="18640" y="62373"/>
                </a:cubicBezTo>
                <a:lnTo>
                  <a:pt x="32774" y="48240"/>
                </a:lnTo>
                <a:lnTo>
                  <a:pt x="32774" y="152946"/>
                </a:lnTo>
                <a:cubicBezTo>
                  <a:pt x="32774" y="158989"/>
                  <a:pt x="37656" y="163871"/>
                  <a:pt x="43699" y="163871"/>
                </a:cubicBezTo>
                <a:cubicBezTo>
                  <a:pt x="49742" y="163871"/>
                  <a:pt x="54624" y="158989"/>
                  <a:pt x="54624" y="152946"/>
                </a:cubicBezTo>
                <a:lnTo>
                  <a:pt x="54624" y="48240"/>
                </a:lnTo>
                <a:lnTo>
                  <a:pt x="68758" y="62373"/>
                </a:lnTo>
                <a:cubicBezTo>
                  <a:pt x="73025" y="66641"/>
                  <a:pt x="79955" y="66641"/>
                  <a:pt x="84223" y="62373"/>
                </a:cubicBezTo>
                <a:cubicBezTo>
                  <a:pt x="88490" y="58106"/>
                  <a:pt x="88490" y="51176"/>
                  <a:pt x="84223" y="46908"/>
                </a:cubicBezTo>
                <a:lnTo>
                  <a:pt x="51449" y="14134"/>
                </a:lnTo>
                <a:close/>
                <a:moveTo>
                  <a:pt x="109247" y="163871"/>
                </a:moveTo>
                <a:lnTo>
                  <a:pt x="120172" y="163871"/>
                </a:lnTo>
                <a:cubicBezTo>
                  <a:pt x="126215" y="163871"/>
                  <a:pt x="131097" y="158989"/>
                  <a:pt x="131097" y="152946"/>
                </a:cubicBezTo>
                <a:cubicBezTo>
                  <a:pt x="131097" y="146903"/>
                  <a:pt x="126215" y="142022"/>
                  <a:pt x="120172" y="142022"/>
                </a:cubicBezTo>
                <a:lnTo>
                  <a:pt x="109247" y="142022"/>
                </a:lnTo>
                <a:cubicBezTo>
                  <a:pt x="103205" y="142022"/>
                  <a:pt x="98323" y="146903"/>
                  <a:pt x="98323" y="152946"/>
                </a:cubicBezTo>
                <a:cubicBezTo>
                  <a:pt x="98323" y="158989"/>
                  <a:pt x="103205" y="163871"/>
                  <a:pt x="109247" y="163871"/>
                </a:cubicBezTo>
                <a:close/>
                <a:moveTo>
                  <a:pt x="109247" y="120172"/>
                </a:moveTo>
                <a:lnTo>
                  <a:pt x="142022" y="120172"/>
                </a:lnTo>
                <a:cubicBezTo>
                  <a:pt x="148064" y="120172"/>
                  <a:pt x="152946" y="115290"/>
                  <a:pt x="152946" y="109247"/>
                </a:cubicBezTo>
                <a:cubicBezTo>
                  <a:pt x="152946" y="103205"/>
                  <a:pt x="148064" y="98323"/>
                  <a:pt x="142022" y="98323"/>
                </a:cubicBezTo>
                <a:lnTo>
                  <a:pt x="109247" y="98323"/>
                </a:lnTo>
                <a:cubicBezTo>
                  <a:pt x="103205" y="98323"/>
                  <a:pt x="98323" y="103205"/>
                  <a:pt x="98323" y="109247"/>
                </a:cubicBezTo>
                <a:cubicBezTo>
                  <a:pt x="98323" y="115290"/>
                  <a:pt x="103205" y="120172"/>
                  <a:pt x="109247" y="120172"/>
                </a:cubicBezTo>
                <a:close/>
                <a:moveTo>
                  <a:pt x="109247" y="76473"/>
                </a:moveTo>
                <a:lnTo>
                  <a:pt x="163871" y="76473"/>
                </a:lnTo>
                <a:cubicBezTo>
                  <a:pt x="169914" y="76473"/>
                  <a:pt x="174796" y="71591"/>
                  <a:pt x="174796" y="65548"/>
                </a:cubicBezTo>
                <a:cubicBezTo>
                  <a:pt x="174796" y="59506"/>
                  <a:pt x="169914" y="54624"/>
                  <a:pt x="163871" y="54624"/>
                </a:cubicBezTo>
                <a:lnTo>
                  <a:pt x="109247" y="54624"/>
                </a:lnTo>
                <a:cubicBezTo>
                  <a:pt x="103205" y="54624"/>
                  <a:pt x="98323" y="59506"/>
                  <a:pt x="98323" y="65548"/>
                </a:cubicBezTo>
                <a:cubicBezTo>
                  <a:pt x="98323" y="71591"/>
                  <a:pt x="103205" y="76473"/>
                  <a:pt x="109247" y="76473"/>
                </a:cubicBezTo>
                <a:close/>
                <a:moveTo>
                  <a:pt x="109247" y="32774"/>
                </a:moveTo>
                <a:lnTo>
                  <a:pt x="185720" y="32774"/>
                </a:lnTo>
                <a:cubicBezTo>
                  <a:pt x="191763" y="32774"/>
                  <a:pt x="196645" y="27892"/>
                  <a:pt x="196645" y="21849"/>
                </a:cubicBezTo>
                <a:cubicBezTo>
                  <a:pt x="196645" y="15807"/>
                  <a:pt x="191763" y="10925"/>
                  <a:pt x="185720" y="10925"/>
                </a:cubicBezTo>
                <a:lnTo>
                  <a:pt x="109247" y="10925"/>
                </a:lnTo>
                <a:cubicBezTo>
                  <a:pt x="103205" y="10925"/>
                  <a:pt x="98323" y="15807"/>
                  <a:pt x="98323" y="21849"/>
                </a:cubicBezTo>
                <a:cubicBezTo>
                  <a:pt x="98323" y="27892"/>
                  <a:pt x="103205" y="32774"/>
                  <a:pt x="109247" y="32774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12628989" y="3932903"/>
            <a:ext cx="884903" cy="305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8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排序展示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2060903" y="4391742"/>
            <a:ext cx="3408516" cy="284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76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按业务规则排序,突出重要信息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11886108" y="5025376"/>
            <a:ext cx="3670710" cy="1158022"/>
          </a:xfrm>
          <a:custGeom>
            <a:avLst/>
            <a:gdLst/>
            <a:ahLst/>
            <a:cxnLst/>
            <a:rect l="l" t="t" r="r" b="b"/>
            <a:pathLst>
              <a:path w="3670710" h="1158022">
                <a:moveTo>
                  <a:pt x="87396" y="0"/>
                </a:moveTo>
                <a:lnTo>
                  <a:pt x="3583314" y="0"/>
                </a:lnTo>
                <a:cubicBezTo>
                  <a:pt x="3631581" y="0"/>
                  <a:pt x="3670710" y="39128"/>
                  <a:pt x="3670710" y="87396"/>
                </a:cubicBezTo>
                <a:lnTo>
                  <a:pt x="3670710" y="1070626"/>
                </a:lnTo>
                <a:cubicBezTo>
                  <a:pt x="3670710" y="1118893"/>
                  <a:pt x="3631581" y="1158022"/>
                  <a:pt x="3583314" y="1158022"/>
                </a:cubicBezTo>
                <a:lnTo>
                  <a:pt x="87396" y="1158022"/>
                </a:lnTo>
                <a:cubicBezTo>
                  <a:pt x="39128" y="1158022"/>
                  <a:pt x="0" y="1118893"/>
                  <a:pt x="0" y="1070626"/>
                </a:cubicBezTo>
                <a:lnTo>
                  <a:pt x="0" y="87396"/>
                </a:lnTo>
                <a:cubicBezTo>
                  <a:pt x="0" y="39128"/>
                  <a:pt x="39128" y="0"/>
                  <a:pt x="87396" y="0"/>
                </a:cubicBezTo>
                <a:close/>
              </a:path>
            </a:pathLst>
          </a:custGeom>
          <a:solidFill>
            <a:srgbClr val="2D3748">
              <a:alpha val="8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12060903" y="5200172"/>
            <a:ext cx="436989" cy="436989"/>
          </a:xfrm>
          <a:custGeom>
            <a:avLst/>
            <a:gdLst/>
            <a:ahLst/>
            <a:cxnLst/>
            <a:rect l="l" t="t" r="r" b="b"/>
            <a:pathLst>
              <a:path w="436989" h="436989">
                <a:moveTo>
                  <a:pt x="218495" y="0"/>
                </a:moveTo>
                <a:lnTo>
                  <a:pt x="218495" y="0"/>
                </a:lnTo>
                <a:cubicBezTo>
                  <a:pt x="339085" y="0"/>
                  <a:pt x="436989" y="97904"/>
                  <a:pt x="436989" y="218495"/>
                </a:cubicBezTo>
                <a:lnTo>
                  <a:pt x="436989" y="218495"/>
                </a:lnTo>
                <a:cubicBezTo>
                  <a:pt x="436989" y="339085"/>
                  <a:pt x="339085" y="436989"/>
                  <a:pt x="218495" y="436989"/>
                </a:cubicBezTo>
                <a:lnTo>
                  <a:pt x="218495" y="436989"/>
                </a:lnTo>
                <a:cubicBezTo>
                  <a:pt x="97904" y="436989"/>
                  <a:pt x="0" y="339085"/>
                  <a:pt x="0" y="218495"/>
                </a:cubicBezTo>
                <a:lnTo>
                  <a:pt x="0" y="218495"/>
                </a:lnTo>
                <a:cubicBezTo>
                  <a:pt x="0" y="97904"/>
                  <a:pt x="97904" y="0"/>
                  <a:pt x="218495" y="0"/>
                </a:cubicBezTo>
                <a:close/>
              </a:path>
            </a:pathLst>
          </a:custGeom>
          <a:solidFill>
            <a:srgbClr val="D69E2E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12202925" y="5331269"/>
            <a:ext cx="152946" cy="174796"/>
          </a:xfrm>
          <a:custGeom>
            <a:avLst/>
            <a:gdLst/>
            <a:ahLst/>
            <a:cxnLst/>
            <a:rect l="l" t="t" r="r" b="b"/>
            <a:pathLst>
              <a:path w="152946" h="174796">
                <a:moveTo>
                  <a:pt x="65548" y="43699"/>
                </a:moveTo>
                <a:cubicBezTo>
                  <a:pt x="65548" y="25610"/>
                  <a:pt x="50863" y="10925"/>
                  <a:pt x="32774" y="10925"/>
                </a:cubicBezTo>
                <a:cubicBezTo>
                  <a:pt x="14686" y="10925"/>
                  <a:pt x="0" y="25610"/>
                  <a:pt x="0" y="43699"/>
                </a:cubicBezTo>
                <a:cubicBezTo>
                  <a:pt x="0" y="61787"/>
                  <a:pt x="14686" y="76473"/>
                  <a:pt x="32774" y="76473"/>
                </a:cubicBezTo>
                <a:cubicBezTo>
                  <a:pt x="50863" y="76473"/>
                  <a:pt x="65548" y="61787"/>
                  <a:pt x="65548" y="43699"/>
                </a:cubicBezTo>
                <a:close/>
                <a:moveTo>
                  <a:pt x="152946" y="131097"/>
                </a:moveTo>
                <a:cubicBezTo>
                  <a:pt x="152946" y="113008"/>
                  <a:pt x="138261" y="98323"/>
                  <a:pt x="120172" y="98323"/>
                </a:cubicBezTo>
                <a:cubicBezTo>
                  <a:pt x="102083" y="98323"/>
                  <a:pt x="87398" y="113008"/>
                  <a:pt x="87398" y="131097"/>
                </a:cubicBezTo>
                <a:cubicBezTo>
                  <a:pt x="87398" y="149185"/>
                  <a:pt x="102083" y="163871"/>
                  <a:pt x="120172" y="163871"/>
                </a:cubicBezTo>
                <a:cubicBezTo>
                  <a:pt x="138261" y="163871"/>
                  <a:pt x="152946" y="149185"/>
                  <a:pt x="152946" y="131097"/>
                </a:cubicBezTo>
                <a:close/>
                <a:moveTo>
                  <a:pt x="149737" y="29565"/>
                </a:moveTo>
                <a:cubicBezTo>
                  <a:pt x="154005" y="25298"/>
                  <a:pt x="154005" y="18367"/>
                  <a:pt x="149737" y="14100"/>
                </a:cubicBezTo>
                <a:cubicBezTo>
                  <a:pt x="145470" y="9832"/>
                  <a:pt x="138539" y="9832"/>
                  <a:pt x="134272" y="14100"/>
                </a:cubicBezTo>
                <a:lnTo>
                  <a:pt x="3175" y="145197"/>
                </a:lnTo>
                <a:cubicBezTo>
                  <a:pt x="-1092" y="149464"/>
                  <a:pt x="-1092" y="156394"/>
                  <a:pt x="3175" y="160662"/>
                </a:cubicBezTo>
                <a:cubicBezTo>
                  <a:pt x="7442" y="164929"/>
                  <a:pt x="14373" y="164929"/>
                  <a:pt x="18640" y="160662"/>
                </a:cubicBezTo>
                <a:lnTo>
                  <a:pt x="149737" y="29565"/>
                </a:ln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12628989" y="5265720"/>
            <a:ext cx="884903" cy="305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8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比率计算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2060903" y="5724559"/>
            <a:ext cx="3408516" cy="284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76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计算转化率、增长率等业务指标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11886108" y="6358194"/>
            <a:ext cx="3670710" cy="1158022"/>
          </a:xfrm>
          <a:custGeom>
            <a:avLst/>
            <a:gdLst/>
            <a:ahLst/>
            <a:cxnLst/>
            <a:rect l="l" t="t" r="r" b="b"/>
            <a:pathLst>
              <a:path w="3670710" h="1158022">
                <a:moveTo>
                  <a:pt x="87396" y="0"/>
                </a:moveTo>
                <a:lnTo>
                  <a:pt x="3583314" y="0"/>
                </a:lnTo>
                <a:cubicBezTo>
                  <a:pt x="3631581" y="0"/>
                  <a:pt x="3670710" y="39128"/>
                  <a:pt x="3670710" y="87396"/>
                </a:cubicBezTo>
                <a:lnTo>
                  <a:pt x="3670710" y="1070626"/>
                </a:lnTo>
                <a:cubicBezTo>
                  <a:pt x="3670710" y="1118893"/>
                  <a:pt x="3631581" y="1158022"/>
                  <a:pt x="3583314" y="1158022"/>
                </a:cubicBezTo>
                <a:lnTo>
                  <a:pt x="87396" y="1158022"/>
                </a:lnTo>
                <a:cubicBezTo>
                  <a:pt x="39128" y="1158022"/>
                  <a:pt x="0" y="1118893"/>
                  <a:pt x="0" y="1070626"/>
                </a:cubicBezTo>
                <a:lnTo>
                  <a:pt x="0" y="87396"/>
                </a:lnTo>
                <a:cubicBezTo>
                  <a:pt x="0" y="39128"/>
                  <a:pt x="39128" y="0"/>
                  <a:pt x="87396" y="0"/>
                </a:cubicBezTo>
                <a:close/>
              </a:path>
            </a:pathLst>
          </a:custGeom>
          <a:solidFill>
            <a:srgbClr val="2D3748">
              <a:alpha val="8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9"/>
          <p:cNvSpPr/>
          <p:nvPr/>
        </p:nvSpPr>
        <p:spPr>
          <a:xfrm>
            <a:off x="12060903" y="6532989"/>
            <a:ext cx="436989" cy="436989"/>
          </a:xfrm>
          <a:custGeom>
            <a:avLst/>
            <a:gdLst/>
            <a:ahLst/>
            <a:cxnLst/>
            <a:rect l="l" t="t" r="r" b="b"/>
            <a:pathLst>
              <a:path w="436989" h="436989">
                <a:moveTo>
                  <a:pt x="218495" y="0"/>
                </a:moveTo>
                <a:lnTo>
                  <a:pt x="218495" y="0"/>
                </a:lnTo>
                <a:cubicBezTo>
                  <a:pt x="339085" y="0"/>
                  <a:pt x="436989" y="97904"/>
                  <a:pt x="436989" y="218495"/>
                </a:cubicBezTo>
                <a:lnTo>
                  <a:pt x="436989" y="218495"/>
                </a:lnTo>
                <a:cubicBezTo>
                  <a:pt x="436989" y="339085"/>
                  <a:pt x="339085" y="436989"/>
                  <a:pt x="218495" y="436989"/>
                </a:cubicBezTo>
                <a:lnTo>
                  <a:pt x="218495" y="436989"/>
                </a:lnTo>
                <a:cubicBezTo>
                  <a:pt x="97904" y="436989"/>
                  <a:pt x="0" y="339085"/>
                  <a:pt x="0" y="218495"/>
                </a:cubicBezTo>
                <a:lnTo>
                  <a:pt x="0" y="218495"/>
                </a:lnTo>
                <a:cubicBezTo>
                  <a:pt x="0" y="97904"/>
                  <a:pt x="97904" y="0"/>
                  <a:pt x="218495" y="0"/>
                </a:cubicBezTo>
                <a:close/>
              </a:path>
            </a:pathLst>
          </a:custGeom>
          <a:solidFill>
            <a:srgbClr val="D69E2E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50"/>
          <p:cNvSpPr/>
          <p:nvPr/>
        </p:nvSpPr>
        <p:spPr>
          <a:xfrm>
            <a:off x="12192000" y="6664086"/>
            <a:ext cx="174796" cy="174796"/>
          </a:xfrm>
          <a:custGeom>
            <a:avLst/>
            <a:gdLst/>
            <a:ahLst/>
            <a:cxnLst/>
            <a:rect l="l" t="t" r="r" b="b"/>
            <a:pathLst>
              <a:path w="174796" h="174796">
                <a:moveTo>
                  <a:pt x="10925" y="10925"/>
                </a:moveTo>
                <a:cubicBezTo>
                  <a:pt x="16967" y="10925"/>
                  <a:pt x="21849" y="15807"/>
                  <a:pt x="21849" y="21849"/>
                </a:cubicBezTo>
                <a:lnTo>
                  <a:pt x="21849" y="136559"/>
                </a:lnTo>
                <a:cubicBezTo>
                  <a:pt x="21849" y="139563"/>
                  <a:pt x="24308" y="142022"/>
                  <a:pt x="27312" y="142022"/>
                </a:cubicBezTo>
                <a:lnTo>
                  <a:pt x="163871" y="142022"/>
                </a:lnTo>
                <a:cubicBezTo>
                  <a:pt x="169914" y="142022"/>
                  <a:pt x="174796" y="146903"/>
                  <a:pt x="174796" y="152946"/>
                </a:cubicBezTo>
                <a:cubicBezTo>
                  <a:pt x="174796" y="158989"/>
                  <a:pt x="169914" y="163871"/>
                  <a:pt x="163871" y="163871"/>
                </a:cubicBezTo>
                <a:lnTo>
                  <a:pt x="27312" y="163871"/>
                </a:lnTo>
                <a:cubicBezTo>
                  <a:pt x="12222" y="163871"/>
                  <a:pt x="0" y="151649"/>
                  <a:pt x="0" y="136559"/>
                </a:cubicBezTo>
                <a:lnTo>
                  <a:pt x="0" y="21849"/>
                </a:lnTo>
                <a:cubicBezTo>
                  <a:pt x="0" y="15807"/>
                  <a:pt x="4882" y="10925"/>
                  <a:pt x="10925" y="10925"/>
                </a:cubicBezTo>
                <a:close/>
                <a:moveTo>
                  <a:pt x="81935" y="32774"/>
                </a:moveTo>
                <a:cubicBezTo>
                  <a:pt x="84223" y="32774"/>
                  <a:pt x="86408" y="33730"/>
                  <a:pt x="87978" y="35437"/>
                </a:cubicBezTo>
                <a:lnTo>
                  <a:pt x="112252" y="61895"/>
                </a:lnTo>
                <a:lnTo>
                  <a:pt x="128024" y="46089"/>
                </a:lnTo>
                <a:cubicBezTo>
                  <a:pt x="131233" y="42880"/>
                  <a:pt x="136423" y="42880"/>
                  <a:pt x="139598" y="46089"/>
                </a:cubicBezTo>
                <a:lnTo>
                  <a:pt x="161447" y="67938"/>
                </a:lnTo>
                <a:cubicBezTo>
                  <a:pt x="162983" y="69474"/>
                  <a:pt x="163837" y="71557"/>
                  <a:pt x="163837" y="73742"/>
                </a:cubicBezTo>
                <a:lnTo>
                  <a:pt x="163837" y="111978"/>
                </a:lnTo>
                <a:cubicBezTo>
                  <a:pt x="163837" y="116519"/>
                  <a:pt x="160184" y="120172"/>
                  <a:pt x="155643" y="120172"/>
                </a:cubicBezTo>
                <a:lnTo>
                  <a:pt x="51858" y="120172"/>
                </a:lnTo>
                <a:cubicBezTo>
                  <a:pt x="47318" y="120172"/>
                  <a:pt x="43665" y="116519"/>
                  <a:pt x="43665" y="111978"/>
                </a:cubicBezTo>
                <a:lnTo>
                  <a:pt x="43665" y="73742"/>
                </a:lnTo>
                <a:cubicBezTo>
                  <a:pt x="43665" y="71694"/>
                  <a:pt x="44450" y="69713"/>
                  <a:pt x="45816" y="68211"/>
                </a:cubicBezTo>
                <a:lnTo>
                  <a:pt x="75859" y="35437"/>
                </a:lnTo>
                <a:cubicBezTo>
                  <a:pt x="77395" y="33730"/>
                  <a:pt x="79614" y="32774"/>
                  <a:pt x="81901" y="32774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12628989" y="6598538"/>
            <a:ext cx="884903" cy="305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8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趋势分析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2060903" y="7057376"/>
            <a:ext cx="3408516" cy="284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76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计算同比、环比等趋势数据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11886108" y="7783871"/>
            <a:ext cx="3670710" cy="10925"/>
          </a:xfrm>
          <a:custGeom>
            <a:avLst/>
            <a:gdLst/>
            <a:ahLst/>
            <a:cxnLst/>
            <a:rect l="l" t="t" r="r" b="b"/>
            <a:pathLst>
              <a:path w="3670710" h="10925">
                <a:moveTo>
                  <a:pt x="0" y="0"/>
                </a:moveTo>
                <a:lnTo>
                  <a:pt x="3670710" y="0"/>
                </a:lnTo>
                <a:lnTo>
                  <a:pt x="3670710" y="10925"/>
                </a:lnTo>
                <a:lnTo>
                  <a:pt x="0" y="10925"/>
                </a:lnTo>
                <a:lnTo>
                  <a:pt x="0" y="0"/>
                </a:ln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Shape 54"/>
          <p:cNvSpPr/>
          <p:nvPr/>
        </p:nvSpPr>
        <p:spPr>
          <a:xfrm>
            <a:off x="11907957" y="8007828"/>
            <a:ext cx="174796" cy="174796"/>
          </a:xfrm>
          <a:custGeom>
            <a:avLst/>
            <a:gdLst/>
            <a:ahLst/>
            <a:cxnLst/>
            <a:rect l="l" t="t" r="r" b="b"/>
            <a:pathLst>
              <a:path w="174796" h="174796">
                <a:moveTo>
                  <a:pt x="152946" y="87398"/>
                </a:moveTo>
                <a:cubicBezTo>
                  <a:pt x="152946" y="51221"/>
                  <a:pt x="123575" y="21849"/>
                  <a:pt x="87398" y="21849"/>
                </a:cubicBezTo>
                <a:cubicBezTo>
                  <a:pt x="51221" y="21849"/>
                  <a:pt x="21849" y="51221"/>
                  <a:pt x="21849" y="87398"/>
                </a:cubicBezTo>
                <a:cubicBezTo>
                  <a:pt x="21849" y="123575"/>
                  <a:pt x="51221" y="152946"/>
                  <a:pt x="87398" y="152946"/>
                </a:cubicBezTo>
                <a:cubicBezTo>
                  <a:pt x="123575" y="152946"/>
                  <a:pt x="152946" y="123575"/>
                  <a:pt x="152946" y="87398"/>
                </a:cubicBezTo>
                <a:close/>
                <a:moveTo>
                  <a:pt x="0" y="87398"/>
                </a:moveTo>
                <a:cubicBezTo>
                  <a:pt x="0" y="39162"/>
                  <a:pt x="39162" y="0"/>
                  <a:pt x="87398" y="0"/>
                </a:cubicBezTo>
                <a:cubicBezTo>
                  <a:pt x="135634" y="0"/>
                  <a:pt x="174796" y="39162"/>
                  <a:pt x="174796" y="87398"/>
                </a:cubicBezTo>
                <a:cubicBezTo>
                  <a:pt x="174796" y="135634"/>
                  <a:pt x="135634" y="174796"/>
                  <a:pt x="87398" y="174796"/>
                </a:cubicBezTo>
                <a:cubicBezTo>
                  <a:pt x="39162" y="174796"/>
                  <a:pt x="0" y="135634"/>
                  <a:pt x="0" y="87398"/>
                </a:cubicBezTo>
                <a:close/>
                <a:moveTo>
                  <a:pt x="87398" y="114710"/>
                </a:moveTo>
                <a:cubicBezTo>
                  <a:pt x="102472" y="114710"/>
                  <a:pt x="114710" y="102472"/>
                  <a:pt x="114710" y="87398"/>
                </a:cubicBezTo>
                <a:cubicBezTo>
                  <a:pt x="114710" y="72324"/>
                  <a:pt x="102472" y="60086"/>
                  <a:pt x="87398" y="60086"/>
                </a:cubicBezTo>
                <a:cubicBezTo>
                  <a:pt x="72324" y="60086"/>
                  <a:pt x="60086" y="72324"/>
                  <a:pt x="60086" y="87398"/>
                </a:cubicBezTo>
                <a:cubicBezTo>
                  <a:pt x="60086" y="102472"/>
                  <a:pt x="72324" y="114710"/>
                  <a:pt x="87398" y="114710"/>
                </a:cubicBezTo>
                <a:close/>
                <a:moveTo>
                  <a:pt x="87398" y="38237"/>
                </a:moveTo>
                <a:cubicBezTo>
                  <a:pt x="114531" y="38237"/>
                  <a:pt x="136559" y="60265"/>
                  <a:pt x="136559" y="87398"/>
                </a:cubicBezTo>
                <a:cubicBezTo>
                  <a:pt x="136559" y="114531"/>
                  <a:pt x="114531" y="136559"/>
                  <a:pt x="87398" y="136559"/>
                </a:cubicBezTo>
                <a:cubicBezTo>
                  <a:pt x="60265" y="136559"/>
                  <a:pt x="38237" y="114531"/>
                  <a:pt x="38237" y="87398"/>
                </a:cubicBezTo>
                <a:cubicBezTo>
                  <a:pt x="38237" y="60265"/>
                  <a:pt x="60265" y="38237"/>
                  <a:pt x="87398" y="38237"/>
                </a:cubicBezTo>
                <a:close/>
                <a:moveTo>
                  <a:pt x="76473" y="87398"/>
                </a:moveTo>
                <a:cubicBezTo>
                  <a:pt x="76473" y="81368"/>
                  <a:pt x="81368" y="76473"/>
                  <a:pt x="87398" y="76473"/>
                </a:cubicBezTo>
                <a:cubicBezTo>
                  <a:pt x="93427" y="76473"/>
                  <a:pt x="98323" y="81368"/>
                  <a:pt x="98323" y="87398"/>
                </a:cubicBezTo>
                <a:cubicBezTo>
                  <a:pt x="98323" y="93427"/>
                  <a:pt x="93427" y="98323"/>
                  <a:pt x="87398" y="98323"/>
                </a:cubicBezTo>
                <a:cubicBezTo>
                  <a:pt x="81368" y="98323"/>
                  <a:pt x="76473" y="93427"/>
                  <a:pt x="76473" y="87398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12192000" y="7964129"/>
            <a:ext cx="786581" cy="262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6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终极目标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1886108" y="8313720"/>
            <a:ext cx="3758108" cy="568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76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ADS是数据价值的最终体现层,直接支撑业务决策,是数据资产化的最后一环。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-blog.csdnimg.cn/905f5105a130bae5b856613de7e458f2f63a8c6a.png"/>
          <p:cNvPicPr>
            <a:picLocks noChangeAspect="1"/>
          </p:cNvPicPr>
          <p:nvPr/>
        </p:nvPicPr>
        <p:blipFill>
          <a:blip r:embed="rId3">
            <a:alphaModFix amt="30000"/>
          </a:blip>
          <a:srcRect l="7333" r="7333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202C"/>
              </a:gs>
              <a:gs pos="50000">
                <a:srgbClr val="1A202C">
                  <a:alpha val="95000"/>
                </a:srgbClr>
              </a:gs>
              <a:gs pos="100000">
                <a:srgbClr val="1A202C">
                  <a:alpha val="7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508000" y="2540000"/>
            <a:ext cx="2781300" cy="711200"/>
          </a:xfrm>
          <a:custGeom>
            <a:avLst/>
            <a:gdLst/>
            <a:ahLst/>
            <a:cxnLst/>
            <a:rect l="l" t="t" r="r" b="b"/>
            <a:pathLst>
              <a:path w="2781300" h="711200">
                <a:moveTo>
                  <a:pt x="0" y="0"/>
                </a:moveTo>
                <a:lnTo>
                  <a:pt x="2781300" y="0"/>
                </a:lnTo>
                <a:lnTo>
                  <a:pt x="27813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914400" y="2679700"/>
            <a:ext cx="2116237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kern="0" spc="120" dirty="0">
                <a:solidFill>
                  <a:srgbClr val="1A20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04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3657600"/>
            <a:ext cx="158496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9600" b="1" dirty="0">
                <a:solidFill>
                  <a:srgbClr val="E2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案例推演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8000" y="5588000"/>
            <a:ext cx="2032000" cy="101600"/>
          </a:xfrm>
          <a:custGeom>
            <a:avLst/>
            <a:gdLst/>
            <a:ahLst/>
            <a:cxnLst/>
            <a:rect l="l" t="t" r="r" b="b"/>
            <a:pathLst>
              <a:path w="2032000" h="101600">
                <a:moveTo>
                  <a:pt x="0" y="0"/>
                </a:moveTo>
                <a:lnTo>
                  <a:pt x="2032000" y="0"/>
                </a:lnTo>
                <a:lnTo>
                  <a:pt x="2032000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508000" y="60960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dirty="0">
                <a:solidFill>
                  <a:srgbClr val="71809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一条银行转账数据的升维之旅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08000"/>
            <a:ext cx="1778000" cy="406400"/>
          </a:xfrm>
          <a:custGeom>
            <a:avLst/>
            <a:gdLst/>
            <a:ahLst/>
            <a:cxnLst/>
            <a:rect l="l" t="t" r="r" b="b"/>
            <a:pathLst>
              <a:path w="1778000" h="406400">
                <a:moveTo>
                  <a:pt x="0" y="0"/>
                </a:moveTo>
                <a:lnTo>
                  <a:pt x="1778000" y="0"/>
                </a:lnTo>
                <a:lnTo>
                  <a:pt x="17780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D69E2E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533400" y="508000"/>
            <a:ext cx="50800" cy="406400"/>
          </a:xfrm>
          <a:custGeom>
            <a:avLst/>
            <a:gdLst/>
            <a:ahLst/>
            <a:cxnLst/>
            <a:rect l="l" t="t" r="r" b="b"/>
            <a:pathLst>
              <a:path w="50800" h="406400">
                <a:moveTo>
                  <a:pt x="0" y="0"/>
                </a:moveTo>
                <a:lnTo>
                  <a:pt x="50800" y="0"/>
                </a:lnTo>
                <a:lnTo>
                  <a:pt x="508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2000" y="577850"/>
            <a:ext cx="14421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CASE STUDY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8000" y="10160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2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案例背景：银行跨行转账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8000" y="1778000"/>
            <a:ext cx="10058400" cy="7302500"/>
          </a:xfrm>
          <a:custGeom>
            <a:avLst/>
            <a:gdLst/>
            <a:ahLst/>
            <a:cxnLst/>
            <a:rect l="l" t="t" r="r" b="b"/>
            <a:pathLst>
              <a:path w="10058400" h="7302500">
                <a:moveTo>
                  <a:pt x="101578" y="0"/>
                </a:moveTo>
                <a:lnTo>
                  <a:pt x="9956822" y="0"/>
                </a:lnTo>
                <a:cubicBezTo>
                  <a:pt x="10012922" y="0"/>
                  <a:pt x="10058400" y="45478"/>
                  <a:pt x="10058400" y="101578"/>
                </a:cubicBezTo>
                <a:lnTo>
                  <a:pt x="10058400" y="7200922"/>
                </a:lnTo>
                <a:cubicBezTo>
                  <a:pt x="10058400" y="7257022"/>
                  <a:pt x="10012922" y="7302500"/>
                  <a:pt x="9956822" y="7302500"/>
                </a:cubicBezTo>
                <a:lnTo>
                  <a:pt x="101578" y="7302500"/>
                </a:lnTo>
                <a:cubicBezTo>
                  <a:pt x="45478" y="7302500"/>
                  <a:pt x="0" y="7257022"/>
                  <a:pt x="0" y="7200922"/>
                </a:cubicBezTo>
                <a:lnTo>
                  <a:pt x="0" y="101578"/>
                </a:lnTo>
                <a:cubicBezTo>
                  <a:pt x="0" y="45515"/>
                  <a:pt x="45515" y="0"/>
                  <a:pt x="101578" y="0"/>
                </a:cubicBezTo>
                <a:close/>
              </a:path>
            </a:pathLst>
          </a:custGeom>
          <a:solidFill>
            <a:srgbClr val="2D3748">
              <a:alpha val="4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812800" y="2635250"/>
            <a:ext cx="1168400" cy="1016000"/>
          </a:xfrm>
          <a:custGeom>
            <a:avLst/>
            <a:gdLst/>
            <a:ahLst/>
            <a:cxnLst/>
            <a:rect l="l" t="t" r="r" b="b"/>
            <a:pathLst>
              <a:path w="1168400" h="1016000">
                <a:moveTo>
                  <a:pt x="508000" y="0"/>
                </a:moveTo>
                <a:lnTo>
                  <a:pt x="660400" y="0"/>
                </a:lnTo>
                <a:cubicBezTo>
                  <a:pt x="940773" y="0"/>
                  <a:pt x="1168400" y="227627"/>
                  <a:pt x="1168400" y="508000"/>
                </a:cubicBezTo>
                <a:lnTo>
                  <a:pt x="1168400" y="508000"/>
                </a:lnTo>
                <a:cubicBezTo>
                  <a:pt x="1168400" y="788373"/>
                  <a:pt x="940773" y="1016000"/>
                  <a:pt x="6604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D69E2E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1092200" y="28384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98408" y="179308"/>
                </a:moveTo>
                <a:lnTo>
                  <a:pt x="484108" y="293608"/>
                </a:lnTo>
                <a:cubicBezTo>
                  <a:pt x="473154" y="304562"/>
                  <a:pt x="456843" y="307777"/>
                  <a:pt x="442555" y="301823"/>
                </a:cubicBezTo>
                <a:cubicBezTo>
                  <a:pt x="428268" y="295870"/>
                  <a:pt x="419100" y="282059"/>
                  <a:pt x="419100" y="266700"/>
                </a:cubicBezTo>
                <a:lnTo>
                  <a:pt x="419100" y="190500"/>
                </a:lnTo>
                <a:lnTo>
                  <a:pt x="38100" y="190500"/>
                </a:lnTo>
                <a:cubicBezTo>
                  <a:pt x="17026" y="190500"/>
                  <a:pt x="0" y="173474"/>
                  <a:pt x="0" y="152400"/>
                </a:cubicBezTo>
                <a:cubicBezTo>
                  <a:pt x="0" y="131326"/>
                  <a:pt x="17026" y="114300"/>
                  <a:pt x="38100" y="114300"/>
                </a:cubicBezTo>
                <a:lnTo>
                  <a:pt x="419100" y="114300"/>
                </a:lnTo>
                <a:lnTo>
                  <a:pt x="419100" y="38100"/>
                </a:lnTo>
                <a:cubicBezTo>
                  <a:pt x="419100" y="22741"/>
                  <a:pt x="428387" y="8811"/>
                  <a:pt x="442674" y="2857"/>
                </a:cubicBezTo>
                <a:cubicBezTo>
                  <a:pt x="456962" y="-3096"/>
                  <a:pt x="473273" y="238"/>
                  <a:pt x="484227" y="11073"/>
                </a:cubicBezTo>
                <a:lnTo>
                  <a:pt x="598527" y="125373"/>
                </a:lnTo>
                <a:cubicBezTo>
                  <a:pt x="613410" y="140256"/>
                  <a:pt x="613410" y="164425"/>
                  <a:pt x="598527" y="179308"/>
                </a:cubicBezTo>
                <a:close/>
                <a:moveTo>
                  <a:pt x="125373" y="598408"/>
                </a:moveTo>
                <a:lnTo>
                  <a:pt x="11073" y="484108"/>
                </a:lnTo>
                <a:cubicBezTo>
                  <a:pt x="-3810" y="469225"/>
                  <a:pt x="-3810" y="445056"/>
                  <a:pt x="11073" y="430173"/>
                </a:cubicBezTo>
                <a:lnTo>
                  <a:pt x="125373" y="315873"/>
                </a:lnTo>
                <a:cubicBezTo>
                  <a:pt x="136327" y="304919"/>
                  <a:pt x="152638" y="301704"/>
                  <a:pt x="166926" y="307658"/>
                </a:cubicBezTo>
                <a:cubicBezTo>
                  <a:pt x="181213" y="313611"/>
                  <a:pt x="190500" y="327541"/>
                  <a:pt x="190500" y="342900"/>
                </a:cubicBezTo>
                <a:lnTo>
                  <a:pt x="190500" y="419100"/>
                </a:lnTo>
                <a:lnTo>
                  <a:pt x="571500" y="419100"/>
                </a:lnTo>
                <a:cubicBezTo>
                  <a:pt x="592574" y="419100"/>
                  <a:pt x="609600" y="436126"/>
                  <a:pt x="609600" y="457200"/>
                </a:cubicBezTo>
                <a:cubicBezTo>
                  <a:pt x="609600" y="478274"/>
                  <a:pt x="592574" y="495300"/>
                  <a:pt x="571500" y="495300"/>
                </a:cubicBezTo>
                <a:lnTo>
                  <a:pt x="190500" y="495300"/>
                </a:lnTo>
                <a:lnTo>
                  <a:pt x="190500" y="571500"/>
                </a:lnTo>
                <a:cubicBezTo>
                  <a:pt x="190500" y="586859"/>
                  <a:pt x="181213" y="600789"/>
                  <a:pt x="166926" y="606743"/>
                </a:cubicBezTo>
                <a:cubicBezTo>
                  <a:pt x="152638" y="612696"/>
                  <a:pt x="136327" y="609362"/>
                  <a:pt x="125373" y="598527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812800" y="3854450"/>
            <a:ext cx="9639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业务场景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2800" y="4464050"/>
            <a:ext cx="9563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用户在手机银行发起一笔跨行转账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12800" y="5124450"/>
            <a:ext cx="4572000" cy="3098800"/>
          </a:xfrm>
          <a:custGeom>
            <a:avLst/>
            <a:gdLst/>
            <a:ahLst/>
            <a:cxnLst/>
            <a:rect l="l" t="t" r="r" b="b"/>
            <a:pathLst>
              <a:path w="4572000" h="3098800">
                <a:moveTo>
                  <a:pt x="101610" y="0"/>
                </a:moveTo>
                <a:lnTo>
                  <a:pt x="4470390" y="0"/>
                </a:lnTo>
                <a:cubicBezTo>
                  <a:pt x="4526508" y="0"/>
                  <a:pt x="4572000" y="45492"/>
                  <a:pt x="4572000" y="101610"/>
                </a:cubicBezTo>
                <a:lnTo>
                  <a:pt x="4572000" y="2997190"/>
                </a:lnTo>
                <a:cubicBezTo>
                  <a:pt x="4572000" y="3053308"/>
                  <a:pt x="4526508" y="3098800"/>
                  <a:pt x="4470390" y="3098800"/>
                </a:cubicBezTo>
                <a:lnTo>
                  <a:pt x="101610" y="3098800"/>
                </a:lnTo>
                <a:cubicBezTo>
                  <a:pt x="45492" y="3098800"/>
                  <a:pt x="0" y="3053308"/>
                  <a:pt x="0" y="2997190"/>
                </a:cubicBezTo>
                <a:lnTo>
                  <a:pt x="0" y="101610"/>
                </a:lnTo>
                <a:cubicBezTo>
                  <a:pt x="0" y="45530"/>
                  <a:pt x="45530" y="0"/>
                  <a:pt x="101610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1130300" y="5429250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7938" y="31750"/>
                </a:moveTo>
                <a:cubicBezTo>
                  <a:pt x="7938" y="14238"/>
                  <a:pt x="22175" y="0"/>
                  <a:pt x="39688" y="0"/>
                </a:cubicBezTo>
                <a:lnTo>
                  <a:pt x="150813" y="0"/>
                </a:lnTo>
                <a:cubicBezTo>
                  <a:pt x="168325" y="0"/>
                  <a:pt x="182563" y="14238"/>
                  <a:pt x="182563" y="31750"/>
                </a:cubicBezTo>
                <a:lnTo>
                  <a:pt x="182563" y="222250"/>
                </a:lnTo>
                <a:cubicBezTo>
                  <a:pt x="182563" y="239762"/>
                  <a:pt x="168325" y="254000"/>
                  <a:pt x="150813" y="254000"/>
                </a:cubicBezTo>
                <a:lnTo>
                  <a:pt x="39688" y="254000"/>
                </a:lnTo>
                <a:cubicBezTo>
                  <a:pt x="22175" y="254000"/>
                  <a:pt x="7938" y="239762"/>
                  <a:pt x="7938" y="222250"/>
                </a:cubicBezTo>
                <a:lnTo>
                  <a:pt x="7938" y="31750"/>
                </a:lnTo>
                <a:close/>
                <a:moveTo>
                  <a:pt x="39688" y="31750"/>
                </a:moveTo>
                <a:lnTo>
                  <a:pt x="39688" y="182563"/>
                </a:lnTo>
                <a:lnTo>
                  <a:pt x="150813" y="182563"/>
                </a:lnTo>
                <a:lnTo>
                  <a:pt x="150813" y="31750"/>
                </a:lnTo>
                <a:lnTo>
                  <a:pt x="39688" y="31750"/>
                </a:lnTo>
                <a:close/>
                <a:moveTo>
                  <a:pt x="95250" y="234156"/>
                </a:moveTo>
                <a:cubicBezTo>
                  <a:pt x="104031" y="234156"/>
                  <a:pt x="111125" y="227062"/>
                  <a:pt x="111125" y="218281"/>
                </a:cubicBezTo>
                <a:cubicBezTo>
                  <a:pt x="111125" y="209500"/>
                  <a:pt x="104031" y="202406"/>
                  <a:pt x="95250" y="202406"/>
                </a:cubicBezTo>
                <a:cubicBezTo>
                  <a:pt x="86469" y="202406"/>
                  <a:pt x="79375" y="209500"/>
                  <a:pt x="79375" y="218281"/>
                </a:cubicBezTo>
                <a:cubicBezTo>
                  <a:pt x="79375" y="227062"/>
                  <a:pt x="86469" y="234156"/>
                  <a:pt x="95250" y="234156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384300" y="5378450"/>
            <a:ext cx="3873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业务流程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66800" y="588645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D69E2E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1230015" y="5937250"/>
            <a:ext cx="177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25600" y="5886450"/>
            <a:ext cx="2108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用户打开手机银行APP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066800" y="644525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D69E2E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1212850" y="6496050"/>
            <a:ext cx="215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25600" y="6445250"/>
            <a:ext cx="2133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输入收款方信息和金额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66800" y="700405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D69E2E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1210171" y="7054850"/>
            <a:ext cx="215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625600" y="7004050"/>
            <a:ext cx="172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系统生成转账记录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066800" y="756285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D69E2E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1210370" y="7613650"/>
            <a:ext cx="215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625600" y="7562850"/>
            <a:ext cx="1930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完成转账并记录日志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689600" y="5124450"/>
            <a:ext cx="4572000" cy="3098800"/>
          </a:xfrm>
          <a:custGeom>
            <a:avLst/>
            <a:gdLst/>
            <a:ahLst/>
            <a:cxnLst/>
            <a:rect l="l" t="t" r="r" b="b"/>
            <a:pathLst>
              <a:path w="4572000" h="3098800">
                <a:moveTo>
                  <a:pt x="101610" y="0"/>
                </a:moveTo>
                <a:lnTo>
                  <a:pt x="4470390" y="0"/>
                </a:lnTo>
                <a:cubicBezTo>
                  <a:pt x="4526508" y="0"/>
                  <a:pt x="4572000" y="45492"/>
                  <a:pt x="4572000" y="101610"/>
                </a:cubicBezTo>
                <a:lnTo>
                  <a:pt x="4572000" y="2997190"/>
                </a:lnTo>
                <a:cubicBezTo>
                  <a:pt x="4572000" y="3053308"/>
                  <a:pt x="4526508" y="3098800"/>
                  <a:pt x="4470390" y="3098800"/>
                </a:cubicBezTo>
                <a:lnTo>
                  <a:pt x="101610" y="3098800"/>
                </a:lnTo>
                <a:cubicBezTo>
                  <a:pt x="45492" y="3098800"/>
                  <a:pt x="0" y="3053308"/>
                  <a:pt x="0" y="2997190"/>
                </a:cubicBezTo>
                <a:lnTo>
                  <a:pt x="0" y="101610"/>
                </a:lnTo>
                <a:cubicBezTo>
                  <a:pt x="0" y="45530"/>
                  <a:pt x="45530" y="0"/>
                  <a:pt x="101610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5991225" y="542925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222250" y="102096"/>
                </a:moveTo>
                <a:cubicBezTo>
                  <a:pt x="214908" y="106958"/>
                  <a:pt x="206474" y="110877"/>
                  <a:pt x="197693" y="114002"/>
                </a:cubicBezTo>
                <a:cubicBezTo>
                  <a:pt x="174377" y="122337"/>
                  <a:pt x="143768" y="127000"/>
                  <a:pt x="111125" y="127000"/>
                </a:cubicBezTo>
                <a:cubicBezTo>
                  <a:pt x="78482" y="127000"/>
                  <a:pt x="47823" y="122287"/>
                  <a:pt x="24557" y="114002"/>
                </a:cubicBezTo>
                <a:cubicBezTo>
                  <a:pt x="15825" y="110877"/>
                  <a:pt x="7342" y="106958"/>
                  <a:pt x="0" y="102096"/>
                </a:cubicBezTo>
                <a:lnTo>
                  <a:pt x="0" y="142875"/>
                </a:lnTo>
                <a:cubicBezTo>
                  <a:pt x="0" y="164802"/>
                  <a:pt x="49758" y="182563"/>
                  <a:pt x="111125" y="182563"/>
                </a:cubicBezTo>
                <a:cubicBezTo>
                  <a:pt x="172492" y="182563"/>
                  <a:pt x="222250" y="164802"/>
                  <a:pt x="222250" y="142875"/>
                </a:cubicBezTo>
                <a:lnTo>
                  <a:pt x="222250" y="102096"/>
                </a:lnTo>
                <a:close/>
                <a:moveTo>
                  <a:pt x="222250" y="63500"/>
                </a:moveTo>
                <a:lnTo>
                  <a:pt x="222250" y="39688"/>
                </a:lnTo>
                <a:cubicBezTo>
                  <a:pt x="222250" y="17760"/>
                  <a:pt x="172492" y="0"/>
                  <a:pt x="111125" y="0"/>
                </a:cubicBezTo>
                <a:cubicBezTo>
                  <a:pt x="49758" y="0"/>
                  <a:pt x="0" y="17760"/>
                  <a:pt x="0" y="39688"/>
                </a:cubicBezTo>
                <a:lnTo>
                  <a:pt x="0" y="63500"/>
                </a:lnTo>
                <a:cubicBezTo>
                  <a:pt x="0" y="85427"/>
                  <a:pt x="49758" y="103188"/>
                  <a:pt x="111125" y="103188"/>
                </a:cubicBezTo>
                <a:cubicBezTo>
                  <a:pt x="172492" y="103188"/>
                  <a:pt x="222250" y="85427"/>
                  <a:pt x="222250" y="63500"/>
                </a:cubicBezTo>
                <a:close/>
                <a:moveTo>
                  <a:pt x="197693" y="193377"/>
                </a:moveTo>
                <a:cubicBezTo>
                  <a:pt x="174427" y="201662"/>
                  <a:pt x="143818" y="206375"/>
                  <a:pt x="111125" y="206375"/>
                </a:cubicBezTo>
                <a:cubicBezTo>
                  <a:pt x="78432" y="206375"/>
                  <a:pt x="47823" y="201662"/>
                  <a:pt x="24557" y="193377"/>
                </a:cubicBezTo>
                <a:cubicBezTo>
                  <a:pt x="15825" y="190252"/>
                  <a:pt x="7342" y="186333"/>
                  <a:pt x="0" y="181471"/>
                </a:cubicBezTo>
                <a:lnTo>
                  <a:pt x="0" y="214313"/>
                </a:lnTo>
                <a:cubicBezTo>
                  <a:pt x="0" y="236240"/>
                  <a:pt x="49758" y="254000"/>
                  <a:pt x="111125" y="254000"/>
                </a:cubicBezTo>
                <a:cubicBezTo>
                  <a:pt x="172492" y="254000"/>
                  <a:pt x="222250" y="236240"/>
                  <a:pt x="222250" y="214313"/>
                </a:cubicBezTo>
                <a:lnTo>
                  <a:pt x="222250" y="181471"/>
                </a:lnTo>
                <a:cubicBezTo>
                  <a:pt x="214908" y="186333"/>
                  <a:pt x="206474" y="190252"/>
                  <a:pt x="197693" y="193377"/>
                </a:cubicBez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6261100" y="5378450"/>
            <a:ext cx="3873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原始数据特征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962650" y="59880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6286500" y="5886450"/>
            <a:ext cx="3327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非结构化：</a:t>
            </a:r>
            <a:r>
              <a:rPr lang="en-US" sz="160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日志文件、数据库Binlog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962650" y="64452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6286500" y="6343650"/>
            <a:ext cx="294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字段晦涩：</a:t>
            </a:r>
            <a:r>
              <a:rPr lang="en-US" sz="160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缩写、编码、无注释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962650" y="69024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6286500" y="6800850"/>
            <a:ext cx="314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格式不一：</a:t>
            </a:r>
            <a:r>
              <a:rPr lang="en-US" sz="160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时间戳、状态码不统一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962650" y="73596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6286500" y="7258050"/>
            <a:ext cx="3200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高保真：</a:t>
            </a:r>
            <a:r>
              <a:rPr lang="en-US" sz="160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保留原始状态,确保可追溯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0871200" y="1778000"/>
            <a:ext cx="4876800" cy="7302500"/>
          </a:xfrm>
          <a:custGeom>
            <a:avLst/>
            <a:gdLst/>
            <a:ahLst/>
            <a:cxnLst/>
            <a:rect l="l" t="t" r="r" b="b"/>
            <a:pathLst>
              <a:path w="4876800" h="7302500">
                <a:moveTo>
                  <a:pt x="101584" y="0"/>
                </a:moveTo>
                <a:lnTo>
                  <a:pt x="4775216" y="0"/>
                </a:lnTo>
                <a:cubicBezTo>
                  <a:pt x="4831319" y="0"/>
                  <a:pt x="4876800" y="45481"/>
                  <a:pt x="4876800" y="101584"/>
                </a:cubicBezTo>
                <a:lnTo>
                  <a:pt x="4876800" y="7200916"/>
                </a:lnTo>
                <a:cubicBezTo>
                  <a:pt x="4876800" y="7257019"/>
                  <a:pt x="4831319" y="7302500"/>
                  <a:pt x="4775216" y="7302500"/>
                </a:cubicBezTo>
                <a:lnTo>
                  <a:pt x="101584" y="7302500"/>
                </a:lnTo>
                <a:cubicBezTo>
                  <a:pt x="45481" y="7302500"/>
                  <a:pt x="0" y="7257019"/>
                  <a:pt x="0" y="7200916"/>
                </a:cubicBezTo>
                <a:lnTo>
                  <a:pt x="0" y="101584"/>
                </a:lnTo>
                <a:cubicBezTo>
                  <a:pt x="0" y="45518"/>
                  <a:pt x="45518" y="0"/>
                  <a:pt x="101584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11214100" y="2133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61151" y="0"/>
                  <a:pt x="169188" y="4822"/>
                  <a:pt x="173355" y="12502"/>
                </a:cubicBezTo>
                <a:lnTo>
                  <a:pt x="301943" y="250627"/>
                </a:lnTo>
                <a:cubicBezTo>
                  <a:pt x="305931" y="258008"/>
                  <a:pt x="305753" y="266938"/>
                  <a:pt x="301466" y="274141"/>
                </a:cubicBezTo>
                <a:cubicBezTo>
                  <a:pt x="297180" y="281345"/>
                  <a:pt x="289381" y="285750"/>
                  <a:pt x="280987" y="285750"/>
                </a:cubicBezTo>
                <a:lnTo>
                  <a:pt x="23813" y="285750"/>
                </a:lnTo>
                <a:cubicBezTo>
                  <a:pt x="15419" y="285750"/>
                  <a:pt x="7680" y="281345"/>
                  <a:pt x="3334" y="274141"/>
                </a:cubicBezTo>
                <a:cubicBezTo>
                  <a:pt x="-1012" y="266938"/>
                  <a:pt x="-1131" y="258008"/>
                  <a:pt x="2858" y="250627"/>
                </a:cubicBezTo>
                <a:lnTo>
                  <a:pt x="131445" y="12502"/>
                </a:lnTo>
                <a:cubicBezTo>
                  <a:pt x="135612" y="4822"/>
                  <a:pt x="143649" y="0"/>
                  <a:pt x="152400" y="0"/>
                </a:cubicBezTo>
                <a:close/>
                <a:moveTo>
                  <a:pt x="152400" y="100013"/>
                </a:moveTo>
                <a:cubicBezTo>
                  <a:pt x="144482" y="100013"/>
                  <a:pt x="138113" y="106382"/>
                  <a:pt x="138113" y="114300"/>
                </a:cubicBezTo>
                <a:lnTo>
                  <a:pt x="138113" y="180975"/>
                </a:lnTo>
                <a:cubicBezTo>
                  <a:pt x="138113" y="188893"/>
                  <a:pt x="144482" y="195263"/>
                  <a:pt x="152400" y="195263"/>
                </a:cubicBezTo>
                <a:cubicBezTo>
                  <a:pt x="160318" y="195263"/>
                  <a:pt x="166688" y="188893"/>
                  <a:pt x="166688" y="180975"/>
                </a:cubicBezTo>
                <a:lnTo>
                  <a:pt x="166688" y="114300"/>
                </a:lnTo>
                <a:cubicBezTo>
                  <a:pt x="166688" y="106382"/>
                  <a:pt x="160318" y="100013"/>
                  <a:pt x="152400" y="100013"/>
                </a:cubicBezTo>
                <a:close/>
                <a:moveTo>
                  <a:pt x="168295" y="228600"/>
                </a:moveTo>
                <a:cubicBezTo>
                  <a:pt x="168656" y="222700"/>
                  <a:pt x="165714" y="217087"/>
                  <a:pt x="160656" y="214027"/>
                </a:cubicBezTo>
                <a:cubicBezTo>
                  <a:pt x="155599" y="210968"/>
                  <a:pt x="149261" y="210968"/>
                  <a:pt x="144203" y="214027"/>
                </a:cubicBezTo>
                <a:cubicBezTo>
                  <a:pt x="139145" y="217087"/>
                  <a:pt x="136203" y="222700"/>
                  <a:pt x="136565" y="228600"/>
                </a:cubicBezTo>
                <a:cubicBezTo>
                  <a:pt x="136203" y="234500"/>
                  <a:pt x="139145" y="240113"/>
                  <a:pt x="144203" y="243173"/>
                </a:cubicBezTo>
                <a:cubicBezTo>
                  <a:pt x="149261" y="246232"/>
                  <a:pt x="155599" y="246232"/>
                  <a:pt x="160656" y="243173"/>
                </a:cubicBezTo>
                <a:cubicBezTo>
                  <a:pt x="165714" y="240113"/>
                  <a:pt x="168656" y="234500"/>
                  <a:pt x="168295" y="228600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11557000" y="2082800"/>
            <a:ext cx="4038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典型痛点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1176000" y="2743200"/>
            <a:ext cx="4267200" cy="1346200"/>
          </a:xfrm>
          <a:custGeom>
            <a:avLst/>
            <a:gdLst/>
            <a:ahLst/>
            <a:cxnLst/>
            <a:rect l="l" t="t" r="r" b="b"/>
            <a:pathLst>
              <a:path w="4267200" h="1346200">
                <a:moveTo>
                  <a:pt x="101598" y="0"/>
                </a:moveTo>
                <a:lnTo>
                  <a:pt x="4165602" y="0"/>
                </a:lnTo>
                <a:cubicBezTo>
                  <a:pt x="4221713" y="0"/>
                  <a:pt x="4267200" y="45487"/>
                  <a:pt x="4267200" y="101598"/>
                </a:cubicBezTo>
                <a:lnTo>
                  <a:pt x="4267200" y="1244602"/>
                </a:lnTo>
                <a:cubicBezTo>
                  <a:pt x="4267200" y="1300713"/>
                  <a:pt x="4221713" y="1346200"/>
                  <a:pt x="4165602" y="1346200"/>
                </a:cubicBezTo>
                <a:lnTo>
                  <a:pt x="101598" y="1346200"/>
                </a:lnTo>
                <a:cubicBezTo>
                  <a:pt x="45487" y="1346200"/>
                  <a:pt x="0" y="1300713"/>
                  <a:pt x="0" y="1244602"/>
                </a:cubicBezTo>
                <a:lnTo>
                  <a:pt x="0" y="101598"/>
                </a:lnTo>
                <a:cubicBezTo>
                  <a:pt x="0" y="45487"/>
                  <a:pt x="45487" y="0"/>
                  <a:pt x="101598" y="0"/>
                </a:cubicBezTo>
                <a:close/>
              </a:path>
            </a:pathLst>
          </a:custGeom>
          <a:solidFill>
            <a:srgbClr val="2D3748">
              <a:alpha val="8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11379200" y="29464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718096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11531600" y="30988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13149" y="20122"/>
                </a:moveTo>
                <a:cubicBezTo>
                  <a:pt x="111085" y="15597"/>
                  <a:pt x="106561" y="12700"/>
                  <a:pt x="101600" y="12700"/>
                </a:cubicBezTo>
                <a:cubicBezTo>
                  <a:pt x="96639" y="12700"/>
                  <a:pt x="92115" y="15597"/>
                  <a:pt x="90051" y="20122"/>
                </a:cubicBezTo>
                <a:lnTo>
                  <a:pt x="23614" y="165100"/>
                </a:lnTo>
                <a:lnTo>
                  <a:pt x="19050" y="165100"/>
                </a:lnTo>
                <a:cubicBezTo>
                  <a:pt x="12025" y="165100"/>
                  <a:pt x="6350" y="170775"/>
                  <a:pt x="6350" y="177800"/>
                </a:cubicBezTo>
                <a:cubicBezTo>
                  <a:pt x="6350" y="184825"/>
                  <a:pt x="12025" y="190500"/>
                  <a:pt x="19050" y="190500"/>
                </a:cubicBezTo>
                <a:lnTo>
                  <a:pt x="53975" y="190500"/>
                </a:lnTo>
                <a:cubicBezTo>
                  <a:pt x="61000" y="190500"/>
                  <a:pt x="66675" y="184825"/>
                  <a:pt x="66675" y="177800"/>
                </a:cubicBezTo>
                <a:cubicBezTo>
                  <a:pt x="66675" y="170775"/>
                  <a:pt x="61000" y="165100"/>
                  <a:pt x="53975" y="165100"/>
                </a:cubicBezTo>
                <a:lnTo>
                  <a:pt x="51554" y="165100"/>
                </a:lnTo>
                <a:lnTo>
                  <a:pt x="60285" y="146050"/>
                </a:lnTo>
                <a:lnTo>
                  <a:pt x="142954" y="146050"/>
                </a:lnTo>
                <a:lnTo>
                  <a:pt x="151686" y="165100"/>
                </a:lnTo>
                <a:lnTo>
                  <a:pt x="149265" y="165100"/>
                </a:lnTo>
                <a:cubicBezTo>
                  <a:pt x="142240" y="165100"/>
                  <a:pt x="136565" y="170775"/>
                  <a:pt x="136565" y="177800"/>
                </a:cubicBezTo>
                <a:cubicBezTo>
                  <a:pt x="136565" y="184825"/>
                  <a:pt x="142240" y="190500"/>
                  <a:pt x="149265" y="190500"/>
                </a:cubicBezTo>
                <a:lnTo>
                  <a:pt x="184190" y="190500"/>
                </a:lnTo>
                <a:cubicBezTo>
                  <a:pt x="191214" y="190500"/>
                  <a:pt x="196890" y="184825"/>
                  <a:pt x="196890" y="177800"/>
                </a:cubicBezTo>
                <a:cubicBezTo>
                  <a:pt x="196890" y="170775"/>
                  <a:pt x="191214" y="165100"/>
                  <a:pt x="184190" y="165100"/>
                </a:cubicBezTo>
                <a:lnTo>
                  <a:pt x="179626" y="165100"/>
                </a:lnTo>
                <a:lnTo>
                  <a:pt x="113189" y="20122"/>
                </a:lnTo>
                <a:close/>
                <a:moveTo>
                  <a:pt x="131286" y="120650"/>
                </a:moveTo>
                <a:lnTo>
                  <a:pt x="71914" y="120650"/>
                </a:lnTo>
                <a:lnTo>
                  <a:pt x="101600" y="55880"/>
                </a:lnTo>
                <a:lnTo>
                  <a:pt x="131286" y="120650"/>
                </a:ln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12039600" y="3022600"/>
            <a:ext cx="1257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字段名晦涩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1379200" y="3556000"/>
            <a:ext cx="3962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如ts、u_id、amt、st、ch,无法理解含义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11176000" y="4292600"/>
            <a:ext cx="4267200" cy="1346200"/>
          </a:xfrm>
          <a:custGeom>
            <a:avLst/>
            <a:gdLst/>
            <a:ahLst/>
            <a:cxnLst/>
            <a:rect l="l" t="t" r="r" b="b"/>
            <a:pathLst>
              <a:path w="4267200" h="1346200">
                <a:moveTo>
                  <a:pt x="101598" y="0"/>
                </a:moveTo>
                <a:lnTo>
                  <a:pt x="4165602" y="0"/>
                </a:lnTo>
                <a:cubicBezTo>
                  <a:pt x="4221713" y="0"/>
                  <a:pt x="4267200" y="45487"/>
                  <a:pt x="4267200" y="101598"/>
                </a:cubicBezTo>
                <a:lnTo>
                  <a:pt x="4267200" y="1244602"/>
                </a:lnTo>
                <a:cubicBezTo>
                  <a:pt x="4267200" y="1300713"/>
                  <a:pt x="4221713" y="1346200"/>
                  <a:pt x="4165602" y="1346200"/>
                </a:cubicBezTo>
                <a:lnTo>
                  <a:pt x="101598" y="1346200"/>
                </a:lnTo>
                <a:cubicBezTo>
                  <a:pt x="45487" y="1346200"/>
                  <a:pt x="0" y="1300713"/>
                  <a:pt x="0" y="1244602"/>
                </a:cubicBezTo>
                <a:lnTo>
                  <a:pt x="0" y="101598"/>
                </a:lnTo>
                <a:cubicBezTo>
                  <a:pt x="0" y="45487"/>
                  <a:pt x="45487" y="0"/>
                  <a:pt x="101598" y="0"/>
                </a:cubicBezTo>
                <a:close/>
              </a:path>
            </a:pathLst>
          </a:custGeom>
          <a:solidFill>
            <a:srgbClr val="2D3748">
              <a:alpha val="8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11379200" y="44958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718096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11531600" y="46482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0"/>
                </a:moveTo>
                <a:cubicBezTo>
                  <a:pt x="157675" y="0"/>
                  <a:pt x="203200" y="45525"/>
                  <a:pt x="203200" y="101600"/>
                </a:cubicBezTo>
                <a:cubicBezTo>
                  <a:pt x="203200" y="157675"/>
                  <a:pt x="157675" y="203200"/>
                  <a:pt x="101600" y="203200"/>
                </a:cubicBezTo>
                <a:cubicBezTo>
                  <a:pt x="45525" y="203200"/>
                  <a:pt x="0" y="157675"/>
                  <a:pt x="0" y="101600"/>
                </a:cubicBezTo>
                <a:cubicBezTo>
                  <a:pt x="0" y="45525"/>
                  <a:pt x="45525" y="0"/>
                  <a:pt x="101600" y="0"/>
                </a:cubicBezTo>
                <a:close/>
                <a:moveTo>
                  <a:pt x="92075" y="47625"/>
                </a:moveTo>
                <a:lnTo>
                  <a:pt x="92075" y="101600"/>
                </a:lnTo>
                <a:cubicBezTo>
                  <a:pt x="92075" y="104775"/>
                  <a:pt x="93663" y="107752"/>
                  <a:pt x="96322" y="109538"/>
                </a:cubicBezTo>
                <a:lnTo>
                  <a:pt x="134422" y="134938"/>
                </a:lnTo>
                <a:cubicBezTo>
                  <a:pt x="138787" y="137874"/>
                  <a:pt x="144701" y="136684"/>
                  <a:pt x="147638" y="132278"/>
                </a:cubicBezTo>
                <a:cubicBezTo>
                  <a:pt x="150574" y="127873"/>
                  <a:pt x="149384" y="121999"/>
                  <a:pt x="144978" y="119063"/>
                </a:cubicBezTo>
                <a:lnTo>
                  <a:pt x="111125" y="96520"/>
                </a:lnTo>
                <a:lnTo>
                  <a:pt x="111125" y="47625"/>
                </a:lnTo>
                <a:cubicBezTo>
                  <a:pt x="111125" y="42347"/>
                  <a:pt x="106878" y="38100"/>
                  <a:pt x="101600" y="38100"/>
                </a:cubicBezTo>
                <a:cubicBezTo>
                  <a:pt x="96322" y="38100"/>
                  <a:pt x="92075" y="42347"/>
                  <a:pt x="92075" y="47625"/>
                </a:cubicBez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12039600" y="4572000"/>
            <a:ext cx="1257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时间戳难读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1379200" y="5105400"/>
            <a:ext cx="3962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Unix时间戳(如1639012345)不直观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11176000" y="5842000"/>
            <a:ext cx="4267200" cy="1346200"/>
          </a:xfrm>
          <a:custGeom>
            <a:avLst/>
            <a:gdLst/>
            <a:ahLst/>
            <a:cxnLst/>
            <a:rect l="l" t="t" r="r" b="b"/>
            <a:pathLst>
              <a:path w="4267200" h="1346200">
                <a:moveTo>
                  <a:pt x="101598" y="0"/>
                </a:moveTo>
                <a:lnTo>
                  <a:pt x="4165602" y="0"/>
                </a:lnTo>
                <a:cubicBezTo>
                  <a:pt x="4221713" y="0"/>
                  <a:pt x="4267200" y="45487"/>
                  <a:pt x="4267200" y="101598"/>
                </a:cubicBezTo>
                <a:lnTo>
                  <a:pt x="4267200" y="1244602"/>
                </a:lnTo>
                <a:cubicBezTo>
                  <a:pt x="4267200" y="1300713"/>
                  <a:pt x="4221713" y="1346200"/>
                  <a:pt x="4165602" y="1346200"/>
                </a:cubicBezTo>
                <a:lnTo>
                  <a:pt x="101598" y="1346200"/>
                </a:lnTo>
                <a:cubicBezTo>
                  <a:pt x="45487" y="1346200"/>
                  <a:pt x="0" y="1300713"/>
                  <a:pt x="0" y="1244602"/>
                </a:cubicBezTo>
                <a:lnTo>
                  <a:pt x="0" y="101598"/>
                </a:lnTo>
                <a:cubicBezTo>
                  <a:pt x="0" y="45487"/>
                  <a:pt x="45487" y="0"/>
                  <a:pt x="101598" y="0"/>
                </a:cubicBezTo>
                <a:close/>
              </a:path>
            </a:pathLst>
          </a:custGeom>
          <a:solidFill>
            <a:srgbClr val="2D3748">
              <a:alpha val="8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9"/>
          <p:cNvSpPr/>
          <p:nvPr/>
        </p:nvSpPr>
        <p:spPr>
          <a:xfrm>
            <a:off x="11379200" y="60452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718096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50"/>
          <p:cNvSpPr/>
          <p:nvPr/>
        </p:nvSpPr>
        <p:spPr>
          <a:xfrm>
            <a:off x="11531600" y="61976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01600" y="69850"/>
                </a:moveTo>
                <a:cubicBezTo>
                  <a:pt x="94575" y="69850"/>
                  <a:pt x="88900" y="75525"/>
                  <a:pt x="88900" y="82550"/>
                </a:cubicBezTo>
                <a:cubicBezTo>
                  <a:pt x="88900" y="87828"/>
                  <a:pt x="84653" y="92075"/>
                  <a:pt x="79375" y="92075"/>
                </a:cubicBezTo>
                <a:cubicBezTo>
                  <a:pt x="74097" y="92075"/>
                  <a:pt x="69850" y="87828"/>
                  <a:pt x="69850" y="82550"/>
                </a:cubicBezTo>
                <a:cubicBezTo>
                  <a:pt x="69850" y="65008"/>
                  <a:pt x="84058" y="50800"/>
                  <a:pt x="101600" y="50800"/>
                </a:cubicBezTo>
                <a:cubicBezTo>
                  <a:pt x="119142" y="50800"/>
                  <a:pt x="133350" y="65008"/>
                  <a:pt x="133350" y="82550"/>
                </a:cubicBezTo>
                <a:cubicBezTo>
                  <a:pt x="133350" y="101283"/>
                  <a:pt x="119063" y="109220"/>
                  <a:pt x="111125" y="112117"/>
                </a:cubicBezTo>
                <a:lnTo>
                  <a:pt x="111125" y="113625"/>
                </a:lnTo>
                <a:cubicBezTo>
                  <a:pt x="111125" y="118904"/>
                  <a:pt x="106878" y="123150"/>
                  <a:pt x="101600" y="123150"/>
                </a:cubicBezTo>
                <a:cubicBezTo>
                  <a:pt x="96322" y="123150"/>
                  <a:pt x="92075" y="118904"/>
                  <a:pt x="92075" y="113625"/>
                </a:cubicBezTo>
                <a:lnTo>
                  <a:pt x="92075" y="110411"/>
                </a:lnTo>
                <a:cubicBezTo>
                  <a:pt x="92075" y="102275"/>
                  <a:pt x="97949" y="96441"/>
                  <a:pt x="104021" y="94456"/>
                </a:cubicBezTo>
                <a:cubicBezTo>
                  <a:pt x="106561" y="93623"/>
                  <a:pt x="109260" y="92273"/>
                  <a:pt x="111244" y="90368"/>
                </a:cubicBezTo>
                <a:cubicBezTo>
                  <a:pt x="112951" y="88702"/>
                  <a:pt x="114300" y="86400"/>
                  <a:pt x="114300" y="82590"/>
                </a:cubicBezTo>
                <a:cubicBezTo>
                  <a:pt x="114300" y="75565"/>
                  <a:pt x="108625" y="69890"/>
                  <a:pt x="101600" y="69890"/>
                </a:cubicBezTo>
                <a:close/>
                <a:moveTo>
                  <a:pt x="88900" y="146050"/>
                </a:moveTo>
                <a:cubicBezTo>
                  <a:pt x="88900" y="139041"/>
                  <a:pt x="94591" y="133350"/>
                  <a:pt x="101600" y="133350"/>
                </a:cubicBezTo>
                <a:cubicBezTo>
                  <a:pt x="108609" y="133350"/>
                  <a:pt x="114300" y="139041"/>
                  <a:pt x="114300" y="146050"/>
                </a:cubicBezTo>
                <a:cubicBezTo>
                  <a:pt x="114300" y="153059"/>
                  <a:pt x="108609" y="158750"/>
                  <a:pt x="101600" y="158750"/>
                </a:cubicBezTo>
                <a:cubicBezTo>
                  <a:pt x="94591" y="158750"/>
                  <a:pt x="88900" y="153059"/>
                  <a:pt x="88900" y="146050"/>
                </a:cubicBez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12039600" y="6121400"/>
            <a:ext cx="1714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状态码含义不明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1379200" y="6654800"/>
            <a:ext cx="3962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状态码(如st=1)需要查文档才知道含义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11176000" y="7499350"/>
            <a:ext cx="4267200" cy="12700"/>
          </a:xfrm>
          <a:custGeom>
            <a:avLst/>
            <a:gdLst/>
            <a:ahLst/>
            <a:cxnLst/>
            <a:rect l="l" t="t" r="r" b="b"/>
            <a:pathLst>
              <a:path w="4267200" h="12700">
                <a:moveTo>
                  <a:pt x="0" y="0"/>
                </a:moveTo>
                <a:lnTo>
                  <a:pt x="4267200" y="0"/>
                </a:lnTo>
                <a:lnTo>
                  <a:pt x="42672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Shape 54"/>
          <p:cNvSpPr/>
          <p:nvPr/>
        </p:nvSpPr>
        <p:spPr>
          <a:xfrm>
            <a:off x="11226800" y="7759700"/>
            <a:ext cx="152400" cy="203200"/>
          </a:xfrm>
          <a:custGeom>
            <a:avLst/>
            <a:gdLst/>
            <a:ahLst/>
            <a:cxnLst/>
            <a:rect l="l" t="t" r="r" b="b"/>
            <a:pathLst>
              <a:path w="152400" h="203200">
                <a:moveTo>
                  <a:pt x="116245" y="152400"/>
                </a:moveTo>
                <a:cubicBezTo>
                  <a:pt x="119142" y="143550"/>
                  <a:pt x="124936" y="135533"/>
                  <a:pt x="131485" y="128627"/>
                </a:cubicBezTo>
                <a:cubicBezTo>
                  <a:pt x="144462" y="114975"/>
                  <a:pt x="152400" y="96520"/>
                  <a:pt x="152400" y="76200"/>
                </a:cubicBezTo>
                <a:cubicBezTo>
                  <a:pt x="152400" y="34131"/>
                  <a:pt x="118269" y="0"/>
                  <a:pt x="76200" y="0"/>
                </a:cubicBezTo>
                <a:cubicBezTo>
                  <a:pt x="34131" y="0"/>
                  <a:pt x="0" y="34131"/>
                  <a:pt x="0" y="76200"/>
                </a:cubicBezTo>
                <a:cubicBezTo>
                  <a:pt x="0" y="96520"/>
                  <a:pt x="7938" y="114975"/>
                  <a:pt x="20915" y="128627"/>
                </a:cubicBezTo>
                <a:cubicBezTo>
                  <a:pt x="27464" y="135533"/>
                  <a:pt x="33298" y="143550"/>
                  <a:pt x="36155" y="152400"/>
                </a:cubicBezTo>
                <a:lnTo>
                  <a:pt x="116205" y="152400"/>
                </a:lnTo>
                <a:close/>
                <a:moveTo>
                  <a:pt x="114300" y="171450"/>
                </a:moveTo>
                <a:lnTo>
                  <a:pt x="38100" y="171450"/>
                </a:lnTo>
                <a:lnTo>
                  <a:pt x="38100" y="177800"/>
                </a:lnTo>
                <a:cubicBezTo>
                  <a:pt x="38100" y="195342"/>
                  <a:pt x="52308" y="209550"/>
                  <a:pt x="69850" y="209550"/>
                </a:cubicBezTo>
                <a:lnTo>
                  <a:pt x="82550" y="209550"/>
                </a:lnTo>
                <a:cubicBezTo>
                  <a:pt x="100092" y="209550"/>
                  <a:pt x="114300" y="195342"/>
                  <a:pt x="114300" y="177800"/>
                </a:cubicBezTo>
                <a:lnTo>
                  <a:pt x="114300" y="171450"/>
                </a:lnTo>
                <a:close/>
                <a:moveTo>
                  <a:pt x="73025" y="44450"/>
                </a:moveTo>
                <a:cubicBezTo>
                  <a:pt x="57229" y="44450"/>
                  <a:pt x="44450" y="57229"/>
                  <a:pt x="44450" y="73025"/>
                </a:cubicBezTo>
                <a:cubicBezTo>
                  <a:pt x="44450" y="78303"/>
                  <a:pt x="40203" y="82550"/>
                  <a:pt x="34925" y="82550"/>
                </a:cubicBezTo>
                <a:cubicBezTo>
                  <a:pt x="29647" y="82550"/>
                  <a:pt x="25400" y="78303"/>
                  <a:pt x="25400" y="73025"/>
                </a:cubicBezTo>
                <a:cubicBezTo>
                  <a:pt x="25400" y="46712"/>
                  <a:pt x="46712" y="25400"/>
                  <a:pt x="73025" y="25400"/>
                </a:cubicBezTo>
                <a:cubicBezTo>
                  <a:pt x="78303" y="25400"/>
                  <a:pt x="82550" y="29647"/>
                  <a:pt x="82550" y="34925"/>
                </a:cubicBezTo>
                <a:cubicBezTo>
                  <a:pt x="82550" y="40203"/>
                  <a:pt x="78303" y="44450"/>
                  <a:pt x="73025" y="44450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11531600" y="77089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解决方案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1176000" y="8115300"/>
            <a:ext cx="43688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通过分层架构,逐步解决这些问题,将原始数据转化为可用的业务洞察。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08000"/>
            <a:ext cx="1638300" cy="406400"/>
          </a:xfrm>
          <a:custGeom>
            <a:avLst/>
            <a:gdLst/>
            <a:ahLst/>
            <a:cxnLst/>
            <a:rect l="l" t="t" r="r" b="b"/>
            <a:pathLst>
              <a:path w="1638300" h="406400">
                <a:moveTo>
                  <a:pt x="0" y="0"/>
                </a:moveTo>
                <a:lnTo>
                  <a:pt x="1638300" y="0"/>
                </a:lnTo>
                <a:lnTo>
                  <a:pt x="16383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718096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533400" y="508000"/>
            <a:ext cx="50800" cy="406400"/>
          </a:xfrm>
          <a:custGeom>
            <a:avLst/>
            <a:gdLst/>
            <a:ahLst/>
            <a:cxnLst/>
            <a:rect l="l" t="t" r="r" b="b"/>
            <a:pathLst>
              <a:path w="50800" h="406400">
                <a:moveTo>
                  <a:pt x="0" y="0"/>
                </a:moveTo>
                <a:lnTo>
                  <a:pt x="50800" y="0"/>
                </a:lnTo>
                <a:lnTo>
                  <a:pt x="508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2000" y="577850"/>
            <a:ext cx="13042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ODS LAYER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8000" y="10160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2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ODS层：原始事实数据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8000" y="1778000"/>
            <a:ext cx="10871200" cy="7340600"/>
          </a:xfrm>
          <a:custGeom>
            <a:avLst/>
            <a:gdLst/>
            <a:ahLst/>
            <a:cxnLst/>
            <a:rect l="l" t="t" r="r" b="b"/>
            <a:pathLst>
              <a:path w="10871200" h="7340600">
                <a:moveTo>
                  <a:pt x="101594" y="0"/>
                </a:moveTo>
                <a:lnTo>
                  <a:pt x="10769606" y="0"/>
                </a:lnTo>
                <a:cubicBezTo>
                  <a:pt x="10825715" y="0"/>
                  <a:pt x="10871200" y="45485"/>
                  <a:pt x="10871200" y="101594"/>
                </a:cubicBezTo>
                <a:lnTo>
                  <a:pt x="10871200" y="7239006"/>
                </a:lnTo>
                <a:cubicBezTo>
                  <a:pt x="10871200" y="7295115"/>
                  <a:pt x="10825715" y="7340600"/>
                  <a:pt x="10769606" y="7340600"/>
                </a:cubicBezTo>
                <a:lnTo>
                  <a:pt x="101594" y="7340600"/>
                </a:lnTo>
                <a:cubicBezTo>
                  <a:pt x="45485" y="7340600"/>
                  <a:pt x="0" y="7295115"/>
                  <a:pt x="0" y="7239006"/>
                </a:cubicBezTo>
                <a:lnTo>
                  <a:pt x="0" y="101594"/>
                </a:lnTo>
                <a:cubicBezTo>
                  <a:pt x="0" y="45523"/>
                  <a:pt x="45523" y="0"/>
                  <a:pt x="101594" y="0"/>
                </a:cubicBezTo>
                <a:close/>
              </a:path>
            </a:pathLst>
          </a:custGeom>
          <a:solidFill>
            <a:srgbClr val="2D3748">
              <a:alpha val="4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781050" y="20828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214789" y="714"/>
                </a:moveTo>
                <a:cubicBezTo>
                  <a:pt x="204668" y="-2203"/>
                  <a:pt x="194131" y="3691"/>
                  <a:pt x="191214" y="13811"/>
                </a:cubicBezTo>
                <a:lnTo>
                  <a:pt x="115014" y="280511"/>
                </a:lnTo>
                <a:cubicBezTo>
                  <a:pt x="112097" y="290632"/>
                  <a:pt x="117991" y="301169"/>
                  <a:pt x="128111" y="304086"/>
                </a:cubicBezTo>
                <a:cubicBezTo>
                  <a:pt x="138232" y="307003"/>
                  <a:pt x="148769" y="301109"/>
                  <a:pt x="151686" y="290989"/>
                </a:cubicBezTo>
                <a:lnTo>
                  <a:pt x="227886" y="24289"/>
                </a:lnTo>
                <a:cubicBezTo>
                  <a:pt x="230803" y="14168"/>
                  <a:pt x="224909" y="3631"/>
                  <a:pt x="214789" y="714"/>
                </a:cubicBezTo>
                <a:close/>
                <a:moveTo>
                  <a:pt x="253246" y="81736"/>
                </a:moveTo>
                <a:cubicBezTo>
                  <a:pt x="245805" y="89178"/>
                  <a:pt x="245805" y="101263"/>
                  <a:pt x="253246" y="108704"/>
                </a:cubicBezTo>
                <a:lnTo>
                  <a:pt x="296942" y="152400"/>
                </a:lnTo>
                <a:lnTo>
                  <a:pt x="253246" y="196096"/>
                </a:lnTo>
                <a:cubicBezTo>
                  <a:pt x="245805" y="203537"/>
                  <a:pt x="245805" y="215622"/>
                  <a:pt x="253246" y="223064"/>
                </a:cubicBezTo>
                <a:cubicBezTo>
                  <a:pt x="260687" y="230505"/>
                  <a:pt x="272772" y="230505"/>
                  <a:pt x="280214" y="223064"/>
                </a:cubicBezTo>
                <a:lnTo>
                  <a:pt x="337364" y="165914"/>
                </a:lnTo>
                <a:cubicBezTo>
                  <a:pt x="344805" y="158472"/>
                  <a:pt x="344805" y="146387"/>
                  <a:pt x="337364" y="138946"/>
                </a:cubicBezTo>
                <a:lnTo>
                  <a:pt x="280214" y="81796"/>
                </a:lnTo>
                <a:cubicBezTo>
                  <a:pt x="272772" y="74355"/>
                  <a:pt x="260687" y="74355"/>
                  <a:pt x="253246" y="81796"/>
                </a:cubicBezTo>
                <a:close/>
                <a:moveTo>
                  <a:pt x="89714" y="81736"/>
                </a:moveTo>
                <a:cubicBezTo>
                  <a:pt x="82272" y="74295"/>
                  <a:pt x="70187" y="74295"/>
                  <a:pt x="62746" y="81736"/>
                </a:cubicBezTo>
                <a:lnTo>
                  <a:pt x="5596" y="138886"/>
                </a:lnTo>
                <a:cubicBezTo>
                  <a:pt x="-1845" y="146328"/>
                  <a:pt x="-1845" y="158413"/>
                  <a:pt x="5596" y="165854"/>
                </a:cubicBezTo>
                <a:lnTo>
                  <a:pt x="62746" y="223004"/>
                </a:lnTo>
                <a:cubicBezTo>
                  <a:pt x="70187" y="230445"/>
                  <a:pt x="82272" y="230445"/>
                  <a:pt x="89714" y="223004"/>
                </a:cubicBezTo>
                <a:cubicBezTo>
                  <a:pt x="97155" y="215563"/>
                  <a:pt x="97155" y="203478"/>
                  <a:pt x="89714" y="196036"/>
                </a:cubicBezTo>
                <a:lnTo>
                  <a:pt x="46018" y="152400"/>
                </a:lnTo>
                <a:lnTo>
                  <a:pt x="89654" y="108704"/>
                </a:lnTo>
                <a:cubicBezTo>
                  <a:pt x="97095" y="101263"/>
                  <a:pt x="97095" y="89178"/>
                  <a:pt x="89654" y="81736"/>
                </a:cubicBez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143000" y="2032000"/>
            <a:ext cx="10134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原始数据示例：raw_transfer_log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87400" y="2641600"/>
            <a:ext cx="10337800" cy="3175000"/>
          </a:xfrm>
          <a:custGeom>
            <a:avLst/>
            <a:gdLst/>
            <a:ahLst/>
            <a:cxnLst/>
            <a:rect l="l" t="t" r="r" b="b"/>
            <a:pathLst>
              <a:path w="10337800" h="3175000">
                <a:moveTo>
                  <a:pt x="50800" y="0"/>
                </a:moveTo>
                <a:lnTo>
                  <a:pt x="10236200" y="0"/>
                </a:lnTo>
                <a:cubicBezTo>
                  <a:pt x="10292275" y="0"/>
                  <a:pt x="10337800" y="45525"/>
                  <a:pt x="10337800" y="101600"/>
                </a:cubicBezTo>
                <a:lnTo>
                  <a:pt x="10337800" y="3073400"/>
                </a:lnTo>
                <a:cubicBezTo>
                  <a:pt x="10337800" y="3129475"/>
                  <a:pt x="10292275" y="3175000"/>
                  <a:pt x="10236200" y="3175000"/>
                </a:cubicBezTo>
                <a:lnTo>
                  <a:pt x="50800" y="3175000"/>
                </a:lnTo>
                <a:cubicBezTo>
                  <a:pt x="22763" y="3175000"/>
                  <a:pt x="0" y="3152237"/>
                  <a:pt x="0" y="3124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202C">
              <a:alpha val="8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787400" y="2641600"/>
            <a:ext cx="50800" cy="3175000"/>
          </a:xfrm>
          <a:custGeom>
            <a:avLst/>
            <a:gdLst/>
            <a:ahLst/>
            <a:cxnLst/>
            <a:rect l="l" t="t" r="r" b="b"/>
            <a:pathLst>
              <a:path w="50800" h="3175000">
                <a:moveTo>
                  <a:pt x="50800" y="0"/>
                </a:moveTo>
                <a:lnTo>
                  <a:pt x="50800" y="0"/>
                </a:lnTo>
                <a:lnTo>
                  <a:pt x="50800" y="3175000"/>
                </a:lnTo>
                <a:lnTo>
                  <a:pt x="50800" y="3175000"/>
                </a:lnTo>
                <a:cubicBezTo>
                  <a:pt x="22763" y="3175000"/>
                  <a:pt x="0" y="3152237"/>
                  <a:pt x="0" y="3124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1066800" y="2895600"/>
            <a:ext cx="152400" cy="203200"/>
          </a:xfrm>
          <a:custGeom>
            <a:avLst/>
            <a:gdLst/>
            <a:ahLst/>
            <a:cxnLst/>
            <a:rect l="l" t="t" r="r" b="b"/>
            <a:pathLst>
              <a:path w="152400" h="203200">
                <a:moveTo>
                  <a:pt x="0" y="25400"/>
                </a:moveTo>
                <a:cubicBezTo>
                  <a:pt x="0" y="11390"/>
                  <a:pt x="11390" y="0"/>
                  <a:pt x="25400" y="0"/>
                </a:cubicBezTo>
                <a:lnTo>
                  <a:pt x="84733" y="0"/>
                </a:lnTo>
                <a:cubicBezTo>
                  <a:pt x="91480" y="0"/>
                  <a:pt x="97949" y="2659"/>
                  <a:pt x="102711" y="7422"/>
                </a:cubicBezTo>
                <a:lnTo>
                  <a:pt x="144978" y="49728"/>
                </a:lnTo>
                <a:cubicBezTo>
                  <a:pt x="149741" y="54491"/>
                  <a:pt x="152400" y="60960"/>
                  <a:pt x="152400" y="67707"/>
                </a:cubicBezTo>
                <a:lnTo>
                  <a:pt x="152400" y="177800"/>
                </a:lnTo>
                <a:cubicBezTo>
                  <a:pt x="152400" y="191810"/>
                  <a:pt x="141010" y="203200"/>
                  <a:pt x="127000" y="203200"/>
                </a:cubicBezTo>
                <a:lnTo>
                  <a:pt x="25400" y="203200"/>
                </a:lnTo>
                <a:cubicBezTo>
                  <a:pt x="11390" y="203200"/>
                  <a:pt x="0" y="191810"/>
                  <a:pt x="0" y="177800"/>
                </a:cubicBezTo>
                <a:lnTo>
                  <a:pt x="0" y="25400"/>
                </a:lnTo>
                <a:close/>
                <a:moveTo>
                  <a:pt x="82550" y="23217"/>
                </a:moveTo>
                <a:lnTo>
                  <a:pt x="82550" y="60325"/>
                </a:lnTo>
                <a:cubicBezTo>
                  <a:pt x="82550" y="65603"/>
                  <a:pt x="86797" y="69850"/>
                  <a:pt x="92075" y="69850"/>
                </a:cubicBezTo>
                <a:lnTo>
                  <a:pt x="129183" y="69850"/>
                </a:lnTo>
                <a:lnTo>
                  <a:pt x="82550" y="23217"/>
                </a:lnTo>
                <a:close/>
                <a:moveTo>
                  <a:pt x="61198" y="117316"/>
                </a:moveTo>
                <a:cubicBezTo>
                  <a:pt x="64611" y="113308"/>
                  <a:pt x="64175" y="107315"/>
                  <a:pt x="60166" y="103902"/>
                </a:cubicBezTo>
                <a:cubicBezTo>
                  <a:pt x="56158" y="100489"/>
                  <a:pt x="50165" y="100925"/>
                  <a:pt x="46752" y="104934"/>
                </a:cubicBezTo>
                <a:lnTo>
                  <a:pt x="27702" y="127159"/>
                </a:lnTo>
                <a:cubicBezTo>
                  <a:pt x="24646" y="130731"/>
                  <a:pt x="24646" y="135969"/>
                  <a:pt x="27702" y="139541"/>
                </a:cubicBezTo>
                <a:lnTo>
                  <a:pt x="46752" y="161766"/>
                </a:lnTo>
                <a:cubicBezTo>
                  <a:pt x="50165" y="165775"/>
                  <a:pt x="56198" y="166211"/>
                  <a:pt x="60166" y="162798"/>
                </a:cubicBezTo>
                <a:cubicBezTo>
                  <a:pt x="64135" y="159385"/>
                  <a:pt x="64611" y="153353"/>
                  <a:pt x="61198" y="149384"/>
                </a:cubicBezTo>
                <a:lnTo>
                  <a:pt x="47466" y="133350"/>
                </a:lnTo>
                <a:lnTo>
                  <a:pt x="61198" y="117316"/>
                </a:lnTo>
                <a:close/>
                <a:moveTo>
                  <a:pt x="105648" y="104934"/>
                </a:moveTo>
                <a:cubicBezTo>
                  <a:pt x="102235" y="100925"/>
                  <a:pt x="96202" y="100489"/>
                  <a:pt x="92234" y="103902"/>
                </a:cubicBezTo>
                <a:cubicBezTo>
                  <a:pt x="88265" y="107315"/>
                  <a:pt x="87789" y="113348"/>
                  <a:pt x="91202" y="117316"/>
                </a:cubicBezTo>
                <a:lnTo>
                  <a:pt x="104934" y="133350"/>
                </a:lnTo>
                <a:lnTo>
                  <a:pt x="91202" y="149384"/>
                </a:lnTo>
                <a:cubicBezTo>
                  <a:pt x="87789" y="153392"/>
                  <a:pt x="88225" y="159385"/>
                  <a:pt x="92234" y="162798"/>
                </a:cubicBezTo>
                <a:cubicBezTo>
                  <a:pt x="96242" y="166211"/>
                  <a:pt x="102235" y="165775"/>
                  <a:pt x="105648" y="161766"/>
                </a:cubicBezTo>
                <a:lnTo>
                  <a:pt x="124698" y="139541"/>
                </a:lnTo>
                <a:cubicBezTo>
                  <a:pt x="127754" y="135969"/>
                  <a:pt x="127754" y="130731"/>
                  <a:pt x="124698" y="127159"/>
                </a:cubicBezTo>
                <a:lnTo>
                  <a:pt x="105648" y="104934"/>
                </a:ln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1371600" y="2844800"/>
            <a:ext cx="102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JSON格式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16000" y="3346450"/>
            <a:ext cx="2670671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{ "ts": "1639012345", "u_id": "A1001", "amt": "100.00", "st": "1", "ch": "MB" }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6019800"/>
            <a:ext cx="5080000" cy="2844800"/>
          </a:xfrm>
          <a:custGeom>
            <a:avLst/>
            <a:gdLst/>
            <a:ahLst/>
            <a:cxnLst/>
            <a:rect l="l" t="t" r="r" b="b"/>
            <a:pathLst>
              <a:path w="5080000" h="2844800">
                <a:moveTo>
                  <a:pt x="101588" y="0"/>
                </a:moveTo>
                <a:lnTo>
                  <a:pt x="4978412" y="0"/>
                </a:lnTo>
                <a:cubicBezTo>
                  <a:pt x="5034518" y="0"/>
                  <a:pt x="5080000" y="45482"/>
                  <a:pt x="5080000" y="101588"/>
                </a:cubicBezTo>
                <a:lnTo>
                  <a:pt x="5080000" y="2743212"/>
                </a:lnTo>
                <a:cubicBezTo>
                  <a:pt x="5080000" y="2799318"/>
                  <a:pt x="5034518" y="2844800"/>
                  <a:pt x="4978412" y="2844800"/>
                </a:cubicBezTo>
                <a:lnTo>
                  <a:pt x="101588" y="2844800"/>
                </a:lnTo>
                <a:cubicBezTo>
                  <a:pt x="45482" y="2844800"/>
                  <a:pt x="0" y="2799318"/>
                  <a:pt x="0" y="2743212"/>
                </a:cubicBezTo>
                <a:lnTo>
                  <a:pt x="0" y="101588"/>
                </a:lnTo>
                <a:cubicBezTo>
                  <a:pt x="0" y="45482"/>
                  <a:pt x="45482" y="0"/>
                  <a:pt x="101588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996950" y="62865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14300" y="78581"/>
                </a:moveTo>
                <a:cubicBezTo>
                  <a:pt x="106397" y="78581"/>
                  <a:pt x="100013" y="84966"/>
                  <a:pt x="100013" y="92869"/>
                </a:cubicBezTo>
                <a:cubicBezTo>
                  <a:pt x="100013" y="98807"/>
                  <a:pt x="95235" y="103584"/>
                  <a:pt x="89297" y="103584"/>
                </a:cubicBezTo>
                <a:cubicBezTo>
                  <a:pt x="83359" y="103584"/>
                  <a:pt x="78581" y="98807"/>
                  <a:pt x="78581" y="92869"/>
                </a:cubicBezTo>
                <a:cubicBezTo>
                  <a:pt x="78581" y="73134"/>
                  <a:pt x="94565" y="57150"/>
                  <a:pt x="114300" y="57150"/>
                </a:cubicBezTo>
                <a:cubicBezTo>
                  <a:pt x="134035" y="57150"/>
                  <a:pt x="150019" y="73134"/>
                  <a:pt x="150019" y="92869"/>
                </a:cubicBezTo>
                <a:cubicBezTo>
                  <a:pt x="150019" y="113943"/>
                  <a:pt x="133945" y="122873"/>
                  <a:pt x="125016" y="126132"/>
                </a:cubicBezTo>
                <a:lnTo>
                  <a:pt x="125016" y="127828"/>
                </a:lnTo>
                <a:cubicBezTo>
                  <a:pt x="125016" y="133767"/>
                  <a:pt x="120238" y="138544"/>
                  <a:pt x="114300" y="138544"/>
                </a:cubicBezTo>
                <a:cubicBezTo>
                  <a:pt x="108362" y="138544"/>
                  <a:pt x="103584" y="133767"/>
                  <a:pt x="103584" y="127828"/>
                </a:cubicBezTo>
                <a:lnTo>
                  <a:pt x="103584" y="124212"/>
                </a:lnTo>
                <a:cubicBezTo>
                  <a:pt x="103584" y="115059"/>
                  <a:pt x="110192" y="108496"/>
                  <a:pt x="117024" y="106263"/>
                </a:cubicBezTo>
                <a:cubicBezTo>
                  <a:pt x="119881" y="105326"/>
                  <a:pt x="122917" y="103808"/>
                  <a:pt x="125150" y="101664"/>
                </a:cubicBezTo>
                <a:cubicBezTo>
                  <a:pt x="127069" y="99789"/>
                  <a:pt x="128588" y="97200"/>
                  <a:pt x="128588" y="92913"/>
                </a:cubicBezTo>
                <a:cubicBezTo>
                  <a:pt x="128588" y="85011"/>
                  <a:pt x="122203" y="78626"/>
                  <a:pt x="114300" y="78626"/>
                </a:cubicBezTo>
                <a:close/>
                <a:moveTo>
                  <a:pt x="100013" y="164306"/>
                </a:moveTo>
                <a:cubicBezTo>
                  <a:pt x="100013" y="156421"/>
                  <a:pt x="106415" y="150019"/>
                  <a:pt x="114300" y="150019"/>
                </a:cubicBezTo>
                <a:cubicBezTo>
                  <a:pt x="122185" y="150019"/>
                  <a:pt x="128588" y="156421"/>
                  <a:pt x="128588" y="164306"/>
                </a:cubicBezTo>
                <a:cubicBezTo>
                  <a:pt x="128588" y="172192"/>
                  <a:pt x="122185" y="178594"/>
                  <a:pt x="114300" y="178594"/>
                </a:cubicBezTo>
                <a:cubicBezTo>
                  <a:pt x="106415" y="178594"/>
                  <a:pt x="100013" y="172192"/>
                  <a:pt x="100013" y="164306"/>
                </a:cubicBez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1257300" y="6223000"/>
            <a:ext cx="4495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字段说明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5200" y="6731000"/>
            <a:ext cx="266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22800" y="6731000"/>
            <a:ext cx="111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Unix时间戳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5200" y="7137400"/>
            <a:ext cx="482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u_id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33665" y="7137400"/>
            <a:ext cx="71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用户ID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65200" y="7543800"/>
            <a:ext cx="45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amt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232400" y="7543800"/>
            <a:ext cx="50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金额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65200" y="7950200"/>
            <a:ext cx="266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029200" y="7950200"/>
            <a:ext cx="71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状态码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65200" y="8356600"/>
            <a:ext cx="33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826000" y="83566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渠道代码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045200" y="6019800"/>
            <a:ext cx="5080000" cy="2844800"/>
          </a:xfrm>
          <a:custGeom>
            <a:avLst/>
            <a:gdLst/>
            <a:ahLst/>
            <a:cxnLst/>
            <a:rect l="l" t="t" r="r" b="b"/>
            <a:pathLst>
              <a:path w="5080000" h="2844800">
                <a:moveTo>
                  <a:pt x="101588" y="0"/>
                </a:moveTo>
                <a:lnTo>
                  <a:pt x="4978412" y="0"/>
                </a:lnTo>
                <a:cubicBezTo>
                  <a:pt x="5034518" y="0"/>
                  <a:pt x="5080000" y="45482"/>
                  <a:pt x="5080000" y="101588"/>
                </a:cubicBezTo>
                <a:lnTo>
                  <a:pt x="5080000" y="2743212"/>
                </a:lnTo>
                <a:cubicBezTo>
                  <a:pt x="5080000" y="2799318"/>
                  <a:pt x="5034518" y="2844800"/>
                  <a:pt x="4978412" y="2844800"/>
                </a:cubicBezTo>
                <a:lnTo>
                  <a:pt x="101588" y="2844800"/>
                </a:lnTo>
                <a:cubicBezTo>
                  <a:pt x="45482" y="2844800"/>
                  <a:pt x="0" y="2799318"/>
                  <a:pt x="0" y="2743212"/>
                </a:cubicBezTo>
                <a:lnTo>
                  <a:pt x="0" y="101588"/>
                </a:lnTo>
                <a:cubicBezTo>
                  <a:pt x="0" y="45482"/>
                  <a:pt x="45482" y="0"/>
                  <a:pt x="101588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6280150" y="62865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6540500" y="6223000"/>
            <a:ext cx="4495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痛点分析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248400" y="6731000"/>
            <a:ext cx="477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字段名缩写晦涩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248400" y="7137400"/>
            <a:ext cx="477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时间戳不直观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248400" y="7543800"/>
            <a:ext cx="477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状态码含义不明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248400" y="7950200"/>
            <a:ext cx="477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渠道代码需查表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1709400" y="1778000"/>
            <a:ext cx="4038600" cy="3200400"/>
          </a:xfrm>
          <a:custGeom>
            <a:avLst/>
            <a:gdLst/>
            <a:ahLst/>
            <a:cxnLst/>
            <a:rect l="l" t="t" r="r" b="b"/>
            <a:pathLst>
              <a:path w="4038600" h="3200400">
                <a:moveTo>
                  <a:pt x="50800" y="0"/>
                </a:moveTo>
                <a:lnTo>
                  <a:pt x="3936987" y="0"/>
                </a:lnTo>
                <a:cubicBezTo>
                  <a:pt x="3993106" y="0"/>
                  <a:pt x="4038600" y="45494"/>
                  <a:pt x="4038600" y="101613"/>
                </a:cubicBezTo>
                <a:lnTo>
                  <a:pt x="4038600" y="3098787"/>
                </a:lnTo>
                <a:cubicBezTo>
                  <a:pt x="4038600" y="3154906"/>
                  <a:pt x="3993106" y="3200400"/>
                  <a:pt x="3936987" y="3200400"/>
                </a:cubicBezTo>
                <a:lnTo>
                  <a:pt x="50800" y="3200400"/>
                </a:lnTo>
                <a:cubicBezTo>
                  <a:pt x="22763" y="3200400"/>
                  <a:pt x="0" y="3177637"/>
                  <a:pt x="0" y="3149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11709400" y="1778000"/>
            <a:ext cx="50800" cy="3200400"/>
          </a:xfrm>
          <a:custGeom>
            <a:avLst/>
            <a:gdLst/>
            <a:ahLst/>
            <a:cxnLst/>
            <a:rect l="l" t="t" r="r" b="b"/>
            <a:pathLst>
              <a:path w="50800" h="3200400">
                <a:moveTo>
                  <a:pt x="50800" y="0"/>
                </a:moveTo>
                <a:lnTo>
                  <a:pt x="50800" y="0"/>
                </a:lnTo>
                <a:lnTo>
                  <a:pt x="50800" y="3200400"/>
                </a:lnTo>
                <a:lnTo>
                  <a:pt x="50800" y="3200400"/>
                </a:lnTo>
                <a:cubicBezTo>
                  <a:pt x="22763" y="3200400"/>
                  <a:pt x="0" y="3177637"/>
                  <a:pt x="0" y="3149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12020550" y="20828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15342" y="2580"/>
                </a:moveTo>
                <a:cubicBezTo>
                  <a:pt x="122734" y="-843"/>
                  <a:pt x="131266" y="-843"/>
                  <a:pt x="138658" y="2580"/>
                </a:cubicBezTo>
                <a:lnTo>
                  <a:pt x="247104" y="52685"/>
                </a:lnTo>
                <a:cubicBezTo>
                  <a:pt x="251321" y="54620"/>
                  <a:pt x="254000" y="58837"/>
                  <a:pt x="254000" y="63500"/>
                </a:cubicBezTo>
                <a:cubicBezTo>
                  <a:pt x="254000" y="68163"/>
                  <a:pt x="251321" y="72380"/>
                  <a:pt x="247104" y="74315"/>
                </a:cubicBezTo>
                <a:lnTo>
                  <a:pt x="138658" y="124420"/>
                </a:lnTo>
                <a:cubicBezTo>
                  <a:pt x="131266" y="127843"/>
                  <a:pt x="122734" y="127843"/>
                  <a:pt x="115342" y="124420"/>
                </a:cubicBezTo>
                <a:lnTo>
                  <a:pt x="6896" y="74315"/>
                </a:lnTo>
                <a:cubicBezTo>
                  <a:pt x="2679" y="72330"/>
                  <a:pt x="0" y="68114"/>
                  <a:pt x="0" y="63500"/>
                </a:cubicBezTo>
                <a:cubicBezTo>
                  <a:pt x="0" y="58886"/>
                  <a:pt x="2679" y="54620"/>
                  <a:pt x="6896" y="52685"/>
                </a:cubicBezTo>
                <a:lnTo>
                  <a:pt x="115342" y="2580"/>
                </a:lnTo>
                <a:close/>
                <a:moveTo>
                  <a:pt x="23862" y="108347"/>
                </a:moveTo>
                <a:lnTo>
                  <a:pt x="105370" y="146000"/>
                </a:lnTo>
                <a:cubicBezTo>
                  <a:pt x="119112" y="152350"/>
                  <a:pt x="134938" y="152350"/>
                  <a:pt x="148679" y="146000"/>
                </a:cubicBezTo>
                <a:lnTo>
                  <a:pt x="230188" y="108347"/>
                </a:lnTo>
                <a:lnTo>
                  <a:pt x="247104" y="116185"/>
                </a:lnTo>
                <a:cubicBezTo>
                  <a:pt x="251321" y="118120"/>
                  <a:pt x="254000" y="122337"/>
                  <a:pt x="254000" y="127000"/>
                </a:cubicBezTo>
                <a:cubicBezTo>
                  <a:pt x="254000" y="131663"/>
                  <a:pt x="251321" y="135880"/>
                  <a:pt x="247104" y="137815"/>
                </a:cubicBezTo>
                <a:lnTo>
                  <a:pt x="138658" y="187920"/>
                </a:lnTo>
                <a:cubicBezTo>
                  <a:pt x="131266" y="191343"/>
                  <a:pt x="122734" y="191343"/>
                  <a:pt x="115342" y="187920"/>
                </a:cubicBezTo>
                <a:lnTo>
                  <a:pt x="6896" y="137815"/>
                </a:lnTo>
                <a:cubicBezTo>
                  <a:pt x="2679" y="135830"/>
                  <a:pt x="0" y="131614"/>
                  <a:pt x="0" y="127000"/>
                </a:cubicBezTo>
                <a:cubicBezTo>
                  <a:pt x="0" y="122386"/>
                  <a:pt x="2679" y="118120"/>
                  <a:pt x="6896" y="116185"/>
                </a:cubicBezTo>
                <a:lnTo>
                  <a:pt x="23812" y="108347"/>
                </a:lnTo>
                <a:close/>
                <a:moveTo>
                  <a:pt x="6896" y="179685"/>
                </a:moveTo>
                <a:lnTo>
                  <a:pt x="23812" y="171847"/>
                </a:lnTo>
                <a:lnTo>
                  <a:pt x="105321" y="209500"/>
                </a:lnTo>
                <a:cubicBezTo>
                  <a:pt x="119063" y="215850"/>
                  <a:pt x="134888" y="215850"/>
                  <a:pt x="148630" y="209500"/>
                </a:cubicBezTo>
                <a:lnTo>
                  <a:pt x="230138" y="171847"/>
                </a:lnTo>
                <a:lnTo>
                  <a:pt x="247055" y="179685"/>
                </a:lnTo>
                <a:cubicBezTo>
                  <a:pt x="251271" y="181620"/>
                  <a:pt x="253950" y="185837"/>
                  <a:pt x="253950" y="190500"/>
                </a:cubicBezTo>
                <a:cubicBezTo>
                  <a:pt x="253950" y="195163"/>
                  <a:pt x="251271" y="199380"/>
                  <a:pt x="247055" y="201315"/>
                </a:cubicBezTo>
                <a:lnTo>
                  <a:pt x="138609" y="251420"/>
                </a:lnTo>
                <a:cubicBezTo>
                  <a:pt x="131217" y="254843"/>
                  <a:pt x="122684" y="254843"/>
                  <a:pt x="115292" y="251420"/>
                </a:cubicBezTo>
                <a:lnTo>
                  <a:pt x="6896" y="201315"/>
                </a:lnTo>
                <a:cubicBezTo>
                  <a:pt x="2679" y="199330"/>
                  <a:pt x="0" y="195114"/>
                  <a:pt x="0" y="190500"/>
                </a:cubicBezTo>
                <a:cubicBezTo>
                  <a:pt x="0" y="185886"/>
                  <a:pt x="2679" y="181620"/>
                  <a:pt x="6896" y="179685"/>
                </a:cubicBez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12306300" y="2032000"/>
            <a:ext cx="3314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关键特征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2014200" y="26416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12395200" y="2590800"/>
            <a:ext cx="1930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无损快照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2395200" y="2895600"/>
            <a:ext cx="1930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保留原始字段和编码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2014200" y="34036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12395200" y="3352800"/>
            <a:ext cx="1828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半结构化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2395200" y="3657600"/>
            <a:ext cx="1828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JSON或Binlog格式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12014200" y="41656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12395200" y="4114800"/>
            <a:ext cx="132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高保真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2395200" y="4419600"/>
            <a:ext cx="132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确保可追溯性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11684000" y="5232400"/>
            <a:ext cx="4064000" cy="3886200"/>
          </a:xfrm>
          <a:custGeom>
            <a:avLst/>
            <a:gdLst/>
            <a:ahLst/>
            <a:cxnLst/>
            <a:rect l="l" t="t" r="r" b="b"/>
            <a:pathLst>
              <a:path w="4064000" h="3886200">
                <a:moveTo>
                  <a:pt x="101585" y="0"/>
                </a:moveTo>
                <a:lnTo>
                  <a:pt x="3962415" y="0"/>
                </a:lnTo>
                <a:cubicBezTo>
                  <a:pt x="4018519" y="0"/>
                  <a:pt x="4064000" y="45481"/>
                  <a:pt x="4064000" y="101585"/>
                </a:cubicBezTo>
                <a:lnTo>
                  <a:pt x="4064000" y="3784615"/>
                </a:lnTo>
                <a:cubicBezTo>
                  <a:pt x="4064000" y="3840719"/>
                  <a:pt x="4018519" y="3886200"/>
                  <a:pt x="3962415" y="3886200"/>
                </a:cubicBezTo>
                <a:lnTo>
                  <a:pt x="101585" y="3886200"/>
                </a:lnTo>
                <a:cubicBezTo>
                  <a:pt x="45481" y="3886200"/>
                  <a:pt x="0" y="3840719"/>
                  <a:pt x="0" y="3784615"/>
                </a:cubicBezTo>
                <a:lnTo>
                  <a:pt x="0" y="101585"/>
                </a:lnTo>
                <a:cubicBezTo>
                  <a:pt x="0" y="45481"/>
                  <a:pt x="45481" y="0"/>
                  <a:pt x="101585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>
            <a:off x="12001500" y="5537200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145306" y="190500"/>
                </a:moveTo>
                <a:cubicBezTo>
                  <a:pt x="148927" y="179437"/>
                  <a:pt x="156170" y="169416"/>
                  <a:pt x="164356" y="160784"/>
                </a:cubicBezTo>
                <a:cubicBezTo>
                  <a:pt x="180578" y="143718"/>
                  <a:pt x="190500" y="120650"/>
                  <a:pt x="190500" y="95250"/>
                </a:cubicBezTo>
                <a:cubicBezTo>
                  <a:pt x="190500" y="42664"/>
                  <a:pt x="147836" y="0"/>
                  <a:pt x="95250" y="0"/>
                </a:cubicBezTo>
                <a:cubicBezTo>
                  <a:pt x="42664" y="0"/>
                  <a:pt x="0" y="42664"/>
                  <a:pt x="0" y="95250"/>
                </a:cubicBezTo>
                <a:cubicBezTo>
                  <a:pt x="0" y="120650"/>
                  <a:pt x="9922" y="143718"/>
                  <a:pt x="26144" y="160784"/>
                </a:cubicBezTo>
                <a:cubicBezTo>
                  <a:pt x="34330" y="169416"/>
                  <a:pt x="41622" y="179437"/>
                  <a:pt x="45194" y="190500"/>
                </a:cubicBezTo>
                <a:lnTo>
                  <a:pt x="145256" y="190500"/>
                </a:lnTo>
                <a:close/>
                <a:moveTo>
                  <a:pt x="142875" y="214313"/>
                </a:moveTo>
                <a:lnTo>
                  <a:pt x="47625" y="214313"/>
                </a:lnTo>
                <a:lnTo>
                  <a:pt x="47625" y="222250"/>
                </a:lnTo>
                <a:cubicBezTo>
                  <a:pt x="47625" y="244177"/>
                  <a:pt x="65385" y="261937"/>
                  <a:pt x="87313" y="261937"/>
                </a:cubicBezTo>
                <a:lnTo>
                  <a:pt x="103188" y="261937"/>
                </a:lnTo>
                <a:cubicBezTo>
                  <a:pt x="125115" y="261937"/>
                  <a:pt x="142875" y="244177"/>
                  <a:pt x="142875" y="222250"/>
                </a:cubicBezTo>
                <a:lnTo>
                  <a:pt x="142875" y="214313"/>
                </a:lnTo>
                <a:close/>
                <a:moveTo>
                  <a:pt x="91281" y="55563"/>
                </a:moveTo>
                <a:cubicBezTo>
                  <a:pt x="71537" y="55563"/>
                  <a:pt x="55563" y="71537"/>
                  <a:pt x="55563" y="91281"/>
                </a:cubicBezTo>
                <a:cubicBezTo>
                  <a:pt x="55563" y="97879"/>
                  <a:pt x="50254" y="103188"/>
                  <a:pt x="43656" y="103188"/>
                </a:cubicBezTo>
                <a:cubicBezTo>
                  <a:pt x="37058" y="103188"/>
                  <a:pt x="31750" y="97879"/>
                  <a:pt x="31750" y="91281"/>
                </a:cubicBezTo>
                <a:cubicBezTo>
                  <a:pt x="31750" y="58390"/>
                  <a:pt x="58390" y="31750"/>
                  <a:pt x="91281" y="31750"/>
                </a:cubicBezTo>
                <a:cubicBezTo>
                  <a:pt x="97879" y="31750"/>
                  <a:pt x="103188" y="37058"/>
                  <a:pt x="103188" y="43656"/>
                </a:cubicBezTo>
                <a:cubicBezTo>
                  <a:pt x="103188" y="50254"/>
                  <a:pt x="97879" y="55563"/>
                  <a:pt x="91281" y="55563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12255500" y="5486400"/>
            <a:ext cx="3365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价值定位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1938000" y="6045200"/>
            <a:ext cx="36576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ODS层虽然看起来"原始"和"杂乱",但它是整个数据仓库的基石。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11957050" y="7010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12280900" y="6908800"/>
            <a:ext cx="2336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为数据血缘追溯提供源头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11957050" y="74168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12280900" y="7315200"/>
            <a:ext cx="2336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支持问题定位和故障排查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11957050" y="78232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12280900" y="7721600"/>
            <a:ext cx="2336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满足合规和历史状态还原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08000"/>
            <a:ext cx="1701800" cy="406400"/>
          </a:xfrm>
          <a:custGeom>
            <a:avLst/>
            <a:gdLst/>
            <a:ahLst/>
            <a:cxnLst/>
            <a:rect l="l" t="t" r="r" b="b"/>
            <a:pathLst>
              <a:path w="1701800" h="406400">
                <a:moveTo>
                  <a:pt x="0" y="0"/>
                </a:moveTo>
                <a:lnTo>
                  <a:pt x="1701800" y="0"/>
                </a:lnTo>
                <a:lnTo>
                  <a:pt x="17018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533400" y="508000"/>
            <a:ext cx="50800" cy="406400"/>
          </a:xfrm>
          <a:custGeom>
            <a:avLst/>
            <a:gdLst/>
            <a:ahLst/>
            <a:cxnLst/>
            <a:rect l="l" t="t" r="r" b="b"/>
            <a:pathLst>
              <a:path w="50800" h="406400">
                <a:moveTo>
                  <a:pt x="0" y="0"/>
                </a:moveTo>
                <a:lnTo>
                  <a:pt x="50800" y="0"/>
                </a:lnTo>
                <a:lnTo>
                  <a:pt x="508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2000" y="577850"/>
            <a:ext cx="136693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4A556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DWD LAYER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8000" y="10160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2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DWD层：标准化明细数据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8000" y="1778000"/>
            <a:ext cx="10871200" cy="6934200"/>
          </a:xfrm>
          <a:custGeom>
            <a:avLst/>
            <a:gdLst/>
            <a:ahLst/>
            <a:cxnLst/>
            <a:rect l="l" t="t" r="r" b="b"/>
            <a:pathLst>
              <a:path w="10871200" h="6934200">
                <a:moveTo>
                  <a:pt x="101586" y="0"/>
                </a:moveTo>
                <a:lnTo>
                  <a:pt x="10769614" y="0"/>
                </a:lnTo>
                <a:cubicBezTo>
                  <a:pt x="10825718" y="0"/>
                  <a:pt x="10871200" y="45482"/>
                  <a:pt x="10871200" y="101586"/>
                </a:cubicBezTo>
                <a:lnTo>
                  <a:pt x="10871200" y="6832614"/>
                </a:lnTo>
                <a:cubicBezTo>
                  <a:pt x="10871200" y="6888718"/>
                  <a:pt x="10825718" y="6934200"/>
                  <a:pt x="10769614" y="6934200"/>
                </a:cubicBezTo>
                <a:lnTo>
                  <a:pt x="101586" y="6934200"/>
                </a:lnTo>
                <a:cubicBezTo>
                  <a:pt x="45482" y="6934200"/>
                  <a:pt x="0" y="6888718"/>
                  <a:pt x="0" y="6832614"/>
                </a:cubicBezTo>
                <a:lnTo>
                  <a:pt x="0" y="101586"/>
                </a:lnTo>
                <a:cubicBezTo>
                  <a:pt x="0" y="45519"/>
                  <a:pt x="45519" y="0"/>
                  <a:pt x="101586" y="0"/>
                </a:cubicBezTo>
                <a:close/>
              </a:path>
            </a:pathLst>
          </a:custGeom>
          <a:solidFill>
            <a:srgbClr val="2D3748">
              <a:alpha val="4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781050" y="20828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337304" y="32504"/>
                </a:moveTo>
                <a:cubicBezTo>
                  <a:pt x="344745" y="25063"/>
                  <a:pt x="344745" y="12978"/>
                  <a:pt x="337304" y="5536"/>
                </a:cubicBezTo>
                <a:cubicBezTo>
                  <a:pt x="329863" y="-1905"/>
                  <a:pt x="317778" y="-1905"/>
                  <a:pt x="310336" y="5536"/>
                </a:cubicBezTo>
                <a:lnTo>
                  <a:pt x="196036" y="119836"/>
                </a:lnTo>
                <a:lnTo>
                  <a:pt x="175379" y="99179"/>
                </a:lnTo>
                <a:cubicBezTo>
                  <a:pt x="172879" y="96679"/>
                  <a:pt x="169426" y="95250"/>
                  <a:pt x="165854" y="95250"/>
                </a:cubicBezTo>
                <a:cubicBezTo>
                  <a:pt x="158413" y="95250"/>
                  <a:pt x="152400" y="101263"/>
                  <a:pt x="152400" y="108704"/>
                </a:cubicBezTo>
                <a:lnTo>
                  <a:pt x="152400" y="126028"/>
                </a:lnTo>
                <a:lnTo>
                  <a:pt x="216872" y="190500"/>
                </a:lnTo>
                <a:lnTo>
                  <a:pt x="234196" y="190500"/>
                </a:lnTo>
                <a:cubicBezTo>
                  <a:pt x="241637" y="190500"/>
                  <a:pt x="247650" y="184487"/>
                  <a:pt x="247650" y="177046"/>
                </a:cubicBezTo>
                <a:cubicBezTo>
                  <a:pt x="247650" y="173474"/>
                  <a:pt x="246221" y="170021"/>
                  <a:pt x="243721" y="167521"/>
                </a:cubicBezTo>
                <a:lnTo>
                  <a:pt x="223064" y="146864"/>
                </a:lnTo>
                <a:lnTo>
                  <a:pt x="337364" y="32564"/>
                </a:lnTo>
                <a:close/>
                <a:moveTo>
                  <a:pt x="203061" y="210383"/>
                </a:moveTo>
                <a:lnTo>
                  <a:pt x="132517" y="139839"/>
                </a:lnTo>
                <a:cubicBezTo>
                  <a:pt x="107097" y="137636"/>
                  <a:pt x="81796" y="146804"/>
                  <a:pt x="63579" y="165021"/>
                </a:cubicBezTo>
                <a:lnTo>
                  <a:pt x="58817" y="169783"/>
                </a:lnTo>
                <a:cubicBezTo>
                  <a:pt x="45541" y="183059"/>
                  <a:pt x="38100" y="201037"/>
                  <a:pt x="38100" y="219789"/>
                </a:cubicBezTo>
                <a:cubicBezTo>
                  <a:pt x="38100" y="223838"/>
                  <a:pt x="42327" y="226457"/>
                  <a:pt x="45958" y="224671"/>
                </a:cubicBezTo>
                <a:lnTo>
                  <a:pt x="76379" y="209490"/>
                </a:lnTo>
                <a:cubicBezTo>
                  <a:pt x="79355" y="208002"/>
                  <a:pt x="82034" y="211931"/>
                  <a:pt x="79593" y="214193"/>
                </a:cubicBezTo>
                <a:lnTo>
                  <a:pt x="4346" y="281821"/>
                </a:lnTo>
                <a:cubicBezTo>
                  <a:pt x="1607" y="284321"/>
                  <a:pt x="0" y="287893"/>
                  <a:pt x="0" y="291644"/>
                </a:cubicBezTo>
                <a:cubicBezTo>
                  <a:pt x="0" y="298906"/>
                  <a:pt x="5894" y="304800"/>
                  <a:pt x="13156" y="304800"/>
                </a:cubicBezTo>
                <a:lnTo>
                  <a:pt x="116324" y="304800"/>
                </a:lnTo>
                <a:cubicBezTo>
                  <a:pt x="139422" y="304800"/>
                  <a:pt x="161508" y="295632"/>
                  <a:pt x="177879" y="279321"/>
                </a:cubicBezTo>
                <a:cubicBezTo>
                  <a:pt x="196096" y="261104"/>
                  <a:pt x="205204" y="235803"/>
                  <a:pt x="203061" y="210383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143000" y="2032000"/>
            <a:ext cx="10134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清洗后的数据示例：fact_transfer_detail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87400" y="2641600"/>
            <a:ext cx="10337800" cy="3175000"/>
          </a:xfrm>
          <a:custGeom>
            <a:avLst/>
            <a:gdLst/>
            <a:ahLst/>
            <a:cxnLst/>
            <a:rect l="l" t="t" r="r" b="b"/>
            <a:pathLst>
              <a:path w="10337800" h="3175000">
                <a:moveTo>
                  <a:pt x="50800" y="0"/>
                </a:moveTo>
                <a:lnTo>
                  <a:pt x="10236200" y="0"/>
                </a:lnTo>
                <a:cubicBezTo>
                  <a:pt x="10292275" y="0"/>
                  <a:pt x="10337800" y="45525"/>
                  <a:pt x="10337800" y="101600"/>
                </a:cubicBezTo>
                <a:lnTo>
                  <a:pt x="10337800" y="3073400"/>
                </a:lnTo>
                <a:cubicBezTo>
                  <a:pt x="10337800" y="3129475"/>
                  <a:pt x="10292275" y="3175000"/>
                  <a:pt x="10236200" y="3175000"/>
                </a:cubicBezTo>
                <a:lnTo>
                  <a:pt x="50800" y="3175000"/>
                </a:lnTo>
                <a:cubicBezTo>
                  <a:pt x="22763" y="3175000"/>
                  <a:pt x="0" y="3152237"/>
                  <a:pt x="0" y="3124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202C">
              <a:alpha val="8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787400" y="2641600"/>
            <a:ext cx="50800" cy="3175000"/>
          </a:xfrm>
          <a:custGeom>
            <a:avLst/>
            <a:gdLst/>
            <a:ahLst/>
            <a:cxnLst/>
            <a:rect l="l" t="t" r="r" b="b"/>
            <a:pathLst>
              <a:path w="50800" h="3175000">
                <a:moveTo>
                  <a:pt x="50800" y="0"/>
                </a:moveTo>
                <a:lnTo>
                  <a:pt x="50800" y="0"/>
                </a:lnTo>
                <a:lnTo>
                  <a:pt x="50800" y="3175000"/>
                </a:lnTo>
                <a:lnTo>
                  <a:pt x="50800" y="3175000"/>
                </a:lnTo>
                <a:cubicBezTo>
                  <a:pt x="22763" y="3175000"/>
                  <a:pt x="0" y="3152237"/>
                  <a:pt x="0" y="3124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1054100" y="289560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7800" y="81677"/>
                </a:moveTo>
                <a:cubicBezTo>
                  <a:pt x="171926" y="85566"/>
                  <a:pt x="165179" y="88702"/>
                  <a:pt x="158155" y="91202"/>
                </a:cubicBezTo>
                <a:cubicBezTo>
                  <a:pt x="139502" y="97869"/>
                  <a:pt x="115014" y="101600"/>
                  <a:pt x="88900" y="101600"/>
                </a:cubicBezTo>
                <a:cubicBezTo>
                  <a:pt x="62786" y="101600"/>
                  <a:pt x="38259" y="97830"/>
                  <a:pt x="19645" y="91202"/>
                </a:cubicBezTo>
                <a:cubicBezTo>
                  <a:pt x="12660" y="88702"/>
                  <a:pt x="5874" y="85566"/>
                  <a:pt x="0" y="81677"/>
                </a:cubicBezTo>
                <a:lnTo>
                  <a:pt x="0" y="114300"/>
                </a:lnTo>
                <a:cubicBezTo>
                  <a:pt x="0" y="131842"/>
                  <a:pt x="39807" y="146050"/>
                  <a:pt x="88900" y="146050"/>
                </a:cubicBezTo>
                <a:cubicBezTo>
                  <a:pt x="137993" y="146050"/>
                  <a:pt x="177800" y="131842"/>
                  <a:pt x="177800" y="114300"/>
                </a:cubicBezTo>
                <a:lnTo>
                  <a:pt x="177800" y="81677"/>
                </a:lnTo>
                <a:close/>
                <a:moveTo>
                  <a:pt x="177800" y="50800"/>
                </a:moveTo>
                <a:lnTo>
                  <a:pt x="177800" y="31750"/>
                </a:lnTo>
                <a:cubicBezTo>
                  <a:pt x="177800" y="14208"/>
                  <a:pt x="137993" y="0"/>
                  <a:pt x="88900" y="0"/>
                </a:cubicBezTo>
                <a:cubicBezTo>
                  <a:pt x="39807" y="0"/>
                  <a:pt x="0" y="14208"/>
                  <a:pt x="0" y="31750"/>
                </a:cubicBezTo>
                <a:lnTo>
                  <a:pt x="0" y="50800"/>
                </a:lnTo>
                <a:cubicBezTo>
                  <a:pt x="0" y="68342"/>
                  <a:pt x="39807" y="82550"/>
                  <a:pt x="88900" y="82550"/>
                </a:cubicBezTo>
                <a:cubicBezTo>
                  <a:pt x="137993" y="82550"/>
                  <a:pt x="177800" y="68342"/>
                  <a:pt x="177800" y="50800"/>
                </a:cubicBezTo>
                <a:close/>
                <a:moveTo>
                  <a:pt x="158155" y="154702"/>
                </a:moveTo>
                <a:cubicBezTo>
                  <a:pt x="139541" y="161330"/>
                  <a:pt x="115054" y="165100"/>
                  <a:pt x="88900" y="165100"/>
                </a:cubicBezTo>
                <a:cubicBezTo>
                  <a:pt x="62746" y="165100"/>
                  <a:pt x="38259" y="161330"/>
                  <a:pt x="19645" y="154702"/>
                </a:cubicBezTo>
                <a:cubicBezTo>
                  <a:pt x="12660" y="152202"/>
                  <a:pt x="5874" y="149066"/>
                  <a:pt x="0" y="145177"/>
                </a:cubicBezTo>
                <a:lnTo>
                  <a:pt x="0" y="171450"/>
                </a:lnTo>
                <a:cubicBezTo>
                  <a:pt x="0" y="188992"/>
                  <a:pt x="39807" y="203200"/>
                  <a:pt x="88900" y="203200"/>
                </a:cubicBezTo>
                <a:cubicBezTo>
                  <a:pt x="137993" y="203200"/>
                  <a:pt x="177800" y="188992"/>
                  <a:pt x="177800" y="171450"/>
                </a:cubicBezTo>
                <a:lnTo>
                  <a:pt x="177800" y="145177"/>
                </a:lnTo>
                <a:cubicBezTo>
                  <a:pt x="171926" y="149066"/>
                  <a:pt x="165179" y="152202"/>
                  <a:pt x="158155" y="154702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1371600" y="2844800"/>
            <a:ext cx="901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4A556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SQL格式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16000" y="3346450"/>
            <a:ext cx="5362079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SELECT '2023-12-09 10:59:05' AS transfer_time, 'A1001' AS user_id, 100.00 AS amount, 'Success' AS status, 'Mobile_Bank' AS channel; -- 渠道代码 MB 翻译为 Mobile_Bank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6019800"/>
            <a:ext cx="5080000" cy="2438400"/>
          </a:xfrm>
          <a:custGeom>
            <a:avLst/>
            <a:gdLst/>
            <a:ahLst/>
            <a:cxnLst/>
            <a:rect l="l" t="t" r="r" b="b"/>
            <a:pathLst>
              <a:path w="5080000" h="2438400">
                <a:moveTo>
                  <a:pt x="101608" y="0"/>
                </a:moveTo>
                <a:lnTo>
                  <a:pt x="4978392" y="0"/>
                </a:lnTo>
                <a:cubicBezTo>
                  <a:pt x="5034508" y="0"/>
                  <a:pt x="5080000" y="45492"/>
                  <a:pt x="5080000" y="101608"/>
                </a:cubicBezTo>
                <a:lnTo>
                  <a:pt x="5080000" y="2336792"/>
                </a:lnTo>
                <a:cubicBezTo>
                  <a:pt x="5080000" y="2392908"/>
                  <a:pt x="5034508" y="2438400"/>
                  <a:pt x="4978392" y="2438400"/>
                </a:cubicBezTo>
                <a:lnTo>
                  <a:pt x="101608" y="2438400"/>
                </a:lnTo>
                <a:cubicBezTo>
                  <a:pt x="45492" y="2438400"/>
                  <a:pt x="0" y="2392908"/>
                  <a:pt x="0" y="2336792"/>
                </a:cubicBezTo>
                <a:lnTo>
                  <a:pt x="0" y="101608"/>
                </a:lnTo>
                <a:cubicBezTo>
                  <a:pt x="0" y="45529"/>
                  <a:pt x="45529" y="0"/>
                  <a:pt x="101608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996950" y="62865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77924" y="5447"/>
                </a:moveTo>
                <a:lnTo>
                  <a:pt x="138544" y="44827"/>
                </a:lnTo>
                <a:lnTo>
                  <a:pt x="183773" y="90056"/>
                </a:lnTo>
                <a:lnTo>
                  <a:pt x="223153" y="50676"/>
                </a:lnTo>
                <a:cubicBezTo>
                  <a:pt x="226635" y="47149"/>
                  <a:pt x="228600" y="42416"/>
                  <a:pt x="228600" y="37505"/>
                </a:cubicBezTo>
                <a:cubicBezTo>
                  <a:pt x="228600" y="32593"/>
                  <a:pt x="226635" y="27861"/>
                  <a:pt x="223153" y="24333"/>
                </a:cubicBezTo>
                <a:lnTo>
                  <a:pt x="204267" y="5447"/>
                </a:lnTo>
                <a:cubicBezTo>
                  <a:pt x="200739" y="1965"/>
                  <a:pt x="196007" y="0"/>
                  <a:pt x="191095" y="0"/>
                </a:cubicBezTo>
                <a:cubicBezTo>
                  <a:pt x="186184" y="0"/>
                  <a:pt x="181451" y="1965"/>
                  <a:pt x="177924" y="5447"/>
                </a:cubicBezTo>
                <a:close/>
                <a:moveTo>
                  <a:pt x="123408" y="59963"/>
                </a:moveTo>
                <a:lnTo>
                  <a:pt x="5447" y="177924"/>
                </a:lnTo>
                <a:cubicBezTo>
                  <a:pt x="1965" y="181451"/>
                  <a:pt x="0" y="186184"/>
                  <a:pt x="0" y="191095"/>
                </a:cubicBezTo>
                <a:cubicBezTo>
                  <a:pt x="0" y="196007"/>
                  <a:pt x="1965" y="200739"/>
                  <a:pt x="5447" y="204267"/>
                </a:cubicBezTo>
                <a:lnTo>
                  <a:pt x="24333" y="223153"/>
                </a:lnTo>
                <a:cubicBezTo>
                  <a:pt x="27861" y="226635"/>
                  <a:pt x="32593" y="228600"/>
                  <a:pt x="37505" y="228600"/>
                </a:cubicBezTo>
                <a:cubicBezTo>
                  <a:pt x="42416" y="228600"/>
                  <a:pt x="47149" y="226635"/>
                  <a:pt x="50676" y="223153"/>
                </a:cubicBezTo>
                <a:lnTo>
                  <a:pt x="168637" y="105192"/>
                </a:lnTo>
                <a:lnTo>
                  <a:pt x="123408" y="59963"/>
                </a:ln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1257300" y="6223000"/>
            <a:ext cx="4495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ETL转换操作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90600" y="67945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74536" y="96748"/>
                </a:moveTo>
                <a:cubicBezTo>
                  <a:pt x="178877" y="92407"/>
                  <a:pt x="178877" y="85358"/>
                  <a:pt x="174536" y="81017"/>
                </a:cubicBezTo>
                <a:lnTo>
                  <a:pt x="118973" y="25455"/>
                </a:lnTo>
                <a:cubicBezTo>
                  <a:pt x="114632" y="21114"/>
                  <a:pt x="107583" y="21114"/>
                  <a:pt x="103242" y="25455"/>
                </a:cubicBezTo>
                <a:cubicBezTo>
                  <a:pt x="98901" y="29795"/>
                  <a:pt x="98901" y="36845"/>
                  <a:pt x="103242" y="41186"/>
                </a:cubicBezTo>
                <a:lnTo>
                  <a:pt x="139844" y="77788"/>
                </a:lnTo>
                <a:lnTo>
                  <a:pt x="11112" y="77788"/>
                </a:lnTo>
                <a:cubicBezTo>
                  <a:pt x="4966" y="77788"/>
                  <a:pt x="0" y="82753"/>
                  <a:pt x="0" y="88900"/>
                </a:cubicBezTo>
                <a:cubicBezTo>
                  <a:pt x="0" y="95047"/>
                  <a:pt x="4966" y="100013"/>
                  <a:pt x="11112" y="100013"/>
                </a:cubicBezTo>
                <a:lnTo>
                  <a:pt x="139844" y="100013"/>
                </a:lnTo>
                <a:lnTo>
                  <a:pt x="103242" y="136614"/>
                </a:lnTo>
                <a:cubicBezTo>
                  <a:pt x="98901" y="140955"/>
                  <a:pt x="98901" y="148005"/>
                  <a:pt x="103242" y="152345"/>
                </a:cubicBezTo>
                <a:cubicBezTo>
                  <a:pt x="107583" y="156686"/>
                  <a:pt x="114632" y="156686"/>
                  <a:pt x="118973" y="152345"/>
                </a:cubicBezTo>
                <a:lnTo>
                  <a:pt x="174536" y="96783"/>
                </a:ln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1289050" y="6731000"/>
            <a:ext cx="1816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ts → transfer_time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90600" y="72009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74536" y="96748"/>
                </a:moveTo>
                <a:cubicBezTo>
                  <a:pt x="178877" y="92407"/>
                  <a:pt x="178877" y="85358"/>
                  <a:pt x="174536" y="81017"/>
                </a:cubicBezTo>
                <a:lnTo>
                  <a:pt x="118973" y="25455"/>
                </a:lnTo>
                <a:cubicBezTo>
                  <a:pt x="114632" y="21114"/>
                  <a:pt x="107583" y="21114"/>
                  <a:pt x="103242" y="25455"/>
                </a:cubicBezTo>
                <a:cubicBezTo>
                  <a:pt x="98901" y="29795"/>
                  <a:pt x="98901" y="36845"/>
                  <a:pt x="103242" y="41186"/>
                </a:cubicBezTo>
                <a:lnTo>
                  <a:pt x="139844" y="77788"/>
                </a:lnTo>
                <a:lnTo>
                  <a:pt x="11112" y="77788"/>
                </a:lnTo>
                <a:cubicBezTo>
                  <a:pt x="4966" y="77788"/>
                  <a:pt x="0" y="82753"/>
                  <a:pt x="0" y="88900"/>
                </a:cubicBezTo>
                <a:cubicBezTo>
                  <a:pt x="0" y="95047"/>
                  <a:pt x="4966" y="100013"/>
                  <a:pt x="11112" y="100013"/>
                </a:cubicBezTo>
                <a:lnTo>
                  <a:pt x="139844" y="100013"/>
                </a:lnTo>
                <a:lnTo>
                  <a:pt x="103242" y="136614"/>
                </a:lnTo>
                <a:cubicBezTo>
                  <a:pt x="98901" y="140955"/>
                  <a:pt x="98901" y="148005"/>
                  <a:pt x="103242" y="152345"/>
                </a:cubicBezTo>
                <a:cubicBezTo>
                  <a:pt x="107583" y="156686"/>
                  <a:pt x="114632" y="156686"/>
                  <a:pt x="118973" y="152345"/>
                </a:cubicBezTo>
                <a:lnTo>
                  <a:pt x="174536" y="96783"/>
                </a:ln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1289050" y="7137400"/>
            <a:ext cx="1460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u_id → user_id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90600" y="76073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74536" y="96748"/>
                </a:moveTo>
                <a:cubicBezTo>
                  <a:pt x="178877" y="92407"/>
                  <a:pt x="178877" y="85358"/>
                  <a:pt x="174536" y="81017"/>
                </a:cubicBezTo>
                <a:lnTo>
                  <a:pt x="118973" y="25455"/>
                </a:lnTo>
                <a:cubicBezTo>
                  <a:pt x="114632" y="21114"/>
                  <a:pt x="107583" y="21114"/>
                  <a:pt x="103242" y="25455"/>
                </a:cubicBezTo>
                <a:cubicBezTo>
                  <a:pt x="98901" y="29795"/>
                  <a:pt x="98901" y="36845"/>
                  <a:pt x="103242" y="41186"/>
                </a:cubicBezTo>
                <a:lnTo>
                  <a:pt x="139844" y="77788"/>
                </a:lnTo>
                <a:lnTo>
                  <a:pt x="11112" y="77788"/>
                </a:lnTo>
                <a:cubicBezTo>
                  <a:pt x="4966" y="77788"/>
                  <a:pt x="0" y="82753"/>
                  <a:pt x="0" y="88900"/>
                </a:cubicBezTo>
                <a:cubicBezTo>
                  <a:pt x="0" y="95047"/>
                  <a:pt x="4966" y="100013"/>
                  <a:pt x="11112" y="100013"/>
                </a:cubicBezTo>
                <a:lnTo>
                  <a:pt x="139844" y="100013"/>
                </a:lnTo>
                <a:lnTo>
                  <a:pt x="103242" y="136614"/>
                </a:lnTo>
                <a:cubicBezTo>
                  <a:pt x="98901" y="140955"/>
                  <a:pt x="98901" y="148005"/>
                  <a:pt x="103242" y="152345"/>
                </a:cubicBezTo>
                <a:cubicBezTo>
                  <a:pt x="107583" y="156686"/>
                  <a:pt x="114632" y="156686"/>
                  <a:pt x="118973" y="152345"/>
                </a:cubicBezTo>
                <a:lnTo>
                  <a:pt x="174536" y="96783"/>
                </a:ln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1289050" y="7543800"/>
            <a:ext cx="223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st=1 → status=Success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90600" y="80137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74536" y="96748"/>
                </a:moveTo>
                <a:cubicBezTo>
                  <a:pt x="178877" y="92407"/>
                  <a:pt x="178877" y="85358"/>
                  <a:pt x="174536" y="81017"/>
                </a:cubicBezTo>
                <a:lnTo>
                  <a:pt x="118973" y="25455"/>
                </a:lnTo>
                <a:cubicBezTo>
                  <a:pt x="114632" y="21114"/>
                  <a:pt x="107583" y="21114"/>
                  <a:pt x="103242" y="25455"/>
                </a:cubicBezTo>
                <a:cubicBezTo>
                  <a:pt x="98901" y="29795"/>
                  <a:pt x="98901" y="36845"/>
                  <a:pt x="103242" y="41186"/>
                </a:cubicBezTo>
                <a:lnTo>
                  <a:pt x="139844" y="77788"/>
                </a:lnTo>
                <a:lnTo>
                  <a:pt x="11112" y="77788"/>
                </a:lnTo>
                <a:cubicBezTo>
                  <a:pt x="4966" y="77788"/>
                  <a:pt x="0" y="82753"/>
                  <a:pt x="0" y="88900"/>
                </a:cubicBezTo>
                <a:cubicBezTo>
                  <a:pt x="0" y="95047"/>
                  <a:pt x="4966" y="100013"/>
                  <a:pt x="11112" y="100013"/>
                </a:cubicBezTo>
                <a:lnTo>
                  <a:pt x="139844" y="100013"/>
                </a:lnTo>
                <a:lnTo>
                  <a:pt x="103242" y="136614"/>
                </a:lnTo>
                <a:cubicBezTo>
                  <a:pt x="98901" y="140955"/>
                  <a:pt x="98901" y="148005"/>
                  <a:pt x="103242" y="152345"/>
                </a:cubicBezTo>
                <a:cubicBezTo>
                  <a:pt x="107583" y="156686"/>
                  <a:pt x="114632" y="156686"/>
                  <a:pt x="118973" y="152345"/>
                </a:cubicBezTo>
                <a:lnTo>
                  <a:pt x="174536" y="96783"/>
                </a:ln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1289050" y="7950200"/>
            <a:ext cx="3111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ch=MB → channel=Mobile_Bank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045200" y="6019800"/>
            <a:ext cx="5080000" cy="2438400"/>
          </a:xfrm>
          <a:custGeom>
            <a:avLst/>
            <a:gdLst/>
            <a:ahLst/>
            <a:cxnLst/>
            <a:rect l="l" t="t" r="r" b="b"/>
            <a:pathLst>
              <a:path w="5080000" h="2438400">
                <a:moveTo>
                  <a:pt x="101608" y="0"/>
                </a:moveTo>
                <a:lnTo>
                  <a:pt x="4978392" y="0"/>
                </a:lnTo>
                <a:cubicBezTo>
                  <a:pt x="5034508" y="0"/>
                  <a:pt x="5080000" y="45492"/>
                  <a:pt x="5080000" y="101608"/>
                </a:cubicBezTo>
                <a:lnTo>
                  <a:pt x="5080000" y="2336792"/>
                </a:lnTo>
                <a:cubicBezTo>
                  <a:pt x="5080000" y="2392908"/>
                  <a:pt x="5034508" y="2438400"/>
                  <a:pt x="4978392" y="2438400"/>
                </a:cubicBezTo>
                <a:lnTo>
                  <a:pt x="101608" y="2438400"/>
                </a:lnTo>
                <a:cubicBezTo>
                  <a:pt x="45492" y="2438400"/>
                  <a:pt x="0" y="2392908"/>
                  <a:pt x="0" y="2336792"/>
                </a:cubicBezTo>
                <a:lnTo>
                  <a:pt x="0" y="101608"/>
                </a:lnTo>
                <a:cubicBezTo>
                  <a:pt x="0" y="45529"/>
                  <a:pt x="45529" y="0"/>
                  <a:pt x="101608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6280150" y="62865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6540500" y="6223000"/>
            <a:ext cx="4495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价值提升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248400" y="6731000"/>
            <a:ext cx="477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字段名清晰可读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248400" y="7137400"/>
            <a:ext cx="477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时间格式标准化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248400" y="7543800"/>
            <a:ext cx="477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状态码翻译为语义值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248400" y="7950200"/>
            <a:ext cx="477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全行统一标准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1709400" y="1778000"/>
            <a:ext cx="4038600" cy="3200400"/>
          </a:xfrm>
          <a:custGeom>
            <a:avLst/>
            <a:gdLst/>
            <a:ahLst/>
            <a:cxnLst/>
            <a:rect l="l" t="t" r="r" b="b"/>
            <a:pathLst>
              <a:path w="4038600" h="3200400">
                <a:moveTo>
                  <a:pt x="50800" y="0"/>
                </a:moveTo>
                <a:lnTo>
                  <a:pt x="3936987" y="0"/>
                </a:lnTo>
                <a:cubicBezTo>
                  <a:pt x="3993106" y="0"/>
                  <a:pt x="4038600" y="45494"/>
                  <a:pt x="4038600" y="101613"/>
                </a:cubicBezTo>
                <a:lnTo>
                  <a:pt x="4038600" y="3098787"/>
                </a:lnTo>
                <a:cubicBezTo>
                  <a:pt x="4038600" y="3154906"/>
                  <a:pt x="3993106" y="3200400"/>
                  <a:pt x="3936987" y="3200400"/>
                </a:cubicBezTo>
                <a:lnTo>
                  <a:pt x="50800" y="3200400"/>
                </a:lnTo>
                <a:cubicBezTo>
                  <a:pt x="22763" y="3200400"/>
                  <a:pt x="0" y="3177637"/>
                  <a:pt x="0" y="3149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11709400" y="1778000"/>
            <a:ext cx="50800" cy="3200400"/>
          </a:xfrm>
          <a:custGeom>
            <a:avLst/>
            <a:gdLst/>
            <a:ahLst/>
            <a:cxnLst/>
            <a:rect l="l" t="t" r="r" b="b"/>
            <a:pathLst>
              <a:path w="50800" h="3200400">
                <a:moveTo>
                  <a:pt x="50800" y="0"/>
                </a:moveTo>
                <a:lnTo>
                  <a:pt x="50800" y="0"/>
                </a:lnTo>
                <a:lnTo>
                  <a:pt x="50800" y="3200400"/>
                </a:lnTo>
                <a:lnTo>
                  <a:pt x="50800" y="3200400"/>
                </a:lnTo>
                <a:cubicBezTo>
                  <a:pt x="22763" y="3200400"/>
                  <a:pt x="0" y="3177637"/>
                  <a:pt x="0" y="3149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12004675" y="2082800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153541" y="-9376"/>
                </a:moveTo>
                <a:cubicBezTo>
                  <a:pt x="151507" y="-13345"/>
                  <a:pt x="147389" y="-15875"/>
                  <a:pt x="142925" y="-15875"/>
                </a:cubicBezTo>
                <a:cubicBezTo>
                  <a:pt x="138460" y="-15875"/>
                  <a:pt x="134342" y="-13345"/>
                  <a:pt x="132308" y="-9376"/>
                </a:cubicBezTo>
                <a:lnTo>
                  <a:pt x="95796" y="62161"/>
                </a:lnTo>
                <a:lnTo>
                  <a:pt x="16470" y="74761"/>
                </a:lnTo>
                <a:cubicBezTo>
                  <a:pt x="12055" y="75456"/>
                  <a:pt x="8384" y="78581"/>
                  <a:pt x="6995" y="82848"/>
                </a:cubicBezTo>
                <a:cubicBezTo>
                  <a:pt x="5606" y="87114"/>
                  <a:pt x="6747" y="91777"/>
                  <a:pt x="9872" y="94952"/>
                </a:cubicBezTo>
                <a:lnTo>
                  <a:pt x="66625" y="151755"/>
                </a:lnTo>
                <a:lnTo>
                  <a:pt x="54124" y="231080"/>
                </a:lnTo>
                <a:cubicBezTo>
                  <a:pt x="53429" y="235496"/>
                  <a:pt x="55265" y="239961"/>
                  <a:pt x="58886" y="242590"/>
                </a:cubicBezTo>
                <a:cubicBezTo>
                  <a:pt x="62508" y="245219"/>
                  <a:pt x="67270" y="245616"/>
                  <a:pt x="71289" y="243582"/>
                </a:cubicBezTo>
                <a:lnTo>
                  <a:pt x="142925" y="207169"/>
                </a:lnTo>
                <a:lnTo>
                  <a:pt x="214511" y="243582"/>
                </a:lnTo>
                <a:cubicBezTo>
                  <a:pt x="218480" y="245616"/>
                  <a:pt x="223292" y="245219"/>
                  <a:pt x="226913" y="242590"/>
                </a:cubicBezTo>
                <a:cubicBezTo>
                  <a:pt x="230535" y="239961"/>
                  <a:pt x="232370" y="235545"/>
                  <a:pt x="231676" y="231080"/>
                </a:cubicBezTo>
                <a:lnTo>
                  <a:pt x="219125" y="151755"/>
                </a:lnTo>
                <a:lnTo>
                  <a:pt x="275878" y="94952"/>
                </a:lnTo>
                <a:cubicBezTo>
                  <a:pt x="279053" y="91777"/>
                  <a:pt x="280144" y="87114"/>
                  <a:pt x="278755" y="82848"/>
                </a:cubicBezTo>
                <a:cubicBezTo>
                  <a:pt x="277366" y="78581"/>
                  <a:pt x="273745" y="75456"/>
                  <a:pt x="269280" y="74761"/>
                </a:cubicBezTo>
                <a:lnTo>
                  <a:pt x="190004" y="62161"/>
                </a:lnTo>
                <a:lnTo>
                  <a:pt x="153541" y="-9376"/>
                </a:ln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12306300" y="2032000"/>
            <a:ext cx="3314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关键特征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2014200" y="26416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12395200" y="2590800"/>
            <a:ext cx="15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统一口径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2395200" y="2895600"/>
            <a:ext cx="15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消除源系统差异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2014200" y="34036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12395200" y="3352800"/>
            <a:ext cx="132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清晰可读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2395200" y="3657600"/>
            <a:ext cx="132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字段名语义化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2014200" y="41656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12395200" y="4114800"/>
            <a:ext cx="15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质量保障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2395200" y="4419600"/>
            <a:ext cx="15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清洗异常和缺失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11684000" y="5232400"/>
            <a:ext cx="4064000" cy="3479800"/>
          </a:xfrm>
          <a:custGeom>
            <a:avLst/>
            <a:gdLst/>
            <a:ahLst/>
            <a:cxnLst/>
            <a:rect l="l" t="t" r="r" b="b"/>
            <a:pathLst>
              <a:path w="4064000" h="3479800">
                <a:moveTo>
                  <a:pt x="101610" y="0"/>
                </a:moveTo>
                <a:lnTo>
                  <a:pt x="3962390" y="0"/>
                </a:lnTo>
                <a:cubicBezTo>
                  <a:pt x="4018508" y="0"/>
                  <a:pt x="4064000" y="45492"/>
                  <a:pt x="4064000" y="101610"/>
                </a:cubicBezTo>
                <a:lnTo>
                  <a:pt x="4064000" y="3378190"/>
                </a:lnTo>
                <a:cubicBezTo>
                  <a:pt x="4064000" y="3434308"/>
                  <a:pt x="4018508" y="3479800"/>
                  <a:pt x="3962390" y="3479800"/>
                </a:cubicBezTo>
                <a:lnTo>
                  <a:pt x="101610" y="3479800"/>
                </a:lnTo>
                <a:cubicBezTo>
                  <a:pt x="45492" y="3479800"/>
                  <a:pt x="0" y="3434308"/>
                  <a:pt x="0" y="3378190"/>
                </a:cubicBezTo>
                <a:lnTo>
                  <a:pt x="0" y="101610"/>
                </a:lnTo>
                <a:cubicBezTo>
                  <a:pt x="0" y="45530"/>
                  <a:pt x="45530" y="0"/>
                  <a:pt x="101610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11969750" y="5537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71586" y="0"/>
                </a:moveTo>
                <a:lnTo>
                  <a:pt x="182711" y="0"/>
                </a:lnTo>
                <a:cubicBezTo>
                  <a:pt x="195858" y="0"/>
                  <a:pt x="206573" y="10815"/>
                  <a:pt x="206077" y="23912"/>
                </a:cubicBezTo>
                <a:cubicBezTo>
                  <a:pt x="205978" y="26541"/>
                  <a:pt x="205879" y="29170"/>
                  <a:pt x="205730" y="31750"/>
                </a:cubicBezTo>
                <a:lnTo>
                  <a:pt x="230336" y="31750"/>
                </a:lnTo>
                <a:cubicBezTo>
                  <a:pt x="243284" y="31750"/>
                  <a:pt x="254695" y="42466"/>
                  <a:pt x="253702" y="56455"/>
                </a:cubicBezTo>
                <a:cubicBezTo>
                  <a:pt x="249982" y="107900"/>
                  <a:pt x="223689" y="136178"/>
                  <a:pt x="195163" y="150961"/>
                </a:cubicBezTo>
                <a:cubicBezTo>
                  <a:pt x="187325" y="155029"/>
                  <a:pt x="179338" y="158055"/>
                  <a:pt x="171748" y="160288"/>
                </a:cubicBezTo>
                <a:cubicBezTo>
                  <a:pt x="161727" y="174476"/>
                  <a:pt x="151309" y="181967"/>
                  <a:pt x="143024" y="185986"/>
                </a:cubicBezTo>
                <a:lnTo>
                  <a:pt x="143024" y="222250"/>
                </a:lnTo>
                <a:lnTo>
                  <a:pt x="174774" y="222250"/>
                </a:lnTo>
                <a:cubicBezTo>
                  <a:pt x="183555" y="222250"/>
                  <a:pt x="190649" y="229344"/>
                  <a:pt x="190649" y="238125"/>
                </a:cubicBezTo>
                <a:cubicBezTo>
                  <a:pt x="190649" y="246906"/>
                  <a:pt x="183555" y="254000"/>
                  <a:pt x="174774" y="254000"/>
                </a:cubicBezTo>
                <a:lnTo>
                  <a:pt x="79524" y="254000"/>
                </a:lnTo>
                <a:cubicBezTo>
                  <a:pt x="70743" y="254000"/>
                  <a:pt x="63649" y="246906"/>
                  <a:pt x="63649" y="238125"/>
                </a:cubicBezTo>
                <a:cubicBezTo>
                  <a:pt x="63649" y="229344"/>
                  <a:pt x="70743" y="222250"/>
                  <a:pt x="79524" y="222250"/>
                </a:cubicBezTo>
                <a:lnTo>
                  <a:pt x="111274" y="222250"/>
                </a:lnTo>
                <a:lnTo>
                  <a:pt x="111274" y="185986"/>
                </a:lnTo>
                <a:cubicBezTo>
                  <a:pt x="103336" y="182166"/>
                  <a:pt x="93464" y="175071"/>
                  <a:pt x="83840" y="162024"/>
                </a:cubicBezTo>
                <a:cubicBezTo>
                  <a:pt x="74712" y="159643"/>
                  <a:pt x="64790" y="156021"/>
                  <a:pt x="55116" y="150564"/>
                </a:cubicBezTo>
                <a:cubicBezTo>
                  <a:pt x="28277" y="135533"/>
                  <a:pt x="4068" y="107206"/>
                  <a:pt x="595" y="56356"/>
                </a:cubicBezTo>
                <a:cubicBezTo>
                  <a:pt x="-347" y="42416"/>
                  <a:pt x="11013" y="31700"/>
                  <a:pt x="23961" y="31700"/>
                </a:cubicBezTo>
                <a:lnTo>
                  <a:pt x="48568" y="31700"/>
                </a:lnTo>
                <a:cubicBezTo>
                  <a:pt x="48419" y="29121"/>
                  <a:pt x="48320" y="26541"/>
                  <a:pt x="48220" y="23862"/>
                </a:cubicBezTo>
                <a:cubicBezTo>
                  <a:pt x="47724" y="10716"/>
                  <a:pt x="58440" y="-50"/>
                  <a:pt x="71586" y="-50"/>
                </a:cubicBezTo>
                <a:close/>
                <a:moveTo>
                  <a:pt x="50354" y="55563"/>
                </a:moveTo>
                <a:lnTo>
                  <a:pt x="24358" y="55563"/>
                </a:lnTo>
                <a:cubicBezTo>
                  <a:pt x="27434" y="97582"/>
                  <a:pt x="46732" y="118616"/>
                  <a:pt x="66625" y="129778"/>
                </a:cubicBezTo>
                <a:cubicBezTo>
                  <a:pt x="59482" y="111274"/>
                  <a:pt x="53578" y="87114"/>
                  <a:pt x="50354" y="55563"/>
                </a:cubicBezTo>
                <a:close/>
                <a:moveTo>
                  <a:pt x="188516" y="127397"/>
                </a:moveTo>
                <a:cubicBezTo>
                  <a:pt x="208607" y="115590"/>
                  <a:pt x="226764" y="94605"/>
                  <a:pt x="229840" y="55563"/>
                </a:cubicBezTo>
                <a:lnTo>
                  <a:pt x="203895" y="55563"/>
                </a:lnTo>
                <a:cubicBezTo>
                  <a:pt x="200819" y="85775"/>
                  <a:pt x="195263" y="109240"/>
                  <a:pt x="188516" y="127397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12255500" y="5486400"/>
            <a:ext cx="3365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工程价值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1938000" y="6045200"/>
            <a:ext cx="36576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DWD层是数据质量的第一道关口,它的标准化程度直接影响后续所有环节的可靠性。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11957050" y="7340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12280900" y="7239000"/>
            <a:ext cx="2133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所有下游基于统一标准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11957050" y="7747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12280900" y="7645400"/>
            <a:ext cx="2133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避免重复开发清洗逻辑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11957050" y="8153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12280900" y="8051800"/>
            <a:ext cx="2133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业务系统变更影响受限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08000"/>
            <a:ext cx="1663700" cy="406400"/>
          </a:xfrm>
          <a:custGeom>
            <a:avLst/>
            <a:gdLst/>
            <a:ahLst/>
            <a:cxnLst/>
            <a:rect l="l" t="t" r="r" b="b"/>
            <a:pathLst>
              <a:path w="1663700" h="406400">
                <a:moveTo>
                  <a:pt x="0" y="0"/>
                </a:moveTo>
                <a:lnTo>
                  <a:pt x="1663700" y="0"/>
                </a:lnTo>
                <a:lnTo>
                  <a:pt x="16637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D69E2E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533400" y="508000"/>
            <a:ext cx="50800" cy="406400"/>
          </a:xfrm>
          <a:custGeom>
            <a:avLst/>
            <a:gdLst/>
            <a:ahLst/>
            <a:cxnLst/>
            <a:rect l="l" t="t" r="r" b="b"/>
            <a:pathLst>
              <a:path w="50800" h="406400">
                <a:moveTo>
                  <a:pt x="0" y="0"/>
                </a:moveTo>
                <a:lnTo>
                  <a:pt x="50800" y="0"/>
                </a:lnTo>
                <a:lnTo>
                  <a:pt x="508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2000" y="577850"/>
            <a:ext cx="13389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DWS LAYER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8000" y="10160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2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DWS层：轻度汇总与宽表构建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8000" y="1778000"/>
            <a:ext cx="10871200" cy="6858000"/>
          </a:xfrm>
          <a:custGeom>
            <a:avLst/>
            <a:gdLst/>
            <a:ahLst/>
            <a:cxnLst/>
            <a:rect l="l" t="t" r="r" b="b"/>
            <a:pathLst>
              <a:path w="10871200" h="6858000">
                <a:moveTo>
                  <a:pt x="101567" y="0"/>
                </a:moveTo>
                <a:lnTo>
                  <a:pt x="10769633" y="0"/>
                </a:lnTo>
                <a:cubicBezTo>
                  <a:pt x="10825727" y="0"/>
                  <a:pt x="10871200" y="45473"/>
                  <a:pt x="10871200" y="101567"/>
                </a:cubicBezTo>
                <a:lnTo>
                  <a:pt x="10871200" y="6756433"/>
                </a:lnTo>
                <a:cubicBezTo>
                  <a:pt x="10871200" y="6812527"/>
                  <a:pt x="10825727" y="6858000"/>
                  <a:pt x="10769633" y="6858000"/>
                </a:cubicBezTo>
                <a:lnTo>
                  <a:pt x="101567" y="6858000"/>
                </a:lnTo>
                <a:cubicBezTo>
                  <a:pt x="45473" y="6858000"/>
                  <a:pt x="0" y="6812527"/>
                  <a:pt x="0" y="6756433"/>
                </a:cubicBezTo>
                <a:lnTo>
                  <a:pt x="0" y="101567"/>
                </a:lnTo>
                <a:cubicBezTo>
                  <a:pt x="0" y="45473"/>
                  <a:pt x="45473" y="0"/>
                  <a:pt x="101567" y="0"/>
                </a:cubicBezTo>
                <a:close/>
              </a:path>
            </a:pathLst>
          </a:custGeom>
          <a:solidFill>
            <a:srgbClr val="2D3748">
              <a:alpha val="4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800100" y="2082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8410" y="3096"/>
                </a:moveTo>
                <a:cubicBezTo>
                  <a:pt x="147280" y="-1012"/>
                  <a:pt x="157520" y="-1012"/>
                  <a:pt x="166390" y="3096"/>
                </a:cubicBezTo>
                <a:lnTo>
                  <a:pt x="296525" y="63222"/>
                </a:lnTo>
                <a:cubicBezTo>
                  <a:pt x="301585" y="65544"/>
                  <a:pt x="304800" y="70604"/>
                  <a:pt x="304800" y="76200"/>
                </a:cubicBezTo>
                <a:cubicBezTo>
                  <a:pt x="304800" y="81796"/>
                  <a:pt x="301585" y="86856"/>
                  <a:pt x="296525" y="89178"/>
                </a:cubicBezTo>
                <a:lnTo>
                  <a:pt x="166390" y="149304"/>
                </a:lnTo>
                <a:cubicBezTo>
                  <a:pt x="157520" y="153412"/>
                  <a:pt x="147280" y="153412"/>
                  <a:pt x="138410" y="149304"/>
                </a:cubicBezTo>
                <a:lnTo>
                  <a:pt x="8275" y="89178"/>
                </a:lnTo>
                <a:cubicBezTo>
                  <a:pt x="3215" y="86797"/>
                  <a:pt x="0" y="81736"/>
                  <a:pt x="0" y="76200"/>
                </a:cubicBezTo>
                <a:cubicBezTo>
                  <a:pt x="0" y="70664"/>
                  <a:pt x="3215" y="65544"/>
                  <a:pt x="8275" y="63222"/>
                </a:cubicBezTo>
                <a:lnTo>
                  <a:pt x="138410" y="3096"/>
                </a:lnTo>
                <a:close/>
                <a:moveTo>
                  <a:pt x="28635" y="130016"/>
                </a:moveTo>
                <a:lnTo>
                  <a:pt x="126444" y="175200"/>
                </a:lnTo>
                <a:cubicBezTo>
                  <a:pt x="142935" y="182820"/>
                  <a:pt x="161925" y="182820"/>
                  <a:pt x="178415" y="175200"/>
                </a:cubicBezTo>
                <a:lnTo>
                  <a:pt x="276225" y="130016"/>
                </a:lnTo>
                <a:lnTo>
                  <a:pt x="296525" y="139422"/>
                </a:lnTo>
                <a:cubicBezTo>
                  <a:pt x="301585" y="141744"/>
                  <a:pt x="304800" y="146804"/>
                  <a:pt x="304800" y="152400"/>
                </a:cubicBezTo>
                <a:cubicBezTo>
                  <a:pt x="304800" y="157996"/>
                  <a:pt x="301585" y="163056"/>
                  <a:pt x="296525" y="165378"/>
                </a:cubicBezTo>
                <a:lnTo>
                  <a:pt x="166390" y="225504"/>
                </a:lnTo>
                <a:cubicBezTo>
                  <a:pt x="157520" y="229612"/>
                  <a:pt x="147280" y="229612"/>
                  <a:pt x="138410" y="225504"/>
                </a:cubicBezTo>
                <a:lnTo>
                  <a:pt x="8275" y="165378"/>
                </a:lnTo>
                <a:cubicBezTo>
                  <a:pt x="3215" y="162997"/>
                  <a:pt x="0" y="157936"/>
                  <a:pt x="0" y="152400"/>
                </a:cubicBezTo>
                <a:cubicBezTo>
                  <a:pt x="0" y="146864"/>
                  <a:pt x="3215" y="141744"/>
                  <a:pt x="8275" y="139422"/>
                </a:cubicBezTo>
                <a:lnTo>
                  <a:pt x="28575" y="130016"/>
                </a:lnTo>
                <a:close/>
                <a:moveTo>
                  <a:pt x="8275" y="215622"/>
                </a:moveTo>
                <a:lnTo>
                  <a:pt x="28575" y="206216"/>
                </a:lnTo>
                <a:lnTo>
                  <a:pt x="126385" y="251400"/>
                </a:lnTo>
                <a:cubicBezTo>
                  <a:pt x="142875" y="259020"/>
                  <a:pt x="161865" y="259020"/>
                  <a:pt x="178356" y="251400"/>
                </a:cubicBezTo>
                <a:lnTo>
                  <a:pt x="276165" y="206216"/>
                </a:lnTo>
                <a:lnTo>
                  <a:pt x="296466" y="215622"/>
                </a:lnTo>
                <a:cubicBezTo>
                  <a:pt x="301526" y="217944"/>
                  <a:pt x="304740" y="223004"/>
                  <a:pt x="304740" y="228600"/>
                </a:cubicBezTo>
                <a:cubicBezTo>
                  <a:pt x="304740" y="234196"/>
                  <a:pt x="301526" y="239256"/>
                  <a:pt x="296466" y="241578"/>
                </a:cubicBezTo>
                <a:lnTo>
                  <a:pt x="166330" y="301704"/>
                </a:lnTo>
                <a:cubicBezTo>
                  <a:pt x="157460" y="305812"/>
                  <a:pt x="147221" y="305812"/>
                  <a:pt x="138351" y="301704"/>
                </a:cubicBezTo>
                <a:lnTo>
                  <a:pt x="8275" y="241578"/>
                </a:lnTo>
                <a:cubicBezTo>
                  <a:pt x="3215" y="239197"/>
                  <a:pt x="0" y="234136"/>
                  <a:pt x="0" y="228600"/>
                </a:cubicBezTo>
                <a:cubicBezTo>
                  <a:pt x="0" y="223064"/>
                  <a:pt x="3215" y="217944"/>
                  <a:pt x="8275" y="215622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143000" y="2032000"/>
            <a:ext cx="10134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聚合后的数据示例：agg_daily_channel_stats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87400" y="2641600"/>
            <a:ext cx="10337800" cy="2844800"/>
          </a:xfrm>
          <a:custGeom>
            <a:avLst/>
            <a:gdLst/>
            <a:ahLst/>
            <a:cxnLst/>
            <a:rect l="l" t="t" r="r" b="b"/>
            <a:pathLst>
              <a:path w="10337800" h="2844800">
                <a:moveTo>
                  <a:pt x="50800" y="0"/>
                </a:moveTo>
                <a:lnTo>
                  <a:pt x="10236212" y="0"/>
                </a:lnTo>
                <a:cubicBezTo>
                  <a:pt x="10292318" y="0"/>
                  <a:pt x="10337800" y="45482"/>
                  <a:pt x="10337800" y="101588"/>
                </a:cubicBezTo>
                <a:lnTo>
                  <a:pt x="10337800" y="2743212"/>
                </a:lnTo>
                <a:cubicBezTo>
                  <a:pt x="10337800" y="2799318"/>
                  <a:pt x="10292318" y="2844800"/>
                  <a:pt x="10236212" y="2844800"/>
                </a:cubicBezTo>
                <a:lnTo>
                  <a:pt x="50800" y="2844800"/>
                </a:lnTo>
                <a:cubicBezTo>
                  <a:pt x="22744" y="2844800"/>
                  <a:pt x="0" y="2822056"/>
                  <a:pt x="0" y="2794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202C">
              <a:alpha val="8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787400" y="2641600"/>
            <a:ext cx="50800" cy="2844800"/>
          </a:xfrm>
          <a:custGeom>
            <a:avLst/>
            <a:gdLst/>
            <a:ahLst/>
            <a:cxnLst/>
            <a:rect l="l" t="t" r="r" b="b"/>
            <a:pathLst>
              <a:path w="50800" h="2844800">
                <a:moveTo>
                  <a:pt x="50800" y="0"/>
                </a:moveTo>
                <a:lnTo>
                  <a:pt x="50800" y="0"/>
                </a:lnTo>
                <a:lnTo>
                  <a:pt x="50800" y="2844800"/>
                </a:lnTo>
                <a:lnTo>
                  <a:pt x="50800" y="2844800"/>
                </a:lnTo>
                <a:cubicBezTo>
                  <a:pt x="22763" y="2844800"/>
                  <a:pt x="0" y="2822037"/>
                  <a:pt x="0" y="2794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1054100" y="289560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7800" y="81677"/>
                </a:moveTo>
                <a:cubicBezTo>
                  <a:pt x="171926" y="85566"/>
                  <a:pt x="165179" y="88702"/>
                  <a:pt x="158155" y="91202"/>
                </a:cubicBezTo>
                <a:cubicBezTo>
                  <a:pt x="139502" y="97869"/>
                  <a:pt x="115014" y="101600"/>
                  <a:pt x="88900" y="101600"/>
                </a:cubicBezTo>
                <a:cubicBezTo>
                  <a:pt x="62786" y="101600"/>
                  <a:pt x="38259" y="97830"/>
                  <a:pt x="19645" y="91202"/>
                </a:cubicBezTo>
                <a:cubicBezTo>
                  <a:pt x="12660" y="88702"/>
                  <a:pt x="5874" y="85566"/>
                  <a:pt x="0" y="81677"/>
                </a:cubicBezTo>
                <a:lnTo>
                  <a:pt x="0" y="114300"/>
                </a:lnTo>
                <a:cubicBezTo>
                  <a:pt x="0" y="131842"/>
                  <a:pt x="39807" y="146050"/>
                  <a:pt x="88900" y="146050"/>
                </a:cubicBezTo>
                <a:cubicBezTo>
                  <a:pt x="137993" y="146050"/>
                  <a:pt x="177800" y="131842"/>
                  <a:pt x="177800" y="114300"/>
                </a:cubicBezTo>
                <a:lnTo>
                  <a:pt x="177800" y="81677"/>
                </a:lnTo>
                <a:close/>
                <a:moveTo>
                  <a:pt x="177800" y="50800"/>
                </a:moveTo>
                <a:lnTo>
                  <a:pt x="177800" y="31750"/>
                </a:lnTo>
                <a:cubicBezTo>
                  <a:pt x="177800" y="14208"/>
                  <a:pt x="137993" y="0"/>
                  <a:pt x="88900" y="0"/>
                </a:cubicBezTo>
                <a:cubicBezTo>
                  <a:pt x="39807" y="0"/>
                  <a:pt x="0" y="14208"/>
                  <a:pt x="0" y="31750"/>
                </a:cubicBezTo>
                <a:lnTo>
                  <a:pt x="0" y="50800"/>
                </a:lnTo>
                <a:cubicBezTo>
                  <a:pt x="0" y="68342"/>
                  <a:pt x="39807" y="82550"/>
                  <a:pt x="88900" y="82550"/>
                </a:cubicBezTo>
                <a:cubicBezTo>
                  <a:pt x="137993" y="82550"/>
                  <a:pt x="177800" y="68342"/>
                  <a:pt x="177800" y="50800"/>
                </a:cubicBezTo>
                <a:close/>
                <a:moveTo>
                  <a:pt x="158155" y="154702"/>
                </a:moveTo>
                <a:cubicBezTo>
                  <a:pt x="139541" y="161330"/>
                  <a:pt x="115054" y="165100"/>
                  <a:pt x="88900" y="165100"/>
                </a:cubicBezTo>
                <a:cubicBezTo>
                  <a:pt x="62746" y="165100"/>
                  <a:pt x="38259" y="161330"/>
                  <a:pt x="19645" y="154702"/>
                </a:cubicBezTo>
                <a:cubicBezTo>
                  <a:pt x="12660" y="152202"/>
                  <a:pt x="5874" y="149066"/>
                  <a:pt x="0" y="145177"/>
                </a:cubicBezTo>
                <a:lnTo>
                  <a:pt x="0" y="171450"/>
                </a:lnTo>
                <a:cubicBezTo>
                  <a:pt x="0" y="188992"/>
                  <a:pt x="39807" y="203200"/>
                  <a:pt x="88900" y="203200"/>
                </a:cubicBezTo>
                <a:cubicBezTo>
                  <a:pt x="137993" y="203200"/>
                  <a:pt x="177800" y="188992"/>
                  <a:pt x="177800" y="171450"/>
                </a:cubicBezTo>
                <a:lnTo>
                  <a:pt x="177800" y="145177"/>
                </a:lnTo>
                <a:cubicBezTo>
                  <a:pt x="171926" y="149066"/>
                  <a:pt x="165179" y="152202"/>
                  <a:pt x="158155" y="154702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1371600" y="2844800"/>
            <a:ext cx="901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SQL格式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16000" y="3346450"/>
            <a:ext cx="4261048" cy="1892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SELECT '2023-12-09' AS date, 'Mobile_Bank' AS channel, 50000 AS total_count, 5000000.00 AS total_amount; -- 按天和渠道聚合统计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5689600"/>
            <a:ext cx="5080000" cy="2438400"/>
          </a:xfrm>
          <a:custGeom>
            <a:avLst/>
            <a:gdLst/>
            <a:ahLst/>
            <a:cxnLst/>
            <a:rect l="l" t="t" r="r" b="b"/>
            <a:pathLst>
              <a:path w="5080000" h="2438400">
                <a:moveTo>
                  <a:pt x="101608" y="0"/>
                </a:moveTo>
                <a:lnTo>
                  <a:pt x="4978392" y="0"/>
                </a:lnTo>
                <a:cubicBezTo>
                  <a:pt x="5034508" y="0"/>
                  <a:pt x="5080000" y="45492"/>
                  <a:pt x="5080000" y="101608"/>
                </a:cubicBezTo>
                <a:lnTo>
                  <a:pt x="5080000" y="2336792"/>
                </a:lnTo>
                <a:cubicBezTo>
                  <a:pt x="5080000" y="2392908"/>
                  <a:pt x="5034508" y="2438400"/>
                  <a:pt x="4978392" y="2438400"/>
                </a:cubicBezTo>
                <a:lnTo>
                  <a:pt x="101608" y="2438400"/>
                </a:lnTo>
                <a:cubicBezTo>
                  <a:pt x="45492" y="2438400"/>
                  <a:pt x="0" y="2392908"/>
                  <a:pt x="0" y="2336792"/>
                </a:cubicBezTo>
                <a:lnTo>
                  <a:pt x="0" y="101608"/>
                </a:lnTo>
                <a:cubicBezTo>
                  <a:pt x="0" y="45529"/>
                  <a:pt x="45529" y="0"/>
                  <a:pt x="101608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996950" y="5956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4288" y="14288"/>
                </a:moveTo>
                <a:cubicBezTo>
                  <a:pt x="22190" y="14288"/>
                  <a:pt x="28575" y="20672"/>
                  <a:pt x="28575" y="28575"/>
                </a:cubicBezTo>
                <a:lnTo>
                  <a:pt x="28575" y="178594"/>
                </a:lnTo>
                <a:cubicBezTo>
                  <a:pt x="28575" y="182523"/>
                  <a:pt x="31790" y="185738"/>
                  <a:pt x="35719" y="185738"/>
                </a:cubicBezTo>
                <a:lnTo>
                  <a:pt x="214313" y="185738"/>
                </a:lnTo>
                <a:cubicBezTo>
                  <a:pt x="222215" y="185738"/>
                  <a:pt x="228600" y="192122"/>
                  <a:pt x="228600" y="200025"/>
                </a:cubicBezTo>
                <a:cubicBezTo>
                  <a:pt x="228600" y="207928"/>
                  <a:pt x="222215" y="214313"/>
                  <a:pt x="214313" y="214313"/>
                </a:cubicBezTo>
                <a:lnTo>
                  <a:pt x="35719" y="214313"/>
                </a:lnTo>
                <a:cubicBezTo>
                  <a:pt x="15984" y="214313"/>
                  <a:pt x="0" y="198328"/>
                  <a:pt x="0" y="178594"/>
                </a:cubicBezTo>
                <a:lnTo>
                  <a:pt x="0" y="28575"/>
                </a:lnTo>
                <a:cubicBezTo>
                  <a:pt x="0" y="20672"/>
                  <a:pt x="6385" y="14288"/>
                  <a:pt x="14288" y="14288"/>
                </a:cubicBezTo>
                <a:close/>
                <a:moveTo>
                  <a:pt x="57150" y="42863"/>
                </a:moveTo>
                <a:cubicBezTo>
                  <a:pt x="57150" y="34960"/>
                  <a:pt x="63535" y="28575"/>
                  <a:pt x="71438" y="28575"/>
                </a:cubicBezTo>
                <a:lnTo>
                  <a:pt x="157163" y="28575"/>
                </a:lnTo>
                <a:cubicBezTo>
                  <a:pt x="165065" y="28575"/>
                  <a:pt x="171450" y="34960"/>
                  <a:pt x="171450" y="42863"/>
                </a:cubicBezTo>
                <a:cubicBezTo>
                  <a:pt x="171450" y="50765"/>
                  <a:pt x="165065" y="57150"/>
                  <a:pt x="157163" y="57150"/>
                </a:cubicBezTo>
                <a:lnTo>
                  <a:pt x="71438" y="57150"/>
                </a:lnTo>
                <a:cubicBezTo>
                  <a:pt x="63535" y="57150"/>
                  <a:pt x="57150" y="50765"/>
                  <a:pt x="57150" y="42863"/>
                </a:cubicBezTo>
                <a:close/>
                <a:moveTo>
                  <a:pt x="71438" y="78581"/>
                </a:moveTo>
                <a:lnTo>
                  <a:pt x="128588" y="78581"/>
                </a:lnTo>
                <a:cubicBezTo>
                  <a:pt x="136490" y="78581"/>
                  <a:pt x="142875" y="84966"/>
                  <a:pt x="142875" y="92869"/>
                </a:cubicBezTo>
                <a:cubicBezTo>
                  <a:pt x="142875" y="100772"/>
                  <a:pt x="136490" y="107156"/>
                  <a:pt x="128588" y="107156"/>
                </a:cubicBezTo>
                <a:lnTo>
                  <a:pt x="71438" y="107156"/>
                </a:lnTo>
                <a:cubicBezTo>
                  <a:pt x="63535" y="107156"/>
                  <a:pt x="57150" y="100772"/>
                  <a:pt x="57150" y="92869"/>
                </a:cubicBezTo>
                <a:cubicBezTo>
                  <a:pt x="57150" y="84966"/>
                  <a:pt x="63535" y="78581"/>
                  <a:pt x="71438" y="78581"/>
                </a:cubicBezTo>
                <a:close/>
                <a:moveTo>
                  <a:pt x="71438" y="128588"/>
                </a:moveTo>
                <a:lnTo>
                  <a:pt x="185738" y="128588"/>
                </a:lnTo>
                <a:cubicBezTo>
                  <a:pt x="193640" y="128588"/>
                  <a:pt x="200025" y="134972"/>
                  <a:pt x="200025" y="142875"/>
                </a:cubicBezTo>
                <a:cubicBezTo>
                  <a:pt x="200025" y="150778"/>
                  <a:pt x="193640" y="157163"/>
                  <a:pt x="185738" y="157163"/>
                </a:cubicBezTo>
                <a:lnTo>
                  <a:pt x="71438" y="157163"/>
                </a:lnTo>
                <a:cubicBezTo>
                  <a:pt x="63535" y="157163"/>
                  <a:pt x="57150" y="150778"/>
                  <a:pt x="57150" y="142875"/>
                </a:cubicBezTo>
                <a:cubicBezTo>
                  <a:pt x="57150" y="134972"/>
                  <a:pt x="63535" y="128588"/>
                  <a:pt x="71438" y="128588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1257300" y="5892800"/>
            <a:ext cx="4495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聚合操作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90600" y="64643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74536" y="96748"/>
                </a:moveTo>
                <a:cubicBezTo>
                  <a:pt x="178877" y="92407"/>
                  <a:pt x="178877" y="85358"/>
                  <a:pt x="174536" y="81017"/>
                </a:cubicBezTo>
                <a:lnTo>
                  <a:pt x="118973" y="25455"/>
                </a:lnTo>
                <a:cubicBezTo>
                  <a:pt x="114632" y="21114"/>
                  <a:pt x="107583" y="21114"/>
                  <a:pt x="103242" y="25455"/>
                </a:cubicBezTo>
                <a:cubicBezTo>
                  <a:pt x="98901" y="29795"/>
                  <a:pt x="98901" y="36845"/>
                  <a:pt x="103242" y="41186"/>
                </a:cubicBezTo>
                <a:lnTo>
                  <a:pt x="139844" y="77788"/>
                </a:lnTo>
                <a:lnTo>
                  <a:pt x="11112" y="77788"/>
                </a:lnTo>
                <a:cubicBezTo>
                  <a:pt x="4966" y="77788"/>
                  <a:pt x="0" y="82753"/>
                  <a:pt x="0" y="88900"/>
                </a:cubicBezTo>
                <a:cubicBezTo>
                  <a:pt x="0" y="95047"/>
                  <a:pt x="4966" y="100013"/>
                  <a:pt x="11112" y="100013"/>
                </a:cubicBezTo>
                <a:lnTo>
                  <a:pt x="139844" y="100013"/>
                </a:lnTo>
                <a:lnTo>
                  <a:pt x="103242" y="136614"/>
                </a:lnTo>
                <a:cubicBezTo>
                  <a:pt x="98901" y="140955"/>
                  <a:pt x="98901" y="148005"/>
                  <a:pt x="103242" y="152345"/>
                </a:cubicBezTo>
                <a:cubicBezTo>
                  <a:pt x="107583" y="156686"/>
                  <a:pt x="114632" y="156686"/>
                  <a:pt x="118973" y="152345"/>
                </a:cubicBezTo>
                <a:lnTo>
                  <a:pt x="174536" y="96783"/>
                </a:ln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1289050" y="6400800"/>
            <a:ext cx="1447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按天聚合(date)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90600" y="68707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74536" y="96748"/>
                </a:moveTo>
                <a:cubicBezTo>
                  <a:pt x="178877" y="92407"/>
                  <a:pt x="178877" y="85358"/>
                  <a:pt x="174536" y="81017"/>
                </a:cubicBezTo>
                <a:lnTo>
                  <a:pt x="118973" y="25455"/>
                </a:lnTo>
                <a:cubicBezTo>
                  <a:pt x="114632" y="21114"/>
                  <a:pt x="107583" y="21114"/>
                  <a:pt x="103242" y="25455"/>
                </a:cubicBezTo>
                <a:cubicBezTo>
                  <a:pt x="98901" y="29795"/>
                  <a:pt x="98901" y="36845"/>
                  <a:pt x="103242" y="41186"/>
                </a:cubicBezTo>
                <a:lnTo>
                  <a:pt x="139844" y="77788"/>
                </a:lnTo>
                <a:lnTo>
                  <a:pt x="11112" y="77788"/>
                </a:lnTo>
                <a:cubicBezTo>
                  <a:pt x="4966" y="77788"/>
                  <a:pt x="0" y="82753"/>
                  <a:pt x="0" y="88900"/>
                </a:cubicBezTo>
                <a:cubicBezTo>
                  <a:pt x="0" y="95047"/>
                  <a:pt x="4966" y="100013"/>
                  <a:pt x="11112" y="100013"/>
                </a:cubicBezTo>
                <a:lnTo>
                  <a:pt x="139844" y="100013"/>
                </a:lnTo>
                <a:lnTo>
                  <a:pt x="103242" y="136614"/>
                </a:lnTo>
                <a:cubicBezTo>
                  <a:pt x="98901" y="140955"/>
                  <a:pt x="98901" y="148005"/>
                  <a:pt x="103242" y="152345"/>
                </a:cubicBezTo>
                <a:cubicBezTo>
                  <a:pt x="107583" y="156686"/>
                  <a:pt x="114632" y="156686"/>
                  <a:pt x="118973" y="152345"/>
                </a:cubicBezTo>
                <a:lnTo>
                  <a:pt x="174536" y="96783"/>
                </a:ln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1289050" y="6807200"/>
            <a:ext cx="1968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按渠道分组(channel)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90600" y="72771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74536" y="96748"/>
                </a:moveTo>
                <a:cubicBezTo>
                  <a:pt x="178877" y="92407"/>
                  <a:pt x="178877" y="85358"/>
                  <a:pt x="174536" y="81017"/>
                </a:cubicBezTo>
                <a:lnTo>
                  <a:pt x="118973" y="25455"/>
                </a:lnTo>
                <a:cubicBezTo>
                  <a:pt x="114632" y="21114"/>
                  <a:pt x="107583" y="21114"/>
                  <a:pt x="103242" y="25455"/>
                </a:cubicBezTo>
                <a:cubicBezTo>
                  <a:pt x="98901" y="29795"/>
                  <a:pt x="98901" y="36845"/>
                  <a:pt x="103242" y="41186"/>
                </a:cubicBezTo>
                <a:lnTo>
                  <a:pt x="139844" y="77788"/>
                </a:lnTo>
                <a:lnTo>
                  <a:pt x="11112" y="77788"/>
                </a:lnTo>
                <a:cubicBezTo>
                  <a:pt x="4966" y="77788"/>
                  <a:pt x="0" y="82753"/>
                  <a:pt x="0" y="88900"/>
                </a:cubicBezTo>
                <a:cubicBezTo>
                  <a:pt x="0" y="95047"/>
                  <a:pt x="4966" y="100013"/>
                  <a:pt x="11112" y="100013"/>
                </a:cubicBezTo>
                <a:lnTo>
                  <a:pt x="139844" y="100013"/>
                </a:lnTo>
                <a:lnTo>
                  <a:pt x="103242" y="136614"/>
                </a:lnTo>
                <a:cubicBezTo>
                  <a:pt x="98901" y="140955"/>
                  <a:pt x="98901" y="148005"/>
                  <a:pt x="103242" y="152345"/>
                </a:cubicBezTo>
                <a:cubicBezTo>
                  <a:pt x="107583" y="156686"/>
                  <a:pt x="114632" y="156686"/>
                  <a:pt x="118973" y="152345"/>
                </a:cubicBezTo>
                <a:lnTo>
                  <a:pt x="174536" y="96783"/>
                </a:ln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1289050" y="7213600"/>
            <a:ext cx="2273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计算总笔数(total_count)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90600" y="76835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74536" y="96748"/>
                </a:moveTo>
                <a:cubicBezTo>
                  <a:pt x="178877" y="92407"/>
                  <a:pt x="178877" y="85358"/>
                  <a:pt x="174536" y="81017"/>
                </a:cubicBezTo>
                <a:lnTo>
                  <a:pt x="118973" y="25455"/>
                </a:lnTo>
                <a:cubicBezTo>
                  <a:pt x="114632" y="21114"/>
                  <a:pt x="107583" y="21114"/>
                  <a:pt x="103242" y="25455"/>
                </a:cubicBezTo>
                <a:cubicBezTo>
                  <a:pt x="98901" y="29795"/>
                  <a:pt x="98901" y="36845"/>
                  <a:pt x="103242" y="41186"/>
                </a:cubicBezTo>
                <a:lnTo>
                  <a:pt x="139844" y="77788"/>
                </a:lnTo>
                <a:lnTo>
                  <a:pt x="11112" y="77788"/>
                </a:lnTo>
                <a:cubicBezTo>
                  <a:pt x="4966" y="77788"/>
                  <a:pt x="0" y="82753"/>
                  <a:pt x="0" y="88900"/>
                </a:cubicBezTo>
                <a:cubicBezTo>
                  <a:pt x="0" y="95047"/>
                  <a:pt x="4966" y="100013"/>
                  <a:pt x="11112" y="100013"/>
                </a:cubicBezTo>
                <a:lnTo>
                  <a:pt x="139844" y="100013"/>
                </a:lnTo>
                <a:lnTo>
                  <a:pt x="103242" y="136614"/>
                </a:lnTo>
                <a:cubicBezTo>
                  <a:pt x="98901" y="140955"/>
                  <a:pt x="98901" y="148005"/>
                  <a:pt x="103242" y="152345"/>
                </a:cubicBezTo>
                <a:cubicBezTo>
                  <a:pt x="107583" y="156686"/>
                  <a:pt x="114632" y="156686"/>
                  <a:pt x="118973" y="152345"/>
                </a:cubicBezTo>
                <a:lnTo>
                  <a:pt x="174536" y="96783"/>
                </a:ln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1289050" y="7620000"/>
            <a:ext cx="2463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计算总金额(total_amount)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045200" y="5689600"/>
            <a:ext cx="5080000" cy="2438400"/>
          </a:xfrm>
          <a:custGeom>
            <a:avLst/>
            <a:gdLst/>
            <a:ahLst/>
            <a:cxnLst/>
            <a:rect l="l" t="t" r="r" b="b"/>
            <a:pathLst>
              <a:path w="5080000" h="2438400">
                <a:moveTo>
                  <a:pt x="101608" y="0"/>
                </a:moveTo>
                <a:lnTo>
                  <a:pt x="4978392" y="0"/>
                </a:lnTo>
                <a:cubicBezTo>
                  <a:pt x="5034508" y="0"/>
                  <a:pt x="5080000" y="45492"/>
                  <a:pt x="5080000" y="101608"/>
                </a:cubicBezTo>
                <a:lnTo>
                  <a:pt x="5080000" y="2336792"/>
                </a:lnTo>
                <a:cubicBezTo>
                  <a:pt x="5080000" y="2392908"/>
                  <a:pt x="5034508" y="2438400"/>
                  <a:pt x="4978392" y="2438400"/>
                </a:cubicBezTo>
                <a:lnTo>
                  <a:pt x="101608" y="2438400"/>
                </a:lnTo>
                <a:cubicBezTo>
                  <a:pt x="45492" y="2438400"/>
                  <a:pt x="0" y="2392908"/>
                  <a:pt x="0" y="2336792"/>
                </a:cubicBezTo>
                <a:lnTo>
                  <a:pt x="0" y="101608"/>
                </a:lnTo>
                <a:cubicBezTo>
                  <a:pt x="0" y="45529"/>
                  <a:pt x="45529" y="0"/>
                  <a:pt x="101608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6280150" y="5956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7150" y="142875"/>
                </a:moveTo>
                <a:lnTo>
                  <a:pt x="10939" y="142875"/>
                </a:lnTo>
                <a:cubicBezTo>
                  <a:pt x="-179" y="142875"/>
                  <a:pt x="-7010" y="130775"/>
                  <a:pt x="-1295" y="121221"/>
                </a:cubicBezTo>
                <a:lnTo>
                  <a:pt x="22324" y="81841"/>
                </a:lnTo>
                <a:cubicBezTo>
                  <a:pt x="26209" y="75367"/>
                  <a:pt x="33174" y="71438"/>
                  <a:pt x="40719" y="71438"/>
                </a:cubicBezTo>
                <a:lnTo>
                  <a:pt x="83135" y="71438"/>
                </a:lnTo>
                <a:cubicBezTo>
                  <a:pt x="117113" y="13886"/>
                  <a:pt x="167789" y="10984"/>
                  <a:pt x="201677" y="15939"/>
                </a:cubicBezTo>
                <a:cubicBezTo>
                  <a:pt x="207392" y="16788"/>
                  <a:pt x="211857" y="21253"/>
                  <a:pt x="212661" y="26923"/>
                </a:cubicBezTo>
                <a:cubicBezTo>
                  <a:pt x="217616" y="60811"/>
                  <a:pt x="214714" y="111487"/>
                  <a:pt x="157163" y="145465"/>
                </a:cubicBezTo>
                <a:lnTo>
                  <a:pt x="157163" y="187881"/>
                </a:lnTo>
                <a:cubicBezTo>
                  <a:pt x="157163" y="195426"/>
                  <a:pt x="153233" y="202391"/>
                  <a:pt x="146759" y="206276"/>
                </a:cubicBezTo>
                <a:lnTo>
                  <a:pt x="107379" y="229895"/>
                </a:lnTo>
                <a:cubicBezTo>
                  <a:pt x="97869" y="235610"/>
                  <a:pt x="85725" y="228734"/>
                  <a:pt x="85725" y="217661"/>
                </a:cubicBezTo>
                <a:lnTo>
                  <a:pt x="85725" y="171450"/>
                </a:lnTo>
                <a:cubicBezTo>
                  <a:pt x="85725" y="155689"/>
                  <a:pt x="72911" y="142875"/>
                  <a:pt x="57150" y="142875"/>
                </a:cubicBezTo>
                <a:lnTo>
                  <a:pt x="57105" y="142875"/>
                </a:lnTo>
                <a:close/>
                <a:moveTo>
                  <a:pt x="178594" y="71438"/>
                </a:moveTo>
                <a:cubicBezTo>
                  <a:pt x="178594" y="59609"/>
                  <a:pt x="168991" y="50006"/>
                  <a:pt x="157163" y="50006"/>
                </a:cubicBezTo>
                <a:cubicBezTo>
                  <a:pt x="145334" y="50006"/>
                  <a:pt x="135731" y="59609"/>
                  <a:pt x="135731" y="71438"/>
                </a:cubicBezTo>
                <a:cubicBezTo>
                  <a:pt x="135731" y="83266"/>
                  <a:pt x="145334" y="92869"/>
                  <a:pt x="157163" y="92869"/>
                </a:cubicBezTo>
                <a:cubicBezTo>
                  <a:pt x="168991" y="92869"/>
                  <a:pt x="178594" y="83266"/>
                  <a:pt x="178594" y="71438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6540500" y="5892800"/>
            <a:ext cx="4495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性能提升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248400" y="6400800"/>
            <a:ext cx="477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数据量大幅减少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248400" y="6807200"/>
            <a:ext cx="477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查询速度显著提升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248400" y="7213600"/>
            <a:ext cx="477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支持快速回答业务问题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248400" y="7620000"/>
            <a:ext cx="477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沉淀公共指标避免重复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1709400" y="1778000"/>
            <a:ext cx="4038600" cy="3200400"/>
          </a:xfrm>
          <a:custGeom>
            <a:avLst/>
            <a:gdLst/>
            <a:ahLst/>
            <a:cxnLst/>
            <a:rect l="l" t="t" r="r" b="b"/>
            <a:pathLst>
              <a:path w="4038600" h="3200400">
                <a:moveTo>
                  <a:pt x="50800" y="0"/>
                </a:moveTo>
                <a:lnTo>
                  <a:pt x="3936987" y="0"/>
                </a:lnTo>
                <a:cubicBezTo>
                  <a:pt x="3993106" y="0"/>
                  <a:pt x="4038600" y="45494"/>
                  <a:pt x="4038600" y="101613"/>
                </a:cubicBezTo>
                <a:lnTo>
                  <a:pt x="4038600" y="3098787"/>
                </a:lnTo>
                <a:cubicBezTo>
                  <a:pt x="4038600" y="3154906"/>
                  <a:pt x="3993106" y="3200400"/>
                  <a:pt x="3936987" y="3200400"/>
                </a:cubicBezTo>
                <a:lnTo>
                  <a:pt x="50800" y="3200400"/>
                </a:lnTo>
                <a:cubicBezTo>
                  <a:pt x="22763" y="3200400"/>
                  <a:pt x="0" y="3177637"/>
                  <a:pt x="0" y="3149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11709400" y="1778000"/>
            <a:ext cx="50800" cy="3200400"/>
          </a:xfrm>
          <a:custGeom>
            <a:avLst/>
            <a:gdLst/>
            <a:ahLst/>
            <a:cxnLst/>
            <a:rect l="l" t="t" r="r" b="b"/>
            <a:pathLst>
              <a:path w="50800" h="3200400">
                <a:moveTo>
                  <a:pt x="50800" y="0"/>
                </a:moveTo>
                <a:lnTo>
                  <a:pt x="50800" y="0"/>
                </a:lnTo>
                <a:lnTo>
                  <a:pt x="50800" y="3200400"/>
                </a:lnTo>
                <a:lnTo>
                  <a:pt x="50800" y="3200400"/>
                </a:lnTo>
                <a:cubicBezTo>
                  <a:pt x="22763" y="3200400"/>
                  <a:pt x="0" y="3177637"/>
                  <a:pt x="0" y="3149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12020550" y="20828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22250" y="127000"/>
                </a:moveTo>
                <a:cubicBezTo>
                  <a:pt x="222250" y="74430"/>
                  <a:pt x="179570" y="31750"/>
                  <a:pt x="127000" y="31750"/>
                </a:cubicBezTo>
                <a:cubicBezTo>
                  <a:pt x="74430" y="31750"/>
                  <a:pt x="31750" y="74430"/>
                  <a:pt x="31750" y="127000"/>
                </a:cubicBezTo>
                <a:cubicBezTo>
                  <a:pt x="31750" y="179570"/>
                  <a:pt x="74430" y="222250"/>
                  <a:pt x="127000" y="222250"/>
                </a:cubicBezTo>
                <a:cubicBezTo>
                  <a:pt x="179570" y="222250"/>
                  <a:pt x="222250" y="179570"/>
                  <a:pt x="222250" y="127000"/>
                </a:cubicBezTo>
                <a:close/>
                <a:moveTo>
                  <a:pt x="0" y="127000"/>
                </a:moveTo>
                <a:cubicBezTo>
                  <a:pt x="0" y="56907"/>
                  <a:pt x="56907" y="0"/>
                  <a:pt x="127000" y="0"/>
                </a:cubicBezTo>
                <a:cubicBezTo>
                  <a:pt x="197093" y="0"/>
                  <a:pt x="254000" y="56907"/>
                  <a:pt x="254000" y="127000"/>
                </a:cubicBezTo>
                <a:cubicBezTo>
                  <a:pt x="254000" y="197093"/>
                  <a:pt x="197093" y="254000"/>
                  <a:pt x="127000" y="254000"/>
                </a:cubicBezTo>
                <a:cubicBezTo>
                  <a:pt x="56907" y="254000"/>
                  <a:pt x="0" y="197093"/>
                  <a:pt x="0" y="127000"/>
                </a:cubicBezTo>
                <a:close/>
                <a:moveTo>
                  <a:pt x="127000" y="166688"/>
                </a:moveTo>
                <a:cubicBezTo>
                  <a:pt x="148904" y="166688"/>
                  <a:pt x="166688" y="148904"/>
                  <a:pt x="166688" y="127000"/>
                </a:cubicBezTo>
                <a:cubicBezTo>
                  <a:pt x="166688" y="105096"/>
                  <a:pt x="148904" y="87313"/>
                  <a:pt x="127000" y="87313"/>
                </a:cubicBezTo>
                <a:cubicBezTo>
                  <a:pt x="105096" y="87313"/>
                  <a:pt x="87313" y="105096"/>
                  <a:pt x="87313" y="127000"/>
                </a:cubicBezTo>
                <a:cubicBezTo>
                  <a:pt x="87313" y="148904"/>
                  <a:pt x="105096" y="166688"/>
                  <a:pt x="127000" y="166688"/>
                </a:cubicBezTo>
                <a:close/>
                <a:moveTo>
                  <a:pt x="127000" y="55563"/>
                </a:moveTo>
                <a:cubicBezTo>
                  <a:pt x="166427" y="55563"/>
                  <a:pt x="198438" y="87573"/>
                  <a:pt x="198438" y="127000"/>
                </a:cubicBezTo>
                <a:cubicBezTo>
                  <a:pt x="198438" y="166427"/>
                  <a:pt x="166427" y="198438"/>
                  <a:pt x="127000" y="198438"/>
                </a:cubicBezTo>
                <a:cubicBezTo>
                  <a:pt x="87573" y="198438"/>
                  <a:pt x="55563" y="166427"/>
                  <a:pt x="55563" y="127000"/>
                </a:cubicBezTo>
                <a:cubicBezTo>
                  <a:pt x="55563" y="87573"/>
                  <a:pt x="87573" y="55563"/>
                  <a:pt x="127000" y="55563"/>
                </a:cubicBezTo>
                <a:close/>
                <a:moveTo>
                  <a:pt x="111125" y="127000"/>
                </a:moveTo>
                <a:cubicBezTo>
                  <a:pt x="111125" y="118238"/>
                  <a:pt x="118238" y="111125"/>
                  <a:pt x="127000" y="111125"/>
                </a:cubicBezTo>
                <a:cubicBezTo>
                  <a:pt x="135762" y="111125"/>
                  <a:pt x="142875" y="118238"/>
                  <a:pt x="142875" y="127000"/>
                </a:cubicBezTo>
                <a:cubicBezTo>
                  <a:pt x="142875" y="135762"/>
                  <a:pt x="135762" y="142875"/>
                  <a:pt x="127000" y="142875"/>
                </a:cubicBezTo>
                <a:cubicBezTo>
                  <a:pt x="118238" y="142875"/>
                  <a:pt x="111125" y="135762"/>
                  <a:pt x="111125" y="127000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12306300" y="2032000"/>
            <a:ext cx="3314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关键特征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2014200" y="26416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12395200" y="2590800"/>
            <a:ext cx="15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面向主题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2395200" y="2895600"/>
            <a:ext cx="15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按业务主题组织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2014200" y="34036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12395200" y="3352800"/>
            <a:ext cx="172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预计算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2395200" y="3657600"/>
            <a:ext cx="172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提前计算常用指标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2014200" y="41656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12395200" y="4114800"/>
            <a:ext cx="15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数据缩减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2395200" y="4419600"/>
            <a:ext cx="15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数据量大幅减少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11684000" y="5232400"/>
            <a:ext cx="4064000" cy="3403600"/>
          </a:xfrm>
          <a:custGeom>
            <a:avLst/>
            <a:gdLst/>
            <a:ahLst/>
            <a:cxnLst/>
            <a:rect l="l" t="t" r="r" b="b"/>
            <a:pathLst>
              <a:path w="4064000" h="3403600">
                <a:moveTo>
                  <a:pt x="101597" y="0"/>
                </a:moveTo>
                <a:lnTo>
                  <a:pt x="3962403" y="0"/>
                </a:lnTo>
                <a:cubicBezTo>
                  <a:pt x="4018513" y="0"/>
                  <a:pt x="4064000" y="45487"/>
                  <a:pt x="4064000" y="101597"/>
                </a:cubicBezTo>
                <a:lnTo>
                  <a:pt x="4064000" y="3302003"/>
                </a:lnTo>
                <a:cubicBezTo>
                  <a:pt x="4064000" y="3358113"/>
                  <a:pt x="4018513" y="3403600"/>
                  <a:pt x="3962403" y="3403600"/>
                </a:cubicBezTo>
                <a:lnTo>
                  <a:pt x="101597" y="3403600"/>
                </a:lnTo>
                <a:cubicBezTo>
                  <a:pt x="45487" y="3403600"/>
                  <a:pt x="0" y="3358113"/>
                  <a:pt x="0" y="33020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11969750" y="5537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40891" y="-645"/>
                </a:moveTo>
                <a:cubicBezTo>
                  <a:pt x="132308" y="-5606"/>
                  <a:pt x="121692" y="-5606"/>
                  <a:pt x="113109" y="-645"/>
                </a:cubicBezTo>
                <a:lnTo>
                  <a:pt x="71338" y="23465"/>
                </a:lnTo>
                <a:cubicBezTo>
                  <a:pt x="62756" y="28426"/>
                  <a:pt x="57448" y="37604"/>
                  <a:pt x="57448" y="47526"/>
                </a:cubicBezTo>
                <a:lnTo>
                  <a:pt x="57448" y="98078"/>
                </a:lnTo>
                <a:lnTo>
                  <a:pt x="13643" y="123379"/>
                </a:lnTo>
                <a:cubicBezTo>
                  <a:pt x="5060" y="128339"/>
                  <a:pt x="-248" y="137517"/>
                  <a:pt x="-248" y="147439"/>
                </a:cubicBezTo>
                <a:lnTo>
                  <a:pt x="-248" y="195709"/>
                </a:lnTo>
                <a:cubicBezTo>
                  <a:pt x="-248" y="205631"/>
                  <a:pt x="5060" y="214809"/>
                  <a:pt x="13643" y="219770"/>
                </a:cubicBezTo>
                <a:lnTo>
                  <a:pt x="55463" y="243880"/>
                </a:lnTo>
                <a:cubicBezTo>
                  <a:pt x="64046" y="248841"/>
                  <a:pt x="74662" y="248841"/>
                  <a:pt x="83245" y="243880"/>
                </a:cubicBezTo>
                <a:lnTo>
                  <a:pt x="127050" y="218579"/>
                </a:lnTo>
                <a:lnTo>
                  <a:pt x="170855" y="243880"/>
                </a:lnTo>
                <a:cubicBezTo>
                  <a:pt x="179437" y="248841"/>
                  <a:pt x="190054" y="248841"/>
                  <a:pt x="198636" y="243880"/>
                </a:cubicBezTo>
                <a:lnTo>
                  <a:pt x="240357" y="219770"/>
                </a:lnTo>
                <a:cubicBezTo>
                  <a:pt x="248940" y="214809"/>
                  <a:pt x="254248" y="205631"/>
                  <a:pt x="254248" y="195709"/>
                </a:cubicBezTo>
                <a:lnTo>
                  <a:pt x="254248" y="147439"/>
                </a:lnTo>
                <a:cubicBezTo>
                  <a:pt x="254248" y="137517"/>
                  <a:pt x="248940" y="128339"/>
                  <a:pt x="240357" y="123379"/>
                </a:cubicBezTo>
                <a:lnTo>
                  <a:pt x="196552" y="98078"/>
                </a:lnTo>
                <a:lnTo>
                  <a:pt x="196552" y="47526"/>
                </a:lnTo>
                <a:cubicBezTo>
                  <a:pt x="196552" y="37604"/>
                  <a:pt x="191244" y="28426"/>
                  <a:pt x="182662" y="23465"/>
                </a:cubicBezTo>
                <a:lnTo>
                  <a:pt x="140891" y="-645"/>
                </a:lnTo>
                <a:close/>
                <a:moveTo>
                  <a:pt x="115094" y="145157"/>
                </a:moveTo>
                <a:lnTo>
                  <a:pt x="115094" y="197991"/>
                </a:lnTo>
                <a:lnTo>
                  <a:pt x="71289" y="223292"/>
                </a:lnTo>
                <a:cubicBezTo>
                  <a:pt x="70693" y="223639"/>
                  <a:pt x="69999" y="223838"/>
                  <a:pt x="69304" y="223838"/>
                </a:cubicBezTo>
                <a:lnTo>
                  <a:pt x="69304" y="171599"/>
                </a:lnTo>
                <a:lnTo>
                  <a:pt x="115094" y="145157"/>
                </a:lnTo>
                <a:close/>
                <a:moveTo>
                  <a:pt x="229890" y="145455"/>
                </a:moveTo>
                <a:cubicBezTo>
                  <a:pt x="230237" y="146050"/>
                  <a:pt x="230436" y="146745"/>
                  <a:pt x="230436" y="147439"/>
                </a:cubicBezTo>
                <a:lnTo>
                  <a:pt x="230436" y="195709"/>
                </a:lnTo>
                <a:cubicBezTo>
                  <a:pt x="230436" y="197148"/>
                  <a:pt x="229691" y="198438"/>
                  <a:pt x="228451" y="199132"/>
                </a:cubicBezTo>
                <a:lnTo>
                  <a:pt x="186630" y="223242"/>
                </a:lnTo>
                <a:cubicBezTo>
                  <a:pt x="186035" y="223589"/>
                  <a:pt x="185341" y="223788"/>
                  <a:pt x="184646" y="223788"/>
                </a:cubicBezTo>
                <a:lnTo>
                  <a:pt x="184646" y="171549"/>
                </a:lnTo>
                <a:lnTo>
                  <a:pt x="229890" y="145455"/>
                </a:lnTo>
                <a:close/>
                <a:moveTo>
                  <a:pt x="172789" y="47526"/>
                </a:moveTo>
                <a:lnTo>
                  <a:pt x="172789" y="98078"/>
                </a:lnTo>
                <a:lnTo>
                  <a:pt x="127000" y="124520"/>
                </a:lnTo>
                <a:lnTo>
                  <a:pt x="127000" y="71686"/>
                </a:lnTo>
                <a:lnTo>
                  <a:pt x="172244" y="45591"/>
                </a:lnTo>
                <a:cubicBezTo>
                  <a:pt x="172591" y="46186"/>
                  <a:pt x="172789" y="46881"/>
                  <a:pt x="172789" y="47575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12255500" y="5486400"/>
            <a:ext cx="3365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核心价值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1938000" y="6045200"/>
            <a:ext cx="36576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DWS层是性能优化的关键,通过预计算和沉淀,大幅提升查询效率。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11957050" y="7010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12280900" y="6908800"/>
            <a:ext cx="218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加速查询,提升用户体验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11957050" y="74168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12280900" y="7315200"/>
            <a:ext cx="259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沉淀公共指标,避免重复计算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11957050" y="78232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12280900" y="7721600"/>
            <a:ext cx="2336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支持跨业务域的关联分析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08000"/>
            <a:ext cx="1612900" cy="406400"/>
          </a:xfrm>
          <a:custGeom>
            <a:avLst/>
            <a:gdLst/>
            <a:ahLst/>
            <a:cxnLst/>
            <a:rect l="l" t="t" r="r" b="b"/>
            <a:pathLst>
              <a:path w="1612900" h="406400">
                <a:moveTo>
                  <a:pt x="0" y="0"/>
                </a:moveTo>
                <a:lnTo>
                  <a:pt x="1612900" y="0"/>
                </a:lnTo>
                <a:lnTo>
                  <a:pt x="16129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D69E2E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533400" y="508000"/>
            <a:ext cx="50800" cy="406400"/>
          </a:xfrm>
          <a:custGeom>
            <a:avLst/>
            <a:gdLst/>
            <a:ahLst/>
            <a:cxnLst/>
            <a:rect l="l" t="t" r="r" b="b"/>
            <a:pathLst>
              <a:path w="50800" h="406400">
                <a:moveTo>
                  <a:pt x="0" y="0"/>
                </a:moveTo>
                <a:lnTo>
                  <a:pt x="50800" y="0"/>
                </a:lnTo>
                <a:lnTo>
                  <a:pt x="508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2000" y="577850"/>
            <a:ext cx="12794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ADS LAYER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8000" y="10160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2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ADS层：业务结果报表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8000" y="1778000"/>
            <a:ext cx="10871200" cy="6858000"/>
          </a:xfrm>
          <a:custGeom>
            <a:avLst/>
            <a:gdLst/>
            <a:ahLst/>
            <a:cxnLst/>
            <a:rect l="l" t="t" r="r" b="b"/>
            <a:pathLst>
              <a:path w="10871200" h="6858000">
                <a:moveTo>
                  <a:pt x="101567" y="0"/>
                </a:moveTo>
                <a:lnTo>
                  <a:pt x="10769633" y="0"/>
                </a:lnTo>
                <a:cubicBezTo>
                  <a:pt x="10825727" y="0"/>
                  <a:pt x="10871200" y="45473"/>
                  <a:pt x="10871200" y="101567"/>
                </a:cubicBezTo>
                <a:lnTo>
                  <a:pt x="10871200" y="6756433"/>
                </a:lnTo>
                <a:cubicBezTo>
                  <a:pt x="10871200" y="6812527"/>
                  <a:pt x="10825727" y="6858000"/>
                  <a:pt x="10769633" y="6858000"/>
                </a:cubicBezTo>
                <a:lnTo>
                  <a:pt x="101567" y="6858000"/>
                </a:lnTo>
                <a:cubicBezTo>
                  <a:pt x="45473" y="6858000"/>
                  <a:pt x="0" y="6812527"/>
                  <a:pt x="0" y="6756433"/>
                </a:cubicBezTo>
                <a:lnTo>
                  <a:pt x="0" y="101567"/>
                </a:lnTo>
                <a:cubicBezTo>
                  <a:pt x="0" y="45473"/>
                  <a:pt x="45473" y="0"/>
                  <a:pt x="101567" y="0"/>
                </a:cubicBezTo>
                <a:close/>
              </a:path>
            </a:pathLst>
          </a:custGeom>
          <a:solidFill>
            <a:srgbClr val="2D3748">
              <a:alpha val="4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800100" y="2082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38100"/>
                </a:moveTo>
                <a:cubicBezTo>
                  <a:pt x="38100" y="27563"/>
                  <a:pt x="29587" y="19050"/>
                  <a:pt x="19050" y="19050"/>
                </a:cubicBezTo>
                <a:cubicBezTo>
                  <a:pt x="8513" y="19050"/>
                  <a:pt x="0" y="27563"/>
                  <a:pt x="0" y="38100"/>
                </a:cubicBezTo>
                <a:lnTo>
                  <a:pt x="0" y="238125"/>
                </a:lnTo>
                <a:cubicBezTo>
                  <a:pt x="0" y="264438"/>
                  <a:pt x="21312" y="285750"/>
                  <a:pt x="47625" y="285750"/>
                </a:cubicBezTo>
                <a:lnTo>
                  <a:pt x="285750" y="285750"/>
                </a:lnTo>
                <a:cubicBezTo>
                  <a:pt x="296287" y="285750"/>
                  <a:pt x="304800" y="277237"/>
                  <a:pt x="304800" y="266700"/>
                </a:cubicBezTo>
                <a:cubicBezTo>
                  <a:pt x="304800" y="256163"/>
                  <a:pt x="296287" y="247650"/>
                  <a:pt x="285750" y="247650"/>
                </a:cubicBezTo>
                <a:lnTo>
                  <a:pt x="47625" y="247650"/>
                </a:lnTo>
                <a:cubicBezTo>
                  <a:pt x="42386" y="247650"/>
                  <a:pt x="38100" y="243364"/>
                  <a:pt x="38100" y="238125"/>
                </a:cubicBezTo>
                <a:lnTo>
                  <a:pt x="38100" y="38100"/>
                </a:lnTo>
                <a:close/>
                <a:moveTo>
                  <a:pt x="280154" y="89654"/>
                </a:moveTo>
                <a:cubicBezTo>
                  <a:pt x="287595" y="82213"/>
                  <a:pt x="287595" y="70128"/>
                  <a:pt x="280154" y="62686"/>
                </a:cubicBezTo>
                <a:cubicBezTo>
                  <a:pt x="272713" y="55245"/>
                  <a:pt x="260628" y="55245"/>
                  <a:pt x="253186" y="62686"/>
                </a:cubicBezTo>
                <a:lnTo>
                  <a:pt x="190500" y="125432"/>
                </a:lnTo>
                <a:lnTo>
                  <a:pt x="156329" y="91321"/>
                </a:lnTo>
                <a:cubicBezTo>
                  <a:pt x="148888" y="83880"/>
                  <a:pt x="136803" y="83880"/>
                  <a:pt x="129361" y="91321"/>
                </a:cubicBezTo>
                <a:lnTo>
                  <a:pt x="72211" y="148471"/>
                </a:lnTo>
                <a:cubicBezTo>
                  <a:pt x="64770" y="155912"/>
                  <a:pt x="64770" y="167997"/>
                  <a:pt x="72211" y="175439"/>
                </a:cubicBezTo>
                <a:cubicBezTo>
                  <a:pt x="79653" y="182880"/>
                  <a:pt x="91738" y="182880"/>
                  <a:pt x="99179" y="175439"/>
                </a:cubicBezTo>
                <a:lnTo>
                  <a:pt x="142875" y="131743"/>
                </a:lnTo>
                <a:lnTo>
                  <a:pt x="177046" y="165914"/>
                </a:lnTo>
                <a:cubicBezTo>
                  <a:pt x="184487" y="173355"/>
                  <a:pt x="196572" y="173355"/>
                  <a:pt x="204014" y="165914"/>
                </a:cubicBezTo>
                <a:lnTo>
                  <a:pt x="280214" y="89714"/>
                </a:ln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143000" y="2032000"/>
            <a:ext cx="10134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最终报表数据示例：report_ceo_daily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87400" y="2641600"/>
            <a:ext cx="10337800" cy="2514600"/>
          </a:xfrm>
          <a:custGeom>
            <a:avLst/>
            <a:gdLst/>
            <a:ahLst/>
            <a:cxnLst/>
            <a:rect l="l" t="t" r="r" b="b"/>
            <a:pathLst>
              <a:path w="10337800" h="2514600">
                <a:moveTo>
                  <a:pt x="50800" y="0"/>
                </a:moveTo>
                <a:lnTo>
                  <a:pt x="10236210" y="0"/>
                </a:lnTo>
                <a:cubicBezTo>
                  <a:pt x="10292317" y="0"/>
                  <a:pt x="10337800" y="45483"/>
                  <a:pt x="10337800" y="101590"/>
                </a:cubicBezTo>
                <a:lnTo>
                  <a:pt x="10337800" y="2413010"/>
                </a:lnTo>
                <a:cubicBezTo>
                  <a:pt x="10337800" y="2469117"/>
                  <a:pt x="10292317" y="2514600"/>
                  <a:pt x="10236210" y="2514600"/>
                </a:cubicBezTo>
                <a:lnTo>
                  <a:pt x="50800" y="2514600"/>
                </a:lnTo>
                <a:cubicBezTo>
                  <a:pt x="22763" y="2514600"/>
                  <a:pt x="0" y="2491837"/>
                  <a:pt x="0" y="2463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202C">
              <a:alpha val="8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787400" y="2641600"/>
            <a:ext cx="50800" cy="2514600"/>
          </a:xfrm>
          <a:custGeom>
            <a:avLst/>
            <a:gdLst/>
            <a:ahLst/>
            <a:cxnLst/>
            <a:rect l="l" t="t" r="r" b="b"/>
            <a:pathLst>
              <a:path w="50800" h="2514600">
                <a:moveTo>
                  <a:pt x="50800" y="0"/>
                </a:moveTo>
                <a:lnTo>
                  <a:pt x="50800" y="0"/>
                </a:lnTo>
                <a:lnTo>
                  <a:pt x="50800" y="2514600"/>
                </a:lnTo>
                <a:lnTo>
                  <a:pt x="50800" y="2514600"/>
                </a:lnTo>
                <a:cubicBezTo>
                  <a:pt x="22763" y="2514600"/>
                  <a:pt x="0" y="2491837"/>
                  <a:pt x="0" y="2463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1054100" y="289560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01600" y="63500"/>
                </a:moveTo>
                <a:lnTo>
                  <a:pt x="101600" y="101600"/>
                </a:lnTo>
                <a:lnTo>
                  <a:pt x="152400" y="101600"/>
                </a:lnTo>
                <a:lnTo>
                  <a:pt x="152400" y="63500"/>
                </a:lnTo>
                <a:lnTo>
                  <a:pt x="101600" y="63500"/>
                </a:lnTo>
                <a:close/>
                <a:moveTo>
                  <a:pt x="76200" y="63500"/>
                </a:moveTo>
                <a:lnTo>
                  <a:pt x="25400" y="63500"/>
                </a:lnTo>
                <a:lnTo>
                  <a:pt x="25400" y="101600"/>
                </a:lnTo>
                <a:lnTo>
                  <a:pt x="76200" y="101600"/>
                </a:lnTo>
                <a:lnTo>
                  <a:pt x="76200" y="63500"/>
                </a:lnTo>
                <a:close/>
                <a:moveTo>
                  <a:pt x="0" y="127000"/>
                </a:moveTo>
                <a:lnTo>
                  <a:pt x="0" y="38100"/>
                </a:lnTo>
                <a:cubicBezTo>
                  <a:pt x="0" y="24090"/>
                  <a:pt x="11390" y="12700"/>
                  <a:pt x="25400" y="12700"/>
                </a:cubicBezTo>
                <a:lnTo>
                  <a:pt x="152400" y="12700"/>
                </a:lnTo>
                <a:cubicBezTo>
                  <a:pt x="166410" y="12700"/>
                  <a:pt x="177800" y="24090"/>
                  <a:pt x="177800" y="38100"/>
                </a:cubicBezTo>
                <a:lnTo>
                  <a:pt x="177800" y="165100"/>
                </a:lnTo>
                <a:cubicBezTo>
                  <a:pt x="177800" y="179110"/>
                  <a:pt x="166410" y="190500"/>
                  <a:pt x="152400" y="190500"/>
                </a:cubicBezTo>
                <a:lnTo>
                  <a:pt x="25400" y="190500"/>
                </a:lnTo>
                <a:cubicBezTo>
                  <a:pt x="11390" y="190500"/>
                  <a:pt x="0" y="179110"/>
                  <a:pt x="0" y="165100"/>
                </a:cubicBezTo>
                <a:lnTo>
                  <a:pt x="0" y="127000"/>
                </a:lnTo>
                <a:close/>
                <a:moveTo>
                  <a:pt x="152400" y="127000"/>
                </a:moveTo>
                <a:lnTo>
                  <a:pt x="101600" y="127000"/>
                </a:lnTo>
                <a:lnTo>
                  <a:pt x="101600" y="165100"/>
                </a:lnTo>
                <a:lnTo>
                  <a:pt x="152400" y="165100"/>
                </a:lnTo>
                <a:lnTo>
                  <a:pt x="152400" y="127000"/>
                </a:lnTo>
                <a:close/>
                <a:moveTo>
                  <a:pt x="76200" y="165100"/>
                </a:moveTo>
                <a:lnTo>
                  <a:pt x="76200" y="127000"/>
                </a:lnTo>
                <a:lnTo>
                  <a:pt x="25400" y="127000"/>
                </a:lnTo>
                <a:lnTo>
                  <a:pt x="25400" y="165100"/>
                </a:lnTo>
                <a:lnTo>
                  <a:pt x="76200" y="165100"/>
                </a:ln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1371600" y="2844800"/>
            <a:ext cx="901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SQL格式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16000" y="3346450"/>
            <a:ext cx="5117405" cy="156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SELECT 'Mobile_Bank_Revenue' AS metric_name, 5000000.00 AS value, '+5.2%' AS wow_growth; -- 面向CEO的关键经营指标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5359400"/>
            <a:ext cx="5080000" cy="2438400"/>
          </a:xfrm>
          <a:custGeom>
            <a:avLst/>
            <a:gdLst/>
            <a:ahLst/>
            <a:cxnLst/>
            <a:rect l="l" t="t" r="r" b="b"/>
            <a:pathLst>
              <a:path w="5080000" h="2438400">
                <a:moveTo>
                  <a:pt x="101608" y="0"/>
                </a:moveTo>
                <a:lnTo>
                  <a:pt x="4978392" y="0"/>
                </a:lnTo>
                <a:cubicBezTo>
                  <a:pt x="5034508" y="0"/>
                  <a:pt x="5080000" y="45492"/>
                  <a:pt x="5080000" y="101608"/>
                </a:cubicBezTo>
                <a:lnTo>
                  <a:pt x="5080000" y="2336792"/>
                </a:lnTo>
                <a:cubicBezTo>
                  <a:pt x="5080000" y="2392908"/>
                  <a:pt x="5034508" y="2438400"/>
                  <a:pt x="4978392" y="2438400"/>
                </a:cubicBezTo>
                <a:lnTo>
                  <a:pt x="101608" y="2438400"/>
                </a:lnTo>
                <a:cubicBezTo>
                  <a:pt x="45492" y="2438400"/>
                  <a:pt x="0" y="2392908"/>
                  <a:pt x="0" y="2336792"/>
                </a:cubicBezTo>
                <a:lnTo>
                  <a:pt x="0" y="101608"/>
                </a:lnTo>
                <a:cubicBezTo>
                  <a:pt x="0" y="45529"/>
                  <a:pt x="45529" y="0"/>
                  <a:pt x="101608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1011237" y="56261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0013" y="110728"/>
                </a:moveTo>
                <a:cubicBezTo>
                  <a:pt x="70442" y="110728"/>
                  <a:pt x="46434" y="86721"/>
                  <a:pt x="46434" y="57150"/>
                </a:cubicBezTo>
                <a:cubicBezTo>
                  <a:pt x="46434" y="27579"/>
                  <a:pt x="70442" y="3572"/>
                  <a:pt x="100012" y="3572"/>
                </a:cubicBezTo>
                <a:cubicBezTo>
                  <a:pt x="129583" y="3572"/>
                  <a:pt x="153591" y="27579"/>
                  <a:pt x="153591" y="57150"/>
                </a:cubicBezTo>
                <a:cubicBezTo>
                  <a:pt x="153591" y="86721"/>
                  <a:pt x="129583" y="110728"/>
                  <a:pt x="100013" y="110728"/>
                </a:cubicBezTo>
                <a:close/>
                <a:moveTo>
                  <a:pt x="86395" y="135731"/>
                </a:moveTo>
                <a:lnTo>
                  <a:pt x="113630" y="135731"/>
                </a:lnTo>
                <a:cubicBezTo>
                  <a:pt x="117961" y="135731"/>
                  <a:pt x="121444" y="139214"/>
                  <a:pt x="121444" y="143545"/>
                </a:cubicBezTo>
                <a:cubicBezTo>
                  <a:pt x="121444" y="145420"/>
                  <a:pt x="120774" y="147206"/>
                  <a:pt x="119569" y="148635"/>
                </a:cubicBezTo>
                <a:lnTo>
                  <a:pt x="107335" y="162922"/>
                </a:lnTo>
                <a:lnTo>
                  <a:pt x="121176" y="214313"/>
                </a:lnTo>
                <a:lnTo>
                  <a:pt x="121444" y="214313"/>
                </a:lnTo>
                <a:lnTo>
                  <a:pt x="136892" y="152474"/>
                </a:lnTo>
                <a:cubicBezTo>
                  <a:pt x="137874" y="148590"/>
                  <a:pt x="141848" y="146224"/>
                  <a:pt x="145599" y="147652"/>
                </a:cubicBezTo>
                <a:cubicBezTo>
                  <a:pt x="173236" y="158189"/>
                  <a:pt x="192881" y="184978"/>
                  <a:pt x="192881" y="216322"/>
                </a:cubicBezTo>
                <a:cubicBezTo>
                  <a:pt x="192881" y="223064"/>
                  <a:pt x="187389" y="228555"/>
                  <a:pt x="180648" y="228555"/>
                </a:cubicBezTo>
                <a:lnTo>
                  <a:pt x="19377" y="228600"/>
                </a:lnTo>
                <a:cubicBezTo>
                  <a:pt x="12636" y="228600"/>
                  <a:pt x="7144" y="223108"/>
                  <a:pt x="7144" y="216366"/>
                </a:cubicBezTo>
                <a:cubicBezTo>
                  <a:pt x="7144" y="185023"/>
                  <a:pt x="26789" y="158234"/>
                  <a:pt x="54426" y="147697"/>
                </a:cubicBezTo>
                <a:cubicBezTo>
                  <a:pt x="58177" y="146268"/>
                  <a:pt x="62151" y="148635"/>
                  <a:pt x="63133" y="152519"/>
                </a:cubicBezTo>
                <a:lnTo>
                  <a:pt x="78581" y="214357"/>
                </a:lnTo>
                <a:lnTo>
                  <a:pt x="78849" y="214357"/>
                </a:lnTo>
                <a:lnTo>
                  <a:pt x="92690" y="162967"/>
                </a:lnTo>
                <a:lnTo>
                  <a:pt x="80456" y="148679"/>
                </a:lnTo>
                <a:cubicBezTo>
                  <a:pt x="79251" y="147251"/>
                  <a:pt x="78581" y="145465"/>
                  <a:pt x="78581" y="143589"/>
                </a:cubicBezTo>
                <a:cubicBezTo>
                  <a:pt x="78581" y="139258"/>
                  <a:pt x="82064" y="135776"/>
                  <a:pt x="86395" y="135776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1257300" y="5562600"/>
            <a:ext cx="4495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面向用户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90600" y="61341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74536" y="96748"/>
                </a:moveTo>
                <a:cubicBezTo>
                  <a:pt x="178877" y="92407"/>
                  <a:pt x="178877" y="85358"/>
                  <a:pt x="174536" y="81017"/>
                </a:cubicBezTo>
                <a:lnTo>
                  <a:pt x="118973" y="25455"/>
                </a:lnTo>
                <a:cubicBezTo>
                  <a:pt x="114632" y="21114"/>
                  <a:pt x="107583" y="21114"/>
                  <a:pt x="103242" y="25455"/>
                </a:cubicBezTo>
                <a:cubicBezTo>
                  <a:pt x="98901" y="29795"/>
                  <a:pt x="98901" y="36845"/>
                  <a:pt x="103242" y="41186"/>
                </a:cubicBezTo>
                <a:lnTo>
                  <a:pt x="139844" y="77788"/>
                </a:lnTo>
                <a:lnTo>
                  <a:pt x="11112" y="77788"/>
                </a:lnTo>
                <a:cubicBezTo>
                  <a:pt x="4966" y="77788"/>
                  <a:pt x="0" y="82753"/>
                  <a:pt x="0" y="88900"/>
                </a:cubicBezTo>
                <a:cubicBezTo>
                  <a:pt x="0" y="95047"/>
                  <a:pt x="4966" y="100013"/>
                  <a:pt x="11112" y="100013"/>
                </a:cubicBezTo>
                <a:lnTo>
                  <a:pt x="139844" y="100013"/>
                </a:lnTo>
                <a:lnTo>
                  <a:pt x="103242" y="136614"/>
                </a:lnTo>
                <a:cubicBezTo>
                  <a:pt x="98901" y="140955"/>
                  <a:pt x="98901" y="148005"/>
                  <a:pt x="103242" y="152345"/>
                </a:cubicBezTo>
                <a:cubicBezTo>
                  <a:pt x="107583" y="156686"/>
                  <a:pt x="114632" y="156686"/>
                  <a:pt x="118973" y="152345"/>
                </a:cubicBezTo>
                <a:lnTo>
                  <a:pt x="174536" y="96783"/>
                </a:ln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1289050" y="6070600"/>
            <a:ext cx="1130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CEO驾驶舱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90600" y="65405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74536" y="96748"/>
                </a:moveTo>
                <a:cubicBezTo>
                  <a:pt x="178877" y="92407"/>
                  <a:pt x="178877" y="85358"/>
                  <a:pt x="174536" y="81017"/>
                </a:cubicBezTo>
                <a:lnTo>
                  <a:pt x="118973" y="25455"/>
                </a:lnTo>
                <a:cubicBezTo>
                  <a:pt x="114632" y="21114"/>
                  <a:pt x="107583" y="21114"/>
                  <a:pt x="103242" y="25455"/>
                </a:cubicBezTo>
                <a:cubicBezTo>
                  <a:pt x="98901" y="29795"/>
                  <a:pt x="98901" y="36845"/>
                  <a:pt x="103242" y="41186"/>
                </a:cubicBezTo>
                <a:lnTo>
                  <a:pt x="139844" y="77788"/>
                </a:lnTo>
                <a:lnTo>
                  <a:pt x="11112" y="77788"/>
                </a:lnTo>
                <a:cubicBezTo>
                  <a:pt x="4966" y="77788"/>
                  <a:pt x="0" y="82753"/>
                  <a:pt x="0" y="88900"/>
                </a:cubicBezTo>
                <a:cubicBezTo>
                  <a:pt x="0" y="95047"/>
                  <a:pt x="4966" y="100013"/>
                  <a:pt x="11112" y="100013"/>
                </a:cubicBezTo>
                <a:lnTo>
                  <a:pt x="139844" y="100013"/>
                </a:lnTo>
                <a:lnTo>
                  <a:pt x="103242" y="136614"/>
                </a:lnTo>
                <a:cubicBezTo>
                  <a:pt x="98901" y="140955"/>
                  <a:pt x="98901" y="148005"/>
                  <a:pt x="103242" y="152345"/>
                </a:cubicBezTo>
                <a:cubicBezTo>
                  <a:pt x="107583" y="156686"/>
                  <a:pt x="114632" y="156686"/>
                  <a:pt x="118973" y="152345"/>
                </a:cubicBezTo>
                <a:lnTo>
                  <a:pt x="174536" y="96783"/>
                </a:ln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1289050" y="6477000"/>
            <a:ext cx="132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关键经营指标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90600" y="69469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74536" y="96748"/>
                </a:moveTo>
                <a:cubicBezTo>
                  <a:pt x="178877" y="92407"/>
                  <a:pt x="178877" y="85358"/>
                  <a:pt x="174536" y="81017"/>
                </a:cubicBezTo>
                <a:lnTo>
                  <a:pt x="118973" y="25455"/>
                </a:lnTo>
                <a:cubicBezTo>
                  <a:pt x="114632" y="21114"/>
                  <a:pt x="107583" y="21114"/>
                  <a:pt x="103242" y="25455"/>
                </a:cubicBezTo>
                <a:cubicBezTo>
                  <a:pt x="98901" y="29795"/>
                  <a:pt x="98901" y="36845"/>
                  <a:pt x="103242" y="41186"/>
                </a:cubicBezTo>
                <a:lnTo>
                  <a:pt x="139844" y="77788"/>
                </a:lnTo>
                <a:lnTo>
                  <a:pt x="11112" y="77788"/>
                </a:lnTo>
                <a:cubicBezTo>
                  <a:pt x="4966" y="77788"/>
                  <a:pt x="0" y="82753"/>
                  <a:pt x="0" y="88900"/>
                </a:cubicBezTo>
                <a:cubicBezTo>
                  <a:pt x="0" y="95047"/>
                  <a:pt x="4966" y="100013"/>
                  <a:pt x="11112" y="100013"/>
                </a:cubicBezTo>
                <a:lnTo>
                  <a:pt x="139844" y="100013"/>
                </a:lnTo>
                <a:lnTo>
                  <a:pt x="103242" y="136614"/>
                </a:lnTo>
                <a:cubicBezTo>
                  <a:pt x="98901" y="140955"/>
                  <a:pt x="98901" y="148005"/>
                  <a:pt x="103242" y="152345"/>
                </a:cubicBezTo>
                <a:cubicBezTo>
                  <a:pt x="107583" y="156686"/>
                  <a:pt x="114632" y="156686"/>
                  <a:pt x="118973" y="152345"/>
                </a:cubicBezTo>
                <a:lnTo>
                  <a:pt x="174536" y="96783"/>
                </a:ln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1289050" y="6883400"/>
            <a:ext cx="111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环比增长率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045200" y="5359400"/>
            <a:ext cx="5080000" cy="2438400"/>
          </a:xfrm>
          <a:custGeom>
            <a:avLst/>
            <a:gdLst/>
            <a:ahLst/>
            <a:cxnLst/>
            <a:rect l="l" t="t" r="r" b="b"/>
            <a:pathLst>
              <a:path w="5080000" h="2438400">
                <a:moveTo>
                  <a:pt x="101608" y="0"/>
                </a:moveTo>
                <a:lnTo>
                  <a:pt x="4978392" y="0"/>
                </a:lnTo>
                <a:cubicBezTo>
                  <a:pt x="5034508" y="0"/>
                  <a:pt x="5080000" y="45492"/>
                  <a:pt x="5080000" y="101608"/>
                </a:cubicBezTo>
                <a:lnTo>
                  <a:pt x="5080000" y="2336792"/>
                </a:lnTo>
                <a:cubicBezTo>
                  <a:pt x="5080000" y="2392908"/>
                  <a:pt x="5034508" y="2438400"/>
                  <a:pt x="4978392" y="2438400"/>
                </a:cubicBezTo>
                <a:lnTo>
                  <a:pt x="101608" y="2438400"/>
                </a:lnTo>
                <a:cubicBezTo>
                  <a:pt x="45492" y="2438400"/>
                  <a:pt x="0" y="2392908"/>
                  <a:pt x="0" y="2336792"/>
                </a:cubicBezTo>
                <a:lnTo>
                  <a:pt x="0" y="101608"/>
                </a:lnTo>
                <a:cubicBezTo>
                  <a:pt x="0" y="45529"/>
                  <a:pt x="45529" y="0"/>
                  <a:pt x="101608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6265863" y="56261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8306" y="-11117"/>
                </a:moveTo>
                <a:cubicBezTo>
                  <a:pt x="14109" y="-15314"/>
                  <a:pt x="7322" y="-15314"/>
                  <a:pt x="3170" y="-11117"/>
                </a:cubicBezTo>
                <a:cubicBezTo>
                  <a:pt x="-982" y="-6921"/>
                  <a:pt x="-1027" y="-134"/>
                  <a:pt x="3125" y="4063"/>
                </a:cubicBezTo>
                <a:lnTo>
                  <a:pt x="238869" y="239807"/>
                </a:lnTo>
                <a:cubicBezTo>
                  <a:pt x="243066" y="244004"/>
                  <a:pt x="249853" y="244004"/>
                  <a:pt x="254005" y="239807"/>
                </a:cubicBezTo>
                <a:cubicBezTo>
                  <a:pt x="258157" y="235610"/>
                  <a:pt x="258202" y="228823"/>
                  <a:pt x="254005" y="224671"/>
                </a:cubicBezTo>
                <a:lnTo>
                  <a:pt x="210964" y="181630"/>
                </a:lnTo>
                <a:cubicBezTo>
                  <a:pt x="212169" y="180558"/>
                  <a:pt x="213375" y="179487"/>
                  <a:pt x="214536" y="178415"/>
                </a:cubicBezTo>
                <a:cubicBezTo>
                  <a:pt x="235431" y="158993"/>
                  <a:pt x="249406" y="135821"/>
                  <a:pt x="256059" y="119881"/>
                </a:cubicBezTo>
                <a:cubicBezTo>
                  <a:pt x="257532" y="116354"/>
                  <a:pt x="257532" y="112425"/>
                  <a:pt x="256059" y="108898"/>
                </a:cubicBezTo>
                <a:cubicBezTo>
                  <a:pt x="249406" y="92958"/>
                  <a:pt x="235431" y="69741"/>
                  <a:pt x="214536" y="50363"/>
                </a:cubicBezTo>
                <a:cubicBezTo>
                  <a:pt x="193506" y="30852"/>
                  <a:pt x="164619" y="14377"/>
                  <a:pt x="128543" y="14377"/>
                </a:cubicBezTo>
                <a:cubicBezTo>
                  <a:pt x="103183" y="14377"/>
                  <a:pt x="81394" y="22503"/>
                  <a:pt x="63356" y="34111"/>
                </a:cubicBezTo>
                <a:lnTo>
                  <a:pt x="18306" y="-11117"/>
                </a:lnTo>
                <a:close/>
                <a:moveTo>
                  <a:pt x="91306" y="61927"/>
                </a:moveTo>
                <a:cubicBezTo>
                  <a:pt x="101798" y="54426"/>
                  <a:pt x="114702" y="50006"/>
                  <a:pt x="128588" y="50006"/>
                </a:cubicBezTo>
                <a:cubicBezTo>
                  <a:pt x="164083" y="50006"/>
                  <a:pt x="192881" y="78804"/>
                  <a:pt x="192881" y="114300"/>
                </a:cubicBezTo>
                <a:cubicBezTo>
                  <a:pt x="192881" y="128186"/>
                  <a:pt x="188461" y="141044"/>
                  <a:pt x="180960" y="151581"/>
                </a:cubicBezTo>
                <a:lnTo>
                  <a:pt x="165467" y="136088"/>
                </a:lnTo>
                <a:cubicBezTo>
                  <a:pt x="171137" y="126534"/>
                  <a:pt x="173057" y="114791"/>
                  <a:pt x="169977" y="103183"/>
                </a:cubicBezTo>
                <a:cubicBezTo>
                  <a:pt x="163860" y="80323"/>
                  <a:pt x="140330" y="66749"/>
                  <a:pt x="117470" y="72866"/>
                </a:cubicBezTo>
                <a:cubicBezTo>
                  <a:pt x="113630" y="73893"/>
                  <a:pt x="110014" y="75411"/>
                  <a:pt x="106754" y="77331"/>
                </a:cubicBezTo>
                <a:lnTo>
                  <a:pt x="91261" y="61838"/>
                </a:lnTo>
                <a:close/>
                <a:moveTo>
                  <a:pt x="145241" y="176406"/>
                </a:moveTo>
                <a:cubicBezTo>
                  <a:pt x="139928" y="177835"/>
                  <a:pt x="134347" y="178594"/>
                  <a:pt x="128588" y="178594"/>
                </a:cubicBezTo>
                <a:cubicBezTo>
                  <a:pt x="93092" y="178594"/>
                  <a:pt x="64294" y="149796"/>
                  <a:pt x="64294" y="114300"/>
                </a:cubicBezTo>
                <a:cubicBezTo>
                  <a:pt x="64294" y="108540"/>
                  <a:pt x="65053" y="102959"/>
                  <a:pt x="66482" y="97646"/>
                </a:cubicBezTo>
                <a:lnTo>
                  <a:pt x="30986" y="62151"/>
                </a:lnTo>
                <a:cubicBezTo>
                  <a:pt x="16431" y="78581"/>
                  <a:pt x="6429" y="95994"/>
                  <a:pt x="1116" y="108808"/>
                </a:cubicBezTo>
                <a:cubicBezTo>
                  <a:pt x="-357" y="112335"/>
                  <a:pt x="-357" y="116265"/>
                  <a:pt x="1116" y="119792"/>
                </a:cubicBezTo>
                <a:cubicBezTo>
                  <a:pt x="7769" y="135731"/>
                  <a:pt x="21744" y="158948"/>
                  <a:pt x="42639" y="178326"/>
                </a:cubicBezTo>
                <a:cubicBezTo>
                  <a:pt x="63669" y="197837"/>
                  <a:pt x="92556" y="214313"/>
                  <a:pt x="128632" y="214313"/>
                </a:cubicBezTo>
                <a:cubicBezTo>
                  <a:pt x="145286" y="214313"/>
                  <a:pt x="160422" y="210785"/>
                  <a:pt x="173950" y="205115"/>
                </a:cubicBezTo>
                <a:lnTo>
                  <a:pt x="145286" y="176451"/>
                </a:ln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540500" y="5562600"/>
            <a:ext cx="4495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隐藏复杂性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248400" y="6070600"/>
            <a:ext cx="477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屏蔽底层数据结构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248400" y="6477000"/>
            <a:ext cx="477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隐藏复杂计算逻辑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248400" y="6883400"/>
            <a:ext cx="477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直接呈现业务结果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248400" y="7289800"/>
            <a:ext cx="477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只关注关键指标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1709400" y="1778000"/>
            <a:ext cx="4038600" cy="3200400"/>
          </a:xfrm>
          <a:custGeom>
            <a:avLst/>
            <a:gdLst/>
            <a:ahLst/>
            <a:cxnLst/>
            <a:rect l="l" t="t" r="r" b="b"/>
            <a:pathLst>
              <a:path w="4038600" h="3200400">
                <a:moveTo>
                  <a:pt x="50800" y="0"/>
                </a:moveTo>
                <a:lnTo>
                  <a:pt x="3936987" y="0"/>
                </a:lnTo>
                <a:cubicBezTo>
                  <a:pt x="3993106" y="0"/>
                  <a:pt x="4038600" y="45494"/>
                  <a:pt x="4038600" y="101613"/>
                </a:cubicBezTo>
                <a:lnTo>
                  <a:pt x="4038600" y="3098787"/>
                </a:lnTo>
                <a:cubicBezTo>
                  <a:pt x="4038600" y="3154906"/>
                  <a:pt x="3993106" y="3200400"/>
                  <a:pt x="3936987" y="3200400"/>
                </a:cubicBezTo>
                <a:lnTo>
                  <a:pt x="50800" y="3200400"/>
                </a:lnTo>
                <a:cubicBezTo>
                  <a:pt x="22763" y="3200400"/>
                  <a:pt x="0" y="3177637"/>
                  <a:pt x="0" y="3149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11709400" y="1778000"/>
            <a:ext cx="50800" cy="3200400"/>
          </a:xfrm>
          <a:custGeom>
            <a:avLst/>
            <a:gdLst/>
            <a:ahLst/>
            <a:cxnLst/>
            <a:rect l="l" t="t" r="r" b="b"/>
            <a:pathLst>
              <a:path w="50800" h="3200400">
                <a:moveTo>
                  <a:pt x="50800" y="0"/>
                </a:moveTo>
                <a:lnTo>
                  <a:pt x="50800" y="0"/>
                </a:lnTo>
                <a:lnTo>
                  <a:pt x="50800" y="3200400"/>
                </a:lnTo>
                <a:lnTo>
                  <a:pt x="50800" y="3200400"/>
                </a:lnTo>
                <a:cubicBezTo>
                  <a:pt x="22763" y="3200400"/>
                  <a:pt x="0" y="3177637"/>
                  <a:pt x="0" y="3149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12020550" y="20828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22250" y="127000"/>
                </a:moveTo>
                <a:cubicBezTo>
                  <a:pt x="222250" y="74430"/>
                  <a:pt x="179570" y="31750"/>
                  <a:pt x="127000" y="31750"/>
                </a:cubicBezTo>
                <a:cubicBezTo>
                  <a:pt x="74430" y="31750"/>
                  <a:pt x="31750" y="74430"/>
                  <a:pt x="31750" y="127000"/>
                </a:cubicBezTo>
                <a:cubicBezTo>
                  <a:pt x="31750" y="179570"/>
                  <a:pt x="74430" y="222250"/>
                  <a:pt x="127000" y="222250"/>
                </a:cubicBezTo>
                <a:cubicBezTo>
                  <a:pt x="179570" y="222250"/>
                  <a:pt x="222250" y="179570"/>
                  <a:pt x="222250" y="127000"/>
                </a:cubicBezTo>
                <a:close/>
                <a:moveTo>
                  <a:pt x="0" y="127000"/>
                </a:moveTo>
                <a:cubicBezTo>
                  <a:pt x="0" y="56907"/>
                  <a:pt x="56907" y="0"/>
                  <a:pt x="127000" y="0"/>
                </a:cubicBezTo>
                <a:cubicBezTo>
                  <a:pt x="197093" y="0"/>
                  <a:pt x="254000" y="56907"/>
                  <a:pt x="254000" y="127000"/>
                </a:cubicBezTo>
                <a:cubicBezTo>
                  <a:pt x="254000" y="197093"/>
                  <a:pt x="197093" y="254000"/>
                  <a:pt x="127000" y="254000"/>
                </a:cubicBezTo>
                <a:cubicBezTo>
                  <a:pt x="56907" y="254000"/>
                  <a:pt x="0" y="197093"/>
                  <a:pt x="0" y="127000"/>
                </a:cubicBezTo>
                <a:close/>
                <a:moveTo>
                  <a:pt x="127000" y="166688"/>
                </a:moveTo>
                <a:cubicBezTo>
                  <a:pt x="148904" y="166688"/>
                  <a:pt x="166688" y="148904"/>
                  <a:pt x="166688" y="127000"/>
                </a:cubicBezTo>
                <a:cubicBezTo>
                  <a:pt x="166688" y="105096"/>
                  <a:pt x="148904" y="87313"/>
                  <a:pt x="127000" y="87313"/>
                </a:cubicBezTo>
                <a:cubicBezTo>
                  <a:pt x="105096" y="87313"/>
                  <a:pt x="87313" y="105096"/>
                  <a:pt x="87313" y="127000"/>
                </a:cubicBezTo>
                <a:cubicBezTo>
                  <a:pt x="87313" y="148904"/>
                  <a:pt x="105096" y="166688"/>
                  <a:pt x="127000" y="166688"/>
                </a:cubicBezTo>
                <a:close/>
                <a:moveTo>
                  <a:pt x="127000" y="55563"/>
                </a:moveTo>
                <a:cubicBezTo>
                  <a:pt x="166427" y="55563"/>
                  <a:pt x="198438" y="87573"/>
                  <a:pt x="198438" y="127000"/>
                </a:cubicBezTo>
                <a:cubicBezTo>
                  <a:pt x="198438" y="166427"/>
                  <a:pt x="166427" y="198438"/>
                  <a:pt x="127000" y="198438"/>
                </a:cubicBezTo>
                <a:cubicBezTo>
                  <a:pt x="87573" y="198438"/>
                  <a:pt x="55563" y="166427"/>
                  <a:pt x="55563" y="127000"/>
                </a:cubicBezTo>
                <a:cubicBezTo>
                  <a:pt x="55563" y="87573"/>
                  <a:pt x="87573" y="55563"/>
                  <a:pt x="127000" y="55563"/>
                </a:cubicBezTo>
                <a:close/>
                <a:moveTo>
                  <a:pt x="111125" y="127000"/>
                </a:moveTo>
                <a:cubicBezTo>
                  <a:pt x="111125" y="118238"/>
                  <a:pt x="118238" y="111125"/>
                  <a:pt x="127000" y="111125"/>
                </a:cubicBezTo>
                <a:cubicBezTo>
                  <a:pt x="135762" y="111125"/>
                  <a:pt x="142875" y="118238"/>
                  <a:pt x="142875" y="127000"/>
                </a:cubicBezTo>
                <a:cubicBezTo>
                  <a:pt x="142875" y="135762"/>
                  <a:pt x="135762" y="142875"/>
                  <a:pt x="127000" y="142875"/>
                </a:cubicBezTo>
                <a:cubicBezTo>
                  <a:pt x="118238" y="142875"/>
                  <a:pt x="111125" y="135762"/>
                  <a:pt x="111125" y="127000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12306300" y="2032000"/>
            <a:ext cx="3314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关键特征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2014200" y="26416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12395200" y="2590800"/>
            <a:ext cx="1498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面向应用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2395200" y="2895600"/>
            <a:ext cx="1498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直接对接BI系统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2014200" y="34036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12395200" y="3352800"/>
            <a:ext cx="172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按需定制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2395200" y="3657600"/>
            <a:ext cx="172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根据业务需求定制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2014200" y="41656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12395200" y="4114800"/>
            <a:ext cx="15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结果导向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2395200" y="4419600"/>
            <a:ext cx="15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只呈现最终结果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1684000" y="5232400"/>
            <a:ext cx="4064000" cy="3403600"/>
          </a:xfrm>
          <a:custGeom>
            <a:avLst/>
            <a:gdLst/>
            <a:ahLst/>
            <a:cxnLst/>
            <a:rect l="l" t="t" r="r" b="b"/>
            <a:pathLst>
              <a:path w="4064000" h="3403600">
                <a:moveTo>
                  <a:pt x="101597" y="0"/>
                </a:moveTo>
                <a:lnTo>
                  <a:pt x="3962403" y="0"/>
                </a:lnTo>
                <a:cubicBezTo>
                  <a:pt x="4018513" y="0"/>
                  <a:pt x="4064000" y="45487"/>
                  <a:pt x="4064000" y="101597"/>
                </a:cubicBezTo>
                <a:lnTo>
                  <a:pt x="4064000" y="3302003"/>
                </a:lnTo>
                <a:cubicBezTo>
                  <a:pt x="4064000" y="3358113"/>
                  <a:pt x="4018513" y="3403600"/>
                  <a:pt x="3962403" y="3403600"/>
                </a:cubicBezTo>
                <a:lnTo>
                  <a:pt x="101597" y="3403600"/>
                </a:lnTo>
                <a:cubicBezTo>
                  <a:pt x="45487" y="3403600"/>
                  <a:pt x="0" y="3358113"/>
                  <a:pt x="0" y="33020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11969750" y="5537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71586" y="0"/>
                </a:moveTo>
                <a:lnTo>
                  <a:pt x="182711" y="0"/>
                </a:lnTo>
                <a:cubicBezTo>
                  <a:pt x="195858" y="0"/>
                  <a:pt x="206573" y="10815"/>
                  <a:pt x="206077" y="23912"/>
                </a:cubicBezTo>
                <a:cubicBezTo>
                  <a:pt x="205978" y="26541"/>
                  <a:pt x="205879" y="29170"/>
                  <a:pt x="205730" y="31750"/>
                </a:cubicBezTo>
                <a:lnTo>
                  <a:pt x="230336" y="31750"/>
                </a:lnTo>
                <a:cubicBezTo>
                  <a:pt x="243284" y="31750"/>
                  <a:pt x="254695" y="42466"/>
                  <a:pt x="253702" y="56455"/>
                </a:cubicBezTo>
                <a:cubicBezTo>
                  <a:pt x="249982" y="107900"/>
                  <a:pt x="223689" y="136178"/>
                  <a:pt x="195163" y="150961"/>
                </a:cubicBezTo>
                <a:cubicBezTo>
                  <a:pt x="187325" y="155029"/>
                  <a:pt x="179338" y="158055"/>
                  <a:pt x="171748" y="160288"/>
                </a:cubicBezTo>
                <a:cubicBezTo>
                  <a:pt x="161727" y="174476"/>
                  <a:pt x="151309" y="181967"/>
                  <a:pt x="143024" y="185986"/>
                </a:cubicBezTo>
                <a:lnTo>
                  <a:pt x="143024" y="222250"/>
                </a:lnTo>
                <a:lnTo>
                  <a:pt x="174774" y="222250"/>
                </a:lnTo>
                <a:cubicBezTo>
                  <a:pt x="183555" y="222250"/>
                  <a:pt x="190649" y="229344"/>
                  <a:pt x="190649" y="238125"/>
                </a:cubicBezTo>
                <a:cubicBezTo>
                  <a:pt x="190649" y="246906"/>
                  <a:pt x="183555" y="254000"/>
                  <a:pt x="174774" y="254000"/>
                </a:cubicBezTo>
                <a:lnTo>
                  <a:pt x="79524" y="254000"/>
                </a:lnTo>
                <a:cubicBezTo>
                  <a:pt x="70743" y="254000"/>
                  <a:pt x="63649" y="246906"/>
                  <a:pt x="63649" y="238125"/>
                </a:cubicBezTo>
                <a:cubicBezTo>
                  <a:pt x="63649" y="229344"/>
                  <a:pt x="70743" y="222250"/>
                  <a:pt x="79524" y="222250"/>
                </a:cubicBezTo>
                <a:lnTo>
                  <a:pt x="111274" y="222250"/>
                </a:lnTo>
                <a:lnTo>
                  <a:pt x="111274" y="185986"/>
                </a:lnTo>
                <a:cubicBezTo>
                  <a:pt x="103336" y="182166"/>
                  <a:pt x="93464" y="175071"/>
                  <a:pt x="83840" y="162024"/>
                </a:cubicBezTo>
                <a:cubicBezTo>
                  <a:pt x="74712" y="159643"/>
                  <a:pt x="64790" y="156021"/>
                  <a:pt x="55116" y="150564"/>
                </a:cubicBezTo>
                <a:cubicBezTo>
                  <a:pt x="28277" y="135533"/>
                  <a:pt x="4068" y="107206"/>
                  <a:pt x="595" y="56356"/>
                </a:cubicBezTo>
                <a:cubicBezTo>
                  <a:pt x="-347" y="42416"/>
                  <a:pt x="11013" y="31700"/>
                  <a:pt x="23961" y="31700"/>
                </a:cubicBezTo>
                <a:lnTo>
                  <a:pt x="48568" y="31700"/>
                </a:lnTo>
                <a:cubicBezTo>
                  <a:pt x="48419" y="29121"/>
                  <a:pt x="48320" y="26541"/>
                  <a:pt x="48220" y="23862"/>
                </a:cubicBezTo>
                <a:cubicBezTo>
                  <a:pt x="47724" y="10716"/>
                  <a:pt x="58440" y="-50"/>
                  <a:pt x="71586" y="-50"/>
                </a:cubicBezTo>
                <a:close/>
                <a:moveTo>
                  <a:pt x="50354" y="55563"/>
                </a:moveTo>
                <a:lnTo>
                  <a:pt x="24358" y="55563"/>
                </a:lnTo>
                <a:cubicBezTo>
                  <a:pt x="27434" y="97582"/>
                  <a:pt x="46732" y="118616"/>
                  <a:pt x="66625" y="129778"/>
                </a:cubicBezTo>
                <a:cubicBezTo>
                  <a:pt x="59482" y="111274"/>
                  <a:pt x="53578" y="87114"/>
                  <a:pt x="50354" y="55563"/>
                </a:cubicBezTo>
                <a:close/>
                <a:moveTo>
                  <a:pt x="188516" y="127397"/>
                </a:moveTo>
                <a:cubicBezTo>
                  <a:pt x="208607" y="115590"/>
                  <a:pt x="226764" y="94605"/>
                  <a:pt x="229840" y="55563"/>
                </a:cubicBezTo>
                <a:lnTo>
                  <a:pt x="203895" y="55563"/>
                </a:lnTo>
                <a:cubicBezTo>
                  <a:pt x="200819" y="85775"/>
                  <a:pt x="195263" y="109240"/>
                  <a:pt x="188516" y="127397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12255500" y="5486400"/>
            <a:ext cx="3365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终极目标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1938000" y="6045200"/>
            <a:ext cx="36576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ADS是数据价值的最终体现层,直接支撑业务决策。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11957050" y="7010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12280900" y="6908800"/>
            <a:ext cx="2133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数据资产化的最后一环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11957050" y="74168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12280900" y="7315200"/>
            <a:ext cx="2133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为管理层提供决策依据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11957050" y="78232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12280900" y="7721600"/>
            <a:ext cx="2133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实现数据驱动业务增长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f61197f8ed33d34238087e1c57ce676a65c91ed2.jpg"/>
          <p:cNvPicPr>
            <a:picLocks noChangeAspect="1"/>
          </p:cNvPicPr>
          <p:nvPr/>
        </p:nvPicPr>
        <p:blipFill>
          <a:blip r:embed="rId3">
            <a:alphaModFix amt="30000"/>
          </a:blip>
          <a:srcRect l="160" r="160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202C"/>
              </a:gs>
              <a:gs pos="50000">
                <a:srgbClr val="1A202C">
                  <a:alpha val="95000"/>
                </a:srgbClr>
              </a:gs>
              <a:gs pos="100000">
                <a:srgbClr val="1A202C">
                  <a:alpha val="7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508000" y="2540000"/>
            <a:ext cx="2768600" cy="711200"/>
          </a:xfrm>
          <a:custGeom>
            <a:avLst/>
            <a:gdLst/>
            <a:ahLst/>
            <a:cxnLst/>
            <a:rect l="l" t="t" r="r" b="b"/>
            <a:pathLst>
              <a:path w="2768600" h="711200">
                <a:moveTo>
                  <a:pt x="0" y="0"/>
                </a:moveTo>
                <a:lnTo>
                  <a:pt x="2768600" y="0"/>
                </a:lnTo>
                <a:lnTo>
                  <a:pt x="27686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914400" y="2679700"/>
            <a:ext cx="2112268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kern="0" spc="12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05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3657600"/>
            <a:ext cx="158496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9600" b="1" dirty="0">
                <a:solidFill>
                  <a:srgbClr val="E2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最佳实践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8000" y="5588000"/>
            <a:ext cx="2032000" cy="101600"/>
          </a:xfrm>
          <a:custGeom>
            <a:avLst/>
            <a:gdLst/>
            <a:ahLst/>
            <a:cxnLst/>
            <a:rect l="l" t="t" r="r" b="b"/>
            <a:pathLst>
              <a:path w="2032000" h="101600">
                <a:moveTo>
                  <a:pt x="0" y="0"/>
                </a:moveTo>
                <a:lnTo>
                  <a:pt x="2032000" y="0"/>
                </a:lnTo>
                <a:lnTo>
                  <a:pt x="2032000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508000" y="60960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dirty="0">
                <a:solidFill>
                  <a:srgbClr val="71809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常见误区与工程经验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08000"/>
            <a:ext cx="2374900" cy="406400"/>
          </a:xfrm>
          <a:custGeom>
            <a:avLst/>
            <a:gdLst/>
            <a:ahLst/>
            <a:cxnLst/>
            <a:rect l="l" t="t" r="r" b="b"/>
            <a:pathLst>
              <a:path w="2374900" h="406400">
                <a:moveTo>
                  <a:pt x="0" y="0"/>
                </a:moveTo>
                <a:lnTo>
                  <a:pt x="2374900" y="0"/>
                </a:lnTo>
                <a:lnTo>
                  <a:pt x="23749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D69E2E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533400" y="508000"/>
            <a:ext cx="50800" cy="406400"/>
          </a:xfrm>
          <a:custGeom>
            <a:avLst/>
            <a:gdLst/>
            <a:ahLst/>
            <a:cxnLst/>
            <a:rect l="l" t="t" r="r" b="b"/>
            <a:pathLst>
              <a:path w="50800" h="406400">
                <a:moveTo>
                  <a:pt x="0" y="0"/>
                </a:moveTo>
                <a:lnTo>
                  <a:pt x="50800" y="0"/>
                </a:lnTo>
                <a:lnTo>
                  <a:pt x="508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2000" y="577850"/>
            <a:ext cx="20482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BEST PRACTICE 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8000" y="10160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2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误区一：DWD与DWS的界限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33400" y="1778000"/>
            <a:ext cx="10033000" cy="1828800"/>
          </a:xfrm>
          <a:custGeom>
            <a:avLst/>
            <a:gdLst/>
            <a:ahLst/>
            <a:cxnLst/>
            <a:rect l="l" t="t" r="r" b="b"/>
            <a:pathLst>
              <a:path w="10033000" h="1828800">
                <a:moveTo>
                  <a:pt x="50800" y="0"/>
                </a:moveTo>
                <a:lnTo>
                  <a:pt x="9931392" y="0"/>
                </a:lnTo>
                <a:cubicBezTo>
                  <a:pt x="9987508" y="0"/>
                  <a:pt x="10033000" y="45492"/>
                  <a:pt x="10033000" y="101608"/>
                </a:cubicBezTo>
                <a:lnTo>
                  <a:pt x="10033000" y="1727192"/>
                </a:lnTo>
                <a:cubicBezTo>
                  <a:pt x="10033000" y="1783308"/>
                  <a:pt x="9987508" y="1828800"/>
                  <a:pt x="9931392" y="1828800"/>
                </a:cubicBezTo>
                <a:lnTo>
                  <a:pt x="50800" y="1828800"/>
                </a:lnTo>
                <a:cubicBezTo>
                  <a:pt x="22763" y="1828800"/>
                  <a:pt x="0" y="1806037"/>
                  <a:pt x="0" y="1778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>
              <a:alpha val="4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33400" y="1778000"/>
            <a:ext cx="50800" cy="1828800"/>
          </a:xfrm>
          <a:custGeom>
            <a:avLst/>
            <a:gdLst/>
            <a:ahLst/>
            <a:cxnLst/>
            <a:rect l="l" t="t" r="r" b="b"/>
            <a:pathLst>
              <a:path w="50800" h="1828800">
                <a:moveTo>
                  <a:pt x="50800" y="0"/>
                </a:moveTo>
                <a:lnTo>
                  <a:pt x="50800" y="0"/>
                </a:lnTo>
                <a:lnTo>
                  <a:pt x="50800" y="1828800"/>
                </a:lnTo>
                <a:lnTo>
                  <a:pt x="50800" y="1828800"/>
                </a:lnTo>
                <a:cubicBezTo>
                  <a:pt x="22763" y="1828800"/>
                  <a:pt x="0" y="1806037"/>
                  <a:pt x="0" y="1778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863600" y="20828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50800" y="0"/>
                </a:moveTo>
                <a:lnTo>
                  <a:pt x="762000" y="0"/>
                </a:lnTo>
                <a:cubicBezTo>
                  <a:pt x="790037" y="0"/>
                  <a:pt x="812800" y="22763"/>
                  <a:pt x="812800" y="50800"/>
                </a:cubicBezTo>
                <a:lnTo>
                  <a:pt x="812800" y="762000"/>
                </a:lnTo>
                <a:cubicBezTo>
                  <a:pt x="812800" y="790037"/>
                  <a:pt x="790037" y="812800"/>
                  <a:pt x="762000" y="812800"/>
                </a:cubicBezTo>
                <a:lnTo>
                  <a:pt x="50800" y="812800"/>
                </a:lnTo>
                <a:cubicBezTo>
                  <a:pt x="22763" y="812800"/>
                  <a:pt x="0" y="790037"/>
                  <a:pt x="0" y="76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718096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1117600" y="2336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99417" y="99417"/>
                </a:moveTo>
                <a:cubicBezTo>
                  <a:pt x="105013" y="93821"/>
                  <a:pt x="114062" y="93821"/>
                  <a:pt x="119598" y="99417"/>
                </a:cubicBezTo>
                <a:lnTo>
                  <a:pt x="152340" y="132159"/>
                </a:lnTo>
                <a:lnTo>
                  <a:pt x="185083" y="99417"/>
                </a:lnTo>
                <a:cubicBezTo>
                  <a:pt x="190679" y="93821"/>
                  <a:pt x="199727" y="93821"/>
                  <a:pt x="205264" y="99417"/>
                </a:cubicBezTo>
                <a:cubicBezTo>
                  <a:pt x="210800" y="105013"/>
                  <a:pt x="210860" y="114062"/>
                  <a:pt x="205264" y="119598"/>
                </a:cubicBezTo>
                <a:lnTo>
                  <a:pt x="172522" y="152340"/>
                </a:lnTo>
                <a:lnTo>
                  <a:pt x="205264" y="185083"/>
                </a:lnTo>
                <a:cubicBezTo>
                  <a:pt x="210860" y="190679"/>
                  <a:pt x="210860" y="199727"/>
                  <a:pt x="205264" y="205264"/>
                </a:cubicBezTo>
                <a:cubicBezTo>
                  <a:pt x="199668" y="210800"/>
                  <a:pt x="190619" y="210860"/>
                  <a:pt x="185083" y="205264"/>
                </a:cubicBezTo>
                <a:lnTo>
                  <a:pt x="152340" y="172522"/>
                </a:lnTo>
                <a:lnTo>
                  <a:pt x="119598" y="205264"/>
                </a:lnTo>
                <a:cubicBezTo>
                  <a:pt x="114002" y="210860"/>
                  <a:pt x="104954" y="210860"/>
                  <a:pt x="99417" y="205264"/>
                </a:cubicBezTo>
                <a:cubicBezTo>
                  <a:pt x="93881" y="199668"/>
                  <a:pt x="93821" y="190619"/>
                  <a:pt x="99417" y="185083"/>
                </a:cubicBezTo>
                <a:lnTo>
                  <a:pt x="132159" y="152340"/>
                </a:lnTo>
                <a:lnTo>
                  <a:pt x="99417" y="119598"/>
                </a:lnTo>
                <a:cubicBezTo>
                  <a:pt x="93821" y="114002"/>
                  <a:pt x="93821" y="104954"/>
                  <a:pt x="99417" y="99417"/>
                </a:cubicBez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879600" y="2082800"/>
            <a:ext cx="8534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常见误区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879600" y="2641600"/>
            <a:ext cx="84836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认为</a:t>
            </a:r>
            <a:r>
              <a:rPr lang="en-US" sz="1600" dirty="0">
                <a:solidFill>
                  <a:srgbClr val="718096"/>
                </a:solidFill>
                <a:highlight>
                  <a:srgbClr val="718096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DWS仅仅是DWD的简单加和 </a:t>
            </a:r>
            <a:r>
              <a:rPr lang="en-US" sz="160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,只是将明细数据按维度汇总,没有其他区别。这种理解过于表面化。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33400" y="3860800"/>
            <a:ext cx="10033000" cy="2286000"/>
          </a:xfrm>
          <a:custGeom>
            <a:avLst/>
            <a:gdLst/>
            <a:ahLst/>
            <a:cxnLst/>
            <a:rect l="l" t="t" r="r" b="b"/>
            <a:pathLst>
              <a:path w="10033000" h="2286000">
                <a:moveTo>
                  <a:pt x="50800" y="0"/>
                </a:moveTo>
                <a:lnTo>
                  <a:pt x="9931410" y="0"/>
                </a:lnTo>
                <a:cubicBezTo>
                  <a:pt x="9987517" y="0"/>
                  <a:pt x="10033000" y="45483"/>
                  <a:pt x="10033000" y="101590"/>
                </a:cubicBezTo>
                <a:lnTo>
                  <a:pt x="10033000" y="2184410"/>
                </a:lnTo>
                <a:cubicBezTo>
                  <a:pt x="10033000" y="2240517"/>
                  <a:pt x="9987517" y="2286000"/>
                  <a:pt x="9931410" y="2286000"/>
                </a:cubicBezTo>
                <a:lnTo>
                  <a:pt x="50800" y="2286000"/>
                </a:lnTo>
                <a:cubicBezTo>
                  <a:pt x="22763" y="2286000"/>
                  <a:pt x="0" y="2263237"/>
                  <a:pt x="0" y="2235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>
              <a:alpha val="4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533400" y="3860800"/>
            <a:ext cx="50800" cy="2286000"/>
          </a:xfrm>
          <a:custGeom>
            <a:avLst/>
            <a:gdLst/>
            <a:ahLst/>
            <a:cxnLst/>
            <a:rect l="l" t="t" r="r" b="b"/>
            <a:pathLst>
              <a:path w="50800" h="2286000">
                <a:moveTo>
                  <a:pt x="50800" y="0"/>
                </a:moveTo>
                <a:lnTo>
                  <a:pt x="50800" y="0"/>
                </a:lnTo>
                <a:lnTo>
                  <a:pt x="50800" y="2286000"/>
                </a:lnTo>
                <a:lnTo>
                  <a:pt x="50800" y="2286000"/>
                </a:lnTo>
                <a:cubicBezTo>
                  <a:pt x="22763" y="2286000"/>
                  <a:pt x="0" y="2263237"/>
                  <a:pt x="0" y="2235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863600" y="41656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50800" y="0"/>
                </a:moveTo>
                <a:lnTo>
                  <a:pt x="762000" y="0"/>
                </a:lnTo>
                <a:cubicBezTo>
                  <a:pt x="790037" y="0"/>
                  <a:pt x="812800" y="22763"/>
                  <a:pt x="812800" y="50800"/>
                </a:cubicBezTo>
                <a:lnTo>
                  <a:pt x="812800" y="762000"/>
                </a:lnTo>
                <a:cubicBezTo>
                  <a:pt x="812800" y="790037"/>
                  <a:pt x="790037" y="812800"/>
                  <a:pt x="762000" y="812800"/>
                </a:cubicBezTo>
                <a:lnTo>
                  <a:pt x="50800" y="812800"/>
                </a:lnTo>
                <a:cubicBezTo>
                  <a:pt x="22763" y="812800"/>
                  <a:pt x="0" y="790037"/>
                  <a:pt x="0" y="76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69E2E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1155700" y="44196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74367" y="228600"/>
                </a:moveTo>
                <a:cubicBezTo>
                  <a:pt x="178713" y="215325"/>
                  <a:pt x="187404" y="203299"/>
                  <a:pt x="197227" y="192941"/>
                </a:cubicBezTo>
                <a:cubicBezTo>
                  <a:pt x="216694" y="172462"/>
                  <a:pt x="228600" y="144780"/>
                  <a:pt x="228600" y="114300"/>
                </a:cubicBezTo>
                <a:cubicBezTo>
                  <a:pt x="228600" y="51197"/>
                  <a:pt x="177403" y="0"/>
                  <a:pt x="114300" y="0"/>
                </a:cubicBezTo>
                <a:cubicBezTo>
                  <a:pt x="51197" y="0"/>
                  <a:pt x="0" y="51197"/>
                  <a:pt x="0" y="114300"/>
                </a:cubicBezTo>
                <a:cubicBezTo>
                  <a:pt x="0" y="144780"/>
                  <a:pt x="11906" y="172462"/>
                  <a:pt x="31373" y="192941"/>
                </a:cubicBezTo>
                <a:cubicBezTo>
                  <a:pt x="41196" y="203299"/>
                  <a:pt x="49947" y="215325"/>
                  <a:pt x="54233" y="228600"/>
                </a:cubicBezTo>
                <a:lnTo>
                  <a:pt x="174308" y="228600"/>
                </a:lnTo>
                <a:close/>
                <a:moveTo>
                  <a:pt x="171450" y="257175"/>
                </a:moveTo>
                <a:lnTo>
                  <a:pt x="57150" y="257175"/>
                </a:lnTo>
                <a:lnTo>
                  <a:pt x="57150" y="266700"/>
                </a:lnTo>
                <a:cubicBezTo>
                  <a:pt x="57150" y="293013"/>
                  <a:pt x="78462" y="314325"/>
                  <a:pt x="104775" y="314325"/>
                </a:cubicBezTo>
                <a:lnTo>
                  <a:pt x="123825" y="314325"/>
                </a:lnTo>
                <a:cubicBezTo>
                  <a:pt x="150138" y="314325"/>
                  <a:pt x="171450" y="293013"/>
                  <a:pt x="171450" y="266700"/>
                </a:cubicBezTo>
                <a:lnTo>
                  <a:pt x="171450" y="257175"/>
                </a:lnTo>
                <a:close/>
                <a:moveTo>
                  <a:pt x="109537" y="66675"/>
                </a:moveTo>
                <a:cubicBezTo>
                  <a:pt x="85844" y="66675"/>
                  <a:pt x="66675" y="85844"/>
                  <a:pt x="66675" y="109537"/>
                </a:cubicBezTo>
                <a:cubicBezTo>
                  <a:pt x="66675" y="117455"/>
                  <a:pt x="60305" y="123825"/>
                  <a:pt x="52388" y="123825"/>
                </a:cubicBezTo>
                <a:cubicBezTo>
                  <a:pt x="44470" y="123825"/>
                  <a:pt x="38100" y="117455"/>
                  <a:pt x="38100" y="109537"/>
                </a:cubicBezTo>
                <a:cubicBezTo>
                  <a:pt x="38100" y="70068"/>
                  <a:pt x="70068" y="38100"/>
                  <a:pt x="109537" y="38100"/>
                </a:cubicBezTo>
                <a:cubicBezTo>
                  <a:pt x="117455" y="38100"/>
                  <a:pt x="123825" y="44470"/>
                  <a:pt x="123825" y="52388"/>
                </a:cubicBezTo>
                <a:cubicBezTo>
                  <a:pt x="123825" y="60305"/>
                  <a:pt x="117455" y="66675"/>
                  <a:pt x="109537" y="66675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1879600" y="4165600"/>
            <a:ext cx="8534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正解：核心价值在于关联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879600" y="4724400"/>
            <a:ext cx="84836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DWS层(特别是宽表)的核心价值在于</a:t>
            </a:r>
            <a:r>
              <a:rPr lang="en-US" sz="1600" dirty="0">
                <a:solidFill>
                  <a:srgbClr val="D69E2E"/>
                </a:solidFill>
                <a:highlight>
                  <a:srgbClr val="D69E2E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关联 </a:t>
            </a:r>
            <a:r>
              <a:rPr lang="en-US" sz="160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。它往往将多个相关联的DWD表(如订单、支付、物流)拼接成一张宽表(Wide Table),从而支持跨业务域的分析。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905000" y="55880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2235200" y="5537200"/>
            <a:ext cx="419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DWS的本质是多表关联+预计算,而非单表汇总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08000" y="6400800"/>
            <a:ext cx="4927600" cy="2540000"/>
          </a:xfrm>
          <a:custGeom>
            <a:avLst/>
            <a:gdLst/>
            <a:ahLst/>
            <a:cxnLst/>
            <a:rect l="l" t="t" r="r" b="b"/>
            <a:pathLst>
              <a:path w="4927600" h="2540000">
                <a:moveTo>
                  <a:pt x="101600" y="0"/>
                </a:moveTo>
                <a:lnTo>
                  <a:pt x="4826000" y="0"/>
                </a:lnTo>
                <a:cubicBezTo>
                  <a:pt x="4882075" y="0"/>
                  <a:pt x="4927600" y="45525"/>
                  <a:pt x="4927600" y="101600"/>
                </a:cubicBezTo>
                <a:lnTo>
                  <a:pt x="4927600" y="2438400"/>
                </a:lnTo>
                <a:cubicBezTo>
                  <a:pt x="4927600" y="2494475"/>
                  <a:pt x="4882075" y="2540000"/>
                  <a:pt x="4826000" y="2540000"/>
                </a:cubicBezTo>
                <a:lnTo>
                  <a:pt x="101600" y="2540000"/>
                </a:lnTo>
                <a:cubicBezTo>
                  <a:pt x="45525" y="2540000"/>
                  <a:pt x="0" y="2494475"/>
                  <a:pt x="0" y="2438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808038" y="67183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00025" y="91886"/>
                </a:moveTo>
                <a:cubicBezTo>
                  <a:pt x="193417" y="96262"/>
                  <a:pt x="185827" y="99789"/>
                  <a:pt x="177924" y="102602"/>
                </a:cubicBezTo>
                <a:cubicBezTo>
                  <a:pt x="156939" y="110103"/>
                  <a:pt x="129391" y="114300"/>
                  <a:pt x="100013" y="114300"/>
                </a:cubicBezTo>
                <a:cubicBezTo>
                  <a:pt x="70634" y="114300"/>
                  <a:pt x="43041" y="110058"/>
                  <a:pt x="22101" y="102602"/>
                </a:cubicBezTo>
                <a:cubicBezTo>
                  <a:pt x="14243" y="99789"/>
                  <a:pt x="6608" y="96262"/>
                  <a:pt x="0" y="91886"/>
                </a:cubicBezTo>
                <a:lnTo>
                  <a:pt x="0" y="128588"/>
                </a:lnTo>
                <a:cubicBezTo>
                  <a:pt x="0" y="148322"/>
                  <a:pt x="44782" y="164306"/>
                  <a:pt x="100013" y="164306"/>
                </a:cubicBezTo>
                <a:cubicBezTo>
                  <a:pt x="155243" y="164306"/>
                  <a:pt x="200025" y="148322"/>
                  <a:pt x="200025" y="128588"/>
                </a:cubicBezTo>
                <a:lnTo>
                  <a:pt x="200025" y="91886"/>
                </a:lnTo>
                <a:close/>
                <a:moveTo>
                  <a:pt x="200025" y="57150"/>
                </a:moveTo>
                <a:lnTo>
                  <a:pt x="200025" y="35719"/>
                </a:lnTo>
                <a:cubicBezTo>
                  <a:pt x="200025" y="15984"/>
                  <a:pt x="155243" y="0"/>
                  <a:pt x="100013" y="0"/>
                </a:cubicBezTo>
                <a:cubicBezTo>
                  <a:pt x="44782" y="0"/>
                  <a:pt x="0" y="15984"/>
                  <a:pt x="0" y="35719"/>
                </a:cubicBezTo>
                <a:lnTo>
                  <a:pt x="0" y="57150"/>
                </a:lnTo>
                <a:cubicBezTo>
                  <a:pt x="0" y="76885"/>
                  <a:pt x="44782" y="92869"/>
                  <a:pt x="100013" y="92869"/>
                </a:cubicBezTo>
                <a:cubicBezTo>
                  <a:pt x="155243" y="92869"/>
                  <a:pt x="200025" y="76885"/>
                  <a:pt x="200025" y="57150"/>
                </a:cubicBezTo>
                <a:close/>
                <a:moveTo>
                  <a:pt x="177924" y="174040"/>
                </a:moveTo>
                <a:cubicBezTo>
                  <a:pt x="156984" y="181496"/>
                  <a:pt x="129436" y="185738"/>
                  <a:pt x="100013" y="185738"/>
                </a:cubicBezTo>
                <a:cubicBezTo>
                  <a:pt x="70589" y="185738"/>
                  <a:pt x="43041" y="181496"/>
                  <a:pt x="22101" y="174040"/>
                </a:cubicBezTo>
                <a:cubicBezTo>
                  <a:pt x="14243" y="171227"/>
                  <a:pt x="6608" y="167700"/>
                  <a:pt x="0" y="163324"/>
                </a:cubicBezTo>
                <a:lnTo>
                  <a:pt x="0" y="192881"/>
                </a:lnTo>
                <a:cubicBezTo>
                  <a:pt x="0" y="212616"/>
                  <a:pt x="44782" y="228600"/>
                  <a:pt x="100013" y="228600"/>
                </a:cubicBezTo>
                <a:cubicBezTo>
                  <a:pt x="155243" y="228600"/>
                  <a:pt x="200025" y="212616"/>
                  <a:pt x="200025" y="192881"/>
                </a:cubicBezTo>
                <a:lnTo>
                  <a:pt x="200025" y="163324"/>
                </a:lnTo>
                <a:cubicBezTo>
                  <a:pt x="193417" y="167700"/>
                  <a:pt x="185827" y="171227"/>
                  <a:pt x="177924" y="17404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1054100" y="6654800"/>
            <a:ext cx="4241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DWD层定位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62000" y="7162800"/>
            <a:ext cx="452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明细数据标准化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62000" y="7569200"/>
            <a:ext cx="452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单业务过程明细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62000" y="7975600"/>
            <a:ext cx="452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保持数据粒度不变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62000" y="8382000"/>
            <a:ext cx="452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清洗和规范化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638800" y="6400800"/>
            <a:ext cx="4927600" cy="2540000"/>
          </a:xfrm>
          <a:custGeom>
            <a:avLst/>
            <a:gdLst/>
            <a:ahLst/>
            <a:cxnLst/>
            <a:rect l="l" t="t" r="r" b="b"/>
            <a:pathLst>
              <a:path w="4927600" h="2540000">
                <a:moveTo>
                  <a:pt x="101600" y="0"/>
                </a:moveTo>
                <a:lnTo>
                  <a:pt x="4826000" y="0"/>
                </a:lnTo>
                <a:cubicBezTo>
                  <a:pt x="4882075" y="0"/>
                  <a:pt x="4927600" y="45525"/>
                  <a:pt x="4927600" y="101600"/>
                </a:cubicBezTo>
                <a:lnTo>
                  <a:pt x="4927600" y="2438400"/>
                </a:lnTo>
                <a:cubicBezTo>
                  <a:pt x="4927600" y="2494475"/>
                  <a:pt x="4882075" y="2540000"/>
                  <a:pt x="4826000" y="2540000"/>
                </a:cubicBezTo>
                <a:lnTo>
                  <a:pt x="101600" y="2540000"/>
                </a:lnTo>
                <a:cubicBezTo>
                  <a:pt x="45525" y="2540000"/>
                  <a:pt x="0" y="2494475"/>
                  <a:pt x="0" y="2438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5924550" y="6718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26802" y="-580"/>
                </a:moveTo>
                <a:cubicBezTo>
                  <a:pt x="119077" y="-5045"/>
                  <a:pt x="109523" y="-5045"/>
                  <a:pt x="101798" y="-580"/>
                </a:cubicBezTo>
                <a:lnTo>
                  <a:pt x="64204" y="21119"/>
                </a:lnTo>
                <a:cubicBezTo>
                  <a:pt x="56480" y="25584"/>
                  <a:pt x="51703" y="33844"/>
                  <a:pt x="51703" y="42773"/>
                </a:cubicBezTo>
                <a:lnTo>
                  <a:pt x="51703" y="88270"/>
                </a:lnTo>
                <a:lnTo>
                  <a:pt x="12278" y="111041"/>
                </a:lnTo>
                <a:cubicBezTo>
                  <a:pt x="4554" y="115506"/>
                  <a:pt x="-223" y="123765"/>
                  <a:pt x="-223" y="132695"/>
                </a:cubicBezTo>
                <a:lnTo>
                  <a:pt x="-223" y="176138"/>
                </a:lnTo>
                <a:cubicBezTo>
                  <a:pt x="-223" y="185068"/>
                  <a:pt x="4554" y="193328"/>
                  <a:pt x="12278" y="197793"/>
                </a:cubicBezTo>
                <a:lnTo>
                  <a:pt x="49917" y="219492"/>
                </a:lnTo>
                <a:cubicBezTo>
                  <a:pt x="57641" y="223957"/>
                  <a:pt x="67196" y="223957"/>
                  <a:pt x="74920" y="219492"/>
                </a:cubicBezTo>
                <a:lnTo>
                  <a:pt x="114345" y="196721"/>
                </a:lnTo>
                <a:lnTo>
                  <a:pt x="153769" y="219492"/>
                </a:lnTo>
                <a:cubicBezTo>
                  <a:pt x="161493" y="223957"/>
                  <a:pt x="171048" y="223957"/>
                  <a:pt x="178772" y="219492"/>
                </a:cubicBezTo>
                <a:lnTo>
                  <a:pt x="216322" y="197793"/>
                </a:lnTo>
                <a:cubicBezTo>
                  <a:pt x="224046" y="193328"/>
                  <a:pt x="228823" y="185068"/>
                  <a:pt x="228823" y="176138"/>
                </a:cubicBezTo>
                <a:lnTo>
                  <a:pt x="228823" y="132695"/>
                </a:lnTo>
                <a:cubicBezTo>
                  <a:pt x="228823" y="123765"/>
                  <a:pt x="224046" y="115506"/>
                  <a:pt x="216322" y="111041"/>
                </a:cubicBezTo>
                <a:lnTo>
                  <a:pt x="176897" y="88270"/>
                </a:lnTo>
                <a:lnTo>
                  <a:pt x="176897" y="42773"/>
                </a:lnTo>
                <a:cubicBezTo>
                  <a:pt x="176897" y="33844"/>
                  <a:pt x="172120" y="25584"/>
                  <a:pt x="164396" y="21119"/>
                </a:cubicBezTo>
                <a:lnTo>
                  <a:pt x="126802" y="-580"/>
                </a:lnTo>
                <a:close/>
                <a:moveTo>
                  <a:pt x="103584" y="130641"/>
                </a:moveTo>
                <a:lnTo>
                  <a:pt x="103584" y="178192"/>
                </a:lnTo>
                <a:lnTo>
                  <a:pt x="64160" y="200963"/>
                </a:lnTo>
                <a:cubicBezTo>
                  <a:pt x="63624" y="201275"/>
                  <a:pt x="62999" y="201454"/>
                  <a:pt x="62374" y="201454"/>
                </a:cubicBezTo>
                <a:lnTo>
                  <a:pt x="62374" y="154439"/>
                </a:lnTo>
                <a:lnTo>
                  <a:pt x="103584" y="130641"/>
                </a:lnTo>
                <a:close/>
                <a:moveTo>
                  <a:pt x="206901" y="130909"/>
                </a:moveTo>
                <a:cubicBezTo>
                  <a:pt x="207213" y="131445"/>
                  <a:pt x="207392" y="132070"/>
                  <a:pt x="207392" y="132695"/>
                </a:cubicBezTo>
                <a:lnTo>
                  <a:pt x="207392" y="176138"/>
                </a:lnTo>
                <a:cubicBezTo>
                  <a:pt x="207392" y="177433"/>
                  <a:pt x="206722" y="178594"/>
                  <a:pt x="205606" y="179219"/>
                </a:cubicBezTo>
                <a:lnTo>
                  <a:pt x="167967" y="200918"/>
                </a:lnTo>
                <a:cubicBezTo>
                  <a:pt x="167432" y="201231"/>
                  <a:pt x="166807" y="201409"/>
                  <a:pt x="166181" y="201409"/>
                </a:cubicBezTo>
                <a:lnTo>
                  <a:pt x="166181" y="154394"/>
                </a:lnTo>
                <a:lnTo>
                  <a:pt x="206901" y="130909"/>
                </a:lnTo>
                <a:close/>
                <a:moveTo>
                  <a:pt x="155511" y="42773"/>
                </a:moveTo>
                <a:lnTo>
                  <a:pt x="155511" y="88270"/>
                </a:lnTo>
                <a:lnTo>
                  <a:pt x="114300" y="112068"/>
                </a:lnTo>
                <a:lnTo>
                  <a:pt x="114300" y="64517"/>
                </a:lnTo>
                <a:lnTo>
                  <a:pt x="155019" y="41032"/>
                </a:lnTo>
                <a:cubicBezTo>
                  <a:pt x="155332" y="41568"/>
                  <a:pt x="155511" y="42193"/>
                  <a:pt x="155511" y="42818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6184900" y="6654800"/>
            <a:ext cx="4241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DWS层定位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892800" y="7162800"/>
            <a:ext cx="452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多表关联成宽表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892800" y="7569200"/>
            <a:ext cx="452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跨业务域整合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892800" y="7975600"/>
            <a:ext cx="452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预计算和汇总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892800" y="8382000"/>
            <a:ext cx="452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面向分析主题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0871200" y="1778000"/>
            <a:ext cx="4876800" cy="7302500"/>
          </a:xfrm>
          <a:custGeom>
            <a:avLst/>
            <a:gdLst/>
            <a:ahLst/>
            <a:cxnLst/>
            <a:rect l="l" t="t" r="r" b="b"/>
            <a:pathLst>
              <a:path w="4876800" h="7302500">
                <a:moveTo>
                  <a:pt x="101584" y="0"/>
                </a:moveTo>
                <a:lnTo>
                  <a:pt x="4775216" y="0"/>
                </a:lnTo>
                <a:cubicBezTo>
                  <a:pt x="4831319" y="0"/>
                  <a:pt x="4876800" y="45481"/>
                  <a:pt x="4876800" y="101584"/>
                </a:cubicBezTo>
                <a:lnTo>
                  <a:pt x="4876800" y="7200916"/>
                </a:lnTo>
                <a:cubicBezTo>
                  <a:pt x="4876800" y="7257019"/>
                  <a:pt x="4831319" y="7302500"/>
                  <a:pt x="4775216" y="7302500"/>
                </a:cubicBezTo>
                <a:lnTo>
                  <a:pt x="101584" y="7302500"/>
                </a:lnTo>
                <a:cubicBezTo>
                  <a:pt x="45481" y="7302500"/>
                  <a:pt x="0" y="7257019"/>
                  <a:pt x="0" y="7200916"/>
                </a:cubicBezTo>
                <a:lnTo>
                  <a:pt x="0" y="101584"/>
                </a:lnTo>
                <a:cubicBezTo>
                  <a:pt x="0" y="45518"/>
                  <a:pt x="45518" y="0"/>
                  <a:pt x="101584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11214100" y="2133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8410" y="3096"/>
                </a:moveTo>
                <a:cubicBezTo>
                  <a:pt x="147280" y="-1012"/>
                  <a:pt x="157520" y="-1012"/>
                  <a:pt x="166390" y="3096"/>
                </a:cubicBezTo>
                <a:lnTo>
                  <a:pt x="296525" y="63222"/>
                </a:lnTo>
                <a:cubicBezTo>
                  <a:pt x="301585" y="65544"/>
                  <a:pt x="304800" y="70604"/>
                  <a:pt x="304800" y="76200"/>
                </a:cubicBezTo>
                <a:cubicBezTo>
                  <a:pt x="304800" y="81796"/>
                  <a:pt x="301585" y="86856"/>
                  <a:pt x="296525" y="89178"/>
                </a:cubicBezTo>
                <a:lnTo>
                  <a:pt x="166390" y="149304"/>
                </a:lnTo>
                <a:cubicBezTo>
                  <a:pt x="157520" y="153412"/>
                  <a:pt x="147280" y="153412"/>
                  <a:pt x="138410" y="149304"/>
                </a:cubicBezTo>
                <a:lnTo>
                  <a:pt x="8275" y="89178"/>
                </a:lnTo>
                <a:cubicBezTo>
                  <a:pt x="3215" y="86797"/>
                  <a:pt x="0" y="81736"/>
                  <a:pt x="0" y="76200"/>
                </a:cubicBezTo>
                <a:cubicBezTo>
                  <a:pt x="0" y="70664"/>
                  <a:pt x="3215" y="65544"/>
                  <a:pt x="8275" y="63222"/>
                </a:cubicBezTo>
                <a:lnTo>
                  <a:pt x="138410" y="3096"/>
                </a:lnTo>
                <a:close/>
                <a:moveTo>
                  <a:pt x="28635" y="130016"/>
                </a:moveTo>
                <a:lnTo>
                  <a:pt x="126444" y="175200"/>
                </a:lnTo>
                <a:cubicBezTo>
                  <a:pt x="142935" y="182820"/>
                  <a:pt x="161925" y="182820"/>
                  <a:pt x="178415" y="175200"/>
                </a:cubicBezTo>
                <a:lnTo>
                  <a:pt x="276225" y="130016"/>
                </a:lnTo>
                <a:lnTo>
                  <a:pt x="296525" y="139422"/>
                </a:lnTo>
                <a:cubicBezTo>
                  <a:pt x="301585" y="141744"/>
                  <a:pt x="304800" y="146804"/>
                  <a:pt x="304800" y="152400"/>
                </a:cubicBezTo>
                <a:cubicBezTo>
                  <a:pt x="304800" y="157996"/>
                  <a:pt x="301585" y="163056"/>
                  <a:pt x="296525" y="165378"/>
                </a:cubicBezTo>
                <a:lnTo>
                  <a:pt x="166390" y="225504"/>
                </a:lnTo>
                <a:cubicBezTo>
                  <a:pt x="157520" y="229612"/>
                  <a:pt x="147280" y="229612"/>
                  <a:pt x="138410" y="225504"/>
                </a:cubicBezTo>
                <a:lnTo>
                  <a:pt x="8275" y="165378"/>
                </a:lnTo>
                <a:cubicBezTo>
                  <a:pt x="3215" y="162997"/>
                  <a:pt x="0" y="157936"/>
                  <a:pt x="0" y="152400"/>
                </a:cubicBezTo>
                <a:cubicBezTo>
                  <a:pt x="0" y="146864"/>
                  <a:pt x="3215" y="141744"/>
                  <a:pt x="8275" y="139422"/>
                </a:cubicBezTo>
                <a:lnTo>
                  <a:pt x="28575" y="130016"/>
                </a:lnTo>
                <a:close/>
                <a:moveTo>
                  <a:pt x="8275" y="215622"/>
                </a:moveTo>
                <a:lnTo>
                  <a:pt x="28575" y="206216"/>
                </a:lnTo>
                <a:lnTo>
                  <a:pt x="126385" y="251400"/>
                </a:lnTo>
                <a:cubicBezTo>
                  <a:pt x="142875" y="259020"/>
                  <a:pt x="161865" y="259020"/>
                  <a:pt x="178356" y="251400"/>
                </a:cubicBezTo>
                <a:lnTo>
                  <a:pt x="276165" y="206216"/>
                </a:lnTo>
                <a:lnTo>
                  <a:pt x="296466" y="215622"/>
                </a:lnTo>
                <a:cubicBezTo>
                  <a:pt x="301526" y="217944"/>
                  <a:pt x="304740" y="223004"/>
                  <a:pt x="304740" y="228600"/>
                </a:cubicBezTo>
                <a:cubicBezTo>
                  <a:pt x="304740" y="234196"/>
                  <a:pt x="301526" y="239256"/>
                  <a:pt x="296466" y="241578"/>
                </a:cubicBezTo>
                <a:lnTo>
                  <a:pt x="166330" y="301704"/>
                </a:lnTo>
                <a:cubicBezTo>
                  <a:pt x="157460" y="305812"/>
                  <a:pt x="147221" y="305812"/>
                  <a:pt x="138351" y="301704"/>
                </a:cubicBezTo>
                <a:lnTo>
                  <a:pt x="8275" y="241578"/>
                </a:lnTo>
                <a:cubicBezTo>
                  <a:pt x="3215" y="239197"/>
                  <a:pt x="0" y="234136"/>
                  <a:pt x="0" y="228600"/>
                </a:cubicBezTo>
                <a:cubicBezTo>
                  <a:pt x="0" y="223064"/>
                  <a:pt x="3215" y="217944"/>
                  <a:pt x="8275" y="215622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11557000" y="2082800"/>
            <a:ext cx="4038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宽表示例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1176000" y="2743200"/>
            <a:ext cx="4267200" cy="2438400"/>
          </a:xfrm>
          <a:custGeom>
            <a:avLst/>
            <a:gdLst/>
            <a:ahLst/>
            <a:cxnLst/>
            <a:rect l="l" t="t" r="r" b="b"/>
            <a:pathLst>
              <a:path w="4267200" h="2438400">
                <a:moveTo>
                  <a:pt x="101608" y="0"/>
                </a:moveTo>
                <a:lnTo>
                  <a:pt x="4165592" y="0"/>
                </a:lnTo>
                <a:cubicBezTo>
                  <a:pt x="4221708" y="0"/>
                  <a:pt x="4267200" y="45492"/>
                  <a:pt x="4267200" y="101608"/>
                </a:cubicBezTo>
                <a:lnTo>
                  <a:pt x="4267200" y="2336792"/>
                </a:lnTo>
                <a:cubicBezTo>
                  <a:pt x="4267200" y="2392908"/>
                  <a:pt x="4221708" y="2438400"/>
                  <a:pt x="4165592" y="2438400"/>
                </a:cubicBezTo>
                <a:lnTo>
                  <a:pt x="101608" y="2438400"/>
                </a:lnTo>
                <a:cubicBezTo>
                  <a:pt x="45492" y="2438400"/>
                  <a:pt x="0" y="2392908"/>
                  <a:pt x="0" y="2336792"/>
                </a:cubicBezTo>
                <a:lnTo>
                  <a:pt x="0" y="101608"/>
                </a:lnTo>
                <a:cubicBezTo>
                  <a:pt x="0" y="45529"/>
                  <a:pt x="45529" y="0"/>
                  <a:pt x="101608" y="0"/>
                </a:cubicBezTo>
                <a:close/>
              </a:path>
            </a:pathLst>
          </a:custGeom>
          <a:solidFill>
            <a:srgbClr val="2D3748">
              <a:alpha val="8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11379200" y="2946400"/>
            <a:ext cx="3975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用户行为宽表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1379200" y="3454400"/>
            <a:ext cx="3962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用户基本信息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1379200" y="3860800"/>
            <a:ext cx="3962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订单明细数据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1379200" y="4267200"/>
            <a:ext cx="3962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支付交易记录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1379200" y="4673600"/>
            <a:ext cx="3962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物流状态信息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1176000" y="5384800"/>
            <a:ext cx="4267200" cy="1905000"/>
          </a:xfrm>
          <a:custGeom>
            <a:avLst/>
            <a:gdLst/>
            <a:ahLst/>
            <a:cxnLst/>
            <a:rect l="l" t="t" r="r" b="b"/>
            <a:pathLst>
              <a:path w="4267200" h="1905000">
                <a:moveTo>
                  <a:pt x="101594" y="0"/>
                </a:moveTo>
                <a:lnTo>
                  <a:pt x="4165606" y="0"/>
                </a:lnTo>
                <a:cubicBezTo>
                  <a:pt x="4221715" y="0"/>
                  <a:pt x="4267200" y="45485"/>
                  <a:pt x="4267200" y="101594"/>
                </a:cubicBezTo>
                <a:lnTo>
                  <a:pt x="4267200" y="1803406"/>
                </a:lnTo>
                <a:cubicBezTo>
                  <a:pt x="4267200" y="1859515"/>
                  <a:pt x="4221715" y="1905000"/>
                  <a:pt x="4165606" y="1905000"/>
                </a:cubicBezTo>
                <a:lnTo>
                  <a:pt x="101594" y="1905000"/>
                </a:lnTo>
                <a:cubicBezTo>
                  <a:pt x="45485" y="1905000"/>
                  <a:pt x="0" y="1859515"/>
                  <a:pt x="0" y="1803406"/>
                </a:cubicBezTo>
                <a:lnTo>
                  <a:pt x="0" y="101594"/>
                </a:lnTo>
                <a:cubicBezTo>
                  <a:pt x="0" y="45523"/>
                  <a:pt x="45523" y="0"/>
                  <a:pt x="101594" y="0"/>
                </a:cubicBezTo>
                <a:close/>
              </a:path>
            </a:pathLst>
          </a:custGeom>
          <a:solidFill>
            <a:srgbClr val="2D3748">
              <a:alpha val="8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11379200" y="5588000"/>
            <a:ext cx="3975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价值体现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1379200" y="6096000"/>
            <a:ext cx="39624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通过一张宽表,分析师可以快速回答"最近一周下单用户的支付转化率和平均配送时长"等复杂问题,无需多表关联。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11176000" y="7499350"/>
            <a:ext cx="4267200" cy="12700"/>
          </a:xfrm>
          <a:custGeom>
            <a:avLst/>
            <a:gdLst/>
            <a:ahLst/>
            <a:cxnLst/>
            <a:rect l="l" t="t" r="r" b="b"/>
            <a:pathLst>
              <a:path w="4267200" h="12700">
                <a:moveTo>
                  <a:pt x="0" y="0"/>
                </a:moveTo>
                <a:lnTo>
                  <a:pt x="4267200" y="0"/>
                </a:lnTo>
                <a:lnTo>
                  <a:pt x="42672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11201400" y="77597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33350" y="139700"/>
                </a:moveTo>
                <a:cubicBezTo>
                  <a:pt x="171926" y="139700"/>
                  <a:pt x="203200" y="108426"/>
                  <a:pt x="203200" y="69850"/>
                </a:cubicBezTo>
                <a:cubicBezTo>
                  <a:pt x="203200" y="31274"/>
                  <a:pt x="171926" y="0"/>
                  <a:pt x="133350" y="0"/>
                </a:cubicBezTo>
                <a:cubicBezTo>
                  <a:pt x="94774" y="0"/>
                  <a:pt x="63500" y="31274"/>
                  <a:pt x="63500" y="69850"/>
                </a:cubicBezTo>
                <a:cubicBezTo>
                  <a:pt x="63500" y="77272"/>
                  <a:pt x="64651" y="84455"/>
                  <a:pt x="66794" y="91162"/>
                </a:cubicBezTo>
                <a:lnTo>
                  <a:pt x="2778" y="155178"/>
                </a:lnTo>
                <a:cubicBezTo>
                  <a:pt x="992" y="156964"/>
                  <a:pt x="0" y="159385"/>
                  <a:pt x="0" y="161925"/>
                </a:cubicBezTo>
                <a:lnTo>
                  <a:pt x="0" y="193675"/>
                </a:lnTo>
                <a:cubicBezTo>
                  <a:pt x="0" y="198953"/>
                  <a:pt x="4247" y="203200"/>
                  <a:pt x="9525" y="203200"/>
                </a:cubicBezTo>
                <a:lnTo>
                  <a:pt x="41275" y="203200"/>
                </a:lnTo>
                <a:cubicBezTo>
                  <a:pt x="46553" y="203200"/>
                  <a:pt x="50800" y="198953"/>
                  <a:pt x="50800" y="193675"/>
                </a:cubicBezTo>
                <a:lnTo>
                  <a:pt x="50800" y="177800"/>
                </a:lnTo>
                <a:lnTo>
                  <a:pt x="66675" y="177800"/>
                </a:lnTo>
                <a:cubicBezTo>
                  <a:pt x="71953" y="177800"/>
                  <a:pt x="76200" y="173553"/>
                  <a:pt x="76200" y="168275"/>
                </a:cubicBezTo>
                <a:lnTo>
                  <a:pt x="76200" y="152400"/>
                </a:lnTo>
                <a:lnTo>
                  <a:pt x="92075" y="152400"/>
                </a:lnTo>
                <a:cubicBezTo>
                  <a:pt x="94615" y="152400"/>
                  <a:pt x="97036" y="151408"/>
                  <a:pt x="98822" y="149622"/>
                </a:cubicBezTo>
                <a:lnTo>
                  <a:pt x="112038" y="136406"/>
                </a:lnTo>
                <a:cubicBezTo>
                  <a:pt x="118745" y="138549"/>
                  <a:pt x="125928" y="139700"/>
                  <a:pt x="133350" y="139700"/>
                </a:cubicBezTo>
                <a:close/>
                <a:moveTo>
                  <a:pt x="149225" y="38100"/>
                </a:moveTo>
                <a:cubicBezTo>
                  <a:pt x="157987" y="38100"/>
                  <a:pt x="165100" y="45213"/>
                  <a:pt x="165100" y="53975"/>
                </a:cubicBezTo>
                <a:cubicBezTo>
                  <a:pt x="165100" y="62737"/>
                  <a:pt x="157987" y="69850"/>
                  <a:pt x="149225" y="69850"/>
                </a:cubicBezTo>
                <a:cubicBezTo>
                  <a:pt x="140463" y="69850"/>
                  <a:pt x="133350" y="62737"/>
                  <a:pt x="133350" y="53975"/>
                </a:cubicBezTo>
                <a:cubicBezTo>
                  <a:pt x="133350" y="45213"/>
                  <a:pt x="140463" y="38100"/>
                  <a:pt x="149225" y="38100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11531600" y="77089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关键要点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1176000" y="8115300"/>
            <a:ext cx="43688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DWD是明细标准化,DWS是关联聚合,两者定位不同,不能简单等同。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8415" y="493728"/>
            <a:ext cx="2345209" cy="394983"/>
          </a:xfrm>
          <a:custGeom>
            <a:avLst/>
            <a:gdLst/>
            <a:ahLst/>
            <a:cxnLst/>
            <a:rect l="l" t="t" r="r" b="b"/>
            <a:pathLst>
              <a:path w="2345209" h="394983">
                <a:moveTo>
                  <a:pt x="0" y="0"/>
                </a:moveTo>
                <a:lnTo>
                  <a:pt x="2345209" y="0"/>
                </a:lnTo>
                <a:lnTo>
                  <a:pt x="2345209" y="394983"/>
                </a:lnTo>
                <a:lnTo>
                  <a:pt x="0" y="394983"/>
                </a:lnTo>
                <a:lnTo>
                  <a:pt x="0" y="0"/>
                </a:lnTo>
                <a:close/>
              </a:path>
            </a:pathLst>
          </a:custGeom>
          <a:solidFill>
            <a:srgbClr val="D69E2E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518415" y="493728"/>
            <a:ext cx="49373" cy="394983"/>
          </a:xfrm>
          <a:custGeom>
            <a:avLst/>
            <a:gdLst/>
            <a:ahLst/>
            <a:cxnLst/>
            <a:rect l="l" t="t" r="r" b="b"/>
            <a:pathLst>
              <a:path w="49373" h="394983">
                <a:moveTo>
                  <a:pt x="0" y="0"/>
                </a:moveTo>
                <a:lnTo>
                  <a:pt x="49373" y="0"/>
                </a:lnTo>
                <a:lnTo>
                  <a:pt x="49373" y="394983"/>
                </a:lnTo>
                <a:lnTo>
                  <a:pt x="0" y="394983"/>
                </a:lnTo>
                <a:lnTo>
                  <a:pt x="0" y="0"/>
                </a:ln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40592" y="561616"/>
            <a:ext cx="2024093" cy="25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5" b="1" kern="0" spc="78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BEST PRACTICE 02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93728" y="987456"/>
            <a:ext cx="15490721" cy="493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499" b="1" dirty="0">
                <a:solidFill>
                  <a:srgbClr val="E2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误区二：为什么不能直接从ODS计算ADS？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8415" y="1728049"/>
            <a:ext cx="10207830" cy="1777421"/>
          </a:xfrm>
          <a:custGeom>
            <a:avLst/>
            <a:gdLst/>
            <a:ahLst/>
            <a:cxnLst/>
            <a:rect l="l" t="t" r="r" b="b"/>
            <a:pathLst>
              <a:path w="10207830" h="1777421">
                <a:moveTo>
                  <a:pt x="49373" y="0"/>
                </a:moveTo>
                <a:lnTo>
                  <a:pt x="10109076" y="0"/>
                </a:lnTo>
                <a:cubicBezTo>
                  <a:pt x="10163616" y="0"/>
                  <a:pt x="10207830" y="44213"/>
                  <a:pt x="10207830" y="98754"/>
                </a:cubicBezTo>
                <a:lnTo>
                  <a:pt x="10207830" y="1678668"/>
                </a:lnTo>
                <a:cubicBezTo>
                  <a:pt x="10207830" y="1733208"/>
                  <a:pt x="10163616" y="1777421"/>
                  <a:pt x="10109076" y="1777421"/>
                </a:cubicBezTo>
                <a:lnTo>
                  <a:pt x="49373" y="1777421"/>
                </a:lnTo>
                <a:cubicBezTo>
                  <a:pt x="22105" y="1777421"/>
                  <a:pt x="0" y="1755316"/>
                  <a:pt x="0" y="1728049"/>
                </a:cubicBezTo>
                <a:lnTo>
                  <a:pt x="0" y="49373"/>
                </a:lnTo>
                <a:cubicBezTo>
                  <a:pt x="0" y="22123"/>
                  <a:pt x="22123" y="0"/>
                  <a:pt x="49373" y="0"/>
                </a:cubicBezTo>
                <a:close/>
              </a:path>
            </a:pathLst>
          </a:custGeom>
          <a:solidFill>
            <a:srgbClr val="2D3748">
              <a:alpha val="4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18415" y="1728049"/>
            <a:ext cx="49373" cy="1777421"/>
          </a:xfrm>
          <a:custGeom>
            <a:avLst/>
            <a:gdLst/>
            <a:ahLst/>
            <a:cxnLst/>
            <a:rect l="l" t="t" r="r" b="b"/>
            <a:pathLst>
              <a:path w="49373" h="1777421">
                <a:moveTo>
                  <a:pt x="49373" y="0"/>
                </a:moveTo>
                <a:lnTo>
                  <a:pt x="49373" y="0"/>
                </a:lnTo>
                <a:lnTo>
                  <a:pt x="49373" y="1777421"/>
                </a:lnTo>
                <a:lnTo>
                  <a:pt x="49373" y="1777421"/>
                </a:lnTo>
                <a:cubicBezTo>
                  <a:pt x="22105" y="1777421"/>
                  <a:pt x="0" y="1755316"/>
                  <a:pt x="0" y="1728049"/>
                </a:cubicBezTo>
                <a:lnTo>
                  <a:pt x="0" y="49373"/>
                </a:lnTo>
                <a:cubicBezTo>
                  <a:pt x="0" y="22123"/>
                  <a:pt x="22123" y="0"/>
                  <a:pt x="49373" y="0"/>
                </a:cubicBez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839338" y="2024285"/>
            <a:ext cx="789965" cy="789965"/>
          </a:xfrm>
          <a:custGeom>
            <a:avLst/>
            <a:gdLst/>
            <a:ahLst/>
            <a:cxnLst/>
            <a:rect l="l" t="t" r="r" b="b"/>
            <a:pathLst>
              <a:path w="789965" h="789965">
                <a:moveTo>
                  <a:pt x="49373" y="0"/>
                </a:moveTo>
                <a:lnTo>
                  <a:pt x="740592" y="0"/>
                </a:lnTo>
                <a:cubicBezTo>
                  <a:pt x="767860" y="0"/>
                  <a:pt x="789965" y="22105"/>
                  <a:pt x="789965" y="49373"/>
                </a:cubicBezTo>
                <a:lnTo>
                  <a:pt x="789965" y="740592"/>
                </a:lnTo>
                <a:cubicBezTo>
                  <a:pt x="789965" y="767860"/>
                  <a:pt x="767860" y="789965"/>
                  <a:pt x="740592" y="789965"/>
                </a:cubicBezTo>
                <a:lnTo>
                  <a:pt x="49373" y="789965"/>
                </a:lnTo>
                <a:cubicBezTo>
                  <a:pt x="22105" y="789965"/>
                  <a:pt x="0" y="767860"/>
                  <a:pt x="0" y="740592"/>
                </a:cubicBezTo>
                <a:lnTo>
                  <a:pt x="0" y="49373"/>
                </a:lnTo>
                <a:cubicBezTo>
                  <a:pt x="0" y="22123"/>
                  <a:pt x="22123" y="0"/>
                  <a:pt x="49373" y="0"/>
                </a:cubicBezTo>
                <a:close/>
              </a:path>
            </a:pathLst>
          </a:custGeom>
          <a:solidFill>
            <a:srgbClr val="718096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1086202" y="2271150"/>
            <a:ext cx="296237" cy="296237"/>
          </a:xfrm>
          <a:custGeom>
            <a:avLst/>
            <a:gdLst/>
            <a:ahLst/>
            <a:cxnLst/>
            <a:rect l="l" t="t" r="r" b="b"/>
            <a:pathLst>
              <a:path w="296237" h="296237">
                <a:moveTo>
                  <a:pt x="148118" y="296237"/>
                </a:moveTo>
                <a:cubicBezTo>
                  <a:pt x="229867" y="296237"/>
                  <a:pt x="296237" y="229867"/>
                  <a:pt x="296237" y="148118"/>
                </a:cubicBezTo>
                <a:cubicBezTo>
                  <a:pt x="296237" y="66370"/>
                  <a:pt x="229867" y="0"/>
                  <a:pt x="148118" y="0"/>
                </a:cubicBezTo>
                <a:cubicBezTo>
                  <a:pt x="66370" y="0"/>
                  <a:pt x="0" y="66370"/>
                  <a:pt x="0" y="148118"/>
                </a:cubicBezTo>
                <a:cubicBezTo>
                  <a:pt x="0" y="229867"/>
                  <a:pt x="66370" y="296237"/>
                  <a:pt x="148118" y="296237"/>
                </a:cubicBezTo>
                <a:close/>
                <a:moveTo>
                  <a:pt x="148118" y="101831"/>
                </a:moveTo>
                <a:cubicBezTo>
                  <a:pt x="137877" y="101831"/>
                  <a:pt x="129604" y="110105"/>
                  <a:pt x="129604" y="120346"/>
                </a:cubicBezTo>
                <a:cubicBezTo>
                  <a:pt x="129604" y="128041"/>
                  <a:pt x="123413" y="134232"/>
                  <a:pt x="115718" y="134232"/>
                </a:cubicBezTo>
                <a:cubicBezTo>
                  <a:pt x="108022" y="134232"/>
                  <a:pt x="101831" y="128041"/>
                  <a:pt x="101831" y="120346"/>
                </a:cubicBezTo>
                <a:cubicBezTo>
                  <a:pt x="101831" y="94773"/>
                  <a:pt x="122545" y="74059"/>
                  <a:pt x="148118" y="74059"/>
                </a:cubicBezTo>
                <a:cubicBezTo>
                  <a:pt x="173692" y="74059"/>
                  <a:pt x="194405" y="94773"/>
                  <a:pt x="194405" y="120346"/>
                </a:cubicBezTo>
                <a:cubicBezTo>
                  <a:pt x="194405" y="147656"/>
                  <a:pt x="173576" y="159227"/>
                  <a:pt x="162005" y="163451"/>
                </a:cubicBezTo>
                <a:lnTo>
                  <a:pt x="162005" y="165650"/>
                </a:lnTo>
                <a:cubicBezTo>
                  <a:pt x="162005" y="173345"/>
                  <a:pt x="155814" y="179536"/>
                  <a:pt x="148118" y="179536"/>
                </a:cubicBezTo>
                <a:cubicBezTo>
                  <a:pt x="140423" y="179536"/>
                  <a:pt x="134232" y="173345"/>
                  <a:pt x="134232" y="165650"/>
                </a:cubicBezTo>
                <a:lnTo>
                  <a:pt x="134232" y="160963"/>
                </a:lnTo>
                <a:cubicBezTo>
                  <a:pt x="134232" y="149102"/>
                  <a:pt x="142795" y="140597"/>
                  <a:pt x="151648" y="137704"/>
                </a:cubicBezTo>
                <a:cubicBezTo>
                  <a:pt x="155351" y="136489"/>
                  <a:pt x="159285" y="134522"/>
                  <a:pt x="162178" y="131744"/>
                </a:cubicBezTo>
                <a:cubicBezTo>
                  <a:pt x="164666" y="129314"/>
                  <a:pt x="166633" y="125959"/>
                  <a:pt x="166633" y="120404"/>
                </a:cubicBezTo>
                <a:cubicBezTo>
                  <a:pt x="166633" y="110163"/>
                  <a:pt x="158359" y="101889"/>
                  <a:pt x="148118" y="101889"/>
                </a:cubicBezTo>
                <a:close/>
                <a:moveTo>
                  <a:pt x="129604" y="212920"/>
                </a:moveTo>
                <a:cubicBezTo>
                  <a:pt x="129604" y="202702"/>
                  <a:pt x="137900" y="194405"/>
                  <a:pt x="148118" y="194405"/>
                </a:cubicBezTo>
                <a:cubicBezTo>
                  <a:pt x="158337" y="194405"/>
                  <a:pt x="166633" y="202702"/>
                  <a:pt x="166633" y="212920"/>
                </a:cubicBezTo>
                <a:cubicBezTo>
                  <a:pt x="166633" y="223139"/>
                  <a:pt x="158337" y="231435"/>
                  <a:pt x="148118" y="231435"/>
                </a:cubicBezTo>
                <a:cubicBezTo>
                  <a:pt x="137900" y="231435"/>
                  <a:pt x="129604" y="223139"/>
                  <a:pt x="129604" y="212920"/>
                </a:cubicBez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826794" y="2024285"/>
            <a:ext cx="8751332" cy="394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33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技术上可行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826794" y="2567386"/>
            <a:ext cx="8701959" cy="641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55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直接从ODS层计算ADS层报表</a:t>
            </a:r>
            <a:r>
              <a:rPr lang="en-US" sz="1555" dirty="0">
                <a:solidFill>
                  <a:srgbClr val="718096"/>
                </a:solidFill>
                <a:highlight>
                  <a:srgbClr val="718096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在技术上是可行的 </a:t>
            </a:r>
            <a:r>
              <a:rPr lang="en-US" sz="1555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,一条复杂的SQL就能完成所有清洗、关联、聚合操作。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18415" y="3752334"/>
            <a:ext cx="10207830" cy="1900853"/>
          </a:xfrm>
          <a:custGeom>
            <a:avLst/>
            <a:gdLst/>
            <a:ahLst/>
            <a:cxnLst/>
            <a:rect l="l" t="t" r="r" b="b"/>
            <a:pathLst>
              <a:path w="10207830" h="1900853">
                <a:moveTo>
                  <a:pt x="49373" y="0"/>
                </a:moveTo>
                <a:lnTo>
                  <a:pt x="10109081" y="0"/>
                </a:lnTo>
                <a:cubicBezTo>
                  <a:pt x="10163618" y="0"/>
                  <a:pt x="10207830" y="44212"/>
                  <a:pt x="10207830" y="98749"/>
                </a:cubicBezTo>
                <a:lnTo>
                  <a:pt x="10207830" y="1802104"/>
                </a:lnTo>
                <a:cubicBezTo>
                  <a:pt x="10207830" y="1856642"/>
                  <a:pt x="10163618" y="1900853"/>
                  <a:pt x="10109081" y="1900853"/>
                </a:cubicBezTo>
                <a:lnTo>
                  <a:pt x="49373" y="1900853"/>
                </a:lnTo>
                <a:cubicBezTo>
                  <a:pt x="22105" y="1900853"/>
                  <a:pt x="0" y="1878748"/>
                  <a:pt x="0" y="1851481"/>
                </a:cubicBezTo>
                <a:lnTo>
                  <a:pt x="0" y="49373"/>
                </a:lnTo>
                <a:cubicBezTo>
                  <a:pt x="0" y="22123"/>
                  <a:pt x="22123" y="0"/>
                  <a:pt x="49373" y="0"/>
                </a:cubicBezTo>
                <a:close/>
              </a:path>
            </a:pathLst>
          </a:custGeom>
          <a:solidFill>
            <a:srgbClr val="2D3748">
              <a:alpha val="4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518415" y="3752334"/>
            <a:ext cx="49373" cy="1900853"/>
          </a:xfrm>
          <a:custGeom>
            <a:avLst/>
            <a:gdLst/>
            <a:ahLst/>
            <a:cxnLst/>
            <a:rect l="l" t="t" r="r" b="b"/>
            <a:pathLst>
              <a:path w="49373" h="1900853">
                <a:moveTo>
                  <a:pt x="49373" y="0"/>
                </a:moveTo>
                <a:lnTo>
                  <a:pt x="49373" y="0"/>
                </a:lnTo>
                <a:lnTo>
                  <a:pt x="49373" y="1900853"/>
                </a:lnTo>
                <a:lnTo>
                  <a:pt x="49373" y="1900853"/>
                </a:lnTo>
                <a:cubicBezTo>
                  <a:pt x="22105" y="1900853"/>
                  <a:pt x="0" y="1878748"/>
                  <a:pt x="0" y="1851481"/>
                </a:cubicBezTo>
                <a:lnTo>
                  <a:pt x="0" y="49373"/>
                </a:lnTo>
                <a:cubicBezTo>
                  <a:pt x="0" y="22123"/>
                  <a:pt x="22123" y="0"/>
                  <a:pt x="49373" y="0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839338" y="4048571"/>
            <a:ext cx="789965" cy="789965"/>
          </a:xfrm>
          <a:custGeom>
            <a:avLst/>
            <a:gdLst/>
            <a:ahLst/>
            <a:cxnLst/>
            <a:rect l="l" t="t" r="r" b="b"/>
            <a:pathLst>
              <a:path w="789965" h="789965">
                <a:moveTo>
                  <a:pt x="49373" y="0"/>
                </a:moveTo>
                <a:lnTo>
                  <a:pt x="740592" y="0"/>
                </a:lnTo>
                <a:cubicBezTo>
                  <a:pt x="767860" y="0"/>
                  <a:pt x="789965" y="22105"/>
                  <a:pt x="789965" y="49373"/>
                </a:cubicBezTo>
                <a:lnTo>
                  <a:pt x="789965" y="740592"/>
                </a:lnTo>
                <a:cubicBezTo>
                  <a:pt x="789965" y="767860"/>
                  <a:pt x="767860" y="789965"/>
                  <a:pt x="740592" y="789965"/>
                </a:cubicBezTo>
                <a:lnTo>
                  <a:pt x="49373" y="789965"/>
                </a:lnTo>
                <a:cubicBezTo>
                  <a:pt x="22105" y="789965"/>
                  <a:pt x="0" y="767860"/>
                  <a:pt x="0" y="740592"/>
                </a:cubicBezTo>
                <a:lnTo>
                  <a:pt x="0" y="49373"/>
                </a:lnTo>
                <a:cubicBezTo>
                  <a:pt x="0" y="22123"/>
                  <a:pt x="22123" y="0"/>
                  <a:pt x="49373" y="0"/>
                </a:cubicBezTo>
                <a:close/>
              </a:path>
            </a:pathLst>
          </a:custGeom>
          <a:solidFill>
            <a:srgbClr val="D69E2E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1086202" y="4295435"/>
            <a:ext cx="296237" cy="296237"/>
          </a:xfrm>
          <a:custGeom>
            <a:avLst/>
            <a:gdLst/>
            <a:ahLst/>
            <a:cxnLst/>
            <a:rect l="l" t="t" r="r" b="b"/>
            <a:pathLst>
              <a:path w="296237" h="296237">
                <a:moveTo>
                  <a:pt x="148118" y="0"/>
                </a:moveTo>
                <a:cubicBezTo>
                  <a:pt x="156624" y="0"/>
                  <a:pt x="164435" y="4687"/>
                  <a:pt x="168485" y="12150"/>
                </a:cubicBezTo>
                <a:lnTo>
                  <a:pt x="293460" y="243585"/>
                </a:lnTo>
                <a:cubicBezTo>
                  <a:pt x="297336" y="250760"/>
                  <a:pt x="297163" y="259439"/>
                  <a:pt x="292997" y="266440"/>
                </a:cubicBezTo>
                <a:cubicBezTo>
                  <a:pt x="288831" y="273441"/>
                  <a:pt x="281251" y="277722"/>
                  <a:pt x="273093" y="277722"/>
                </a:cubicBezTo>
                <a:lnTo>
                  <a:pt x="23144" y="277722"/>
                </a:lnTo>
                <a:cubicBezTo>
                  <a:pt x="14985" y="277722"/>
                  <a:pt x="7464" y="273441"/>
                  <a:pt x="3240" y="266440"/>
                </a:cubicBezTo>
                <a:cubicBezTo>
                  <a:pt x="-984" y="259439"/>
                  <a:pt x="-1099" y="250760"/>
                  <a:pt x="2777" y="243585"/>
                </a:cubicBezTo>
                <a:lnTo>
                  <a:pt x="127752" y="12150"/>
                </a:lnTo>
                <a:cubicBezTo>
                  <a:pt x="131802" y="4687"/>
                  <a:pt x="139613" y="0"/>
                  <a:pt x="148118" y="0"/>
                </a:cubicBezTo>
                <a:close/>
                <a:moveTo>
                  <a:pt x="148118" y="97203"/>
                </a:moveTo>
                <a:cubicBezTo>
                  <a:pt x="140423" y="97203"/>
                  <a:pt x="134232" y="103394"/>
                  <a:pt x="134232" y="111089"/>
                </a:cubicBezTo>
                <a:lnTo>
                  <a:pt x="134232" y="175891"/>
                </a:lnTo>
                <a:cubicBezTo>
                  <a:pt x="134232" y="183586"/>
                  <a:pt x="140423" y="189777"/>
                  <a:pt x="148118" y="189777"/>
                </a:cubicBezTo>
                <a:cubicBezTo>
                  <a:pt x="155814" y="189777"/>
                  <a:pt x="162005" y="183586"/>
                  <a:pt x="162005" y="175891"/>
                </a:cubicBezTo>
                <a:lnTo>
                  <a:pt x="162005" y="111089"/>
                </a:lnTo>
                <a:cubicBezTo>
                  <a:pt x="162005" y="103394"/>
                  <a:pt x="155814" y="97203"/>
                  <a:pt x="148118" y="97203"/>
                </a:cubicBezTo>
                <a:close/>
                <a:moveTo>
                  <a:pt x="163567" y="222178"/>
                </a:moveTo>
                <a:cubicBezTo>
                  <a:pt x="163918" y="216443"/>
                  <a:pt x="161059" y="210988"/>
                  <a:pt x="156143" y="208014"/>
                </a:cubicBezTo>
                <a:cubicBezTo>
                  <a:pt x="151227" y="205041"/>
                  <a:pt x="145068" y="205041"/>
                  <a:pt x="140152" y="208014"/>
                </a:cubicBezTo>
                <a:cubicBezTo>
                  <a:pt x="135236" y="210988"/>
                  <a:pt x="132377" y="216443"/>
                  <a:pt x="132728" y="222178"/>
                </a:cubicBezTo>
                <a:cubicBezTo>
                  <a:pt x="132377" y="227912"/>
                  <a:pt x="135236" y="233368"/>
                  <a:pt x="140152" y="236341"/>
                </a:cubicBezTo>
                <a:cubicBezTo>
                  <a:pt x="145068" y="239314"/>
                  <a:pt x="151227" y="239314"/>
                  <a:pt x="156143" y="236341"/>
                </a:cubicBezTo>
                <a:cubicBezTo>
                  <a:pt x="161059" y="233368"/>
                  <a:pt x="163918" y="227912"/>
                  <a:pt x="163567" y="222178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1826794" y="4048571"/>
            <a:ext cx="8751332" cy="394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33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工程上不可持续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826794" y="4591672"/>
            <a:ext cx="8701959" cy="3209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55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但这种做法在工程上</a:t>
            </a:r>
            <a:r>
              <a:rPr lang="en-US" sz="1555" dirty="0">
                <a:solidFill>
                  <a:srgbClr val="D69E2E"/>
                </a:solidFill>
                <a:highlight>
                  <a:srgbClr val="D69E2E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不可持续 </a:t>
            </a:r>
            <a:r>
              <a:rPr lang="en-US" sz="1555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,会带来严重的维护成本和稳定性问题。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851481" y="5110087"/>
            <a:ext cx="197491" cy="197491"/>
          </a:xfrm>
          <a:custGeom>
            <a:avLst/>
            <a:gdLst/>
            <a:ahLst/>
            <a:cxnLst/>
            <a:rect l="l" t="t" r="r" b="b"/>
            <a:pathLst>
              <a:path w="197491" h="197491">
                <a:moveTo>
                  <a:pt x="98746" y="197491"/>
                </a:moveTo>
                <a:cubicBezTo>
                  <a:pt x="153245" y="197491"/>
                  <a:pt x="197491" y="153245"/>
                  <a:pt x="197491" y="98746"/>
                </a:cubicBezTo>
                <a:cubicBezTo>
                  <a:pt x="197491" y="44246"/>
                  <a:pt x="153245" y="0"/>
                  <a:pt x="98746" y="0"/>
                </a:cubicBezTo>
                <a:cubicBezTo>
                  <a:pt x="44246" y="0"/>
                  <a:pt x="0" y="44246"/>
                  <a:pt x="0" y="98746"/>
                </a:cubicBezTo>
                <a:cubicBezTo>
                  <a:pt x="0" y="153245"/>
                  <a:pt x="44246" y="197491"/>
                  <a:pt x="98746" y="197491"/>
                </a:cubicBezTo>
                <a:close/>
                <a:moveTo>
                  <a:pt x="131301" y="82044"/>
                </a:moveTo>
                <a:lnTo>
                  <a:pt x="100443" y="131417"/>
                </a:lnTo>
                <a:cubicBezTo>
                  <a:pt x="98823" y="134001"/>
                  <a:pt x="96046" y="135621"/>
                  <a:pt x="92998" y="135775"/>
                </a:cubicBezTo>
                <a:cubicBezTo>
                  <a:pt x="89951" y="135930"/>
                  <a:pt x="87020" y="134541"/>
                  <a:pt x="85207" y="132072"/>
                </a:cubicBezTo>
                <a:lnTo>
                  <a:pt x="66692" y="107386"/>
                </a:lnTo>
                <a:cubicBezTo>
                  <a:pt x="63606" y="103297"/>
                  <a:pt x="64455" y="97511"/>
                  <a:pt x="68543" y="94426"/>
                </a:cubicBezTo>
                <a:cubicBezTo>
                  <a:pt x="72632" y="91340"/>
                  <a:pt x="78418" y="92188"/>
                  <a:pt x="81504" y="96277"/>
                </a:cubicBezTo>
                <a:lnTo>
                  <a:pt x="91918" y="110163"/>
                </a:lnTo>
                <a:lnTo>
                  <a:pt x="115602" y="72246"/>
                </a:lnTo>
                <a:cubicBezTo>
                  <a:pt x="118302" y="67926"/>
                  <a:pt x="124011" y="66576"/>
                  <a:pt x="128369" y="69315"/>
                </a:cubicBezTo>
                <a:cubicBezTo>
                  <a:pt x="132728" y="72053"/>
                  <a:pt x="134039" y="77724"/>
                  <a:pt x="131301" y="82082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2172404" y="5060714"/>
            <a:ext cx="3456097" cy="296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5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分层架构的核心价值在于工程可持续性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93728" y="5900052"/>
            <a:ext cx="10232516" cy="2592073"/>
          </a:xfrm>
          <a:custGeom>
            <a:avLst/>
            <a:gdLst/>
            <a:ahLst/>
            <a:cxnLst/>
            <a:rect l="l" t="t" r="r" b="b"/>
            <a:pathLst>
              <a:path w="10232516" h="2592073">
                <a:moveTo>
                  <a:pt x="98758" y="0"/>
                </a:moveTo>
                <a:lnTo>
                  <a:pt x="10133758" y="0"/>
                </a:lnTo>
                <a:cubicBezTo>
                  <a:pt x="10188301" y="0"/>
                  <a:pt x="10232516" y="44215"/>
                  <a:pt x="10232516" y="98758"/>
                </a:cubicBezTo>
                <a:lnTo>
                  <a:pt x="10232516" y="2493315"/>
                </a:lnTo>
                <a:cubicBezTo>
                  <a:pt x="10232516" y="2547857"/>
                  <a:pt x="10188301" y="2592073"/>
                  <a:pt x="10133758" y="2592073"/>
                </a:cubicBezTo>
                <a:lnTo>
                  <a:pt x="98758" y="2592073"/>
                </a:lnTo>
                <a:cubicBezTo>
                  <a:pt x="44215" y="2592073"/>
                  <a:pt x="0" y="2547857"/>
                  <a:pt x="0" y="2493315"/>
                </a:cubicBezTo>
                <a:lnTo>
                  <a:pt x="0" y="98758"/>
                </a:lnTo>
                <a:cubicBezTo>
                  <a:pt x="0" y="44252"/>
                  <a:pt x="44252" y="0"/>
                  <a:pt x="98758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771450" y="6196289"/>
            <a:ext cx="246864" cy="246864"/>
          </a:xfrm>
          <a:custGeom>
            <a:avLst/>
            <a:gdLst/>
            <a:ahLst/>
            <a:cxnLst/>
            <a:rect l="l" t="t" r="r" b="b"/>
            <a:pathLst>
              <a:path w="246864" h="246864">
                <a:moveTo>
                  <a:pt x="123432" y="0"/>
                </a:moveTo>
                <a:cubicBezTo>
                  <a:pt x="125650" y="0"/>
                  <a:pt x="127868" y="482"/>
                  <a:pt x="129893" y="1398"/>
                </a:cubicBezTo>
                <a:lnTo>
                  <a:pt x="220731" y="39923"/>
                </a:lnTo>
                <a:cubicBezTo>
                  <a:pt x="231339" y="44407"/>
                  <a:pt x="239246" y="54869"/>
                  <a:pt x="239198" y="67502"/>
                </a:cubicBezTo>
                <a:cubicBezTo>
                  <a:pt x="238957" y="115332"/>
                  <a:pt x="219285" y="202843"/>
                  <a:pt x="136209" y="242621"/>
                </a:cubicBezTo>
                <a:cubicBezTo>
                  <a:pt x="128157" y="246478"/>
                  <a:pt x="118803" y="246478"/>
                  <a:pt x="110751" y="242621"/>
                </a:cubicBezTo>
                <a:cubicBezTo>
                  <a:pt x="27628" y="202843"/>
                  <a:pt x="8004" y="115332"/>
                  <a:pt x="7763" y="67502"/>
                </a:cubicBezTo>
                <a:cubicBezTo>
                  <a:pt x="7715" y="54869"/>
                  <a:pt x="15622" y="44407"/>
                  <a:pt x="26229" y="39923"/>
                </a:cubicBezTo>
                <a:lnTo>
                  <a:pt x="117019" y="1398"/>
                </a:lnTo>
                <a:cubicBezTo>
                  <a:pt x="119044" y="482"/>
                  <a:pt x="121214" y="0"/>
                  <a:pt x="123432" y="0"/>
                </a:cubicBezTo>
                <a:close/>
                <a:moveTo>
                  <a:pt x="123432" y="32208"/>
                </a:moveTo>
                <a:lnTo>
                  <a:pt x="123432" y="214511"/>
                </a:lnTo>
                <a:cubicBezTo>
                  <a:pt x="189970" y="182303"/>
                  <a:pt x="207858" y="110944"/>
                  <a:pt x="208292" y="68225"/>
                </a:cubicBezTo>
                <a:lnTo>
                  <a:pt x="123432" y="32256"/>
                </a:lnTo>
                <a:lnTo>
                  <a:pt x="123432" y="32256"/>
                </a:ln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1049172" y="6146916"/>
            <a:ext cx="9553640" cy="34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44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中间层的屏蔽效应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40592" y="6690017"/>
            <a:ext cx="9837534" cy="3209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55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如果业务系统逻辑发生变更(例如"成功"的状态码从1变为2),采用分层架构的优势: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40592" y="7159058"/>
            <a:ext cx="4776820" cy="1086202"/>
          </a:xfrm>
          <a:custGeom>
            <a:avLst/>
            <a:gdLst/>
            <a:ahLst/>
            <a:cxnLst/>
            <a:rect l="l" t="t" r="r" b="b"/>
            <a:pathLst>
              <a:path w="4776820" h="1086202">
                <a:moveTo>
                  <a:pt x="49368" y="0"/>
                </a:moveTo>
                <a:lnTo>
                  <a:pt x="4727452" y="0"/>
                </a:lnTo>
                <a:cubicBezTo>
                  <a:pt x="4754717" y="0"/>
                  <a:pt x="4776820" y="22103"/>
                  <a:pt x="4776820" y="49368"/>
                </a:cubicBezTo>
                <a:lnTo>
                  <a:pt x="4776820" y="1036834"/>
                </a:lnTo>
                <a:cubicBezTo>
                  <a:pt x="4776820" y="1064099"/>
                  <a:pt x="4754717" y="1086202"/>
                  <a:pt x="4727452" y="1086202"/>
                </a:cubicBezTo>
                <a:lnTo>
                  <a:pt x="49368" y="1086202"/>
                </a:lnTo>
                <a:cubicBezTo>
                  <a:pt x="22103" y="1086202"/>
                  <a:pt x="0" y="1064099"/>
                  <a:pt x="0" y="1036834"/>
                </a:cubicBezTo>
                <a:lnTo>
                  <a:pt x="0" y="49368"/>
                </a:lnTo>
                <a:cubicBezTo>
                  <a:pt x="0" y="22103"/>
                  <a:pt x="22103" y="0"/>
                  <a:pt x="49368" y="0"/>
                </a:cubicBezTo>
                <a:close/>
              </a:path>
            </a:pathLst>
          </a:custGeom>
          <a:solidFill>
            <a:srgbClr val="2D3748">
              <a:alpha val="8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938084" y="7356550"/>
            <a:ext cx="4480583" cy="296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5" b="1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无分层架构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38084" y="7751532"/>
            <a:ext cx="4480583" cy="296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5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需要修改下游</a:t>
            </a:r>
            <a:r>
              <a:rPr lang="en-US" sz="1555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数百个</a:t>
            </a:r>
            <a:r>
              <a:rPr lang="en-US" sz="1555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报表SQL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710757" y="7159058"/>
            <a:ext cx="4776820" cy="1086202"/>
          </a:xfrm>
          <a:custGeom>
            <a:avLst/>
            <a:gdLst/>
            <a:ahLst/>
            <a:cxnLst/>
            <a:rect l="l" t="t" r="r" b="b"/>
            <a:pathLst>
              <a:path w="4776820" h="1086202">
                <a:moveTo>
                  <a:pt x="49368" y="0"/>
                </a:moveTo>
                <a:lnTo>
                  <a:pt x="4727452" y="0"/>
                </a:lnTo>
                <a:cubicBezTo>
                  <a:pt x="4754717" y="0"/>
                  <a:pt x="4776820" y="22103"/>
                  <a:pt x="4776820" y="49368"/>
                </a:cubicBezTo>
                <a:lnTo>
                  <a:pt x="4776820" y="1036834"/>
                </a:lnTo>
                <a:cubicBezTo>
                  <a:pt x="4776820" y="1064099"/>
                  <a:pt x="4754717" y="1086202"/>
                  <a:pt x="4727452" y="1086202"/>
                </a:cubicBezTo>
                <a:lnTo>
                  <a:pt x="49368" y="1086202"/>
                </a:lnTo>
                <a:cubicBezTo>
                  <a:pt x="22103" y="1086202"/>
                  <a:pt x="0" y="1064099"/>
                  <a:pt x="0" y="1036834"/>
                </a:cubicBezTo>
                <a:lnTo>
                  <a:pt x="0" y="49368"/>
                </a:lnTo>
                <a:cubicBezTo>
                  <a:pt x="0" y="22103"/>
                  <a:pt x="22103" y="0"/>
                  <a:pt x="49368" y="0"/>
                </a:cubicBezTo>
                <a:close/>
              </a:path>
            </a:pathLst>
          </a:custGeom>
          <a:solidFill>
            <a:srgbClr val="2D3748">
              <a:alpha val="8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5908248" y="7356550"/>
            <a:ext cx="4480583" cy="296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5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分层架构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908248" y="7751532"/>
            <a:ext cx="4480583" cy="296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5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仅需修改DWD层</a:t>
            </a:r>
            <a:r>
              <a:rPr lang="en-US" sz="1555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一处</a:t>
            </a:r>
            <a:r>
              <a:rPr lang="en-US" sz="1555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映射逻辑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1026532" y="1728049"/>
            <a:ext cx="4739790" cy="7418266"/>
          </a:xfrm>
          <a:custGeom>
            <a:avLst/>
            <a:gdLst/>
            <a:ahLst/>
            <a:cxnLst/>
            <a:rect l="l" t="t" r="r" b="b"/>
            <a:pathLst>
              <a:path w="4739790" h="7418266">
                <a:moveTo>
                  <a:pt x="98730" y="0"/>
                </a:moveTo>
                <a:lnTo>
                  <a:pt x="4641061" y="0"/>
                </a:lnTo>
                <a:cubicBezTo>
                  <a:pt x="4695588" y="0"/>
                  <a:pt x="4739790" y="44203"/>
                  <a:pt x="4739790" y="98730"/>
                </a:cubicBezTo>
                <a:lnTo>
                  <a:pt x="4739790" y="7319536"/>
                </a:lnTo>
                <a:cubicBezTo>
                  <a:pt x="4739790" y="7374063"/>
                  <a:pt x="4695588" y="7418266"/>
                  <a:pt x="4641061" y="7418266"/>
                </a:cubicBezTo>
                <a:lnTo>
                  <a:pt x="98730" y="7418266"/>
                </a:lnTo>
                <a:cubicBezTo>
                  <a:pt x="44203" y="7418266"/>
                  <a:pt x="0" y="7374063"/>
                  <a:pt x="0" y="7319536"/>
                </a:cubicBezTo>
                <a:lnTo>
                  <a:pt x="0" y="98730"/>
                </a:lnTo>
                <a:cubicBezTo>
                  <a:pt x="0" y="44203"/>
                  <a:pt x="44203" y="0"/>
                  <a:pt x="98730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11359798" y="2073658"/>
            <a:ext cx="296237" cy="296237"/>
          </a:xfrm>
          <a:custGeom>
            <a:avLst/>
            <a:gdLst/>
            <a:ahLst/>
            <a:cxnLst/>
            <a:rect l="l" t="t" r="r" b="b"/>
            <a:pathLst>
              <a:path w="296237" h="296237">
                <a:moveTo>
                  <a:pt x="134522" y="3009"/>
                </a:moveTo>
                <a:cubicBezTo>
                  <a:pt x="143143" y="-984"/>
                  <a:pt x="153094" y="-984"/>
                  <a:pt x="161715" y="3009"/>
                </a:cubicBezTo>
                <a:lnTo>
                  <a:pt x="288195" y="61446"/>
                </a:lnTo>
                <a:cubicBezTo>
                  <a:pt x="293113" y="63703"/>
                  <a:pt x="296237" y="68621"/>
                  <a:pt x="296237" y="74059"/>
                </a:cubicBezTo>
                <a:cubicBezTo>
                  <a:pt x="296237" y="79498"/>
                  <a:pt x="293113" y="84416"/>
                  <a:pt x="288195" y="86672"/>
                </a:cubicBezTo>
                <a:lnTo>
                  <a:pt x="161715" y="145110"/>
                </a:lnTo>
                <a:cubicBezTo>
                  <a:pt x="153094" y="149102"/>
                  <a:pt x="143143" y="149102"/>
                  <a:pt x="134522" y="145110"/>
                </a:cubicBezTo>
                <a:lnTo>
                  <a:pt x="8042" y="86672"/>
                </a:lnTo>
                <a:cubicBezTo>
                  <a:pt x="3124" y="84358"/>
                  <a:pt x="0" y="79440"/>
                  <a:pt x="0" y="74059"/>
                </a:cubicBezTo>
                <a:cubicBezTo>
                  <a:pt x="0" y="68678"/>
                  <a:pt x="3124" y="63703"/>
                  <a:pt x="8042" y="61446"/>
                </a:cubicBezTo>
                <a:lnTo>
                  <a:pt x="134522" y="3009"/>
                </a:lnTo>
                <a:close/>
                <a:moveTo>
                  <a:pt x="27830" y="126364"/>
                </a:moveTo>
                <a:lnTo>
                  <a:pt x="122892" y="170278"/>
                </a:lnTo>
                <a:cubicBezTo>
                  <a:pt x="138919" y="177684"/>
                  <a:pt x="157376" y="177684"/>
                  <a:pt x="173403" y="170278"/>
                </a:cubicBezTo>
                <a:lnTo>
                  <a:pt x="268465" y="126364"/>
                </a:lnTo>
                <a:lnTo>
                  <a:pt x="288195" y="135505"/>
                </a:lnTo>
                <a:cubicBezTo>
                  <a:pt x="293113" y="137762"/>
                  <a:pt x="296237" y="142680"/>
                  <a:pt x="296237" y="148118"/>
                </a:cubicBezTo>
                <a:cubicBezTo>
                  <a:pt x="296237" y="153557"/>
                  <a:pt x="293113" y="158475"/>
                  <a:pt x="288195" y="160732"/>
                </a:cubicBezTo>
                <a:lnTo>
                  <a:pt x="161715" y="219169"/>
                </a:lnTo>
                <a:cubicBezTo>
                  <a:pt x="153094" y="223161"/>
                  <a:pt x="143143" y="223161"/>
                  <a:pt x="134522" y="219169"/>
                </a:cubicBezTo>
                <a:lnTo>
                  <a:pt x="8042" y="160732"/>
                </a:lnTo>
                <a:cubicBezTo>
                  <a:pt x="3124" y="158417"/>
                  <a:pt x="0" y="153499"/>
                  <a:pt x="0" y="148118"/>
                </a:cubicBezTo>
                <a:cubicBezTo>
                  <a:pt x="0" y="142738"/>
                  <a:pt x="3124" y="137762"/>
                  <a:pt x="8042" y="135505"/>
                </a:cubicBezTo>
                <a:lnTo>
                  <a:pt x="27772" y="126364"/>
                </a:lnTo>
                <a:close/>
                <a:moveTo>
                  <a:pt x="8042" y="209564"/>
                </a:moveTo>
                <a:lnTo>
                  <a:pt x="27772" y="200423"/>
                </a:lnTo>
                <a:lnTo>
                  <a:pt x="122834" y="244338"/>
                </a:lnTo>
                <a:cubicBezTo>
                  <a:pt x="138861" y="251744"/>
                  <a:pt x="157318" y="251744"/>
                  <a:pt x="173345" y="244338"/>
                </a:cubicBezTo>
                <a:lnTo>
                  <a:pt x="268407" y="200423"/>
                </a:lnTo>
                <a:lnTo>
                  <a:pt x="288137" y="209564"/>
                </a:lnTo>
                <a:cubicBezTo>
                  <a:pt x="293055" y="211821"/>
                  <a:pt x="296179" y="216739"/>
                  <a:pt x="296179" y="222178"/>
                </a:cubicBezTo>
                <a:cubicBezTo>
                  <a:pt x="296179" y="227616"/>
                  <a:pt x="293055" y="232534"/>
                  <a:pt x="288137" y="234791"/>
                </a:cubicBezTo>
                <a:lnTo>
                  <a:pt x="161657" y="293228"/>
                </a:lnTo>
                <a:cubicBezTo>
                  <a:pt x="153036" y="297221"/>
                  <a:pt x="143085" y="297221"/>
                  <a:pt x="134464" y="293228"/>
                </a:cubicBezTo>
                <a:lnTo>
                  <a:pt x="8042" y="234791"/>
                </a:lnTo>
                <a:cubicBezTo>
                  <a:pt x="3124" y="232477"/>
                  <a:pt x="0" y="227559"/>
                  <a:pt x="0" y="222178"/>
                </a:cubicBezTo>
                <a:cubicBezTo>
                  <a:pt x="0" y="216797"/>
                  <a:pt x="3124" y="211821"/>
                  <a:pt x="8042" y="209564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11693065" y="2024285"/>
            <a:ext cx="3925139" cy="394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33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分层优势对比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1322768" y="2666132"/>
            <a:ext cx="4147317" cy="1629303"/>
          </a:xfrm>
          <a:custGeom>
            <a:avLst/>
            <a:gdLst/>
            <a:ahLst/>
            <a:cxnLst/>
            <a:rect l="l" t="t" r="r" b="b"/>
            <a:pathLst>
              <a:path w="4147317" h="1629303">
                <a:moveTo>
                  <a:pt x="98752" y="0"/>
                </a:moveTo>
                <a:lnTo>
                  <a:pt x="4048565" y="0"/>
                </a:lnTo>
                <a:cubicBezTo>
                  <a:pt x="4103104" y="0"/>
                  <a:pt x="4147317" y="44213"/>
                  <a:pt x="4147317" y="98752"/>
                </a:cubicBezTo>
                <a:lnTo>
                  <a:pt x="4147317" y="1530551"/>
                </a:lnTo>
                <a:cubicBezTo>
                  <a:pt x="4147317" y="1585090"/>
                  <a:pt x="4103104" y="1629303"/>
                  <a:pt x="4048565" y="1629303"/>
                </a:cubicBezTo>
                <a:lnTo>
                  <a:pt x="98752" y="1629303"/>
                </a:lnTo>
                <a:cubicBezTo>
                  <a:pt x="44213" y="1629303"/>
                  <a:pt x="0" y="1585090"/>
                  <a:pt x="0" y="1530551"/>
                </a:cubicBezTo>
                <a:lnTo>
                  <a:pt x="0" y="98752"/>
                </a:lnTo>
                <a:cubicBezTo>
                  <a:pt x="0" y="44213"/>
                  <a:pt x="44213" y="0"/>
                  <a:pt x="98752" y="0"/>
                </a:cubicBezTo>
                <a:close/>
              </a:path>
            </a:pathLst>
          </a:custGeom>
          <a:solidFill>
            <a:srgbClr val="2D3748">
              <a:alpha val="8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11520260" y="2863623"/>
            <a:ext cx="493728" cy="493728"/>
          </a:xfrm>
          <a:custGeom>
            <a:avLst/>
            <a:gdLst/>
            <a:ahLst/>
            <a:cxnLst/>
            <a:rect l="l" t="t" r="r" b="b"/>
            <a:pathLst>
              <a:path w="493728" h="493728">
                <a:moveTo>
                  <a:pt x="246864" y="0"/>
                </a:moveTo>
                <a:lnTo>
                  <a:pt x="246864" y="0"/>
                </a:lnTo>
                <a:cubicBezTo>
                  <a:pt x="383112" y="0"/>
                  <a:pt x="493728" y="110616"/>
                  <a:pt x="493728" y="246864"/>
                </a:cubicBezTo>
                <a:lnTo>
                  <a:pt x="493728" y="246864"/>
                </a:lnTo>
                <a:cubicBezTo>
                  <a:pt x="493728" y="383112"/>
                  <a:pt x="383112" y="493728"/>
                  <a:pt x="246864" y="493728"/>
                </a:cubicBezTo>
                <a:lnTo>
                  <a:pt x="246864" y="493728"/>
                </a:lnTo>
                <a:cubicBezTo>
                  <a:pt x="110616" y="493728"/>
                  <a:pt x="0" y="383112"/>
                  <a:pt x="0" y="246864"/>
                </a:cubicBezTo>
                <a:lnTo>
                  <a:pt x="0" y="246864"/>
                </a:lnTo>
                <a:cubicBezTo>
                  <a:pt x="0" y="110616"/>
                  <a:pt x="110616" y="0"/>
                  <a:pt x="246864" y="0"/>
                </a:cubicBezTo>
                <a:close/>
              </a:path>
            </a:pathLst>
          </a:custGeom>
          <a:solidFill>
            <a:srgbClr val="D69E2E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11656035" y="3011742"/>
            <a:ext cx="222178" cy="197491"/>
          </a:xfrm>
          <a:custGeom>
            <a:avLst/>
            <a:gdLst/>
            <a:ahLst/>
            <a:cxnLst/>
            <a:rect l="l" t="t" r="r" b="b"/>
            <a:pathLst>
              <a:path w="222178" h="197491">
                <a:moveTo>
                  <a:pt x="86441" y="37454"/>
                </a:moveTo>
                <a:lnTo>
                  <a:pt x="86441" y="56586"/>
                </a:lnTo>
                <a:lnTo>
                  <a:pt x="86634" y="56779"/>
                </a:lnTo>
                <a:cubicBezTo>
                  <a:pt x="89141" y="24995"/>
                  <a:pt x="115718" y="0"/>
                  <a:pt x="148157" y="0"/>
                </a:cubicBezTo>
                <a:cubicBezTo>
                  <a:pt x="155910" y="0"/>
                  <a:pt x="163355" y="1427"/>
                  <a:pt x="170182" y="4050"/>
                </a:cubicBezTo>
                <a:cubicBezTo>
                  <a:pt x="174039" y="5516"/>
                  <a:pt x="174733" y="10415"/>
                  <a:pt x="171841" y="13346"/>
                </a:cubicBezTo>
                <a:lnTo>
                  <a:pt x="137627" y="47560"/>
                </a:lnTo>
                <a:cubicBezTo>
                  <a:pt x="136470" y="48717"/>
                  <a:pt x="135814" y="50299"/>
                  <a:pt x="135814" y="51919"/>
                </a:cubicBezTo>
                <a:lnTo>
                  <a:pt x="135814" y="67888"/>
                </a:lnTo>
                <a:cubicBezTo>
                  <a:pt x="135814" y="71282"/>
                  <a:pt x="138591" y="74059"/>
                  <a:pt x="141985" y="74059"/>
                </a:cubicBezTo>
                <a:lnTo>
                  <a:pt x="157954" y="74059"/>
                </a:lnTo>
                <a:cubicBezTo>
                  <a:pt x="159574" y="74059"/>
                  <a:pt x="161156" y="73403"/>
                  <a:pt x="162313" y="72246"/>
                </a:cubicBezTo>
                <a:lnTo>
                  <a:pt x="196527" y="38032"/>
                </a:lnTo>
                <a:cubicBezTo>
                  <a:pt x="199458" y="35101"/>
                  <a:pt x="204357" y="35834"/>
                  <a:pt x="205823" y="39691"/>
                </a:cubicBezTo>
                <a:cubicBezTo>
                  <a:pt x="208446" y="46518"/>
                  <a:pt x="209873" y="53963"/>
                  <a:pt x="209873" y="61716"/>
                </a:cubicBezTo>
                <a:cubicBezTo>
                  <a:pt x="209873" y="85091"/>
                  <a:pt x="196874" y="105457"/>
                  <a:pt x="177665" y="115910"/>
                </a:cubicBezTo>
                <a:lnTo>
                  <a:pt x="209102" y="147347"/>
                </a:lnTo>
                <a:cubicBezTo>
                  <a:pt x="216315" y="154560"/>
                  <a:pt x="216315" y="166286"/>
                  <a:pt x="209102" y="173538"/>
                </a:cubicBezTo>
                <a:lnTo>
                  <a:pt x="185920" y="196720"/>
                </a:lnTo>
                <a:cubicBezTo>
                  <a:pt x="178706" y="203933"/>
                  <a:pt x="166980" y="203933"/>
                  <a:pt x="159729" y="196720"/>
                </a:cubicBezTo>
                <a:lnTo>
                  <a:pt x="111127" y="148118"/>
                </a:lnTo>
                <a:cubicBezTo>
                  <a:pt x="100559" y="137550"/>
                  <a:pt x="98167" y="121928"/>
                  <a:pt x="103991" y="109044"/>
                </a:cubicBezTo>
                <a:lnTo>
                  <a:pt x="69006" y="74059"/>
                </a:lnTo>
                <a:lnTo>
                  <a:pt x="49874" y="74059"/>
                </a:lnTo>
                <a:cubicBezTo>
                  <a:pt x="45747" y="74059"/>
                  <a:pt x="41890" y="72015"/>
                  <a:pt x="39614" y="68582"/>
                </a:cubicBezTo>
                <a:lnTo>
                  <a:pt x="9026" y="22719"/>
                </a:lnTo>
                <a:cubicBezTo>
                  <a:pt x="7406" y="20289"/>
                  <a:pt x="7715" y="17010"/>
                  <a:pt x="9797" y="14928"/>
                </a:cubicBezTo>
                <a:lnTo>
                  <a:pt x="27309" y="-2584"/>
                </a:lnTo>
                <a:cubicBezTo>
                  <a:pt x="29392" y="-4667"/>
                  <a:pt x="32632" y="-4976"/>
                  <a:pt x="35101" y="-3356"/>
                </a:cubicBezTo>
                <a:lnTo>
                  <a:pt x="80964" y="27194"/>
                </a:lnTo>
                <a:cubicBezTo>
                  <a:pt x="84397" y="29469"/>
                  <a:pt x="86441" y="33327"/>
                  <a:pt x="86441" y="37454"/>
                </a:cubicBezTo>
                <a:close/>
                <a:moveTo>
                  <a:pt x="83162" y="114406"/>
                </a:moveTo>
                <a:cubicBezTo>
                  <a:pt x="80732" y="128678"/>
                  <a:pt x="84088" y="143760"/>
                  <a:pt x="93345" y="155833"/>
                </a:cubicBezTo>
                <a:lnTo>
                  <a:pt x="56702" y="192438"/>
                </a:lnTo>
                <a:cubicBezTo>
                  <a:pt x="45863" y="203277"/>
                  <a:pt x="28274" y="203277"/>
                  <a:pt x="17435" y="192438"/>
                </a:cubicBezTo>
                <a:cubicBezTo>
                  <a:pt x="6596" y="181599"/>
                  <a:pt x="6596" y="164010"/>
                  <a:pt x="17435" y="153171"/>
                </a:cubicBezTo>
                <a:lnTo>
                  <a:pt x="69662" y="100944"/>
                </a:lnTo>
                <a:lnTo>
                  <a:pt x="83162" y="114445"/>
                </a:ln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12162106" y="2937683"/>
            <a:ext cx="999800" cy="34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49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维护成本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1520260" y="3456097"/>
            <a:ext cx="3851080" cy="641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55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分层架构大幅降低变更维护成本,提升系统稳定性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1322768" y="4492926"/>
            <a:ext cx="4147317" cy="1308380"/>
          </a:xfrm>
          <a:custGeom>
            <a:avLst/>
            <a:gdLst/>
            <a:ahLst/>
            <a:cxnLst/>
            <a:rect l="l" t="t" r="r" b="b"/>
            <a:pathLst>
              <a:path w="4147317" h="1308380">
                <a:moveTo>
                  <a:pt x="98743" y="0"/>
                </a:moveTo>
                <a:lnTo>
                  <a:pt x="4048573" y="0"/>
                </a:lnTo>
                <a:cubicBezTo>
                  <a:pt x="4103108" y="0"/>
                  <a:pt x="4147317" y="44209"/>
                  <a:pt x="4147317" y="98743"/>
                </a:cubicBezTo>
                <a:lnTo>
                  <a:pt x="4147317" y="1209636"/>
                </a:lnTo>
                <a:cubicBezTo>
                  <a:pt x="4147317" y="1264171"/>
                  <a:pt x="4103108" y="1308380"/>
                  <a:pt x="4048573" y="1308380"/>
                </a:cubicBezTo>
                <a:lnTo>
                  <a:pt x="98743" y="1308380"/>
                </a:lnTo>
                <a:cubicBezTo>
                  <a:pt x="44209" y="1308380"/>
                  <a:pt x="0" y="1264171"/>
                  <a:pt x="0" y="1209636"/>
                </a:cubicBezTo>
                <a:lnTo>
                  <a:pt x="0" y="98743"/>
                </a:lnTo>
                <a:cubicBezTo>
                  <a:pt x="0" y="44245"/>
                  <a:pt x="44245" y="0"/>
                  <a:pt x="98743" y="0"/>
                </a:cubicBezTo>
                <a:close/>
              </a:path>
            </a:pathLst>
          </a:custGeom>
          <a:solidFill>
            <a:srgbClr val="2D3748">
              <a:alpha val="8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11520260" y="4690418"/>
            <a:ext cx="493728" cy="493728"/>
          </a:xfrm>
          <a:custGeom>
            <a:avLst/>
            <a:gdLst/>
            <a:ahLst/>
            <a:cxnLst/>
            <a:rect l="l" t="t" r="r" b="b"/>
            <a:pathLst>
              <a:path w="493728" h="493728">
                <a:moveTo>
                  <a:pt x="246864" y="0"/>
                </a:moveTo>
                <a:lnTo>
                  <a:pt x="246864" y="0"/>
                </a:lnTo>
                <a:cubicBezTo>
                  <a:pt x="383112" y="0"/>
                  <a:pt x="493728" y="110616"/>
                  <a:pt x="493728" y="246864"/>
                </a:cubicBezTo>
                <a:lnTo>
                  <a:pt x="493728" y="246864"/>
                </a:lnTo>
                <a:cubicBezTo>
                  <a:pt x="493728" y="383112"/>
                  <a:pt x="383112" y="493728"/>
                  <a:pt x="246864" y="493728"/>
                </a:cubicBezTo>
                <a:lnTo>
                  <a:pt x="246864" y="493728"/>
                </a:lnTo>
                <a:cubicBezTo>
                  <a:pt x="110616" y="493728"/>
                  <a:pt x="0" y="383112"/>
                  <a:pt x="0" y="246864"/>
                </a:cubicBezTo>
                <a:lnTo>
                  <a:pt x="0" y="246864"/>
                </a:lnTo>
                <a:cubicBezTo>
                  <a:pt x="0" y="110616"/>
                  <a:pt x="110616" y="0"/>
                  <a:pt x="246864" y="0"/>
                </a:cubicBezTo>
                <a:close/>
              </a:path>
            </a:pathLst>
          </a:custGeom>
          <a:solidFill>
            <a:srgbClr val="D69E2E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11668378" y="4838536"/>
            <a:ext cx="197491" cy="197491"/>
          </a:xfrm>
          <a:custGeom>
            <a:avLst/>
            <a:gdLst/>
            <a:ahLst/>
            <a:cxnLst/>
            <a:rect l="l" t="t" r="r" b="b"/>
            <a:pathLst>
              <a:path w="197491" h="197491">
                <a:moveTo>
                  <a:pt x="98746" y="0"/>
                </a:moveTo>
                <a:cubicBezTo>
                  <a:pt x="153245" y="0"/>
                  <a:pt x="197491" y="44246"/>
                  <a:pt x="197491" y="98746"/>
                </a:cubicBezTo>
                <a:cubicBezTo>
                  <a:pt x="197491" y="153245"/>
                  <a:pt x="153245" y="197491"/>
                  <a:pt x="98746" y="197491"/>
                </a:cubicBezTo>
                <a:cubicBezTo>
                  <a:pt x="44246" y="197491"/>
                  <a:pt x="0" y="153245"/>
                  <a:pt x="0" y="98746"/>
                </a:cubicBezTo>
                <a:cubicBezTo>
                  <a:pt x="0" y="44246"/>
                  <a:pt x="44246" y="0"/>
                  <a:pt x="98746" y="0"/>
                </a:cubicBezTo>
                <a:close/>
                <a:moveTo>
                  <a:pt x="89488" y="46287"/>
                </a:moveTo>
                <a:lnTo>
                  <a:pt x="89488" y="98746"/>
                </a:lnTo>
                <a:cubicBezTo>
                  <a:pt x="89488" y="101831"/>
                  <a:pt x="91031" y="104724"/>
                  <a:pt x="93615" y="106460"/>
                </a:cubicBezTo>
                <a:lnTo>
                  <a:pt x="130645" y="131147"/>
                </a:lnTo>
                <a:cubicBezTo>
                  <a:pt x="134888" y="134001"/>
                  <a:pt x="140635" y="132844"/>
                  <a:pt x="143490" y="128562"/>
                </a:cubicBezTo>
                <a:cubicBezTo>
                  <a:pt x="146344" y="124281"/>
                  <a:pt x="145187" y="118572"/>
                  <a:pt x="140905" y="115718"/>
                </a:cubicBezTo>
                <a:lnTo>
                  <a:pt x="108003" y="93808"/>
                </a:lnTo>
                <a:lnTo>
                  <a:pt x="108003" y="46287"/>
                </a:lnTo>
                <a:cubicBezTo>
                  <a:pt x="108003" y="41157"/>
                  <a:pt x="103876" y="37030"/>
                  <a:pt x="98746" y="37030"/>
                </a:cubicBezTo>
                <a:cubicBezTo>
                  <a:pt x="93615" y="37030"/>
                  <a:pt x="89488" y="41157"/>
                  <a:pt x="89488" y="46287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12162106" y="4764477"/>
            <a:ext cx="999800" cy="34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49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响应速度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1520260" y="5282891"/>
            <a:ext cx="3851080" cy="3209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55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中间层缓冲变更影响,下游系统自动适配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1322768" y="5998797"/>
            <a:ext cx="4147317" cy="1308380"/>
          </a:xfrm>
          <a:custGeom>
            <a:avLst/>
            <a:gdLst/>
            <a:ahLst/>
            <a:cxnLst/>
            <a:rect l="l" t="t" r="r" b="b"/>
            <a:pathLst>
              <a:path w="4147317" h="1308380">
                <a:moveTo>
                  <a:pt x="98743" y="0"/>
                </a:moveTo>
                <a:lnTo>
                  <a:pt x="4048573" y="0"/>
                </a:lnTo>
                <a:cubicBezTo>
                  <a:pt x="4103108" y="0"/>
                  <a:pt x="4147317" y="44209"/>
                  <a:pt x="4147317" y="98743"/>
                </a:cubicBezTo>
                <a:lnTo>
                  <a:pt x="4147317" y="1209636"/>
                </a:lnTo>
                <a:cubicBezTo>
                  <a:pt x="4147317" y="1264171"/>
                  <a:pt x="4103108" y="1308380"/>
                  <a:pt x="4048573" y="1308380"/>
                </a:cubicBezTo>
                <a:lnTo>
                  <a:pt x="98743" y="1308380"/>
                </a:lnTo>
                <a:cubicBezTo>
                  <a:pt x="44209" y="1308380"/>
                  <a:pt x="0" y="1264171"/>
                  <a:pt x="0" y="1209636"/>
                </a:cubicBezTo>
                <a:lnTo>
                  <a:pt x="0" y="98743"/>
                </a:lnTo>
                <a:cubicBezTo>
                  <a:pt x="0" y="44245"/>
                  <a:pt x="44245" y="0"/>
                  <a:pt x="98743" y="0"/>
                </a:cubicBezTo>
                <a:close/>
              </a:path>
            </a:pathLst>
          </a:custGeom>
          <a:solidFill>
            <a:srgbClr val="2D3748">
              <a:alpha val="8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11520260" y="6196289"/>
            <a:ext cx="493728" cy="493728"/>
          </a:xfrm>
          <a:custGeom>
            <a:avLst/>
            <a:gdLst/>
            <a:ahLst/>
            <a:cxnLst/>
            <a:rect l="l" t="t" r="r" b="b"/>
            <a:pathLst>
              <a:path w="493728" h="493728">
                <a:moveTo>
                  <a:pt x="246864" y="0"/>
                </a:moveTo>
                <a:lnTo>
                  <a:pt x="246864" y="0"/>
                </a:lnTo>
                <a:cubicBezTo>
                  <a:pt x="383112" y="0"/>
                  <a:pt x="493728" y="110616"/>
                  <a:pt x="493728" y="246864"/>
                </a:cubicBezTo>
                <a:lnTo>
                  <a:pt x="493728" y="246864"/>
                </a:lnTo>
                <a:cubicBezTo>
                  <a:pt x="493728" y="383112"/>
                  <a:pt x="383112" y="493728"/>
                  <a:pt x="246864" y="493728"/>
                </a:cubicBezTo>
                <a:lnTo>
                  <a:pt x="246864" y="493728"/>
                </a:lnTo>
                <a:cubicBezTo>
                  <a:pt x="110616" y="493728"/>
                  <a:pt x="0" y="383112"/>
                  <a:pt x="0" y="246864"/>
                </a:cubicBezTo>
                <a:lnTo>
                  <a:pt x="0" y="246864"/>
                </a:lnTo>
                <a:cubicBezTo>
                  <a:pt x="0" y="110616"/>
                  <a:pt x="110616" y="0"/>
                  <a:pt x="246864" y="0"/>
                </a:cubicBezTo>
                <a:close/>
              </a:path>
            </a:pathLst>
          </a:custGeom>
          <a:solidFill>
            <a:srgbClr val="D69E2E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11656035" y="6344407"/>
            <a:ext cx="222178" cy="197491"/>
          </a:xfrm>
          <a:custGeom>
            <a:avLst/>
            <a:gdLst/>
            <a:ahLst/>
            <a:cxnLst/>
            <a:rect l="l" t="t" r="r" b="b"/>
            <a:pathLst>
              <a:path w="222178" h="197491">
                <a:moveTo>
                  <a:pt x="139170" y="463"/>
                </a:moveTo>
                <a:cubicBezTo>
                  <a:pt x="132612" y="-1427"/>
                  <a:pt x="125785" y="2391"/>
                  <a:pt x="123895" y="8949"/>
                </a:cubicBezTo>
                <a:lnTo>
                  <a:pt x="74522" y="181754"/>
                </a:lnTo>
                <a:cubicBezTo>
                  <a:pt x="72632" y="188311"/>
                  <a:pt x="76451" y="195138"/>
                  <a:pt x="83008" y="197028"/>
                </a:cubicBezTo>
                <a:cubicBezTo>
                  <a:pt x="89565" y="198918"/>
                  <a:pt x="96393" y="195100"/>
                  <a:pt x="98283" y="188542"/>
                </a:cubicBezTo>
                <a:lnTo>
                  <a:pt x="147656" y="15738"/>
                </a:lnTo>
                <a:cubicBezTo>
                  <a:pt x="149546" y="9180"/>
                  <a:pt x="145727" y="2353"/>
                  <a:pt x="139170" y="463"/>
                </a:cubicBezTo>
                <a:close/>
                <a:moveTo>
                  <a:pt x="164087" y="52960"/>
                </a:moveTo>
                <a:cubicBezTo>
                  <a:pt x="159266" y="57782"/>
                  <a:pt x="159266" y="65612"/>
                  <a:pt x="164087" y="70433"/>
                </a:cubicBezTo>
                <a:lnTo>
                  <a:pt x="192400" y="98746"/>
                </a:lnTo>
                <a:lnTo>
                  <a:pt x="164087" y="127058"/>
                </a:lnTo>
                <a:cubicBezTo>
                  <a:pt x="159266" y="131879"/>
                  <a:pt x="159266" y="139710"/>
                  <a:pt x="164087" y="144531"/>
                </a:cubicBezTo>
                <a:cubicBezTo>
                  <a:pt x="168909" y="149353"/>
                  <a:pt x="176739" y="149353"/>
                  <a:pt x="181561" y="144531"/>
                </a:cubicBezTo>
                <a:lnTo>
                  <a:pt x="218590" y="107502"/>
                </a:lnTo>
                <a:cubicBezTo>
                  <a:pt x="223412" y="102680"/>
                  <a:pt x="223412" y="94850"/>
                  <a:pt x="218590" y="90028"/>
                </a:cubicBezTo>
                <a:lnTo>
                  <a:pt x="181561" y="52999"/>
                </a:lnTo>
                <a:cubicBezTo>
                  <a:pt x="176739" y="48177"/>
                  <a:pt x="168909" y="48177"/>
                  <a:pt x="164087" y="52999"/>
                </a:cubicBezTo>
                <a:close/>
                <a:moveTo>
                  <a:pt x="58129" y="52960"/>
                </a:moveTo>
                <a:cubicBezTo>
                  <a:pt x="53307" y="48138"/>
                  <a:pt x="45477" y="48138"/>
                  <a:pt x="40655" y="52960"/>
                </a:cubicBezTo>
                <a:lnTo>
                  <a:pt x="3626" y="89990"/>
                </a:lnTo>
                <a:cubicBezTo>
                  <a:pt x="-1196" y="94811"/>
                  <a:pt x="-1196" y="102641"/>
                  <a:pt x="3626" y="107463"/>
                </a:cubicBezTo>
                <a:lnTo>
                  <a:pt x="40655" y="144493"/>
                </a:lnTo>
                <a:cubicBezTo>
                  <a:pt x="45477" y="149314"/>
                  <a:pt x="53307" y="149314"/>
                  <a:pt x="58129" y="144493"/>
                </a:cubicBezTo>
                <a:cubicBezTo>
                  <a:pt x="62950" y="139671"/>
                  <a:pt x="62950" y="131841"/>
                  <a:pt x="58129" y="127019"/>
                </a:cubicBezTo>
                <a:lnTo>
                  <a:pt x="29817" y="98746"/>
                </a:lnTo>
                <a:lnTo>
                  <a:pt x="58090" y="70433"/>
                </a:lnTo>
                <a:cubicBezTo>
                  <a:pt x="62912" y="65612"/>
                  <a:pt x="62912" y="57782"/>
                  <a:pt x="58090" y="52960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12162106" y="6270348"/>
            <a:ext cx="999800" cy="34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49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复用能力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1520260" y="6788762"/>
            <a:ext cx="3851080" cy="3209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55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中间层作为公共底座,支持多下游复用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11322768" y="7609585"/>
            <a:ext cx="4147317" cy="12343"/>
          </a:xfrm>
          <a:custGeom>
            <a:avLst/>
            <a:gdLst/>
            <a:ahLst/>
            <a:cxnLst/>
            <a:rect l="l" t="t" r="r" b="b"/>
            <a:pathLst>
              <a:path w="4147317" h="12343">
                <a:moveTo>
                  <a:pt x="0" y="0"/>
                </a:moveTo>
                <a:lnTo>
                  <a:pt x="4147317" y="0"/>
                </a:lnTo>
                <a:lnTo>
                  <a:pt x="4147317" y="12343"/>
                </a:lnTo>
                <a:lnTo>
                  <a:pt x="0" y="12343"/>
                </a:lnTo>
                <a:lnTo>
                  <a:pt x="0" y="0"/>
                </a:ln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>
            <a:off x="11347455" y="7862621"/>
            <a:ext cx="197491" cy="197491"/>
          </a:xfrm>
          <a:custGeom>
            <a:avLst/>
            <a:gdLst/>
            <a:ahLst/>
            <a:cxnLst/>
            <a:rect l="l" t="t" r="r" b="b"/>
            <a:pathLst>
              <a:path w="197491" h="197491">
                <a:moveTo>
                  <a:pt x="129604" y="135775"/>
                </a:moveTo>
                <a:cubicBezTo>
                  <a:pt x="167096" y="135775"/>
                  <a:pt x="197491" y="105380"/>
                  <a:pt x="197491" y="67888"/>
                </a:cubicBezTo>
                <a:cubicBezTo>
                  <a:pt x="197491" y="30395"/>
                  <a:pt x="167096" y="0"/>
                  <a:pt x="129604" y="0"/>
                </a:cubicBezTo>
                <a:cubicBezTo>
                  <a:pt x="92111" y="0"/>
                  <a:pt x="61716" y="30395"/>
                  <a:pt x="61716" y="67888"/>
                </a:cubicBezTo>
                <a:cubicBezTo>
                  <a:pt x="61716" y="75101"/>
                  <a:pt x="62835" y="82082"/>
                  <a:pt x="64918" y="88601"/>
                </a:cubicBezTo>
                <a:lnTo>
                  <a:pt x="2700" y="150819"/>
                </a:lnTo>
                <a:cubicBezTo>
                  <a:pt x="964" y="152554"/>
                  <a:pt x="0" y="154907"/>
                  <a:pt x="0" y="157376"/>
                </a:cubicBezTo>
                <a:lnTo>
                  <a:pt x="0" y="188234"/>
                </a:lnTo>
                <a:cubicBezTo>
                  <a:pt x="0" y="193364"/>
                  <a:pt x="4127" y="197491"/>
                  <a:pt x="9257" y="197491"/>
                </a:cubicBezTo>
                <a:lnTo>
                  <a:pt x="40115" y="197491"/>
                </a:lnTo>
                <a:cubicBezTo>
                  <a:pt x="45246" y="197491"/>
                  <a:pt x="49373" y="193364"/>
                  <a:pt x="49373" y="188234"/>
                </a:cubicBezTo>
                <a:lnTo>
                  <a:pt x="49373" y="172805"/>
                </a:lnTo>
                <a:lnTo>
                  <a:pt x="64802" y="172805"/>
                </a:lnTo>
                <a:cubicBezTo>
                  <a:pt x="69932" y="172805"/>
                  <a:pt x="74059" y="168678"/>
                  <a:pt x="74059" y="163547"/>
                </a:cubicBezTo>
                <a:lnTo>
                  <a:pt x="74059" y="148118"/>
                </a:lnTo>
                <a:lnTo>
                  <a:pt x="89488" y="148118"/>
                </a:lnTo>
                <a:cubicBezTo>
                  <a:pt x="91957" y="148118"/>
                  <a:pt x="94310" y="147154"/>
                  <a:pt x="96046" y="145418"/>
                </a:cubicBezTo>
                <a:lnTo>
                  <a:pt x="108890" y="132574"/>
                </a:lnTo>
                <a:cubicBezTo>
                  <a:pt x="115409" y="134657"/>
                  <a:pt x="122391" y="135775"/>
                  <a:pt x="129604" y="135775"/>
                </a:cubicBezTo>
                <a:close/>
                <a:moveTo>
                  <a:pt x="145033" y="37030"/>
                </a:moveTo>
                <a:cubicBezTo>
                  <a:pt x="153548" y="37030"/>
                  <a:pt x="160462" y="43943"/>
                  <a:pt x="160462" y="52459"/>
                </a:cubicBezTo>
                <a:cubicBezTo>
                  <a:pt x="160462" y="60974"/>
                  <a:pt x="153548" y="67888"/>
                  <a:pt x="145033" y="67888"/>
                </a:cubicBezTo>
                <a:cubicBezTo>
                  <a:pt x="136517" y="67888"/>
                  <a:pt x="129604" y="60974"/>
                  <a:pt x="129604" y="52459"/>
                </a:cubicBezTo>
                <a:cubicBezTo>
                  <a:pt x="129604" y="43943"/>
                  <a:pt x="136517" y="37030"/>
                  <a:pt x="145033" y="37030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11668378" y="7813248"/>
            <a:ext cx="888711" cy="296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5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关键洞察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1322768" y="8208231"/>
            <a:ext cx="4246062" cy="641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55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分层架构的核心价值在于工程可持续性,而非技术可行性。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1738" y="506417"/>
            <a:ext cx="2405483" cy="405134"/>
          </a:xfrm>
          <a:custGeom>
            <a:avLst/>
            <a:gdLst/>
            <a:ahLst/>
            <a:cxnLst/>
            <a:rect l="l" t="t" r="r" b="b"/>
            <a:pathLst>
              <a:path w="2405483" h="405134">
                <a:moveTo>
                  <a:pt x="0" y="0"/>
                </a:moveTo>
                <a:lnTo>
                  <a:pt x="2405483" y="0"/>
                </a:lnTo>
                <a:lnTo>
                  <a:pt x="2405483" y="405134"/>
                </a:lnTo>
                <a:lnTo>
                  <a:pt x="0" y="405134"/>
                </a:lnTo>
                <a:lnTo>
                  <a:pt x="0" y="0"/>
                </a:lnTo>
                <a:close/>
              </a:path>
            </a:pathLst>
          </a:custGeom>
          <a:solidFill>
            <a:srgbClr val="D69E2E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531738" y="506417"/>
            <a:ext cx="50642" cy="405134"/>
          </a:xfrm>
          <a:custGeom>
            <a:avLst/>
            <a:gdLst/>
            <a:ahLst/>
            <a:cxnLst/>
            <a:rect l="l" t="t" r="r" b="b"/>
            <a:pathLst>
              <a:path w="50642" h="405134">
                <a:moveTo>
                  <a:pt x="0" y="0"/>
                </a:moveTo>
                <a:lnTo>
                  <a:pt x="50642" y="0"/>
                </a:lnTo>
                <a:lnTo>
                  <a:pt x="50642" y="405134"/>
                </a:lnTo>
                <a:lnTo>
                  <a:pt x="0" y="405134"/>
                </a:lnTo>
                <a:lnTo>
                  <a:pt x="0" y="0"/>
                </a:ln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59626" y="576050"/>
            <a:ext cx="2081455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5" b="1" kern="0" spc="80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BEST PRACTICE 03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6417" y="1012835"/>
            <a:ext cx="15471053" cy="506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589" b="1" dirty="0">
                <a:solidFill>
                  <a:srgbClr val="E2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ADS层的特殊性与设计原则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31738" y="1772461"/>
            <a:ext cx="10052386" cy="1823103"/>
          </a:xfrm>
          <a:custGeom>
            <a:avLst/>
            <a:gdLst/>
            <a:ahLst/>
            <a:cxnLst/>
            <a:rect l="l" t="t" r="r" b="b"/>
            <a:pathLst>
              <a:path w="10052386" h="1823103">
                <a:moveTo>
                  <a:pt x="50642" y="0"/>
                </a:moveTo>
                <a:lnTo>
                  <a:pt x="9951095" y="0"/>
                </a:lnTo>
                <a:cubicBezTo>
                  <a:pt x="10007037" y="0"/>
                  <a:pt x="10052386" y="45350"/>
                  <a:pt x="10052386" y="101292"/>
                </a:cubicBezTo>
                <a:lnTo>
                  <a:pt x="10052386" y="1721811"/>
                </a:lnTo>
                <a:cubicBezTo>
                  <a:pt x="10052386" y="1777753"/>
                  <a:pt x="10007037" y="1823103"/>
                  <a:pt x="9951095" y="1823103"/>
                </a:cubicBezTo>
                <a:lnTo>
                  <a:pt x="50642" y="1823103"/>
                </a:lnTo>
                <a:cubicBezTo>
                  <a:pt x="22673" y="1823103"/>
                  <a:pt x="0" y="1800430"/>
                  <a:pt x="0" y="1772461"/>
                </a:cubicBezTo>
                <a:lnTo>
                  <a:pt x="0" y="50642"/>
                </a:lnTo>
                <a:cubicBezTo>
                  <a:pt x="0" y="22692"/>
                  <a:pt x="22692" y="0"/>
                  <a:pt x="50642" y="0"/>
                </a:cubicBezTo>
                <a:close/>
              </a:path>
            </a:pathLst>
          </a:custGeom>
          <a:solidFill>
            <a:srgbClr val="2D3748">
              <a:alpha val="4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31738" y="1772461"/>
            <a:ext cx="50642" cy="1823103"/>
          </a:xfrm>
          <a:custGeom>
            <a:avLst/>
            <a:gdLst/>
            <a:ahLst/>
            <a:cxnLst/>
            <a:rect l="l" t="t" r="r" b="b"/>
            <a:pathLst>
              <a:path w="50642" h="1823103">
                <a:moveTo>
                  <a:pt x="50642" y="0"/>
                </a:moveTo>
                <a:lnTo>
                  <a:pt x="50642" y="0"/>
                </a:lnTo>
                <a:lnTo>
                  <a:pt x="50642" y="1823103"/>
                </a:lnTo>
                <a:lnTo>
                  <a:pt x="50642" y="1823103"/>
                </a:lnTo>
                <a:cubicBezTo>
                  <a:pt x="22673" y="1823103"/>
                  <a:pt x="0" y="1800430"/>
                  <a:pt x="0" y="1772461"/>
                </a:cubicBezTo>
                <a:lnTo>
                  <a:pt x="0" y="50642"/>
                </a:lnTo>
                <a:cubicBezTo>
                  <a:pt x="0" y="22692"/>
                  <a:pt x="22692" y="0"/>
                  <a:pt x="50642" y="0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860910" y="2076312"/>
            <a:ext cx="810268" cy="810268"/>
          </a:xfrm>
          <a:custGeom>
            <a:avLst/>
            <a:gdLst/>
            <a:ahLst/>
            <a:cxnLst/>
            <a:rect l="l" t="t" r="r" b="b"/>
            <a:pathLst>
              <a:path w="810268" h="810268">
                <a:moveTo>
                  <a:pt x="50642" y="0"/>
                </a:moveTo>
                <a:lnTo>
                  <a:pt x="759626" y="0"/>
                </a:lnTo>
                <a:cubicBezTo>
                  <a:pt x="787595" y="0"/>
                  <a:pt x="810268" y="22673"/>
                  <a:pt x="810268" y="50642"/>
                </a:cubicBezTo>
                <a:lnTo>
                  <a:pt x="810268" y="759626"/>
                </a:lnTo>
                <a:cubicBezTo>
                  <a:pt x="810268" y="787595"/>
                  <a:pt x="787595" y="810268"/>
                  <a:pt x="759626" y="810268"/>
                </a:cubicBezTo>
                <a:lnTo>
                  <a:pt x="50642" y="810268"/>
                </a:lnTo>
                <a:cubicBezTo>
                  <a:pt x="22673" y="810268"/>
                  <a:pt x="0" y="787595"/>
                  <a:pt x="0" y="759626"/>
                </a:cubicBezTo>
                <a:lnTo>
                  <a:pt x="0" y="50642"/>
                </a:lnTo>
                <a:cubicBezTo>
                  <a:pt x="0" y="22692"/>
                  <a:pt x="22692" y="0"/>
                  <a:pt x="50642" y="0"/>
                </a:cubicBezTo>
                <a:close/>
              </a:path>
            </a:pathLst>
          </a:custGeom>
          <a:solidFill>
            <a:srgbClr val="D69E2E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1095128" y="2329520"/>
            <a:ext cx="341832" cy="303850"/>
          </a:xfrm>
          <a:custGeom>
            <a:avLst/>
            <a:gdLst/>
            <a:ahLst/>
            <a:cxnLst/>
            <a:rect l="l" t="t" r="r" b="b"/>
            <a:pathLst>
              <a:path w="341832" h="303850">
                <a:moveTo>
                  <a:pt x="183675" y="-11216"/>
                </a:moveTo>
                <a:cubicBezTo>
                  <a:pt x="181242" y="-15964"/>
                  <a:pt x="176316" y="-18991"/>
                  <a:pt x="170975" y="-18991"/>
                </a:cubicBezTo>
                <a:cubicBezTo>
                  <a:pt x="165634" y="-18991"/>
                  <a:pt x="160708" y="-15964"/>
                  <a:pt x="158275" y="-11216"/>
                </a:cubicBezTo>
                <a:lnTo>
                  <a:pt x="114597" y="74360"/>
                </a:lnTo>
                <a:lnTo>
                  <a:pt x="19703" y="89434"/>
                </a:lnTo>
                <a:cubicBezTo>
                  <a:pt x="14421" y="90265"/>
                  <a:pt x="10029" y="94004"/>
                  <a:pt x="8368" y="99107"/>
                </a:cubicBezTo>
                <a:cubicBezTo>
                  <a:pt x="6706" y="104211"/>
                  <a:pt x="8071" y="109790"/>
                  <a:pt x="11810" y="113588"/>
                </a:cubicBezTo>
                <a:lnTo>
                  <a:pt x="79701" y="181539"/>
                </a:lnTo>
                <a:lnTo>
                  <a:pt x="64746" y="276433"/>
                </a:lnTo>
                <a:cubicBezTo>
                  <a:pt x="63915" y="281714"/>
                  <a:pt x="66111" y="287056"/>
                  <a:pt x="70443" y="290201"/>
                </a:cubicBezTo>
                <a:cubicBezTo>
                  <a:pt x="74776" y="293346"/>
                  <a:pt x="80473" y="293821"/>
                  <a:pt x="85280" y="291388"/>
                </a:cubicBezTo>
                <a:lnTo>
                  <a:pt x="170975" y="247828"/>
                </a:lnTo>
                <a:lnTo>
                  <a:pt x="256611" y="291388"/>
                </a:lnTo>
                <a:cubicBezTo>
                  <a:pt x="261359" y="293821"/>
                  <a:pt x="267115" y="293346"/>
                  <a:pt x="271448" y="290201"/>
                </a:cubicBezTo>
                <a:cubicBezTo>
                  <a:pt x="275780" y="287056"/>
                  <a:pt x="277976" y="281774"/>
                  <a:pt x="277145" y="276433"/>
                </a:cubicBezTo>
                <a:lnTo>
                  <a:pt x="262130" y="181539"/>
                </a:lnTo>
                <a:lnTo>
                  <a:pt x="330022" y="113588"/>
                </a:lnTo>
                <a:cubicBezTo>
                  <a:pt x="333820" y="109790"/>
                  <a:pt x="335126" y="104211"/>
                  <a:pt x="333464" y="99107"/>
                </a:cubicBezTo>
                <a:cubicBezTo>
                  <a:pt x="331802" y="94004"/>
                  <a:pt x="327470" y="90265"/>
                  <a:pt x="322129" y="89434"/>
                </a:cubicBezTo>
                <a:lnTo>
                  <a:pt x="227294" y="74360"/>
                </a:lnTo>
                <a:lnTo>
                  <a:pt x="183675" y="-11216"/>
                </a:ln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873745" y="2076312"/>
            <a:ext cx="8558455" cy="405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93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设计原则差异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873745" y="2633371"/>
            <a:ext cx="8507813" cy="658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95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ADS层通常</a:t>
            </a:r>
            <a:r>
              <a:rPr lang="en-US" sz="1595" dirty="0">
                <a:solidFill>
                  <a:srgbClr val="D69E2E"/>
                </a:solidFill>
                <a:highlight>
                  <a:srgbClr val="D69E2E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不追求数据模型的范式规范 </a:t>
            </a:r>
            <a:r>
              <a:rPr lang="en-US" sz="1595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,而是优先考虑查询性能和业务贴合度。为了提升响应速度,允许存在适度的数据冗余。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6417" y="3848773"/>
            <a:ext cx="4937570" cy="2532087"/>
          </a:xfrm>
          <a:custGeom>
            <a:avLst/>
            <a:gdLst/>
            <a:ahLst/>
            <a:cxnLst/>
            <a:rect l="l" t="t" r="r" b="b"/>
            <a:pathLst>
              <a:path w="4937570" h="2532087">
                <a:moveTo>
                  <a:pt x="101283" y="0"/>
                </a:moveTo>
                <a:lnTo>
                  <a:pt x="4836287" y="0"/>
                </a:lnTo>
                <a:cubicBezTo>
                  <a:pt x="4892224" y="0"/>
                  <a:pt x="4937570" y="45346"/>
                  <a:pt x="4937570" y="101283"/>
                </a:cubicBezTo>
                <a:lnTo>
                  <a:pt x="4937570" y="2430804"/>
                </a:lnTo>
                <a:cubicBezTo>
                  <a:pt x="4937570" y="2486741"/>
                  <a:pt x="4892224" y="2532087"/>
                  <a:pt x="4836287" y="2532087"/>
                </a:cubicBezTo>
                <a:lnTo>
                  <a:pt x="101283" y="2532087"/>
                </a:lnTo>
                <a:cubicBezTo>
                  <a:pt x="45346" y="2532087"/>
                  <a:pt x="0" y="2486741"/>
                  <a:pt x="0" y="2430804"/>
                </a:cubicBezTo>
                <a:lnTo>
                  <a:pt x="0" y="101283"/>
                </a:lnTo>
                <a:cubicBezTo>
                  <a:pt x="0" y="45384"/>
                  <a:pt x="45384" y="0"/>
                  <a:pt x="101283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805520" y="4165283"/>
            <a:ext cx="199402" cy="227888"/>
          </a:xfrm>
          <a:custGeom>
            <a:avLst/>
            <a:gdLst/>
            <a:ahLst/>
            <a:cxnLst/>
            <a:rect l="l" t="t" r="r" b="b"/>
            <a:pathLst>
              <a:path w="199402" h="227888">
                <a:moveTo>
                  <a:pt x="199402" y="91600"/>
                </a:moveTo>
                <a:cubicBezTo>
                  <a:pt x="192814" y="95962"/>
                  <a:pt x="185248" y="99478"/>
                  <a:pt x="177370" y="102282"/>
                </a:cubicBezTo>
                <a:cubicBezTo>
                  <a:pt x="156450" y="109760"/>
                  <a:pt x="128988" y="113944"/>
                  <a:pt x="99701" y="113944"/>
                </a:cubicBezTo>
                <a:cubicBezTo>
                  <a:pt x="70414" y="113944"/>
                  <a:pt x="42907" y="109716"/>
                  <a:pt x="22032" y="102282"/>
                </a:cubicBezTo>
                <a:cubicBezTo>
                  <a:pt x="14198" y="99478"/>
                  <a:pt x="6587" y="95962"/>
                  <a:pt x="0" y="91600"/>
                </a:cubicBezTo>
                <a:lnTo>
                  <a:pt x="0" y="128187"/>
                </a:lnTo>
                <a:cubicBezTo>
                  <a:pt x="0" y="147860"/>
                  <a:pt x="44643" y="163794"/>
                  <a:pt x="99701" y="163794"/>
                </a:cubicBezTo>
                <a:cubicBezTo>
                  <a:pt x="154759" y="163794"/>
                  <a:pt x="199402" y="147860"/>
                  <a:pt x="199402" y="128187"/>
                </a:cubicBezTo>
                <a:lnTo>
                  <a:pt x="199402" y="91600"/>
                </a:lnTo>
                <a:close/>
                <a:moveTo>
                  <a:pt x="199402" y="56972"/>
                </a:moveTo>
                <a:lnTo>
                  <a:pt x="199402" y="35607"/>
                </a:lnTo>
                <a:cubicBezTo>
                  <a:pt x="199402" y="15934"/>
                  <a:pt x="154759" y="0"/>
                  <a:pt x="99701" y="0"/>
                </a:cubicBezTo>
                <a:cubicBezTo>
                  <a:pt x="44643" y="0"/>
                  <a:pt x="0" y="15934"/>
                  <a:pt x="0" y="35607"/>
                </a:cubicBezTo>
                <a:lnTo>
                  <a:pt x="0" y="56972"/>
                </a:lnTo>
                <a:cubicBezTo>
                  <a:pt x="0" y="76645"/>
                  <a:pt x="44643" y="92579"/>
                  <a:pt x="99701" y="92579"/>
                </a:cubicBezTo>
                <a:cubicBezTo>
                  <a:pt x="154759" y="92579"/>
                  <a:pt x="199402" y="76645"/>
                  <a:pt x="199402" y="56972"/>
                </a:cubicBezTo>
                <a:close/>
                <a:moveTo>
                  <a:pt x="177370" y="173497"/>
                </a:moveTo>
                <a:cubicBezTo>
                  <a:pt x="156495" y="180930"/>
                  <a:pt x="129033" y="185159"/>
                  <a:pt x="99701" y="185159"/>
                </a:cubicBezTo>
                <a:cubicBezTo>
                  <a:pt x="70369" y="185159"/>
                  <a:pt x="42907" y="180930"/>
                  <a:pt x="22032" y="173497"/>
                </a:cubicBezTo>
                <a:cubicBezTo>
                  <a:pt x="14198" y="170693"/>
                  <a:pt x="6587" y="167177"/>
                  <a:pt x="0" y="162815"/>
                </a:cubicBezTo>
                <a:lnTo>
                  <a:pt x="0" y="192280"/>
                </a:lnTo>
                <a:cubicBezTo>
                  <a:pt x="0" y="211954"/>
                  <a:pt x="44643" y="227888"/>
                  <a:pt x="99701" y="227888"/>
                </a:cubicBezTo>
                <a:cubicBezTo>
                  <a:pt x="154759" y="227888"/>
                  <a:pt x="199402" y="211954"/>
                  <a:pt x="199402" y="192280"/>
                </a:cubicBezTo>
                <a:lnTo>
                  <a:pt x="199402" y="162815"/>
                </a:lnTo>
                <a:cubicBezTo>
                  <a:pt x="192814" y="167177"/>
                  <a:pt x="185248" y="170693"/>
                  <a:pt x="177370" y="173497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1050816" y="4101981"/>
            <a:ext cx="4253907" cy="354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94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传统范式原则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59626" y="4608399"/>
            <a:ext cx="4532436" cy="30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5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减少数据冗余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59626" y="5013533"/>
            <a:ext cx="4532436" cy="30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5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避免更新异常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59626" y="5418667"/>
            <a:ext cx="4532436" cy="30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5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保证数据一致性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59626" y="5823801"/>
            <a:ext cx="4532436" cy="30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5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范式规范化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643686" y="3848773"/>
            <a:ext cx="4937570" cy="2532087"/>
          </a:xfrm>
          <a:custGeom>
            <a:avLst/>
            <a:gdLst/>
            <a:ahLst/>
            <a:cxnLst/>
            <a:rect l="l" t="t" r="r" b="b"/>
            <a:pathLst>
              <a:path w="4937570" h="2532087">
                <a:moveTo>
                  <a:pt x="101283" y="0"/>
                </a:moveTo>
                <a:lnTo>
                  <a:pt x="4836287" y="0"/>
                </a:lnTo>
                <a:cubicBezTo>
                  <a:pt x="4892224" y="0"/>
                  <a:pt x="4937570" y="45346"/>
                  <a:pt x="4937570" y="101283"/>
                </a:cubicBezTo>
                <a:lnTo>
                  <a:pt x="4937570" y="2430804"/>
                </a:lnTo>
                <a:cubicBezTo>
                  <a:pt x="4937570" y="2486741"/>
                  <a:pt x="4892224" y="2532087"/>
                  <a:pt x="4836287" y="2532087"/>
                </a:cubicBezTo>
                <a:lnTo>
                  <a:pt x="101283" y="2532087"/>
                </a:lnTo>
                <a:cubicBezTo>
                  <a:pt x="45346" y="2532087"/>
                  <a:pt x="0" y="2486741"/>
                  <a:pt x="0" y="2430804"/>
                </a:cubicBezTo>
                <a:lnTo>
                  <a:pt x="0" y="101283"/>
                </a:lnTo>
                <a:cubicBezTo>
                  <a:pt x="0" y="45384"/>
                  <a:pt x="45384" y="0"/>
                  <a:pt x="101283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5928546" y="4165283"/>
            <a:ext cx="227888" cy="227888"/>
          </a:xfrm>
          <a:custGeom>
            <a:avLst/>
            <a:gdLst/>
            <a:ahLst/>
            <a:cxnLst/>
            <a:rect l="l" t="t" r="r" b="b"/>
            <a:pathLst>
              <a:path w="227888" h="227888">
                <a:moveTo>
                  <a:pt x="56972" y="142430"/>
                </a:moveTo>
                <a:lnTo>
                  <a:pt x="10905" y="142430"/>
                </a:lnTo>
                <a:cubicBezTo>
                  <a:pt x="-178" y="142430"/>
                  <a:pt x="-6988" y="130368"/>
                  <a:pt x="-1291" y="120843"/>
                </a:cubicBezTo>
                <a:lnTo>
                  <a:pt x="22255" y="81586"/>
                </a:lnTo>
                <a:cubicBezTo>
                  <a:pt x="26127" y="75132"/>
                  <a:pt x="33070" y="71215"/>
                  <a:pt x="40593" y="71215"/>
                </a:cubicBezTo>
                <a:lnTo>
                  <a:pt x="82876" y="71215"/>
                </a:lnTo>
                <a:cubicBezTo>
                  <a:pt x="116748" y="13842"/>
                  <a:pt x="167266" y="10949"/>
                  <a:pt x="201049" y="15890"/>
                </a:cubicBezTo>
                <a:cubicBezTo>
                  <a:pt x="206746" y="16736"/>
                  <a:pt x="211197" y="21186"/>
                  <a:pt x="211998" y="26839"/>
                </a:cubicBezTo>
                <a:cubicBezTo>
                  <a:pt x="216939" y="60622"/>
                  <a:pt x="214045" y="111140"/>
                  <a:pt x="156673" y="145011"/>
                </a:cubicBezTo>
                <a:lnTo>
                  <a:pt x="156673" y="187295"/>
                </a:lnTo>
                <a:cubicBezTo>
                  <a:pt x="156673" y="194817"/>
                  <a:pt x="152756" y="201761"/>
                  <a:pt x="146302" y="205633"/>
                </a:cubicBezTo>
                <a:lnTo>
                  <a:pt x="107045" y="229179"/>
                </a:lnTo>
                <a:cubicBezTo>
                  <a:pt x="97564" y="234876"/>
                  <a:pt x="85458" y="228021"/>
                  <a:pt x="85458" y="216983"/>
                </a:cubicBezTo>
                <a:lnTo>
                  <a:pt x="85458" y="170916"/>
                </a:lnTo>
                <a:cubicBezTo>
                  <a:pt x="85458" y="155204"/>
                  <a:pt x="72684" y="142430"/>
                  <a:pt x="56972" y="142430"/>
                </a:cubicBezTo>
                <a:lnTo>
                  <a:pt x="56927" y="142430"/>
                </a:lnTo>
                <a:close/>
                <a:moveTo>
                  <a:pt x="178037" y="71215"/>
                </a:moveTo>
                <a:cubicBezTo>
                  <a:pt x="178037" y="59424"/>
                  <a:pt x="168464" y="49850"/>
                  <a:pt x="156673" y="49850"/>
                </a:cubicBezTo>
                <a:cubicBezTo>
                  <a:pt x="144882" y="49850"/>
                  <a:pt x="135308" y="59424"/>
                  <a:pt x="135308" y="71215"/>
                </a:cubicBezTo>
                <a:cubicBezTo>
                  <a:pt x="135308" y="83006"/>
                  <a:pt x="144882" y="92579"/>
                  <a:pt x="156673" y="92579"/>
                </a:cubicBezTo>
                <a:cubicBezTo>
                  <a:pt x="168464" y="92579"/>
                  <a:pt x="178037" y="83006"/>
                  <a:pt x="178037" y="71215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6188085" y="4101981"/>
            <a:ext cx="4253907" cy="354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94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ADS层原则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896895" y="4608399"/>
            <a:ext cx="4532436" cy="30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5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优先考虑查询性能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896895" y="5013533"/>
            <a:ext cx="4532436" cy="30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5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贴合业务需求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896895" y="5418667"/>
            <a:ext cx="4532436" cy="30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5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允许适度冗余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896895" y="5823801"/>
            <a:ext cx="4532436" cy="30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5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快速响应业务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06417" y="6634069"/>
            <a:ext cx="10077707" cy="2506766"/>
          </a:xfrm>
          <a:custGeom>
            <a:avLst/>
            <a:gdLst/>
            <a:ahLst/>
            <a:cxnLst/>
            <a:rect l="l" t="t" r="r" b="b"/>
            <a:pathLst>
              <a:path w="10077707" h="2506766">
                <a:moveTo>
                  <a:pt x="101273" y="0"/>
                </a:moveTo>
                <a:lnTo>
                  <a:pt x="9976434" y="0"/>
                </a:lnTo>
                <a:cubicBezTo>
                  <a:pt x="10032366" y="0"/>
                  <a:pt x="10077707" y="45342"/>
                  <a:pt x="10077707" y="101273"/>
                </a:cubicBezTo>
                <a:lnTo>
                  <a:pt x="10077707" y="2405493"/>
                </a:lnTo>
                <a:cubicBezTo>
                  <a:pt x="10077707" y="2461425"/>
                  <a:pt x="10032366" y="2506766"/>
                  <a:pt x="9976434" y="2506766"/>
                </a:cubicBezTo>
                <a:lnTo>
                  <a:pt x="101273" y="2506766"/>
                </a:lnTo>
                <a:cubicBezTo>
                  <a:pt x="45342" y="2506766"/>
                  <a:pt x="0" y="2461425"/>
                  <a:pt x="0" y="2405493"/>
                </a:cubicBezTo>
                <a:lnTo>
                  <a:pt x="0" y="101273"/>
                </a:lnTo>
                <a:cubicBezTo>
                  <a:pt x="0" y="45379"/>
                  <a:pt x="45379" y="0"/>
                  <a:pt x="101273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759626" y="6937919"/>
            <a:ext cx="316511" cy="253209"/>
          </a:xfrm>
          <a:custGeom>
            <a:avLst/>
            <a:gdLst/>
            <a:ahLst/>
            <a:cxnLst/>
            <a:rect l="l" t="t" r="r" b="b"/>
            <a:pathLst>
              <a:path w="316511" h="253209">
                <a:moveTo>
                  <a:pt x="189907" y="15826"/>
                </a:moveTo>
                <a:lnTo>
                  <a:pt x="253209" y="15826"/>
                </a:lnTo>
                <a:cubicBezTo>
                  <a:pt x="261962" y="15826"/>
                  <a:pt x="269034" y="22898"/>
                  <a:pt x="269034" y="31651"/>
                </a:cubicBezTo>
                <a:cubicBezTo>
                  <a:pt x="269034" y="40405"/>
                  <a:pt x="261962" y="47477"/>
                  <a:pt x="253209" y="47477"/>
                </a:cubicBezTo>
                <a:lnTo>
                  <a:pt x="197028" y="47477"/>
                </a:lnTo>
                <a:cubicBezTo>
                  <a:pt x="194456" y="60236"/>
                  <a:pt x="185703" y="70770"/>
                  <a:pt x="174081" y="75814"/>
                </a:cubicBezTo>
                <a:lnTo>
                  <a:pt x="174081" y="221558"/>
                </a:lnTo>
                <a:lnTo>
                  <a:pt x="253209" y="221558"/>
                </a:lnTo>
                <a:cubicBezTo>
                  <a:pt x="261962" y="221558"/>
                  <a:pt x="269034" y="228630"/>
                  <a:pt x="269034" y="237383"/>
                </a:cubicBezTo>
                <a:cubicBezTo>
                  <a:pt x="269034" y="246137"/>
                  <a:pt x="261962" y="253209"/>
                  <a:pt x="253209" y="253209"/>
                </a:cubicBezTo>
                <a:lnTo>
                  <a:pt x="63302" y="253209"/>
                </a:lnTo>
                <a:cubicBezTo>
                  <a:pt x="54549" y="253209"/>
                  <a:pt x="47477" y="246137"/>
                  <a:pt x="47477" y="237383"/>
                </a:cubicBezTo>
                <a:cubicBezTo>
                  <a:pt x="47477" y="228630"/>
                  <a:pt x="54549" y="221558"/>
                  <a:pt x="63302" y="221558"/>
                </a:cubicBezTo>
                <a:lnTo>
                  <a:pt x="142430" y="221558"/>
                </a:lnTo>
                <a:lnTo>
                  <a:pt x="142430" y="75814"/>
                </a:lnTo>
                <a:cubicBezTo>
                  <a:pt x="130808" y="70720"/>
                  <a:pt x="122055" y="60187"/>
                  <a:pt x="119483" y="47477"/>
                </a:cubicBezTo>
                <a:lnTo>
                  <a:pt x="63302" y="47477"/>
                </a:lnTo>
                <a:cubicBezTo>
                  <a:pt x="54549" y="47477"/>
                  <a:pt x="47477" y="40405"/>
                  <a:pt x="47477" y="31651"/>
                </a:cubicBezTo>
                <a:cubicBezTo>
                  <a:pt x="47477" y="22898"/>
                  <a:pt x="54549" y="15826"/>
                  <a:pt x="63302" y="15826"/>
                </a:cubicBezTo>
                <a:lnTo>
                  <a:pt x="126604" y="15826"/>
                </a:lnTo>
                <a:cubicBezTo>
                  <a:pt x="133825" y="6231"/>
                  <a:pt x="145298" y="0"/>
                  <a:pt x="158255" y="0"/>
                </a:cubicBezTo>
                <a:cubicBezTo>
                  <a:pt x="171213" y="0"/>
                  <a:pt x="182686" y="6231"/>
                  <a:pt x="189907" y="15826"/>
                </a:cubicBezTo>
                <a:close/>
                <a:moveTo>
                  <a:pt x="217403" y="158255"/>
                </a:moveTo>
                <a:lnTo>
                  <a:pt x="289014" y="158255"/>
                </a:lnTo>
                <a:lnTo>
                  <a:pt x="253209" y="96833"/>
                </a:lnTo>
                <a:lnTo>
                  <a:pt x="217403" y="158255"/>
                </a:lnTo>
                <a:close/>
                <a:moveTo>
                  <a:pt x="253209" y="205732"/>
                </a:moveTo>
                <a:cubicBezTo>
                  <a:pt x="222102" y="205732"/>
                  <a:pt x="196237" y="188917"/>
                  <a:pt x="190896" y="166712"/>
                </a:cubicBezTo>
                <a:cubicBezTo>
                  <a:pt x="189610" y="161272"/>
                  <a:pt x="191390" y="155684"/>
                  <a:pt x="194209" y="150837"/>
                </a:cubicBezTo>
                <a:lnTo>
                  <a:pt x="241290" y="70127"/>
                </a:lnTo>
                <a:cubicBezTo>
                  <a:pt x="243763" y="65874"/>
                  <a:pt x="248313" y="63302"/>
                  <a:pt x="253209" y="63302"/>
                </a:cubicBezTo>
                <a:cubicBezTo>
                  <a:pt x="258105" y="63302"/>
                  <a:pt x="262655" y="65923"/>
                  <a:pt x="265127" y="70127"/>
                </a:cubicBezTo>
                <a:lnTo>
                  <a:pt x="312208" y="150837"/>
                </a:lnTo>
                <a:cubicBezTo>
                  <a:pt x="315027" y="155684"/>
                  <a:pt x="316808" y="161272"/>
                  <a:pt x="315522" y="166712"/>
                </a:cubicBezTo>
                <a:cubicBezTo>
                  <a:pt x="310181" y="188868"/>
                  <a:pt x="284316" y="205732"/>
                  <a:pt x="253209" y="205732"/>
                </a:cubicBezTo>
                <a:close/>
                <a:moveTo>
                  <a:pt x="62709" y="96833"/>
                </a:moveTo>
                <a:lnTo>
                  <a:pt x="26903" y="158255"/>
                </a:lnTo>
                <a:lnTo>
                  <a:pt x="98563" y="158255"/>
                </a:lnTo>
                <a:lnTo>
                  <a:pt x="62709" y="96833"/>
                </a:lnTo>
                <a:close/>
                <a:moveTo>
                  <a:pt x="445" y="166712"/>
                </a:moveTo>
                <a:cubicBezTo>
                  <a:pt x="-841" y="161272"/>
                  <a:pt x="940" y="155684"/>
                  <a:pt x="3759" y="150837"/>
                </a:cubicBezTo>
                <a:lnTo>
                  <a:pt x="50840" y="70127"/>
                </a:lnTo>
                <a:cubicBezTo>
                  <a:pt x="53312" y="65874"/>
                  <a:pt x="57862" y="63302"/>
                  <a:pt x="62758" y="63302"/>
                </a:cubicBezTo>
                <a:cubicBezTo>
                  <a:pt x="67654" y="63302"/>
                  <a:pt x="72204" y="65923"/>
                  <a:pt x="74677" y="70127"/>
                </a:cubicBezTo>
                <a:lnTo>
                  <a:pt x="121758" y="150837"/>
                </a:lnTo>
                <a:cubicBezTo>
                  <a:pt x="124577" y="155684"/>
                  <a:pt x="126357" y="161272"/>
                  <a:pt x="125071" y="166712"/>
                </a:cubicBezTo>
                <a:cubicBezTo>
                  <a:pt x="119730" y="188868"/>
                  <a:pt x="93865" y="205732"/>
                  <a:pt x="62758" y="205732"/>
                </a:cubicBezTo>
                <a:cubicBezTo>
                  <a:pt x="31651" y="205732"/>
                  <a:pt x="5786" y="188917"/>
                  <a:pt x="445" y="166712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1076137" y="6887277"/>
            <a:ext cx="9381383" cy="354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94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性能与空间的权衡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59626" y="7444336"/>
            <a:ext cx="9672573" cy="329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95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ADS层直接面向业务用户,响应速度是关键。可以适当牺牲存储空间来换取查询性能。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59626" y="7925433"/>
            <a:ext cx="3089146" cy="962193"/>
          </a:xfrm>
          <a:custGeom>
            <a:avLst/>
            <a:gdLst/>
            <a:ahLst/>
            <a:cxnLst/>
            <a:rect l="l" t="t" r="r" b="b"/>
            <a:pathLst>
              <a:path w="3089146" h="962193">
                <a:moveTo>
                  <a:pt x="50640" y="0"/>
                </a:moveTo>
                <a:lnTo>
                  <a:pt x="3038506" y="0"/>
                </a:lnTo>
                <a:cubicBezTo>
                  <a:pt x="3066474" y="0"/>
                  <a:pt x="3089146" y="22672"/>
                  <a:pt x="3089146" y="50640"/>
                </a:cubicBezTo>
                <a:lnTo>
                  <a:pt x="3089146" y="911553"/>
                </a:lnTo>
                <a:cubicBezTo>
                  <a:pt x="3089146" y="939521"/>
                  <a:pt x="3066474" y="962193"/>
                  <a:pt x="3038506" y="962193"/>
                </a:cubicBezTo>
                <a:lnTo>
                  <a:pt x="50640" y="962193"/>
                </a:lnTo>
                <a:cubicBezTo>
                  <a:pt x="22672" y="962193"/>
                  <a:pt x="0" y="939521"/>
                  <a:pt x="0" y="911553"/>
                </a:cubicBezTo>
                <a:lnTo>
                  <a:pt x="0" y="50640"/>
                </a:lnTo>
                <a:cubicBezTo>
                  <a:pt x="0" y="22691"/>
                  <a:pt x="22691" y="0"/>
                  <a:pt x="50640" y="0"/>
                </a:cubicBezTo>
                <a:close/>
              </a:path>
            </a:pathLst>
          </a:custGeom>
          <a:solidFill>
            <a:srgbClr val="2D3748">
              <a:alpha val="8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860910" y="8077358"/>
            <a:ext cx="2886579" cy="30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95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空间换时间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60910" y="8431850"/>
            <a:ext cx="2886579" cy="30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95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冗余存储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998819" y="7925433"/>
            <a:ext cx="3089146" cy="962193"/>
          </a:xfrm>
          <a:custGeom>
            <a:avLst/>
            <a:gdLst/>
            <a:ahLst/>
            <a:cxnLst/>
            <a:rect l="l" t="t" r="r" b="b"/>
            <a:pathLst>
              <a:path w="3089146" h="962193">
                <a:moveTo>
                  <a:pt x="50640" y="0"/>
                </a:moveTo>
                <a:lnTo>
                  <a:pt x="3038506" y="0"/>
                </a:lnTo>
                <a:cubicBezTo>
                  <a:pt x="3066474" y="0"/>
                  <a:pt x="3089146" y="22672"/>
                  <a:pt x="3089146" y="50640"/>
                </a:cubicBezTo>
                <a:lnTo>
                  <a:pt x="3089146" y="911553"/>
                </a:lnTo>
                <a:cubicBezTo>
                  <a:pt x="3089146" y="939521"/>
                  <a:pt x="3066474" y="962193"/>
                  <a:pt x="3038506" y="962193"/>
                </a:cubicBezTo>
                <a:lnTo>
                  <a:pt x="50640" y="962193"/>
                </a:lnTo>
                <a:cubicBezTo>
                  <a:pt x="22672" y="962193"/>
                  <a:pt x="0" y="939521"/>
                  <a:pt x="0" y="911553"/>
                </a:cubicBezTo>
                <a:lnTo>
                  <a:pt x="0" y="50640"/>
                </a:lnTo>
                <a:cubicBezTo>
                  <a:pt x="0" y="22691"/>
                  <a:pt x="22691" y="0"/>
                  <a:pt x="50640" y="0"/>
                </a:cubicBezTo>
                <a:close/>
              </a:path>
            </a:pathLst>
          </a:custGeom>
          <a:solidFill>
            <a:srgbClr val="2D3748">
              <a:alpha val="8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4100102" y="8077358"/>
            <a:ext cx="2886579" cy="30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95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预计算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100102" y="8431850"/>
            <a:ext cx="2886579" cy="30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95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提升速度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238011" y="7925433"/>
            <a:ext cx="3089146" cy="962193"/>
          </a:xfrm>
          <a:custGeom>
            <a:avLst/>
            <a:gdLst/>
            <a:ahLst/>
            <a:cxnLst/>
            <a:rect l="l" t="t" r="r" b="b"/>
            <a:pathLst>
              <a:path w="3089146" h="962193">
                <a:moveTo>
                  <a:pt x="50640" y="0"/>
                </a:moveTo>
                <a:lnTo>
                  <a:pt x="3038506" y="0"/>
                </a:lnTo>
                <a:cubicBezTo>
                  <a:pt x="3066474" y="0"/>
                  <a:pt x="3089146" y="22672"/>
                  <a:pt x="3089146" y="50640"/>
                </a:cubicBezTo>
                <a:lnTo>
                  <a:pt x="3089146" y="911553"/>
                </a:lnTo>
                <a:cubicBezTo>
                  <a:pt x="3089146" y="939521"/>
                  <a:pt x="3066474" y="962193"/>
                  <a:pt x="3038506" y="962193"/>
                </a:cubicBezTo>
                <a:lnTo>
                  <a:pt x="50640" y="962193"/>
                </a:lnTo>
                <a:cubicBezTo>
                  <a:pt x="22672" y="962193"/>
                  <a:pt x="0" y="939521"/>
                  <a:pt x="0" y="911553"/>
                </a:cubicBezTo>
                <a:lnTo>
                  <a:pt x="0" y="50640"/>
                </a:lnTo>
                <a:cubicBezTo>
                  <a:pt x="0" y="22691"/>
                  <a:pt x="22691" y="0"/>
                  <a:pt x="50640" y="0"/>
                </a:cubicBezTo>
                <a:close/>
              </a:path>
            </a:pathLst>
          </a:custGeom>
          <a:solidFill>
            <a:srgbClr val="2D3748">
              <a:alpha val="8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7339294" y="8077358"/>
            <a:ext cx="2886579" cy="30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95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扁平化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339294" y="8431850"/>
            <a:ext cx="2886579" cy="30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95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简化查询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0882337" y="1772461"/>
            <a:ext cx="4861607" cy="7368374"/>
          </a:xfrm>
          <a:custGeom>
            <a:avLst/>
            <a:gdLst/>
            <a:ahLst/>
            <a:cxnLst/>
            <a:rect l="l" t="t" r="r" b="b"/>
            <a:pathLst>
              <a:path w="4861607" h="7368374">
                <a:moveTo>
                  <a:pt x="101267" y="0"/>
                </a:moveTo>
                <a:lnTo>
                  <a:pt x="4760340" y="0"/>
                </a:lnTo>
                <a:cubicBezTo>
                  <a:pt x="4816269" y="0"/>
                  <a:pt x="4861607" y="45339"/>
                  <a:pt x="4861607" y="101267"/>
                </a:cubicBezTo>
                <a:lnTo>
                  <a:pt x="4861607" y="7267107"/>
                </a:lnTo>
                <a:cubicBezTo>
                  <a:pt x="4861607" y="7323035"/>
                  <a:pt x="4816269" y="7368374"/>
                  <a:pt x="4760340" y="7368374"/>
                </a:cubicBezTo>
                <a:lnTo>
                  <a:pt x="101267" y="7368374"/>
                </a:lnTo>
                <a:cubicBezTo>
                  <a:pt x="45339" y="7368374"/>
                  <a:pt x="0" y="7323035"/>
                  <a:pt x="0" y="7267107"/>
                </a:cubicBezTo>
                <a:lnTo>
                  <a:pt x="0" y="101267"/>
                </a:lnTo>
                <a:cubicBezTo>
                  <a:pt x="0" y="45376"/>
                  <a:pt x="45376" y="0"/>
                  <a:pt x="101267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11186188" y="2126953"/>
            <a:ext cx="379813" cy="303850"/>
          </a:xfrm>
          <a:custGeom>
            <a:avLst/>
            <a:gdLst/>
            <a:ahLst/>
            <a:cxnLst/>
            <a:rect l="l" t="t" r="r" b="b"/>
            <a:pathLst>
              <a:path w="379813" h="303850">
                <a:moveTo>
                  <a:pt x="246819" y="124923"/>
                </a:moveTo>
                <a:cubicBezTo>
                  <a:pt x="254059" y="122964"/>
                  <a:pt x="261656" y="126407"/>
                  <a:pt x="264920" y="133113"/>
                </a:cubicBezTo>
                <a:lnTo>
                  <a:pt x="275958" y="155427"/>
                </a:lnTo>
                <a:cubicBezTo>
                  <a:pt x="282071" y="156257"/>
                  <a:pt x="288064" y="157919"/>
                  <a:pt x="293702" y="160234"/>
                </a:cubicBezTo>
                <a:lnTo>
                  <a:pt x="314473" y="146406"/>
                </a:lnTo>
                <a:cubicBezTo>
                  <a:pt x="320705" y="142252"/>
                  <a:pt x="328954" y="143083"/>
                  <a:pt x="334236" y="148364"/>
                </a:cubicBezTo>
                <a:lnTo>
                  <a:pt x="345630" y="159759"/>
                </a:lnTo>
                <a:cubicBezTo>
                  <a:pt x="350912" y="165041"/>
                  <a:pt x="351743" y="173349"/>
                  <a:pt x="347588" y="179521"/>
                </a:cubicBezTo>
                <a:lnTo>
                  <a:pt x="333761" y="200233"/>
                </a:lnTo>
                <a:cubicBezTo>
                  <a:pt x="334888" y="203022"/>
                  <a:pt x="335897" y="205930"/>
                  <a:pt x="336728" y="208957"/>
                </a:cubicBezTo>
                <a:cubicBezTo>
                  <a:pt x="337559" y="211983"/>
                  <a:pt x="338093" y="214950"/>
                  <a:pt x="338508" y="217977"/>
                </a:cubicBezTo>
                <a:lnTo>
                  <a:pt x="360882" y="229015"/>
                </a:lnTo>
                <a:cubicBezTo>
                  <a:pt x="367588" y="232339"/>
                  <a:pt x="371030" y="239935"/>
                  <a:pt x="369071" y="247116"/>
                </a:cubicBezTo>
                <a:lnTo>
                  <a:pt x="364917" y="262664"/>
                </a:lnTo>
                <a:cubicBezTo>
                  <a:pt x="362959" y="269845"/>
                  <a:pt x="356253" y="274712"/>
                  <a:pt x="348775" y="274237"/>
                </a:cubicBezTo>
                <a:lnTo>
                  <a:pt x="323850" y="272635"/>
                </a:lnTo>
                <a:cubicBezTo>
                  <a:pt x="320111" y="277442"/>
                  <a:pt x="315779" y="281893"/>
                  <a:pt x="310853" y="285691"/>
                </a:cubicBezTo>
                <a:lnTo>
                  <a:pt x="312456" y="310557"/>
                </a:lnTo>
                <a:cubicBezTo>
                  <a:pt x="312930" y="318034"/>
                  <a:pt x="308064" y="324800"/>
                  <a:pt x="300883" y="326699"/>
                </a:cubicBezTo>
                <a:lnTo>
                  <a:pt x="285335" y="330853"/>
                </a:lnTo>
                <a:cubicBezTo>
                  <a:pt x="278094" y="332811"/>
                  <a:pt x="270557" y="329369"/>
                  <a:pt x="267234" y="322663"/>
                </a:cubicBezTo>
                <a:lnTo>
                  <a:pt x="256196" y="300349"/>
                </a:lnTo>
                <a:cubicBezTo>
                  <a:pt x="250083" y="299518"/>
                  <a:pt x="244089" y="297857"/>
                  <a:pt x="238451" y="295542"/>
                </a:cubicBezTo>
                <a:lnTo>
                  <a:pt x="217680" y="309370"/>
                </a:lnTo>
                <a:cubicBezTo>
                  <a:pt x="211449" y="313524"/>
                  <a:pt x="203200" y="312693"/>
                  <a:pt x="197918" y="307411"/>
                </a:cubicBezTo>
                <a:lnTo>
                  <a:pt x="186524" y="296017"/>
                </a:lnTo>
                <a:cubicBezTo>
                  <a:pt x="181242" y="290735"/>
                  <a:pt x="180411" y="282486"/>
                  <a:pt x="184565" y="276255"/>
                </a:cubicBezTo>
                <a:lnTo>
                  <a:pt x="198393" y="255484"/>
                </a:lnTo>
                <a:cubicBezTo>
                  <a:pt x="197265" y="252694"/>
                  <a:pt x="196257" y="249786"/>
                  <a:pt x="195426" y="246760"/>
                </a:cubicBezTo>
                <a:cubicBezTo>
                  <a:pt x="194595" y="243733"/>
                  <a:pt x="194061" y="240707"/>
                  <a:pt x="193645" y="237739"/>
                </a:cubicBezTo>
                <a:lnTo>
                  <a:pt x="171272" y="226701"/>
                </a:lnTo>
                <a:cubicBezTo>
                  <a:pt x="164566" y="223378"/>
                  <a:pt x="161183" y="215781"/>
                  <a:pt x="163082" y="208600"/>
                </a:cubicBezTo>
                <a:lnTo>
                  <a:pt x="167236" y="193052"/>
                </a:lnTo>
                <a:cubicBezTo>
                  <a:pt x="169195" y="185871"/>
                  <a:pt x="175901" y="181005"/>
                  <a:pt x="183379" y="181479"/>
                </a:cubicBezTo>
                <a:lnTo>
                  <a:pt x="208244" y="183082"/>
                </a:lnTo>
                <a:cubicBezTo>
                  <a:pt x="211983" y="178275"/>
                  <a:pt x="216315" y="173824"/>
                  <a:pt x="221241" y="170026"/>
                </a:cubicBezTo>
                <a:lnTo>
                  <a:pt x="219639" y="145219"/>
                </a:lnTo>
                <a:cubicBezTo>
                  <a:pt x="219164" y="137742"/>
                  <a:pt x="224030" y="130976"/>
                  <a:pt x="231211" y="129077"/>
                </a:cubicBezTo>
                <a:lnTo>
                  <a:pt x="246760" y="124923"/>
                </a:lnTo>
                <a:close/>
                <a:moveTo>
                  <a:pt x="266107" y="201776"/>
                </a:moveTo>
                <a:cubicBezTo>
                  <a:pt x="251695" y="201792"/>
                  <a:pt x="240008" y="213506"/>
                  <a:pt x="240024" y="227918"/>
                </a:cubicBezTo>
                <a:cubicBezTo>
                  <a:pt x="240040" y="242329"/>
                  <a:pt x="251754" y="254016"/>
                  <a:pt x="266166" y="254000"/>
                </a:cubicBezTo>
                <a:cubicBezTo>
                  <a:pt x="280578" y="253984"/>
                  <a:pt x="292265" y="242270"/>
                  <a:pt x="292248" y="227858"/>
                </a:cubicBezTo>
                <a:cubicBezTo>
                  <a:pt x="292232" y="213446"/>
                  <a:pt x="280518" y="201759"/>
                  <a:pt x="266107" y="201776"/>
                </a:cubicBezTo>
                <a:close/>
                <a:moveTo>
                  <a:pt x="133469" y="-27002"/>
                </a:moveTo>
                <a:lnTo>
                  <a:pt x="149017" y="-22848"/>
                </a:lnTo>
                <a:cubicBezTo>
                  <a:pt x="156198" y="-20890"/>
                  <a:pt x="161064" y="-14124"/>
                  <a:pt x="160590" y="-6706"/>
                </a:cubicBezTo>
                <a:lnTo>
                  <a:pt x="158987" y="18100"/>
                </a:lnTo>
                <a:cubicBezTo>
                  <a:pt x="163913" y="21899"/>
                  <a:pt x="168245" y="26290"/>
                  <a:pt x="171984" y="31157"/>
                </a:cubicBezTo>
                <a:lnTo>
                  <a:pt x="196909" y="29554"/>
                </a:lnTo>
                <a:cubicBezTo>
                  <a:pt x="204328" y="29079"/>
                  <a:pt x="211093" y="33946"/>
                  <a:pt x="213051" y="41127"/>
                </a:cubicBezTo>
                <a:lnTo>
                  <a:pt x="217206" y="56675"/>
                </a:lnTo>
                <a:cubicBezTo>
                  <a:pt x="219105" y="63856"/>
                  <a:pt x="215722" y="71452"/>
                  <a:pt x="209016" y="74776"/>
                </a:cubicBezTo>
                <a:lnTo>
                  <a:pt x="186643" y="85814"/>
                </a:lnTo>
                <a:cubicBezTo>
                  <a:pt x="186227" y="88841"/>
                  <a:pt x="185634" y="91867"/>
                  <a:pt x="184862" y="94835"/>
                </a:cubicBezTo>
                <a:cubicBezTo>
                  <a:pt x="184091" y="97802"/>
                  <a:pt x="183022" y="100769"/>
                  <a:pt x="181895" y="103558"/>
                </a:cubicBezTo>
                <a:lnTo>
                  <a:pt x="195722" y="124329"/>
                </a:lnTo>
                <a:cubicBezTo>
                  <a:pt x="199877" y="130561"/>
                  <a:pt x="199046" y="138810"/>
                  <a:pt x="193764" y="144092"/>
                </a:cubicBezTo>
                <a:lnTo>
                  <a:pt x="182370" y="155486"/>
                </a:lnTo>
                <a:cubicBezTo>
                  <a:pt x="177088" y="160768"/>
                  <a:pt x="168839" y="161599"/>
                  <a:pt x="162607" y="157444"/>
                </a:cubicBezTo>
                <a:lnTo>
                  <a:pt x="141836" y="143617"/>
                </a:lnTo>
                <a:cubicBezTo>
                  <a:pt x="136199" y="145931"/>
                  <a:pt x="130205" y="147593"/>
                  <a:pt x="124092" y="148424"/>
                </a:cubicBezTo>
                <a:lnTo>
                  <a:pt x="113054" y="170738"/>
                </a:lnTo>
                <a:cubicBezTo>
                  <a:pt x="109730" y="177444"/>
                  <a:pt x="102134" y="180827"/>
                  <a:pt x="94953" y="178928"/>
                </a:cubicBezTo>
                <a:lnTo>
                  <a:pt x="79405" y="174773"/>
                </a:lnTo>
                <a:cubicBezTo>
                  <a:pt x="72164" y="172815"/>
                  <a:pt x="67357" y="166050"/>
                  <a:pt x="67832" y="158631"/>
                </a:cubicBezTo>
                <a:lnTo>
                  <a:pt x="69435" y="133765"/>
                </a:lnTo>
                <a:cubicBezTo>
                  <a:pt x="64509" y="129967"/>
                  <a:pt x="60177" y="125576"/>
                  <a:pt x="56438" y="120709"/>
                </a:cubicBezTo>
                <a:lnTo>
                  <a:pt x="31513" y="122312"/>
                </a:lnTo>
                <a:cubicBezTo>
                  <a:pt x="24094" y="122786"/>
                  <a:pt x="17329" y="117920"/>
                  <a:pt x="15371" y="110739"/>
                </a:cubicBezTo>
                <a:lnTo>
                  <a:pt x="11216" y="95191"/>
                </a:lnTo>
                <a:cubicBezTo>
                  <a:pt x="9317" y="88010"/>
                  <a:pt x="12700" y="80414"/>
                  <a:pt x="19406" y="77090"/>
                </a:cubicBezTo>
                <a:lnTo>
                  <a:pt x="41779" y="66052"/>
                </a:lnTo>
                <a:cubicBezTo>
                  <a:pt x="42195" y="63025"/>
                  <a:pt x="42788" y="60058"/>
                  <a:pt x="43560" y="57031"/>
                </a:cubicBezTo>
                <a:cubicBezTo>
                  <a:pt x="44391" y="54005"/>
                  <a:pt x="45340" y="51097"/>
                  <a:pt x="46527" y="48307"/>
                </a:cubicBezTo>
                <a:lnTo>
                  <a:pt x="32700" y="27596"/>
                </a:lnTo>
                <a:cubicBezTo>
                  <a:pt x="28545" y="21364"/>
                  <a:pt x="29376" y="13115"/>
                  <a:pt x="34658" y="7834"/>
                </a:cubicBezTo>
                <a:lnTo>
                  <a:pt x="46052" y="-3561"/>
                </a:lnTo>
                <a:cubicBezTo>
                  <a:pt x="51334" y="-8843"/>
                  <a:pt x="59583" y="-9673"/>
                  <a:pt x="65814" y="-5519"/>
                </a:cubicBezTo>
                <a:lnTo>
                  <a:pt x="86586" y="8308"/>
                </a:lnTo>
                <a:cubicBezTo>
                  <a:pt x="92223" y="5994"/>
                  <a:pt x="98217" y="4332"/>
                  <a:pt x="104330" y="3501"/>
                </a:cubicBezTo>
                <a:lnTo>
                  <a:pt x="115368" y="-18813"/>
                </a:lnTo>
                <a:cubicBezTo>
                  <a:pt x="118692" y="-25519"/>
                  <a:pt x="126229" y="-28901"/>
                  <a:pt x="133469" y="-27002"/>
                </a:cubicBezTo>
                <a:close/>
                <a:moveTo>
                  <a:pt x="114181" y="49850"/>
                </a:moveTo>
                <a:cubicBezTo>
                  <a:pt x="99770" y="49850"/>
                  <a:pt x="88069" y="61551"/>
                  <a:pt x="88069" y="75963"/>
                </a:cubicBezTo>
                <a:cubicBezTo>
                  <a:pt x="88069" y="90374"/>
                  <a:pt x="99770" y="102075"/>
                  <a:pt x="114181" y="102075"/>
                </a:cubicBezTo>
                <a:cubicBezTo>
                  <a:pt x="128593" y="102075"/>
                  <a:pt x="140293" y="90374"/>
                  <a:pt x="140293" y="75963"/>
                </a:cubicBezTo>
                <a:cubicBezTo>
                  <a:pt x="140293" y="61551"/>
                  <a:pt x="128593" y="49850"/>
                  <a:pt x="114181" y="49850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11566001" y="2076312"/>
            <a:ext cx="4026019" cy="405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93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典型优化手段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1186188" y="2734654"/>
            <a:ext cx="4253907" cy="1342006"/>
          </a:xfrm>
          <a:custGeom>
            <a:avLst/>
            <a:gdLst/>
            <a:ahLst/>
            <a:cxnLst/>
            <a:rect l="l" t="t" r="r" b="b"/>
            <a:pathLst>
              <a:path w="4253907" h="1342006">
                <a:moveTo>
                  <a:pt x="101281" y="0"/>
                </a:moveTo>
                <a:lnTo>
                  <a:pt x="4152625" y="0"/>
                </a:lnTo>
                <a:cubicBezTo>
                  <a:pt x="4208561" y="0"/>
                  <a:pt x="4253907" y="45345"/>
                  <a:pt x="4253907" y="101281"/>
                </a:cubicBezTo>
                <a:lnTo>
                  <a:pt x="4253907" y="1240725"/>
                </a:lnTo>
                <a:cubicBezTo>
                  <a:pt x="4253907" y="1296661"/>
                  <a:pt x="4208561" y="1342006"/>
                  <a:pt x="4152625" y="1342006"/>
                </a:cubicBezTo>
                <a:lnTo>
                  <a:pt x="101281" y="1342006"/>
                </a:lnTo>
                <a:cubicBezTo>
                  <a:pt x="45345" y="1342006"/>
                  <a:pt x="0" y="1296661"/>
                  <a:pt x="0" y="1240725"/>
                </a:cubicBezTo>
                <a:lnTo>
                  <a:pt x="0" y="101281"/>
                </a:lnTo>
                <a:cubicBezTo>
                  <a:pt x="0" y="45383"/>
                  <a:pt x="45383" y="0"/>
                  <a:pt x="101281" y="0"/>
                </a:cubicBezTo>
                <a:close/>
              </a:path>
            </a:pathLst>
          </a:custGeom>
          <a:solidFill>
            <a:srgbClr val="2D3748">
              <a:alpha val="8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11388755" y="2937221"/>
            <a:ext cx="506417" cy="506417"/>
          </a:xfrm>
          <a:custGeom>
            <a:avLst/>
            <a:gdLst/>
            <a:ahLst/>
            <a:cxnLst/>
            <a:rect l="l" t="t" r="r" b="b"/>
            <a:pathLst>
              <a:path w="506417" h="506417">
                <a:moveTo>
                  <a:pt x="253209" y="0"/>
                </a:moveTo>
                <a:lnTo>
                  <a:pt x="253209" y="0"/>
                </a:lnTo>
                <a:cubicBezTo>
                  <a:pt x="392958" y="0"/>
                  <a:pt x="506417" y="113459"/>
                  <a:pt x="506417" y="253209"/>
                </a:cubicBezTo>
                <a:lnTo>
                  <a:pt x="506417" y="253209"/>
                </a:lnTo>
                <a:cubicBezTo>
                  <a:pt x="506417" y="392958"/>
                  <a:pt x="392958" y="506417"/>
                  <a:pt x="253209" y="506417"/>
                </a:cubicBezTo>
                <a:lnTo>
                  <a:pt x="253209" y="506417"/>
                </a:lnTo>
                <a:cubicBezTo>
                  <a:pt x="113459" y="506417"/>
                  <a:pt x="0" y="392958"/>
                  <a:pt x="0" y="253209"/>
                </a:cubicBezTo>
                <a:lnTo>
                  <a:pt x="0" y="253209"/>
                </a:lnTo>
                <a:cubicBezTo>
                  <a:pt x="0" y="113459"/>
                  <a:pt x="113459" y="0"/>
                  <a:pt x="253209" y="0"/>
                </a:cubicBezTo>
                <a:close/>
              </a:path>
            </a:pathLst>
          </a:custGeom>
          <a:solidFill>
            <a:srgbClr val="D69E2E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11553340" y="3089146"/>
            <a:ext cx="177246" cy="202567"/>
          </a:xfrm>
          <a:custGeom>
            <a:avLst/>
            <a:gdLst/>
            <a:ahLst/>
            <a:cxnLst/>
            <a:rect l="l" t="t" r="r" b="b"/>
            <a:pathLst>
              <a:path w="177246" h="202567">
                <a:moveTo>
                  <a:pt x="75963" y="0"/>
                </a:moveTo>
                <a:cubicBezTo>
                  <a:pt x="61997" y="0"/>
                  <a:pt x="50642" y="11355"/>
                  <a:pt x="50642" y="25321"/>
                </a:cubicBezTo>
                <a:lnTo>
                  <a:pt x="50642" y="126604"/>
                </a:lnTo>
                <a:cubicBezTo>
                  <a:pt x="50642" y="140570"/>
                  <a:pt x="61997" y="151925"/>
                  <a:pt x="75963" y="151925"/>
                </a:cubicBezTo>
                <a:lnTo>
                  <a:pt x="151925" y="151925"/>
                </a:lnTo>
                <a:cubicBezTo>
                  <a:pt x="165891" y="151925"/>
                  <a:pt x="177246" y="140570"/>
                  <a:pt x="177246" y="126604"/>
                </a:cubicBezTo>
                <a:lnTo>
                  <a:pt x="177246" y="47239"/>
                </a:lnTo>
                <a:cubicBezTo>
                  <a:pt x="177246" y="40355"/>
                  <a:pt x="174437" y="33748"/>
                  <a:pt x="169452" y="28961"/>
                </a:cubicBezTo>
                <a:lnTo>
                  <a:pt x="146624" y="7042"/>
                </a:lnTo>
                <a:cubicBezTo>
                  <a:pt x="141916" y="2532"/>
                  <a:pt x="135625" y="0"/>
                  <a:pt x="129097" y="0"/>
                </a:cubicBezTo>
                <a:lnTo>
                  <a:pt x="75963" y="0"/>
                </a:lnTo>
                <a:close/>
                <a:moveTo>
                  <a:pt x="25321" y="50642"/>
                </a:moveTo>
                <a:cubicBezTo>
                  <a:pt x="11355" y="50642"/>
                  <a:pt x="0" y="61997"/>
                  <a:pt x="0" y="75963"/>
                </a:cubicBezTo>
                <a:lnTo>
                  <a:pt x="0" y="177246"/>
                </a:lnTo>
                <a:cubicBezTo>
                  <a:pt x="0" y="191212"/>
                  <a:pt x="11355" y="202567"/>
                  <a:pt x="25321" y="202567"/>
                </a:cubicBezTo>
                <a:lnTo>
                  <a:pt x="101283" y="202567"/>
                </a:lnTo>
                <a:cubicBezTo>
                  <a:pt x="115250" y="202567"/>
                  <a:pt x="126604" y="191212"/>
                  <a:pt x="126604" y="177246"/>
                </a:cubicBezTo>
                <a:lnTo>
                  <a:pt x="126604" y="170916"/>
                </a:lnTo>
                <a:lnTo>
                  <a:pt x="101283" y="170916"/>
                </a:lnTo>
                <a:lnTo>
                  <a:pt x="101283" y="177246"/>
                </a:lnTo>
                <a:lnTo>
                  <a:pt x="25321" y="177246"/>
                </a:lnTo>
                <a:lnTo>
                  <a:pt x="25321" y="75963"/>
                </a:lnTo>
                <a:lnTo>
                  <a:pt x="31651" y="75963"/>
                </a:lnTo>
                <a:lnTo>
                  <a:pt x="31651" y="50642"/>
                </a:lnTo>
                <a:lnTo>
                  <a:pt x="25321" y="50642"/>
                </a:ln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12047097" y="3013184"/>
            <a:ext cx="1025495" cy="354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94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数据冗余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1388755" y="3544922"/>
            <a:ext cx="3950056" cy="329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95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在报表表中冗余常用字段,避免关联查询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11186188" y="4279227"/>
            <a:ext cx="4253907" cy="1342006"/>
          </a:xfrm>
          <a:custGeom>
            <a:avLst/>
            <a:gdLst/>
            <a:ahLst/>
            <a:cxnLst/>
            <a:rect l="l" t="t" r="r" b="b"/>
            <a:pathLst>
              <a:path w="4253907" h="1342006">
                <a:moveTo>
                  <a:pt x="101281" y="0"/>
                </a:moveTo>
                <a:lnTo>
                  <a:pt x="4152625" y="0"/>
                </a:lnTo>
                <a:cubicBezTo>
                  <a:pt x="4208561" y="0"/>
                  <a:pt x="4253907" y="45345"/>
                  <a:pt x="4253907" y="101281"/>
                </a:cubicBezTo>
                <a:lnTo>
                  <a:pt x="4253907" y="1240725"/>
                </a:lnTo>
                <a:cubicBezTo>
                  <a:pt x="4253907" y="1296661"/>
                  <a:pt x="4208561" y="1342006"/>
                  <a:pt x="4152625" y="1342006"/>
                </a:cubicBezTo>
                <a:lnTo>
                  <a:pt x="101281" y="1342006"/>
                </a:lnTo>
                <a:cubicBezTo>
                  <a:pt x="45345" y="1342006"/>
                  <a:pt x="0" y="1296661"/>
                  <a:pt x="0" y="1240725"/>
                </a:cubicBezTo>
                <a:lnTo>
                  <a:pt x="0" y="101281"/>
                </a:lnTo>
                <a:cubicBezTo>
                  <a:pt x="0" y="45383"/>
                  <a:pt x="45383" y="0"/>
                  <a:pt x="101281" y="0"/>
                </a:cubicBezTo>
                <a:close/>
              </a:path>
            </a:pathLst>
          </a:custGeom>
          <a:solidFill>
            <a:srgbClr val="2D3748">
              <a:alpha val="8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>
            <a:off x="11388755" y="4481794"/>
            <a:ext cx="506417" cy="506417"/>
          </a:xfrm>
          <a:custGeom>
            <a:avLst/>
            <a:gdLst/>
            <a:ahLst/>
            <a:cxnLst/>
            <a:rect l="l" t="t" r="r" b="b"/>
            <a:pathLst>
              <a:path w="506417" h="506417">
                <a:moveTo>
                  <a:pt x="253209" y="0"/>
                </a:moveTo>
                <a:lnTo>
                  <a:pt x="253209" y="0"/>
                </a:lnTo>
                <a:cubicBezTo>
                  <a:pt x="392958" y="0"/>
                  <a:pt x="506417" y="113459"/>
                  <a:pt x="506417" y="253209"/>
                </a:cubicBezTo>
                <a:lnTo>
                  <a:pt x="506417" y="253209"/>
                </a:lnTo>
                <a:cubicBezTo>
                  <a:pt x="506417" y="392958"/>
                  <a:pt x="392958" y="506417"/>
                  <a:pt x="253209" y="506417"/>
                </a:cubicBezTo>
                <a:lnTo>
                  <a:pt x="253209" y="506417"/>
                </a:lnTo>
                <a:cubicBezTo>
                  <a:pt x="113459" y="506417"/>
                  <a:pt x="0" y="392958"/>
                  <a:pt x="0" y="253209"/>
                </a:cubicBezTo>
                <a:lnTo>
                  <a:pt x="0" y="253209"/>
                </a:lnTo>
                <a:cubicBezTo>
                  <a:pt x="0" y="113459"/>
                  <a:pt x="113459" y="0"/>
                  <a:pt x="253209" y="0"/>
                </a:cubicBezTo>
                <a:close/>
              </a:path>
            </a:pathLst>
          </a:custGeom>
          <a:solidFill>
            <a:srgbClr val="D69E2E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>
            <a:off x="11566001" y="4633720"/>
            <a:ext cx="151925" cy="202567"/>
          </a:xfrm>
          <a:custGeom>
            <a:avLst/>
            <a:gdLst/>
            <a:ahLst/>
            <a:cxnLst/>
            <a:rect l="l" t="t" r="r" b="b"/>
            <a:pathLst>
              <a:path w="151925" h="202567">
                <a:moveTo>
                  <a:pt x="25321" y="0"/>
                </a:moveTo>
                <a:cubicBezTo>
                  <a:pt x="11355" y="0"/>
                  <a:pt x="0" y="11355"/>
                  <a:pt x="0" y="25321"/>
                </a:cubicBezTo>
                <a:lnTo>
                  <a:pt x="0" y="177246"/>
                </a:lnTo>
                <a:cubicBezTo>
                  <a:pt x="0" y="191212"/>
                  <a:pt x="11355" y="202567"/>
                  <a:pt x="25321" y="202567"/>
                </a:cubicBezTo>
                <a:lnTo>
                  <a:pt x="126604" y="202567"/>
                </a:lnTo>
                <a:cubicBezTo>
                  <a:pt x="140570" y="202567"/>
                  <a:pt x="151925" y="191212"/>
                  <a:pt x="151925" y="177246"/>
                </a:cubicBezTo>
                <a:lnTo>
                  <a:pt x="151925" y="25321"/>
                </a:lnTo>
                <a:cubicBezTo>
                  <a:pt x="151925" y="11355"/>
                  <a:pt x="140570" y="0"/>
                  <a:pt x="126604" y="0"/>
                </a:cubicBezTo>
                <a:lnTo>
                  <a:pt x="25321" y="0"/>
                </a:lnTo>
                <a:close/>
                <a:moveTo>
                  <a:pt x="37981" y="25321"/>
                </a:moveTo>
                <a:lnTo>
                  <a:pt x="113944" y="25321"/>
                </a:lnTo>
                <a:cubicBezTo>
                  <a:pt x="120947" y="25321"/>
                  <a:pt x="126604" y="30979"/>
                  <a:pt x="126604" y="37981"/>
                </a:cubicBezTo>
                <a:lnTo>
                  <a:pt x="126604" y="50642"/>
                </a:lnTo>
                <a:cubicBezTo>
                  <a:pt x="126604" y="57645"/>
                  <a:pt x="120947" y="63302"/>
                  <a:pt x="113944" y="63302"/>
                </a:cubicBezTo>
                <a:lnTo>
                  <a:pt x="37981" y="63302"/>
                </a:lnTo>
                <a:cubicBezTo>
                  <a:pt x="30979" y="63302"/>
                  <a:pt x="25321" y="57645"/>
                  <a:pt x="25321" y="50642"/>
                </a:cubicBezTo>
                <a:lnTo>
                  <a:pt x="25321" y="37981"/>
                </a:lnTo>
                <a:cubicBezTo>
                  <a:pt x="25321" y="30979"/>
                  <a:pt x="30979" y="25321"/>
                  <a:pt x="37981" y="25321"/>
                </a:cubicBezTo>
                <a:close/>
                <a:moveTo>
                  <a:pt x="44312" y="91788"/>
                </a:moveTo>
                <a:cubicBezTo>
                  <a:pt x="44312" y="97029"/>
                  <a:pt x="40057" y="101283"/>
                  <a:pt x="34816" y="101283"/>
                </a:cubicBezTo>
                <a:cubicBezTo>
                  <a:pt x="29576" y="101283"/>
                  <a:pt x="25321" y="97029"/>
                  <a:pt x="25321" y="91788"/>
                </a:cubicBezTo>
                <a:cubicBezTo>
                  <a:pt x="25321" y="86548"/>
                  <a:pt x="29576" y="82293"/>
                  <a:pt x="34816" y="82293"/>
                </a:cubicBezTo>
                <a:cubicBezTo>
                  <a:pt x="40057" y="82293"/>
                  <a:pt x="44312" y="86548"/>
                  <a:pt x="44312" y="91788"/>
                </a:cubicBezTo>
                <a:close/>
                <a:moveTo>
                  <a:pt x="75963" y="101283"/>
                </a:moveTo>
                <a:cubicBezTo>
                  <a:pt x="70722" y="101283"/>
                  <a:pt x="66467" y="97029"/>
                  <a:pt x="66467" y="91788"/>
                </a:cubicBezTo>
                <a:cubicBezTo>
                  <a:pt x="66467" y="86548"/>
                  <a:pt x="70722" y="82293"/>
                  <a:pt x="75963" y="82293"/>
                </a:cubicBezTo>
                <a:cubicBezTo>
                  <a:pt x="81203" y="82293"/>
                  <a:pt x="85458" y="86548"/>
                  <a:pt x="85458" y="91788"/>
                </a:cubicBezTo>
                <a:cubicBezTo>
                  <a:pt x="85458" y="97029"/>
                  <a:pt x="81203" y="101283"/>
                  <a:pt x="75963" y="101283"/>
                </a:cubicBezTo>
                <a:close/>
                <a:moveTo>
                  <a:pt x="126604" y="91788"/>
                </a:moveTo>
                <a:cubicBezTo>
                  <a:pt x="126604" y="97029"/>
                  <a:pt x="122350" y="101283"/>
                  <a:pt x="117109" y="101283"/>
                </a:cubicBezTo>
                <a:cubicBezTo>
                  <a:pt x="111868" y="101283"/>
                  <a:pt x="107614" y="97029"/>
                  <a:pt x="107614" y="91788"/>
                </a:cubicBezTo>
                <a:cubicBezTo>
                  <a:pt x="107614" y="86548"/>
                  <a:pt x="111868" y="82293"/>
                  <a:pt x="117109" y="82293"/>
                </a:cubicBezTo>
                <a:cubicBezTo>
                  <a:pt x="122350" y="82293"/>
                  <a:pt x="126604" y="86548"/>
                  <a:pt x="126604" y="91788"/>
                </a:cubicBezTo>
                <a:close/>
                <a:moveTo>
                  <a:pt x="34816" y="139265"/>
                </a:moveTo>
                <a:cubicBezTo>
                  <a:pt x="29576" y="139265"/>
                  <a:pt x="25321" y="135010"/>
                  <a:pt x="25321" y="129769"/>
                </a:cubicBezTo>
                <a:cubicBezTo>
                  <a:pt x="25321" y="124529"/>
                  <a:pt x="29576" y="120274"/>
                  <a:pt x="34816" y="120274"/>
                </a:cubicBezTo>
                <a:cubicBezTo>
                  <a:pt x="40057" y="120274"/>
                  <a:pt x="44312" y="124529"/>
                  <a:pt x="44312" y="129769"/>
                </a:cubicBezTo>
                <a:cubicBezTo>
                  <a:pt x="44312" y="135010"/>
                  <a:pt x="40057" y="139265"/>
                  <a:pt x="34816" y="139265"/>
                </a:cubicBezTo>
                <a:close/>
                <a:moveTo>
                  <a:pt x="85458" y="129769"/>
                </a:moveTo>
                <a:cubicBezTo>
                  <a:pt x="85458" y="135010"/>
                  <a:pt x="81203" y="139265"/>
                  <a:pt x="75963" y="139265"/>
                </a:cubicBezTo>
                <a:cubicBezTo>
                  <a:pt x="70722" y="139265"/>
                  <a:pt x="66467" y="135010"/>
                  <a:pt x="66467" y="129769"/>
                </a:cubicBezTo>
                <a:cubicBezTo>
                  <a:pt x="66467" y="124529"/>
                  <a:pt x="70722" y="120274"/>
                  <a:pt x="75963" y="120274"/>
                </a:cubicBezTo>
                <a:cubicBezTo>
                  <a:pt x="81203" y="120274"/>
                  <a:pt x="85458" y="124529"/>
                  <a:pt x="85458" y="129769"/>
                </a:cubicBezTo>
                <a:close/>
                <a:moveTo>
                  <a:pt x="117109" y="139265"/>
                </a:moveTo>
                <a:cubicBezTo>
                  <a:pt x="111868" y="139265"/>
                  <a:pt x="107614" y="135010"/>
                  <a:pt x="107614" y="129769"/>
                </a:cubicBezTo>
                <a:cubicBezTo>
                  <a:pt x="107614" y="124529"/>
                  <a:pt x="111868" y="120274"/>
                  <a:pt x="117109" y="120274"/>
                </a:cubicBezTo>
                <a:cubicBezTo>
                  <a:pt x="122350" y="120274"/>
                  <a:pt x="126604" y="124529"/>
                  <a:pt x="126604" y="129769"/>
                </a:cubicBezTo>
                <a:cubicBezTo>
                  <a:pt x="126604" y="135010"/>
                  <a:pt x="122350" y="139265"/>
                  <a:pt x="117109" y="139265"/>
                </a:cubicBezTo>
                <a:close/>
                <a:moveTo>
                  <a:pt x="25321" y="167751"/>
                </a:moveTo>
                <a:cubicBezTo>
                  <a:pt x="25321" y="162489"/>
                  <a:pt x="29554" y="158255"/>
                  <a:pt x="34816" y="158255"/>
                </a:cubicBezTo>
                <a:lnTo>
                  <a:pt x="79128" y="158255"/>
                </a:lnTo>
                <a:cubicBezTo>
                  <a:pt x="84390" y="158255"/>
                  <a:pt x="88623" y="162489"/>
                  <a:pt x="88623" y="167751"/>
                </a:cubicBezTo>
                <a:cubicBezTo>
                  <a:pt x="88623" y="173013"/>
                  <a:pt x="84390" y="177246"/>
                  <a:pt x="79128" y="177246"/>
                </a:cubicBezTo>
                <a:lnTo>
                  <a:pt x="34816" y="177246"/>
                </a:lnTo>
                <a:cubicBezTo>
                  <a:pt x="29554" y="177246"/>
                  <a:pt x="25321" y="173013"/>
                  <a:pt x="25321" y="167751"/>
                </a:cubicBezTo>
                <a:close/>
                <a:moveTo>
                  <a:pt x="117109" y="158255"/>
                </a:moveTo>
                <a:cubicBezTo>
                  <a:pt x="122371" y="158255"/>
                  <a:pt x="126604" y="162489"/>
                  <a:pt x="126604" y="167751"/>
                </a:cubicBezTo>
                <a:cubicBezTo>
                  <a:pt x="126604" y="173013"/>
                  <a:pt x="122371" y="177246"/>
                  <a:pt x="117109" y="177246"/>
                </a:cubicBezTo>
                <a:cubicBezTo>
                  <a:pt x="111847" y="177246"/>
                  <a:pt x="107614" y="173013"/>
                  <a:pt x="107614" y="167751"/>
                </a:cubicBezTo>
                <a:cubicBezTo>
                  <a:pt x="107614" y="162489"/>
                  <a:pt x="111847" y="158255"/>
                  <a:pt x="117109" y="158255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12047097" y="4557757"/>
            <a:ext cx="797607" cy="354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94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预计算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1388755" y="5089495"/>
            <a:ext cx="3950056" cy="329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95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提前计算比率、同比、环比等复杂指标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11186188" y="5823801"/>
            <a:ext cx="4253907" cy="1342006"/>
          </a:xfrm>
          <a:custGeom>
            <a:avLst/>
            <a:gdLst/>
            <a:ahLst/>
            <a:cxnLst/>
            <a:rect l="l" t="t" r="r" b="b"/>
            <a:pathLst>
              <a:path w="4253907" h="1342006">
                <a:moveTo>
                  <a:pt x="101281" y="0"/>
                </a:moveTo>
                <a:lnTo>
                  <a:pt x="4152625" y="0"/>
                </a:lnTo>
                <a:cubicBezTo>
                  <a:pt x="4208561" y="0"/>
                  <a:pt x="4253907" y="45345"/>
                  <a:pt x="4253907" y="101281"/>
                </a:cubicBezTo>
                <a:lnTo>
                  <a:pt x="4253907" y="1240725"/>
                </a:lnTo>
                <a:cubicBezTo>
                  <a:pt x="4253907" y="1296661"/>
                  <a:pt x="4208561" y="1342006"/>
                  <a:pt x="4152625" y="1342006"/>
                </a:cubicBezTo>
                <a:lnTo>
                  <a:pt x="101281" y="1342006"/>
                </a:lnTo>
                <a:cubicBezTo>
                  <a:pt x="45345" y="1342006"/>
                  <a:pt x="0" y="1296661"/>
                  <a:pt x="0" y="1240725"/>
                </a:cubicBezTo>
                <a:lnTo>
                  <a:pt x="0" y="101281"/>
                </a:lnTo>
                <a:cubicBezTo>
                  <a:pt x="0" y="45383"/>
                  <a:pt x="45383" y="0"/>
                  <a:pt x="101281" y="0"/>
                </a:cubicBezTo>
                <a:close/>
              </a:path>
            </a:pathLst>
          </a:custGeom>
          <a:solidFill>
            <a:srgbClr val="2D3748">
              <a:alpha val="8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Shape 51"/>
          <p:cNvSpPr/>
          <p:nvPr/>
        </p:nvSpPr>
        <p:spPr>
          <a:xfrm>
            <a:off x="11388755" y="6026368"/>
            <a:ext cx="506417" cy="506417"/>
          </a:xfrm>
          <a:custGeom>
            <a:avLst/>
            <a:gdLst/>
            <a:ahLst/>
            <a:cxnLst/>
            <a:rect l="l" t="t" r="r" b="b"/>
            <a:pathLst>
              <a:path w="506417" h="506417">
                <a:moveTo>
                  <a:pt x="253209" y="0"/>
                </a:moveTo>
                <a:lnTo>
                  <a:pt x="253209" y="0"/>
                </a:lnTo>
                <a:cubicBezTo>
                  <a:pt x="392958" y="0"/>
                  <a:pt x="506417" y="113459"/>
                  <a:pt x="506417" y="253209"/>
                </a:cubicBezTo>
                <a:lnTo>
                  <a:pt x="506417" y="253209"/>
                </a:lnTo>
                <a:cubicBezTo>
                  <a:pt x="506417" y="392958"/>
                  <a:pt x="392958" y="506417"/>
                  <a:pt x="253209" y="506417"/>
                </a:cubicBezTo>
                <a:lnTo>
                  <a:pt x="253209" y="506417"/>
                </a:lnTo>
                <a:cubicBezTo>
                  <a:pt x="113459" y="506417"/>
                  <a:pt x="0" y="392958"/>
                  <a:pt x="0" y="253209"/>
                </a:cubicBezTo>
                <a:lnTo>
                  <a:pt x="0" y="253209"/>
                </a:lnTo>
                <a:cubicBezTo>
                  <a:pt x="0" y="113459"/>
                  <a:pt x="113459" y="0"/>
                  <a:pt x="253209" y="0"/>
                </a:cubicBezTo>
                <a:close/>
              </a:path>
            </a:pathLst>
          </a:custGeom>
          <a:solidFill>
            <a:srgbClr val="D69E2E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Shape 52"/>
          <p:cNvSpPr/>
          <p:nvPr/>
        </p:nvSpPr>
        <p:spPr>
          <a:xfrm>
            <a:off x="11540680" y="6178293"/>
            <a:ext cx="202567" cy="202567"/>
          </a:xfrm>
          <a:custGeom>
            <a:avLst/>
            <a:gdLst/>
            <a:ahLst/>
            <a:cxnLst/>
            <a:rect l="l" t="t" r="r" b="b"/>
            <a:pathLst>
              <a:path w="202567" h="202567">
                <a:moveTo>
                  <a:pt x="91986" y="2057"/>
                </a:moveTo>
                <a:cubicBezTo>
                  <a:pt x="97881" y="-673"/>
                  <a:pt x="104686" y="-673"/>
                  <a:pt x="110581" y="2057"/>
                </a:cubicBezTo>
                <a:lnTo>
                  <a:pt x="197068" y="42017"/>
                </a:lnTo>
                <a:cubicBezTo>
                  <a:pt x="200431" y="43560"/>
                  <a:pt x="202567" y="46923"/>
                  <a:pt x="202567" y="50642"/>
                </a:cubicBezTo>
                <a:cubicBezTo>
                  <a:pt x="202567" y="54361"/>
                  <a:pt x="200431" y="57724"/>
                  <a:pt x="197068" y="59267"/>
                </a:cubicBezTo>
                <a:lnTo>
                  <a:pt x="110581" y="99226"/>
                </a:lnTo>
                <a:cubicBezTo>
                  <a:pt x="104686" y="101956"/>
                  <a:pt x="97881" y="101956"/>
                  <a:pt x="91986" y="99226"/>
                </a:cubicBezTo>
                <a:lnTo>
                  <a:pt x="5499" y="59267"/>
                </a:lnTo>
                <a:cubicBezTo>
                  <a:pt x="2136" y="57684"/>
                  <a:pt x="0" y="54321"/>
                  <a:pt x="0" y="50642"/>
                </a:cubicBezTo>
                <a:cubicBezTo>
                  <a:pt x="0" y="46962"/>
                  <a:pt x="2136" y="43560"/>
                  <a:pt x="5499" y="42017"/>
                </a:cubicBezTo>
                <a:lnTo>
                  <a:pt x="91986" y="2057"/>
                </a:lnTo>
                <a:close/>
                <a:moveTo>
                  <a:pt x="19030" y="86407"/>
                </a:moveTo>
                <a:lnTo>
                  <a:pt x="84034" y="116436"/>
                </a:lnTo>
                <a:cubicBezTo>
                  <a:pt x="94993" y="121501"/>
                  <a:pt x="107614" y="121501"/>
                  <a:pt x="118573" y="116436"/>
                </a:cubicBezTo>
                <a:lnTo>
                  <a:pt x="183576" y="86407"/>
                </a:lnTo>
                <a:lnTo>
                  <a:pt x="197068" y="92659"/>
                </a:lnTo>
                <a:cubicBezTo>
                  <a:pt x="200431" y="94202"/>
                  <a:pt x="202567" y="97564"/>
                  <a:pt x="202567" y="101283"/>
                </a:cubicBezTo>
                <a:cubicBezTo>
                  <a:pt x="202567" y="105002"/>
                  <a:pt x="200431" y="108365"/>
                  <a:pt x="197068" y="109908"/>
                </a:cubicBezTo>
                <a:lnTo>
                  <a:pt x="110581" y="149868"/>
                </a:lnTo>
                <a:cubicBezTo>
                  <a:pt x="104686" y="152598"/>
                  <a:pt x="97881" y="152598"/>
                  <a:pt x="91986" y="149868"/>
                </a:cubicBezTo>
                <a:lnTo>
                  <a:pt x="5499" y="109908"/>
                </a:lnTo>
                <a:cubicBezTo>
                  <a:pt x="2136" y="108326"/>
                  <a:pt x="0" y="104963"/>
                  <a:pt x="0" y="101283"/>
                </a:cubicBezTo>
                <a:cubicBezTo>
                  <a:pt x="0" y="97604"/>
                  <a:pt x="2136" y="94202"/>
                  <a:pt x="5499" y="92659"/>
                </a:cubicBezTo>
                <a:lnTo>
                  <a:pt x="18991" y="86407"/>
                </a:lnTo>
                <a:close/>
                <a:moveTo>
                  <a:pt x="5499" y="143300"/>
                </a:moveTo>
                <a:lnTo>
                  <a:pt x="18991" y="137049"/>
                </a:lnTo>
                <a:lnTo>
                  <a:pt x="83994" y="167078"/>
                </a:lnTo>
                <a:cubicBezTo>
                  <a:pt x="94953" y="172142"/>
                  <a:pt x="107574" y="172142"/>
                  <a:pt x="118533" y="167078"/>
                </a:cubicBezTo>
                <a:lnTo>
                  <a:pt x="183537" y="137049"/>
                </a:lnTo>
                <a:lnTo>
                  <a:pt x="197028" y="143300"/>
                </a:lnTo>
                <a:cubicBezTo>
                  <a:pt x="200391" y="144843"/>
                  <a:pt x="202527" y="148206"/>
                  <a:pt x="202527" y="151925"/>
                </a:cubicBezTo>
                <a:cubicBezTo>
                  <a:pt x="202527" y="155644"/>
                  <a:pt x="200391" y="159007"/>
                  <a:pt x="197028" y="160550"/>
                </a:cubicBezTo>
                <a:lnTo>
                  <a:pt x="110541" y="200510"/>
                </a:lnTo>
                <a:cubicBezTo>
                  <a:pt x="104646" y="203240"/>
                  <a:pt x="97841" y="203240"/>
                  <a:pt x="91946" y="200510"/>
                </a:cubicBezTo>
                <a:lnTo>
                  <a:pt x="5499" y="160550"/>
                </a:lnTo>
                <a:cubicBezTo>
                  <a:pt x="2136" y="158968"/>
                  <a:pt x="0" y="155605"/>
                  <a:pt x="0" y="151925"/>
                </a:cubicBezTo>
                <a:cubicBezTo>
                  <a:pt x="0" y="148246"/>
                  <a:pt x="2136" y="144843"/>
                  <a:pt x="5499" y="143300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/>
          <p:nvPr/>
        </p:nvSpPr>
        <p:spPr>
          <a:xfrm>
            <a:off x="12047097" y="6102330"/>
            <a:ext cx="1253383" cy="354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94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扁平化设计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1388755" y="6634069"/>
            <a:ext cx="3950056" cy="329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95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减少表关联,用单表查询满足报表需求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11186188" y="7475988"/>
            <a:ext cx="4253907" cy="12660"/>
          </a:xfrm>
          <a:custGeom>
            <a:avLst/>
            <a:gdLst/>
            <a:ahLst/>
            <a:cxnLst/>
            <a:rect l="l" t="t" r="r" b="b"/>
            <a:pathLst>
              <a:path w="4253907" h="12660">
                <a:moveTo>
                  <a:pt x="0" y="0"/>
                </a:moveTo>
                <a:lnTo>
                  <a:pt x="4253907" y="0"/>
                </a:lnTo>
                <a:lnTo>
                  <a:pt x="4253907" y="12660"/>
                </a:lnTo>
                <a:lnTo>
                  <a:pt x="0" y="12660"/>
                </a:lnTo>
                <a:lnTo>
                  <a:pt x="0" y="0"/>
                </a:ln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Shape 56"/>
          <p:cNvSpPr/>
          <p:nvPr/>
        </p:nvSpPr>
        <p:spPr>
          <a:xfrm>
            <a:off x="11236829" y="7735526"/>
            <a:ext cx="151925" cy="202567"/>
          </a:xfrm>
          <a:custGeom>
            <a:avLst/>
            <a:gdLst/>
            <a:ahLst/>
            <a:cxnLst/>
            <a:rect l="l" t="t" r="r" b="b"/>
            <a:pathLst>
              <a:path w="151925" h="202567">
                <a:moveTo>
                  <a:pt x="115883" y="151925"/>
                </a:moveTo>
                <a:cubicBezTo>
                  <a:pt x="118771" y="143102"/>
                  <a:pt x="124547" y="135111"/>
                  <a:pt x="131075" y="128226"/>
                </a:cubicBezTo>
                <a:cubicBezTo>
                  <a:pt x="144012" y="114617"/>
                  <a:pt x="151925" y="96219"/>
                  <a:pt x="151925" y="75963"/>
                </a:cubicBezTo>
                <a:cubicBezTo>
                  <a:pt x="151925" y="34025"/>
                  <a:pt x="117900" y="0"/>
                  <a:pt x="75963" y="0"/>
                </a:cubicBezTo>
                <a:cubicBezTo>
                  <a:pt x="34025" y="0"/>
                  <a:pt x="0" y="34025"/>
                  <a:pt x="0" y="75963"/>
                </a:cubicBezTo>
                <a:cubicBezTo>
                  <a:pt x="0" y="96219"/>
                  <a:pt x="7913" y="114617"/>
                  <a:pt x="20850" y="128226"/>
                </a:cubicBezTo>
                <a:cubicBezTo>
                  <a:pt x="27378" y="135111"/>
                  <a:pt x="33194" y="143102"/>
                  <a:pt x="36043" y="151925"/>
                </a:cubicBezTo>
                <a:lnTo>
                  <a:pt x="115843" y="151925"/>
                </a:lnTo>
                <a:close/>
                <a:moveTo>
                  <a:pt x="113944" y="170916"/>
                </a:moveTo>
                <a:lnTo>
                  <a:pt x="37981" y="170916"/>
                </a:lnTo>
                <a:lnTo>
                  <a:pt x="37981" y="177246"/>
                </a:lnTo>
                <a:cubicBezTo>
                  <a:pt x="37981" y="194733"/>
                  <a:pt x="52145" y="208897"/>
                  <a:pt x="69632" y="208897"/>
                </a:cubicBezTo>
                <a:lnTo>
                  <a:pt x="82293" y="208897"/>
                </a:lnTo>
                <a:cubicBezTo>
                  <a:pt x="99780" y="208897"/>
                  <a:pt x="113944" y="194733"/>
                  <a:pt x="113944" y="177246"/>
                </a:cubicBezTo>
                <a:lnTo>
                  <a:pt x="113944" y="170916"/>
                </a:lnTo>
                <a:close/>
                <a:moveTo>
                  <a:pt x="72798" y="44312"/>
                </a:moveTo>
                <a:cubicBezTo>
                  <a:pt x="57051" y="44312"/>
                  <a:pt x="44312" y="57051"/>
                  <a:pt x="44312" y="72798"/>
                </a:cubicBezTo>
                <a:cubicBezTo>
                  <a:pt x="44312" y="78060"/>
                  <a:pt x="40078" y="82293"/>
                  <a:pt x="34816" y="82293"/>
                </a:cubicBezTo>
                <a:cubicBezTo>
                  <a:pt x="29554" y="82293"/>
                  <a:pt x="25321" y="78060"/>
                  <a:pt x="25321" y="72798"/>
                </a:cubicBezTo>
                <a:cubicBezTo>
                  <a:pt x="25321" y="46567"/>
                  <a:pt x="46567" y="25321"/>
                  <a:pt x="72798" y="25321"/>
                </a:cubicBezTo>
                <a:cubicBezTo>
                  <a:pt x="78060" y="25321"/>
                  <a:pt x="82293" y="29554"/>
                  <a:pt x="82293" y="34816"/>
                </a:cubicBezTo>
                <a:cubicBezTo>
                  <a:pt x="82293" y="40078"/>
                  <a:pt x="78060" y="44312"/>
                  <a:pt x="72798" y="44312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9" name="Text 57"/>
          <p:cNvSpPr/>
          <p:nvPr/>
        </p:nvSpPr>
        <p:spPr>
          <a:xfrm>
            <a:off x="11540680" y="7684885"/>
            <a:ext cx="911551" cy="30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5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设计哲学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11186188" y="8090019"/>
            <a:ext cx="4355190" cy="658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95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ADS层的设计要跳出传统数据库范式的束缚,以业务价值为导向。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8723" y="474974"/>
            <a:ext cx="1413049" cy="379980"/>
          </a:xfrm>
          <a:custGeom>
            <a:avLst/>
            <a:gdLst/>
            <a:ahLst/>
            <a:cxnLst/>
            <a:rect l="l" t="t" r="r" b="b"/>
            <a:pathLst>
              <a:path w="1413049" h="379980">
                <a:moveTo>
                  <a:pt x="0" y="0"/>
                </a:moveTo>
                <a:lnTo>
                  <a:pt x="1413049" y="0"/>
                </a:lnTo>
                <a:lnTo>
                  <a:pt x="1413049" y="379980"/>
                </a:lnTo>
                <a:lnTo>
                  <a:pt x="0" y="379980"/>
                </a:lnTo>
                <a:lnTo>
                  <a:pt x="0" y="0"/>
                </a:lnTo>
                <a:close/>
              </a:path>
            </a:pathLst>
          </a:custGeom>
          <a:solidFill>
            <a:srgbClr val="D69E2E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498723" y="474974"/>
            <a:ext cx="47497" cy="379980"/>
          </a:xfrm>
          <a:custGeom>
            <a:avLst/>
            <a:gdLst/>
            <a:ahLst/>
            <a:cxnLst/>
            <a:rect l="l" t="t" r="r" b="b"/>
            <a:pathLst>
              <a:path w="47497" h="379980">
                <a:moveTo>
                  <a:pt x="0" y="0"/>
                </a:moveTo>
                <a:lnTo>
                  <a:pt x="47497" y="0"/>
                </a:lnTo>
                <a:lnTo>
                  <a:pt x="47497" y="379980"/>
                </a:lnTo>
                <a:lnTo>
                  <a:pt x="0" y="379980"/>
                </a:lnTo>
                <a:lnTo>
                  <a:pt x="0" y="0"/>
                </a:ln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12462" y="540283"/>
            <a:ext cx="1101811" cy="249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6" b="1" kern="0" spc="75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SUMMARY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74974" y="949949"/>
            <a:ext cx="15519790" cy="4749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366" b="1" dirty="0">
                <a:solidFill>
                  <a:srgbClr val="E2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分层架构的核心价值总结</a:t>
            </a:r>
            <a:endParaRPr lang="en-US" sz="1600" dirty="0"/>
          </a:p>
        </p:txBody>
      </p:sp>
      <p:pic>
        <p:nvPicPr>
          <p:cNvPr id="6" name="Image 0" descr="https://kimi-img.moonshot.cn/pub/slides/25-12-19-09:05:16-d52a9j7aa0v0hvl7esg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4974" y="1662411"/>
            <a:ext cx="9404494" cy="7480847"/>
          </a:xfrm>
          <a:prstGeom prst="roundRect">
            <a:avLst>
              <a:gd name="adj" fmla="val 0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11243628" y="1662411"/>
            <a:ext cx="4536006" cy="1804903"/>
          </a:xfrm>
          <a:custGeom>
            <a:avLst/>
            <a:gdLst/>
            <a:ahLst/>
            <a:cxnLst/>
            <a:rect l="l" t="t" r="r" b="b"/>
            <a:pathLst>
              <a:path w="4536006" h="1804903">
                <a:moveTo>
                  <a:pt x="47497" y="0"/>
                </a:moveTo>
                <a:lnTo>
                  <a:pt x="4441014" y="0"/>
                </a:lnTo>
                <a:cubicBezTo>
                  <a:pt x="4493476" y="0"/>
                  <a:pt x="4536006" y="42529"/>
                  <a:pt x="4536006" y="94992"/>
                </a:cubicBezTo>
                <a:lnTo>
                  <a:pt x="4536006" y="1709911"/>
                </a:lnTo>
                <a:cubicBezTo>
                  <a:pt x="4536006" y="1762373"/>
                  <a:pt x="4493476" y="1804903"/>
                  <a:pt x="4441014" y="1804903"/>
                </a:cubicBezTo>
                <a:lnTo>
                  <a:pt x="47497" y="1804903"/>
                </a:lnTo>
                <a:cubicBezTo>
                  <a:pt x="21265" y="1804903"/>
                  <a:pt x="0" y="1783638"/>
                  <a:pt x="0" y="1757405"/>
                </a:cubicBezTo>
                <a:lnTo>
                  <a:pt x="0" y="47497"/>
                </a:lnTo>
                <a:cubicBezTo>
                  <a:pt x="0" y="21265"/>
                  <a:pt x="21265" y="0"/>
                  <a:pt x="47497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5"/>
          <p:cNvSpPr/>
          <p:nvPr/>
        </p:nvSpPr>
        <p:spPr>
          <a:xfrm>
            <a:off x="11243628" y="1662411"/>
            <a:ext cx="47497" cy="1804903"/>
          </a:xfrm>
          <a:custGeom>
            <a:avLst/>
            <a:gdLst/>
            <a:ahLst/>
            <a:cxnLst/>
            <a:rect l="l" t="t" r="r" b="b"/>
            <a:pathLst>
              <a:path w="47497" h="1804903">
                <a:moveTo>
                  <a:pt x="47497" y="0"/>
                </a:moveTo>
                <a:lnTo>
                  <a:pt x="47497" y="0"/>
                </a:lnTo>
                <a:lnTo>
                  <a:pt x="47497" y="1804903"/>
                </a:lnTo>
                <a:lnTo>
                  <a:pt x="47497" y="1804903"/>
                </a:lnTo>
                <a:cubicBezTo>
                  <a:pt x="21265" y="1804903"/>
                  <a:pt x="0" y="1783638"/>
                  <a:pt x="0" y="1757405"/>
                </a:cubicBezTo>
                <a:lnTo>
                  <a:pt x="0" y="47497"/>
                </a:lnTo>
                <a:cubicBezTo>
                  <a:pt x="0" y="21283"/>
                  <a:pt x="21283" y="0"/>
                  <a:pt x="47497" y="0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6"/>
          <p:cNvSpPr/>
          <p:nvPr/>
        </p:nvSpPr>
        <p:spPr>
          <a:xfrm>
            <a:off x="11504864" y="1899898"/>
            <a:ext cx="569969" cy="569969"/>
          </a:xfrm>
          <a:custGeom>
            <a:avLst/>
            <a:gdLst/>
            <a:ahLst/>
            <a:cxnLst/>
            <a:rect l="l" t="t" r="r" b="b"/>
            <a:pathLst>
              <a:path w="569969" h="569969">
                <a:moveTo>
                  <a:pt x="47496" y="0"/>
                </a:moveTo>
                <a:lnTo>
                  <a:pt x="522474" y="0"/>
                </a:lnTo>
                <a:cubicBezTo>
                  <a:pt x="548705" y="0"/>
                  <a:pt x="569969" y="21264"/>
                  <a:pt x="569969" y="47496"/>
                </a:cubicBezTo>
                <a:lnTo>
                  <a:pt x="569969" y="522474"/>
                </a:lnTo>
                <a:cubicBezTo>
                  <a:pt x="569969" y="548705"/>
                  <a:pt x="548705" y="569969"/>
                  <a:pt x="522474" y="569969"/>
                </a:cubicBezTo>
                <a:lnTo>
                  <a:pt x="47496" y="569969"/>
                </a:lnTo>
                <a:cubicBezTo>
                  <a:pt x="21264" y="569969"/>
                  <a:pt x="0" y="548705"/>
                  <a:pt x="0" y="522474"/>
                </a:cubicBezTo>
                <a:lnTo>
                  <a:pt x="0" y="47496"/>
                </a:lnTo>
                <a:cubicBezTo>
                  <a:pt x="0" y="21264"/>
                  <a:pt x="21264" y="0"/>
                  <a:pt x="47496" y="0"/>
                </a:cubicBezTo>
                <a:close/>
              </a:path>
            </a:pathLst>
          </a:custGeom>
          <a:solidFill>
            <a:srgbClr val="D69E2E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7"/>
          <p:cNvSpPr/>
          <p:nvPr/>
        </p:nvSpPr>
        <p:spPr>
          <a:xfrm>
            <a:off x="11656262" y="2066139"/>
            <a:ext cx="267173" cy="237487"/>
          </a:xfrm>
          <a:custGeom>
            <a:avLst/>
            <a:gdLst/>
            <a:ahLst/>
            <a:cxnLst/>
            <a:rect l="l" t="t" r="r" b="b"/>
            <a:pathLst>
              <a:path w="267173" h="237487">
                <a:moveTo>
                  <a:pt x="19018" y="-11550"/>
                </a:moveTo>
                <a:cubicBezTo>
                  <a:pt x="14657" y="-15910"/>
                  <a:pt x="7607" y="-15910"/>
                  <a:pt x="3293" y="-11550"/>
                </a:cubicBezTo>
                <a:cubicBezTo>
                  <a:pt x="-1020" y="-7190"/>
                  <a:pt x="-1067" y="-139"/>
                  <a:pt x="3247" y="4221"/>
                </a:cubicBezTo>
                <a:lnTo>
                  <a:pt x="248156" y="249130"/>
                </a:lnTo>
                <a:cubicBezTo>
                  <a:pt x="252516" y="253490"/>
                  <a:pt x="259566" y="253490"/>
                  <a:pt x="263880" y="249130"/>
                </a:cubicBezTo>
                <a:cubicBezTo>
                  <a:pt x="268194" y="244770"/>
                  <a:pt x="268240" y="237719"/>
                  <a:pt x="263880" y="233405"/>
                </a:cubicBezTo>
                <a:lnTo>
                  <a:pt x="207291" y="176817"/>
                </a:lnTo>
                <a:cubicBezTo>
                  <a:pt x="209239" y="175240"/>
                  <a:pt x="211141" y="173523"/>
                  <a:pt x="212904" y="171761"/>
                </a:cubicBezTo>
                <a:lnTo>
                  <a:pt x="245883" y="138782"/>
                </a:lnTo>
                <a:cubicBezTo>
                  <a:pt x="259473" y="125191"/>
                  <a:pt x="267127" y="106730"/>
                  <a:pt x="267127" y="87481"/>
                </a:cubicBezTo>
                <a:cubicBezTo>
                  <a:pt x="267127" y="47405"/>
                  <a:pt x="234658" y="14889"/>
                  <a:pt x="194535" y="14889"/>
                </a:cubicBezTo>
                <a:cubicBezTo>
                  <a:pt x="177234" y="14889"/>
                  <a:pt x="160629" y="21058"/>
                  <a:pt x="147548" y="32144"/>
                </a:cubicBezTo>
                <a:cubicBezTo>
                  <a:pt x="156964" y="36829"/>
                  <a:pt x="165499" y="43045"/>
                  <a:pt x="172828" y="50466"/>
                </a:cubicBezTo>
                <a:cubicBezTo>
                  <a:pt x="179368" y="46616"/>
                  <a:pt x="186836" y="44575"/>
                  <a:pt x="194535" y="44575"/>
                </a:cubicBezTo>
                <a:cubicBezTo>
                  <a:pt x="218238" y="44575"/>
                  <a:pt x="237441" y="63778"/>
                  <a:pt x="237441" y="87481"/>
                </a:cubicBezTo>
                <a:cubicBezTo>
                  <a:pt x="237441" y="98845"/>
                  <a:pt x="232942" y="109745"/>
                  <a:pt x="224871" y="117816"/>
                </a:cubicBezTo>
                <a:lnTo>
                  <a:pt x="191892" y="150795"/>
                </a:lnTo>
                <a:cubicBezTo>
                  <a:pt x="190083" y="152604"/>
                  <a:pt x="188134" y="154228"/>
                  <a:pt x="186047" y="155665"/>
                </a:cubicBezTo>
                <a:lnTo>
                  <a:pt x="164015" y="133633"/>
                </a:lnTo>
                <a:cubicBezTo>
                  <a:pt x="171668" y="133215"/>
                  <a:pt x="177791" y="126954"/>
                  <a:pt x="178023" y="119207"/>
                </a:cubicBezTo>
                <a:cubicBezTo>
                  <a:pt x="178023" y="118604"/>
                  <a:pt x="178023" y="118001"/>
                  <a:pt x="178023" y="117398"/>
                </a:cubicBezTo>
                <a:cubicBezTo>
                  <a:pt x="178023" y="77369"/>
                  <a:pt x="145600" y="44622"/>
                  <a:pt x="105431" y="44622"/>
                </a:cubicBezTo>
                <a:cubicBezTo>
                  <a:pt x="96526" y="44622"/>
                  <a:pt x="87852" y="46245"/>
                  <a:pt x="79688" y="49353"/>
                </a:cubicBezTo>
                <a:lnTo>
                  <a:pt x="19018" y="-11550"/>
                </a:lnTo>
                <a:close/>
                <a:moveTo>
                  <a:pt x="104782" y="74215"/>
                </a:moveTo>
                <a:cubicBezTo>
                  <a:pt x="105060" y="74215"/>
                  <a:pt x="105292" y="74215"/>
                  <a:pt x="105570" y="74215"/>
                </a:cubicBezTo>
                <a:cubicBezTo>
                  <a:pt x="112575" y="74215"/>
                  <a:pt x="119254" y="75931"/>
                  <a:pt x="125098" y="78946"/>
                </a:cubicBezTo>
                <a:cubicBezTo>
                  <a:pt x="125933" y="79503"/>
                  <a:pt x="126768" y="80013"/>
                  <a:pt x="127649" y="80384"/>
                </a:cubicBezTo>
                <a:cubicBezTo>
                  <a:pt x="140080" y="87944"/>
                  <a:pt x="148430" y="101674"/>
                  <a:pt x="148430" y="117306"/>
                </a:cubicBezTo>
                <a:cubicBezTo>
                  <a:pt x="148430" y="117491"/>
                  <a:pt x="148430" y="117677"/>
                  <a:pt x="148430" y="117862"/>
                </a:cubicBezTo>
                <a:lnTo>
                  <a:pt x="104782" y="74215"/>
                </a:lnTo>
                <a:close/>
                <a:moveTo>
                  <a:pt x="160582" y="192958"/>
                </a:moveTo>
                <a:lnTo>
                  <a:pt x="89058" y="121434"/>
                </a:lnTo>
                <a:cubicBezTo>
                  <a:pt x="89614" y="160675"/>
                  <a:pt x="121341" y="192355"/>
                  <a:pt x="160536" y="192912"/>
                </a:cubicBezTo>
                <a:close/>
                <a:moveTo>
                  <a:pt x="64799" y="97175"/>
                </a:moveTo>
                <a:lnTo>
                  <a:pt x="43787" y="76163"/>
                </a:lnTo>
                <a:lnTo>
                  <a:pt x="21244" y="98706"/>
                </a:lnTo>
                <a:cubicBezTo>
                  <a:pt x="7653" y="112296"/>
                  <a:pt x="0" y="130757"/>
                  <a:pt x="0" y="150007"/>
                </a:cubicBezTo>
                <a:cubicBezTo>
                  <a:pt x="0" y="190083"/>
                  <a:pt x="32469" y="222598"/>
                  <a:pt x="72591" y="222598"/>
                </a:cubicBezTo>
                <a:cubicBezTo>
                  <a:pt x="89846" y="222598"/>
                  <a:pt x="106498" y="216429"/>
                  <a:pt x="119579" y="205343"/>
                </a:cubicBezTo>
                <a:cubicBezTo>
                  <a:pt x="110163" y="200658"/>
                  <a:pt x="101581" y="194443"/>
                  <a:pt x="94253" y="187021"/>
                </a:cubicBezTo>
                <a:cubicBezTo>
                  <a:pt x="87759" y="190825"/>
                  <a:pt x="80291" y="192866"/>
                  <a:pt x="72591" y="192866"/>
                </a:cubicBezTo>
                <a:cubicBezTo>
                  <a:pt x="48889" y="192866"/>
                  <a:pt x="29686" y="173663"/>
                  <a:pt x="29686" y="149960"/>
                </a:cubicBezTo>
                <a:cubicBezTo>
                  <a:pt x="29686" y="138596"/>
                  <a:pt x="34185" y="127696"/>
                  <a:pt x="42256" y="119625"/>
                </a:cubicBezTo>
                <a:lnTo>
                  <a:pt x="64799" y="97082"/>
                </a:ln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12217326" y="2018641"/>
            <a:ext cx="593718" cy="332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7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解耦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504864" y="2612359"/>
            <a:ext cx="4132278" cy="617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96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层与层之间松耦合,降低变更影响范围,提升系统稳定性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1243628" y="3657303"/>
            <a:ext cx="4536006" cy="1804903"/>
          </a:xfrm>
          <a:custGeom>
            <a:avLst/>
            <a:gdLst/>
            <a:ahLst/>
            <a:cxnLst/>
            <a:rect l="l" t="t" r="r" b="b"/>
            <a:pathLst>
              <a:path w="4536006" h="1804903">
                <a:moveTo>
                  <a:pt x="47497" y="0"/>
                </a:moveTo>
                <a:lnTo>
                  <a:pt x="4441014" y="0"/>
                </a:lnTo>
                <a:cubicBezTo>
                  <a:pt x="4493476" y="0"/>
                  <a:pt x="4536006" y="42529"/>
                  <a:pt x="4536006" y="94992"/>
                </a:cubicBezTo>
                <a:lnTo>
                  <a:pt x="4536006" y="1709911"/>
                </a:lnTo>
                <a:cubicBezTo>
                  <a:pt x="4536006" y="1762373"/>
                  <a:pt x="4493476" y="1804903"/>
                  <a:pt x="4441014" y="1804903"/>
                </a:cubicBezTo>
                <a:lnTo>
                  <a:pt x="47497" y="1804903"/>
                </a:lnTo>
                <a:cubicBezTo>
                  <a:pt x="21265" y="1804903"/>
                  <a:pt x="0" y="1783638"/>
                  <a:pt x="0" y="1757405"/>
                </a:cubicBezTo>
                <a:lnTo>
                  <a:pt x="0" y="47497"/>
                </a:lnTo>
                <a:cubicBezTo>
                  <a:pt x="0" y="21265"/>
                  <a:pt x="21265" y="0"/>
                  <a:pt x="47497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1"/>
          <p:cNvSpPr/>
          <p:nvPr/>
        </p:nvSpPr>
        <p:spPr>
          <a:xfrm>
            <a:off x="11243628" y="3657303"/>
            <a:ext cx="47497" cy="1804903"/>
          </a:xfrm>
          <a:custGeom>
            <a:avLst/>
            <a:gdLst/>
            <a:ahLst/>
            <a:cxnLst/>
            <a:rect l="l" t="t" r="r" b="b"/>
            <a:pathLst>
              <a:path w="47497" h="1804903">
                <a:moveTo>
                  <a:pt x="47497" y="0"/>
                </a:moveTo>
                <a:lnTo>
                  <a:pt x="47497" y="0"/>
                </a:lnTo>
                <a:lnTo>
                  <a:pt x="47497" y="1804903"/>
                </a:lnTo>
                <a:lnTo>
                  <a:pt x="47497" y="1804903"/>
                </a:lnTo>
                <a:cubicBezTo>
                  <a:pt x="21265" y="1804903"/>
                  <a:pt x="0" y="1783638"/>
                  <a:pt x="0" y="1757405"/>
                </a:cubicBezTo>
                <a:lnTo>
                  <a:pt x="0" y="47497"/>
                </a:lnTo>
                <a:cubicBezTo>
                  <a:pt x="0" y="21283"/>
                  <a:pt x="21283" y="0"/>
                  <a:pt x="47497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2"/>
          <p:cNvSpPr/>
          <p:nvPr/>
        </p:nvSpPr>
        <p:spPr>
          <a:xfrm>
            <a:off x="11504864" y="3894790"/>
            <a:ext cx="569969" cy="569969"/>
          </a:xfrm>
          <a:custGeom>
            <a:avLst/>
            <a:gdLst/>
            <a:ahLst/>
            <a:cxnLst/>
            <a:rect l="l" t="t" r="r" b="b"/>
            <a:pathLst>
              <a:path w="569969" h="569969">
                <a:moveTo>
                  <a:pt x="47496" y="0"/>
                </a:moveTo>
                <a:lnTo>
                  <a:pt x="522474" y="0"/>
                </a:lnTo>
                <a:cubicBezTo>
                  <a:pt x="548705" y="0"/>
                  <a:pt x="569969" y="21264"/>
                  <a:pt x="569969" y="47496"/>
                </a:cubicBezTo>
                <a:lnTo>
                  <a:pt x="569969" y="522474"/>
                </a:lnTo>
                <a:cubicBezTo>
                  <a:pt x="569969" y="548705"/>
                  <a:pt x="548705" y="569969"/>
                  <a:pt x="522474" y="569969"/>
                </a:cubicBezTo>
                <a:lnTo>
                  <a:pt x="47496" y="569969"/>
                </a:lnTo>
                <a:cubicBezTo>
                  <a:pt x="21264" y="569969"/>
                  <a:pt x="0" y="548705"/>
                  <a:pt x="0" y="522474"/>
                </a:cubicBezTo>
                <a:lnTo>
                  <a:pt x="0" y="47496"/>
                </a:lnTo>
                <a:cubicBezTo>
                  <a:pt x="0" y="21264"/>
                  <a:pt x="21264" y="0"/>
                  <a:pt x="47496" y="0"/>
                </a:cubicBezTo>
                <a:close/>
              </a:path>
            </a:pathLst>
          </a:custGeom>
          <a:solidFill>
            <a:srgbClr val="4A5568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3"/>
          <p:cNvSpPr/>
          <p:nvPr/>
        </p:nvSpPr>
        <p:spPr>
          <a:xfrm>
            <a:off x="11671105" y="4061031"/>
            <a:ext cx="237487" cy="237487"/>
          </a:xfrm>
          <a:custGeom>
            <a:avLst/>
            <a:gdLst/>
            <a:ahLst/>
            <a:cxnLst/>
            <a:rect l="l" t="t" r="r" b="b"/>
            <a:pathLst>
              <a:path w="237487" h="237487">
                <a:moveTo>
                  <a:pt x="70643" y="27831"/>
                </a:moveTo>
                <a:cubicBezTo>
                  <a:pt x="92073" y="-9277"/>
                  <a:pt x="145646" y="-9277"/>
                  <a:pt x="167076" y="27831"/>
                </a:cubicBezTo>
                <a:lnTo>
                  <a:pt x="184377" y="57795"/>
                </a:lnTo>
                <a:lnTo>
                  <a:pt x="197226" y="50373"/>
                </a:lnTo>
                <a:cubicBezTo>
                  <a:pt x="201122" y="48100"/>
                  <a:pt x="205992" y="48425"/>
                  <a:pt x="209564" y="51162"/>
                </a:cubicBezTo>
                <a:cubicBezTo>
                  <a:pt x="213136" y="53898"/>
                  <a:pt x="214713" y="58537"/>
                  <a:pt x="213553" y="62897"/>
                </a:cubicBezTo>
                <a:lnTo>
                  <a:pt x="202653" y="103437"/>
                </a:lnTo>
                <a:cubicBezTo>
                  <a:pt x="201076" y="109374"/>
                  <a:pt x="194953" y="112899"/>
                  <a:pt x="189016" y="111322"/>
                </a:cubicBezTo>
                <a:lnTo>
                  <a:pt x="148476" y="100468"/>
                </a:lnTo>
                <a:cubicBezTo>
                  <a:pt x="144116" y="99309"/>
                  <a:pt x="140915" y="95644"/>
                  <a:pt x="140312" y="91191"/>
                </a:cubicBezTo>
                <a:cubicBezTo>
                  <a:pt x="139709" y="86738"/>
                  <a:pt x="141889" y="82332"/>
                  <a:pt x="145786" y="80106"/>
                </a:cubicBezTo>
                <a:lnTo>
                  <a:pt x="158634" y="72684"/>
                </a:lnTo>
                <a:lnTo>
                  <a:pt x="141333" y="42720"/>
                </a:lnTo>
                <a:cubicBezTo>
                  <a:pt x="131314" y="25419"/>
                  <a:pt x="106359" y="25419"/>
                  <a:pt x="96340" y="42720"/>
                </a:cubicBezTo>
                <a:lnTo>
                  <a:pt x="93882" y="46941"/>
                </a:lnTo>
                <a:cubicBezTo>
                  <a:pt x="89800" y="54038"/>
                  <a:pt x="80709" y="56450"/>
                  <a:pt x="73612" y="52368"/>
                </a:cubicBezTo>
                <a:cubicBezTo>
                  <a:pt x="66515" y="48286"/>
                  <a:pt x="64103" y="39195"/>
                  <a:pt x="68185" y="32051"/>
                </a:cubicBezTo>
                <a:lnTo>
                  <a:pt x="70643" y="27831"/>
                </a:lnTo>
                <a:close/>
                <a:moveTo>
                  <a:pt x="208590" y="129458"/>
                </a:moveTo>
                <a:cubicBezTo>
                  <a:pt x="215687" y="125377"/>
                  <a:pt x="224778" y="127789"/>
                  <a:pt x="228860" y="134885"/>
                </a:cubicBezTo>
                <a:lnTo>
                  <a:pt x="231318" y="139106"/>
                </a:lnTo>
                <a:cubicBezTo>
                  <a:pt x="252748" y="176214"/>
                  <a:pt x="225984" y="222598"/>
                  <a:pt x="183125" y="222598"/>
                </a:cubicBezTo>
                <a:lnTo>
                  <a:pt x="148522" y="222598"/>
                </a:lnTo>
                <a:lnTo>
                  <a:pt x="148522" y="237441"/>
                </a:lnTo>
                <a:cubicBezTo>
                  <a:pt x="148522" y="241940"/>
                  <a:pt x="145832" y="246022"/>
                  <a:pt x="141657" y="247738"/>
                </a:cubicBezTo>
                <a:cubicBezTo>
                  <a:pt x="137483" y="249454"/>
                  <a:pt x="132705" y="248527"/>
                  <a:pt x="129505" y="245326"/>
                </a:cubicBezTo>
                <a:lnTo>
                  <a:pt x="99819" y="215640"/>
                </a:lnTo>
                <a:cubicBezTo>
                  <a:pt x="95459" y="211280"/>
                  <a:pt x="95459" y="204230"/>
                  <a:pt x="99819" y="199916"/>
                </a:cubicBezTo>
                <a:lnTo>
                  <a:pt x="129505" y="170230"/>
                </a:lnTo>
                <a:cubicBezTo>
                  <a:pt x="132705" y="167030"/>
                  <a:pt x="137483" y="166102"/>
                  <a:pt x="141657" y="167818"/>
                </a:cubicBezTo>
                <a:cubicBezTo>
                  <a:pt x="145832" y="169534"/>
                  <a:pt x="148522" y="173616"/>
                  <a:pt x="148522" y="178115"/>
                </a:cubicBezTo>
                <a:lnTo>
                  <a:pt x="148522" y="192958"/>
                </a:lnTo>
                <a:lnTo>
                  <a:pt x="183125" y="192958"/>
                </a:lnTo>
                <a:cubicBezTo>
                  <a:pt x="203117" y="192958"/>
                  <a:pt x="215640" y="171297"/>
                  <a:pt x="205621" y="153996"/>
                </a:cubicBezTo>
                <a:lnTo>
                  <a:pt x="203163" y="149775"/>
                </a:lnTo>
                <a:cubicBezTo>
                  <a:pt x="199081" y="142678"/>
                  <a:pt x="201493" y="133587"/>
                  <a:pt x="208590" y="129505"/>
                </a:cubicBezTo>
                <a:close/>
                <a:moveTo>
                  <a:pt x="23656" y="109188"/>
                </a:moveTo>
                <a:lnTo>
                  <a:pt x="10808" y="101767"/>
                </a:lnTo>
                <a:cubicBezTo>
                  <a:pt x="6911" y="99494"/>
                  <a:pt x="4731" y="95134"/>
                  <a:pt x="5334" y="90681"/>
                </a:cubicBezTo>
                <a:cubicBezTo>
                  <a:pt x="5937" y="86228"/>
                  <a:pt x="9138" y="82564"/>
                  <a:pt x="13498" y="81404"/>
                </a:cubicBezTo>
                <a:lnTo>
                  <a:pt x="54038" y="70504"/>
                </a:lnTo>
                <a:cubicBezTo>
                  <a:pt x="59975" y="68927"/>
                  <a:pt x="66098" y="72452"/>
                  <a:pt x="67675" y="78389"/>
                </a:cubicBezTo>
                <a:lnTo>
                  <a:pt x="78528" y="118929"/>
                </a:lnTo>
                <a:cubicBezTo>
                  <a:pt x="79688" y="123289"/>
                  <a:pt x="78111" y="127881"/>
                  <a:pt x="74539" y="130664"/>
                </a:cubicBezTo>
                <a:cubicBezTo>
                  <a:pt x="70968" y="133447"/>
                  <a:pt x="66098" y="133726"/>
                  <a:pt x="62201" y="131453"/>
                </a:cubicBezTo>
                <a:lnTo>
                  <a:pt x="49353" y="124031"/>
                </a:lnTo>
                <a:lnTo>
                  <a:pt x="32051" y="153996"/>
                </a:lnTo>
                <a:cubicBezTo>
                  <a:pt x="22033" y="171297"/>
                  <a:pt x="34556" y="192958"/>
                  <a:pt x="54548" y="192958"/>
                </a:cubicBezTo>
                <a:lnTo>
                  <a:pt x="59465" y="192958"/>
                </a:lnTo>
                <a:cubicBezTo>
                  <a:pt x="67675" y="192958"/>
                  <a:pt x="74308" y="199591"/>
                  <a:pt x="74308" y="207801"/>
                </a:cubicBezTo>
                <a:cubicBezTo>
                  <a:pt x="74308" y="216011"/>
                  <a:pt x="67675" y="222644"/>
                  <a:pt x="59465" y="222644"/>
                </a:cubicBezTo>
                <a:lnTo>
                  <a:pt x="54548" y="222644"/>
                </a:lnTo>
                <a:cubicBezTo>
                  <a:pt x="11735" y="222644"/>
                  <a:pt x="-15028" y="176260"/>
                  <a:pt x="6401" y="139153"/>
                </a:cubicBezTo>
                <a:lnTo>
                  <a:pt x="23656" y="109188"/>
                </a:ln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4"/>
          <p:cNvSpPr/>
          <p:nvPr/>
        </p:nvSpPr>
        <p:spPr>
          <a:xfrm>
            <a:off x="12217326" y="4013534"/>
            <a:ext cx="593718" cy="332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7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复用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1504864" y="4607252"/>
            <a:ext cx="4132278" cy="617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96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中间层作为公共数据底座,避免重复开发,提升效率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11243628" y="5652196"/>
            <a:ext cx="4536006" cy="1496169"/>
          </a:xfrm>
          <a:custGeom>
            <a:avLst/>
            <a:gdLst/>
            <a:ahLst/>
            <a:cxnLst/>
            <a:rect l="l" t="t" r="r" b="b"/>
            <a:pathLst>
              <a:path w="4536006" h="1496169">
                <a:moveTo>
                  <a:pt x="47497" y="0"/>
                </a:moveTo>
                <a:lnTo>
                  <a:pt x="4441014" y="0"/>
                </a:lnTo>
                <a:cubicBezTo>
                  <a:pt x="4493477" y="0"/>
                  <a:pt x="4536006" y="42529"/>
                  <a:pt x="4536006" y="94992"/>
                </a:cubicBezTo>
                <a:lnTo>
                  <a:pt x="4536006" y="1401178"/>
                </a:lnTo>
                <a:cubicBezTo>
                  <a:pt x="4536006" y="1453640"/>
                  <a:pt x="4493477" y="1496169"/>
                  <a:pt x="4441014" y="1496169"/>
                </a:cubicBezTo>
                <a:lnTo>
                  <a:pt x="47497" y="1496169"/>
                </a:lnTo>
                <a:cubicBezTo>
                  <a:pt x="21265" y="1496169"/>
                  <a:pt x="0" y="1474904"/>
                  <a:pt x="0" y="1448672"/>
                </a:cubicBezTo>
                <a:lnTo>
                  <a:pt x="0" y="47497"/>
                </a:lnTo>
                <a:cubicBezTo>
                  <a:pt x="0" y="21265"/>
                  <a:pt x="21265" y="0"/>
                  <a:pt x="47497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7"/>
          <p:cNvSpPr/>
          <p:nvPr/>
        </p:nvSpPr>
        <p:spPr>
          <a:xfrm>
            <a:off x="11243628" y="5652196"/>
            <a:ext cx="47497" cy="1496169"/>
          </a:xfrm>
          <a:custGeom>
            <a:avLst/>
            <a:gdLst/>
            <a:ahLst/>
            <a:cxnLst/>
            <a:rect l="l" t="t" r="r" b="b"/>
            <a:pathLst>
              <a:path w="47497" h="1496169">
                <a:moveTo>
                  <a:pt x="47497" y="0"/>
                </a:moveTo>
                <a:lnTo>
                  <a:pt x="47497" y="0"/>
                </a:lnTo>
                <a:lnTo>
                  <a:pt x="47497" y="1496169"/>
                </a:lnTo>
                <a:lnTo>
                  <a:pt x="47497" y="1496169"/>
                </a:lnTo>
                <a:cubicBezTo>
                  <a:pt x="21265" y="1496169"/>
                  <a:pt x="0" y="1474904"/>
                  <a:pt x="0" y="1448672"/>
                </a:cubicBezTo>
                <a:lnTo>
                  <a:pt x="0" y="47497"/>
                </a:lnTo>
                <a:cubicBezTo>
                  <a:pt x="0" y="21283"/>
                  <a:pt x="21283" y="0"/>
                  <a:pt x="47497" y="0"/>
                </a:cubicBez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8"/>
          <p:cNvSpPr/>
          <p:nvPr/>
        </p:nvSpPr>
        <p:spPr>
          <a:xfrm>
            <a:off x="11504864" y="5889683"/>
            <a:ext cx="569969" cy="569969"/>
          </a:xfrm>
          <a:custGeom>
            <a:avLst/>
            <a:gdLst/>
            <a:ahLst/>
            <a:cxnLst/>
            <a:rect l="l" t="t" r="r" b="b"/>
            <a:pathLst>
              <a:path w="569969" h="569969">
                <a:moveTo>
                  <a:pt x="47496" y="0"/>
                </a:moveTo>
                <a:lnTo>
                  <a:pt x="522474" y="0"/>
                </a:lnTo>
                <a:cubicBezTo>
                  <a:pt x="548705" y="0"/>
                  <a:pt x="569969" y="21264"/>
                  <a:pt x="569969" y="47496"/>
                </a:cubicBezTo>
                <a:lnTo>
                  <a:pt x="569969" y="522474"/>
                </a:lnTo>
                <a:cubicBezTo>
                  <a:pt x="569969" y="548705"/>
                  <a:pt x="548705" y="569969"/>
                  <a:pt x="522474" y="569969"/>
                </a:cubicBezTo>
                <a:lnTo>
                  <a:pt x="47496" y="569969"/>
                </a:lnTo>
                <a:cubicBezTo>
                  <a:pt x="21264" y="569969"/>
                  <a:pt x="0" y="548705"/>
                  <a:pt x="0" y="522474"/>
                </a:cubicBezTo>
                <a:lnTo>
                  <a:pt x="0" y="47496"/>
                </a:lnTo>
                <a:cubicBezTo>
                  <a:pt x="0" y="21264"/>
                  <a:pt x="21264" y="0"/>
                  <a:pt x="47496" y="0"/>
                </a:cubicBezTo>
                <a:close/>
              </a:path>
            </a:pathLst>
          </a:custGeom>
          <a:solidFill>
            <a:srgbClr val="718096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19"/>
          <p:cNvSpPr/>
          <p:nvPr/>
        </p:nvSpPr>
        <p:spPr>
          <a:xfrm>
            <a:off x="11671105" y="6055924"/>
            <a:ext cx="237487" cy="237487"/>
          </a:xfrm>
          <a:custGeom>
            <a:avLst/>
            <a:gdLst/>
            <a:ahLst/>
            <a:cxnLst/>
            <a:rect l="l" t="t" r="r" b="b"/>
            <a:pathLst>
              <a:path w="237487" h="237487">
                <a:moveTo>
                  <a:pt x="118744" y="0"/>
                </a:moveTo>
                <a:cubicBezTo>
                  <a:pt x="120877" y="0"/>
                  <a:pt x="123011" y="464"/>
                  <a:pt x="124959" y="1345"/>
                </a:cubicBezTo>
                <a:lnTo>
                  <a:pt x="212347" y="38406"/>
                </a:lnTo>
                <a:cubicBezTo>
                  <a:pt x="222551" y="42720"/>
                  <a:pt x="230159" y="52785"/>
                  <a:pt x="230112" y="64938"/>
                </a:cubicBezTo>
                <a:cubicBezTo>
                  <a:pt x="229880" y="110951"/>
                  <a:pt x="210955" y="195138"/>
                  <a:pt x="131035" y="233405"/>
                </a:cubicBezTo>
                <a:cubicBezTo>
                  <a:pt x="123289" y="237116"/>
                  <a:pt x="114291" y="237116"/>
                  <a:pt x="106545" y="233405"/>
                </a:cubicBezTo>
                <a:cubicBezTo>
                  <a:pt x="26578" y="195138"/>
                  <a:pt x="7700" y="110951"/>
                  <a:pt x="7468" y="64938"/>
                </a:cubicBezTo>
                <a:cubicBezTo>
                  <a:pt x="7421" y="52785"/>
                  <a:pt x="15028" y="42720"/>
                  <a:pt x="25233" y="38406"/>
                </a:cubicBezTo>
                <a:lnTo>
                  <a:pt x="112575" y="1345"/>
                </a:lnTo>
                <a:cubicBezTo>
                  <a:pt x="114523" y="464"/>
                  <a:pt x="116610" y="0"/>
                  <a:pt x="118744" y="0"/>
                </a:cubicBezTo>
                <a:close/>
                <a:moveTo>
                  <a:pt x="118744" y="30985"/>
                </a:moveTo>
                <a:lnTo>
                  <a:pt x="118744" y="206363"/>
                </a:lnTo>
                <a:cubicBezTo>
                  <a:pt x="182754" y="175379"/>
                  <a:pt x="199962" y="106730"/>
                  <a:pt x="200380" y="65634"/>
                </a:cubicBezTo>
                <a:lnTo>
                  <a:pt x="118744" y="31031"/>
                </a:lnTo>
                <a:lnTo>
                  <a:pt x="118744" y="31031"/>
                </a:lnTo>
                <a:close/>
              </a:path>
            </a:pathLst>
          </a:custGeom>
          <a:solidFill>
            <a:srgbClr val="7180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0"/>
          <p:cNvSpPr/>
          <p:nvPr/>
        </p:nvSpPr>
        <p:spPr>
          <a:xfrm>
            <a:off x="12217326" y="6008427"/>
            <a:ext cx="593718" cy="332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7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屏蔽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1504864" y="6602145"/>
            <a:ext cx="4132278" cy="308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96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隔离上游业务变更对下游的影响,提供稳定接口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11243628" y="7338355"/>
            <a:ext cx="4536006" cy="1804903"/>
          </a:xfrm>
          <a:custGeom>
            <a:avLst/>
            <a:gdLst/>
            <a:ahLst/>
            <a:cxnLst/>
            <a:rect l="l" t="t" r="r" b="b"/>
            <a:pathLst>
              <a:path w="4536006" h="1804903">
                <a:moveTo>
                  <a:pt x="47497" y="0"/>
                </a:moveTo>
                <a:lnTo>
                  <a:pt x="4441014" y="0"/>
                </a:lnTo>
                <a:cubicBezTo>
                  <a:pt x="4493476" y="0"/>
                  <a:pt x="4536006" y="42529"/>
                  <a:pt x="4536006" y="94992"/>
                </a:cubicBezTo>
                <a:lnTo>
                  <a:pt x="4536006" y="1709911"/>
                </a:lnTo>
                <a:cubicBezTo>
                  <a:pt x="4536006" y="1762373"/>
                  <a:pt x="4493476" y="1804903"/>
                  <a:pt x="4441014" y="1804903"/>
                </a:cubicBezTo>
                <a:lnTo>
                  <a:pt x="47497" y="1804903"/>
                </a:lnTo>
                <a:cubicBezTo>
                  <a:pt x="21265" y="1804903"/>
                  <a:pt x="0" y="1783638"/>
                  <a:pt x="0" y="1757405"/>
                </a:cubicBezTo>
                <a:lnTo>
                  <a:pt x="0" y="47497"/>
                </a:lnTo>
                <a:cubicBezTo>
                  <a:pt x="0" y="21265"/>
                  <a:pt x="21265" y="0"/>
                  <a:pt x="47497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3"/>
          <p:cNvSpPr/>
          <p:nvPr/>
        </p:nvSpPr>
        <p:spPr>
          <a:xfrm>
            <a:off x="11243628" y="7338355"/>
            <a:ext cx="47497" cy="1804903"/>
          </a:xfrm>
          <a:custGeom>
            <a:avLst/>
            <a:gdLst/>
            <a:ahLst/>
            <a:cxnLst/>
            <a:rect l="l" t="t" r="r" b="b"/>
            <a:pathLst>
              <a:path w="47497" h="1804903">
                <a:moveTo>
                  <a:pt x="47497" y="0"/>
                </a:moveTo>
                <a:lnTo>
                  <a:pt x="47497" y="0"/>
                </a:lnTo>
                <a:lnTo>
                  <a:pt x="47497" y="1804903"/>
                </a:lnTo>
                <a:lnTo>
                  <a:pt x="47497" y="1804903"/>
                </a:lnTo>
                <a:cubicBezTo>
                  <a:pt x="21265" y="1804903"/>
                  <a:pt x="0" y="1783638"/>
                  <a:pt x="0" y="1757405"/>
                </a:cubicBezTo>
                <a:lnTo>
                  <a:pt x="0" y="47497"/>
                </a:lnTo>
                <a:cubicBezTo>
                  <a:pt x="0" y="21283"/>
                  <a:pt x="21283" y="0"/>
                  <a:pt x="47497" y="0"/>
                </a:cubicBez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4"/>
          <p:cNvSpPr/>
          <p:nvPr/>
        </p:nvSpPr>
        <p:spPr>
          <a:xfrm>
            <a:off x="11504864" y="7575842"/>
            <a:ext cx="569969" cy="569969"/>
          </a:xfrm>
          <a:custGeom>
            <a:avLst/>
            <a:gdLst/>
            <a:ahLst/>
            <a:cxnLst/>
            <a:rect l="l" t="t" r="r" b="b"/>
            <a:pathLst>
              <a:path w="569969" h="569969">
                <a:moveTo>
                  <a:pt x="47496" y="0"/>
                </a:moveTo>
                <a:lnTo>
                  <a:pt x="522474" y="0"/>
                </a:lnTo>
                <a:cubicBezTo>
                  <a:pt x="548705" y="0"/>
                  <a:pt x="569969" y="21264"/>
                  <a:pt x="569969" y="47496"/>
                </a:cubicBezTo>
                <a:lnTo>
                  <a:pt x="569969" y="522474"/>
                </a:lnTo>
                <a:cubicBezTo>
                  <a:pt x="569969" y="548705"/>
                  <a:pt x="548705" y="569969"/>
                  <a:pt x="522474" y="569969"/>
                </a:cubicBezTo>
                <a:lnTo>
                  <a:pt x="47496" y="569969"/>
                </a:lnTo>
                <a:cubicBezTo>
                  <a:pt x="21264" y="569969"/>
                  <a:pt x="0" y="548705"/>
                  <a:pt x="0" y="522474"/>
                </a:cubicBezTo>
                <a:lnTo>
                  <a:pt x="0" y="47496"/>
                </a:lnTo>
                <a:cubicBezTo>
                  <a:pt x="0" y="21264"/>
                  <a:pt x="21264" y="0"/>
                  <a:pt x="47496" y="0"/>
                </a:cubicBezTo>
                <a:close/>
              </a:path>
            </a:pathLst>
          </a:custGeom>
          <a:solidFill>
            <a:srgbClr val="D69E2E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5"/>
          <p:cNvSpPr/>
          <p:nvPr/>
        </p:nvSpPr>
        <p:spPr>
          <a:xfrm>
            <a:off x="11656262" y="7742083"/>
            <a:ext cx="267173" cy="237487"/>
          </a:xfrm>
          <a:custGeom>
            <a:avLst/>
            <a:gdLst/>
            <a:ahLst/>
            <a:cxnLst/>
            <a:rect l="l" t="t" r="r" b="b"/>
            <a:pathLst>
              <a:path w="267173" h="237487">
                <a:moveTo>
                  <a:pt x="143559" y="-8767"/>
                </a:moveTo>
                <a:cubicBezTo>
                  <a:pt x="141657" y="-12477"/>
                  <a:pt x="137808" y="-14843"/>
                  <a:pt x="133633" y="-14843"/>
                </a:cubicBezTo>
                <a:cubicBezTo>
                  <a:pt x="129458" y="-14843"/>
                  <a:pt x="125608" y="-12477"/>
                  <a:pt x="123707" y="-8767"/>
                </a:cubicBezTo>
                <a:lnTo>
                  <a:pt x="89568" y="58119"/>
                </a:lnTo>
                <a:lnTo>
                  <a:pt x="15400" y="69901"/>
                </a:lnTo>
                <a:cubicBezTo>
                  <a:pt x="11271" y="70550"/>
                  <a:pt x="7839" y="73473"/>
                  <a:pt x="6540" y="77462"/>
                </a:cubicBezTo>
                <a:cubicBezTo>
                  <a:pt x="5241" y="81451"/>
                  <a:pt x="6308" y="85811"/>
                  <a:pt x="9230" y="88779"/>
                </a:cubicBezTo>
                <a:lnTo>
                  <a:pt x="62294" y="141889"/>
                </a:lnTo>
                <a:lnTo>
                  <a:pt x="50605" y="216058"/>
                </a:lnTo>
                <a:cubicBezTo>
                  <a:pt x="49956" y="220186"/>
                  <a:pt x="51672" y="224360"/>
                  <a:pt x="55058" y="226819"/>
                </a:cubicBezTo>
                <a:cubicBezTo>
                  <a:pt x="58444" y="229277"/>
                  <a:pt x="62897" y="229648"/>
                  <a:pt x="66654" y="227747"/>
                </a:cubicBezTo>
                <a:lnTo>
                  <a:pt x="133633" y="193701"/>
                </a:lnTo>
                <a:lnTo>
                  <a:pt x="200565" y="227747"/>
                </a:lnTo>
                <a:cubicBezTo>
                  <a:pt x="204276" y="229648"/>
                  <a:pt x="208775" y="229277"/>
                  <a:pt x="212161" y="226819"/>
                </a:cubicBezTo>
                <a:cubicBezTo>
                  <a:pt x="215547" y="224360"/>
                  <a:pt x="217264" y="220232"/>
                  <a:pt x="216614" y="216058"/>
                </a:cubicBezTo>
                <a:lnTo>
                  <a:pt x="204879" y="141889"/>
                </a:lnTo>
                <a:lnTo>
                  <a:pt x="257943" y="88779"/>
                </a:lnTo>
                <a:cubicBezTo>
                  <a:pt x="260911" y="85811"/>
                  <a:pt x="261932" y="81451"/>
                  <a:pt x="260633" y="77462"/>
                </a:cubicBezTo>
                <a:cubicBezTo>
                  <a:pt x="259334" y="73473"/>
                  <a:pt x="255948" y="70550"/>
                  <a:pt x="251774" y="69901"/>
                </a:cubicBezTo>
                <a:lnTo>
                  <a:pt x="177652" y="58119"/>
                </a:lnTo>
                <a:lnTo>
                  <a:pt x="143559" y="-8767"/>
                </a:ln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6"/>
          <p:cNvSpPr/>
          <p:nvPr/>
        </p:nvSpPr>
        <p:spPr>
          <a:xfrm>
            <a:off x="12217326" y="7694586"/>
            <a:ext cx="593718" cy="332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7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质量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11504864" y="8288304"/>
            <a:ext cx="4132278" cy="617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96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每层专注特定处理,通过质量关卡提升数据可信度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edia.istockphoto.com/7569df3e741852577d2bba76437d0b484a642608.jpg"/>
          <p:cNvPicPr>
            <a:picLocks noChangeAspect="1"/>
          </p:cNvPicPr>
          <p:nvPr/>
        </p:nvPicPr>
        <p:blipFill>
          <a:blip r:embed="rId3">
            <a:alphaModFix amt="30000"/>
          </a:blip>
          <a:srcRect l="1854" r="1854"/>
          <a:stretch/>
        </p:blipFill>
        <p:spPr>
          <a:xfrm>
            <a:off x="0" y="0"/>
            <a:ext cx="16256000" cy="9847838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847838"/>
          </a:xfrm>
          <a:custGeom>
            <a:avLst/>
            <a:gdLst/>
            <a:ahLst/>
            <a:cxnLst/>
            <a:rect l="l" t="t" r="r" b="b"/>
            <a:pathLst>
              <a:path w="16256000" h="9847838">
                <a:moveTo>
                  <a:pt x="0" y="0"/>
                </a:moveTo>
                <a:lnTo>
                  <a:pt x="16256000" y="0"/>
                </a:lnTo>
                <a:lnTo>
                  <a:pt x="16256000" y="9847838"/>
                </a:lnTo>
                <a:lnTo>
                  <a:pt x="0" y="9847838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202C">
                  <a:alpha val="95000"/>
                </a:srgbClr>
              </a:gs>
              <a:gs pos="50000">
                <a:srgbClr val="1A202C">
                  <a:alpha val="90000"/>
                </a:srgbClr>
              </a:gs>
              <a:gs pos="100000">
                <a:srgbClr val="1A202C">
                  <a:alpha val="8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4061331" y="1963438"/>
            <a:ext cx="8128000" cy="883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565" b="1" dirty="0">
                <a:solidFill>
                  <a:srgbClr val="E2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从数据到资产的转化之路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371430" y="3223867"/>
            <a:ext cx="1507803" cy="0"/>
          </a:xfrm>
          <a:custGeom>
            <a:avLst/>
            <a:gdLst/>
            <a:ahLst/>
            <a:cxnLst/>
            <a:rect l="l" t="t" r="r" b="b"/>
            <a:pathLst>
              <a:path w="1507803">
                <a:moveTo>
                  <a:pt x="0" y="0"/>
                </a:moveTo>
                <a:lnTo>
                  <a:pt x="1507803" y="0"/>
                </a:lnTo>
                <a:lnTo>
                  <a:pt x="1507803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2777343" y="3600818"/>
            <a:ext cx="10695977" cy="4594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226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数据仓库分层架构是实现</a:t>
            </a:r>
            <a:r>
              <a:rPr lang="en-US" sz="2226" dirty="0">
                <a:solidFill>
                  <a:srgbClr val="D69E2E"/>
                </a:solidFill>
                <a:highlight>
                  <a:srgbClr val="D69E2E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数据治理熵减 </a:t>
            </a:r>
            <a:r>
              <a:rPr lang="en-US" sz="2226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的关键路径。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789122" y="4342940"/>
            <a:ext cx="10672417" cy="765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55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通过ODS→DWD→DWS→ADS的工业化流水线,我们将原始、杂乱的数据转化为标准、可信的数据资产,为业务决策提供坚实支撑。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251082" y="5485572"/>
            <a:ext cx="1225090" cy="1649159"/>
          </a:xfrm>
          <a:custGeom>
            <a:avLst/>
            <a:gdLst/>
            <a:ahLst/>
            <a:cxnLst/>
            <a:rect l="l" t="t" r="r" b="b"/>
            <a:pathLst>
              <a:path w="1225090" h="1649159">
                <a:moveTo>
                  <a:pt x="94234" y="0"/>
                </a:moveTo>
                <a:lnTo>
                  <a:pt x="1130856" y="0"/>
                </a:lnTo>
                <a:cubicBezTo>
                  <a:pt x="1182900" y="0"/>
                  <a:pt x="1225090" y="42190"/>
                  <a:pt x="1225090" y="94234"/>
                </a:cubicBezTo>
                <a:lnTo>
                  <a:pt x="1225090" y="1554926"/>
                </a:lnTo>
                <a:cubicBezTo>
                  <a:pt x="1225090" y="1606969"/>
                  <a:pt x="1182900" y="1649159"/>
                  <a:pt x="1130856" y="1649159"/>
                </a:cubicBezTo>
                <a:lnTo>
                  <a:pt x="94234" y="1649159"/>
                </a:lnTo>
                <a:cubicBezTo>
                  <a:pt x="42190" y="1649159"/>
                  <a:pt x="0" y="1606969"/>
                  <a:pt x="0" y="1554926"/>
                </a:cubicBezTo>
                <a:lnTo>
                  <a:pt x="0" y="94234"/>
                </a:lnTo>
                <a:cubicBezTo>
                  <a:pt x="0" y="42225"/>
                  <a:pt x="42225" y="0"/>
                  <a:pt x="94234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8"/>
          <p:cNvSpPr/>
          <p:nvPr/>
        </p:nvSpPr>
        <p:spPr>
          <a:xfrm>
            <a:off x="5486676" y="5721166"/>
            <a:ext cx="753901" cy="753901"/>
          </a:xfrm>
          <a:custGeom>
            <a:avLst/>
            <a:gdLst/>
            <a:ahLst/>
            <a:cxnLst/>
            <a:rect l="l" t="t" r="r" b="b"/>
            <a:pathLst>
              <a:path w="753901" h="753901">
                <a:moveTo>
                  <a:pt x="376951" y="0"/>
                </a:moveTo>
                <a:lnTo>
                  <a:pt x="376951" y="0"/>
                </a:lnTo>
                <a:cubicBezTo>
                  <a:pt x="584995" y="0"/>
                  <a:pt x="753901" y="168906"/>
                  <a:pt x="753901" y="376951"/>
                </a:cubicBezTo>
                <a:lnTo>
                  <a:pt x="753901" y="376951"/>
                </a:lnTo>
                <a:cubicBezTo>
                  <a:pt x="753901" y="584995"/>
                  <a:pt x="584995" y="753901"/>
                  <a:pt x="376951" y="753901"/>
                </a:cubicBezTo>
                <a:lnTo>
                  <a:pt x="376951" y="753901"/>
                </a:lnTo>
                <a:cubicBezTo>
                  <a:pt x="168906" y="753901"/>
                  <a:pt x="0" y="584995"/>
                  <a:pt x="0" y="376951"/>
                </a:cubicBezTo>
                <a:lnTo>
                  <a:pt x="0" y="376951"/>
                </a:lnTo>
                <a:cubicBezTo>
                  <a:pt x="0" y="168906"/>
                  <a:pt x="168906" y="0"/>
                  <a:pt x="376951" y="0"/>
                </a:cubicBezTo>
                <a:close/>
              </a:path>
            </a:pathLst>
          </a:custGeom>
          <a:solidFill>
            <a:srgbClr val="718096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5504530" y="5909641"/>
            <a:ext cx="718562" cy="376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226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ODS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39557" y="6616424"/>
            <a:ext cx="848139" cy="282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84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原始数据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231006" y="6168795"/>
            <a:ext cx="282713" cy="282713"/>
          </a:xfrm>
          <a:custGeom>
            <a:avLst/>
            <a:gdLst/>
            <a:ahLst/>
            <a:cxnLst/>
            <a:rect l="l" t="t" r="r" b="b"/>
            <a:pathLst>
              <a:path w="282713" h="282713">
                <a:moveTo>
                  <a:pt x="277523" y="153836"/>
                </a:moveTo>
                <a:cubicBezTo>
                  <a:pt x="284425" y="146933"/>
                  <a:pt x="284425" y="135724"/>
                  <a:pt x="277523" y="128822"/>
                </a:cubicBezTo>
                <a:lnTo>
                  <a:pt x="189175" y="40474"/>
                </a:lnTo>
                <a:cubicBezTo>
                  <a:pt x="182273" y="33572"/>
                  <a:pt x="171063" y="33572"/>
                  <a:pt x="164161" y="40474"/>
                </a:cubicBezTo>
                <a:cubicBezTo>
                  <a:pt x="157259" y="47377"/>
                  <a:pt x="157259" y="58586"/>
                  <a:pt x="164161" y="65488"/>
                </a:cubicBezTo>
                <a:lnTo>
                  <a:pt x="222360" y="123687"/>
                </a:lnTo>
                <a:lnTo>
                  <a:pt x="17670" y="123687"/>
                </a:lnTo>
                <a:cubicBezTo>
                  <a:pt x="7896" y="123687"/>
                  <a:pt x="0" y="131583"/>
                  <a:pt x="0" y="141357"/>
                </a:cubicBezTo>
                <a:cubicBezTo>
                  <a:pt x="0" y="151130"/>
                  <a:pt x="7896" y="159026"/>
                  <a:pt x="17670" y="159026"/>
                </a:cubicBezTo>
                <a:lnTo>
                  <a:pt x="222360" y="159026"/>
                </a:lnTo>
                <a:lnTo>
                  <a:pt x="164161" y="217225"/>
                </a:lnTo>
                <a:cubicBezTo>
                  <a:pt x="157259" y="224127"/>
                  <a:pt x="157259" y="235337"/>
                  <a:pt x="164161" y="242239"/>
                </a:cubicBezTo>
                <a:cubicBezTo>
                  <a:pt x="171063" y="249141"/>
                  <a:pt x="182273" y="249141"/>
                  <a:pt x="189175" y="242239"/>
                </a:cubicBezTo>
                <a:lnTo>
                  <a:pt x="277523" y="153891"/>
                </a:ln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2"/>
          <p:cNvSpPr/>
          <p:nvPr/>
        </p:nvSpPr>
        <p:spPr>
          <a:xfrm>
            <a:off x="8266688" y="5485572"/>
            <a:ext cx="1225090" cy="1649159"/>
          </a:xfrm>
          <a:custGeom>
            <a:avLst/>
            <a:gdLst/>
            <a:ahLst/>
            <a:cxnLst/>
            <a:rect l="l" t="t" r="r" b="b"/>
            <a:pathLst>
              <a:path w="1225090" h="1649159">
                <a:moveTo>
                  <a:pt x="94234" y="0"/>
                </a:moveTo>
                <a:lnTo>
                  <a:pt x="1130856" y="0"/>
                </a:lnTo>
                <a:cubicBezTo>
                  <a:pt x="1182900" y="0"/>
                  <a:pt x="1225090" y="42190"/>
                  <a:pt x="1225090" y="94234"/>
                </a:cubicBezTo>
                <a:lnTo>
                  <a:pt x="1225090" y="1554926"/>
                </a:lnTo>
                <a:cubicBezTo>
                  <a:pt x="1225090" y="1606969"/>
                  <a:pt x="1182900" y="1649159"/>
                  <a:pt x="1130856" y="1649159"/>
                </a:cubicBezTo>
                <a:lnTo>
                  <a:pt x="94234" y="1649159"/>
                </a:lnTo>
                <a:cubicBezTo>
                  <a:pt x="42190" y="1649159"/>
                  <a:pt x="0" y="1606969"/>
                  <a:pt x="0" y="1554926"/>
                </a:cubicBezTo>
                <a:lnTo>
                  <a:pt x="0" y="94234"/>
                </a:lnTo>
                <a:cubicBezTo>
                  <a:pt x="0" y="42225"/>
                  <a:pt x="42225" y="0"/>
                  <a:pt x="94234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3"/>
          <p:cNvSpPr/>
          <p:nvPr/>
        </p:nvSpPr>
        <p:spPr>
          <a:xfrm>
            <a:off x="8502282" y="5721166"/>
            <a:ext cx="753901" cy="753901"/>
          </a:xfrm>
          <a:custGeom>
            <a:avLst/>
            <a:gdLst/>
            <a:ahLst/>
            <a:cxnLst/>
            <a:rect l="l" t="t" r="r" b="b"/>
            <a:pathLst>
              <a:path w="753901" h="753901">
                <a:moveTo>
                  <a:pt x="376951" y="0"/>
                </a:moveTo>
                <a:lnTo>
                  <a:pt x="376951" y="0"/>
                </a:lnTo>
                <a:cubicBezTo>
                  <a:pt x="584995" y="0"/>
                  <a:pt x="753901" y="168906"/>
                  <a:pt x="753901" y="376951"/>
                </a:cubicBezTo>
                <a:lnTo>
                  <a:pt x="753901" y="376951"/>
                </a:lnTo>
                <a:cubicBezTo>
                  <a:pt x="753901" y="584995"/>
                  <a:pt x="584995" y="753901"/>
                  <a:pt x="376951" y="753901"/>
                </a:cubicBezTo>
                <a:lnTo>
                  <a:pt x="376951" y="753901"/>
                </a:lnTo>
                <a:cubicBezTo>
                  <a:pt x="168906" y="753901"/>
                  <a:pt x="0" y="584995"/>
                  <a:pt x="0" y="376951"/>
                </a:cubicBezTo>
                <a:lnTo>
                  <a:pt x="0" y="376951"/>
                </a:lnTo>
                <a:cubicBezTo>
                  <a:pt x="0" y="168906"/>
                  <a:pt x="168906" y="0"/>
                  <a:pt x="376951" y="0"/>
                </a:cubicBezTo>
                <a:close/>
              </a:path>
            </a:pathLst>
          </a:custGeom>
          <a:solidFill>
            <a:srgbClr val="4A5568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4"/>
          <p:cNvSpPr/>
          <p:nvPr/>
        </p:nvSpPr>
        <p:spPr>
          <a:xfrm>
            <a:off x="8472649" y="5909641"/>
            <a:ext cx="812800" cy="376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226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DWD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455163" y="6616424"/>
            <a:ext cx="848139" cy="282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84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标准明细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 rot="8850191">
            <a:off x="7231006" y="7134731"/>
            <a:ext cx="282713" cy="282713"/>
          </a:xfrm>
          <a:custGeom>
            <a:avLst/>
            <a:gdLst/>
            <a:ahLst/>
            <a:cxnLst/>
            <a:rect l="l" t="t" r="r" b="b"/>
            <a:pathLst>
              <a:path w="282713" h="282713">
                <a:moveTo>
                  <a:pt x="277523" y="153836"/>
                </a:moveTo>
                <a:cubicBezTo>
                  <a:pt x="284425" y="146933"/>
                  <a:pt x="284425" y="135724"/>
                  <a:pt x="277523" y="128822"/>
                </a:cubicBezTo>
                <a:lnTo>
                  <a:pt x="189175" y="40474"/>
                </a:lnTo>
                <a:cubicBezTo>
                  <a:pt x="182273" y="33572"/>
                  <a:pt x="171063" y="33572"/>
                  <a:pt x="164161" y="40474"/>
                </a:cubicBezTo>
                <a:cubicBezTo>
                  <a:pt x="157259" y="47377"/>
                  <a:pt x="157259" y="58586"/>
                  <a:pt x="164161" y="65488"/>
                </a:cubicBezTo>
                <a:lnTo>
                  <a:pt x="222360" y="123687"/>
                </a:lnTo>
                <a:lnTo>
                  <a:pt x="17670" y="123687"/>
                </a:lnTo>
                <a:cubicBezTo>
                  <a:pt x="7896" y="123687"/>
                  <a:pt x="0" y="131583"/>
                  <a:pt x="0" y="141357"/>
                </a:cubicBezTo>
                <a:cubicBezTo>
                  <a:pt x="0" y="151130"/>
                  <a:pt x="7896" y="159026"/>
                  <a:pt x="17670" y="159026"/>
                </a:cubicBezTo>
                <a:lnTo>
                  <a:pt x="222360" y="159026"/>
                </a:lnTo>
                <a:lnTo>
                  <a:pt x="164161" y="217225"/>
                </a:lnTo>
                <a:cubicBezTo>
                  <a:pt x="157259" y="224127"/>
                  <a:pt x="157259" y="235337"/>
                  <a:pt x="164161" y="242239"/>
                </a:cubicBezTo>
                <a:cubicBezTo>
                  <a:pt x="171063" y="249141"/>
                  <a:pt x="182273" y="249141"/>
                  <a:pt x="189175" y="242239"/>
                </a:cubicBezTo>
                <a:lnTo>
                  <a:pt x="277523" y="153891"/>
                </a:ln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7"/>
          <p:cNvSpPr/>
          <p:nvPr/>
        </p:nvSpPr>
        <p:spPr>
          <a:xfrm>
            <a:off x="5251082" y="7417444"/>
            <a:ext cx="1225090" cy="1649159"/>
          </a:xfrm>
          <a:custGeom>
            <a:avLst/>
            <a:gdLst/>
            <a:ahLst/>
            <a:cxnLst/>
            <a:rect l="l" t="t" r="r" b="b"/>
            <a:pathLst>
              <a:path w="1225090" h="1649159">
                <a:moveTo>
                  <a:pt x="94234" y="0"/>
                </a:moveTo>
                <a:lnTo>
                  <a:pt x="1130856" y="0"/>
                </a:lnTo>
                <a:cubicBezTo>
                  <a:pt x="1182900" y="0"/>
                  <a:pt x="1225090" y="42190"/>
                  <a:pt x="1225090" y="94234"/>
                </a:cubicBezTo>
                <a:lnTo>
                  <a:pt x="1225090" y="1554926"/>
                </a:lnTo>
                <a:cubicBezTo>
                  <a:pt x="1225090" y="1606969"/>
                  <a:pt x="1182900" y="1649159"/>
                  <a:pt x="1130856" y="1649159"/>
                </a:cubicBezTo>
                <a:lnTo>
                  <a:pt x="94234" y="1649159"/>
                </a:lnTo>
                <a:cubicBezTo>
                  <a:pt x="42190" y="1649159"/>
                  <a:pt x="0" y="1606969"/>
                  <a:pt x="0" y="1554926"/>
                </a:cubicBezTo>
                <a:lnTo>
                  <a:pt x="0" y="94234"/>
                </a:lnTo>
                <a:cubicBezTo>
                  <a:pt x="0" y="42225"/>
                  <a:pt x="42225" y="0"/>
                  <a:pt x="94234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8"/>
          <p:cNvSpPr/>
          <p:nvPr/>
        </p:nvSpPr>
        <p:spPr>
          <a:xfrm>
            <a:off x="5486676" y="7653038"/>
            <a:ext cx="753901" cy="753901"/>
          </a:xfrm>
          <a:custGeom>
            <a:avLst/>
            <a:gdLst/>
            <a:ahLst/>
            <a:cxnLst/>
            <a:rect l="l" t="t" r="r" b="b"/>
            <a:pathLst>
              <a:path w="753901" h="753901">
                <a:moveTo>
                  <a:pt x="376951" y="0"/>
                </a:moveTo>
                <a:lnTo>
                  <a:pt x="376951" y="0"/>
                </a:lnTo>
                <a:cubicBezTo>
                  <a:pt x="584995" y="0"/>
                  <a:pt x="753901" y="168906"/>
                  <a:pt x="753901" y="376951"/>
                </a:cubicBezTo>
                <a:lnTo>
                  <a:pt x="753901" y="376951"/>
                </a:lnTo>
                <a:cubicBezTo>
                  <a:pt x="753901" y="584995"/>
                  <a:pt x="584995" y="753901"/>
                  <a:pt x="376951" y="753901"/>
                </a:cubicBezTo>
                <a:lnTo>
                  <a:pt x="376951" y="753901"/>
                </a:lnTo>
                <a:cubicBezTo>
                  <a:pt x="168906" y="753901"/>
                  <a:pt x="0" y="584995"/>
                  <a:pt x="0" y="376951"/>
                </a:cubicBezTo>
                <a:lnTo>
                  <a:pt x="0" y="376951"/>
                </a:lnTo>
                <a:cubicBezTo>
                  <a:pt x="0" y="168906"/>
                  <a:pt x="168906" y="0"/>
                  <a:pt x="376951" y="0"/>
                </a:cubicBezTo>
                <a:close/>
              </a:path>
            </a:pathLst>
          </a:custGeom>
          <a:solidFill>
            <a:srgbClr val="D69E2E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9"/>
          <p:cNvSpPr/>
          <p:nvPr/>
        </p:nvSpPr>
        <p:spPr>
          <a:xfrm>
            <a:off x="5468638" y="7841514"/>
            <a:ext cx="789241" cy="376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226" b="1" dirty="0">
                <a:solidFill>
                  <a:srgbClr val="D69E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DWS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439557" y="8548296"/>
            <a:ext cx="848139" cy="282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84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汇总数据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7231006" y="8100667"/>
            <a:ext cx="282713" cy="282713"/>
          </a:xfrm>
          <a:custGeom>
            <a:avLst/>
            <a:gdLst/>
            <a:ahLst/>
            <a:cxnLst/>
            <a:rect l="l" t="t" r="r" b="b"/>
            <a:pathLst>
              <a:path w="282713" h="282713">
                <a:moveTo>
                  <a:pt x="277523" y="153836"/>
                </a:moveTo>
                <a:cubicBezTo>
                  <a:pt x="284425" y="146933"/>
                  <a:pt x="284425" y="135724"/>
                  <a:pt x="277523" y="128822"/>
                </a:cubicBezTo>
                <a:lnTo>
                  <a:pt x="189175" y="40474"/>
                </a:lnTo>
                <a:cubicBezTo>
                  <a:pt x="182273" y="33572"/>
                  <a:pt x="171063" y="33572"/>
                  <a:pt x="164161" y="40474"/>
                </a:cubicBezTo>
                <a:cubicBezTo>
                  <a:pt x="157259" y="47377"/>
                  <a:pt x="157259" y="58586"/>
                  <a:pt x="164161" y="65488"/>
                </a:cubicBezTo>
                <a:lnTo>
                  <a:pt x="222360" y="123687"/>
                </a:lnTo>
                <a:lnTo>
                  <a:pt x="17670" y="123687"/>
                </a:lnTo>
                <a:cubicBezTo>
                  <a:pt x="7896" y="123687"/>
                  <a:pt x="0" y="131583"/>
                  <a:pt x="0" y="141357"/>
                </a:cubicBezTo>
                <a:cubicBezTo>
                  <a:pt x="0" y="151130"/>
                  <a:pt x="7896" y="159026"/>
                  <a:pt x="17670" y="159026"/>
                </a:cubicBezTo>
                <a:lnTo>
                  <a:pt x="222360" y="159026"/>
                </a:lnTo>
                <a:lnTo>
                  <a:pt x="164161" y="217225"/>
                </a:lnTo>
                <a:cubicBezTo>
                  <a:pt x="157259" y="224127"/>
                  <a:pt x="157259" y="235337"/>
                  <a:pt x="164161" y="242239"/>
                </a:cubicBezTo>
                <a:cubicBezTo>
                  <a:pt x="171063" y="249141"/>
                  <a:pt x="182273" y="249141"/>
                  <a:pt x="189175" y="242239"/>
                </a:cubicBezTo>
                <a:lnTo>
                  <a:pt x="277523" y="153891"/>
                </a:lnTo>
                <a:close/>
              </a:path>
            </a:pathLst>
          </a:custGeom>
          <a:solidFill>
            <a:srgbClr val="D69E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2"/>
          <p:cNvSpPr/>
          <p:nvPr/>
        </p:nvSpPr>
        <p:spPr>
          <a:xfrm>
            <a:off x="8266688" y="7417444"/>
            <a:ext cx="1225090" cy="1649159"/>
          </a:xfrm>
          <a:custGeom>
            <a:avLst/>
            <a:gdLst/>
            <a:ahLst/>
            <a:cxnLst/>
            <a:rect l="l" t="t" r="r" b="b"/>
            <a:pathLst>
              <a:path w="1225090" h="1649159">
                <a:moveTo>
                  <a:pt x="94234" y="0"/>
                </a:moveTo>
                <a:lnTo>
                  <a:pt x="1130856" y="0"/>
                </a:lnTo>
                <a:cubicBezTo>
                  <a:pt x="1182900" y="0"/>
                  <a:pt x="1225090" y="42190"/>
                  <a:pt x="1225090" y="94234"/>
                </a:cubicBezTo>
                <a:lnTo>
                  <a:pt x="1225090" y="1554926"/>
                </a:lnTo>
                <a:cubicBezTo>
                  <a:pt x="1225090" y="1606969"/>
                  <a:pt x="1182900" y="1649159"/>
                  <a:pt x="1130856" y="1649159"/>
                </a:cubicBezTo>
                <a:lnTo>
                  <a:pt x="94234" y="1649159"/>
                </a:lnTo>
                <a:cubicBezTo>
                  <a:pt x="42190" y="1649159"/>
                  <a:pt x="0" y="1606969"/>
                  <a:pt x="0" y="1554926"/>
                </a:cubicBezTo>
                <a:lnTo>
                  <a:pt x="0" y="94234"/>
                </a:lnTo>
                <a:cubicBezTo>
                  <a:pt x="0" y="42225"/>
                  <a:pt x="42225" y="0"/>
                  <a:pt x="94234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3"/>
          <p:cNvSpPr/>
          <p:nvPr/>
        </p:nvSpPr>
        <p:spPr>
          <a:xfrm>
            <a:off x="8502282" y="7653038"/>
            <a:ext cx="753901" cy="753901"/>
          </a:xfrm>
          <a:custGeom>
            <a:avLst/>
            <a:gdLst/>
            <a:ahLst/>
            <a:cxnLst/>
            <a:rect l="l" t="t" r="r" b="b"/>
            <a:pathLst>
              <a:path w="753901" h="753901">
                <a:moveTo>
                  <a:pt x="376951" y="0"/>
                </a:moveTo>
                <a:lnTo>
                  <a:pt x="376951" y="0"/>
                </a:lnTo>
                <a:cubicBezTo>
                  <a:pt x="584995" y="0"/>
                  <a:pt x="753901" y="168906"/>
                  <a:pt x="753901" y="376951"/>
                </a:cubicBezTo>
                <a:lnTo>
                  <a:pt x="753901" y="376951"/>
                </a:lnTo>
                <a:cubicBezTo>
                  <a:pt x="753901" y="584995"/>
                  <a:pt x="584995" y="753901"/>
                  <a:pt x="376951" y="753901"/>
                </a:cubicBezTo>
                <a:lnTo>
                  <a:pt x="376951" y="753901"/>
                </a:lnTo>
                <a:cubicBezTo>
                  <a:pt x="168906" y="753901"/>
                  <a:pt x="0" y="584995"/>
                  <a:pt x="0" y="376951"/>
                </a:cubicBezTo>
                <a:lnTo>
                  <a:pt x="0" y="376951"/>
                </a:lnTo>
                <a:cubicBezTo>
                  <a:pt x="0" y="168906"/>
                  <a:pt x="168906" y="0"/>
                  <a:pt x="376951" y="0"/>
                </a:cubicBezTo>
                <a:close/>
              </a:path>
            </a:pathLst>
          </a:custGeom>
          <a:solidFill>
            <a:srgbClr val="D69E2E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4"/>
          <p:cNvSpPr/>
          <p:nvPr/>
        </p:nvSpPr>
        <p:spPr>
          <a:xfrm>
            <a:off x="8528878" y="7841514"/>
            <a:ext cx="695003" cy="376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226" b="1" dirty="0">
                <a:solidFill>
                  <a:srgbClr val="D69E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ADS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8455163" y="8548296"/>
            <a:ext cx="848139" cy="282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84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业务结果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4909010" y="9443554"/>
            <a:ext cx="6431722" cy="376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226" b="1" dirty="0">
                <a:solidFill>
                  <a:srgbClr val="D69E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分层不是目的,而是手段；数据资产化才是终极目标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1545</Words>
  <Application>Microsoft Macintosh PowerPoint</Application>
  <PresentationFormat>自定义</PresentationFormat>
  <Paragraphs>560</Paragraphs>
  <Slides>26</Slides>
  <Notes>26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2" baseType="lpstr">
      <vt:lpstr>Noto Sans SC</vt:lpstr>
      <vt:lpstr>Arial</vt:lpstr>
      <vt:lpstr>MiSans</vt:lpstr>
      <vt:lpstr>Calibri</vt:lpstr>
      <vt:lpstr>Liter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数仓分层架构详解</dc:title>
  <dc:subject>数仓分层架构详解</dc:subject>
  <dc:creator>Kimi</dc:creator>
  <cp:lastModifiedBy>王 天青</cp:lastModifiedBy>
  <cp:revision>8</cp:revision>
  <dcterms:created xsi:type="dcterms:W3CDTF">2025-12-19T01:05:25Z</dcterms:created>
  <dcterms:modified xsi:type="dcterms:W3CDTF">2025-12-19T03:24:24Z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{"Label":"数仓分层架构详解","ContentProducer":"001191110108MACG2KBH8F10000","ProduceID":"19b3412c-a8d2-82b4-8000-00001c205602","ReservedCode1":"","ContentPropagator":"001191110108MACG2KBH8F20000","PropagateID":"19b3412c-a8d2-82b4-8000-00001c205602","ReservedCode2":""}</vt:lpwstr>
  </property>
</Properties>
</file>