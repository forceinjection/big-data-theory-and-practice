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6256000" cy="9144000"/>
  <p:notesSz cx="9144000" cy="16256000"/>
  <p:embeddedFontLst>
    <p:embeddedFont>
      <p:font typeface="MiSans" pitchFamily="2" charset="-122"/>
      <p:regular r:id="rId31"/>
    </p:embeddedFont>
    <p:embeddedFont>
      <p:font typeface="微软雅黑" panose="020B0503020204020204" pitchFamily="34" charset="-122"/>
      <p:regular r:id="rId32"/>
      <p:bold r:id="rId33"/>
    </p:embeddedFont>
    <p:embeddedFont>
      <p:font typeface="Liter" panose="02000503030000020004" pitchFamily="2" charset="0"/>
      <p:regular r:id="rId34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0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41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4747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3.ftcdn.net/f5bbf6dd6788ddbf052d0e14766f642eef1e12ed.jpg"/>
          <p:cNvPicPr>
            <a:picLocks noChangeAspect="1"/>
          </p:cNvPicPr>
          <p:nvPr/>
        </p:nvPicPr>
        <p:blipFill>
          <a:blip r:embed="rId3">
            <a:alphaModFix amt="40000"/>
          </a:blip>
          <a:srcRect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343A40">
                  <a:alpha val="7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14350" y="1939330"/>
            <a:ext cx="15227300" cy="520700"/>
          </a:xfrm>
          <a:custGeom>
            <a:avLst/>
            <a:gdLst/>
            <a:ahLst/>
            <a:cxnLst/>
            <a:rect l="l" t="t" r="r" b="b"/>
            <a:pathLst>
              <a:path w="15227300" h="520700">
                <a:moveTo>
                  <a:pt x="50799" y="0"/>
                </a:moveTo>
                <a:lnTo>
                  <a:pt x="15176501" y="0"/>
                </a:lnTo>
                <a:cubicBezTo>
                  <a:pt x="15204556" y="0"/>
                  <a:pt x="15227300" y="22744"/>
                  <a:pt x="15227300" y="50799"/>
                </a:cubicBezTo>
                <a:lnTo>
                  <a:pt x="15227300" y="469901"/>
                </a:lnTo>
                <a:cubicBezTo>
                  <a:pt x="15227300" y="497956"/>
                  <a:pt x="15204556" y="520700"/>
                  <a:pt x="15176501" y="520700"/>
                </a:cubicBezTo>
                <a:lnTo>
                  <a:pt x="50799" y="520700"/>
                </a:lnTo>
                <a:cubicBezTo>
                  <a:pt x="22744" y="520700"/>
                  <a:pt x="0" y="497956"/>
                  <a:pt x="0" y="4699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D4A237">
              <a:alpha val="20000"/>
            </a:srgbClr>
          </a:solidFill>
          <a:ln w="12700">
            <a:solidFill>
              <a:srgbClr val="D4A2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774700" y="2091730"/>
            <a:ext cx="2387501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280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Lakehouse 核心技术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2771180"/>
            <a:ext cx="15798800" cy="2463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88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深入解析</a:t>
            </a: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88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Table Format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5534620"/>
            <a:ext cx="1422400" cy="50800"/>
          </a:xfrm>
          <a:custGeom>
            <a:avLst/>
            <a:gdLst/>
            <a:ahLst/>
            <a:cxnLst/>
            <a:rect l="l" t="t" r="r" b="b"/>
            <a:pathLst>
              <a:path w="1422400" h="50800">
                <a:moveTo>
                  <a:pt x="0" y="0"/>
                </a:moveTo>
                <a:lnTo>
                  <a:pt x="1422400" y="0"/>
                </a:lnTo>
                <a:lnTo>
                  <a:pt x="14224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508000" y="5890220"/>
            <a:ext cx="15443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8F9FA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原理、架构与技术细节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8000" y="6601420"/>
            <a:ext cx="9880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以 Apache Iceberg 为例深度剖析 Lakehouse 基石技术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210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内容导览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33400" y="2006600"/>
            <a:ext cx="7391400" cy="1625600"/>
          </a:xfrm>
          <a:custGeom>
            <a:avLst/>
            <a:gdLst/>
            <a:ahLst/>
            <a:cxnLst/>
            <a:rect l="l" t="t" r="r" b="b"/>
            <a:pathLst>
              <a:path w="7391400" h="1625600">
                <a:moveTo>
                  <a:pt x="0" y="0"/>
                </a:moveTo>
                <a:lnTo>
                  <a:pt x="7391400" y="0"/>
                </a:lnTo>
                <a:lnTo>
                  <a:pt x="7391400" y="1625600"/>
                </a:lnTo>
                <a:lnTo>
                  <a:pt x="0" y="1625600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33400" y="2006600"/>
            <a:ext cx="50800" cy="1625600"/>
          </a:xfrm>
          <a:custGeom>
            <a:avLst/>
            <a:gdLst/>
            <a:ahLst/>
            <a:cxnLst/>
            <a:rect l="l" t="t" r="r" b="b"/>
            <a:pathLst>
              <a:path w="50800" h="1625600">
                <a:moveTo>
                  <a:pt x="0" y="0"/>
                </a:moveTo>
                <a:lnTo>
                  <a:pt x="50800" y="0"/>
                </a:lnTo>
                <a:lnTo>
                  <a:pt x="50800" y="1625600"/>
                </a:lnTo>
                <a:lnTo>
                  <a:pt x="0" y="16256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12800" y="22606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50801" y="0"/>
                </a:moveTo>
                <a:lnTo>
                  <a:pt x="660399" y="0"/>
                </a:lnTo>
                <a:cubicBezTo>
                  <a:pt x="688456" y="0"/>
                  <a:pt x="711200" y="22744"/>
                  <a:pt x="711200" y="50801"/>
                </a:cubicBezTo>
                <a:lnTo>
                  <a:pt x="711200" y="660399"/>
                </a:lnTo>
                <a:cubicBezTo>
                  <a:pt x="711200" y="688456"/>
                  <a:pt x="688456" y="711200"/>
                  <a:pt x="660399" y="711200"/>
                </a:cubicBezTo>
                <a:lnTo>
                  <a:pt x="50801" y="711200"/>
                </a:lnTo>
                <a:cubicBezTo>
                  <a:pt x="22744" y="711200"/>
                  <a:pt x="0" y="688456"/>
                  <a:pt x="0" y="6603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36600" y="2260600"/>
            <a:ext cx="863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27200" y="2260600"/>
            <a:ext cx="6070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痛点分析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27200" y="2717800"/>
            <a:ext cx="61976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Hive 表在对象存储上的困境：目录 Listing 的性能黑洞和原子性缺失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3400" y="3886200"/>
            <a:ext cx="7391400" cy="1295400"/>
          </a:xfrm>
          <a:custGeom>
            <a:avLst/>
            <a:gdLst/>
            <a:ahLst/>
            <a:cxnLst/>
            <a:rect l="l" t="t" r="r" b="b"/>
            <a:pathLst>
              <a:path w="7391400" h="1295400">
                <a:moveTo>
                  <a:pt x="0" y="0"/>
                </a:moveTo>
                <a:lnTo>
                  <a:pt x="7391400" y="0"/>
                </a:lnTo>
                <a:lnTo>
                  <a:pt x="73914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533400" y="3886200"/>
            <a:ext cx="50800" cy="1295400"/>
          </a:xfrm>
          <a:custGeom>
            <a:avLst/>
            <a:gdLst/>
            <a:ahLst/>
            <a:cxnLst/>
            <a:rect l="l" t="t" r="r" b="b"/>
            <a:pathLst>
              <a:path w="50800" h="1295400">
                <a:moveTo>
                  <a:pt x="0" y="0"/>
                </a:moveTo>
                <a:lnTo>
                  <a:pt x="50800" y="0"/>
                </a:lnTo>
                <a:lnTo>
                  <a:pt x="508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812800" y="41402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50801" y="0"/>
                </a:moveTo>
                <a:lnTo>
                  <a:pt x="660399" y="0"/>
                </a:lnTo>
                <a:cubicBezTo>
                  <a:pt x="688456" y="0"/>
                  <a:pt x="711200" y="22744"/>
                  <a:pt x="711200" y="50801"/>
                </a:cubicBezTo>
                <a:lnTo>
                  <a:pt x="711200" y="660399"/>
                </a:lnTo>
                <a:cubicBezTo>
                  <a:pt x="711200" y="688456"/>
                  <a:pt x="688456" y="711200"/>
                  <a:pt x="660399" y="711200"/>
                </a:cubicBezTo>
                <a:lnTo>
                  <a:pt x="50801" y="711200"/>
                </a:lnTo>
                <a:cubicBezTo>
                  <a:pt x="22744" y="711200"/>
                  <a:pt x="0" y="688456"/>
                  <a:pt x="0" y="6603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736600" y="4140200"/>
            <a:ext cx="863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727200" y="4140200"/>
            <a:ext cx="6070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核心解法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27200" y="4597400"/>
            <a:ext cx="6045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从目录扫描到显式追踪的革命性转变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3400" y="5435600"/>
            <a:ext cx="7391400" cy="1295400"/>
          </a:xfrm>
          <a:custGeom>
            <a:avLst/>
            <a:gdLst/>
            <a:ahLst/>
            <a:cxnLst/>
            <a:rect l="l" t="t" r="r" b="b"/>
            <a:pathLst>
              <a:path w="7391400" h="1295400">
                <a:moveTo>
                  <a:pt x="0" y="0"/>
                </a:moveTo>
                <a:lnTo>
                  <a:pt x="7391400" y="0"/>
                </a:lnTo>
                <a:lnTo>
                  <a:pt x="73914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533400" y="5435600"/>
            <a:ext cx="50800" cy="1295400"/>
          </a:xfrm>
          <a:custGeom>
            <a:avLst/>
            <a:gdLst/>
            <a:ahLst/>
            <a:cxnLst/>
            <a:rect l="l" t="t" r="r" b="b"/>
            <a:pathLst>
              <a:path w="50800" h="1295400">
                <a:moveTo>
                  <a:pt x="0" y="0"/>
                </a:moveTo>
                <a:lnTo>
                  <a:pt x="50800" y="0"/>
                </a:lnTo>
                <a:lnTo>
                  <a:pt x="508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812800" y="56896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50801" y="0"/>
                </a:moveTo>
                <a:lnTo>
                  <a:pt x="660399" y="0"/>
                </a:lnTo>
                <a:cubicBezTo>
                  <a:pt x="688456" y="0"/>
                  <a:pt x="711200" y="22744"/>
                  <a:pt x="711200" y="50801"/>
                </a:cubicBezTo>
                <a:lnTo>
                  <a:pt x="711200" y="660399"/>
                </a:lnTo>
                <a:cubicBezTo>
                  <a:pt x="711200" y="688456"/>
                  <a:pt x="688456" y="711200"/>
                  <a:pt x="660399" y="711200"/>
                </a:cubicBezTo>
                <a:lnTo>
                  <a:pt x="50801" y="711200"/>
                </a:lnTo>
                <a:cubicBezTo>
                  <a:pt x="22744" y="711200"/>
                  <a:pt x="0" y="688456"/>
                  <a:pt x="0" y="6603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736600" y="5689600"/>
            <a:ext cx="863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727200" y="5689600"/>
            <a:ext cx="6070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技术深潜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727200" y="6146800"/>
            <a:ext cx="6045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Iceberg 的三层元数据架构详解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33400" y="6985000"/>
            <a:ext cx="7391400" cy="1295400"/>
          </a:xfrm>
          <a:custGeom>
            <a:avLst/>
            <a:gdLst/>
            <a:ahLst/>
            <a:cxnLst/>
            <a:rect l="l" t="t" r="r" b="b"/>
            <a:pathLst>
              <a:path w="7391400" h="1295400">
                <a:moveTo>
                  <a:pt x="0" y="0"/>
                </a:moveTo>
                <a:lnTo>
                  <a:pt x="7391400" y="0"/>
                </a:lnTo>
                <a:lnTo>
                  <a:pt x="73914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533400" y="6985000"/>
            <a:ext cx="50800" cy="1295400"/>
          </a:xfrm>
          <a:custGeom>
            <a:avLst/>
            <a:gdLst/>
            <a:ahLst/>
            <a:cxnLst/>
            <a:rect l="l" t="t" r="r" b="b"/>
            <a:pathLst>
              <a:path w="50800" h="1295400">
                <a:moveTo>
                  <a:pt x="0" y="0"/>
                </a:moveTo>
                <a:lnTo>
                  <a:pt x="50800" y="0"/>
                </a:lnTo>
                <a:lnTo>
                  <a:pt x="508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812800" y="72390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50801" y="0"/>
                </a:moveTo>
                <a:lnTo>
                  <a:pt x="660399" y="0"/>
                </a:lnTo>
                <a:cubicBezTo>
                  <a:pt x="688456" y="0"/>
                  <a:pt x="711200" y="22744"/>
                  <a:pt x="711200" y="50801"/>
                </a:cubicBezTo>
                <a:lnTo>
                  <a:pt x="711200" y="660399"/>
                </a:lnTo>
                <a:cubicBezTo>
                  <a:pt x="711200" y="688456"/>
                  <a:pt x="688456" y="711200"/>
                  <a:pt x="660399" y="711200"/>
                </a:cubicBezTo>
                <a:lnTo>
                  <a:pt x="50801" y="711200"/>
                </a:lnTo>
                <a:cubicBezTo>
                  <a:pt x="22744" y="711200"/>
                  <a:pt x="0" y="688456"/>
                  <a:pt x="0" y="6603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736600" y="7239000"/>
            <a:ext cx="863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727200" y="7239000"/>
            <a:ext cx="6070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动态推演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727200" y="7696200"/>
            <a:ext cx="6045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INSERT 操作的内部流程与 ACID 保证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356600" y="2006600"/>
            <a:ext cx="7391400" cy="1295400"/>
          </a:xfrm>
          <a:custGeom>
            <a:avLst/>
            <a:gdLst/>
            <a:ahLst/>
            <a:cxnLst/>
            <a:rect l="l" t="t" r="r" b="b"/>
            <a:pathLst>
              <a:path w="7391400" h="1295400">
                <a:moveTo>
                  <a:pt x="0" y="0"/>
                </a:moveTo>
                <a:lnTo>
                  <a:pt x="7391400" y="0"/>
                </a:lnTo>
                <a:lnTo>
                  <a:pt x="73914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356600" y="2006600"/>
            <a:ext cx="50800" cy="1295400"/>
          </a:xfrm>
          <a:custGeom>
            <a:avLst/>
            <a:gdLst/>
            <a:ahLst/>
            <a:cxnLst/>
            <a:rect l="l" t="t" r="r" b="b"/>
            <a:pathLst>
              <a:path w="50800" h="1295400">
                <a:moveTo>
                  <a:pt x="0" y="0"/>
                </a:moveTo>
                <a:lnTo>
                  <a:pt x="50800" y="0"/>
                </a:lnTo>
                <a:lnTo>
                  <a:pt x="508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8636000" y="22606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50801" y="0"/>
                </a:moveTo>
                <a:lnTo>
                  <a:pt x="660399" y="0"/>
                </a:lnTo>
                <a:cubicBezTo>
                  <a:pt x="688456" y="0"/>
                  <a:pt x="711200" y="22744"/>
                  <a:pt x="711200" y="50801"/>
                </a:cubicBezTo>
                <a:lnTo>
                  <a:pt x="711200" y="660399"/>
                </a:lnTo>
                <a:cubicBezTo>
                  <a:pt x="711200" y="688456"/>
                  <a:pt x="688456" y="711200"/>
                  <a:pt x="660399" y="711200"/>
                </a:cubicBezTo>
                <a:lnTo>
                  <a:pt x="50801" y="711200"/>
                </a:lnTo>
                <a:cubicBezTo>
                  <a:pt x="22744" y="711200"/>
                  <a:pt x="0" y="688456"/>
                  <a:pt x="0" y="6603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559800" y="2260600"/>
            <a:ext cx="863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550400" y="2260600"/>
            <a:ext cx="6070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进阶机制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550400" y="2717800"/>
            <a:ext cx="6045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行级更新与删除的 COW 和 MOR 策略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356600" y="3556000"/>
            <a:ext cx="7391400" cy="1295400"/>
          </a:xfrm>
          <a:custGeom>
            <a:avLst/>
            <a:gdLst/>
            <a:ahLst/>
            <a:cxnLst/>
            <a:rect l="l" t="t" r="r" b="b"/>
            <a:pathLst>
              <a:path w="7391400" h="1295400">
                <a:moveTo>
                  <a:pt x="0" y="0"/>
                </a:moveTo>
                <a:lnTo>
                  <a:pt x="7391400" y="0"/>
                </a:lnTo>
                <a:lnTo>
                  <a:pt x="73914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8356600" y="3556000"/>
            <a:ext cx="50800" cy="1295400"/>
          </a:xfrm>
          <a:custGeom>
            <a:avLst/>
            <a:gdLst/>
            <a:ahLst/>
            <a:cxnLst/>
            <a:rect l="l" t="t" r="r" b="b"/>
            <a:pathLst>
              <a:path w="50800" h="1295400">
                <a:moveTo>
                  <a:pt x="0" y="0"/>
                </a:moveTo>
                <a:lnTo>
                  <a:pt x="50800" y="0"/>
                </a:lnTo>
                <a:lnTo>
                  <a:pt x="508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8636000" y="38100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50801" y="0"/>
                </a:moveTo>
                <a:lnTo>
                  <a:pt x="660399" y="0"/>
                </a:lnTo>
                <a:cubicBezTo>
                  <a:pt x="688456" y="0"/>
                  <a:pt x="711200" y="22744"/>
                  <a:pt x="711200" y="50801"/>
                </a:cubicBezTo>
                <a:lnTo>
                  <a:pt x="711200" y="660399"/>
                </a:lnTo>
                <a:cubicBezTo>
                  <a:pt x="711200" y="688456"/>
                  <a:pt x="688456" y="711200"/>
                  <a:pt x="660399" y="711200"/>
                </a:cubicBezTo>
                <a:lnTo>
                  <a:pt x="50801" y="711200"/>
                </a:lnTo>
                <a:cubicBezTo>
                  <a:pt x="22744" y="711200"/>
                  <a:pt x="0" y="688456"/>
                  <a:pt x="0" y="6603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8559800" y="3810000"/>
            <a:ext cx="863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550400" y="3810000"/>
            <a:ext cx="6070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并发控制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550400" y="4267200"/>
            <a:ext cx="6045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防止多人同时修改冲突的乐观锁机制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356600" y="5105400"/>
            <a:ext cx="7391400" cy="1295400"/>
          </a:xfrm>
          <a:custGeom>
            <a:avLst/>
            <a:gdLst/>
            <a:ahLst/>
            <a:cxnLst/>
            <a:rect l="l" t="t" r="r" b="b"/>
            <a:pathLst>
              <a:path w="7391400" h="1295400">
                <a:moveTo>
                  <a:pt x="0" y="0"/>
                </a:moveTo>
                <a:lnTo>
                  <a:pt x="7391400" y="0"/>
                </a:lnTo>
                <a:lnTo>
                  <a:pt x="73914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8356600" y="5105400"/>
            <a:ext cx="50800" cy="1295400"/>
          </a:xfrm>
          <a:custGeom>
            <a:avLst/>
            <a:gdLst/>
            <a:ahLst/>
            <a:cxnLst/>
            <a:rect l="l" t="t" r="r" b="b"/>
            <a:pathLst>
              <a:path w="50800" h="1295400">
                <a:moveTo>
                  <a:pt x="0" y="0"/>
                </a:moveTo>
                <a:lnTo>
                  <a:pt x="50800" y="0"/>
                </a:lnTo>
                <a:lnTo>
                  <a:pt x="508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8636000" y="53594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50801" y="0"/>
                </a:moveTo>
                <a:lnTo>
                  <a:pt x="660399" y="0"/>
                </a:lnTo>
                <a:cubicBezTo>
                  <a:pt x="688456" y="0"/>
                  <a:pt x="711200" y="22744"/>
                  <a:pt x="711200" y="50801"/>
                </a:cubicBezTo>
                <a:lnTo>
                  <a:pt x="711200" y="660399"/>
                </a:lnTo>
                <a:cubicBezTo>
                  <a:pt x="711200" y="688456"/>
                  <a:pt x="688456" y="711200"/>
                  <a:pt x="660399" y="711200"/>
                </a:cubicBezTo>
                <a:lnTo>
                  <a:pt x="50801" y="711200"/>
                </a:lnTo>
                <a:cubicBezTo>
                  <a:pt x="22744" y="711200"/>
                  <a:pt x="0" y="688456"/>
                  <a:pt x="0" y="6603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8559800" y="5359400"/>
            <a:ext cx="863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550400" y="5359400"/>
            <a:ext cx="6070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杀手级特性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550400" y="5816600"/>
            <a:ext cx="6045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Time Travel、Schema Evolution、Hidden Partitioning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337550" y="6661150"/>
            <a:ext cx="7404100" cy="1739900"/>
          </a:xfrm>
          <a:custGeom>
            <a:avLst/>
            <a:gdLst/>
            <a:ahLst/>
            <a:cxnLst/>
            <a:rect l="l" t="t" r="r" b="b"/>
            <a:pathLst>
              <a:path w="7404100" h="1739900">
                <a:moveTo>
                  <a:pt x="0" y="0"/>
                </a:moveTo>
                <a:lnTo>
                  <a:pt x="7404100" y="0"/>
                </a:lnTo>
                <a:lnTo>
                  <a:pt x="7404100" y="1739900"/>
                </a:lnTo>
                <a:lnTo>
                  <a:pt x="0" y="17399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>
              <a:alpha val="10196"/>
            </a:srgbClr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8724900" y="69977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9182100" y="6972300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学习目标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648700" y="7429500"/>
            <a:ext cx="68834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深入理解 Table Format 如何在对象存储之上构建出具备 ACID 事务、快照隔离和高性能查询能力的"表"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gettyimages.com/19f2c9222a00bb1fd0e2e902745c7d852876c8fb.jpg"/>
          <p:cNvPicPr>
            <a:picLocks noChangeAspect="1"/>
          </p:cNvPicPr>
          <p:nvPr/>
        </p:nvPicPr>
        <p:blipFill>
          <a:blip r:embed="rId3">
            <a:alphaModFix amt="30000"/>
          </a:blip>
          <a:srcRect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0000"/>
                </a:srgbClr>
              </a:gs>
              <a:gs pos="50000">
                <a:srgbClr val="343A40">
                  <a:alpha val="80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08000" y="2540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" y="0"/>
                </a:moveTo>
                <a:lnTo>
                  <a:pt x="965200" y="0"/>
                </a:lnTo>
                <a:cubicBezTo>
                  <a:pt x="993237" y="0"/>
                  <a:pt x="1016000" y="22763"/>
                  <a:pt x="1016000" y="50800"/>
                </a:cubicBezTo>
                <a:lnTo>
                  <a:pt x="1016000" y="965200"/>
                </a:lnTo>
                <a:cubicBezTo>
                  <a:pt x="1016000" y="993237"/>
                  <a:pt x="993237" y="1016000"/>
                  <a:pt x="965200" y="1016000"/>
                </a:cubicBezTo>
                <a:lnTo>
                  <a:pt x="50800" y="1016000"/>
                </a:lnTo>
                <a:cubicBezTo>
                  <a:pt x="22763" y="1016000"/>
                  <a:pt x="0" y="993237"/>
                  <a:pt x="0" y="96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393700" y="2540000"/>
            <a:ext cx="12446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727200" y="2641600"/>
            <a:ext cx="50800" cy="812800"/>
          </a:xfrm>
          <a:custGeom>
            <a:avLst/>
            <a:gdLst/>
            <a:ahLst/>
            <a:cxnLst/>
            <a:rect l="l" t="t" r="r" b="b"/>
            <a:pathLst>
              <a:path w="50800" h="812800">
                <a:moveTo>
                  <a:pt x="0" y="0"/>
                </a:moveTo>
                <a:lnTo>
                  <a:pt x="50800" y="0"/>
                </a:lnTo>
                <a:lnTo>
                  <a:pt x="50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508000" y="4267200"/>
            <a:ext cx="51943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80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痛点分析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8000" y="5689600"/>
            <a:ext cx="487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Hive 表在对象存储上的困境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8000" y="655320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210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Pain Points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Hive 表在对象存储上的核心痛点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33400" y="1625600"/>
            <a:ext cx="7467600" cy="3632200"/>
          </a:xfrm>
          <a:custGeom>
            <a:avLst/>
            <a:gdLst/>
            <a:ahLst/>
            <a:cxnLst/>
            <a:rect l="l" t="t" r="r" b="b"/>
            <a:pathLst>
              <a:path w="7467600" h="3632200">
                <a:moveTo>
                  <a:pt x="0" y="0"/>
                </a:moveTo>
                <a:lnTo>
                  <a:pt x="7467600" y="0"/>
                </a:lnTo>
                <a:lnTo>
                  <a:pt x="7467600" y="3632200"/>
                </a:lnTo>
                <a:lnTo>
                  <a:pt x="0" y="3632200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33400" y="1625600"/>
            <a:ext cx="50800" cy="3632200"/>
          </a:xfrm>
          <a:custGeom>
            <a:avLst/>
            <a:gdLst/>
            <a:ahLst/>
            <a:cxnLst/>
            <a:rect l="l" t="t" r="r" b="b"/>
            <a:pathLst>
              <a:path w="50800" h="3632200">
                <a:moveTo>
                  <a:pt x="0" y="0"/>
                </a:moveTo>
                <a:lnTo>
                  <a:pt x="50800" y="0"/>
                </a:lnTo>
                <a:lnTo>
                  <a:pt x="50800" y="3632200"/>
                </a:lnTo>
                <a:lnTo>
                  <a:pt x="0" y="36322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12800" y="1879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0798" y="0"/>
                </a:moveTo>
                <a:lnTo>
                  <a:pt x="558802" y="0"/>
                </a:lnTo>
                <a:cubicBezTo>
                  <a:pt x="586857" y="0"/>
                  <a:pt x="609600" y="22743"/>
                  <a:pt x="609600" y="50798"/>
                </a:cubicBezTo>
                <a:lnTo>
                  <a:pt x="609600" y="558802"/>
                </a:lnTo>
                <a:cubicBezTo>
                  <a:pt x="609600" y="586857"/>
                  <a:pt x="586857" y="609600"/>
                  <a:pt x="558802" y="609600"/>
                </a:cubicBezTo>
                <a:lnTo>
                  <a:pt x="50798" y="609600"/>
                </a:lnTo>
                <a:cubicBezTo>
                  <a:pt x="22743" y="609600"/>
                  <a:pt x="0" y="586857"/>
                  <a:pt x="0" y="5588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1022350" y="20574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15875" y="0"/>
                </a:moveTo>
                <a:cubicBezTo>
                  <a:pt x="7094" y="0"/>
                  <a:pt x="0" y="7094"/>
                  <a:pt x="0" y="15875"/>
                </a:cubicBezTo>
                <a:cubicBezTo>
                  <a:pt x="0" y="24656"/>
                  <a:pt x="7094" y="31750"/>
                  <a:pt x="15875" y="31750"/>
                </a:cubicBezTo>
                <a:lnTo>
                  <a:pt x="15875" y="37207"/>
                </a:lnTo>
                <a:cubicBezTo>
                  <a:pt x="15875" y="58241"/>
                  <a:pt x="24259" y="78432"/>
                  <a:pt x="39142" y="93315"/>
                </a:cubicBezTo>
                <a:lnTo>
                  <a:pt x="72827" y="127000"/>
                </a:lnTo>
                <a:lnTo>
                  <a:pt x="39142" y="160685"/>
                </a:lnTo>
                <a:cubicBezTo>
                  <a:pt x="24259" y="175568"/>
                  <a:pt x="15875" y="195759"/>
                  <a:pt x="15875" y="216793"/>
                </a:cubicBezTo>
                <a:lnTo>
                  <a:pt x="15875" y="222250"/>
                </a:lnTo>
                <a:cubicBezTo>
                  <a:pt x="7094" y="222250"/>
                  <a:pt x="0" y="229344"/>
                  <a:pt x="0" y="238125"/>
                </a:cubicBezTo>
                <a:cubicBezTo>
                  <a:pt x="0" y="246906"/>
                  <a:pt x="7094" y="254000"/>
                  <a:pt x="15875" y="254000"/>
                </a:cubicBezTo>
                <a:lnTo>
                  <a:pt x="174625" y="254000"/>
                </a:lnTo>
                <a:cubicBezTo>
                  <a:pt x="183406" y="254000"/>
                  <a:pt x="190500" y="246906"/>
                  <a:pt x="190500" y="238125"/>
                </a:cubicBezTo>
                <a:cubicBezTo>
                  <a:pt x="190500" y="229344"/>
                  <a:pt x="183406" y="222250"/>
                  <a:pt x="174625" y="222250"/>
                </a:cubicBezTo>
                <a:lnTo>
                  <a:pt x="174625" y="216793"/>
                </a:lnTo>
                <a:cubicBezTo>
                  <a:pt x="174625" y="195759"/>
                  <a:pt x="166241" y="175568"/>
                  <a:pt x="151358" y="160685"/>
                </a:cubicBezTo>
                <a:lnTo>
                  <a:pt x="117673" y="127000"/>
                </a:lnTo>
                <a:lnTo>
                  <a:pt x="151358" y="93315"/>
                </a:lnTo>
                <a:cubicBezTo>
                  <a:pt x="166241" y="78432"/>
                  <a:pt x="174625" y="58241"/>
                  <a:pt x="174625" y="37207"/>
                </a:cubicBezTo>
                <a:lnTo>
                  <a:pt x="174625" y="31750"/>
                </a:lnTo>
                <a:cubicBezTo>
                  <a:pt x="183406" y="31750"/>
                  <a:pt x="190500" y="24656"/>
                  <a:pt x="190500" y="15875"/>
                </a:cubicBezTo>
                <a:cubicBezTo>
                  <a:pt x="190500" y="7094"/>
                  <a:pt x="183406" y="0"/>
                  <a:pt x="174625" y="0"/>
                </a:cubicBezTo>
                <a:lnTo>
                  <a:pt x="15875" y="0"/>
                </a:lnTo>
                <a:close/>
                <a:moveTo>
                  <a:pt x="47625" y="37207"/>
                </a:moveTo>
                <a:lnTo>
                  <a:pt x="47625" y="31750"/>
                </a:lnTo>
                <a:lnTo>
                  <a:pt x="142875" y="31750"/>
                </a:lnTo>
                <a:lnTo>
                  <a:pt x="142875" y="37207"/>
                </a:lnTo>
                <a:cubicBezTo>
                  <a:pt x="142875" y="46633"/>
                  <a:pt x="140097" y="55761"/>
                  <a:pt x="134938" y="63500"/>
                </a:cubicBezTo>
                <a:lnTo>
                  <a:pt x="55563" y="63500"/>
                </a:lnTo>
                <a:cubicBezTo>
                  <a:pt x="50453" y="55761"/>
                  <a:pt x="47625" y="46633"/>
                  <a:pt x="47625" y="37207"/>
                </a:cubicBezTo>
                <a:close/>
                <a:moveTo>
                  <a:pt x="55563" y="190500"/>
                </a:moveTo>
                <a:cubicBezTo>
                  <a:pt x="57299" y="187871"/>
                  <a:pt x="59333" y="185390"/>
                  <a:pt x="61565" y="183108"/>
                </a:cubicBezTo>
                <a:lnTo>
                  <a:pt x="95250" y="149423"/>
                </a:lnTo>
                <a:lnTo>
                  <a:pt x="128935" y="183108"/>
                </a:lnTo>
                <a:cubicBezTo>
                  <a:pt x="131217" y="185390"/>
                  <a:pt x="133201" y="187871"/>
                  <a:pt x="134987" y="190500"/>
                </a:cubicBezTo>
                <a:lnTo>
                  <a:pt x="55563" y="190500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625600" y="1981200"/>
            <a:ext cx="1371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性能黑洞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800" y="2692400"/>
            <a:ext cx="70358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 Listing 的性能瓶颈</a:t>
            </a:r>
            <a:r>
              <a:rPr lang="en-US" sz="1600" dirty="0">
                <a:solidFill>
                  <a:srgbClr val="F8F9FA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是 Hive 表在对象存储上的致命弱点。查询执行时，引擎必须调用 </a:t>
            </a:r>
            <a:r>
              <a:rPr lang="en-US" sz="1400" dirty="0">
                <a:solidFill>
                  <a:srgbClr val="F8F9FA">
                    <a:alpha val="90000"/>
                  </a:srgbClr>
                </a:solidFill>
                <a:highlight>
                  <a:srgbClr val="1A1D21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ListObjects </a:t>
            </a:r>
            <a:r>
              <a:rPr lang="en-US" sz="1600" dirty="0">
                <a:solidFill>
                  <a:srgbClr val="F8F9FA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接口列举目录下所有文件，这导致查询延迟与文件数量成正比，无法随集群规模扩展。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4550" y="3937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74563" y="74563"/>
                </a:moveTo>
                <a:cubicBezTo>
                  <a:pt x="78760" y="70366"/>
                  <a:pt x="85546" y="70366"/>
                  <a:pt x="89699" y="74563"/>
                </a:cubicBezTo>
                <a:lnTo>
                  <a:pt x="114255" y="99120"/>
                </a:lnTo>
                <a:lnTo>
                  <a:pt x="138812" y="74563"/>
                </a:lnTo>
                <a:cubicBezTo>
                  <a:pt x="143009" y="70366"/>
                  <a:pt x="149796" y="70366"/>
                  <a:pt x="153948" y="74563"/>
                </a:cubicBezTo>
                <a:cubicBezTo>
                  <a:pt x="158100" y="78760"/>
                  <a:pt x="158145" y="85546"/>
                  <a:pt x="153948" y="89699"/>
                </a:cubicBezTo>
                <a:lnTo>
                  <a:pt x="129391" y="114255"/>
                </a:lnTo>
                <a:lnTo>
                  <a:pt x="153948" y="138812"/>
                </a:lnTo>
                <a:cubicBezTo>
                  <a:pt x="158145" y="143009"/>
                  <a:pt x="158145" y="149796"/>
                  <a:pt x="153948" y="153948"/>
                </a:cubicBezTo>
                <a:cubicBezTo>
                  <a:pt x="149751" y="158100"/>
                  <a:pt x="142964" y="158145"/>
                  <a:pt x="138812" y="153948"/>
                </a:cubicBezTo>
                <a:lnTo>
                  <a:pt x="114255" y="129391"/>
                </a:lnTo>
                <a:lnTo>
                  <a:pt x="89699" y="153948"/>
                </a:lnTo>
                <a:cubicBezTo>
                  <a:pt x="85502" y="158145"/>
                  <a:pt x="78715" y="158145"/>
                  <a:pt x="74563" y="153948"/>
                </a:cubicBezTo>
                <a:cubicBezTo>
                  <a:pt x="70411" y="149751"/>
                  <a:pt x="70366" y="142964"/>
                  <a:pt x="74563" y="138812"/>
                </a:cubicBezTo>
                <a:lnTo>
                  <a:pt x="99120" y="114255"/>
                </a:lnTo>
                <a:lnTo>
                  <a:pt x="74563" y="89699"/>
                </a:lnTo>
                <a:cubicBezTo>
                  <a:pt x="70366" y="85502"/>
                  <a:pt x="70366" y="78715"/>
                  <a:pt x="74563" y="74563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250950" y="3886200"/>
            <a:ext cx="3835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O(N) 复杂度：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查询延迟与文件数量成正比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44550" y="4343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74563" y="74563"/>
                </a:moveTo>
                <a:cubicBezTo>
                  <a:pt x="78760" y="70366"/>
                  <a:pt x="85546" y="70366"/>
                  <a:pt x="89699" y="74563"/>
                </a:cubicBezTo>
                <a:lnTo>
                  <a:pt x="114255" y="99120"/>
                </a:lnTo>
                <a:lnTo>
                  <a:pt x="138812" y="74563"/>
                </a:lnTo>
                <a:cubicBezTo>
                  <a:pt x="143009" y="70366"/>
                  <a:pt x="149796" y="70366"/>
                  <a:pt x="153948" y="74563"/>
                </a:cubicBezTo>
                <a:cubicBezTo>
                  <a:pt x="158100" y="78760"/>
                  <a:pt x="158145" y="85546"/>
                  <a:pt x="153948" y="89699"/>
                </a:cubicBezTo>
                <a:lnTo>
                  <a:pt x="129391" y="114255"/>
                </a:lnTo>
                <a:lnTo>
                  <a:pt x="153948" y="138812"/>
                </a:lnTo>
                <a:cubicBezTo>
                  <a:pt x="158145" y="143009"/>
                  <a:pt x="158145" y="149796"/>
                  <a:pt x="153948" y="153948"/>
                </a:cubicBezTo>
                <a:cubicBezTo>
                  <a:pt x="149751" y="158100"/>
                  <a:pt x="142964" y="158145"/>
                  <a:pt x="138812" y="153948"/>
                </a:cubicBezTo>
                <a:lnTo>
                  <a:pt x="114255" y="129391"/>
                </a:lnTo>
                <a:lnTo>
                  <a:pt x="89699" y="153948"/>
                </a:lnTo>
                <a:cubicBezTo>
                  <a:pt x="85502" y="158145"/>
                  <a:pt x="78715" y="158145"/>
                  <a:pt x="74563" y="153948"/>
                </a:cubicBezTo>
                <a:cubicBezTo>
                  <a:pt x="70411" y="149751"/>
                  <a:pt x="70366" y="142964"/>
                  <a:pt x="74563" y="138812"/>
                </a:cubicBezTo>
                <a:lnTo>
                  <a:pt x="99120" y="114255"/>
                </a:lnTo>
                <a:lnTo>
                  <a:pt x="74563" y="89699"/>
                </a:lnTo>
                <a:cubicBezTo>
                  <a:pt x="70366" y="85502"/>
                  <a:pt x="70366" y="78715"/>
                  <a:pt x="74563" y="74563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250950" y="4292600"/>
            <a:ext cx="3543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高延迟：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S3 ListObjects 分页且延迟高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44550" y="4749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74563" y="74563"/>
                </a:moveTo>
                <a:cubicBezTo>
                  <a:pt x="78760" y="70366"/>
                  <a:pt x="85546" y="70366"/>
                  <a:pt x="89699" y="74563"/>
                </a:cubicBezTo>
                <a:lnTo>
                  <a:pt x="114255" y="99120"/>
                </a:lnTo>
                <a:lnTo>
                  <a:pt x="138812" y="74563"/>
                </a:lnTo>
                <a:cubicBezTo>
                  <a:pt x="143009" y="70366"/>
                  <a:pt x="149796" y="70366"/>
                  <a:pt x="153948" y="74563"/>
                </a:cubicBezTo>
                <a:cubicBezTo>
                  <a:pt x="158100" y="78760"/>
                  <a:pt x="158145" y="85546"/>
                  <a:pt x="153948" y="89699"/>
                </a:cubicBezTo>
                <a:lnTo>
                  <a:pt x="129391" y="114255"/>
                </a:lnTo>
                <a:lnTo>
                  <a:pt x="153948" y="138812"/>
                </a:lnTo>
                <a:cubicBezTo>
                  <a:pt x="158145" y="143009"/>
                  <a:pt x="158145" y="149796"/>
                  <a:pt x="153948" y="153948"/>
                </a:cubicBezTo>
                <a:cubicBezTo>
                  <a:pt x="149751" y="158100"/>
                  <a:pt x="142964" y="158145"/>
                  <a:pt x="138812" y="153948"/>
                </a:cubicBezTo>
                <a:lnTo>
                  <a:pt x="114255" y="129391"/>
                </a:lnTo>
                <a:lnTo>
                  <a:pt x="89699" y="153948"/>
                </a:lnTo>
                <a:cubicBezTo>
                  <a:pt x="85502" y="158145"/>
                  <a:pt x="78715" y="158145"/>
                  <a:pt x="74563" y="153948"/>
                </a:cubicBezTo>
                <a:cubicBezTo>
                  <a:pt x="70411" y="149751"/>
                  <a:pt x="70366" y="142964"/>
                  <a:pt x="74563" y="138812"/>
                </a:cubicBezTo>
                <a:lnTo>
                  <a:pt x="99120" y="114255"/>
                </a:lnTo>
                <a:lnTo>
                  <a:pt x="74563" y="89699"/>
                </a:lnTo>
                <a:cubicBezTo>
                  <a:pt x="70366" y="85502"/>
                  <a:pt x="70366" y="78715"/>
                  <a:pt x="74563" y="74563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250950" y="4699000"/>
            <a:ext cx="335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无法扩展：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10万文件可能需要数十秒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80400" y="1625600"/>
            <a:ext cx="7467600" cy="3632200"/>
          </a:xfrm>
          <a:custGeom>
            <a:avLst/>
            <a:gdLst/>
            <a:ahLst/>
            <a:cxnLst/>
            <a:rect l="l" t="t" r="r" b="b"/>
            <a:pathLst>
              <a:path w="7467600" h="3632200">
                <a:moveTo>
                  <a:pt x="0" y="0"/>
                </a:moveTo>
                <a:lnTo>
                  <a:pt x="7467600" y="0"/>
                </a:lnTo>
                <a:lnTo>
                  <a:pt x="7467600" y="3632200"/>
                </a:lnTo>
                <a:lnTo>
                  <a:pt x="0" y="3632200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8280400" y="1625600"/>
            <a:ext cx="50800" cy="3632200"/>
          </a:xfrm>
          <a:custGeom>
            <a:avLst/>
            <a:gdLst/>
            <a:ahLst/>
            <a:cxnLst/>
            <a:rect l="l" t="t" r="r" b="b"/>
            <a:pathLst>
              <a:path w="50800" h="3632200">
                <a:moveTo>
                  <a:pt x="0" y="0"/>
                </a:moveTo>
                <a:lnTo>
                  <a:pt x="50800" y="0"/>
                </a:lnTo>
                <a:lnTo>
                  <a:pt x="50800" y="3632200"/>
                </a:lnTo>
                <a:lnTo>
                  <a:pt x="0" y="36322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8559800" y="1879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0798" y="0"/>
                </a:moveTo>
                <a:lnTo>
                  <a:pt x="558802" y="0"/>
                </a:lnTo>
                <a:cubicBezTo>
                  <a:pt x="586857" y="0"/>
                  <a:pt x="609600" y="22743"/>
                  <a:pt x="609600" y="50798"/>
                </a:cubicBezTo>
                <a:lnTo>
                  <a:pt x="609600" y="558802"/>
                </a:lnTo>
                <a:cubicBezTo>
                  <a:pt x="609600" y="586857"/>
                  <a:pt x="586857" y="609600"/>
                  <a:pt x="558802" y="609600"/>
                </a:cubicBezTo>
                <a:lnTo>
                  <a:pt x="50798" y="609600"/>
                </a:lnTo>
                <a:cubicBezTo>
                  <a:pt x="22743" y="609600"/>
                  <a:pt x="0" y="586857"/>
                  <a:pt x="0" y="5588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8737600" y="20574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34293" y="0"/>
                  <a:pt x="140990" y="4018"/>
                  <a:pt x="144463" y="10418"/>
                </a:cubicBezTo>
                <a:lnTo>
                  <a:pt x="251619" y="208855"/>
                </a:lnTo>
                <a:cubicBezTo>
                  <a:pt x="254943" y="215007"/>
                  <a:pt x="254794" y="222448"/>
                  <a:pt x="251222" y="228451"/>
                </a:cubicBezTo>
                <a:cubicBezTo>
                  <a:pt x="247650" y="234454"/>
                  <a:pt x="241151" y="238125"/>
                  <a:pt x="234156" y="238125"/>
                </a:cubicBezTo>
                <a:lnTo>
                  <a:pt x="19844" y="238125"/>
                </a:lnTo>
                <a:cubicBezTo>
                  <a:pt x="12849" y="238125"/>
                  <a:pt x="6400" y="234454"/>
                  <a:pt x="2778" y="228451"/>
                </a:cubicBezTo>
                <a:cubicBezTo>
                  <a:pt x="-843" y="222448"/>
                  <a:pt x="-943" y="215007"/>
                  <a:pt x="2381" y="208855"/>
                </a:cubicBezTo>
                <a:lnTo>
                  <a:pt x="109538" y="10418"/>
                </a:lnTo>
                <a:cubicBezTo>
                  <a:pt x="113010" y="4018"/>
                  <a:pt x="119707" y="0"/>
                  <a:pt x="127000" y="0"/>
                </a:cubicBezTo>
                <a:close/>
                <a:moveTo>
                  <a:pt x="127000" y="83344"/>
                </a:moveTo>
                <a:cubicBezTo>
                  <a:pt x="120402" y="83344"/>
                  <a:pt x="115094" y="88652"/>
                  <a:pt x="115094" y="95250"/>
                </a:cubicBezTo>
                <a:lnTo>
                  <a:pt x="115094" y="150813"/>
                </a:lnTo>
                <a:cubicBezTo>
                  <a:pt x="115094" y="157411"/>
                  <a:pt x="120402" y="162719"/>
                  <a:pt x="127000" y="162719"/>
                </a:cubicBezTo>
                <a:cubicBezTo>
                  <a:pt x="133598" y="162719"/>
                  <a:pt x="138906" y="157411"/>
                  <a:pt x="138906" y="150813"/>
                </a:cubicBezTo>
                <a:lnTo>
                  <a:pt x="138906" y="95250"/>
                </a:lnTo>
                <a:cubicBezTo>
                  <a:pt x="138906" y="88652"/>
                  <a:pt x="133598" y="83344"/>
                  <a:pt x="127000" y="83344"/>
                </a:cubicBezTo>
                <a:close/>
                <a:moveTo>
                  <a:pt x="140246" y="190500"/>
                </a:moveTo>
                <a:cubicBezTo>
                  <a:pt x="140547" y="185583"/>
                  <a:pt x="138095" y="180906"/>
                  <a:pt x="133880" y="178356"/>
                </a:cubicBezTo>
                <a:cubicBezTo>
                  <a:pt x="129666" y="175807"/>
                  <a:pt x="124384" y="175807"/>
                  <a:pt x="120169" y="178356"/>
                </a:cubicBezTo>
                <a:cubicBezTo>
                  <a:pt x="115955" y="180906"/>
                  <a:pt x="113503" y="185583"/>
                  <a:pt x="113804" y="190500"/>
                </a:cubicBezTo>
                <a:cubicBezTo>
                  <a:pt x="113503" y="195417"/>
                  <a:pt x="115955" y="200094"/>
                  <a:pt x="120169" y="202644"/>
                </a:cubicBezTo>
                <a:cubicBezTo>
                  <a:pt x="124384" y="205193"/>
                  <a:pt x="129666" y="205193"/>
                  <a:pt x="133880" y="202644"/>
                </a:cubicBezTo>
                <a:cubicBezTo>
                  <a:pt x="138095" y="200094"/>
                  <a:pt x="140547" y="195417"/>
                  <a:pt x="140246" y="19050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9372600" y="1981200"/>
            <a:ext cx="167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原子性缺失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59800" y="2692400"/>
            <a:ext cx="70358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对象存储只保证单个文件写入的原子性</a:t>
            </a:r>
            <a:r>
              <a:rPr lang="en-US" sz="1600" dirty="0">
                <a:solidFill>
                  <a:srgbClr val="F8F9FA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，但不保证目录级操作的原子性。当 Spark 任务正在向目录写数据时失败，目录下可能残留部分"脏文件"，导致下游任务读到不一致的数据。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591550" y="3937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74563" y="74563"/>
                </a:moveTo>
                <a:cubicBezTo>
                  <a:pt x="78760" y="70366"/>
                  <a:pt x="85546" y="70366"/>
                  <a:pt x="89699" y="74563"/>
                </a:cubicBezTo>
                <a:lnTo>
                  <a:pt x="114255" y="99120"/>
                </a:lnTo>
                <a:lnTo>
                  <a:pt x="138812" y="74563"/>
                </a:lnTo>
                <a:cubicBezTo>
                  <a:pt x="143009" y="70366"/>
                  <a:pt x="149796" y="70366"/>
                  <a:pt x="153948" y="74563"/>
                </a:cubicBezTo>
                <a:cubicBezTo>
                  <a:pt x="158100" y="78760"/>
                  <a:pt x="158145" y="85546"/>
                  <a:pt x="153948" y="89699"/>
                </a:cubicBezTo>
                <a:lnTo>
                  <a:pt x="129391" y="114255"/>
                </a:lnTo>
                <a:lnTo>
                  <a:pt x="153948" y="138812"/>
                </a:lnTo>
                <a:cubicBezTo>
                  <a:pt x="158145" y="143009"/>
                  <a:pt x="158145" y="149796"/>
                  <a:pt x="153948" y="153948"/>
                </a:cubicBezTo>
                <a:cubicBezTo>
                  <a:pt x="149751" y="158100"/>
                  <a:pt x="142964" y="158145"/>
                  <a:pt x="138812" y="153948"/>
                </a:cubicBezTo>
                <a:lnTo>
                  <a:pt x="114255" y="129391"/>
                </a:lnTo>
                <a:lnTo>
                  <a:pt x="89699" y="153948"/>
                </a:lnTo>
                <a:cubicBezTo>
                  <a:pt x="85502" y="158145"/>
                  <a:pt x="78715" y="158145"/>
                  <a:pt x="74563" y="153948"/>
                </a:cubicBezTo>
                <a:cubicBezTo>
                  <a:pt x="70411" y="149751"/>
                  <a:pt x="70366" y="142964"/>
                  <a:pt x="74563" y="138812"/>
                </a:cubicBezTo>
                <a:lnTo>
                  <a:pt x="99120" y="114255"/>
                </a:lnTo>
                <a:lnTo>
                  <a:pt x="74563" y="89699"/>
                </a:lnTo>
                <a:cubicBezTo>
                  <a:pt x="70366" y="85502"/>
                  <a:pt x="70366" y="78715"/>
                  <a:pt x="74563" y="74563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997950" y="3886200"/>
            <a:ext cx="335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脏文件问题：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失败任务可能残留数据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591550" y="4343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74563" y="74563"/>
                </a:moveTo>
                <a:cubicBezTo>
                  <a:pt x="78760" y="70366"/>
                  <a:pt x="85546" y="70366"/>
                  <a:pt x="89699" y="74563"/>
                </a:cubicBezTo>
                <a:lnTo>
                  <a:pt x="114255" y="99120"/>
                </a:lnTo>
                <a:lnTo>
                  <a:pt x="138812" y="74563"/>
                </a:lnTo>
                <a:cubicBezTo>
                  <a:pt x="143009" y="70366"/>
                  <a:pt x="149796" y="70366"/>
                  <a:pt x="153948" y="74563"/>
                </a:cubicBezTo>
                <a:cubicBezTo>
                  <a:pt x="158100" y="78760"/>
                  <a:pt x="158145" y="85546"/>
                  <a:pt x="153948" y="89699"/>
                </a:cubicBezTo>
                <a:lnTo>
                  <a:pt x="129391" y="114255"/>
                </a:lnTo>
                <a:lnTo>
                  <a:pt x="153948" y="138812"/>
                </a:lnTo>
                <a:cubicBezTo>
                  <a:pt x="158145" y="143009"/>
                  <a:pt x="158145" y="149796"/>
                  <a:pt x="153948" y="153948"/>
                </a:cubicBezTo>
                <a:cubicBezTo>
                  <a:pt x="149751" y="158100"/>
                  <a:pt x="142964" y="158145"/>
                  <a:pt x="138812" y="153948"/>
                </a:cubicBezTo>
                <a:lnTo>
                  <a:pt x="114255" y="129391"/>
                </a:lnTo>
                <a:lnTo>
                  <a:pt x="89699" y="153948"/>
                </a:lnTo>
                <a:cubicBezTo>
                  <a:pt x="85502" y="158145"/>
                  <a:pt x="78715" y="158145"/>
                  <a:pt x="74563" y="153948"/>
                </a:cubicBezTo>
                <a:cubicBezTo>
                  <a:pt x="70411" y="149751"/>
                  <a:pt x="70366" y="142964"/>
                  <a:pt x="74563" y="138812"/>
                </a:cubicBezTo>
                <a:lnTo>
                  <a:pt x="99120" y="114255"/>
                </a:lnTo>
                <a:lnTo>
                  <a:pt x="74563" y="89699"/>
                </a:lnTo>
                <a:cubicBezTo>
                  <a:pt x="70366" y="85502"/>
                  <a:pt x="70366" y="78715"/>
                  <a:pt x="74563" y="74563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997950" y="4292600"/>
            <a:ext cx="355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数据不一致：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下游任务读到不完整数据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591550" y="4749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74563" y="74563"/>
                </a:moveTo>
                <a:cubicBezTo>
                  <a:pt x="78760" y="70366"/>
                  <a:pt x="85546" y="70366"/>
                  <a:pt x="89699" y="74563"/>
                </a:cubicBezTo>
                <a:lnTo>
                  <a:pt x="114255" y="99120"/>
                </a:lnTo>
                <a:lnTo>
                  <a:pt x="138812" y="74563"/>
                </a:lnTo>
                <a:cubicBezTo>
                  <a:pt x="143009" y="70366"/>
                  <a:pt x="149796" y="70366"/>
                  <a:pt x="153948" y="74563"/>
                </a:cubicBezTo>
                <a:cubicBezTo>
                  <a:pt x="158100" y="78760"/>
                  <a:pt x="158145" y="85546"/>
                  <a:pt x="153948" y="89699"/>
                </a:cubicBezTo>
                <a:lnTo>
                  <a:pt x="129391" y="114255"/>
                </a:lnTo>
                <a:lnTo>
                  <a:pt x="153948" y="138812"/>
                </a:lnTo>
                <a:cubicBezTo>
                  <a:pt x="158145" y="143009"/>
                  <a:pt x="158145" y="149796"/>
                  <a:pt x="153948" y="153948"/>
                </a:cubicBezTo>
                <a:cubicBezTo>
                  <a:pt x="149751" y="158100"/>
                  <a:pt x="142964" y="158145"/>
                  <a:pt x="138812" y="153948"/>
                </a:cubicBezTo>
                <a:lnTo>
                  <a:pt x="114255" y="129391"/>
                </a:lnTo>
                <a:lnTo>
                  <a:pt x="89699" y="153948"/>
                </a:lnTo>
                <a:cubicBezTo>
                  <a:pt x="85502" y="158145"/>
                  <a:pt x="78715" y="158145"/>
                  <a:pt x="74563" y="153948"/>
                </a:cubicBezTo>
                <a:cubicBezTo>
                  <a:pt x="70411" y="149751"/>
                  <a:pt x="70366" y="142964"/>
                  <a:pt x="74563" y="138812"/>
                </a:cubicBezTo>
                <a:lnTo>
                  <a:pt x="99120" y="114255"/>
                </a:lnTo>
                <a:lnTo>
                  <a:pt x="74563" y="89699"/>
                </a:lnTo>
                <a:cubicBezTo>
                  <a:pt x="70366" y="85502"/>
                  <a:pt x="70366" y="78715"/>
                  <a:pt x="74563" y="74563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8997950" y="4699000"/>
            <a:ext cx="375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Rename 昂贵：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即使强一致性也代价高昂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14350" y="5518150"/>
            <a:ext cx="15227300" cy="1536700"/>
          </a:xfrm>
          <a:custGeom>
            <a:avLst/>
            <a:gdLst/>
            <a:ahLst/>
            <a:cxnLst/>
            <a:rect l="l" t="t" r="r" b="b"/>
            <a:pathLst>
              <a:path w="15227300" h="1536700">
                <a:moveTo>
                  <a:pt x="0" y="0"/>
                </a:moveTo>
                <a:lnTo>
                  <a:pt x="15227300" y="0"/>
                </a:lnTo>
                <a:lnTo>
                  <a:pt x="15227300" y="1536700"/>
                </a:lnTo>
                <a:lnTo>
                  <a:pt x="0" y="15367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>
              <a:alpha val="10196"/>
            </a:srgbClr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781050" y="57785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1269008" y="5727700"/>
            <a:ext cx="14376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核心问题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69008" y="6184900"/>
            <a:ext cx="143637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Hive 表的</a:t>
            </a:r>
            <a:r>
              <a:rPr lang="en-US" sz="16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文件系统目录结构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在对象存储上暴露了其根本缺陷。对象存储并非传统文件系统，</a:t>
            </a:r>
            <a:r>
              <a:rPr lang="en-US" sz="16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List 操作代价高昂且不具备原子性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，这直接导致了性能问题和一致性问题的双重困境。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210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Performance Issue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痛点 1：目录 Listing 的性能黑洞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1574800"/>
            <a:ext cx="9169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Hive 表的查询流程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8000" y="2082800"/>
            <a:ext cx="914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当执行查询 </a:t>
            </a:r>
            <a:r>
              <a:rPr lang="en-US" sz="1400" dirty="0">
                <a:solidFill>
                  <a:srgbClr val="F8F9FA">
                    <a:alpha val="80000"/>
                  </a:srgbClr>
                </a:solidFill>
                <a:highlight>
                  <a:srgbClr val="343A40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SELECT * FROM logs WHERE dt='2023-12-01' 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时，Hive 表的处理流程如下：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000" y="2565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0"/>
                </a:moveTo>
                <a:lnTo>
                  <a:pt x="355600" y="0"/>
                </a:lnTo>
                <a:cubicBezTo>
                  <a:pt x="383637" y="0"/>
                  <a:pt x="406400" y="22763"/>
                  <a:pt x="406400" y="50800"/>
                </a:cubicBezTo>
                <a:lnTo>
                  <a:pt x="406400" y="355600"/>
                </a:lnTo>
                <a:cubicBezTo>
                  <a:pt x="406400" y="383637"/>
                  <a:pt x="383637" y="406400"/>
                  <a:pt x="3556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457200" y="256540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66800" y="2565400"/>
            <a:ext cx="8585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Hive Metastore 找到分区目录 </a:t>
            </a:r>
            <a:r>
              <a:rPr lang="en-US" sz="1400" dirty="0">
                <a:solidFill>
                  <a:srgbClr val="F8F9FA">
                    <a:alpha val="80000"/>
                  </a:srgbClr>
                </a:solidFill>
                <a:highlight>
                  <a:srgbClr val="1A1D21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s3://bucket/logs/dt=2023-12-01/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8000" y="3124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0"/>
                </a:moveTo>
                <a:lnTo>
                  <a:pt x="355600" y="0"/>
                </a:lnTo>
                <a:cubicBezTo>
                  <a:pt x="383637" y="0"/>
                  <a:pt x="406400" y="22763"/>
                  <a:pt x="406400" y="50800"/>
                </a:cubicBezTo>
                <a:lnTo>
                  <a:pt x="406400" y="355600"/>
                </a:lnTo>
                <a:cubicBezTo>
                  <a:pt x="406400" y="383637"/>
                  <a:pt x="383637" y="406400"/>
                  <a:pt x="3556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457200" y="312420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66800" y="3124200"/>
            <a:ext cx="8585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引擎（Spark/Presto）必须调用 </a:t>
            </a:r>
            <a:r>
              <a:rPr lang="en-US" sz="16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ListObjects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接口列举该目录下所有文件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8000" y="3683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0"/>
                </a:moveTo>
                <a:lnTo>
                  <a:pt x="355600" y="0"/>
                </a:lnTo>
                <a:cubicBezTo>
                  <a:pt x="383637" y="0"/>
                  <a:pt x="406400" y="22763"/>
                  <a:pt x="406400" y="50800"/>
                </a:cubicBezTo>
                <a:lnTo>
                  <a:pt x="406400" y="355600"/>
                </a:lnTo>
                <a:cubicBezTo>
                  <a:pt x="406400" y="383637"/>
                  <a:pt x="383637" y="406400"/>
                  <a:pt x="3556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57200" y="368300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66800" y="3683000"/>
            <a:ext cx="8585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对每个文件进行读取和处理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3400" y="4292600"/>
            <a:ext cx="9017000" cy="1981200"/>
          </a:xfrm>
          <a:custGeom>
            <a:avLst/>
            <a:gdLst/>
            <a:ahLst/>
            <a:cxnLst/>
            <a:rect l="l" t="t" r="r" b="b"/>
            <a:pathLst>
              <a:path w="9017000" h="1981200">
                <a:moveTo>
                  <a:pt x="0" y="0"/>
                </a:moveTo>
                <a:lnTo>
                  <a:pt x="9017000" y="0"/>
                </a:lnTo>
                <a:lnTo>
                  <a:pt x="9017000" y="1981200"/>
                </a:lnTo>
                <a:lnTo>
                  <a:pt x="0" y="1981200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533400" y="4292600"/>
            <a:ext cx="50800" cy="1981200"/>
          </a:xfrm>
          <a:custGeom>
            <a:avLst/>
            <a:gdLst/>
            <a:ahLst/>
            <a:cxnLst/>
            <a:rect l="l" t="t" r="r" b="b"/>
            <a:pathLst>
              <a:path w="50800" h="1981200">
                <a:moveTo>
                  <a:pt x="0" y="0"/>
                </a:moveTo>
                <a:lnTo>
                  <a:pt x="50800" y="0"/>
                </a:lnTo>
                <a:lnTo>
                  <a:pt x="50800" y="1981200"/>
                </a:lnTo>
                <a:lnTo>
                  <a:pt x="0" y="19812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762000" y="4495800"/>
            <a:ext cx="8699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技术细节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2000" y="4953000"/>
            <a:ext cx="868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分页机制：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S3 的 ListObjects 通常每页 1000 个 key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2000" y="5359400"/>
            <a:ext cx="868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高延迟：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每次 List 请求延迟较高，且需要多次分页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2000" y="5765800"/>
            <a:ext cx="868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线性增长：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 万文件可能需要 100 次分页请求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14350" y="6280150"/>
            <a:ext cx="9029700" cy="1536700"/>
          </a:xfrm>
          <a:custGeom>
            <a:avLst/>
            <a:gdLst/>
            <a:ahLst/>
            <a:cxnLst/>
            <a:rect l="l" t="t" r="r" b="b"/>
            <a:pathLst>
              <a:path w="9029700" h="1536700">
                <a:moveTo>
                  <a:pt x="0" y="0"/>
                </a:moveTo>
                <a:lnTo>
                  <a:pt x="9029700" y="0"/>
                </a:lnTo>
                <a:lnTo>
                  <a:pt x="9029700" y="1536700"/>
                </a:lnTo>
                <a:lnTo>
                  <a:pt x="0" y="15367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>
              <a:alpha val="10196"/>
            </a:srgbClr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755650" y="65405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31750"/>
                </a:moveTo>
                <a:cubicBezTo>
                  <a:pt x="31750" y="22969"/>
                  <a:pt x="24656" y="15875"/>
                  <a:pt x="15875" y="15875"/>
                </a:cubicBezTo>
                <a:cubicBezTo>
                  <a:pt x="7094" y="15875"/>
                  <a:pt x="0" y="22969"/>
                  <a:pt x="0" y="31750"/>
                </a:cubicBezTo>
                <a:lnTo>
                  <a:pt x="0" y="198438"/>
                </a:lnTo>
                <a:cubicBezTo>
                  <a:pt x="0" y="220365"/>
                  <a:pt x="17760" y="238125"/>
                  <a:pt x="39688" y="238125"/>
                </a:cubicBezTo>
                <a:lnTo>
                  <a:pt x="238125" y="238125"/>
                </a:lnTo>
                <a:cubicBezTo>
                  <a:pt x="246906" y="238125"/>
                  <a:pt x="254000" y="231031"/>
                  <a:pt x="254000" y="222250"/>
                </a:cubicBezTo>
                <a:cubicBezTo>
                  <a:pt x="254000" y="213469"/>
                  <a:pt x="246906" y="206375"/>
                  <a:pt x="238125" y="206375"/>
                </a:cubicBezTo>
                <a:lnTo>
                  <a:pt x="39688" y="206375"/>
                </a:lnTo>
                <a:cubicBezTo>
                  <a:pt x="35322" y="206375"/>
                  <a:pt x="31750" y="202803"/>
                  <a:pt x="31750" y="198438"/>
                </a:cubicBezTo>
                <a:lnTo>
                  <a:pt x="31750" y="31750"/>
                </a:lnTo>
                <a:close/>
                <a:moveTo>
                  <a:pt x="233462" y="74712"/>
                </a:moveTo>
                <a:cubicBezTo>
                  <a:pt x="239663" y="68511"/>
                  <a:pt x="239663" y="58440"/>
                  <a:pt x="233462" y="52239"/>
                </a:cubicBezTo>
                <a:cubicBezTo>
                  <a:pt x="227261" y="46037"/>
                  <a:pt x="217190" y="46037"/>
                  <a:pt x="210989" y="52239"/>
                </a:cubicBezTo>
                <a:lnTo>
                  <a:pt x="158750" y="104527"/>
                </a:lnTo>
                <a:lnTo>
                  <a:pt x="130274" y="76101"/>
                </a:lnTo>
                <a:cubicBezTo>
                  <a:pt x="124073" y="69900"/>
                  <a:pt x="114002" y="69900"/>
                  <a:pt x="107801" y="76101"/>
                </a:cubicBezTo>
                <a:lnTo>
                  <a:pt x="60176" y="123726"/>
                </a:lnTo>
                <a:cubicBezTo>
                  <a:pt x="53975" y="129927"/>
                  <a:pt x="53975" y="139998"/>
                  <a:pt x="60176" y="146199"/>
                </a:cubicBezTo>
                <a:cubicBezTo>
                  <a:pt x="66377" y="152400"/>
                  <a:pt x="76448" y="152400"/>
                  <a:pt x="82649" y="146199"/>
                </a:cubicBezTo>
                <a:lnTo>
                  <a:pt x="119063" y="109786"/>
                </a:lnTo>
                <a:lnTo>
                  <a:pt x="147538" y="138261"/>
                </a:lnTo>
                <a:cubicBezTo>
                  <a:pt x="153739" y="144463"/>
                  <a:pt x="163810" y="144463"/>
                  <a:pt x="170011" y="138261"/>
                </a:cubicBezTo>
                <a:lnTo>
                  <a:pt x="233511" y="74761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1193800" y="6489700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性能影响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23900" y="6946900"/>
            <a:ext cx="8712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如果一个分区下有 </a:t>
            </a:r>
            <a:r>
              <a:rPr lang="en-US" sz="16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 万个小文件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，光是 Listing 就需要</a:t>
            </a:r>
            <a:r>
              <a:rPr lang="en-US" sz="16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数秒甚至数十秒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，这还没开始读取任何实际数据！这种 O(N) 复杂度意味着查询性能无法通过增加集群资源来改善。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810750" y="1581150"/>
            <a:ext cx="5930900" cy="6235700"/>
          </a:xfrm>
          <a:custGeom>
            <a:avLst/>
            <a:gdLst/>
            <a:ahLst/>
            <a:cxnLst/>
            <a:rect l="l" t="t" r="r" b="b"/>
            <a:pathLst>
              <a:path w="5930900" h="6235700">
                <a:moveTo>
                  <a:pt x="0" y="0"/>
                </a:moveTo>
                <a:lnTo>
                  <a:pt x="5930900" y="0"/>
                </a:lnTo>
                <a:lnTo>
                  <a:pt x="5930900" y="6235700"/>
                </a:lnTo>
                <a:lnTo>
                  <a:pt x="0" y="6235700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40000"/>
            </a:srgbClr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10020300" y="1790700"/>
            <a:ext cx="5626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性能数据示例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020300" y="2298700"/>
            <a:ext cx="5511800" cy="863600"/>
          </a:xfrm>
          <a:custGeom>
            <a:avLst/>
            <a:gdLst/>
            <a:ahLst/>
            <a:cxnLst/>
            <a:rect l="l" t="t" r="r" b="b"/>
            <a:pathLst>
              <a:path w="5511800" h="863600">
                <a:moveTo>
                  <a:pt x="0" y="0"/>
                </a:moveTo>
                <a:lnTo>
                  <a:pt x="5511800" y="0"/>
                </a:lnTo>
                <a:lnTo>
                  <a:pt x="5511800" y="863600"/>
                </a:lnTo>
                <a:lnTo>
                  <a:pt x="0" y="8636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10172700" y="2501900"/>
            <a:ext cx="939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1,000 文件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626431" y="2451100"/>
            <a:ext cx="863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~0.5 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172700" y="2908300"/>
            <a:ext cx="5207000" cy="101600"/>
          </a:xfrm>
          <a:custGeom>
            <a:avLst/>
            <a:gdLst/>
            <a:ahLst/>
            <a:cxnLst/>
            <a:rect l="l" t="t" r="r" b="b"/>
            <a:pathLst>
              <a:path w="5207000" h="101600">
                <a:moveTo>
                  <a:pt x="0" y="0"/>
                </a:moveTo>
                <a:lnTo>
                  <a:pt x="5207000" y="0"/>
                </a:lnTo>
                <a:lnTo>
                  <a:pt x="52070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495057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10172700" y="2908300"/>
            <a:ext cx="787400" cy="101600"/>
          </a:xfrm>
          <a:custGeom>
            <a:avLst/>
            <a:gdLst/>
            <a:ahLst/>
            <a:cxnLst/>
            <a:rect l="l" t="t" r="r" b="b"/>
            <a:pathLst>
              <a:path w="787400" h="101600">
                <a:moveTo>
                  <a:pt x="0" y="0"/>
                </a:moveTo>
                <a:lnTo>
                  <a:pt x="787400" y="0"/>
                </a:lnTo>
                <a:lnTo>
                  <a:pt x="7874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10020300" y="3314700"/>
            <a:ext cx="5511800" cy="863600"/>
          </a:xfrm>
          <a:custGeom>
            <a:avLst/>
            <a:gdLst/>
            <a:ahLst/>
            <a:cxnLst/>
            <a:rect l="l" t="t" r="r" b="b"/>
            <a:pathLst>
              <a:path w="5511800" h="863600">
                <a:moveTo>
                  <a:pt x="0" y="0"/>
                </a:moveTo>
                <a:lnTo>
                  <a:pt x="5511800" y="0"/>
                </a:lnTo>
                <a:lnTo>
                  <a:pt x="5511800" y="863600"/>
                </a:lnTo>
                <a:lnTo>
                  <a:pt x="0" y="8636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10172700" y="3517900"/>
            <a:ext cx="1054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10,000 文件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4592796" y="3467100"/>
            <a:ext cx="901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~3-5 秒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0172700" y="3924300"/>
            <a:ext cx="5207000" cy="101600"/>
          </a:xfrm>
          <a:custGeom>
            <a:avLst/>
            <a:gdLst/>
            <a:ahLst/>
            <a:cxnLst/>
            <a:rect l="l" t="t" r="r" b="b"/>
            <a:pathLst>
              <a:path w="5207000" h="101600">
                <a:moveTo>
                  <a:pt x="0" y="0"/>
                </a:moveTo>
                <a:lnTo>
                  <a:pt x="5207000" y="0"/>
                </a:lnTo>
                <a:lnTo>
                  <a:pt x="52070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495057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10172700" y="3924300"/>
            <a:ext cx="2349500" cy="101600"/>
          </a:xfrm>
          <a:custGeom>
            <a:avLst/>
            <a:gdLst/>
            <a:ahLst/>
            <a:cxnLst/>
            <a:rect l="l" t="t" r="r" b="b"/>
            <a:pathLst>
              <a:path w="2349500" h="101600">
                <a:moveTo>
                  <a:pt x="0" y="0"/>
                </a:moveTo>
                <a:lnTo>
                  <a:pt x="2349500" y="0"/>
                </a:lnTo>
                <a:lnTo>
                  <a:pt x="23495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10020300" y="4330700"/>
            <a:ext cx="5511800" cy="863600"/>
          </a:xfrm>
          <a:custGeom>
            <a:avLst/>
            <a:gdLst/>
            <a:ahLst/>
            <a:cxnLst/>
            <a:rect l="l" t="t" r="r" b="b"/>
            <a:pathLst>
              <a:path w="5511800" h="863600">
                <a:moveTo>
                  <a:pt x="0" y="0"/>
                </a:moveTo>
                <a:lnTo>
                  <a:pt x="5511800" y="0"/>
                </a:lnTo>
                <a:lnTo>
                  <a:pt x="5511800" y="863600"/>
                </a:lnTo>
                <a:lnTo>
                  <a:pt x="0" y="8636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10172700" y="4533900"/>
            <a:ext cx="116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100,000 文件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4423827" y="4483100"/>
            <a:ext cx="1066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30-60 秒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0172700" y="4940300"/>
            <a:ext cx="5207000" cy="101600"/>
          </a:xfrm>
          <a:custGeom>
            <a:avLst/>
            <a:gdLst/>
            <a:ahLst/>
            <a:cxnLst/>
            <a:rect l="l" t="t" r="r" b="b"/>
            <a:pathLst>
              <a:path w="5207000" h="101600">
                <a:moveTo>
                  <a:pt x="0" y="0"/>
                </a:moveTo>
                <a:lnTo>
                  <a:pt x="5207000" y="0"/>
                </a:lnTo>
                <a:lnTo>
                  <a:pt x="52070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495057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10172700" y="4940300"/>
            <a:ext cx="5207000" cy="101600"/>
          </a:xfrm>
          <a:custGeom>
            <a:avLst/>
            <a:gdLst/>
            <a:ahLst/>
            <a:cxnLst/>
            <a:rect l="l" t="t" r="r" b="b"/>
            <a:pathLst>
              <a:path w="5207000" h="101600">
                <a:moveTo>
                  <a:pt x="0" y="0"/>
                </a:moveTo>
                <a:lnTo>
                  <a:pt x="5207000" y="0"/>
                </a:lnTo>
                <a:lnTo>
                  <a:pt x="52070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10020300" y="5403850"/>
            <a:ext cx="5511800" cy="12700"/>
          </a:xfrm>
          <a:custGeom>
            <a:avLst/>
            <a:gdLst/>
            <a:ahLst/>
            <a:cxnLst/>
            <a:rect l="l" t="t" r="r" b="b"/>
            <a:pathLst>
              <a:path w="5511800" h="12700">
                <a:moveTo>
                  <a:pt x="0" y="0"/>
                </a:moveTo>
                <a:lnTo>
                  <a:pt x="5511800" y="0"/>
                </a:lnTo>
                <a:lnTo>
                  <a:pt x="55118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495057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10772477" y="56007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77788" y="55563"/>
                </a:moveTo>
                <a:cubicBezTo>
                  <a:pt x="77788" y="49429"/>
                  <a:pt x="82767" y="44450"/>
                  <a:pt x="88900" y="44450"/>
                </a:cubicBezTo>
                <a:cubicBezTo>
                  <a:pt x="95033" y="44450"/>
                  <a:pt x="100013" y="49429"/>
                  <a:pt x="100013" y="55563"/>
                </a:cubicBezTo>
                <a:cubicBezTo>
                  <a:pt x="100013" y="61696"/>
                  <a:pt x="95033" y="66675"/>
                  <a:pt x="88900" y="66675"/>
                </a:cubicBezTo>
                <a:cubicBezTo>
                  <a:pt x="82767" y="66675"/>
                  <a:pt x="77788" y="61696"/>
                  <a:pt x="77788" y="55563"/>
                </a:cubicBezTo>
                <a:close/>
                <a:moveTo>
                  <a:pt x="75009" y="77788"/>
                </a:moveTo>
                <a:lnTo>
                  <a:pt x="91678" y="77788"/>
                </a:lnTo>
                <a:cubicBezTo>
                  <a:pt x="96297" y="77788"/>
                  <a:pt x="100013" y="81503"/>
                  <a:pt x="100013" y="86122"/>
                </a:cubicBezTo>
                <a:lnTo>
                  <a:pt x="100013" y="116681"/>
                </a:lnTo>
                <a:lnTo>
                  <a:pt x="102791" y="116681"/>
                </a:lnTo>
                <a:cubicBezTo>
                  <a:pt x="107409" y="116681"/>
                  <a:pt x="111125" y="120397"/>
                  <a:pt x="111125" y="125016"/>
                </a:cubicBezTo>
                <a:cubicBezTo>
                  <a:pt x="111125" y="129634"/>
                  <a:pt x="107409" y="133350"/>
                  <a:pt x="102791" y="133350"/>
                </a:cubicBezTo>
                <a:lnTo>
                  <a:pt x="75009" y="133350"/>
                </a:lnTo>
                <a:cubicBezTo>
                  <a:pt x="70391" y="133350"/>
                  <a:pt x="66675" y="129634"/>
                  <a:pt x="66675" y="125016"/>
                </a:cubicBezTo>
                <a:cubicBezTo>
                  <a:pt x="66675" y="120397"/>
                  <a:pt x="70391" y="116681"/>
                  <a:pt x="75009" y="116681"/>
                </a:cubicBezTo>
                <a:lnTo>
                  <a:pt x="83344" y="116681"/>
                </a:lnTo>
                <a:lnTo>
                  <a:pt x="83344" y="94456"/>
                </a:lnTo>
                <a:lnTo>
                  <a:pt x="75009" y="94456"/>
                </a:lnTo>
                <a:cubicBezTo>
                  <a:pt x="70391" y="94456"/>
                  <a:pt x="66675" y="90741"/>
                  <a:pt x="66675" y="86122"/>
                </a:cubicBezTo>
                <a:cubicBezTo>
                  <a:pt x="66675" y="81503"/>
                  <a:pt x="70391" y="77788"/>
                  <a:pt x="75009" y="77788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10255250" y="5562600"/>
            <a:ext cx="5321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数据为估算值，实际性能受网络和存储系统影响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210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Atomicity Issue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痛点 2：原子性的缺失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33400" y="1574800"/>
            <a:ext cx="7467600" cy="3352800"/>
          </a:xfrm>
          <a:custGeom>
            <a:avLst/>
            <a:gdLst/>
            <a:ahLst/>
            <a:cxnLst/>
            <a:rect l="l" t="t" r="r" b="b"/>
            <a:pathLst>
              <a:path w="7467600" h="3352800">
                <a:moveTo>
                  <a:pt x="0" y="0"/>
                </a:moveTo>
                <a:lnTo>
                  <a:pt x="7467600" y="0"/>
                </a:lnTo>
                <a:lnTo>
                  <a:pt x="7467600" y="3352800"/>
                </a:lnTo>
                <a:lnTo>
                  <a:pt x="0" y="3352800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33400" y="1574800"/>
            <a:ext cx="50800" cy="3352800"/>
          </a:xfrm>
          <a:custGeom>
            <a:avLst/>
            <a:gdLst/>
            <a:ahLst/>
            <a:cxnLst/>
            <a:rect l="l" t="t" r="r" b="b"/>
            <a:pathLst>
              <a:path w="50800" h="3352800">
                <a:moveTo>
                  <a:pt x="0" y="0"/>
                </a:moveTo>
                <a:lnTo>
                  <a:pt x="50800" y="0"/>
                </a:lnTo>
                <a:lnTo>
                  <a:pt x="50800" y="3352800"/>
                </a:lnTo>
                <a:lnTo>
                  <a:pt x="0" y="33528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12800" y="1828800"/>
            <a:ext cx="706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对象存储的原子性保证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2336800"/>
            <a:ext cx="7035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对象存储（如 S3、OSS）通常</a:t>
            </a:r>
            <a:r>
              <a:rPr lang="en-US" sz="16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只保证单个文件写入的原子性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，但不保证目录级操作的原子性。这意味着：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38200" y="32004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00C95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168400" y="3149600"/>
            <a:ext cx="483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 单个文件：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写入文件要么完全成功，要么完全失败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8200" y="3606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66278" y="66278"/>
                </a:moveTo>
                <a:cubicBezTo>
                  <a:pt x="70009" y="62547"/>
                  <a:pt x="76041" y="62547"/>
                  <a:pt x="79732" y="66278"/>
                </a:cubicBezTo>
                <a:lnTo>
                  <a:pt x="101560" y="88106"/>
                </a:lnTo>
                <a:lnTo>
                  <a:pt x="123388" y="66278"/>
                </a:lnTo>
                <a:cubicBezTo>
                  <a:pt x="127119" y="62547"/>
                  <a:pt x="133152" y="62547"/>
                  <a:pt x="136842" y="66278"/>
                </a:cubicBezTo>
                <a:cubicBezTo>
                  <a:pt x="140533" y="70009"/>
                  <a:pt x="140573" y="76041"/>
                  <a:pt x="136842" y="79732"/>
                </a:cubicBezTo>
                <a:lnTo>
                  <a:pt x="115014" y="101560"/>
                </a:lnTo>
                <a:lnTo>
                  <a:pt x="136842" y="123388"/>
                </a:lnTo>
                <a:cubicBezTo>
                  <a:pt x="140573" y="127119"/>
                  <a:pt x="140573" y="133152"/>
                  <a:pt x="136842" y="136842"/>
                </a:cubicBezTo>
                <a:cubicBezTo>
                  <a:pt x="133112" y="140533"/>
                  <a:pt x="127079" y="140573"/>
                  <a:pt x="123388" y="136842"/>
                </a:cubicBezTo>
                <a:lnTo>
                  <a:pt x="101560" y="115014"/>
                </a:lnTo>
                <a:lnTo>
                  <a:pt x="79732" y="136842"/>
                </a:lnTo>
                <a:cubicBezTo>
                  <a:pt x="76002" y="140573"/>
                  <a:pt x="69969" y="140573"/>
                  <a:pt x="66278" y="136842"/>
                </a:cubicBezTo>
                <a:cubicBezTo>
                  <a:pt x="62587" y="133112"/>
                  <a:pt x="62547" y="127079"/>
                  <a:pt x="66278" y="123388"/>
                </a:cubicBezTo>
                <a:lnTo>
                  <a:pt x="88106" y="101560"/>
                </a:lnTo>
                <a:lnTo>
                  <a:pt x="66278" y="79732"/>
                </a:lnTo>
                <a:cubicBezTo>
                  <a:pt x="62547" y="76002"/>
                  <a:pt x="62547" y="69969"/>
                  <a:pt x="66278" y="66278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168400" y="3556000"/>
            <a:ext cx="414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✗ 目录级操作：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多个文件操作无法原子性保证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38200" y="40132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66278" y="66278"/>
                </a:moveTo>
                <a:cubicBezTo>
                  <a:pt x="70009" y="62547"/>
                  <a:pt x="76041" y="62547"/>
                  <a:pt x="79732" y="66278"/>
                </a:cubicBezTo>
                <a:lnTo>
                  <a:pt x="101560" y="88106"/>
                </a:lnTo>
                <a:lnTo>
                  <a:pt x="123388" y="66278"/>
                </a:lnTo>
                <a:cubicBezTo>
                  <a:pt x="127119" y="62547"/>
                  <a:pt x="133152" y="62547"/>
                  <a:pt x="136842" y="66278"/>
                </a:cubicBezTo>
                <a:cubicBezTo>
                  <a:pt x="140533" y="70009"/>
                  <a:pt x="140573" y="76041"/>
                  <a:pt x="136842" y="79732"/>
                </a:cubicBezTo>
                <a:lnTo>
                  <a:pt x="115014" y="101560"/>
                </a:lnTo>
                <a:lnTo>
                  <a:pt x="136842" y="123388"/>
                </a:lnTo>
                <a:cubicBezTo>
                  <a:pt x="140573" y="127119"/>
                  <a:pt x="140573" y="133152"/>
                  <a:pt x="136842" y="136842"/>
                </a:cubicBezTo>
                <a:cubicBezTo>
                  <a:pt x="133112" y="140533"/>
                  <a:pt x="127079" y="140573"/>
                  <a:pt x="123388" y="136842"/>
                </a:cubicBezTo>
                <a:lnTo>
                  <a:pt x="101560" y="115014"/>
                </a:lnTo>
                <a:lnTo>
                  <a:pt x="79732" y="136842"/>
                </a:lnTo>
                <a:cubicBezTo>
                  <a:pt x="76002" y="140573"/>
                  <a:pt x="69969" y="140573"/>
                  <a:pt x="66278" y="136842"/>
                </a:cubicBezTo>
                <a:cubicBezTo>
                  <a:pt x="62587" y="133112"/>
                  <a:pt x="62547" y="127079"/>
                  <a:pt x="66278" y="123388"/>
                </a:cubicBezTo>
                <a:lnTo>
                  <a:pt x="88106" y="101560"/>
                </a:lnTo>
                <a:lnTo>
                  <a:pt x="66278" y="79732"/>
                </a:lnTo>
                <a:cubicBezTo>
                  <a:pt x="62547" y="76002"/>
                  <a:pt x="62547" y="69969"/>
                  <a:pt x="66278" y="66278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168400" y="3962400"/>
            <a:ext cx="5930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✗ Rename 操作：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即使现代 S3 实现强一致性，Rename 依然昂贵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80400" y="1574800"/>
            <a:ext cx="7467600" cy="3352800"/>
          </a:xfrm>
          <a:custGeom>
            <a:avLst/>
            <a:gdLst/>
            <a:ahLst/>
            <a:cxnLst/>
            <a:rect l="l" t="t" r="r" b="b"/>
            <a:pathLst>
              <a:path w="7467600" h="3352800">
                <a:moveTo>
                  <a:pt x="0" y="0"/>
                </a:moveTo>
                <a:lnTo>
                  <a:pt x="7467600" y="0"/>
                </a:lnTo>
                <a:lnTo>
                  <a:pt x="7467600" y="3352800"/>
                </a:lnTo>
                <a:lnTo>
                  <a:pt x="0" y="3352800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8280400" y="1574800"/>
            <a:ext cx="50800" cy="3352800"/>
          </a:xfrm>
          <a:custGeom>
            <a:avLst/>
            <a:gdLst/>
            <a:ahLst/>
            <a:cxnLst/>
            <a:rect l="l" t="t" r="r" b="b"/>
            <a:pathLst>
              <a:path w="50800" h="3352800">
                <a:moveTo>
                  <a:pt x="0" y="0"/>
                </a:moveTo>
                <a:lnTo>
                  <a:pt x="50800" y="0"/>
                </a:lnTo>
                <a:lnTo>
                  <a:pt x="50800" y="3352800"/>
                </a:lnTo>
                <a:lnTo>
                  <a:pt x="0" y="33528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559800" y="1828800"/>
            <a:ext cx="706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脏数据场景示例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559800" y="23368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0"/>
                </a:moveTo>
                <a:lnTo>
                  <a:pt x="355600" y="0"/>
                </a:lnTo>
                <a:cubicBezTo>
                  <a:pt x="383637" y="0"/>
                  <a:pt x="406400" y="22763"/>
                  <a:pt x="406400" y="50800"/>
                </a:cubicBezTo>
                <a:lnTo>
                  <a:pt x="406400" y="355600"/>
                </a:lnTo>
                <a:cubicBezTo>
                  <a:pt x="406400" y="383637"/>
                  <a:pt x="383637" y="406400"/>
                  <a:pt x="3556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509000" y="233680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18600" y="2336800"/>
            <a:ext cx="6477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Spark 任务开始向 </a:t>
            </a:r>
            <a:r>
              <a:rPr lang="en-US" sz="1400" dirty="0">
                <a:solidFill>
                  <a:srgbClr val="F8F9FA">
                    <a:alpha val="80000"/>
                  </a:srgbClr>
                </a:solidFill>
                <a:highlight>
                  <a:srgbClr val="1A1D21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/data/dt=2023-12-01/ 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目录写入数据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559800" y="2895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0"/>
                </a:moveTo>
                <a:lnTo>
                  <a:pt x="355600" y="0"/>
                </a:lnTo>
                <a:cubicBezTo>
                  <a:pt x="383637" y="0"/>
                  <a:pt x="406400" y="22763"/>
                  <a:pt x="406400" y="50800"/>
                </a:cubicBezTo>
                <a:lnTo>
                  <a:pt x="406400" y="355600"/>
                </a:lnTo>
                <a:cubicBezTo>
                  <a:pt x="406400" y="383637"/>
                  <a:pt x="383637" y="406400"/>
                  <a:pt x="3556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509000" y="289560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18600" y="2895600"/>
            <a:ext cx="6477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任务写入部分文件后</a:t>
            </a:r>
            <a:r>
              <a:rPr lang="en-US" sz="16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失败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，留下 </a:t>
            </a:r>
            <a:r>
              <a:rPr lang="en-US" sz="1400" dirty="0">
                <a:solidFill>
                  <a:srgbClr val="F8F9FA">
                    <a:alpha val="80000"/>
                  </a:srgbClr>
                </a:solidFill>
                <a:highlight>
                  <a:srgbClr val="1A1D21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file1.parquet 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和 </a:t>
            </a:r>
            <a:r>
              <a:rPr lang="en-US" sz="1400" dirty="0">
                <a:solidFill>
                  <a:srgbClr val="F8F9FA">
                    <a:alpha val="80000"/>
                  </a:srgbClr>
                </a:solidFill>
                <a:highlight>
                  <a:srgbClr val="1A1D21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file2.parquet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559800" y="3708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0"/>
                </a:moveTo>
                <a:lnTo>
                  <a:pt x="355600" y="0"/>
                </a:lnTo>
                <a:cubicBezTo>
                  <a:pt x="383637" y="0"/>
                  <a:pt x="406400" y="22763"/>
                  <a:pt x="406400" y="50800"/>
                </a:cubicBezTo>
                <a:lnTo>
                  <a:pt x="406400" y="355600"/>
                </a:lnTo>
                <a:cubicBezTo>
                  <a:pt x="406400" y="383637"/>
                  <a:pt x="383637" y="406400"/>
                  <a:pt x="3556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8509000" y="370840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18600" y="3708400"/>
            <a:ext cx="6477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下游任务查询该分区，</a:t>
            </a:r>
            <a:r>
              <a:rPr lang="en-US" sz="16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读到不完整的数据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，认为这就是全部数据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559800" y="4267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0"/>
                </a:moveTo>
                <a:lnTo>
                  <a:pt x="355600" y="0"/>
                </a:lnTo>
                <a:cubicBezTo>
                  <a:pt x="383637" y="0"/>
                  <a:pt x="406400" y="22763"/>
                  <a:pt x="406400" y="50800"/>
                </a:cubicBezTo>
                <a:lnTo>
                  <a:pt x="406400" y="355600"/>
                </a:lnTo>
                <a:cubicBezTo>
                  <a:pt x="406400" y="383637"/>
                  <a:pt x="383637" y="406400"/>
                  <a:pt x="3556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8509000" y="426720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18600" y="4267200"/>
            <a:ext cx="6477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数据不一致：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下游计算结果错误，数据质量受损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14350" y="5137150"/>
            <a:ext cx="15227300" cy="1536700"/>
          </a:xfrm>
          <a:custGeom>
            <a:avLst/>
            <a:gdLst/>
            <a:ahLst/>
            <a:cxnLst/>
            <a:rect l="l" t="t" r="r" b="b"/>
            <a:pathLst>
              <a:path w="15227300" h="1536700">
                <a:moveTo>
                  <a:pt x="0" y="0"/>
                </a:moveTo>
                <a:lnTo>
                  <a:pt x="15227300" y="0"/>
                </a:lnTo>
                <a:lnTo>
                  <a:pt x="15227300" y="1536700"/>
                </a:lnTo>
                <a:lnTo>
                  <a:pt x="0" y="15367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>
              <a:alpha val="10196"/>
            </a:srgbClr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800100" y="53975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1308100" y="5346700"/>
            <a:ext cx="14338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核心洞察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308100" y="5803900"/>
            <a:ext cx="143256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Hive 表依赖目录结构来"发现"数据文件，这种模式在对象存储上</a:t>
            </a:r>
            <a:r>
              <a:rPr lang="en-US" sz="16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天然缺乏原子性保证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。没有机制能够确保"要么所有文件都可见，要么都不可见"，这直接导致了</a:t>
            </a:r>
            <a:r>
              <a:rPr lang="en-US" sz="16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数据一致性风险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14350" y="6889750"/>
            <a:ext cx="4927600" cy="977900"/>
          </a:xfrm>
          <a:custGeom>
            <a:avLst/>
            <a:gdLst/>
            <a:ahLst/>
            <a:cxnLst/>
            <a:rect l="l" t="t" r="r" b="b"/>
            <a:pathLst>
              <a:path w="4927600" h="977900">
                <a:moveTo>
                  <a:pt x="0" y="0"/>
                </a:moveTo>
                <a:lnTo>
                  <a:pt x="4927600" y="0"/>
                </a:lnTo>
                <a:lnTo>
                  <a:pt x="4927600" y="977900"/>
                </a:lnTo>
                <a:lnTo>
                  <a:pt x="0" y="977900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30196"/>
            </a:srgbClr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711200" y="70993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7800" y="81677"/>
                </a:moveTo>
                <a:cubicBezTo>
                  <a:pt x="171926" y="85566"/>
                  <a:pt x="165179" y="88702"/>
                  <a:pt x="158155" y="91202"/>
                </a:cubicBezTo>
                <a:cubicBezTo>
                  <a:pt x="139502" y="97869"/>
                  <a:pt x="115014" y="101600"/>
                  <a:pt x="88900" y="101600"/>
                </a:cubicBezTo>
                <a:cubicBezTo>
                  <a:pt x="62786" y="101600"/>
                  <a:pt x="38259" y="97830"/>
                  <a:pt x="19645" y="91202"/>
                </a:cubicBezTo>
                <a:cubicBezTo>
                  <a:pt x="12660" y="88702"/>
                  <a:pt x="5874" y="85566"/>
                  <a:pt x="0" y="81677"/>
                </a:cubicBezTo>
                <a:lnTo>
                  <a:pt x="0" y="114300"/>
                </a:lnTo>
                <a:cubicBezTo>
                  <a:pt x="0" y="131842"/>
                  <a:pt x="39807" y="146050"/>
                  <a:pt x="88900" y="146050"/>
                </a:cubicBezTo>
                <a:cubicBezTo>
                  <a:pt x="137993" y="146050"/>
                  <a:pt x="177800" y="131842"/>
                  <a:pt x="177800" y="114300"/>
                </a:cubicBezTo>
                <a:lnTo>
                  <a:pt x="177800" y="81677"/>
                </a:lnTo>
                <a:close/>
                <a:moveTo>
                  <a:pt x="177800" y="50800"/>
                </a:moveTo>
                <a:lnTo>
                  <a:pt x="177800" y="31750"/>
                </a:lnTo>
                <a:cubicBezTo>
                  <a:pt x="177800" y="14208"/>
                  <a:pt x="137993" y="0"/>
                  <a:pt x="88900" y="0"/>
                </a:cubicBezTo>
                <a:cubicBezTo>
                  <a:pt x="39807" y="0"/>
                  <a:pt x="0" y="14208"/>
                  <a:pt x="0" y="31750"/>
                </a:cubicBezTo>
                <a:lnTo>
                  <a:pt x="0" y="50800"/>
                </a:lnTo>
                <a:cubicBezTo>
                  <a:pt x="0" y="68342"/>
                  <a:pt x="39807" y="82550"/>
                  <a:pt x="88900" y="82550"/>
                </a:cubicBezTo>
                <a:cubicBezTo>
                  <a:pt x="137993" y="82550"/>
                  <a:pt x="177800" y="68342"/>
                  <a:pt x="177800" y="50800"/>
                </a:cubicBezTo>
                <a:close/>
                <a:moveTo>
                  <a:pt x="158155" y="154702"/>
                </a:moveTo>
                <a:cubicBezTo>
                  <a:pt x="139541" y="161330"/>
                  <a:pt x="115054" y="165100"/>
                  <a:pt x="88900" y="165100"/>
                </a:cubicBezTo>
                <a:cubicBezTo>
                  <a:pt x="62746" y="165100"/>
                  <a:pt x="38259" y="161330"/>
                  <a:pt x="19645" y="154702"/>
                </a:cubicBezTo>
                <a:cubicBezTo>
                  <a:pt x="12660" y="152202"/>
                  <a:pt x="5874" y="149066"/>
                  <a:pt x="0" y="145177"/>
                </a:cubicBezTo>
                <a:lnTo>
                  <a:pt x="0" y="171450"/>
                </a:lnTo>
                <a:cubicBezTo>
                  <a:pt x="0" y="188992"/>
                  <a:pt x="39807" y="203200"/>
                  <a:pt x="88900" y="203200"/>
                </a:cubicBezTo>
                <a:cubicBezTo>
                  <a:pt x="137993" y="203200"/>
                  <a:pt x="177800" y="188992"/>
                  <a:pt x="177800" y="171450"/>
                </a:cubicBezTo>
                <a:lnTo>
                  <a:pt x="177800" y="145177"/>
                </a:lnTo>
                <a:cubicBezTo>
                  <a:pt x="171926" y="149066"/>
                  <a:pt x="165179" y="152202"/>
                  <a:pt x="158155" y="154702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1028700" y="7048500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传统文件系统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73100" y="7454900"/>
            <a:ext cx="469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支持原子性的目录操作和 Rename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662017" y="6889750"/>
            <a:ext cx="4927600" cy="977900"/>
          </a:xfrm>
          <a:custGeom>
            <a:avLst/>
            <a:gdLst/>
            <a:ahLst/>
            <a:cxnLst/>
            <a:rect l="l" t="t" r="r" b="b"/>
            <a:pathLst>
              <a:path w="4927600" h="977900">
                <a:moveTo>
                  <a:pt x="0" y="0"/>
                </a:moveTo>
                <a:lnTo>
                  <a:pt x="4927600" y="0"/>
                </a:lnTo>
                <a:lnTo>
                  <a:pt x="4927600" y="977900"/>
                </a:lnTo>
                <a:lnTo>
                  <a:pt x="0" y="977900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30196"/>
            </a:srgbClr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5833467" y="709930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0" y="133350"/>
                </a:moveTo>
                <a:cubicBezTo>
                  <a:pt x="0" y="164902"/>
                  <a:pt x="25598" y="190500"/>
                  <a:pt x="57150" y="190500"/>
                </a:cubicBezTo>
                <a:lnTo>
                  <a:pt x="177800" y="190500"/>
                </a:lnTo>
                <a:cubicBezTo>
                  <a:pt x="205859" y="190500"/>
                  <a:pt x="228600" y="167759"/>
                  <a:pt x="228600" y="139700"/>
                </a:cubicBezTo>
                <a:cubicBezTo>
                  <a:pt x="228600" y="119221"/>
                  <a:pt x="216495" y="101560"/>
                  <a:pt x="199033" y="93543"/>
                </a:cubicBezTo>
                <a:cubicBezTo>
                  <a:pt x="201692" y="88344"/>
                  <a:pt x="203200" y="82431"/>
                  <a:pt x="203200" y="76200"/>
                </a:cubicBezTo>
                <a:cubicBezTo>
                  <a:pt x="203200" y="55166"/>
                  <a:pt x="186134" y="38100"/>
                  <a:pt x="165100" y="38100"/>
                </a:cubicBezTo>
                <a:cubicBezTo>
                  <a:pt x="158075" y="38100"/>
                  <a:pt x="151527" y="40005"/>
                  <a:pt x="145891" y="43299"/>
                </a:cubicBezTo>
                <a:cubicBezTo>
                  <a:pt x="136327" y="25122"/>
                  <a:pt x="117237" y="12700"/>
                  <a:pt x="95250" y="12700"/>
                </a:cubicBezTo>
                <a:cubicBezTo>
                  <a:pt x="63698" y="12700"/>
                  <a:pt x="38100" y="38298"/>
                  <a:pt x="38100" y="69850"/>
                </a:cubicBezTo>
                <a:cubicBezTo>
                  <a:pt x="38100" y="73025"/>
                  <a:pt x="38378" y="76160"/>
                  <a:pt x="38854" y="79177"/>
                </a:cubicBezTo>
                <a:cubicBezTo>
                  <a:pt x="16272" y="86797"/>
                  <a:pt x="0" y="108188"/>
                  <a:pt x="0" y="13335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6176367" y="70485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对象存储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820767" y="7454900"/>
            <a:ext cx="469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仅保证单个文件的原子性，无目录概念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0809784" y="6889750"/>
            <a:ext cx="4927600" cy="977900"/>
          </a:xfrm>
          <a:custGeom>
            <a:avLst/>
            <a:gdLst/>
            <a:ahLst/>
            <a:cxnLst/>
            <a:rect l="l" t="t" r="r" b="b"/>
            <a:pathLst>
              <a:path w="4927600" h="977900">
                <a:moveTo>
                  <a:pt x="0" y="0"/>
                </a:moveTo>
                <a:lnTo>
                  <a:pt x="4927600" y="0"/>
                </a:lnTo>
                <a:lnTo>
                  <a:pt x="4927600" y="977900"/>
                </a:lnTo>
                <a:lnTo>
                  <a:pt x="0" y="977900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30196"/>
            </a:srgbClr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10993934" y="70993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0"/>
                </a:moveTo>
                <a:cubicBezTo>
                  <a:pt x="107434" y="0"/>
                  <a:pt x="112792" y="3215"/>
                  <a:pt x="115570" y="8334"/>
                </a:cubicBezTo>
                <a:lnTo>
                  <a:pt x="201295" y="167084"/>
                </a:lnTo>
                <a:cubicBezTo>
                  <a:pt x="203954" y="172006"/>
                  <a:pt x="203835" y="177959"/>
                  <a:pt x="200978" y="182761"/>
                </a:cubicBezTo>
                <a:cubicBezTo>
                  <a:pt x="198120" y="187563"/>
                  <a:pt x="192921" y="190500"/>
                  <a:pt x="187325" y="190500"/>
                </a:cubicBezTo>
                <a:lnTo>
                  <a:pt x="15875" y="190500"/>
                </a:lnTo>
                <a:cubicBezTo>
                  <a:pt x="10279" y="190500"/>
                  <a:pt x="5120" y="187563"/>
                  <a:pt x="2223" y="182761"/>
                </a:cubicBezTo>
                <a:cubicBezTo>
                  <a:pt x="-675" y="177959"/>
                  <a:pt x="-754" y="172006"/>
                  <a:pt x="1905" y="167084"/>
                </a:cubicBezTo>
                <a:lnTo>
                  <a:pt x="87630" y="8334"/>
                </a:lnTo>
                <a:cubicBezTo>
                  <a:pt x="90408" y="3215"/>
                  <a:pt x="95766" y="0"/>
                  <a:pt x="101600" y="0"/>
                </a:cubicBezTo>
                <a:close/>
                <a:moveTo>
                  <a:pt x="101600" y="66675"/>
                </a:moveTo>
                <a:cubicBezTo>
                  <a:pt x="96322" y="66675"/>
                  <a:pt x="92075" y="70922"/>
                  <a:pt x="92075" y="76200"/>
                </a:cubicBezTo>
                <a:lnTo>
                  <a:pt x="92075" y="120650"/>
                </a:lnTo>
                <a:cubicBezTo>
                  <a:pt x="92075" y="125928"/>
                  <a:pt x="96322" y="130175"/>
                  <a:pt x="101600" y="130175"/>
                </a:cubicBezTo>
                <a:cubicBezTo>
                  <a:pt x="106878" y="130175"/>
                  <a:pt x="111125" y="125928"/>
                  <a:pt x="111125" y="120650"/>
                </a:cubicBezTo>
                <a:lnTo>
                  <a:pt x="111125" y="76200"/>
                </a:lnTo>
                <a:cubicBezTo>
                  <a:pt x="111125" y="70922"/>
                  <a:pt x="106878" y="66675"/>
                  <a:pt x="101600" y="66675"/>
                </a:cubicBezTo>
                <a:close/>
                <a:moveTo>
                  <a:pt x="112197" y="152400"/>
                </a:moveTo>
                <a:cubicBezTo>
                  <a:pt x="112438" y="148467"/>
                  <a:pt x="110476" y="144724"/>
                  <a:pt x="107104" y="142685"/>
                </a:cubicBezTo>
                <a:cubicBezTo>
                  <a:pt x="103732" y="140645"/>
                  <a:pt x="99507" y="140645"/>
                  <a:pt x="96135" y="142685"/>
                </a:cubicBezTo>
                <a:cubicBezTo>
                  <a:pt x="92764" y="144724"/>
                  <a:pt x="90802" y="148467"/>
                  <a:pt x="91043" y="152400"/>
                </a:cubicBezTo>
                <a:cubicBezTo>
                  <a:pt x="90802" y="156333"/>
                  <a:pt x="92764" y="160076"/>
                  <a:pt x="96135" y="162115"/>
                </a:cubicBezTo>
                <a:cubicBezTo>
                  <a:pt x="99507" y="164155"/>
                  <a:pt x="103732" y="164155"/>
                  <a:pt x="107104" y="162115"/>
                </a:cubicBezTo>
                <a:cubicBezTo>
                  <a:pt x="110476" y="160076"/>
                  <a:pt x="112438" y="156333"/>
                  <a:pt x="112197" y="15240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11324134" y="7048500"/>
            <a:ext cx="50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后果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968534" y="7454900"/>
            <a:ext cx="469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数据质量受损，需要额外清理机制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1cdd6c7814d8812affc1e01823095354643bbb77.jpg"/>
          <p:cNvPicPr>
            <a:picLocks noChangeAspect="1"/>
          </p:cNvPicPr>
          <p:nvPr/>
        </p:nvPicPr>
        <p:blipFill>
          <a:blip r:embed="rId3">
            <a:alphaModFix amt="30000"/>
          </a:blip>
          <a:srcRect l="1111" r="1111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0000"/>
                </a:srgbClr>
              </a:gs>
              <a:gs pos="50000">
                <a:srgbClr val="343A40">
                  <a:alpha val="80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08000" y="2540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" y="0"/>
                </a:moveTo>
                <a:lnTo>
                  <a:pt x="965200" y="0"/>
                </a:lnTo>
                <a:cubicBezTo>
                  <a:pt x="993237" y="0"/>
                  <a:pt x="1016000" y="22763"/>
                  <a:pt x="1016000" y="50800"/>
                </a:cubicBezTo>
                <a:lnTo>
                  <a:pt x="1016000" y="965200"/>
                </a:lnTo>
                <a:cubicBezTo>
                  <a:pt x="1016000" y="993237"/>
                  <a:pt x="993237" y="1016000"/>
                  <a:pt x="965200" y="1016000"/>
                </a:cubicBezTo>
                <a:lnTo>
                  <a:pt x="50800" y="1016000"/>
                </a:lnTo>
                <a:cubicBezTo>
                  <a:pt x="22763" y="1016000"/>
                  <a:pt x="0" y="993237"/>
                  <a:pt x="0" y="96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393700" y="2540000"/>
            <a:ext cx="12446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727200" y="2641600"/>
            <a:ext cx="50800" cy="812800"/>
          </a:xfrm>
          <a:custGeom>
            <a:avLst/>
            <a:gdLst/>
            <a:ahLst/>
            <a:cxnLst/>
            <a:rect l="l" t="t" r="r" b="b"/>
            <a:pathLst>
              <a:path w="50800" h="812800">
                <a:moveTo>
                  <a:pt x="0" y="0"/>
                </a:moveTo>
                <a:lnTo>
                  <a:pt x="50800" y="0"/>
                </a:lnTo>
                <a:lnTo>
                  <a:pt x="50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508000" y="4267200"/>
            <a:ext cx="45720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80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核心解法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8000" y="5689600"/>
            <a:ext cx="425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从目录扫描到显式追踪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8000" y="655320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210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Core Idea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Table Format 的核心思想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20700" y="1587500"/>
            <a:ext cx="15214600" cy="1511300"/>
          </a:xfrm>
          <a:custGeom>
            <a:avLst/>
            <a:gdLst/>
            <a:ahLst/>
            <a:cxnLst/>
            <a:rect l="l" t="t" r="r" b="b"/>
            <a:pathLst>
              <a:path w="15214600" h="1511300">
                <a:moveTo>
                  <a:pt x="0" y="0"/>
                </a:moveTo>
                <a:lnTo>
                  <a:pt x="15214600" y="0"/>
                </a:lnTo>
                <a:lnTo>
                  <a:pt x="15214600" y="1511300"/>
                </a:lnTo>
                <a:lnTo>
                  <a:pt x="0" y="15113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>
              <a:alpha val="10196"/>
            </a:srgbClr>
          </a:solidFill>
          <a:ln w="25400">
            <a:solidFill>
              <a:srgbClr val="D4A2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862013" y="18669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0" y="160734"/>
                </a:moveTo>
                <a:cubicBezTo>
                  <a:pt x="0" y="111398"/>
                  <a:pt x="39960" y="71438"/>
                  <a:pt x="89297" y="71438"/>
                </a:cubicBezTo>
                <a:lnTo>
                  <a:pt x="95250" y="71438"/>
                </a:lnTo>
                <a:cubicBezTo>
                  <a:pt x="108421" y="71438"/>
                  <a:pt x="119063" y="82079"/>
                  <a:pt x="119063" y="95250"/>
                </a:cubicBezTo>
                <a:cubicBezTo>
                  <a:pt x="119063" y="108421"/>
                  <a:pt x="108421" y="119063"/>
                  <a:pt x="95250" y="119063"/>
                </a:cubicBezTo>
                <a:lnTo>
                  <a:pt x="89297" y="119063"/>
                </a:lnTo>
                <a:cubicBezTo>
                  <a:pt x="66303" y="119063"/>
                  <a:pt x="47625" y="137740"/>
                  <a:pt x="47625" y="160734"/>
                </a:cubicBezTo>
                <a:lnTo>
                  <a:pt x="47625" y="166688"/>
                </a:lnTo>
                <a:lnTo>
                  <a:pt x="95250" y="166688"/>
                </a:lnTo>
                <a:cubicBezTo>
                  <a:pt x="121518" y="166688"/>
                  <a:pt x="142875" y="188044"/>
                  <a:pt x="142875" y="214313"/>
                </a:cubicBezTo>
                <a:lnTo>
                  <a:pt x="142875" y="261938"/>
                </a:lnTo>
                <a:cubicBezTo>
                  <a:pt x="142875" y="288206"/>
                  <a:pt x="121518" y="309563"/>
                  <a:pt x="95250" y="309563"/>
                </a:cubicBezTo>
                <a:lnTo>
                  <a:pt x="47625" y="309563"/>
                </a:lnTo>
                <a:cubicBezTo>
                  <a:pt x="21357" y="309563"/>
                  <a:pt x="0" y="288206"/>
                  <a:pt x="0" y="261938"/>
                </a:cubicBezTo>
                <a:lnTo>
                  <a:pt x="0" y="160734"/>
                </a:lnTo>
                <a:close/>
                <a:moveTo>
                  <a:pt x="190500" y="160734"/>
                </a:moveTo>
                <a:cubicBezTo>
                  <a:pt x="190500" y="111398"/>
                  <a:pt x="230460" y="71438"/>
                  <a:pt x="279797" y="71438"/>
                </a:cubicBezTo>
                <a:lnTo>
                  <a:pt x="285750" y="71438"/>
                </a:lnTo>
                <a:cubicBezTo>
                  <a:pt x="298921" y="71438"/>
                  <a:pt x="309563" y="82079"/>
                  <a:pt x="309563" y="95250"/>
                </a:cubicBezTo>
                <a:cubicBezTo>
                  <a:pt x="309563" y="108421"/>
                  <a:pt x="298921" y="119063"/>
                  <a:pt x="285750" y="119063"/>
                </a:cubicBezTo>
                <a:lnTo>
                  <a:pt x="279797" y="119063"/>
                </a:lnTo>
                <a:cubicBezTo>
                  <a:pt x="256803" y="119063"/>
                  <a:pt x="238125" y="137740"/>
                  <a:pt x="238125" y="160734"/>
                </a:cubicBezTo>
                <a:lnTo>
                  <a:pt x="238125" y="166688"/>
                </a:lnTo>
                <a:lnTo>
                  <a:pt x="285750" y="166688"/>
                </a:lnTo>
                <a:cubicBezTo>
                  <a:pt x="312018" y="166688"/>
                  <a:pt x="333375" y="188044"/>
                  <a:pt x="333375" y="214313"/>
                </a:cubicBezTo>
                <a:lnTo>
                  <a:pt x="333375" y="261938"/>
                </a:lnTo>
                <a:cubicBezTo>
                  <a:pt x="333375" y="288206"/>
                  <a:pt x="312018" y="309563"/>
                  <a:pt x="285750" y="309563"/>
                </a:cubicBezTo>
                <a:lnTo>
                  <a:pt x="238125" y="309563"/>
                </a:lnTo>
                <a:cubicBezTo>
                  <a:pt x="211857" y="309563"/>
                  <a:pt x="190500" y="288206"/>
                  <a:pt x="190500" y="261938"/>
                </a:cubicBezTo>
                <a:lnTo>
                  <a:pt x="190500" y="160734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466850" y="1854200"/>
            <a:ext cx="1371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核心理念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87400" y="2413000"/>
            <a:ext cx="14808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永远不要去 List 目录，而是用一份</a:t>
            </a:r>
            <a:r>
              <a:rPr lang="en-US" sz="2000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"清单"</a:t>
            </a:r>
            <a:r>
              <a:rPr lang="en-US" sz="20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把所有有效文件记下来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33400" y="3308350"/>
            <a:ext cx="7467600" cy="2590800"/>
          </a:xfrm>
          <a:custGeom>
            <a:avLst/>
            <a:gdLst/>
            <a:ahLst/>
            <a:cxnLst/>
            <a:rect l="l" t="t" r="r" b="b"/>
            <a:pathLst>
              <a:path w="7467600" h="2590800">
                <a:moveTo>
                  <a:pt x="0" y="0"/>
                </a:moveTo>
                <a:lnTo>
                  <a:pt x="7467600" y="0"/>
                </a:lnTo>
                <a:lnTo>
                  <a:pt x="7467600" y="2590800"/>
                </a:lnTo>
                <a:lnTo>
                  <a:pt x="0" y="2590800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33400" y="3308350"/>
            <a:ext cx="50800" cy="2590800"/>
          </a:xfrm>
          <a:custGeom>
            <a:avLst/>
            <a:gdLst/>
            <a:ahLst/>
            <a:cxnLst/>
            <a:rect l="l" t="t" r="r" b="b"/>
            <a:pathLst>
              <a:path w="50800" h="2590800">
                <a:moveTo>
                  <a:pt x="0" y="0"/>
                </a:moveTo>
                <a:lnTo>
                  <a:pt x="50800" y="0"/>
                </a:lnTo>
                <a:lnTo>
                  <a:pt x="50800" y="2590800"/>
                </a:lnTo>
                <a:lnTo>
                  <a:pt x="0" y="25908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762000" y="3511550"/>
            <a:ext cx="7162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Table Format 本质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488307" y="4025900"/>
            <a:ext cx="1778000" cy="774700"/>
          </a:xfrm>
          <a:custGeom>
            <a:avLst/>
            <a:gdLst/>
            <a:ahLst/>
            <a:cxnLst/>
            <a:rect l="l" t="t" r="r" b="b"/>
            <a:pathLst>
              <a:path w="1778000" h="774700">
                <a:moveTo>
                  <a:pt x="0" y="0"/>
                </a:moveTo>
                <a:lnTo>
                  <a:pt x="1778000" y="0"/>
                </a:lnTo>
                <a:lnTo>
                  <a:pt x="1778000" y="774700"/>
                </a:lnTo>
                <a:lnTo>
                  <a:pt x="0" y="7747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>
              <a:alpha val="20000"/>
            </a:srgbClr>
          </a:solidFill>
          <a:ln w="12700">
            <a:solidFill>
              <a:srgbClr val="D4A2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2647057" y="4133850"/>
            <a:ext cx="1460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Metadata Files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53407" y="4438650"/>
            <a:ext cx="1447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元数据文件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79627" y="4210050"/>
            <a:ext cx="330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872732" y="4025900"/>
            <a:ext cx="1193800" cy="774700"/>
          </a:xfrm>
          <a:custGeom>
            <a:avLst/>
            <a:gdLst/>
            <a:ahLst/>
            <a:cxnLst/>
            <a:rect l="l" t="t" r="r" b="b"/>
            <a:pathLst>
              <a:path w="1193800" h="774700">
                <a:moveTo>
                  <a:pt x="0" y="0"/>
                </a:moveTo>
                <a:lnTo>
                  <a:pt x="1193800" y="0"/>
                </a:lnTo>
                <a:lnTo>
                  <a:pt x="1193800" y="774700"/>
                </a:lnTo>
                <a:lnTo>
                  <a:pt x="0" y="7747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>
              <a:alpha val="20000"/>
            </a:srgbClr>
          </a:solidFill>
          <a:ln w="12700">
            <a:solidFill>
              <a:srgbClr val="D4A2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5031482" y="4133850"/>
            <a:ext cx="876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Protocol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37832" y="4438650"/>
            <a:ext cx="863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操作协议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2000" y="4959350"/>
            <a:ext cx="71374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Table Format 通过</a:t>
            </a:r>
            <a:r>
              <a:rPr lang="en-US" sz="16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显式追踪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所有数据文件，彻底摆脱了对目录 Listing 的依赖，从根本上解决了性能问题和一致性问题。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80400" y="3308350"/>
            <a:ext cx="7467600" cy="2590800"/>
          </a:xfrm>
          <a:custGeom>
            <a:avLst/>
            <a:gdLst/>
            <a:ahLst/>
            <a:cxnLst/>
            <a:rect l="l" t="t" r="r" b="b"/>
            <a:pathLst>
              <a:path w="7467600" h="2590800">
                <a:moveTo>
                  <a:pt x="0" y="0"/>
                </a:moveTo>
                <a:lnTo>
                  <a:pt x="7467600" y="0"/>
                </a:lnTo>
                <a:lnTo>
                  <a:pt x="7467600" y="2590800"/>
                </a:lnTo>
                <a:lnTo>
                  <a:pt x="0" y="2590800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8280400" y="3308350"/>
            <a:ext cx="50800" cy="2590800"/>
          </a:xfrm>
          <a:custGeom>
            <a:avLst/>
            <a:gdLst/>
            <a:ahLst/>
            <a:cxnLst/>
            <a:rect l="l" t="t" r="r" b="b"/>
            <a:pathLst>
              <a:path w="50800" h="2590800">
                <a:moveTo>
                  <a:pt x="0" y="0"/>
                </a:moveTo>
                <a:lnTo>
                  <a:pt x="50800" y="0"/>
                </a:lnTo>
                <a:lnTo>
                  <a:pt x="50800" y="2590800"/>
                </a:lnTo>
                <a:lnTo>
                  <a:pt x="0" y="25908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509000" y="3511550"/>
            <a:ext cx="7162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查询流程革新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509000" y="401955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0"/>
                </a:moveTo>
                <a:lnTo>
                  <a:pt x="355600" y="0"/>
                </a:lnTo>
                <a:cubicBezTo>
                  <a:pt x="383637" y="0"/>
                  <a:pt x="406400" y="22763"/>
                  <a:pt x="406400" y="50800"/>
                </a:cubicBezTo>
                <a:lnTo>
                  <a:pt x="406400" y="355600"/>
                </a:lnTo>
                <a:cubicBezTo>
                  <a:pt x="406400" y="383637"/>
                  <a:pt x="383637" y="406400"/>
                  <a:pt x="3556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458200" y="401955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067800" y="4019550"/>
            <a:ext cx="6578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读取</a:t>
            </a:r>
            <a:r>
              <a:rPr lang="en-US" sz="16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元数据文件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，直接获得所有有效数据文件的路径列表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509000" y="452755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0"/>
                </a:moveTo>
                <a:lnTo>
                  <a:pt x="355600" y="0"/>
                </a:lnTo>
                <a:cubicBezTo>
                  <a:pt x="383637" y="0"/>
                  <a:pt x="406400" y="22763"/>
                  <a:pt x="406400" y="50800"/>
                </a:cubicBezTo>
                <a:lnTo>
                  <a:pt x="406400" y="355600"/>
                </a:lnTo>
                <a:cubicBezTo>
                  <a:pt x="406400" y="383637"/>
                  <a:pt x="383637" y="406400"/>
                  <a:pt x="3556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458200" y="452755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067800" y="4527550"/>
            <a:ext cx="65786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根据元数据中的统计信息（Min/Max），</a:t>
            </a:r>
            <a:r>
              <a:rPr lang="en-US" sz="16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过滤掉不需要读取的文件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（Data Skipping）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509000" y="528955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0"/>
                </a:moveTo>
                <a:lnTo>
                  <a:pt x="355600" y="0"/>
                </a:lnTo>
                <a:cubicBezTo>
                  <a:pt x="383637" y="0"/>
                  <a:pt x="406400" y="22763"/>
                  <a:pt x="406400" y="50800"/>
                </a:cubicBezTo>
                <a:lnTo>
                  <a:pt x="406400" y="355600"/>
                </a:lnTo>
                <a:cubicBezTo>
                  <a:pt x="406400" y="383637"/>
                  <a:pt x="383637" y="406400"/>
                  <a:pt x="3556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458200" y="528955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067800" y="5289550"/>
            <a:ext cx="6578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引擎直接按路径读取数据文件，</a:t>
            </a:r>
            <a:r>
              <a:rPr lang="en-US" sz="16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完全跳过目录 Listing 步骤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14350" y="6108700"/>
            <a:ext cx="4927600" cy="1612900"/>
          </a:xfrm>
          <a:custGeom>
            <a:avLst/>
            <a:gdLst/>
            <a:ahLst/>
            <a:cxnLst/>
            <a:rect l="l" t="t" r="r" b="b"/>
            <a:pathLst>
              <a:path w="4927600" h="1612900">
                <a:moveTo>
                  <a:pt x="0" y="0"/>
                </a:moveTo>
                <a:lnTo>
                  <a:pt x="4927600" y="0"/>
                </a:lnTo>
                <a:lnTo>
                  <a:pt x="4927600" y="1612900"/>
                </a:lnTo>
                <a:lnTo>
                  <a:pt x="0" y="1612900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30196"/>
            </a:srgbClr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723900" y="631825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50800" y="0"/>
                </a:moveTo>
                <a:lnTo>
                  <a:pt x="457200" y="0"/>
                </a:lnTo>
                <a:cubicBezTo>
                  <a:pt x="485237" y="0"/>
                  <a:pt x="508000" y="22763"/>
                  <a:pt x="508000" y="50800"/>
                </a:cubicBezTo>
                <a:lnTo>
                  <a:pt x="508000" y="457200"/>
                </a:lnTo>
                <a:cubicBezTo>
                  <a:pt x="508000" y="485237"/>
                  <a:pt x="485237" y="508000"/>
                  <a:pt x="4572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866775" y="64579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28588" y="42863"/>
                </a:moveTo>
                <a:cubicBezTo>
                  <a:pt x="128588" y="34977"/>
                  <a:pt x="122185" y="28575"/>
                  <a:pt x="114300" y="28575"/>
                </a:cubicBezTo>
                <a:cubicBezTo>
                  <a:pt x="106415" y="28575"/>
                  <a:pt x="100013" y="34977"/>
                  <a:pt x="100013" y="42863"/>
                </a:cubicBezTo>
                <a:cubicBezTo>
                  <a:pt x="100013" y="50748"/>
                  <a:pt x="106415" y="57150"/>
                  <a:pt x="114300" y="57150"/>
                </a:cubicBezTo>
                <a:cubicBezTo>
                  <a:pt x="122185" y="57150"/>
                  <a:pt x="128588" y="50748"/>
                  <a:pt x="128588" y="42863"/>
                </a:cubicBezTo>
                <a:close/>
                <a:moveTo>
                  <a:pt x="114300" y="185738"/>
                </a:moveTo>
                <a:cubicBezTo>
                  <a:pt x="130061" y="185738"/>
                  <a:pt x="142875" y="172923"/>
                  <a:pt x="142875" y="157163"/>
                </a:cubicBezTo>
                <a:cubicBezTo>
                  <a:pt x="142875" y="149929"/>
                  <a:pt x="140196" y="143277"/>
                  <a:pt x="135731" y="138276"/>
                </a:cubicBezTo>
                <a:lnTo>
                  <a:pt x="166762" y="76260"/>
                </a:lnTo>
                <a:cubicBezTo>
                  <a:pt x="169396" y="70946"/>
                  <a:pt x="167253" y="64517"/>
                  <a:pt x="161985" y="61883"/>
                </a:cubicBezTo>
                <a:cubicBezTo>
                  <a:pt x="156716" y="59248"/>
                  <a:pt x="150242" y="61392"/>
                  <a:pt x="147608" y="66660"/>
                </a:cubicBezTo>
                <a:lnTo>
                  <a:pt x="116577" y="128677"/>
                </a:lnTo>
                <a:cubicBezTo>
                  <a:pt x="115818" y="128632"/>
                  <a:pt x="115059" y="128588"/>
                  <a:pt x="114300" y="128588"/>
                </a:cubicBezTo>
                <a:cubicBezTo>
                  <a:pt x="98539" y="128588"/>
                  <a:pt x="85725" y="141402"/>
                  <a:pt x="85725" y="157163"/>
                </a:cubicBezTo>
                <a:cubicBezTo>
                  <a:pt x="85725" y="172923"/>
                  <a:pt x="98539" y="185738"/>
                  <a:pt x="114300" y="185738"/>
                </a:cubicBezTo>
                <a:close/>
                <a:moveTo>
                  <a:pt x="78581" y="64294"/>
                </a:moveTo>
                <a:cubicBezTo>
                  <a:pt x="78581" y="56408"/>
                  <a:pt x="72179" y="50006"/>
                  <a:pt x="64294" y="50006"/>
                </a:cubicBezTo>
                <a:cubicBezTo>
                  <a:pt x="56408" y="50006"/>
                  <a:pt x="50006" y="56408"/>
                  <a:pt x="50006" y="64294"/>
                </a:cubicBezTo>
                <a:cubicBezTo>
                  <a:pt x="50006" y="72179"/>
                  <a:pt x="56408" y="78581"/>
                  <a:pt x="64294" y="78581"/>
                </a:cubicBezTo>
                <a:cubicBezTo>
                  <a:pt x="72179" y="78581"/>
                  <a:pt x="78581" y="72179"/>
                  <a:pt x="78581" y="64294"/>
                </a:cubicBezTo>
                <a:close/>
                <a:moveTo>
                  <a:pt x="42863" y="128588"/>
                </a:moveTo>
                <a:cubicBezTo>
                  <a:pt x="50748" y="128588"/>
                  <a:pt x="57150" y="122185"/>
                  <a:pt x="57150" y="114300"/>
                </a:cubicBezTo>
                <a:cubicBezTo>
                  <a:pt x="57150" y="106415"/>
                  <a:pt x="50748" y="100013"/>
                  <a:pt x="42863" y="100013"/>
                </a:cubicBezTo>
                <a:cubicBezTo>
                  <a:pt x="34977" y="100013"/>
                  <a:pt x="28575" y="106415"/>
                  <a:pt x="28575" y="114300"/>
                </a:cubicBezTo>
                <a:cubicBezTo>
                  <a:pt x="28575" y="122185"/>
                  <a:pt x="34977" y="128588"/>
                  <a:pt x="42863" y="128588"/>
                </a:cubicBezTo>
                <a:close/>
                <a:moveTo>
                  <a:pt x="200025" y="114300"/>
                </a:moveTo>
                <a:cubicBezTo>
                  <a:pt x="200025" y="106415"/>
                  <a:pt x="193623" y="100013"/>
                  <a:pt x="185738" y="100013"/>
                </a:cubicBezTo>
                <a:cubicBezTo>
                  <a:pt x="177852" y="100013"/>
                  <a:pt x="171450" y="106415"/>
                  <a:pt x="171450" y="114300"/>
                </a:cubicBezTo>
                <a:cubicBezTo>
                  <a:pt x="171450" y="122185"/>
                  <a:pt x="177852" y="128588"/>
                  <a:pt x="185738" y="128588"/>
                </a:cubicBezTo>
                <a:cubicBezTo>
                  <a:pt x="193623" y="128588"/>
                  <a:pt x="200025" y="122185"/>
                  <a:pt x="200025" y="11430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1384300" y="641985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性能提升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23900" y="6927850"/>
            <a:ext cx="45974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 O(N) 的 Listing 操作变为 O(1) 的元数据读取，查询延迟与文件数量无关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662017" y="6108700"/>
            <a:ext cx="4927600" cy="1612900"/>
          </a:xfrm>
          <a:custGeom>
            <a:avLst/>
            <a:gdLst/>
            <a:ahLst/>
            <a:cxnLst/>
            <a:rect l="l" t="t" r="r" b="b"/>
            <a:pathLst>
              <a:path w="4927600" h="1612900">
                <a:moveTo>
                  <a:pt x="0" y="0"/>
                </a:moveTo>
                <a:lnTo>
                  <a:pt x="4927600" y="0"/>
                </a:lnTo>
                <a:lnTo>
                  <a:pt x="4927600" y="1612900"/>
                </a:lnTo>
                <a:lnTo>
                  <a:pt x="0" y="1612900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30196"/>
            </a:srgbClr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5871567" y="631825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50800" y="0"/>
                </a:moveTo>
                <a:lnTo>
                  <a:pt x="457200" y="0"/>
                </a:lnTo>
                <a:cubicBezTo>
                  <a:pt x="485237" y="0"/>
                  <a:pt x="508000" y="22763"/>
                  <a:pt x="508000" y="50800"/>
                </a:cubicBezTo>
                <a:lnTo>
                  <a:pt x="508000" y="457200"/>
                </a:lnTo>
                <a:cubicBezTo>
                  <a:pt x="508000" y="485237"/>
                  <a:pt x="485237" y="508000"/>
                  <a:pt x="4572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6014442" y="64579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6531967" y="6419850"/>
            <a:ext cx="111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一致性保证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871567" y="6927850"/>
            <a:ext cx="45974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通过原子性元数据操作，确保数据要么全部可见，要么全部不可见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0809784" y="6108700"/>
            <a:ext cx="4927600" cy="1612900"/>
          </a:xfrm>
          <a:custGeom>
            <a:avLst/>
            <a:gdLst/>
            <a:ahLst/>
            <a:cxnLst/>
            <a:rect l="l" t="t" r="r" b="b"/>
            <a:pathLst>
              <a:path w="4927600" h="1612900">
                <a:moveTo>
                  <a:pt x="0" y="0"/>
                </a:moveTo>
                <a:lnTo>
                  <a:pt x="4927600" y="0"/>
                </a:lnTo>
                <a:lnTo>
                  <a:pt x="4927600" y="1612900"/>
                </a:lnTo>
                <a:lnTo>
                  <a:pt x="0" y="1612900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30196"/>
            </a:srgbClr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11019334" y="631825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50800" y="0"/>
                </a:moveTo>
                <a:lnTo>
                  <a:pt x="457200" y="0"/>
                </a:lnTo>
                <a:cubicBezTo>
                  <a:pt x="485237" y="0"/>
                  <a:pt x="508000" y="22763"/>
                  <a:pt x="508000" y="50800"/>
                </a:cubicBezTo>
                <a:lnTo>
                  <a:pt x="508000" y="457200"/>
                </a:lnTo>
                <a:cubicBezTo>
                  <a:pt x="508000" y="485237"/>
                  <a:pt x="485237" y="508000"/>
                  <a:pt x="4572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11162209" y="64579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28575"/>
                </a:moveTo>
                <a:cubicBezTo>
                  <a:pt x="8528" y="28575"/>
                  <a:pt x="3304" y="32058"/>
                  <a:pt x="1072" y="37415"/>
                </a:cubicBezTo>
                <a:cubicBezTo>
                  <a:pt x="-1161" y="42773"/>
                  <a:pt x="89" y="48890"/>
                  <a:pt x="4197" y="52953"/>
                </a:cubicBezTo>
                <a:lnTo>
                  <a:pt x="85725" y="134526"/>
                </a:lnTo>
                <a:lnTo>
                  <a:pt x="85725" y="185738"/>
                </a:lnTo>
                <a:cubicBezTo>
                  <a:pt x="85725" y="189533"/>
                  <a:pt x="87243" y="193149"/>
                  <a:pt x="89922" y="195828"/>
                </a:cubicBezTo>
                <a:lnTo>
                  <a:pt x="118497" y="224403"/>
                </a:lnTo>
                <a:cubicBezTo>
                  <a:pt x="122605" y="228511"/>
                  <a:pt x="128721" y="229716"/>
                  <a:pt x="134079" y="227484"/>
                </a:cubicBezTo>
                <a:cubicBezTo>
                  <a:pt x="139437" y="225251"/>
                  <a:pt x="142875" y="220072"/>
                  <a:pt x="142875" y="214313"/>
                </a:cubicBezTo>
                <a:lnTo>
                  <a:pt x="142875" y="134526"/>
                </a:lnTo>
                <a:lnTo>
                  <a:pt x="224403" y="52998"/>
                </a:lnTo>
                <a:cubicBezTo>
                  <a:pt x="228511" y="48890"/>
                  <a:pt x="229716" y="42773"/>
                  <a:pt x="227484" y="37415"/>
                </a:cubicBezTo>
                <a:cubicBezTo>
                  <a:pt x="225251" y="32058"/>
                  <a:pt x="220072" y="28575"/>
                  <a:pt x="214313" y="28575"/>
                </a:cubicBezTo>
                <a:lnTo>
                  <a:pt x="14288" y="28575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11679734" y="641985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智能过滤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1019334" y="6927850"/>
            <a:ext cx="45974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利用文件级统计信息跳过不必要的数据文件，大幅提升查询效率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iro.medium.com/77df57d715bb7c546f8efa3095c585b2d54b4d40.png"/>
          <p:cNvPicPr>
            <a:picLocks noChangeAspect="1"/>
          </p:cNvPicPr>
          <p:nvPr/>
        </p:nvPicPr>
        <p:blipFill>
          <a:blip r:embed="rId3">
            <a:alphaModFix amt="30000"/>
          </a:blip>
          <a:srcRect l="5989" r="5989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0000"/>
                </a:srgbClr>
              </a:gs>
              <a:gs pos="50000">
                <a:srgbClr val="343A40">
                  <a:alpha val="80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08000" y="2540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" y="0"/>
                </a:moveTo>
                <a:lnTo>
                  <a:pt x="965200" y="0"/>
                </a:lnTo>
                <a:cubicBezTo>
                  <a:pt x="993237" y="0"/>
                  <a:pt x="1016000" y="22763"/>
                  <a:pt x="1016000" y="50800"/>
                </a:cubicBezTo>
                <a:lnTo>
                  <a:pt x="1016000" y="965200"/>
                </a:lnTo>
                <a:cubicBezTo>
                  <a:pt x="1016000" y="993237"/>
                  <a:pt x="993237" y="1016000"/>
                  <a:pt x="965200" y="1016000"/>
                </a:cubicBezTo>
                <a:lnTo>
                  <a:pt x="50800" y="1016000"/>
                </a:lnTo>
                <a:cubicBezTo>
                  <a:pt x="22763" y="1016000"/>
                  <a:pt x="0" y="993237"/>
                  <a:pt x="0" y="96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393700" y="2540000"/>
            <a:ext cx="12446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727200" y="2641600"/>
            <a:ext cx="50800" cy="812800"/>
          </a:xfrm>
          <a:custGeom>
            <a:avLst/>
            <a:gdLst/>
            <a:ahLst/>
            <a:cxnLst/>
            <a:rect l="l" t="t" r="r" b="b"/>
            <a:pathLst>
              <a:path w="50800" h="812800">
                <a:moveTo>
                  <a:pt x="0" y="0"/>
                </a:moveTo>
                <a:lnTo>
                  <a:pt x="50800" y="0"/>
                </a:lnTo>
                <a:lnTo>
                  <a:pt x="50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508000" y="4267200"/>
            <a:ext cx="49784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80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技术深潜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8000" y="5689600"/>
            <a:ext cx="4660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Iceberg 的三层元数据架构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8000" y="655320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210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Metadata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Iceberg 的三层元数据架构（逻辑视图）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1574800"/>
            <a:ext cx="15341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Apache Iceberg 的设计之美在于其清晰的</a:t>
            </a:r>
            <a:r>
              <a:rPr lang="en-US" sz="16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三层元数据树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。理解了这个结构，就理解了 Lakehouse 的一半。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451100" y="2425700"/>
            <a:ext cx="2235200" cy="1574800"/>
          </a:xfrm>
          <a:custGeom>
            <a:avLst/>
            <a:gdLst/>
            <a:ahLst/>
            <a:cxnLst/>
            <a:rect l="l" t="t" r="r" b="b"/>
            <a:pathLst>
              <a:path w="2235200" h="1574800">
                <a:moveTo>
                  <a:pt x="0" y="0"/>
                </a:moveTo>
                <a:lnTo>
                  <a:pt x="2235200" y="0"/>
                </a:lnTo>
                <a:lnTo>
                  <a:pt x="2235200" y="1574800"/>
                </a:lnTo>
                <a:lnTo>
                  <a:pt x="0" y="15748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>
              <a:alpha val="20000"/>
            </a:srgbClr>
          </a:solidFill>
          <a:ln w="25400">
            <a:solidFill>
              <a:srgbClr val="D4A2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357563" y="26416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41672" y="167878"/>
                </a:moveTo>
                <a:lnTo>
                  <a:pt x="24110" y="220414"/>
                </a:lnTo>
                <a:lnTo>
                  <a:pt x="24110" y="71438"/>
                </a:lnTo>
                <a:cubicBezTo>
                  <a:pt x="24110" y="45169"/>
                  <a:pt x="45467" y="23812"/>
                  <a:pt x="71735" y="23812"/>
                </a:cubicBezTo>
                <a:lnTo>
                  <a:pt x="174947" y="23812"/>
                </a:lnTo>
                <a:cubicBezTo>
                  <a:pt x="185217" y="23812"/>
                  <a:pt x="195262" y="27161"/>
                  <a:pt x="203522" y="33338"/>
                </a:cubicBezTo>
                <a:lnTo>
                  <a:pt x="232097" y="54769"/>
                </a:lnTo>
                <a:cubicBezTo>
                  <a:pt x="236190" y="57894"/>
                  <a:pt x="241250" y="59531"/>
                  <a:pt x="246385" y="59531"/>
                </a:cubicBezTo>
                <a:lnTo>
                  <a:pt x="333673" y="59531"/>
                </a:lnTo>
                <a:cubicBezTo>
                  <a:pt x="359941" y="59531"/>
                  <a:pt x="381298" y="80888"/>
                  <a:pt x="381298" y="107156"/>
                </a:cubicBezTo>
                <a:lnTo>
                  <a:pt x="381298" y="119063"/>
                </a:lnTo>
                <a:lnTo>
                  <a:pt x="109389" y="119063"/>
                </a:lnTo>
                <a:cubicBezTo>
                  <a:pt x="78656" y="119063"/>
                  <a:pt x="51346" y="138708"/>
                  <a:pt x="41597" y="167878"/>
                </a:cubicBezTo>
                <a:close/>
                <a:moveTo>
                  <a:pt x="355550" y="333375"/>
                </a:moveTo>
                <a:lnTo>
                  <a:pt x="73670" y="333375"/>
                </a:lnTo>
                <a:cubicBezTo>
                  <a:pt x="49262" y="333375"/>
                  <a:pt x="32072" y="309488"/>
                  <a:pt x="39812" y="286345"/>
                </a:cubicBezTo>
                <a:lnTo>
                  <a:pt x="75530" y="179189"/>
                </a:lnTo>
                <a:cubicBezTo>
                  <a:pt x="80367" y="164604"/>
                  <a:pt x="94059" y="154781"/>
                  <a:pt x="109389" y="154781"/>
                </a:cubicBezTo>
                <a:lnTo>
                  <a:pt x="391269" y="154781"/>
                </a:lnTo>
                <a:cubicBezTo>
                  <a:pt x="415677" y="154781"/>
                  <a:pt x="432867" y="178668"/>
                  <a:pt x="425128" y="201811"/>
                </a:cubicBezTo>
                <a:lnTo>
                  <a:pt x="389409" y="308967"/>
                </a:lnTo>
                <a:cubicBezTo>
                  <a:pt x="384572" y="323552"/>
                  <a:pt x="370880" y="333375"/>
                  <a:pt x="355550" y="333375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2711450" y="3124200"/>
            <a:ext cx="1714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Catalog 指针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24150" y="3530600"/>
            <a:ext cx="1689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指向当前元数据文件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92788" y="30607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9204" y="165854"/>
                </a:moveTo>
                <a:cubicBezTo>
                  <a:pt x="306645" y="158413"/>
                  <a:pt x="306645" y="146328"/>
                  <a:pt x="299204" y="138886"/>
                </a:cubicBezTo>
                <a:lnTo>
                  <a:pt x="203954" y="43636"/>
                </a:lnTo>
                <a:cubicBezTo>
                  <a:pt x="196513" y="36195"/>
                  <a:pt x="184428" y="36195"/>
                  <a:pt x="176986" y="43636"/>
                </a:cubicBezTo>
                <a:cubicBezTo>
                  <a:pt x="169545" y="51078"/>
                  <a:pt x="169545" y="63163"/>
                  <a:pt x="176986" y="70604"/>
                </a:cubicBezTo>
                <a:lnTo>
                  <a:pt x="239732" y="133350"/>
                </a:ln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239732" y="171450"/>
                </a:lnTo>
                <a:lnTo>
                  <a:pt x="176986" y="234196"/>
                </a:lnTo>
                <a:cubicBezTo>
                  <a:pt x="169545" y="241637"/>
                  <a:pt x="169545" y="253722"/>
                  <a:pt x="176986" y="261164"/>
                </a:cubicBezTo>
                <a:cubicBezTo>
                  <a:pt x="184428" y="268605"/>
                  <a:pt x="196513" y="268605"/>
                  <a:pt x="203954" y="261164"/>
                </a:cubicBezTo>
                <a:lnTo>
                  <a:pt x="299204" y="165914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7204075" y="2425700"/>
            <a:ext cx="2108200" cy="1574800"/>
          </a:xfrm>
          <a:custGeom>
            <a:avLst/>
            <a:gdLst/>
            <a:ahLst/>
            <a:cxnLst/>
            <a:rect l="l" t="t" r="r" b="b"/>
            <a:pathLst>
              <a:path w="2108200" h="1574800">
                <a:moveTo>
                  <a:pt x="0" y="0"/>
                </a:moveTo>
                <a:lnTo>
                  <a:pt x="2108200" y="0"/>
                </a:lnTo>
                <a:lnTo>
                  <a:pt x="2108200" y="1574800"/>
                </a:lnTo>
                <a:lnTo>
                  <a:pt x="0" y="1574800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60000"/>
            </a:srgbClr>
          </a:solidFill>
          <a:ln w="25400">
            <a:solidFill>
              <a:srgbClr val="D4A2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8118872" y="26416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0" y="47625"/>
                </a:moveTo>
                <a:cubicBezTo>
                  <a:pt x="0" y="21357"/>
                  <a:pt x="21357" y="0"/>
                  <a:pt x="47625" y="0"/>
                </a:cubicBezTo>
                <a:lnTo>
                  <a:pt x="158874" y="0"/>
                </a:lnTo>
                <a:cubicBezTo>
                  <a:pt x="171524" y="0"/>
                  <a:pt x="183654" y="4986"/>
                  <a:pt x="192584" y="13915"/>
                </a:cubicBezTo>
                <a:lnTo>
                  <a:pt x="271835" y="93241"/>
                </a:lnTo>
                <a:cubicBezTo>
                  <a:pt x="280764" y="102171"/>
                  <a:pt x="285750" y="114300"/>
                  <a:pt x="285750" y="126950"/>
                </a:cubicBezTo>
                <a:lnTo>
                  <a:pt x="285750" y="333375"/>
                </a:lnTo>
                <a:cubicBezTo>
                  <a:pt x="285750" y="359643"/>
                  <a:pt x="264393" y="381000"/>
                  <a:pt x="238125" y="381000"/>
                </a:cubicBezTo>
                <a:lnTo>
                  <a:pt x="47625" y="381000"/>
                </a:lnTo>
                <a:cubicBezTo>
                  <a:pt x="21357" y="381000"/>
                  <a:pt x="0" y="359643"/>
                  <a:pt x="0" y="333375"/>
                </a:cubicBezTo>
                <a:lnTo>
                  <a:pt x="0" y="47625"/>
                </a:lnTo>
                <a:close/>
                <a:moveTo>
                  <a:pt x="154781" y="43532"/>
                </a:moveTo>
                <a:lnTo>
                  <a:pt x="154781" y="113109"/>
                </a:lnTo>
                <a:cubicBezTo>
                  <a:pt x="154781" y="123006"/>
                  <a:pt x="162744" y="130969"/>
                  <a:pt x="172641" y="130969"/>
                </a:cubicBezTo>
                <a:lnTo>
                  <a:pt x="242218" y="130969"/>
                </a:lnTo>
                <a:lnTo>
                  <a:pt x="154781" y="43532"/>
                </a:lnTo>
                <a:close/>
                <a:moveTo>
                  <a:pt x="114746" y="219968"/>
                </a:moveTo>
                <a:cubicBezTo>
                  <a:pt x="121146" y="212452"/>
                  <a:pt x="120328" y="201216"/>
                  <a:pt x="112812" y="194816"/>
                </a:cubicBezTo>
                <a:cubicBezTo>
                  <a:pt x="105296" y="188416"/>
                  <a:pt x="94059" y="189235"/>
                  <a:pt x="87660" y="196751"/>
                </a:cubicBezTo>
                <a:lnTo>
                  <a:pt x="51941" y="238423"/>
                </a:lnTo>
                <a:cubicBezTo>
                  <a:pt x="46211" y="245120"/>
                  <a:pt x="46211" y="254943"/>
                  <a:pt x="51941" y="261640"/>
                </a:cubicBezTo>
                <a:lnTo>
                  <a:pt x="87660" y="303312"/>
                </a:lnTo>
                <a:cubicBezTo>
                  <a:pt x="94059" y="310828"/>
                  <a:pt x="105370" y="311646"/>
                  <a:pt x="112812" y="305246"/>
                </a:cubicBezTo>
                <a:cubicBezTo>
                  <a:pt x="120253" y="298847"/>
                  <a:pt x="121146" y="287536"/>
                  <a:pt x="114746" y="280095"/>
                </a:cubicBezTo>
                <a:lnTo>
                  <a:pt x="88999" y="250031"/>
                </a:lnTo>
                <a:lnTo>
                  <a:pt x="114746" y="219968"/>
                </a:lnTo>
                <a:close/>
                <a:moveTo>
                  <a:pt x="198090" y="196751"/>
                </a:moveTo>
                <a:cubicBezTo>
                  <a:pt x="191691" y="189235"/>
                  <a:pt x="180380" y="188416"/>
                  <a:pt x="172938" y="194816"/>
                </a:cubicBezTo>
                <a:cubicBezTo>
                  <a:pt x="165497" y="201216"/>
                  <a:pt x="164604" y="212527"/>
                  <a:pt x="171004" y="219968"/>
                </a:cubicBezTo>
                <a:lnTo>
                  <a:pt x="196751" y="250031"/>
                </a:lnTo>
                <a:lnTo>
                  <a:pt x="171004" y="280095"/>
                </a:lnTo>
                <a:cubicBezTo>
                  <a:pt x="164604" y="287610"/>
                  <a:pt x="165422" y="298847"/>
                  <a:pt x="172938" y="305246"/>
                </a:cubicBezTo>
                <a:cubicBezTo>
                  <a:pt x="180454" y="311646"/>
                  <a:pt x="191691" y="310828"/>
                  <a:pt x="198090" y="303312"/>
                </a:cubicBezTo>
                <a:lnTo>
                  <a:pt x="233809" y="261640"/>
                </a:lnTo>
                <a:cubicBezTo>
                  <a:pt x="239539" y="254943"/>
                  <a:pt x="239539" y="245120"/>
                  <a:pt x="233809" y="238423"/>
                </a:cubicBezTo>
                <a:lnTo>
                  <a:pt x="198090" y="196751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7464425" y="3124200"/>
            <a:ext cx="1587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metadata.json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77125" y="3530600"/>
            <a:ext cx="1562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表级元数据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419655" y="30607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9204" y="165854"/>
                </a:moveTo>
                <a:cubicBezTo>
                  <a:pt x="306645" y="158413"/>
                  <a:pt x="306645" y="146328"/>
                  <a:pt x="299204" y="138886"/>
                </a:cubicBezTo>
                <a:lnTo>
                  <a:pt x="203954" y="43636"/>
                </a:lnTo>
                <a:cubicBezTo>
                  <a:pt x="196513" y="36195"/>
                  <a:pt x="184428" y="36195"/>
                  <a:pt x="176986" y="43636"/>
                </a:cubicBezTo>
                <a:cubicBezTo>
                  <a:pt x="169545" y="51078"/>
                  <a:pt x="169545" y="63163"/>
                  <a:pt x="176986" y="70604"/>
                </a:cubicBezTo>
                <a:lnTo>
                  <a:pt x="239732" y="133350"/>
                </a:ln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239732" y="171450"/>
                </a:lnTo>
                <a:lnTo>
                  <a:pt x="176986" y="234196"/>
                </a:lnTo>
                <a:cubicBezTo>
                  <a:pt x="169545" y="241637"/>
                  <a:pt x="169545" y="253722"/>
                  <a:pt x="176986" y="261164"/>
                </a:cubicBezTo>
                <a:cubicBezTo>
                  <a:pt x="184428" y="268605"/>
                  <a:pt x="196513" y="268605"/>
                  <a:pt x="203954" y="261164"/>
                </a:cubicBezTo>
                <a:lnTo>
                  <a:pt x="299204" y="165914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11830943" y="2425700"/>
            <a:ext cx="1968500" cy="1574800"/>
          </a:xfrm>
          <a:custGeom>
            <a:avLst/>
            <a:gdLst/>
            <a:ahLst/>
            <a:cxnLst/>
            <a:rect l="l" t="t" r="r" b="b"/>
            <a:pathLst>
              <a:path w="1968500" h="1574800">
                <a:moveTo>
                  <a:pt x="0" y="0"/>
                </a:moveTo>
                <a:lnTo>
                  <a:pt x="1968500" y="0"/>
                </a:lnTo>
                <a:lnTo>
                  <a:pt x="1968500" y="1574800"/>
                </a:lnTo>
                <a:lnTo>
                  <a:pt x="0" y="1574800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60000"/>
            </a:srgbClr>
          </a:solidFill>
          <a:ln w="25400">
            <a:solidFill>
              <a:srgbClr val="D4A2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12630547" y="2641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29766" y="35719"/>
                </a:moveTo>
                <a:cubicBezTo>
                  <a:pt x="19869" y="35719"/>
                  <a:pt x="11906" y="43681"/>
                  <a:pt x="11906" y="53578"/>
                </a:cubicBezTo>
                <a:lnTo>
                  <a:pt x="11906" y="89297"/>
                </a:lnTo>
                <a:cubicBezTo>
                  <a:pt x="11906" y="99194"/>
                  <a:pt x="19869" y="107156"/>
                  <a:pt x="29766" y="107156"/>
                </a:cubicBezTo>
                <a:lnTo>
                  <a:pt x="65484" y="107156"/>
                </a:lnTo>
                <a:cubicBezTo>
                  <a:pt x="75381" y="107156"/>
                  <a:pt x="83344" y="99194"/>
                  <a:pt x="83344" y="89297"/>
                </a:cubicBezTo>
                <a:lnTo>
                  <a:pt x="83344" y="53578"/>
                </a:lnTo>
                <a:cubicBezTo>
                  <a:pt x="83344" y="43681"/>
                  <a:pt x="75381" y="35719"/>
                  <a:pt x="65484" y="35719"/>
                </a:cubicBezTo>
                <a:lnTo>
                  <a:pt x="29766" y="35719"/>
                </a:lnTo>
                <a:close/>
                <a:moveTo>
                  <a:pt x="142875" y="47625"/>
                </a:moveTo>
                <a:cubicBezTo>
                  <a:pt x="129704" y="47625"/>
                  <a:pt x="119063" y="58266"/>
                  <a:pt x="119063" y="71438"/>
                </a:cubicBezTo>
                <a:cubicBezTo>
                  <a:pt x="119063" y="84609"/>
                  <a:pt x="129704" y="95250"/>
                  <a:pt x="142875" y="95250"/>
                </a:cubicBezTo>
                <a:lnTo>
                  <a:pt x="357188" y="95250"/>
                </a:lnTo>
                <a:cubicBezTo>
                  <a:pt x="370359" y="95250"/>
                  <a:pt x="381000" y="84609"/>
                  <a:pt x="381000" y="71438"/>
                </a:cubicBezTo>
                <a:cubicBezTo>
                  <a:pt x="381000" y="58266"/>
                  <a:pt x="370359" y="47625"/>
                  <a:pt x="357188" y="47625"/>
                </a:cubicBezTo>
                <a:lnTo>
                  <a:pt x="142875" y="47625"/>
                </a:lnTo>
                <a:close/>
                <a:moveTo>
                  <a:pt x="142875" y="166688"/>
                </a:moveTo>
                <a:cubicBezTo>
                  <a:pt x="129704" y="166688"/>
                  <a:pt x="119063" y="177329"/>
                  <a:pt x="119063" y="190500"/>
                </a:cubicBezTo>
                <a:cubicBezTo>
                  <a:pt x="119063" y="203671"/>
                  <a:pt x="129704" y="214313"/>
                  <a:pt x="142875" y="214313"/>
                </a:cubicBezTo>
                <a:lnTo>
                  <a:pt x="357188" y="214313"/>
                </a:lnTo>
                <a:cubicBezTo>
                  <a:pt x="370359" y="214313"/>
                  <a:pt x="381000" y="203671"/>
                  <a:pt x="381000" y="190500"/>
                </a:cubicBezTo>
                <a:cubicBezTo>
                  <a:pt x="381000" y="177329"/>
                  <a:pt x="370359" y="166688"/>
                  <a:pt x="357188" y="166688"/>
                </a:cubicBezTo>
                <a:lnTo>
                  <a:pt x="142875" y="166688"/>
                </a:lnTo>
                <a:close/>
                <a:moveTo>
                  <a:pt x="142875" y="285750"/>
                </a:moveTo>
                <a:cubicBezTo>
                  <a:pt x="129704" y="285750"/>
                  <a:pt x="119063" y="296391"/>
                  <a:pt x="119063" y="309563"/>
                </a:cubicBezTo>
                <a:cubicBezTo>
                  <a:pt x="119063" y="322734"/>
                  <a:pt x="129704" y="333375"/>
                  <a:pt x="142875" y="333375"/>
                </a:cubicBezTo>
                <a:lnTo>
                  <a:pt x="357188" y="333375"/>
                </a:lnTo>
                <a:cubicBezTo>
                  <a:pt x="370359" y="333375"/>
                  <a:pt x="381000" y="322734"/>
                  <a:pt x="381000" y="309563"/>
                </a:cubicBezTo>
                <a:cubicBezTo>
                  <a:pt x="381000" y="296391"/>
                  <a:pt x="370359" y="285750"/>
                  <a:pt x="357188" y="285750"/>
                </a:cubicBezTo>
                <a:lnTo>
                  <a:pt x="142875" y="285750"/>
                </a:lnTo>
                <a:close/>
                <a:moveTo>
                  <a:pt x="11906" y="172641"/>
                </a:moveTo>
                <a:lnTo>
                  <a:pt x="11906" y="208359"/>
                </a:lnTo>
                <a:cubicBezTo>
                  <a:pt x="11906" y="218256"/>
                  <a:pt x="19869" y="226219"/>
                  <a:pt x="29766" y="226219"/>
                </a:cubicBezTo>
                <a:lnTo>
                  <a:pt x="65484" y="226219"/>
                </a:lnTo>
                <a:cubicBezTo>
                  <a:pt x="75381" y="226219"/>
                  <a:pt x="83344" y="218256"/>
                  <a:pt x="83344" y="208359"/>
                </a:cubicBezTo>
                <a:lnTo>
                  <a:pt x="83344" y="172641"/>
                </a:lnTo>
                <a:cubicBezTo>
                  <a:pt x="83344" y="162744"/>
                  <a:pt x="75381" y="154781"/>
                  <a:pt x="65484" y="154781"/>
                </a:cubicBezTo>
                <a:lnTo>
                  <a:pt x="29766" y="154781"/>
                </a:lnTo>
                <a:cubicBezTo>
                  <a:pt x="19869" y="154781"/>
                  <a:pt x="11906" y="162744"/>
                  <a:pt x="11906" y="172641"/>
                </a:cubicBezTo>
                <a:close/>
                <a:moveTo>
                  <a:pt x="29766" y="273844"/>
                </a:moveTo>
                <a:cubicBezTo>
                  <a:pt x="19869" y="273844"/>
                  <a:pt x="11906" y="281806"/>
                  <a:pt x="11906" y="291703"/>
                </a:cubicBezTo>
                <a:lnTo>
                  <a:pt x="11906" y="327422"/>
                </a:lnTo>
                <a:cubicBezTo>
                  <a:pt x="11906" y="337319"/>
                  <a:pt x="19869" y="345281"/>
                  <a:pt x="29766" y="345281"/>
                </a:cubicBezTo>
                <a:lnTo>
                  <a:pt x="65484" y="345281"/>
                </a:lnTo>
                <a:cubicBezTo>
                  <a:pt x="75381" y="345281"/>
                  <a:pt x="83344" y="337319"/>
                  <a:pt x="83344" y="327422"/>
                </a:cubicBezTo>
                <a:lnTo>
                  <a:pt x="83344" y="291703"/>
                </a:lnTo>
                <a:cubicBezTo>
                  <a:pt x="83344" y="281806"/>
                  <a:pt x="75381" y="273844"/>
                  <a:pt x="65484" y="273844"/>
                </a:cubicBezTo>
                <a:lnTo>
                  <a:pt x="29766" y="273844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2091293" y="3124200"/>
            <a:ext cx="1447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Manifest List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103993" y="3530600"/>
            <a:ext cx="1422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快照清单列表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451100" y="5143500"/>
            <a:ext cx="1968500" cy="1574800"/>
          </a:xfrm>
          <a:custGeom>
            <a:avLst/>
            <a:gdLst/>
            <a:ahLst/>
            <a:cxnLst/>
            <a:rect l="l" t="t" r="r" b="b"/>
            <a:pathLst>
              <a:path w="1968500" h="1574800">
                <a:moveTo>
                  <a:pt x="0" y="0"/>
                </a:moveTo>
                <a:lnTo>
                  <a:pt x="1968500" y="0"/>
                </a:lnTo>
                <a:lnTo>
                  <a:pt x="1968500" y="1574800"/>
                </a:lnTo>
                <a:lnTo>
                  <a:pt x="0" y="1574800"/>
                </a:lnTo>
                <a:lnTo>
                  <a:pt x="0" y="0"/>
                </a:lnTo>
                <a:close/>
              </a:path>
            </a:pathLst>
          </a:custGeom>
          <a:solidFill>
            <a:srgbClr val="495057">
              <a:alpha val="50196"/>
            </a:srgbClr>
          </a:solidFill>
          <a:ln w="25400">
            <a:solidFill>
              <a:srgbClr val="D4A2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3297535" y="53594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0" y="47625"/>
                </a:moveTo>
                <a:cubicBezTo>
                  <a:pt x="0" y="21357"/>
                  <a:pt x="21357" y="0"/>
                  <a:pt x="47625" y="0"/>
                </a:cubicBezTo>
                <a:lnTo>
                  <a:pt x="158874" y="0"/>
                </a:lnTo>
                <a:cubicBezTo>
                  <a:pt x="171524" y="0"/>
                  <a:pt x="183654" y="4986"/>
                  <a:pt x="192584" y="13915"/>
                </a:cubicBezTo>
                <a:lnTo>
                  <a:pt x="271835" y="93241"/>
                </a:lnTo>
                <a:cubicBezTo>
                  <a:pt x="280764" y="102171"/>
                  <a:pt x="285750" y="114300"/>
                  <a:pt x="285750" y="126950"/>
                </a:cubicBezTo>
                <a:lnTo>
                  <a:pt x="285750" y="333375"/>
                </a:lnTo>
                <a:cubicBezTo>
                  <a:pt x="285750" y="359643"/>
                  <a:pt x="264393" y="381000"/>
                  <a:pt x="238125" y="381000"/>
                </a:cubicBezTo>
                <a:lnTo>
                  <a:pt x="47625" y="381000"/>
                </a:lnTo>
                <a:cubicBezTo>
                  <a:pt x="21357" y="381000"/>
                  <a:pt x="0" y="359643"/>
                  <a:pt x="0" y="333375"/>
                </a:cubicBezTo>
                <a:lnTo>
                  <a:pt x="0" y="47625"/>
                </a:lnTo>
                <a:close/>
                <a:moveTo>
                  <a:pt x="154781" y="43532"/>
                </a:moveTo>
                <a:lnTo>
                  <a:pt x="154781" y="113109"/>
                </a:lnTo>
                <a:cubicBezTo>
                  <a:pt x="154781" y="123006"/>
                  <a:pt x="162744" y="130969"/>
                  <a:pt x="172641" y="130969"/>
                </a:cubicBezTo>
                <a:lnTo>
                  <a:pt x="242218" y="130969"/>
                </a:lnTo>
                <a:lnTo>
                  <a:pt x="154781" y="43532"/>
                </a:lnTo>
                <a:close/>
                <a:moveTo>
                  <a:pt x="89297" y="190500"/>
                </a:moveTo>
                <a:cubicBezTo>
                  <a:pt x="79400" y="190500"/>
                  <a:pt x="71438" y="198462"/>
                  <a:pt x="71438" y="208359"/>
                </a:cubicBezTo>
                <a:cubicBezTo>
                  <a:pt x="71438" y="218256"/>
                  <a:pt x="79400" y="226219"/>
                  <a:pt x="89297" y="226219"/>
                </a:cubicBezTo>
                <a:lnTo>
                  <a:pt x="196453" y="226219"/>
                </a:lnTo>
                <a:cubicBezTo>
                  <a:pt x="206350" y="226219"/>
                  <a:pt x="214313" y="218256"/>
                  <a:pt x="214313" y="208359"/>
                </a:cubicBezTo>
                <a:cubicBezTo>
                  <a:pt x="214313" y="198462"/>
                  <a:pt x="206350" y="190500"/>
                  <a:pt x="196453" y="190500"/>
                </a:cubicBezTo>
                <a:lnTo>
                  <a:pt x="89297" y="190500"/>
                </a:lnTo>
                <a:close/>
                <a:moveTo>
                  <a:pt x="89297" y="261938"/>
                </a:moveTo>
                <a:cubicBezTo>
                  <a:pt x="79400" y="261938"/>
                  <a:pt x="71438" y="269900"/>
                  <a:pt x="71438" y="279797"/>
                </a:cubicBezTo>
                <a:cubicBezTo>
                  <a:pt x="71438" y="289694"/>
                  <a:pt x="79400" y="297656"/>
                  <a:pt x="89297" y="297656"/>
                </a:cubicBezTo>
                <a:lnTo>
                  <a:pt x="196453" y="297656"/>
                </a:lnTo>
                <a:cubicBezTo>
                  <a:pt x="206350" y="297656"/>
                  <a:pt x="214313" y="289694"/>
                  <a:pt x="214313" y="279797"/>
                </a:cubicBezTo>
                <a:cubicBezTo>
                  <a:pt x="214313" y="269900"/>
                  <a:pt x="206350" y="261938"/>
                  <a:pt x="196453" y="261938"/>
                </a:cubicBezTo>
                <a:lnTo>
                  <a:pt x="89297" y="261938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2711450" y="5842000"/>
            <a:ext cx="1447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Manifest File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724150" y="6248400"/>
            <a:ext cx="1422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数据清单文件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946430" y="5778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9204" y="165854"/>
                </a:moveTo>
                <a:cubicBezTo>
                  <a:pt x="306645" y="158413"/>
                  <a:pt x="306645" y="146328"/>
                  <a:pt x="299204" y="138886"/>
                </a:cubicBezTo>
                <a:lnTo>
                  <a:pt x="203954" y="43636"/>
                </a:lnTo>
                <a:cubicBezTo>
                  <a:pt x="196513" y="36195"/>
                  <a:pt x="184428" y="36195"/>
                  <a:pt x="176986" y="43636"/>
                </a:cubicBezTo>
                <a:cubicBezTo>
                  <a:pt x="169545" y="51078"/>
                  <a:pt x="169545" y="63163"/>
                  <a:pt x="176986" y="70604"/>
                </a:cubicBezTo>
                <a:lnTo>
                  <a:pt x="239732" y="133350"/>
                </a:ln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239732" y="171450"/>
                </a:lnTo>
                <a:lnTo>
                  <a:pt x="176986" y="234196"/>
                </a:lnTo>
                <a:cubicBezTo>
                  <a:pt x="169545" y="241637"/>
                  <a:pt x="169545" y="253722"/>
                  <a:pt x="176986" y="261164"/>
                </a:cubicBezTo>
                <a:cubicBezTo>
                  <a:pt x="184428" y="268605"/>
                  <a:pt x="196513" y="268605"/>
                  <a:pt x="203954" y="261164"/>
                </a:cubicBezTo>
                <a:lnTo>
                  <a:pt x="299204" y="165914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11774190" y="5143500"/>
            <a:ext cx="2032000" cy="1574800"/>
          </a:xfrm>
          <a:custGeom>
            <a:avLst/>
            <a:gdLst/>
            <a:ahLst/>
            <a:cxnLst/>
            <a:rect l="l" t="t" r="r" b="b"/>
            <a:pathLst>
              <a:path w="2032000" h="1574800">
                <a:moveTo>
                  <a:pt x="0" y="0"/>
                </a:moveTo>
                <a:lnTo>
                  <a:pt x="2032000" y="0"/>
                </a:lnTo>
                <a:lnTo>
                  <a:pt x="2032000" y="1574800"/>
                </a:lnTo>
                <a:lnTo>
                  <a:pt x="0" y="1574800"/>
                </a:lnTo>
                <a:lnTo>
                  <a:pt x="0" y="0"/>
                </a:lnTo>
                <a:close/>
              </a:path>
            </a:pathLst>
          </a:custGeom>
          <a:solidFill>
            <a:srgbClr val="495057">
              <a:alpha val="50196"/>
            </a:srgbClr>
          </a:solidFill>
          <a:ln w="25400">
            <a:solidFill>
              <a:srgbClr val="D4A2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12578358" y="53594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71438" y="0"/>
                </a:moveTo>
                <a:cubicBezTo>
                  <a:pt x="45169" y="0"/>
                  <a:pt x="23812" y="21357"/>
                  <a:pt x="23812" y="47625"/>
                </a:cubicBezTo>
                <a:lnTo>
                  <a:pt x="23812" y="333375"/>
                </a:lnTo>
                <a:cubicBezTo>
                  <a:pt x="23812" y="359643"/>
                  <a:pt x="45169" y="381000"/>
                  <a:pt x="71438" y="381000"/>
                </a:cubicBezTo>
                <a:lnTo>
                  <a:pt x="130969" y="381000"/>
                </a:lnTo>
                <a:lnTo>
                  <a:pt x="130969" y="297656"/>
                </a:lnTo>
                <a:cubicBezTo>
                  <a:pt x="130969" y="271388"/>
                  <a:pt x="152326" y="250031"/>
                  <a:pt x="178594" y="250031"/>
                </a:cubicBezTo>
                <a:lnTo>
                  <a:pt x="309563" y="250031"/>
                </a:lnTo>
                <a:lnTo>
                  <a:pt x="309563" y="126876"/>
                </a:lnTo>
                <a:cubicBezTo>
                  <a:pt x="309563" y="114226"/>
                  <a:pt x="304577" y="102096"/>
                  <a:pt x="295647" y="93166"/>
                </a:cubicBezTo>
                <a:lnTo>
                  <a:pt x="216322" y="13915"/>
                </a:lnTo>
                <a:cubicBezTo>
                  <a:pt x="207392" y="4986"/>
                  <a:pt x="195337" y="0"/>
                  <a:pt x="182687" y="0"/>
                </a:cubicBezTo>
                <a:lnTo>
                  <a:pt x="71438" y="0"/>
                </a:lnTo>
                <a:close/>
                <a:moveTo>
                  <a:pt x="266030" y="130969"/>
                </a:moveTo>
                <a:lnTo>
                  <a:pt x="196453" y="130969"/>
                </a:lnTo>
                <a:cubicBezTo>
                  <a:pt x="186556" y="130969"/>
                  <a:pt x="178594" y="123006"/>
                  <a:pt x="178594" y="113109"/>
                </a:cubicBezTo>
                <a:lnTo>
                  <a:pt x="178594" y="43532"/>
                </a:lnTo>
                <a:lnTo>
                  <a:pt x="266030" y="130969"/>
                </a:lnTo>
                <a:close/>
                <a:moveTo>
                  <a:pt x="196453" y="282773"/>
                </a:moveTo>
                <a:cubicBezTo>
                  <a:pt x="178371" y="282773"/>
                  <a:pt x="163711" y="297433"/>
                  <a:pt x="163711" y="315516"/>
                </a:cubicBezTo>
                <a:lnTo>
                  <a:pt x="163711" y="375047"/>
                </a:lnTo>
                <a:cubicBezTo>
                  <a:pt x="163711" y="393129"/>
                  <a:pt x="178371" y="407789"/>
                  <a:pt x="196453" y="407789"/>
                </a:cubicBezTo>
                <a:lnTo>
                  <a:pt x="208359" y="407789"/>
                </a:lnTo>
                <a:cubicBezTo>
                  <a:pt x="226442" y="407789"/>
                  <a:pt x="241102" y="393129"/>
                  <a:pt x="241102" y="375047"/>
                </a:cubicBezTo>
                <a:lnTo>
                  <a:pt x="241102" y="369094"/>
                </a:lnTo>
                <a:cubicBezTo>
                  <a:pt x="241102" y="360908"/>
                  <a:pt x="234404" y="354211"/>
                  <a:pt x="226219" y="354211"/>
                </a:cubicBezTo>
                <a:cubicBezTo>
                  <a:pt x="218033" y="354211"/>
                  <a:pt x="211336" y="360908"/>
                  <a:pt x="211336" y="369094"/>
                </a:cubicBezTo>
                <a:lnTo>
                  <a:pt x="211336" y="375047"/>
                </a:lnTo>
                <a:cubicBezTo>
                  <a:pt x="211336" y="376684"/>
                  <a:pt x="209996" y="378023"/>
                  <a:pt x="208359" y="378023"/>
                </a:cubicBezTo>
                <a:lnTo>
                  <a:pt x="196453" y="378023"/>
                </a:lnTo>
                <a:cubicBezTo>
                  <a:pt x="194816" y="378023"/>
                  <a:pt x="193477" y="376684"/>
                  <a:pt x="193477" y="375047"/>
                </a:cubicBezTo>
                <a:lnTo>
                  <a:pt x="193477" y="315516"/>
                </a:lnTo>
                <a:cubicBezTo>
                  <a:pt x="193477" y="313879"/>
                  <a:pt x="194816" y="312539"/>
                  <a:pt x="196453" y="312539"/>
                </a:cubicBezTo>
                <a:lnTo>
                  <a:pt x="208359" y="312539"/>
                </a:lnTo>
                <a:cubicBezTo>
                  <a:pt x="209996" y="312539"/>
                  <a:pt x="211336" y="313879"/>
                  <a:pt x="211336" y="315516"/>
                </a:cubicBezTo>
                <a:lnTo>
                  <a:pt x="211336" y="321469"/>
                </a:lnTo>
                <a:cubicBezTo>
                  <a:pt x="211336" y="329654"/>
                  <a:pt x="218033" y="336352"/>
                  <a:pt x="226219" y="336352"/>
                </a:cubicBezTo>
                <a:cubicBezTo>
                  <a:pt x="234404" y="336352"/>
                  <a:pt x="241102" y="329654"/>
                  <a:pt x="241102" y="321469"/>
                </a:cubicBezTo>
                <a:lnTo>
                  <a:pt x="241102" y="315516"/>
                </a:lnTo>
                <a:cubicBezTo>
                  <a:pt x="241102" y="297433"/>
                  <a:pt x="226442" y="282773"/>
                  <a:pt x="208359" y="282773"/>
                </a:cubicBezTo>
                <a:lnTo>
                  <a:pt x="196453" y="282773"/>
                </a:lnTo>
                <a:close/>
                <a:moveTo>
                  <a:pt x="297656" y="282773"/>
                </a:moveTo>
                <a:cubicBezTo>
                  <a:pt x="276299" y="282773"/>
                  <a:pt x="258961" y="300112"/>
                  <a:pt x="258961" y="321469"/>
                </a:cubicBezTo>
                <a:cubicBezTo>
                  <a:pt x="258961" y="342826"/>
                  <a:pt x="276299" y="360164"/>
                  <a:pt x="297656" y="360164"/>
                </a:cubicBezTo>
                <a:cubicBezTo>
                  <a:pt x="302568" y="360164"/>
                  <a:pt x="306586" y="364182"/>
                  <a:pt x="306586" y="369094"/>
                </a:cubicBezTo>
                <a:cubicBezTo>
                  <a:pt x="306586" y="374005"/>
                  <a:pt x="302568" y="378023"/>
                  <a:pt x="297656" y="378023"/>
                </a:cubicBezTo>
                <a:lnTo>
                  <a:pt x="273844" y="378023"/>
                </a:lnTo>
                <a:cubicBezTo>
                  <a:pt x="265658" y="378023"/>
                  <a:pt x="258961" y="384721"/>
                  <a:pt x="258961" y="392906"/>
                </a:cubicBezTo>
                <a:cubicBezTo>
                  <a:pt x="258961" y="401092"/>
                  <a:pt x="265658" y="407789"/>
                  <a:pt x="273844" y="407789"/>
                </a:cubicBezTo>
                <a:lnTo>
                  <a:pt x="297656" y="407789"/>
                </a:lnTo>
                <a:cubicBezTo>
                  <a:pt x="319013" y="407789"/>
                  <a:pt x="336352" y="390451"/>
                  <a:pt x="336352" y="369094"/>
                </a:cubicBezTo>
                <a:cubicBezTo>
                  <a:pt x="336352" y="347737"/>
                  <a:pt x="319013" y="330398"/>
                  <a:pt x="297656" y="330398"/>
                </a:cubicBezTo>
                <a:cubicBezTo>
                  <a:pt x="292745" y="330398"/>
                  <a:pt x="288727" y="326380"/>
                  <a:pt x="288727" y="321469"/>
                </a:cubicBezTo>
                <a:cubicBezTo>
                  <a:pt x="288727" y="316557"/>
                  <a:pt x="292745" y="312539"/>
                  <a:pt x="297656" y="312539"/>
                </a:cubicBezTo>
                <a:lnTo>
                  <a:pt x="315516" y="312539"/>
                </a:lnTo>
                <a:cubicBezTo>
                  <a:pt x="323701" y="312539"/>
                  <a:pt x="330398" y="305842"/>
                  <a:pt x="330398" y="297656"/>
                </a:cubicBezTo>
                <a:cubicBezTo>
                  <a:pt x="330398" y="289471"/>
                  <a:pt x="323701" y="282773"/>
                  <a:pt x="315516" y="282773"/>
                </a:cubicBezTo>
                <a:lnTo>
                  <a:pt x="297656" y="282773"/>
                </a:lnTo>
                <a:close/>
                <a:moveTo>
                  <a:pt x="369094" y="282773"/>
                </a:moveTo>
                <a:cubicBezTo>
                  <a:pt x="360908" y="282773"/>
                  <a:pt x="354211" y="289471"/>
                  <a:pt x="354211" y="297656"/>
                </a:cubicBezTo>
                <a:lnTo>
                  <a:pt x="354211" y="321171"/>
                </a:lnTo>
                <a:cubicBezTo>
                  <a:pt x="354211" y="347588"/>
                  <a:pt x="362024" y="373484"/>
                  <a:pt x="376684" y="395436"/>
                </a:cubicBezTo>
                <a:lnTo>
                  <a:pt x="380479" y="401166"/>
                </a:lnTo>
                <a:cubicBezTo>
                  <a:pt x="383232" y="405333"/>
                  <a:pt x="387921" y="407789"/>
                  <a:pt x="392832" y="407789"/>
                </a:cubicBezTo>
                <a:cubicBezTo>
                  <a:pt x="397743" y="407789"/>
                  <a:pt x="402431" y="405333"/>
                  <a:pt x="405185" y="401166"/>
                </a:cubicBezTo>
                <a:lnTo>
                  <a:pt x="408980" y="395436"/>
                </a:lnTo>
                <a:cubicBezTo>
                  <a:pt x="423639" y="373410"/>
                  <a:pt x="431453" y="347588"/>
                  <a:pt x="431453" y="321171"/>
                </a:cubicBezTo>
                <a:lnTo>
                  <a:pt x="431453" y="297656"/>
                </a:lnTo>
                <a:cubicBezTo>
                  <a:pt x="431453" y="289471"/>
                  <a:pt x="424755" y="282773"/>
                  <a:pt x="416570" y="282773"/>
                </a:cubicBezTo>
                <a:cubicBezTo>
                  <a:pt x="408384" y="282773"/>
                  <a:pt x="401687" y="289471"/>
                  <a:pt x="401687" y="297656"/>
                </a:cubicBezTo>
                <a:lnTo>
                  <a:pt x="401687" y="321171"/>
                </a:lnTo>
                <a:cubicBezTo>
                  <a:pt x="401687" y="335756"/>
                  <a:pt x="398636" y="350118"/>
                  <a:pt x="392757" y="363364"/>
                </a:cubicBezTo>
                <a:cubicBezTo>
                  <a:pt x="386879" y="350118"/>
                  <a:pt x="383828" y="335756"/>
                  <a:pt x="383828" y="321171"/>
                </a:cubicBezTo>
                <a:lnTo>
                  <a:pt x="383828" y="297656"/>
                </a:lnTo>
                <a:cubicBezTo>
                  <a:pt x="383828" y="289471"/>
                  <a:pt x="377130" y="282773"/>
                  <a:pt x="368945" y="282773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12034540" y="5842000"/>
            <a:ext cx="1511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Parquet/ORC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047240" y="6248400"/>
            <a:ext cx="1485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实际数据文件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14350" y="7448550"/>
            <a:ext cx="4927600" cy="1079500"/>
          </a:xfrm>
          <a:custGeom>
            <a:avLst/>
            <a:gdLst/>
            <a:ahLst/>
            <a:cxnLst/>
            <a:rect l="l" t="t" r="r" b="b"/>
            <a:pathLst>
              <a:path w="4927600" h="1079500">
                <a:moveTo>
                  <a:pt x="0" y="0"/>
                </a:moveTo>
                <a:lnTo>
                  <a:pt x="4927600" y="0"/>
                </a:lnTo>
                <a:lnTo>
                  <a:pt x="4927600" y="1079500"/>
                </a:lnTo>
                <a:lnTo>
                  <a:pt x="0" y="1079500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30196"/>
            </a:srgbClr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673100" y="76073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0"/>
                </a:moveTo>
                <a:lnTo>
                  <a:pt x="355600" y="0"/>
                </a:lnTo>
                <a:cubicBezTo>
                  <a:pt x="383637" y="0"/>
                  <a:pt x="406400" y="22763"/>
                  <a:pt x="406400" y="50800"/>
                </a:cubicBezTo>
                <a:lnTo>
                  <a:pt x="406400" y="355600"/>
                </a:lnTo>
                <a:cubicBezTo>
                  <a:pt x="406400" y="383637"/>
                  <a:pt x="383637" y="406400"/>
                  <a:pt x="3556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28650" y="7607300"/>
            <a:ext cx="495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81100" y="7658100"/>
            <a:ext cx="137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Metadata File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73100" y="8115300"/>
            <a:ext cx="469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表的"大脑"，存储全局信息和快照历史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662017" y="7448550"/>
            <a:ext cx="4927600" cy="1079500"/>
          </a:xfrm>
          <a:custGeom>
            <a:avLst/>
            <a:gdLst/>
            <a:ahLst/>
            <a:cxnLst/>
            <a:rect l="l" t="t" r="r" b="b"/>
            <a:pathLst>
              <a:path w="4927600" h="1079500">
                <a:moveTo>
                  <a:pt x="0" y="0"/>
                </a:moveTo>
                <a:lnTo>
                  <a:pt x="4927600" y="0"/>
                </a:lnTo>
                <a:lnTo>
                  <a:pt x="4927600" y="1079500"/>
                </a:lnTo>
                <a:lnTo>
                  <a:pt x="0" y="1079500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30196"/>
            </a:srgbClr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5820767" y="76073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0"/>
                </a:moveTo>
                <a:lnTo>
                  <a:pt x="355600" y="0"/>
                </a:lnTo>
                <a:cubicBezTo>
                  <a:pt x="383637" y="0"/>
                  <a:pt x="406400" y="22763"/>
                  <a:pt x="406400" y="50800"/>
                </a:cubicBezTo>
                <a:lnTo>
                  <a:pt x="406400" y="355600"/>
                </a:lnTo>
                <a:cubicBezTo>
                  <a:pt x="406400" y="383637"/>
                  <a:pt x="383637" y="406400"/>
                  <a:pt x="3556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5776317" y="7607300"/>
            <a:ext cx="495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28767" y="7658100"/>
            <a:ext cx="1295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Manifest List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820767" y="8115300"/>
            <a:ext cx="469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快照的"目录"，包含分区范围统计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0809784" y="7448550"/>
            <a:ext cx="4927600" cy="1079500"/>
          </a:xfrm>
          <a:custGeom>
            <a:avLst/>
            <a:gdLst/>
            <a:ahLst/>
            <a:cxnLst/>
            <a:rect l="l" t="t" r="r" b="b"/>
            <a:pathLst>
              <a:path w="4927600" h="1079500">
                <a:moveTo>
                  <a:pt x="0" y="0"/>
                </a:moveTo>
                <a:lnTo>
                  <a:pt x="4927600" y="0"/>
                </a:lnTo>
                <a:lnTo>
                  <a:pt x="4927600" y="1079500"/>
                </a:lnTo>
                <a:lnTo>
                  <a:pt x="0" y="1079500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30196"/>
            </a:srgbClr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10968534" y="76073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0"/>
                </a:moveTo>
                <a:lnTo>
                  <a:pt x="355600" y="0"/>
                </a:lnTo>
                <a:cubicBezTo>
                  <a:pt x="383637" y="0"/>
                  <a:pt x="406400" y="22763"/>
                  <a:pt x="406400" y="50800"/>
                </a:cubicBezTo>
                <a:lnTo>
                  <a:pt x="406400" y="355600"/>
                </a:lnTo>
                <a:cubicBezTo>
                  <a:pt x="406400" y="383637"/>
                  <a:pt x="383637" y="406400"/>
                  <a:pt x="3556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10924084" y="7607300"/>
            <a:ext cx="495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1476534" y="7658100"/>
            <a:ext cx="1295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Manifest File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0968534" y="8115300"/>
            <a:ext cx="469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文件清单，包含列级统计信息</a:t>
            </a:r>
            <a:endParaRPr lang="en-US" sz="1600" dirty="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21D66BA2-F0CB-161E-3250-34E8C83EC69B}"/>
              </a:ext>
            </a:extLst>
          </p:cNvPr>
          <p:cNvSpPr/>
          <p:nvPr/>
        </p:nvSpPr>
        <p:spPr>
          <a:xfrm>
            <a:off x="12513518" y="3506079"/>
            <a:ext cx="603349" cy="5198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1DF50B3A-2013-2032-A2F2-4E3BEE526B01}"/>
              </a:ext>
            </a:extLst>
          </p:cNvPr>
          <p:cNvSpPr/>
          <p:nvPr/>
        </p:nvSpPr>
        <p:spPr>
          <a:xfrm>
            <a:off x="3133675" y="5108427"/>
            <a:ext cx="603349" cy="5198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9" name="肘形连接符 48">
            <a:extLst>
              <a:ext uri="{FF2B5EF4-FFF2-40B4-BE49-F238E27FC236}">
                <a16:creationId xmlns:a16="http://schemas.microsoft.com/office/drawing/2014/main" id="{B6B08672-C17B-9AA0-0912-16D6D784D406}"/>
              </a:ext>
            </a:extLst>
          </p:cNvPr>
          <p:cNvCxnSpPr>
            <a:stCxn id="46" idx="2"/>
            <a:endCxn id="47" idx="0"/>
          </p:cNvCxnSpPr>
          <p:nvPr/>
        </p:nvCxnSpPr>
        <p:spPr>
          <a:xfrm rot="5400000">
            <a:off x="7584009" y="-122758"/>
            <a:ext cx="1082527" cy="9379843"/>
          </a:xfrm>
          <a:prstGeom prst="bentConnector3">
            <a:avLst/>
          </a:prstGeom>
          <a:ln>
            <a:headEnd w="lg" len="med"/>
            <a:tailEnd type="arrow" w="lg" len="lg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3333" y="423333"/>
            <a:ext cx="15483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kern="0" spc="175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Layer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23333" y="719667"/>
            <a:ext cx="155998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第一层：Metadata File（表的大脑）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4500" y="1312333"/>
            <a:ext cx="7577667" cy="3365500"/>
          </a:xfrm>
          <a:custGeom>
            <a:avLst/>
            <a:gdLst/>
            <a:ahLst/>
            <a:cxnLst/>
            <a:rect l="l" t="t" r="r" b="b"/>
            <a:pathLst>
              <a:path w="7577667" h="3365500">
                <a:moveTo>
                  <a:pt x="0" y="0"/>
                </a:moveTo>
                <a:lnTo>
                  <a:pt x="7577667" y="0"/>
                </a:lnTo>
                <a:lnTo>
                  <a:pt x="7577667" y="3365500"/>
                </a:lnTo>
                <a:lnTo>
                  <a:pt x="0" y="3365500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44500" y="1312333"/>
            <a:ext cx="42333" cy="3365500"/>
          </a:xfrm>
          <a:custGeom>
            <a:avLst/>
            <a:gdLst/>
            <a:ahLst/>
            <a:cxnLst/>
            <a:rect l="l" t="t" r="r" b="b"/>
            <a:pathLst>
              <a:path w="42333" h="3365500">
                <a:moveTo>
                  <a:pt x="0" y="0"/>
                </a:moveTo>
                <a:lnTo>
                  <a:pt x="42333" y="0"/>
                </a:lnTo>
                <a:lnTo>
                  <a:pt x="42333" y="3365500"/>
                </a:lnTo>
                <a:lnTo>
                  <a:pt x="0" y="33655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77333" y="1524000"/>
            <a:ext cx="723900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metadata.json 文件内容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77333" y="1947333"/>
            <a:ext cx="7217833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这是表的</a:t>
            </a:r>
            <a:r>
              <a:rPr lang="en-US" sz="1333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"大脑"</a:t>
            </a:r>
            <a:r>
              <a:rPr lang="en-US" sz="1333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，存储了表的全局信息，包括：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15698" y="239183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95250" y="59531"/>
                </a:moveTo>
                <a:lnTo>
                  <a:pt x="95250" y="95250"/>
                </a:lnTo>
                <a:lnTo>
                  <a:pt x="142875" y="95250"/>
                </a:lnTo>
                <a:lnTo>
                  <a:pt x="142875" y="59531"/>
                </a:lnTo>
                <a:lnTo>
                  <a:pt x="95250" y="59531"/>
                </a:lnTo>
                <a:close/>
                <a:moveTo>
                  <a:pt x="71438" y="59531"/>
                </a:moveTo>
                <a:lnTo>
                  <a:pt x="23812" y="59531"/>
                </a:lnTo>
                <a:lnTo>
                  <a:pt x="23812" y="95250"/>
                </a:lnTo>
                <a:lnTo>
                  <a:pt x="71438" y="95250"/>
                </a:lnTo>
                <a:lnTo>
                  <a:pt x="71438" y="59531"/>
                </a:lnTo>
                <a:close/>
                <a:moveTo>
                  <a:pt x="0" y="119063"/>
                </a:moveTo>
                <a:lnTo>
                  <a:pt x="0" y="35719"/>
                </a:lnTo>
                <a:cubicBezTo>
                  <a:pt x="0" y="22585"/>
                  <a:pt x="10678" y="11906"/>
                  <a:pt x="23812" y="11906"/>
                </a:cubicBezTo>
                <a:lnTo>
                  <a:pt x="142875" y="11906"/>
                </a:lnTo>
                <a:cubicBezTo>
                  <a:pt x="156009" y="11906"/>
                  <a:pt x="166688" y="22585"/>
                  <a:pt x="166688" y="35719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119063"/>
                </a:lnTo>
                <a:close/>
                <a:moveTo>
                  <a:pt x="142875" y="119063"/>
                </a:moveTo>
                <a:lnTo>
                  <a:pt x="95250" y="119063"/>
                </a:lnTo>
                <a:lnTo>
                  <a:pt x="95250" y="154781"/>
                </a:lnTo>
                <a:lnTo>
                  <a:pt x="142875" y="154781"/>
                </a:lnTo>
                <a:lnTo>
                  <a:pt x="142875" y="119063"/>
                </a:lnTo>
                <a:close/>
                <a:moveTo>
                  <a:pt x="71438" y="154781"/>
                </a:moveTo>
                <a:lnTo>
                  <a:pt x="71438" y="119063"/>
                </a:lnTo>
                <a:lnTo>
                  <a:pt x="23812" y="119063"/>
                </a:lnTo>
                <a:lnTo>
                  <a:pt x="23812" y="154781"/>
                </a:lnTo>
                <a:lnTo>
                  <a:pt x="71438" y="154781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042458" y="2349500"/>
            <a:ext cx="1947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Table Schema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42458" y="2603500"/>
            <a:ext cx="1936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列定义、数据类型、列 ID 等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03792" y="294216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042458" y="2899833"/>
            <a:ext cx="1566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Partition Spec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42458" y="3153833"/>
            <a:ext cx="1555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分区策略和分区列定义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91885" y="34925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7156" y="23812"/>
                </a:moveTo>
                <a:cubicBezTo>
                  <a:pt x="146596" y="23812"/>
                  <a:pt x="178594" y="55811"/>
                  <a:pt x="178594" y="95250"/>
                </a:cubicBezTo>
                <a:cubicBezTo>
                  <a:pt x="178594" y="134689"/>
                  <a:pt x="146596" y="166688"/>
                  <a:pt x="107156" y="166688"/>
                </a:cubicBezTo>
                <a:cubicBezTo>
                  <a:pt x="82897" y="166688"/>
                  <a:pt x="61429" y="154595"/>
                  <a:pt x="48518" y="136066"/>
                </a:cubicBezTo>
                <a:cubicBezTo>
                  <a:pt x="44760" y="130671"/>
                  <a:pt x="37319" y="129369"/>
                  <a:pt x="31924" y="133127"/>
                </a:cubicBezTo>
                <a:cubicBezTo>
                  <a:pt x="26529" y="136885"/>
                  <a:pt x="25226" y="144326"/>
                  <a:pt x="28984" y="149721"/>
                </a:cubicBezTo>
                <a:cubicBezTo>
                  <a:pt x="46174" y="174352"/>
                  <a:pt x="74786" y="190500"/>
                  <a:pt x="107156" y="190500"/>
                </a:cubicBezTo>
                <a:cubicBezTo>
                  <a:pt x="159767" y="190500"/>
                  <a:pt x="202406" y="147861"/>
                  <a:pt x="202406" y="95250"/>
                </a:cubicBezTo>
                <a:cubicBezTo>
                  <a:pt x="202406" y="42639"/>
                  <a:pt x="159767" y="0"/>
                  <a:pt x="107156" y="0"/>
                </a:cubicBezTo>
                <a:cubicBezTo>
                  <a:pt x="75270" y="0"/>
                  <a:pt x="47067" y="15664"/>
                  <a:pt x="29766" y="39700"/>
                </a:cubicBezTo>
                <a:lnTo>
                  <a:pt x="29766" y="29766"/>
                </a:lnTo>
                <a:cubicBezTo>
                  <a:pt x="29766" y="23180"/>
                  <a:pt x="24445" y="17859"/>
                  <a:pt x="17859" y="17859"/>
                </a:cubicBezTo>
                <a:cubicBezTo>
                  <a:pt x="11274" y="17859"/>
                  <a:pt x="5953" y="23180"/>
                  <a:pt x="5953" y="29766"/>
                </a:cubicBezTo>
                <a:lnTo>
                  <a:pt x="5953" y="71438"/>
                </a:lnTo>
                <a:cubicBezTo>
                  <a:pt x="5953" y="78023"/>
                  <a:pt x="11274" y="83344"/>
                  <a:pt x="17859" y="83344"/>
                </a:cubicBezTo>
                <a:lnTo>
                  <a:pt x="27012" y="83344"/>
                </a:lnTo>
                <a:cubicBezTo>
                  <a:pt x="27198" y="83344"/>
                  <a:pt x="27384" y="83344"/>
                  <a:pt x="27570" y="83344"/>
                </a:cubicBezTo>
                <a:lnTo>
                  <a:pt x="59568" y="83344"/>
                </a:lnTo>
                <a:cubicBezTo>
                  <a:pt x="66154" y="83344"/>
                  <a:pt x="71475" y="78023"/>
                  <a:pt x="71475" y="71438"/>
                </a:cubicBezTo>
                <a:cubicBezTo>
                  <a:pt x="71475" y="64852"/>
                  <a:pt x="66154" y="59531"/>
                  <a:pt x="59568" y="59531"/>
                </a:cubicBezTo>
                <a:lnTo>
                  <a:pt x="45318" y="59531"/>
                </a:lnTo>
                <a:cubicBezTo>
                  <a:pt x="57634" y="38174"/>
                  <a:pt x="80739" y="23812"/>
                  <a:pt x="107156" y="23812"/>
                </a:cubicBezTo>
                <a:close/>
                <a:moveTo>
                  <a:pt x="116086" y="56555"/>
                </a:moveTo>
                <a:cubicBezTo>
                  <a:pt x="116086" y="51606"/>
                  <a:pt x="112105" y="47625"/>
                  <a:pt x="107156" y="47625"/>
                </a:cubicBezTo>
                <a:cubicBezTo>
                  <a:pt x="102208" y="47625"/>
                  <a:pt x="98227" y="51606"/>
                  <a:pt x="98227" y="56555"/>
                </a:cubicBezTo>
                <a:lnTo>
                  <a:pt x="98227" y="95250"/>
                </a:lnTo>
                <a:cubicBezTo>
                  <a:pt x="98227" y="97631"/>
                  <a:pt x="99157" y="99901"/>
                  <a:pt x="100831" y="101575"/>
                </a:cubicBezTo>
                <a:lnTo>
                  <a:pt x="127620" y="128364"/>
                </a:lnTo>
                <a:cubicBezTo>
                  <a:pt x="131118" y="131862"/>
                  <a:pt x="136773" y="131862"/>
                  <a:pt x="140233" y="128364"/>
                </a:cubicBezTo>
                <a:cubicBezTo>
                  <a:pt x="143694" y="124867"/>
                  <a:pt x="143731" y="119211"/>
                  <a:pt x="140233" y="115751"/>
                </a:cubicBezTo>
                <a:lnTo>
                  <a:pt x="116049" y="91567"/>
                </a:lnTo>
                <a:lnTo>
                  <a:pt x="116049" y="56555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042458" y="3450167"/>
            <a:ext cx="2582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Snapshots 列表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42458" y="3704167"/>
            <a:ext cx="2571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记录表的所有历史快照（v1, v2, v3...）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03792" y="404283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4519" y="85018"/>
                </a:moveTo>
                <a:cubicBezTo>
                  <a:pt x="29468" y="50416"/>
                  <a:pt x="59271" y="23812"/>
                  <a:pt x="95250" y="23812"/>
                </a:cubicBezTo>
                <a:cubicBezTo>
                  <a:pt x="114970" y="23812"/>
                  <a:pt x="132829" y="31812"/>
                  <a:pt x="145777" y="44723"/>
                </a:cubicBezTo>
                <a:cubicBezTo>
                  <a:pt x="145852" y="44797"/>
                  <a:pt x="145926" y="44872"/>
                  <a:pt x="146000" y="44946"/>
                </a:cubicBezTo>
                <a:lnTo>
                  <a:pt x="148828" y="47625"/>
                </a:lnTo>
                <a:lnTo>
                  <a:pt x="131006" y="47625"/>
                </a:lnTo>
                <a:cubicBezTo>
                  <a:pt x="124420" y="47625"/>
                  <a:pt x="119100" y="52946"/>
                  <a:pt x="119100" y="59531"/>
                </a:cubicBezTo>
                <a:cubicBezTo>
                  <a:pt x="119100" y="66117"/>
                  <a:pt x="124420" y="71438"/>
                  <a:pt x="131006" y="71438"/>
                </a:cubicBezTo>
                <a:lnTo>
                  <a:pt x="178631" y="71438"/>
                </a:lnTo>
                <a:cubicBezTo>
                  <a:pt x="185217" y="71438"/>
                  <a:pt x="190537" y="66117"/>
                  <a:pt x="190537" y="59531"/>
                </a:cubicBezTo>
                <a:lnTo>
                  <a:pt x="190537" y="11906"/>
                </a:lnTo>
                <a:cubicBezTo>
                  <a:pt x="190537" y="5321"/>
                  <a:pt x="185217" y="0"/>
                  <a:pt x="178631" y="0"/>
                </a:cubicBezTo>
                <a:cubicBezTo>
                  <a:pt x="172045" y="0"/>
                  <a:pt x="166725" y="5321"/>
                  <a:pt x="166725" y="11906"/>
                </a:cubicBezTo>
                <a:lnTo>
                  <a:pt x="166725" y="31775"/>
                </a:lnTo>
                <a:lnTo>
                  <a:pt x="162520" y="27794"/>
                </a:lnTo>
                <a:cubicBezTo>
                  <a:pt x="145293" y="10641"/>
                  <a:pt x="121481" y="0"/>
                  <a:pt x="95250" y="0"/>
                </a:cubicBezTo>
                <a:cubicBezTo>
                  <a:pt x="47253" y="0"/>
                  <a:pt x="7553" y="35496"/>
                  <a:pt x="967" y="81669"/>
                </a:cubicBezTo>
                <a:cubicBezTo>
                  <a:pt x="37" y="88181"/>
                  <a:pt x="4539" y="94208"/>
                  <a:pt x="11050" y="95138"/>
                </a:cubicBezTo>
                <a:cubicBezTo>
                  <a:pt x="17562" y="96069"/>
                  <a:pt x="23589" y="91529"/>
                  <a:pt x="24519" y="85055"/>
                </a:cubicBezTo>
                <a:close/>
                <a:moveTo>
                  <a:pt x="189533" y="108831"/>
                </a:moveTo>
                <a:cubicBezTo>
                  <a:pt x="190463" y="102319"/>
                  <a:pt x="185924" y="96292"/>
                  <a:pt x="179450" y="95362"/>
                </a:cubicBezTo>
                <a:cubicBezTo>
                  <a:pt x="172975" y="94431"/>
                  <a:pt x="166911" y="98971"/>
                  <a:pt x="165981" y="105445"/>
                </a:cubicBezTo>
                <a:cubicBezTo>
                  <a:pt x="161032" y="140047"/>
                  <a:pt x="131229" y="166650"/>
                  <a:pt x="95250" y="166650"/>
                </a:cubicBezTo>
                <a:cubicBezTo>
                  <a:pt x="75530" y="166650"/>
                  <a:pt x="57671" y="158651"/>
                  <a:pt x="44723" y="145740"/>
                </a:cubicBezTo>
                <a:cubicBezTo>
                  <a:pt x="44648" y="145666"/>
                  <a:pt x="44574" y="145591"/>
                  <a:pt x="44500" y="145517"/>
                </a:cubicBezTo>
                <a:lnTo>
                  <a:pt x="41672" y="142838"/>
                </a:lnTo>
                <a:lnTo>
                  <a:pt x="59494" y="142838"/>
                </a:lnTo>
                <a:cubicBezTo>
                  <a:pt x="66080" y="142838"/>
                  <a:pt x="71400" y="137517"/>
                  <a:pt x="71400" y="130932"/>
                </a:cubicBezTo>
                <a:cubicBezTo>
                  <a:pt x="71400" y="124346"/>
                  <a:pt x="66080" y="119025"/>
                  <a:pt x="59494" y="119025"/>
                </a:cubicBezTo>
                <a:lnTo>
                  <a:pt x="11906" y="119063"/>
                </a:lnTo>
                <a:cubicBezTo>
                  <a:pt x="8744" y="119063"/>
                  <a:pt x="5693" y="120328"/>
                  <a:pt x="3460" y="122597"/>
                </a:cubicBezTo>
                <a:cubicBezTo>
                  <a:pt x="1228" y="124867"/>
                  <a:pt x="-37" y="127881"/>
                  <a:pt x="0" y="131080"/>
                </a:cubicBezTo>
                <a:lnTo>
                  <a:pt x="372" y="178333"/>
                </a:lnTo>
                <a:cubicBezTo>
                  <a:pt x="409" y="184919"/>
                  <a:pt x="5804" y="190202"/>
                  <a:pt x="12390" y="190128"/>
                </a:cubicBezTo>
                <a:cubicBezTo>
                  <a:pt x="18976" y="190054"/>
                  <a:pt x="24259" y="184696"/>
                  <a:pt x="24185" y="178110"/>
                </a:cubicBezTo>
                <a:lnTo>
                  <a:pt x="24036" y="158948"/>
                </a:lnTo>
                <a:lnTo>
                  <a:pt x="28017" y="162706"/>
                </a:lnTo>
                <a:cubicBezTo>
                  <a:pt x="45244" y="179859"/>
                  <a:pt x="69019" y="190500"/>
                  <a:pt x="95250" y="190500"/>
                </a:cubicBezTo>
                <a:cubicBezTo>
                  <a:pt x="143247" y="190500"/>
                  <a:pt x="182947" y="155004"/>
                  <a:pt x="189533" y="108831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042458" y="4000500"/>
            <a:ext cx="1714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current-snapshot-id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42458" y="4254500"/>
            <a:ext cx="17039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当前指针，指向最新快照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55000" y="1312333"/>
            <a:ext cx="7577667" cy="3365500"/>
          </a:xfrm>
          <a:custGeom>
            <a:avLst/>
            <a:gdLst/>
            <a:ahLst/>
            <a:cxnLst/>
            <a:rect l="l" t="t" r="r" b="b"/>
            <a:pathLst>
              <a:path w="7577667" h="3365500">
                <a:moveTo>
                  <a:pt x="0" y="0"/>
                </a:moveTo>
                <a:lnTo>
                  <a:pt x="7577667" y="0"/>
                </a:lnTo>
                <a:lnTo>
                  <a:pt x="7577667" y="3365500"/>
                </a:lnTo>
                <a:lnTo>
                  <a:pt x="0" y="3365500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8255000" y="1312333"/>
            <a:ext cx="42333" cy="3365500"/>
          </a:xfrm>
          <a:custGeom>
            <a:avLst/>
            <a:gdLst/>
            <a:ahLst/>
            <a:cxnLst/>
            <a:rect l="l" t="t" r="r" b="b"/>
            <a:pathLst>
              <a:path w="42333" h="3365500">
                <a:moveTo>
                  <a:pt x="0" y="0"/>
                </a:moveTo>
                <a:lnTo>
                  <a:pt x="42333" y="0"/>
                </a:lnTo>
                <a:lnTo>
                  <a:pt x="42333" y="3365500"/>
                </a:lnTo>
                <a:lnTo>
                  <a:pt x="0" y="33655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487833" y="1524000"/>
            <a:ext cx="723900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核心作用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493125" y="1952625"/>
            <a:ext cx="7122583" cy="539750"/>
          </a:xfrm>
          <a:custGeom>
            <a:avLst/>
            <a:gdLst/>
            <a:ahLst/>
            <a:cxnLst/>
            <a:rect l="l" t="t" r="r" b="b"/>
            <a:pathLst>
              <a:path w="7122583" h="539750">
                <a:moveTo>
                  <a:pt x="0" y="0"/>
                </a:moveTo>
                <a:lnTo>
                  <a:pt x="7122583" y="0"/>
                </a:lnTo>
                <a:lnTo>
                  <a:pt x="7122583" y="539750"/>
                </a:lnTo>
                <a:lnTo>
                  <a:pt x="0" y="539750"/>
                </a:lnTo>
                <a:lnTo>
                  <a:pt x="0" y="0"/>
                </a:lnTo>
                <a:close/>
              </a:path>
            </a:pathLst>
          </a:custGeom>
          <a:solidFill>
            <a:srgbClr val="D4A237">
              <a:alpha val="10196"/>
            </a:srgbClr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8625417" y="2084917"/>
            <a:ext cx="6942667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告诉引擎</a:t>
            </a:r>
            <a:r>
              <a:rPr lang="en-US" sz="1333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"哪一个快照是当前最新的"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487833" y="2624667"/>
            <a:ext cx="7217833" cy="550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Metadata File 是 Table Format 的"入口"。当查询开始时，引擎首先读取这个文件，找到当前的快照 ID，然后定位到对应的 Manifest List 文件。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487833" y="3302000"/>
            <a:ext cx="7133167" cy="677333"/>
          </a:xfrm>
          <a:custGeom>
            <a:avLst/>
            <a:gdLst/>
            <a:ahLst/>
            <a:cxnLst/>
            <a:rect l="l" t="t" r="r" b="b"/>
            <a:pathLst>
              <a:path w="7133167" h="677333">
                <a:moveTo>
                  <a:pt x="0" y="0"/>
                </a:moveTo>
                <a:lnTo>
                  <a:pt x="7133167" y="0"/>
                </a:lnTo>
                <a:lnTo>
                  <a:pt x="7133167" y="677333"/>
                </a:lnTo>
                <a:lnTo>
                  <a:pt x="0" y="677333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8614833" y="3429000"/>
            <a:ext cx="6953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current-snapshot-id: </a:t>
            </a:r>
            <a:r>
              <a:rPr lang="en-US" sz="1167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snap-123456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614833" y="3683000"/>
            <a:ext cx="6942667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F8F9FA">
                    <a:alpha val="5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示例：指向快照 ID 为 snap-123456 的快照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28625" y="4852458"/>
            <a:ext cx="15398750" cy="3418417"/>
          </a:xfrm>
          <a:custGeom>
            <a:avLst/>
            <a:gdLst/>
            <a:ahLst/>
            <a:cxnLst/>
            <a:rect l="l" t="t" r="r" b="b"/>
            <a:pathLst>
              <a:path w="15398750" h="3418417">
                <a:moveTo>
                  <a:pt x="0" y="0"/>
                </a:moveTo>
                <a:lnTo>
                  <a:pt x="15398750" y="0"/>
                </a:lnTo>
                <a:lnTo>
                  <a:pt x="15398750" y="3418417"/>
                </a:lnTo>
                <a:lnTo>
                  <a:pt x="0" y="3418417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03250" y="5027083"/>
            <a:ext cx="151447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metadata.json 示例结构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03250" y="5482167"/>
            <a:ext cx="5337142" cy="2582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{ "table-uuid": "12345678-1234-1234-1234-123456789012", "location": "s3://bucket/my_table", "schema": { "type": "struct", "fields": [...] }, "partition-spec": [...], "snapshots": [ {"snapshot-id": 1, "timestamp-ms": 1600000000000, ...}, {"snapshot-id": 2, "timestamp-ms": 1600001000000, ...} ], </a:t>
            </a:r>
            <a:r>
              <a:rPr lang="en-US" sz="1167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"current-snapshot-id": 2</a:t>
            </a:r>
            <a:r>
              <a:rPr lang="en-US" sz="116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}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23333" y="8448146"/>
            <a:ext cx="7620000" cy="719667"/>
          </a:xfrm>
          <a:custGeom>
            <a:avLst/>
            <a:gdLst/>
            <a:ahLst/>
            <a:cxnLst/>
            <a:rect l="l" t="t" r="r" b="b"/>
            <a:pathLst>
              <a:path w="7620000" h="719667">
                <a:moveTo>
                  <a:pt x="0" y="0"/>
                </a:moveTo>
                <a:lnTo>
                  <a:pt x="7620000" y="0"/>
                </a:lnTo>
                <a:lnTo>
                  <a:pt x="7620000" y="719667"/>
                </a:lnTo>
                <a:lnTo>
                  <a:pt x="0" y="719667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576792" y="8702146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27244" y="94465"/>
                </a:moveTo>
                <a:cubicBezTo>
                  <a:pt x="32742" y="56017"/>
                  <a:pt x="65856" y="26458"/>
                  <a:pt x="105833" y="26458"/>
                </a:cubicBezTo>
                <a:cubicBezTo>
                  <a:pt x="127744" y="26458"/>
                  <a:pt x="147588" y="35347"/>
                  <a:pt x="161975" y="49692"/>
                </a:cubicBezTo>
                <a:cubicBezTo>
                  <a:pt x="162057" y="49775"/>
                  <a:pt x="162140" y="49857"/>
                  <a:pt x="162223" y="49940"/>
                </a:cubicBezTo>
                <a:lnTo>
                  <a:pt x="165365" y="52917"/>
                </a:lnTo>
                <a:lnTo>
                  <a:pt x="145562" y="52917"/>
                </a:lnTo>
                <a:cubicBezTo>
                  <a:pt x="138245" y="52917"/>
                  <a:pt x="132333" y="58828"/>
                  <a:pt x="132333" y="66146"/>
                </a:cubicBezTo>
                <a:cubicBezTo>
                  <a:pt x="132333" y="73463"/>
                  <a:pt x="138245" y="79375"/>
                  <a:pt x="145562" y="79375"/>
                </a:cubicBezTo>
                <a:lnTo>
                  <a:pt x="198479" y="79375"/>
                </a:lnTo>
                <a:cubicBezTo>
                  <a:pt x="205796" y="79375"/>
                  <a:pt x="211708" y="73463"/>
                  <a:pt x="211708" y="66146"/>
                </a:cubicBezTo>
                <a:lnTo>
                  <a:pt x="211708" y="13229"/>
                </a:lnTo>
                <a:cubicBezTo>
                  <a:pt x="211708" y="5912"/>
                  <a:pt x="205796" y="0"/>
                  <a:pt x="198479" y="0"/>
                </a:cubicBezTo>
                <a:cubicBezTo>
                  <a:pt x="191161" y="0"/>
                  <a:pt x="185250" y="5912"/>
                  <a:pt x="185250" y="13229"/>
                </a:cubicBezTo>
                <a:lnTo>
                  <a:pt x="185250" y="35305"/>
                </a:lnTo>
                <a:lnTo>
                  <a:pt x="180578" y="30882"/>
                </a:lnTo>
                <a:cubicBezTo>
                  <a:pt x="161437" y="11824"/>
                  <a:pt x="134979" y="0"/>
                  <a:pt x="105833" y="0"/>
                </a:cubicBezTo>
                <a:cubicBezTo>
                  <a:pt x="52503" y="0"/>
                  <a:pt x="8392" y="39439"/>
                  <a:pt x="1075" y="90744"/>
                </a:cubicBezTo>
                <a:cubicBezTo>
                  <a:pt x="41" y="97979"/>
                  <a:pt x="5044" y="104676"/>
                  <a:pt x="12278" y="105709"/>
                </a:cubicBezTo>
                <a:cubicBezTo>
                  <a:pt x="19513" y="106743"/>
                  <a:pt x="26210" y="101699"/>
                  <a:pt x="27244" y="94506"/>
                </a:cubicBezTo>
                <a:close/>
                <a:moveTo>
                  <a:pt x="210592" y="120923"/>
                </a:moveTo>
                <a:cubicBezTo>
                  <a:pt x="211625" y="113688"/>
                  <a:pt x="206582" y="106991"/>
                  <a:pt x="199388" y="105957"/>
                </a:cubicBezTo>
                <a:cubicBezTo>
                  <a:pt x="192195" y="104924"/>
                  <a:pt x="185456" y="109967"/>
                  <a:pt x="184423" y="117161"/>
                </a:cubicBezTo>
                <a:cubicBezTo>
                  <a:pt x="178924" y="155608"/>
                  <a:pt x="145810" y="185167"/>
                  <a:pt x="105833" y="185167"/>
                </a:cubicBezTo>
                <a:cubicBezTo>
                  <a:pt x="83923" y="185167"/>
                  <a:pt x="64079" y="176279"/>
                  <a:pt x="49692" y="161933"/>
                </a:cubicBezTo>
                <a:cubicBezTo>
                  <a:pt x="49609" y="161851"/>
                  <a:pt x="49527" y="161768"/>
                  <a:pt x="49444" y="161685"/>
                </a:cubicBezTo>
                <a:lnTo>
                  <a:pt x="46302" y="158709"/>
                </a:lnTo>
                <a:lnTo>
                  <a:pt x="66104" y="158709"/>
                </a:lnTo>
                <a:cubicBezTo>
                  <a:pt x="73422" y="158709"/>
                  <a:pt x="79334" y="152797"/>
                  <a:pt x="79334" y="145479"/>
                </a:cubicBezTo>
                <a:cubicBezTo>
                  <a:pt x="79334" y="138162"/>
                  <a:pt x="73422" y="132250"/>
                  <a:pt x="66104" y="132250"/>
                </a:cubicBezTo>
                <a:lnTo>
                  <a:pt x="13229" y="132292"/>
                </a:lnTo>
                <a:cubicBezTo>
                  <a:pt x="9715" y="132292"/>
                  <a:pt x="6325" y="133697"/>
                  <a:pt x="3845" y="136219"/>
                </a:cubicBezTo>
                <a:cubicBezTo>
                  <a:pt x="1364" y="138741"/>
                  <a:pt x="-41" y="142090"/>
                  <a:pt x="0" y="145645"/>
                </a:cubicBezTo>
                <a:lnTo>
                  <a:pt x="413" y="198148"/>
                </a:lnTo>
                <a:cubicBezTo>
                  <a:pt x="455" y="205465"/>
                  <a:pt x="6449" y="211336"/>
                  <a:pt x="13767" y="211253"/>
                </a:cubicBezTo>
                <a:cubicBezTo>
                  <a:pt x="21084" y="211171"/>
                  <a:pt x="26954" y="205217"/>
                  <a:pt x="26872" y="197900"/>
                </a:cubicBezTo>
                <a:lnTo>
                  <a:pt x="26706" y="176609"/>
                </a:lnTo>
                <a:lnTo>
                  <a:pt x="31130" y="180785"/>
                </a:lnTo>
                <a:cubicBezTo>
                  <a:pt x="50271" y="199843"/>
                  <a:pt x="76688" y="211667"/>
                  <a:pt x="105833" y="211667"/>
                </a:cubicBezTo>
                <a:cubicBezTo>
                  <a:pt x="159163" y="211667"/>
                  <a:pt x="203274" y="172227"/>
                  <a:pt x="210592" y="120923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941917" y="8575146"/>
            <a:ext cx="215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版本管理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41917" y="8829146"/>
            <a:ext cx="2148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每次修改创建新文件，保留历史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212667" y="8448146"/>
            <a:ext cx="7620000" cy="719667"/>
          </a:xfrm>
          <a:custGeom>
            <a:avLst/>
            <a:gdLst/>
            <a:ahLst/>
            <a:cxnLst/>
            <a:rect l="l" t="t" r="r" b="b"/>
            <a:pathLst>
              <a:path w="7620000" h="719667">
                <a:moveTo>
                  <a:pt x="0" y="0"/>
                </a:moveTo>
                <a:lnTo>
                  <a:pt x="7620000" y="0"/>
                </a:lnTo>
                <a:lnTo>
                  <a:pt x="7620000" y="719667"/>
                </a:lnTo>
                <a:lnTo>
                  <a:pt x="0" y="719667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8379354" y="8702146"/>
            <a:ext cx="185208" cy="211667"/>
          </a:xfrm>
          <a:custGeom>
            <a:avLst/>
            <a:gdLst/>
            <a:ahLst/>
            <a:cxnLst/>
            <a:rect l="l" t="t" r="r" b="b"/>
            <a:pathLst>
              <a:path w="185208" h="211667">
                <a:moveTo>
                  <a:pt x="92604" y="164868"/>
                </a:moveTo>
                <a:cubicBezTo>
                  <a:pt x="87726" y="166977"/>
                  <a:pt x="82930" y="168879"/>
                  <a:pt x="78176" y="170450"/>
                </a:cubicBezTo>
                <a:cubicBezTo>
                  <a:pt x="85080" y="184423"/>
                  <a:pt x="90992" y="185208"/>
                  <a:pt x="92604" y="185208"/>
                </a:cubicBezTo>
                <a:cubicBezTo>
                  <a:pt x="94216" y="185208"/>
                  <a:pt x="100087" y="184423"/>
                  <a:pt x="107032" y="170450"/>
                </a:cubicBezTo>
                <a:cubicBezTo>
                  <a:pt x="102319" y="168837"/>
                  <a:pt x="97482" y="166977"/>
                  <a:pt x="92604" y="164868"/>
                </a:cubicBezTo>
                <a:close/>
                <a:moveTo>
                  <a:pt x="171152" y="105833"/>
                </a:moveTo>
                <a:cubicBezTo>
                  <a:pt x="184795" y="124520"/>
                  <a:pt x="189466" y="143412"/>
                  <a:pt x="180909" y="158750"/>
                </a:cubicBezTo>
                <a:cubicBezTo>
                  <a:pt x="172558" y="173757"/>
                  <a:pt x="155071" y="179131"/>
                  <a:pt x="133284" y="176609"/>
                </a:cubicBezTo>
                <a:cubicBezTo>
                  <a:pt x="124189" y="198148"/>
                  <a:pt x="110257" y="211667"/>
                  <a:pt x="92604" y="211667"/>
                </a:cubicBezTo>
                <a:cubicBezTo>
                  <a:pt x="74951" y="211667"/>
                  <a:pt x="61020" y="198148"/>
                  <a:pt x="51924" y="176609"/>
                </a:cubicBezTo>
                <a:cubicBezTo>
                  <a:pt x="30138" y="179131"/>
                  <a:pt x="12650" y="173757"/>
                  <a:pt x="4299" y="158750"/>
                </a:cubicBezTo>
                <a:cubicBezTo>
                  <a:pt x="-4258" y="143412"/>
                  <a:pt x="413" y="124520"/>
                  <a:pt x="14056" y="105833"/>
                </a:cubicBezTo>
                <a:cubicBezTo>
                  <a:pt x="413" y="87147"/>
                  <a:pt x="-4258" y="68254"/>
                  <a:pt x="4299" y="52917"/>
                </a:cubicBezTo>
                <a:cubicBezTo>
                  <a:pt x="12650" y="37910"/>
                  <a:pt x="30138" y="32535"/>
                  <a:pt x="51924" y="35057"/>
                </a:cubicBezTo>
                <a:cubicBezTo>
                  <a:pt x="61020" y="13519"/>
                  <a:pt x="74910" y="0"/>
                  <a:pt x="92604" y="0"/>
                </a:cubicBezTo>
                <a:cubicBezTo>
                  <a:pt x="110298" y="0"/>
                  <a:pt x="124189" y="13519"/>
                  <a:pt x="133284" y="35057"/>
                </a:cubicBezTo>
                <a:cubicBezTo>
                  <a:pt x="155071" y="32535"/>
                  <a:pt x="172558" y="37868"/>
                  <a:pt x="180909" y="52917"/>
                </a:cubicBezTo>
                <a:cubicBezTo>
                  <a:pt x="189466" y="68254"/>
                  <a:pt x="184795" y="87147"/>
                  <a:pt x="171152" y="105833"/>
                </a:cubicBezTo>
                <a:close/>
                <a:moveTo>
                  <a:pt x="143950" y="133697"/>
                </a:moveTo>
                <a:cubicBezTo>
                  <a:pt x="143247" y="139568"/>
                  <a:pt x="142338" y="145273"/>
                  <a:pt x="141180" y="150730"/>
                </a:cubicBezTo>
                <a:cubicBezTo>
                  <a:pt x="154326" y="151309"/>
                  <a:pt x="157138" y="147133"/>
                  <a:pt x="157799" y="145893"/>
                </a:cubicBezTo>
                <a:cubicBezTo>
                  <a:pt x="158750" y="144157"/>
                  <a:pt x="160693" y="138493"/>
                  <a:pt x="152880" y="126008"/>
                </a:cubicBezTo>
                <a:cubicBezTo>
                  <a:pt x="150068" y="128612"/>
                  <a:pt x="147092" y="131175"/>
                  <a:pt x="143950" y="133697"/>
                </a:cubicBezTo>
                <a:close/>
                <a:moveTo>
                  <a:pt x="141180" y="60978"/>
                </a:moveTo>
                <a:cubicBezTo>
                  <a:pt x="142338" y="66394"/>
                  <a:pt x="143247" y="72099"/>
                  <a:pt x="143950" y="78011"/>
                </a:cubicBezTo>
                <a:cubicBezTo>
                  <a:pt x="147092" y="80533"/>
                  <a:pt x="150068" y="83096"/>
                  <a:pt x="152880" y="85700"/>
                </a:cubicBezTo>
                <a:cubicBezTo>
                  <a:pt x="160693" y="73215"/>
                  <a:pt x="158750" y="67510"/>
                  <a:pt x="157799" y="65815"/>
                </a:cubicBezTo>
                <a:cubicBezTo>
                  <a:pt x="157138" y="64616"/>
                  <a:pt x="154326" y="60441"/>
                  <a:pt x="141180" y="60978"/>
                </a:cubicBezTo>
                <a:close/>
                <a:moveTo>
                  <a:pt x="107032" y="41217"/>
                </a:moveTo>
                <a:cubicBezTo>
                  <a:pt x="100087" y="27244"/>
                  <a:pt x="94216" y="26458"/>
                  <a:pt x="92604" y="26458"/>
                </a:cubicBezTo>
                <a:cubicBezTo>
                  <a:pt x="90992" y="26458"/>
                  <a:pt x="85121" y="27244"/>
                  <a:pt x="78176" y="41217"/>
                </a:cubicBezTo>
                <a:cubicBezTo>
                  <a:pt x="82889" y="42829"/>
                  <a:pt x="87726" y="44690"/>
                  <a:pt x="92604" y="46798"/>
                </a:cubicBezTo>
                <a:cubicBezTo>
                  <a:pt x="97482" y="44690"/>
                  <a:pt x="102278" y="42788"/>
                  <a:pt x="107032" y="41217"/>
                </a:cubicBezTo>
                <a:close/>
                <a:moveTo>
                  <a:pt x="41300" y="77969"/>
                </a:moveTo>
                <a:cubicBezTo>
                  <a:pt x="42003" y="72058"/>
                  <a:pt x="42912" y="66394"/>
                  <a:pt x="44070" y="60937"/>
                </a:cubicBezTo>
                <a:cubicBezTo>
                  <a:pt x="30923" y="60358"/>
                  <a:pt x="28112" y="64534"/>
                  <a:pt x="27451" y="65774"/>
                </a:cubicBezTo>
                <a:cubicBezTo>
                  <a:pt x="26500" y="67510"/>
                  <a:pt x="24557" y="73174"/>
                  <a:pt x="32370" y="85659"/>
                </a:cubicBezTo>
                <a:cubicBezTo>
                  <a:pt x="35181" y="83054"/>
                  <a:pt x="38158" y="80491"/>
                  <a:pt x="41300" y="77969"/>
                </a:cubicBezTo>
                <a:close/>
                <a:moveTo>
                  <a:pt x="32329" y="126008"/>
                </a:moveTo>
                <a:cubicBezTo>
                  <a:pt x="24515" y="138493"/>
                  <a:pt x="26458" y="144198"/>
                  <a:pt x="27409" y="145893"/>
                </a:cubicBezTo>
                <a:cubicBezTo>
                  <a:pt x="28071" y="147092"/>
                  <a:pt x="30882" y="151267"/>
                  <a:pt x="44028" y="150730"/>
                </a:cubicBezTo>
                <a:cubicBezTo>
                  <a:pt x="42871" y="145314"/>
                  <a:pt x="41961" y="139609"/>
                  <a:pt x="41258" y="133697"/>
                </a:cubicBezTo>
                <a:cubicBezTo>
                  <a:pt x="38117" y="131175"/>
                  <a:pt x="35140" y="128612"/>
                  <a:pt x="32329" y="126008"/>
                </a:cubicBezTo>
                <a:close/>
                <a:moveTo>
                  <a:pt x="125677" y="105833"/>
                </a:moveTo>
                <a:cubicBezTo>
                  <a:pt x="125677" y="87580"/>
                  <a:pt x="110858" y="72760"/>
                  <a:pt x="92604" y="72760"/>
                </a:cubicBezTo>
                <a:cubicBezTo>
                  <a:pt x="74351" y="72760"/>
                  <a:pt x="59531" y="87580"/>
                  <a:pt x="59531" y="105833"/>
                </a:cubicBezTo>
                <a:cubicBezTo>
                  <a:pt x="59531" y="124087"/>
                  <a:pt x="74351" y="138906"/>
                  <a:pt x="92604" y="138906"/>
                </a:cubicBezTo>
                <a:cubicBezTo>
                  <a:pt x="110858" y="138906"/>
                  <a:pt x="125677" y="124087"/>
                  <a:pt x="125677" y="105833"/>
                </a:cubicBezTo>
                <a:close/>
                <a:moveTo>
                  <a:pt x="92604" y="92604"/>
                </a:moveTo>
                <a:cubicBezTo>
                  <a:pt x="99906" y="92604"/>
                  <a:pt x="105833" y="98532"/>
                  <a:pt x="105833" y="105833"/>
                </a:cubicBezTo>
                <a:cubicBezTo>
                  <a:pt x="105833" y="113135"/>
                  <a:pt x="99906" y="119063"/>
                  <a:pt x="92604" y="119063"/>
                </a:cubicBezTo>
                <a:cubicBezTo>
                  <a:pt x="85303" y="119063"/>
                  <a:pt x="79375" y="113135"/>
                  <a:pt x="79375" y="105833"/>
                </a:cubicBezTo>
                <a:cubicBezTo>
                  <a:pt x="79375" y="98532"/>
                  <a:pt x="85303" y="92604"/>
                  <a:pt x="92604" y="92604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8731250" y="8575146"/>
            <a:ext cx="1418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原子性保证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731250" y="8829146"/>
            <a:ext cx="1407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指针更新是原子操作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4453" y="504453"/>
            <a:ext cx="15335373" cy="252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0" b="1" kern="0" spc="209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Layer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4453" y="857570"/>
            <a:ext cx="15474098" cy="504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575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第二层：Manifest List（快照目录）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29676" y="1563804"/>
            <a:ext cx="7465905" cy="4149126"/>
          </a:xfrm>
          <a:custGeom>
            <a:avLst/>
            <a:gdLst/>
            <a:ahLst/>
            <a:cxnLst/>
            <a:rect l="l" t="t" r="r" b="b"/>
            <a:pathLst>
              <a:path w="7465905" h="4149126">
                <a:moveTo>
                  <a:pt x="0" y="0"/>
                </a:moveTo>
                <a:lnTo>
                  <a:pt x="7465905" y="0"/>
                </a:lnTo>
                <a:lnTo>
                  <a:pt x="7465905" y="4149126"/>
                </a:lnTo>
                <a:lnTo>
                  <a:pt x="0" y="4149126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29676" y="1563804"/>
            <a:ext cx="50445" cy="4149126"/>
          </a:xfrm>
          <a:custGeom>
            <a:avLst/>
            <a:gdLst/>
            <a:ahLst/>
            <a:cxnLst/>
            <a:rect l="l" t="t" r="r" b="b"/>
            <a:pathLst>
              <a:path w="50445" h="4149126">
                <a:moveTo>
                  <a:pt x="0" y="0"/>
                </a:moveTo>
                <a:lnTo>
                  <a:pt x="50445" y="0"/>
                </a:lnTo>
                <a:lnTo>
                  <a:pt x="50445" y="4149126"/>
                </a:lnTo>
                <a:lnTo>
                  <a:pt x="0" y="4149126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07125" y="1816031"/>
            <a:ext cx="7062343" cy="353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86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Manifest List 文件内容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7125" y="2320484"/>
            <a:ext cx="7037120" cy="327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89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这是</a:t>
            </a:r>
            <a:r>
              <a:rPr lang="en-US" sz="1589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某一个快照</a:t>
            </a:r>
            <a:r>
              <a:rPr lang="en-US" sz="1589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的"目录"（文件名如 </a:t>
            </a:r>
            <a:r>
              <a:rPr lang="en-US" sz="1390" dirty="0">
                <a:solidFill>
                  <a:srgbClr val="F8F9FA">
                    <a:alpha val="80000"/>
                  </a:srgbClr>
                </a:solidFill>
                <a:highlight>
                  <a:srgbClr val="1A1D21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snap-123.avro </a:t>
            </a:r>
            <a:r>
              <a:rPr lang="en-US" sz="1589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），包含：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38653" y="2850160"/>
            <a:ext cx="227004" cy="227004"/>
          </a:xfrm>
          <a:custGeom>
            <a:avLst/>
            <a:gdLst/>
            <a:ahLst/>
            <a:cxnLst/>
            <a:rect l="l" t="t" r="r" b="b"/>
            <a:pathLst>
              <a:path w="227004" h="227004">
                <a:moveTo>
                  <a:pt x="21282" y="63845"/>
                </a:moveTo>
                <a:cubicBezTo>
                  <a:pt x="33027" y="63845"/>
                  <a:pt x="42563" y="54309"/>
                  <a:pt x="42563" y="42563"/>
                </a:cubicBezTo>
                <a:cubicBezTo>
                  <a:pt x="42563" y="30818"/>
                  <a:pt x="33027" y="21282"/>
                  <a:pt x="21282" y="21282"/>
                </a:cubicBezTo>
                <a:cubicBezTo>
                  <a:pt x="9536" y="21282"/>
                  <a:pt x="0" y="30818"/>
                  <a:pt x="0" y="42563"/>
                </a:cubicBezTo>
                <a:cubicBezTo>
                  <a:pt x="0" y="54309"/>
                  <a:pt x="9536" y="63845"/>
                  <a:pt x="21282" y="63845"/>
                </a:cubicBezTo>
                <a:close/>
                <a:moveTo>
                  <a:pt x="85126" y="28375"/>
                </a:moveTo>
                <a:cubicBezTo>
                  <a:pt x="77279" y="28375"/>
                  <a:pt x="70939" y="34716"/>
                  <a:pt x="70939" y="42563"/>
                </a:cubicBezTo>
                <a:cubicBezTo>
                  <a:pt x="70939" y="50411"/>
                  <a:pt x="77279" y="56751"/>
                  <a:pt x="85126" y="56751"/>
                </a:cubicBezTo>
                <a:lnTo>
                  <a:pt x="212816" y="56751"/>
                </a:lnTo>
                <a:cubicBezTo>
                  <a:pt x="220664" y="56751"/>
                  <a:pt x="227004" y="50411"/>
                  <a:pt x="227004" y="42563"/>
                </a:cubicBezTo>
                <a:cubicBezTo>
                  <a:pt x="227004" y="34716"/>
                  <a:pt x="220664" y="28375"/>
                  <a:pt x="212816" y="28375"/>
                </a:cubicBezTo>
                <a:lnTo>
                  <a:pt x="85126" y="28375"/>
                </a:lnTo>
                <a:close/>
                <a:moveTo>
                  <a:pt x="85126" y="99314"/>
                </a:moveTo>
                <a:cubicBezTo>
                  <a:pt x="77279" y="99314"/>
                  <a:pt x="70939" y="105654"/>
                  <a:pt x="70939" y="113502"/>
                </a:cubicBezTo>
                <a:cubicBezTo>
                  <a:pt x="70939" y="121350"/>
                  <a:pt x="77279" y="127690"/>
                  <a:pt x="85126" y="127690"/>
                </a:cubicBezTo>
                <a:lnTo>
                  <a:pt x="212816" y="127690"/>
                </a:lnTo>
                <a:cubicBezTo>
                  <a:pt x="220664" y="127690"/>
                  <a:pt x="227004" y="121350"/>
                  <a:pt x="227004" y="113502"/>
                </a:cubicBezTo>
                <a:cubicBezTo>
                  <a:pt x="227004" y="105654"/>
                  <a:pt x="220664" y="99314"/>
                  <a:pt x="212816" y="99314"/>
                </a:cubicBezTo>
                <a:lnTo>
                  <a:pt x="85126" y="99314"/>
                </a:lnTo>
                <a:close/>
                <a:moveTo>
                  <a:pt x="85126" y="170253"/>
                </a:moveTo>
                <a:cubicBezTo>
                  <a:pt x="77279" y="170253"/>
                  <a:pt x="70939" y="176593"/>
                  <a:pt x="70939" y="184441"/>
                </a:cubicBezTo>
                <a:cubicBezTo>
                  <a:pt x="70939" y="192288"/>
                  <a:pt x="77279" y="198628"/>
                  <a:pt x="85126" y="198628"/>
                </a:cubicBezTo>
                <a:lnTo>
                  <a:pt x="212816" y="198628"/>
                </a:lnTo>
                <a:cubicBezTo>
                  <a:pt x="220664" y="198628"/>
                  <a:pt x="227004" y="192288"/>
                  <a:pt x="227004" y="184441"/>
                </a:cubicBezTo>
                <a:cubicBezTo>
                  <a:pt x="227004" y="176593"/>
                  <a:pt x="220664" y="170253"/>
                  <a:pt x="212816" y="170253"/>
                </a:cubicBezTo>
                <a:lnTo>
                  <a:pt x="85126" y="170253"/>
                </a:lnTo>
                <a:close/>
                <a:moveTo>
                  <a:pt x="21282" y="205722"/>
                </a:moveTo>
                <a:cubicBezTo>
                  <a:pt x="33027" y="205722"/>
                  <a:pt x="42563" y="196186"/>
                  <a:pt x="42563" y="184441"/>
                </a:cubicBezTo>
                <a:cubicBezTo>
                  <a:pt x="42563" y="172695"/>
                  <a:pt x="33027" y="163159"/>
                  <a:pt x="21282" y="163159"/>
                </a:cubicBezTo>
                <a:cubicBezTo>
                  <a:pt x="9536" y="163159"/>
                  <a:pt x="0" y="172695"/>
                  <a:pt x="0" y="184441"/>
                </a:cubicBezTo>
                <a:cubicBezTo>
                  <a:pt x="0" y="196186"/>
                  <a:pt x="9536" y="205722"/>
                  <a:pt x="21282" y="205722"/>
                </a:cubicBezTo>
                <a:close/>
                <a:moveTo>
                  <a:pt x="42563" y="113502"/>
                </a:moveTo>
                <a:cubicBezTo>
                  <a:pt x="42563" y="101756"/>
                  <a:pt x="33027" y="92220"/>
                  <a:pt x="21282" y="92220"/>
                </a:cubicBezTo>
                <a:cubicBezTo>
                  <a:pt x="9536" y="92220"/>
                  <a:pt x="0" y="101756"/>
                  <a:pt x="0" y="113502"/>
                </a:cubicBezTo>
                <a:cubicBezTo>
                  <a:pt x="0" y="125248"/>
                  <a:pt x="9536" y="134784"/>
                  <a:pt x="21282" y="134784"/>
                </a:cubicBezTo>
                <a:cubicBezTo>
                  <a:pt x="33027" y="134784"/>
                  <a:pt x="42563" y="125248"/>
                  <a:pt x="42563" y="113502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242216" y="2799715"/>
            <a:ext cx="6608335" cy="327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89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Manifest File 列表：</a:t>
            </a:r>
            <a:r>
              <a:rPr lang="en-US" sz="1589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包含了一组 Manifest File 的路径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8653" y="3278945"/>
            <a:ext cx="227004" cy="227004"/>
          </a:xfrm>
          <a:custGeom>
            <a:avLst/>
            <a:gdLst/>
            <a:ahLst/>
            <a:cxnLst/>
            <a:rect l="l" t="t" r="r" b="b"/>
            <a:pathLst>
              <a:path w="227004" h="227004">
                <a:moveTo>
                  <a:pt x="14188" y="14188"/>
                </a:moveTo>
                <a:cubicBezTo>
                  <a:pt x="22035" y="14188"/>
                  <a:pt x="28375" y="20528"/>
                  <a:pt x="28375" y="28375"/>
                </a:cubicBezTo>
                <a:lnTo>
                  <a:pt x="28375" y="177347"/>
                </a:lnTo>
                <a:cubicBezTo>
                  <a:pt x="28375" y="181248"/>
                  <a:pt x="31568" y="184441"/>
                  <a:pt x="35469" y="184441"/>
                </a:cubicBezTo>
                <a:lnTo>
                  <a:pt x="212816" y="184441"/>
                </a:lnTo>
                <a:cubicBezTo>
                  <a:pt x="220664" y="184441"/>
                  <a:pt x="227004" y="190781"/>
                  <a:pt x="227004" y="198628"/>
                </a:cubicBezTo>
                <a:cubicBezTo>
                  <a:pt x="227004" y="206476"/>
                  <a:pt x="220664" y="212816"/>
                  <a:pt x="212816" y="212816"/>
                </a:cubicBezTo>
                <a:lnTo>
                  <a:pt x="35469" y="212816"/>
                </a:lnTo>
                <a:cubicBezTo>
                  <a:pt x="15873" y="212816"/>
                  <a:pt x="0" y="196944"/>
                  <a:pt x="0" y="177347"/>
                </a:cubicBezTo>
                <a:lnTo>
                  <a:pt x="0" y="28375"/>
                </a:lnTo>
                <a:cubicBezTo>
                  <a:pt x="0" y="20528"/>
                  <a:pt x="6340" y="14188"/>
                  <a:pt x="14188" y="14188"/>
                </a:cubicBezTo>
                <a:close/>
                <a:moveTo>
                  <a:pt x="56751" y="42563"/>
                </a:moveTo>
                <a:cubicBezTo>
                  <a:pt x="56751" y="34716"/>
                  <a:pt x="63091" y="28375"/>
                  <a:pt x="70939" y="28375"/>
                </a:cubicBezTo>
                <a:lnTo>
                  <a:pt x="156065" y="28375"/>
                </a:lnTo>
                <a:cubicBezTo>
                  <a:pt x="163913" y="28375"/>
                  <a:pt x="170253" y="34716"/>
                  <a:pt x="170253" y="42563"/>
                </a:cubicBezTo>
                <a:cubicBezTo>
                  <a:pt x="170253" y="50411"/>
                  <a:pt x="163913" y="56751"/>
                  <a:pt x="156065" y="56751"/>
                </a:cubicBezTo>
                <a:lnTo>
                  <a:pt x="70939" y="56751"/>
                </a:lnTo>
                <a:cubicBezTo>
                  <a:pt x="63091" y="56751"/>
                  <a:pt x="56751" y="50411"/>
                  <a:pt x="56751" y="42563"/>
                </a:cubicBezTo>
                <a:close/>
                <a:moveTo>
                  <a:pt x="70939" y="78033"/>
                </a:moveTo>
                <a:lnTo>
                  <a:pt x="127690" y="78033"/>
                </a:lnTo>
                <a:cubicBezTo>
                  <a:pt x="135537" y="78033"/>
                  <a:pt x="141877" y="84373"/>
                  <a:pt x="141877" y="92220"/>
                </a:cubicBezTo>
                <a:cubicBezTo>
                  <a:pt x="141877" y="100068"/>
                  <a:pt x="135537" y="106408"/>
                  <a:pt x="127690" y="106408"/>
                </a:cubicBezTo>
                <a:lnTo>
                  <a:pt x="70939" y="106408"/>
                </a:lnTo>
                <a:cubicBezTo>
                  <a:pt x="63091" y="106408"/>
                  <a:pt x="56751" y="100068"/>
                  <a:pt x="56751" y="92220"/>
                </a:cubicBezTo>
                <a:cubicBezTo>
                  <a:pt x="56751" y="84373"/>
                  <a:pt x="63091" y="78033"/>
                  <a:pt x="70939" y="78033"/>
                </a:cubicBezTo>
                <a:close/>
                <a:moveTo>
                  <a:pt x="70939" y="127690"/>
                </a:moveTo>
                <a:lnTo>
                  <a:pt x="184441" y="127690"/>
                </a:lnTo>
                <a:cubicBezTo>
                  <a:pt x="192288" y="127690"/>
                  <a:pt x="198628" y="134030"/>
                  <a:pt x="198628" y="141877"/>
                </a:cubicBezTo>
                <a:cubicBezTo>
                  <a:pt x="198628" y="149725"/>
                  <a:pt x="192288" y="156065"/>
                  <a:pt x="184441" y="156065"/>
                </a:cubicBezTo>
                <a:lnTo>
                  <a:pt x="70939" y="156065"/>
                </a:lnTo>
                <a:cubicBezTo>
                  <a:pt x="63091" y="156065"/>
                  <a:pt x="56751" y="149725"/>
                  <a:pt x="56751" y="141877"/>
                </a:cubicBezTo>
                <a:cubicBezTo>
                  <a:pt x="56751" y="134030"/>
                  <a:pt x="63091" y="127690"/>
                  <a:pt x="70939" y="12769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242216" y="3228500"/>
            <a:ext cx="6608335" cy="327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89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分区范围统计：</a:t>
            </a:r>
            <a:r>
              <a:rPr lang="en-US" sz="1589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存储了每个 Manifest File 的 Partition Stats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0278" y="3707730"/>
            <a:ext cx="283755" cy="227004"/>
          </a:xfrm>
          <a:custGeom>
            <a:avLst/>
            <a:gdLst/>
            <a:ahLst/>
            <a:cxnLst/>
            <a:rect l="l" t="t" r="r" b="b"/>
            <a:pathLst>
              <a:path w="283755" h="227004">
                <a:moveTo>
                  <a:pt x="28420" y="28375"/>
                </a:moveTo>
                <a:cubicBezTo>
                  <a:pt x="28420" y="12725"/>
                  <a:pt x="41144" y="0"/>
                  <a:pt x="56795" y="0"/>
                </a:cubicBezTo>
                <a:lnTo>
                  <a:pt x="123079" y="0"/>
                </a:lnTo>
                <a:cubicBezTo>
                  <a:pt x="130616" y="0"/>
                  <a:pt x="137843" y="2971"/>
                  <a:pt x="143163" y="8291"/>
                </a:cubicBezTo>
                <a:lnTo>
                  <a:pt x="190337" y="55554"/>
                </a:lnTo>
                <a:cubicBezTo>
                  <a:pt x="195658" y="60874"/>
                  <a:pt x="198628" y="68101"/>
                  <a:pt x="198628" y="75638"/>
                </a:cubicBezTo>
                <a:lnTo>
                  <a:pt x="198628" y="118867"/>
                </a:lnTo>
                <a:lnTo>
                  <a:pt x="140104" y="177391"/>
                </a:lnTo>
                <a:lnTo>
                  <a:pt x="121438" y="177391"/>
                </a:lnTo>
                <a:lnTo>
                  <a:pt x="114300" y="153627"/>
                </a:lnTo>
                <a:cubicBezTo>
                  <a:pt x="112216" y="146666"/>
                  <a:pt x="105832" y="141922"/>
                  <a:pt x="98560" y="141922"/>
                </a:cubicBezTo>
                <a:cubicBezTo>
                  <a:pt x="93550" y="141922"/>
                  <a:pt x="88851" y="144183"/>
                  <a:pt x="85747" y="148085"/>
                </a:cubicBezTo>
                <a:lnTo>
                  <a:pt x="59101" y="181337"/>
                </a:lnTo>
                <a:cubicBezTo>
                  <a:pt x="55421" y="185904"/>
                  <a:pt x="56175" y="192643"/>
                  <a:pt x="60741" y="196279"/>
                </a:cubicBezTo>
                <a:cubicBezTo>
                  <a:pt x="65308" y="199914"/>
                  <a:pt x="72047" y="199205"/>
                  <a:pt x="75683" y="194594"/>
                </a:cubicBezTo>
                <a:lnTo>
                  <a:pt x="96565" y="168524"/>
                </a:lnTo>
                <a:lnTo>
                  <a:pt x="103304" y="191002"/>
                </a:lnTo>
                <a:cubicBezTo>
                  <a:pt x="104635" y="195525"/>
                  <a:pt x="108802" y="198584"/>
                  <a:pt x="113502" y="198584"/>
                </a:cubicBezTo>
                <a:lnTo>
                  <a:pt x="127468" y="198584"/>
                </a:lnTo>
                <a:cubicBezTo>
                  <a:pt x="127069" y="199958"/>
                  <a:pt x="126714" y="201377"/>
                  <a:pt x="126448" y="202796"/>
                </a:cubicBezTo>
                <a:lnTo>
                  <a:pt x="121616" y="226960"/>
                </a:lnTo>
                <a:lnTo>
                  <a:pt x="56795" y="226960"/>
                </a:lnTo>
                <a:cubicBezTo>
                  <a:pt x="41144" y="226960"/>
                  <a:pt x="28420" y="214235"/>
                  <a:pt x="28420" y="198584"/>
                </a:cubicBezTo>
                <a:lnTo>
                  <a:pt x="28420" y="28331"/>
                </a:lnTo>
                <a:close/>
                <a:moveTo>
                  <a:pt x="120640" y="25937"/>
                </a:moveTo>
                <a:lnTo>
                  <a:pt x="120640" y="67392"/>
                </a:lnTo>
                <a:cubicBezTo>
                  <a:pt x="120640" y="73289"/>
                  <a:pt x="125384" y="78033"/>
                  <a:pt x="131281" y="78033"/>
                </a:cubicBezTo>
                <a:lnTo>
                  <a:pt x="172736" y="78033"/>
                </a:lnTo>
                <a:lnTo>
                  <a:pt x="120640" y="25937"/>
                </a:lnTo>
                <a:close/>
                <a:moveTo>
                  <a:pt x="147331" y="207008"/>
                </a:moveTo>
                <a:cubicBezTo>
                  <a:pt x="148439" y="201510"/>
                  <a:pt x="151144" y="196456"/>
                  <a:pt x="155090" y="192510"/>
                </a:cubicBezTo>
                <a:lnTo>
                  <a:pt x="207806" y="139794"/>
                </a:lnTo>
                <a:lnTo>
                  <a:pt x="243275" y="175263"/>
                </a:lnTo>
                <a:lnTo>
                  <a:pt x="190559" y="227979"/>
                </a:lnTo>
                <a:cubicBezTo>
                  <a:pt x="186613" y="231925"/>
                  <a:pt x="181559" y="234630"/>
                  <a:pt x="176061" y="235738"/>
                </a:cubicBezTo>
                <a:lnTo>
                  <a:pt x="149636" y="241014"/>
                </a:lnTo>
                <a:cubicBezTo>
                  <a:pt x="149237" y="241103"/>
                  <a:pt x="148794" y="241147"/>
                  <a:pt x="148351" y="241147"/>
                </a:cubicBezTo>
                <a:cubicBezTo>
                  <a:pt x="144804" y="241147"/>
                  <a:pt x="141877" y="238265"/>
                  <a:pt x="141877" y="234674"/>
                </a:cubicBezTo>
                <a:cubicBezTo>
                  <a:pt x="141877" y="234231"/>
                  <a:pt x="141922" y="233832"/>
                  <a:pt x="142010" y="233388"/>
                </a:cubicBezTo>
                <a:lnTo>
                  <a:pt x="147287" y="206964"/>
                </a:lnTo>
                <a:close/>
                <a:moveTo>
                  <a:pt x="266065" y="152474"/>
                </a:moveTo>
                <a:lnTo>
                  <a:pt x="253296" y="165243"/>
                </a:lnTo>
                <a:lnTo>
                  <a:pt x="217826" y="129774"/>
                </a:lnTo>
                <a:lnTo>
                  <a:pt x="230595" y="117005"/>
                </a:lnTo>
                <a:cubicBezTo>
                  <a:pt x="240394" y="107206"/>
                  <a:pt x="256266" y="107206"/>
                  <a:pt x="266065" y="117005"/>
                </a:cubicBezTo>
                <a:cubicBezTo>
                  <a:pt x="275863" y="126803"/>
                  <a:pt x="275863" y="142675"/>
                  <a:pt x="266065" y="152474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242216" y="3657285"/>
            <a:ext cx="6608335" cy="327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89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元数据：</a:t>
            </a:r>
            <a:r>
              <a:rPr lang="en-US" sz="1589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记录快照创建时间、操作类型等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78548" y="1563804"/>
            <a:ext cx="7465905" cy="4149126"/>
          </a:xfrm>
          <a:custGeom>
            <a:avLst/>
            <a:gdLst/>
            <a:ahLst/>
            <a:cxnLst/>
            <a:rect l="l" t="t" r="r" b="b"/>
            <a:pathLst>
              <a:path w="7465905" h="4149126">
                <a:moveTo>
                  <a:pt x="0" y="0"/>
                </a:moveTo>
                <a:lnTo>
                  <a:pt x="7465905" y="0"/>
                </a:lnTo>
                <a:lnTo>
                  <a:pt x="7465905" y="4149126"/>
                </a:lnTo>
                <a:lnTo>
                  <a:pt x="0" y="4149126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8278548" y="1563804"/>
            <a:ext cx="50445" cy="4149126"/>
          </a:xfrm>
          <a:custGeom>
            <a:avLst/>
            <a:gdLst/>
            <a:ahLst/>
            <a:cxnLst/>
            <a:rect l="l" t="t" r="r" b="b"/>
            <a:pathLst>
              <a:path w="50445" h="4149126">
                <a:moveTo>
                  <a:pt x="0" y="0"/>
                </a:moveTo>
                <a:lnTo>
                  <a:pt x="50445" y="0"/>
                </a:lnTo>
                <a:lnTo>
                  <a:pt x="50445" y="4149126"/>
                </a:lnTo>
                <a:lnTo>
                  <a:pt x="0" y="4149126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555997" y="1816031"/>
            <a:ext cx="7062343" cy="353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86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查询优化示例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555997" y="2320484"/>
            <a:ext cx="6936230" cy="971072"/>
          </a:xfrm>
          <a:custGeom>
            <a:avLst/>
            <a:gdLst/>
            <a:ahLst/>
            <a:cxnLst/>
            <a:rect l="l" t="t" r="r" b="b"/>
            <a:pathLst>
              <a:path w="6936230" h="971072">
                <a:moveTo>
                  <a:pt x="0" y="0"/>
                </a:moveTo>
                <a:lnTo>
                  <a:pt x="6936230" y="0"/>
                </a:lnTo>
                <a:lnTo>
                  <a:pt x="6936230" y="971072"/>
                </a:lnTo>
                <a:lnTo>
                  <a:pt x="0" y="971072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707333" y="2471820"/>
            <a:ext cx="6721837" cy="252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查询条件：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707333" y="2862771"/>
            <a:ext cx="4231297" cy="239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9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SELECT * FROM logs WHERE dt='2023'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555997" y="3436587"/>
            <a:ext cx="353117" cy="353117"/>
          </a:xfrm>
          <a:custGeom>
            <a:avLst/>
            <a:gdLst/>
            <a:ahLst/>
            <a:cxnLst/>
            <a:rect l="l" t="t" r="r" b="b"/>
            <a:pathLst>
              <a:path w="353117" h="353117">
                <a:moveTo>
                  <a:pt x="50446" y="0"/>
                </a:moveTo>
                <a:lnTo>
                  <a:pt x="302671" y="0"/>
                </a:lnTo>
                <a:cubicBezTo>
                  <a:pt x="330532" y="0"/>
                  <a:pt x="353117" y="22586"/>
                  <a:pt x="353117" y="50446"/>
                </a:cubicBezTo>
                <a:lnTo>
                  <a:pt x="353117" y="302671"/>
                </a:lnTo>
                <a:cubicBezTo>
                  <a:pt x="353117" y="330532"/>
                  <a:pt x="330532" y="353117"/>
                  <a:pt x="302671" y="353117"/>
                </a:cubicBezTo>
                <a:lnTo>
                  <a:pt x="50446" y="353117"/>
                </a:lnTo>
                <a:cubicBezTo>
                  <a:pt x="22586" y="353117"/>
                  <a:pt x="0" y="330532"/>
                  <a:pt x="0" y="302671"/>
                </a:cubicBezTo>
                <a:lnTo>
                  <a:pt x="0" y="50446"/>
                </a:lnTo>
                <a:cubicBezTo>
                  <a:pt x="0" y="22604"/>
                  <a:pt x="22604" y="0"/>
                  <a:pt x="50446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511857" y="3436587"/>
            <a:ext cx="441396" cy="353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9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010005" y="3436587"/>
            <a:ext cx="6583112" cy="327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89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引擎读取 Manifest List，发现包含多个 Manifest File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555997" y="3890594"/>
            <a:ext cx="353117" cy="353117"/>
          </a:xfrm>
          <a:custGeom>
            <a:avLst/>
            <a:gdLst/>
            <a:ahLst/>
            <a:cxnLst/>
            <a:rect l="l" t="t" r="r" b="b"/>
            <a:pathLst>
              <a:path w="353117" h="353117">
                <a:moveTo>
                  <a:pt x="50446" y="0"/>
                </a:moveTo>
                <a:lnTo>
                  <a:pt x="302671" y="0"/>
                </a:lnTo>
                <a:cubicBezTo>
                  <a:pt x="330532" y="0"/>
                  <a:pt x="353117" y="22586"/>
                  <a:pt x="353117" y="50446"/>
                </a:cubicBezTo>
                <a:lnTo>
                  <a:pt x="353117" y="302671"/>
                </a:lnTo>
                <a:cubicBezTo>
                  <a:pt x="353117" y="330532"/>
                  <a:pt x="330532" y="353117"/>
                  <a:pt x="302671" y="353117"/>
                </a:cubicBezTo>
                <a:lnTo>
                  <a:pt x="50446" y="353117"/>
                </a:lnTo>
                <a:cubicBezTo>
                  <a:pt x="22586" y="353117"/>
                  <a:pt x="0" y="330532"/>
                  <a:pt x="0" y="302671"/>
                </a:cubicBezTo>
                <a:lnTo>
                  <a:pt x="0" y="50446"/>
                </a:lnTo>
                <a:cubicBezTo>
                  <a:pt x="0" y="22604"/>
                  <a:pt x="22604" y="0"/>
                  <a:pt x="50446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8511857" y="3890594"/>
            <a:ext cx="441396" cy="353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9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010005" y="3890594"/>
            <a:ext cx="6583112" cy="655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89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检查每个 Manifest 的分区范围，发现某个 Manifest 只包含 </a:t>
            </a:r>
            <a:r>
              <a:rPr lang="en-US" sz="1192" dirty="0">
                <a:solidFill>
                  <a:srgbClr val="F8F9FA">
                    <a:alpha val="80000"/>
                  </a:srgbClr>
                </a:solidFill>
                <a:highlight>
                  <a:srgbClr val="1A1D21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dt='2022' </a:t>
            </a:r>
            <a:r>
              <a:rPr lang="en-US" sz="1589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的数据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555997" y="4647274"/>
            <a:ext cx="353117" cy="353117"/>
          </a:xfrm>
          <a:custGeom>
            <a:avLst/>
            <a:gdLst/>
            <a:ahLst/>
            <a:cxnLst/>
            <a:rect l="l" t="t" r="r" b="b"/>
            <a:pathLst>
              <a:path w="353117" h="353117">
                <a:moveTo>
                  <a:pt x="50446" y="0"/>
                </a:moveTo>
                <a:lnTo>
                  <a:pt x="302671" y="0"/>
                </a:lnTo>
                <a:cubicBezTo>
                  <a:pt x="330532" y="0"/>
                  <a:pt x="353117" y="22586"/>
                  <a:pt x="353117" y="50446"/>
                </a:cubicBezTo>
                <a:lnTo>
                  <a:pt x="353117" y="302671"/>
                </a:lnTo>
                <a:cubicBezTo>
                  <a:pt x="353117" y="330532"/>
                  <a:pt x="330532" y="353117"/>
                  <a:pt x="302671" y="353117"/>
                </a:cubicBezTo>
                <a:lnTo>
                  <a:pt x="50446" y="353117"/>
                </a:lnTo>
                <a:cubicBezTo>
                  <a:pt x="22586" y="353117"/>
                  <a:pt x="0" y="330532"/>
                  <a:pt x="0" y="302671"/>
                </a:cubicBezTo>
                <a:lnTo>
                  <a:pt x="0" y="50446"/>
                </a:lnTo>
                <a:cubicBezTo>
                  <a:pt x="0" y="22604"/>
                  <a:pt x="22604" y="0"/>
                  <a:pt x="50446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8511857" y="4647274"/>
            <a:ext cx="441396" cy="353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9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010005" y="4647274"/>
            <a:ext cx="6583112" cy="327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89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直接丢弃该 Manifest</a:t>
            </a:r>
            <a:r>
              <a:rPr lang="en-US" sz="1589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，不再读取其中的文件列表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555997" y="5101282"/>
            <a:ext cx="353117" cy="353117"/>
          </a:xfrm>
          <a:custGeom>
            <a:avLst/>
            <a:gdLst/>
            <a:ahLst/>
            <a:cxnLst/>
            <a:rect l="l" t="t" r="r" b="b"/>
            <a:pathLst>
              <a:path w="353117" h="353117">
                <a:moveTo>
                  <a:pt x="50446" y="0"/>
                </a:moveTo>
                <a:lnTo>
                  <a:pt x="302671" y="0"/>
                </a:lnTo>
                <a:cubicBezTo>
                  <a:pt x="330532" y="0"/>
                  <a:pt x="353117" y="22586"/>
                  <a:pt x="353117" y="50446"/>
                </a:cubicBezTo>
                <a:lnTo>
                  <a:pt x="353117" y="302671"/>
                </a:lnTo>
                <a:cubicBezTo>
                  <a:pt x="353117" y="330532"/>
                  <a:pt x="330532" y="353117"/>
                  <a:pt x="302671" y="353117"/>
                </a:cubicBezTo>
                <a:lnTo>
                  <a:pt x="50446" y="353117"/>
                </a:lnTo>
                <a:cubicBezTo>
                  <a:pt x="22586" y="353117"/>
                  <a:pt x="0" y="330532"/>
                  <a:pt x="0" y="302671"/>
                </a:cubicBezTo>
                <a:lnTo>
                  <a:pt x="0" y="50446"/>
                </a:lnTo>
                <a:cubicBezTo>
                  <a:pt x="0" y="22604"/>
                  <a:pt x="22604" y="0"/>
                  <a:pt x="50446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8511857" y="5101282"/>
            <a:ext cx="441396" cy="353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9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010005" y="5101282"/>
            <a:ext cx="6583112" cy="327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89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只处理包含 </a:t>
            </a:r>
            <a:r>
              <a:rPr lang="en-US" sz="1192" dirty="0">
                <a:solidFill>
                  <a:srgbClr val="F8F9FA">
                    <a:alpha val="80000"/>
                  </a:srgbClr>
                </a:solidFill>
                <a:highlight>
                  <a:srgbClr val="1A1D21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dt='2023' </a:t>
            </a:r>
            <a:r>
              <a:rPr lang="en-US" sz="1589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数据的 Manifest File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10759" y="5914712"/>
            <a:ext cx="15234483" cy="1525971"/>
          </a:xfrm>
          <a:custGeom>
            <a:avLst/>
            <a:gdLst/>
            <a:ahLst/>
            <a:cxnLst/>
            <a:rect l="l" t="t" r="r" b="b"/>
            <a:pathLst>
              <a:path w="15234483" h="1525971">
                <a:moveTo>
                  <a:pt x="0" y="0"/>
                </a:moveTo>
                <a:lnTo>
                  <a:pt x="15234483" y="0"/>
                </a:lnTo>
                <a:lnTo>
                  <a:pt x="15234483" y="1525971"/>
                </a:lnTo>
                <a:lnTo>
                  <a:pt x="0" y="1525971"/>
                </a:lnTo>
                <a:lnTo>
                  <a:pt x="0" y="0"/>
                </a:lnTo>
                <a:close/>
              </a:path>
            </a:pathLst>
          </a:custGeom>
          <a:solidFill>
            <a:srgbClr val="D4A237">
              <a:alpha val="10196"/>
            </a:srgbClr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794514" y="6173244"/>
            <a:ext cx="227004" cy="302672"/>
          </a:xfrm>
          <a:custGeom>
            <a:avLst/>
            <a:gdLst/>
            <a:ahLst/>
            <a:cxnLst/>
            <a:rect l="l" t="t" r="r" b="b"/>
            <a:pathLst>
              <a:path w="227004" h="302672">
                <a:moveTo>
                  <a:pt x="173150" y="227004"/>
                </a:moveTo>
                <a:cubicBezTo>
                  <a:pt x="177465" y="213821"/>
                  <a:pt x="186096" y="201880"/>
                  <a:pt x="195850" y="191594"/>
                </a:cubicBezTo>
                <a:cubicBezTo>
                  <a:pt x="215181" y="171258"/>
                  <a:pt x="227004" y="143769"/>
                  <a:pt x="227004" y="113502"/>
                </a:cubicBezTo>
                <a:cubicBezTo>
                  <a:pt x="227004" y="50839"/>
                  <a:pt x="176164" y="0"/>
                  <a:pt x="113502" y="0"/>
                </a:cubicBezTo>
                <a:cubicBezTo>
                  <a:pt x="50839" y="0"/>
                  <a:pt x="0" y="50839"/>
                  <a:pt x="0" y="113502"/>
                </a:cubicBezTo>
                <a:cubicBezTo>
                  <a:pt x="0" y="143769"/>
                  <a:pt x="11823" y="171258"/>
                  <a:pt x="31154" y="191594"/>
                </a:cubicBezTo>
                <a:cubicBezTo>
                  <a:pt x="40908" y="201880"/>
                  <a:pt x="49598" y="213821"/>
                  <a:pt x="53854" y="227004"/>
                </a:cubicBezTo>
                <a:lnTo>
                  <a:pt x="173090" y="227004"/>
                </a:lnTo>
                <a:close/>
                <a:moveTo>
                  <a:pt x="170253" y="255379"/>
                </a:moveTo>
                <a:lnTo>
                  <a:pt x="56751" y="255379"/>
                </a:lnTo>
                <a:lnTo>
                  <a:pt x="56751" y="264838"/>
                </a:lnTo>
                <a:cubicBezTo>
                  <a:pt x="56751" y="290967"/>
                  <a:pt x="77914" y="312130"/>
                  <a:pt x="104043" y="312130"/>
                </a:cubicBezTo>
                <a:lnTo>
                  <a:pt x="122960" y="312130"/>
                </a:lnTo>
                <a:cubicBezTo>
                  <a:pt x="149090" y="312130"/>
                  <a:pt x="170253" y="290967"/>
                  <a:pt x="170253" y="264838"/>
                </a:cubicBezTo>
                <a:lnTo>
                  <a:pt x="170253" y="255379"/>
                </a:lnTo>
                <a:close/>
                <a:moveTo>
                  <a:pt x="108773" y="66209"/>
                </a:moveTo>
                <a:cubicBezTo>
                  <a:pt x="85245" y="66209"/>
                  <a:pt x="66209" y="85245"/>
                  <a:pt x="66209" y="108773"/>
                </a:cubicBezTo>
                <a:cubicBezTo>
                  <a:pt x="66209" y="116635"/>
                  <a:pt x="59884" y="122960"/>
                  <a:pt x="52022" y="122960"/>
                </a:cubicBezTo>
                <a:cubicBezTo>
                  <a:pt x="44159" y="122960"/>
                  <a:pt x="37834" y="116635"/>
                  <a:pt x="37834" y="108773"/>
                </a:cubicBezTo>
                <a:cubicBezTo>
                  <a:pt x="37834" y="69579"/>
                  <a:pt x="69579" y="37834"/>
                  <a:pt x="108773" y="37834"/>
                </a:cubicBezTo>
                <a:cubicBezTo>
                  <a:pt x="116635" y="37834"/>
                  <a:pt x="122960" y="44159"/>
                  <a:pt x="122960" y="52022"/>
                </a:cubicBezTo>
                <a:cubicBezTo>
                  <a:pt x="122960" y="59884"/>
                  <a:pt x="116635" y="66209"/>
                  <a:pt x="108773" y="66209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1298967" y="6122799"/>
            <a:ext cx="14351690" cy="353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87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核心洞察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298967" y="6576807"/>
            <a:ext cx="14339078" cy="655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89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Manifest List 通过</a:t>
            </a:r>
            <a:r>
              <a:rPr lang="en-US" sz="1589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分区级统计信息</a:t>
            </a:r>
            <a:r>
              <a:rPr lang="en-US" sz="1589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实现了</a:t>
            </a:r>
            <a:r>
              <a:rPr lang="en-US" sz="1589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Manifest 级别的裁剪</a:t>
            </a:r>
            <a:r>
              <a:rPr lang="en-US" sz="1589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。查询优化器可以在不读取具体数据文件的情况下，快速判断哪些 Manifest File 可能包含目标数据，从而大幅减少需要处理的文件数量。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10759" y="7655075"/>
            <a:ext cx="4931029" cy="971072"/>
          </a:xfrm>
          <a:custGeom>
            <a:avLst/>
            <a:gdLst/>
            <a:ahLst/>
            <a:cxnLst/>
            <a:rect l="l" t="t" r="r" b="b"/>
            <a:pathLst>
              <a:path w="4931029" h="971072">
                <a:moveTo>
                  <a:pt x="0" y="0"/>
                </a:moveTo>
                <a:lnTo>
                  <a:pt x="4931029" y="0"/>
                </a:lnTo>
                <a:lnTo>
                  <a:pt x="4931029" y="971072"/>
                </a:lnTo>
                <a:lnTo>
                  <a:pt x="0" y="971072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30196"/>
            </a:srgbClr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693623" y="7863162"/>
            <a:ext cx="201781" cy="201781"/>
          </a:xfrm>
          <a:custGeom>
            <a:avLst/>
            <a:gdLst/>
            <a:ahLst/>
            <a:cxnLst/>
            <a:rect l="l" t="t" r="r" b="b"/>
            <a:pathLst>
              <a:path w="201781" h="201781">
                <a:moveTo>
                  <a:pt x="12611" y="25223"/>
                </a:moveTo>
                <a:cubicBezTo>
                  <a:pt x="7527" y="25223"/>
                  <a:pt x="2916" y="28297"/>
                  <a:pt x="946" y="33026"/>
                </a:cubicBezTo>
                <a:cubicBezTo>
                  <a:pt x="-1025" y="37755"/>
                  <a:pt x="79" y="43154"/>
                  <a:pt x="3705" y="46741"/>
                </a:cubicBezTo>
                <a:lnTo>
                  <a:pt x="75668" y="118744"/>
                </a:lnTo>
                <a:lnTo>
                  <a:pt x="75668" y="163947"/>
                </a:lnTo>
                <a:cubicBezTo>
                  <a:pt x="75668" y="167297"/>
                  <a:pt x="77008" y="170489"/>
                  <a:pt x="79373" y="172854"/>
                </a:cubicBezTo>
                <a:lnTo>
                  <a:pt x="104595" y="198077"/>
                </a:lnTo>
                <a:cubicBezTo>
                  <a:pt x="108221" y="201702"/>
                  <a:pt x="113620" y="202766"/>
                  <a:pt x="118349" y="200796"/>
                </a:cubicBezTo>
                <a:cubicBezTo>
                  <a:pt x="123079" y="198825"/>
                  <a:pt x="126113" y="194254"/>
                  <a:pt x="126113" y="189170"/>
                </a:cubicBezTo>
                <a:lnTo>
                  <a:pt x="126113" y="118744"/>
                </a:lnTo>
                <a:lnTo>
                  <a:pt x="198077" y="46780"/>
                </a:lnTo>
                <a:cubicBezTo>
                  <a:pt x="201702" y="43154"/>
                  <a:pt x="202766" y="37755"/>
                  <a:pt x="200796" y="33026"/>
                </a:cubicBezTo>
                <a:cubicBezTo>
                  <a:pt x="198825" y="28297"/>
                  <a:pt x="194254" y="25223"/>
                  <a:pt x="189170" y="25223"/>
                </a:cubicBezTo>
                <a:lnTo>
                  <a:pt x="12611" y="25223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1021517" y="7812717"/>
            <a:ext cx="908016" cy="302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9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分区裁剪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68400" y="8216279"/>
            <a:ext cx="4704025" cy="252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基于分区统计快速过滤无关 Manifest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659825" y="7655075"/>
            <a:ext cx="4931029" cy="971072"/>
          </a:xfrm>
          <a:custGeom>
            <a:avLst/>
            <a:gdLst/>
            <a:ahLst/>
            <a:cxnLst/>
            <a:rect l="l" t="t" r="r" b="b"/>
            <a:pathLst>
              <a:path w="4931029" h="971072">
                <a:moveTo>
                  <a:pt x="0" y="0"/>
                </a:moveTo>
                <a:lnTo>
                  <a:pt x="4931029" y="0"/>
                </a:lnTo>
                <a:lnTo>
                  <a:pt x="4931029" y="971072"/>
                </a:lnTo>
                <a:lnTo>
                  <a:pt x="0" y="971072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30196"/>
            </a:srgbClr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5817467" y="7863162"/>
            <a:ext cx="252227" cy="201781"/>
          </a:xfrm>
          <a:custGeom>
            <a:avLst/>
            <a:gdLst/>
            <a:ahLst/>
            <a:cxnLst/>
            <a:rect l="l" t="t" r="r" b="b"/>
            <a:pathLst>
              <a:path w="252227" h="201781">
                <a:moveTo>
                  <a:pt x="151336" y="12611"/>
                </a:moveTo>
                <a:lnTo>
                  <a:pt x="201781" y="12611"/>
                </a:lnTo>
                <a:cubicBezTo>
                  <a:pt x="208757" y="12611"/>
                  <a:pt x="214393" y="18247"/>
                  <a:pt x="214393" y="25223"/>
                </a:cubicBezTo>
                <a:cubicBezTo>
                  <a:pt x="214393" y="32198"/>
                  <a:pt x="208757" y="37834"/>
                  <a:pt x="201781" y="37834"/>
                </a:cubicBezTo>
                <a:lnTo>
                  <a:pt x="157011" y="37834"/>
                </a:lnTo>
                <a:cubicBezTo>
                  <a:pt x="154962" y="48002"/>
                  <a:pt x="147986" y="56396"/>
                  <a:pt x="138725" y="60416"/>
                </a:cubicBezTo>
                <a:lnTo>
                  <a:pt x="138725" y="176559"/>
                </a:lnTo>
                <a:lnTo>
                  <a:pt x="201781" y="176559"/>
                </a:lnTo>
                <a:cubicBezTo>
                  <a:pt x="208757" y="176559"/>
                  <a:pt x="214393" y="182194"/>
                  <a:pt x="214393" y="189170"/>
                </a:cubicBezTo>
                <a:cubicBezTo>
                  <a:pt x="214393" y="196146"/>
                  <a:pt x="208757" y="201781"/>
                  <a:pt x="201781" y="201781"/>
                </a:cubicBezTo>
                <a:lnTo>
                  <a:pt x="50445" y="201781"/>
                </a:lnTo>
                <a:cubicBezTo>
                  <a:pt x="43470" y="201781"/>
                  <a:pt x="37834" y="196146"/>
                  <a:pt x="37834" y="189170"/>
                </a:cubicBezTo>
                <a:cubicBezTo>
                  <a:pt x="37834" y="182194"/>
                  <a:pt x="43470" y="176559"/>
                  <a:pt x="50445" y="176559"/>
                </a:cubicBezTo>
                <a:lnTo>
                  <a:pt x="113502" y="176559"/>
                </a:lnTo>
                <a:lnTo>
                  <a:pt x="113502" y="60416"/>
                </a:lnTo>
                <a:cubicBezTo>
                  <a:pt x="104240" y="56357"/>
                  <a:pt x="97265" y="47962"/>
                  <a:pt x="95216" y="37834"/>
                </a:cubicBezTo>
                <a:lnTo>
                  <a:pt x="50445" y="37834"/>
                </a:lnTo>
                <a:cubicBezTo>
                  <a:pt x="43470" y="37834"/>
                  <a:pt x="37834" y="32198"/>
                  <a:pt x="37834" y="25223"/>
                </a:cubicBezTo>
                <a:cubicBezTo>
                  <a:pt x="37834" y="18247"/>
                  <a:pt x="43470" y="12611"/>
                  <a:pt x="50445" y="12611"/>
                </a:cubicBezTo>
                <a:lnTo>
                  <a:pt x="100891" y="12611"/>
                </a:lnTo>
                <a:cubicBezTo>
                  <a:pt x="106645" y="4966"/>
                  <a:pt x="115788" y="0"/>
                  <a:pt x="126113" y="0"/>
                </a:cubicBezTo>
                <a:cubicBezTo>
                  <a:pt x="136439" y="0"/>
                  <a:pt x="145582" y="4966"/>
                  <a:pt x="151336" y="12611"/>
                </a:cubicBezTo>
                <a:close/>
                <a:moveTo>
                  <a:pt x="173248" y="126113"/>
                </a:moveTo>
                <a:lnTo>
                  <a:pt x="230314" y="126113"/>
                </a:lnTo>
                <a:lnTo>
                  <a:pt x="201781" y="77166"/>
                </a:lnTo>
                <a:lnTo>
                  <a:pt x="173248" y="126113"/>
                </a:lnTo>
                <a:close/>
                <a:moveTo>
                  <a:pt x="201781" y="163947"/>
                </a:moveTo>
                <a:cubicBezTo>
                  <a:pt x="176992" y="163947"/>
                  <a:pt x="156380" y="150548"/>
                  <a:pt x="152124" y="132852"/>
                </a:cubicBezTo>
                <a:cubicBezTo>
                  <a:pt x="151099" y="128517"/>
                  <a:pt x="152518" y="124064"/>
                  <a:pt x="154765" y="120202"/>
                </a:cubicBezTo>
                <a:lnTo>
                  <a:pt x="192283" y="55884"/>
                </a:lnTo>
                <a:cubicBezTo>
                  <a:pt x="194254" y="52495"/>
                  <a:pt x="197880" y="50445"/>
                  <a:pt x="201781" y="50445"/>
                </a:cubicBezTo>
                <a:cubicBezTo>
                  <a:pt x="205683" y="50445"/>
                  <a:pt x="209309" y="52534"/>
                  <a:pt x="211279" y="55884"/>
                </a:cubicBezTo>
                <a:lnTo>
                  <a:pt x="248798" y="120202"/>
                </a:lnTo>
                <a:cubicBezTo>
                  <a:pt x="251044" y="124064"/>
                  <a:pt x="252463" y="128517"/>
                  <a:pt x="251438" y="132852"/>
                </a:cubicBezTo>
                <a:cubicBezTo>
                  <a:pt x="247182" y="150508"/>
                  <a:pt x="226570" y="163947"/>
                  <a:pt x="201781" y="163947"/>
                </a:cubicBezTo>
                <a:close/>
                <a:moveTo>
                  <a:pt x="49972" y="77166"/>
                </a:moveTo>
                <a:lnTo>
                  <a:pt x="21439" y="126113"/>
                </a:lnTo>
                <a:lnTo>
                  <a:pt x="78545" y="126113"/>
                </a:lnTo>
                <a:lnTo>
                  <a:pt x="49972" y="77166"/>
                </a:lnTo>
                <a:close/>
                <a:moveTo>
                  <a:pt x="355" y="132852"/>
                </a:moveTo>
                <a:cubicBezTo>
                  <a:pt x="-670" y="128517"/>
                  <a:pt x="749" y="124064"/>
                  <a:pt x="2995" y="120202"/>
                </a:cubicBezTo>
                <a:lnTo>
                  <a:pt x="40514" y="55884"/>
                </a:lnTo>
                <a:cubicBezTo>
                  <a:pt x="42484" y="52495"/>
                  <a:pt x="46110" y="50445"/>
                  <a:pt x="50012" y="50445"/>
                </a:cubicBezTo>
                <a:cubicBezTo>
                  <a:pt x="53913" y="50445"/>
                  <a:pt x="57539" y="52534"/>
                  <a:pt x="59510" y="55884"/>
                </a:cubicBezTo>
                <a:lnTo>
                  <a:pt x="97028" y="120202"/>
                </a:lnTo>
                <a:cubicBezTo>
                  <a:pt x="99275" y="124064"/>
                  <a:pt x="100694" y="128517"/>
                  <a:pt x="99669" y="132852"/>
                </a:cubicBezTo>
                <a:cubicBezTo>
                  <a:pt x="95413" y="150508"/>
                  <a:pt x="74801" y="163947"/>
                  <a:pt x="50012" y="163947"/>
                </a:cubicBezTo>
                <a:cubicBezTo>
                  <a:pt x="25223" y="163947"/>
                  <a:pt x="4611" y="150548"/>
                  <a:pt x="355" y="132852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6170584" y="7812717"/>
            <a:ext cx="1109797" cy="302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9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粗粒度过滤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817467" y="8216279"/>
            <a:ext cx="4704025" cy="252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先 Manifest 级过滤，再文件级过滤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0808991" y="7655075"/>
            <a:ext cx="4931029" cy="971072"/>
          </a:xfrm>
          <a:custGeom>
            <a:avLst/>
            <a:gdLst/>
            <a:ahLst/>
            <a:cxnLst/>
            <a:rect l="l" t="t" r="r" b="b"/>
            <a:pathLst>
              <a:path w="4931029" h="971072">
                <a:moveTo>
                  <a:pt x="0" y="0"/>
                </a:moveTo>
                <a:lnTo>
                  <a:pt x="4931029" y="0"/>
                </a:lnTo>
                <a:lnTo>
                  <a:pt x="4931029" y="971072"/>
                </a:lnTo>
                <a:lnTo>
                  <a:pt x="0" y="971072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30196"/>
            </a:srgbClr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10991855" y="7863162"/>
            <a:ext cx="201781" cy="201781"/>
          </a:xfrm>
          <a:custGeom>
            <a:avLst/>
            <a:gdLst/>
            <a:ahLst/>
            <a:cxnLst/>
            <a:rect l="l" t="t" r="r" b="b"/>
            <a:pathLst>
              <a:path w="201781" h="201781">
                <a:moveTo>
                  <a:pt x="50445" y="126113"/>
                </a:moveTo>
                <a:lnTo>
                  <a:pt x="9656" y="126113"/>
                </a:lnTo>
                <a:cubicBezTo>
                  <a:pt x="-158" y="126113"/>
                  <a:pt x="-6187" y="115433"/>
                  <a:pt x="-1143" y="106999"/>
                </a:cubicBezTo>
                <a:lnTo>
                  <a:pt x="19705" y="72239"/>
                </a:lnTo>
                <a:cubicBezTo>
                  <a:pt x="23134" y="66525"/>
                  <a:pt x="29282" y="63057"/>
                  <a:pt x="35942" y="63057"/>
                </a:cubicBezTo>
                <a:lnTo>
                  <a:pt x="73382" y="63057"/>
                </a:lnTo>
                <a:cubicBezTo>
                  <a:pt x="103373" y="12257"/>
                  <a:pt x="148104" y="9695"/>
                  <a:pt x="178017" y="14070"/>
                </a:cubicBezTo>
                <a:cubicBezTo>
                  <a:pt x="183061" y="14818"/>
                  <a:pt x="187002" y="18759"/>
                  <a:pt x="187712" y="23764"/>
                </a:cubicBezTo>
                <a:cubicBezTo>
                  <a:pt x="192086" y="53677"/>
                  <a:pt x="189525" y="98408"/>
                  <a:pt x="138725" y="128399"/>
                </a:cubicBezTo>
                <a:lnTo>
                  <a:pt x="138725" y="165839"/>
                </a:lnTo>
                <a:cubicBezTo>
                  <a:pt x="138725" y="172499"/>
                  <a:pt x="135256" y="178647"/>
                  <a:pt x="129542" y="182076"/>
                </a:cubicBezTo>
                <a:lnTo>
                  <a:pt x="94782" y="202924"/>
                </a:lnTo>
                <a:cubicBezTo>
                  <a:pt x="86388" y="207969"/>
                  <a:pt x="75668" y="201899"/>
                  <a:pt x="75668" y="192126"/>
                </a:cubicBezTo>
                <a:lnTo>
                  <a:pt x="75668" y="151336"/>
                </a:lnTo>
                <a:cubicBezTo>
                  <a:pt x="75668" y="137424"/>
                  <a:pt x="64357" y="126113"/>
                  <a:pt x="50445" y="126113"/>
                </a:cubicBezTo>
                <a:lnTo>
                  <a:pt x="50406" y="126113"/>
                </a:lnTo>
                <a:close/>
                <a:moveTo>
                  <a:pt x="157642" y="63057"/>
                </a:moveTo>
                <a:cubicBezTo>
                  <a:pt x="157642" y="52616"/>
                  <a:pt x="149165" y="44140"/>
                  <a:pt x="138725" y="44140"/>
                </a:cubicBezTo>
                <a:cubicBezTo>
                  <a:pt x="128284" y="44140"/>
                  <a:pt x="119808" y="52616"/>
                  <a:pt x="119808" y="63057"/>
                </a:cubicBezTo>
                <a:cubicBezTo>
                  <a:pt x="119808" y="73497"/>
                  <a:pt x="128284" y="81974"/>
                  <a:pt x="138725" y="81974"/>
                </a:cubicBezTo>
                <a:cubicBezTo>
                  <a:pt x="149165" y="81974"/>
                  <a:pt x="157642" y="73497"/>
                  <a:pt x="157642" y="63057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11319749" y="7812717"/>
            <a:ext cx="908016" cy="302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9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性能优化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0966632" y="8216279"/>
            <a:ext cx="4704025" cy="252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减少元数据读取开销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5818" y="435818"/>
            <a:ext cx="15460633" cy="217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1" b="1" kern="0" spc="180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Layer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35818" y="740890"/>
            <a:ext cx="15580483" cy="435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88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第三层：Manifest File（文件清单）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609" y="1351035"/>
            <a:ext cx="7561437" cy="4826681"/>
          </a:xfrm>
          <a:custGeom>
            <a:avLst/>
            <a:gdLst/>
            <a:ahLst/>
            <a:cxnLst/>
            <a:rect l="l" t="t" r="r" b="b"/>
            <a:pathLst>
              <a:path w="7561437" h="4826681">
                <a:moveTo>
                  <a:pt x="0" y="0"/>
                </a:moveTo>
                <a:lnTo>
                  <a:pt x="7561437" y="0"/>
                </a:lnTo>
                <a:lnTo>
                  <a:pt x="7561437" y="4826681"/>
                </a:lnTo>
                <a:lnTo>
                  <a:pt x="0" y="4826681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57609" y="1351035"/>
            <a:ext cx="43582" cy="4826681"/>
          </a:xfrm>
          <a:custGeom>
            <a:avLst/>
            <a:gdLst/>
            <a:ahLst/>
            <a:cxnLst/>
            <a:rect l="l" t="t" r="r" b="b"/>
            <a:pathLst>
              <a:path w="43582" h="4826681">
                <a:moveTo>
                  <a:pt x="0" y="0"/>
                </a:moveTo>
                <a:lnTo>
                  <a:pt x="43582" y="0"/>
                </a:lnTo>
                <a:lnTo>
                  <a:pt x="43582" y="4826681"/>
                </a:lnTo>
                <a:lnTo>
                  <a:pt x="0" y="4826681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97308" y="1568944"/>
            <a:ext cx="7212783" cy="30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16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Manifest File 文件内容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97308" y="2004761"/>
            <a:ext cx="7190992" cy="283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73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这是</a:t>
            </a:r>
            <a:r>
              <a:rPr lang="en-US" sz="1373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最底层的"文件清单"</a:t>
            </a:r>
            <a:r>
              <a:rPr lang="en-US" sz="1373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（文件名如 </a:t>
            </a:r>
            <a:r>
              <a:rPr lang="en-US" sz="1201" dirty="0">
                <a:solidFill>
                  <a:srgbClr val="F8F9FA">
                    <a:alpha val="80000"/>
                  </a:srgbClr>
                </a:solidFill>
                <a:highlight>
                  <a:srgbClr val="1A1D21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123-m0.avro </a:t>
            </a:r>
            <a:r>
              <a:rPr lang="en-US" sz="1373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），记录了：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49062" y="2462370"/>
            <a:ext cx="147088" cy="196118"/>
          </a:xfrm>
          <a:custGeom>
            <a:avLst/>
            <a:gdLst/>
            <a:ahLst/>
            <a:cxnLst/>
            <a:rect l="l" t="t" r="r" b="b"/>
            <a:pathLst>
              <a:path w="147088" h="196118">
                <a:moveTo>
                  <a:pt x="24515" y="0"/>
                </a:moveTo>
                <a:cubicBezTo>
                  <a:pt x="10993" y="0"/>
                  <a:pt x="0" y="10993"/>
                  <a:pt x="0" y="24515"/>
                </a:cubicBezTo>
                <a:lnTo>
                  <a:pt x="0" y="171603"/>
                </a:lnTo>
                <a:cubicBezTo>
                  <a:pt x="0" y="185125"/>
                  <a:pt x="10993" y="196118"/>
                  <a:pt x="24515" y="196118"/>
                </a:cubicBezTo>
                <a:lnTo>
                  <a:pt x="122574" y="196118"/>
                </a:lnTo>
                <a:cubicBezTo>
                  <a:pt x="136095" y="196118"/>
                  <a:pt x="147088" y="185125"/>
                  <a:pt x="147088" y="171603"/>
                </a:cubicBezTo>
                <a:lnTo>
                  <a:pt x="147088" y="65309"/>
                </a:lnTo>
                <a:cubicBezTo>
                  <a:pt x="147088" y="58797"/>
                  <a:pt x="144522" y="52553"/>
                  <a:pt x="139926" y="47957"/>
                </a:cubicBezTo>
                <a:lnTo>
                  <a:pt x="99093" y="7163"/>
                </a:lnTo>
                <a:cubicBezTo>
                  <a:pt x="94497" y="2566"/>
                  <a:pt x="88291" y="0"/>
                  <a:pt x="81780" y="0"/>
                </a:cubicBezTo>
                <a:lnTo>
                  <a:pt x="24515" y="0"/>
                </a:lnTo>
                <a:close/>
                <a:moveTo>
                  <a:pt x="124680" y="67416"/>
                </a:moveTo>
                <a:lnTo>
                  <a:pt x="88866" y="67416"/>
                </a:lnTo>
                <a:cubicBezTo>
                  <a:pt x="83771" y="67416"/>
                  <a:pt x="79673" y="63317"/>
                  <a:pt x="79673" y="58223"/>
                </a:cubicBezTo>
                <a:lnTo>
                  <a:pt x="79673" y="22408"/>
                </a:lnTo>
                <a:lnTo>
                  <a:pt x="124680" y="67416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073201" y="2418788"/>
            <a:ext cx="6809651" cy="283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73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数据文件路径：</a:t>
            </a:r>
            <a:r>
              <a:rPr lang="en-US" sz="1373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具体的 Parquet/ORC 文件路径，如 </a:t>
            </a:r>
            <a:r>
              <a:rPr lang="en-US" sz="1029" dirty="0">
                <a:solidFill>
                  <a:srgbClr val="F8F9FA">
                    <a:alpha val="80000"/>
                  </a:srgbClr>
                </a:solidFill>
                <a:highlight>
                  <a:srgbClr val="1A1D21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s3://.../data.parquet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24547" y="2832815"/>
            <a:ext cx="196118" cy="196118"/>
          </a:xfrm>
          <a:custGeom>
            <a:avLst/>
            <a:gdLst/>
            <a:ahLst/>
            <a:cxnLst/>
            <a:rect l="l" t="t" r="r" b="b"/>
            <a:pathLst>
              <a:path w="196118" h="196118">
                <a:moveTo>
                  <a:pt x="24515" y="24515"/>
                </a:moveTo>
                <a:cubicBezTo>
                  <a:pt x="24515" y="17735"/>
                  <a:pt x="19037" y="12257"/>
                  <a:pt x="12257" y="12257"/>
                </a:cubicBezTo>
                <a:cubicBezTo>
                  <a:pt x="5478" y="12257"/>
                  <a:pt x="0" y="17735"/>
                  <a:pt x="0" y="24515"/>
                </a:cubicBezTo>
                <a:lnTo>
                  <a:pt x="0" y="153217"/>
                </a:lnTo>
                <a:cubicBezTo>
                  <a:pt x="0" y="170148"/>
                  <a:pt x="13713" y="183861"/>
                  <a:pt x="30643" y="183861"/>
                </a:cubicBezTo>
                <a:lnTo>
                  <a:pt x="183861" y="183861"/>
                </a:lnTo>
                <a:cubicBezTo>
                  <a:pt x="190640" y="183861"/>
                  <a:pt x="196118" y="178383"/>
                  <a:pt x="196118" y="171603"/>
                </a:cubicBezTo>
                <a:cubicBezTo>
                  <a:pt x="196118" y="164823"/>
                  <a:pt x="190640" y="159346"/>
                  <a:pt x="183861" y="159346"/>
                </a:cubicBezTo>
                <a:lnTo>
                  <a:pt x="30643" y="159346"/>
                </a:lnTo>
                <a:cubicBezTo>
                  <a:pt x="27273" y="159346"/>
                  <a:pt x="24515" y="156588"/>
                  <a:pt x="24515" y="153217"/>
                </a:cubicBezTo>
                <a:lnTo>
                  <a:pt x="24515" y="24515"/>
                </a:lnTo>
                <a:close/>
                <a:moveTo>
                  <a:pt x="180260" y="57686"/>
                </a:moveTo>
                <a:cubicBezTo>
                  <a:pt x="185048" y="52898"/>
                  <a:pt x="185048" y="45122"/>
                  <a:pt x="180260" y="40334"/>
                </a:cubicBezTo>
                <a:cubicBezTo>
                  <a:pt x="175472" y="35546"/>
                  <a:pt x="167696" y="35546"/>
                  <a:pt x="162908" y="40334"/>
                </a:cubicBezTo>
                <a:lnTo>
                  <a:pt x="122574" y="80707"/>
                </a:lnTo>
                <a:lnTo>
                  <a:pt x="100587" y="58759"/>
                </a:lnTo>
                <a:cubicBezTo>
                  <a:pt x="95799" y="53971"/>
                  <a:pt x="88023" y="53971"/>
                  <a:pt x="83235" y="58759"/>
                </a:cubicBezTo>
                <a:lnTo>
                  <a:pt x="46463" y="95531"/>
                </a:lnTo>
                <a:cubicBezTo>
                  <a:pt x="41675" y="100319"/>
                  <a:pt x="41675" y="108095"/>
                  <a:pt x="46463" y="112883"/>
                </a:cubicBezTo>
                <a:cubicBezTo>
                  <a:pt x="51251" y="117671"/>
                  <a:pt x="59027" y="117671"/>
                  <a:pt x="63815" y="112883"/>
                </a:cubicBezTo>
                <a:lnTo>
                  <a:pt x="91930" y="84767"/>
                </a:lnTo>
                <a:lnTo>
                  <a:pt x="113917" y="106754"/>
                </a:lnTo>
                <a:cubicBezTo>
                  <a:pt x="118705" y="111542"/>
                  <a:pt x="126481" y="111542"/>
                  <a:pt x="131269" y="106754"/>
                </a:cubicBezTo>
                <a:lnTo>
                  <a:pt x="180298" y="57725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073201" y="2789233"/>
            <a:ext cx="6809651" cy="283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73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列级统计信息：</a:t>
            </a:r>
            <a:r>
              <a:rPr lang="en-US" sz="1373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每个数据文件的 Column bounds（min/max values, null counts）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24547" y="3203260"/>
            <a:ext cx="196118" cy="196118"/>
          </a:xfrm>
          <a:custGeom>
            <a:avLst/>
            <a:gdLst/>
            <a:ahLst/>
            <a:cxnLst/>
            <a:rect l="l" t="t" r="r" b="b"/>
            <a:pathLst>
              <a:path w="196118" h="196118">
                <a:moveTo>
                  <a:pt x="25243" y="87525"/>
                </a:moveTo>
                <a:cubicBezTo>
                  <a:pt x="30337" y="51902"/>
                  <a:pt x="61019" y="24515"/>
                  <a:pt x="98059" y="24515"/>
                </a:cubicBezTo>
                <a:cubicBezTo>
                  <a:pt x="118360" y="24515"/>
                  <a:pt x="136746" y="32750"/>
                  <a:pt x="150076" y="46042"/>
                </a:cubicBezTo>
                <a:cubicBezTo>
                  <a:pt x="150153" y="46118"/>
                  <a:pt x="150229" y="46195"/>
                  <a:pt x="150306" y="46272"/>
                </a:cubicBezTo>
                <a:lnTo>
                  <a:pt x="153217" y="49029"/>
                </a:lnTo>
                <a:lnTo>
                  <a:pt x="134869" y="49029"/>
                </a:lnTo>
                <a:cubicBezTo>
                  <a:pt x="128090" y="49029"/>
                  <a:pt x="122612" y="54507"/>
                  <a:pt x="122612" y="61287"/>
                </a:cubicBezTo>
                <a:cubicBezTo>
                  <a:pt x="122612" y="68067"/>
                  <a:pt x="128090" y="73544"/>
                  <a:pt x="134869" y="73544"/>
                </a:cubicBezTo>
                <a:lnTo>
                  <a:pt x="183899" y="73544"/>
                </a:lnTo>
                <a:cubicBezTo>
                  <a:pt x="190679" y="73544"/>
                  <a:pt x="196156" y="68067"/>
                  <a:pt x="196156" y="61287"/>
                </a:cubicBezTo>
                <a:lnTo>
                  <a:pt x="196156" y="12257"/>
                </a:lnTo>
                <a:cubicBezTo>
                  <a:pt x="196156" y="5478"/>
                  <a:pt x="190679" y="0"/>
                  <a:pt x="183899" y="0"/>
                </a:cubicBezTo>
                <a:cubicBezTo>
                  <a:pt x="177119" y="0"/>
                  <a:pt x="171642" y="5478"/>
                  <a:pt x="171642" y="12257"/>
                </a:cubicBezTo>
                <a:lnTo>
                  <a:pt x="171642" y="32712"/>
                </a:lnTo>
                <a:lnTo>
                  <a:pt x="167313" y="28613"/>
                </a:lnTo>
                <a:cubicBezTo>
                  <a:pt x="149578" y="10955"/>
                  <a:pt x="125064" y="0"/>
                  <a:pt x="98059" y="0"/>
                </a:cubicBezTo>
                <a:cubicBezTo>
                  <a:pt x="48646" y="0"/>
                  <a:pt x="7776" y="36542"/>
                  <a:pt x="996" y="84078"/>
                </a:cubicBezTo>
                <a:cubicBezTo>
                  <a:pt x="38" y="90781"/>
                  <a:pt x="4673" y="96986"/>
                  <a:pt x="11376" y="97944"/>
                </a:cubicBezTo>
                <a:cubicBezTo>
                  <a:pt x="18080" y="98902"/>
                  <a:pt x="24285" y="94229"/>
                  <a:pt x="25243" y="87564"/>
                </a:cubicBezTo>
                <a:close/>
                <a:moveTo>
                  <a:pt x="195122" y="112040"/>
                </a:moveTo>
                <a:cubicBezTo>
                  <a:pt x="196080" y="105337"/>
                  <a:pt x="191407" y="99132"/>
                  <a:pt x="184742" y="98174"/>
                </a:cubicBezTo>
                <a:cubicBezTo>
                  <a:pt x="178077" y="97216"/>
                  <a:pt x="171833" y="101889"/>
                  <a:pt x="170875" y="108554"/>
                </a:cubicBezTo>
                <a:cubicBezTo>
                  <a:pt x="165781" y="144177"/>
                  <a:pt x="135099" y="171565"/>
                  <a:pt x="98059" y="171565"/>
                </a:cubicBezTo>
                <a:cubicBezTo>
                  <a:pt x="77758" y="171565"/>
                  <a:pt x="59372" y="163329"/>
                  <a:pt x="46042" y="150038"/>
                </a:cubicBezTo>
                <a:cubicBezTo>
                  <a:pt x="45965" y="149961"/>
                  <a:pt x="45889" y="149885"/>
                  <a:pt x="45812" y="149808"/>
                </a:cubicBezTo>
                <a:lnTo>
                  <a:pt x="42901" y="147050"/>
                </a:lnTo>
                <a:lnTo>
                  <a:pt x="61249" y="147050"/>
                </a:lnTo>
                <a:cubicBezTo>
                  <a:pt x="68028" y="147050"/>
                  <a:pt x="73506" y="141573"/>
                  <a:pt x="73506" y="134793"/>
                </a:cubicBezTo>
                <a:cubicBezTo>
                  <a:pt x="73506" y="128013"/>
                  <a:pt x="68028" y="122535"/>
                  <a:pt x="61249" y="122535"/>
                </a:cubicBezTo>
                <a:lnTo>
                  <a:pt x="12257" y="122574"/>
                </a:lnTo>
                <a:cubicBezTo>
                  <a:pt x="9002" y="122574"/>
                  <a:pt x="5861" y="123876"/>
                  <a:pt x="3562" y="126213"/>
                </a:cubicBezTo>
                <a:cubicBezTo>
                  <a:pt x="1264" y="128549"/>
                  <a:pt x="-38" y="131652"/>
                  <a:pt x="0" y="134946"/>
                </a:cubicBezTo>
                <a:lnTo>
                  <a:pt x="383" y="183592"/>
                </a:lnTo>
                <a:cubicBezTo>
                  <a:pt x="421" y="190372"/>
                  <a:pt x="5975" y="195812"/>
                  <a:pt x="12755" y="195735"/>
                </a:cubicBezTo>
                <a:cubicBezTo>
                  <a:pt x="19535" y="195658"/>
                  <a:pt x="24974" y="190142"/>
                  <a:pt x="24898" y="183363"/>
                </a:cubicBezTo>
                <a:lnTo>
                  <a:pt x="24745" y="163636"/>
                </a:lnTo>
                <a:lnTo>
                  <a:pt x="28843" y="167505"/>
                </a:lnTo>
                <a:cubicBezTo>
                  <a:pt x="46578" y="185163"/>
                  <a:pt x="71054" y="196118"/>
                  <a:pt x="98059" y="196118"/>
                </a:cubicBezTo>
                <a:cubicBezTo>
                  <a:pt x="147472" y="196118"/>
                  <a:pt x="188342" y="159576"/>
                  <a:pt x="195122" y="11204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073201" y="3159678"/>
            <a:ext cx="6809651" cy="283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73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文件元数据：</a:t>
            </a:r>
            <a:r>
              <a:rPr lang="en-US" sz="1373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文件大小、记录数、分区值等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56277" y="1351035"/>
            <a:ext cx="7561437" cy="4826681"/>
          </a:xfrm>
          <a:custGeom>
            <a:avLst/>
            <a:gdLst/>
            <a:ahLst/>
            <a:cxnLst/>
            <a:rect l="l" t="t" r="r" b="b"/>
            <a:pathLst>
              <a:path w="7561437" h="4826681">
                <a:moveTo>
                  <a:pt x="0" y="0"/>
                </a:moveTo>
                <a:lnTo>
                  <a:pt x="7561437" y="0"/>
                </a:lnTo>
                <a:lnTo>
                  <a:pt x="7561437" y="4826681"/>
                </a:lnTo>
                <a:lnTo>
                  <a:pt x="0" y="4826681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8256277" y="1351035"/>
            <a:ext cx="43582" cy="4826681"/>
          </a:xfrm>
          <a:custGeom>
            <a:avLst/>
            <a:gdLst/>
            <a:ahLst/>
            <a:cxnLst/>
            <a:rect l="l" t="t" r="r" b="b"/>
            <a:pathLst>
              <a:path w="43582" h="4826681">
                <a:moveTo>
                  <a:pt x="0" y="0"/>
                </a:moveTo>
                <a:lnTo>
                  <a:pt x="43582" y="0"/>
                </a:lnTo>
                <a:lnTo>
                  <a:pt x="43582" y="4826681"/>
                </a:lnTo>
                <a:lnTo>
                  <a:pt x="0" y="4826681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495977" y="1568944"/>
            <a:ext cx="7212783" cy="30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16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文件级过滤示例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495977" y="2004761"/>
            <a:ext cx="7103828" cy="838949"/>
          </a:xfrm>
          <a:custGeom>
            <a:avLst/>
            <a:gdLst/>
            <a:ahLst/>
            <a:cxnLst/>
            <a:rect l="l" t="t" r="r" b="b"/>
            <a:pathLst>
              <a:path w="7103828" h="838949">
                <a:moveTo>
                  <a:pt x="0" y="0"/>
                </a:moveTo>
                <a:lnTo>
                  <a:pt x="7103828" y="0"/>
                </a:lnTo>
                <a:lnTo>
                  <a:pt x="7103828" y="838949"/>
                </a:lnTo>
                <a:lnTo>
                  <a:pt x="0" y="838949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626722" y="2135507"/>
            <a:ext cx="6918606" cy="217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1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查询条件：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26722" y="2473265"/>
            <a:ext cx="3655591" cy="207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3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SELECT * FROM users WHERE id &gt; 100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501424" y="2974456"/>
            <a:ext cx="7092933" cy="926113"/>
          </a:xfrm>
          <a:custGeom>
            <a:avLst/>
            <a:gdLst/>
            <a:ahLst/>
            <a:cxnLst/>
            <a:rect l="l" t="t" r="r" b="b"/>
            <a:pathLst>
              <a:path w="7092933" h="926113">
                <a:moveTo>
                  <a:pt x="0" y="0"/>
                </a:moveTo>
                <a:lnTo>
                  <a:pt x="7092933" y="0"/>
                </a:lnTo>
                <a:lnTo>
                  <a:pt x="7092933" y="926113"/>
                </a:lnTo>
                <a:lnTo>
                  <a:pt x="0" y="926113"/>
                </a:lnTo>
                <a:lnTo>
                  <a:pt x="0" y="0"/>
                </a:lnTo>
                <a:close/>
              </a:path>
            </a:pathLst>
          </a:custGeom>
          <a:solidFill>
            <a:srgbClr val="D4A237">
              <a:alpha val="10196"/>
            </a:srgbClr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594036" y="3067067"/>
            <a:ext cx="6983979" cy="217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1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 A：user_data_001.parquet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94036" y="3328558"/>
            <a:ext cx="6973083" cy="1743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29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min_id = 200, max_id = 500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594036" y="3562810"/>
            <a:ext cx="697308" cy="261491"/>
          </a:xfrm>
          <a:custGeom>
            <a:avLst/>
            <a:gdLst/>
            <a:ahLst/>
            <a:cxnLst/>
            <a:rect l="l" t="t" r="r" b="b"/>
            <a:pathLst>
              <a:path w="697308" h="261491">
                <a:moveTo>
                  <a:pt x="43583" y="0"/>
                </a:moveTo>
                <a:lnTo>
                  <a:pt x="653726" y="0"/>
                </a:lnTo>
                <a:cubicBezTo>
                  <a:pt x="677780" y="0"/>
                  <a:pt x="697308" y="19529"/>
                  <a:pt x="697308" y="43583"/>
                </a:cubicBezTo>
                <a:lnTo>
                  <a:pt x="697308" y="217908"/>
                </a:lnTo>
                <a:cubicBezTo>
                  <a:pt x="697308" y="241978"/>
                  <a:pt x="677796" y="261491"/>
                  <a:pt x="653726" y="261491"/>
                </a:cubicBezTo>
                <a:lnTo>
                  <a:pt x="43583" y="261491"/>
                </a:lnTo>
                <a:cubicBezTo>
                  <a:pt x="19513" y="261491"/>
                  <a:pt x="0" y="241978"/>
                  <a:pt x="0" y="217908"/>
                </a:cubicBezTo>
                <a:lnTo>
                  <a:pt x="0" y="43583"/>
                </a:lnTo>
                <a:cubicBezTo>
                  <a:pt x="0" y="19529"/>
                  <a:pt x="19529" y="0"/>
                  <a:pt x="43583" y="0"/>
                </a:cubicBezTo>
                <a:close/>
              </a:path>
            </a:pathLst>
          </a:custGeom>
          <a:solidFill>
            <a:srgbClr val="00C950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8594036" y="3562810"/>
            <a:ext cx="762681" cy="261491"/>
          </a:xfrm>
          <a:prstGeom prst="rect">
            <a:avLst/>
          </a:prstGeom>
          <a:noFill/>
          <a:ln/>
        </p:spPr>
        <p:txBody>
          <a:bodyPr wrap="square" lIns="87164" tIns="43582" rIns="87164" bIns="43582" rtlCol="0" anchor="ctr"/>
          <a:lstStyle/>
          <a:p>
            <a:pPr>
              <a:lnSpc>
                <a:spcPct val="110000"/>
              </a:lnSpc>
            </a:pPr>
            <a:r>
              <a:rPr lang="en-US" sz="1029" b="1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必须读取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501424" y="3998627"/>
            <a:ext cx="7092933" cy="926113"/>
          </a:xfrm>
          <a:custGeom>
            <a:avLst/>
            <a:gdLst/>
            <a:ahLst/>
            <a:cxnLst/>
            <a:rect l="l" t="t" r="r" b="b"/>
            <a:pathLst>
              <a:path w="7092933" h="926113">
                <a:moveTo>
                  <a:pt x="0" y="0"/>
                </a:moveTo>
                <a:lnTo>
                  <a:pt x="7092933" y="0"/>
                </a:lnTo>
                <a:lnTo>
                  <a:pt x="7092933" y="926113"/>
                </a:lnTo>
                <a:lnTo>
                  <a:pt x="0" y="926113"/>
                </a:lnTo>
                <a:lnTo>
                  <a:pt x="0" y="0"/>
                </a:lnTo>
                <a:close/>
              </a:path>
            </a:pathLst>
          </a:custGeom>
          <a:solidFill>
            <a:srgbClr val="D4A237">
              <a:alpha val="10196"/>
            </a:srgbClr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594036" y="4091239"/>
            <a:ext cx="6983979" cy="217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1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 B：user_data_002.parquet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594036" y="4352729"/>
            <a:ext cx="6973083" cy="1743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29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min_id = 10, max_id = 50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594036" y="4586981"/>
            <a:ext cx="697308" cy="261491"/>
          </a:xfrm>
          <a:custGeom>
            <a:avLst/>
            <a:gdLst/>
            <a:ahLst/>
            <a:cxnLst/>
            <a:rect l="l" t="t" r="r" b="b"/>
            <a:pathLst>
              <a:path w="697308" h="261491">
                <a:moveTo>
                  <a:pt x="43583" y="0"/>
                </a:moveTo>
                <a:lnTo>
                  <a:pt x="653726" y="0"/>
                </a:lnTo>
                <a:cubicBezTo>
                  <a:pt x="677780" y="0"/>
                  <a:pt x="697308" y="19529"/>
                  <a:pt x="697308" y="43583"/>
                </a:cubicBezTo>
                <a:lnTo>
                  <a:pt x="697308" y="217908"/>
                </a:lnTo>
                <a:cubicBezTo>
                  <a:pt x="697308" y="241978"/>
                  <a:pt x="677796" y="261491"/>
                  <a:pt x="653726" y="261491"/>
                </a:cubicBezTo>
                <a:lnTo>
                  <a:pt x="43583" y="261491"/>
                </a:lnTo>
                <a:cubicBezTo>
                  <a:pt x="19513" y="261491"/>
                  <a:pt x="0" y="241978"/>
                  <a:pt x="0" y="217908"/>
                </a:cubicBezTo>
                <a:lnTo>
                  <a:pt x="0" y="43583"/>
                </a:lnTo>
                <a:cubicBezTo>
                  <a:pt x="0" y="19529"/>
                  <a:pt x="19529" y="0"/>
                  <a:pt x="43583" y="0"/>
                </a:cubicBezTo>
                <a:close/>
              </a:path>
            </a:pathLst>
          </a:custGeom>
          <a:solidFill>
            <a:srgbClr val="D4A23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594036" y="4586981"/>
            <a:ext cx="762681" cy="261491"/>
          </a:xfrm>
          <a:prstGeom prst="rect">
            <a:avLst/>
          </a:prstGeom>
          <a:noFill/>
          <a:ln/>
        </p:spPr>
        <p:txBody>
          <a:bodyPr wrap="square" lIns="87164" tIns="43582" rIns="87164" bIns="43582" rtlCol="0" anchor="ctr"/>
          <a:lstStyle/>
          <a:p>
            <a:pPr>
              <a:lnSpc>
                <a:spcPct val="110000"/>
              </a:lnSpc>
            </a:pPr>
            <a:r>
              <a:rPr lang="en-US" sz="1029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直接跳过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501424" y="5022799"/>
            <a:ext cx="7092933" cy="926113"/>
          </a:xfrm>
          <a:custGeom>
            <a:avLst/>
            <a:gdLst/>
            <a:ahLst/>
            <a:cxnLst/>
            <a:rect l="l" t="t" r="r" b="b"/>
            <a:pathLst>
              <a:path w="7092933" h="926113">
                <a:moveTo>
                  <a:pt x="0" y="0"/>
                </a:moveTo>
                <a:lnTo>
                  <a:pt x="7092933" y="0"/>
                </a:lnTo>
                <a:lnTo>
                  <a:pt x="7092933" y="926113"/>
                </a:lnTo>
                <a:lnTo>
                  <a:pt x="0" y="926113"/>
                </a:lnTo>
                <a:lnTo>
                  <a:pt x="0" y="0"/>
                </a:lnTo>
                <a:close/>
              </a:path>
            </a:pathLst>
          </a:custGeom>
          <a:solidFill>
            <a:srgbClr val="D4A237">
              <a:alpha val="10196"/>
            </a:srgbClr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594036" y="5115410"/>
            <a:ext cx="6983979" cy="217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1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 C：user_data_003.parquet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594036" y="5376901"/>
            <a:ext cx="6973083" cy="1743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29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min_id = 80, max_id = 150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594036" y="5611153"/>
            <a:ext cx="697308" cy="261491"/>
          </a:xfrm>
          <a:custGeom>
            <a:avLst/>
            <a:gdLst/>
            <a:ahLst/>
            <a:cxnLst/>
            <a:rect l="l" t="t" r="r" b="b"/>
            <a:pathLst>
              <a:path w="697308" h="261491">
                <a:moveTo>
                  <a:pt x="43583" y="0"/>
                </a:moveTo>
                <a:lnTo>
                  <a:pt x="653726" y="0"/>
                </a:lnTo>
                <a:cubicBezTo>
                  <a:pt x="677780" y="0"/>
                  <a:pt x="697308" y="19529"/>
                  <a:pt x="697308" y="43583"/>
                </a:cubicBezTo>
                <a:lnTo>
                  <a:pt x="697308" y="217908"/>
                </a:lnTo>
                <a:cubicBezTo>
                  <a:pt x="697308" y="241978"/>
                  <a:pt x="677796" y="261491"/>
                  <a:pt x="653726" y="261491"/>
                </a:cubicBezTo>
                <a:lnTo>
                  <a:pt x="43583" y="261491"/>
                </a:lnTo>
                <a:cubicBezTo>
                  <a:pt x="19513" y="261491"/>
                  <a:pt x="0" y="241978"/>
                  <a:pt x="0" y="217908"/>
                </a:cubicBezTo>
                <a:lnTo>
                  <a:pt x="0" y="43583"/>
                </a:lnTo>
                <a:cubicBezTo>
                  <a:pt x="0" y="19529"/>
                  <a:pt x="19529" y="0"/>
                  <a:pt x="43583" y="0"/>
                </a:cubicBezTo>
                <a:close/>
              </a:path>
            </a:pathLst>
          </a:custGeom>
          <a:solidFill>
            <a:srgbClr val="00C950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8594036" y="5611153"/>
            <a:ext cx="762681" cy="261491"/>
          </a:xfrm>
          <a:prstGeom prst="rect">
            <a:avLst/>
          </a:prstGeom>
          <a:noFill/>
          <a:ln/>
        </p:spPr>
        <p:txBody>
          <a:bodyPr wrap="square" lIns="87164" tIns="43582" rIns="87164" bIns="43582" rtlCol="0" anchor="ctr"/>
          <a:lstStyle/>
          <a:p>
            <a:pPr>
              <a:lnSpc>
                <a:spcPct val="110000"/>
              </a:lnSpc>
            </a:pPr>
            <a:r>
              <a:rPr lang="en-US" sz="1029" b="1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必须读取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41265" y="6352043"/>
            <a:ext cx="15373469" cy="1318349"/>
          </a:xfrm>
          <a:custGeom>
            <a:avLst/>
            <a:gdLst/>
            <a:ahLst/>
            <a:cxnLst/>
            <a:rect l="l" t="t" r="r" b="b"/>
            <a:pathLst>
              <a:path w="15373469" h="1318349">
                <a:moveTo>
                  <a:pt x="0" y="0"/>
                </a:moveTo>
                <a:lnTo>
                  <a:pt x="15373469" y="0"/>
                </a:lnTo>
                <a:lnTo>
                  <a:pt x="15373469" y="1318349"/>
                </a:lnTo>
                <a:lnTo>
                  <a:pt x="0" y="1318349"/>
                </a:lnTo>
                <a:lnTo>
                  <a:pt x="0" y="0"/>
                </a:lnTo>
                <a:close/>
              </a:path>
            </a:pathLst>
          </a:custGeom>
          <a:solidFill>
            <a:srgbClr val="D4A237">
              <a:alpha val="10196"/>
            </a:srgbClr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686413" y="6575399"/>
            <a:ext cx="196118" cy="261491"/>
          </a:xfrm>
          <a:custGeom>
            <a:avLst/>
            <a:gdLst/>
            <a:ahLst/>
            <a:cxnLst/>
            <a:rect l="l" t="t" r="r" b="b"/>
            <a:pathLst>
              <a:path w="196118" h="261491">
                <a:moveTo>
                  <a:pt x="149591" y="196118"/>
                </a:moveTo>
                <a:cubicBezTo>
                  <a:pt x="153319" y="184729"/>
                  <a:pt x="160776" y="174412"/>
                  <a:pt x="169203" y="165526"/>
                </a:cubicBezTo>
                <a:cubicBezTo>
                  <a:pt x="185903" y="147957"/>
                  <a:pt x="196118" y="124208"/>
                  <a:pt x="196118" y="98059"/>
                </a:cubicBezTo>
                <a:cubicBezTo>
                  <a:pt x="196118" y="43922"/>
                  <a:pt x="152196" y="0"/>
                  <a:pt x="98059" y="0"/>
                </a:cubicBezTo>
                <a:cubicBezTo>
                  <a:pt x="43922" y="0"/>
                  <a:pt x="0" y="43922"/>
                  <a:pt x="0" y="98059"/>
                </a:cubicBezTo>
                <a:cubicBezTo>
                  <a:pt x="0" y="124208"/>
                  <a:pt x="10214" y="147957"/>
                  <a:pt x="26915" y="165526"/>
                </a:cubicBezTo>
                <a:cubicBezTo>
                  <a:pt x="35342" y="174412"/>
                  <a:pt x="42850" y="184729"/>
                  <a:pt x="46527" y="196118"/>
                </a:cubicBezTo>
                <a:lnTo>
                  <a:pt x="149540" y="196118"/>
                </a:lnTo>
                <a:close/>
                <a:moveTo>
                  <a:pt x="147088" y="220633"/>
                </a:moveTo>
                <a:lnTo>
                  <a:pt x="49029" y="220633"/>
                </a:lnTo>
                <a:lnTo>
                  <a:pt x="49029" y="228804"/>
                </a:lnTo>
                <a:cubicBezTo>
                  <a:pt x="49029" y="251378"/>
                  <a:pt x="67313" y="269662"/>
                  <a:pt x="89887" y="269662"/>
                </a:cubicBezTo>
                <a:lnTo>
                  <a:pt x="106231" y="269662"/>
                </a:lnTo>
                <a:cubicBezTo>
                  <a:pt x="128805" y="269662"/>
                  <a:pt x="147088" y="251378"/>
                  <a:pt x="147088" y="228804"/>
                </a:cubicBezTo>
                <a:lnTo>
                  <a:pt x="147088" y="220633"/>
                </a:lnTo>
                <a:close/>
                <a:moveTo>
                  <a:pt x="93973" y="57201"/>
                </a:moveTo>
                <a:cubicBezTo>
                  <a:pt x="73646" y="57201"/>
                  <a:pt x="57201" y="73646"/>
                  <a:pt x="57201" y="93973"/>
                </a:cubicBezTo>
                <a:cubicBezTo>
                  <a:pt x="57201" y="100766"/>
                  <a:pt x="51736" y="106231"/>
                  <a:pt x="44944" y="106231"/>
                </a:cubicBezTo>
                <a:cubicBezTo>
                  <a:pt x="38151" y="106231"/>
                  <a:pt x="32686" y="100766"/>
                  <a:pt x="32686" y="93973"/>
                </a:cubicBezTo>
                <a:cubicBezTo>
                  <a:pt x="32686" y="60112"/>
                  <a:pt x="60112" y="32686"/>
                  <a:pt x="93973" y="32686"/>
                </a:cubicBezTo>
                <a:cubicBezTo>
                  <a:pt x="100766" y="32686"/>
                  <a:pt x="106231" y="38151"/>
                  <a:pt x="106231" y="44944"/>
                </a:cubicBezTo>
                <a:cubicBezTo>
                  <a:pt x="106231" y="51736"/>
                  <a:pt x="100766" y="57201"/>
                  <a:pt x="93973" y="57201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1122231" y="6531818"/>
            <a:ext cx="14610788" cy="30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4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核心洞察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22231" y="6924054"/>
            <a:ext cx="14599893" cy="566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73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Manifest File 通过</a:t>
            </a:r>
            <a:r>
              <a:rPr lang="en-US" sz="1373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列级统计信息</a:t>
            </a:r>
            <a:r>
              <a:rPr lang="en-US" sz="1373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实现了</a:t>
            </a:r>
            <a:r>
              <a:rPr lang="en-US" sz="1373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文件级别的裁剪</a:t>
            </a:r>
            <a:r>
              <a:rPr lang="en-US" sz="1373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。查询优化器可以在不读取实际数据文件的情况下，快速判断哪些数据文件可能包含目标数据，从而大幅减少需要读取的文件数量，提升查询性能。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41265" y="7855614"/>
            <a:ext cx="3704450" cy="838949"/>
          </a:xfrm>
          <a:custGeom>
            <a:avLst/>
            <a:gdLst/>
            <a:ahLst/>
            <a:cxnLst/>
            <a:rect l="l" t="t" r="r" b="b"/>
            <a:pathLst>
              <a:path w="3704450" h="838949">
                <a:moveTo>
                  <a:pt x="0" y="0"/>
                </a:moveTo>
                <a:lnTo>
                  <a:pt x="3704450" y="0"/>
                </a:lnTo>
                <a:lnTo>
                  <a:pt x="3704450" y="838949"/>
                </a:lnTo>
                <a:lnTo>
                  <a:pt x="0" y="838949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30196"/>
            </a:srgbClr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599249" y="8035389"/>
            <a:ext cx="174327" cy="174327"/>
          </a:xfrm>
          <a:custGeom>
            <a:avLst/>
            <a:gdLst/>
            <a:ahLst/>
            <a:cxnLst/>
            <a:rect l="l" t="t" r="r" b="b"/>
            <a:pathLst>
              <a:path w="174327" h="174327">
                <a:moveTo>
                  <a:pt x="10895" y="21791"/>
                </a:moveTo>
                <a:cubicBezTo>
                  <a:pt x="6503" y="21791"/>
                  <a:pt x="2520" y="24447"/>
                  <a:pt x="817" y="28532"/>
                </a:cubicBezTo>
                <a:cubicBezTo>
                  <a:pt x="-885" y="32618"/>
                  <a:pt x="68" y="37283"/>
                  <a:pt x="3201" y="40381"/>
                </a:cubicBezTo>
                <a:lnTo>
                  <a:pt x="65373" y="102587"/>
                </a:lnTo>
                <a:lnTo>
                  <a:pt x="65373" y="141641"/>
                </a:lnTo>
                <a:cubicBezTo>
                  <a:pt x="65373" y="144535"/>
                  <a:pt x="66530" y="147293"/>
                  <a:pt x="68573" y="149336"/>
                </a:cubicBezTo>
                <a:lnTo>
                  <a:pt x="90364" y="171127"/>
                </a:lnTo>
                <a:cubicBezTo>
                  <a:pt x="93497" y="174259"/>
                  <a:pt x="98161" y="175178"/>
                  <a:pt x="102247" y="173476"/>
                </a:cubicBezTo>
                <a:cubicBezTo>
                  <a:pt x="106333" y="171773"/>
                  <a:pt x="108954" y="167824"/>
                  <a:pt x="108954" y="163432"/>
                </a:cubicBezTo>
                <a:lnTo>
                  <a:pt x="108954" y="102587"/>
                </a:lnTo>
                <a:lnTo>
                  <a:pt x="171127" y="40415"/>
                </a:lnTo>
                <a:cubicBezTo>
                  <a:pt x="174259" y="37283"/>
                  <a:pt x="175178" y="32618"/>
                  <a:pt x="173476" y="28532"/>
                </a:cubicBezTo>
                <a:cubicBezTo>
                  <a:pt x="171773" y="24447"/>
                  <a:pt x="167824" y="21791"/>
                  <a:pt x="163432" y="21791"/>
                </a:cubicBezTo>
                <a:lnTo>
                  <a:pt x="10895" y="21791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882531" y="7991807"/>
            <a:ext cx="1198499" cy="261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3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Skipping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77458" y="8340461"/>
            <a:ext cx="3508332" cy="217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1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跳过不满足条件的数据文件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329662" y="7855614"/>
            <a:ext cx="3704450" cy="838949"/>
          </a:xfrm>
          <a:custGeom>
            <a:avLst/>
            <a:gdLst/>
            <a:ahLst/>
            <a:cxnLst/>
            <a:rect l="l" t="t" r="r" b="b"/>
            <a:pathLst>
              <a:path w="3704450" h="838949">
                <a:moveTo>
                  <a:pt x="0" y="0"/>
                </a:moveTo>
                <a:lnTo>
                  <a:pt x="3704450" y="0"/>
                </a:lnTo>
                <a:lnTo>
                  <a:pt x="3704450" y="838949"/>
                </a:lnTo>
                <a:lnTo>
                  <a:pt x="0" y="838949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30196"/>
            </a:srgbClr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4487645" y="8035389"/>
            <a:ext cx="174327" cy="174327"/>
          </a:xfrm>
          <a:custGeom>
            <a:avLst/>
            <a:gdLst/>
            <a:ahLst/>
            <a:cxnLst/>
            <a:rect l="l" t="t" r="r" b="b"/>
            <a:pathLst>
              <a:path w="174327" h="174327">
                <a:moveTo>
                  <a:pt x="0" y="87164"/>
                </a:moveTo>
                <a:cubicBezTo>
                  <a:pt x="0" y="39057"/>
                  <a:pt x="39057" y="0"/>
                  <a:pt x="87164" y="0"/>
                </a:cubicBezTo>
                <a:cubicBezTo>
                  <a:pt x="135270" y="0"/>
                  <a:pt x="174327" y="39057"/>
                  <a:pt x="174327" y="87164"/>
                </a:cubicBezTo>
                <a:cubicBezTo>
                  <a:pt x="174327" y="135270"/>
                  <a:pt x="135270" y="174327"/>
                  <a:pt x="87164" y="174327"/>
                </a:cubicBezTo>
                <a:cubicBezTo>
                  <a:pt x="39057" y="174327"/>
                  <a:pt x="0" y="135270"/>
                  <a:pt x="0" y="87164"/>
                </a:cubicBezTo>
                <a:close/>
                <a:moveTo>
                  <a:pt x="98059" y="32686"/>
                </a:moveTo>
                <a:cubicBezTo>
                  <a:pt x="98059" y="26673"/>
                  <a:pt x="93177" y="21791"/>
                  <a:pt x="87164" y="21791"/>
                </a:cubicBezTo>
                <a:cubicBezTo>
                  <a:pt x="81150" y="21791"/>
                  <a:pt x="76268" y="26673"/>
                  <a:pt x="76268" y="32686"/>
                </a:cubicBezTo>
                <a:cubicBezTo>
                  <a:pt x="76268" y="38700"/>
                  <a:pt x="81150" y="43582"/>
                  <a:pt x="87164" y="43582"/>
                </a:cubicBezTo>
                <a:cubicBezTo>
                  <a:pt x="93177" y="43582"/>
                  <a:pt x="98059" y="38700"/>
                  <a:pt x="98059" y="32686"/>
                </a:cubicBezTo>
                <a:close/>
                <a:moveTo>
                  <a:pt x="87164" y="141641"/>
                </a:moveTo>
                <a:cubicBezTo>
                  <a:pt x="99183" y="141641"/>
                  <a:pt x="108954" y="131869"/>
                  <a:pt x="108954" y="119850"/>
                </a:cubicBezTo>
                <a:cubicBezTo>
                  <a:pt x="108954" y="114334"/>
                  <a:pt x="106912" y="109261"/>
                  <a:pt x="103507" y="105447"/>
                </a:cubicBezTo>
                <a:lnTo>
                  <a:pt x="127170" y="58154"/>
                </a:lnTo>
                <a:cubicBezTo>
                  <a:pt x="129179" y="54103"/>
                  <a:pt x="127545" y="49200"/>
                  <a:pt x="123527" y="47191"/>
                </a:cubicBezTo>
                <a:cubicBezTo>
                  <a:pt x="119509" y="45182"/>
                  <a:pt x="114572" y="46816"/>
                  <a:pt x="112564" y="50834"/>
                </a:cubicBezTo>
                <a:lnTo>
                  <a:pt x="88900" y="98127"/>
                </a:lnTo>
                <a:cubicBezTo>
                  <a:pt x="88321" y="98093"/>
                  <a:pt x="87742" y="98059"/>
                  <a:pt x="87164" y="98059"/>
                </a:cubicBezTo>
                <a:cubicBezTo>
                  <a:pt x="75145" y="98059"/>
                  <a:pt x="65373" y="107831"/>
                  <a:pt x="65373" y="119850"/>
                </a:cubicBezTo>
                <a:cubicBezTo>
                  <a:pt x="65373" y="131869"/>
                  <a:pt x="75145" y="141641"/>
                  <a:pt x="87164" y="141641"/>
                </a:cubicBezTo>
                <a:close/>
                <a:moveTo>
                  <a:pt x="59925" y="49029"/>
                </a:moveTo>
                <a:cubicBezTo>
                  <a:pt x="59925" y="43016"/>
                  <a:pt x="55043" y="38134"/>
                  <a:pt x="49029" y="38134"/>
                </a:cubicBezTo>
                <a:cubicBezTo>
                  <a:pt x="43016" y="38134"/>
                  <a:pt x="38134" y="43016"/>
                  <a:pt x="38134" y="49029"/>
                </a:cubicBezTo>
                <a:cubicBezTo>
                  <a:pt x="38134" y="55043"/>
                  <a:pt x="43016" y="59925"/>
                  <a:pt x="49029" y="59925"/>
                </a:cubicBezTo>
                <a:cubicBezTo>
                  <a:pt x="55043" y="59925"/>
                  <a:pt x="59925" y="55043"/>
                  <a:pt x="59925" y="49029"/>
                </a:cubicBezTo>
                <a:close/>
                <a:moveTo>
                  <a:pt x="32686" y="98059"/>
                </a:moveTo>
                <a:cubicBezTo>
                  <a:pt x="38700" y="98059"/>
                  <a:pt x="43582" y="93177"/>
                  <a:pt x="43582" y="87164"/>
                </a:cubicBezTo>
                <a:cubicBezTo>
                  <a:pt x="43582" y="81150"/>
                  <a:pt x="38700" y="76268"/>
                  <a:pt x="32686" y="76268"/>
                </a:cubicBezTo>
                <a:cubicBezTo>
                  <a:pt x="26673" y="76268"/>
                  <a:pt x="21791" y="81150"/>
                  <a:pt x="21791" y="87164"/>
                </a:cubicBezTo>
                <a:cubicBezTo>
                  <a:pt x="21791" y="93177"/>
                  <a:pt x="26673" y="98059"/>
                  <a:pt x="32686" y="98059"/>
                </a:cubicBezTo>
                <a:close/>
                <a:moveTo>
                  <a:pt x="152536" y="87164"/>
                </a:moveTo>
                <a:cubicBezTo>
                  <a:pt x="152536" y="81150"/>
                  <a:pt x="147654" y="76268"/>
                  <a:pt x="141641" y="76268"/>
                </a:cubicBezTo>
                <a:cubicBezTo>
                  <a:pt x="135627" y="76268"/>
                  <a:pt x="130745" y="81150"/>
                  <a:pt x="130745" y="87164"/>
                </a:cubicBezTo>
                <a:cubicBezTo>
                  <a:pt x="130745" y="93177"/>
                  <a:pt x="135627" y="98059"/>
                  <a:pt x="141641" y="98059"/>
                </a:cubicBezTo>
                <a:cubicBezTo>
                  <a:pt x="147654" y="98059"/>
                  <a:pt x="152536" y="93177"/>
                  <a:pt x="152536" y="87164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4770927" y="7991807"/>
            <a:ext cx="784472" cy="261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3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查询加速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465855" y="8340461"/>
            <a:ext cx="3508332" cy="217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1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减少不必要的 I/O 操作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218143" y="7855614"/>
            <a:ext cx="3704450" cy="838949"/>
          </a:xfrm>
          <a:custGeom>
            <a:avLst/>
            <a:gdLst/>
            <a:ahLst/>
            <a:cxnLst/>
            <a:rect l="l" t="t" r="r" b="b"/>
            <a:pathLst>
              <a:path w="3704450" h="838949">
                <a:moveTo>
                  <a:pt x="0" y="0"/>
                </a:moveTo>
                <a:lnTo>
                  <a:pt x="3704450" y="0"/>
                </a:lnTo>
                <a:lnTo>
                  <a:pt x="3704450" y="838949"/>
                </a:lnTo>
                <a:lnTo>
                  <a:pt x="0" y="838949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30196"/>
            </a:srgbClr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8387022" y="8035389"/>
            <a:ext cx="152536" cy="174327"/>
          </a:xfrm>
          <a:custGeom>
            <a:avLst/>
            <a:gdLst/>
            <a:ahLst/>
            <a:cxnLst/>
            <a:rect l="l" t="t" r="r" b="b"/>
            <a:pathLst>
              <a:path w="152536" h="174327">
                <a:moveTo>
                  <a:pt x="152536" y="70071"/>
                </a:moveTo>
                <a:cubicBezTo>
                  <a:pt x="147497" y="73408"/>
                  <a:pt x="141709" y="76098"/>
                  <a:pt x="135682" y="78243"/>
                </a:cubicBezTo>
                <a:cubicBezTo>
                  <a:pt x="119680" y="83963"/>
                  <a:pt x="98672" y="87164"/>
                  <a:pt x="76268" y="87164"/>
                </a:cubicBezTo>
                <a:cubicBezTo>
                  <a:pt x="53864" y="87164"/>
                  <a:pt x="32823" y="83929"/>
                  <a:pt x="16854" y="78243"/>
                </a:cubicBezTo>
                <a:cubicBezTo>
                  <a:pt x="10861" y="76098"/>
                  <a:pt x="5039" y="73408"/>
                  <a:pt x="0" y="70071"/>
                </a:cubicBezTo>
                <a:lnTo>
                  <a:pt x="0" y="98059"/>
                </a:lnTo>
                <a:cubicBezTo>
                  <a:pt x="0" y="113108"/>
                  <a:pt x="34150" y="125298"/>
                  <a:pt x="76268" y="125298"/>
                </a:cubicBezTo>
                <a:cubicBezTo>
                  <a:pt x="118386" y="125298"/>
                  <a:pt x="152536" y="113108"/>
                  <a:pt x="152536" y="98059"/>
                </a:cubicBezTo>
                <a:lnTo>
                  <a:pt x="152536" y="70071"/>
                </a:lnTo>
                <a:close/>
                <a:moveTo>
                  <a:pt x="152536" y="43582"/>
                </a:moveTo>
                <a:lnTo>
                  <a:pt x="152536" y="27239"/>
                </a:lnTo>
                <a:cubicBezTo>
                  <a:pt x="152536" y="12189"/>
                  <a:pt x="118386" y="0"/>
                  <a:pt x="76268" y="0"/>
                </a:cubicBezTo>
                <a:cubicBezTo>
                  <a:pt x="34150" y="0"/>
                  <a:pt x="0" y="12189"/>
                  <a:pt x="0" y="27239"/>
                </a:cubicBezTo>
                <a:lnTo>
                  <a:pt x="0" y="43582"/>
                </a:lnTo>
                <a:cubicBezTo>
                  <a:pt x="0" y="58631"/>
                  <a:pt x="34150" y="70820"/>
                  <a:pt x="76268" y="70820"/>
                </a:cubicBezTo>
                <a:cubicBezTo>
                  <a:pt x="118386" y="70820"/>
                  <a:pt x="152536" y="58631"/>
                  <a:pt x="152536" y="43582"/>
                </a:cubicBezTo>
                <a:close/>
                <a:moveTo>
                  <a:pt x="135682" y="132720"/>
                </a:moveTo>
                <a:cubicBezTo>
                  <a:pt x="119714" y="138406"/>
                  <a:pt x="98706" y="141641"/>
                  <a:pt x="76268" y="141641"/>
                </a:cubicBezTo>
                <a:cubicBezTo>
                  <a:pt x="53830" y="141641"/>
                  <a:pt x="32823" y="138406"/>
                  <a:pt x="16854" y="132720"/>
                </a:cubicBezTo>
                <a:cubicBezTo>
                  <a:pt x="10861" y="130575"/>
                  <a:pt x="5039" y="127885"/>
                  <a:pt x="0" y="124549"/>
                </a:cubicBezTo>
                <a:lnTo>
                  <a:pt x="0" y="147088"/>
                </a:lnTo>
                <a:cubicBezTo>
                  <a:pt x="0" y="162138"/>
                  <a:pt x="34150" y="174327"/>
                  <a:pt x="76268" y="174327"/>
                </a:cubicBezTo>
                <a:cubicBezTo>
                  <a:pt x="118386" y="174327"/>
                  <a:pt x="152536" y="162138"/>
                  <a:pt x="152536" y="147088"/>
                </a:cubicBezTo>
                <a:lnTo>
                  <a:pt x="152536" y="124549"/>
                </a:lnTo>
                <a:cubicBezTo>
                  <a:pt x="147497" y="127885"/>
                  <a:pt x="141709" y="130575"/>
                  <a:pt x="135682" y="13272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8659408" y="7991807"/>
            <a:ext cx="784472" cy="261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3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列级统计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354336" y="8340461"/>
            <a:ext cx="3508332" cy="217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1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每个文件的 min/max/null 统计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2106624" y="7855614"/>
            <a:ext cx="3704450" cy="838949"/>
          </a:xfrm>
          <a:custGeom>
            <a:avLst/>
            <a:gdLst/>
            <a:ahLst/>
            <a:cxnLst/>
            <a:rect l="l" t="t" r="r" b="b"/>
            <a:pathLst>
              <a:path w="3704450" h="838949">
                <a:moveTo>
                  <a:pt x="0" y="0"/>
                </a:moveTo>
                <a:lnTo>
                  <a:pt x="3704450" y="0"/>
                </a:lnTo>
                <a:lnTo>
                  <a:pt x="3704450" y="838949"/>
                </a:lnTo>
                <a:lnTo>
                  <a:pt x="0" y="838949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30196"/>
            </a:srgbClr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12264608" y="8035389"/>
            <a:ext cx="174327" cy="174327"/>
          </a:xfrm>
          <a:custGeom>
            <a:avLst/>
            <a:gdLst/>
            <a:ahLst/>
            <a:cxnLst/>
            <a:rect l="l" t="t" r="r" b="b"/>
            <a:pathLst>
              <a:path w="174327" h="174327">
                <a:moveTo>
                  <a:pt x="79162" y="1771"/>
                </a:moveTo>
                <a:cubicBezTo>
                  <a:pt x="84235" y="-579"/>
                  <a:pt x="90092" y="-579"/>
                  <a:pt x="95165" y="1771"/>
                </a:cubicBezTo>
                <a:lnTo>
                  <a:pt x="169594" y="36159"/>
                </a:lnTo>
                <a:cubicBezTo>
                  <a:pt x="172488" y="37487"/>
                  <a:pt x="174327" y="40381"/>
                  <a:pt x="174327" y="43582"/>
                </a:cubicBezTo>
                <a:cubicBezTo>
                  <a:pt x="174327" y="46782"/>
                  <a:pt x="172488" y="49676"/>
                  <a:pt x="169594" y="51004"/>
                </a:cubicBezTo>
                <a:lnTo>
                  <a:pt x="95165" y="85393"/>
                </a:lnTo>
                <a:cubicBezTo>
                  <a:pt x="90092" y="87742"/>
                  <a:pt x="84235" y="87742"/>
                  <a:pt x="79162" y="85393"/>
                </a:cubicBezTo>
                <a:lnTo>
                  <a:pt x="4733" y="51004"/>
                </a:lnTo>
                <a:cubicBezTo>
                  <a:pt x="1839" y="49642"/>
                  <a:pt x="0" y="46748"/>
                  <a:pt x="0" y="43582"/>
                </a:cubicBezTo>
                <a:cubicBezTo>
                  <a:pt x="0" y="40415"/>
                  <a:pt x="1839" y="37487"/>
                  <a:pt x="4733" y="36159"/>
                </a:cubicBezTo>
                <a:lnTo>
                  <a:pt x="79162" y="1771"/>
                </a:lnTo>
                <a:close/>
                <a:moveTo>
                  <a:pt x="16377" y="74361"/>
                </a:moveTo>
                <a:lnTo>
                  <a:pt x="72318" y="100204"/>
                </a:lnTo>
                <a:cubicBezTo>
                  <a:pt x="81750" y="104562"/>
                  <a:pt x="92611" y="104562"/>
                  <a:pt x="102043" y="100204"/>
                </a:cubicBezTo>
                <a:lnTo>
                  <a:pt x="157984" y="74361"/>
                </a:lnTo>
                <a:lnTo>
                  <a:pt x="169594" y="79741"/>
                </a:lnTo>
                <a:cubicBezTo>
                  <a:pt x="172488" y="81069"/>
                  <a:pt x="174327" y="83963"/>
                  <a:pt x="174327" y="87164"/>
                </a:cubicBezTo>
                <a:cubicBezTo>
                  <a:pt x="174327" y="90364"/>
                  <a:pt x="172488" y="93258"/>
                  <a:pt x="169594" y="94586"/>
                </a:cubicBezTo>
                <a:lnTo>
                  <a:pt x="95165" y="128975"/>
                </a:lnTo>
                <a:cubicBezTo>
                  <a:pt x="90092" y="131324"/>
                  <a:pt x="84235" y="131324"/>
                  <a:pt x="79162" y="128975"/>
                </a:cubicBezTo>
                <a:lnTo>
                  <a:pt x="4733" y="94586"/>
                </a:lnTo>
                <a:cubicBezTo>
                  <a:pt x="1839" y="93224"/>
                  <a:pt x="0" y="90330"/>
                  <a:pt x="0" y="87164"/>
                </a:cubicBezTo>
                <a:cubicBezTo>
                  <a:pt x="0" y="83997"/>
                  <a:pt x="1839" y="81069"/>
                  <a:pt x="4733" y="79741"/>
                </a:cubicBezTo>
                <a:lnTo>
                  <a:pt x="16343" y="74361"/>
                </a:lnTo>
                <a:close/>
                <a:moveTo>
                  <a:pt x="4733" y="123323"/>
                </a:moveTo>
                <a:lnTo>
                  <a:pt x="16343" y="117943"/>
                </a:lnTo>
                <a:lnTo>
                  <a:pt x="72284" y="143786"/>
                </a:lnTo>
                <a:cubicBezTo>
                  <a:pt x="81716" y="148144"/>
                  <a:pt x="92577" y="148144"/>
                  <a:pt x="102009" y="143786"/>
                </a:cubicBezTo>
                <a:lnTo>
                  <a:pt x="157950" y="117943"/>
                </a:lnTo>
                <a:lnTo>
                  <a:pt x="169560" y="123323"/>
                </a:lnTo>
                <a:cubicBezTo>
                  <a:pt x="172454" y="124651"/>
                  <a:pt x="174293" y="127545"/>
                  <a:pt x="174293" y="130745"/>
                </a:cubicBezTo>
                <a:cubicBezTo>
                  <a:pt x="174293" y="133946"/>
                  <a:pt x="172454" y="136840"/>
                  <a:pt x="169560" y="138168"/>
                </a:cubicBezTo>
                <a:lnTo>
                  <a:pt x="95131" y="172557"/>
                </a:lnTo>
                <a:cubicBezTo>
                  <a:pt x="90058" y="174906"/>
                  <a:pt x="84201" y="174906"/>
                  <a:pt x="79128" y="172557"/>
                </a:cubicBezTo>
                <a:lnTo>
                  <a:pt x="4733" y="138168"/>
                </a:lnTo>
                <a:cubicBezTo>
                  <a:pt x="1839" y="136806"/>
                  <a:pt x="0" y="133912"/>
                  <a:pt x="0" y="130745"/>
                </a:cubicBezTo>
                <a:cubicBezTo>
                  <a:pt x="0" y="127579"/>
                  <a:pt x="1839" y="124651"/>
                  <a:pt x="4733" y="123323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12547889" y="7991807"/>
            <a:ext cx="784472" cy="261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3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多级过滤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2242817" y="8340461"/>
            <a:ext cx="3508332" cy="217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1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Manifest → File → Row Group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kinsta.com/b6eb58eee1064e122cc9e4c6cf0cd79be059156e.png"/>
          <p:cNvPicPr>
            <a:picLocks noChangeAspect="1"/>
          </p:cNvPicPr>
          <p:nvPr/>
        </p:nvPicPr>
        <p:blipFill>
          <a:blip r:embed="rId3">
            <a:alphaModFix amt="30000"/>
          </a:blip>
          <a:srcRect l="18889" r="18889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0000"/>
                </a:srgbClr>
              </a:gs>
              <a:gs pos="50000">
                <a:srgbClr val="343A40">
                  <a:alpha val="80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08000" y="2540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" y="0"/>
                </a:moveTo>
                <a:lnTo>
                  <a:pt x="965200" y="0"/>
                </a:lnTo>
                <a:cubicBezTo>
                  <a:pt x="993237" y="0"/>
                  <a:pt x="1016000" y="22763"/>
                  <a:pt x="1016000" y="50800"/>
                </a:cubicBezTo>
                <a:lnTo>
                  <a:pt x="1016000" y="965200"/>
                </a:lnTo>
                <a:cubicBezTo>
                  <a:pt x="1016000" y="993237"/>
                  <a:pt x="993237" y="1016000"/>
                  <a:pt x="965200" y="1016000"/>
                </a:cubicBezTo>
                <a:lnTo>
                  <a:pt x="50800" y="1016000"/>
                </a:lnTo>
                <a:cubicBezTo>
                  <a:pt x="22763" y="1016000"/>
                  <a:pt x="0" y="993237"/>
                  <a:pt x="0" y="96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393700" y="2540000"/>
            <a:ext cx="12446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727200" y="2641600"/>
            <a:ext cx="50800" cy="812800"/>
          </a:xfrm>
          <a:custGeom>
            <a:avLst/>
            <a:gdLst/>
            <a:ahLst/>
            <a:cxnLst/>
            <a:rect l="l" t="t" r="r" b="b"/>
            <a:pathLst>
              <a:path w="50800" h="812800">
                <a:moveTo>
                  <a:pt x="0" y="0"/>
                </a:moveTo>
                <a:lnTo>
                  <a:pt x="50800" y="0"/>
                </a:lnTo>
                <a:lnTo>
                  <a:pt x="50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508000" y="4267200"/>
            <a:ext cx="45720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80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动态推演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8000" y="5689600"/>
            <a:ext cx="425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INSERT 操作的内部流程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8000" y="655320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210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INSERT Operation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INSERT 操作的三阶段提交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1574800"/>
            <a:ext cx="15341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执行 </a:t>
            </a:r>
            <a:r>
              <a:rPr lang="en-US" sz="1400" dirty="0">
                <a:solidFill>
                  <a:srgbClr val="F8F9FA">
                    <a:alpha val="80000"/>
                  </a:srgbClr>
                </a:solidFill>
                <a:highlight>
                  <a:srgbClr val="343A40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INSERT INTO t1 VALUES (1, 'a') 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时，Table Format 通过</a:t>
            </a:r>
            <a:r>
              <a:rPr lang="en-US" sz="16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三阶段提交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保证 ACID：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3400" y="2108200"/>
            <a:ext cx="4889500" cy="3492500"/>
          </a:xfrm>
          <a:custGeom>
            <a:avLst/>
            <a:gdLst/>
            <a:ahLst/>
            <a:cxnLst/>
            <a:rect l="l" t="t" r="r" b="b"/>
            <a:pathLst>
              <a:path w="4889500" h="3492500">
                <a:moveTo>
                  <a:pt x="0" y="0"/>
                </a:moveTo>
                <a:lnTo>
                  <a:pt x="4889500" y="0"/>
                </a:lnTo>
                <a:lnTo>
                  <a:pt x="4889500" y="3492500"/>
                </a:lnTo>
                <a:lnTo>
                  <a:pt x="0" y="3492500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33400" y="2108200"/>
            <a:ext cx="50800" cy="3492500"/>
          </a:xfrm>
          <a:custGeom>
            <a:avLst/>
            <a:gdLst/>
            <a:ahLst/>
            <a:cxnLst/>
            <a:rect l="l" t="t" r="r" b="b"/>
            <a:pathLst>
              <a:path w="50800" h="3492500">
                <a:moveTo>
                  <a:pt x="0" y="0"/>
                </a:moveTo>
                <a:lnTo>
                  <a:pt x="50800" y="0"/>
                </a:lnTo>
                <a:lnTo>
                  <a:pt x="50800" y="3492500"/>
                </a:lnTo>
                <a:lnTo>
                  <a:pt x="0" y="34925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62000" y="2311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0798" y="0"/>
                </a:moveTo>
                <a:lnTo>
                  <a:pt x="558802" y="0"/>
                </a:lnTo>
                <a:cubicBezTo>
                  <a:pt x="586857" y="0"/>
                  <a:pt x="609600" y="22743"/>
                  <a:pt x="609600" y="50798"/>
                </a:cubicBezTo>
                <a:lnTo>
                  <a:pt x="609600" y="558802"/>
                </a:lnTo>
                <a:cubicBezTo>
                  <a:pt x="609600" y="586857"/>
                  <a:pt x="586857" y="609600"/>
                  <a:pt x="558802" y="609600"/>
                </a:cubicBezTo>
                <a:lnTo>
                  <a:pt x="50798" y="609600"/>
                </a:lnTo>
                <a:cubicBezTo>
                  <a:pt x="22743" y="609600"/>
                  <a:pt x="0" y="586857"/>
                  <a:pt x="0" y="5588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98500" y="2311400"/>
            <a:ext cx="736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24000" y="2438400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写入数据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8350" y="3079750"/>
            <a:ext cx="4445000" cy="520700"/>
          </a:xfrm>
          <a:custGeom>
            <a:avLst/>
            <a:gdLst/>
            <a:ahLst/>
            <a:cxnLst/>
            <a:rect l="l" t="t" r="r" b="b"/>
            <a:pathLst>
              <a:path w="4445000" h="520700">
                <a:moveTo>
                  <a:pt x="0" y="0"/>
                </a:moveTo>
                <a:lnTo>
                  <a:pt x="4445000" y="0"/>
                </a:lnTo>
                <a:lnTo>
                  <a:pt x="4445000" y="520700"/>
                </a:lnTo>
                <a:lnTo>
                  <a:pt x="0" y="5207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>
              <a:alpha val="10196"/>
            </a:srgbClr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76300" y="3187700"/>
            <a:ext cx="431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Phase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3708400"/>
            <a:ext cx="4546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Spark Executor 将数据写入新的 Parquet 文件：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4098925"/>
            <a:ext cx="4457700" cy="508000"/>
          </a:xfrm>
          <a:custGeom>
            <a:avLst/>
            <a:gdLst/>
            <a:ahLst/>
            <a:cxnLst/>
            <a:rect l="l" t="t" r="r" b="b"/>
            <a:pathLst>
              <a:path w="4457700" h="508000">
                <a:moveTo>
                  <a:pt x="0" y="0"/>
                </a:moveTo>
                <a:lnTo>
                  <a:pt x="4457700" y="0"/>
                </a:lnTo>
                <a:lnTo>
                  <a:pt x="44577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63600" y="4264025"/>
            <a:ext cx="34073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s3://bucket/data/file_x.parquet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8350" y="4714875"/>
            <a:ext cx="4445000" cy="469900"/>
          </a:xfrm>
          <a:custGeom>
            <a:avLst/>
            <a:gdLst/>
            <a:ahLst/>
            <a:cxnLst/>
            <a:rect l="l" t="t" r="r" b="b"/>
            <a:pathLst>
              <a:path w="4445000" h="469900">
                <a:moveTo>
                  <a:pt x="0" y="0"/>
                </a:moveTo>
                <a:lnTo>
                  <a:pt x="4445000" y="0"/>
                </a:lnTo>
                <a:lnTo>
                  <a:pt x="4445000" y="469900"/>
                </a:lnTo>
                <a:lnTo>
                  <a:pt x="0" y="4699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>
              <a:alpha val="20000"/>
            </a:srgbClr>
          </a:solidFill>
          <a:ln w="12700">
            <a:solidFill>
              <a:srgbClr val="D4A23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890588" y="4860925"/>
            <a:ext cx="200025" cy="177800"/>
          </a:xfrm>
          <a:custGeom>
            <a:avLst/>
            <a:gdLst/>
            <a:ahLst/>
            <a:cxnLst/>
            <a:rect l="l" t="t" r="r" b="b"/>
            <a:pathLst>
              <a:path w="200025" h="177800">
                <a:moveTo>
                  <a:pt x="14238" y="-8647"/>
                </a:moveTo>
                <a:cubicBezTo>
                  <a:pt x="10974" y="-11911"/>
                  <a:pt x="5695" y="-11911"/>
                  <a:pt x="2466" y="-8647"/>
                </a:cubicBezTo>
                <a:cubicBezTo>
                  <a:pt x="-764" y="-5383"/>
                  <a:pt x="-799" y="-104"/>
                  <a:pt x="2431" y="3160"/>
                </a:cubicBezTo>
                <a:lnTo>
                  <a:pt x="185787" y="186516"/>
                </a:lnTo>
                <a:cubicBezTo>
                  <a:pt x="189051" y="189781"/>
                  <a:pt x="194330" y="189781"/>
                  <a:pt x="197559" y="186516"/>
                </a:cubicBezTo>
                <a:cubicBezTo>
                  <a:pt x="200789" y="183252"/>
                  <a:pt x="200824" y="177974"/>
                  <a:pt x="197559" y="174744"/>
                </a:cubicBezTo>
                <a:lnTo>
                  <a:pt x="164083" y="141268"/>
                </a:lnTo>
                <a:cubicBezTo>
                  <a:pt x="165021" y="140434"/>
                  <a:pt x="165958" y="139601"/>
                  <a:pt x="166861" y="138767"/>
                </a:cubicBezTo>
                <a:cubicBezTo>
                  <a:pt x="183113" y="123661"/>
                  <a:pt x="193983" y="105638"/>
                  <a:pt x="199157" y="93241"/>
                </a:cubicBezTo>
                <a:cubicBezTo>
                  <a:pt x="200303" y="90497"/>
                  <a:pt x="200303" y="87441"/>
                  <a:pt x="199157" y="84698"/>
                </a:cubicBezTo>
                <a:cubicBezTo>
                  <a:pt x="193983" y="72301"/>
                  <a:pt x="183113" y="54243"/>
                  <a:pt x="166861" y="39172"/>
                </a:cubicBezTo>
                <a:cubicBezTo>
                  <a:pt x="150505" y="23996"/>
                  <a:pt x="128037" y="11182"/>
                  <a:pt x="99978" y="11182"/>
                </a:cubicBezTo>
                <a:cubicBezTo>
                  <a:pt x="80253" y="11182"/>
                  <a:pt x="63307" y="17502"/>
                  <a:pt x="49277" y="26531"/>
                </a:cubicBezTo>
                <a:lnTo>
                  <a:pt x="14238" y="-8647"/>
                </a:lnTo>
                <a:close/>
                <a:moveTo>
                  <a:pt x="71016" y="48166"/>
                </a:moveTo>
                <a:cubicBezTo>
                  <a:pt x="79177" y="42332"/>
                  <a:pt x="89213" y="38894"/>
                  <a:pt x="100013" y="38894"/>
                </a:cubicBezTo>
                <a:cubicBezTo>
                  <a:pt x="127620" y="38894"/>
                  <a:pt x="150019" y="61292"/>
                  <a:pt x="150019" y="88900"/>
                </a:cubicBezTo>
                <a:cubicBezTo>
                  <a:pt x="150019" y="99700"/>
                  <a:pt x="146581" y="109701"/>
                  <a:pt x="140747" y="117897"/>
                </a:cubicBezTo>
                <a:lnTo>
                  <a:pt x="128697" y="105847"/>
                </a:lnTo>
                <a:cubicBezTo>
                  <a:pt x="133107" y="98415"/>
                  <a:pt x="134600" y="89282"/>
                  <a:pt x="132204" y="80253"/>
                </a:cubicBezTo>
                <a:cubicBezTo>
                  <a:pt x="127446" y="62473"/>
                  <a:pt x="109146" y="51916"/>
                  <a:pt x="91366" y="56674"/>
                </a:cubicBezTo>
                <a:cubicBezTo>
                  <a:pt x="88379" y="57472"/>
                  <a:pt x="85566" y="58653"/>
                  <a:pt x="83031" y="60146"/>
                </a:cubicBezTo>
                <a:lnTo>
                  <a:pt x="70981" y="48096"/>
                </a:lnTo>
                <a:close/>
                <a:moveTo>
                  <a:pt x="112966" y="137205"/>
                </a:moveTo>
                <a:cubicBezTo>
                  <a:pt x="108833" y="138316"/>
                  <a:pt x="104492" y="138906"/>
                  <a:pt x="100013" y="138906"/>
                </a:cubicBezTo>
                <a:cubicBezTo>
                  <a:pt x="72405" y="138906"/>
                  <a:pt x="50006" y="116508"/>
                  <a:pt x="50006" y="88900"/>
                </a:cubicBezTo>
                <a:cubicBezTo>
                  <a:pt x="50006" y="84420"/>
                  <a:pt x="50597" y="80079"/>
                  <a:pt x="51708" y="75947"/>
                </a:cubicBezTo>
                <a:lnTo>
                  <a:pt x="24100" y="48339"/>
                </a:lnTo>
                <a:cubicBezTo>
                  <a:pt x="12779" y="61119"/>
                  <a:pt x="5001" y="74662"/>
                  <a:pt x="868" y="84629"/>
                </a:cubicBezTo>
                <a:cubicBezTo>
                  <a:pt x="-278" y="87372"/>
                  <a:pt x="-278" y="90428"/>
                  <a:pt x="868" y="93171"/>
                </a:cubicBezTo>
                <a:cubicBezTo>
                  <a:pt x="6042" y="105569"/>
                  <a:pt x="16912" y="123627"/>
                  <a:pt x="33164" y="138698"/>
                </a:cubicBezTo>
                <a:cubicBezTo>
                  <a:pt x="49520" y="153873"/>
                  <a:pt x="71988" y="166688"/>
                  <a:pt x="100047" y="166688"/>
                </a:cubicBezTo>
                <a:cubicBezTo>
                  <a:pt x="113000" y="166688"/>
                  <a:pt x="124773" y="163944"/>
                  <a:pt x="135295" y="159534"/>
                </a:cubicBezTo>
                <a:lnTo>
                  <a:pt x="113000" y="137239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155700" y="4822825"/>
            <a:ext cx="4038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此时该文件对用户</a:t>
            </a:r>
            <a:r>
              <a:rPr lang="en-US" sz="14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不可见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698034" y="2108200"/>
            <a:ext cx="4889500" cy="3492500"/>
          </a:xfrm>
          <a:custGeom>
            <a:avLst/>
            <a:gdLst/>
            <a:ahLst/>
            <a:cxnLst/>
            <a:rect l="l" t="t" r="r" b="b"/>
            <a:pathLst>
              <a:path w="4889500" h="3492500">
                <a:moveTo>
                  <a:pt x="0" y="0"/>
                </a:moveTo>
                <a:lnTo>
                  <a:pt x="4889500" y="0"/>
                </a:lnTo>
                <a:lnTo>
                  <a:pt x="4889500" y="3492500"/>
                </a:lnTo>
                <a:lnTo>
                  <a:pt x="0" y="3492500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5698034" y="2108200"/>
            <a:ext cx="50800" cy="3492500"/>
          </a:xfrm>
          <a:custGeom>
            <a:avLst/>
            <a:gdLst/>
            <a:ahLst/>
            <a:cxnLst/>
            <a:rect l="l" t="t" r="r" b="b"/>
            <a:pathLst>
              <a:path w="50800" h="3492500">
                <a:moveTo>
                  <a:pt x="0" y="0"/>
                </a:moveTo>
                <a:lnTo>
                  <a:pt x="50800" y="0"/>
                </a:lnTo>
                <a:lnTo>
                  <a:pt x="50800" y="3492500"/>
                </a:lnTo>
                <a:lnTo>
                  <a:pt x="0" y="34925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5926634" y="2311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0798" y="0"/>
                </a:moveTo>
                <a:lnTo>
                  <a:pt x="558802" y="0"/>
                </a:lnTo>
                <a:cubicBezTo>
                  <a:pt x="586857" y="0"/>
                  <a:pt x="609600" y="22743"/>
                  <a:pt x="609600" y="50798"/>
                </a:cubicBezTo>
                <a:lnTo>
                  <a:pt x="609600" y="558802"/>
                </a:lnTo>
                <a:cubicBezTo>
                  <a:pt x="609600" y="586857"/>
                  <a:pt x="586857" y="609600"/>
                  <a:pt x="558802" y="609600"/>
                </a:cubicBezTo>
                <a:lnTo>
                  <a:pt x="50798" y="609600"/>
                </a:lnTo>
                <a:cubicBezTo>
                  <a:pt x="22743" y="609600"/>
                  <a:pt x="0" y="586857"/>
                  <a:pt x="0" y="5588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5863134" y="2311400"/>
            <a:ext cx="736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88634" y="2438400"/>
            <a:ext cx="1257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写入元数据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932984" y="3079750"/>
            <a:ext cx="4445000" cy="520700"/>
          </a:xfrm>
          <a:custGeom>
            <a:avLst/>
            <a:gdLst/>
            <a:ahLst/>
            <a:cxnLst/>
            <a:rect l="l" t="t" r="r" b="b"/>
            <a:pathLst>
              <a:path w="4445000" h="520700">
                <a:moveTo>
                  <a:pt x="0" y="0"/>
                </a:moveTo>
                <a:lnTo>
                  <a:pt x="4445000" y="0"/>
                </a:lnTo>
                <a:lnTo>
                  <a:pt x="4445000" y="520700"/>
                </a:lnTo>
                <a:lnTo>
                  <a:pt x="0" y="5207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>
              <a:alpha val="10196"/>
            </a:srgbClr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040934" y="3187700"/>
            <a:ext cx="431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Metadata Phase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977434" y="3759200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52400" h="203200">
                <a:moveTo>
                  <a:pt x="25400" y="0"/>
                </a:moveTo>
                <a:cubicBezTo>
                  <a:pt x="11390" y="0"/>
                  <a:pt x="0" y="11390"/>
                  <a:pt x="0" y="25400"/>
                </a:cubicBezTo>
                <a:lnTo>
                  <a:pt x="0" y="177800"/>
                </a:lnTo>
                <a:cubicBezTo>
                  <a:pt x="0" y="191810"/>
                  <a:pt x="11390" y="203200"/>
                  <a:pt x="25400" y="203200"/>
                </a:cubicBezTo>
                <a:lnTo>
                  <a:pt x="127000" y="203200"/>
                </a:lnTo>
                <a:cubicBezTo>
                  <a:pt x="141010" y="203200"/>
                  <a:pt x="152400" y="191810"/>
                  <a:pt x="152400" y="177800"/>
                </a:cubicBezTo>
                <a:lnTo>
                  <a:pt x="152400" y="67667"/>
                </a:lnTo>
                <a:cubicBezTo>
                  <a:pt x="152400" y="60920"/>
                  <a:pt x="149741" y="54451"/>
                  <a:pt x="144978" y="49689"/>
                </a:cubicBezTo>
                <a:lnTo>
                  <a:pt x="102672" y="7422"/>
                </a:lnTo>
                <a:cubicBezTo>
                  <a:pt x="97909" y="2659"/>
                  <a:pt x="91480" y="0"/>
                  <a:pt x="84733" y="0"/>
                </a:cubicBezTo>
                <a:lnTo>
                  <a:pt x="25400" y="0"/>
                </a:lnTo>
                <a:close/>
                <a:moveTo>
                  <a:pt x="129183" y="69850"/>
                </a:moveTo>
                <a:lnTo>
                  <a:pt x="92075" y="69850"/>
                </a:lnTo>
                <a:cubicBezTo>
                  <a:pt x="86797" y="69850"/>
                  <a:pt x="82550" y="65603"/>
                  <a:pt x="82550" y="60325"/>
                </a:cubicBezTo>
                <a:lnTo>
                  <a:pt x="82550" y="23217"/>
                </a:lnTo>
                <a:lnTo>
                  <a:pt x="129183" y="6985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282234" y="3708400"/>
            <a:ext cx="1536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生成 </a:t>
            </a:r>
            <a:r>
              <a:rPr lang="en-US" sz="14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Manifest File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952034" y="40640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5875" y="19050"/>
                </a:moveTo>
                <a:cubicBezTo>
                  <a:pt x="10597" y="19050"/>
                  <a:pt x="6350" y="23297"/>
                  <a:pt x="6350" y="28575"/>
                </a:cubicBezTo>
                <a:lnTo>
                  <a:pt x="6350" y="47625"/>
                </a:lnTo>
                <a:cubicBezTo>
                  <a:pt x="6350" y="52903"/>
                  <a:pt x="10597" y="57150"/>
                  <a:pt x="15875" y="57150"/>
                </a:cubicBezTo>
                <a:lnTo>
                  <a:pt x="34925" y="57150"/>
                </a:lnTo>
                <a:cubicBezTo>
                  <a:pt x="40203" y="57150"/>
                  <a:pt x="44450" y="52903"/>
                  <a:pt x="44450" y="47625"/>
                </a:cubicBezTo>
                <a:lnTo>
                  <a:pt x="44450" y="28575"/>
                </a:lnTo>
                <a:cubicBezTo>
                  <a:pt x="44450" y="23297"/>
                  <a:pt x="40203" y="19050"/>
                  <a:pt x="34925" y="19050"/>
                </a:cubicBezTo>
                <a:lnTo>
                  <a:pt x="15875" y="19050"/>
                </a:lnTo>
                <a:close/>
                <a:moveTo>
                  <a:pt x="76200" y="25400"/>
                </a:moveTo>
                <a:cubicBezTo>
                  <a:pt x="69175" y="25400"/>
                  <a:pt x="63500" y="31075"/>
                  <a:pt x="63500" y="38100"/>
                </a:cubicBezTo>
                <a:cubicBezTo>
                  <a:pt x="63500" y="45125"/>
                  <a:pt x="69175" y="50800"/>
                  <a:pt x="76200" y="50800"/>
                </a:cubicBezTo>
                <a:lnTo>
                  <a:pt x="190500" y="50800"/>
                </a:lnTo>
                <a:cubicBezTo>
                  <a:pt x="197525" y="50800"/>
                  <a:pt x="203200" y="45125"/>
                  <a:pt x="203200" y="38100"/>
                </a:cubicBezTo>
                <a:cubicBezTo>
                  <a:pt x="203200" y="31075"/>
                  <a:pt x="197525" y="25400"/>
                  <a:pt x="190500" y="25400"/>
                </a:cubicBezTo>
                <a:lnTo>
                  <a:pt x="76200" y="25400"/>
                </a:lnTo>
                <a:close/>
                <a:moveTo>
                  <a:pt x="76200" y="88900"/>
                </a:moveTo>
                <a:cubicBezTo>
                  <a:pt x="69175" y="88900"/>
                  <a:pt x="63500" y="94575"/>
                  <a:pt x="63500" y="101600"/>
                </a:cubicBezTo>
                <a:cubicBezTo>
                  <a:pt x="63500" y="108625"/>
                  <a:pt x="69175" y="114300"/>
                  <a:pt x="76200" y="114300"/>
                </a:cubicBezTo>
                <a:lnTo>
                  <a:pt x="190500" y="114300"/>
                </a:lnTo>
                <a:cubicBezTo>
                  <a:pt x="197525" y="114300"/>
                  <a:pt x="203200" y="108625"/>
                  <a:pt x="203200" y="101600"/>
                </a:cubicBezTo>
                <a:cubicBezTo>
                  <a:pt x="203200" y="94575"/>
                  <a:pt x="197525" y="88900"/>
                  <a:pt x="190500" y="88900"/>
                </a:cubicBezTo>
                <a:lnTo>
                  <a:pt x="76200" y="88900"/>
                </a:lnTo>
                <a:close/>
                <a:moveTo>
                  <a:pt x="76200" y="152400"/>
                </a:moveTo>
                <a:cubicBezTo>
                  <a:pt x="69175" y="152400"/>
                  <a:pt x="63500" y="158075"/>
                  <a:pt x="63500" y="165100"/>
                </a:cubicBezTo>
                <a:cubicBezTo>
                  <a:pt x="63500" y="172125"/>
                  <a:pt x="69175" y="177800"/>
                  <a:pt x="76200" y="177800"/>
                </a:cubicBezTo>
                <a:lnTo>
                  <a:pt x="190500" y="177800"/>
                </a:lnTo>
                <a:cubicBezTo>
                  <a:pt x="197525" y="177800"/>
                  <a:pt x="203200" y="172125"/>
                  <a:pt x="203200" y="165100"/>
                </a:cubicBezTo>
                <a:cubicBezTo>
                  <a:pt x="203200" y="158075"/>
                  <a:pt x="197525" y="152400"/>
                  <a:pt x="190500" y="152400"/>
                </a:cubicBezTo>
                <a:lnTo>
                  <a:pt x="76200" y="152400"/>
                </a:lnTo>
                <a:close/>
                <a:moveTo>
                  <a:pt x="6350" y="92075"/>
                </a:moveTo>
                <a:lnTo>
                  <a:pt x="6350" y="111125"/>
                </a:lnTo>
                <a:cubicBezTo>
                  <a:pt x="6350" y="116403"/>
                  <a:pt x="10597" y="120650"/>
                  <a:pt x="15875" y="120650"/>
                </a:cubicBezTo>
                <a:lnTo>
                  <a:pt x="34925" y="120650"/>
                </a:lnTo>
                <a:cubicBezTo>
                  <a:pt x="40203" y="120650"/>
                  <a:pt x="44450" y="116403"/>
                  <a:pt x="44450" y="111125"/>
                </a:cubicBezTo>
                <a:lnTo>
                  <a:pt x="44450" y="92075"/>
                </a:lnTo>
                <a:cubicBezTo>
                  <a:pt x="44450" y="86797"/>
                  <a:pt x="40203" y="82550"/>
                  <a:pt x="34925" y="82550"/>
                </a:cubicBezTo>
                <a:lnTo>
                  <a:pt x="15875" y="82550"/>
                </a:lnTo>
                <a:cubicBezTo>
                  <a:pt x="10597" y="82550"/>
                  <a:pt x="6350" y="86797"/>
                  <a:pt x="6350" y="92075"/>
                </a:cubicBezTo>
                <a:close/>
                <a:moveTo>
                  <a:pt x="15875" y="146050"/>
                </a:moveTo>
                <a:cubicBezTo>
                  <a:pt x="10597" y="146050"/>
                  <a:pt x="6350" y="150297"/>
                  <a:pt x="6350" y="155575"/>
                </a:cubicBezTo>
                <a:lnTo>
                  <a:pt x="6350" y="174625"/>
                </a:lnTo>
                <a:cubicBezTo>
                  <a:pt x="6350" y="179903"/>
                  <a:pt x="10597" y="184150"/>
                  <a:pt x="15875" y="184150"/>
                </a:cubicBezTo>
                <a:lnTo>
                  <a:pt x="34925" y="184150"/>
                </a:lnTo>
                <a:cubicBezTo>
                  <a:pt x="40203" y="184150"/>
                  <a:pt x="44450" y="179903"/>
                  <a:pt x="44450" y="174625"/>
                </a:cubicBezTo>
                <a:lnTo>
                  <a:pt x="44450" y="155575"/>
                </a:lnTo>
                <a:cubicBezTo>
                  <a:pt x="44450" y="150297"/>
                  <a:pt x="40203" y="146050"/>
                  <a:pt x="34925" y="146050"/>
                </a:cubicBezTo>
                <a:lnTo>
                  <a:pt x="15875" y="14605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282234" y="4013200"/>
            <a:ext cx="1536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生成 </a:t>
            </a:r>
            <a:r>
              <a:rPr lang="en-US" sz="14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Manifest List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939334" y="436880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43193" y="476"/>
                </a:moveTo>
                <a:cubicBezTo>
                  <a:pt x="136446" y="-1468"/>
                  <a:pt x="129421" y="2461"/>
                  <a:pt x="127476" y="9207"/>
                </a:cubicBezTo>
                <a:lnTo>
                  <a:pt x="76676" y="187008"/>
                </a:lnTo>
                <a:cubicBezTo>
                  <a:pt x="74732" y="193754"/>
                  <a:pt x="78661" y="200779"/>
                  <a:pt x="85408" y="202724"/>
                </a:cubicBezTo>
                <a:cubicBezTo>
                  <a:pt x="92154" y="204668"/>
                  <a:pt x="99179" y="200739"/>
                  <a:pt x="101124" y="193993"/>
                </a:cubicBezTo>
                <a:lnTo>
                  <a:pt x="151924" y="16193"/>
                </a:lnTo>
                <a:cubicBezTo>
                  <a:pt x="153868" y="9446"/>
                  <a:pt x="149939" y="2421"/>
                  <a:pt x="143192" y="476"/>
                </a:cubicBezTo>
                <a:close/>
                <a:moveTo>
                  <a:pt x="168831" y="54491"/>
                </a:moveTo>
                <a:cubicBezTo>
                  <a:pt x="163870" y="59452"/>
                  <a:pt x="163870" y="67508"/>
                  <a:pt x="168831" y="72469"/>
                </a:cubicBezTo>
                <a:lnTo>
                  <a:pt x="197961" y="101600"/>
                </a:lnTo>
                <a:lnTo>
                  <a:pt x="168831" y="130731"/>
                </a:lnTo>
                <a:cubicBezTo>
                  <a:pt x="163870" y="135692"/>
                  <a:pt x="163870" y="143748"/>
                  <a:pt x="168831" y="148709"/>
                </a:cubicBezTo>
                <a:cubicBezTo>
                  <a:pt x="173792" y="153670"/>
                  <a:pt x="181848" y="153670"/>
                  <a:pt x="186809" y="148709"/>
                </a:cubicBezTo>
                <a:lnTo>
                  <a:pt x="224909" y="110609"/>
                </a:lnTo>
                <a:cubicBezTo>
                  <a:pt x="229870" y="105648"/>
                  <a:pt x="229870" y="97592"/>
                  <a:pt x="224909" y="92631"/>
                </a:cubicBezTo>
                <a:lnTo>
                  <a:pt x="186809" y="54531"/>
                </a:lnTo>
                <a:cubicBezTo>
                  <a:pt x="181848" y="49570"/>
                  <a:pt x="173792" y="49570"/>
                  <a:pt x="168831" y="54531"/>
                </a:cubicBezTo>
                <a:close/>
                <a:moveTo>
                  <a:pt x="59809" y="54491"/>
                </a:moveTo>
                <a:cubicBezTo>
                  <a:pt x="54848" y="49530"/>
                  <a:pt x="46792" y="49530"/>
                  <a:pt x="41831" y="54491"/>
                </a:cubicBezTo>
                <a:lnTo>
                  <a:pt x="3731" y="92591"/>
                </a:lnTo>
                <a:cubicBezTo>
                  <a:pt x="-1230" y="97552"/>
                  <a:pt x="-1230" y="105608"/>
                  <a:pt x="3731" y="110569"/>
                </a:cubicBezTo>
                <a:lnTo>
                  <a:pt x="41831" y="148669"/>
                </a:lnTo>
                <a:cubicBezTo>
                  <a:pt x="46792" y="153630"/>
                  <a:pt x="54848" y="153630"/>
                  <a:pt x="59809" y="148669"/>
                </a:cubicBezTo>
                <a:cubicBezTo>
                  <a:pt x="64770" y="143708"/>
                  <a:pt x="64770" y="135652"/>
                  <a:pt x="59809" y="130691"/>
                </a:cubicBezTo>
                <a:lnTo>
                  <a:pt x="30678" y="101600"/>
                </a:lnTo>
                <a:lnTo>
                  <a:pt x="59769" y="72469"/>
                </a:lnTo>
                <a:cubicBezTo>
                  <a:pt x="64730" y="67508"/>
                  <a:pt x="64730" y="59452"/>
                  <a:pt x="59769" y="54491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282234" y="4318000"/>
            <a:ext cx="1955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生成新的 </a:t>
            </a:r>
            <a:r>
              <a:rPr lang="en-US" sz="14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Metadata File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932984" y="4679950"/>
            <a:ext cx="4445000" cy="482600"/>
          </a:xfrm>
          <a:custGeom>
            <a:avLst/>
            <a:gdLst/>
            <a:ahLst/>
            <a:cxnLst/>
            <a:rect l="l" t="t" r="r" b="b"/>
            <a:pathLst>
              <a:path w="4445000" h="482600">
                <a:moveTo>
                  <a:pt x="0" y="0"/>
                </a:moveTo>
                <a:lnTo>
                  <a:pt x="4445000" y="0"/>
                </a:lnTo>
                <a:lnTo>
                  <a:pt x="4445000" y="482600"/>
                </a:lnTo>
                <a:lnTo>
                  <a:pt x="0" y="4826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>
              <a:alpha val="20000"/>
            </a:srgbClr>
          </a:solidFill>
          <a:ln w="12700">
            <a:solidFill>
              <a:srgbClr val="D4A23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6066334" y="48260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4536" y="96748"/>
                </a:moveTo>
                <a:cubicBezTo>
                  <a:pt x="178877" y="92407"/>
                  <a:pt x="178877" y="85358"/>
                  <a:pt x="174536" y="81017"/>
                </a:cubicBezTo>
                <a:lnTo>
                  <a:pt x="118973" y="25455"/>
                </a:lnTo>
                <a:cubicBezTo>
                  <a:pt x="114632" y="21114"/>
                  <a:pt x="107583" y="21114"/>
                  <a:pt x="103242" y="25455"/>
                </a:cubicBezTo>
                <a:cubicBezTo>
                  <a:pt x="98901" y="29795"/>
                  <a:pt x="98901" y="36845"/>
                  <a:pt x="103242" y="41186"/>
                </a:cubicBezTo>
                <a:lnTo>
                  <a:pt x="139844" y="77788"/>
                </a:lnTo>
                <a:lnTo>
                  <a:pt x="11112" y="77788"/>
                </a:lnTo>
                <a:cubicBezTo>
                  <a:pt x="4966" y="77788"/>
                  <a:pt x="0" y="82753"/>
                  <a:pt x="0" y="88900"/>
                </a:cubicBezTo>
                <a:cubicBezTo>
                  <a:pt x="0" y="95047"/>
                  <a:pt x="4966" y="100013"/>
                  <a:pt x="11112" y="100013"/>
                </a:cubicBezTo>
                <a:lnTo>
                  <a:pt x="139844" y="100013"/>
                </a:lnTo>
                <a:lnTo>
                  <a:pt x="103242" y="136614"/>
                </a:lnTo>
                <a:cubicBezTo>
                  <a:pt x="98901" y="140955"/>
                  <a:pt x="98901" y="148005"/>
                  <a:pt x="103242" y="152345"/>
                </a:cubicBezTo>
                <a:cubicBezTo>
                  <a:pt x="107583" y="156686"/>
                  <a:pt x="114632" y="156686"/>
                  <a:pt x="118973" y="152345"/>
                </a:cubicBezTo>
                <a:lnTo>
                  <a:pt x="174536" y="96783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320334" y="4787900"/>
            <a:ext cx="4038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更新 </a:t>
            </a:r>
            <a:r>
              <a:rPr lang="en-US" sz="1400" dirty="0">
                <a:solidFill>
                  <a:srgbClr val="F8F9FA"/>
                </a:solidFill>
                <a:highlight>
                  <a:srgbClr val="1A1D21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current-snapshot-id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0862667" y="2108200"/>
            <a:ext cx="4889500" cy="3492500"/>
          </a:xfrm>
          <a:custGeom>
            <a:avLst/>
            <a:gdLst/>
            <a:ahLst/>
            <a:cxnLst/>
            <a:rect l="l" t="t" r="r" b="b"/>
            <a:pathLst>
              <a:path w="4889500" h="3492500">
                <a:moveTo>
                  <a:pt x="0" y="0"/>
                </a:moveTo>
                <a:lnTo>
                  <a:pt x="4889500" y="0"/>
                </a:lnTo>
                <a:lnTo>
                  <a:pt x="4889500" y="3492500"/>
                </a:lnTo>
                <a:lnTo>
                  <a:pt x="0" y="3492500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10862667" y="2108200"/>
            <a:ext cx="50800" cy="3492500"/>
          </a:xfrm>
          <a:custGeom>
            <a:avLst/>
            <a:gdLst/>
            <a:ahLst/>
            <a:cxnLst/>
            <a:rect l="l" t="t" r="r" b="b"/>
            <a:pathLst>
              <a:path w="50800" h="3492500">
                <a:moveTo>
                  <a:pt x="0" y="0"/>
                </a:moveTo>
                <a:lnTo>
                  <a:pt x="50800" y="0"/>
                </a:lnTo>
                <a:lnTo>
                  <a:pt x="50800" y="3492500"/>
                </a:lnTo>
                <a:lnTo>
                  <a:pt x="0" y="34925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11091267" y="2311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0798" y="0"/>
                </a:moveTo>
                <a:lnTo>
                  <a:pt x="558802" y="0"/>
                </a:lnTo>
                <a:cubicBezTo>
                  <a:pt x="586857" y="0"/>
                  <a:pt x="609600" y="22743"/>
                  <a:pt x="609600" y="50798"/>
                </a:cubicBezTo>
                <a:lnTo>
                  <a:pt x="609600" y="558802"/>
                </a:lnTo>
                <a:cubicBezTo>
                  <a:pt x="609600" y="586857"/>
                  <a:pt x="586857" y="609600"/>
                  <a:pt x="558802" y="609600"/>
                </a:cubicBezTo>
                <a:lnTo>
                  <a:pt x="50798" y="609600"/>
                </a:lnTo>
                <a:cubicBezTo>
                  <a:pt x="22743" y="609600"/>
                  <a:pt x="0" y="586857"/>
                  <a:pt x="0" y="5588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11027767" y="2311400"/>
            <a:ext cx="736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853267" y="2438400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原子提交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1097617" y="3079750"/>
            <a:ext cx="4445000" cy="520700"/>
          </a:xfrm>
          <a:custGeom>
            <a:avLst/>
            <a:gdLst/>
            <a:ahLst/>
            <a:cxnLst/>
            <a:rect l="l" t="t" r="r" b="b"/>
            <a:pathLst>
              <a:path w="4445000" h="520700">
                <a:moveTo>
                  <a:pt x="0" y="0"/>
                </a:moveTo>
                <a:lnTo>
                  <a:pt x="4445000" y="0"/>
                </a:lnTo>
                <a:lnTo>
                  <a:pt x="4445000" y="520700"/>
                </a:lnTo>
                <a:lnTo>
                  <a:pt x="0" y="5207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>
              <a:alpha val="10196"/>
            </a:srgbClr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11205567" y="3187700"/>
            <a:ext cx="431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Commit Phase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1091267" y="3708400"/>
            <a:ext cx="4546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最关键的一步</a:t>
            </a: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：客户端向 Catalog 发送请求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1091267" y="4098925"/>
            <a:ext cx="4457700" cy="711200"/>
          </a:xfrm>
          <a:custGeom>
            <a:avLst/>
            <a:gdLst/>
            <a:ahLst/>
            <a:cxnLst/>
            <a:rect l="l" t="t" r="r" b="b"/>
            <a:pathLst>
              <a:path w="4457700" h="711200">
                <a:moveTo>
                  <a:pt x="0" y="0"/>
                </a:moveTo>
                <a:lnTo>
                  <a:pt x="4457700" y="0"/>
                </a:lnTo>
                <a:lnTo>
                  <a:pt x="44577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11192867" y="4200525"/>
            <a:ext cx="4330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请求：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1192867" y="4467225"/>
            <a:ext cx="38354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v1.metadata.json → v2.metadata.json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1097617" y="4918075"/>
            <a:ext cx="4445000" cy="469900"/>
          </a:xfrm>
          <a:custGeom>
            <a:avLst/>
            <a:gdLst/>
            <a:ahLst/>
            <a:cxnLst/>
            <a:rect l="l" t="t" r="r" b="b"/>
            <a:pathLst>
              <a:path w="4445000" h="469900">
                <a:moveTo>
                  <a:pt x="0" y="0"/>
                </a:moveTo>
                <a:lnTo>
                  <a:pt x="4445000" y="0"/>
                </a:lnTo>
                <a:lnTo>
                  <a:pt x="4445000" y="469900"/>
                </a:lnTo>
                <a:lnTo>
                  <a:pt x="0" y="4699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>
              <a:alpha val="20000"/>
            </a:srgbClr>
          </a:solidFill>
          <a:ln w="12700">
            <a:solidFill>
              <a:srgbClr val="D4A23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11230967" y="5064125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118209" y="73863"/>
                </a:moveTo>
                <a:lnTo>
                  <a:pt x="90428" y="118313"/>
                </a:lnTo>
                <a:cubicBezTo>
                  <a:pt x="88969" y="120640"/>
                  <a:pt x="86469" y="122099"/>
                  <a:pt x="83726" y="122238"/>
                </a:cubicBezTo>
                <a:cubicBezTo>
                  <a:pt x="80982" y="122376"/>
                  <a:pt x="78343" y="121126"/>
                  <a:pt x="76711" y="118904"/>
                </a:cubicBezTo>
                <a:lnTo>
                  <a:pt x="60042" y="96679"/>
                </a:lnTo>
                <a:cubicBezTo>
                  <a:pt x="57264" y="92998"/>
                  <a:pt x="58028" y="87789"/>
                  <a:pt x="61709" y="85011"/>
                </a:cubicBezTo>
                <a:cubicBezTo>
                  <a:pt x="65390" y="82233"/>
                  <a:pt x="70599" y="82996"/>
                  <a:pt x="73377" y="86678"/>
                </a:cubicBezTo>
                <a:lnTo>
                  <a:pt x="82753" y="99179"/>
                </a:lnTo>
                <a:lnTo>
                  <a:pt x="104076" y="65043"/>
                </a:lnTo>
                <a:cubicBezTo>
                  <a:pt x="106506" y="61153"/>
                  <a:pt x="111646" y="59938"/>
                  <a:pt x="115570" y="62404"/>
                </a:cubicBezTo>
                <a:cubicBezTo>
                  <a:pt x="119494" y="64869"/>
                  <a:pt x="120675" y="69974"/>
                  <a:pt x="118209" y="73898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11484967" y="5026025"/>
            <a:ext cx="4038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CAS 机制</a:t>
            </a:r>
            <a:r>
              <a:rPr lang="en-US" sz="14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确保原子性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20700" y="5813425"/>
            <a:ext cx="15214600" cy="1549400"/>
          </a:xfrm>
          <a:custGeom>
            <a:avLst/>
            <a:gdLst/>
            <a:ahLst/>
            <a:cxnLst/>
            <a:rect l="l" t="t" r="r" b="b"/>
            <a:pathLst>
              <a:path w="15214600" h="1549400">
                <a:moveTo>
                  <a:pt x="0" y="0"/>
                </a:moveTo>
                <a:lnTo>
                  <a:pt x="15214600" y="0"/>
                </a:lnTo>
                <a:lnTo>
                  <a:pt x="15214600" y="1549400"/>
                </a:lnTo>
                <a:lnTo>
                  <a:pt x="0" y="15494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>
              <a:alpha val="10196"/>
            </a:srgbClr>
          </a:solidFill>
          <a:ln w="25400">
            <a:solidFill>
              <a:srgbClr val="D4A2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774700" y="60801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1320800" y="6029325"/>
            <a:ext cx="14312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ACID 保证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320800" y="6486525"/>
            <a:ext cx="14300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</a:t>
            </a:r>
            <a:r>
              <a:rPr lang="en-US" sz="16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先写数据、再写元数据、最后原子更新指针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的三阶段提交，Table Format 确保了： </a:t>
            </a:r>
            <a:r>
              <a:rPr lang="en-US" sz="16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原子性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（CAS 机制）、</a:t>
            </a:r>
            <a:r>
              <a:rPr lang="en-US" sz="16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一致性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（元数据指向完整数据）、 </a:t>
            </a:r>
            <a:r>
              <a:rPr lang="en-US" sz="16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隔离性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（未提交数据不可见）、</a:t>
            </a:r>
            <a:r>
              <a:rPr lang="en-US" sz="16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持久性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（元数据更新成功即持久化）。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2ea8d5a7d671f61edf97be448bed2ddb69085678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12649" b="12649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0000"/>
                </a:srgbClr>
              </a:gs>
              <a:gs pos="50000">
                <a:srgbClr val="343A40">
                  <a:alpha val="80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08000" y="2540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" y="0"/>
                </a:moveTo>
                <a:lnTo>
                  <a:pt x="965200" y="0"/>
                </a:lnTo>
                <a:cubicBezTo>
                  <a:pt x="993237" y="0"/>
                  <a:pt x="1016000" y="22763"/>
                  <a:pt x="1016000" y="50800"/>
                </a:cubicBezTo>
                <a:lnTo>
                  <a:pt x="1016000" y="965200"/>
                </a:lnTo>
                <a:cubicBezTo>
                  <a:pt x="1016000" y="993237"/>
                  <a:pt x="993237" y="1016000"/>
                  <a:pt x="965200" y="1016000"/>
                </a:cubicBezTo>
                <a:lnTo>
                  <a:pt x="50800" y="1016000"/>
                </a:lnTo>
                <a:cubicBezTo>
                  <a:pt x="22763" y="1016000"/>
                  <a:pt x="0" y="993237"/>
                  <a:pt x="0" y="96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393700" y="2540000"/>
            <a:ext cx="12446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727200" y="2641600"/>
            <a:ext cx="50800" cy="812800"/>
          </a:xfrm>
          <a:custGeom>
            <a:avLst/>
            <a:gdLst/>
            <a:ahLst/>
            <a:cxnLst/>
            <a:rect l="l" t="t" r="r" b="b"/>
            <a:pathLst>
              <a:path w="50800" h="812800">
                <a:moveTo>
                  <a:pt x="0" y="0"/>
                </a:moveTo>
                <a:lnTo>
                  <a:pt x="50800" y="0"/>
                </a:lnTo>
                <a:lnTo>
                  <a:pt x="50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508000" y="4267200"/>
            <a:ext cx="50800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80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进阶机制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8000" y="5689600"/>
            <a:ext cx="476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行级更新与删除的实现策略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8000" y="655320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210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Update &amp; Delete Strategies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行级更新与删除的两种策略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1574800"/>
            <a:ext cx="15341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Lakehouse 的另一大卖点是支持 </a:t>
            </a:r>
            <a:r>
              <a:rPr lang="en-US" sz="1400" dirty="0">
                <a:solidFill>
                  <a:srgbClr val="F8F9FA">
                    <a:alpha val="80000"/>
                  </a:srgbClr>
                </a:solidFill>
                <a:highlight>
                  <a:srgbClr val="343A40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UPDATE 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和 </a:t>
            </a:r>
            <a:r>
              <a:rPr lang="en-US" sz="1400" dirty="0">
                <a:solidFill>
                  <a:srgbClr val="F8F9FA">
                    <a:alpha val="80000"/>
                  </a:srgbClr>
                </a:solidFill>
                <a:highlight>
                  <a:srgbClr val="343A40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DELETE 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操作。在不可变的对象存储上实现这一点，主要有两种策略：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20700" y="2120900"/>
            <a:ext cx="7467600" cy="3098800"/>
          </a:xfrm>
          <a:custGeom>
            <a:avLst/>
            <a:gdLst/>
            <a:ahLst/>
            <a:cxnLst/>
            <a:rect l="l" t="t" r="r" b="b"/>
            <a:pathLst>
              <a:path w="7467600" h="3098800">
                <a:moveTo>
                  <a:pt x="0" y="0"/>
                </a:moveTo>
                <a:lnTo>
                  <a:pt x="7467600" y="0"/>
                </a:lnTo>
                <a:lnTo>
                  <a:pt x="7467600" y="3098800"/>
                </a:lnTo>
                <a:lnTo>
                  <a:pt x="0" y="3098800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40000"/>
            </a:srgbClr>
          </a:solidFill>
          <a:ln w="25400">
            <a:solidFill>
              <a:srgbClr val="D4A2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87400" y="2387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0798" y="0"/>
                </a:moveTo>
                <a:lnTo>
                  <a:pt x="558802" y="0"/>
                </a:lnTo>
                <a:cubicBezTo>
                  <a:pt x="586857" y="0"/>
                  <a:pt x="609600" y="22743"/>
                  <a:pt x="609600" y="50798"/>
                </a:cubicBezTo>
                <a:lnTo>
                  <a:pt x="609600" y="558802"/>
                </a:lnTo>
                <a:cubicBezTo>
                  <a:pt x="609600" y="586857"/>
                  <a:pt x="586857" y="609600"/>
                  <a:pt x="558802" y="609600"/>
                </a:cubicBezTo>
                <a:lnTo>
                  <a:pt x="50798" y="609600"/>
                </a:lnTo>
                <a:cubicBezTo>
                  <a:pt x="22743" y="609600"/>
                  <a:pt x="0" y="586857"/>
                  <a:pt x="0" y="5588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981075" y="25654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95250" y="0"/>
                </a:moveTo>
                <a:cubicBezTo>
                  <a:pt x="77738" y="0"/>
                  <a:pt x="63500" y="14238"/>
                  <a:pt x="63500" y="31750"/>
                </a:cubicBezTo>
                <a:lnTo>
                  <a:pt x="63500" y="158750"/>
                </a:lnTo>
                <a:cubicBezTo>
                  <a:pt x="63500" y="176262"/>
                  <a:pt x="77738" y="190500"/>
                  <a:pt x="95250" y="190500"/>
                </a:cubicBezTo>
                <a:lnTo>
                  <a:pt x="190500" y="190500"/>
                </a:lnTo>
                <a:cubicBezTo>
                  <a:pt x="208012" y="190500"/>
                  <a:pt x="222250" y="176262"/>
                  <a:pt x="222250" y="158750"/>
                </a:cubicBezTo>
                <a:lnTo>
                  <a:pt x="222250" y="59234"/>
                </a:lnTo>
                <a:cubicBezTo>
                  <a:pt x="222250" y="50602"/>
                  <a:pt x="218728" y="42317"/>
                  <a:pt x="212477" y="36314"/>
                </a:cubicBezTo>
                <a:lnTo>
                  <a:pt x="183852" y="8830"/>
                </a:lnTo>
                <a:cubicBezTo>
                  <a:pt x="177949" y="3175"/>
                  <a:pt x="170061" y="0"/>
                  <a:pt x="161875" y="0"/>
                </a:cubicBezTo>
                <a:lnTo>
                  <a:pt x="95250" y="0"/>
                </a:lnTo>
                <a:close/>
                <a:moveTo>
                  <a:pt x="31750" y="63500"/>
                </a:moveTo>
                <a:cubicBezTo>
                  <a:pt x="14238" y="63500"/>
                  <a:pt x="0" y="77738"/>
                  <a:pt x="0" y="95250"/>
                </a:cubicBezTo>
                <a:lnTo>
                  <a:pt x="0" y="222250"/>
                </a:lnTo>
                <a:cubicBezTo>
                  <a:pt x="0" y="239762"/>
                  <a:pt x="14238" y="254000"/>
                  <a:pt x="31750" y="254000"/>
                </a:cubicBezTo>
                <a:lnTo>
                  <a:pt x="127000" y="254000"/>
                </a:lnTo>
                <a:cubicBezTo>
                  <a:pt x="144512" y="254000"/>
                  <a:pt x="158750" y="239762"/>
                  <a:pt x="158750" y="222250"/>
                </a:cubicBezTo>
                <a:lnTo>
                  <a:pt x="158750" y="214313"/>
                </a:lnTo>
                <a:lnTo>
                  <a:pt x="127000" y="214313"/>
                </a:lnTo>
                <a:lnTo>
                  <a:pt x="127000" y="222250"/>
                </a:lnTo>
                <a:lnTo>
                  <a:pt x="31750" y="222250"/>
                </a:lnTo>
                <a:lnTo>
                  <a:pt x="31750" y="95250"/>
                </a:lnTo>
                <a:lnTo>
                  <a:pt x="39688" y="95250"/>
                </a:lnTo>
                <a:lnTo>
                  <a:pt x="39688" y="63500"/>
                </a:lnTo>
                <a:lnTo>
                  <a:pt x="31750" y="63500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549400" y="2489200"/>
            <a:ext cx="2311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Copy-On-Write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93750" y="3155950"/>
            <a:ext cx="6921500" cy="520700"/>
          </a:xfrm>
          <a:custGeom>
            <a:avLst/>
            <a:gdLst/>
            <a:ahLst/>
            <a:cxnLst/>
            <a:rect l="l" t="t" r="r" b="b"/>
            <a:pathLst>
              <a:path w="6921500" h="520700">
                <a:moveTo>
                  <a:pt x="0" y="0"/>
                </a:moveTo>
                <a:lnTo>
                  <a:pt x="6921500" y="0"/>
                </a:lnTo>
                <a:lnTo>
                  <a:pt x="6921500" y="520700"/>
                </a:lnTo>
                <a:lnTo>
                  <a:pt x="0" y="5207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>
              <a:alpha val="10196"/>
            </a:srgbClr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50900" y="3263900"/>
            <a:ext cx="680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COW - 写时复制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2800" y="38862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4536" y="96748"/>
                </a:moveTo>
                <a:cubicBezTo>
                  <a:pt x="178877" y="92407"/>
                  <a:pt x="178877" y="85358"/>
                  <a:pt x="174536" y="81017"/>
                </a:cubicBezTo>
                <a:lnTo>
                  <a:pt x="118973" y="25455"/>
                </a:lnTo>
                <a:cubicBezTo>
                  <a:pt x="114632" y="21114"/>
                  <a:pt x="107583" y="21114"/>
                  <a:pt x="103242" y="25455"/>
                </a:cubicBezTo>
                <a:cubicBezTo>
                  <a:pt x="98901" y="29795"/>
                  <a:pt x="98901" y="36845"/>
                  <a:pt x="103242" y="41186"/>
                </a:cubicBezTo>
                <a:lnTo>
                  <a:pt x="139844" y="77788"/>
                </a:lnTo>
                <a:lnTo>
                  <a:pt x="11112" y="77788"/>
                </a:lnTo>
                <a:cubicBezTo>
                  <a:pt x="4966" y="77788"/>
                  <a:pt x="0" y="82753"/>
                  <a:pt x="0" y="88900"/>
                </a:cubicBezTo>
                <a:cubicBezTo>
                  <a:pt x="0" y="95047"/>
                  <a:pt x="4966" y="100013"/>
                  <a:pt x="11112" y="100013"/>
                </a:cubicBezTo>
                <a:lnTo>
                  <a:pt x="139844" y="100013"/>
                </a:lnTo>
                <a:lnTo>
                  <a:pt x="103242" y="136614"/>
                </a:lnTo>
                <a:cubicBezTo>
                  <a:pt x="98901" y="140955"/>
                  <a:pt x="98901" y="148005"/>
                  <a:pt x="103242" y="152345"/>
                </a:cubicBezTo>
                <a:cubicBezTo>
                  <a:pt x="107583" y="156686"/>
                  <a:pt x="114632" y="156686"/>
                  <a:pt x="118973" y="152345"/>
                </a:cubicBezTo>
                <a:lnTo>
                  <a:pt x="174536" y="96783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111250" y="3835400"/>
            <a:ext cx="671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更新文件 A 中的一行数据时，</a:t>
            </a:r>
            <a:r>
              <a:rPr lang="en-US" sz="16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重写整个文件 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2800" y="42926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4536" y="96748"/>
                </a:moveTo>
                <a:cubicBezTo>
                  <a:pt x="178877" y="92407"/>
                  <a:pt x="178877" y="85358"/>
                  <a:pt x="174536" y="81017"/>
                </a:cubicBezTo>
                <a:lnTo>
                  <a:pt x="118973" y="25455"/>
                </a:lnTo>
                <a:cubicBezTo>
                  <a:pt x="114632" y="21114"/>
                  <a:pt x="107583" y="21114"/>
                  <a:pt x="103242" y="25455"/>
                </a:cubicBezTo>
                <a:cubicBezTo>
                  <a:pt x="98901" y="29795"/>
                  <a:pt x="98901" y="36845"/>
                  <a:pt x="103242" y="41186"/>
                </a:cubicBezTo>
                <a:lnTo>
                  <a:pt x="139844" y="77788"/>
                </a:lnTo>
                <a:lnTo>
                  <a:pt x="11112" y="77788"/>
                </a:lnTo>
                <a:cubicBezTo>
                  <a:pt x="4966" y="77788"/>
                  <a:pt x="0" y="82753"/>
                  <a:pt x="0" y="88900"/>
                </a:cubicBezTo>
                <a:cubicBezTo>
                  <a:pt x="0" y="95047"/>
                  <a:pt x="4966" y="100013"/>
                  <a:pt x="11112" y="100013"/>
                </a:cubicBezTo>
                <a:lnTo>
                  <a:pt x="139844" y="100013"/>
                </a:lnTo>
                <a:lnTo>
                  <a:pt x="103242" y="136614"/>
                </a:lnTo>
                <a:cubicBezTo>
                  <a:pt x="98901" y="140955"/>
                  <a:pt x="98901" y="148005"/>
                  <a:pt x="103242" y="152345"/>
                </a:cubicBezTo>
                <a:cubicBezTo>
                  <a:pt x="107583" y="156686"/>
                  <a:pt x="114632" y="156686"/>
                  <a:pt x="118973" y="152345"/>
                </a:cubicBezTo>
                <a:lnTo>
                  <a:pt x="174536" y="96783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111250" y="4241800"/>
            <a:ext cx="671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生成新的文件 A'（包含更新后的行）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2800" y="46990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4536" y="96748"/>
                </a:moveTo>
                <a:cubicBezTo>
                  <a:pt x="178877" y="92407"/>
                  <a:pt x="178877" y="85358"/>
                  <a:pt x="174536" y="81017"/>
                </a:cubicBezTo>
                <a:lnTo>
                  <a:pt x="118973" y="25455"/>
                </a:lnTo>
                <a:cubicBezTo>
                  <a:pt x="114632" y="21114"/>
                  <a:pt x="107583" y="21114"/>
                  <a:pt x="103242" y="25455"/>
                </a:cubicBezTo>
                <a:cubicBezTo>
                  <a:pt x="98901" y="29795"/>
                  <a:pt x="98901" y="36845"/>
                  <a:pt x="103242" y="41186"/>
                </a:cubicBezTo>
                <a:lnTo>
                  <a:pt x="139844" y="77788"/>
                </a:lnTo>
                <a:lnTo>
                  <a:pt x="11112" y="77788"/>
                </a:lnTo>
                <a:cubicBezTo>
                  <a:pt x="4966" y="77788"/>
                  <a:pt x="0" y="82753"/>
                  <a:pt x="0" y="88900"/>
                </a:cubicBezTo>
                <a:cubicBezTo>
                  <a:pt x="0" y="95047"/>
                  <a:pt x="4966" y="100013"/>
                  <a:pt x="11112" y="100013"/>
                </a:cubicBezTo>
                <a:lnTo>
                  <a:pt x="139844" y="100013"/>
                </a:lnTo>
                <a:lnTo>
                  <a:pt x="103242" y="136614"/>
                </a:lnTo>
                <a:cubicBezTo>
                  <a:pt x="98901" y="140955"/>
                  <a:pt x="98901" y="148005"/>
                  <a:pt x="103242" y="152345"/>
                </a:cubicBezTo>
                <a:cubicBezTo>
                  <a:pt x="107583" y="156686"/>
                  <a:pt x="114632" y="156686"/>
                  <a:pt x="118973" y="152345"/>
                </a:cubicBezTo>
                <a:lnTo>
                  <a:pt x="174536" y="96783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111250" y="4648200"/>
            <a:ext cx="671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标记文件 A 为删除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67700" y="2120900"/>
            <a:ext cx="7467600" cy="3098800"/>
          </a:xfrm>
          <a:custGeom>
            <a:avLst/>
            <a:gdLst/>
            <a:ahLst/>
            <a:cxnLst/>
            <a:rect l="l" t="t" r="r" b="b"/>
            <a:pathLst>
              <a:path w="7467600" h="3098800">
                <a:moveTo>
                  <a:pt x="0" y="0"/>
                </a:moveTo>
                <a:lnTo>
                  <a:pt x="7467600" y="0"/>
                </a:lnTo>
                <a:lnTo>
                  <a:pt x="7467600" y="3098800"/>
                </a:lnTo>
                <a:lnTo>
                  <a:pt x="0" y="3098800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40000"/>
            </a:srgbClr>
          </a:solidFill>
          <a:ln w="25400">
            <a:solidFill>
              <a:srgbClr val="D4A2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8534400" y="2387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0798" y="0"/>
                </a:moveTo>
                <a:lnTo>
                  <a:pt x="558802" y="0"/>
                </a:lnTo>
                <a:cubicBezTo>
                  <a:pt x="586857" y="0"/>
                  <a:pt x="609600" y="22743"/>
                  <a:pt x="609600" y="50798"/>
                </a:cubicBezTo>
                <a:lnTo>
                  <a:pt x="609600" y="558802"/>
                </a:lnTo>
                <a:cubicBezTo>
                  <a:pt x="609600" y="586857"/>
                  <a:pt x="586857" y="609600"/>
                  <a:pt x="558802" y="609600"/>
                </a:cubicBezTo>
                <a:lnTo>
                  <a:pt x="50798" y="609600"/>
                </a:lnTo>
                <a:cubicBezTo>
                  <a:pt x="22743" y="609600"/>
                  <a:pt x="0" y="586857"/>
                  <a:pt x="0" y="5588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8712200" y="25654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18033" y="3473"/>
                </a:moveTo>
                <a:cubicBezTo>
                  <a:pt x="222696" y="-1191"/>
                  <a:pt x="230237" y="-1191"/>
                  <a:pt x="234851" y="3473"/>
                </a:cubicBezTo>
                <a:lnTo>
                  <a:pt x="250726" y="19348"/>
                </a:lnTo>
                <a:cubicBezTo>
                  <a:pt x="255389" y="24011"/>
                  <a:pt x="255389" y="31552"/>
                  <a:pt x="250726" y="36165"/>
                </a:cubicBezTo>
                <a:lnTo>
                  <a:pt x="207566" y="79325"/>
                </a:lnTo>
                <a:lnTo>
                  <a:pt x="226913" y="98673"/>
                </a:lnTo>
                <a:cubicBezTo>
                  <a:pt x="230336" y="102096"/>
                  <a:pt x="231329" y="107206"/>
                  <a:pt x="229493" y="111671"/>
                </a:cubicBezTo>
                <a:cubicBezTo>
                  <a:pt x="227657" y="116136"/>
                  <a:pt x="223341" y="119063"/>
                  <a:pt x="218529" y="119063"/>
                </a:cubicBezTo>
                <a:lnTo>
                  <a:pt x="147092" y="119063"/>
                </a:lnTo>
                <a:cubicBezTo>
                  <a:pt x="140494" y="119063"/>
                  <a:pt x="135186" y="113754"/>
                  <a:pt x="135186" y="107156"/>
                </a:cubicBezTo>
                <a:lnTo>
                  <a:pt x="135186" y="35719"/>
                </a:lnTo>
                <a:cubicBezTo>
                  <a:pt x="135186" y="30907"/>
                  <a:pt x="138063" y="26541"/>
                  <a:pt x="142528" y="24705"/>
                </a:cubicBezTo>
                <a:cubicBezTo>
                  <a:pt x="146993" y="22870"/>
                  <a:pt x="152102" y="23862"/>
                  <a:pt x="155525" y="27285"/>
                </a:cubicBezTo>
                <a:lnTo>
                  <a:pt x="174873" y="46633"/>
                </a:lnTo>
                <a:lnTo>
                  <a:pt x="218033" y="3473"/>
                </a:lnTo>
                <a:close/>
                <a:moveTo>
                  <a:pt x="35967" y="134938"/>
                </a:moveTo>
                <a:lnTo>
                  <a:pt x="107404" y="134938"/>
                </a:lnTo>
                <a:cubicBezTo>
                  <a:pt x="114002" y="134938"/>
                  <a:pt x="119311" y="140246"/>
                  <a:pt x="119311" y="146844"/>
                </a:cubicBezTo>
                <a:lnTo>
                  <a:pt x="119311" y="218281"/>
                </a:lnTo>
                <a:cubicBezTo>
                  <a:pt x="119311" y="223093"/>
                  <a:pt x="116433" y="227459"/>
                  <a:pt x="111968" y="229295"/>
                </a:cubicBezTo>
                <a:cubicBezTo>
                  <a:pt x="107504" y="231130"/>
                  <a:pt x="102394" y="230138"/>
                  <a:pt x="98971" y="226715"/>
                </a:cubicBezTo>
                <a:lnTo>
                  <a:pt x="79623" y="207367"/>
                </a:lnTo>
                <a:lnTo>
                  <a:pt x="36463" y="250527"/>
                </a:lnTo>
                <a:cubicBezTo>
                  <a:pt x="31800" y="255191"/>
                  <a:pt x="24259" y="255191"/>
                  <a:pt x="19645" y="250527"/>
                </a:cubicBezTo>
                <a:lnTo>
                  <a:pt x="3770" y="234652"/>
                </a:lnTo>
                <a:cubicBezTo>
                  <a:pt x="-893" y="229989"/>
                  <a:pt x="-893" y="222448"/>
                  <a:pt x="3770" y="217835"/>
                </a:cubicBezTo>
                <a:lnTo>
                  <a:pt x="46930" y="174675"/>
                </a:lnTo>
                <a:lnTo>
                  <a:pt x="27583" y="155327"/>
                </a:lnTo>
                <a:cubicBezTo>
                  <a:pt x="24160" y="151904"/>
                  <a:pt x="23168" y="146794"/>
                  <a:pt x="25003" y="142329"/>
                </a:cubicBezTo>
                <a:cubicBezTo>
                  <a:pt x="26839" y="137864"/>
                  <a:pt x="31155" y="134938"/>
                  <a:pt x="35967" y="134938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9296400" y="2489200"/>
            <a:ext cx="24511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Merge-On-Read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540750" y="3155950"/>
            <a:ext cx="6921500" cy="520700"/>
          </a:xfrm>
          <a:custGeom>
            <a:avLst/>
            <a:gdLst/>
            <a:ahLst/>
            <a:cxnLst/>
            <a:rect l="l" t="t" r="r" b="b"/>
            <a:pathLst>
              <a:path w="6921500" h="520700">
                <a:moveTo>
                  <a:pt x="0" y="0"/>
                </a:moveTo>
                <a:lnTo>
                  <a:pt x="6921500" y="0"/>
                </a:lnTo>
                <a:lnTo>
                  <a:pt x="6921500" y="520700"/>
                </a:lnTo>
                <a:lnTo>
                  <a:pt x="0" y="5207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>
              <a:alpha val="10196"/>
            </a:srgbClr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597900" y="3263900"/>
            <a:ext cx="680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MOR - 读时合并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559800" y="38862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4536" y="96748"/>
                </a:moveTo>
                <a:cubicBezTo>
                  <a:pt x="178877" y="92407"/>
                  <a:pt x="178877" y="85358"/>
                  <a:pt x="174536" y="81017"/>
                </a:cubicBezTo>
                <a:lnTo>
                  <a:pt x="118973" y="25455"/>
                </a:lnTo>
                <a:cubicBezTo>
                  <a:pt x="114632" y="21114"/>
                  <a:pt x="107583" y="21114"/>
                  <a:pt x="103242" y="25455"/>
                </a:cubicBezTo>
                <a:cubicBezTo>
                  <a:pt x="98901" y="29795"/>
                  <a:pt x="98901" y="36845"/>
                  <a:pt x="103242" y="41186"/>
                </a:cubicBezTo>
                <a:lnTo>
                  <a:pt x="139844" y="77788"/>
                </a:lnTo>
                <a:lnTo>
                  <a:pt x="11112" y="77788"/>
                </a:lnTo>
                <a:cubicBezTo>
                  <a:pt x="4966" y="77788"/>
                  <a:pt x="0" y="82753"/>
                  <a:pt x="0" y="88900"/>
                </a:cubicBezTo>
                <a:cubicBezTo>
                  <a:pt x="0" y="95047"/>
                  <a:pt x="4966" y="100013"/>
                  <a:pt x="11112" y="100013"/>
                </a:cubicBezTo>
                <a:lnTo>
                  <a:pt x="139844" y="100013"/>
                </a:lnTo>
                <a:lnTo>
                  <a:pt x="103242" y="136614"/>
                </a:lnTo>
                <a:cubicBezTo>
                  <a:pt x="98901" y="140955"/>
                  <a:pt x="98901" y="148005"/>
                  <a:pt x="103242" y="152345"/>
                </a:cubicBezTo>
                <a:cubicBezTo>
                  <a:pt x="107583" y="156686"/>
                  <a:pt x="114632" y="156686"/>
                  <a:pt x="118973" y="152345"/>
                </a:cubicBezTo>
                <a:lnTo>
                  <a:pt x="174536" y="96783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8858250" y="3835400"/>
            <a:ext cx="671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File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：存储基础数据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559800" y="42926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4536" y="96748"/>
                </a:moveTo>
                <a:cubicBezTo>
                  <a:pt x="178877" y="92407"/>
                  <a:pt x="178877" y="85358"/>
                  <a:pt x="174536" y="81017"/>
                </a:cubicBezTo>
                <a:lnTo>
                  <a:pt x="118973" y="25455"/>
                </a:lnTo>
                <a:cubicBezTo>
                  <a:pt x="114632" y="21114"/>
                  <a:pt x="107583" y="21114"/>
                  <a:pt x="103242" y="25455"/>
                </a:cubicBezTo>
                <a:cubicBezTo>
                  <a:pt x="98901" y="29795"/>
                  <a:pt x="98901" y="36845"/>
                  <a:pt x="103242" y="41186"/>
                </a:cubicBezTo>
                <a:lnTo>
                  <a:pt x="139844" y="77788"/>
                </a:lnTo>
                <a:lnTo>
                  <a:pt x="11112" y="77788"/>
                </a:lnTo>
                <a:cubicBezTo>
                  <a:pt x="4966" y="77788"/>
                  <a:pt x="0" y="82753"/>
                  <a:pt x="0" y="88900"/>
                </a:cubicBezTo>
                <a:cubicBezTo>
                  <a:pt x="0" y="95047"/>
                  <a:pt x="4966" y="100013"/>
                  <a:pt x="11112" y="100013"/>
                </a:cubicBezTo>
                <a:lnTo>
                  <a:pt x="139844" y="100013"/>
                </a:lnTo>
                <a:lnTo>
                  <a:pt x="103242" y="136614"/>
                </a:lnTo>
                <a:cubicBezTo>
                  <a:pt x="98901" y="140955"/>
                  <a:pt x="98901" y="148005"/>
                  <a:pt x="103242" y="152345"/>
                </a:cubicBezTo>
                <a:cubicBezTo>
                  <a:pt x="107583" y="156686"/>
                  <a:pt x="114632" y="156686"/>
                  <a:pt x="118973" y="152345"/>
                </a:cubicBezTo>
                <a:lnTo>
                  <a:pt x="174536" y="96783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858250" y="4241800"/>
            <a:ext cx="671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Delete File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：存储"哪些行被删除/更新"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559800" y="46990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4536" y="96748"/>
                </a:moveTo>
                <a:cubicBezTo>
                  <a:pt x="178877" y="92407"/>
                  <a:pt x="178877" y="85358"/>
                  <a:pt x="174536" y="81017"/>
                </a:cubicBezTo>
                <a:lnTo>
                  <a:pt x="118973" y="25455"/>
                </a:lnTo>
                <a:cubicBezTo>
                  <a:pt x="114632" y="21114"/>
                  <a:pt x="107583" y="21114"/>
                  <a:pt x="103242" y="25455"/>
                </a:cubicBezTo>
                <a:cubicBezTo>
                  <a:pt x="98901" y="29795"/>
                  <a:pt x="98901" y="36845"/>
                  <a:pt x="103242" y="41186"/>
                </a:cubicBezTo>
                <a:lnTo>
                  <a:pt x="139844" y="77788"/>
                </a:lnTo>
                <a:lnTo>
                  <a:pt x="11112" y="77788"/>
                </a:lnTo>
                <a:cubicBezTo>
                  <a:pt x="4966" y="77788"/>
                  <a:pt x="0" y="82753"/>
                  <a:pt x="0" y="88900"/>
                </a:cubicBezTo>
                <a:cubicBezTo>
                  <a:pt x="0" y="95047"/>
                  <a:pt x="4966" y="100013"/>
                  <a:pt x="11112" y="100013"/>
                </a:cubicBezTo>
                <a:lnTo>
                  <a:pt x="139844" y="100013"/>
                </a:lnTo>
                <a:lnTo>
                  <a:pt x="103242" y="136614"/>
                </a:lnTo>
                <a:cubicBezTo>
                  <a:pt x="98901" y="140955"/>
                  <a:pt x="98901" y="148005"/>
                  <a:pt x="103242" y="152345"/>
                </a:cubicBezTo>
                <a:cubicBezTo>
                  <a:pt x="107583" y="156686"/>
                  <a:pt x="114632" y="156686"/>
                  <a:pt x="118973" y="152345"/>
                </a:cubicBezTo>
                <a:lnTo>
                  <a:pt x="174536" y="96783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8858250" y="4648200"/>
            <a:ext cx="671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读取时引擎实时</a:t>
            </a:r>
            <a:r>
              <a:rPr lang="en-US" sz="16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合并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Data File 和 Delete File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14350" y="5441950"/>
            <a:ext cx="7480300" cy="1536700"/>
          </a:xfrm>
          <a:custGeom>
            <a:avLst/>
            <a:gdLst/>
            <a:ahLst/>
            <a:cxnLst/>
            <a:rect l="l" t="t" r="r" b="b"/>
            <a:pathLst>
              <a:path w="7480300" h="1536700">
                <a:moveTo>
                  <a:pt x="0" y="0"/>
                </a:moveTo>
                <a:lnTo>
                  <a:pt x="7480300" y="0"/>
                </a:lnTo>
                <a:lnTo>
                  <a:pt x="7480300" y="1536700"/>
                </a:lnTo>
                <a:lnTo>
                  <a:pt x="0" y="15367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>
              <a:alpha val="10196"/>
            </a:srgbClr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755650" y="57023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254000"/>
                </a:moveTo>
                <a:cubicBezTo>
                  <a:pt x="197093" y="254000"/>
                  <a:pt x="254000" y="197093"/>
                  <a:pt x="254000" y="127000"/>
                </a:cubicBezTo>
                <a:cubicBezTo>
                  <a:pt x="254000" y="56907"/>
                  <a:pt x="197093" y="0"/>
                  <a:pt x="127000" y="0"/>
                </a:cubicBezTo>
                <a:cubicBezTo>
                  <a:pt x="56907" y="0"/>
                  <a:pt x="0" y="56907"/>
                  <a:pt x="0" y="127000"/>
                </a:cubicBezTo>
                <a:cubicBezTo>
                  <a:pt x="0" y="197093"/>
                  <a:pt x="56907" y="254000"/>
                  <a:pt x="127000" y="254000"/>
                </a:cubicBezTo>
                <a:close/>
                <a:moveTo>
                  <a:pt x="168870" y="105519"/>
                </a:moveTo>
                <a:lnTo>
                  <a:pt x="129183" y="169019"/>
                </a:lnTo>
                <a:cubicBezTo>
                  <a:pt x="127099" y="172343"/>
                  <a:pt x="123527" y="174427"/>
                  <a:pt x="119608" y="174625"/>
                </a:cubicBezTo>
                <a:cubicBezTo>
                  <a:pt x="115689" y="174823"/>
                  <a:pt x="111919" y="173038"/>
                  <a:pt x="109587" y="169863"/>
                </a:cubicBezTo>
                <a:lnTo>
                  <a:pt x="85775" y="138113"/>
                </a:lnTo>
                <a:cubicBezTo>
                  <a:pt x="81806" y="132854"/>
                  <a:pt x="82897" y="125413"/>
                  <a:pt x="88156" y="121444"/>
                </a:cubicBezTo>
                <a:cubicBezTo>
                  <a:pt x="93414" y="117475"/>
                  <a:pt x="100856" y="118566"/>
                  <a:pt x="104825" y="123825"/>
                </a:cubicBezTo>
                <a:lnTo>
                  <a:pt x="118219" y="141684"/>
                </a:lnTo>
                <a:lnTo>
                  <a:pt x="148679" y="92918"/>
                </a:lnTo>
                <a:cubicBezTo>
                  <a:pt x="152152" y="87362"/>
                  <a:pt x="159494" y="85626"/>
                  <a:pt x="165100" y="89148"/>
                </a:cubicBezTo>
                <a:cubicBezTo>
                  <a:pt x="170706" y="92670"/>
                  <a:pt x="172393" y="99963"/>
                  <a:pt x="168870" y="105569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1193800" y="5651500"/>
            <a:ext cx="165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COW 适用场景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23900" y="6108700"/>
            <a:ext cx="7162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读多写少的场景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，如离线 T+1 报表、数据仓库分析等。因为读性能极高，适合频繁查询的场景。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261350" y="5441950"/>
            <a:ext cx="7480300" cy="1536700"/>
          </a:xfrm>
          <a:custGeom>
            <a:avLst/>
            <a:gdLst/>
            <a:ahLst/>
            <a:cxnLst/>
            <a:rect l="l" t="t" r="r" b="b"/>
            <a:pathLst>
              <a:path w="7480300" h="1536700">
                <a:moveTo>
                  <a:pt x="0" y="0"/>
                </a:moveTo>
                <a:lnTo>
                  <a:pt x="7480300" y="0"/>
                </a:lnTo>
                <a:lnTo>
                  <a:pt x="7480300" y="1536700"/>
                </a:lnTo>
                <a:lnTo>
                  <a:pt x="0" y="15367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>
              <a:alpha val="10196"/>
            </a:srgbClr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8502650" y="57023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254000"/>
                </a:moveTo>
                <a:cubicBezTo>
                  <a:pt x="197093" y="254000"/>
                  <a:pt x="254000" y="197093"/>
                  <a:pt x="254000" y="127000"/>
                </a:cubicBezTo>
                <a:cubicBezTo>
                  <a:pt x="254000" y="56907"/>
                  <a:pt x="197093" y="0"/>
                  <a:pt x="127000" y="0"/>
                </a:cubicBezTo>
                <a:cubicBezTo>
                  <a:pt x="56907" y="0"/>
                  <a:pt x="0" y="56907"/>
                  <a:pt x="0" y="127000"/>
                </a:cubicBezTo>
                <a:cubicBezTo>
                  <a:pt x="0" y="197093"/>
                  <a:pt x="56907" y="254000"/>
                  <a:pt x="127000" y="254000"/>
                </a:cubicBezTo>
                <a:close/>
                <a:moveTo>
                  <a:pt x="168870" y="105519"/>
                </a:moveTo>
                <a:lnTo>
                  <a:pt x="129183" y="169019"/>
                </a:lnTo>
                <a:cubicBezTo>
                  <a:pt x="127099" y="172343"/>
                  <a:pt x="123527" y="174427"/>
                  <a:pt x="119608" y="174625"/>
                </a:cubicBezTo>
                <a:cubicBezTo>
                  <a:pt x="115689" y="174823"/>
                  <a:pt x="111919" y="173038"/>
                  <a:pt x="109587" y="169863"/>
                </a:cubicBezTo>
                <a:lnTo>
                  <a:pt x="85775" y="138113"/>
                </a:lnTo>
                <a:cubicBezTo>
                  <a:pt x="81806" y="132854"/>
                  <a:pt x="82897" y="125413"/>
                  <a:pt x="88156" y="121444"/>
                </a:cubicBezTo>
                <a:cubicBezTo>
                  <a:pt x="93414" y="117475"/>
                  <a:pt x="100856" y="118566"/>
                  <a:pt x="104825" y="123825"/>
                </a:cubicBezTo>
                <a:lnTo>
                  <a:pt x="118219" y="141684"/>
                </a:lnTo>
                <a:lnTo>
                  <a:pt x="148679" y="92918"/>
                </a:lnTo>
                <a:cubicBezTo>
                  <a:pt x="152152" y="87362"/>
                  <a:pt x="159494" y="85626"/>
                  <a:pt x="165100" y="89148"/>
                </a:cubicBezTo>
                <a:cubicBezTo>
                  <a:pt x="170706" y="92670"/>
                  <a:pt x="172393" y="99963"/>
                  <a:pt x="168870" y="105569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8940800" y="5651500"/>
            <a:ext cx="1612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MOR 适用场景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470900" y="6108700"/>
            <a:ext cx="7162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流式高频更新场景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，如实时 CDC 入湖、频繁更新的 OLTP 工作负载等。因为写入极快，适合写密集型应用。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210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Copy-On-Write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Copy-On-Write (COW)：写时复制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33400" y="1574800"/>
            <a:ext cx="7467600" cy="3708400"/>
          </a:xfrm>
          <a:custGeom>
            <a:avLst/>
            <a:gdLst/>
            <a:ahLst/>
            <a:cxnLst/>
            <a:rect l="l" t="t" r="r" b="b"/>
            <a:pathLst>
              <a:path w="7467600" h="3708400">
                <a:moveTo>
                  <a:pt x="0" y="0"/>
                </a:moveTo>
                <a:lnTo>
                  <a:pt x="7467600" y="0"/>
                </a:lnTo>
                <a:lnTo>
                  <a:pt x="7467600" y="3708400"/>
                </a:lnTo>
                <a:lnTo>
                  <a:pt x="0" y="3708400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33400" y="1574800"/>
            <a:ext cx="50800" cy="3708400"/>
          </a:xfrm>
          <a:custGeom>
            <a:avLst/>
            <a:gdLst/>
            <a:ahLst/>
            <a:cxnLst/>
            <a:rect l="l" t="t" r="r" b="b"/>
            <a:pathLst>
              <a:path w="50800" h="3708400">
                <a:moveTo>
                  <a:pt x="0" y="0"/>
                </a:moveTo>
                <a:lnTo>
                  <a:pt x="50800" y="0"/>
                </a:lnTo>
                <a:lnTo>
                  <a:pt x="50800" y="3708400"/>
                </a:lnTo>
                <a:lnTo>
                  <a:pt x="0" y="37084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12800" y="1828800"/>
            <a:ext cx="706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工作原理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12800" y="23368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0"/>
                </a:moveTo>
                <a:lnTo>
                  <a:pt x="355600" y="0"/>
                </a:lnTo>
                <a:cubicBezTo>
                  <a:pt x="383637" y="0"/>
                  <a:pt x="406400" y="22763"/>
                  <a:pt x="406400" y="50800"/>
                </a:cubicBezTo>
                <a:lnTo>
                  <a:pt x="406400" y="355600"/>
                </a:lnTo>
                <a:cubicBezTo>
                  <a:pt x="406400" y="383637"/>
                  <a:pt x="383637" y="406400"/>
                  <a:pt x="3556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762000" y="233680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336800"/>
            <a:ext cx="6477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假设要更新</a:t>
            </a:r>
            <a:r>
              <a:rPr lang="en-US" sz="16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 A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中的某一行数据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2800" y="2895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0"/>
                </a:moveTo>
                <a:lnTo>
                  <a:pt x="355600" y="0"/>
                </a:lnTo>
                <a:cubicBezTo>
                  <a:pt x="383637" y="0"/>
                  <a:pt x="406400" y="22763"/>
                  <a:pt x="406400" y="50800"/>
                </a:cubicBezTo>
                <a:lnTo>
                  <a:pt x="406400" y="355600"/>
                </a:lnTo>
                <a:cubicBezTo>
                  <a:pt x="406400" y="383637"/>
                  <a:pt x="383637" y="406400"/>
                  <a:pt x="3556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62000" y="289560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895600"/>
            <a:ext cx="6477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必须</a:t>
            </a:r>
            <a:r>
              <a:rPr lang="en-US" sz="16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重写整个文件 A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，生成新的文件 A'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2800" y="3454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0"/>
                </a:moveTo>
                <a:lnTo>
                  <a:pt x="355600" y="0"/>
                </a:lnTo>
                <a:cubicBezTo>
                  <a:pt x="383637" y="0"/>
                  <a:pt x="406400" y="22763"/>
                  <a:pt x="406400" y="50800"/>
                </a:cubicBezTo>
                <a:lnTo>
                  <a:pt x="406400" y="355600"/>
                </a:lnTo>
                <a:cubicBezTo>
                  <a:pt x="406400" y="383637"/>
                  <a:pt x="383637" y="406400"/>
                  <a:pt x="3556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762000" y="345440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454400"/>
            <a:ext cx="6477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 A' 中包含更新后的行数据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2800" y="4013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0"/>
                </a:moveTo>
                <a:lnTo>
                  <a:pt x="355600" y="0"/>
                </a:lnTo>
                <a:cubicBezTo>
                  <a:pt x="383637" y="0"/>
                  <a:pt x="406400" y="22763"/>
                  <a:pt x="406400" y="50800"/>
                </a:cubicBezTo>
                <a:lnTo>
                  <a:pt x="406400" y="355600"/>
                </a:lnTo>
                <a:cubicBezTo>
                  <a:pt x="406400" y="383637"/>
                  <a:pt x="383637" y="406400"/>
                  <a:pt x="3556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762000" y="401320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4013200"/>
            <a:ext cx="6477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在元数据中标记文件 A 为删除状态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80400" y="1574800"/>
            <a:ext cx="7467600" cy="3708400"/>
          </a:xfrm>
          <a:custGeom>
            <a:avLst/>
            <a:gdLst/>
            <a:ahLst/>
            <a:cxnLst/>
            <a:rect l="l" t="t" r="r" b="b"/>
            <a:pathLst>
              <a:path w="7467600" h="3708400">
                <a:moveTo>
                  <a:pt x="0" y="0"/>
                </a:moveTo>
                <a:lnTo>
                  <a:pt x="7467600" y="0"/>
                </a:lnTo>
                <a:lnTo>
                  <a:pt x="7467600" y="3708400"/>
                </a:lnTo>
                <a:lnTo>
                  <a:pt x="0" y="3708400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8280400" y="1574800"/>
            <a:ext cx="50800" cy="3708400"/>
          </a:xfrm>
          <a:custGeom>
            <a:avLst/>
            <a:gdLst/>
            <a:ahLst/>
            <a:cxnLst/>
            <a:rect l="l" t="t" r="r" b="b"/>
            <a:pathLst>
              <a:path w="50800" h="3708400">
                <a:moveTo>
                  <a:pt x="0" y="0"/>
                </a:moveTo>
                <a:lnTo>
                  <a:pt x="50800" y="0"/>
                </a:lnTo>
                <a:lnTo>
                  <a:pt x="50800" y="3708400"/>
                </a:lnTo>
                <a:lnTo>
                  <a:pt x="0" y="37084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559800" y="1828800"/>
            <a:ext cx="706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优缺点分析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585200" y="2387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31750" y="63500"/>
                </a:moveTo>
                <a:cubicBezTo>
                  <a:pt x="38775" y="63500"/>
                  <a:pt x="44450" y="69175"/>
                  <a:pt x="44450" y="76200"/>
                </a:cubicBezTo>
                <a:lnTo>
                  <a:pt x="44450" y="177800"/>
                </a:lnTo>
                <a:cubicBezTo>
                  <a:pt x="44450" y="184825"/>
                  <a:pt x="38775" y="190500"/>
                  <a:pt x="31750" y="190500"/>
                </a:cubicBezTo>
                <a:lnTo>
                  <a:pt x="12700" y="190500"/>
                </a:lnTo>
                <a:cubicBezTo>
                  <a:pt x="5675" y="190500"/>
                  <a:pt x="0" y="184825"/>
                  <a:pt x="0" y="177800"/>
                </a:cubicBezTo>
                <a:lnTo>
                  <a:pt x="0" y="76200"/>
                </a:lnTo>
                <a:cubicBezTo>
                  <a:pt x="0" y="69175"/>
                  <a:pt x="5675" y="63500"/>
                  <a:pt x="12700" y="63500"/>
                </a:cubicBezTo>
                <a:lnTo>
                  <a:pt x="31750" y="63500"/>
                </a:lnTo>
                <a:close/>
                <a:moveTo>
                  <a:pt x="107394" y="6350"/>
                </a:moveTo>
                <a:cubicBezTo>
                  <a:pt x="118229" y="6350"/>
                  <a:pt x="127000" y="15121"/>
                  <a:pt x="127000" y="25956"/>
                </a:cubicBezTo>
                <a:lnTo>
                  <a:pt x="127000" y="27623"/>
                </a:lnTo>
                <a:cubicBezTo>
                  <a:pt x="127000" y="30321"/>
                  <a:pt x="126484" y="33020"/>
                  <a:pt x="125492" y="35520"/>
                </a:cubicBezTo>
                <a:lnTo>
                  <a:pt x="114300" y="63500"/>
                </a:lnTo>
                <a:lnTo>
                  <a:pt x="177800" y="63500"/>
                </a:lnTo>
                <a:cubicBezTo>
                  <a:pt x="188317" y="63500"/>
                  <a:pt x="196850" y="72033"/>
                  <a:pt x="196850" y="82550"/>
                </a:cubicBezTo>
                <a:cubicBezTo>
                  <a:pt x="196850" y="90368"/>
                  <a:pt x="192127" y="97076"/>
                  <a:pt x="185380" y="100013"/>
                </a:cubicBezTo>
                <a:cubicBezTo>
                  <a:pt x="192127" y="102949"/>
                  <a:pt x="196850" y="109657"/>
                  <a:pt x="196850" y="117475"/>
                </a:cubicBezTo>
                <a:cubicBezTo>
                  <a:pt x="196850" y="126762"/>
                  <a:pt x="190182" y="134501"/>
                  <a:pt x="181372" y="136168"/>
                </a:cubicBezTo>
                <a:cubicBezTo>
                  <a:pt x="183118" y="139065"/>
                  <a:pt x="184150" y="142438"/>
                  <a:pt x="184150" y="146050"/>
                </a:cubicBezTo>
                <a:cubicBezTo>
                  <a:pt x="184150" y="154861"/>
                  <a:pt x="178197" y="162243"/>
                  <a:pt x="170101" y="164425"/>
                </a:cubicBezTo>
                <a:cubicBezTo>
                  <a:pt x="170974" y="166608"/>
                  <a:pt x="171450" y="168989"/>
                  <a:pt x="171450" y="171450"/>
                </a:cubicBezTo>
                <a:cubicBezTo>
                  <a:pt x="171450" y="181967"/>
                  <a:pt x="162917" y="190500"/>
                  <a:pt x="152400" y="190500"/>
                </a:cubicBezTo>
                <a:lnTo>
                  <a:pt x="117515" y="190500"/>
                </a:lnTo>
                <a:cubicBezTo>
                  <a:pt x="103108" y="190500"/>
                  <a:pt x="89098" y="185579"/>
                  <a:pt x="77867" y="176570"/>
                </a:cubicBezTo>
                <a:lnTo>
                  <a:pt x="73025" y="172720"/>
                </a:lnTo>
                <a:cubicBezTo>
                  <a:pt x="66993" y="167918"/>
                  <a:pt x="63500" y="160615"/>
                  <a:pt x="63500" y="152876"/>
                </a:cubicBezTo>
                <a:lnTo>
                  <a:pt x="63500" y="78819"/>
                </a:lnTo>
                <a:cubicBezTo>
                  <a:pt x="63500" y="72906"/>
                  <a:pt x="64889" y="67072"/>
                  <a:pt x="67508" y="61793"/>
                </a:cubicBezTo>
                <a:lnTo>
                  <a:pt x="89813" y="17185"/>
                </a:lnTo>
                <a:cubicBezTo>
                  <a:pt x="93147" y="10557"/>
                  <a:pt x="99933" y="6350"/>
                  <a:pt x="107394" y="6350"/>
                </a:cubicBezTo>
                <a:close/>
              </a:path>
            </a:pathLst>
          </a:custGeom>
          <a:solidFill>
            <a:srgbClr val="00C95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915400" y="2336800"/>
            <a:ext cx="50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优点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59800" y="2743200"/>
            <a:ext cx="702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 读性能极高：</a:t>
            </a: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读的时候不需要合并，直接读取数据文件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59800" y="3048000"/>
            <a:ext cx="702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 实现简单：</a:t>
            </a: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数据文件即最终状态，无额外合并逻辑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559800" y="3352800"/>
            <a:ext cx="702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 适合读多场景：</a:t>
            </a: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离线报表、数据仓库分析等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585200" y="38100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52400" y="12700"/>
                </a:moveTo>
                <a:cubicBezTo>
                  <a:pt x="162917" y="12700"/>
                  <a:pt x="171450" y="21233"/>
                  <a:pt x="171450" y="31750"/>
                </a:cubicBezTo>
                <a:cubicBezTo>
                  <a:pt x="171450" y="34250"/>
                  <a:pt x="170934" y="36592"/>
                  <a:pt x="170101" y="38775"/>
                </a:cubicBezTo>
                <a:cubicBezTo>
                  <a:pt x="178197" y="40958"/>
                  <a:pt x="184150" y="48339"/>
                  <a:pt x="184150" y="57150"/>
                </a:cubicBezTo>
                <a:cubicBezTo>
                  <a:pt x="184150" y="60762"/>
                  <a:pt x="183118" y="64135"/>
                  <a:pt x="181372" y="67032"/>
                </a:cubicBezTo>
                <a:cubicBezTo>
                  <a:pt x="190182" y="68699"/>
                  <a:pt x="196850" y="76438"/>
                  <a:pt x="196850" y="85725"/>
                </a:cubicBezTo>
                <a:cubicBezTo>
                  <a:pt x="196850" y="93543"/>
                  <a:pt x="192127" y="100251"/>
                  <a:pt x="185380" y="103188"/>
                </a:cubicBezTo>
                <a:cubicBezTo>
                  <a:pt x="192127" y="106124"/>
                  <a:pt x="196850" y="112832"/>
                  <a:pt x="196850" y="120650"/>
                </a:cubicBezTo>
                <a:cubicBezTo>
                  <a:pt x="196850" y="131167"/>
                  <a:pt x="188317" y="139700"/>
                  <a:pt x="177800" y="139700"/>
                </a:cubicBezTo>
                <a:lnTo>
                  <a:pt x="114300" y="139700"/>
                </a:lnTo>
                <a:lnTo>
                  <a:pt x="125492" y="167640"/>
                </a:lnTo>
                <a:cubicBezTo>
                  <a:pt x="126484" y="170140"/>
                  <a:pt x="127000" y="172839"/>
                  <a:pt x="127000" y="175538"/>
                </a:cubicBezTo>
                <a:lnTo>
                  <a:pt x="127000" y="177205"/>
                </a:lnTo>
                <a:cubicBezTo>
                  <a:pt x="127000" y="188039"/>
                  <a:pt x="118229" y="196810"/>
                  <a:pt x="107394" y="196810"/>
                </a:cubicBezTo>
                <a:cubicBezTo>
                  <a:pt x="99973" y="196810"/>
                  <a:pt x="93186" y="192603"/>
                  <a:pt x="89853" y="185976"/>
                </a:cubicBezTo>
                <a:lnTo>
                  <a:pt x="67508" y="141407"/>
                </a:lnTo>
                <a:cubicBezTo>
                  <a:pt x="64849" y="136128"/>
                  <a:pt x="63500" y="130294"/>
                  <a:pt x="63500" y="124381"/>
                </a:cubicBezTo>
                <a:lnTo>
                  <a:pt x="63500" y="50324"/>
                </a:lnTo>
                <a:cubicBezTo>
                  <a:pt x="63500" y="42624"/>
                  <a:pt x="67032" y="35322"/>
                  <a:pt x="73025" y="30480"/>
                </a:cubicBezTo>
                <a:lnTo>
                  <a:pt x="77867" y="26630"/>
                </a:lnTo>
                <a:cubicBezTo>
                  <a:pt x="89138" y="17621"/>
                  <a:pt x="103108" y="12700"/>
                  <a:pt x="117515" y="12700"/>
                </a:cubicBezTo>
                <a:lnTo>
                  <a:pt x="152400" y="12700"/>
                </a:lnTo>
                <a:close/>
                <a:moveTo>
                  <a:pt x="31750" y="38100"/>
                </a:moveTo>
                <a:cubicBezTo>
                  <a:pt x="38775" y="38100"/>
                  <a:pt x="44450" y="43775"/>
                  <a:pt x="44450" y="50800"/>
                </a:cubicBezTo>
                <a:lnTo>
                  <a:pt x="44450" y="152400"/>
                </a:lnTo>
                <a:cubicBezTo>
                  <a:pt x="44450" y="159425"/>
                  <a:pt x="38775" y="165100"/>
                  <a:pt x="31750" y="165100"/>
                </a:cubicBezTo>
                <a:lnTo>
                  <a:pt x="12700" y="165100"/>
                </a:lnTo>
                <a:cubicBezTo>
                  <a:pt x="5675" y="165100"/>
                  <a:pt x="0" y="159425"/>
                  <a:pt x="0" y="152400"/>
                </a:cubicBezTo>
                <a:lnTo>
                  <a:pt x="0" y="50800"/>
                </a:lnTo>
                <a:cubicBezTo>
                  <a:pt x="0" y="43775"/>
                  <a:pt x="5675" y="38100"/>
                  <a:pt x="12700" y="38100"/>
                </a:cubicBezTo>
                <a:lnTo>
                  <a:pt x="31750" y="3810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8915400" y="3759200"/>
            <a:ext cx="50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缺点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559800" y="4165600"/>
            <a:ext cx="702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✗ 写放大严重：</a:t>
            </a: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修改 1 行可能导致重写 1GB 文件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559800" y="4470400"/>
            <a:ext cx="702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✗ 写性能差：</a:t>
            </a: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每次更新都需要重写整个文件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559800" y="4775200"/>
            <a:ext cx="702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✗ 不适合高频更新：</a:t>
            </a: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写密集型场景性能受限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14350" y="5492750"/>
            <a:ext cx="15227300" cy="1206500"/>
          </a:xfrm>
          <a:custGeom>
            <a:avLst/>
            <a:gdLst/>
            <a:ahLst/>
            <a:cxnLst/>
            <a:rect l="l" t="t" r="r" b="b"/>
            <a:pathLst>
              <a:path w="15227300" h="1206500">
                <a:moveTo>
                  <a:pt x="0" y="0"/>
                </a:moveTo>
                <a:lnTo>
                  <a:pt x="15227300" y="0"/>
                </a:lnTo>
                <a:lnTo>
                  <a:pt x="15227300" y="1206500"/>
                </a:lnTo>
                <a:lnTo>
                  <a:pt x="0" y="12065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>
              <a:alpha val="10196"/>
            </a:srgbClr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800100" y="57531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1308100" y="5702300"/>
            <a:ext cx="14338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典型场景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308100" y="6159500"/>
            <a:ext cx="14325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离线 T+1 报表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是 COW 的最佳应用场景。每天批量更新一次数据，后续主要是查询分析，读操作远多于写操作，能够最大化 COW 的读性能优势。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210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Merge-On-Read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Merge-On-Read (MOR)：读时合并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33400" y="1574800"/>
            <a:ext cx="7467600" cy="5130800"/>
          </a:xfrm>
          <a:custGeom>
            <a:avLst/>
            <a:gdLst/>
            <a:ahLst/>
            <a:cxnLst/>
            <a:rect l="l" t="t" r="r" b="b"/>
            <a:pathLst>
              <a:path w="7467600" h="5130800">
                <a:moveTo>
                  <a:pt x="0" y="0"/>
                </a:moveTo>
                <a:lnTo>
                  <a:pt x="7467600" y="0"/>
                </a:lnTo>
                <a:lnTo>
                  <a:pt x="7467600" y="5130800"/>
                </a:lnTo>
                <a:lnTo>
                  <a:pt x="0" y="5130800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33400" y="1574800"/>
            <a:ext cx="50800" cy="5130800"/>
          </a:xfrm>
          <a:custGeom>
            <a:avLst/>
            <a:gdLst/>
            <a:ahLst/>
            <a:cxnLst/>
            <a:rect l="l" t="t" r="r" b="b"/>
            <a:pathLst>
              <a:path w="50800" h="5130800">
                <a:moveTo>
                  <a:pt x="0" y="0"/>
                </a:moveTo>
                <a:lnTo>
                  <a:pt x="50800" y="0"/>
                </a:lnTo>
                <a:lnTo>
                  <a:pt x="50800" y="5130800"/>
                </a:lnTo>
                <a:lnTo>
                  <a:pt x="0" y="51308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62000" y="1778000"/>
            <a:ext cx="7162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工作原理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8350" y="2292350"/>
            <a:ext cx="7023100" cy="927100"/>
          </a:xfrm>
          <a:custGeom>
            <a:avLst/>
            <a:gdLst/>
            <a:ahLst/>
            <a:cxnLst/>
            <a:rect l="l" t="t" r="r" b="b"/>
            <a:pathLst>
              <a:path w="7023100" h="927100">
                <a:moveTo>
                  <a:pt x="0" y="0"/>
                </a:moveTo>
                <a:lnTo>
                  <a:pt x="7023100" y="0"/>
                </a:lnTo>
                <a:lnTo>
                  <a:pt x="7023100" y="927100"/>
                </a:lnTo>
                <a:lnTo>
                  <a:pt x="0" y="9271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>
              <a:alpha val="10196"/>
            </a:srgbClr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927100" y="2451100"/>
            <a:ext cx="680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File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27100" y="2806700"/>
            <a:ext cx="6794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</a:t>
            </a:r>
            <a:r>
              <a:rPr lang="en-US" sz="14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基础数据</a:t>
            </a:r>
            <a:r>
              <a:rPr lang="en-US" sz="14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，不可变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8350" y="3384550"/>
            <a:ext cx="7023100" cy="927100"/>
          </a:xfrm>
          <a:custGeom>
            <a:avLst/>
            <a:gdLst/>
            <a:ahLst/>
            <a:cxnLst/>
            <a:rect l="l" t="t" r="r" b="b"/>
            <a:pathLst>
              <a:path w="7023100" h="927100">
                <a:moveTo>
                  <a:pt x="0" y="0"/>
                </a:moveTo>
                <a:lnTo>
                  <a:pt x="7023100" y="0"/>
                </a:lnTo>
                <a:lnTo>
                  <a:pt x="7023100" y="927100"/>
                </a:lnTo>
                <a:lnTo>
                  <a:pt x="0" y="9271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>
              <a:alpha val="10196"/>
            </a:srgbClr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927100" y="3543300"/>
            <a:ext cx="680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Delete File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27100" y="3898900"/>
            <a:ext cx="6794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</a:t>
            </a:r>
            <a:r>
              <a:rPr lang="en-US" sz="14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"哪些行被删除/更新"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8350" y="4476750"/>
            <a:ext cx="7023100" cy="927100"/>
          </a:xfrm>
          <a:custGeom>
            <a:avLst/>
            <a:gdLst/>
            <a:ahLst/>
            <a:cxnLst/>
            <a:rect l="l" t="t" r="r" b="b"/>
            <a:pathLst>
              <a:path w="7023100" h="927100">
                <a:moveTo>
                  <a:pt x="0" y="0"/>
                </a:moveTo>
                <a:lnTo>
                  <a:pt x="7023100" y="0"/>
                </a:lnTo>
                <a:lnTo>
                  <a:pt x="7023100" y="927100"/>
                </a:lnTo>
                <a:lnTo>
                  <a:pt x="0" y="9271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>
              <a:alpha val="10196"/>
            </a:srgbClr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927100" y="4635500"/>
            <a:ext cx="680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写入流程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27100" y="4991100"/>
            <a:ext cx="6794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只追加写入 Delete File，</a:t>
            </a:r>
            <a:r>
              <a:rPr lang="en-US" sz="14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速度极快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8350" y="5568950"/>
            <a:ext cx="7023100" cy="927100"/>
          </a:xfrm>
          <a:custGeom>
            <a:avLst/>
            <a:gdLst/>
            <a:ahLst/>
            <a:cxnLst/>
            <a:rect l="l" t="t" r="r" b="b"/>
            <a:pathLst>
              <a:path w="7023100" h="927100">
                <a:moveTo>
                  <a:pt x="0" y="0"/>
                </a:moveTo>
                <a:lnTo>
                  <a:pt x="7023100" y="0"/>
                </a:lnTo>
                <a:lnTo>
                  <a:pt x="7023100" y="927100"/>
                </a:lnTo>
                <a:lnTo>
                  <a:pt x="0" y="9271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>
              <a:alpha val="10196"/>
            </a:srgbClr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927100" y="5727700"/>
            <a:ext cx="680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读取流程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27100" y="6083300"/>
            <a:ext cx="6794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引擎实时</a:t>
            </a:r>
            <a:r>
              <a:rPr lang="en-US" sz="14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合并</a:t>
            </a:r>
            <a:r>
              <a:rPr lang="en-US" sz="14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Data File 和 Delete File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80400" y="1574800"/>
            <a:ext cx="7467600" cy="5130800"/>
          </a:xfrm>
          <a:custGeom>
            <a:avLst/>
            <a:gdLst/>
            <a:ahLst/>
            <a:cxnLst/>
            <a:rect l="l" t="t" r="r" b="b"/>
            <a:pathLst>
              <a:path w="7467600" h="5130800">
                <a:moveTo>
                  <a:pt x="0" y="0"/>
                </a:moveTo>
                <a:lnTo>
                  <a:pt x="7467600" y="0"/>
                </a:lnTo>
                <a:lnTo>
                  <a:pt x="7467600" y="5130800"/>
                </a:lnTo>
                <a:lnTo>
                  <a:pt x="0" y="5130800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8280400" y="1574800"/>
            <a:ext cx="50800" cy="5130800"/>
          </a:xfrm>
          <a:custGeom>
            <a:avLst/>
            <a:gdLst/>
            <a:ahLst/>
            <a:cxnLst/>
            <a:rect l="l" t="t" r="r" b="b"/>
            <a:pathLst>
              <a:path w="50800" h="5130800">
                <a:moveTo>
                  <a:pt x="0" y="0"/>
                </a:moveTo>
                <a:lnTo>
                  <a:pt x="50800" y="0"/>
                </a:lnTo>
                <a:lnTo>
                  <a:pt x="50800" y="5130800"/>
                </a:lnTo>
                <a:lnTo>
                  <a:pt x="0" y="51308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509000" y="1778000"/>
            <a:ext cx="7162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Iceberg V2 Format 的 Delete File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509000" y="2286000"/>
            <a:ext cx="7035800" cy="1676400"/>
          </a:xfrm>
          <a:custGeom>
            <a:avLst/>
            <a:gdLst/>
            <a:ahLst/>
            <a:cxnLst/>
            <a:rect l="l" t="t" r="r" b="b"/>
            <a:pathLst>
              <a:path w="7035800" h="1676400">
                <a:moveTo>
                  <a:pt x="0" y="0"/>
                </a:moveTo>
                <a:lnTo>
                  <a:pt x="7035800" y="0"/>
                </a:lnTo>
                <a:lnTo>
                  <a:pt x="7035800" y="1676400"/>
                </a:lnTo>
                <a:lnTo>
                  <a:pt x="0" y="16764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8712200" y="2489200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52400" h="203200">
                <a:moveTo>
                  <a:pt x="0" y="74851"/>
                </a:moveTo>
                <a:cubicBezTo>
                  <a:pt x="0" y="33496"/>
                  <a:pt x="34131" y="0"/>
                  <a:pt x="76200" y="0"/>
                </a:cubicBezTo>
                <a:cubicBezTo>
                  <a:pt x="118269" y="0"/>
                  <a:pt x="152400" y="33496"/>
                  <a:pt x="152400" y="74851"/>
                </a:cubicBezTo>
                <a:cubicBezTo>
                  <a:pt x="152400" y="122198"/>
                  <a:pt x="104696" y="178951"/>
                  <a:pt x="84773" y="200581"/>
                </a:cubicBezTo>
                <a:cubicBezTo>
                  <a:pt x="80089" y="205661"/>
                  <a:pt x="72271" y="205661"/>
                  <a:pt x="67588" y="200581"/>
                </a:cubicBezTo>
                <a:cubicBezTo>
                  <a:pt x="47665" y="178951"/>
                  <a:pt x="-40" y="122198"/>
                  <a:pt x="-40" y="74851"/>
                </a:cubicBezTo>
                <a:close/>
                <a:moveTo>
                  <a:pt x="76200" y="101600"/>
                </a:moveTo>
                <a:cubicBezTo>
                  <a:pt x="90219" y="101600"/>
                  <a:pt x="101600" y="90219"/>
                  <a:pt x="101600" y="76200"/>
                </a:cubicBezTo>
                <a:cubicBezTo>
                  <a:pt x="101600" y="62181"/>
                  <a:pt x="90219" y="50800"/>
                  <a:pt x="76200" y="50800"/>
                </a:cubicBezTo>
                <a:cubicBezTo>
                  <a:pt x="62181" y="50800"/>
                  <a:pt x="50800" y="62181"/>
                  <a:pt x="50800" y="76200"/>
                </a:cubicBezTo>
                <a:cubicBezTo>
                  <a:pt x="50800" y="90219"/>
                  <a:pt x="62181" y="101600"/>
                  <a:pt x="76200" y="10160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9017000" y="2438400"/>
            <a:ext cx="167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Positional Delete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661400" y="2844800"/>
            <a:ext cx="6819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记录被删除行的位置：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661400" y="3263900"/>
            <a:ext cx="27650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(file_path, row_position)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661400" y="3606800"/>
            <a:ext cx="6807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8F9FA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精确到文件中的具体行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509000" y="4114800"/>
            <a:ext cx="7035800" cy="1676400"/>
          </a:xfrm>
          <a:custGeom>
            <a:avLst/>
            <a:gdLst/>
            <a:ahLst/>
            <a:cxnLst/>
            <a:rect l="l" t="t" r="r" b="b"/>
            <a:pathLst>
              <a:path w="7035800" h="1676400">
                <a:moveTo>
                  <a:pt x="0" y="0"/>
                </a:moveTo>
                <a:lnTo>
                  <a:pt x="7035800" y="0"/>
                </a:lnTo>
                <a:lnTo>
                  <a:pt x="7035800" y="1676400"/>
                </a:lnTo>
                <a:lnTo>
                  <a:pt x="0" y="16764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686800" y="43180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33350" y="139700"/>
                </a:moveTo>
                <a:cubicBezTo>
                  <a:pt x="171926" y="139700"/>
                  <a:pt x="203200" y="108426"/>
                  <a:pt x="203200" y="69850"/>
                </a:cubicBezTo>
                <a:cubicBezTo>
                  <a:pt x="203200" y="31274"/>
                  <a:pt x="171926" y="0"/>
                  <a:pt x="133350" y="0"/>
                </a:cubicBezTo>
                <a:cubicBezTo>
                  <a:pt x="94774" y="0"/>
                  <a:pt x="63500" y="31274"/>
                  <a:pt x="63500" y="69850"/>
                </a:cubicBezTo>
                <a:cubicBezTo>
                  <a:pt x="63500" y="77272"/>
                  <a:pt x="64651" y="84455"/>
                  <a:pt x="66794" y="91162"/>
                </a:cubicBezTo>
                <a:lnTo>
                  <a:pt x="2778" y="155178"/>
                </a:lnTo>
                <a:cubicBezTo>
                  <a:pt x="992" y="156964"/>
                  <a:pt x="0" y="159385"/>
                  <a:pt x="0" y="161925"/>
                </a:cubicBezTo>
                <a:lnTo>
                  <a:pt x="0" y="193675"/>
                </a:lnTo>
                <a:cubicBezTo>
                  <a:pt x="0" y="198953"/>
                  <a:pt x="4247" y="203200"/>
                  <a:pt x="9525" y="203200"/>
                </a:cubicBezTo>
                <a:lnTo>
                  <a:pt x="41275" y="203200"/>
                </a:lnTo>
                <a:cubicBezTo>
                  <a:pt x="46553" y="203200"/>
                  <a:pt x="50800" y="198953"/>
                  <a:pt x="50800" y="193675"/>
                </a:cubicBezTo>
                <a:lnTo>
                  <a:pt x="50800" y="177800"/>
                </a:lnTo>
                <a:lnTo>
                  <a:pt x="66675" y="177800"/>
                </a:lnTo>
                <a:cubicBezTo>
                  <a:pt x="71953" y="177800"/>
                  <a:pt x="76200" y="173553"/>
                  <a:pt x="76200" y="168275"/>
                </a:cubicBezTo>
                <a:lnTo>
                  <a:pt x="76200" y="152400"/>
                </a:lnTo>
                <a:lnTo>
                  <a:pt x="92075" y="152400"/>
                </a:lnTo>
                <a:cubicBezTo>
                  <a:pt x="94615" y="152400"/>
                  <a:pt x="97036" y="151408"/>
                  <a:pt x="98822" y="149622"/>
                </a:cubicBezTo>
                <a:lnTo>
                  <a:pt x="112038" y="136406"/>
                </a:lnTo>
                <a:cubicBezTo>
                  <a:pt x="118745" y="138549"/>
                  <a:pt x="125928" y="139700"/>
                  <a:pt x="133350" y="139700"/>
                </a:cubicBezTo>
                <a:close/>
                <a:moveTo>
                  <a:pt x="149225" y="38100"/>
                </a:moveTo>
                <a:cubicBezTo>
                  <a:pt x="157987" y="38100"/>
                  <a:pt x="165100" y="45213"/>
                  <a:pt x="165100" y="53975"/>
                </a:cubicBezTo>
                <a:cubicBezTo>
                  <a:pt x="165100" y="62737"/>
                  <a:pt x="157987" y="69850"/>
                  <a:pt x="149225" y="69850"/>
                </a:cubicBezTo>
                <a:cubicBezTo>
                  <a:pt x="140463" y="69850"/>
                  <a:pt x="133350" y="62737"/>
                  <a:pt x="133350" y="53975"/>
                </a:cubicBezTo>
                <a:cubicBezTo>
                  <a:pt x="133350" y="45213"/>
                  <a:pt x="140463" y="38100"/>
                  <a:pt x="149225" y="3810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9017000" y="4267200"/>
            <a:ext cx="1511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Equality Delete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661400" y="4673600"/>
            <a:ext cx="6819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记录被删除行的主键值：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661400" y="5092700"/>
            <a:ext cx="94525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(id=100)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661400" y="5435600"/>
            <a:ext cx="6807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8F9FA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适用于有主键的表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14350" y="6915150"/>
            <a:ext cx="7480300" cy="1587500"/>
          </a:xfrm>
          <a:custGeom>
            <a:avLst/>
            <a:gdLst/>
            <a:ahLst/>
            <a:cxnLst/>
            <a:rect l="l" t="t" r="r" b="b"/>
            <a:pathLst>
              <a:path w="7480300" h="1587500">
                <a:moveTo>
                  <a:pt x="0" y="0"/>
                </a:moveTo>
                <a:lnTo>
                  <a:pt x="7480300" y="0"/>
                </a:lnTo>
                <a:lnTo>
                  <a:pt x="7480300" y="1587500"/>
                </a:lnTo>
                <a:lnTo>
                  <a:pt x="0" y="1587500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30196"/>
            </a:srgbClr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704850" y="7112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5719" y="71438"/>
                </a:moveTo>
                <a:cubicBezTo>
                  <a:pt x="43622" y="71438"/>
                  <a:pt x="50006" y="77822"/>
                  <a:pt x="50006" y="85725"/>
                </a:cubicBezTo>
                <a:lnTo>
                  <a:pt x="50006" y="200025"/>
                </a:lnTo>
                <a:cubicBezTo>
                  <a:pt x="50006" y="207928"/>
                  <a:pt x="43622" y="214313"/>
                  <a:pt x="35719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85725"/>
                </a:lnTo>
                <a:cubicBezTo>
                  <a:pt x="0" y="77822"/>
                  <a:pt x="6385" y="71438"/>
                  <a:pt x="14288" y="71438"/>
                </a:cubicBezTo>
                <a:lnTo>
                  <a:pt x="35719" y="71438"/>
                </a:lnTo>
                <a:close/>
                <a:moveTo>
                  <a:pt x="120819" y="7144"/>
                </a:moveTo>
                <a:cubicBezTo>
                  <a:pt x="133008" y="7144"/>
                  <a:pt x="142875" y="17011"/>
                  <a:pt x="142875" y="29200"/>
                </a:cubicBezTo>
                <a:lnTo>
                  <a:pt x="142875" y="31075"/>
                </a:lnTo>
                <a:cubicBezTo>
                  <a:pt x="142875" y="34111"/>
                  <a:pt x="142295" y="37148"/>
                  <a:pt x="141178" y="39960"/>
                </a:cubicBezTo>
                <a:lnTo>
                  <a:pt x="128588" y="71438"/>
                </a:lnTo>
                <a:lnTo>
                  <a:pt x="200025" y="71438"/>
                </a:lnTo>
                <a:cubicBezTo>
                  <a:pt x="211857" y="71438"/>
                  <a:pt x="221456" y="81037"/>
                  <a:pt x="221456" y="92869"/>
                </a:cubicBezTo>
                <a:cubicBezTo>
                  <a:pt x="221456" y="101664"/>
                  <a:pt x="216143" y="109210"/>
                  <a:pt x="208553" y="112514"/>
                </a:cubicBezTo>
                <a:cubicBezTo>
                  <a:pt x="216143" y="115818"/>
                  <a:pt x="221456" y="123364"/>
                  <a:pt x="221456" y="132159"/>
                </a:cubicBezTo>
                <a:cubicBezTo>
                  <a:pt x="221456" y="142607"/>
                  <a:pt x="213955" y="151314"/>
                  <a:pt x="204043" y="153189"/>
                </a:cubicBezTo>
                <a:cubicBezTo>
                  <a:pt x="206008" y="156448"/>
                  <a:pt x="207169" y="160243"/>
                  <a:pt x="207169" y="164306"/>
                </a:cubicBezTo>
                <a:cubicBezTo>
                  <a:pt x="207169" y="174218"/>
                  <a:pt x="200471" y="182523"/>
                  <a:pt x="191363" y="184978"/>
                </a:cubicBezTo>
                <a:cubicBezTo>
                  <a:pt x="192345" y="187434"/>
                  <a:pt x="192881" y="190113"/>
                  <a:pt x="192881" y="192881"/>
                </a:cubicBezTo>
                <a:cubicBezTo>
                  <a:pt x="192881" y="204713"/>
                  <a:pt x="183282" y="214313"/>
                  <a:pt x="171450" y="214313"/>
                </a:cubicBezTo>
                <a:lnTo>
                  <a:pt x="132204" y="214313"/>
                </a:lnTo>
                <a:cubicBezTo>
                  <a:pt x="115997" y="214313"/>
                  <a:pt x="100236" y="208776"/>
                  <a:pt x="87600" y="198641"/>
                </a:cubicBezTo>
                <a:lnTo>
                  <a:pt x="82153" y="194310"/>
                </a:lnTo>
                <a:cubicBezTo>
                  <a:pt x="75367" y="188908"/>
                  <a:pt x="71438" y="180692"/>
                  <a:pt x="71438" y="171986"/>
                </a:cubicBezTo>
                <a:lnTo>
                  <a:pt x="71438" y="88672"/>
                </a:lnTo>
                <a:cubicBezTo>
                  <a:pt x="71438" y="82019"/>
                  <a:pt x="73000" y="75456"/>
                  <a:pt x="75947" y="69518"/>
                </a:cubicBezTo>
                <a:lnTo>
                  <a:pt x="101039" y="19333"/>
                </a:lnTo>
                <a:cubicBezTo>
                  <a:pt x="104790" y="11876"/>
                  <a:pt x="112425" y="7144"/>
                  <a:pt x="120819" y="7144"/>
                </a:cubicBezTo>
                <a:close/>
              </a:path>
            </a:pathLst>
          </a:custGeom>
          <a:solidFill>
            <a:srgbClr val="00C95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1111250" y="7073900"/>
            <a:ext cx="50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优点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73100" y="7480300"/>
            <a:ext cx="725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 写入极快：</a:t>
            </a: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只追加 Delete File，无需重写数据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73100" y="7785100"/>
            <a:ext cx="725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 适合高频更新：</a:t>
            </a: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写密集型场景性能优异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73100" y="8089900"/>
            <a:ext cx="725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 写放大低：</a:t>
            </a: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更新操作不会重写整个文件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261350" y="6915150"/>
            <a:ext cx="7480300" cy="1587500"/>
          </a:xfrm>
          <a:custGeom>
            <a:avLst/>
            <a:gdLst/>
            <a:ahLst/>
            <a:cxnLst/>
            <a:rect l="l" t="t" r="r" b="b"/>
            <a:pathLst>
              <a:path w="7480300" h="1587500">
                <a:moveTo>
                  <a:pt x="0" y="0"/>
                </a:moveTo>
                <a:lnTo>
                  <a:pt x="7480300" y="0"/>
                </a:lnTo>
                <a:lnTo>
                  <a:pt x="7480300" y="1587500"/>
                </a:lnTo>
                <a:lnTo>
                  <a:pt x="0" y="1587500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30196"/>
            </a:srgbClr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8451850" y="7112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71450" y="14288"/>
                </a:moveTo>
                <a:cubicBezTo>
                  <a:pt x="183282" y="14288"/>
                  <a:pt x="192881" y="23887"/>
                  <a:pt x="192881" y="35719"/>
                </a:cubicBezTo>
                <a:cubicBezTo>
                  <a:pt x="192881" y="38532"/>
                  <a:pt x="192301" y="41166"/>
                  <a:pt x="191363" y="43622"/>
                </a:cubicBezTo>
                <a:cubicBezTo>
                  <a:pt x="200471" y="46077"/>
                  <a:pt x="207169" y="54382"/>
                  <a:pt x="207169" y="64294"/>
                </a:cubicBezTo>
                <a:cubicBezTo>
                  <a:pt x="207169" y="68357"/>
                  <a:pt x="206008" y="72152"/>
                  <a:pt x="204043" y="75411"/>
                </a:cubicBezTo>
                <a:cubicBezTo>
                  <a:pt x="213955" y="77286"/>
                  <a:pt x="221456" y="85993"/>
                  <a:pt x="221456" y="96441"/>
                </a:cubicBezTo>
                <a:cubicBezTo>
                  <a:pt x="221456" y="105236"/>
                  <a:pt x="216143" y="112782"/>
                  <a:pt x="208553" y="116086"/>
                </a:cubicBezTo>
                <a:cubicBezTo>
                  <a:pt x="216143" y="119390"/>
                  <a:pt x="221456" y="126936"/>
                  <a:pt x="221456" y="135731"/>
                </a:cubicBezTo>
                <a:cubicBezTo>
                  <a:pt x="221456" y="147563"/>
                  <a:pt x="211857" y="157163"/>
                  <a:pt x="200025" y="157163"/>
                </a:cubicBezTo>
                <a:lnTo>
                  <a:pt x="128588" y="157163"/>
                </a:lnTo>
                <a:lnTo>
                  <a:pt x="141178" y="188595"/>
                </a:lnTo>
                <a:cubicBezTo>
                  <a:pt x="142295" y="191408"/>
                  <a:pt x="142875" y="194444"/>
                  <a:pt x="142875" y="197480"/>
                </a:cubicBezTo>
                <a:lnTo>
                  <a:pt x="142875" y="199355"/>
                </a:lnTo>
                <a:cubicBezTo>
                  <a:pt x="142875" y="211544"/>
                  <a:pt x="133008" y="221412"/>
                  <a:pt x="120819" y="221412"/>
                </a:cubicBezTo>
                <a:cubicBezTo>
                  <a:pt x="112469" y="221412"/>
                  <a:pt x="104835" y="216679"/>
                  <a:pt x="101084" y="209223"/>
                </a:cubicBezTo>
                <a:lnTo>
                  <a:pt x="75947" y="159082"/>
                </a:lnTo>
                <a:cubicBezTo>
                  <a:pt x="72956" y="153144"/>
                  <a:pt x="71438" y="146581"/>
                  <a:pt x="71438" y="139928"/>
                </a:cubicBezTo>
                <a:lnTo>
                  <a:pt x="71438" y="56614"/>
                </a:lnTo>
                <a:cubicBezTo>
                  <a:pt x="71438" y="47952"/>
                  <a:pt x="75411" y="39737"/>
                  <a:pt x="82153" y="34290"/>
                </a:cubicBezTo>
                <a:lnTo>
                  <a:pt x="87600" y="29959"/>
                </a:lnTo>
                <a:cubicBezTo>
                  <a:pt x="100280" y="19824"/>
                  <a:pt x="115997" y="14288"/>
                  <a:pt x="132204" y="14288"/>
                </a:cubicBezTo>
                <a:lnTo>
                  <a:pt x="171450" y="14288"/>
                </a:lnTo>
                <a:close/>
                <a:moveTo>
                  <a:pt x="35719" y="42863"/>
                </a:moveTo>
                <a:cubicBezTo>
                  <a:pt x="43622" y="42863"/>
                  <a:pt x="50006" y="49247"/>
                  <a:pt x="50006" y="57150"/>
                </a:cubicBezTo>
                <a:lnTo>
                  <a:pt x="50006" y="171450"/>
                </a:lnTo>
                <a:cubicBezTo>
                  <a:pt x="50006" y="179353"/>
                  <a:pt x="43622" y="185738"/>
                  <a:pt x="35719" y="185738"/>
                </a:cubicBezTo>
                <a:lnTo>
                  <a:pt x="14288" y="185738"/>
                </a:lnTo>
                <a:cubicBezTo>
                  <a:pt x="6385" y="185738"/>
                  <a:pt x="0" y="179353"/>
                  <a:pt x="0" y="171450"/>
                </a:cubicBezTo>
                <a:lnTo>
                  <a:pt x="0" y="57150"/>
                </a:lnTo>
                <a:cubicBezTo>
                  <a:pt x="0" y="49247"/>
                  <a:pt x="6385" y="42863"/>
                  <a:pt x="14288" y="42863"/>
                </a:cubicBezTo>
                <a:lnTo>
                  <a:pt x="35719" y="42863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8858250" y="7073900"/>
            <a:ext cx="50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缺点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420100" y="7480300"/>
            <a:ext cx="725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✗ 读性能开销：</a:t>
            </a: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需要实时合并，读操作变慢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420100" y="7785100"/>
            <a:ext cx="725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✗ 需要 Compaction：</a:t>
            </a: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定期合并为 COW 状态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420100" y="8089900"/>
            <a:ext cx="725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✗ 实现复杂：</a:t>
            </a: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合并逻辑需要考虑多种情况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9033" y="499033"/>
            <a:ext cx="15345265" cy="2495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5" b="1" kern="0" spc="206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Comparison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99033" y="848356"/>
            <a:ext cx="15482499" cy="4990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536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COW vs MOR 对比分析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5271" y="1553240"/>
            <a:ext cx="15245458" cy="5015282"/>
          </a:xfrm>
          <a:custGeom>
            <a:avLst/>
            <a:gdLst/>
            <a:ahLst/>
            <a:cxnLst/>
            <a:rect l="l" t="t" r="r" b="b"/>
            <a:pathLst>
              <a:path w="15245458" h="5015282">
                <a:moveTo>
                  <a:pt x="0" y="0"/>
                </a:moveTo>
                <a:lnTo>
                  <a:pt x="15245458" y="0"/>
                </a:lnTo>
                <a:lnTo>
                  <a:pt x="15245458" y="5015282"/>
                </a:lnTo>
                <a:lnTo>
                  <a:pt x="0" y="5015282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40000"/>
            </a:srgbClr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1122" y="1759091"/>
          <a:ext cx="14833757" cy="4603581"/>
        </p:xfrm>
        <a:graphic>
          <a:graphicData uri="http://schemas.openxmlformats.org/drawingml/2006/table">
            <a:tbl>
              <a:tblPr/>
              <a:tblGrid>
                <a:gridCol w="2794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761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630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1509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对比维度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Copy-On-Write (COW)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Merge-On-Read (MOR)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509">
                <a:tc>
                  <a:txBody>
                    <a:bodyPr/>
                    <a:lstStyle/>
                    <a:p>
                      <a:r>
                        <a:rPr lang="en-US" sz="15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写入性能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慢（需要重写文件）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快（只追加 Delete File）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509">
                <a:tc>
                  <a:txBody>
                    <a:bodyPr/>
                    <a:lstStyle/>
                    <a:p>
                      <a:r>
                        <a:rPr lang="en-US" sz="15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读取性能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快（直接读取数据）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慢（需要实时合并）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509">
                <a:tc>
                  <a:txBody>
                    <a:bodyPr/>
                    <a:lstStyle/>
                    <a:p>
                      <a:r>
                        <a:rPr lang="en-US" sz="15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写放大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高（修改1行可能重写1GB）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低（只写入变更记录）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1509">
                <a:tc>
                  <a:txBody>
                    <a:bodyPr/>
                    <a:lstStyle/>
                    <a:p>
                      <a:r>
                        <a:rPr lang="en-US" sz="15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读放大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无（直接读取）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有（需要读取并合并）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1509">
                <a:tc>
                  <a:txBody>
                    <a:bodyPr/>
                    <a:lstStyle/>
                    <a:p>
                      <a:r>
                        <a:rPr lang="en-US" sz="15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存储空间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立即回收（删除旧文件）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需要 Compaction 后回收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1509">
                <a:tc>
                  <a:txBody>
                    <a:bodyPr/>
                    <a:lstStyle/>
                    <a:p>
                      <a:r>
                        <a:rPr lang="en-US" sz="15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实现复杂度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简单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复杂（需要合并逻辑）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1509">
                <a:tc>
                  <a:txBody>
                    <a:bodyPr/>
                    <a:lstStyle/>
                    <a:p>
                      <a:r>
                        <a:rPr lang="en-US" sz="15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适用场景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读多写少、离线报表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写密集、实时 CDC 入湖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1509">
                <a:tc>
                  <a:txBody>
                    <a:bodyPr/>
                    <a:lstStyle/>
                    <a:p>
                      <a:r>
                        <a:rPr lang="en-US" sz="15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维护成本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低（无需额外维护）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高（需要定期 Compaction）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5271" y="6780611"/>
            <a:ext cx="7497971" cy="1858898"/>
          </a:xfrm>
          <a:custGeom>
            <a:avLst/>
            <a:gdLst/>
            <a:ahLst/>
            <a:cxnLst/>
            <a:rect l="l" t="t" r="r" b="b"/>
            <a:pathLst>
              <a:path w="7497971" h="1858898">
                <a:moveTo>
                  <a:pt x="0" y="0"/>
                </a:moveTo>
                <a:lnTo>
                  <a:pt x="7497971" y="0"/>
                </a:lnTo>
                <a:lnTo>
                  <a:pt x="7497971" y="1858898"/>
                </a:lnTo>
                <a:lnTo>
                  <a:pt x="0" y="1858898"/>
                </a:lnTo>
                <a:lnTo>
                  <a:pt x="0" y="0"/>
                </a:lnTo>
                <a:close/>
              </a:path>
            </a:pathLst>
          </a:custGeom>
          <a:solidFill>
            <a:srgbClr val="D4A237">
              <a:alpha val="10196"/>
            </a:srgbClr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4"/>
          <p:cNvSpPr/>
          <p:nvPr/>
        </p:nvSpPr>
        <p:spPr>
          <a:xfrm>
            <a:off x="742312" y="7036365"/>
            <a:ext cx="249517" cy="249517"/>
          </a:xfrm>
          <a:custGeom>
            <a:avLst/>
            <a:gdLst/>
            <a:ahLst/>
            <a:cxnLst/>
            <a:rect l="l" t="t" r="r" b="b"/>
            <a:pathLst>
              <a:path w="249517" h="249517">
                <a:moveTo>
                  <a:pt x="31190" y="31190"/>
                </a:moveTo>
                <a:cubicBezTo>
                  <a:pt x="31190" y="22564"/>
                  <a:pt x="24221" y="15595"/>
                  <a:pt x="15595" y="15595"/>
                </a:cubicBezTo>
                <a:cubicBezTo>
                  <a:pt x="6969" y="15595"/>
                  <a:pt x="0" y="22564"/>
                  <a:pt x="0" y="31190"/>
                </a:cubicBezTo>
                <a:lnTo>
                  <a:pt x="0" y="194935"/>
                </a:lnTo>
                <a:cubicBezTo>
                  <a:pt x="0" y="216475"/>
                  <a:pt x="17447" y="233922"/>
                  <a:pt x="38987" y="233922"/>
                </a:cubicBezTo>
                <a:lnTo>
                  <a:pt x="233922" y="233922"/>
                </a:lnTo>
                <a:cubicBezTo>
                  <a:pt x="242548" y="233922"/>
                  <a:pt x="249517" y="226953"/>
                  <a:pt x="249517" y="218327"/>
                </a:cubicBezTo>
                <a:cubicBezTo>
                  <a:pt x="249517" y="209701"/>
                  <a:pt x="242548" y="202732"/>
                  <a:pt x="233922" y="202732"/>
                </a:cubicBezTo>
                <a:lnTo>
                  <a:pt x="38987" y="202732"/>
                </a:lnTo>
                <a:cubicBezTo>
                  <a:pt x="34698" y="202732"/>
                  <a:pt x="31190" y="199223"/>
                  <a:pt x="31190" y="194935"/>
                </a:cubicBezTo>
                <a:lnTo>
                  <a:pt x="31190" y="31190"/>
                </a:lnTo>
                <a:close/>
                <a:moveTo>
                  <a:pt x="229341" y="73393"/>
                </a:moveTo>
                <a:cubicBezTo>
                  <a:pt x="235432" y="67301"/>
                  <a:pt x="235432" y="57408"/>
                  <a:pt x="229341" y="51317"/>
                </a:cubicBezTo>
                <a:cubicBezTo>
                  <a:pt x="223249" y="45225"/>
                  <a:pt x="213356" y="45225"/>
                  <a:pt x="207264" y="51317"/>
                </a:cubicBezTo>
                <a:lnTo>
                  <a:pt x="155948" y="102682"/>
                </a:lnTo>
                <a:lnTo>
                  <a:pt x="127975" y="74757"/>
                </a:lnTo>
                <a:cubicBezTo>
                  <a:pt x="121883" y="68666"/>
                  <a:pt x="111990" y="68666"/>
                  <a:pt x="105898" y="74757"/>
                </a:cubicBezTo>
                <a:lnTo>
                  <a:pt x="59114" y="121542"/>
                </a:lnTo>
                <a:cubicBezTo>
                  <a:pt x="53022" y="127634"/>
                  <a:pt x="53022" y="137526"/>
                  <a:pt x="59114" y="143618"/>
                </a:cubicBezTo>
                <a:cubicBezTo>
                  <a:pt x="65206" y="149710"/>
                  <a:pt x="75099" y="149710"/>
                  <a:pt x="81190" y="143618"/>
                </a:cubicBezTo>
                <a:lnTo>
                  <a:pt x="116961" y="107848"/>
                </a:lnTo>
                <a:lnTo>
                  <a:pt x="144934" y="135821"/>
                </a:lnTo>
                <a:cubicBezTo>
                  <a:pt x="151026" y="141913"/>
                  <a:pt x="160919" y="141913"/>
                  <a:pt x="167010" y="135821"/>
                </a:cubicBezTo>
                <a:lnTo>
                  <a:pt x="229389" y="73442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1172728" y="6986462"/>
            <a:ext cx="1784043" cy="349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68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推荐场景：COW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11122" y="7435592"/>
            <a:ext cx="7186075" cy="299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2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572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离线 T+1 报表</a:t>
            </a:r>
            <a:r>
              <a:rPr lang="en-US" sz="1572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：每天批量更新，后续只读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11122" y="7784915"/>
            <a:ext cx="7186075" cy="299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2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572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数据仓库分析</a:t>
            </a:r>
            <a:r>
              <a:rPr lang="en-US" sz="1572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：OLAP 查询为主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11122" y="8134238"/>
            <a:ext cx="7186075" cy="299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2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572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 报表</a:t>
            </a:r>
            <a:r>
              <a:rPr lang="en-US" sz="1572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：读多写少，追求查询性能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259678" y="6780611"/>
            <a:ext cx="7497971" cy="1858898"/>
          </a:xfrm>
          <a:custGeom>
            <a:avLst/>
            <a:gdLst/>
            <a:ahLst/>
            <a:cxnLst/>
            <a:rect l="l" t="t" r="r" b="b"/>
            <a:pathLst>
              <a:path w="7497971" h="1858898">
                <a:moveTo>
                  <a:pt x="0" y="0"/>
                </a:moveTo>
                <a:lnTo>
                  <a:pt x="7497971" y="0"/>
                </a:lnTo>
                <a:lnTo>
                  <a:pt x="7497971" y="1858898"/>
                </a:lnTo>
                <a:lnTo>
                  <a:pt x="0" y="1858898"/>
                </a:lnTo>
                <a:lnTo>
                  <a:pt x="0" y="0"/>
                </a:lnTo>
                <a:close/>
              </a:path>
            </a:pathLst>
          </a:custGeom>
          <a:solidFill>
            <a:srgbClr val="D4A237">
              <a:alpha val="10196"/>
            </a:srgbClr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0"/>
          <p:cNvSpPr/>
          <p:nvPr/>
        </p:nvSpPr>
        <p:spPr>
          <a:xfrm>
            <a:off x="8512314" y="7036365"/>
            <a:ext cx="218327" cy="249517"/>
          </a:xfrm>
          <a:custGeom>
            <a:avLst/>
            <a:gdLst/>
            <a:ahLst/>
            <a:cxnLst/>
            <a:rect l="l" t="t" r="r" b="b"/>
            <a:pathLst>
              <a:path w="218327" h="249517">
                <a:moveTo>
                  <a:pt x="165110" y="-4825"/>
                </a:moveTo>
                <a:cubicBezTo>
                  <a:pt x="170909" y="-634"/>
                  <a:pt x="173053" y="6969"/>
                  <a:pt x="170422" y="13597"/>
                </a:cubicBezTo>
                <a:lnTo>
                  <a:pt x="132215" y="109163"/>
                </a:lnTo>
                <a:lnTo>
                  <a:pt x="202732" y="109163"/>
                </a:lnTo>
                <a:cubicBezTo>
                  <a:pt x="209311" y="109163"/>
                  <a:pt x="215159" y="113257"/>
                  <a:pt x="217401" y="119446"/>
                </a:cubicBezTo>
                <a:cubicBezTo>
                  <a:pt x="219643" y="125635"/>
                  <a:pt x="217742" y="132556"/>
                  <a:pt x="212723" y="136747"/>
                </a:cubicBezTo>
                <a:lnTo>
                  <a:pt x="72370" y="253708"/>
                </a:lnTo>
                <a:cubicBezTo>
                  <a:pt x="66863" y="258289"/>
                  <a:pt x="59017" y="258532"/>
                  <a:pt x="53217" y="254341"/>
                </a:cubicBezTo>
                <a:cubicBezTo>
                  <a:pt x="47418" y="250150"/>
                  <a:pt x="45274" y="242548"/>
                  <a:pt x="47905" y="235920"/>
                </a:cubicBezTo>
                <a:lnTo>
                  <a:pt x="86112" y="140353"/>
                </a:lnTo>
                <a:lnTo>
                  <a:pt x="15595" y="140353"/>
                </a:lnTo>
                <a:cubicBezTo>
                  <a:pt x="9016" y="140353"/>
                  <a:pt x="3168" y="136259"/>
                  <a:pt x="926" y="130070"/>
                </a:cubicBezTo>
                <a:cubicBezTo>
                  <a:pt x="-1316" y="123881"/>
                  <a:pt x="585" y="116961"/>
                  <a:pt x="5604" y="112770"/>
                </a:cubicBezTo>
                <a:lnTo>
                  <a:pt x="145957" y="-4191"/>
                </a:lnTo>
                <a:cubicBezTo>
                  <a:pt x="151464" y="-8772"/>
                  <a:pt x="159310" y="-9016"/>
                  <a:pt x="165110" y="-4825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8927135" y="6986462"/>
            <a:ext cx="1746616" cy="349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68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推荐场景：MOR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465530" y="7435592"/>
            <a:ext cx="7186075" cy="299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2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572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 CDC 入湖</a:t>
            </a:r>
            <a:r>
              <a:rPr lang="en-US" sz="1572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：频繁更新，写入快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465530" y="7784915"/>
            <a:ext cx="7186075" cy="299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2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572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流式数据处理</a:t>
            </a:r>
            <a:r>
              <a:rPr lang="en-US" sz="1572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：写密集型工作负载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465530" y="8134238"/>
            <a:ext cx="7186075" cy="299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2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572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OLTP 场景</a:t>
            </a:r>
            <a:r>
              <a:rPr lang="en-US" sz="1572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：高频更新、删除操作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blogger.googleusercontent.com/29de8ea3bd54783fc839485ef7c9508b80d341cd.png"/>
          <p:cNvPicPr>
            <a:picLocks noChangeAspect="1"/>
          </p:cNvPicPr>
          <p:nvPr/>
        </p:nvPicPr>
        <p:blipFill>
          <a:blip r:embed="rId3">
            <a:alphaModFix amt="30000"/>
          </a:blip>
          <a:srcRect t="5072" b="5072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0000"/>
                </a:srgbClr>
              </a:gs>
              <a:gs pos="50000">
                <a:srgbClr val="343A40">
                  <a:alpha val="80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08000" y="2540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" y="0"/>
                </a:moveTo>
                <a:lnTo>
                  <a:pt x="965200" y="0"/>
                </a:lnTo>
                <a:cubicBezTo>
                  <a:pt x="993237" y="0"/>
                  <a:pt x="1016000" y="22763"/>
                  <a:pt x="1016000" y="50800"/>
                </a:cubicBezTo>
                <a:lnTo>
                  <a:pt x="1016000" y="965200"/>
                </a:lnTo>
                <a:cubicBezTo>
                  <a:pt x="1016000" y="993237"/>
                  <a:pt x="993237" y="1016000"/>
                  <a:pt x="965200" y="1016000"/>
                </a:cubicBezTo>
                <a:lnTo>
                  <a:pt x="50800" y="1016000"/>
                </a:lnTo>
                <a:cubicBezTo>
                  <a:pt x="22763" y="1016000"/>
                  <a:pt x="0" y="993237"/>
                  <a:pt x="0" y="96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393700" y="2540000"/>
            <a:ext cx="12446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727200" y="2641600"/>
            <a:ext cx="50800" cy="812800"/>
          </a:xfrm>
          <a:custGeom>
            <a:avLst/>
            <a:gdLst/>
            <a:ahLst/>
            <a:cxnLst/>
            <a:rect l="l" t="t" r="r" b="b"/>
            <a:pathLst>
              <a:path w="50800" h="812800">
                <a:moveTo>
                  <a:pt x="0" y="0"/>
                </a:moveTo>
                <a:lnTo>
                  <a:pt x="50800" y="0"/>
                </a:lnTo>
                <a:lnTo>
                  <a:pt x="50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508000" y="4267200"/>
            <a:ext cx="54610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80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并发控制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8000" y="5689600"/>
            <a:ext cx="5143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防止多人同时修改冲突的机制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8000" y="655320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210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Optimistic Concurrency Control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乐观并发控制 (Optimistic Concurrency Control)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1574800"/>
            <a:ext cx="15341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Iceberg 和 Delta Lake 均采用</a:t>
            </a:r>
            <a:r>
              <a:rPr lang="en-US" sz="16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乐观锁机制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来防止多人同时修改时的冲突。乐观锁假设并发操作不会冲突，只在提交时检查冲突。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3400" y="2108200"/>
            <a:ext cx="7467600" cy="4267200"/>
          </a:xfrm>
          <a:custGeom>
            <a:avLst/>
            <a:gdLst/>
            <a:ahLst/>
            <a:cxnLst/>
            <a:rect l="l" t="t" r="r" b="b"/>
            <a:pathLst>
              <a:path w="7467600" h="4267200">
                <a:moveTo>
                  <a:pt x="0" y="0"/>
                </a:moveTo>
                <a:lnTo>
                  <a:pt x="7467600" y="0"/>
                </a:lnTo>
                <a:lnTo>
                  <a:pt x="7467600" y="4267200"/>
                </a:lnTo>
                <a:lnTo>
                  <a:pt x="0" y="4267200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33400" y="2108200"/>
            <a:ext cx="50800" cy="4267200"/>
          </a:xfrm>
          <a:custGeom>
            <a:avLst/>
            <a:gdLst/>
            <a:ahLst/>
            <a:cxnLst/>
            <a:rect l="l" t="t" r="r" b="b"/>
            <a:pathLst>
              <a:path w="50800" h="4267200">
                <a:moveTo>
                  <a:pt x="0" y="0"/>
                </a:moveTo>
                <a:lnTo>
                  <a:pt x="50800" y="0"/>
                </a:lnTo>
                <a:lnTo>
                  <a:pt x="50800" y="4267200"/>
                </a:lnTo>
                <a:lnTo>
                  <a:pt x="0" y="42672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12800" y="2362200"/>
            <a:ext cx="706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并发场景示例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12800" y="2870200"/>
            <a:ext cx="6934200" cy="965200"/>
          </a:xfrm>
          <a:custGeom>
            <a:avLst/>
            <a:gdLst/>
            <a:ahLst/>
            <a:cxnLst/>
            <a:rect l="l" t="t" r="r" b="b"/>
            <a:pathLst>
              <a:path w="6934200" h="965200">
                <a:moveTo>
                  <a:pt x="0" y="0"/>
                </a:moveTo>
                <a:lnTo>
                  <a:pt x="6934200" y="0"/>
                </a:lnTo>
                <a:lnTo>
                  <a:pt x="6934200" y="965200"/>
                </a:lnTo>
                <a:lnTo>
                  <a:pt x="0" y="9652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965200" y="3022600"/>
            <a:ext cx="673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初始状态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5200" y="3429000"/>
            <a:ext cx="671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 A 和 B 同时基于</a:t>
            </a:r>
            <a:r>
              <a:rPr lang="en-US" sz="14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快照 v1</a:t>
            </a:r>
            <a:r>
              <a:rPr lang="en-US" sz="14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进行修改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2800" y="39878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0"/>
                </a:moveTo>
                <a:lnTo>
                  <a:pt x="355600" y="0"/>
                </a:lnTo>
                <a:cubicBezTo>
                  <a:pt x="383637" y="0"/>
                  <a:pt x="406400" y="22763"/>
                  <a:pt x="406400" y="50800"/>
                </a:cubicBezTo>
                <a:lnTo>
                  <a:pt x="406400" y="355600"/>
                </a:lnTo>
                <a:cubicBezTo>
                  <a:pt x="406400" y="383637"/>
                  <a:pt x="383637" y="406400"/>
                  <a:pt x="3556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762000" y="398780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3987800"/>
            <a:ext cx="647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 A 先完成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4343400"/>
            <a:ext cx="6464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将当前快照更新为 </a:t>
            </a:r>
            <a:r>
              <a:rPr lang="en-US" sz="14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v2</a:t>
            </a:r>
            <a:r>
              <a:rPr lang="en-US" sz="14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（基于 v1）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2800" y="47498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0"/>
                </a:moveTo>
                <a:lnTo>
                  <a:pt x="355600" y="0"/>
                </a:lnTo>
                <a:cubicBezTo>
                  <a:pt x="383637" y="0"/>
                  <a:pt x="406400" y="22763"/>
                  <a:pt x="406400" y="50800"/>
                </a:cubicBezTo>
                <a:lnTo>
                  <a:pt x="406400" y="355600"/>
                </a:lnTo>
                <a:cubicBezTo>
                  <a:pt x="406400" y="383637"/>
                  <a:pt x="383637" y="406400"/>
                  <a:pt x="3556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762000" y="474980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4749800"/>
            <a:ext cx="647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 B 后完成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5105400"/>
            <a:ext cx="6464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尝试将当前快照更新为 </a:t>
            </a:r>
            <a:r>
              <a:rPr lang="en-US" sz="14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v3</a:t>
            </a:r>
            <a:r>
              <a:rPr lang="en-US" sz="14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（基于 v1）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12800" y="55118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0"/>
                </a:moveTo>
                <a:lnTo>
                  <a:pt x="355600" y="0"/>
                </a:lnTo>
                <a:cubicBezTo>
                  <a:pt x="383637" y="0"/>
                  <a:pt x="406400" y="22763"/>
                  <a:pt x="406400" y="50800"/>
                </a:cubicBezTo>
                <a:lnTo>
                  <a:pt x="406400" y="355600"/>
                </a:lnTo>
                <a:cubicBezTo>
                  <a:pt x="406400" y="383637"/>
                  <a:pt x="383637" y="406400"/>
                  <a:pt x="3556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762000" y="551180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5511800"/>
            <a:ext cx="647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冲突检测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5867400"/>
            <a:ext cx="6464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Catalog 发现当前最新是 </a:t>
            </a:r>
            <a:r>
              <a:rPr lang="en-US" sz="14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v2</a:t>
            </a:r>
            <a:r>
              <a:rPr lang="en-US" sz="14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，而 B 是基于 </a:t>
            </a:r>
            <a:r>
              <a:rPr lang="en-US" sz="14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v1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280400" y="2108200"/>
            <a:ext cx="7467600" cy="4267200"/>
          </a:xfrm>
          <a:custGeom>
            <a:avLst/>
            <a:gdLst/>
            <a:ahLst/>
            <a:cxnLst/>
            <a:rect l="l" t="t" r="r" b="b"/>
            <a:pathLst>
              <a:path w="7467600" h="4267200">
                <a:moveTo>
                  <a:pt x="0" y="0"/>
                </a:moveTo>
                <a:lnTo>
                  <a:pt x="7467600" y="0"/>
                </a:lnTo>
                <a:lnTo>
                  <a:pt x="7467600" y="4267200"/>
                </a:lnTo>
                <a:lnTo>
                  <a:pt x="0" y="4267200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8280400" y="2108200"/>
            <a:ext cx="50800" cy="4267200"/>
          </a:xfrm>
          <a:custGeom>
            <a:avLst/>
            <a:gdLst/>
            <a:ahLst/>
            <a:cxnLst/>
            <a:rect l="l" t="t" r="r" b="b"/>
            <a:pathLst>
              <a:path w="50800" h="4267200">
                <a:moveTo>
                  <a:pt x="0" y="0"/>
                </a:moveTo>
                <a:lnTo>
                  <a:pt x="50800" y="0"/>
                </a:lnTo>
                <a:lnTo>
                  <a:pt x="50800" y="4267200"/>
                </a:lnTo>
                <a:lnTo>
                  <a:pt x="0" y="42672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559800" y="2362200"/>
            <a:ext cx="706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冲突处理机制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566150" y="2876550"/>
            <a:ext cx="6921500" cy="1536700"/>
          </a:xfrm>
          <a:custGeom>
            <a:avLst/>
            <a:gdLst/>
            <a:ahLst/>
            <a:cxnLst/>
            <a:rect l="l" t="t" r="r" b="b"/>
            <a:pathLst>
              <a:path w="6921500" h="1536700">
                <a:moveTo>
                  <a:pt x="0" y="0"/>
                </a:moveTo>
                <a:lnTo>
                  <a:pt x="6921500" y="0"/>
                </a:lnTo>
                <a:lnTo>
                  <a:pt x="6921500" y="1536700"/>
                </a:lnTo>
                <a:lnTo>
                  <a:pt x="0" y="1536700"/>
                </a:lnTo>
                <a:lnTo>
                  <a:pt x="0" y="0"/>
                </a:lnTo>
                <a:close/>
              </a:path>
            </a:pathLst>
          </a:custGeom>
          <a:solidFill>
            <a:srgbClr val="00C950">
              <a:alpha val="10196"/>
            </a:srgbClr>
          </a:solidFill>
          <a:ln w="12700">
            <a:solidFill>
              <a:srgbClr val="00C95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8750300" y="30861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00C95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9080500" y="3035300"/>
            <a:ext cx="2057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无重叠：Rebase 成功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724900" y="3441700"/>
            <a:ext cx="6692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如果用户 B 修改的数据文件，与用户 A 修改的</a:t>
            </a:r>
            <a:r>
              <a:rPr lang="en-US" sz="1400" b="1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没有重叠</a:t>
            </a: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724900" y="3797300"/>
            <a:ext cx="6604000" cy="457200"/>
          </a:xfrm>
          <a:custGeom>
            <a:avLst/>
            <a:gdLst/>
            <a:ahLst/>
            <a:cxnLst/>
            <a:rect l="l" t="t" r="r" b="b"/>
            <a:pathLst>
              <a:path w="6604000" h="457200">
                <a:moveTo>
                  <a:pt x="0" y="0"/>
                </a:moveTo>
                <a:lnTo>
                  <a:pt x="6604000" y="0"/>
                </a:lnTo>
                <a:lnTo>
                  <a:pt x="66040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826500" y="3898900"/>
            <a:ext cx="6489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 B 的提交</a:t>
            </a:r>
            <a:r>
              <a:rPr lang="en-US" sz="1400" b="1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重基于 v2</a:t>
            </a:r>
            <a:r>
              <a:rPr lang="en-US" sz="14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，生成 v3，提交成功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566150" y="4578350"/>
            <a:ext cx="6921500" cy="1536700"/>
          </a:xfrm>
          <a:custGeom>
            <a:avLst/>
            <a:gdLst/>
            <a:ahLst/>
            <a:cxnLst/>
            <a:rect l="l" t="t" r="r" b="b"/>
            <a:pathLst>
              <a:path w="6921500" h="1536700">
                <a:moveTo>
                  <a:pt x="0" y="0"/>
                </a:moveTo>
                <a:lnTo>
                  <a:pt x="6921500" y="0"/>
                </a:lnTo>
                <a:lnTo>
                  <a:pt x="6921500" y="1536700"/>
                </a:lnTo>
                <a:lnTo>
                  <a:pt x="0" y="15367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>
              <a:alpha val="10196"/>
            </a:srgbClr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8750300" y="47879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66278" y="66278"/>
                </a:moveTo>
                <a:cubicBezTo>
                  <a:pt x="70009" y="62547"/>
                  <a:pt x="76041" y="62547"/>
                  <a:pt x="79732" y="66278"/>
                </a:cubicBezTo>
                <a:lnTo>
                  <a:pt x="101560" y="88106"/>
                </a:lnTo>
                <a:lnTo>
                  <a:pt x="123388" y="66278"/>
                </a:lnTo>
                <a:cubicBezTo>
                  <a:pt x="127119" y="62547"/>
                  <a:pt x="133152" y="62547"/>
                  <a:pt x="136842" y="66278"/>
                </a:cubicBezTo>
                <a:cubicBezTo>
                  <a:pt x="140533" y="70009"/>
                  <a:pt x="140573" y="76041"/>
                  <a:pt x="136842" y="79732"/>
                </a:cubicBezTo>
                <a:lnTo>
                  <a:pt x="115014" y="101560"/>
                </a:lnTo>
                <a:lnTo>
                  <a:pt x="136842" y="123388"/>
                </a:lnTo>
                <a:cubicBezTo>
                  <a:pt x="140573" y="127119"/>
                  <a:pt x="140573" y="133152"/>
                  <a:pt x="136842" y="136842"/>
                </a:cubicBezTo>
                <a:cubicBezTo>
                  <a:pt x="133112" y="140533"/>
                  <a:pt x="127079" y="140573"/>
                  <a:pt x="123388" y="136842"/>
                </a:cubicBezTo>
                <a:lnTo>
                  <a:pt x="101560" y="115014"/>
                </a:lnTo>
                <a:lnTo>
                  <a:pt x="79732" y="136842"/>
                </a:lnTo>
                <a:cubicBezTo>
                  <a:pt x="76002" y="140573"/>
                  <a:pt x="69969" y="140573"/>
                  <a:pt x="66278" y="136842"/>
                </a:cubicBezTo>
                <a:cubicBezTo>
                  <a:pt x="62587" y="133112"/>
                  <a:pt x="62547" y="127079"/>
                  <a:pt x="66278" y="123388"/>
                </a:cubicBezTo>
                <a:lnTo>
                  <a:pt x="88106" y="101560"/>
                </a:lnTo>
                <a:lnTo>
                  <a:pt x="66278" y="79732"/>
                </a:lnTo>
                <a:cubicBezTo>
                  <a:pt x="62547" y="76002"/>
                  <a:pt x="62547" y="69969"/>
                  <a:pt x="66278" y="66278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9080500" y="4737100"/>
            <a:ext cx="172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有重叠：冲突失败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724900" y="5143500"/>
            <a:ext cx="6692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如果用户 B 修改的数据文件，与用户 A 修改的</a:t>
            </a:r>
            <a:r>
              <a:rPr lang="en-US" sz="14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有重叠</a:t>
            </a: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724900" y="5499100"/>
            <a:ext cx="6604000" cy="457200"/>
          </a:xfrm>
          <a:custGeom>
            <a:avLst/>
            <a:gdLst/>
            <a:ahLst/>
            <a:cxnLst/>
            <a:rect l="l" t="t" r="r" b="b"/>
            <a:pathLst>
              <a:path w="6604000" h="457200">
                <a:moveTo>
                  <a:pt x="0" y="0"/>
                </a:moveTo>
                <a:lnTo>
                  <a:pt x="6604000" y="0"/>
                </a:lnTo>
                <a:lnTo>
                  <a:pt x="66040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8826500" y="5600700"/>
            <a:ext cx="6489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抛出异常，用户 B 任务</a:t>
            </a:r>
            <a:r>
              <a:rPr lang="en-US" sz="14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失败重试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14350" y="6584950"/>
            <a:ext cx="15227300" cy="1536700"/>
          </a:xfrm>
          <a:custGeom>
            <a:avLst/>
            <a:gdLst/>
            <a:ahLst/>
            <a:cxnLst/>
            <a:rect l="l" t="t" r="r" b="b"/>
            <a:pathLst>
              <a:path w="15227300" h="1536700">
                <a:moveTo>
                  <a:pt x="0" y="0"/>
                </a:moveTo>
                <a:lnTo>
                  <a:pt x="15227300" y="0"/>
                </a:lnTo>
                <a:lnTo>
                  <a:pt x="15227300" y="1536700"/>
                </a:lnTo>
                <a:lnTo>
                  <a:pt x="0" y="15367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>
              <a:alpha val="10196"/>
            </a:srgbClr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800100" y="68453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1308100" y="6794500"/>
            <a:ext cx="14338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核心机制：CAS (Compare-And-Swap)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308100" y="7251700"/>
            <a:ext cx="143256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乐观并发控制依赖</a:t>
            </a:r>
            <a:r>
              <a:rPr lang="en-US" sz="16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CAS 原子操作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：只有当当前版本与预期版本一致时，更新才能成功。这种机制确保了</a:t>
            </a:r>
            <a:r>
              <a:rPr lang="en-US" sz="16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数据一致性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，同时避免了传统锁机制的性能开销。在高并发场景下，无冲突的操作可以并行执行，有冲突的操作则重试，实现了</a:t>
            </a:r>
            <a:r>
              <a:rPr lang="en-US" sz="16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高效且安全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的并发控制。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gooddata.com/ccd6d87f7ec83ec56ef70137193847e6d74660d1.webp"/>
          <p:cNvPicPr>
            <a:picLocks noChangeAspect="1"/>
          </p:cNvPicPr>
          <p:nvPr/>
        </p:nvPicPr>
        <p:blipFill>
          <a:blip r:embed="rId3">
            <a:alphaModFix amt="30000"/>
          </a:blip>
          <a:srcRect t="13896" b="13896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0000"/>
                </a:srgbClr>
              </a:gs>
              <a:gs pos="50000">
                <a:srgbClr val="343A40">
                  <a:alpha val="80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08000" y="2540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" y="0"/>
                </a:moveTo>
                <a:lnTo>
                  <a:pt x="965200" y="0"/>
                </a:lnTo>
                <a:cubicBezTo>
                  <a:pt x="993237" y="0"/>
                  <a:pt x="1016000" y="22763"/>
                  <a:pt x="1016000" y="50800"/>
                </a:cubicBezTo>
                <a:lnTo>
                  <a:pt x="1016000" y="965200"/>
                </a:lnTo>
                <a:cubicBezTo>
                  <a:pt x="1016000" y="993237"/>
                  <a:pt x="993237" y="1016000"/>
                  <a:pt x="965200" y="1016000"/>
                </a:cubicBezTo>
                <a:lnTo>
                  <a:pt x="50800" y="1016000"/>
                </a:lnTo>
                <a:cubicBezTo>
                  <a:pt x="22763" y="1016000"/>
                  <a:pt x="0" y="993237"/>
                  <a:pt x="0" y="96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393700" y="2540000"/>
            <a:ext cx="12446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727200" y="2641600"/>
            <a:ext cx="50800" cy="812800"/>
          </a:xfrm>
          <a:custGeom>
            <a:avLst/>
            <a:gdLst/>
            <a:ahLst/>
            <a:cxnLst/>
            <a:rect l="l" t="t" r="r" b="b"/>
            <a:pathLst>
              <a:path w="50800" h="812800">
                <a:moveTo>
                  <a:pt x="0" y="0"/>
                </a:moveTo>
                <a:lnTo>
                  <a:pt x="50800" y="0"/>
                </a:lnTo>
                <a:lnTo>
                  <a:pt x="50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508000" y="4267200"/>
            <a:ext cx="100330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80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杀手级特性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8000" y="5689600"/>
            <a:ext cx="9715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Time Travel、Schema Evolution 与 Hidden Partitioning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8000" y="655320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210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Time Travel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Time Travel（时间旅行）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33400" y="1574800"/>
            <a:ext cx="7467600" cy="4000500"/>
          </a:xfrm>
          <a:custGeom>
            <a:avLst/>
            <a:gdLst/>
            <a:ahLst/>
            <a:cxnLst/>
            <a:rect l="l" t="t" r="r" b="b"/>
            <a:pathLst>
              <a:path w="7467600" h="4000500">
                <a:moveTo>
                  <a:pt x="0" y="0"/>
                </a:moveTo>
                <a:lnTo>
                  <a:pt x="7467600" y="0"/>
                </a:lnTo>
                <a:lnTo>
                  <a:pt x="7467600" y="4000500"/>
                </a:lnTo>
                <a:lnTo>
                  <a:pt x="0" y="4000500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33400" y="1574800"/>
            <a:ext cx="50800" cy="4000500"/>
          </a:xfrm>
          <a:custGeom>
            <a:avLst/>
            <a:gdLst/>
            <a:ahLst/>
            <a:cxnLst/>
            <a:rect l="l" t="t" r="r" b="b"/>
            <a:pathLst>
              <a:path w="50800" h="4000500">
                <a:moveTo>
                  <a:pt x="0" y="0"/>
                </a:moveTo>
                <a:lnTo>
                  <a:pt x="50800" y="0"/>
                </a:lnTo>
                <a:lnTo>
                  <a:pt x="50800" y="4000500"/>
                </a:lnTo>
                <a:lnTo>
                  <a:pt x="0" y="40005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12800" y="1828800"/>
            <a:ext cx="706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实现原理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2336800"/>
            <a:ext cx="7035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因为 </a:t>
            </a:r>
            <a:r>
              <a:rPr lang="en-US" sz="1400" dirty="0">
                <a:solidFill>
                  <a:srgbClr val="F8F9FA">
                    <a:alpha val="80000"/>
                  </a:srgbClr>
                </a:solidFill>
                <a:highlight>
                  <a:srgbClr val="1A1D21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metadata.json 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里保留了所有历史快照：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12800" y="2819400"/>
            <a:ext cx="6934200" cy="609600"/>
          </a:xfrm>
          <a:custGeom>
            <a:avLst/>
            <a:gdLst/>
            <a:ahLst/>
            <a:cxnLst/>
            <a:rect l="l" t="t" r="r" b="b"/>
            <a:pathLst>
              <a:path w="6934200" h="609600">
                <a:moveTo>
                  <a:pt x="0" y="0"/>
                </a:moveTo>
                <a:lnTo>
                  <a:pt x="6934200" y="0"/>
                </a:lnTo>
                <a:lnTo>
                  <a:pt x="69342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965200" y="3035300"/>
            <a:ext cx="30861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Snapshots: [v1, v2, v3, ...]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2800" y="3581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0"/>
                </a:moveTo>
                <a:lnTo>
                  <a:pt x="355600" y="0"/>
                </a:lnTo>
                <a:cubicBezTo>
                  <a:pt x="383637" y="0"/>
                  <a:pt x="406400" y="22763"/>
                  <a:pt x="406400" y="50800"/>
                </a:cubicBezTo>
                <a:lnTo>
                  <a:pt x="406400" y="355600"/>
                </a:lnTo>
                <a:cubicBezTo>
                  <a:pt x="406400" y="383637"/>
                  <a:pt x="383637" y="406400"/>
                  <a:pt x="3556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62000" y="358140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3581400"/>
            <a:ext cx="6477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每个快照都对应一个完整的表状态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2800" y="4089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0"/>
                </a:moveTo>
                <a:lnTo>
                  <a:pt x="355600" y="0"/>
                </a:lnTo>
                <a:cubicBezTo>
                  <a:pt x="383637" y="0"/>
                  <a:pt x="406400" y="22763"/>
                  <a:pt x="406400" y="50800"/>
                </a:cubicBezTo>
                <a:lnTo>
                  <a:pt x="406400" y="355600"/>
                </a:lnTo>
                <a:cubicBezTo>
                  <a:pt x="406400" y="383637"/>
                  <a:pt x="383637" y="406400"/>
                  <a:pt x="3556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762000" y="408940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089400"/>
            <a:ext cx="6477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历史快照的数据文件不会被立即删除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2800" y="4597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0"/>
                </a:moveTo>
                <a:lnTo>
                  <a:pt x="355600" y="0"/>
                </a:lnTo>
                <a:cubicBezTo>
                  <a:pt x="383637" y="0"/>
                  <a:pt x="406400" y="22763"/>
                  <a:pt x="406400" y="50800"/>
                </a:cubicBezTo>
                <a:lnTo>
                  <a:pt x="406400" y="355600"/>
                </a:lnTo>
                <a:cubicBezTo>
                  <a:pt x="406400" y="383637"/>
                  <a:pt x="383637" y="406400"/>
                  <a:pt x="3556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762000" y="459740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4597400"/>
            <a:ext cx="6477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通过快照 ID 可以直接访问历史状态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80400" y="1574800"/>
            <a:ext cx="7467600" cy="4000500"/>
          </a:xfrm>
          <a:custGeom>
            <a:avLst/>
            <a:gdLst/>
            <a:ahLst/>
            <a:cxnLst/>
            <a:rect l="l" t="t" r="r" b="b"/>
            <a:pathLst>
              <a:path w="7467600" h="4000500">
                <a:moveTo>
                  <a:pt x="0" y="0"/>
                </a:moveTo>
                <a:lnTo>
                  <a:pt x="7467600" y="0"/>
                </a:lnTo>
                <a:lnTo>
                  <a:pt x="7467600" y="4000500"/>
                </a:lnTo>
                <a:lnTo>
                  <a:pt x="0" y="4000500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8280400" y="1574800"/>
            <a:ext cx="50800" cy="4000500"/>
          </a:xfrm>
          <a:custGeom>
            <a:avLst/>
            <a:gdLst/>
            <a:ahLst/>
            <a:cxnLst/>
            <a:rect l="l" t="t" r="r" b="b"/>
            <a:pathLst>
              <a:path w="50800" h="4000500">
                <a:moveTo>
                  <a:pt x="0" y="0"/>
                </a:moveTo>
                <a:lnTo>
                  <a:pt x="50800" y="0"/>
                </a:lnTo>
                <a:lnTo>
                  <a:pt x="50800" y="4000500"/>
                </a:lnTo>
                <a:lnTo>
                  <a:pt x="0" y="40005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559800" y="1828800"/>
            <a:ext cx="706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操作示例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559800" y="2336800"/>
            <a:ext cx="6934200" cy="977900"/>
          </a:xfrm>
          <a:custGeom>
            <a:avLst/>
            <a:gdLst/>
            <a:ahLst/>
            <a:cxnLst/>
            <a:rect l="l" t="t" r="r" b="b"/>
            <a:pathLst>
              <a:path w="6934200" h="977900">
                <a:moveTo>
                  <a:pt x="0" y="0"/>
                </a:moveTo>
                <a:lnTo>
                  <a:pt x="6934200" y="0"/>
                </a:lnTo>
                <a:lnTo>
                  <a:pt x="6934200" y="977900"/>
                </a:lnTo>
                <a:lnTo>
                  <a:pt x="0" y="9779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712200" y="2489200"/>
            <a:ext cx="671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查询语法：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712200" y="2882900"/>
            <a:ext cx="5484416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SELECT * FROM t1 FOR SYSTEM_VERSION AS OF v1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585200" y="351155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99469" y="110569"/>
                </a:moveTo>
                <a:cubicBezTo>
                  <a:pt x="204430" y="105608"/>
                  <a:pt x="204430" y="97552"/>
                  <a:pt x="199469" y="92591"/>
                </a:cubicBezTo>
                <a:lnTo>
                  <a:pt x="135969" y="29091"/>
                </a:lnTo>
                <a:cubicBezTo>
                  <a:pt x="131008" y="24130"/>
                  <a:pt x="122952" y="24130"/>
                  <a:pt x="117991" y="29091"/>
                </a:cubicBezTo>
                <a:cubicBezTo>
                  <a:pt x="113030" y="34052"/>
                  <a:pt x="113030" y="42108"/>
                  <a:pt x="117991" y="47069"/>
                </a:cubicBezTo>
                <a:lnTo>
                  <a:pt x="159822" y="88900"/>
                </a:lnTo>
                <a:lnTo>
                  <a:pt x="12700" y="88900"/>
                </a:lnTo>
                <a:cubicBezTo>
                  <a:pt x="5675" y="88900"/>
                  <a:pt x="0" y="94575"/>
                  <a:pt x="0" y="101600"/>
                </a:cubicBezTo>
                <a:cubicBezTo>
                  <a:pt x="0" y="108625"/>
                  <a:pt x="5675" y="114300"/>
                  <a:pt x="12700" y="114300"/>
                </a:cubicBezTo>
                <a:lnTo>
                  <a:pt x="159822" y="114300"/>
                </a:lnTo>
                <a:lnTo>
                  <a:pt x="117991" y="156131"/>
                </a:lnTo>
                <a:cubicBezTo>
                  <a:pt x="113030" y="161092"/>
                  <a:pt x="113030" y="169148"/>
                  <a:pt x="117991" y="174109"/>
                </a:cubicBezTo>
                <a:cubicBezTo>
                  <a:pt x="122952" y="179070"/>
                  <a:pt x="131008" y="179070"/>
                  <a:pt x="135969" y="174109"/>
                </a:cubicBezTo>
                <a:lnTo>
                  <a:pt x="199469" y="110609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915400" y="3460750"/>
            <a:ext cx="668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引擎直接读取 </a:t>
            </a:r>
            <a:r>
              <a:rPr lang="en-US" sz="16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v1 对应的 Manifest List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585200" y="391795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99469" y="110569"/>
                </a:moveTo>
                <a:cubicBezTo>
                  <a:pt x="204430" y="105608"/>
                  <a:pt x="204430" y="97552"/>
                  <a:pt x="199469" y="92591"/>
                </a:cubicBezTo>
                <a:lnTo>
                  <a:pt x="135969" y="29091"/>
                </a:lnTo>
                <a:cubicBezTo>
                  <a:pt x="131008" y="24130"/>
                  <a:pt x="122952" y="24130"/>
                  <a:pt x="117991" y="29091"/>
                </a:cubicBezTo>
                <a:cubicBezTo>
                  <a:pt x="113030" y="34052"/>
                  <a:pt x="113030" y="42108"/>
                  <a:pt x="117991" y="47069"/>
                </a:cubicBezTo>
                <a:lnTo>
                  <a:pt x="159822" y="88900"/>
                </a:lnTo>
                <a:lnTo>
                  <a:pt x="12700" y="88900"/>
                </a:lnTo>
                <a:cubicBezTo>
                  <a:pt x="5675" y="88900"/>
                  <a:pt x="0" y="94575"/>
                  <a:pt x="0" y="101600"/>
                </a:cubicBezTo>
                <a:cubicBezTo>
                  <a:pt x="0" y="108625"/>
                  <a:pt x="5675" y="114300"/>
                  <a:pt x="12700" y="114300"/>
                </a:cubicBezTo>
                <a:lnTo>
                  <a:pt x="159822" y="114300"/>
                </a:lnTo>
                <a:lnTo>
                  <a:pt x="117991" y="156131"/>
                </a:lnTo>
                <a:cubicBezTo>
                  <a:pt x="113030" y="161092"/>
                  <a:pt x="113030" y="169148"/>
                  <a:pt x="117991" y="174109"/>
                </a:cubicBezTo>
                <a:cubicBezTo>
                  <a:pt x="122952" y="179070"/>
                  <a:pt x="131008" y="179070"/>
                  <a:pt x="135969" y="174109"/>
                </a:cubicBezTo>
                <a:lnTo>
                  <a:pt x="199469" y="110609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8915400" y="3867150"/>
            <a:ext cx="668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忽略 v2 和 v3 的所有文件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585200" y="432435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99469" y="110569"/>
                </a:moveTo>
                <a:cubicBezTo>
                  <a:pt x="204430" y="105608"/>
                  <a:pt x="204430" y="97552"/>
                  <a:pt x="199469" y="92591"/>
                </a:cubicBezTo>
                <a:lnTo>
                  <a:pt x="135969" y="29091"/>
                </a:lnTo>
                <a:cubicBezTo>
                  <a:pt x="131008" y="24130"/>
                  <a:pt x="122952" y="24130"/>
                  <a:pt x="117991" y="29091"/>
                </a:cubicBezTo>
                <a:cubicBezTo>
                  <a:pt x="113030" y="34052"/>
                  <a:pt x="113030" y="42108"/>
                  <a:pt x="117991" y="47069"/>
                </a:cubicBezTo>
                <a:lnTo>
                  <a:pt x="159822" y="88900"/>
                </a:lnTo>
                <a:lnTo>
                  <a:pt x="12700" y="88900"/>
                </a:lnTo>
                <a:cubicBezTo>
                  <a:pt x="5675" y="88900"/>
                  <a:pt x="0" y="94575"/>
                  <a:pt x="0" y="101600"/>
                </a:cubicBezTo>
                <a:cubicBezTo>
                  <a:pt x="0" y="108625"/>
                  <a:pt x="5675" y="114300"/>
                  <a:pt x="12700" y="114300"/>
                </a:cubicBezTo>
                <a:lnTo>
                  <a:pt x="159822" y="114300"/>
                </a:lnTo>
                <a:lnTo>
                  <a:pt x="117991" y="156131"/>
                </a:lnTo>
                <a:cubicBezTo>
                  <a:pt x="113030" y="161092"/>
                  <a:pt x="113030" y="169148"/>
                  <a:pt x="117991" y="174109"/>
                </a:cubicBezTo>
                <a:cubicBezTo>
                  <a:pt x="122952" y="179070"/>
                  <a:pt x="131008" y="179070"/>
                  <a:pt x="135969" y="174109"/>
                </a:cubicBezTo>
                <a:lnTo>
                  <a:pt x="199469" y="110609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8915400" y="4273550"/>
            <a:ext cx="668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返回 v1 时刻的完整数据状态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566150" y="4737100"/>
            <a:ext cx="6921500" cy="571500"/>
          </a:xfrm>
          <a:custGeom>
            <a:avLst/>
            <a:gdLst/>
            <a:ahLst/>
            <a:cxnLst/>
            <a:rect l="l" t="t" r="r" b="b"/>
            <a:pathLst>
              <a:path w="6921500" h="571500">
                <a:moveTo>
                  <a:pt x="0" y="0"/>
                </a:moveTo>
                <a:lnTo>
                  <a:pt x="6921500" y="0"/>
                </a:lnTo>
                <a:lnTo>
                  <a:pt x="692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>
              <a:alpha val="10196"/>
            </a:srgbClr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8739188" y="4933950"/>
            <a:ext cx="200025" cy="177800"/>
          </a:xfrm>
          <a:custGeom>
            <a:avLst/>
            <a:gdLst/>
            <a:ahLst/>
            <a:cxnLst/>
            <a:rect l="l" t="t" r="r" b="b"/>
            <a:pathLst>
              <a:path w="200025" h="177800">
                <a:moveTo>
                  <a:pt x="100013" y="22225"/>
                </a:moveTo>
                <a:cubicBezTo>
                  <a:pt x="136823" y="22225"/>
                  <a:pt x="166688" y="52090"/>
                  <a:pt x="166688" y="88900"/>
                </a:cubicBezTo>
                <a:cubicBezTo>
                  <a:pt x="166688" y="125710"/>
                  <a:pt x="136823" y="155575"/>
                  <a:pt x="100013" y="155575"/>
                </a:cubicBezTo>
                <a:cubicBezTo>
                  <a:pt x="77371" y="155575"/>
                  <a:pt x="57334" y="144289"/>
                  <a:pt x="45283" y="126995"/>
                </a:cubicBezTo>
                <a:cubicBezTo>
                  <a:pt x="41776" y="121960"/>
                  <a:pt x="34831" y="120744"/>
                  <a:pt x="29795" y="124252"/>
                </a:cubicBezTo>
                <a:cubicBezTo>
                  <a:pt x="24760" y="127759"/>
                  <a:pt x="23545" y="134704"/>
                  <a:pt x="27052" y="139740"/>
                </a:cubicBezTo>
                <a:cubicBezTo>
                  <a:pt x="43096" y="162729"/>
                  <a:pt x="69800" y="177800"/>
                  <a:pt x="100013" y="177800"/>
                </a:cubicBezTo>
                <a:cubicBezTo>
                  <a:pt x="149116" y="177800"/>
                  <a:pt x="188913" y="138003"/>
                  <a:pt x="188913" y="88900"/>
                </a:cubicBezTo>
                <a:cubicBezTo>
                  <a:pt x="188913" y="39797"/>
                  <a:pt x="149116" y="0"/>
                  <a:pt x="100013" y="0"/>
                </a:cubicBezTo>
                <a:cubicBezTo>
                  <a:pt x="70252" y="0"/>
                  <a:pt x="43929" y="14620"/>
                  <a:pt x="27781" y="37053"/>
                </a:cubicBezTo>
                <a:lnTo>
                  <a:pt x="27781" y="27781"/>
                </a:lnTo>
                <a:cubicBezTo>
                  <a:pt x="27781" y="21635"/>
                  <a:pt x="22815" y="16669"/>
                  <a:pt x="16669" y="16669"/>
                </a:cubicBezTo>
                <a:cubicBezTo>
                  <a:pt x="10522" y="16669"/>
                  <a:pt x="5556" y="21635"/>
                  <a:pt x="5556" y="27781"/>
                </a:cubicBezTo>
                <a:lnTo>
                  <a:pt x="5556" y="66675"/>
                </a:lnTo>
                <a:cubicBezTo>
                  <a:pt x="5556" y="72822"/>
                  <a:pt x="10522" y="77788"/>
                  <a:pt x="16669" y="77788"/>
                </a:cubicBezTo>
                <a:lnTo>
                  <a:pt x="25211" y="77788"/>
                </a:lnTo>
                <a:cubicBezTo>
                  <a:pt x="25385" y="77788"/>
                  <a:pt x="25559" y="77788"/>
                  <a:pt x="25732" y="77788"/>
                </a:cubicBezTo>
                <a:lnTo>
                  <a:pt x="55597" y="77788"/>
                </a:lnTo>
                <a:cubicBezTo>
                  <a:pt x="61744" y="77788"/>
                  <a:pt x="66710" y="72822"/>
                  <a:pt x="66710" y="66675"/>
                </a:cubicBezTo>
                <a:cubicBezTo>
                  <a:pt x="66710" y="60528"/>
                  <a:pt x="61744" y="55563"/>
                  <a:pt x="55597" y="55563"/>
                </a:cubicBezTo>
                <a:lnTo>
                  <a:pt x="42297" y="55563"/>
                </a:lnTo>
                <a:cubicBezTo>
                  <a:pt x="53791" y="35629"/>
                  <a:pt x="75357" y="22225"/>
                  <a:pt x="100013" y="22225"/>
                </a:cubicBezTo>
                <a:close/>
                <a:moveTo>
                  <a:pt x="108347" y="52784"/>
                </a:moveTo>
                <a:cubicBezTo>
                  <a:pt x="108347" y="48166"/>
                  <a:pt x="104631" y="44450"/>
                  <a:pt x="100013" y="44450"/>
                </a:cubicBezTo>
                <a:cubicBezTo>
                  <a:pt x="95394" y="44450"/>
                  <a:pt x="91678" y="48166"/>
                  <a:pt x="91678" y="52784"/>
                </a:cubicBezTo>
                <a:lnTo>
                  <a:pt x="91678" y="88900"/>
                </a:lnTo>
                <a:cubicBezTo>
                  <a:pt x="91678" y="91122"/>
                  <a:pt x="92546" y="93241"/>
                  <a:pt x="94109" y="94804"/>
                </a:cubicBezTo>
                <a:lnTo>
                  <a:pt x="119112" y="119807"/>
                </a:lnTo>
                <a:cubicBezTo>
                  <a:pt x="122376" y="123071"/>
                  <a:pt x="127655" y="123071"/>
                  <a:pt x="130884" y="119807"/>
                </a:cubicBezTo>
                <a:cubicBezTo>
                  <a:pt x="134114" y="116542"/>
                  <a:pt x="134149" y="111264"/>
                  <a:pt x="130884" y="108034"/>
                </a:cubicBezTo>
                <a:lnTo>
                  <a:pt x="108312" y="85462"/>
                </a:lnTo>
                <a:lnTo>
                  <a:pt x="108312" y="52784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9055100" y="4895850"/>
            <a:ext cx="6362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这就好比按下了</a:t>
            </a:r>
            <a:r>
              <a:rPr lang="en-US" sz="14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"撤销"键</a:t>
            </a:r>
            <a:r>
              <a:rPr lang="en-US" sz="14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，回到了过去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14350" y="5778500"/>
            <a:ext cx="4927600" cy="1079500"/>
          </a:xfrm>
          <a:custGeom>
            <a:avLst/>
            <a:gdLst/>
            <a:ahLst/>
            <a:cxnLst/>
            <a:rect l="l" t="t" r="r" b="b"/>
            <a:pathLst>
              <a:path w="4927600" h="1079500">
                <a:moveTo>
                  <a:pt x="0" y="0"/>
                </a:moveTo>
                <a:lnTo>
                  <a:pt x="4927600" y="0"/>
                </a:lnTo>
                <a:lnTo>
                  <a:pt x="4927600" y="1079500"/>
                </a:lnTo>
                <a:lnTo>
                  <a:pt x="0" y="1079500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30196"/>
            </a:srgbClr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755650" y="601345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31750"/>
                </a:moveTo>
                <a:cubicBezTo>
                  <a:pt x="98822" y="31750"/>
                  <a:pt x="73471" y="44004"/>
                  <a:pt x="56009" y="63500"/>
                </a:cubicBezTo>
                <a:lnTo>
                  <a:pt x="79375" y="63500"/>
                </a:lnTo>
                <a:cubicBezTo>
                  <a:pt x="88156" y="63500"/>
                  <a:pt x="95250" y="70594"/>
                  <a:pt x="95250" y="79375"/>
                </a:cubicBezTo>
                <a:cubicBezTo>
                  <a:pt x="95250" y="88156"/>
                  <a:pt x="88156" y="95250"/>
                  <a:pt x="79375" y="95250"/>
                </a:cubicBezTo>
                <a:lnTo>
                  <a:pt x="15875" y="95250"/>
                </a:lnTo>
                <a:cubicBezTo>
                  <a:pt x="7094" y="95250"/>
                  <a:pt x="0" y="88156"/>
                  <a:pt x="0" y="79375"/>
                </a:cubicBezTo>
                <a:lnTo>
                  <a:pt x="0" y="15875"/>
                </a:lnTo>
                <a:cubicBezTo>
                  <a:pt x="0" y="7094"/>
                  <a:pt x="7094" y="0"/>
                  <a:pt x="15875" y="0"/>
                </a:cubicBezTo>
                <a:cubicBezTo>
                  <a:pt x="24656" y="0"/>
                  <a:pt x="31750" y="7094"/>
                  <a:pt x="31750" y="15875"/>
                </a:cubicBezTo>
                <a:lnTo>
                  <a:pt x="31750" y="43011"/>
                </a:lnTo>
                <a:cubicBezTo>
                  <a:pt x="55017" y="16669"/>
                  <a:pt x="89049" y="0"/>
                  <a:pt x="127000" y="0"/>
                </a:cubicBezTo>
                <a:cubicBezTo>
                  <a:pt x="197148" y="0"/>
                  <a:pt x="254000" y="56852"/>
                  <a:pt x="254000" y="127000"/>
                </a:cubicBezTo>
                <a:cubicBezTo>
                  <a:pt x="254000" y="197148"/>
                  <a:pt x="197148" y="254000"/>
                  <a:pt x="127000" y="254000"/>
                </a:cubicBezTo>
                <a:cubicBezTo>
                  <a:pt x="83840" y="254000"/>
                  <a:pt x="45690" y="232470"/>
                  <a:pt x="22771" y="199579"/>
                </a:cubicBezTo>
                <a:cubicBezTo>
                  <a:pt x="17760" y="192385"/>
                  <a:pt x="19496" y="182513"/>
                  <a:pt x="26690" y="177453"/>
                </a:cubicBezTo>
                <a:cubicBezTo>
                  <a:pt x="33883" y="172393"/>
                  <a:pt x="43755" y="174179"/>
                  <a:pt x="48816" y="181372"/>
                </a:cubicBezTo>
                <a:cubicBezTo>
                  <a:pt x="66080" y="206077"/>
                  <a:pt x="94655" y="222200"/>
                  <a:pt x="127000" y="222200"/>
                </a:cubicBezTo>
                <a:cubicBezTo>
                  <a:pt x="179586" y="222200"/>
                  <a:pt x="222250" y="179536"/>
                  <a:pt x="222250" y="126950"/>
                </a:cubicBezTo>
                <a:cubicBezTo>
                  <a:pt x="222250" y="74364"/>
                  <a:pt x="179586" y="31750"/>
                  <a:pt x="127000" y="3175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1193800" y="598805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数据回溯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23900" y="6394450"/>
            <a:ext cx="4597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查看任意历史时间点的数据状态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662017" y="5778500"/>
            <a:ext cx="4927600" cy="1079500"/>
          </a:xfrm>
          <a:custGeom>
            <a:avLst/>
            <a:gdLst/>
            <a:ahLst/>
            <a:cxnLst/>
            <a:rect l="l" t="t" r="r" b="b"/>
            <a:pathLst>
              <a:path w="4927600" h="1079500">
                <a:moveTo>
                  <a:pt x="0" y="0"/>
                </a:moveTo>
                <a:lnTo>
                  <a:pt x="4927600" y="0"/>
                </a:lnTo>
                <a:lnTo>
                  <a:pt x="4927600" y="1079500"/>
                </a:lnTo>
                <a:lnTo>
                  <a:pt x="0" y="1079500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30196"/>
            </a:srgbClr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5903317" y="601345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29282" y="0"/>
                  <a:pt x="131564" y="496"/>
                  <a:pt x="133648" y="1439"/>
                </a:cubicBezTo>
                <a:lnTo>
                  <a:pt x="227112" y="41077"/>
                </a:lnTo>
                <a:cubicBezTo>
                  <a:pt x="238026" y="45690"/>
                  <a:pt x="246162" y="56455"/>
                  <a:pt x="246112" y="69453"/>
                </a:cubicBezTo>
                <a:cubicBezTo>
                  <a:pt x="245864" y="118666"/>
                  <a:pt x="225623" y="208707"/>
                  <a:pt x="140146" y="249634"/>
                </a:cubicBezTo>
                <a:cubicBezTo>
                  <a:pt x="131862" y="253603"/>
                  <a:pt x="122238" y="253603"/>
                  <a:pt x="113953" y="249634"/>
                </a:cubicBezTo>
                <a:cubicBezTo>
                  <a:pt x="28426" y="208707"/>
                  <a:pt x="8235" y="118666"/>
                  <a:pt x="7987" y="69453"/>
                </a:cubicBezTo>
                <a:cubicBezTo>
                  <a:pt x="7937" y="56455"/>
                  <a:pt x="16073" y="45690"/>
                  <a:pt x="26987" y="41077"/>
                </a:cubicBezTo>
                <a:lnTo>
                  <a:pt x="120402" y="1439"/>
                </a:lnTo>
                <a:cubicBezTo>
                  <a:pt x="122486" y="496"/>
                  <a:pt x="124718" y="0"/>
                  <a:pt x="127000" y="0"/>
                </a:cubicBezTo>
                <a:close/>
                <a:moveTo>
                  <a:pt x="127000" y="33139"/>
                </a:moveTo>
                <a:lnTo>
                  <a:pt x="127000" y="220712"/>
                </a:lnTo>
                <a:cubicBezTo>
                  <a:pt x="195461" y="187573"/>
                  <a:pt x="213866" y="114151"/>
                  <a:pt x="214313" y="70197"/>
                </a:cubicBezTo>
                <a:lnTo>
                  <a:pt x="127000" y="33189"/>
                </a:lnTo>
                <a:lnTo>
                  <a:pt x="127000" y="33189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6341467" y="598805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错误恢复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871567" y="6394450"/>
            <a:ext cx="4597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误操作后快速恢复到正确状态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0809784" y="5778500"/>
            <a:ext cx="4927600" cy="1079500"/>
          </a:xfrm>
          <a:custGeom>
            <a:avLst/>
            <a:gdLst/>
            <a:ahLst/>
            <a:cxnLst/>
            <a:rect l="l" t="t" r="r" b="b"/>
            <a:pathLst>
              <a:path w="4927600" h="1079500">
                <a:moveTo>
                  <a:pt x="0" y="0"/>
                </a:moveTo>
                <a:lnTo>
                  <a:pt x="4927600" y="0"/>
                </a:lnTo>
                <a:lnTo>
                  <a:pt x="4927600" y="1079500"/>
                </a:lnTo>
                <a:lnTo>
                  <a:pt x="0" y="1079500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30196"/>
            </a:srgbClr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11051084" y="601345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31750"/>
                </a:moveTo>
                <a:cubicBezTo>
                  <a:pt x="31750" y="22969"/>
                  <a:pt x="24656" y="15875"/>
                  <a:pt x="15875" y="15875"/>
                </a:cubicBezTo>
                <a:cubicBezTo>
                  <a:pt x="7094" y="15875"/>
                  <a:pt x="0" y="22969"/>
                  <a:pt x="0" y="31750"/>
                </a:cubicBezTo>
                <a:lnTo>
                  <a:pt x="0" y="198438"/>
                </a:lnTo>
                <a:cubicBezTo>
                  <a:pt x="0" y="220365"/>
                  <a:pt x="17760" y="238125"/>
                  <a:pt x="39688" y="238125"/>
                </a:cubicBezTo>
                <a:lnTo>
                  <a:pt x="238125" y="238125"/>
                </a:lnTo>
                <a:cubicBezTo>
                  <a:pt x="246906" y="238125"/>
                  <a:pt x="254000" y="231031"/>
                  <a:pt x="254000" y="222250"/>
                </a:cubicBezTo>
                <a:cubicBezTo>
                  <a:pt x="254000" y="213469"/>
                  <a:pt x="246906" y="206375"/>
                  <a:pt x="238125" y="206375"/>
                </a:cubicBezTo>
                <a:lnTo>
                  <a:pt x="39688" y="206375"/>
                </a:lnTo>
                <a:cubicBezTo>
                  <a:pt x="35322" y="206375"/>
                  <a:pt x="31750" y="202803"/>
                  <a:pt x="31750" y="198438"/>
                </a:cubicBezTo>
                <a:lnTo>
                  <a:pt x="31750" y="31750"/>
                </a:lnTo>
                <a:close/>
                <a:moveTo>
                  <a:pt x="233462" y="74712"/>
                </a:moveTo>
                <a:cubicBezTo>
                  <a:pt x="239663" y="68511"/>
                  <a:pt x="239663" y="58440"/>
                  <a:pt x="233462" y="52239"/>
                </a:cubicBezTo>
                <a:cubicBezTo>
                  <a:pt x="227261" y="46037"/>
                  <a:pt x="217190" y="46037"/>
                  <a:pt x="210989" y="52239"/>
                </a:cubicBezTo>
                <a:lnTo>
                  <a:pt x="158750" y="104527"/>
                </a:lnTo>
                <a:lnTo>
                  <a:pt x="130274" y="76101"/>
                </a:lnTo>
                <a:cubicBezTo>
                  <a:pt x="124073" y="69900"/>
                  <a:pt x="114002" y="69900"/>
                  <a:pt x="107801" y="76101"/>
                </a:cubicBezTo>
                <a:lnTo>
                  <a:pt x="60176" y="123726"/>
                </a:lnTo>
                <a:cubicBezTo>
                  <a:pt x="53975" y="129927"/>
                  <a:pt x="53975" y="139998"/>
                  <a:pt x="60176" y="146199"/>
                </a:cubicBezTo>
                <a:cubicBezTo>
                  <a:pt x="66377" y="152400"/>
                  <a:pt x="76448" y="152400"/>
                  <a:pt x="82649" y="146199"/>
                </a:cubicBezTo>
                <a:lnTo>
                  <a:pt x="119063" y="109786"/>
                </a:lnTo>
                <a:lnTo>
                  <a:pt x="147538" y="138261"/>
                </a:lnTo>
                <a:cubicBezTo>
                  <a:pt x="153739" y="144463"/>
                  <a:pt x="163810" y="144463"/>
                  <a:pt x="170011" y="138261"/>
                </a:cubicBezTo>
                <a:lnTo>
                  <a:pt x="233511" y="74761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11489234" y="598805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审计追溯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1019334" y="6394450"/>
            <a:ext cx="4597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追踪数据变化历史，满足合规要求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210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Schema Evolution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Schema Evolution（表结构演进）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33400" y="1574800"/>
            <a:ext cx="7467600" cy="3657600"/>
          </a:xfrm>
          <a:custGeom>
            <a:avLst/>
            <a:gdLst/>
            <a:ahLst/>
            <a:cxnLst/>
            <a:rect l="l" t="t" r="r" b="b"/>
            <a:pathLst>
              <a:path w="7467600" h="3657600">
                <a:moveTo>
                  <a:pt x="0" y="0"/>
                </a:moveTo>
                <a:lnTo>
                  <a:pt x="7467600" y="0"/>
                </a:lnTo>
                <a:lnTo>
                  <a:pt x="7467600" y="3657600"/>
                </a:lnTo>
                <a:lnTo>
                  <a:pt x="0" y="3657600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33400" y="1574800"/>
            <a:ext cx="50800" cy="3657600"/>
          </a:xfrm>
          <a:custGeom>
            <a:avLst/>
            <a:gdLst/>
            <a:ahLst/>
            <a:cxnLst/>
            <a:rect l="l" t="t" r="r" b="b"/>
            <a:pathLst>
              <a:path w="50800" h="3657600">
                <a:moveTo>
                  <a:pt x="0" y="0"/>
                </a:moveTo>
                <a:lnTo>
                  <a:pt x="50800" y="0"/>
                </a:lnTo>
                <a:lnTo>
                  <a:pt x="50800" y="3657600"/>
                </a:lnTo>
                <a:lnTo>
                  <a:pt x="0" y="36576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12800" y="1828800"/>
            <a:ext cx="706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Hive 中的痛点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2336800"/>
            <a:ext cx="7035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 Hive 中，如果把列 </a:t>
            </a:r>
            <a:r>
              <a:rPr lang="en-US" sz="1400" dirty="0">
                <a:solidFill>
                  <a:srgbClr val="F8F9FA">
                    <a:alpha val="80000"/>
                  </a:srgbClr>
                </a:solidFill>
                <a:highlight>
                  <a:srgbClr val="1A1D21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name 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重命名为 </a:t>
            </a:r>
            <a:r>
              <a:rPr lang="en-US" sz="1400" dirty="0">
                <a:solidFill>
                  <a:srgbClr val="F8F9FA">
                    <a:alpha val="80000"/>
                  </a:srgbClr>
                </a:solidFill>
                <a:highlight>
                  <a:srgbClr val="1A1D21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user_name 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19150" y="2825750"/>
            <a:ext cx="6921500" cy="635000"/>
          </a:xfrm>
          <a:custGeom>
            <a:avLst/>
            <a:gdLst/>
            <a:ahLst/>
            <a:cxnLst/>
            <a:rect l="l" t="t" r="r" b="b"/>
            <a:pathLst>
              <a:path w="6921500" h="635000">
                <a:moveTo>
                  <a:pt x="0" y="0"/>
                </a:moveTo>
                <a:lnTo>
                  <a:pt x="6921500" y="0"/>
                </a:lnTo>
                <a:lnTo>
                  <a:pt x="6921500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>
              <a:alpha val="10196"/>
            </a:srgbClr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1003300" y="304165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66278" y="66278"/>
                </a:moveTo>
                <a:cubicBezTo>
                  <a:pt x="70009" y="62547"/>
                  <a:pt x="76041" y="62547"/>
                  <a:pt x="79732" y="66278"/>
                </a:cubicBezTo>
                <a:lnTo>
                  <a:pt x="101560" y="88106"/>
                </a:lnTo>
                <a:lnTo>
                  <a:pt x="123388" y="66278"/>
                </a:lnTo>
                <a:cubicBezTo>
                  <a:pt x="127119" y="62547"/>
                  <a:pt x="133152" y="62547"/>
                  <a:pt x="136842" y="66278"/>
                </a:cubicBezTo>
                <a:cubicBezTo>
                  <a:pt x="140533" y="70009"/>
                  <a:pt x="140573" y="76041"/>
                  <a:pt x="136842" y="79732"/>
                </a:cubicBezTo>
                <a:lnTo>
                  <a:pt x="115014" y="101560"/>
                </a:lnTo>
                <a:lnTo>
                  <a:pt x="136842" y="123388"/>
                </a:lnTo>
                <a:cubicBezTo>
                  <a:pt x="140573" y="127119"/>
                  <a:pt x="140573" y="133152"/>
                  <a:pt x="136842" y="136842"/>
                </a:cubicBezTo>
                <a:cubicBezTo>
                  <a:pt x="133112" y="140533"/>
                  <a:pt x="127079" y="140573"/>
                  <a:pt x="123388" y="136842"/>
                </a:cubicBezTo>
                <a:lnTo>
                  <a:pt x="101560" y="115014"/>
                </a:lnTo>
                <a:lnTo>
                  <a:pt x="79732" y="136842"/>
                </a:lnTo>
                <a:cubicBezTo>
                  <a:pt x="76002" y="140573"/>
                  <a:pt x="69969" y="140573"/>
                  <a:pt x="66278" y="136842"/>
                </a:cubicBezTo>
                <a:cubicBezTo>
                  <a:pt x="62587" y="133112"/>
                  <a:pt x="62547" y="127079"/>
                  <a:pt x="66278" y="123388"/>
                </a:cubicBezTo>
                <a:lnTo>
                  <a:pt x="88106" y="101560"/>
                </a:lnTo>
                <a:lnTo>
                  <a:pt x="66278" y="79732"/>
                </a:lnTo>
                <a:cubicBezTo>
                  <a:pt x="62547" y="76002"/>
                  <a:pt x="62547" y="69969"/>
                  <a:pt x="66278" y="66278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333500" y="2984500"/>
            <a:ext cx="635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旧的 Parquet 文件里的 </a:t>
            </a:r>
            <a:r>
              <a:rPr lang="en-US" sz="1600" dirty="0">
                <a:solidFill>
                  <a:srgbClr val="F8F9FA"/>
                </a:solidFill>
                <a:highlight>
                  <a:srgbClr val="1A1D21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name </a:t>
            </a:r>
            <a:r>
              <a:rPr lang="en-US" sz="16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列就</a:t>
            </a:r>
            <a:r>
              <a:rPr lang="en-US" sz="16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读不出来了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2800" y="3613150"/>
            <a:ext cx="7035800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原因是 Hive 采用</a:t>
            </a:r>
            <a:r>
              <a:rPr lang="en-US" sz="16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按名称匹配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：查询 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highlight>
                  <a:srgbClr val="1A1D21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user_name 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时，引擎只会在 Parquet 文件中找同名列，找不到就返回 NULL。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80400" y="1574800"/>
            <a:ext cx="7467600" cy="3657600"/>
          </a:xfrm>
          <a:custGeom>
            <a:avLst/>
            <a:gdLst/>
            <a:ahLst/>
            <a:cxnLst/>
            <a:rect l="l" t="t" r="r" b="b"/>
            <a:pathLst>
              <a:path w="7467600" h="3657600">
                <a:moveTo>
                  <a:pt x="0" y="0"/>
                </a:moveTo>
                <a:lnTo>
                  <a:pt x="7467600" y="0"/>
                </a:lnTo>
                <a:lnTo>
                  <a:pt x="7467600" y="3657600"/>
                </a:lnTo>
                <a:lnTo>
                  <a:pt x="0" y="3657600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8280400" y="1574800"/>
            <a:ext cx="50800" cy="3657600"/>
          </a:xfrm>
          <a:custGeom>
            <a:avLst/>
            <a:gdLst/>
            <a:ahLst/>
            <a:cxnLst/>
            <a:rect l="l" t="t" r="r" b="b"/>
            <a:pathLst>
              <a:path w="50800" h="3657600">
                <a:moveTo>
                  <a:pt x="0" y="0"/>
                </a:moveTo>
                <a:lnTo>
                  <a:pt x="50800" y="0"/>
                </a:lnTo>
                <a:lnTo>
                  <a:pt x="50800" y="3657600"/>
                </a:lnTo>
                <a:lnTo>
                  <a:pt x="0" y="36576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559800" y="1828800"/>
            <a:ext cx="706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Iceberg 的解法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59800" y="2368550"/>
            <a:ext cx="26530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 ID 绑定，而非名称绑定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559800" y="2819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0"/>
                </a:moveTo>
                <a:lnTo>
                  <a:pt x="355600" y="0"/>
                </a:lnTo>
                <a:cubicBezTo>
                  <a:pt x="383637" y="0"/>
                  <a:pt x="406400" y="22763"/>
                  <a:pt x="406400" y="50800"/>
                </a:cubicBezTo>
                <a:lnTo>
                  <a:pt x="406400" y="355600"/>
                </a:lnTo>
                <a:cubicBezTo>
                  <a:pt x="406400" y="383637"/>
                  <a:pt x="383637" y="406400"/>
                  <a:pt x="3556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509000" y="281940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18600" y="2819400"/>
            <a:ext cx="6477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创建表时，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highlight>
                  <a:srgbClr val="1A1D21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name 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列被分配</a:t>
            </a:r>
            <a:r>
              <a:rPr lang="en-US" sz="16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唯一 ID = 1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559800" y="3327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0"/>
                </a:moveTo>
                <a:lnTo>
                  <a:pt x="355600" y="0"/>
                </a:lnTo>
                <a:cubicBezTo>
                  <a:pt x="383637" y="0"/>
                  <a:pt x="406400" y="22763"/>
                  <a:pt x="406400" y="50800"/>
                </a:cubicBezTo>
                <a:lnTo>
                  <a:pt x="406400" y="355600"/>
                </a:lnTo>
                <a:cubicBezTo>
                  <a:pt x="406400" y="383637"/>
                  <a:pt x="383637" y="406400"/>
                  <a:pt x="3556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509000" y="332740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18600" y="3327400"/>
            <a:ext cx="6477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重命名为 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highlight>
                  <a:srgbClr val="1A1D21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user_name 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时，元数据记录"</a:t>
            </a:r>
            <a:r>
              <a:rPr lang="en-US" sz="16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ID=1 的列现在叫 user_name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559800" y="3835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0"/>
                </a:moveTo>
                <a:lnTo>
                  <a:pt x="355600" y="0"/>
                </a:lnTo>
                <a:cubicBezTo>
                  <a:pt x="383637" y="0"/>
                  <a:pt x="406400" y="22763"/>
                  <a:pt x="406400" y="50800"/>
                </a:cubicBezTo>
                <a:lnTo>
                  <a:pt x="406400" y="355600"/>
                </a:lnTo>
                <a:cubicBezTo>
                  <a:pt x="406400" y="383637"/>
                  <a:pt x="383637" y="406400"/>
                  <a:pt x="3556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509000" y="383540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18600" y="3835400"/>
            <a:ext cx="6477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读取旧文件时，引擎找"</a:t>
            </a:r>
            <a:r>
              <a:rPr lang="en-US" sz="16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ID=1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"的数据，依然能读到内容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566150" y="4400550"/>
            <a:ext cx="6921500" cy="571500"/>
          </a:xfrm>
          <a:custGeom>
            <a:avLst/>
            <a:gdLst/>
            <a:ahLst/>
            <a:cxnLst/>
            <a:rect l="l" t="t" r="r" b="b"/>
            <a:pathLst>
              <a:path w="6921500" h="571500">
                <a:moveTo>
                  <a:pt x="0" y="0"/>
                </a:moveTo>
                <a:lnTo>
                  <a:pt x="6921500" y="0"/>
                </a:lnTo>
                <a:lnTo>
                  <a:pt x="692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00C950">
              <a:alpha val="10196"/>
            </a:srgbClr>
          </a:solidFill>
          <a:ln w="12700">
            <a:solidFill>
              <a:srgbClr val="00C95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8750300" y="45974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118209" y="73863"/>
                </a:moveTo>
                <a:lnTo>
                  <a:pt x="90428" y="118313"/>
                </a:lnTo>
                <a:cubicBezTo>
                  <a:pt x="88969" y="120640"/>
                  <a:pt x="86469" y="122099"/>
                  <a:pt x="83726" y="122238"/>
                </a:cubicBezTo>
                <a:cubicBezTo>
                  <a:pt x="80982" y="122376"/>
                  <a:pt x="78343" y="121126"/>
                  <a:pt x="76711" y="118904"/>
                </a:cubicBezTo>
                <a:lnTo>
                  <a:pt x="60042" y="96679"/>
                </a:lnTo>
                <a:cubicBezTo>
                  <a:pt x="57264" y="92998"/>
                  <a:pt x="58028" y="87789"/>
                  <a:pt x="61709" y="85011"/>
                </a:cubicBezTo>
                <a:cubicBezTo>
                  <a:pt x="65390" y="82233"/>
                  <a:pt x="70599" y="82996"/>
                  <a:pt x="73377" y="86678"/>
                </a:cubicBezTo>
                <a:lnTo>
                  <a:pt x="82753" y="99179"/>
                </a:lnTo>
                <a:lnTo>
                  <a:pt x="104076" y="65043"/>
                </a:lnTo>
                <a:cubicBezTo>
                  <a:pt x="106506" y="61153"/>
                  <a:pt x="111646" y="59938"/>
                  <a:pt x="115570" y="62404"/>
                </a:cubicBezTo>
                <a:cubicBezTo>
                  <a:pt x="119494" y="64869"/>
                  <a:pt x="120675" y="69974"/>
                  <a:pt x="118209" y="73898"/>
                </a:cubicBezTo>
                <a:close/>
              </a:path>
            </a:pathLst>
          </a:custGeom>
          <a:solidFill>
            <a:srgbClr val="00C95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9055100" y="4559300"/>
            <a:ext cx="6362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结论：</a:t>
            </a:r>
            <a:r>
              <a:rPr lang="en-US" sz="14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支持无副作用的 Add, Drop, Rename, Reorder 操作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14350" y="5441950"/>
            <a:ext cx="3644900" cy="977900"/>
          </a:xfrm>
          <a:custGeom>
            <a:avLst/>
            <a:gdLst/>
            <a:ahLst/>
            <a:cxnLst/>
            <a:rect l="l" t="t" r="r" b="b"/>
            <a:pathLst>
              <a:path w="3644900" h="977900">
                <a:moveTo>
                  <a:pt x="0" y="0"/>
                </a:moveTo>
                <a:lnTo>
                  <a:pt x="3644900" y="0"/>
                </a:lnTo>
                <a:lnTo>
                  <a:pt x="3644900" y="977900"/>
                </a:lnTo>
                <a:lnTo>
                  <a:pt x="0" y="977900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30196"/>
            </a:srgbClr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698500" y="56515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92075" y="136525"/>
                </a:moveTo>
                <a:lnTo>
                  <a:pt x="92075" y="111125"/>
                </a:lnTo>
                <a:lnTo>
                  <a:pt x="66675" y="111125"/>
                </a:lnTo>
                <a:cubicBezTo>
                  <a:pt x="61397" y="111125"/>
                  <a:pt x="57150" y="106878"/>
                  <a:pt x="57150" y="101600"/>
                </a:cubicBezTo>
                <a:cubicBezTo>
                  <a:pt x="57150" y="96322"/>
                  <a:pt x="61397" y="92075"/>
                  <a:pt x="66675" y="92075"/>
                </a:cubicBezTo>
                <a:lnTo>
                  <a:pt x="92075" y="92075"/>
                </a:lnTo>
                <a:lnTo>
                  <a:pt x="92075" y="66675"/>
                </a:lnTo>
                <a:cubicBezTo>
                  <a:pt x="92075" y="61397"/>
                  <a:pt x="96322" y="57150"/>
                  <a:pt x="101600" y="57150"/>
                </a:cubicBezTo>
                <a:cubicBezTo>
                  <a:pt x="106878" y="57150"/>
                  <a:pt x="111125" y="61397"/>
                  <a:pt x="111125" y="66675"/>
                </a:cubicBezTo>
                <a:lnTo>
                  <a:pt x="111125" y="92075"/>
                </a:lnTo>
                <a:lnTo>
                  <a:pt x="136525" y="92075"/>
                </a:lnTo>
                <a:cubicBezTo>
                  <a:pt x="141803" y="92075"/>
                  <a:pt x="146050" y="96322"/>
                  <a:pt x="146050" y="101600"/>
                </a:cubicBezTo>
                <a:cubicBezTo>
                  <a:pt x="146050" y="106878"/>
                  <a:pt x="141803" y="111125"/>
                  <a:pt x="136525" y="111125"/>
                </a:cubicBezTo>
                <a:lnTo>
                  <a:pt x="111125" y="111125"/>
                </a:lnTo>
                <a:lnTo>
                  <a:pt x="111125" y="136525"/>
                </a:lnTo>
                <a:cubicBezTo>
                  <a:pt x="111125" y="141803"/>
                  <a:pt x="106878" y="146050"/>
                  <a:pt x="101600" y="146050"/>
                </a:cubicBezTo>
                <a:cubicBezTo>
                  <a:pt x="96322" y="146050"/>
                  <a:pt x="92075" y="141803"/>
                  <a:pt x="92075" y="136525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1028700" y="5600700"/>
            <a:ext cx="147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ADD COLUMN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73100" y="6007100"/>
            <a:ext cx="3416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新增列，分配新 ID，不影响旧文件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375150" y="5441950"/>
            <a:ext cx="3644900" cy="977900"/>
          </a:xfrm>
          <a:custGeom>
            <a:avLst/>
            <a:gdLst/>
            <a:ahLst/>
            <a:cxnLst/>
            <a:rect l="l" t="t" r="r" b="b"/>
            <a:pathLst>
              <a:path w="3644900" h="977900">
                <a:moveTo>
                  <a:pt x="0" y="0"/>
                </a:moveTo>
                <a:lnTo>
                  <a:pt x="3644900" y="0"/>
                </a:lnTo>
                <a:lnTo>
                  <a:pt x="3644900" y="977900"/>
                </a:lnTo>
                <a:lnTo>
                  <a:pt x="0" y="977900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30196"/>
            </a:srgbClr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4559300" y="56515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66675" y="92075"/>
                </a:moveTo>
                <a:lnTo>
                  <a:pt x="136525" y="92075"/>
                </a:lnTo>
                <a:cubicBezTo>
                  <a:pt x="141803" y="92075"/>
                  <a:pt x="146050" y="96322"/>
                  <a:pt x="146050" y="101600"/>
                </a:cubicBezTo>
                <a:cubicBezTo>
                  <a:pt x="146050" y="106878"/>
                  <a:pt x="141803" y="111125"/>
                  <a:pt x="136525" y="111125"/>
                </a:cubicBezTo>
                <a:lnTo>
                  <a:pt x="66675" y="111125"/>
                </a:lnTo>
                <a:cubicBezTo>
                  <a:pt x="61397" y="111125"/>
                  <a:pt x="57150" y="106878"/>
                  <a:pt x="57150" y="101600"/>
                </a:cubicBezTo>
                <a:cubicBezTo>
                  <a:pt x="57150" y="96322"/>
                  <a:pt x="61397" y="92075"/>
                  <a:pt x="66675" y="92075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4889500" y="5600700"/>
            <a:ext cx="160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DROP COLUMN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533900" y="6007100"/>
            <a:ext cx="3416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删除列，保留 ID，旧文件仍可读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235950" y="5441950"/>
            <a:ext cx="3644900" cy="977900"/>
          </a:xfrm>
          <a:custGeom>
            <a:avLst/>
            <a:gdLst/>
            <a:ahLst/>
            <a:cxnLst/>
            <a:rect l="l" t="t" r="r" b="b"/>
            <a:pathLst>
              <a:path w="3644900" h="977900">
                <a:moveTo>
                  <a:pt x="0" y="0"/>
                </a:moveTo>
                <a:lnTo>
                  <a:pt x="3644900" y="0"/>
                </a:lnTo>
                <a:lnTo>
                  <a:pt x="3644900" y="977900"/>
                </a:lnTo>
                <a:lnTo>
                  <a:pt x="0" y="977900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30196"/>
            </a:srgbClr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8420100" y="56515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87166" y="8612"/>
                </a:moveTo>
                <a:cubicBezTo>
                  <a:pt x="178475" y="-79"/>
                  <a:pt x="164425" y="-79"/>
                  <a:pt x="155734" y="8612"/>
                </a:cubicBezTo>
                <a:lnTo>
                  <a:pt x="146050" y="18296"/>
                </a:lnTo>
                <a:lnTo>
                  <a:pt x="184904" y="57150"/>
                </a:lnTo>
                <a:lnTo>
                  <a:pt x="194588" y="47466"/>
                </a:lnTo>
                <a:cubicBezTo>
                  <a:pt x="203279" y="38775"/>
                  <a:pt x="203279" y="24725"/>
                  <a:pt x="194588" y="16034"/>
                </a:cubicBezTo>
                <a:lnTo>
                  <a:pt x="187166" y="8612"/>
                </a:lnTo>
                <a:close/>
                <a:moveTo>
                  <a:pt x="68421" y="95925"/>
                </a:moveTo>
                <a:cubicBezTo>
                  <a:pt x="66000" y="98346"/>
                  <a:pt x="64135" y="101322"/>
                  <a:pt x="63063" y="104616"/>
                </a:cubicBezTo>
                <a:lnTo>
                  <a:pt x="51316" y="139859"/>
                </a:lnTo>
                <a:cubicBezTo>
                  <a:pt x="50165" y="143272"/>
                  <a:pt x="51078" y="147042"/>
                  <a:pt x="53618" y="149622"/>
                </a:cubicBezTo>
                <a:cubicBezTo>
                  <a:pt x="56158" y="152202"/>
                  <a:pt x="59928" y="153075"/>
                  <a:pt x="63381" y="151924"/>
                </a:cubicBezTo>
                <a:lnTo>
                  <a:pt x="98623" y="140176"/>
                </a:lnTo>
                <a:cubicBezTo>
                  <a:pt x="101878" y="139105"/>
                  <a:pt x="104854" y="137239"/>
                  <a:pt x="107315" y="134818"/>
                </a:cubicBezTo>
                <a:lnTo>
                  <a:pt x="171450" y="70604"/>
                </a:lnTo>
                <a:lnTo>
                  <a:pt x="132596" y="31750"/>
                </a:lnTo>
                <a:lnTo>
                  <a:pt x="68421" y="95925"/>
                </a:lnTo>
                <a:close/>
                <a:moveTo>
                  <a:pt x="38100" y="25400"/>
                </a:moveTo>
                <a:cubicBezTo>
                  <a:pt x="17066" y="25400"/>
                  <a:pt x="0" y="42466"/>
                  <a:pt x="0" y="63500"/>
                </a:cubicBezTo>
                <a:lnTo>
                  <a:pt x="0" y="165100"/>
                </a:lnTo>
                <a:cubicBezTo>
                  <a:pt x="0" y="186134"/>
                  <a:pt x="17066" y="203200"/>
                  <a:pt x="38100" y="203200"/>
                </a:cubicBezTo>
                <a:lnTo>
                  <a:pt x="139700" y="203200"/>
                </a:lnTo>
                <a:cubicBezTo>
                  <a:pt x="160734" y="203200"/>
                  <a:pt x="177800" y="186134"/>
                  <a:pt x="177800" y="165100"/>
                </a:cubicBezTo>
                <a:lnTo>
                  <a:pt x="177800" y="127000"/>
                </a:lnTo>
                <a:cubicBezTo>
                  <a:pt x="177800" y="119975"/>
                  <a:pt x="172125" y="114300"/>
                  <a:pt x="165100" y="114300"/>
                </a:cubicBezTo>
                <a:cubicBezTo>
                  <a:pt x="158075" y="114300"/>
                  <a:pt x="152400" y="119975"/>
                  <a:pt x="152400" y="127000"/>
                </a:cubicBezTo>
                <a:lnTo>
                  <a:pt x="152400" y="165100"/>
                </a:lnTo>
                <a:cubicBezTo>
                  <a:pt x="152400" y="172125"/>
                  <a:pt x="146725" y="177800"/>
                  <a:pt x="139700" y="177800"/>
                </a:cubicBezTo>
                <a:lnTo>
                  <a:pt x="38100" y="177800"/>
                </a:lnTo>
                <a:cubicBezTo>
                  <a:pt x="31075" y="177800"/>
                  <a:pt x="25400" y="172125"/>
                  <a:pt x="25400" y="165100"/>
                </a:cubicBezTo>
                <a:lnTo>
                  <a:pt x="25400" y="63500"/>
                </a:lnTo>
                <a:cubicBezTo>
                  <a:pt x="25400" y="56475"/>
                  <a:pt x="31075" y="50800"/>
                  <a:pt x="38100" y="50800"/>
                </a:cubicBezTo>
                <a:lnTo>
                  <a:pt x="76200" y="50800"/>
                </a:lnTo>
                <a:cubicBezTo>
                  <a:pt x="83225" y="50800"/>
                  <a:pt x="88900" y="45125"/>
                  <a:pt x="88900" y="38100"/>
                </a:cubicBezTo>
                <a:cubicBezTo>
                  <a:pt x="88900" y="31075"/>
                  <a:pt x="83225" y="25400"/>
                  <a:pt x="76200" y="25400"/>
                </a:cubicBezTo>
                <a:lnTo>
                  <a:pt x="38100" y="2540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8750300" y="5600700"/>
            <a:ext cx="927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RENAME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394700" y="6007100"/>
            <a:ext cx="3416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重命名列，ID 不变，完全兼容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2096750" y="5441950"/>
            <a:ext cx="3644900" cy="977900"/>
          </a:xfrm>
          <a:custGeom>
            <a:avLst/>
            <a:gdLst/>
            <a:ahLst/>
            <a:cxnLst/>
            <a:rect l="l" t="t" r="r" b="b"/>
            <a:pathLst>
              <a:path w="3644900" h="977900">
                <a:moveTo>
                  <a:pt x="0" y="0"/>
                </a:moveTo>
                <a:lnTo>
                  <a:pt x="3644900" y="0"/>
                </a:lnTo>
                <a:lnTo>
                  <a:pt x="3644900" y="977900"/>
                </a:lnTo>
                <a:lnTo>
                  <a:pt x="0" y="977900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30196"/>
            </a:srgbClr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12306300" y="5651500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52400" h="203200">
                <a:moveTo>
                  <a:pt x="953" y="81042"/>
                </a:moveTo>
                <a:cubicBezTo>
                  <a:pt x="2937" y="85804"/>
                  <a:pt x="7541" y="88900"/>
                  <a:pt x="12700" y="88900"/>
                </a:cubicBezTo>
                <a:lnTo>
                  <a:pt x="139700" y="88900"/>
                </a:lnTo>
                <a:cubicBezTo>
                  <a:pt x="144820" y="88900"/>
                  <a:pt x="149463" y="85804"/>
                  <a:pt x="151448" y="81042"/>
                </a:cubicBezTo>
                <a:cubicBezTo>
                  <a:pt x="153432" y="76279"/>
                  <a:pt x="152321" y="70842"/>
                  <a:pt x="148709" y="67191"/>
                </a:cubicBezTo>
                <a:lnTo>
                  <a:pt x="85209" y="3691"/>
                </a:lnTo>
                <a:cubicBezTo>
                  <a:pt x="80248" y="-1270"/>
                  <a:pt x="72192" y="-1270"/>
                  <a:pt x="67231" y="3691"/>
                </a:cubicBezTo>
                <a:lnTo>
                  <a:pt x="3731" y="67191"/>
                </a:lnTo>
                <a:cubicBezTo>
                  <a:pt x="79" y="70842"/>
                  <a:pt x="-992" y="76279"/>
                  <a:pt x="992" y="81042"/>
                </a:cubicBezTo>
                <a:close/>
                <a:moveTo>
                  <a:pt x="953" y="122118"/>
                </a:moveTo>
                <a:cubicBezTo>
                  <a:pt x="-1032" y="126881"/>
                  <a:pt x="79" y="132318"/>
                  <a:pt x="3691" y="135969"/>
                </a:cubicBezTo>
                <a:lnTo>
                  <a:pt x="67191" y="199469"/>
                </a:lnTo>
                <a:cubicBezTo>
                  <a:pt x="72152" y="204430"/>
                  <a:pt x="80208" y="204430"/>
                  <a:pt x="85169" y="199469"/>
                </a:cubicBezTo>
                <a:lnTo>
                  <a:pt x="148669" y="135969"/>
                </a:lnTo>
                <a:cubicBezTo>
                  <a:pt x="152321" y="132318"/>
                  <a:pt x="153392" y="126881"/>
                  <a:pt x="151408" y="122118"/>
                </a:cubicBezTo>
                <a:cubicBezTo>
                  <a:pt x="149423" y="117356"/>
                  <a:pt x="144820" y="114300"/>
                  <a:pt x="139700" y="114300"/>
                </a:cubicBezTo>
                <a:lnTo>
                  <a:pt x="12700" y="114300"/>
                </a:lnTo>
                <a:cubicBezTo>
                  <a:pt x="7580" y="114300"/>
                  <a:pt x="2937" y="117396"/>
                  <a:pt x="952" y="122158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12611100" y="5600700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REORDER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2255500" y="6007100"/>
            <a:ext cx="3416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调整列顺序，不影响数据读取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210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Hidden Partitioning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Hidden Partitioning（隐藏分区）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33400" y="1574800"/>
            <a:ext cx="7467600" cy="3860800"/>
          </a:xfrm>
          <a:custGeom>
            <a:avLst/>
            <a:gdLst/>
            <a:ahLst/>
            <a:cxnLst/>
            <a:rect l="l" t="t" r="r" b="b"/>
            <a:pathLst>
              <a:path w="7467600" h="3860800">
                <a:moveTo>
                  <a:pt x="0" y="0"/>
                </a:moveTo>
                <a:lnTo>
                  <a:pt x="7467600" y="0"/>
                </a:lnTo>
                <a:lnTo>
                  <a:pt x="7467600" y="3860800"/>
                </a:lnTo>
                <a:lnTo>
                  <a:pt x="0" y="3860800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33400" y="1574800"/>
            <a:ext cx="50800" cy="3860800"/>
          </a:xfrm>
          <a:custGeom>
            <a:avLst/>
            <a:gdLst/>
            <a:ahLst/>
            <a:cxnLst/>
            <a:rect l="l" t="t" r="r" b="b"/>
            <a:pathLst>
              <a:path w="50800" h="3860800">
                <a:moveTo>
                  <a:pt x="0" y="0"/>
                </a:moveTo>
                <a:lnTo>
                  <a:pt x="50800" y="0"/>
                </a:lnTo>
                <a:lnTo>
                  <a:pt x="50800" y="3860800"/>
                </a:lnTo>
                <a:lnTo>
                  <a:pt x="0" y="38608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12800" y="1828800"/>
            <a:ext cx="706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Hive 中的痛点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2336800"/>
            <a:ext cx="7035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Hive 中通常需要手动把时间转成字符串分区：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12800" y="2819400"/>
            <a:ext cx="6934200" cy="609600"/>
          </a:xfrm>
          <a:custGeom>
            <a:avLst/>
            <a:gdLst/>
            <a:ahLst/>
            <a:cxnLst/>
            <a:rect l="l" t="t" r="r" b="b"/>
            <a:pathLst>
              <a:path w="6934200" h="609600">
                <a:moveTo>
                  <a:pt x="0" y="0"/>
                </a:moveTo>
                <a:lnTo>
                  <a:pt x="6934200" y="0"/>
                </a:lnTo>
                <a:lnTo>
                  <a:pt x="69342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965200" y="3035300"/>
            <a:ext cx="169465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dt='2023-12-01'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9150" y="3587750"/>
            <a:ext cx="6921500" cy="571500"/>
          </a:xfrm>
          <a:custGeom>
            <a:avLst/>
            <a:gdLst/>
            <a:ahLst/>
            <a:cxnLst/>
            <a:rect l="l" t="t" r="r" b="b"/>
            <a:pathLst>
              <a:path w="6921500" h="571500">
                <a:moveTo>
                  <a:pt x="0" y="0"/>
                </a:moveTo>
                <a:lnTo>
                  <a:pt x="6921500" y="0"/>
                </a:lnTo>
                <a:lnTo>
                  <a:pt x="692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>
              <a:alpha val="10196"/>
            </a:srgbClr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1003300" y="37846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0"/>
                </a:moveTo>
                <a:cubicBezTo>
                  <a:pt x="94005" y="0"/>
                  <a:pt x="98693" y="2813"/>
                  <a:pt x="101124" y="7293"/>
                </a:cubicBezTo>
                <a:lnTo>
                  <a:pt x="176133" y="146199"/>
                </a:lnTo>
                <a:cubicBezTo>
                  <a:pt x="178460" y="150505"/>
                  <a:pt x="178356" y="155714"/>
                  <a:pt x="175855" y="159916"/>
                </a:cubicBezTo>
                <a:cubicBezTo>
                  <a:pt x="173355" y="164118"/>
                  <a:pt x="168806" y="166688"/>
                  <a:pt x="163909" y="166688"/>
                </a:cubicBezTo>
                <a:lnTo>
                  <a:pt x="13891" y="166688"/>
                </a:lnTo>
                <a:cubicBezTo>
                  <a:pt x="8994" y="166688"/>
                  <a:pt x="4480" y="164118"/>
                  <a:pt x="1945" y="159916"/>
                </a:cubicBezTo>
                <a:cubicBezTo>
                  <a:pt x="-590" y="155714"/>
                  <a:pt x="-660" y="150505"/>
                  <a:pt x="1667" y="146199"/>
                </a:cubicBezTo>
                <a:lnTo>
                  <a:pt x="76676" y="7293"/>
                </a:lnTo>
                <a:cubicBezTo>
                  <a:pt x="79107" y="2813"/>
                  <a:pt x="83795" y="0"/>
                  <a:pt x="88900" y="0"/>
                </a:cubicBezTo>
                <a:close/>
                <a:moveTo>
                  <a:pt x="88900" y="58341"/>
                </a:moveTo>
                <a:cubicBezTo>
                  <a:pt x="84281" y="58341"/>
                  <a:pt x="80566" y="62056"/>
                  <a:pt x="80566" y="66675"/>
                </a:cubicBezTo>
                <a:lnTo>
                  <a:pt x="80566" y="105569"/>
                </a:lnTo>
                <a:cubicBezTo>
                  <a:pt x="80566" y="110187"/>
                  <a:pt x="84281" y="113903"/>
                  <a:pt x="88900" y="113903"/>
                </a:cubicBezTo>
                <a:cubicBezTo>
                  <a:pt x="93519" y="113903"/>
                  <a:pt x="97234" y="110187"/>
                  <a:pt x="97234" y="105569"/>
                </a:cubicBezTo>
                <a:lnTo>
                  <a:pt x="97234" y="66675"/>
                </a:lnTo>
                <a:cubicBezTo>
                  <a:pt x="97234" y="62056"/>
                  <a:pt x="93519" y="58341"/>
                  <a:pt x="88900" y="58341"/>
                </a:cubicBezTo>
                <a:close/>
                <a:moveTo>
                  <a:pt x="98172" y="133350"/>
                </a:moveTo>
                <a:cubicBezTo>
                  <a:pt x="98383" y="129908"/>
                  <a:pt x="96667" y="126634"/>
                  <a:pt x="93716" y="124849"/>
                </a:cubicBezTo>
                <a:cubicBezTo>
                  <a:pt x="90766" y="123065"/>
                  <a:pt x="87069" y="123065"/>
                  <a:pt x="84119" y="124849"/>
                </a:cubicBezTo>
                <a:cubicBezTo>
                  <a:pt x="81168" y="126634"/>
                  <a:pt x="79452" y="129908"/>
                  <a:pt x="79663" y="133350"/>
                </a:cubicBezTo>
                <a:cubicBezTo>
                  <a:pt x="79452" y="136792"/>
                  <a:pt x="81168" y="140066"/>
                  <a:pt x="84119" y="141851"/>
                </a:cubicBezTo>
                <a:cubicBezTo>
                  <a:pt x="87069" y="143635"/>
                  <a:pt x="90766" y="143635"/>
                  <a:pt x="93716" y="141851"/>
                </a:cubicBezTo>
                <a:cubicBezTo>
                  <a:pt x="96667" y="140066"/>
                  <a:pt x="98383" y="136792"/>
                  <a:pt x="98172" y="13335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308100" y="3746500"/>
            <a:ext cx="6362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用户写 SQL 必须</a:t>
            </a:r>
            <a:r>
              <a:rPr lang="en-US" sz="14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显式使用 dt 过滤</a:t>
            </a:r>
            <a:r>
              <a:rPr lang="en-US" sz="14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，否则全表扫描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2800" y="4318000"/>
            <a:ext cx="7035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这给</a:t>
            </a:r>
            <a:r>
              <a:rPr lang="en-US" sz="16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用户带来了负担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，需要了解底层的分区策略。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80400" y="1574800"/>
            <a:ext cx="7467600" cy="3860800"/>
          </a:xfrm>
          <a:custGeom>
            <a:avLst/>
            <a:gdLst/>
            <a:ahLst/>
            <a:cxnLst/>
            <a:rect l="l" t="t" r="r" b="b"/>
            <a:pathLst>
              <a:path w="7467600" h="3860800">
                <a:moveTo>
                  <a:pt x="0" y="0"/>
                </a:moveTo>
                <a:lnTo>
                  <a:pt x="7467600" y="0"/>
                </a:lnTo>
                <a:lnTo>
                  <a:pt x="7467600" y="3860800"/>
                </a:lnTo>
                <a:lnTo>
                  <a:pt x="0" y="3860800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8280400" y="1574800"/>
            <a:ext cx="50800" cy="3860800"/>
          </a:xfrm>
          <a:custGeom>
            <a:avLst/>
            <a:gdLst/>
            <a:ahLst/>
            <a:cxnLst/>
            <a:rect l="l" t="t" r="r" b="b"/>
            <a:pathLst>
              <a:path w="50800" h="3860800">
                <a:moveTo>
                  <a:pt x="0" y="0"/>
                </a:moveTo>
                <a:lnTo>
                  <a:pt x="50800" y="0"/>
                </a:lnTo>
                <a:lnTo>
                  <a:pt x="50800" y="3860800"/>
                </a:lnTo>
                <a:lnTo>
                  <a:pt x="0" y="38608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559800" y="1828800"/>
            <a:ext cx="706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Iceberg 的解法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559800" y="2336800"/>
            <a:ext cx="6934200" cy="977900"/>
          </a:xfrm>
          <a:custGeom>
            <a:avLst/>
            <a:gdLst/>
            <a:ahLst/>
            <a:cxnLst/>
            <a:rect l="l" t="t" r="r" b="b"/>
            <a:pathLst>
              <a:path w="6934200" h="977900">
                <a:moveTo>
                  <a:pt x="0" y="0"/>
                </a:moveTo>
                <a:lnTo>
                  <a:pt x="6934200" y="0"/>
                </a:lnTo>
                <a:lnTo>
                  <a:pt x="6934200" y="977900"/>
                </a:lnTo>
                <a:lnTo>
                  <a:pt x="0" y="9779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712200" y="2489200"/>
            <a:ext cx="671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定义分区策略：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712200" y="2882900"/>
            <a:ext cx="3894038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Partition by day(timestamp_col)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559800" y="3460750"/>
            <a:ext cx="6934200" cy="977900"/>
          </a:xfrm>
          <a:custGeom>
            <a:avLst/>
            <a:gdLst/>
            <a:ahLst/>
            <a:cxnLst/>
            <a:rect l="l" t="t" r="r" b="b"/>
            <a:pathLst>
              <a:path w="6934200" h="977900">
                <a:moveTo>
                  <a:pt x="0" y="0"/>
                </a:moveTo>
                <a:lnTo>
                  <a:pt x="6934200" y="0"/>
                </a:lnTo>
                <a:lnTo>
                  <a:pt x="6934200" y="977900"/>
                </a:lnTo>
                <a:lnTo>
                  <a:pt x="0" y="9779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712200" y="3613150"/>
            <a:ext cx="671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用户查询：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712200" y="4006850"/>
            <a:ext cx="5362079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WHERE timestamp_col = '2023-12-01 10:00:00'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566150" y="4591050"/>
            <a:ext cx="6921500" cy="584200"/>
          </a:xfrm>
          <a:custGeom>
            <a:avLst/>
            <a:gdLst/>
            <a:ahLst/>
            <a:cxnLst/>
            <a:rect l="l" t="t" r="r" b="b"/>
            <a:pathLst>
              <a:path w="6921500" h="584200">
                <a:moveTo>
                  <a:pt x="0" y="0"/>
                </a:moveTo>
                <a:lnTo>
                  <a:pt x="6921500" y="0"/>
                </a:lnTo>
                <a:lnTo>
                  <a:pt x="6921500" y="584200"/>
                </a:lnTo>
                <a:lnTo>
                  <a:pt x="0" y="584200"/>
                </a:lnTo>
                <a:lnTo>
                  <a:pt x="0" y="0"/>
                </a:lnTo>
                <a:close/>
              </a:path>
            </a:pathLst>
          </a:custGeom>
          <a:solidFill>
            <a:srgbClr val="00C950">
              <a:alpha val="10196"/>
            </a:srgbClr>
          </a:solidFill>
          <a:ln w="12700">
            <a:solidFill>
              <a:srgbClr val="00C95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8750300" y="47879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38385" y="4237"/>
                </a:moveTo>
                <a:lnTo>
                  <a:pt x="107757" y="34865"/>
                </a:lnTo>
                <a:lnTo>
                  <a:pt x="142935" y="70043"/>
                </a:lnTo>
                <a:lnTo>
                  <a:pt x="173563" y="39415"/>
                </a:lnTo>
                <a:cubicBezTo>
                  <a:pt x="176272" y="36671"/>
                  <a:pt x="177800" y="32990"/>
                  <a:pt x="177800" y="29170"/>
                </a:cubicBezTo>
                <a:cubicBezTo>
                  <a:pt x="177800" y="25350"/>
                  <a:pt x="176272" y="21669"/>
                  <a:pt x="173563" y="18926"/>
                </a:cubicBezTo>
                <a:lnTo>
                  <a:pt x="158874" y="4237"/>
                </a:lnTo>
                <a:cubicBezTo>
                  <a:pt x="156131" y="1528"/>
                  <a:pt x="152450" y="0"/>
                  <a:pt x="148630" y="0"/>
                </a:cubicBezTo>
                <a:cubicBezTo>
                  <a:pt x="144810" y="0"/>
                  <a:pt x="141129" y="1528"/>
                  <a:pt x="138385" y="4237"/>
                </a:cubicBezTo>
                <a:close/>
                <a:moveTo>
                  <a:pt x="95984" y="46638"/>
                </a:moveTo>
                <a:lnTo>
                  <a:pt x="4237" y="138385"/>
                </a:lnTo>
                <a:cubicBezTo>
                  <a:pt x="1528" y="141129"/>
                  <a:pt x="0" y="144810"/>
                  <a:pt x="0" y="148630"/>
                </a:cubicBezTo>
                <a:cubicBezTo>
                  <a:pt x="0" y="152450"/>
                  <a:pt x="1528" y="156131"/>
                  <a:pt x="4237" y="158874"/>
                </a:cubicBezTo>
                <a:lnTo>
                  <a:pt x="18926" y="173563"/>
                </a:lnTo>
                <a:cubicBezTo>
                  <a:pt x="21669" y="176272"/>
                  <a:pt x="25350" y="177800"/>
                  <a:pt x="29170" y="177800"/>
                </a:cubicBezTo>
                <a:cubicBezTo>
                  <a:pt x="32990" y="177800"/>
                  <a:pt x="36671" y="176272"/>
                  <a:pt x="39415" y="173563"/>
                </a:cubicBezTo>
                <a:lnTo>
                  <a:pt x="131162" y="81816"/>
                </a:lnTo>
                <a:lnTo>
                  <a:pt x="95984" y="46638"/>
                </a:lnTo>
                <a:close/>
              </a:path>
            </a:pathLst>
          </a:custGeom>
          <a:solidFill>
            <a:srgbClr val="00C95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9055100" y="4749800"/>
            <a:ext cx="6362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Iceberg </a:t>
            </a:r>
            <a:r>
              <a:rPr lang="en-US" sz="1400" b="1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自动推导</a:t>
            </a:r>
            <a:r>
              <a:rPr lang="en-US" sz="14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需要扫描的分区是 </a:t>
            </a:r>
            <a:r>
              <a:rPr lang="en-US" sz="1400" dirty="0">
                <a:solidFill>
                  <a:srgbClr val="F8F9FA"/>
                </a:solidFill>
                <a:highlight>
                  <a:srgbClr val="1A1D21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2023-12-01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14350" y="5638800"/>
            <a:ext cx="15227300" cy="1536700"/>
          </a:xfrm>
          <a:custGeom>
            <a:avLst/>
            <a:gdLst/>
            <a:ahLst/>
            <a:cxnLst/>
            <a:rect l="l" t="t" r="r" b="b"/>
            <a:pathLst>
              <a:path w="15227300" h="1536700">
                <a:moveTo>
                  <a:pt x="0" y="0"/>
                </a:moveTo>
                <a:lnTo>
                  <a:pt x="15227300" y="0"/>
                </a:lnTo>
                <a:lnTo>
                  <a:pt x="15227300" y="1536700"/>
                </a:lnTo>
                <a:lnTo>
                  <a:pt x="0" y="15367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>
              <a:alpha val="10196"/>
            </a:srgbClr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800100" y="589915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1308100" y="5848350"/>
            <a:ext cx="14338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核心洞察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08100" y="6305550"/>
            <a:ext cx="143256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Hidden Partitioning 通过</a:t>
            </a:r>
            <a:r>
              <a:rPr lang="en-US" sz="16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隐藏底层的分区细节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，让用户只需要关心</a:t>
            </a:r>
            <a:r>
              <a:rPr lang="en-US" sz="16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业务逻辑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。Iceberg 会自动将用户的查询条件转换为最优的分区过滤策略，既简化了用户操作，又提升了查询性能。用户无需关心是按天、按月还是按年分区，系统会自动选择最优方案。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210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Technology Landscape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Table Format 技术全景图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1574800"/>
            <a:ext cx="15341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Table Format 作为</a:t>
            </a:r>
            <a:r>
              <a:rPr lang="en-US" sz="16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Lakehouse 架构的基石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，通过创新的元数据管理和操作协议，在对象存储之上构建出具备 ACID 事务、快照隔离和高性能查询能力的"表"。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3400" y="2108200"/>
            <a:ext cx="4889500" cy="1879600"/>
          </a:xfrm>
          <a:custGeom>
            <a:avLst/>
            <a:gdLst/>
            <a:ahLst/>
            <a:cxnLst/>
            <a:rect l="l" t="t" r="r" b="b"/>
            <a:pathLst>
              <a:path w="4889500" h="1879600">
                <a:moveTo>
                  <a:pt x="0" y="0"/>
                </a:moveTo>
                <a:lnTo>
                  <a:pt x="4889500" y="0"/>
                </a:lnTo>
                <a:lnTo>
                  <a:pt x="4889500" y="1879600"/>
                </a:lnTo>
                <a:lnTo>
                  <a:pt x="0" y="1879600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33400" y="2108200"/>
            <a:ext cx="50800" cy="1879600"/>
          </a:xfrm>
          <a:custGeom>
            <a:avLst/>
            <a:gdLst/>
            <a:ahLst/>
            <a:cxnLst/>
            <a:rect l="l" t="t" r="r" b="b"/>
            <a:pathLst>
              <a:path w="50800" h="1879600">
                <a:moveTo>
                  <a:pt x="0" y="0"/>
                </a:moveTo>
                <a:lnTo>
                  <a:pt x="50800" y="0"/>
                </a:lnTo>
                <a:lnTo>
                  <a:pt x="50800" y="1879600"/>
                </a:lnTo>
                <a:lnTo>
                  <a:pt x="0" y="18796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93750" y="2374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54100" y="2311400"/>
            <a:ext cx="4279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核心痛点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2819400"/>
            <a:ext cx="4546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目录 Listing 性能黑洞（O(N) 复杂度）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3175000"/>
            <a:ext cx="4546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原子性缺失导致数据不一致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3530600"/>
            <a:ext cx="4546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Hive 表在对象存储上水土不服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98034" y="2108200"/>
            <a:ext cx="4889500" cy="1879600"/>
          </a:xfrm>
          <a:custGeom>
            <a:avLst/>
            <a:gdLst/>
            <a:ahLst/>
            <a:cxnLst/>
            <a:rect l="l" t="t" r="r" b="b"/>
            <a:pathLst>
              <a:path w="4889500" h="1879600">
                <a:moveTo>
                  <a:pt x="0" y="0"/>
                </a:moveTo>
                <a:lnTo>
                  <a:pt x="4889500" y="0"/>
                </a:lnTo>
                <a:lnTo>
                  <a:pt x="4889500" y="1879600"/>
                </a:lnTo>
                <a:lnTo>
                  <a:pt x="0" y="1879600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5698034" y="2108200"/>
            <a:ext cx="50800" cy="1879600"/>
          </a:xfrm>
          <a:custGeom>
            <a:avLst/>
            <a:gdLst/>
            <a:ahLst/>
            <a:cxnLst/>
            <a:rect l="l" t="t" r="r" b="b"/>
            <a:pathLst>
              <a:path w="50800" h="1879600">
                <a:moveTo>
                  <a:pt x="0" y="0"/>
                </a:moveTo>
                <a:lnTo>
                  <a:pt x="50800" y="0"/>
                </a:lnTo>
                <a:lnTo>
                  <a:pt x="50800" y="1879600"/>
                </a:lnTo>
                <a:lnTo>
                  <a:pt x="0" y="18796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5986959" y="23749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218734" y="2311400"/>
            <a:ext cx="4279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革命性解法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26634" y="2819400"/>
            <a:ext cx="4546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从"目录扫描"到"显式追踪"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26634" y="3175000"/>
            <a:ext cx="4546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用"清单"记录所有有效文件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26634" y="3530600"/>
            <a:ext cx="4546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完全跳过目录 Listing 步骤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862667" y="2108200"/>
            <a:ext cx="4889500" cy="1879600"/>
          </a:xfrm>
          <a:custGeom>
            <a:avLst/>
            <a:gdLst/>
            <a:ahLst/>
            <a:cxnLst/>
            <a:rect l="l" t="t" r="r" b="b"/>
            <a:pathLst>
              <a:path w="4889500" h="1879600">
                <a:moveTo>
                  <a:pt x="0" y="0"/>
                </a:moveTo>
                <a:lnTo>
                  <a:pt x="4889500" y="0"/>
                </a:lnTo>
                <a:lnTo>
                  <a:pt x="4889500" y="1879600"/>
                </a:lnTo>
                <a:lnTo>
                  <a:pt x="0" y="1879600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10862667" y="2108200"/>
            <a:ext cx="50800" cy="1879600"/>
          </a:xfrm>
          <a:custGeom>
            <a:avLst/>
            <a:gdLst/>
            <a:ahLst/>
            <a:cxnLst/>
            <a:rect l="l" t="t" r="r" b="b"/>
            <a:pathLst>
              <a:path w="50800" h="1879600">
                <a:moveTo>
                  <a:pt x="0" y="0"/>
                </a:moveTo>
                <a:lnTo>
                  <a:pt x="50800" y="0"/>
                </a:lnTo>
                <a:lnTo>
                  <a:pt x="50800" y="1879600"/>
                </a:lnTo>
                <a:lnTo>
                  <a:pt x="0" y="18796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11123017" y="2374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808" y="2322"/>
                </a:moveTo>
                <a:cubicBezTo>
                  <a:pt x="110460" y="-759"/>
                  <a:pt x="118140" y="-759"/>
                  <a:pt x="124792" y="2322"/>
                </a:cubicBezTo>
                <a:lnTo>
                  <a:pt x="222394" y="47417"/>
                </a:lnTo>
                <a:cubicBezTo>
                  <a:pt x="226189" y="49158"/>
                  <a:pt x="228600" y="52953"/>
                  <a:pt x="228600" y="57150"/>
                </a:cubicBezTo>
                <a:cubicBezTo>
                  <a:pt x="228600" y="61347"/>
                  <a:pt x="226189" y="65142"/>
                  <a:pt x="222394" y="66883"/>
                </a:cubicBezTo>
                <a:lnTo>
                  <a:pt x="124792" y="111978"/>
                </a:lnTo>
                <a:cubicBezTo>
                  <a:pt x="118140" y="115059"/>
                  <a:pt x="110460" y="115059"/>
                  <a:pt x="103808" y="111978"/>
                </a:cubicBezTo>
                <a:lnTo>
                  <a:pt x="6206" y="66883"/>
                </a:lnTo>
                <a:cubicBezTo>
                  <a:pt x="2411" y="65097"/>
                  <a:pt x="0" y="61302"/>
                  <a:pt x="0" y="57150"/>
                </a:cubicBezTo>
                <a:cubicBezTo>
                  <a:pt x="0" y="52998"/>
                  <a:pt x="2411" y="49158"/>
                  <a:pt x="6206" y="47417"/>
                </a:cubicBezTo>
                <a:lnTo>
                  <a:pt x="103808" y="2322"/>
                </a:lnTo>
                <a:close/>
                <a:moveTo>
                  <a:pt x="21476" y="97512"/>
                </a:moveTo>
                <a:lnTo>
                  <a:pt x="94833" y="131400"/>
                </a:lnTo>
                <a:cubicBezTo>
                  <a:pt x="107201" y="137115"/>
                  <a:pt x="121444" y="137115"/>
                  <a:pt x="133811" y="131400"/>
                </a:cubicBezTo>
                <a:lnTo>
                  <a:pt x="207169" y="97512"/>
                </a:lnTo>
                <a:lnTo>
                  <a:pt x="222394" y="104567"/>
                </a:lnTo>
                <a:cubicBezTo>
                  <a:pt x="226189" y="106308"/>
                  <a:pt x="228600" y="110103"/>
                  <a:pt x="228600" y="114300"/>
                </a:cubicBezTo>
                <a:cubicBezTo>
                  <a:pt x="228600" y="118497"/>
                  <a:pt x="226189" y="122292"/>
                  <a:pt x="222394" y="124033"/>
                </a:cubicBezTo>
                <a:lnTo>
                  <a:pt x="124792" y="169128"/>
                </a:lnTo>
                <a:cubicBezTo>
                  <a:pt x="118140" y="172209"/>
                  <a:pt x="110460" y="172209"/>
                  <a:pt x="103808" y="169128"/>
                </a:cubicBezTo>
                <a:lnTo>
                  <a:pt x="6206" y="124033"/>
                </a:lnTo>
                <a:cubicBezTo>
                  <a:pt x="2411" y="122247"/>
                  <a:pt x="0" y="118452"/>
                  <a:pt x="0" y="114300"/>
                </a:cubicBezTo>
                <a:cubicBezTo>
                  <a:pt x="0" y="110148"/>
                  <a:pt x="2411" y="106308"/>
                  <a:pt x="6206" y="104567"/>
                </a:cubicBezTo>
                <a:lnTo>
                  <a:pt x="21431" y="97512"/>
                </a:lnTo>
                <a:close/>
                <a:moveTo>
                  <a:pt x="6206" y="161717"/>
                </a:moveTo>
                <a:lnTo>
                  <a:pt x="21431" y="154662"/>
                </a:lnTo>
                <a:lnTo>
                  <a:pt x="94789" y="188550"/>
                </a:lnTo>
                <a:cubicBezTo>
                  <a:pt x="107156" y="194265"/>
                  <a:pt x="121399" y="194265"/>
                  <a:pt x="133767" y="188550"/>
                </a:cubicBezTo>
                <a:lnTo>
                  <a:pt x="207124" y="154662"/>
                </a:lnTo>
                <a:lnTo>
                  <a:pt x="222349" y="161717"/>
                </a:lnTo>
                <a:cubicBezTo>
                  <a:pt x="226144" y="163458"/>
                  <a:pt x="228555" y="167253"/>
                  <a:pt x="228555" y="171450"/>
                </a:cubicBezTo>
                <a:cubicBezTo>
                  <a:pt x="228555" y="175647"/>
                  <a:pt x="226144" y="179442"/>
                  <a:pt x="222349" y="181183"/>
                </a:cubicBezTo>
                <a:lnTo>
                  <a:pt x="124748" y="226278"/>
                </a:lnTo>
                <a:cubicBezTo>
                  <a:pt x="118095" y="229359"/>
                  <a:pt x="110416" y="229359"/>
                  <a:pt x="103763" y="226278"/>
                </a:cubicBezTo>
                <a:lnTo>
                  <a:pt x="6206" y="181183"/>
                </a:lnTo>
                <a:cubicBezTo>
                  <a:pt x="2411" y="179397"/>
                  <a:pt x="0" y="175602"/>
                  <a:pt x="0" y="171450"/>
                </a:cubicBezTo>
                <a:cubicBezTo>
                  <a:pt x="0" y="167298"/>
                  <a:pt x="2411" y="163458"/>
                  <a:pt x="6206" y="161717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11383367" y="2311400"/>
            <a:ext cx="4279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三层架构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091267" y="2819400"/>
            <a:ext cx="4546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Metadata File：表的大脑，管理快照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091267" y="3175000"/>
            <a:ext cx="4546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Manifest List：快照目录，分区裁剪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091267" y="3530600"/>
            <a:ext cx="4546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Manifest File：文件清单，Data Skipping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14350" y="4197350"/>
            <a:ext cx="3644900" cy="977900"/>
          </a:xfrm>
          <a:custGeom>
            <a:avLst/>
            <a:gdLst/>
            <a:ahLst/>
            <a:cxnLst/>
            <a:rect l="l" t="t" r="r" b="b"/>
            <a:pathLst>
              <a:path w="3644900" h="977900">
                <a:moveTo>
                  <a:pt x="0" y="0"/>
                </a:moveTo>
                <a:lnTo>
                  <a:pt x="3644900" y="0"/>
                </a:lnTo>
                <a:lnTo>
                  <a:pt x="3644900" y="977900"/>
                </a:lnTo>
                <a:lnTo>
                  <a:pt x="0" y="977900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30196"/>
            </a:srgbClr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723900" y="4406900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52400" h="203200">
                <a:moveTo>
                  <a:pt x="99179" y="26511"/>
                </a:moveTo>
                <a:cubicBezTo>
                  <a:pt x="103307" y="20836"/>
                  <a:pt x="102037" y="12898"/>
                  <a:pt x="96361" y="8771"/>
                </a:cubicBezTo>
                <a:cubicBezTo>
                  <a:pt x="90686" y="4643"/>
                  <a:pt x="82748" y="5913"/>
                  <a:pt x="78621" y="11589"/>
                </a:cubicBezTo>
                <a:lnTo>
                  <a:pt x="36552" y="69413"/>
                </a:lnTo>
                <a:lnTo>
                  <a:pt x="21669" y="54531"/>
                </a:lnTo>
                <a:cubicBezTo>
                  <a:pt x="16708" y="49570"/>
                  <a:pt x="8652" y="49570"/>
                  <a:pt x="3691" y="54531"/>
                </a:cubicBezTo>
                <a:cubicBezTo>
                  <a:pt x="-1270" y="59492"/>
                  <a:pt x="-1270" y="67548"/>
                  <a:pt x="3691" y="72509"/>
                </a:cubicBezTo>
                <a:lnTo>
                  <a:pt x="29091" y="97909"/>
                </a:lnTo>
                <a:cubicBezTo>
                  <a:pt x="31710" y="100528"/>
                  <a:pt x="35362" y="101878"/>
                  <a:pt x="39053" y="101600"/>
                </a:cubicBezTo>
                <a:cubicBezTo>
                  <a:pt x="42743" y="101322"/>
                  <a:pt x="46157" y="99417"/>
                  <a:pt x="48339" y="96401"/>
                </a:cubicBezTo>
                <a:lnTo>
                  <a:pt x="99139" y="26551"/>
                </a:lnTo>
                <a:close/>
                <a:moveTo>
                  <a:pt x="149979" y="80486"/>
                </a:moveTo>
                <a:cubicBezTo>
                  <a:pt x="154107" y="74811"/>
                  <a:pt x="152837" y="66873"/>
                  <a:pt x="147161" y="62746"/>
                </a:cubicBezTo>
                <a:cubicBezTo>
                  <a:pt x="141486" y="58618"/>
                  <a:pt x="133548" y="59888"/>
                  <a:pt x="129421" y="65564"/>
                </a:cubicBezTo>
                <a:lnTo>
                  <a:pt x="61952" y="158313"/>
                </a:lnTo>
                <a:lnTo>
                  <a:pt x="34369" y="130731"/>
                </a:lnTo>
                <a:cubicBezTo>
                  <a:pt x="29408" y="125770"/>
                  <a:pt x="21352" y="125770"/>
                  <a:pt x="16391" y="130731"/>
                </a:cubicBezTo>
                <a:cubicBezTo>
                  <a:pt x="11430" y="135692"/>
                  <a:pt x="11430" y="143748"/>
                  <a:pt x="16391" y="148709"/>
                </a:cubicBezTo>
                <a:lnTo>
                  <a:pt x="54491" y="186809"/>
                </a:lnTo>
                <a:cubicBezTo>
                  <a:pt x="57110" y="189428"/>
                  <a:pt x="60762" y="190778"/>
                  <a:pt x="64452" y="190500"/>
                </a:cubicBezTo>
                <a:cubicBezTo>
                  <a:pt x="68143" y="190222"/>
                  <a:pt x="71557" y="188317"/>
                  <a:pt x="73739" y="185301"/>
                </a:cubicBezTo>
                <a:lnTo>
                  <a:pt x="149939" y="80526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1028700" y="4356100"/>
            <a:ext cx="1041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ACID 保证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73100" y="4762500"/>
            <a:ext cx="3416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三阶段提交，原子性元数据更新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75150" y="4197350"/>
            <a:ext cx="3644900" cy="977900"/>
          </a:xfrm>
          <a:custGeom>
            <a:avLst/>
            <a:gdLst/>
            <a:ahLst/>
            <a:cxnLst/>
            <a:rect l="l" t="t" r="r" b="b"/>
            <a:pathLst>
              <a:path w="3644900" h="977900">
                <a:moveTo>
                  <a:pt x="0" y="0"/>
                </a:moveTo>
                <a:lnTo>
                  <a:pt x="3644900" y="0"/>
                </a:lnTo>
                <a:lnTo>
                  <a:pt x="3644900" y="977900"/>
                </a:lnTo>
                <a:lnTo>
                  <a:pt x="0" y="977900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30196"/>
            </a:srgbClr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4572000" y="44069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76200" y="0"/>
                </a:moveTo>
                <a:cubicBezTo>
                  <a:pt x="62190" y="0"/>
                  <a:pt x="50800" y="11390"/>
                  <a:pt x="50800" y="25400"/>
                </a:cubicBezTo>
                <a:lnTo>
                  <a:pt x="50800" y="127000"/>
                </a:lnTo>
                <a:cubicBezTo>
                  <a:pt x="50800" y="141010"/>
                  <a:pt x="62190" y="152400"/>
                  <a:pt x="76200" y="152400"/>
                </a:cubicBezTo>
                <a:lnTo>
                  <a:pt x="152400" y="152400"/>
                </a:lnTo>
                <a:cubicBezTo>
                  <a:pt x="166410" y="152400"/>
                  <a:pt x="177800" y="141010"/>
                  <a:pt x="177800" y="127000"/>
                </a:cubicBezTo>
                <a:lnTo>
                  <a:pt x="177800" y="47387"/>
                </a:lnTo>
                <a:cubicBezTo>
                  <a:pt x="177800" y="40481"/>
                  <a:pt x="174982" y="33853"/>
                  <a:pt x="169982" y="29051"/>
                </a:cubicBezTo>
                <a:lnTo>
                  <a:pt x="147082" y="7064"/>
                </a:lnTo>
                <a:cubicBezTo>
                  <a:pt x="142359" y="2540"/>
                  <a:pt x="136049" y="0"/>
                  <a:pt x="129500" y="0"/>
                </a:cubicBezTo>
                <a:lnTo>
                  <a:pt x="76200" y="0"/>
                </a:lnTo>
                <a:close/>
                <a:moveTo>
                  <a:pt x="25400" y="50800"/>
                </a:moveTo>
                <a:cubicBezTo>
                  <a:pt x="11390" y="50800"/>
                  <a:pt x="0" y="62190"/>
                  <a:pt x="0" y="76200"/>
                </a:cubicBezTo>
                <a:lnTo>
                  <a:pt x="0" y="177800"/>
                </a:lnTo>
                <a:cubicBezTo>
                  <a:pt x="0" y="191810"/>
                  <a:pt x="11390" y="203200"/>
                  <a:pt x="25400" y="203200"/>
                </a:cubicBezTo>
                <a:lnTo>
                  <a:pt x="101600" y="203200"/>
                </a:lnTo>
                <a:cubicBezTo>
                  <a:pt x="115610" y="203200"/>
                  <a:pt x="127000" y="191810"/>
                  <a:pt x="127000" y="177800"/>
                </a:cubicBezTo>
                <a:lnTo>
                  <a:pt x="127000" y="171450"/>
                </a:lnTo>
                <a:lnTo>
                  <a:pt x="101600" y="171450"/>
                </a:lnTo>
                <a:lnTo>
                  <a:pt x="101600" y="177800"/>
                </a:lnTo>
                <a:lnTo>
                  <a:pt x="25400" y="177800"/>
                </a:lnTo>
                <a:lnTo>
                  <a:pt x="25400" y="76200"/>
                </a:lnTo>
                <a:lnTo>
                  <a:pt x="31750" y="76200"/>
                </a:lnTo>
                <a:lnTo>
                  <a:pt x="31750" y="50800"/>
                </a:lnTo>
                <a:lnTo>
                  <a:pt x="25400" y="5080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4889500" y="4356100"/>
            <a:ext cx="114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COW/MOR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533900" y="4762500"/>
            <a:ext cx="3416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读写权衡，适配不同场景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235950" y="4197350"/>
            <a:ext cx="3644900" cy="977900"/>
          </a:xfrm>
          <a:custGeom>
            <a:avLst/>
            <a:gdLst/>
            <a:ahLst/>
            <a:cxnLst/>
            <a:rect l="l" t="t" r="r" b="b"/>
            <a:pathLst>
              <a:path w="3644900" h="977900">
                <a:moveTo>
                  <a:pt x="0" y="0"/>
                </a:moveTo>
                <a:lnTo>
                  <a:pt x="3644900" y="0"/>
                </a:lnTo>
                <a:lnTo>
                  <a:pt x="3644900" y="977900"/>
                </a:lnTo>
                <a:lnTo>
                  <a:pt x="0" y="977900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30196"/>
            </a:srgbClr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8394700" y="4406900"/>
            <a:ext cx="254000" cy="203200"/>
          </a:xfrm>
          <a:custGeom>
            <a:avLst/>
            <a:gdLst/>
            <a:ahLst/>
            <a:cxnLst/>
            <a:rect l="l" t="t" r="r" b="b"/>
            <a:pathLst>
              <a:path w="254000" h="203200">
                <a:moveTo>
                  <a:pt x="127000" y="6350"/>
                </a:moveTo>
                <a:cubicBezTo>
                  <a:pt x="149780" y="6350"/>
                  <a:pt x="168275" y="24845"/>
                  <a:pt x="168275" y="47625"/>
                </a:cubicBezTo>
                <a:cubicBezTo>
                  <a:pt x="168275" y="70405"/>
                  <a:pt x="149780" y="88900"/>
                  <a:pt x="127000" y="88900"/>
                </a:cubicBezTo>
                <a:cubicBezTo>
                  <a:pt x="104220" y="88900"/>
                  <a:pt x="85725" y="70405"/>
                  <a:pt x="85725" y="47625"/>
                </a:cubicBezTo>
                <a:cubicBezTo>
                  <a:pt x="85725" y="24845"/>
                  <a:pt x="104220" y="6350"/>
                  <a:pt x="127000" y="6350"/>
                </a:cubicBezTo>
                <a:close/>
                <a:moveTo>
                  <a:pt x="38100" y="34925"/>
                </a:moveTo>
                <a:cubicBezTo>
                  <a:pt x="53871" y="34925"/>
                  <a:pt x="66675" y="47729"/>
                  <a:pt x="66675" y="63500"/>
                </a:cubicBezTo>
                <a:cubicBezTo>
                  <a:pt x="66675" y="79271"/>
                  <a:pt x="53871" y="92075"/>
                  <a:pt x="38100" y="92075"/>
                </a:cubicBezTo>
                <a:cubicBezTo>
                  <a:pt x="22329" y="92075"/>
                  <a:pt x="9525" y="79271"/>
                  <a:pt x="9525" y="63500"/>
                </a:cubicBezTo>
                <a:cubicBezTo>
                  <a:pt x="9525" y="47729"/>
                  <a:pt x="22329" y="34925"/>
                  <a:pt x="38100" y="34925"/>
                </a:cubicBezTo>
                <a:close/>
                <a:moveTo>
                  <a:pt x="0" y="165100"/>
                </a:moveTo>
                <a:cubicBezTo>
                  <a:pt x="0" y="137041"/>
                  <a:pt x="22741" y="114300"/>
                  <a:pt x="50800" y="114300"/>
                </a:cubicBezTo>
                <a:cubicBezTo>
                  <a:pt x="55880" y="114300"/>
                  <a:pt x="60801" y="115054"/>
                  <a:pt x="65445" y="116443"/>
                </a:cubicBezTo>
                <a:cubicBezTo>
                  <a:pt x="52388" y="131048"/>
                  <a:pt x="44450" y="150336"/>
                  <a:pt x="44450" y="171450"/>
                </a:cubicBezTo>
                <a:lnTo>
                  <a:pt x="44450" y="177800"/>
                </a:lnTo>
                <a:cubicBezTo>
                  <a:pt x="44450" y="182324"/>
                  <a:pt x="45403" y="186611"/>
                  <a:pt x="47109" y="190500"/>
                </a:cubicBezTo>
                <a:lnTo>
                  <a:pt x="12700" y="190500"/>
                </a:lnTo>
                <a:cubicBezTo>
                  <a:pt x="5675" y="190500"/>
                  <a:pt x="0" y="184825"/>
                  <a:pt x="0" y="177800"/>
                </a:cubicBezTo>
                <a:lnTo>
                  <a:pt x="0" y="165100"/>
                </a:lnTo>
                <a:close/>
                <a:moveTo>
                  <a:pt x="206891" y="190500"/>
                </a:moveTo>
                <a:cubicBezTo>
                  <a:pt x="208597" y="186611"/>
                  <a:pt x="209550" y="182324"/>
                  <a:pt x="209550" y="177800"/>
                </a:cubicBezTo>
                <a:lnTo>
                  <a:pt x="209550" y="171450"/>
                </a:lnTo>
                <a:cubicBezTo>
                  <a:pt x="209550" y="150336"/>
                  <a:pt x="201613" y="131048"/>
                  <a:pt x="188555" y="116443"/>
                </a:cubicBezTo>
                <a:cubicBezTo>
                  <a:pt x="193199" y="115054"/>
                  <a:pt x="198120" y="114300"/>
                  <a:pt x="203200" y="114300"/>
                </a:cubicBezTo>
                <a:cubicBezTo>
                  <a:pt x="231259" y="114300"/>
                  <a:pt x="254000" y="137041"/>
                  <a:pt x="254000" y="165100"/>
                </a:cubicBezTo>
                <a:lnTo>
                  <a:pt x="254000" y="177800"/>
                </a:lnTo>
                <a:cubicBezTo>
                  <a:pt x="254000" y="184825"/>
                  <a:pt x="248325" y="190500"/>
                  <a:pt x="241300" y="190500"/>
                </a:cubicBezTo>
                <a:lnTo>
                  <a:pt x="206891" y="190500"/>
                </a:lnTo>
                <a:close/>
                <a:moveTo>
                  <a:pt x="187325" y="63500"/>
                </a:moveTo>
                <a:cubicBezTo>
                  <a:pt x="187325" y="47729"/>
                  <a:pt x="200129" y="34925"/>
                  <a:pt x="215900" y="34925"/>
                </a:cubicBezTo>
                <a:cubicBezTo>
                  <a:pt x="231671" y="34925"/>
                  <a:pt x="244475" y="47729"/>
                  <a:pt x="244475" y="63500"/>
                </a:cubicBezTo>
                <a:cubicBezTo>
                  <a:pt x="244475" y="79271"/>
                  <a:pt x="231671" y="92075"/>
                  <a:pt x="215900" y="92075"/>
                </a:cubicBezTo>
                <a:cubicBezTo>
                  <a:pt x="200129" y="92075"/>
                  <a:pt x="187325" y="79271"/>
                  <a:pt x="187325" y="63500"/>
                </a:cubicBezTo>
                <a:close/>
                <a:moveTo>
                  <a:pt x="63500" y="171450"/>
                </a:moveTo>
                <a:cubicBezTo>
                  <a:pt x="63500" y="136366"/>
                  <a:pt x="91916" y="107950"/>
                  <a:pt x="127000" y="107950"/>
                </a:cubicBezTo>
                <a:cubicBezTo>
                  <a:pt x="162084" y="107950"/>
                  <a:pt x="190500" y="136366"/>
                  <a:pt x="190500" y="171450"/>
                </a:cubicBezTo>
                <a:lnTo>
                  <a:pt x="190500" y="177800"/>
                </a:lnTo>
                <a:cubicBezTo>
                  <a:pt x="190500" y="184825"/>
                  <a:pt x="184825" y="190500"/>
                  <a:pt x="177800" y="190500"/>
                </a:cubicBezTo>
                <a:lnTo>
                  <a:pt x="76200" y="190500"/>
                </a:lnTo>
                <a:cubicBezTo>
                  <a:pt x="69175" y="190500"/>
                  <a:pt x="63500" y="184825"/>
                  <a:pt x="63500" y="177800"/>
                </a:cubicBezTo>
                <a:lnTo>
                  <a:pt x="63500" y="17145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8750300" y="43561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乐观并发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394700" y="4762500"/>
            <a:ext cx="3416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CAS 机制，高效且安全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2096750" y="4197350"/>
            <a:ext cx="3644900" cy="977900"/>
          </a:xfrm>
          <a:custGeom>
            <a:avLst/>
            <a:gdLst/>
            <a:ahLst/>
            <a:cxnLst/>
            <a:rect l="l" t="t" r="r" b="b"/>
            <a:pathLst>
              <a:path w="3644900" h="977900">
                <a:moveTo>
                  <a:pt x="0" y="0"/>
                </a:moveTo>
                <a:lnTo>
                  <a:pt x="3644900" y="0"/>
                </a:lnTo>
                <a:lnTo>
                  <a:pt x="3644900" y="977900"/>
                </a:lnTo>
                <a:lnTo>
                  <a:pt x="0" y="977900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30196"/>
            </a:srgbClr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12268200" y="440690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22833" y="-7501"/>
                </a:moveTo>
                <a:cubicBezTo>
                  <a:pt x="121206" y="-10676"/>
                  <a:pt x="117912" y="-12700"/>
                  <a:pt x="114340" y="-12700"/>
                </a:cubicBezTo>
                <a:cubicBezTo>
                  <a:pt x="110768" y="-12700"/>
                  <a:pt x="107474" y="-10676"/>
                  <a:pt x="105847" y="-7501"/>
                </a:cubicBezTo>
                <a:lnTo>
                  <a:pt x="76637" y="49728"/>
                </a:lnTo>
                <a:lnTo>
                  <a:pt x="13176" y="59809"/>
                </a:lnTo>
                <a:cubicBezTo>
                  <a:pt x="9644" y="60365"/>
                  <a:pt x="6707" y="62865"/>
                  <a:pt x="5596" y="66278"/>
                </a:cubicBezTo>
                <a:cubicBezTo>
                  <a:pt x="4485" y="69691"/>
                  <a:pt x="5398" y="73422"/>
                  <a:pt x="7898" y="75962"/>
                </a:cubicBezTo>
                <a:lnTo>
                  <a:pt x="53300" y="121404"/>
                </a:lnTo>
                <a:lnTo>
                  <a:pt x="43299" y="184864"/>
                </a:lnTo>
                <a:cubicBezTo>
                  <a:pt x="42743" y="188397"/>
                  <a:pt x="44212" y="191968"/>
                  <a:pt x="47109" y="194072"/>
                </a:cubicBezTo>
                <a:cubicBezTo>
                  <a:pt x="50006" y="196175"/>
                  <a:pt x="53816" y="196493"/>
                  <a:pt x="57031" y="194866"/>
                </a:cubicBezTo>
                <a:lnTo>
                  <a:pt x="114340" y="165735"/>
                </a:lnTo>
                <a:lnTo>
                  <a:pt x="171609" y="194866"/>
                </a:lnTo>
                <a:cubicBezTo>
                  <a:pt x="174784" y="196493"/>
                  <a:pt x="178633" y="196175"/>
                  <a:pt x="181531" y="194072"/>
                </a:cubicBezTo>
                <a:cubicBezTo>
                  <a:pt x="184428" y="191968"/>
                  <a:pt x="185896" y="188436"/>
                  <a:pt x="185341" y="184864"/>
                </a:cubicBezTo>
                <a:lnTo>
                  <a:pt x="175300" y="121404"/>
                </a:lnTo>
                <a:lnTo>
                  <a:pt x="220702" y="75962"/>
                </a:lnTo>
                <a:cubicBezTo>
                  <a:pt x="223242" y="73422"/>
                  <a:pt x="224115" y="69691"/>
                  <a:pt x="223004" y="66278"/>
                </a:cubicBezTo>
                <a:cubicBezTo>
                  <a:pt x="221893" y="62865"/>
                  <a:pt x="218996" y="60365"/>
                  <a:pt x="215424" y="59809"/>
                </a:cubicBezTo>
                <a:lnTo>
                  <a:pt x="152003" y="49728"/>
                </a:lnTo>
                <a:lnTo>
                  <a:pt x="122833" y="-7501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12611100" y="43561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杀手特性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2255500" y="4762500"/>
            <a:ext cx="3416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Time Travel、Schema Evolution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20700" y="5397500"/>
            <a:ext cx="15214600" cy="1549400"/>
          </a:xfrm>
          <a:custGeom>
            <a:avLst/>
            <a:gdLst/>
            <a:ahLst/>
            <a:cxnLst/>
            <a:rect l="l" t="t" r="r" b="b"/>
            <a:pathLst>
              <a:path w="15214600" h="1549400">
                <a:moveTo>
                  <a:pt x="0" y="0"/>
                </a:moveTo>
                <a:lnTo>
                  <a:pt x="15214600" y="0"/>
                </a:lnTo>
                <a:lnTo>
                  <a:pt x="15214600" y="1549400"/>
                </a:lnTo>
                <a:lnTo>
                  <a:pt x="0" y="15494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>
              <a:alpha val="10196"/>
            </a:srgbClr>
          </a:solidFill>
          <a:ln w="25400">
            <a:solidFill>
              <a:srgbClr val="D4A2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774700" y="5664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85904" y="0"/>
                </a:moveTo>
                <a:lnTo>
                  <a:pt x="219254" y="0"/>
                </a:lnTo>
                <a:cubicBezTo>
                  <a:pt x="235029" y="0"/>
                  <a:pt x="247888" y="12978"/>
                  <a:pt x="247293" y="28694"/>
                </a:cubicBezTo>
                <a:cubicBezTo>
                  <a:pt x="247174" y="31849"/>
                  <a:pt x="247055" y="35004"/>
                  <a:pt x="246876" y="38100"/>
                </a:cubicBezTo>
                <a:lnTo>
                  <a:pt x="276404" y="38100"/>
                </a:lnTo>
                <a:cubicBezTo>
                  <a:pt x="291941" y="38100"/>
                  <a:pt x="305633" y="50959"/>
                  <a:pt x="304443" y="67747"/>
                </a:cubicBezTo>
                <a:cubicBezTo>
                  <a:pt x="299978" y="129480"/>
                  <a:pt x="268426" y="163413"/>
                  <a:pt x="234196" y="181154"/>
                </a:cubicBezTo>
                <a:cubicBezTo>
                  <a:pt x="224790" y="186035"/>
                  <a:pt x="215205" y="189667"/>
                  <a:pt x="206097" y="192345"/>
                </a:cubicBezTo>
                <a:cubicBezTo>
                  <a:pt x="194072" y="209371"/>
                  <a:pt x="181570" y="218361"/>
                  <a:pt x="171629" y="223183"/>
                </a:cubicBezTo>
                <a:lnTo>
                  <a:pt x="171629" y="266700"/>
                </a:lnTo>
                <a:lnTo>
                  <a:pt x="209729" y="266700"/>
                </a:lnTo>
                <a:cubicBezTo>
                  <a:pt x="220266" y="266700"/>
                  <a:pt x="228779" y="275213"/>
                  <a:pt x="228779" y="285750"/>
                </a:cubicBezTo>
                <a:cubicBezTo>
                  <a:pt x="228779" y="296287"/>
                  <a:pt x="220266" y="304800"/>
                  <a:pt x="209729" y="304800"/>
                </a:cubicBezTo>
                <a:lnTo>
                  <a:pt x="95429" y="304800"/>
                </a:lnTo>
                <a:cubicBezTo>
                  <a:pt x="84892" y="304800"/>
                  <a:pt x="76379" y="296287"/>
                  <a:pt x="76379" y="285750"/>
                </a:cubicBezTo>
                <a:cubicBezTo>
                  <a:pt x="76379" y="275213"/>
                  <a:pt x="84892" y="266700"/>
                  <a:pt x="95429" y="266700"/>
                </a:cubicBezTo>
                <a:lnTo>
                  <a:pt x="133529" y="266700"/>
                </a:lnTo>
                <a:lnTo>
                  <a:pt x="133529" y="223183"/>
                </a:lnTo>
                <a:cubicBezTo>
                  <a:pt x="124004" y="218599"/>
                  <a:pt x="112157" y="210086"/>
                  <a:pt x="100608" y="194429"/>
                </a:cubicBezTo>
                <a:cubicBezTo>
                  <a:pt x="89654" y="191572"/>
                  <a:pt x="77748" y="187226"/>
                  <a:pt x="66139" y="180677"/>
                </a:cubicBezTo>
                <a:cubicBezTo>
                  <a:pt x="33933" y="162639"/>
                  <a:pt x="4882" y="128647"/>
                  <a:pt x="714" y="67627"/>
                </a:cubicBezTo>
                <a:cubicBezTo>
                  <a:pt x="-417" y="50899"/>
                  <a:pt x="13216" y="38040"/>
                  <a:pt x="28754" y="38040"/>
                </a:cubicBezTo>
                <a:lnTo>
                  <a:pt x="58281" y="38040"/>
                </a:lnTo>
                <a:cubicBezTo>
                  <a:pt x="58103" y="34945"/>
                  <a:pt x="57983" y="31849"/>
                  <a:pt x="57864" y="28635"/>
                </a:cubicBezTo>
                <a:cubicBezTo>
                  <a:pt x="57269" y="12859"/>
                  <a:pt x="70128" y="-60"/>
                  <a:pt x="85904" y="-60"/>
                </a:cubicBezTo>
                <a:close/>
                <a:moveTo>
                  <a:pt x="60424" y="66675"/>
                </a:moveTo>
                <a:lnTo>
                  <a:pt x="29230" y="66675"/>
                </a:lnTo>
                <a:cubicBezTo>
                  <a:pt x="32921" y="117098"/>
                  <a:pt x="56078" y="142339"/>
                  <a:pt x="79950" y="155734"/>
                </a:cubicBezTo>
                <a:cubicBezTo>
                  <a:pt x="71378" y="133529"/>
                  <a:pt x="64294" y="104537"/>
                  <a:pt x="60424" y="66675"/>
                </a:cubicBezTo>
                <a:close/>
                <a:moveTo>
                  <a:pt x="226219" y="152876"/>
                </a:moveTo>
                <a:cubicBezTo>
                  <a:pt x="250329" y="138708"/>
                  <a:pt x="272117" y="113526"/>
                  <a:pt x="275808" y="66675"/>
                </a:cubicBezTo>
                <a:lnTo>
                  <a:pt x="244673" y="66675"/>
                </a:lnTo>
                <a:cubicBezTo>
                  <a:pt x="240983" y="102930"/>
                  <a:pt x="234315" y="131088"/>
                  <a:pt x="226219" y="152876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1320800" y="5613400"/>
            <a:ext cx="14312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核心价值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320800" y="6070600"/>
            <a:ext cx="14300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Table Format 通过</a:t>
            </a:r>
            <a:r>
              <a:rPr lang="en-US" sz="16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显式追踪、元数据管理、智能过滤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等机制，在对象存储之上构建了</a:t>
            </a:r>
            <a:r>
              <a:rPr lang="en-US" sz="16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具备数据库级别能力的数据表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。它既保留了对象存储的低成本和高可用，又提供了 ACID 事务、快照隔离和高性能查询等企业级特性，是实现 Lakehouse 架构的关键技术基石。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4.ftcdn.net/27b3ff25ceec35b7e829bf189de1611880e01a03.jpg"/>
          <p:cNvPicPr>
            <a:picLocks noChangeAspect="1"/>
          </p:cNvPicPr>
          <p:nvPr/>
        </p:nvPicPr>
        <p:blipFill>
          <a:blip r:embed="rId3">
            <a:alphaModFix amt="40000"/>
          </a:blip>
          <a:srcRect l="21556" r="21556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343A40">
                  <a:alpha val="90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7518400" y="8509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4772620" y="1308100"/>
            <a:ext cx="6705600" cy="223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80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深入理解</a:t>
            </a:r>
            <a:endParaRPr lang="en-US" sz="1600" dirty="0"/>
          </a:p>
          <a:p>
            <a:pPr algn="ctr">
              <a:lnSpc>
                <a:spcPct val="90000"/>
              </a:lnSpc>
            </a:pPr>
            <a:r>
              <a:rPr lang="en-US" sz="80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Table Format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518400" y="38481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3483372" y="4711700"/>
            <a:ext cx="9283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掌握 Table Format，就掌握了 Lakehouse 的核心奥秘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148858" y="5683250"/>
            <a:ext cx="1701800" cy="1841500"/>
          </a:xfrm>
          <a:custGeom>
            <a:avLst/>
            <a:gdLst/>
            <a:ahLst/>
            <a:cxnLst/>
            <a:rect l="l" t="t" r="r" b="b"/>
            <a:pathLst>
              <a:path w="1701800" h="1841500">
                <a:moveTo>
                  <a:pt x="0" y="0"/>
                </a:moveTo>
                <a:lnTo>
                  <a:pt x="1701800" y="0"/>
                </a:lnTo>
                <a:lnTo>
                  <a:pt x="1701800" y="1841500"/>
                </a:lnTo>
                <a:lnTo>
                  <a:pt x="0" y="1841500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40000"/>
            </a:srgbClr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5802114" y="59436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400050" y="183773"/>
                </a:moveTo>
                <a:cubicBezTo>
                  <a:pt x="386834" y="192524"/>
                  <a:pt x="371654" y="199579"/>
                  <a:pt x="355848" y="205204"/>
                </a:cubicBezTo>
                <a:cubicBezTo>
                  <a:pt x="313879" y="220206"/>
                  <a:pt x="258782" y="228600"/>
                  <a:pt x="200025" y="228600"/>
                </a:cubicBezTo>
                <a:cubicBezTo>
                  <a:pt x="141268" y="228600"/>
                  <a:pt x="86082" y="220117"/>
                  <a:pt x="44202" y="205204"/>
                </a:cubicBezTo>
                <a:cubicBezTo>
                  <a:pt x="28486" y="199579"/>
                  <a:pt x="13216" y="192524"/>
                  <a:pt x="0" y="183773"/>
                </a:cubicBezTo>
                <a:lnTo>
                  <a:pt x="0" y="257175"/>
                </a:lnTo>
                <a:cubicBezTo>
                  <a:pt x="0" y="296644"/>
                  <a:pt x="89565" y="328613"/>
                  <a:pt x="200025" y="328613"/>
                </a:cubicBezTo>
                <a:cubicBezTo>
                  <a:pt x="310485" y="328613"/>
                  <a:pt x="400050" y="296644"/>
                  <a:pt x="400050" y="257175"/>
                </a:cubicBezTo>
                <a:lnTo>
                  <a:pt x="400050" y="183773"/>
                </a:lnTo>
                <a:close/>
                <a:moveTo>
                  <a:pt x="400050" y="114300"/>
                </a:moveTo>
                <a:lnTo>
                  <a:pt x="400050" y="71438"/>
                </a:lnTo>
                <a:cubicBezTo>
                  <a:pt x="400050" y="31968"/>
                  <a:pt x="310485" y="0"/>
                  <a:pt x="200025" y="0"/>
                </a:cubicBezTo>
                <a:cubicBezTo>
                  <a:pt x="89565" y="0"/>
                  <a:pt x="0" y="31968"/>
                  <a:pt x="0" y="71438"/>
                </a:cubicBezTo>
                <a:lnTo>
                  <a:pt x="0" y="114300"/>
                </a:lnTo>
                <a:cubicBezTo>
                  <a:pt x="0" y="153769"/>
                  <a:pt x="89565" y="185738"/>
                  <a:pt x="200025" y="185738"/>
                </a:cubicBezTo>
                <a:cubicBezTo>
                  <a:pt x="310485" y="185738"/>
                  <a:pt x="400050" y="153769"/>
                  <a:pt x="400050" y="114300"/>
                </a:cubicBezTo>
                <a:close/>
                <a:moveTo>
                  <a:pt x="355848" y="348079"/>
                </a:moveTo>
                <a:cubicBezTo>
                  <a:pt x="313968" y="362992"/>
                  <a:pt x="258872" y="371475"/>
                  <a:pt x="200025" y="371475"/>
                </a:cubicBezTo>
                <a:cubicBezTo>
                  <a:pt x="141178" y="371475"/>
                  <a:pt x="86082" y="362992"/>
                  <a:pt x="44202" y="348079"/>
                </a:cubicBezTo>
                <a:cubicBezTo>
                  <a:pt x="28486" y="342454"/>
                  <a:pt x="13216" y="335399"/>
                  <a:pt x="0" y="326648"/>
                </a:cubicBezTo>
                <a:lnTo>
                  <a:pt x="0" y="385763"/>
                </a:lnTo>
                <a:cubicBezTo>
                  <a:pt x="0" y="425232"/>
                  <a:pt x="89565" y="457200"/>
                  <a:pt x="200025" y="457200"/>
                </a:cubicBezTo>
                <a:cubicBezTo>
                  <a:pt x="310485" y="457200"/>
                  <a:pt x="400050" y="425232"/>
                  <a:pt x="400050" y="385763"/>
                </a:cubicBezTo>
                <a:lnTo>
                  <a:pt x="400050" y="326648"/>
                </a:lnTo>
                <a:cubicBezTo>
                  <a:pt x="386834" y="335399"/>
                  <a:pt x="371654" y="342454"/>
                  <a:pt x="355848" y="348079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5352058" y="6553200"/>
            <a:ext cx="1295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ACID 保证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364758" y="70104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事务与一致性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274620" y="5683250"/>
            <a:ext cx="1701800" cy="1841500"/>
          </a:xfrm>
          <a:custGeom>
            <a:avLst/>
            <a:gdLst/>
            <a:ahLst/>
            <a:cxnLst/>
            <a:rect l="l" t="t" r="r" b="b"/>
            <a:pathLst>
              <a:path w="1701800" h="1841500">
                <a:moveTo>
                  <a:pt x="0" y="0"/>
                </a:moveTo>
                <a:lnTo>
                  <a:pt x="1701800" y="0"/>
                </a:lnTo>
                <a:lnTo>
                  <a:pt x="1701800" y="1841500"/>
                </a:lnTo>
                <a:lnTo>
                  <a:pt x="0" y="1841500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40000"/>
            </a:srgbClr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0"/>
          <p:cNvSpPr/>
          <p:nvPr/>
        </p:nvSpPr>
        <p:spPr>
          <a:xfrm>
            <a:off x="7899301" y="5943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cubicBezTo>
                  <a:pt x="0" y="102432"/>
                  <a:pt x="102432" y="0"/>
                  <a:pt x="228600" y="0"/>
                </a:cubicBez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lose/>
                <a:moveTo>
                  <a:pt x="257175" y="85725"/>
                </a:moveTo>
                <a:cubicBezTo>
                  <a:pt x="257175" y="69954"/>
                  <a:pt x="244371" y="57150"/>
                  <a:pt x="228600" y="57150"/>
                </a:cubicBezTo>
                <a:cubicBezTo>
                  <a:pt x="212829" y="57150"/>
                  <a:pt x="200025" y="69954"/>
                  <a:pt x="200025" y="85725"/>
                </a:cubicBezTo>
                <a:cubicBezTo>
                  <a:pt x="200025" y="101496"/>
                  <a:pt x="212829" y="114300"/>
                  <a:pt x="228600" y="114300"/>
                </a:cubicBezTo>
                <a:cubicBezTo>
                  <a:pt x="244371" y="114300"/>
                  <a:pt x="257175" y="101496"/>
                  <a:pt x="257175" y="85725"/>
                </a:cubicBezTo>
                <a:close/>
                <a:moveTo>
                  <a:pt x="228600" y="371475"/>
                </a:moveTo>
                <a:cubicBezTo>
                  <a:pt x="260122" y="371475"/>
                  <a:pt x="285750" y="345847"/>
                  <a:pt x="285750" y="314325"/>
                </a:cubicBezTo>
                <a:cubicBezTo>
                  <a:pt x="285750" y="299859"/>
                  <a:pt x="280392" y="286554"/>
                  <a:pt x="271463" y="276552"/>
                </a:cubicBezTo>
                <a:lnTo>
                  <a:pt x="333524" y="152519"/>
                </a:lnTo>
                <a:cubicBezTo>
                  <a:pt x="338792" y="141893"/>
                  <a:pt x="334506" y="129034"/>
                  <a:pt x="323969" y="123765"/>
                </a:cubicBezTo>
                <a:cubicBezTo>
                  <a:pt x="313432" y="118497"/>
                  <a:pt x="300484" y="122783"/>
                  <a:pt x="295215" y="133320"/>
                </a:cubicBezTo>
                <a:lnTo>
                  <a:pt x="233154" y="257354"/>
                </a:lnTo>
                <a:cubicBezTo>
                  <a:pt x="231636" y="257264"/>
                  <a:pt x="230118" y="257175"/>
                  <a:pt x="228600" y="257175"/>
                </a:cubicBezTo>
                <a:cubicBezTo>
                  <a:pt x="197078" y="257175"/>
                  <a:pt x="171450" y="282803"/>
                  <a:pt x="171450" y="314325"/>
                </a:cubicBezTo>
                <a:cubicBezTo>
                  <a:pt x="171450" y="345847"/>
                  <a:pt x="197078" y="371475"/>
                  <a:pt x="228600" y="371475"/>
                </a:cubicBezTo>
                <a:close/>
                <a:moveTo>
                  <a:pt x="157163" y="128588"/>
                </a:moveTo>
                <a:cubicBezTo>
                  <a:pt x="157163" y="112817"/>
                  <a:pt x="144358" y="100013"/>
                  <a:pt x="128588" y="100013"/>
                </a:cubicBezTo>
                <a:cubicBezTo>
                  <a:pt x="112817" y="100013"/>
                  <a:pt x="100013" y="112817"/>
                  <a:pt x="100013" y="128588"/>
                </a:cubicBezTo>
                <a:cubicBezTo>
                  <a:pt x="100013" y="144358"/>
                  <a:pt x="112817" y="157163"/>
                  <a:pt x="128588" y="157163"/>
                </a:cubicBezTo>
                <a:cubicBezTo>
                  <a:pt x="144358" y="157163"/>
                  <a:pt x="157163" y="144358"/>
                  <a:pt x="157163" y="128588"/>
                </a:cubicBezTo>
                <a:close/>
                <a:moveTo>
                  <a:pt x="85725" y="257175"/>
                </a:moveTo>
                <a:cubicBezTo>
                  <a:pt x="101496" y="257175"/>
                  <a:pt x="114300" y="244371"/>
                  <a:pt x="114300" y="228600"/>
                </a:cubicBezTo>
                <a:cubicBezTo>
                  <a:pt x="114300" y="212829"/>
                  <a:pt x="101496" y="200025"/>
                  <a:pt x="85725" y="200025"/>
                </a:cubicBezTo>
                <a:cubicBezTo>
                  <a:pt x="69954" y="200025"/>
                  <a:pt x="57150" y="212829"/>
                  <a:pt x="57150" y="228600"/>
                </a:cubicBezTo>
                <a:cubicBezTo>
                  <a:pt x="57150" y="244371"/>
                  <a:pt x="69954" y="257175"/>
                  <a:pt x="85725" y="257175"/>
                </a:cubicBezTo>
                <a:close/>
                <a:moveTo>
                  <a:pt x="400050" y="228600"/>
                </a:moveTo>
                <a:cubicBezTo>
                  <a:pt x="400050" y="212829"/>
                  <a:pt x="387246" y="200025"/>
                  <a:pt x="371475" y="200025"/>
                </a:cubicBezTo>
                <a:cubicBezTo>
                  <a:pt x="355704" y="200025"/>
                  <a:pt x="342900" y="212829"/>
                  <a:pt x="342900" y="228600"/>
                </a:cubicBezTo>
                <a:cubicBezTo>
                  <a:pt x="342900" y="244371"/>
                  <a:pt x="355704" y="257175"/>
                  <a:pt x="371475" y="257175"/>
                </a:cubicBezTo>
                <a:cubicBezTo>
                  <a:pt x="387246" y="257175"/>
                  <a:pt x="400050" y="244371"/>
                  <a:pt x="400050" y="22860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7477820" y="6553200"/>
            <a:ext cx="1295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高性能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490520" y="70104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智能过滤优化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9400381" y="5683250"/>
            <a:ext cx="1701800" cy="1841500"/>
          </a:xfrm>
          <a:custGeom>
            <a:avLst/>
            <a:gdLst/>
            <a:ahLst/>
            <a:cxnLst/>
            <a:rect l="l" t="t" r="r" b="b"/>
            <a:pathLst>
              <a:path w="1701800" h="1841500">
                <a:moveTo>
                  <a:pt x="0" y="0"/>
                </a:moveTo>
                <a:lnTo>
                  <a:pt x="1701800" y="0"/>
                </a:lnTo>
                <a:lnTo>
                  <a:pt x="1701800" y="1841500"/>
                </a:lnTo>
                <a:lnTo>
                  <a:pt x="0" y="1841500"/>
                </a:lnTo>
                <a:lnTo>
                  <a:pt x="0" y="0"/>
                </a:lnTo>
                <a:close/>
              </a:path>
            </a:pathLst>
          </a:custGeom>
          <a:solidFill>
            <a:srgbClr val="343A40">
              <a:alpha val="40000"/>
            </a:srgbClr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4"/>
          <p:cNvSpPr/>
          <p:nvPr/>
        </p:nvSpPr>
        <p:spPr>
          <a:xfrm>
            <a:off x="10025063" y="5943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07615" y="4643"/>
                </a:moveTo>
                <a:cubicBezTo>
                  <a:pt x="220920" y="-1518"/>
                  <a:pt x="236280" y="-1518"/>
                  <a:pt x="249585" y="4643"/>
                </a:cubicBezTo>
                <a:lnTo>
                  <a:pt x="444788" y="94833"/>
                </a:lnTo>
                <a:cubicBezTo>
                  <a:pt x="452378" y="98316"/>
                  <a:pt x="457200" y="105906"/>
                  <a:pt x="457200" y="114300"/>
                </a:cubicBezTo>
                <a:cubicBezTo>
                  <a:pt x="457200" y="122694"/>
                  <a:pt x="452378" y="130284"/>
                  <a:pt x="444788" y="133767"/>
                </a:cubicBezTo>
                <a:lnTo>
                  <a:pt x="249585" y="223957"/>
                </a:lnTo>
                <a:cubicBezTo>
                  <a:pt x="236280" y="230118"/>
                  <a:pt x="220920" y="230118"/>
                  <a:pt x="207615" y="223957"/>
                </a:cubicBezTo>
                <a:lnTo>
                  <a:pt x="12412" y="133767"/>
                </a:lnTo>
                <a:cubicBezTo>
                  <a:pt x="4822" y="130195"/>
                  <a:pt x="0" y="122605"/>
                  <a:pt x="0" y="114300"/>
                </a:cubicBezTo>
                <a:cubicBezTo>
                  <a:pt x="0" y="105995"/>
                  <a:pt x="4822" y="98316"/>
                  <a:pt x="12412" y="94833"/>
                </a:cubicBezTo>
                <a:lnTo>
                  <a:pt x="207615" y="4643"/>
                </a:lnTo>
                <a:close/>
                <a:moveTo>
                  <a:pt x="42952" y="195024"/>
                </a:moveTo>
                <a:lnTo>
                  <a:pt x="189667" y="262801"/>
                </a:lnTo>
                <a:cubicBezTo>
                  <a:pt x="214402" y="274231"/>
                  <a:pt x="242888" y="274231"/>
                  <a:pt x="267623" y="262801"/>
                </a:cubicBezTo>
                <a:lnTo>
                  <a:pt x="414338" y="195024"/>
                </a:lnTo>
                <a:lnTo>
                  <a:pt x="444788" y="209133"/>
                </a:lnTo>
                <a:cubicBezTo>
                  <a:pt x="452378" y="212616"/>
                  <a:pt x="457200" y="220206"/>
                  <a:pt x="457200" y="228600"/>
                </a:cubicBezTo>
                <a:cubicBezTo>
                  <a:pt x="457200" y="236994"/>
                  <a:pt x="452378" y="244584"/>
                  <a:pt x="444788" y="248067"/>
                </a:cubicBezTo>
                <a:lnTo>
                  <a:pt x="249585" y="338257"/>
                </a:lnTo>
                <a:cubicBezTo>
                  <a:pt x="236280" y="344418"/>
                  <a:pt x="220920" y="344418"/>
                  <a:pt x="207615" y="338257"/>
                </a:cubicBezTo>
                <a:lnTo>
                  <a:pt x="12412" y="248067"/>
                </a:lnTo>
                <a:cubicBezTo>
                  <a:pt x="4822" y="244495"/>
                  <a:pt x="0" y="236905"/>
                  <a:pt x="0" y="228600"/>
                </a:cubicBezTo>
                <a:cubicBezTo>
                  <a:pt x="0" y="220295"/>
                  <a:pt x="4822" y="212616"/>
                  <a:pt x="12412" y="209133"/>
                </a:cubicBezTo>
                <a:lnTo>
                  <a:pt x="42863" y="195024"/>
                </a:lnTo>
                <a:close/>
                <a:moveTo>
                  <a:pt x="12412" y="323433"/>
                </a:moveTo>
                <a:lnTo>
                  <a:pt x="42863" y="309324"/>
                </a:lnTo>
                <a:lnTo>
                  <a:pt x="189577" y="377101"/>
                </a:lnTo>
                <a:cubicBezTo>
                  <a:pt x="214313" y="388531"/>
                  <a:pt x="242798" y="388531"/>
                  <a:pt x="267533" y="377101"/>
                </a:cubicBezTo>
                <a:lnTo>
                  <a:pt x="414248" y="309324"/>
                </a:lnTo>
                <a:lnTo>
                  <a:pt x="444698" y="323433"/>
                </a:lnTo>
                <a:cubicBezTo>
                  <a:pt x="452289" y="326916"/>
                  <a:pt x="457111" y="334506"/>
                  <a:pt x="457111" y="342900"/>
                </a:cubicBezTo>
                <a:cubicBezTo>
                  <a:pt x="457111" y="351294"/>
                  <a:pt x="452289" y="358884"/>
                  <a:pt x="444698" y="362367"/>
                </a:cubicBezTo>
                <a:lnTo>
                  <a:pt x="249495" y="452557"/>
                </a:lnTo>
                <a:cubicBezTo>
                  <a:pt x="236190" y="458718"/>
                  <a:pt x="220831" y="458718"/>
                  <a:pt x="207526" y="452557"/>
                </a:cubicBezTo>
                <a:lnTo>
                  <a:pt x="12412" y="362367"/>
                </a:lnTo>
                <a:cubicBezTo>
                  <a:pt x="4822" y="358795"/>
                  <a:pt x="0" y="351205"/>
                  <a:pt x="0" y="342900"/>
                </a:cubicBezTo>
                <a:cubicBezTo>
                  <a:pt x="0" y="334595"/>
                  <a:pt x="4822" y="326916"/>
                  <a:pt x="12412" y="323433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9603581" y="6553200"/>
            <a:ext cx="1295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企业级特性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616281" y="70104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Time Travel 等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2060</Words>
  <Application>Microsoft Macintosh PowerPoint</Application>
  <PresentationFormat>自定义</PresentationFormat>
  <Paragraphs>514</Paragraphs>
  <Slides>28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3" baseType="lpstr">
      <vt:lpstr>Arial</vt:lpstr>
      <vt:lpstr>MiSans</vt:lpstr>
      <vt:lpstr>Liter</vt:lpstr>
      <vt:lpstr>微软雅黑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Table_Format技术详解</dc:title>
  <dc:subject>Table_Format技术详解</dc:subject>
  <dc:creator>Kimi</dc:creator>
  <cp:lastModifiedBy>王 天青</cp:lastModifiedBy>
  <cp:revision>3</cp:revision>
  <dcterms:created xsi:type="dcterms:W3CDTF">2025-12-19T01:44:12Z</dcterms:created>
  <dcterms:modified xsi:type="dcterms:W3CDTF">2025-12-19T08:51:14Z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{"Label":"Table_Format技术详解","ContentProducer":"001191110108MACG2KBH8F10000","ProduceID":"19b343bd-b522-8bd2-8000-00007f0f44df","ReservedCode1":"","ContentPropagator":"001191110108MACG2KBH8F20000","PropagateID":"19b343bd-b522-8bd2-8000-00007f0f44df","ReservedCode2":""}</vt:lpwstr>
  </property>
</Properties>
</file>