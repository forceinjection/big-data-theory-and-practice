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6256000" cy="9144000"/>
  <p:notesSz cx="9144000" cy="16256000"/>
  <p:embeddedFontLst>
    <p:embeddedFont>
      <p:font typeface="KaiTi" panose="02010609060101010101" pitchFamily="49" charset="-122"/>
      <p:regular r:id="rId33"/>
    </p:embeddedFont>
    <p:embeddedFont>
      <p:font typeface="微软雅黑" panose="020B0503020204020204" pitchFamily="34" charset="-122"/>
      <p:regular r:id="rId34"/>
      <p:bold r:id="rId35"/>
    </p:embeddedFont>
    <p:embeddedFont>
      <p:font typeface="MiSans" pitchFamily="2" charset="-122"/>
      <p:regular r:id="rId36"/>
    </p:embeddedFont>
    <p:embeddedFont>
      <p:font typeface="Liter" panose="02000503030000020004" pitchFamily="2" charset="0"/>
      <p:regular r:id="rId37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3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48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5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5777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e82f2d9a32e37d2699a39be4c95586f4d7d9a81f.jpg"/>
          <p:cNvPicPr>
            <a:picLocks noChangeAspect="1"/>
          </p:cNvPicPr>
          <p:nvPr/>
        </p:nvPicPr>
        <p:blipFill>
          <a:blip r:embed="rId3">
            <a:alphaModFix amt="40000"/>
          </a:blip>
          <a:srcRect t="21875" b="21875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D8B8B">
                  <a:alpha val="2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14350" y="1485900"/>
            <a:ext cx="2324100" cy="533400"/>
          </a:xfrm>
          <a:custGeom>
            <a:avLst/>
            <a:gdLst/>
            <a:ahLst/>
            <a:cxnLst/>
            <a:rect l="l" t="t" r="r" b="b"/>
            <a:pathLst>
              <a:path w="2324100" h="533400">
                <a:moveTo>
                  <a:pt x="50801" y="0"/>
                </a:moveTo>
                <a:lnTo>
                  <a:pt x="2273299" y="0"/>
                </a:lnTo>
                <a:cubicBezTo>
                  <a:pt x="2301356" y="0"/>
                  <a:pt x="2324100" y="22744"/>
                  <a:pt x="2324100" y="50801"/>
                </a:cubicBezTo>
                <a:lnTo>
                  <a:pt x="2324100" y="482599"/>
                </a:lnTo>
                <a:cubicBezTo>
                  <a:pt x="2324100" y="510656"/>
                  <a:pt x="2301356" y="533400"/>
                  <a:pt x="2273299" y="533400"/>
                </a:cubicBezTo>
                <a:lnTo>
                  <a:pt x="50801" y="533400"/>
                </a:lnTo>
                <a:cubicBezTo>
                  <a:pt x="22744" y="533400"/>
                  <a:pt x="0" y="510656"/>
                  <a:pt x="0" y="482599"/>
                </a:cubicBezTo>
                <a:lnTo>
                  <a:pt x="0" y="50801"/>
                </a:lnTo>
                <a:cubicBezTo>
                  <a:pt x="0" y="22763"/>
                  <a:pt x="22763" y="0"/>
                  <a:pt x="50801" y="0"/>
                </a:cubicBezTo>
                <a:close/>
              </a:path>
            </a:pathLst>
          </a:custGeom>
          <a:solidFill>
            <a:srgbClr val="3D8B8B">
              <a:alpha val="2000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723900" y="1612900"/>
            <a:ext cx="20096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kern="0" spc="80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APACHE PARQUET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08000" y="2330450"/>
            <a:ext cx="15697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Parquet 文件格式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sz="72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深入解析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4"/>
          <p:cNvSpPr/>
          <p:nvPr/>
        </p:nvSpPr>
        <p:spPr>
          <a:xfrm>
            <a:off x="508000" y="4921250"/>
            <a:ext cx="15430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000" b="1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列式存储的核心技术与实现机制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33400" y="5988050"/>
            <a:ext cx="4889500" cy="1422400"/>
          </a:xfrm>
          <a:custGeom>
            <a:avLst/>
            <a:gdLst/>
            <a:ahLst/>
            <a:cxnLst/>
            <a:rect l="l" t="t" r="r" b="b"/>
            <a:pathLst>
              <a:path w="4889500" h="1422400">
                <a:moveTo>
                  <a:pt x="0" y="0"/>
                </a:moveTo>
                <a:lnTo>
                  <a:pt x="4889500" y="0"/>
                </a:lnTo>
                <a:lnTo>
                  <a:pt x="4889500" y="1422400"/>
                </a:lnTo>
                <a:lnTo>
                  <a:pt x="0" y="14224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Shape 6"/>
          <p:cNvSpPr/>
          <p:nvPr/>
        </p:nvSpPr>
        <p:spPr>
          <a:xfrm>
            <a:off x="533400" y="598805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0" y="14224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62000" y="6191250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2000" y="6496050"/>
            <a:ext cx="457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高效压缩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2000" y="6902450"/>
            <a:ext cx="455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5-10:1 压缩比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98034" y="5988050"/>
            <a:ext cx="4889500" cy="1422400"/>
          </a:xfrm>
          <a:custGeom>
            <a:avLst/>
            <a:gdLst/>
            <a:ahLst/>
            <a:cxnLst/>
            <a:rect l="l" t="t" r="r" b="b"/>
            <a:pathLst>
              <a:path w="4889500" h="1422400">
                <a:moveTo>
                  <a:pt x="0" y="0"/>
                </a:moveTo>
                <a:lnTo>
                  <a:pt x="4889500" y="0"/>
                </a:lnTo>
                <a:lnTo>
                  <a:pt x="4889500" y="1422400"/>
                </a:lnTo>
                <a:lnTo>
                  <a:pt x="0" y="14224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5698034" y="598805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0" y="14224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5926634" y="6191250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26634" y="6496050"/>
            <a:ext cx="457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查询加速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26634" y="6902450"/>
            <a:ext cx="455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5-10倍性能提升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862667" y="5988050"/>
            <a:ext cx="4889500" cy="1422400"/>
          </a:xfrm>
          <a:custGeom>
            <a:avLst/>
            <a:gdLst/>
            <a:ahLst/>
            <a:cxnLst/>
            <a:rect l="l" t="t" r="r" b="b"/>
            <a:pathLst>
              <a:path w="4889500" h="1422400">
                <a:moveTo>
                  <a:pt x="0" y="0"/>
                </a:moveTo>
                <a:lnTo>
                  <a:pt x="4889500" y="0"/>
                </a:lnTo>
                <a:lnTo>
                  <a:pt x="4889500" y="1422400"/>
                </a:lnTo>
                <a:lnTo>
                  <a:pt x="0" y="14224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10862667" y="5988050"/>
            <a:ext cx="50800" cy="1422400"/>
          </a:xfrm>
          <a:custGeom>
            <a:avLst/>
            <a:gdLst/>
            <a:ahLst/>
            <a:cxnLst/>
            <a:rect l="l" t="t" r="r" b="b"/>
            <a:pathLst>
              <a:path w="50800" h="1422400">
                <a:moveTo>
                  <a:pt x="0" y="0"/>
                </a:moveTo>
                <a:lnTo>
                  <a:pt x="50800" y="0"/>
                </a:lnTo>
                <a:lnTo>
                  <a:pt x="50800" y="1422400"/>
                </a:lnTo>
                <a:lnTo>
                  <a:pt x="0" y="14224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11091267" y="6191250"/>
            <a:ext cx="4546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FLEXIBILITY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1091267" y="6496050"/>
            <a:ext cx="4572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嵌套数据支持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1091267" y="6902450"/>
            <a:ext cx="455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复杂结构原生存储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08000" y="8382000"/>
            <a:ext cx="2946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5A63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Columnar Storage Format Deep Dive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5325527" y="8382000"/>
            <a:ext cx="508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5A637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2025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000" y="508000"/>
            <a:ext cx="155448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4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目录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08000" y="1270000"/>
            <a:ext cx="1219200" cy="50800"/>
          </a:xfrm>
          <a:custGeom>
            <a:avLst/>
            <a:gdLst/>
            <a:ahLst/>
            <a:cxnLst/>
            <a:rect l="l" t="t" r="r" b="b"/>
            <a:pathLst>
              <a:path w="1219200" h="50800">
                <a:moveTo>
                  <a:pt x="0" y="0"/>
                </a:moveTo>
                <a:lnTo>
                  <a:pt x="1219200" y="0"/>
                </a:lnTo>
                <a:lnTo>
                  <a:pt x="1219200" y="50800"/>
                </a:ln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2"/>
          <p:cNvSpPr/>
          <p:nvPr/>
        </p:nvSpPr>
        <p:spPr>
          <a:xfrm>
            <a:off x="508000" y="3505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412750" y="3505200"/>
            <a:ext cx="10033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01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Text 4"/>
          <p:cNvSpPr/>
          <p:nvPr/>
        </p:nvSpPr>
        <p:spPr>
          <a:xfrm>
            <a:off x="1574800" y="3505200"/>
            <a:ext cx="434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列式存储与Parquet概述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Text 5"/>
          <p:cNvSpPr/>
          <p:nvPr/>
        </p:nvSpPr>
        <p:spPr>
          <a:xfrm>
            <a:off x="1574800" y="4013200"/>
            <a:ext cx="429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理解Parquet的诞生背景、核心优势及设计哲学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32800" y="35052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8337550" y="3505200"/>
            <a:ext cx="10033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02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499600" y="3505200"/>
            <a:ext cx="46101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Parquet核心概念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499600" y="4013200"/>
            <a:ext cx="4559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深入理解Dremel论文的影响及Parquet的技术基础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8000" y="4826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12750" y="4826000"/>
            <a:ext cx="10033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03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574800" y="4826000"/>
            <a:ext cx="393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文件结构深度解析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574800" y="5334000"/>
            <a:ext cx="3886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掌握Parquet的四层存储架构与二进制格式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432800" y="48260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337550" y="4826000"/>
            <a:ext cx="10033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04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9499599" y="4826000"/>
            <a:ext cx="5688013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Repetition Level与Definition Level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499600" y="5334000"/>
            <a:ext cx="5168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理解Parquet处理嵌套数据结构的核心机制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8000" y="6146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412750" y="6146800"/>
            <a:ext cx="10033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05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574800" y="6146800"/>
            <a:ext cx="4343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高级特性与优化技术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574800" y="6654800"/>
            <a:ext cx="4292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掌握Parquet的编码技术、压缩算法与查询优化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432800" y="6146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8337550" y="6146800"/>
            <a:ext cx="10033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06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499600" y="6146800"/>
            <a:ext cx="33274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总结与应用展望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499600" y="6654800"/>
            <a:ext cx="3276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Parquet的技术价值与未来发展方向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3.ftcdn.net/028aa929ccb79407101e234922d5de3d14357759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14444" r="1444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3D8B8B">
                  <a:alpha val="10000"/>
                </a:srgbClr>
              </a:gs>
              <a:gs pos="100000">
                <a:srgbClr val="1A1D21">
                  <a:alpha val="9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1752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93700" y="1752600"/>
            <a:ext cx="1244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27200" y="18542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3175000"/>
            <a:ext cx="6667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列式存储与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Parquet概述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8000" y="5384800"/>
            <a:ext cx="6438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理解Parquet的诞生背景、核心优势及设计哲学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6305550"/>
            <a:ext cx="1943100" cy="1079500"/>
          </a:xfrm>
          <a:custGeom>
            <a:avLst/>
            <a:gdLst/>
            <a:ahLst/>
            <a:cxnLst/>
            <a:rect l="l" t="t" r="r" b="b"/>
            <a:pathLst>
              <a:path w="1943100" h="1079500">
                <a:moveTo>
                  <a:pt x="0" y="0"/>
                </a:moveTo>
                <a:lnTo>
                  <a:pt x="1943100" y="0"/>
                </a:lnTo>
                <a:lnTo>
                  <a:pt x="19431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23900" y="651510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BACKGROUND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3900" y="68707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诞生背景与发展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75830" y="6305550"/>
            <a:ext cx="1943100" cy="1079500"/>
          </a:xfrm>
          <a:custGeom>
            <a:avLst/>
            <a:gdLst/>
            <a:ahLst/>
            <a:cxnLst/>
            <a:rect l="l" t="t" r="r" b="b"/>
            <a:pathLst>
              <a:path w="1943100" h="1079500">
                <a:moveTo>
                  <a:pt x="0" y="0"/>
                </a:moveTo>
                <a:lnTo>
                  <a:pt x="1943100" y="0"/>
                </a:lnTo>
                <a:lnTo>
                  <a:pt x="19431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2885380" y="651510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85380" y="68707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行式vs列式存储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837311" y="6305550"/>
            <a:ext cx="1943100" cy="1079500"/>
          </a:xfrm>
          <a:custGeom>
            <a:avLst/>
            <a:gdLst/>
            <a:ahLst/>
            <a:cxnLst/>
            <a:rect l="l" t="t" r="r" b="b"/>
            <a:pathLst>
              <a:path w="1943100" h="1079500">
                <a:moveTo>
                  <a:pt x="0" y="0"/>
                </a:moveTo>
                <a:lnTo>
                  <a:pt x="1943100" y="0"/>
                </a:lnTo>
                <a:lnTo>
                  <a:pt x="19431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046861" y="651510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46861" y="68707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核心优势解析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58800"/>
            <a:ext cx="7950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为什么需要Parquet？传统存储的挑战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33400" y="1422400"/>
            <a:ext cx="4889500" cy="3352800"/>
          </a:xfrm>
          <a:custGeom>
            <a:avLst/>
            <a:gdLst/>
            <a:ahLst/>
            <a:cxnLst/>
            <a:rect l="l" t="t" r="r" b="b"/>
            <a:pathLst>
              <a:path w="4889500" h="3352800">
                <a:moveTo>
                  <a:pt x="0" y="0"/>
                </a:moveTo>
                <a:lnTo>
                  <a:pt x="4889500" y="0"/>
                </a:lnTo>
                <a:lnTo>
                  <a:pt x="48895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533400" y="14224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69950" y="17018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346200" y="16764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存储成本高昂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2800" y="22352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冗余数据读取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2800" y="25908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查询2列仍需读取全部50列，冗余读取</a:t>
            </a: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85%+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0480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压缩效率低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34036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行式压缩比仅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2-4倍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，列式可达</a:t>
            </a:r>
            <a:r>
              <a:rPr lang="en-US" sz="1600" b="1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5-15倍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98034" y="1422400"/>
            <a:ext cx="4889500" cy="3352800"/>
          </a:xfrm>
          <a:custGeom>
            <a:avLst/>
            <a:gdLst/>
            <a:ahLst/>
            <a:cxnLst/>
            <a:rect l="l" t="t" r="r" b="b"/>
            <a:pathLst>
              <a:path w="4889500" h="3352800">
                <a:moveTo>
                  <a:pt x="0" y="0"/>
                </a:moveTo>
                <a:lnTo>
                  <a:pt x="4889500" y="0"/>
                </a:lnTo>
                <a:lnTo>
                  <a:pt x="48895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5698034" y="14224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015534" y="17018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0" y="152400"/>
                </a:moveTo>
                <a:cubicBezTo>
                  <a:pt x="0" y="68288"/>
                  <a:pt x="68288" y="0"/>
                  <a:pt x="152400" y="0"/>
                </a:cubicBez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lose/>
                <a:moveTo>
                  <a:pt x="171450" y="57150"/>
                </a:moveTo>
                <a:cubicBezTo>
                  <a:pt x="171450" y="46636"/>
                  <a:pt x="162914" y="38100"/>
                  <a:pt x="152400" y="38100"/>
                </a:cubicBezTo>
                <a:cubicBezTo>
                  <a:pt x="141886" y="38100"/>
                  <a:pt x="133350" y="46636"/>
                  <a:pt x="133350" y="57150"/>
                </a:cubicBezTo>
                <a:cubicBezTo>
                  <a:pt x="133350" y="67664"/>
                  <a:pt x="141886" y="76200"/>
                  <a:pt x="152400" y="76200"/>
                </a:cubicBezTo>
                <a:cubicBezTo>
                  <a:pt x="162914" y="76200"/>
                  <a:pt x="171450" y="67664"/>
                  <a:pt x="171450" y="57150"/>
                </a:cubicBezTo>
                <a:close/>
                <a:moveTo>
                  <a:pt x="152400" y="247650"/>
                </a:moveTo>
                <a:cubicBezTo>
                  <a:pt x="173415" y="247650"/>
                  <a:pt x="190500" y="230565"/>
                  <a:pt x="190500" y="209550"/>
                </a:cubicBezTo>
                <a:cubicBezTo>
                  <a:pt x="190500" y="199906"/>
                  <a:pt x="186928" y="191036"/>
                  <a:pt x="180975" y="184368"/>
                </a:cubicBezTo>
                <a:lnTo>
                  <a:pt x="222349" y="101679"/>
                </a:lnTo>
                <a:cubicBezTo>
                  <a:pt x="225862" y="94595"/>
                  <a:pt x="223004" y="86023"/>
                  <a:pt x="215979" y="82510"/>
                </a:cubicBezTo>
                <a:cubicBezTo>
                  <a:pt x="208955" y="78998"/>
                  <a:pt x="200323" y="81855"/>
                  <a:pt x="196810" y="88880"/>
                </a:cubicBezTo>
                <a:lnTo>
                  <a:pt x="155436" y="171569"/>
                </a:lnTo>
                <a:cubicBezTo>
                  <a:pt x="154424" y="171510"/>
                  <a:pt x="153412" y="171450"/>
                  <a:pt x="152400" y="171450"/>
                </a:cubicBezTo>
                <a:cubicBezTo>
                  <a:pt x="131385" y="171450"/>
                  <a:pt x="114300" y="188535"/>
                  <a:pt x="114300" y="209550"/>
                </a:cubicBezTo>
                <a:cubicBezTo>
                  <a:pt x="114300" y="230565"/>
                  <a:pt x="131385" y="247650"/>
                  <a:pt x="152400" y="247650"/>
                </a:cubicBezTo>
                <a:close/>
                <a:moveTo>
                  <a:pt x="104775" y="85725"/>
                </a:moveTo>
                <a:cubicBezTo>
                  <a:pt x="104775" y="75211"/>
                  <a:pt x="96239" y="66675"/>
                  <a:pt x="85725" y="66675"/>
                </a:cubicBezTo>
                <a:cubicBezTo>
                  <a:pt x="75211" y="66675"/>
                  <a:pt x="66675" y="75211"/>
                  <a:pt x="66675" y="85725"/>
                </a:cubicBezTo>
                <a:cubicBezTo>
                  <a:pt x="66675" y="96239"/>
                  <a:pt x="75211" y="104775"/>
                  <a:pt x="85725" y="104775"/>
                </a:cubicBezTo>
                <a:cubicBezTo>
                  <a:pt x="96239" y="104775"/>
                  <a:pt x="104775" y="96239"/>
                  <a:pt x="104775" y="85725"/>
                </a:cubicBezTo>
                <a:close/>
                <a:moveTo>
                  <a:pt x="57150" y="171450"/>
                </a:moveTo>
                <a:cubicBezTo>
                  <a:pt x="67664" y="171450"/>
                  <a:pt x="76200" y="162914"/>
                  <a:pt x="76200" y="152400"/>
                </a:cubicBezTo>
                <a:cubicBezTo>
                  <a:pt x="76200" y="141886"/>
                  <a:pt x="67664" y="133350"/>
                  <a:pt x="57150" y="133350"/>
                </a:cubicBezTo>
                <a:cubicBezTo>
                  <a:pt x="46636" y="133350"/>
                  <a:pt x="38100" y="141886"/>
                  <a:pt x="38100" y="152400"/>
                </a:cubicBezTo>
                <a:cubicBezTo>
                  <a:pt x="38100" y="162914"/>
                  <a:pt x="46636" y="171450"/>
                  <a:pt x="57150" y="171450"/>
                </a:cubicBezTo>
                <a:close/>
                <a:moveTo>
                  <a:pt x="266700" y="152400"/>
                </a:moveTo>
                <a:cubicBezTo>
                  <a:pt x="266700" y="141886"/>
                  <a:pt x="258164" y="133350"/>
                  <a:pt x="247650" y="133350"/>
                </a:cubicBezTo>
                <a:cubicBezTo>
                  <a:pt x="237136" y="133350"/>
                  <a:pt x="228600" y="141886"/>
                  <a:pt x="228600" y="152400"/>
                </a:cubicBezTo>
                <a:cubicBezTo>
                  <a:pt x="228600" y="162914"/>
                  <a:pt x="237136" y="171450"/>
                  <a:pt x="247650" y="171450"/>
                </a:cubicBezTo>
                <a:cubicBezTo>
                  <a:pt x="258164" y="171450"/>
                  <a:pt x="266700" y="162914"/>
                  <a:pt x="266700" y="152400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10834" y="16764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查询性能瓶颈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77434" y="22352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I/O效率低下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77434" y="25908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查询10%列仍需读取100%数据，无效I/O达</a:t>
            </a: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90%+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77434" y="30480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内存浪费严重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77434" y="34036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大量无关列加载到内存，缓存效率低下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77434" y="38608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CPU利用率不足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77434" y="42164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受限于行级别串行访问，无法发挥并行能力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862667" y="1422400"/>
            <a:ext cx="4889500" cy="3352800"/>
          </a:xfrm>
          <a:custGeom>
            <a:avLst/>
            <a:gdLst/>
            <a:ahLst/>
            <a:cxnLst/>
            <a:rect l="l" t="t" r="r" b="b"/>
            <a:pathLst>
              <a:path w="4889500" h="3352800">
                <a:moveTo>
                  <a:pt x="0" y="0"/>
                </a:moveTo>
                <a:lnTo>
                  <a:pt x="4889500" y="0"/>
                </a:lnTo>
                <a:lnTo>
                  <a:pt x="48895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0862667" y="1422400"/>
            <a:ext cx="50800" cy="3352800"/>
          </a:xfrm>
          <a:custGeom>
            <a:avLst/>
            <a:gdLst/>
            <a:ahLst/>
            <a:cxnLst/>
            <a:rect l="l" t="t" r="r" b="b"/>
            <a:pathLst>
              <a:path w="50800" h="3352800">
                <a:moveTo>
                  <a:pt x="0" y="0"/>
                </a:moveTo>
                <a:lnTo>
                  <a:pt x="50800" y="0"/>
                </a:lnTo>
                <a:lnTo>
                  <a:pt x="50800" y="3352800"/>
                </a:lnTo>
                <a:lnTo>
                  <a:pt x="0" y="33528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11218267" y="17018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38100"/>
                </a:moveTo>
                <a:cubicBezTo>
                  <a:pt x="0" y="17085"/>
                  <a:pt x="17085" y="0"/>
                  <a:pt x="38100" y="0"/>
                </a:cubicBezTo>
                <a:lnTo>
                  <a:pt x="127099" y="0"/>
                </a:lnTo>
                <a:cubicBezTo>
                  <a:pt x="137220" y="0"/>
                  <a:pt x="146923" y="3989"/>
                  <a:pt x="154067" y="11132"/>
                </a:cubicBezTo>
                <a:lnTo>
                  <a:pt x="217468" y="74593"/>
                </a:lnTo>
                <a:cubicBezTo>
                  <a:pt x="224611" y="81736"/>
                  <a:pt x="228600" y="91440"/>
                  <a:pt x="228600" y="101560"/>
                </a:cubicBezTo>
                <a:lnTo>
                  <a:pt x="228600" y="266700"/>
                </a:lnTo>
                <a:cubicBezTo>
                  <a:pt x="228600" y="287715"/>
                  <a:pt x="211515" y="304800"/>
                  <a:pt x="190500" y="304800"/>
                </a:cubicBezTo>
                <a:lnTo>
                  <a:pt x="38100" y="304800"/>
                </a:lnTo>
                <a:cubicBezTo>
                  <a:pt x="17085" y="304800"/>
                  <a:pt x="0" y="287715"/>
                  <a:pt x="0" y="266700"/>
                </a:cubicBezTo>
                <a:lnTo>
                  <a:pt x="0" y="38100"/>
                </a:lnTo>
                <a:close/>
                <a:moveTo>
                  <a:pt x="123825" y="34826"/>
                </a:moveTo>
                <a:lnTo>
                  <a:pt x="123825" y="90488"/>
                </a:lnTo>
                <a:cubicBezTo>
                  <a:pt x="123825" y="98405"/>
                  <a:pt x="130195" y="104775"/>
                  <a:pt x="138113" y="104775"/>
                </a:cubicBezTo>
                <a:lnTo>
                  <a:pt x="193774" y="104775"/>
                </a:lnTo>
                <a:lnTo>
                  <a:pt x="123825" y="34826"/>
                </a:lnTo>
                <a:close/>
                <a:moveTo>
                  <a:pt x="91797" y="175974"/>
                </a:moveTo>
                <a:cubicBezTo>
                  <a:pt x="96917" y="169962"/>
                  <a:pt x="96262" y="160973"/>
                  <a:pt x="90249" y="155853"/>
                </a:cubicBezTo>
                <a:cubicBezTo>
                  <a:pt x="84237" y="150733"/>
                  <a:pt x="75248" y="151388"/>
                  <a:pt x="70128" y="157401"/>
                </a:cubicBezTo>
                <a:lnTo>
                  <a:pt x="41553" y="190738"/>
                </a:lnTo>
                <a:cubicBezTo>
                  <a:pt x="36969" y="196096"/>
                  <a:pt x="36969" y="203954"/>
                  <a:pt x="41553" y="209312"/>
                </a:cubicBezTo>
                <a:lnTo>
                  <a:pt x="70128" y="242649"/>
                </a:lnTo>
                <a:cubicBezTo>
                  <a:pt x="75248" y="248662"/>
                  <a:pt x="84296" y="249317"/>
                  <a:pt x="90249" y="244197"/>
                </a:cubicBezTo>
                <a:cubicBezTo>
                  <a:pt x="96203" y="239078"/>
                  <a:pt x="96917" y="230029"/>
                  <a:pt x="91797" y="224076"/>
                </a:cubicBezTo>
                <a:lnTo>
                  <a:pt x="71199" y="200025"/>
                </a:lnTo>
                <a:lnTo>
                  <a:pt x="91797" y="175974"/>
                </a:lnTo>
                <a:close/>
                <a:moveTo>
                  <a:pt x="158472" y="157401"/>
                </a:moveTo>
                <a:cubicBezTo>
                  <a:pt x="153353" y="151388"/>
                  <a:pt x="144304" y="150733"/>
                  <a:pt x="138351" y="155853"/>
                </a:cubicBezTo>
                <a:cubicBezTo>
                  <a:pt x="132398" y="160973"/>
                  <a:pt x="131683" y="170021"/>
                  <a:pt x="136803" y="175974"/>
                </a:cubicBezTo>
                <a:lnTo>
                  <a:pt x="157401" y="200025"/>
                </a:lnTo>
                <a:lnTo>
                  <a:pt x="136803" y="224076"/>
                </a:lnTo>
                <a:cubicBezTo>
                  <a:pt x="131683" y="230088"/>
                  <a:pt x="132338" y="239078"/>
                  <a:pt x="138351" y="244197"/>
                </a:cubicBezTo>
                <a:cubicBezTo>
                  <a:pt x="144363" y="249317"/>
                  <a:pt x="153353" y="248662"/>
                  <a:pt x="158472" y="242649"/>
                </a:cubicBezTo>
                <a:lnTo>
                  <a:pt x="187047" y="209312"/>
                </a:lnTo>
                <a:cubicBezTo>
                  <a:pt x="191631" y="203954"/>
                  <a:pt x="191631" y="196096"/>
                  <a:pt x="187047" y="190738"/>
                </a:cubicBezTo>
                <a:lnTo>
                  <a:pt x="158472" y="157401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1675467" y="16764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数据类型限制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142067" y="22352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嵌套结构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142067" y="25908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JSON/ProtoBuf需扁平化处理，破坏原生结构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42067" y="30480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半结构化数据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42067" y="34036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XML/JSON难以高效存储和查询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42067" y="38608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复杂类型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42067" y="4216400"/>
            <a:ext cx="4457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ARRAY/MAP/STRUCT缺乏原生支持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4350" y="5086350"/>
            <a:ext cx="15227300" cy="1689100"/>
          </a:xfrm>
          <a:custGeom>
            <a:avLst/>
            <a:gdLst/>
            <a:ahLst/>
            <a:cxnLst/>
            <a:rect l="l" t="t" r="r" b="b"/>
            <a:pathLst>
              <a:path w="15227300" h="1689100">
                <a:moveTo>
                  <a:pt x="0" y="0"/>
                </a:moveTo>
                <a:lnTo>
                  <a:pt x="15227300" y="0"/>
                </a:lnTo>
                <a:lnTo>
                  <a:pt x="15227300" y="1689100"/>
                </a:lnTo>
                <a:lnTo>
                  <a:pt x="0" y="1689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06450" y="53975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0"/>
                </a:moveTo>
                <a:cubicBezTo>
                  <a:pt x="134293" y="0"/>
                  <a:pt x="140990" y="4018"/>
                  <a:pt x="144463" y="10418"/>
                </a:cubicBezTo>
                <a:lnTo>
                  <a:pt x="251619" y="208855"/>
                </a:lnTo>
                <a:cubicBezTo>
                  <a:pt x="254943" y="215007"/>
                  <a:pt x="254794" y="222448"/>
                  <a:pt x="251222" y="228451"/>
                </a:cubicBezTo>
                <a:cubicBezTo>
                  <a:pt x="247650" y="234454"/>
                  <a:pt x="241151" y="238125"/>
                  <a:pt x="234156" y="238125"/>
                </a:cubicBezTo>
                <a:lnTo>
                  <a:pt x="19844" y="238125"/>
                </a:lnTo>
                <a:cubicBezTo>
                  <a:pt x="12849" y="238125"/>
                  <a:pt x="6400" y="234454"/>
                  <a:pt x="2778" y="228451"/>
                </a:cubicBezTo>
                <a:cubicBezTo>
                  <a:pt x="-843" y="222448"/>
                  <a:pt x="-943" y="215007"/>
                  <a:pt x="2381" y="208855"/>
                </a:cubicBezTo>
                <a:lnTo>
                  <a:pt x="109538" y="10418"/>
                </a:lnTo>
                <a:cubicBezTo>
                  <a:pt x="113010" y="4018"/>
                  <a:pt x="119707" y="0"/>
                  <a:pt x="127000" y="0"/>
                </a:cubicBezTo>
                <a:close/>
                <a:moveTo>
                  <a:pt x="127000" y="83344"/>
                </a:moveTo>
                <a:cubicBezTo>
                  <a:pt x="120402" y="83344"/>
                  <a:pt x="115094" y="88652"/>
                  <a:pt x="115094" y="95250"/>
                </a:cubicBezTo>
                <a:lnTo>
                  <a:pt x="115094" y="150813"/>
                </a:lnTo>
                <a:cubicBezTo>
                  <a:pt x="115094" y="157411"/>
                  <a:pt x="120402" y="162719"/>
                  <a:pt x="127000" y="162719"/>
                </a:cubicBezTo>
                <a:cubicBezTo>
                  <a:pt x="133598" y="162719"/>
                  <a:pt x="138906" y="157411"/>
                  <a:pt x="138906" y="150813"/>
                </a:cubicBezTo>
                <a:lnTo>
                  <a:pt x="138906" y="95250"/>
                </a:lnTo>
                <a:cubicBezTo>
                  <a:pt x="138906" y="88652"/>
                  <a:pt x="133598" y="83344"/>
                  <a:pt x="127000" y="83344"/>
                </a:cubicBezTo>
                <a:close/>
                <a:moveTo>
                  <a:pt x="140246" y="190500"/>
                </a:moveTo>
                <a:cubicBezTo>
                  <a:pt x="140547" y="185583"/>
                  <a:pt x="138095" y="180906"/>
                  <a:pt x="133880" y="178356"/>
                </a:cubicBezTo>
                <a:cubicBezTo>
                  <a:pt x="129666" y="175807"/>
                  <a:pt x="124384" y="175807"/>
                  <a:pt x="120169" y="178356"/>
                </a:cubicBezTo>
                <a:cubicBezTo>
                  <a:pt x="115955" y="180906"/>
                  <a:pt x="113503" y="185583"/>
                  <a:pt x="113804" y="190500"/>
                </a:cubicBezTo>
                <a:cubicBezTo>
                  <a:pt x="113503" y="195417"/>
                  <a:pt x="115955" y="200094"/>
                  <a:pt x="120169" y="202644"/>
                </a:cubicBezTo>
                <a:cubicBezTo>
                  <a:pt x="124384" y="205193"/>
                  <a:pt x="129666" y="205193"/>
                  <a:pt x="133880" y="202644"/>
                </a:cubicBezTo>
                <a:cubicBezTo>
                  <a:pt x="138095" y="200094"/>
                  <a:pt x="140547" y="195417"/>
                  <a:pt x="140246" y="190500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244600" y="5346700"/>
            <a:ext cx="292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大数据场景下的性能挑战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4700" y="5854700"/>
            <a:ext cx="483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TB级数据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74700" y="6261100"/>
            <a:ext cx="482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行式存储查询响应时间可达</a:t>
            </a: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数小时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，无法满足实时分析需求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61534" y="5854700"/>
            <a:ext cx="483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PB级数据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61534" y="6261100"/>
            <a:ext cx="482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查询时间可能达到</a:t>
            </a: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数天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，严重影响业务决策效率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748367" y="5854700"/>
            <a:ext cx="4838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成本压力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748367" y="6261100"/>
            <a:ext cx="4826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存储和计算成本急剧上升，亟需更高效的存储方案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58800"/>
            <a:ext cx="5676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Parquet的诞生与发展历程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914400" y="1422400"/>
            <a:ext cx="50800" cy="5334000"/>
          </a:xfrm>
          <a:custGeom>
            <a:avLst/>
            <a:gdLst/>
            <a:ahLst/>
            <a:cxnLst/>
            <a:rect l="l" t="t" r="r" b="b"/>
            <a:pathLst>
              <a:path w="50800" h="5334000">
                <a:moveTo>
                  <a:pt x="0" y="0"/>
                </a:moveTo>
                <a:lnTo>
                  <a:pt x="50800" y="0"/>
                </a:lnTo>
                <a:lnTo>
                  <a:pt x="50800" y="5334000"/>
                </a:lnTo>
                <a:lnTo>
                  <a:pt x="0" y="53340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3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1581150" y="1428750"/>
            <a:ext cx="8978900" cy="1181100"/>
          </a:xfrm>
          <a:custGeom>
            <a:avLst/>
            <a:gdLst/>
            <a:ahLst/>
            <a:cxnLst/>
            <a:rect l="l" t="t" r="r" b="b"/>
            <a:pathLst>
              <a:path w="8978900" h="1181100">
                <a:moveTo>
                  <a:pt x="0" y="0"/>
                </a:moveTo>
                <a:lnTo>
                  <a:pt x="8978900" y="0"/>
                </a:lnTo>
                <a:lnTo>
                  <a:pt x="89789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790700" y="1638300"/>
            <a:ext cx="867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项目启动与初期开发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790700" y="2095500"/>
            <a:ext cx="866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Twitter与Cloudera合作开发，解决HDFS列式存储需求，针对大数据场景优化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81150" y="3028950"/>
            <a:ext cx="8978900" cy="1181100"/>
          </a:xfrm>
          <a:custGeom>
            <a:avLst/>
            <a:gdLst/>
            <a:ahLst/>
            <a:cxnLst/>
            <a:rect l="l" t="t" r="r" b="b"/>
            <a:pathLst>
              <a:path w="8978900" h="1181100">
                <a:moveTo>
                  <a:pt x="0" y="0"/>
                </a:moveTo>
                <a:lnTo>
                  <a:pt x="8978900" y="0"/>
                </a:lnTo>
                <a:lnTo>
                  <a:pt x="89789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790700" y="3238500"/>
            <a:ext cx="867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Apache顶级项目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90700" y="3695700"/>
            <a:ext cx="866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成为Apache顶级项目，成长为行业标准，建立完善的项目治理结构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581150" y="4629150"/>
            <a:ext cx="8978900" cy="1181100"/>
          </a:xfrm>
          <a:custGeom>
            <a:avLst/>
            <a:gdLst/>
            <a:ahLst/>
            <a:cxnLst/>
            <a:rect l="l" t="t" r="r" b="b"/>
            <a:pathLst>
              <a:path w="8978900" h="1181100">
                <a:moveTo>
                  <a:pt x="0" y="0"/>
                </a:moveTo>
                <a:lnTo>
                  <a:pt x="8978900" y="0"/>
                </a:lnTo>
                <a:lnTo>
                  <a:pt x="89789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790700" y="4838700"/>
            <a:ext cx="8674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生态系统繁荣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790700" y="5295900"/>
            <a:ext cx="8661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几乎所有主流大数据框架原生支持，成为事实标准格式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877550" y="1114420"/>
            <a:ext cx="4864100" cy="3060700"/>
          </a:xfrm>
          <a:custGeom>
            <a:avLst/>
            <a:gdLst/>
            <a:ahLst/>
            <a:cxnLst/>
            <a:rect l="l" t="t" r="r" b="b"/>
            <a:pathLst>
              <a:path w="4864100" h="3060700">
                <a:moveTo>
                  <a:pt x="0" y="0"/>
                </a:moveTo>
                <a:lnTo>
                  <a:pt x="4864100" y="0"/>
                </a:lnTo>
                <a:lnTo>
                  <a:pt x="4864100" y="3060700"/>
                </a:lnTo>
                <a:lnTo>
                  <a:pt x="0" y="30607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137900" y="1374770"/>
            <a:ext cx="443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PRINCIPLES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1176000" y="183197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493500" y="1781170"/>
            <a:ext cx="3644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批量读取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：优化顺序读取，减少随机I/O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176000" y="228917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11493500" y="2238370"/>
            <a:ext cx="2743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列裁剪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：只读取查询需要的列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1176000" y="274637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1493500" y="2695570"/>
            <a:ext cx="3759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压缩效率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：利用列内相似性实现高压缩比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176000" y="320357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11493500" y="315277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谓词下推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：基于统计信息进行早期过滤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1176000" y="3660770"/>
            <a:ext cx="177800" cy="203200"/>
          </a:xfrm>
          <a:custGeom>
            <a:avLst/>
            <a:gdLst/>
            <a:ahLst/>
            <a:cxnLst/>
            <a:rect l="l" t="t" r="r" b="b"/>
            <a:pathLst>
              <a:path w="177800" h="203200">
                <a:moveTo>
                  <a:pt x="172561" y="27821"/>
                </a:moveTo>
                <a:cubicBezTo>
                  <a:pt x="178237" y="31948"/>
                  <a:pt x="179507" y="39886"/>
                  <a:pt x="175379" y="45561"/>
                </a:cubicBezTo>
                <a:lnTo>
                  <a:pt x="73779" y="185261"/>
                </a:lnTo>
                <a:cubicBezTo>
                  <a:pt x="71596" y="188278"/>
                  <a:pt x="68223" y="190143"/>
                  <a:pt x="64492" y="190460"/>
                </a:cubicBezTo>
                <a:cubicBezTo>
                  <a:pt x="60762" y="190778"/>
                  <a:pt x="57150" y="189389"/>
                  <a:pt x="54531" y="186769"/>
                </a:cubicBezTo>
                <a:lnTo>
                  <a:pt x="3731" y="135969"/>
                </a:lnTo>
                <a:cubicBezTo>
                  <a:pt x="-1230" y="131008"/>
                  <a:pt x="-1230" y="122952"/>
                  <a:pt x="3731" y="117991"/>
                </a:cubicBezTo>
                <a:cubicBezTo>
                  <a:pt x="8692" y="113030"/>
                  <a:pt x="16748" y="113030"/>
                  <a:pt x="21709" y="117991"/>
                </a:cubicBezTo>
                <a:lnTo>
                  <a:pt x="61992" y="158274"/>
                </a:lnTo>
                <a:lnTo>
                  <a:pt x="154861" y="30599"/>
                </a:lnTo>
                <a:cubicBezTo>
                  <a:pt x="158988" y="24924"/>
                  <a:pt x="166926" y="23654"/>
                  <a:pt x="172601" y="27781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1493500" y="3609970"/>
            <a:ext cx="355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嵌套数据支持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：原生支持复杂数据类型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877550" y="4391020"/>
            <a:ext cx="4864100" cy="2451100"/>
          </a:xfrm>
          <a:custGeom>
            <a:avLst/>
            <a:gdLst/>
            <a:ahLst/>
            <a:cxnLst/>
            <a:rect l="l" t="t" r="r" b="b"/>
            <a:pathLst>
              <a:path w="4864100" h="2451100">
                <a:moveTo>
                  <a:pt x="0" y="0"/>
                </a:moveTo>
                <a:lnTo>
                  <a:pt x="4864100" y="0"/>
                </a:lnTo>
                <a:lnTo>
                  <a:pt x="4864100" y="2451100"/>
                </a:lnTo>
                <a:lnTo>
                  <a:pt x="0" y="24511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137900" y="4651370"/>
            <a:ext cx="44323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OPEN SOURCE BENEFITS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37900" y="5057770"/>
            <a:ext cx="444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避免厂商锁定，跨平台自由迁移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37900" y="5464170"/>
            <a:ext cx="444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社区驱动创新，技术快速演进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37900" y="5870570"/>
            <a:ext cx="444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标准化保障，减少技术碎片化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137900" y="6276970"/>
            <a:ext cx="4445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生态兼容性，无缝集成各种工具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14350" y="7016750"/>
            <a:ext cx="3644900" cy="1231900"/>
          </a:xfrm>
          <a:custGeom>
            <a:avLst/>
            <a:gdLst/>
            <a:ahLst/>
            <a:cxnLst/>
            <a:rect l="l" t="t" r="r" b="b"/>
            <a:pathLst>
              <a:path w="3644900" h="1231900">
                <a:moveTo>
                  <a:pt x="0" y="0"/>
                </a:moveTo>
                <a:lnTo>
                  <a:pt x="3644900" y="0"/>
                </a:lnTo>
                <a:lnTo>
                  <a:pt x="36449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28650" y="7226300"/>
            <a:ext cx="341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100%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673100" y="7734300"/>
            <a:ext cx="332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主流框架支持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375150" y="7016750"/>
            <a:ext cx="3644900" cy="1231900"/>
          </a:xfrm>
          <a:custGeom>
            <a:avLst/>
            <a:gdLst/>
            <a:ahLst/>
            <a:cxnLst/>
            <a:rect l="l" t="t" r="r" b="b"/>
            <a:pathLst>
              <a:path w="3644900" h="1231900">
                <a:moveTo>
                  <a:pt x="0" y="0"/>
                </a:moveTo>
                <a:lnTo>
                  <a:pt x="3644900" y="0"/>
                </a:lnTo>
                <a:lnTo>
                  <a:pt x="36449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489450" y="7226300"/>
            <a:ext cx="341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Apache 2.0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533900" y="7734300"/>
            <a:ext cx="332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开源协议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35950" y="7016750"/>
            <a:ext cx="3644900" cy="1231900"/>
          </a:xfrm>
          <a:custGeom>
            <a:avLst/>
            <a:gdLst/>
            <a:ahLst/>
            <a:cxnLst/>
            <a:rect l="l" t="t" r="r" b="b"/>
            <a:pathLst>
              <a:path w="3644900" h="1231900">
                <a:moveTo>
                  <a:pt x="0" y="0"/>
                </a:moveTo>
                <a:lnTo>
                  <a:pt x="3644900" y="0"/>
                </a:lnTo>
                <a:lnTo>
                  <a:pt x="36449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350250" y="7226300"/>
            <a:ext cx="341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10年+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394700" y="7734300"/>
            <a:ext cx="332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发展历程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2096750" y="7016750"/>
            <a:ext cx="3644900" cy="1231900"/>
          </a:xfrm>
          <a:custGeom>
            <a:avLst/>
            <a:gdLst/>
            <a:ahLst/>
            <a:cxnLst/>
            <a:rect l="l" t="t" r="r" b="b"/>
            <a:pathLst>
              <a:path w="3644900" h="1231900">
                <a:moveTo>
                  <a:pt x="0" y="0"/>
                </a:moveTo>
                <a:lnTo>
                  <a:pt x="3644900" y="0"/>
                </a:lnTo>
                <a:lnTo>
                  <a:pt x="3644900" y="1231900"/>
                </a:lnTo>
                <a:lnTo>
                  <a:pt x="0" y="12319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2211050" y="7226300"/>
            <a:ext cx="341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3000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行业标准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255500" y="7734300"/>
            <a:ext cx="3327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事实标准格式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8000" y="14224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444500" y="1422400"/>
            <a:ext cx="939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2013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08000" y="30226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44500" y="3022600"/>
            <a:ext cx="939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2015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08000" y="4622800"/>
            <a:ext cx="812800" cy="812800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0" y="0"/>
                </a:moveTo>
                <a:lnTo>
                  <a:pt x="812800" y="0"/>
                </a:lnTo>
                <a:lnTo>
                  <a:pt x="812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444500" y="4622800"/>
            <a:ext cx="9398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0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至今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417" y="506417"/>
            <a:ext cx="50642" cy="607701"/>
          </a:xfrm>
          <a:custGeom>
            <a:avLst/>
            <a:gdLst/>
            <a:ahLst/>
            <a:cxnLst/>
            <a:rect l="l" t="t" r="r" b="b"/>
            <a:pathLst>
              <a:path w="50642" h="607701">
                <a:moveTo>
                  <a:pt x="0" y="0"/>
                </a:moveTo>
                <a:lnTo>
                  <a:pt x="50642" y="0"/>
                </a:lnTo>
                <a:lnTo>
                  <a:pt x="50642" y="607701"/>
                </a:lnTo>
                <a:lnTo>
                  <a:pt x="0" y="607701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59626" y="557059"/>
            <a:ext cx="7786168" cy="506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8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行式存储 vs 列式存储：核心理念对比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2748" y="1424299"/>
            <a:ext cx="7456997" cy="4697022"/>
          </a:xfrm>
          <a:custGeom>
            <a:avLst/>
            <a:gdLst/>
            <a:ahLst/>
            <a:cxnLst/>
            <a:rect l="l" t="t" r="r" b="b"/>
            <a:pathLst>
              <a:path w="7456997" h="4697022">
                <a:moveTo>
                  <a:pt x="0" y="0"/>
                </a:moveTo>
                <a:lnTo>
                  <a:pt x="7456997" y="0"/>
                </a:lnTo>
                <a:lnTo>
                  <a:pt x="7456997" y="4697022"/>
                </a:lnTo>
                <a:lnTo>
                  <a:pt x="0" y="4697022"/>
                </a:lnTo>
                <a:lnTo>
                  <a:pt x="0" y="0"/>
                </a:lnTo>
                <a:close/>
              </a:path>
            </a:pathLst>
          </a:custGeom>
          <a:solidFill>
            <a:srgbClr val="5A6370">
              <a:alpha val="20000"/>
            </a:srgbClr>
          </a:solidFill>
          <a:ln w="12700">
            <a:solidFill>
              <a:srgbClr val="5A637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29259" y="1734480"/>
            <a:ext cx="265869" cy="303850"/>
          </a:xfrm>
          <a:custGeom>
            <a:avLst/>
            <a:gdLst/>
            <a:ahLst/>
            <a:cxnLst/>
            <a:rect l="l" t="t" r="r" b="b"/>
            <a:pathLst>
              <a:path w="265869" h="303850">
                <a:moveTo>
                  <a:pt x="151925" y="94953"/>
                </a:moveTo>
                <a:lnTo>
                  <a:pt x="151925" y="151925"/>
                </a:lnTo>
                <a:lnTo>
                  <a:pt x="227888" y="151925"/>
                </a:lnTo>
                <a:lnTo>
                  <a:pt x="227888" y="94953"/>
                </a:lnTo>
                <a:lnTo>
                  <a:pt x="151925" y="94953"/>
                </a:lnTo>
                <a:close/>
                <a:moveTo>
                  <a:pt x="113944" y="94953"/>
                </a:moveTo>
                <a:lnTo>
                  <a:pt x="37981" y="94953"/>
                </a:lnTo>
                <a:lnTo>
                  <a:pt x="37981" y="151925"/>
                </a:lnTo>
                <a:lnTo>
                  <a:pt x="113944" y="151925"/>
                </a:lnTo>
                <a:lnTo>
                  <a:pt x="113944" y="94953"/>
                </a:lnTo>
                <a:close/>
                <a:moveTo>
                  <a:pt x="0" y="189907"/>
                </a:moveTo>
                <a:lnTo>
                  <a:pt x="0" y="56972"/>
                </a:lnTo>
                <a:cubicBezTo>
                  <a:pt x="0" y="36023"/>
                  <a:pt x="17032" y="18991"/>
                  <a:pt x="37981" y="18991"/>
                </a:cubicBezTo>
                <a:lnTo>
                  <a:pt x="227888" y="18991"/>
                </a:lnTo>
                <a:cubicBezTo>
                  <a:pt x="248837" y="18991"/>
                  <a:pt x="265869" y="36023"/>
                  <a:pt x="265869" y="56972"/>
                </a:cubicBezTo>
                <a:lnTo>
                  <a:pt x="265869" y="246879"/>
                </a:lnTo>
                <a:cubicBezTo>
                  <a:pt x="265869" y="267828"/>
                  <a:pt x="248837" y="284860"/>
                  <a:pt x="227888" y="284860"/>
                </a:cubicBezTo>
                <a:lnTo>
                  <a:pt x="37981" y="284860"/>
                </a:lnTo>
                <a:cubicBezTo>
                  <a:pt x="17032" y="284860"/>
                  <a:pt x="0" y="267828"/>
                  <a:pt x="0" y="246879"/>
                </a:cubicBezTo>
                <a:lnTo>
                  <a:pt x="0" y="189907"/>
                </a:lnTo>
                <a:close/>
                <a:moveTo>
                  <a:pt x="227888" y="189907"/>
                </a:moveTo>
                <a:lnTo>
                  <a:pt x="151925" y="189907"/>
                </a:lnTo>
                <a:lnTo>
                  <a:pt x="151925" y="246879"/>
                </a:lnTo>
                <a:lnTo>
                  <a:pt x="227888" y="246879"/>
                </a:lnTo>
                <a:lnTo>
                  <a:pt x="227888" y="189907"/>
                </a:lnTo>
                <a:close/>
                <a:moveTo>
                  <a:pt x="113944" y="246879"/>
                </a:moveTo>
                <a:lnTo>
                  <a:pt x="113944" y="189907"/>
                </a:lnTo>
                <a:lnTo>
                  <a:pt x="37981" y="189907"/>
                </a:lnTo>
                <a:lnTo>
                  <a:pt x="37981" y="246879"/>
                </a:lnTo>
                <a:lnTo>
                  <a:pt x="113944" y="246879"/>
                </a:lnTo>
                <a:close/>
              </a:path>
            </a:pathLst>
          </a:custGeom>
          <a:solidFill>
            <a:srgbClr val="5A637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304025" y="1683838"/>
            <a:ext cx="3152449" cy="40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行式存储 Row-Based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7" name="Shape 5"/>
          <p:cNvSpPr/>
          <p:nvPr/>
        </p:nvSpPr>
        <p:spPr>
          <a:xfrm>
            <a:off x="778617" y="2297869"/>
            <a:ext cx="6925259" cy="1785121"/>
          </a:xfrm>
          <a:custGeom>
            <a:avLst/>
            <a:gdLst/>
            <a:ahLst/>
            <a:cxnLst/>
            <a:rect l="l" t="t" r="r" b="b"/>
            <a:pathLst>
              <a:path w="6925259" h="1785121">
                <a:moveTo>
                  <a:pt x="0" y="0"/>
                </a:moveTo>
                <a:lnTo>
                  <a:pt x="6925259" y="0"/>
                </a:lnTo>
                <a:lnTo>
                  <a:pt x="6925259" y="1785121"/>
                </a:lnTo>
                <a:lnTo>
                  <a:pt x="0" y="1785121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5A6370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87514" y="2506766"/>
            <a:ext cx="6596087" cy="25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6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数据组织方式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14" y="2911900"/>
            <a:ext cx="6596087" cy="25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行1: </a:t>
            </a:r>
            <a:r>
              <a:rPr lang="en-US" sz="1396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[1, "Alice", 25, "北京"]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14" y="3266393"/>
            <a:ext cx="6596087" cy="25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行2: </a:t>
            </a:r>
            <a:r>
              <a:rPr lang="en-US" sz="1396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[2, "Bob", 30, "上海"]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87514" y="3620885"/>
            <a:ext cx="6596087" cy="25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行3: </a:t>
            </a:r>
            <a:r>
              <a:rPr lang="en-US" sz="1396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[3, "Charlie", 35, "广州"]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0268" y="4342530"/>
            <a:ext cx="177246" cy="202567"/>
          </a:xfrm>
          <a:custGeom>
            <a:avLst/>
            <a:gdLst/>
            <a:ahLst/>
            <a:cxnLst/>
            <a:rect l="l" t="t" r="r" b="b"/>
            <a:pathLst>
              <a:path w="177246" h="202567">
                <a:moveTo>
                  <a:pt x="101283" y="25321"/>
                </a:moveTo>
                <a:cubicBezTo>
                  <a:pt x="101283" y="18318"/>
                  <a:pt x="95626" y="12660"/>
                  <a:pt x="88623" y="12660"/>
                </a:cubicBezTo>
                <a:cubicBezTo>
                  <a:pt x="81620" y="12660"/>
                  <a:pt x="75963" y="18318"/>
                  <a:pt x="75963" y="25321"/>
                </a:cubicBezTo>
                <a:lnTo>
                  <a:pt x="75963" y="88623"/>
                </a:lnTo>
                <a:lnTo>
                  <a:pt x="12660" y="88623"/>
                </a:lnTo>
                <a:cubicBezTo>
                  <a:pt x="5658" y="88623"/>
                  <a:pt x="0" y="94281"/>
                  <a:pt x="0" y="101283"/>
                </a:cubicBezTo>
                <a:cubicBezTo>
                  <a:pt x="0" y="108286"/>
                  <a:pt x="5658" y="113944"/>
                  <a:pt x="12660" y="113944"/>
                </a:cubicBezTo>
                <a:lnTo>
                  <a:pt x="75963" y="113944"/>
                </a:lnTo>
                <a:lnTo>
                  <a:pt x="75963" y="177246"/>
                </a:lnTo>
                <a:cubicBezTo>
                  <a:pt x="75963" y="184249"/>
                  <a:pt x="81620" y="189907"/>
                  <a:pt x="88623" y="189907"/>
                </a:cubicBezTo>
                <a:cubicBezTo>
                  <a:pt x="95626" y="189907"/>
                  <a:pt x="101283" y="184249"/>
                  <a:pt x="101283" y="177246"/>
                </a:cubicBezTo>
                <a:lnTo>
                  <a:pt x="101283" y="113944"/>
                </a:lnTo>
                <a:lnTo>
                  <a:pt x="164586" y="113944"/>
                </a:lnTo>
                <a:cubicBezTo>
                  <a:pt x="171588" y="113944"/>
                  <a:pt x="177246" y="108286"/>
                  <a:pt x="177246" y="101283"/>
                </a:cubicBezTo>
                <a:cubicBezTo>
                  <a:pt x="177246" y="94281"/>
                  <a:pt x="171588" y="88623"/>
                  <a:pt x="164586" y="88623"/>
                </a:cubicBezTo>
                <a:lnTo>
                  <a:pt x="101283" y="88623"/>
                </a:lnTo>
                <a:lnTo>
                  <a:pt x="101283" y="25321"/>
                </a:lnTo>
                <a:close/>
              </a:path>
            </a:pathLst>
          </a:custGeom>
          <a:solidFill>
            <a:srgbClr val="5A637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1126779" y="4291888"/>
            <a:ext cx="4557757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存储特点</a:t>
            </a:r>
            <a:r>
              <a:rPr lang="en-US" sz="15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：数据按记录完整存储，读取单条记录快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0268" y="4798305"/>
            <a:ext cx="177246" cy="202567"/>
          </a:xfrm>
          <a:custGeom>
            <a:avLst/>
            <a:gdLst/>
            <a:ahLst/>
            <a:cxnLst/>
            <a:rect l="l" t="t" r="r" b="b"/>
            <a:pathLst>
              <a:path w="177246" h="202567">
                <a:moveTo>
                  <a:pt x="101283" y="25321"/>
                </a:moveTo>
                <a:cubicBezTo>
                  <a:pt x="101283" y="18318"/>
                  <a:pt x="95626" y="12660"/>
                  <a:pt x="88623" y="12660"/>
                </a:cubicBezTo>
                <a:cubicBezTo>
                  <a:pt x="81620" y="12660"/>
                  <a:pt x="75963" y="18318"/>
                  <a:pt x="75963" y="25321"/>
                </a:cubicBezTo>
                <a:lnTo>
                  <a:pt x="75963" y="88623"/>
                </a:lnTo>
                <a:lnTo>
                  <a:pt x="12660" y="88623"/>
                </a:lnTo>
                <a:cubicBezTo>
                  <a:pt x="5658" y="88623"/>
                  <a:pt x="0" y="94281"/>
                  <a:pt x="0" y="101283"/>
                </a:cubicBezTo>
                <a:cubicBezTo>
                  <a:pt x="0" y="108286"/>
                  <a:pt x="5658" y="113944"/>
                  <a:pt x="12660" y="113944"/>
                </a:cubicBezTo>
                <a:lnTo>
                  <a:pt x="75963" y="113944"/>
                </a:lnTo>
                <a:lnTo>
                  <a:pt x="75963" y="177246"/>
                </a:lnTo>
                <a:cubicBezTo>
                  <a:pt x="75963" y="184249"/>
                  <a:pt x="81620" y="189907"/>
                  <a:pt x="88623" y="189907"/>
                </a:cubicBezTo>
                <a:cubicBezTo>
                  <a:pt x="95626" y="189907"/>
                  <a:pt x="101283" y="184249"/>
                  <a:pt x="101283" y="177246"/>
                </a:cubicBezTo>
                <a:lnTo>
                  <a:pt x="101283" y="113944"/>
                </a:lnTo>
                <a:lnTo>
                  <a:pt x="164586" y="113944"/>
                </a:lnTo>
                <a:cubicBezTo>
                  <a:pt x="171588" y="113944"/>
                  <a:pt x="177246" y="108286"/>
                  <a:pt x="177246" y="101283"/>
                </a:cubicBezTo>
                <a:cubicBezTo>
                  <a:pt x="177246" y="94281"/>
                  <a:pt x="171588" y="88623"/>
                  <a:pt x="164586" y="88623"/>
                </a:cubicBezTo>
                <a:lnTo>
                  <a:pt x="101283" y="88623"/>
                </a:lnTo>
                <a:lnTo>
                  <a:pt x="101283" y="25321"/>
                </a:lnTo>
                <a:close/>
              </a:path>
            </a:pathLst>
          </a:custGeom>
          <a:solidFill>
            <a:srgbClr val="5A637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1126779" y="4747664"/>
            <a:ext cx="4190604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r>
              <a:rPr lang="en-US" sz="15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：事务处理(OLTP)，频繁增删改操作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0268" y="5254081"/>
            <a:ext cx="177246" cy="202567"/>
          </a:xfrm>
          <a:custGeom>
            <a:avLst/>
            <a:gdLst/>
            <a:ahLst/>
            <a:cxnLst/>
            <a:rect l="l" t="t" r="r" b="b"/>
            <a:pathLst>
              <a:path w="177246" h="202567">
                <a:moveTo>
                  <a:pt x="0" y="101283"/>
                </a:moveTo>
                <a:cubicBezTo>
                  <a:pt x="0" y="94281"/>
                  <a:pt x="5658" y="88623"/>
                  <a:pt x="12660" y="88623"/>
                </a:cubicBezTo>
                <a:lnTo>
                  <a:pt x="164586" y="88623"/>
                </a:lnTo>
                <a:cubicBezTo>
                  <a:pt x="171588" y="88623"/>
                  <a:pt x="177246" y="94281"/>
                  <a:pt x="177246" y="101283"/>
                </a:cubicBezTo>
                <a:cubicBezTo>
                  <a:pt x="177246" y="108286"/>
                  <a:pt x="171588" y="113944"/>
                  <a:pt x="164586" y="113944"/>
                </a:cubicBezTo>
                <a:lnTo>
                  <a:pt x="12660" y="113944"/>
                </a:lnTo>
                <a:cubicBezTo>
                  <a:pt x="5658" y="113944"/>
                  <a:pt x="0" y="108286"/>
                  <a:pt x="0" y="101283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1126779" y="5203439"/>
            <a:ext cx="4241246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查询劣势</a:t>
            </a:r>
            <a:r>
              <a:rPr lang="en-US" sz="15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：查询特定列需扫描整行，I/O效率低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83387" y="1424299"/>
            <a:ext cx="7456997" cy="4697022"/>
          </a:xfrm>
          <a:custGeom>
            <a:avLst/>
            <a:gdLst/>
            <a:ahLst/>
            <a:cxnLst/>
            <a:rect l="l" t="t" r="r" b="b"/>
            <a:pathLst>
              <a:path w="7456997" h="4697022">
                <a:moveTo>
                  <a:pt x="0" y="0"/>
                </a:moveTo>
                <a:lnTo>
                  <a:pt x="7456997" y="0"/>
                </a:lnTo>
                <a:lnTo>
                  <a:pt x="7456997" y="4697022"/>
                </a:lnTo>
                <a:lnTo>
                  <a:pt x="0" y="4697022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2000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599898" y="1734480"/>
            <a:ext cx="265869" cy="303850"/>
          </a:xfrm>
          <a:custGeom>
            <a:avLst/>
            <a:gdLst/>
            <a:ahLst/>
            <a:cxnLst/>
            <a:rect l="l" t="t" r="r" b="b"/>
            <a:pathLst>
              <a:path w="265869" h="303850">
                <a:moveTo>
                  <a:pt x="0" y="56972"/>
                </a:moveTo>
                <a:cubicBezTo>
                  <a:pt x="0" y="36023"/>
                  <a:pt x="17032" y="18991"/>
                  <a:pt x="37981" y="18991"/>
                </a:cubicBezTo>
                <a:lnTo>
                  <a:pt x="227888" y="18991"/>
                </a:lnTo>
                <a:cubicBezTo>
                  <a:pt x="248837" y="18991"/>
                  <a:pt x="265869" y="36023"/>
                  <a:pt x="265869" y="56972"/>
                </a:cubicBezTo>
                <a:lnTo>
                  <a:pt x="265869" y="246879"/>
                </a:lnTo>
                <a:cubicBezTo>
                  <a:pt x="265869" y="267828"/>
                  <a:pt x="248837" y="284860"/>
                  <a:pt x="227888" y="284860"/>
                </a:cubicBezTo>
                <a:lnTo>
                  <a:pt x="37981" y="284860"/>
                </a:lnTo>
                <a:cubicBezTo>
                  <a:pt x="17032" y="284860"/>
                  <a:pt x="0" y="267828"/>
                  <a:pt x="0" y="246879"/>
                </a:cubicBezTo>
                <a:lnTo>
                  <a:pt x="0" y="56972"/>
                </a:lnTo>
                <a:close/>
                <a:moveTo>
                  <a:pt x="37981" y="94953"/>
                </a:moveTo>
                <a:lnTo>
                  <a:pt x="37981" y="246879"/>
                </a:lnTo>
                <a:lnTo>
                  <a:pt x="113944" y="246879"/>
                </a:lnTo>
                <a:lnTo>
                  <a:pt x="113944" y="94953"/>
                </a:lnTo>
                <a:lnTo>
                  <a:pt x="37981" y="94953"/>
                </a:lnTo>
                <a:close/>
                <a:moveTo>
                  <a:pt x="227888" y="94953"/>
                </a:moveTo>
                <a:lnTo>
                  <a:pt x="151925" y="94953"/>
                </a:lnTo>
                <a:lnTo>
                  <a:pt x="151925" y="246879"/>
                </a:lnTo>
                <a:lnTo>
                  <a:pt x="227888" y="246879"/>
                </a:lnTo>
                <a:lnTo>
                  <a:pt x="227888" y="94953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074664" y="1683838"/>
            <a:ext cx="3620885" cy="4051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9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列式存储 Column-Based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549256" y="2297869"/>
            <a:ext cx="6925259" cy="2139614"/>
          </a:xfrm>
          <a:custGeom>
            <a:avLst/>
            <a:gdLst/>
            <a:ahLst/>
            <a:cxnLst/>
            <a:rect l="l" t="t" r="r" b="b"/>
            <a:pathLst>
              <a:path w="6925259" h="2139614">
                <a:moveTo>
                  <a:pt x="0" y="0"/>
                </a:moveTo>
                <a:lnTo>
                  <a:pt x="6925259" y="0"/>
                </a:lnTo>
                <a:lnTo>
                  <a:pt x="6925259" y="2139614"/>
                </a:lnTo>
                <a:lnTo>
                  <a:pt x="0" y="2139614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758153" y="2506766"/>
            <a:ext cx="6596087" cy="25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6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数据组织方式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58153" y="2911900"/>
            <a:ext cx="6596087" cy="25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用户ID列: </a:t>
            </a:r>
            <a:r>
              <a:rPr lang="en-US" sz="1396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[1, 2, 3]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58153" y="3266393"/>
            <a:ext cx="6596087" cy="25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用户名列: </a:t>
            </a:r>
            <a:r>
              <a:rPr lang="en-US" sz="1396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["Alice", "Bob", "Charlie"]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758153" y="3620885"/>
            <a:ext cx="6596087" cy="25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年龄列: </a:t>
            </a:r>
            <a:r>
              <a:rPr lang="en-US" sz="1396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[25, 30, 35]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58153" y="3975377"/>
            <a:ext cx="6596087" cy="25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96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城市列: </a:t>
            </a:r>
            <a:r>
              <a:rPr lang="en-US" sz="1396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["北京", "上海", "广州"]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80907" y="4697022"/>
            <a:ext cx="177246" cy="202567"/>
          </a:xfrm>
          <a:custGeom>
            <a:avLst/>
            <a:gdLst/>
            <a:ahLst/>
            <a:cxnLst/>
            <a:rect l="l" t="t" r="r" b="b"/>
            <a:pathLst>
              <a:path w="177246" h="202567">
                <a:moveTo>
                  <a:pt x="101283" y="25321"/>
                </a:moveTo>
                <a:cubicBezTo>
                  <a:pt x="101283" y="18318"/>
                  <a:pt x="95626" y="12660"/>
                  <a:pt x="88623" y="12660"/>
                </a:cubicBezTo>
                <a:cubicBezTo>
                  <a:pt x="81620" y="12660"/>
                  <a:pt x="75963" y="18318"/>
                  <a:pt x="75963" y="25321"/>
                </a:cubicBezTo>
                <a:lnTo>
                  <a:pt x="75963" y="88623"/>
                </a:lnTo>
                <a:lnTo>
                  <a:pt x="12660" y="88623"/>
                </a:lnTo>
                <a:cubicBezTo>
                  <a:pt x="5658" y="88623"/>
                  <a:pt x="0" y="94281"/>
                  <a:pt x="0" y="101283"/>
                </a:cubicBezTo>
                <a:cubicBezTo>
                  <a:pt x="0" y="108286"/>
                  <a:pt x="5658" y="113944"/>
                  <a:pt x="12660" y="113944"/>
                </a:cubicBezTo>
                <a:lnTo>
                  <a:pt x="75963" y="113944"/>
                </a:lnTo>
                <a:lnTo>
                  <a:pt x="75963" y="177246"/>
                </a:lnTo>
                <a:cubicBezTo>
                  <a:pt x="75963" y="184249"/>
                  <a:pt x="81620" y="189907"/>
                  <a:pt x="88623" y="189907"/>
                </a:cubicBezTo>
                <a:cubicBezTo>
                  <a:pt x="95626" y="189907"/>
                  <a:pt x="101283" y="184249"/>
                  <a:pt x="101283" y="177246"/>
                </a:cubicBezTo>
                <a:lnTo>
                  <a:pt x="101283" y="113944"/>
                </a:lnTo>
                <a:lnTo>
                  <a:pt x="164586" y="113944"/>
                </a:lnTo>
                <a:cubicBezTo>
                  <a:pt x="171588" y="113944"/>
                  <a:pt x="177246" y="108286"/>
                  <a:pt x="177246" y="101283"/>
                </a:cubicBezTo>
                <a:cubicBezTo>
                  <a:pt x="177246" y="94281"/>
                  <a:pt x="171588" y="88623"/>
                  <a:pt x="164586" y="88623"/>
                </a:cubicBezTo>
                <a:lnTo>
                  <a:pt x="101283" y="88623"/>
                </a:lnTo>
                <a:lnTo>
                  <a:pt x="101283" y="25321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897418" y="4646380"/>
            <a:ext cx="4152623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存储特点</a:t>
            </a:r>
            <a:r>
              <a:rPr lang="en-US" sz="15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：同类型数据连续存储，压缩效率高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80907" y="5152798"/>
            <a:ext cx="177246" cy="202567"/>
          </a:xfrm>
          <a:custGeom>
            <a:avLst/>
            <a:gdLst/>
            <a:ahLst/>
            <a:cxnLst/>
            <a:rect l="l" t="t" r="r" b="b"/>
            <a:pathLst>
              <a:path w="177246" h="202567">
                <a:moveTo>
                  <a:pt x="101283" y="25321"/>
                </a:moveTo>
                <a:cubicBezTo>
                  <a:pt x="101283" y="18318"/>
                  <a:pt x="95626" y="12660"/>
                  <a:pt x="88623" y="12660"/>
                </a:cubicBezTo>
                <a:cubicBezTo>
                  <a:pt x="81620" y="12660"/>
                  <a:pt x="75963" y="18318"/>
                  <a:pt x="75963" y="25321"/>
                </a:cubicBezTo>
                <a:lnTo>
                  <a:pt x="75963" y="88623"/>
                </a:lnTo>
                <a:lnTo>
                  <a:pt x="12660" y="88623"/>
                </a:lnTo>
                <a:cubicBezTo>
                  <a:pt x="5658" y="88623"/>
                  <a:pt x="0" y="94281"/>
                  <a:pt x="0" y="101283"/>
                </a:cubicBezTo>
                <a:cubicBezTo>
                  <a:pt x="0" y="108286"/>
                  <a:pt x="5658" y="113944"/>
                  <a:pt x="12660" y="113944"/>
                </a:cubicBezTo>
                <a:lnTo>
                  <a:pt x="75963" y="113944"/>
                </a:lnTo>
                <a:lnTo>
                  <a:pt x="75963" y="177246"/>
                </a:lnTo>
                <a:cubicBezTo>
                  <a:pt x="75963" y="184249"/>
                  <a:pt x="81620" y="189907"/>
                  <a:pt x="88623" y="189907"/>
                </a:cubicBezTo>
                <a:cubicBezTo>
                  <a:pt x="95626" y="189907"/>
                  <a:pt x="101283" y="184249"/>
                  <a:pt x="101283" y="177246"/>
                </a:cubicBezTo>
                <a:lnTo>
                  <a:pt x="101283" y="113944"/>
                </a:lnTo>
                <a:lnTo>
                  <a:pt x="164586" y="113944"/>
                </a:lnTo>
                <a:cubicBezTo>
                  <a:pt x="171588" y="113944"/>
                  <a:pt x="177246" y="108286"/>
                  <a:pt x="177246" y="101283"/>
                </a:cubicBezTo>
                <a:cubicBezTo>
                  <a:pt x="177246" y="94281"/>
                  <a:pt x="171588" y="88623"/>
                  <a:pt x="164586" y="88623"/>
                </a:cubicBezTo>
                <a:lnTo>
                  <a:pt x="101283" y="88623"/>
                </a:lnTo>
                <a:lnTo>
                  <a:pt x="101283" y="25321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897418" y="5102156"/>
            <a:ext cx="4203265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r>
              <a:rPr lang="en-US" sz="15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：分析型查询(OLAP)，聚合统计分析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8580907" y="5608573"/>
            <a:ext cx="177246" cy="202567"/>
          </a:xfrm>
          <a:custGeom>
            <a:avLst/>
            <a:gdLst/>
            <a:ahLst/>
            <a:cxnLst/>
            <a:rect l="l" t="t" r="r" b="b"/>
            <a:pathLst>
              <a:path w="177246" h="202567">
                <a:moveTo>
                  <a:pt x="101283" y="25321"/>
                </a:moveTo>
                <a:cubicBezTo>
                  <a:pt x="101283" y="18318"/>
                  <a:pt x="95626" y="12660"/>
                  <a:pt x="88623" y="12660"/>
                </a:cubicBezTo>
                <a:cubicBezTo>
                  <a:pt x="81620" y="12660"/>
                  <a:pt x="75963" y="18318"/>
                  <a:pt x="75963" y="25321"/>
                </a:cubicBezTo>
                <a:lnTo>
                  <a:pt x="75963" y="88623"/>
                </a:lnTo>
                <a:lnTo>
                  <a:pt x="12660" y="88623"/>
                </a:lnTo>
                <a:cubicBezTo>
                  <a:pt x="5658" y="88623"/>
                  <a:pt x="0" y="94281"/>
                  <a:pt x="0" y="101283"/>
                </a:cubicBezTo>
                <a:cubicBezTo>
                  <a:pt x="0" y="108286"/>
                  <a:pt x="5658" y="113944"/>
                  <a:pt x="12660" y="113944"/>
                </a:cubicBezTo>
                <a:lnTo>
                  <a:pt x="75963" y="113944"/>
                </a:lnTo>
                <a:lnTo>
                  <a:pt x="75963" y="177246"/>
                </a:lnTo>
                <a:cubicBezTo>
                  <a:pt x="75963" y="184249"/>
                  <a:pt x="81620" y="189907"/>
                  <a:pt x="88623" y="189907"/>
                </a:cubicBezTo>
                <a:cubicBezTo>
                  <a:pt x="95626" y="189907"/>
                  <a:pt x="101283" y="184249"/>
                  <a:pt x="101283" y="177246"/>
                </a:cubicBezTo>
                <a:lnTo>
                  <a:pt x="101283" y="113944"/>
                </a:lnTo>
                <a:lnTo>
                  <a:pt x="164586" y="113944"/>
                </a:lnTo>
                <a:cubicBezTo>
                  <a:pt x="171588" y="113944"/>
                  <a:pt x="177246" y="108286"/>
                  <a:pt x="177246" y="101283"/>
                </a:cubicBezTo>
                <a:cubicBezTo>
                  <a:pt x="177246" y="94281"/>
                  <a:pt x="171588" y="88623"/>
                  <a:pt x="164586" y="88623"/>
                </a:cubicBezTo>
                <a:lnTo>
                  <a:pt x="101283" y="88623"/>
                </a:lnTo>
                <a:lnTo>
                  <a:pt x="101283" y="25321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8897418" y="5557931"/>
            <a:ext cx="4038679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查询优势</a:t>
            </a:r>
            <a:r>
              <a:rPr lang="en-US" sz="15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：只读取查询需要的列，I/O效率高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12748" y="6387190"/>
            <a:ext cx="15230505" cy="2240897"/>
          </a:xfrm>
          <a:custGeom>
            <a:avLst/>
            <a:gdLst/>
            <a:ahLst/>
            <a:cxnLst/>
            <a:rect l="l" t="t" r="r" b="b"/>
            <a:pathLst>
              <a:path w="15230505" h="2240897">
                <a:moveTo>
                  <a:pt x="0" y="0"/>
                </a:moveTo>
                <a:lnTo>
                  <a:pt x="15230505" y="0"/>
                </a:lnTo>
                <a:lnTo>
                  <a:pt x="15230505" y="2240897"/>
                </a:lnTo>
                <a:lnTo>
                  <a:pt x="0" y="2240897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803938" y="6697371"/>
            <a:ext cx="253209" cy="253209"/>
          </a:xfrm>
          <a:custGeom>
            <a:avLst/>
            <a:gdLst/>
            <a:ahLst/>
            <a:cxnLst/>
            <a:rect l="l" t="t" r="r" b="b"/>
            <a:pathLst>
              <a:path w="253209" h="253209">
                <a:moveTo>
                  <a:pt x="15826" y="15826"/>
                </a:moveTo>
                <a:cubicBezTo>
                  <a:pt x="24579" y="15826"/>
                  <a:pt x="31651" y="22898"/>
                  <a:pt x="31651" y="31651"/>
                </a:cubicBezTo>
                <a:lnTo>
                  <a:pt x="31651" y="197819"/>
                </a:lnTo>
                <a:cubicBezTo>
                  <a:pt x="31651" y="202171"/>
                  <a:pt x="35212" y="205732"/>
                  <a:pt x="39564" y="205732"/>
                </a:cubicBezTo>
                <a:lnTo>
                  <a:pt x="237383" y="205732"/>
                </a:lnTo>
                <a:cubicBezTo>
                  <a:pt x="246137" y="205732"/>
                  <a:pt x="253209" y="212804"/>
                  <a:pt x="253209" y="221558"/>
                </a:cubicBezTo>
                <a:cubicBezTo>
                  <a:pt x="253209" y="230311"/>
                  <a:pt x="246137" y="237383"/>
                  <a:pt x="237383" y="237383"/>
                </a:cubicBezTo>
                <a:lnTo>
                  <a:pt x="39564" y="237383"/>
                </a:lnTo>
                <a:cubicBezTo>
                  <a:pt x="17705" y="237383"/>
                  <a:pt x="0" y="219678"/>
                  <a:pt x="0" y="197819"/>
                </a:cubicBezTo>
                <a:lnTo>
                  <a:pt x="0" y="31651"/>
                </a:lnTo>
                <a:cubicBezTo>
                  <a:pt x="0" y="22898"/>
                  <a:pt x="7072" y="15826"/>
                  <a:pt x="15826" y="15826"/>
                </a:cubicBezTo>
                <a:close/>
                <a:moveTo>
                  <a:pt x="63302" y="47477"/>
                </a:moveTo>
                <a:cubicBezTo>
                  <a:pt x="63302" y="38723"/>
                  <a:pt x="70374" y="31651"/>
                  <a:pt x="79128" y="31651"/>
                </a:cubicBezTo>
                <a:lnTo>
                  <a:pt x="174081" y="31651"/>
                </a:lnTo>
                <a:cubicBezTo>
                  <a:pt x="182835" y="31651"/>
                  <a:pt x="189907" y="38723"/>
                  <a:pt x="189907" y="47477"/>
                </a:cubicBezTo>
                <a:cubicBezTo>
                  <a:pt x="189907" y="56230"/>
                  <a:pt x="182835" y="63302"/>
                  <a:pt x="174081" y="63302"/>
                </a:cubicBezTo>
                <a:lnTo>
                  <a:pt x="79128" y="63302"/>
                </a:lnTo>
                <a:cubicBezTo>
                  <a:pt x="70374" y="63302"/>
                  <a:pt x="63302" y="56230"/>
                  <a:pt x="63302" y="47477"/>
                </a:cubicBezTo>
                <a:close/>
                <a:moveTo>
                  <a:pt x="79128" y="87040"/>
                </a:moveTo>
                <a:lnTo>
                  <a:pt x="142430" y="87040"/>
                </a:lnTo>
                <a:cubicBezTo>
                  <a:pt x="151183" y="87040"/>
                  <a:pt x="158255" y="94113"/>
                  <a:pt x="158255" y="102866"/>
                </a:cubicBezTo>
                <a:cubicBezTo>
                  <a:pt x="158255" y="111620"/>
                  <a:pt x="151183" y="118692"/>
                  <a:pt x="142430" y="118692"/>
                </a:cubicBezTo>
                <a:lnTo>
                  <a:pt x="79128" y="118692"/>
                </a:lnTo>
                <a:cubicBezTo>
                  <a:pt x="70374" y="118692"/>
                  <a:pt x="63302" y="111620"/>
                  <a:pt x="63302" y="102866"/>
                </a:cubicBezTo>
                <a:cubicBezTo>
                  <a:pt x="63302" y="94113"/>
                  <a:pt x="70374" y="87040"/>
                  <a:pt x="79128" y="87040"/>
                </a:cubicBezTo>
                <a:close/>
                <a:moveTo>
                  <a:pt x="79128" y="142430"/>
                </a:moveTo>
                <a:lnTo>
                  <a:pt x="205732" y="142430"/>
                </a:lnTo>
                <a:cubicBezTo>
                  <a:pt x="214486" y="142430"/>
                  <a:pt x="221558" y="149502"/>
                  <a:pt x="221558" y="158255"/>
                </a:cubicBezTo>
                <a:cubicBezTo>
                  <a:pt x="221558" y="167009"/>
                  <a:pt x="214486" y="174081"/>
                  <a:pt x="205732" y="174081"/>
                </a:cubicBezTo>
                <a:lnTo>
                  <a:pt x="79128" y="174081"/>
                </a:lnTo>
                <a:cubicBezTo>
                  <a:pt x="70374" y="174081"/>
                  <a:pt x="63302" y="167009"/>
                  <a:pt x="63302" y="158255"/>
                </a:cubicBezTo>
                <a:cubicBezTo>
                  <a:pt x="63302" y="149502"/>
                  <a:pt x="70374" y="142430"/>
                  <a:pt x="79128" y="142430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1240723" y="6646729"/>
            <a:ext cx="1645857" cy="354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9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性能对比分析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77333" y="7203788"/>
            <a:ext cx="3671526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91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5-10x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1645" y="7760847"/>
            <a:ext cx="3582903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查询性能提升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7975" y="8115340"/>
            <a:ext cx="3570243" cy="25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6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列裁剪+高效压缩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17009" y="7203788"/>
            <a:ext cx="3671526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91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50-85%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461320" y="7760847"/>
            <a:ext cx="3582903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存储空间节省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467650" y="8115340"/>
            <a:ext cx="3570243" cy="25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6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同类型数据压缩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156783" y="7203788"/>
            <a:ext cx="3671526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91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80-95%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01094" y="7760847"/>
            <a:ext cx="3582903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I/O数据量减少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8207424" y="8115340"/>
            <a:ext cx="3570243" cy="25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6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只读取需要的列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896557" y="7203788"/>
            <a:ext cx="3671526" cy="455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91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10-50x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940868" y="7760847"/>
            <a:ext cx="3582903" cy="30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5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压缩比提升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1947199" y="8115340"/>
            <a:ext cx="3570243" cy="253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6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vs 行式存储2-4x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558" y="472558"/>
            <a:ext cx="47256" cy="567070"/>
          </a:xfrm>
          <a:custGeom>
            <a:avLst/>
            <a:gdLst/>
            <a:ahLst/>
            <a:cxnLst/>
            <a:rect l="l" t="t" r="r" b="b"/>
            <a:pathLst>
              <a:path w="47256" h="567070">
                <a:moveTo>
                  <a:pt x="0" y="0"/>
                </a:moveTo>
                <a:lnTo>
                  <a:pt x="47256" y="0"/>
                </a:lnTo>
                <a:lnTo>
                  <a:pt x="47256" y="567070"/>
                </a:lnTo>
                <a:lnTo>
                  <a:pt x="0" y="56707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08837" y="519814"/>
            <a:ext cx="4004930" cy="472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34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Parquet的核心优势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96186" y="1323163"/>
            <a:ext cx="7513674" cy="4323907"/>
          </a:xfrm>
          <a:custGeom>
            <a:avLst/>
            <a:gdLst/>
            <a:ahLst/>
            <a:cxnLst/>
            <a:rect l="l" t="t" r="r" b="b"/>
            <a:pathLst>
              <a:path w="7513674" h="4323907">
                <a:moveTo>
                  <a:pt x="0" y="0"/>
                </a:moveTo>
                <a:lnTo>
                  <a:pt x="7513674" y="0"/>
                </a:lnTo>
                <a:lnTo>
                  <a:pt x="7513674" y="4323907"/>
                </a:lnTo>
                <a:lnTo>
                  <a:pt x="0" y="4323907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96186" y="1323163"/>
            <a:ext cx="47256" cy="4323907"/>
          </a:xfrm>
          <a:custGeom>
            <a:avLst/>
            <a:gdLst/>
            <a:ahLst/>
            <a:cxnLst/>
            <a:rect l="l" t="t" r="r" b="b"/>
            <a:pathLst>
              <a:path w="47256" h="4323907">
                <a:moveTo>
                  <a:pt x="0" y="0"/>
                </a:moveTo>
                <a:lnTo>
                  <a:pt x="47256" y="0"/>
                </a:lnTo>
                <a:lnTo>
                  <a:pt x="47256" y="4323907"/>
                </a:lnTo>
                <a:lnTo>
                  <a:pt x="0" y="4323907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838791" y="1630326"/>
            <a:ext cx="283535" cy="283535"/>
          </a:xfrm>
          <a:custGeom>
            <a:avLst/>
            <a:gdLst/>
            <a:ahLst/>
            <a:cxnLst/>
            <a:rect l="l" t="t" r="r" b="b"/>
            <a:pathLst>
              <a:path w="283535" h="283535">
                <a:moveTo>
                  <a:pt x="243386" y="3876"/>
                </a:moveTo>
                <a:cubicBezTo>
                  <a:pt x="248591" y="-1329"/>
                  <a:pt x="257009" y="-1329"/>
                  <a:pt x="262159" y="3876"/>
                </a:cubicBezTo>
                <a:lnTo>
                  <a:pt x="279880" y="21597"/>
                </a:lnTo>
                <a:cubicBezTo>
                  <a:pt x="285085" y="26803"/>
                  <a:pt x="285085" y="35220"/>
                  <a:pt x="279880" y="40370"/>
                </a:cubicBezTo>
                <a:lnTo>
                  <a:pt x="231701" y="88549"/>
                </a:lnTo>
                <a:lnTo>
                  <a:pt x="253299" y="110147"/>
                </a:lnTo>
                <a:cubicBezTo>
                  <a:pt x="257120" y="113968"/>
                  <a:pt x="258227" y="119672"/>
                  <a:pt x="256178" y="124656"/>
                </a:cubicBezTo>
                <a:cubicBezTo>
                  <a:pt x="254129" y="129640"/>
                  <a:pt x="249311" y="132907"/>
                  <a:pt x="243940" y="132907"/>
                </a:cubicBezTo>
                <a:lnTo>
                  <a:pt x="164195" y="132907"/>
                </a:lnTo>
                <a:cubicBezTo>
                  <a:pt x="156830" y="132907"/>
                  <a:pt x="150905" y="126982"/>
                  <a:pt x="150905" y="119616"/>
                </a:cubicBezTo>
                <a:lnTo>
                  <a:pt x="150905" y="39872"/>
                </a:lnTo>
                <a:cubicBezTo>
                  <a:pt x="150905" y="34500"/>
                  <a:pt x="154117" y="29627"/>
                  <a:pt x="159101" y="27578"/>
                </a:cubicBezTo>
                <a:cubicBezTo>
                  <a:pt x="164085" y="25529"/>
                  <a:pt x="169789" y="26637"/>
                  <a:pt x="173610" y="30458"/>
                </a:cubicBezTo>
                <a:lnTo>
                  <a:pt x="195207" y="52055"/>
                </a:lnTo>
                <a:lnTo>
                  <a:pt x="243386" y="3876"/>
                </a:lnTo>
                <a:close/>
                <a:moveTo>
                  <a:pt x="40149" y="150628"/>
                </a:moveTo>
                <a:lnTo>
                  <a:pt x="119893" y="150628"/>
                </a:lnTo>
                <a:cubicBezTo>
                  <a:pt x="127258" y="150628"/>
                  <a:pt x="133184" y="156553"/>
                  <a:pt x="133184" y="163919"/>
                </a:cubicBezTo>
                <a:lnTo>
                  <a:pt x="133184" y="243663"/>
                </a:lnTo>
                <a:cubicBezTo>
                  <a:pt x="133184" y="249034"/>
                  <a:pt x="129972" y="253908"/>
                  <a:pt x="124988" y="255957"/>
                </a:cubicBezTo>
                <a:cubicBezTo>
                  <a:pt x="120004" y="258006"/>
                  <a:pt x="114300" y="256898"/>
                  <a:pt x="110479" y="253077"/>
                </a:cubicBezTo>
                <a:lnTo>
                  <a:pt x="88882" y="231480"/>
                </a:lnTo>
                <a:lnTo>
                  <a:pt x="40703" y="279658"/>
                </a:lnTo>
                <a:cubicBezTo>
                  <a:pt x="35497" y="284864"/>
                  <a:pt x="27080" y="284864"/>
                  <a:pt x="21930" y="279658"/>
                </a:cubicBezTo>
                <a:lnTo>
                  <a:pt x="4209" y="261938"/>
                </a:lnTo>
                <a:cubicBezTo>
                  <a:pt x="-997" y="256732"/>
                  <a:pt x="-997" y="248315"/>
                  <a:pt x="4209" y="243164"/>
                </a:cubicBezTo>
                <a:lnTo>
                  <a:pt x="52388" y="194986"/>
                </a:lnTo>
                <a:lnTo>
                  <a:pt x="30790" y="173388"/>
                </a:lnTo>
                <a:cubicBezTo>
                  <a:pt x="26969" y="169567"/>
                  <a:pt x="25861" y="163863"/>
                  <a:pt x="27910" y="158879"/>
                </a:cubicBezTo>
                <a:cubicBezTo>
                  <a:pt x="29959" y="153895"/>
                  <a:pt x="34777" y="150628"/>
                  <a:pt x="40149" y="150628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99535" y="1606698"/>
            <a:ext cx="1535814" cy="330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高效数据压缩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3349" y="2126512"/>
            <a:ext cx="7005674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压缩效果对比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9256" y="2463209"/>
            <a:ext cx="2197395" cy="956930"/>
          </a:xfrm>
          <a:custGeom>
            <a:avLst/>
            <a:gdLst/>
            <a:ahLst/>
            <a:cxnLst/>
            <a:rect l="l" t="t" r="r" b="b"/>
            <a:pathLst>
              <a:path w="2197395" h="956930">
                <a:moveTo>
                  <a:pt x="0" y="0"/>
                </a:moveTo>
                <a:lnTo>
                  <a:pt x="2197395" y="0"/>
                </a:lnTo>
                <a:lnTo>
                  <a:pt x="2197395" y="956930"/>
                </a:lnTo>
                <a:lnTo>
                  <a:pt x="0" y="95693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5A637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915581" y="2610884"/>
            <a:ext cx="1984744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CSV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6047" y="2894419"/>
            <a:ext cx="2043814" cy="37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33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1GB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64109" y="2463209"/>
            <a:ext cx="2197395" cy="956930"/>
          </a:xfrm>
          <a:custGeom>
            <a:avLst/>
            <a:gdLst/>
            <a:ahLst/>
            <a:cxnLst/>
            <a:rect l="l" t="t" r="r" b="b"/>
            <a:pathLst>
              <a:path w="2197395" h="956930">
                <a:moveTo>
                  <a:pt x="0" y="0"/>
                </a:moveTo>
                <a:lnTo>
                  <a:pt x="2197395" y="0"/>
                </a:lnTo>
                <a:lnTo>
                  <a:pt x="2197395" y="956930"/>
                </a:lnTo>
                <a:lnTo>
                  <a:pt x="0" y="95693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270435" y="2610884"/>
            <a:ext cx="1984744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Parquet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240900" y="2894419"/>
            <a:ext cx="2043814" cy="37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33" dirty="0">
                <a:solidFill>
                  <a:srgbClr val="3D8B8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100-200MB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519055" y="2463209"/>
            <a:ext cx="2197395" cy="956930"/>
          </a:xfrm>
          <a:custGeom>
            <a:avLst/>
            <a:gdLst/>
            <a:ahLst/>
            <a:cxnLst/>
            <a:rect l="l" t="t" r="r" b="b"/>
            <a:pathLst>
              <a:path w="2197395" h="956930">
                <a:moveTo>
                  <a:pt x="0" y="0"/>
                </a:moveTo>
                <a:lnTo>
                  <a:pt x="2197395" y="0"/>
                </a:lnTo>
                <a:lnTo>
                  <a:pt x="2197395" y="956930"/>
                </a:lnTo>
                <a:lnTo>
                  <a:pt x="0" y="95693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625380" y="2610884"/>
            <a:ext cx="1984744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压缩比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95845" y="2894419"/>
            <a:ext cx="2043814" cy="378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233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5-10:1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03349" y="3615070"/>
            <a:ext cx="701748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压缩原理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03349" y="3993116"/>
            <a:ext cx="7005674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同类型数据聚集，压缩算法更有效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3349" y="4276651"/>
            <a:ext cx="7005674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支持</a:t>
            </a:r>
            <a:r>
              <a:rPr lang="en-US" sz="1302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SNAPPY、GZIP、BROTLI</a:t>
            </a:r>
            <a:r>
              <a:rPr lang="en-US" sz="130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等多种算法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03349" y="4560186"/>
            <a:ext cx="7005674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字典编码+RLE进一步减少数据体积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69767" y="1323163"/>
            <a:ext cx="7513674" cy="4323907"/>
          </a:xfrm>
          <a:custGeom>
            <a:avLst/>
            <a:gdLst/>
            <a:ahLst/>
            <a:cxnLst/>
            <a:rect l="l" t="t" r="r" b="b"/>
            <a:pathLst>
              <a:path w="7513674" h="4323907">
                <a:moveTo>
                  <a:pt x="0" y="0"/>
                </a:moveTo>
                <a:lnTo>
                  <a:pt x="7513674" y="0"/>
                </a:lnTo>
                <a:lnTo>
                  <a:pt x="7513674" y="4323907"/>
                </a:lnTo>
                <a:lnTo>
                  <a:pt x="0" y="4323907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8269767" y="1323163"/>
            <a:ext cx="47256" cy="4323907"/>
          </a:xfrm>
          <a:custGeom>
            <a:avLst/>
            <a:gdLst/>
            <a:ahLst/>
            <a:cxnLst/>
            <a:rect l="l" t="t" r="r" b="b"/>
            <a:pathLst>
              <a:path w="47256" h="4323907">
                <a:moveTo>
                  <a:pt x="0" y="0"/>
                </a:moveTo>
                <a:lnTo>
                  <a:pt x="47256" y="0"/>
                </a:lnTo>
                <a:lnTo>
                  <a:pt x="47256" y="4323907"/>
                </a:lnTo>
                <a:lnTo>
                  <a:pt x="0" y="4323907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630093" y="1630326"/>
            <a:ext cx="248093" cy="283535"/>
          </a:xfrm>
          <a:custGeom>
            <a:avLst/>
            <a:gdLst/>
            <a:ahLst/>
            <a:cxnLst/>
            <a:rect l="l" t="t" r="r" b="b"/>
            <a:pathLst>
              <a:path w="248093" h="283535">
                <a:moveTo>
                  <a:pt x="187620" y="-5482"/>
                </a:moveTo>
                <a:cubicBezTo>
                  <a:pt x="194210" y="-720"/>
                  <a:pt x="196647" y="7919"/>
                  <a:pt x="193657" y="15450"/>
                </a:cubicBezTo>
                <a:lnTo>
                  <a:pt x="150240" y="124047"/>
                </a:lnTo>
                <a:lnTo>
                  <a:pt x="230372" y="124047"/>
                </a:lnTo>
                <a:cubicBezTo>
                  <a:pt x="237848" y="124047"/>
                  <a:pt x="244493" y="128698"/>
                  <a:pt x="247041" y="135731"/>
                </a:cubicBezTo>
                <a:cubicBezTo>
                  <a:pt x="249588" y="142764"/>
                  <a:pt x="247428" y="150628"/>
                  <a:pt x="241725" y="155390"/>
                </a:cubicBezTo>
                <a:lnTo>
                  <a:pt x="82236" y="288297"/>
                </a:lnTo>
                <a:cubicBezTo>
                  <a:pt x="75978" y="293503"/>
                  <a:pt x="67063" y="293780"/>
                  <a:pt x="60473" y="289017"/>
                </a:cubicBezTo>
                <a:cubicBezTo>
                  <a:pt x="53883" y="284255"/>
                  <a:pt x="51446" y="275616"/>
                  <a:pt x="54436" y="268084"/>
                </a:cubicBezTo>
                <a:lnTo>
                  <a:pt x="97853" y="159488"/>
                </a:lnTo>
                <a:lnTo>
                  <a:pt x="17721" y="159488"/>
                </a:lnTo>
                <a:cubicBezTo>
                  <a:pt x="10245" y="159488"/>
                  <a:pt x="3600" y="154837"/>
                  <a:pt x="1052" y="147804"/>
                </a:cubicBezTo>
                <a:cubicBezTo>
                  <a:pt x="-1495" y="140771"/>
                  <a:pt x="665" y="132907"/>
                  <a:pt x="6368" y="128144"/>
                </a:cubicBezTo>
                <a:lnTo>
                  <a:pt x="165857" y="-4763"/>
                </a:lnTo>
                <a:cubicBezTo>
                  <a:pt x="172115" y="-9968"/>
                  <a:pt x="181030" y="-10245"/>
                  <a:pt x="187620" y="-5482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073116" y="1606698"/>
            <a:ext cx="1535814" cy="330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86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快速查询性能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76930" y="2126512"/>
            <a:ext cx="7005674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性能提升对比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582837" y="2463209"/>
            <a:ext cx="6911163" cy="437116"/>
          </a:xfrm>
          <a:custGeom>
            <a:avLst/>
            <a:gdLst/>
            <a:ahLst/>
            <a:cxnLst/>
            <a:rect l="l" t="t" r="r" b="b"/>
            <a:pathLst>
              <a:path w="6911163" h="437116">
                <a:moveTo>
                  <a:pt x="0" y="0"/>
                </a:moveTo>
                <a:lnTo>
                  <a:pt x="6911163" y="0"/>
                </a:lnTo>
                <a:lnTo>
                  <a:pt x="6911163" y="437116"/>
                </a:lnTo>
                <a:lnTo>
                  <a:pt x="0" y="43711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5A637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8683256" y="2563628"/>
            <a:ext cx="744279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单列聚合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972063" y="2563628"/>
            <a:ext cx="508000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b="1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5-10x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582837" y="3006651"/>
            <a:ext cx="6911163" cy="437116"/>
          </a:xfrm>
          <a:custGeom>
            <a:avLst/>
            <a:gdLst/>
            <a:ahLst/>
            <a:cxnLst/>
            <a:rect l="l" t="t" r="r" b="b"/>
            <a:pathLst>
              <a:path w="6911163" h="437116">
                <a:moveTo>
                  <a:pt x="0" y="0"/>
                </a:moveTo>
                <a:lnTo>
                  <a:pt x="6911163" y="0"/>
                </a:lnTo>
                <a:lnTo>
                  <a:pt x="6911163" y="437116"/>
                </a:lnTo>
                <a:lnTo>
                  <a:pt x="0" y="43711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5A637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683256" y="3107070"/>
            <a:ext cx="744279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多列筛选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5043593" y="3107070"/>
            <a:ext cx="437116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b="1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3-5x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8582837" y="3550093"/>
            <a:ext cx="6911163" cy="437116"/>
          </a:xfrm>
          <a:custGeom>
            <a:avLst/>
            <a:gdLst/>
            <a:ahLst/>
            <a:cxnLst/>
            <a:rect l="l" t="t" r="r" b="b"/>
            <a:pathLst>
              <a:path w="6911163" h="437116">
                <a:moveTo>
                  <a:pt x="0" y="0"/>
                </a:moveTo>
                <a:lnTo>
                  <a:pt x="6911163" y="0"/>
                </a:lnTo>
                <a:lnTo>
                  <a:pt x="6911163" y="437116"/>
                </a:lnTo>
                <a:lnTo>
                  <a:pt x="0" y="43711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5A637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683256" y="3650512"/>
            <a:ext cx="744279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范围查询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868414" y="3650512"/>
            <a:ext cx="602512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b="1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10-50x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76930" y="4182140"/>
            <a:ext cx="7017488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查询优化原理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76930" y="4560186"/>
            <a:ext cx="7005674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02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列裁剪</a:t>
            </a:r>
            <a:r>
              <a:rPr lang="en-US" sz="130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：只读取查询需要的列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76930" y="4843721"/>
            <a:ext cx="7005674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02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谓词下推</a:t>
            </a:r>
            <a:r>
              <a:rPr lang="en-US" sz="130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：利用统计信息跳过数据块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576930" y="5127256"/>
            <a:ext cx="7005674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02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并行处理</a:t>
            </a:r>
            <a:r>
              <a:rPr lang="en-US" sz="130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：不同列并行处理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478465" y="5889256"/>
            <a:ext cx="4938233" cy="1854791"/>
          </a:xfrm>
          <a:custGeom>
            <a:avLst/>
            <a:gdLst/>
            <a:ahLst/>
            <a:cxnLst/>
            <a:rect l="l" t="t" r="r" b="b"/>
            <a:pathLst>
              <a:path w="4938233" h="1854791">
                <a:moveTo>
                  <a:pt x="0" y="0"/>
                </a:moveTo>
                <a:lnTo>
                  <a:pt x="4938233" y="0"/>
                </a:lnTo>
                <a:lnTo>
                  <a:pt x="4938233" y="1854791"/>
                </a:lnTo>
                <a:lnTo>
                  <a:pt x="0" y="1854791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702930" y="6143256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0" y="33227"/>
                </a:moveTo>
                <a:cubicBezTo>
                  <a:pt x="0" y="22220"/>
                  <a:pt x="8930" y="13291"/>
                  <a:pt x="19936" y="13291"/>
                </a:cubicBezTo>
                <a:lnTo>
                  <a:pt x="59808" y="13291"/>
                </a:lnTo>
                <a:cubicBezTo>
                  <a:pt x="70814" y="13291"/>
                  <a:pt x="79744" y="22220"/>
                  <a:pt x="79744" y="33227"/>
                </a:cubicBezTo>
                <a:lnTo>
                  <a:pt x="79744" y="39872"/>
                </a:lnTo>
                <a:lnTo>
                  <a:pt x="132907" y="39872"/>
                </a:lnTo>
                <a:lnTo>
                  <a:pt x="132907" y="33227"/>
                </a:lnTo>
                <a:cubicBezTo>
                  <a:pt x="132907" y="22220"/>
                  <a:pt x="141837" y="13291"/>
                  <a:pt x="152843" y="13291"/>
                </a:cubicBezTo>
                <a:lnTo>
                  <a:pt x="192715" y="13291"/>
                </a:lnTo>
                <a:cubicBezTo>
                  <a:pt x="203721" y="13291"/>
                  <a:pt x="212651" y="22220"/>
                  <a:pt x="212651" y="33227"/>
                </a:cubicBezTo>
                <a:lnTo>
                  <a:pt x="212651" y="73099"/>
                </a:lnTo>
                <a:cubicBezTo>
                  <a:pt x="212651" y="84105"/>
                  <a:pt x="203721" y="93035"/>
                  <a:pt x="192715" y="93035"/>
                </a:cubicBezTo>
                <a:lnTo>
                  <a:pt x="152843" y="93035"/>
                </a:lnTo>
                <a:cubicBezTo>
                  <a:pt x="141837" y="93035"/>
                  <a:pt x="132907" y="84105"/>
                  <a:pt x="132907" y="73099"/>
                </a:cubicBezTo>
                <a:lnTo>
                  <a:pt x="132907" y="66453"/>
                </a:lnTo>
                <a:lnTo>
                  <a:pt x="79744" y="66453"/>
                </a:lnTo>
                <a:lnTo>
                  <a:pt x="79744" y="73099"/>
                </a:lnTo>
                <a:cubicBezTo>
                  <a:pt x="79744" y="76131"/>
                  <a:pt x="79038" y="79038"/>
                  <a:pt x="77834" y="81613"/>
                </a:cubicBezTo>
                <a:lnTo>
                  <a:pt x="106326" y="119616"/>
                </a:lnTo>
                <a:lnTo>
                  <a:pt x="139552" y="119616"/>
                </a:lnTo>
                <a:cubicBezTo>
                  <a:pt x="150559" y="119616"/>
                  <a:pt x="159488" y="128546"/>
                  <a:pt x="159488" y="139552"/>
                </a:cubicBezTo>
                <a:lnTo>
                  <a:pt x="159488" y="179424"/>
                </a:lnTo>
                <a:cubicBezTo>
                  <a:pt x="159488" y="190431"/>
                  <a:pt x="150559" y="199360"/>
                  <a:pt x="139552" y="199360"/>
                </a:cubicBezTo>
                <a:lnTo>
                  <a:pt x="99680" y="199360"/>
                </a:lnTo>
                <a:cubicBezTo>
                  <a:pt x="88674" y="199360"/>
                  <a:pt x="79744" y="190431"/>
                  <a:pt x="79744" y="179424"/>
                </a:cubicBezTo>
                <a:lnTo>
                  <a:pt x="79744" y="139552"/>
                </a:lnTo>
                <a:cubicBezTo>
                  <a:pt x="79744" y="136520"/>
                  <a:pt x="80450" y="133613"/>
                  <a:pt x="81655" y="131038"/>
                </a:cubicBezTo>
                <a:lnTo>
                  <a:pt x="53163" y="93035"/>
                </a:lnTo>
                <a:lnTo>
                  <a:pt x="19936" y="93035"/>
                </a:lnTo>
                <a:cubicBezTo>
                  <a:pt x="8930" y="93035"/>
                  <a:pt x="0" y="84105"/>
                  <a:pt x="0" y="73099"/>
                </a:cubicBezTo>
                <a:lnTo>
                  <a:pt x="0" y="33227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080977" y="6084186"/>
            <a:ext cx="1382233" cy="330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复杂数据类型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3395" y="6556744"/>
            <a:ext cx="4631070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</a:t>
            </a:r>
            <a:r>
              <a:rPr lang="en-US" sz="1302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ARRAY、MAP、STRUCT</a:t>
            </a:r>
            <a:r>
              <a:rPr lang="en-US" sz="130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等复杂类型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73395" y="6887535"/>
            <a:ext cx="2315535" cy="189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ARRAY: 用户标签列表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2969179" y="6887535"/>
            <a:ext cx="2315535" cy="189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MAP: 商品属性键值对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73395" y="7123814"/>
            <a:ext cx="2315535" cy="189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STRUCT: 嵌套地址信息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2969179" y="7123814"/>
            <a:ext cx="2315535" cy="189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UNION: 多类型字段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5660822" y="5889256"/>
            <a:ext cx="4938233" cy="1854791"/>
          </a:xfrm>
          <a:custGeom>
            <a:avLst/>
            <a:gdLst/>
            <a:ahLst/>
            <a:cxnLst/>
            <a:rect l="l" t="t" r="r" b="b"/>
            <a:pathLst>
              <a:path w="4938233" h="1854791">
                <a:moveTo>
                  <a:pt x="0" y="0"/>
                </a:moveTo>
                <a:lnTo>
                  <a:pt x="4938233" y="0"/>
                </a:lnTo>
                <a:lnTo>
                  <a:pt x="4938233" y="1854791"/>
                </a:lnTo>
                <a:lnTo>
                  <a:pt x="0" y="1854791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7"/>
          <p:cNvSpPr/>
          <p:nvPr/>
        </p:nvSpPr>
        <p:spPr>
          <a:xfrm>
            <a:off x="5885287" y="6143256"/>
            <a:ext cx="212651" cy="212651"/>
          </a:xfrm>
          <a:custGeom>
            <a:avLst/>
            <a:gdLst/>
            <a:ahLst/>
            <a:cxnLst/>
            <a:rect l="l" t="t" r="r" b="b"/>
            <a:pathLst>
              <a:path w="212651" h="212651">
                <a:moveTo>
                  <a:pt x="146156" y="116294"/>
                </a:moveTo>
                <a:lnTo>
                  <a:pt x="66869" y="116294"/>
                </a:lnTo>
                <a:cubicBezTo>
                  <a:pt x="68073" y="143083"/>
                  <a:pt x="74013" y="167754"/>
                  <a:pt x="82444" y="185821"/>
                </a:cubicBezTo>
                <a:cubicBezTo>
                  <a:pt x="87179" y="195996"/>
                  <a:pt x="92287" y="203182"/>
                  <a:pt x="97022" y="207584"/>
                </a:cubicBezTo>
                <a:cubicBezTo>
                  <a:pt x="101674" y="211945"/>
                  <a:pt x="104872" y="212651"/>
                  <a:pt x="106533" y="212651"/>
                </a:cubicBezTo>
                <a:cubicBezTo>
                  <a:pt x="108195" y="212651"/>
                  <a:pt x="111393" y="211945"/>
                  <a:pt x="116044" y="207584"/>
                </a:cubicBezTo>
                <a:cubicBezTo>
                  <a:pt x="120779" y="203182"/>
                  <a:pt x="125888" y="195955"/>
                  <a:pt x="130623" y="185821"/>
                </a:cubicBezTo>
                <a:cubicBezTo>
                  <a:pt x="139054" y="167754"/>
                  <a:pt x="144993" y="143083"/>
                  <a:pt x="146198" y="116294"/>
                </a:cubicBezTo>
                <a:close/>
                <a:moveTo>
                  <a:pt x="66827" y="96358"/>
                </a:moveTo>
                <a:lnTo>
                  <a:pt x="146115" y="96358"/>
                </a:lnTo>
                <a:cubicBezTo>
                  <a:pt x="144952" y="69568"/>
                  <a:pt x="139012" y="44898"/>
                  <a:pt x="130581" y="26831"/>
                </a:cubicBezTo>
                <a:cubicBezTo>
                  <a:pt x="125846" y="16696"/>
                  <a:pt x="120738" y="9470"/>
                  <a:pt x="116003" y="5067"/>
                </a:cubicBezTo>
                <a:cubicBezTo>
                  <a:pt x="111351" y="706"/>
                  <a:pt x="108153" y="0"/>
                  <a:pt x="106492" y="0"/>
                </a:cubicBezTo>
                <a:cubicBezTo>
                  <a:pt x="104830" y="0"/>
                  <a:pt x="101632" y="706"/>
                  <a:pt x="96981" y="5067"/>
                </a:cubicBezTo>
                <a:cubicBezTo>
                  <a:pt x="92246" y="9470"/>
                  <a:pt x="87137" y="16696"/>
                  <a:pt x="82402" y="26831"/>
                </a:cubicBezTo>
                <a:cubicBezTo>
                  <a:pt x="73971" y="44898"/>
                  <a:pt x="68032" y="69568"/>
                  <a:pt x="66827" y="96358"/>
                </a:cubicBezTo>
                <a:close/>
                <a:moveTo>
                  <a:pt x="46891" y="96358"/>
                </a:moveTo>
                <a:cubicBezTo>
                  <a:pt x="48345" y="60805"/>
                  <a:pt x="57524" y="27786"/>
                  <a:pt x="70939" y="6105"/>
                </a:cubicBezTo>
                <a:cubicBezTo>
                  <a:pt x="32687" y="19645"/>
                  <a:pt x="4527" y="54492"/>
                  <a:pt x="623" y="96358"/>
                </a:cubicBezTo>
                <a:lnTo>
                  <a:pt x="46891" y="96358"/>
                </a:lnTo>
                <a:close/>
                <a:moveTo>
                  <a:pt x="623" y="116294"/>
                </a:moveTo>
                <a:cubicBezTo>
                  <a:pt x="4527" y="158159"/>
                  <a:pt x="32687" y="193006"/>
                  <a:pt x="70939" y="206546"/>
                </a:cubicBezTo>
                <a:cubicBezTo>
                  <a:pt x="57524" y="184865"/>
                  <a:pt x="48345" y="151846"/>
                  <a:pt x="46891" y="116294"/>
                </a:cubicBezTo>
                <a:lnTo>
                  <a:pt x="623" y="116294"/>
                </a:lnTo>
                <a:close/>
                <a:moveTo>
                  <a:pt x="166092" y="116294"/>
                </a:moveTo>
                <a:cubicBezTo>
                  <a:pt x="164639" y="151846"/>
                  <a:pt x="155460" y="184865"/>
                  <a:pt x="142044" y="206546"/>
                </a:cubicBezTo>
                <a:cubicBezTo>
                  <a:pt x="180297" y="192964"/>
                  <a:pt x="208456" y="158159"/>
                  <a:pt x="212360" y="116294"/>
                </a:cubicBezTo>
                <a:lnTo>
                  <a:pt x="166092" y="116294"/>
                </a:lnTo>
                <a:close/>
                <a:moveTo>
                  <a:pt x="212360" y="96358"/>
                </a:moveTo>
                <a:cubicBezTo>
                  <a:pt x="208456" y="54492"/>
                  <a:pt x="180297" y="19645"/>
                  <a:pt x="142044" y="6105"/>
                </a:cubicBezTo>
                <a:cubicBezTo>
                  <a:pt x="155460" y="27786"/>
                  <a:pt x="164639" y="60805"/>
                  <a:pt x="166092" y="96358"/>
                </a:cubicBezTo>
                <a:lnTo>
                  <a:pt x="212360" y="96358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263334" y="6084186"/>
            <a:ext cx="1169581" cy="330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跨平台支持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855752" y="6556744"/>
            <a:ext cx="4631070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与编程语言无关，广泛生态支持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5855752" y="6887535"/>
            <a:ext cx="2315535" cy="189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Python: pandas, pyarrow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151536" y="6887535"/>
            <a:ext cx="2315535" cy="189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Java: parquet-mr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855752" y="7123814"/>
            <a:ext cx="2315535" cy="189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Scala: Spark SQL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151536" y="7123814"/>
            <a:ext cx="2315535" cy="189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平台: Spark, Hive, Presto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0843179" y="5889256"/>
            <a:ext cx="4938233" cy="1854791"/>
          </a:xfrm>
          <a:custGeom>
            <a:avLst/>
            <a:gdLst/>
            <a:ahLst/>
            <a:cxnLst/>
            <a:rect l="l" t="t" r="r" b="b"/>
            <a:pathLst>
              <a:path w="4938233" h="1854791">
                <a:moveTo>
                  <a:pt x="0" y="0"/>
                </a:moveTo>
                <a:lnTo>
                  <a:pt x="4938233" y="0"/>
                </a:lnTo>
                <a:lnTo>
                  <a:pt x="4938233" y="1854791"/>
                </a:lnTo>
                <a:lnTo>
                  <a:pt x="0" y="1854791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Shape 55"/>
          <p:cNvSpPr/>
          <p:nvPr/>
        </p:nvSpPr>
        <p:spPr>
          <a:xfrm>
            <a:off x="11054353" y="6143256"/>
            <a:ext cx="239233" cy="212651"/>
          </a:xfrm>
          <a:custGeom>
            <a:avLst/>
            <a:gdLst/>
            <a:ahLst/>
            <a:cxnLst/>
            <a:rect l="l" t="t" r="r" b="b"/>
            <a:pathLst>
              <a:path w="239233" h="212651">
                <a:moveTo>
                  <a:pt x="159488" y="39872"/>
                </a:moveTo>
                <a:cubicBezTo>
                  <a:pt x="159488" y="25211"/>
                  <a:pt x="171408" y="13291"/>
                  <a:pt x="186070" y="13291"/>
                </a:cubicBezTo>
                <a:cubicBezTo>
                  <a:pt x="200731" y="13291"/>
                  <a:pt x="212651" y="25211"/>
                  <a:pt x="212651" y="39872"/>
                </a:cubicBezTo>
                <a:lnTo>
                  <a:pt x="212651" y="53163"/>
                </a:lnTo>
                <a:cubicBezTo>
                  <a:pt x="212651" y="60514"/>
                  <a:pt x="218590" y="66453"/>
                  <a:pt x="225942" y="66453"/>
                </a:cubicBezTo>
                <a:cubicBezTo>
                  <a:pt x="233293" y="66453"/>
                  <a:pt x="239233" y="60514"/>
                  <a:pt x="239233" y="53163"/>
                </a:cubicBezTo>
                <a:lnTo>
                  <a:pt x="239233" y="39872"/>
                </a:lnTo>
                <a:cubicBezTo>
                  <a:pt x="239233" y="10508"/>
                  <a:pt x="215434" y="-13291"/>
                  <a:pt x="186070" y="-13291"/>
                </a:cubicBezTo>
                <a:cubicBezTo>
                  <a:pt x="156706" y="-13291"/>
                  <a:pt x="132907" y="10508"/>
                  <a:pt x="132907" y="39872"/>
                </a:cubicBezTo>
                <a:lnTo>
                  <a:pt x="132907" y="66453"/>
                </a:lnTo>
                <a:lnTo>
                  <a:pt x="66453" y="66453"/>
                </a:lnTo>
                <a:cubicBezTo>
                  <a:pt x="51792" y="66453"/>
                  <a:pt x="39872" y="78374"/>
                  <a:pt x="39872" y="93035"/>
                </a:cubicBezTo>
                <a:lnTo>
                  <a:pt x="39872" y="186070"/>
                </a:lnTo>
                <a:cubicBezTo>
                  <a:pt x="39872" y="200731"/>
                  <a:pt x="51792" y="212651"/>
                  <a:pt x="66453" y="212651"/>
                </a:cubicBezTo>
                <a:lnTo>
                  <a:pt x="172779" y="212651"/>
                </a:lnTo>
                <a:cubicBezTo>
                  <a:pt x="187440" y="212651"/>
                  <a:pt x="199360" y="200731"/>
                  <a:pt x="199360" y="186070"/>
                </a:cubicBezTo>
                <a:lnTo>
                  <a:pt x="199360" y="93035"/>
                </a:lnTo>
                <a:cubicBezTo>
                  <a:pt x="199360" y="78374"/>
                  <a:pt x="187440" y="66453"/>
                  <a:pt x="172779" y="66453"/>
                </a:cubicBezTo>
                <a:lnTo>
                  <a:pt x="159488" y="66453"/>
                </a:lnTo>
                <a:lnTo>
                  <a:pt x="159488" y="39872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11445690" y="6084186"/>
            <a:ext cx="1169581" cy="3307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74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开源标准化</a:t>
            </a:r>
            <a:endParaRPr lang="en-US" sz="1600" dirty="0"/>
          </a:p>
        </p:txBody>
      </p:sp>
      <p:sp>
        <p:nvSpPr>
          <p:cNvPr id="59" name="Text 57"/>
          <p:cNvSpPr/>
          <p:nvPr/>
        </p:nvSpPr>
        <p:spPr>
          <a:xfrm>
            <a:off x="11038109" y="6556744"/>
            <a:ext cx="4631070" cy="2362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0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2.0协议，避免厂商锁定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1038109" y="6887535"/>
            <a:ext cx="4619256" cy="189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跨平台数据自由迁移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11038109" y="7123814"/>
            <a:ext cx="4619256" cy="189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社区驱动持续创新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1038109" y="7360093"/>
            <a:ext cx="4619256" cy="1890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1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标准化减少碎片化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78465" y="7992140"/>
            <a:ext cx="15299070" cy="673395"/>
          </a:xfrm>
          <a:custGeom>
            <a:avLst/>
            <a:gdLst/>
            <a:ahLst/>
            <a:cxnLst/>
            <a:rect l="l" t="t" r="r" b="b"/>
            <a:pathLst>
              <a:path w="15299070" h="673395">
                <a:moveTo>
                  <a:pt x="0" y="0"/>
                </a:moveTo>
                <a:lnTo>
                  <a:pt x="15299070" y="0"/>
                </a:lnTo>
                <a:lnTo>
                  <a:pt x="15299070" y="673395"/>
                </a:lnTo>
                <a:lnTo>
                  <a:pt x="0" y="673395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62"/>
          <p:cNvSpPr/>
          <p:nvPr/>
        </p:nvSpPr>
        <p:spPr>
          <a:xfrm>
            <a:off x="732465" y="8210698"/>
            <a:ext cx="177209" cy="236279"/>
          </a:xfrm>
          <a:custGeom>
            <a:avLst/>
            <a:gdLst/>
            <a:ahLst/>
            <a:cxnLst/>
            <a:rect l="l" t="t" r="r" b="b"/>
            <a:pathLst>
              <a:path w="177209" h="236279">
                <a:moveTo>
                  <a:pt x="135168" y="177209"/>
                </a:moveTo>
                <a:cubicBezTo>
                  <a:pt x="138537" y="166918"/>
                  <a:pt x="145275" y="157596"/>
                  <a:pt x="152889" y="149566"/>
                </a:cubicBezTo>
                <a:cubicBezTo>
                  <a:pt x="167980" y="133691"/>
                  <a:pt x="177209" y="112233"/>
                  <a:pt x="177209" y="88605"/>
                </a:cubicBezTo>
                <a:cubicBezTo>
                  <a:pt x="177209" y="39688"/>
                  <a:pt x="137522" y="0"/>
                  <a:pt x="88605" y="0"/>
                </a:cubicBezTo>
                <a:cubicBezTo>
                  <a:pt x="39687" y="0"/>
                  <a:pt x="0" y="39688"/>
                  <a:pt x="0" y="88605"/>
                </a:cubicBezTo>
                <a:cubicBezTo>
                  <a:pt x="0" y="112233"/>
                  <a:pt x="9230" y="133691"/>
                  <a:pt x="24320" y="149566"/>
                </a:cubicBezTo>
                <a:cubicBezTo>
                  <a:pt x="31935" y="157596"/>
                  <a:pt x="38718" y="166918"/>
                  <a:pt x="42041" y="177209"/>
                </a:cubicBezTo>
                <a:lnTo>
                  <a:pt x="135122" y="177209"/>
                </a:lnTo>
                <a:close/>
                <a:moveTo>
                  <a:pt x="132907" y="199360"/>
                </a:moveTo>
                <a:lnTo>
                  <a:pt x="44302" y="199360"/>
                </a:lnTo>
                <a:lnTo>
                  <a:pt x="44302" y="206744"/>
                </a:lnTo>
                <a:cubicBezTo>
                  <a:pt x="44302" y="227142"/>
                  <a:pt x="60823" y="243663"/>
                  <a:pt x="81221" y="243663"/>
                </a:cubicBezTo>
                <a:lnTo>
                  <a:pt x="95988" y="243663"/>
                </a:lnTo>
                <a:cubicBezTo>
                  <a:pt x="116386" y="243663"/>
                  <a:pt x="132907" y="227142"/>
                  <a:pt x="132907" y="206744"/>
                </a:cubicBezTo>
                <a:lnTo>
                  <a:pt x="132907" y="199360"/>
                </a:lnTo>
                <a:close/>
                <a:moveTo>
                  <a:pt x="84913" y="51686"/>
                </a:moveTo>
                <a:cubicBezTo>
                  <a:pt x="66546" y="51686"/>
                  <a:pt x="51686" y="66546"/>
                  <a:pt x="51686" y="84913"/>
                </a:cubicBezTo>
                <a:cubicBezTo>
                  <a:pt x="51686" y="91051"/>
                  <a:pt x="46748" y="95988"/>
                  <a:pt x="40610" y="95988"/>
                </a:cubicBezTo>
                <a:cubicBezTo>
                  <a:pt x="34473" y="95988"/>
                  <a:pt x="29535" y="91051"/>
                  <a:pt x="29535" y="84913"/>
                </a:cubicBezTo>
                <a:cubicBezTo>
                  <a:pt x="29535" y="54316"/>
                  <a:pt x="54316" y="29535"/>
                  <a:pt x="84913" y="29535"/>
                </a:cubicBezTo>
                <a:cubicBezTo>
                  <a:pt x="91051" y="29535"/>
                  <a:pt x="95988" y="34473"/>
                  <a:pt x="95988" y="40610"/>
                </a:cubicBezTo>
                <a:cubicBezTo>
                  <a:pt x="95988" y="46748"/>
                  <a:pt x="91051" y="51686"/>
                  <a:pt x="84913" y="51686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5" name="Text 63"/>
          <p:cNvSpPr/>
          <p:nvPr/>
        </p:nvSpPr>
        <p:spPr>
          <a:xfrm>
            <a:off x="1110512" y="8187070"/>
            <a:ext cx="850605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技术洞察</a:t>
            </a:r>
            <a:endParaRPr lang="en-US" sz="1600" dirty="0"/>
          </a:p>
        </p:txBody>
      </p:sp>
      <p:sp>
        <p:nvSpPr>
          <p:cNvPr id="66" name="Text 64"/>
          <p:cNvSpPr/>
          <p:nvPr/>
        </p:nvSpPr>
        <p:spPr>
          <a:xfrm>
            <a:off x="7213711" y="8187070"/>
            <a:ext cx="8458791" cy="2835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88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Parquet体现"</a:t>
            </a:r>
            <a:r>
              <a:rPr lang="en-US" sz="1488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一次写入，多处读取</a:t>
            </a:r>
            <a:r>
              <a:rPr lang="en-US" sz="1488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"的大数据处理最佳实践，通过统一列式存储格式解决数据孤岛问题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cdn.vectorstock.com/50fa2aca3911eb49476e43a58f92d81f5a23f496.jpg"/>
          <p:cNvPicPr>
            <a:picLocks noChangeAspect="1"/>
          </p:cNvPicPr>
          <p:nvPr/>
        </p:nvPicPr>
        <p:blipFill>
          <a:blip r:embed="rId3">
            <a:alphaModFix amt="25000"/>
          </a:blip>
          <a:srcRect l="8307" r="8307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D9A566">
                  <a:alpha val="10000"/>
                </a:srgbClr>
              </a:gs>
              <a:gs pos="100000">
                <a:srgbClr val="1A1D21">
                  <a:alpha val="9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1752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93700" y="1752600"/>
            <a:ext cx="1244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27200" y="18542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3175000"/>
            <a:ext cx="70739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Parquet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核心概念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8000" y="5384800"/>
            <a:ext cx="6845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深入理解Dremel论文的影响及Parquet的技术基础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6305550"/>
            <a:ext cx="2082800" cy="1079500"/>
          </a:xfrm>
          <a:custGeom>
            <a:avLst/>
            <a:gdLst/>
            <a:ahLst/>
            <a:cxnLst/>
            <a:rect l="l" t="t" r="r" b="b"/>
            <a:pathLst>
              <a:path w="2082800" h="1079500">
                <a:moveTo>
                  <a:pt x="0" y="0"/>
                </a:moveTo>
                <a:lnTo>
                  <a:pt x="2082800" y="0"/>
                </a:lnTo>
                <a:lnTo>
                  <a:pt x="20828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23900" y="6515100"/>
            <a:ext cx="175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D8B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3900" y="6870700"/>
            <a:ext cx="176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Dremel论文影响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813546" y="6305550"/>
            <a:ext cx="2082800" cy="1079500"/>
          </a:xfrm>
          <a:custGeom>
            <a:avLst/>
            <a:gdLst/>
            <a:ahLst/>
            <a:cxnLst/>
            <a:rect l="l" t="t" r="r" b="b"/>
            <a:pathLst>
              <a:path w="2082800" h="1079500">
                <a:moveTo>
                  <a:pt x="0" y="0"/>
                </a:moveTo>
                <a:lnTo>
                  <a:pt x="2082800" y="0"/>
                </a:lnTo>
                <a:lnTo>
                  <a:pt x="20828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023096" y="6515100"/>
            <a:ext cx="175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D8B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COMPARISON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023096" y="6870700"/>
            <a:ext cx="176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Parquet vs ORC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112742" y="6305550"/>
            <a:ext cx="2082800" cy="1079500"/>
          </a:xfrm>
          <a:custGeom>
            <a:avLst/>
            <a:gdLst/>
            <a:ahLst/>
            <a:cxnLst/>
            <a:rect l="l" t="t" r="r" b="b"/>
            <a:pathLst>
              <a:path w="2082800" h="1079500">
                <a:moveTo>
                  <a:pt x="0" y="0"/>
                </a:moveTo>
                <a:lnTo>
                  <a:pt x="2082800" y="0"/>
                </a:lnTo>
                <a:lnTo>
                  <a:pt x="20828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322292" y="6515100"/>
            <a:ext cx="17526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D8B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322292" y="6870700"/>
            <a:ext cx="176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核心特性解析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0955" y="500955"/>
            <a:ext cx="50096" cy="601146"/>
          </a:xfrm>
          <a:custGeom>
            <a:avLst/>
            <a:gdLst/>
            <a:ahLst/>
            <a:cxnLst/>
            <a:rect l="l" t="t" r="r" b="b"/>
            <a:pathLst>
              <a:path w="50096" h="601146">
                <a:moveTo>
                  <a:pt x="0" y="0"/>
                </a:moveTo>
                <a:lnTo>
                  <a:pt x="50096" y="0"/>
                </a:lnTo>
                <a:lnTo>
                  <a:pt x="50096" y="601146"/>
                </a:lnTo>
                <a:lnTo>
                  <a:pt x="0" y="601146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51433" y="551051"/>
            <a:ext cx="6737849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5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Dremel论文与Parquet设计哲学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7217" y="1408937"/>
            <a:ext cx="7777331" cy="5748462"/>
          </a:xfrm>
          <a:custGeom>
            <a:avLst/>
            <a:gdLst/>
            <a:ahLst/>
            <a:cxnLst/>
            <a:rect l="l" t="t" r="r" b="b"/>
            <a:pathLst>
              <a:path w="7777331" h="5748462">
                <a:moveTo>
                  <a:pt x="0" y="0"/>
                </a:moveTo>
                <a:lnTo>
                  <a:pt x="7777331" y="0"/>
                </a:lnTo>
                <a:lnTo>
                  <a:pt x="7777331" y="5748462"/>
                </a:lnTo>
                <a:lnTo>
                  <a:pt x="0" y="5748462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89196" y="1765867"/>
            <a:ext cx="225430" cy="300573"/>
          </a:xfrm>
          <a:custGeom>
            <a:avLst/>
            <a:gdLst/>
            <a:ahLst/>
            <a:cxnLst/>
            <a:rect l="l" t="t" r="r" b="b"/>
            <a:pathLst>
              <a:path w="225430" h="300573">
                <a:moveTo>
                  <a:pt x="0" y="37572"/>
                </a:moveTo>
                <a:cubicBezTo>
                  <a:pt x="0" y="16849"/>
                  <a:pt x="16849" y="0"/>
                  <a:pt x="37572" y="0"/>
                </a:cubicBezTo>
                <a:lnTo>
                  <a:pt x="125337" y="0"/>
                </a:lnTo>
                <a:cubicBezTo>
                  <a:pt x="135317" y="0"/>
                  <a:pt x="144886" y="3933"/>
                  <a:pt x="151930" y="10978"/>
                </a:cubicBezTo>
                <a:lnTo>
                  <a:pt x="214452" y="73558"/>
                </a:lnTo>
                <a:cubicBezTo>
                  <a:pt x="221497" y="80603"/>
                  <a:pt x="225430" y="90172"/>
                  <a:pt x="225430" y="100152"/>
                </a:cubicBezTo>
                <a:lnTo>
                  <a:pt x="225430" y="263002"/>
                </a:lnTo>
                <a:cubicBezTo>
                  <a:pt x="225430" y="283725"/>
                  <a:pt x="208581" y="300573"/>
                  <a:pt x="187858" y="300573"/>
                </a:cubicBezTo>
                <a:lnTo>
                  <a:pt x="37572" y="300573"/>
                </a:lnTo>
                <a:cubicBezTo>
                  <a:pt x="16849" y="300573"/>
                  <a:pt x="0" y="283725"/>
                  <a:pt x="0" y="263002"/>
                </a:cubicBezTo>
                <a:lnTo>
                  <a:pt x="0" y="37572"/>
                </a:lnTo>
                <a:close/>
                <a:moveTo>
                  <a:pt x="122108" y="34343"/>
                </a:moveTo>
                <a:lnTo>
                  <a:pt x="122108" y="89233"/>
                </a:lnTo>
                <a:cubicBezTo>
                  <a:pt x="122108" y="97041"/>
                  <a:pt x="128389" y="103322"/>
                  <a:pt x="136197" y="103322"/>
                </a:cubicBezTo>
                <a:lnTo>
                  <a:pt x="191087" y="103322"/>
                </a:lnTo>
                <a:lnTo>
                  <a:pt x="122108" y="34343"/>
                </a:lnTo>
                <a:close/>
                <a:moveTo>
                  <a:pt x="70447" y="150287"/>
                </a:moveTo>
                <a:cubicBezTo>
                  <a:pt x="62639" y="150287"/>
                  <a:pt x="56357" y="156568"/>
                  <a:pt x="56357" y="164376"/>
                </a:cubicBezTo>
                <a:cubicBezTo>
                  <a:pt x="56357" y="172184"/>
                  <a:pt x="62639" y="178465"/>
                  <a:pt x="70447" y="178465"/>
                </a:cubicBezTo>
                <a:lnTo>
                  <a:pt x="154983" y="178465"/>
                </a:lnTo>
                <a:cubicBezTo>
                  <a:pt x="162791" y="178465"/>
                  <a:pt x="169072" y="172184"/>
                  <a:pt x="169072" y="164376"/>
                </a:cubicBezTo>
                <a:cubicBezTo>
                  <a:pt x="169072" y="156568"/>
                  <a:pt x="162791" y="150287"/>
                  <a:pt x="154983" y="150287"/>
                </a:cubicBezTo>
                <a:lnTo>
                  <a:pt x="70447" y="150287"/>
                </a:lnTo>
                <a:close/>
                <a:moveTo>
                  <a:pt x="70447" y="206644"/>
                </a:moveTo>
                <a:cubicBezTo>
                  <a:pt x="62639" y="206644"/>
                  <a:pt x="56357" y="212926"/>
                  <a:pt x="56357" y="220733"/>
                </a:cubicBezTo>
                <a:cubicBezTo>
                  <a:pt x="56357" y="228541"/>
                  <a:pt x="62639" y="234823"/>
                  <a:pt x="70447" y="234823"/>
                </a:cubicBezTo>
                <a:lnTo>
                  <a:pt x="154983" y="234823"/>
                </a:lnTo>
                <a:cubicBezTo>
                  <a:pt x="162791" y="234823"/>
                  <a:pt x="169072" y="228541"/>
                  <a:pt x="169072" y="220733"/>
                </a:cubicBezTo>
                <a:cubicBezTo>
                  <a:pt x="169072" y="212926"/>
                  <a:pt x="162791" y="206644"/>
                  <a:pt x="154983" y="206644"/>
                </a:cubicBezTo>
                <a:lnTo>
                  <a:pt x="70447" y="206644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340055" y="1715772"/>
            <a:ext cx="2830398" cy="4007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6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Google Dremel论文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4052" y="2316918"/>
            <a:ext cx="7263852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78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核心创新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14052" y="2717683"/>
            <a:ext cx="7251328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1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列式存储架构</a:t>
            </a: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：按列存储大幅提升分析性能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4052" y="3068351"/>
            <a:ext cx="7251328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1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嵌套列式存储</a:t>
            </a: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：高效处理JSON/ProtoBuf复杂结构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4052" y="3419020"/>
            <a:ext cx="7251328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1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多级查询处理</a:t>
            </a: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：树状执行实现交互式查询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0314" y="3876142"/>
            <a:ext cx="7151137" cy="1264912"/>
          </a:xfrm>
          <a:custGeom>
            <a:avLst/>
            <a:gdLst/>
            <a:ahLst/>
            <a:cxnLst/>
            <a:rect l="l" t="t" r="r" b="b"/>
            <a:pathLst>
              <a:path w="7151137" h="1264912">
                <a:moveTo>
                  <a:pt x="0" y="0"/>
                </a:moveTo>
                <a:lnTo>
                  <a:pt x="7151137" y="0"/>
                </a:lnTo>
                <a:lnTo>
                  <a:pt x="7151137" y="1264912"/>
                </a:lnTo>
                <a:lnTo>
                  <a:pt x="0" y="1264912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026958" y="4082786"/>
            <a:ext cx="6825516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论文核心思想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26958" y="4433455"/>
            <a:ext cx="6825516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《Dremel: Interactive Analysis of Web-Scale Datasets》提出列式存储和嵌套数据的高效处理机制，为Parquet奠定理论基础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596276" y="1408937"/>
            <a:ext cx="7151137" cy="2968160"/>
          </a:xfrm>
          <a:custGeom>
            <a:avLst/>
            <a:gdLst/>
            <a:ahLst/>
            <a:cxnLst/>
            <a:rect l="l" t="t" r="r" b="b"/>
            <a:pathLst>
              <a:path w="7151137" h="2968160">
                <a:moveTo>
                  <a:pt x="0" y="0"/>
                </a:moveTo>
                <a:lnTo>
                  <a:pt x="7151137" y="0"/>
                </a:lnTo>
                <a:lnTo>
                  <a:pt x="7151137" y="2968160"/>
                </a:lnTo>
                <a:lnTo>
                  <a:pt x="0" y="296816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8853015" y="1715772"/>
            <a:ext cx="313097" cy="250478"/>
          </a:xfrm>
          <a:custGeom>
            <a:avLst/>
            <a:gdLst/>
            <a:ahLst/>
            <a:cxnLst/>
            <a:rect l="l" t="t" r="r" b="b"/>
            <a:pathLst>
              <a:path w="313097" h="250478">
                <a:moveTo>
                  <a:pt x="203464" y="102980"/>
                </a:moveTo>
                <a:cubicBezTo>
                  <a:pt x="209433" y="101365"/>
                  <a:pt x="215695" y="104203"/>
                  <a:pt x="218385" y="109731"/>
                </a:cubicBezTo>
                <a:lnTo>
                  <a:pt x="227485" y="128125"/>
                </a:lnTo>
                <a:cubicBezTo>
                  <a:pt x="232523" y="128810"/>
                  <a:pt x="237465" y="130180"/>
                  <a:pt x="242112" y="132088"/>
                </a:cubicBezTo>
                <a:lnTo>
                  <a:pt x="259235" y="120689"/>
                </a:lnTo>
                <a:cubicBezTo>
                  <a:pt x="264371" y="117265"/>
                  <a:pt x="271171" y="117950"/>
                  <a:pt x="275525" y="122304"/>
                </a:cubicBezTo>
                <a:lnTo>
                  <a:pt x="284918" y="131696"/>
                </a:lnTo>
                <a:cubicBezTo>
                  <a:pt x="289272" y="136050"/>
                  <a:pt x="289957" y="142899"/>
                  <a:pt x="286533" y="147987"/>
                </a:cubicBezTo>
                <a:lnTo>
                  <a:pt x="275134" y="165061"/>
                </a:lnTo>
                <a:cubicBezTo>
                  <a:pt x="276064" y="167360"/>
                  <a:pt x="276895" y="169757"/>
                  <a:pt x="277580" y="172252"/>
                </a:cubicBezTo>
                <a:cubicBezTo>
                  <a:pt x="278265" y="174747"/>
                  <a:pt x="278705" y="177193"/>
                  <a:pt x="279048" y="179688"/>
                </a:cubicBezTo>
                <a:lnTo>
                  <a:pt x="297491" y="188788"/>
                </a:lnTo>
                <a:cubicBezTo>
                  <a:pt x="303019" y="191527"/>
                  <a:pt x="305857" y="197789"/>
                  <a:pt x="304242" y="203709"/>
                </a:cubicBezTo>
                <a:lnTo>
                  <a:pt x="300818" y="216526"/>
                </a:lnTo>
                <a:cubicBezTo>
                  <a:pt x="299203" y="222446"/>
                  <a:pt x="293675" y="226457"/>
                  <a:pt x="287511" y="226066"/>
                </a:cubicBezTo>
                <a:lnTo>
                  <a:pt x="266964" y="224745"/>
                </a:lnTo>
                <a:cubicBezTo>
                  <a:pt x="263882" y="228708"/>
                  <a:pt x="260311" y="232377"/>
                  <a:pt x="256250" y="235508"/>
                </a:cubicBezTo>
                <a:lnTo>
                  <a:pt x="257571" y="256006"/>
                </a:lnTo>
                <a:cubicBezTo>
                  <a:pt x="257963" y="262170"/>
                  <a:pt x="253951" y="267747"/>
                  <a:pt x="248032" y="269312"/>
                </a:cubicBezTo>
                <a:lnTo>
                  <a:pt x="235214" y="272737"/>
                </a:lnTo>
                <a:cubicBezTo>
                  <a:pt x="229246" y="274351"/>
                  <a:pt x="223033" y="271514"/>
                  <a:pt x="220293" y="265986"/>
                </a:cubicBezTo>
                <a:lnTo>
                  <a:pt x="211194" y="247591"/>
                </a:lnTo>
                <a:cubicBezTo>
                  <a:pt x="206155" y="246906"/>
                  <a:pt x="201214" y="245537"/>
                  <a:pt x="196566" y="243629"/>
                </a:cubicBezTo>
                <a:lnTo>
                  <a:pt x="179444" y="255027"/>
                </a:lnTo>
                <a:cubicBezTo>
                  <a:pt x="174307" y="258452"/>
                  <a:pt x="167507" y="257767"/>
                  <a:pt x="163153" y="253413"/>
                </a:cubicBezTo>
                <a:lnTo>
                  <a:pt x="153760" y="244020"/>
                </a:lnTo>
                <a:cubicBezTo>
                  <a:pt x="149406" y="239666"/>
                  <a:pt x="148721" y="232866"/>
                  <a:pt x="152146" y="227729"/>
                </a:cubicBezTo>
                <a:lnTo>
                  <a:pt x="163544" y="210607"/>
                </a:lnTo>
                <a:cubicBezTo>
                  <a:pt x="162615" y="208307"/>
                  <a:pt x="161783" y="205910"/>
                  <a:pt x="161098" y="203415"/>
                </a:cubicBezTo>
                <a:cubicBezTo>
                  <a:pt x="160413" y="200920"/>
                  <a:pt x="159973" y="198425"/>
                  <a:pt x="159631" y="195979"/>
                </a:cubicBezTo>
                <a:lnTo>
                  <a:pt x="141187" y="186880"/>
                </a:lnTo>
                <a:cubicBezTo>
                  <a:pt x="135659" y="184140"/>
                  <a:pt x="132871" y="177878"/>
                  <a:pt x="134436" y="171959"/>
                </a:cubicBezTo>
                <a:lnTo>
                  <a:pt x="137861" y="159141"/>
                </a:lnTo>
                <a:cubicBezTo>
                  <a:pt x="139475" y="153222"/>
                  <a:pt x="145003" y="149210"/>
                  <a:pt x="151167" y="149602"/>
                </a:cubicBezTo>
                <a:lnTo>
                  <a:pt x="171665" y="150923"/>
                </a:lnTo>
                <a:cubicBezTo>
                  <a:pt x="174747" y="146960"/>
                  <a:pt x="178319" y="143291"/>
                  <a:pt x="182379" y="140160"/>
                </a:cubicBezTo>
                <a:lnTo>
                  <a:pt x="181058" y="119711"/>
                </a:lnTo>
                <a:cubicBezTo>
                  <a:pt x="180667" y="113547"/>
                  <a:pt x="184678" y="107970"/>
                  <a:pt x="190598" y="106404"/>
                </a:cubicBezTo>
                <a:lnTo>
                  <a:pt x="203415" y="102980"/>
                </a:lnTo>
                <a:close/>
                <a:moveTo>
                  <a:pt x="219364" y="166333"/>
                </a:moveTo>
                <a:cubicBezTo>
                  <a:pt x="207483" y="166346"/>
                  <a:pt x="197849" y="176002"/>
                  <a:pt x="197863" y="187883"/>
                </a:cubicBezTo>
                <a:cubicBezTo>
                  <a:pt x="197876" y="199763"/>
                  <a:pt x="207532" y="209397"/>
                  <a:pt x="219413" y="209384"/>
                </a:cubicBezTo>
                <a:cubicBezTo>
                  <a:pt x="231293" y="209370"/>
                  <a:pt x="240927" y="199714"/>
                  <a:pt x="240914" y="187834"/>
                </a:cubicBezTo>
                <a:cubicBezTo>
                  <a:pt x="240900" y="175954"/>
                  <a:pt x="231244" y="166319"/>
                  <a:pt x="219364" y="166333"/>
                </a:cubicBezTo>
                <a:close/>
                <a:moveTo>
                  <a:pt x="110024" y="-22259"/>
                </a:moveTo>
                <a:lnTo>
                  <a:pt x="122842" y="-18835"/>
                </a:lnTo>
                <a:cubicBezTo>
                  <a:pt x="128761" y="-17220"/>
                  <a:pt x="132773" y="-11643"/>
                  <a:pt x="132381" y="-5528"/>
                </a:cubicBezTo>
                <a:lnTo>
                  <a:pt x="131060" y="14921"/>
                </a:lnTo>
                <a:cubicBezTo>
                  <a:pt x="135121" y="18052"/>
                  <a:pt x="138692" y="21672"/>
                  <a:pt x="141774" y="25684"/>
                </a:cubicBezTo>
                <a:lnTo>
                  <a:pt x="162321" y="24363"/>
                </a:lnTo>
                <a:cubicBezTo>
                  <a:pt x="168436" y="23971"/>
                  <a:pt x="174013" y="27983"/>
                  <a:pt x="175628" y="33903"/>
                </a:cubicBezTo>
                <a:lnTo>
                  <a:pt x="179052" y="46720"/>
                </a:lnTo>
                <a:cubicBezTo>
                  <a:pt x="180618" y="52639"/>
                  <a:pt x="177829" y="58901"/>
                  <a:pt x="172301" y="61641"/>
                </a:cubicBezTo>
                <a:lnTo>
                  <a:pt x="153858" y="70740"/>
                </a:lnTo>
                <a:cubicBezTo>
                  <a:pt x="153515" y="73235"/>
                  <a:pt x="153026" y="75730"/>
                  <a:pt x="152390" y="78176"/>
                </a:cubicBezTo>
                <a:cubicBezTo>
                  <a:pt x="151754" y="80622"/>
                  <a:pt x="150874" y="83069"/>
                  <a:pt x="149944" y="85368"/>
                </a:cubicBezTo>
                <a:lnTo>
                  <a:pt x="161343" y="102490"/>
                </a:lnTo>
                <a:cubicBezTo>
                  <a:pt x="164767" y="107627"/>
                  <a:pt x="164082" y="114427"/>
                  <a:pt x="159728" y="118781"/>
                </a:cubicBezTo>
                <a:lnTo>
                  <a:pt x="150336" y="128174"/>
                </a:lnTo>
                <a:cubicBezTo>
                  <a:pt x="145982" y="132528"/>
                  <a:pt x="139181" y="133213"/>
                  <a:pt x="134045" y="129789"/>
                </a:cubicBezTo>
                <a:lnTo>
                  <a:pt x="116922" y="118390"/>
                </a:lnTo>
                <a:cubicBezTo>
                  <a:pt x="112275" y="120298"/>
                  <a:pt x="107334" y="121668"/>
                  <a:pt x="102295" y="122352"/>
                </a:cubicBezTo>
                <a:lnTo>
                  <a:pt x="93195" y="140747"/>
                </a:lnTo>
                <a:cubicBezTo>
                  <a:pt x="90456" y="146275"/>
                  <a:pt x="84194" y="149064"/>
                  <a:pt x="78274" y="147498"/>
                </a:cubicBezTo>
                <a:lnTo>
                  <a:pt x="65457" y="144074"/>
                </a:lnTo>
                <a:cubicBezTo>
                  <a:pt x="59488" y="142459"/>
                  <a:pt x="55526" y="136882"/>
                  <a:pt x="55917" y="130767"/>
                </a:cubicBezTo>
                <a:lnTo>
                  <a:pt x="57238" y="110269"/>
                </a:lnTo>
                <a:cubicBezTo>
                  <a:pt x="53178" y="107138"/>
                  <a:pt x="49606" y="103518"/>
                  <a:pt x="46524" y="99506"/>
                </a:cubicBezTo>
                <a:lnTo>
                  <a:pt x="25977" y="100827"/>
                </a:lnTo>
                <a:cubicBezTo>
                  <a:pt x="19862" y="101218"/>
                  <a:pt x="14285" y="97207"/>
                  <a:pt x="12671" y="91287"/>
                </a:cubicBezTo>
                <a:lnTo>
                  <a:pt x="9246" y="78470"/>
                </a:lnTo>
                <a:cubicBezTo>
                  <a:pt x="7681" y="72550"/>
                  <a:pt x="10469" y="66289"/>
                  <a:pt x="15997" y="63549"/>
                </a:cubicBezTo>
                <a:lnTo>
                  <a:pt x="34441" y="54450"/>
                </a:lnTo>
                <a:cubicBezTo>
                  <a:pt x="34783" y="51955"/>
                  <a:pt x="35272" y="49508"/>
                  <a:pt x="35908" y="47013"/>
                </a:cubicBezTo>
                <a:cubicBezTo>
                  <a:pt x="36593" y="44518"/>
                  <a:pt x="37376" y="42121"/>
                  <a:pt x="38354" y="39822"/>
                </a:cubicBezTo>
                <a:lnTo>
                  <a:pt x="26956" y="22748"/>
                </a:lnTo>
                <a:cubicBezTo>
                  <a:pt x="23531" y="17612"/>
                  <a:pt x="24216" y="10812"/>
                  <a:pt x="28570" y="6458"/>
                </a:cubicBezTo>
                <a:lnTo>
                  <a:pt x="37963" y="-2935"/>
                </a:lnTo>
                <a:cubicBezTo>
                  <a:pt x="42317" y="-7289"/>
                  <a:pt x="49117" y="-7974"/>
                  <a:pt x="54254" y="-4550"/>
                </a:cubicBezTo>
                <a:lnTo>
                  <a:pt x="71376" y="6849"/>
                </a:lnTo>
                <a:cubicBezTo>
                  <a:pt x="76024" y="4941"/>
                  <a:pt x="80965" y="3571"/>
                  <a:pt x="86004" y="2886"/>
                </a:cubicBezTo>
                <a:lnTo>
                  <a:pt x="95103" y="-15508"/>
                </a:lnTo>
                <a:cubicBezTo>
                  <a:pt x="97843" y="-21036"/>
                  <a:pt x="104056" y="-23825"/>
                  <a:pt x="110024" y="-22259"/>
                </a:cubicBezTo>
                <a:close/>
                <a:moveTo>
                  <a:pt x="94125" y="41094"/>
                </a:moveTo>
                <a:cubicBezTo>
                  <a:pt x="82245" y="41094"/>
                  <a:pt x="72599" y="50739"/>
                  <a:pt x="72599" y="62619"/>
                </a:cubicBezTo>
                <a:cubicBezTo>
                  <a:pt x="72599" y="74500"/>
                  <a:pt x="82245" y="84145"/>
                  <a:pt x="94125" y="84145"/>
                </a:cubicBezTo>
                <a:cubicBezTo>
                  <a:pt x="106005" y="84145"/>
                  <a:pt x="115650" y="74500"/>
                  <a:pt x="115650" y="62619"/>
                </a:cubicBezTo>
                <a:cubicBezTo>
                  <a:pt x="115650" y="50739"/>
                  <a:pt x="106005" y="41094"/>
                  <a:pt x="94125" y="41094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316399" y="1665676"/>
            <a:ext cx="1778391" cy="3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72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Parquet的实现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853015" y="2166632"/>
            <a:ext cx="6725325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定义级别 (Definition Level)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853015" y="2467205"/>
            <a:ext cx="6725325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记录字段在嵌套结构中的定义深度，处理可选字段和复杂嵌套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853015" y="2867969"/>
            <a:ext cx="6725325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重复级别 (Repetition Level)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853015" y="3168542"/>
            <a:ext cx="6725325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标识数组和重复字段的边界，支持高效的反序列化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853015" y="3569307"/>
            <a:ext cx="6725325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嵌套数据处理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53015" y="3869880"/>
            <a:ext cx="6725325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将复杂嵌套结构转换为列式存储，查询时重新组装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96276" y="4590003"/>
            <a:ext cx="7151137" cy="2567396"/>
          </a:xfrm>
          <a:custGeom>
            <a:avLst/>
            <a:gdLst/>
            <a:ahLst/>
            <a:cxnLst/>
            <a:rect l="l" t="t" r="r" b="b"/>
            <a:pathLst>
              <a:path w="7151137" h="2567396">
                <a:moveTo>
                  <a:pt x="0" y="0"/>
                </a:moveTo>
                <a:lnTo>
                  <a:pt x="7151137" y="0"/>
                </a:lnTo>
                <a:lnTo>
                  <a:pt x="7151137" y="2567396"/>
                </a:lnTo>
                <a:lnTo>
                  <a:pt x="0" y="2567396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853015" y="4846743"/>
            <a:ext cx="6725325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PRINCIPLES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853015" y="5247507"/>
            <a:ext cx="6725325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1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列式存储</a:t>
            </a: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：提高压缩率和查询性能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853015" y="5598176"/>
            <a:ext cx="6725325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1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嵌套数据支持</a:t>
            </a: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：RL/DL高效处理复杂结构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853015" y="5948844"/>
            <a:ext cx="6725325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1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谓词下推</a:t>
            </a: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：存储层数据过滤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853015" y="6299513"/>
            <a:ext cx="6725325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1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跨语言支持</a:t>
            </a: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：统一文件格式规范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853015" y="6650182"/>
            <a:ext cx="6725325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81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自描述格式</a:t>
            </a:r>
            <a:r>
              <a:rPr lang="en-US" sz="138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：文件包含完整Schema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07217" y="7420401"/>
            <a:ext cx="15241565" cy="1214817"/>
          </a:xfrm>
          <a:custGeom>
            <a:avLst/>
            <a:gdLst/>
            <a:ahLst/>
            <a:cxnLst/>
            <a:rect l="l" t="t" r="r" b="b"/>
            <a:pathLst>
              <a:path w="15241565" h="1214817">
                <a:moveTo>
                  <a:pt x="0" y="0"/>
                </a:moveTo>
                <a:lnTo>
                  <a:pt x="15241565" y="0"/>
                </a:lnTo>
                <a:lnTo>
                  <a:pt x="15241565" y="1214817"/>
                </a:lnTo>
                <a:lnTo>
                  <a:pt x="0" y="1214817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9"/>
          <p:cNvSpPr/>
          <p:nvPr/>
        </p:nvSpPr>
        <p:spPr>
          <a:xfrm>
            <a:off x="820314" y="7877522"/>
            <a:ext cx="263002" cy="300573"/>
          </a:xfrm>
          <a:custGeom>
            <a:avLst/>
            <a:gdLst/>
            <a:ahLst/>
            <a:cxnLst/>
            <a:rect l="l" t="t" r="r" b="b"/>
            <a:pathLst>
              <a:path w="263002" h="300573">
                <a:moveTo>
                  <a:pt x="0" y="126804"/>
                </a:moveTo>
                <a:cubicBezTo>
                  <a:pt x="0" y="87882"/>
                  <a:pt x="31525" y="56357"/>
                  <a:pt x="70447" y="56357"/>
                </a:cubicBezTo>
                <a:lnTo>
                  <a:pt x="75143" y="56357"/>
                </a:lnTo>
                <a:cubicBezTo>
                  <a:pt x="85534" y="56357"/>
                  <a:pt x="93929" y="64752"/>
                  <a:pt x="93929" y="75143"/>
                </a:cubicBezTo>
                <a:cubicBezTo>
                  <a:pt x="93929" y="85534"/>
                  <a:pt x="85534" y="93929"/>
                  <a:pt x="75143" y="93929"/>
                </a:cubicBezTo>
                <a:lnTo>
                  <a:pt x="70447" y="93929"/>
                </a:lnTo>
                <a:cubicBezTo>
                  <a:pt x="52307" y="93929"/>
                  <a:pt x="37572" y="108664"/>
                  <a:pt x="37572" y="126804"/>
                </a:cubicBezTo>
                <a:lnTo>
                  <a:pt x="37572" y="131501"/>
                </a:lnTo>
                <a:lnTo>
                  <a:pt x="75143" y="131501"/>
                </a:lnTo>
                <a:cubicBezTo>
                  <a:pt x="95866" y="131501"/>
                  <a:pt x="112715" y="148349"/>
                  <a:pt x="112715" y="169072"/>
                </a:cubicBezTo>
                <a:lnTo>
                  <a:pt x="112715" y="206644"/>
                </a:lnTo>
                <a:cubicBezTo>
                  <a:pt x="112715" y="227367"/>
                  <a:pt x="95866" y="244216"/>
                  <a:pt x="75143" y="244216"/>
                </a:cubicBezTo>
                <a:lnTo>
                  <a:pt x="37572" y="244216"/>
                </a:lnTo>
                <a:cubicBezTo>
                  <a:pt x="16849" y="244216"/>
                  <a:pt x="0" y="227367"/>
                  <a:pt x="0" y="206644"/>
                </a:cubicBezTo>
                <a:lnTo>
                  <a:pt x="0" y="126804"/>
                </a:lnTo>
                <a:close/>
                <a:moveTo>
                  <a:pt x="150287" y="126804"/>
                </a:moveTo>
                <a:cubicBezTo>
                  <a:pt x="150287" y="87882"/>
                  <a:pt x="181812" y="56357"/>
                  <a:pt x="220733" y="56357"/>
                </a:cubicBezTo>
                <a:lnTo>
                  <a:pt x="225430" y="56357"/>
                </a:lnTo>
                <a:cubicBezTo>
                  <a:pt x="235821" y="56357"/>
                  <a:pt x="244216" y="64752"/>
                  <a:pt x="244216" y="75143"/>
                </a:cubicBezTo>
                <a:cubicBezTo>
                  <a:pt x="244216" y="85534"/>
                  <a:pt x="235821" y="93929"/>
                  <a:pt x="225430" y="93929"/>
                </a:cubicBezTo>
                <a:lnTo>
                  <a:pt x="220733" y="93929"/>
                </a:lnTo>
                <a:cubicBezTo>
                  <a:pt x="202593" y="93929"/>
                  <a:pt x="187858" y="108664"/>
                  <a:pt x="187858" y="126804"/>
                </a:cubicBezTo>
                <a:lnTo>
                  <a:pt x="187858" y="131501"/>
                </a:lnTo>
                <a:lnTo>
                  <a:pt x="225430" y="131501"/>
                </a:lnTo>
                <a:cubicBezTo>
                  <a:pt x="246153" y="131501"/>
                  <a:pt x="263002" y="148349"/>
                  <a:pt x="263002" y="169072"/>
                </a:cubicBezTo>
                <a:lnTo>
                  <a:pt x="263002" y="206644"/>
                </a:lnTo>
                <a:cubicBezTo>
                  <a:pt x="263002" y="227367"/>
                  <a:pt x="246153" y="244216"/>
                  <a:pt x="225430" y="244216"/>
                </a:cubicBezTo>
                <a:lnTo>
                  <a:pt x="187858" y="244216"/>
                </a:lnTo>
                <a:cubicBezTo>
                  <a:pt x="167135" y="244216"/>
                  <a:pt x="150287" y="227367"/>
                  <a:pt x="150287" y="206644"/>
                </a:cubicBezTo>
                <a:lnTo>
                  <a:pt x="150287" y="126804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340055" y="7677140"/>
            <a:ext cx="8441097" cy="3506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7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理论基础的重要性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340055" y="8077904"/>
            <a:ext cx="8428573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78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Dremel论文为Parquet提供了坚实的理论支撑，使得Parquet在处理嵌套数据方面具有独特优势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4274389" y="7677140"/>
            <a:ext cx="1214817" cy="250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381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174198" y="7927618"/>
            <a:ext cx="1315008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2958" dirty="0">
                <a:solidFill>
                  <a:srgbClr val="3D8B8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革命性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42333" cy="508000"/>
          </a:xfrm>
          <a:custGeom>
            <a:avLst/>
            <a:gdLst/>
            <a:ahLst/>
            <a:cxnLst/>
            <a:rect l="l" t="t" r="r" b="b"/>
            <a:pathLst>
              <a:path w="42333" h="508000">
                <a:moveTo>
                  <a:pt x="0" y="0"/>
                </a:moveTo>
                <a:lnTo>
                  <a:pt x="42333" y="0"/>
                </a:lnTo>
                <a:lnTo>
                  <a:pt x="4233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5000" y="465667"/>
            <a:ext cx="4995333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Parquet vs ORC：格式对比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8625" y="1190625"/>
            <a:ext cx="15398750" cy="4169833"/>
          </a:xfrm>
          <a:custGeom>
            <a:avLst/>
            <a:gdLst/>
            <a:ahLst/>
            <a:cxnLst/>
            <a:rect l="l" t="t" r="r" b="b"/>
            <a:pathLst>
              <a:path w="15398750" h="4169833">
                <a:moveTo>
                  <a:pt x="0" y="0"/>
                </a:moveTo>
                <a:lnTo>
                  <a:pt x="15398750" y="0"/>
                </a:lnTo>
                <a:lnTo>
                  <a:pt x="15398750" y="4169833"/>
                </a:lnTo>
                <a:lnTo>
                  <a:pt x="0" y="4169833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33917" y="1195917"/>
          <a:ext cx="15388166" cy="4159248"/>
        </p:xfrm>
        <a:graphic>
          <a:graphicData uri="http://schemas.openxmlformats.org/drawingml/2006/table">
            <a:tbl>
              <a:tblPr/>
              <a:tblGrid>
                <a:gridCol w="27641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203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036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9906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特性维度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Parquet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ORC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9906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开发组织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Apache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Apache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9906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主要支持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Cloudera, Twitter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Hortonworks, Facebook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9906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嵌套数据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优秀 (基于Dremel)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良好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9906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压缩效率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优秀 (多种算法)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优秀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9906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查询性能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优秀 (谓词下推)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优秀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9906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生态系统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广泛 (Spark/Presto/Impala)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Hive生态为主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9906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ACID支持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有限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优秀 (Hive ACID)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44500" y="5577417"/>
            <a:ext cx="7577667" cy="2116667"/>
          </a:xfrm>
          <a:custGeom>
            <a:avLst/>
            <a:gdLst/>
            <a:ahLst/>
            <a:cxnLst/>
            <a:rect l="l" t="t" r="r" b="b"/>
            <a:pathLst>
              <a:path w="7577667" h="2116667">
                <a:moveTo>
                  <a:pt x="0" y="0"/>
                </a:moveTo>
                <a:lnTo>
                  <a:pt x="7577667" y="0"/>
                </a:lnTo>
                <a:lnTo>
                  <a:pt x="7577667" y="2116667"/>
                </a:lnTo>
                <a:lnTo>
                  <a:pt x="0" y="2116667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444500" y="5577417"/>
            <a:ext cx="42333" cy="2116667"/>
          </a:xfrm>
          <a:custGeom>
            <a:avLst/>
            <a:gdLst/>
            <a:ahLst/>
            <a:cxnLst/>
            <a:rect l="l" t="t" r="r" b="b"/>
            <a:pathLst>
              <a:path w="42333" h="2116667">
                <a:moveTo>
                  <a:pt x="0" y="0"/>
                </a:moveTo>
                <a:lnTo>
                  <a:pt x="42333" y="0"/>
                </a:lnTo>
                <a:lnTo>
                  <a:pt x="42333" y="2116667"/>
                </a:lnTo>
                <a:lnTo>
                  <a:pt x="0" y="2116667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Shape 5"/>
          <p:cNvSpPr/>
          <p:nvPr/>
        </p:nvSpPr>
        <p:spPr>
          <a:xfrm>
            <a:off x="703792" y="583141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211667"/>
                </a:moveTo>
                <a:cubicBezTo>
                  <a:pt x="164244" y="211667"/>
                  <a:pt x="211667" y="164244"/>
                  <a:pt x="211667" y="105833"/>
                </a:cubicBezTo>
                <a:cubicBezTo>
                  <a:pt x="211667" y="47422"/>
                  <a:pt x="164244" y="0"/>
                  <a:pt x="105833" y="0"/>
                </a:cubicBezTo>
                <a:cubicBezTo>
                  <a:pt x="47422" y="0"/>
                  <a:pt x="0" y="47422"/>
                  <a:pt x="0" y="105833"/>
                </a:cubicBezTo>
                <a:cubicBezTo>
                  <a:pt x="0" y="164244"/>
                  <a:pt x="47422" y="211667"/>
                  <a:pt x="105833" y="211667"/>
                </a:cubicBezTo>
                <a:close/>
                <a:moveTo>
                  <a:pt x="140725" y="87933"/>
                </a:moveTo>
                <a:lnTo>
                  <a:pt x="107652" y="140849"/>
                </a:lnTo>
                <a:cubicBezTo>
                  <a:pt x="105916" y="143619"/>
                  <a:pt x="102939" y="145355"/>
                  <a:pt x="99674" y="145521"/>
                </a:cubicBezTo>
                <a:cubicBezTo>
                  <a:pt x="96408" y="145686"/>
                  <a:pt x="93266" y="144198"/>
                  <a:pt x="91323" y="141552"/>
                </a:cubicBezTo>
                <a:lnTo>
                  <a:pt x="71479" y="115094"/>
                </a:lnTo>
                <a:cubicBezTo>
                  <a:pt x="68172" y="110712"/>
                  <a:pt x="69081" y="104510"/>
                  <a:pt x="73463" y="101203"/>
                </a:cubicBezTo>
                <a:cubicBezTo>
                  <a:pt x="77845" y="97896"/>
                  <a:pt x="84047" y="98805"/>
                  <a:pt x="87354" y="103188"/>
                </a:cubicBezTo>
                <a:lnTo>
                  <a:pt x="98516" y="118070"/>
                </a:lnTo>
                <a:lnTo>
                  <a:pt x="123899" y="77432"/>
                </a:lnTo>
                <a:cubicBezTo>
                  <a:pt x="126793" y="72802"/>
                  <a:pt x="132912" y="71355"/>
                  <a:pt x="137583" y="74290"/>
                </a:cubicBezTo>
                <a:cubicBezTo>
                  <a:pt x="142255" y="77225"/>
                  <a:pt x="143660" y="83302"/>
                  <a:pt x="140725" y="87974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068917" y="5789083"/>
            <a:ext cx="173566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选择Parquet的场景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40833" y="6254750"/>
            <a:ext cx="84667" cy="169333"/>
          </a:xfrm>
          <a:custGeom>
            <a:avLst/>
            <a:gdLst/>
            <a:ahLst/>
            <a:cxnLst/>
            <a:rect l="l" t="t" r="r" b="b"/>
            <a:pathLst>
              <a:path w="84667" h="169333">
                <a:moveTo>
                  <a:pt x="81723" y="77192"/>
                </a:moveTo>
                <a:cubicBezTo>
                  <a:pt x="85857" y="81326"/>
                  <a:pt x="85857" y="88040"/>
                  <a:pt x="81723" y="92174"/>
                </a:cubicBezTo>
                <a:lnTo>
                  <a:pt x="28807" y="145091"/>
                </a:lnTo>
                <a:cubicBezTo>
                  <a:pt x="24672" y="149225"/>
                  <a:pt x="17959" y="149225"/>
                  <a:pt x="13824" y="145091"/>
                </a:cubicBezTo>
                <a:cubicBezTo>
                  <a:pt x="9690" y="140957"/>
                  <a:pt x="9690" y="134243"/>
                  <a:pt x="13824" y="130109"/>
                </a:cubicBezTo>
                <a:lnTo>
                  <a:pt x="59267" y="84667"/>
                </a:lnTo>
                <a:lnTo>
                  <a:pt x="13858" y="39224"/>
                </a:lnTo>
                <a:cubicBezTo>
                  <a:pt x="9723" y="35090"/>
                  <a:pt x="9723" y="28377"/>
                  <a:pt x="13858" y="24242"/>
                </a:cubicBezTo>
                <a:cubicBezTo>
                  <a:pt x="17992" y="20108"/>
                  <a:pt x="24705" y="20108"/>
                  <a:pt x="28840" y="24242"/>
                </a:cubicBezTo>
                <a:lnTo>
                  <a:pt x="81756" y="77159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8"/>
          <p:cNvSpPr/>
          <p:nvPr/>
        </p:nvSpPr>
        <p:spPr>
          <a:xfrm>
            <a:off x="973667" y="6212417"/>
            <a:ext cx="3397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主要使用</a:t>
            </a:r>
            <a:r>
              <a:rPr lang="en-US" sz="1333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Spark、Presto、Impala</a:t>
            </a:r>
            <a:r>
              <a:rPr lang="en-US" sz="1333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等计算引擎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40833" y="6593417"/>
            <a:ext cx="84667" cy="169333"/>
          </a:xfrm>
          <a:custGeom>
            <a:avLst/>
            <a:gdLst/>
            <a:ahLst/>
            <a:cxnLst/>
            <a:rect l="l" t="t" r="r" b="b"/>
            <a:pathLst>
              <a:path w="84667" h="169333">
                <a:moveTo>
                  <a:pt x="81723" y="77192"/>
                </a:moveTo>
                <a:cubicBezTo>
                  <a:pt x="85857" y="81326"/>
                  <a:pt x="85857" y="88040"/>
                  <a:pt x="81723" y="92174"/>
                </a:cubicBezTo>
                <a:lnTo>
                  <a:pt x="28807" y="145091"/>
                </a:lnTo>
                <a:cubicBezTo>
                  <a:pt x="24672" y="149225"/>
                  <a:pt x="17959" y="149225"/>
                  <a:pt x="13824" y="145091"/>
                </a:cubicBezTo>
                <a:cubicBezTo>
                  <a:pt x="9690" y="140957"/>
                  <a:pt x="9690" y="134243"/>
                  <a:pt x="13824" y="130109"/>
                </a:cubicBezTo>
                <a:lnTo>
                  <a:pt x="59267" y="84667"/>
                </a:lnTo>
                <a:lnTo>
                  <a:pt x="13858" y="39224"/>
                </a:lnTo>
                <a:cubicBezTo>
                  <a:pt x="9723" y="35090"/>
                  <a:pt x="9723" y="28377"/>
                  <a:pt x="13858" y="24242"/>
                </a:cubicBezTo>
                <a:cubicBezTo>
                  <a:pt x="17992" y="20108"/>
                  <a:pt x="24705" y="20108"/>
                  <a:pt x="28840" y="24242"/>
                </a:cubicBezTo>
                <a:lnTo>
                  <a:pt x="81756" y="77159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973667" y="6551083"/>
            <a:ext cx="374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需要处理</a:t>
            </a:r>
            <a:r>
              <a:rPr lang="en-US" sz="1333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复杂嵌套数据结构</a:t>
            </a:r>
            <a:r>
              <a:rPr lang="en-US" sz="1333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（JSON、ProtoBuf）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740833" y="6932083"/>
            <a:ext cx="84667" cy="169333"/>
          </a:xfrm>
          <a:custGeom>
            <a:avLst/>
            <a:gdLst/>
            <a:ahLst/>
            <a:cxnLst/>
            <a:rect l="l" t="t" r="r" b="b"/>
            <a:pathLst>
              <a:path w="84667" h="169333">
                <a:moveTo>
                  <a:pt x="81723" y="77192"/>
                </a:moveTo>
                <a:cubicBezTo>
                  <a:pt x="85857" y="81326"/>
                  <a:pt x="85857" y="88040"/>
                  <a:pt x="81723" y="92174"/>
                </a:cubicBezTo>
                <a:lnTo>
                  <a:pt x="28807" y="145091"/>
                </a:lnTo>
                <a:cubicBezTo>
                  <a:pt x="24672" y="149225"/>
                  <a:pt x="17959" y="149225"/>
                  <a:pt x="13824" y="145091"/>
                </a:cubicBezTo>
                <a:cubicBezTo>
                  <a:pt x="9690" y="140957"/>
                  <a:pt x="9690" y="134243"/>
                  <a:pt x="13824" y="130109"/>
                </a:cubicBezTo>
                <a:lnTo>
                  <a:pt x="59267" y="84667"/>
                </a:lnTo>
                <a:lnTo>
                  <a:pt x="13858" y="39224"/>
                </a:lnTo>
                <a:cubicBezTo>
                  <a:pt x="9723" y="35090"/>
                  <a:pt x="9723" y="28377"/>
                  <a:pt x="13858" y="24242"/>
                </a:cubicBezTo>
                <a:cubicBezTo>
                  <a:pt x="17992" y="20108"/>
                  <a:pt x="24705" y="20108"/>
                  <a:pt x="28840" y="24242"/>
                </a:cubicBezTo>
                <a:lnTo>
                  <a:pt x="81756" y="77159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973667" y="6889750"/>
            <a:ext cx="245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追求</a:t>
            </a:r>
            <a:r>
              <a:rPr lang="en-US" sz="1333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跨平台兼容性</a:t>
            </a:r>
            <a:r>
              <a:rPr lang="en-US" sz="1333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和生态开放性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40833" y="7270750"/>
            <a:ext cx="84667" cy="169333"/>
          </a:xfrm>
          <a:custGeom>
            <a:avLst/>
            <a:gdLst/>
            <a:ahLst/>
            <a:cxnLst/>
            <a:rect l="l" t="t" r="r" b="b"/>
            <a:pathLst>
              <a:path w="84667" h="169333">
                <a:moveTo>
                  <a:pt x="81723" y="77192"/>
                </a:moveTo>
                <a:cubicBezTo>
                  <a:pt x="85857" y="81326"/>
                  <a:pt x="85857" y="88040"/>
                  <a:pt x="81723" y="92174"/>
                </a:cubicBezTo>
                <a:lnTo>
                  <a:pt x="28807" y="145091"/>
                </a:lnTo>
                <a:cubicBezTo>
                  <a:pt x="24672" y="149225"/>
                  <a:pt x="17959" y="149225"/>
                  <a:pt x="13824" y="145091"/>
                </a:cubicBezTo>
                <a:cubicBezTo>
                  <a:pt x="9690" y="140957"/>
                  <a:pt x="9690" y="134243"/>
                  <a:pt x="13824" y="130109"/>
                </a:cubicBezTo>
                <a:lnTo>
                  <a:pt x="59267" y="84667"/>
                </a:lnTo>
                <a:lnTo>
                  <a:pt x="13858" y="39224"/>
                </a:lnTo>
                <a:cubicBezTo>
                  <a:pt x="9723" y="35090"/>
                  <a:pt x="9723" y="28377"/>
                  <a:pt x="13858" y="24242"/>
                </a:cubicBezTo>
                <a:cubicBezTo>
                  <a:pt x="17992" y="20108"/>
                  <a:pt x="24705" y="20108"/>
                  <a:pt x="28840" y="24242"/>
                </a:cubicBezTo>
                <a:lnTo>
                  <a:pt x="81756" y="77159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4"/>
          <p:cNvSpPr/>
          <p:nvPr/>
        </p:nvSpPr>
        <p:spPr>
          <a:xfrm>
            <a:off x="973667" y="7228417"/>
            <a:ext cx="2963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混合环境，需要多种计算引擎共享数据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255000" y="5577417"/>
            <a:ext cx="7577667" cy="2116667"/>
          </a:xfrm>
          <a:custGeom>
            <a:avLst/>
            <a:gdLst/>
            <a:ahLst/>
            <a:cxnLst/>
            <a:rect l="l" t="t" r="r" b="b"/>
            <a:pathLst>
              <a:path w="7577667" h="2116667">
                <a:moveTo>
                  <a:pt x="0" y="0"/>
                </a:moveTo>
                <a:lnTo>
                  <a:pt x="7577667" y="0"/>
                </a:lnTo>
                <a:lnTo>
                  <a:pt x="7577667" y="2116667"/>
                </a:lnTo>
                <a:lnTo>
                  <a:pt x="0" y="2116667"/>
                </a:lnTo>
                <a:lnTo>
                  <a:pt x="0" y="0"/>
                </a:lnTo>
                <a:close/>
              </a:path>
            </a:pathLst>
          </a:custGeom>
          <a:solidFill>
            <a:srgbClr val="5A6370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6"/>
          <p:cNvSpPr/>
          <p:nvPr/>
        </p:nvSpPr>
        <p:spPr>
          <a:xfrm>
            <a:off x="8255000" y="5577417"/>
            <a:ext cx="42333" cy="2116667"/>
          </a:xfrm>
          <a:custGeom>
            <a:avLst/>
            <a:gdLst/>
            <a:ahLst/>
            <a:cxnLst/>
            <a:rect l="l" t="t" r="r" b="b"/>
            <a:pathLst>
              <a:path w="42333" h="2116667">
                <a:moveTo>
                  <a:pt x="0" y="0"/>
                </a:moveTo>
                <a:lnTo>
                  <a:pt x="42333" y="0"/>
                </a:lnTo>
                <a:lnTo>
                  <a:pt x="42333" y="2116667"/>
                </a:lnTo>
                <a:lnTo>
                  <a:pt x="0" y="2116667"/>
                </a:lnTo>
                <a:lnTo>
                  <a:pt x="0" y="0"/>
                </a:lnTo>
                <a:close/>
              </a:path>
            </a:pathLst>
          </a:custGeom>
          <a:solidFill>
            <a:srgbClr val="5A637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8514292" y="5831417"/>
            <a:ext cx="211667" cy="211667"/>
          </a:xfrm>
          <a:custGeom>
            <a:avLst/>
            <a:gdLst/>
            <a:ahLst/>
            <a:cxnLst/>
            <a:rect l="l" t="t" r="r" b="b"/>
            <a:pathLst>
              <a:path w="211667" h="211667">
                <a:moveTo>
                  <a:pt x="105833" y="211667"/>
                </a:moveTo>
                <a:cubicBezTo>
                  <a:pt x="164244" y="211667"/>
                  <a:pt x="211667" y="164244"/>
                  <a:pt x="211667" y="105833"/>
                </a:cubicBezTo>
                <a:cubicBezTo>
                  <a:pt x="211667" y="47422"/>
                  <a:pt x="164244" y="0"/>
                  <a:pt x="105833" y="0"/>
                </a:cubicBezTo>
                <a:cubicBezTo>
                  <a:pt x="47422" y="0"/>
                  <a:pt x="0" y="47422"/>
                  <a:pt x="0" y="105833"/>
                </a:cubicBezTo>
                <a:cubicBezTo>
                  <a:pt x="0" y="164244"/>
                  <a:pt x="47422" y="211667"/>
                  <a:pt x="105833" y="211667"/>
                </a:cubicBezTo>
                <a:close/>
                <a:moveTo>
                  <a:pt x="140725" y="87933"/>
                </a:moveTo>
                <a:lnTo>
                  <a:pt x="107652" y="140849"/>
                </a:lnTo>
                <a:cubicBezTo>
                  <a:pt x="105916" y="143619"/>
                  <a:pt x="102939" y="145355"/>
                  <a:pt x="99674" y="145521"/>
                </a:cubicBezTo>
                <a:cubicBezTo>
                  <a:pt x="96408" y="145686"/>
                  <a:pt x="93266" y="144198"/>
                  <a:pt x="91323" y="141552"/>
                </a:cubicBezTo>
                <a:lnTo>
                  <a:pt x="71479" y="115094"/>
                </a:lnTo>
                <a:cubicBezTo>
                  <a:pt x="68172" y="110712"/>
                  <a:pt x="69081" y="104510"/>
                  <a:pt x="73463" y="101203"/>
                </a:cubicBezTo>
                <a:cubicBezTo>
                  <a:pt x="77845" y="97896"/>
                  <a:pt x="84047" y="98805"/>
                  <a:pt x="87354" y="103188"/>
                </a:cubicBezTo>
                <a:lnTo>
                  <a:pt x="98516" y="118070"/>
                </a:lnTo>
                <a:lnTo>
                  <a:pt x="123899" y="77432"/>
                </a:lnTo>
                <a:cubicBezTo>
                  <a:pt x="126793" y="72802"/>
                  <a:pt x="132912" y="71355"/>
                  <a:pt x="137583" y="74290"/>
                </a:cubicBezTo>
                <a:cubicBezTo>
                  <a:pt x="142255" y="77225"/>
                  <a:pt x="143660" y="83302"/>
                  <a:pt x="140725" y="87974"/>
                </a:cubicBezTo>
                <a:close/>
              </a:path>
            </a:pathLst>
          </a:custGeom>
          <a:solidFill>
            <a:srgbClr val="5A637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8879417" y="5789083"/>
            <a:ext cx="1449917" cy="296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选择ORC的场景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551333" y="6254750"/>
            <a:ext cx="84667" cy="169333"/>
          </a:xfrm>
          <a:custGeom>
            <a:avLst/>
            <a:gdLst/>
            <a:ahLst/>
            <a:cxnLst/>
            <a:rect l="l" t="t" r="r" b="b"/>
            <a:pathLst>
              <a:path w="84667" h="169333">
                <a:moveTo>
                  <a:pt x="81723" y="77192"/>
                </a:moveTo>
                <a:cubicBezTo>
                  <a:pt x="85857" y="81326"/>
                  <a:pt x="85857" y="88040"/>
                  <a:pt x="81723" y="92174"/>
                </a:cubicBezTo>
                <a:lnTo>
                  <a:pt x="28807" y="145091"/>
                </a:lnTo>
                <a:cubicBezTo>
                  <a:pt x="24672" y="149225"/>
                  <a:pt x="17959" y="149225"/>
                  <a:pt x="13824" y="145091"/>
                </a:cubicBezTo>
                <a:cubicBezTo>
                  <a:pt x="9690" y="140957"/>
                  <a:pt x="9690" y="134243"/>
                  <a:pt x="13824" y="130109"/>
                </a:cubicBezTo>
                <a:lnTo>
                  <a:pt x="59267" y="84667"/>
                </a:lnTo>
                <a:lnTo>
                  <a:pt x="13858" y="39224"/>
                </a:lnTo>
                <a:cubicBezTo>
                  <a:pt x="9723" y="35090"/>
                  <a:pt x="9723" y="28377"/>
                  <a:pt x="13858" y="24242"/>
                </a:cubicBezTo>
                <a:cubicBezTo>
                  <a:pt x="17992" y="20108"/>
                  <a:pt x="24705" y="20108"/>
                  <a:pt x="28840" y="24242"/>
                </a:cubicBezTo>
                <a:lnTo>
                  <a:pt x="81756" y="77159"/>
                </a:lnTo>
                <a:close/>
              </a:path>
            </a:pathLst>
          </a:custGeom>
          <a:solidFill>
            <a:srgbClr val="5A637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0"/>
          <p:cNvSpPr/>
          <p:nvPr/>
        </p:nvSpPr>
        <p:spPr>
          <a:xfrm>
            <a:off x="8784167" y="6212417"/>
            <a:ext cx="2116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主要使用</a:t>
            </a:r>
            <a:r>
              <a:rPr lang="en-US" sz="1333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</a:t>
            </a:r>
            <a:r>
              <a:rPr lang="en-US" sz="1333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作为数据仓库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551333" y="6593417"/>
            <a:ext cx="84667" cy="169333"/>
          </a:xfrm>
          <a:custGeom>
            <a:avLst/>
            <a:gdLst/>
            <a:ahLst/>
            <a:cxnLst/>
            <a:rect l="l" t="t" r="r" b="b"/>
            <a:pathLst>
              <a:path w="84667" h="169333">
                <a:moveTo>
                  <a:pt x="81723" y="77192"/>
                </a:moveTo>
                <a:cubicBezTo>
                  <a:pt x="85857" y="81326"/>
                  <a:pt x="85857" y="88040"/>
                  <a:pt x="81723" y="92174"/>
                </a:cubicBezTo>
                <a:lnTo>
                  <a:pt x="28807" y="145091"/>
                </a:lnTo>
                <a:cubicBezTo>
                  <a:pt x="24672" y="149225"/>
                  <a:pt x="17959" y="149225"/>
                  <a:pt x="13824" y="145091"/>
                </a:cubicBezTo>
                <a:cubicBezTo>
                  <a:pt x="9690" y="140957"/>
                  <a:pt x="9690" y="134243"/>
                  <a:pt x="13824" y="130109"/>
                </a:cubicBezTo>
                <a:lnTo>
                  <a:pt x="59267" y="84667"/>
                </a:lnTo>
                <a:lnTo>
                  <a:pt x="13858" y="39224"/>
                </a:lnTo>
                <a:cubicBezTo>
                  <a:pt x="9723" y="35090"/>
                  <a:pt x="9723" y="28377"/>
                  <a:pt x="13858" y="24242"/>
                </a:cubicBezTo>
                <a:cubicBezTo>
                  <a:pt x="17992" y="20108"/>
                  <a:pt x="24705" y="20108"/>
                  <a:pt x="28840" y="24242"/>
                </a:cubicBezTo>
                <a:lnTo>
                  <a:pt x="81756" y="77159"/>
                </a:lnTo>
                <a:close/>
              </a:path>
            </a:pathLst>
          </a:custGeom>
          <a:solidFill>
            <a:srgbClr val="5A637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8784167" y="6551083"/>
            <a:ext cx="331258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</a:t>
            </a:r>
            <a:r>
              <a:rPr lang="en-US" sz="1333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ACID事务</a:t>
            </a:r>
            <a:r>
              <a:rPr lang="en-US" sz="1333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支持（Update/Delete操作）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8551333" y="6932083"/>
            <a:ext cx="84667" cy="169333"/>
          </a:xfrm>
          <a:custGeom>
            <a:avLst/>
            <a:gdLst/>
            <a:ahLst/>
            <a:cxnLst/>
            <a:rect l="l" t="t" r="r" b="b"/>
            <a:pathLst>
              <a:path w="84667" h="169333">
                <a:moveTo>
                  <a:pt x="81723" y="77192"/>
                </a:moveTo>
                <a:cubicBezTo>
                  <a:pt x="85857" y="81326"/>
                  <a:pt x="85857" y="88040"/>
                  <a:pt x="81723" y="92174"/>
                </a:cubicBezTo>
                <a:lnTo>
                  <a:pt x="28807" y="145091"/>
                </a:lnTo>
                <a:cubicBezTo>
                  <a:pt x="24672" y="149225"/>
                  <a:pt x="17959" y="149225"/>
                  <a:pt x="13824" y="145091"/>
                </a:cubicBezTo>
                <a:cubicBezTo>
                  <a:pt x="9690" y="140957"/>
                  <a:pt x="9690" y="134243"/>
                  <a:pt x="13824" y="130109"/>
                </a:cubicBezTo>
                <a:lnTo>
                  <a:pt x="59267" y="84667"/>
                </a:lnTo>
                <a:lnTo>
                  <a:pt x="13858" y="39224"/>
                </a:lnTo>
                <a:cubicBezTo>
                  <a:pt x="9723" y="35090"/>
                  <a:pt x="9723" y="28377"/>
                  <a:pt x="13858" y="24242"/>
                </a:cubicBezTo>
                <a:cubicBezTo>
                  <a:pt x="17992" y="20108"/>
                  <a:pt x="24705" y="20108"/>
                  <a:pt x="28840" y="24242"/>
                </a:cubicBezTo>
                <a:lnTo>
                  <a:pt x="81756" y="77159"/>
                </a:lnTo>
                <a:close/>
              </a:path>
            </a:pathLst>
          </a:custGeom>
          <a:solidFill>
            <a:srgbClr val="5A637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4"/>
          <p:cNvSpPr/>
          <p:nvPr/>
        </p:nvSpPr>
        <p:spPr>
          <a:xfrm>
            <a:off x="8784167" y="6889750"/>
            <a:ext cx="2963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Hive生态重度依赖，追求极致性能优化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551333" y="7270750"/>
            <a:ext cx="84667" cy="169333"/>
          </a:xfrm>
          <a:custGeom>
            <a:avLst/>
            <a:gdLst/>
            <a:ahLst/>
            <a:cxnLst/>
            <a:rect l="l" t="t" r="r" b="b"/>
            <a:pathLst>
              <a:path w="84667" h="169333">
                <a:moveTo>
                  <a:pt x="81723" y="77192"/>
                </a:moveTo>
                <a:cubicBezTo>
                  <a:pt x="85857" y="81326"/>
                  <a:pt x="85857" y="88040"/>
                  <a:pt x="81723" y="92174"/>
                </a:cubicBezTo>
                <a:lnTo>
                  <a:pt x="28807" y="145091"/>
                </a:lnTo>
                <a:cubicBezTo>
                  <a:pt x="24672" y="149225"/>
                  <a:pt x="17959" y="149225"/>
                  <a:pt x="13824" y="145091"/>
                </a:cubicBezTo>
                <a:cubicBezTo>
                  <a:pt x="9690" y="140957"/>
                  <a:pt x="9690" y="134243"/>
                  <a:pt x="13824" y="130109"/>
                </a:cubicBezTo>
                <a:lnTo>
                  <a:pt x="59267" y="84667"/>
                </a:lnTo>
                <a:lnTo>
                  <a:pt x="13858" y="39224"/>
                </a:lnTo>
                <a:cubicBezTo>
                  <a:pt x="9723" y="35090"/>
                  <a:pt x="9723" y="28377"/>
                  <a:pt x="13858" y="24242"/>
                </a:cubicBezTo>
                <a:cubicBezTo>
                  <a:pt x="17992" y="20108"/>
                  <a:pt x="24705" y="20108"/>
                  <a:pt x="28840" y="24242"/>
                </a:cubicBezTo>
                <a:lnTo>
                  <a:pt x="81756" y="77159"/>
                </a:lnTo>
                <a:close/>
              </a:path>
            </a:pathLst>
          </a:custGeom>
          <a:solidFill>
            <a:srgbClr val="5A637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8784167" y="7228417"/>
            <a:ext cx="245533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对压缩比和查询性能有极致要求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28625" y="7911042"/>
            <a:ext cx="15398750" cy="603250"/>
          </a:xfrm>
          <a:custGeom>
            <a:avLst/>
            <a:gdLst/>
            <a:ahLst/>
            <a:cxnLst/>
            <a:rect l="l" t="t" r="r" b="b"/>
            <a:pathLst>
              <a:path w="15398750" h="603250">
                <a:moveTo>
                  <a:pt x="0" y="0"/>
                </a:moveTo>
                <a:lnTo>
                  <a:pt x="15398750" y="0"/>
                </a:lnTo>
                <a:lnTo>
                  <a:pt x="15398750" y="603250"/>
                </a:lnTo>
                <a:lnTo>
                  <a:pt x="0" y="60325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8"/>
          <p:cNvSpPr/>
          <p:nvPr/>
        </p:nvSpPr>
        <p:spPr>
          <a:xfrm>
            <a:off x="656167" y="8106833"/>
            <a:ext cx="158750" cy="211667"/>
          </a:xfrm>
          <a:custGeom>
            <a:avLst/>
            <a:gdLst/>
            <a:ahLst/>
            <a:cxnLst/>
            <a:rect l="l" t="t" r="r" b="b"/>
            <a:pathLst>
              <a:path w="158750" h="211667">
                <a:moveTo>
                  <a:pt x="121088" y="158750"/>
                </a:moveTo>
                <a:cubicBezTo>
                  <a:pt x="124106" y="149531"/>
                  <a:pt x="130142" y="141180"/>
                  <a:pt x="136963" y="133987"/>
                </a:cubicBezTo>
                <a:cubicBezTo>
                  <a:pt x="150482" y="119765"/>
                  <a:pt x="158750" y="100542"/>
                  <a:pt x="158750" y="79375"/>
                </a:cubicBezTo>
                <a:cubicBezTo>
                  <a:pt x="158750" y="35553"/>
                  <a:pt x="123197" y="0"/>
                  <a:pt x="79375" y="0"/>
                </a:cubicBezTo>
                <a:cubicBezTo>
                  <a:pt x="35553" y="0"/>
                  <a:pt x="0" y="35553"/>
                  <a:pt x="0" y="79375"/>
                </a:cubicBezTo>
                <a:cubicBezTo>
                  <a:pt x="0" y="100542"/>
                  <a:pt x="8268" y="119765"/>
                  <a:pt x="21787" y="133987"/>
                </a:cubicBezTo>
                <a:cubicBezTo>
                  <a:pt x="28608" y="141180"/>
                  <a:pt x="34685" y="149531"/>
                  <a:pt x="37662" y="158750"/>
                </a:cubicBezTo>
                <a:lnTo>
                  <a:pt x="121047" y="158750"/>
                </a:lnTo>
                <a:close/>
                <a:moveTo>
                  <a:pt x="119063" y="178594"/>
                </a:moveTo>
                <a:lnTo>
                  <a:pt x="39688" y="178594"/>
                </a:lnTo>
                <a:lnTo>
                  <a:pt x="39688" y="185208"/>
                </a:lnTo>
                <a:cubicBezTo>
                  <a:pt x="39688" y="203481"/>
                  <a:pt x="54488" y="218281"/>
                  <a:pt x="72760" y="218281"/>
                </a:cubicBezTo>
                <a:lnTo>
                  <a:pt x="85990" y="218281"/>
                </a:lnTo>
                <a:cubicBezTo>
                  <a:pt x="104262" y="218281"/>
                  <a:pt x="119063" y="203481"/>
                  <a:pt x="119063" y="185208"/>
                </a:cubicBezTo>
                <a:lnTo>
                  <a:pt x="119063" y="178594"/>
                </a:lnTo>
                <a:close/>
                <a:moveTo>
                  <a:pt x="76068" y="46302"/>
                </a:moveTo>
                <a:cubicBezTo>
                  <a:pt x="59614" y="46302"/>
                  <a:pt x="46302" y="59614"/>
                  <a:pt x="46302" y="76068"/>
                </a:cubicBezTo>
                <a:cubicBezTo>
                  <a:pt x="46302" y="81566"/>
                  <a:pt x="41879" y="85990"/>
                  <a:pt x="36380" y="85990"/>
                </a:cubicBezTo>
                <a:cubicBezTo>
                  <a:pt x="30882" y="85990"/>
                  <a:pt x="26458" y="81566"/>
                  <a:pt x="26458" y="76068"/>
                </a:cubicBezTo>
                <a:cubicBezTo>
                  <a:pt x="26458" y="48659"/>
                  <a:pt x="48659" y="26458"/>
                  <a:pt x="76068" y="26458"/>
                </a:cubicBezTo>
                <a:cubicBezTo>
                  <a:pt x="81566" y="26458"/>
                  <a:pt x="85990" y="30882"/>
                  <a:pt x="85990" y="36380"/>
                </a:cubicBezTo>
                <a:cubicBezTo>
                  <a:pt x="85990" y="41879"/>
                  <a:pt x="81566" y="46302"/>
                  <a:pt x="76068" y="46302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994833" y="8085667"/>
            <a:ext cx="12319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选择建议</a:t>
            </a:r>
            <a:r>
              <a:rPr lang="en-US" sz="1333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：对于混合环境，Parquet通常具有更好的跨平台兼容性。如果主要使用Spark、Presto等引擎，选择Parquet；如果主要使用Hive且需要ACID，选择ORC。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3493" y="433493"/>
            <a:ext cx="43349" cy="520192"/>
          </a:xfrm>
          <a:custGeom>
            <a:avLst/>
            <a:gdLst/>
            <a:ahLst/>
            <a:cxnLst/>
            <a:rect l="l" t="t" r="r" b="b"/>
            <a:pathLst>
              <a:path w="43349" h="520192">
                <a:moveTo>
                  <a:pt x="0" y="0"/>
                </a:moveTo>
                <a:lnTo>
                  <a:pt x="43349" y="0"/>
                </a:lnTo>
                <a:lnTo>
                  <a:pt x="43349" y="520192"/>
                </a:lnTo>
                <a:lnTo>
                  <a:pt x="0" y="520192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50240" y="476843"/>
            <a:ext cx="4844288" cy="433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72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Parquet核心特性深度解析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5168" y="1213781"/>
            <a:ext cx="7564459" cy="3207851"/>
          </a:xfrm>
          <a:custGeom>
            <a:avLst/>
            <a:gdLst/>
            <a:ahLst/>
            <a:cxnLst/>
            <a:rect l="l" t="t" r="r" b="b"/>
            <a:pathLst>
              <a:path w="7564459" h="3207851">
                <a:moveTo>
                  <a:pt x="0" y="0"/>
                </a:moveTo>
                <a:lnTo>
                  <a:pt x="7564459" y="0"/>
                </a:lnTo>
                <a:lnTo>
                  <a:pt x="7564459" y="3207851"/>
                </a:lnTo>
                <a:lnTo>
                  <a:pt x="0" y="3207851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55168" y="1213781"/>
            <a:ext cx="43349" cy="3207851"/>
          </a:xfrm>
          <a:custGeom>
            <a:avLst/>
            <a:gdLst/>
            <a:ahLst/>
            <a:cxnLst/>
            <a:rect l="l" t="t" r="r" b="b"/>
            <a:pathLst>
              <a:path w="43349" h="3207851">
                <a:moveTo>
                  <a:pt x="0" y="0"/>
                </a:moveTo>
                <a:lnTo>
                  <a:pt x="43349" y="0"/>
                </a:lnTo>
                <a:lnTo>
                  <a:pt x="43349" y="3207851"/>
                </a:lnTo>
                <a:lnTo>
                  <a:pt x="0" y="3207851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20683" y="1473877"/>
            <a:ext cx="216747" cy="216747"/>
          </a:xfrm>
          <a:custGeom>
            <a:avLst/>
            <a:gdLst/>
            <a:ahLst/>
            <a:cxnLst/>
            <a:rect l="l" t="t" r="r" b="b"/>
            <a:pathLst>
              <a:path w="216747" h="216747">
                <a:moveTo>
                  <a:pt x="13547" y="13547"/>
                </a:moveTo>
                <a:cubicBezTo>
                  <a:pt x="21040" y="13547"/>
                  <a:pt x="27093" y="19600"/>
                  <a:pt x="27093" y="27093"/>
                </a:cubicBezTo>
                <a:lnTo>
                  <a:pt x="27093" y="169333"/>
                </a:lnTo>
                <a:cubicBezTo>
                  <a:pt x="27093" y="173059"/>
                  <a:pt x="30141" y="176107"/>
                  <a:pt x="33867" y="176107"/>
                </a:cubicBezTo>
                <a:lnTo>
                  <a:pt x="203200" y="176107"/>
                </a:lnTo>
                <a:cubicBezTo>
                  <a:pt x="210693" y="176107"/>
                  <a:pt x="216747" y="182160"/>
                  <a:pt x="216747" y="189653"/>
                </a:cubicBezTo>
                <a:cubicBezTo>
                  <a:pt x="216747" y="197146"/>
                  <a:pt x="210693" y="203200"/>
                  <a:pt x="203200" y="203200"/>
                </a:cubicBezTo>
                <a:lnTo>
                  <a:pt x="33867" y="203200"/>
                </a:lnTo>
                <a:cubicBezTo>
                  <a:pt x="15155" y="203200"/>
                  <a:pt x="0" y="188045"/>
                  <a:pt x="0" y="169333"/>
                </a:cubicBezTo>
                <a:lnTo>
                  <a:pt x="0" y="27093"/>
                </a:lnTo>
                <a:cubicBezTo>
                  <a:pt x="0" y="19600"/>
                  <a:pt x="6054" y="13547"/>
                  <a:pt x="13547" y="13547"/>
                </a:cubicBezTo>
                <a:close/>
                <a:moveTo>
                  <a:pt x="54187" y="40640"/>
                </a:moveTo>
                <a:cubicBezTo>
                  <a:pt x="54187" y="33147"/>
                  <a:pt x="60240" y="27093"/>
                  <a:pt x="67733" y="27093"/>
                </a:cubicBezTo>
                <a:lnTo>
                  <a:pt x="149013" y="27093"/>
                </a:lnTo>
                <a:cubicBezTo>
                  <a:pt x="156506" y="27093"/>
                  <a:pt x="162560" y="33147"/>
                  <a:pt x="162560" y="40640"/>
                </a:cubicBezTo>
                <a:cubicBezTo>
                  <a:pt x="162560" y="48133"/>
                  <a:pt x="156506" y="54187"/>
                  <a:pt x="149013" y="54187"/>
                </a:cubicBezTo>
                <a:lnTo>
                  <a:pt x="67733" y="54187"/>
                </a:lnTo>
                <a:cubicBezTo>
                  <a:pt x="60240" y="54187"/>
                  <a:pt x="54187" y="48133"/>
                  <a:pt x="54187" y="40640"/>
                </a:cubicBezTo>
                <a:close/>
                <a:moveTo>
                  <a:pt x="67733" y="74507"/>
                </a:moveTo>
                <a:lnTo>
                  <a:pt x="121920" y="74507"/>
                </a:lnTo>
                <a:cubicBezTo>
                  <a:pt x="129413" y="74507"/>
                  <a:pt x="135467" y="80560"/>
                  <a:pt x="135467" y="88053"/>
                </a:cubicBezTo>
                <a:cubicBezTo>
                  <a:pt x="135467" y="95546"/>
                  <a:pt x="129413" y="101600"/>
                  <a:pt x="121920" y="101600"/>
                </a:cubicBezTo>
                <a:lnTo>
                  <a:pt x="67733" y="101600"/>
                </a:lnTo>
                <a:cubicBezTo>
                  <a:pt x="60240" y="101600"/>
                  <a:pt x="54187" y="95546"/>
                  <a:pt x="54187" y="88053"/>
                </a:cubicBezTo>
                <a:cubicBezTo>
                  <a:pt x="54187" y="80560"/>
                  <a:pt x="60240" y="74507"/>
                  <a:pt x="67733" y="74507"/>
                </a:cubicBezTo>
                <a:close/>
                <a:moveTo>
                  <a:pt x="67733" y="121920"/>
                </a:moveTo>
                <a:lnTo>
                  <a:pt x="176107" y="121920"/>
                </a:lnTo>
                <a:cubicBezTo>
                  <a:pt x="183600" y="121920"/>
                  <a:pt x="189653" y="127974"/>
                  <a:pt x="189653" y="135467"/>
                </a:cubicBezTo>
                <a:cubicBezTo>
                  <a:pt x="189653" y="142960"/>
                  <a:pt x="183600" y="149013"/>
                  <a:pt x="176107" y="149013"/>
                </a:cubicBezTo>
                <a:lnTo>
                  <a:pt x="67733" y="149013"/>
                </a:lnTo>
                <a:cubicBezTo>
                  <a:pt x="60240" y="149013"/>
                  <a:pt x="54187" y="142960"/>
                  <a:pt x="54187" y="135467"/>
                </a:cubicBezTo>
                <a:cubicBezTo>
                  <a:pt x="54187" y="127974"/>
                  <a:pt x="60240" y="121920"/>
                  <a:pt x="67733" y="121920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94571" y="1430528"/>
            <a:ext cx="1842347" cy="303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统计信息驱动优化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93589" y="1907371"/>
            <a:ext cx="7185152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最小值/最大值统计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93589" y="2167467"/>
            <a:ext cx="7185152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支持范围查询的</a:t>
            </a:r>
            <a:r>
              <a:rPr lang="en-US" sz="119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数据跳过</a:t>
            </a:r>
            <a:r>
              <a:rPr lang="en-US" sz="11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，查询"年龄&gt;30"时直接跳过不满足条件的行组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3589" y="2514261"/>
            <a:ext cx="7185152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空值计数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93589" y="2774357"/>
            <a:ext cx="7185152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</a:t>
            </a:r>
            <a:r>
              <a:rPr lang="en-US" sz="119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IS NULL/IS NOT NULL</a:t>
            </a:r>
            <a:r>
              <a:rPr lang="en-US" sz="11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查询，快速确定是否需要处理空值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3589" y="3121152"/>
            <a:ext cx="7185152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Distinct值估算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93589" y="3381248"/>
            <a:ext cx="7185152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帮助优化器选择最佳执行计划，避免全表扫描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3589" y="3728043"/>
            <a:ext cx="7185152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编码信息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93589" y="3988139"/>
            <a:ext cx="7185152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记录数据编码方式，优化解码性能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60419" y="1213781"/>
            <a:ext cx="7564459" cy="3207851"/>
          </a:xfrm>
          <a:custGeom>
            <a:avLst/>
            <a:gdLst/>
            <a:ahLst/>
            <a:cxnLst/>
            <a:rect l="l" t="t" r="r" b="b"/>
            <a:pathLst>
              <a:path w="7564459" h="3207851">
                <a:moveTo>
                  <a:pt x="0" y="0"/>
                </a:moveTo>
                <a:lnTo>
                  <a:pt x="7564459" y="0"/>
                </a:lnTo>
                <a:lnTo>
                  <a:pt x="7564459" y="3207851"/>
                </a:lnTo>
                <a:lnTo>
                  <a:pt x="0" y="3207851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260419" y="1213781"/>
            <a:ext cx="43349" cy="3207851"/>
          </a:xfrm>
          <a:custGeom>
            <a:avLst/>
            <a:gdLst/>
            <a:ahLst/>
            <a:cxnLst/>
            <a:rect l="l" t="t" r="r" b="b"/>
            <a:pathLst>
              <a:path w="43349" h="3207851">
                <a:moveTo>
                  <a:pt x="0" y="0"/>
                </a:moveTo>
                <a:lnTo>
                  <a:pt x="43349" y="0"/>
                </a:lnTo>
                <a:lnTo>
                  <a:pt x="43349" y="3207851"/>
                </a:lnTo>
                <a:lnTo>
                  <a:pt x="0" y="3207851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539480" y="1473877"/>
            <a:ext cx="189653" cy="216747"/>
          </a:xfrm>
          <a:custGeom>
            <a:avLst/>
            <a:gdLst/>
            <a:ahLst/>
            <a:cxnLst/>
            <a:rect l="l" t="t" r="r" b="b"/>
            <a:pathLst>
              <a:path w="189653" h="216747">
                <a:moveTo>
                  <a:pt x="67733" y="27093"/>
                </a:moveTo>
                <a:cubicBezTo>
                  <a:pt x="67733" y="19600"/>
                  <a:pt x="61680" y="13547"/>
                  <a:pt x="54187" y="13547"/>
                </a:cubicBezTo>
                <a:cubicBezTo>
                  <a:pt x="46694" y="13547"/>
                  <a:pt x="40640" y="19600"/>
                  <a:pt x="40640" y="27093"/>
                </a:cubicBezTo>
                <a:lnTo>
                  <a:pt x="40640" y="54187"/>
                </a:lnTo>
                <a:lnTo>
                  <a:pt x="13547" y="54187"/>
                </a:lnTo>
                <a:cubicBezTo>
                  <a:pt x="6054" y="54187"/>
                  <a:pt x="0" y="60240"/>
                  <a:pt x="0" y="67733"/>
                </a:cubicBezTo>
                <a:cubicBezTo>
                  <a:pt x="0" y="75226"/>
                  <a:pt x="6054" y="81280"/>
                  <a:pt x="13547" y="81280"/>
                </a:cubicBezTo>
                <a:lnTo>
                  <a:pt x="54187" y="81280"/>
                </a:lnTo>
                <a:cubicBezTo>
                  <a:pt x="61680" y="81280"/>
                  <a:pt x="67733" y="75226"/>
                  <a:pt x="67733" y="67733"/>
                </a:cubicBezTo>
                <a:lnTo>
                  <a:pt x="67733" y="27093"/>
                </a:lnTo>
                <a:close/>
                <a:moveTo>
                  <a:pt x="13547" y="135467"/>
                </a:moveTo>
                <a:cubicBezTo>
                  <a:pt x="6054" y="135467"/>
                  <a:pt x="0" y="141520"/>
                  <a:pt x="0" y="149013"/>
                </a:cubicBezTo>
                <a:cubicBezTo>
                  <a:pt x="0" y="156506"/>
                  <a:pt x="6054" y="162560"/>
                  <a:pt x="13547" y="162560"/>
                </a:cubicBezTo>
                <a:lnTo>
                  <a:pt x="40640" y="162560"/>
                </a:lnTo>
                <a:lnTo>
                  <a:pt x="40640" y="189653"/>
                </a:lnTo>
                <a:cubicBezTo>
                  <a:pt x="40640" y="197146"/>
                  <a:pt x="46694" y="203200"/>
                  <a:pt x="54187" y="203200"/>
                </a:cubicBezTo>
                <a:cubicBezTo>
                  <a:pt x="61680" y="203200"/>
                  <a:pt x="67733" y="197146"/>
                  <a:pt x="67733" y="189653"/>
                </a:cubicBezTo>
                <a:lnTo>
                  <a:pt x="67733" y="149013"/>
                </a:lnTo>
                <a:cubicBezTo>
                  <a:pt x="67733" y="141520"/>
                  <a:pt x="61680" y="135467"/>
                  <a:pt x="54187" y="135467"/>
                </a:cubicBezTo>
                <a:lnTo>
                  <a:pt x="13547" y="135467"/>
                </a:lnTo>
                <a:close/>
                <a:moveTo>
                  <a:pt x="149013" y="27093"/>
                </a:moveTo>
                <a:cubicBezTo>
                  <a:pt x="149013" y="19600"/>
                  <a:pt x="142960" y="13547"/>
                  <a:pt x="135467" y="13547"/>
                </a:cubicBezTo>
                <a:cubicBezTo>
                  <a:pt x="127974" y="13547"/>
                  <a:pt x="121920" y="19600"/>
                  <a:pt x="121920" y="27093"/>
                </a:cubicBezTo>
                <a:lnTo>
                  <a:pt x="121920" y="67733"/>
                </a:lnTo>
                <a:cubicBezTo>
                  <a:pt x="121920" y="75226"/>
                  <a:pt x="127974" y="81280"/>
                  <a:pt x="135467" y="81280"/>
                </a:cubicBezTo>
                <a:lnTo>
                  <a:pt x="176107" y="81280"/>
                </a:lnTo>
                <a:cubicBezTo>
                  <a:pt x="183600" y="81280"/>
                  <a:pt x="189653" y="75226"/>
                  <a:pt x="189653" y="67733"/>
                </a:cubicBezTo>
                <a:cubicBezTo>
                  <a:pt x="189653" y="60240"/>
                  <a:pt x="183600" y="54187"/>
                  <a:pt x="176107" y="54187"/>
                </a:cubicBezTo>
                <a:lnTo>
                  <a:pt x="149013" y="54187"/>
                </a:lnTo>
                <a:lnTo>
                  <a:pt x="149013" y="27093"/>
                </a:lnTo>
                <a:close/>
                <a:moveTo>
                  <a:pt x="135467" y="135467"/>
                </a:moveTo>
                <a:cubicBezTo>
                  <a:pt x="127974" y="135467"/>
                  <a:pt x="121920" y="141520"/>
                  <a:pt x="121920" y="149013"/>
                </a:cubicBezTo>
                <a:lnTo>
                  <a:pt x="121920" y="189653"/>
                </a:lnTo>
                <a:cubicBezTo>
                  <a:pt x="121920" y="197146"/>
                  <a:pt x="127974" y="203200"/>
                  <a:pt x="135467" y="203200"/>
                </a:cubicBezTo>
                <a:cubicBezTo>
                  <a:pt x="142960" y="203200"/>
                  <a:pt x="149013" y="197146"/>
                  <a:pt x="149013" y="189653"/>
                </a:cubicBezTo>
                <a:lnTo>
                  <a:pt x="149013" y="162560"/>
                </a:lnTo>
                <a:lnTo>
                  <a:pt x="176107" y="162560"/>
                </a:lnTo>
                <a:cubicBezTo>
                  <a:pt x="183600" y="162560"/>
                  <a:pt x="189653" y="156506"/>
                  <a:pt x="189653" y="149013"/>
                </a:cubicBezTo>
                <a:cubicBezTo>
                  <a:pt x="189653" y="141520"/>
                  <a:pt x="183600" y="135467"/>
                  <a:pt x="176107" y="135467"/>
                </a:cubicBezTo>
                <a:lnTo>
                  <a:pt x="135467" y="135467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899821" y="1430528"/>
            <a:ext cx="1408853" cy="303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灵活压缩策略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504259" y="1912789"/>
            <a:ext cx="7098453" cy="400981"/>
          </a:xfrm>
          <a:custGeom>
            <a:avLst/>
            <a:gdLst/>
            <a:ahLst/>
            <a:cxnLst/>
            <a:rect l="l" t="t" r="r" b="b"/>
            <a:pathLst>
              <a:path w="7098453" h="400981">
                <a:moveTo>
                  <a:pt x="0" y="0"/>
                </a:moveTo>
                <a:lnTo>
                  <a:pt x="7098453" y="0"/>
                </a:lnTo>
                <a:lnTo>
                  <a:pt x="7098453" y="400981"/>
                </a:lnTo>
                <a:lnTo>
                  <a:pt x="0" y="400981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96376" y="2004907"/>
            <a:ext cx="661077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SNAPPY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147461" y="2004907"/>
            <a:ext cx="1441365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平衡性能，通用场景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504259" y="2411307"/>
            <a:ext cx="7098453" cy="400981"/>
          </a:xfrm>
          <a:custGeom>
            <a:avLst/>
            <a:gdLst/>
            <a:ahLst/>
            <a:cxnLst/>
            <a:rect l="l" t="t" r="r" b="b"/>
            <a:pathLst>
              <a:path w="7098453" h="400981">
                <a:moveTo>
                  <a:pt x="0" y="0"/>
                </a:moveTo>
                <a:lnTo>
                  <a:pt x="7098453" y="0"/>
                </a:lnTo>
                <a:lnTo>
                  <a:pt x="7098453" y="400981"/>
                </a:lnTo>
                <a:lnTo>
                  <a:pt x="0" y="400981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8596376" y="2503424"/>
            <a:ext cx="411819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GZIP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147461" y="2503424"/>
            <a:ext cx="1441365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高压缩比，存储敏感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504259" y="2909824"/>
            <a:ext cx="7098453" cy="400981"/>
          </a:xfrm>
          <a:custGeom>
            <a:avLst/>
            <a:gdLst/>
            <a:ahLst/>
            <a:cxnLst/>
            <a:rect l="l" t="t" r="r" b="b"/>
            <a:pathLst>
              <a:path w="7098453" h="400981">
                <a:moveTo>
                  <a:pt x="0" y="0"/>
                </a:moveTo>
                <a:lnTo>
                  <a:pt x="7098453" y="0"/>
                </a:lnTo>
                <a:lnTo>
                  <a:pt x="7098453" y="400981"/>
                </a:lnTo>
                <a:lnTo>
                  <a:pt x="0" y="400981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596376" y="3001941"/>
            <a:ext cx="368469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LZO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147461" y="3001941"/>
            <a:ext cx="1441365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快速压缩，实时处理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04259" y="3408341"/>
            <a:ext cx="7098453" cy="400981"/>
          </a:xfrm>
          <a:custGeom>
            <a:avLst/>
            <a:gdLst/>
            <a:ahLst/>
            <a:cxnLst/>
            <a:rect l="l" t="t" r="r" b="b"/>
            <a:pathLst>
              <a:path w="7098453" h="400981">
                <a:moveTo>
                  <a:pt x="0" y="0"/>
                </a:moveTo>
                <a:lnTo>
                  <a:pt x="7098453" y="0"/>
                </a:lnTo>
                <a:lnTo>
                  <a:pt x="7098453" y="400981"/>
                </a:lnTo>
                <a:lnTo>
                  <a:pt x="0" y="400981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>
                <a:alpha val="3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596376" y="3500459"/>
            <a:ext cx="606891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BROTLI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147461" y="3500459"/>
            <a:ext cx="1441365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极致压缩，归档数据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38912" y="4643797"/>
            <a:ext cx="7575296" cy="3218688"/>
          </a:xfrm>
          <a:custGeom>
            <a:avLst/>
            <a:gdLst/>
            <a:ahLst/>
            <a:cxnLst/>
            <a:rect l="l" t="t" r="r" b="b"/>
            <a:pathLst>
              <a:path w="7575296" h="3218688">
                <a:moveTo>
                  <a:pt x="0" y="0"/>
                </a:moveTo>
                <a:lnTo>
                  <a:pt x="7575296" y="0"/>
                </a:lnTo>
                <a:lnTo>
                  <a:pt x="7575296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88171" y="4909312"/>
            <a:ext cx="216747" cy="216747"/>
          </a:xfrm>
          <a:custGeom>
            <a:avLst/>
            <a:gdLst/>
            <a:ahLst/>
            <a:cxnLst/>
            <a:rect l="l" t="t" r="r" b="b"/>
            <a:pathLst>
              <a:path w="216747" h="216747">
                <a:moveTo>
                  <a:pt x="13547" y="27093"/>
                </a:moveTo>
                <a:cubicBezTo>
                  <a:pt x="8086" y="27093"/>
                  <a:pt x="3133" y="30395"/>
                  <a:pt x="1016" y="35475"/>
                </a:cubicBezTo>
                <a:cubicBezTo>
                  <a:pt x="-1101" y="40555"/>
                  <a:pt x="85" y="46355"/>
                  <a:pt x="3979" y="50207"/>
                </a:cubicBezTo>
                <a:lnTo>
                  <a:pt x="81280" y="127550"/>
                </a:lnTo>
                <a:lnTo>
                  <a:pt x="81280" y="176107"/>
                </a:lnTo>
                <a:cubicBezTo>
                  <a:pt x="81280" y="179705"/>
                  <a:pt x="82719" y="183134"/>
                  <a:pt x="85259" y="185674"/>
                </a:cubicBezTo>
                <a:lnTo>
                  <a:pt x="112353" y="212767"/>
                </a:lnTo>
                <a:cubicBezTo>
                  <a:pt x="116247" y="216662"/>
                  <a:pt x="122047" y="217805"/>
                  <a:pt x="127127" y="215688"/>
                </a:cubicBezTo>
                <a:cubicBezTo>
                  <a:pt x="132207" y="213572"/>
                  <a:pt x="135467" y="208661"/>
                  <a:pt x="135467" y="203200"/>
                </a:cubicBezTo>
                <a:lnTo>
                  <a:pt x="135467" y="127550"/>
                </a:lnTo>
                <a:lnTo>
                  <a:pt x="212767" y="50250"/>
                </a:lnTo>
                <a:cubicBezTo>
                  <a:pt x="216662" y="46355"/>
                  <a:pt x="217805" y="40555"/>
                  <a:pt x="215688" y="35475"/>
                </a:cubicBezTo>
                <a:cubicBezTo>
                  <a:pt x="213572" y="30395"/>
                  <a:pt x="208661" y="27093"/>
                  <a:pt x="203200" y="27093"/>
                </a:cubicBezTo>
                <a:lnTo>
                  <a:pt x="13547" y="27093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062059" y="4865963"/>
            <a:ext cx="1408853" cy="303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谓词下推机制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61077" y="5342805"/>
            <a:ext cx="346795" cy="346795"/>
          </a:xfrm>
          <a:custGeom>
            <a:avLst/>
            <a:gdLst/>
            <a:ahLst/>
            <a:cxnLst/>
            <a:rect l="l" t="t" r="r" b="b"/>
            <a:pathLst>
              <a:path w="346795" h="346795">
                <a:moveTo>
                  <a:pt x="0" y="0"/>
                </a:moveTo>
                <a:lnTo>
                  <a:pt x="346795" y="0"/>
                </a:lnTo>
                <a:lnTo>
                  <a:pt x="346795" y="346795"/>
                </a:lnTo>
                <a:lnTo>
                  <a:pt x="0" y="346795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623147" y="5342805"/>
            <a:ext cx="422656" cy="346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37920" y="5386155"/>
            <a:ext cx="3207851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文件级别</a:t>
            </a:r>
            <a:r>
              <a:rPr lang="en-US" sz="136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：基于文件元数据跳过整个文件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61077" y="5819648"/>
            <a:ext cx="346795" cy="346795"/>
          </a:xfrm>
          <a:custGeom>
            <a:avLst/>
            <a:gdLst/>
            <a:ahLst/>
            <a:cxnLst/>
            <a:rect l="l" t="t" r="r" b="b"/>
            <a:pathLst>
              <a:path w="346795" h="346795">
                <a:moveTo>
                  <a:pt x="0" y="0"/>
                </a:moveTo>
                <a:lnTo>
                  <a:pt x="346795" y="0"/>
                </a:lnTo>
                <a:lnTo>
                  <a:pt x="346795" y="346795"/>
                </a:lnTo>
                <a:lnTo>
                  <a:pt x="0" y="346795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23147" y="5819648"/>
            <a:ext cx="422656" cy="346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37920" y="5862997"/>
            <a:ext cx="3034453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行组级别</a:t>
            </a:r>
            <a:r>
              <a:rPr lang="en-US" sz="136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：基于行组统计信息跳过行组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61077" y="6296491"/>
            <a:ext cx="346795" cy="346795"/>
          </a:xfrm>
          <a:custGeom>
            <a:avLst/>
            <a:gdLst/>
            <a:ahLst/>
            <a:cxnLst/>
            <a:rect l="l" t="t" r="r" b="b"/>
            <a:pathLst>
              <a:path w="346795" h="346795">
                <a:moveTo>
                  <a:pt x="0" y="0"/>
                </a:moveTo>
                <a:lnTo>
                  <a:pt x="346795" y="0"/>
                </a:lnTo>
                <a:lnTo>
                  <a:pt x="346795" y="346795"/>
                </a:lnTo>
                <a:lnTo>
                  <a:pt x="0" y="346795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623147" y="6296491"/>
            <a:ext cx="422656" cy="346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37920" y="6339840"/>
            <a:ext cx="2687659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列级别</a:t>
            </a:r>
            <a:r>
              <a:rPr lang="en-US" sz="136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：基于列统计信息过滤数据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61077" y="6773333"/>
            <a:ext cx="346795" cy="346795"/>
          </a:xfrm>
          <a:custGeom>
            <a:avLst/>
            <a:gdLst/>
            <a:ahLst/>
            <a:cxnLst/>
            <a:rect l="l" t="t" r="r" b="b"/>
            <a:pathLst>
              <a:path w="346795" h="346795">
                <a:moveTo>
                  <a:pt x="0" y="0"/>
                </a:moveTo>
                <a:lnTo>
                  <a:pt x="346795" y="0"/>
                </a:lnTo>
                <a:lnTo>
                  <a:pt x="346795" y="346795"/>
                </a:lnTo>
                <a:lnTo>
                  <a:pt x="0" y="346795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23147" y="6773333"/>
            <a:ext cx="422656" cy="3467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95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37920" y="6816683"/>
            <a:ext cx="3034453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页级别</a:t>
            </a:r>
            <a:r>
              <a:rPr lang="en-US" sz="136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：在数据页加载时进行早期过滤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44163" y="4643797"/>
            <a:ext cx="7575296" cy="3218688"/>
          </a:xfrm>
          <a:custGeom>
            <a:avLst/>
            <a:gdLst/>
            <a:ahLst/>
            <a:cxnLst/>
            <a:rect l="l" t="t" r="r" b="b"/>
            <a:pathLst>
              <a:path w="7575296" h="3218688">
                <a:moveTo>
                  <a:pt x="0" y="0"/>
                </a:moveTo>
                <a:lnTo>
                  <a:pt x="7575296" y="0"/>
                </a:lnTo>
                <a:lnTo>
                  <a:pt x="7575296" y="3218688"/>
                </a:lnTo>
                <a:lnTo>
                  <a:pt x="0" y="3218688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8479875" y="4909312"/>
            <a:ext cx="243840" cy="216747"/>
          </a:xfrm>
          <a:custGeom>
            <a:avLst/>
            <a:gdLst/>
            <a:ahLst/>
            <a:cxnLst/>
            <a:rect l="l" t="t" r="r" b="b"/>
            <a:pathLst>
              <a:path w="243840" h="216747">
                <a:moveTo>
                  <a:pt x="104987" y="37253"/>
                </a:moveTo>
                <a:lnTo>
                  <a:pt x="138853" y="37253"/>
                </a:lnTo>
                <a:lnTo>
                  <a:pt x="138853" y="57573"/>
                </a:lnTo>
                <a:lnTo>
                  <a:pt x="104987" y="57573"/>
                </a:lnTo>
                <a:lnTo>
                  <a:pt x="104987" y="37253"/>
                </a:lnTo>
                <a:close/>
                <a:moveTo>
                  <a:pt x="101600" y="13547"/>
                </a:moveTo>
                <a:cubicBezTo>
                  <a:pt x="90382" y="13547"/>
                  <a:pt x="81280" y="22648"/>
                  <a:pt x="81280" y="33867"/>
                </a:cubicBezTo>
                <a:lnTo>
                  <a:pt x="81280" y="60960"/>
                </a:lnTo>
                <a:cubicBezTo>
                  <a:pt x="81280" y="72178"/>
                  <a:pt x="90382" y="81280"/>
                  <a:pt x="101600" y="81280"/>
                </a:cubicBezTo>
                <a:lnTo>
                  <a:pt x="108373" y="81280"/>
                </a:lnTo>
                <a:lnTo>
                  <a:pt x="108373" y="94827"/>
                </a:lnTo>
                <a:lnTo>
                  <a:pt x="13547" y="94827"/>
                </a:lnTo>
                <a:cubicBezTo>
                  <a:pt x="6054" y="94827"/>
                  <a:pt x="0" y="100880"/>
                  <a:pt x="0" y="108373"/>
                </a:cubicBezTo>
                <a:cubicBezTo>
                  <a:pt x="0" y="115866"/>
                  <a:pt x="6054" y="121920"/>
                  <a:pt x="13547" y="121920"/>
                </a:cubicBezTo>
                <a:lnTo>
                  <a:pt x="54187" y="121920"/>
                </a:lnTo>
                <a:lnTo>
                  <a:pt x="54187" y="135467"/>
                </a:lnTo>
                <a:lnTo>
                  <a:pt x="47413" y="135467"/>
                </a:lnTo>
                <a:cubicBezTo>
                  <a:pt x="36195" y="135467"/>
                  <a:pt x="27093" y="144568"/>
                  <a:pt x="27093" y="155787"/>
                </a:cubicBezTo>
                <a:lnTo>
                  <a:pt x="27093" y="182880"/>
                </a:lnTo>
                <a:cubicBezTo>
                  <a:pt x="27093" y="194098"/>
                  <a:pt x="36195" y="203200"/>
                  <a:pt x="47413" y="203200"/>
                </a:cubicBezTo>
                <a:lnTo>
                  <a:pt x="88053" y="203200"/>
                </a:lnTo>
                <a:cubicBezTo>
                  <a:pt x="99272" y="203200"/>
                  <a:pt x="108373" y="194098"/>
                  <a:pt x="108373" y="182880"/>
                </a:cubicBezTo>
                <a:lnTo>
                  <a:pt x="108373" y="155787"/>
                </a:lnTo>
                <a:cubicBezTo>
                  <a:pt x="108373" y="144568"/>
                  <a:pt x="99272" y="135467"/>
                  <a:pt x="88053" y="135467"/>
                </a:cubicBezTo>
                <a:lnTo>
                  <a:pt x="81280" y="135467"/>
                </a:lnTo>
                <a:lnTo>
                  <a:pt x="81280" y="121920"/>
                </a:lnTo>
                <a:lnTo>
                  <a:pt x="162560" y="121920"/>
                </a:lnTo>
                <a:lnTo>
                  <a:pt x="162560" y="135467"/>
                </a:lnTo>
                <a:lnTo>
                  <a:pt x="155787" y="135467"/>
                </a:lnTo>
                <a:cubicBezTo>
                  <a:pt x="144568" y="135467"/>
                  <a:pt x="135467" y="144568"/>
                  <a:pt x="135467" y="155787"/>
                </a:cubicBezTo>
                <a:lnTo>
                  <a:pt x="135467" y="182880"/>
                </a:lnTo>
                <a:cubicBezTo>
                  <a:pt x="135467" y="194098"/>
                  <a:pt x="144568" y="203200"/>
                  <a:pt x="155787" y="203200"/>
                </a:cubicBezTo>
                <a:lnTo>
                  <a:pt x="196427" y="203200"/>
                </a:lnTo>
                <a:cubicBezTo>
                  <a:pt x="207645" y="203200"/>
                  <a:pt x="216747" y="194098"/>
                  <a:pt x="216747" y="182880"/>
                </a:cubicBezTo>
                <a:lnTo>
                  <a:pt x="216747" y="155787"/>
                </a:lnTo>
                <a:cubicBezTo>
                  <a:pt x="216747" y="144568"/>
                  <a:pt x="207645" y="135467"/>
                  <a:pt x="196427" y="135467"/>
                </a:cubicBezTo>
                <a:lnTo>
                  <a:pt x="189653" y="135467"/>
                </a:lnTo>
                <a:lnTo>
                  <a:pt x="189653" y="121920"/>
                </a:lnTo>
                <a:lnTo>
                  <a:pt x="230293" y="121920"/>
                </a:lnTo>
                <a:cubicBezTo>
                  <a:pt x="237786" y="121920"/>
                  <a:pt x="243840" y="115866"/>
                  <a:pt x="243840" y="108373"/>
                </a:cubicBezTo>
                <a:cubicBezTo>
                  <a:pt x="243840" y="100880"/>
                  <a:pt x="237786" y="94827"/>
                  <a:pt x="230293" y="94827"/>
                </a:cubicBezTo>
                <a:lnTo>
                  <a:pt x="135467" y="94827"/>
                </a:lnTo>
                <a:lnTo>
                  <a:pt x="135467" y="81280"/>
                </a:lnTo>
                <a:lnTo>
                  <a:pt x="142240" y="81280"/>
                </a:lnTo>
                <a:cubicBezTo>
                  <a:pt x="153458" y="81280"/>
                  <a:pt x="162560" y="72178"/>
                  <a:pt x="162560" y="60960"/>
                </a:cubicBezTo>
                <a:lnTo>
                  <a:pt x="162560" y="33867"/>
                </a:lnTo>
                <a:cubicBezTo>
                  <a:pt x="162560" y="22648"/>
                  <a:pt x="153458" y="13547"/>
                  <a:pt x="142240" y="13547"/>
                </a:cubicBezTo>
                <a:lnTo>
                  <a:pt x="101600" y="13547"/>
                </a:lnTo>
                <a:close/>
                <a:moveTo>
                  <a:pt x="189653" y="159173"/>
                </a:moveTo>
                <a:lnTo>
                  <a:pt x="193040" y="159173"/>
                </a:lnTo>
                <a:lnTo>
                  <a:pt x="193040" y="179493"/>
                </a:lnTo>
                <a:lnTo>
                  <a:pt x="159173" y="179493"/>
                </a:lnTo>
                <a:lnTo>
                  <a:pt x="159173" y="159173"/>
                </a:lnTo>
                <a:lnTo>
                  <a:pt x="189653" y="159173"/>
                </a:lnTo>
                <a:close/>
                <a:moveTo>
                  <a:pt x="81280" y="159173"/>
                </a:moveTo>
                <a:lnTo>
                  <a:pt x="84667" y="159173"/>
                </a:lnTo>
                <a:lnTo>
                  <a:pt x="84667" y="179493"/>
                </a:lnTo>
                <a:lnTo>
                  <a:pt x="50800" y="179493"/>
                </a:lnTo>
                <a:lnTo>
                  <a:pt x="50800" y="159173"/>
                </a:lnTo>
                <a:lnTo>
                  <a:pt x="81280" y="159173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8867309" y="4865963"/>
            <a:ext cx="1842347" cy="303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0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生态系统集成优势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466328" y="5342805"/>
            <a:ext cx="7206827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统一存储格式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8466328" y="5602901"/>
            <a:ext cx="7206827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不同计算引擎可共享同一数据文件，避免数据孤岛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8466328" y="5949696"/>
            <a:ext cx="7206827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Schema演化支持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8466328" y="6209792"/>
            <a:ext cx="7206827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支持向后兼容的字段添加和删除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8466328" y="6556587"/>
            <a:ext cx="7206827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时间旅行能力</a:t>
            </a:r>
            <a:endParaRPr lang="en-US" sz="1600" dirty="0"/>
          </a:p>
        </p:txBody>
      </p:sp>
      <p:sp>
        <p:nvSpPr>
          <p:cNvPr id="55" name="Text 53"/>
          <p:cNvSpPr/>
          <p:nvPr/>
        </p:nvSpPr>
        <p:spPr>
          <a:xfrm>
            <a:off x="8466328" y="6816683"/>
            <a:ext cx="7206827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19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Delta Lake、Iceberg</a:t>
            </a:r>
            <a:r>
              <a:rPr lang="en-US" sz="11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等表格式完美集成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8466328" y="7163477"/>
            <a:ext cx="7206827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云原生优化</a:t>
            </a:r>
            <a:endParaRPr lang="en-US" sz="1600" dirty="0"/>
          </a:p>
        </p:txBody>
      </p:sp>
      <p:sp>
        <p:nvSpPr>
          <p:cNvPr id="57" name="Text 55"/>
          <p:cNvSpPr/>
          <p:nvPr/>
        </p:nvSpPr>
        <p:spPr>
          <a:xfrm>
            <a:off x="8466328" y="7423573"/>
            <a:ext cx="7206827" cy="2167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针对</a:t>
            </a:r>
            <a:r>
              <a:rPr lang="en-US" sz="119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S3、GCS</a:t>
            </a:r>
            <a:r>
              <a:rPr lang="en-US" sz="119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等对象存储进行性能优化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438912" y="8090069"/>
            <a:ext cx="15378176" cy="617728"/>
          </a:xfrm>
          <a:custGeom>
            <a:avLst/>
            <a:gdLst/>
            <a:ahLst/>
            <a:cxnLst/>
            <a:rect l="l" t="t" r="r" b="b"/>
            <a:pathLst>
              <a:path w="15378176" h="617728">
                <a:moveTo>
                  <a:pt x="0" y="0"/>
                </a:moveTo>
                <a:lnTo>
                  <a:pt x="15378176" y="0"/>
                </a:lnTo>
                <a:lnTo>
                  <a:pt x="15378176" y="617728"/>
                </a:lnTo>
                <a:lnTo>
                  <a:pt x="0" y="617728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Shape 57"/>
          <p:cNvSpPr/>
          <p:nvPr/>
        </p:nvSpPr>
        <p:spPr>
          <a:xfrm>
            <a:off x="644821" y="8290560"/>
            <a:ext cx="216747" cy="216747"/>
          </a:xfrm>
          <a:custGeom>
            <a:avLst/>
            <a:gdLst/>
            <a:ahLst/>
            <a:cxnLst/>
            <a:rect l="l" t="t" r="r" b="b"/>
            <a:pathLst>
              <a:path w="216747" h="216747">
                <a:moveTo>
                  <a:pt x="54187" y="135467"/>
                </a:moveTo>
                <a:lnTo>
                  <a:pt x="10372" y="135467"/>
                </a:lnTo>
                <a:cubicBezTo>
                  <a:pt x="-169" y="135467"/>
                  <a:pt x="-6646" y="123994"/>
                  <a:pt x="-1228" y="114935"/>
                </a:cubicBezTo>
                <a:lnTo>
                  <a:pt x="21167" y="77597"/>
                </a:lnTo>
                <a:cubicBezTo>
                  <a:pt x="24850" y="71459"/>
                  <a:pt x="31454" y="67733"/>
                  <a:pt x="38608" y="67733"/>
                </a:cubicBezTo>
                <a:lnTo>
                  <a:pt x="78825" y="67733"/>
                </a:lnTo>
                <a:cubicBezTo>
                  <a:pt x="111040" y="13166"/>
                  <a:pt x="159089" y="10414"/>
                  <a:pt x="191220" y="15113"/>
                </a:cubicBezTo>
                <a:cubicBezTo>
                  <a:pt x="196638" y="15917"/>
                  <a:pt x="200872" y="20151"/>
                  <a:pt x="201634" y="25527"/>
                </a:cubicBezTo>
                <a:cubicBezTo>
                  <a:pt x="206333" y="57658"/>
                  <a:pt x="203581" y="105706"/>
                  <a:pt x="149013" y="137922"/>
                </a:cubicBezTo>
                <a:lnTo>
                  <a:pt x="149013" y="178139"/>
                </a:lnTo>
                <a:cubicBezTo>
                  <a:pt x="149013" y="185293"/>
                  <a:pt x="145288" y="191897"/>
                  <a:pt x="139150" y="195580"/>
                </a:cubicBezTo>
                <a:lnTo>
                  <a:pt x="101812" y="217974"/>
                </a:lnTo>
                <a:cubicBezTo>
                  <a:pt x="92795" y="223393"/>
                  <a:pt x="81280" y="216874"/>
                  <a:pt x="81280" y="206375"/>
                </a:cubicBezTo>
                <a:lnTo>
                  <a:pt x="81280" y="162560"/>
                </a:lnTo>
                <a:cubicBezTo>
                  <a:pt x="81280" y="147616"/>
                  <a:pt x="69130" y="135467"/>
                  <a:pt x="54187" y="135467"/>
                </a:cubicBezTo>
                <a:lnTo>
                  <a:pt x="54144" y="135467"/>
                </a:lnTo>
                <a:close/>
                <a:moveTo>
                  <a:pt x="169333" y="67733"/>
                </a:moveTo>
                <a:cubicBezTo>
                  <a:pt x="169333" y="56518"/>
                  <a:pt x="160228" y="47413"/>
                  <a:pt x="149013" y="47413"/>
                </a:cubicBezTo>
                <a:cubicBezTo>
                  <a:pt x="137798" y="47413"/>
                  <a:pt x="128693" y="56518"/>
                  <a:pt x="128693" y="67733"/>
                </a:cubicBezTo>
                <a:cubicBezTo>
                  <a:pt x="128693" y="78948"/>
                  <a:pt x="137798" y="88053"/>
                  <a:pt x="149013" y="88053"/>
                </a:cubicBezTo>
                <a:cubicBezTo>
                  <a:pt x="160228" y="88053"/>
                  <a:pt x="169333" y="78948"/>
                  <a:pt x="169333" y="67733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1018709" y="8268885"/>
            <a:ext cx="780288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8888222" y="8268885"/>
            <a:ext cx="6838357" cy="260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6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通过统计信息驱动优化和谓词下推，Parquet可实现</a:t>
            </a:r>
            <a:r>
              <a:rPr lang="en-US" sz="1365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50-85%的I/O减少</a:t>
            </a:r>
            <a:r>
              <a:rPr lang="en-US" sz="136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365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3-20倍查询加速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776432060e6064aef7916a1c16afb51d0eedff5f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5000" b="5000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3D8B8B">
                  <a:alpha val="10000"/>
                </a:srgbClr>
              </a:gs>
              <a:gs pos="100000">
                <a:srgbClr val="1A1D21">
                  <a:alpha val="9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1752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93700" y="1752600"/>
            <a:ext cx="1244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27200" y="18542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3175000"/>
            <a:ext cx="60579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文件结构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深度解析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8000" y="5384800"/>
            <a:ext cx="5829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掌握Parquet的四层存储架构与二进制格式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6305550"/>
            <a:ext cx="1739900" cy="1079500"/>
          </a:xfrm>
          <a:custGeom>
            <a:avLst/>
            <a:gdLst/>
            <a:ahLst/>
            <a:cxnLst/>
            <a:rect l="l" t="t" r="r" b="b"/>
            <a:pathLst>
              <a:path w="1739900" h="1079500">
                <a:moveTo>
                  <a:pt x="0" y="0"/>
                </a:moveTo>
                <a:lnTo>
                  <a:pt x="1739900" y="0"/>
                </a:lnTo>
                <a:lnTo>
                  <a:pt x="17399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23900" y="6515100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HIERARCHY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3900" y="68707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四层存储架构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472630" y="6305550"/>
            <a:ext cx="1739900" cy="1079500"/>
          </a:xfrm>
          <a:custGeom>
            <a:avLst/>
            <a:gdLst/>
            <a:ahLst/>
            <a:cxnLst/>
            <a:rect l="l" t="t" r="r" b="b"/>
            <a:pathLst>
              <a:path w="1739900" h="1079500">
                <a:moveTo>
                  <a:pt x="0" y="0"/>
                </a:moveTo>
                <a:lnTo>
                  <a:pt x="1739900" y="0"/>
                </a:lnTo>
                <a:lnTo>
                  <a:pt x="17399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2682180" y="6515100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BINARY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682180" y="68707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二进制格式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430911" y="6305550"/>
            <a:ext cx="1739900" cy="1079500"/>
          </a:xfrm>
          <a:custGeom>
            <a:avLst/>
            <a:gdLst/>
            <a:ahLst/>
            <a:cxnLst/>
            <a:rect l="l" t="t" r="r" b="b"/>
            <a:pathLst>
              <a:path w="1739900" h="1079500">
                <a:moveTo>
                  <a:pt x="0" y="0"/>
                </a:moveTo>
                <a:lnTo>
                  <a:pt x="1739900" y="0"/>
                </a:lnTo>
                <a:lnTo>
                  <a:pt x="17399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4640461" y="6515100"/>
            <a:ext cx="1409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METADATA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640461" y="6870700"/>
            <a:ext cx="142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元数据管理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58800"/>
            <a:ext cx="56769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Parquet文件结构层次架构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4350" y="1377950"/>
            <a:ext cx="3644900" cy="2400300"/>
          </a:xfrm>
          <a:custGeom>
            <a:avLst/>
            <a:gdLst/>
            <a:ahLst/>
            <a:cxnLst/>
            <a:rect l="l" t="t" r="r" b="b"/>
            <a:pathLst>
              <a:path w="3644900" h="2400300">
                <a:moveTo>
                  <a:pt x="0" y="0"/>
                </a:moveTo>
                <a:lnTo>
                  <a:pt x="3644900" y="0"/>
                </a:lnTo>
                <a:lnTo>
                  <a:pt x="36449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2000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23900" y="158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66750" y="15875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L1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33500" y="16637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文件级别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23900" y="22479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Magic Number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(4字节): "PAR1"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23900" y="26035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 Groups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文件主体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23900" y="29591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Footer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元数据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23900" y="33147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Footer Length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(4字节)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75150" y="1377950"/>
            <a:ext cx="3644900" cy="2400300"/>
          </a:xfrm>
          <a:custGeom>
            <a:avLst/>
            <a:gdLst/>
            <a:ahLst/>
            <a:cxnLst/>
            <a:rect l="l" t="t" r="r" b="b"/>
            <a:pathLst>
              <a:path w="3644900" h="2400300">
                <a:moveTo>
                  <a:pt x="0" y="0"/>
                </a:moveTo>
                <a:lnTo>
                  <a:pt x="3644900" y="0"/>
                </a:lnTo>
                <a:lnTo>
                  <a:pt x="36449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2000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584700" y="158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527550" y="15875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L2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194300" y="16637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行组级别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84700" y="22479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Column Chunks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多个列块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84700" y="26035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行组元数据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统计信息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84700" y="2959100"/>
            <a:ext cx="330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并行处理基本单位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84700" y="3263900"/>
            <a:ext cx="330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数据分区基础单元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235950" y="1377950"/>
            <a:ext cx="3644900" cy="2400300"/>
          </a:xfrm>
          <a:custGeom>
            <a:avLst/>
            <a:gdLst/>
            <a:ahLst/>
            <a:cxnLst/>
            <a:rect l="l" t="t" r="r" b="b"/>
            <a:pathLst>
              <a:path w="3644900" h="2400300">
                <a:moveTo>
                  <a:pt x="0" y="0"/>
                </a:moveTo>
                <a:lnTo>
                  <a:pt x="3644900" y="0"/>
                </a:lnTo>
                <a:lnTo>
                  <a:pt x="36449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2000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8445500" y="158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388350" y="15875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L3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55100" y="1663700"/>
            <a:ext cx="1028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列块级别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45500" y="22479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Pages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多个数据页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445500" y="26035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列块元数据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编码方式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445500" y="2959100"/>
            <a:ext cx="330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真正列式存储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45500" y="3263900"/>
            <a:ext cx="330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支持不同编码压缩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096750" y="1377950"/>
            <a:ext cx="3644900" cy="2400300"/>
          </a:xfrm>
          <a:custGeom>
            <a:avLst/>
            <a:gdLst/>
            <a:ahLst/>
            <a:cxnLst/>
            <a:rect l="l" t="t" r="r" b="b"/>
            <a:pathLst>
              <a:path w="3644900" h="2400300">
                <a:moveTo>
                  <a:pt x="0" y="0"/>
                </a:moveTo>
                <a:lnTo>
                  <a:pt x="3644900" y="0"/>
                </a:lnTo>
                <a:lnTo>
                  <a:pt x="36449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2000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12306300" y="15875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0" y="0"/>
                </a:moveTo>
                <a:lnTo>
                  <a:pt x="508000" y="0"/>
                </a:lnTo>
                <a:lnTo>
                  <a:pt x="508000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2249150" y="1587500"/>
            <a:ext cx="62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L4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915900" y="1663700"/>
            <a:ext cx="800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页级别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306300" y="22479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Page Header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元数据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306300" y="2603500"/>
            <a:ext cx="3314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Page Data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: 压缩数据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306300" y="2959100"/>
            <a:ext cx="330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压缩编码最小单位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2306300" y="3263900"/>
            <a:ext cx="3302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独立压缩便于缓存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514350" y="4044950"/>
            <a:ext cx="15227300" cy="2578100"/>
          </a:xfrm>
          <a:custGeom>
            <a:avLst/>
            <a:gdLst/>
            <a:ahLst/>
            <a:cxnLst/>
            <a:rect l="l" t="t" r="r" b="b"/>
            <a:pathLst>
              <a:path w="15227300" h="2578100">
                <a:moveTo>
                  <a:pt x="0" y="0"/>
                </a:moveTo>
                <a:lnTo>
                  <a:pt x="15227300" y="0"/>
                </a:lnTo>
                <a:lnTo>
                  <a:pt x="15227300" y="2578100"/>
                </a:lnTo>
                <a:lnTo>
                  <a:pt x="0" y="2578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774700" y="4305300"/>
            <a:ext cx="14795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STRUCTURE VISUALIZATION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1533823" y="4965700"/>
            <a:ext cx="1193800" cy="787400"/>
          </a:xfrm>
          <a:custGeom>
            <a:avLst/>
            <a:gdLst/>
            <a:ahLst/>
            <a:cxnLst/>
            <a:rect l="l" t="t" r="r" b="b"/>
            <a:pathLst>
              <a:path w="1193800" h="787400">
                <a:moveTo>
                  <a:pt x="0" y="0"/>
                </a:moveTo>
                <a:lnTo>
                  <a:pt x="1193800" y="0"/>
                </a:lnTo>
                <a:lnTo>
                  <a:pt x="1193800" y="787400"/>
                </a:lnTo>
                <a:lnTo>
                  <a:pt x="0" y="7874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30196"/>
            </a:srgbClr>
          </a:solidFill>
          <a:ln w="254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1620540" y="5105400"/>
            <a:ext cx="10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 Header</a:t>
            </a:r>
            <a:endParaRPr lang="en-US" sz="1600" dirty="0"/>
          </a:p>
          <a:p>
            <a:pPr algn="ctr">
              <a:lnSpc>
                <a:spcPct val="120000"/>
              </a:lnSpc>
            </a:pPr>
            <a:r>
              <a:rPr lang="en-US" sz="14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"PAR1"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575891" y="5937250"/>
            <a:ext cx="1109563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Magic Number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271367" y="5410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40"/>
          <p:cNvSpPr/>
          <p:nvPr/>
        </p:nvSpPr>
        <p:spPr>
          <a:xfrm>
            <a:off x="6113562" y="4959350"/>
            <a:ext cx="596900" cy="800100"/>
          </a:xfrm>
          <a:custGeom>
            <a:avLst/>
            <a:gdLst/>
            <a:ahLst/>
            <a:cxnLst/>
            <a:rect l="l" t="t" r="r" b="b"/>
            <a:pathLst>
              <a:path w="596900" h="800100">
                <a:moveTo>
                  <a:pt x="0" y="0"/>
                </a:moveTo>
                <a:lnTo>
                  <a:pt x="596900" y="0"/>
                </a:lnTo>
                <a:lnTo>
                  <a:pt x="5969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3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6222206" y="5257800"/>
            <a:ext cx="381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RG0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773962" y="4959350"/>
            <a:ext cx="596900" cy="800100"/>
          </a:xfrm>
          <a:custGeom>
            <a:avLst/>
            <a:gdLst/>
            <a:ahLst/>
            <a:cxnLst/>
            <a:rect l="l" t="t" r="r" b="b"/>
            <a:pathLst>
              <a:path w="596900" h="800100">
                <a:moveTo>
                  <a:pt x="0" y="0"/>
                </a:moveTo>
                <a:lnTo>
                  <a:pt x="596900" y="0"/>
                </a:lnTo>
                <a:lnTo>
                  <a:pt x="5969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3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6900466" y="5257800"/>
            <a:ext cx="3429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RG1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7434362" y="4959350"/>
            <a:ext cx="596900" cy="800100"/>
          </a:xfrm>
          <a:custGeom>
            <a:avLst/>
            <a:gdLst/>
            <a:ahLst/>
            <a:cxnLst/>
            <a:rect l="l" t="t" r="r" b="b"/>
            <a:pathLst>
              <a:path w="596900" h="800100">
                <a:moveTo>
                  <a:pt x="0" y="0"/>
                </a:moveTo>
                <a:lnTo>
                  <a:pt x="596900" y="0"/>
                </a:lnTo>
                <a:lnTo>
                  <a:pt x="5969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2000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7639348" y="5257800"/>
            <a:ext cx="1905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...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6607473" y="5937250"/>
            <a:ext cx="92987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 Groups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9568656" y="5410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299204" y="165854"/>
                </a:moveTo>
                <a:cubicBezTo>
                  <a:pt x="306645" y="158413"/>
                  <a:pt x="306645" y="146328"/>
                  <a:pt x="299204" y="138886"/>
                </a:cubicBezTo>
                <a:lnTo>
                  <a:pt x="203954" y="43636"/>
                </a:lnTo>
                <a:cubicBezTo>
                  <a:pt x="196513" y="36195"/>
                  <a:pt x="184428" y="36195"/>
                  <a:pt x="176986" y="43636"/>
                </a:cubicBezTo>
                <a:cubicBezTo>
                  <a:pt x="169545" y="51078"/>
                  <a:pt x="169545" y="63163"/>
                  <a:pt x="176986" y="70604"/>
                </a:cubicBezTo>
                <a:lnTo>
                  <a:pt x="239732" y="133350"/>
                </a:lnTo>
                <a:lnTo>
                  <a:pt x="19050" y="133350"/>
                </a:lnTo>
                <a:cubicBezTo>
                  <a:pt x="8513" y="133350"/>
                  <a:pt x="0" y="141863"/>
                  <a:pt x="0" y="152400"/>
                </a:cubicBezTo>
                <a:cubicBezTo>
                  <a:pt x="0" y="162937"/>
                  <a:pt x="8513" y="171450"/>
                  <a:pt x="19050" y="171450"/>
                </a:cubicBezTo>
                <a:lnTo>
                  <a:pt x="239732" y="171450"/>
                </a:lnTo>
                <a:lnTo>
                  <a:pt x="176986" y="234196"/>
                </a:lnTo>
                <a:cubicBezTo>
                  <a:pt x="169545" y="241637"/>
                  <a:pt x="169545" y="253722"/>
                  <a:pt x="176986" y="261164"/>
                </a:cubicBezTo>
                <a:cubicBezTo>
                  <a:pt x="184428" y="268605"/>
                  <a:pt x="196513" y="268605"/>
                  <a:pt x="203954" y="261164"/>
                </a:cubicBezTo>
                <a:lnTo>
                  <a:pt x="299204" y="165914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Shape 48"/>
          <p:cNvSpPr/>
          <p:nvPr/>
        </p:nvSpPr>
        <p:spPr>
          <a:xfrm>
            <a:off x="11410851" y="4768850"/>
            <a:ext cx="3314700" cy="1181100"/>
          </a:xfrm>
          <a:custGeom>
            <a:avLst/>
            <a:gdLst/>
            <a:ahLst/>
            <a:cxnLst/>
            <a:rect l="l" t="t" r="r" b="b"/>
            <a:pathLst>
              <a:path w="3314700" h="1181100">
                <a:moveTo>
                  <a:pt x="0" y="0"/>
                </a:moveTo>
                <a:lnTo>
                  <a:pt x="3314700" y="0"/>
                </a:lnTo>
                <a:lnTo>
                  <a:pt x="3314700" y="1181100"/>
                </a:lnTo>
                <a:lnTo>
                  <a:pt x="0" y="1181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3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1480701" y="4876800"/>
            <a:ext cx="31750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Footer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11525151" y="5137150"/>
            <a:ext cx="1511300" cy="317500"/>
          </a:xfrm>
          <a:custGeom>
            <a:avLst/>
            <a:gdLst/>
            <a:ahLst/>
            <a:cxnLst/>
            <a:rect l="l" t="t" r="r" b="b"/>
            <a:pathLst>
              <a:path w="1511300" h="317500">
                <a:moveTo>
                  <a:pt x="0" y="0"/>
                </a:moveTo>
                <a:lnTo>
                  <a:pt x="1511300" y="0"/>
                </a:lnTo>
                <a:lnTo>
                  <a:pt x="151130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1480701" y="5130800"/>
            <a:ext cx="1574800" cy="304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FileMetadata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13101241" y="5137150"/>
            <a:ext cx="1511300" cy="317500"/>
          </a:xfrm>
          <a:custGeom>
            <a:avLst/>
            <a:gdLst/>
            <a:ahLst/>
            <a:cxnLst/>
            <a:rect l="l" t="t" r="r" b="b"/>
            <a:pathLst>
              <a:path w="1511300" h="317500">
                <a:moveTo>
                  <a:pt x="0" y="0"/>
                </a:moveTo>
                <a:lnTo>
                  <a:pt x="1511300" y="0"/>
                </a:lnTo>
                <a:lnTo>
                  <a:pt x="151130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13056791" y="5130800"/>
            <a:ext cx="1574800" cy="304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RowGroupMetadata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11525151" y="5518150"/>
            <a:ext cx="1511300" cy="317500"/>
          </a:xfrm>
          <a:custGeom>
            <a:avLst/>
            <a:gdLst/>
            <a:ahLst/>
            <a:cxnLst/>
            <a:rect l="l" t="t" r="r" b="b"/>
            <a:pathLst>
              <a:path w="1511300" h="317500">
                <a:moveTo>
                  <a:pt x="0" y="0"/>
                </a:moveTo>
                <a:lnTo>
                  <a:pt x="1511300" y="0"/>
                </a:lnTo>
                <a:lnTo>
                  <a:pt x="151130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11480701" y="5511800"/>
            <a:ext cx="1574800" cy="304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ColumnMetadata</a:t>
            </a: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3101241" y="5518150"/>
            <a:ext cx="1511300" cy="317500"/>
          </a:xfrm>
          <a:custGeom>
            <a:avLst/>
            <a:gdLst/>
            <a:ahLst/>
            <a:cxnLst/>
            <a:rect l="l" t="t" r="r" b="b"/>
            <a:pathLst>
              <a:path w="1511300" h="317500">
                <a:moveTo>
                  <a:pt x="0" y="0"/>
                </a:moveTo>
                <a:lnTo>
                  <a:pt x="1511300" y="0"/>
                </a:lnTo>
                <a:lnTo>
                  <a:pt x="1511300" y="317500"/>
                </a:lnTo>
                <a:lnTo>
                  <a:pt x="0" y="3175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13056791" y="5511800"/>
            <a:ext cx="1574800" cy="304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...</a:t>
            </a:r>
            <a:endParaRPr lang="en-US" sz="1600" dirty="0"/>
          </a:p>
        </p:txBody>
      </p:sp>
      <p:sp>
        <p:nvSpPr>
          <p:cNvPr id="60" name="Text 58"/>
          <p:cNvSpPr/>
          <p:nvPr/>
        </p:nvSpPr>
        <p:spPr>
          <a:xfrm>
            <a:off x="12701191" y="6127750"/>
            <a:ext cx="73660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2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Metadata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14350" y="6889750"/>
            <a:ext cx="4927600" cy="1333500"/>
          </a:xfrm>
          <a:custGeom>
            <a:avLst/>
            <a:gdLst/>
            <a:ahLst/>
            <a:cxnLst/>
            <a:rect l="l" t="t" r="r" b="b"/>
            <a:pathLst>
              <a:path w="4927600" h="1333500">
                <a:moveTo>
                  <a:pt x="0" y="0"/>
                </a:moveTo>
                <a:lnTo>
                  <a:pt x="4927600" y="0"/>
                </a:lnTo>
                <a:lnTo>
                  <a:pt x="49276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2" name="Shape 60"/>
          <p:cNvSpPr/>
          <p:nvPr/>
        </p:nvSpPr>
        <p:spPr>
          <a:xfrm>
            <a:off x="755650" y="7137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03808" y="2322"/>
                </a:moveTo>
                <a:cubicBezTo>
                  <a:pt x="110460" y="-759"/>
                  <a:pt x="118140" y="-759"/>
                  <a:pt x="124792" y="2322"/>
                </a:cubicBezTo>
                <a:lnTo>
                  <a:pt x="222394" y="47417"/>
                </a:lnTo>
                <a:cubicBezTo>
                  <a:pt x="226189" y="49158"/>
                  <a:pt x="228600" y="52953"/>
                  <a:pt x="228600" y="57150"/>
                </a:cubicBezTo>
                <a:cubicBezTo>
                  <a:pt x="228600" y="61347"/>
                  <a:pt x="226189" y="65142"/>
                  <a:pt x="222394" y="66883"/>
                </a:cubicBezTo>
                <a:lnTo>
                  <a:pt x="124792" y="111978"/>
                </a:lnTo>
                <a:cubicBezTo>
                  <a:pt x="118140" y="115059"/>
                  <a:pt x="110460" y="115059"/>
                  <a:pt x="103808" y="111978"/>
                </a:cubicBezTo>
                <a:lnTo>
                  <a:pt x="6206" y="66883"/>
                </a:lnTo>
                <a:cubicBezTo>
                  <a:pt x="2411" y="65097"/>
                  <a:pt x="0" y="61302"/>
                  <a:pt x="0" y="57150"/>
                </a:cubicBezTo>
                <a:cubicBezTo>
                  <a:pt x="0" y="52998"/>
                  <a:pt x="2411" y="49158"/>
                  <a:pt x="6206" y="47417"/>
                </a:cubicBezTo>
                <a:lnTo>
                  <a:pt x="103808" y="2322"/>
                </a:lnTo>
                <a:close/>
                <a:moveTo>
                  <a:pt x="21476" y="97512"/>
                </a:moveTo>
                <a:lnTo>
                  <a:pt x="94833" y="131400"/>
                </a:lnTo>
                <a:cubicBezTo>
                  <a:pt x="107201" y="137115"/>
                  <a:pt x="121444" y="137115"/>
                  <a:pt x="133811" y="131400"/>
                </a:cubicBezTo>
                <a:lnTo>
                  <a:pt x="207169" y="97512"/>
                </a:lnTo>
                <a:lnTo>
                  <a:pt x="222394" y="104567"/>
                </a:lnTo>
                <a:cubicBezTo>
                  <a:pt x="226189" y="106308"/>
                  <a:pt x="228600" y="110103"/>
                  <a:pt x="228600" y="114300"/>
                </a:cubicBezTo>
                <a:cubicBezTo>
                  <a:pt x="228600" y="118497"/>
                  <a:pt x="226189" y="122292"/>
                  <a:pt x="222394" y="124033"/>
                </a:cubicBezTo>
                <a:lnTo>
                  <a:pt x="124792" y="169128"/>
                </a:lnTo>
                <a:cubicBezTo>
                  <a:pt x="118140" y="172209"/>
                  <a:pt x="110460" y="172209"/>
                  <a:pt x="103808" y="169128"/>
                </a:cubicBezTo>
                <a:lnTo>
                  <a:pt x="6206" y="124033"/>
                </a:lnTo>
                <a:cubicBezTo>
                  <a:pt x="2411" y="122247"/>
                  <a:pt x="0" y="118452"/>
                  <a:pt x="0" y="114300"/>
                </a:cubicBezTo>
                <a:cubicBezTo>
                  <a:pt x="0" y="110148"/>
                  <a:pt x="2411" y="106308"/>
                  <a:pt x="6206" y="104567"/>
                </a:cubicBezTo>
                <a:lnTo>
                  <a:pt x="21431" y="97512"/>
                </a:lnTo>
                <a:close/>
                <a:moveTo>
                  <a:pt x="6206" y="161717"/>
                </a:moveTo>
                <a:lnTo>
                  <a:pt x="21431" y="154662"/>
                </a:lnTo>
                <a:lnTo>
                  <a:pt x="94789" y="188550"/>
                </a:lnTo>
                <a:cubicBezTo>
                  <a:pt x="107156" y="194265"/>
                  <a:pt x="121399" y="194265"/>
                  <a:pt x="133767" y="188550"/>
                </a:cubicBezTo>
                <a:lnTo>
                  <a:pt x="207124" y="154662"/>
                </a:lnTo>
                <a:lnTo>
                  <a:pt x="222349" y="161717"/>
                </a:lnTo>
                <a:cubicBezTo>
                  <a:pt x="226144" y="163458"/>
                  <a:pt x="228555" y="167253"/>
                  <a:pt x="228555" y="171450"/>
                </a:cubicBezTo>
                <a:cubicBezTo>
                  <a:pt x="228555" y="175647"/>
                  <a:pt x="226144" y="179442"/>
                  <a:pt x="222349" y="181183"/>
                </a:cubicBezTo>
                <a:lnTo>
                  <a:pt x="124748" y="226278"/>
                </a:lnTo>
                <a:cubicBezTo>
                  <a:pt x="118095" y="229359"/>
                  <a:pt x="110416" y="229359"/>
                  <a:pt x="103763" y="226278"/>
                </a:cubicBezTo>
                <a:lnTo>
                  <a:pt x="6206" y="181183"/>
                </a:lnTo>
                <a:cubicBezTo>
                  <a:pt x="2411" y="179397"/>
                  <a:pt x="0" y="175602"/>
                  <a:pt x="0" y="171450"/>
                </a:cubicBezTo>
                <a:cubicBezTo>
                  <a:pt x="0" y="167298"/>
                  <a:pt x="2411" y="163458"/>
                  <a:pt x="6206" y="161717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1111250" y="70993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分层设计优势</a:t>
            </a:r>
            <a:endParaRPr lang="en-US" sz="1600" dirty="0"/>
          </a:p>
        </p:txBody>
      </p:sp>
      <p:sp>
        <p:nvSpPr>
          <p:cNvPr id="64" name="Text 62"/>
          <p:cNvSpPr/>
          <p:nvPr/>
        </p:nvSpPr>
        <p:spPr>
          <a:xfrm>
            <a:off x="723900" y="7505700"/>
            <a:ext cx="459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通过分层架构实现并行处理、列裁剪、精细压缩等多维优化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662017" y="6889750"/>
            <a:ext cx="4927600" cy="1333500"/>
          </a:xfrm>
          <a:custGeom>
            <a:avLst/>
            <a:gdLst/>
            <a:ahLst/>
            <a:cxnLst/>
            <a:rect l="l" t="t" r="r" b="b"/>
            <a:pathLst>
              <a:path w="4927600" h="1333500">
                <a:moveTo>
                  <a:pt x="0" y="0"/>
                </a:moveTo>
                <a:lnTo>
                  <a:pt x="4927600" y="0"/>
                </a:lnTo>
                <a:lnTo>
                  <a:pt x="49276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6" name="Shape 64"/>
          <p:cNvSpPr/>
          <p:nvPr/>
        </p:nvSpPr>
        <p:spPr>
          <a:xfrm>
            <a:off x="5903317" y="7137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00013" y="71438"/>
                </a:moveTo>
                <a:cubicBezTo>
                  <a:pt x="100013" y="63552"/>
                  <a:pt x="106415" y="57150"/>
                  <a:pt x="114300" y="57150"/>
                </a:cubicBezTo>
                <a:cubicBezTo>
                  <a:pt x="122185" y="57150"/>
                  <a:pt x="128588" y="63552"/>
                  <a:pt x="128588" y="71438"/>
                </a:cubicBezTo>
                <a:cubicBezTo>
                  <a:pt x="128588" y="79323"/>
                  <a:pt x="122185" y="85725"/>
                  <a:pt x="114300" y="85725"/>
                </a:cubicBezTo>
                <a:cubicBezTo>
                  <a:pt x="106415" y="85725"/>
                  <a:pt x="100013" y="79323"/>
                  <a:pt x="100013" y="71438"/>
                </a:cubicBezTo>
                <a:close/>
                <a:moveTo>
                  <a:pt x="96441" y="100013"/>
                </a:moveTo>
                <a:lnTo>
                  <a:pt x="117872" y="100013"/>
                </a:lnTo>
                <a:cubicBezTo>
                  <a:pt x="123810" y="100013"/>
                  <a:pt x="128588" y="104790"/>
                  <a:pt x="128588" y="110728"/>
                </a:cubicBezTo>
                <a:lnTo>
                  <a:pt x="128588" y="150019"/>
                </a:lnTo>
                <a:lnTo>
                  <a:pt x="132159" y="150019"/>
                </a:lnTo>
                <a:cubicBezTo>
                  <a:pt x="138098" y="150019"/>
                  <a:pt x="142875" y="154796"/>
                  <a:pt x="142875" y="160734"/>
                </a:cubicBezTo>
                <a:cubicBezTo>
                  <a:pt x="142875" y="166673"/>
                  <a:pt x="138098" y="171450"/>
                  <a:pt x="132159" y="171450"/>
                </a:cubicBezTo>
                <a:lnTo>
                  <a:pt x="96441" y="171450"/>
                </a:lnTo>
                <a:cubicBezTo>
                  <a:pt x="90502" y="171450"/>
                  <a:pt x="85725" y="166673"/>
                  <a:pt x="85725" y="160734"/>
                </a:cubicBezTo>
                <a:cubicBezTo>
                  <a:pt x="85725" y="154796"/>
                  <a:pt x="90502" y="150019"/>
                  <a:pt x="96441" y="150019"/>
                </a:cubicBezTo>
                <a:lnTo>
                  <a:pt x="107156" y="150019"/>
                </a:lnTo>
                <a:lnTo>
                  <a:pt x="107156" y="121444"/>
                </a:lnTo>
                <a:lnTo>
                  <a:pt x="96441" y="121444"/>
                </a:lnTo>
                <a:cubicBezTo>
                  <a:pt x="90502" y="121444"/>
                  <a:pt x="85725" y="116666"/>
                  <a:pt x="85725" y="110728"/>
                </a:cubicBezTo>
                <a:cubicBezTo>
                  <a:pt x="85725" y="104790"/>
                  <a:pt x="90502" y="100013"/>
                  <a:pt x="96441" y="100013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7" name="Text 65"/>
          <p:cNvSpPr/>
          <p:nvPr/>
        </p:nvSpPr>
        <p:spPr>
          <a:xfrm>
            <a:off x="6258917" y="7099300"/>
            <a:ext cx="1117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元数据驱动</a:t>
            </a:r>
            <a:endParaRPr lang="en-US" sz="1600" dirty="0"/>
          </a:p>
        </p:txBody>
      </p:sp>
      <p:sp>
        <p:nvSpPr>
          <p:cNvPr id="68" name="Text 66"/>
          <p:cNvSpPr/>
          <p:nvPr/>
        </p:nvSpPr>
        <p:spPr>
          <a:xfrm>
            <a:off x="5871567" y="7505700"/>
            <a:ext cx="4597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页脚集中存储元数据，支持一次性读取，减少随机I/O操作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10809784" y="6889750"/>
            <a:ext cx="4927600" cy="1333500"/>
          </a:xfrm>
          <a:custGeom>
            <a:avLst/>
            <a:gdLst/>
            <a:ahLst/>
            <a:cxnLst/>
            <a:rect l="l" t="t" r="r" b="b"/>
            <a:pathLst>
              <a:path w="4927600" h="1333500">
                <a:moveTo>
                  <a:pt x="0" y="0"/>
                </a:moveTo>
                <a:lnTo>
                  <a:pt x="4927600" y="0"/>
                </a:lnTo>
                <a:lnTo>
                  <a:pt x="4927600" y="1333500"/>
                </a:lnTo>
                <a:lnTo>
                  <a:pt x="0" y="13335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0" name="Shape 68"/>
          <p:cNvSpPr/>
          <p:nvPr/>
        </p:nvSpPr>
        <p:spPr>
          <a:xfrm>
            <a:off x="11051084" y="7137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7150" y="142875"/>
                </a:moveTo>
                <a:lnTo>
                  <a:pt x="10939" y="142875"/>
                </a:lnTo>
                <a:cubicBezTo>
                  <a:pt x="-179" y="142875"/>
                  <a:pt x="-7010" y="130775"/>
                  <a:pt x="-1295" y="121221"/>
                </a:cubicBezTo>
                <a:lnTo>
                  <a:pt x="22324" y="81841"/>
                </a:lnTo>
                <a:cubicBezTo>
                  <a:pt x="26209" y="75367"/>
                  <a:pt x="33174" y="71438"/>
                  <a:pt x="40719" y="71438"/>
                </a:cubicBezTo>
                <a:lnTo>
                  <a:pt x="83135" y="71438"/>
                </a:lnTo>
                <a:cubicBezTo>
                  <a:pt x="117113" y="13886"/>
                  <a:pt x="167789" y="10984"/>
                  <a:pt x="201677" y="15939"/>
                </a:cubicBezTo>
                <a:cubicBezTo>
                  <a:pt x="207392" y="16788"/>
                  <a:pt x="211857" y="21253"/>
                  <a:pt x="212661" y="26923"/>
                </a:cubicBezTo>
                <a:cubicBezTo>
                  <a:pt x="217616" y="60811"/>
                  <a:pt x="214714" y="111487"/>
                  <a:pt x="157163" y="145465"/>
                </a:cubicBezTo>
                <a:lnTo>
                  <a:pt x="157163" y="187881"/>
                </a:lnTo>
                <a:cubicBezTo>
                  <a:pt x="157163" y="195426"/>
                  <a:pt x="153233" y="202391"/>
                  <a:pt x="146759" y="206276"/>
                </a:cubicBezTo>
                <a:lnTo>
                  <a:pt x="107379" y="229895"/>
                </a:lnTo>
                <a:cubicBezTo>
                  <a:pt x="97869" y="235610"/>
                  <a:pt x="85725" y="228734"/>
                  <a:pt x="85725" y="217661"/>
                </a:cubicBezTo>
                <a:lnTo>
                  <a:pt x="85725" y="171450"/>
                </a:lnTo>
                <a:cubicBezTo>
                  <a:pt x="85725" y="155689"/>
                  <a:pt x="72911" y="142875"/>
                  <a:pt x="57150" y="142875"/>
                </a:cubicBezTo>
                <a:lnTo>
                  <a:pt x="57105" y="142875"/>
                </a:lnTo>
                <a:close/>
                <a:moveTo>
                  <a:pt x="178594" y="71438"/>
                </a:moveTo>
                <a:cubicBezTo>
                  <a:pt x="178594" y="59609"/>
                  <a:pt x="168991" y="50006"/>
                  <a:pt x="157163" y="50006"/>
                </a:cubicBezTo>
                <a:cubicBezTo>
                  <a:pt x="145334" y="50006"/>
                  <a:pt x="135731" y="59609"/>
                  <a:pt x="135731" y="71438"/>
                </a:cubicBezTo>
                <a:cubicBezTo>
                  <a:pt x="135731" y="83266"/>
                  <a:pt x="145334" y="92869"/>
                  <a:pt x="157163" y="92869"/>
                </a:cubicBezTo>
                <a:cubicBezTo>
                  <a:pt x="168991" y="92869"/>
                  <a:pt x="178594" y="83266"/>
                  <a:pt x="178594" y="71438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1" name="Text 69"/>
          <p:cNvSpPr/>
          <p:nvPr/>
        </p:nvSpPr>
        <p:spPr>
          <a:xfrm>
            <a:off x="11406684" y="70993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72" name="Text 70"/>
          <p:cNvSpPr/>
          <p:nvPr/>
        </p:nvSpPr>
        <p:spPr>
          <a:xfrm>
            <a:off x="11019334" y="7505700"/>
            <a:ext cx="4597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列连续存储+页面化管理，显著提升查询性能和内存效率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42333" cy="508000"/>
          </a:xfrm>
          <a:custGeom>
            <a:avLst/>
            <a:gdLst/>
            <a:ahLst/>
            <a:cxnLst/>
            <a:rect l="l" t="t" r="r" b="b"/>
            <a:pathLst>
              <a:path w="42333" h="508000">
                <a:moveTo>
                  <a:pt x="0" y="0"/>
                </a:moveTo>
                <a:lnTo>
                  <a:pt x="42333" y="0"/>
                </a:lnTo>
                <a:lnTo>
                  <a:pt x="4233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5000" y="465667"/>
            <a:ext cx="3238500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页脚结构深度解析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28625" y="905398"/>
            <a:ext cx="15398750" cy="8159750"/>
          </a:xfrm>
          <a:custGeom>
            <a:avLst/>
            <a:gdLst/>
            <a:ahLst/>
            <a:cxnLst/>
            <a:rect l="l" t="t" r="r" b="b"/>
            <a:pathLst>
              <a:path w="15398750" h="8159750">
                <a:moveTo>
                  <a:pt x="0" y="0"/>
                </a:moveTo>
                <a:lnTo>
                  <a:pt x="15398750" y="0"/>
                </a:lnTo>
                <a:lnTo>
                  <a:pt x="15398750" y="8159750"/>
                </a:lnTo>
                <a:lnTo>
                  <a:pt x="0" y="81597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129748"/>
              </p:ext>
            </p:extLst>
          </p:nvPr>
        </p:nvGraphicFramePr>
        <p:xfrm>
          <a:off x="433917" y="910689"/>
          <a:ext cx="15388168" cy="8149171"/>
        </p:xfrm>
        <a:graphic>
          <a:graphicData uri="http://schemas.openxmlformats.org/drawingml/2006/table">
            <a:tbl>
              <a:tblPr/>
              <a:tblGrid>
                <a:gridCol w="3847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70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7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470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9363"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元数据类型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组件名称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描述说明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技术作用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9363">
                <a:tc rowSpan="5">
                  <a:txBody>
                    <a:bodyPr/>
                    <a:lstStyle/>
                    <a:p>
                      <a:r>
                        <a:rPr lang="en-US" sz="1100" u="none" dirty="0" err="1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FileMetaData</a:t>
                      </a:r>
                      <a:r>
                        <a:rPr lang="zh-CN" altLang="en-US" sz="1100" u="none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pitchFamily="34" charset="-120"/>
                        </a:rPr>
                        <a:t> </a:t>
                      </a:r>
                      <a:r>
                        <a:rPr lang="en-US" sz="1100" u="none" dirty="0" err="1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文件元数据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文件架构 (Schema)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定义数据结构和字段类型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数据模型定义，类型安全查询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93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文件格式版本号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格式兼容性，版本迁移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93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文件创建时间戳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数据版本管理和审计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93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文件创建者标识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权限管理和数据溯源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93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生成文件的工具信息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工具链集成和调试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9363">
                <a:tc rowSpan="4">
                  <a:txBody>
                    <a:bodyPr/>
                    <a:lstStyle/>
                    <a:p>
                      <a:r>
                        <a:rPr lang="en-US" sz="1100" u="none" dirty="0" err="1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RowGroupMetadata</a:t>
                      </a:r>
                      <a:r>
                        <a:rPr lang="zh-CN" altLang="en-US" sz="1100" u="none" dirty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  <a:cs typeface="微软雅黑" pitchFamily="34" charset="-120"/>
                        </a:rPr>
                        <a:t> </a:t>
                      </a:r>
                      <a:r>
                        <a:rPr lang="en-US" sz="1100" u="none" dirty="0" err="1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行组元数据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行组偏移量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行组在文件中的起始位置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快速定位和并行读取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93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行组占用的字节数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IO优化和内存分配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93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行组包含的数据行数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数据跳过和谓词下推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793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指向列块元数据引用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行组与列数据关联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9363">
                <a:tc rowSpan="7">
                  <a:txBody>
                    <a:bodyPr/>
                    <a:lstStyle/>
                    <a:p>
                      <a:r>
                        <a:rPr lang="en-US" sz="1100" u="none" dirty="0" err="1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ColumnMetadata</a:t>
                      </a:r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 列元数据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最小值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列数据的最小值统计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范围查询和数据跳过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793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列数据的最大值统计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范围查询和数据跳过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793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列中空值的数量统计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空值处理和查询优化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793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数据编码格式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影响压缩率和读取性能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793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数据压缩算法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影响存储和读取速度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793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数据页在文件中的位置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精确数据定位和随机访问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479363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数据页占用的字节数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内存管理和缓存优化</a:t>
                      </a:r>
                      <a:endParaRPr lang="en-US" sz="11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28625" y="11651175"/>
            <a:ext cx="5016500" cy="899583"/>
          </a:xfrm>
          <a:custGeom>
            <a:avLst/>
            <a:gdLst/>
            <a:ahLst/>
            <a:cxnLst/>
            <a:rect l="l" t="t" r="r" b="b"/>
            <a:pathLst>
              <a:path w="5016500" h="899583">
                <a:moveTo>
                  <a:pt x="0" y="0"/>
                </a:moveTo>
                <a:lnTo>
                  <a:pt x="5016500" y="0"/>
                </a:lnTo>
                <a:lnTo>
                  <a:pt x="5016500" y="899583"/>
                </a:lnTo>
                <a:lnTo>
                  <a:pt x="0" y="899583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617802" y="118575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15156" y="-7032"/>
                </a:moveTo>
                <a:cubicBezTo>
                  <a:pt x="113630" y="-10009"/>
                  <a:pt x="110542" y="-11906"/>
                  <a:pt x="107193" y="-11906"/>
                </a:cubicBezTo>
                <a:cubicBezTo>
                  <a:pt x="103845" y="-11906"/>
                  <a:pt x="100757" y="-10009"/>
                  <a:pt x="99231" y="-7032"/>
                </a:cubicBezTo>
                <a:lnTo>
                  <a:pt x="71847" y="46620"/>
                </a:lnTo>
                <a:lnTo>
                  <a:pt x="12353" y="56071"/>
                </a:lnTo>
                <a:cubicBezTo>
                  <a:pt x="9041" y="56592"/>
                  <a:pt x="6288" y="58936"/>
                  <a:pt x="5246" y="62136"/>
                </a:cubicBezTo>
                <a:cubicBezTo>
                  <a:pt x="4204" y="65336"/>
                  <a:pt x="5060" y="68833"/>
                  <a:pt x="7404" y="71214"/>
                </a:cubicBezTo>
                <a:lnTo>
                  <a:pt x="49969" y="113816"/>
                </a:lnTo>
                <a:lnTo>
                  <a:pt x="40593" y="173310"/>
                </a:lnTo>
                <a:cubicBezTo>
                  <a:pt x="40072" y="176622"/>
                  <a:pt x="41449" y="179970"/>
                  <a:pt x="44165" y="181942"/>
                </a:cubicBezTo>
                <a:cubicBezTo>
                  <a:pt x="46881" y="183914"/>
                  <a:pt x="50453" y="184212"/>
                  <a:pt x="53467" y="182687"/>
                </a:cubicBezTo>
                <a:lnTo>
                  <a:pt x="107193" y="155377"/>
                </a:lnTo>
                <a:lnTo>
                  <a:pt x="160883" y="182687"/>
                </a:lnTo>
                <a:cubicBezTo>
                  <a:pt x="163860" y="184212"/>
                  <a:pt x="167469" y="183914"/>
                  <a:pt x="170185" y="181942"/>
                </a:cubicBezTo>
                <a:cubicBezTo>
                  <a:pt x="172901" y="179970"/>
                  <a:pt x="174278" y="176659"/>
                  <a:pt x="173757" y="173310"/>
                </a:cubicBezTo>
                <a:lnTo>
                  <a:pt x="164343" y="113816"/>
                </a:lnTo>
                <a:lnTo>
                  <a:pt x="206908" y="71214"/>
                </a:lnTo>
                <a:cubicBezTo>
                  <a:pt x="209290" y="68833"/>
                  <a:pt x="210108" y="65336"/>
                  <a:pt x="209066" y="62136"/>
                </a:cubicBezTo>
                <a:cubicBezTo>
                  <a:pt x="208025" y="58936"/>
                  <a:pt x="205308" y="56592"/>
                  <a:pt x="201960" y="56071"/>
                </a:cubicBezTo>
                <a:lnTo>
                  <a:pt x="142503" y="46620"/>
                </a:lnTo>
                <a:lnTo>
                  <a:pt x="115156" y="-7032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926042" y="11825800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查询优化核心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03250" y="12164467"/>
            <a:ext cx="4741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元数据是查询优化的关键，支持快速数据定位和智能查询规划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621486" y="11651175"/>
            <a:ext cx="5016500" cy="899583"/>
          </a:xfrm>
          <a:custGeom>
            <a:avLst/>
            <a:gdLst/>
            <a:ahLst/>
            <a:cxnLst/>
            <a:rect l="l" t="t" r="r" b="b"/>
            <a:pathLst>
              <a:path w="5016500" h="899583">
                <a:moveTo>
                  <a:pt x="0" y="0"/>
                </a:moveTo>
                <a:lnTo>
                  <a:pt x="5016500" y="0"/>
                </a:lnTo>
                <a:lnTo>
                  <a:pt x="5016500" y="899583"/>
                </a:lnTo>
                <a:lnTo>
                  <a:pt x="0" y="899583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8"/>
          <p:cNvSpPr/>
          <p:nvPr/>
        </p:nvSpPr>
        <p:spPr>
          <a:xfrm>
            <a:off x="5822570" y="11857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6118903" y="11825800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统计信息驱动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796111" y="12164467"/>
            <a:ext cx="4741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多级统计信息实现数据跳过、谓词下推，显著提升查询性能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814348" y="11651175"/>
            <a:ext cx="5016500" cy="899583"/>
          </a:xfrm>
          <a:custGeom>
            <a:avLst/>
            <a:gdLst/>
            <a:ahLst/>
            <a:cxnLst/>
            <a:rect l="l" t="t" r="r" b="b"/>
            <a:pathLst>
              <a:path w="5016500" h="899583">
                <a:moveTo>
                  <a:pt x="0" y="0"/>
                </a:moveTo>
                <a:lnTo>
                  <a:pt x="5016500" y="0"/>
                </a:lnTo>
                <a:lnTo>
                  <a:pt x="5016500" y="899583"/>
                </a:lnTo>
                <a:lnTo>
                  <a:pt x="0" y="899583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12"/>
          <p:cNvSpPr/>
          <p:nvPr/>
        </p:nvSpPr>
        <p:spPr>
          <a:xfrm>
            <a:off x="11027337" y="11857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66688" y="76572"/>
                </a:moveTo>
                <a:cubicBezTo>
                  <a:pt x="161181" y="80218"/>
                  <a:pt x="154856" y="83158"/>
                  <a:pt x="148270" y="85502"/>
                </a:cubicBezTo>
                <a:cubicBezTo>
                  <a:pt x="130783" y="91753"/>
                  <a:pt x="107826" y="95250"/>
                  <a:pt x="83344" y="95250"/>
                </a:cubicBezTo>
                <a:cubicBezTo>
                  <a:pt x="58862" y="95250"/>
                  <a:pt x="35868" y="91715"/>
                  <a:pt x="18417" y="85502"/>
                </a:cubicBezTo>
                <a:cubicBezTo>
                  <a:pt x="11869" y="83158"/>
                  <a:pt x="5507" y="80218"/>
                  <a:pt x="0" y="76572"/>
                </a:cubicBezTo>
                <a:lnTo>
                  <a:pt x="0" y="107156"/>
                </a:lnTo>
                <a:cubicBezTo>
                  <a:pt x="0" y="123602"/>
                  <a:pt x="37319" y="136922"/>
                  <a:pt x="83344" y="136922"/>
                </a:cubicBezTo>
                <a:cubicBezTo>
                  <a:pt x="129369" y="136922"/>
                  <a:pt x="166688" y="123602"/>
                  <a:pt x="166688" y="107156"/>
                </a:cubicBezTo>
                <a:lnTo>
                  <a:pt x="166688" y="76572"/>
                </a:lnTo>
                <a:close/>
                <a:moveTo>
                  <a:pt x="166688" y="47625"/>
                </a:moveTo>
                <a:lnTo>
                  <a:pt x="166688" y="29766"/>
                </a:lnTo>
                <a:cubicBezTo>
                  <a:pt x="166688" y="13320"/>
                  <a:pt x="129369" y="0"/>
                  <a:pt x="83344" y="0"/>
                </a:cubicBezTo>
                <a:cubicBezTo>
                  <a:pt x="37319" y="0"/>
                  <a:pt x="0" y="13320"/>
                  <a:pt x="0" y="29766"/>
                </a:cubicBezTo>
                <a:lnTo>
                  <a:pt x="0" y="47625"/>
                </a:lnTo>
                <a:cubicBezTo>
                  <a:pt x="0" y="64071"/>
                  <a:pt x="37319" y="77391"/>
                  <a:pt x="83344" y="77391"/>
                </a:cubicBezTo>
                <a:cubicBezTo>
                  <a:pt x="129369" y="77391"/>
                  <a:pt x="166688" y="64071"/>
                  <a:pt x="166688" y="47625"/>
                </a:cubicBezTo>
                <a:close/>
                <a:moveTo>
                  <a:pt x="148270" y="145033"/>
                </a:moveTo>
                <a:cubicBezTo>
                  <a:pt x="130820" y="151247"/>
                  <a:pt x="107863" y="154781"/>
                  <a:pt x="83344" y="154781"/>
                </a:cubicBezTo>
                <a:cubicBezTo>
                  <a:pt x="58824" y="154781"/>
                  <a:pt x="35868" y="151247"/>
                  <a:pt x="18417" y="145033"/>
                </a:cubicBezTo>
                <a:cubicBezTo>
                  <a:pt x="11869" y="142689"/>
                  <a:pt x="5507" y="139750"/>
                  <a:pt x="0" y="136103"/>
                </a:cubicBezTo>
                <a:lnTo>
                  <a:pt x="0" y="160734"/>
                </a:lnTo>
                <a:cubicBezTo>
                  <a:pt x="0" y="177180"/>
                  <a:pt x="37319" y="190500"/>
                  <a:pt x="83344" y="190500"/>
                </a:cubicBezTo>
                <a:cubicBezTo>
                  <a:pt x="129369" y="190500"/>
                  <a:pt x="166688" y="177180"/>
                  <a:pt x="166688" y="160734"/>
                </a:cubicBezTo>
                <a:lnTo>
                  <a:pt x="166688" y="136103"/>
                </a:lnTo>
                <a:cubicBezTo>
                  <a:pt x="161181" y="139750"/>
                  <a:pt x="154856" y="142689"/>
                  <a:pt x="148270" y="145033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11311764" y="11825800"/>
            <a:ext cx="110066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33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集中管理优势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988973" y="12164467"/>
            <a:ext cx="4741333" cy="2116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67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页脚集中存储元数据，支持一次性读取分析，减少随机I/O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7125" y="497125"/>
            <a:ext cx="49713" cy="596550"/>
          </a:xfrm>
          <a:custGeom>
            <a:avLst/>
            <a:gdLst/>
            <a:ahLst/>
            <a:cxnLst/>
            <a:rect l="l" t="t" r="r" b="b"/>
            <a:pathLst>
              <a:path w="49713" h="596550">
                <a:moveTo>
                  <a:pt x="0" y="0"/>
                </a:moveTo>
                <a:lnTo>
                  <a:pt x="49713" y="0"/>
                </a:lnTo>
                <a:lnTo>
                  <a:pt x="49713" y="596550"/>
                </a:lnTo>
                <a:lnTo>
                  <a:pt x="0" y="59655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5688" y="546838"/>
            <a:ext cx="6002789" cy="497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2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Parquet文件二进制格式详解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3339" y="1348453"/>
            <a:ext cx="10178642" cy="6226495"/>
          </a:xfrm>
          <a:custGeom>
            <a:avLst/>
            <a:gdLst/>
            <a:ahLst/>
            <a:cxnLst/>
            <a:rect l="l" t="t" r="r" b="b"/>
            <a:pathLst>
              <a:path w="10178642" h="6226495">
                <a:moveTo>
                  <a:pt x="0" y="0"/>
                </a:moveTo>
                <a:lnTo>
                  <a:pt x="10178642" y="0"/>
                </a:lnTo>
                <a:lnTo>
                  <a:pt x="10178642" y="6226495"/>
                </a:lnTo>
                <a:lnTo>
                  <a:pt x="0" y="6226495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20257" y="1652942"/>
            <a:ext cx="186422" cy="248563"/>
          </a:xfrm>
          <a:custGeom>
            <a:avLst/>
            <a:gdLst/>
            <a:ahLst/>
            <a:cxnLst/>
            <a:rect l="l" t="t" r="r" b="b"/>
            <a:pathLst>
              <a:path w="186422" h="248563">
                <a:moveTo>
                  <a:pt x="0" y="31070"/>
                </a:moveTo>
                <a:cubicBezTo>
                  <a:pt x="0" y="13933"/>
                  <a:pt x="13933" y="0"/>
                  <a:pt x="31070" y="0"/>
                </a:cubicBezTo>
                <a:lnTo>
                  <a:pt x="103649" y="0"/>
                </a:lnTo>
                <a:cubicBezTo>
                  <a:pt x="111902" y="0"/>
                  <a:pt x="119815" y="3253"/>
                  <a:pt x="125641" y="9078"/>
                </a:cubicBezTo>
                <a:lnTo>
                  <a:pt x="177344" y="60830"/>
                </a:lnTo>
                <a:cubicBezTo>
                  <a:pt x="183169" y="66656"/>
                  <a:pt x="186422" y="74569"/>
                  <a:pt x="186422" y="82822"/>
                </a:cubicBezTo>
                <a:lnTo>
                  <a:pt x="186422" y="217492"/>
                </a:lnTo>
                <a:cubicBezTo>
                  <a:pt x="186422" y="234630"/>
                  <a:pt x="172489" y="248563"/>
                  <a:pt x="155352" y="248563"/>
                </a:cubicBezTo>
                <a:lnTo>
                  <a:pt x="31070" y="248563"/>
                </a:lnTo>
                <a:cubicBezTo>
                  <a:pt x="13933" y="248563"/>
                  <a:pt x="0" y="234630"/>
                  <a:pt x="0" y="217492"/>
                </a:cubicBezTo>
                <a:lnTo>
                  <a:pt x="0" y="31070"/>
                </a:lnTo>
                <a:close/>
                <a:moveTo>
                  <a:pt x="100979" y="28400"/>
                </a:moveTo>
                <a:lnTo>
                  <a:pt x="100979" y="73792"/>
                </a:lnTo>
                <a:cubicBezTo>
                  <a:pt x="100979" y="80249"/>
                  <a:pt x="106173" y="85443"/>
                  <a:pt x="112630" y="85443"/>
                </a:cubicBezTo>
                <a:lnTo>
                  <a:pt x="158022" y="85443"/>
                </a:lnTo>
                <a:lnTo>
                  <a:pt x="100979" y="28400"/>
                </a:lnTo>
                <a:close/>
                <a:moveTo>
                  <a:pt x="74860" y="143506"/>
                </a:moveTo>
                <a:cubicBezTo>
                  <a:pt x="79035" y="138603"/>
                  <a:pt x="78501" y="131272"/>
                  <a:pt x="73598" y="127097"/>
                </a:cubicBezTo>
                <a:cubicBezTo>
                  <a:pt x="68695" y="122922"/>
                  <a:pt x="61364" y="123456"/>
                  <a:pt x="57189" y="128359"/>
                </a:cubicBezTo>
                <a:lnTo>
                  <a:pt x="33886" y="155546"/>
                </a:lnTo>
                <a:cubicBezTo>
                  <a:pt x="30148" y="159915"/>
                  <a:pt x="30148" y="166323"/>
                  <a:pt x="33886" y="170693"/>
                </a:cubicBezTo>
                <a:lnTo>
                  <a:pt x="57189" y="197879"/>
                </a:lnTo>
                <a:cubicBezTo>
                  <a:pt x="61364" y="202782"/>
                  <a:pt x="68743" y="203317"/>
                  <a:pt x="73598" y="199141"/>
                </a:cubicBezTo>
                <a:cubicBezTo>
                  <a:pt x="78453" y="194966"/>
                  <a:pt x="79035" y="187587"/>
                  <a:pt x="74860" y="182732"/>
                </a:cubicBezTo>
                <a:lnTo>
                  <a:pt x="58063" y="163119"/>
                </a:lnTo>
                <a:lnTo>
                  <a:pt x="74860" y="143506"/>
                </a:lnTo>
                <a:close/>
                <a:moveTo>
                  <a:pt x="129233" y="128359"/>
                </a:moveTo>
                <a:cubicBezTo>
                  <a:pt x="125058" y="123456"/>
                  <a:pt x="117679" y="122922"/>
                  <a:pt x="112824" y="127097"/>
                </a:cubicBezTo>
                <a:cubicBezTo>
                  <a:pt x="107969" y="131272"/>
                  <a:pt x="107387" y="138651"/>
                  <a:pt x="111562" y="143506"/>
                </a:cubicBezTo>
                <a:lnTo>
                  <a:pt x="128359" y="163119"/>
                </a:lnTo>
                <a:lnTo>
                  <a:pt x="111562" y="182732"/>
                </a:lnTo>
                <a:cubicBezTo>
                  <a:pt x="107387" y="187636"/>
                  <a:pt x="107921" y="194966"/>
                  <a:pt x="112824" y="199141"/>
                </a:cubicBezTo>
                <a:cubicBezTo>
                  <a:pt x="117727" y="203317"/>
                  <a:pt x="125058" y="202782"/>
                  <a:pt x="129233" y="197879"/>
                </a:cubicBezTo>
                <a:lnTo>
                  <a:pt x="152536" y="170693"/>
                </a:lnTo>
                <a:cubicBezTo>
                  <a:pt x="156274" y="166323"/>
                  <a:pt x="156274" y="159915"/>
                  <a:pt x="152536" y="155546"/>
                </a:cubicBezTo>
                <a:lnTo>
                  <a:pt x="129233" y="128359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217957" y="1603229"/>
            <a:ext cx="1864220" cy="3479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5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文件二进制结构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58116" y="2150067"/>
            <a:ext cx="9756086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Magic Number (4字节)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4330" y="2504269"/>
            <a:ext cx="9656661" cy="758116"/>
          </a:xfrm>
          <a:custGeom>
            <a:avLst/>
            <a:gdLst/>
            <a:ahLst/>
            <a:cxnLst/>
            <a:rect l="l" t="t" r="r" b="b"/>
            <a:pathLst>
              <a:path w="9656661" h="758116">
                <a:moveTo>
                  <a:pt x="0" y="0"/>
                </a:moveTo>
                <a:lnTo>
                  <a:pt x="9656661" y="0"/>
                </a:lnTo>
                <a:lnTo>
                  <a:pt x="9656661" y="758116"/>
                </a:lnTo>
                <a:lnTo>
                  <a:pt x="0" y="75811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919682" y="2659621"/>
            <a:ext cx="9432954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50 41 52 31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9682" y="2908183"/>
            <a:ext cx="9420526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// ASCII: "P" "A" "R" "1"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58116" y="3467450"/>
            <a:ext cx="9756086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行组数据格式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58116" y="3815437"/>
            <a:ext cx="9756086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每个列块包含多个数据页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8116" y="4113713"/>
            <a:ext cx="9756086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数据页采用</a:t>
            </a:r>
            <a:r>
              <a:rPr lang="en-US" sz="137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Thrift格式</a:t>
            </a:r>
            <a:r>
              <a:rPr lang="en-US" sz="137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序列化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58116" y="4411988"/>
            <a:ext cx="9756086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包含页头信息 + 压缩数据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58116" y="4859401"/>
            <a:ext cx="9756086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页脚结构 (Thrift)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4330" y="5213602"/>
            <a:ext cx="9656661" cy="2100355"/>
          </a:xfrm>
          <a:custGeom>
            <a:avLst/>
            <a:gdLst/>
            <a:ahLst/>
            <a:cxnLst/>
            <a:rect l="l" t="t" r="r" b="b"/>
            <a:pathLst>
              <a:path w="9656661" h="2100355">
                <a:moveTo>
                  <a:pt x="0" y="0"/>
                </a:moveTo>
                <a:lnTo>
                  <a:pt x="9656661" y="0"/>
                </a:lnTo>
                <a:lnTo>
                  <a:pt x="9656661" y="2100355"/>
                </a:lnTo>
                <a:lnTo>
                  <a:pt x="0" y="2100355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19682" y="5368954"/>
            <a:ext cx="9420526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struct FileMetaData {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19107" y="5567804"/>
            <a:ext cx="9321101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1: required i32 version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9107" y="5766654"/>
            <a:ext cx="9321101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2: required list schema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19107" y="5965505"/>
            <a:ext cx="9321101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3: required i64 num_rows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19107" y="6164355"/>
            <a:ext cx="9321101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4: required list row_groups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19107" y="6363205"/>
            <a:ext cx="9321101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5: optional list key_value_metadata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9107" y="6562055"/>
            <a:ext cx="9321101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6: optional string created_by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19107" y="6760905"/>
            <a:ext cx="9321101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7: optional list column_orders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919682" y="6959755"/>
            <a:ext cx="9420526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}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998122" y="1348453"/>
            <a:ext cx="4759976" cy="2721761"/>
          </a:xfrm>
          <a:custGeom>
            <a:avLst/>
            <a:gdLst/>
            <a:ahLst/>
            <a:cxnLst/>
            <a:rect l="l" t="t" r="r" b="b"/>
            <a:pathLst>
              <a:path w="4759976" h="2721761">
                <a:moveTo>
                  <a:pt x="0" y="0"/>
                </a:moveTo>
                <a:lnTo>
                  <a:pt x="4759976" y="0"/>
                </a:lnTo>
                <a:lnTo>
                  <a:pt x="4759976" y="2721761"/>
                </a:lnTo>
                <a:lnTo>
                  <a:pt x="0" y="2721761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1203187" y="1553517"/>
            <a:ext cx="4436844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BINARY EXAMPLE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1209401" y="1957431"/>
            <a:ext cx="4337419" cy="1901505"/>
          </a:xfrm>
          <a:custGeom>
            <a:avLst/>
            <a:gdLst/>
            <a:ahLst/>
            <a:cxnLst/>
            <a:rect l="l" t="t" r="r" b="b"/>
            <a:pathLst>
              <a:path w="4337419" h="1901505">
                <a:moveTo>
                  <a:pt x="0" y="0"/>
                </a:moveTo>
                <a:lnTo>
                  <a:pt x="4337419" y="0"/>
                </a:lnTo>
                <a:lnTo>
                  <a:pt x="4337419" y="1901505"/>
                </a:lnTo>
                <a:lnTo>
                  <a:pt x="0" y="1901505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11364752" y="2112783"/>
            <a:ext cx="4101284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00000000: </a:t>
            </a: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5041 5231</a:t>
            </a: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// "PAR1"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364752" y="2311633"/>
            <a:ext cx="4101284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00000004: </a:t>
            </a: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1500 1580</a:t>
            </a: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// Row Group 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1364752" y="2510483"/>
            <a:ext cx="4101284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00000008: </a:t>
            </a: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1500 1500</a:t>
            </a: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// 页头信息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364752" y="2709333"/>
            <a:ext cx="4101284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0000000c: </a:t>
            </a: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0000 0010</a:t>
            </a: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// 数据长度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364752" y="2908183"/>
            <a:ext cx="4101284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00000010: </a:t>
            </a: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0102...</a:t>
            </a: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// 实际数据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1364752" y="3107034"/>
            <a:ext cx="4101284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5A637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...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1364752" y="3305884"/>
            <a:ext cx="4101284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0000ff00: </a:t>
            </a: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1500 1580</a:t>
            </a: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// Footer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1364752" y="3504734"/>
            <a:ext cx="4101284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fffffffc: </a:t>
            </a:r>
            <a:r>
              <a:rPr lang="en-US" sz="1174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0000 00f0</a:t>
            </a:r>
            <a:r>
              <a:rPr lang="en-US" sz="1174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// 长度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0998122" y="4281492"/>
            <a:ext cx="4759976" cy="2597480"/>
          </a:xfrm>
          <a:custGeom>
            <a:avLst/>
            <a:gdLst/>
            <a:ahLst/>
            <a:cxnLst/>
            <a:rect l="l" t="t" r="r" b="b"/>
            <a:pathLst>
              <a:path w="4759976" h="2597480">
                <a:moveTo>
                  <a:pt x="0" y="0"/>
                </a:moveTo>
                <a:lnTo>
                  <a:pt x="4759976" y="0"/>
                </a:lnTo>
                <a:lnTo>
                  <a:pt x="4759976" y="2597480"/>
                </a:lnTo>
                <a:lnTo>
                  <a:pt x="0" y="259748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1203187" y="4486557"/>
            <a:ext cx="4436844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TOOLS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11228043" y="4933969"/>
            <a:ext cx="198850" cy="198850"/>
          </a:xfrm>
          <a:custGeom>
            <a:avLst/>
            <a:gdLst/>
            <a:ahLst/>
            <a:cxnLst/>
            <a:rect l="l" t="t" r="r" b="b"/>
            <a:pathLst>
              <a:path w="198850" h="198850">
                <a:moveTo>
                  <a:pt x="3651" y="46062"/>
                </a:moveTo>
                <a:cubicBezTo>
                  <a:pt x="-1204" y="41207"/>
                  <a:pt x="-1204" y="33323"/>
                  <a:pt x="3651" y="28468"/>
                </a:cubicBezTo>
                <a:cubicBezTo>
                  <a:pt x="8506" y="23613"/>
                  <a:pt x="16390" y="23613"/>
                  <a:pt x="21244" y="28468"/>
                </a:cubicBezTo>
                <a:lnTo>
                  <a:pt x="83385" y="90609"/>
                </a:lnTo>
                <a:cubicBezTo>
                  <a:pt x="88240" y="95464"/>
                  <a:pt x="88240" y="103348"/>
                  <a:pt x="83385" y="108202"/>
                </a:cubicBezTo>
                <a:lnTo>
                  <a:pt x="21244" y="170343"/>
                </a:lnTo>
                <a:cubicBezTo>
                  <a:pt x="16390" y="175198"/>
                  <a:pt x="8506" y="175198"/>
                  <a:pt x="3651" y="170343"/>
                </a:cubicBezTo>
                <a:cubicBezTo>
                  <a:pt x="-1204" y="165488"/>
                  <a:pt x="-1204" y="157604"/>
                  <a:pt x="3651" y="152750"/>
                </a:cubicBezTo>
                <a:lnTo>
                  <a:pt x="56975" y="99425"/>
                </a:lnTo>
                <a:lnTo>
                  <a:pt x="3651" y="46062"/>
                </a:lnTo>
                <a:close/>
                <a:moveTo>
                  <a:pt x="86997" y="149138"/>
                </a:moveTo>
                <a:lnTo>
                  <a:pt x="186422" y="149138"/>
                </a:lnTo>
                <a:cubicBezTo>
                  <a:pt x="193296" y="149138"/>
                  <a:pt x="198850" y="154691"/>
                  <a:pt x="198850" y="161566"/>
                </a:cubicBezTo>
                <a:cubicBezTo>
                  <a:pt x="198850" y="168440"/>
                  <a:pt x="193296" y="173994"/>
                  <a:pt x="186422" y="173994"/>
                </a:cubicBezTo>
                <a:lnTo>
                  <a:pt x="86997" y="173994"/>
                </a:lnTo>
                <a:cubicBezTo>
                  <a:pt x="80123" y="173994"/>
                  <a:pt x="74569" y="168440"/>
                  <a:pt x="74569" y="161566"/>
                </a:cubicBezTo>
                <a:cubicBezTo>
                  <a:pt x="74569" y="154691"/>
                  <a:pt x="80123" y="149138"/>
                  <a:pt x="86997" y="149138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1551174" y="4884257"/>
            <a:ext cx="4101284" cy="596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parquet-tools</a:t>
            </a:r>
            <a:r>
              <a:rPr lang="en-US" sz="15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：官方工具，查看元数据和内容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11228043" y="5629945"/>
            <a:ext cx="198850" cy="198850"/>
          </a:xfrm>
          <a:custGeom>
            <a:avLst/>
            <a:gdLst/>
            <a:ahLst/>
            <a:cxnLst/>
            <a:rect l="l" t="t" r="r" b="b"/>
            <a:pathLst>
              <a:path w="198850" h="198850">
                <a:moveTo>
                  <a:pt x="3651" y="46062"/>
                </a:moveTo>
                <a:cubicBezTo>
                  <a:pt x="-1204" y="41207"/>
                  <a:pt x="-1204" y="33323"/>
                  <a:pt x="3651" y="28468"/>
                </a:cubicBezTo>
                <a:cubicBezTo>
                  <a:pt x="8506" y="23613"/>
                  <a:pt x="16390" y="23613"/>
                  <a:pt x="21244" y="28468"/>
                </a:cubicBezTo>
                <a:lnTo>
                  <a:pt x="83385" y="90609"/>
                </a:lnTo>
                <a:cubicBezTo>
                  <a:pt x="88240" y="95464"/>
                  <a:pt x="88240" y="103348"/>
                  <a:pt x="83385" y="108202"/>
                </a:cubicBezTo>
                <a:lnTo>
                  <a:pt x="21244" y="170343"/>
                </a:lnTo>
                <a:cubicBezTo>
                  <a:pt x="16390" y="175198"/>
                  <a:pt x="8506" y="175198"/>
                  <a:pt x="3651" y="170343"/>
                </a:cubicBezTo>
                <a:cubicBezTo>
                  <a:pt x="-1204" y="165488"/>
                  <a:pt x="-1204" y="157604"/>
                  <a:pt x="3651" y="152750"/>
                </a:cubicBezTo>
                <a:lnTo>
                  <a:pt x="56975" y="99425"/>
                </a:lnTo>
                <a:lnTo>
                  <a:pt x="3651" y="46062"/>
                </a:lnTo>
                <a:close/>
                <a:moveTo>
                  <a:pt x="86997" y="149138"/>
                </a:moveTo>
                <a:lnTo>
                  <a:pt x="186422" y="149138"/>
                </a:lnTo>
                <a:cubicBezTo>
                  <a:pt x="193296" y="149138"/>
                  <a:pt x="198850" y="154691"/>
                  <a:pt x="198850" y="161566"/>
                </a:cubicBezTo>
                <a:cubicBezTo>
                  <a:pt x="198850" y="168440"/>
                  <a:pt x="193296" y="173994"/>
                  <a:pt x="186422" y="173994"/>
                </a:cubicBezTo>
                <a:lnTo>
                  <a:pt x="86997" y="173994"/>
                </a:lnTo>
                <a:cubicBezTo>
                  <a:pt x="80123" y="173994"/>
                  <a:pt x="74569" y="168440"/>
                  <a:pt x="74569" y="161566"/>
                </a:cubicBezTo>
                <a:cubicBezTo>
                  <a:pt x="74569" y="154691"/>
                  <a:pt x="80123" y="149138"/>
                  <a:pt x="86997" y="149138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551174" y="5580232"/>
            <a:ext cx="3691156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parquet-cli</a:t>
            </a:r>
            <a:r>
              <a:rPr lang="en-US" sz="15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：命令行工具，丰富检查功能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11228043" y="6027645"/>
            <a:ext cx="198850" cy="198850"/>
          </a:xfrm>
          <a:custGeom>
            <a:avLst/>
            <a:gdLst/>
            <a:ahLst/>
            <a:cxnLst/>
            <a:rect l="l" t="t" r="r" b="b"/>
            <a:pathLst>
              <a:path w="198850" h="198850">
                <a:moveTo>
                  <a:pt x="3651" y="46062"/>
                </a:moveTo>
                <a:cubicBezTo>
                  <a:pt x="-1204" y="41207"/>
                  <a:pt x="-1204" y="33323"/>
                  <a:pt x="3651" y="28468"/>
                </a:cubicBezTo>
                <a:cubicBezTo>
                  <a:pt x="8506" y="23613"/>
                  <a:pt x="16390" y="23613"/>
                  <a:pt x="21244" y="28468"/>
                </a:cubicBezTo>
                <a:lnTo>
                  <a:pt x="83385" y="90609"/>
                </a:lnTo>
                <a:cubicBezTo>
                  <a:pt x="88240" y="95464"/>
                  <a:pt x="88240" y="103348"/>
                  <a:pt x="83385" y="108202"/>
                </a:cubicBezTo>
                <a:lnTo>
                  <a:pt x="21244" y="170343"/>
                </a:lnTo>
                <a:cubicBezTo>
                  <a:pt x="16390" y="175198"/>
                  <a:pt x="8506" y="175198"/>
                  <a:pt x="3651" y="170343"/>
                </a:cubicBezTo>
                <a:cubicBezTo>
                  <a:pt x="-1204" y="165488"/>
                  <a:pt x="-1204" y="157604"/>
                  <a:pt x="3651" y="152750"/>
                </a:cubicBezTo>
                <a:lnTo>
                  <a:pt x="56975" y="99425"/>
                </a:lnTo>
                <a:lnTo>
                  <a:pt x="3651" y="46062"/>
                </a:lnTo>
                <a:close/>
                <a:moveTo>
                  <a:pt x="86997" y="149138"/>
                </a:moveTo>
                <a:lnTo>
                  <a:pt x="186422" y="149138"/>
                </a:lnTo>
                <a:cubicBezTo>
                  <a:pt x="193296" y="149138"/>
                  <a:pt x="198850" y="154691"/>
                  <a:pt x="198850" y="161566"/>
                </a:cubicBezTo>
                <a:cubicBezTo>
                  <a:pt x="198850" y="168440"/>
                  <a:pt x="193296" y="173994"/>
                  <a:pt x="186422" y="173994"/>
                </a:cubicBezTo>
                <a:lnTo>
                  <a:pt x="86997" y="173994"/>
                </a:lnTo>
                <a:cubicBezTo>
                  <a:pt x="80123" y="173994"/>
                  <a:pt x="74569" y="168440"/>
                  <a:pt x="74569" y="161566"/>
                </a:cubicBezTo>
                <a:cubicBezTo>
                  <a:pt x="74569" y="154691"/>
                  <a:pt x="80123" y="149138"/>
                  <a:pt x="86997" y="149138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551174" y="5977933"/>
            <a:ext cx="2982752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Apache Arrow</a:t>
            </a:r>
            <a:r>
              <a:rPr lang="en-US" sz="15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：支持读写和分析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11228043" y="6425346"/>
            <a:ext cx="198850" cy="198850"/>
          </a:xfrm>
          <a:custGeom>
            <a:avLst/>
            <a:gdLst/>
            <a:ahLst/>
            <a:cxnLst/>
            <a:rect l="l" t="t" r="r" b="b"/>
            <a:pathLst>
              <a:path w="198850" h="198850">
                <a:moveTo>
                  <a:pt x="3651" y="46062"/>
                </a:moveTo>
                <a:cubicBezTo>
                  <a:pt x="-1204" y="41207"/>
                  <a:pt x="-1204" y="33323"/>
                  <a:pt x="3651" y="28468"/>
                </a:cubicBezTo>
                <a:cubicBezTo>
                  <a:pt x="8506" y="23613"/>
                  <a:pt x="16390" y="23613"/>
                  <a:pt x="21244" y="28468"/>
                </a:cubicBezTo>
                <a:lnTo>
                  <a:pt x="83385" y="90609"/>
                </a:lnTo>
                <a:cubicBezTo>
                  <a:pt x="88240" y="95464"/>
                  <a:pt x="88240" y="103348"/>
                  <a:pt x="83385" y="108202"/>
                </a:cubicBezTo>
                <a:lnTo>
                  <a:pt x="21244" y="170343"/>
                </a:lnTo>
                <a:cubicBezTo>
                  <a:pt x="16390" y="175198"/>
                  <a:pt x="8506" y="175198"/>
                  <a:pt x="3651" y="170343"/>
                </a:cubicBezTo>
                <a:cubicBezTo>
                  <a:pt x="-1204" y="165488"/>
                  <a:pt x="-1204" y="157604"/>
                  <a:pt x="3651" y="152750"/>
                </a:cubicBezTo>
                <a:lnTo>
                  <a:pt x="56975" y="99425"/>
                </a:lnTo>
                <a:lnTo>
                  <a:pt x="3651" y="46062"/>
                </a:lnTo>
                <a:close/>
                <a:moveTo>
                  <a:pt x="86997" y="149138"/>
                </a:moveTo>
                <a:lnTo>
                  <a:pt x="186422" y="149138"/>
                </a:lnTo>
                <a:cubicBezTo>
                  <a:pt x="193296" y="149138"/>
                  <a:pt x="198850" y="154691"/>
                  <a:pt x="198850" y="161566"/>
                </a:cubicBezTo>
                <a:cubicBezTo>
                  <a:pt x="198850" y="168440"/>
                  <a:pt x="193296" y="173994"/>
                  <a:pt x="186422" y="173994"/>
                </a:cubicBezTo>
                <a:lnTo>
                  <a:pt x="86997" y="173994"/>
                </a:lnTo>
                <a:cubicBezTo>
                  <a:pt x="80123" y="173994"/>
                  <a:pt x="74569" y="168440"/>
                  <a:pt x="74569" y="161566"/>
                </a:cubicBezTo>
                <a:cubicBezTo>
                  <a:pt x="74569" y="154691"/>
                  <a:pt x="80123" y="149138"/>
                  <a:pt x="86997" y="149138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1551174" y="6375633"/>
            <a:ext cx="2933040" cy="298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6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hexdump/xxd</a:t>
            </a:r>
            <a:r>
              <a:rPr lang="en-US" sz="15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：二进制文件查看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03339" y="7835939"/>
            <a:ext cx="3653872" cy="807829"/>
          </a:xfrm>
          <a:custGeom>
            <a:avLst/>
            <a:gdLst/>
            <a:ahLst/>
            <a:cxnLst/>
            <a:rect l="l" t="t" r="r" b="b"/>
            <a:pathLst>
              <a:path w="3653872" h="807829">
                <a:moveTo>
                  <a:pt x="0" y="0"/>
                </a:moveTo>
                <a:lnTo>
                  <a:pt x="3653872" y="0"/>
                </a:lnTo>
                <a:lnTo>
                  <a:pt x="3653872" y="807829"/>
                </a:lnTo>
                <a:lnTo>
                  <a:pt x="0" y="807829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683547" y="8028575"/>
            <a:ext cx="173994" cy="173994"/>
          </a:xfrm>
          <a:custGeom>
            <a:avLst/>
            <a:gdLst/>
            <a:ahLst/>
            <a:cxnLst/>
            <a:rect l="l" t="t" r="r" b="b"/>
            <a:pathLst>
              <a:path w="173994" h="173994">
                <a:moveTo>
                  <a:pt x="135423" y="4146"/>
                </a:moveTo>
                <a:lnTo>
                  <a:pt x="105450" y="34119"/>
                </a:lnTo>
                <a:lnTo>
                  <a:pt x="139875" y="68544"/>
                </a:lnTo>
                <a:lnTo>
                  <a:pt x="169848" y="38571"/>
                </a:lnTo>
                <a:cubicBezTo>
                  <a:pt x="172499" y="35886"/>
                  <a:pt x="173994" y="32284"/>
                  <a:pt x="173994" y="28546"/>
                </a:cubicBezTo>
                <a:cubicBezTo>
                  <a:pt x="173994" y="24808"/>
                  <a:pt x="172499" y="21206"/>
                  <a:pt x="169848" y="18521"/>
                </a:cubicBezTo>
                <a:lnTo>
                  <a:pt x="155473" y="4146"/>
                </a:lnTo>
                <a:cubicBezTo>
                  <a:pt x="152788" y="1495"/>
                  <a:pt x="149186" y="0"/>
                  <a:pt x="145448" y="0"/>
                </a:cubicBezTo>
                <a:cubicBezTo>
                  <a:pt x="141710" y="0"/>
                  <a:pt x="138108" y="1495"/>
                  <a:pt x="135423" y="4146"/>
                </a:cubicBezTo>
                <a:close/>
                <a:moveTo>
                  <a:pt x="93930" y="45639"/>
                </a:moveTo>
                <a:lnTo>
                  <a:pt x="4146" y="135423"/>
                </a:lnTo>
                <a:cubicBezTo>
                  <a:pt x="1495" y="138108"/>
                  <a:pt x="0" y="141710"/>
                  <a:pt x="0" y="145448"/>
                </a:cubicBezTo>
                <a:cubicBezTo>
                  <a:pt x="0" y="149186"/>
                  <a:pt x="1495" y="152788"/>
                  <a:pt x="4146" y="155473"/>
                </a:cubicBezTo>
                <a:lnTo>
                  <a:pt x="18521" y="169848"/>
                </a:lnTo>
                <a:cubicBezTo>
                  <a:pt x="21206" y="172499"/>
                  <a:pt x="24808" y="173994"/>
                  <a:pt x="28546" y="173994"/>
                </a:cubicBezTo>
                <a:cubicBezTo>
                  <a:pt x="32284" y="173994"/>
                  <a:pt x="35886" y="172499"/>
                  <a:pt x="38571" y="169848"/>
                </a:cubicBezTo>
                <a:lnTo>
                  <a:pt x="128354" y="80064"/>
                </a:lnTo>
                <a:lnTo>
                  <a:pt x="93930" y="45639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975609" y="7991291"/>
            <a:ext cx="1267670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Magic Number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658691" y="8289566"/>
            <a:ext cx="3417737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快速识别Parquet格式，确保文件类型正确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369849" y="7835939"/>
            <a:ext cx="3653872" cy="807829"/>
          </a:xfrm>
          <a:custGeom>
            <a:avLst/>
            <a:gdLst/>
            <a:ahLst/>
            <a:cxnLst/>
            <a:rect l="l" t="t" r="r" b="b"/>
            <a:pathLst>
              <a:path w="3653872" h="807829">
                <a:moveTo>
                  <a:pt x="0" y="0"/>
                </a:moveTo>
                <a:lnTo>
                  <a:pt x="3653872" y="0"/>
                </a:lnTo>
                <a:lnTo>
                  <a:pt x="3653872" y="807829"/>
                </a:lnTo>
                <a:lnTo>
                  <a:pt x="0" y="807829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4550057" y="8028575"/>
            <a:ext cx="173994" cy="173994"/>
          </a:xfrm>
          <a:custGeom>
            <a:avLst/>
            <a:gdLst/>
            <a:ahLst/>
            <a:cxnLst/>
            <a:rect l="l" t="t" r="r" b="b"/>
            <a:pathLst>
              <a:path w="173994" h="173994">
                <a:moveTo>
                  <a:pt x="79011" y="1767"/>
                </a:moveTo>
                <a:cubicBezTo>
                  <a:pt x="84074" y="-578"/>
                  <a:pt x="89919" y="-578"/>
                  <a:pt x="94983" y="1767"/>
                </a:cubicBezTo>
                <a:lnTo>
                  <a:pt x="169270" y="36090"/>
                </a:lnTo>
                <a:cubicBezTo>
                  <a:pt x="172159" y="37415"/>
                  <a:pt x="173994" y="40304"/>
                  <a:pt x="173994" y="43498"/>
                </a:cubicBezTo>
                <a:cubicBezTo>
                  <a:pt x="173994" y="46693"/>
                  <a:pt x="172159" y="49581"/>
                  <a:pt x="169270" y="50907"/>
                </a:cubicBezTo>
                <a:lnTo>
                  <a:pt x="94983" y="85230"/>
                </a:lnTo>
                <a:cubicBezTo>
                  <a:pt x="89919" y="87575"/>
                  <a:pt x="84074" y="87575"/>
                  <a:pt x="79011" y="85230"/>
                </a:cubicBezTo>
                <a:lnTo>
                  <a:pt x="4724" y="50907"/>
                </a:lnTo>
                <a:cubicBezTo>
                  <a:pt x="1835" y="49547"/>
                  <a:pt x="0" y="46659"/>
                  <a:pt x="0" y="43498"/>
                </a:cubicBezTo>
                <a:cubicBezTo>
                  <a:pt x="0" y="40338"/>
                  <a:pt x="1835" y="37415"/>
                  <a:pt x="4724" y="36090"/>
                </a:cubicBezTo>
                <a:lnTo>
                  <a:pt x="79011" y="1767"/>
                </a:lnTo>
                <a:close/>
                <a:moveTo>
                  <a:pt x="16346" y="74219"/>
                </a:moveTo>
                <a:lnTo>
                  <a:pt x="72180" y="100013"/>
                </a:lnTo>
                <a:cubicBezTo>
                  <a:pt x="81594" y="104362"/>
                  <a:pt x="92434" y="104362"/>
                  <a:pt x="101848" y="100013"/>
                </a:cubicBezTo>
                <a:lnTo>
                  <a:pt x="157682" y="74219"/>
                </a:lnTo>
                <a:lnTo>
                  <a:pt x="169270" y="79589"/>
                </a:lnTo>
                <a:cubicBezTo>
                  <a:pt x="172159" y="80914"/>
                  <a:pt x="173994" y="83803"/>
                  <a:pt x="173994" y="86997"/>
                </a:cubicBezTo>
                <a:cubicBezTo>
                  <a:pt x="173994" y="90191"/>
                  <a:pt x="172159" y="93080"/>
                  <a:pt x="169270" y="94405"/>
                </a:cubicBezTo>
                <a:lnTo>
                  <a:pt x="94983" y="128728"/>
                </a:lnTo>
                <a:cubicBezTo>
                  <a:pt x="89919" y="131073"/>
                  <a:pt x="84074" y="131073"/>
                  <a:pt x="79011" y="128728"/>
                </a:cubicBezTo>
                <a:lnTo>
                  <a:pt x="4724" y="94405"/>
                </a:lnTo>
                <a:cubicBezTo>
                  <a:pt x="1835" y="93046"/>
                  <a:pt x="0" y="90157"/>
                  <a:pt x="0" y="86997"/>
                </a:cubicBezTo>
                <a:cubicBezTo>
                  <a:pt x="0" y="83837"/>
                  <a:pt x="1835" y="80914"/>
                  <a:pt x="4724" y="79589"/>
                </a:cubicBezTo>
                <a:lnTo>
                  <a:pt x="16312" y="74219"/>
                </a:lnTo>
                <a:close/>
                <a:moveTo>
                  <a:pt x="4724" y="123087"/>
                </a:moveTo>
                <a:lnTo>
                  <a:pt x="16312" y="117718"/>
                </a:lnTo>
                <a:lnTo>
                  <a:pt x="72146" y="143511"/>
                </a:lnTo>
                <a:cubicBezTo>
                  <a:pt x="81560" y="147861"/>
                  <a:pt x="92400" y="147861"/>
                  <a:pt x="101814" y="143511"/>
                </a:cubicBezTo>
                <a:lnTo>
                  <a:pt x="157648" y="117718"/>
                </a:lnTo>
                <a:lnTo>
                  <a:pt x="169236" y="123087"/>
                </a:lnTo>
                <a:cubicBezTo>
                  <a:pt x="172125" y="124412"/>
                  <a:pt x="173960" y="127301"/>
                  <a:pt x="173960" y="130495"/>
                </a:cubicBezTo>
                <a:cubicBezTo>
                  <a:pt x="173960" y="133690"/>
                  <a:pt x="172125" y="136578"/>
                  <a:pt x="169236" y="137904"/>
                </a:cubicBezTo>
                <a:lnTo>
                  <a:pt x="94949" y="172227"/>
                </a:lnTo>
                <a:cubicBezTo>
                  <a:pt x="89886" y="174572"/>
                  <a:pt x="84040" y="174572"/>
                  <a:pt x="78977" y="172227"/>
                </a:cubicBezTo>
                <a:lnTo>
                  <a:pt x="4724" y="137904"/>
                </a:lnTo>
                <a:cubicBezTo>
                  <a:pt x="1835" y="136544"/>
                  <a:pt x="0" y="133656"/>
                  <a:pt x="0" y="130495"/>
                </a:cubicBezTo>
                <a:cubicBezTo>
                  <a:pt x="0" y="127335"/>
                  <a:pt x="1835" y="124412"/>
                  <a:pt x="4724" y="123087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4842118" y="7991291"/>
            <a:ext cx="1043963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Thrift序列化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4525200" y="8289566"/>
            <a:ext cx="3417737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跨语言数据结构序列化，保证兼容性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8236358" y="7835939"/>
            <a:ext cx="3653872" cy="807829"/>
          </a:xfrm>
          <a:custGeom>
            <a:avLst/>
            <a:gdLst/>
            <a:ahLst/>
            <a:cxnLst/>
            <a:rect l="l" t="t" r="r" b="b"/>
            <a:pathLst>
              <a:path w="3653872" h="807829">
                <a:moveTo>
                  <a:pt x="0" y="0"/>
                </a:moveTo>
                <a:lnTo>
                  <a:pt x="3653872" y="0"/>
                </a:lnTo>
                <a:lnTo>
                  <a:pt x="3653872" y="807829"/>
                </a:lnTo>
                <a:lnTo>
                  <a:pt x="0" y="807829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Shape 54"/>
          <p:cNvSpPr/>
          <p:nvPr/>
        </p:nvSpPr>
        <p:spPr>
          <a:xfrm>
            <a:off x="8427440" y="8028575"/>
            <a:ext cx="152245" cy="173994"/>
          </a:xfrm>
          <a:custGeom>
            <a:avLst/>
            <a:gdLst/>
            <a:ahLst/>
            <a:cxnLst/>
            <a:rect l="l" t="t" r="r" b="b"/>
            <a:pathLst>
              <a:path w="152245" h="173994">
                <a:moveTo>
                  <a:pt x="54373" y="21749"/>
                </a:moveTo>
                <a:cubicBezTo>
                  <a:pt x="54373" y="15734"/>
                  <a:pt x="49513" y="10875"/>
                  <a:pt x="43498" y="10875"/>
                </a:cubicBezTo>
                <a:cubicBezTo>
                  <a:pt x="37483" y="10875"/>
                  <a:pt x="32624" y="15734"/>
                  <a:pt x="32624" y="21749"/>
                </a:cubicBezTo>
                <a:lnTo>
                  <a:pt x="32624" y="43498"/>
                </a:lnTo>
                <a:lnTo>
                  <a:pt x="10875" y="43498"/>
                </a:lnTo>
                <a:cubicBezTo>
                  <a:pt x="4860" y="43498"/>
                  <a:pt x="0" y="48358"/>
                  <a:pt x="0" y="54373"/>
                </a:cubicBezTo>
                <a:cubicBezTo>
                  <a:pt x="0" y="60388"/>
                  <a:pt x="4860" y="65248"/>
                  <a:pt x="10875" y="65248"/>
                </a:cubicBezTo>
                <a:lnTo>
                  <a:pt x="43498" y="65248"/>
                </a:lnTo>
                <a:cubicBezTo>
                  <a:pt x="49513" y="65248"/>
                  <a:pt x="54373" y="60388"/>
                  <a:pt x="54373" y="54373"/>
                </a:cubicBezTo>
                <a:lnTo>
                  <a:pt x="54373" y="21749"/>
                </a:lnTo>
                <a:close/>
                <a:moveTo>
                  <a:pt x="10875" y="108746"/>
                </a:moveTo>
                <a:cubicBezTo>
                  <a:pt x="4860" y="108746"/>
                  <a:pt x="0" y="113606"/>
                  <a:pt x="0" y="119621"/>
                </a:cubicBezTo>
                <a:cubicBezTo>
                  <a:pt x="0" y="125636"/>
                  <a:pt x="4860" y="130495"/>
                  <a:pt x="10875" y="130495"/>
                </a:cubicBezTo>
                <a:lnTo>
                  <a:pt x="32624" y="130495"/>
                </a:lnTo>
                <a:lnTo>
                  <a:pt x="32624" y="152245"/>
                </a:lnTo>
                <a:cubicBezTo>
                  <a:pt x="32624" y="158260"/>
                  <a:pt x="37483" y="163119"/>
                  <a:pt x="43498" y="163119"/>
                </a:cubicBezTo>
                <a:cubicBezTo>
                  <a:pt x="49513" y="163119"/>
                  <a:pt x="54373" y="158260"/>
                  <a:pt x="54373" y="152245"/>
                </a:cubicBezTo>
                <a:lnTo>
                  <a:pt x="54373" y="119621"/>
                </a:lnTo>
                <a:cubicBezTo>
                  <a:pt x="54373" y="113606"/>
                  <a:pt x="49513" y="108746"/>
                  <a:pt x="43498" y="108746"/>
                </a:cubicBezTo>
                <a:lnTo>
                  <a:pt x="10875" y="108746"/>
                </a:lnTo>
                <a:close/>
                <a:moveTo>
                  <a:pt x="119621" y="21749"/>
                </a:moveTo>
                <a:cubicBezTo>
                  <a:pt x="119621" y="15734"/>
                  <a:pt x="114761" y="10875"/>
                  <a:pt x="108746" y="10875"/>
                </a:cubicBezTo>
                <a:cubicBezTo>
                  <a:pt x="102731" y="10875"/>
                  <a:pt x="97872" y="15734"/>
                  <a:pt x="97872" y="21749"/>
                </a:cubicBezTo>
                <a:lnTo>
                  <a:pt x="97872" y="54373"/>
                </a:lnTo>
                <a:cubicBezTo>
                  <a:pt x="97872" y="60388"/>
                  <a:pt x="102731" y="65248"/>
                  <a:pt x="108746" y="65248"/>
                </a:cubicBezTo>
                <a:lnTo>
                  <a:pt x="141370" y="65248"/>
                </a:lnTo>
                <a:cubicBezTo>
                  <a:pt x="147385" y="65248"/>
                  <a:pt x="152245" y="60388"/>
                  <a:pt x="152245" y="54373"/>
                </a:cubicBezTo>
                <a:cubicBezTo>
                  <a:pt x="152245" y="48358"/>
                  <a:pt x="147385" y="43498"/>
                  <a:pt x="141370" y="43498"/>
                </a:cubicBezTo>
                <a:lnTo>
                  <a:pt x="119621" y="43498"/>
                </a:lnTo>
                <a:lnTo>
                  <a:pt x="119621" y="21749"/>
                </a:lnTo>
                <a:close/>
                <a:moveTo>
                  <a:pt x="108746" y="108746"/>
                </a:moveTo>
                <a:cubicBezTo>
                  <a:pt x="102731" y="108746"/>
                  <a:pt x="97872" y="113606"/>
                  <a:pt x="97872" y="119621"/>
                </a:cubicBezTo>
                <a:lnTo>
                  <a:pt x="97872" y="152245"/>
                </a:lnTo>
                <a:cubicBezTo>
                  <a:pt x="97872" y="158260"/>
                  <a:pt x="102731" y="163119"/>
                  <a:pt x="108746" y="163119"/>
                </a:cubicBezTo>
                <a:cubicBezTo>
                  <a:pt x="114761" y="163119"/>
                  <a:pt x="119621" y="158260"/>
                  <a:pt x="119621" y="152245"/>
                </a:cubicBezTo>
                <a:lnTo>
                  <a:pt x="119621" y="130495"/>
                </a:lnTo>
                <a:lnTo>
                  <a:pt x="141370" y="130495"/>
                </a:lnTo>
                <a:cubicBezTo>
                  <a:pt x="147385" y="130495"/>
                  <a:pt x="152245" y="125636"/>
                  <a:pt x="152245" y="119621"/>
                </a:cubicBezTo>
                <a:cubicBezTo>
                  <a:pt x="152245" y="113606"/>
                  <a:pt x="147385" y="108746"/>
                  <a:pt x="141370" y="108746"/>
                </a:cubicBezTo>
                <a:lnTo>
                  <a:pt x="108746" y="108746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8708627" y="7991291"/>
            <a:ext cx="782972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压缩存储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8391709" y="8289566"/>
            <a:ext cx="3417737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数据页独立压缩，支持多种压缩算法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12102867" y="7835939"/>
            <a:ext cx="3653872" cy="807829"/>
          </a:xfrm>
          <a:custGeom>
            <a:avLst/>
            <a:gdLst/>
            <a:ahLst/>
            <a:cxnLst/>
            <a:rect l="l" t="t" r="r" b="b"/>
            <a:pathLst>
              <a:path w="3653872" h="807829">
                <a:moveTo>
                  <a:pt x="0" y="0"/>
                </a:moveTo>
                <a:lnTo>
                  <a:pt x="3653872" y="0"/>
                </a:lnTo>
                <a:lnTo>
                  <a:pt x="3653872" y="807829"/>
                </a:lnTo>
                <a:lnTo>
                  <a:pt x="0" y="807829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Shape 58"/>
          <p:cNvSpPr/>
          <p:nvPr/>
        </p:nvSpPr>
        <p:spPr>
          <a:xfrm>
            <a:off x="12283075" y="8028575"/>
            <a:ext cx="173994" cy="173994"/>
          </a:xfrm>
          <a:custGeom>
            <a:avLst/>
            <a:gdLst/>
            <a:ahLst/>
            <a:cxnLst/>
            <a:rect l="l" t="t" r="r" b="b"/>
            <a:pathLst>
              <a:path w="173994" h="173994">
                <a:moveTo>
                  <a:pt x="86997" y="173994"/>
                </a:moveTo>
                <a:cubicBezTo>
                  <a:pt x="135012" y="173994"/>
                  <a:pt x="173994" y="135012"/>
                  <a:pt x="173994" y="86997"/>
                </a:cubicBezTo>
                <a:cubicBezTo>
                  <a:pt x="173994" y="38982"/>
                  <a:pt x="135012" y="0"/>
                  <a:pt x="86997" y="0"/>
                </a:cubicBezTo>
                <a:cubicBezTo>
                  <a:pt x="38982" y="0"/>
                  <a:pt x="0" y="38982"/>
                  <a:pt x="0" y="86997"/>
                </a:cubicBezTo>
                <a:cubicBezTo>
                  <a:pt x="0" y="135012"/>
                  <a:pt x="38982" y="173994"/>
                  <a:pt x="86997" y="173994"/>
                </a:cubicBezTo>
                <a:close/>
                <a:moveTo>
                  <a:pt x="76122" y="54373"/>
                </a:moveTo>
                <a:cubicBezTo>
                  <a:pt x="76122" y="48371"/>
                  <a:pt x="80995" y="43498"/>
                  <a:pt x="86997" y="43498"/>
                </a:cubicBezTo>
                <a:cubicBezTo>
                  <a:pt x="92999" y="43498"/>
                  <a:pt x="97872" y="48371"/>
                  <a:pt x="97872" y="54373"/>
                </a:cubicBezTo>
                <a:cubicBezTo>
                  <a:pt x="97872" y="60375"/>
                  <a:pt x="92999" y="65248"/>
                  <a:pt x="86997" y="65248"/>
                </a:cubicBezTo>
                <a:cubicBezTo>
                  <a:pt x="80995" y="65248"/>
                  <a:pt x="76122" y="60375"/>
                  <a:pt x="76122" y="54373"/>
                </a:cubicBezTo>
                <a:close/>
                <a:moveTo>
                  <a:pt x="73404" y="76122"/>
                </a:moveTo>
                <a:lnTo>
                  <a:pt x="89716" y="76122"/>
                </a:lnTo>
                <a:cubicBezTo>
                  <a:pt x="94235" y="76122"/>
                  <a:pt x="97872" y="79759"/>
                  <a:pt x="97872" y="84278"/>
                </a:cubicBezTo>
                <a:lnTo>
                  <a:pt x="97872" y="114183"/>
                </a:lnTo>
                <a:lnTo>
                  <a:pt x="100590" y="114183"/>
                </a:lnTo>
                <a:cubicBezTo>
                  <a:pt x="105110" y="114183"/>
                  <a:pt x="108746" y="117820"/>
                  <a:pt x="108746" y="122339"/>
                </a:cubicBezTo>
                <a:cubicBezTo>
                  <a:pt x="108746" y="126859"/>
                  <a:pt x="105110" y="130495"/>
                  <a:pt x="100590" y="130495"/>
                </a:cubicBezTo>
                <a:lnTo>
                  <a:pt x="73404" y="130495"/>
                </a:lnTo>
                <a:cubicBezTo>
                  <a:pt x="68884" y="130495"/>
                  <a:pt x="65248" y="126859"/>
                  <a:pt x="65248" y="122339"/>
                </a:cubicBezTo>
                <a:cubicBezTo>
                  <a:pt x="65248" y="117820"/>
                  <a:pt x="68884" y="114183"/>
                  <a:pt x="73404" y="114183"/>
                </a:cubicBezTo>
                <a:lnTo>
                  <a:pt x="81560" y="114183"/>
                </a:lnTo>
                <a:lnTo>
                  <a:pt x="81560" y="92434"/>
                </a:lnTo>
                <a:lnTo>
                  <a:pt x="73404" y="92434"/>
                </a:lnTo>
                <a:cubicBezTo>
                  <a:pt x="68884" y="92434"/>
                  <a:pt x="65248" y="88798"/>
                  <a:pt x="65248" y="84278"/>
                </a:cubicBezTo>
                <a:cubicBezTo>
                  <a:pt x="65248" y="79759"/>
                  <a:pt x="68884" y="76122"/>
                  <a:pt x="73404" y="76122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12575136" y="7991291"/>
            <a:ext cx="956966" cy="2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元数据驱动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12258219" y="8289566"/>
            <a:ext cx="3417737" cy="198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74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页脚元数据支持查询优化和数据跳过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a11bebbd780c2b21984ce093f79044a16b29a66d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9334" b="933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D9A566">
                  <a:alpha val="10000"/>
                </a:srgbClr>
              </a:gs>
              <a:gs pos="100000">
                <a:srgbClr val="1A1D21">
                  <a:alpha val="9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1752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93700" y="1752600"/>
            <a:ext cx="1244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04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27200" y="18542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3175000"/>
            <a:ext cx="8342312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Repetition Level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与 Definition Level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8000" y="5384800"/>
            <a:ext cx="69723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理解Parquet处理嵌套数据结构的核心机制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6305550"/>
            <a:ext cx="2120900" cy="1079500"/>
          </a:xfrm>
          <a:custGeom>
            <a:avLst/>
            <a:gdLst/>
            <a:ahLst/>
            <a:cxnLst/>
            <a:rect l="l" t="t" r="r" b="b"/>
            <a:pathLst>
              <a:path w="2120900" h="1079500">
                <a:moveTo>
                  <a:pt x="0" y="0"/>
                </a:moveTo>
                <a:lnTo>
                  <a:pt x="2120900" y="0"/>
                </a:lnTo>
                <a:lnTo>
                  <a:pt x="21209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23900" y="6515100"/>
            <a:ext cx="179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D8B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CONCEPT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3900" y="6870700"/>
            <a:ext cx="180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RL/DL核心概念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854325" y="6305550"/>
            <a:ext cx="2120900" cy="1079500"/>
          </a:xfrm>
          <a:custGeom>
            <a:avLst/>
            <a:gdLst/>
            <a:ahLst/>
            <a:cxnLst/>
            <a:rect l="l" t="t" r="r" b="b"/>
            <a:pathLst>
              <a:path w="2120900" h="1079500">
                <a:moveTo>
                  <a:pt x="0" y="0"/>
                </a:moveTo>
                <a:lnTo>
                  <a:pt x="2120900" y="0"/>
                </a:lnTo>
                <a:lnTo>
                  <a:pt x="21209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3063875" y="6515100"/>
            <a:ext cx="179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D8B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CALCULATION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3063875" y="6870700"/>
            <a:ext cx="180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计算方法详解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194399" y="6305550"/>
            <a:ext cx="2120900" cy="1079500"/>
          </a:xfrm>
          <a:custGeom>
            <a:avLst/>
            <a:gdLst/>
            <a:ahLst/>
            <a:cxnLst/>
            <a:rect l="l" t="t" r="r" b="b"/>
            <a:pathLst>
              <a:path w="2120900" h="1079500">
                <a:moveTo>
                  <a:pt x="0" y="0"/>
                </a:moveTo>
                <a:lnTo>
                  <a:pt x="2120900" y="0"/>
                </a:lnTo>
                <a:lnTo>
                  <a:pt x="21209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403949" y="6515100"/>
            <a:ext cx="1790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D8B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RECONSTRUCTION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403949" y="6870700"/>
            <a:ext cx="1803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数据重建过程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5610" y="495610"/>
            <a:ext cx="49561" cy="594732"/>
          </a:xfrm>
          <a:custGeom>
            <a:avLst/>
            <a:gdLst/>
            <a:ahLst/>
            <a:cxnLst/>
            <a:rect l="l" t="t" r="r" b="b"/>
            <a:pathLst>
              <a:path w="49561" h="594732">
                <a:moveTo>
                  <a:pt x="0" y="0"/>
                </a:moveTo>
                <a:lnTo>
                  <a:pt x="49561" y="0"/>
                </a:lnTo>
                <a:lnTo>
                  <a:pt x="49561" y="594732"/>
                </a:lnTo>
                <a:lnTo>
                  <a:pt x="0" y="594732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43415" y="545171"/>
            <a:ext cx="4856976" cy="49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12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RL与DL：核心概念解析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1805" y="1344341"/>
            <a:ext cx="7471317" cy="5092390"/>
          </a:xfrm>
          <a:custGeom>
            <a:avLst/>
            <a:gdLst/>
            <a:ahLst/>
            <a:cxnLst/>
            <a:rect l="l" t="t" r="r" b="b"/>
            <a:pathLst>
              <a:path w="7471317" h="5092390">
                <a:moveTo>
                  <a:pt x="0" y="0"/>
                </a:moveTo>
                <a:lnTo>
                  <a:pt x="7471317" y="0"/>
                </a:lnTo>
                <a:lnTo>
                  <a:pt x="7471317" y="5092390"/>
                </a:lnTo>
                <a:lnTo>
                  <a:pt x="0" y="509239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2000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05366" y="1647902"/>
            <a:ext cx="594732" cy="594732"/>
          </a:xfrm>
          <a:custGeom>
            <a:avLst/>
            <a:gdLst/>
            <a:ahLst/>
            <a:cxnLst/>
            <a:rect l="l" t="t" r="r" b="b"/>
            <a:pathLst>
              <a:path w="594732" h="594732">
                <a:moveTo>
                  <a:pt x="0" y="0"/>
                </a:moveTo>
                <a:lnTo>
                  <a:pt x="594732" y="0"/>
                </a:lnTo>
                <a:lnTo>
                  <a:pt x="594732" y="594732"/>
                </a:lnTo>
                <a:lnTo>
                  <a:pt x="0" y="594732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743415" y="1647902"/>
            <a:ext cx="718634" cy="594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51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RL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48780" y="1747024"/>
            <a:ext cx="2515220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4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Repetition Level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5366" y="2440878"/>
            <a:ext cx="695092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5366" y="2787805"/>
            <a:ext cx="6963317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标记当前值在嵌套结构的</a:t>
            </a:r>
            <a:r>
              <a:rPr lang="en-US" sz="1561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哪个层级开始重复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05366" y="3283415"/>
            <a:ext cx="695092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作用机制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05366" y="3630341"/>
            <a:ext cx="695092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标识数组或重复字段中元素的嵌套位置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5366" y="3977268"/>
            <a:ext cx="695092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值范围：</a:t>
            </a:r>
            <a:r>
              <a:rPr lang="en-US" sz="1366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 到 路径中重复字段的最大层级深度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05366" y="4324195"/>
            <a:ext cx="695092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66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</a:t>
            </a: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表示新记录的开始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05366" y="4671122"/>
            <a:ext cx="695092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366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&gt;0</a:t>
            </a: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表示在某个层级的重复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11561" y="5123366"/>
            <a:ext cx="6851805" cy="1003610"/>
          </a:xfrm>
          <a:custGeom>
            <a:avLst/>
            <a:gdLst/>
            <a:ahLst/>
            <a:cxnLst/>
            <a:rect l="l" t="t" r="r" b="b"/>
            <a:pathLst>
              <a:path w="6851805" h="1003610">
                <a:moveTo>
                  <a:pt x="0" y="0"/>
                </a:moveTo>
                <a:lnTo>
                  <a:pt x="6851805" y="0"/>
                </a:lnTo>
                <a:lnTo>
                  <a:pt x="6851805" y="1003610"/>
                </a:lnTo>
                <a:lnTo>
                  <a:pt x="0" y="100361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016000" y="5327805"/>
            <a:ext cx="652965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通俗理解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16000" y="5674732"/>
            <a:ext cx="652965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当遇到</a:t>
            </a:r>
            <a:r>
              <a:rPr lang="en-US" sz="1366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数组</a:t>
            </a: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或</a:t>
            </a:r>
            <a:r>
              <a:rPr lang="en-US" sz="1366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列表</a:t>
            </a: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时，告诉我们"</a:t>
            </a:r>
            <a:r>
              <a:rPr lang="en-US" sz="1366" b="1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当前值属于哪个层级的重复结构</a:t>
            </a: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82878" y="1344341"/>
            <a:ext cx="7471317" cy="5092390"/>
          </a:xfrm>
          <a:custGeom>
            <a:avLst/>
            <a:gdLst/>
            <a:ahLst/>
            <a:cxnLst/>
            <a:rect l="l" t="t" r="r" b="b"/>
            <a:pathLst>
              <a:path w="7471317" h="5092390">
                <a:moveTo>
                  <a:pt x="0" y="0"/>
                </a:moveTo>
                <a:lnTo>
                  <a:pt x="7471317" y="0"/>
                </a:lnTo>
                <a:lnTo>
                  <a:pt x="7471317" y="5092390"/>
                </a:lnTo>
                <a:lnTo>
                  <a:pt x="0" y="509239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20000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8586439" y="1647902"/>
            <a:ext cx="594732" cy="594732"/>
          </a:xfrm>
          <a:custGeom>
            <a:avLst/>
            <a:gdLst/>
            <a:ahLst/>
            <a:cxnLst/>
            <a:rect l="l" t="t" r="r" b="b"/>
            <a:pathLst>
              <a:path w="594732" h="594732">
                <a:moveTo>
                  <a:pt x="0" y="0"/>
                </a:moveTo>
                <a:lnTo>
                  <a:pt x="594732" y="0"/>
                </a:lnTo>
                <a:lnTo>
                  <a:pt x="594732" y="594732"/>
                </a:lnTo>
                <a:lnTo>
                  <a:pt x="0" y="594732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8524488" y="1647902"/>
            <a:ext cx="718634" cy="5947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951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DL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329854" y="1747024"/>
            <a:ext cx="2428488" cy="396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341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Definition Level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86439" y="2440878"/>
            <a:ext cx="695092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定义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86439" y="2787805"/>
            <a:ext cx="6963317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标记字段在嵌套结构中的</a:t>
            </a:r>
            <a:r>
              <a:rPr lang="en-US" sz="1561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存在深度</a:t>
            </a:r>
            <a:r>
              <a:rPr lang="en-US" sz="156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，处理可选字段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86439" y="3283415"/>
            <a:ext cx="695092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作用机制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86439" y="3630341"/>
            <a:ext cx="695092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区分</a:t>
            </a:r>
            <a:r>
              <a:rPr lang="en-US" sz="1366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字段缺失</a:t>
            </a: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(undefined)和</a:t>
            </a:r>
            <a:r>
              <a:rPr lang="en-US" sz="1366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字段为空值</a:t>
            </a: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(null)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86439" y="3977268"/>
            <a:ext cx="695092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值范围：</a:t>
            </a:r>
            <a:r>
              <a:rPr lang="en-US" sz="1366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 到 该列的最大定义层级 (d_max)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86439" y="4324195"/>
            <a:ext cx="695092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统计从根到当前列路径中已定义的层级数量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86439" y="4671122"/>
            <a:ext cx="6950927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数值越大，表示路径定义得越深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92634" y="5123366"/>
            <a:ext cx="6851805" cy="1003610"/>
          </a:xfrm>
          <a:custGeom>
            <a:avLst/>
            <a:gdLst/>
            <a:ahLst/>
            <a:cxnLst/>
            <a:rect l="l" t="t" r="r" b="b"/>
            <a:pathLst>
              <a:path w="6851805" h="1003610">
                <a:moveTo>
                  <a:pt x="0" y="0"/>
                </a:moveTo>
                <a:lnTo>
                  <a:pt x="6851805" y="0"/>
                </a:lnTo>
                <a:lnTo>
                  <a:pt x="6851805" y="1003610"/>
                </a:lnTo>
                <a:lnTo>
                  <a:pt x="0" y="100361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797073" y="5327805"/>
            <a:ext cx="652965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通俗理解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797073" y="5674732"/>
            <a:ext cx="6529659" cy="247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如果字段是可选的，告诉我们"</a:t>
            </a:r>
            <a:r>
              <a:rPr lang="en-US" sz="1366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这个字段的父级路径存在到哪里</a:t>
            </a: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"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501805" y="6696927"/>
            <a:ext cx="15252390" cy="1945268"/>
          </a:xfrm>
          <a:custGeom>
            <a:avLst/>
            <a:gdLst/>
            <a:ahLst/>
            <a:cxnLst/>
            <a:rect l="l" t="t" r="r" b="b"/>
            <a:pathLst>
              <a:path w="15252390" h="1945268">
                <a:moveTo>
                  <a:pt x="0" y="0"/>
                </a:moveTo>
                <a:lnTo>
                  <a:pt x="15252390" y="0"/>
                </a:lnTo>
                <a:lnTo>
                  <a:pt x="15252390" y="1945268"/>
                </a:lnTo>
                <a:lnTo>
                  <a:pt x="0" y="1945268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792976" y="6975707"/>
            <a:ext cx="297366" cy="297366"/>
          </a:xfrm>
          <a:custGeom>
            <a:avLst/>
            <a:gdLst/>
            <a:ahLst/>
            <a:cxnLst/>
            <a:rect l="l" t="t" r="r" b="b"/>
            <a:pathLst>
              <a:path w="297366" h="297366">
                <a:moveTo>
                  <a:pt x="195146" y="204439"/>
                </a:moveTo>
                <a:cubicBezTo>
                  <a:pt x="251599" y="204439"/>
                  <a:pt x="297366" y="158673"/>
                  <a:pt x="297366" y="102220"/>
                </a:cubicBezTo>
                <a:cubicBezTo>
                  <a:pt x="297366" y="45766"/>
                  <a:pt x="251599" y="0"/>
                  <a:pt x="195146" y="0"/>
                </a:cubicBezTo>
                <a:cubicBezTo>
                  <a:pt x="138693" y="0"/>
                  <a:pt x="92927" y="45766"/>
                  <a:pt x="92927" y="102220"/>
                </a:cubicBezTo>
                <a:cubicBezTo>
                  <a:pt x="92927" y="113080"/>
                  <a:pt x="94611" y="123593"/>
                  <a:pt x="97747" y="133408"/>
                </a:cubicBezTo>
                <a:lnTo>
                  <a:pt x="4066" y="227090"/>
                </a:lnTo>
                <a:cubicBezTo>
                  <a:pt x="1452" y="229704"/>
                  <a:pt x="0" y="233246"/>
                  <a:pt x="0" y="236963"/>
                </a:cubicBezTo>
                <a:lnTo>
                  <a:pt x="0" y="283427"/>
                </a:lnTo>
                <a:cubicBezTo>
                  <a:pt x="0" y="291151"/>
                  <a:pt x="6214" y="297366"/>
                  <a:pt x="13939" y="297366"/>
                </a:cubicBezTo>
                <a:lnTo>
                  <a:pt x="60402" y="297366"/>
                </a:lnTo>
                <a:cubicBezTo>
                  <a:pt x="68127" y="297366"/>
                  <a:pt x="74341" y="291151"/>
                  <a:pt x="74341" y="283427"/>
                </a:cubicBezTo>
                <a:lnTo>
                  <a:pt x="74341" y="260195"/>
                </a:lnTo>
                <a:lnTo>
                  <a:pt x="97573" y="260195"/>
                </a:lnTo>
                <a:cubicBezTo>
                  <a:pt x="105298" y="260195"/>
                  <a:pt x="111512" y="253981"/>
                  <a:pt x="111512" y="246256"/>
                </a:cubicBezTo>
                <a:lnTo>
                  <a:pt x="111512" y="223024"/>
                </a:lnTo>
                <a:lnTo>
                  <a:pt x="134744" y="223024"/>
                </a:lnTo>
                <a:cubicBezTo>
                  <a:pt x="138461" y="223024"/>
                  <a:pt x="142004" y="221572"/>
                  <a:pt x="144617" y="218959"/>
                </a:cubicBezTo>
                <a:lnTo>
                  <a:pt x="163958" y="199618"/>
                </a:lnTo>
                <a:cubicBezTo>
                  <a:pt x="173773" y="202755"/>
                  <a:pt x="184286" y="204439"/>
                  <a:pt x="195146" y="204439"/>
                </a:cubicBezTo>
                <a:close/>
                <a:moveTo>
                  <a:pt x="218378" y="55756"/>
                </a:moveTo>
                <a:cubicBezTo>
                  <a:pt x="231200" y="55756"/>
                  <a:pt x="241610" y="66166"/>
                  <a:pt x="241610" y="78988"/>
                </a:cubicBezTo>
                <a:cubicBezTo>
                  <a:pt x="241610" y="91810"/>
                  <a:pt x="231200" y="102220"/>
                  <a:pt x="218378" y="102220"/>
                </a:cubicBezTo>
                <a:cubicBezTo>
                  <a:pt x="205556" y="102220"/>
                  <a:pt x="195146" y="91810"/>
                  <a:pt x="195146" y="78988"/>
                </a:cubicBezTo>
                <a:cubicBezTo>
                  <a:pt x="195146" y="66166"/>
                  <a:pt x="205556" y="55756"/>
                  <a:pt x="218378" y="55756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325756" y="6950927"/>
            <a:ext cx="2230244" cy="346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5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RL与DL的技术价值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55805" y="7496098"/>
            <a:ext cx="4844585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嵌套结构编码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755805" y="7892585"/>
            <a:ext cx="4832195" cy="49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通过RL/DL组合，将复杂嵌套结构转换为扁平的列式存储，同时保留完整的结构信息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753139" y="7496098"/>
            <a:ext cx="4844585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Null语义处理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753139" y="7892585"/>
            <a:ext cx="4832195" cy="49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DL优雅地区分字段缺失(NULL)和字段为空值(null)，确保数据语义的完整性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750569" y="7496098"/>
            <a:ext cx="4844585" cy="2973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61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高效重建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0750569" y="7892585"/>
            <a:ext cx="4832195" cy="495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66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通过RL确定重复位置，DL确定存在性，可以精确重建原始嵌套数据结构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23333" y="423333"/>
            <a:ext cx="42333" cy="508000"/>
          </a:xfrm>
          <a:custGeom>
            <a:avLst/>
            <a:gdLst/>
            <a:ahLst/>
            <a:cxnLst/>
            <a:rect l="l" t="t" r="r" b="b"/>
            <a:pathLst>
              <a:path w="42333" h="508000">
                <a:moveTo>
                  <a:pt x="0" y="0"/>
                </a:moveTo>
                <a:lnTo>
                  <a:pt x="42333" y="0"/>
                </a:lnTo>
                <a:lnTo>
                  <a:pt x="42333" y="508000"/>
                </a:lnTo>
                <a:lnTo>
                  <a:pt x="0" y="5080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35000" y="465667"/>
            <a:ext cx="4307417" cy="423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Schema定义与数据示例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grpSp>
        <p:nvGrpSpPr>
          <p:cNvPr id="76" name="组合 75">
            <a:extLst>
              <a:ext uri="{FF2B5EF4-FFF2-40B4-BE49-F238E27FC236}">
                <a16:creationId xmlns:a16="http://schemas.microsoft.com/office/drawing/2014/main" id="{B6F0EF0F-880F-BC7D-ACC0-C7BA7CC9D37D}"/>
              </a:ext>
            </a:extLst>
          </p:cNvPr>
          <p:cNvGrpSpPr/>
          <p:nvPr/>
        </p:nvGrpSpPr>
        <p:grpSpPr>
          <a:xfrm>
            <a:off x="428626" y="1105958"/>
            <a:ext cx="4307418" cy="4307417"/>
            <a:chOff x="428626" y="1105958"/>
            <a:chExt cx="4307418" cy="4307417"/>
          </a:xfrm>
        </p:grpSpPr>
        <p:sp>
          <p:nvSpPr>
            <p:cNvPr id="4" name="Shape 2"/>
            <p:cNvSpPr/>
            <p:nvPr/>
          </p:nvSpPr>
          <p:spPr>
            <a:xfrm>
              <a:off x="428626" y="1105958"/>
              <a:ext cx="4307418" cy="4307417"/>
            </a:xfrm>
            <a:custGeom>
              <a:avLst/>
              <a:gdLst/>
              <a:ahLst/>
              <a:cxnLst/>
              <a:rect l="l" t="t" r="r" b="b"/>
              <a:pathLst>
                <a:path w="11800417" h="4307417">
                  <a:moveTo>
                    <a:pt x="0" y="0"/>
                  </a:moveTo>
                  <a:lnTo>
                    <a:pt x="11800417" y="0"/>
                  </a:lnTo>
                  <a:lnTo>
                    <a:pt x="11800417" y="4307417"/>
                  </a:lnTo>
                  <a:lnTo>
                    <a:pt x="0" y="4307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8B8B">
                <a:alpha val="10196"/>
              </a:srgbClr>
            </a:solidFill>
            <a:ln w="12700">
              <a:solidFill>
                <a:srgbClr val="3D8B8B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Shape 3"/>
            <p:cNvSpPr/>
            <p:nvPr/>
          </p:nvSpPr>
          <p:spPr>
            <a:xfrm>
              <a:off x="672042" y="1365250"/>
              <a:ext cx="211667" cy="211667"/>
            </a:xfrm>
            <a:custGeom>
              <a:avLst/>
              <a:gdLst/>
              <a:ahLst/>
              <a:cxnLst/>
              <a:rect l="l" t="t" r="r" b="b"/>
              <a:pathLst>
                <a:path w="211667" h="211667">
                  <a:moveTo>
                    <a:pt x="79375" y="26458"/>
                  </a:moveTo>
                  <a:cubicBezTo>
                    <a:pt x="79375" y="19141"/>
                    <a:pt x="85287" y="13229"/>
                    <a:pt x="92604" y="13229"/>
                  </a:cubicBezTo>
                  <a:lnTo>
                    <a:pt x="119063" y="13229"/>
                  </a:lnTo>
                  <a:cubicBezTo>
                    <a:pt x="126380" y="13229"/>
                    <a:pt x="132292" y="19141"/>
                    <a:pt x="132292" y="26458"/>
                  </a:cubicBezTo>
                  <a:lnTo>
                    <a:pt x="132292" y="52917"/>
                  </a:lnTo>
                  <a:cubicBezTo>
                    <a:pt x="132292" y="60234"/>
                    <a:pt x="126380" y="66146"/>
                    <a:pt x="119063" y="66146"/>
                  </a:cubicBezTo>
                  <a:lnTo>
                    <a:pt x="115755" y="66146"/>
                  </a:lnTo>
                  <a:lnTo>
                    <a:pt x="115755" y="92604"/>
                  </a:lnTo>
                  <a:lnTo>
                    <a:pt x="165365" y="92604"/>
                  </a:lnTo>
                  <a:cubicBezTo>
                    <a:pt x="181818" y="92604"/>
                    <a:pt x="195130" y="105916"/>
                    <a:pt x="195130" y="122370"/>
                  </a:cubicBezTo>
                  <a:lnTo>
                    <a:pt x="195130" y="145521"/>
                  </a:lnTo>
                  <a:lnTo>
                    <a:pt x="198438" y="145521"/>
                  </a:lnTo>
                  <a:cubicBezTo>
                    <a:pt x="205755" y="145521"/>
                    <a:pt x="211667" y="151433"/>
                    <a:pt x="211667" y="158750"/>
                  </a:cubicBezTo>
                  <a:lnTo>
                    <a:pt x="211667" y="185208"/>
                  </a:lnTo>
                  <a:cubicBezTo>
                    <a:pt x="211667" y="192526"/>
                    <a:pt x="205755" y="198438"/>
                    <a:pt x="198438" y="198438"/>
                  </a:cubicBezTo>
                  <a:lnTo>
                    <a:pt x="171979" y="198438"/>
                  </a:lnTo>
                  <a:cubicBezTo>
                    <a:pt x="164662" y="198438"/>
                    <a:pt x="158750" y="192526"/>
                    <a:pt x="158750" y="185208"/>
                  </a:cubicBezTo>
                  <a:lnTo>
                    <a:pt x="158750" y="158750"/>
                  </a:lnTo>
                  <a:cubicBezTo>
                    <a:pt x="158750" y="151433"/>
                    <a:pt x="164662" y="145521"/>
                    <a:pt x="171979" y="145521"/>
                  </a:cubicBezTo>
                  <a:lnTo>
                    <a:pt x="175286" y="145521"/>
                  </a:lnTo>
                  <a:lnTo>
                    <a:pt x="175286" y="122370"/>
                  </a:lnTo>
                  <a:cubicBezTo>
                    <a:pt x="175286" y="116871"/>
                    <a:pt x="170863" y="112448"/>
                    <a:pt x="165365" y="112448"/>
                  </a:cubicBezTo>
                  <a:lnTo>
                    <a:pt x="115755" y="112448"/>
                  </a:lnTo>
                  <a:lnTo>
                    <a:pt x="115755" y="145521"/>
                  </a:lnTo>
                  <a:lnTo>
                    <a:pt x="119063" y="145521"/>
                  </a:lnTo>
                  <a:cubicBezTo>
                    <a:pt x="126380" y="145521"/>
                    <a:pt x="132292" y="151433"/>
                    <a:pt x="132292" y="158750"/>
                  </a:cubicBezTo>
                  <a:lnTo>
                    <a:pt x="132292" y="185208"/>
                  </a:lnTo>
                  <a:cubicBezTo>
                    <a:pt x="132292" y="192526"/>
                    <a:pt x="126380" y="198438"/>
                    <a:pt x="119063" y="198438"/>
                  </a:cubicBezTo>
                  <a:lnTo>
                    <a:pt x="92604" y="198438"/>
                  </a:lnTo>
                  <a:cubicBezTo>
                    <a:pt x="85287" y="198438"/>
                    <a:pt x="79375" y="192526"/>
                    <a:pt x="79375" y="185208"/>
                  </a:cubicBezTo>
                  <a:lnTo>
                    <a:pt x="79375" y="158750"/>
                  </a:lnTo>
                  <a:cubicBezTo>
                    <a:pt x="79375" y="151433"/>
                    <a:pt x="85287" y="145521"/>
                    <a:pt x="92604" y="145521"/>
                  </a:cubicBezTo>
                  <a:lnTo>
                    <a:pt x="95911" y="145521"/>
                  </a:lnTo>
                  <a:lnTo>
                    <a:pt x="95911" y="112448"/>
                  </a:lnTo>
                  <a:lnTo>
                    <a:pt x="46302" y="112448"/>
                  </a:lnTo>
                  <a:cubicBezTo>
                    <a:pt x="40804" y="112448"/>
                    <a:pt x="36380" y="116871"/>
                    <a:pt x="36380" y="122370"/>
                  </a:cubicBezTo>
                  <a:lnTo>
                    <a:pt x="36380" y="145521"/>
                  </a:lnTo>
                  <a:lnTo>
                    <a:pt x="39688" y="145521"/>
                  </a:lnTo>
                  <a:cubicBezTo>
                    <a:pt x="47005" y="145521"/>
                    <a:pt x="52917" y="151433"/>
                    <a:pt x="52917" y="158750"/>
                  </a:cubicBezTo>
                  <a:lnTo>
                    <a:pt x="52917" y="185208"/>
                  </a:lnTo>
                  <a:cubicBezTo>
                    <a:pt x="52917" y="192526"/>
                    <a:pt x="47005" y="198438"/>
                    <a:pt x="39688" y="198438"/>
                  </a:cubicBezTo>
                  <a:lnTo>
                    <a:pt x="13229" y="198438"/>
                  </a:lnTo>
                  <a:cubicBezTo>
                    <a:pt x="5912" y="198438"/>
                    <a:pt x="0" y="192526"/>
                    <a:pt x="0" y="185208"/>
                  </a:cubicBezTo>
                  <a:lnTo>
                    <a:pt x="0" y="158750"/>
                  </a:lnTo>
                  <a:cubicBezTo>
                    <a:pt x="0" y="151433"/>
                    <a:pt x="5912" y="145521"/>
                    <a:pt x="13229" y="145521"/>
                  </a:cubicBezTo>
                  <a:lnTo>
                    <a:pt x="16536" y="145521"/>
                  </a:lnTo>
                  <a:lnTo>
                    <a:pt x="16536" y="122370"/>
                  </a:lnTo>
                  <a:cubicBezTo>
                    <a:pt x="16536" y="105916"/>
                    <a:pt x="29848" y="92604"/>
                    <a:pt x="46302" y="92604"/>
                  </a:cubicBezTo>
                  <a:lnTo>
                    <a:pt x="95911" y="92604"/>
                  </a:lnTo>
                  <a:lnTo>
                    <a:pt x="95911" y="66146"/>
                  </a:lnTo>
                  <a:lnTo>
                    <a:pt x="92604" y="66146"/>
                  </a:lnTo>
                  <a:cubicBezTo>
                    <a:pt x="85287" y="66146"/>
                    <a:pt x="79375" y="60234"/>
                    <a:pt x="79375" y="52917"/>
                  </a:cubicBezTo>
                  <a:lnTo>
                    <a:pt x="79375" y="26458"/>
                  </a:lnTo>
                  <a:close/>
                </a:path>
              </a:pathLst>
            </a:custGeom>
            <a:solidFill>
              <a:srgbClr val="3D8B8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1037167" y="1322917"/>
              <a:ext cx="2222500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b="1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Protobuf Schema定义</a:t>
              </a:r>
              <a:endParaRPr lang="en-US" sz="1600" dirty="0"/>
            </a:p>
          </p:txBody>
        </p:sp>
        <p:sp>
          <p:nvSpPr>
            <p:cNvPr id="7" name="Shape 5"/>
            <p:cNvSpPr/>
            <p:nvPr/>
          </p:nvSpPr>
          <p:spPr>
            <a:xfrm>
              <a:off x="650876" y="1793875"/>
              <a:ext cx="3721100" cy="3397250"/>
            </a:xfrm>
            <a:custGeom>
              <a:avLst/>
              <a:gdLst/>
              <a:ahLst/>
              <a:cxnLst/>
              <a:rect l="l" t="t" r="r" b="b"/>
              <a:pathLst>
                <a:path w="11355917" h="3397250">
                  <a:moveTo>
                    <a:pt x="0" y="0"/>
                  </a:moveTo>
                  <a:lnTo>
                    <a:pt x="11355917" y="0"/>
                  </a:lnTo>
                  <a:lnTo>
                    <a:pt x="11355917" y="3397250"/>
                  </a:lnTo>
                  <a:lnTo>
                    <a:pt x="0" y="3397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D21"/>
            </a:solidFill>
            <a:ln w="12700">
              <a:solidFill>
                <a:srgbClr val="3D8B8B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825500" y="1968500"/>
              <a:ext cx="2880000" cy="21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b="1" dirty="0">
                  <a:solidFill>
                    <a:srgbClr val="D9A56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message Document {</a:t>
              </a:r>
              <a:endParaRPr lang="en-US" sz="16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910167" y="2264833"/>
              <a:ext cx="2880000" cy="21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optional int64 doc_id;</a:t>
              </a:r>
              <a:endParaRPr lang="en-US" sz="16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910167" y="2476500"/>
              <a:ext cx="2880000" cy="21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repeated group Links {</a:t>
              </a:r>
              <a:endParaRPr lang="en-US" sz="16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994833" y="2688167"/>
              <a:ext cx="2880000" cy="21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optional string backward;</a:t>
              </a:r>
              <a:endParaRPr lang="en-US" sz="16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994833" y="2899833"/>
              <a:ext cx="2880000" cy="21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optional string forward;</a:t>
              </a:r>
              <a:endParaRPr lang="en-US" sz="16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910167" y="3111500"/>
              <a:ext cx="2880000" cy="21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}</a:t>
              </a:r>
              <a:endParaRPr lang="en-US" sz="16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910167" y="3323167"/>
              <a:ext cx="2880000" cy="21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repeated group Name {</a:t>
              </a:r>
              <a:endParaRPr lang="en-US" sz="16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994833" y="3534833"/>
              <a:ext cx="2880000" cy="21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repeated group Language {</a:t>
              </a:r>
              <a:endParaRPr lang="en-US" sz="16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079500" y="3746500"/>
              <a:ext cx="2880000" cy="21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required string code;</a:t>
              </a:r>
              <a:endParaRPr lang="en-US" sz="16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079500" y="3958167"/>
              <a:ext cx="2880000" cy="21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optional string country;</a:t>
              </a:r>
              <a:endParaRPr lang="en-US" sz="1600" dirty="0"/>
            </a:p>
          </p:txBody>
        </p:sp>
        <p:sp>
          <p:nvSpPr>
            <p:cNvPr id="18" name="Text 16"/>
            <p:cNvSpPr/>
            <p:nvPr/>
          </p:nvSpPr>
          <p:spPr>
            <a:xfrm>
              <a:off x="994833" y="4169833"/>
              <a:ext cx="2880000" cy="21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}</a:t>
              </a:r>
              <a:endParaRPr lang="en-US" sz="1600" dirty="0"/>
            </a:p>
          </p:txBody>
        </p:sp>
        <p:sp>
          <p:nvSpPr>
            <p:cNvPr id="19" name="Text 17"/>
            <p:cNvSpPr/>
            <p:nvPr/>
          </p:nvSpPr>
          <p:spPr>
            <a:xfrm>
              <a:off x="994833" y="4381500"/>
              <a:ext cx="2880000" cy="21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optional string url;</a:t>
              </a:r>
              <a:endParaRPr lang="en-US" sz="16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910167" y="4593167"/>
              <a:ext cx="2880000" cy="21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}</a:t>
              </a:r>
              <a:endParaRPr lang="en-US" sz="16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825500" y="4804833"/>
              <a:ext cx="2880000" cy="21166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b="1" dirty="0">
                  <a:solidFill>
                    <a:srgbClr val="D9A56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}</a:t>
              </a:r>
              <a:endParaRPr lang="en-US" sz="1600" dirty="0"/>
            </a:p>
          </p:txBody>
        </p: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id="{8D3204B0-7337-6718-BB77-BB15E201995B}"/>
              </a:ext>
            </a:extLst>
          </p:cNvPr>
          <p:cNvGrpSpPr/>
          <p:nvPr/>
        </p:nvGrpSpPr>
        <p:grpSpPr>
          <a:xfrm>
            <a:off x="4974168" y="1090083"/>
            <a:ext cx="3376083" cy="4307417"/>
            <a:chOff x="12451292" y="1105958"/>
            <a:chExt cx="3376083" cy="4307417"/>
          </a:xfrm>
        </p:grpSpPr>
        <p:sp>
          <p:nvSpPr>
            <p:cNvPr id="22" name="Shape 20"/>
            <p:cNvSpPr/>
            <p:nvPr/>
          </p:nvSpPr>
          <p:spPr>
            <a:xfrm>
              <a:off x="12451292" y="1105958"/>
              <a:ext cx="3376083" cy="4307417"/>
            </a:xfrm>
            <a:custGeom>
              <a:avLst/>
              <a:gdLst/>
              <a:ahLst/>
              <a:cxnLst/>
              <a:rect l="l" t="t" r="r" b="b"/>
              <a:pathLst>
                <a:path w="3376083" h="4307417">
                  <a:moveTo>
                    <a:pt x="0" y="0"/>
                  </a:moveTo>
                  <a:lnTo>
                    <a:pt x="3376083" y="0"/>
                  </a:lnTo>
                  <a:lnTo>
                    <a:pt x="3376083" y="4307417"/>
                  </a:lnTo>
                  <a:lnTo>
                    <a:pt x="0" y="4307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9A566">
                <a:alpha val="10196"/>
              </a:srgbClr>
            </a:solidFill>
            <a:ln w="12700">
              <a:solidFill>
                <a:srgbClr val="D9A566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Shape 21"/>
            <p:cNvSpPr/>
            <p:nvPr/>
          </p:nvSpPr>
          <p:spPr>
            <a:xfrm>
              <a:off x="12694708" y="1365250"/>
              <a:ext cx="211667" cy="211667"/>
            </a:xfrm>
            <a:custGeom>
              <a:avLst/>
              <a:gdLst/>
              <a:ahLst/>
              <a:cxnLst/>
              <a:rect l="l" t="t" r="r" b="b"/>
              <a:pathLst>
                <a:path w="211667" h="211667">
                  <a:moveTo>
                    <a:pt x="96118" y="2150"/>
                  </a:moveTo>
                  <a:cubicBezTo>
                    <a:pt x="102278" y="-703"/>
                    <a:pt x="109389" y="-703"/>
                    <a:pt x="115549" y="2150"/>
                  </a:cubicBezTo>
                  <a:lnTo>
                    <a:pt x="205920" y="43904"/>
                  </a:lnTo>
                  <a:cubicBezTo>
                    <a:pt x="209434" y="45517"/>
                    <a:pt x="211667" y="49031"/>
                    <a:pt x="211667" y="52917"/>
                  </a:cubicBezTo>
                  <a:cubicBezTo>
                    <a:pt x="211667" y="56803"/>
                    <a:pt x="209434" y="60317"/>
                    <a:pt x="205920" y="61929"/>
                  </a:cubicBezTo>
                  <a:lnTo>
                    <a:pt x="115549" y="103684"/>
                  </a:lnTo>
                  <a:cubicBezTo>
                    <a:pt x="109389" y="106536"/>
                    <a:pt x="102278" y="106536"/>
                    <a:pt x="96118" y="103684"/>
                  </a:cubicBezTo>
                  <a:lnTo>
                    <a:pt x="5746" y="61929"/>
                  </a:lnTo>
                  <a:cubicBezTo>
                    <a:pt x="2232" y="60275"/>
                    <a:pt x="0" y="56761"/>
                    <a:pt x="0" y="52917"/>
                  </a:cubicBezTo>
                  <a:cubicBezTo>
                    <a:pt x="0" y="49072"/>
                    <a:pt x="2232" y="45517"/>
                    <a:pt x="5746" y="43904"/>
                  </a:cubicBezTo>
                  <a:lnTo>
                    <a:pt x="96118" y="2150"/>
                  </a:lnTo>
                  <a:close/>
                  <a:moveTo>
                    <a:pt x="19885" y="90289"/>
                  </a:moveTo>
                  <a:lnTo>
                    <a:pt x="87809" y="121667"/>
                  </a:lnTo>
                  <a:cubicBezTo>
                    <a:pt x="99260" y="126959"/>
                    <a:pt x="112448" y="126959"/>
                    <a:pt x="123899" y="121667"/>
                  </a:cubicBezTo>
                  <a:lnTo>
                    <a:pt x="191823" y="90289"/>
                  </a:lnTo>
                  <a:lnTo>
                    <a:pt x="205920" y="96821"/>
                  </a:lnTo>
                  <a:cubicBezTo>
                    <a:pt x="209434" y="98433"/>
                    <a:pt x="211667" y="101947"/>
                    <a:pt x="211667" y="105833"/>
                  </a:cubicBezTo>
                  <a:cubicBezTo>
                    <a:pt x="211667" y="109719"/>
                    <a:pt x="209434" y="113233"/>
                    <a:pt x="205920" y="114846"/>
                  </a:cubicBezTo>
                  <a:lnTo>
                    <a:pt x="115549" y="156600"/>
                  </a:lnTo>
                  <a:cubicBezTo>
                    <a:pt x="109389" y="159453"/>
                    <a:pt x="102278" y="159453"/>
                    <a:pt x="96118" y="156600"/>
                  </a:cubicBezTo>
                  <a:lnTo>
                    <a:pt x="5746" y="114846"/>
                  </a:lnTo>
                  <a:cubicBezTo>
                    <a:pt x="2232" y="113192"/>
                    <a:pt x="0" y="109678"/>
                    <a:pt x="0" y="105833"/>
                  </a:cubicBezTo>
                  <a:cubicBezTo>
                    <a:pt x="0" y="101989"/>
                    <a:pt x="2232" y="98433"/>
                    <a:pt x="5746" y="96821"/>
                  </a:cubicBezTo>
                  <a:lnTo>
                    <a:pt x="19844" y="90289"/>
                  </a:lnTo>
                  <a:close/>
                  <a:moveTo>
                    <a:pt x="5746" y="149738"/>
                  </a:moveTo>
                  <a:lnTo>
                    <a:pt x="19844" y="143206"/>
                  </a:lnTo>
                  <a:lnTo>
                    <a:pt x="87767" y="174584"/>
                  </a:lnTo>
                  <a:cubicBezTo>
                    <a:pt x="99219" y="179875"/>
                    <a:pt x="112407" y="179875"/>
                    <a:pt x="123858" y="174584"/>
                  </a:cubicBezTo>
                  <a:lnTo>
                    <a:pt x="191782" y="143206"/>
                  </a:lnTo>
                  <a:lnTo>
                    <a:pt x="205879" y="149738"/>
                  </a:lnTo>
                  <a:cubicBezTo>
                    <a:pt x="209393" y="151350"/>
                    <a:pt x="211625" y="154864"/>
                    <a:pt x="211625" y="158750"/>
                  </a:cubicBezTo>
                  <a:cubicBezTo>
                    <a:pt x="211625" y="162636"/>
                    <a:pt x="209393" y="166150"/>
                    <a:pt x="205879" y="167762"/>
                  </a:cubicBezTo>
                  <a:lnTo>
                    <a:pt x="115507" y="209517"/>
                  </a:lnTo>
                  <a:cubicBezTo>
                    <a:pt x="109347" y="212369"/>
                    <a:pt x="102237" y="212369"/>
                    <a:pt x="96077" y="209517"/>
                  </a:cubicBezTo>
                  <a:lnTo>
                    <a:pt x="5746" y="167762"/>
                  </a:lnTo>
                  <a:cubicBezTo>
                    <a:pt x="2232" y="166109"/>
                    <a:pt x="0" y="162595"/>
                    <a:pt x="0" y="158750"/>
                  </a:cubicBezTo>
                  <a:cubicBezTo>
                    <a:pt x="0" y="154905"/>
                    <a:pt x="2232" y="151350"/>
                    <a:pt x="5746" y="149738"/>
                  </a:cubicBezTo>
                  <a:close/>
                </a:path>
              </a:pathLst>
            </a:custGeom>
            <a:solidFill>
              <a:srgbClr val="D9A566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 22"/>
            <p:cNvSpPr/>
            <p:nvPr/>
          </p:nvSpPr>
          <p:spPr>
            <a:xfrm>
              <a:off x="13059833" y="1322917"/>
              <a:ext cx="1735667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b="1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Schema层级分析</a:t>
              </a:r>
              <a:endParaRPr lang="en-US" sz="1600" dirty="0"/>
            </a:p>
          </p:txBody>
        </p:sp>
        <p:sp>
          <p:nvSpPr>
            <p:cNvPr id="25" name="Shape 23"/>
            <p:cNvSpPr/>
            <p:nvPr/>
          </p:nvSpPr>
          <p:spPr>
            <a:xfrm>
              <a:off x="12668250" y="1788583"/>
              <a:ext cx="338667" cy="338667"/>
            </a:xfrm>
            <a:custGeom>
              <a:avLst/>
              <a:gdLst/>
              <a:ahLst/>
              <a:cxnLst/>
              <a:rect l="l" t="t" r="r" b="b"/>
              <a:pathLst>
                <a:path w="338667" h="338667">
                  <a:moveTo>
                    <a:pt x="0" y="0"/>
                  </a:moveTo>
                  <a:lnTo>
                    <a:pt x="338667" y="0"/>
                  </a:lnTo>
                  <a:lnTo>
                    <a:pt x="338667" y="338667"/>
                  </a:lnTo>
                  <a:lnTo>
                    <a:pt x="0" y="338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8B8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Text 24"/>
            <p:cNvSpPr/>
            <p:nvPr/>
          </p:nvSpPr>
          <p:spPr>
            <a:xfrm>
              <a:off x="12631208" y="1788583"/>
              <a:ext cx="412750" cy="338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167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0</a:t>
              </a:r>
              <a:endParaRPr lang="en-US" sz="160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13133917" y="1830917"/>
              <a:ext cx="1555750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3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Document (根节点)</a:t>
              </a:r>
              <a:endParaRPr lang="en-US" sz="16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2668250" y="2211917"/>
              <a:ext cx="338667" cy="338667"/>
            </a:xfrm>
            <a:custGeom>
              <a:avLst/>
              <a:gdLst/>
              <a:ahLst/>
              <a:cxnLst/>
              <a:rect l="l" t="t" r="r" b="b"/>
              <a:pathLst>
                <a:path w="338667" h="338667">
                  <a:moveTo>
                    <a:pt x="0" y="0"/>
                  </a:moveTo>
                  <a:lnTo>
                    <a:pt x="338667" y="0"/>
                  </a:lnTo>
                  <a:lnTo>
                    <a:pt x="338667" y="338667"/>
                  </a:lnTo>
                  <a:lnTo>
                    <a:pt x="0" y="338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8B8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Text 27"/>
            <p:cNvSpPr/>
            <p:nvPr/>
          </p:nvSpPr>
          <p:spPr>
            <a:xfrm>
              <a:off x="12631208" y="2211917"/>
              <a:ext cx="412750" cy="338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167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1</a:t>
              </a:r>
              <a:endParaRPr lang="en-US" sz="1600" dirty="0"/>
            </a:p>
          </p:txBody>
        </p:sp>
        <p:sp>
          <p:nvSpPr>
            <p:cNvPr id="30" name="Text 28"/>
            <p:cNvSpPr/>
            <p:nvPr/>
          </p:nvSpPr>
          <p:spPr>
            <a:xfrm>
              <a:off x="13133917" y="2254250"/>
              <a:ext cx="169333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3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Links, Name (重复组)</a:t>
              </a:r>
              <a:endParaRPr lang="en-US" sz="1600" dirty="0"/>
            </a:p>
          </p:txBody>
        </p:sp>
        <p:sp>
          <p:nvSpPr>
            <p:cNvPr id="31" name="Shape 29"/>
            <p:cNvSpPr/>
            <p:nvPr/>
          </p:nvSpPr>
          <p:spPr>
            <a:xfrm>
              <a:off x="12668250" y="2635250"/>
              <a:ext cx="338667" cy="338667"/>
            </a:xfrm>
            <a:custGeom>
              <a:avLst/>
              <a:gdLst/>
              <a:ahLst/>
              <a:cxnLst/>
              <a:rect l="l" t="t" r="r" b="b"/>
              <a:pathLst>
                <a:path w="338667" h="338667">
                  <a:moveTo>
                    <a:pt x="0" y="0"/>
                  </a:moveTo>
                  <a:lnTo>
                    <a:pt x="338667" y="0"/>
                  </a:lnTo>
                  <a:lnTo>
                    <a:pt x="338667" y="338667"/>
                  </a:lnTo>
                  <a:lnTo>
                    <a:pt x="0" y="338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8B8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 30"/>
            <p:cNvSpPr/>
            <p:nvPr/>
          </p:nvSpPr>
          <p:spPr>
            <a:xfrm>
              <a:off x="12631208" y="2635250"/>
              <a:ext cx="412750" cy="338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167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2</a:t>
              </a:r>
              <a:endParaRPr lang="en-US" sz="16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13133917" y="2677583"/>
              <a:ext cx="185208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3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Language (嵌套重复组)</a:t>
              </a:r>
              <a:endParaRPr lang="en-US" sz="16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12668250" y="3058583"/>
              <a:ext cx="338667" cy="338667"/>
            </a:xfrm>
            <a:custGeom>
              <a:avLst/>
              <a:gdLst/>
              <a:ahLst/>
              <a:cxnLst/>
              <a:rect l="l" t="t" r="r" b="b"/>
              <a:pathLst>
                <a:path w="338667" h="338667">
                  <a:moveTo>
                    <a:pt x="0" y="0"/>
                  </a:moveTo>
                  <a:lnTo>
                    <a:pt x="338667" y="0"/>
                  </a:lnTo>
                  <a:lnTo>
                    <a:pt x="338667" y="338667"/>
                  </a:lnTo>
                  <a:lnTo>
                    <a:pt x="0" y="3386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8B8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5" name="Text 33"/>
            <p:cNvSpPr/>
            <p:nvPr/>
          </p:nvSpPr>
          <p:spPr>
            <a:xfrm>
              <a:off x="12631208" y="3058583"/>
              <a:ext cx="412750" cy="338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167" b="1" dirty="0">
                  <a:solidFill>
                    <a:srgbClr val="FFFFFF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3</a:t>
              </a:r>
              <a:endParaRPr lang="en-US" sz="1600" dirty="0"/>
            </a:p>
          </p:txBody>
        </p:sp>
        <p:sp>
          <p:nvSpPr>
            <p:cNvPr id="36" name="Text 34"/>
            <p:cNvSpPr/>
            <p:nvPr/>
          </p:nvSpPr>
          <p:spPr>
            <a:xfrm>
              <a:off x="13133917" y="3100917"/>
              <a:ext cx="1979083" cy="2540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30000"/>
                </a:lnSpc>
              </a:pPr>
              <a:r>
                <a:rPr lang="en-US" sz="1333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code, country (叶子节点)</a:t>
              </a:r>
              <a:endParaRPr lang="en-US" sz="1600" dirty="0"/>
            </a:p>
          </p:txBody>
        </p:sp>
      </p:grpSp>
      <p:grpSp>
        <p:nvGrpSpPr>
          <p:cNvPr id="74" name="组合 73">
            <a:extLst>
              <a:ext uri="{FF2B5EF4-FFF2-40B4-BE49-F238E27FC236}">
                <a16:creationId xmlns:a16="http://schemas.microsoft.com/office/drawing/2014/main" id="{670E40CA-5C63-E1E1-6E0C-1BD08C3D31F0}"/>
              </a:ext>
            </a:extLst>
          </p:cNvPr>
          <p:cNvGrpSpPr/>
          <p:nvPr/>
        </p:nvGrpSpPr>
        <p:grpSpPr>
          <a:xfrm>
            <a:off x="8588375" y="1088385"/>
            <a:ext cx="7588250" cy="5704417"/>
            <a:chOff x="428625" y="5593292"/>
            <a:chExt cx="7588250" cy="5704417"/>
          </a:xfrm>
        </p:grpSpPr>
        <p:sp>
          <p:nvSpPr>
            <p:cNvPr id="37" name="Shape 35"/>
            <p:cNvSpPr/>
            <p:nvPr/>
          </p:nvSpPr>
          <p:spPr>
            <a:xfrm>
              <a:off x="428625" y="5593292"/>
              <a:ext cx="7588250" cy="5704417"/>
            </a:xfrm>
            <a:custGeom>
              <a:avLst/>
              <a:gdLst/>
              <a:ahLst/>
              <a:cxnLst/>
              <a:rect l="l" t="t" r="r" b="b"/>
              <a:pathLst>
                <a:path w="7588250" h="5704417">
                  <a:moveTo>
                    <a:pt x="0" y="0"/>
                  </a:moveTo>
                  <a:lnTo>
                    <a:pt x="7588250" y="0"/>
                  </a:lnTo>
                  <a:lnTo>
                    <a:pt x="7588250" y="5704417"/>
                  </a:lnTo>
                  <a:lnTo>
                    <a:pt x="0" y="5704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8B8B">
                <a:alpha val="10196"/>
              </a:srgbClr>
            </a:solidFill>
            <a:ln w="12700">
              <a:solidFill>
                <a:srgbClr val="3D8B8B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8" name="Shape 36"/>
            <p:cNvSpPr/>
            <p:nvPr/>
          </p:nvSpPr>
          <p:spPr>
            <a:xfrm>
              <a:off x="658813" y="5852583"/>
              <a:ext cx="238125" cy="211667"/>
            </a:xfrm>
            <a:custGeom>
              <a:avLst/>
              <a:gdLst/>
              <a:ahLst/>
              <a:cxnLst/>
              <a:rect l="l" t="t" r="r" b="b"/>
              <a:pathLst>
                <a:path w="238125" h="211667">
                  <a:moveTo>
                    <a:pt x="149159" y="496"/>
                  </a:moveTo>
                  <a:cubicBezTo>
                    <a:pt x="142131" y="-1530"/>
                    <a:pt x="134813" y="2563"/>
                    <a:pt x="132788" y="9591"/>
                  </a:cubicBezTo>
                  <a:lnTo>
                    <a:pt x="79871" y="194799"/>
                  </a:lnTo>
                  <a:cubicBezTo>
                    <a:pt x="77845" y="201827"/>
                    <a:pt x="81938" y="209145"/>
                    <a:pt x="88966" y="211171"/>
                  </a:cubicBezTo>
                  <a:cubicBezTo>
                    <a:pt x="95994" y="213196"/>
                    <a:pt x="103312" y="209104"/>
                    <a:pt x="105337" y="202076"/>
                  </a:cubicBezTo>
                  <a:lnTo>
                    <a:pt x="158254" y="16867"/>
                  </a:lnTo>
                  <a:cubicBezTo>
                    <a:pt x="160280" y="9839"/>
                    <a:pt x="156187" y="2522"/>
                    <a:pt x="149159" y="496"/>
                  </a:cubicBezTo>
                  <a:close/>
                  <a:moveTo>
                    <a:pt x="175865" y="56761"/>
                  </a:moveTo>
                  <a:cubicBezTo>
                    <a:pt x="170698" y="61929"/>
                    <a:pt x="170698" y="70321"/>
                    <a:pt x="175865" y="75489"/>
                  </a:cubicBezTo>
                  <a:lnTo>
                    <a:pt x="206210" y="105833"/>
                  </a:lnTo>
                  <a:lnTo>
                    <a:pt x="175865" y="136178"/>
                  </a:lnTo>
                  <a:cubicBezTo>
                    <a:pt x="170698" y="141345"/>
                    <a:pt x="170698" y="149738"/>
                    <a:pt x="175865" y="154905"/>
                  </a:cubicBezTo>
                  <a:cubicBezTo>
                    <a:pt x="181033" y="160073"/>
                    <a:pt x="189425" y="160073"/>
                    <a:pt x="194593" y="154905"/>
                  </a:cubicBezTo>
                  <a:lnTo>
                    <a:pt x="234280" y="115218"/>
                  </a:lnTo>
                  <a:cubicBezTo>
                    <a:pt x="239448" y="110050"/>
                    <a:pt x="239448" y="101658"/>
                    <a:pt x="234280" y="96490"/>
                  </a:cubicBezTo>
                  <a:lnTo>
                    <a:pt x="194593" y="56803"/>
                  </a:lnTo>
                  <a:cubicBezTo>
                    <a:pt x="189425" y="51635"/>
                    <a:pt x="181033" y="51635"/>
                    <a:pt x="175865" y="56803"/>
                  </a:cubicBezTo>
                  <a:close/>
                  <a:moveTo>
                    <a:pt x="62301" y="56761"/>
                  </a:moveTo>
                  <a:cubicBezTo>
                    <a:pt x="57133" y="51594"/>
                    <a:pt x="48741" y="51594"/>
                    <a:pt x="43574" y="56761"/>
                  </a:cubicBezTo>
                  <a:lnTo>
                    <a:pt x="3886" y="96449"/>
                  </a:lnTo>
                  <a:cubicBezTo>
                    <a:pt x="-1282" y="101617"/>
                    <a:pt x="-1282" y="110009"/>
                    <a:pt x="3886" y="115176"/>
                  </a:cubicBezTo>
                  <a:lnTo>
                    <a:pt x="43574" y="154864"/>
                  </a:lnTo>
                  <a:cubicBezTo>
                    <a:pt x="48741" y="160032"/>
                    <a:pt x="57133" y="160032"/>
                    <a:pt x="62301" y="154864"/>
                  </a:cubicBezTo>
                  <a:cubicBezTo>
                    <a:pt x="67469" y="149696"/>
                    <a:pt x="67469" y="141304"/>
                    <a:pt x="62301" y="136136"/>
                  </a:cubicBezTo>
                  <a:lnTo>
                    <a:pt x="31957" y="105833"/>
                  </a:lnTo>
                  <a:lnTo>
                    <a:pt x="62260" y="75489"/>
                  </a:lnTo>
                  <a:cubicBezTo>
                    <a:pt x="67427" y="70321"/>
                    <a:pt x="67427" y="61929"/>
                    <a:pt x="62260" y="56761"/>
                  </a:cubicBezTo>
                  <a:close/>
                </a:path>
              </a:pathLst>
            </a:custGeom>
            <a:solidFill>
              <a:srgbClr val="3D8B8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9" name="Text 37"/>
            <p:cNvSpPr/>
            <p:nvPr/>
          </p:nvSpPr>
          <p:spPr>
            <a:xfrm>
              <a:off x="1037167" y="5810250"/>
              <a:ext cx="1502833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b="1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JSON数据示例</a:t>
              </a:r>
              <a:endParaRPr lang="en-US" sz="16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650875" y="6281208"/>
              <a:ext cx="7143750" cy="4794250"/>
            </a:xfrm>
            <a:custGeom>
              <a:avLst/>
              <a:gdLst/>
              <a:ahLst/>
              <a:cxnLst/>
              <a:rect l="l" t="t" r="r" b="b"/>
              <a:pathLst>
                <a:path w="7143750" h="4794250">
                  <a:moveTo>
                    <a:pt x="0" y="0"/>
                  </a:moveTo>
                  <a:lnTo>
                    <a:pt x="7143750" y="0"/>
                  </a:lnTo>
                  <a:lnTo>
                    <a:pt x="7143750" y="4794250"/>
                  </a:lnTo>
                  <a:lnTo>
                    <a:pt x="0" y="47942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A1D21"/>
            </a:solidFill>
            <a:ln w="12700">
              <a:solidFill>
                <a:srgbClr val="3D8B8B"/>
              </a:solidFill>
              <a:prstDash val="solid"/>
            </a:ln>
          </p:spPr>
          <p:txBody>
            <a:bodyPr numCol="2"/>
            <a:lstStyle/>
            <a:p>
              <a:endParaRPr lang="zh-CN" altLang="en-US"/>
            </a:p>
          </p:txBody>
        </p:sp>
        <p:sp>
          <p:nvSpPr>
            <p:cNvPr id="41" name="Text 39"/>
            <p:cNvSpPr/>
            <p:nvPr/>
          </p:nvSpPr>
          <p:spPr>
            <a:xfrm>
              <a:off x="825500" y="6455833"/>
              <a:ext cx="6868583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{</a:t>
              </a:r>
              <a:endParaRPr lang="en-US" sz="1600" dirty="0"/>
            </a:p>
          </p:txBody>
        </p:sp>
        <p:sp>
          <p:nvSpPr>
            <p:cNvPr id="42" name="Text 40"/>
            <p:cNvSpPr/>
            <p:nvPr/>
          </p:nvSpPr>
          <p:spPr>
            <a:xfrm>
              <a:off x="910167" y="6667500"/>
              <a:ext cx="67839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"doc_id": 10,</a:t>
              </a:r>
              <a:endParaRPr lang="en-US" sz="1600" dirty="0"/>
            </a:p>
          </p:txBody>
        </p:sp>
        <p:sp>
          <p:nvSpPr>
            <p:cNvPr id="43" name="Text 41"/>
            <p:cNvSpPr/>
            <p:nvPr/>
          </p:nvSpPr>
          <p:spPr>
            <a:xfrm>
              <a:off x="910167" y="6879167"/>
              <a:ext cx="67839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"Links": [</a:t>
              </a:r>
              <a:endParaRPr lang="en-US" sz="1600" dirty="0"/>
            </a:p>
          </p:txBody>
        </p:sp>
        <p:sp>
          <p:nvSpPr>
            <p:cNvPr id="44" name="Text 42"/>
            <p:cNvSpPr/>
            <p:nvPr/>
          </p:nvSpPr>
          <p:spPr>
            <a:xfrm>
              <a:off x="994833" y="7090833"/>
              <a:ext cx="6699250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{ "backward": "d1", "forward": "d2" },</a:t>
              </a:r>
              <a:endParaRPr lang="en-US" sz="1600" dirty="0"/>
            </a:p>
          </p:txBody>
        </p:sp>
        <p:sp>
          <p:nvSpPr>
            <p:cNvPr id="45" name="Text 43"/>
            <p:cNvSpPr/>
            <p:nvPr/>
          </p:nvSpPr>
          <p:spPr>
            <a:xfrm>
              <a:off x="994833" y="7302500"/>
              <a:ext cx="6699250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{ "backward": "d3", "forward": "d4" }</a:t>
              </a:r>
              <a:endParaRPr lang="en-US" sz="1600" dirty="0"/>
            </a:p>
          </p:txBody>
        </p:sp>
        <p:sp>
          <p:nvSpPr>
            <p:cNvPr id="46" name="Text 44"/>
            <p:cNvSpPr/>
            <p:nvPr/>
          </p:nvSpPr>
          <p:spPr>
            <a:xfrm>
              <a:off x="910167" y="7514167"/>
              <a:ext cx="67839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],</a:t>
              </a:r>
              <a:endParaRPr lang="en-US" sz="1600" dirty="0"/>
            </a:p>
          </p:txBody>
        </p:sp>
        <p:sp>
          <p:nvSpPr>
            <p:cNvPr id="47" name="Text 45"/>
            <p:cNvSpPr/>
            <p:nvPr/>
          </p:nvSpPr>
          <p:spPr>
            <a:xfrm>
              <a:off x="910167" y="7725833"/>
              <a:ext cx="67839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"Name": [</a:t>
              </a:r>
              <a:endParaRPr lang="en-US" sz="1600" dirty="0"/>
            </a:p>
          </p:txBody>
        </p:sp>
        <p:sp>
          <p:nvSpPr>
            <p:cNvPr id="48" name="Text 46"/>
            <p:cNvSpPr/>
            <p:nvPr/>
          </p:nvSpPr>
          <p:spPr>
            <a:xfrm>
              <a:off x="994833" y="7937500"/>
              <a:ext cx="6699250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{</a:t>
              </a:r>
              <a:endParaRPr lang="en-US" sz="1600" dirty="0"/>
            </a:p>
          </p:txBody>
        </p:sp>
        <p:sp>
          <p:nvSpPr>
            <p:cNvPr id="49" name="Text 47"/>
            <p:cNvSpPr/>
            <p:nvPr/>
          </p:nvSpPr>
          <p:spPr>
            <a:xfrm>
              <a:off x="1079500" y="8149167"/>
              <a:ext cx="6614583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"Language": [</a:t>
              </a:r>
              <a:endParaRPr lang="en-US" sz="1600" dirty="0"/>
            </a:p>
          </p:txBody>
        </p:sp>
        <p:sp>
          <p:nvSpPr>
            <p:cNvPr id="50" name="Text 48"/>
            <p:cNvSpPr/>
            <p:nvPr/>
          </p:nvSpPr>
          <p:spPr>
            <a:xfrm>
              <a:off x="1164167" y="8360833"/>
              <a:ext cx="65299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{ "code": "en", "country": "us" },</a:t>
              </a:r>
              <a:endParaRPr lang="en-US" sz="1600" dirty="0"/>
            </a:p>
          </p:txBody>
        </p:sp>
        <p:sp>
          <p:nvSpPr>
            <p:cNvPr id="51" name="Text 49"/>
            <p:cNvSpPr/>
            <p:nvPr/>
          </p:nvSpPr>
          <p:spPr>
            <a:xfrm>
              <a:off x="1164167" y="8572500"/>
              <a:ext cx="65299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{ "code": "zh" }</a:t>
              </a:r>
              <a:endParaRPr lang="en-US" sz="1600" dirty="0"/>
            </a:p>
          </p:txBody>
        </p:sp>
        <p:sp>
          <p:nvSpPr>
            <p:cNvPr id="52" name="Text 50"/>
            <p:cNvSpPr/>
            <p:nvPr/>
          </p:nvSpPr>
          <p:spPr>
            <a:xfrm>
              <a:off x="1079500" y="8784167"/>
              <a:ext cx="6614583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],</a:t>
              </a:r>
              <a:endParaRPr lang="en-US" sz="1600" dirty="0"/>
            </a:p>
          </p:txBody>
        </p:sp>
        <p:sp>
          <p:nvSpPr>
            <p:cNvPr id="53" name="Text 51"/>
            <p:cNvSpPr/>
            <p:nvPr/>
          </p:nvSpPr>
          <p:spPr>
            <a:xfrm>
              <a:off x="1079500" y="8995833"/>
              <a:ext cx="6614583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"url": "http://example.com"</a:t>
              </a:r>
              <a:endParaRPr lang="en-US" sz="1600" dirty="0"/>
            </a:p>
          </p:txBody>
        </p:sp>
        <p:sp>
          <p:nvSpPr>
            <p:cNvPr id="54" name="Text 52"/>
            <p:cNvSpPr/>
            <p:nvPr/>
          </p:nvSpPr>
          <p:spPr>
            <a:xfrm>
              <a:off x="994833" y="9207500"/>
              <a:ext cx="6699250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},</a:t>
              </a:r>
              <a:endParaRPr lang="en-US" sz="1600" dirty="0"/>
            </a:p>
          </p:txBody>
        </p:sp>
        <p:sp>
          <p:nvSpPr>
            <p:cNvPr id="55" name="Text 53"/>
            <p:cNvSpPr/>
            <p:nvPr/>
          </p:nvSpPr>
          <p:spPr>
            <a:xfrm>
              <a:off x="994833" y="9419167"/>
              <a:ext cx="6699250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{</a:t>
              </a:r>
              <a:endParaRPr lang="en-US" sz="1600" dirty="0"/>
            </a:p>
          </p:txBody>
        </p:sp>
        <p:sp>
          <p:nvSpPr>
            <p:cNvPr id="56" name="Text 54"/>
            <p:cNvSpPr/>
            <p:nvPr/>
          </p:nvSpPr>
          <p:spPr>
            <a:xfrm>
              <a:off x="1079500" y="9630833"/>
              <a:ext cx="6614583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"Language": [</a:t>
              </a:r>
              <a:endParaRPr lang="en-US" sz="1600" dirty="0"/>
            </a:p>
          </p:txBody>
        </p:sp>
        <p:sp>
          <p:nvSpPr>
            <p:cNvPr id="57" name="Text 55"/>
            <p:cNvSpPr/>
            <p:nvPr/>
          </p:nvSpPr>
          <p:spPr>
            <a:xfrm>
              <a:off x="1164167" y="9842500"/>
              <a:ext cx="65299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{ "code": "fr", "country": null }</a:t>
              </a:r>
              <a:endParaRPr lang="en-US" sz="1600" dirty="0"/>
            </a:p>
          </p:txBody>
        </p:sp>
        <p:sp>
          <p:nvSpPr>
            <p:cNvPr id="58" name="Text 56"/>
            <p:cNvSpPr/>
            <p:nvPr/>
          </p:nvSpPr>
          <p:spPr>
            <a:xfrm>
              <a:off x="1079500" y="10054167"/>
              <a:ext cx="6614583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]</a:t>
              </a:r>
              <a:endParaRPr lang="en-US" sz="1600" dirty="0"/>
            </a:p>
          </p:txBody>
        </p:sp>
        <p:sp>
          <p:nvSpPr>
            <p:cNvPr id="59" name="Text 57"/>
            <p:cNvSpPr/>
            <p:nvPr/>
          </p:nvSpPr>
          <p:spPr>
            <a:xfrm>
              <a:off x="994833" y="10265833"/>
              <a:ext cx="6699250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}</a:t>
              </a:r>
              <a:endParaRPr lang="en-US" sz="1600" dirty="0"/>
            </a:p>
          </p:txBody>
        </p:sp>
        <p:sp>
          <p:nvSpPr>
            <p:cNvPr id="60" name="Text 58"/>
            <p:cNvSpPr/>
            <p:nvPr/>
          </p:nvSpPr>
          <p:spPr>
            <a:xfrm>
              <a:off x="910167" y="10477500"/>
              <a:ext cx="67839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3D8B8B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]</a:t>
              </a:r>
              <a:endParaRPr lang="en-US" sz="1600" dirty="0"/>
            </a:p>
          </p:txBody>
        </p:sp>
        <p:sp>
          <p:nvSpPr>
            <p:cNvPr id="61" name="Text 59"/>
            <p:cNvSpPr/>
            <p:nvPr/>
          </p:nvSpPr>
          <p:spPr>
            <a:xfrm>
              <a:off x="825500" y="10689167"/>
              <a:ext cx="6868583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}</a:t>
              </a:r>
              <a:endParaRPr lang="en-US" sz="1600" dirty="0"/>
            </a:p>
          </p:txBody>
        </p:sp>
      </p:grp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563AA56B-EE4E-054E-AB60-27AEED69C4AD}"/>
              </a:ext>
            </a:extLst>
          </p:cNvPr>
          <p:cNvGrpSpPr/>
          <p:nvPr/>
        </p:nvGrpSpPr>
        <p:grpSpPr>
          <a:xfrm>
            <a:off x="423333" y="5662083"/>
            <a:ext cx="7942792" cy="3190875"/>
            <a:chOff x="8239125" y="5593292"/>
            <a:chExt cx="7588250" cy="3190875"/>
          </a:xfrm>
        </p:grpSpPr>
        <p:sp>
          <p:nvSpPr>
            <p:cNvPr id="62" name="Shape 60"/>
            <p:cNvSpPr/>
            <p:nvPr/>
          </p:nvSpPr>
          <p:spPr>
            <a:xfrm>
              <a:off x="8239125" y="5593292"/>
              <a:ext cx="7588250" cy="3190875"/>
            </a:xfrm>
            <a:custGeom>
              <a:avLst/>
              <a:gdLst/>
              <a:ahLst/>
              <a:cxnLst/>
              <a:rect l="l" t="t" r="r" b="b"/>
              <a:pathLst>
                <a:path w="7588250" h="5704417">
                  <a:moveTo>
                    <a:pt x="0" y="0"/>
                  </a:moveTo>
                  <a:lnTo>
                    <a:pt x="7588250" y="0"/>
                  </a:lnTo>
                  <a:lnTo>
                    <a:pt x="7588250" y="5704417"/>
                  </a:lnTo>
                  <a:lnTo>
                    <a:pt x="0" y="570441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D8B8B">
                <a:alpha val="10196"/>
              </a:srgbClr>
            </a:solidFill>
            <a:ln w="12700">
              <a:solidFill>
                <a:srgbClr val="3D8B8B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Shape 61"/>
            <p:cNvSpPr/>
            <p:nvPr/>
          </p:nvSpPr>
          <p:spPr>
            <a:xfrm>
              <a:off x="8482542" y="5852583"/>
              <a:ext cx="211667" cy="211667"/>
            </a:xfrm>
            <a:custGeom>
              <a:avLst/>
              <a:gdLst/>
              <a:ahLst/>
              <a:cxnLst/>
              <a:rect l="l" t="t" r="r" b="b"/>
              <a:pathLst>
                <a:path w="211667" h="211667">
                  <a:moveTo>
                    <a:pt x="105833" y="211667"/>
                  </a:moveTo>
                  <a:cubicBezTo>
                    <a:pt x="164244" y="211667"/>
                    <a:pt x="211667" y="164244"/>
                    <a:pt x="211667" y="105833"/>
                  </a:cubicBezTo>
                  <a:cubicBezTo>
                    <a:pt x="211667" y="47422"/>
                    <a:pt x="164244" y="0"/>
                    <a:pt x="105833" y="0"/>
                  </a:cubicBezTo>
                  <a:cubicBezTo>
                    <a:pt x="47422" y="0"/>
                    <a:pt x="0" y="47422"/>
                    <a:pt x="0" y="105833"/>
                  </a:cubicBezTo>
                  <a:cubicBezTo>
                    <a:pt x="0" y="164244"/>
                    <a:pt x="47422" y="211667"/>
                    <a:pt x="105833" y="211667"/>
                  </a:cubicBezTo>
                  <a:close/>
                  <a:moveTo>
                    <a:pt x="140725" y="87933"/>
                  </a:moveTo>
                  <a:lnTo>
                    <a:pt x="107652" y="140849"/>
                  </a:lnTo>
                  <a:cubicBezTo>
                    <a:pt x="105916" y="143619"/>
                    <a:pt x="102939" y="145355"/>
                    <a:pt x="99674" y="145521"/>
                  </a:cubicBezTo>
                  <a:cubicBezTo>
                    <a:pt x="96408" y="145686"/>
                    <a:pt x="93266" y="144198"/>
                    <a:pt x="91323" y="141552"/>
                  </a:cubicBezTo>
                  <a:lnTo>
                    <a:pt x="71479" y="115094"/>
                  </a:lnTo>
                  <a:cubicBezTo>
                    <a:pt x="68172" y="110712"/>
                    <a:pt x="69081" y="104510"/>
                    <a:pt x="73463" y="101203"/>
                  </a:cubicBezTo>
                  <a:cubicBezTo>
                    <a:pt x="77845" y="97896"/>
                    <a:pt x="84047" y="98805"/>
                    <a:pt x="87354" y="103188"/>
                  </a:cubicBezTo>
                  <a:lnTo>
                    <a:pt x="98516" y="118070"/>
                  </a:lnTo>
                  <a:lnTo>
                    <a:pt x="123899" y="77432"/>
                  </a:lnTo>
                  <a:cubicBezTo>
                    <a:pt x="126793" y="72802"/>
                    <a:pt x="132912" y="71355"/>
                    <a:pt x="137583" y="74290"/>
                  </a:cubicBezTo>
                  <a:cubicBezTo>
                    <a:pt x="142255" y="77225"/>
                    <a:pt x="143660" y="83302"/>
                    <a:pt x="140725" y="87974"/>
                  </a:cubicBezTo>
                  <a:close/>
                </a:path>
              </a:pathLst>
            </a:custGeom>
            <a:solidFill>
              <a:srgbClr val="3D8B8B"/>
            </a:solidFill>
            <a:ln/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4" name="Text 62"/>
            <p:cNvSpPr/>
            <p:nvPr/>
          </p:nvSpPr>
          <p:spPr>
            <a:xfrm>
              <a:off x="8847667" y="5810250"/>
              <a:ext cx="1375833" cy="2963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667" b="1" dirty="0">
                  <a:solidFill>
                    <a:srgbClr val="E0E2E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数据特点分析</a:t>
              </a:r>
              <a:endParaRPr lang="en-US" sz="1600" dirty="0"/>
            </a:p>
          </p:txBody>
        </p:sp>
        <p:sp>
          <p:nvSpPr>
            <p:cNvPr id="65" name="Text 63"/>
            <p:cNvSpPr/>
            <p:nvPr/>
          </p:nvSpPr>
          <p:spPr>
            <a:xfrm>
              <a:off x="8456083" y="6275917"/>
              <a:ext cx="72284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b="1" dirty="0">
                  <a:solidFill>
                    <a:srgbClr val="D9A56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多层嵌套结构</a:t>
              </a:r>
              <a:endParaRPr lang="en-US" sz="1600" dirty="0"/>
            </a:p>
          </p:txBody>
        </p:sp>
        <p:sp>
          <p:nvSpPr>
            <p:cNvPr id="66" name="Text 64"/>
            <p:cNvSpPr/>
            <p:nvPr/>
          </p:nvSpPr>
          <p:spPr>
            <a:xfrm>
              <a:off x="8456083" y="6529917"/>
              <a:ext cx="72284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>
                      <a:alpha val="9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Document → Name → Language，符合Schema定义</a:t>
              </a:r>
              <a:endParaRPr lang="en-US" sz="1600" dirty="0"/>
            </a:p>
          </p:txBody>
        </p:sp>
        <p:sp>
          <p:nvSpPr>
            <p:cNvPr id="67" name="Text 65"/>
            <p:cNvSpPr/>
            <p:nvPr/>
          </p:nvSpPr>
          <p:spPr>
            <a:xfrm>
              <a:off x="8456083" y="6868583"/>
              <a:ext cx="72284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b="1" dirty="0">
                  <a:solidFill>
                    <a:srgbClr val="D9A56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字段缺失情况</a:t>
              </a:r>
              <a:endParaRPr lang="en-US" sz="1600" dirty="0"/>
            </a:p>
          </p:txBody>
        </p:sp>
        <p:sp>
          <p:nvSpPr>
            <p:cNvPr id="68" name="Text 66"/>
            <p:cNvSpPr/>
            <p:nvPr/>
          </p:nvSpPr>
          <p:spPr>
            <a:xfrm>
              <a:off x="8456083" y="7122583"/>
              <a:ext cx="72284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>
                      <a:alpha val="9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Name[0].Language[1]缺少country，Name[1]缺少url</a:t>
              </a:r>
              <a:endParaRPr lang="en-US" sz="1600" dirty="0"/>
            </a:p>
          </p:txBody>
        </p:sp>
        <p:sp>
          <p:nvSpPr>
            <p:cNvPr id="69" name="Text 67"/>
            <p:cNvSpPr/>
            <p:nvPr/>
          </p:nvSpPr>
          <p:spPr>
            <a:xfrm>
              <a:off x="8456083" y="7461250"/>
              <a:ext cx="72284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b="1" dirty="0">
                  <a:solidFill>
                    <a:srgbClr val="D9A56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显式null值</a:t>
              </a:r>
              <a:endParaRPr lang="en-US" sz="1600" dirty="0"/>
            </a:p>
          </p:txBody>
        </p:sp>
        <p:sp>
          <p:nvSpPr>
            <p:cNvPr id="70" name="Text 68"/>
            <p:cNvSpPr/>
            <p:nvPr/>
          </p:nvSpPr>
          <p:spPr>
            <a:xfrm>
              <a:off x="8456083" y="7715250"/>
              <a:ext cx="72284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>
                      <a:alpha val="9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Name[1].Language[0].country显式设为null</a:t>
              </a:r>
              <a:endParaRPr lang="en-US" sz="1600" dirty="0"/>
            </a:p>
          </p:txBody>
        </p:sp>
        <p:sp>
          <p:nvSpPr>
            <p:cNvPr id="71" name="Text 69"/>
            <p:cNvSpPr/>
            <p:nvPr/>
          </p:nvSpPr>
          <p:spPr>
            <a:xfrm>
              <a:off x="8456083" y="8053917"/>
              <a:ext cx="72284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b="1" dirty="0">
                  <a:solidFill>
                    <a:srgbClr val="D9A566"/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重复字段展示</a:t>
              </a:r>
              <a:endParaRPr lang="en-US" sz="1600" dirty="0"/>
            </a:p>
          </p:txBody>
        </p:sp>
        <p:sp>
          <p:nvSpPr>
            <p:cNvPr id="72" name="Text 70"/>
            <p:cNvSpPr/>
            <p:nvPr/>
          </p:nvSpPr>
          <p:spPr>
            <a:xfrm>
              <a:off x="8456083" y="8307917"/>
              <a:ext cx="7228417" cy="211667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>
                <a:lnSpc>
                  <a:spcPct val="120000"/>
                </a:lnSpc>
              </a:pPr>
              <a:r>
                <a:rPr lang="en-US" sz="1167" dirty="0">
                  <a:solidFill>
                    <a:srgbClr val="E0E2E6">
                      <a:alpha val="90000"/>
                    </a:srgbClr>
                  </a:solidFill>
                  <a:latin typeface="MiSans" pitchFamily="34" charset="0"/>
                  <a:ea typeface="MiSans" pitchFamily="34" charset="-122"/>
                  <a:cs typeface="MiSans" pitchFamily="34" charset="-120"/>
                </a:rPr>
                <a:t>Links有2个，Name有2个，Language有2个和1个</a:t>
              </a:r>
              <a:endParaRPr lang="en-US" sz="1600" dirty="0"/>
            </a:p>
          </p:txBody>
        </p:sp>
      </p:grp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58800"/>
            <a:ext cx="89535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RL与DL计算实例：Name.Language.code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4350" y="1327150"/>
            <a:ext cx="7480300" cy="2959100"/>
          </a:xfrm>
          <a:custGeom>
            <a:avLst/>
            <a:gdLst/>
            <a:ahLst/>
            <a:cxnLst/>
            <a:rect l="l" t="t" r="r" b="b"/>
            <a:pathLst>
              <a:path w="7480300" h="2959100">
                <a:moveTo>
                  <a:pt x="0" y="0"/>
                </a:moveTo>
                <a:lnTo>
                  <a:pt x="7480300" y="0"/>
                </a:lnTo>
                <a:lnTo>
                  <a:pt x="7480300" y="2959100"/>
                </a:lnTo>
                <a:lnTo>
                  <a:pt x="0" y="2959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06450" y="1638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11125" y="79375"/>
                </a:moveTo>
                <a:cubicBezTo>
                  <a:pt x="111125" y="70613"/>
                  <a:pt x="118238" y="63500"/>
                  <a:pt x="127000" y="63500"/>
                </a:cubicBezTo>
                <a:cubicBezTo>
                  <a:pt x="135762" y="63500"/>
                  <a:pt x="142875" y="70613"/>
                  <a:pt x="142875" y="79375"/>
                </a:cubicBezTo>
                <a:cubicBezTo>
                  <a:pt x="142875" y="88137"/>
                  <a:pt x="135762" y="95250"/>
                  <a:pt x="127000" y="95250"/>
                </a:cubicBezTo>
                <a:cubicBezTo>
                  <a:pt x="118238" y="95250"/>
                  <a:pt x="111125" y="88137"/>
                  <a:pt x="111125" y="79375"/>
                </a:cubicBezTo>
                <a:close/>
                <a:moveTo>
                  <a:pt x="107156" y="111125"/>
                </a:moveTo>
                <a:lnTo>
                  <a:pt x="130969" y="111125"/>
                </a:lnTo>
                <a:cubicBezTo>
                  <a:pt x="137567" y="111125"/>
                  <a:pt x="142875" y="116433"/>
                  <a:pt x="142875" y="123031"/>
                </a:cubicBezTo>
                <a:lnTo>
                  <a:pt x="142875" y="166688"/>
                </a:lnTo>
                <a:lnTo>
                  <a:pt x="146844" y="166688"/>
                </a:lnTo>
                <a:cubicBezTo>
                  <a:pt x="153442" y="166688"/>
                  <a:pt x="158750" y="171996"/>
                  <a:pt x="158750" y="178594"/>
                </a:cubicBezTo>
                <a:cubicBezTo>
                  <a:pt x="158750" y="185192"/>
                  <a:pt x="153442" y="190500"/>
                  <a:pt x="146844" y="190500"/>
                </a:cubicBezTo>
                <a:lnTo>
                  <a:pt x="107156" y="190500"/>
                </a:lnTo>
                <a:cubicBezTo>
                  <a:pt x="100558" y="190500"/>
                  <a:pt x="95250" y="185192"/>
                  <a:pt x="95250" y="178594"/>
                </a:cubicBezTo>
                <a:cubicBezTo>
                  <a:pt x="95250" y="171996"/>
                  <a:pt x="100558" y="166688"/>
                  <a:pt x="107156" y="166688"/>
                </a:cubicBezTo>
                <a:lnTo>
                  <a:pt x="119063" y="166688"/>
                </a:lnTo>
                <a:lnTo>
                  <a:pt x="119063" y="134938"/>
                </a:lnTo>
                <a:lnTo>
                  <a:pt x="107156" y="134938"/>
                </a:lnTo>
                <a:cubicBezTo>
                  <a:pt x="100558" y="134938"/>
                  <a:pt x="95250" y="129629"/>
                  <a:pt x="95250" y="123031"/>
                </a:cubicBezTo>
                <a:cubicBezTo>
                  <a:pt x="95250" y="116433"/>
                  <a:pt x="100558" y="111125"/>
                  <a:pt x="107156" y="111125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244600" y="15875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字段路径分析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4700" y="20955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完整路径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：Document.Name.Language.code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4700" y="25019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路径层级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：Document(0) → Name(1) → Language(2) → code(3)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700" y="29083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字段属性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：code为</a:t>
            </a:r>
            <a:r>
              <a:rPr lang="en-US" sz="1600" b="1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必需字段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(required)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4700" y="33147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数据取值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："en", "zh", "fr"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4700" y="37211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最大DL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：2 (从字段父级开始计数)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61350" y="1327150"/>
            <a:ext cx="7480300" cy="2959100"/>
          </a:xfrm>
          <a:custGeom>
            <a:avLst/>
            <a:gdLst/>
            <a:ahLst/>
            <a:cxnLst/>
            <a:rect l="l" t="t" r="r" b="b"/>
            <a:pathLst>
              <a:path w="7480300" h="2959100">
                <a:moveTo>
                  <a:pt x="0" y="0"/>
                </a:moveTo>
                <a:lnTo>
                  <a:pt x="7480300" y="0"/>
                </a:lnTo>
                <a:lnTo>
                  <a:pt x="7480300" y="2959100"/>
                </a:lnTo>
                <a:lnTo>
                  <a:pt x="0" y="2959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585200" y="16383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31750" y="0"/>
                </a:moveTo>
                <a:cubicBezTo>
                  <a:pt x="14238" y="0"/>
                  <a:pt x="0" y="14238"/>
                  <a:pt x="0" y="31750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58750" y="254000"/>
                </a:lnTo>
                <a:cubicBezTo>
                  <a:pt x="176262" y="254000"/>
                  <a:pt x="190500" y="239762"/>
                  <a:pt x="190500" y="222250"/>
                </a:cubicBezTo>
                <a:lnTo>
                  <a:pt x="190500" y="31750"/>
                </a:lnTo>
                <a:cubicBezTo>
                  <a:pt x="190500" y="14238"/>
                  <a:pt x="176262" y="0"/>
                  <a:pt x="158750" y="0"/>
                </a:cubicBezTo>
                <a:lnTo>
                  <a:pt x="31750" y="0"/>
                </a:lnTo>
                <a:close/>
                <a:moveTo>
                  <a:pt x="47625" y="31750"/>
                </a:moveTo>
                <a:lnTo>
                  <a:pt x="142875" y="31750"/>
                </a:lnTo>
                <a:cubicBezTo>
                  <a:pt x="151656" y="31750"/>
                  <a:pt x="158750" y="38844"/>
                  <a:pt x="158750" y="47625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47625" y="79375"/>
                </a:lnTo>
                <a:cubicBezTo>
                  <a:pt x="38844" y="79375"/>
                  <a:pt x="31750" y="72281"/>
                  <a:pt x="31750" y="63500"/>
                </a:cubicBezTo>
                <a:lnTo>
                  <a:pt x="31750" y="47625"/>
                </a:lnTo>
                <a:cubicBezTo>
                  <a:pt x="31750" y="38844"/>
                  <a:pt x="38844" y="31750"/>
                  <a:pt x="47625" y="31750"/>
                </a:cubicBezTo>
                <a:close/>
                <a:moveTo>
                  <a:pt x="55563" y="115094"/>
                </a:moveTo>
                <a:cubicBezTo>
                  <a:pt x="55563" y="121665"/>
                  <a:pt x="50227" y="127000"/>
                  <a:pt x="43656" y="127000"/>
                </a:cubicBezTo>
                <a:cubicBezTo>
                  <a:pt x="37085" y="127000"/>
                  <a:pt x="31750" y="121665"/>
                  <a:pt x="31750" y="115094"/>
                </a:cubicBezTo>
                <a:cubicBezTo>
                  <a:pt x="31750" y="108523"/>
                  <a:pt x="37085" y="103188"/>
                  <a:pt x="43656" y="103188"/>
                </a:cubicBezTo>
                <a:cubicBezTo>
                  <a:pt x="50227" y="103188"/>
                  <a:pt x="55563" y="108523"/>
                  <a:pt x="55563" y="115094"/>
                </a:cubicBezTo>
                <a:close/>
                <a:moveTo>
                  <a:pt x="95250" y="127000"/>
                </a:moveTo>
                <a:cubicBezTo>
                  <a:pt x="88679" y="127000"/>
                  <a:pt x="83344" y="121665"/>
                  <a:pt x="83344" y="115094"/>
                </a:cubicBezTo>
                <a:cubicBezTo>
                  <a:pt x="83344" y="108523"/>
                  <a:pt x="88679" y="103188"/>
                  <a:pt x="95250" y="103188"/>
                </a:cubicBezTo>
                <a:cubicBezTo>
                  <a:pt x="101821" y="103188"/>
                  <a:pt x="107156" y="108523"/>
                  <a:pt x="107156" y="115094"/>
                </a:cubicBezTo>
                <a:cubicBezTo>
                  <a:pt x="107156" y="121665"/>
                  <a:pt x="101821" y="127000"/>
                  <a:pt x="95250" y="127000"/>
                </a:cubicBezTo>
                <a:close/>
                <a:moveTo>
                  <a:pt x="158750" y="115094"/>
                </a:moveTo>
                <a:cubicBezTo>
                  <a:pt x="158750" y="121665"/>
                  <a:pt x="153415" y="127000"/>
                  <a:pt x="146844" y="127000"/>
                </a:cubicBezTo>
                <a:cubicBezTo>
                  <a:pt x="140273" y="127000"/>
                  <a:pt x="134938" y="121665"/>
                  <a:pt x="134938" y="115094"/>
                </a:cubicBezTo>
                <a:cubicBezTo>
                  <a:pt x="134938" y="108523"/>
                  <a:pt x="140273" y="103188"/>
                  <a:pt x="146844" y="103188"/>
                </a:cubicBezTo>
                <a:cubicBezTo>
                  <a:pt x="153415" y="103188"/>
                  <a:pt x="158750" y="108523"/>
                  <a:pt x="158750" y="115094"/>
                </a:cubicBezTo>
                <a:close/>
                <a:moveTo>
                  <a:pt x="43656" y="174625"/>
                </a:moveTo>
                <a:cubicBezTo>
                  <a:pt x="37085" y="174625"/>
                  <a:pt x="31750" y="169290"/>
                  <a:pt x="31750" y="162719"/>
                </a:cubicBezTo>
                <a:cubicBezTo>
                  <a:pt x="31750" y="156148"/>
                  <a:pt x="37085" y="150813"/>
                  <a:pt x="43656" y="150813"/>
                </a:cubicBezTo>
                <a:cubicBezTo>
                  <a:pt x="50227" y="150813"/>
                  <a:pt x="55563" y="156148"/>
                  <a:pt x="55563" y="162719"/>
                </a:cubicBezTo>
                <a:cubicBezTo>
                  <a:pt x="55563" y="169290"/>
                  <a:pt x="50227" y="174625"/>
                  <a:pt x="43656" y="174625"/>
                </a:cubicBezTo>
                <a:close/>
                <a:moveTo>
                  <a:pt x="107156" y="162719"/>
                </a:moveTo>
                <a:cubicBezTo>
                  <a:pt x="107156" y="169290"/>
                  <a:pt x="101821" y="174625"/>
                  <a:pt x="95250" y="174625"/>
                </a:cubicBezTo>
                <a:cubicBezTo>
                  <a:pt x="88679" y="174625"/>
                  <a:pt x="83344" y="169290"/>
                  <a:pt x="83344" y="162719"/>
                </a:cubicBezTo>
                <a:cubicBezTo>
                  <a:pt x="83344" y="156148"/>
                  <a:pt x="88679" y="150813"/>
                  <a:pt x="95250" y="150813"/>
                </a:cubicBezTo>
                <a:cubicBezTo>
                  <a:pt x="101821" y="150813"/>
                  <a:pt x="107156" y="156148"/>
                  <a:pt x="107156" y="162719"/>
                </a:cubicBezTo>
                <a:close/>
                <a:moveTo>
                  <a:pt x="146844" y="174625"/>
                </a:moveTo>
                <a:cubicBezTo>
                  <a:pt x="140273" y="174625"/>
                  <a:pt x="134938" y="169290"/>
                  <a:pt x="134938" y="162719"/>
                </a:cubicBezTo>
                <a:cubicBezTo>
                  <a:pt x="134938" y="156148"/>
                  <a:pt x="140273" y="150813"/>
                  <a:pt x="146844" y="150813"/>
                </a:cubicBezTo>
                <a:cubicBezTo>
                  <a:pt x="153415" y="150813"/>
                  <a:pt x="158750" y="156148"/>
                  <a:pt x="158750" y="162719"/>
                </a:cubicBezTo>
                <a:cubicBezTo>
                  <a:pt x="158750" y="169290"/>
                  <a:pt x="153415" y="174625"/>
                  <a:pt x="146844" y="174625"/>
                </a:cubicBezTo>
                <a:close/>
                <a:moveTo>
                  <a:pt x="31750" y="210344"/>
                </a:moveTo>
                <a:cubicBezTo>
                  <a:pt x="31750" y="203746"/>
                  <a:pt x="37058" y="198438"/>
                  <a:pt x="43656" y="198438"/>
                </a:cubicBezTo>
                <a:lnTo>
                  <a:pt x="99219" y="198438"/>
                </a:lnTo>
                <a:cubicBezTo>
                  <a:pt x="105817" y="198438"/>
                  <a:pt x="111125" y="203746"/>
                  <a:pt x="111125" y="210344"/>
                </a:cubicBezTo>
                <a:cubicBezTo>
                  <a:pt x="111125" y="216942"/>
                  <a:pt x="105817" y="222250"/>
                  <a:pt x="99219" y="222250"/>
                </a:cubicBezTo>
                <a:lnTo>
                  <a:pt x="43656" y="222250"/>
                </a:lnTo>
                <a:cubicBezTo>
                  <a:pt x="37058" y="222250"/>
                  <a:pt x="31750" y="216942"/>
                  <a:pt x="31750" y="210344"/>
                </a:cubicBezTo>
                <a:close/>
                <a:moveTo>
                  <a:pt x="146844" y="198438"/>
                </a:moveTo>
                <a:cubicBezTo>
                  <a:pt x="153442" y="198438"/>
                  <a:pt x="158750" y="203746"/>
                  <a:pt x="158750" y="210344"/>
                </a:cubicBezTo>
                <a:cubicBezTo>
                  <a:pt x="158750" y="216942"/>
                  <a:pt x="153442" y="222250"/>
                  <a:pt x="146844" y="222250"/>
                </a:cubicBezTo>
                <a:cubicBezTo>
                  <a:pt x="140246" y="222250"/>
                  <a:pt x="134938" y="216942"/>
                  <a:pt x="134938" y="210344"/>
                </a:cubicBezTo>
                <a:cubicBezTo>
                  <a:pt x="134938" y="203746"/>
                  <a:pt x="140246" y="198438"/>
                  <a:pt x="146844" y="198438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991600" y="1587500"/>
            <a:ext cx="168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RL/DL计算结果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28050" y="2101850"/>
            <a:ext cx="6946900" cy="1752600"/>
          </a:xfrm>
          <a:custGeom>
            <a:avLst/>
            <a:gdLst/>
            <a:ahLst/>
            <a:cxnLst/>
            <a:rect l="l" t="t" r="r" b="b"/>
            <a:pathLst>
              <a:path w="6946900" h="1752600">
                <a:moveTo>
                  <a:pt x="0" y="0"/>
                </a:moveTo>
                <a:lnTo>
                  <a:pt x="6946900" y="0"/>
                </a:lnTo>
                <a:lnTo>
                  <a:pt x="69469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34400" y="2108200"/>
          <a:ext cx="6934200" cy="1739900"/>
        </p:xfrm>
        <a:graphic>
          <a:graphicData uri="http://schemas.openxmlformats.org/drawingml/2006/table">
            <a:tbl>
              <a:tblPr/>
              <a:tblGrid>
                <a:gridCol w="1094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42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1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806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97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"en"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D8B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D8B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新文档开始，完整路径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"zh"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D8B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D8B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Language层级重复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"fr"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D8B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3D8B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Name层级重复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14350" y="4502150"/>
            <a:ext cx="7480300" cy="2146300"/>
          </a:xfrm>
          <a:custGeom>
            <a:avLst/>
            <a:gdLst/>
            <a:ahLst/>
            <a:cxnLst/>
            <a:rect l="l" t="t" r="r" b="b"/>
            <a:pathLst>
              <a:path w="7480300" h="2146300">
                <a:moveTo>
                  <a:pt x="0" y="0"/>
                </a:moveTo>
                <a:lnTo>
                  <a:pt x="7480300" y="0"/>
                </a:lnTo>
                <a:lnTo>
                  <a:pt x="7480300" y="2146300"/>
                </a:lnTo>
                <a:lnTo>
                  <a:pt x="0" y="21463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806450" y="4813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6644" y="37058"/>
                </a:moveTo>
                <a:lnTo>
                  <a:pt x="222250" y="42366"/>
                </a:lnTo>
                <a:lnTo>
                  <a:pt x="222250" y="15875"/>
                </a:lnTo>
                <a:cubicBezTo>
                  <a:pt x="222250" y="7094"/>
                  <a:pt x="229344" y="0"/>
                  <a:pt x="238125" y="0"/>
                </a:cubicBezTo>
                <a:cubicBezTo>
                  <a:pt x="246906" y="0"/>
                  <a:pt x="254000" y="7094"/>
                  <a:pt x="254000" y="15875"/>
                </a:cubicBezTo>
                <a:lnTo>
                  <a:pt x="254000" y="79375"/>
                </a:lnTo>
                <a:cubicBezTo>
                  <a:pt x="254000" y="88156"/>
                  <a:pt x="246906" y="95250"/>
                  <a:pt x="238125" y="95250"/>
                </a:cubicBezTo>
                <a:lnTo>
                  <a:pt x="174625" y="95250"/>
                </a:lnTo>
                <a:cubicBezTo>
                  <a:pt x="165844" y="95250"/>
                  <a:pt x="158750" y="88156"/>
                  <a:pt x="158750" y="79375"/>
                </a:cubicBezTo>
                <a:cubicBezTo>
                  <a:pt x="158750" y="70594"/>
                  <a:pt x="165844" y="63500"/>
                  <a:pt x="174625" y="63500"/>
                </a:cubicBezTo>
                <a:lnTo>
                  <a:pt x="198388" y="63500"/>
                </a:lnTo>
                <a:lnTo>
                  <a:pt x="194618" y="59928"/>
                </a:lnTo>
                <a:cubicBezTo>
                  <a:pt x="194518" y="59829"/>
                  <a:pt x="194419" y="59730"/>
                  <a:pt x="194320" y="59630"/>
                </a:cubicBezTo>
                <a:cubicBezTo>
                  <a:pt x="157113" y="22423"/>
                  <a:pt x="96837" y="22423"/>
                  <a:pt x="59630" y="59630"/>
                </a:cubicBezTo>
                <a:cubicBezTo>
                  <a:pt x="22423" y="96837"/>
                  <a:pt x="22423" y="157113"/>
                  <a:pt x="59630" y="194320"/>
                </a:cubicBezTo>
                <a:cubicBezTo>
                  <a:pt x="96837" y="231527"/>
                  <a:pt x="157113" y="231527"/>
                  <a:pt x="194320" y="194320"/>
                </a:cubicBezTo>
                <a:cubicBezTo>
                  <a:pt x="198388" y="190252"/>
                  <a:pt x="202009" y="185936"/>
                  <a:pt x="205184" y="181372"/>
                </a:cubicBezTo>
                <a:cubicBezTo>
                  <a:pt x="210195" y="174179"/>
                  <a:pt x="220117" y="172442"/>
                  <a:pt x="227310" y="177453"/>
                </a:cubicBezTo>
                <a:cubicBezTo>
                  <a:pt x="234504" y="182463"/>
                  <a:pt x="236240" y="192385"/>
                  <a:pt x="231229" y="199579"/>
                </a:cubicBezTo>
                <a:cubicBezTo>
                  <a:pt x="227012" y="205631"/>
                  <a:pt x="222200" y="211386"/>
                  <a:pt x="216793" y="216793"/>
                </a:cubicBezTo>
                <a:cubicBezTo>
                  <a:pt x="167184" y="266402"/>
                  <a:pt x="86767" y="266402"/>
                  <a:pt x="37207" y="216793"/>
                </a:cubicBezTo>
                <a:cubicBezTo>
                  <a:pt x="-12353" y="167184"/>
                  <a:pt x="-12402" y="86816"/>
                  <a:pt x="37207" y="37207"/>
                </a:cubicBezTo>
                <a:cubicBezTo>
                  <a:pt x="86767" y="-12353"/>
                  <a:pt x="167035" y="-12402"/>
                  <a:pt x="216644" y="37058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244600" y="4762500"/>
            <a:ext cx="129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RL计算说明</a:t>
            </a:r>
            <a:endParaRPr lang="en-US" sz="1600" dirty="0"/>
          </a:p>
        </p:txBody>
      </p:sp>
      <p:sp>
        <p:nvSpPr>
          <p:cNvPr id="16" name="Text 17"/>
          <p:cNvSpPr/>
          <p:nvPr/>
        </p:nvSpPr>
        <p:spPr>
          <a:xfrm>
            <a:off x="774700" y="52705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RL=0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：新记录开始，从文档根开始构建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4700" y="56769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RL=1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：在Name层级重复，创建新的Name组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74700" y="60833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RL=2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：在Language层级重复，在当前Name下创建新的Language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261350" y="4502150"/>
            <a:ext cx="7480300" cy="2146300"/>
          </a:xfrm>
          <a:custGeom>
            <a:avLst/>
            <a:gdLst/>
            <a:ahLst/>
            <a:cxnLst/>
            <a:rect l="l" t="t" r="r" b="b"/>
            <a:pathLst>
              <a:path w="7480300" h="2146300">
                <a:moveTo>
                  <a:pt x="0" y="0"/>
                </a:moveTo>
                <a:lnTo>
                  <a:pt x="7480300" y="0"/>
                </a:lnTo>
                <a:lnTo>
                  <a:pt x="7480300" y="2146300"/>
                </a:lnTo>
                <a:lnTo>
                  <a:pt x="0" y="21463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8569325" y="48133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5702" y="34776"/>
                </a:moveTo>
                <a:cubicBezTo>
                  <a:pt x="222796" y="39936"/>
                  <a:pt x="224383" y="49857"/>
                  <a:pt x="219224" y="56952"/>
                </a:cubicBezTo>
                <a:lnTo>
                  <a:pt x="92224" y="231577"/>
                </a:lnTo>
                <a:cubicBezTo>
                  <a:pt x="89495" y="235347"/>
                  <a:pt x="85279" y="237679"/>
                  <a:pt x="80615" y="238075"/>
                </a:cubicBezTo>
                <a:cubicBezTo>
                  <a:pt x="75952" y="238472"/>
                  <a:pt x="71438" y="236736"/>
                  <a:pt x="68163" y="233462"/>
                </a:cubicBezTo>
                <a:lnTo>
                  <a:pt x="4663" y="169962"/>
                </a:lnTo>
                <a:cubicBezTo>
                  <a:pt x="-1538" y="163761"/>
                  <a:pt x="-1538" y="153690"/>
                  <a:pt x="4663" y="147489"/>
                </a:cubicBezTo>
                <a:cubicBezTo>
                  <a:pt x="10864" y="141288"/>
                  <a:pt x="20935" y="141288"/>
                  <a:pt x="27136" y="147489"/>
                </a:cubicBezTo>
                <a:lnTo>
                  <a:pt x="77490" y="197842"/>
                </a:lnTo>
                <a:lnTo>
                  <a:pt x="193576" y="38249"/>
                </a:lnTo>
                <a:cubicBezTo>
                  <a:pt x="198735" y="31155"/>
                  <a:pt x="208657" y="29567"/>
                  <a:pt x="215751" y="34727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8991600" y="4762500"/>
            <a:ext cx="1320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DL计算说明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521700" y="52705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code为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必需字段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，只要路径存在就有值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521700" y="56769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三个值的DL都为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，表示完整路径都存在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521700" y="60833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最大定义层级为2（从父级Language开始计数）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14350" y="6864350"/>
            <a:ext cx="15227300" cy="723900"/>
          </a:xfrm>
          <a:custGeom>
            <a:avLst/>
            <a:gdLst/>
            <a:ahLst/>
            <a:cxnLst/>
            <a:rect l="l" t="t" r="r" b="b"/>
            <a:pathLst>
              <a:path w="15227300" h="723900">
                <a:moveTo>
                  <a:pt x="0" y="0"/>
                </a:moveTo>
                <a:lnTo>
                  <a:pt x="15227300" y="0"/>
                </a:lnTo>
                <a:lnTo>
                  <a:pt x="152273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7"/>
          <p:cNvSpPr/>
          <p:nvPr/>
        </p:nvSpPr>
        <p:spPr>
          <a:xfrm>
            <a:off x="771525" y="70993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22250" y="102096"/>
                </a:moveTo>
                <a:cubicBezTo>
                  <a:pt x="214908" y="106958"/>
                  <a:pt x="206474" y="110877"/>
                  <a:pt x="197693" y="114002"/>
                </a:cubicBezTo>
                <a:cubicBezTo>
                  <a:pt x="174377" y="122337"/>
                  <a:pt x="143768" y="127000"/>
                  <a:pt x="111125" y="127000"/>
                </a:cubicBezTo>
                <a:cubicBezTo>
                  <a:pt x="78482" y="127000"/>
                  <a:pt x="47823" y="122287"/>
                  <a:pt x="24557" y="114002"/>
                </a:cubicBezTo>
                <a:cubicBezTo>
                  <a:pt x="15825" y="110877"/>
                  <a:pt x="7342" y="106958"/>
                  <a:pt x="0" y="102096"/>
                </a:cubicBezTo>
                <a:lnTo>
                  <a:pt x="0" y="142875"/>
                </a:lnTo>
                <a:cubicBezTo>
                  <a:pt x="0" y="164802"/>
                  <a:pt x="49758" y="182563"/>
                  <a:pt x="111125" y="182563"/>
                </a:cubicBezTo>
                <a:cubicBezTo>
                  <a:pt x="172492" y="182563"/>
                  <a:pt x="222250" y="164802"/>
                  <a:pt x="222250" y="142875"/>
                </a:cubicBezTo>
                <a:lnTo>
                  <a:pt x="222250" y="102096"/>
                </a:lnTo>
                <a:close/>
                <a:moveTo>
                  <a:pt x="222250" y="63500"/>
                </a:moveTo>
                <a:lnTo>
                  <a:pt x="222250" y="39688"/>
                </a:lnTo>
                <a:cubicBezTo>
                  <a:pt x="222250" y="17760"/>
                  <a:pt x="172492" y="0"/>
                  <a:pt x="111125" y="0"/>
                </a:cubicBezTo>
                <a:cubicBezTo>
                  <a:pt x="49758" y="0"/>
                  <a:pt x="0" y="17760"/>
                  <a:pt x="0" y="39688"/>
                </a:cubicBezTo>
                <a:lnTo>
                  <a:pt x="0" y="63500"/>
                </a:lnTo>
                <a:cubicBezTo>
                  <a:pt x="0" y="85427"/>
                  <a:pt x="49758" y="103188"/>
                  <a:pt x="111125" y="103188"/>
                </a:cubicBezTo>
                <a:cubicBezTo>
                  <a:pt x="172492" y="103188"/>
                  <a:pt x="222250" y="85427"/>
                  <a:pt x="222250" y="63500"/>
                </a:cubicBezTo>
                <a:close/>
                <a:moveTo>
                  <a:pt x="197693" y="193377"/>
                </a:moveTo>
                <a:cubicBezTo>
                  <a:pt x="174427" y="201662"/>
                  <a:pt x="143818" y="206375"/>
                  <a:pt x="111125" y="206375"/>
                </a:cubicBezTo>
                <a:cubicBezTo>
                  <a:pt x="78432" y="206375"/>
                  <a:pt x="47823" y="201662"/>
                  <a:pt x="24557" y="193377"/>
                </a:cubicBezTo>
                <a:cubicBezTo>
                  <a:pt x="15825" y="190252"/>
                  <a:pt x="7342" y="186333"/>
                  <a:pt x="0" y="181471"/>
                </a:cubicBezTo>
                <a:lnTo>
                  <a:pt x="0" y="214313"/>
                </a:lnTo>
                <a:cubicBezTo>
                  <a:pt x="0" y="236240"/>
                  <a:pt x="49758" y="254000"/>
                  <a:pt x="111125" y="254000"/>
                </a:cubicBezTo>
                <a:cubicBezTo>
                  <a:pt x="172492" y="254000"/>
                  <a:pt x="222250" y="236240"/>
                  <a:pt x="222250" y="214313"/>
                </a:cubicBezTo>
                <a:lnTo>
                  <a:pt x="222250" y="181471"/>
                </a:lnTo>
                <a:cubicBezTo>
                  <a:pt x="214908" y="186333"/>
                  <a:pt x="206474" y="190252"/>
                  <a:pt x="197693" y="193377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1193800" y="7073900"/>
            <a:ext cx="10452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存储优化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：RL值[0,2,1] RLE编码为(0,1),(2,1),(1,1)；DL值[2,2,2] RLE编码为(2,3)。通过RLE进一步压缩，减少存储空间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58800"/>
            <a:ext cx="95631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RL与DL计算实例：Name.Language.country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14350" y="1327150"/>
            <a:ext cx="7480300" cy="2959100"/>
          </a:xfrm>
          <a:custGeom>
            <a:avLst/>
            <a:gdLst/>
            <a:ahLst/>
            <a:cxnLst/>
            <a:rect l="l" t="t" r="r" b="b"/>
            <a:pathLst>
              <a:path w="7480300" h="2959100">
                <a:moveTo>
                  <a:pt x="0" y="0"/>
                </a:moveTo>
                <a:lnTo>
                  <a:pt x="7480300" y="0"/>
                </a:lnTo>
                <a:lnTo>
                  <a:pt x="7480300" y="2959100"/>
                </a:lnTo>
                <a:lnTo>
                  <a:pt x="0" y="29591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06450" y="1638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27000" y="254000"/>
                </a:moveTo>
                <a:cubicBezTo>
                  <a:pt x="197093" y="254000"/>
                  <a:pt x="254000" y="197093"/>
                  <a:pt x="254000" y="127000"/>
                </a:cubicBezTo>
                <a:cubicBezTo>
                  <a:pt x="254000" y="56907"/>
                  <a:pt x="197093" y="0"/>
                  <a:pt x="127000" y="0"/>
                </a:cubicBezTo>
                <a:cubicBezTo>
                  <a:pt x="56907" y="0"/>
                  <a:pt x="0" y="56907"/>
                  <a:pt x="0" y="127000"/>
                </a:cubicBezTo>
                <a:cubicBezTo>
                  <a:pt x="0" y="197093"/>
                  <a:pt x="56907" y="254000"/>
                  <a:pt x="127000" y="254000"/>
                </a:cubicBezTo>
                <a:close/>
                <a:moveTo>
                  <a:pt x="111125" y="79375"/>
                </a:moveTo>
                <a:cubicBezTo>
                  <a:pt x="111125" y="70613"/>
                  <a:pt x="118238" y="63500"/>
                  <a:pt x="127000" y="63500"/>
                </a:cubicBezTo>
                <a:cubicBezTo>
                  <a:pt x="135762" y="63500"/>
                  <a:pt x="142875" y="70613"/>
                  <a:pt x="142875" y="79375"/>
                </a:cubicBezTo>
                <a:cubicBezTo>
                  <a:pt x="142875" y="88137"/>
                  <a:pt x="135762" y="95250"/>
                  <a:pt x="127000" y="95250"/>
                </a:cubicBezTo>
                <a:cubicBezTo>
                  <a:pt x="118238" y="95250"/>
                  <a:pt x="111125" y="88137"/>
                  <a:pt x="111125" y="79375"/>
                </a:cubicBezTo>
                <a:close/>
                <a:moveTo>
                  <a:pt x="107156" y="111125"/>
                </a:moveTo>
                <a:lnTo>
                  <a:pt x="130969" y="111125"/>
                </a:lnTo>
                <a:cubicBezTo>
                  <a:pt x="137567" y="111125"/>
                  <a:pt x="142875" y="116433"/>
                  <a:pt x="142875" y="123031"/>
                </a:cubicBezTo>
                <a:lnTo>
                  <a:pt x="142875" y="166688"/>
                </a:lnTo>
                <a:lnTo>
                  <a:pt x="146844" y="166688"/>
                </a:lnTo>
                <a:cubicBezTo>
                  <a:pt x="153442" y="166688"/>
                  <a:pt x="158750" y="171996"/>
                  <a:pt x="158750" y="178594"/>
                </a:cubicBezTo>
                <a:cubicBezTo>
                  <a:pt x="158750" y="185192"/>
                  <a:pt x="153442" y="190500"/>
                  <a:pt x="146844" y="190500"/>
                </a:cubicBezTo>
                <a:lnTo>
                  <a:pt x="107156" y="190500"/>
                </a:lnTo>
                <a:cubicBezTo>
                  <a:pt x="100558" y="190500"/>
                  <a:pt x="95250" y="185192"/>
                  <a:pt x="95250" y="178594"/>
                </a:cubicBezTo>
                <a:cubicBezTo>
                  <a:pt x="95250" y="171996"/>
                  <a:pt x="100558" y="166688"/>
                  <a:pt x="107156" y="166688"/>
                </a:cubicBezTo>
                <a:lnTo>
                  <a:pt x="119063" y="166688"/>
                </a:lnTo>
                <a:lnTo>
                  <a:pt x="119063" y="134938"/>
                </a:lnTo>
                <a:lnTo>
                  <a:pt x="107156" y="134938"/>
                </a:lnTo>
                <a:cubicBezTo>
                  <a:pt x="100558" y="134938"/>
                  <a:pt x="95250" y="129629"/>
                  <a:pt x="95250" y="123031"/>
                </a:cubicBezTo>
                <a:cubicBezTo>
                  <a:pt x="95250" y="116433"/>
                  <a:pt x="100558" y="111125"/>
                  <a:pt x="107156" y="111125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244600" y="1587500"/>
            <a:ext cx="14859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字段路径分析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4700" y="20955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完整路径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：Document.Name.Language.country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4700" y="25019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路径层级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：Document(0) → Name(1) → Language(2) → country(3)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700" y="29083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字段属性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：country为</a:t>
            </a: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可选字段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(optional)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4700" y="33147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数据取值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："us"、缺失、显式null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4700" y="37211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最大DL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：3 (包含可选字段自身)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261350" y="1327150"/>
            <a:ext cx="7480300" cy="2959100"/>
          </a:xfrm>
          <a:custGeom>
            <a:avLst/>
            <a:gdLst/>
            <a:ahLst/>
            <a:cxnLst/>
            <a:rect l="l" t="t" r="r" b="b"/>
            <a:pathLst>
              <a:path w="7480300" h="2959100">
                <a:moveTo>
                  <a:pt x="0" y="0"/>
                </a:moveTo>
                <a:lnTo>
                  <a:pt x="7480300" y="0"/>
                </a:lnTo>
                <a:lnTo>
                  <a:pt x="7480300" y="2959100"/>
                </a:lnTo>
                <a:lnTo>
                  <a:pt x="0" y="29591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8585200" y="16383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31750" y="0"/>
                </a:moveTo>
                <a:cubicBezTo>
                  <a:pt x="14238" y="0"/>
                  <a:pt x="0" y="14238"/>
                  <a:pt x="0" y="31750"/>
                </a:cubicBezTo>
                <a:lnTo>
                  <a:pt x="0" y="222250"/>
                </a:lnTo>
                <a:cubicBezTo>
                  <a:pt x="0" y="239762"/>
                  <a:pt x="14238" y="254000"/>
                  <a:pt x="31750" y="254000"/>
                </a:cubicBezTo>
                <a:lnTo>
                  <a:pt x="158750" y="254000"/>
                </a:lnTo>
                <a:cubicBezTo>
                  <a:pt x="176262" y="254000"/>
                  <a:pt x="190500" y="239762"/>
                  <a:pt x="190500" y="222250"/>
                </a:cubicBezTo>
                <a:lnTo>
                  <a:pt x="190500" y="31750"/>
                </a:lnTo>
                <a:cubicBezTo>
                  <a:pt x="190500" y="14238"/>
                  <a:pt x="176262" y="0"/>
                  <a:pt x="158750" y="0"/>
                </a:cubicBezTo>
                <a:lnTo>
                  <a:pt x="31750" y="0"/>
                </a:lnTo>
                <a:close/>
                <a:moveTo>
                  <a:pt x="47625" y="31750"/>
                </a:moveTo>
                <a:lnTo>
                  <a:pt x="142875" y="31750"/>
                </a:lnTo>
                <a:cubicBezTo>
                  <a:pt x="151656" y="31750"/>
                  <a:pt x="158750" y="38844"/>
                  <a:pt x="158750" y="47625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47625" y="79375"/>
                </a:lnTo>
                <a:cubicBezTo>
                  <a:pt x="38844" y="79375"/>
                  <a:pt x="31750" y="72281"/>
                  <a:pt x="31750" y="63500"/>
                </a:cubicBezTo>
                <a:lnTo>
                  <a:pt x="31750" y="47625"/>
                </a:lnTo>
                <a:cubicBezTo>
                  <a:pt x="31750" y="38844"/>
                  <a:pt x="38844" y="31750"/>
                  <a:pt x="47625" y="31750"/>
                </a:cubicBezTo>
                <a:close/>
                <a:moveTo>
                  <a:pt x="55563" y="115094"/>
                </a:moveTo>
                <a:cubicBezTo>
                  <a:pt x="55563" y="121665"/>
                  <a:pt x="50227" y="127000"/>
                  <a:pt x="43656" y="127000"/>
                </a:cubicBezTo>
                <a:cubicBezTo>
                  <a:pt x="37085" y="127000"/>
                  <a:pt x="31750" y="121665"/>
                  <a:pt x="31750" y="115094"/>
                </a:cubicBezTo>
                <a:cubicBezTo>
                  <a:pt x="31750" y="108523"/>
                  <a:pt x="37085" y="103188"/>
                  <a:pt x="43656" y="103188"/>
                </a:cubicBezTo>
                <a:cubicBezTo>
                  <a:pt x="50227" y="103188"/>
                  <a:pt x="55563" y="108523"/>
                  <a:pt x="55563" y="115094"/>
                </a:cubicBezTo>
                <a:close/>
                <a:moveTo>
                  <a:pt x="95250" y="127000"/>
                </a:moveTo>
                <a:cubicBezTo>
                  <a:pt x="88679" y="127000"/>
                  <a:pt x="83344" y="121665"/>
                  <a:pt x="83344" y="115094"/>
                </a:cubicBezTo>
                <a:cubicBezTo>
                  <a:pt x="83344" y="108523"/>
                  <a:pt x="88679" y="103188"/>
                  <a:pt x="95250" y="103188"/>
                </a:cubicBezTo>
                <a:cubicBezTo>
                  <a:pt x="101821" y="103188"/>
                  <a:pt x="107156" y="108523"/>
                  <a:pt x="107156" y="115094"/>
                </a:cubicBezTo>
                <a:cubicBezTo>
                  <a:pt x="107156" y="121665"/>
                  <a:pt x="101821" y="127000"/>
                  <a:pt x="95250" y="127000"/>
                </a:cubicBezTo>
                <a:close/>
                <a:moveTo>
                  <a:pt x="158750" y="115094"/>
                </a:moveTo>
                <a:cubicBezTo>
                  <a:pt x="158750" y="121665"/>
                  <a:pt x="153415" y="127000"/>
                  <a:pt x="146844" y="127000"/>
                </a:cubicBezTo>
                <a:cubicBezTo>
                  <a:pt x="140273" y="127000"/>
                  <a:pt x="134938" y="121665"/>
                  <a:pt x="134938" y="115094"/>
                </a:cubicBezTo>
                <a:cubicBezTo>
                  <a:pt x="134938" y="108523"/>
                  <a:pt x="140273" y="103188"/>
                  <a:pt x="146844" y="103188"/>
                </a:cubicBezTo>
                <a:cubicBezTo>
                  <a:pt x="153415" y="103188"/>
                  <a:pt x="158750" y="108523"/>
                  <a:pt x="158750" y="115094"/>
                </a:cubicBezTo>
                <a:close/>
                <a:moveTo>
                  <a:pt x="43656" y="174625"/>
                </a:moveTo>
                <a:cubicBezTo>
                  <a:pt x="37085" y="174625"/>
                  <a:pt x="31750" y="169290"/>
                  <a:pt x="31750" y="162719"/>
                </a:cubicBezTo>
                <a:cubicBezTo>
                  <a:pt x="31750" y="156148"/>
                  <a:pt x="37085" y="150813"/>
                  <a:pt x="43656" y="150813"/>
                </a:cubicBezTo>
                <a:cubicBezTo>
                  <a:pt x="50227" y="150813"/>
                  <a:pt x="55563" y="156148"/>
                  <a:pt x="55563" y="162719"/>
                </a:cubicBezTo>
                <a:cubicBezTo>
                  <a:pt x="55563" y="169290"/>
                  <a:pt x="50227" y="174625"/>
                  <a:pt x="43656" y="174625"/>
                </a:cubicBezTo>
                <a:close/>
                <a:moveTo>
                  <a:pt x="107156" y="162719"/>
                </a:moveTo>
                <a:cubicBezTo>
                  <a:pt x="107156" y="169290"/>
                  <a:pt x="101821" y="174625"/>
                  <a:pt x="95250" y="174625"/>
                </a:cubicBezTo>
                <a:cubicBezTo>
                  <a:pt x="88679" y="174625"/>
                  <a:pt x="83344" y="169290"/>
                  <a:pt x="83344" y="162719"/>
                </a:cubicBezTo>
                <a:cubicBezTo>
                  <a:pt x="83344" y="156148"/>
                  <a:pt x="88679" y="150813"/>
                  <a:pt x="95250" y="150813"/>
                </a:cubicBezTo>
                <a:cubicBezTo>
                  <a:pt x="101821" y="150813"/>
                  <a:pt x="107156" y="156148"/>
                  <a:pt x="107156" y="162719"/>
                </a:cubicBezTo>
                <a:close/>
                <a:moveTo>
                  <a:pt x="146844" y="174625"/>
                </a:moveTo>
                <a:cubicBezTo>
                  <a:pt x="140273" y="174625"/>
                  <a:pt x="134938" y="169290"/>
                  <a:pt x="134938" y="162719"/>
                </a:cubicBezTo>
                <a:cubicBezTo>
                  <a:pt x="134938" y="156148"/>
                  <a:pt x="140273" y="150813"/>
                  <a:pt x="146844" y="150813"/>
                </a:cubicBezTo>
                <a:cubicBezTo>
                  <a:pt x="153415" y="150813"/>
                  <a:pt x="158750" y="156148"/>
                  <a:pt x="158750" y="162719"/>
                </a:cubicBezTo>
                <a:cubicBezTo>
                  <a:pt x="158750" y="169290"/>
                  <a:pt x="153415" y="174625"/>
                  <a:pt x="146844" y="174625"/>
                </a:cubicBezTo>
                <a:close/>
                <a:moveTo>
                  <a:pt x="31750" y="210344"/>
                </a:moveTo>
                <a:cubicBezTo>
                  <a:pt x="31750" y="203746"/>
                  <a:pt x="37058" y="198438"/>
                  <a:pt x="43656" y="198438"/>
                </a:cubicBezTo>
                <a:lnTo>
                  <a:pt x="99219" y="198438"/>
                </a:lnTo>
                <a:cubicBezTo>
                  <a:pt x="105817" y="198438"/>
                  <a:pt x="111125" y="203746"/>
                  <a:pt x="111125" y="210344"/>
                </a:cubicBezTo>
                <a:cubicBezTo>
                  <a:pt x="111125" y="216942"/>
                  <a:pt x="105817" y="222250"/>
                  <a:pt x="99219" y="222250"/>
                </a:cubicBezTo>
                <a:lnTo>
                  <a:pt x="43656" y="222250"/>
                </a:lnTo>
                <a:cubicBezTo>
                  <a:pt x="37058" y="222250"/>
                  <a:pt x="31750" y="216942"/>
                  <a:pt x="31750" y="210344"/>
                </a:cubicBezTo>
                <a:close/>
                <a:moveTo>
                  <a:pt x="146844" y="198438"/>
                </a:moveTo>
                <a:cubicBezTo>
                  <a:pt x="153442" y="198438"/>
                  <a:pt x="158750" y="203746"/>
                  <a:pt x="158750" y="210344"/>
                </a:cubicBezTo>
                <a:cubicBezTo>
                  <a:pt x="158750" y="216942"/>
                  <a:pt x="153442" y="222250"/>
                  <a:pt x="146844" y="222250"/>
                </a:cubicBezTo>
                <a:cubicBezTo>
                  <a:pt x="140246" y="222250"/>
                  <a:pt x="134938" y="216942"/>
                  <a:pt x="134938" y="210344"/>
                </a:cubicBezTo>
                <a:cubicBezTo>
                  <a:pt x="134938" y="203746"/>
                  <a:pt x="140246" y="198438"/>
                  <a:pt x="146844" y="198438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8991600" y="1587500"/>
            <a:ext cx="16891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RL/DL计算结果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528050" y="2101850"/>
            <a:ext cx="6946900" cy="1752600"/>
          </a:xfrm>
          <a:custGeom>
            <a:avLst/>
            <a:gdLst/>
            <a:ahLst/>
            <a:cxnLst/>
            <a:rect l="l" t="t" r="r" b="b"/>
            <a:pathLst>
              <a:path w="6946900" h="1752600">
                <a:moveTo>
                  <a:pt x="0" y="0"/>
                </a:moveTo>
                <a:lnTo>
                  <a:pt x="6946900" y="0"/>
                </a:lnTo>
                <a:lnTo>
                  <a:pt x="6946900" y="1752600"/>
                </a:lnTo>
                <a:lnTo>
                  <a:pt x="0" y="17526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534400" y="2108200"/>
          <a:ext cx="6934201" cy="1739900"/>
        </p:xfrm>
        <a:graphic>
          <a:graphicData uri="http://schemas.openxmlformats.org/drawingml/2006/table">
            <a:tbl>
              <a:tblPr/>
              <a:tblGrid>
                <a:gridCol w="12087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24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33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97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497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值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56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RL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56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DL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566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说明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566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"us"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56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0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56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56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完整路径，字段有值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566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缺失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字段未定义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75"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null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56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56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566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字段显式为null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A566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7" name="Shape 14"/>
          <p:cNvSpPr/>
          <p:nvPr/>
        </p:nvSpPr>
        <p:spPr>
          <a:xfrm>
            <a:off x="514350" y="4502150"/>
            <a:ext cx="7480300" cy="2146300"/>
          </a:xfrm>
          <a:custGeom>
            <a:avLst/>
            <a:gdLst/>
            <a:ahLst/>
            <a:cxnLst/>
            <a:rect l="l" t="t" r="r" b="b"/>
            <a:pathLst>
              <a:path w="7480300" h="2146300">
                <a:moveTo>
                  <a:pt x="0" y="0"/>
                </a:moveTo>
                <a:lnTo>
                  <a:pt x="7480300" y="0"/>
                </a:lnTo>
                <a:lnTo>
                  <a:pt x="7480300" y="2146300"/>
                </a:lnTo>
                <a:lnTo>
                  <a:pt x="0" y="21463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5"/>
          <p:cNvSpPr/>
          <p:nvPr/>
        </p:nvSpPr>
        <p:spPr>
          <a:xfrm>
            <a:off x="806450" y="4813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216644" y="37058"/>
                </a:moveTo>
                <a:lnTo>
                  <a:pt x="222250" y="42366"/>
                </a:lnTo>
                <a:lnTo>
                  <a:pt x="222250" y="15875"/>
                </a:lnTo>
                <a:cubicBezTo>
                  <a:pt x="222250" y="7094"/>
                  <a:pt x="229344" y="0"/>
                  <a:pt x="238125" y="0"/>
                </a:cubicBezTo>
                <a:cubicBezTo>
                  <a:pt x="246906" y="0"/>
                  <a:pt x="254000" y="7094"/>
                  <a:pt x="254000" y="15875"/>
                </a:cubicBezTo>
                <a:lnTo>
                  <a:pt x="254000" y="79375"/>
                </a:lnTo>
                <a:cubicBezTo>
                  <a:pt x="254000" y="88156"/>
                  <a:pt x="246906" y="95250"/>
                  <a:pt x="238125" y="95250"/>
                </a:cubicBezTo>
                <a:lnTo>
                  <a:pt x="174625" y="95250"/>
                </a:lnTo>
                <a:cubicBezTo>
                  <a:pt x="165844" y="95250"/>
                  <a:pt x="158750" y="88156"/>
                  <a:pt x="158750" y="79375"/>
                </a:cubicBezTo>
                <a:cubicBezTo>
                  <a:pt x="158750" y="70594"/>
                  <a:pt x="165844" y="63500"/>
                  <a:pt x="174625" y="63500"/>
                </a:cubicBezTo>
                <a:lnTo>
                  <a:pt x="198388" y="63500"/>
                </a:lnTo>
                <a:lnTo>
                  <a:pt x="194618" y="59928"/>
                </a:lnTo>
                <a:cubicBezTo>
                  <a:pt x="194518" y="59829"/>
                  <a:pt x="194419" y="59730"/>
                  <a:pt x="194320" y="59630"/>
                </a:cubicBezTo>
                <a:cubicBezTo>
                  <a:pt x="157113" y="22423"/>
                  <a:pt x="96837" y="22423"/>
                  <a:pt x="59630" y="59630"/>
                </a:cubicBezTo>
                <a:cubicBezTo>
                  <a:pt x="22423" y="96837"/>
                  <a:pt x="22423" y="157113"/>
                  <a:pt x="59630" y="194320"/>
                </a:cubicBezTo>
                <a:cubicBezTo>
                  <a:pt x="96837" y="231527"/>
                  <a:pt x="157113" y="231527"/>
                  <a:pt x="194320" y="194320"/>
                </a:cubicBezTo>
                <a:cubicBezTo>
                  <a:pt x="198388" y="190252"/>
                  <a:pt x="202009" y="185936"/>
                  <a:pt x="205184" y="181372"/>
                </a:cubicBezTo>
                <a:cubicBezTo>
                  <a:pt x="210195" y="174179"/>
                  <a:pt x="220117" y="172442"/>
                  <a:pt x="227310" y="177453"/>
                </a:cubicBezTo>
                <a:cubicBezTo>
                  <a:pt x="234504" y="182463"/>
                  <a:pt x="236240" y="192385"/>
                  <a:pt x="231229" y="199579"/>
                </a:cubicBezTo>
                <a:cubicBezTo>
                  <a:pt x="227012" y="205631"/>
                  <a:pt x="222200" y="211386"/>
                  <a:pt x="216793" y="216793"/>
                </a:cubicBezTo>
                <a:cubicBezTo>
                  <a:pt x="167184" y="266402"/>
                  <a:pt x="86767" y="266402"/>
                  <a:pt x="37207" y="216793"/>
                </a:cubicBezTo>
                <a:cubicBezTo>
                  <a:pt x="-12353" y="167184"/>
                  <a:pt x="-12402" y="86816"/>
                  <a:pt x="37207" y="37207"/>
                </a:cubicBezTo>
                <a:cubicBezTo>
                  <a:pt x="86767" y="-12353"/>
                  <a:pt x="167035" y="-12402"/>
                  <a:pt x="216644" y="37058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6"/>
          <p:cNvSpPr/>
          <p:nvPr/>
        </p:nvSpPr>
        <p:spPr>
          <a:xfrm>
            <a:off x="1244600" y="4762500"/>
            <a:ext cx="1295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RL计算说明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74700" y="52705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RL=0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：新文档开始</a:t>
            </a:r>
            <a:endParaRPr lang="en-US" sz="1600" dirty="0"/>
          </a:p>
        </p:txBody>
      </p:sp>
      <p:sp>
        <p:nvSpPr>
          <p:cNvPr id="16" name="Text 18"/>
          <p:cNvSpPr/>
          <p:nvPr/>
        </p:nvSpPr>
        <p:spPr>
          <a:xfrm>
            <a:off x="774700" y="56769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RL=1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：在Name层级重复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74700" y="60833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RL=2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：在Language层级重复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8261350" y="4502150"/>
            <a:ext cx="7480300" cy="2146300"/>
          </a:xfrm>
          <a:custGeom>
            <a:avLst/>
            <a:gdLst/>
            <a:ahLst/>
            <a:cxnLst/>
            <a:rect l="l" t="t" r="r" b="b"/>
            <a:pathLst>
              <a:path w="7480300" h="2146300">
                <a:moveTo>
                  <a:pt x="0" y="0"/>
                </a:moveTo>
                <a:lnTo>
                  <a:pt x="7480300" y="0"/>
                </a:lnTo>
                <a:lnTo>
                  <a:pt x="7480300" y="2146300"/>
                </a:lnTo>
                <a:lnTo>
                  <a:pt x="0" y="21463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1"/>
          <p:cNvSpPr/>
          <p:nvPr/>
        </p:nvSpPr>
        <p:spPr>
          <a:xfrm>
            <a:off x="8569325" y="48133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215702" y="34776"/>
                </a:moveTo>
                <a:cubicBezTo>
                  <a:pt x="222796" y="39936"/>
                  <a:pt x="224383" y="49857"/>
                  <a:pt x="219224" y="56952"/>
                </a:cubicBezTo>
                <a:lnTo>
                  <a:pt x="92224" y="231577"/>
                </a:lnTo>
                <a:cubicBezTo>
                  <a:pt x="89495" y="235347"/>
                  <a:pt x="85279" y="237679"/>
                  <a:pt x="80615" y="238075"/>
                </a:cubicBezTo>
                <a:cubicBezTo>
                  <a:pt x="75952" y="238472"/>
                  <a:pt x="71438" y="236736"/>
                  <a:pt x="68163" y="233462"/>
                </a:cubicBezTo>
                <a:lnTo>
                  <a:pt x="4663" y="169962"/>
                </a:lnTo>
                <a:cubicBezTo>
                  <a:pt x="-1538" y="163761"/>
                  <a:pt x="-1538" y="153690"/>
                  <a:pt x="4663" y="147489"/>
                </a:cubicBezTo>
                <a:cubicBezTo>
                  <a:pt x="10864" y="141288"/>
                  <a:pt x="20935" y="141288"/>
                  <a:pt x="27136" y="147489"/>
                </a:cubicBezTo>
                <a:lnTo>
                  <a:pt x="77490" y="197842"/>
                </a:lnTo>
                <a:lnTo>
                  <a:pt x="193576" y="38249"/>
                </a:lnTo>
                <a:cubicBezTo>
                  <a:pt x="198735" y="31155"/>
                  <a:pt x="208657" y="29567"/>
                  <a:pt x="215751" y="34727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2"/>
          <p:cNvSpPr/>
          <p:nvPr/>
        </p:nvSpPr>
        <p:spPr>
          <a:xfrm>
            <a:off x="8991600" y="4762500"/>
            <a:ext cx="1320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DL计算说明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521700" y="52705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DL=3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：完整路径存在，字段有值或显式null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521700" y="5676900"/>
            <a:ext cx="7061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DL=2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：路径到Language存在，country字段未定义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521700" y="60833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关键：通过DL区分字段缺失与null值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514350" y="6864350"/>
            <a:ext cx="15227300" cy="723900"/>
          </a:xfrm>
          <a:custGeom>
            <a:avLst/>
            <a:gdLst/>
            <a:ahLst/>
            <a:cxnLst/>
            <a:rect l="l" t="t" r="r" b="b"/>
            <a:pathLst>
              <a:path w="15227300" h="723900">
                <a:moveTo>
                  <a:pt x="0" y="0"/>
                </a:moveTo>
                <a:lnTo>
                  <a:pt x="15227300" y="0"/>
                </a:lnTo>
                <a:lnTo>
                  <a:pt x="152273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7"/>
          <p:cNvSpPr/>
          <p:nvPr/>
        </p:nvSpPr>
        <p:spPr>
          <a:xfrm>
            <a:off x="787400" y="70993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145306" y="190500"/>
                </a:moveTo>
                <a:cubicBezTo>
                  <a:pt x="148927" y="179437"/>
                  <a:pt x="156170" y="169416"/>
                  <a:pt x="164356" y="160784"/>
                </a:cubicBezTo>
                <a:cubicBezTo>
                  <a:pt x="180578" y="143718"/>
                  <a:pt x="190500" y="120650"/>
                  <a:pt x="190500" y="95250"/>
                </a:cubicBezTo>
                <a:cubicBezTo>
                  <a:pt x="190500" y="42664"/>
                  <a:pt x="147836" y="0"/>
                  <a:pt x="95250" y="0"/>
                </a:cubicBezTo>
                <a:cubicBezTo>
                  <a:pt x="42664" y="0"/>
                  <a:pt x="0" y="42664"/>
                  <a:pt x="0" y="95250"/>
                </a:cubicBezTo>
                <a:cubicBezTo>
                  <a:pt x="0" y="120650"/>
                  <a:pt x="9922" y="143718"/>
                  <a:pt x="26144" y="160784"/>
                </a:cubicBezTo>
                <a:cubicBezTo>
                  <a:pt x="34330" y="169416"/>
                  <a:pt x="41622" y="179437"/>
                  <a:pt x="45194" y="190500"/>
                </a:cubicBezTo>
                <a:lnTo>
                  <a:pt x="145256" y="190500"/>
                </a:lnTo>
                <a:close/>
                <a:moveTo>
                  <a:pt x="142875" y="214313"/>
                </a:moveTo>
                <a:lnTo>
                  <a:pt x="47625" y="214313"/>
                </a:lnTo>
                <a:lnTo>
                  <a:pt x="47625" y="222250"/>
                </a:lnTo>
                <a:cubicBezTo>
                  <a:pt x="47625" y="244177"/>
                  <a:pt x="65385" y="261937"/>
                  <a:pt x="87313" y="261937"/>
                </a:cubicBezTo>
                <a:lnTo>
                  <a:pt x="103188" y="261937"/>
                </a:lnTo>
                <a:cubicBezTo>
                  <a:pt x="125115" y="261937"/>
                  <a:pt x="142875" y="244177"/>
                  <a:pt x="142875" y="222250"/>
                </a:cubicBezTo>
                <a:lnTo>
                  <a:pt x="142875" y="214313"/>
                </a:lnTo>
                <a:close/>
                <a:moveTo>
                  <a:pt x="91281" y="55563"/>
                </a:moveTo>
                <a:cubicBezTo>
                  <a:pt x="71537" y="55563"/>
                  <a:pt x="55563" y="71537"/>
                  <a:pt x="55563" y="91281"/>
                </a:cubicBezTo>
                <a:cubicBezTo>
                  <a:pt x="55563" y="97879"/>
                  <a:pt x="50254" y="103188"/>
                  <a:pt x="43656" y="103188"/>
                </a:cubicBezTo>
                <a:cubicBezTo>
                  <a:pt x="37058" y="103188"/>
                  <a:pt x="31750" y="97879"/>
                  <a:pt x="31750" y="91281"/>
                </a:cubicBezTo>
                <a:cubicBezTo>
                  <a:pt x="31750" y="58390"/>
                  <a:pt x="58390" y="31750"/>
                  <a:pt x="91281" y="31750"/>
                </a:cubicBezTo>
                <a:cubicBezTo>
                  <a:pt x="97879" y="31750"/>
                  <a:pt x="103188" y="37058"/>
                  <a:pt x="103188" y="43656"/>
                </a:cubicBezTo>
                <a:cubicBezTo>
                  <a:pt x="103188" y="50254"/>
                  <a:pt x="97879" y="55563"/>
                  <a:pt x="91281" y="55563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8"/>
          <p:cNvSpPr/>
          <p:nvPr/>
        </p:nvSpPr>
        <p:spPr>
          <a:xfrm>
            <a:off x="1193800" y="7073900"/>
            <a:ext cx="12877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设计精妙之处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：通过Definition Level的巧妙设计，Parquet能够精确区分"字段缺失"(DL=2)和"字段为null"(DL=3)两种不同语义，确保数据完整性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dgtlinfra.com/cfa242f9b76d1d485fb6009d9e35650c3b470461.jpg"/>
          <p:cNvPicPr>
            <a:picLocks noChangeAspect="1"/>
          </p:cNvPicPr>
          <p:nvPr/>
        </p:nvPicPr>
        <p:blipFill>
          <a:blip r:embed="rId3">
            <a:alphaModFix amt="25000"/>
          </a:blip>
          <a:srcRect t="7833" b="7833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3D8B8B">
                  <a:alpha val="10000"/>
                </a:srgbClr>
              </a:gs>
              <a:gs pos="100000">
                <a:srgbClr val="1A1D21">
                  <a:alpha val="9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1752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93700" y="1752600"/>
            <a:ext cx="1244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05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727200" y="18542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3175000"/>
            <a:ext cx="66675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高级特性与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优化技术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Text 5"/>
          <p:cNvSpPr/>
          <p:nvPr/>
        </p:nvSpPr>
        <p:spPr>
          <a:xfrm>
            <a:off x="508000" y="5384800"/>
            <a:ext cx="64389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掌握Parquet的编码技术、压缩算法与查询优化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6305550"/>
            <a:ext cx="1943100" cy="1079500"/>
          </a:xfrm>
          <a:custGeom>
            <a:avLst/>
            <a:gdLst/>
            <a:ahLst/>
            <a:cxnLst/>
            <a:rect l="l" t="t" r="r" b="b"/>
            <a:pathLst>
              <a:path w="1943100" h="1079500">
                <a:moveTo>
                  <a:pt x="0" y="0"/>
                </a:moveTo>
                <a:lnTo>
                  <a:pt x="1943100" y="0"/>
                </a:lnTo>
                <a:lnTo>
                  <a:pt x="19431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23900" y="651510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ENCODING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3900" y="68707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编码技术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675830" y="6305550"/>
            <a:ext cx="1943100" cy="1079500"/>
          </a:xfrm>
          <a:custGeom>
            <a:avLst/>
            <a:gdLst/>
            <a:ahLst/>
            <a:cxnLst/>
            <a:rect l="l" t="t" r="r" b="b"/>
            <a:pathLst>
              <a:path w="1943100" h="1079500">
                <a:moveTo>
                  <a:pt x="0" y="0"/>
                </a:moveTo>
                <a:lnTo>
                  <a:pt x="1943100" y="0"/>
                </a:lnTo>
                <a:lnTo>
                  <a:pt x="19431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2885380" y="651510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COMPRESSION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85380" y="68707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压缩算法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837311" y="6305550"/>
            <a:ext cx="1943100" cy="1079500"/>
          </a:xfrm>
          <a:custGeom>
            <a:avLst/>
            <a:gdLst/>
            <a:ahLst/>
            <a:cxnLst/>
            <a:rect l="l" t="t" r="r" b="b"/>
            <a:pathLst>
              <a:path w="1943100" h="1079500">
                <a:moveTo>
                  <a:pt x="0" y="0"/>
                </a:moveTo>
                <a:lnTo>
                  <a:pt x="1943100" y="0"/>
                </a:lnTo>
                <a:lnTo>
                  <a:pt x="19431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5046861" y="6515100"/>
            <a:ext cx="16129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046861" y="6870700"/>
            <a:ext cx="1625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查询优化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7208" y="447208"/>
            <a:ext cx="44721" cy="536649"/>
          </a:xfrm>
          <a:custGeom>
            <a:avLst/>
            <a:gdLst/>
            <a:ahLst/>
            <a:cxnLst/>
            <a:rect l="l" t="t" r="r" b="b"/>
            <a:pathLst>
              <a:path w="44721" h="536649">
                <a:moveTo>
                  <a:pt x="0" y="0"/>
                </a:moveTo>
                <a:lnTo>
                  <a:pt x="44721" y="0"/>
                </a:lnTo>
                <a:lnTo>
                  <a:pt x="44721" y="536649"/>
                </a:lnTo>
                <a:lnTo>
                  <a:pt x="0" y="536649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0812" y="491928"/>
            <a:ext cx="3018652" cy="447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69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编码技术全解析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69568" y="1207461"/>
            <a:ext cx="7546630" cy="3063373"/>
          </a:xfrm>
          <a:custGeom>
            <a:avLst/>
            <a:gdLst/>
            <a:ahLst/>
            <a:cxnLst/>
            <a:rect l="l" t="t" r="r" b="b"/>
            <a:pathLst>
              <a:path w="7546630" h="3063373">
                <a:moveTo>
                  <a:pt x="0" y="0"/>
                </a:moveTo>
                <a:lnTo>
                  <a:pt x="7546630" y="0"/>
                </a:lnTo>
                <a:lnTo>
                  <a:pt x="7546630" y="3063373"/>
                </a:lnTo>
                <a:lnTo>
                  <a:pt x="0" y="3063373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469568" y="1207461"/>
            <a:ext cx="44721" cy="3063373"/>
          </a:xfrm>
          <a:custGeom>
            <a:avLst/>
            <a:gdLst/>
            <a:ahLst/>
            <a:cxnLst/>
            <a:rect l="l" t="t" r="r" b="b"/>
            <a:pathLst>
              <a:path w="44721" h="3063373">
                <a:moveTo>
                  <a:pt x="0" y="0"/>
                </a:moveTo>
                <a:lnTo>
                  <a:pt x="44721" y="0"/>
                </a:lnTo>
                <a:lnTo>
                  <a:pt x="44721" y="3063373"/>
                </a:lnTo>
                <a:lnTo>
                  <a:pt x="0" y="3063373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757458" y="1475785"/>
            <a:ext cx="195653" cy="223604"/>
          </a:xfrm>
          <a:custGeom>
            <a:avLst/>
            <a:gdLst/>
            <a:ahLst/>
            <a:cxnLst/>
            <a:rect l="l" t="t" r="r" b="b"/>
            <a:pathLst>
              <a:path w="195653" h="223604">
                <a:moveTo>
                  <a:pt x="167703" y="223604"/>
                </a:moveTo>
                <a:lnTo>
                  <a:pt x="41926" y="223604"/>
                </a:lnTo>
                <a:cubicBezTo>
                  <a:pt x="18779" y="223604"/>
                  <a:pt x="0" y="204825"/>
                  <a:pt x="0" y="181678"/>
                </a:cubicBezTo>
                <a:lnTo>
                  <a:pt x="0" y="41926"/>
                </a:lnTo>
                <a:cubicBezTo>
                  <a:pt x="0" y="18779"/>
                  <a:pt x="18779" y="0"/>
                  <a:pt x="41926" y="0"/>
                </a:cubicBezTo>
                <a:lnTo>
                  <a:pt x="174691" y="0"/>
                </a:lnTo>
                <a:cubicBezTo>
                  <a:pt x="186264" y="0"/>
                  <a:pt x="195653" y="9390"/>
                  <a:pt x="195653" y="20963"/>
                </a:cubicBezTo>
                <a:lnTo>
                  <a:pt x="195653" y="146740"/>
                </a:lnTo>
                <a:cubicBezTo>
                  <a:pt x="195653" y="155868"/>
                  <a:pt x="189801" y="163641"/>
                  <a:pt x="181678" y="166524"/>
                </a:cubicBezTo>
                <a:lnTo>
                  <a:pt x="181678" y="195653"/>
                </a:lnTo>
                <a:cubicBezTo>
                  <a:pt x="189408" y="195653"/>
                  <a:pt x="195653" y="201899"/>
                  <a:pt x="195653" y="209629"/>
                </a:cubicBezTo>
                <a:cubicBezTo>
                  <a:pt x="195653" y="217359"/>
                  <a:pt x="189408" y="223604"/>
                  <a:pt x="181678" y="223604"/>
                </a:cubicBezTo>
                <a:lnTo>
                  <a:pt x="167703" y="223604"/>
                </a:lnTo>
                <a:close/>
                <a:moveTo>
                  <a:pt x="41926" y="167703"/>
                </a:moveTo>
                <a:cubicBezTo>
                  <a:pt x="34196" y="167703"/>
                  <a:pt x="27950" y="173948"/>
                  <a:pt x="27950" y="181678"/>
                </a:cubicBezTo>
                <a:cubicBezTo>
                  <a:pt x="27950" y="189408"/>
                  <a:pt x="34196" y="195653"/>
                  <a:pt x="41926" y="195653"/>
                </a:cubicBezTo>
                <a:lnTo>
                  <a:pt x="153728" y="195653"/>
                </a:lnTo>
                <a:lnTo>
                  <a:pt x="153728" y="167703"/>
                </a:lnTo>
                <a:lnTo>
                  <a:pt x="41926" y="167703"/>
                </a:lnTo>
                <a:close/>
                <a:moveTo>
                  <a:pt x="55901" y="66382"/>
                </a:moveTo>
                <a:cubicBezTo>
                  <a:pt x="55901" y="72191"/>
                  <a:pt x="60574" y="76864"/>
                  <a:pt x="66382" y="76864"/>
                </a:cubicBezTo>
                <a:lnTo>
                  <a:pt x="143246" y="76864"/>
                </a:lnTo>
                <a:cubicBezTo>
                  <a:pt x="149055" y="76864"/>
                  <a:pt x="153728" y="72191"/>
                  <a:pt x="153728" y="66382"/>
                </a:cubicBezTo>
                <a:cubicBezTo>
                  <a:pt x="153728" y="60574"/>
                  <a:pt x="149055" y="55901"/>
                  <a:pt x="143246" y="55901"/>
                </a:cubicBezTo>
                <a:lnTo>
                  <a:pt x="66382" y="55901"/>
                </a:lnTo>
                <a:cubicBezTo>
                  <a:pt x="60574" y="55901"/>
                  <a:pt x="55901" y="60574"/>
                  <a:pt x="55901" y="66382"/>
                </a:cubicBezTo>
                <a:close/>
                <a:moveTo>
                  <a:pt x="66382" y="97827"/>
                </a:moveTo>
                <a:cubicBezTo>
                  <a:pt x="60574" y="97827"/>
                  <a:pt x="55901" y="102500"/>
                  <a:pt x="55901" y="108308"/>
                </a:cubicBezTo>
                <a:cubicBezTo>
                  <a:pt x="55901" y="114117"/>
                  <a:pt x="60574" y="118790"/>
                  <a:pt x="66382" y="118790"/>
                </a:cubicBezTo>
                <a:lnTo>
                  <a:pt x="143246" y="118790"/>
                </a:lnTo>
                <a:cubicBezTo>
                  <a:pt x="149055" y="118790"/>
                  <a:pt x="153728" y="114117"/>
                  <a:pt x="153728" y="108308"/>
                </a:cubicBezTo>
                <a:cubicBezTo>
                  <a:pt x="153728" y="102500"/>
                  <a:pt x="149055" y="97827"/>
                  <a:pt x="143246" y="97827"/>
                </a:cubicBezTo>
                <a:lnTo>
                  <a:pt x="66382" y="97827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129199" y="1431065"/>
            <a:ext cx="1006217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字典编码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15532" y="1922993"/>
            <a:ext cx="7155323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工作原理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21122" y="2241629"/>
            <a:ext cx="7065882" cy="1173920"/>
          </a:xfrm>
          <a:custGeom>
            <a:avLst/>
            <a:gdLst/>
            <a:ahLst/>
            <a:cxnLst/>
            <a:rect l="l" t="t" r="r" b="b"/>
            <a:pathLst>
              <a:path w="7065882" h="1173920">
                <a:moveTo>
                  <a:pt x="0" y="0"/>
                </a:moveTo>
                <a:lnTo>
                  <a:pt x="7065882" y="0"/>
                </a:lnTo>
                <a:lnTo>
                  <a:pt x="7065882" y="1173920"/>
                </a:lnTo>
                <a:lnTo>
                  <a:pt x="0" y="117392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860875" y="2381381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原始: ["北京", "上海", "北京", "广州"]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0875" y="2604985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字典: {0:"北京", 1:"上海", 2:"广州"}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0875" y="2828589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编码: [0, 1, 0, 2]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0875" y="3052193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效果: 36B → 24B (33%)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15532" y="3555301"/>
            <a:ext cx="7155323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15532" y="3823626"/>
            <a:ext cx="7155323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地区、部门、状态码等重复性高的字符串数据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63385" y="1207461"/>
            <a:ext cx="7546630" cy="3063373"/>
          </a:xfrm>
          <a:custGeom>
            <a:avLst/>
            <a:gdLst/>
            <a:ahLst/>
            <a:cxnLst/>
            <a:rect l="l" t="t" r="r" b="b"/>
            <a:pathLst>
              <a:path w="7546630" h="3063373">
                <a:moveTo>
                  <a:pt x="0" y="0"/>
                </a:moveTo>
                <a:lnTo>
                  <a:pt x="7546630" y="0"/>
                </a:lnTo>
                <a:lnTo>
                  <a:pt x="7546630" y="3063373"/>
                </a:lnTo>
                <a:lnTo>
                  <a:pt x="0" y="3063373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8263385" y="1207461"/>
            <a:ext cx="44721" cy="3063373"/>
          </a:xfrm>
          <a:custGeom>
            <a:avLst/>
            <a:gdLst/>
            <a:ahLst/>
            <a:cxnLst/>
            <a:rect l="l" t="t" r="r" b="b"/>
            <a:pathLst>
              <a:path w="44721" h="3063373">
                <a:moveTo>
                  <a:pt x="0" y="0"/>
                </a:moveTo>
                <a:lnTo>
                  <a:pt x="44721" y="0"/>
                </a:lnTo>
                <a:lnTo>
                  <a:pt x="44721" y="3063373"/>
                </a:lnTo>
                <a:lnTo>
                  <a:pt x="0" y="3063373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8537300" y="1475785"/>
            <a:ext cx="223604" cy="223604"/>
          </a:xfrm>
          <a:custGeom>
            <a:avLst/>
            <a:gdLst/>
            <a:ahLst/>
            <a:cxnLst/>
            <a:rect l="l" t="t" r="r" b="b"/>
            <a:pathLst>
              <a:path w="223604" h="223604">
                <a:moveTo>
                  <a:pt x="27950" y="41926"/>
                </a:moveTo>
                <a:cubicBezTo>
                  <a:pt x="27950" y="34196"/>
                  <a:pt x="34196" y="27950"/>
                  <a:pt x="41926" y="27950"/>
                </a:cubicBezTo>
                <a:lnTo>
                  <a:pt x="111802" y="27950"/>
                </a:lnTo>
                <a:cubicBezTo>
                  <a:pt x="119532" y="27950"/>
                  <a:pt x="125777" y="34196"/>
                  <a:pt x="125777" y="41926"/>
                </a:cubicBezTo>
                <a:lnTo>
                  <a:pt x="125777" y="167703"/>
                </a:lnTo>
                <a:lnTo>
                  <a:pt x="167703" y="167703"/>
                </a:lnTo>
                <a:lnTo>
                  <a:pt x="167703" y="111802"/>
                </a:lnTo>
                <a:cubicBezTo>
                  <a:pt x="167703" y="104072"/>
                  <a:pt x="173948" y="97827"/>
                  <a:pt x="181678" y="97827"/>
                </a:cubicBezTo>
                <a:lnTo>
                  <a:pt x="209629" y="97827"/>
                </a:lnTo>
                <a:cubicBezTo>
                  <a:pt x="217359" y="97827"/>
                  <a:pt x="223604" y="104072"/>
                  <a:pt x="223604" y="111802"/>
                </a:cubicBezTo>
                <a:cubicBezTo>
                  <a:pt x="223604" y="119532"/>
                  <a:pt x="217359" y="125777"/>
                  <a:pt x="209629" y="125777"/>
                </a:cubicBezTo>
                <a:lnTo>
                  <a:pt x="195653" y="125777"/>
                </a:lnTo>
                <a:lnTo>
                  <a:pt x="195653" y="181678"/>
                </a:lnTo>
                <a:cubicBezTo>
                  <a:pt x="195653" y="189408"/>
                  <a:pt x="189408" y="195653"/>
                  <a:pt x="181678" y="195653"/>
                </a:cubicBezTo>
                <a:lnTo>
                  <a:pt x="111802" y="195653"/>
                </a:lnTo>
                <a:cubicBezTo>
                  <a:pt x="104072" y="195653"/>
                  <a:pt x="97827" y="189408"/>
                  <a:pt x="97827" y="181678"/>
                </a:cubicBezTo>
                <a:lnTo>
                  <a:pt x="97827" y="55901"/>
                </a:lnTo>
                <a:lnTo>
                  <a:pt x="55901" y="55901"/>
                </a:lnTo>
                <a:lnTo>
                  <a:pt x="55901" y="111802"/>
                </a:lnTo>
                <a:cubicBezTo>
                  <a:pt x="55901" y="119532"/>
                  <a:pt x="49656" y="125777"/>
                  <a:pt x="41926" y="125777"/>
                </a:cubicBezTo>
                <a:lnTo>
                  <a:pt x="13975" y="125777"/>
                </a:lnTo>
                <a:cubicBezTo>
                  <a:pt x="6245" y="125777"/>
                  <a:pt x="0" y="119532"/>
                  <a:pt x="0" y="111802"/>
                </a:cubicBezTo>
                <a:cubicBezTo>
                  <a:pt x="0" y="104072"/>
                  <a:pt x="6245" y="97827"/>
                  <a:pt x="13975" y="97827"/>
                </a:cubicBezTo>
                <a:lnTo>
                  <a:pt x="27950" y="97827"/>
                </a:lnTo>
                <a:lnTo>
                  <a:pt x="27950" y="41926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923017" y="1431065"/>
            <a:ext cx="961497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RLE编码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09349" y="1922993"/>
            <a:ext cx="7155323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工作原理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514939" y="2241629"/>
            <a:ext cx="7065882" cy="950316"/>
          </a:xfrm>
          <a:custGeom>
            <a:avLst/>
            <a:gdLst/>
            <a:ahLst/>
            <a:cxnLst/>
            <a:rect l="l" t="t" r="r" b="b"/>
            <a:pathLst>
              <a:path w="7065882" h="950316">
                <a:moveTo>
                  <a:pt x="0" y="0"/>
                </a:moveTo>
                <a:lnTo>
                  <a:pt x="7065882" y="0"/>
                </a:lnTo>
                <a:lnTo>
                  <a:pt x="7065882" y="950316"/>
                </a:lnTo>
                <a:lnTo>
                  <a:pt x="0" y="950316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654692" y="2381381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原始: [25,25,25,30,30,35,35,35,35]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654692" y="2604985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RLE: [(25,3), (30,2), (35,4)]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654692" y="2828589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解码: 25重复3次，30重复2次...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09349" y="3331697"/>
            <a:ext cx="7155323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应用场景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09349" y="3600022"/>
            <a:ext cx="7155323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RL/DL编码、布尔值列、重复性高的数据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9568" y="4494437"/>
            <a:ext cx="7546630" cy="3063373"/>
          </a:xfrm>
          <a:custGeom>
            <a:avLst/>
            <a:gdLst/>
            <a:ahLst/>
            <a:cxnLst/>
            <a:rect l="l" t="t" r="r" b="b"/>
            <a:pathLst>
              <a:path w="7546630" h="3063373">
                <a:moveTo>
                  <a:pt x="0" y="0"/>
                </a:moveTo>
                <a:lnTo>
                  <a:pt x="7546630" y="0"/>
                </a:lnTo>
                <a:lnTo>
                  <a:pt x="7546630" y="3063373"/>
                </a:lnTo>
                <a:lnTo>
                  <a:pt x="0" y="3063373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6"/>
          <p:cNvSpPr/>
          <p:nvPr/>
        </p:nvSpPr>
        <p:spPr>
          <a:xfrm>
            <a:off x="469568" y="4494437"/>
            <a:ext cx="44721" cy="3063373"/>
          </a:xfrm>
          <a:custGeom>
            <a:avLst/>
            <a:gdLst/>
            <a:ahLst/>
            <a:cxnLst/>
            <a:rect l="l" t="t" r="r" b="b"/>
            <a:pathLst>
              <a:path w="44721" h="3063373">
                <a:moveTo>
                  <a:pt x="0" y="0"/>
                </a:moveTo>
                <a:lnTo>
                  <a:pt x="44721" y="0"/>
                </a:lnTo>
                <a:lnTo>
                  <a:pt x="44721" y="3063373"/>
                </a:lnTo>
                <a:lnTo>
                  <a:pt x="0" y="3063373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743483" y="4762762"/>
            <a:ext cx="223604" cy="223604"/>
          </a:xfrm>
          <a:custGeom>
            <a:avLst/>
            <a:gdLst/>
            <a:ahLst/>
            <a:cxnLst/>
            <a:rect l="l" t="t" r="r" b="b"/>
            <a:pathLst>
              <a:path w="223604" h="223604">
                <a:moveTo>
                  <a:pt x="27950" y="27950"/>
                </a:moveTo>
                <a:cubicBezTo>
                  <a:pt x="27950" y="20220"/>
                  <a:pt x="21705" y="13975"/>
                  <a:pt x="13975" y="13975"/>
                </a:cubicBezTo>
                <a:cubicBezTo>
                  <a:pt x="6245" y="13975"/>
                  <a:pt x="0" y="20220"/>
                  <a:pt x="0" y="27950"/>
                </a:cubicBezTo>
                <a:lnTo>
                  <a:pt x="0" y="174691"/>
                </a:lnTo>
                <a:cubicBezTo>
                  <a:pt x="0" y="193994"/>
                  <a:pt x="15635" y="209629"/>
                  <a:pt x="34938" y="209629"/>
                </a:cubicBezTo>
                <a:lnTo>
                  <a:pt x="209629" y="209629"/>
                </a:lnTo>
                <a:cubicBezTo>
                  <a:pt x="217359" y="209629"/>
                  <a:pt x="223604" y="203383"/>
                  <a:pt x="223604" y="195653"/>
                </a:cubicBezTo>
                <a:cubicBezTo>
                  <a:pt x="223604" y="187923"/>
                  <a:pt x="217359" y="181678"/>
                  <a:pt x="209629" y="181678"/>
                </a:cubicBezTo>
                <a:lnTo>
                  <a:pt x="34938" y="181678"/>
                </a:lnTo>
                <a:cubicBezTo>
                  <a:pt x="31095" y="181678"/>
                  <a:pt x="27950" y="178534"/>
                  <a:pt x="27950" y="174691"/>
                </a:cubicBezTo>
                <a:lnTo>
                  <a:pt x="27950" y="27950"/>
                </a:lnTo>
                <a:close/>
                <a:moveTo>
                  <a:pt x="205523" y="65771"/>
                </a:moveTo>
                <a:cubicBezTo>
                  <a:pt x="210982" y="60312"/>
                  <a:pt x="210982" y="51446"/>
                  <a:pt x="205523" y="45987"/>
                </a:cubicBezTo>
                <a:cubicBezTo>
                  <a:pt x="200064" y="40528"/>
                  <a:pt x="191199" y="40528"/>
                  <a:pt x="185740" y="45987"/>
                </a:cubicBezTo>
                <a:lnTo>
                  <a:pt x="139752" y="92018"/>
                </a:lnTo>
                <a:lnTo>
                  <a:pt x="114684" y="66994"/>
                </a:lnTo>
                <a:cubicBezTo>
                  <a:pt x="109225" y="61535"/>
                  <a:pt x="100360" y="61535"/>
                  <a:pt x="94901" y="66994"/>
                </a:cubicBezTo>
                <a:lnTo>
                  <a:pt x="52975" y="108920"/>
                </a:lnTo>
                <a:cubicBezTo>
                  <a:pt x="47516" y="114379"/>
                  <a:pt x="47516" y="123244"/>
                  <a:pt x="52975" y="128703"/>
                </a:cubicBezTo>
                <a:cubicBezTo>
                  <a:pt x="58434" y="134162"/>
                  <a:pt x="67300" y="134162"/>
                  <a:pt x="72759" y="128703"/>
                </a:cubicBezTo>
                <a:lnTo>
                  <a:pt x="104814" y="96648"/>
                </a:lnTo>
                <a:lnTo>
                  <a:pt x="129882" y="121716"/>
                </a:lnTo>
                <a:cubicBezTo>
                  <a:pt x="135341" y="127175"/>
                  <a:pt x="144207" y="127175"/>
                  <a:pt x="149666" y="121716"/>
                </a:cubicBezTo>
                <a:lnTo>
                  <a:pt x="205567" y="65815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1129199" y="4718041"/>
            <a:ext cx="1106839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Delta编码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5532" y="5209970"/>
            <a:ext cx="7155323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工作原理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721122" y="5528605"/>
            <a:ext cx="7065882" cy="1173920"/>
          </a:xfrm>
          <a:custGeom>
            <a:avLst/>
            <a:gdLst/>
            <a:ahLst/>
            <a:cxnLst/>
            <a:rect l="l" t="t" r="r" b="b"/>
            <a:pathLst>
              <a:path w="7065882" h="1173920">
                <a:moveTo>
                  <a:pt x="0" y="0"/>
                </a:moveTo>
                <a:lnTo>
                  <a:pt x="7065882" y="0"/>
                </a:lnTo>
                <a:lnTo>
                  <a:pt x="7065882" y="1173920"/>
                </a:lnTo>
                <a:lnTo>
                  <a:pt x="0" y="117392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860875" y="5668358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原始: [1000,1001,1003,1006,1010,1015]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60875" y="5891961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Delta: [1000,1,2,3,4,5]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60875" y="6115565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解码: 1000, 1000+1=1001, 1001+2=1003...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60875" y="6339169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效果: 24B → 18B (25%)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5532" y="6842278"/>
            <a:ext cx="7155323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15532" y="7110602"/>
            <a:ext cx="7155323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时间戳序列、自增ID、有序数值数据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8263385" y="4494437"/>
            <a:ext cx="7546630" cy="3063373"/>
          </a:xfrm>
          <a:custGeom>
            <a:avLst/>
            <a:gdLst/>
            <a:ahLst/>
            <a:cxnLst/>
            <a:rect l="l" t="t" r="r" b="b"/>
            <a:pathLst>
              <a:path w="7546630" h="3063373">
                <a:moveTo>
                  <a:pt x="0" y="0"/>
                </a:moveTo>
                <a:lnTo>
                  <a:pt x="7546630" y="0"/>
                </a:lnTo>
                <a:lnTo>
                  <a:pt x="7546630" y="3063373"/>
                </a:lnTo>
                <a:lnTo>
                  <a:pt x="0" y="3063373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8263385" y="4494437"/>
            <a:ext cx="44721" cy="3063373"/>
          </a:xfrm>
          <a:custGeom>
            <a:avLst/>
            <a:gdLst/>
            <a:ahLst/>
            <a:cxnLst/>
            <a:rect l="l" t="t" r="r" b="b"/>
            <a:pathLst>
              <a:path w="44721" h="3063373">
                <a:moveTo>
                  <a:pt x="0" y="0"/>
                </a:moveTo>
                <a:lnTo>
                  <a:pt x="44721" y="0"/>
                </a:lnTo>
                <a:lnTo>
                  <a:pt x="44721" y="3063373"/>
                </a:lnTo>
                <a:lnTo>
                  <a:pt x="0" y="3063373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8537300" y="4762762"/>
            <a:ext cx="223604" cy="223604"/>
          </a:xfrm>
          <a:custGeom>
            <a:avLst/>
            <a:gdLst/>
            <a:ahLst/>
            <a:cxnLst/>
            <a:rect l="l" t="t" r="r" b="b"/>
            <a:pathLst>
              <a:path w="223604" h="223604">
                <a:moveTo>
                  <a:pt x="199147" y="97827"/>
                </a:moveTo>
                <a:lnTo>
                  <a:pt x="136259" y="97827"/>
                </a:lnTo>
                <a:cubicBezTo>
                  <a:pt x="130450" y="97827"/>
                  <a:pt x="125777" y="93154"/>
                  <a:pt x="125777" y="87345"/>
                </a:cubicBezTo>
                <a:lnTo>
                  <a:pt x="125777" y="24457"/>
                </a:lnTo>
                <a:cubicBezTo>
                  <a:pt x="125777" y="20220"/>
                  <a:pt x="128310" y="16377"/>
                  <a:pt x="132241" y="14761"/>
                </a:cubicBezTo>
                <a:cubicBezTo>
                  <a:pt x="136171" y="13145"/>
                  <a:pt x="140670" y="14063"/>
                  <a:pt x="143683" y="17032"/>
                </a:cubicBezTo>
                <a:lnTo>
                  <a:pt x="161152" y="34501"/>
                </a:lnTo>
                <a:lnTo>
                  <a:pt x="193208" y="2446"/>
                </a:lnTo>
                <a:cubicBezTo>
                  <a:pt x="194780" y="873"/>
                  <a:pt x="196920" y="0"/>
                  <a:pt x="199147" y="0"/>
                </a:cubicBezTo>
                <a:cubicBezTo>
                  <a:pt x="201374" y="0"/>
                  <a:pt x="203514" y="873"/>
                  <a:pt x="205130" y="2489"/>
                </a:cubicBezTo>
                <a:lnTo>
                  <a:pt x="221158" y="18517"/>
                </a:lnTo>
                <a:cubicBezTo>
                  <a:pt x="222730" y="20089"/>
                  <a:pt x="223604" y="22229"/>
                  <a:pt x="223604" y="24457"/>
                </a:cubicBezTo>
                <a:cubicBezTo>
                  <a:pt x="223604" y="26684"/>
                  <a:pt x="222730" y="28824"/>
                  <a:pt x="221115" y="30440"/>
                </a:cubicBezTo>
                <a:lnTo>
                  <a:pt x="189102" y="62452"/>
                </a:lnTo>
                <a:lnTo>
                  <a:pt x="206572" y="79921"/>
                </a:lnTo>
                <a:cubicBezTo>
                  <a:pt x="209585" y="82934"/>
                  <a:pt x="210458" y="87433"/>
                  <a:pt x="208843" y="91363"/>
                </a:cubicBezTo>
                <a:cubicBezTo>
                  <a:pt x="207227" y="95294"/>
                  <a:pt x="203383" y="97827"/>
                  <a:pt x="199147" y="97827"/>
                </a:cubicBezTo>
                <a:close/>
                <a:moveTo>
                  <a:pt x="199147" y="125777"/>
                </a:moveTo>
                <a:cubicBezTo>
                  <a:pt x="203383" y="125777"/>
                  <a:pt x="207227" y="128310"/>
                  <a:pt x="208843" y="132241"/>
                </a:cubicBezTo>
                <a:cubicBezTo>
                  <a:pt x="210458" y="136171"/>
                  <a:pt x="209585" y="140670"/>
                  <a:pt x="206572" y="143683"/>
                </a:cubicBezTo>
                <a:lnTo>
                  <a:pt x="189102" y="161152"/>
                </a:lnTo>
                <a:lnTo>
                  <a:pt x="221158" y="193208"/>
                </a:lnTo>
                <a:cubicBezTo>
                  <a:pt x="222730" y="194780"/>
                  <a:pt x="223648" y="196920"/>
                  <a:pt x="223648" y="199191"/>
                </a:cubicBezTo>
                <a:cubicBezTo>
                  <a:pt x="223648" y="201462"/>
                  <a:pt x="222774" y="203558"/>
                  <a:pt x="221158" y="205174"/>
                </a:cubicBezTo>
                <a:lnTo>
                  <a:pt x="205130" y="221202"/>
                </a:lnTo>
                <a:cubicBezTo>
                  <a:pt x="203514" y="222730"/>
                  <a:pt x="201374" y="223604"/>
                  <a:pt x="199147" y="223604"/>
                </a:cubicBezTo>
                <a:cubicBezTo>
                  <a:pt x="196920" y="223604"/>
                  <a:pt x="194780" y="222730"/>
                  <a:pt x="193164" y="221115"/>
                </a:cubicBezTo>
                <a:lnTo>
                  <a:pt x="161152" y="189102"/>
                </a:lnTo>
                <a:lnTo>
                  <a:pt x="143683" y="206572"/>
                </a:lnTo>
                <a:cubicBezTo>
                  <a:pt x="140670" y="209585"/>
                  <a:pt x="136171" y="210458"/>
                  <a:pt x="132241" y="208843"/>
                </a:cubicBezTo>
                <a:cubicBezTo>
                  <a:pt x="128310" y="207227"/>
                  <a:pt x="125777" y="203383"/>
                  <a:pt x="125777" y="199147"/>
                </a:cubicBezTo>
                <a:lnTo>
                  <a:pt x="125777" y="136259"/>
                </a:lnTo>
                <a:cubicBezTo>
                  <a:pt x="125777" y="130450"/>
                  <a:pt x="130450" y="125777"/>
                  <a:pt x="136259" y="125777"/>
                </a:cubicBezTo>
                <a:lnTo>
                  <a:pt x="199147" y="125777"/>
                </a:lnTo>
                <a:close/>
                <a:moveTo>
                  <a:pt x="87345" y="125777"/>
                </a:moveTo>
                <a:cubicBezTo>
                  <a:pt x="93154" y="125777"/>
                  <a:pt x="97827" y="130450"/>
                  <a:pt x="97827" y="136259"/>
                </a:cubicBezTo>
                <a:lnTo>
                  <a:pt x="97827" y="199147"/>
                </a:lnTo>
                <a:cubicBezTo>
                  <a:pt x="97827" y="203383"/>
                  <a:pt x="95294" y="207227"/>
                  <a:pt x="91363" y="208843"/>
                </a:cubicBezTo>
                <a:cubicBezTo>
                  <a:pt x="87433" y="210458"/>
                  <a:pt x="82934" y="209585"/>
                  <a:pt x="79921" y="206572"/>
                </a:cubicBezTo>
                <a:lnTo>
                  <a:pt x="62452" y="189102"/>
                </a:lnTo>
                <a:lnTo>
                  <a:pt x="30396" y="221158"/>
                </a:lnTo>
                <a:cubicBezTo>
                  <a:pt x="28824" y="222730"/>
                  <a:pt x="26684" y="223604"/>
                  <a:pt x="24457" y="223604"/>
                </a:cubicBezTo>
                <a:cubicBezTo>
                  <a:pt x="22229" y="223604"/>
                  <a:pt x="20089" y="222730"/>
                  <a:pt x="18474" y="221115"/>
                </a:cubicBezTo>
                <a:lnTo>
                  <a:pt x="2489" y="205130"/>
                </a:lnTo>
                <a:cubicBezTo>
                  <a:pt x="873" y="203514"/>
                  <a:pt x="0" y="201374"/>
                  <a:pt x="0" y="199147"/>
                </a:cubicBezTo>
                <a:cubicBezTo>
                  <a:pt x="0" y="196920"/>
                  <a:pt x="873" y="194780"/>
                  <a:pt x="2489" y="193164"/>
                </a:cubicBezTo>
                <a:lnTo>
                  <a:pt x="34501" y="161152"/>
                </a:lnTo>
                <a:lnTo>
                  <a:pt x="17032" y="143683"/>
                </a:lnTo>
                <a:cubicBezTo>
                  <a:pt x="14019" y="140670"/>
                  <a:pt x="13145" y="136171"/>
                  <a:pt x="14761" y="132241"/>
                </a:cubicBezTo>
                <a:cubicBezTo>
                  <a:pt x="16377" y="128310"/>
                  <a:pt x="20220" y="125777"/>
                  <a:pt x="24457" y="125777"/>
                </a:cubicBezTo>
                <a:lnTo>
                  <a:pt x="87345" y="125777"/>
                </a:lnTo>
                <a:close/>
                <a:moveTo>
                  <a:pt x="24457" y="97827"/>
                </a:moveTo>
                <a:cubicBezTo>
                  <a:pt x="20220" y="97827"/>
                  <a:pt x="16377" y="95294"/>
                  <a:pt x="14761" y="91363"/>
                </a:cubicBezTo>
                <a:cubicBezTo>
                  <a:pt x="13145" y="87433"/>
                  <a:pt x="14063" y="82934"/>
                  <a:pt x="17032" y="79921"/>
                </a:cubicBezTo>
                <a:lnTo>
                  <a:pt x="34501" y="62452"/>
                </a:lnTo>
                <a:lnTo>
                  <a:pt x="2489" y="30440"/>
                </a:lnTo>
                <a:cubicBezTo>
                  <a:pt x="873" y="28824"/>
                  <a:pt x="0" y="26684"/>
                  <a:pt x="0" y="24457"/>
                </a:cubicBezTo>
                <a:cubicBezTo>
                  <a:pt x="0" y="22229"/>
                  <a:pt x="873" y="20089"/>
                  <a:pt x="2489" y="18474"/>
                </a:cubicBezTo>
                <a:lnTo>
                  <a:pt x="18474" y="2489"/>
                </a:lnTo>
                <a:cubicBezTo>
                  <a:pt x="20089" y="873"/>
                  <a:pt x="22229" y="0"/>
                  <a:pt x="24457" y="0"/>
                </a:cubicBezTo>
                <a:cubicBezTo>
                  <a:pt x="26684" y="0"/>
                  <a:pt x="28824" y="873"/>
                  <a:pt x="30440" y="2489"/>
                </a:cubicBezTo>
                <a:lnTo>
                  <a:pt x="62452" y="34501"/>
                </a:lnTo>
                <a:lnTo>
                  <a:pt x="79921" y="17032"/>
                </a:lnTo>
                <a:cubicBezTo>
                  <a:pt x="82934" y="14019"/>
                  <a:pt x="87433" y="13145"/>
                  <a:pt x="91363" y="14761"/>
                </a:cubicBezTo>
                <a:cubicBezTo>
                  <a:pt x="95294" y="16377"/>
                  <a:pt x="97827" y="20220"/>
                  <a:pt x="97827" y="24457"/>
                </a:cubicBezTo>
                <a:lnTo>
                  <a:pt x="97827" y="87345"/>
                </a:lnTo>
                <a:cubicBezTo>
                  <a:pt x="97827" y="93154"/>
                  <a:pt x="93154" y="97827"/>
                  <a:pt x="87345" y="97827"/>
                </a:cubicBezTo>
                <a:lnTo>
                  <a:pt x="24457" y="97827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8923017" y="4718041"/>
            <a:ext cx="1263362" cy="313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1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Bit Packing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09349" y="5209970"/>
            <a:ext cx="7155323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工作原理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514939" y="5528605"/>
            <a:ext cx="7065882" cy="1173920"/>
          </a:xfrm>
          <a:custGeom>
            <a:avLst/>
            <a:gdLst/>
            <a:ahLst/>
            <a:cxnLst/>
            <a:rect l="l" t="t" r="r" b="b"/>
            <a:pathLst>
              <a:path w="7065882" h="1173920">
                <a:moveTo>
                  <a:pt x="0" y="0"/>
                </a:moveTo>
                <a:lnTo>
                  <a:pt x="7065882" y="0"/>
                </a:lnTo>
                <a:lnTo>
                  <a:pt x="7065882" y="1173920"/>
                </a:lnTo>
                <a:lnTo>
                  <a:pt x="0" y="117392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8654692" y="5668358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原始: [3,5,2,7,1,4,6,0] (all &lt; 8)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54692" y="5891961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打包: 0xE5, 0x31, 0x64, 0x00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654692" y="6115565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3D8B8B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每字节存2-3个值，3位表示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8654692" y="6339169"/>
            <a:ext cx="6864638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效果: 8B → 4B (50%)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509349" y="6842278"/>
            <a:ext cx="7155323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适用场景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8509349" y="7110602"/>
            <a:ext cx="7155323" cy="2236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小范围整数值、枚举类型、位标志字段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52798" y="7787004"/>
            <a:ext cx="15350404" cy="637271"/>
          </a:xfrm>
          <a:custGeom>
            <a:avLst/>
            <a:gdLst/>
            <a:ahLst/>
            <a:cxnLst/>
            <a:rect l="l" t="t" r="r" b="b"/>
            <a:pathLst>
              <a:path w="15350404" h="637271">
                <a:moveTo>
                  <a:pt x="0" y="0"/>
                </a:moveTo>
                <a:lnTo>
                  <a:pt x="15350404" y="0"/>
                </a:lnTo>
                <a:lnTo>
                  <a:pt x="15350404" y="637271"/>
                </a:lnTo>
                <a:lnTo>
                  <a:pt x="0" y="637271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Shape 50"/>
          <p:cNvSpPr/>
          <p:nvPr/>
        </p:nvSpPr>
        <p:spPr>
          <a:xfrm>
            <a:off x="693172" y="7993838"/>
            <a:ext cx="167703" cy="223604"/>
          </a:xfrm>
          <a:custGeom>
            <a:avLst/>
            <a:gdLst/>
            <a:ahLst/>
            <a:cxnLst/>
            <a:rect l="l" t="t" r="r" b="b"/>
            <a:pathLst>
              <a:path w="167703" h="223604">
                <a:moveTo>
                  <a:pt x="127917" y="167703"/>
                </a:moveTo>
                <a:cubicBezTo>
                  <a:pt x="131105" y="157964"/>
                  <a:pt x="137481" y="149142"/>
                  <a:pt x="144687" y="141543"/>
                </a:cubicBezTo>
                <a:cubicBezTo>
                  <a:pt x="158968" y="126520"/>
                  <a:pt x="167703" y="106212"/>
                  <a:pt x="167703" y="83851"/>
                </a:cubicBezTo>
                <a:cubicBezTo>
                  <a:pt x="167703" y="37558"/>
                  <a:pt x="130144" y="0"/>
                  <a:pt x="83851" y="0"/>
                </a:cubicBezTo>
                <a:cubicBezTo>
                  <a:pt x="37558" y="0"/>
                  <a:pt x="0" y="37558"/>
                  <a:pt x="0" y="83851"/>
                </a:cubicBezTo>
                <a:cubicBezTo>
                  <a:pt x="0" y="106212"/>
                  <a:pt x="8735" y="126520"/>
                  <a:pt x="23015" y="141543"/>
                </a:cubicBezTo>
                <a:cubicBezTo>
                  <a:pt x="30221" y="149142"/>
                  <a:pt x="36641" y="157964"/>
                  <a:pt x="39786" y="167703"/>
                </a:cubicBezTo>
                <a:lnTo>
                  <a:pt x="127873" y="167703"/>
                </a:lnTo>
                <a:close/>
                <a:moveTo>
                  <a:pt x="125777" y="188666"/>
                </a:moveTo>
                <a:lnTo>
                  <a:pt x="41926" y="188666"/>
                </a:lnTo>
                <a:lnTo>
                  <a:pt x="41926" y="195653"/>
                </a:lnTo>
                <a:cubicBezTo>
                  <a:pt x="41926" y="214957"/>
                  <a:pt x="57561" y="230591"/>
                  <a:pt x="76864" y="230591"/>
                </a:cubicBezTo>
                <a:lnTo>
                  <a:pt x="90839" y="230591"/>
                </a:lnTo>
                <a:cubicBezTo>
                  <a:pt x="110142" y="230591"/>
                  <a:pt x="125777" y="214957"/>
                  <a:pt x="125777" y="195653"/>
                </a:cubicBezTo>
                <a:lnTo>
                  <a:pt x="125777" y="188666"/>
                </a:lnTo>
                <a:close/>
                <a:moveTo>
                  <a:pt x="80358" y="48913"/>
                </a:moveTo>
                <a:cubicBezTo>
                  <a:pt x="62976" y="48913"/>
                  <a:pt x="48913" y="62976"/>
                  <a:pt x="48913" y="80358"/>
                </a:cubicBezTo>
                <a:cubicBezTo>
                  <a:pt x="48913" y="86166"/>
                  <a:pt x="44240" y="90839"/>
                  <a:pt x="38432" y="90839"/>
                </a:cubicBezTo>
                <a:cubicBezTo>
                  <a:pt x="32623" y="90839"/>
                  <a:pt x="27950" y="86166"/>
                  <a:pt x="27950" y="80358"/>
                </a:cubicBezTo>
                <a:cubicBezTo>
                  <a:pt x="27950" y="51403"/>
                  <a:pt x="51403" y="27950"/>
                  <a:pt x="80358" y="27950"/>
                </a:cubicBezTo>
                <a:cubicBezTo>
                  <a:pt x="86166" y="27950"/>
                  <a:pt x="90839" y="32623"/>
                  <a:pt x="90839" y="38432"/>
                </a:cubicBezTo>
                <a:cubicBezTo>
                  <a:pt x="90839" y="44240"/>
                  <a:pt x="86166" y="48913"/>
                  <a:pt x="80358" y="48913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1050938" y="7971477"/>
            <a:ext cx="14210025" cy="268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9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编码选择策略</a:t>
            </a:r>
            <a:r>
              <a:rPr lang="en-US" sz="140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：Parquet根据数据特征自动选择最优编码方式，也可手动配置。字典编码适合重复数据，Delta编码适合有序数据，Bit Packing适合小整数，RLE适合高重复性数据。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4453" y="504453"/>
            <a:ext cx="50445" cy="605344"/>
          </a:xfrm>
          <a:custGeom>
            <a:avLst/>
            <a:gdLst/>
            <a:ahLst/>
            <a:cxnLst/>
            <a:rect l="l" t="t" r="r" b="b"/>
            <a:pathLst>
              <a:path w="50445" h="605344">
                <a:moveTo>
                  <a:pt x="0" y="0"/>
                </a:moveTo>
                <a:lnTo>
                  <a:pt x="50445" y="0"/>
                </a:lnTo>
                <a:lnTo>
                  <a:pt x="50445" y="605344"/>
                </a:lnTo>
                <a:lnTo>
                  <a:pt x="0" y="605344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56680" y="554898"/>
            <a:ext cx="4313074" cy="5044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75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压缩算法对比与选择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0759" y="1368329"/>
            <a:ext cx="15234483" cy="3480726"/>
          </a:xfrm>
          <a:custGeom>
            <a:avLst/>
            <a:gdLst/>
            <a:ahLst/>
            <a:cxnLst/>
            <a:rect l="l" t="t" r="r" b="b"/>
            <a:pathLst>
              <a:path w="15234483" h="3480726">
                <a:moveTo>
                  <a:pt x="0" y="0"/>
                </a:moveTo>
                <a:lnTo>
                  <a:pt x="15234483" y="0"/>
                </a:lnTo>
                <a:lnTo>
                  <a:pt x="15234483" y="3480726"/>
                </a:lnTo>
                <a:lnTo>
                  <a:pt x="0" y="3480726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17064" y="1374635"/>
          <a:ext cx="15221873" cy="3468114"/>
        </p:xfrm>
        <a:graphic>
          <a:graphicData uri="http://schemas.openxmlformats.org/drawingml/2006/table">
            <a:tbl>
              <a:tblPr/>
              <a:tblGrid>
                <a:gridCol w="2473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8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3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387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817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8019"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压缩算法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压缩比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压缩速度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解压速度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 u="none" dirty="0">
                          <a:solidFill>
                            <a:srgbClr val="D9A56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适用场景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3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019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3D8B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SNAPPY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 (1.5-2.5x)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非常快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非常快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实时查询，低延迟场景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8019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3D8B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GZIP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 (4-8x)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存储敏感，归档数据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8019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3D8B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ZSTD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高 (3-6x)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通用推荐，平衡性能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8019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3D8B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LZ4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 (2-3x)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极快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极快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内存敏感，实时处理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019">
                <a:tc>
                  <a:txBody>
                    <a:bodyPr/>
                    <a:lstStyle/>
                    <a:p>
                      <a:r>
                        <a:rPr lang="en-US" sz="1300" b="1" u="none" dirty="0">
                          <a:solidFill>
                            <a:srgbClr val="3D8B8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BROTLI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很高 (5-9x)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慢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中等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u="none" dirty="0">
                          <a:solidFill>
                            <a:srgbClr val="E0E2E6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极致压缩，静态数据</a:t>
                      </a:r>
                      <a:endParaRPr lang="en-US" sz="13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8B8B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10759" y="5113893"/>
            <a:ext cx="4905806" cy="2534877"/>
          </a:xfrm>
          <a:custGeom>
            <a:avLst/>
            <a:gdLst/>
            <a:ahLst/>
            <a:cxnLst/>
            <a:rect l="l" t="t" r="r" b="b"/>
            <a:pathLst>
              <a:path w="4905806" h="2534877">
                <a:moveTo>
                  <a:pt x="0" y="0"/>
                </a:moveTo>
                <a:lnTo>
                  <a:pt x="4905806" y="0"/>
                </a:lnTo>
                <a:lnTo>
                  <a:pt x="4905806" y="2534877"/>
                </a:lnTo>
                <a:lnTo>
                  <a:pt x="0" y="2534877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4"/>
          <p:cNvSpPr/>
          <p:nvPr/>
        </p:nvSpPr>
        <p:spPr>
          <a:xfrm>
            <a:off x="800819" y="5422870"/>
            <a:ext cx="252227" cy="252227"/>
          </a:xfrm>
          <a:custGeom>
            <a:avLst/>
            <a:gdLst/>
            <a:ahLst/>
            <a:cxnLst/>
            <a:rect l="l" t="t" r="r" b="b"/>
            <a:pathLst>
              <a:path w="252227" h="252227">
                <a:moveTo>
                  <a:pt x="0" y="126113"/>
                </a:moveTo>
                <a:cubicBezTo>
                  <a:pt x="0" y="56509"/>
                  <a:pt x="56509" y="0"/>
                  <a:pt x="126113" y="0"/>
                </a:cubicBezTo>
                <a:cubicBezTo>
                  <a:pt x="195717" y="0"/>
                  <a:pt x="252227" y="56509"/>
                  <a:pt x="252227" y="126113"/>
                </a:cubicBezTo>
                <a:cubicBezTo>
                  <a:pt x="252227" y="195717"/>
                  <a:pt x="195717" y="252227"/>
                  <a:pt x="126113" y="252227"/>
                </a:cubicBezTo>
                <a:cubicBezTo>
                  <a:pt x="56509" y="252227"/>
                  <a:pt x="0" y="195717"/>
                  <a:pt x="0" y="126113"/>
                </a:cubicBezTo>
                <a:close/>
                <a:moveTo>
                  <a:pt x="141877" y="47292"/>
                </a:moveTo>
                <a:cubicBezTo>
                  <a:pt x="141877" y="38592"/>
                  <a:pt x="134814" y="31528"/>
                  <a:pt x="126113" y="31528"/>
                </a:cubicBezTo>
                <a:cubicBezTo>
                  <a:pt x="117413" y="31528"/>
                  <a:pt x="110349" y="38592"/>
                  <a:pt x="110349" y="47292"/>
                </a:cubicBezTo>
                <a:cubicBezTo>
                  <a:pt x="110349" y="55993"/>
                  <a:pt x="117413" y="63057"/>
                  <a:pt x="126113" y="63057"/>
                </a:cubicBezTo>
                <a:cubicBezTo>
                  <a:pt x="134814" y="63057"/>
                  <a:pt x="141877" y="55993"/>
                  <a:pt x="141877" y="47292"/>
                </a:cubicBezTo>
                <a:close/>
                <a:moveTo>
                  <a:pt x="126113" y="204934"/>
                </a:moveTo>
                <a:cubicBezTo>
                  <a:pt x="143503" y="204934"/>
                  <a:pt x="157642" y="190796"/>
                  <a:pt x="157642" y="173406"/>
                </a:cubicBezTo>
                <a:cubicBezTo>
                  <a:pt x="157642" y="165425"/>
                  <a:pt x="154686" y="158085"/>
                  <a:pt x="149760" y="152567"/>
                </a:cubicBezTo>
                <a:lnTo>
                  <a:pt x="183997" y="84141"/>
                </a:lnTo>
                <a:cubicBezTo>
                  <a:pt x="186904" y="78279"/>
                  <a:pt x="184539" y="71185"/>
                  <a:pt x="178726" y="68279"/>
                </a:cubicBezTo>
                <a:cubicBezTo>
                  <a:pt x="172913" y="65372"/>
                  <a:pt x="165770" y="67737"/>
                  <a:pt x="162863" y="73550"/>
                </a:cubicBezTo>
                <a:lnTo>
                  <a:pt x="128626" y="141976"/>
                </a:lnTo>
                <a:cubicBezTo>
                  <a:pt x="127788" y="141927"/>
                  <a:pt x="126951" y="141877"/>
                  <a:pt x="126113" y="141877"/>
                </a:cubicBezTo>
                <a:cubicBezTo>
                  <a:pt x="108723" y="141877"/>
                  <a:pt x="94585" y="156016"/>
                  <a:pt x="94585" y="173406"/>
                </a:cubicBezTo>
                <a:cubicBezTo>
                  <a:pt x="94585" y="190796"/>
                  <a:pt x="108723" y="204934"/>
                  <a:pt x="126113" y="204934"/>
                </a:cubicBezTo>
                <a:close/>
                <a:moveTo>
                  <a:pt x="86703" y="70939"/>
                </a:moveTo>
                <a:cubicBezTo>
                  <a:pt x="86703" y="62238"/>
                  <a:pt x="79639" y="55175"/>
                  <a:pt x="70939" y="55175"/>
                </a:cubicBezTo>
                <a:cubicBezTo>
                  <a:pt x="62238" y="55175"/>
                  <a:pt x="55175" y="62238"/>
                  <a:pt x="55175" y="70939"/>
                </a:cubicBezTo>
                <a:cubicBezTo>
                  <a:pt x="55175" y="79639"/>
                  <a:pt x="62238" y="86703"/>
                  <a:pt x="70939" y="86703"/>
                </a:cubicBezTo>
                <a:cubicBezTo>
                  <a:pt x="79639" y="86703"/>
                  <a:pt x="86703" y="79639"/>
                  <a:pt x="86703" y="70939"/>
                </a:cubicBezTo>
                <a:close/>
                <a:moveTo>
                  <a:pt x="47292" y="141877"/>
                </a:moveTo>
                <a:cubicBezTo>
                  <a:pt x="55993" y="141877"/>
                  <a:pt x="63057" y="134814"/>
                  <a:pt x="63057" y="126113"/>
                </a:cubicBezTo>
                <a:cubicBezTo>
                  <a:pt x="63057" y="117413"/>
                  <a:pt x="55993" y="110349"/>
                  <a:pt x="47292" y="110349"/>
                </a:cubicBezTo>
                <a:cubicBezTo>
                  <a:pt x="38592" y="110349"/>
                  <a:pt x="31528" y="117413"/>
                  <a:pt x="31528" y="126113"/>
                </a:cubicBezTo>
                <a:cubicBezTo>
                  <a:pt x="31528" y="134814"/>
                  <a:pt x="38592" y="141877"/>
                  <a:pt x="47292" y="141877"/>
                </a:cubicBezTo>
                <a:close/>
                <a:moveTo>
                  <a:pt x="220698" y="126113"/>
                </a:moveTo>
                <a:cubicBezTo>
                  <a:pt x="220698" y="117413"/>
                  <a:pt x="213635" y="110349"/>
                  <a:pt x="204934" y="110349"/>
                </a:cubicBezTo>
                <a:cubicBezTo>
                  <a:pt x="196234" y="110349"/>
                  <a:pt x="189170" y="117413"/>
                  <a:pt x="189170" y="126113"/>
                </a:cubicBezTo>
                <a:cubicBezTo>
                  <a:pt x="189170" y="134814"/>
                  <a:pt x="196234" y="141877"/>
                  <a:pt x="204934" y="141877"/>
                </a:cubicBezTo>
                <a:cubicBezTo>
                  <a:pt x="213635" y="141877"/>
                  <a:pt x="220698" y="134814"/>
                  <a:pt x="220698" y="126113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1235910" y="5372425"/>
            <a:ext cx="1475525" cy="353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性能优先场景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9291" y="5876878"/>
            <a:ext cx="4489632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9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实时查询</a:t>
            </a: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：SNAPPY或LZ4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9291" y="6280441"/>
            <a:ext cx="4489632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9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低延迟要求</a:t>
            </a: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：LZ4最快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69291" y="6684003"/>
            <a:ext cx="4489632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9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内存敏感</a:t>
            </a: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：LZ4或SNAPPY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69291" y="7087566"/>
            <a:ext cx="4489632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9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高频读取</a:t>
            </a: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：解压速度优先考虑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676673" y="5113893"/>
            <a:ext cx="4905806" cy="2534877"/>
          </a:xfrm>
          <a:custGeom>
            <a:avLst/>
            <a:gdLst/>
            <a:ahLst/>
            <a:cxnLst/>
            <a:rect l="l" t="t" r="r" b="b"/>
            <a:pathLst>
              <a:path w="4905806" h="2534877">
                <a:moveTo>
                  <a:pt x="0" y="0"/>
                </a:moveTo>
                <a:lnTo>
                  <a:pt x="4905806" y="0"/>
                </a:lnTo>
                <a:lnTo>
                  <a:pt x="4905806" y="2534877"/>
                </a:lnTo>
                <a:lnTo>
                  <a:pt x="0" y="2534877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5982498" y="5422870"/>
            <a:ext cx="220698" cy="252227"/>
          </a:xfrm>
          <a:custGeom>
            <a:avLst/>
            <a:gdLst/>
            <a:ahLst/>
            <a:cxnLst/>
            <a:rect l="l" t="t" r="r" b="b"/>
            <a:pathLst>
              <a:path w="220698" h="252227">
                <a:moveTo>
                  <a:pt x="220698" y="101383"/>
                </a:moveTo>
                <a:cubicBezTo>
                  <a:pt x="213407" y="106211"/>
                  <a:pt x="205033" y="110103"/>
                  <a:pt x="196313" y="113206"/>
                </a:cubicBezTo>
                <a:cubicBezTo>
                  <a:pt x="173159" y="121483"/>
                  <a:pt x="142764" y="126113"/>
                  <a:pt x="110349" y="126113"/>
                </a:cubicBezTo>
                <a:cubicBezTo>
                  <a:pt x="77934" y="126113"/>
                  <a:pt x="47490" y="121433"/>
                  <a:pt x="24385" y="113206"/>
                </a:cubicBezTo>
                <a:cubicBezTo>
                  <a:pt x="15715" y="110103"/>
                  <a:pt x="7291" y="106211"/>
                  <a:pt x="0" y="101383"/>
                </a:cubicBezTo>
                <a:lnTo>
                  <a:pt x="0" y="141877"/>
                </a:lnTo>
                <a:cubicBezTo>
                  <a:pt x="0" y="163652"/>
                  <a:pt x="49411" y="181288"/>
                  <a:pt x="110349" y="181288"/>
                </a:cubicBezTo>
                <a:cubicBezTo>
                  <a:pt x="171287" y="181288"/>
                  <a:pt x="220698" y="163652"/>
                  <a:pt x="220698" y="141877"/>
                </a:cubicBezTo>
                <a:lnTo>
                  <a:pt x="220698" y="101383"/>
                </a:lnTo>
                <a:close/>
                <a:moveTo>
                  <a:pt x="220698" y="63057"/>
                </a:moveTo>
                <a:lnTo>
                  <a:pt x="220698" y="39410"/>
                </a:lnTo>
                <a:cubicBezTo>
                  <a:pt x="220698" y="17636"/>
                  <a:pt x="171287" y="0"/>
                  <a:pt x="110349" y="0"/>
                </a:cubicBezTo>
                <a:cubicBezTo>
                  <a:pt x="49411" y="0"/>
                  <a:pt x="0" y="17636"/>
                  <a:pt x="0" y="39410"/>
                </a:cubicBezTo>
                <a:lnTo>
                  <a:pt x="0" y="63057"/>
                </a:lnTo>
                <a:cubicBezTo>
                  <a:pt x="0" y="84831"/>
                  <a:pt x="49411" y="102467"/>
                  <a:pt x="110349" y="102467"/>
                </a:cubicBezTo>
                <a:cubicBezTo>
                  <a:pt x="171287" y="102467"/>
                  <a:pt x="220698" y="84831"/>
                  <a:pt x="220698" y="63057"/>
                </a:cubicBezTo>
                <a:close/>
                <a:moveTo>
                  <a:pt x="196313" y="192027"/>
                </a:moveTo>
                <a:cubicBezTo>
                  <a:pt x="173209" y="200254"/>
                  <a:pt x="142813" y="204934"/>
                  <a:pt x="110349" y="204934"/>
                </a:cubicBezTo>
                <a:cubicBezTo>
                  <a:pt x="77885" y="204934"/>
                  <a:pt x="47490" y="200254"/>
                  <a:pt x="24385" y="192027"/>
                </a:cubicBezTo>
                <a:cubicBezTo>
                  <a:pt x="15715" y="188924"/>
                  <a:pt x="7291" y="185032"/>
                  <a:pt x="0" y="180204"/>
                </a:cubicBezTo>
                <a:lnTo>
                  <a:pt x="0" y="212816"/>
                </a:lnTo>
                <a:cubicBezTo>
                  <a:pt x="0" y="234590"/>
                  <a:pt x="49411" y="252227"/>
                  <a:pt x="110349" y="252227"/>
                </a:cubicBezTo>
                <a:cubicBezTo>
                  <a:pt x="171287" y="252227"/>
                  <a:pt x="220698" y="234590"/>
                  <a:pt x="220698" y="212816"/>
                </a:cubicBezTo>
                <a:lnTo>
                  <a:pt x="220698" y="180204"/>
                </a:lnTo>
                <a:cubicBezTo>
                  <a:pt x="213407" y="185032"/>
                  <a:pt x="205033" y="188924"/>
                  <a:pt x="196313" y="192027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6401825" y="5372425"/>
            <a:ext cx="1475525" cy="353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存储优先场景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935206" y="5876878"/>
            <a:ext cx="4489632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9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归档数据</a:t>
            </a: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：GZIP或BROTLI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935206" y="6280441"/>
            <a:ext cx="4489632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9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存储敏感</a:t>
            </a: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：BROTLI压缩比最高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935206" y="6684003"/>
            <a:ext cx="4489632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9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冷数据</a:t>
            </a: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：压缩比优先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935206" y="7087566"/>
            <a:ext cx="4489632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9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备份恢复</a:t>
            </a: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：GZIP通用性好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842588" y="5113893"/>
            <a:ext cx="4905806" cy="2534877"/>
          </a:xfrm>
          <a:custGeom>
            <a:avLst/>
            <a:gdLst/>
            <a:ahLst/>
            <a:cxnLst/>
            <a:rect l="l" t="t" r="r" b="b"/>
            <a:pathLst>
              <a:path w="4905806" h="2534877">
                <a:moveTo>
                  <a:pt x="0" y="0"/>
                </a:moveTo>
                <a:lnTo>
                  <a:pt x="4905806" y="0"/>
                </a:lnTo>
                <a:lnTo>
                  <a:pt x="4905806" y="2534877"/>
                </a:lnTo>
                <a:lnTo>
                  <a:pt x="0" y="2534877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8"/>
          <p:cNvSpPr/>
          <p:nvPr/>
        </p:nvSpPr>
        <p:spPr>
          <a:xfrm>
            <a:off x="11101120" y="5422870"/>
            <a:ext cx="315283" cy="252227"/>
          </a:xfrm>
          <a:custGeom>
            <a:avLst/>
            <a:gdLst/>
            <a:ahLst/>
            <a:cxnLst/>
            <a:rect l="l" t="t" r="r" b="b"/>
            <a:pathLst>
              <a:path w="315283" h="252227">
                <a:moveTo>
                  <a:pt x="189170" y="15764"/>
                </a:moveTo>
                <a:lnTo>
                  <a:pt x="252227" y="15764"/>
                </a:lnTo>
                <a:cubicBezTo>
                  <a:pt x="260946" y="15764"/>
                  <a:pt x="267991" y="22809"/>
                  <a:pt x="267991" y="31528"/>
                </a:cubicBezTo>
                <a:cubicBezTo>
                  <a:pt x="267991" y="40248"/>
                  <a:pt x="260946" y="47292"/>
                  <a:pt x="252227" y="47292"/>
                </a:cubicBezTo>
                <a:lnTo>
                  <a:pt x="196264" y="47292"/>
                </a:lnTo>
                <a:cubicBezTo>
                  <a:pt x="193702" y="60002"/>
                  <a:pt x="184983" y="70495"/>
                  <a:pt x="173406" y="75520"/>
                </a:cubicBezTo>
                <a:lnTo>
                  <a:pt x="173406" y="220698"/>
                </a:lnTo>
                <a:lnTo>
                  <a:pt x="252227" y="220698"/>
                </a:lnTo>
                <a:cubicBezTo>
                  <a:pt x="260946" y="220698"/>
                  <a:pt x="267991" y="227743"/>
                  <a:pt x="267991" y="236462"/>
                </a:cubicBezTo>
                <a:cubicBezTo>
                  <a:pt x="267991" y="245182"/>
                  <a:pt x="260946" y="252227"/>
                  <a:pt x="252227" y="252227"/>
                </a:cubicBezTo>
                <a:lnTo>
                  <a:pt x="63057" y="252227"/>
                </a:lnTo>
                <a:cubicBezTo>
                  <a:pt x="54337" y="252227"/>
                  <a:pt x="47292" y="245182"/>
                  <a:pt x="47292" y="236462"/>
                </a:cubicBezTo>
                <a:cubicBezTo>
                  <a:pt x="47292" y="227743"/>
                  <a:pt x="54337" y="220698"/>
                  <a:pt x="63057" y="220698"/>
                </a:cubicBezTo>
                <a:lnTo>
                  <a:pt x="141877" y="220698"/>
                </a:lnTo>
                <a:lnTo>
                  <a:pt x="141877" y="75520"/>
                </a:lnTo>
                <a:cubicBezTo>
                  <a:pt x="130301" y="70446"/>
                  <a:pt x="121581" y="59953"/>
                  <a:pt x="119019" y="47292"/>
                </a:cubicBezTo>
                <a:lnTo>
                  <a:pt x="63057" y="47292"/>
                </a:lnTo>
                <a:cubicBezTo>
                  <a:pt x="54337" y="47292"/>
                  <a:pt x="47292" y="40248"/>
                  <a:pt x="47292" y="31528"/>
                </a:cubicBezTo>
                <a:cubicBezTo>
                  <a:pt x="47292" y="22809"/>
                  <a:pt x="54337" y="15764"/>
                  <a:pt x="63057" y="15764"/>
                </a:cubicBezTo>
                <a:lnTo>
                  <a:pt x="126113" y="15764"/>
                </a:lnTo>
                <a:cubicBezTo>
                  <a:pt x="133306" y="6207"/>
                  <a:pt x="144735" y="0"/>
                  <a:pt x="157642" y="0"/>
                </a:cubicBezTo>
                <a:cubicBezTo>
                  <a:pt x="170548" y="0"/>
                  <a:pt x="181978" y="6207"/>
                  <a:pt x="189170" y="15764"/>
                </a:cubicBezTo>
                <a:close/>
                <a:moveTo>
                  <a:pt x="216560" y="157642"/>
                </a:moveTo>
                <a:lnTo>
                  <a:pt x="287893" y="157642"/>
                </a:lnTo>
                <a:lnTo>
                  <a:pt x="252227" y="96457"/>
                </a:lnTo>
                <a:lnTo>
                  <a:pt x="216560" y="157642"/>
                </a:lnTo>
                <a:close/>
                <a:moveTo>
                  <a:pt x="252227" y="204934"/>
                </a:moveTo>
                <a:cubicBezTo>
                  <a:pt x="221240" y="204934"/>
                  <a:pt x="195476" y="188185"/>
                  <a:pt x="190155" y="166066"/>
                </a:cubicBezTo>
                <a:cubicBezTo>
                  <a:pt x="188874" y="160647"/>
                  <a:pt x="190648" y="155080"/>
                  <a:pt x="193456" y="150252"/>
                </a:cubicBezTo>
                <a:lnTo>
                  <a:pt x="240354" y="69855"/>
                </a:lnTo>
                <a:cubicBezTo>
                  <a:pt x="242817" y="65618"/>
                  <a:pt x="247349" y="63057"/>
                  <a:pt x="252227" y="63057"/>
                </a:cubicBezTo>
                <a:cubicBezTo>
                  <a:pt x="257104" y="63057"/>
                  <a:pt x="261636" y="65668"/>
                  <a:pt x="264099" y="69855"/>
                </a:cubicBezTo>
                <a:lnTo>
                  <a:pt x="310997" y="150252"/>
                </a:lnTo>
                <a:cubicBezTo>
                  <a:pt x="313805" y="155080"/>
                  <a:pt x="315579" y="160647"/>
                  <a:pt x="314298" y="166066"/>
                </a:cubicBezTo>
                <a:cubicBezTo>
                  <a:pt x="308978" y="188135"/>
                  <a:pt x="283213" y="204934"/>
                  <a:pt x="252227" y="204934"/>
                </a:cubicBezTo>
                <a:close/>
                <a:moveTo>
                  <a:pt x="62465" y="96457"/>
                </a:moveTo>
                <a:lnTo>
                  <a:pt x="26799" y="157642"/>
                </a:lnTo>
                <a:lnTo>
                  <a:pt x="98181" y="157642"/>
                </a:lnTo>
                <a:lnTo>
                  <a:pt x="62465" y="96457"/>
                </a:lnTo>
                <a:close/>
                <a:moveTo>
                  <a:pt x="443" y="166066"/>
                </a:moveTo>
                <a:cubicBezTo>
                  <a:pt x="-837" y="160647"/>
                  <a:pt x="936" y="155080"/>
                  <a:pt x="3744" y="150252"/>
                </a:cubicBezTo>
                <a:lnTo>
                  <a:pt x="50642" y="69855"/>
                </a:lnTo>
                <a:cubicBezTo>
                  <a:pt x="53106" y="65618"/>
                  <a:pt x="57638" y="63057"/>
                  <a:pt x="62515" y="63057"/>
                </a:cubicBezTo>
                <a:cubicBezTo>
                  <a:pt x="67392" y="63057"/>
                  <a:pt x="71924" y="65668"/>
                  <a:pt x="74387" y="69855"/>
                </a:cubicBezTo>
                <a:lnTo>
                  <a:pt x="121285" y="150252"/>
                </a:lnTo>
                <a:cubicBezTo>
                  <a:pt x="124093" y="155080"/>
                  <a:pt x="125867" y="160647"/>
                  <a:pt x="124586" y="166066"/>
                </a:cubicBezTo>
                <a:cubicBezTo>
                  <a:pt x="119266" y="188135"/>
                  <a:pt x="93501" y="204934"/>
                  <a:pt x="62515" y="204934"/>
                </a:cubicBezTo>
                <a:cubicBezTo>
                  <a:pt x="31528" y="204934"/>
                  <a:pt x="5764" y="188185"/>
                  <a:pt x="443" y="166066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11567739" y="5372425"/>
            <a:ext cx="1021517" cy="3531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87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平衡场景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1101120" y="5876878"/>
            <a:ext cx="4489632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9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通用推荐</a:t>
            </a: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：ZSTD</a:t>
            </a:r>
            <a:endParaRPr lang="en-US" sz="1600" dirty="0"/>
          </a:p>
        </p:txBody>
      </p:sp>
      <p:sp>
        <p:nvSpPr>
          <p:cNvPr id="5" name="Text 21"/>
          <p:cNvSpPr/>
          <p:nvPr/>
        </p:nvSpPr>
        <p:spPr>
          <a:xfrm>
            <a:off x="11101120" y="6280441"/>
            <a:ext cx="4489632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9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综合性能</a:t>
            </a: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：高压缩比+快速度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101120" y="6684003"/>
            <a:ext cx="4489632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9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生产环境</a:t>
            </a: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：大多数场景适用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101120" y="7087566"/>
            <a:ext cx="4489632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589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默认选择</a:t>
            </a: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：Spark/Hive默认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10759" y="7913607"/>
            <a:ext cx="15234483" cy="718846"/>
          </a:xfrm>
          <a:custGeom>
            <a:avLst/>
            <a:gdLst/>
            <a:ahLst/>
            <a:cxnLst/>
            <a:rect l="l" t="t" r="r" b="b"/>
            <a:pathLst>
              <a:path w="15234483" h="718846">
                <a:moveTo>
                  <a:pt x="0" y="0"/>
                </a:moveTo>
                <a:lnTo>
                  <a:pt x="15234483" y="0"/>
                </a:lnTo>
                <a:lnTo>
                  <a:pt x="15234483" y="718846"/>
                </a:lnTo>
                <a:lnTo>
                  <a:pt x="0" y="718846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Shape 25"/>
          <p:cNvSpPr/>
          <p:nvPr/>
        </p:nvSpPr>
        <p:spPr>
          <a:xfrm>
            <a:off x="781902" y="8146917"/>
            <a:ext cx="189170" cy="252227"/>
          </a:xfrm>
          <a:custGeom>
            <a:avLst/>
            <a:gdLst/>
            <a:ahLst/>
            <a:cxnLst/>
            <a:rect l="l" t="t" r="r" b="b"/>
            <a:pathLst>
              <a:path w="189170" h="252227">
                <a:moveTo>
                  <a:pt x="144291" y="189170"/>
                </a:moveTo>
                <a:cubicBezTo>
                  <a:pt x="147888" y="178184"/>
                  <a:pt x="155080" y="168233"/>
                  <a:pt x="163208" y="159661"/>
                </a:cubicBezTo>
                <a:cubicBezTo>
                  <a:pt x="179317" y="142715"/>
                  <a:pt x="189170" y="119808"/>
                  <a:pt x="189170" y="94585"/>
                </a:cubicBezTo>
                <a:cubicBezTo>
                  <a:pt x="189170" y="42366"/>
                  <a:pt x="146804" y="0"/>
                  <a:pt x="94585" y="0"/>
                </a:cubicBezTo>
                <a:cubicBezTo>
                  <a:pt x="42366" y="0"/>
                  <a:pt x="0" y="42366"/>
                  <a:pt x="0" y="94585"/>
                </a:cubicBezTo>
                <a:cubicBezTo>
                  <a:pt x="0" y="119808"/>
                  <a:pt x="9853" y="142715"/>
                  <a:pt x="25962" y="159661"/>
                </a:cubicBezTo>
                <a:cubicBezTo>
                  <a:pt x="34090" y="168233"/>
                  <a:pt x="41332" y="178184"/>
                  <a:pt x="44879" y="189170"/>
                </a:cubicBezTo>
                <a:lnTo>
                  <a:pt x="144242" y="189170"/>
                </a:lnTo>
                <a:close/>
                <a:moveTo>
                  <a:pt x="141877" y="212816"/>
                </a:moveTo>
                <a:lnTo>
                  <a:pt x="47292" y="212816"/>
                </a:lnTo>
                <a:lnTo>
                  <a:pt x="47292" y="220698"/>
                </a:lnTo>
                <a:cubicBezTo>
                  <a:pt x="47292" y="242472"/>
                  <a:pt x="64929" y="260109"/>
                  <a:pt x="86703" y="260109"/>
                </a:cubicBezTo>
                <a:lnTo>
                  <a:pt x="102467" y="260109"/>
                </a:lnTo>
                <a:cubicBezTo>
                  <a:pt x="124241" y="260109"/>
                  <a:pt x="141877" y="242472"/>
                  <a:pt x="141877" y="220698"/>
                </a:cubicBezTo>
                <a:lnTo>
                  <a:pt x="141877" y="212816"/>
                </a:lnTo>
                <a:close/>
                <a:moveTo>
                  <a:pt x="90644" y="55175"/>
                </a:moveTo>
                <a:cubicBezTo>
                  <a:pt x="71037" y="55175"/>
                  <a:pt x="55175" y="71037"/>
                  <a:pt x="55175" y="90644"/>
                </a:cubicBezTo>
                <a:cubicBezTo>
                  <a:pt x="55175" y="97196"/>
                  <a:pt x="49903" y="102467"/>
                  <a:pt x="43351" y="102467"/>
                </a:cubicBezTo>
                <a:cubicBezTo>
                  <a:pt x="36799" y="102467"/>
                  <a:pt x="31528" y="97196"/>
                  <a:pt x="31528" y="90644"/>
                </a:cubicBezTo>
                <a:cubicBezTo>
                  <a:pt x="31528" y="57983"/>
                  <a:pt x="57983" y="31528"/>
                  <a:pt x="90644" y="31528"/>
                </a:cubicBezTo>
                <a:cubicBezTo>
                  <a:pt x="97196" y="31528"/>
                  <a:pt x="102467" y="36799"/>
                  <a:pt x="102467" y="43351"/>
                </a:cubicBezTo>
                <a:cubicBezTo>
                  <a:pt x="102467" y="49903"/>
                  <a:pt x="97196" y="55175"/>
                  <a:pt x="90644" y="55175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6"/>
          <p:cNvSpPr/>
          <p:nvPr/>
        </p:nvSpPr>
        <p:spPr>
          <a:xfrm>
            <a:off x="1185465" y="8121694"/>
            <a:ext cx="12346489" cy="302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89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选择建议</a:t>
            </a:r>
            <a:r>
              <a:rPr lang="en-US" sz="1589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：根据业务场景权衡压缩比与速度。实时分析选SNAPPY/LZ4，批处理选ZSTD，归档选GZIP。可针对不同列设置不同压缩算法。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49371" y="449371"/>
            <a:ext cx="44937" cy="539245"/>
          </a:xfrm>
          <a:custGeom>
            <a:avLst/>
            <a:gdLst/>
            <a:ahLst/>
            <a:cxnLst/>
            <a:rect l="l" t="t" r="r" b="b"/>
            <a:pathLst>
              <a:path w="44937" h="539245">
                <a:moveTo>
                  <a:pt x="0" y="0"/>
                </a:moveTo>
                <a:lnTo>
                  <a:pt x="44937" y="0"/>
                </a:lnTo>
                <a:lnTo>
                  <a:pt x="44937" y="539245"/>
                </a:lnTo>
                <a:lnTo>
                  <a:pt x="0" y="539245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674057" y="494308"/>
            <a:ext cx="6257493" cy="4493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185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查询优化技术：数据跳过与列裁剪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4988" y="1218919"/>
            <a:ext cx="7538200" cy="4909379"/>
          </a:xfrm>
          <a:custGeom>
            <a:avLst/>
            <a:gdLst/>
            <a:ahLst/>
            <a:cxnLst/>
            <a:rect l="l" t="t" r="r" b="b"/>
            <a:pathLst>
              <a:path w="7538200" h="4909379">
                <a:moveTo>
                  <a:pt x="0" y="0"/>
                </a:moveTo>
                <a:lnTo>
                  <a:pt x="7538200" y="0"/>
                </a:lnTo>
                <a:lnTo>
                  <a:pt x="7538200" y="4909379"/>
                </a:lnTo>
                <a:lnTo>
                  <a:pt x="0" y="4909379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2000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747079" y="1539096"/>
            <a:ext cx="303326" cy="269623"/>
          </a:xfrm>
          <a:custGeom>
            <a:avLst/>
            <a:gdLst/>
            <a:ahLst/>
            <a:cxnLst/>
            <a:rect l="l" t="t" r="r" b="b"/>
            <a:pathLst>
              <a:path w="303326" h="269623">
                <a:moveTo>
                  <a:pt x="195740" y="22697"/>
                </a:moveTo>
                <a:cubicBezTo>
                  <a:pt x="189631" y="16851"/>
                  <a:pt x="180626" y="15219"/>
                  <a:pt x="172885" y="18537"/>
                </a:cubicBezTo>
                <a:cubicBezTo>
                  <a:pt x="165144" y="21854"/>
                  <a:pt x="160088" y="29490"/>
                  <a:pt x="160088" y="37916"/>
                </a:cubicBezTo>
                <a:lnTo>
                  <a:pt x="160088" y="109692"/>
                </a:lnTo>
                <a:lnTo>
                  <a:pt x="69354" y="22749"/>
                </a:lnTo>
                <a:cubicBezTo>
                  <a:pt x="63245" y="16851"/>
                  <a:pt x="54240" y="15219"/>
                  <a:pt x="46499" y="18537"/>
                </a:cubicBezTo>
                <a:cubicBezTo>
                  <a:pt x="38758" y="21854"/>
                  <a:pt x="33703" y="29490"/>
                  <a:pt x="33703" y="37916"/>
                </a:cubicBezTo>
                <a:lnTo>
                  <a:pt x="33703" y="231707"/>
                </a:lnTo>
                <a:cubicBezTo>
                  <a:pt x="33703" y="240133"/>
                  <a:pt x="38758" y="247768"/>
                  <a:pt x="46499" y="251086"/>
                </a:cubicBezTo>
                <a:cubicBezTo>
                  <a:pt x="54240" y="254404"/>
                  <a:pt x="63245" y="252771"/>
                  <a:pt x="69354" y="246926"/>
                </a:cubicBezTo>
                <a:lnTo>
                  <a:pt x="160088" y="159930"/>
                </a:lnTo>
                <a:lnTo>
                  <a:pt x="160088" y="231707"/>
                </a:lnTo>
                <a:cubicBezTo>
                  <a:pt x="160088" y="240133"/>
                  <a:pt x="165144" y="247768"/>
                  <a:pt x="172885" y="251086"/>
                </a:cubicBezTo>
                <a:cubicBezTo>
                  <a:pt x="180626" y="254404"/>
                  <a:pt x="189631" y="252771"/>
                  <a:pt x="195740" y="246926"/>
                </a:cubicBezTo>
                <a:lnTo>
                  <a:pt x="296848" y="150030"/>
                </a:lnTo>
                <a:cubicBezTo>
                  <a:pt x="301008" y="146081"/>
                  <a:pt x="303326" y="140551"/>
                  <a:pt x="303326" y="134811"/>
                </a:cubicBezTo>
                <a:cubicBezTo>
                  <a:pt x="303326" y="129071"/>
                  <a:pt x="300956" y="123595"/>
                  <a:pt x="296848" y="119592"/>
                </a:cubicBezTo>
                <a:lnTo>
                  <a:pt x="195740" y="22697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202068" y="1494159"/>
            <a:ext cx="1213302" cy="35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数据跳过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0228" y="2033404"/>
            <a:ext cx="7066361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8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核心机制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0228" y="2347964"/>
            <a:ext cx="7077595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利用行组级和页级的</a:t>
            </a:r>
            <a:r>
              <a:rPr lang="en-US" sz="141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Min/Max</a:t>
            </a:r>
            <a:r>
              <a:rPr lang="en-US" sz="141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统计信息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0228" y="2707461"/>
            <a:ext cx="7077595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41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谓词下推</a:t>
            </a:r>
            <a:r>
              <a:rPr lang="en-US" sz="141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到存储层进行过滤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0228" y="3066958"/>
            <a:ext cx="7077595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根据过滤条件跳过不符合的数据块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0228" y="3516329"/>
            <a:ext cx="7066361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8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5845" y="3836506"/>
            <a:ext cx="3415220" cy="909977"/>
          </a:xfrm>
          <a:custGeom>
            <a:avLst/>
            <a:gdLst/>
            <a:ahLst/>
            <a:cxnLst/>
            <a:rect l="l" t="t" r="r" b="b"/>
            <a:pathLst>
              <a:path w="3415220" h="909977">
                <a:moveTo>
                  <a:pt x="0" y="0"/>
                </a:moveTo>
                <a:lnTo>
                  <a:pt x="3415220" y="0"/>
                </a:lnTo>
                <a:lnTo>
                  <a:pt x="3415220" y="909977"/>
                </a:lnTo>
                <a:lnTo>
                  <a:pt x="0" y="90997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08868" y="3976934"/>
            <a:ext cx="3269175" cy="35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23" dirty="0">
                <a:solidFill>
                  <a:srgbClr val="3D8B8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50-85%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6954" y="4381368"/>
            <a:ext cx="3213003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38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I/O减少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94566" y="3836506"/>
            <a:ext cx="3415220" cy="909977"/>
          </a:xfrm>
          <a:custGeom>
            <a:avLst/>
            <a:gdLst/>
            <a:ahLst/>
            <a:cxnLst/>
            <a:rect l="l" t="t" r="r" b="b"/>
            <a:pathLst>
              <a:path w="3415220" h="909977">
                <a:moveTo>
                  <a:pt x="0" y="0"/>
                </a:moveTo>
                <a:lnTo>
                  <a:pt x="3415220" y="0"/>
                </a:lnTo>
                <a:lnTo>
                  <a:pt x="3415220" y="909977"/>
                </a:lnTo>
                <a:lnTo>
                  <a:pt x="0" y="90997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367589" y="3976934"/>
            <a:ext cx="3269175" cy="35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23" dirty="0">
                <a:solidFill>
                  <a:srgbClr val="3D8B8B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3-20x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395674" y="4381368"/>
            <a:ext cx="3213003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38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查询加速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35845" y="4937465"/>
            <a:ext cx="6976487" cy="909977"/>
          </a:xfrm>
          <a:custGeom>
            <a:avLst/>
            <a:gdLst/>
            <a:ahLst/>
            <a:cxnLst/>
            <a:rect l="l" t="t" r="r" b="b"/>
            <a:pathLst>
              <a:path w="6976487" h="909977">
                <a:moveTo>
                  <a:pt x="0" y="0"/>
                </a:moveTo>
                <a:lnTo>
                  <a:pt x="6976487" y="0"/>
                </a:lnTo>
                <a:lnTo>
                  <a:pt x="6976487" y="909977"/>
                </a:lnTo>
                <a:lnTo>
                  <a:pt x="0" y="90997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21211" y="5122831"/>
            <a:ext cx="6684395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8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示例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1211" y="5437390"/>
            <a:ext cx="6684395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8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查询"年龄&gt;30"时，如果某行组Max=28，则直接跳过整个行组，无需读取数据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269043" y="1218919"/>
            <a:ext cx="7538200" cy="4909379"/>
          </a:xfrm>
          <a:custGeom>
            <a:avLst/>
            <a:gdLst/>
            <a:ahLst/>
            <a:cxnLst/>
            <a:rect l="l" t="t" r="r" b="b"/>
            <a:pathLst>
              <a:path w="7538200" h="4909379">
                <a:moveTo>
                  <a:pt x="0" y="0"/>
                </a:moveTo>
                <a:lnTo>
                  <a:pt x="7538200" y="0"/>
                </a:lnTo>
                <a:lnTo>
                  <a:pt x="7538200" y="4909379"/>
                </a:lnTo>
                <a:lnTo>
                  <a:pt x="0" y="4909379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20000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8577985" y="1539096"/>
            <a:ext cx="269623" cy="269623"/>
          </a:xfrm>
          <a:custGeom>
            <a:avLst/>
            <a:gdLst/>
            <a:ahLst/>
            <a:cxnLst/>
            <a:rect l="l" t="t" r="r" b="b"/>
            <a:pathLst>
              <a:path w="269623" h="269623">
                <a:moveTo>
                  <a:pt x="101109" y="134811"/>
                </a:moveTo>
                <a:lnTo>
                  <a:pt x="80308" y="155612"/>
                </a:lnTo>
                <a:cubicBezTo>
                  <a:pt x="73672" y="153032"/>
                  <a:pt x="66510" y="151663"/>
                  <a:pt x="58980" y="151663"/>
                </a:cubicBezTo>
                <a:cubicBezTo>
                  <a:pt x="26383" y="151663"/>
                  <a:pt x="0" y="178046"/>
                  <a:pt x="0" y="210643"/>
                </a:cubicBezTo>
                <a:cubicBezTo>
                  <a:pt x="0" y="243240"/>
                  <a:pt x="26383" y="269623"/>
                  <a:pt x="58980" y="269623"/>
                </a:cubicBezTo>
                <a:cubicBezTo>
                  <a:pt x="91577" y="269623"/>
                  <a:pt x="117960" y="243240"/>
                  <a:pt x="117960" y="210643"/>
                </a:cubicBezTo>
                <a:cubicBezTo>
                  <a:pt x="117960" y="203112"/>
                  <a:pt x="116538" y="195950"/>
                  <a:pt x="114010" y="189315"/>
                </a:cubicBezTo>
                <a:lnTo>
                  <a:pt x="262882" y="40443"/>
                </a:lnTo>
                <a:cubicBezTo>
                  <a:pt x="266621" y="36704"/>
                  <a:pt x="266621" y="30701"/>
                  <a:pt x="262882" y="26962"/>
                </a:cubicBezTo>
                <a:cubicBezTo>
                  <a:pt x="247979" y="12059"/>
                  <a:pt x="223861" y="12059"/>
                  <a:pt x="208958" y="26962"/>
                </a:cubicBezTo>
                <a:lnTo>
                  <a:pt x="134811" y="101109"/>
                </a:lnTo>
                <a:lnTo>
                  <a:pt x="114010" y="80308"/>
                </a:lnTo>
                <a:cubicBezTo>
                  <a:pt x="116591" y="73672"/>
                  <a:pt x="117960" y="66510"/>
                  <a:pt x="117960" y="58980"/>
                </a:cubicBezTo>
                <a:cubicBezTo>
                  <a:pt x="117960" y="26383"/>
                  <a:pt x="91577" y="0"/>
                  <a:pt x="58980" y="0"/>
                </a:cubicBezTo>
                <a:cubicBezTo>
                  <a:pt x="26383" y="0"/>
                  <a:pt x="0" y="26383"/>
                  <a:pt x="0" y="58980"/>
                </a:cubicBezTo>
                <a:cubicBezTo>
                  <a:pt x="0" y="91577"/>
                  <a:pt x="26383" y="117960"/>
                  <a:pt x="58980" y="117960"/>
                </a:cubicBezTo>
                <a:cubicBezTo>
                  <a:pt x="66510" y="117960"/>
                  <a:pt x="73672" y="116538"/>
                  <a:pt x="80308" y="114010"/>
                </a:cubicBezTo>
                <a:lnTo>
                  <a:pt x="101109" y="134811"/>
                </a:lnTo>
                <a:close/>
                <a:moveTo>
                  <a:pt x="152663" y="186366"/>
                </a:moveTo>
                <a:lnTo>
                  <a:pt x="208958" y="242660"/>
                </a:lnTo>
                <a:cubicBezTo>
                  <a:pt x="223861" y="257563"/>
                  <a:pt x="247979" y="257563"/>
                  <a:pt x="262882" y="242660"/>
                </a:cubicBezTo>
                <a:cubicBezTo>
                  <a:pt x="266621" y="238921"/>
                  <a:pt x="266621" y="232918"/>
                  <a:pt x="262882" y="229179"/>
                </a:cubicBezTo>
                <a:lnTo>
                  <a:pt x="186366" y="152663"/>
                </a:lnTo>
                <a:lnTo>
                  <a:pt x="152663" y="186366"/>
                </a:lnTo>
                <a:close/>
                <a:moveTo>
                  <a:pt x="33703" y="58980"/>
                </a:moveTo>
                <a:cubicBezTo>
                  <a:pt x="33703" y="45029"/>
                  <a:pt x="45029" y="33703"/>
                  <a:pt x="58980" y="33703"/>
                </a:cubicBezTo>
                <a:cubicBezTo>
                  <a:pt x="72931" y="33703"/>
                  <a:pt x="84257" y="45029"/>
                  <a:pt x="84257" y="58980"/>
                </a:cubicBezTo>
                <a:cubicBezTo>
                  <a:pt x="84257" y="72931"/>
                  <a:pt x="72931" y="84257"/>
                  <a:pt x="58980" y="84257"/>
                </a:cubicBezTo>
                <a:cubicBezTo>
                  <a:pt x="45029" y="84257"/>
                  <a:pt x="33703" y="72931"/>
                  <a:pt x="33703" y="58980"/>
                </a:cubicBezTo>
                <a:close/>
                <a:moveTo>
                  <a:pt x="58980" y="185366"/>
                </a:moveTo>
                <a:cubicBezTo>
                  <a:pt x="72931" y="185366"/>
                  <a:pt x="84257" y="196692"/>
                  <a:pt x="84257" y="210643"/>
                </a:cubicBezTo>
                <a:cubicBezTo>
                  <a:pt x="84257" y="224594"/>
                  <a:pt x="72931" y="235920"/>
                  <a:pt x="58980" y="235920"/>
                </a:cubicBezTo>
                <a:cubicBezTo>
                  <a:pt x="45029" y="235920"/>
                  <a:pt x="33703" y="224594"/>
                  <a:pt x="33703" y="210643"/>
                </a:cubicBezTo>
                <a:cubicBezTo>
                  <a:pt x="33703" y="196692"/>
                  <a:pt x="45029" y="185366"/>
                  <a:pt x="58980" y="185366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9016122" y="1494159"/>
            <a:ext cx="943679" cy="35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123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列裁剪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44283" y="2033404"/>
            <a:ext cx="7066361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8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核心优势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44283" y="2347964"/>
            <a:ext cx="7077595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只读取</a:t>
            </a:r>
            <a:r>
              <a:rPr lang="en-US" sz="141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</a:t>
            </a:r>
            <a:r>
              <a:rPr lang="en-US" sz="141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415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WHERE</a:t>
            </a:r>
            <a:r>
              <a:rPr lang="en-US" sz="141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需要的列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544283" y="2707461"/>
            <a:ext cx="7077595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跳过无关列，显著减少I/O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544283" y="3066958"/>
            <a:ext cx="7077595" cy="2696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15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降低内存占用和CPU消耗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44283" y="3516329"/>
            <a:ext cx="7066361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8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性能提升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549900" y="3836506"/>
            <a:ext cx="3415220" cy="909977"/>
          </a:xfrm>
          <a:custGeom>
            <a:avLst/>
            <a:gdLst/>
            <a:ahLst/>
            <a:cxnLst/>
            <a:rect l="l" t="t" r="r" b="b"/>
            <a:pathLst>
              <a:path w="3415220" h="909977">
                <a:moveTo>
                  <a:pt x="0" y="0"/>
                </a:moveTo>
                <a:lnTo>
                  <a:pt x="3415220" y="0"/>
                </a:lnTo>
                <a:lnTo>
                  <a:pt x="3415220" y="909977"/>
                </a:lnTo>
                <a:lnTo>
                  <a:pt x="0" y="90997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622923" y="3976934"/>
            <a:ext cx="3269175" cy="35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23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50-80%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51008" y="4381368"/>
            <a:ext cx="3213003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38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数据减少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108621" y="3836506"/>
            <a:ext cx="3415220" cy="909977"/>
          </a:xfrm>
          <a:custGeom>
            <a:avLst/>
            <a:gdLst/>
            <a:ahLst/>
            <a:cxnLst/>
            <a:rect l="l" t="t" r="r" b="b"/>
            <a:pathLst>
              <a:path w="3415220" h="909977">
                <a:moveTo>
                  <a:pt x="0" y="0"/>
                </a:moveTo>
                <a:lnTo>
                  <a:pt x="3415220" y="0"/>
                </a:lnTo>
                <a:lnTo>
                  <a:pt x="3415220" y="909977"/>
                </a:lnTo>
                <a:lnTo>
                  <a:pt x="0" y="90997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2181643" y="3976934"/>
            <a:ext cx="3269175" cy="359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123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5-10x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209729" y="4381368"/>
            <a:ext cx="3213003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38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查询加速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8549900" y="4937465"/>
            <a:ext cx="6976487" cy="909977"/>
          </a:xfrm>
          <a:custGeom>
            <a:avLst/>
            <a:gdLst/>
            <a:ahLst/>
            <a:cxnLst/>
            <a:rect l="l" t="t" r="r" b="b"/>
            <a:pathLst>
              <a:path w="6976487" h="909977">
                <a:moveTo>
                  <a:pt x="0" y="0"/>
                </a:moveTo>
                <a:lnTo>
                  <a:pt x="6976487" y="0"/>
                </a:lnTo>
                <a:lnTo>
                  <a:pt x="6976487" y="909977"/>
                </a:lnTo>
                <a:lnTo>
                  <a:pt x="0" y="909977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735265" y="5122831"/>
            <a:ext cx="6684395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8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示例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735265" y="5437390"/>
            <a:ext cx="6684395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38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SELECT name FROM users WHERE age&gt;25只读取name和age列，其他50+列全部跳过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54988" y="6364218"/>
            <a:ext cx="15346023" cy="2100810"/>
          </a:xfrm>
          <a:custGeom>
            <a:avLst/>
            <a:gdLst/>
            <a:ahLst/>
            <a:cxnLst/>
            <a:rect l="l" t="t" r="r" b="b"/>
            <a:pathLst>
              <a:path w="15346023" h="2100810">
                <a:moveTo>
                  <a:pt x="0" y="0"/>
                </a:moveTo>
                <a:lnTo>
                  <a:pt x="15346023" y="0"/>
                </a:lnTo>
                <a:lnTo>
                  <a:pt x="15346023" y="2100810"/>
                </a:lnTo>
                <a:lnTo>
                  <a:pt x="0" y="210081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Shape 37"/>
          <p:cNvSpPr/>
          <p:nvPr/>
        </p:nvSpPr>
        <p:spPr>
          <a:xfrm>
            <a:off x="718994" y="6616990"/>
            <a:ext cx="269623" cy="269623"/>
          </a:xfrm>
          <a:custGeom>
            <a:avLst/>
            <a:gdLst/>
            <a:ahLst/>
            <a:cxnLst/>
            <a:rect l="l" t="t" r="r" b="b"/>
            <a:pathLst>
              <a:path w="269623" h="269623">
                <a:moveTo>
                  <a:pt x="16851" y="16851"/>
                </a:moveTo>
                <a:cubicBezTo>
                  <a:pt x="26172" y="16851"/>
                  <a:pt x="33703" y="24382"/>
                  <a:pt x="33703" y="33703"/>
                </a:cubicBezTo>
                <a:lnTo>
                  <a:pt x="33703" y="210643"/>
                </a:lnTo>
                <a:cubicBezTo>
                  <a:pt x="33703" y="215277"/>
                  <a:pt x="37494" y="219068"/>
                  <a:pt x="42129" y="219068"/>
                </a:cubicBezTo>
                <a:lnTo>
                  <a:pt x="252771" y="219068"/>
                </a:lnTo>
                <a:cubicBezTo>
                  <a:pt x="262092" y="219068"/>
                  <a:pt x="269623" y="226599"/>
                  <a:pt x="269623" y="235920"/>
                </a:cubicBezTo>
                <a:cubicBezTo>
                  <a:pt x="269623" y="245241"/>
                  <a:pt x="262092" y="252771"/>
                  <a:pt x="252771" y="252771"/>
                </a:cubicBezTo>
                <a:lnTo>
                  <a:pt x="42129" y="252771"/>
                </a:lnTo>
                <a:cubicBezTo>
                  <a:pt x="18853" y="252771"/>
                  <a:pt x="0" y="233919"/>
                  <a:pt x="0" y="210643"/>
                </a:cubicBezTo>
                <a:lnTo>
                  <a:pt x="0" y="33703"/>
                </a:lnTo>
                <a:cubicBezTo>
                  <a:pt x="0" y="24382"/>
                  <a:pt x="7530" y="16851"/>
                  <a:pt x="16851" y="16851"/>
                </a:cubicBezTo>
                <a:close/>
                <a:moveTo>
                  <a:pt x="126386" y="50554"/>
                </a:moveTo>
                <a:cubicBezTo>
                  <a:pt x="129914" y="50554"/>
                  <a:pt x="133284" y="52029"/>
                  <a:pt x="135707" y="54662"/>
                </a:cubicBezTo>
                <a:lnTo>
                  <a:pt x="173148" y="95474"/>
                </a:lnTo>
                <a:lnTo>
                  <a:pt x="197478" y="71092"/>
                </a:lnTo>
                <a:cubicBezTo>
                  <a:pt x="202428" y="66142"/>
                  <a:pt x="210432" y="66142"/>
                  <a:pt x="215330" y="71092"/>
                </a:cubicBezTo>
                <a:lnTo>
                  <a:pt x="249032" y="104795"/>
                </a:lnTo>
                <a:cubicBezTo>
                  <a:pt x="251402" y="107164"/>
                  <a:pt x="252719" y="110377"/>
                  <a:pt x="252719" y="113747"/>
                </a:cubicBezTo>
                <a:lnTo>
                  <a:pt x="252719" y="172727"/>
                </a:lnTo>
                <a:cubicBezTo>
                  <a:pt x="252719" y="179731"/>
                  <a:pt x="247084" y="185366"/>
                  <a:pt x="240080" y="185366"/>
                </a:cubicBezTo>
                <a:lnTo>
                  <a:pt x="79992" y="185366"/>
                </a:lnTo>
                <a:cubicBezTo>
                  <a:pt x="72988" y="185366"/>
                  <a:pt x="67353" y="179731"/>
                  <a:pt x="67353" y="172727"/>
                </a:cubicBezTo>
                <a:lnTo>
                  <a:pt x="67353" y="113747"/>
                </a:lnTo>
                <a:cubicBezTo>
                  <a:pt x="67353" y="110587"/>
                  <a:pt x="68564" y="107533"/>
                  <a:pt x="70671" y="105216"/>
                </a:cubicBezTo>
                <a:lnTo>
                  <a:pt x="117012" y="54662"/>
                </a:lnTo>
                <a:cubicBezTo>
                  <a:pt x="119382" y="52029"/>
                  <a:pt x="122805" y="50554"/>
                  <a:pt x="126333" y="50554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202068" y="6594521"/>
            <a:ext cx="1685142" cy="31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76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优化效果可视化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90908" y="7094446"/>
            <a:ext cx="3572500" cy="1044788"/>
          </a:xfrm>
          <a:custGeom>
            <a:avLst/>
            <a:gdLst/>
            <a:ahLst/>
            <a:cxnLst/>
            <a:rect l="l" t="t" r="r" b="b"/>
            <a:pathLst>
              <a:path w="3572500" h="1044788">
                <a:moveTo>
                  <a:pt x="0" y="0"/>
                </a:moveTo>
                <a:lnTo>
                  <a:pt x="3572500" y="0"/>
                </a:lnTo>
                <a:lnTo>
                  <a:pt x="3572500" y="1044788"/>
                </a:lnTo>
                <a:lnTo>
                  <a:pt x="0" y="104478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792017" y="7279812"/>
            <a:ext cx="3370283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54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文件级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36954" y="7729183"/>
            <a:ext cx="3280409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38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基于文件元数据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4457463" y="7094446"/>
            <a:ext cx="3572500" cy="1044788"/>
          </a:xfrm>
          <a:custGeom>
            <a:avLst/>
            <a:gdLst/>
            <a:ahLst/>
            <a:cxnLst/>
            <a:rect l="l" t="t" r="r" b="b"/>
            <a:pathLst>
              <a:path w="3572500" h="1044788">
                <a:moveTo>
                  <a:pt x="0" y="0"/>
                </a:moveTo>
                <a:lnTo>
                  <a:pt x="3572500" y="0"/>
                </a:lnTo>
                <a:lnTo>
                  <a:pt x="3572500" y="1044788"/>
                </a:lnTo>
                <a:lnTo>
                  <a:pt x="0" y="104478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4558572" y="7279812"/>
            <a:ext cx="3370283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54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行组级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4603509" y="7729183"/>
            <a:ext cx="3280409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38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基于行组统计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8224106" y="7094446"/>
            <a:ext cx="3572500" cy="1044788"/>
          </a:xfrm>
          <a:custGeom>
            <a:avLst/>
            <a:gdLst/>
            <a:ahLst/>
            <a:cxnLst/>
            <a:rect l="l" t="t" r="r" b="b"/>
            <a:pathLst>
              <a:path w="3572500" h="1044788">
                <a:moveTo>
                  <a:pt x="0" y="0"/>
                </a:moveTo>
                <a:lnTo>
                  <a:pt x="3572500" y="0"/>
                </a:lnTo>
                <a:lnTo>
                  <a:pt x="3572500" y="1044788"/>
                </a:lnTo>
                <a:lnTo>
                  <a:pt x="0" y="104478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325214" y="7279812"/>
            <a:ext cx="3370283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54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列级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370151" y="7729183"/>
            <a:ext cx="3280409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38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列裁剪优化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11990661" y="7094446"/>
            <a:ext cx="3572500" cy="1044788"/>
          </a:xfrm>
          <a:custGeom>
            <a:avLst/>
            <a:gdLst/>
            <a:ahLst/>
            <a:cxnLst/>
            <a:rect l="l" t="t" r="r" b="b"/>
            <a:pathLst>
              <a:path w="3572500" h="1044788">
                <a:moveTo>
                  <a:pt x="0" y="0"/>
                </a:moveTo>
                <a:lnTo>
                  <a:pt x="3572500" y="0"/>
                </a:lnTo>
                <a:lnTo>
                  <a:pt x="3572500" y="1044788"/>
                </a:lnTo>
                <a:lnTo>
                  <a:pt x="0" y="1044788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12091769" y="7279812"/>
            <a:ext cx="3370283" cy="4044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654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页级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12136706" y="7729183"/>
            <a:ext cx="3280409" cy="22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38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页级过滤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58800"/>
            <a:ext cx="66167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存储优化策略：分区与文件大小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377950"/>
            <a:ext cx="7480300" cy="3771900"/>
          </a:xfrm>
          <a:custGeom>
            <a:avLst/>
            <a:gdLst/>
            <a:ahLst/>
            <a:cxnLst/>
            <a:rect l="l" t="t" r="r" b="b"/>
            <a:pathLst>
              <a:path w="7480300" h="3771900">
                <a:moveTo>
                  <a:pt x="0" y="0"/>
                </a:moveTo>
                <a:lnTo>
                  <a:pt x="7480300" y="0"/>
                </a:lnTo>
                <a:lnTo>
                  <a:pt x="74803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06450" y="1689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95250" y="31750"/>
                </a:moveTo>
                <a:cubicBezTo>
                  <a:pt x="95250" y="22969"/>
                  <a:pt x="102344" y="15875"/>
                  <a:pt x="111125" y="15875"/>
                </a:cubicBezTo>
                <a:lnTo>
                  <a:pt x="142875" y="15875"/>
                </a:lnTo>
                <a:cubicBezTo>
                  <a:pt x="151656" y="15875"/>
                  <a:pt x="158750" y="22969"/>
                  <a:pt x="158750" y="31750"/>
                </a:cubicBezTo>
                <a:lnTo>
                  <a:pt x="158750" y="63500"/>
                </a:lnTo>
                <a:cubicBezTo>
                  <a:pt x="158750" y="72281"/>
                  <a:pt x="151656" y="79375"/>
                  <a:pt x="142875" y="79375"/>
                </a:cubicBezTo>
                <a:lnTo>
                  <a:pt x="138906" y="79375"/>
                </a:lnTo>
                <a:lnTo>
                  <a:pt x="138906" y="111125"/>
                </a:lnTo>
                <a:lnTo>
                  <a:pt x="198438" y="111125"/>
                </a:lnTo>
                <a:cubicBezTo>
                  <a:pt x="218182" y="111125"/>
                  <a:pt x="234156" y="127099"/>
                  <a:pt x="234156" y="146844"/>
                </a:cubicBezTo>
                <a:lnTo>
                  <a:pt x="234156" y="174625"/>
                </a:lnTo>
                <a:lnTo>
                  <a:pt x="238125" y="174625"/>
                </a:lnTo>
                <a:cubicBezTo>
                  <a:pt x="246906" y="174625"/>
                  <a:pt x="254000" y="181719"/>
                  <a:pt x="254000" y="190500"/>
                </a:cubicBezTo>
                <a:lnTo>
                  <a:pt x="254000" y="222250"/>
                </a:lnTo>
                <a:cubicBezTo>
                  <a:pt x="254000" y="231031"/>
                  <a:pt x="246906" y="238125"/>
                  <a:pt x="238125" y="238125"/>
                </a:cubicBezTo>
                <a:lnTo>
                  <a:pt x="206375" y="238125"/>
                </a:lnTo>
                <a:cubicBezTo>
                  <a:pt x="197594" y="238125"/>
                  <a:pt x="190500" y="231031"/>
                  <a:pt x="190500" y="222250"/>
                </a:cubicBezTo>
                <a:lnTo>
                  <a:pt x="190500" y="190500"/>
                </a:lnTo>
                <a:cubicBezTo>
                  <a:pt x="190500" y="181719"/>
                  <a:pt x="197594" y="174625"/>
                  <a:pt x="206375" y="174625"/>
                </a:cubicBezTo>
                <a:lnTo>
                  <a:pt x="210344" y="174625"/>
                </a:lnTo>
                <a:lnTo>
                  <a:pt x="210344" y="146844"/>
                </a:lnTo>
                <a:cubicBezTo>
                  <a:pt x="210344" y="140246"/>
                  <a:pt x="205036" y="134938"/>
                  <a:pt x="198438" y="134938"/>
                </a:cubicBezTo>
                <a:lnTo>
                  <a:pt x="138906" y="134938"/>
                </a:lnTo>
                <a:lnTo>
                  <a:pt x="138906" y="174625"/>
                </a:lnTo>
                <a:lnTo>
                  <a:pt x="142875" y="174625"/>
                </a:lnTo>
                <a:cubicBezTo>
                  <a:pt x="151656" y="174625"/>
                  <a:pt x="158750" y="181719"/>
                  <a:pt x="158750" y="190500"/>
                </a:cubicBezTo>
                <a:lnTo>
                  <a:pt x="158750" y="222250"/>
                </a:lnTo>
                <a:cubicBezTo>
                  <a:pt x="158750" y="231031"/>
                  <a:pt x="151656" y="238125"/>
                  <a:pt x="142875" y="238125"/>
                </a:cubicBezTo>
                <a:lnTo>
                  <a:pt x="111125" y="238125"/>
                </a:lnTo>
                <a:cubicBezTo>
                  <a:pt x="102344" y="238125"/>
                  <a:pt x="95250" y="231031"/>
                  <a:pt x="95250" y="222250"/>
                </a:cubicBezTo>
                <a:lnTo>
                  <a:pt x="95250" y="190500"/>
                </a:lnTo>
                <a:cubicBezTo>
                  <a:pt x="95250" y="181719"/>
                  <a:pt x="102344" y="174625"/>
                  <a:pt x="111125" y="174625"/>
                </a:cubicBezTo>
                <a:lnTo>
                  <a:pt x="115094" y="174625"/>
                </a:lnTo>
                <a:lnTo>
                  <a:pt x="115094" y="134938"/>
                </a:lnTo>
                <a:lnTo>
                  <a:pt x="55563" y="134938"/>
                </a:lnTo>
                <a:cubicBezTo>
                  <a:pt x="48964" y="134938"/>
                  <a:pt x="43656" y="140246"/>
                  <a:pt x="43656" y="146844"/>
                </a:cubicBezTo>
                <a:lnTo>
                  <a:pt x="43656" y="174625"/>
                </a:lnTo>
                <a:lnTo>
                  <a:pt x="47625" y="174625"/>
                </a:lnTo>
                <a:cubicBezTo>
                  <a:pt x="56406" y="174625"/>
                  <a:pt x="63500" y="181719"/>
                  <a:pt x="63500" y="190500"/>
                </a:cubicBezTo>
                <a:lnTo>
                  <a:pt x="63500" y="222250"/>
                </a:lnTo>
                <a:cubicBezTo>
                  <a:pt x="63500" y="231031"/>
                  <a:pt x="56406" y="238125"/>
                  <a:pt x="47625" y="238125"/>
                </a:cubicBezTo>
                <a:lnTo>
                  <a:pt x="15875" y="238125"/>
                </a:lnTo>
                <a:cubicBezTo>
                  <a:pt x="7094" y="238125"/>
                  <a:pt x="0" y="231031"/>
                  <a:pt x="0" y="222250"/>
                </a:cubicBezTo>
                <a:lnTo>
                  <a:pt x="0" y="190500"/>
                </a:lnTo>
                <a:cubicBezTo>
                  <a:pt x="0" y="181719"/>
                  <a:pt x="7094" y="174625"/>
                  <a:pt x="15875" y="174625"/>
                </a:cubicBezTo>
                <a:lnTo>
                  <a:pt x="19844" y="174625"/>
                </a:lnTo>
                <a:lnTo>
                  <a:pt x="19844" y="146844"/>
                </a:lnTo>
                <a:cubicBezTo>
                  <a:pt x="19844" y="127099"/>
                  <a:pt x="35818" y="111125"/>
                  <a:pt x="55563" y="111125"/>
                </a:cubicBezTo>
                <a:lnTo>
                  <a:pt x="115094" y="111125"/>
                </a:lnTo>
                <a:lnTo>
                  <a:pt x="115094" y="79375"/>
                </a:lnTo>
                <a:lnTo>
                  <a:pt x="111125" y="79375"/>
                </a:lnTo>
                <a:cubicBezTo>
                  <a:pt x="102344" y="79375"/>
                  <a:pt x="95250" y="72281"/>
                  <a:pt x="95250" y="63500"/>
                </a:cubicBezTo>
                <a:lnTo>
                  <a:pt x="95250" y="3175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244600" y="16383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分区策略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4700" y="21971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时间分区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4700" y="25019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按年/月/日分区，适用于</a:t>
            </a: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日志、交易记录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等时序数据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700" y="29083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业务分区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4700" y="32131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按部门/产品/地区分区，适用于</a:t>
            </a: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销售、用户数据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4700" y="36195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哈希分区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4700" y="39243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按用户ID哈希，实现</a:t>
            </a: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负载均衡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和热点分散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4700" y="43307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多级分区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4700" y="46355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组合多个分区键，如</a:t>
            </a: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date=2023-01-01/country=CN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261350" y="1377950"/>
            <a:ext cx="7480300" cy="3771900"/>
          </a:xfrm>
          <a:custGeom>
            <a:avLst/>
            <a:gdLst/>
            <a:ahLst/>
            <a:cxnLst/>
            <a:rect l="l" t="t" r="r" b="b"/>
            <a:pathLst>
              <a:path w="7480300" h="3771900">
                <a:moveTo>
                  <a:pt x="0" y="0"/>
                </a:moveTo>
                <a:lnTo>
                  <a:pt x="7480300" y="0"/>
                </a:lnTo>
                <a:lnTo>
                  <a:pt x="7480300" y="3771900"/>
                </a:lnTo>
                <a:lnTo>
                  <a:pt x="0" y="37719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Shape 14"/>
          <p:cNvSpPr/>
          <p:nvPr/>
        </p:nvSpPr>
        <p:spPr>
          <a:xfrm>
            <a:off x="8585200" y="1689100"/>
            <a:ext cx="190500" cy="254000"/>
          </a:xfrm>
          <a:custGeom>
            <a:avLst/>
            <a:gdLst/>
            <a:ahLst/>
            <a:cxnLst/>
            <a:rect l="l" t="t" r="r" b="b"/>
            <a:pathLst>
              <a:path w="190500" h="254000">
                <a:moveTo>
                  <a:pt x="0" y="31750"/>
                </a:moveTo>
                <a:cubicBezTo>
                  <a:pt x="0" y="14238"/>
                  <a:pt x="14238" y="0"/>
                  <a:pt x="31750" y="0"/>
                </a:cubicBezTo>
                <a:lnTo>
                  <a:pt x="105916" y="0"/>
                </a:lnTo>
                <a:cubicBezTo>
                  <a:pt x="114350" y="0"/>
                  <a:pt x="122436" y="3324"/>
                  <a:pt x="128389" y="9277"/>
                </a:cubicBezTo>
                <a:lnTo>
                  <a:pt x="181223" y="62161"/>
                </a:lnTo>
                <a:cubicBezTo>
                  <a:pt x="187176" y="68114"/>
                  <a:pt x="190500" y="76200"/>
                  <a:pt x="190500" y="84634"/>
                </a:cubicBezTo>
                <a:lnTo>
                  <a:pt x="190500" y="222250"/>
                </a:lnTo>
                <a:cubicBezTo>
                  <a:pt x="190500" y="239762"/>
                  <a:pt x="176262" y="254000"/>
                  <a:pt x="158750" y="254000"/>
                </a:cubicBezTo>
                <a:lnTo>
                  <a:pt x="31750" y="254000"/>
                </a:lnTo>
                <a:cubicBezTo>
                  <a:pt x="14238" y="254000"/>
                  <a:pt x="0" y="239762"/>
                  <a:pt x="0" y="222250"/>
                </a:cubicBezTo>
                <a:lnTo>
                  <a:pt x="0" y="31750"/>
                </a:lnTo>
                <a:close/>
                <a:moveTo>
                  <a:pt x="103188" y="29021"/>
                </a:moveTo>
                <a:lnTo>
                  <a:pt x="103188" y="75406"/>
                </a:lnTo>
                <a:cubicBezTo>
                  <a:pt x="103188" y="82004"/>
                  <a:pt x="108496" y="87313"/>
                  <a:pt x="115094" y="87313"/>
                </a:cubicBezTo>
                <a:lnTo>
                  <a:pt x="161479" y="87313"/>
                </a:lnTo>
                <a:lnTo>
                  <a:pt x="103188" y="29021"/>
                </a:lnTo>
                <a:close/>
                <a:moveTo>
                  <a:pt x="31750" y="35719"/>
                </a:moveTo>
                <a:cubicBezTo>
                  <a:pt x="31750" y="42317"/>
                  <a:pt x="37058" y="47625"/>
                  <a:pt x="43656" y="47625"/>
                </a:cubicBezTo>
                <a:lnTo>
                  <a:pt x="67469" y="47625"/>
                </a:lnTo>
                <a:cubicBezTo>
                  <a:pt x="74067" y="47625"/>
                  <a:pt x="79375" y="42317"/>
                  <a:pt x="79375" y="35719"/>
                </a:cubicBezTo>
                <a:cubicBezTo>
                  <a:pt x="79375" y="29121"/>
                  <a:pt x="74067" y="23812"/>
                  <a:pt x="67469" y="23812"/>
                </a:cubicBezTo>
                <a:lnTo>
                  <a:pt x="43656" y="23812"/>
                </a:lnTo>
                <a:cubicBezTo>
                  <a:pt x="37058" y="23812"/>
                  <a:pt x="31750" y="29121"/>
                  <a:pt x="31750" y="35719"/>
                </a:cubicBezTo>
                <a:close/>
                <a:moveTo>
                  <a:pt x="31750" y="83344"/>
                </a:moveTo>
                <a:cubicBezTo>
                  <a:pt x="31750" y="89942"/>
                  <a:pt x="37058" y="95250"/>
                  <a:pt x="43656" y="95250"/>
                </a:cubicBezTo>
                <a:lnTo>
                  <a:pt x="67469" y="95250"/>
                </a:lnTo>
                <a:cubicBezTo>
                  <a:pt x="74067" y="95250"/>
                  <a:pt x="79375" y="89942"/>
                  <a:pt x="79375" y="83344"/>
                </a:cubicBezTo>
                <a:cubicBezTo>
                  <a:pt x="79375" y="76746"/>
                  <a:pt x="74067" y="71438"/>
                  <a:pt x="67469" y="71438"/>
                </a:cubicBezTo>
                <a:lnTo>
                  <a:pt x="43656" y="71438"/>
                </a:lnTo>
                <a:cubicBezTo>
                  <a:pt x="37058" y="71438"/>
                  <a:pt x="31750" y="76746"/>
                  <a:pt x="31750" y="83344"/>
                </a:cubicBezTo>
                <a:close/>
                <a:moveTo>
                  <a:pt x="63500" y="119063"/>
                </a:moveTo>
                <a:lnTo>
                  <a:pt x="47625" y="119063"/>
                </a:lnTo>
                <a:cubicBezTo>
                  <a:pt x="38844" y="119063"/>
                  <a:pt x="31750" y="126157"/>
                  <a:pt x="31750" y="134938"/>
                </a:cubicBezTo>
                <a:lnTo>
                  <a:pt x="31750" y="158750"/>
                </a:lnTo>
                <a:cubicBezTo>
                  <a:pt x="31750" y="171896"/>
                  <a:pt x="42416" y="182563"/>
                  <a:pt x="55563" y="182563"/>
                </a:cubicBezTo>
                <a:cubicBezTo>
                  <a:pt x="68709" y="182563"/>
                  <a:pt x="79375" y="171896"/>
                  <a:pt x="79375" y="158750"/>
                </a:cubicBezTo>
                <a:lnTo>
                  <a:pt x="79375" y="134938"/>
                </a:lnTo>
                <a:cubicBezTo>
                  <a:pt x="79375" y="126157"/>
                  <a:pt x="72281" y="119063"/>
                  <a:pt x="63500" y="119063"/>
                </a:cubicBezTo>
                <a:close/>
                <a:moveTo>
                  <a:pt x="55563" y="150813"/>
                </a:moveTo>
                <a:cubicBezTo>
                  <a:pt x="59943" y="150813"/>
                  <a:pt x="63500" y="154369"/>
                  <a:pt x="63500" y="158750"/>
                </a:cubicBezTo>
                <a:cubicBezTo>
                  <a:pt x="63500" y="163131"/>
                  <a:pt x="59943" y="166688"/>
                  <a:pt x="55563" y="166688"/>
                </a:cubicBezTo>
                <a:cubicBezTo>
                  <a:pt x="51182" y="166688"/>
                  <a:pt x="47625" y="163131"/>
                  <a:pt x="47625" y="158750"/>
                </a:cubicBezTo>
                <a:cubicBezTo>
                  <a:pt x="47625" y="154369"/>
                  <a:pt x="51182" y="150813"/>
                  <a:pt x="55563" y="150813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991600" y="16383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文件大小优化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21700" y="21971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HDFS存储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21700" y="25019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128MB-1GB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，与HDFS块大小对齐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521700" y="29083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云存储(S3/GCS)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21700" y="32131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100MB-500MB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，减少小文件开销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521700" y="36195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实时查询场景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521700" y="39243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50MB-200MB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，快速加载和缓存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521700" y="43307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批量分析场景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21700" y="46355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256MB-2GB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，减少元数据开销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514350" y="5416550"/>
            <a:ext cx="4902200" cy="2044700"/>
          </a:xfrm>
          <a:custGeom>
            <a:avLst/>
            <a:gdLst/>
            <a:ahLst/>
            <a:cxnLst/>
            <a:rect l="l" t="t" r="r" b="b"/>
            <a:pathLst>
              <a:path w="4902200" h="2044700">
                <a:moveTo>
                  <a:pt x="0" y="0"/>
                </a:moveTo>
                <a:lnTo>
                  <a:pt x="4902200" y="0"/>
                </a:lnTo>
                <a:lnTo>
                  <a:pt x="4902200" y="2044700"/>
                </a:lnTo>
                <a:lnTo>
                  <a:pt x="0" y="20447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755650" y="566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111250" y="56261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文件过小问题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23900" y="60833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元数据开销大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23900" y="63881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NameNode压力大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3900" y="66929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查询启动延迟高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3900" y="69977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并行度浪费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678984" y="5416550"/>
            <a:ext cx="4902200" cy="2044700"/>
          </a:xfrm>
          <a:custGeom>
            <a:avLst/>
            <a:gdLst/>
            <a:ahLst/>
            <a:cxnLst/>
            <a:rect l="l" t="t" r="r" b="b"/>
            <a:pathLst>
              <a:path w="4902200" h="2044700">
                <a:moveTo>
                  <a:pt x="0" y="0"/>
                </a:moveTo>
                <a:lnTo>
                  <a:pt x="4902200" y="0"/>
                </a:lnTo>
                <a:lnTo>
                  <a:pt x="4902200" y="2044700"/>
                </a:lnTo>
                <a:lnTo>
                  <a:pt x="0" y="20447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Shape 32"/>
          <p:cNvSpPr/>
          <p:nvPr/>
        </p:nvSpPr>
        <p:spPr>
          <a:xfrm>
            <a:off x="5920284" y="566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0"/>
                </a:moveTo>
                <a:cubicBezTo>
                  <a:pt x="120863" y="0"/>
                  <a:pt x="126891" y="3617"/>
                  <a:pt x="130016" y="9376"/>
                </a:cubicBezTo>
                <a:lnTo>
                  <a:pt x="226457" y="187970"/>
                </a:lnTo>
                <a:cubicBezTo>
                  <a:pt x="229448" y="193506"/>
                  <a:pt x="229314" y="200204"/>
                  <a:pt x="226100" y="205606"/>
                </a:cubicBezTo>
                <a:cubicBezTo>
                  <a:pt x="222885" y="211009"/>
                  <a:pt x="217036" y="214313"/>
                  <a:pt x="210741" y="214313"/>
                </a:cubicBezTo>
                <a:lnTo>
                  <a:pt x="17859" y="214313"/>
                </a:lnTo>
                <a:cubicBezTo>
                  <a:pt x="11564" y="214313"/>
                  <a:pt x="5760" y="211009"/>
                  <a:pt x="2500" y="205606"/>
                </a:cubicBezTo>
                <a:cubicBezTo>
                  <a:pt x="-759" y="200204"/>
                  <a:pt x="-848" y="193506"/>
                  <a:pt x="2143" y="187970"/>
                </a:cubicBezTo>
                <a:lnTo>
                  <a:pt x="98584" y="9376"/>
                </a:lnTo>
                <a:cubicBezTo>
                  <a:pt x="101709" y="3617"/>
                  <a:pt x="107737" y="0"/>
                  <a:pt x="114300" y="0"/>
                </a:cubicBezTo>
                <a:close/>
                <a:moveTo>
                  <a:pt x="114300" y="75009"/>
                </a:moveTo>
                <a:cubicBezTo>
                  <a:pt x="108362" y="75009"/>
                  <a:pt x="103584" y="79787"/>
                  <a:pt x="103584" y="85725"/>
                </a:cubicBezTo>
                <a:lnTo>
                  <a:pt x="103584" y="135731"/>
                </a:lnTo>
                <a:cubicBezTo>
                  <a:pt x="103584" y="141669"/>
                  <a:pt x="108362" y="146447"/>
                  <a:pt x="114300" y="146447"/>
                </a:cubicBezTo>
                <a:cubicBezTo>
                  <a:pt x="120238" y="146447"/>
                  <a:pt x="125016" y="141669"/>
                  <a:pt x="125016" y="135731"/>
                </a:cubicBezTo>
                <a:lnTo>
                  <a:pt x="125016" y="85725"/>
                </a:lnTo>
                <a:cubicBezTo>
                  <a:pt x="125016" y="79787"/>
                  <a:pt x="120238" y="75009"/>
                  <a:pt x="114300" y="75009"/>
                </a:cubicBezTo>
                <a:close/>
                <a:moveTo>
                  <a:pt x="126221" y="171450"/>
                </a:moveTo>
                <a:cubicBezTo>
                  <a:pt x="126492" y="167025"/>
                  <a:pt x="124286" y="162815"/>
                  <a:pt x="120492" y="160521"/>
                </a:cubicBezTo>
                <a:cubicBezTo>
                  <a:pt x="116699" y="158226"/>
                  <a:pt x="111946" y="158226"/>
                  <a:pt x="108152" y="160521"/>
                </a:cubicBezTo>
                <a:cubicBezTo>
                  <a:pt x="104359" y="162815"/>
                  <a:pt x="102152" y="167025"/>
                  <a:pt x="102424" y="171450"/>
                </a:cubicBezTo>
                <a:cubicBezTo>
                  <a:pt x="102152" y="175875"/>
                  <a:pt x="104359" y="180085"/>
                  <a:pt x="108152" y="182379"/>
                </a:cubicBezTo>
                <a:cubicBezTo>
                  <a:pt x="111946" y="184674"/>
                  <a:pt x="116699" y="184674"/>
                  <a:pt x="120492" y="182379"/>
                </a:cubicBezTo>
                <a:cubicBezTo>
                  <a:pt x="124286" y="180085"/>
                  <a:pt x="126492" y="175875"/>
                  <a:pt x="126221" y="171450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6275884" y="56261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文件过大问题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88534" y="60833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内存压力大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888534" y="63881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并行度降低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5888534" y="66929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数据局部性差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888534" y="69977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故障恢复慢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843617" y="5416550"/>
            <a:ext cx="4902200" cy="2044700"/>
          </a:xfrm>
          <a:custGeom>
            <a:avLst/>
            <a:gdLst/>
            <a:ahLst/>
            <a:cxnLst/>
            <a:rect l="l" t="t" r="r" b="b"/>
            <a:pathLst>
              <a:path w="4902200" h="2044700">
                <a:moveTo>
                  <a:pt x="0" y="0"/>
                </a:moveTo>
                <a:lnTo>
                  <a:pt x="4902200" y="0"/>
                </a:lnTo>
                <a:lnTo>
                  <a:pt x="4902200" y="2044700"/>
                </a:lnTo>
                <a:lnTo>
                  <a:pt x="0" y="20447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1084917" y="5664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51983" y="94967"/>
                </a:moveTo>
                <a:lnTo>
                  <a:pt x="116265" y="152117"/>
                </a:lnTo>
                <a:cubicBezTo>
                  <a:pt x="114389" y="155109"/>
                  <a:pt x="111175" y="156984"/>
                  <a:pt x="107647" y="157163"/>
                </a:cubicBezTo>
                <a:cubicBezTo>
                  <a:pt x="104120" y="157341"/>
                  <a:pt x="100727" y="155734"/>
                  <a:pt x="98628" y="152876"/>
                </a:cubicBezTo>
                <a:lnTo>
                  <a:pt x="77197" y="124301"/>
                </a:lnTo>
                <a:cubicBezTo>
                  <a:pt x="73625" y="119569"/>
                  <a:pt x="74608" y="112871"/>
                  <a:pt x="79340" y="109299"/>
                </a:cubicBezTo>
                <a:cubicBezTo>
                  <a:pt x="84073" y="105727"/>
                  <a:pt x="90770" y="106710"/>
                  <a:pt x="94342" y="111443"/>
                </a:cubicBezTo>
                <a:lnTo>
                  <a:pt x="106397" y="127516"/>
                </a:lnTo>
                <a:lnTo>
                  <a:pt x="133811" y="83627"/>
                </a:lnTo>
                <a:cubicBezTo>
                  <a:pt x="136937" y="78626"/>
                  <a:pt x="143545" y="77063"/>
                  <a:pt x="148590" y="80233"/>
                </a:cubicBezTo>
                <a:cubicBezTo>
                  <a:pt x="153635" y="83403"/>
                  <a:pt x="155153" y="89967"/>
                  <a:pt x="151983" y="95012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1440517" y="5626100"/>
            <a:ext cx="914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最佳实践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1053167" y="60833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监控文件大小分布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1053167" y="63881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定期压缩合并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053167" y="66929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合理设置分区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11053167" y="6997700"/>
            <a:ext cx="4572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根据场景调整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514350" y="7727950"/>
            <a:ext cx="15227300" cy="723900"/>
          </a:xfrm>
          <a:custGeom>
            <a:avLst/>
            <a:gdLst/>
            <a:ahLst/>
            <a:cxnLst/>
            <a:rect l="l" t="t" r="r" b="b"/>
            <a:pathLst>
              <a:path w="15227300" h="723900">
                <a:moveTo>
                  <a:pt x="0" y="0"/>
                </a:moveTo>
                <a:lnTo>
                  <a:pt x="15227300" y="0"/>
                </a:lnTo>
                <a:lnTo>
                  <a:pt x="152273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Shape 46"/>
          <p:cNvSpPr/>
          <p:nvPr/>
        </p:nvSpPr>
        <p:spPr>
          <a:xfrm>
            <a:off x="739775" y="79629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78991" y="595"/>
                </a:moveTo>
                <a:cubicBezTo>
                  <a:pt x="170557" y="-1836"/>
                  <a:pt x="161776" y="3076"/>
                  <a:pt x="159345" y="11509"/>
                </a:cubicBezTo>
                <a:lnTo>
                  <a:pt x="95845" y="233759"/>
                </a:lnTo>
                <a:cubicBezTo>
                  <a:pt x="93414" y="242193"/>
                  <a:pt x="98326" y="250974"/>
                  <a:pt x="106759" y="253405"/>
                </a:cubicBezTo>
                <a:cubicBezTo>
                  <a:pt x="115193" y="255836"/>
                  <a:pt x="123974" y="250924"/>
                  <a:pt x="126405" y="242491"/>
                </a:cubicBezTo>
                <a:lnTo>
                  <a:pt x="189905" y="20241"/>
                </a:lnTo>
                <a:cubicBezTo>
                  <a:pt x="192336" y="11807"/>
                  <a:pt x="187424" y="3026"/>
                  <a:pt x="178991" y="595"/>
                </a:cubicBezTo>
                <a:close/>
                <a:moveTo>
                  <a:pt x="211038" y="68114"/>
                </a:moveTo>
                <a:cubicBezTo>
                  <a:pt x="204837" y="74315"/>
                  <a:pt x="204837" y="84386"/>
                  <a:pt x="211038" y="90587"/>
                </a:cubicBezTo>
                <a:lnTo>
                  <a:pt x="247452" y="127000"/>
                </a:lnTo>
                <a:lnTo>
                  <a:pt x="211038" y="163413"/>
                </a:lnTo>
                <a:cubicBezTo>
                  <a:pt x="204837" y="169614"/>
                  <a:pt x="204837" y="179685"/>
                  <a:pt x="211038" y="185886"/>
                </a:cubicBezTo>
                <a:cubicBezTo>
                  <a:pt x="217239" y="192087"/>
                  <a:pt x="227310" y="192087"/>
                  <a:pt x="233511" y="185886"/>
                </a:cubicBezTo>
                <a:lnTo>
                  <a:pt x="281136" y="138261"/>
                </a:lnTo>
                <a:cubicBezTo>
                  <a:pt x="287338" y="132060"/>
                  <a:pt x="287338" y="121989"/>
                  <a:pt x="281136" y="115788"/>
                </a:cubicBezTo>
                <a:lnTo>
                  <a:pt x="233511" y="68163"/>
                </a:lnTo>
                <a:cubicBezTo>
                  <a:pt x="227310" y="61962"/>
                  <a:pt x="217239" y="61962"/>
                  <a:pt x="211038" y="68163"/>
                </a:cubicBezTo>
                <a:close/>
                <a:moveTo>
                  <a:pt x="74761" y="68114"/>
                </a:moveTo>
                <a:cubicBezTo>
                  <a:pt x="68560" y="61912"/>
                  <a:pt x="58489" y="61912"/>
                  <a:pt x="52288" y="68114"/>
                </a:cubicBezTo>
                <a:lnTo>
                  <a:pt x="4663" y="115739"/>
                </a:lnTo>
                <a:cubicBezTo>
                  <a:pt x="-1538" y="121940"/>
                  <a:pt x="-1538" y="132011"/>
                  <a:pt x="4663" y="138212"/>
                </a:cubicBezTo>
                <a:lnTo>
                  <a:pt x="52288" y="185837"/>
                </a:lnTo>
                <a:cubicBezTo>
                  <a:pt x="58489" y="192038"/>
                  <a:pt x="68560" y="192038"/>
                  <a:pt x="74761" y="185837"/>
                </a:cubicBezTo>
                <a:cubicBezTo>
                  <a:pt x="80962" y="179636"/>
                  <a:pt x="80962" y="169565"/>
                  <a:pt x="74761" y="163364"/>
                </a:cubicBezTo>
                <a:lnTo>
                  <a:pt x="38348" y="127000"/>
                </a:lnTo>
                <a:lnTo>
                  <a:pt x="74712" y="90587"/>
                </a:lnTo>
                <a:cubicBezTo>
                  <a:pt x="80913" y="84386"/>
                  <a:pt x="80913" y="74315"/>
                  <a:pt x="74712" y="68114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1193800" y="7937500"/>
            <a:ext cx="12915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配置示例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：Spark可通过spark.conf.set("parquet.block.size", 134217728)设置块大小，df.repartition(10).write.parquet(...)控制输出文件数和大小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58800"/>
            <a:ext cx="8356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高级特性：索引、向量化与Schema演进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377950"/>
            <a:ext cx="4902200" cy="2857500"/>
          </a:xfrm>
          <a:custGeom>
            <a:avLst/>
            <a:gdLst/>
            <a:ahLst/>
            <a:cxnLst/>
            <a:rect l="l" t="t" r="r" b="b"/>
            <a:pathLst>
              <a:path w="4902200" h="2857500">
                <a:moveTo>
                  <a:pt x="0" y="0"/>
                </a:moveTo>
                <a:lnTo>
                  <a:pt x="4902200" y="0"/>
                </a:lnTo>
                <a:lnTo>
                  <a:pt x="49022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06450" y="1689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5875" y="31750"/>
                </a:moveTo>
                <a:cubicBezTo>
                  <a:pt x="9475" y="31750"/>
                  <a:pt x="3671" y="35620"/>
                  <a:pt x="1191" y="41573"/>
                </a:cubicBezTo>
                <a:cubicBezTo>
                  <a:pt x="-1290" y="47526"/>
                  <a:pt x="99" y="54322"/>
                  <a:pt x="4663" y="58837"/>
                </a:cubicBezTo>
                <a:lnTo>
                  <a:pt x="95250" y="149473"/>
                </a:lnTo>
                <a:lnTo>
                  <a:pt x="95250" y="206375"/>
                </a:lnTo>
                <a:cubicBezTo>
                  <a:pt x="95250" y="210592"/>
                  <a:pt x="96937" y="214610"/>
                  <a:pt x="99913" y="217587"/>
                </a:cubicBezTo>
                <a:lnTo>
                  <a:pt x="131663" y="249337"/>
                </a:lnTo>
                <a:cubicBezTo>
                  <a:pt x="136227" y="253901"/>
                  <a:pt x="143024" y="255240"/>
                  <a:pt x="148977" y="252760"/>
                </a:cubicBezTo>
                <a:cubicBezTo>
                  <a:pt x="154930" y="250279"/>
                  <a:pt x="158750" y="244525"/>
                  <a:pt x="158750" y="238125"/>
                </a:cubicBezTo>
                <a:lnTo>
                  <a:pt x="158750" y="149473"/>
                </a:lnTo>
                <a:lnTo>
                  <a:pt x="249337" y="58886"/>
                </a:lnTo>
                <a:cubicBezTo>
                  <a:pt x="253901" y="54322"/>
                  <a:pt x="255240" y="47526"/>
                  <a:pt x="252760" y="41573"/>
                </a:cubicBezTo>
                <a:cubicBezTo>
                  <a:pt x="250279" y="35620"/>
                  <a:pt x="244525" y="31750"/>
                  <a:pt x="238125" y="31750"/>
                </a:cubicBezTo>
                <a:lnTo>
                  <a:pt x="15875" y="31750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244600" y="16383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索引技术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4700" y="2197100"/>
            <a:ext cx="447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布隆过滤器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4700" y="2501900"/>
            <a:ext cx="447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空间效率极高的概率性数据结构，可跳过</a:t>
            </a: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80-95%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不相关数据块，点查询性能提升</a:t>
            </a: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5-20倍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700" y="3162300"/>
            <a:ext cx="447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列索引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4700" y="3467100"/>
            <a:ext cx="447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页级统计信息，比行组级更细粒度，精度提升</a:t>
            </a: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10-100倍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78984" y="1377950"/>
            <a:ext cx="4902200" cy="2857500"/>
          </a:xfrm>
          <a:custGeom>
            <a:avLst/>
            <a:gdLst/>
            <a:ahLst/>
            <a:cxnLst/>
            <a:rect l="l" t="t" r="r" b="b"/>
            <a:pathLst>
              <a:path w="4902200" h="2857500">
                <a:moveTo>
                  <a:pt x="0" y="0"/>
                </a:moveTo>
                <a:lnTo>
                  <a:pt x="4902200" y="0"/>
                </a:lnTo>
                <a:lnTo>
                  <a:pt x="49022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971084" y="1689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9234" y="16383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39334" y="2197100"/>
            <a:ext cx="447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向量化执行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39334" y="2501900"/>
            <a:ext cx="447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利用</a:t>
            </a: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SIMD指令集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批量并行处理，数值计算性能提升</a:t>
            </a: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2-8倍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39334" y="3162300"/>
            <a:ext cx="447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数据类型优化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39334" y="3467100"/>
            <a:ext cx="447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丰富的逻辑类型系统，原生支持嵌套结构，无需序列化开销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843617" y="1377950"/>
            <a:ext cx="4902200" cy="2857500"/>
          </a:xfrm>
          <a:custGeom>
            <a:avLst/>
            <a:gdLst/>
            <a:ahLst/>
            <a:cxnLst/>
            <a:rect l="l" t="t" r="r" b="b"/>
            <a:pathLst>
              <a:path w="4902200" h="2857500">
                <a:moveTo>
                  <a:pt x="0" y="0"/>
                </a:moveTo>
                <a:lnTo>
                  <a:pt x="4902200" y="0"/>
                </a:lnTo>
                <a:lnTo>
                  <a:pt x="4902200" y="2857500"/>
                </a:lnTo>
                <a:lnTo>
                  <a:pt x="0" y="2857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1151592" y="16891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39688" y="51594"/>
                </a:moveTo>
                <a:cubicBezTo>
                  <a:pt x="46259" y="51594"/>
                  <a:pt x="51594" y="46259"/>
                  <a:pt x="51594" y="39688"/>
                </a:cubicBezTo>
                <a:cubicBezTo>
                  <a:pt x="51594" y="33116"/>
                  <a:pt x="46259" y="27781"/>
                  <a:pt x="39688" y="27781"/>
                </a:cubicBezTo>
                <a:cubicBezTo>
                  <a:pt x="33116" y="27781"/>
                  <a:pt x="27781" y="33116"/>
                  <a:pt x="27781" y="39688"/>
                </a:cubicBezTo>
                <a:cubicBezTo>
                  <a:pt x="27781" y="46259"/>
                  <a:pt x="33116" y="51594"/>
                  <a:pt x="39688" y="51594"/>
                </a:cubicBezTo>
                <a:close/>
                <a:moveTo>
                  <a:pt x="79375" y="39688"/>
                </a:moveTo>
                <a:cubicBezTo>
                  <a:pt x="79375" y="55959"/>
                  <a:pt x="69602" y="69949"/>
                  <a:pt x="55563" y="76051"/>
                </a:cubicBezTo>
                <a:lnTo>
                  <a:pt x="55563" y="111125"/>
                </a:lnTo>
                <a:lnTo>
                  <a:pt x="142875" y="111125"/>
                </a:lnTo>
                <a:cubicBezTo>
                  <a:pt x="156021" y="111125"/>
                  <a:pt x="166688" y="100459"/>
                  <a:pt x="166688" y="87313"/>
                </a:cubicBezTo>
                <a:lnTo>
                  <a:pt x="166688" y="76051"/>
                </a:lnTo>
                <a:cubicBezTo>
                  <a:pt x="152648" y="69949"/>
                  <a:pt x="142875" y="55959"/>
                  <a:pt x="142875" y="39688"/>
                </a:cubicBezTo>
                <a:cubicBezTo>
                  <a:pt x="142875" y="17760"/>
                  <a:pt x="160635" y="0"/>
                  <a:pt x="182563" y="0"/>
                </a:cubicBezTo>
                <a:cubicBezTo>
                  <a:pt x="204490" y="0"/>
                  <a:pt x="222250" y="17760"/>
                  <a:pt x="222250" y="39688"/>
                </a:cubicBezTo>
                <a:cubicBezTo>
                  <a:pt x="222250" y="55959"/>
                  <a:pt x="212477" y="69949"/>
                  <a:pt x="198438" y="76051"/>
                </a:cubicBezTo>
                <a:lnTo>
                  <a:pt x="198438" y="87313"/>
                </a:lnTo>
                <a:cubicBezTo>
                  <a:pt x="198438" y="118021"/>
                  <a:pt x="173583" y="142875"/>
                  <a:pt x="142875" y="142875"/>
                </a:cubicBezTo>
                <a:lnTo>
                  <a:pt x="55563" y="142875"/>
                </a:lnTo>
                <a:lnTo>
                  <a:pt x="55563" y="177949"/>
                </a:lnTo>
                <a:cubicBezTo>
                  <a:pt x="69602" y="184051"/>
                  <a:pt x="79375" y="198041"/>
                  <a:pt x="79375" y="214313"/>
                </a:cubicBezTo>
                <a:cubicBezTo>
                  <a:pt x="79375" y="236240"/>
                  <a:pt x="61615" y="254000"/>
                  <a:pt x="39688" y="254000"/>
                </a:cubicBezTo>
                <a:cubicBezTo>
                  <a:pt x="17760" y="254000"/>
                  <a:pt x="0" y="236240"/>
                  <a:pt x="0" y="214313"/>
                </a:cubicBezTo>
                <a:cubicBezTo>
                  <a:pt x="0" y="198041"/>
                  <a:pt x="9773" y="184051"/>
                  <a:pt x="23812" y="177949"/>
                </a:cubicBezTo>
                <a:lnTo>
                  <a:pt x="23812" y="76101"/>
                </a:lnTo>
                <a:cubicBezTo>
                  <a:pt x="9773" y="69949"/>
                  <a:pt x="0" y="55959"/>
                  <a:pt x="0" y="39688"/>
                </a:cubicBezTo>
                <a:cubicBezTo>
                  <a:pt x="0" y="17760"/>
                  <a:pt x="17760" y="0"/>
                  <a:pt x="39688" y="0"/>
                </a:cubicBezTo>
                <a:cubicBezTo>
                  <a:pt x="61615" y="0"/>
                  <a:pt x="79375" y="17760"/>
                  <a:pt x="79375" y="39688"/>
                </a:cubicBezTo>
                <a:close/>
                <a:moveTo>
                  <a:pt x="194469" y="39688"/>
                </a:moveTo>
                <a:cubicBezTo>
                  <a:pt x="194469" y="33116"/>
                  <a:pt x="189134" y="27781"/>
                  <a:pt x="182563" y="27781"/>
                </a:cubicBezTo>
                <a:cubicBezTo>
                  <a:pt x="175991" y="27781"/>
                  <a:pt x="170656" y="33116"/>
                  <a:pt x="170656" y="39688"/>
                </a:cubicBezTo>
                <a:cubicBezTo>
                  <a:pt x="170656" y="46259"/>
                  <a:pt x="175991" y="51594"/>
                  <a:pt x="182563" y="51594"/>
                </a:cubicBezTo>
                <a:cubicBezTo>
                  <a:pt x="189134" y="51594"/>
                  <a:pt x="194469" y="46259"/>
                  <a:pt x="194469" y="39688"/>
                </a:cubicBezTo>
                <a:close/>
                <a:moveTo>
                  <a:pt x="39688" y="226219"/>
                </a:moveTo>
                <a:cubicBezTo>
                  <a:pt x="46259" y="226219"/>
                  <a:pt x="51594" y="220884"/>
                  <a:pt x="51594" y="214313"/>
                </a:cubicBezTo>
                <a:cubicBezTo>
                  <a:pt x="51594" y="207741"/>
                  <a:pt x="46259" y="202406"/>
                  <a:pt x="39688" y="202406"/>
                </a:cubicBezTo>
                <a:cubicBezTo>
                  <a:pt x="33116" y="202406"/>
                  <a:pt x="27781" y="207741"/>
                  <a:pt x="27781" y="214313"/>
                </a:cubicBezTo>
                <a:cubicBezTo>
                  <a:pt x="27781" y="220884"/>
                  <a:pt x="33116" y="226219"/>
                  <a:pt x="39688" y="226219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573867" y="1638300"/>
            <a:ext cx="15748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Schema演进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03967" y="2197100"/>
            <a:ext cx="447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兼容性管理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03967" y="2501900"/>
            <a:ext cx="4470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</a:t>
            </a: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向前和向后兼容</a:t>
            </a: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的Schema演进，新旧版本读写器可以共存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03967" y="3162300"/>
            <a:ext cx="447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最佳实践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03967" y="3467100"/>
            <a:ext cx="44704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新字段设为可选类型，渐进式部署Schema变更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4350" y="4502150"/>
            <a:ext cx="7480300" cy="2349500"/>
          </a:xfrm>
          <a:custGeom>
            <a:avLst/>
            <a:gdLst/>
            <a:ahLst/>
            <a:cxnLst/>
            <a:rect l="l" t="t" r="r" b="b"/>
            <a:pathLst>
              <a:path w="7480300" h="2349500">
                <a:moveTo>
                  <a:pt x="0" y="0"/>
                </a:moveTo>
                <a:lnTo>
                  <a:pt x="7480300" y="0"/>
                </a:lnTo>
                <a:lnTo>
                  <a:pt x="7480300" y="2349500"/>
                </a:lnTo>
                <a:lnTo>
                  <a:pt x="0" y="2349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06450" y="4813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6377" y="18008"/>
                </a:moveTo>
                <a:cubicBezTo>
                  <a:pt x="71785" y="21779"/>
                  <a:pt x="73075" y="29220"/>
                  <a:pt x="69304" y="34578"/>
                </a:cubicBezTo>
                <a:lnTo>
                  <a:pt x="41523" y="74265"/>
                </a:lnTo>
                <a:cubicBezTo>
                  <a:pt x="39489" y="77143"/>
                  <a:pt x="36314" y="78978"/>
                  <a:pt x="32792" y="79276"/>
                </a:cubicBezTo>
                <a:cubicBezTo>
                  <a:pt x="29270" y="79573"/>
                  <a:pt x="25797" y="78383"/>
                  <a:pt x="23316" y="75902"/>
                </a:cubicBezTo>
                <a:lnTo>
                  <a:pt x="3473" y="56059"/>
                </a:lnTo>
                <a:cubicBezTo>
                  <a:pt x="-1141" y="51395"/>
                  <a:pt x="-1141" y="43855"/>
                  <a:pt x="3473" y="39191"/>
                </a:cubicBezTo>
                <a:cubicBezTo>
                  <a:pt x="8086" y="34528"/>
                  <a:pt x="15677" y="34578"/>
                  <a:pt x="20340" y="39191"/>
                </a:cubicBezTo>
                <a:lnTo>
                  <a:pt x="30163" y="49014"/>
                </a:lnTo>
                <a:lnTo>
                  <a:pt x="49808" y="20935"/>
                </a:lnTo>
                <a:cubicBezTo>
                  <a:pt x="53578" y="15528"/>
                  <a:pt x="61020" y="14238"/>
                  <a:pt x="66377" y="18008"/>
                </a:cubicBezTo>
                <a:close/>
                <a:moveTo>
                  <a:pt x="66377" y="97383"/>
                </a:moveTo>
                <a:cubicBezTo>
                  <a:pt x="71785" y="101154"/>
                  <a:pt x="73075" y="108595"/>
                  <a:pt x="69304" y="113953"/>
                </a:cubicBezTo>
                <a:lnTo>
                  <a:pt x="41523" y="153640"/>
                </a:lnTo>
                <a:cubicBezTo>
                  <a:pt x="39489" y="156518"/>
                  <a:pt x="36314" y="158353"/>
                  <a:pt x="32792" y="158651"/>
                </a:cubicBezTo>
                <a:cubicBezTo>
                  <a:pt x="29270" y="158948"/>
                  <a:pt x="25797" y="157758"/>
                  <a:pt x="23316" y="155277"/>
                </a:cubicBezTo>
                <a:lnTo>
                  <a:pt x="3473" y="135434"/>
                </a:lnTo>
                <a:cubicBezTo>
                  <a:pt x="-1191" y="130770"/>
                  <a:pt x="-1191" y="123230"/>
                  <a:pt x="3473" y="118616"/>
                </a:cubicBezTo>
                <a:cubicBezTo>
                  <a:pt x="8136" y="114002"/>
                  <a:pt x="15677" y="113953"/>
                  <a:pt x="20290" y="118616"/>
                </a:cubicBezTo>
                <a:lnTo>
                  <a:pt x="30113" y="128439"/>
                </a:lnTo>
                <a:lnTo>
                  <a:pt x="49758" y="100360"/>
                </a:lnTo>
                <a:cubicBezTo>
                  <a:pt x="53529" y="94952"/>
                  <a:pt x="60970" y="93662"/>
                  <a:pt x="66328" y="97433"/>
                </a:cubicBezTo>
                <a:close/>
                <a:moveTo>
                  <a:pt x="111125" y="47625"/>
                </a:moveTo>
                <a:cubicBezTo>
                  <a:pt x="111125" y="38844"/>
                  <a:pt x="118219" y="31750"/>
                  <a:pt x="127000" y="31750"/>
                </a:cubicBezTo>
                <a:lnTo>
                  <a:pt x="238125" y="31750"/>
                </a:lnTo>
                <a:cubicBezTo>
                  <a:pt x="246906" y="31750"/>
                  <a:pt x="254000" y="38844"/>
                  <a:pt x="254000" y="47625"/>
                </a:cubicBezTo>
                <a:cubicBezTo>
                  <a:pt x="254000" y="56406"/>
                  <a:pt x="246906" y="63500"/>
                  <a:pt x="238125" y="63500"/>
                </a:cubicBezTo>
                <a:lnTo>
                  <a:pt x="127000" y="63500"/>
                </a:lnTo>
                <a:cubicBezTo>
                  <a:pt x="118219" y="63500"/>
                  <a:pt x="111125" y="56406"/>
                  <a:pt x="111125" y="47625"/>
                </a:cubicBezTo>
                <a:close/>
                <a:moveTo>
                  <a:pt x="111125" y="127000"/>
                </a:moveTo>
                <a:cubicBezTo>
                  <a:pt x="111125" y="118219"/>
                  <a:pt x="118219" y="111125"/>
                  <a:pt x="127000" y="111125"/>
                </a:cubicBezTo>
                <a:lnTo>
                  <a:pt x="238125" y="111125"/>
                </a:lnTo>
                <a:cubicBezTo>
                  <a:pt x="246906" y="111125"/>
                  <a:pt x="254000" y="118219"/>
                  <a:pt x="254000" y="127000"/>
                </a:cubicBezTo>
                <a:cubicBezTo>
                  <a:pt x="254000" y="135781"/>
                  <a:pt x="246906" y="142875"/>
                  <a:pt x="238125" y="142875"/>
                </a:cubicBezTo>
                <a:lnTo>
                  <a:pt x="127000" y="142875"/>
                </a:lnTo>
                <a:cubicBezTo>
                  <a:pt x="118219" y="142875"/>
                  <a:pt x="111125" y="135781"/>
                  <a:pt x="111125" y="127000"/>
                </a:cubicBezTo>
                <a:close/>
                <a:moveTo>
                  <a:pt x="79375" y="206375"/>
                </a:moveTo>
                <a:cubicBezTo>
                  <a:pt x="79375" y="197594"/>
                  <a:pt x="86469" y="190500"/>
                  <a:pt x="95250" y="190500"/>
                </a:cubicBezTo>
                <a:lnTo>
                  <a:pt x="238125" y="190500"/>
                </a:lnTo>
                <a:cubicBezTo>
                  <a:pt x="246906" y="190500"/>
                  <a:pt x="254000" y="197594"/>
                  <a:pt x="254000" y="206375"/>
                </a:cubicBezTo>
                <a:cubicBezTo>
                  <a:pt x="254000" y="215156"/>
                  <a:pt x="246906" y="222250"/>
                  <a:pt x="238125" y="222250"/>
                </a:cubicBezTo>
                <a:lnTo>
                  <a:pt x="95250" y="222250"/>
                </a:lnTo>
                <a:cubicBezTo>
                  <a:pt x="86469" y="222250"/>
                  <a:pt x="79375" y="215156"/>
                  <a:pt x="79375" y="206375"/>
                </a:cubicBezTo>
                <a:close/>
                <a:moveTo>
                  <a:pt x="31750" y="186531"/>
                </a:moveTo>
                <a:cubicBezTo>
                  <a:pt x="42702" y="186531"/>
                  <a:pt x="51594" y="195423"/>
                  <a:pt x="51594" y="206375"/>
                </a:cubicBezTo>
                <a:cubicBezTo>
                  <a:pt x="51594" y="217327"/>
                  <a:pt x="42702" y="226219"/>
                  <a:pt x="31750" y="226219"/>
                </a:cubicBezTo>
                <a:cubicBezTo>
                  <a:pt x="20798" y="226219"/>
                  <a:pt x="11906" y="217327"/>
                  <a:pt x="11906" y="206375"/>
                </a:cubicBezTo>
                <a:cubicBezTo>
                  <a:pt x="11906" y="195423"/>
                  <a:pt x="20798" y="186531"/>
                  <a:pt x="31750" y="186531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244600" y="47625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并行处理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4700" y="53213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并行读取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74700" y="56261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文件级、行组级、列级多层并行，实现细粒度任务划分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4700" y="60325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流式读取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74700" y="63373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支持多种流式模式，有效控制内存，多核利用率可达</a:t>
            </a:r>
            <a:r>
              <a:rPr lang="en-US" sz="14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80-95%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8261350" y="4502150"/>
            <a:ext cx="7480300" cy="2349500"/>
          </a:xfrm>
          <a:custGeom>
            <a:avLst/>
            <a:gdLst/>
            <a:ahLst/>
            <a:cxnLst/>
            <a:rect l="l" t="t" r="r" b="b"/>
            <a:pathLst>
              <a:path w="7480300" h="2349500">
                <a:moveTo>
                  <a:pt x="0" y="0"/>
                </a:moveTo>
                <a:lnTo>
                  <a:pt x="7480300" y="0"/>
                </a:lnTo>
                <a:lnTo>
                  <a:pt x="7480300" y="2349500"/>
                </a:lnTo>
                <a:lnTo>
                  <a:pt x="0" y="2349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8553450" y="48133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115342" y="2580"/>
                </a:moveTo>
                <a:cubicBezTo>
                  <a:pt x="122734" y="-843"/>
                  <a:pt x="131266" y="-843"/>
                  <a:pt x="138658" y="2580"/>
                </a:cubicBezTo>
                <a:lnTo>
                  <a:pt x="247104" y="52685"/>
                </a:lnTo>
                <a:cubicBezTo>
                  <a:pt x="251321" y="54620"/>
                  <a:pt x="254000" y="58837"/>
                  <a:pt x="254000" y="63500"/>
                </a:cubicBezTo>
                <a:cubicBezTo>
                  <a:pt x="254000" y="68163"/>
                  <a:pt x="251321" y="72380"/>
                  <a:pt x="247104" y="74315"/>
                </a:cubicBezTo>
                <a:lnTo>
                  <a:pt x="138658" y="124420"/>
                </a:lnTo>
                <a:cubicBezTo>
                  <a:pt x="131266" y="127843"/>
                  <a:pt x="122734" y="127843"/>
                  <a:pt x="115342" y="124420"/>
                </a:cubicBezTo>
                <a:lnTo>
                  <a:pt x="6896" y="74315"/>
                </a:lnTo>
                <a:cubicBezTo>
                  <a:pt x="2679" y="72330"/>
                  <a:pt x="0" y="68114"/>
                  <a:pt x="0" y="63500"/>
                </a:cubicBezTo>
                <a:cubicBezTo>
                  <a:pt x="0" y="58886"/>
                  <a:pt x="2679" y="54620"/>
                  <a:pt x="6896" y="52685"/>
                </a:cubicBezTo>
                <a:lnTo>
                  <a:pt x="115342" y="2580"/>
                </a:lnTo>
                <a:close/>
                <a:moveTo>
                  <a:pt x="23862" y="108347"/>
                </a:moveTo>
                <a:lnTo>
                  <a:pt x="105370" y="146000"/>
                </a:lnTo>
                <a:cubicBezTo>
                  <a:pt x="119112" y="152350"/>
                  <a:pt x="134938" y="152350"/>
                  <a:pt x="148679" y="146000"/>
                </a:cubicBezTo>
                <a:lnTo>
                  <a:pt x="230188" y="108347"/>
                </a:lnTo>
                <a:lnTo>
                  <a:pt x="247104" y="116185"/>
                </a:lnTo>
                <a:cubicBezTo>
                  <a:pt x="251321" y="118120"/>
                  <a:pt x="254000" y="122337"/>
                  <a:pt x="254000" y="127000"/>
                </a:cubicBezTo>
                <a:cubicBezTo>
                  <a:pt x="254000" y="131663"/>
                  <a:pt x="251321" y="135880"/>
                  <a:pt x="247104" y="137815"/>
                </a:cubicBezTo>
                <a:lnTo>
                  <a:pt x="138658" y="187920"/>
                </a:lnTo>
                <a:cubicBezTo>
                  <a:pt x="131266" y="191343"/>
                  <a:pt x="122734" y="191343"/>
                  <a:pt x="115342" y="187920"/>
                </a:cubicBezTo>
                <a:lnTo>
                  <a:pt x="6896" y="137815"/>
                </a:lnTo>
                <a:cubicBezTo>
                  <a:pt x="2679" y="135830"/>
                  <a:pt x="0" y="131614"/>
                  <a:pt x="0" y="127000"/>
                </a:cubicBezTo>
                <a:cubicBezTo>
                  <a:pt x="0" y="122386"/>
                  <a:pt x="2679" y="118120"/>
                  <a:pt x="6896" y="116185"/>
                </a:cubicBezTo>
                <a:lnTo>
                  <a:pt x="23812" y="108347"/>
                </a:lnTo>
                <a:close/>
                <a:moveTo>
                  <a:pt x="6896" y="179685"/>
                </a:moveTo>
                <a:lnTo>
                  <a:pt x="23812" y="171847"/>
                </a:lnTo>
                <a:lnTo>
                  <a:pt x="105321" y="209500"/>
                </a:lnTo>
                <a:cubicBezTo>
                  <a:pt x="119063" y="215850"/>
                  <a:pt x="134888" y="215850"/>
                  <a:pt x="148630" y="209500"/>
                </a:cubicBezTo>
                <a:lnTo>
                  <a:pt x="230138" y="171847"/>
                </a:lnTo>
                <a:lnTo>
                  <a:pt x="247055" y="179685"/>
                </a:lnTo>
                <a:cubicBezTo>
                  <a:pt x="251271" y="181620"/>
                  <a:pt x="253950" y="185837"/>
                  <a:pt x="253950" y="190500"/>
                </a:cubicBezTo>
                <a:cubicBezTo>
                  <a:pt x="253950" y="195163"/>
                  <a:pt x="251271" y="199380"/>
                  <a:pt x="247055" y="201315"/>
                </a:cubicBezTo>
                <a:lnTo>
                  <a:pt x="138609" y="251420"/>
                </a:lnTo>
                <a:cubicBezTo>
                  <a:pt x="131217" y="254843"/>
                  <a:pt x="122684" y="254843"/>
                  <a:pt x="115292" y="251420"/>
                </a:cubicBezTo>
                <a:lnTo>
                  <a:pt x="6896" y="201315"/>
                </a:lnTo>
                <a:cubicBezTo>
                  <a:pt x="2679" y="199330"/>
                  <a:pt x="0" y="195114"/>
                  <a:pt x="0" y="190500"/>
                </a:cubicBezTo>
                <a:cubicBezTo>
                  <a:pt x="0" y="185886"/>
                  <a:pt x="2679" y="181620"/>
                  <a:pt x="6896" y="179685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8991600" y="4762500"/>
            <a:ext cx="241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数据类型与嵌套支持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521700" y="53213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丰富类型系统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521700" y="56261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逻辑类型(UTF8,DECIMAL,TIMESTAMP)，精确数据语义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21700" y="60325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原生嵌套支持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521700" y="6337300"/>
            <a:ext cx="7048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支持LIST/MAP/STRUCT，避免复杂序列化，直接内存传输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514350" y="7118350"/>
            <a:ext cx="15227300" cy="723900"/>
          </a:xfrm>
          <a:custGeom>
            <a:avLst/>
            <a:gdLst/>
            <a:ahLst/>
            <a:cxnLst/>
            <a:rect l="l" t="t" r="r" b="b"/>
            <a:pathLst>
              <a:path w="15227300" h="723900">
                <a:moveTo>
                  <a:pt x="0" y="0"/>
                </a:moveTo>
                <a:lnTo>
                  <a:pt x="15227300" y="0"/>
                </a:lnTo>
                <a:lnTo>
                  <a:pt x="15227300" y="723900"/>
                </a:lnTo>
                <a:lnTo>
                  <a:pt x="0" y="7239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38"/>
          <p:cNvSpPr/>
          <p:nvPr/>
        </p:nvSpPr>
        <p:spPr>
          <a:xfrm>
            <a:off x="739775" y="73533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53541" y="-9376"/>
                </a:moveTo>
                <a:cubicBezTo>
                  <a:pt x="151507" y="-13345"/>
                  <a:pt x="147389" y="-15875"/>
                  <a:pt x="142925" y="-15875"/>
                </a:cubicBezTo>
                <a:cubicBezTo>
                  <a:pt x="138460" y="-15875"/>
                  <a:pt x="134342" y="-13345"/>
                  <a:pt x="132308" y="-9376"/>
                </a:cubicBezTo>
                <a:lnTo>
                  <a:pt x="95796" y="62161"/>
                </a:lnTo>
                <a:lnTo>
                  <a:pt x="16470" y="74761"/>
                </a:lnTo>
                <a:cubicBezTo>
                  <a:pt x="12055" y="75456"/>
                  <a:pt x="8384" y="78581"/>
                  <a:pt x="6995" y="82848"/>
                </a:cubicBezTo>
                <a:cubicBezTo>
                  <a:pt x="5606" y="87114"/>
                  <a:pt x="6747" y="91777"/>
                  <a:pt x="9872" y="94952"/>
                </a:cubicBezTo>
                <a:lnTo>
                  <a:pt x="66625" y="151755"/>
                </a:lnTo>
                <a:lnTo>
                  <a:pt x="54124" y="231080"/>
                </a:lnTo>
                <a:cubicBezTo>
                  <a:pt x="53429" y="235496"/>
                  <a:pt x="55265" y="239961"/>
                  <a:pt x="58886" y="242590"/>
                </a:cubicBezTo>
                <a:cubicBezTo>
                  <a:pt x="62508" y="245219"/>
                  <a:pt x="67270" y="245616"/>
                  <a:pt x="71289" y="243582"/>
                </a:cubicBezTo>
                <a:lnTo>
                  <a:pt x="142925" y="207169"/>
                </a:lnTo>
                <a:lnTo>
                  <a:pt x="214511" y="243582"/>
                </a:lnTo>
                <a:cubicBezTo>
                  <a:pt x="218480" y="245616"/>
                  <a:pt x="223292" y="245219"/>
                  <a:pt x="226913" y="242590"/>
                </a:cubicBezTo>
                <a:cubicBezTo>
                  <a:pt x="230535" y="239961"/>
                  <a:pt x="232370" y="235545"/>
                  <a:pt x="231676" y="231080"/>
                </a:cubicBezTo>
                <a:lnTo>
                  <a:pt x="219125" y="151755"/>
                </a:lnTo>
                <a:lnTo>
                  <a:pt x="275878" y="94952"/>
                </a:lnTo>
                <a:cubicBezTo>
                  <a:pt x="279053" y="91777"/>
                  <a:pt x="280144" y="87114"/>
                  <a:pt x="278755" y="82848"/>
                </a:cubicBezTo>
                <a:cubicBezTo>
                  <a:pt x="277366" y="78581"/>
                  <a:pt x="273745" y="75456"/>
                  <a:pt x="269280" y="74761"/>
                </a:cubicBezTo>
                <a:lnTo>
                  <a:pt x="190004" y="62161"/>
                </a:lnTo>
                <a:lnTo>
                  <a:pt x="153541" y="-9376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1193800" y="7327900"/>
            <a:ext cx="14389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技术价值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：Parquet通过索引技术、向量化执行、Schema演进、并行处理等高级特性，构建了完整的高性能数据存储体系，为现代数据架构提供坚实的技术基础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oshiba-semicon-storage.com/7a8f9269b1dc7ea2ccd760956a68b962f0311adb.png"/>
          <p:cNvPicPr>
            <a:picLocks noChangeAspect="1"/>
          </p:cNvPicPr>
          <p:nvPr/>
        </p:nvPicPr>
        <p:blipFill>
          <a:blip r:embed="rId3">
            <a:alphaModFix amt="25000"/>
          </a:blip>
          <a:srcRect t="26824" b="26824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8000"/>
                </a:srgbClr>
              </a:gs>
              <a:gs pos="50000">
                <a:srgbClr val="D9A566">
                  <a:alpha val="10000"/>
                </a:srgbClr>
              </a:gs>
              <a:gs pos="100000">
                <a:srgbClr val="1A1D21">
                  <a:alpha val="98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508000" y="1752600"/>
            <a:ext cx="1016000" cy="1016000"/>
          </a:xfrm>
          <a:custGeom>
            <a:avLst/>
            <a:gdLst/>
            <a:ahLst/>
            <a:cxnLst/>
            <a:rect l="l" t="t" r="r" b="b"/>
            <a:pathLst>
              <a:path w="1016000" h="1016000">
                <a:moveTo>
                  <a:pt x="0" y="0"/>
                </a:moveTo>
                <a:lnTo>
                  <a:pt x="1016000" y="0"/>
                </a:lnTo>
                <a:lnTo>
                  <a:pt x="1016000" y="1016000"/>
                </a:lnTo>
                <a:lnTo>
                  <a:pt x="0" y="10160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2"/>
          <p:cNvSpPr/>
          <p:nvPr/>
        </p:nvSpPr>
        <p:spPr>
          <a:xfrm>
            <a:off x="393700" y="1752600"/>
            <a:ext cx="1244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FFFFFF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06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727200" y="1854200"/>
            <a:ext cx="50800" cy="812800"/>
          </a:xfrm>
          <a:custGeom>
            <a:avLst/>
            <a:gdLst/>
            <a:ahLst/>
            <a:cxnLst/>
            <a:rect l="l" t="t" r="r" b="b"/>
            <a:pathLst>
              <a:path w="50800" h="812800">
                <a:moveTo>
                  <a:pt x="0" y="0"/>
                </a:moveTo>
                <a:lnTo>
                  <a:pt x="50800" y="0"/>
                </a:lnTo>
                <a:lnTo>
                  <a:pt x="50800" y="812800"/>
                </a:lnTo>
                <a:lnTo>
                  <a:pt x="0" y="8128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508000" y="3175000"/>
            <a:ext cx="57404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总结与应用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6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展望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8000" y="5384800"/>
            <a:ext cx="55118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4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Parquet的技术价值与未来发展方向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14350" y="6305550"/>
            <a:ext cx="1638300" cy="1079500"/>
          </a:xfrm>
          <a:custGeom>
            <a:avLst/>
            <a:gdLst/>
            <a:ahLst/>
            <a:cxnLst/>
            <a:rect l="l" t="t" r="r" b="b"/>
            <a:pathLst>
              <a:path w="1638300" h="1079500">
                <a:moveTo>
                  <a:pt x="0" y="0"/>
                </a:moveTo>
                <a:lnTo>
                  <a:pt x="1638300" y="0"/>
                </a:lnTo>
                <a:lnTo>
                  <a:pt x="16383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23900" y="6515100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D8B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3900" y="68707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技术价值总结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368550" y="6305550"/>
            <a:ext cx="1638300" cy="1079500"/>
          </a:xfrm>
          <a:custGeom>
            <a:avLst/>
            <a:gdLst/>
            <a:ahLst/>
            <a:cxnLst/>
            <a:rect l="l" t="t" r="r" b="b"/>
            <a:pathLst>
              <a:path w="1638300" h="1079500">
                <a:moveTo>
                  <a:pt x="0" y="0"/>
                </a:moveTo>
                <a:lnTo>
                  <a:pt x="1638300" y="0"/>
                </a:lnTo>
                <a:lnTo>
                  <a:pt x="16383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2578100" y="6515100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D8B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FUTURE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578100" y="68707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未来发展方向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22750" y="6305550"/>
            <a:ext cx="1638300" cy="1079500"/>
          </a:xfrm>
          <a:custGeom>
            <a:avLst/>
            <a:gdLst/>
            <a:ahLst/>
            <a:cxnLst/>
            <a:rect l="l" t="t" r="r" b="b"/>
            <a:pathLst>
              <a:path w="1638300" h="1079500">
                <a:moveTo>
                  <a:pt x="0" y="0"/>
                </a:moveTo>
                <a:lnTo>
                  <a:pt x="1638300" y="0"/>
                </a:lnTo>
                <a:lnTo>
                  <a:pt x="1638300" y="1079500"/>
                </a:lnTo>
                <a:lnTo>
                  <a:pt x="0" y="10795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>
                <a:alpha val="50196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4432300" y="6515100"/>
            <a:ext cx="13081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3D8B8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APPLICATION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432300" y="6870700"/>
            <a:ext cx="1320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应用领域展望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5237" y="505237"/>
            <a:ext cx="50524" cy="606284"/>
          </a:xfrm>
          <a:custGeom>
            <a:avLst/>
            <a:gdLst/>
            <a:ahLst/>
            <a:cxnLst/>
            <a:rect l="l" t="t" r="r" b="b"/>
            <a:pathLst>
              <a:path w="50524" h="606284">
                <a:moveTo>
                  <a:pt x="0" y="0"/>
                </a:moveTo>
                <a:lnTo>
                  <a:pt x="50524" y="0"/>
                </a:lnTo>
                <a:lnTo>
                  <a:pt x="50524" y="606284"/>
                </a:lnTo>
                <a:lnTo>
                  <a:pt x="0" y="606284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57855" y="555761"/>
            <a:ext cx="4736597" cy="5052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58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Parquet技术价值总结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1552" y="1370455"/>
            <a:ext cx="4900799" cy="3473504"/>
          </a:xfrm>
          <a:custGeom>
            <a:avLst/>
            <a:gdLst/>
            <a:ahLst/>
            <a:cxnLst/>
            <a:rect l="l" t="t" r="r" b="b"/>
            <a:pathLst>
              <a:path w="4900799" h="3473504">
                <a:moveTo>
                  <a:pt x="0" y="0"/>
                </a:moveTo>
                <a:lnTo>
                  <a:pt x="4900799" y="0"/>
                </a:lnTo>
                <a:lnTo>
                  <a:pt x="4900799" y="3473504"/>
                </a:lnTo>
                <a:lnTo>
                  <a:pt x="0" y="3473504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2000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77849" y="1705175"/>
            <a:ext cx="265249" cy="303142"/>
          </a:xfrm>
          <a:custGeom>
            <a:avLst/>
            <a:gdLst/>
            <a:ahLst/>
            <a:cxnLst/>
            <a:rect l="l" t="t" r="r" b="b"/>
            <a:pathLst>
              <a:path w="265249" h="303142">
                <a:moveTo>
                  <a:pt x="265249" y="121849"/>
                </a:moveTo>
                <a:cubicBezTo>
                  <a:pt x="256487" y="127651"/>
                  <a:pt x="246421" y="132329"/>
                  <a:pt x="235942" y="136059"/>
                </a:cubicBezTo>
                <a:cubicBezTo>
                  <a:pt x="208114" y="146006"/>
                  <a:pt x="171583" y="151571"/>
                  <a:pt x="132625" y="151571"/>
                </a:cubicBezTo>
                <a:cubicBezTo>
                  <a:pt x="93666" y="151571"/>
                  <a:pt x="57076" y="145946"/>
                  <a:pt x="29308" y="136059"/>
                </a:cubicBezTo>
                <a:cubicBezTo>
                  <a:pt x="18887" y="132329"/>
                  <a:pt x="8763" y="127651"/>
                  <a:pt x="0" y="121849"/>
                </a:cubicBezTo>
                <a:lnTo>
                  <a:pt x="0" y="170517"/>
                </a:lnTo>
                <a:cubicBezTo>
                  <a:pt x="0" y="196687"/>
                  <a:pt x="59385" y="217883"/>
                  <a:pt x="132625" y="217883"/>
                </a:cubicBezTo>
                <a:cubicBezTo>
                  <a:pt x="205864" y="217883"/>
                  <a:pt x="265249" y="196687"/>
                  <a:pt x="265249" y="170517"/>
                </a:cubicBezTo>
                <a:lnTo>
                  <a:pt x="265249" y="121849"/>
                </a:lnTo>
                <a:close/>
                <a:moveTo>
                  <a:pt x="265249" y="75786"/>
                </a:moveTo>
                <a:lnTo>
                  <a:pt x="265249" y="47366"/>
                </a:lnTo>
                <a:cubicBezTo>
                  <a:pt x="265249" y="21196"/>
                  <a:pt x="205864" y="0"/>
                  <a:pt x="132625" y="0"/>
                </a:cubicBezTo>
                <a:cubicBezTo>
                  <a:pt x="59385" y="0"/>
                  <a:pt x="0" y="21196"/>
                  <a:pt x="0" y="47366"/>
                </a:cubicBezTo>
                <a:lnTo>
                  <a:pt x="0" y="75786"/>
                </a:lnTo>
                <a:cubicBezTo>
                  <a:pt x="0" y="101955"/>
                  <a:pt x="59385" y="123152"/>
                  <a:pt x="132625" y="123152"/>
                </a:cubicBezTo>
                <a:cubicBezTo>
                  <a:pt x="205864" y="123152"/>
                  <a:pt x="265249" y="101955"/>
                  <a:pt x="265249" y="75786"/>
                </a:cubicBezTo>
                <a:close/>
                <a:moveTo>
                  <a:pt x="235942" y="230791"/>
                </a:moveTo>
                <a:cubicBezTo>
                  <a:pt x="208173" y="240678"/>
                  <a:pt x="171642" y="246303"/>
                  <a:pt x="132625" y="246303"/>
                </a:cubicBezTo>
                <a:cubicBezTo>
                  <a:pt x="93607" y="246303"/>
                  <a:pt x="57076" y="240678"/>
                  <a:pt x="29308" y="230791"/>
                </a:cubicBezTo>
                <a:cubicBezTo>
                  <a:pt x="18887" y="227061"/>
                  <a:pt x="8763" y="222383"/>
                  <a:pt x="0" y="216581"/>
                </a:cubicBezTo>
                <a:lnTo>
                  <a:pt x="0" y="255776"/>
                </a:lnTo>
                <a:cubicBezTo>
                  <a:pt x="0" y="281946"/>
                  <a:pt x="59385" y="303142"/>
                  <a:pt x="132625" y="303142"/>
                </a:cubicBezTo>
                <a:cubicBezTo>
                  <a:pt x="205864" y="303142"/>
                  <a:pt x="265249" y="281946"/>
                  <a:pt x="265249" y="255776"/>
                </a:cubicBezTo>
                <a:lnTo>
                  <a:pt x="265249" y="216581"/>
                </a:lnTo>
                <a:cubicBezTo>
                  <a:pt x="256487" y="222383"/>
                  <a:pt x="246421" y="227061"/>
                  <a:pt x="235942" y="230791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351509" y="1679913"/>
            <a:ext cx="1136783" cy="35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存储效率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7326" y="2241989"/>
            <a:ext cx="4269253" cy="1225200"/>
          </a:xfrm>
          <a:custGeom>
            <a:avLst/>
            <a:gdLst/>
            <a:ahLst/>
            <a:cxnLst/>
            <a:rect l="l" t="t" r="r" b="b"/>
            <a:pathLst>
              <a:path w="4269253" h="1225200">
                <a:moveTo>
                  <a:pt x="0" y="0"/>
                </a:moveTo>
                <a:lnTo>
                  <a:pt x="4269253" y="0"/>
                </a:lnTo>
                <a:lnTo>
                  <a:pt x="4269253" y="1225200"/>
                </a:lnTo>
                <a:lnTo>
                  <a:pt x="0" y="1225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41004" y="2450399"/>
            <a:ext cx="4041896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84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70-90%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5212" y="2955636"/>
            <a:ext cx="3953479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1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存储空间节省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1010" y="3625075"/>
            <a:ext cx="4382931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列式存储+高效编码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1010" y="3928218"/>
            <a:ext cx="4382931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多种压缩算法支持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1010" y="4231360"/>
            <a:ext cx="4382931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同类型数据聚集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677995" y="1370455"/>
            <a:ext cx="4900799" cy="3473504"/>
          </a:xfrm>
          <a:custGeom>
            <a:avLst/>
            <a:gdLst/>
            <a:ahLst/>
            <a:cxnLst/>
            <a:rect l="l" t="t" r="r" b="b"/>
            <a:pathLst>
              <a:path w="4900799" h="3473504">
                <a:moveTo>
                  <a:pt x="0" y="0"/>
                </a:moveTo>
                <a:lnTo>
                  <a:pt x="4900799" y="0"/>
                </a:lnTo>
                <a:lnTo>
                  <a:pt x="4900799" y="3473504"/>
                </a:lnTo>
                <a:lnTo>
                  <a:pt x="0" y="3473504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2000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044292" y="1705175"/>
            <a:ext cx="265249" cy="303142"/>
          </a:xfrm>
          <a:custGeom>
            <a:avLst/>
            <a:gdLst/>
            <a:ahLst/>
            <a:cxnLst/>
            <a:rect l="l" t="t" r="r" b="b"/>
            <a:pathLst>
              <a:path w="265249" h="303142">
                <a:moveTo>
                  <a:pt x="200595" y="-5862"/>
                </a:moveTo>
                <a:cubicBezTo>
                  <a:pt x="207641" y="-770"/>
                  <a:pt x="210246" y="8467"/>
                  <a:pt x="207048" y="16519"/>
                </a:cubicBezTo>
                <a:lnTo>
                  <a:pt x="160630" y="132625"/>
                </a:lnTo>
                <a:lnTo>
                  <a:pt x="246303" y="132625"/>
                </a:lnTo>
                <a:cubicBezTo>
                  <a:pt x="254296" y="132625"/>
                  <a:pt x="261401" y="137598"/>
                  <a:pt x="264124" y="145117"/>
                </a:cubicBezTo>
                <a:cubicBezTo>
                  <a:pt x="266848" y="152637"/>
                  <a:pt x="264539" y="161044"/>
                  <a:pt x="258441" y="166136"/>
                </a:cubicBezTo>
                <a:lnTo>
                  <a:pt x="87923" y="308234"/>
                </a:lnTo>
                <a:cubicBezTo>
                  <a:pt x="81233" y="313800"/>
                  <a:pt x="71700" y="314096"/>
                  <a:pt x="64655" y="309004"/>
                </a:cubicBezTo>
                <a:cubicBezTo>
                  <a:pt x="57609" y="303912"/>
                  <a:pt x="55004" y="294676"/>
                  <a:pt x="58201" y="286623"/>
                </a:cubicBezTo>
                <a:lnTo>
                  <a:pt x="104620" y="170517"/>
                </a:lnTo>
                <a:lnTo>
                  <a:pt x="18946" y="170517"/>
                </a:lnTo>
                <a:cubicBezTo>
                  <a:pt x="10953" y="170517"/>
                  <a:pt x="3848" y="165544"/>
                  <a:pt x="1125" y="158025"/>
                </a:cubicBezTo>
                <a:cubicBezTo>
                  <a:pt x="-1599" y="150505"/>
                  <a:pt x="710" y="142098"/>
                  <a:pt x="6809" y="137006"/>
                </a:cubicBezTo>
                <a:lnTo>
                  <a:pt x="177326" y="-5092"/>
                </a:lnTo>
                <a:cubicBezTo>
                  <a:pt x="184017" y="-10657"/>
                  <a:pt x="193549" y="-10953"/>
                  <a:pt x="200595" y="-5862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517952" y="1679913"/>
            <a:ext cx="1136783" cy="35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查询性能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93768" y="2241989"/>
            <a:ext cx="4269253" cy="1225200"/>
          </a:xfrm>
          <a:custGeom>
            <a:avLst/>
            <a:gdLst/>
            <a:ahLst/>
            <a:cxnLst/>
            <a:rect l="l" t="t" r="r" b="b"/>
            <a:pathLst>
              <a:path w="4269253" h="1225200">
                <a:moveTo>
                  <a:pt x="0" y="0"/>
                </a:moveTo>
                <a:lnTo>
                  <a:pt x="4269253" y="0"/>
                </a:lnTo>
                <a:lnTo>
                  <a:pt x="4269253" y="1225200"/>
                </a:lnTo>
                <a:lnTo>
                  <a:pt x="0" y="1225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6107447" y="2450399"/>
            <a:ext cx="4041896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84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5-10x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51655" y="2955636"/>
            <a:ext cx="3953479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1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查询性能提升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987453" y="3625075"/>
            <a:ext cx="4382931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列裁剪减少I/O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87453" y="3928218"/>
            <a:ext cx="4382931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谓词下推数据跳过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987453" y="4231360"/>
            <a:ext cx="4382931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并行处理优化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844537" y="1370455"/>
            <a:ext cx="4900799" cy="3473504"/>
          </a:xfrm>
          <a:custGeom>
            <a:avLst/>
            <a:gdLst/>
            <a:ahLst/>
            <a:cxnLst/>
            <a:rect l="l" t="t" r="r" b="b"/>
            <a:pathLst>
              <a:path w="4900799" h="3473504">
                <a:moveTo>
                  <a:pt x="0" y="0"/>
                </a:moveTo>
                <a:lnTo>
                  <a:pt x="4900799" y="0"/>
                </a:lnTo>
                <a:lnTo>
                  <a:pt x="4900799" y="3473504"/>
                </a:lnTo>
                <a:lnTo>
                  <a:pt x="0" y="3473504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20000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1"/>
          <p:cNvSpPr/>
          <p:nvPr/>
        </p:nvSpPr>
        <p:spPr>
          <a:xfrm>
            <a:off x="11210834" y="1705175"/>
            <a:ext cx="265249" cy="303142"/>
          </a:xfrm>
          <a:custGeom>
            <a:avLst/>
            <a:gdLst/>
            <a:ahLst/>
            <a:cxnLst/>
            <a:rect l="l" t="t" r="r" b="b"/>
            <a:pathLst>
              <a:path w="265249" h="303142">
                <a:moveTo>
                  <a:pt x="99469" y="18946"/>
                </a:moveTo>
                <a:lnTo>
                  <a:pt x="14210" y="18946"/>
                </a:lnTo>
                <a:cubicBezTo>
                  <a:pt x="6335" y="18946"/>
                  <a:pt x="0" y="25282"/>
                  <a:pt x="0" y="33156"/>
                </a:cubicBezTo>
                <a:lnTo>
                  <a:pt x="0" y="118415"/>
                </a:lnTo>
                <a:cubicBezTo>
                  <a:pt x="0" y="124158"/>
                  <a:pt x="3434" y="129368"/>
                  <a:pt x="8763" y="131559"/>
                </a:cubicBezTo>
                <a:cubicBezTo>
                  <a:pt x="14091" y="133750"/>
                  <a:pt x="20190" y="132506"/>
                  <a:pt x="24275" y="128480"/>
                </a:cubicBezTo>
                <a:lnTo>
                  <a:pt x="47958" y="104797"/>
                </a:lnTo>
                <a:lnTo>
                  <a:pt x="94732" y="151571"/>
                </a:lnTo>
                <a:lnTo>
                  <a:pt x="47958" y="198345"/>
                </a:lnTo>
                <a:lnTo>
                  <a:pt x="24275" y="174662"/>
                </a:lnTo>
                <a:cubicBezTo>
                  <a:pt x="20190" y="170577"/>
                  <a:pt x="14091" y="169393"/>
                  <a:pt x="8763" y="171583"/>
                </a:cubicBezTo>
                <a:cubicBezTo>
                  <a:pt x="3434" y="173774"/>
                  <a:pt x="0" y="178984"/>
                  <a:pt x="0" y="184727"/>
                </a:cubicBezTo>
                <a:lnTo>
                  <a:pt x="0" y="269986"/>
                </a:lnTo>
                <a:cubicBezTo>
                  <a:pt x="0" y="277861"/>
                  <a:pt x="6335" y="284196"/>
                  <a:pt x="14210" y="284196"/>
                </a:cubicBezTo>
                <a:lnTo>
                  <a:pt x="99469" y="284196"/>
                </a:lnTo>
                <a:cubicBezTo>
                  <a:pt x="105212" y="284196"/>
                  <a:pt x="110422" y="280762"/>
                  <a:pt x="112613" y="275433"/>
                </a:cubicBezTo>
                <a:cubicBezTo>
                  <a:pt x="114803" y="270104"/>
                  <a:pt x="113619" y="264006"/>
                  <a:pt x="109534" y="259921"/>
                </a:cubicBezTo>
                <a:lnTo>
                  <a:pt x="85851" y="236238"/>
                </a:lnTo>
                <a:lnTo>
                  <a:pt x="132625" y="189464"/>
                </a:lnTo>
                <a:lnTo>
                  <a:pt x="179399" y="236238"/>
                </a:lnTo>
                <a:lnTo>
                  <a:pt x="155716" y="259921"/>
                </a:lnTo>
                <a:cubicBezTo>
                  <a:pt x="151630" y="264006"/>
                  <a:pt x="150446" y="270104"/>
                  <a:pt x="152637" y="275433"/>
                </a:cubicBezTo>
                <a:cubicBezTo>
                  <a:pt x="154828" y="280762"/>
                  <a:pt x="160038" y="284196"/>
                  <a:pt x="165781" y="284196"/>
                </a:cubicBezTo>
                <a:lnTo>
                  <a:pt x="251040" y="284196"/>
                </a:lnTo>
                <a:cubicBezTo>
                  <a:pt x="258914" y="284196"/>
                  <a:pt x="265249" y="277861"/>
                  <a:pt x="265249" y="269986"/>
                </a:cubicBezTo>
                <a:lnTo>
                  <a:pt x="265249" y="184727"/>
                </a:lnTo>
                <a:cubicBezTo>
                  <a:pt x="265249" y="178984"/>
                  <a:pt x="261815" y="173774"/>
                  <a:pt x="256487" y="171583"/>
                </a:cubicBezTo>
                <a:cubicBezTo>
                  <a:pt x="251158" y="169393"/>
                  <a:pt x="245060" y="170577"/>
                  <a:pt x="240974" y="174662"/>
                </a:cubicBezTo>
                <a:lnTo>
                  <a:pt x="217291" y="198345"/>
                </a:lnTo>
                <a:lnTo>
                  <a:pt x="170517" y="151571"/>
                </a:lnTo>
                <a:lnTo>
                  <a:pt x="217291" y="104797"/>
                </a:lnTo>
                <a:lnTo>
                  <a:pt x="240974" y="128480"/>
                </a:lnTo>
                <a:cubicBezTo>
                  <a:pt x="245060" y="132566"/>
                  <a:pt x="251158" y="133750"/>
                  <a:pt x="256487" y="131559"/>
                </a:cubicBezTo>
                <a:cubicBezTo>
                  <a:pt x="261815" y="129368"/>
                  <a:pt x="265249" y="124158"/>
                  <a:pt x="265249" y="118415"/>
                </a:cubicBezTo>
                <a:lnTo>
                  <a:pt x="265249" y="33156"/>
                </a:lnTo>
                <a:cubicBezTo>
                  <a:pt x="265249" y="25282"/>
                  <a:pt x="258914" y="18946"/>
                  <a:pt x="251040" y="18946"/>
                </a:cubicBezTo>
                <a:lnTo>
                  <a:pt x="165781" y="18946"/>
                </a:lnTo>
                <a:cubicBezTo>
                  <a:pt x="160038" y="18946"/>
                  <a:pt x="154828" y="22380"/>
                  <a:pt x="152637" y="27709"/>
                </a:cubicBezTo>
                <a:cubicBezTo>
                  <a:pt x="150446" y="33038"/>
                  <a:pt x="151690" y="39136"/>
                  <a:pt x="155716" y="43221"/>
                </a:cubicBezTo>
                <a:lnTo>
                  <a:pt x="179399" y="66904"/>
                </a:lnTo>
                <a:lnTo>
                  <a:pt x="132625" y="113678"/>
                </a:lnTo>
                <a:lnTo>
                  <a:pt x="85851" y="66904"/>
                </a:lnTo>
                <a:lnTo>
                  <a:pt x="109534" y="43221"/>
                </a:lnTo>
                <a:cubicBezTo>
                  <a:pt x="113619" y="39136"/>
                  <a:pt x="114803" y="33038"/>
                  <a:pt x="112613" y="27709"/>
                </a:cubicBezTo>
                <a:cubicBezTo>
                  <a:pt x="110422" y="22380"/>
                  <a:pt x="105212" y="18946"/>
                  <a:pt x="99469" y="18946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1684493" y="1679913"/>
            <a:ext cx="1136783" cy="35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扩展能力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160310" y="2241989"/>
            <a:ext cx="4269253" cy="1225200"/>
          </a:xfrm>
          <a:custGeom>
            <a:avLst/>
            <a:gdLst/>
            <a:ahLst/>
            <a:cxnLst/>
            <a:rect l="l" t="t" r="r" b="b"/>
            <a:pathLst>
              <a:path w="4269253" h="1225200">
                <a:moveTo>
                  <a:pt x="0" y="0"/>
                </a:moveTo>
                <a:lnTo>
                  <a:pt x="4269253" y="0"/>
                </a:lnTo>
                <a:lnTo>
                  <a:pt x="4269253" y="1225200"/>
                </a:lnTo>
                <a:lnTo>
                  <a:pt x="0" y="12252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1273988" y="2450399"/>
            <a:ext cx="4041896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984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全面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318197" y="2955636"/>
            <a:ext cx="3953479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1" dirty="0">
                <a:solidFill>
                  <a:srgbClr val="E0E2E6">
                    <a:alpha val="8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多维扩展支持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1153995" y="3625075"/>
            <a:ext cx="4382931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复杂数据类型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1153995" y="3928218"/>
            <a:ext cx="4382931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Schema演进能力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1153995" y="4231360"/>
            <a:ext cx="4382931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并行处理与流式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11552" y="5109209"/>
            <a:ext cx="15232895" cy="1730437"/>
          </a:xfrm>
          <a:custGeom>
            <a:avLst/>
            <a:gdLst/>
            <a:ahLst/>
            <a:cxnLst/>
            <a:rect l="l" t="t" r="r" b="b"/>
            <a:pathLst>
              <a:path w="15232895" h="1730437">
                <a:moveTo>
                  <a:pt x="0" y="0"/>
                </a:moveTo>
                <a:lnTo>
                  <a:pt x="15232895" y="0"/>
                </a:lnTo>
                <a:lnTo>
                  <a:pt x="15232895" y="1730437"/>
                </a:lnTo>
                <a:lnTo>
                  <a:pt x="0" y="1730437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30"/>
          <p:cNvSpPr/>
          <p:nvPr/>
        </p:nvSpPr>
        <p:spPr>
          <a:xfrm>
            <a:off x="770486" y="5393405"/>
            <a:ext cx="378928" cy="303142"/>
          </a:xfrm>
          <a:custGeom>
            <a:avLst/>
            <a:gdLst/>
            <a:ahLst/>
            <a:cxnLst/>
            <a:rect l="l" t="t" r="r" b="b"/>
            <a:pathLst>
              <a:path w="378928" h="303142">
                <a:moveTo>
                  <a:pt x="246244" y="124632"/>
                </a:moveTo>
                <a:cubicBezTo>
                  <a:pt x="253467" y="122678"/>
                  <a:pt x="261046" y="126112"/>
                  <a:pt x="264302" y="132802"/>
                </a:cubicBezTo>
                <a:lnTo>
                  <a:pt x="275315" y="155064"/>
                </a:lnTo>
                <a:cubicBezTo>
                  <a:pt x="281413" y="155893"/>
                  <a:pt x="287393" y="157551"/>
                  <a:pt x="293018" y="159860"/>
                </a:cubicBezTo>
                <a:lnTo>
                  <a:pt x="313740" y="146065"/>
                </a:lnTo>
                <a:cubicBezTo>
                  <a:pt x="319957" y="141920"/>
                  <a:pt x="328187" y="142749"/>
                  <a:pt x="333456" y="148019"/>
                </a:cubicBezTo>
                <a:lnTo>
                  <a:pt x="344824" y="159386"/>
                </a:lnTo>
                <a:cubicBezTo>
                  <a:pt x="350094" y="164656"/>
                  <a:pt x="350923" y="172945"/>
                  <a:pt x="346778" y="179103"/>
                </a:cubicBezTo>
                <a:lnTo>
                  <a:pt x="332983" y="199766"/>
                </a:lnTo>
                <a:cubicBezTo>
                  <a:pt x="334108" y="202549"/>
                  <a:pt x="335114" y="205450"/>
                  <a:pt x="335943" y="208469"/>
                </a:cubicBezTo>
                <a:cubicBezTo>
                  <a:pt x="336772" y="211489"/>
                  <a:pt x="337305" y="214449"/>
                  <a:pt x="337719" y="217469"/>
                </a:cubicBezTo>
                <a:lnTo>
                  <a:pt x="360041" y="228482"/>
                </a:lnTo>
                <a:cubicBezTo>
                  <a:pt x="366731" y="231797"/>
                  <a:pt x="370165" y="239376"/>
                  <a:pt x="368211" y="246540"/>
                </a:cubicBezTo>
                <a:lnTo>
                  <a:pt x="364067" y="262052"/>
                </a:lnTo>
                <a:cubicBezTo>
                  <a:pt x="362113" y="269216"/>
                  <a:pt x="355422" y="274071"/>
                  <a:pt x="347962" y="273598"/>
                </a:cubicBezTo>
                <a:lnTo>
                  <a:pt x="323095" y="271999"/>
                </a:lnTo>
                <a:cubicBezTo>
                  <a:pt x="319365" y="276795"/>
                  <a:pt x="315043" y="281235"/>
                  <a:pt x="310129" y="285025"/>
                </a:cubicBezTo>
                <a:lnTo>
                  <a:pt x="311727" y="309833"/>
                </a:lnTo>
                <a:cubicBezTo>
                  <a:pt x="312201" y="317293"/>
                  <a:pt x="307346" y="324042"/>
                  <a:pt x="300182" y="325937"/>
                </a:cubicBezTo>
                <a:lnTo>
                  <a:pt x="284669" y="330082"/>
                </a:lnTo>
                <a:cubicBezTo>
                  <a:pt x="277446" y="332035"/>
                  <a:pt x="269927" y="328601"/>
                  <a:pt x="266611" y="321911"/>
                </a:cubicBezTo>
                <a:lnTo>
                  <a:pt x="255599" y="299649"/>
                </a:lnTo>
                <a:cubicBezTo>
                  <a:pt x="249500" y="298820"/>
                  <a:pt x="243520" y="297162"/>
                  <a:pt x="237896" y="294853"/>
                </a:cubicBezTo>
                <a:lnTo>
                  <a:pt x="217173" y="308648"/>
                </a:lnTo>
                <a:cubicBezTo>
                  <a:pt x="210956" y="312793"/>
                  <a:pt x="202726" y="311964"/>
                  <a:pt x="197457" y="306695"/>
                </a:cubicBezTo>
                <a:lnTo>
                  <a:pt x="186089" y="295327"/>
                </a:lnTo>
                <a:cubicBezTo>
                  <a:pt x="180820" y="290057"/>
                  <a:pt x="179991" y="281828"/>
                  <a:pt x="184135" y="275611"/>
                </a:cubicBezTo>
                <a:lnTo>
                  <a:pt x="197931" y="254888"/>
                </a:lnTo>
                <a:cubicBezTo>
                  <a:pt x="196806" y="252105"/>
                  <a:pt x="195799" y="249204"/>
                  <a:pt x="194970" y="246185"/>
                </a:cubicBezTo>
                <a:cubicBezTo>
                  <a:pt x="194141" y="243165"/>
                  <a:pt x="193608" y="240145"/>
                  <a:pt x="193194" y="237185"/>
                </a:cubicBezTo>
                <a:lnTo>
                  <a:pt x="170873" y="226172"/>
                </a:lnTo>
                <a:cubicBezTo>
                  <a:pt x="164182" y="222857"/>
                  <a:pt x="160807" y="215278"/>
                  <a:pt x="162702" y="208114"/>
                </a:cubicBezTo>
                <a:lnTo>
                  <a:pt x="166847" y="192602"/>
                </a:lnTo>
                <a:cubicBezTo>
                  <a:pt x="168800" y="185438"/>
                  <a:pt x="175491" y="180583"/>
                  <a:pt x="182951" y="181056"/>
                </a:cubicBezTo>
                <a:lnTo>
                  <a:pt x="207759" y="182655"/>
                </a:lnTo>
                <a:cubicBezTo>
                  <a:pt x="211489" y="177859"/>
                  <a:pt x="215811" y="173419"/>
                  <a:pt x="220725" y="169629"/>
                </a:cubicBezTo>
                <a:lnTo>
                  <a:pt x="219127" y="144881"/>
                </a:lnTo>
                <a:cubicBezTo>
                  <a:pt x="218653" y="137421"/>
                  <a:pt x="223508" y="130671"/>
                  <a:pt x="230672" y="128776"/>
                </a:cubicBezTo>
                <a:lnTo>
                  <a:pt x="246185" y="124632"/>
                </a:lnTo>
                <a:close/>
                <a:moveTo>
                  <a:pt x="265486" y="201305"/>
                </a:moveTo>
                <a:cubicBezTo>
                  <a:pt x="251108" y="201322"/>
                  <a:pt x="239448" y="213008"/>
                  <a:pt x="239465" y="227386"/>
                </a:cubicBezTo>
                <a:cubicBezTo>
                  <a:pt x="239481" y="241764"/>
                  <a:pt x="251167" y="253424"/>
                  <a:pt x="265545" y="253408"/>
                </a:cubicBezTo>
                <a:cubicBezTo>
                  <a:pt x="279924" y="253392"/>
                  <a:pt x="291583" y="241705"/>
                  <a:pt x="291567" y="227327"/>
                </a:cubicBezTo>
                <a:cubicBezTo>
                  <a:pt x="291551" y="212949"/>
                  <a:pt x="279864" y="201289"/>
                  <a:pt x="265486" y="201305"/>
                </a:cubicBezTo>
                <a:close/>
                <a:moveTo>
                  <a:pt x="133158" y="-26939"/>
                </a:moveTo>
                <a:lnTo>
                  <a:pt x="148670" y="-22795"/>
                </a:lnTo>
                <a:cubicBezTo>
                  <a:pt x="155834" y="-20841"/>
                  <a:pt x="160689" y="-14091"/>
                  <a:pt x="160215" y="-6690"/>
                </a:cubicBezTo>
                <a:lnTo>
                  <a:pt x="158617" y="18058"/>
                </a:lnTo>
                <a:cubicBezTo>
                  <a:pt x="163531" y="21848"/>
                  <a:pt x="167853" y="26229"/>
                  <a:pt x="171583" y="31084"/>
                </a:cubicBezTo>
                <a:lnTo>
                  <a:pt x="196450" y="29485"/>
                </a:lnTo>
                <a:cubicBezTo>
                  <a:pt x="203851" y="29012"/>
                  <a:pt x="210601" y="33867"/>
                  <a:pt x="212555" y="41031"/>
                </a:cubicBezTo>
                <a:lnTo>
                  <a:pt x="216699" y="56543"/>
                </a:lnTo>
                <a:cubicBezTo>
                  <a:pt x="218594" y="63707"/>
                  <a:pt x="215219" y="71286"/>
                  <a:pt x="208529" y="74601"/>
                </a:cubicBezTo>
                <a:lnTo>
                  <a:pt x="186207" y="85614"/>
                </a:lnTo>
                <a:cubicBezTo>
                  <a:pt x="185793" y="88634"/>
                  <a:pt x="185201" y="91653"/>
                  <a:pt x="184431" y="94614"/>
                </a:cubicBezTo>
                <a:cubicBezTo>
                  <a:pt x="183662" y="97574"/>
                  <a:pt x="182596" y="100534"/>
                  <a:pt x="181471" y="103317"/>
                </a:cubicBezTo>
                <a:lnTo>
                  <a:pt x="195266" y="124040"/>
                </a:lnTo>
                <a:cubicBezTo>
                  <a:pt x="199411" y="130256"/>
                  <a:pt x="198582" y="138486"/>
                  <a:pt x="193312" y="143756"/>
                </a:cubicBezTo>
                <a:lnTo>
                  <a:pt x="181945" y="155124"/>
                </a:lnTo>
                <a:cubicBezTo>
                  <a:pt x="176675" y="160393"/>
                  <a:pt x="168445" y="161222"/>
                  <a:pt x="162228" y="157077"/>
                </a:cubicBezTo>
                <a:lnTo>
                  <a:pt x="141506" y="143282"/>
                </a:lnTo>
                <a:cubicBezTo>
                  <a:pt x="135881" y="145591"/>
                  <a:pt x="129901" y="147249"/>
                  <a:pt x="123803" y="148078"/>
                </a:cubicBezTo>
                <a:lnTo>
                  <a:pt x="112790" y="170340"/>
                </a:lnTo>
                <a:cubicBezTo>
                  <a:pt x="109475" y="177030"/>
                  <a:pt x="101896" y="180405"/>
                  <a:pt x="94732" y="178510"/>
                </a:cubicBezTo>
                <a:lnTo>
                  <a:pt x="79220" y="174366"/>
                </a:lnTo>
                <a:cubicBezTo>
                  <a:pt x="71996" y="172412"/>
                  <a:pt x="67200" y="165662"/>
                  <a:pt x="67674" y="158262"/>
                </a:cubicBezTo>
                <a:lnTo>
                  <a:pt x="69273" y="133454"/>
                </a:lnTo>
                <a:cubicBezTo>
                  <a:pt x="64359" y="129664"/>
                  <a:pt x="60036" y="125283"/>
                  <a:pt x="56306" y="120428"/>
                </a:cubicBezTo>
                <a:lnTo>
                  <a:pt x="31439" y="122027"/>
                </a:lnTo>
                <a:cubicBezTo>
                  <a:pt x="24038" y="122500"/>
                  <a:pt x="17289" y="117645"/>
                  <a:pt x="15335" y="110481"/>
                </a:cubicBezTo>
                <a:lnTo>
                  <a:pt x="11190" y="94969"/>
                </a:lnTo>
                <a:cubicBezTo>
                  <a:pt x="9296" y="87805"/>
                  <a:pt x="12670" y="80226"/>
                  <a:pt x="19361" y="76910"/>
                </a:cubicBezTo>
                <a:lnTo>
                  <a:pt x="41682" y="65898"/>
                </a:lnTo>
                <a:cubicBezTo>
                  <a:pt x="42097" y="62878"/>
                  <a:pt x="42689" y="59918"/>
                  <a:pt x="43458" y="56898"/>
                </a:cubicBezTo>
                <a:cubicBezTo>
                  <a:pt x="44287" y="53879"/>
                  <a:pt x="45234" y="50978"/>
                  <a:pt x="46419" y="48195"/>
                </a:cubicBezTo>
                <a:lnTo>
                  <a:pt x="32623" y="27531"/>
                </a:lnTo>
                <a:cubicBezTo>
                  <a:pt x="28479" y="21315"/>
                  <a:pt x="29308" y="13085"/>
                  <a:pt x="34577" y="7815"/>
                </a:cubicBezTo>
                <a:lnTo>
                  <a:pt x="45945" y="-3552"/>
                </a:lnTo>
                <a:cubicBezTo>
                  <a:pt x="51214" y="-8822"/>
                  <a:pt x="59444" y="-9651"/>
                  <a:pt x="65661" y="-5506"/>
                </a:cubicBezTo>
                <a:lnTo>
                  <a:pt x="86384" y="8289"/>
                </a:lnTo>
                <a:cubicBezTo>
                  <a:pt x="92008" y="5980"/>
                  <a:pt x="97988" y="4322"/>
                  <a:pt x="104087" y="3493"/>
                </a:cubicBezTo>
                <a:lnTo>
                  <a:pt x="115099" y="-18769"/>
                </a:lnTo>
                <a:cubicBezTo>
                  <a:pt x="118415" y="-25459"/>
                  <a:pt x="125934" y="-28834"/>
                  <a:pt x="133158" y="-26939"/>
                </a:cubicBezTo>
                <a:close/>
                <a:moveTo>
                  <a:pt x="113915" y="49734"/>
                </a:moveTo>
                <a:cubicBezTo>
                  <a:pt x="99537" y="49734"/>
                  <a:pt x="87864" y="61407"/>
                  <a:pt x="87864" y="75786"/>
                </a:cubicBezTo>
                <a:cubicBezTo>
                  <a:pt x="87864" y="90164"/>
                  <a:pt x="99537" y="101837"/>
                  <a:pt x="113915" y="101837"/>
                </a:cubicBezTo>
                <a:cubicBezTo>
                  <a:pt x="128293" y="101837"/>
                  <a:pt x="139966" y="90164"/>
                  <a:pt x="139966" y="75786"/>
                </a:cubicBezTo>
                <a:cubicBezTo>
                  <a:pt x="139966" y="61407"/>
                  <a:pt x="128293" y="49734"/>
                  <a:pt x="113915" y="49734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1351509" y="5368143"/>
            <a:ext cx="1642020" cy="35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989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核心技术基础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19963" y="5923904"/>
            <a:ext cx="3625075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1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编码技术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6278" y="6328093"/>
            <a:ext cx="3612444" cy="25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字典、RLE、Delta、Bit Packing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4449539" y="5923904"/>
            <a:ext cx="3625075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1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压缩算法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455855" y="6328093"/>
            <a:ext cx="3612444" cy="25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SNAPPY、GZIP、ZSTD、LZ4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8179214" y="5923904"/>
            <a:ext cx="3625075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1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查询优化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85530" y="6328093"/>
            <a:ext cx="3612444" cy="25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数据跳过、列裁剪、谓词下推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11908791" y="5923904"/>
            <a:ext cx="3625075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591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嵌套处理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915106" y="6328093"/>
            <a:ext cx="3612444" cy="25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92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RL/DL机制、列式存储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11552" y="7104895"/>
            <a:ext cx="7490138" cy="1528342"/>
          </a:xfrm>
          <a:custGeom>
            <a:avLst/>
            <a:gdLst/>
            <a:ahLst/>
            <a:cxnLst/>
            <a:rect l="l" t="t" r="r" b="b"/>
            <a:pathLst>
              <a:path w="7490138" h="1528342">
                <a:moveTo>
                  <a:pt x="0" y="0"/>
                </a:moveTo>
                <a:lnTo>
                  <a:pt x="7490138" y="0"/>
                </a:lnTo>
                <a:lnTo>
                  <a:pt x="7490138" y="1528342"/>
                </a:lnTo>
                <a:lnTo>
                  <a:pt x="0" y="1528342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41"/>
          <p:cNvSpPr/>
          <p:nvPr/>
        </p:nvSpPr>
        <p:spPr>
          <a:xfrm>
            <a:off x="735751" y="7363829"/>
            <a:ext cx="284196" cy="252618"/>
          </a:xfrm>
          <a:custGeom>
            <a:avLst/>
            <a:gdLst/>
            <a:ahLst/>
            <a:cxnLst/>
            <a:rect l="l" t="t" r="r" b="b"/>
            <a:pathLst>
              <a:path w="284196" h="252618">
                <a:moveTo>
                  <a:pt x="122362" y="43419"/>
                </a:moveTo>
                <a:lnTo>
                  <a:pt x="161834" y="43419"/>
                </a:lnTo>
                <a:lnTo>
                  <a:pt x="161834" y="67102"/>
                </a:lnTo>
                <a:lnTo>
                  <a:pt x="122362" y="67102"/>
                </a:lnTo>
                <a:lnTo>
                  <a:pt x="122362" y="43419"/>
                </a:lnTo>
                <a:close/>
                <a:moveTo>
                  <a:pt x="118415" y="15789"/>
                </a:moveTo>
                <a:cubicBezTo>
                  <a:pt x="105340" y="15789"/>
                  <a:pt x="94732" y="26397"/>
                  <a:pt x="94732" y="39472"/>
                </a:cubicBezTo>
                <a:lnTo>
                  <a:pt x="94732" y="71049"/>
                </a:lnTo>
                <a:cubicBezTo>
                  <a:pt x="94732" y="84124"/>
                  <a:pt x="105340" y="94732"/>
                  <a:pt x="118415" y="94732"/>
                </a:cubicBezTo>
                <a:lnTo>
                  <a:pt x="126309" y="94732"/>
                </a:lnTo>
                <a:lnTo>
                  <a:pt x="126309" y="110521"/>
                </a:lnTo>
                <a:lnTo>
                  <a:pt x="15789" y="110521"/>
                </a:lnTo>
                <a:cubicBezTo>
                  <a:pt x="7056" y="110521"/>
                  <a:pt x="0" y="117576"/>
                  <a:pt x="0" y="126309"/>
                </a:cubicBezTo>
                <a:cubicBezTo>
                  <a:pt x="0" y="135042"/>
                  <a:pt x="7056" y="142098"/>
                  <a:pt x="15789" y="142098"/>
                </a:cubicBezTo>
                <a:lnTo>
                  <a:pt x="63155" y="142098"/>
                </a:lnTo>
                <a:lnTo>
                  <a:pt x="63155" y="157887"/>
                </a:lnTo>
                <a:lnTo>
                  <a:pt x="55260" y="157887"/>
                </a:lnTo>
                <a:cubicBezTo>
                  <a:pt x="42185" y="157887"/>
                  <a:pt x="31577" y="168495"/>
                  <a:pt x="31577" y="181570"/>
                </a:cubicBezTo>
                <a:lnTo>
                  <a:pt x="31577" y="213147"/>
                </a:lnTo>
                <a:cubicBezTo>
                  <a:pt x="31577" y="226222"/>
                  <a:pt x="42185" y="236830"/>
                  <a:pt x="55260" y="236830"/>
                </a:cubicBezTo>
                <a:lnTo>
                  <a:pt x="102626" y="236830"/>
                </a:lnTo>
                <a:cubicBezTo>
                  <a:pt x="115701" y="236830"/>
                  <a:pt x="126309" y="226222"/>
                  <a:pt x="126309" y="213147"/>
                </a:cubicBezTo>
                <a:lnTo>
                  <a:pt x="126309" y="181570"/>
                </a:lnTo>
                <a:cubicBezTo>
                  <a:pt x="126309" y="168495"/>
                  <a:pt x="115701" y="157887"/>
                  <a:pt x="102626" y="157887"/>
                </a:cubicBezTo>
                <a:lnTo>
                  <a:pt x="94732" y="157887"/>
                </a:lnTo>
                <a:lnTo>
                  <a:pt x="94732" y="142098"/>
                </a:lnTo>
                <a:lnTo>
                  <a:pt x="189464" y="142098"/>
                </a:lnTo>
                <a:lnTo>
                  <a:pt x="189464" y="157887"/>
                </a:lnTo>
                <a:lnTo>
                  <a:pt x="181570" y="157887"/>
                </a:lnTo>
                <a:cubicBezTo>
                  <a:pt x="168495" y="157887"/>
                  <a:pt x="157887" y="168495"/>
                  <a:pt x="157887" y="181570"/>
                </a:cubicBezTo>
                <a:lnTo>
                  <a:pt x="157887" y="213147"/>
                </a:lnTo>
                <a:cubicBezTo>
                  <a:pt x="157887" y="226222"/>
                  <a:pt x="168495" y="236830"/>
                  <a:pt x="181570" y="236830"/>
                </a:cubicBezTo>
                <a:lnTo>
                  <a:pt x="228936" y="236830"/>
                </a:lnTo>
                <a:cubicBezTo>
                  <a:pt x="242010" y="236830"/>
                  <a:pt x="252618" y="226222"/>
                  <a:pt x="252618" y="213147"/>
                </a:cubicBezTo>
                <a:lnTo>
                  <a:pt x="252618" y="181570"/>
                </a:lnTo>
                <a:cubicBezTo>
                  <a:pt x="252618" y="168495"/>
                  <a:pt x="242010" y="157887"/>
                  <a:pt x="228936" y="157887"/>
                </a:cubicBezTo>
                <a:lnTo>
                  <a:pt x="221041" y="157887"/>
                </a:lnTo>
                <a:lnTo>
                  <a:pt x="221041" y="142098"/>
                </a:lnTo>
                <a:lnTo>
                  <a:pt x="268407" y="142098"/>
                </a:lnTo>
                <a:cubicBezTo>
                  <a:pt x="277140" y="142098"/>
                  <a:pt x="284196" y="135042"/>
                  <a:pt x="284196" y="126309"/>
                </a:cubicBezTo>
                <a:cubicBezTo>
                  <a:pt x="284196" y="117576"/>
                  <a:pt x="277140" y="110521"/>
                  <a:pt x="268407" y="110521"/>
                </a:cubicBezTo>
                <a:lnTo>
                  <a:pt x="157887" y="110521"/>
                </a:lnTo>
                <a:lnTo>
                  <a:pt x="157887" y="94732"/>
                </a:lnTo>
                <a:lnTo>
                  <a:pt x="165781" y="94732"/>
                </a:lnTo>
                <a:cubicBezTo>
                  <a:pt x="178856" y="94732"/>
                  <a:pt x="189464" y="84124"/>
                  <a:pt x="189464" y="71049"/>
                </a:cubicBezTo>
                <a:lnTo>
                  <a:pt x="189464" y="39472"/>
                </a:lnTo>
                <a:cubicBezTo>
                  <a:pt x="189464" y="26397"/>
                  <a:pt x="178856" y="15789"/>
                  <a:pt x="165781" y="15789"/>
                </a:cubicBezTo>
                <a:lnTo>
                  <a:pt x="118415" y="15789"/>
                </a:lnTo>
                <a:close/>
                <a:moveTo>
                  <a:pt x="221041" y="185517"/>
                </a:moveTo>
                <a:lnTo>
                  <a:pt x="224988" y="185517"/>
                </a:lnTo>
                <a:lnTo>
                  <a:pt x="224988" y="209200"/>
                </a:lnTo>
                <a:lnTo>
                  <a:pt x="185517" y="209200"/>
                </a:lnTo>
                <a:lnTo>
                  <a:pt x="185517" y="185517"/>
                </a:lnTo>
                <a:lnTo>
                  <a:pt x="221041" y="185517"/>
                </a:lnTo>
                <a:close/>
                <a:moveTo>
                  <a:pt x="94732" y="185517"/>
                </a:moveTo>
                <a:lnTo>
                  <a:pt x="98679" y="185517"/>
                </a:lnTo>
                <a:lnTo>
                  <a:pt x="98679" y="209200"/>
                </a:lnTo>
                <a:lnTo>
                  <a:pt x="59207" y="209200"/>
                </a:lnTo>
                <a:lnTo>
                  <a:pt x="59207" y="185517"/>
                </a:lnTo>
                <a:lnTo>
                  <a:pt x="94732" y="185517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187307" y="7313305"/>
            <a:ext cx="1023105" cy="35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9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生态集成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9963" y="7818542"/>
            <a:ext cx="7174365" cy="60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</a:t>
            </a:r>
            <a:r>
              <a:rPr lang="en-US" sz="1591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Spark/Flink/Presto</a:t>
            </a: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等主流引擎深度集成，在</a:t>
            </a:r>
            <a:r>
              <a:rPr lang="en-US" sz="1591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数据湖架构</a:t>
            </a: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(Iceberg/Delta Lake/Hudi)和</a:t>
            </a:r>
            <a:r>
              <a:rPr lang="en-US" sz="1591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云平台</a:t>
            </a: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(AWS/GCP/Azure)中得到全面支持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261315" y="7104895"/>
            <a:ext cx="7490138" cy="1528342"/>
          </a:xfrm>
          <a:custGeom>
            <a:avLst/>
            <a:gdLst/>
            <a:ahLst/>
            <a:cxnLst/>
            <a:rect l="l" t="t" r="r" b="b"/>
            <a:pathLst>
              <a:path w="7490138" h="1528342">
                <a:moveTo>
                  <a:pt x="0" y="0"/>
                </a:moveTo>
                <a:lnTo>
                  <a:pt x="7490138" y="0"/>
                </a:lnTo>
                <a:lnTo>
                  <a:pt x="7490138" y="1528342"/>
                </a:lnTo>
                <a:lnTo>
                  <a:pt x="0" y="1528342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Shape 45"/>
          <p:cNvSpPr/>
          <p:nvPr/>
        </p:nvSpPr>
        <p:spPr>
          <a:xfrm>
            <a:off x="8501303" y="7363829"/>
            <a:ext cx="252618" cy="252618"/>
          </a:xfrm>
          <a:custGeom>
            <a:avLst/>
            <a:gdLst/>
            <a:ahLst/>
            <a:cxnLst/>
            <a:rect l="l" t="t" r="r" b="b"/>
            <a:pathLst>
              <a:path w="252618" h="252618">
                <a:moveTo>
                  <a:pt x="31577" y="31577"/>
                </a:moveTo>
                <a:cubicBezTo>
                  <a:pt x="31577" y="22844"/>
                  <a:pt x="24522" y="15789"/>
                  <a:pt x="15789" y="15789"/>
                </a:cubicBezTo>
                <a:cubicBezTo>
                  <a:pt x="7056" y="15789"/>
                  <a:pt x="0" y="22844"/>
                  <a:pt x="0" y="31577"/>
                </a:cubicBezTo>
                <a:lnTo>
                  <a:pt x="0" y="197358"/>
                </a:lnTo>
                <a:cubicBezTo>
                  <a:pt x="0" y="219166"/>
                  <a:pt x="17664" y="236830"/>
                  <a:pt x="39472" y="236830"/>
                </a:cubicBezTo>
                <a:lnTo>
                  <a:pt x="236830" y="236830"/>
                </a:lnTo>
                <a:cubicBezTo>
                  <a:pt x="245563" y="236830"/>
                  <a:pt x="252618" y="229774"/>
                  <a:pt x="252618" y="221041"/>
                </a:cubicBezTo>
                <a:cubicBezTo>
                  <a:pt x="252618" y="212308"/>
                  <a:pt x="245563" y="205253"/>
                  <a:pt x="236830" y="205253"/>
                </a:cubicBezTo>
                <a:lnTo>
                  <a:pt x="39472" y="205253"/>
                </a:lnTo>
                <a:cubicBezTo>
                  <a:pt x="35130" y="205253"/>
                  <a:pt x="31577" y="201700"/>
                  <a:pt x="31577" y="197358"/>
                </a:cubicBezTo>
                <a:lnTo>
                  <a:pt x="31577" y="31577"/>
                </a:lnTo>
                <a:close/>
                <a:moveTo>
                  <a:pt x="232192" y="74305"/>
                </a:moveTo>
                <a:cubicBezTo>
                  <a:pt x="238359" y="68138"/>
                  <a:pt x="238359" y="58122"/>
                  <a:pt x="232192" y="51955"/>
                </a:cubicBezTo>
                <a:cubicBezTo>
                  <a:pt x="226024" y="45787"/>
                  <a:pt x="216009" y="45787"/>
                  <a:pt x="209841" y="51955"/>
                </a:cubicBezTo>
                <a:lnTo>
                  <a:pt x="157887" y="103958"/>
                </a:lnTo>
                <a:lnTo>
                  <a:pt x="129566" y="75687"/>
                </a:lnTo>
                <a:cubicBezTo>
                  <a:pt x="123398" y="69519"/>
                  <a:pt x="113382" y="69519"/>
                  <a:pt x="107215" y="75687"/>
                </a:cubicBezTo>
                <a:lnTo>
                  <a:pt x="59849" y="123053"/>
                </a:lnTo>
                <a:cubicBezTo>
                  <a:pt x="53681" y="129220"/>
                  <a:pt x="53681" y="139236"/>
                  <a:pt x="59849" y="145404"/>
                </a:cubicBezTo>
                <a:cubicBezTo>
                  <a:pt x="66016" y="151571"/>
                  <a:pt x="76032" y="151571"/>
                  <a:pt x="82200" y="145404"/>
                </a:cubicBezTo>
                <a:lnTo>
                  <a:pt x="118415" y="109188"/>
                </a:lnTo>
                <a:lnTo>
                  <a:pt x="146736" y="137509"/>
                </a:lnTo>
                <a:cubicBezTo>
                  <a:pt x="152903" y="143677"/>
                  <a:pt x="162919" y="143677"/>
                  <a:pt x="169087" y="137509"/>
                </a:cubicBezTo>
                <a:lnTo>
                  <a:pt x="232241" y="74355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8937070" y="7313305"/>
            <a:ext cx="1477818" cy="35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79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核心价值主张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8469726" y="7818542"/>
            <a:ext cx="7174365" cy="6062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通过列式存储+高效编码+压缩算法+查询优化，实现</a:t>
            </a:r>
            <a:r>
              <a:rPr lang="en-US" sz="1591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存储成本大幅降低</a:t>
            </a: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591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查询性能显著提升</a:t>
            </a:r>
            <a:r>
              <a:rPr lang="en-US" sz="159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的双重价值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" y="508000"/>
            <a:ext cx="50800" cy="609600"/>
          </a:xfrm>
          <a:custGeom>
            <a:avLst/>
            <a:gdLst/>
            <a:ahLst/>
            <a:cxnLst/>
            <a:rect l="l" t="t" r="r" b="b"/>
            <a:pathLst>
              <a:path w="50800" h="609600">
                <a:moveTo>
                  <a:pt x="0" y="0"/>
                </a:moveTo>
                <a:lnTo>
                  <a:pt x="50800" y="0"/>
                </a:lnTo>
                <a:lnTo>
                  <a:pt x="50800" y="609600"/>
                </a:lnTo>
                <a:lnTo>
                  <a:pt x="0" y="6096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62000" y="558800"/>
            <a:ext cx="52578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36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未来发展方向与应用领域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14350" y="1377950"/>
            <a:ext cx="4902200" cy="2603500"/>
          </a:xfrm>
          <a:custGeom>
            <a:avLst/>
            <a:gdLst/>
            <a:ahLst/>
            <a:cxnLst/>
            <a:rect l="l" t="t" r="r" b="b"/>
            <a:pathLst>
              <a:path w="4902200" h="2603500">
                <a:moveTo>
                  <a:pt x="0" y="0"/>
                </a:moveTo>
                <a:lnTo>
                  <a:pt x="4902200" y="0"/>
                </a:lnTo>
                <a:lnTo>
                  <a:pt x="4902200" y="2603500"/>
                </a:lnTo>
                <a:lnTo>
                  <a:pt x="0" y="2603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806450" y="1689100"/>
            <a:ext cx="254000" cy="254000"/>
          </a:xfrm>
          <a:custGeom>
            <a:avLst/>
            <a:gdLst/>
            <a:ahLst/>
            <a:cxnLst/>
            <a:rect l="l" t="t" r="r" b="b"/>
            <a:pathLst>
              <a:path w="254000" h="254000">
                <a:moveTo>
                  <a:pt x="63500" y="158750"/>
                </a:moveTo>
                <a:lnTo>
                  <a:pt x="12154" y="158750"/>
                </a:lnTo>
                <a:cubicBezTo>
                  <a:pt x="-198" y="158750"/>
                  <a:pt x="-7789" y="145306"/>
                  <a:pt x="-1439" y="134689"/>
                </a:cubicBezTo>
                <a:lnTo>
                  <a:pt x="24805" y="90934"/>
                </a:lnTo>
                <a:cubicBezTo>
                  <a:pt x="29121" y="83741"/>
                  <a:pt x="36860" y="79375"/>
                  <a:pt x="45244" y="79375"/>
                </a:cubicBezTo>
                <a:lnTo>
                  <a:pt x="92373" y="79375"/>
                </a:lnTo>
                <a:cubicBezTo>
                  <a:pt x="130125" y="15429"/>
                  <a:pt x="186432" y="12204"/>
                  <a:pt x="224086" y="17711"/>
                </a:cubicBezTo>
                <a:cubicBezTo>
                  <a:pt x="230436" y="18653"/>
                  <a:pt x="235396" y="23614"/>
                  <a:pt x="236289" y="29914"/>
                </a:cubicBezTo>
                <a:cubicBezTo>
                  <a:pt x="241796" y="67568"/>
                  <a:pt x="238571" y="123875"/>
                  <a:pt x="174625" y="161627"/>
                </a:cubicBezTo>
                <a:lnTo>
                  <a:pt x="174625" y="208756"/>
                </a:lnTo>
                <a:cubicBezTo>
                  <a:pt x="174625" y="217140"/>
                  <a:pt x="170259" y="224879"/>
                  <a:pt x="163066" y="229195"/>
                </a:cubicBezTo>
                <a:lnTo>
                  <a:pt x="119311" y="255439"/>
                </a:lnTo>
                <a:cubicBezTo>
                  <a:pt x="108744" y="261789"/>
                  <a:pt x="95250" y="254149"/>
                  <a:pt x="95250" y="241846"/>
                </a:cubicBezTo>
                <a:lnTo>
                  <a:pt x="95250" y="190500"/>
                </a:lnTo>
                <a:cubicBezTo>
                  <a:pt x="95250" y="172988"/>
                  <a:pt x="81012" y="158750"/>
                  <a:pt x="63500" y="158750"/>
                </a:cubicBezTo>
                <a:lnTo>
                  <a:pt x="63450" y="158750"/>
                </a:lnTo>
                <a:close/>
                <a:moveTo>
                  <a:pt x="198438" y="79375"/>
                </a:moveTo>
                <a:cubicBezTo>
                  <a:pt x="198438" y="66233"/>
                  <a:pt x="187767" y="55563"/>
                  <a:pt x="174625" y="55563"/>
                </a:cubicBezTo>
                <a:cubicBezTo>
                  <a:pt x="161483" y="55563"/>
                  <a:pt x="150813" y="66233"/>
                  <a:pt x="150813" y="79375"/>
                </a:cubicBezTo>
                <a:cubicBezTo>
                  <a:pt x="150813" y="92517"/>
                  <a:pt x="161483" y="103188"/>
                  <a:pt x="174625" y="103188"/>
                </a:cubicBezTo>
                <a:cubicBezTo>
                  <a:pt x="187767" y="103188"/>
                  <a:pt x="198438" y="92517"/>
                  <a:pt x="198438" y="79375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1244600" y="16383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4700" y="21971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更高效的编码算法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：提升压缩比和解码速度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4700" y="26035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硬件加速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：GPU/FPGA加速压缩解码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4700" y="30099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向量化执行优化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：更广泛的SIMD支持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74700" y="34163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缓存优化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：智能缓存策略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78984" y="1377950"/>
            <a:ext cx="4902200" cy="2603500"/>
          </a:xfrm>
          <a:custGeom>
            <a:avLst/>
            <a:gdLst/>
            <a:ahLst/>
            <a:cxnLst/>
            <a:rect l="l" t="t" r="r" b="b"/>
            <a:pathLst>
              <a:path w="4902200" h="2603500">
                <a:moveTo>
                  <a:pt x="0" y="0"/>
                </a:moveTo>
                <a:lnTo>
                  <a:pt x="4902200" y="0"/>
                </a:lnTo>
                <a:lnTo>
                  <a:pt x="4902200" y="2603500"/>
                </a:lnTo>
                <a:lnTo>
                  <a:pt x="0" y="2603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986959" y="1689100"/>
            <a:ext cx="222250" cy="254000"/>
          </a:xfrm>
          <a:custGeom>
            <a:avLst/>
            <a:gdLst/>
            <a:ahLst/>
            <a:cxnLst/>
            <a:rect l="l" t="t" r="r" b="b"/>
            <a:pathLst>
              <a:path w="222250" h="254000">
                <a:moveTo>
                  <a:pt x="15875" y="15875"/>
                </a:moveTo>
                <a:cubicBezTo>
                  <a:pt x="7094" y="15875"/>
                  <a:pt x="0" y="22969"/>
                  <a:pt x="0" y="31750"/>
                </a:cubicBezTo>
                <a:lnTo>
                  <a:pt x="0" y="79375"/>
                </a:lnTo>
                <a:cubicBezTo>
                  <a:pt x="0" y="88156"/>
                  <a:pt x="7094" y="95250"/>
                  <a:pt x="15875" y="95250"/>
                </a:cubicBezTo>
                <a:cubicBezTo>
                  <a:pt x="24656" y="95250"/>
                  <a:pt x="31750" y="88156"/>
                  <a:pt x="31750" y="79375"/>
                </a:cubicBezTo>
                <a:lnTo>
                  <a:pt x="31750" y="47625"/>
                </a:lnTo>
                <a:lnTo>
                  <a:pt x="63500" y="47625"/>
                </a:lnTo>
                <a:cubicBezTo>
                  <a:pt x="72281" y="47625"/>
                  <a:pt x="79375" y="40531"/>
                  <a:pt x="79375" y="31750"/>
                </a:cubicBezTo>
                <a:cubicBezTo>
                  <a:pt x="79375" y="22969"/>
                  <a:pt x="72281" y="15875"/>
                  <a:pt x="63500" y="15875"/>
                </a:cubicBezTo>
                <a:lnTo>
                  <a:pt x="15875" y="15875"/>
                </a:lnTo>
                <a:close/>
                <a:moveTo>
                  <a:pt x="31750" y="174625"/>
                </a:moveTo>
                <a:cubicBezTo>
                  <a:pt x="31750" y="165844"/>
                  <a:pt x="24656" y="158750"/>
                  <a:pt x="15875" y="158750"/>
                </a:cubicBezTo>
                <a:cubicBezTo>
                  <a:pt x="7094" y="158750"/>
                  <a:pt x="0" y="165844"/>
                  <a:pt x="0" y="174625"/>
                </a:cubicBezTo>
                <a:lnTo>
                  <a:pt x="0" y="222250"/>
                </a:lnTo>
                <a:cubicBezTo>
                  <a:pt x="0" y="231031"/>
                  <a:pt x="7094" y="238125"/>
                  <a:pt x="15875" y="238125"/>
                </a:cubicBezTo>
                <a:lnTo>
                  <a:pt x="63500" y="238125"/>
                </a:lnTo>
                <a:cubicBezTo>
                  <a:pt x="72281" y="238125"/>
                  <a:pt x="79375" y="231031"/>
                  <a:pt x="79375" y="222250"/>
                </a:cubicBezTo>
                <a:cubicBezTo>
                  <a:pt x="79375" y="213469"/>
                  <a:pt x="72281" y="206375"/>
                  <a:pt x="63500" y="206375"/>
                </a:cubicBezTo>
                <a:lnTo>
                  <a:pt x="31750" y="206375"/>
                </a:lnTo>
                <a:lnTo>
                  <a:pt x="31750" y="174625"/>
                </a:lnTo>
                <a:close/>
                <a:moveTo>
                  <a:pt x="158750" y="15875"/>
                </a:moveTo>
                <a:cubicBezTo>
                  <a:pt x="149969" y="15875"/>
                  <a:pt x="142875" y="22969"/>
                  <a:pt x="142875" y="31750"/>
                </a:cubicBezTo>
                <a:cubicBezTo>
                  <a:pt x="142875" y="40531"/>
                  <a:pt x="149969" y="47625"/>
                  <a:pt x="158750" y="47625"/>
                </a:cubicBezTo>
                <a:lnTo>
                  <a:pt x="190500" y="47625"/>
                </a:lnTo>
                <a:lnTo>
                  <a:pt x="190500" y="79375"/>
                </a:lnTo>
                <a:cubicBezTo>
                  <a:pt x="190500" y="88156"/>
                  <a:pt x="197594" y="95250"/>
                  <a:pt x="206375" y="95250"/>
                </a:cubicBezTo>
                <a:cubicBezTo>
                  <a:pt x="215156" y="95250"/>
                  <a:pt x="222250" y="88156"/>
                  <a:pt x="222250" y="79375"/>
                </a:cubicBezTo>
                <a:lnTo>
                  <a:pt x="222250" y="31750"/>
                </a:lnTo>
                <a:cubicBezTo>
                  <a:pt x="222250" y="22969"/>
                  <a:pt x="215156" y="15875"/>
                  <a:pt x="206375" y="15875"/>
                </a:cubicBezTo>
                <a:lnTo>
                  <a:pt x="158750" y="15875"/>
                </a:lnTo>
                <a:close/>
                <a:moveTo>
                  <a:pt x="222250" y="174625"/>
                </a:moveTo>
                <a:cubicBezTo>
                  <a:pt x="222250" y="165844"/>
                  <a:pt x="215156" y="158750"/>
                  <a:pt x="206375" y="158750"/>
                </a:cubicBezTo>
                <a:cubicBezTo>
                  <a:pt x="197594" y="158750"/>
                  <a:pt x="190500" y="165844"/>
                  <a:pt x="190500" y="174625"/>
                </a:cubicBezTo>
                <a:lnTo>
                  <a:pt x="190500" y="206375"/>
                </a:lnTo>
                <a:lnTo>
                  <a:pt x="158750" y="206375"/>
                </a:lnTo>
                <a:cubicBezTo>
                  <a:pt x="149969" y="206375"/>
                  <a:pt x="142875" y="213469"/>
                  <a:pt x="142875" y="222250"/>
                </a:cubicBezTo>
                <a:cubicBezTo>
                  <a:pt x="142875" y="231031"/>
                  <a:pt x="149969" y="238125"/>
                  <a:pt x="158750" y="238125"/>
                </a:cubicBezTo>
                <a:lnTo>
                  <a:pt x="206375" y="238125"/>
                </a:lnTo>
                <a:cubicBezTo>
                  <a:pt x="215156" y="238125"/>
                  <a:pt x="222250" y="231031"/>
                  <a:pt x="222250" y="222250"/>
                </a:cubicBezTo>
                <a:lnTo>
                  <a:pt x="222250" y="174625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409234" y="16383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功能扩展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939334" y="21971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更丰富的数据类型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：地理空间、JSONB等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39334" y="26035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增强的Schema演进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：更灵活的字段变更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39334" y="30099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更丰富的索引技术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：自适应索引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939334" y="34163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加密与安全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：端到端数据加密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843617" y="1377950"/>
            <a:ext cx="4902200" cy="2603500"/>
          </a:xfrm>
          <a:custGeom>
            <a:avLst/>
            <a:gdLst/>
            <a:ahLst/>
            <a:cxnLst/>
            <a:rect l="l" t="t" r="r" b="b"/>
            <a:pathLst>
              <a:path w="4902200" h="2603500">
                <a:moveTo>
                  <a:pt x="0" y="0"/>
                </a:moveTo>
                <a:lnTo>
                  <a:pt x="4902200" y="0"/>
                </a:lnTo>
                <a:lnTo>
                  <a:pt x="4902200" y="2603500"/>
                </a:lnTo>
                <a:lnTo>
                  <a:pt x="0" y="26035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Shape 17"/>
          <p:cNvSpPr/>
          <p:nvPr/>
        </p:nvSpPr>
        <p:spPr>
          <a:xfrm>
            <a:off x="11119842" y="1689100"/>
            <a:ext cx="285750" cy="254000"/>
          </a:xfrm>
          <a:custGeom>
            <a:avLst/>
            <a:gdLst/>
            <a:ahLst/>
            <a:cxnLst/>
            <a:rect l="l" t="t" r="r" b="b"/>
            <a:pathLst>
              <a:path w="285750" h="254000">
                <a:moveTo>
                  <a:pt x="123031" y="43656"/>
                </a:moveTo>
                <a:lnTo>
                  <a:pt x="162719" y="43656"/>
                </a:lnTo>
                <a:lnTo>
                  <a:pt x="162719" y="67469"/>
                </a:lnTo>
                <a:lnTo>
                  <a:pt x="123031" y="67469"/>
                </a:lnTo>
                <a:lnTo>
                  <a:pt x="123031" y="43656"/>
                </a:lnTo>
                <a:close/>
                <a:moveTo>
                  <a:pt x="119063" y="15875"/>
                </a:moveTo>
                <a:cubicBezTo>
                  <a:pt x="105916" y="15875"/>
                  <a:pt x="95250" y="26541"/>
                  <a:pt x="95250" y="39688"/>
                </a:cubicBezTo>
                <a:lnTo>
                  <a:pt x="95250" y="71438"/>
                </a:lnTo>
                <a:cubicBezTo>
                  <a:pt x="95250" y="84584"/>
                  <a:pt x="105916" y="95250"/>
                  <a:pt x="119063" y="95250"/>
                </a:cubicBezTo>
                <a:lnTo>
                  <a:pt x="127000" y="95250"/>
                </a:lnTo>
                <a:lnTo>
                  <a:pt x="127000" y="111125"/>
                </a:lnTo>
                <a:lnTo>
                  <a:pt x="15875" y="111125"/>
                </a:lnTo>
                <a:cubicBezTo>
                  <a:pt x="7094" y="111125"/>
                  <a:pt x="0" y="118219"/>
                  <a:pt x="0" y="127000"/>
                </a:cubicBezTo>
                <a:cubicBezTo>
                  <a:pt x="0" y="135781"/>
                  <a:pt x="7094" y="142875"/>
                  <a:pt x="15875" y="142875"/>
                </a:cubicBezTo>
                <a:lnTo>
                  <a:pt x="63500" y="142875"/>
                </a:lnTo>
                <a:lnTo>
                  <a:pt x="63500" y="158750"/>
                </a:lnTo>
                <a:lnTo>
                  <a:pt x="55563" y="158750"/>
                </a:lnTo>
                <a:cubicBezTo>
                  <a:pt x="42416" y="158750"/>
                  <a:pt x="31750" y="169416"/>
                  <a:pt x="31750" y="182563"/>
                </a:cubicBezTo>
                <a:lnTo>
                  <a:pt x="31750" y="214313"/>
                </a:lnTo>
                <a:cubicBezTo>
                  <a:pt x="31750" y="227459"/>
                  <a:pt x="42416" y="238125"/>
                  <a:pt x="55563" y="238125"/>
                </a:cubicBezTo>
                <a:lnTo>
                  <a:pt x="103188" y="238125"/>
                </a:lnTo>
                <a:cubicBezTo>
                  <a:pt x="116334" y="238125"/>
                  <a:pt x="127000" y="227459"/>
                  <a:pt x="127000" y="214313"/>
                </a:cubicBezTo>
                <a:lnTo>
                  <a:pt x="127000" y="182563"/>
                </a:lnTo>
                <a:cubicBezTo>
                  <a:pt x="127000" y="169416"/>
                  <a:pt x="116334" y="158750"/>
                  <a:pt x="103188" y="158750"/>
                </a:cubicBezTo>
                <a:lnTo>
                  <a:pt x="95250" y="158750"/>
                </a:lnTo>
                <a:lnTo>
                  <a:pt x="95250" y="142875"/>
                </a:lnTo>
                <a:lnTo>
                  <a:pt x="190500" y="142875"/>
                </a:lnTo>
                <a:lnTo>
                  <a:pt x="190500" y="158750"/>
                </a:lnTo>
                <a:lnTo>
                  <a:pt x="182563" y="158750"/>
                </a:lnTo>
                <a:cubicBezTo>
                  <a:pt x="169416" y="158750"/>
                  <a:pt x="158750" y="169416"/>
                  <a:pt x="158750" y="182563"/>
                </a:cubicBezTo>
                <a:lnTo>
                  <a:pt x="158750" y="214313"/>
                </a:lnTo>
                <a:cubicBezTo>
                  <a:pt x="158750" y="227459"/>
                  <a:pt x="169416" y="238125"/>
                  <a:pt x="182563" y="238125"/>
                </a:cubicBezTo>
                <a:lnTo>
                  <a:pt x="230188" y="238125"/>
                </a:lnTo>
                <a:cubicBezTo>
                  <a:pt x="243334" y="238125"/>
                  <a:pt x="254000" y="227459"/>
                  <a:pt x="254000" y="214313"/>
                </a:cubicBezTo>
                <a:lnTo>
                  <a:pt x="254000" y="182563"/>
                </a:lnTo>
                <a:cubicBezTo>
                  <a:pt x="254000" y="169416"/>
                  <a:pt x="243334" y="158750"/>
                  <a:pt x="230188" y="158750"/>
                </a:cubicBezTo>
                <a:lnTo>
                  <a:pt x="222250" y="158750"/>
                </a:lnTo>
                <a:lnTo>
                  <a:pt x="222250" y="142875"/>
                </a:lnTo>
                <a:lnTo>
                  <a:pt x="269875" y="142875"/>
                </a:lnTo>
                <a:cubicBezTo>
                  <a:pt x="278656" y="142875"/>
                  <a:pt x="285750" y="135781"/>
                  <a:pt x="285750" y="127000"/>
                </a:cubicBezTo>
                <a:cubicBezTo>
                  <a:pt x="285750" y="118219"/>
                  <a:pt x="278656" y="111125"/>
                  <a:pt x="269875" y="111125"/>
                </a:cubicBezTo>
                <a:lnTo>
                  <a:pt x="158750" y="111125"/>
                </a:lnTo>
                <a:lnTo>
                  <a:pt x="158750" y="95250"/>
                </a:lnTo>
                <a:lnTo>
                  <a:pt x="166688" y="95250"/>
                </a:lnTo>
                <a:cubicBezTo>
                  <a:pt x="179834" y="95250"/>
                  <a:pt x="190500" y="84584"/>
                  <a:pt x="190500" y="71438"/>
                </a:cubicBezTo>
                <a:lnTo>
                  <a:pt x="190500" y="39688"/>
                </a:lnTo>
                <a:cubicBezTo>
                  <a:pt x="190500" y="26541"/>
                  <a:pt x="179834" y="15875"/>
                  <a:pt x="166688" y="15875"/>
                </a:cubicBezTo>
                <a:lnTo>
                  <a:pt x="119063" y="15875"/>
                </a:lnTo>
                <a:close/>
                <a:moveTo>
                  <a:pt x="222250" y="186531"/>
                </a:moveTo>
                <a:lnTo>
                  <a:pt x="226219" y="186531"/>
                </a:lnTo>
                <a:lnTo>
                  <a:pt x="226219" y="210344"/>
                </a:lnTo>
                <a:lnTo>
                  <a:pt x="186531" y="210344"/>
                </a:lnTo>
                <a:lnTo>
                  <a:pt x="186531" y="186531"/>
                </a:lnTo>
                <a:lnTo>
                  <a:pt x="222250" y="186531"/>
                </a:lnTo>
                <a:close/>
                <a:moveTo>
                  <a:pt x="95250" y="186531"/>
                </a:moveTo>
                <a:lnTo>
                  <a:pt x="99219" y="186531"/>
                </a:lnTo>
                <a:lnTo>
                  <a:pt x="99219" y="210344"/>
                </a:lnTo>
                <a:lnTo>
                  <a:pt x="59531" y="210344"/>
                </a:lnTo>
                <a:lnTo>
                  <a:pt x="59531" y="186531"/>
                </a:lnTo>
                <a:lnTo>
                  <a:pt x="95250" y="186531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1573867" y="1638300"/>
            <a:ext cx="1143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生态整合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103967" y="21971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与流处理系统集成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：Kafka/Flink/Pulsar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103967" y="26035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标准化元数据管理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：统一元数据中心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103967" y="30099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跨云数据共享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：多云和混合云场景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1103967" y="3416300"/>
            <a:ext cx="4483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• </a:t>
            </a:r>
            <a:r>
              <a:rPr lang="en-US" sz="1600" b="1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与AI/ML平台集成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：特征存储支持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14350" y="4248150"/>
            <a:ext cx="15227300" cy="2527300"/>
          </a:xfrm>
          <a:custGeom>
            <a:avLst/>
            <a:gdLst/>
            <a:ahLst/>
            <a:cxnLst/>
            <a:rect l="l" t="t" r="r" b="b"/>
            <a:pathLst>
              <a:path w="15227300" h="2527300">
                <a:moveTo>
                  <a:pt x="0" y="0"/>
                </a:moveTo>
                <a:lnTo>
                  <a:pt x="15227300" y="0"/>
                </a:lnTo>
                <a:lnTo>
                  <a:pt x="15227300" y="2527300"/>
                </a:lnTo>
                <a:lnTo>
                  <a:pt x="0" y="25273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Shape 24"/>
          <p:cNvSpPr/>
          <p:nvPr/>
        </p:nvSpPr>
        <p:spPr>
          <a:xfrm>
            <a:off x="812800" y="45339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050" y="19050"/>
                </a:moveTo>
                <a:cubicBezTo>
                  <a:pt x="29587" y="19050"/>
                  <a:pt x="38100" y="27563"/>
                  <a:pt x="38100" y="38100"/>
                </a:cubicBezTo>
                <a:lnTo>
                  <a:pt x="38100" y="238125"/>
                </a:lnTo>
                <a:cubicBezTo>
                  <a:pt x="38100" y="243364"/>
                  <a:pt x="42386" y="247650"/>
                  <a:pt x="47625" y="247650"/>
                </a:cubicBezTo>
                <a:lnTo>
                  <a:pt x="285750" y="247650"/>
                </a:lnTo>
                <a:cubicBezTo>
                  <a:pt x="296287" y="247650"/>
                  <a:pt x="304800" y="256163"/>
                  <a:pt x="304800" y="266700"/>
                </a:cubicBezTo>
                <a:cubicBezTo>
                  <a:pt x="304800" y="277237"/>
                  <a:pt x="296287" y="285750"/>
                  <a:pt x="285750" y="285750"/>
                </a:cubicBezTo>
                <a:lnTo>
                  <a:pt x="47625" y="285750"/>
                </a:lnTo>
                <a:cubicBezTo>
                  <a:pt x="21312" y="285750"/>
                  <a:pt x="0" y="264438"/>
                  <a:pt x="0" y="238125"/>
                </a:cubicBezTo>
                <a:lnTo>
                  <a:pt x="0" y="38100"/>
                </a:lnTo>
                <a:cubicBezTo>
                  <a:pt x="0" y="27563"/>
                  <a:pt x="8513" y="19050"/>
                  <a:pt x="19050" y="19050"/>
                </a:cubicBezTo>
                <a:close/>
                <a:moveTo>
                  <a:pt x="142875" y="57150"/>
                </a:moveTo>
                <a:cubicBezTo>
                  <a:pt x="146864" y="57150"/>
                  <a:pt x="150674" y="58817"/>
                  <a:pt x="153412" y="61793"/>
                </a:cubicBezTo>
                <a:lnTo>
                  <a:pt x="195739" y="107930"/>
                </a:lnTo>
                <a:lnTo>
                  <a:pt x="223242" y="80367"/>
                </a:lnTo>
                <a:cubicBezTo>
                  <a:pt x="228838" y="74771"/>
                  <a:pt x="237887" y="74771"/>
                  <a:pt x="243423" y="80367"/>
                </a:cubicBezTo>
                <a:lnTo>
                  <a:pt x="281523" y="118467"/>
                </a:lnTo>
                <a:cubicBezTo>
                  <a:pt x="284202" y="121146"/>
                  <a:pt x="285690" y="124777"/>
                  <a:pt x="285690" y="128588"/>
                </a:cubicBezTo>
                <a:lnTo>
                  <a:pt x="285690" y="195263"/>
                </a:lnTo>
                <a:cubicBezTo>
                  <a:pt x="285690" y="203180"/>
                  <a:pt x="279321" y="209550"/>
                  <a:pt x="271403" y="209550"/>
                </a:cubicBezTo>
                <a:lnTo>
                  <a:pt x="90428" y="209550"/>
                </a:lnTo>
                <a:cubicBezTo>
                  <a:pt x="82510" y="209550"/>
                  <a:pt x="76140" y="203180"/>
                  <a:pt x="76140" y="195263"/>
                </a:cubicBezTo>
                <a:lnTo>
                  <a:pt x="76140" y="128588"/>
                </a:lnTo>
                <a:cubicBezTo>
                  <a:pt x="76140" y="125016"/>
                  <a:pt x="77510" y="121563"/>
                  <a:pt x="79891" y="118943"/>
                </a:cubicBezTo>
                <a:lnTo>
                  <a:pt x="132278" y="61793"/>
                </a:lnTo>
                <a:cubicBezTo>
                  <a:pt x="134957" y="58817"/>
                  <a:pt x="138827" y="57150"/>
                  <a:pt x="142815" y="57150"/>
                </a:cubicBez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1358900" y="4508500"/>
            <a:ext cx="165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应用领域展望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81050" y="5073650"/>
            <a:ext cx="3517900" cy="1435100"/>
          </a:xfrm>
          <a:custGeom>
            <a:avLst/>
            <a:gdLst/>
            <a:ahLst/>
            <a:cxnLst/>
            <a:rect l="l" t="t" r="r" b="b"/>
            <a:pathLst>
              <a:path w="3517900" h="1435100">
                <a:moveTo>
                  <a:pt x="0" y="0"/>
                </a:moveTo>
                <a:lnTo>
                  <a:pt x="3517900" y="0"/>
                </a:lnTo>
                <a:lnTo>
                  <a:pt x="3517900" y="1435100"/>
                </a:lnTo>
                <a:lnTo>
                  <a:pt x="0" y="14351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2384425" y="528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39800" y="56896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实时分析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46150" y="60452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毫秒级查询响应，实时决策支持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508500" y="5073650"/>
            <a:ext cx="3517900" cy="1435100"/>
          </a:xfrm>
          <a:custGeom>
            <a:avLst/>
            <a:gdLst/>
            <a:ahLst/>
            <a:cxnLst/>
            <a:rect l="l" t="t" r="r" b="b"/>
            <a:pathLst>
              <a:path w="3517900" h="1435100">
                <a:moveTo>
                  <a:pt x="0" y="0"/>
                </a:moveTo>
                <a:lnTo>
                  <a:pt x="3517900" y="0"/>
                </a:lnTo>
                <a:lnTo>
                  <a:pt x="3517900" y="1435100"/>
                </a:lnTo>
                <a:lnTo>
                  <a:pt x="0" y="14351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31"/>
          <p:cNvSpPr/>
          <p:nvPr/>
        </p:nvSpPr>
        <p:spPr>
          <a:xfrm>
            <a:off x="6111875" y="528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1438" y="33338"/>
                </a:moveTo>
                <a:cubicBezTo>
                  <a:pt x="71438" y="14942"/>
                  <a:pt x="86380" y="0"/>
                  <a:pt x="104775" y="0"/>
                </a:cubicBezTo>
                <a:lnTo>
                  <a:pt x="119062" y="0"/>
                </a:lnTo>
                <a:cubicBezTo>
                  <a:pt x="129600" y="0"/>
                  <a:pt x="138113" y="8513"/>
                  <a:pt x="138113" y="19050"/>
                </a:cubicBezTo>
                <a:lnTo>
                  <a:pt x="138113" y="285750"/>
                </a:lnTo>
                <a:cubicBezTo>
                  <a:pt x="138113" y="296287"/>
                  <a:pt x="129600" y="304800"/>
                  <a:pt x="119062" y="304800"/>
                </a:cubicBezTo>
                <a:lnTo>
                  <a:pt x="100013" y="304800"/>
                </a:lnTo>
                <a:cubicBezTo>
                  <a:pt x="82272" y="304800"/>
                  <a:pt x="67330" y="292656"/>
                  <a:pt x="63103" y="276225"/>
                </a:cubicBezTo>
                <a:cubicBezTo>
                  <a:pt x="62686" y="276225"/>
                  <a:pt x="62329" y="276225"/>
                  <a:pt x="61912" y="276225"/>
                </a:cubicBezTo>
                <a:cubicBezTo>
                  <a:pt x="35600" y="276225"/>
                  <a:pt x="14288" y="254913"/>
                  <a:pt x="14288" y="228600"/>
                </a:cubicBezTo>
                <a:cubicBezTo>
                  <a:pt x="14288" y="217884"/>
                  <a:pt x="17859" y="208002"/>
                  <a:pt x="23813" y="200025"/>
                </a:cubicBezTo>
                <a:cubicBezTo>
                  <a:pt x="12263" y="191333"/>
                  <a:pt x="4763" y="177522"/>
                  <a:pt x="4763" y="161925"/>
                </a:cubicBezTo>
                <a:cubicBezTo>
                  <a:pt x="4763" y="143530"/>
                  <a:pt x="15240" y="127516"/>
                  <a:pt x="30480" y="119598"/>
                </a:cubicBezTo>
                <a:cubicBezTo>
                  <a:pt x="26253" y="112455"/>
                  <a:pt x="23813" y="104120"/>
                  <a:pt x="23813" y="95250"/>
                </a:cubicBezTo>
                <a:cubicBezTo>
                  <a:pt x="23813" y="68937"/>
                  <a:pt x="45125" y="47625"/>
                  <a:pt x="71438" y="47625"/>
                </a:cubicBezTo>
                <a:lnTo>
                  <a:pt x="71438" y="33338"/>
                </a:lnTo>
                <a:close/>
                <a:moveTo>
                  <a:pt x="233363" y="33338"/>
                </a:moveTo>
                <a:lnTo>
                  <a:pt x="233363" y="47625"/>
                </a:lnTo>
                <a:cubicBezTo>
                  <a:pt x="259675" y="47625"/>
                  <a:pt x="280987" y="68937"/>
                  <a:pt x="280987" y="95250"/>
                </a:cubicBezTo>
                <a:cubicBezTo>
                  <a:pt x="280987" y="104180"/>
                  <a:pt x="278547" y="112514"/>
                  <a:pt x="274320" y="119598"/>
                </a:cubicBezTo>
                <a:cubicBezTo>
                  <a:pt x="289620" y="127516"/>
                  <a:pt x="300038" y="143470"/>
                  <a:pt x="300038" y="161925"/>
                </a:cubicBezTo>
                <a:cubicBezTo>
                  <a:pt x="300038" y="177522"/>
                  <a:pt x="292537" y="191333"/>
                  <a:pt x="280987" y="200025"/>
                </a:cubicBezTo>
                <a:cubicBezTo>
                  <a:pt x="286941" y="208002"/>
                  <a:pt x="290513" y="217884"/>
                  <a:pt x="290513" y="228600"/>
                </a:cubicBezTo>
                <a:cubicBezTo>
                  <a:pt x="290513" y="254913"/>
                  <a:pt x="269200" y="276225"/>
                  <a:pt x="242888" y="276225"/>
                </a:cubicBezTo>
                <a:cubicBezTo>
                  <a:pt x="242471" y="276225"/>
                  <a:pt x="242114" y="276225"/>
                  <a:pt x="241697" y="276225"/>
                </a:cubicBezTo>
                <a:cubicBezTo>
                  <a:pt x="237470" y="292656"/>
                  <a:pt x="222528" y="304800"/>
                  <a:pt x="204787" y="304800"/>
                </a:cubicBezTo>
                <a:lnTo>
                  <a:pt x="185738" y="304800"/>
                </a:lnTo>
                <a:cubicBezTo>
                  <a:pt x="175200" y="304800"/>
                  <a:pt x="166688" y="296287"/>
                  <a:pt x="166688" y="285750"/>
                </a:cubicBezTo>
                <a:lnTo>
                  <a:pt x="166688" y="19050"/>
                </a:lnTo>
                <a:cubicBezTo>
                  <a:pt x="166688" y="8513"/>
                  <a:pt x="175200" y="0"/>
                  <a:pt x="185738" y="0"/>
                </a:cubicBezTo>
                <a:lnTo>
                  <a:pt x="200025" y="0"/>
                </a:lnTo>
                <a:cubicBezTo>
                  <a:pt x="218420" y="0"/>
                  <a:pt x="233363" y="14942"/>
                  <a:pt x="233363" y="33338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4667250" y="56896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机器学习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673600" y="60452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特征存储，训练数据管理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235950" y="5073650"/>
            <a:ext cx="3517900" cy="1435100"/>
          </a:xfrm>
          <a:custGeom>
            <a:avLst/>
            <a:gdLst/>
            <a:ahLst/>
            <a:cxnLst/>
            <a:rect l="l" t="t" r="r" b="b"/>
            <a:pathLst>
              <a:path w="3517900" h="1435100">
                <a:moveTo>
                  <a:pt x="0" y="0"/>
                </a:moveTo>
                <a:lnTo>
                  <a:pt x="3517900" y="0"/>
                </a:lnTo>
                <a:lnTo>
                  <a:pt x="3517900" y="1435100"/>
                </a:lnTo>
                <a:lnTo>
                  <a:pt x="0" y="14351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Shape 35"/>
          <p:cNvSpPr/>
          <p:nvPr/>
        </p:nvSpPr>
        <p:spPr>
          <a:xfrm>
            <a:off x="9839325" y="52832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155138" y="0"/>
                  <a:pt x="157877" y="595"/>
                  <a:pt x="160377" y="1726"/>
                </a:cubicBezTo>
                <a:lnTo>
                  <a:pt x="272534" y="49292"/>
                </a:lnTo>
                <a:cubicBezTo>
                  <a:pt x="285631" y="54828"/>
                  <a:pt x="295394" y="67747"/>
                  <a:pt x="295335" y="83344"/>
                </a:cubicBezTo>
                <a:cubicBezTo>
                  <a:pt x="295037" y="142399"/>
                  <a:pt x="270748" y="250448"/>
                  <a:pt x="168176" y="299561"/>
                </a:cubicBezTo>
                <a:cubicBezTo>
                  <a:pt x="158234" y="304324"/>
                  <a:pt x="146685" y="304324"/>
                  <a:pt x="136743" y="299561"/>
                </a:cubicBezTo>
                <a:cubicBezTo>
                  <a:pt x="34111" y="250448"/>
                  <a:pt x="9882" y="142399"/>
                  <a:pt x="9585" y="83344"/>
                </a:cubicBezTo>
                <a:cubicBezTo>
                  <a:pt x="9525" y="67747"/>
                  <a:pt x="19288" y="54828"/>
                  <a:pt x="32385" y="49292"/>
                </a:cubicBezTo>
                <a:lnTo>
                  <a:pt x="144482" y="1726"/>
                </a:lnTo>
                <a:cubicBezTo>
                  <a:pt x="146983" y="595"/>
                  <a:pt x="149662" y="0"/>
                  <a:pt x="152400" y="0"/>
                </a:cubicBezTo>
                <a:close/>
                <a:moveTo>
                  <a:pt x="152400" y="39767"/>
                </a:moveTo>
                <a:lnTo>
                  <a:pt x="152400" y="264855"/>
                </a:lnTo>
                <a:cubicBezTo>
                  <a:pt x="234553" y="225088"/>
                  <a:pt x="256639" y="136981"/>
                  <a:pt x="257175" y="84237"/>
                </a:cubicBezTo>
                <a:lnTo>
                  <a:pt x="152400" y="39826"/>
                </a:lnTo>
                <a:lnTo>
                  <a:pt x="152400" y="39826"/>
                </a:ln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8394700" y="56896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数据治理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401050" y="60452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数据血缘，合规审计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1963400" y="5073650"/>
            <a:ext cx="3517900" cy="1435100"/>
          </a:xfrm>
          <a:custGeom>
            <a:avLst/>
            <a:gdLst/>
            <a:ahLst/>
            <a:cxnLst/>
            <a:rect l="l" t="t" r="r" b="b"/>
            <a:pathLst>
              <a:path w="3517900" h="1435100">
                <a:moveTo>
                  <a:pt x="0" y="0"/>
                </a:moveTo>
                <a:lnTo>
                  <a:pt x="3517900" y="0"/>
                </a:lnTo>
                <a:lnTo>
                  <a:pt x="3517900" y="1435100"/>
                </a:lnTo>
                <a:lnTo>
                  <a:pt x="0" y="1435100"/>
                </a:lnTo>
                <a:lnTo>
                  <a:pt x="0" y="0"/>
                </a:lnTo>
                <a:close/>
              </a:path>
            </a:pathLst>
          </a:custGeom>
          <a:solidFill>
            <a:srgbClr val="1A1D21"/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Shape 39"/>
          <p:cNvSpPr/>
          <p:nvPr/>
        </p:nvSpPr>
        <p:spPr>
          <a:xfrm>
            <a:off x="13585825" y="52832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12122150" y="5689600"/>
            <a:ext cx="3200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湖仓一体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2128500" y="6045200"/>
            <a:ext cx="31877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E0E2E6">
                    <a:alpha val="7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统一数据架构，打破孤岛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14350" y="7042150"/>
            <a:ext cx="15227300" cy="1282700"/>
          </a:xfrm>
          <a:custGeom>
            <a:avLst/>
            <a:gdLst/>
            <a:ahLst/>
            <a:cxnLst/>
            <a:rect l="l" t="t" r="r" b="b"/>
            <a:pathLst>
              <a:path w="15227300" h="1282700">
                <a:moveTo>
                  <a:pt x="0" y="0"/>
                </a:moveTo>
                <a:lnTo>
                  <a:pt x="15227300" y="0"/>
                </a:lnTo>
                <a:lnTo>
                  <a:pt x="15227300" y="1282700"/>
                </a:lnTo>
                <a:lnTo>
                  <a:pt x="0" y="1282700"/>
                </a:lnTo>
                <a:lnTo>
                  <a:pt x="0" y="0"/>
                </a:lnTo>
                <a:close/>
              </a:path>
            </a:pathLst>
          </a:custGeom>
          <a:solidFill>
            <a:srgbClr val="D9A566">
              <a:alpha val="10196"/>
            </a:srgbClr>
          </a:solidFill>
          <a:ln w="12700">
            <a:solidFill>
              <a:srgbClr val="D9A56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Shape 43"/>
          <p:cNvSpPr/>
          <p:nvPr/>
        </p:nvSpPr>
        <p:spPr>
          <a:xfrm>
            <a:off x="849313" y="74930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0" y="160734"/>
                </a:moveTo>
                <a:cubicBezTo>
                  <a:pt x="0" y="111398"/>
                  <a:pt x="39960" y="71438"/>
                  <a:pt x="89297" y="71438"/>
                </a:cubicBezTo>
                <a:lnTo>
                  <a:pt x="95250" y="71438"/>
                </a:lnTo>
                <a:cubicBezTo>
                  <a:pt x="108421" y="71438"/>
                  <a:pt x="119063" y="82079"/>
                  <a:pt x="119063" y="95250"/>
                </a:cubicBezTo>
                <a:cubicBezTo>
                  <a:pt x="119063" y="108421"/>
                  <a:pt x="108421" y="119063"/>
                  <a:pt x="95250" y="119063"/>
                </a:cubicBezTo>
                <a:lnTo>
                  <a:pt x="89297" y="119063"/>
                </a:lnTo>
                <a:cubicBezTo>
                  <a:pt x="66303" y="119063"/>
                  <a:pt x="47625" y="137740"/>
                  <a:pt x="47625" y="160734"/>
                </a:cubicBezTo>
                <a:lnTo>
                  <a:pt x="47625" y="166688"/>
                </a:lnTo>
                <a:lnTo>
                  <a:pt x="95250" y="166688"/>
                </a:lnTo>
                <a:cubicBezTo>
                  <a:pt x="121518" y="166688"/>
                  <a:pt x="142875" y="188044"/>
                  <a:pt x="142875" y="214313"/>
                </a:cubicBezTo>
                <a:lnTo>
                  <a:pt x="142875" y="261938"/>
                </a:lnTo>
                <a:cubicBezTo>
                  <a:pt x="142875" y="288206"/>
                  <a:pt x="121518" y="309563"/>
                  <a:pt x="95250" y="309563"/>
                </a:cubicBezTo>
                <a:lnTo>
                  <a:pt x="47625" y="309563"/>
                </a:lnTo>
                <a:cubicBezTo>
                  <a:pt x="21357" y="309563"/>
                  <a:pt x="0" y="288206"/>
                  <a:pt x="0" y="261938"/>
                </a:cubicBezTo>
                <a:lnTo>
                  <a:pt x="0" y="160734"/>
                </a:lnTo>
                <a:close/>
                <a:moveTo>
                  <a:pt x="190500" y="160734"/>
                </a:moveTo>
                <a:cubicBezTo>
                  <a:pt x="190500" y="111398"/>
                  <a:pt x="230460" y="71438"/>
                  <a:pt x="279797" y="71438"/>
                </a:cubicBezTo>
                <a:lnTo>
                  <a:pt x="285750" y="71438"/>
                </a:lnTo>
                <a:cubicBezTo>
                  <a:pt x="298921" y="71438"/>
                  <a:pt x="309563" y="82079"/>
                  <a:pt x="309563" y="95250"/>
                </a:cubicBezTo>
                <a:cubicBezTo>
                  <a:pt x="309563" y="108421"/>
                  <a:pt x="298921" y="119063"/>
                  <a:pt x="285750" y="119063"/>
                </a:cubicBezTo>
                <a:lnTo>
                  <a:pt x="279797" y="119063"/>
                </a:lnTo>
                <a:cubicBezTo>
                  <a:pt x="256803" y="119063"/>
                  <a:pt x="238125" y="137740"/>
                  <a:pt x="238125" y="160734"/>
                </a:cubicBezTo>
                <a:lnTo>
                  <a:pt x="238125" y="166688"/>
                </a:lnTo>
                <a:lnTo>
                  <a:pt x="285750" y="166688"/>
                </a:lnTo>
                <a:cubicBezTo>
                  <a:pt x="312018" y="166688"/>
                  <a:pt x="333375" y="188044"/>
                  <a:pt x="333375" y="214313"/>
                </a:cubicBezTo>
                <a:lnTo>
                  <a:pt x="333375" y="261938"/>
                </a:lnTo>
                <a:cubicBezTo>
                  <a:pt x="333375" y="288206"/>
                  <a:pt x="312018" y="309563"/>
                  <a:pt x="285750" y="309563"/>
                </a:cubicBezTo>
                <a:lnTo>
                  <a:pt x="238125" y="309563"/>
                </a:lnTo>
                <a:cubicBezTo>
                  <a:pt x="211857" y="309563"/>
                  <a:pt x="190500" y="288206"/>
                  <a:pt x="190500" y="261938"/>
                </a:cubicBezTo>
                <a:lnTo>
                  <a:pt x="190500" y="160734"/>
                </a:lnTo>
                <a:close/>
              </a:path>
            </a:pathLst>
          </a:custGeom>
          <a:solidFill>
            <a:srgbClr val="D9A56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454150" y="7302500"/>
            <a:ext cx="138557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800" b="1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展望未来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1454150" y="7759700"/>
            <a:ext cx="13843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Parquet将继续在</a:t>
            </a: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性能优化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、</a:t>
            </a: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功能扩展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和</a:t>
            </a:r>
            <a:r>
              <a:rPr lang="en-US" sz="1600" b="1" dirty="0">
                <a:solidFill>
                  <a:srgbClr val="D9A56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生态整合</a:t>
            </a:r>
            <a:r>
              <a:rPr lang="en-US" sz="1600" dirty="0">
                <a:solidFill>
                  <a:srgbClr val="E0E2E6">
                    <a:alpha val="90000"/>
                  </a:srgbClr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三个方向演进，为构建现代数据架构提供坚实的技术基础，推动大数据技术向更高效、更智能的方向发展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d735e7b69a8b3ba62877bc952182344b1a688241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798" b="798"/>
          <a:stretch/>
        </p:blipFill>
        <p:spPr>
          <a:xfrm>
            <a:off x="0" y="0"/>
            <a:ext cx="16256000" cy="9144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custGeom>
            <a:avLst/>
            <a:gdLst/>
            <a:ahLst/>
            <a:cxnLst/>
            <a:rect l="l" t="t" r="r" b="b"/>
            <a:pathLst>
              <a:path w="16256000" h="9144000">
                <a:moveTo>
                  <a:pt x="0" y="0"/>
                </a:moveTo>
                <a:lnTo>
                  <a:pt x="16256000" y="0"/>
                </a:lnTo>
                <a:lnTo>
                  <a:pt x="16256000" y="9144000"/>
                </a:lnTo>
                <a:lnTo>
                  <a:pt x="0" y="9144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3D8B8B">
                  <a:alpha val="2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Shape 1"/>
          <p:cNvSpPr/>
          <p:nvPr/>
        </p:nvSpPr>
        <p:spPr>
          <a:xfrm>
            <a:off x="7423150" y="1358900"/>
            <a:ext cx="1409700" cy="1219200"/>
          </a:xfrm>
          <a:custGeom>
            <a:avLst/>
            <a:gdLst/>
            <a:ahLst/>
            <a:cxnLst/>
            <a:rect l="l" t="t" r="r" b="b"/>
            <a:pathLst>
              <a:path w="1409700" h="1219200">
                <a:moveTo>
                  <a:pt x="609600" y="0"/>
                </a:moveTo>
                <a:lnTo>
                  <a:pt x="800100" y="0"/>
                </a:lnTo>
                <a:cubicBezTo>
                  <a:pt x="1136547" y="0"/>
                  <a:pt x="1409700" y="273153"/>
                  <a:pt x="1409700" y="609600"/>
                </a:cubicBezTo>
                <a:lnTo>
                  <a:pt x="1409700" y="609600"/>
                </a:lnTo>
                <a:cubicBezTo>
                  <a:pt x="1409700" y="946047"/>
                  <a:pt x="1136547" y="1219200"/>
                  <a:pt x="800100" y="1219200"/>
                </a:cubicBezTo>
                <a:lnTo>
                  <a:pt x="609600" y="1219200"/>
                </a:lnTo>
                <a:cubicBezTo>
                  <a:pt x="273153" y="1219200"/>
                  <a:pt x="0" y="946047"/>
                  <a:pt x="0" y="609600"/>
                </a:cubicBezTo>
                <a:lnTo>
                  <a:pt x="0" y="609600"/>
                </a:lnTo>
                <a:cubicBezTo>
                  <a:pt x="0" y="273153"/>
                  <a:pt x="273153" y="0"/>
                  <a:pt x="609600" y="0"/>
                </a:cubicBezTo>
                <a:close/>
              </a:path>
            </a:pathLst>
          </a:custGeom>
          <a:solidFill>
            <a:srgbClr val="3D8B8B">
              <a:alpha val="20000"/>
            </a:srgbClr>
          </a:solidFill>
          <a:ln w="508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Shape 2"/>
          <p:cNvSpPr/>
          <p:nvPr/>
        </p:nvSpPr>
        <p:spPr>
          <a:xfrm>
            <a:off x="7747000" y="1587500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762000"/>
                </a:moveTo>
                <a:cubicBezTo>
                  <a:pt x="591280" y="762000"/>
                  <a:pt x="762000" y="591280"/>
                  <a:pt x="762000" y="381000"/>
                </a:cubicBezTo>
                <a:cubicBezTo>
                  <a:pt x="762000" y="170720"/>
                  <a:pt x="591280" y="0"/>
                  <a:pt x="381000" y="0"/>
                </a:cubicBezTo>
                <a:cubicBezTo>
                  <a:pt x="170720" y="0"/>
                  <a:pt x="0" y="170720"/>
                  <a:pt x="0" y="381000"/>
                </a:cubicBezTo>
                <a:cubicBezTo>
                  <a:pt x="0" y="591280"/>
                  <a:pt x="170720" y="762000"/>
                  <a:pt x="381000" y="762000"/>
                </a:cubicBezTo>
                <a:close/>
                <a:moveTo>
                  <a:pt x="506611" y="316557"/>
                </a:moveTo>
                <a:lnTo>
                  <a:pt x="387548" y="507057"/>
                </a:lnTo>
                <a:cubicBezTo>
                  <a:pt x="381298" y="517029"/>
                  <a:pt x="370582" y="523280"/>
                  <a:pt x="358825" y="523875"/>
                </a:cubicBezTo>
                <a:cubicBezTo>
                  <a:pt x="347067" y="524470"/>
                  <a:pt x="335756" y="519113"/>
                  <a:pt x="328761" y="509587"/>
                </a:cubicBezTo>
                <a:lnTo>
                  <a:pt x="257324" y="414337"/>
                </a:lnTo>
                <a:cubicBezTo>
                  <a:pt x="245418" y="398562"/>
                  <a:pt x="248692" y="376238"/>
                  <a:pt x="264468" y="364331"/>
                </a:cubicBezTo>
                <a:cubicBezTo>
                  <a:pt x="280243" y="352425"/>
                  <a:pt x="302568" y="355699"/>
                  <a:pt x="314474" y="371475"/>
                </a:cubicBezTo>
                <a:lnTo>
                  <a:pt x="354657" y="425053"/>
                </a:lnTo>
                <a:lnTo>
                  <a:pt x="446038" y="278755"/>
                </a:lnTo>
                <a:cubicBezTo>
                  <a:pt x="456456" y="262086"/>
                  <a:pt x="478482" y="256877"/>
                  <a:pt x="495300" y="267444"/>
                </a:cubicBezTo>
                <a:cubicBezTo>
                  <a:pt x="512118" y="278011"/>
                  <a:pt x="517178" y="299889"/>
                  <a:pt x="506611" y="316706"/>
                </a:cubicBezTo>
                <a:close/>
              </a:path>
            </a:pathLst>
          </a:custGeom>
          <a:solidFill>
            <a:srgbClr val="3D8B8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5711230" y="2908300"/>
            <a:ext cx="48387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6000" dirty="0">
                <a:solidFill>
                  <a:srgbClr val="E0E2E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感谢观看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25530" y="3975100"/>
            <a:ext cx="46101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D8B8B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Parquet作为现代数据架构的基石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ctr">
              <a:lnSpc>
                <a:spcPct val="110000"/>
              </a:lnSpc>
            </a:pPr>
            <a:r>
              <a:rPr lang="en-US" sz="2400" b="1" dirty="0">
                <a:solidFill>
                  <a:srgbClr val="3D8B8B"/>
                </a:solidFill>
                <a:latin typeface="KaiTi" panose="02010609060101010101" pitchFamily="49" charset="-122"/>
                <a:ea typeface="KaiTi" panose="02010609060101010101" pitchFamily="49" charset="-122"/>
                <a:cs typeface="MiSans" pitchFamily="34" charset="-120"/>
              </a:rPr>
              <a:t>为高效数据处理提供了强大动力</a:t>
            </a:r>
            <a:endParaRPr lang="en-US" sz="1600" dirty="0">
              <a:latin typeface="KaiTi" panose="02010609060101010101" pitchFamily="49" charset="-122"/>
              <a:ea typeface="KaiTi" panose="02010609060101010101" pitchFamily="49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38464" y="5607050"/>
            <a:ext cx="2184400" cy="1435100"/>
          </a:xfrm>
          <a:custGeom>
            <a:avLst/>
            <a:gdLst/>
            <a:ahLst/>
            <a:cxnLst/>
            <a:rect l="l" t="t" r="r" b="b"/>
            <a:pathLst>
              <a:path w="2184400" h="1435100">
                <a:moveTo>
                  <a:pt x="0" y="0"/>
                </a:moveTo>
                <a:lnTo>
                  <a:pt x="2184400" y="0"/>
                </a:lnTo>
                <a:lnTo>
                  <a:pt x="2184400" y="1435100"/>
                </a:lnTo>
                <a:lnTo>
                  <a:pt x="0" y="1435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4684514" y="5867400"/>
            <a:ext cx="189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70-90%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748014" y="6477000"/>
            <a:ext cx="176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存储空间节省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037288" y="5607050"/>
            <a:ext cx="2184400" cy="1435100"/>
          </a:xfrm>
          <a:custGeom>
            <a:avLst/>
            <a:gdLst/>
            <a:ahLst/>
            <a:cxnLst/>
            <a:rect l="l" t="t" r="r" b="b"/>
            <a:pathLst>
              <a:path w="2184400" h="1435100">
                <a:moveTo>
                  <a:pt x="0" y="0"/>
                </a:moveTo>
                <a:lnTo>
                  <a:pt x="2184400" y="0"/>
                </a:lnTo>
                <a:lnTo>
                  <a:pt x="2184400" y="1435100"/>
                </a:lnTo>
                <a:lnTo>
                  <a:pt x="0" y="1435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7183338" y="5867400"/>
            <a:ext cx="189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5-10x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246838" y="6477000"/>
            <a:ext cx="176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查询性能提升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9536113" y="5607050"/>
            <a:ext cx="2184400" cy="1435100"/>
          </a:xfrm>
          <a:custGeom>
            <a:avLst/>
            <a:gdLst/>
            <a:ahLst/>
            <a:cxnLst/>
            <a:rect l="l" t="t" r="r" b="b"/>
            <a:pathLst>
              <a:path w="2184400" h="1435100">
                <a:moveTo>
                  <a:pt x="0" y="0"/>
                </a:moveTo>
                <a:lnTo>
                  <a:pt x="2184400" y="0"/>
                </a:lnTo>
                <a:lnTo>
                  <a:pt x="2184400" y="1435100"/>
                </a:lnTo>
                <a:lnTo>
                  <a:pt x="0" y="1435100"/>
                </a:lnTo>
                <a:lnTo>
                  <a:pt x="0" y="0"/>
                </a:lnTo>
                <a:close/>
              </a:path>
            </a:pathLst>
          </a:custGeom>
          <a:solidFill>
            <a:srgbClr val="3D8B8B">
              <a:alpha val="10196"/>
            </a:srgbClr>
          </a:solidFill>
          <a:ln w="12700">
            <a:solidFill>
              <a:srgbClr val="3D8B8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9682163" y="5867400"/>
            <a:ext cx="1892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3600" dirty="0">
                <a:solidFill>
                  <a:srgbClr val="D9A566"/>
                </a:solidFill>
                <a:latin typeface="KaiTi" panose="02010609060101010101" pitchFamily="49" charset="-122"/>
                <a:ea typeface="KaiTi" panose="02010609060101010101" pitchFamily="49" charset="-122"/>
                <a:cs typeface="阿里妈妈数黑体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9745663" y="6477000"/>
            <a:ext cx="1765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600" dirty="0">
                <a:solidFill>
                  <a:srgbClr val="E0E2E6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主流框架支持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280025" y="7454900"/>
            <a:ext cx="56896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800" dirty="0">
                <a:solidFill>
                  <a:srgbClr val="E0E2E6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Apache Parquet - Columnar Storage for the Big Data Era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2896</Words>
  <Application>Microsoft Macintosh PowerPoint</Application>
  <PresentationFormat>自定义</PresentationFormat>
  <Paragraphs>887</Paragraphs>
  <Slides>30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36" baseType="lpstr">
      <vt:lpstr>MiSans</vt:lpstr>
      <vt:lpstr>微软雅黑</vt:lpstr>
      <vt:lpstr>Liter</vt:lpstr>
      <vt:lpstr>Arial</vt:lpstr>
      <vt:lpstr>KaiTi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Parquet 文件格式深入解析</dc:title>
  <dc:subject>Parquet 文件格式深入解析</dc:subject>
  <dc:creator>Kimi</dc:creator>
  <cp:lastModifiedBy>王 天青</cp:lastModifiedBy>
  <cp:revision>9</cp:revision>
  <dcterms:created xsi:type="dcterms:W3CDTF">2025-12-20T01:03:40Z</dcterms:created>
  <dcterms:modified xsi:type="dcterms:W3CDTF">2025-12-20T01:31:29Z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{"Label":"Parquet 文件格式深入解析","ContentProducer":"001191110108MACG2KBH8F10000","ProduceID":"19b393de-f062-8b40-8000-0000e8ab7f23","ReservedCode1":"","ContentPropagator":"001191110108MACG2KBH8F20000","PropagateID":"19b393de-f062-8b40-8000-0000e8ab7f23","ReservedCode2":""}</vt:lpwstr>
  </property>
</Properties>
</file>