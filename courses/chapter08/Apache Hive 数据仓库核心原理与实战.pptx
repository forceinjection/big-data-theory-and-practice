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9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12192000"/>
  <p:embeddedFontLst>
    <p:embeddedFont>
      <p:font typeface="KaiTi" panose="02010609060101010101" pitchFamily="49" charset="-122"/>
      <p:regular r:id="rId44"/>
    </p:embeddedFont>
    <p:embeddedFont>
      <p:font typeface="MiSans" pitchFamily="2" charset="-122"/>
      <p:regular r:id="rId45"/>
    </p:embeddedFont>
    <p:embeddedFont>
      <p:font typeface="Noto Sans SC" panose="020B0200000000000000" pitchFamily="34" charset="-128"/>
      <p:regular r:id="rId4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4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834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C0977-54B3-F28F-FB34-03A922E3E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0AB5C8-E8B2-3A53-6D49-AD41B60CE4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ED5BF8-F62C-6308-C63D-63AA4E8DFD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70CC41-5147-6D34-23B9-B532E355D4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529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8-11-17:38:55-d2crkbv0ctitcgma2i60.jpg">
            <a:extLst>
              <a:ext uri="{FF2B5EF4-FFF2-40B4-BE49-F238E27FC236}">
                <a16:creationId xmlns:a16="http://schemas.microsoft.com/office/drawing/2014/main" id="{C720054B-A1FE-7B54-87DA-7EBAB5D36A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1FE16E3D-8A8E-A9BC-50C8-43B301726787}"/>
              </a:ext>
            </a:extLst>
          </p:cNvPr>
          <p:cNvSpPr/>
          <p:nvPr userDrawn="1"/>
        </p:nvSpPr>
        <p:spPr>
          <a:xfrm>
            <a:off x="4445" y="0"/>
            <a:ext cx="12187555" cy="6875780"/>
          </a:xfrm>
          <a:prstGeom prst="rect">
            <a:avLst/>
          </a:prstGeom>
          <a:gradFill flip="none" rotWithShape="1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gradFill flip="none" rotWithShape="1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859790" y="1950085"/>
            <a:ext cx="6831330" cy="21158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20000"/>
              </a:lnSpc>
            </a:pPr>
            <a:r>
              <a:rPr lang="en-US" sz="5400" b="1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Apache Hive 数据仓库核心原理与实战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41070" y="4754245"/>
            <a:ext cx="2057400" cy="518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941070" y="4754245"/>
            <a:ext cx="2057400" cy="518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845185" y="4813935"/>
            <a:ext cx="2249805" cy="400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 err="1">
                <a:solidFill>
                  <a:srgbClr val="402E7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汇报人</a:t>
            </a:r>
            <a:r>
              <a:rPr lang="en-US" sz="2000" dirty="0">
                <a:solidFill>
                  <a:srgbClr val="402E7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:</a:t>
            </a:r>
            <a:r>
              <a:rPr lang="zh-CN" altLang="en-US" sz="2000" dirty="0">
                <a:solidFill>
                  <a:srgbClr val="402E7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altLang="zh-CN" sz="2000" dirty="0">
                <a:solidFill>
                  <a:srgbClr val="402E7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Grissom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323590" y="4754245"/>
            <a:ext cx="2057400" cy="518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323590" y="4754245"/>
            <a:ext cx="2057400" cy="518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27705" y="4813935"/>
            <a:ext cx="2249805" cy="400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402E7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时间:2025.</a:t>
            </a:r>
            <a:r>
              <a:rPr lang="en-US" altLang="zh-CN" sz="2000" dirty="0">
                <a:solidFill>
                  <a:srgbClr val="402E7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11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5280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5280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13665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3665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42049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42049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70434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70434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98818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98818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27203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27203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1456035" y="38163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456035" y="381635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1456035" y="501650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456035" y="501650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1456035" y="62166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1456035" y="621665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727190" y="6306820"/>
            <a:ext cx="100800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52805" y="6177280"/>
            <a:ext cx="259080" cy="259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52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979805" y="6177280"/>
            <a:ext cx="259080" cy="2590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79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https://test-kimi-img.moonshot.cn/pub/slides/slides_tmpl/image/25-08-11-17:38:52-d2crkb70ctitcgma2i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225" y="1504950"/>
            <a:ext cx="10369550" cy="52451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727190" y="6306820"/>
            <a:ext cx="10080000" cy="0"/>
          </a:xfrm>
          <a:prstGeom prst="line">
            <a:avLst/>
          </a:prstGeom>
          <a:noFill/>
          <a:ln w="19050">
            <a:solidFill>
              <a:srgbClr val="402E7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852805" y="6177280"/>
            <a:ext cx="259080" cy="259080"/>
          </a:xfrm>
          <a:prstGeom prst="ellipse">
            <a:avLst/>
          </a:prstGeom>
          <a:solidFill>
            <a:srgbClr val="402E7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852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79805" y="6177280"/>
            <a:ext cx="259080" cy="2590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402E7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979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1456035" y="38163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402E7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11456035" y="381635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1456035" y="501650"/>
            <a:ext cx="351155" cy="43815"/>
          </a:xfrm>
          <a:prstGeom prst="roundRect">
            <a:avLst>
              <a:gd name="adj" fmla="val 50000"/>
            </a:avLst>
          </a:prstGeom>
          <a:solidFill>
            <a:srgbClr val="402E7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11456035" y="501650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1456035" y="62166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402E7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11456035" y="621665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97230" y="469900"/>
            <a:ext cx="106680" cy="106680"/>
          </a:xfrm>
          <a:prstGeom prst="ellipse">
            <a:avLst/>
          </a:prstGeom>
          <a:solidFill>
            <a:srgbClr val="402E7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69723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981075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402E7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98107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264920" y="469900"/>
            <a:ext cx="106680" cy="106680"/>
          </a:xfrm>
          <a:prstGeom prst="ellipse">
            <a:avLst/>
          </a:prstGeom>
          <a:solidFill>
            <a:srgbClr val="402E7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126492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1548765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402E7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0"/>
          <p:cNvSpPr/>
          <p:nvPr/>
        </p:nvSpPr>
        <p:spPr>
          <a:xfrm>
            <a:off x="154876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1832610" y="469900"/>
            <a:ext cx="106680" cy="106680"/>
          </a:xfrm>
          <a:prstGeom prst="ellipse">
            <a:avLst/>
          </a:prstGeom>
          <a:solidFill>
            <a:srgbClr val="402E7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2"/>
          <p:cNvSpPr/>
          <p:nvPr/>
        </p:nvSpPr>
        <p:spPr>
          <a:xfrm>
            <a:off x="183261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2116455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402E7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4"/>
          <p:cNvSpPr/>
          <p:nvPr/>
        </p:nvSpPr>
        <p:spPr>
          <a:xfrm>
            <a:off x="211645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8" name="Image 1" descr="https://test-kimi-img.moonshot.cn/pub/slides/slides_tmpl/image/25-08-11-17:38:57-d2crkcf0ctitcgma2i7g.jpg"/>
          <p:cNvPicPr>
            <a:picLocks noChangeAspect="1"/>
          </p:cNvPicPr>
          <p:nvPr/>
        </p:nvPicPr>
        <p:blipFill>
          <a:blip r:embed="rId4"/>
          <a:srcRect l="13082" t="46098" r="5289" b="33026"/>
          <a:stretch/>
        </p:blipFill>
        <p:spPr>
          <a:xfrm>
            <a:off x="-25400" y="2216150"/>
            <a:ext cx="5394960" cy="71628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-25400" y="2216150"/>
            <a:ext cx="12192635" cy="71628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402E7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6"/>
          <p:cNvSpPr/>
          <p:nvPr/>
        </p:nvSpPr>
        <p:spPr>
          <a:xfrm>
            <a:off x="-25400" y="2216150"/>
            <a:ext cx="12192635" cy="7162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31" name="Image 2" descr="https://test-kimi-img.moonshot.cn/pub/slides/slides_tmpl/image/25-08-11-17:38:57-d2crkcf0ctitcgma2i7g.jpg"/>
          <p:cNvPicPr>
            <a:picLocks noChangeAspect="1"/>
          </p:cNvPicPr>
          <p:nvPr/>
        </p:nvPicPr>
        <p:blipFill>
          <a:blip r:embed="rId4"/>
          <a:srcRect l="13082" t="46098" r="5289" b="33026"/>
          <a:stretch/>
        </p:blipFill>
        <p:spPr>
          <a:xfrm>
            <a:off x="-25400" y="3806825"/>
            <a:ext cx="5394960" cy="716280"/>
          </a:xfrm>
          <a:prstGeom prst="rect">
            <a:avLst/>
          </a:prstGeom>
        </p:spPr>
      </p:pic>
      <p:sp>
        <p:nvSpPr>
          <p:cNvPr id="32" name="Shape 27"/>
          <p:cNvSpPr/>
          <p:nvPr/>
        </p:nvSpPr>
        <p:spPr>
          <a:xfrm>
            <a:off x="-25400" y="3806825"/>
            <a:ext cx="12192635" cy="71628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402E7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28"/>
          <p:cNvSpPr/>
          <p:nvPr/>
        </p:nvSpPr>
        <p:spPr>
          <a:xfrm>
            <a:off x="-25400" y="3806825"/>
            <a:ext cx="12192635" cy="7162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34" name="Image 3" descr="https://test-kimi-img.moonshot.cn/pub/slides/slides_tmpl/image/25-08-11-17:38:57-d2crkcf0ctitcgma2i7g.jpg"/>
          <p:cNvPicPr>
            <a:picLocks noChangeAspect="1"/>
          </p:cNvPicPr>
          <p:nvPr/>
        </p:nvPicPr>
        <p:blipFill>
          <a:blip r:embed="rId4"/>
          <a:srcRect l="13082" t="46098" r="5289" b="33026"/>
          <a:stretch/>
        </p:blipFill>
        <p:spPr>
          <a:xfrm>
            <a:off x="-25400" y="5397500"/>
            <a:ext cx="5394960" cy="716280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-25400" y="5397500"/>
            <a:ext cx="12192635" cy="71628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402E7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0"/>
          <p:cNvSpPr/>
          <p:nvPr/>
        </p:nvSpPr>
        <p:spPr>
          <a:xfrm>
            <a:off x="-25400" y="5397500"/>
            <a:ext cx="12192635" cy="7162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37" name="Image 4" descr="https://test-kimi-img.moonshot.cn/pub/slides/slides_tmpl/image/25-08-11-17:38:57-d2crkcf0ctitcgma2i7g.jpg"/>
          <p:cNvPicPr>
            <a:picLocks noChangeAspect="1"/>
          </p:cNvPicPr>
          <p:nvPr/>
        </p:nvPicPr>
        <p:blipFill>
          <a:blip r:embed="rId4"/>
          <a:srcRect l="13082" t="46098" r="5289" b="33026"/>
          <a:stretch/>
        </p:blipFill>
        <p:spPr>
          <a:xfrm>
            <a:off x="6772275" y="3011170"/>
            <a:ext cx="5394960" cy="716280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-25400" y="3011170"/>
            <a:ext cx="12192635" cy="71628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402E7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2"/>
          <p:cNvSpPr/>
          <p:nvPr/>
        </p:nvSpPr>
        <p:spPr>
          <a:xfrm>
            <a:off x="-25400" y="3011170"/>
            <a:ext cx="12192635" cy="7162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0" name="Image 5" descr="https://test-kimi-img.moonshot.cn/pub/slides/slides_tmpl/image/25-08-11-17:38:57-d2crkcf0ctitcgma2i7g.jpg"/>
          <p:cNvPicPr>
            <a:picLocks noChangeAspect="1"/>
          </p:cNvPicPr>
          <p:nvPr/>
        </p:nvPicPr>
        <p:blipFill>
          <a:blip r:embed="rId4"/>
          <a:srcRect l="13082" t="46098" r="5289" b="33026"/>
          <a:stretch/>
        </p:blipFill>
        <p:spPr>
          <a:xfrm>
            <a:off x="6772275" y="4601845"/>
            <a:ext cx="5394960" cy="716280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-25400" y="4601845"/>
            <a:ext cx="12192635" cy="71628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402E7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34"/>
          <p:cNvSpPr/>
          <p:nvPr/>
        </p:nvSpPr>
        <p:spPr>
          <a:xfrm>
            <a:off x="-25400" y="4601845"/>
            <a:ext cx="12192635" cy="7162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3" name="Shape 35"/>
          <p:cNvSpPr/>
          <p:nvPr/>
        </p:nvSpPr>
        <p:spPr>
          <a:xfrm>
            <a:off x="3619500" y="828040"/>
            <a:ext cx="4953000" cy="92329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36"/>
          <p:cNvSpPr/>
          <p:nvPr/>
        </p:nvSpPr>
        <p:spPr>
          <a:xfrm>
            <a:off x="3619500" y="828040"/>
            <a:ext cx="4953000" cy="923290"/>
          </a:xfrm>
          <a:prstGeom prst="rect">
            <a:avLst/>
          </a:prstGeom>
          <a:noFill/>
          <a:ln/>
        </p:spPr>
        <p:txBody>
          <a:bodyPr wrap="square" lIns="46863" tIns="90043" rIns="90043" bIns="46863" rtlCol="0" anchor="b"/>
          <a:lstStyle/>
          <a:p>
            <a:pPr algn="ctr">
              <a:lnSpc>
                <a:spcPct val="100000"/>
              </a:lnSpc>
            </a:pPr>
            <a:r>
              <a:rPr lang="en-US" sz="5400" dirty="0" err="1">
                <a:solidFill>
                  <a:srgbClr val="1E1C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45" name="Shape 37"/>
          <p:cNvSpPr/>
          <p:nvPr/>
        </p:nvSpPr>
        <p:spPr>
          <a:xfrm>
            <a:off x="-35560" y="2216150"/>
            <a:ext cx="5396400" cy="716369"/>
          </a:xfrm>
          <a:prstGeom prst="rect">
            <a:avLst/>
          </a:prstGeom>
          <a:gradFill flip="none" rotWithShape="1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38"/>
          <p:cNvSpPr/>
          <p:nvPr/>
        </p:nvSpPr>
        <p:spPr>
          <a:xfrm>
            <a:off x="-35560" y="2216150"/>
            <a:ext cx="5396400" cy="7163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7" name="Shape 39"/>
          <p:cNvSpPr/>
          <p:nvPr/>
        </p:nvSpPr>
        <p:spPr>
          <a:xfrm>
            <a:off x="-35560" y="3806736"/>
            <a:ext cx="5396400" cy="716369"/>
          </a:xfrm>
          <a:prstGeom prst="rect">
            <a:avLst/>
          </a:prstGeom>
          <a:gradFill flip="none" rotWithShape="1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0"/>
          <p:cNvSpPr/>
          <p:nvPr/>
        </p:nvSpPr>
        <p:spPr>
          <a:xfrm>
            <a:off x="-35560" y="3806736"/>
            <a:ext cx="5396400" cy="7163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9" name="Shape 41"/>
          <p:cNvSpPr/>
          <p:nvPr/>
        </p:nvSpPr>
        <p:spPr>
          <a:xfrm>
            <a:off x="-35560" y="5397411"/>
            <a:ext cx="5396400" cy="716369"/>
          </a:xfrm>
          <a:prstGeom prst="rect">
            <a:avLst/>
          </a:prstGeom>
          <a:gradFill flip="none" rotWithShape="1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2"/>
          <p:cNvSpPr/>
          <p:nvPr/>
        </p:nvSpPr>
        <p:spPr>
          <a:xfrm>
            <a:off x="-35560" y="5397411"/>
            <a:ext cx="5396400" cy="7163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1" name="Shape 43"/>
          <p:cNvSpPr/>
          <p:nvPr/>
        </p:nvSpPr>
        <p:spPr>
          <a:xfrm>
            <a:off x="6770835" y="3011170"/>
            <a:ext cx="5396400" cy="716369"/>
          </a:xfrm>
          <a:prstGeom prst="rect">
            <a:avLst/>
          </a:prstGeom>
          <a:gradFill flip="none" rotWithShape="1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44"/>
          <p:cNvSpPr/>
          <p:nvPr/>
        </p:nvSpPr>
        <p:spPr>
          <a:xfrm>
            <a:off x="6770835" y="3011170"/>
            <a:ext cx="5396400" cy="7163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3" name="Shape 45"/>
          <p:cNvSpPr/>
          <p:nvPr/>
        </p:nvSpPr>
        <p:spPr>
          <a:xfrm>
            <a:off x="6770835" y="4601756"/>
            <a:ext cx="5396400" cy="716369"/>
          </a:xfrm>
          <a:prstGeom prst="rect">
            <a:avLst/>
          </a:prstGeom>
          <a:gradFill flip="none" rotWithShape="1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46"/>
          <p:cNvSpPr/>
          <p:nvPr/>
        </p:nvSpPr>
        <p:spPr>
          <a:xfrm>
            <a:off x="6770835" y="4601756"/>
            <a:ext cx="5396400" cy="7163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5" name="Text 47"/>
          <p:cNvSpPr/>
          <p:nvPr/>
        </p:nvSpPr>
        <p:spPr>
          <a:xfrm>
            <a:off x="5519420" y="2275791"/>
            <a:ext cx="772795" cy="62097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02E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56" name="Text 48"/>
          <p:cNvSpPr/>
          <p:nvPr/>
        </p:nvSpPr>
        <p:spPr>
          <a:xfrm>
            <a:off x="6357620" y="2374024"/>
            <a:ext cx="500824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rgbClr val="4E4B2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Hive 定位与演进</a:t>
            </a:r>
            <a:endParaRPr lang="en-US" sz="1600" dirty="0"/>
          </a:p>
        </p:txBody>
      </p:sp>
      <p:sp>
        <p:nvSpPr>
          <p:cNvPr id="57" name="Text 49"/>
          <p:cNvSpPr/>
          <p:nvPr/>
        </p:nvSpPr>
        <p:spPr>
          <a:xfrm>
            <a:off x="154940" y="3070811"/>
            <a:ext cx="772795" cy="62097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02E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58" name="Text 50"/>
          <p:cNvSpPr/>
          <p:nvPr/>
        </p:nvSpPr>
        <p:spPr>
          <a:xfrm>
            <a:off x="993140" y="3169044"/>
            <a:ext cx="500824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4E4B2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分层架构与元数据</a:t>
            </a:r>
            <a:endParaRPr lang="en-US" sz="1600" dirty="0"/>
          </a:p>
        </p:txBody>
      </p:sp>
      <p:sp>
        <p:nvSpPr>
          <p:cNvPr id="59" name="Text 51"/>
          <p:cNvSpPr/>
          <p:nvPr/>
        </p:nvSpPr>
        <p:spPr>
          <a:xfrm>
            <a:off x="5519420" y="3866466"/>
            <a:ext cx="772795" cy="62097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02E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60" name="Text 52"/>
          <p:cNvSpPr/>
          <p:nvPr/>
        </p:nvSpPr>
        <p:spPr>
          <a:xfrm>
            <a:off x="6357620" y="3964699"/>
            <a:ext cx="500824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rgbClr val="4E4B2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查询编译与优化</a:t>
            </a:r>
            <a:endParaRPr lang="en-US" sz="1600" dirty="0"/>
          </a:p>
        </p:txBody>
      </p:sp>
      <p:sp>
        <p:nvSpPr>
          <p:cNvPr id="61" name="Text 53"/>
          <p:cNvSpPr/>
          <p:nvPr/>
        </p:nvSpPr>
        <p:spPr>
          <a:xfrm>
            <a:off x="154940" y="4661486"/>
            <a:ext cx="772795" cy="62097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02E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62" name="Text 54"/>
          <p:cNvSpPr/>
          <p:nvPr/>
        </p:nvSpPr>
        <p:spPr>
          <a:xfrm>
            <a:off x="993140" y="4759719"/>
            <a:ext cx="500824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rgbClr val="3E3A1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执行引擎与任务运行</a:t>
            </a:r>
            <a:endParaRPr lang="en-US" sz="1600" dirty="0"/>
          </a:p>
        </p:txBody>
      </p:sp>
      <p:sp>
        <p:nvSpPr>
          <p:cNvPr id="63" name="Text 55"/>
          <p:cNvSpPr/>
          <p:nvPr/>
        </p:nvSpPr>
        <p:spPr>
          <a:xfrm>
            <a:off x="5519420" y="5457141"/>
            <a:ext cx="772795" cy="62097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02E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64" name="Text 56"/>
          <p:cNvSpPr/>
          <p:nvPr/>
        </p:nvSpPr>
        <p:spPr>
          <a:xfrm>
            <a:off x="6357620" y="5555374"/>
            <a:ext cx="500824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rgbClr val="3E3A1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数据存储与文件格式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B896C-2575-F3CE-E831-DFBAA3CB4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0DD838B-37AA-AE49-BBD0-BCB68F4E3582}"/>
              </a:ext>
            </a:extLst>
          </p:cNvPr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test-kimi-img.moonshot.cn/pub/slides/slides_tmpl/image/25-08-11-17:38:52-d2crkb70ctitcgma2i50.png">
            <a:extLst>
              <a:ext uri="{FF2B5EF4-FFF2-40B4-BE49-F238E27FC236}">
                <a16:creationId xmlns:a16="http://schemas.microsoft.com/office/drawing/2014/main" id="{86BCFE56-0A3A-154C-324D-C61BC54D6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225" y="1504950"/>
            <a:ext cx="10369550" cy="524510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7B52ADB5-1743-6262-8647-8B9416603DFD}"/>
              </a:ext>
            </a:extLst>
          </p:cNvPr>
          <p:cNvSpPr/>
          <p:nvPr/>
        </p:nvSpPr>
        <p:spPr>
          <a:xfrm>
            <a:off x="1727190" y="6306820"/>
            <a:ext cx="10080000" cy="0"/>
          </a:xfrm>
          <a:prstGeom prst="line">
            <a:avLst/>
          </a:prstGeom>
          <a:noFill/>
          <a:ln w="19050">
            <a:solidFill>
              <a:srgbClr val="402E7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C32C4D10-6993-05BF-BCB8-46E380707475}"/>
              </a:ext>
            </a:extLst>
          </p:cNvPr>
          <p:cNvSpPr/>
          <p:nvPr/>
        </p:nvSpPr>
        <p:spPr>
          <a:xfrm>
            <a:off x="852805" y="6177280"/>
            <a:ext cx="259080" cy="259080"/>
          </a:xfrm>
          <a:prstGeom prst="ellipse">
            <a:avLst/>
          </a:prstGeom>
          <a:solidFill>
            <a:srgbClr val="402E7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0C93A03-BAFA-CC60-065C-7A961C98DD83}"/>
              </a:ext>
            </a:extLst>
          </p:cNvPr>
          <p:cNvSpPr/>
          <p:nvPr/>
        </p:nvSpPr>
        <p:spPr>
          <a:xfrm>
            <a:off x="852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68118D4F-19F7-7D40-9AB9-06C873BE6FFA}"/>
              </a:ext>
            </a:extLst>
          </p:cNvPr>
          <p:cNvSpPr/>
          <p:nvPr/>
        </p:nvSpPr>
        <p:spPr>
          <a:xfrm>
            <a:off x="979805" y="6177280"/>
            <a:ext cx="259080" cy="2590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402E7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254627D-2596-139F-D094-D644673E0328}"/>
              </a:ext>
            </a:extLst>
          </p:cNvPr>
          <p:cNvSpPr/>
          <p:nvPr/>
        </p:nvSpPr>
        <p:spPr>
          <a:xfrm>
            <a:off x="979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79904CE6-8C2B-6413-49C8-D8477784B900}"/>
              </a:ext>
            </a:extLst>
          </p:cNvPr>
          <p:cNvSpPr/>
          <p:nvPr/>
        </p:nvSpPr>
        <p:spPr>
          <a:xfrm>
            <a:off x="11456035" y="38163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402E7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E45C23E-733F-6438-DEE1-355FB6981488}"/>
              </a:ext>
            </a:extLst>
          </p:cNvPr>
          <p:cNvSpPr/>
          <p:nvPr/>
        </p:nvSpPr>
        <p:spPr>
          <a:xfrm>
            <a:off x="11456035" y="381635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B84F6F08-92E7-2755-945B-462EC2AC0B85}"/>
              </a:ext>
            </a:extLst>
          </p:cNvPr>
          <p:cNvSpPr/>
          <p:nvPr/>
        </p:nvSpPr>
        <p:spPr>
          <a:xfrm>
            <a:off x="11456035" y="501650"/>
            <a:ext cx="351155" cy="43815"/>
          </a:xfrm>
          <a:prstGeom prst="roundRect">
            <a:avLst>
              <a:gd name="adj" fmla="val 50000"/>
            </a:avLst>
          </a:prstGeom>
          <a:solidFill>
            <a:srgbClr val="402E7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014BCDF2-71CE-E3BE-0D2C-5A8AF49A27B5}"/>
              </a:ext>
            </a:extLst>
          </p:cNvPr>
          <p:cNvSpPr/>
          <p:nvPr/>
        </p:nvSpPr>
        <p:spPr>
          <a:xfrm>
            <a:off x="11456035" y="501650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9E613115-A8DF-7B59-3B74-F148051A83B6}"/>
              </a:ext>
            </a:extLst>
          </p:cNvPr>
          <p:cNvSpPr/>
          <p:nvPr/>
        </p:nvSpPr>
        <p:spPr>
          <a:xfrm>
            <a:off x="11456035" y="62166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402E7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90F5AF47-E102-EE24-73A3-FC0A9F3FCF88}"/>
              </a:ext>
            </a:extLst>
          </p:cNvPr>
          <p:cNvSpPr/>
          <p:nvPr/>
        </p:nvSpPr>
        <p:spPr>
          <a:xfrm>
            <a:off x="11456035" y="621665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71D8DD40-861B-F305-B18A-CA2E3D1AD432}"/>
              </a:ext>
            </a:extLst>
          </p:cNvPr>
          <p:cNvSpPr/>
          <p:nvPr/>
        </p:nvSpPr>
        <p:spPr>
          <a:xfrm>
            <a:off x="697230" y="469900"/>
            <a:ext cx="106680" cy="106680"/>
          </a:xfrm>
          <a:prstGeom prst="ellipse">
            <a:avLst/>
          </a:prstGeom>
          <a:solidFill>
            <a:srgbClr val="402E7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924DFE00-0135-A93C-A5FC-8602718A4902}"/>
              </a:ext>
            </a:extLst>
          </p:cNvPr>
          <p:cNvSpPr/>
          <p:nvPr/>
        </p:nvSpPr>
        <p:spPr>
          <a:xfrm>
            <a:off x="69723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EF6022F0-A5A3-2FF1-E391-DE3A35F1DE1B}"/>
              </a:ext>
            </a:extLst>
          </p:cNvPr>
          <p:cNvSpPr/>
          <p:nvPr/>
        </p:nvSpPr>
        <p:spPr>
          <a:xfrm>
            <a:off x="981075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402E7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BC41DEEA-7262-289D-1855-1F9C97A13D74}"/>
              </a:ext>
            </a:extLst>
          </p:cNvPr>
          <p:cNvSpPr/>
          <p:nvPr/>
        </p:nvSpPr>
        <p:spPr>
          <a:xfrm>
            <a:off x="98107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CC8DACED-C455-8894-ED30-2A82580ACECD}"/>
              </a:ext>
            </a:extLst>
          </p:cNvPr>
          <p:cNvSpPr/>
          <p:nvPr/>
        </p:nvSpPr>
        <p:spPr>
          <a:xfrm>
            <a:off x="1264920" y="469900"/>
            <a:ext cx="106680" cy="106680"/>
          </a:xfrm>
          <a:prstGeom prst="ellipse">
            <a:avLst/>
          </a:prstGeom>
          <a:solidFill>
            <a:srgbClr val="402E7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287BCB7D-6EF8-2AED-B751-58C75E353CB3}"/>
              </a:ext>
            </a:extLst>
          </p:cNvPr>
          <p:cNvSpPr/>
          <p:nvPr/>
        </p:nvSpPr>
        <p:spPr>
          <a:xfrm>
            <a:off x="126492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1E62DAB0-1C05-A4F2-10EC-160571A500C9}"/>
              </a:ext>
            </a:extLst>
          </p:cNvPr>
          <p:cNvSpPr/>
          <p:nvPr/>
        </p:nvSpPr>
        <p:spPr>
          <a:xfrm>
            <a:off x="1548765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402E7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E9C7031F-927F-8272-97BE-BFC84FE39564}"/>
              </a:ext>
            </a:extLst>
          </p:cNvPr>
          <p:cNvSpPr/>
          <p:nvPr/>
        </p:nvSpPr>
        <p:spPr>
          <a:xfrm>
            <a:off x="154876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B2FED646-6FE4-AB6B-0323-77CE34F9D35E}"/>
              </a:ext>
            </a:extLst>
          </p:cNvPr>
          <p:cNvSpPr/>
          <p:nvPr/>
        </p:nvSpPr>
        <p:spPr>
          <a:xfrm>
            <a:off x="1832610" y="469900"/>
            <a:ext cx="106680" cy="106680"/>
          </a:xfrm>
          <a:prstGeom prst="ellipse">
            <a:avLst/>
          </a:prstGeom>
          <a:solidFill>
            <a:srgbClr val="402E7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82F1566D-E4F1-A008-9D21-82E0619945BF}"/>
              </a:ext>
            </a:extLst>
          </p:cNvPr>
          <p:cNvSpPr/>
          <p:nvPr/>
        </p:nvSpPr>
        <p:spPr>
          <a:xfrm>
            <a:off x="183261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5AE3FF25-55D3-528E-EB2A-A8FA84B61927}"/>
              </a:ext>
            </a:extLst>
          </p:cNvPr>
          <p:cNvSpPr/>
          <p:nvPr/>
        </p:nvSpPr>
        <p:spPr>
          <a:xfrm>
            <a:off x="2116455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402E7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EE630787-AFD1-142D-DF2D-1674F851C037}"/>
              </a:ext>
            </a:extLst>
          </p:cNvPr>
          <p:cNvSpPr/>
          <p:nvPr/>
        </p:nvSpPr>
        <p:spPr>
          <a:xfrm>
            <a:off x="211645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8" name="Image 1" descr="https://test-kimi-img.moonshot.cn/pub/slides/slides_tmpl/image/25-08-11-17:38:57-d2crkcf0ctitcgma2i7g.jpg">
            <a:extLst>
              <a:ext uri="{FF2B5EF4-FFF2-40B4-BE49-F238E27FC236}">
                <a16:creationId xmlns:a16="http://schemas.microsoft.com/office/drawing/2014/main" id="{91011A75-53AB-67A2-A885-1DBC7075001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082" t="46098" r="5289" b="33026"/>
          <a:stretch/>
        </p:blipFill>
        <p:spPr>
          <a:xfrm>
            <a:off x="-25400" y="2216150"/>
            <a:ext cx="5394960" cy="716280"/>
          </a:xfrm>
          <a:prstGeom prst="rect">
            <a:avLst/>
          </a:prstGeom>
        </p:spPr>
      </p:pic>
      <p:sp>
        <p:nvSpPr>
          <p:cNvPr id="29" name="Shape 25">
            <a:extLst>
              <a:ext uri="{FF2B5EF4-FFF2-40B4-BE49-F238E27FC236}">
                <a16:creationId xmlns:a16="http://schemas.microsoft.com/office/drawing/2014/main" id="{3F0ACF20-0790-6A03-6DF5-76A696515B26}"/>
              </a:ext>
            </a:extLst>
          </p:cNvPr>
          <p:cNvSpPr/>
          <p:nvPr/>
        </p:nvSpPr>
        <p:spPr>
          <a:xfrm>
            <a:off x="-25400" y="2216150"/>
            <a:ext cx="12192635" cy="71628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402E7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B6A0CE86-3224-E6BE-8863-26C1020A7D22}"/>
              </a:ext>
            </a:extLst>
          </p:cNvPr>
          <p:cNvSpPr/>
          <p:nvPr/>
        </p:nvSpPr>
        <p:spPr>
          <a:xfrm>
            <a:off x="-25400" y="2216150"/>
            <a:ext cx="12192635" cy="7162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31" name="Image 2" descr="https://test-kimi-img.moonshot.cn/pub/slides/slides_tmpl/image/25-08-11-17:38:57-d2crkcf0ctitcgma2i7g.jpg">
            <a:extLst>
              <a:ext uri="{FF2B5EF4-FFF2-40B4-BE49-F238E27FC236}">
                <a16:creationId xmlns:a16="http://schemas.microsoft.com/office/drawing/2014/main" id="{2FB16F46-FF03-C3F4-484C-E9875210270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082" t="46098" r="5289" b="33026"/>
          <a:stretch/>
        </p:blipFill>
        <p:spPr>
          <a:xfrm>
            <a:off x="-25400" y="3806825"/>
            <a:ext cx="5394960" cy="716280"/>
          </a:xfrm>
          <a:prstGeom prst="rect">
            <a:avLst/>
          </a:prstGeom>
        </p:spPr>
      </p:pic>
      <p:sp>
        <p:nvSpPr>
          <p:cNvPr id="32" name="Shape 27">
            <a:extLst>
              <a:ext uri="{FF2B5EF4-FFF2-40B4-BE49-F238E27FC236}">
                <a16:creationId xmlns:a16="http://schemas.microsoft.com/office/drawing/2014/main" id="{3F6D207A-8464-AE02-371E-AAE639AE079F}"/>
              </a:ext>
            </a:extLst>
          </p:cNvPr>
          <p:cNvSpPr/>
          <p:nvPr/>
        </p:nvSpPr>
        <p:spPr>
          <a:xfrm>
            <a:off x="-25400" y="3806825"/>
            <a:ext cx="12192635" cy="71628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402E7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28">
            <a:extLst>
              <a:ext uri="{FF2B5EF4-FFF2-40B4-BE49-F238E27FC236}">
                <a16:creationId xmlns:a16="http://schemas.microsoft.com/office/drawing/2014/main" id="{9C49F104-249B-7D0F-7A20-D4C313EA4B33}"/>
              </a:ext>
            </a:extLst>
          </p:cNvPr>
          <p:cNvSpPr/>
          <p:nvPr/>
        </p:nvSpPr>
        <p:spPr>
          <a:xfrm>
            <a:off x="-25400" y="3806825"/>
            <a:ext cx="12192635" cy="7162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34" name="Image 3" descr="https://test-kimi-img.moonshot.cn/pub/slides/slides_tmpl/image/25-08-11-17:38:57-d2crkcf0ctitcgma2i7g.jpg">
            <a:extLst>
              <a:ext uri="{FF2B5EF4-FFF2-40B4-BE49-F238E27FC236}">
                <a16:creationId xmlns:a16="http://schemas.microsoft.com/office/drawing/2014/main" id="{73BDA9AB-E0B4-6D46-52B6-F25C1CADF5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082" t="46098" r="5289" b="33026"/>
          <a:stretch/>
        </p:blipFill>
        <p:spPr>
          <a:xfrm>
            <a:off x="-25400" y="5397500"/>
            <a:ext cx="5394960" cy="716280"/>
          </a:xfrm>
          <a:prstGeom prst="rect">
            <a:avLst/>
          </a:prstGeom>
        </p:spPr>
      </p:pic>
      <p:sp>
        <p:nvSpPr>
          <p:cNvPr id="35" name="Shape 29">
            <a:extLst>
              <a:ext uri="{FF2B5EF4-FFF2-40B4-BE49-F238E27FC236}">
                <a16:creationId xmlns:a16="http://schemas.microsoft.com/office/drawing/2014/main" id="{89A73181-424B-E023-4E26-41B458D83590}"/>
              </a:ext>
            </a:extLst>
          </p:cNvPr>
          <p:cNvSpPr/>
          <p:nvPr/>
        </p:nvSpPr>
        <p:spPr>
          <a:xfrm>
            <a:off x="-25400" y="5397500"/>
            <a:ext cx="12192635" cy="71628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402E7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E5918181-8F1C-B741-434A-97E7045939FA}"/>
              </a:ext>
            </a:extLst>
          </p:cNvPr>
          <p:cNvSpPr/>
          <p:nvPr/>
        </p:nvSpPr>
        <p:spPr>
          <a:xfrm>
            <a:off x="-25400" y="5397500"/>
            <a:ext cx="12192635" cy="7162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37" name="Image 4" descr="https://test-kimi-img.moonshot.cn/pub/slides/slides_tmpl/image/25-08-11-17:38:57-d2crkcf0ctitcgma2i7g.jpg">
            <a:extLst>
              <a:ext uri="{FF2B5EF4-FFF2-40B4-BE49-F238E27FC236}">
                <a16:creationId xmlns:a16="http://schemas.microsoft.com/office/drawing/2014/main" id="{455489C5-526B-834B-205F-6D8F938E1F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082" t="46098" r="5289" b="33026"/>
          <a:stretch/>
        </p:blipFill>
        <p:spPr>
          <a:xfrm>
            <a:off x="6772275" y="3011170"/>
            <a:ext cx="5394960" cy="716280"/>
          </a:xfrm>
          <a:prstGeom prst="rect">
            <a:avLst/>
          </a:prstGeom>
        </p:spPr>
      </p:pic>
      <p:sp>
        <p:nvSpPr>
          <p:cNvPr id="38" name="Shape 31">
            <a:extLst>
              <a:ext uri="{FF2B5EF4-FFF2-40B4-BE49-F238E27FC236}">
                <a16:creationId xmlns:a16="http://schemas.microsoft.com/office/drawing/2014/main" id="{805E204F-C1FE-FB54-32A8-E82A56B35C26}"/>
              </a:ext>
            </a:extLst>
          </p:cNvPr>
          <p:cNvSpPr/>
          <p:nvPr/>
        </p:nvSpPr>
        <p:spPr>
          <a:xfrm>
            <a:off x="-25400" y="3011170"/>
            <a:ext cx="12192635" cy="71628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402E7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0D44147C-69A4-6610-4564-4B8A5E409659}"/>
              </a:ext>
            </a:extLst>
          </p:cNvPr>
          <p:cNvSpPr/>
          <p:nvPr/>
        </p:nvSpPr>
        <p:spPr>
          <a:xfrm>
            <a:off x="-25400" y="3011170"/>
            <a:ext cx="12192635" cy="7162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0" name="Image 5" descr="https://test-kimi-img.moonshot.cn/pub/slides/slides_tmpl/image/25-08-11-17:38:57-d2crkcf0ctitcgma2i7g.jpg">
            <a:extLst>
              <a:ext uri="{FF2B5EF4-FFF2-40B4-BE49-F238E27FC236}">
                <a16:creationId xmlns:a16="http://schemas.microsoft.com/office/drawing/2014/main" id="{CC8B7CE8-6820-C8BB-BBD4-BDDE16B4B5F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082" t="46098" r="5289" b="33026"/>
          <a:stretch/>
        </p:blipFill>
        <p:spPr>
          <a:xfrm>
            <a:off x="6772275" y="4601845"/>
            <a:ext cx="5394960" cy="716280"/>
          </a:xfrm>
          <a:prstGeom prst="rect">
            <a:avLst/>
          </a:prstGeom>
        </p:spPr>
      </p:pic>
      <p:sp>
        <p:nvSpPr>
          <p:cNvPr id="41" name="Shape 33">
            <a:extLst>
              <a:ext uri="{FF2B5EF4-FFF2-40B4-BE49-F238E27FC236}">
                <a16:creationId xmlns:a16="http://schemas.microsoft.com/office/drawing/2014/main" id="{129281A7-52D4-3E81-7956-2D886FD2DFED}"/>
              </a:ext>
            </a:extLst>
          </p:cNvPr>
          <p:cNvSpPr/>
          <p:nvPr/>
        </p:nvSpPr>
        <p:spPr>
          <a:xfrm>
            <a:off x="-25400" y="4601845"/>
            <a:ext cx="12192635" cy="71628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402E7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34">
            <a:extLst>
              <a:ext uri="{FF2B5EF4-FFF2-40B4-BE49-F238E27FC236}">
                <a16:creationId xmlns:a16="http://schemas.microsoft.com/office/drawing/2014/main" id="{A3A78508-32CD-E433-FFAC-6C4447A4B8F9}"/>
              </a:ext>
            </a:extLst>
          </p:cNvPr>
          <p:cNvSpPr/>
          <p:nvPr/>
        </p:nvSpPr>
        <p:spPr>
          <a:xfrm>
            <a:off x="-25400" y="4601845"/>
            <a:ext cx="12192635" cy="7162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3" name="Shape 35">
            <a:extLst>
              <a:ext uri="{FF2B5EF4-FFF2-40B4-BE49-F238E27FC236}">
                <a16:creationId xmlns:a16="http://schemas.microsoft.com/office/drawing/2014/main" id="{B30BC7EE-35C7-314F-BF16-07F3DF30D09E}"/>
              </a:ext>
            </a:extLst>
          </p:cNvPr>
          <p:cNvSpPr/>
          <p:nvPr/>
        </p:nvSpPr>
        <p:spPr>
          <a:xfrm>
            <a:off x="3619500" y="828040"/>
            <a:ext cx="4953000" cy="92329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55BCC93-4C0C-BC64-9978-7B3E92E91489}"/>
              </a:ext>
            </a:extLst>
          </p:cNvPr>
          <p:cNvSpPr/>
          <p:nvPr/>
        </p:nvSpPr>
        <p:spPr>
          <a:xfrm>
            <a:off x="3619500" y="828040"/>
            <a:ext cx="4953000" cy="923290"/>
          </a:xfrm>
          <a:prstGeom prst="rect">
            <a:avLst/>
          </a:prstGeom>
          <a:noFill/>
          <a:ln/>
        </p:spPr>
        <p:txBody>
          <a:bodyPr wrap="square" lIns="46863" tIns="90043" rIns="90043" bIns="46863" rtlCol="0" anchor="b"/>
          <a:lstStyle/>
          <a:p>
            <a:pPr algn="ctr">
              <a:lnSpc>
                <a:spcPct val="100000"/>
              </a:lnSpc>
            </a:pPr>
            <a:r>
              <a:rPr lang="en-US" sz="5400" dirty="0">
                <a:solidFill>
                  <a:srgbClr val="1E1C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45" name="Shape 37">
            <a:extLst>
              <a:ext uri="{FF2B5EF4-FFF2-40B4-BE49-F238E27FC236}">
                <a16:creationId xmlns:a16="http://schemas.microsoft.com/office/drawing/2014/main" id="{8A2A8DCB-7387-0DE1-2015-45A46769E21A}"/>
              </a:ext>
            </a:extLst>
          </p:cNvPr>
          <p:cNvSpPr/>
          <p:nvPr/>
        </p:nvSpPr>
        <p:spPr>
          <a:xfrm>
            <a:off x="-35560" y="2216150"/>
            <a:ext cx="5396400" cy="716369"/>
          </a:xfrm>
          <a:prstGeom prst="rect">
            <a:avLst/>
          </a:prstGeom>
          <a:gradFill flip="none" rotWithShape="1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38">
            <a:extLst>
              <a:ext uri="{FF2B5EF4-FFF2-40B4-BE49-F238E27FC236}">
                <a16:creationId xmlns:a16="http://schemas.microsoft.com/office/drawing/2014/main" id="{6F0E2FBB-C2B4-428E-EC56-30900131F16E}"/>
              </a:ext>
            </a:extLst>
          </p:cNvPr>
          <p:cNvSpPr/>
          <p:nvPr/>
        </p:nvSpPr>
        <p:spPr>
          <a:xfrm>
            <a:off x="-35560" y="2216150"/>
            <a:ext cx="5396400" cy="7163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7" name="Shape 39">
            <a:extLst>
              <a:ext uri="{FF2B5EF4-FFF2-40B4-BE49-F238E27FC236}">
                <a16:creationId xmlns:a16="http://schemas.microsoft.com/office/drawing/2014/main" id="{91853AF4-8356-6711-0843-7056D20E1A17}"/>
              </a:ext>
            </a:extLst>
          </p:cNvPr>
          <p:cNvSpPr/>
          <p:nvPr/>
        </p:nvSpPr>
        <p:spPr>
          <a:xfrm>
            <a:off x="-35560" y="3806736"/>
            <a:ext cx="5396400" cy="716369"/>
          </a:xfrm>
          <a:prstGeom prst="rect">
            <a:avLst/>
          </a:prstGeom>
          <a:gradFill flip="none" rotWithShape="1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E2036326-B574-02EF-2FBE-24AD259B3C30}"/>
              </a:ext>
            </a:extLst>
          </p:cNvPr>
          <p:cNvSpPr/>
          <p:nvPr/>
        </p:nvSpPr>
        <p:spPr>
          <a:xfrm>
            <a:off x="-35560" y="3806736"/>
            <a:ext cx="5396400" cy="7163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9" name="Shape 41">
            <a:extLst>
              <a:ext uri="{FF2B5EF4-FFF2-40B4-BE49-F238E27FC236}">
                <a16:creationId xmlns:a16="http://schemas.microsoft.com/office/drawing/2014/main" id="{BA2AE205-2750-6331-C914-57277EF4AA98}"/>
              </a:ext>
            </a:extLst>
          </p:cNvPr>
          <p:cNvSpPr/>
          <p:nvPr/>
        </p:nvSpPr>
        <p:spPr>
          <a:xfrm>
            <a:off x="-35560" y="5397411"/>
            <a:ext cx="5396400" cy="716369"/>
          </a:xfrm>
          <a:prstGeom prst="rect">
            <a:avLst/>
          </a:prstGeom>
          <a:gradFill flip="none" rotWithShape="1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2">
            <a:extLst>
              <a:ext uri="{FF2B5EF4-FFF2-40B4-BE49-F238E27FC236}">
                <a16:creationId xmlns:a16="http://schemas.microsoft.com/office/drawing/2014/main" id="{D4C3FF0F-D9F1-058D-1CE6-3ACAD8F79E26}"/>
              </a:ext>
            </a:extLst>
          </p:cNvPr>
          <p:cNvSpPr/>
          <p:nvPr/>
        </p:nvSpPr>
        <p:spPr>
          <a:xfrm>
            <a:off x="-35560" y="5397411"/>
            <a:ext cx="5396400" cy="7163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1" name="Shape 43">
            <a:extLst>
              <a:ext uri="{FF2B5EF4-FFF2-40B4-BE49-F238E27FC236}">
                <a16:creationId xmlns:a16="http://schemas.microsoft.com/office/drawing/2014/main" id="{E51E096F-E857-C6C9-AD34-F4A63BF27C67}"/>
              </a:ext>
            </a:extLst>
          </p:cNvPr>
          <p:cNvSpPr/>
          <p:nvPr/>
        </p:nvSpPr>
        <p:spPr>
          <a:xfrm>
            <a:off x="6770835" y="3011170"/>
            <a:ext cx="5396400" cy="716369"/>
          </a:xfrm>
          <a:prstGeom prst="rect">
            <a:avLst/>
          </a:prstGeom>
          <a:gradFill flip="none" rotWithShape="1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44">
            <a:extLst>
              <a:ext uri="{FF2B5EF4-FFF2-40B4-BE49-F238E27FC236}">
                <a16:creationId xmlns:a16="http://schemas.microsoft.com/office/drawing/2014/main" id="{242C7664-A477-95CA-3F79-8827446232AB}"/>
              </a:ext>
            </a:extLst>
          </p:cNvPr>
          <p:cNvSpPr/>
          <p:nvPr/>
        </p:nvSpPr>
        <p:spPr>
          <a:xfrm>
            <a:off x="6770835" y="3011170"/>
            <a:ext cx="5396400" cy="7163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3" name="Shape 45">
            <a:extLst>
              <a:ext uri="{FF2B5EF4-FFF2-40B4-BE49-F238E27FC236}">
                <a16:creationId xmlns:a16="http://schemas.microsoft.com/office/drawing/2014/main" id="{B3E65C10-D9E4-347A-ADED-307CC3A859AA}"/>
              </a:ext>
            </a:extLst>
          </p:cNvPr>
          <p:cNvSpPr/>
          <p:nvPr/>
        </p:nvSpPr>
        <p:spPr>
          <a:xfrm>
            <a:off x="6770835" y="4601756"/>
            <a:ext cx="5396400" cy="716369"/>
          </a:xfrm>
          <a:prstGeom prst="rect">
            <a:avLst/>
          </a:prstGeom>
          <a:gradFill flip="none" rotWithShape="1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46">
            <a:extLst>
              <a:ext uri="{FF2B5EF4-FFF2-40B4-BE49-F238E27FC236}">
                <a16:creationId xmlns:a16="http://schemas.microsoft.com/office/drawing/2014/main" id="{72143E70-D9CE-D96C-5C18-20ADEFE40904}"/>
              </a:ext>
            </a:extLst>
          </p:cNvPr>
          <p:cNvSpPr/>
          <p:nvPr/>
        </p:nvSpPr>
        <p:spPr>
          <a:xfrm>
            <a:off x="6770835" y="4601756"/>
            <a:ext cx="5396400" cy="7163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5" name="Text 47">
            <a:extLst>
              <a:ext uri="{FF2B5EF4-FFF2-40B4-BE49-F238E27FC236}">
                <a16:creationId xmlns:a16="http://schemas.microsoft.com/office/drawing/2014/main" id="{BAA65A73-3EBC-860A-877E-2CC11CD811AA}"/>
              </a:ext>
            </a:extLst>
          </p:cNvPr>
          <p:cNvSpPr/>
          <p:nvPr/>
        </p:nvSpPr>
        <p:spPr>
          <a:xfrm>
            <a:off x="5519420" y="2275791"/>
            <a:ext cx="772795" cy="62097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02E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r>
              <a:rPr lang="en-US" altLang="zh-CN" sz="3600" b="1" dirty="0">
                <a:solidFill>
                  <a:srgbClr val="402E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</a:t>
            </a:r>
            <a:endParaRPr lang="en-US" sz="1600" dirty="0"/>
          </a:p>
        </p:txBody>
      </p:sp>
      <p:sp>
        <p:nvSpPr>
          <p:cNvPr id="56" name="Text 48">
            <a:extLst>
              <a:ext uri="{FF2B5EF4-FFF2-40B4-BE49-F238E27FC236}">
                <a16:creationId xmlns:a16="http://schemas.microsoft.com/office/drawing/2014/main" id="{BA0D4E35-3258-B134-9803-8EE7D36DF0D4}"/>
              </a:ext>
            </a:extLst>
          </p:cNvPr>
          <p:cNvSpPr/>
          <p:nvPr/>
        </p:nvSpPr>
        <p:spPr>
          <a:xfrm>
            <a:off x="6357620" y="2374024"/>
            <a:ext cx="5008245" cy="461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altLang="zh-CN" sz="2400" b="1" dirty="0" err="1">
                <a:solidFill>
                  <a:srgbClr val="1E1C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压缩与性能调优</a:t>
            </a:r>
            <a:endParaRPr lang="en-US" altLang="zh-CN" sz="1400" dirty="0"/>
          </a:p>
        </p:txBody>
      </p:sp>
      <p:sp>
        <p:nvSpPr>
          <p:cNvPr id="57" name="Text 49">
            <a:extLst>
              <a:ext uri="{FF2B5EF4-FFF2-40B4-BE49-F238E27FC236}">
                <a16:creationId xmlns:a16="http://schemas.microsoft.com/office/drawing/2014/main" id="{D9976936-D3BD-36B9-518E-DDB02DE3541A}"/>
              </a:ext>
            </a:extLst>
          </p:cNvPr>
          <p:cNvSpPr/>
          <p:nvPr/>
        </p:nvSpPr>
        <p:spPr>
          <a:xfrm>
            <a:off x="154940" y="3070811"/>
            <a:ext cx="772795" cy="62097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02E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r>
              <a:rPr lang="en-US" altLang="zh-CN" sz="3600" b="1" dirty="0">
                <a:solidFill>
                  <a:srgbClr val="402E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</a:t>
            </a:r>
            <a:endParaRPr lang="en-US" sz="1600" dirty="0"/>
          </a:p>
        </p:txBody>
      </p:sp>
      <p:sp>
        <p:nvSpPr>
          <p:cNvPr id="58" name="Text 50">
            <a:extLst>
              <a:ext uri="{FF2B5EF4-FFF2-40B4-BE49-F238E27FC236}">
                <a16:creationId xmlns:a16="http://schemas.microsoft.com/office/drawing/2014/main" id="{379D61CA-0760-51B0-6E0D-0A463774176C}"/>
              </a:ext>
            </a:extLst>
          </p:cNvPr>
          <p:cNvSpPr/>
          <p:nvPr/>
        </p:nvSpPr>
        <p:spPr>
          <a:xfrm>
            <a:off x="993140" y="3169044"/>
            <a:ext cx="5008245" cy="461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altLang="zh-CN" sz="2400" b="1" dirty="0" err="1">
                <a:solidFill>
                  <a:srgbClr val="1E1C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实验与总结</a:t>
            </a:r>
            <a:endParaRPr lang="en-US" altLang="zh-CN" sz="1400" dirty="0"/>
          </a:p>
        </p:txBody>
      </p:sp>
    </p:spTree>
    <p:extLst>
      <p:ext uri="{BB962C8B-B14F-4D97-AF65-F5344CB8AC3E}">
        <p14:creationId xmlns:p14="http://schemas.microsoft.com/office/powerpoint/2010/main" val="95168078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gradFill flip="none" rotWithShape="1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5280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5280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3665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13665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42049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42049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70434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70434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98818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98818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27203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227203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456035" y="38163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1456035" y="381635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456035" y="501650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1456035" y="501650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456035" y="62166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1456035" y="621665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727190" y="6306820"/>
            <a:ext cx="100800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52805" y="6177280"/>
            <a:ext cx="259080" cy="259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52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79805" y="6177280"/>
            <a:ext cx="259080" cy="2590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979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863725" y="2687320"/>
            <a:ext cx="8464550" cy="23069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1863725" y="2687320"/>
            <a:ext cx="8464550" cy="23069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Hive 定位与演进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515235" y="1350010"/>
            <a:ext cx="7161530" cy="10985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660400" y="1422400"/>
            <a:ext cx="1130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Hive 诞生背景与分布式数仓缺口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660400" y="2082800"/>
            <a:ext cx="9855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回顾</a:t>
            </a:r>
            <a:r>
              <a:rPr lang="zh-CN" alt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2007</a:t>
            </a:r>
            <a:r>
              <a:rPr lang="zh-CN" alt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16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年</a:t>
            </a:r>
            <a:r>
              <a:rPr lang="zh-CN" alt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Facebook</a:t>
            </a:r>
            <a:r>
              <a:rPr lang="zh-CN" alt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16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面对</a:t>
            </a:r>
            <a:r>
              <a:rPr lang="zh-CN" alt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PB</a:t>
            </a:r>
            <a:r>
              <a:rPr lang="zh-CN" alt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16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级日志分析的瓶颈，传统数据库在</a:t>
            </a:r>
            <a:r>
              <a:rPr lang="en-US" sz="1600" dirty="0">
                <a:solidFill>
                  <a:srgbClr val="3C3542"/>
                </a:solidFill>
                <a:highlight>
                  <a:srgbClr val="D3B9D7">
                    <a:alpha val="667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扩展性 </a:t>
            </a:r>
            <a:r>
              <a:rPr 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与</a:t>
            </a:r>
            <a:r>
              <a:rPr lang="en-US" sz="1600" dirty="0">
                <a:solidFill>
                  <a:srgbClr val="3C3542"/>
                </a:solidFill>
                <a:highlight>
                  <a:srgbClr val="D3B9D7">
                    <a:alpha val="667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成本 </a:t>
            </a:r>
            <a:r>
              <a:rPr 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上的挑战，催生了Hive——以SQL语义抽象MapReduce，实现横向扩展的数据仓库解决方案。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60400" y="2997200"/>
            <a:ext cx="5537200" cy="2438400"/>
          </a:xfrm>
          <a:custGeom>
            <a:avLst/>
            <a:gdLst/>
            <a:ahLst/>
            <a:cxnLst/>
            <a:rect l="l" t="t" r="r" b="b"/>
            <a:pathLst>
              <a:path w="5537200" h="2438400">
                <a:moveTo>
                  <a:pt x="101608" y="0"/>
                </a:moveTo>
                <a:lnTo>
                  <a:pt x="5435592" y="0"/>
                </a:lnTo>
                <a:cubicBezTo>
                  <a:pt x="5491708" y="0"/>
                  <a:pt x="5537200" y="45492"/>
                  <a:pt x="5537200" y="101608"/>
                </a:cubicBezTo>
                <a:lnTo>
                  <a:pt x="5537200" y="2336792"/>
                </a:lnTo>
                <a:cubicBezTo>
                  <a:pt x="5537200" y="2392908"/>
                  <a:pt x="5491708" y="2438400"/>
                  <a:pt x="5435592" y="2438400"/>
                </a:cubicBezTo>
                <a:lnTo>
                  <a:pt x="101608" y="2438400"/>
                </a:lnTo>
                <a:cubicBezTo>
                  <a:pt x="45492" y="2438400"/>
                  <a:pt x="0" y="2392908"/>
                  <a:pt x="0" y="23367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D3B9D7">
              <a:alpha val="30196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863600" y="3556000"/>
            <a:ext cx="5245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A95EAF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传统数据库瓶颈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863600" y="4013200"/>
            <a:ext cx="52197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扩展性限制: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纵向扩展(Scale-up)成本高昂且存在物理上限。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成本高昂: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商业许可证与高端硬件投资巨大。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批处理性能不足: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优化于OLTP，不适合海量数据的批量分析。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791200" y="38100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A95EAF"/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045200" y="4064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197600" y="2997200"/>
            <a:ext cx="5537200" cy="2438400"/>
          </a:xfrm>
          <a:custGeom>
            <a:avLst/>
            <a:gdLst/>
            <a:ahLst/>
            <a:cxnLst/>
            <a:rect l="l" t="t" r="r" b="b"/>
            <a:pathLst>
              <a:path w="5537200" h="2438400">
                <a:moveTo>
                  <a:pt x="101608" y="0"/>
                </a:moveTo>
                <a:lnTo>
                  <a:pt x="5435592" y="0"/>
                </a:lnTo>
                <a:cubicBezTo>
                  <a:pt x="5491708" y="0"/>
                  <a:pt x="5537200" y="45492"/>
                  <a:pt x="5537200" y="101608"/>
                </a:cubicBezTo>
                <a:lnTo>
                  <a:pt x="5537200" y="2336792"/>
                </a:lnTo>
                <a:cubicBezTo>
                  <a:pt x="5537200" y="2392908"/>
                  <a:pt x="5491708" y="2438400"/>
                  <a:pt x="5435592" y="2438400"/>
                </a:cubicBezTo>
                <a:lnTo>
                  <a:pt x="101608" y="2438400"/>
                </a:lnTo>
                <a:cubicBezTo>
                  <a:pt x="45492" y="2438400"/>
                  <a:pt x="0" y="2392908"/>
                  <a:pt x="0" y="23367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8F5C9A">
              <a:alpha val="30196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400800" y="3175000"/>
            <a:ext cx="5245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Hive 的解决方案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400800" y="3632200"/>
            <a:ext cx="52197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横向扩展(Scale-out):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基于Hadoop，通过增加商用服务器提升处理能力。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开源零许可成本: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利用开源软件和廉价硬件构建大规模数据仓库。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批处理优化: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专为海量数据分析查询设计，通过MapReduce/Tez等框架实现高性能并行处理。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158750" y="17272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8F5C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Hive 与 RDBMS 对比维度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2489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D3B9D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563563" y="25781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75009" y="14288"/>
                </a:moveTo>
                <a:lnTo>
                  <a:pt x="10716" y="14288"/>
                </a:lnTo>
                <a:cubicBezTo>
                  <a:pt x="4777" y="14288"/>
                  <a:pt x="0" y="19065"/>
                  <a:pt x="0" y="25003"/>
                </a:cubicBezTo>
                <a:lnTo>
                  <a:pt x="0" y="89297"/>
                </a:lnTo>
                <a:cubicBezTo>
                  <a:pt x="0" y="93628"/>
                  <a:pt x="2590" y="97557"/>
                  <a:pt x="6608" y="99209"/>
                </a:cubicBezTo>
                <a:cubicBezTo>
                  <a:pt x="10626" y="100861"/>
                  <a:pt x="15225" y="99923"/>
                  <a:pt x="18306" y="96887"/>
                </a:cubicBezTo>
                <a:lnTo>
                  <a:pt x="36165" y="79028"/>
                </a:lnTo>
                <a:lnTo>
                  <a:pt x="71438" y="114300"/>
                </a:lnTo>
                <a:lnTo>
                  <a:pt x="36165" y="149572"/>
                </a:lnTo>
                <a:lnTo>
                  <a:pt x="18306" y="131713"/>
                </a:lnTo>
                <a:cubicBezTo>
                  <a:pt x="15225" y="128632"/>
                  <a:pt x="10626" y="127739"/>
                  <a:pt x="6608" y="129391"/>
                </a:cubicBezTo>
                <a:cubicBezTo>
                  <a:pt x="2590" y="131043"/>
                  <a:pt x="0" y="134972"/>
                  <a:pt x="0" y="139303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lnTo>
                  <a:pt x="75009" y="214313"/>
                </a:lnTo>
                <a:cubicBezTo>
                  <a:pt x="79340" y="214313"/>
                  <a:pt x="83269" y="211723"/>
                  <a:pt x="84921" y="207705"/>
                </a:cubicBezTo>
                <a:cubicBezTo>
                  <a:pt x="86573" y="203686"/>
                  <a:pt x="85680" y="199087"/>
                  <a:pt x="82600" y="196007"/>
                </a:cubicBezTo>
                <a:lnTo>
                  <a:pt x="64740" y="178147"/>
                </a:lnTo>
                <a:lnTo>
                  <a:pt x="100013" y="142875"/>
                </a:lnTo>
                <a:lnTo>
                  <a:pt x="135285" y="178147"/>
                </a:lnTo>
                <a:lnTo>
                  <a:pt x="117425" y="196007"/>
                </a:lnTo>
                <a:cubicBezTo>
                  <a:pt x="114345" y="199087"/>
                  <a:pt x="113452" y="203686"/>
                  <a:pt x="115104" y="207705"/>
                </a:cubicBezTo>
                <a:cubicBezTo>
                  <a:pt x="116756" y="211723"/>
                  <a:pt x="120685" y="214313"/>
                  <a:pt x="125016" y="214313"/>
                </a:cubicBezTo>
                <a:lnTo>
                  <a:pt x="189309" y="214313"/>
                </a:lnTo>
                <a:cubicBezTo>
                  <a:pt x="195248" y="214313"/>
                  <a:pt x="200025" y="209535"/>
                  <a:pt x="200025" y="203597"/>
                </a:cubicBezTo>
                <a:lnTo>
                  <a:pt x="200025" y="139303"/>
                </a:lnTo>
                <a:cubicBezTo>
                  <a:pt x="200025" y="134972"/>
                  <a:pt x="197435" y="131043"/>
                  <a:pt x="193417" y="129391"/>
                </a:cubicBezTo>
                <a:cubicBezTo>
                  <a:pt x="189399" y="127739"/>
                  <a:pt x="184800" y="128632"/>
                  <a:pt x="181719" y="131713"/>
                </a:cubicBezTo>
                <a:lnTo>
                  <a:pt x="163860" y="149572"/>
                </a:lnTo>
                <a:lnTo>
                  <a:pt x="128588" y="114300"/>
                </a:lnTo>
                <a:lnTo>
                  <a:pt x="163860" y="79028"/>
                </a:lnTo>
                <a:lnTo>
                  <a:pt x="181719" y="96887"/>
                </a:lnTo>
                <a:cubicBezTo>
                  <a:pt x="184800" y="99968"/>
                  <a:pt x="189399" y="100861"/>
                  <a:pt x="193417" y="99209"/>
                </a:cubicBezTo>
                <a:cubicBezTo>
                  <a:pt x="197435" y="97557"/>
                  <a:pt x="200025" y="93628"/>
                  <a:pt x="200025" y="89297"/>
                </a:cubicBezTo>
                <a:lnTo>
                  <a:pt x="200025" y="25003"/>
                </a:lnTo>
                <a:cubicBezTo>
                  <a:pt x="200025" y="19065"/>
                  <a:pt x="195248" y="14288"/>
                  <a:pt x="189309" y="14288"/>
                </a:cubicBezTo>
                <a:lnTo>
                  <a:pt x="125016" y="14288"/>
                </a:lnTo>
                <a:cubicBezTo>
                  <a:pt x="120685" y="14288"/>
                  <a:pt x="116756" y="16877"/>
                  <a:pt x="115104" y="20895"/>
                </a:cubicBezTo>
                <a:cubicBezTo>
                  <a:pt x="113452" y="24914"/>
                  <a:pt x="114389" y="29513"/>
                  <a:pt x="117425" y="32593"/>
                </a:cubicBezTo>
                <a:lnTo>
                  <a:pt x="135285" y="50453"/>
                </a:lnTo>
                <a:lnTo>
                  <a:pt x="100013" y="85725"/>
                </a:lnTo>
                <a:lnTo>
                  <a:pt x="64740" y="50453"/>
                </a:lnTo>
                <a:lnTo>
                  <a:pt x="82600" y="32593"/>
                </a:lnTo>
                <a:cubicBezTo>
                  <a:pt x="85680" y="29513"/>
                  <a:pt x="86573" y="24914"/>
                  <a:pt x="84921" y="20895"/>
                </a:cubicBezTo>
                <a:cubicBezTo>
                  <a:pt x="83269" y="16877"/>
                  <a:pt x="79340" y="14288"/>
                  <a:pt x="75009" y="14288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1016000" y="2489200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扩展方式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16000" y="2794000"/>
            <a:ext cx="2425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Hive: 横向扩展(Scale-out)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RDBMS: 纵向扩展(Scale-up)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18000" y="2489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D3B9D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4424363" y="25781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4876800" y="2489200"/>
            <a:ext cx="1511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数据规模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876800" y="2794000"/>
            <a:ext cx="149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Hive: PB级及以上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RDBMS: TB级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178800" y="2489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D3B9D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8313738" y="2578100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60722" y="10716"/>
                </a:moveTo>
                <a:cubicBezTo>
                  <a:pt x="60722" y="4777"/>
                  <a:pt x="65499" y="0"/>
                  <a:pt x="71438" y="0"/>
                </a:cubicBezTo>
                <a:cubicBezTo>
                  <a:pt x="77376" y="0"/>
                  <a:pt x="82153" y="4777"/>
                  <a:pt x="82153" y="10716"/>
                </a:cubicBezTo>
                <a:lnTo>
                  <a:pt x="82153" y="28575"/>
                </a:lnTo>
                <a:lnTo>
                  <a:pt x="107156" y="28575"/>
                </a:lnTo>
                <a:cubicBezTo>
                  <a:pt x="115059" y="28575"/>
                  <a:pt x="121444" y="34960"/>
                  <a:pt x="121444" y="42863"/>
                </a:cubicBezTo>
                <a:cubicBezTo>
                  <a:pt x="121444" y="50765"/>
                  <a:pt x="115059" y="57150"/>
                  <a:pt x="107156" y="57150"/>
                </a:cubicBezTo>
                <a:lnTo>
                  <a:pt x="55855" y="57150"/>
                </a:lnTo>
                <a:cubicBezTo>
                  <a:pt x="44738" y="57150"/>
                  <a:pt x="35719" y="66169"/>
                  <a:pt x="35719" y="77286"/>
                </a:cubicBezTo>
                <a:cubicBezTo>
                  <a:pt x="35719" y="87332"/>
                  <a:pt x="43086" y="95816"/>
                  <a:pt x="52998" y="97244"/>
                </a:cubicBezTo>
                <a:lnTo>
                  <a:pt x="93896" y="103093"/>
                </a:lnTo>
                <a:cubicBezTo>
                  <a:pt x="117917" y="106531"/>
                  <a:pt x="135731" y="127069"/>
                  <a:pt x="135731" y="151314"/>
                </a:cubicBezTo>
                <a:cubicBezTo>
                  <a:pt x="135731" y="178237"/>
                  <a:pt x="113898" y="200025"/>
                  <a:pt x="87020" y="200025"/>
                </a:cubicBezTo>
                <a:lnTo>
                  <a:pt x="82153" y="200025"/>
                </a:lnTo>
                <a:lnTo>
                  <a:pt x="82153" y="217884"/>
                </a:lnTo>
                <a:cubicBezTo>
                  <a:pt x="82153" y="223823"/>
                  <a:pt x="77376" y="228600"/>
                  <a:pt x="71438" y="228600"/>
                </a:cubicBezTo>
                <a:cubicBezTo>
                  <a:pt x="65499" y="228600"/>
                  <a:pt x="60722" y="223823"/>
                  <a:pt x="60722" y="217884"/>
                </a:cubicBezTo>
                <a:lnTo>
                  <a:pt x="60722" y="200025"/>
                </a:lnTo>
                <a:lnTo>
                  <a:pt x="28575" y="200025"/>
                </a:lnTo>
                <a:cubicBezTo>
                  <a:pt x="20672" y="200025"/>
                  <a:pt x="14288" y="193640"/>
                  <a:pt x="14288" y="185738"/>
                </a:cubicBezTo>
                <a:cubicBezTo>
                  <a:pt x="14288" y="177835"/>
                  <a:pt x="20672" y="171450"/>
                  <a:pt x="28575" y="171450"/>
                </a:cubicBezTo>
                <a:lnTo>
                  <a:pt x="87020" y="171450"/>
                </a:lnTo>
                <a:cubicBezTo>
                  <a:pt x="98137" y="171450"/>
                  <a:pt x="107156" y="162431"/>
                  <a:pt x="107156" y="151314"/>
                </a:cubicBezTo>
                <a:cubicBezTo>
                  <a:pt x="107156" y="141268"/>
                  <a:pt x="99789" y="132784"/>
                  <a:pt x="89877" y="131356"/>
                </a:cubicBezTo>
                <a:lnTo>
                  <a:pt x="48979" y="125507"/>
                </a:lnTo>
                <a:cubicBezTo>
                  <a:pt x="24958" y="122113"/>
                  <a:pt x="7144" y="101531"/>
                  <a:pt x="7144" y="77286"/>
                </a:cubicBezTo>
                <a:cubicBezTo>
                  <a:pt x="7144" y="50408"/>
                  <a:pt x="28977" y="28575"/>
                  <a:pt x="55855" y="28575"/>
                </a:cubicBezTo>
                <a:lnTo>
                  <a:pt x="60722" y="28575"/>
                </a:lnTo>
                <a:lnTo>
                  <a:pt x="60722" y="10716"/>
                </a:ln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8737600" y="2489200"/>
            <a:ext cx="2552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成本模型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737600" y="27940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Hive: 低 (开源+商用硬件)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RDBMS: 高 (许可证+高端硬件)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57200" y="3505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D3B9D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6"/>
          <p:cNvSpPr/>
          <p:nvPr/>
        </p:nvSpPr>
        <p:spPr>
          <a:xfrm>
            <a:off x="563563" y="35941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75233" y="0"/>
                </a:moveTo>
                <a:cubicBezTo>
                  <a:pt x="69294" y="0"/>
                  <a:pt x="64517" y="4777"/>
                  <a:pt x="64517" y="10716"/>
                </a:cubicBezTo>
                <a:cubicBezTo>
                  <a:pt x="64517" y="16654"/>
                  <a:pt x="69294" y="21431"/>
                  <a:pt x="75233" y="21431"/>
                </a:cubicBezTo>
                <a:lnTo>
                  <a:pt x="89520" y="21431"/>
                </a:lnTo>
                <a:lnTo>
                  <a:pt x="89520" y="32727"/>
                </a:lnTo>
                <a:cubicBezTo>
                  <a:pt x="41300" y="38040"/>
                  <a:pt x="3795" y="78938"/>
                  <a:pt x="3795" y="128588"/>
                </a:cubicBezTo>
                <a:cubicBezTo>
                  <a:pt x="3795" y="181853"/>
                  <a:pt x="46970" y="225028"/>
                  <a:pt x="100236" y="225028"/>
                </a:cubicBezTo>
                <a:cubicBezTo>
                  <a:pt x="153501" y="225028"/>
                  <a:pt x="196676" y="181853"/>
                  <a:pt x="196676" y="128588"/>
                </a:cubicBezTo>
                <a:cubicBezTo>
                  <a:pt x="196676" y="110817"/>
                  <a:pt x="191854" y="94164"/>
                  <a:pt x="183460" y="79831"/>
                </a:cubicBezTo>
                <a:lnTo>
                  <a:pt x="196051" y="67241"/>
                </a:lnTo>
                <a:cubicBezTo>
                  <a:pt x="201632" y="61659"/>
                  <a:pt x="201632" y="52596"/>
                  <a:pt x="196051" y="47015"/>
                </a:cubicBezTo>
                <a:cubicBezTo>
                  <a:pt x="190470" y="41434"/>
                  <a:pt x="181407" y="41434"/>
                  <a:pt x="175826" y="47015"/>
                </a:cubicBezTo>
                <a:lnTo>
                  <a:pt x="165378" y="57463"/>
                </a:lnTo>
                <a:cubicBezTo>
                  <a:pt x="150688" y="43979"/>
                  <a:pt x="131802" y="35004"/>
                  <a:pt x="110907" y="32683"/>
                </a:cubicBezTo>
                <a:lnTo>
                  <a:pt x="110907" y="21387"/>
                </a:lnTo>
                <a:lnTo>
                  <a:pt x="125194" y="21387"/>
                </a:lnTo>
                <a:cubicBezTo>
                  <a:pt x="131132" y="21387"/>
                  <a:pt x="135910" y="16609"/>
                  <a:pt x="135910" y="10671"/>
                </a:cubicBezTo>
                <a:cubicBezTo>
                  <a:pt x="135910" y="4733"/>
                  <a:pt x="131132" y="-45"/>
                  <a:pt x="125194" y="-45"/>
                </a:cubicBezTo>
                <a:lnTo>
                  <a:pt x="75188" y="-45"/>
                </a:lnTo>
                <a:close/>
                <a:moveTo>
                  <a:pt x="110951" y="82153"/>
                </a:moveTo>
                <a:lnTo>
                  <a:pt x="110951" y="128588"/>
                </a:lnTo>
                <a:cubicBezTo>
                  <a:pt x="110951" y="134526"/>
                  <a:pt x="106174" y="139303"/>
                  <a:pt x="100236" y="139303"/>
                </a:cubicBezTo>
                <a:cubicBezTo>
                  <a:pt x="94298" y="139303"/>
                  <a:pt x="89520" y="134526"/>
                  <a:pt x="89520" y="128588"/>
                </a:cubicBezTo>
                <a:lnTo>
                  <a:pt x="89520" y="82153"/>
                </a:lnTo>
                <a:cubicBezTo>
                  <a:pt x="89520" y="76215"/>
                  <a:pt x="94298" y="71438"/>
                  <a:pt x="100236" y="71438"/>
                </a:cubicBezTo>
                <a:cubicBezTo>
                  <a:pt x="106174" y="71438"/>
                  <a:pt x="110951" y="76215"/>
                  <a:pt x="110951" y="82153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1016000" y="3505200"/>
            <a:ext cx="172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查询延迟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016000" y="3810000"/>
            <a:ext cx="1714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Hive: 分钟到小时级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RDBMS: 毫秒到秒级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318000" y="3505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D3B9D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0"/>
          <p:cNvSpPr/>
          <p:nvPr/>
        </p:nvSpPr>
        <p:spPr>
          <a:xfrm>
            <a:off x="4410075" y="3594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57" y="85725"/>
                </a:moveTo>
                <a:lnTo>
                  <a:pt x="217884" y="85725"/>
                </a:lnTo>
                <a:cubicBezTo>
                  <a:pt x="223823" y="85725"/>
                  <a:pt x="228600" y="80948"/>
                  <a:pt x="228600" y="75009"/>
                </a:cubicBezTo>
                <a:lnTo>
                  <a:pt x="228600" y="10716"/>
                </a:lnTo>
                <a:cubicBezTo>
                  <a:pt x="228600" y="6385"/>
                  <a:pt x="226010" y="2456"/>
                  <a:pt x="221992" y="804"/>
                </a:cubicBezTo>
                <a:cubicBezTo>
                  <a:pt x="217974" y="-848"/>
                  <a:pt x="213375" y="89"/>
                  <a:pt x="210294" y="3125"/>
                </a:cubicBezTo>
                <a:lnTo>
                  <a:pt x="187211" y="26253"/>
                </a:lnTo>
                <a:cubicBezTo>
                  <a:pt x="167432" y="9867"/>
                  <a:pt x="141982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ubicBezTo>
                  <a:pt x="35362" y="60499"/>
                  <a:pt x="71125" y="28575"/>
                  <a:pt x="114300" y="28575"/>
                </a:cubicBezTo>
                <a:cubicBezTo>
                  <a:pt x="134124" y="28575"/>
                  <a:pt x="152340" y="35272"/>
                  <a:pt x="166851" y="46568"/>
                </a:cubicBezTo>
                <a:lnTo>
                  <a:pt x="146000" y="67419"/>
                </a:lnTo>
                <a:cubicBezTo>
                  <a:pt x="142920" y="70500"/>
                  <a:pt x="142027" y="75099"/>
                  <a:pt x="143679" y="79117"/>
                </a:cubicBezTo>
                <a:cubicBezTo>
                  <a:pt x="145331" y="83135"/>
                  <a:pt x="149260" y="85725"/>
                  <a:pt x="153591" y="85725"/>
                </a:cubicBezTo>
                <a:lnTo>
                  <a:pt x="214357" y="85725"/>
                </a:lnTo>
                <a:close/>
                <a:moveTo>
                  <a:pt x="227484" y="130597"/>
                </a:moveTo>
                <a:cubicBezTo>
                  <a:pt x="228600" y="122783"/>
                  <a:pt x="223153" y="115550"/>
                  <a:pt x="215384" y="114434"/>
                </a:cubicBezTo>
                <a:cubicBezTo>
                  <a:pt x="207615" y="113318"/>
                  <a:pt x="200338" y="118765"/>
                  <a:pt x="199221" y="126534"/>
                </a:cubicBezTo>
                <a:cubicBezTo>
                  <a:pt x="193283" y="168057"/>
                  <a:pt x="157520" y="199980"/>
                  <a:pt x="114345" y="199980"/>
                </a:cubicBezTo>
                <a:cubicBezTo>
                  <a:pt x="94521" y="199980"/>
                  <a:pt x="76304" y="193283"/>
                  <a:pt x="61793" y="181987"/>
                </a:cubicBezTo>
                <a:lnTo>
                  <a:pt x="82600" y="161181"/>
                </a:lnTo>
                <a:cubicBezTo>
                  <a:pt x="85680" y="158100"/>
                  <a:pt x="86573" y="153501"/>
                  <a:pt x="84921" y="149483"/>
                </a:cubicBezTo>
                <a:cubicBezTo>
                  <a:pt x="83269" y="145465"/>
                  <a:pt x="79340" y="142875"/>
                  <a:pt x="75009" y="142875"/>
                </a:cubicBezTo>
                <a:lnTo>
                  <a:pt x="10716" y="142875"/>
                </a:lnTo>
                <a:cubicBezTo>
                  <a:pt x="4777" y="142875"/>
                  <a:pt x="0" y="147652"/>
                  <a:pt x="0" y="153591"/>
                </a:cubicBezTo>
                <a:lnTo>
                  <a:pt x="0" y="217884"/>
                </a:lnTo>
                <a:cubicBezTo>
                  <a:pt x="0" y="222215"/>
                  <a:pt x="2590" y="226144"/>
                  <a:pt x="6608" y="227796"/>
                </a:cubicBezTo>
                <a:cubicBezTo>
                  <a:pt x="10626" y="229448"/>
                  <a:pt x="15225" y="228511"/>
                  <a:pt x="18306" y="225475"/>
                </a:cubicBezTo>
                <a:lnTo>
                  <a:pt x="41434" y="202347"/>
                </a:lnTo>
                <a:cubicBezTo>
                  <a:pt x="61168" y="218733"/>
                  <a:pt x="86618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1"/>
          <p:cNvSpPr/>
          <p:nvPr/>
        </p:nvSpPr>
        <p:spPr>
          <a:xfrm>
            <a:off x="4876800" y="3505200"/>
            <a:ext cx="223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事务支持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876800" y="3810000"/>
            <a:ext cx="2222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Hive: 有限 (Hive 3.0+增强)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RDBMS: 完整的ACID事务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8178800" y="3505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D3B9D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4"/>
          <p:cNvSpPr/>
          <p:nvPr/>
        </p:nvSpPr>
        <p:spPr>
          <a:xfrm>
            <a:off x="8242300" y="35941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5"/>
          <p:cNvSpPr/>
          <p:nvPr/>
        </p:nvSpPr>
        <p:spPr>
          <a:xfrm>
            <a:off x="8737600" y="3505200"/>
            <a:ext cx="184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并发性能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737600" y="3810000"/>
            <a:ext cx="1828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Hive: 高吞吐批处理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RDBMS: 高并发OLTP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457200" y="4622800"/>
            <a:ext cx="11277600" cy="508000"/>
          </a:xfrm>
          <a:custGeom>
            <a:avLst/>
            <a:gdLst/>
            <a:ahLst/>
            <a:cxnLst/>
            <a:rect l="l" t="t" r="r" b="b"/>
            <a:pathLst>
              <a:path w="11277600" h="508000">
                <a:moveTo>
                  <a:pt x="101600" y="0"/>
                </a:moveTo>
                <a:lnTo>
                  <a:pt x="11176000" y="0"/>
                </a:lnTo>
                <a:cubicBezTo>
                  <a:pt x="11232075" y="0"/>
                  <a:pt x="11277600" y="45525"/>
                  <a:pt x="11277600" y="101600"/>
                </a:cubicBezTo>
                <a:lnTo>
                  <a:pt x="11277600" y="406400"/>
                </a:lnTo>
                <a:cubicBezTo>
                  <a:pt x="11277600" y="462475"/>
                  <a:pt x="11232075" y="508000"/>
                  <a:pt x="111760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60A39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8"/>
          <p:cNvSpPr/>
          <p:nvPr/>
        </p:nvSpPr>
        <p:spPr>
          <a:xfrm>
            <a:off x="508000" y="4724400"/>
            <a:ext cx="1117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60A3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结论：Hive 与 RDBMS 是互补关系，分别适用于不同的数据处理场景。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158750" y="11684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8F5C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Hadoop 生态坐标与接口价值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03200" y="1828800"/>
            <a:ext cx="1178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Hive 作为 SQL 网关，通过统一元数据降低大数据使用门槛，在生态中承上启下。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876800" y="2844800"/>
            <a:ext cx="2438400" cy="2438400"/>
          </a:xfrm>
          <a:custGeom>
            <a:avLst/>
            <a:gdLst/>
            <a:ahLst/>
            <a:cxnLst/>
            <a:rect l="l" t="t" r="r" b="b"/>
            <a:pathLst>
              <a:path w="2438400" h="2438400">
                <a:moveTo>
                  <a:pt x="1219200" y="0"/>
                </a:moveTo>
                <a:lnTo>
                  <a:pt x="1219200" y="0"/>
                </a:lnTo>
                <a:cubicBezTo>
                  <a:pt x="1892095" y="0"/>
                  <a:pt x="2438400" y="546305"/>
                  <a:pt x="2438400" y="1219200"/>
                </a:cubicBezTo>
                <a:lnTo>
                  <a:pt x="2438400" y="1219200"/>
                </a:lnTo>
                <a:cubicBezTo>
                  <a:pt x="2438400" y="1892095"/>
                  <a:pt x="1892095" y="2438400"/>
                  <a:pt x="1219200" y="2438400"/>
                </a:cubicBezTo>
                <a:lnTo>
                  <a:pt x="1219200" y="2438400"/>
                </a:lnTo>
                <a:cubicBezTo>
                  <a:pt x="546305" y="2438400"/>
                  <a:pt x="0" y="1892095"/>
                  <a:pt x="0" y="1219200"/>
                </a:cubicBezTo>
                <a:lnTo>
                  <a:pt x="0" y="1219200"/>
                </a:lnTo>
                <a:cubicBezTo>
                  <a:pt x="0" y="546305"/>
                  <a:pt x="546305" y="0"/>
                  <a:pt x="1219200" y="0"/>
                </a:cubicBezTo>
                <a:close/>
              </a:path>
            </a:pathLst>
          </a:custGeom>
          <a:solidFill>
            <a:srgbClr val="8F5C9A">
              <a:alpha val="30196"/>
            </a:srgbClr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5895975" y="34798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400050" y="183773"/>
                </a:moveTo>
                <a:cubicBezTo>
                  <a:pt x="386834" y="192524"/>
                  <a:pt x="371654" y="199579"/>
                  <a:pt x="355848" y="205204"/>
                </a:cubicBezTo>
                <a:cubicBezTo>
                  <a:pt x="313879" y="220206"/>
                  <a:pt x="258782" y="228600"/>
                  <a:pt x="200025" y="228600"/>
                </a:cubicBezTo>
                <a:cubicBezTo>
                  <a:pt x="141268" y="228600"/>
                  <a:pt x="86082" y="220117"/>
                  <a:pt x="44202" y="205204"/>
                </a:cubicBezTo>
                <a:cubicBezTo>
                  <a:pt x="28486" y="199579"/>
                  <a:pt x="13216" y="192524"/>
                  <a:pt x="0" y="183773"/>
                </a:cubicBezTo>
                <a:lnTo>
                  <a:pt x="0" y="257175"/>
                </a:lnTo>
                <a:cubicBezTo>
                  <a:pt x="0" y="296644"/>
                  <a:pt x="89565" y="328613"/>
                  <a:pt x="200025" y="328613"/>
                </a:cubicBezTo>
                <a:cubicBezTo>
                  <a:pt x="310485" y="328613"/>
                  <a:pt x="400050" y="296644"/>
                  <a:pt x="400050" y="257175"/>
                </a:cubicBezTo>
                <a:lnTo>
                  <a:pt x="400050" y="183773"/>
                </a:lnTo>
                <a:close/>
                <a:moveTo>
                  <a:pt x="400050" y="114300"/>
                </a:moveTo>
                <a:lnTo>
                  <a:pt x="400050" y="71438"/>
                </a:lnTo>
                <a:cubicBezTo>
                  <a:pt x="400050" y="31968"/>
                  <a:pt x="310485" y="0"/>
                  <a:pt x="200025" y="0"/>
                </a:cubicBezTo>
                <a:cubicBezTo>
                  <a:pt x="89565" y="0"/>
                  <a:pt x="0" y="31968"/>
                  <a:pt x="0" y="71438"/>
                </a:cubicBezTo>
                <a:lnTo>
                  <a:pt x="0" y="114300"/>
                </a:lnTo>
                <a:cubicBezTo>
                  <a:pt x="0" y="153769"/>
                  <a:pt x="89565" y="185738"/>
                  <a:pt x="200025" y="185738"/>
                </a:cubicBezTo>
                <a:cubicBezTo>
                  <a:pt x="310485" y="185738"/>
                  <a:pt x="400050" y="153769"/>
                  <a:pt x="400050" y="114300"/>
                </a:cubicBezTo>
                <a:close/>
                <a:moveTo>
                  <a:pt x="355848" y="348079"/>
                </a:moveTo>
                <a:cubicBezTo>
                  <a:pt x="313968" y="362992"/>
                  <a:pt x="258872" y="371475"/>
                  <a:pt x="200025" y="371475"/>
                </a:cubicBezTo>
                <a:cubicBezTo>
                  <a:pt x="141178" y="371475"/>
                  <a:pt x="86082" y="362992"/>
                  <a:pt x="44202" y="348079"/>
                </a:cubicBezTo>
                <a:cubicBezTo>
                  <a:pt x="28486" y="342454"/>
                  <a:pt x="13216" y="335399"/>
                  <a:pt x="0" y="326648"/>
                </a:cubicBezTo>
                <a:lnTo>
                  <a:pt x="0" y="385763"/>
                </a:lnTo>
                <a:cubicBezTo>
                  <a:pt x="0" y="425232"/>
                  <a:pt x="89565" y="457200"/>
                  <a:pt x="200025" y="457200"/>
                </a:cubicBezTo>
                <a:cubicBezTo>
                  <a:pt x="310485" y="457200"/>
                  <a:pt x="400050" y="425232"/>
                  <a:pt x="400050" y="385763"/>
                </a:cubicBezTo>
                <a:lnTo>
                  <a:pt x="400050" y="326648"/>
                </a:lnTo>
                <a:cubicBezTo>
                  <a:pt x="386834" y="335399"/>
                  <a:pt x="371654" y="342454"/>
                  <a:pt x="355848" y="348079"/>
                </a:cubicBezTo>
                <a:close/>
              </a:path>
            </a:pathLst>
          </a:custGeom>
          <a:solidFill>
            <a:srgbClr val="8F5C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5767784" y="4114800"/>
            <a:ext cx="66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Hive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7293" y="4470400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SQL Gateway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768600" y="24384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D3B9D7">
              <a:alpha val="60000"/>
            </a:srgbClr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2984500" y="26924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/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2891433" y="3302000"/>
            <a:ext cx="57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HDFS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57200" y="35052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D3B9D7">
              <a:alpha val="60000"/>
            </a:srgbClr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711200" y="3759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9231" y="136029"/>
                </a:moveTo>
                <a:cubicBezTo>
                  <a:pt x="47149" y="80665"/>
                  <a:pt x="94833" y="38100"/>
                  <a:pt x="152400" y="38100"/>
                </a:cubicBezTo>
                <a:cubicBezTo>
                  <a:pt x="183952" y="38100"/>
                  <a:pt x="212527" y="50899"/>
                  <a:pt x="233243" y="71557"/>
                </a:cubicBezTo>
                <a:cubicBezTo>
                  <a:pt x="233363" y="71676"/>
                  <a:pt x="233482" y="71795"/>
                  <a:pt x="233601" y="71914"/>
                </a:cubicBezTo>
                <a:lnTo>
                  <a:pt x="238125" y="76200"/>
                </a:lnTo>
                <a:lnTo>
                  <a:pt x="209610" y="76200"/>
                </a:lnTo>
                <a:cubicBezTo>
                  <a:pt x="199073" y="76200"/>
                  <a:pt x="190560" y="84713"/>
                  <a:pt x="190560" y="95250"/>
                </a:cubicBezTo>
                <a:cubicBezTo>
                  <a:pt x="190560" y="105787"/>
                  <a:pt x="199073" y="114300"/>
                  <a:pt x="209610" y="114300"/>
                </a:cubicBezTo>
                <a:lnTo>
                  <a:pt x="285810" y="114300"/>
                </a:lnTo>
                <a:cubicBezTo>
                  <a:pt x="296347" y="114300"/>
                  <a:pt x="304860" y="105787"/>
                  <a:pt x="304860" y="95250"/>
                </a:cubicBezTo>
                <a:lnTo>
                  <a:pt x="304860" y="19050"/>
                </a:lnTo>
                <a:cubicBezTo>
                  <a:pt x="304860" y="8513"/>
                  <a:pt x="296347" y="0"/>
                  <a:pt x="285810" y="0"/>
                </a:cubicBezTo>
                <a:cubicBezTo>
                  <a:pt x="275273" y="0"/>
                  <a:pt x="266760" y="8513"/>
                  <a:pt x="266760" y="19050"/>
                </a:cubicBezTo>
                <a:lnTo>
                  <a:pt x="266760" y="50840"/>
                </a:lnTo>
                <a:lnTo>
                  <a:pt x="260033" y="44470"/>
                </a:lnTo>
                <a:cubicBezTo>
                  <a:pt x="232470" y="17026"/>
                  <a:pt x="194370" y="0"/>
                  <a:pt x="152400" y="0"/>
                </a:cubicBezTo>
                <a:cubicBezTo>
                  <a:pt x="75605" y="0"/>
                  <a:pt x="12085" y="56793"/>
                  <a:pt x="1548" y="130671"/>
                </a:cubicBezTo>
                <a:cubicBezTo>
                  <a:pt x="60" y="141089"/>
                  <a:pt x="7263" y="150733"/>
                  <a:pt x="17681" y="152221"/>
                </a:cubicBezTo>
                <a:cubicBezTo>
                  <a:pt x="28099" y="153710"/>
                  <a:pt x="37743" y="146447"/>
                  <a:pt x="39231" y="136088"/>
                </a:cubicBezTo>
                <a:close/>
                <a:moveTo>
                  <a:pt x="303252" y="174129"/>
                </a:moveTo>
                <a:cubicBezTo>
                  <a:pt x="304740" y="163711"/>
                  <a:pt x="297478" y="154067"/>
                  <a:pt x="287119" y="152579"/>
                </a:cubicBezTo>
                <a:cubicBezTo>
                  <a:pt x="276761" y="151090"/>
                  <a:pt x="267057" y="158353"/>
                  <a:pt x="265569" y="168712"/>
                </a:cubicBezTo>
                <a:cubicBezTo>
                  <a:pt x="257651" y="224076"/>
                  <a:pt x="209967" y="266640"/>
                  <a:pt x="152400" y="266640"/>
                </a:cubicBezTo>
                <a:cubicBezTo>
                  <a:pt x="120848" y="266640"/>
                  <a:pt x="92273" y="253841"/>
                  <a:pt x="71557" y="233184"/>
                </a:cubicBezTo>
                <a:cubicBezTo>
                  <a:pt x="71437" y="233065"/>
                  <a:pt x="71318" y="232946"/>
                  <a:pt x="71199" y="232827"/>
                </a:cubicBezTo>
                <a:lnTo>
                  <a:pt x="66675" y="228540"/>
                </a:lnTo>
                <a:lnTo>
                  <a:pt x="95190" y="228540"/>
                </a:lnTo>
                <a:cubicBezTo>
                  <a:pt x="105727" y="228540"/>
                  <a:pt x="114240" y="220028"/>
                  <a:pt x="114240" y="209490"/>
                </a:cubicBezTo>
                <a:cubicBezTo>
                  <a:pt x="114240" y="198953"/>
                  <a:pt x="105727" y="190440"/>
                  <a:pt x="95190" y="190440"/>
                </a:cubicBezTo>
                <a:lnTo>
                  <a:pt x="19050" y="190500"/>
                </a:lnTo>
                <a:cubicBezTo>
                  <a:pt x="13990" y="190500"/>
                  <a:pt x="9108" y="192524"/>
                  <a:pt x="5536" y="196155"/>
                </a:cubicBezTo>
                <a:cubicBezTo>
                  <a:pt x="1965" y="199787"/>
                  <a:pt x="-60" y="204609"/>
                  <a:pt x="0" y="209729"/>
                </a:cubicBezTo>
                <a:lnTo>
                  <a:pt x="595" y="285333"/>
                </a:lnTo>
                <a:cubicBezTo>
                  <a:pt x="655" y="295870"/>
                  <a:pt x="9287" y="304324"/>
                  <a:pt x="19824" y="304205"/>
                </a:cubicBezTo>
                <a:cubicBezTo>
                  <a:pt x="30361" y="304086"/>
                  <a:pt x="38814" y="295513"/>
                  <a:pt x="38695" y="284976"/>
                </a:cubicBezTo>
                <a:lnTo>
                  <a:pt x="38457" y="254318"/>
                </a:lnTo>
                <a:lnTo>
                  <a:pt x="44827" y="260330"/>
                </a:lnTo>
                <a:cubicBezTo>
                  <a:pt x="72390" y="287774"/>
                  <a:pt x="110430" y="304800"/>
                  <a:pt x="152400" y="304800"/>
                </a:cubicBezTo>
                <a:cubicBezTo>
                  <a:pt x="229195" y="304800"/>
                  <a:pt x="292715" y="248007"/>
                  <a:pt x="303252" y="174129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570309" y="4368800"/>
            <a:ext cx="584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YARN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2768550" y="45720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D3B9D7">
              <a:alpha val="60000"/>
            </a:srgbClr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2984450" y="48260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47590" y="125313"/>
                </a:moveTo>
                <a:cubicBezTo>
                  <a:pt x="254853" y="123349"/>
                  <a:pt x="262473" y="126802"/>
                  <a:pt x="265747" y="133529"/>
                </a:cubicBezTo>
                <a:lnTo>
                  <a:pt x="276820" y="155912"/>
                </a:lnTo>
                <a:cubicBezTo>
                  <a:pt x="282952" y="156746"/>
                  <a:pt x="288965" y="158413"/>
                  <a:pt x="294620" y="160734"/>
                </a:cubicBezTo>
                <a:lnTo>
                  <a:pt x="315456" y="146864"/>
                </a:lnTo>
                <a:cubicBezTo>
                  <a:pt x="321707" y="142696"/>
                  <a:pt x="329982" y="143530"/>
                  <a:pt x="335280" y="148828"/>
                </a:cubicBezTo>
                <a:lnTo>
                  <a:pt x="346710" y="160258"/>
                </a:lnTo>
                <a:cubicBezTo>
                  <a:pt x="352008" y="165556"/>
                  <a:pt x="352842" y="173891"/>
                  <a:pt x="348675" y="180082"/>
                </a:cubicBezTo>
                <a:lnTo>
                  <a:pt x="334804" y="200858"/>
                </a:lnTo>
                <a:cubicBezTo>
                  <a:pt x="335935" y="203656"/>
                  <a:pt x="336947" y="206573"/>
                  <a:pt x="337780" y="209610"/>
                </a:cubicBezTo>
                <a:cubicBezTo>
                  <a:pt x="338614" y="212646"/>
                  <a:pt x="339150" y="215622"/>
                  <a:pt x="339566" y="218658"/>
                </a:cubicBezTo>
                <a:lnTo>
                  <a:pt x="362010" y="229731"/>
                </a:lnTo>
                <a:cubicBezTo>
                  <a:pt x="368737" y="233065"/>
                  <a:pt x="372189" y="240685"/>
                  <a:pt x="370225" y="247888"/>
                </a:cubicBezTo>
                <a:lnTo>
                  <a:pt x="366058" y="263485"/>
                </a:lnTo>
                <a:cubicBezTo>
                  <a:pt x="364093" y="270689"/>
                  <a:pt x="357366" y="275570"/>
                  <a:pt x="349865" y="275094"/>
                </a:cubicBezTo>
                <a:lnTo>
                  <a:pt x="324862" y="273487"/>
                </a:lnTo>
                <a:cubicBezTo>
                  <a:pt x="321112" y="278309"/>
                  <a:pt x="316766" y="282773"/>
                  <a:pt x="311825" y="286583"/>
                </a:cubicBezTo>
                <a:lnTo>
                  <a:pt x="313432" y="311527"/>
                </a:lnTo>
                <a:cubicBezTo>
                  <a:pt x="313908" y="319028"/>
                  <a:pt x="309027" y="325815"/>
                  <a:pt x="301823" y="327720"/>
                </a:cubicBezTo>
                <a:lnTo>
                  <a:pt x="286226" y="331887"/>
                </a:lnTo>
                <a:cubicBezTo>
                  <a:pt x="278963" y="333851"/>
                  <a:pt x="271403" y="330398"/>
                  <a:pt x="268069" y="323671"/>
                </a:cubicBezTo>
                <a:lnTo>
                  <a:pt x="256996" y="301288"/>
                </a:lnTo>
                <a:cubicBezTo>
                  <a:pt x="250865" y="300454"/>
                  <a:pt x="244852" y="298787"/>
                  <a:pt x="239197" y="296466"/>
                </a:cubicBezTo>
                <a:lnTo>
                  <a:pt x="218361" y="310336"/>
                </a:lnTo>
                <a:cubicBezTo>
                  <a:pt x="212110" y="314504"/>
                  <a:pt x="203835" y="313670"/>
                  <a:pt x="198537" y="308372"/>
                </a:cubicBezTo>
                <a:lnTo>
                  <a:pt x="187107" y="296942"/>
                </a:lnTo>
                <a:cubicBezTo>
                  <a:pt x="181808" y="291644"/>
                  <a:pt x="180975" y="283369"/>
                  <a:pt x="185142" y="277118"/>
                </a:cubicBezTo>
                <a:lnTo>
                  <a:pt x="199013" y="256282"/>
                </a:lnTo>
                <a:cubicBezTo>
                  <a:pt x="197882" y="253484"/>
                  <a:pt x="196870" y="250567"/>
                  <a:pt x="196036" y="247531"/>
                </a:cubicBezTo>
                <a:cubicBezTo>
                  <a:pt x="195203" y="244495"/>
                  <a:pt x="194667" y="241459"/>
                  <a:pt x="194250" y="238482"/>
                </a:cubicBezTo>
                <a:lnTo>
                  <a:pt x="171807" y="227409"/>
                </a:lnTo>
                <a:cubicBezTo>
                  <a:pt x="165080" y="224076"/>
                  <a:pt x="161687" y="216456"/>
                  <a:pt x="163592" y="209252"/>
                </a:cubicBezTo>
                <a:lnTo>
                  <a:pt x="167759" y="193655"/>
                </a:lnTo>
                <a:cubicBezTo>
                  <a:pt x="169724" y="186452"/>
                  <a:pt x="176451" y="181570"/>
                  <a:pt x="183952" y="182047"/>
                </a:cubicBezTo>
                <a:lnTo>
                  <a:pt x="208895" y="183654"/>
                </a:lnTo>
                <a:cubicBezTo>
                  <a:pt x="212646" y="178832"/>
                  <a:pt x="216991" y="174367"/>
                  <a:pt x="221932" y="170557"/>
                </a:cubicBezTo>
                <a:lnTo>
                  <a:pt x="220325" y="145673"/>
                </a:lnTo>
                <a:cubicBezTo>
                  <a:pt x="219849" y="138172"/>
                  <a:pt x="224730" y="131385"/>
                  <a:pt x="231934" y="129480"/>
                </a:cubicBezTo>
                <a:lnTo>
                  <a:pt x="247531" y="125313"/>
                </a:lnTo>
                <a:close/>
                <a:moveTo>
                  <a:pt x="266938" y="202406"/>
                </a:moveTo>
                <a:cubicBezTo>
                  <a:pt x="252481" y="202423"/>
                  <a:pt x="240758" y="214173"/>
                  <a:pt x="240774" y="228630"/>
                </a:cubicBezTo>
                <a:cubicBezTo>
                  <a:pt x="240791" y="243086"/>
                  <a:pt x="252541" y="254810"/>
                  <a:pt x="266998" y="254794"/>
                </a:cubicBezTo>
                <a:cubicBezTo>
                  <a:pt x="281454" y="254777"/>
                  <a:pt x="293178" y="243027"/>
                  <a:pt x="293162" y="228570"/>
                </a:cubicBezTo>
                <a:cubicBezTo>
                  <a:pt x="293145" y="214114"/>
                  <a:pt x="281395" y="202390"/>
                  <a:pt x="266938" y="202406"/>
                </a:cubicBezTo>
                <a:close/>
                <a:moveTo>
                  <a:pt x="133886" y="-27087"/>
                </a:moveTo>
                <a:lnTo>
                  <a:pt x="149483" y="-22920"/>
                </a:lnTo>
                <a:cubicBezTo>
                  <a:pt x="156686" y="-20955"/>
                  <a:pt x="161568" y="-14168"/>
                  <a:pt x="161092" y="-6727"/>
                </a:cubicBezTo>
                <a:lnTo>
                  <a:pt x="159484" y="18157"/>
                </a:lnTo>
                <a:cubicBezTo>
                  <a:pt x="164425" y="21967"/>
                  <a:pt x="168771" y="26372"/>
                  <a:pt x="172522" y="31254"/>
                </a:cubicBezTo>
                <a:lnTo>
                  <a:pt x="197525" y="29647"/>
                </a:lnTo>
                <a:cubicBezTo>
                  <a:pt x="204966" y="29170"/>
                  <a:pt x="211753" y="34052"/>
                  <a:pt x="213717" y="41255"/>
                </a:cubicBezTo>
                <a:lnTo>
                  <a:pt x="217884" y="56852"/>
                </a:lnTo>
                <a:cubicBezTo>
                  <a:pt x="219789" y="64056"/>
                  <a:pt x="216396" y="71676"/>
                  <a:pt x="209669" y="75009"/>
                </a:cubicBezTo>
                <a:lnTo>
                  <a:pt x="187226" y="86082"/>
                </a:lnTo>
                <a:cubicBezTo>
                  <a:pt x="186809" y="89118"/>
                  <a:pt x="186214" y="92154"/>
                  <a:pt x="185440" y="95131"/>
                </a:cubicBezTo>
                <a:cubicBezTo>
                  <a:pt x="184666" y="98108"/>
                  <a:pt x="183594" y="101084"/>
                  <a:pt x="182463" y="103882"/>
                </a:cubicBezTo>
                <a:lnTo>
                  <a:pt x="196334" y="124718"/>
                </a:lnTo>
                <a:cubicBezTo>
                  <a:pt x="200501" y="130969"/>
                  <a:pt x="199668" y="139244"/>
                  <a:pt x="194370" y="144542"/>
                </a:cubicBezTo>
                <a:lnTo>
                  <a:pt x="182940" y="155972"/>
                </a:lnTo>
                <a:cubicBezTo>
                  <a:pt x="177641" y="161270"/>
                  <a:pt x="169366" y="162104"/>
                  <a:pt x="163116" y="157936"/>
                </a:cubicBezTo>
                <a:lnTo>
                  <a:pt x="142280" y="144066"/>
                </a:lnTo>
                <a:cubicBezTo>
                  <a:pt x="136624" y="146387"/>
                  <a:pt x="130612" y="148054"/>
                  <a:pt x="124480" y="148888"/>
                </a:cubicBezTo>
                <a:lnTo>
                  <a:pt x="113407" y="171271"/>
                </a:lnTo>
                <a:cubicBezTo>
                  <a:pt x="110073" y="177998"/>
                  <a:pt x="102453" y="181392"/>
                  <a:pt x="95250" y="179487"/>
                </a:cubicBezTo>
                <a:lnTo>
                  <a:pt x="79653" y="175320"/>
                </a:lnTo>
                <a:cubicBezTo>
                  <a:pt x="72390" y="173355"/>
                  <a:pt x="67568" y="166568"/>
                  <a:pt x="68044" y="159127"/>
                </a:cubicBezTo>
                <a:lnTo>
                  <a:pt x="69652" y="134183"/>
                </a:lnTo>
                <a:cubicBezTo>
                  <a:pt x="64710" y="130373"/>
                  <a:pt x="60365" y="125968"/>
                  <a:pt x="56614" y="121087"/>
                </a:cubicBezTo>
                <a:lnTo>
                  <a:pt x="31611" y="122694"/>
                </a:lnTo>
                <a:cubicBezTo>
                  <a:pt x="24170" y="123170"/>
                  <a:pt x="17383" y="118289"/>
                  <a:pt x="15419" y="111085"/>
                </a:cubicBezTo>
                <a:lnTo>
                  <a:pt x="11251" y="95488"/>
                </a:lnTo>
                <a:cubicBezTo>
                  <a:pt x="9346" y="88285"/>
                  <a:pt x="12740" y="80665"/>
                  <a:pt x="19467" y="77331"/>
                </a:cubicBezTo>
                <a:lnTo>
                  <a:pt x="41910" y="66258"/>
                </a:lnTo>
                <a:cubicBezTo>
                  <a:pt x="42327" y="63222"/>
                  <a:pt x="42922" y="60246"/>
                  <a:pt x="43696" y="57210"/>
                </a:cubicBezTo>
                <a:cubicBezTo>
                  <a:pt x="44529" y="54173"/>
                  <a:pt x="45482" y="51256"/>
                  <a:pt x="46673" y="48458"/>
                </a:cubicBezTo>
                <a:lnTo>
                  <a:pt x="32802" y="27682"/>
                </a:lnTo>
                <a:cubicBezTo>
                  <a:pt x="28635" y="21431"/>
                  <a:pt x="29468" y="13156"/>
                  <a:pt x="34766" y="7858"/>
                </a:cubicBezTo>
                <a:lnTo>
                  <a:pt x="46196" y="-3572"/>
                </a:lnTo>
                <a:cubicBezTo>
                  <a:pt x="51495" y="-8870"/>
                  <a:pt x="59769" y="-9704"/>
                  <a:pt x="66020" y="-5536"/>
                </a:cubicBezTo>
                <a:lnTo>
                  <a:pt x="86856" y="8334"/>
                </a:lnTo>
                <a:cubicBezTo>
                  <a:pt x="92512" y="6013"/>
                  <a:pt x="98524" y="4346"/>
                  <a:pt x="104656" y="3512"/>
                </a:cubicBezTo>
                <a:lnTo>
                  <a:pt x="115729" y="-18871"/>
                </a:lnTo>
                <a:cubicBezTo>
                  <a:pt x="119062" y="-25598"/>
                  <a:pt x="126623" y="-28992"/>
                  <a:pt x="133886" y="-27087"/>
                </a:cubicBezTo>
                <a:close/>
                <a:moveTo>
                  <a:pt x="114538" y="50006"/>
                </a:moveTo>
                <a:cubicBezTo>
                  <a:pt x="100081" y="50006"/>
                  <a:pt x="88344" y="61743"/>
                  <a:pt x="88344" y="76200"/>
                </a:cubicBezTo>
                <a:cubicBezTo>
                  <a:pt x="88344" y="90657"/>
                  <a:pt x="100081" y="102394"/>
                  <a:pt x="114538" y="102394"/>
                </a:cubicBezTo>
                <a:cubicBezTo>
                  <a:pt x="128995" y="102394"/>
                  <a:pt x="140732" y="90657"/>
                  <a:pt x="140732" y="76200"/>
                </a:cubicBezTo>
                <a:cubicBezTo>
                  <a:pt x="140732" y="61743"/>
                  <a:pt x="128995" y="50006"/>
                  <a:pt x="114538" y="50006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2627957" y="5435600"/>
            <a:ext cx="1092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MapReduce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610600" y="24384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60A39A">
              <a:alpha val="60000"/>
            </a:srgbClr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8"/>
          <p:cNvSpPr/>
          <p:nvPr/>
        </p:nvSpPr>
        <p:spPr>
          <a:xfrm>
            <a:off x="8883650" y="26924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01692" y="-5894"/>
                </a:moveTo>
                <a:cubicBezTo>
                  <a:pt x="208776" y="-774"/>
                  <a:pt x="211395" y="8513"/>
                  <a:pt x="208181" y="16609"/>
                </a:cubicBezTo>
                <a:lnTo>
                  <a:pt x="161508" y="133350"/>
                </a:lnTo>
                <a:lnTo>
                  <a:pt x="247650" y="133350"/>
                </a:lnTo>
                <a:cubicBezTo>
                  <a:pt x="255687" y="133350"/>
                  <a:pt x="262830" y="138351"/>
                  <a:pt x="265569" y="145911"/>
                </a:cubicBezTo>
                <a:cubicBezTo>
                  <a:pt x="268307" y="153472"/>
                  <a:pt x="265986" y="161925"/>
                  <a:pt x="259854" y="167045"/>
                </a:cubicBezTo>
                <a:lnTo>
                  <a:pt x="88404" y="309920"/>
                </a:lnTo>
                <a:cubicBezTo>
                  <a:pt x="81677" y="315516"/>
                  <a:pt x="72092" y="315813"/>
                  <a:pt x="65008" y="310694"/>
                </a:cubicBezTo>
                <a:cubicBezTo>
                  <a:pt x="57924" y="305574"/>
                  <a:pt x="55305" y="296287"/>
                  <a:pt x="58519" y="288191"/>
                </a:cubicBezTo>
                <a:lnTo>
                  <a:pt x="105192" y="171450"/>
                </a:lnTo>
                <a:lnTo>
                  <a:pt x="19050" y="171450"/>
                </a:lnTo>
                <a:cubicBezTo>
                  <a:pt x="11013" y="171450"/>
                  <a:pt x="3870" y="166449"/>
                  <a:pt x="1131" y="158889"/>
                </a:cubicBezTo>
                <a:cubicBezTo>
                  <a:pt x="-1607" y="151328"/>
                  <a:pt x="714" y="142875"/>
                  <a:pt x="6846" y="137755"/>
                </a:cubicBezTo>
                <a:lnTo>
                  <a:pt x="178296" y="-5120"/>
                </a:lnTo>
                <a:cubicBezTo>
                  <a:pt x="185023" y="-10716"/>
                  <a:pt x="194608" y="-11013"/>
                  <a:pt x="201692" y="-5894"/>
                </a:cubicBezTo>
                <a:close/>
              </a:path>
            </a:pathLst>
          </a:custGeom>
          <a:solidFill>
            <a:srgbClr val="60A3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8727877" y="3302000"/>
            <a:ext cx="584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Spark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0922000" y="35052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60A39A">
              <a:alpha val="60000"/>
            </a:srgbClr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1"/>
          <p:cNvSpPr/>
          <p:nvPr/>
        </p:nvSpPr>
        <p:spPr>
          <a:xfrm>
            <a:off x="11176000" y="3759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50" y="19050"/>
                </a:moveTo>
                <a:cubicBezTo>
                  <a:pt x="29587" y="19050"/>
                  <a:pt x="38100" y="27563"/>
                  <a:pt x="38100" y="38100"/>
                </a:cubicBezTo>
                <a:lnTo>
                  <a:pt x="38100" y="238125"/>
                </a:lnTo>
                <a:cubicBezTo>
                  <a:pt x="38100" y="243364"/>
                  <a:pt x="42386" y="247650"/>
                  <a:pt x="47625" y="247650"/>
                </a:cubicBezTo>
                <a:lnTo>
                  <a:pt x="285750" y="247650"/>
                </a:lnTo>
                <a:cubicBezTo>
                  <a:pt x="296287" y="247650"/>
                  <a:pt x="304800" y="256163"/>
                  <a:pt x="304800" y="266700"/>
                </a:cubicBezTo>
                <a:cubicBezTo>
                  <a:pt x="304800" y="277237"/>
                  <a:pt x="296287" y="285750"/>
                  <a:pt x="285750" y="285750"/>
                </a:cubicBezTo>
                <a:lnTo>
                  <a:pt x="47625" y="285750"/>
                </a:lnTo>
                <a:cubicBezTo>
                  <a:pt x="21312" y="285750"/>
                  <a:pt x="0" y="264438"/>
                  <a:pt x="0" y="238125"/>
                </a:cubicBezTo>
                <a:lnTo>
                  <a:pt x="0" y="38100"/>
                </a:lnTo>
                <a:cubicBezTo>
                  <a:pt x="0" y="27563"/>
                  <a:pt x="8513" y="19050"/>
                  <a:pt x="19050" y="19050"/>
                </a:cubicBezTo>
                <a:close/>
                <a:moveTo>
                  <a:pt x="76200" y="57150"/>
                </a:moveTo>
                <a:cubicBezTo>
                  <a:pt x="76200" y="46613"/>
                  <a:pt x="84713" y="38100"/>
                  <a:pt x="95250" y="38100"/>
                </a:cubicBezTo>
                <a:lnTo>
                  <a:pt x="209550" y="38100"/>
                </a:lnTo>
                <a:cubicBezTo>
                  <a:pt x="220087" y="38100"/>
                  <a:pt x="228600" y="46613"/>
                  <a:pt x="228600" y="57150"/>
                </a:cubicBezTo>
                <a:cubicBezTo>
                  <a:pt x="228600" y="67687"/>
                  <a:pt x="220087" y="76200"/>
                  <a:pt x="209550" y="76200"/>
                </a:cubicBezTo>
                <a:lnTo>
                  <a:pt x="95250" y="76200"/>
                </a:lnTo>
                <a:cubicBezTo>
                  <a:pt x="84713" y="76200"/>
                  <a:pt x="76200" y="67687"/>
                  <a:pt x="76200" y="57150"/>
                </a:cubicBezTo>
                <a:close/>
                <a:moveTo>
                  <a:pt x="95250" y="104775"/>
                </a:moveTo>
                <a:lnTo>
                  <a:pt x="171450" y="104775"/>
                </a:lnTo>
                <a:cubicBezTo>
                  <a:pt x="181987" y="104775"/>
                  <a:pt x="190500" y="113288"/>
                  <a:pt x="190500" y="123825"/>
                </a:cubicBezTo>
                <a:cubicBezTo>
                  <a:pt x="190500" y="134362"/>
                  <a:pt x="181987" y="142875"/>
                  <a:pt x="171450" y="142875"/>
                </a:cubicBezTo>
                <a:lnTo>
                  <a:pt x="95250" y="142875"/>
                </a:lnTo>
                <a:cubicBezTo>
                  <a:pt x="84713" y="142875"/>
                  <a:pt x="76200" y="134362"/>
                  <a:pt x="76200" y="123825"/>
                </a:cubicBezTo>
                <a:cubicBezTo>
                  <a:pt x="76200" y="113288"/>
                  <a:pt x="84713" y="104775"/>
                  <a:pt x="95250" y="104775"/>
                </a:cubicBezTo>
                <a:close/>
                <a:moveTo>
                  <a:pt x="95250" y="171450"/>
                </a:moveTo>
                <a:lnTo>
                  <a:pt x="247650" y="171450"/>
                </a:lnTo>
                <a:cubicBezTo>
                  <a:pt x="258187" y="171450"/>
                  <a:pt x="266700" y="179963"/>
                  <a:pt x="266700" y="190500"/>
                </a:cubicBezTo>
                <a:cubicBezTo>
                  <a:pt x="266700" y="201037"/>
                  <a:pt x="258187" y="209550"/>
                  <a:pt x="247650" y="209550"/>
                </a:cubicBezTo>
                <a:lnTo>
                  <a:pt x="95250" y="209550"/>
                </a:lnTo>
                <a:cubicBezTo>
                  <a:pt x="84713" y="209550"/>
                  <a:pt x="76200" y="201037"/>
                  <a:pt x="76200" y="190500"/>
                </a:cubicBezTo>
                <a:cubicBezTo>
                  <a:pt x="76200" y="179963"/>
                  <a:pt x="84713" y="171450"/>
                  <a:pt x="95250" y="171450"/>
                </a:cubicBezTo>
                <a:close/>
              </a:path>
            </a:pathLst>
          </a:custGeom>
          <a:solidFill>
            <a:srgbClr val="60A3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2"/>
          <p:cNvSpPr/>
          <p:nvPr/>
        </p:nvSpPr>
        <p:spPr>
          <a:xfrm>
            <a:off x="11009809" y="4368800"/>
            <a:ext cx="63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Presto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8610600" y="45720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60A39A">
              <a:alpha val="60000"/>
            </a:srgbClr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4"/>
          <p:cNvSpPr/>
          <p:nvPr/>
        </p:nvSpPr>
        <p:spPr>
          <a:xfrm>
            <a:off x="8883650" y="4826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52400" y="95250"/>
                </a:moveTo>
                <a:lnTo>
                  <a:pt x="152400" y="152400"/>
                </a:lnTo>
                <a:lnTo>
                  <a:pt x="228600" y="152400"/>
                </a:lnTo>
                <a:lnTo>
                  <a:pt x="228600" y="95250"/>
                </a:lnTo>
                <a:lnTo>
                  <a:pt x="152400" y="95250"/>
                </a:lnTo>
                <a:close/>
                <a:moveTo>
                  <a:pt x="114300" y="95250"/>
                </a:moveTo>
                <a:lnTo>
                  <a:pt x="38100" y="95250"/>
                </a:lnTo>
                <a:lnTo>
                  <a:pt x="38100" y="152400"/>
                </a:lnTo>
                <a:lnTo>
                  <a:pt x="114300" y="152400"/>
                </a:lnTo>
                <a:lnTo>
                  <a:pt x="114300" y="95250"/>
                </a:lnTo>
                <a:close/>
                <a:moveTo>
                  <a:pt x="0" y="190500"/>
                </a:moveTo>
                <a:lnTo>
                  <a:pt x="0" y="57150"/>
                </a:lnTo>
                <a:cubicBezTo>
                  <a:pt x="0" y="36135"/>
                  <a:pt x="17085" y="19050"/>
                  <a:pt x="38100" y="19050"/>
                </a:cubicBezTo>
                <a:lnTo>
                  <a:pt x="228600" y="19050"/>
                </a:lnTo>
                <a:cubicBezTo>
                  <a:pt x="249615" y="19050"/>
                  <a:pt x="266700" y="36135"/>
                  <a:pt x="266700" y="57150"/>
                </a:cubicBezTo>
                <a:lnTo>
                  <a:pt x="266700" y="247650"/>
                </a:lnTo>
                <a:cubicBezTo>
                  <a:pt x="266700" y="268665"/>
                  <a:pt x="249615" y="285750"/>
                  <a:pt x="228600" y="285750"/>
                </a:cubicBezTo>
                <a:lnTo>
                  <a:pt x="38100" y="285750"/>
                </a:lnTo>
                <a:cubicBezTo>
                  <a:pt x="17085" y="285750"/>
                  <a:pt x="0" y="268665"/>
                  <a:pt x="0" y="247650"/>
                </a:cubicBezTo>
                <a:lnTo>
                  <a:pt x="0" y="190500"/>
                </a:lnTo>
                <a:close/>
                <a:moveTo>
                  <a:pt x="228600" y="190500"/>
                </a:moveTo>
                <a:lnTo>
                  <a:pt x="152400" y="190500"/>
                </a:lnTo>
                <a:lnTo>
                  <a:pt x="152400" y="247650"/>
                </a:lnTo>
                <a:lnTo>
                  <a:pt x="228600" y="247650"/>
                </a:lnTo>
                <a:lnTo>
                  <a:pt x="228600" y="190500"/>
                </a:lnTo>
                <a:close/>
                <a:moveTo>
                  <a:pt x="114300" y="247650"/>
                </a:moveTo>
                <a:lnTo>
                  <a:pt x="114300" y="190500"/>
                </a:lnTo>
                <a:lnTo>
                  <a:pt x="38100" y="190500"/>
                </a:lnTo>
                <a:lnTo>
                  <a:pt x="38100" y="247650"/>
                </a:lnTo>
                <a:lnTo>
                  <a:pt x="114300" y="247650"/>
                </a:lnTo>
                <a:close/>
              </a:path>
            </a:pathLst>
          </a:custGeom>
          <a:solidFill>
            <a:srgbClr val="60A3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5"/>
          <p:cNvSpPr/>
          <p:nvPr/>
        </p:nvSpPr>
        <p:spPr>
          <a:xfrm>
            <a:off x="8697813" y="5435600"/>
            <a:ext cx="63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HBase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gradFill flip="none" rotWithShape="1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5280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5280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3665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13665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42049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42049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70434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70434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98818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98818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27203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227203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456035" y="38163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1456035" y="381635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456035" y="501650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1456035" y="501650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456035" y="62166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1456035" y="621665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727190" y="6306820"/>
            <a:ext cx="100800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52805" y="6177280"/>
            <a:ext cx="259080" cy="259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52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79805" y="6177280"/>
            <a:ext cx="259080" cy="2590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979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863725" y="2687320"/>
            <a:ext cx="8464550" cy="23069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1863725" y="2687320"/>
            <a:ext cx="8464550" cy="23069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分层架构与元数据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515235" y="1350010"/>
            <a:ext cx="7161530" cy="10985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test-kimi-img.moonshot.cn/pub/slides/slides_tmpl/image/25-08-11-17:38:55-d2crkbv0ctitcgma2i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8750" y="2540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8F5C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Hive 五层架构与组件协作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12750" y="1438275"/>
            <a:ext cx="234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用户接口层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19100" y="1692275"/>
            <a:ext cx="2336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CLI/Beeline/JDBC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668290" y="1438275"/>
            <a:ext cx="234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服务层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674640" y="1692275"/>
            <a:ext cx="2336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HiveServer2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923830" y="1438275"/>
            <a:ext cx="234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处理层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930180" y="1692275"/>
            <a:ext cx="2336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Driver/Compiler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179370" y="1438275"/>
            <a:ext cx="234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执行层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185720" y="1692275"/>
            <a:ext cx="2336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MR/Tez/Spark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434909" y="1438275"/>
            <a:ext cx="234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存储层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441259" y="1692275"/>
            <a:ext cx="2336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HDFS/文件格式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57200" y="2943225"/>
            <a:ext cx="11277600" cy="50800"/>
          </a:xfrm>
          <a:custGeom>
            <a:avLst/>
            <a:gdLst/>
            <a:ahLst/>
            <a:cxnLst/>
            <a:rect l="l" t="t" r="r" b="b"/>
            <a:pathLst>
              <a:path w="11277600" h="50800">
                <a:moveTo>
                  <a:pt x="25400" y="0"/>
                </a:moveTo>
                <a:lnTo>
                  <a:pt x="11252200" y="0"/>
                </a:lnTo>
                <a:cubicBezTo>
                  <a:pt x="11266219" y="0"/>
                  <a:pt x="11277600" y="11381"/>
                  <a:pt x="11277600" y="25400"/>
                </a:cubicBezTo>
                <a:lnTo>
                  <a:pt x="11277600" y="25400"/>
                </a:lnTo>
                <a:cubicBezTo>
                  <a:pt x="11277600" y="39419"/>
                  <a:pt x="11266219" y="50800"/>
                  <a:pt x="11252200" y="50800"/>
                </a:cubicBezTo>
                <a:lnTo>
                  <a:pt x="25400" y="50800"/>
                </a:lnTo>
                <a:cubicBezTo>
                  <a:pt x="11381" y="50800"/>
                  <a:pt x="0" y="39419"/>
                  <a:pt x="0" y="25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D3B9D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457200" y="28924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457200" y="28924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6"/>
          <p:cNvSpPr/>
          <p:nvPr/>
        </p:nvSpPr>
        <p:spPr>
          <a:xfrm>
            <a:off x="457200" y="28924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7"/>
          <p:cNvSpPr/>
          <p:nvPr/>
        </p:nvSpPr>
        <p:spPr>
          <a:xfrm>
            <a:off x="457200" y="28924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8"/>
          <p:cNvSpPr/>
          <p:nvPr/>
        </p:nvSpPr>
        <p:spPr>
          <a:xfrm>
            <a:off x="457200" y="28924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9"/>
          <p:cNvSpPr/>
          <p:nvPr/>
        </p:nvSpPr>
        <p:spPr>
          <a:xfrm>
            <a:off x="1502370" y="404177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0"/>
          <p:cNvSpPr/>
          <p:nvPr/>
        </p:nvSpPr>
        <p:spPr>
          <a:xfrm>
            <a:off x="3757910" y="404177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1"/>
          <p:cNvSpPr/>
          <p:nvPr/>
        </p:nvSpPr>
        <p:spPr>
          <a:xfrm>
            <a:off x="6013450" y="404177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2"/>
          <p:cNvSpPr/>
          <p:nvPr/>
        </p:nvSpPr>
        <p:spPr>
          <a:xfrm>
            <a:off x="8268990" y="404177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3"/>
          <p:cNvSpPr/>
          <p:nvPr/>
        </p:nvSpPr>
        <p:spPr>
          <a:xfrm>
            <a:off x="457200" y="5318125"/>
            <a:ext cx="2171700" cy="406400"/>
          </a:xfrm>
          <a:custGeom>
            <a:avLst/>
            <a:gdLst/>
            <a:ahLst/>
            <a:cxnLst/>
            <a:rect l="l" t="t" r="r" b="b"/>
            <a:pathLst>
              <a:path w="2171700" h="406400">
                <a:moveTo>
                  <a:pt x="50800" y="0"/>
                </a:moveTo>
                <a:lnTo>
                  <a:pt x="2120900" y="0"/>
                </a:lnTo>
                <a:cubicBezTo>
                  <a:pt x="2148937" y="0"/>
                  <a:pt x="2171700" y="22763"/>
                  <a:pt x="2171700" y="50800"/>
                </a:cubicBezTo>
                <a:lnTo>
                  <a:pt x="2171700" y="355600"/>
                </a:lnTo>
                <a:cubicBezTo>
                  <a:pt x="2171700" y="383637"/>
                  <a:pt x="2148937" y="406400"/>
                  <a:pt x="21209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3B9D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4"/>
          <p:cNvSpPr/>
          <p:nvPr/>
        </p:nvSpPr>
        <p:spPr>
          <a:xfrm>
            <a:off x="419100" y="5318125"/>
            <a:ext cx="2247900" cy="406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提交查询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2732980" y="5318125"/>
            <a:ext cx="2171700" cy="406400"/>
          </a:xfrm>
          <a:custGeom>
            <a:avLst/>
            <a:gdLst/>
            <a:ahLst/>
            <a:cxnLst/>
            <a:rect l="l" t="t" r="r" b="b"/>
            <a:pathLst>
              <a:path w="2171700" h="406400">
                <a:moveTo>
                  <a:pt x="50800" y="0"/>
                </a:moveTo>
                <a:lnTo>
                  <a:pt x="2120900" y="0"/>
                </a:lnTo>
                <a:cubicBezTo>
                  <a:pt x="2148937" y="0"/>
                  <a:pt x="2171700" y="22763"/>
                  <a:pt x="2171700" y="50800"/>
                </a:cubicBezTo>
                <a:lnTo>
                  <a:pt x="2171700" y="355600"/>
                </a:lnTo>
                <a:cubicBezTo>
                  <a:pt x="2171700" y="383637"/>
                  <a:pt x="2148937" y="406400"/>
                  <a:pt x="21209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3B9D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6"/>
          <p:cNvSpPr/>
          <p:nvPr/>
        </p:nvSpPr>
        <p:spPr>
          <a:xfrm>
            <a:off x="2694880" y="5318125"/>
            <a:ext cx="2247900" cy="406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会话管理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008860" y="5318125"/>
            <a:ext cx="2171700" cy="406400"/>
          </a:xfrm>
          <a:custGeom>
            <a:avLst/>
            <a:gdLst/>
            <a:ahLst/>
            <a:cxnLst/>
            <a:rect l="l" t="t" r="r" b="b"/>
            <a:pathLst>
              <a:path w="2171700" h="406400">
                <a:moveTo>
                  <a:pt x="50800" y="0"/>
                </a:moveTo>
                <a:lnTo>
                  <a:pt x="2120900" y="0"/>
                </a:lnTo>
                <a:cubicBezTo>
                  <a:pt x="2148937" y="0"/>
                  <a:pt x="2171700" y="22763"/>
                  <a:pt x="2171700" y="50800"/>
                </a:cubicBezTo>
                <a:lnTo>
                  <a:pt x="2171700" y="355600"/>
                </a:lnTo>
                <a:cubicBezTo>
                  <a:pt x="2171700" y="383637"/>
                  <a:pt x="2148937" y="406400"/>
                  <a:pt x="21209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3B9D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8"/>
          <p:cNvSpPr/>
          <p:nvPr/>
        </p:nvSpPr>
        <p:spPr>
          <a:xfrm>
            <a:off x="4970760" y="5318125"/>
            <a:ext cx="2247900" cy="406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编译优化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7284641" y="5318125"/>
            <a:ext cx="2171700" cy="406400"/>
          </a:xfrm>
          <a:custGeom>
            <a:avLst/>
            <a:gdLst/>
            <a:ahLst/>
            <a:cxnLst/>
            <a:rect l="l" t="t" r="r" b="b"/>
            <a:pathLst>
              <a:path w="2171700" h="406400">
                <a:moveTo>
                  <a:pt x="50800" y="0"/>
                </a:moveTo>
                <a:lnTo>
                  <a:pt x="2120900" y="0"/>
                </a:lnTo>
                <a:cubicBezTo>
                  <a:pt x="2148937" y="0"/>
                  <a:pt x="2171700" y="22763"/>
                  <a:pt x="2171700" y="50800"/>
                </a:cubicBezTo>
                <a:lnTo>
                  <a:pt x="2171700" y="355600"/>
                </a:lnTo>
                <a:cubicBezTo>
                  <a:pt x="2171700" y="383637"/>
                  <a:pt x="2148937" y="406400"/>
                  <a:pt x="21209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3B9D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0"/>
          <p:cNvSpPr/>
          <p:nvPr/>
        </p:nvSpPr>
        <p:spPr>
          <a:xfrm>
            <a:off x="7246541" y="5318125"/>
            <a:ext cx="2247900" cy="406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任务调度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9560520" y="5318125"/>
            <a:ext cx="2171700" cy="406400"/>
          </a:xfrm>
          <a:custGeom>
            <a:avLst/>
            <a:gdLst/>
            <a:ahLst/>
            <a:cxnLst/>
            <a:rect l="l" t="t" r="r" b="b"/>
            <a:pathLst>
              <a:path w="2171700" h="406400">
                <a:moveTo>
                  <a:pt x="50800" y="0"/>
                </a:moveTo>
                <a:lnTo>
                  <a:pt x="2120900" y="0"/>
                </a:lnTo>
                <a:cubicBezTo>
                  <a:pt x="2148937" y="0"/>
                  <a:pt x="2171700" y="22763"/>
                  <a:pt x="2171700" y="50800"/>
                </a:cubicBezTo>
                <a:lnTo>
                  <a:pt x="2171700" y="355600"/>
                </a:lnTo>
                <a:cubicBezTo>
                  <a:pt x="2171700" y="383637"/>
                  <a:pt x="2148937" y="406400"/>
                  <a:pt x="21209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3B9D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2"/>
          <p:cNvSpPr/>
          <p:nvPr/>
        </p:nvSpPr>
        <p:spPr>
          <a:xfrm>
            <a:off x="9522420" y="5318125"/>
            <a:ext cx="2247900" cy="406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数据存储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209550" y="6350000"/>
            <a:ext cx="1177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各层解耦设计是支持多种执行引擎和存储格式的关键。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test-kimi-img.moonshot.cn/pub/slides/slides_tmpl/image/25-08-11-17:38:55-d2crkbv0ctitcgma2i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4000" y="1549400"/>
            <a:ext cx="5829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8F5C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Metastore 服务化与后端选型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54000" y="2209800"/>
            <a:ext cx="5740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Metastore 作为“元数据单一事实源”，通过 Thrift 服务支撑多引擎共享表结构，是 Hive 架构的核心。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54000" y="3022600"/>
            <a:ext cx="5638800" cy="1066800"/>
          </a:xfrm>
          <a:custGeom>
            <a:avLst/>
            <a:gdLst/>
            <a:ahLst/>
            <a:cxnLst/>
            <a:rect l="l" t="t" r="r" b="b"/>
            <a:pathLst>
              <a:path w="5638800" h="1066800">
                <a:moveTo>
                  <a:pt x="101602" y="0"/>
                </a:moveTo>
                <a:lnTo>
                  <a:pt x="5537198" y="0"/>
                </a:lnTo>
                <a:cubicBezTo>
                  <a:pt x="5593311" y="0"/>
                  <a:pt x="5638800" y="45489"/>
                  <a:pt x="5638800" y="101602"/>
                </a:cubicBezTo>
                <a:lnTo>
                  <a:pt x="5638800" y="965198"/>
                </a:lnTo>
                <a:cubicBezTo>
                  <a:pt x="5638800" y="1021311"/>
                  <a:pt x="5593311" y="1066800"/>
                  <a:pt x="5537198" y="1066800"/>
                </a:cubicBezTo>
                <a:lnTo>
                  <a:pt x="101602" y="1066800"/>
                </a:lnTo>
                <a:cubicBezTo>
                  <a:pt x="45489" y="1066800"/>
                  <a:pt x="0" y="1021311"/>
                  <a:pt x="0" y="9651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D3B9D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406400" y="3175000"/>
            <a:ext cx="542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A95EA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06400" y="3429000"/>
            <a:ext cx="5422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 Thrift 接口提供统一的元数据服务，支持 HiveServer2、Spark SQL、Presto 等引擎访问，实现元数据共享。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54000" y="4241800"/>
            <a:ext cx="5638800" cy="1066800"/>
          </a:xfrm>
          <a:custGeom>
            <a:avLst/>
            <a:gdLst/>
            <a:ahLst/>
            <a:cxnLst/>
            <a:rect l="l" t="t" r="r" b="b"/>
            <a:pathLst>
              <a:path w="5638800" h="1066800">
                <a:moveTo>
                  <a:pt x="101602" y="0"/>
                </a:moveTo>
                <a:lnTo>
                  <a:pt x="5537198" y="0"/>
                </a:lnTo>
                <a:cubicBezTo>
                  <a:pt x="5593311" y="0"/>
                  <a:pt x="5638800" y="45489"/>
                  <a:pt x="5638800" y="101602"/>
                </a:cubicBezTo>
                <a:lnTo>
                  <a:pt x="5638800" y="965198"/>
                </a:lnTo>
                <a:cubicBezTo>
                  <a:pt x="5638800" y="1021311"/>
                  <a:pt x="5593311" y="1066800"/>
                  <a:pt x="5537198" y="1066800"/>
                </a:cubicBezTo>
                <a:lnTo>
                  <a:pt x="101602" y="1066800"/>
                </a:lnTo>
                <a:cubicBezTo>
                  <a:pt x="45489" y="1066800"/>
                  <a:pt x="0" y="1021311"/>
                  <a:pt x="0" y="9651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D3B9D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406400" y="4394200"/>
            <a:ext cx="542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A95EA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后端选型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06400" y="4648200"/>
            <a:ext cx="5422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生产环境推荐 MySQL 或 PostgreSQL，以支持高并发和保证元数据操作的 ACID 特性。</a:t>
            </a:r>
            <a:endParaRPr lang="en-US" sz="1600" dirty="0"/>
          </a:p>
        </p:txBody>
      </p:sp>
      <p:pic>
        <p:nvPicPr>
          <p:cNvPr id="13" name="Image 1" descr="https://kimi-web-img.moonshot.cn/img/img-blog.csdnimg.cn/b70aa19ff09ebe81e2e7ba4a304eddb518ae684c.png"/>
          <p:cNvPicPr>
            <a:picLocks noChangeAspect="1"/>
          </p:cNvPicPr>
          <p:nvPr/>
        </p:nvPicPr>
        <p:blipFill>
          <a:blip r:embed="rId4"/>
          <a:srcRect l="29419" r="29419"/>
          <a:stretch/>
        </p:blipFill>
        <p:spPr>
          <a:xfrm>
            <a:off x="6096000" y="783134"/>
            <a:ext cx="5842000" cy="5295900"/>
          </a:xfrm>
          <a:prstGeom prst="roundRect">
            <a:avLst>
              <a:gd name="adj" fmla="val 1918"/>
            </a:avLst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test-kimi-img.moonshot.cn/pub/slides/slides_tmpl/image/25-08-11-17:38:55-d2crkbv0ctitcgma2i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8750" y="11684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8F5C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HiveServer2 并发与认证模型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828800" y="19304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D3B9D7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2051050" y="22098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285750" y="14288"/>
                </a:moveTo>
                <a:cubicBezTo>
                  <a:pt x="337006" y="14288"/>
                  <a:pt x="378619" y="55901"/>
                  <a:pt x="378619" y="107156"/>
                </a:cubicBezTo>
                <a:cubicBezTo>
                  <a:pt x="378619" y="158412"/>
                  <a:pt x="337006" y="200025"/>
                  <a:pt x="285750" y="200025"/>
                </a:cubicBezTo>
                <a:cubicBezTo>
                  <a:pt x="234494" y="200025"/>
                  <a:pt x="192881" y="158412"/>
                  <a:pt x="192881" y="107156"/>
                </a:cubicBezTo>
                <a:cubicBezTo>
                  <a:pt x="192881" y="55901"/>
                  <a:pt x="234494" y="14288"/>
                  <a:pt x="285750" y="14288"/>
                </a:cubicBezTo>
                <a:close/>
                <a:moveTo>
                  <a:pt x="85725" y="78581"/>
                </a:moveTo>
                <a:cubicBezTo>
                  <a:pt x="121210" y="78581"/>
                  <a:pt x="150019" y="107390"/>
                  <a:pt x="150019" y="142875"/>
                </a:cubicBezTo>
                <a:cubicBezTo>
                  <a:pt x="150019" y="178360"/>
                  <a:pt x="121210" y="207169"/>
                  <a:pt x="85725" y="207169"/>
                </a:cubicBezTo>
                <a:cubicBezTo>
                  <a:pt x="50240" y="207169"/>
                  <a:pt x="21431" y="178360"/>
                  <a:pt x="21431" y="142875"/>
                </a:cubicBezTo>
                <a:cubicBezTo>
                  <a:pt x="21431" y="107390"/>
                  <a:pt x="50240" y="78581"/>
                  <a:pt x="85725" y="78581"/>
                </a:cubicBezTo>
                <a:close/>
                <a:moveTo>
                  <a:pt x="0" y="371475"/>
                </a:moveTo>
                <a:cubicBezTo>
                  <a:pt x="0" y="308342"/>
                  <a:pt x="51167" y="257175"/>
                  <a:pt x="114300" y="257175"/>
                </a:cubicBezTo>
                <a:cubicBezTo>
                  <a:pt x="125730" y="257175"/>
                  <a:pt x="136803" y="258872"/>
                  <a:pt x="147251" y="261997"/>
                </a:cubicBezTo>
                <a:cubicBezTo>
                  <a:pt x="117872" y="294858"/>
                  <a:pt x="100013" y="338257"/>
                  <a:pt x="100013" y="385763"/>
                </a:cubicBezTo>
                <a:lnTo>
                  <a:pt x="100013" y="400050"/>
                </a:lnTo>
                <a:cubicBezTo>
                  <a:pt x="100013" y="410230"/>
                  <a:pt x="102156" y="419874"/>
                  <a:pt x="105995" y="428625"/>
                </a:cubicBezTo>
                <a:lnTo>
                  <a:pt x="28575" y="428625"/>
                </a:lnTo>
                <a:cubicBezTo>
                  <a:pt x="12769" y="428625"/>
                  <a:pt x="0" y="415856"/>
                  <a:pt x="0" y="400050"/>
                </a:cubicBezTo>
                <a:lnTo>
                  <a:pt x="0" y="371475"/>
                </a:lnTo>
                <a:close/>
                <a:moveTo>
                  <a:pt x="465505" y="428625"/>
                </a:moveTo>
                <a:cubicBezTo>
                  <a:pt x="469344" y="419874"/>
                  <a:pt x="471488" y="410230"/>
                  <a:pt x="471488" y="400050"/>
                </a:cubicBezTo>
                <a:lnTo>
                  <a:pt x="471488" y="385763"/>
                </a:lnTo>
                <a:cubicBezTo>
                  <a:pt x="471488" y="338257"/>
                  <a:pt x="453628" y="294858"/>
                  <a:pt x="424249" y="261997"/>
                </a:cubicBezTo>
                <a:cubicBezTo>
                  <a:pt x="434697" y="258872"/>
                  <a:pt x="445770" y="257175"/>
                  <a:pt x="457200" y="257175"/>
                </a:cubicBezTo>
                <a:cubicBezTo>
                  <a:pt x="520333" y="257175"/>
                  <a:pt x="571500" y="308342"/>
                  <a:pt x="571500" y="371475"/>
                </a:cubicBezTo>
                <a:lnTo>
                  <a:pt x="571500" y="400050"/>
                </a:lnTo>
                <a:cubicBezTo>
                  <a:pt x="571500" y="415856"/>
                  <a:pt x="558731" y="428625"/>
                  <a:pt x="542925" y="428625"/>
                </a:cubicBezTo>
                <a:lnTo>
                  <a:pt x="465505" y="428625"/>
                </a:lnTo>
                <a:close/>
                <a:moveTo>
                  <a:pt x="421481" y="142875"/>
                </a:moveTo>
                <a:cubicBezTo>
                  <a:pt x="421481" y="107390"/>
                  <a:pt x="450290" y="78581"/>
                  <a:pt x="485775" y="78581"/>
                </a:cubicBezTo>
                <a:cubicBezTo>
                  <a:pt x="521260" y="78581"/>
                  <a:pt x="550069" y="107390"/>
                  <a:pt x="550069" y="142875"/>
                </a:cubicBezTo>
                <a:cubicBezTo>
                  <a:pt x="550069" y="178360"/>
                  <a:pt x="521260" y="207169"/>
                  <a:pt x="485775" y="207169"/>
                </a:cubicBezTo>
                <a:cubicBezTo>
                  <a:pt x="450290" y="207169"/>
                  <a:pt x="421481" y="178360"/>
                  <a:pt x="421481" y="142875"/>
                </a:cubicBezTo>
                <a:close/>
                <a:moveTo>
                  <a:pt x="142875" y="385763"/>
                </a:moveTo>
                <a:cubicBezTo>
                  <a:pt x="142875" y="306824"/>
                  <a:pt x="206812" y="242888"/>
                  <a:pt x="285750" y="242888"/>
                </a:cubicBezTo>
                <a:cubicBezTo>
                  <a:pt x="364688" y="242888"/>
                  <a:pt x="428625" y="306824"/>
                  <a:pt x="428625" y="385763"/>
                </a:cubicBezTo>
                <a:lnTo>
                  <a:pt x="428625" y="400050"/>
                </a:lnTo>
                <a:cubicBezTo>
                  <a:pt x="428625" y="415856"/>
                  <a:pt x="415856" y="428625"/>
                  <a:pt x="400050" y="428625"/>
                </a:cubicBezTo>
                <a:lnTo>
                  <a:pt x="171450" y="428625"/>
                </a:lnTo>
                <a:cubicBezTo>
                  <a:pt x="155644" y="428625"/>
                  <a:pt x="142875" y="415856"/>
                  <a:pt x="142875" y="400050"/>
                </a:cubicBezTo>
                <a:lnTo>
                  <a:pt x="142875" y="385763"/>
                </a:ln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869950" y="3048000"/>
            <a:ext cx="293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多用户并发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82650" y="3403600"/>
            <a:ext cx="2908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 Thrift 的多线程模型，支持连接复用。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588000" y="19304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D3B9D7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5867400" y="2209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00038" y="314325"/>
                </a:moveTo>
                <a:cubicBezTo>
                  <a:pt x="386834" y="314325"/>
                  <a:pt x="457200" y="243959"/>
                  <a:pt x="457200" y="157163"/>
                </a:cubicBezTo>
                <a:cubicBezTo>
                  <a:pt x="457200" y="70366"/>
                  <a:pt x="386834" y="0"/>
                  <a:pt x="300038" y="0"/>
                </a:cubicBezTo>
                <a:cubicBezTo>
                  <a:pt x="213241" y="0"/>
                  <a:pt x="142875" y="70366"/>
                  <a:pt x="142875" y="157163"/>
                </a:cubicBezTo>
                <a:cubicBezTo>
                  <a:pt x="142875" y="173861"/>
                  <a:pt x="145465" y="190024"/>
                  <a:pt x="150287" y="205115"/>
                </a:cubicBezTo>
                <a:lnTo>
                  <a:pt x="6251" y="349151"/>
                </a:lnTo>
                <a:cubicBezTo>
                  <a:pt x="2232" y="353169"/>
                  <a:pt x="0" y="358616"/>
                  <a:pt x="0" y="364331"/>
                </a:cubicBezTo>
                <a:lnTo>
                  <a:pt x="0" y="435769"/>
                </a:lnTo>
                <a:cubicBezTo>
                  <a:pt x="0" y="447645"/>
                  <a:pt x="9555" y="457200"/>
                  <a:pt x="21431" y="457200"/>
                </a:cubicBezTo>
                <a:lnTo>
                  <a:pt x="92869" y="457200"/>
                </a:lnTo>
                <a:cubicBezTo>
                  <a:pt x="104745" y="457200"/>
                  <a:pt x="114300" y="447645"/>
                  <a:pt x="114300" y="435769"/>
                </a:cubicBezTo>
                <a:lnTo>
                  <a:pt x="114300" y="400050"/>
                </a:lnTo>
                <a:lnTo>
                  <a:pt x="150019" y="400050"/>
                </a:lnTo>
                <a:cubicBezTo>
                  <a:pt x="161895" y="400050"/>
                  <a:pt x="171450" y="390495"/>
                  <a:pt x="171450" y="378619"/>
                </a:cubicBezTo>
                <a:lnTo>
                  <a:pt x="171450" y="342900"/>
                </a:lnTo>
                <a:lnTo>
                  <a:pt x="207169" y="342900"/>
                </a:lnTo>
                <a:cubicBezTo>
                  <a:pt x="212884" y="342900"/>
                  <a:pt x="218331" y="340668"/>
                  <a:pt x="222349" y="336649"/>
                </a:cubicBezTo>
                <a:lnTo>
                  <a:pt x="252085" y="306913"/>
                </a:lnTo>
                <a:cubicBezTo>
                  <a:pt x="267176" y="311735"/>
                  <a:pt x="283339" y="314325"/>
                  <a:pt x="300038" y="314325"/>
                </a:cubicBezTo>
                <a:close/>
                <a:moveTo>
                  <a:pt x="335756" y="85725"/>
                </a:moveTo>
                <a:cubicBezTo>
                  <a:pt x="355470" y="85725"/>
                  <a:pt x="371475" y="101730"/>
                  <a:pt x="371475" y="121444"/>
                </a:cubicBezTo>
                <a:cubicBezTo>
                  <a:pt x="371475" y="141157"/>
                  <a:pt x="355470" y="157163"/>
                  <a:pt x="335756" y="157163"/>
                </a:cubicBezTo>
                <a:cubicBezTo>
                  <a:pt x="316043" y="157163"/>
                  <a:pt x="300038" y="141157"/>
                  <a:pt x="300038" y="121444"/>
                </a:cubicBezTo>
                <a:cubicBezTo>
                  <a:pt x="300038" y="101730"/>
                  <a:pt x="316043" y="85725"/>
                  <a:pt x="335756" y="85725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4629150" y="3048000"/>
            <a:ext cx="293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安全认证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641850" y="3403600"/>
            <a:ext cx="2908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支持 Kerberos、LDAP、SASL 等多种认证方式。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347200" y="19304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D3B9D7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9626600" y="2209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32708" y="0"/>
                  <a:pt x="236815" y="893"/>
                  <a:pt x="240566" y="2590"/>
                </a:cubicBezTo>
                <a:lnTo>
                  <a:pt x="408801" y="73938"/>
                </a:lnTo>
                <a:cubicBezTo>
                  <a:pt x="428446" y="82242"/>
                  <a:pt x="443091" y="101620"/>
                  <a:pt x="443002" y="125016"/>
                </a:cubicBezTo>
                <a:cubicBezTo>
                  <a:pt x="442555" y="213598"/>
                  <a:pt x="406122" y="375672"/>
                  <a:pt x="252264" y="449342"/>
                </a:cubicBezTo>
                <a:cubicBezTo>
                  <a:pt x="237351" y="456486"/>
                  <a:pt x="220028" y="456486"/>
                  <a:pt x="205115" y="449342"/>
                </a:cubicBezTo>
                <a:cubicBezTo>
                  <a:pt x="51167" y="375672"/>
                  <a:pt x="14823" y="213598"/>
                  <a:pt x="14377" y="125016"/>
                </a:cubicBezTo>
                <a:cubicBezTo>
                  <a:pt x="14287" y="101620"/>
                  <a:pt x="28932" y="82242"/>
                  <a:pt x="48577" y="73938"/>
                </a:cubicBezTo>
                <a:lnTo>
                  <a:pt x="216724" y="2590"/>
                </a:lnTo>
                <a:cubicBezTo>
                  <a:pt x="220474" y="893"/>
                  <a:pt x="224492" y="0"/>
                  <a:pt x="228600" y="0"/>
                </a:cubicBezTo>
                <a:close/>
                <a:moveTo>
                  <a:pt x="228600" y="59650"/>
                </a:moveTo>
                <a:lnTo>
                  <a:pt x="228600" y="397282"/>
                </a:lnTo>
                <a:cubicBezTo>
                  <a:pt x="351830" y="337631"/>
                  <a:pt x="384959" y="205472"/>
                  <a:pt x="385763" y="126355"/>
                </a:cubicBezTo>
                <a:lnTo>
                  <a:pt x="228600" y="59740"/>
                </a:lnTo>
                <a:lnTo>
                  <a:pt x="228600" y="59740"/>
                </a:ln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8388350" y="3048000"/>
            <a:ext cx="293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权限管理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401050" y="3403600"/>
            <a:ext cx="2908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基于角色的访问控制(RBAC)，与HDFS权限集成。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254000" y="4318000"/>
            <a:ext cx="11684000" cy="1371600"/>
          </a:xfrm>
          <a:custGeom>
            <a:avLst/>
            <a:gdLst/>
            <a:ahLst/>
            <a:cxnLst/>
            <a:rect l="l" t="t" r="r" b="b"/>
            <a:pathLst>
              <a:path w="11684000" h="1371600">
                <a:moveTo>
                  <a:pt x="101594" y="0"/>
                </a:moveTo>
                <a:lnTo>
                  <a:pt x="11582406" y="0"/>
                </a:lnTo>
                <a:cubicBezTo>
                  <a:pt x="11638515" y="0"/>
                  <a:pt x="11684000" y="45485"/>
                  <a:pt x="11684000" y="101594"/>
                </a:cubicBezTo>
                <a:lnTo>
                  <a:pt x="11684000" y="1270006"/>
                </a:lnTo>
                <a:cubicBezTo>
                  <a:pt x="11684000" y="1326115"/>
                  <a:pt x="11638515" y="1371600"/>
                  <a:pt x="11582406" y="1371600"/>
                </a:cubicBezTo>
                <a:lnTo>
                  <a:pt x="101594" y="1371600"/>
                </a:lnTo>
                <a:cubicBezTo>
                  <a:pt x="45485" y="1371600"/>
                  <a:pt x="0" y="1326115"/>
                  <a:pt x="0" y="12700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8F5C9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406400" y="4521200"/>
            <a:ext cx="1137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8F5C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关键配置参数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57200" y="4946650"/>
            <a:ext cx="4169370" cy="209550"/>
          </a:xfrm>
          <a:custGeom>
            <a:avLst/>
            <a:gdLst/>
            <a:ahLst/>
            <a:cxnLst/>
            <a:rect l="l" t="t" r="r" b="b"/>
            <a:pathLst>
              <a:path w="4169370" h="209550">
                <a:moveTo>
                  <a:pt x="50799" y="0"/>
                </a:moveTo>
                <a:lnTo>
                  <a:pt x="4118571" y="0"/>
                </a:lnTo>
                <a:cubicBezTo>
                  <a:pt x="4146627" y="0"/>
                  <a:pt x="4169370" y="22744"/>
                  <a:pt x="4169370" y="50799"/>
                </a:cubicBezTo>
                <a:lnTo>
                  <a:pt x="4169370" y="158751"/>
                </a:lnTo>
                <a:cubicBezTo>
                  <a:pt x="4169370" y="186806"/>
                  <a:pt x="4146627" y="209550"/>
                  <a:pt x="4118571" y="209550"/>
                </a:cubicBezTo>
                <a:lnTo>
                  <a:pt x="50799" y="209550"/>
                </a:lnTo>
                <a:cubicBezTo>
                  <a:pt x="22744" y="209550"/>
                  <a:pt x="0" y="186806"/>
                  <a:pt x="0" y="15875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457200" y="4946650"/>
            <a:ext cx="4258270" cy="209550"/>
          </a:xfrm>
          <a:prstGeom prst="rect">
            <a:avLst/>
          </a:prstGeom>
          <a:noFill/>
          <a:ln/>
        </p:spPr>
        <p:txBody>
          <a:bodyPr wrap="square" lIns="50800" tIns="0" rIns="5080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hive.server2.thrift.max.worker.threads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197600" y="4946650"/>
            <a:ext cx="2991842" cy="209550"/>
          </a:xfrm>
          <a:custGeom>
            <a:avLst/>
            <a:gdLst/>
            <a:ahLst/>
            <a:cxnLst/>
            <a:rect l="l" t="t" r="r" b="b"/>
            <a:pathLst>
              <a:path w="2991842" h="209550">
                <a:moveTo>
                  <a:pt x="50799" y="0"/>
                </a:moveTo>
                <a:lnTo>
                  <a:pt x="2941043" y="0"/>
                </a:lnTo>
                <a:cubicBezTo>
                  <a:pt x="2969099" y="0"/>
                  <a:pt x="2991842" y="22744"/>
                  <a:pt x="2991842" y="50799"/>
                </a:cubicBezTo>
                <a:lnTo>
                  <a:pt x="2991842" y="158751"/>
                </a:lnTo>
                <a:cubicBezTo>
                  <a:pt x="2991842" y="186806"/>
                  <a:pt x="2969099" y="209550"/>
                  <a:pt x="2941043" y="209550"/>
                </a:cubicBezTo>
                <a:lnTo>
                  <a:pt x="50799" y="209550"/>
                </a:lnTo>
                <a:cubicBezTo>
                  <a:pt x="22744" y="209550"/>
                  <a:pt x="0" y="186806"/>
                  <a:pt x="0" y="15875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0"/>
          <p:cNvSpPr/>
          <p:nvPr/>
        </p:nvSpPr>
        <p:spPr>
          <a:xfrm>
            <a:off x="6197600" y="4946650"/>
            <a:ext cx="3080742" cy="209550"/>
          </a:xfrm>
          <a:prstGeom prst="rect">
            <a:avLst/>
          </a:prstGeom>
          <a:noFill/>
          <a:ln/>
        </p:spPr>
        <p:txBody>
          <a:bodyPr wrap="square" lIns="50800" tIns="0" rIns="5080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hive.server2.authentication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57200" y="5251450"/>
            <a:ext cx="2991842" cy="209550"/>
          </a:xfrm>
          <a:custGeom>
            <a:avLst/>
            <a:gdLst/>
            <a:ahLst/>
            <a:cxnLst/>
            <a:rect l="l" t="t" r="r" b="b"/>
            <a:pathLst>
              <a:path w="2991842" h="209550">
                <a:moveTo>
                  <a:pt x="50799" y="0"/>
                </a:moveTo>
                <a:lnTo>
                  <a:pt x="2941043" y="0"/>
                </a:lnTo>
                <a:cubicBezTo>
                  <a:pt x="2969099" y="0"/>
                  <a:pt x="2991842" y="22744"/>
                  <a:pt x="2991842" y="50799"/>
                </a:cubicBezTo>
                <a:lnTo>
                  <a:pt x="2991842" y="158751"/>
                </a:lnTo>
                <a:cubicBezTo>
                  <a:pt x="2991842" y="186806"/>
                  <a:pt x="2969099" y="209550"/>
                  <a:pt x="2941043" y="209550"/>
                </a:cubicBezTo>
                <a:lnTo>
                  <a:pt x="50799" y="209550"/>
                </a:lnTo>
                <a:cubicBezTo>
                  <a:pt x="22744" y="209550"/>
                  <a:pt x="0" y="186806"/>
                  <a:pt x="0" y="15875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2"/>
          <p:cNvSpPr/>
          <p:nvPr/>
        </p:nvSpPr>
        <p:spPr>
          <a:xfrm>
            <a:off x="457200" y="5251450"/>
            <a:ext cx="3080742" cy="209550"/>
          </a:xfrm>
          <a:prstGeom prst="rect">
            <a:avLst/>
          </a:prstGeom>
          <a:noFill/>
          <a:ln/>
        </p:spPr>
        <p:txBody>
          <a:bodyPr wrap="square" lIns="50800" tIns="0" rIns="5080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hive.server2.transport.mode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197600" y="5251450"/>
            <a:ext cx="2670671" cy="209550"/>
          </a:xfrm>
          <a:custGeom>
            <a:avLst/>
            <a:gdLst/>
            <a:ahLst/>
            <a:cxnLst/>
            <a:rect l="l" t="t" r="r" b="b"/>
            <a:pathLst>
              <a:path w="2670671" h="209550">
                <a:moveTo>
                  <a:pt x="50799" y="0"/>
                </a:moveTo>
                <a:lnTo>
                  <a:pt x="2619872" y="0"/>
                </a:lnTo>
                <a:cubicBezTo>
                  <a:pt x="2647928" y="0"/>
                  <a:pt x="2670671" y="22744"/>
                  <a:pt x="2670671" y="50799"/>
                </a:cubicBezTo>
                <a:lnTo>
                  <a:pt x="2670671" y="158751"/>
                </a:lnTo>
                <a:cubicBezTo>
                  <a:pt x="2670671" y="186806"/>
                  <a:pt x="2647928" y="209550"/>
                  <a:pt x="2619872" y="209550"/>
                </a:cubicBezTo>
                <a:lnTo>
                  <a:pt x="50799" y="209550"/>
                </a:lnTo>
                <a:cubicBezTo>
                  <a:pt x="22744" y="209550"/>
                  <a:pt x="0" y="186806"/>
                  <a:pt x="0" y="15875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4"/>
          <p:cNvSpPr/>
          <p:nvPr/>
        </p:nvSpPr>
        <p:spPr>
          <a:xfrm>
            <a:off x="6197600" y="5251450"/>
            <a:ext cx="2759571" cy="209550"/>
          </a:xfrm>
          <a:prstGeom prst="rect">
            <a:avLst/>
          </a:prstGeom>
          <a:noFill/>
          <a:ln/>
        </p:spPr>
        <p:txBody>
          <a:bodyPr wrap="square" lIns="50800" tIns="0" rIns="5080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hive.server2.enable.doAs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gradFill flip="none" rotWithShape="1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5280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5280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3665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13665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42049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42049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70434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70434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98818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98818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27203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227203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456035" y="38163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1456035" y="381635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456035" y="501650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1456035" y="501650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456035" y="62166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1456035" y="621665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727190" y="6306820"/>
            <a:ext cx="100800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52805" y="6177280"/>
            <a:ext cx="259080" cy="259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52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79805" y="6177280"/>
            <a:ext cx="259080" cy="2590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979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863725" y="2687320"/>
            <a:ext cx="8464550" cy="23069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1863725" y="2687320"/>
            <a:ext cx="8464550" cy="23069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查询编译与优化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515235" y="1350010"/>
            <a:ext cx="7161530" cy="10985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test-kimi-img.moonshot.cn/pub/slides/slides_tmpl/image/25-08-11-17:38:55-d2crkbv0ctitcgma2i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4000" y="2413000"/>
            <a:ext cx="45593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8F5C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HiveQL 解析链路与 AST 生成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54000" y="3530600"/>
            <a:ext cx="447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 ANTLR 将 SQL 文本转换为抽象语法树(AST)，并进行语义分析，是查询编译的第一步，也是理解后续优化和执行的基础。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162550" y="20574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0" y="57150"/>
                </a:moveTo>
                <a:cubicBezTo>
                  <a:pt x="0" y="25628"/>
                  <a:pt x="25628" y="0"/>
                  <a:pt x="57150" y="0"/>
                </a:cubicBezTo>
                <a:lnTo>
                  <a:pt x="190649" y="0"/>
                </a:lnTo>
                <a:cubicBezTo>
                  <a:pt x="205829" y="0"/>
                  <a:pt x="220385" y="5983"/>
                  <a:pt x="231100" y="16699"/>
                </a:cubicBezTo>
                <a:lnTo>
                  <a:pt x="326201" y="111889"/>
                </a:lnTo>
                <a:cubicBezTo>
                  <a:pt x="336917" y="122605"/>
                  <a:pt x="342900" y="137160"/>
                  <a:pt x="342900" y="152340"/>
                </a:cubicBezTo>
                <a:lnTo>
                  <a:pt x="342900" y="400050"/>
                </a:lnTo>
                <a:cubicBezTo>
                  <a:pt x="342900" y="431572"/>
                  <a:pt x="317272" y="457200"/>
                  <a:pt x="285750" y="457200"/>
                </a:cubicBezTo>
                <a:lnTo>
                  <a:pt x="57150" y="457200"/>
                </a:lnTo>
                <a:cubicBezTo>
                  <a:pt x="25628" y="457200"/>
                  <a:pt x="0" y="431572"/>
                  <a:pt x="0" y="400050"/>
                </a:cubicBezTo>
                <a:lnTo>
                  <a:pt x="0" y="57150"/>
                </a:lnTo>
                <a:close/>
                <a:moveTo>
                  <a:pt x="185738" y="52239"/>
                </a:moveTo>
                <a:lnTo>
                  <a:pt x="185738" y="135731"/>
                </a:lnTo>
                <a:cubicBezTo>
                  <a:pt x="185738" y="147608"/>
                  <a:pt x="195292" y="157163"/>
                  <a:pt x="207169" y="157163"/>
                </a:cubicBezTo>
                <a:lnTo>
                  <a:pt x="290661" y="157163"/>
                </a:lnTo>
                <a:lnTo>
                  <a:pt x="185738" y="52239"/>
                </a:lnTo>
                <a:close/>
                <a:moveTo>
                  <a:pt x="137696" y="263962"/>
                </a:moveTo>
                <a:cubicBezTo>
                  <a:pt x="145375" y="254943"/>
                  <a:pt x="144393" y="241459"/>
                  <a:pt x="135374" y="233779"/>
                </a:cubicBezTo>
                <a:cubicBezTo>
                  <a:pt x="126355" y="226100"/>
                  <a:pt x="112871" y="227082"/>
                  <a:pt x="105192" y="236101"/>
                </a:cubicBezTo>
                <a:lnTo>
                  <a:pt x="62329" y="286107"/>
                </a:lnTo>
                <a:cubicBezTo>
                  <a:pt x="55453" y="294144"/>
                  <a:pt x="55453" y="305931"/>
                  <a:pt x="62329" y="313968"/>
                </a:cubicBezTo>
                <a:lnTo>
                  <a:pt x="105192" y="363974"/>
                </a:lnTo>
                <a:cubicBezTo>
                  <a:pt x="112871" y="372993"/>
                  <a:pt x="126444" y="373975"/>
                  <a:pt x="135374" y="366296"/>
                </a:cubicBezTo>
                <a:cubicBezTo>
                  <a:pt x="144304" y="358616"/>
                  <a:pt x="145375" y="345043"/>
                  <a:pt x="137696" y="336113"/>
                </a:cubicBezTo>
                <a:lnTo>
                  <a:pt x="106799" y="300038"/>
                </a:lnTo>
                <a:lnTo>
                  <a:pt x="137696" y="263962"/>
                </a:lnTo>
                <a:close/>
                <a:moveTo>
                  <a:pt x="237708" y="236101"/>
                </a:moveTo>
                <a:cubicBezTo>
                  <a:pt x="230029" y="227082"/>
                  <a:pt x="216456" y="226100"/>
                  <a:pt x="207526" y="233779"/>
                </a:cubicBezTo>
                <a:cubicBezTo>
                  <a:pt x="198596" y="241459"/>
                  <a:pt x="197525" y="255032"/>
                  <a:pt x="205204" y="263962"/>
                </a:cubicBezTo>
                <a:lnTo>
                  <a:pt x="236101" y="300038"/>
                </a:lnTo>
                <a:lnTo>
                  <a:pt x="205204" y="336113"/>
                </a:lnTo>
                <a:cubicBezTo>
                  <a:pt x="197525" y="345132"/>
                  <a:pt x="198507" y="358616"/>
                  <a:pt x="207526" y="366296"/>
                </a:cubicBezTo>
                <a:cubicBezTo>
                  <a:pt x="216545" y="373975"/>
                  <a:pt x="230029" y="372993"/>
                  <a:pt x="237708" y="363974"/>
                </a:cubicBezTo>
                <a:lnTo>
                  <a:pt x="280571" y="313968"/>
                </a:lnTo>
                <a:cubicBezTo>
                  <a:pt x="287447" y="305931"/>
                  <a:pt x="287447" y="294144"/>
                  <a:pt x="280571" y="286107"/>
                </a:cubicBezTo>
                <a:lnTo>
                  <a:pt x="237708" y="236101"/>
                </a:ln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4876800" y="26924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HiveQL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842000" y="2413000"/>
            <a:ext cx="2082800" cy="50800"/>
          </a:xfrm>
          <a:custGeom>
            <a:avLst/>
            <a:gdLst/>
            <a:ahLst/>
            <a:cxnLst/>
            <a:rect l="l" t="t" r="r" b="b"/>
            <a:pathLst>
              <a:path w="2082800" h="50800">
                <a:moveTo>
                  <a:pt x="0" y="0"/>
                </a:moveTo>
                <a:lnTo>
                  <a:pt x="2082800" y="0"/>
                </a:lnTo>
                <a:lnTo>
                  <a:pt x="20828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A95EAF"/>
              </a:gs>
              <a:gs pos="100000">
                <a:srgbClr val="8F5C9A"/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8204200" y="2057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71438"/>
                </a:moveTo>
                <a:cubicBezTo>
                  <a:pt x="0" y="47774"/>
                  <a:pt x="19199" y="28575"/>
                  <a:pt x="42863" y="28575"/>
                </a:cubicBezTo>
                <a:lnTo>
                  <a:pt x="128588" y="28575"/>
                </a:lnTo>
                <a:cubicBezTo>
                  <a:pt x="152251" y="28575"/>
                  <a:pt x="171450" y="47774"/>
                  <a:pt x="171450" y="71438"/>
                </a:cubicBezTo>
                <a:lnTo>
                  <a:pt x="171450" y="85725"/>
                </a:lnTo>
                <a:lnTo>
                  <a:pt x="285750" y="85725"/>
                </a:lnTo>
                <a:lnTo>
                  <a:pt x="285750" y="71438"/>
                </a:lnTo>
                <a:cubicBezTo>
                  <a:pt x="285750" y="47774"/>
                  <a:pt x="304949" y="28575"/>
                  <a:pt x="328613" y="28575"/>
                </a:cubicBezTo>
                <a:lnTo>
                  <a:pt x="414338" y="28575"/>
                </a:lnTo>
                <a:cubicBezTo>
                  <a:pt x="438001" y="28575"/>
                  <a:pt x="457200" y="47774"/>
                  <a:pt x="457200" y="71438"/>
                </a:cubicBezTo>
                <a:lnTo>
                  <a:pt x="457200" y="157163"/>
                </a:lnTo>
                <a:cubicBezTo>
                  <a:pt x="457200" y="180826"/>
                  <a:pt x="438001" y="200025"/>
                  <a:pt x="414338" y="200025"/>
                </a:cubicBezTo>
                <a:lnTo>
                  <a:pt x="328613" y="200025"/>
                </a:lnTo>
                <a:cubicBezTo>
                  <a:pt x="304949" y="200025"/>
                  <a:pt x="285750" y="180826"/>
                  <a:pt x="285750" y="157163"/>
                </a:cubicBezTo>
                <a:lnTo>
                  <a:pt x="285750" y="142875"/>
                </a:lnTo>
                <a:lnTo>
                  <a:pt x="171450" y="142875"/>
                </a:lnTo>
                <a:lnTo>
                  <a:pt x="171450" y="157163"/>
                </a:lnTo>
                <a:cubicBezTo>
                  <a:pt x="171450" y="163681"/>
                  <a:pt x="169932" y="169932"/>
                  <a:pt x="167342" y="175468"/>
                </a:cubicBezTo>
                <a:lnTo>
                  <a:pt x="228600" y="257175"/>
                </a:lnTo>
                <a:lnTo>
                  <a:pt x="300038" y="257175"/>
                </a:lnTo>
                <a:cubicBezTo>
                  <a:pt x="323701" y="257175"/>
                  <a:pt x="342900" y="276374"/>
                  <a:pt x="342900" y="300038"/>
                </a:cubicBezTo>
                <a:lnTo>
                  <a:pt x="342900" y="385763"/>
                </a:lnTo>
                <a:cubicBezTo>
                  <a:pt x="342900" y="409426"/>
                  <a:pt x="323701" y="428625"/>
                  <a:pt x="300038" y="428625"/>
                </a:cubicBezTo>
                <a:lnTo>
                  <a:pt x="214313" y="428625"/>
                </a:lnTo>
                <a:cubicBezTo>
                  <a:pt x="190649" y="428625"/>
                  <a:pt x="171450" y="409426"/>
                  <a:pt x="171450" y="385763"/>
                </a:cubicBezTo>
                <a:lnTo>
                  <a:pt x="171450" y="300038"/>
                </a:lnTo>
                <a:cubicBezTo>
                  <a:pt x="171450" y="293519"/>
                  <a:pt x="172968" y="287268"/>
                  <a:pt x="175558" y="281732"/>
                </a:cubicBezTo>
                <a:lnTo>
                  <a:pt x="114300" y="200025"/>
                </a:lnTo>
                <a:lnTo>
                  <a:pt x="42863" y="200025"/>
                </a:lnTo>
                <a:cubicBezTo>
                  <a:pt x="19199" y="200025"/>
                  <a:pt x="0" y="180826"/>
                  <a:pt x="0" y="157163"/>
                </a:cubicBezTo>
                <a:lnTo>
                  <a:pt x="0" y="71438"/>
                </a:lnTo>
                <a:close/>
              </a:path>
            </a:pathLst>
          </a:custGeom>
          <a:solidFill>
            <a:srgbClr val="8F5C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7975600" y="26924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AST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940800" y="2413000"/>
            <a:ext cx="2082800" cy="50800"/>
          </a:xfrm>
          <a:custGeom>
            <a:avLst/>
            <a:gdLst/>
            <a:ahLst/>
            <a:cxnLst/>
            <a:rect l="l" t="t" r="r" b="b"/>
            <a:pathLst>
              <a:path w="2082800" h="50800">
                <a:moveTo>
                  <a:pt x="0" y="0"/>
                </a:moveTo>
                <a:lnTo>
                  <a:pt x="2082800" y="0"/>
                </a:lnTo>
                <a:lnTo>
                  <a:pt x="20828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F5C9A"/>
              </a:gs>
              <a:gs pos="100000">
                <a:srgbClr val="60A39A"/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11303000" y="2057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303967" y="189934"/>
                </a:moveTo>
                <a:lnTo>
                  <a:pt x="232529" y="304234"/>
                </a:lnTo>
                <a:cubicBezTo>
                  <a:pt x="228779" y="310217"/>
                  <a:pt x="222349" y="313968"/>
                  <a:pt x="215295" y="314325"/>
                </a:cubicBezTo>
                <a:cubicBezTo>
                  <a:pt x="208240" y="314682"/>
                  <a:pt x="201454" y="311468"/>
                  <a:pt x="197257" y="305753"/>
                </a:cubicBezTo>
                <a:lnTo>
                  <a:pt x="154394" y="248602"/>
                </a:lnTo>
                <a:cubicBezTo>
                  <a:pt x="147251" y="239137"/>
                  <a:pt x="149215" y="225743"/>
                  <a:pt x="158681" y="218599"/>
                </a:cubicBezTo>
                <a:cubicBezTo>
                  <a:pt x="168146" y="211455"/>
                  <a:pt x="181541" y="213420"/>
                  <a:pt x="188684" y="222885"/>
                </a:cubicBezTo>
                <a:lnTo>
                  <a:pt x="212794" y="255032"/>
                </a:lnTo>
                <a:lnTo>
                  <a:pt x="267623" y="167253"/>
                </a:lnTo>
                <a:cubicBezTo>
                  <a:pt x="273874" y="157252"/>
                  <a:pt x="287089" y="154126"/>
                  <a:pt x="297180" y="160466"/>
                </a:cubicBezTo>
                <a:cubicBezTo>
                  <a:pt x="307271" y="166807"/>
                  <a:pt x="310307" y="179933"/>
                  <a:pt x="303967" y="190024"/>
                </a:cubicBezTo>
                <a:close/>
              </a:path>
            </a:pathLst>
          </a:custGeom>
          <a:solidFill>
            <a:srgbClr val="60A3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11074400" y="26924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逻辑计划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927600" y="3302000"/>
            <a:ext cx="7010400" cy="1676400"/>
          </a:xfrm>
          <a:custGeom>
            <a:avLst/>
            <a:gdLst/>
            <a:ahLst/>
            <a:cxnLst/>
            <a:rect l="l" t="t" r="r" b="b"/>
            <a:pathLst>
              <a:path w="7010400" h="1676400">
                <a:moveTo>
                  <a:pt x="101607" y="0"/>
                </a:moveTo>
                <a:lnTo>
                  <a:pt x="6908793" y="0"/>
                </a:lnTo>
                <a:cubicBezTo>
                  <a:pt x="6964909" y="0"/>
                  <a:pt x="7010400" y="45491"/>
                  <a:pt x="7010400" y="101607"/>
                </a:cubicBezTo>
                <a:lnTo>
                  <a:pt x="7010400" y="1574793"/>
                </a:lnTo>
                <a:cubicBezTo>
                  <a:pt x="7010400" y="1630909"/>
                  <a:pt x="6964909" y="1676400"/>
                  <a:pt x="6908793" y="1676400"/>
                </a:cubicBezTo>
                <a:lnTo>
                  <a:pt x="101607" y="1676400"/>
                </a:lnTo>
                <a:cubicBezTo>
                  <a:pt x="45491" y="1676400"/>
                  <a:pt x="0" y="1630909"/>
                  <a:pt x="0" y="15747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D3B9D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5130800" y="3505200"/>
            <a:ext cx="670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A95EA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常见解析失败案例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130800" y="3911600"/>
            <a:ext cx="66929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隐式类型不匹配:</a:t>
            </a: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如字符串与整数直接比较。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分区列与数据列冲突:</a:t>
            </a: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在 PARTITIONED BY 子句中重复定义列。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表或列不存在:</a:t>
            </a: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引用了未定义的表或列名。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test-kimi-img.moonshot.cn/pub/slides/slides_tmpl/image/25-08-11-17:38:55-d2crkbv0ctitcgma2i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8750" y="13716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8F5C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逻辑计划与关系代数算子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03200" y="2032000"/>
            <a:ext cx="1178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逻辑计划是 SQL 的抽象表示，由一系列关系代数算子组成，与具体的物理执行引擎解耦。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54000" y="2641600"/>
            <a:ext cx="3759200" cy="1320800"/>
          </a:xfrm>
          <a:custGeom>
            <a:avLst/>
            <a:gdLst/>
            <a:ahLst/>
            <a:cxnLst/>
            <a:rect l="l" t="t" r="r" b="b"/>
            <a:pathLst>
              <a:path w="3759200" h="1320800">
                <a:moveTo>
                  <a:pt x="101596" y="0"/>
                </a:moveTo>
                <a:lnTo>
                  <a:pt x="3657604" y="0"/>
                </a:lnTo>
                <a:cubicBezTo>
                  <a:pt x="3713714" y="0"/>
                  <a:pt x="3759200" y="45486"/>
                  <a:pt x="3759200" y="101596"/>
                </a:cubicBezTo>
                <a:lnTo>
                  <a:pt x="3759200" y="1219204"/>
                </a:lnTo>
                <a:cubicBezTo>
                  <a:pt x="3759200" y="1275314"/>
                  <a:pt x="3713714" y="1320800"/>
                  <a:pt x="36576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D3B9D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2000250" y="28956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52400" y="95250"/>
                </a:moveTo>
                <a:lnTo>
                  <a:pt x="152400" y="152400"/>
                </a:lnTo>
                <a:lnTo>
                  <a:pt x="228600" y="152400"/>
                </a:lnTo>
                <a:lnTo>
                  <a:pt x="228600" y="95250"/>
                </a:lnTo>
                <a:lnTo>
                  <a:pt x="152400" y="95250"/>
                </a:lnTo>
                <a:close/>
                <a:moveTo>
                  <a:pt x="114300" y="95250"/>
                </a:moveTo>
                <a:lnTo>
                  <a:pt x="38100" y="95250"/>
                </a:lnTo>
                <a:lnTo>
                  <a:pt x="38100" y="152400"/>
                </a:lnTo>
                <a:lnTo>
                  <a:pt x="114300" y="152400"/>
                </a:lnTo>
                <a:lnTo>
                  <a:pt x="114300" y="95250"/>
                </a:lnTo>
                <a:close/>
                <a:moveTo>
                  <a:pt x="0" y="190500"/>
                </a:moveTo>
                <a:lnTo>
                  <a:pt x="0" y="57150"/>
                </a:lnTo>
                <a:cubicBezTo>
                  <a:pt x="0" y="36135"/>
                  <a:pt x="17085" y="19050"/>
                  <a:pt x="38100" y="19050"/>
                </a:cubicBezTo>
                <a:lnTo>
                  <a:pt x="228600" y="19050"/>
                </a:lnTo>
                <a:cubicBezTo>
                  <a:pt x="249615" y="19050"/>
                  <a:pt x="266700" y="36135"/>
                  <a:pt x="266700" y="57150"/>
                </a:cubicBezTo>
                <a:lnTo>
                  <a:pt x="266700" y="247650"/>
                </a:lnTo>
                <a:cubicBezTo>
                  <a:pt x="266700" y="268665"/>
                  <a:pt x="249615" y="285750"/>
                  <a:pt x="228600" y="285750"/>
                </a:cubicBezTo>
                <a:lnTo>
                  <a:pt x="38100" y="285750"/>
                </a:lnTo>
                <a:cubicBezTo>
                  <a:pt x="17085" y="285750"/>
                  <a:pt x="0" y="268665"/>
                  <a:pt x="0" y="247650"/>
                </a:cubicBezTo>
                <a:lnTo>
                  <a:pt x="0" y="190500"/>
                </a:lnTo>
                <a:close/>
                <a:moveTo>
                  <a:pt x="228600" y="190500"/>
                </a:moveTo>
                <a:lnTo>
                  <a:pt x="152400" y="190500"/>
                </a:lnTo>
                <a:lnTo>
                  <a:pt x="152400" y="247650"/>
                </a:lnTo>
                <a:lnTo>
                  <a:pt x="228600" y="247650"/>
                </a:lnTo>
                <a:lnTo>
                  <a:pt x="228600" y="190500"/>
                </a:lnTo>
                <a:close/>
                <a:moveTo>
                  <a:pt x="114300" y="247650"/>
                </a:moveTo>
                <a:lnTo>
                  <a:pt x="114300" y="190500"/>
                </a:lnTo>
                <a:lnTo>
                  <a:pt x="38100" y="190500"/>
                </a:lnTo>
                <a:lnTo>
                  <a:pt x="38100" y="247650"/>
                </a:lnTo>
                <a:lnTo>
                  <a:pt x="114300" y="247650"/>
                </a:ln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1577280" y="3302000"/>
            <a:ext cx="111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TableScan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866900" y="3606800"/>
            <a:ext cx="533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表扫描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216400" y="2641600"/>
            <a:ext cx="3759200" cy="1320800"/>
          </a:xfrm>
          <a:custGeom>
            <a:avLst/>
            <a:gdLst/>
            <a:ahLst/>
            <a:cxnLst/>
            <a:rect l="l" t="t" r="r" b="b"/>
            <a:pathLst>
              <a:path w="3759200" h="1320800">
                <a:moveTo>
                  <a:pt x="101596" y="0"/>
                </a:moveTo>
                <a:lnTo>
                  <a:pt x="3657604" y="0"/>
                </a:lnTo>
                <a:cubicBezTo>
                  <a:pt x="3713714" y="0"/>
                  <a:pt x="3759200" y="45486"/>
                  <a:pt x="3759200" y="101596"/>
                </a:cubicBezTo>
                <a:lnTo>
                  <a:pt x="3759200" y="1219204"/>
                </a:lnTo>
                <a:cubicBezTo>
                  <a:pt x="3759200" y="1275314"/>
                  <a:pt x="3713714" y="1320800"/>
                  <a:pt x="36576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D3B9D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5943600" y="2895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50" y="38100"/>
                </a:moveTo>
                <a:cubicBezTo>
                  <a:pt x="11370" y="38100"/>
                  <a:pt x="4405" y="42743"/>
                  <a:pt x="1429" y="49887"/>
                </a:cubicBezTo>
                <a:cubicBezTo>
                  <a:pt x="-1548" y="57031"/>
                  <a:pt x="119" y="65187"/>
                  <a:pt x="5596" y="70604"/>
                </a:cubicBezTo>
                <a:lnTo>
                  <a:pt x="114300" y="179368"/>
                </a:lnTo>
                <a:lnTo>
                  <a:pt x="114300" y="247650"/>
                </a:lnTo>
                <a:cubicBezTo>
                  <a:pt x="114300" y="252710"/>
                  <a:pt x="116324" y="257532"/>
                  <a:pt x="119896" y="261104"/>
                </a:cubicBezTo>
                <a:lnTo>
                  <a:pt x="157996" y="299204"/>
                </a:lnTo>
                <a:cubicBezTo>
                  <a:pt x="163473" y="304681"/>
                  <a:pt x="171629" y="306288"/>
                  <a:pt x="178772" y="303312"/>
                </a:cubicBezTo>
                <a:cubicBezTo>
                  <a:pt x="185916" y="300335"/>
                  <a:pt x="190500" y="293430"/>
                  <a:pt x="190500" y="285750"/>
                </a:cubicBezTo>
                <a:lnTo>
                  <a:pt x="190500" y="179368"/>
                </a:lnTo>
                <a:lnTo>
                  <a:pt x="299204" y="70664"/>
                </a:lnTo>
                <a:cubicBezTo>
                  <a:pt x="304681" y="65187"/>
                  <a:pt x="306288" y="57031"/>
                  <a:pt x="303312" y="49887"/>
                </a:cubicBezTo>
                <a:cubicBezTo>
                  <a:pt x="300335" y="42743"/>
                  <a:pt x="293430" y="38100"/>
                  <a:pt x="285750" y="38100"/>
                </a:cubicBezTo>
                <a:lnTo>
                  <a:pt x="19050" y="38100"/>
                </a:ln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5799931" y="3302000"/>
            <a:ext cx="596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Filter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554960" y="3606800"/>
            <a:ext cx="1079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过滤 (WHERE)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178800" y="2641600"/>
            <a:ext cx="3759200" cy="1320800"/>
          </a:xfrm>
          <a:custGeom>
            <a:avLst/>
            <a:gdLst/>
            <a:ahLst/>
            <a:cxnLst/>
            <a:rect l="l" t="t" r="r" b="b"/>
            <a:pathLst>
              <a:path w="3759200" h="1320800">
                <a:moveTo>
                  <a:pt x="101596" y="0"/>
                </a:moveTo>
                <a:lnTo>
                  <a:pt x="3657604" y="0"/>
                </a:lnTo>
                <a:cubicBezTo>
                  <a:pt x="3713714" y="0"/>
                  <a:pt x="3759200" y="45486"/>
                  <a:pt x="3759200" y="101596"/>
                </a:cubicBezTo>
                <a:lnTo>
                  <a:pt x="3759200" y="1219204"/>
                </a:lnTo>
                <a:cubicBezTo>
                  <a:pt x="3759200" y="1275314"/>
                  <a:pt x="3713714" y="1320800"/>
                  <a:pt x="36576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D3B9D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9925050" y="28956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0" y="57150"/>
                </a:moveTo>
                <a:cubicBezTo>
                  <a:pt x="0" y="36135"/>
                  <a:pt x="17085" y="19050"/>
                  <a:pt x="38100" y="19050"/>
                </a:cubicBezTo>
                <a:lnTo>
                  <a:pt x="228600" y="19050"/>
                </a:lnTo>
                <a:cubicBezTo>
                  <a:pt x="249615" y="19050"/>
                  <a:pt x="266700" y="36135"/>
                  <a:pt x="266700" y="57150"/>
                </a:cubicBezTo>
                <a:lnTo>
                  <a:pt x="266700" y="247650"/>
                </a:lnTo>
                <a:cubicBezTo>
                  <a:pt x="266700" y="268665"/>
                  <a:pt x="249615" y="285750"/>
                  <a:pt x="228600" y="285750"/>
                </a:cubicBezTo>
                <a:lnTo>
                  <a:pt x="38100" y="285750"/>
                </a:lnTo>
                <a:cubicBezTo>
                  <a:pt x="17085" y="285750"/>
                  <a:pt x="0" y="268665"/>
                  <a:pt x="0" y="247650"/>
                </a:cubicBezTo>
                <a:lnTo>
                  <a:pt x="0" y="57150"/>
                </a:lnTo>
                <a:close/>
                <a:moveTo>
                  <a:pt x="38100" y="95250"/>
                </a:moveTo>
                <a:lnTo>
                  <a:pt x="38100" y="247650"/>
                </a:lnTo>
                <a:lnTo>
                  <a:pt x="114300" y="247650"/>
                </a:lnTo>
                <a:lnTo>
                  <a:pt x="114300" y="95250"/>
                </a:lnTo>
                <a:lnTo>
                  <a:pt x="38100" y="95250"/>
                </a:lnTo>
                <a:close/>
                <a:moveTo>
                  <a:pt x="228600" y="95250"/>
                </a:moveTo>
                <a:lnTo>
                  <a:pt x="152400" y="95250"/>
                </a:lnTo>
                <a:lnTo>
                  <a:pt x="152400" y="247650"/>
                </a:lnTo>
                <a:lnTo>
                  <a:pt x="228600" y="247650"/>
                </a:lnTo>
                <a:lnTo>
                  <a:pt x="228600" y="95250"/>
                </a:ln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9662616" y="3302000"/>
            <a:ext cx="787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499005" y="3606800"/>
            <a:ext cx="1117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投影 (SELECT)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254000" y="4165600"/>
            <a:ext cx="3759200" cy="1320800"/>
          </a:xfrm>
          <a:custGeom>
            <a:avLst/>
            <a:gdLst/>
            <a:ahLst/>
            <a:cxnLst/>
            <a:rect l="l" t="t" r="r" b="b"/>
            <a:pathLst>
              <a:path w="3759200" h="1320800">
                <a:moveTo>
                  <a:pt x="101596" y="0"/>
                </a:moveTo>
                <a:lnTo>
                  <a:pt x="3657604" y="0"/>
                </a:lnTo>
                <a:cubicBezTo>
                  <a:pt x="3713714" y="0"/>
                  <a:pt x="3759200" y="45486"/>
                  <a:pt x="3759200" y="101596"/>
                </a:cubicBezTo>
                <a:lnTo>
                  <a:pt x="3759200" y="1219204"/>
                </a:lnTo>
                <a:cubicBezTo>
                  <a:pt x="3759200" y="1275314"/>
                  <a:pt x="3713714" y="1320800"/>
                  <a:pt x="36576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D3B9D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7"/>
          <p:cNvSpPr/>
          <p:nvPr/>
        </p:nvSpPr>
        <p:spPr>
          <a:xfrm>
            <a:off x="1962150" y="44196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49734" y="57150"/>
                </a:moveTo>
                <a:cubicBezTo>
                  <a:pt x="239851" y="57150"/>
                  <a:pt x="230267" y="59829"/>
                  <a:pt x="221873" y="64710"/>
                </a:cubicBezTo>
                <a:cubicBezTo>
                  <a:pt x="212467" y="55185"/>
                  <a:pt x="201513" y="47208"/>
                  <a:pt x="189428" y="41196"/>
                </a:cubicBezTo>
                <a:cubicBezTo>
                  <a:pt x="206216" y="26908"/>
                  <a:pt x="227588" y="19050"/>
                  <a:pt x="249734" y="19050"/>
                </a:cubicBezTo>
                <a:cubicBezTo>
                  <a:pt x="301169" y="19050"/>
                  <a:pt x="342900" y="60722"/>
                  <a:pt x="342900" y="112216"/>
                </a:cubicBezTo>
                <a:cubicBezTo>
                  <a:pt x="342900" y="136922"/>
                  <a:pt x="333077" y="160615"/>
                  <a:pt x="315635" y="178058"/>
                </a:cubicBezTo>
                <a:lnTo>
                  <a:pt x="273308" y="220385"/>
                </a:lnTo>
                <a:cubicBezTo>
                  <a:pt x="255865" y="237827"/>
                  <a:pt x="232172" y="247650"/>
                  <a:pt x="207466" y="247650"/>
                </a:cubicBezTo>
                <a:cubicBezTo>
                  <a:pt x="156031" y="247650"/>
                  <a:pt x="114300" y="205978"/>
                  <a:pt x="114300" y="154484"/>
                </a:cubicBezTo>
                <a:cubicBezTo>
                  <a:pt x="114300" y="153591"/>
                  <a:pt x="114300" y="152698"/>
                  <a:pt x="114360" y="151805"/>
                </a:cubicBezTo>
                <a:cubicBezTo>
                  <a:pt x="114657" y="141268"/>
                  <a:pt x="123408" y="132993"/>
                  <a:pt x="133945" y="133290"/>
                </a:cubicBezTo>
                <a:cubicBezTo>
                  <a:pt x="144482" y="133588"/>
                  <a:pt x="152757" y="142339"/>
                  <a:pt x="152460" y="152876"/>
                </a:cubicBezTo>
                <a:cubicBezTo>
                  <a:pt x="152460" y="153412"/>
                  <a:pt x="152460" y="153948"/>
                  <a:pt x="152460" y="154424"/>
                </a:cubicBezTo>
                <a:cubicBezTo>
                  <a:pt x="152460" y="184845"/>
                  <a:pt x="177105" y="209490"/>
                  <a:pt x="207526" y="209490"/>
                </a:cubicBezTo>
                <a:cubicBezTo>
                  <a:pt x="222111" y="209490"/>
                  <a:pt x="236101" y="203716"/>
                  <a:pt x="246459" y="193358"/>
                </a:cubicBezTo>
                <a:lnTo>
                  <a:pt x="288786" y="151031"/>
                </a:lnTo>
                <a:cubicBezTo>
                  <a:pt x="299085" y="140732"/>
                  <a:pt x="304919" y="126683"/>
                  <a:pt x="304919" y="112097"/>
                </a:cubicBezTo>
                <a:cubicBezTo>
                  <a:pt x="304919" y="81677"/>
                  <a:pt x="280273" y="57031"/>
                  <a:pt x="249853" y="57031"/>
                </a:cubicBezTo>
                <a:close/>
                <a:moveTo>
                  <a:pt x="163830" y="103168"/>
                </a:moveTo>
                <a:cubicBezTo>
                  <a:pt x="162699" y="102691"/>
                  <a:pt x="161568" y="102037"/>
                  <a:pt x="160556" y="101322"/>
                </a:cubicBezTo>
                <a:cubicBezTo>
                  <a:pt x="153055" y="97453"/>
                  <a:pt x="144482" y="95250"/>
                  <a:pt x="135493" y="95250"/>
                </a:cubicBezTo>
                <a:cubicBezTo>
                  <a:pt x="120908" y="95250"/>
                  <a:pt x="106918" y="101025"/>
                  <a:pt x="96560" y="111383"/>
                </a:cubicBezTo>
                <a:lnTo>
                  <a:pt x="54233" y="153710"/>
                </a:lnTo>
                <a:cubicBezTo>
                  <a:pt x="43934" y="164009"/>
                  <a:pt x="38100" y="178058"/>
                  <a:pt x="38100" y="192643"/>
                </a:cubicBezTo>
                <a:cubicBezTo>
                  <a:pt x="38100" y="223064"/>
                  <a:pt x="62746" y="247710"/>
                  <a:pt x="93166" y="247710"/>
                </a:cubicBezTo>
                <a:cubicBezTo>
                  <a:pt x="102989" y="247710"/>
                  <a:pt x="112574" y="245090"/>
                  <a:pt x="120967" y="240209"/>
                </a:cubicBezTo>
                <a:cubicBezTo>
                  <a:pt x="130373" y="249734"/>
                  <a:pt x="141327" y="257711"/>
                  <a:pt x="153472" y="263723"/>
                </a:cubicBezTo>
                <a:cubicBezTo>
                  <a:pt x="136684" y="277951"/>
                  <a:pt x="115372" y="285869"/>
                  <a:pt x="93166" y="285869"/>
                </a:cubicBezTo>
                <a:cubicBezTo>
                  <a:pt x="41731" y="285869"/>
                  <a:pt x="0" y="244197"/>
                  <a:pt x="0" y="192703"/>
                </a:cubicBezTo>
                <a:cubicBezTo>
                  <a:pt x="0" y="167997"/>
                  <a:pt x="9823" y="144304"/>
                  <a:pt x="27265" y="126861"/>
                </a:cubicBezTo>
                <a:lnTo>
                  <a:pt x="69592" y="84534"/>
                </a:lnTo>
                <a:cubicBezTo>
                  <a:pt x="87035" y="67092"/>
                  <a:pt x="110728" y="57269"/>
                  <a:pt x="135434" y="57269"/>
                </a:cubicBezTo>
                <a:cubicBezTo>
                  <a:pt x="186988" y="57269"/>
                  <a:pt x="228600" y="99298"/>
                  <a:pt x="228600" y="150674"/>
                </a:cubicBezTo>
                <a:cubicBezTo>
                  <a:pt x="228600" y="151448"/>
                  <a:pt x="228600" y="152221"/>
                  <a:pt x="228600" y="152995"/>
                </a:cubicBezTo>
                <a:cubicBezTo>
                  <a:pt x="228362" y="163532"/>
                  <a:pt x="219611" y="171807"/>
                  <a:pt x="209074" y="171569"/>
                </a:cubicBezTo>
                <a:cubicBezTo>
                  <a:pt x="198537" y="171331"/>
                  <a:pt x="190262" y="162580"/>
                  <a:pt x="190500" y="152043"/>
                </a:cubicBezTo>
                <a:cubicBezTo>
                  <a:pt x="190500" y="151567"/>
                  <a:pt x="190500" y="151150"/>
                  <a:pt x="190500" y="150674"/>
                </a:cubicBezTo>
                <a:cubicBezTo>
                  <a:pt x="190500" y="130612"/>
                  <a:pt x="179784" y="112990"/>
                  <a:pt x="163830" y="103287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1880195" y="4826000"/>
            <a:ext cx="50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Join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943100" y="513080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连接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216400" y="4165600"/>
            <a:ext cx="3759200" cy="1320800"/>
          </a:xfrm>
          <a:custGeom>
            <a:avLst/>
            <a:gdLst/>
            <a:ahLst/>
            <a:cxnLst/>
            <a:rect l="l" t="t" r="r" b="b"/>
            <a:pathLst>
              <a:path w="3759200" h="1320800">
                <a:moveTo>
                  <a:pt x="101596" y="0"/>
                </a:moveTo>
                <a:lnTo>
                  <a:pt x="3657604" y="0"/>
                </a:lnTo>
                <a:cubicBezTo>
                  <a:pt x="3713714" y="0"/>
                  <a:pt x="3759200" y="45486"/>
                  <a:pt x="3759200" y="101596"/>
                </a:cubicBezTo>
                <a:lnTo>
                  <a:pt x="3759200" y="1219204"/>
                </a:lnTo>
                <a:cubicBezTo>
                  <a:pt x="3759200" y="1275314"/>
                  <a:pt x="3713714" y="1320800"/>
                  <a:pt x="36576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D3B9D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1"/>
          <p:cNvSpPr/>
          <p:nvPr/>
        </p:nvSpPr>
        <p:spPr>
          <a:xfrm>
            <a:off x="5943600" y="4419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69069" y="-774"/>
                </a:moveTo>
                <a:cubicBezTo>
                  <a:pt x="158770" y="-6727"/>
                  <a:pt x="146030" y="-6727"/>
                  <a:pt x="135731" y="-774"/>
                </a:cubicBezTo>
                <a:lnTo>
                  <a:pt x="85606" y="28158"/>
                </a:lnTo>
                <a:cubicBezTo>
                  <a:pt x="75307" y="34111"/>
                  <a:pt x="68937" y="45125"/>
                  <a:pt x="68937" y="57031"/>
                </a:cubicBezTo>
                <a:lnTo>
                  <a:pt x="68937" y="117693"/>
                </a:lnTo>
                <a:lnTo>
                  <a:pt x="16371" y="148054"/>
                </a:lnTo>
                <a:cubicBezTo>
                  <a:pt x="6072" y="154007"/>
                  <a:pt x="-298" y="165021"/>
                  <a:pt x="-298" y="176927"/>
                </a:cubicBezTo>
                <a:lnTo>
                  <a:pt x="-298" y="234851"/>
                </a:lnTo>
                <a:cubicBezTo>
                  <a:pt x="-298" y="246757"/>
                  <a:pt x="6072" y="257770"/>
                  <a:pt x="16371" y="263723"/>
                </a:cubicBezTo>
                <a:lnTo>
                  <a:pt x="66556" y="292656"/>
                </a:lnTo>
                <a:cubicBezTo>
                  <a:pt x="76855" y="298609"/>
                  <a:pt x="89595" y="298609"/>
                  <a:pt x="99893" y="292656"/>
                </a:cubicBezTo>
                <a:lnTo>
                  <a:pt x="152460" y="262295"/>
                </a:lnTo>
                <a:lnTo>
                  <a:pt x="205026" y="292656"/>
                </a:lnTo>
                <a:cubicBezTo>
                  <a:pt x="215325" y="298609"/>
                  <a:pt x="228064" y="298609"/>
                  <a:pt x="238363" y="292656"/>
                </a:cubicBezTo>
                <a:lnTo>
                  <a:pt x="288429" y="263723"/>
                </a:lnTo>
                <a:cubicBezTo>
                  <a:pt x="298728" y="257770"/>
                  <a:pt x="305098" y="246757"/>
                  <a:pt x="305098" y="234851"/>
                </a:cubicBezTo>
                <a:lnTo>
                  <a:pt x="305098" y="176927"/>
                </a:lnTo>
                <a:cubicBezTo>
                  <a:pt x="305098" y="165021"/>
                  <a:pt x="298728" y="154007"/>
                  <a:pt x="288429" y="148054"/>
                </a:cubicBezTo>
                <a:lnTo>
                  <a:pt x="235863" y="117693"/>
                </a:lnTo>
                <a:lnTo>
                  <a:pt x="235863" y="57031"/>
                </a:lnTo>
                <a:cubicBezTo>
                  <a:pt x="235863" y="45125"/>
                  <a:pt x="229493" y="34111"/>
                  <a:pt x="219194" y="28158"/>
                </a:cubicBezTo>
                <a:lnTo>
                  <a:pt x="169069" y="-774"/>
                </a:lnTo>
                <a:close/>
                <a:moveTo>
                  <a:pt x="138113" y="174188"/>
                </a:moveTo>
                <a:lnTo>
                  <a:pt x="138113" y="237589"/>
                </a:lnTo>
                <a:lnTo>
                  <a:pt x="85546" y="267950"/>
                </a:lnTo>
                <a:cubicBezTo>
                  <a:pt x="84832" y="268367"/>
                  <a:pt x="83999" y="268605"/>
                  <a:pt x="83165" y="268605"/>
                </a:cubicBezTo>
                <a:lnTo>
                  <a:pt x="83165" y="205919"/>
                </a:lnTo>
                <a:lnTo>
                  <a:pt x="138113" y="174188"/>
                </a:lnTo>
                <a:close/>
                <a:moveTo>
                  <a:pt x="275868" y="174546"/>
                </a:moveTo>
                <a:cubicBezTo>
                  <a:pt x="276285" y="175260"/>
                  <a:pt x="276523" y="176093"/>
                  <a:pt x="276523" y="176927"/>
                </a:cubicBezTo>
                <a:lnTo>
                  <a:pt x="276523" y="234851"/>
                </a:lnTo>
                <a:cubicBezTo>
                  <a:pt x="276523" y="236577"/>
                  <a:pt x="275630" y="238125"/>
                  <a:pt x="274141" y="238958"/>
                </a:cubicBezTo>
                <a:lnTo>
                  <a:pt x="223957" y="267891"/>
                </a:lnTo>
                <a:cubicBezTo>
                  <a:pt x="223242" y="268307"/>
                  <a:pt x="222409" y="268545"/>
                  <a:pt x="221575" y="268545"/>
                </a:cubicBezTo>
                <a:lnTo>
                  <a:pt x="221575" y="205859"/>
                </a:lnTo>
                <a:lnTo>
                  <a:pt x="275868" y="174546"/>
                </a:lnTo>
                <a:close/>
                <a:moveTo>
                  <a:pt x="207347" y="57031"/>
                </a:moveTo>
                <a:lnTo>
                  <a:pt x="207347" y="117693"/>
                </a:lnTo>
                <a:lnTo>
                  <a:pt x="152400" y="149423"/>
                </a:lnTo>
                <a:lnTo>
                  <a:pt x="152400" y="86023"/>
                </a:lnTo>
                <a:lnTo>
                  <a:pt x="206692" y="54709"/>
                </a:lnTo>
                <a:cubicBezTo>
                  <a:pt x="207109" y="55424"/>
                  <a:pt x="207347" y="56257"/>
                  <a:pt x="207347" y="57090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2"/>
          <p:cNvSpPr/>
          <p:nvPr/>
        </p:nvSpPr>
        <p:spPr>
          <a:xfrm>
            <a:off x="5544542" y="4826000"/>
            <a:ext cx="110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Aggregate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431631" y="5130800"/>
            <a:ext cx="1333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聚合 (GROUP BY)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178800" y="4165600"/>
            <a:ext cx="3759200" cy="1320800"/>
          </a:xfrm>
          <a:custGeom>
            <a:avLst/>
            <a:gdLst/>
            <a:ahLst/>
            <a:cxnLst/>
            <a:rect l="l" t="t" r="r" b="b"/>
            <a:pathLst>
              <a:path w="3759200" h="1320800">
                <a:moveTo>
                  <a:pt x="101596" y="0"/>
                </a:moveTo>
                <a:lnTo>
                  <a:pt x="3657604" y="0"/>
                </a:lnTo>
                <a:cubicBezTo>
                  <a:pt x="3713714" y="0"/>
                  <a:pt x="3759200" y="45486"/>
                  <a:pt x="3759200" y="101596"/>
                </a:cubicBezTo>
                <a:lnTo>
                  <a:pt x="3759200" y="1219204"/>
                </a:lnTo>
                <a:cubicBezTo>
                  <a:pt x="3759200" y="1275314"/>
                  <a:pt x="3713714" y="1320800"/>
                  <a:pt x="36576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D3B9D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5"/>
          <p:cNvSpPr/>
          <p:nvPr/>
        </p:nvSpPr>
        <p:spPr>
          <a:xfrm>
            <a:off x="9906000" y="4419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7279" y="232529"/>
                </a:moveTo>
                <a:lnTo>
                  <a:pt x="89654" y="280154"/>
                </a:lnTo>
                <a:cubicBezTo>
                  <a:pt x="82213" y="287595"/>
                  <a:pt x="70128" y="287595"/>
                  <a:pt x="62686" y="280154"/>
                </a:cubicBezTo>
                <a:lnTo>
                  <a:pt x="15061" y="232529"/>
                </a:lnTo>
                <a:cubicBezTo>
                  <a:pt x="7620" y="225088"/>
                  <a:pt x="7620" y="213003"/>
                  <a:pt x="15061" y="205561"/>
                </a:cubicBezTo>
                <a:cubicBezTo>
                  <a:pt x="22503" y="198120"/>
                  <a:pt x="34588" y="198120"/>
                  <a:pt x="42029" y="205561"/>
                </a:cubicBezTo>
                <a:lnTo>
                  <a:pt x="57150" y="220682"/>
                </a:lnTo>
                <a:lnTo>
                  <a:pt x="57150" y="38100"/>
                </a:lnTo>
                <a:cubicBezTo>
                  <a:pt x="57150" y="27563"/>
                  <a:pt x="65663" y="19050"/>
                  <a:pt x="76200" y="19050"/>
                </a:cubicBezTo>
                <a:cubicBezTo>
                  <a:pt x="86737" y="19050"/>
                  <a:pt x="95250" y="27563"/>
                  <a:pt x="95250" y="38100"/>
                </a:cubicBezTo>
                <a:lnTo>
                  <a:pt x="95250" y="220682"/>
                </a:lnTo>
                <a:lnTo>
                  <a:pt x="110371" y="205561"/>
                </a:lnTo>
                <a:cubicBezTo>
                  <a:pt x="117812" y="198120"/>
                  <a:pt x="129897" y="198120"/>
                  <a:pt x="137339" y="205561"/>
                </a:cubicBezTo>
                <a:cubicBezTo>
                  <a:pt x="144780" y="213003"/>
                  <a:pt x="144780" y="225088"/>
                  <a:pt x="137339" y="232529"/>
                </a:cubicBezTo>
                <a:close/>
                <a:moveTo>
                  <a:pt x="245626" y="29587"/>
                </a:moveTo>
                <a:cubicBezTo>
                  <a:pt x="275808" y="89892"/>
                  <a:pt x="291644" y="121682"/>
                  <a:pt x="293251" y="124837"/>
                </a:cubicBezTo>
                <a:cubicBezTo>
                  <a:pt x="297954" y="134243"/>
                  <a:pt x="294144" y="145673"/>
                  <a:pt x="284738" y="150376"/>
                </a:cubicBezTo>
                <a:cubicBezTo>
                  <a:pt x="275332" y="155079"/>
                  <a:pt x="263902" y="151269"/>
                  <a:pt x="259199" y="141863"/>
                </a:cubicBezTo>
                <a:lnTo>
                  <a:pt x="254913" y="133350"/>
                </a:lnTo>
                <a:lnTo>
                  <a:pt x="202287" y="133350"/>
                </a:lnTo>
                <a:lnTo>
                  <a:pt x="198001" y="141863"/>
                </a:lnTo>
                <a:cubicBezTo>
                  <a:pt x="193298" y="151269"/>
                  <a:pt x="181868" y="155079"/>
                  <a:pt x="172462" y="150376"/>
                </a:cubicBezTo>
                <a:cubicBezTo>
                  <a:pt x="163056" y="145673"/>
                  <a:pt x="159246" y="134243"/>
                  <a:pt x="163949" y="124837"/>
                </a:cubicBezTo>
                <a:cubicBezTo>
                  <a:pt x="165556" y="121682"/>
                  <a:pt x="181392" y="89892"/>
                  <a:pt x="211574" y="29587"/>
                </a:cubicBezTo>
                <a:cubicBezTo>
                  <a:pt x="214789" y="23158"/>
                  <a:pt x="221397" y="19050"/>
                  <a:pt x="228600" y="19050"/>
                </a:cubicBezTo>
                <a:cubicBezTo>
                  <a:pt x="235803" y="19050"/>
                  <a:pt x="242411" y="23098"/>
                  <a:pt x="245626" y="29587"/>
                </a:cubicBezTo>
                <a:close/>
                <a:moveTo>
                  <a:pt x="228600" y="80724"/>
                </a:moveTo>
                <a:lnTo>
                  <a:pt x="216575" y="104775"/>
                </a:lnTo>
                <a:lnTo>
                  <a:pt x="240625" y="104775"/>
                </a:lnTo>
                <a:lnTo>
                  <a:pt x="228600" y="80724"/>
                </a:lnTo>
                <a:close/>
                <a:moveTo>
                  <a:pt x="171450" y="190500"/>
                </a:moveTo>
                <a:cubicBezTo>
                  <a:pt x="171450" y="179963"/>
                  <a:pt x="179963" y="171450"/>
                  <a:pt x="190500" y="171450"/>
                </a:cubicBezTo>
                <a:lnTo>
                  <a:pt x="266700" y="171450"/>
                </a:lnTo>
                <a:cubicBezTo>
                  <a:pt x="274380" y="171450"/>
                  <a:pt x="281345" y="176093"/>
                  <a:pt x="284321" y="183237"/>
                </a:cubicBezTo>
                <a:cubicBezTo>
                  <a:pt x="287298" y="190381"/>
                  <a:pt x="285631" y="198537"/>
                  <a:pt x="280214" y="204014"/>
                </a:cubicBezTo>
                <a:lnTo>
                  <a:pt x="236518" y="247650"/>
                </a:lnTo>
                <a:lnTo>
                  <a:pt x="266700" y="247650"/>
                </a:lnTo>
                <a:cubicBezTo>
                  <a:pt x="277237" y="247650"/>
                  <a:pt x="285750" y="256163"/>
                  <a:pt x="285750" y="266700"/>
                </a:cubicBezTo>
                <a:cubicBezTo>
                  <a:pt x="285750" y="277237"/>
                  <a:pt x="277237" y="285750"/>
                  <a:pt x="266700" y="285750"/>
                </a:cubicBezTo>
                <a:lnTo>
                  <a:pt x="190500" y="285750"/>
                </a:lnTo>
                <a:cubicBezTo>
                  <a:pt x="182820" y="285750"/>
                  <a:pt x="175855" y="281107"/>
                  <a:pt x="172879" y="273963"/>
                </a:cubicBezTo>
                <a:cubicBezTo>
                  <a:pt x="169902" y="266819"/>
                  <a:pt x="171569" y="258663"/>
                  <a:pt x="176986" y="253186"/>
                </a:cubicBezTo>
                <a:lnTo>
                  <a:pt x="220682" y="209490"/>
                </a:lnTo>
                <a:lnTo>
                  <a:pt x="190500" y="209490"/>
                </a:lnTo>
                <a:cubicBezTo>
                  <a:pt x="179963" y="209490"/>
                  <a:pt x="171450" y="200977"/>
                  <a:pt x="171450" y="190440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6"/>
          <p:cNvSpPr/>
          <p:nvPr/>
        </p:nvSpPr>
        <p:spPr>
          <a:xfrm>
            <a:off x="9805690" y="4826000"/>
            <a:ext cx="50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Sort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9400480" y="5130800"/>
            <a:ext cx="1320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排序 (ORDER BY)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test-kimi-img.moonshot.cn/pub/slides/slides_tmpl/image/25-08-11-17:38:55-d2crkbv0ctitcgma2i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30549" y="1320800"/>
            <a:ext cx="772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8F5C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规则优化：谓词下推 (Predicate Pushdown)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44500" y="2082800"/>
            <a:ext cx="4800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优化前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2540000"/>
            <a:ext cx="4673600" cy="2032000"/>
          </a:xfrm>
          <a:custGeom>
            <a:avLst/>
            <a:gdLst/>
            <a:ahLst/>
            <a:cxnLst/>
            <a:rect l="l" t="t" r="r" b="b"/>
            <a:pathLst>
              <a:path w="4673600" h="2032000">
                <a:moveTo>
                  <a:pt x="101600" y="0"/>
                </a:moveTo>
                <a:lnTo>
                  <a:pt x="4572000" y="0"/>
                </a:lnTo>
                <a:cubicBezTo>
                  <a:pt x="4628075" y="0"/>
                  <a:pt x="4673600" y="45525"/>
                  <a:pt x="4673600" y="101600"/>
                </a:cubicBezTo>
                <a:lnTo>
                  <a:pt x="4673600" y="1930400"/>
                </a:lnTo>
                <a:cubicBezTo>
                  <a:pt x="4673600" y="1986475"/>
                  <a:pt x="4628075" y="2032000"/>
                  <a:pt x="4572000" y="2032000"/>
                </a:cubicBezTo>
                <a:lnTo>
                  <a:pt x="101600" y="2032000"/>
                </a:lnTo>
                <a:cubicBezTo>
                  <a:pt x="45525" y="2032000"/>
                  <a:pt x="0" y="1986475"/>
                  <a:pt x="0" y="1930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D3B9D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1622822" y="3060700"/>
            <a:ext cx="243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Filter(region='North')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667272" y="3365500"/>
            <a:ext cx="2349500" cy="12700"/>
          </a:xfrm>
          <a:custGeom>
            <a:avLst/>
            <a:gdLst/>
            <a:ahLst/>
            <a:cxnLst/>
            <a:rect l="l" t="t" r="r" b="b"/>
            <a:pathLst>
              <a:path w="2349500" h="12700">
                <a:moveTo>
                  <a:pt x="0" y="0"/>
                </a:moveTo>
                <a:lnTo>
                  <a:pt x="2349500" y="0"/>
                </a:lnTo>
                <a:lnTo>
                  <a:pt x="23495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1622822" y="3429000"/>
            <a:ext cx="243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Filter(year=2023)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667272" y="3733800"/>
            <a:ext cx="2349500" cy="12700"/>
          </a:xfrm>
          <a:custGeom>
            <a:avLst/>
            <a:gdLst/>
            <a:ahLst/>
            <a:cxnLst/>
            <a:rect l="l" t="t" r="r" b="b"/>
            <a:pathLst>
              <a:path w="2349500" h="12700">
                <a:moveTo>
                  <a:pt x="0" y="0"/>
                </a:moveTo>
                <a:lnTo>
                  <a:pt x="2349500" y="0"/>
                </a:lnTo>
                <a:lnTo>
                  <a:pt x="23495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1622822" y="3797300"/>
            <a:ext cx="243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TableScan(sales)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63550" y="4673600"/>
            <a:ext cx="4762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先扫描全表，再逐层过滤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867400" y="3073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48806" y="248781"/>
                </a:moveTo>
                <a:cubicBezTo>
                  <a:pt x="459968" y="237619"/>
                  <a:pt x="459968" y="219492"/>
                  <a:pt x="448806" y="208330"/>
                </a:cubicBezTo>
                <a:lnTo>
                  <a:pt x="305931" y="65455"/>
                </a:lnTo>
                <a:cubicBezTo>
                  <a:pt x="294769" y="54293"/>
                  <a:pt x="276642" y="54293"/>
                  <a:pt x="265480" y="65455"/>
                </a:cubicBezTo>
                <a:cubicBezTo>
                  <a:pt x="254318" y="76617"/>
                  <a:pt x="254318" y="94744"/>
                  <a:pt x="265480" y="105906"/>
                </a:cubicBezTo>
                <a:lnTo>
                  <a:pt x="359599" y="200025"/>
                </a:lnTo>
                <a:lnTo>
                  <a:pt x="28575" y="200025"/>
                </a:lnTo>
                <a:cubicBezTo>
                  <a:pt x="12769" y="200025"/>
                  <a:pt x="0" y="212794"/>
                  <a:pt x="0" y="228600"/>
                </a:cubicBezTo>
                <a:cubicBezTo>
                  <a:pt x="0" y="244406"/>
                  <a:pt x="12769" y="257175"/>
                  <a:pt x="28575" y="257175"/>
                </a:cubicBezTo>
                <a:lnTo>
                  <a:pt x="359599" y="257175"/>
                </a:lnTo>
                <a:lnTo>
                  <a:pt x="265480" y="351294"/>
                </a:lnTo>
                <a:cubicBezTo>
                  <a:pt x="254317" y="362456"/>
                  <a:pt x="254317" y="380583"/>
                  <a:pt x="265480" y="391745"/>
                </a:cubicBezTo>
                <a:cubicBezTo>
                  <a:pt x="276642" y="402908"/>
                  <a:pt x="294769" y="402908"/>
                  <a:pt x="305931" y="391745"/>
                </a:cubicBezTo>
                <a:lnTo>
                  <a:pt x="448806" y="248870"/>
                </a:lnTo>
                <a:close/>
              </a:path>
            </a:pathLst>
          </a:custGeom>
          <a:solidFill>
            <a:srgbClr val="60A3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5689600" y="38100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60A3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优化规则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946900" y="2082800"/>
            <a:ext cx="4800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优化后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010400" y="2540000"/>
            <a:ext cx="4673600" cy="2032000"/>
          </a:xfrm>
          <a:custGeom>
            <a:avLst/>
            <a:gdLst/>
            <a:ahLst/>
            <a:cxnLst/>
            <a:rect l="l" t="t" r="r" b="b"/>
            <a:pathLst>
              <a:path w="4673600" h="2032000">
                <a:moveTo>
                  <a:pt x="101600" y="0"/>
                </a:moveTo>
                <a:lnTo>
                  <a:pt x="4572000" y="0"/>
                </a:lnTo>
                <a:cubicBezTo>
                  <a:pt x="4628075" y="0"/>
                  <a:pt x="4673600" y="45525"/>
                  <a:pt x="4673600" y="101600"/>
                </a:cubicBezTo>
                <a:lnTo>
                  <a:pt x="4673600" y="1930400"/>
                </a:lnTo>
                <a:cubicBezTo>
                  <a:pt x="4673600" y="1986475"/>
                  <a:pt x="4628075" y="2032000"/>
                  <a:pt x="4572000" y="2032000"/>
                </a:cubicBezTo>
                <a:lnTo>
                  <a:pt x="101600" y="2032000"/>
                </a:lnTo>
                <a:cubicBezTo>
                  <a:pt x="45525" y="2032000"/>
                  <a:pt x="0" y="1986475"/>
                  <a:pt x="0" y="1930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D3B9D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7375922" y="3244850"/>
            <a:ext cx="393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Filter(region='North' AND year=2023)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420372" y="3549650"/>
            <a:ext cx="3848100" cy="12700"/>
          </a:xfrm>
          <a:custGeom>
            <a:avLst/>
            <a:gdLst/>
            <a:ahLst/>
            <a:cxnLst/>
            <a:rect l="l" t="t" r="r" b="b"/>
            <a:pathLst>
              <a:path w="3848100" h="12700">
                <a:moveTo>
                  <a:pt x="0" y="0"/>
                </a:moveTo>
                <a:lnTo>
                  <a:pt x="3848100" y="0"/>
                </a:lnTo>
                <a:lnTo>
                  <a:pt x="38481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7375922" y="3613150"/>
            <a:ext cx="393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TableScan(sales)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965950" y="4673600"/>
            <a:ext cx="4762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扫描时直接过滤，减少I/O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574800" y="5232400"/>
            <a:ext cx="904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通过将过滤条件尽可能下推到数据源，</a:t>
            </a:r>
            <a:r>
              <a:rPr lang="en-US" sz="1600" dirty="0">
                <a:solidFill>
                  <a:srgbClr val="3C3542"/>
                </a:solidFill>
                <a:highlight>
                  <a:srgbClr val="D3B9D7">
                    <a:alpha val="667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显著减少需要读取和处理的数据量 </a:t>
            </a:r>
            <a:r>
              <a:rPr lang="en-US" sz="16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，是提升查询性能的关键。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test-kimi-img.moonshot.cn/pub/slides/slides_tmpl/image/25-08-11-17:38:55-d2crkbv0ctitcgma2i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4000" y="1854200"/>
            <a:ext cx="5829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8F5C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成本优化器 (CBO) 与统计信息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54000" y="2514600"/>
            <a:ext cx="5740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CBO 基于统计信息估算不同执行计划的成本，选择最优方案。统计信息的准确性和时效性至关重要。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54000" y="3327400"/>
            <a:ext cx="5638800" cy="1676400"/>
          </a:xfrm>
          <a:custGeom>
            <a:avLst/>
            <a:gdLst/>
            <a:ahLst/>
            <a:cxnLst/>
            <a:rect l="l" t="t" r="r" b="b"/>
            <a:pathLst>
              <a:path w="5638800" h="1676400">
                <a:moveTo>
                  <a:pt x="101607" y="0"/>
                </a:moveTo>
                <a:lnTo>
                  <a:pt x="5537193" y="0"/>
                </a:lnTo>
                <a:cubicBezTo>
                  <a:pt x="5593309" y="0"/>
                  <a:pt x="5638800" y="45491"/>
                  <a:pt x="5638800" y="101607"/>
                </a:cubicBezTo>
                <a:lnTo>
                  <a:pt x="5638800" y="1574793"/>
                </a:lnTo>
                <a:cubicBezTo>
                  <a:pt x="5638800" y="1630909"/>
                  <a:pt x="5593309" y="1676400"/>
                  <a:pt x="5537193" y="1676400"/>
                </a:cubicBezTo>
                <a:lnTo>
                  <a:pt x="101607" y="1676400"/>
                </a:lnTo>
                <a:cubicBezTo>
                  <a:pt x="45491" y="1676400"/>
                  <a:pt x="0" y="1630909"/>
                  <a:pt x="0" y="15747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D3B9D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457200" y="3530600"/>
            <a:ext cx="533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A95EA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关键统计信息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3937000"/>
            <a:ext cx="53213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表级:</a:t>
            </a: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总行数、总大小、文件数。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列级:</a:t>
            </a: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NDV (不同值数量)、空值数、最大/最小值。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分区级:</a:t>
            </a: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分区大小、文件数、行数。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99200" y="1405434"/>
            <a:ext cx="5638800" cy="762000"/>
          </a:xfrm>
          <a:custGeom>
            <a:avLst/>
            <a:gdLst/>
            <a:ahLst/>
            <a:cxnLst/>
            <a:rect l="l" t="t" r="r" b="b"/>
            <a:pathLst>
              <a:path w="5638800" h="762000">
                <a:moveTo>
                  <a:pt x="101597" y="0"/>
                </a:moveTo>
                <a:lnTo>
                  <a:pt x="5537203" y="0"/>
                </a:lnTo>
                <a:cubicBezTo>
                  <a:pt x="5593313" y="0"/>
                  <a:pt x="5638800" y="45487"/>
                  <a:pt x="5638800" y="101597"/>
                </a:cubicBezTo>
                <a:lnTo>
                  <a:pt x="5638800" y="660403"/>
                </a:lnTo>
                <a:cubicBezTo>
                  <a:pt x="5638800" y="716513"/>
                  <a:pt x="5593313" y="762000"/>
                  <a:pt x="55372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8F5C9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6451600" y="1557834"/>
            <a:ext cx="542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8F5C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收集统计信息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51600" y="1811834"/>
            <a:ext cx="541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ANALYZE TABLE table_name COMPUTE STATISTICS;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99200" y="2370634"/>
            <a:ext cx="5638800" cy="762000"/>
          </a:xfrm>
          <a:custGeom>
            <a:avLst/>
            <a:gdLst/>
            <a:ahLst/>
            <a:cxnLst/>
            <a:rect l="l" t="t" r="r" b="b"/>
            <a:pathLst>
              <a:path w="5638800" h="762000">
                <a:moveTo>
                  <a:pt x="101597" y="0"/>
                </a:moveTo>
                <a:lnTo>
                  <a:pt x="5537203" y="0"/>
                </a:lnTo>
                <a:cubicBezTo>
                  <a:pt x="5593313" y="0"/>
                  <a:pt x="5638800" y="45487"/>
                  <a:pt x="5638800" y="101597"/>
                </a:cubicBezTo>
                <a:lnTo>
                  <a:pt x="5638800" y="660403"/>
                </a:lnTo>
                <a:cubicBezTo>
                  <a:pt x="5638800" y="716513"/>
                  <a:pt x="5593313" y="762000"/>
                  <a:pt x="55372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8F5C9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6451600" y="2523034"/>
            <a:ext cx="542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8F5C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查看成本估算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51600" y="2777034"/>
            <a:ext cx="541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EXPLAIN COST SELECT ...;</a:t>
            </a:r>
            <a:endParaRPr lang="en-US" sz="1600" dirty="0"/>
          </a:p>
        </p:txBody>
      </p:sp>
      <p:pic>
        <p:nvPicPr>
          <p:cNvPr id="16" name="Image 1" descr="https://kimi-web-img.moonshot.cn/img/upload.wikimedia.org/0405f182840adfbfd121981025f6e7a684a98951.jpg"/>
          <p:cNvPicPr>
            <a:picLocks noChangeAspect="1"/>
          </p:cNvPicPr>
          <p:nvPr/>
        </p:nvPicPr>
        <p:blipFill>
          <a:blip r:embed="rId4"/>
          <a:srcRect t="17866" b="17866"/>
          <a:stretch/>
        </p:blipFill>
        <p:spPr>
          <a:xfrm>
            <a:off x="6299200" y="3335834"/>
            <a:ext cx="5638800" cy="2120900"/>
          </a:xfrm>
          <a:prstGeom prst="roundRect">
            <a:avLst>
              <a:gd name="adj" fmla="val 4790"/>
            </a:avLst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gradFill flip="none" rotWithShape="1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5280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5280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3665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13665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42049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42049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70434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70434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98818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98818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27203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227203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456035" y="38163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1456035" y="381635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456035" y="501650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1456035" y="501650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456035" y="62166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1456035" y="621665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727190" y="6306820"/>
            <a:ext cx="100800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52805" y="6177280"/>
            <a:ext cx="259080" cy="259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52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79805" y="6177280"/>
            <a:ext cx="259080" cy="2590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979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863725" y="2687320"/>
            <a:ext cx="8464550" cy="23069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1863725" y="2687320"/>
            <a:ext cx="8464550" cy="23069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执行引擎与任务运行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515235" y="1350010"/>
            <a:ext cx="7161530" cy="10985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test-kimi-img.moonshot.cn/pub/slides/slides_tmpl/image/25-08-11-17:38:55-d2crkbv0ctitcgma2i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8750" y="13716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8F5C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MapReduce 执行模型与串行瓶颈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478260" y="20320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D3B9D7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1859260" y="2413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42863"/>
                </a:moveTo>
                <a:cubicBezTo>
                  <a:pt x="457200" y="32951"/>
                  <a:pt x="452110" y="23753"/>
                  <a:pt x="443627" y="18574"/>
                </a:cubicBezTo>
                <a:cubicBezTo>
                  <a:pt x="435144" y="13395"/>
                  <a:pt x="424696" y="12859"/>
                  <a:pt x="415856" y="17324"/>
                </a:cubicBezTo>
                <a:lnTo>
                  <a:pt x="312093" y="69205"/>
                </a:lnTo>
                <a:lnTo>
                  <a:pt x="151894" y="15716"/>
                </a:lnTo>
                <a:cubicBezTo>
                  <a:pt x="144661" y="13305"/>
                  <a:pt x="136892" y="13841"/>
                  <a:pt x="130106" y="17234"/>
                </a:cubicBezTo>
                <a:lnTo>
                  <a:pt x="15806" y="74384"/>
                </a:lnTo>
                <a:cubicBezTo>
                  <a:pt x="6072" y="79296"/>
                  <a:pt x="0" y="89208"/>
                  <a:pt x="0" y="100013"/>
                </a:cubicBezTo>
                <a:lnTo>
                  <a:pt x="0" y="414338"/>
                </a:lnTo>
                <a:cubicBezTo>
                  <a:pt x="0" y="424249"/>
                  <a:pt x="5090" y="433447"/>
                  <a:pt x="13573" y="438626"/>
                </a:cubicBezTo>
                <a:cubicBezTo>
                  <a:pt x="22056" y="443805"/>
                  <a:pt x="32504" y="444341"/>
                  <a:pt x="41344" y="439876"/>
                </a:cubicBezTo>
                <a:lnTo>
                  <a:pt x="145018" y="387995"/>
                </a:lnTo>
                <a:lnTo>
                  <a:pt x="305217" y="441394"/>
                </a:lnTo>
                <a:cubicBezTo>
                  <a:pt x="312450" y="443805"/>
                  <a:pt x="320219" y="443270"/>
                  <a:pt x="327005" y="439876"/>
                </a:cubicBezTo>
                <a:lnTo>
                  <a:pt x="441305" y="382726"/>
                </a:lnTo>
                <a:cubicBezTo>
                  <a:pt x="450949" y="377904"/>
                  <a:pt x="457111" y="367992"/>
                  <a:pt x="457111" y="357187"/>
                </a:cubicBezTo>
                <a:lnTo>
                  <a:pt x="457111" y="42862"/>
                </a:lnTo>
                <a:close/>
                <a:moveTo>
                  <a:pt x="171450" y="336560"/>
                </a:moveTo>
                <a:lnTo>
                  <a:pt x="171450" y="82510"/>
                </a:lnTo>
                <a:lnTo>
                  <a:pt x="285750" y="120640"/>
                </a:lnTo>
                <a:lnTo>
                  <a:pt x="285750" y="374690"/>
                </a:lnTo>
                <a:lnTo>
                  <a:pt x="171450" y="336560"/>
                </a:ln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621010" y="3352800"/>
            <a:ext cx="293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Map 阶段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33710" y="3708400"/>
            <a:ext cx="290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读取、过滤、投影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939480" y="2794000"/>
            <a:ext cx="457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A95EA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301" y="20320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D3B9D7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5867301" y="2413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60581" y="30718"/>
                </a:moveTo>
                <a:cubicBezTo>
                  <a:pt x="371296" y="26253"/>
                  <a:pt x="383530" y="28754"/>
                  <a:pt x="391745" y="36880"/>
                </a:cubicBezTo>
                <a:lnTo>
                  <a:pt x="448895" y="94030"/>
                </a:lnTo>
                <a:cubicBezTo>
                  <a:pt x="454253" y="99387"/>
                  <a:pt x="457289" y="106620"/>
                  <a:pt x="457289" y="114211"/>
                </a:cubicBezTo>
                <a:cubicBezTo>
                  <a:pt x="457289" y="121801"/>
                  <a:pt x="454253" y="129034"/>
                  <a:pt x="448895" y="134392"/>
                </a:cubicBezTo>
                <a:lnTo>
                  <a:pt x="391745" y="191542"/>
                </a:lnTo>
                <a:cubicBezTo>
                  <a:pt x="383530" y="199757"/>
                  <a:pt x="371296" y="202168"/>
                  <a:pt x="360581" y="197703"/>
                </a:cubicBezTo>
                <a:cubicBezTo>
                  <a:pt x="349865" y="193238"/>
                  <a:pt x="342900" y="182969"/>
                  <a:pt x="342900" y="171450"/>
                </a:cubicBezTo>
                <a:lnTo>
                  <a:pt x="342900" y="142875"/>
                </a:lnTo>
                <a:lnTo>
                  <a:pt x="314325" y="142875"/>
                </a:lnTo>
                <a:cubicBezTo>
                  <a:pt x="305306" y="142875"/>
                  <a:pt x="296823" y="147072"/>
                  <a:pt x="291465" y="154305"/>
                </a:cubicBezTo>
                <a:lnTo>
                  <a:pt x="262533" y="192881"/>
                </a:lnTo>
                <a:lnTo>
                  <a:pt x="226814" y="145286"/>
                </a:lnTo>
                <a:lnTo>
                  <a:pt x="245745" y="120015"/>
                </a:lnTo>
                <a:cubicBezTo>
                  <a:pt x="261908" y="98405"/>
                  <a:pt x="287357" y="85725"/>
                  <a:pt x="314325" y="85725"/>
                </a:cubicBezTo>
                <a:lnTo>
                  <a:pt x="342900" y="85725"/>
                </a:lnTo>
                <a:lnTo>
                  <a:pt x="342900" y="57150"/>
                </a:lnTo>
                <a:cubicBezTo>
                  <a:pt x="342900" y="45631"/>
                  <a:pt x="349865" y="35183"/>
                  <a:pt x="360581" y="30718"/>
                </a:cubicBezTo>
                <a:close/>
                <a:moveTo>
                  <a:pt x="137517" y="264319"/>
                </a:moveTo>
                <a:lnTo>
                  <a:pt x="173236" y="311914"/>
                </a:lnTo>
                <a:lnTo>
                  <a:pt x="154305" y="337185"/>
                </a:lnTo>
                <a:cubicBezTo>
                  <a:pt x="138142" y="358795"/>
                  <a:pt x="112693" y="371475"/>
                  <a:pt x="85725" y="371475"/>
                </a:cubicBezTo>
                <a:lnTo>
                  <a:pt x="28575" y="371475"/>
                </a:lnTo>
                <a:cubicBezTo>
                  <a:pt x="12769" y="371475"/>
                  <a:pt x="0" y="358706"/>
                  <a:pt x="0" y="342900"/>
                </a:cubicBezTo>
                <a:cubicBezTo>
                  <a:pt x="0" y="327094"/>
                  <a:pt x="12769" y="314325"/>
                  <a:pt x="28575" y="314325"/>
                </a:cubicBezTo>
                <a:lnTo>
                  <a:pt x="85725" y="314325"/>
                </a:lnTo>
                <a:cubicBezTo>
                  <a:pt x="94744" y="314325"/>
                  <a:pt x="103227" y="310128"/>
                  <a:pt x="108585" y="302895"/>
                </a:cubicBezTo>
                <a:lnTo>
                  <a:pt x="137517" y="264319"/>
                </a:lnTo>
                <a:close/>
                <a:moveTo>
                  <a:pt x="391656" y="420231"/>
                </a:moveTo>
                <a:cubicBezTo>
                  <a:pt x="383441" y="428446"/>
                  <a:pt x="371207" y="430857"/>
                  <a:pt x="360491" y="426393"/>
                </a:cubicBezTo>
                <a:cubicBezTo>
                  <a:pt x="349776" y="421928"/>
                  <a:pt x="342900" y="411569"/>
                  <a:pt x="342900" y="400050"/>
                </a:cubicBezTo>
                <a:lnTo>
                  <a:pt x="342900" y="371475"/>
                </a:lnTo>
                <a:lnTo>
                  <a:pt x="314325" y="371475"/>
                </a:lnTo>
                <a:cubicBezTo>
                  <a:pt x="287357" y="371475"/>
                  <a:pt x="261908" y="358795"/>
                  <a:pt x="245745" y="337185"/>
                </a:cubicBezTo>
                <a:lnTo>
                  <a:pt x="108585" y="154305"/>
                </a:lnTo>
                <a:cubicBezTo>
                  <a:pt x="103227" y="147072"/>
                  <a:pt x="94744" y="142875"/>
                  <a:pt x="85725" y="142875"/>
                </a:cubicBezTo>
                <a:lnTo>
                  <a:pt x="28575" y="142875"/>
                </a:lnTo>
                <a:cubicBezTo>
                  <a:pt x="12769" y="142875"/>
                  <a:pt x="0" y="130106"/>
                  <a:pt x="0" y="114300"/>
                </a:cubicBezTo>
                <a:cubicBezTo>
                  <a:pt x="0" y="98494"/>
                  <a:pt x="12769" y="85725"/>
                  <a:pt x="28575" y="85725"/>
                </a:cubicBezTo>
                <a:lnTo>
                  <a:pt x="85725" y="85725"/>
                </a:lnTo>
                <a:cubicBezTo>
                  <a:pt x="112693" y="85725"/>
                  <a:pt x="138142" y="98405"/>
                  <a:pt x="154305" y="120015"/>
                </a:cubicBezTo>
                <a:lnTo>
                  <a:pt x="291465" y="302895"/>
                </a:lnTo>
                <a:cubicBezTo>
                  <a:pt x="296823" y="310128"/>
                  <a:pt x="305306" y="314325"/>
                  <a:pt x="314325" y="314325"/>
                </a:cubicBezTo>
                <a:lnTo>
                  <a:pt x="342900" y="314325"/>
                </a:lnTo>
                <a:lnTo>
                  <a:pt x="342900" y="285750"/>
                </a:lnTo>
                <a:cubicBezTo>
                  <a:pt x="342900" y="274231"/>
                  <a:pt x="349865" y="263783"/>
                  <a:pt x="360581" y="259318"/>
                </a:cubicBezTo>
                <a:cubicBezTo>
                  <a:pt x="371296" y="254853"/>
                  <a:pt x="383530" y="257354"/>
                  <a:pt x="391745" y="265480"/>
                </a:cubicBezTo>
                <a:lnTo>
                  <a:pt x="448895" y="322630"/>
                </a:lnTo>
                <a:cubicBezTo>
                  <a:pt x="454253" y="327987"/>
                  <a:pt x="457289" y="335220"/>
                  <a:pt x="457289" y="342811"/>
                </a:cubicBezTo>
                <a:cubicBezTo>
                  <a:pt x="457289" y="350401"/>
                  <a:pt x="454253" y="357634"/>
                  <a:pt x="448895" y="362992"/>
                </a:cubicBezTo>
                <a:lnTo>
                  <a:pt x="391745" y="420142"/>
                </a:ln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4629051" y="3352800"/>
            <a:ext cx="293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Shuffle 阶段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641751" y="3708400"/>
            <a:ext cx="290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排序、分组、传输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947521" y="2794000"/>
            <a:ext cx="457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A95EA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494341" y="20320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D3B9D7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9875341" y="2413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07194" y="200025"/>
                </a:moveTo>
                <a:lnTo>
                  <a:pt x="278606" y="200025"/>
                </a:lnTo>
                <a:cubicBezTo>
                  <a:pt x="266730" y="200025"/>
                  <a:pt x="257175" y="190470"/>
                  <a:pt x="257175" y="178594"/>
                </a:cubicBezTo>
                <a:lnTo>
                  <a:pt x="257175" y="50006"/>
                </a:lnTo>
                <a:cubicBezTo>
                  <a:pt x="257175" y="41344"/>
                  <a:pt x="262354" y="33486"/>
                  <a:pt x="270391" y="30182"/>
                </a:cubicBezTo>
                <a:cubicBezTo>
                  <a:pt x="278428" y="26878"/>
                  <a:pt x="287625" y="28754"/>
                  <a:pt x="293787" y="34826"/>
                </a:cubicBezTo>
                <a:lnTo>
                  <a:pt x="329505" y="70545"/>
                </a:lnTo>
                <a:lnTo>
                  <a:pt x="395049" y="5001"/>
                </a:lnTo>
                <a:cubicBezTo>
                  <a:pt x="398264" y="1786"/>
                  <a:pt x="402640" y="0"/>
                  <a:pt x="407194" y="0"/>
                </a:cubicBezTo>
                <a:cubicBezTo>
                  <a:pt x="411748" y="0"/>
                  <a:pt x="416123" y="1786"/>
                  <a:pt x="419427" y="5090"/>
                </a:cubicBezTo>
                <a:lnTo>
                  <a:pt x="452199" y="37862"/>
                </a:lnTo>
                <a:cubicBezTo>
                  <a:pt x="455414" y="41077"/>
                  <a:pt x="457200" y="45452"/>
                  <a:pt x="457200" y="50006"/>
                </a:cubicBezTo>
                <a:cubicBezTo>
                  <a:pt x="457200" y="54560"/>
                  <a:pt x="455414" y="58936"/>
                  <a:pt x="452110" y="62240"/>
                </a:cubicBezTo>
                <a:lnTo>
                  <a:pt x="386655" y="127695"/>
                </a:lnTo>
                <a:lnTo>
                  <a:pt x="422374" y="163413"/>
                </a:lnTo>
                <a:cubicBezTo>
                  <a:pt x="428536" y="169575"/>
                  <a:pt x="430322" y="178772"/>
                  <a:pt x="427018" y="186809"/>
                </a:cubicBezTo>
                <a:cubicBezTo>
                  <a:pt x="423714" y="194846"/>
                  <a:pt x="415856" y="200025"/>
                  <a:pt x="407194" y="200025"/>
                </a:cubicBezTo>
                <a:close/>
                <a:moveTo>
                  <a:pt x="407194" y="257175"/>
                </a:moveTo>
                <a:cubicBezTo>
                  <a:pt x="415856" y="257175"/>
                  <a:pt x="423714" y="262354"/>
                  <a:pt x="427018" y="270391"/>
                </a:cubicBezTo>
                <a:cubicBezTo>
                  <a:pt x="430322" y="278428"/>
                  <a:pt x="428536" y="287625"/>
                  <a:pt x="422374" y="293787"/>
                </a:cubicBezTo>
                <a:lnTo>
                  <a:pt x="386655" y="329505"/>
                </a:lnTo>
                <a:lnTo>
                  <a:pt x="452199" y="395049"/>
                </a:lnTo>
                <a:cubicBezTo>
                  <a:pt x="455414" y="398264"/>
                  <a:pt x="457289" y="402640"/>
                  <a:pt x="457289" y="407283"/>
                </a:cubicBezTo>
                <a:cubicBezTo>
                  <a:pt x="457289" y="411926"/>
                  <a:pt x="455503" y="416213"/>
                  <a:pt x="452199" y="419517"/>
                </a:cubicBezTo>
                <a:lnTo>
                  <a:pt x="419427" y="452289"/>
                </a:lnTo>
                <a:cubicBezTo>
                  <a:pt x="416123" y="455414"/>
                  <a:pt x="411748" y="457200"/>
                  <a:pt x="407194" y="457200"/>
                </a:cubicBezTo>
                <a:cubicBezTo>
                  <a:pt x="402640" y="457200"/>
                  <a:pt x="398264" y="455414"/>
                  <a:pt x="394960" y="452110"/>
                </a:cubicBezTo>
                <a:lnTo>
                  <a:pt x="329505" y="386655"/>
                </a:lnTo>
                <a:lnTo>
                  <a:pt x="293787" y="422374"/>
                </a:lnTo>
                <a:cubicBezTo>
                  <a:pt x="287625" y="428536"/>
                  <a:pt x="278428" y="430322"/>
                  <a:pt x="270391" y="427018"/>
                </a:cubicBezTo>
                <a:cubicBezTo>
                  <a:pt x="262354" y="423714"/>
                  <a:pt x="257175" y="415856"/>
                  <a:pt x="257175" y="407194"/>
                </a:cubicBezTo>
                <a:lnTo>
                  <a:pt x="257175" y="278606"/>
                </a:lnTo>
                <a:cubicBezTo>
                  <a:pt x="257175" y="266730"/>
                  <a:pt x="266730" y="257175"/>
                  <a:pt x="278606" y="257175"/>
                </a:cubicBezTo>
                <a:lnTo>
                  <a:pt x="407194" y="257175"/>
                </a:lnTo>
                <a:close/>
                <a:moveTo>
                  <a:pt x="178594" y="257175"/>
                </a:moveTo>
                <a:cubicBezTo>
                  <a:pt x="190470" y="257175"/>
                  <a:pt x="200025" y="266730"/>
                  <a:pt x="200025" y="278606"/>
                </a:cubicBezTo>
                <a:lnTo>
                  <a:pt x="200025" y="407194"/>
                </a:lnTo>
                <a:cubicBezTo>
                  <a:pt x="200025" y="415856"/>
                  <a:pt x="194846" y="423714"/>
                  <a:pt x="186809" y="427018"/>
                </a:cubicBezTo>
                <a:cubicBezTo>
                  <a:pt x="178772" y="430322"/>
                  <a:pt x="169575" y="428536"/>
                  <a:pt x="163413" y="422374"/>
                </a:cubicBezTo>
                <a:lnTo>
                  <a:pt x="127695" y="386655"/>
                </a:lnTo>
                <a:lnTo>
                  <a:pt x="62151" y="452199"/>
                </a:lnTo>
                <a:cubicBezTo>
                  <a:pt x="58936" y="455414"/>
                  <a:pt x="54560" y="457200"/>
                  <a:pt x="50006" y="457200"/>
                </a:cubicBezTo>
                <a:cubicBezTo>
                  <a:pt x="45452" y="457200"/>
                  <a:pt x="41077" y="455414"/>
                  <a:pt x="37773" y="452110"/>
                </a:cubicBezTo>
                <a:lnTo>
                  <a:pt x="5090" y="419427"/>
                </a:lnTo>
                <a:cubicBezTo>
                  <a:pt x="1786" y="416123"/>
                  <a:pt x="0" y="411748"/>
                  <a:pt x="0" y="407194"/>
                </a:cubicBezTo>
                <a:cubicBezTo>
                  <a:pt x="0" y="402640"/>
                  <a:pt x="1786" y="398264"/>
                  <a:pt x="5090" y="394960"/>
                </a:cubicBezTo>
                <a:lnTo>
                  <a:pt x="70545" y="329505"/>
                </a:lnTo>
                <a:lnTo>
                  <a:pt x="34826" y="293787"/>
                </a:lnTo>
                <a:cubicBezTo>
                  <a:pt x="28664" y="287625"/>
                  <a:pt x="26878" y="278428"/>
                  <a:pt x="30182" y="270391"/>
                </a:cubicBezTo>
                <a:cubicBezTo>
                  <a:pt x="33486" y="262354"/>
                  <a:pt x="41344" y="257175"/>
                  <a:pt x="50006" y="257175"/>
                </a:cubicBezTo>
                <a:lnTo>
                  <a:pt x="178594" y="257175"/>
                </a:lnTo>
                <a:close/>
                <a:moveTo>
                  <a:pt x="50006" y="200025"/>
                </a:moveTo>
                <a:cubicBezTo>
                  <a:pt x="41344" y="200025"/>
                  <a:pt x="33486" y="194846"/>
                  <a:pt x="30182" y="186809"/>
                </a:cubicBezTo>
                <a:cubicBezTo>
                  <a:pt x="26878" y="178772"/>
                  <a:pt x="28754" y="169575"/>
                  <a:pt x="34826" y="163413"/>
                </a:cubicBezTo>
                <a:lnTo>
                  <a:pt x="70545" y="127695"/>
                </a:lnTo>
                <a:lnTo>
                  <a:pt x="5090" y="62240"/>
                </a:lnTo>
                <a:cubicBezTo>
                  <a:pt x="1786" y="58936"/>
                  <a:pt x="0" y="54560"/>
                  <a:pt x="0" y="50006"/>
                </a:cubicBezTo>
                <a:cubicBezTo>
                  <a:pt x="0" y="45452"/>
                  <a:pt x="1786" y="41077"/>
                  <a:pt x="5090" y="37773"/>
                </a:cubicBezTo>
                <a:lnTo>
                  <a:pt x="37773" y="5090"/>
                </a:lnTo>
                <a:cubicBezTo>
                  <a:pt x="41077" y="1786"/>
                  <a:pt x="45452" y="0"/>
                  <a:pt x="50006" y="0"/>
                </a:cubicBezTo>
                <a:cubicBezTo>
                  <a:pt x="54560" y="0"/>
                  <a:pt x="58936" y="1786"/>
                  <a:pt x="62240" y="5090"/>
                </a:cubicBezTo>
                <a:lnTo>
                  <a:pt x="127695" y="70545"/>
                </a:lnTo>
                <a:lnTo>
                  <a:pt x="163413" y="34826"/>
                </a:lnTo>
                <a:cubicBezTo>
                  <a:pt x="169575" y="28664"/>
                  <a:pt x="178772" y="26878"/>
                  <a:pt x="186809" y="30182"/>
                </a:cubicBezTo>
                <a:cubicBezTo>
                  <a:pt x="194846" y="33486"/>
                  <a:pt x="200025" y="41344"/>
                  <a:pt x="200025" y="50006"/>
                </a:cubicBezTo>
                <a:lnTo>
                  <a:pt x="200025" y="178594"/>
                </a:lnTo>
                <a:cubicBezTo>
                  <a:pt x="200025" y="190470"/>
                  <a:pt x="190470" y="200025"/>
                  <a:pt x="178594" y="200025"/>
                </a:cubicBezTo>
                <a:lnTo>
                  <a:pt x="50006" y="200025"/>
                </a:ln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8637091" y="3352800"/>
            <a:ext cx="293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Reduce 阶段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649791" y="3708400"/>
            <a:ext cx="290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聚合、连接、输出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254000" y="4267200"/>
            <a:ext cx="11684000" cy="1219200"/>
          </a:xfrm>
          <a:custGeom>
            <a:avLst/>
            <a:gdLst/>
            <a:ahLst/>
            <a:cxnLst/>
            <a:rect l="l" t="t" r="r" b="b"/>
            <a:pathLst>
              <a:path w="11684000" h="1219200">
                <a:moveTo>
                  <a:pt x="101596" y="0"/>
                </a:moveTo>
                <a:lnTo>
                  <a:pt x="11582404" y="0"/>
                </a:lnTo>
                <a:cubicBezTo>
                  <a:pt x="11638514" y="0"/>
                  <a:pt x="11684000" y="45486"/>
                  <a:pt x="11684000" y="101596"/>
                </a:cubicBezTo>
                <a:lnTo>
                  <a:pt x="11684000" y="1117604"/>
                </a:lnTo>
                <a:cubicBezTo>
                  <a:pt x="11684000" y="1173714"/>
                  <a:pt x="11638514" y="1219200"/>
                  <a:pt x="115824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60A39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406400" y="4470400"/>
            <a:ext cx="1137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60A3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串行瓶颈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12750" y="4775200"/>
            <a:ext cx="11366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复杂的 Hive 查询通常需要多个 MapReduce 作业串联执行，每个作业都需要将中间结果写入 HDFS，导致 </a:t>
            </a:r>
            <a:r>
              <a:rPr lang="en-US" sz="1400" dirty="0">
                <a:solidFill>
                  <a:srgbClr val="3C3542"/>
                </a:solidFill>
                <a:highlight>
                  <a:srgbClr val="D3B9D7">
                    <a:alpha val="667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大量的磁盘 I/O 和高延迟 </a:t>
            </a: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。这为引入更高效的执行引擎（如 Tez）提供了动机。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test-kimi-img.moonshot.cn/pub/slides/slides_tmpl/image/25-08-11-17:38:55-d2crkbv0ctitcgma2i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4000" y="1701800"/>
            <a:ext cx="572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8F5C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Tez DAG 与容器复用加速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54000" y="2362200"/>
            <a:ext cx="5638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Apache Tez 将多个 MapReduce 作业合并为一个有向无环图 (DAG)，避免了中间结果的磁盘落地，显著提升了执行效率。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54000" y="317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D3B9D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346075" y="3263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85725" y="28575"/>
                </a:moveTo>
                <a:cubicBezTo>
                  <a:pt x="85725" y="20672"/>
                  <a:pt x="92110" y="14288"/>
                  <a:pt x="100013" y="14288"/>
                </a:cubicBezTo>
                <a:lnTo>
                  <a:pt x="128588" y="14288"/>
                </a:lnTo>
                <a:cubicBezTo>
                  <a:pt x="136490" y="14288"/>
                  <a:pt x="142875" y="20672"/>
                  <a:pt x="142875" y="28575"/>
                </a:cubicBezTo>
                <a:lnTo>
                  <a:pt x="142875" y="57150"/>
                </a:lnTo>
                <a:cubicBezTo>
                  <a:pt x="142875" y="65053"/>
                  <a:pt x="136490" y="71438"/>
                  <a:pt x="128588" y="71438"/>
                </a:cubicBezTo>
                <a:lnTo>
                  <a:pt x="125016" y="71438"/>
                </a:lnTo>
                <a:lnTo>
                  <a:pt x="125016" y="100013"/>
                </a:lnTo>
                <a:lnTo>
                  <a:pt x="178594" y="100013"/>
                </a:lnTo>
                <a:cubicBezTo>
                  <a:pt x="196364" y="100013"/>
                  <a:pt x="210741" y="114389"/>
                  <a:pt x="210741" y="132159"/>
                </a:cubicBezTo>
                <a:lnTo>
                  <a:pt x="210741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lnTo>
                  <a:pt x="228600" y="200025"/>
                </a:lnTo>
                <a:cubicBezTo>
                  <a:pt x="228600" y="207928"/>
                  <a:pt x="222215" y="214313"/>
                  <a:pt x="214313" y="214313"/>
                </a:cubicBezTo>
                <a:lnTo>
                  <a:pt x="185738" y="214313"/>
                </a:lnTo>
                <a:cubicBezTo>
                  <a:pt x="177835" y="214313"/>
                  <a:pt x="171450" y="207928"/>
                  <a:pt x="171450" y="200025"/>
                </a:cubicBezTo>
                <a:lnTo>
                  <a:pt x="171450" y="171450"/>
                </a:lnTo>
                <a:cubicBezTo>
                  <a:pt x="171450" y="163547"/>
                  <a:pt x="177835" y="157163"/>
                  <a:pt x="185738" y="157163"/>
                </a:cubicBezTo>
                <a:lnTo>
                  <a:pt x="189309" y="157163"/>
                </a:lnTo>
                <a:lnTo>
                  <a:pt x="189309" y="132159"/>
                </a:lnTo>
                <a:cubicBezTo>
                  <a:pt x="189309" y="126221"/>
                  <a:pt x="184532" y="121444"/>
                  <a:pt x="178594" y="121444"/>
                </a:cubicBezTo>
                <a:lnTo>
                  <a:pt x="125016" y="121444"/>
                </a:lnTo>
                <a:lnTo>
                  <a:pt x="125016" y="157163"/>
                </a:lnTo>
                <a:lnTo>
                  <a:pt x="128588" y="157163"/>
                </a:lnTo>
                <a:cubicBezTo>
                  <a:pt x="136490" y="157163"/>
                  <a:pt x="142875" y="163547"/>
                  <a:pt x="142875" y="171450"/>
                </a:cubicBezTo>
                <a:lnTo>
                  <a:pt x="142875" y="200025"/>
                </a:lnTo>
                <a:cubicBezTo>
                  <a:pt x="142875" y="207928"/>
                  <a:pt x="136490" y="214313"/>
                  <a:pt x="128588" y="214313"/>
                </a:cubicBezTo>
                <a:lnTo>
                  <a:pt x="100013" y="214313"/>
                </a:lnTo>
                <a:cubicBezTo>
                  <a:pt x="92110" y="214313"/>
                  <a:pt x="85725" y="207928"/>
                  <a:pt x="85725" y="200025"/>
                </a:cubicBezTo>
                <a:lnTo>
                  <a:pt x="85725" y="171450"/>
                </a:lnTo>
                <a:cubicBezTo>
                  <a:pt x="85725" y="163547"/>
                  <a:pt x="92110" y="157163"/>
                  <a:pt x="100013" y="157163"/>
                </a:cubicBezTo>
                <a:lnTo>
                  <a:pt x="103584" y="157163"/>
                </a:lnTo>
                <a:lnTo>
                  <a:pt x="103584" y="121444"/>
                </a:lnTo>
                <a:lnTo>
                  <a:pt x="50006" y="121444"/>
                </a:lnTo>
                <a:cubicBezTo>
                  <a:pt x="44068" y="121444"/>
                  <a:pt x="39291" y="126221"/>
                  <a:pt x="39291" y="132159"/>
                </a:cubicBezTo>
                <a:lnTo>
                  <a:pt x="39291" y="157163"/>
                </a:lnTo>
                <a:lnTo>
                  <a:pt x="42863" y="157163"/>
                </a:lnTo>
                <a:cubicBezTo>
                  <a:pt x="50765" y="157163"/>
                  <a:pt x="57150" y="163547"/>
                  <a:pt x="57150" y="171450"/>
                </a:cubicBezTo>
                <a:lnTo>
                  <a:pt x="57150" y="200025"/>
                </a:lnTo>
                <a:cubicBezTo>
                  <a:pt x="57150" y="207928"/>
                  <a:pt x="50765" y="214313"/>
                  <a:pt x="42863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71450"/>
                </a:lnTo>
                <a:cubicBezTo>
                  <a:pt x="0" y="163547"/>
                  <a:pt x="6385" y="157163"/>
                  <a:pt x="14288" y="157163"/>
                </a:cubicBezTo>
                <a:lnTo>
                  <a:pt x="17859" y="157163"/>
                </a:lnTo>
                <a:lnTo>
                  <a:pt x="17859" y="132159"/>
                </a:lnTo>
                <a:cubicBezTo>
                  <a:pt x="17859" y="114389"/>
                  <a:pt x="32236" y="100013"/>
                  <a:pt x="50006" y="100013"/>
                </a:cubicBezTo>
                <a:lnTo>
                  <a:pt x="103584" y="100013"/>
                </a:lnTo>
                <a:lnTo>
                  <a:pt x="103584" y="71438"/>
                </a:lnTo>
                <a:lnTo>
                  <a:pt x="100013" y="71438"/>
                </a:lnTo>
                <a:cubicBezTo>
                  <a:pt x="92110" y="71438"/>
                  <a:pt x="85725" y="65053"/>
                  <a:pt x="85725" y="57150"/>
                </a:cubicBezTo>
                <a:lnTo>
                  <a:pt x="85725" y="28575"/>
                </a:ln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812800" y="3175000"/>
            <a:ext cx="490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DAG 执行模型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12800" y="3479800"/>
            <a:ext cx="488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顶点表示逻辑运算，边表示数据传输，支持复杂的任务依赖。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54000" y="3886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D3B9D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346075" y="3975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8000" y="26789"/>
                </a:moveTo>
                <a:cubicBezTo>
                  <a:pt x="88627" y="-8930"/>
                  <a:pt x="140196" y="-8930"/>
                  <a:pt x="160824" y="26789"/>
                </a:cubicBezTo>
                <a:lnTo>
                  <a:pt x="177478" y="55632"/>
                </a:lnTo>
                <a:lnTo>
                  <a:pt x="189845" y="48488"/>
                </a:lnTo>
                <a:cubicBezTo>
                  <a:pt x="193596" y="46300"/>
                  <a:pt x="198284" y="46613"/>
                  <a:pt x="201722" y="49247"/>
                </a:cubicBezTo>
                <a:cubicBezTo>
                  <a:pt x="205160" y="51881"/>
                  <a:pt x="206678" y="56346"/>
                  <a:pt x="205561" y="60543"/>
                </a:cubicBezTo>
                <a:lnTo>
                  <a:pt x="195069" y="99566"/>
                </a:lnTo>
                <a:cubicBezTo>
                  <a:pt x="193551" y="105281"/>
                  <a:pt x="187657" y="108674"/>
                  <a:pt x="181942" y="107156"/>
                </a:cubicBezTo>
                <a:lnTo>
                  <a:pt x="142920" y="96709"/>
                </a:lnTo>
                <a:cubicBezTo>
                  <a:pt x="138723" y="95592"/>
                  <a:pt x="135642" y="92065"/>
                  <a:pt x="135062" y="87779"/>
                </a:cubicBezTo>
                <a:cubicBezTo>
                  <a:pt x="134481" y="83493"/>
                  <a:pt x="136580" y="79251"/>
                  <a:pt x="140330" y="77108"/>
                </a:cubicBezTo>
                <a:lnTo>
                  <a:pt x="152698" y="69964"/>
                </a:lnTo>
                <a:lnTo>
                  <a:pt x="136044" y="41121"/>
                </a:lnTo>
                <a:cubicBezTo>
                  <a:pt x="126400" y="24467"/>
                  <a:pt x="102379" y="24467"/>
                  <a:pt x="92735" y="41121"/>
                </a:cubicBezTo>
                <a:lnTo>
                  <a:pt x="90368" y="45184"/>
                </a:lnTo>
                <a:cubicBezTo>
                  <a:pt x="86439" y="52015"/>
                  <a:pt x="77688" y="54337"/>
                  <a:pt x="70857" y="50408"/>
                </a:cubicBezTo>
                <a:cubicBezTo>
                  <a:pt x="64026" y="46479"/>
                  <a:pt x="61704" y="37728"/>
                  <a:pt x="65633" y="30852"/>
                </a:cubicBezTo>
                <a:lnTo>
                  <a:pt x="68000" y="26789"/>
                </a:lnTo>
                <a:close/>
                <a:moveTo>
                  <a:pt x="200784" y="124614"/>
                </a:moveTo>
                <a:cubicBezTo>
                  <a:pt x="207615" y="120685"/>
                  <a:pt x="216366" y="123006"/>
                  <a:pt x="220295" y="129838"/>
                </a:cubicBezTo>
                <a:lnTo>
                  <a:pt x="222662" y="133901"/>
                </a:lnTo>
                <a:cubicBezTo>
                  <a:pt x="243289" y="169619"/>
                  <a:pt x="217527" y="214268"/>
                  <a:pt x="176272" y="214268"/>
                </a:cubicBezTo>
                <a:lnTo>
                  <a:pt x="142964" y="214268"/>
                </a:lnTo>
                <a:lnTo>
                  <a:pt x="142964" y="228555"/>
                </a:lnTo>
                <a:cubicBezTo>
                  <a:pt x="142964" y="232886"/>
                  <a:pt x="140375" y="236815"/>
                  <a:pt x="136356" y="238467"/>
                </a:cubicBezTo>
                <a:cubicBezTo>
                  <a:pt x="132338" y="240119"/>
                  <a:pt x="127739" y="239226"/>
                  <a:pt x="124658" y="236146"/>
                </a:cubicBezTo>
                <a:lnTo>
                  <a:pt x="96083" y="207571"/>
                </a:lnTo>
                <a:cubicBezTo>
                  <a:pt x="91886" y="203374"/>
                  <a:pt x="91886" y="196587"/>
                  <a:pt x="96083" y="192435"/>
                </a:cubicBezTo>
                <a:lnTo>
                  <a:pt x="124658" y="163860"/>
                </a:lnTo>
                <a:cubicBezTo>
                  <a:pt x="127739" y="160779"/>
                  <a:pt x="132338" y="159886"/>
                  <a:pt x="136356" y="161538"/>
                </a:cubicBezTo>
                <a:cubicBezTo>
                  <a:pt x="140375" y="163190"/>
                  <a:pt x="142964" y="167119"/>
                  <a:pt x="142964" y="171450"/>
                </a:cubicBezTo>
                <a:lnTo>
                  <a:pt x="142964" y="185738"/>
                </a:lnTo>
                <a:lnTo>
                  <a:pt x="176272" y="185738"/>
                </a:lnTo>
                <a:cubicBezTo>
                  <a:pt x="195516" y="185738"/>
                  <a:pt x="207571" y="164887"/>
                  <a:pt x="197927" y="148233"/>
                </a:cubicBezTo>
                <a:lnTo>
                  <a:pt x="195560" y="144170"/>
                </a:lnTo>
                <a:cubicBezTo>
                  <a:pt x="191631" y="137339"/>
                  <a:pt x="193953" y="128588"/>
                  <a:pt x="200784" y="124658"/>
                </a:cubicBezTo>
                <a:close/>
                <a:moveTo>
                  <a:pt x="22771" y="105102"/>
                </a:moveTo>
                <a:lnTo>
                  <a:pt x="10403" y="97959"/>
                </a:lnTo>
                <a:cubicBezTo>
                  <a:pt x="6653" y="95771"/>
                  <a:pt x="4554" y="91574"/>
                  <a:pt x="5135" y="87288"/>
                </a:cubicBezTo>
                <a:cubicBezTo>
                  <a:pt x="5715" y="83001"/>
                  <a:pt x="8796" y="79474"/>
                  <a:pt x="12993" y="78358"/>
                </a:cubicBezTo>
                <a:lnTo>
                  <a:pt x="52015" y="67866"/>
                </a:lnTo>
                <a:cubicBezTo>
                  <a:pt x="57730" y="66348"/>
                  <a:pt x="63624" y="69741"/>
                  <a:pt x="65142" y="75456"/>
                </a:cubicBezTo>
                <a:lnTo>
                  <a:pt x="75590" y="114479"/>
                </a:lnTo>
                <a:cubicBezTo>
                  <a:pt x="76706" y="118676"/>
                  <a:pt x="75188" y="123096"/>
                  <a:pt x="71750" y="125775"/>
                </a:cubicBezTo>
                <a:cubicBezTo>
                  <a:pt x="68312" y="128454"/>
                  <a:pt x="63624" y="128721"/>
                  <a:pt x="59874" y="126534"/>
                </a:cubicBezTo>
                <a:lnTo>
                  <a:pt x="47506" y="119390"/>
                </a:lnTo>
                <a:lnTo>
                  <a:pt x="30852" y="148233"/>
                </a:lnTo>
                <a:cubicBezTo>
                  <a:pt x="21208" y="164887"/>
                  <a:pt x="33263" y="185738"/>
                  <a:pt x="52507" y="185738"/>
                </a:cubicBezTo>
                <a:lnTo>
                  <a:pt x="57239" y="185738"/>
                </a:lnTo>
                <a:cubicBezTo>
                  <a:pt x="65142" y="185738"/>
                  <a:pt x="71527" y="192122"/>
                  <a:pt x="71527" y="200025"/>
                </a:cubicBezTo>
                <a:cubicBezTo>
                  <a:pt x="71527" y="207928"/>
                  <a:pt x="65142" y="214313"/>
                  <a:pt x="57239" y="214313"/>
                </a:cubicBezTo>
                <a:lnTo>
                  <a:pt x="52507" y="214313"/>
                </a:lnTo>
                <a:cubicBezTo>
                  <a:pt x="11296" y="214313"/>
                  <a:pt x="-14466" y="169664"/>
                  <a:pt x="6161" y="133945"/>
                </a:cubicBezTo>
                <a:lnTo>
                  <a:pt x="22771" y="105102"/>
                </a:ln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812800" y="3886200"/>
            <a:ext cx="491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容器复用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12800" y="4191000"/>
            <a:ext cx="4902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YARN 容器可被多个任务重用，减少资源申请和释放的开销。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54000" y="4597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D3B9D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346075" y="4686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28588" y="42863"/>
                </a:moveTo>
                <a:cubicBezTo>
                  <a:pt x="128588" y="34977"/>
                  <a:pt x="122185" y="28575"/>
                  <a:pt x="114300" y="28575"/>
                </a:cubicBezTo>
                <a:cubicBezTo>
                  <a:pt x="106415" y="28575"/>
                  <a:pt x="100013" y="34977"/>
                  <a:pt x="100013" y="42863"/>
                </a:cubicBezTo>
                <a:cubicBezTo>
                  <a:pt x="100013" y="50748"/>
                  <a:pt x="106415" y="57150"/>
                  <a:pt x="114300" y="57150"/>
                </a:cubicBezTo>
                <a:cubicBezTo>
                  <a:pt x="122185" y="57150"/>
                  <a:pt x="128588" y="50748"/>
                  <a:pt x="128588" y="42863"/>
                </a:cubicBezTo>
                <a:close/>
                <a:moveTo>
                  <a:pt x="114300" y="185738"/>
                </a:moveTo>
                <a:cubicBezTo>
                  <a:pt x="130061" y="185738"/>
                  <a:pt x="142875" y="172923"/>
                  <a:pt x="142875" y="157163"/>
                </a:cubicBezTo>
                <a:cubicBezTo>
                  <a:pt x="142875" y="149929"/>
                  <a:pt x="140196" y="143277"/>
                  <a:pt x="135731" y="138276"/>
                </a:cubicBezTo>
                <a:lnTo>
                  <a:pt x="166762" y="76260"/>
                </a:lnTo>
                <a:cubicBezTo>
                  <a:pt x="169396" y="70946"/>
                  <a:pt x="167253" y="64517"/>
                  <a:pt x="161985" y="61883"/>
                </a:cubicBezTo>
                <a:cubicBezTo>
                  <a:pt x="156716" y="59248"/>
                  <a:pt x="150242" y="61392"/>
                  <a:pt x="147608" y="66660"/>
                </a:cubicBezTo>
                <a:lnTo>
                  <a:pt x="116577" y="128677"/>
                </a:lnTo>
                <a:cubicBezTo>
                  <a:pt x="115818" y="128632"/>
                  <a:pt x="115059" y="128588"/>
                  <a:pt x="114300" y="128588"/>
                </a:cubicBezTo>
                <a:cubicBezTo>
                  <a:pt x="98539" y="128588"/>
                  <a:pt x="85725" y="141402"/>
                  <a:pt x="85725" y="157163"/>
                </a:cubicBezTo>
                <a:cubicBezTo>
                  <a:pt x="85725" y="172923"/>
                  <a:pt x="98539" y="185738"/>
                  <a:pt x="114300" y="185738"/>
                </a:cubicBezTo>
                <a:close/>
                <a:moveTo>
                  <a:pt x="78581" y="64294"/>
                </a:moveTo>
                <a:cubicBezTo>
                  <a:pt x="78581" y="56408"/>
                  <a:pt x="72179" y="50006"/>
                  <a:pt x="64294" y="50006"/>
                </a:cubicBezTo>
                <a:cubicBezTo>
                  <a:pt x="56408" y="50006"/>
                  <a:pt x="50006" y="56408"/>
                  <a:pt x="50006" y="64294"/>
                </a:cubicBezTo>
                <a:cubicBezTo>
                  <a:pt x="50006" y="72179"/>
                  <a:pt x="56408" y="78581"/>
                  <a:pt x="64294" y="78581"/>
                </a:cubicBezTo>
                <a:cubicBezTo>
                  <a:pt x="72179" y="78581"/>
                  <a:pt x="78581" y="72179"/>
                  <a:pt x="78581" y="64294"/>
                </a:cubicBezTo>
                <a:close/>
                <a:moveTo>
                  <a:pt x="42863" y="128588"/>
                </a:moveTo>
                <a:cubicBezTo>
                  <a:pt x="50748" y="128588"/>
                  <a:pt x="57150" y="122185"/>
                  <a:pt x="57150" y="114300"/>
                </a:cubicBezTo>
                <a:cubicBezTo>
                  <a:pt x="57150" y="106415"/>
                  <a:pt x="50748" y="100013"/>
                  <a:pt x="42863" y="100013"/>
                </a:cubicBezTo>
                <a:cubicBezTo>
                  <a:pt x="34977" y="100013"/>
                  <a:pt x="28575" y="106415"/>
                  <a:pt x="28575" y="114300"/>
                </a:cubicBezTo>
                <a:cubicBezTo>
                  <a:pt x="28575" y="122185"/>
                  <a:pt x="34977" y="128588"/>
                  <a:pt x="42863" y="128588"/>
                </a:cubicBezTo>
                <a:close/>
                <a:moveTo>
                  <a:pt x="200025" y="114300"/>
                </a:moveTo>
                <a:cubicBezTo>
                  <a:pt x="200025" y="106415"/>
                  <a:pt x="193623" y="100013"/>
                  <a:pt x="185738" y="100013"/>
                </a:cubicBezTo>
                <a:cubicBezTo>
                  <a:pt x="177852" y="100013"/>
                  <a:pt x="171450" y="106415"/>
                  <a:pt x="171450" y="114300"/>
                </a:cubicBezTo>
                <a:cubicBezTo>
                  <a:pt x="171450" y="122185"/>
                  <a:pt x="177852" y="128588"/>
                  <a:pt x="185738" y="128588"/>
                </a:cubicBezTo>
                <a:cubicBezTo>
                  <a:pt x="193623" y="128588"/>
                  <a:pt x="200025" y="122185"/>
                  <a:pt x="200025" y="114300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812800" y="4597400"/>
            <a:ext cx="436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动态优化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12800" y="4902200"/>
            <a:ext cx="4356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运行时根据数据量动态调整并行度，提升资源利用率。</a:t>
            </a:r>
            <a:endParaRPr lang="en-US" sz="1600" dirty="0"/>
          </a:p>
        </p:txBody>
      </p:sp>
      <p:pic>
        <p:nvPicPr>
          <p:cNvPr id="19" name="Image 1" descr="https://statics.moonshot.cn/kimi-ppt/html-gen/static/image-err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783134"/>
            <a:ext cx="5842000" cy="5295900"/>
          </a:xfrm>
          <a:prstGeom prst="roundRect">
            <a:avLst>
              <a:gd name="adj" fmla="val 1918"/>
            </a:avLst>
          </a:prstGeom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test-kimi-img.moonshot.cn/pub/slides/slides_tmpl/image/25-08-11-17:38:55-d2crkbv0ctitcgma2i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8750" y="14478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8F5C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Spark 内存迭代与 RDD 转换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03200" y="2108200"/>
            <a:ext cx="1178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Hive on Spark 将物理计划转换为 Spark 的 RDD 转换操作，利用内存计算优势，特别适合迭代算法和机器学习场景。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97148" y="27178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D3B9D7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1406723" y="30988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142875"/>
                </a:lnTo>
                <a:cubicBezTo>
                  <a:pt x="0" y="174397"/>
                  <a:pt x="25628" y="200025"/>
                  <a:pt x="57150" y="200025"/>
                </a:cubicBezTo>
                <a:lnTo>
                  <a:pt x="342900" y="200025"/>
                </a:lnTo>
                <a:cubicBezTo>
                  <a:pt x="374422" y="200025"/>
                  <a:pt x="400050" y="174397"/>
                  <a:pt x="400050" y="142875"/>
                </a:cubicBezTo>
                <a:lnTo>
                  <a:pt x="400050" y="85725"/>
                </a:lnTo>
                <a:cubicBezTo>
                  <a:pt x="400050" y="54203"/>
                  <a:pt x="374422" y="28575"/>
                  <a:pt x="342900" y="28575"/>
                </a:cubicBezTo>
                <a:lnTo>
                  <a:pt x="57150" y="28575"/>
                </a:lnTo>
                <a:close/>
                <a:moveTo>
                  <a:pt x="250031" y="92869"/>
                </a:moveTo>
                <a:cubicBezTo>
                  <a:pt x="261859" y="92869"/>
                  <a:pt x="271463" y="102472"/>
                  <a:pt x="271463" y="114300"/>
                </a:cubicBezTo>
                <a:cubicBezTo>
                  <a:pt x="271463" y="126128"/>
                  <a:pt x="261859" y="135731"/>
                  <a:pt x="250031" y="135731"/>
                </a:cubicBezTo>
                <a:cubicBezTo>
                  <a:pt x="238203" y="135731"/>
                  <a:pt x="228600" y="126128"/>
                  <a:pt x="228600" y="114300"/>
                </a:cubicBezTo>
                <a:cubicBezTo>
                  <a:pt x="228600" y="102472"/>
                  <a:pt x="238203" y="92869"/>
                  <a:pt x="250031" y="92869"/>
                </a:cubicBezTo>
                <a:close/>
                <a:moveTo>
                  <a:pt x="300038" y="114300"/>
                </a:moveTo>
                <a:cubicBezTo>
                  <a:pt x="300038" y="102472"/>
                  <a:pt x="309641" y="92869"/>
                  <a:pt x="321469" y="92869"/>
                </a:cubicBezTo>
                <a:cubicBezTo>
                  <a:pt x="333297" y="92869"/>
                  <a:pt x="342900" y="102472"/>
                  <a:pt x="342900" y="114300"/>
                </a:cubicBezTo>
                <a:cubicBezTo>
                  <a:pt x="342900" y="126128"/>
                  <a:pt x="333297" y="135731"/>
                  <a:pt x="321469" y="135731"/>
                </a:cubicBezTo>
                <a:cubicBezTo>
                  <a:pt x="309641" y="135731"/>
                  <a:pt x="300038" y="126128"/>
                  <a:pt x="300038" y="114300"/>
                </a:cubicBezTo>
                <a:close/>
                <a:moveTo>
                  <a:pt x="57150" y="257175"/>
                </a:moveTo>
                <a:cubicBezTo>
                  <a:pt x="25628" y="257175"/>
                  <a:pt x="0" y="282803"/>
                  <a:pt x="0" y="314325"/>
                </a:cubicBezTo>
                <a:lnTo>
                  <a:pt x="0" y="371475"/>
                </a:lnTo>
                <a:cubicBezTo>
                  <a:pt x="0" y="402997"/>
                  <a:pt x="25628" y="428625"/>
                  <a:pt x="57150" y="428625"/>
                </a:cubicBezTo>
                <a:lnTo>
                  <a:pt x="342900" y="428625"/>
                </a:lnTo>
                <a:cubicBezTo>
                  <a:pt x="374422" y="428625"/>
                  <a:pt x="400050" y="402997"/>
                  <a:pt x="400050" y="371475"/>
                </a:cubicBezTo>
                <a:lnTo>
                  <a:pt x="400050" y="314325"/>
                </a:lnTo>
                <a:cubicBezTo>
                  <a:pt x="400050" y="282803"/>
                  <a:pt x="374422" y="257175"/>
                  <a:pt x="342900" y="257175"/>
                </a:cubicBezTo>
                <a:lnTo>
                  <a:pt x="57150" y="257175"/>
                </a:lnTo>
                <a:close/>
                <a:moveTo>
                  <a:pt x="250031" y="321469"/>
                </a:moveTo>
                <a:cubicBezTo>
                  <a:pt x="261859" y="321469"/>
                  <a:pt x="271463" y="331072"/>
                  <a:pt x="271463" y="342900"/>
                </a:cubicBezTo>
                <a:cubicBezTo>
                  <a:pt x="271463" y="354728"/>
                  <a:pt x="261859" y="364331"/>
                  <a:pt x="250031" y="364331"/>
                </a:cubicBezTo>
                <a:cubicBezTo>
                  <a:pt x="238203" y="364331"/>
                  <a:pt x="228600" y="354728"/>
                  <a:pt x="228600" y="342900"/>
                </a:cubicBezTo>
                <a:cubicBezTo>
                  <a:pt x="228600" y="331072"/>
                  <a:pt x="238203" y="321469"/>
                  <a:pt x="250031" y="321469"/>
                </a:cubicBezTo>
                <a:close/>
                <a:moveTo>
                  <a:pt x="300038" y="342900"/>
                </a:moveTo>
                <a:cubicBezTo>
                  <a:pt x="300038" y="331072"/>
                  <a:pt x="309641" y="321469"/>
                  <a:pt x="321469" y="321469"/>
                </a:cubicBezTo>
                <a:cubicBezTo>
                  <a:pt x="333297" y="321469"/>
                  <a:pt x="342900" y="331072"/>
                  <a:pt x="342900" y="342900"/>
                </a:cubicBezTo>
                <a:cubicBezTo>
                  <a:pt x="342900" y="354728"/>
                  <a:pt x="333297" y="364331"/>
                  <a:pt x="321469" y="364331"/>
                </a:cubicBezTo>
                <a:cubicBezTo>
                  <a:pt x="309641" y="364331"/>
                  <a:pt x="300038" y="354728"/>
                  <a:pt x="300038" y="342900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895449" y="4038600"/>
            <a:ext cx="142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HiveServer2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08149" y="4394200"/>
            <a:ext cx="139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提交物理计划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658096" y="3479800"/>
            <a:ext cx="457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A95EA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530751" y="27178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D3B9D7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5940326" y="30988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302538" y="-8840"/>
                </a:moveTo>
                <a:cubicBezTo>
                  <a:pt x="313164" y="-1161"/>
                  <a:pt x="317093" y="12769"/>
                  <a:pt x="312271" y="24914"/>
                </a:cubicBezTo>
                <a:lnTo>
                  <a:pt x="242262" y="200025"/>
                </a:lnTo>
                <a:lnTo>
                  <a:pt x="371475" y="200025"/>
                </a:lnTo>
                <a:cubicBezTo>
                  <a:pt x="383530" y="200025"/>
                  <a:pt x="394246" y="207526"/>
                  <a:pt x="398353" y="218867"/>
                </a:cubicBezTo>
                <a:cubicBezTo>
                  <a:pt x="402461" y="230207"/>
                  <a:pt x="398978" y="242888"/>
                  <a:pt x="389781" y="250567"/>
                </a:cubicBezTo>
                <a:lnTo>
                  <a:pt x="132606" y="464880"/>
                </a:lnTo>
                <a:cubicBezTo>
                  <a:pt x="122515" y="473273"/>
                  <a:pt x="108139" y="473720"/>
                  <a:pt x="97512" y="466040"/>
                </a:cubicBezTo>
                <a:cubicBezTo>
                  <a:pt x="86886" y="458361"/>
                  <a:pt x="82957" y="444431"/>
                  <a:pt x="87779" y="432286"/>
                </a:cubicBezTo>
                <a:lnTo>
                  <a:pt x="157788" y="257175"/>
                </a:lnTo>
                <a:lnTo>
                  <a:pt x="28575" y="257175"/>
                </a:lnTo>
                <a:cubicBezTo>
                  <a:pt x="16520" y="257175"/>
                  <a:pt x="5804" y="249674"/>
                  <a:pt x="1697" y="238333"/>
                </a:cubicBezTo>
                <a:cubicBezTo>
                  <a:pt x="-2411" y="226993"/>
                  <a:pt x="1072" y="214312"/>
                  <a:pt x="10269" y="206633"/>
                </a:cubicBezTo>
                <a:lnTo>
                  <a:pt x="267444" y="-7680"/>
                </a:lnTo>
                <a:cubicBezTo>
                  <a:pt x="277535" y="-16073"/>
                  <a:pt x="291911" y="-16520"/>
                  <a:pt x="302538" y="-8840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5302945" y="4038600"/>
            <a:ext cx="1676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Spark Context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315645" y="4394200"/>
            <a:ext cx="165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调度任务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317805" y="3479800"/>
            <a:ext cx="457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A95EA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0019804" y="27178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D3B9D7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10400804" y="3098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25628" y="57150"/>
                  <a:pt x="0" y="82778"/>
                  <a:pt x="0" y="114300"/>
                </a:cubicBezTo>
                <a:lnTo>
                  <a:pt x="0" y="120908"/>
                </a:lnTo>
                <a:cubicBezTo>
                  <a:pt x="0" y="126980"/>
                  <a:pt x="3929" y="132159"/>
                  <a:pt x="9019" y="135463"/>
                </a:cubicBezTo>
                <a:cubicBezTo>
                  <a:pt x="20806" y="143143"/>
                  <a:pt x="28575" y="156359"/>
                  <a:pt x="28575" y="171450"/>
                </a:cubicBezTo>
                <a:cubicBezTo>
                  <a:pt x="28575" y="186541"/>
                  <a:pt x="20806" y="199757"/>
                  <a:pt x="9019" y="207437"/>
                </a:cubicBezTo>
                <a:cubicBezTo>
                  <a:pt x="3929" y="210741"/>
                  <a:pt x="0" y="215920"/>
                  <a:pt x="0" y="221992"/>
                </a:cubicBezTo>
                <a:lnTo>
                  <a:pt x="0" y="271463"/>
                </a:lnTo>
                <a:lnTo>
                  <a:pt x="457200" y="271463"/>
                </a:lnTo>
                <a:lnTo>
                  <a:pt x="457200" y="221992"/>
                </a:lnTo>
                <a:cubicBezTo>
                  <a:pt x="457200" y="215920"/>
                  <a:pt x="453271" y="210741"/>
                  <a:pt x="448181" y="207437"/>
                </a:cubicBezTo>
                <a:cubicBezTo>
                  <a:pt x="436394" y="199757"/>
                  <a:pt x="428625" y="186541"/>
                  <a:pt x="428625" y="171450"/>
                </a:cubicBezTo>
                <a:cubicBezTo>
                  <a:pt x="428625" y="156359"/>
                  <a:pt x="436394" y="143143"/>
                  <a:pt x="448181" y="135463"/>
                </a:cubicBezTo>
                <a:cubicBezTo>
                  <a:pt x="453271" y="132159"/>
                  <a:pt x="457200" y="126980"/>
                  <a:pt x="457200" y="120908"/>
                </a:cubicBezTo>
                <a:lnTo>
                  <a:pt x="457200" y="114300"/>
                </a:lnTo>
                <a:cubicBezTo>
                  <a:pt x="457200" y="82778"/>
                  <a:pt x="431572" y="57150"/>
                  <a:pt x="400050" y="57150"/>
                </a:cubicBezTo>
                <a:lnTo>
                  <a:pt x="57150" y="57150"/>
                </a:lnTo>
                <a:close/>
                <a:moveTo>
                  <a:pt x="457200" y="371475"/>
                </a:moveTo>
                <a:lnTo>
                  <a:pt x="457200" y="314325"/>
                </a:lnTo>
                <a:lnTo>
                  <a:pt x="0" y="314325"/>
                </a:lnTo>
                <a:lnTo>
                  <a:pt x="0" y="371475"/>
                </a:lnTo>
                <a:cubicBezTo>
                  <a:pt x="0" y="387281"/>
                  <a:pt x="12769" y="400050"/>
                  <a:pt x="28575" y="400050"/>
                </a:cubicBezTo>
                <a:lnTo>
                  <a:pt x="85725" y="400050"/>
                </a:lnTo>
                <a:lnTo>
                  <a:pt x="85725" y="378619"/>
                </a:lnTo>
                <a:cubicBezTo>
                  <a:pt x="85725" y="366742"/>
                  <a:pt x="95280" y="357188"/>
                  <a:pt x="107156" y="357188"/>
                </a:cubicBezTo>
                <a:cubicBezTo>
                  <a:pt x="119033" y="357188"/>
                  <a:pt x="128588" y="366742"/>
                  <a:pt x="128588" y="378619"/>
                </a:cubicBezTo>
                <a:lnTo>
                  <a:pt x="128588" y="400050"/>
                </a:lnTo>
                <a:lnTo>
                  <a:pt x="207169" y="400050"/>
                </a:lnTo>
                <a:lnTo>
                  <a:pt x="207169" y="378619"/>
                </a:lnTo>
                <a:cubicBezTo>
                  <a:pt x="207169" y="366742"/>
                  <a:pt x="216724" y="357188"/>
                  <a:pt x="228600" y="357188"/>
                </a:cubicBezTo>
                <a:cubicBezTo>
                  <a:pt x="240476" y="357188"/>
                  <a:pt x="250031" y="366742"/>
                  <a:pt x="250031" y="378619"/>
                </a:cubicBezTo>
                <a:lnTo>
                  <a:pt x="250031" y="400050"/>
                </a:lnTo>
                <a:lnTo>
                  <a:pt x="328613" y="400050"/>
                </a:lnTo>
                <a:lnTo>
                  <a:pt x="328613" y="378619"/>
                </a:lnTo>
                <a:cubicBezTo>
                  <a:pt x="328613" y="366742"/>
                  <a:pt x="338167" y="357188"/>
                  <a:pt x="350044" y="357188"/>
                </a:cubicBezTo>
                <a:cubicBezTo>
                  <a:pt x="361920" y="357188"/>
                  <a:pt x="371475" y="366742"/>
                  <a:pt x="371475" y="378619"/>
                </a:cubicBezTo>
                <a:lnTo>
                  <a:pt x="371475" y="400050"/>
                </a:lnTo>
                <a:lnTo>
                  <a:pt x="428625" y="400050"/>
                </a:lnTo>
                <a:cubicBezTo>
                  <a:pt x="444431" y="400050"/>
                  <a:pt x="457200" y="387281"/>
                  <a:pt x="457200" y="371475"/>
                </a:cubicBezTo>
                <a:close/>
                <a:moveTo>
                  <a:pt x="142875" y="142875"/>
                </a:moveTo>
                <a:lnTo>
                  <a:pt x="142875" y="200025"/>
                </a:lnTo>
                <a:cubicBezTo>
                  <a:pt x="142875" y="215831"/>
                  <a:pt x="130106" y="228600"/>
                  <a:pt x="114300" y="228600"/>
                </a:cubicBezTo>
                <a:cubicBezTo>
                  <a:pt x="98494" y="228600"/>
                  <a:pt x="85725" y="215831"/>
                  <a:pt x="85725" y="200025"/>
                </a:cubicBezTo>
                <a:lnTo>
                  <a:pt x="85725" y="142875"/>
                </a:lnTo>
                <a:cubicBezTo>
                  <a:pt x="85725" y="127069"/>
                  <a:pt x="98494" y="114300"/>
                  <a:pt x="114300" y="114300"/>
                </a:cubicBezTo>
                <a:cubicBezTo>
                  <a:pt x="130106" y="114300"/>
                  <a:pt x="142875" y="127069"/>
                  <a:pt x="142875" y="142875"/>
                </a:cubicBezTo>
                <a:close/>
                <a:moveTo>
                  <a:pt x="257175" y="142875"/>
                </a:moveTo>
                <a:lnTo>
                  <a:pt x="257175" y="200025"/>
                </a:lnTo>
                <a:cubicBezTo>
                  <a:pt x="257175" y="215831"/>
                  <a:pt x="244406" y="228600"/>
                  <a:pt x="228600" y="228600"/>
                </a:cubicBezTo>
                <a:cubicBezTo>
                  <a:pt x="212794" y="228600"/>
                  <a:pt x="200025" y="215831"/>
                  <a:pt x="200025" y="200025"/>
                </a:cubicBezTo>
                <a:lnTo>
                  <a:pt x="200025" y="142875"/>
                </a:lnTo>
                <a:cubicBezTo>
                  <a:pt x="200025" y="127069"/>
                  <a:pt x="212794" y="114300"/>
                  <a:pt x="228600" y="114300"/>
                </a:cubicBezTo>
                <a:cubicBezTo>
                  <a:pt x="244406" y="114300"/>
                  <a:pt x="257175" y="127069"/>
                  <a:pt x="257175" y="142875"/>
                </a:cubicBezTo>
                <a:close/>
                <a:moveTo>
                  <a:pt x="371475" y="142875"/>
                </a:moveTo>
                <a:lnTo>
                  <a:pt x="371475" y="200025"/>
                </a:lnTo>
                <a:cubicBezTo>
                  <a:pt x="371475" y="215831"/>
                  <a:pt x="358706" y="228600"/>
                  <a:pt x="342900" y="228600"/>
                </a:cubicBezTo>
                <a:cubicBezTo>
                  <a:pt x="327094" y="228600"/>
                  <a:pt x="314325" y="215831"/>
                  <a:pt x="314325" y="200025"/>
                </a:cubicBezTo>
                <a:lnTo>
                  <a:pt x="314325" y="142875"/>
                </a:lnTo>
                <a:cubicBezTo>
                  <a:pt x="314325" y="127069"/>
                  <a:pt x="327094" y="114300"/>
                  <a:pt x="342900" y="114300"/>
                </a:cubicBezTo>
                <a:cubicBezTo>
                  <a:pt x="358706" y="114300"/>
                  <a:pt x="371475" y="127069"/>
                  <a:pt x="371475" y="142875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9962654" y="4038600"/>
            <a:ext cx="133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Executor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975354" y="4394200"/>
            <a:ext cx="1308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内存计算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254000" y="4953000"/>
            <a:ext cx="11684000" cy="457200"/>
          </a:xfrm>
          <a:custGeom>
            <a:avLst/>
            <a:gdLst/>
            <a:ahLst/>
            <a:cxnLst/>
            <a:rect l="l" t="t" r="r" b="b"/>
            <a:pathLst>
              <a:path w="11684000" h="457200">
                <a:moveTo>
                  <a:pt x="101599" y="0"/>
                </a:moveTo>
                <a:lnTo>
                  <a:pt x="11582401" y="0"/>
                </a:lnTo>
                <a:cubicBezTo>
                  <a:pt x="11638513" y="0"/>
                  <a:pt x="11684000" y="45487"/>
                  <a:pt x="11684000" y="101599"/>
                </a:cubicBezTo>
                <a:lnTo>
                  <a:pt x="11684000" y="355601"/>
                </a:lnTo>
                <a:cubicBezTo>
                  <a:pt x="11684000" y="411713"/>
                  <a:pt x="11638513" y="457200"/>
                  <a:pt x="115824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60A39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209550" y="4953000"/>
            <a:ext cx="117729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0A3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优势：内存计算加速迭代。挑战：需关注资源隔离与GC调优。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test-kimi-img.moonshot.cn/pub/slides/slides_tmpl/image/25-08-11-17:38:55-d2crkbv0ctitcgma2i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pic>
        <p:nvPicPr>
          <p:cNvPr id="5" name="Image 1" descr="https://kimi-web-img.moonshot.cn/img/blog.seas.upenn.edu/5dc6c8273f51c518c8c7ca38988a3b0a29d47218.jpg"/>
          <p:cNvPicPr>
            <a:picLocks noChangeAspect="1"/>
          </p:cNvPicPr>
          <p:nvPr/>
        </p:nvPicPr>
        <p:blipFill>
          <a:blip r:embed="rId4"/>
          <a:srcRect l="13229" r="13229"/>
          <a:stretch/>
        </p:blipFill>
        <p:spPr>
          <a:xfrm>
            <a:off x="254000" y="783134"/>
            <a:ext cx="5842000" cy="5295900"/>
          </a:xfrm>
          <a:prstGeom prst="roundRect">
            <a:avLst>
              <a:gd name="adj" fmla="val 1918"/>
            </a:avLst>
          </a:prstGeom>
        </p:spPr>
      </p:pic>
      <p:sp>
        <p:nvSpPr>
          <p:cNvPr id="6" name="Text 2"/>
          <p:cNvSpPr/>
          <p:nvPr/>
        </p:nvSpPr>
        <p:spPr>
          <a:xfrm>
            <a:off x="6400800" y="1549400"/>
            <a:ext cx="572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8F5C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LLAP 常驻缓存与亚秒查询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400800" y="2209800"/>
            <a:ext cx="563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LLAP (Live Long and Process) 是一种混合执行模型，通过常驻的 Daemon 进程提供内存缓存和即时计算能力，实现交互式查询的亚秒级响应。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6400800" y="3327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D3B9D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5"/>
          <p:cNvSpPr/>
          <p:nvPr/>
        </p:nvSpPr>
        <p:spPr>
          <a:xfrm>
            <a:off x="6507163" y="34163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71438"/>
                </a:lnTo>
                <a:cubicBezTo>
                  <a:pt x="0" y="87198"/>
                  <a:pt x="12814" y="100013"/>
                  <a:pt x="28575" y="100013"/>
                </a:cubicBezTo>
                <a:lnTo>
                  <a:pt x="171450" y="100013"/>
                </a:lnTo>
                <a:cubicBezTo>
                  <a:pt x="187211" y="100013"/>
                  <a:pt x="200025" y="87198"/>
                  <a:pt x="200025" y="714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125016" y="46434"/>
                </a:moveTo>
                <a:cubicBezTo>
                  <a:pt x="130930" y="46434"/>
                  <a:pt x="135731" y="51236"/>
                  <a:pt x="135731" y="57150"/>
                </a:cubicBezTo>
                <a:cubicBezTo>
                  <a:pt x="135731" y="63064"/>
                  <a:pt x="130930" y="67866"/>
                  <a:pt x="125016" y="67866"/>
                </a:cubicBezTo>
                <a:cubicBezTo>
                  <a:pt x="119102" y="67866"/>
                  <a:pt x="114300" y="63064"/>
                  <a:pt x="114300" y="57150"/>
                </a:cubicBezTo>
                <a:cubicBezTo>
                  <a:pt x="114300" y="51236"/>
                  <a:pt x="119102" y="46434"/>
                  <a:pt x="125016" y="46434"/>
                </a:cubicBezTo>
                <a:close/>
                <a:moveTo>
                  <a:pt x="150019" y="57150"/>
                </a:moveTo>
                <a:cubicBezTo>
                  <a:pt x="150019" y="51236"/>
                  <a:pt x="154820" y="46434"/>
                  <a:pt x="160734" y="46434"/>
                </a:cubicBezTo>
                <a:cubicBezTo>
                  <a:pt x="166648" y="46434"/>
                  <a:pt x="171450" y="51236"/>
                  <a:pt x="171450" y="57150"/>
                </a:cubicBezTo>
                <a:cubicBezTo>
                  <a:pt x="171450" y="63064"/>
                  <a:pt x="166648" y="67866"/>
                  <a:pt x="160734" y="67866"/>
                </a:cubicBezTo>
                <a:cubicBezTo>
                  <a:pt x="154820" y="67866"/>
                  <a:pt x="150019" y="63064"/>
                  <a:pt x="150019" y="57150"/>
                </a:cubicBezTo>
                <a:close/>
                <a:moveTo>
                  <a:pt x="28575" y="128588"/>
                </a:move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lose/>
                <a:moveTo>
                  <a:pt x="125016" y="160734"/>
                </a:moveTo>
                <a:cubicBezTo>
                  <a:pt x="130930" y="160734"/>
                  <a:pt x="135731" y="165536"/>
                  <a:pt x="135731" y="171450"/>
                </a:cubicBezTo>
                <a:cubicBezTo>
                  <a:pt x="135731" y="177364"/>
                  <a:pt x="130930" y="182166"/>
                  <a:pt x="125016" y="182166"/>
                </a:cubicBezTo>
                <a:cubicBezTo>
                  <a:pt x="119102" y="182166"/>
                  <a:pt x="114300" y="177364"/>
                  <a:pt x="114300" y="171450"/>
                </a:cubicBezTo>
                <a:cubicBezTo>
                  <a:pt x="114300" y="165536"/>
                  <a:pt x="119102" y="160734"/>
                  <a:pt x="125016" y="160734"/>
                </a:cubicBezTo>
                <a:close/>
                <a:moveTo>
                  <a:pt x="150019" y="171450"/>
                </a:moveTo>
                <a:cubicBezTo>
                  <a:pt x="150019" y="165536"/>
                  <a:pt x="154820" y="160734"/>
                  <a:pt x="160734" y="160734"/>
                </a:cubicBezTo>
                <a:cubicBezTo>
                  <a:pt x="166648" y="160734"/>
                  <a:pt x="171450" y="165536"/>
                  <a:pt x="171450" y="171450"/>
                </a:cubicBezTo>
                <a:cubicBezTo>
                  <a:pt x="171450" y="177364"/>
                  <a:pt x="166648" y="182166"/>
                  <a:pt x="160734" y="182166"/>
                </a:cubicBezTo>
                <a:cubicBezTo>
                  <a:pt x="154820" y="182166"/>
                  <a:pt x="150019" y="177364"/>
                  <a:pt x="150019" y="171450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6"/>
          <p:cNvSpPr/>
          <p:nvPr/>
        </p:nvSpPr>
        <p:spPr>
          <a:xfrm>
            <a:off x="6959600" y="3327400"/>
            <a:ext cx="3835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LLAP Daemon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959600" y="3632200"/>
            <a:ext cx="3822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常驻进程，持有内存缓存，处理部分查询片段。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400800" y="4038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D3B9D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9"/>
          <p:cNvSpPr/>
          <p:nvPr/>
        </p:nvSpPr>
        <p:spPr>
          <a:xfrm>
            <a:off x="6492875" y="4127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0"/>
          <p:cNvSpPr/>
          <p:nvPr/>
        </p:nvSpPr>
        <p:spPr>
          <a:xfrm>
            <a:off x="6959600" y="4038600"/>
            <a:ext cx="4229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混合执行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959600" y="4343400"/>
            <a:ext cx="421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简单查询由 LLAP 直接处理，复杂查询提交 YARN。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400800" y="4749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D3B9D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3"/>
          <p:cNvSpPr/>
          <p:nvPr/>
        </p:nvSpPr>
        <p:spPr>
          <a:xfrm>
            <a:off x="6507163" y="48387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1269" y="-4420"/>
                </a:moveTo>
                <a:cubicBezTo>
                  <a:pt x="156582" y="-580"/>
                  <a:pt x="158547" y="6385"/>
                  <a:pt x="156136" y="12457"/>
                </a:cubicBezTo>
                <a:lnTo>
                  <a:pt x="121131" y="100013"/>
                </a:lnTo>
                <a:lnTo>
                  <a:pt x="185738" y="100013"/>
                </a:lnTo>
                <a:cubicBezTo>
                  <a:pt x="191765" y="100013"/>
                  <a:pt x="197123" y="103763"/>
                  <a:pt x="199177" y="109433"/>
                </a:cubicBezTo>
                <a:cubicBezTo>
                  <a:pt x="201231" y="115104"/>
                  <a:pt x="199489" y="121444"/>
                  <a:pt x="194890" y="125284"/>
                </a:cubicBezTo>
                <a:lnTo>
                  <a:pt x="66303" y="232440"/>
                </a:lnTo>
                <a:cubicBezTo>
                  <a:pt x="61258" y="236637"/>
                  <a:pt x="54069" y="236860"/>
                  <a:pt x="48756" y="233020"/>
                </a:cubicBezTo>
                <a:cubicBezTo>
                  <a:pt x="43443" y="229180"/>
                  <a:pt x="41478" y="222215"/>
                  <a:pt x="43889" y="216143"/>
                </a:cubicBezTo>
                <a:lnTo>
                  <a:pt x="78894" y="128588"/>
                </a:lnTo>
                <a:lnTo>
                  <a:pt x="14288" y="128588"/>
                </a:lnTo>
                <a:cubicBezTo>
                  <a:pt x="8260" y="128588"/>
                  <a:pt x="2902" y="124837"/>
                  <a:pt x="848" y="119167"/>
                </a:cubicBezTo>
                <a:cubicBezTo>
                  <a:pt x="-1206" y="113496"/>
                  <a:pt x="536" y="107156"/>
                  <a:pt x="5135" y="103316"/>
                </a:cubicBezTo>
                <a:lnTo>
                  <a:pt x="133722" y="-3840"/>
                </a:lnTo>
                <a:cubicBezTo>
                  <a:pt x="138767" y="-8037"/>
                  <a:pt x="145956" y="-8260"/>
                  <a:pt x="151269" y="-4420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4"/>
          <p:cNvSpPr/>
          <p:nvPr/>
        </p:nvSpPr>
        <p:spPr>
          <a:xfrm>
            <a:off x="6959600" y="4749800"/>
            <a:ext cx="3835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亚秒级响应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959600" y="5054600"/>
            <a:ext cx="3822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通过缓存和向量化读取，实现交互式查询体验。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gradFill flip="none" rotWithShape="1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5280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5280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3665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13665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42049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42049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70434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70434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98818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98818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27203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227203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456035" y="38163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1456035" y="381635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456035" y="501650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1456035" y="501650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456035" y="62166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1456035" y="621665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727190" y="6306820"/>
            <a:ext cx="100800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52805" y="6177280"/>
            <a:ext cx="259080" cy="259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52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79805" y="6177280"/>
            <a:ext cx="259080" cy="2590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979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863725" y="2687320"/>
            <a:ext cx="8464550" cy="23069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1863725" y="2687320"/>
            <a:ext cx="8464550" cy="23069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数据存储与文件格式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515235" y="1350010"/>
            <a:ext cx="7161530" cy="10985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test-kimi-img.moonshot.cn/pub/slides/slides_tmpl/image/25-08-11-17:38:55-d2crkbv0ctitcgma2i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4000" y="1371600"/>
            <a:ext cx="572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8F5C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内外表差异与 LOCATION 策略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54000" y="2032000"/>
            <a:ext cx="5638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选择内部表还是外部表，是数据管理的重要决策，直接影响数据的生命周期和共享方式。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54000" y="2844800"/>
            <a:ext cx="5537200" cy="1219200"/>
          </a:xfrm>
          <a:custGeom>
            <a:avLst/>
            <a:gdLst/>
            <a:ahLst/>
            <a:cxnLst/>
            <a:rect l="l" t="t" r="r" b="b"/>
            <a:pathLst>
              <a:path w="5537200" h="1219200">
                <a:moveTo>
                  <a:pt x="101596" y="0"/>
                </a:moveTo>
                <a:lnTo>
                  <a:pt x="5435604" y="0"/>
                </a:lnTo>
                <a:cubicBezTo>
                  <a:pt x="5491714" y="0"/>
                  <a:pt x="5537200" y="45486"/>
                  <a:pt x="5537200" y="101596"/>
                </a:cubicBezTo>
                <a:lnTo>
                  <a:pt x="5537200" y="1117604"/>
                </a:lnTo>
                <a:cubicBezTo>
                  <a:pt x="5537200" y="1173714"/>
                  <a:pt x="5491714" y="1219200"/>
                  <a:pt x="54356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8F5C9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457200" y="3048000"/>
            <a:ext cx="523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8F5C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内部表 (Managed Table)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3352800"/>
            <a:ext cx="5219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Hive 完全管理数据生命周期，</a:t>
            </a:r>
            <a:r>
              <a:rPr lang="en-US" sz="1400" dirty="0">
                <a:solidFill>
                  <a:srgbClr val="3C3542"/>
                </a:solidFill>
                <a:highlight>
                  <a:srgbClr val="D3B9D7">
                    <a:alpha val="667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DROP 表时数据会被删除 </a:t>
            </a: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。适合临时数据和中间结果。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54000" y="4267200"/>
            <a:ext cx="5537200" cy="1219200"/>
          </a:xfrm>
          <a:custGeom>
            <a:avLst/>
            <a:gdLst/>
            <a:ahLst/>
            <a:cxnLst/>
            <a:rect l="l" t="t" r="r" b="b"/>
            <a:pathLst>
              <a:path w="5537200" h="1219200">
                <a:moveTo>
                  <a:pt x="101596" y="0"/>
                </a:moveTo>
                <a:lnTo>
                  <a:pt x="5435604" y="0"/>
                </a:lnTo>
                <a:cubicBezTo>
                  <a:pt x="5491714" y="0"/>
                  <a:pt x="5537200" y="45486"/>
                  <a:pt x="5537200" y="101596"/>
                </a:cubicBezTo>
                <a:lnTo>
                  <a:pt x="5537200" y="1117604"/>
                </a:lnTo>
                <a:cubicBezTo>
                  <a:pt x="5537200" y="1173714"/>
                  <a:pt x="5491714" y="1219200"/>
                  <a:pt x="54356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60A39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457200" y="4470400"/>
            <a:ext cx="523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60A3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外部表 (External Table)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7200" y="4775200"/>
            <a:ext cx="5219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Hive 只管理元数据，</a:t>
            </a:r>
            <a:r>
              <a:rPr lang="en-US" sz="1400" dirty="0">
                <a:solidFill>
                  <a:srgbClr val="3C3542"/>
                </a:solidFill>
                <a:highlight>
                  <a:srgbClr val="D3B9D7">
                    <a:alpha val="667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DROP 表时数据不会被删除 </a:t>
            </a: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。适合与其他系统共享的数据。</a:t>
            </a:r>
            <a:endParaRPr lang="en-US" sz="1600" dirty="0"/>
          </a:p>
        </p:txBody>
      </p:sp>
      <p:pic>
        <p:nvPicPr>
          <p:cNvPr id="13" name="Image 1" descr="https://kimi-web-img.moonshot.cn/img/geekdaxue.co/d4e9240b53053fe15cbf77e9a4ede690d05e265a.jpeg"/>
          <p:cNvPicPr>
            <a:picLocks noChangeAspect="1"/>
          </p:cNvPicPr>
          <p:nvPr/>
        </p:nvPicPr>
        <p:blipFill>
          <a:blip r:embed="rId4"/>
          <a:srcRect t="26743" b="26743"/>
          <a:stretch/>
        </p:blipFill>
        <p:spPr>
          <a:xfrm>
            <a:off x="6096000" y="1047750"/>
            <a:ext cx="5842000" cy="4762500"/>
          </a:xfrm>
          <a:prstGeom prst="roundRect">
            <a:avLst>
              <a:gd name="adj" fmla="val 2133"/>
            </a:avLst>
          </a:prstGeom>
        </p:spPr>
      </p:pic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test-kimi-img.moonshot.cn/pub/slides/slides_tmpl/image/25-08-11-17:38:55-d2crkbv0ctitcgma2i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8750" y="12446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8F5C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分区策略与多级目录设计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03200" y="1905000"/>
            <a:ext cx="1178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分区是优化大规模数据查询性能的关键技术，通过将数据按特定列值进行物理分割，实现</a:t>
            </a:r>
            <a:r>
              <a:rPr lang="en-US" sz="1600" dirty="0">
                <a:solidFill>
                  <a:srgbClr val="3C3542"/>
                </a:solidFill>
                <a:highlight>
                  <a:srgbClr val="D3B9D7">
                    <a:alpha val="667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分区裁剪 </a:t>
            </a:r>
            <a:r>
              <a:rPr lang="en-US" sz="16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，避免全表扫描。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099766" y="2743200"/>
            <a:ext cx="3898900" cy="1422400"/>
          </a:xfrm>
          <a:custGeom>
            <a:avLst/>
            <a:gdLst/>
            <a:ahLst/>
            <a:cxnLst/>
            <a:rect l="l" t="t" r="r" b="b"/>
            <a:pathLst>
              <a:path w="3898900" h="1422400">
                <a:moveTo>
                  <a:pt x="101602" y="0"/>
                </a:moveTo>
                <a:lnTo>
                  <a:pt x="3797298" y="0"/>
                </a:lnTo>
                <a:cubicBezTo>
                  <a:pt x="3853411" y="0"/>
                  <a:pt x="3898900" y="45489"/>
                  <a:pt x="3898900" y="101602"/>
                </a:cubicBezTo>
                <a:lnTo>
                  <a:pt x="3898900" y="1320798"/>
                </a:lnTo>
                <a:cubicBezTo>
                  <a:pt x="3898900" y="1376911"/>
                  <a:pt x="3853411" y="1422400"/>
                  <a:pt x="3797298" y="1422400"/>
                </a:cubicBezTo>
                <a:lnTo>
                  <a:pt x="101602" y="1422400"/>
                </a:lnTo>
                <a:cubicBezTo>
                  <a:pt x="45489" y="1422400"/>
                  <a:pt x="0" y="1376911"/>
                  <a:pt x="0" y="13207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D3B9D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2245816" y="2946400"/>
            <a:ext cx="3606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单级分区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258516" y="3403600"/>
            <a:ext cx="358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PARTITIONED BY (day)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264866" y="3759200"/>
            <a:ext cx="3568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适用于基数较低的分区列，如日期。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197600" y="2514600"/>
            <a:ext cx="3898900" cy="1879600"/>
          </a:xfrm>
          <a:custGeom>
            <a:avLst/>
            <a:gdLst/>
            <a:ahLst/>
            <a:cxnLst/>
            <a:rect l="l" t="t" r="r" b="b"/>
            <a:pathLst>
              <a:path w="3898900" h="1879600">
                <a:moveTo>
                  <a:pt x="101592" y="0"/>
                </a:moveTo>
                <a:lnTo>
                  <a:pt x="3797308" y="0"/>
                </a:lnTo>
                <a:cubicBezTo>
                  <a:pt x="3853416" y="0"/>
                  <a:pt x="3898900" y="45484"/>
                  <a:pt x="3898900" y="101592"/>
                </a:cubicBezTo>
                <a:lnTo>
                  <a:pt x="3898900" y="1778008"/>
                </a:lnTo>
                <a:cubicBezTo>
                  <a:pt x="3898900" y="1834116"/>
                  <a:pt x="3853416" y="1879600"/>
                  <a:pt x="3797308" y="1879600"/>
                </a:cubicBezTo>
                <a:lnTo>
                  <a:pt x="101592" y="1879600"/>
                </a:lnTo>
                <a:cubicBezTo>
                  <a:pt x="45484" y="1879600"/>
                  <a:pt x="0" y="1834116"/>
                  <a:pt x="0" y="1778008"/>
                </a:cubicBezTo>
                <a:lnTo>
                  <a:pt x="0" y="101592"/>
                </a:lnTo>
                <a:cubicBezTo>
                  <a:pt x="0" y="45522"/>
                  <a:pt x="45522" y="0"/>
                  <a:pt x="101592" y="0"/>
                </a:cubicBezTo>
                <a:close/>
              </a:path>
            </a:pathLst>
          </a:custGeom>
          <a:solidFill>
            <a:srgbClr val="8F5C9A">
              <a:alpha val="30196"/>
            </a:srgbClr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6343650" y="2717800"/>
            <a:ext cx="3606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8F5C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多级分区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356350" y="3175000"/>
            <a:ext cx="3581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PARTITIONED BY (year, month, day)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362700" y="3784600"/>
            <a:ext cx="3568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适用于基数较高的场景，避免单级分区元数据膨胀。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54000" y="4699000"/>
            <a:ext cx="11684000" cy="914400"/>
          </a:xfrm>
          <a:custGeom>
            <a:avLst/>
            <a:gdLst/>
            <a:ahLst/>
            <a:cxnLst/>
            <a:rect l="l" t="t" r="r" b="b"/>
            <a:pathLst>
              <a:path w="11684000" h="914400">
                <a:moveTo>
                  <a:pt x="101599" y="0"/>
                </a:moveTo>
                <a:lnTo>
                  <a:pt x="11582401" y="0"/>
                </a:lnTo>
                <a:cubicBezTo>
                  <a:pt x="11638513" y="0"/>
                  <a:pt x="11684000" y="45487"/>
                  <a:pt x="11684000" y="101599"/>
                </a:cubicBezTo>
                <a:lnTo>
                  <a:pt x="11684000" y="812801"/>
                </a:lnTo>
                <a:cubicBezTo>
                  <a:pt x="11684000" y="868913"/>
                  <a:pt x="11638513" y="914400"/>
                  <a:pt x="115824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60A39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406400" y="4902200"/>
            <a:ext cx="1137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60A3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动态分区插入示例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19100" y="5207000"/>
            <a:ext cx="11353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INSERT INTO TABLE sales PARTITION(year, month) SELECT ..., YEAR(date), MONTH(date) FROM raw_sales;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test-kimi-img.moonshot.cn/pub/slides/slides_tmpl/image/25-08-11-17:38:55-d2crkbv0ctitcgma2i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pic>
        <p:nvPicPr>
          <p:cNvPr id="5" name="Image 1" descr="https://kimi-web-img.moonshot.cn/img/upload.wikimedia.org/0405f182840adfbfd121981025f6e7a684a98951.jpg"/>
          <p:cNvPicPr>
            <a:picLocks noChangeAspect="1"/>
          </p:cNvPicPr>
          <p:nvPr/>
        </p:nvPicPr>
        <p:blipFill>
          <a:blip r:embed="rId4"/>
          <a:srcRect l="17720" r="17720"/>
          <a:stretch/>
        </p:blipFill>
        <p:spPr>
          <a:xfrm>
            <a:off x="254000" y="783134"/>
            <a:ext cx="5842000" cy="5295900"/>
          </a:xfrm>
          <a:prstGeom prst="roundRect">
            <a:avLst>
              <a:gd name="adj" fmla="val 1918"/>
            </a:avLst>
          </a:prstGeom>
        </p:spPr>
      </p:pic>
      <p:sp>
        <p:nvSpPr>
          <p:cNvPr id="6" name="Text 2"/>
          <p:cNvSpPr/>
          <p:nvPr/>
        </p:nvSpPr>
        <p:spPr>
          <a:xfrm>
            <a:off x="6400800" y="1549400"/>
            <a:ext cx="572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8F5C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分桶原理与 Map-Side Join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400800" y="2209800"/>
            <a:ext cx="5638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分桶表通过哈希算法将数据分布到固定数量的桶文件中，可以优化连接、采样和缓解数据倾斜。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6400800" y="3022600"/>
            <a:ext cx="5537200" cy="1320800"/>
          </a:xfrm>
          <a:custGeom>
            <a:avLst/>
            <a:gdLst/>
            <a:ahLst/>
            <a:cxnLst/>
            <a:rect l="l" t="t" r="r" b="b"/>
            <a:pathLst>
              <a:path w="5537200" h="1320800">
                <a:moveTo>
                  <a:pt x="101596" y="0"/>
                </a:moveTo>
                <a:lnTo>
                  <a:pt x="5435604" y="0"/>
                </a:lnTo>
                <a:cubicBezTo>
                  <a:pt x="5491714" y="0"/>
                  <a:pt x="5537200" y="45486"/>
                  <a:pt x="5537200" y="101596"/>
                </a:cubicBezTo>
                <a:lnTo>
                  <a:pt x="5537200" y="1219204"/>
                </a:lnTo>
                <a:cubicBezTo>
                  <a:pt x="5537200" y="1275314"/>
                  <a:pt x="5491714" y="1320800"/>
                  <a:pt x="54356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D3B9D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5"/>
          <p:cNvSpPr/>
          <p:nvPr/>
        </p:nvSpPr>
        <p:spPr>
          <a:xfrm>
            <a:off x="6604000" y="3225800"/>
            <a:ext cx="523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A95EA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Map-Side Join 加速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604000" y="3632200"/>
            <a:ext cx="5219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当两个表的分桶列相同且桶数成倍数关系时，可以避免 Reduce 阶段的 shuffle，直接在 Map 端完成连接，</a:t>
            </a:r>
            <a:r>
              <a:rPr lang="en-US" sz="1400" dirty="0">
                <a:solidFill>
                  <a:srgbClr val="3C3542"/>
                </a:solidFill>
                <a:highlight>
                  <a:srgbClr val="D3B9D7">
                    <a:alpha val="667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大幅提升性能 </a:t>
            </a: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400800" y="4546600"/>
            <a:ext cx="5537200" cy="762000"/>
          </a:xfrm>
          <a:custGeom>
            <a:avLst/>
            <a:gdLst/>
            <a:ahLst/>
            <a:cxnLst/>
            <a:rect l="l" t="t" r="r" b="b"/>
            <a:pathLst>
              <a:path w="5537200" h="762000">
                <a:moveTo>
                  <a:pt x="101597" y="0"/>
                </a:moveTo>
                <a:lnTo>
                  <a:pt x="5435603" y="0"/>
                </a:lnTo>
                <a:cubicBezTo>
                  <a:pt x="5491713" y="0"/>
                  <a:pt x="5537200" y="45487"/>
                  <a:pt x="5537200" y="101597"/>
                </a:cubicBezTo>
                <a:lnTo>
                  <a:pt x="5537200" y="660403"/>
                </a:lnTo>
                <a:cubicBezTo>
                  <a:pt x="5537200" y="716513"/>
                  <a:pt x="5491713" y="762000"/>
                  <a:pt x="54356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8F5C9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8"/>
          <p:cNvSpPr/>
          <p:nvPr/>
        </p:nvSpPr>
        <p:spPr>
          <a:xfrm>
            <a:off x="6553200" y="4699000"/>
            <a:ext cx="5321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8F5C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建表语句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53200" y="4953000"/>
            <a:ext cx="530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CLUSTERED BY (user_id) INTO 32 BUCKETS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test-kimi-img.moonshot.cn/pub/slides/slides_tmpl/image/25-08-11-17:38:55-d2crkbv0ctitcgma2i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8750" y="12192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8F5C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ORC 文件结构与三级索引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03200" y="1879600"/>
            <a:ext cx="1178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ORC (Optimized Row Columnar) 是 Hive 原生的列式存储格式，通过精巧的文件结构和索引机制，实现了极高的压缩比和查询性能。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714500" y="2794000"/>
            <a:ext cx="0" cy="762000"/>
          </a:xfrm>
          <a:prstGeom prst="line">
            <a:avLst/>
          </a:prstGeom>
          <a:noFill/>
          <a:ln w="50800">
            <a:solidFill>
              <a:srgbClr val="A95EA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1968500" y="2895600"/>
            <a:ext cx="861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文件级索引 (Footer)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968500" y="3200400"/>
            <a:ext cx="8597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包含文件元数据和每个 Stripe 的统计信息（min/max等），用于快速定位。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917700" y="3556000"/>
            <a:ext cx="0" cy="762000"/>
          </a:xfrm>
          <a:prstGeom prst="line">
            <a:avLst/>
          </a:prstGeom>
          <a:noFill/>
          <a:ln w="50800">
            <a:solidFill>
              <a:srgbClr val="8F5C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2171700" y="3657600"/>
            <a:ext cx="8407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条带级索引 (Stripe Footer)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171700" y="3962400"/>
            <a:ext cx="8394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包含列编码信息和行索引，用于在 Stripe 内快速定位。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120900" y="4318000"/>
            <a:ext cx="0" cy="762000"/>
          </a:xfrm>
          <a:prstGeom prst="line">
            <a:avLst/>
          </a:prstGeom>
          <a:noFill/>
          <a:ln w="50800">
            <a:solidFill>
              <a:srgbClr val="60A3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2374900" y="4419600"/>
            <a:ext cx="8204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行组级索引 (Row Group)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374900" y="4724400"/>
            <a:ext cx="819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更细粒度的索引，支持谓词下推跳过无关数据。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09550" y="5384800"/>
            <a:ext cx="1177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这种</a:t>
            </a:r>
            <a:r>
              <a:rPr lang="en-US" sz="1400" dirty="0">
                <a:solidFill>
                  <a:srgbClr val="3C3542"/>
                </a:solidFill>
                <a:highlight>
                  <a:srgbClr val="D3B9D7">
                    <a:alpha val="667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轻量级索引 </a:t>
            </a: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使得 ORC 能在存储层实现高效过滤，是实现“格式即优化”的核心。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test-kimi-img.moonshot.cn/pub/slides/slides_tmpl/image/25-08-11-17:38:55-d2crkbv0ctitcgma2i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4000" y="1473200"/>
            <a:ext cx="572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8F5C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Parquet 原子模型与嵌套编码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54000" y="2133600"/>
            <a:ext cx="563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Parquet 通过 Repetition Level 和 Definition Level 两个原子值，完美支持了复杂嵌套数据的无损存储，并具有优秀的跨平台兼容性。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54000" y="3251200"/>
            <a:ext cx="5537200" cy="1117600"/>
          </a:xfrm>
          <a:custGeom>
            <a:avLst/>
            <a:gdLst/>
            <a:ahLst/>
            <a:cxnLst/>
            <a:rect l="l" t="t" r="r" b="b"/>
            <a:pathLst>
              <a:path w="5537200" h="1117600">
                <a:moveTo>
                  <a:pt x="101601" y="0"/>
                </a:moveTo>
                <a:lnTo>
                  <a:pt x="5435599" y="0"/>
                </a:lnTo>
                <a:cubicBezTo>
                  <a:pt x="5491712" y="0"/>
                  <a:pt x="5537200" y="45488"/>
                  <a:pt x="5537200" y="101601"/>
                </a:cubicBezTo>
                <a:lnTo>
                  <a:pt x="5537200" y="1015999"/>
                </a:lnTo>
                <a:cubicBezTo>
                  <a:pt x="5537200" y="1072112"/>
                  <a:pt x="5491712" y="1117600"/>
                  <a:pt x="54355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D3B9D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406400" y="3403600"/>
            <a:ext cx="533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A95EA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核心编码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06400" y="3708400"/>
            <a:ext cx="5321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支持字典编码、位打包、RLE 等多种编码方式，自动选择最优方案。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54000" y="4521200"/>
            <a:ext cx="5537200" cy="863600"/>
          </a:xfrm>
          <a:custGeom>
            <a:avLst/>
            <a:gdLst/>
            <a:ahLst/>
            <a:cxnLst/>
            <a:rect l="l" t="t" r="r" b="b"/>
            <a:pathLst>
              <a:path w="5537200" h="863600">
                <a:moveTo>
                  <a:pt x="101603" y="0"/>
                </a:moveTo>
                <a:lnTo>
                  <a:pt x="5435597" y="0"/>
                </a:lnTo>
                <a:cubicBezTo>
                  <a:pt x="5491711" y="0"/>
                  <a:pt x="5537200" y="45489"/>
                  <a:pt x="5537200" y="101603"/>
                </a:cubicBezTo>
                <a:lnTo>
                  <a:pt x="5537200" y="761997"/>
                </a:lnTo>
                <a:cubicBezTo>
                  <a:pt x="5537200" y="818111"/>
                  <a:pt x="5491711" y="863600"/>
                  <a:pt x="54355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D3B9D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406400" y="4673600"/>
            <a:ext cx="533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A95EA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跨平台兼容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06400" y="4978400"/>
            <a:ext cx="5321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 Hive、Spark、Presto、Impala 等多种计算引擎无缝集成。</a:t>
            </a:r>
            <a:endParaRPr lang="en-US" sz="1600" dirty="0"/>
          </a:p>
        </p:txBody>
      </p:sp>
      <p:pic>
        <p:nvPicPr>
          <p:cNvPr id="13" name="Image 1" descr="https://kimi-web-img.moonshot.cn/img/oss-emcsprod-public.modb.pro/af6031d2451254983f949f4e2192fa00cdcdc189.png"/>
          <p:cNvPicPr>
            <a:picLocks noChangeAspect="1"/>
          </p:cNvPicPr>
          <p:nvPr/>
        </p:nvPicPr>
        <p:blipFill>
          <a:blip r:embed="rId4"/>
          <a:srcRect l="18949" r="18949"/>
          <a:stretch/>
        </p:blipFill>
        <p:spPr>
          <a:xfrm>
            <a:off x="6096000" y="783134"/>
            <a:ext cx="5842000" cy="5295900"/>
          </a:xfrm>
          <a:prstGeom prst="roundRect">
            <a:avLst>
              <a:gd name="adj" fmla="val 1918"/>
            </a:avLst>
          </a:prstGeom>
        </p:spPr>
      </p:pic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gradFill flip="none" rotWithShape="1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5280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5280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3665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13665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42049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42049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70434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70434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98818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98818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27203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227203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456035" y="38163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1456035" y="381635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456035" y="501650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1456035" y="501650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456035" y="62166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1456035" y="621665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727190" y="6306820"/>
            <a:ext cx="100800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52805" y="6177280"/>
            <a:ext cx="259080" cy="259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52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79805" y="6177280"/>
            <a:ext cx="259080" cy="2590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979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863725" y="2687320"/>
            <a:ext cx="8464550" cy="23069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1863725" y="2687320"/>
            <a:ext cx="8464550" cy="23069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压缩与性能调优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515235" y="1350010"/>
            <a:ext cx="7161530" cy="10985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test-kimi-img.moonshot.cn/pub/slides/slides_tmpl/image/25-08-11-17:38:55-d2crkbv0ctitcgma2i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8750" y="15494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8F5C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压缩算法权衡与数据温度分层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927100" y="3124200"/>
            <a:ext cx="2819400" cy="254000"/>
          </a:xfrm>
          <a:custGeom>
            <a:avLst/>
            <a:gdLst/>
            <a:ahLst/>
            <a:cxnLst/>
            <a:rect l="l" t="t" r="r" b="b"/>
            <a:pathLst>
              <a:path w="2819400" h="254000">
                <a:moveTo>
                  <a:pt x="101600" y="0"/>
                </a:moveTo>
                <a:lnTo>
                  <a:pt x="2717800" y="0"/>
                </a:lnTo>
                <a:cubicBezTo>
                  <a:pt x="2773875" y="0"/>
                  <a:pt x="2819400" y="45525"/>
                  <a:pt x="2819400" y="101600"/>
                </a:cubicBezTo>
                <a:lnTo>
                  <a:pt x="2819400" y="254000"/>
                </a:lnTo>
                <a:lnTo>
                  <a:pt x="0" y="254000"/>
                </a:ln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D3B9D7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2025650" y="3124200"/>
            <a:ext cx="622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热数据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136775" y="3556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302538" y="-8840"/>
                </a:moveTo>
                <a:cubicBezTo>
                  <a:pt x="313164" y="-1161"/>
                  <a:pt x="317093" y="12769"/>
                  <a:pt x="312271" y="24914"/>
                </a:cubicBezTo>
                <a:lnTo>
                  <a:pt x="242262" y="200025"/>
                </a:lnTo>
                <a:lnTo>
                  <a:pt x="371475" y="200025"/>
                </a:lnTo>
                <a:cubicBezTo>
                  <a:pt x="383530" y="200025"/>
                  <a:pt x="394246" y="207526"/>
                  <a:pt x="398353" y="218867"/>
                </a:cubicBezTo>
                <a:cubicBezTo>
                  <a:pt x="402461" y="230207"/>
                  <a:pt x="398978" y="242888"/>
                  <a:pt x="389781" y="250567"/>
                </a:cubicBezTo>
                <a:lnTo>
                  <a:pt x="132606" y="464880"/>
                </a:lnTo>
                <a:cubicBezTo>
                  <a:pt x="122515" y="473273"/>
                  <a:pt x="108139" y="473720"/>
                  <a:pt x="97512" y="466040"/>
                </a:cubicBezTo>
                <a:cubicBezTo>
                  <a:pt x="86886" y="458361"/>
                  <a:pt x="82957" y="444431"/>
                  <a:pt x="87779" y="432286"/>
                </a:cubicBezTo>
                <a:lnTo>
                  <a:pt x="157788" y="257175"/>
                </a:lnTo>
                <a:lnTo>
                  <a:pt x="28575" y="257175"/>
                </a:lnTo>
                <a:cubicBezTo>
                  <a:pt x="16520" y="257175"/>
                  <a:pt x="5804" y="249674"/>
                  <a:pt x="1697" y="238333"/>
                </a:cubicBezTo>
                <a:cubicBezTo>
                  <a:pt x="-2411" y="226993"/>
                  <a:pt x="1072" y="214312"/>
                  <a:pt x="10269" y="206633"/>
                </a:cubicBezTo>
                <a:lnTo>
                  <a:pt x="267444" y="-7680"/>
                </a:lnTo>
                <a:cubicBezTo>
                  <a:pt x="277535" y="-16073"/>
                  <a:pt x="291911" y="-16520"/>
                  <a:pt x="302538" y="-8840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1622425" y="4241800"/>
            <a:ext cx="1435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Snappy / LZ4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943100" y="4546600"/>
            <a:ext cx="787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(速度优先)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686300" y="3124200"/>
            <a:ext cx="2819400" cy="254000"/>
          </a:xfrm>
          <a:custGeom>
            <a:avLst/>
            <a:gdLst/>
            <a:ahLst/>
            <a:cxnLst/>
            <a:rect l="l" t="t" r="r" b="b"/>
            <a:pathLst>
              <a:path w="2819400" h="254000">
                <a:moveTo>
                  <a:pt x="101600" y="0"/>
                </a:moveTo>
                <a:lnTo>
                  <a:pt x="2717800" y="0"/>
                </a:lnTo>
                <a:cubicBezTo>
                  <a:pt x="2773875" y="0"/>
                  <a:pt x="2819400" y="45525"/>
                  <a:pt x="2819400" y="101600"/>
                </a:cubicBezTo>
                <a:lnTo>
                  <a:pt x="2819400" y="254000"/>
                </a:lnTo>
                <a:lnTo>
                  <a:pt x="0" y="254000"/>
                </a:ln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8F5C9A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5784850" y="3124200"/>
            <a:ext cx="622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温数据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810250" y="35560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342900" y="28575"/>
                </a:moveTo>
                <a:lnTo>
                  <a:pt x="457200" y="28575"/>
                </a:lnTo>
                <a:cubicBezTo>
                  <a:pt x="473006" y="28575"/>
                  <a:pt x="485775" y="41344"/>
                  <a:pt x="485775" y="57150"/>
                </a:cubicBezTo>
                <a:cubicBezTo>
                  <a:pt x="485775" y="72956"/>
                  <a:pt x="473006" y="85725"/>
                  <a:pt x="457200" y="85725"/>
                </a:cubicBezTo>
                <a:lnTo>
                  <a:pt x="355759" y="85725"/>
                </a:lnTo>
                <a:cubicBezTo>
                  <a:pt x="351115" y="108764"/>
                  <a:pt x="335310" y="127784"/>
                  <a:pt x="314325" y="136892"/>
                </a:cubicBezTo>
                <a:lnTo>
                  <a:pt x="314325" y="400050"/>
                </a:lnTo>
                <a:lnTo>
                  <a:pt x="457200" y="400050"/>
                </a:lnTo>
                <a:cubicBezTo>
                  <a:pt x="473006" y="400050"/>
                  <a:pt x="485775" y="412819"/>
                  <a:pt x="485775" y="428625"/>
                </a:cubicBezTo>
                <a:cubicBezTo>
                  <a:pt x="485775" y="444431"/>
                  <a:pt x="473006" y="457200"/>
                  <a:pt x="457200" y="457200"/>
                </a:cubicBezTo>
                <a:lnTo>
                  <a:pt x="114300" y="457200"/>
                </a:lnTo>
                <a:cubicBezTo>
                  <a:pt x="98494" y="457200"/>
                  <a:pt x="85725" y="444431"/>
                  <a:pt x="85725" y="428625"/>
                </a:cubicBezTo>
                <a:cubicBezTo>
                  <a:pt x="85725" y="412819"/>
                  <a:pt x="98494" y="400050"/>
                  <a:pt x="114300" y="400050"/>
                </a:cubicBezTo>
                <a:lnTo>
                  <a:pt x="257175" y="400050"/>
                </a:lnTo>
                <a:lnTo>
                  <a:pt x="257175" y="136892"/>
                </a:lnTo>
                <a:cubicBezTo>
                  <a:pt x="236190" y="127695"/>
                  <a:pt x="220385" y="108674"/>
                  <a:pt x="215741" y="85725"/>
                </a:cubicBezTo>
                <a:lnTo>
                  <a:pt x="114300" y="85725"/>
                </a:lnTo>
                <a:cubicBezTo>
                  <a:pt x="98494" y="85725"/>
                  <a:pt x="85725" y="72956"/>
                  <a:pt x="85725" y="57150"/>
                </a:cubicBezTo>
                <a:cubicBezTo>
                  <a:pt x="85725" y="41344"/>
                  <a:pt x="98494" y="28575"/>
                  <a:pt x="114300" y="28575"/>
                </a:cubicBezTo>
                <a:lnTo>
                  <a:pt x="228600" y="28575"/>
                </a:lnTo>
                <a:cubicBezTo>
                  <a:pt x="241637" y="11251"/>
                  <a:pt x="262354" y="0"/>
                  <a:pt x="285750" y="0"/>
                </a:cubicBezTo>
                <a:cubicBezTo>
                  <a:pt x="309146" y="0"/>
                  <a:pt x="329863" y="11251"/>
                  <a:pt x="342900" y="28575"/>
                </a:cubicBezTo>
                <a:close/>
                <a:moveTo>
                  <a:pt x="392549" y="285750"/>
                </a:moveTo>
                <a:lnTo>
                  <a:pt x="521851" y="285750"/>
                </a:lnTo>
                <a:lnTo>
                  <a:pt x="457200" y="174843"/>
                </a:lnTo>
                <a:lnTo>
                  <a:pt x="392549" y="285750"/>
                </a:lnTo>
                <a:close/>
                <a:moveTo>
                  <a:pt x="457200" y="371475"/>
                </a:moveTo>
                <a:cubicBezTo>
                  <a:pt x="401032" y="371475"/>
                  <a:pt x="354330" y="341114"/>
                  <a:pt x="344686" y="301020"/>
                </a:cubicBezTo>
                <a:cubicBezTo>
                  <a:pt x="342364" y="291197"/>
                  <a:pt x="345579" y="281107"/>
                  <a:pt x="350669" y="272355"/>
                </a:cubicBezTo>
                <a:lnTo>
                  <a:pt x="435679" y="126623"/>
                </a:lnTo>
                <a:cubicBezTo>
                  <a:pt x="440144" y="118943"/>
                  <a:pt x="448360" y="114300"/>
                  <a:pt x="457200" y="114300"/>
                </a:cubicBezTo>
                <a:cubicBezTo>
                  <a:pt x="466040" y="114300"/>
                  <a:pt x="474256" y="119033"/>
                  <a:pt x="478721" y="126623"/>
                </a:cubicBezTo>
                <a:lnTo>
                  <a:pt x="563731" y="272355"/>
                </a:lnTo>
                <a:cubicBezTo>
                  <a:pt x="568821" y="281107"/>
                  <a:pt x="572036" y="291197"/>
                  <a:pt x="569714" y="301020"/>
                </a:cubicBezTo>
                <a:cubicBezTo>
                  <a:pt x="560070" y="341025"/>
                  <a:pt x="513368" y="371475"/>
                  <a:pt x="457200" y="371475"/>
                </a:cubicBezTo>
                <a:close/>
                <a:moveTo>
                  <a:pt x="113228" y="174843"/>
                </a:moveTo>
                <a:lnTo>
                  <a:pt x="48578" y="285750"/>
                </a:lnTo>
                <a:lnTo>
                  <a:pt x="177969" y="285750"/>
                </a:lnTo>
                <a:lnTo>
                  <a:pt x="113228" y="174843"/>
                </a:lnTo>
                <a:close/>
                <a:moveTo>
                  <a:pt x="804" y="301020"/>
                </a:moveTo>
                <a:cubicBezTo>
                  <a:pt x="-1518" y="291197"/>
                  <a:pt x="1697" y="281107"/>
                  <a:pt x="6787" y="272355"/>
                </a:cubicBezTo>
                <a:lnTo>
                  <a:pt x="91797" y="126623"/>
                </a:lnTo>
                <a:cubicBezTo>
                  <a:pt x="96262" y="118943"/>
                  <a:pt x="104477" y="114300"/>
                  <a:pt x="113318" y="114300"/>
                </a:cubicBezTo>
                <a:cubicBezTo>
                  <a:pt x="122158" y="114300"/>
                  <a:pt x="130373" y="119033"/>
                  <a:pt x="134838" y="126623"/>
                </a:cubicBezTo>
                <a:lnTo>
                  <a:pt x="219849" y="272355"/>
                </a:lnTo>
                <a:cubicBezTo>
                  <a:pt x="224939" y="281107"/>
                  <a:pt x="228154" y="291197"/>
                  <a:pt x="225832" y="301020"/>
                </a:cubicBezTo>
                <a:cubicBezTo>
                  <a:pt x="216188" y="341025"/>
                  <a:pt x="169485" y="371475"/>
                  <a:pt x="113318" y="371475"/>
                </a:cubicBezTo>
                <a:cubicBezTo>
                  <a:pt x="57150" y="371475"/>
                  <a:pt x="10448" y="341114"/>
                  <a:pt x="804" y="301020"/>
                </a:cubicBezTo>
                <a:close/>
              </a:path>
            </a:pathLst>
          </a:custGeom>
          <a:solidFill>
            <a:srgbClr val="8F5C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5778500" y="42418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ZSTD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854700" y="4546600"/>
            <a:ext cx="482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(平衡)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445500" y="3124200"/>
            <a:ext cx="2819400" cy="254000"/>
          </a:xfrm>
          <a:custGeom>
            <a:avLst/>
            <a:gdLst/>
            <a:ahLst/>
            <a:cxnLst/>
            <a:rect l="l" t="t" r="r" b="b"/>
            <a:pathLst>
              <a:path w="2819400" h="254000">
                <a:moveTo>
                  <a:pt x="101600" y="0"/>
                </a:moveTo>
                <a:lnTo>
                  <a:pt x="2717800" y="0"/>
                </a:lnTo>
                <a:cubicBezTo>
                  <a:pt x="2773875" y="0"/>
                  <a:pt x="2819400" y="45525"/>
                  <a:pt x="2819400" y="101600"/>
                </a:cubicBezTo>
                <a:lnTo>
                  <a:pt x="2819400" y="254000"/>
                </a:lnTo>
                <a:lnTo>
                  <a:pt x="0" y="254000"/>
                </a:ln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60A39A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9544050" y="3124200"/>
            <a:ext cx="622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冷数据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9626600" y="355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57150"/>
                </a:moveTo>
                <a:cubicBezTo>
                  <a:pt x="0" y="41344"/>
                  <a:pt x="12769" y="28575"/>
                  <a:pt x="28575" y="28575"/>
                </a:cubicBezTo>
                <a:lnTo>
                  <a:pt x="428625" y="28575"/>
                </a:lnTo>
                <a:cubicBezTo>
                  <a:pt x="444431" y="28575"/>
                  <a:pt x="457200" y="41344"/>
                  <a:pt x="457200" y="57150"/>
                </a:cubicBezTo>
                <a:lnTo>
                  <a:pt x="457200" y="85725"/>
                </a:lnTo>
                <a:cubicBezTo>
                  <a:pt x="457200" y="101531"/>
                  <a:pt x="444431" y="114300"/>
                  <a:pt x="428625" y="114300"/>
                </a:cubicBezTo>
                <a:lnTo>
                  <a:pt x="28575" y="114300"/>
                </a:lnTo>
                <a:cubicBezTo>
                  <a:pt x="12769" y="114300"/>
                  <a:pt x="0" y="101531"/>
                  <a:pt x="0" y="85725"/>
                </a:cubicBezTo>
                <a:lnTo>
                  <a:pt x="0" y="57150"/>
                </a:lnTo>
                <a:close/>
                <a:moveTo>
                  <a:pt x="28575" y="157163"/>
                </a:moveTo>
                <a:lnTo>
                  <a:pt x="428625" y="157163"/>
                </a:lnTo>
                <a:lnTo>
                  <a:pt x="428625" y="371475"/>
                </a:lnTo>
                <a:cubicBezTo>
                  <a:pt x="428625" y="402997"/>
                  <a:pt x="402997" y="428625"/>
                  <a:pt x="371475" y="428625"/>
                </a:cubicBezTo>
                <a:lnTo>
                  <a:pt x="85725" y="428625"/>
                </a:lnTo>
                <a:cubicBezTo>
                  <a:pt x="54203" y="428625"/>
                  <a:pt x="28575" y="402997"/>
                  <a:pt x="28575" y="371475"/>
                </a:cubicBezTo>
                <a:lnTo>
                  <a:pt x="28575" y="157163"/>
                </a:lnTo>
                <a:close/>
                <a:moveTo>
                  <a:pt x="164306" y="214313"/>
                </a:moveTo>
                <a:cubicBezTo>
                  <a:pt x="152430" y="214313"/>
                  <a:pt x="142875" y="223867"/>
                  <a:pt x="142875" y="235744"/>
                </a:cubicBezTo>
                <a:cubicBezTo>
                  <a:pt x="142875" y="247620"/>
                  <a:pt x="152430" y="257175"/>
                  <a:pt x="164306" y="257175"/>
                </a:cubicBezTo>
                <a:lnTo>
                  <a:pt x="292894" y="257175"/>
                </a:lnTo>
                <a:cubicBezTo>
                  <a:pt x="304770" y="257175"/>
                  <a:pt x="314325" y="247620"/>
                  <a:pt x="314325" y="235744"/>
                </a:cubicBezTo>
                <a:cubicBezTo>
                  <a:pt x="314325" y="223867"/>
                  <a:pt x="304770" y="214313"/>
                  <a:pt x="292894" y="214313"/>
                </a:cubicBezTo>
                <a:lnTo>
                  <a:pt x="164306" y="214313"/>
                </a:lnTo>
                <a:close/>
              </a:path>
            </a:pathLst>
          </a:custGeom>
          <a:solidFill>
            <a:srgbClr val="60A3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9162852" y="4241800"/>
            <a:ext cx="138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GZIP / BZIP2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385300" y="4546600"/>
            <a:ext cx="939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(压缩比优先)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209550" y="5054600"/>
            <a:ext cx="1177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根据数据访问频率和性能要求，选择不同的压缩算法，实现</a:t>
            </a:r>
            <a:r>
              <a:rPr lang="en-US" sz="1400" dirty="0">
                <a:solidFill>
                  <a:srgbClr val="3C3542"/>
                </a:solidFill>
                <a:highlight>
                  <a:srgbClr val="D3B9D7">
                    <a:alpha val="667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存储成本、I/O性能和计算资源 </a:t>
            </a: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的最佳平衡。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test-kimi-img.moonshot.cn/pub/slides/slides_tmpl/image/25-08-11-17:38:55-d2crkbv0ctitcgma2i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pic>
        <p:nvPicPr>
          <p:cNvPr id="5" name="Image 1" descr="https://kimi-web-img.moonshot.cn/img/image-upload-xiaoniuhululu.oss-cn-shanghai.aliyuncs.com/059c0547a1531660879299f4c7797f9b28369bf2.png"/>
          <p:cNvPicPr>
            <a:picLocks noChangeAspect="1"/>
          </p:cNvPicPr>
          <p:nvPr/>
        </p:nvPicPr>
        <p:blipFill>
          <a:blip r:embed="rId4"/>
          <a:srcRect l="16133" r="16133"/>
          <a:stretch/>
        </p:blipFill>
        <p:spPr>
          <a:xfrm>
            <a:off x="254000" y="783134"/>
            <a:ext cx="5842000" cy="5295900"/>
          </a:xfrm>
          <a:prstGeom prst="roundRect">
            <a:avLst>
              <a:gd name="adj" fmla="val 1918"/>
            </a:avLst>
          </a:prstGeom>
        </p:spPr>
      </p:pic>
      <p:sp>
        <p:nvSpPr>
          <p:cNvPr id="6" name="Text 2"/>
          <p:cNvSpPr/>
          <p:nvPr/>
        </p:nvSpPr>
        <p:spPr>
          <a:xfrm>
            <a:off x="6400800" y="1930400"/>
            <a:ext cx="572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8F5C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列式压缩与向量化读取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400800" y="2590800"/>
            <a:ext cx="5638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列式存储与向量化执行引擎的结合，是提升扫描型查询性能的利器。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6400800" y="3403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D3B9D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5"/>
          <p:cNvSpPr/>
          <p:nvPr/>
        </p:nvSpPr>
        <p:spPr>
          <a:xfrm>
            <a:off x="6492875" y="3492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3597" y="100013"/>
                </a:moveTo>
                <a:lnTo>
                  <a:pt x="139303" y="100013"/>
                </a:lnTo>
                <a:cubicBezTo>
                  <a:pt x="133365" y="100013"/>
                  <a:pt x="128588" y="95235"/>
                  <a:pt x="128588" y="89297"/>
                </a:cubicBezTo>
                <a:lnTo>
                  <a:pt x="128588" y="25003"/>
                </a:lnTo>
                <a:cubicBezTo>
                  <a:pt x="128588" y="20672"/>
                  <a:pt x="131177" y="16743"/>
                  <a:pt x="135195" y="15091"/>
                </a:cubicBezTo>
                <a:cubicBezTo>
                  <a:pt x="139214" y="13439"/>
                  <a:pt x="143813" y="14377"/>
                  <a:pt x="146893" y="17413"/>
                </a:cubicBezTo>
                <a:lnTo>
                  <a:pt x="164753" y="35272"/>
                </a:lnTo>
                <a:lnTo>
                  <a:pt x="197525" y="2500"/>
                </a:lnTo>
                <a:cubicBezTo>
                  <a:pt x="199132" y="893"/>
                  <a:pt x="201320" y="0"/>
                  <a:pt x="203597" y="0"/>
                </a:cubicBezTo>
                <a:cubicBezTo>
                  <a:pt x="205874" y="0"/>
                  <a:pt x="208062" y="893"/>
                  <a:pt x="209714" y="2545"/>
                </a:cubicBezTo>
                <a:lnTo>
                  <a:pt x="226100" y="18931"/>
                </a:lnTo>
                <a:cubicBezTo>
                  <a:pt x="227707" y="20538"/>
                  <a:pt x="228600" y="22726"/>
                  <a:pt x="228600" y="25003"/>
                </a:cubicBezTo>
                <a:cubicBezTo>
                  <a:pt x="228600" y="27280"/>
                  <a:pt x="227707" y="29468"/>
                  <a:pt x="226055" y="31120"/>
                </a:cubicBezTo>
                <a:lnTo>
                  <a:pt x="193328" y="63847"/>
                </a:lnTo>
                <a:lnTo>
                  <a:pt x="211187" y="81707"/>
                </a:lnTo>
                <a:cubicBezTo>
                  <a:pt x="214268" y="84787"/>
                  <a:pt x="215161" y="89386"/>
                  <a:pt x="213509" y="93405"/>
                </a:cubicBezTo>
                <a:cubicBezTo>
                  <a:pt x="211857" y="97423"/>
                  <a:pt x="207928" y="100013"/>
                  <a:pt x="203597" y="100013"/>
                </a:cubicBezTo>
                <a:close/>
                <a:moveTo>
                  <a:pt x="203597" y="128588"/>
                </a:moveTo>
                <a:cubicBezTo>
                  <a:pt x="207928" y="128588"/>
                  <a:pt x="211857" y="131177"/>
                  <a:pt x="213509" y="135195"/>
                </a:cubicBezTo>
                <a:cubicBezTo>
                  <a:pt x="215161" y="139214"/>
                  <a:pt x="214268" y="143813"/>
                  <a:pt x="211187" y="146893"/>
                </a:cubicBezTo>
                <a:lnTo>
                  <a:pt x="193328" y="164753"/>
                </a:lnTo>
                <a:lnTo>
                  <a:pt x="226100" y="197525"/>
                </a:lnTo>
                <a:cubicBezTo>
                  <a:pt x="227707" y="199132"/>
                  <a:pt x="228645" y="201320"/>
                  <a:pt x="228645" y="203642"/>
                </a:cubicBezTo>
                <a:cubicBezTo>
                  <a:pt x="228645" y="205963"/>
                  <a:pt x="227752" y="208106"/>
                  <a:pt x="226100" y="209758"/>
                </a:cubicBezTo>
                <a:lnTo>
                  <a:pt x="209714" y="226144"/>
                </a:lnTo>
                <a:cubicBezTo>
                  <a:pt x="208062" y="227707"/>
                  <a:pt x="205874" y="228600"/>
                  <a:pt x="203597" y="228600"/>
                </a:cubicBezTo>
                <a:cubicBezTo>
                  <a:pt x="201320" y="228600"/>
                  <a:pt x="199132" y="227707"/>
                  <a:pt x="197480" y="226055"/>
                </a:cubicBezTo>
                <a:lnTo>
                  <a:pt x="164753" y="193328"/>
                </a:lnTo>
                <a:lnTo>
                  <a:pt x="146893" y="211187"/>
                </a:lnTo>
                <a:cubicBezTo>
                  <a:pt x="143813" y="214268"/>
                  <a:pt x="139214" y="215161"/>
                  <a:pt x="135195" y="213509"/>
                </a:cubicBezTo>
                <a:cubicBezTo>
                  <a:pt x="131177" y="211857"/>
                  <a:pt x="128588" y="207928"/>
                  <a:pt x="128588" y="203597"/>
                </a:cubicBezTo>
                <a:lnTo>
                  <a:pt x="128588" y="139303"/>
                </a:lnTo>
                <a:cubicBezTo>
                  <a:pt x="128588" y="133365"/>
                  <a:pt x="133365" y="128588"/>
                  <a:pt x="139303" y="128588"/>
                </a:cubicBezTo>
                <a:lnTo>
                  <a:pt x="203597" y="128588"/>
                </a:lnTo>
                <a:close/>
                <a:moveTo>
                  <a:pt x="89297" y="128588"/>
                </a:moveTo>
                <a:cubicBezTo>
                  <a:pt x="95235" y="128588"/>
                  <a:pt x="100013" y="133365"/>
                  <a:pt x="100013" y="139303"/>
                </a:cubicBezTo>
                <a:lnTo>
                  <a:pt x="100013" y="203597"/>
                </a:lnTo>
                <a:cubicBezTo>
                  <a:pt x="100013" y="207928"/>
                  <a:pt x="97423" y="211857"/>
                  <a:pt x="93405" y="213509"/>
                </a:cubicBezTo>
                <a:cubicBezTo>
                  <a:pt x="89386" y="215161"/>
                  <a:pt x="84787" y="214268"/>
                  <a:pt x="81707" y="211187"/>
                </a:cubicBezTo>
                <a:lnTo>
                  <a:pt x="63847" y="193328"/>
                </a:lnTo>
                <a:lnTo>
                  <a:pt x="31075" y="226100"/>
                </a:lnTo>
                <a:cubicBezTo>
                  <a:pt x="29468" y="227707"/>
                  <a:pt x="27280" y="228600"/>
                  <a:pt x="25003" y="228600"/>
                </a:cubicBezTo>
                <a:cubicBezTo>
                  <a:pt x="22726" y="228600"/>
                  <a:pt x="20538" y="227707"/>
                  <a:pt x="18886" y="226055"/>
                </a:cubicBezTo>
                <a:lnTo>
                  <a:pt x="2545" y="209714"/>
                </a:lnTo>
                <a:cubicBezTo>
                  <a:pt x="893" y="208062"/>
                  <a:pt x="0" y="205874"/>
                  <a:pt x="0" y="203597"/>
                </a:cubicBezTo>
                <a:cubicBezTo>
                  <a:pt x="0" y="201320"/>
                  <a:pt x="893" y="199132"/>
                  <a:pt x="2545" y="197480"/>
                </a:cubicBezTo>
                <a:lnTo>
                  <a:pt x="35272" y="164753"/>
                </a:lnTo>
                <a:lnTo>
                  <a:pt x="17413" y="146893"/>
                </a:lnTo>
                <a:cubicBezTo>
                  <a:pt x="14332" y="143813"/>
                  <a:pt x="13439" y="139214"/>
                  <a:pt x="15091" y="135195"/>
                </a:cubicBezTo>
                <a:cubicBezTo>
                  <a:pt x="16743" y="131177"/>
                  <a:pt x="20672" y="128588"/>
                  <a:pt x="25003" y="128588"/>
                </a:cubicBezTo>
                <a:lnTo>
                  <a:pt x="89297" y="128588"/>
                </a:lnTo>
                <a:close/>
                <a:moveTo>
                  <a:pt x="25003" y="100013"/>
                </a:moveTo>
                <a:cubicBezTo>
                  <a:pt x="20672" y="100013"/>
                  <a:pt x="16743" y="97423"/>
                  <a:pt x="15091" y="93405"/>
                </a:cubicBezTo>
                <a:cubicBezTo>
                  <a:pt x="13439" y="89386"/>
                  <a:pt x="14377" y="84787"/>
                  <a:pt x="17413" y="81707"/>
                </a:cubicBezTo>
                <a:lnTo>
                  <a:pt x="35272" y="63847"/>
                </a:lnTo>
                <a:lnTo>
                  <a:pt x="2545" y="31120"/>
                </a:lnTo>
                <a:cubicBezTo>
                  <a:pt x="893" y="29468"/>
                  <a:pt x="0" y="27280"/>
                  <a:pt x="0" y="25003"/>
                </a:cubicBezTo>
                <a:cubicBezTo>
                  <a:pt x="0" y="22726"/>
                  <a:pt x="893" y="20538"/>
                  <a:pt x="2545" y="18886"/>
                </a:cubicBezTo>
                <a:lnTo>
                  <a:pt x="18886" y="2545"/>
                </a:lnTo>
                <a:cubicBezTo>
                  <a:pt x="20538" y="893"/>
                  <a:pt x="22726" y="0"/>
                  <a:pt x="25003" y="0"/>
                </a:cubicBezTo>
                <a:cubicBezTo>
                  <a:pt x="27280" y="0"/>
                  <a:pt x="29468" y="893"/>
                  <a:pt x="31120" y="2545"/>
                </a:cubicBezTo>
                <a:lnTo>
                  <a:pt x="63847" y="35272"/>
                </a:lnTo>
                <a:lnTo>
                  <a:pt x="81707" y="17413"/>
                </a:lnTo>
                <a:cubicBezTo>
                  <a:pt x="84787" y="14332"/>
                  <a:pt x="89386" y="13439"/>
                  <a:pt x="93405" y="15091"/>
                </a:cubicBezTo>
                <a:cubicBezTo>
                  <a:pt x="97423" y="16743"/>
                  <a:pt x="100013" y="20672"/>
                  <a:pt x="100013" y="25003"/>
                </a:cubicBezTo>
                <a:lnTo>
                  <a:pt x="100013" y="89297"/>
                </a:lnTo>
                <a:cubicBezTo>
                  <a:pt x="100013" y="95235"/>
                  <a:pt x="95235" y="100013"/>
                  <a:pt x="89297" y="100013"/>
                </a:cubicBezTo>
                <a:lnTo>
                  <a:pt x="25003" y="100013"/>
                </a:ln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6"/>
          <p:cNvSpPr/>
          <p:nvPr/>
        </p:nvSpPr>
        <p:spPr>
          <a:xfrm>
            <a:off x="6959600" y="3403600"/>
            <a:ext cx="436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列式压缩优势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959600" y="3708400"/>
            <a:ext cx="4356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同类数据连续存放，压缩比更高，且支持选择性解压。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400800" y="4114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D3B9D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9"/>
          <p:cNvSpPr/>
          <p:nvPr/>
        </p:nvSpPr>
        <p:spPr>
          <a:xfrm>
            <a:off x="6478588" y="42037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65958" y="19243"/>
                </a:moveTo>
                <a:cubicBezTo>
                  <a:pt x="160779" y="14288"/>
                  <a:pt x="153144" y="12903"/>
                  <a:pt x="146581" y="15716"/>
                </a:cubicBezTo>
                <a:cubicBezTo>
                  <a:pt x="140018" y="18529"/>
                  <a:pt x="135731" y="25003"/>
                  <a:pt x="135731" y="32147"/>
                </a:cubicBezTo>
                <a:lnTo>
                  <a:pt x="135731" y="93003"/>
                </a:lnTo>
                <a:lnTo>
                  <a:pt x="58802" y="19288"/>
                </a:lnTo>
                <a:cubicBezTo>
                  <a:pt x="53623" y="14288"/>
                  <a:pt x="45988" y="12903"/>
                  <a:pt x="39425" y="15716"/>
                </a:cubicBezTo>
                <a:cubicBezTo>
                  <a:pt x="32861" y="18529"/>
                  <a:pt x="28575" y="25003"/>
                  <a:pt x="28575" y="32147"/>
                </a:cubicBezTo>
                <a:lnTo>
                  <a:pt x="28575" y="196453"/>
                </a:lnTo>
                <a:cubicBezTo>
                  <a:pt x="28575" y="203597"/>
                  <a:pt x="32861" y="210071"/>
                  <a:pt x="39425" y="212884"/>
                </a:cubicBezTo>
                <a:cubicBezTo>
                  <a:pt x="45988" y="215697"/>
                  <a:pt x="53623" y="214313"/>
                  <a:pt x="58802" y="209357"/>
                </a:cubicBezTo>
                <a:lnTo>
                  <a:pt x="135731" y="135597"/>
                </a:lnTo>
                <a:lnTo>
                  <a:pt x="135731" y="196453"/>
                </a:lnTo>
                <a:cubicBezTo>
                  <a:pt x="135731" y="203597"/>
                  <a:pt x="140018" y="210071"/>
                  <a:pt x="146581" y="212884"/>
                </a:cubicBezTo>
                <a:cubicBezTo>
                  <a:pt x="153144" y="215697"/>
                  <a:pt x="160779" y="214313"/>
                  <a:pt x="165958" y="209357"/>
                </a:cubicBezTo>
                <a:lnTo>
                  <a:pt x="251683" y="127203"/>
                </a:lnTo>
                <a:cubicBezTo>
                  <a:pt x="255210" y="123855"/>
                  <a:pt x="257175" y="119167"/>
                  <a:pt x="257175" y="114300"/>
                </a:cubicBezTo>
                <a:cubicBezTo>
                  <a:pt x="257175" y="109433"/>
                  <a:pt x="255166" y="104790"/>
                  <a:pt x="251683" y="101397"/>
                </a:cubicBezTo>
                <a:lnTo>
                  <a:pt x="165958" y="19243"/>
                </a:ln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0"/>
          <p:cNvSpPr/>
          <p:nvPr/>
        </p:nvSpPr>
        <p:spPr>
          <a:xfrm>
            <a:off x="6959600" y="4114800"/>
            <a:ext cx="508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向量化读取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959600" y="4419600"/>
            <a:ext cx="5067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一次解压多行数据（如1024行）进入列批，减少函数调用开销。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test-kimi-img.moonshot.cn/pub/slides/slides_tmpl/image/25-08-11-17:38:55-d2crkbv0ctitcgma2i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8750" y="17272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8F5C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统计信息收集与 CBO 调优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54000" y="2489200"/>
            <a:ext cx="3416300" cy="2082800"/>
          </a:xfrm>
          <a:custGeom>
            <a:avLst/>
            <a:gdLst/>
            <a:ahLst/>
            <a:cxnLst/>
            <a:rect l="l" t="t" r="r" b="b"/>
            <a:pathLst>
              <a:path w="3416300" h="2082800">
                <a:moveTo>
                  <a:pt x="101599" y="0"/>
                </a:moveTo>
                <a:lnTo>
                  <a:pt x="3314701" y="0"/>
                </a:lnTo>
                <a:cubicBezTo>
                  <a:pt x="3370813" y="0"/>
                  <a:pt x="3416300" y="45487"/>
                  <a:pt x="3416300" y="101599"/>
                </a:cubicBezTo>
                <a:lnTo>
                  <a:pt x="3416300" y="1981201"/>
                </a:lnTo>
                <a:cubicBezTo>
                  <a:pt x="3416300" y="2037313"/>
                  <a:pt x="3370813" y="2082800"/>
                  <a:pt x="3314701" y="2082800"/>
                </a:cubicBezTo>
                <a:lnTo>
                  <a:pt x="101599" y="2082800"/>
                </a:lnTo>
                <a:cubicBezTo>
                  <a:pt x="45487" y="2082800"/>
                  <a:pt x="0" y="2037313"/>
                  <a:pt x="0" y="19812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D3B9D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1764209" y="28702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400050" y="183773"/>
                </a:moveTo>
                <a:cubicBezTo>
                  <a:pt x="386834" y="192524"/>
                  <a:pt x="371654" y="199579"/>
                  <a:pt x="355848" y="205204"/>
                </a:cubicBezTo>
                <a:cubicBezTo>
                  <a:pt x="313879" y="220206"/>
                  <a:pt x="258782" y="228600"/>
                  <a:pt x="200025" y="228600"/>
                </a:cubicBezTo>
                <a:cubicBezTo>
                  <a:pt x="141268" y="228600"/>
                  <a:pt x="86082" y="220117"/>
                  <a:pt x="44202" y="205204"/>
                </a:cubicBezTo>
                <a:cubicBezTo>
                  <a:pt x="28486" y="199579"/>
                  <a:pt x="13216" y="192524"/>
                  <a:pt x="0" y="183773"/>
                </a:cubicBezTo>
                <a:lnTo>
                  <a:pt x="0" y="257175"/>
                </a:lnTo>
                <a:cubicBezTo>
                  <a:pt x="0" y="296644"/>
                  <a:pt x="89565" y="328613"/>
                  <a:pt x="200025" y="328613"/>
                </a:cubicBezTo>
                <a:cubicBezTo>
                  <a:pt x="310485" y="328613"/>
                  <a:pt x="400050" y="296644"/>
                  <a:pt x="400050" y="257175"/>
                </a:cubicBezTo>
                <a:lnTo>
                  <a:pt x="400050" y="183773"/>
                </a:lnTo>
                <a:close/>
                <a:moveTo>
                  <a:pt x="400050" y="114300"/>
                </a:moveTo>
                <a:lnTo>
                  <a:pt x="400050" y="71438"/>
                </a:lnTo>
                <a:cubicBezTo>
                  <a:pt x="400050" y="31968"/>
                  <a:pt x="310485" y="0"/>
                  <a:pt x="200025" y="0"/>
                </a:cubicBezTo>
                <a:cubicBezTo>
                  <a:pt x="89565" y="0"/>
                  <a:pt x="0" y="31968"/>
                  <a:pt x="0" y="71438"/>
                </a:cubicBezTo>
                <a:lnTo>
                  <a:pt x="0" y="114300"/>
                </a:lnTo>
                <a:cubicBezTo>
                  <a:pt x="0" y="153769"/>
                  <a:pt x="89565" y="185738"/>
                  <a:pt x="200025" y="185738"/>
                </a:cubicBezTo>
                <a:cubicBezTo>
                  <a:pt x="310485" y="185738"/>
                  <a:pt x="400050" y="153769"/>
                  <a:pt x="400050" y="114300"/>
                </a:cubicBezTo>
                <a:close/>
                <a:moveTo>
                  <a:pt x="355848" y="348079"/>
                </a:moveTo>
                <a:cubicBezTo>
                  <a:pt x="313968" y="362992"/>
                  <a:pt x="258872" y="371475"/>
                  <a:pt x="200025" y="371475"/>
                </a:cubicBezTo>
                <a:cubicBezTo>
                  <a:pt x="141178" y="371475"/>
                  <a:pt x="86082" y="362992"/>
                  <a:pt x="44202" y="348079"/>
                </a:cubicBezTo>
                <a:cubicBezTo>
                  <a:pt x="28486" y="342454"/>
                  <a:pt x="13216" y="335399"/>
                  <a:pt x="0" y="326648"/>
                </a:cubicBezTo>
                <a:lnTo>
                  <a:pt x="0" y="385763"/>
                </a:lnTo>
                <a:cubicBezTo>
                  <a:pt x="0" y="425232"/>
                  <a:pt x="89565" y="457200"/>
                  <a:pt x="200025" y="457200"/>
                </a:cubicBezTo>
                <a:cubicBezTo>
                  <a:pt x="310485" y="457200"/>
                  <a:pt x="400050" y="425232"/>
                  <a:pt x="400050" y="385763"/>
                </a:cubicBezTo>
                <a:lnTo>
                  <a:pt x="400050" y="326648"/>
                </a:lnTo>
                <a:cubicBezTo>
                  <a:pt x="386834" y="335399"/>
                  <a:pt x="371654" y="342454"/>
                  <a:pt x="355848" y="348079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406400" y="3606800"/>
            <a:ext cx="311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 收集统计信息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19100" y="3962400"/>
            <a:ext cx="30861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ANALYZE TABLE ... COMPUTE STATISTICS;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77766" y="3327400"/>
            <a:ext cx="457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A95EA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385766" y="2590800"/>
            <a:ext cx="3416300" cy="1879600"/>
          </a:xfrm>
          <a:custGeom>
            <a:avLst/>
            <a:gdLst/>
            <a:ahLst/>
            <a:cxnLst/>
            <a:rect l="l" t="t" r="r" b="b"/>
            <a:pathLst>
              <a:path w="3416300" h="1879600">
                <a:moveTo>
                  <a:pt x="101592" y="0"/>
                </a:moveTo>
                <a:lnTo>
                  <a:pt x="3314708" y="0"/>
                </a:lnTo>
                <a:cubicBezTo>
                  <a:pt x="3370816" y="0"/>
                  <a:pt x="3416300" y="45484"/>
                  <a:pt x="3416300" y="101592"/>
                </a:cubicBezTo>
                <a:lnTo>
                  <a:pt x="3416300" y="1778008"/>
                </a:lnTo>
                <a:cubicBezTo>
                  <a:pt x="3416300" y="1834116"/>
                  <a:pt x="3370816" y="1879600"/>
                  <a:pt x="3314708" y="1879600"/>
                </a:cubicBezTo>
                <a:lnTo>
                  <a:pt x="101592" y="1879600"/>
                </a:lnTo>
                <a:cubicBezTo>
                  <a:pt x="45484" y="1879600"/>
                  <a:pt x="0" y="1834116"/>
                  <a:pt x="0" y="1778008"/>
                </a:cubicBezTo>
                <a:lnTo>
                  <a:pt x="0" y="101592"/>
                </a:lnTo>
                <a:cubicBezTo>
                  <a:pt x="0" y="45522"/>
                  <a:pt x="45522" y="0"/>
                  <a:pt x="101592" y="0"/>
                </a:cubicBezTo>
                <a:close/>
              </a:path>
            </a:pathLst>
          </a:custGeom>
          <a:solidFill>
            <a:srgbClr val="D3B9D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5810250" y="29718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371386" y="187970"/>
                </a:moveTo>
                <a:cubicBezTo>
                  <a:pt x="382280" y="185023"/>
                  <a:pt x="393710" y="190202"/>
                  <a:pt x="398621" y="200293"/>
                </a:cubicBezTo>
                <a:lnTo>
                  <a:pt x="415230" y="233869"/>
                </a:lnTo>
                <a:cubicBezTo>
                  <a:pt x="424428" y="235119"/>
                  <a:pt x="433447" y="237619"/>
                  <a:pt x="441930" y="241102"/>
                </a:cubicBezTo>
                <a:lnTo>
                  <a:pt x="473184" y="220295"/>
                </a:lnTo>
                <a:cubicBezTo>
                  <a:pt x="482560" y="214045"/>
                  <a:pt x="494973" y="215295"/>
                  <a:pt x="502920" y="223242"/>
                </a:cubicBezTo>
                <a:lnTo>
                  <a:pt x="520065" y="240387"/>
                </a:lnTo>
                <a:cubicBezTo>
                  <a:pt x="528012" y="248335"/>
                  <a:pt x="529263" y="260836"/>
                  <a:pt x="523012" y="270123"/>
                </a:cubicBezTo>
                <a:lnTo>
                  <a:pt x="502206" y="301288"/>
                </a:lnTo>
                <a:cubicBezTo>
                  <a:pt x="503902" y="305485"/>
                  <a:pt x="505420" y="309860"/>
                  <a:pt x="506670" y="314414"/>
                </a:cubicBezTo>
                <a:cubicBezTo>
                  <a:pt x="507921" y="318968"/>
                  <a:pt x="508724" y="323433"/>
                  <a:pt x="509349" y="327987"/>
                </a:cubicBezTo>
                <a:lnTo>
                  <a:pt x="543014" y="344597"/>
                </a:lnTo>
                <a:cubicBezTo>
                  <a:pt x="553105" y="349597"/>
                  <a:pt x="558284" y="361027"/>
                  <a:pt x="555337" y="371832"/>
                </a:cubicBezTo>
                <a:lnTo>
                  <a:pt x="549086" y="395228"/>
                </a:lnTo>
                <a:cubicBezTo>
                  <a:pt x="546140" y="406033"/>
                  <a:pt x="536049" y="413355"/>
                  <a:pt x="524798" y="412641"/>
                </a:cubicBezTo>
                <a:lnTo>
                  <a:pt x="487293" y="410230"/>
                </a:lnTo>
                <a:cubicBezTo>
                  <a:pt x="481667" y="417463"/>
                  <a:pt x="475149" y="424160"/>
                  <a:pt x="467737" y="429875"/>
                </a:cubicBezTo>
                <a:lnTo>
                  <a:pt x="470148" y="467291"/>
                </a:lnTo>
                <a:cubicBezTo>
                  <a:pt x="470862" y="478542"/>
                  <a:pt x="463540" y="488722"/>
                  <a:pt x="452735" y="491579"/>
                </a:cubicBezTo>
                <a:lnTo>
                  <a:pt x="429339" y="497830"/>
                </a:lnTo>
                <a:cubicBezTo>
                  <a:pt x="418445" y="500777"/>
                  <a:pt x="407104" y="495598"/>
                  <a:pt x="402104" y="485507"/>
                </a:cubicBezTo>
                <a:lnTo>
                  <a:pt x="385495" y="451931"/>
                </a:lnTo>
                <a:cubicBezTo>
                  <a:pt x="376297" y="450681"/>
                  <a:pt x="367278" y="448181"/>
                  <a:pt x="358795" y="444698"/>
                </a:cubicBezTo>
                <a:lnTo>
                  <a:pt x="327541" y="465505"/>
                </a:lnTo>
                <a:cubicBezTo>
                  <a:pt x="318165" y="471755"/>
                  <a:pt x="305753" y="470505"/>
                  <a:pt x="297805" y="462558"/>
                </a:cubicBezTo>
                <a:lnTo>
                  <a:pt x="280660" y="445413"/>
                </a:lnTo>
                <a:cubicBezTo>
                  <a:pt x="272713" y="437465"/>
                  <a:pt x="271463" y="425053"/>
                  <a:pt x="277713" y="415677"/>
                </a:cubicBezTo>
                <a:lnTo>
                  <a:pt x="298519" y="384423"/>
                </a:lnTo>
                <a:cubicBezTo>
                  <a:pt x="296823" y="380226"/>
                  <a:pt x="295305" y="375851"/>
                  <a:pt x="294055" y="371296"/>
                </a:cubicBezTo>
                <a:cubicBezTo>
                  <a:pt x="292804" y="366742"/>
                  <a:pt x="292001" y="362188"/>
                  <a:pt x="291376" y="357723"/>
                </a:cubicBezTo>
                <a:lnTo>
                  <a:pt x="257711" y="341114"/>
                </a:lnTo>
                <a:cubicBezTo>
                  <a:pt x="247620" y="336113"/>
                  <a:pt x="242530" y="324683"/>
                  <a:pt x="245388" y="313879"/>
                </a:cubicBezTo>
                <a:lnTo>
                  <a:pt x="251639" y="290483"/>
                </a:lnTo>
                <a:cubicBezTo>
                  <a:pt x="254585" y="279678"/>
                  <a:pt x="264676" y="272355"/>
                  <a:pt x="275927" y="273070"/>
                </a:cubicBezTo>
                <a:lnTo>
                  <a:pt x="313343" y="275481"/>
                </a:lnTo>
                <a:cubicBezTo>
                  <a:pt x="318968" y="268248"/>
                  <a:pt x="325487" y="261551"/>
                  <a:pt x="332899" y="255836"/>
                </a:cubicBezTo>
                <a:lnTo>
                  <a:pt x="330488" y="218509"/>
                </a:lnTo>
                <a:cubicBezTo>
                  <a:pt x="329773" y="207258"/>
                  <a:pt x="337096" y="197078"/>
                  <a:pt x="347901" y="194221"/>
                </a:cubicBezTo>
                <a:lnTo>
                  <a:pt x="371296" y="187970"/>
                </a:lnTo>
                <a:close/>
                <a:moveTo>
                  <a:pt x="400407" y="303609"/>
                </a:moveTo>
                <a:cubicBezTo>
                  <a:pt x="378722" y="303634"/>
                  <a:pt x="361137" y="321260"/>
                  <a:pt x="361161" y="342945"/>
                </a:cubicBezTo>
                <a:cubicBezTo>
                  <a:pt x="361186" y="364630"/>
                  <a:pt x="378811" y="382215"/>
                  <a:pt x="400496" y="382191"/>
                </a:cubicBezTo>
                <a:cubicBezTo>
                  <a:pt x="422182" y="382166"/>
                  <a:pt x="439767" y="364540"/>
                  <a:pt x="439742" y="342855"/>
                </a:cubicBezTo>
                <a:cubicBezTo>
                  <a:pt x="439718" y="321170"/>
                  <a:pt x="422092" y="303585"/>
                  <a:pt x="400407" y="303609"/>
                </a:cubicBezTo>
                <a:close/>
                <a:moveTo>
                  <a:pt x="200829" y="-40630"/>
                </a:moveTo>
                <a:lnTo>
                  <a:pt x="224224" y="-34379"/>
                </a:lnTo>
                <a:cubicBezTo>
                  <a:pt x="235029" y="-31433"/>
                  <a:pt x="242352" y="-21253"/>
                  <a:pt x="241637" y="-10091"/>
                </a:cubicBezTo>
                <a:lnTo>
                  <a:pt x="239226" y="27236"/>
                </a:lnTo>
                <a:cubicBezTo>
                  <a:pt x="246638" y="32951"/>
                  <a:pt x="253157" y="39559"/>
                  <a:pt x="258782" y="46881"/>
                </a:cubicBezTo>
                <a:lnTo>
                  <a:pt x="296287" y="44470"/>
                </a:lnTo>
                <a:cubicBezTo>
                  <a:pt x="307449" y="43755"/>
                  <a:pt x="317629" y="51078"/>
                  <a:pt x="320576" y="61883"/>
                </a:cubicBezTo>
                <a:lnTo>
                  <a:pt x="326827" y="85279"/>
                </a:lnTo>
                <a:cubicBezTo>
                  <a:pt x="329684" y="96083"/>
                  <a:pt x="324594" y="107513"/>
                  <a:pt x="314504" y="112514"/>
                </a:cubicBezTo>
                <a:lnTo>
                  <a:pt x="280839" y="129123"/>
                </a:lnTo>
                <a:cubicBezTo>
                  <a:pt x="280214" y="133677"/>
                  <a:pt x="279321" y="138232"/>
                  <a:pt x="278160" y="142696"/>
                </a:cubicBezTo>
                <a:cubicBezTo>
                  <a:pt x="276999" y="147161"/>
                  <a:pt x="275392" y="151626"/>
                  <a:pt x="273695" y="155823"/>
                </a:cubicBezTo>
                <a:lnTo>
                  <a:pt x="294501" y="187077"/>
                </a:lnTo>
                <a:cubicBezTo>
                  <a:pt x="300752" y="196453"/>
                  <a:pt x="299502" y="208865"/>
                  <a:pt x="291554" y="216813"/>
                </a:cubicBezTo>
                <a:lnTo>
                  <a:pt x="274409" y="233958"/>
                </a:lnTo>
                <a:cubicBezTo>
                  <a:pt x="266462" y="241905"/>
                  <a:pt x="254050" y="243155"/>
                  <a:pt x="244673" y="236905"/>
                </a:cubicBezTo>
                <a:lnTo>
                  <a:pt x="213420" y="216098"/>
                </a:lnTo>
                <a:cubicBezTo>
                  <a:pt x="204936" y="219581"/>
                  <a:pt x="195917" y="222081"/>
                  <a:pt x="186720" y="223331"/>
                </a:cubicBezTo>
                <a:lnTo>
                  <a:pt x="170111" y="256907"/>
                </a:lnTo>
                <a:cubicBezTo>
                  <a:pt x="165110" y="266998"/>
                  <a:pt x="153680" y="272088"/>
                  <a:pt x="142875" y="269230"/>
                </a:cubicBezTo>
                <a:lnTo>
                  <a:pt x="119479" y="262979"/>
                </a:lnTo>
                <a:cubicBezTo>
                  <a:pt x="108585" y="260033"/>
                  <a:pt x="101352" y="249853"/>
                  <a:pt x="102066" y="238691"/>
                </a:cubicBezTo>
                <a:lnTo>
                  <a:pt x="104477" y="201275"/>
                </a:lnTo>
                <a:cubicBezTo>
                  <a:pt x="97066" y="195560"/>
                  <a:pt x="90547" y="188952"/>
                  <a:pt x="84921" y="181630"/>
                </a:cubicBezTo>
                <a:lnTo>
                  <a:pt x="47417" y="184041"/>
                </a:lnTo>
                <a:cubicBezTo>
                  <a:pt x="36255" y="184755"/>
                  <a:pt x="26075" y="177433"/>
                  <a:pt x="23128" y="166628"/>
                </a:cubicBezTo>
                <a:lnTo>
                  <a:pt x="16877" y="143232"/>
                </a:lnTo>
                <a:cubicBezTo>
                  <a:pt x="14020" y="132427"/>
                  <a:pt x="19110" y="120997"/>
                  <a:pt x="29200" y="115997"/>
                </a:cubicBezTo>
                <a:lnTo>
                  <a:pt x="62865" y="99387"/>
                </a:lnTo>
                <a:cubicBezTo>
                  <a:pt x="63490" y="94833"/>
                  <a:pt x="64383" y="90368"/>
                  <a:pt x="65544" y="85814"/>
                </a:cubicBezTo>
                <a:cubicBezTo>
                  <a:pt x="66794" y="81260"/>
                  <a:pt x="68223" y="76885"/>
                  <a:pt x="70009" y="72688"/>
                </a:cubicBezTo>
                <a:lnTo>
                  <a:pt x="49203" y="41523"/>
                </a:lnTo>
                <a:cubicBezTo>
                  <a:pt x="42952" y="32147"/>
                  <a:pt x="44202" y="19735"/>
                  <a:pt x="52149" y="11787"/>
                </a:cubicBezTo>
                <a:lnTo>
                  <a:pt x="69294" y="-5358"/>
                </a:lnTo>
                <a:cubicBezTo>
                  <a:pt x="77242" y="-13305"/>
                  <a:pt x="89654" y="-14555"/>
                  <a:pt x="99030" y="-8305"/>
                </a:cubicBezTo>
                <a:lnTo>
                  <a:pt x="130284" y="12502"/>
                </a:lnTo>
                <a:cubicBezTo>
                  <a:pt x="138767" y="9019"/>
                  <a:pt x="147786" y="6519"/>
                  <a:pt x="156984" y="5269"/>
                </a:cubicBezTo>
                <a:lnTo>
                  <a:pt x="173593" y="-28307"/>
                </a:lnTo>
                <a:cubicBezTo>
                  <a:pt x="178594" y="-38398"/>
                  <a:pt x="189934" y="-43488"/>
                  <a:pt x="200829" y="-40630"/>
                </a:cubicBezTo>
                <a:close/>
                <a:moveTo>
                  <a:pt x="171807" y="75009"/>
                </a:moveTo>
                <a:cubicBezTo>
                  <a:pt x="150122" y="75009"/>
                  <a:pt x="132517" y="92615"/>
                  <a:pt x="132517" y="114300"/>
                </a:cubicBezTo>
                <a:cubicBezTo>
                  <a:pt x="132517" y="135985"/>
                  <a:pt x="150122" y="153591"/>
                  <a:pt x="171807" y="153591"/>
                </a:cubicBezTo>
                <a:cubicBezTo>
                  <a:pt x="193492" y="153591"/>
                  <a:pt x="211098" y="135985"/>
                  <a:pt x="211098" y="114300"/>
                </a:cubicBezTo>
                <a:cubicBezTo>
                  <a:pt x="211098" y="92615"/>
                  <a:pt x="193492" y="75009"/>
                  <a:pt x="171807" y="75009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4538166" y="3708400"/>
            <a:ext cx="311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 配置 CBO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550866" y="4064000"/>
            <a:ext cx="3086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SET hive.cbo.enable=true;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009533" y="3327400"/>
            <a:ext cx="457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A95EA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517533" y="2590800"/>
            <a:ext cx="3416300" cy="1879600"/>
          </a:xfrm>
          <a:custGeom>
            <a:avLst/>
            <a:gdLst/>
            <a:ahLst/>
            <a:cxnLst/>
            <a:rect l="l" t="t" r="r" b="b"/>
            <a:pathLst>
              <a:path w="3416300" h="1879600">
                <a:moveTo>
                  <a:pt x="101592" y="0"/>
                </a:moveTo>
                <a:lnTo>
                  <a:pt x="3314708" y="0"/>
                </a:lnTo>
                <a:cubicBezTo>
                  <a:pt x="3370816" y="0"/>
                  <a:pt x="3416300" y="45484"/>
                  <a:pt x="3416300" y="101592"/>
                </a:cubicBezTo>
                <a:lnTo>
                  <a:pt x="3416300" y="1778008"/>
                </a:lnTo>
                <a:cubicBezTo>
                  <a:pt x="3416300" y="1834116"/>
                  <a:pt x="3370816" y="1879600"/>
                  <a:pt x="3314708" y="1879600"/>
                </a:cubicBezTo>
                <a:lnTo>
                  <a:pt x="101592" y="1879600"/>
                </a:lnTo>
                <a:cubicBezTo>
                  <a:pt x="45484" y="1879600"/>
                  <a:pt x="0" y="1834116"/>
                  <a:pt x="0" y="1778008"/>
                </a:cubicBezTo>
                <a:lnTo>
                  <a:pt x="0" y="101592"/>
                </a:lnTo>
                <a:cubicBezTo>
                  <a:pt x="0" y="45522"/>
                  <a:pt x="45522" y="0"/>
                  <a:pt x="101592" y="0"/>
                </a:cubicBezTo>
                <a:close/>
              </a:path>
            </a:pathLst>
          </a:custGeom>
          <a:solidFill>
            <a:srgbClr val="D3B9D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9999166" y="2971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71475" y="185738"/>
                </a:moveTo>
                <a:cubicBezTo>
                  <a:pt x="371475" y="226725"/>
                  <a:pt x="358170" y="264587"/>
                  <a:pt x="335756" y="295305"/>
                </a:cubicBezTo>
                <a:lnTo>
                  <a:pt x="448806" y="408444"/>
                </a:lnTo>
                <a:cubicBezTo>
                  <a:pt x="459968" y="419606"/>
                  <a:pt x="459968" y="437733"/>
                  <a:pt x="448806" y="448895"/>
                </a:cubicBezTo>
                <a:cubicBezTo>
                  <a:pt x="437644" y="460058"/>
                  <a:pt x="419517" y="460058"/>
                  <a:pt x="408355" y="448895"/>
                </a:cubicBezTo>
                <a:lnTo>
                  <a:pt x="295305" y="335756"/>
                </a:lnTo>
                <a:cubicBezTo>
                  <a:pt x="264587" y="358170"/>
                  <a:pt x="226725" y="371475"/>
                  <a:pt x="185738" y="371475"/>
                </a:cubicBezTo>
                <a:cubicBezTo>
                  <a:pt x="83135" y="371475"/>
                  <a:pt x="0" y="288340"/>
                  <a:pt x="0" y="185738"/>
                </a:cubicBezTo>
                <a:cubicBezTo>
                  <a:pt x="0" y="83135"/>
                  <a:pt x="83135" y="0"/>
                  <a:pt x="185738" y="0"/>
                </a:cubicBezTo>
                <a:cubicBezTo>
                  <a:pt x="288340" y="0"/>
                  <a:pt x="371475" y="83135"/>
                  <a:pt x="371475" y="185738"/>
                </a:cubicBezTo>
                <a:close/>
                <a:moveTo>
                  <a:pt x="189309" y="85725"/>
                </a:moveTo>
                <a:cubicBezTo>
                  <a:pt x="179487" y="85725"/>
                  <a:pt x="171450" y="93762"/>
                  <a:pt x="171450" y="103584"/>
                </a:cubicBezTo>
                <a:lnTo>
                  <a:pt x="171450" y="107156"/>
                </a:lnTo>
                <a:cubicBezTo>
                  <a:pt x="145733" y="107424"/>
                  <a:pt x="125016" y="128320"/>
                  <a:pt x="125016" y="154037"/>
                </a:cubicBezTo>
                <a:cubicBezTo>
                  <a:pt x="125016" y="176986"/>
                  <a:pt x="141536" y="196542"/>
                  <a:pt x="164217" y="200293"/>
                </a:cubicBezTo>
                <a:lnTo>
                  <a:pt x="201454" y="206544"/>
                </a:lnTo>
                <a:cubicBezTo>
                  <a:pt x="206812" y="207437"/>
                  <a:pt x="210741" y="212080"/>
                  <a:pt x="210741" y="217527"/>
                </a:cubicBezTo>
                <a:cubicBezTo>
                  <a:pt x="210741" y="223689"/>
                  <a:pt x="205740" y="228689"/>
                  <a:pt x="199579" y="228689"/>
                </a:cubicBezTo>
                <a:lnTo>
                  <a:pt x="150019" y="228600"/>
                </a:lnTo>
                <a:cubicBezTo>
                  <a:pt x="140196" y="228600"/>
                  <a:pt x="132159" y="236637"/>
                  <a:pt x="132159" y="246459"/>
                </a:cubicBezTo>
                <a:cubicBezTo>
                  <a:pt x="132159" y="256282"/>
                  <a:pt x="140196" y="264319"/>
                  <a:pt x="150019" y="264319"/>
                </a:cubicBezTo>
                <a:lnTo>
                  <a:pt x="171450" y="264319"/>
                </a:lnTo>
                <a:lnTo>
                  <a:pt x="171450" y="267891"/>
                </a:lnTo>
                <a:cubicBezTo>
                  <a:pt x="171450" y="277713"/>
                  <a:pt x="179487" y="285750"/>
                  <a:pt x="189309" y="285750"/>
                </a:cubicBezTo>
                <a:cubicBezTo>
                  <a:pt x="199132" y="285750"/>
                  <a:pt x="207169" y="277713"/>
                  <a:pt x="207169" y="267891"/>
                </a:cubicBezTo>
                <a:lnTo>
                  <a:pt x="207169" y="263694"/>
                </a:lnTo>
                <a:cubicBezTo>
                  <a:pt x="229493" y="260033"/>
                  <a:pt x="246459" y="240744"/>
                  <a:pt x="246459" y="217438"/>
                </a:cubicBezTo>
                <a:cubicBezTo>
                  <a:pt x="246459" y="194489"/>
                  <a:pt x="229939" y="174933"/>
                  <a:pt x="207258" y="171182"/>
                </a:cubicBezTo>
                <a:lnTo>
                  <a:pt x="170021" y="164931"/>
                </a:lnTo>
                <a:cubicBezTo>
                  <a:pt x="164663" y="164038"/>
                  <a:pt x="160734" y="159395"/>
                  <a:pt x="160734" y="153948"/>
                </a:cubicBezTo>
                <a:cubicBezTo>
                  <a:pt x="160734" y="147786"/>
                  <a:pt x="165735" y="142786"/>
                  <a:pt x="171896" y="142786"/>
                </a:cubicBezTo>
                <a:lnTo>
                  <a:pt x="214312" y="142786"/>
                </a:lnTo>
                <a:cubicBezTo>
                  <a:pt x="224135" y="142786"/>
                  <a:pt x="232172" y="134749"/>
                  <a:pt x="232172" y="124926"/>
                </a:cubicBezTo>
                <a:cubicBezTo>
                  <a:pt x="232172" y="115104"/>
                  <a:pt x="224135" y="107067"/>
                  <a:pt x="214313" y="107067"/>
                </a:cubicBezTo>
                <a:lnTo>
                  <a:pt x="207169" y="107067"/>
                </a:lnTo>
                <a:lnTo>
                  <a:pt x="207169" y="103495"/>
                </a:lnTo>
                <a:cubicBezTo>
                  <a:pt x="207169" y="93672"/>
                  <a:pt x="199132" y="85636"/>
                  <a:pt x="189309" y="85636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8669933" y="3708400"/>
            <a:ext cx="311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 观察与调优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682633" y="4064000"/>
            <a:ext cx="3086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EXPLAIN COST SELECT ...;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209550" y="4876800"/>
            <a:ext cx="1177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理解</a:t>
            </a:r>
            <a:r>
              <a:rPr lang="en-US" sz="1400" dirty="0">
                <a:solidFill>
                  <a:srgbClr val="3C3542"/>
                </a:solidFill>
                <a:highlight>
                  <a:srgbClr val="D3B9D7">
                    <a:alpha val="667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统计信息新鲜度 </a:t>
            </a: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</a:t>
            </a:r>
            <a:r>
              <a:rPr lang="en-US" sz="1400" dirty="0">
                <a:solidFill>
                  <a:srgbClr val="3C3542"/>
                </a:solidFill>
                <a:highlight>
                  <a:srgbClr val="D3B9D7">
                    <a:alpha val="667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执行计划稳定性 </a:t>
            </a: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的权衡，是 CBO 调优的关键。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test-kimi-img.moonshot.cn/pub/slides/slides_tmpl/image/25-08-11-17:38:55-d2crkbv0ctitcgma2i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4000" y="2540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8F5C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参数模板与调优 Checklist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54000" y="914400"/>
            <a:ext cx="5740400" cy="2743200"/>
          </a:xfrm>
          <a:custGeom>
            <a:avLst/>
            <a:gdLst/>
            <a:ahLst/>
            <a:cxnLst/>
            <a:rect l="l" t="t" r="r" b="b"/>
            <a:pathLst>
              <a:path w="5740400" h="2743200">
                <a:moveTo>
                  <a:pt x="101608" y="0"/>
                </a:moveTo>
                <a:lnTo>
                  <a:pt x="5638792" y="0"/>
                </a:lnTo>
                <a:cubicBezTo>
                  <a:pt x="5694908" y="0"/>
                  <a:pt x="5740400" y="45492"/>
                  <a:pt x="5740400" y="101608"/>
                </a:cubicBezTo>
                <a:lnTo>
                  <a:pt x="5740400" y="2641592"/>
                </a:lnTo>
                <a:cubicBezTo>
                  <a:pt x="5740400" y="2697708"/>
                  <a:pt x="5694908" y="2743200"/>
                  <a:pt x="5638792" y="2743200"/>
                </a:cubicBezTo>
                <a:lnTo>
                  <a:pt x="101608" y="2743200"/>
                </a:lnTo>
                <a:cubicBezTo>
                  <a:pt x="45492" y="2743200"/>
                  <a:pt x="0" y="2697708"/>
                  <a:pt x="0" y="26415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D3B9D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457200" y="1117600"/>
            <a:ext cx="543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A95EA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执行引擎与并行度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1524000"/>
            <a:ext cx="54229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hive.execution.engine=tez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hive.tez.container.size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hive.exec.reducers.bytes.per.reducer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197600" y="914400"/>
            <a:ext cx="5740400" cy="2743200"/>
          </a:xfrm>
          <a:custGeom>
            <a:avLst/>
            <a:gdLst/>
            <a:ahLst/>
            <a:cxnLst/>
            <a:rect l="l" t="t" r="r" b="b"/>
            <a:pathLst>
              <a:path w="5740400" h="2743200">
                <a:moveTo>
                  <a:pt x="101608" y="0"/>
                </a:moveTo>
                <a:lnTo>
                  <a:pt x="5638792" y="0"/>
                </a:lnTo>
                <a:cubicBezTo>
                  <a:pt x="5694908" y="0"/>
                  <a:pt x="5740400" y="45492"/>
                  <a:pt x="5740400" y="101608"/>
                </a:cubicBezTo>
                <a:lnTo>
                  <a:pt x="5740400" y="2641592"/>
                </a:lnTo>
                <a:cubicBezTo>
                  <a:pt x="5740400" y="2697708"/>
                  <a:pt x="5694908" y="2743200"/>
                  <a:pt x="5638792" y="2743200"/>
                </a:cubicBezTo>
                <a:lnTo>
                  <a:pt x="101608" y="2743200"/>
                </a:lnTo>
                <a:cubicBezTo>
                  <a:pt x="45492" y="2743200"/>
                  <a:pt x="0" y="2697708"/>
                  <a:pt x="0" y="26415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D3B9D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6400800" y="1117600"/>
            <a:ext cx="543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A95EA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存储与压缩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0" y="1524000"/>
            <a:ext cx="54229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orc.compress=ZSTD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parquet.compression=SNAPPY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hive.exec.compress.output=true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54000" y="3860800"/>
            <a:ext cx="5740400" cy="2743200"/>
          </a:xfrm>
          <a:custGeom>
            <a:avLst/>
            <a:gdLst/>
            <a:ahLst/>
            <a:cxnLst/>
            <a:rect l="l" t="t" r="r" b="b"/>
            <a:pathLst>
              <a:path w="5740400" h="2743200">
                <a:moveTo>
                  <a:pt x="101608" y="0"/>
                </a:moveTo>
                <a:lnTo>
                  <a:pt x="5638792" y="0"/>
                </a:lnTo>
                <a:cubicBezTo>
                  <a:pt x="5694908" y="0"/>
                  <a:pt x="5740400" y="45492"/>
                  <a:pt x="5740400" y="101608"/>
                </a:cubicBezTo>
                <a:lnTo>
                  <a:pt x="5740400" y="2641592"/>
                </a:lnTo>
                <a:cubicBezTo>
                  <a:pt x="5740400" y="2697708"/>
                  <a:pt x="5694908" y="2743200"/>
                  <a:pt x="5638792" y="2743200"/>
                </a:cubicBezTo>
                <a:lnTo>
                  <a:pt x="101608" y="2743200"/>
                </a:lnTo>
                <a:cubicBezTo>
                  <a:pt x="45492" y="2743200"/>
                  <a:pt x="0" y="2697708"/>
                  <a:pt x="0" y="26415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D3B9D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457200" y="4064000"/>
            <a:ext cx="543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A95EA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优化器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57200" y="4470400"/>
            <a:ext cx="54229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hive.cbo.enable=true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hive.optimize.ppd=true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hive.optimize.bucketmapjoin=true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197600" y="3860800"/>
            <a:ext cx="5740400" cy="2743200"/>
          </a:xfrm>
          <a:custGeom>
            <a:avLst/>
            <a:gdLst/>
            <a:ahLst/>
            <a:cxnLst/>
            <a:rect l="l" t="t" r="r" b="b"/>
            <a:pathLst>
              <a:path w="5740400" h="2743200">
                <a:moveTo>
                  <a:pt x="101608" y="0"/>
                </a:moveTo>
                <a:lnTo>
                  <a:pt x="5638792" y="0"/>
                </a:lnTo>
                <a:cubicBezTo>
                  <a:pt x="5694908" y="0"/>
                  <a:pt x="5740400" y="45492"/>
                  <a:pt x="5740400" y="101608"/>
                </a:cubicBezTo>
                <a:lnTo>
                  <a:pt x="5740400" y="2641592"/>
                </a:lnTo>
                <a:cubicBezTo>
                  <a:pt x="5740400" y="2697708"/>
                  <a:pt x="5694908" y="2743200"/>
                  <a:pt x="5638792" y="2743200"/>
                </a:cubicBezTo>
                <a:lnTo>
                  <a:pt x="101608" y="2743200"/>
                </a:lnTo>
                <a:cubicBezTo>
                  <a:pt x="45492" y="2743200"/>
                  <a:pt x="0" y="2697708"/>
                  <a:pt x="0" y="26415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D3B9D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6400800" y="4064000"/>
            <a:ext cx="543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A95EA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内存与缓存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00800" y="4470400"/>
            <a:ext cx="54229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hive.tez.java.opts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hive.llap.io.cache.size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hive.vectorized.execution.enabled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gradFill flip="none" rotWithShape="1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5280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5280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3665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13665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42049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42049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70434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70434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98818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98818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27203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227203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456035" y="38163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1456035" y="381635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456035" y="501650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1456035" y="501650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456035" y="62166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1456035" y="621665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727190" y="6306820"/>
            <a:ext cx="100800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52805" y="6177280"/>
            <a:ext cx="259080" cy="259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52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79805" y="6177280"/>
            <a:ext cx="259080" cy="2590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979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863725" y="2687320"/>
            <a:ext cx="8464550" cy="23069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1863725" y="2687320"/>
            <a:ext cx="8464550" cy="23069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实验与总结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515235" y="1350010"/>
            <a:ext cx="7161530" cy="10985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test-kimi-img.moonshot.cn/pub/slides/slides_tmpl/image/25-08-11-17:38:55-d2crkbv0ctitcgma2i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4000" y="1270000"/>
            <a:ext cx="572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8F5C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端到端案例：日志分析全流程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54000" y="1930400"/>
            <a:ext cx="5638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 500GB Nginx 日志为例，演示从原始数据到分析结果的完整 Hive 处理流程，并量化各阶段的性能收益。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54000" y="2743200"/>
            <a:ext cx="0" cy="2844800"/>
          </a:xfrm>
          <a:prstGeom prst="line">
            <a:avLst/>
          </a:prstGeom>
          <a:noFill/>
          <a:ln w="25400">
            <a:solidFill>
              <a:srgbClr val="A95EA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190500" y="2794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0"/>
                </a:moveTo>
                <a:lnTo>
                  <a:pt x="101600" y="0"/>
                </a:lnTo>
                <a:cubicBezTo>
                  <a:pt x="157675" y="0"/>
                  <a:pt x="203200" y="45525"/>
                  <a:pt x="203200" y="101600"/>
                </a:cubicBezTo>
                <a:lnTo>
                  <a:pt x="203200" y="101600"/>
                </a:lnTo>
                <a:cubicBezTo>
                  <a:pt x="203200" y="157675"/>
                  <a:pt x="157675" y="203200"/>
                  <a:pt x="101600" y="203200"/>
                </a:cubicBezTo>
                <a:lnTo>
                  <a:pt x="101600" y="203200"/>
                </a:lnTo>
                <a:cubicBezTo>
                  <a:pt x="45525" y="203200"/>
                  <a:pt x="0" y="157675"/>
                  <a:pt x="0" y="1016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533400" y="2743200"/>
            <a:ext cx="5359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 建表与加载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33400" y="3048000"/>
            <a:ext cx="5346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创建外部表，加载原始日志数据。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90500" y="3556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0"/>
                </a:moveTo>
                <a:lnTo>
                  <a:pt x="101600" y="0"/>
                </a:lnTo>
                <a:cubicBezTo>
                  <a:pt x="157675" y="0"/>
                  <a:pt x="203200" y="45525"/>
                  <a:pt x="203200" y="101600"/>
                </a:cubicBezTo>
                <a:lnTo>
                  <a:pt x="203200" y="101600"/>
                </a:lnTo>
                <a:cubicBezTo>
                  <a:pt x="203200" y="157675"/>
                  <a:pt x="157675" y="203200"/>
                  <a:pt x="101600" y="203200"/>
                </a:cubicBezTo>
                <a:lnTo>
                  <a:pt x="101600" y="203200"/>
                </a:lnTo>
                <a:cubicBezTo>
                  <a:pt x="45525" y="203200"/>
                  <a:pt x="0" y="157675"/>
                  <a:pt x="0" y="1016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533400" y="3505200"/>
            <a:ext cx="5359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 转换与优化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33400" y="3810000"/>
            <a:ext cx="5346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转换为 ORC 格式，创建分区表。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90500" y="4318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0"/>
                </a:moveTo>
                <a:lnTo>
                  <a:pt x="101600" y="0"/>
                </a:lnTo>
                <a:cubicBezTo>
                  <a:pt x="157675" y="0"/>
                  <a:pt x="203200" y="45525"/>
                  <a:pt x="203200" y="101600"/>
                </a:cubicBezTo>
                <a:lnTo>
                  <a:pt x="203200" y="101600"/>
                </a:lnTo>
                <a:cubicBezTo>
                  <a:pt x="203200" y="157675"/>
                  <a:pt x="157675" y="203200"/>
                  <a:pt x="101600" y="203200"/>
                </a:cubicBezTo>
                <a:lnTo>
                  <a:pt x="101600" y="203200"/>
                </a:lnTo>
                <a:cubicBezTo>
                  <a:pt x="45525" y="203200"/>
                  <a:pt x="0" y="157675"/>
                  <a:pt x="0" y="1016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533400" y="4267200"/>
            <a:ext cx="5359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 分析与调优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33400" y="4572000"/>
            <a:ext cx="5346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收集统计信息，使用 Tez 引擎执行查询。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90500" y="5080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0"/>
                </a:moveTo>
                <a:lnTo>
                  <a:pt x="101600" y="0"/>
                </a:lnTo>
                <a:cubicBezTo>
                  <a:pt x="157675" y="0"/>
                  <a:pt x="203200" y="45525"/>
                  <a:pt x="203200" y="101600"/>
                </a:cubicBezTo>
                <a:lnTo>
                  <a:pt x="203200" y="101600"/>
                </a:lnTo>
                <a:cubicBezTo>
                  <a:pt x="203200" y="157675"/>
                  <a:pt x="157675" y="203200"/>
                  <a:pt x="101600" y="203200"/>
                </a:cubicBezTo>
                <a:lnTo>
                  <a:pt x="101600" y="203200"/>
                </a:lnTo>
                <a:cubicBezTo>
                  <a:pt x="45525" y="203200"/>
                  <a:pt x="0" y="157675"/>
                  <a:pt x="0" y="1016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533400" y="5029200"/>
            <a:ext cx="5359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4. 结果导出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33400" y="5334000"/>
            <a:ext cx="5346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将分析结果导出为报表。</a:t>
            </a:r>
            <a:endParaRPr lang="en-US" sz="1600" dirty="0"/>
          </a:p>
        </p:txBody>
      </p:sp>
      <p:pic>
        <p:nvPicPr>
          <p:cNvPr id="20" name="Image 1" descr="https://kimi-web-img.moonshot.cn/img/upload.wikimedia.org/0405f182840adfbfd121981025f6e7a684a98951.jpg"/>
          <p:cNvPicPr>
            <a:picLocks noChangeAspect="1"/>
          </p:cNvPicPr>
          <p:nvPr/>
        </p:nvPicPr>
        <p:blipFill>
          <a:blip r:embed="rId4"/>
          <a:srcRect l="17720" r="17720"/>
          <a:stretch/>
        </p:blipFill>
        <p:spPr>
          <a:xfrm>
            <a:off x="6096000" y="783134"/>
            <a:ext cx="5842000" cy="5295900"/>
          </a:xfrm>
          <a:prstGeom prst="roundRect">
            <a:avLst>
              <a:gd name="adj" fmla="val 1918"/>
            </a:avLst>
          </a:prstGeom>
        </p:spPr>
      </p:pic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test-kimi-img.moonshot.cn/pub/slides/slides_tmpl/image/25-08-11-17:38:55-d2crkbv0ctitcgma2i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8750" y="15494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8F5C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性能对比与加速比量化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54000" y="2311400"/>
            <a:ext cx="5689600" cy="2438400"/>
          </a:xfrm>
          <a:custGeom>
            <a:avLst/>
            <a:gdLst/>
            <a:ahLst/>
            <a:cxnLst/>
            <a:rect l="l" t="t" r="r" b="b"/>
            <a:pathLst>
              <a:path w="5689600" h="2438400">
                <a:moveTo>
                  <a:pt x="101608" y="0"/>
                </a:moveTo>
                <a:lnTo>
                  <a:pt x="5587992" y="0"/>
                </a:lnTo>
                <a:cubicBezTo>
                  <a:pt x="5644108" y="0"/>
                  <a:pt x="5689600" y="45492"/>
                  <a:pt x="5689600" y="101608"/>
                </a:cubicBezTo>
                <a:lnTo>
                  <a:pt x="5689600" y="2336792"/>
                </a:lnTo>
                <a:cubicBezTo>
                  <a:pt x="5689600" y="2392908"/>
                  <a:pt x="5644108" y="2438400"/>
                  <a:pt x="5587992" y="2438400"/>
                </a:cubicBezTo>
                <a:lnTo>
                  <a:pt x="101608" y="2438400"/>
                </a:lnTo>
                <a:cubicBezTo>
                  <a:pt x="45492" y="2438400"/>
                  <a:pt x="0" y="2392908"/>
                  <a:pt x="0" y="23367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D3B9D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406400" y="2514600"/>
            <a:ext cx="538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A95EA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执行引擎性能对比 (相对值)</a:t>
            </a:r>
            <a:endParaRPr lang="en-US" sz="1600" dirty="0"/>
          </a:p>
        </p:txBody>
      </p:sp>
      <p:pic>
        <p:nvPicPr>
          <p:cNvPr id="8" name="Image 1" descr="https://kimi-web-img.moonshot.cn/img/eggersmannusa.com/efdd9d53d40aa1ec3a33cf7286249418bd97aa47.jpg"/>
          <p:cNvPicPr>
            <a:picLocks noChangeAspect="1"/>
          </p:cNvPicPr>
          <p:nvPr/>
        </p:nvPicPr>
        <p:blipFill>
          <a:blip r:embed="rId4"/>
          <a:srcRect t="28829" b="28828"/>
          <a:stretch/>
        </p:blipFill>
        <p:spPr>
          <a:xfrm>
            <a:off x="457200" y="2921000"/>
            <a:ext cx="5283200" cy="1625600"/>
          </a:xfrm>
          <a:prstGeom prst="roundRect">
            <a:avLst>
              <a:gd name="adj" fmla="val 0"/>
            </a:avLst>
          </a:prstGeom>
        </p:spPr>
      </p:pic>
      <p:sp>
        <p:nvSpPr>
          <p:cNvPr id="9" name="Shape 5"/>
          <p:cNvSpPr/>
          <p:nvPr/>
        </p:nvSpPr>
        <p:spPr>
          <a:xfrm>
            <a:off x="6248400" y="2311400"/>
            <a:ext cx="5689600" cy="2438400"/>
          </a:xfrm>
          <a:custGeom>
            <a:avLst/>
            <a:gdLst/>
            <a:ahLst/>
            <a:cxnLst/>
            <a:rect l="l" t="t" r="r" b="b"/>
            <a:pathLst>
              <a:path w="5689600" h="2438400">
                <a:moveTo>
                  <a:pt x="101608" y="0"/>
                </a:moveTo>
                <a:lnTo>
                  <a:pt x="5587992" y="0"/>
                </a:lnTo>
                <a:cubicBezTo>
                  <a:pt x="5644108" y="0"/>
                  <a:pt x="5689600" y="45492"/>
                  <a:pt x="5689600" y="101608"/>
                </a:cubicBezTo>
                <a:lnTo>
                  <a:pt x="5689600" y="2336792"/>
                </a:lnTo>
                <a:cubicBezTo>
                  <a:pt x="5689600" y="2392908"/>
                  <a:pt x="5644108" y="2438400"/>
                  <a:pt x="5587992" y="2438400"/>
                </a:cubicBezTo>
                <a:lnTo>
                  <a:pt x="101608" y="2438400"/>
                </a:lnTo>
                <a:cubicBezTo>
                  <a:pt x="45492" y="2438400"/>
                  <a:pt x="0" y="2392908"/>
                  <a:pt x="0" y="23367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D3B9D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6"/>
          <p:cNvSpPr/>
          <p:nvPr/>
        </p:nvSpPr>
        <p:spPr>
          <a:xfrm>
            <a:off x="6400800" y="2514600"/>
            <a:ext cx="538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A95EA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存储格式性能对比 (相对值)</a:t>
            </a:r>
            <a:endParaRPr lang="en-US" sz="1600" dirty="0"/>
          </a:p>
        </p:txBody>
      </p:sp>
      <p:pic>
        <p:nvPicPr>
          <p:cNvPr id="11" name="Image 2" descr="https://kimi-web-img.moonshot.cn/img/eggersmannusa.com/efdd9d53d40aa1ec3a33cf7286249418bd97aa47.jpg"/>
          <p:cNvPicPr>
            <a:picLocks noChangeAspect="1"/>
          </p:cNvPicPr>
          <p:nvPr/>
        </p:nvPicPr>
        <p:blipFill>
          <a:blip r:embed="rId4"/>
          <a:srcRect t="28829" b="28828"/>
          <a:stretch/>
        </p:blipFill>
        <p:spPr>
          <a:xfrm>
            <a:off x="6451600" y="2921000"/>
            <a:ext cx="5283200" cy="1625600"/>
          </a:xfrm>
          <a:prstGeom prst="roundRect">
            <a:avLst>
              <a:gd name="adj" fmla="val 0"/>
            </a:avLst>
          </a:prstGeom>
        </p:spPr>
      </p:pic>
      <p:sp>
        <p:nvSpPr>
          <p:cNvPr id="12" name="Text 7"/>
          <p:cNvSpPr/>
          <p:nvPr/>
        </p:nvSpPr>
        <p:spPr>
          <a:xfrm>
            <a:off x="209550" y="5054600"/>
            <a:ext cx="1177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通过量化对比，可以清晰地看到不同优化手段带来的性能提升，树立</a:t>
            </a:r>
            <a:r>
              <a:rPr lang="en-US" sz="1400" dirty="0">
                <a:solidFill>
                  <a:srgbClr val="3C3542"/>
                </a:solidFill>
                <a:highlight>
                  <a:srgbClr val="D3B9D7">
                    <a:alpha val="667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数据驱动的性能观 </a:t>
            </a: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test-kimi-img.moonshot.cn/pub/slides/slides_tmpl/image/25-08-11-17:38:55-d2crkbv0ctitcgma2i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8750" y="11684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8F5C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知识回顾与概念图谱</a:t>
            </a:r>
            <a:endParaRPr lang="en-US" sz="1600" dirty="0"/>
          </a:p>
        </p:txBody>
      </p:sp>
      <p:pic>
        <p:nvPicPr>
          <p:cNvPr id="6" name="Image 1" descr="https://kimi-web-img.moonshot.cn/img/img-blog.csdnimg.cn/bd033d32d8fd2455c532ddee10477199fdf35b46.png"/>
          <p:cNvPicPr>
            <a:picLocks noChangeAspect="1"/>
          </p:cNvPicPr>
          <p:nvPr/>
        </p:nvPicPr>
        <p:blipFill>
          <a:blip r:embed="rId4"/>
          <a:srcRect t="21596" b="21596"/>
          <a:stretch/>
        </p:blipFill>
        <p:spPr>
          <a:xfrm>
            <a:off x="1714500" y="1930400"/>
            <a:ext cx="8763000" cy="3251200"/>
          </a:xfrm>
          <a:prstGeom prst="roundRect">
            <a:avLst>
              <a:gd name="adj" fmla="val 0"/>
            </a:avLst>
          </a:prstGeom>
        </p:spPr>
      </p:pic>
      <p:sp>
        <p:nvSpPr>
          <p:cNvPr id="7" name="Text 3"/>
          <p:cNvSpPr/>
          <p:nvPr/>
        </p:nvSpPr>
        <p:spPr>
          <a:xfrm>
            <a:off x="203200" y="5384800"/>
            <a:ext cx="1178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核心设计哲学：</a:t>
            </a:r>
            <a:r>
              <a:rPr lang="en-US" sz="1600" dirty="0">
                <a:solidFill>
                  <a:srgbClr val="3C3542"/>
                </a:solidFill>
                <a:highlight>
                  <a:srgbClr val="D3B9D7">
                    <a:alpha val="667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元数据与数据分离 </a:t>
            </a:r>
            <a:r>
              <a:rPr lang="en-US" sz="16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、</a:t>
            </a:r>
            <a:r>
              <a:rPr lang="en-US" sz="1600" dirty="0">
                <a:solidFill>
                  <a:srgbClr val="3C3542"/>
                </a:solidFill>
                <a:highlight>
                  <a:srgbClr val="D3B9D7">
                    <a:alpha val="667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逻辑与物理分离 </a:t>
            </a:r>
            <a:r>
              <a:rPr lang="en-US" sz="16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、</a:t>
            </a:r>
            <a:r>
              <a:rPr lang="en-US" sz="1600" dirty="0">
                <a:solidFill>
                  <a:srgbClr val="3C3542"/>
                </a:solidFill>
                <a:highlight>
                  <a:srgbClr val="D3B9D7">
                    <a:alpha val="667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计算与存储分离 </a:t>
            </a:r>
            <a:r>
              <a:rPr lang="en-US" sz="16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test-kimi-img.moonshot.cn/pub/slides/slides_tmpl/image/25-08-11-17:38:55-d2crkbv0ctitcgma2i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8750" y="2540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8F5C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常见问题与排查思路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20675" y="9779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0"/>
                </a:moveTo>
                <a:cubicBezTo>
                  <a:pt x="94005" y="0"/>
                  <a:pt x="98693" y="2813"/>
                  <a:pt x="101124" y="7293"/>
                </a:cubicBezTo>
                <a:lnTo>
                  <a:pt x="176133" y="146199"/>
                </a:lnTo>
                <a:cubicBezTo>
                  <a:pt x="178460" y="150505"/>
                  <a:pt x="178356" y="155714"/>
                  <a:pt x="175855" y="159916"/>
                </a:cubicBezTo>
                <a:cubicBezTo>
                  <a:pt x="173355" y="164118"/>
                  <a:pt x="168806" y="166688"/>
                  <a:pt x="163909" y="166688"/>
                </a:cubicBezTo>
                <a:lnTo>
                  <a:pt x="13891" y="166688"/>
                </a:lnTo>
                <a:cubicBezTo>
                  <a:pt x="8994" y="166688"/>
                  <a:pt x="4480" y="164118"/>
                  <a:pt x="1945" y="159916"/>
                </a:cubicBezTo>
                <a:cubicBezTo>
                  <a:pt x="-590" y="155714"/>
                  <a:pt x="-660" y="150505"/>
                  <a:pt x="1667" y="146199"/>
                </a:cubicBezTo>
                <a:lnTo>
                  <a:pt x="76676" y="7293"/>
                </a:lnTo>
                <a:cubicBezTo>
                  <a:pt x="79107" y="2813"/>
                  <a:pt x="83795" y="0"/>
                  <a:pt x="88900" y="0"/>
                </a:cubicBezTo>
                <a:close/>
                <a:moveTo>
                  <a:pt x="88900" y="58341"/>
                </a:moveTo>
                <a:cubicBezTo>
                  <a:pt x="84281" y="58341"/>
                  <a:pt x="80566" y="62056"/>
                  <a:pt x="80566" y="66675"/>
                </a:cubicBezTo>
                <a:lnTo>
                  <a:pt x="80566" y="105569"/>
                </a:lnTo>
                <a:cubicBezTo>
                  <a:pt x="80566" y="110187"/>
                  <a:pt x="84281" y="113903"/>
                  <a:pt x="88900" y="113903"/>
                </a:cubicBezTo>
                <a:cubicBezTo>
                  <a:pt x="93519" y="113903"/>
                  <a:pt x="97234" y="110187"/>
                  <a:pt x="97234" y="105569"/>
                </a:cubicBezTo>
                <a:lnTo>
                  <a:pt x="97234" y="66675"/>
                </a:lnTo>
                <a:cubicBezTo>
                  <a:pt x="97234" y="62056"/>
                  <a:pt x="93519" y="58341"/>
                  <a:pt x="88900" y="58341"/>
                </a:cubicBezTo>
                <a:close/>
                <a:moveTo>
                  <a:pt x="98172" y="133350"/>
                </a:moveTo>
                <a:cubicBezTo>
                  <a:pt x="98383" y="129908"/>
                  <a:pt x="96667" y="126634"/>
                  <a:pt x="93716" y="124849"/>
                </a:cubicBezTo>
                <a:cubicBezTo>
                  <a:pt x="90766" y="123065"/>
                  <a:pt x="87069" y="123065"/>
                  <a:pt x="84119" y="124849"/>
                </a:cubicBezTo>
                <a:cubicBezTo>
                  <a:pt x="81168" y="126634"/>
                  <a:pt x="79452" y="129908"/>
                  <a:pt x="79663" y="133350"/>
                </a:cubicBezTo>
                <a:cubicBezTo>
                  <a:pt x="79452" y="136792"/>
                  <a:pt x="81168" y="140066"/>
                  <a:pt x="84119" y="141851"/>
                </a:cubicBezTo>
                <a:cubicBezTo>
                  <a:pt x="87069" y="143635"/>
                  <a:pt x="90766" y="143635"/>
                  <a:pt x="93716" y="141851"/>
                </a:cubicBezTo>
                <a:cubicBezTo>
                  <a:pt x="96667" y="140066"/>
                  <a:pt x="98383" y="136792"/>
                  <a:pt x="98172" y="133350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660400" y="939800"/>
            <a:ext cx="1155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语义解析失败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315075" y="9779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0"/>
                </a:moveTo>
                <a:cubicBezTo>
                  <a:pt x="94005" y="0"/>
                  <a:pt x="98693" y="2813"/>
                  <a:pt x="101124" y="7293"/>
                </a:cubicBezTo>
                <a:lnTo>
                  <a:pt x="176133" y="146199"/>
                </a:lnTo>
                <a:cubicBezTo>
                  <a:pt x="178460" y="150505"/>
                  <a:pt x="178356" y="155714"/>
                  <a:pt x="175855" y="159916"/>
                </a:cubicBezTo>
                <a:cubicBezTo>
                  <a:pt x="173355" y="164118"/>
                  <a:pt x="168806" y="166688"/>
                  <a:pt x="163909" y="166688"/>
                </a:cubicBezTo>
                <a:lnTo>
                  <a:pt x="13891" y="166688"/>
                </a:lnTo>
                <a:cubicBezTo>
                  <a:pt x="8994" y="166688"/>
                  <a:pt x="4480" y="164118"/>
                  <a:pt x="1945" y="159916"/>
                </a:cubicBezTo>
                <a:cubicBezTo>
                  <a:pt x="-590" y="155714"/>
                  <a:pt x="-660" y="150505"/>
                  <a:pt x="1667" y="146199"/>
                </a:cubicBezTo>
                <a:lnTo>
                  <a:pt x="76676" y="7293"/>
                </a:lnTo>
                <a:cubicBezTo>
                  <a:pt x="79107" y="2813"/>
                  <a:pt x="83795" y="0"/>
                  <a:pt x="88900" y="0"/>
                </a:cubicBezTo>
                <a:close/>
                <a:moveTo>
                  <a:pt x="88900" y="58341"/>
                </a:moveTo>
                <a:cubicBezTo>
                  <a:pt x="84281" y="58341"/>
                  <a:pt x="80566" y="62056"/>
                  <a:pt x="80566" y="66675"/>
                </a:cubicBezTo>
                <a:lnTo>
                  <a:pt x="80566" y="105569"/>
                </a:lnTo>
                <a:cubicBezTo>
                  <a:pt x="80566" y="110187"/>
                  <a:pt x="84281" y="113903"/>
                  <a:pt x="88900" y="113903"/>
                </a:cubicBezTo>
                <a:cubicBezTo>
                  <a:pt x="93519" y="113903"/>
                  <a:pt x="97234" y="110187"/>
                  <a:pt x="97234" y="105569"/>
                </a:cubicBezTo>
                <a:lnTo>
                  <a:pt x="97234" y="66675"/>
                </a:lnTo>
                <a:cubicBezTo>
                  <a:pt x="97234" y="62056"/>
                  <a:pt x="93519" y="58341"/>
                  <a:pt x="88900" y="58341"/>
                </a:cubicBezTo>
                <a:close/>
                <a:moveTo>
                  <a:pt x="98172" y="133350"/>
                </a:moveTo>
                <a:cubicBezTo>
                  <a:pt x="98383" y="129908"/>
                  <a:pt x="96667" y="126634"/>
                  <a:pt x="93716" y="124849"/>
                </a:cubicBezTo>
                <a:cubicBezTo>
                  <a:pt x="90766" y="123065"/>
                  <a:pt x="87069" y="123065"/>
                  <a:pt x="84119" y="124849"/>
                </a:cubicBezTo>
                <a:cubicBezTo>
                  <a:pt x="81168" y="126634"/>
                  <a:pt x="79452" y="129908"/>
                  <a:pt x="79663" y="133350"/>
                </a:cubicBezTo>
                <a:cubicBezTo>
                  <a:pt x="79452" y="136792"/>
                  <a:pt x="81168" y="140066"/>
                  <a:pt x="84119" y="141851"/>
                </a:cubicBezTo>
                <a:cubicBezTo>
                  <a:pt x="87069" y="143635"/>
                  <a:pt x="90766" y="143635"/>
                  <a:pt x="93716" y="141851"/>
                </a:cubicBezTo>
                <a:cubicBezTo>
                  <a:pt x="96667" y="140066"/>
                  <a:pt x="98383" y="136792"/>
                  <a:pt x="98172" y="133350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6654800" y="939800"/>
            <a:ext cx="1409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内存溢出 (OOM)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0675" y="13843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0"/>
                </a:moveTo>
                <a:cubicBezTo>
                  <a:pt x="94005" y="0"/>
                  <a:pt x="98693" y="2813"/>
                  <a:pt x="101124" y="7293"/>
                </a:cubicBezTo>
                <a:lnTo>
                  <a:pt x="176133" y="146199"/>
                </a:lnTo>
                <a:cubicBezTo>
                  <a:pt x="178460" y="150505"/>
                  <a:pt x="178356" y="155714"/>
                  <a:pt x="175855" y="159916"/>
                </a:cubicBezTo>
                <a:cubicBezTo>
                  <a:pt x="173355" y="164118"/>
                  <a:pt x="168806" y="166688"/>
                  <a:pt x="163909" y="166688"/>
                </a:cubicBezTo>
                <a:lnTo>
                  <a:pt x="13891" y="166688"/>
                </a:lnTo>
                <a:cubicBezTo>
                  <a:pt x="8994" y="166688"/>
                  <a:pt x="4480" y="164118"/>
                  <a:pt x="1945" y="159916"/>
                </a:cubicBezTo>
                <a:cubicBezTo>
                  <a:pt x="-590" y="155714"/>
                  <a:pt x="-660" y="150505"/>
                  <a:pt x="1667" y="146199"/>
                </a:cubicBezTo>
                <a:lnTo>
                  <a:pt x="76676" y="7293"/>
                </a:lnTo>
                <a:cubicBezTo>
                  <a:pt x="79107" y="2813"/>
                  <a:pt x="83795" y="0"/>
                  <a:pt x="88900" y="0"/>
                </a:cubicBezTo>
                <a:close/>
                <a:moveTo>
                  <a:pt x="88900" y="58341"/>
                </a:moveTo>
                <a:cubicBezTo>
                  <a:pt x="84281" y="58341"/>
                  <a:pt x="80566" y="62056"/>
                  <a:pt x="80566" y="66675"/>
                </a:cubicBezTo>
                <a:lnTo>
                  <a:pt x="80566" y="105569"/>
                </a:lnTo>
                <a:cubicBezTo>
                  <a:pt x="80566" y="110187"/>
                  <a:pt x="84281" y="113903"/>
                  <a:pt x="88900" y="113903"/>
                </a:cubicBezTo>
                <a:cubicBezTo>
                  <a:pt x="93519" y="113903"/>
                  <a:pt x="97234" y="110187"/>
                  <a:pt x="97234" y="105569"/>
                </a:cubicBezTo>
                <a:lnTo>
                  <a:pt x="97234" y="66675"/>
                </a:lnTo>
                <a:cubicBezTo>
                  <a:pt x="97234" y="62056"/>
                  <a:pt x="93519" y="58341"/>
                  <a:pt x="88900" y="58341"/>
                </a:cubicBezTo>
                <a:close/>
                <a:moveTo>
                  <a:pt x="98172" y="133350"/>
                </a:moveTo>
                <a:cubicBezTo>
                  <a:pt x="98383" y="129908"/>
                  <a:pt x="96667" y="126634"/>
                  <a:pt x="93716" y="124849"/>
                </a:cubicBezTo>
                <a:cubicBezTo>
                  <a:pt x="90766" y="123065"/>
                  <a:pt x="87069" y="123065"/>
                  <a:pt x="84119" y="124849"/>
                </a:cubicBezTo>
                <a:cubicBezTo>
                  <a:pt x="81168" y="126634"/>
                  <a:pt x="79452" y="129908"/>
                  <a:pt x="79663" y="133350"/>
                </a:cubicBezTo>
                <a:cubicBezTo>
                  <a:pt x="79452" y="136792"/>
                  <a:pt x="81168" y="140066"/>
                  <a:pt x="84119" y="141851"/>
                </a:cubicBezTo>
                <a:cubicBezTo>
                  <a:pt x="87069" y="143635"/>
                  <a:pt x="90766" y="143635"/>
                  <a:pt x="93716" y="141851"/>
                </a:cubicBezTo>
                <a:cubicBezTo>
                  <a:pt x="96667" y="140066"/>
                  <a:pt x="98383" y="136792"/>
                  <a:pt x="98172" y="133350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660400" y="1346200"/>
            <a:ext cx="1333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分区列类型冲突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315075" y="13843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0"/>
                </a:moveTo>
                <a:cubicBezTo>
                  <a:pt x="94005" y="0"/>
                  <a:pt x="98693" y="2813"/>
                  <a:pt x="101124" y="7293"/>
                </a:cubicBezTo>
                <a:lnTo>
                  <a:pt x="176133" y="146199"/>
                </a:lnTo>
                <a:cubicBezTo>
                  <a:pt x="178460" y="150505"/>
                  <a:pt x="178356" y="155714"/>
                  <a:pt x="175855" y="159916"/>
                </a:cubicBezTo>
                <a:cubicBezTo>
                  <a:pt x="173355" y="164118"/>
                  <a:pt x="168806" y="166688"/>
                  <a:pt x="163909" y="166688"/>
                </a:cubicBezTo>
                <a:lnTo>
                  <a:pt x="13891" y="166688"/>
                </a:lnTo>
                <a:cubicBezTo>
                  <a:pt x="8994" y="166688"/>
                  <a:pt x="4480" y="164118"/>
                  <a:pt x="1945" y="159916"/>
                </a:cubicBezTo>
                <a:cubicBezTo>
                  <a:pt x="-590" y="155714"/>
                  <a:pt x="-660" y="150505"/>
                  <a:pt x="1667" y="146199"/>
                </a:cubicBezTo>
                <a:lnTo>
                  <a:pt x="76676" y="7293"/>
                </a:lnTo>
                <a:cubicBezTo>
                  <a:pt x="79107" y="2813"/>
                  <a:pt x="83795" y="0"/>
                  <a:pt x="88900" y="0"/>
                </a:cubicBezTo>
                <a:close/>
                <a:moveTo>
                  <a:pt x="88900" y="58341"/>
                </a:moveTo>
                <a:cubicBezTo>
                  <a:pt x="84281" y="58341"/>
                  <a:pt x="80566" y="62056"/>
                  <a:pt x="80566" y="66675"/>
                </a:cubicBezTo>
                <a:lnTo>
                  <a:pt x="80566" y="105569"/>
                </a:lnTo>
                <a:cubicBezTo>
                  <a:pt x="80566" y="110187"/>
                  <a:pt x="84281" y="113903"/>
                  <a:pt x="88900" y="113903"/>
                </a:cubicBezTo>
                <a:cubicBezTo>
                  <a:pt x="93519" y="113903"/>
                  <a:pt x="97234" y="110187"/>
                  <a:pt x="97234" y="105569"/>
                </a:cubicBezTo>
                <a:lnTo>
                  <a:pt x="97234" y="66675"/>
                </a:lnTo>
                <a:cubicBezTo>
                  <a:pt x="97234" y="62056"/>
                  <a:pt x="93519" y="58341"/>
                  <a:pt x="88900" y="58341"/>
                </a:cubicBezTo>
                <a:close/>
                <a:moveTo>
                  <a:pt x="98172" y="133350"/>
                </a:moveTo>
                <a:cubicBezTo>
                  <a:pt x="98383" y="129908"/>
                  <a:pt x="96667" y="126634"/>
                  <a:pt x="93716" y="124849"/>
                </a:cubicBezTo>
                <a:cubicBezTo>
                  <a:pt x="90766" y="123065"/>
                  <a:pt x="87069" y="123065"/>
                  <a:pt x="84119" y="124849"/>
                </a:cubicBezTo>
                <a:cubicBezTo>
                  <a:pt x="81168" y="126634"/>
                  <a:pt x="79452" y="129908"/>
                  <a:pt x="79663" y="133350"/>
                </a:cubicBezTo>
                <a:cubicBezTo>
                  <a:pt x="79452" y="136792"/>
                  <a:pt x="81168" y="140066"/>
                  <a:pt x="84119" y="141851"/>
                </a:cubicBezTo>
                <a:cubicBezTo>
                  <a:pt x="87069" y="143635"/>
                  <a:pt x="90766" y="143635"/>
                  <a:pt x="93716" y="141851"/>
                </a:cubicBezTo>
                <a:cubicBezTo>
                  <a:pt x="96667" y="140066"/>
                  <a:pt x="98383" y="136792"/>
                  <a:pt x="98172" y="133350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6654800" y="1346200"/>
            <a:ext cx="1231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Tez DAG 失败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0675" y="17907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0"/>
                </a:moveTo>
                <a:cubicBezTo>
                  <a:pt x="94005" y="0"/>
                  <a:pt x="98693" y="2813"/>
                  <a:pt x="101124" y="7293"/>
                </a:cubicBezTo>
                <a:lnTo>
                  <a:pt x="176133" y="146199"/>
                </a:lnTo>
                <a:cubicBezTo>
                  <a:pt x="178460" y="150505"/>
                  <a:pt x="178356" y="155714"/>
                  <a:pt x="175855" y="159916"/>
                </a:cubicBezTo>
                <a:cubicBezTo>
                  <a:pt x="173355" y="164118"/>
                  <a:pt x="168806" y="166688"/>
                  <a:pt x="163909" y="166688"/>
                </a:cubicBezTo>
                <a:lnTo>
                  <a:pt x="13891" y="166688"/>
                </a:lnTo>
                <a:cubicBezTo>
                  <a:pt x="8994" y="166688"/>
                  <a:pt x="4480" y="164118"/>
                  <a:pt x="1945" y="159916"/>
                </a:cubicBezTo>
                <a:cubicBezTo>
                  <a:pt x="-590" y="155714"/>
                  <a:pt x="-660" y="150505"/>
                  <a:pt x="1667" y="146199"/>
                </a:cubicBezTo>
                <a:lnTo>
                  <a:pt x="76676" y="7293"/>
                </a:lnTo>
                <a:cubicBezTo>
                  <a:pt x="79107" y="2813"/>
                  <a:pt x="83795" y="0"/>
                  <a:pt x="88900" y="0"/>
                </a:cubicBezTo>
                <a:close/>
                <a:moveTo>
                  <a:pt x="88900" y="58341"/>
                </a:moveTo>
                <a:cubicBezTo>
                  <a:pt x="84281" y="58341"/>
                  <a:pt x="80566" y="62056"/>
                  <a:pt x="80566" y="66675"/>
                </a:cubicBezTo>
                <a:lnTo>
                  <a:pt x="80566" y="105569"/>
                </a:lnTo>
                <a:cubicBezTo>
                  <a:pt x="80566" y="110187"/>
                  <a:pt x="84281" y="113903"/>
                  <a:pt x="88900" y="113903"/>
                </a:cubicBezTo>
                <a:cubicBezTo>
                  <a:pt x="93519" y="113903"/>
                  <a:pt x="97234" y="110187"/>
                  <a:pt x="97234" y="105569"/>
                </a:cubicBezTo>
                <a:lnTo>
                  <a:pt x="97234" y="66675"/>
                </a:lnTo>
                <a:cubicBezTo>
                  <a:pt x="97234" y="62056"/>
                  <a:pt x="93519" y="58341"/>
                  <a:pt x="88900" y="58341"/>
                </a:cubicBezTo>
                <a:close/>
                <a:moveTo>
                  <a:pt x="98172" y="133350"/>
                </a:moveTo>
                <a:cubicBezTo>
                  <a:pt x="98383" y="129908"/>
                  <a:pt x="96667" y="126634"/>
                  <a:pt x="93716" y="124849"/>
                </a:cubicBezTo>
                <a:cubicBezTo>
                  <a:pt x="90766" y="123065"/>
                  <a:pt x="87069" y="123065"/>
                  <a:pt x="84119" y="124849"/>
                </a:cubicBezTo>
                <a:cubicBezTo>
                  <a:pt x="81168" y="126634"/>
                  <a:pt x="79452" y="129908"/>
                  <a:pt x="79663" y="133350"/>
                </a:cubicBezTo>
                <a:cubicBezTo>
                  <a:pt x="79452" y="136792"/>
                  <a:pt x="81168" y="140066"/>
                  <a:pt x="84119" y="141851"/>
                </a:cubicBezTo>
                <a:cubicBezTo>
                  <a:pt x="87069" y="143635"/>
                  <a:pt x="90766" y="143635"/>
                  <a:pt x="93716" y="141851"/>
                </a:cubicBezTo>
                <a:cubicBezTo>
                  <a:pt x="96667" y="140066"/>
                  <a:pt x="98383" y="136792"/>
                  <a:pt x="98172" y="133350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660400" y="1752600"/>
            <a:ext cx="1155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统计信息过期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315075" y="17907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0"/>
                </a:moveTo>
                <a:cubicBezTo>
                  <a:pt x="94005" y="0"/>
                  <a:pt x="98693" y="2813"/>
                  <a:pt x="101124" y="7293"/>
                </a:cubicBezTo>
                <a:lnTo>
                  <a:pt x="176133" y="146199"/>
                </a:lnTo>
                <a:cubicBezTo>
                  <a:pt x="178460" y="150505"/>
                  <a:pt x="178356" y="155714"/>
                  <a:pt x="175855" y="159916"/>
                </a:cubicBezTo>
                <a:cubicBezTo>
                  <a:pt x="173355" y="164118"/>
                  <a:pt x="168806" y="166688"/>
                  <a:pt x="163909" y="166688"/>
                </a:cubicBezTo>
                <a:lnTo>
                  <a:pt x="13891" y="166688"/>
                </a:lnTo>
                <a:cubicBezTo>
                  <a:pt x="8994" y="166688"/>
                  <a:pt x="4480" y="164118"/>
                  <a:pt x="1945" y="159916"/>
                </a:cubicBezTo>
                <a:cubicBezTo>
                  <a:pt x="-590" y="155714"/>
                  <a:pt x="-660" y="150505"/>
                  <a:pt x="1667" y="146199"/>
                </a:cubicBezTo>
                <a:lnTo>
                  <a:pt x="76676" y="7293"/>
                </a:lnTo>
                <a:cubicBezTo>
                  <a:pt x="79107" y="2813"/>
                  <a:pt x="83795" y="0"/>
                  <a:pt x="88900" y="0"/>
                </a:cubicBezTo>
                <a:close/>
                <a:moveTo>
                  <a:pt x="88900" y="58341"/>
                </a:moveTo>
                <a:cubicBezTo>
                  <a:pt x="84281" y="58341"/>
                  <a:pt x="80566" y="62056"/>
                  <a:pt x="80566" y="66675"/>
                </a:cubicBezTo>
                <a:lnTo>
                  <a:pt x="80566" y="105569"/>
                </a:lnTo>
                <a:cubicBezTo>
                  <a:pt x="80566" y="110187"/>
                  <a:pt x="84281" y="113903"/>
                  <a:pt x="88900" y="113903"/>
                </a:cubicBezTo>
                <a:cubicBezTo>
                  <a:pt x="93519" y="113903"/>
                  <a:pt x="97234" y="110187"/>
                  <a:pt x="97234" y="105569"/>
                </a:cubicBezTo>
                <a:lnTo>
                  <a:pt x="97234" y="66675"/>
                </a:lnTo>
                <a:cubicBezTo>
                  <a:pt x="97234" y="62056"/>
                  <a:pt x="93519" y="58341"/>
                  <a:pt x="88900" y="58341"/>
                </a:cubicBezTo>
                <a:close/>
                <a:moveTo>
                  <a:pt x="98172" y="133350"/>
                </a:moveTo>
                <a:cubicBezTo>
                  <a:pt x="98383" y="129908"/>
                  <a:pt x="96667" y="126634"/>
                  <a:pt x="93716" y="124849"/>
                </a:cubicBezTo>
                <a:cubicBezTo>
                  <a:pt x="90766" y="123065"/>
                  <a:pt x="87069" y="123065"/>
                  <a:pt x="84119" y="124849"/>
                </a:cubicBezTo>
                <a:cubicBezTo>
                  <a:pt x="81168" y="126634"/>
                  <a:pt x="79452" y="129908"/>
                  <a:pt x="79663" y="133350"/>
                </a:cubicBezTo>
                <a:cubicBezTo>
                  <a:pt x="79452" y="136792"/>
                  <a:pt x="81168" y="140066"/>
                  <a:pt x="84119" y="141851"/>
                </a:cubicBezTo>
                <a:cubicBezTo>
                  <a:pt x="87069" y="143635"/>
                  <a:pt x="90766" y="143635"/>
                  <a:pt x="93716" y="141851"/>
                </a:cubicBezTo>
                <a:cubicBezTo>
                  <a:pt x="96667" y="140066"/>
                  <a:pt x="98383" y="136792"/>
                  <a:pt x="98172" y="133350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6654800" y="1752600"/>
            <a:ext cx="1244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ORC 文件损坏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20675" y="21971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0"/>
                </a:moveTo>
                <a:cubicBezTo>
                  <a:pt x="94005" y="0"/>
                  <a:pt x="98693" y="2813"/>
                  <a:pt x="101124" y="7293"/>
                </a:cubicBezTo>
                <a:lnTo>
                  <a:pt x="176133" y="146199"/>
                </a:lnTo>
                <a:cubicBezTo>
                  <a:pt x="178460" y="150505"/>
                  <a:pt x="178356" y="155714"/>
                  <a:pt x="175855" y="159916"/>
                </a:cubicBezTo>
                <a:cubicBezTo>
                  <a:pt x="173355" y="164118"/>
                  <a:pt x="168806" y="166688"/>
                  <a:pt x="163909" y="166688"/>
                </a:cubicBezTo>
                <a:lnTo>
                  <a:pt x="13891" y="166688"/>
                </a:lnTo>
                <a:cubicBezTo>
                  <a:pt x="8994" y="166688"/>
                  <a:pt x="4480" y="164118"/>
                  <a:pt x="1945" y="159916"/>
                </a:cubicBezTo>
                <a:cubicBezTo>
                  <a:pt x="-590" y="155714"/>
                  <a:pt x="-660" y="150505"/>
                  <a:pt x="1667" y="146199"/>
                </a:cubicBezTo>
                <a:lnTo>
                  <a:pt x="76676" y="7293"/>
                </a:lnTo>
                <a:cubicBezTo>
                  <a:pt x="79107" y="2813"/>
                  <a:pt x="83795" y="0"/>
                  <a:pt x="88900" y="0"/>
                </a:cubicBezTo>
                <a:close/>
                <a:moveTo>
                  <a:pt x="88900" y="58341"/>
                </a:moveTo>
                <a:cubicBezTo>
                  <a:pt x="84281" y="58341"/>
                  <a:pt x="80566" y="62056"/>
                  <a:pt x="80566" y="66675"/>
                </a:cubicBezTo>
                <a:lnTo>
                  <a:pt x="80566" y="105569"/>
                </a:lnTo>
                <a:cubicBezTo>
                  <a:pt x="80566" y="110187"/>
                  <a:pt x="84281" y="113903"/>
                  <a:pt x="88900" y="113903"/>
                </a:cubicBezTo>
                <a:cubicBezTo>
                  <a:pt x="93519" y="113903"/>
                  <a:pt x="97234" y="110187"/>
                  <a:pt x="97234" y="105569"/>
                </a:cubicBezTo>
                <a:lnTo>
                  <a:pt x="97234" y="66675"/>
                </a:lnTo>
                <a:cubicBezTo>
                  <a:pt x="97234" y="62056"/>
                  <a:pt x="93519" y="58341"/>
                  <a:pt x="88900" y="58341"/>
                </a:cubicBezTo>
                <a:close/>
                <a:moveTo>
                  <a:pt x="98172" y="133350"/>
                </a:moveTo>
                <a:cubicBezTo>
                  <a:pt x="98383" y="129908"/>
                  <a:pt x="96667" y="126634"/>
                  <a:pt x="93716" y="124849"/>
                </a:cubicBezTo>
                <a:cubicBezTo>
                  <a:pt x="90766" y="123065"/>
                  <a:pt x="87069" y="123065"/>
                  <a:pt x="84119" y="124849"/>
                </a:cubicBezTo>
                <a:cubicBezTo>
                  <a:pt x="81168" y="126634"/>
                  <a:pt x="79452" y="129908"/>
                  <a:pt x="79663" y="133350"/>
                </a:cubicBezTo>
                <a:cubicBezTo>
                  <a:pt x="79452" y="136792"/>
                  <a:pt x="81168" y="140066"/>
                  <a:pt x="84119" y="141851"/>
                </a:cubicBezTo>
                <a:cubicBezTo>
                  <a:pt x="87069" y="143635"/>
                  <a:pt x="90766" y="143635"/>
                  <a:pt x="93716" y="141851"/>
                </a:cubicBezTo>
                <a:cubicBezTo>
                  <a:pt x="96667" y="140066"/>
                  <a:pt x="98383" y="136792"/>
                  <a:pt x="98172" y="133350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660400" y="2159000"/>
            <a:ext cx="977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桶数不匹配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315075" y="21971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0"/>
                </a:moveTo>
                <a:cubicBezTo>
                  <a:pt x="94005" y="0"/>
                  <a:pt x="98693" y="2813"/>
                  <a:pt x="101124" y="7293"/>
                </a:cubicBezTo>
                <a:lnTo>
                  <a:pt x="176133" y="146199"/>
                </a:lnTo>
                <a:cubicBezTo>
                  <a:pt x="178460" y="150505"/>
                  <a:pt x="178356" y="155714"/>
                  <a:pt x="175855" y="159916"/>
                </a:cubicBezTo>
                <a:cubicBezTo>
                  <a:pt x="173355" y="164118"/>
                  <a:pt x="168806" y="166688"/>
                  <a:pt x="163909" y="166688"/>
                </a:cubicBezTo>
                <a:lnTo>
                  <a:pt x="13891" y="166688"/>
                </a:lnTo>
                <a:cubicBezTo>
                  <a:pt x="8994" y="166688"/>
                  <a:pt x="4480" y="164118"/>
                  <a:pt x="1945" y="159916"/>
                </a:cubicBezTo>
                <a:cubicBezTo>
                  <a:pt x="-590" y="155714"/>
                  <a:pt x="-660" y="150505"/>
                  <a:pt x="1667" y="146199"/>
                </a:cubicBezTo>
                <a:lnTo>
                  <a:pt x="76676" y="7293"/>
                </a:lnTo>
                <a:cubicBezTo>
                  <a:pt x="79107" y="2813"/>
                  <a:pt x="83795" y="0"/>
                  <a:pt x="88900" y="0"/>
                </a:cubicBezTo>
                <a:close/>
                <a:moveTo>
                  <a:pt x="88900" y="58341"/>
                </a:moveTo>
                <a:cubicBezTo>
                  <a:pt x="84281" y="58341"/>
                  <a:pt x="80566" y="62056"/>
                  <a:pt x="80566" y="66675"/>
                </a:cubicBezTo>
                <a:lnTo>
                  <a:pt x="80566" y="105569"/>
                </a:lnTo>
                <a:cubicBezTo>
                  <a:pt x="80566" y="110187"/>
                  <a:pt x="84281" y="113903"/>
                  <a:pt x="88900" y="113903"/>
                </a:cubicBezTo>
                <a:cubicBezTo>
                  <a:pt x="93519" y="113903"/>
                  <a:pt x="97234" y="110187"/>
                  <a:pt x="97234" y="105569"/>
                </a:cubicBezTo>
                <a:lnTo>
                  <a:pt x="97234" y="66675"/>
                </a:lnTo>
                <a:cubicBezTo>
                  <a:pt x="97234" y="62056"/>
                  <a:pt x="93519" y="58341"/>
                  <a:pt x="88900" y="58341"/>
                </a:cubicBezTo>
                <a:close/>
                <a:moveTo>
                  <a:pt x="98172" y="133350"/>
                </a:moveTo>
                <a:cubicBezTo>
                  <a:pt x="98383" y="129908"/>
                  <a:pt x="96667" y="126634"/>
                  <a:pt x="93716" y="124849"/>
                </a:cubicBezTo>
                <a:cubicBezTo>
                  <a:pt x="90766" y="123065"/>
                  <a:pt x="87069" y="123065"/>
                  <a:pt x="84119" y="124849"/>
                </a:cubicBezTo>
                <a:cubicBezTo>
                  <a:pt x="81168" y="126634"/>
                  <a:pt x="79452" y="129908"/>
                  <a:pt x="79663" y="133350"/>
                </a:cubicBezTo>
                <a:cubicBezTo>
                  <a:pt x="79452" y="136792"/>
                  <a:pt x="81168" y="140066"/>
                  <a:pt x="84119" y="141851"/>
                </a:cubicBezTo>
                <a:cubicBezTo>
                  <a:pt x="87069" y="143635"/>
                  <a:pt x="90766" y="143635"/>
                  <a:pt x="93716" y="141851"/>
                </a:cubicBezTo>
                <a:cubicBezTo>
                  <a:pt x="96667" y="140066"/>
                  <a:pt x="98383" y="136792"/>
                  <a:pt x="98172" y="133350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6654800" y="2159000"/>
            <a:ext cx="161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Kerberos 认证过期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20675" y="26035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0"/>
                </a:moveTo>
                <a:cubicBezTo>
                  <a:pt x="94005" y="0"/>
                  <a:pt x="98693" y="2813"/>
                  <a:pt x="101124" y="7293"/>
                </a:cubicBezTo>
                <a:lnTo>
                  <a:pt x="176133" y="146199"/>
                </a:lnTo>
                <a:cubicBezTo>
                  <a:pt x="178460" y="150505"/>
                  <a:pt x="178356" y="155714"/>
                  <a:pt x="175855" y="159916"/>
                </a:cubicBezTo>
                <a:cubicBezTo>
                  <a:pt x="173355" y="164118"/>
                  <a:pt x="168806" y="166688"/>
                  <a:pt x="163909" y="166688"/>
                </a:cubicBezTo>
                <a:lnTo>
                  <a:pt x="13891" y="166688"/>
                </a:lnTo>
                <a:cubicBezTo>
                  <a:pt x="8994" y="166688"/>
                  <a:pt x="4480" y="164118"/>
                  <a:pt x="1945" y="159916"/>
                </a:cubicBezTo>
                <a:cubicBezTo>
                  <a:pt x="-590" y="155714"/>
                  <a:pt x="-660" y="150505"/>
                  <a:pt x="1667" y="146199"/>
                </a:cubicBezTo>
                <a:lnTo>
                  <a:pt x="76676" y="7293"/>
                </a:lnTo>
                <a:cubicBezTo>
                  <a:pt x="79107" y="2813"/>
                  <a:pt x="83795" y="0"/>
                  <a:pt x="88900" y="0"/>
                </a:cubicBezTo>
                <a:close/>
                <a:moveTo>
                  <a:pt x="88900" y="58341"/>
                </a:moveTo>
                <a:cubicBezTo>
                  <a:pt x="84281" y="58341"/>
                  <a:pt x="80566" y="62056"/>
                  <a:pt x="80566" y="66675"/>
                </a:cubicBezTo>
                <a:lnTo>
                  <a:pt x="80566" y="105569"/>
                </a:lnTo>
                <a:cubicBezTo>
                  <a:pt x="80566" y="110187"/>
                  <a:pt x="84281" y="113903"/>
                  <a:pt x="88900" y="113903"/>
                </a:cubicBezTo>
                <a:cubicBezTo>
                  <a:pt x="93519" y="113903"/>
                  <a:pt x="97234" y="110187"/>
                  <a:pt x="97234" y="105569"/>
                </a:cubicBezTo>
                <a:lnTo>
                  <a:pt x="97234" y="66675"/>
                </a:lnTo>
                <a:cubicBezTo>
                  <a:pt x="97234" y="62056"/>
                  <a:pt x="93519" y="58341"/>
                  <a:pt x="88900" y="58341"/>
                </a:cubicBezTo>
                <a:close/>
                <a:moveTo>
                  <a:pt x="98172" y="133350"/>
                </a:moveTo>
                <a:cubicBezTo>
                  <a:pt x="98383" y="129908"/>
                  <a:pt x="96667" y="126634"/>
                  <a:pt x="93716" y="124849"/>
                </a:cubicBezTo>
                <a:cubicBezTo>
                  <a:pt x="90766" y="123065"/>
                  <a:pt x="87069" y="123065"/>
                  <a:pt x="84119" y="124849"/>
                </a:cubicBezTo>
                <a:cubicBezTo>
                  <a:pt x="81168" y="126634"/>
                  <a:pt x="79452" y="129908"/>
                  <a:pt x="79663" y="133350"/>
                </a:cubicBezTo>
                <a:cubicBezTo>
                  <a:pt x="79452" y="136792"/>
                  <a:pt x="81168" y="140066"/>
                  <a:pt x="84119" y="141851"/>
                </a:cubicBezTo>
                <a:cubicBezTo>
                  <a:pt x="87069" y="143635"/>
                  <a:pt x="90766" y="143635"/>
                  <a:pt x="93716" y="141851"/>
                </a:cubicBezTo>
                <a:cubicBezTo>
                  <a:pt x="96667" y="140066"/>
                  <a:pt x="98383" y="136792"/>
                  <a:pt x="98172" y="133350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0"/>
          <p:cNvSpPr/>
          <p:nvPr/>
        </p:nvSpPr>
        <p:spPr>
          <a:xfrm>
            <a:off x="660400" y="2565400"/>
            <a:ext cx="1155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HDFS 块丢失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315075" y="26035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0"/>
                </a:moveTo>
                <a:cubicBezTo>
                  <a:pt x="94005" y="0"/>
                  <a:pt x="98693" y="2813"/>
                  <a:pt x="101124" y="7293"/>
                </a:cubicBezTo>
                <a:lnTo>
                  <a:pt x="176133" y="146199"/>
                </a:lnTo>
                <a:cubicBezTo>
                  <a:pt x="178460" y="150505"/>
                  <a:pt x="178356" y="155714"/>
                  <a:pt x="175855" y="159916"/>
                </a:cubicBezTo>
                <a:cubicBezTo>
                  <a:pt x="173355" y="164118"/>
                  <a:pt x="168806" y="166688"/>
                  <a:pt x="163909" y="166688"/>
                </a:cubicBezTo>
                <a:lnTo>
                  <a:pt x="13891" y="166688"/>
                </a:lnTo>
                <a:cubicBezTo>
                  <a:pt x="8994" y="166688"/>
                  <a:pt x="4480" y="164118"/>
                  <a:pt x="1945" y="159916"/>
                </a:cubicBezTo>
                <a:cubicBezTo>
                  <a:pt x="-590" y="155714"/>
                  <a:pt x="-660" y="150505"/>
                  <a:pt x="1667" y="146199"/>
                </a:cubicBezTo>
                <a:lnTo>
                  <a:pt x="76676" y="7293"/>
                </a:lnTo>
                <a:cubicBezTo>
                  <a:pt x="79107" y="2813"/>
                  <a:pt x="83795" y="0"/>
                  <a:pt x="88900" y="0"/>
                </a:cubicBezTo>
                <a:close/>
                <a:moveTo>
                  <a:pt x="88900" y="58341"/>
                </a:moveTo>
                <a:cubicBezTo>
                  <a:pt x="84281" y="58341"/>
                  <a:pt x="80566" y="62056"/>
                  <a:pt x="80566" y="66675"/>
                </a:cubicBezTo>
                <a:lnTo>
                  <a:pt x="80566" y="105569"/>
                </a:lnTo>
                <a:cubicBezTo>
                  <a:pt x="80566" y="110187"/>
                  <a:pt x="84281" y="113903"/>
                  <a:pt x="88900" y="113903"/>
                </a:cubicBezTo>
                <a:cubicBezTo>
                  <a:pt x="93519" y="113903"/>
                  <a:pt x="97234" y="110187"/>
                  <a:pt x="97234" y="105569"/>
                </a:cubicBezTo>
                <a:lnTo>
                  <a:pt x="97234" y="66675"/>
                </a:lnTo>
                <a:cubicBezTo>
                  <a:pt x="97234" y="62056"/>
                  <a:pt x="93519" y="58341"/>
                  <a:pt x="88900" y="58341"/>
                </a:cubicBezTo>
                <a:close/>
                <a:moveTo>
                  <a:pt x="98172" y="133350"/>
                </a:moveTo>
                <a:cubicBezTo>
                  <a:pt x="98383" y="129908"/>
                  <a:pt x="96667" y="126634"/>
                  <a:pt x="93716" y="124849"/>
                </a:cubicBezTo>
                <a:cubicBezTo>
                  <a:pt x="90766" y="123065"/>
                  <a:pt x="87069" y="123065"/>
                  <a:pt x="84119" y="124849"/>
                </a:cubicBezTo>
                <a:cubicBezTo>
                  <a:pt x="81168" y="126634"/>
                  <a:pt x="79452" y="129908"/>
                  <a:pt x="79663" y="133350"/>
                </a:cubicBezTo>
                <a:cubicBezTo>
                  <a:pt x="79452" y="136792"/>
                  <a:pt x="81168" y="140066"/>
                  <a:pt x="84119" y="141851"/>
                </a:cubicBezTo>
                <a:cubicBezTo>
                  <a:pt x="87069" y="143635"/>
                  <a:pt x="90766" y="143635"/>
                  <a:pt x="93716" y="141851"/>
                </a:cubicBezTo>
                <a:cubicBezTo>
                  <a:pt x="96667" y="140066"/>
                  <a:pt x="98383" y="136792"/>
                  <a:pt x="98172" y="133350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2"/>
          <p:cNvSpPr/>
          <p:nvPr/>
        </p:nvSpPr>
        <p:spPr>
          <a:xfrm>
            <a:off x="6654800" y="2565400"/>
            <a:ext cx="170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YARN 队列资源不足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209550" y="3048000"/>
            <a:ext cx="1177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培养通过日志关键字定位和解决问题的能力。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test-kimi-img.moonshot.cn/pub/slides/slides_tmpl/image/25-08-11-17:38:55-d2crkbv0ctitcgma2i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4000" y="1854200"/>
            <a:ext cx="572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8F5C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拓展阅读与社区资源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54000" y="2514600"/>
            <a:ext cx="563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将课堂知识延伸至开源社区，培养持续学习的习惯。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54000" y="3022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D3B9D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360363" y="31115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71450" y="228600"/>
                </a:moveTo>
                <a:lnTo>
                  <a:pt x="42863" y="228600"/>
                </a:lnTo>
                <a:cubicBezTo>
                  <a:pt x="19199" y="228600"/>
                  <a:pt x="0" y="209401"/>
                  <a:pt x="0" y="185738"/>
                </a:cubicBezTo>
                <a:lnTo>
                  <a:pt x="0" y="42863"/>
                </a:lnTo>
                <a:cubicBezTo>
                  <a:pt x="0" y="19199"/>
                  <a:pt x="19199" y="0"/>
                  <a:pt x="42863" y="0"/>
                </a:cubicBezTo>
                <a:lnTo>
                  <a:pt x="178594" y="0"/>
                </a:lnTo>
                <a:cubicBezTo>
                  <a:pt x="190426" y="0"/>
                  <a:pt x="200025" y="9599"/>
                  <a:pt x="200025" y="21431"/>
                </a:cubicBezTo>
                <a:lnTo>
                  <a:pt x="200025" y="150019"/>
                </a:lnTo>
                <a:cubicBezTo>
                  <a:pt x="200025" y="159350"/>
                  <a:pt x="194042" y="167298"/>
                  <a:pt x="185738" y="170244"/>
                </a:cubicBezTo>
                <a:lnTo>
                  <a:pt x="185738" y="200025"/>
                </a:lnTo>
                <a:cubicBezTo>
                  <a:pt x="193640" y="200025"/>
                  <a:pt x="200025" y="206410"/>
                  <a:pt x="200025" y="214313"/>
                </a:cubicBezTo>
                <a:cubicBezTo>
                  <a:pt x="200025" y="222215"/>
                  <a:pt x="193640" y="228600"/>
                  <a:pt x="185738" y="228600"/>
                </a:cubicBezTo>
                <a:lnTo>
                  <a:pt x="171450" y="228600"/>
                </a:lnTo>
                <a:close/>
                <a:moveTo>
                  <a:pt x="42863" y="171450"/>
                </a:moveTo>
                <a:cubicBezTo>
                  <a:pt x="34960" y="171450"/>
                  <a:pt x="28575" y="177835"/>
                  <a:pt x="28575" y="185738"/>
                </a:cubicBezTo>
                <a:cubicBezTo>
                  <a:pt x="28575" y="193640"/>
                  <a:pt x="34960" y="200025"/>
                  <a:pt x="42863" y="200025"/>
                </a:cubicBezTo>
                <a:lnTo>
                  <a:pt x="157163" y="200025"/>
                </a:lnTo>
                <a:lnTo>
                  <a:pt x="157163" y="171450"/>
                </a:lnTo>
                <a:lnTo>
                  <a:pt x="42863" y="171450"/>
                </a:lnTo>
                <a:close/>
                <a:moveTo>
                  <a:pt x="57150" y="67866"/>
                </a:moveTo>
                <a:cubicBezTo>
                  <a:pt x="57150" y="73804"/>
                  <a:pt x="61927" y="78581"/>
                  <a:pt x="67866" y="78581"/>
                </a:cubicBezTo>
                <a:lnTo>
                  <a:pt x="146447" y="78581"/>
                </a:lnTo>
                <a:cubicBezTo>
                  <a:pt x="152385" y="78581"/>
                  <a:pt x="157163" y="73804"/>
                  <a:pt x="157163" y="67866"/>
                </a:cubicBezTo>
                <a:cubicBezTo>
                  <a:pt x="157163" y="61927"/>
                  <a:pt x="152385" y="57150"/>
                  <a:pt x="146447" y="57150"/>
                </a:cubicBezTo>
                <a:lnTo>
                  <a:pt x="67866" y="57150"/>
                </a:lnTo>
                <a:cubicBezTo>
                  <a:pt x="61927" y="57150"/>
                  <a:pt x="57150" y="61927"/>
                  <a:pt x="57150" y="67866"/>
                </a:cubicBezTo>
                <a:close/>
                <a:moveTo>
                  <a:pt x="67866" y="100013"/>
                </a:moveTo>
                <a:cubicBezTo>
                  <a:pt x="61927" y="100013"/>
                  <a:pt x="57150" y="104790"/>
                  <a:pt x="57150" y="110728"/>
                </a:cubicBezTo>
                <a:cubicBezTo>
                  <a:pt x="57150" y="116666"/>
                  <a:pt x="61927" y="121444"/>
                  <a:pt x="67866" y="121444"/>
                </a:cubicBezTo>
                <a:lnTo>
                  <a:pt x="146447" y="121444"/>
                </a:lnTo>
                <a:cubicBezTo>
                  <a:pt x="152385" y="121444"/>
                  <a:pt x="157163" y="116666"/>
                  <a:pt x="157163" y="110728"/>
                </a:cubicBezTo>
                <a:cubicBezTo>
                  <a:pt x="157163" y="104790"/>
                  <a:pt x="152385" y="100013"/>
                  <a:pt x="146447" y="100013"/>
                </a:cubicBezTo>
                <a:lnTo>
                  <a:pt x="67866" y="100013"/>
                </a:ln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812800" y="3022600"/>
            <a:ext cx="336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官方文档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12800" y="3327400"/>
            <a:ext cx="335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Apache Hive Wiki, ORC/Parquet 规范。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54000" y="3733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D3B9D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346075" y="3822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7644" y="177433"/>
                </a:moveTo>
                <a:cubicBezTo>
                  <a:pt x="77644" y="178326"/>
                  <a:pt x="76617" y="179040"/>
                  <a:pt x="75322" y="179040"/>
                </a:cubicBezTo>
                <a:cubicBezTo>
                  <a:pt x="73849" y="179174"/>
                  <a:pt x="72822" y="178460"/>
                  <a:pt x="72822" y="177433"/>
                </a:cubicBezTo>
                <a:cubicBezTo>
                  <a:pt x="72822" y="176540"/>
                  <a:pt x="73849" y="175826"/>
                  <a:pt x="75143" y="175826"/>
                </a:cubicBezTo>
                <a:cubicBezTo>
                  <a:pt x="76483" y="175692"/>
                  <a:pt x="77644" y="176406"/>
                  <a:pt x="77644" y="177433"/>
                </a:cubicBezTo>
                <a:close/>
                <a:moveTo>
                  <a:pt x="63758" y="175424"/>
                </a:moveTo>
                <a:cubicBezTo>
                  <a:pt x="63445" y="176317"/>
                  <a:pt x="64338" y="177344"/>
                  <a:pt x="65678" y="177611"/>
                </a:cubicBezTo>
                <a:cubicBezTo>
                  <a:pt x="66839" y="178058"/>
                  <a:pt x="68178" y="177611"/>
                  <a:pt x="68446" y="176719"/>
                </a:cubicBezTo>
                <a:cubicBezTo>
                  <a:pt x="68714" y="175826"/>
                  <a:pt x="67866" y="174799"/>
                  <a:pt x="66526" y="174397"/>
                </a:cubicBezTo>
                <a:cubicBezTo>
                  <a:pt x="65365" y="174084"/>
                  <a:pt x="64071" y="174531"/>
                  <a:pt x="63758" y="175424"/>
                </a:cubicBezTo>
                <a:close/>
                <a:moveTo>
                  <a:pt x="83493" y="174665"/>
                </a:moveTo>
                <a:cubicBezTo>
                  <a:pt x="82198" y="174977"/>
                  <a:pt x="81305" y="175826"/>
                  <a:pt x="81439" y="176852"/>
                </a:cubicBezTo>
                <a:cubicBezTo>
                  <a:pt x="81573" y="177745"/>
                  <a:pt x="82734" y="178326"/>
                  <a:pt x="84073" y="178013"/>
                </a:cubicBezTo>
                <a:cubicBezTo>
                  <a:pt x="85368" y="177701"/>
                  <a:pt x="86261" y="176852"/>
                  <a:pt x="86127" y="175959"/>
                </a:cubicBezTo>
                <a:cubicBezTo>
                  <a:pt x="85993" y="175111"/>
                  <a:pt x="84787" y="174531"/>
                  <a:pt x="83493" y="174665"/>
                </a:cubicBezTo>
                <a:close/>
                <a:moveTo>
                  <a:pt x="112871" y="3572"/>
                </a:moveTo>
                <a:cubicBezTo>
                  <a:pt x="50944" y="3572"/>
                  <a:pt x="3572" y="50587"/>
                  <a:pt x="3572" y="112514"/>
                </a:cubicBezTo>
                <a:cubicBezTo>
                  <a:pt x="3572" y="162029"/>
                  <a:pt x="34736" y="204401"/>
                  <a:pt x="79251" y="219313"/>
                </a:cubicBezTo>
                <a:cubicBezTo>
                  <a:pt x="84966" y="220340"/>
                  <a:pt x="86975" y="216813"/>
                  <a:pt x="86975" y="213911"/>
                </a:cubicBezTo>
                <a:cubicBezTo>
                  <a:pt x="86975" y="211142"/>
                  <a:pt x="86841" y="195873"/>
                  <a:pt x="86841" y="186497"/>
                </a:cubicBezTo>
                <a:cubicBezTo>
                  <a:pt x="86841" y="186497"/>
                  <a:pt x="55587" y="193194"/>
                  <a:pt x="49024" y="173191"/>
                </a:cubicBezTo>
                <a:cubicBezTo>
                  <a:pt x="49024" y="173191"/>
                  <a:pt x="43934" y="160199"/>
                  <a:pt x="36612" y="156850"/>
                </a:cubicBezTo>
                <a:cubicBezTo>
                  <a:pt x="36612" y="156850"/>
                  <a:pt x="26387" y="149840"/>
                  <a:pt x="37326" y="149974"/>
                </a:cubicBezTo>
                <a:cubicBezTo>
                  <a:pt x="37326" y="149974"/>
                  <a:pt x="48444" y="150867"/>
                  <a:pt x="54560" y="161493"/>
                </a:cubicBezTo>
                <a:cubicBezTo>
                  <a:pt x="64338" y="178728"/>
                  <a:pt x="80724" y="173772"/>
                  <a:pt x="87109" y="170825"/>
                </a:cubicBezTo>
                <a:cubicBezTo>
                  <a:pt x="88136" y="163681"/>
                  <a:pt x="91038" y="158725"/>
                  <a:pt x="94253" y="155778"/>
                </a:cubicBezTo>
                <a:cubicBezTo>
                  <a:pt x="69294" y="153010"/>
                  <a:pt x="44113" y="149394"/>
                  <a:pt x="44113" y="106442"/>
                </a:cubicBezTo>
                <a:cubicBezTo>
                  <a:pt x="44113" y="94164"/>
                  <a:pt x="47506" y="88002"/>
                  <a:pt x="54650" y="80144"/>
                </a:cubicBezTo>
                <a:cubicBezTo>
                  <a:pt x="53489" y="77242"/>
                  <a:pt x="49694" y="65276"/>
                  <a:pt x="55811" y="49828"/>
                </a:cubicBezTo>
                <a:cubicBezTo>
                  <a:pt x="65142" y="46926"/>
                  <a:pt x="86618" y="61883"/>
                  <a:pt x="86618" y="61883"/>
                </a:cubicBezTo>
                <a:cubicBezTo>
                  <a:pt x="95548" y="59382"/>
                  <a:pt x="105147" y="58088"/>
                  <a:pt x="114657" y="58088"/>
                </a:cubicBezTo>
                <a:cubicBezTo>
                  <a:pt x="124167" y="58088"/>
                  <a:pt x="133767" y="59382"/>
                  <a:pt x="142696" y="61883"/>
                </a:cubicBezTo>
                <a:cubicBezTo>
                  <a:pt x="142696" y="61883"/>
                  <a:pt x="164172" y="46881"/>
                  <a:pt x="173504" y="49828"/>
                </a:cubicBezTo>
                <a:cubicBezTo>
                  <a:pt x="179621" y="65321"/>
                  <a:pt x="175826" y="77242"/>
                  <a:pt x="174665" y="80144"/>
                </a:cubicBezTo>
                <a:cubicBezTo>
                  <a:pt x="181808" y="88047"/>
                  <a:pt x="186184" y="94208"/>
                  <a:pt x="186184" y="106442"/>
                </a:cubicBezTo>
                <a:cubicBezTo>
                  <a:pt x="186184" y="149528"/>
                  <a:pt x="159886" y="152966"/>
                  <a:pt x="134928" y="155778"/>
                </a:cubicBezTo>
                <a:cubicBezTo>
                  <a:pt x="139035" y="159306"/>
                  <a:pt x="142518" y="166003"/>
                  <a:pt x="142518" y="176495"/>
                </a:cubicBezTo>
                <a:cubicBezTo>
                  <a:pt x="142518" y="191542"/>
                  <a:pt x="142384" y="210160"/>
                  <a:pt x="142384" y="213821"/>
                </a:cubicBezTo>
                <a:cubicBezTo>
                  <a:pt x="142384" y="216724"/>
                  <a:pt x="144438" y="220251"/>
                  <a:pt x="150108" y="219224"/>
                </a:cubicBezTo>
                <a:cubicBezTo>
                  <a:pt x="194756" y="204401"/>
                  <a:pt x="225028" y="162029"/>
                  <a:pt x="225028" y="112514"/>
                </a:cubicBezTo>
                <a:cubicBezTo>
                  <a:pt x="225028" y="50587"/>
                  <a:pt x="174799" y="3572"/>
                  <a:pt x="112871" y="3572"/>
                </a:cubicBezTo>
                <a:close/>
                <a:moveTo>
                  <a:pt x="46970" y="157564"/>
                </a:moveTo>
                <a:cubicBezTo>
                  <a:pt x="46390" y="158011"/>
                  <a:pt x="46524" y="159038"/>
                  <a:pt x="47283" y="159886"/>
                </a:cubicBezTo>
                <a:cubicBezTo>
                  <a:pt x="47997" y="160600"/>
                  <a:pt x="49024" y="160913"/>
                  <a:pt x="49604" y="160333"/>
                </a:cubicBezTo>
                <a:cubicBezTo>
                  <a:pt x="50185" y="159886"/>
                  <a:pt x="50051" y="158859"/>
                  <a:pt x="49292" y="158011"/>
                </a:cubicBezTo>
                <a:cubicBezTo>
                  <a:pt x="48578" y="157296"/>
                  <a:pt x="47551" y="156984"/>
                  <a:pt x="46970" y="157564"/>
                </a:cubicBezTo>
                <a:close/>
                <a:moveTo>
                  <a:pt x="42148" y="153948"/>
                </a:moveTo>
                <a:cubicBezTo>
                  <a:pt x="41836" y="154528"/>
                  <a:pt x="42282" y="155243"/>
                  <a:pt x="43175" y="155689"/>
                </a:cubicBezTo>
                <a:cubicBezTo>
                  <a:pt x="43889" y="156136"/>
                  <a:pt x="44782" y="156002"/>
                  <a:pt x="45095" y="155377"/>
                </a:cubicBezTo>
                <a:cubicBezTo>
                  <a:pt x="45407" y="154796"/>
                  <a:pt x="44961" y="154082"/>
                  <a:pt x="44068" y="153635"/>
                </a:cubicBezTo>
                <a:cubicBezTo>
                  <a:pt x="43175" y="153367"/>
                  <a:pt x="42461" y="153501"/>
                  <a:pt x="42148" y="153948"/>
                </a:cubicBezTo>
                <a:close/>
                <a:moveTo>
                  <a:pt x="56614" y="169843"/>
                </a:moveTo>
                <a:cubicBezTo>
                  <a:pt x="55900" y="170423"/>
                  <a:pt x="56168" y="171763"/>
                  <a:pt x="57195" y="172611"/>
                </a:cubicBezTo>
                <a:cubicBezTo>
                  <a:pt x="58222" y="173638"/>
                  <a:pt x="59516" y="173772"/>
                  <a:pt x="60097" y="173057"/>
                </a:cubicBezTo>
                <a:cubicBezTo>
                  <a:pt x="60677" y="172477"/>
                  <a:pt x="60409" y="171137"/>
                  <a:pt x="59516" y="170289"/>
                </a:cubicBezTo>
                <a:cubicBezTo>
                  <a:pt x="58534" y="169262"/>
                  <a:pt x="57195" y="169128"/>
                  <a:pt x="56614" y="169843"/>
                </a:cubicBezTo>
                <a:close/>
                <a:moveTo>
                  <a:pt x="51524" y="163279"/>
                </a:moveTo>
                <a:cubicBezTo>
                  <a:pt x="50810" y="163726"/>
                  <a:pt x="50810" y="164887"/>
                  <a:pt x="51524" y="165914"/>
                </a:cubicBezTo>
                <a:cubicBezTo>
                  <a:pt x="52239" y="166941"/>
                  <a:pt x="53444" y="167387"/>
                  <a:pt x="54025" y="166941"/>
                </a:cubicBezTo>
                <a:cubicBezTo>
                  <a:pt x="54739" y="166360"/>
                  <a:pt x="54739" y="165199"/>
                  <a:pt x="54025" y="164172"/>
                </a:cubicBezTo>
                <a:cubicBezTo>
                  <a:pt x="53400" y="163145"/>
                  <a:pt x="52239" y="162699"/>
                  <a:pt x="51524" y="163279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812800" y="3733800"/>
            <a:ext cx="411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源码与论文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12800" y="4038600"/>
            <a:ext cx="4102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Hive 源码仓库，Cost-Based Optimization 论文。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54000" y="444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D3B9D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317500" y="45339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812800" y="4445000"/>
            <a:ext cx="4229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社区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12800" y="4749800"/>
            <a:ext cx="421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dev@hive.apache.org 邮件列表，JIRA issue 跟踪。</a:t>
            </a:r>
            <a:endParaRPr lang="en-US" sz="1600" dirty="0"/>
          </a:p>
        </p:txBody>
      </p:sp>
      <p:pic>
        <p:nvPicPr>
          <p:cNvPr id="19" name="Image 1" descr="https://kimi-web-img.moonshot.cn/img/theopenscholar.com/371879e69facad5cf3d54e860990ede35d5f2915.png"/>
          <p:cNvPicPr>
            <a:picLocks noChangeAspect="1"/>
          </p:cNvPicPr>
          <p:nvPr/>
        </p:nvPicPr>
        <p:blipFill>
          <a:blip r:embed="rId4"/>
          <a:srcRect l="8633" r="8633"/>
          <a:stretch/>
        </p:blipFill>
        <p:spPr>
          <a:xfrm>
            <a:off x="6096000" y="783134"/>
            <a:ext cx="5842000" cy="5295900"/>
          </a:xfrm>
          <a:prstGeom prst="roundRect">
            <a:avLst>
              <a:gd name="adj" fmla="val 1918"/>
            </a:avLst>
          </a:prstGeom>
        </p:spPr>
      </p:pic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test-kimi-img.moonshot.cn/pub/slides/slides_tmpl/image/25-08-11-17:38:55-d2crkbv0ctitcgma2i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286250" y="1549400"/>
            <a:ext cx="361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8F5C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课程反馈与改进方向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06800" y="2209800"/>
            <a:ext cx="497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您的反馈是课程持续改进的动力，欢迎提出宝贵意见。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693267" y="2921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D3B9D7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2013942" y="3238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57188"/>
                </a:moveTo>
                <a:cubicBezTo>
                  <a:pt x="295721" y="357188"/>
                  <a:pt x="381000" y="277192"/>
                  <a:pt x="381000" y="178594"/>
                </a:cubicBezTo>
                <a:cubicBezTo>
                  <a:pt x="381000" y="79995"/>
                  <a:pt x="295721" y="0"/>
                  <a:pt x="190500" y="0"/>
                </a:cubicBezTo>
                <a:cubicBezTo>
                  <a:pt x="85279" y="0"/>
                  <a:pt x="0" y="79995"/>
                  <a:pt x="0" y="178594"/>
                </a:cubicBezTo>
                <a:cubicBezTo>
                  <a:pt x="0" y="219001"/>
                  <a:pt x="14288" y="256208"/>
                  <a:pt x="38398" y="286122"/>
                </a:cubicBezTo>
                <a:lnTo>
                  <a:pt x="2084" y="354806"/>
                </a:lnTo>
                <a:cubicBezTo>
                  <a:pt x="-1488" y="361504"/>
                  <a:pt x="-372" y="369689"/>
                  <a:pt x="4763" y="375270"/>
                </a:cubicBezTo>
                <a:cubicBezTo>
                  <a:pt x="9897" y="380851"/>
                  <a:pt x="18008" y="382563"/>
                  <a:pt x="24929" y="379586"/>
                </a:cubicBezTo>
                <a:lnTo>
                  <a:pt x="113035" y="341858"/>
                </a:lnTo>
                <a:cubicBezTo>
                  <a:pt x="136699" y="351681"/>
                  <a:pt x="162892" y="357188"/>
                  <a:pt x="190500" y="357188"/>
                </a:cubicBezTo>
                <a:close/>
                <a:moveTo>
                  <a:pt x="95250" y="154781"/>
                </a:moveTo>
                <a:cubicBezTo>
                  <a:pt x="108392" y="154781"/>
                  <a:pt x="119063" y="165451"/>
                  <a:pt x="119063" y="178594"/>
                </a:cubicBezTo>
                <a:cubicBezTo>
                  <a:pt x="119063" y="191736"/>
                  <a:pt x="108392" y="202406"/>
                  <a:pt x="95250" y="202406"/>
                </a:cubicBezTo>
                <a:cubicBezTo>
                  <a:pt x="82108" y="202406"/>
                  <a:pt x="71438" y="191736"/>
                  <a:pt x="71438" y="178594"/>
                </a:cubicBezTo>
                <a:cubicBezTo>
                  <a:pt x="71438" y="165451"/>
                  <a:pt x="82108" y="154781"/>
                  <a:pt x="95250" y="154781"/>
                </a:cubicBezTo>
                <a:close/>
                <a:moveTo>
                  <a:pt x="190500" y="154781"/>
                </a:moveTo>
                <a:cubicBezTo>
                  <a:pt x="203642" y="154781"/>
                  <a:pt x="214313" y="165451"/>
                  <a:pt x="214313" y="178594"/>
                </a:cubicBezTo>
                <a:cubicBezTo>
                  <a:pt x="214313" y="191736"/>
                  <a:pt x="203642" y="202406"/>
                  <a:pt x="190500" y="202406"/>
                </a:cubicBezTo>
                <a:cubicBezTo>
                  <a:pt x="177358" y="202406"/>
                  <a:pt x="166688" y="191736"/>
                  <a:pt x="166688" y="178594"/>
                </a:cubicBezTo>
                <a:cubicBezTo>
                  <a:pt x="166688" y="165451"/>
                  <a:pt x="177358" y="154781"/>
                  <a:pt x="190500" y="154781"/>
                </a:cubicBezTo>
                <a:close/>
                <a:moveTo>
                  <a:pt x="261938" y="178594"/>
                </a:moveTo>
                <a:cubicBezTo>
                  <a:pt x="261938" y="165451"/>
                  <a:pt x="272608" y="154781"/>
                  <a:pt x="285750" y="154781"/>
                </a:cubicBezTo>
                <a:cubicBezTo>
                  <a:pt x="298892" y="154781"/>
                  <a:pt x="309563" y="165451"/>
                  <a:pt x="309563" y="178594"/>
                </a:cubicBezTo>
                <a:cubicBezTo>
                  <a:pt x="309563" y="191736"/>
                  <a:pt x="298892" y="202406"/>
                  <a:pt x="285750" y="202406"/>
                </a:cubicBezTo>
                <a:cubicBezTo>
                  <a:pt x="272608" y="202406"/>
                  <a:pt x="261938" y="191736"/>
                  <a:pt x="261938" y="178594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683617" y="4038600"/>
            <a:ext cx="3035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实验难度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96317" y="4394200"/>
            <a:ext cx="3009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案例规模是否合适？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587901" y="2921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D3B9D7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5908576" y="3238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89297" y="41672"/>
                </a:moveTo>
                <a:cubicBezTo>
                  <a:pt x="89297" y="18678"/>
                  <a:pt x="107975" y="0"/>
                  <a:pt x="130969" y="0"/>
                </a:cubicBezTo>
                <a:lnTo>
                  <a:pt x="148828" y="0"/>
                </a:lnTo>
                <a:cubicBezTo>
                  <a:pt x="161999" y="0"/>
                  <a:pt x="172641" y="10641"/>
                  <a:pt x="172641" y="23812"/>
                </a:cubicBezTo>
                <a:lnTo>
                  <a:pt x="172641" y="357188"/>
                </a:lnTo>
                <a:cubicBezTo>
                  <a:pt x="172641" y="370359"/>
                  <a:pt x="161999" y="381000"/>
                  <a:pt x="148828" y="381000"/>
                </a:cubicBezTo>
                <a:lnTo>
                  <a:pt x="125016" y="381000"/>
                </a:lnTo>
                <a:cubicBezTo>
                  <a:pt x="102840" y="381000"/>
                  <a:pt x="84162" y="365820"/>
                  <a:pt x="78879" y="345281"/>
                </a:cubicBezTo>
                <a:cubicBezTo>
                  <a:pt x="78358" y="345281"/>
                  <a:pt x="77912" y="345281"/>
                  <a:pt x="77391" y="345281"/>
                </a:cubicBezTo>
                <a:cubicBezTo>
                  <a:pt x="44500" y="345281"/>
                  <a:pt x="17859" y="318641"/>
                  <a:pt x="17859" y="285750"/>
                </a:cubicBezTo>
                <a:cubicBezTo>
                  <a:pt x="17859" y="272355"/>
                  <a:pt x="22324" y="260003"/>
                  <a:pt x="29766" y="250031"/>
                </a:cubicBezTo>
                <a:cubicBezTo>
                  <a:pt x="15329" y="239167"/>
                  <a:pt x="5953" y="221903"/>
                  <a:pt x="5953" y="202406"/>
                </a:cubicBezTo>
                <a:cubicBezTo>
                  <a:pt x="5953" y="179412"/>
                  <a:pt x="19050" y="159395"/>
                  <a:pt x="38100" y="149498"/>
                </a:cubicBezTo>
                <a:cubicBezTo>
                  <a:pt x="32817" y="140568"/>
                  <a:pt x="29766" y="130150"/>
                  <a:pt x="29766" y="119063"/>
                </a:cubicBezTo>
                <a:cubicBezTo>
                  <a:pt x="29766" y="86171"/>
                  <a:pt x="56406" y="59531"/>
                  <a:pt x="89297" y="59531"/>
                </a:cubicBezTo>
                <a:lnTo>
                  <a:pt x="89297" y="41672"/>
                </a:lnTo>
                <a:close/>
                <a:moveTo>
                  <a:pt x="291703" y="41672"/>
                </a:moveTo>
                <a:lnTo>
                  <a:pt x="291703" y="59531"/>
                </a:lnTo>
                <a:cubicBezTo>
                  <a:pt x="324594" y="59531"/>
                  <a:pt x="351234" y="86171"/>
                  <a:pt x="351234" y="119063"/>
                </a:cubicBezTo>
                <a:cubicBezTo>
                  <a:pt x="351234" y="130225"/>
                  <a:pt x="348183" y="140643"/>
                  <a:pt x="342900" y="149498"/>
                </a:cubicBezTo>
                <a:cubicBezTo>
                  <a:pt x="362024" y="159395"/>
                  <a:pt x="375047" y="179338"/>
                  <a:pt x="375047" y="202406"/>
                </a:cubicBezTo>
                <a:cubicBezTo>
                  <a:pt x="375047" y="221903"/>
                  <a:pt x="365671" y="239167"/>
                  <a:pt x="351234" y="250031"/>
                </a:cubicBezTo>
                <a:cubicBezTo>
                  <a:pt x="358676" y="260003"/>
                  <a:pt x="363141" y="272355"/>
                  <a:pt x="363141" y="285750"/>
                </a:cubicBezTo>
                <a:cubicBezTo>
                  <a:pt x="363141" y="318641"/>
                  <a:pt x="336500" y="345281"/>
                  <a:pt x="303609" y="345281"/>
                </a:cubicBezTo>
                <a:cubicBezTo>
                  <a:pt x="303088" y="345281"/>
                  <a:pt x="302642" y="345281"/>
                  <a:pt x="302121" y="345281"/>
                </a:cubicBezTo>
                <a:cubicBezTo>
                  <a:pt x="296838" y="365820"/>
                  <a:pt x="278160" y="381000"/>
                  <a:pt x="255984" y="381000"/>
                </a:cubicBezTo>
                <a:lnTo>
                  <a:pt x="232172" y="381000"/>
                </a:lnTo>
                <a:cubicBezTo>
                  <a:pt x="219001" y="381000"/>
                  <a:pt x="208359" y="370359"/>
                  <a:pt x="208359" y="357188"/>
                </a:cubicBezTo>
                <a:lnTo>
                  <a:pt x="208359" y="23812"/>
                </a:lnTo>
                <a:cubicBezTo>
                  <a:pt x="208359" y="10641"/>
                  <a:pt x="219001" y="0"/>
                  <a:pt x="232172" y="0"/>
                </a:cubicBezTo>
                <a:lnTo>
                  <a:pt x="250031" y="0"/>
                </a:lnTo>
                <a:cubicBezTo>
                  <a:pt x="273025" y="0"/>
                  <a:pt x="291703" y="18678"/>
                  <a:pt x="291703" y="41672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4578251" y="4038600"/>
            <a:ext cx="3035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理论深度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590951" y="4394200"/>
            <a:ext cx="3009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概念讲解是否清晰？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9482534" y="2921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D3B9D7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9850834" y="32385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217959" y="285750"/>
                </a:moveTo>
                <a:cubicBezTo>
                  <a:pt x="223391" y="269156"/>
                  <a:pt x="234255" y="254124"/>
                  <a:pt x="246534" y="241176"/>
                </a:cubicBezTo>
                <a:cubicBezTo>
                  <a:pt x="270867" y="215578"/>
                  <a:pt x="285750" y="180975"/>
                  <a:pt x="285750" y="142875"/>
                </a:cubicBezTo>
                <a:cubicBezTo>
                  <a:pt x="285750" y="63996"/>
                  <a:pt x="221754" y="0"/>
                  <a:pt x="142875" y="0"/>
                </a:cubicBezTo>
                <a:cubicBezTo>
                  <a:pt x="63996" y="0"/>
                  <a:pt x="0" y="63996"/>
                  <a:pt x="0" y="142875"/>
                </a:cubicBezTo>
                <a:cubicBezTo>
                  <a:pt x="0" y="180975"/>
                  <a:pt x="14883" y="215578"/>
                  <a:pt x="39216" y="241176"/>
                </a:cubicBezTo>
                <a:cubicBezTo>
                  <a:pt x="51495" y="254124"/>
                  <a:pt x="62433" y="269156"/>
                  <a:pt x="67791" y="285750"/>
                </a:cubicBezTo>
                <a:lnTo>
                  <a:pt x="217884" y="285750"/>
                </a:lnTo>
                <a:close/>
                <a:moveTo>
                  <a:pt x="214313" y="321469"/>
                </a:moveTo>
                <a:lnTo>
                  <a:pt x="71438" y="321469"/>
                </a:lnTo>
                <a:lnTo>
                  <a:pt x="71438" y="333375"/>
                </a:lnTo>
                <a:cubicBezTo>
                  <a:pt x="71438" y="366266"/>
                  <a:pt x="98078" y="392906"/>
                  <a:pt x="130969" y="392906"/>
                </a:cubicBezTo>
                <a:lnTo>
                  <a:pt x="154781" y="392906"/>
                </a:lnTo>
                <a:cubicBezTo>
                  <a:pt x="187672" y="392906"/>
                  <a:pt x="214313" y="366266"/>
                  <a:pt x="214313" y="333375"/>
                </a:cubicBezTo>
                <a:lnTo>
                  <a:pt x="214313" y="321469"/>
                </a:lnTo>
                <a:close/>
                <a:moveTo>
                  <a:pt x="136922" y="83344"/>
                </a:moveTo>
                <a:cubicBezTo>
                  <a:pt x="107305" y="83344"/>
                  <a:pt x="83344" y="107305"/>
                  <a:pt x="83344" y="136922"/>
                </a:cubicBezTo>
                <a:cubicBezTo>
                  <a:pt x="83344" y="146819"/>
                  <a:pt x="75381" y="154781"/>
                  <a:pt x="65484" y="154781"/>
                </a:cubicBezTo>
                <a:cubicBezTo>
                  <a:pt x="55587" y="154781"/>
                  <a:pt x="47625" y="146819"/>
                  <a:pt x="47625" y="136922"/>
                </a:cubicBezTo>
                <a:cubicBezTo>
                  <a:pt x="47625" y="87585"/>
                  <a:pt x="87585" y="47625"/>
                  <a:pt x="136922" y="47625"/>
                </a:cubicBezTo>
                <a:cubicBezTo>
                  <a:pt x="146819" y="47625"/>
                  <a:pt x="154781" y="55587"/>
                  <a:pt x="154781" y="65484"/>
                </a:cubicBezTo>
                <a:cubicBezTo>
                  <a:pt x="154781" y="75381"/>
                  <a:pt x="146819" y="83344"/>
                  <a:pt x="136922" y="83344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8472884" y="4038600"/>
            <a:ext cx="3035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进阶专题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485584" y="4394200"/>
            <a:ext cx="3009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希望增加哪些内容？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921198" y="5054600"/>
            <a:ext cx="635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未来可考虑增设</a:t>
            </a:r>
            <a:r>
              <a:rPr lang="en-US" sz="1400" dirty="0">
                <a:solidFill>
                  <a:srgbClr val="3C3542"/>
                </a:solidFill>
                <a:highlight>
                  <a:srgbClr val="D3B9D7">
                    <a:alpha val="667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实时数仓、数据湖 Iceberg 集成、Hive on Kubernetes </a:t>
            </a:r>
            <a:r>
              <a:rPr lang="en-US" sz="14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等专题。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test-kimi-img.moonshot.cn/pub/slides/slides_tmpl/image/25-08-11-17:38:55-d2crkbv0ctitcgma2i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0" y="1778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90500" y="476250"/>
                </a:moveTo>
                <a:lnTo>
                  <a:pt x="36463" y="476250"/>
                </a:lnTo>
                <a:cubicBezTo>
                  <a:pt x="-595" y="476250"/>
                  <a:pt x="-23366" y="435918"/>
                  <a:pt x="-4316" y="404068"/>
                </a:cubicBezTo>
                <a:lnTo>
                  <a:pt x="74414" y="272802"/>
                </a:lnTo>
                <a:cubicBezTo>
                  <a:pt x="87362" y="251222"/>
                  <a:pt x="110579" y="238125"/>
                  <a:pt x="135731" y="238125"/>
                </a:cubicBezTo>
                <a:lnTo>
                  <a:pt x="277118" y="238125"/>
                </a:lnTo>
                <a:cubicBezTo>
                  <a:pt x="390376" y="46286"/>
                  <a:pt x="559296" y="36612"/>
                  <a:pt x="672257" y="53132"/>
                </a:cubicBezTo>
                <a:cubicBezTo>
                  <a:pt x="691307" y="55959"/>
                  <a:pt x="706189" y="70842"/>
                  <a:pt x="708868" y="89743"/>
                </a:cubicBezTo>
                <a:cubicBezTo>
                  <a:pt x="725388" y="202704"/>
                  <a:pt x="715714" y="371624"/>
                  <a:pt x="523875" y="484882"/>
                </a:cubicBezTo>
                <a:lnTo>
                  <a:pt x="523875" y="626269"/>
                </a:lnTo>
                <a:cubicBezTo>
                  <a:pt x="523875" y="651421"/>
                  <a:pt x="510778" y="674638"/>
                  <a:pt x="489198" y="687586"/>
                </a:cubicBezTo>
                <a:lnTo>
                  <a:pt x="357932" y="766316"/>
                </a:lnTo>
                <a:cubicBezTo>
                  <a:pt x="326231" y="785366"/>
                  <a:pt x="285750" y="762446"/>
                  <a:pt x="285750" y="725537"/>
                </a:cubicBezTo>
                <a:lnTo>
                  <a:pt x="285750" y="571500"/>
                </a:lnTo>
                <a:cubicBezTo>
                  <a:pt x="285750" y="518964"/>
                  <a:pt x="243036" y="476250"/>
                  <a:pt x="190500" y="476250"/>
                </a:cubicBezTo>
                <a:lnTo>
                  <a:pt x="190351" y="476250"/>
                </a:lnTo>
                <a:close/>
                <a:moveTo>
                  <a:pt x="595313" y="238125"/>
                </a:moveTo>
                <a:cubicBezTo>
                  <a:pt x="595313" y="198698"/>
                  <a:pt x="563302" y="166688"/>
                  <a:pt x="523875" y="166688"/>
                </a:cubicBezTo>
                <a:cubicBezTo>
                  <a:pt x="484448" y="166688"/>
                  <a:pt x="452438" y="198698"/>
                  <a:pt x="452438" y="238125"/>
                </a:cubicBezTo>
                <a:cubicBezTo>
                  <a:pt x="452438" y="277552"/>
                  <a:pt x="484448" y="309563"/>
                  <a:pt x="523875" y="309563"/>
                </a:cubicBezTo>
                <a:cubicBezTo>
                  <a:pt x="563302" y="309563"/>
                  <a:pt x="595313" y="277552"/>
                  <a:pt x="595313" y="238125"/>
                </a:cubicBezTo>
                <a:close/>
              </a:path>
            </a:pathLst>
          </a:custGeom>
          <a:solidFill>
            <a:srgbClr val="8F5C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3295650" y="2971800"/>
            <a:ext cx="5600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8F5C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结语：从 Hive 到现代数仓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62050" y="3683000"/>
            <a:ext cx="98679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Hive 作为大数据时代首批 SQL-on-Hadoop 引擎，其</a:t>
            </a:r>
            <a:r>
              <a:rPr lang="en-US" sz="1800" dirty="0">
                <a:solidFill>
                  <a:srgbClr val="3C3542"/>
                </a:solidFill>
                <a:highlight>
                  <a:srgbClr val="D3B9D7">
                    <a:alpha val="667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架构设计哲学 </a:t>
            </a:r>
            <a:r>
              <a:rPr lang="en-US" sz="18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影响深远。在云原生、实时化、数据湖一体化的趋势下，它正与 Iceberg、Flink、Trino 等新技术融合演进。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62050" y="4597400"/>
            <a:ext cx="98679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希望同学们以 Hive 为起点，持续关注开源社区，形成</a:t>
            </a:r>
            <a:r>
              <a:rPr lang="en-US" sz="1800" dirty="0">
                <a:solidFill>
                  <a:srgbClr val="3C3542"/>
                </a:solidFill>
                <a:highlight>
                  <a:srgbClr val="D3B9D7">
                    <a:alpha val="667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架构演进史 </a:t>
            </a:r>
            <a:r>
              <a:rPr lang="en-US" sz="1800" dirty="0">
                <a:solidFill>
                  <a:srgbClr val="3C35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的视角，为构建下一代云原生数据仓库奠定坚实基础。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gradFill flip="none" rotWithShape="1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5280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5280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3665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13665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42049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42049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70434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70434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98818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988185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27203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2272030" y="469900"/>
            <a:ext cx="106680" cy="106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456035" y="38163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1456035" y="381635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456035" y="501650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1456035" y="501650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456035" y="62166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1456035" y="621665"/>
            <a:ext cx="351155" cy="43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727190" y="6306820"/>
            <a:ext cx="100800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52805" y="6177280"/>
            <a:ext cx="259080" cy="259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52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79805" y="6177280"/>
            <a:ext cx="259080" cy="2590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979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406015" y="2022475"/>
            <a:ext cx="7379970" cy="18116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1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感谢观看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75723" y="4495165"/>
            <a:ext cx="2057400" cy="518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3875723" y="4495165"/>
            <a:ext cx="2057400" cy="518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779838" y="4554855"/>
            <a:ext cx="2249805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402E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汇报人:Kimi AI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58243" y="4495165"/>
            <a:ext cx="2057400" cy="518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258243" y="4495165"/>
            <a:ext cx="2057400" cy="518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162358" y="4554855"/>
            <a:ext cx="2249805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402E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时间:2025.01.01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1E1C0D"/>
      </a:dk1>
      <a:lt1>
        <a:srgbClr val="FFFFFF"/>
      </a:lt1>
      <a:dk2>
        <a:srgbClr val="DC62FA"/>
      </a:dk2>
      <a:lt2>
        <a:srgbClr val="E8DBCE"/>
      </a:lt2>
      <a:accent1>
        <a:srgbClr val="402E7F"/>
      </a:accent1>
      <a:accent2>
        <a:srgbClr val="BC7DB7"/>
      </a:accent2>
      <a:accent3>
        <a:srgbClr val="AF9DCD"/>
      </a:accent3>
      <a:accent4>
        <a:srgbClr val="FFFFFF"/>
      </a:accent4>
      <a:accent5>
        <a:srgbClr val="1E1C0D"/>
      </a:accent5>
      <a:accent6>
        <a:srgbClr val="00B0F0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1351</Words>
  <Application>Microsoft Macintosh PowerPoint</Application>
  <PresentationFormat>宽屏</PresentationFormat>
  <Paragraphs>364</Paragraphs>
  <Slides>41</Slides>
  <Notes>41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46" baseType="lpstr">
      <vt:lpstr>Noto Sans SC</vt:lpstr>
      <vt:lpstr>MiSans</vt:lpstr>
      <vt:lpstr>Arial</vt:lpstr>
      <vt:lpstr>KaiTi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Apache Hive 数据仓库核心原理与实战</dc:title>
  <dc:subject>Apache Hive 数据仓库核心原理与实战</dc:subject>
  <dc:creator>Kimi</dc:creator>
  <cp:lastModifiedBy>王 天青</cp:lastModifiedBy>
  <cp:revision>3</cp:revision>
  <dcterms:created xsi:type="dcterms:W3CDTF">2025-11-20T06:24:00Z</dcterms:created>
  <dcterms:modified xsi:type="dcterms:W3CDTF">2025-11-20T06:30:16Z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{"Label":"Apache Hive 数据仓库核心原理与实战","ContentProducer":"001191110108MACG2KBH8F10000","ProduceID":"d4fb4skchmthq7t8ko90","ReservedCode1":"","ContentPropagator":"001191110108MACG2KBH8F20000","PropagateID":"d4fb4skchmthq7t8ko90","ReservedCode2":""}</vt:lpwstr>
  </property>
</Properties>
</file>