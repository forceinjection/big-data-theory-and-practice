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6256000" cy="9144000"/>
  <p:notesSz cx="9144000" cy="16256000"/>
  <p:embeddedFontLst>
    <p:embeddedFont>
      <p:font typeface="微软雅黑" panose="020B0503020204020204" pitchFamily="34" charset="-122"/>
      <p:regular r:id="rId28"/>
      <p:bold r:id="rId29"/>
    </p:embeddedFont>
    <p:embeddedFont>
      <p:font typeface="MiSans" pitchFamily="2" charset="-122"/>
      <p:regular r:id="rId30"/>
    </p:embeddedFont>
    <p:embeddedFont>
      <p:font typeface="Noto Sans SC" panose="020B0200000000000000" pitchFamily="34" charset="-128"/>
      <p:regular r:id="rId31"/>
    </p:embeddedFont>
    <p:embeddedFont>
      <p:font typeface="Liter" panose="02000503030000020004" pitchFamily="2" charset="0"/>
      <p:regular r:id="rId32"/>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0" d="100"/>
          <a:sy n="90" d="100"/>
        </p:scale>
        <p:origin x="480"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6496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02C"/>
        </a:solidFill>
        <a:effectLst/>
      </p:bgPr>
    </p:bg>
    <p:spTree>
      <p:nvGrpSpPr>
        <p:cNvPr id="1" name=""/>
        <p:cNvGrpSpPr/>
        <p:nvPr/>
      </p:nvGrpSpPr>
      <p:grpSpPr>
        <a:xfrm>
          <a:off x="0" y="0"/>
          <a:ext cx="0" cy="0"/>
          <a:chOff x="0" y="0"/>
          <a:chExt cx="0" cy="0"/>
        </a:xfrm>
      </p:grpSpPr>
      <p:pic>
        <p:nvPicPr>
          <p:cNvPr id="2" name="Image 0" descr="https://kimi-web-img.moonshot.cn/img/substackcdn.com/e9ee011d1b4a6c8836491e33ff9404d8605c6177.png"/>
          <p:cNvPicPr>
            <a:picLocks noChangeAspect="1"/>
          </p:cNvPicPr>
          <p:nvPr/>
        </p:nvPicPr>
        <p:blipFill>
          <a:blip r:embed="rId3">
            <a:alphaModFix amt="40000"/>
          </a:blip>
          <a:srcRect t="5224" b="5224"/>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flip="none" rotWithShape="1">
            <a:gsLst>
              <a:gs pos="0">
                <a:srgbClr val="1A202C">
                  <a:alpha val="95000"/>
                </a:srgbClr>
              </a:gs>
              <a:gs pos="50000">
                <a:srgbClr val="1A202C">
                  <a:alpha val="85000"/>
                </a:srgbClr>
              </a:gs>
              <a:gs pos="100000">
                <a:srgbClr val="000000">
                  <a:alpha val="0"/>
                </a:srgbClr>
              </a:gs>
            </a:gsLst>
            <a:lin ang="2700000" scaled="1"/>
          </a:gradFill>
          <a:ln/>
        </p:spPr>
        <p:txBody>
          <a:bodyPr/>
          <a:lstStyle/>
          <a:p>
            <a:endParaRPr lang="zh-CN" altLang="en-US"/>
          </a:p>
        </p:txBody>
      </p:sp>
      <p:sp>
        <p:nvSpPr>
          <p:cNvPr id="4" name="Shape 1"/>
          <p:cNvSpPr/>
          <p:nvPr/>
        </p:nvSpPr>
        <p:spPr>
          <a:xfrm>
            <a:off x="520700" y="1373188"/>
            <a:ext cx="3429000" cy="584200"/>
          </a:xfrm>
          <a:custGeom>
            <a:avLst/>
            <a:gdLst/>
            <a:ahLst/>
            <a:cxnLst/>
            <a:rect l="l" t="t" r="r" b="b"/>
            <a:pathLst>
              <a:path w="3429000" h="584200">
                <a:moveTo>
                  <a:pt x="101598" y="0"/>
                </a:moveTo>
                <a:lnTo>
                  <a:pt x="3327402" y="0"/>
                </a:lnTo>
                <a:cubicBezTo>
                  <a:pt x="3383513" y="0"/>
                  <a:pt x="3429000" y="45487"/>
                  <a:pt x="3429000" y="101598"/>
                </a:cubicBezTo>
                <a:lnTo>
                  <a:pt x="3429000" y="482602"/>
                </a:lnTo>
                <a:cubicBezTo>
                  <a:pt x="3429000" y="538713"/>
                  <a:pt x="3383513" y="584200"/>
                  <a:pt x="3327402" y="584200"/>
                </a:cubicBezTo>
                <a:lnTo>
                  <a:pt x="101598" y="584200"/>
                </a:lnTo>
                <a:cubicBezTo>
                  <a:pt x="45487" y="584200"/>
                  <a:pt x="0" y="538713"/>
                  <a:pt x="0" y="482602"/>
                </a:cubicBezTo>
                <a:lnTo>
                  <a:pt x="0" y="101598"/>
                </a:lnTo>
                <a:cubicBezTo>
                  <a:pt x="0" y="45525"/>
                  <a:pt x="45525" y="0"/>
                  <a:pt x="101598" y="0"/>
                </a:cubicBezTo>
                <a:close/>
              </a:path>
            </a:pathLst>
          </a:custGeom>
          <a:solidFill>
            <a:srgbClr val="D69E2E">
              <a:alpha val="20000"/>
            </a:srgbClr>
          </a:solidFill>
          <a:ln w="25400">
            <a:solidFill>
              <a:srgbClr val="D69E2E"/>
            </a:solidFill>
            <a:prstDash val="solid"/>
          </a:ln>
        </p:spPr>
        <p:txBody>
          <a:bodyPr/>
          <a:lstStyle/>
          <a:p>
            <a:endParaRPr lang="zh-CN" altLang="en-US"/>
          </a:p>
        </p:txBody>
      </p:sp>
      <p:sp>
        <p:nvSpPr>
          <p:cNvPr id="5" name="Text 2"/>
          <p:cNvSpPr/>
          <p:nvPr/>
        </p:nvSpPr>
        <p:spPr>
          <a:xfrm>
            <a:off x="787400" y="1487488"/>
            <a:ext cx="3009900" cy="355600"/>
          </a:xfrm>
          <a:prstGeom prst="rect">
            <a:avLst/>
          </a:prstGeom>
          <a:noFill/>
          <a:ln/>
        </p:spPr>
        <p:txBody>
          <a:bodyPr wrap="square" lIns="0" tIns="0" rIns="0" bIns="0" rtlCol="0" anchor="ctr"/>
          <a:lstStyle/>
          <a:p>
            <a:pPr>
              <a:lnSpc>
                <a:spcPct val="130000"/>
              </a:lnSpc>
            </a:pPr>
            <a:r>
              <a:rPr lang="en-US" sz="1800" b="1" kern="0" spc="180" dirty="0">
                <a:solidFill>
                  <a:srgbClr val="D69E2E"/>
                </a:solidFill>
                <a:latin typeface="Liter" pitchFamily="34" charset="0"/>
                <a:ea typeface="Liter" pitchFamily="34" charset="-122"/>
                <a:cs typeface="Liter" pitchFamily="34" charset="-120"/>
              </a:rPr>
              <a:t>BIG DATA WAREHOUSE</a:t>
            </a:r>
            <a:endParaRPr lang="en-US" sz="1600" dirty="0"/>
          </a:p>
        </p:txBody>
      </p:sp>
      <p:sp>
        <p:nvSpPr>
          <p:cNvPr id="6" name="Text 3"/>
          <p:cNvSpPr/>
          <p:nvPr/>
        </p:nvSpPr>
        <p:spPr>
          <a:xfrm>
            <a:off x="508000" y="2274888"/>
            <a:ext cx="15849600" cy="2438400"/>
          </a:xfrm>
          <a:prstGeom prst="rect">
            <a:avLst/>
          </a:prstGeom>
          <a:noFill/>
          <a:ln/>
        </p:spPr>
        <p:txBody>
          <a:bodyPr wrap="square" lIns="0" tIns="0" rIns="0" bIns="0" rtlCol="0" anchor="ctr"/>
          <a:lstStyle/>
          <a:p>
            <a:pPr>
              <a:lnSpc>
                <a:spcPct val="80000"/>
              </a:lnSpc>
            </a:pPr>
            <a:r>
              <a:rPr lang="en-US" sz="9600" b="1" dirty="0">
                <a:solidFill>
                  <a:srgbClr val="E2E8F0"/>
                </a:solidFill>
                <a:latin typeface="Liter" pitchFamily="34" charset="0"/>
                <a:ea typeface="Liter" pitchFamily="34" charset="-122"/>
                <a:cs typeface="Liter" pitchFamily="34" charset="-120"/>
              </a:rPr>
              <a:t>Apache Hive</a:t>
            </a:r>
            <a:endParaRPr lang="en-US" sz="1600" dirty="0"/>
          </a:p>
          <a:p>
            <a:pPr>
              <a:lnSpc>
                <a:spcPct val="80000"/>
              </a:lnSpc>
            </a:pPr>
            <a:r>
              <a:rPr lang="en-US" sz="9600" b="1" dirty="0">
                <a:solidFill>
                  <a:srgbClr val="E2E8F0"/>
                </a:solidFill>
                <a:latin typeface="Noto Sans SC" pitchFamily="34" charset="0"/>
                <a:ea typeface="Noto Sans SC" pitchFamily="34" charset="-122"/>
                <a:cs typeface="Noto Sans SC" pitchFamily="34" charset="-120"/>
              </a:rPr>
              <a:t>设计与实现</a:t>
            </a:r>
            <a:endParaRPr lang="en-US" sz="1600" dirty="0"/>
          </a:p>
        </p:txBody>
      </p:sp>
      <p:sp>
        <p:nvSpPr>
          <p:cNvPr id="7" name="Shape 4"/>
          <p:cNvSpPr/>
          <p:nvPr/>
        </p:nvSpPr>
        <p:spPr>
          <a:xfrm>
            <a:off x="508000" y="5119688"/>
            <a:ext cx="1625600" cy="50800"/>
          </a:xfrm>
          <a:custGeom>
            <a:avLst/>
            <a:gdLst/>
            <a:ahLst/>
            <a:cxnLst/>
            <a:rect l="l" t="t" r="r" b="b"/>
            <a:pathLst>
              <a:path w="1625600" h="50800">
                <a:moveTo>
                  <a:pt x="0" y="0"/>
                </a:moveTo>
                <a:lnTo>
                  <a:pt x="1625600" y="0"/>
                </a:lnTo>
                <a:lnTo>
                  <a:pt x="1625600" y="50800"/>
                </a:lnTo>
                <a:lnTo>
                  <a:pt x="0" y="50800"/>
                </a:lnTo>
                <a:lnTo>
                  <a:pt x="0" y="0"/>
                </a:lnTo>
                <a:close/>
              </a:path>
            </a:pathLst>
          </a:custGeom>
          <a:solidFill>
            <a:srgbClr val="D69E2E"/>
          </a:solidFill>
          <a:ln/>
        </p:spPr>
        <p:txBody>
          <a:bodyPr/>
          <a:lstStyle/>
          <a:p>
            <a:endParaRPr lang="zh-CN" altLang="en-US"/>
          </a:p>
        </p:txBody>
      </p:sp>
      <p:sp>
        <p:nvSpPr>
          <p:cNvPr id="8" name="Text 5"/>
          <p:cNvSpPr/>
          <p:nvPr/>
        </p:nvSpPr>
        <p:spPr>
          <a:xfrm>
            <a:off x="508000" y="5576888"/>
            <a:ext cx="15430500" cy="622300"/>
          </a:xfrm>
          <a:prstGeom prst="rect">
            <a:avLst/>
          </a:prstGeom>
          <a:noFill/>
          <a:ln/>
        </p:spPr>
        <p:txBody>
          <a:bodyPr wrap="square" lIns="0" tIns="0" rIns="0" bIns="0" rtlCol="0" anchor="ctr"/>
          <a:lstStyle/>
          <a:p>
            <a:pPr>
              <a:lnSpc>
                <a:spcPct val="140000"/>
              </a:lnSpc>
            </a:pPr>
            <a:r>
              <a:rPr lang="en-US" sz="3000" dirty="0" err="1">
                <a:solidFill>
                  <a:srgbClr val="A0AEC0"/>
                </a:solidFill>
                <a:latin typeface="MiSans" pitchFamily="34" charset="0"/>
                <a:ea typeface="MiSans" pitchFamily="34" charset="-122"/>
                <a:cs typeface="MiSans" pitchFamily="34" charset="-120"/>
              </a:rPr>
              <a:t>大数据仓库解决方案</a:t>
            </a:r>
            <a:endParaRPr lang="en-US" sz="1600" dirty="0"/>
          </a:p>
        </p:txBody>
      </p:sp>
      <p:sp>
        <p:nvSpPr>
          <p:cNvPr id="9" name="Shape 6"/>
          <p:cNvSpPr/>
          <p:nvPr/>
        </p:nvSpPr>
        <p:spPr>
          <a:xfrm>
            <a:off x="565150" y="6831013"/>
            <a:ext cx="266700" cy="304800"/>
          </a:xfrm>
          <a:custGeom>
            <a:avLst/>
            <a:gdLst/>
            <a:ahLst/>
            <a:cxnLst/>
            <a:rect l="l" t="t" r="r" b="b"/>
            <a:pathLst>
              <a:path w="266700" h="304800">
                <a:moveTo>
                  <a:pt x="266700" y="122515"/>
                </a:moveTo>
                <a:cubicBezTo>
                  <a:pt x="257889" y="128349"/>
                  <a:pt x="247769" y="133052"/>
                  <a:pt x="237232" y="136803"/>
                </a:cubicBezTo>
                <a:cubicBezTo>
                  <a:pt x="209252" y="146804"/>
                  <a:pt x="172522" y="152400"/>
                  <a:pt x="133350" y="152400"/>
                </a:cubicBezTo>
                <a:cubicBezTo>
                  <a:pt x="94178" y="152400"/>
                  <a:pt x="57388" y="146745"/>
                  <a:pt x="29468" y="136803"/>
                </a:cubicBezTo>
                <a:cubicBezTo>
                  <a:pt x="18990" y="133052"/>
                  <a:pt x="8811" y="128349"/>
                  <a:pt x="0" y="122515"/>
                </a:cubicBezTo>
                <a:lnTo>
                  <a:pt x="0" y="171450"/>
                </a:lnTo>
                <a:cubicBezTo>
                  <a:pt x="0" y="197763"/>
                  <a:pt x="59710" y="219075"/>
                  <a:pt x="133350" y="219075"/>
                </a:cubicBezTo>
                <a:cubicBezTo>
                  <a:pt x="206990" y="219075"/>
                  <a:pt x="266700" y="197763"/>
                  <a:pt x="266700" y="171450"/>
                </a:cubicBezTo>
                <a:lnTo>
                  <a:pt x="266700" y="122515"/>
                </a:lnTo>
                <a:close/>
                <a:moveTo>
                  <a:pt x="266700" y="76200"/>
                </a:moveTo>
                <a:lnTo>
                  <a:pt x="266700" y="47625"/>
                </a:lnTo>
                <a:cubicBezTo>
                  <a:pt x="266700" y="21312"/>
                  <a:pt x="206990" y="0"/>
                  <a:pt x="133350" y="0"/>
                </a:cubicBezTo>
                <a:cubicBezTo>
                  <a:pt x="59710" y="0"/>
                  <a:pt x="0" y="21312"/>
                  <a:pt x="0" y="47625"/>
                </a:cubicBezTo>
                <a:lnTo>
                  <a:pt x="0" y="76200"/>
                </a:lnTo>
                <a:cubicBezTo>
                  <a:pt x="0" y="102513"/>
                  <a:pt x="59710" y="123825"/>
                  <a:pt x="133350" y="123825"/>
                </a:cubicBezTo>
                <a:cubicBezTo>
                  <a:pt x="206990" y="123825"/>
                  <a:pt x="266700" y="102513"/>
                  <a:pt x="266700" y="76200"/>
                </a:cubicBezTo>
                <a:close/>
                <a:moveTo>
                  <a:pt x="237232" y="232053"/>
                </a:moveTo>
                <a:cubicBezTo>
                  <a:pt x="209312" y="241995"/>
                  <a:pt x="172581" y="247650"/>
                  <a:pt x="133350" y="247650"/>
                </a:cubicBezTo>
                <a:cubicBezTo>
                  <a:pt x="94119" y="247650"/>
                  <a:pt x="57388" y="241995"/>
                  <a:pt x="29468" y="232053"/>
                </a:cubicBezTo>
                <a:cubicBezTo>
                  <a:pt x="18990" y="228302"/>
                  <a:pt x="8811" y="223599"/>
                  <a:pt x="0" y="217765"/>
                </a:cubicBezTo>
                <a:lnTo>
                  <a:pt x="0" y="257175"/>
                </a:lnTo>
                <a:cubicBezTo>
                  <a:pt x="0" y="283488"/>
                  <a:pt x="59710" y="304800"/>
                  <a:pt x="133350" y="304800"/>
                </a:cubicBezTo>
                <a:cubicBezTo>
                  <a:pt x="206990" y="304800"/>
                  <a:pt x="266700" y="283488"/>
                  <a:pt x="266700" y="257175"/>
                </a:cubicBezTo>
                <a:lnTo>
                  <a:pt x="266700" y="217765"/>
                </a:lnTo>
                <a:cubicBezTo>
                  <a:pt x="257889" y="223599"/>
                  <a:pt x="247769" y="228302"/>
                  <a:pt x="237232" y="232053"/>
                </a:cubicBezTo>
                <a:close/>
              </a:path>
            </a:pathLst>
          </a:custGeom>
          <a:solidFill>
            <a:srgbClr val="D69E2E"/>
          </a:solidFill>
          <a:ln/>
        </p:spPr>
        <p:txBody>
          <a:bodyPr/>
          <a:lstStyle/>
          <a:p>
            <a:endParaRPr lang="zh-CN" altLang="en-US"/>
          </a:p>
        </p:txBody>
      </p:sp>
      <p:sp>
        <p:nvSpPr>
          <p:cNvPr id="10" name="Text 7"/>
          <p:cNvSpPr/>
          <p:nvPr/>
        </p:nvSpPr>
        <p:spPr>
          <a:xfrm>
            <a:off x="1041400" y="6805613"/>
            <a:ext cx="1485900" cy="355600"/>
          </a:xfrm>
          <a:prstGeom prst="rect">
            <a:avLst/>
          </a:prstGeom>
          <a:noFill/>
          <a:ln/>
        </p:spPr>
        <p:txBody>
          <a:bodyPr wrap="square" lIns="0" tIns="0" rIns="0" bIns="0" rtlCol="0" anchor="ctr"/>
          <a:lstStyle/>
          <a:p>
            <a:pPr>
              <a:lnSpc>
                <a:spcPct val="130000"/>
              </a:lnSpc>
            </a:pPr>
            <a:r>
              <a:rPr lang="en-US" sz="1800" dirty="0">
                <a:solidFill>
                  <a:srgbClr val="A0AEC0"/>
                </a:solidFill>
                <a:latin typeface="MiSans" pitchFamily="34" charset="0"/>
                <a:ea typeface="MiSans" pitchFamily="34" charset="-122"/>
                <a:cs typeface="MiSans" pitchFamily="34" charset="-120"/>
              </a:rPr>
              <a:t>数据仓库平台</a:t>
            </a:r>
            <a:endParaRPr lang="en-US" sz="1600" dirty="0"/>
          </a:p>
        </p:txBody>
      </p:sp>
      <p:sp>
        <p:nvSpPr>
          <p:cNvPr id="11" name="Shape 8"/>
          <p:cNvSpPr/>
          <p:nvPr/>
        </p:nvSpPr>
        <p:spPr>
          <a:xfrm>
            <a:off x="2978150" y="6831013"/>
            <a:ext cx="266700" cy="304800"/>
          </a:xfrm>
          <a:custGeom>
            <a:avLst/>
            <a:gdLst/>
            <a:ahLst/>
            <a:cxnLst/>
            <a:rect l="l" t="t" r="r" b="b"/>
            <a:pathLst>
              <a:path w="266700" h="304800">
                <a:moveTo>
                  <a:pt x="38100" y="19050"/>
                </a:moveTo>
                <a:cubicBezTo>
                  <a:pt x="17085" y="19050"/>
                  <a:pt x="0" y="36135"/>
                  <a:pt x="0" y="57150"/>
                </a:cubicBezTo>
                <a:lnTo>
                  <a:pt x="0" y="95250"/>
                </a:lnTo>
                <a:cubicBezTo>
                  <a:pt x="0" y="116265"/>
                  <a:pt x="17085" y="133350"/>
                  <a:pt x="38100" y="133350"/>
                </a:cubicBezTo>
                <a:lnTo>
                  <a:pt x="228600" y="133350"/>
                </a:lnTo>
                <a:cubicBezTo>
                  <a:pt x="249615" y="133350"/>
                  <a:pt x="266700" y="116265"/>
                  <a:pt x="266700" y="95250"/>
                </a:cubicBezTo>
                <a:lnTo>
                  <a:pt x="266700" y="57150"/>
                </a:lnTo>
                <a:cubicBezTo>
                  <a:pt x="266700" y="36135"/>
                  <a:pt x="249615" y="19050"/>
                  <a:pt x="228600" y="19050"/>
                </a:cubicBezTo>
                <a:lnTo>
                  <a:pt x="38100" y="19050"/>
                </a:lnTo>
                <a:close/>
                <a:moveTo>
                  <a:pt x="166688" y="61912"/>
                </a:moveTo>
                <a:cubicBezTo>
                  <a:pt x="174573" y="61912"/>
                  <a:pt x="180975" y="68315"/>
                  <a:pt x="180975" y="76200"/>
                </a:cubicBezTo>
                <a:cubicBezTo>
                  <a:pt x="180975" y="84085"/>
                  <a:pt x="174573" y="90488"/>
                  <a:pt x="166688" y="90488"/>
                </a:cubicBezTo>
                <a:cubicBezTo>
                  <a:pt x="158802" y="90488"/>
                  <a:pt x="152400" y="84085"/>
                  <a:pt x="152400" y="76200"/>
                </a:cubicBezTo>
                <a:cubicBezTo>
                  <a:pt x="152400" y="68315"/>
                  <a:pt x="158802" y="61912"/>
                  <a:pt x="166688" y="61912"/>
                </a:cubicBezTo>
                <a:close/>
                <a:moveTo>
                  <a:pt x="200025" y="76200"/>
                </a:moveTo>
                <a:cubicBezTo>
                  <a:pt x="200025" y="68315"/>
                  <a:pt x="206427" y="61912"/>
                  <a:pt x="214313" y="61912"/>
                </a:cubicBezTo>
                <a:cubicBezTo>
                  <a:pt x="222198" y="61912"/>
                  <a:pt x="228600" y="68315"/>
                  <a:pt x="228600" y="76200"/>
                </a:cubicBezTo>
                <a:cubicBezTo>
                  <a:pt x="228600" y="84085"/>
                  <a:pt x="222198" y="90488"/>
                  <a:pt x="214313" y="90488"/>
                </a:cubicBezTo>
                <a:cubicBezTo>
                  <a:pt x="206427" y="90488"/>
                  <a:pt x="200025" y="84085"/>
                  <a:pt x="200025" y="76200"/>
                </a:cubicBezTo>
                <a:close/>
                <a:moveTo>
                  <a:pt x="38100" y="171450"/>
                </a:moveTo>
                <a:cubicBezTo>
                  <a:pt x="17085" y="171450"/>
                  <a:pt x="0" y="188535"/>
                  <a:pt x="0" y="209550"/>
                </a:cubicBezTo>
                <a:lnTo>
                  <a:pt x="0" y="247650"/>
                </a:lnTo>
                <a:cubicBezTo>
                  <a:pt x="0" y="268665"/>
                  <a:pt x="17085" y="285750"/>
                  <a:pt x="38100" y="285750"/>
                </a:cubicBezTo>
                <a:lnTo>
                  <a:pt x="228600" y="285750"/>
                </a:lnTo>
                <a:cubicBezTo>
                  <a:pt x="249615" y="285750"/>
                  <a:pt x="266700" y="268665"/>
                  <a:pt x="266700" y="247650"/>
                </a:cubicBezTo>
                <a:lnTo>
                  <a:pt x="266700" y="209550"/>
                </a:lnTo>
                <a:cubicBezTo>
                  <a:pt x="266700" y="188535"/>
                  <a:pt x="249615" y="171450"/>
                  <a:pt x="228600" y="171450"/>
                </a:cubicBezTo>
                <a:lnTo>
                  <a:pt x="38100" y="171450"/>
                </a:lnTo>
                <a:close/>
                <a:moveTo>
                  <a:pt x="166688" y="214313"/>
                </a:moveTo>
                <a:cubicBezTo>
                  <a:pt x="174573" y="214313"/>
                  <a:pt x="180975" y="220715"/>
                  <a:pt x="180975" y="228600"/>
                </a:cubicBezTo>
                <a:cubicBezTo>
                  <a:pt x="180975" y="236485"/>
                  <a:pt x="174573" y="242888"/>
                  <a:pt x="166688" y="242888"/>
                </a:cubicBezTo>
                <a:cubicBezTo>
                  <a:pt x="158802" y="242888"/>
                  <a:pt x="152400" y="236485"/>
                  <a:pt x="152400" y="228600"/>
                </a:cubicBezTo>
                <a:cubicBezTo>
                  <a:pt x="152400" y="220715"/>
                  <a:pt x="158802" y="214313"/>
                  <a:pt x="166688" y="214313"/>
                </a:cubicBezTo>
                <a:close/>
                <a:moveTo>
                  <a:pt x="200025" y="228600"/>
                </a:moveTo>
                <a:cubicBezTo>
                  <a:pt x="200025" y="220715"/>
                  <a:pt x="206427" y="214313"/>
                  <a:pt x="214313" y="214313"/>
                </a:cubicBezTo>
                <a:cubicBezTo>
                  <a:pt x="222198" y="214313"/>
                  <a:pt x="228600" y="220715"/>
                  <a:pt x="228600" y="228600"/>
                </a:cubicBezTo>
                <a:cubicBezTo>
                  <a:pt x="228600" y="236485"/>
                  <a:pt x="222198" y="242888"/>
                  <a:pt x="214313" y="242888"/>
                </a:cubicBezTo>
                <a:cubicBezTo>
                  <a:pt x="206427" y="242888"/>
                  <a:pt x="200025" y="236485"/>
                  <a:pt x="200025" y="228600"/>
                </a:cubicBezTo>
                <a:close/>
              </a:path>
            </a:pathLst>
          </a:custGeom>
          <a:solidFill>
            <a:srgbClr val="D69E2E"/>
          </a:solidFill>
          <a:ln/>
        </p:spPr>
        <p:txBody>
          <a:bodyPr/>
          <a:lstStyle/>
          <a:p>
            <a:endParaRPr lang="zh-CN" altLang="en-US"/>
          </a:p>
        </p:txBody>
      </p:sp>
      <p:sp>
        <p:nvSpPr>
          <p:cNvPr id="12" name="Text 9"/>
          <p:cNvSpPr/>
          <p:nvPr/>
        </p:nvSpPr>
        <p:spPr>
          <a:xfrm>
            <a:off x="3454400" y="6805613"/>
            <a:ext cx="1257300" cy="355600"/>
          </a:xfrm>
          <a:prstGeom prst="rect">
            <a:avLst/>
          </a:prstGeom>
          <a:noFill/>
          <a:ln/>
        </p:spPr>
        <p:txBody>
          <a:bodyPr wrap="square" lIns="0" tIns="0" rIns="0" bIns="0" rtlCol="0" anchor="ctr"/>
          <a:lstStyle/>
          <a:p>
            <a:pPr>
              <a:lnSpc>
                <a:spcPct val="130000"/>
              </a:lnSpc>
            </a:pPr>
            <a:r>
              <a:rPr lang="en-US" sz="1800" dirty="0">
                <a:solidFill>
                  <a:srgbClr val="A0AEC0"/>
                </a:solidFill>
                <a:latin typeface="MiSans" pitchFamily="34" charset="0"/>
                <a:ea typeface="MiSans" pitchFamily="34" charset="-122"/>
                <a:cs typeface="MiSans" pitchFamily="34" charset="-120"/>
              </a:rPr>
              <a:t>分布式计算</a:t>
            </a:r>
            <a:endParaRPr lang="en-US" sz="1600" dirty="0"/>
          </a:p>
        </p:txBody>
      </p:sp>
      <p:sp>
        <p:nvSpPr>
          <p:cNvPr id="13" name="Shape 10"/>
          <p:cNvSpPr/>
          <p:nvPr/>
        </p:nvSpPr>
        <p:spPr>
          <a:xfrm>
            <a:off x="5143500" y="6831013"/>
            <a:ext cx="304800" cy="304800"/>
          </a:xfrm>
          <a:custGeom>
            <a:avLst/>
            <a:gdLst/>
            <a:ahLst/>
            <a:cxnLst/>
            <a:rect l="l" t="t" r="r" b="b"/>
            <a:pathLst>
              <a:path w="304800" h="304800">
                <a:moveTo>
                  <a:pt x="38100" y="38100"/>
                </a:moveTo>
                <a:cubicBezTo>
                  <a:pt x="38100" y="27563"/>
                  <a:pt x="29587" y="19050"/>
                  <a:pt x="19050" y="19050"/>
                </a:cubicBezTo>
                <a:cubicBezTo>
                  <a:pt x="8513" y="19050"/>
                  <a:pt x="0" y="27563"/>
                  <a:pt x="0" y="38100"/>
                </a:cubicBezTo>
                <a:lnTo>
                  <a:pt x="0" y="238125"/>
                </a:lnTo>
                <a:cubicBezTo>
                  <a:pt x="0" y="264438"/>
                  <a:pt x="21312" y="285750"/>
                  <a:pt x="47625" y="285750"/>
                </a:cubicBezTo>
                <a:lnTo>
                  <a:pt x="285750" y="285750"/>
                </a:lnTo>
                <a:cubicBezTo>
                  <a:pt x="296287" y="285750"/>
                  <a:pt x="304800" y="277237"/>
                  <a:pt x="304800" y="266700"/>
                </a:cubicBezTo>
                <a:cubicBezTo>
                  <a:pt x="304800" y="256163"/>
                  <a:pt x="296287" y="247650"/>
                  <a:pt x="285750" y="247650"/>
                </a:cubicBezTo>
                <a:lnTo>
                  <a:pt x="47625" y="247650"/>
                </a:lnTo>
                <a:cubicBezTo>
                  <a:pt x="42386" y="247650"/>
                  <a:pt x="38100" y="243364"/>
                  <a:pt x="38100" y="238125"/>
                </a:cubicBezTo>
                <a:lnTo>
                  <a:pt x="38100" y="38100"/>
                </a:lnTo>
                <a:close/>
                <a:moveTo>
                  <a:pt x="280154" y="89654"/>
                </a:moveTo>
                <a:cubicBezTo>
                  <a:pt x="287595" y="82213"/>
                  <a:pt x="287595" y="70128"/>
                  <a:pt x="280154" y="62686"/>
                </a:cubicBezTo>
                <a:cubicBezTo>
                  <a:pt x="272713" y="55245"/>
                  <a:pt x="260628" y="55245"/>
                  <a:pt x="253186" y="62686"/>
                </a:cubicBezTo>
                <a:lnTo>
                  <a:pt x="190500" y="125432"/>
                </a:lnTo>
                <a:lnTo>
                  <a:pt x="156329" y="91321"/>
                </a:lnTo>
                <a:cubicBezTo>
                  <a:pt x="148888" y="83880"/>
                  <a:pt x="136803" y="83880"/>
                  <a:pt x="129361" y="91321"/>
                </a:cubicBezTo>
                <a:lnTo>
                  <a:pt x="72211" y="148471"/>
                </a:lnTo>
                <a:cubicBezTo>
                  <a:pt x="64770" y="155912"/>
                  <a:pt x="64770" y="167997"/>
                  <a:pt x="72211" y="175439"/>
                </a:cubicBezTo>
                <a:cubicBezTo>
                  <a:pt x="79653" y="182880"/>
                  <a:pt x="91738" y="182880"/>
                  <a:pt x="99179" y="175439"/>
                </a:cubicBezTo>
                <a:lnTo>
                  <a:pt x="142875" y="131743"/>
                </a:lnTo>
                <a:lnTo>
                  <a:pt x="177046" y="165914"/>
                </a:lnTo>
                <a:cubicBezTo>
                  <a:pt x="184487" y="173355"/>
                  <a:pt x="196572" y="173355"/>
                  <a:pt x="204014" y="165914"/>
                </a:cubicBezTo>
                <a:lnTo>
                  <a:pt x="280214" y="89714"/>
                </a:lnTo>
                <a:close/>
              </a:path>
            </a:pathLst>
          </a:custGeom>
          <a:solidFill>
            <a:srgbClr val="D69E2E"/>
          </a:solidFill>
          <a:ln/>
        </p:spPr>
        <p:txBody>
          <a:bodyPr/>
          <a:lstStyle/>
          <a:p>
            <a:endParaRPr lang="zh-CN" altLang="en-US"/>
          </a:p>
        </p:txBody>
      </p:sp>
      <p:sp>
        <p:nvSpPr>
          <p:cNvPr id="14" name="Text 11"/>
          <p:cNvSpPr/>
          <p:nvPr/>
        </p:nvSpPr>
        <p:spPr>
          <a:xfrm>
            <a:off x="5638800" y="6805613"/>
            <a:ext cx="1473200" cy="355600"/>
          </a:xfrm>
          <a:prstGeom prst="rect">
            <a:avLst/>
          </a:prstGeom>
          <a:noFill/>
          <a:ln/>
        </p:spPr>
        <p:txBody>
          <a:bodyPr wrap="square" lIns="0" tIns="0" rIns="0" bIns="0" rtlCol="0" anchor="ctr"/>
          <a:lstStyle/>
          <a:p>
            <a:pPr>
              <a:lnSpc>
                <a:spcPct val="130000"/>
              </a:lnSpc>
            </a:pPr>
            <a:r>
              <a:rPr lang="en-US" sz="1800" dirty="0">
                <a:solidFill>
                  <a:srgbClr val="A0AEC0"/>
                </a:solidFill>
                <a:latin typeface="MiSans" pitchFamily="34" charset="0"/>
                <a:ea typeface="MiSans" pitchFamily="34" charset="-122"/>
                <a:cs typeface="MiSans" pitchFamily="34" charset="-120"/>
              </a:rPr>
              <a:t>SQL分析引擎</a:t>
            </a:r>
            <a:endParaRPr lang="en-US" sz="1600" dirty="0"/>
          </a:p>
        </p:txBody>
      </p:sp>
      <p:sp>
        <p:nvSpPr>
          <p:cNvPr id="15" name="Shape 12"/>
          <p:cNvSpPr/>
          <p:nvPr/>
        </p:nvSpPr>
        <p:spPr>
          <a:xfrm>
            <a:off x="508000" y="8020050"/>
            <a:ext cx="15240000" cy="12700"/>
          </a:xfrm>
          <a:custGeom>
            <a:avLst/>
            <a:gdLst/>
            <a:ahLst/>
            <a:cxnLst/>
            <a:rect l="l" t="t" r="r" b="b"/>
            <a:pathLst>
              <a:path w="15240000" h="12700">
                <a:moveTo>
                  <a:pt x="0" y="0"/>
                </a:moveTo>
                <a:lnTo>
                  <a:pt x="15240000" y="0"/>
                </a:lnTo>
                <a:lnTo>
                  <a:pt x="15240000" y="12700"/>
                </a:lnTo>
                <a:lnTo>
                  <a:pt x="0" y="12700"/>
                </a:lnTo>
                <a:lnTo>
                  <a:pt x="0" y="0"/>
                </a:lnTo>
                <a:close/>
              </a:path>
            </a:pathLst>
          </a:custGeom>
          <a:solidFill>
            <a:srgbClr val="4A5568">
              <a:alpha val="50196"/>
            </a:srgbClr>
          </a:solidFill>
          <a:ln/>
        </p:spPr>
        <p:txBody>
          <a:bodyPr/>
          <a:lstStyle/>
          <a:p>
            <a:endParaRPr lang="zh-CN" altLang="en-US"/>
          </a:p>
        </p:txBody>
      </p:sp>
      <p:sp>
        <p:nvSpPr>
          <p:cNvPr id="16" name="Shape 13"/>
          <p:cNvSpPr/>
          <p:nvPr/>
        </p:nvSpPr>
        <p:spPr>
          <a:xfrm>
            <a:off x="508000" y="8331200"/>
            <a:ext cx="381000" cy="304800"/>
          </a:xfrm>
          <a:custGeom>
            <a:avLst/>
            <a:gdLst/>
            <a:ahLst/>
            <a:cxnLst/>
            <a:rect l="l" t="t" r="r" b="b"/>
            <a:pathLst>
              <a:path w="381000" h="304800"/>
            </a:pathLst>
          </a:custGeom>
          <a:solidFill>
            <a:srgbClr val="D69E2E"/>
          </a:solidFill>
          <a:ln/>
        </p:spPr>
        <p:txBody>
          <a:bodyPr/>
          <a:lstStyle/>
          <a:p>
            <a:endParaRPr lang="zh-CN" altLang="en-US"/>
          </a:p>
        </p:txBody>
      </p:sp>
      <p:sp>
        <p:nvSpPr>
          <p:cNvPr id="17" name="Text 14"/>
          <p:cNvSpPr/>
          <p:nvPr/>
        </p:nvSpPr>
        <p:spPr>
          <a:xfrm>
            <a:off x="1041400" y="8331200"/>
            <a:ext cx="1600200" cy="3048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Apache Hive 3.x</a:t>
            </a:r>
            <a:endParaRPr lang="en-US" sz="1600" dirty="0"/>
          </a:p>
        </p:txBody>
      </p:sp>
      <p:sp>
        <p:nvSpPr>
          <p:cNvPr id="18" name="Text 15"/>
          <p:cNvSpPr/>
          <p:nvPr/>
        </p:nvSpPr>
        <p:spPr>
          <a:xfrm>
            <a:off x="12783245" y="8331200"/>
            <a:ext cx="3060700" cy="3048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基于Hadoop生态的数据仓库标准</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508000" y="876300"/>
            <a:ext cx="15544800" cy="609600"/>
          </a:xfrm>
          <a:prstGeom prst="rect">
            <a:avLst/>
          </a:prstGeom>
          <a:noFill/>
          <a:ln/>
        </p:spPr>
        <p:txBody>
          <a:bodyPr wrap="square" lIns="0" tIns="0" rIns="0" bIns="0" rtlCol="0" anchor="ctr"/>
          <a:lstStyle/>
          <a:p>
            <a:pPr>
              <a:lnSpc>
                <a:spcPct val="80000"/>
              </a:lnSpc>
            </a:pPr>
            <a:r>
              <a:rPr lang="en-US" sz="4800" b="1" dirty="0">
                <a:solidFill>
                  <a:srgbClr val="E2E8F0"/>
                </a:solidFill>
                <a:latin typeface="Noto Sans SC" pitchFamily="34" charset="0"/>
                <a:ea typeface="Noto Sans SC" pitchFamily="34" charset="-122"/>
                <a:cs typeface="Noto Sans SC" pitchFamily="34" charset="-120"/>
              </a:rPr>
              <a:t>目录</a:t>
            </a:r>
            <a:endParaRPr lang="en-US" sz="1600" dirty="0"/>
          </a:p>
        </p:txBody>
      </p:sp>
      <p:sp>
        <p:nvSpPr>
          <p:cNvPr id="3" name="Shape 1"/>
          <p:cNvSpPr/>
          <p:nvPr/>
        </p:nvSpPr>
        <p:spPr>
          <a:xfrm>
            <a:off x="508000" y="1638300"/>
            <a:ext cx="1219200" cy="50800"/>
          </a:xfrm>
          <a:custGeom>
            <a:avLst/>
            <a:gdLst/>
            <a:ahLst/>
            <a:cxnLst/>
            <a:rect l="l" t="t" r="r" b="b"/>
            <a:pathLst>
              <a:path w="1219200" h="50800">
                <a:moveTo>
                  <a:pt x="0" y="0"/>
                </a:moveTo>
                <a:lnTo>
                  <a:pt x="1219200" y="0"/>
                </a:lnTo>
                <a:lnTo>
                  <a:pt x="1219200" y="50800"/>
                </a:lnTo>
                <a:lnTo>
                  <a:pt x="0" y="50800"/>
                </a:lnTo>
                <a:lnTo>
                  <a:pt x="0" y="0"/>
                </a:lnTo>
                <a:close/>
              </a:path>
            </a:pathLst>
          </a:custGeom>
          <a:solidFill>
            <a:srgbClr val="D69E2E"/>
          </a:solidFill>
          <a:ln/>
        </p:spPr>
        <p:txBody>
          <a:bodyPr/>
          <a:lstStyle/>
          <a:p>
            <a:endParaRPr lang="zh-CN" altLang="en-US"/>
          </a:p>
        </p:txBody>
      </p:sp>
      <p:sp>
        <p:nvSpPr>
          <p:cNvPr id="4" name="Shape 2"/>
          <p:cNvSpPr/>
          <p:nvPr/>
        </p:nvSpPr>
        <p:spPr>
          <a:xfrm>
            <a:off x="533400" y="2298700"/>
            <a:ext cx="7391400" cy="1828800"/>
          </a:xfrm>
          <a:custGeom>
            <a:avLst/>
            <a:gdLst/>
            <a:ahLst/>
            <a:cxnLst/>
            <a:rect l="l" t="t" r="r" b="b"/>
            <a:pathLst>
              <a:path w="7391400" h="1828800">
                <a:moveTo>
                  <a:pt x="0" y="0"/>
                </a:moveTo>
                <a:lnTo>
                  <a:pt x="7391400" y="0"/>
                </a:lnTo>
                <a:lnTo>
                  <a:pt x="7391400" y="1828800"/>
                </a:lnTo>
                <a:lnTo>
                  <a:pt x="0" y="1828800"/>
                </a:lnTo>
                <a:lnTo>
                  <a:pt x="0" y="0"/>
                </a:lnTo>
                <a:close/>
              </a:path>
            </a:pathLst>
          </a:custGeom>
          <a:solidFill>
            <a:srgbClr val="4A5568">
              <a:alpha val="20000"/>
            </a:srgbClr>
          </a:solidFill>
          <a:ln/>
        </p:spPr>
        <p:txBody>
          <a:bodyPr/>
          <a:lstStyle/>
          <a:p>
            <a:endParaRPr lang="zh-CN" altLang="en-US"/>
          </a:p>
        </p:txBody>
      </p:sp>
      <p:sp>
        <p:nvSpPr>
          <p:cNvPr id="5" name="Shape 3"/>
          <p:cNvSpPr/>
          <p:nvPr/>
        </p:nvSpPr>
        <p:spPr>
          <a:xfrm>
            <a:off x="533400" y="2298700"/>
            <a:ext cx="50800" cy="1828800"/>
          </a:xfrm>
          <a:custGeom>
            <a:avLst/>
            <a:gdLst/>
            <a:ahLst/>
            <a:cxnLst/>
            <a:rect l="l" t="t" r="r" b="b"/>
            <a:pathLst>
              <a:path w="50800" h="1828800">
                <a:moveTo>
                  <a:pt x="0" y="0"/>
                </a:moveTo>
                <a:lnTo>
                  <a:pt x="50800" y="0"/>
                </a:lnTo>
                <a:lnTo>
                  <a:pt x="50800" y="1828800"/>
                </a:lnTo>
                <a:lnTo>
                  <a:pt x="0" y="1828800"/>
                </a:lnTo>
                <a:lnTo>
                  <a:pt x="0" y="0"/>
                </a:lnTo>
                <a:close/>
              </a:path>
            </a:pathLst>
          </a:custGeom>
          <a:solidFill>
            <a:srgbClr val="D69E2E"/>
          </a:solidFill>
          <a:ln/>
        </p:spPr>
        <p:txBody>
          <a:bodyPr/>
          <a:lstStyle/>
          <a:p>
            <a:endParaRPr lang="zh-CN" altLang="en-US"/>
          </a:p>
        </p:txBody>
      </p:sp>
      <p:sp>
        <p:nvSpPr>
          <p:cNvPr id="6" name="Shape 4"/>
          <p:cNvSpPr/>
          <p:nvPr/>
        </p:nvSpPr>
        <p:spPr>
          <a:xfrm>
            <a:off x="863600" y="2603500"/>
            <a:ext cx="812800" cy="812800"/>
          </a:xfrm>
          <a:custGeom>
            <a:avLst/>
            <a:gdLst/>
            <a:ahLst/>
            <a:cxnLst/>
            <a:rect l="l" t="t" r="r" b="b"/>
            <a:pathLst>
              <a:path w="812800" h="812800">
                <a:moveTo>
                  <a:pt x="101600" y="0"/>
                </a:moveTo>
                <a:lnTo>
                  <a:pt x="711200" y="0"/>
                </a:lnTo>
                <a:cubicBezTo>
                  <a:pt x="767275" y="0"/>
                  <a:pt x="812800" y="45525"/>
                  <a:pt x="812800" y="101600"/>
                </a:cubicBezTo>
                <a:lnTo>
                  <a:pt x="812800" y="711200"/>
                </a:lnTo>
                <a:cubicBezTo>
                  <a:pt x="812800" y="767275"/>
                  <a:pt x="767275" y="812800"/>
                  <a:pt x="711200" y="812800"/>
                </a:cubicBezTo>
                <a:lnTo>
                  <a:pt x="101600" y="812800"/>
                </a:lnTo>
                <a:cubicBezTo>
                  <a:pt x="45525" y="812800"/>
                  <a:pt x="0" y="767275"/>
                  <a:pt x="0" y="711200"/>
                </a:cubicBezTo>
                <a:lnTo>
                  <a:pt x="0" y="101600"/>
                </a:lnTo>
                <a:cubicBezTo>
                  <a:pt x="0" y="45525"/>
                  <a:pt x="45525" y="0"/>
                  <a:pt x="101600" y="0"/>
                </a:cubicBezTo>
                <a:close/>
              </a:path>
            </a:pathLst>
          </a:custGeom>
          <a:solidFill>
            <a:srgbClr val="D69E2E"/>
          </a:solidFill>
          <a:ln/>
        </p:spPr>
        <p:txBody>
          <a:bodyPr/>
          <a:lstStyle/>
          <a:p>
            <a:endParaRPr lang="zh-CN" altLang="en-US"/>
          </a:p>
        </p:txBody>
      </p:sp>
      <p:sp>
        <p:nvSpPr>
          <p:cNvPr id="7" name="Text 5"/>
          <p:cNvSpPr/>
          <p:nvPr/>
        </p:nvSpPr>
        <p:spPr>
          <a:xfrm>
            <a:off x="1072257" y="2781300"/>
            <a:ext cx="584200" cy="457200"/>
          </a:xfrm>
          <a:prstGeom prst="rect">
            <a:avLst/>
          </a:prstGeom>
          <a:noFill/>
          <a:ln/>
        </p:spPr>
        <p:txBody>
          <a:bodyPr wrap="square" lIns="0" tIns="0" rIns="0" bIns="0" rtlCol="0" anchor="ctr"/>
          <a:lstStyle/>
          <a:p>
            <a:pPr>
              <a:lnSpc>
                <a:spcPct val="100000"/>
              </a:lnSpc>
            </a:pPr>
            <a:r>
              <a:rPr lang="en-US" sz="3000" b="1" dirty="0">
                <a:solidFill>
                  <a:srgbClr val="1A202C"/>
                </a:solidFill>
                <a:latin typeface="Liter" pitchFamily="34" charset="0"/>
                <a:ea typeface="Liter" pitchFamily="34" charset="-122"/>
                <a:cs typeface="Liter" pitchFamily="34" charset="-120"/>
              </a:rPr>
              <a:t>01</a:t>
            </a:r>
            <a:endParaRPr lang="en-US" sz="1600" dirty="0"/>
          </a:p>
        </p:txBody>
      </p:sp>
      <p:sp>
        <p:nvSpPr>
          <p:cNvPr id="8" name="Text 6"/>
          <p:cNvSpPr/>
          <p:nvPr/>
        </p:nvSpPr>
        <p:spPr>
          <a:xfrm>
            <a:off x="1879600" y="2603500"/>
            <a:ext cx="5892800" cy="406400"/>
          </a:xfrm>
          <a:prstGeom prst="rect">
            <a:avLst/>
          </a:prstGeom>
          <a:noFill/>
          <a:ln/>
        </p:spPr>
        <p:txBody>
          <a:bodyPr wrap="square" lIns="0" tIns="0" rIns="0" bIns="0" rtlCol="0" anchor="ctr"/>
          <a:lstStyle/>
          <a:p>
            <a:pPr>
              <a:lnSpc>
                <a:spcPct val="110000"/>
              </a:lnSpc>
            </a:pPr>
            <a:r>
              <a:rPr lang="en-US" sz="2400" b="1" dirty="0">
                <a:solidFill>
                  <a:srgbClr val="E2E8F0"/>
                </a:solidFill>
                <a:latin typeface="Noto Sans SC" pitchFamily="34" charset="0"/>
                <a:ea typeface="Noto Sans SC" pitchFamily="34" charset="-122"/>
                <a:cs typeface="Noto Sans SC" pitchFamily="34" charset="-120"/>
              </a:rPr>
              <a:t>Hive概览与核心概念</a:t>
            </a:r>
            <a:endParaRPr lang="en-US" sz="1600" dirty="0"/>
          </a:p>
        </p:txBody>
      </p:sp>
      <p:sp>
        <p:nvSpPr>
          <p:cNvPr id="9" name="Text 7"/>
          <p:cNvSpPr/>
          <p:nvPr/>
        </p:nvSpPr>
        <p:spPr>
          <a:xfrm>
            <a:off x="1879600" y="3162300"/>
            <a:ext cx="5842000" cy="6604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理解Hive的设计理念、技术优势和基础架构，建立对Hive技术体系的整体认知</a:t>
            </a:r>
            <a:endParaRPr lang="en-US" sz="1600" dirty="0"/>
          </a:p>
        </p:txBody>
      </p:sp>
      <p:sp>
        <p:nvSpPr>
          <p:cNvPr id="10" name="Shape 8"/>
          <p:cNvSpPr/>
          <p:nvPr/>
        </p:nvSpPr>
        <p:spPr>
          <a:xfrm>
            <a:off x="8356600" y="2298700"/>
            <a:ext cx="7391400" cy="1828800"/>
          </a:xfrm>
          <a:custGeom>
            <a:avLst/>
            <a:gdLst/>
            <a:ahLst/>
            <a:cxnLst/>
            <a:rect l="l" t="t" r="r" b="b"/>
            <a:pathLst>
              <a:path w="7391400" h="1828800">
                <a:moveTo>
                  <a:pt x="0" y="0"/>
                </a:moveTo>
                <a:lnTo>
                  <a:pt x="7391400" y="0"/>
                </a:lnTo>
                <a:lnTo>
                  <a:pt x="7391400" y="1828800"/>
                </a:lnTo>
                <a:lnTo>
                  <a:pt x="0" y="1828800"/>
                </a:lnTo>
                <a:lnTo>
                  <a:pt x="0" y="0"/>
                </a:lnTo>
                <a:close/>
              </a:path>
            </a:pathLst>
          </a:custGeom>
          <a:solidFill>
            <a:srgbClr val="4A5568">
              <a:alpha val="20000"/>
            </a:srgbClr>
          </a:solidFill>
          <a:ln/>
        </p:spPr>
        <p:txBody>
          <a:bodyPr/>
          <a:lstStyle/>
          <a:p>
            <a:endParaRPr lang="zh-CN" altLang="en-US"/>
          </a:p>
        </p:txBody>
      </p:sp>
      <p:sp>
        <p:nvSpPr>
          <p:cNvPr id="11" name="Shape 9"/>
          <p:cNvSpPr/>
          <p:nvPr/>
        </p:nvSpPr>
        <p:spPr>
          <a:xfrm>
            <a:off x="8356600" y="2298700"/>
            <a:ext cx="50800" cy="1828800"/>
          </a:xfrm>
          <a:custGeom>
            <a:avLst/>
            <a:gdLst/>
            <a:ahLst/>
            <a:cxnLst/>
            <a:rect l="l" t="t" r="r" b="b"/>
            <a:pathLst>
              <a:path w="50800" h="1828800">
                <a:moveTo>
                  <a:pt x="0" y="0"/>
                </a:moveTo>
                <a:lnTo>
                  <a:pt x="50800" y="0"/>
                </a:lnTo>
                <a:lnTo>
                  <a:pt x="50800" y="1828800"/>
                </a:lnTo>
                <a:lnTo>
                  <a:pt x="0" y="1828800"/>
                </a:lnTo>
                <a:lnTo>
                  <a:pt x="0" y="0"/>
                </a:lnTo>
                <a:close/>
              </a:path>
            </a:pathLst>
          </a:custGeom>
          <a:solidFill>
            <a:srgbClr val="D69E2E"/>
          </a:solidFill>
          <a:ln/>
        </p:spPr>
        <p:txBody>
          <a:bodyPr/>
          <a:lstStyle/>
          <a:p>
            <a:endParaRPr lang="zh-CN" altLang="en-US"/>
          </a:p>
        </p:txBody>
      </p:sp>
      <p:sp>
        <p:nvSpPr>
          <p:cNvPr id="12" name="Shape 10"/>
          <p:cNvSpPr/>
          <p:nvPr/>
        </p:nvSpPr>
        <p:spPr>
          <a:xfrm>
            <a:off x="8686800" y="2603500"/>
            <a:ext cx="812800" cy="812800"/>
          </a:xfrm>
          <a:custGeom>
            <a:avLst/>
            <a:gdLst/>
            <a:ahLst/>
            <a:cxnLst/>
            <a:rect l="l" t="t" r="r" b="b"/>
            <a:pathLst>
              <a:path w="812800" h="812800">
                <a:moveTo>
                  <a:pt x="101600" y="0"/>
                </a:moveTo>
                <a:lnTo>
                  <a:pt x="711200" y="0"/>
                </a:lnTo>
                <a:cubicBezTo>
                  <a:pt x="767275" y="0"/>
                  <a:pt x="812800" y="45525"/>
                  <a:pt x="812800" y="101600"/>
                </a:cubicBezTo>
                <a:lnTo>
                  <a:pt x="812800" y="711200"/>
                </a:lnTo>
                <a:cubicBezTo>
                  <a:pt x="812800" y="767275"/>
                  <a:pt x="767275" y="812800"/>
                  <a:pt x="711200" y="812800"/>
                </a:cubicBezTo>
                <a:lnTo>
                  <a:pt x="101600" y="812800"/>
                </a:lnTo>
                <a:cubicBezTo>
                  <a:pt x="45525" y="812800"/>
                  <a:pt x="0" y="767275"/>
                  <a:pt x="0" y="711200"/>
                </a:cubicBezTo>
                <a:lnTo>
                  <a:pt x="0" y="101600"/>
                </a:lnTo>
                <a:cubicBezTo>
                  <a:pt x="0" y="45525"/>
                  <a:pt x="45525" y="0"/>
                  <a:pt x="101600" y="0"/>
                </a:cubicBezTo>
                <a:close/>
              </a:path>
            </a:pathLst>
          </a:custGeom>
          <a:solidFill>
            <a:srgbClr val="D69E2E"/>
          </a:solidFill>
          <a:ln/>
        </p:spPr>
        <p:txBody>
          <a:bodyPr/>
          <a:lstStyle/>
          <a:p>
            <a:endParaRPr lang="zh-CN" altLang="en-US"/>
          </a:p>
        </p:txBody>
      </p:sp>
      <p:sp>
        <p:nvSpPr>
          <p:cNvPr id="13" name="Text 11"/>
          <p:cNvSpPr/>
          <p:nvPr/>
        </p:nvSpPr>
        <p:spPr>
          <a:xfrm>
            <a:off x="8860929" y="2781300"/>
            <a:ext cx="660400" cy="457200"/>
          </a:xfrm>
          <a:prstGeom prst="rect">
            <a:avLst/>
          </a:prstGeom>
          <a:noFill/>
          <a:ln/>
        </p:spPr>
        <p:txBody>
          <a:bodyPr wrap="square" lIns="0" tIns="0" rIns="0" bIns="0" rtlCol="0" anchor="ctr"/>
          <a:lstStyle/>
          <a:p>
            <a:pPr>
              <a:lnSpc>
                <a:spcPct val="100000"/>
              </a:lnSpc>
            </a:pPr>
            <a:r>
              <a:rPr lang="en-US" sz="3000" b="1" dirty="0">
                <a:solidFill>
                  <a:srgbClr val="1A202C"/>
                </a:solidFill>
                <a:latin typeface="Liter" pitchFamily="34" charset="0"/>
                <a:ea typeface="Liter" pitchFamily="34" charset="-122"/>
                <a:cs typeface="Liter" pitchFamily="34" charset="-120"/>
              </a:rPr>
              <a:t>02</a:t>
            </a:r>
            <a:endParaRPr lang="en-US" sz="1600" dirty="0"/>
          </a:p>
        </p:txBody>
      </p:sp>
      <p:sp>
        <p:nvSpPr>
          <p:cNvPr id="14" name="Text 12"/>
          <p:cNvSpPr/>
          <p:nvPr/>
        </p:nvSpPr>
        <p:spPr>
          <a:xfrm>
            <a:off x="9702800" y="2603500"/>
            <a:ext cx="5892800" cy="406400"/>
          </a:xfrm>
          <a:prstGeom prst="rect">
            <a:avLst/>
          </a:prstGeom>
          <a:noFill/>
          <a:ln/>
        </p:spPr>
        <p:txBody>
          <a:bodyPr wrap="square" lIns="0" tIns="0" rIns="0" bIns="0" rtlCol="0" anchor="ctr"/>
          <a:lstStyle/>
          <a:p>
            <a:pPr>
              <a:lnSpc>
                <a:spcPct val="110000"/>
              </a:lnSpc>
            </a:pPr>
            <a:r>
              <a:rPr lang="en-US" sz="2400" b="1" dirty="0">
                <a:solidFill>
                  <a:srgbClr val="E2E8F0"/>
                </a:solidFill>
                <a:latin typeface="Noto Sans SC" pitchFamily="34" charset="0"/>
                <a:ea typeface="Noto Sans SC" pitchFamily="34" charset="-122"/>
                <a:cs typeface="Noto Sans SC" pitchFamily="34" charset="-120"/>
              </a:rPr>
              <a:t>Hive架构深入解析</a:t>
            </a:r>
            <a:endParaRPr lang="en-US" sz="1600" dirty="0"/>
          </a:p>
        </p:txBody>
      </p:sp>
      <p:sp>
        <p:nvSpPr>
          <p:cNvPr id="15" name="Text 13"/>
          <p:cNvSpPr/>
          <p:nvPr/>
        </p:nvSpPr>
        <p:spPr>
          <a:xfrm>
            <a:off x="9702800" y="3162300"/>
            <a:ext cx="5842000" cy="6604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深入理解元数据管理、查询处理、执行引擎和存储系统的实现机制</a:t>
            </a:r>
            <a:endParaRPr lang="en-US" sz="1600" dirty="0"/>
          </a:p>
        </p:txBody>
      </p:sp>
      <p:sp>
        <p:nvSpPr>
          <p:cNvPr id="16" name="Shape 14"/>
          <p:cNvSpPr/>
          <p:nvPr/>
        </p:nvSpPr>
        <p:spPr>
          <a:xfrm>
            <a:off x="533400" y="4533900"/>
            <a:ext cx="7391400" cy="1828800"/>
          </a:xfrm>
          <a:custGeom>
            <a:avLst/>
            <a:gdLst/>
            <a:ahLst/>
            <a:cxnLst/>
            <a:rect l="l" t="t" r="r" b="b"/>
            <a:pathLst>
              <a:path w="7391400" h="1828800">
                <a:moveTo>
                  <a:pt x="0" y="0"/>
                </a:moveTo>
                <a:lnTo>
                  <a:pt x="7391400" y="0"/>
                </a:lnTo>
                <a:lnTo>
                  <a:pt x="7391400" y="1828800"/>
                </a:lnTo>
                <a:lnTo>
                  <a:pt x="0" y="1828800"/>
                </a:lnTo>
                <a:lnTo>
                  <a:pt x="0" y="0"/>
                </a:lnTo>
                <a:close/>
              </a:path>
            </a:pathLst>
          </a:custGeom>
          <a:solidFill>
            <a:srgbClr val="4A5568">
              <a:alpha val="20000"/>
            </a:srgbClr>
          </a:solidFill>
          <a:ln/>
        </p:spPr>
        <p:txBody>
          <a:bodyPr/>
          <a:lstStyle/>
          <a:p>
            <a:endParaRPr lang="zh-CN" altLang="en-US"/>
          </a:p>
        </p:txBody>
      </p:sp>
      <p:sp>
        <p:nvSpPr>
          <p:cNvPr id="17" name="Shape 15"/>
          <p:cNvSpPr/>
          <p:nvPr/>
        </p:nvSpPr>
        <p:spPr>
          <a:xfrm>
            <a:off x="533400" y="4533900"/>
            <a:ext cx="50800" cy="1828800"/>
          </a:xfrm>
          <a:custGeom>
            <a:avLst/>
            <a:gdLst/>
            <a:ahLst/>
            <a:cxnLst/>
            <a:rect l="l" t="t" r="r" b="b"/>
            <a:pathLst>
              <a:path w="50800" h="1828800">
                <a:moveTo>
                  <a:pt x="0" y="0"/>
                </a:moveTo>
                <a:lnTo>
                  <a:pt x="50800" y="0"/>
                </a:lnTo>
                <a:lnTo>
                  <a:pt x="50800" y="1828800"/>
                </a:lnTo>
                <a:lnTo>
                  <a:pt x="0" y="1828800"/>
                </a:lnTo>
                <a:lnTo>
                  <a:pt x="0" y="0"/>
                </a:lnTo>
                <a:close/>
              </a:path>
            </a:pathLst>
          </a:custGeom>
          <a:solidFill>
            <a:srgbClr val="D69E2E"/>
          </a:solidFill>
          <a:ln/>
        </p:spPr>
        <p:txBody>
          <a:bodyPr/>
          <a:lstStyle/>
          <a:p>
            <a:endParaRPr lang="zh-CN" altLang="en-US"/>
          </a:p>
        </p:txBody>
      </p:sp>
      <p:sp>
        <p:nvSpPr>
          <p:cNvPr id="18" name="Shape 16"/>
          <p:cNvSpPr/>
          <p:nvPr/>
        </p:nvSpPr>
        <p:spPr>
          <a:xfrm>
            <a:off x="863600" y="4838700"/>
            <a:ext cx="812800" cy="812800"/>
          </a:xfrm>
          <a:custGeom>
            <a:avLst/>
            <a:gdLst/>
            <a:ahLst/>
            <a:cxnLst/>
            <a:rect l="l" t="t" r="r" b="b"/>
            <a:pathLst>
              <a:path w="812800" h="812800">
                <a:moveTo>
                  <a:pt x="101600" y="0"/>
                </a:moveTo>
                <a:lnTo>
                  <a:pt x="711200" y="0"/>
                </a:lnTo>
                <a:cubicBezTo>
                  <a:pt x="767275" y="0"/>
                  <a:pt x="812800" y="45525"/>
                  <a:pt x="812800" y="101600"/>
                </a:cubicBezTo>
                <a:lnTo>
                  <a:pt x="812800" y="711200"/>
                </a:lnTo>
                <a:cubicBezTo>
                  <a:pt x="812800" y="767275"/>
                  <a:pt x="767275" y="812800"/>
                  <a:pt x="711200" y="812800"/>
                </a:cubicBezTo>
                <a:lnTo>
                  <a:pt x="101600" y="812800"/>
                </a:lnTo>
                <a:cubicBezTo>
                  <a:pt x="45525" y="812800"/>
                  <a:pt x="0" y="767275"/>
                  <a:pt x="0" y="711200"/>
                </a:cubicBezTo>
                <a:lnTo>
                  <a:pt x="0" y="101600"/>
                </a:lnTo>
                <a:cubicBezTo>
                  <a:pt x="0" y="45525"/>
                  <a:pt x="45525" y="0"/>
                  <a:pt x="101600" y="0"/>
                </a:cubicBezTo>
                <a:close/>
              </a:path>
            </a:pathLst>
          </a:custGeom>
          <a:solidFill>
            <a:srgbClr val="D69E2E"/>
          </a:solidFill>
          <a:ln/>
        </p:spPr>
        <p:txBody>
          <a:bodyPr/>
          <a:lstStyle/>
          <a:p>
            <a:endParaRPr lang="zh-CN" altLang="en-US"/>
          </a:p>
        </p:txBody>
      </p:sp>
      <p:sp>
        <p:nvSpPr>
          <p:cNvPr id="19" name="Text 17"/>
          <p:cNvSpPr/>
          <p:nvPr/>
        </p:nvSpPr>
        <p:spPr>
          <a:xfrm>
            <a:off x="1036042" y="5016500"/>
            <a:ext cx="660400" cy="457200"/>
          </a:xfrm>
          <a:prstGeom prst="rect">
            <a:avLst/>
          </a:prstGeom>
          <a:noFill/>
          <a:ln/>
        </p:spPr>
        <p:txBody>
          <a:bodyPr wrap="square" lIns="0" tIns="0" rIns="0" bIns="0" rtlCol="0" anchor="ctr"/>
          <a:lstStyle/>
          <a:p>
            <a:pPr>
              <a:lnSpc>
                <a:spcPct val="100000"/>
              </a:lnSpc>
            </a:pPr>
            <a:r>
              <a:rPr lang="en-US" sz="3000" b="1" dirty="0">
                <a:solidFill>
                  <a:srgbClr val="1A202C"/>
                </a:solidFill>
                <a:latin typeface="Liter" pitchFamily="34" charset="0"/>
                <a:ea typeface="Liter" pitchFamily="34" charset="-122"/>
                <a:cs typeface="Liter" pitchFamily="34" charset="-120"/>
              </a:rPr>
              <a:t>03</a:t>
            </a:r>
            <a:endParaRPr lang="en-US" sz="1600" dirty="0"/>
          </a:p>
        </p:txBody>
      </p:sp>
      <p:sp>
        <p:nvSpPr>
          <p:cNvPr id="20" name="Text 18"/>
          <p:cNvSpPr/>
          <p:nvPr/>
        </p:nvSpPr>
        <p:spPr>
          <a:xfrm>
            <a:off x="1879600" y="4838700"/>
            <a:ext cx="5892800" cy="406400"/>
          </a:xfrm>
          <a:prstGeom prst="rect">
            <a:avLst/>
          </a:prstGeom>
          <a:noFill/>
          <a:ln/>
        </p:spPr>
        <p:txBody>
          <a:bodyPr wrap="square" lIns="0" tIns="0" rIns="0" bIns="0" rtlCol="0" anchor="ctr"/>
          <a:lstStyle/>
          <a:p>
            <a:pPr>
              <a:lnSpc>
                <a:spcPct val="110000"/>
              </a:lnSpc>
            </a:pPr>
            <a:r>
              <a:rPr lang="en-US" sz="2400" b="1" dirty="0">
                <a:solidFill>
                  <a:srgbClr val="E2E8F0"/>
                </a:solidFill>
                <a:latin typeface="Noto Sans SC" pitchFamily="34" charset="0"/>
                <a:ea typeface="Noto Sans SC" pitchFamily="34" charset="-122"/>
                <a:cs typeface="Noto Sans SC" pitchFamily="34" charset="-120"/>
              </a:rPr>
              <a:t>查询优化与执行引擎</a:t>
            </a:r>
            <a:endParaRPr lang="en-US" sz="1600" dirty="0"/>
          </a:p>
        </p:txBody>
      </p:sp>
      <p:sp>
        <p:nvSpPr>
          <p:cNvPr id="21" name="Text 19"/>
          <p:cNvSpPr/>
          <p:nvPr/>
        </p:nvSpPr>
        <p:spPr>
          <a:xfrm>
            <a:off x="1879600" y="5397500"/>
            <a:ext cx="5842000" cy="6604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掌握Hive查询编译优化技术和多执行引擎选择策略，提升查询性能</a:t>
            </a:r>
            <a:endParaRPr lang="en-US" sz="1600" dirty="0"/>
          </a:p>
        </p:txBody>
      </p:sp>
      <p:sp>
        <p:nvSpPr>
          <p:cNvPr id="22" name="Shape 20"/>
          <p:cNvSpPr/>
          <p:nvPr/>
        </p:nvSpPr>
        <p:spPr>
          <a:xfrm>
            <a:off x="8356600" y="4533900"/>
            <a:ext cx="7391400" cy="1828800"/>
          </a:xfrm>
          <a:custGeom>
            <a:avLst/>
            <a:gdLst/>
            <a:ahLst/>
            <a:cxnLst/>
            <a:rect l="l" t="t" r="r" b="b"/>
            <a:pathLst>
              <a:path w="7391400" h="1828800">
                <a:moveTo>
                  <a:pt x="0" y="0"/>
                </a:moveTo>
                <a:lnTo>
                  <a:pt x="7391400" y="0"/>
                </a:lnTo>
                <a:lnTo>
                  <a:pt x="7391400" y="1828800"/>
                </a:lnTo>
                <a:lnTo>
                  <a:pt x="0" y="1828800"/>
                </a:lnTo>
                <a:lnTo>
                  <a:pt x="0" y="0"/>
                </a:lnTo>
                <a:close/>
              </a:path>
            </a:pathLst>
          </a:custGeom>
          <a:solidFill>
            <a:srgbClr val="4A5568">
              <a:alpha val="20000"/>
            </a:srgbClr>
          </a:solidFill>
          <a:ln/>
        </p:spPr>
        <p:txBody>
          <a:bodyPr/>
          <a:lstStyle/>
          <a:p>
            <a:endParaRPr lang="zh-CN" altLang="en-US"/>
          </a:p>
        </p:txBody>
      </p:sp>
      <p:sp>
        <p:nvSpPr>
          <p:cNvPr id="23" name="Shape 21"/>
          <p:cNvSpPr/>
          <p:nvPr/>
        </p:nvSpPr>
        <p:spPr>
          <a:xfrm>
            <a:off x="8356600" y="4533900"/>
            <a:ext cx="50800" cy="1828800"/>
          </a:xfrm>
          <a:custGeom>
            <a:avLst/>
            <a:gdLst/>
            <a:ahLst/>
            <a:cxnLst/>
            <a:rect l="l" t="t" r="r" b="b"/>
            <a:pathLst>
              <a:path w="50800" h="1828800">
                <a:moveTo>
                  <a:pt x="0" y="0"/>
                </a:moveTo>
                <a:lnTo>
                  <a:pt x="50800" y="0"/>
                </a:lnTo>
                <a:lnTo>
                  <a:pt x="50800" y="1828800"/>
                </a:lnTo>
                <a:lnTo>
                  <a:pt x="0" y="1828800"/>
                </a:lnTo>
                <a:lnTo>
                  <a:pt x="0" y="0"/>
                </a:lnTo>
                <a:close/>
              </a:path>
            </a:pathLst>
          </a:custGeom>
          <a:solidFill>
            <a:srgbClr val="D69E2E"/>
          </a:solidFill>
          <a:ln/>
        </p:spPr>
        <p:txBody>
          <a:bodyPr/>
          <a:lstStyle/>
          <a:p>
            <a:endParaRPr lang="zh-CN" altLang="en-US"/>
          </a:p>
        </p:txBody>
      </p:sp>
      <p:sp>
        <p:nvSpPr>
          <p:cNvPr id="24" name="Shape 22"/>
          <p:cNvSpPr/>
          <p:nvPr/>
        </p:nvSpPr>
        <p:spPr>
          <a:xfrm>
            <a:off x="8686800" y="4838700"/>
            <a:ext cx="812800" cy="812800"/>
          </a:xfrm>
          <a:custGeom>
            <a:avLst/>
            <a:gdLst/>
            <a:ahLst/>
            <a:cxnLst/>
            <a:rect l="l" t="t" r="r" b="b"/>
            <a:pathLst>
              <a:path w="812800" h="812800">
                <a:moveTo>
                  <a:pt x="101600" y="0"/>
                </a:moveTo>
                <a:lnTo>
                  <a:pt x="711200" y="0"/>
                </a:lnTo>
                <a:cubicBezTo>
                  <a:pt x="767275" y="0"/>
                  <a:pt x="812800" y="45525"/>
                  <a:pt x="812800" y="101600"/>
                </a:cubicBezTo>
                <a:lnTo>
                  <a:pt x="812800" y="711200"/>
                </a:lnTo>
                <a:cubicBezTo>
                  <a:pt x="812800" y="767275"/>
                  <a:pt x="767275" y="812800"/>
                  <a:pt x="711200" y="812800"/>
                </a:cubicBezTo>
                <a:lnTo>
                  <a:pt x="101600" y="812800"/>
                </a:lnTo>
                <a:cubicBezTo>
                  <a:pt x="45525" y="812800"/>
                  <a:pt x="0" y="767275"/>
                  <a:pt x="0" y="711200"/>
                </a:cubicBezTo>
                <a:lnTo>
                  <a:pt x="0" y="101600"/>
                </a:lnTo>
                <a:cubicBezTo>
                  <a:pt x="0" y="45525"/>
                  <a:pt x="45525" y="0"/>
                  <a:pt x="101600" y="0"/>
                </a:cubicBezTo>
                <a:close/>
              </a:path>
            </a:pathLst>
          </a:custGeom>
          <a:solidFill>
            <a:srgbClr val="D69E2E"/>
          </a:solidFill>
          <a:ln/>
        </p:spPr>
        <p:txBody>
          <a:bodyPr/>
          <a:lstStyle/>
          <a:p>
            <a:endParaRPr lang="zh-CN" altLang="en-US"/>
          </a:p>
        </p:txBody>
      </p:sp>
      <p:sp>
        <p:nvSpPr>
          <p:cNvPr id="25" name="Text 23"/>
          <p:cNvSpPr/>
          <p:nvPr/>
        </p:nvSpPr>
        <p:spPr>
          <a:xfrm>
            <a:off x="8859441" y="5016500"/>
            <a:ext cx="660400" cy="457200"/>
          </a:xfrm>
          <a:prstGeom prst="rect">
            <a:avLst/>
          </a:prstGeom>
          <a:noFill/>
          <a:ln/>
        </p:spPr>
        <p:txBody>
          <a:bodyPr wrap="square" lIns="0" tIns="0" rIns="0" bIns="0" rtlCol="0" anchor="ctr"/>
          <a:lstStyle/>
          <a:p>
            <a:pPr>
              <a:lnSpc>
                <a:spcPct val="100000"/>
              </a:lnSpc>
            </a:pPr>
            <a:r>
              <a:rPr lang="en-US" sz="3000" b="1" dirty="0">
                <a:solidFill>
                  <a:srgbClr val="1A202C"/>
                </a:solidFill>
                <a:latin typeface="Liter" pitchFamily="34" charset="0"/>
                <a:ea typeface="Liter" pitchFamily="34" charset="-122"/>
                <a:cs typeface="Liter" pitchFamily="34" charset="-120"/>
              </a:rPr>
              <a:t>04</a:t>
            </a:r>
            <a:endParaRPr lang="en-US" sz="1600" dirty="0"/>
          </a:p>
        </p:txBody>
      </p:sp>
      <p:sp>
        <p:nvSpPr>
          <p:cNvPr id="26" name="Text 24"/>
          <p:cNvSpPr/>
          <p:nvPr/>
        </p:nvSpPr>
        <p:spPr>
          <a:xfrm>
            <a:off x="9702800" y="4838700"/>
            <a:ext cx="4826000" cy="406400"/>
          </a:xfrm>
          <a:prstGeom prst="rect">
            <a:avLst/>
          </a:prstGeom>
          <a:noFill/>
          <a:ln/>
        </p:spPr>
        <p:txBody>
          <a:bodyPr wrap="square" lIns="0" tIns="0" rIns="0" bIns="0" rtlCol="0" anchor="ctr"/>
          <a:lstStyle/>
          <a:p>
            <a:pPr>
              <a:lnSpc>
                <a:spcPct val="110000"/>
              </a:lnSpc>
            </a:pPr>
            <a:r>
              <a:rPr lang="en-US" sz="2400" b="1" dirty="0">
                <a:solidFill>
                  <a:srgbClr val="E2E8F0"/>
                </a:solidFill>
                <a:latin typeface="Noto Sans SC" pitchFamily="34" charset="0"/>
                <a:ea typeface="Noto Sans SC" pitchFamily="34" charset="-122"/>
                <a:cs typeface="Noto Sans SC" pitchFamily="34" charset="-120"/>
              </a:rPr>
              <a:t>数据存储与格式优化</a:t>
            </a:r>
            <a:endParaRPr lang="en-US" sz="1600" dirty="0"/>
          </a:p>
        </p:txBody>
      </p:sp>
      <p:sp>
        <p:nvSpPr>
          <p:cNvPr id="27" name="Text 25"/>
          <p:cNvSpPr/>
          <p:nvPr/>
        </p:nvSpPr>
        <p:spPr>
          <a:xfrm>
            <a:off x="9702800" y="5397500"/>
            <a:ext cx="4775200" cy="3302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理解Hive支持的文件格式、压缩算法和存储优化技术</a:t>
            </a:r>
            <a:endParaRPr lang="en-US" sz="1600" dirty="0"/>
          </a:p>
        </p:txBody>
      </p:sp>
      <p:sp>
        <p:nvSpPr>
          <p:cNvPr id="28" name="Shape 26"/>
          <p:cNvSpPr/>
          <p:nvPr/>
        </p:nvSpPr>
        <p:spPr>
          <a:xfrm>
            <a:off x="533400" y="6769100"/>
            <a:ext cx="15214600" cy="1498600"/>
          </a:xfrm>
          <a:custGeom>
            <a:avLst/>
            <a:gdLst/>
            <a:ahLst/>
            <a:cxnLst/>
            <a:rect l="l" t="t" r="r" b="b"/>
            <a:pathLst>
              <a:path w="15214600" h="1498600">
                <a:moveTo>
                  <a:pt x="0" y="0"/>
                </a:moveTo>
                <a:lnTo>
                  <a:pt x="15214600" y="0"/>
                </a:lnTo>
                <a:lnTo>
                  <a:pt x="15214600" y="1498600"/>
                </a:lnTo>
                <a:lnTo>
                  <a:pt x="0" y="1498600"/>
                </a:lnTo>
                <a:lnTo>
                  <a:pt x="0" y="0"/>
                </a:lnTo>
                <a:close/>
              </a:path>
            </a:pathLst>
          </a:custGeom>
          <a:solidFill>
            <a:srgbClr val="4A5568">
              <a:alpha val="20000"/>
            </a:srgbClr>
          </a:solidFill>
          <a:ln/>
        </p:spPr>
        <p:txBody>
          <a:bodyPr/>
          <a:lstStyle/>
          <a:p>
            <a:endParaRPr lang="zh-CN" altLang="en-US"/>
          </a:p>
        </p:txBody>
      </p:sp>
      <p:sp>
        <p:nvSpPr>
          <p:cNvPr id="29" name="Shape 27"/>
          <p:cNvSpPr/>
          <p:nvPr/>
        </p:nvSpPr>
        <p:spPr>
          <a:xfrm>
            <a:off x="533400" y="6769100"/>
            <a:ext cx="50800" cy="1498600"/>
          </a:xfrm>
          <a:custGeom>
            <a:avLst/>
            <a:gdLst/>
            <a:ahLst/>
            <a:cxnLst/>
            <a:rect l="l" t="t" r="r" b="b"/>
            <a:pathLst>
              <a:path w="50800" h="1498600">
                <a:moveTo>
                  <a:pt x="0" y="0"/>
                </a:moveTo>
                <a:lnTo>
                  <a:pt x="50800" y="0"/>
                </a:lnTo>
                <a:lnTo>
                  <a:pt x="50800" y="1498600"/>
                </a:lnTo>
                <a:lnTo>
                  <a:pt x="0" y="1498600"/>
                </a:lnTo>
                <a:lnTo>
                  <a:pt x="0" y="0"/>
                </a:lnTo>
                <a:close/>
              </a:path>
            </a:pathLst>
          </a:custGeom>
          <a:solidFill>
            <a:srgbClr val="D69E2E"/>
          </a:solidFill>
          <a:ln/>
        </p:spPr>
        <p:txBody>
          <a:bodyPr/>
          <a:lstStyle/>
          <a:p>
            <a:endParaRPr lang="zh-CN" altLang="en-US"/>
          </a:p>
        </p:txBody>
      </p:sp>
      <p:sp>
        <p:nvSpPr>
          <p:cNvPr id="30" name="Shape 28"/>
          <p:cNvSpPr/>
          <p:nvPr/>
        </p:nvSpPr>
        <p:spPr>
          <a:xfrm>
            <a:off x="863600" y="7073900"/>
            <a:ext cx="812800" cy="812800"/>
          </a:xfrm>
          <a:custGeom>
            <a:avLst/>
            <a:gdLst/>
            <a:ahLst/>
            <a:cxnLst/>
            <a:rect l="l" t="t" r="r" b="b"/>
            <a:pathLst>
              <a:path w="812800" h="812800">
                <a:moveTo>
                  <a:pt x="101600" y="0"/>
                </a:moveTo>
                <a:lnTo>
                  <a:pt x="711200" y="0"/>
                </a:lnTo>
                <a:cubicBezTo>
                  <a:pt x="767275" y="0"/>
                  <a:pt x="812800" y="45525"/>
                  <a:pt x="812800" y="101600"/>
                </a:cubicBezTo>
                <a:lnTo>
                  <a:pt x="812800" y="711200"/>
                </a:lnTo>
                <a:cubicBezTo>
                  <a:pt x="812800" y="767275"/>
                  <a:pt x="767275" y="812800"/>
                  <a:pt x="711200" y="812800"/>
                </a:cubicBezTo>
                <a:lnTo>
                  <a:pt x="101600" y="812800"/>
                </a:lnTo>
                <a:cubicBezTo>
                  <a:pt x="45525" y="812800"/>
                  <a:pt x="0" y="767275"/>
                  <a:pt x="0" y="711200"/>
                </a:cubicBezTo>
                <a:lnTo>
                  <a:pt x="0" y="101600"/>
                </a:lnTo>
                <a:cubicBezTo>
                  <a:pt x="0" y="45525"/>
                  <a:pt x="45525" y="0"/>
                  <a:pt x="101600" y="0"/>
                </a:cubicBezTo>
                <a:close/>
              </a:path>
            </a:pathLst>
          </a:custGeom>
          <a:solidFill>
            <a:srgbClr val="D69E2E"/>
          </a:solidFill>
          <a:ln/>
        </p:spPr>
        <p:txBody>
          <a:bodyPr/>
          <a:lstStyle/>
          <a:p>
            <a:endParaRPr lang="zh-CN" altLang="en-US"/>
          </a:p>
        </p:txBody>
      </p:sp>
      <p:sp>
        <p:nvSpPr>
          <p:cNvPr id="31" name="Text 29"/>
          <p:cNvSpPr/>
          <p:nvPr/>
        </p:nvSpPr>
        <p:spPr>
          <a:xfrm>
            <a:off x="1038721" y="7251700"/>
            <a:ext cx="647700" cy="457200"/>
          </a:xfrm>
          <a:prstGeom prst="rect">
            <a:avLst/>
          </a:prstGeom>
          <a:noFill/>
          <a:ln/>
        </p:spPr>
        <p:txBody>
          <a:bodyPr wrap="square" lIns="0" tIns="0" rIns="0" bIns="0" rtlCol="0" anchor="ctr"/>
          <a:lstStyle/>
          <a:p>
            <a:pPr>
              <a:lnSpc>
                <a:spcPct val="100000"/>
              </a:lnSpc>
            </a:pPr>
            <a:r>
              <a:rPr lang="en-US" sz="3000" b="1" dirty="0">
                <a:solidFill>
                  <a:srgbClr val="1A202C"/>
                </a:solidFill>
                <a:latin typeface="Liter" pitchFamily="34" charset="0"/>
                <a:ea typeface="Liter" pitchFamily="34" charset="-122"/>
                <a:cs typeface="Liter" pitchFamily="34" charset="-120"/>
              </a:rPr>
              <a:t>05</a:t>
            </a:r>
            <a:endParaRPr lang="en-US" sz="1600" dirty="0"/>
          </a:p>
        </p:txBody>
      </p:sp>
      <p:sp>
        <p:nvSpPr>
          <p:cNvPr id="32" name="Text 30"/>
          <p:cNvSpPr/>
          <p:nvPr/>
        </p:nvSpPr>
        <p:spPr>
          <a:xfrm>
            <a:off x="1879600" y="7073900"/>
            <a:ext cx="8077200" cy="406400"/>
          </a:xfrm>
          <a:prstGeom prst="rect">
            <a:avLst/>
          </a:prstGeom>
          <a:noFill/>
          <a:ln/>
        </p:spPr>
        <p:txBody>
          <a:bodyPr wrap="square" lIns="0" tIns="0" rIns="0" bIns="0" rtlCol="0" anchor="ctr"/>
          <a:lstStyle/>
          <a:p>
            <a:pPr>
              <a:lnSpc>
                <a:spcPct val="110000"/>
              </a:lnSpc>
            </a:pPr>
            <a:r>
              <a:rPr lang="en-US" sz="2400" b="1" dirty="0">
                <a:solidFill>
                  <a:srgbClr val="E2E8F0"/>
                </a:solidFill>
                <a:latin typeface="Noto Sans SC" pitchFamily="34" charset="0"/>
                <a:ea typeface="Noto Sans SC" pitchFamily="34" charset="-122"/>
                <a:cs typeface="Noto Sans SC" pitchFamily="34" charset="-120"/>
              </a:rPr>
              <a:t>企业级应用与实践</a:t>
            </a:r>
            <a:endParaRPr lang="en-US" sz="1600" dirty="0"/>
          </a:p>
        </p:txBody>
      </p:sp>
      <p:sp>
        <p:nvSpPr>
          <p:cNvPr id="33" name="Text 31"/>
          <p:cNvSpPr/>
          <p:nvPr/>
        </p:nvSpPr>
        <p:spPr>
          <a:xfrm>
            <a:off x="1879600" y="7632700"/>
            <a:ext cx="8026400" cy="3302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学习Hive在实际生产环境中的部署模式、性能调优和最佳实践，构建高可用数据仓库平台</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02C"/>
        </a:solidFill>
        <a:effectLst/>
      </p:bgPr>
    </p:bg>
    <p:spTree>
      <p:nvGrpSpPr>
        <p:cNvPr id="1" name=""/>
        <p:cNvGrpSpPr/>
        <p:nvPr/>
      </p:nvGrpSpPr>
      <p:grpSpPr>
        <a:xfrm>
          <a:off x="0" y="0"/>
          <a:ext cx="0" cy="0"/>
          <a:chOff x="0" y="0"/>
          <a:chExt cx="0" cy="0"/>
        </a:xfrm>
      </p:grpSpPr>
      <p:pic>
        <p:nvPicPr>
          <p:cNvPr id="2" name="Image 0" descr="https://kimi-web-img.moonshot.cn/img/www.skubiq.com/ac5cea5c5d15de04a1c9db87a0e682d3d5de7b06.webp"/>
          <p:cNvPicPr>
            <a:picLocks noChangeAspect="1"/>
          </p:cNvPicPr>
          <p:nvPr/>
        </p:nvPicPr>
        <p:blipFill>
          <a:blip r:embed="rId3">
            <a:alphaModFix amt="30000"/>
          </a:blip>
          <a:srcRect/>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flip="none" rotWithShape="1">
            <a:gsLst>
              <a:gs pos="0">
                <a:srgbClr val="1A202C"/>
              </a:gs>
              <a:gs pos="50000">
                <a:srgbClr val="1A202C">
                  <a:alpha val="90000"/>
                </a:srgbClr>
              </a:gs>
              <a:gs pos="100000">
                <a:srgbClr val="000000">
                  <a:alpha val="0"/>
                </a:srgbClr>
              </a:gs>
            </a:gsLst>
            <a:lin ang="0" scaled="1"/>
          </a:gradFill>
          <a:ln/>
        </p:spPr>
        <p:txBody>
          <a:bodyPr/>
          <a:lstStyle/>
          <a:p>
            <a:endParaRPr lang="zh-CN" altLang="en-US"/>
          </a:p>
        </p:txBody>
      </p:sp>
      <p:sp>
        <p:nvSpPr>
          <p:cNvPr id="4" name="Shape 1"/>
          <p:cNvSpPr/>
          <p:nvPr/>
        </p:nvSpPr>
        <p:spPr>
          <a:xfrm>
            <a:off x="508000" y="2116138"/>
            <a:ext cx="2514600" cy="711200"/>
          </a:xfrm>
          <a:custGeom>
            <a:avLst/>
            <a:gdLst/>
            <a:ahLst/>
            <a:cxnLst/>
            <a:rect l="l" t="t" r="r" b="b"/>
            <a:pathLst>
              <a:path w="2514600" h="711200">
                <a:moveTo>
                  <a:pt x="101602" y="0"/>
                </a:moveTo>
                <a:lnTo>
                  <a:pt x="2412998" y="0"/>
                </a:lnTo>
                <a:cubicBezTo>
                  <a:pt x="2469111" y="0"/>
                  <a:pt x="2514600" y="45489"/>
                  <a:pt x="2514600" y="101602"/>
                </a:cubicBezTo>
                <a:lnTo>
                  <a:pt x="2514600" y="609598"/>
                </a:lnTo>
                <a:cubicBezTo>
                  <a:pt x="2514600" y="665711"/>
                  <a:pt x="2469111" y="711200"/>
                  <a:pt x="2412998" y="711200"/>
                </a:cubicBezTo>
                <a:lnTo>
                  <a:pt x="101602" y="711200"/>
                </a:lnTo>
                <a:cubicBezTo>
                  <a:pt x="45489" y="711200"/>
                  <a:pt x="0" y="665711"/>
                  <a:pt x="0" y="609598"/>
                </a:cubicBezTo>
                <a:lnTo>
                  <a:pt x="0" y="101602"/>
                </a:lnTo>
                <a:cubicBezTo>
                  <a:pt x="0" y="45526"/>
                  <a:pt x="45526" y="0"/>
                  <a:pt x="101602" y="0"/>
                </a:cubicBezTo>
                <a:close/>
              </a:path>
            </a:pathLst>
          </a:custGeom>
          <a:solidFill>
            <a:srgbClr val="D69E2E"/>
          </a:solidFill>
          <a:ln/>
        </p:spPr>
        <p:txBody>
          <a:bodyPr/>
          <a:lstStyle/>
          <a:p>
            <a:endParaRPr lang="zh-CN" altLang="en-US"/>
          </a:p>
        </p:txBody>
      </p:sp>
      <p:sp>
        <p:nvSpPr>
          <p:cNvPr id="5" name="Text 2"/>
          <p:cNvSpPr/>
          <p:nvPr/>
        </p:nvSpPr>
        <p:spPr>
          <a:xfrm>
            <a:off x="812800" y="2268538"/>
            <a:ext cx="2057400" cy="406400"/>
          </a:xfrm>
          <a:prstGeom prst="rect">
            <a:avLst/>
          </a:prstGeom>
          <a:noFill/>
          <a:ln/>
        </p:spPr>
        <p:txBody>
          <a:bodyPr wrap="square" lIns="0" tIns="0" rIns="0" bIns="0" rtlCol="0" anchor="ctr"/>
          <a:lstStyle/>
          <a:p>
            <a:pPr>
              <a:lnSpc>
                <a:spcPct val="110000"/>
              </a:lnSpc>
            </a:pPr>
            <a:r>
              <a:rPr lang="en-US" sz="2400" b="1" kern="0" spc="120" dirty="0">
                <a:solidFill>
                  <a:srgbClr val="1A202C"/>
                </a:solidFill>
                <a:latin typeface="Liter" pitchFamily="34" charset="0"/>
                <a:ea typeface="Liter" pitchFamily="34" charset="-122"/>
                <a:cs typeface="Liter" pitchFamily="34" charset="-120"/>
              </a:rPr>
              <a:t>CHAPTER 01</a:t>
            </a:r>
            <a:endParaRPr lang="en-US" sz="1600" dirty="0"/>
          </a:p>
        </p:txBody>
      </p:sp>
      <p:sp>
        <p:nvSpPr>
          <p:cNvPr id="6" name="Text 3"/>
          <p:cNvSpPr/>
          <p:nvPr/>
        </p:nvSpPr>
        <p:spPr>
          <a:xfrm>
            <a:off x="508000" y="3233738"/>
            <a:ext cx="7696200" cy="2286000"/>
          </a:xfrm>
          <a:prstGeom prst="rect">
            <a:avLst/>
          </a:prstGeom>
          <a:noFill/>
          <a:ln/>
        </p:spPr>
        <p:txBody>
          <a:bodyPr wrap="square" lIns="0" tIns="0" rIns="0" bIns="0" rtlCol="0" anchor="ctr"/>
          <a:lstStyle/>
          <a:p>
            <a:pPr>
              <a:lnSpc>
                <a:spcPct val="100000"/>
              </a:lnSpc>
            </a:pPr>
            <a:r>
              <a:rPr lang="en-US" sz="7200" b="1" dirty="0">
                <a:solidFill>
                  <a:srgbClr val="E2E8F0"/>
                </a:solidFill>
                <a:latin typeface="Noto Sans SC" pitchFamily="34" charset="0"/>
                <a:ea typeface="Noto Sans SC" pitchFamily="34" charset="-122"/>
                <a:cs typeface="Noto Sans SC" pitchFamily="34" charset="-120"/>
              </a:rPr>
              <a:t>Hive概览与</a:t>
            </a:r>
            <a:endParaRPr lang="en-US" sz="1600" dirty="0"/>
          </a:p>
          <a:p>
            <a:pPr>
              <a:lnSpc>
                <a:spcPct val="100000"/>
              </a:lnSpc>
            </a:pPr>
            <a:r>
              <a:rPr lang="en-US" sz="7200" b="1" dirty="0">
                <a:solidFill>
                  <a:srgbClr val="E2E8F0"/>
                </a:solidFill>
                <a:latin typeface="Noto Sans SC" pitchFamily="34" charset="0"/>
                <a:ea typeface="Noto Sans SC" pitchFamily="34" charset="-122"/>
                <a:cs typeface="Noto Sans SC" pitchFamily="34" charset="-120"/>
              </a:rPr>
              <a:t>核心概念</a:t>
            </a:r>
            <a:endParaRPr lang="en-US" sz="1600" dirty="0"/>
          </a:p>
        </p:txBody>
      </p:sp>
      <p:sp>
        <p:nvSpPr>
          <p:cNvPr id="7" name="Shape 4"/>
          <p:cNvSpPr/>
          <p:nvPr/>
        </p:nvSpPr>
        <p:spPr>
          <a:xfrm>
            <a:off x="508000" y="5926138"/>
            <a:ext cx="2032000" cy="76200"/>
          </a:xfrm>
          <a:custGeom>
            <a:avLst/>
            <a:gdLst/>
            <a:ahLst/>
            <a:cxnLst/>
            <a:rect l="l" t="t" r="r" b="b"/>
            <a:pathLst>
              <a:path w="2032000" h="76200">
                <a:moveTo>
                  <a:pt x="0" y="0"/>
                </a:moveTo>
                <a:lnTo>
                  <a:pt x="2032000" y="0"/>
                </a:lnTo>
                <a:lnTo>
                  <a:pt x="2032000" y="76200"/>
                </a:lnTo>
                <a:lnTo>
                  <a:pt x="0" y="76200"/>
                </a:lnTo>
                <a:lnTo>
                  <a:pt x="0" y="0"/>
                </a:lnTo>
                <a:close/>
              </a:path>
            </a:pathLst>
          </a:custGeom>
          <a:solidFill>
            <a:srgbClr val="D69E2E"/>
          </a:solidFill>
          <a:ln/>
        </p:spPr>
        <p:txBody>
          <a:bodyPr/>
          <a:lstStyle/>
          <a:p>
            <a:endParaRPr lang="zh-CN" altLang="en-US"/>
          </a:p>
        </p:txBody>
      </p:sp>
      <p:sp>
        <p:nvSpPr>
          <p:cNvPr id="8" name="Text 5"/>
          <p:cNvSpPr/>
          <p:nvPr/>
        </p:nvSpPr>
        <p:spPr>
          <a:xfrm>
            <a:off x="508000" y="6408738"/>
            <a:ext cx="7429500" cy="622300"/>
          </a:xfrm>
          <a:prstGeom prst="rect">
            <a:avLst/>
          </a:prstGeom>
          <a:noFill/>
          <a:ln/>
        </p:spPr>
        <p:txBody>
          <a:bodyPr wrap="square" lIns="0" tIns="0" rIns="0" bIns="0" rtlCol="0" anchor="ctr"/>
          <a:lstStyle/>
          <a:p>
            <a:pPr>
              <a:lnSpc>
                <a:spcPct val="140000"/>
              </a:lnSpc>
            </a:pPr>
            <a:r>
              <a:rPr lang="en-US" sz="3000" dirty="0">
                <a:solidFill>
                  <a:srgbClr val="A0AEC0"/>
                </a:solidFill>
                <a:latin typeface="MiSans" pitchFamily="34" charset="0"/>
                <a:ea typeface="MiSans" pitchFamily="34" charset="-122"/>
                <a:cs typeface="MiSans" pitchFamily="34" charset="-120"/>
              </a:rPr>
              <a:t>理解Hive的设计理念、技术优势和基础架构</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508000" y="508000"/>
            <a:ext cx="15544800" cy="609600"/>
          </a:xfrm>
          <a:prstGeom prst="rect">
            <a:avLst/>
          </a:prstGeom>
          <a:noFill/>
          <a:ln/>
        </p:spPr>
        <p:txBody>
          <a:bodyPr wrap="square" lIns="0" tIns="0" rIns="0" bIns="0" rtlCol="0" anchor="ctr"/>
          <a:lstStyle/>
          <a:p>
            <a:pPr>
              <a:lnSpc>
                <a:spcPct val="80000"/>
              </a:lnSpc>
            </a:pPr>
            <a:r>
              <a:rPr lang="en-US" sz="4800" b="1" dirty="0">
                <a:solidFill>
                  <a:srgbClr val="E2E8F0"/>
                </a:solidFill>
                <a:latin typeface="Noto Sans SC" pitchFamily="34" charset="0"/>
                <a:ea typeface="Noto Sans SC" pitchFamily="34" charset="-122"/>
                <a:cs typeface="Noto Sans SC" pitchFamily="34" charset="-120"/>
              </a:rPr>
              <a:t>学习目标与知识体系</a:t>
            </a:r>
            <a:endParaRPr lang="en-US" sz="1600" dirty="0"/>
          </a:p>
        </p:txBody>
      </p:sp>
      <p:sp>
        <p:nvSpPr>
          <p:cNvPr id="3" name="Shape 1"/>
          <p:cNvSpPr/>
          <p:nvPr/>
        </p:nvSpPr>
        <p:spPr>
          <a:xfrm>
            <a:off x="508000" y="1270000"/>
            <a:ext cx="1422400" cy="50800"/>
          </a:xfrm>
          <a:custGeom>
            <a:avLst/>
            <a:gdLst/>
            <a:ahLst/>
            <a:cxnLst/>
            <a:rect l="l" t="t" r="r" b="b"/>
            <a:pathLst>
              <a:path w="1422400" h="50800">
                <a:moveTo>
                  <a:pt x="0" y="0"/>
                </a:moveTo>
                <a:lnTo>
                  <a:pt x="1422400" y="0"/>
                </a:lnTo>
                <a:lnTo>
                  <a:pt x="1422400" y="50800"/>
                </a:lnTo>
                <a:lnTo>
                  <a:pt x="0" y="50800"/>
                </a:lnTo>
                <a:lnTo>
                  <a:pt x="0" y="0"/>
                </a:lnTo>
                <a:close/>
              </a:path>
            </a:pathLst>
          </a:custGeom>
          <a:solidFill>
            <a:srgbClr val="D69E2E"/>
          </a:solidFill>
          <a:ln/>
        </p:spPr>
        <p:txBody>
          <a:bodyPr/>
          <a:lstStyle/>
          <a:p>
            <a:endParaRPr lang="zh-CN" altLang="en-US"/>
          </a:p>
        </p:txBody>
      </p:sp>
      <p:sp>
        <p:nvSpPr>
          <p:cNvPr id="4" name="Shape 2"/>
          <p:cNvSpPr/>
          <p:nvPr/>
        </p:nvSpPr>
        <p:spPr>
          <a:xfrm>
            <a:off x="533400" y="1727200"/>
            <a:ext cx="50800" cy="1092200"/>
          </a:xfrm>
          <a:custGeom>
            <a:avLst/>
            <a:gdLst/>
            <a:ahLst/>
            <a:cxnLst/>
            <a:rect l="l" t="t" r="r" b="b"/>
            <a:pathLst>
              <a:path w="50800" h="1092200">
                <a:moveTo>
                  <a:pt x="0" y="0"/>
                </a:moveTo>
                <a:lnTo>
                  <a:pt x="50800" y="0"/>
                </a:lnTo>
                <a:lnTo>
                  <a:pt x="50800" y="1092200"/>
                </a:lnTo>
                <a:lnTo>
                  <a:pt x="0" y="1092200"/>
                </a:lnTo>
                <a:lnTo>
                  <a:pt x="0" y="0"/>
                </a:lnTo>
                <a:close/>
              </a:path>
            </a:pathLst>
          </a:custGeom>
          <a:solidFill>
            <a:srgbClr val="D69E2E"/>
          </a:solidFill>
          <a:ln/>
        </p:spPr>
        <p:txBody>
          <a:bodyPr/>
          <a:lstStyle/>
          <a:p>
            <a:endParaRPr lang="zh-CN" altLang="en-US"/>
          </a:p>
        </p:txBody>
      </p:sp>
      <p:sp>
        <p:nvSpPr>
          <p:cNvPr id="5" name="Shape 3"/>
          <p:cNvSpPr/>
          <p:nvPr/>
        </p:nvSpPr>
        <p:spPr>
          <a:xfrm>
            <a:off x="895350" y="1930400"/>
            <a:ext cx="254000" cy="254000"/>
          </a:xfrm>
          <a:custGeom>
            <a:avLst/>
            <a:gdLst/>
            <a:ahLst/>
            <a:cxnLst/>
            <a:rect l="l" t="t" r="r" b="b"/>
            <a:pathLst>
              <a:path w="254000" h="254000">
                <a:moveTo>
                  <a:pt x="59531" y="27781"/>
                </a:moveTo>
                <a:cubicBezTo>
                  <a:pt x="59531" y="12452"/>
                  <a:pt x="71983" y="0"/>
                  <a:pt x="87313" y="0"/>
                </a:cubicBezTo>
                <a:lnTo>
                  <a:pt x="99219" y="0"/>
                </a:lnTo>
                <a:cubicBezTo>
                  <a:pt x="108000" y="0"/>
                  <a:pt x="115094" y="7094"/>
                  <a:pt x="115094" y="15875"/>
                </a:cubicBezTo>
                <a:lnTo>
                  <a:pt x="115094" y="238125"/>
                </a:lnTo>
                <a:cubicBezTo>
                  <a:pt x="115094" y="246906"/>
                  <a:pt x="108000" y="254000"/>
                  <a:pt x="99219" y="254000"/>
                </a:cubicBezTo>
                <a:lnTo>
                  <a:pt x="83344" y="254000"/>
                </a:lnTo>
                <a:cubicBezTo>
                  <a:pt x="68560" y="254000"/>
                  <a:pt x="56108" y="243880"/>
                  <a:pt x="52586" y="230188"/>
                </a:cubicBezTo>
                <a:cubicBezTo>
                  <a:pt x="52239" y="230188"/>
                  <a:pt x="51941" y="230188"/>
                  <a:pt x="51594" y="230188"/>
                </a:cubicBezTo>
                <a:cubicBezTo>
                  <a:pt x="29666" y="230188"/>
                  <a:pt x="11906" y="212427"/>
                  <a:pt x="11906" y="190500"/>
                </a:cubicBezTo>
                <a:cubicBezTo>
                  <a:pt x="11906" y="181570"/>
                  <a:pt x="14883" y="173335"/>
                  <a:pt x="19844" y="166688"/>
                </a:cubicBezTo>
                <a:cubicBezTo>
                  <a:pt x="10220" y="159445"/>
                  <a:pt x="3969" y="147935"/>
                  <a:pt x="3969" y="134938"/>
                </a:cubicBezTo>
                <a:cubicBezTo>
                  <a:pt x="3969" y="119608"/>
                  <a:pt x="12700" y="106263"/>
                  <a:pt x="25400" y="99665"/>
                </a:cubicBezTo>
                <a:cubicBezTo>
                  <a:pt x="21878" y="93712"/>
                  <a:pt x="19844" y="86767"/>
                  <a:pt x="19844" y="79375"/>
                </a:cubicBezTo>
                <a:cubicBezTo>
                  <a:pt x="19844" y="57448"/>
                  <a:pt x="37604" y="39688"/>
                  <a:pt x="59531" y="39688"/>
                </a:cubicBezTo>
                <a:lnTo>
                  <a:pt x="59531" y="27781"/>
                </a:lnTo>
                <a:close/>
                <a:moveTo>
                  <a:pt x="194469" y="27781"/>
                </a:moveTo>
                <a:lnTo>
                  <a:pt x="194469" y="39688"/>
                </a:lnTo>
                <a:cubicBezTo>
                  <a:pt x="216396" y="39688"/>
                  <a:pt x="234156" y="57448"/>
                  <a:pt x="234156" y="79375"/>
                </a:cubicBezTo>
                <a:cubicBezTo>
                  <a:pt x="234156" y="86816"/>
                  <a:pt x="232122" y="93762"/>
                  <a:pt x="228600" y="99665"/>
                </a:cubicBezTo>
                <a:cubicBezTo>
                  <a:pt x="241350" y="106263"/>
                  <a:pt x="250031" y="119559"/>
                  <a:pt x="250031" y="134938"/>
                </a:cubicBezTo>
                <a:cubicBezTo>
                  <a:pt x="250031" y="147935"/>
                  <a:pt x="243780" y="159445"/>
                  <a:pt x="234156" y="166688"/>
                </a:cubicBezTo>
                <a:cubicBezTo>
                  <a:pt x="239117" y="173335"/>
                  <a:pt x="242094" y="181570"/>
                  <a:pt x="242094" y="190500"/>
                </a:cubicBezTo>
                <a:cubicBezTo>
                  <a:pt x="242094" y="212427"/>
                  <a:pt x="224334" y="230188"/>
                  <a:pt x="202406" y="230188"/>
                </a:cubicBezTo>
                <a:cubicBezTo>
                  <a:pt x="202059" y="230188"/>
                  <a:pt x="201761" y="230188"/>
                  <a:pt x="201414" y="230188"/>
                </a:cubicBezTo>
                <a:cubicBezTo>
                  <a:pt x="197892" y="243880"/>
                  <a:pt x="185440" y="254000"/>
                  <a:pt x="170656" y="254000"/>
                </a:cubicBezTo>
                <a:lnTo>
                  <a:pt x="154781" y="254000"/>
                </a:lnTo>
                <a:cubicBezTo>
                  <a:pt x="146000" y="254000"/>
                  <a:pt x="138906" y="246906"/>
                  <a:pt x="138906" y="238125"/>
                </a:cubicBezTo>
                <a:lnTo>
                  <a:pt x="138906" y="15875"/>
                </a:lnTo>
                <a:cubicBezTo>
                  <a:pt x="138906" y="7094"/>
                  <a:pt x="146000" y="0"/>
                  <a:pt x="154781" y="0"/>
                </a:cubicBezTo>
                <a:lnTo>
                  <a:pt x="166688" y="0"/>
                </a:lnTo>
                <a:cubicBezTo>
                  <a:pt x="182017" y="0"/>
                  <a:pt x="194469" y="12452"/>
                  <a:pt x="194469" y="27781"/>
                </a:cubicBezTo>
                <a:close/>
              </a:path>
            </a:pathLst>
          </a:custGeom>
          <a:solidFill>
            <a:srgbClr val="D69E2E"/>
          </a:solidFill>
          <a:ln/>
        </p:spPr>
        <p:txBody>
          <a:bodyPr/>
          <a:lstStyle/>
          <a:p>
            <a:endParaRPr lang="zh-CN" altLang="en-US"/>
          </a:p>
        </p:txBody>
      </p:sp>
      <p:sp>
        <p:nvSpPr>
          <p:cNvPr id="6" name="Text 4"/>
          <p:cNvSpPr/>
          <p:nvPr/>
        </p:nvSpPr>
        <p:spPr>
          <a:xfrm>
            <a:off x="1333500" y="1879600"/>
            <a:ext cx="16510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Noto Sans SC" pitchFamily="34" charset="0"/>
                <a:ea typeface="Noto Sans SC" pitchFamily="34" charset="-122"/>
                <a:cs typeface="Noto Sans SC" pitchFamily="34" charset="-120"/>
              </a:rPr>
              <a:t>理解设计原理</a:t>
            </a:r>
            <a:endParaRPr lang="en-US" sz="1600" dirty="0"/>
          </a:p>
        </p:txBody>
      </p:sp>
      <p:sp>
        <p:nvSpPr>
          <p:cNvPr id="7" name="Text 5"/>
          <p:cNvSpPr/>
          <p:nvPr/>
        </p:nvSpPr>
        <p:spPr>
          <a:xfrm>
            <a:off x="863600" y="2336800"/>
            <a:ext cx="7162800" cy="3302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掌握Hive产生的历史背景、设计动机以及相对于传统数据库的技术特点</a:t>
            </a:r>
            <a:endParaRPr lang="en-US" sz="1600" dirty="0"/>
          </a:p>
        </p:txBody>
      </p:sp>
      <p:sp>
        <p:nvSpPr>
          <p:cNvPr id="8" name="Shape 6"/>
          <p:cNvSpPr/>
          <p:nvPr/>
        </p:nvSpPr>
        <p:spPr>
          <a:xfrm>
            <a:off x="533400" y="3022600"/>
            <a:ext cx="50800" cy="1092200"/>
          </a:xfrm>
          <a:custGeom>
            <a:avLst/>
            <a:gdLst/>
            <a:ahLst/>
            <a:cxnLst/>
            <a:rect l="l" t="t" r="r" b="b"/>
            <a:pathLst>
              <a:path w="50800" h="1092200">
                <a:moveTo>
                  <a:pt x="0" y="0"/>
                </a:moveTo>
                <a:lnTo>
                  <a:pt x="50800" y="0"/>
                </a:lnTo>
                <a:lnTo>
                  <a:pt x="50800" y="1092200"/>
                </a:lnTo>
                <a:lnTo>
                  <a:pt x="0" y="1092200"/>
                </a:lnTo>
                <a:lnTo>
                  <a:pt x="0" y="0"/>
                </a:lnTo>
                <a:close/>
              </a:path>
            </a:pathLst>
          </a:custGeom>
          <a:solidFill>
            <a:srgbClr val="D69E2E"/>
          </a:solidFill>
          <a:ln/>
        </p:spPr>
        <p:txBody>
          <a:bodyPr/>
          <a:lstStyle/>
          <a:p>
            <a:endParaRPr lang="zh-CN" altLang="en-US"/>
          </a:p>
        </p:txBody>
      </p:sp>
      <p:sp>
        <p:nvSpPr>
          <p:cNvPr id="9" name="Shape 7"/>
          <p:cNvSpPr/>
          <p:nvPr/>
        </p:nvSpPr>
        <p:spPr>
          <a:xfrm>
            <a:off x="895350" y="3225800"/>
            <a:ext cx="254000" cy="254000"/>
          </a:xfrm>
          <a:custGeom>
            <a:avLst/>
            <a:gdLst/>
            <a:ahLst/>
            <a:cxnLst/>
            <a:rect l="l" t="t" r="r" b="b"/>
            <a:pathLst>
              <a:path w="254000" h="254000">
                <a:moveTo>
                  <a:pt x="95250" y="31750"/>
                </a:moveTo>
                <a:cubicBezTo>
                  <a:pt x="95250" y="22969"/>
                  <a:pt x="102344" y="15875"/>
                  <a:pt x="111125" y="15875"/>
                </a:cubicBezTo>
                <a:lnTo>
                  <a:pt x="142875" y="15875"/>
                </a:lnTo>
                <a:cubicBezTo>
                  <a:pt x="151656" y="15875"/>
                  <a:pt x="158750" y="22969"/>
                  <a:pt x="158750" y="31750"/>
                </a:cubicBezTo>
                <a:lnTo>
                  <a:pt x="158750" y="63500"/>
                </a:lnTo>
                <a:cubicBezTo>
                  <a:pt x="158750" y="72281"/>
                  <a:pt x="151656" y="79375"/>
                  <a:pt x="142875" y="79375"/>
                </a:cubicBezTo>
                <a:lnTo>
                  <a:pt x="138906" y="79375"/>
                </a:lnTo>
                <a:lnTo>
                  <a:pt x="138906" y="111125"/>
                </a:lnTo>
                <a:lnTo>
                  <a:pt x="198438" y="111125"/>
                </a:lnTo>
                <a:cubicBezTo>
                  <a:pt x="218182" y="111125"/>
                  <a:pt x="234156" y="127099"/>
                  <a:pt x="234156" y="146844"/>
                </a:cubicBezTo>
                <a:lnTo>
                  <a:pt x="234156" y="174625"/>
                </a:lnTo>
                <a:lnTo>
                  <a:pt x="238125" y="174625"/>
                </a:lnTo>
                <a:cubicBezTo>
                  <a:pt x="246906" y="174625"/>
                  <a:pt x="254000" y="181719"/>
                  <a:pt x="254000" y="190500"/>
                </a:cubicBezTo>
                <a:lnTo>
                  <a:pt x="254000" y="222250"/>
                </a:lnTo>
                <a:cubicBezTo>
                  <a:pt x="254000" y="231031"/>
                  <a:pt x="246906" y="238125"/>
                  <a:pt x="238125" y="238125"/>
                </a:cubicBezTo>
                <a:lnTo>
                  <a:pt x="206375" y="238125"/>
                </a:lnTo>
                <a:cubicBezTo>
                  <a:pt x="197594" y="238125"/>
                  <a:pt x="190500" y="231031"/>
                  <a:pt x="190500" y="222250"/>
                </a:cubicBezTo>
                <a:lnTo>
                  <a:pt x="190500" y="190500"/>
                </a:lnTo>
                <a:cubicBezTo>
                  <a:pt x="190500" y="181719"/>
                  <a:pt x="197594" y="174625"/>
                  <a:pt x="206375" y="174625"/>
                </a:cubicBezTo>
                <a:lnTo>
                  <a:pt x="210344" y="174625"/>
                </a:lnTo>
                <a:lnTo>
                  <a:pt x="210344" y="146844"/>
                </a:lnTo>
                <a:cubicBezTo>
                  <a:pt x="210344" y="140246"/>
                  <a:pt x="205036" y="134938"/>
                  <a:pt x="198438" y="134938"/>
                </a:cubicBezTo>
                <a:lnTo>
                  <a:pt x="138906" y="134938"/>
                </a:lnTo>
                <a:lnTo>
                  <a:pt x="138906" y="174625"/>
                </a:lnTo>
                <a:lnTo>
                  <a:pt x="142875" y="174625"/>
                </a:lnTo>
                <a:cubicBezTo>
                  <a:pt x="151656" y="174625"/>
                  <a:pt x="158750" y="181719"/>
                  <a:pt x="158750" y="190500"/>
                </a:cubicBezTo>
                <a:lnTo>
                  <a:pt x="158750" y="222250"/>
                </a:lnTo>
                <a:cubicBezTo>
                  <a:pt x="158750" y="231031"/>
                  <a:pt x="151656" y="238125"/>
                  <a:pt x="142875" y="238125"/>
                </a:cubicBezTo>
                <a:lnTo>
                  <a:pt x="111125" y="238125"/>
                </a:lnTo>
                <a:cubicBezTo>
                  <a:pt x="102344" y="238125"/>
                  <a:pt x="95250" y="231031"/>
                  <a:pt x="95250" y="222250"/>
                </a:cubicBezTo>
                <a:lnTo>
                  <a:pt x="95250" y="190500"/>
                </a:lnTo>
                <a:cubicBezTo>
                  <a:pt x="95250" y="181719"/>
                  <a:pt x="102344" y="174625"/>
                  <a:pt x="111125" y="174625"/>
                </a:cubicBezTo>
                <a:lnTo>
                  <a:pt x="115094" y="174625"/>
                </a:lnTo>
                <a:lnTo>
                  <a:pt x="115094" y="134938"/>
                </a:lnTo>
                <a:lnTo>
                  <a:pt x="55563" y="134938"/>
                </a:lnTo>
                <a:cubicBezTo>
                  <a:pt x="48964" y="134938"/>
                  <a:pt x="43656" y="140246"/>
                  <a:pt x="43656" y="146844"/>
                </a:cubicBezTo>
                <a:lnTo>
                  <a:pt x="43656" y="174625"/>
                </a:lnTo>
                <a:lnTo>
                  <a:pt x="47625" y="174625"/>
                </a:lnTo>
                <a:cubicBezTo>
                  <a:pt x="56406" y="174625"/>
                  <a:pt x="63500" y="181719"/>
                  <a:pt x="63500" y="190500"/>
                </a:cubicBezTo>
                <a:lnTo>
                  <a:pt x="63500" y="222250"/>
                </a:lnTo>
                <a:cubicBezTo>
                  <a:pt x="63500" y="231031"/>
                  <a:pt x="56406" y="238125"/>
                  <a:pt x="47625" y="238125"/>
                </a:cubicBezTo>
                <a:lnTo>
                  <a:pt x="15875" y="238125"/>
                </a:lnTo>
                <a:cubicBezTo>
                  <a:pt x="7094" y="238125"/>
                  <a:pt x="0" y="231031"/>
                  <a:pt x="0" y="222250"/>
                </a:cubicBezTo>
                <a:lnTo>
                  <a:pt x="0" y="190500"/>
                </a:lnTo>
                <a:cubicBezTo>
                  <a:pt x="0" y="181719"/>
                  <a:pt x="7094" y="174625"/>
                  <a:pt x="15875" y="174625"/>
                </a:cubicBezTo>
                <a:lnTo>
                  <a:pt x="19844" y="174625"/>
                </a:lnTo>
                <a:lnTo>
                  <a:pt x="19844" y="146844"/>
                </a:lnTo>
                <a:cubicBezTo>
                  <a:pt x="19844" y="127099"/>
                  <a:pt x="35818" y="111125"/>
                  <a:pt x="55563" y="111125"/>
                </a:cubicBezTo>
                <a:lnTo>
                  <a:pt x="115094" y="111125"/>
                </a:lnTo>
                <a:lnTo>
                  <a:pt x="115094" y="79375"/>
                </a:lnTo>
                <a:lnTo>
                  <a:pt x="111125" y="79375"/>
                </a:lnTo>
                <a:cubicBezTo>
                  <a:pt x="102344" y="79375"/>
                  <a:pt x="95250" y="72281"/>
                  <a:pt x="95250" y="63500"/>
                </a:cubicBezTo>
                <a:lnTo>
                  <a:pt x="95250" y="31750"/>
                </a:lnTo>
                <a:close/>
              </a:path>
            </a:pathLst>
          </a:custGeom>
          <a:solidFill>
            <a:srgbClr val="D69E2E"/>
          </a:solidFill>
          <a:ln/>
        </p:spPr>
        <p:txBody>
          <a:bodyPr/>
          <a:lstStyle/>
          <a:p>
            <a:endParaRPr lang="zh-CN" altLang="en-US"/>
          </a:p>
        </p:txBody>
      </p:sp>
      <p:sp>
        <p:nvSpPr>
          <p:cNvPr id="10" name="Text 8"/>
          <p:cNvSpPr/>
          <p:nvPr/>
        </p:nvSpPr>
        <p:spPr>
          <a:xfrm>
            <a:off x="1333500" y="3175000"/>
            <a:ext cx="16510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Noto Sans SC" pitchFamily="34" charset="0"/>
                <a:ea typeface="Noto Sans SC" pitchFamily="34" charset="-122"/>
                <a:cs typeface="Noto Sans SC" pitchFamily="34" charset="-120"/>
              </a:rPr>
              <a:t>掌握核心架构</a:t>
            </a:r>
            <a:endParaRPr lang="en-US" sz="1600" dirty="0"/>
          </a:p>
        </p:txBody>
      </p:sp>
      <p:sp>
        <p:nvSpPr>
          <p:cNvPr id="11" name="Text 9"/>
          <p:cNvSpPr/>
          <p:nvPr/>
        </p:nvSpPr>
        <p:spPr>
          <a:xfrm>
            <a:off x="863600" y="3632200"/>
            <a:ext cx="7162800" cy="3302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深入理解Hive的元数据存储、查询编译、执行引擎等核心组件</a:t>
            </a:r>
            <a:endParaRPr lang="en-US" sz="1600" dirty="0"/>
          </a:p>
        </p:txBody>
      </p:sp>
      <p:sp>
        <p:nvSpPr>
          <p:cNvPr id="12" name="Shape 10"/>
          <p:cNvSpPr/>
          <p:nvPr/>
        </p:nvSpPr>
        <p:spPr>
          <a:xfrm>
            <a:off x="533400" y="4318000"/>
            <a:ext cx="50800" cy="1092200"/>
          </a:xfrm>
          <a:custGeom>
            <a:avLst/>
            <a:gdLst/>
            <a:ahLst/>
            <a:cxnLst/>
            <a:rect l="l" t="t" r="r" b="b"/>
            <a:pathLst>
              <a:path w="50800" h="1092200">
                <a:moveTo>
                  <a:pt x="0" y="0"/>
                </a:moveTo>
                <a:lnTo>
                  <a:pt x="50800" y="0"/>
                </a:lnTo>
                <a:lnTo>
                  <a:pt x="50800" y="1092200"/>
                </a:lnTo>
                <a:lnTo>
                  <a:pt x="0" y="1092200"/>
                </a:lnTo>
                <a:lnTo>
                  <a:pt x="0" y="0"/>
                </a:lnTo>
                <a:close/>
              </a:path>
            </a:pathLst>
          </a:custGeom>
          <a:solidFill>
            <a:srgbClr val="D69E2E"/>
          </a:solidFill>
          <a:ln/>
        </p:spPr>
        <p:txBody>
          <a:bodyPr/>
          <a:lstStyle/>
          <a:p>
            <a:endParaRPr lang="zh-CN" altLang="en-US"/>
          </a:p>
        </p:txBody>
      </p:sp>
      <p:sp>
        <p:nvSpPr>
          <p:cNvPr id="13" name="Shape 11"/>
          <p:cNvSpPr/>
          <p:nvPr/>
        </p:nvSpPr>
        <p:spPr>
          <a:xfrm>
            <a:off x="895350" y="4521200"/>
            <a:ext cx="254000" cy="254000"/>
          </a:xfrm>
          <a:custGeom>
            <a:avLst/>
            <a:gdLst/>
            <a:ahLst/>
            <a:cxnLst/>
            <a:rect l="l" t="t" r="r" b="b"/>
            <a:pathLst>
              <a:path w="254000" h="254000">
                <a:moveTo>
                  <a:pt x="0" y="127000"/>
                </a:moveTo>
                <a:cubicBezTo>
                  <a:pt x="0" y="56907"/>
                  <a:pt x="56907" y="0"/>
                  <a:pt x="127000" y="0"/>
                </a:cubicBezTo>
                <a:cubicBezTo>
                  <a:pt x="197093" y="0"/>
                  <a:pt x="254000" y="56907"/>
                  <a:pt x="254000" y="127000"/>
                </a:cubicBezTo>
                <a:cubicBezTo>
                  <a:pt x="254000" y="197093"/>
                  <a:pt x="197093" y="254000"/>
                  <a:pt x="127000" y="254000"/>
                </a:cubicBezTo>
                <a:cubicBezTo>
                  <a:pt x="56907" y="254000"/>
                  <a:pt x="0" y="197093"/>
                  <a:pt x="0" y="127000"/>
                </a:cubicBezTo>
                <a:close/>
                <a:moveTo>
                  <a:pt x="142875" y="47625"/>
                </a:moveTo>
                <a:cubicBezTo>
                  <a:pt x="142875" y="38863"/>
                  <a:pt x="135762" y="31750"/>
                  <a:pt x="127000" y="31750"/>
                </a:cubicBezTo>
                <a:cubicBezTo>
                  <a:pt x="118238" y="31750"/>
                  <a:pt x="111125" y="38863"/>
                  <a:pt x="111125" y="47625"/>
                </a:cubicBezTo>
                <a:cubicBezTo>
                  <a:pt x="111125" y="56387"/>
                  <a:pt x="118238" y="63500"/>
                  <a:pt x="127000" y="63500"/>
                </a:cubicBezTo>
                <a:cubicBezTo>
                  <a:pt x="135762" y="63500"/>
                  <a:pt x="142875" y="56387"/>
                  <a:pt x="142875" y="47625"/>
                </a:cubicBezTo>
                <a:close/>
                <a:moveTo>
                  <a:pt x="127000" y="206375"/>
                </a:moveTo>
                <a:cubicBezTo>
                  <a:pt x="144512" y="206375"/>
                  <a:pt x="158750" y="192137"/>
                  <a:pt x="158750" y="174625"/>
                </a:cubicBezTo>
                <a:cubicBezTo>
                  <a:pt x="158750" y="166588"/>
                  <a:pt x="155773" y="159196"/>
                  <a:pt x="150813" y="153640"/>
                </a:cubicBezTo>
                <a:lnTo>
                  <a:pt x="185291" y="84733"/>
                </a:lnTo>
                <a:cubicBezTo>
                  <a:pt x="188218" y="78829"/>
                  <a:pt x="185837" y="71686"/>
                  <a:pt x="179983" y="68759"/>
                </a:cubicBezTo>
                <a:cubicBezTo>
                  <a:pt x="174129" y="65832"/>
                  <a:pt x="166936" y="68213"/>
                  <a:pt x="164009" y="74067"/>
                </a:cubicBezTo>
                <a:lnTo>
                  <a:pt x="129530" y="142974"/>
                </a:lnTo>
                <a:cubicBezTo>
                  <a:pt x="128687" y="142925"/>
                  <a:pt x="127843" y="142875"/>
                  <a:pt x="127000" y="142875"/>
                </a:cubicBezTo>
                <a:cubicBezTo>
                  <a:pt x="109488" y="142875"/>
                  <a:pt x="95250" y="157113"/>
                  <a:pt x="95250" y="174625"/>
                </a:cubicBezTo>
                <a:cubicBezTo>
                  <a:pt x="95250" y="192137"/>
                  <a:pt x="109488" y="206375"/>
                  <a:pt x="127000" y="206375"/>
                </a:cubicBezTo>
                <a:close/>
                <a:moveTo>
                  <a:pt x="87313" y="71438"/>
                </a:moveTo>
                <a:cubicBezTo>
                  <a:pt x="87313" y="62676"/>
                  <a:pt x="80199" y="55563"/>
                  <a:pt x="71438" y="55563"/>
                </a:cubicBezTo>
                <a:cubicBezTo>
                  <a:pt x="62676" y="55563"/>
                  <a:pt x="55563" y="62676"/>
                  <a:pt x="55563" y="71438"/>
                </a:cubicBezTo>
                <a:cubicBezTo>
                  <a:pt x="55563" y="80199"/>
                  <a:pt x="62676" y="87313"/>
                  <a:pt x="71438" y="87313"/>
                </a:cubicBezTo>
                <a:cubicBezTo>
                  <a:pt x="80199" y="87313"/>
                  <a:pt x="87313" y="80199"/>
                  <a:pt x="87313" y="71438"/>
                </a:cubicBezTo>
                <a:close/>
                <a:moveTo>
                  <a:pt x="47625" y="142875"/>
                </a:moveTo>
                <a:cubicBezTo>
                  <a:pt x="56387" y="142875"/>
                  <a:pt x="63500" y="135762"/>
                  <a:pt x="63500" y="127000"/>
                </a:cubicBezTo>
                <a:cubicBezTo>
                  <a:pt x="63500" y="118238"/>
                  <a:pt x="56387" y="111125"/>
                  <a:pt x="47625" y="111125"/>
                </a:cubicBezTo>
                <a:cubicBezTo>
                  <a:pt x="38863" y="111125"/>
                  <a:pt x="31750" y="118238"/>
                  <a:pt x="31750" y="127000"/>
                </a:cubicBezTo>
                <a:cubicBezTo>
                  <a:pt x="31750" y="135762"/>
                  <a:pt x="38863" y="142875"/>
                  <a:pt x="47625" y="142875"/>
                </a:cubicBezTo>
                <a:close/>
                <a:moveTo>
                  <a:pt x="222250" y="127000"/>
                </a:moveTo>
                <a:cubicBezTo>
                  <a:pt x="222250" y="118238"/>
                  <a:pt x="215137" y="111125"/>
                  <a:pt x="206375" y="111125"/>
                </a:cubicBezTo>
                <a:cubicBezTo>
                  <a:pt x="197613" y="111125"/>
                  <a:pt x="190500" y="118238"/>
                  <a:pt x="190500" y="127000"/>
                </a:cubicBezTo>
                <a:cubicBezTo>
                  <a:pt x="190500" y="135762"/>
                  <a:pt x="197613" y="142875"/>
                  <a:pt x="206375" y="142875"/>
                </a:cubicBezTo>
                <a:cubicBezTo>
                  <a:pt x="215137" y="142875"/>
                  <a:pt x="222250" y="135762"/>
                  <a:pt x="222250" y="127000"/>
                </a:cubicBezTo>
                <a:close/>
              </a:path>
            </a:pathLst>
          </a:custGeom>
          <a:solidFill>
            <a:srgbClr val="D69E2E"/>
          </a:solidFill>
          <a:ln/>
        </p:spPr>
        <p:txBody>
          <a:bodyPr/>
          <a:lstStyle/>
          <a:p>
            <a:endParaRPr lang="zh-CN" altLang="en-US"/>
          </a:p>
        </p:txBody>
      </p:sp>
      <p:sp>
        <p:nvSpPr>
          <p:cNvPr id="14" name="Text 12"/>
          <p:cNvSpPr/>
          <p:nvPr/>
        </p:nvSpPr>
        <p:spPr>
          <a:xfrm>
            <a:off x="1333500" y="4470400"/>
            <a:ext cx="16510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Noto Sans SC" pitchFamily="34" charset="0"/>
                <a:ea typeface="Noto Sans SC" pitchFamily="34" charset="-122"/>
                <a:cs typeface="Noto Sans SC" pitchFamily="34" charset="-120"/>
              </a:rPr>
              <a:t>精通查询优化</a:t>
            </a:r>
            <a:endParaRPr lang="en-US" sz="1600" dirty="0"/>
          </a:p>
        </p:txBody>
      </p:sp>
      <p:sp>
        <p:nvSpPr>
          <p:cNvPr id="15" name="Text 13"/>
          <p:cNvSpPr/>
          <p:nvPr/>
        </p:nvSpPr>
        <p:spPr>
          <a:xfrm>
            <a:off x="863600" y="4927600"/>
            <a:ext cx="7162800" cy="3302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熟练掌握HiveQL的优化策略、执行计划生成和性能调优技术</a:t>
            </a:r>
            <a:endParaRPr lang="en-US" sz="1600" dirty="0"/>
          </a:p>
        </p:txBody>
      </p:sp>
      <p:sp>
        <p:nvSpPr>
          <p:cNvPr id="16" name="Shape 14"/>
          <p:cNvSpPr/>
          <p:nvPr/>
        </p:nvSpPr>
        <p:spPr>
          <a:xfrm>
            <a:off x="533400" y="5613400"/>
            <a:ext cx="50800" cy="1092200"/>
          </a:xfrm>
          <a:custGeom>
            <a:avLst/>
            <a:gdLst/>
            <a:ahLst/>
            <a:cxnLst/>
            <a:rect l="l" t="t" r="r" b="b"/>
            <a:pathLst>
              <a:path w="50800" h="1092200">
                <a:moveTo>
                  <a:pt x="0" y="0"/>
                </a:moveTo>
                <a:lnTo>
                  <a:pt x="50800" y="0"/>
                </a:lnTo>
                <a:lnTo>
                  <a:pt x="50800" y="1092200"/>
                </a:lnTo>
                <a:lnTo>
                  <a:pt x="0" y="1092200"/>
                </a:lnTo>
                <a:lnTo>
                  <a:pt x="0" y="0"/>
                </a:lnTo>
                <a:close/>
              </a:path>
            </a:pathLst>
          </a:custGeom>
          <a:solidFill>
            <a:srgbClr val="D69E2E"/>
          </a:solidFill>
          <a:ln/>
        </p:spPr>
        <p:txBody>
          <a:bodyPr/>
          <a:lstStyle/>
          <a:p>
            <a:endParaRPr lang="zh-CN" altLang="en-US"/>
          </a:p>
        </p:txBody>
      </p:sp>
      <p:sp>
        <p:nvSpPr>
          <p:cNvPr id="17" name="Shape 15"/>
          <p:cNvSpPr/>
          <p:nvPr/>
        </p:nvSpPr>
        <p:spPr>
          <a:xfrm>
            <a:off x="911225" y="5816600"/>
            <a:ext cx="222250" cy="254000"/>
          </a:xfrm>
          <a:custGeom>
            <a:avLst/>
            <a:gdLst/>
            <a:ahLst/>
            <a:cxnLst/>
            <a:rect l="l" t="t" r="r" b="b"/>
            <a:pathLst>
              <a:path w="222250" h="254000">
                <a:moveTo>
                  <a:pt x="31750" y="15875"/>
                </a:moveTo>
                <a:cubicBezTo>
                  <a:pt x="14238" y="15875"/>
                  <a:pt x="0" y="30113"/>
                  <a:pt x="0" y="47625"/>
                </a:cubicBezTo>
                <a:lnTo>
                  <a:pt x="0" y="129034"/>
                </a:lnTo>
                <a:cubicBezTo>
                  <a:pt x="8979" y="122734"/>
                  <a:pt x="19943" y="119063"/>
                  <a:pt x="31750" y="119063"/>
                </a:cubicBezTo>
                <a:lnTo>
                  <a:pt x="190500" y="119063"/>
                </a:lnTo>
                <a:cubicBezTo>
                  <a:pt x="202307" y="119063"/>
                  <a:pt x="213271" y="122734"/>
                  <a:pt x="222250" y="129034"/>
                </a:cubicBezTo>
                <a:lnTo>
                  <a:pt x="222250" y="47625"/>
                </a:lnTo>
                <a:cubicBezTo>
                  <a:pt x="222250" y="30113"/>
                  <a:pt x="208012" y="15875"/>
                  <a:pt x="190500" y="15875"/>
                </a:cubicBezTo>
                <a:lnTo>
                  <a:pt x="31750" y="15875"/>
                </a:lnTo>
                <a:close/>
                <a:moveTo>
                  <a:pt x="222250" y="174625"/>
                </a:moveTo>
                <a:cubicBezTo>
                  <a:pt x="222250" y="157113"/>
                  <a:pt x="208012" y="142875"/>
                  <a:pt x="190500" y="142875"/>
                </a:cubicBezTo>
                <a:lnTo>
                  <a:pt x="31750" y="142875"/>
                </a:lnTo>
                <a:cubicBezTo>
                  <a:pt x="14238" y="142875"/>
                  <a:pt x="0" y="157113"/>
                  <a:pt x="0" y="174625"/>
                </a:cubicBezTo>
                <a:lnTo>
                  <a:pt x="0" y="206375"/>
                </a:lnTo>
                <a:cubicBezTo>
                  <a:pt x="0" y="223887"/>
                  <a:pt x="14238" y="238125"/>
                  <a:pt x="31750" y="238125"/>
                </a:cubicBezTo>
                <a:lnTo>
                  <a:pt x="190500" y="238125"/>
                </a:lnTo>
                <a:cubicBezTo>
                  <a:pt x="208012" y="238125"/>
                  <a:pt x="222250" y="223887"/>
                  <a:pt x="222250" y="206375"/>
                </a:cubicBezTo>
                <a:lnTo>
                  <a:pt x="222250" y="174625"/>
                </a:lnTo>
                <a:close/>
                <a:moveTo>
                  <a:pt x="111125" y="190500"/>
                </a:moveTo>
                <a:cubicBezTo>
                  <a:pt x="111125" y="181738"/>
                  <a:pt x="118238" y="174625"/>
                  <a:pt x="127000" y="174625"/>
                </a:cubicBezTo>
                <a:cubicBezTo>
                  <a:pt x="135762" y="174625"/>
                  <a:pt x="142875" y="181738"/>
                  <a:pt x="142875" y="190500"/>
                </a:cubicBezTo>
                <a:cubicBezTo>
                  <a:pt x="142875" y="199262"/>
                  <a:pt x="135762" y="206375"/>
                  <a:pt x="127000" y="206375"/>
                </a:cubicBezTo>
                <a:cubicBezTo>
                  <a:pt x="118238" y="206375"/>
                  <a:pt x="111125" y="199262"/>
                  <a:pt x="111125" y="190500"/>
                </a:cubicBezTo>
                <a:close/>
                <a:moveTo>
                  <a:pt x="174625" y="174625"/>
                </a:moveTo>
                <a:cubicBezTo>
                  <a:pt x="183387" y="174625"/>
                  <a:pt x="190500" y="181738"/>
                  <a:pt x="190500" y="190500"/>
                </a:cubicBezTo>
                <a:cubicBezTo>
                  <a:pt x="190500" y="199262"/>
                  <a:pt x="183387" y="206375"/>
                  <a:pt x="174625" y="206375"/>
                </a:cubicBezTo>
                <a:cubicBezTo>
                  <a:pt x="165863" y="206375"/>
                  <a:pt x="158750" y="199262"/>
                  <a:pt x="158750" y="190500"/>
                </a:cubicBezTo>
                <a:cubicBezTo>
                  <a:pt x="158750" y="181738"/>
                  <a:pt x="165863" y="174625"/>
                  <a:pt x="174625" y="174625"/>
                </a:cubicBezTo>
                <a:close/>
              </a:path>
            </a:pathLst>
          </a:custGeom>
          <a:solidFill>
            <a:srgbClr val="D69E2E"/>
          </a:solidFill>
          <a:ln/>
        </p:spPr>
        <p:txBody>
          <a:bodyPr/>
          <a:lstStyle/>
          <a:p>
            <a:endParaRPr lang="zh-CN" altLang="en-US"/>
          </a:p>
        </p:txBody>
      </p:sp>
      <p:sp>
        <p:nvSpPr>
          <p:cNvPr id="18" name="Text 16"/>
          <p:cNvSpPr/>
          <p:nvPr/>
        </p:nvSpPr>
        <p:spPr>
          <a:xfrm>
            <a:off x="1333500" y="5765800"/>
            <a:ext cx="16510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Noto Sans SC" pitchFamily="34" charset="0"/>
                <a:ea typeface="Noto Sans SC" pitchFamily="34" charset="-122"/>
                <a:cs typeface="Noto Sans SC" pitchFamily="34" charset="-120"/>
              </a:rPr>
              <a:t>理解数据存储</a:t>
            </a:r>
            <a:endParaRPr lang="en-US" sz="1600" dirty="0"/>
          </a:p>
        </p:txBody>
      </p:sp>
      <p:sp>
        <p:nvSpPr>
          <p:cNvPr id="19" name="Text 17"/>
          <p:cNvSpPr/>
          <p:nvPr/>
        </p:nvSpPr>
        <p:spPr>
          <a:xfrm>
            <a:off x="863600" y="6223000"/>
            <a:ext cx="7162800" cy="3302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了解Hive支持的各种文件格式、数据压缩和分区存储机制</a:t>
            </a:r>
            <a:endParaRPr lang="en-US" sz="1600" dirty="0"/>
          </a:p>
        </p:txBody>
      </p:sp>
      <p:sp>
        <p:nvSpPr>
          <p:cNvPr id="20" name="Shape 18"/>
          <p:cNvSpPr/>
          <p:nvPr/>
        </p:nvSpPr>
        <p:spPr>
          <a:xfrm>
            <a:off x="8356600" y="1727200"/>
            <a:ext cx="50800" cy="1092200"/>
          </a:xfrm>
          <a:custGeom>
            <a:avLst/>
            <a:gdLst/>
            <a:ahLst/>
            <a:cxnLst/>
            <a:rect l="l" t="t" r="r" b="b"/>
            <a:pathLst>
              <a:path w="50800" h="1092200">
                <a:moveTo>
                  <a:pt x="0" y="0"/>
                </a:moveTo>
                <a:lnTo>
                  <a:pt x="50800" y="0"/>
                </a:lnTo>
                <a:lnTo>
                  <a:pt x="50800" y="1092200"/>
                </a:lnTo>
                <a:lnTo>
                  <a:pt x="0" y="1092200"/>
                </a:lnTo>
                <a:lnTo>
                  <a:pt x="0" y="0"/>
                </a:lnTo>
                <a:close/>
              </a:path>
            </a:pathLst>
          </a:custGeom>
          <a:solidFill>
            <a:srgbClr val="D69E2E"/>
          </a:solidFill>
          <a:ln/>
        </p:spPr>
        <p:txBody>
          <a:bodyPr/>
          <a:lstStyle/>
          <a:p>
            <a:endParaRPr lang="zh-CN" altLang="en-US"/>
          </a:p>
        </p:txBody>
      </p:sp>
      <p:sp>
        <p:nvSpPr>
          <p:cNvPr id="21" name="Shape 19"/>
          <p:cNvSpPr/>
          <p:nvPr/>
        </p:nvSpPr>
        <p:spPr>
          <a:xfrm>
            <a:off x="8702675" y="1930400"/>
            <a:ext cx="285750" cy="254000"/>
          </a:xfrm>
          <a:custGeom>
            <a:avLst/>
            <a:gdLst/>
            <a:ahLst/>
            <a:cxnLst/>
            <a:rect l="l" t="t" r="r" b="b"/>
            <a:pathLst>
              <a:path w="285750" h="254000">
                <a:moveTo>
                  <a:pt x="178991" y="595"/>
                </a:moveTo>
                <a:cubicBezTo>
                  <a:pt x="170557" y="-1836"/>
                  <a:pt x="161776" y="3076"/>
                  <a:pt x="159345" y="11509"/>
                </a:cubicBezTo>
                <a:lnTo>
                  <a:pt x="95845" y="233759"/>
                </a:lnTo>
                <a:cubicBezTo>
                  <a:pt x="93414" y="242193"/>
                  <a:pt x="98326" y="250974"/>
                  <a:pt x="106759" y="253405"/>
                </a:cubicBezTo>
                <a:cubicBezTo>
                  <a:pt x="115193" y="255836"/>
                  <a:pt x="123974" y="250924"/>
                  <a:pt x="126405" y="242491"/>
                </a:cubicBezTo>
                <a:lnTo>
                  <a:pt x="189905" y="20241"/>
                </a:lnTo>
                <a:cubicBezTo>
                  <a:pt x="192336" y="11807"/>
                  <a:pt x="187424" y="3026"/>
                  <a:pt x="178991" y="595"/>
                </a:cubicBezTo>
                <a:close/>
                <a:moveTo>
                  <a:pt x="211038" y="68114"/>
                </a:moveTo>
                <a:cubicBezTo>
                  <a:pt x="204837" y="74315"/>
                  <a:pt x="204837" y="84386"/>
                  <a:pt x="211038" y="90587"/>
                </a:cubicBezTo>
                <a:lnTo>
                  <a:pt x="247452" y="127000"/>
                </a:lnTo>
                <a:lnTo>
                  <a:pt x="211038" y="163413"/>
                </a:lnTo>
                <a:cubicBezTo>
                  <a:pt x="204837" y="169614"/>
                  <a:pt x="204837" y="179685"/>
                  <a:pt x="211038" y="185886"/>
                </a:cubicBezTo>
                <a:cubicBezTo>
                  <a:pt x="217239" y="192087"/>
                  <a:pt x="227310" y="192087"/>
                  <a:pt x="233511" y="185886"/>
                </a:cubicBezTo>
                <a:lnTo>
                  <a:pt x="281136" y="138261"/>
                </a:lnTo>
                <a:cubicBezTo>
                  <a:pt x="287338" y="132060"/>
                  <a:pt x="287338" y="121989"/>
                  <a:pt x="281136" y="115788"/>
                </a:cubicBezTo>
                <a:lnTo>
                  <a:pt x="233511" y="68163"/>
                </a:lnTo>
                <a:cubicBezTo>
                  <a:pt x="227310" y="61962"/>
                  <a:pt x="217239" y="61962"/>
                  <a:pt x="211038" y="68163"/>
                </a:cubicBezTo>
                <a:close/>
                <a:moveTo>
                  <a:pt x="74761" y="68114"/>
                </a:moveTo>
                <a:cubicBezTo>
                  <a:pt x="68560" y="61912"/>
                  <a:pt x="58489" y="61912"/>
                  <a:pt x="52288" y="68114"/>
                </a:cubicBezTo>
                <a:lnTo>
                  <a:pt x="4663" y="115739"/>
                </a:lnTo>
                <a:cubicBezTo>
                  <a:pt x="-1538" y="121940"/>
                  <a:pt x="-1538" y="132011"/>
                  <a:pt x="4663" y="138212"/>
                </a:cubicBezTo>
                <a:lnTo>
                  <a:pt x="52288" y="185837"/>
                </a:lnTo>
                <a:cubicBezTo>
                  <a:pt x="58489" y="192038"/>
                  <a:pt x="68560" y="192038"/>
                  <a:pt x="74761" y="185837"/>
                </a:cubicBezTo>
                <a:cubicBezTo>
                  <a:pt x="80962" y="179636"/>
                  <a:pt x="80962" y="169565"/>
                  <a:pt x="74761" y="163364"/>
                </a:cubicBezTo>
                <a:lnTo>
                  <a:pt x="38348" y="127000"/>
                </a:lnTo>
                <a:lnTo>
                  <a:pt x="74712" y="90587"/>
                </a:lnTo>
                <a:cubicBezTo>
                  <a:pt x="80913" y="84386"/>
                  <a:pt x="80913" y="74315"/>
                  <a:pt x="74712" y="68114"/>
                </a:cubicBezTo>
                <a:close/>
              </a:path>
            </a:pathLst>
          </a:custGeom>
          <a:solidFill>
            <a:srgbClr val="D69E2E"/>
          </a:solidFill>
          <a:ln/>
        </p:spPr>
        <p:txBody>
          <a:bodyPr/>
          <a:lstStyle/>
          <a:p>
            <a:endParaRPr lang="zh-CN" altLang="en-US"/>
          </a:p>
        </p:txBody>
      </p:sp>
      <p:sp>
        <p:nvSpPr>
          <p:cNvPr id="22" name="Text 20"/>
          <p:cNvSpPr/>
          <p:nvPr/>
        </p:nvSpPr>
        <p:spPr>
          <a:xfrm>
            <a:off x="9156700" y="1879600"/>
            <a:ext cx="16510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Noto Sans SC" pitchFamily="34" charset="0"/>
                <a:ea typeface="Noto Sans SC" pitchFamily="34" charset="-122"/>
                <a:cs typeface="Noto Sans SC" pitchFamily="34" charset="-120"/>
              </a:rPr>
              <a:t>具备实践能力</a:t>
            </a:r>
            <a:endParaRPr lang="en-US" sz="1600" dirty="0"/>
          </a:p>
        </p:txBody>
      </p:sp>
      <p:sp>
        <p:nvSpPr>
          <p:cNvPr id="23" name="Text 21"/>
          <p:cNvSpPr/>
          <p:nvPr/>
        </p:nvSpPr>
        <p:spPr>
          <a:xfrm>
            <a:off x="8686800" y="2336800"/>
            <a:ext cx="7162800" cy="3302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能够进行Hive数据仓库的设计、开发、调优以及性能分析</a:t>
            </a:r>
            <a:endParaRPr lang="en-US" sz="1600" dirty="0"/>
          </a:p>
        </p:txBody>
      </p:sp>
      <p:sp>
        <p:nvSpPr>
          <p:cNvPr id="24" name="Shape 22"/>
          <p:cNvSpPr/>
          <p:nvPr/>
        </p:nvSpPr>
        <p:spPr>
          <a:xfrm>
            <a:off x="8356600" y="3022600"/>
            <a:ext cx="50800" cy="1092200"/>
          </a:xfrm>
          <a:custGeom>
            <a:avLst/>
            <a:gdLst/>
            <a:ahLst/>
            <a:cxnLst/>
            <a:rect l="l" t="t" r="r" b="b"/>
            <a:pathLst>
              <a:path w="50800" h="1092200">
                <a:moveTo>
                  <a:pt x="0" y="0"/>
                </a:moveTo>
                <a:lnTo>
                  <a:pt x="50800" y="0"/>
                </a:lnTo>
                <a:lnTo>
                  <a:pt x="50800" y="1092200"/>
                </a:lnTo>
                <a:lnTo>
                  <a:pt x="0" y="1092200"/>
                </a:lnTo>
                <a:lnTo>
                  <a:pt x="0" y="0"/>
                </a:lnTo>
                <a:close/>
              </a:path>
            </a:pathLst>
          </a:custGeom>
          <a:solidFill>
            <a:srgbClr val="D69E2E"/>
          </a:solidFill>
          <a:ln/>
        </p:spPr>
        <p:txBody>
          <a:bodyPr/>
          <a:lstStyle/>
          <a:p>
            <a:endParaRPr lang="zh-CN" altLang="en-US"/>
          </a:p>
        </p:txBody>
      </p:sp>
      <p:sp>
        <p:nvSpPr>
          <p:cNvPr id="25" name="Shape 23"/>
          <p:cNvSpPr/>
          <p:nvPr/>
        </p:nvSpPr>
        <p:spPr>
          <a:xfrm>
            <a:off x="8734425" y="3225800"/>
            <a:ext cx="222250" cy="254000"/>
          </a:xfrm>
          <a:custGeom>
            <a:avLst/>
            <a:gdLst/>
            <a:ahLst/>
            <a:cxnLst/>
            <a:rect l="l" t="t" r="r" b="b"/>
            <a:pathLst>
              <a:path w="222250" h="254000">
                <a:moveTo>
                  <a:pt x="190500" y="254000"/>
                </a:moveTo>
                <a:lnTo>
                  <a:pt x="47625" y="254000"/>
                </a:lnTo>
                <a:cubicBezTo>
                  <a:pt x="21332" y="254000"/>
                  <a:pt x="0" y="232668"/>
                  <a:pt x="0" y="206375"/>
                </a:cubicBezTo>
                <a:lnTo>
                  <a:pt x="0" y="47625"/>
                </a:lnTo>
                <a:cubicBezTo>
                  <a:pt x="0" y="21332"/>
                  <a:pt x="21332" y="0"/>
                  <a:pt x="47625" y="0"/>
                </a:cubicBezTo>
                <a:lnTo>
                  <a:pt x="198438" y="0"/>
                </a:lnTo>
                <a:cubicBezTo>
                  <a:pt x="211584" y="0"/>
                  <a:pt x="222250" y="10666"/>
                  <a:pt x="222250" y="23812"/>
                </a:cubicBezTo>
                <a:lnTo>
                  <a:pt x="222250" y="166688"/>
                </a:lnTo>
                <a:cubicBezTo>
                  <a:pt x="222250" y="177056"/>
                  <a:pt x="215602" y="185886"/>
                  <a:pt x="206375" y="189161"/>
                </a:cubicBezTo>
                <a:lnTo>
                  <a:pt x="206375" y="222250"/>
                </a:lnTo>
                <a:cubicBezTo>
                  <a:pt x="215156" y="222250"/>
                  <a:pt x="222250" y="229344"/>
                  <a:pt x="222250" y="238125"/>
                </a:cubicBezTo>
                <a:cubicBezTo>
                  <a:pt x="222250" y="246906"/>
                  <a:pt x="215156" y="254000"/>
                  <a:pt x="206375" y="254000"/>
                </a:cubicBezTo>
                <a:lnTo>
                  <a:pt x="190500" y="254000"/>
                </a:lnTo>
                <a:close/>
                <a:moveTo>
                  <a:pt x="47625" y="190500"/>
                </a:moveTo>
                <a:cubicBezTo>
                  <a:pt x="38844" y="190500"/>
                  <a:pt x="31750" y="197594"/>
                  <a:pt x="31750" y="206375"/>
                </a:cubicBezTo>
                <a:cubicBezTo>
                  <a:pt x="31750" y="215156"/>
                  <a:pt x="38844" y="222250"/>
                  <a:pt x="47625" y="222250"/>
                </a:cubicBezTo>
                <a:lnTo>
                  <a:pt x="174625" y="222250"/>
                </a:lnTo>
                <a:lnTo>
                  <a:pt x="174625" y="190500"/>
                </a:lnTo>
                <a:lnTo>
                  <a:pt x="47625" y="190500"/>
                </a:lnTo>
                <a:close/>
                <a:moveTo>
                  <a:pt x="63500" y="75406"/>
                </a:moveTo>
                <a:cubicBezTo>
                  <a:pt x="63500" y="82004"/>
                  <a:pt x="68808" y="87313"/>
                  <a:pt x="75406" y="87313"/>
                </a:cubicBezTo>
                <a:lnTo>
                  <a:pt x="162719" y="87313"/>
                </a:lnTo>
                <a:cubicBezTo>
                  <a:pt x="169317" y="87313"/>
                  <a:pt x="174625" y="82004"/>
                  <a:pt x="174625" y="75406"/>
                </a:cubicBezTo>
                <a:cubicBezTo>
                  <a:pt x="174625" y="68808"/>
                  <a:pt x="169317" y="63500"/>
                  <a:pt x="162719" y="63500"/>
                </a:cubicBezTo>
                <a:lnTo>
                  <a:pt x="75406" y="63500"/>
                </a:lnTo>
                <a:cubicBezTo>
                  <a:pt x="68808" y="63500"/>
                  <a:pt x="63500" y="68808"/>
                  <a:pt x="63500" y="75406"/>
                </a:cubicBezTo>
                <a:close/>
                <a:moveTo>
                  <a:pt x="75406" y="111125"/>
                </a:moveTo>
                <a:cubicBezTo>
                  <a:pt x="68808" y="111125"/>
                  <a:pt x="63500" y="116433"/>
                  <a:pt x="63500" y="123031"/>
                </a:cubicBezTo>
                <a:cubicBezTo>
                  <a:pt x="63500" y="129629"/>
                  <a:pt x="68808" y="134938"/>
                  <a:pt x="75406" y="134938"/>
                </a:cubicBezTo>
                <a:lnTo>
                  <a:pt x="162719" y="134938"/>
                </a:lnTo>
                <a:cubicBezTo>
                  <a:pt x="169317" y="134938"/>
                  <a:pt x="174625" y="129629"/>
                  <a:pt x="174625" y="123031"/>
                </a:cubicBezTo>
                <a:cubicBezTo>
                  <a:pt x="174625" y="116433"/>
                  <a:pt x="169317" y="111125"/>
                  <a:pt x="162719" y="111125"/>
                </a:cubicBezTo>
                <a:lnTo>
                  <a:pt x="75406" y="111125"/>
                </a:lnTo>
                <a:close/>
              </a:path>
            </a:pathLst>
          </a:custGeom>
          <a:solidFill>
            <a:srgbClr val="D69E2E"/>
          </a:solidFill>
          <a:ln/>
        </p:spPr>
        <p:txBody>
          <a:bodyPr/>
          <a:lstStyle/>
          <a:p>
            <a:endParaRPr lang="zh-CN" altLang="en-US"/>
          </a:p>
        </p:txBody>
      </p:sp>
      <p:sp>
        <p:nvSpPr>
          <p:cNvPr id="26" name="Text 24"/>
          <p:cNvSpPr/>
          <p:nvPr/>
        </p:nvSpPr>
        <p:spPr>
          <a:xfrm>
            <a:off x="9156700" y="3175000"/>
            <a:ext cx="16510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Noto Sans SC" pitchFamily="34" charset="0"/>
                <a:ea typeface="Noto Sans SC" pitchFamily="34" charset="-122"/>
                <a:cs typeface="Noto Sans SC" pitchFamily="34" charset="-120"/>
              </a:rPr>
              <a:t>建立理论基础</a:t>
            </a:r>
            <a:endParaRPr lang="en-US" sz="1600" dirty="0"/>
          </a:p>
        </p:txBody>
      </p:sp>
      <p:sp>
        <p:nvSpPr>
          <p:cNvPr id="27" name="Text 25"/>
          <p:cNvSpPr/>
          <p:nvPr/>
        </p:nvSpPr>
        <p:spPr>
          <a:xfrm>
            <a:off x="8686800" y="3632200"/>
            <a:ext cx="7162800" cy="3302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理解数据仓库概念、OLAP与OLTP的区别等理论基础</a:t>
            </a:r>
            <a:endParaRPr lang="en-US" sz="1600" dirty="0"/>
          </a:p>
        </p:txBody>
      </p:sp>
      <p:sp>
        <p:nvSpPr>
          <p:cNvPr id="28" name="Shape 26"/>
          <p:cNvSpPr/>
          <p:nvPr/>
        </p:nvSpPr>
        <p:spPr>
          <a:xfrm>
            <a:off x="8356600" y="4318000"/>
            <a:ext cx="50800" cy="1092200"/>
          </a:xfrm>
          <a:custGeom>
            <a:avLst/>
            <a:gdLst/>
            <a:ahLst/>
            <a:cxnLst/>
            <a:rect l="l" t="t" r="r" b="b"/>
            <a:pathLst>
              <a:path w="50800" h="1092200">
                <a:moveTo>
                  <a:pt x="0" y="0"/>
                </a:moveTo>
                <a:lnTo>
                  <a:pt x="50800" y="0"/>
                </a:lnTo>
                <a:lnTo>
                  <a:pt x="50800" y="1092200"/>
                </a:lnTo>
                <a:lnTo>
                  <a:pt x="0" y="1092200"/>
                </a:lnTo>
                <a:lnTo>
                  <a:pt x="0" y="0"/>
                </a:lnTo>
                <a:close/>
              </a:path>
            </a:pathLst>
          </a:custGeom>
          <a:solidFill>
            <a:srgbClr val="D69E2E"/>
          </a:solidFill>
          <a:ln/>
        </p:spPr>
        <p:txBody>
          <a:bodyPr/>
          <a:lstStyle/>
          <a:p>
            <a:endParaRPr lang="zh-CN" altLang="en-US"/>
          </a:p>
        </p:txBody>
      </p:sp>
      <p:sp>
        <p:nvSpPr>
          <p:cNvPr id="29" name="Shape 27"/>
          <p:cNvSpPr/>
          <p:nvPr/>
        </p:nvSpPr>
        <p:spPr>
          <a:xfrm>
            <a:off x="8718550" y="4521200"/>
            <a:ext cx="254000" cy="254000"/>
          </a:xfrm>
          <a:custGeom>
            <a:avLst/>
            <a:gdLst/>
            <a:ahLst/>
            <a:cxnLst/>
            <a:rect l="l" t="t" r="r" b="b"/>
            <a:pathLst>
              <a:path w="254000" h="254000">
                <a:moveTo>
                  <a:pt x="15875" y="15875"/>
                </a:moveTo>
                <a:cubicBezTo>
                  <a:pt x="24656" y="15875"/>
                  <a:pt x="31750" y="22969"/>
                  <a:pt x="31750" y="31750"/>
                </a:cubicBezTo>
                <a:lnTo>
                  <a:pt x="31750" y="198438"/>
                </a:lnTo>
                <a:cubicBezTo>
                  <a:pt x="31750" y="202803"/>
                  <a:pt x="35322" y="206375"/>
                  <a:pt x="39688" y="206375"/>
                </a:cubicBezTo>
                <a:lnTo>
                  <a:pt x="238125" y="206375"/>
                </a:lnTo>
                <a:cubicBezTo>
                  <a:pt x="246906" y="206375"/>
                  <a:pt x="254000" y="213469"/>
                  <a:pt x="254000" y="222250"/>
                </a:cubicBezTo>
                <a:cubicBezTo>
                  <a:pt x="254000" y="231031"/>
                  <a:pt x="246906" y="238125"/>
                  <a:pt x="238125" y="238125"/>
                </a:cubicBezTo>
                <a:lnTo>
                  <a:pt x="39688" y="238125"/>
                </a:lnTo>
                <a:cubicBezTo>
                  <a:pt x="17760" y="238125"/>
                  <a:pt x="0" y="220365"/>
                  <a:pt x="0" y="198438"/>
                </a:cubicBezTo>
                <a:lnTo>
                  <a:pt x="0" y="31750"/>
                </a:lnTo>
                <a:cubicBezTo>
                  <a:pt x="0" y="22969"/>
                  <a:pt x="7094" y="15875"/>
                  <a:pt x="15875" y="15875"/>
                </a:cubicBezTo>
                <a:close/>
                <a:moveTo>
                  <a:pt x="63500" y="47625"/>
                </a:moveTo>
                <a:cubicBezTo>
                  <a:pt x="63500" y="38844"/>
                  <a:pt x="70594" y="31750"/>
                  <a:pt x="79375" y="31750"/>
                </a:cubicBezTo>
                <a:lnTo>
                  <a:pt x="174625" y="31750"/>
                </a:lnTo>
                <a:cubicBezTo>
                  <a:pt x="183406" y="31750"/>
                  <a:pt x="190500" y="38844"/>
                  <a:pt x="190500" y="47625"/>
                </a:cubicBezTo>
                <a:cubicBezTo>
                  <a:pt x="190500" y="56406"/>
                  <a:pt x="183406" y="63500"/>
                  <a:pt x="174625" y="63500"/>
                </a:cubicBezTo>
                <a:lnTo>
                  <a:pt x="79375" y="63500"/>
                </a:lnTo>
                <a:cubicBezTo>
                  <a:pt x="70594" y="63500"/>
                  <a:pt x="63500" y="56406"/>
                  <a:pt x="63500" y="47625"/>
                </a:cubicBezTo>
                <a:close/>
                <a:moveTo>
                  <a:pt x="79375" y="87313"/>
                </a:moveTo>
                <a:lnTo>
                  <a:pt x="142875" y="87313"/>
                </a:lnTo>
                <a:cubicBezTo>
                  <a:pt x="151656" y="87313"/>
                  <a:pt x="158750" y="94407"/>
                  <a:pt x="158750" y="103188"/>
                </a:cubicBezTo>
                <a:cubicBezTo>
                  <a:pt x="158750" y="111968"/>
                  <a:pt x="151656" y="119063"/>
                  <a:pt x="142875" y="119063"/>
                </a:cubicBezTo>
                <a:lnTo>
                  <a:pt x="79375" y="119063"/>
                </a:lnTo>
                <a:cubicBezTo>
                  <a:pt x="70594" y="119063"/>
                  <a:pt x="63500" y="111968"/>
                  <a:pt x="63500" y="103188"/>
                </a:cubicBezTo>
                <a:cubicBezTo>
                  <a:pt x="63500" y="94407"/>
                  <a:pt x="70594" y="87313"/>
                  <a:pt x="79375" y="87313"/>
                </a:cubicBezTo>
                <a:close/>
                <a:moveTo>
                  <a:pt x="79375" y="142875"/>
                </a:moveTo>
                <a:lnTo>
                  <a:pt x="206375" y="142875"/>
                </a:lnTo>
                <a:cubicBezTo>
                  <a:pt x="215156" y="142875"/>
                  <a:pt x="222250" y="149969"/>
                  <a:pt x="222250" y="158750"/>
                </a:cubicBezTo>
                <a:cubicBezTo>
                  <a:pt x="222250" y="167531"/>
                  <a:pt x="215156" y="174625"/>
                  <a:pt x="206375" y="174625"/>
                </a:cubicBezTo>
                <a:lnTo>
                  <a:pt x="79375" y="174625"/>
                </a:lnTo>
                <a:cubicBezTo>
                  <a:pt x="70594" y="174625"/>
                  <a:pt x="63500" y="167531"/>
                  <a:pt x="63500" y="158750"/>
                </a:cubicBezTo>
                <a:cubicBezTo>
                  <a:pt x="63500" y="149969"/>
                  <a:pt x="70594" y="142875"/>
                  <a:pt x="79375" y="142875"/>
                </a:cubicBezTo>
                <a:close/>
              </a:path>
            </a:pathLst>
          </a:custGeom>
          <a:solidFill>
            <a:srgbClr val="D69E2E"/>
          </a:solidFill>
          <a:ln/>
        </p:spPr>
        <p:txBody>
          <a:bodyPr/>
          <a:lstStyle/>
          <a:p>
            <a:endParaRPr lang="zh-CN" altLang="en-US"/>
          </a:p>
        </p:txBody>
      </p:sp>
      <p:sp>
        <p:nvSpPr>
          <p:cNvPr id="30" name="Text 28"/>
          <p:cNvSpPr/>
          <p:nvPr/>
        </p:nvSpPr>
        <p:spPr>
          <a:xfrm>
            <a:off x="9156700" y="4470400"/>
            <a:ext cx="16510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Noto Sans SC" pitchFamily="34" charset="0"/>
                <a:ea typeface="Noto Sans SC" pitchFamily="34" charset="-122"/>
                <a:cs typeface="Noto Sans SC" pitchFamily="34" charset="-120"/>
              </a:rPr>
              <a:t>培养分析能力</a:t>
            </a:r>
            <a:endParaRPr lang="en-US" sz="1600" dirty="0"/>
          </a:p>
        </p:txBody>
      </p:sp>
      <p:sp>
        <p:nvSpPr>
          <p:cNvPr id="31" name="Text 29"/>
          <p:cNvSpPr/>
          <p:nvPr/>
        </p:nvSpPr>
        <p:spPr>
          <a:xfrm>
            <a:off x="8686800" y="4927600"/>
            <a:ext cx="7162800" cy="3302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具备分析和评估大数据仓库系统的能力，为后续学习其他数据湖技术奠定基础</a:t>
            </a:r>
            <a:endParaRPr lang="en-US" sz="1600" dirty="0"/>
          </a:p>
        </p:txBody>
      </p:sp>
      <p:sp>
        <p:nvSpPr>
          <p:cNvPr id="32" name="Shape 30"/>
          <p:cNvSpPr/>
          <p:nvPr/>
        </p:nvSpPr>
        <p:spPr>
          <a:xfrm>
            <a:off x="8337550" y="5619750"/>
            <a:ext cx="7404100" cy="1333500"/>
          </a:xfrm>
          <a:custGeom>
            <a:avLst/>
            <a:gdLst/>
            <a:ahLst/>
            <a:cxnLst/>
            <a:rect l="l" t="t" r="r" b="b"/>
            <a:pathLst>
              <a:path w="7404100" h="1333500">
                <a:moveTo>
                  <a:pt x="101599" y="0"/>
                </a:moveTo>
                <a:lnTo>
                  <a:pt x="7302501" y="0"/>
                </a:lnTo>
                <a:cubicBezTo>
                  <a:pt x="7358612" y="0"/>
                  <a:pt x="7404100" y="45488"/>
                  <a:pt x="7404100" y="101599"/>
                </a:cubicBezTo>
                <a:lnTo>
                  <a:pt x="7404100" y="1231901"/>
                </a:lnTo>
                <a:cubicBezTo>
                  <a:pt x="7404100" y="1288012"/>
                  <a:pt x="7358612" y="1333500"/>
                  <a:pt x="7302501" y="1333500"/>
                </a:cubicBezTo>
                <a:lnTo>
                  <a:pt x="101599" y="1333500"/>
                </a:lnTo>
                <a:cubicBezTo>
                  <a:pt x="45488" y="1333500"/>
                  <a:pt x="0" y="1288012"/>
                  <a:pt x="0" y="1231901"/>
                </a:cubicBezTo>
                <a:lnTo>
                  <a:pt x="0" y="101599"/>
                </a:lnTo>
                <a:cubicBezTo>
                  <a:pt x="0" y="45488"/>
                  <a:pt x="45488" y="0"/>
                  <a:pt x="101599" y="0"/>
                </a:cubicBezTo>
                <a:close/>
              </a:path>
            </a:pathLst>
          </a:custGeom>
          <a:solidFill>
            <a:srgbClr val="D69E2E">
              <a:alpha val="10196"/>
            </a:srgbClr>
          </a:solidFill>
          <a:ln w="12700">
            <a:solidFill>
              <a:srgbClr val="D69E2E"/>
            </a:solidFill>
            <a:prstDash val="solid"/>
          </a:ln>
        </p:spPr>
        <p:txBody>
          <a:bodyPr/>
          <a:lstStyle/>
          <a:p>
            <a:endParaRPr lang="zh-CN" altLang="en-US"/>
          </a:p>
        </p:txBody>
      </p:sp>
      <p:sp>
        <p:nvSpPr>
          <p:cNvPr id="33" name="Shape 31"/>
          <p:cNvSpPr/>
          <p:nvPr/>
        </p:nvSpPr>
        <p:spPr>
          <a:xfrm>
            <a:off x="8629650" y="5930900"/>
            <a:ext cx="254000" cy="254000"/>
          </a:xfrm>
          <a:custGeom>
            <a:avLst/>
            <a:gdLst/>
            <a:ahLst/>
            <a:cxnLst/>
            <a:rect l="l" t="t" r="r" b="b"/>
            <a:pathLst>
              <a:path w="254000" h="254000">
                <a:moveTo>
                  <a:pt x="127000" y="254000"/>
                </a:moveTo>
                <a:cubicBezTo>
                  <a:pt x="197093" y="254000"/>
                  <a:pt x="254000" y="197093"/>
                  <a:pt x="254000" y="127000"/>
                </a:cubicBezTo>
                <a:cubicBezTo>
                  <a:pt x="254000" y="56907"/>
                  <a:pt x="197093" y="0"/>
                  <a:pt x="127000" y="0"/>
                </a:cubicBezTo>
                <a:cubicBezTo>
                  <a:pt x="56907" y="0"/>
                  <a:pt x="0" y="56907"/>
                  <a:pt x="0" y="127000"/>
                </a:cubicBezTo>
                <a:cubicBezTo>
                  <a:pt x="0" y="197093"/>
                  <a:pt x="56907" y="254000"/>
                  <a:pt x="127000" y="254000"/>
                </a:cubicBezTo>
                <a:close/>
                <a:moveTo>
                  <a:pt x="111125" y="79375"/>
                </a:moveTo>
                <a:cubicBezTo>
                  <a:pt x="111125" y="70613"/>
                  <a:pt x="118238" y="63500"/>
                  <a:pt x="127000" y="63500"/>
                </a:cubicBezTo>
                <a:cubicBezTo>
                  <a:pt x="135762" y="63500"/>
                  <a:pt x="142875" y="70613"/>
                  <a:pt x="142875" y="79375"/>
                </a:cubicBezTo>
                <a:cubicBezTo>
                  <a:pt x="142875" y="88137"/>
                  <a:pt x="135762" y="95250"/>
                  <a:pt x="127000" y="95250"/>
                </a:cubicBezTo>
                <a:cubicBezTo>
                  <a:pt x="118238" y="95250"/>
                  <a:pt x="111125" y="88137"/>
                  <a:pt x="111125" y="79375"/>
                </a:cubicBezTo>
                <a:close/>
                <a:moveTo>
                  <a:pt x="107156" y="111125"/>
                </a:moveTo>
                <a:lnTo>
                  <a:pt x="130969" y="111125"/>
                </a:lnTo>
                <a:cubicBezTo>
                  <a:pt x="137567" y="111125"/>
                  <a:pt x="142875" y="116433"/>
                  <a:pt x="142875" y="123031"/>
                </a:cubicBezTo>
                <a:lnTo>
                  <a:pt x="142875" y="166688"/>
                </a:lnTo>
                <a:lnTo>
                  <a:pt x="146844" y="166688"/>
                </a:lnTo>
                <a:cubicBezTo>
                  <a:pt x="153442" y="166688"/>
                  <a:pt x="158750" y="171996"/>
                  <a:pt x="158750" y="178594"/>
                </a:cubicBezTo>
                <a:cubicBezTo>
                  <a:pt x="158750" y="185192"/>
                  <a:pt x="153442" y="190500"/>
                  <a:pt x="146844" y="190500"/>
                </a:cubicBezTo>
                <a:lnTo>
                  <a:pt x="107156" y="190500"/>
                </a:lnTo>
                <a:cubicBezTo>
                  <a:pt x="100558" y="190500"/>
                  <a:pt x="95250" y="185192"/>
                  <a:pt x="95250" y="178594"/>
                </a:cubicBezTo>
                <a:cubicBezTo>
                  <a:pt x="95250" y="171996"/>
                  <a:pt x="100558" y="166688"/>
                  <a:pt x="107156" y="166688"/>
                </a:cubicBezTo>
                <a:lnTo>
                  <a:pt x="119063" y="166688"/>
                </a:lnTo>
                <a:lnTo>
                  <a:pt x="119063" y="134938"/>
                </a:lnTo>
                <a:lnTo>
                  <a:pt x="107156" y="134938"/>
                </a:lnTo>
                <a:cubicBezTo>
                  <a:pt x="100558" y="134938"/>
                  <a:pt x="95250" y="129629"/>
                  <a:pt x="95250" y="123031"/>
                </a:cubicBezTo>
                <a:cubicBezTo>
                  <a:pt x="95250" y="116433"/>
                  <a:pt x="100558" y="111125"/>
                  <a:pt x="107156" y="111125"/>
                </a:cubicBezTo>
                <a:close/>
              </a:path>
            </a:pathLst>
          </a:custGeom>
          <a:solidFill>
            <a:srgbClr val="D69E2E"/>
          </a:solidFill>
          <a:ln/>
        </p:spPr>
        <p:txBody>
          <a:bodyPr/>
          <a:lstStyle/>
          <a:p>
            <a:endParaRPr lang="zh-CN" altLang="en-US"/>
          </a:p>
        </p:txBody>
      </p:sp>
      <p:sp>
        <p:nvSpPr>
          <p:cNvPr id="34" name="Text 32"/>
          <p:cNvSpPr/>
          <p:nvPr/>
        </p:nvSpPr>
        <p:spPr>
          <a:xfrm>
            <a:off x="9067800" y="5880100"/>
            <a:ext cx="1028700" cy="355600"/>
          </a:xfrm>
          <a:prstGeom prst="rect">
            <a:avLst/>
          </a:prstGeom>
          <a:noFill/>
          <a:ln/>
        </p:spPr>
        <p:txBody>
          <a:bodyPr wrap="square" lIns="0" tIns="0" rIns="0" bIns="0" rtlCol="0" anchor="ctr"/>
          <a:lstStyle/>
          <a:p>
            <a:pPr>
              <a:lnSpc>
                <a:spcPct val="130000"/>
              </a:lnSpc>
            </a:pPr>
            <a:r>
              <a:rPr lang="en-US" sz="1800" b="1" dirty="0">
                <a:solidFill>
                  <a:srgbClr val="E2E8F0"/>
                </a:solidFill>
                <a:latin typeface="MiSans" pitchFamily="34" charset="0"/>
                <a:ea typeface="MiSans" pitchFamily="34" charset="-122"/>
                <a:cs typeface="MiSans" pitchFamily="34" charset="-120"/>
              </a:rPr>
              <a:t>版本说明</a:t>
            </a:r>
            <a:endParaRPr lang="en-US" sz="1600" dirty="0"/>
          </a:p>
        </p:txBody>
      </p:sp>
      <p:sp>
        <p:nvSpPr>
          <p:cNvPr id="35" name="Text 33"/>
          <p:cNvSpPr/>
          <p:nvPr/>
        </p:nvSpPr>
        <p:spPr>
          <a:xfrm>
            <a:off x="8597900" y="6388100"/>
            <a:ext cx="6985000" cy="304800"/>
          </a:xfrm>
          <a:prstGeom prst="rect">
            <a:avLst/>
          </a:prstGeom>
          <a:noFill/>
          <a:ln/>
        </p:spPr>
        <p:txBody>
          <a:bodyPr wrap="square" lIns="0" tIns="0" rIns="0" bIns="0" rtlCol="0" anchor="ctr"/>
          <a:lstStyle/>
          <a:p>
            <a:pPr>
              <a:lnSpc>
                <a:spcPct val="130000"/>
              </a:lnSpc>
            </a:pPr>
            <a:r>
              <a:rPr lang="en-US" sz="1600" b="1" dirty="0">
                <a:solidFill>
                  <a:srgbClr val="D69E2E"/>
                </a:solidFill>
                <a:latin typeface="MiSans" pitchFamily="34" charset="0"/>
                <a:ea typeface="MiSans" pitchFamily="34" charset="-122"/>
                <a:cs typeface="MiSans" pitchFamily="34" charset="-120"/>
              </a:rPr>
              <a:t>默认基线：Hive 3.x</a:t>
            </a:r>
            <a:r>
              <a:rPr lang="en-US" sz="1600" dirty="0">
                <a:solidFill>
                  <a:srgbClr val="A0AEC0"/>
                </a:solidFill>
                <a:latin typeface="MiSans" pitchFamily="34" charset="0"/>
                <a:ea typeface="MiSans" pitchFamily="34" charset="-122"/>
                <a:cs typeface="MiSans" pitchFamily="34" charset="-120"/>
              </a:rPr>
              <a:t>（实现细节与源码路径以相应模块为准）</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97506" y="497506"/>
            <a:ext cx="15559492" cy="597007"/>
          </a:xfrm>
          <a:prstGeom prst="rect">
            <a:avLst/>
          </a:prstGeom>
          <a:noFill/>
          <a:ln/>
        </p:spPr>
        <p:txBody>
          <a:bodyPr wrap="square" lIns="0" tIns="0" rIns="0" bIns="0" rtlCol="0" anchor="ctr"/>
          <a:lstStyle/>
          <a:p>
            <a:pPr>
              <a:lnSpc>
                <a:spcPct val="80000"/>
              </a:lnSpc>
            </a:pPr>
            <a:r>
              <a:rPr lang="en-US" sz="4701" b="1" dirty="0">
                <a:solidFill>
                  <a:srgbClr val="E2E8F0"/>
                </a:solidFill>
                <a:latin typeface="Noto Sans SC" pitchFamily="34" charset="0"/>
                <a:ea typeface="Noto Sans SC" pitchFamily="34" charset="-122"/>
                <a:cs typeface="Noto Sans SC" pitchFamily="34" charset="-120"/>
              </a:rPr>
              <a:t>Apache Hive发展历程</a:t>
            </a:r>
            <a:endParaRPr lang="en-US" sz="1600" dirty="0"/>
          </a:p>
        </p:txBody>
      </p:sp>
      <p:sp>
        <p:nvSpPr>
          <p:cNvPr id="3" name="Shape 1"/>
          <p:cNvSpPr/>
          <p:nvPr/>
        </p:nvSpPr>
        <p:spPr>
          <a:xfrm>
            <a:off x="497506" y="1243764"/>
            <a:ext cx="1393016" cy="49751"/>
          </a:xfrm>
          <a:custGeom>
            <a:avLst/>
            <a:gdLst/>
            <a:ahLst/>
            <a:cxnLst/>
            <a:rect l="l" t="t" r="r" b="b"/>
            <a:pathLst>
              <a:path w="1393016" h="49751">
                <a:moveTo>
                  <a:pt x="0" y="0"/>
                </a:moveTo>
                <a:lnTo>
                  <a:pt x="1393016" y="0"/>
                </a:lnTo>
                <a:lnTo>
                  <a:pt x="1393016" y="49751"/>
                </a:lnTo>
                <a:lnTo>
                  <a:pt x="0" y="49751"/>
                </a:lnTo>
                <a:lnTo>
                  <a:pt x="0" y="0"/>
                </a:lnTo>
                <a:close/>
              </a:path>
            </a:pathLst>
          </a:custGeom>
          <a:solidFill>
            <a:srgbClr val="D69E2E"/>
          </a:solidFill>
          <a:ln/>
        </p:spPr>
        <p:txBody>
          <a:bodyPr/>
          <a:lstStyle/>
          <a:p>
            <a:endParaRPr lang="zh-CN" altLang="en-US"/>
          </a:p>
        </p:txBody>
      </p:sp>
      <p:sp>
        <p:nvSpPr>
          <p:cNvPr id="4" name="Text 2"/>
          <p:cNvSpPr/>
          <p:nvPr/>
        </p:nvSpPr>
        <p:spPr>
          <a:xfrm>
            <a:off x="497506" y="1592018"/>
            <a:ext cx="15372927" cy="733821"/>
          </a:xfrm>
          <a:prstGeom prst="rect">
            <a:avLst/>
          </a:prstGeom>
          <a:noFill/>
          <a:ln/>
        </p:spPr>
        <p:txBody>
          <a:bodyPr wrap="square" lIns="0" tIns="0" rIns="0" bIns="0" rtlCol="0" anchor="ctr"/>
          <a:lstStyle/>
          <a:p>
            <a:pPr>
              <a:lnSpc>
                <a:spcPct val="140000"/>
              </a:lnSpc>
            </a:pPr>
            <a:r>
              <a:rPr lang="en-US" sz="1763" b="1" dirty="0">
                <a:solidFill>
                  <a:srgbClr val="E2E8F0"/>
                </a:solidFill>
                <a:latin typeface="MiSans" pitchFamily="34" charset="0"/>
                <a:ea typeface="MiSans" pitchFamily="34" charset="-122"/>
                <a:cs typeface="MiSans" pitchFamily="34" charset="-120"/>
              </a:rPr>
              <a:t>Apache Hive</a:t>
            </a:r>
            <a:r>
              <a:rPr lang="en-US" sz="1763" dirty="0">
                <a:solidFill>
                  <a:srgbClr val="A0AEC0"/>
                </a:solidFill>
                <a:latin typeface="MiSans" pitchFamily="34" charset="0"/>
                <a:ea typeface="MiSans" pitchFamily="34" charset="-122"/>
                <a:cs typeface="MiSans" pitchFamily="34" charset="-120"/>
              </a:rPr>
              <a:t>是由Facebook开发的数据仓库解决方案，</a:t>
            </a:r>
            <a:r>
              <a:rPr lang="en-US" sz="1763" dirty="0">
                <a:solidFill>
                  <a:srgbClr val="D69E2E"/>
                </a:solidFill>
                <a:latin typeface="MiSans" pitchFamily="34" charset="0"/>
                <a:ea typeface="MiSans" pitchFamily="34" charset="-122"/>
                <a:cs typeface="MiSans" pitchFamily="34" charset="-120"/>
              </a:rPr>
              <a:t>2007年启动，2008年开源，2010年成为Apache顶级项目</a:t>
            </a:r>
            <a:r>
              <a:rPr lang="en-US" sz="1763" dirty="0">
                <a:solidFill>
                  <a:srgbClr val="A0AEC0"/>
                </a:solidFill>
                <a:latin typeface="MiSans" pitchFamily="34" charset="0"/>
                <a:ea typeface="MiSans" pitchFamily="34" charset="-122"/>
                <a:cs typeface="MiSans" pitchFamily="34" charset="-120"/>
              </a:rPr>
              <a:t>。Hive的设计目标是让熟悉SQL的分析师能够利用Hadoop集群处理海量数据，而无需学习复杂的MapReduce编程。</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97506" y="2618124"/>
          <a:ext cx="15260990" cy="4850680"/>
        </p:xfrm>
        <a:graphic>
          <a:graphicData uri="http://schemas.openxmlformats.org/drawingml/2006/table">
            <a:tbl>
              <a:tblPr/>
              <a:tblGrid>
                <a:gridCol w="2078781">
                  <a:extLst>
                    <a:ext uri="{9D8B030D-6E8A-4147-A177-3AD203B41FA5}">
                      <a16:colId xmlns:a16="http://schemas.microsoft.com/office/drawing/2014/main" val="20000"/>
                    </a:ext>
                  </a:extLst>
                </a:gridCol>
                <a:gridCol w="2377528">
                  <a:extLst>
                    <a:ext uri="{9D8B030D-6E8A-4147-A177-3AD203B41FA5}">
                      <a16:colId xmlns:a16="http://schemas.microsoft.com/office/drawing/2014/main" val="20001"/>
                    </a:ext>
                  </a:extLst>
                </a:gridCol>
                <a:gridCol w="6423059">
                  <a:extLst>
                    <a:ext uri="{9D8B030D-6E8A-4147-A177-3AD203B41FA5}">
                      <a16:colId xmlns:a16="http://schemas.microsoft.com/office/drawing/2014/main" val="20002"/>
                    </a:ext>
                  </a:extLst>
                </a:gridCol>
                <a:gridCol w="4381622">
                  <a:extLst>
                    <a:ext uri="{9D8B030D-6E8A-4147-A177-3AD203B41FA5}">
                      <a16:colId xmlns:a16="http://schemas.microsoft.com/office/drawing/2014/main" val="20003"/>
                    </a:ext>
                  </a:extLst>
                </a:gridCol>
              </a:tblGrid>
              <a:tr h="606335">
                <a:tc>
                  <a:txBody>
                    <a:bodyPr/>
                    <a:lstStyle/>
                    <a:p>
                      <a:pPr algn="l"/>
                      <a:r>
                        <a:rPr lang="en-US" sz="1500" b="1" u="none" dirty="0">
                          <a:solidFill>
                            <a:srgbClr val="E2E8F0"/>
                          </a:solidFill>
                          <a:latin typeface="微软雅黑" pitchFamily="34" charset="0"/>
                          <a:ea typeface="微软雅黑" pitchFamily="34" charset="-122"/>
                          <a:cs typeface="微软雅黑" pitchFamily="34" charset="-120"/>
                        </a:rPr>
                        <a:t>版本</a:t>
                      </a:r>
                      <a:endParaRPr lang="en-US" sz="1500" dirty="0">
                        <a:latin typeface="微软雅黑" charset="0"/>
                        <a:ea typeface="微软雅黑" charset="0"/>
                        <a:cs typeface="微软雅黑" charset="0"/>
                      </a:endParaRPr>
                    </a:p>
                  </a:txBody>
                  <a:tcPr anchor="ctr">
                    <a:lnL w="0" cap="flat" cmpd="sng" algn="ctr">
                      <a:noFill/>
                    </a:lnL>
                    <a:lnR w="12700" cap="flat" cmpd="sng" algn="ctr">
                      <a:solidFill>
                        <a:srgbClr val="1A202C"/>
                      </a:solidFill>
                      <a:prstDash val="solid"/>
                      <a:round/>
                      <a:headEnd type="none" w="med" len="med"/>
                      <a:tailEnd type="none" w="med" len="med"/>
                    </a:lnR>
                    <a:lnT w="0" cap="flat" cmpd="sng" algn="ctr">
                      <a:noFill/>
                    </a:lnT>
                    <a:lnB w="0" cap="flat" cmpd="sng" algn="ctr">
                      <a:noFill/>
                    </a:lnB>
                    <a:solidFill>
                      <a:srgbClr val="4A5568"/>
                    </a:solidFill>
                  </a:tcPr>
                </a:tc>
                <a:tc>
                  <a:txBody>
                    <a:bodyPr/>
                    <a:lstStyle/>
                    <a:p>
                      <a:pPr algn="l"/>
                      <a:r>
                        <a:rPr lang="en-US" sz="1500" b="1" u="none" dirty="0">
                          <a:solidFill>
                            <a:srgbClr val="E2E8F0"/>
                          </a:solidFill>
                          <a:latin typeface="微软雅黑" pitchFamily="34" charset="0"/>
                          <a:ea typeface="微软雅黑" pitchFamily="34" charset="-122"/>
                          <a:cs typeface="微软雅黑" pitchFamily="34" charset="-120"/>
                        </a:rPr>
                        <a:t>发布时间</a:t>
                      </a:r>
                      <a:endParaRPr lang="en-US" sz="1500" dirty="0">
                        <a:latin typeface="微软雅黑" charset="0"/>
                        <a:ea typeface="微软雅黑" charset="0"/>
                        <a:cs typeface="微软雅黑" charset="0"/>
                      </a:endParaRPr>
                    </a:p>
                  </a:txBody>
                  <a:tcPr anchor="ctr">
                    <a:lnL w="12700" cap="flat" cmpd="sng" algn="ctr">
                      <a:solidFill>
                        <a:srgbClr val="1A202C"/>
                      </a:solidFill>
                      <a:prstDash val="solid"/>
                      <a:round/>
                      <a:headEnd type="none" w="med" len="med"/>
                      <a:tailEnd type="none" w="med" len="med"/>
                    </a:lnL>
                    <a:lnR w="12700" cap="flat" cmpd="sng" algn="ctr">
                      <a:solidFill>
                        <a:srgbClr val="1A202C"/>
                      </a:solidFill>
                      <a:prstDash val="solid"/>
                      <a:round/>
                      <a:headEnd type="none" w="med" len="med"/>
                      <a:tailEnd type="none" w="med" len="med"/>
                    </a:lnR>
                    <a:lnT w="0" cap="flat" cmpd="sng" algn="ctr">
                      <a:noFill/>
                    </a:lnT>
                    <a:lnB w="0" cap="flat" cmpd="sng" algn="ctr">
                      <a:noFill/>
                    </a:lnB>
                    <a:solidFill>
                      <a:srgbClr val="4A5568"/>
                    </a:solidFill>
                  </a:tcPr>
                </a:tc>
                <a:tc>
                  <a:txBody>
                    <a:bodyPr/>
                    <a:lstStyle/>
                    <a:p>
                      <a:pPr algn="l"/>
                      <a:r>
                        <a:rPr lang="en-US" sz="1500" b="1" u="none" dirty="0">
                          <a:solidFill>
                            <a:srgbClr val="E2E8F0"/>
                          </a:solidFill>
                          <a:latin typeface="微软雅黑" pitchFamily="34" charset="0"/>
                          <a:ea typeface="微软雅黑" pitchFamily="34" charset="-122"/>
                          <a:cs typeface="微软雅黑" pitchFamily="34" charset="-120"/>
                        </a:rPr>
                        <a:t>核心特性</a:t>
                      </a:r>
                      <a:endParaRPr lang="en-US" sz="1500" dirty="0">
                        <a:latin typeface="微软雅黑" charset="0"/>
                        <a:ea typeface="微软雅黑" charset="0"/>
                        <a:cs typeface="微软雅黑" charset="0"/>
                      </a:endParaRPr>
                    </a:p>
                  </a:txBody>
                  <a:tcPr anchor="ctr">
                    <a:lnL w="12700" cap="flat" cmpd="sng" algn="ctr">
                      <a:solidFill>
                        <a:srgbClr val="1A202C"/>
                      </a:solidFill>
                      <a:prstDash val="solid"/>
                      <a:round/>
                      <a:headEnd type="none" w="med" len="med"/>
                      <a:tailEnd type="none" w="med" len="med"/>
                    </a:lnL>
                    <a:lnR w="12700" cap="flat" cmpd="sng" algn="ctr">
                      <a:solidFill>
                        <a:srgbClr val="1A202C"/>
                      </a:solidFill>
                      <a:prstDash val="solid"/>
                      <a:round/>
                      <a:headEnd type="none" w="med" len="med"/>
                      <a:tailEnd type="none" w="med" len="med"/>
                    </a:lnR>
                    <a:lnT w="0" cap="flat" cmpd="sng" algn="ctr">
                      <a:noFill/>
                    </a:lnT>
                    <a:lnB w="0" cap="flat" cmpd="sng" algn="ctr">
                      <a:noFill/>
                    </a:lnB>
                    <a:solidFill>
                      <a:srgbClr val="4A5568"/>
                    </a:solidFill>
                  </a:tcPr>
                </a:tc>
                <a:tc>
                  <a:txBody>
                    <a:bodyPr/>
                    <a:lstStyle/>
                    <a:p>
                      <a:pPr algn="l"/>
                      <a:r>
                        <a:rPr lang="en-US" sz="1500" b="1" u="none" dirty="0">
                          <a:solidFill>
                            <a:srgbClr val="E2E8F0"/>
                          </a:solidFill>
                          <a:latin typeface="微软雅黑" pitchFamily="34" charset="0"/>
                          <a:ea typeface="微软雅黑" pitchFamily="34" charset="-122"/>
                          <a:cs typeface="微软雅黑" pitchFamily="34" charset="-120"/>
                        </a:rPr>
                        <a:t>技术突破</a:t>
                      </a:r>
                      <a:endParaRPr lang="en-US" sz="1500" dirty="0">
                        <a:latin typeface="微软雅黑" charset="0"/>
                        <a:ea typeface="微软雅黑" charset="0"/>
                        <a:cs typeface="微软雅黑" charset="0"/>
                      </a:endParaRPr>
                    </a:p>
                  </a:txBody>
                  <a:tcPr anchor="ctr">
                    <a:lnL w="12700" cap="flat" cmpd="sng" algn="ctr">
                      <a:solidFill>
                        <a:srgbClr val="1A202C"/>
                      </a:solidFill>
                      <a:prstDash val="solid"/>
                      <a:round/>
                      <a:headEnd type="none" w="med" len="med"/>
                      <a:tailEnd type="none" w="med" len="med"/>
                    </a:lnL>
                    <a:lnR w="0" cap="flat" cmpd="sng" algn="ctr">
                      <a:noFill/>
                    </a:lnR>
                    <a:lnT w="0" cap="flat" cmpd="sng" algn="ctr">
                      <a:noFill/>
                    </a:lnT>
                    <a:lnB w="0" cap="flat" cmpd="sng" algn="ctr">
                      <a:noFill/>
                    </a:lnB>
                    <a:solidFill>
                      <a:srgbClr val="4A5568"/>
                    </a:solidFill>
                  </a:tcPr>
                </a:tc>
                <a:extLst>
                  <a:ext uri="{0D108BD9-81ED-4DB2-BD59-A6C34878D82A}">
                    <a16:rowId xmlns:a16="http://schemas.microsoft.com/office/drawing/2014/main" val="10000"/>
                  </a:ext>
                </a:extLst>
              </a:tr>
              <a:tr h="606335">
                <a:tc>
                  <a:txBody>
                    <a:bodyPr/>
                    <a:lstStyle/>
                    <a:p>
                      <a:r>
                        <a:rPr lang="en-US" sz="1500" b="1" u="none" dirty="0">
                          <a:solidFill>
                            <a:srgbClr val="D69E2E"/>
                          </a:solidFill>
                          <a:latin typeface="微软雅黑" pitchFamily="34" charset="0"/>
                          <a:ea typeface="微软雅黑" pitchFamily="34" charset="-122"/>
                          <a:cs typeface="微软雅黑" pitchFamily="34" charset="-120"/>
                        </a:rPr>
                        <a:t>Hive 0.x</a:t>
                      </a:r>
                      <a:endParaRPr lang="en-US" sz="15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0" cap="flat" cmpd="sng" algn="ctr">
                      <a:noFill/>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2008-2010</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0" cap="flat" cmpd="sng" algn="ctr">
                      <a:noFill/>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500" u="none" dirty="0">
                          <a:solidFill>
                            <a:srgbClr val="A0AEC0"/>
                          </a:solidFill>
                          <a:latin typeface="微软雅黑" pitchFamily="34" charset="0"/>
                          <a:ea typeface="微软雅黑" pitchFamily="34" charset="-122"/>
                          <a:cs typeface="微软雅黑" pitchFamily="34" charset="-120"/>
                        </a:rPr>
                        <a:t>基础SQL支持、MapReduce执行引擎</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0" cap="flat" cmpd="sng" algn="ctr">
                      <a:noFill/>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500" u="none" dirty="0">
                          <a:solidFill>
                            <a:srgbClr val="A0AEC0"/>
                          </a:solidFill>
                          <a:latin typeface="微软雅黑" pitchFamily="34" charset="0"/>
                          <a:ea typeface="微软雅黑" pitchFamily="34" charset="-122"/>
                          <a:cs typeface="微软雅黑" pitchFamily="34" charset="-120"/>
                        </a:rPr>
                        <a:t>建立SQL-on-Hadoop基础</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0" cap="flat" cmpd="sng" algn="ctr">
                      <a:noFill/>
                    </a:lnR>
                    <a:lnT w="0" cap="flat" cmpd="sng" algn="ctr">
                      <a:noFill/>
                    </a:lnT>
                    <a:lnB w="12700" cap="flat" cmpd="sng" algn="ctr">
                      <a:solidFill>
                        <a:srgbClr val="4A5568"/>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1"/>
                  </a:ext>
                </a:extLst>
              </a:tr>
              <a:tr h="606335">
                <a:tc>
                  <a:txBody>
                    <a:bodyPr/>
                    <a:lstStyle/>
                    <a:p>
                      <a:r>
                        <a:rPr lang="en-US" sz="1500" b="1" u="none" dirty="0">
                          <a:solidFill>
                            <a:srgbClr val="D69E2E"/>
                          </a:solidFill>
                          <a:latin typeface="微软雅黑" pitchFamily="34" charset="0"/>
                          <a:ea typeface="微软雅黑" pitchFamily="34" charset="-122"/>
                          <a:cs typeface="微软雅黑" pitchFamily="34" charset="-120"/>
                        </a:rPr>
                        <a:t>Hive 0.7</a:t>
                      </a:r>
                      <a:endParaRPr lang="en-US" sz="15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2010.10</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500" u="none" dirty="0">
                          <a:solidFill>
                            <a:srgbClr val="A0AEC0"/>
                          </a:solidFill>
                          <a:latin typeface="微软雅黑" pitchFamily="34" charset="0"/>
                          <a:ea typeface="微软雅黑" pitchFamily="34" charset="-122"/>
                          <a:cs typeface="微软雅黑" pitchFamily="34" charset="-120"/>
                        </a:rPr>
                        <a:t>索引支持、动态分区</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500" u="none" dirty="0">
                          <a:solidFill>
                            <a:srgbClr val="A0AEC0"/>
                          </a:solidFill>
                          <a:latin typeface="微软雅黑" pitchFamily="34" charset="0"/>
                          <a:ea typeface="微软雅黑" pitchFamily="34" charset="-122"/>
                          <a:cs typeface="微软雅黑" pitchFamily="34" charset="-120"/>
                        </a:rPr>
                        <a:t>性能优化基础</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0" cap="flat" cmpd="sng" algn="ctr">
                      <a:noFill/>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2"/>
                  </a:ext>
                </a:extLst>
              </a:tr>
              <a:tr h="606335">
                <a:tc>
                  <a:txBody>
                    <a:bodyPr/>
                    <a:lstStyle/>
                    <a:p>
                      <a:r>
                        <a:rPr lang="en-US" sz="1500" b="1" u="none" dirty="0">
                          <a:solidFill>
                            <a:srgbClr val="D69E2E"/>
                          </a:solidFill>
                          <a:latin typeface="微软雅黑" pitchFamily="34" charset="0"/>
                          <a:ea typeface="微软雅黑" pitchFamily="34" charset="-122"/>
                          <a:cs typeface="微软雅黑" pitchFamily="34" charset="-120"/>
                        </a:rPr>
                        <a:t>Hive 0.13</a:t>
                      </a:r>
                      <a:endParaRPr lang="en-US" sz="15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2014.04</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500" u="none" dirty="0">
                          <a:solidFill>
                            <a:srgbClr val="A0AEC0"/>
                          </a:solidFill>
                          <a:latin typeface="微软雅黑" pitchFamily="34" charset="0"/>
                          <a:ea typeface="微软雅黑" pitchFamily="34" charset="-122"/>
                          <a:cs typeface="微软雅黑" pitchFamily="34" charset="-120"/>
                        </a:rPr>
                        <a:t>Tez执行引擎、ORCFile格式</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500" u="none" dirty="0">
                          <a:solidFill>
                            <a:srgbClr val="A0AEC0"/>
                          </a:solidFill>
                          <a:latin typeface="微软雅黑" pitchFamily="34" charset="0"/>
                          <a:ea typeface="微软雅黑" pitchFamily="34" charset="-122"/>
                          <a:cs typeface="微软雅黑" pitchFamily="34" charset="-120"/>
                        </a:rPr>
                        <a:t>执行引擎革新</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0" cap="flat" cmpd="sng" algn="ctr">
                      <a:noFill/>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3"/>
                  </a:ext>
                </a:extLst>
              </a:tr>
              <a:tr h="606335">
                <a:tc>
                  <a:txBody>
                    <a:bodyPr/>
                    <a:lstStyle/>
                    <a:p>
                      <a:r>
                        <a:rPr lang="en-US" sz="1500" b="1" u="none" dirty="0">
                          <a:solidFill>
                            <a:srgbClr val="D69E2E"/>
                          </a:solidFill>
                          <a:latin typeface="微软雅黑" pitchFamily="34" charset="0"/>
                          <a:ea typeface="微软雅黑" pitchFamily="34" charset="-122"/>
                          <a:cs typeface="微软雅黑" pitchFamily="34" charset="-120"/>
                        </a:rPr>
                        <a:t>Hive 1.0</a:t>
                      </a:r>
                      <a:endParaRPr lang="en-US" sz="15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2015.02</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500" u="none" dirty="0">
                          <a:solidFill>
                            <a:srgbClr val="A0AEC0"/>
                          </a:solidFill>
                          <a:latin typeface="微软雅黑" pitchFamily="34" charset="0"/>
                          <a:ea typeface="微软雅黑" pitchFamily="34" charset="-122"/>
                          <a:cs typeface="微软雅黑" pitchFamily="34" charset="-120"/>
                        </a:rPr>
                        <a:t>LLAP（Live Long and Process）</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500" u="none" dirty="0">
                          <a:solidFill>
                            <a:srgbClr val="A0AEC0"/>
                          </a:solidFill>
                          <a:latin typeface="微软雅黑" pitchFamily="34" charset="0"/>
                          <a:ea typeface="微软雅黑" pitchFamily="34" charset="-122"/>
                          <a:cs typeface="微软雅黑" pitchFamily="34" charset="-120"/>
                        </a:rPr>
                        <a:t>实时查询加速</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0" cap="flat" cmpd="sng" algn="ctr">
                      <a:noFill/>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4"/>
                  </a:ext>
                </a:extLst>
              </a:tr>
              <a:tr h="606335">
                <a:tc>
                  <a:txBody>
                    <a:bodyPr/>
                    <a:lstStyle/>
                    <a:p>
                      <a:r>
                        <a:rPr lang="en-US" sz="1500" b="1" u="none" dirty="0">
                          <a:solidFill>
                            <a:srgbClr val="D69E2E"/>
                          </a:solidFill>
                          <a:latin typeface="微软雅黑" pitchFamily="34" charset="0"/>
                          <a:ea typeface="微软雅黑" pitchFamily="34" charset="-122"/>
                          <a:cs typeface="微软雅黑" pitchFamily="34" charset="-120"/>
                        </a:rPr>
                        <a:t>Hive 2.0</a:t>
                      </a:r>
                      <a:endParaRPr lang="en-US" sz="15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2016.02</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500" u="none" dirty="0">
                          <a:solidFill>
                            <a:srgbClr val="A0AEC0"/>
                          </a:solidFill>
                          <a:latin typeface="微软雅黑" pitchFamily="34" charset="0"/>
                          <a:ea typeface="微软雅黑" pitchFamily="34" charset="-122"/>
                          <a:cs typeface="微软雅黑" pitchFamily="34" charset="-120"/>
                        </a:rPr>
                        <a:t>HPLSQL过程语言、Beeline JDBC客户端</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500" u="none" dirty="0">
                          <a:solidFill>
                            <a:srgbClr val="A0AEC0"/>
                          </a:solidFill>
                          <a:latin typeface="微软雅黑" pitchFamily="34" charset="0"/>
                          <a:ea typeface="微软雅黑" pitchFamily="34" charset="-122"/>
                          <a:cs typeface="微软雅黑" pitchFamily="34" charset="-120"/>
                        </a:rPr>
                        <a:t>功能扩展和易用性提升</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0" cap="flat" cmpd="sng" algn="ctr">
                      <a:noFill/>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5"/>
                  </a:ext>
                </a:extLst>
              </a:tr>
              <a:tr h="606335">
                <a:tc>
                  <a:txBody>
                    <a:bodyPr/>
                    <a:lstStyle/>
                    <a:p>
                      <a:r>
                        <a:rPr lang="en-US" sz="1500" b="1" u="none" dirty="0">
                          <a:solidFill>
                            <a:srgbClr val="D69E2E"/>
                          </a:solidFill>
                          <a:latin typeface="微软雅黑" pitchFamily="34" charset="0"/>
                          <a:ea typeface="微软雅黑" pitchFamily="34" charset="-122"/>
                          <a:cs typeface="微软雅黑" pitchFamily="34" charset="-120"/>
                        </a:rPr>
                        <a:t>Hive 3.0</a:t>
                      </a:r>
                      <a:endParaRPr lang="en-US" sz="15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2018.05</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500" u="none" dirty="0">
                          <a:solidFill>
                            <a:srgbClr val="A0AEC0"/>
                          </a:solidFill>
                          <a:latin typeface="微软雅黑" pitchFamily="34" charset="0"/>
                          <a:ea typeface="微软雅黑" pitchFamily="34" charset="-122"/>
                          <a:cs typeface="微软雅黑" pitchFamily="34" charset="-120"/>
                        </a:rPr>
                        <a:t>Materialized Views、默认ACID事务支持</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500" u="none" dirty="0">
                          <a:solidFill>
                            <a:srgbClr val="A0AEC0"/>
                          </a:solidFill>
                          <a:latin typeface="微软雅黑" pitchFamily="34" charset="0"/>
                          <a:ea typeface="微软雅黑" pitchFamily="34" charset="-122"/>
                          <a:cs typeface="微软雅黑" pitchFamily="34" charset="-120"/>
                        </a:rPr>
                        <a:t>企业级特性增强</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0" cap="flat" cmpd="sng" algn="ctr">
                      <a:noFill/>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6"/>
                  </a:ext>
                </a:extLst>
              </a:tr>
              <a:tr h="606335">
                <a:tc>
                  <a:txBody>
                    <a:bodyPr/>
                    <a:lstStyle/>
                    <a:p>
                      <a:r>
                        <a:rPr lang="en-US" sz="1500" b="1" u="none" dirty="0">
                          <a:solidFill>
                            <a:srgbClr val="D69E2E"/>
                          </a:solidFill>
                          <a:latin typeface="微软雅黑" pitchFamily="34" charset="0"/>
                          <a:ea typeface="微软雅黑" pitchFamily="34" charset="-122"/>
                          <a:cs typeface="微软雅黑" pitchFamily="34" charset="-120"/>
                        </a:rPr>
                        <a:t>Hive 4.0</a:t>
                      </a:r>
                      <a:endParaRPr lang="en-US" sz="15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0" cap="flat" cmpd="sng" algn="ctr">
                      <a:noFill/>
                    </a:lnB>
                    <a:solidFill>
                      <a:srgbClr val="FFFFFF">
                        <a:alpha val="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2022.11</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0" cap="flat" cmpd="sng" algn="ctr">
                      <a:noFill/>
                    </a:lnB>
                    <a:solidFill>
                      <a:srgbClr val="FFFFFF">
                        <a:alpha val="0"/>
                      </a:srgbClr>
                    </a:solidFill>
                  </a:tcPr>
                </a:tc>
                <a:tc>
                  <a:txBody>
                    <a:bodyPr/>
                    <a:lstStyle/>
                    <a:p>
                      <a:r>
                        <a:rPr lang="en-US" sz="1500" u="none" dirty="0">
                          <a:solidFill>
                            <a:srgbClr val="A0AEC0"/>
                          </a:solidFill>
                          <a:latin typeface="微软雅黑" pitchFamily="34" charset="0"/>
                          <a:ea typeface="微软雅黑" pitchFamily="34" charset="-122"/>
                          <a:cs typeface="微软雅黑" pitchFamily="34" charset="-120"/>
                        </a:rPr>
                        <a:t>Iceberg表格式集成、查询结果缓存</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0" cap="flat" cmpd="sng" algn="ctr">
                      <a:noFill/>
                    </a:lnB>
                    <a:solidFill>
                      <a:srgbClr val="FFFFFF">
                        <a:alpha val="0"/>
                      </a:srgbClr>
                    </a:solidFill>
                  </a:tcPr>
                </a:tc>
                <a:tc>
                  <a:txBody>
                    <a:bodyPr/>
                    <a:lstStyle/>
                    <a:p>
                      <a:r>
                        <a:rPr lang="en-US" sz="1500" u="none" dirty="0">
                          <a:solidFill>
                            <a:srgbClr val="A0AEC0"/>
                          </a:solidFill>
                          <a:latin typeface="微软雅黑" pitchFamily="34" charset="0"/>
                          <a:ea typeface="微软雅黑" pitchFamily="34" charset="-122"/>
                          <a:cs typeface="微软雅黑" pitchFamily="34" charset="-120"/>
                        </a:rPr>
                        <a:t>现代化数据湖集成</a:t>
                      </a:r>
                      <a:endParaRPr lang="en-US" sz="15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0" cap="flat" cmpd="sng" algn="ctr">
                      <a:noFill/>
                    </a:lnR>
                    <a:lnT w="12700" cap="flat" cmpd="sng" algn="ctr">
                      <a:solidFill>
                        <a:srgbClr val="4A5568"/>
                      </a:solidFill>
                      <a:prstDash val="solid"/>
                      <a:round/>
                      <a:headEnd type="none" w="med" len="med"/>
                      <a:tailEnd type="none" w="med" len="med"/>
                    </a:lnT>
                    <a:lnB w="0" cap="flat" cmpd="sng" algn="ctr">
                      <a:noFill/>
                    </a:lnB>
                    <a:solidFill>
                      <a:srgbClr val="FFFFFF">
                        <a:alpha val="0"/>
                      </a:srgbClr>
                    </a:solidFill>
                  </a:tcPr>
                </a:tc>
                <a:extLst>
                  <a:ext uri="{0D108BD9-81ED-4DB2-BD59-A6C34878D82A}">
                    <a16:rowId xmlns:a16="http://schemas.microsoft.com/office/drawing/2014/main" val="10007"/>
                  </a:ext>
                </a:extLst>
              </a:tr>
            </a:tbl>
          </a:graphicData>
        </a:graphic>
      </p:graphicFrame>
      <p:sp>
        <p:nvSpPr>
          <p:cNvPr id="5" name="Shape 3"/>
          <p:cNvSpPr/>
          <p:nvPr/>
        </p:nvSpPr>
        <p:spPr>
          <a:xfrm>
            <a:off x="503725" y="7773527"/>
            <a:ext cx="4875556" cy="858197"/>
          </a:xfrm>
          <a:custGeom>
            <a:avLst/>
            <a:gdLst/>
            <a:ahLst/>
            <a:cxnLst/>
            <a:rect l="l" t="t" r="r" b="b"/>
            <a:pathLst>
              <a:path w="4875556" h="858197">
                <a:moveTo>
                  <a:pt x="0" y="0"/>
                </a:moveTo>
                <a:lnTo>
                  <a:pt x="4875556" y="0"/>
                </a:lnTo>
                <a:lnTo>
                  <a:pt x="4875556" y="858197"/>
                </a:lnTo>
                <a:lnTo>
                  <a:pt x="0" y="858197"/>
                </a:lnTo>
                <a:lnTo>
                  <a:pt x="0" y="0"/>
                </a:lnTo>
                <a:close/>
              </a:path>
            </a:pathLst>
          </a:custGeom>
          <a:solidFill>
            <a:srgbClr val="D69E2E">
              <a:alpha val="10196"/>
            </a:srgbClr>
          </a:solidFill>
          <a:ln w="12700">
            <a:solidFill>
              <a:srgbClr val="D69E2E"/>
            </a:solidFill>
            <a:prstDash val="solid"/>
          </a:ln>
        </p:spPr>
        <p:txBody>
          <a:bodyPr/>
          <a:lstStyle/>
          <a:p>
            <a:endParaRPr lang="zh-CN" altLang="en-US"/>
          </a:p>
        </p:txBody>
      </p:sp>
      <p:sp>
        <p:nvSpPr>
          <p:cNvPr id="7" name="Text 4"/>
          <p:cNvSpPr/>
          <p:nvPr/>
        </p:nvSpPr>
        <p:spPr>
          <a:xfrm>
            <a:off x="466412" y="7928998"/>
            <a:ext cx="4950182" cy="248753"/>
          </a:xfrm>
          <a:prstGeom prst="rect">
            <a:avLst/>
          </a:prstGeom>
          <a:noFill/>
          <a:ln/>
        </p:spPr>
        <p:txBody>
          <a:bodyPr wrap="square" lIns="0" tIns="0" rIns="0" bIns="0" rtlCol="0" anchor="ctr"/>
          <a:lstStyle/>
          <a:p>
            <a:pPr algn="ctr">
              <a:lnSpc>
                <a:spcPct val="120000"/>
              </a:lnSpc>
            </a:pPr>
            <a:r>
              <a:rPr lang="en-US" sz="1371" b="1" dirty="0">
                <a:solidFill>
                  <a:srgbClr val="D69E2E"/>
                </a:solidFill>
                <a:latin typeface="MiSans" pitchFamily="34" charset="0"/>
                <a:ea typeface="MiSans" pitchFamily="34" charset="-122"/>
                <a:cs typeface="MiSans" pitchFamily="34" charset="-120"/>
              </a:rPr>
              <a:t>执行引擎优化</a:t>
            </a:r>
            <a:endParaRPr lang="en-US" sz="1600" dirty="0"/>
          </a:p>
        </p:txBody>
      </p:sp>
      <p:sp>
        <p:nvSpPr>
          <p:cNvPr id="8" name="Text 5"/>
          <p:cNvSpPr/>
          <p:nvPr/>
        </p:nvSpPr>
        <p:spPr>
          <a:xfrm>
            <a:off x="466412" y="8227501"/>
            <a:ext cx="4950182" cy="248753"/>
          </a:xfrm>
          <a:prstGeom prst="rect">
            <a:avLst/>
          </a:prstGeom>
          <a:noFill/>
          <a:ln/>
        </p:spPr>
        <p:txBody>
          <a:bodyPr wrap="square" lIns="0" tIns="0" rIns="0" bIns="0" rtlCol="0" anchor="ctr"/>
          <a:lstStyle/>
          <a:p>
            <a:pPr algn="ctr">
              <a:lnSpc>
                <a:spcPct val="120000"/>
              </a:lnSpc>
            </a:pPr>
            <a:r>
              <a:rPr lang="en-US" sz="1371" dirty="0">
                <a:solidFill>
                  <a:srgbClr val="A0AEC0"/>
                </a:solidFill>
                <a:latin typeface="MiSans" pitchFamily="34" charset="0"/>
                <a:ea typeface="MiSans" pitchFamily="34" charset="-122"/>
                <a:cs typeface="MiSans" pitchFamily="34" charset="-120"/>
              </a:rPr>
              <a:t>Tez引擎带来2-5倍性能提升</a:t>
            </a:r>
            <a:endParaRPr lang="en-US" sz="1600" dirty="0"/>
          </a:p>
        </p:txBody>
      </p:sp>
      <p:sp>
        <p:nvSpPr>
          <p:cNvPr id="9" name="Shape 6"/>
          <p:cNvSpPr/>
          <p:nvPr/>
        </p:nvSpPr>
        <p:spPr>
          <a:xfrm>
            <a:off x="5688862" y="7773527"/>
            <a:ext cx="4875556" cy="858197"/>
          </a:xfrm>
          <a:custGeom>
            <a:avLst/>
            <a:gdLst/>
            <a:ahLst/>
            <a:cxnLst/>
            <a:rect l="l" t="t" r="r" b="b"/>
            <a:pathLst>
              <a:path w="4875556" h="858197">
                <a:moveTo>
                  <a:pt x="0" y="0"/>
                </a:moveTo>
                <a:lnTo>
                  <a:pt x="4875556" y="0"/>
                </a:lnTo>
                <a:lnTo>
                  <a:pt x="4875556" y="858197"/>
                </a:lnTo>
                <a:lnTo>
                  <a:pt x="0" y="858197"/>
                </a:lnTo>
                <a:lnTo>
                  <a:pt x="0" y="0"/>
                </a:lnTo>
                <a:close/>
              </a:path>
            </a:pathLst>
          </a:custGeom>
          <a:solidFill>
            <a:srgbClr val="D69E2E">
              <a:alpha val="10196"/>
            </a:srgbClr>
          </a:solidFill>
          <a:ln w="12700">
            <a:solidFill>
              <a:srgbClr val="D69E2E"/>
            </a:solidFill>
            <a:prstDash val="solid"/>
          </a:ln>
        </p:spPr>
        <p:txBody>
          <a:bodyPr/>
          <a:lstStyle/>
          <a:p>
            <a:endParaRPr lang="zh-CN" altLang="en-US"/>
          </a:p>
        </p:txBody>
      </p:sp>
      <p:sp>
        <p:nvSpPr>
          <p:cNvPr id="10" name="Text 7"/>
          <p:cNvSpPr/>
          <p:nvPr/>
        </p:nvSpPr>
        <p:spPr>
          <a:xfrm>
            <a:off x="5651549" y="7928998"/>
            <a:ext cx="4950182" cy="248753"/>
          </a:xfrm>
          <a:prstGeom prst="rect">
            <a:avLst/>
          </a:prstGeom>
          <a:noFill/>
          <a:ln/>
        </p:spPr>
        <p:txBody>
          <a:bodyPr wrap="square" lIns="0" tIns="0" rIns="0" bIns="0" rtlCol="0" anchor="ctr"/>
          <a:lstStyle/>
          <a:p>
            <a:pPr algn="ctr">
              <a:lnSpc>
                <a:spcPct val="120000"/>
              </a:lnSpc>
            </a:pPr>
            <a:r>
              <a:rPr lang="en-US" sz="1371" b="1" dirty="0">
                <a:solidFill>
                  <a:srgbClr val="D69E2E"/>
                </a:solidFill>
                <a:latin typeface="MiSans" pitchFamily="34" charset="0"/>
                <a:ea typeface="MiSans" pitchFamily="34" charset="-122"/>
                <a:cs typeface="MiSans" pitchFamily="34" charset="-120"/>
              </a:rPr>
              <a:t>事务处理能力</a:t>
            </a:r>
            <a:endParaRPr lang="en-US" sz="1600" dirty="0"/>
          </a:p>
        </p:txBody>
      </p:sp>
      <p:sp>
        <p:nvSpPr>
          <p:cNvPr id="11" name="Text 8"/>
          <p:cNvSpPr/>
          <p:nvPr/>
        </p:nvSpPr>
        <p:spPr>
          <a:xfrm>
            <a:off x="5651549" y="8227501"/>
            <a:ext cx="4950182" cy="248753"/>
          </a:xfrm>
          <a:prstGeom prst="rect">
            <a:avLst/>
          </a:prstGeom>
          <a:noFill/>
          <a:ln/>
        </p:spPr>
        <p:txBody>
          <a:bodyPr wrap="square" lIns="0" tIns="0" rIns="0" bIns="0" rtlCol="0" anchor="ctr"/>
          <a:lstStyle/>
          <a:p>
            <a:pPr algn="ctr">
              <a:lnSpc>
                <a:spcPct val="120000"/>
              </a:lnSpc>
            </a:pPr>
            <a:r>
              <a:rPr lang="en-US" sz="1371" dirty="0">
                <a:solidFill>
                  <a:srgbClr val="A0AEC0"/>
                </a:solidFill>
                <a:latin typeface="MiSans" pitchFamily="34" charset="0"/>
                <a:ea typeface="MiSans" pitchFamily="34" charset="-122"/>
                <a:cs typeface="MiSans" pitchFamily="34" charset="-120"/>
              </a:rPr>
              <a:t>Hive 3.0+实现完整ACID支持</a:t>
            </a:r>
            <a:endParaRPr lang="en-US" sz="1600" dirty="0"/>
          </a:p>
        </p:txBody>
      </p:sp>
      <p:sp>
        <p:nvSpPr>
          <p:cNvPr id="12" name="Shape 9"/>
          <p:cNvSpPr/>
          <p:nvPr/>
        </p:nvSpPr>
        <p:spPr>
          <a:xfrm>
            <a:off x="10873998" y="7773527"/>
            <a:ext cx="4875556" cy="858197"/>
          </a:xfrm>
          <a:custGeom>
            <a:avLst/>
            <a:gdLst/>
            <a:ahLst/>
            <a:cxnLst/>
            <a:rect l="l" t="t" r="r" b="b"/>
            <a:pathLst>
              <a:path w="4875556" h="858197">
                <a:moveTo>
                  <a:pt x="0" y="0"/>
                </a:moveTo>
                <a:lnTo>
                  <a:pt x="4875556" y="0"/>
                </a:lnTo>
                <a:lnTo>
                  <a:pt x="4875556" y="858197"/>
                </a:lnTo>
                <a:lnTo>
                  <a:pt x="0" y="858197"/>
                </a:lnTo>
                <a:lnTo>
                  <a:pt x="0" y="0"/>
                </a:lnTo>
                <a:close/>
              </a:path>
            </a:pathLst>
          </a:custGeom>
          <a:solidFill>
            <a:srgbClr val="D69E2E">
              <a:alpha val="10196"/>
            </a:srgbClr>
          </a:solidFill>
          <a:ln w="12700">
            <a:solidFill>
              <a:srgbClr val="D69E2E"/>
            </a:solidFill>
            <a:prstDash val="solid"/>
          </a:ln>
        </p:spPr>
        <p:txBody>
          <a:bodyPr/>
          <a:lstStyle/>
          <a:p>
            <a:endParaRPr lang="zh-CN" altLang="en-US"/>
          </a:p>
        </p:txBody>
      </p:sp>
      <p:sp>
        <p:nvSpPr>
          <p:cNvPr id="13" name="Text 10"/>
          <p:cNvSpPr/>
          <p:nvPr/>
        </p:nvSpPr>
        <p:spPr>
          <a:xfrm>
            <a:off x="10836686" y="7928998"/>
            <a:ext cx="4950182" cy="248753"/>
          </a:xfrm>
          <a:prstGeom prst="rect">
            <a:avLst/>
          </a:prstGeom>
          <a:noFill/>
          <a:ln/>
        </p:spPr>
        <p:txBody>
          <a:bodyPr wrap="square" lIns="0" tIns="0" rIns="0" bIns="0" rtlCol="0" anchor="ctr"/>
          <a:lstStyle/>
          <a:p>
            <a:pPr algn="ctr">
              <a:lnSpc>
                <a:spcPct val="120000"/>
              </a:lnSpc>
            </a:pPr>
            <a:r>
              <a:rPr lang="en-US" sz="1371" b="1" dirty="0">
                <a:solidFill>
                  <a:srgbClr val="D69E2E"/>
                </a:solidFill>
                <a:latin typeface="MiSans" pitchFamily="34" charset="0"/>
                <a:ea typeface="MiSans" pitchFamily="34" charset="-122"/>
                <a:cs typeface="MiSans" pitchFamily="34" charset="-120"/>
              </a:rPr>
              <a:t>数据湖集成</a:t>
            </a:r>
            <a:endParaRPr lang="en-US" sz="1600" dirty="0"/>
          </a:p>
        </p:txBody>
      </p:sp>
      <p:sp>
        <p:nvSpPr>
          <p:cNvPr id="14" name="Text 11"/>
          <p:cNvSpPr/>
          <p:nvPr/>
        </p:nvSpPr>
        <p:spPr>
          <a:xfrm>
            <a:off x="10836686" y="8227501"/>
            <a:ext cx="4950182" cy="248753"/>
          </a:xfrm>
          <a:prstGeom prst="rect">
            <a:avLst/>
          </a:prstGeom>
          <a:noFill/>
          <a:ln/>
        </p:spPr>
        <p:txBody>
          <a:bodyPr wrap="square" lIns="0" tIns="0" rIns="0" bIns="0" rtlCol="0" anchor="ctr"/>
          <a:lstStyle/>
          <a:p>
            <a:pPr algn="ctr">
              <a:lnSpc>
                <a:spcPct val="120000"/>
              </a:lnSpc>
            </a:pPr>
            <a:r>
              <a:rPr lang="en-US" sz="1371" dirty="0">
                <a:solidFill>
                  <a:srgbClr val="A0AEC0"/>
                </a:solidFill>
                <a:latin typeface="MiSans" pitchFamily="34" charset="0"/>
                <a:ea typeface="MiSans" pitchFamily="34" charset="-122"/>
                <a:cs typeface="MiSans" pitchFamily="34" charset="-120"/>
              </a:rPr>
              <a:t>Iceberg集成提供现代化数据架构</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508000" y="508000"/>
            <a:ext cx="15544800" cy="609600"/>
          </a:xfrm>
          <a:prstGeom prst="rect">
            <a:avLst/>
          </a:prstGeom>
          <a:noFill/>
          <a:ln/>
        </p:spPr>
        <p:txBody>
          <a:bodyPr wrap="square" lIns="0" tIns="0" rIns="0" bIns="0" rtlCol="0" anchor="ctr"/>
          <a:lstStyle/>
          <a:p>
            <a:pPr>
              <a:lnSpc>
                <a:spcPct val="80000"/>
              </a:lnSpc>
            </a:pPr>
            <a:r>
              <a:rPr lang="en-US" sz="4800" b="1" dirty="0">
                <a:solidFill>
                  <a:srgbClr val="E2E8F0"/>
                </a:solidFill>
                <a:latin typeface="Noto Sans SC" pitchFamily="34" charset="0"/>
                <a:ea typeface="Noto Sans SC" pitchFamily="34" charset="-122"/>
                <a:cs typeface="Noto Sans SC" pitchFamily="34" charset="-120"/>
              </a:rPr>
              <a:t>Hive核心设计目标</a:t>
            </a:r>
            <a:endParaRPr lang="en-US" sz="1600" dirty="0"/>
          </a:p>
        </p:txBody>
      </p:sp>
      <p:sp>
        <p:nvSpPr>
          <p:cNvPr id="3" name="Shape 1"/>
          <p:cNvSpPr/>
          <p:nvPr/>
        </p:nvSpPr>
        <p:spPr>
          <a:xfrm>
            <a:off x="508000" y="1270000"/>
            <a:ext cx="1422400" cy="50800"/>
          </a:xfrm>
          <a:custGeom>
            <a:avLst/>
            <a:gdLst/>
            <a:ahLst/>
            <a:cxnLst/>
            <a:rect l="l" t="t" r="r" b="b"/>
            <a:pathLst>
              <a:path w="1422400" h="50800">
                <a:moveTo>
                  <a:pt x="0" y="0"/>
                </a:moveTo>
                <a:lnTo>
                  <a:pt x="1422400" y="0"/>
                </a:lnTo>
                <a:lnTo>
                  <a:pt x="1422400" y="50800"/>
                </a:lnTo>
                <a:lnTo>
                  <a:pt x="0" y="50800"/>
                </a:lnTo>
                <a:lnTo>
                  <a:pt x="0" y="0"/>
                </a:lnTo>
                <a:close/>
              </a:path>
            </a:pathLst>
          </a:custGeom>
          <a:solidFill>
            <a:srgbClr val="D69E2E"/>
          </a:solidFill>
          <a:ln/>
        </p:spPr>
        <p:txBody>
          <a:bodyPr/>
          <a:lstStyle/>
          <a:p>
            <a:endParaRPr lang="zh-CN" altLang="en-US"/>
          </a:p>
        </p:txBody>
      </p:sp>
      <p:sp>
        <p:nvSpPr>
          <p:cNvPr id="4" name="Text 2"/>
          <p:cNvSpPr/>
          <p:nvPr/>
        </p:nvSpPr>
        <p:spPr>
          <a:xfrm>
            <a:off x="508000" y="1727200"/>
            <a:ext cx="15354300" cy="749300"/>
          </a:xfrm>
          <a:prstGeom prst="rect">
            <a:avLst/>
          </a:prstGeom>
          <a:noFill/>
          <a:ln/>
        </p:spPr>
        <p:txBody>
          <a:bodyPr wrap="square" lIns="0" tIns="0" rIns="0" bIns="0" rtlCol="0" anchor="ctr"/>
          <a:lstStyle/>
          <a:p>
            <a:pPr>
              <a:lnSpc>
                <a:spcPct val="140000"/>
              </a:lnSpc>
            </a:pPr>
            <a:r>
              <a:rPr lang="en-US" sz="1800" dirty="0">
                <a:solidFill>
                  <a:srgbClr val="A0AEC0"/>
                </a:solidFill>
                <a:latin typeface="MiSans" pitchFamily="34" charset="0"/>
                <a:ea typeface="MiSans" pitchFamily="34" charset="-122"/>
                <a:cs typeface="MiSans" pitchFamily="34" charset="-120"/>
              </a:rPr>
              <a:t>Hive的核心设计目标体现了对传统数据仓库局限性的深刻反思和技术突破，</a:t>
            </a:r>
            <a:r>
              <a:rPr lang="en-US" sz="1800" b="1" dirty="0">
                <a:solidFill>
                  <a:srgbClr val="E2E8F0"/>
                </a:solidFill>
                <a:latin typeface="MiSans" pitchFamily="34" charset="0"/>
                <a:ea typeface="MiSans" pitchFamily="34" charset="-122"/>
                <a:cs typeface="MiSans" pitchFamily="34" charset="-120"/>
              </a:rPr>
              <a:t>通过提供SQL接口、可扩展架构和成本效益</a:t>
            </a:r>
            <a:r>
              <a:rPr lang="en-US" sz="1800" dirty="0">
                <a:solidFill>
                  <a:srgbClr val="A0AEC0"/>
                </a:solidFill>
                <a:latin typeface="MiSans" pitchFamily="34" charset="0"/>
                <a:ea typeface="MiSans" pitchFamily="34" charset="-122"/>
                <a:cs typeface="MiSans" pitchFamily="34" charset="-120"/>
              </a:rPr>
              <a:t>，让数据分析师能够高效处理海量数据。</a:t>
            </a:r>
            <a:endParaRPr lang="en-US" sz="1600" dirty="0"/>
          </a:p>
        </p:txBody>
      </p:sp>
      <p:sp>
        <p:nvSpPr>
          <p:cNvPr id="5" name="Shape 3"/>
          <p:cNvSpPr/>
          <p:nvPr/>
        </p:nvSpPr>
        <p:spPr>
          <a:xfrm>
            <a:off x="533400" y="2876550"/>
            <a:ext cx="50800" cy="2286000"/>
          </a:xfrm>
          <a:custGeom>
            <a:avLst/>
            <a:gdLst/>
            <a:ahLst/>
            <a:cxnLst/>
            <a:rect l="l" t="t" r="r" b="b"/>
            <a:pathLst>
              <a:path w="50800" h="2286000">
                <a:moveTo>
                  <a:pt x="0" y="0"/>
                </a:moveTo>
                <a:lnTo>
                  <a:pt x="50800" y="0"/>
                </a:lnTo>
                <a:lnTo>
                  <a:pt x="50800" y="2286000"/>
                </a:lnTo>
                <a:lnTo>
                  <a:pt x="0" y="2286000"/>
                </a:lnTo>
                <a:lnTo>
                  <a:pt x="0" y="0"/>
                </a:lnTo>
                <a:close/>
              </a:path>
            </a:pathLst>
          </a:custGeom>
          <a:solidFill>
            <a:srgbClr val="D69E2E"/>
          </a:solidFill>
          <a:ln/>
        </p:spPr>
        <p:txBody>
          <a:bodyPr/>
          <a:lstStyle/>
          <a:p>
            <a:endParaRPr lang="zh-CN" altLang="en-US"/>
          </a:p>
        </p:txBody>
      </p:sp>
      <p:sp>
        <p:nvSpPr>
          <p:cNvPr id="6" name="Shape 4"/>
          <p:cNvSpPr/>
          <p:nvPr/>
        </p:nvSpPr>
        <p:spPr>
          <a:xfrm>
            <a:off x="901700" y="3105150"/>
            <a:ext cx="304800" cy="304800"/>
          </a:xfrm>
          <a:custGeom>
            <a:avLst/>
            <a:gdLst/>
            <a:ahLst/>
            <a:cxnLst/>
            <a:rect l="l" t="t" r="r" b="b"/>
            <a:pathLst>
              <a:path w="304800" h="304800">
                <a:moveTo>
                  <a:pt x="5596" y="70604"/>
                </a:moveTo>
                <a:cubicBezTo>
                  <a:pt x="-1845" y="63163"/>
                  <a:pt x="-1845" y="51078"/>
                  <a:pt x="5596" y="43636"/>
                </a:cubicBezTo>
                <a:cubicBezTo>
                  <a:pt x="13037" y="36195"/>
                  <a:pt x="25122" y="36195"/>
                  <a:pt x="32564" y="43636"/>
                </a:cubicBezTo>
                <a:lnTo>
                  <a:pt x="127814" y="138886"/>
                </a:lnTo>
                <a:cubicBezTo>
                  <a:pt x="135255" y="146328"/>
                  <a:pt x="135255" y="158413"/>
                  <a:pt x="127814" y="165854"/>
                </a:cubicBezTo>
                <a:lnTo>
                  <a:pt x="32564" y="261104"/>
                </a:lnTo>
                <a:cubicBezTo>
                  <a:pt x="25122" y="268545"/>
                  <a:pt x="13037" y="268545"/>
                  <a:pt x="5596" y="261104"/>
                </a:cubicBezTo>
                <a:cubicBezTo>
                  <a:pt x="-1845" y="253663"/>
                  <a:pt x="-1845" y="241578"/>
                  <a:pt x="5596" y="234136"/>
                </a:cubicBezTo>
                <a:lnTo>
                  <a:pt x="87332" y="152400"/>
                </a:lnTo>
                <a:lnTo>
                  <a:pt x="5596" y="70604"/>
                </a:lnTo>
                <a:close/>
                <a:moveTo>
                  <a:pt x="133350" y="228600"/>
                </a:moveTo>
                <a:lnTo>
                  <a:pt x="285750" y="228600"/>
                </a:lnTo>
                <a:cubicBezTo>
                  <a:pt x="296287" y="228600"/>
                  <a:pt x="304800" y="237113"/>
                  <a:pt x="304800" y="247650"/>
                </a:cubicBezTo>
                <a:cubicBezTo>
                  <a:pt x="304800" y="258187"/>
                  <a:pt x="296287" y="266700"/>
                  <a:pt x="285750" y="266700"/>
                </a:cubicBezTo>
                <a:lnTo>
                  <a:pt x="133350" y="266700"/>
                </a:lnTo>
                <a:cubicBezTo>
                  <a:pt x="122813" y="266700"/>
                  <a:pt x="114300" y="258187"/>
                  <a:pt x="114300" y="247650"/>
                </a:cubicBezTo>
                <a:cubicBezTo>
                  <a:pt x="114300" y="237113"/>
                  <a:pt x="122813" y="228600"/>
                  <a:pt x="133350" y="228600"/>
                </a:cubicBezTo>
                <a:close/>
              </a:path>
            </a:pathLst>
          </a:custGeom>
          <a:solidFill>
            <a:srgbClr val="D69E2E"/>
          </a:solidFill>
          <a:ln/>
        </p:spPr>
        <p:txBody>
          <a:bodyPr/>
          <a:lstStyle/>
          <a:p>
            <a:endParaRPr lang="zh-CN" altLang="en-US"/>
          </a:p>
        </p:txBody>
      </p:sp>
      <p:sp>
        <p:nvSpPr>
          <p:cNvPr id="7" name="Text 5"/>
          <p:cNvSpPr/>
          <p:nvPr/>
        </p:nvSpPr>
        <p:spPr>
          <a:xfrm>
            <a:off x="1397000" y="3079750"/>
            <a:ext cx="21336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Noto Sans SC" pitchFamily="34" charset="0"/>
                <a:ea typeface="Noto Sans SC" pitchFamily="34" charset="-122"/>
                <a:cs typeface="Noto Sans SC" pitchFamily="34" charset="-120"/>
              </a:rPr>
              <a:t>SQL接口的易用性</a:t>
            </a:r>
            <a:endParaRPr lang="en-US" sz="1600" dirty="0"/>
          </a:p>
        </p:txBody>
      </p:sp>
      <p:sp>
        <p:nvSpPr>
          <p:cNvPr id="8" name="Text 6"/>
          <p:cNvSpPr/>
          <p:nvPr/>
        </p:nvSpPr>
        <p:spPr>
          <a:xfrm>
            <a:off x="863600" y="3638550"/>
            <a:ext cx="4622800" cy="13208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通过提供熟悉的SQL接口，Hive让数据分析师能够利用现有的SQL技能处理Hadoop上的海量数据，无需学习复杂的MapReduce编程。</a:t>
            </a:r>
            <a:r>
              <a:rPr lang="en-US" sz="1600" dirty="0">
                <a:solidFill>
                  <a:srgbClr val="D69E2E"/>
                </a:solidFill>
                <a:latin typeface="MiSans" pitchFamily="34" charset="0"/>
                <a:ea typeface="MiSans" pitchFamily="34" charset="-122"/>
                <a:cs typeface="MiSans" pitchFamily="34" charset="-120"/>
              </a:rPr>
              <a:t>极大降低了大数据技术的使用门槛</a:t>
            </a:r>
            <a:r>
              <a:rPr lang="en-US" sz="1600" dirty="0">
                <a:solidFill>
                  <a:srgbClr val="A0AEC0"/>
                </a:solidFill>
                <a:latin typeface="MiSans" pitchFamily="34" charset="0"/>
                <a:ea typeface="MiSans" pitchFamily="34" charset="-122"/>
                <a:cs typeface="MiSans" pitchFamily="34" charset="-120"/>
              </a:rPr>
              <a:t>。</a:t>
            </a:r>
            <a:endParaRPr lang="en-US" sz="1600" dirty="0"/>
          </a:p>
        </p:txBody>
      </p:sp>
      <p:sp>
        <p:nvSpPr>
          <p:cNvPr id="9" name="Shape 7"/>
          <p:cNvSpPr/>
          <p:nvPr/>
        </p:nvSpPr>
        <p:spPr>
          <a:xfrm>
            <a:off x="5715000" y="2876550"/>
            <a:ext cx="50800" cy="2286000"/>
          </a:xfrm>
          <a:custGeom>
            <a:avLst/>
            <a:gdLst/>
            <a:ahLst/>
            <a:cxnLst/>
            <a:rect l="l" t="t" r="r" b="b"/>
            <a:pathLst>
              <a:path w="50800" h="2286000">
                <a:moveTo>
                  <a:pt x="0" y="0"/>
                </a:moveTo>
                <a:lnTo>
                  <a:pt x="50800" y="0"/>
                </a:lnTo>
                <a:lnTo>
                  <a:pt x="50800" y="2286000"/>
                </a:lnTo>
                <a:lnTo>
                  <a:pt x="0" y="2286000"/>
                </a:lnTo>
                <a:lnTo>
                  <a:pt x="0" y="0"/>
                </a:lnTo>
                <a:close/>
              </a:path>
            </a:pathLst>
          </a:custGeom>
          <a:solidFill>
            <a:srgbClr val="D69E2E"/>
          </a:solidFill>
          <a:ln/>
        </p:spPr>
        <p:txBody>
          <a:bodyPr/>
          <a:lstStyle/>
          <a:p>
            <a:endParaRPr lang="zh-CN" altLang="en-US"/>
          </a:p>
        </p:txBody>
      </p:sp>
      <p:sp>
        <p:nvSpPr>
          <p:cNvPr id="10" name="Shape 8"/>
          <p:cNvSpPr/>
          <p:nvPr/>
        </p:nvSpPr>
        <p:spPr>
          <a:xfrm>
            <a:off x="6102350" y="3105150"/>
            <a:ext cx="266700" cy="304800"/>
          </a:xfrm>
          <a:custGeom>
            <a:avLst/>
            <a:gdLst/>
            <a:ahLst/>
            <a:cxnLst/>
            <a:rect l="l" t="t" r="r" b="b"/>
            <a:pathLst>
              <a:path w="266700" h="304800">
                <a:moveTo>
                  <a:pt x="100013" y="19050"/>
                </a:moveTo>
                <a:lnTo>
                  <a:pt x="14288" y="19050"/>
                </a:lnTo>
                <a:cubicBezTo>
                  <a:pt x="6370" y="19050"/>
                  <a:pt x="0" y="25420"/>
                  <a:pt x="0" y="33338"/>
                </a:cubicBezTo>
                <a:lnTo>
                  <a:pt x="0" y="119062"/>
                </a:lnTo>
                <a:cubicBezTo>
                  <a:pt x="0" y="124837"/>
                  <a:pt x="3453" y="130076"/>
                  <a:pt x="8811" y="132278"/>
                </a:cubicBezTo>
                <a:cubicBezTo>
                  <a:pt x="14168" y="134481"/>
                  <a:pt x="20300" y="133231"/>
                  <a:pt x="24408" y="129183"/>
                </a:cubicBezTo>
                <a:lnTo>
                  <a:pt x="48220" y="105370"/>
                </a:lnTo>
                <a:lnTo>
                  <a:pt x="95250" y="152400"/>
                </a:lnTo>
                <a:lnTo>
                  <a:pt x="48220" y="199430"/>
                </a:lnTo>
                <a:lnTo>
                  <a:pt x="24408" y="175617"/>
                </a:lnTo>
                <a:cubicBezTo>
                  <a:pt x="20300" y="171510"/>
                  <a:pt x="14168" y="170319"/>
                  <a:pt x="8811" y="172522"/>
                </a:cubicBezTo>
                <a:cubicBezTo>
                  <a:pt x="3453" y="174724"/>
                  <a:pt x="0" y="179963"/>
                  <a:pt x="0" y="185738"/>
                </a:cubicBezTo>
                <a:lnTo>
                  <a:pt x="0" y="271463"/>
                </a:lnTo>
                <a:cubicBezTo>
                  <a:pt x="0" y="279380"/>
                  <a:pt x="6370" y="285750"/>
                  <a:pt x="14288" y="285750"/>
                </a:cubicBezTo>
                <a:lnTo>
                  <a:pt x="100013" y="285750"/>
                </a:lnTo>
                <a:cubicBezTo>
                  <a:pt x="105787" y="285750"/>
                  <a:pt x="111026" y="282297"/>
                  <a:pt x="113228" y="276939"/>
                </a:cubicBezTo>
                <a:cubicBezTo>
                  <a:pt x="115431" y="271582"/>
                  <a:pt x="114240" y="265450"/>
                  <a:pt x="110133" y="261342"/>
                </a:cubicBezTo>
                <a:lnTo>
                  <a:pt x="86320" y="237530"/>
                </a:lnTo>
                <a:lnTo>
                  <a:pt x="133350" y="190500"/>
                </a:lnTo>
                <a:lnTo>
                  <a:pt x="180380" y="237530"/>
                </a:lnTo>
                <a:lnTo>
                  <a:pt x="156567" y="261342"/>
                </a:lnTo>
                <a:cubicBezTo>
                  <a:pt x="152460" y="265450"/>
                  <a:pt x="151269" y="271582"/>
                  <a:pt x="153472" y="276939"/>
                </a:cubicBezTo>
                <a:cubicBezTo>
                  <a:pt x="155674" y="282297"/>
                  <a:pt x="160913" y="285750"/>
                  <a:pt x="166688" y="285750"/>
                </a:cubicBezTo>
                <a:lnTo>
                  <a:pt x="252413" y="285750"/>
                </a:lnTo>
                <a:cubicBezTo>
                  <a:pt x="260330" y="285750"/>
                  <a:pt x="266700" y="279380"/>
                  <a:pt x="266700" y="271463"/>
                </a:cubicBezTo>
                <a:lnTo>
                  <a:pt x="266700" y="185738"/>
                </a:lnTo>
                <a:cubicBezTo>
                  <a:pt x="266700" y="179963"/>
                  <a:pt x="263247" y="174724"/>
                  <a:pt x="257889" y="172522"/>
                </a:cubicBezTo>
                <a:cubicBezTo>
                  <a:pt x="252532" y="170319"/>
                  <a:pt x="246400" y="171510"/>
                  <a:pt x="242292" y="175617"/>
                </a:cubicBezTo>
                <a:lnTo>
                  <a:pt x="218480" y="199430"/>
                </a:lnTo>
                <a:lnTo>
                  <a:pt x="171450" y="152400"/>
                </a:lnTo>
                <a:lnTo>
                  <a:pt x="218480" y="105370"/>
                </a:lnTo>
                <a:lnTo>
                  <a:pt x="242292" y="129183"/>
                </a:lnTo>
                <a:cubicBezTo>
                  <a:pt x="246400" y="133290"/>
                  <a:pt x="252532" y="134481"/>
                  <a:pt x="257889" y="132278"/>
                </a:cubicBezTo>
                <a:cubicBezTo>
                  <a:pt x="263247" y="130076"/>
                  <a:pt x="266700" y="124837"/>
                  <a:pt x="266700" y="119062"/>
                </a:cubicBezTo>
                <a:lnTo>
                  <a:pt x="266700" y="33338"/>
                </a:lnTo>
                <a:cubicBezTo>
                  <a:pt x="266700" y="25420"/>
                  <a:pt x="260330" y="19050"/>
                  <a:pt x="252413" y="19050"/>
                </a:cubicBezTo>
                <a:lnTo>
                  <a:pt x="166688" y="19050"/>
                </a:lnTo>
                <a:cubicBezTo>
                  <a:pt x="160913" y="19050"/>
                  <a:pt x="155674" y="22503"/>
                  <a:pt x="153472" y="27861"/>
                </a:cubicBezTo>
                <a:cubicBezTo>
                  <a:pt x="151269" y="33218"/>
                  <a:pt x="152519" y="39350"/>
                  <a:pt x="156567" y="43458"/>
                </a:cubicBezTo>
                <a:lnTo>
                  <a:pt x="180380" y="67270"/>
                </a:lnTo>
                <a:lnTo>
                  <a:pt x="133350" y="114300"/>
                </a:lnTo>
                <a:lnTo>
                  <a:pt x="86320" y="67270"/>
                </a:lnTo>
                <a:lnTo>
                  <a:pt x="110133" y="43458"/>
                </a:lnTo>
                <a:cubicBezTo>
                  <a:pt x="114240" y="39350"/>
                  <a:pt x="115431" y="33218"/>
                  <a:pt x="113228" y="27861"/>
                </a:cubicBezTo>
                <a:cubicBezTo>
                  <a:pt x="111026" y="22503"/>
                  <a:pt x="105787" y="19050"/>
                  <a:pt x="100013" y="19050"/>
                </a:cubicBezTo>
                <a:close/>
              </a:path>
            </a:pathLst>
          </a:custGeom>
          <a:solidFill>
            <a:srgbClr val="D69E2E"/>
          </a:solidFill>
          <a:ln/>
        </p:spPr>
        <p:txBody>
          <a:bodyPr/>
          <a:lstStyle/>
          <a:p>
            <a:endParaRPr lang="zh-CN" altLang="en-US"/>
          </a:p>
        </p:txBody>
      </p:sp>
      <p:sp>
        <p:nvSpPr>
          <p:cNvPr id="11" name="Text 9"/>
          <p:cNvSpPr/>
          <p:nvPr/>
        </p:nvSpPr>
        <p:spPr>
          <a:xfrm>
            <a:off x="6578600" y="3079750"/>
            <a:ext cx="21590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Noto Sans SC" pitchFamily="34" charset="0"/>
                <a:ea typeface="Noto Sans SC" pitchFamily="34" charset="-122"/>
                <a:cs typeface="Noto Sans SC" pitchFamily="34" charset="-120"/>
              </a:rPr>
              <a:t>可扩展性和容错性</a:t>
            </a:r>
            <a:endParaRPr lang="en-US" sz="1600" dirty="0"/>
          </a:p>
        </p:txBody>
      </p:sp>
      <p:sp>
        <p:nvSpPr>
          <p:cNvPr id="12" name="Text 10"/>
          <p:cNvSpPr/>
          <p:nvPr/>
        </p:nvSpPr>
        <p:spPr>
          <a:xfrm>
            <a:off x="6045200" y="3638550"/>
            <a:ext cx="4622800" cy="13208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基于Hadoop生态系统，Hive能够轻松扩展到数千节点的集群规模，处理PB级别的数据。HDFS的分布式存储特性和MapReduce/Tez的容错机制确保了数据处理过程的可靠性。</a:t>
            </a:r>
            <a:endParaRPr lang="en-US" sz="1600" dirty="0"/>
          </a:p>
        </p:txBody>
      </p:sp>
      <p:sp>
        <p:nvSpPr>
          <p:cNvPr id="13" name="Shape 11"/>
          <p:cNvSpPr/>
          <p:nvPr/>
        </p:nvSpPr>
        <p:spPr>
          <a:xfrm>
            <a:off x="10896600" y="2876550"/>
            <a:ext cx="50800" cy="2286000"/>
          </a:xfrm>
          <a:custGeom>
            <a:avLst/>
            <a:gdLst/>
            <a:ahLst/>
            <a:cxnLst/>
            <a:rect l="l" t="t" r="r" b="b"/>
            <a:pathLst>
              <a:path w="50800" h="2286000">
                <a:moveTo>
                  <a:pt x="0" y="0"/>
                </a:moveTo>
                <a:lnTo>
                  <a:pt x="50800" y="0"/>
                </a:lnTo>
                <a:lnTo>
                  <a:pt x="50800" y="2286000"/>
                </a:lnTo>
                <a:lnTo>
                  <a:pt x="0" y="2286000"/>
                </a:lnTo>
                <a:lnTo>
                  <a:pt x="0" y="0"/>
                </a:lnTo>
                <a:close/>
              </a:path>
            </a:pathLst>
          </a:custGeom>
          <a:solidFill>
            <a:srgbClr val="D69E2E"/>
          </a:solidFill>
          <a:ln/>
        </p:spPr>
        <p:txBody>
          <a:bodyPr/>
          <a:lstStyle/>
          <a:p>
            <a:endParaRPr lang="zh-CN" altLang="en-US"/>
          </a:p>
        </p:txBody>
      </p:sp>
      <p:sp>
        <p:nvSpPr>
          <p:cNvPr id="14" name="Shape 12"/>
          <p:cNvSpPr/>
          <p:nvPr/>
        </p:nvSpPr>
        <p:spPr>
          <a:xfrm>
            <a:off x="11226800" y="3105150"/>
            <a:ext cx="381000" cy="304800"/>
          </a:xfrm>
          <a:custGeom>
            <a:avLst/>
            <a:gdLst/>
            <a:ahLst/>
            <a:cxnLst/>
            <a:rect l="l" t="t" r="r" b="b"/>
            <a:pathLst>
              <a:path w="381000" h="304800">
                <a:moveTo>
                  <a:pt x="247590" y="125313"/>
                </a:moveTo>
                <a:cubicBezTo>
                  <a:pt x="254853" y="123349"/>
                  <a:pt x="262473" y="126802"/>
                  <a:pt x="265747" y="133529"/>
                </a:cubicBezTo>
                <a:lnTo>
                  <a:pt x="276820" y="155912"/>
                </a:lnTo>
                <a:cubicBezTo>
                  <a:pt x="282952" y="156746"/>
                  <a:pt x="288965" y="158413"/>
                  <a:pt x="294620" y="160734"/>
                </a:cubicBezTo>
                <a:lnTo>
                  <a:pt x="315456" y="146864"/>
                </a:lnTo>
                <a:cubicBezTo>
                  <a:pt x="321707" y="142696"/>
                  <a:pt x="329982" y="143530"/>
                  <a:pt x="335280" y="148828"/>
                </a:cubicBezTo>
                <a:lnTo>
                  <a:pt x="346710" y="160258"/>
                </a:lnTo>
                <a:cubicBezTo>
                  <a:pt x="352008" y="165556"/>
                  <a:pt x="352842" y="173891"/>
                  <a:pt x="348675" y="180082"/>
                </a:cubicBezTo>
                <a:lnTo>
                  <a:pt x="334804" y="200858"/>
                </a:lnTo>
                <a:cubicBezTo>
                  <a:pt x="335935" y="203656"/>
                  <a:pt x="336947" y="206573"/>
                  <a:pt x="337780" y="209610"/>
                </a:cubicBezTo>
                <a:cubicBezTo>
                  <a:pt x="338614" y="212646"/>
                  <a:pt x="339150" y="215622"/>
                  <a:pt x="339566" y="218658"/>
                </a:cubicBezTo>
                <a:lnTo>
                  <a:pt x="362010" y="229731"/>
                </a:lnTo>
                <a:cubicBezTo>
                  <a:pt x="368737" y="233065"/>
                  <a:pt x="372189" y="240685"/>
                  <a:pt x="370225" y="247888"/>
                </a:cubicBezTo>
                <a:lnTo>
                  <a:pt x="366058" y="263485"/>
                </a:lnTo>
                <a:cubicBezTo>
                  <a:pt x="364093" y="270689"/>
                  <a:pt x="357366" y="275570"/>
                  <a:pt x="349865" y="275094"/>
                </a:cubicBezTo>
                <a:lnTo>
                  <a:pt x="324862" y="273487"/>
                </a:lnTo>
                <a:cubicBezTo>
                  <a:pt x="321112" y="278309"/>
                  <a:pt x="316766" y="282773"/>
                  <a:pt x="311825" y="286583"/>
                </a:cubicBezTo>
                <a:lnTo>
                  <a:pt x="313432" y="311527"/>
                </a:lnTo>
                <a:cubicBezTo>
                  <a:pt x="313908" y="319028"/>
                  <a:pt x="309027" y="325815"/>
                  <a:pt x="301823" y="327720"/>
                </a:cubicBezTo>
                <a:lnTo>
                  <a:pt x="286226" y="331887"/>
                </a:lnTo>
                <a:cubicBezTo>
                  <a:pt x="278963" y="333851"/>
                  <a:pt x="271403" y="330398"/>
                  <a:pt x="268069" y="323671"/>
                </a:cubicBezTo>
                <a:lnTo>
                  <a:pt x="256996" y="301288"/>
                </a:lnTo>
                <a:cubicBezTo>
                  <a:pt x="250865" y="300454"/>
                  <a:pt x="244852" y="298787"/>
                  <a:pt x="239197" y="296466"/>
                </a:cubicBezTo>
                <a:lnTo>
                  <a:pt x="218361" y="310336"/>
                </a:lnTo>
                <a:cubicBezTo>
                  <a:pt x="212110" y="314504"/>
                  <a:pt x="203835" y="313670"/>
                  <a:pt x="198537" y="308372"/>
                </a:cubicBezTo>
                <a:lnTo>
                  <a:pt x="187107" y="296942"/>
                </a:lnTo>
                <a:cubicBezTo>
                  <a:pt x="181808" y="291644"/>
                  <a:pt x="180975" y="283369"/>
                  <a:pt x="185142" y="277118"/>
                </a:cubicBezTo>
                <a:lnTo>
                  <a:pt x="199013" y="256282"/>
                </a:lnTo>
                <a:cubicBezTo>
                  <a:pt x="197882" y="253484"/>
                  <a:pt x="196870" y="250567"/>
                  <a:pt x="196036" y="247531"/>
                </a:cubicBezTo>
                <a:cubicBezTo>
                  <a:pt x="195203" y="244495"/>
                  <a:pt x="194667" y="241459"/>
                  <a:pt x="194250" y="238482"/>
                </a:cubicBezTo>
                <a:lnTo>
                  <a:pt x="171807" y="227409"/>
                </a:lnTo>
                <a:cubicBezTo>
                  <a:pt x="165080" y="224076"/>
                  <a:pt x="161687" y="216456"/>
                  <a:pt x="163592" y="209252"/>
                </a:cubicBezTo>
                <a:lnTo>
                  <a:pt x="167759" y="193655"/>
                </a:lnTo>
                <a:cubicBezTo>
                  <a:pt x="169724" y="186452"/>
                  <a:pt x="176451" y="181570"/>
                  <a:pt x="183952" y="182047"/>
                </a:cubicBezTo>
                <a:lnTo>
                  <a:pt x="208895" y="183654"/>
                </a:lnTo>
                <a:cubicBezTo>
                  <a:pt x="212646" y="178832"/>
                  <a:pt x="216991" y="174367"/>
                  <a:pt x="221932" y="170557"/>
                </a:cubicBezTo>
                <a:lnTo>
                  <a:pt x="220325" y="145673"/>
                </a:lnTo>
                <a:cubicBezTo>
                  <a:pt x="219849" y="138172"/>
                  <a:pt x="224730" y="131385"/>
                  <a:pt x="231934" y="129480"/>
                </a:cubicBezTo>
                <a:lnTo>
                  <a:pt x="247531" y="125313"/>
                </a:lnTo>
                <a:close/>
                <a:moveTo>
                  <a:pt x="266938" y="202406"/>
                </a:moveTo>
                <a:cubicBezTo>
                  <a:pt x="252481" y="202423"/>
                  <a:pt x="240758" y="214173"/>
                  <a:pt x="240774" y="228630"/>
                </a:cubicBezTo>
                <a:cubicBezTo>
                  <a:pt x="240791" y="243086"/>
                  <a:pt x="252541" y="254810"/>
                  <a:pt x="266998" y="254794"/>
                </a:cubicBezTo>
                <a:cubicBezTo>
                  <a:pt x="281454" y="254777"/>
                  <a:pt x="293178" y="243027"/>
                  <a:pt x="293162" y="228570"/>
                </a:cubicBezTo>
                <a:cubicBezTo>
                  <a:pt x="293145" y="214114"/>
                  <a:pt x="281395" y="202390"/>
                  <a:pt x="266938" y="202406"/>
                </a:cubicBezTo>
                <a:close/>
                <a:moveTo>
                  <a:pt x="133886" y="-27087"/>
                </a:moveTo>
                <a:lnTo>
                  <a:pt x="149483" y="-22920"/>
                </a:lnTo>
                <a:cubicBezTo>
                  <a:pt x="156686" y="-20955"/>
                  <a:pt x="161568" y="-14168"/>
                  <a:pt x="161092" y="-6727"/>
                </a:cubicBezTo>
                <a:lnTo>
                  <a:pt x="159484" y="18157"/>
                </a:lnTo>
                <a:cubicBezTo>
                  <a:pt x="164425" y="21967"/>
                  <a:pt x="168771" y="26372"/>
                  <a:pt x="172522" y="31254"/>
                </a:cubicBezTo>
                <a:lnTo>
                  <a:pt x="197525" y="29647"/>
                </a:lnTo>
                <a:cubicBezTo>
                  <a:pt x="204966" y="29170"/>
                  <a:pt x="211753" y="34052"/>
                  <a:pt x="213717" y="41255"/>
                </a:cubicBezTo>
                <a:lnTo>
                  <a:pt x="217884" y="56852"/>
                </a:lnTo>
                <a:cubicBezTo>
                  <a:pt x="219789" y="64056"/>
                  <a:pt x="216396" y="71676"/>
                  <a:pt x="209669" y="75009"/>
                </a:cubicBezTo>
                <a:lnTo>
                  <a:pt x="187226" y="86082"/>
                </a:lnTo>
                <a:cubicBezTo>
                  <a:pt x="186809" y="89118"/>
                  <a:pt x="186214" y="92154"/>
                  <a:pt x="185440" y="95131"/>
                </a:cubicBezTo>
                <a:cubicBezTo>
                  <a:pt x="184666" y="98108"/>
                  <a:pt x="183594" y="101084"/>
                  <a:pt x="182463" y="103882"/>
                </a:cubicBezTo>
                <a:lnTo>
                  <a:pt x="196334" y="124718"/>
                </a:lnTo>
                <a:cubicBezTo>
                  <a:pt x="200501" y="130969"/>
                  <a:pt x="199668" y="139244"/>
                  <a:pt x="194370" y="144542"/>
                </a:cubicBezTo>
                <a:lnTo>
                  <a:pt x="182940" y="155972"/>
                </a:lnTo>
                <a:cubicBezTo>
                  <a:pt x="177641" y="161270"/>
                  <a:pt x="169366" y="162104"/>
                  <a:pt x="163116" y="157936"/>
                </a:cubicBezTo>
                <a:lnTo>
                  <a:pt x="142280" y="144066"/>
                </a:lnTo>
                <a:cubicBezTo>
                  <a:pt x="136624" y="146387"/>
                  <a:pt x="130612" y="148054"/>
                  <a:pt x="124480" y="148888"/>
                </a:cubicBezTo>
                <a:lnTo>
                  <a:pt x="113407" y="171271"/>
                </a:lnTo>
                <a:cubicBezTo>
                  <a:pt x="110073" y="177998"/>
                  <a:pt x="102453" y="181392"/>
                  <a:pt x="95250" y="179487"/>
                </a:cubicBezTo>
                <a:lnTo>
                  <a:pt x="79653" y="175320"/>
                </a:lnTo>
                <a:cubicBezTo>
                  <a:pt x="72390" y="173355"/>
                  <a:pt x="67568" y="166568"/>
                  <a:pt x="68044" y="159127"/>
                </a:cubicBezTo>
                <a:lnTo>
                  <a:pt x="69652" y="134183"/>
                </a:lnTo>
                <a:cubicBezTo>
                  <a:pt x="64710" y="130373"/>
                  <a:pt x="60365" y="125968"/>
                  <a:pt x="56614" y="121087"/>
                </a:cubicBezTo>
                <a:lnTo>
                  <a:pt x="31611" y="122694"/>
                </a:lnTo>
                <a:cubicBezTo>
                  <a:pt x="24170" y="123170"/>
                  <a:pt x="17383" y="118289"/>
                  <a:pt x="15419" y="111085"/>
                </a:cubicBezTo>
                <a:lnTo>
                  <a:pt x="11251" y="95488"/>
                </a:lnTo>
                <a:cubicBezTo>
                  <a:pt x="9346" y="88285"/>
                  <a:pt x="12740" y="80665"/>
                  <a:pt x="19467" y="77331"/>
                </a:cubicBezTo>
                <a:lnTo>
                  <a:pt x="41910" y="66258"/>
                </a:lnTo>
                <a:cubicBezTo>
                  <a:pt x="42327" y="63222"/>
                  <a:pt x="42922" y="60246"/>
                  <a:pt x="43696" y="57210"/>
                </a:cubicBezTo>
                <a:cubicBezTo>
                  <a:pt x="44529" y="54173"/>
                  <a:pt x="45482" y="51256"/>
                  <a:pt x="46673" y="48458"/>
                </a:cubicBezTo>
                <a:lnTo>
                  <a:pt x="32802" y="27682"/>
                </a:lnTo>
                <a:cubicBezTo>
                  <a:pt x="28635" y="21431"/>
                  <a:pt x="29468" y="13156"/>
                  <a:pt x="34766" y="7858"/>
                </a:cubicBezTo>
                <a:lnTo>
                  <a:pt x="46196" y="-3572"/>
                </a:lnTo>
                <a:cubicBezTo>
                  <a:pt x="51495" y="-8870"/>
                  <a:pt x="59769" y="-9704"/>
                  <a:pt x="66020" y="-5536"/>
                </a:cubicBezTo>
                <a:lnTo>
                  <a:pt x="86856" y="8334"/>
                </a:lnTo>
                <a:cubicBezTo>
                  <a:pt x="92512" y="6013"/>
                  <a:pt x="98524" y="4346"/>
                  <a:pt x="104656" y="3512"/>
                </a:cubicBezTo>
                <a:lnTo>
                  <a:pt x="115729" y="-18871"/>
                </a:lnTo>
                <a:cubicBezTo>
                  <a:pt x="119062" y="-25598"/>
                  <a:pt x="126623" y="-28992"/>
                  <a:pt x="133886" y="-27087"/>
                </a:cubicBezTo>
                <a:close/>
                <a:moveTo>
                  <a:pt x="114538" y="50006"/>
                </a:moveTo>
                <a:cubicBezTo>
                  <a:pt x="100081" y="50006"/>
                  <a:pt x="88344" y="61743"/>
                  <a:pt x="88344" y="76200"/>
                </a:cubicBezTo>
                <a:cubicBezTo>
                  <a:pt x="88344" y="90657"/>
                  <a:pt x="100081" y="102394"/>
                  <a:pt x="114538" y="102394"/>
                </a:cubicBezTo>
                <a:cubicBezTo>
                  <a:pt x="128995" y="102394"/>
                  <a:pt x="140732" y="90657"/>
                  <a:pt x="140732" y="76200"/>
                </a:cubicBezTo>
                <a:cubicBezTo>
                  <a:pt x="140732" y="61743"/>
                  <a:pt x="128995" y="50006"/>
                  <a:pt x="114538" y="50006"/>
                </a:cubicBezTo>
                <a:close/>
              </a:path>
            </a:pathLst>
          </a:custGeom>
          <a:solidFill>
            <a:srgbClr val="D69E2E"/>
          </a:solidFill>
          <a:ln/>
        </p:spPr>
        <p:txBody>
          <a:bodyPr/>
          <a:lstStyle/>
          <a:p>
            <a:endParaRPr lang="zh-CN" altLang="en-US"/>
          </a:p>
        </p:txBody>
      </p:sp>
      <p:sp>
        <p:nvSpPr>
          <p:cNvPr id="15" name="Text 13"/>
          <p:cNvSpPr/>
          <p:nvPr/>
        </p:nvSpPr>
        <p:spPr>
          <a:xfrm>
            <a:off x="11760200" y="3079750"/>
            <a:ext cx="19050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Noto Sans SC" pitchFamily="34" charset="0"/>
                <a:ea typeface="Noto Sans SC" pitchFamily="34" charset="-122"/>
                <a:cs typeface="Noto Sans SC" pitchFamily="34" charset="-120"/>
              </a:rPr>
              <a:t>灵活的架构设计</a:t>
            </a:r>
            <a:endParaRPr lang="en-US" sz="1600" dirty="0"/>
          </a:p>
        </p:txBody>
      </p:sp>
      <p:sp>
        <p:nvSpPr>
          <p:cNvPr id="16" name="Text 14"/>
          <p:cNvSpPr/>
          <p:nvPr/>
        </p:nvSpPr>
        <p:spPr>
          <a:xfrm>
            <a:off x="11226800" y="3638550"/>
            <a:ext cx="4622800" cy="13208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Hive支持多种执行引擎(MapReduce/Tez/Spark)和存储格式(ORC/Parquet/Avro)，提供了灵活的插件机制，允许用户根据具体需求选择最适合的技术组合。</a:t>
            </a:r>
            <a:endParaRPr lang="en-US" sz="1600" dirty="0"/>
          </a:p>
        </p:txBody>
      </p:sp>
      <p:sp>
        <p:nvSpPr>
          <p:cNvPr id="17" name="Shape 15"/>
          <p:cNvSpPr/>
          <p:nvPr/>
        </p:nvSpPr>
        <p:spPr>
          <a:xfrm>
            <a:off x="533400" y="5467350"/>
            <a:ext cx="50800" cy="2286000"/>
          </a:xfrm>
          <a:custGeom>
            <a:avLst/>
            <a:gdLst/>
            <a:ahLst/>
            <a:cxnLst/>
            <a:rect l="l" t="t" r="r" b="b"/>
            <a:pathLst>
              <a:path w="50800" h="2286000">
                <a:moveTo>
                  <a:pt x="0" y="0"/>
                </a:moveTo>
                <a:lnTo>
                  <a:pt x="50800" y="0"/>
                </a:lnTo>
                <a:lnTo>
                  <a:pt x="50800" y="2286000"/>
                </a:lnTo>
                <a:lnTo>
                  <a:pt x="0" y="2286000"/>
                </a:lnTo>
                <a:lnTo>
                  <a:pt x="0" y="0"/>
                </a:lnTo>
                <a:close/>
              </a:path>
            </a:pathLst>
          </a:custGeom>
          <a:solidFill>
            <a:srgbClr val="D69E2E"/>
          </a:solidFill>
          <a:ln/>
        </p:spPr>
        <p:txBody>
          <a:bodyPr/>
          <a:lstStyle/>
          <a:p>
            <a:endParaRPr lang="zh-CN" altLang="en-US"/>
          </a:p>
        </p:txBody>
      </p:sp>
      <p:sp>
        <p:nvSpPr>
          <p:cNvPr id="18" name="Shape 16"/>
          <p:cNvSpPr/>
          <p:nvPr/>
        </p:nvSpPr>
        <p:spPr>
          <a:xfrm>
            <a:off x="920750" y="5695950"/>
            <a:ext cx="266700" cy="304800"/>
          </a:xfrm>
          <a:custGeom>
            <a:avLst/>
            <a:gdLst/>
            <a:ahLst/>
            <a:cxnLst/>
            <a:rect l="l" t="t" r="r" b="b"/>
            <a:pathLst>
              <a:path w="266700" h="304800">
                <a:moveTo>
                  <a:pt x="266700" y="122515"/>
                </a:moveTo>
                <a:cubicBezTo>
                  <a:pt x="257889" y="128349"/>
                  <a:pt x="247769" y="133052"/>
                  <a:pt x="237232" y="136803"/>
                </a:cubicBezTo>
                <a:cubicBezTo>
                  <a:pt x="209252" y="146804"/>
                  <a:pt x="172522" y="152400"/>
                  <a:pt x="133350" y="152400"/>
                </a:cubicBezTo>
                <a:cubicBezTo>
                  <a:pt x="94178" y="152400"/>
                  <a:pt x="57388" y="146745"/>
                  <a:pt x="29468" y="136803"/>
                </a:cubicBezTo>
                <a:cubicBezTo>
                  <a:pt x="18990" y="133052"/>
                  <a:pt x="8811" y="128349"/>
                  <a:pt x="0" y="122515"/>
                </a:cubicBezTo>
                <a:lnTo>
                  <a:pt x="0" y="171450"/>
                </a:lnTo>
                <a:cubicBezTo>
                  <a:pt x="0" y="197763"/>
                  <a:pt x="59710" y="219075"/>
                  <a:pt x="133350" y="219075"/>
                </a:cubicBezTo>
                <a:cubicBezTo>
                  <a:pt x="206990" y="219075"/>
                  <a:pt x="266700" y="197763"/>
                  <a:pt x="266700" y="171450"/>
                </a:cubicBezTo>
                <a:lnTo>
                  <a:pt x="266700" y="122515"/>
                </a:lnTo>
                <a:close/>
                <a:moveTo>
                  <a:pt x="266700" y="76200"/>
                </a:moveTo>
                <a:lnTo>
                  <a:pt x="266700" y="47625"/>
                </a:lnTo>
                <a:cubicBezTo>
                  <a:pt x="266700" y="21312"/>
                  <a:pt x="206990" y="0"/>
                  <a:pt x="133350" y="0"/>
                </a:cubicBezTo>
                <a:cubicBezTo>
                  <a:pt x="59710" y="0"/>
                  <a:pt x="0" y="21312"/>
                  <a:pt x="0" y="47625"/>
                </a:cubicBezTo>
                <a:lnTo>
                  <a:pt x="0" y="76200"/>
                </a:lnTo>
                <a:cubicBezTo>
                  <a:pt x="0" y="102513"/>
                  <a:pt x="59710" y="123825"/>
                  <a:pt x="133350" y="123825"/>
                </a:cubicBezTo>
                <a:cubicBezTo>
                  <a:pt x="206990" y="123825"/>
                  <a:pt x="266700" y="102513"/>
                  <a:pt x="266700" y="76200"/>
                </a:cubicBezTo>
                <a:close/>
                <a:moveTo>
                  <a:pt x="237232" y="232053"/>
                </a:moveTo>
                <a:cubicBezTo>
                  <a:pt x="209312" y="241995"/>
                  <a:pt x="172581" y="247650"/>
                  <a:pt x="133350" y="247650"/>
                </a:cubicBezTo>
                <a:cubicBezTo>
                  <a:pt x="94119" y="247650"/>
                  <a:pt x="57388" y="241995"/>
                  <a:pt x="29468" y="232053"/>
                </a:cubicBezTo>
                <a:cubicBezTo>
                  <a:pt x="18990" y="228302"/>
                  <a:pt x="8811" y="223599"/>
                  <a:pt x="0" y="217765"/>
                </a:cubicBezTo>
                <a:lnTo>
                  <a:pt x="0" y="257175"/>
                </a:lnTo>
                <a:cubicBezTo>
                  <a:pt x="0" y="283488"/>
                  <a:pt x="59710" y="304800"/>
                  <a:pt x="133350" y="304800"/>
                </a:cubicBezTo>
                <a:cubicBezTo>
                  <a:pt x="206990" y="304800"/>
                  <a:pt x="266700" y="283488"/>
                  <a:pt x="266700" y="257175"/>
                </a:cubicBezTo>
                <a:lnTo>
                  <a:pt x="266700" y="217765"/>
                </a:lnTo>
                <a:cubicBezTo>
                  <a:pt x="257889" y="223599"/>
                  <a:pt x="247769" y="228302"/>
                  <a:pt x="237232" y="232053"/>
                </a:cubicBezTo>
                <a:close/>
              </a:path>
            </a:pathLst>
          </a:custGeom>
          <a:solidFill>
            <a:srgbClr val="D69E2E"/>
          </a:solidFill>
          <a:ln/>
        </p:spPr>
        <p:txBody>
          <a:bodyPr/>
          <a:lstStyle/>
          <a:p>
            <a:endParaRPr lang="zh-CN" altLang="en-US"/>
          </a:p>
        </p:txBody>
      </p:sp>
      <p:sp>
        <p:nvSpPr>
          <p:cNvPr id="19" name="Text 17"/>
          <p:cNvSpPr/>
          <p:nvPr/>
        </p:nvSpPr>
        <p:spPr>
          <a:xfrm>
            <a:off x="1397000" y="5670550"/>
            <a:ext cx="13970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Noto Sans SC" pitchFamily="34" charset="0"/>
                <a:ea typeface="Noto Sans SC" pitchFamily="34" charset="-122"/>
                <a:cs typeface="Noto Sans SC" pitchFamily="34" charset="-120"/>
              </a:rPr>
              <a:t>元数据管理</a:t>
            </a:r>
            <a:endParaRPr lang="en-US" sz="1600" dirty="0"/>
          </a:p>
        </p:txBody>
      </p:sp>
      <p:sp>
        <p:nvSpPr>
          <p:cNvPr id="20" name="Text 18"/>
          <p:cNvSpPr/>
          <p:nvPr/>
        </p:nvSpPr>
        <p:spPr>
          <a:xfrm>
            <a:off x="863600" y="6229350"/>
            <a:ext cx="4622800" cy="9906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Hive将元数据存储在独立的关系型数据库中，这种设计使得元数据管理更加灵活和可靠，同时也为多用户环境和权限控制提供了良好基础。</a:t>
            </a:r>
            <a:endParaRPr lang="en-US" sz="1600" dirty="0"/>
          </a:p>
        </p:txBody>
      </p:sp>
      <p:sp>
        <p:nvSpPr>
          <p:cNvPr id="21" name="Shape 19"/>
          <p:cNvSpPr/>
          <p:nvPr/>
        </p:nvSpPr>
        <p:spPr>
          <a:xfrm>
            <a:off x="5715000" y="5467350"/>
            <a:ext cx="50800" cy="2286000"/>
          </a:xfrm>
          <a:custGeom>
            <a:avLst/>
            <a:gdLst/>
            <a:ahLst/>
            <a:cxnLst/>
            <a:rect l="l" t="t" r="r" b="b"/>
            <a:pathLst>
              <a:path w="50800" h="2286000">
                <a:moveTo>
                  <a:pt x="0" y="0"/>
                </a:moveTo>
                <a:lnTo>
                  <a:pt x="50800" y="0"/>
                </a:lnTo>
                <a:lnTo>
                  <a:pt x="50800" y="2286000"/>
                </a:lnTo>
                <a:lnTo>
                  <a:pt x="0" y="2286000"/>
                </a:lnTo>
                <a:lnTo>
                  <a:pt x="0" y="0"/>
                </a:lnTo>
                <a:close/>
              </a:path>
            </a:pathLst>
          </a:custGeom>
          <a:solidFill>
            <a:srgbClr val="D69E2E"/>
          </a:solidFill>
          <a:ln/>
        </p:spPr>
        <p:txBody>
          <a:bodyPr/>
          <a:lstStyle/>
          <a:p>
            <a:endParaRPr lang="zh-CN" altLang="en-US"/>
          </a:p>
        </p:txBody>
      </p:sp>
      <p:sp>
        <p:nvSpPr>
          <p:cNvPr id="22" name="Shape 20"/>
          <p:cNvSpPr/>
          <p:nvPr/>
        </p:nvSpPr>
        <p:spPr>
          <a:xfrm>
            <a:off x="6102350" y="5695950"/>
            <a:ext cx="266700" cy="304800"/>
          </a:xfrm>
          <a:custGeom>
            <a:avLst/>
            <a:gdLst/>
            <a:ahLst/>
            <a:cxnLst/>
            <a:rect l="l" t="t" r="r" b="b"/>
            <a:pathLst>
              <a:path w="266700" h="304800">
                <a:moveTo>
                  <a:pt x="219908" y="76200"/>
                </a:moveTo>
                <a:lnTo>
                  <a:pt x="199489" y="47625"/>
                </a:lnTo>
                <a:lnTo>
                  <a:pt x="67270" y="47625"/>
                </a:lnTo>
                <a:lnTo>
                  <a:pt x="46851" y="76200"/>
                </a:lnTo>
                <a:lnTo>
                  <a:pt x="219908" y="76200"/>
                </a:lnTo>
                <a:close/>
                <a:moveTo>
                  <a:pt x="0" y="88404"/>
                </a:moveTo>
                <a:cubicBezTo>
                  <a:pt x="0" y="80486"/>
                  <a:pt x="2500" y="72747"/>
                  <a:pt x="7084" y="66258"/>
                </a:cubicBezTo>
                <a:lnTo>
                  <a:pt x="36255" y="25479"/>
                </a:lnTo>
                <a:cubicBezTo>
                  <a:pt x="43398" y="15478"/>
                  <a:pt x="54947" y="9525"/>
                  <a:pt x="67211" y="9525"/>
                </a:cubicBezTo>
                <a:lnTo>
                  <a:pt x="199430" y="9525"/>
                </a:lnTo>
                <a:cubicBezTo>
                  <a:pt x="211753" y="9525"/>
                  <a:pt x="223302" y="15478"/>
                  <a:pt x="230445" y="25479"/>
                </a:cubicBezTo>
                <a:lnTo>
                  <a:pt x="259556" y="66258"/>
                </a:lnTo>
                <a:cubicBezTo>
                  <a:pt x="264200" y="72747"/>
                  <a:pt x="266640" y="80486"/>
                  <a:pt x="266640" y="88404"/>
                </a:cubicBezTo>
                <a:lnTo>
                  <a:pt x="266700" y="247650"/>
                </a:lnTo>
                <a:cubicBezTo>
                  <a:pt x="266700" y="268665"/>
                  <a:pt x="249615" y="285750"/>
                  <a:pt x="228600" y="285750"/>
                </a:cubicBezTo>
                <a:lnTo>
                  <a:pt x="38100" y="285750"/>
                </a:lnTo>
                <a:cubicBezTo>
                  <a:pt x="17085" y="285750"/>
                  <a:pt x="0" y="268665"/>
                  <a:pt x="0" y="247650"/>
                </a:cubicBezTo>
                <a:lnTo>
                  <a:pt x="0" y="88404"/>
                </a:lnTo>
                <a:close/>
              </a:path>
            </a:pathLst>
          </a:custGeom>
          <a:solidFill>
            <a:srgbClr val="D69E2E"/>
          </a:solidFill>
          <a:ln/>
        </p:spPr>
        <p:txBody>
          <a:bodyPr/>
          <a:lstStyle/>
          <a:p>
            <a:endParaRPr lang="zh-CN" altLang="en-US"/>
          </a:p>
        </p:txBody>
      </p:sp>
      <p:sp>
        <p:nvSpPr>
          <p:cNvPr id="23" name="Text 21"/>
          <p:cNvSpPr/>
          <p:nvPr/>
        </p:nvSpPr>
        <p:spPr>
          <a:xfrm>
            <a:off x="6578600" y="5670550"/>
            <a:ext cx="13970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Noto Sans SC" pitchFamily="34" charset="0"/>
                <a:ea typeface="Noto Sans SC" pitchFamily="34" charset="-122"/>
                <a:cs typeface="Noto Sans SC" pitchFamily="34" charset="-120"/>
              </a:rPr>
              <a:t>批处理优化</a:t>
            </a:r>
            <a:endParaRPr lang="en-US" sz="1600" dirty="0"/>
          </a:p>
        </p:txBody>
      </p:sp>
      <p:sp>
        <p:nvSpPr>
          <p:cNvPr id="24" name="Text 22"/>
          <p:cNvSpPr/>
          <p:nvPr/>
        </p:nvSpPr>
        <p:spPr>
          <a:xfrm>
            <a:off x="6045200" y="6229350"/>
            <a:ext cx="4622800" cy="9906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Hive适合处理大规模的批量数据，通过分区、分桶等机制优化数据存储和查询性能，支持高效的数据加载和导出操作。</a:t>
            </a:r>
            <a:endParaRPr lang="en-US" sz="1600" dirty="0"/>
          </a:p>
        </p:txBody>
      </p:sp>
      <p:sp>
        <p:nvSpPr>
          <p:cNvPr id="25" name="Shape 23"/>
          <p:cNvSpPr/>
          <p:nvPr/>
        </p:nvSpPr>
        <p:spPr>
          <a:xfrm>
            <a:off x="10896600" y="5467350"/>
            <a:ext cx="50800" cy="2286000"/>
          </a:xfrm>
          <a:custGeom>
            <a:avLst/>
            <a:gdLst/>
            <a:ahLst/>
            <a:cxnLst/>
            <a:rect l="l" t="t" r="r" b="b"/>
            <a:pathLst>
              <a:path w="50800" h="2286000">
                <a:moveTo>
                  <a:pt x="0" y="0"/>
                </a:moveTo>
                <a:lnTo>
                  <a:pt x="50800" y="0"/>
                </a:lnTo>
                <a:lnTo>
                  <a:pt x="50800" y="2286000"/>
                </a:lnTo>
                <a:lnTo>
                  <a:pt x="0" y="2286000"/>
                </a:lnTo>
                <a:lnTo>
                  <a:pt x="0" y="0"/>
                </a:lnTo>
                <a:close/>
              </a:path>
            </a:pathLst>
          </a:custGeom>
          <a:solidFill>
            <a:srgbClr val="D69E2E"/>
          </a:solidFill>
          <a:ln/>
        </p:spPr>
        <p:txBody>
          <a:bodyPr/>
          <a:lstStyle/>
          <a:p>
            <a:endParaRPr lang="zh-CN" altLang="en-US"/>
          </a:p>
        </p:txBody>
      </p:sp>
      <p:sp>
        <p:nvSpPr>
          <p:cNvPr id="26" name="Shape 24"/>
          <p:cNvSpPr/>
          <p:nvPr/>
        </p:nvSpPr>
        <p:spPr>
          <a:xfrm>
            <a:off x="11322050" y="5695950"/>
            <a:ext cx="190500" cy="304800"/>
          </a:xfrm>
          <a:custGeom>
            <a:avLst/>
            <a:gdLst/>
            <a:ahLst/>
            <a:cxnLst/>
            <a:rect l="l" t="t" r="r" b="b"/>
            <a:pathLst>
              <a:path w="190500" h="304800">
                <a:moveTo>
                  <a:pt x="80962" y="14288"/>
                </a:moveTo>
                <a:cubicBezTo>
                  <a:pt x="80962" y="6370"/>
                  <a:pt x="87332" y="0"/>
                  <a:pt x="95250" y="0"/>
                </a:cubicBezTo>
                <a:cubicBezTo>
                  <a:pt x="103168" y="0"/>
                  <a:pt x="109537" y="6370"/>
                  <a:pt x="109537" y="14288"/>
                </a:cubicBezTo>
                <a:lnTo>
                  <a:pt x="109537" y="38100"/>
                </a:lnTo>
                <a:lnTo>
                  <a:pt x="142875" y="38100"/>
                </a:lnTo>
                <a:cubicBezTo>
                  <a:pt x="153412" y="38100"/>
                  <a:pt x="161925" y="46613"/>
                  <a:pt x="161925" y="57150"/>
                </a:cubicBezTo>
                <a:cubicBezTo>
                  <a:pt x="161925" y="67687"/>
                  <a:pt x="153412" y="76200"/>
                  <a:pt x="142875" y="76200"/>
                </a:cubicBezTo>
                <a:lnTo>
                  <a:pt x="74474" y="76200"/>
                </a:lnTo>
                <a:cubicBezTo>
                  <a:pt x="59650" y="76200"/>
                  <a:pt x="47625" y="88225"/>
                  <a:pt x="47625" y="103049"/>
                </a:cubicBezTo>
                <a:cubicBezTo>
                  <a:pt x="47625" y="116443"/>
                  <a:pt x="57448" y="127754"/>
                  <a:pt x="70664" y="129659"/>
                </a:cubicBezTo>
                <a:lnTo>
                  <a:pt x="125194" y="137458"/>
                </a:lnTo>
                <a:cubicBezTo>
                  <a:pt x="157222" y="142042"/>
                  <a:pt x="180975" y="169426"/>
                  <a:pt x="180975" y="201751"/>
                </a:cubicBezTo>
                <a:cubicBezTo>
                  <a:pt x="180975" y="237649"/>
                  <a:pt x="151864" y="266700"/>
                  <a:pt x="116026" y="266700"/>
                </a:cubicBezTo>
                <a:lnTo>
                  <a:pt x="109537" y="266700"/>
                </a:lnTo>
                <a:lnTo>
                  <a:pt x="109537" y="290513"/>
                </a:lnTo>
                <a:cubicBezTo>
                  <a:pt x="109537" y="298430"/>
                  <a:pt x="103168" y="304800"/>
                  <a:pt x="95250" y="304800"/>
                </a:cubicBezTo>
                <a:cubicBezTo>
                  <a:pt x="87332" y="304800"/>
                  <a:pt x="80962" y="298430"/>
                  <a:pt x="80962" y="290513"/>
                </a:cubicBezTo>
                <a:lnTo>
                  <a:pt x="80962" y="266700"/>
                </a:lnTo>
                <a:lnTo>
                  <a:pt x="38100" y="266700"/>
                </a:lnTo>
                <a:cubicBezTo>
                  <a:pt x="27563" y="266700"/>
                  <a:pt x="19050" y="258187"/>
                  <a:pt x="19050" y="247650"/>
                </a:cubicBezTo>
                <a:cubicBezTo>
                  <a:pt x="19050" y="237113"/>
                  <a:pt x="27563" y="228600"/>
                  <a:pt x="38100" y="228600"/>
                </a:cubicBezTo>
                <a:lnTo>
                  <a:pt x="116026" y="228600"/>
                </a:lnTo>
                <a:cubicBezTo>
                  <a:pt x="130850" y="228600"/>
                  <a:pt x="142875" y="216575"/>
                  <a:pt x="142875" y="201751"/>
                </a:cubicBezTo>
                <a:cubicBezTo>
                  <a:pt x="142875" y="188357"/>
                  <a:pt x="133052" y="177046"/>
                  <a:pt x="119836" y="175141"/>
                </a:cubicBezTo>
                <a:lnTo>
                  <a:pt x="65306" y="167342"/>
                </a:lnTo>
                <a:cubicBezTo>
                  <a:pt x="33278" y="162818"/>
                  <a:pt x="9525" y="135374"/>
                  <a:pt x="9525" y="103049"/>
                </a:cubicBezTo>
                <a:cubicBezTo>
                  <a:pt x="9525" y="67211"/>
                  <a:pt x="38636" y="38100"/>
                  <a:pt x="74474" y="38100"/>
                </a:cubicBezTo>
                <a:lnTo>
                  <a:pt x="80962" y="38100"/>
                </a:lnTo>
                <a:lnTo>
                  <a:pt x="80962" y="14288"/>
                </a:lnTo>
                <a:close/>
              </a:path>
            </a:pathLst>
          </a:custGeom>
          <a:solidFill>
            <a:srgbClr val="D69E2E"/>
          </a:solidFill>
          <a:ln/>
        </p:spPr>
        <p:txBody>
          <a:bodyPr/>
          <a:lstStyle/>
          <a:p>
            <a:endParaRPr lang="zh-CN" altLang="en-US"/>
          </a:p>
        </p:txBody>
      </p:sp>
      <p:sp>
        <p:nvSpPr>
          <p:cNvPr id="27" name="Text 25"/>
          <p:cNvSpPr/>
          <p:nvPr/>
        </p:nvSpPr>
        <p:spPr>
          <a:xfrm>
            <a:off x="11760200" y="5670550"/>
            <a:ext cx="11430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Noto Sans SC" pitchFamily="34" charset="0"/>
                <a:ea typeface="Noto Sans SC" pitchFamily="34" charset="-122"/>
                <a:cs typeface="Noto Sans SC" pitchFamily="34" charset="-120"/>
              </a:rPr>
              <a:t>成本效益</a:t>
            </a:r>
            <a:endParaRPr lang="en-US" sz="1600" dirty="0"/>
          </a:p>
        </p:txBody>
      </p:sp>
      <p:sp>
        <p:nvSpPr>
          <p:cNvPr id="28" name="Text 26"/>
          <p:cNvSpPr/>
          <p:nvPr/>
        </p:nvSpPr>
        <p:spPr>
          <a:xfrm>
            <a:off x="11226800" y="6229350"/>
            <a:ext cx="4622800" cy="13208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通过利用廉价的商用硬件和开源软件，Hive提供了极具成本效益的数据仓库解决方案。</a:t>
            </a:r>
            <a:r>
              <a:rPr lang="en-US" sz="1600" dirty="0">
                <a:solidFill>
                  <a:srgbClr val="D69E2E"/>
                </a:solidFill>
                <a:latin typeface="MiSans" pitchFamily="34" charset="0"/>
                <a:ea typeface="MiSans" pitchFamily="34" charset="-122"/>
                <a:cs typeface="MiSans" pitchFamily="34" charset="-120"/>
              </a:rPr>
              <a:t>相比传统数据仓库产品，能够以更低的成本处理更大规模的数据</a:t>
            </a:r>
            <a:r>
              <a:rPr lang="en-US" sz="1600" dirty="0">
                <a:solidFill>
                  <a:srgbClr val="A0AEC0"/>
                </a:solidFill>
                <a:latin typeface="MiSans" pitchFamily="34" charset="0"/>
                <a:ea typeface="MiSans" pitchFamily="34" charset="-122"/>
                <a:cs typeface="MiSans" pitchFamily="34" charset="-120"/>
              </a:rPr>
              <a:t>。</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508000" y="508000"/>
            <a:ext cx="15544800" cy="609600"/>
          </a:xfrm>
          <a:prstGeom prst="rect">
            <a:avLst/>
          </a:prstGeom>
          <a:noFill/>
          <a:ln/>
        </p:spPr>
        <p:txBody>
          <a:bodyPr wrap="square" lIns="0" tIns="0" rIns="0" bIns="0" rtlCol="0" anchor="ctr"/>
          <a:lstStyle/>
          <a:p>
            <a:pPr>
              <a:lnSpc>
                <a:spcPct val="80000"/>
              </a:lnSpc>
            </a:pPr>
            <a:r>
              <a:rPr lang="en-US" sz="4800" b="1" dirty="0">
                <a:solidFill>
                  <a:srgbClr val="E2E8F0"/>
                </a:solidFill>
                <a:latin typeface="Noto Sans SC" pitchFamily="34" charset="0"/>
                <a:ea typeface="Noto Sans SC" pitchFamily="34" charset="-122"/>
                <a:cs typeface="Noto Sans SC" pitchFamily="34" charset="-120"/>
              </a:rPr>
              <a:t>Hive vs 传统关系型数据库</a:t>
            </a:r>
            <a:endParaRPr lang="en-US" sz="1600" dirty="0"/>
          </a:p>
        </p:txBody>
      </p:sp>
      <p:sp>
        <p:nvSpPr>
          <p:cNvPr id="3" name="Shape 1"/>
          <p:cNvSpPr/>
          <p:nvPr/>
        </p:nvSpPr>
        <p:spPr>
          <a:xfrm>
            <a:off x="508000" y="1270000"/>
            <a:ext cx="1422400" cy="50800"/>
          </a:xfrm>
          <a:custGeom>
            <a:avLst/>
            <a:gdLst/>
            <a:ahLst/>
            <a:cxnLst/>
            <a:rect l="l" t="t" r="r" b="b"/>
            <a:pathLst>
              <a:path w="1422400" h="50800">
                <a:moveTo>
                  <a:pt x="0" y="0"/>
                </a:moveTo>
                <a:lnTo>
                  <a:pt x="1422400" y="0"/>
                </a:lnTo>
                <a:lnTo>
                  <a:pt x="1422400" y="50800"/>
                </a:lnTo>
                <a:lnTo>
                  <a:pt x="0" y="50800"/>
                </a:lnTo>
                <a:lnTo>
                  <a:pt x="0" y="0"/>
                </a:lnTo>
                <a:close/>
              </a:path>
            </a:pathLst>
          </a:custGeom>
          <a:solidFill>
            <a:srgbClr val="D69E2E"/>
          </a:solidFill>
          <a:ln/>
        </p:spPr>
        <p:txBody>
          <a:bodyPr/>
          <a:lstStyle/>
          <a:p>
            <a:endParaRPr lang="zh-CN" altLang="en-US"/>
          </a:p>
        </p:txBody>
      </p:sp>
      <p:sp>
        <p:nvSpPr>
          <p:cNvPr id="4" name="Text 2"/>
          <p:cNvSpPr/>
          <p:nvPr/>
        </p:nvSpPr>
        <p:spPr>
          <a:xfrm>
            <a:off x="508000" y="1727200"/>
            <a:ext cx="15354300" cy="749300"/>
          </a:xfrm>
          <a:prstGeom prst="rect">
            <a:avLst/>
          </a:prstGeom>
          <a:noFill/>
          <a:ln/>
        </p:spPr>
        <p:txBody>
          <a:bodyPr wrap="square" lIns="0" tIns="0" rIns="0" bIns="0" rtlCol="0" anchor="ctr"/>
          <a:lstStyle/>
          <a:p>
            <a:pPr>
              <a:lnSpc>
                <a:spcPct val="140000"/>
              </a:lnSpc>
            </a:pPr>
            <a:r>
              <a:rPr lang="en-US" sz="1800" dirty="0">
                <a:solidFill>
                  <a:srgbClr val="A0AEC0"/>
                </a:solidFill>
                <a:latin typeface="MiSans" pitchFamily="34" charset="0"/>
                <a:ea typeface="MiSans" pitchFamily="34" charset="-122"/>
                <a:cs typeface="MiSans" pitchFamily="34" charset="-120"/>
              </a:rPr>
              <a:t>传统关系型数据库在处理大规模数据时暴露出扩展性限制、成本高昂、批处理性能不足等问题。</a:t>
            </a:r>
            <a:r>
              <a:rPr lang="en-US" sz="1800" b="1" dirty="0">
                <a:solidFill>
                  <a:srgbClr val="E2E8F0"/>
                </a:solidFill>
                <a:latin typeface="MiSans" pitchFamily="34" charset="0"/>
                <a:ea typeface="MiSans" pitchFamily="34" charset="-122"/>
                <a:cs typeface="MiSans" pitchFamily="34" charset="-120"/>
              </a:rPr>
              <a:t>Hive通过横向扩展架构、开源零许可成本和批处理优化，提供了革命性的解决方案</a:t>
            </a:r>
            <a:r>
              <a:rPr lang="en-US" sz="1800" dirty="0">
                <a:solidFill>
                  <a:srgbClr val="A0AEC0"/>
                </a:solidFill>
                <a:latin typeface="MiSans" pitchFamily="34" charset="0"/>
                <a:ea typeface="MiSans" pitchFamily="34" charset="-122"/>
                <a:cs typeface="MiSans" pitchFamily="34" charset="-120"/>
              </a:rPr>
              <a:t>。</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8000" y="2876550"/>
          <a:ext cx="15240000" cy="11061702"/>
        </p:xfrm>
        <a:graphic>
          <a:graphicData uri="http://schemas.openxmlformats.org/drawingml/2006/table">
            <a:tbl>
              <a:tblPr/>
              <a:tblGrid>
                <a:gridCol w="3048000">
                  <a:extLst>
                    <a:ext uri="{9D8B030D-6E8A-4147-A177-3AD203B41FA5}">
                      <a16:colId xmlns:a16="http://schemas.microsoft.com/office/drawing/2014/main" val="20000"/>
                    </a:ext>
                  </a:extLst>
                </a:gridCol>
                <a:gridCol w="5080000">
                  <a:extLst>
                    <a:ext uri="{9D8B030D-6E8A-4147-A177-3AD203B41FA5}">
                      <a16:colId xmlns:a16="http://schemas.microsoft.com/office/drawing/2014/main" val="20001"/>
                    </a:ext>
                  </a:extLst>
                </a:gridCol>
                <a:gridCol w="5080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1229078">
                <a:tc>
                  <a:txBody>
                    <a:bodyPr/>
                    <a:lstStyle/>
                    <a:p>
                      <a:pPr algn="l"/>
                      <a:r>
                        <a:rPr lang="en-US" sz="1600" b="1" u="none" dirty="0">
                          <a:solidFill>
                            <a:srgbClr val="E2E8F0"/>
                          </a:solidFill>
                          <a:latin typeface="微软雅黑" pitchFamily="34" charset="0"/>
                          <a:ea typeface="微软雅黑" pitchFamily="34" charset="-122"/>
                          <a:cs typeface="微软雅黑" pitchFamily="34" charset="-120"/>
                        </a:rPr>
                        <a:t>对比维度</a:t>
                      </a:r>
                      <a:endParaRPr lang="en-US" sz="1600" dirty="0">
                        <a:latin typeface="微软雅黑" charset="0"/>
                        <a:ea typeface="微软雅黑" charset="0"/>
                        <a:cs typeface="微软雅黑" charset="0"/>
                      </a:endParaRPr>
                    </a:p>
                  </a:txBody>
                  <a:tcPr anchor="ctr">
                    <a:lnL w="0" cap="flat" cmpd="sng" algn="ctr">
                      <a:noFill/>
                    </a:lnL>
                    <a:lnR w="12700" cap="flat" cmpd="sng" algn="ctr">
                      <a:solidFill>
                        <a:srgbClr val="1A202C"/>
                      </a:solidFill>
                      <a:prstDash val="solid"/>
                      <a:round/>
                      <a:headEnd type="none" w="med" len="med"/>
                      <a:tailEnd type="none" w="med" len="med"/>
                    </a:lnR>
                    <a:lnT w="0" cap="flat" cmpd="sng" algn="ctr">
                      <a:noFill/>
                    </a:lnT>
                    <a:lnB w="0" cap="flat" cmpd="sng" algn="ctr">
                      <a:noFill/>
                    </a:lnB>
                    <a:solidFill>
                      <a:srgbClr val="4A5568"/>
                    </a:solidFill>
                  </a:tcPr>
                </a:tc>
                <a:tc>
                  <a:txBody>
                    <a:bodyPr/>
                    <a:lstStyle/>
                    <a:p>
                      <a:pPr algn="l"/>
                      <a:r>
                        <a:rPr lang="en-US" sz="1600" b="1" u="none" dirty="0">
                          <a:solidFill>
                            <a:srgbClr val="E2E8F0"/>
                          </a:solidFill>
                          <a:latin typeface="微软雅黑" pitchFamily="34" charset="0"/>
                          <a:ea typeface="微软雅黑" pitchFamily="34" charset="-122"/>
                          <a:cs typeface="微软雅黑" pitchFamily="34" charset="-120"/>
                        </a:rPr>
                        <a:t>传统关系型数据库</a:t>
                      </a:r>
                      <a:endParaRPr lang="en-US" sz="1600" dirty="0">
                        <a:latin typeface="微软雅黑" charset="0"/>
                        <a:ea typeface="微软雅黑" charset="0"/>
                        <a:cs typeface="微软雅黑" charset="0"/>
                      </a:endParaRPr>
                    </a:p>
                  </a:txBody>
                  <a:tcPr anchor="ctr">
                    <a:lnL w="12700" cap="flat" cmpd="sng" algn="ctr">
                      <a:solidFill>
                        <a:srgbClr val="1A202C"/>
                      </a:solidFill>
                      <a:prstDash val="solid"/>
                      <a:round/>
                      <a:headEnd type="none" w="med" len="med"/>
                      <a:tailEnd type="none" w="med" len="med"/>
                    </a:lnL>
                    <a:lnR w="12700" cap="flat" cmpd="sng" algn="ctr">
                      <a:solidFill>
                        <a:srgbClr val="1A202C"/>
                      </a:solidFill>
                      <a:prstDash val="solid"/>
                      <a:round/>
                      <a:headEnd type="none" w="med" len="med"/>
                      <a:tailEnd type="none" w="med" len="med"/>
                    </a:lnR>
                    <a:lnT w="0" cap="flat" cmpd="sng" algn="ctr">
                      <a:noFill/>
                    </a:lnT>
                    <a:lnB w="0" cap="flat" cmpd="sng" algn="ctr">
                      <a:noFill/>
                    </a:lnB>
                    <a:solidFill>
                      <a:srgbClr val="4A5568"/>
                    </a:solidFill>
                  </a:tcPr>
                </a:tc>
                <a:tc>
                  <a:txBody>
                    <a:bodyPr/>
                    <a:lstStyle/>
                    <a:p>
                      <a:pPr algn="l"/>
                      <a:r>
                        <a:rPr lang="en-US" sz="1600" b="1" u="none" dirty="0">
                          <a:solidFill>
                            <a:srgbClr val="E2E8F0"/>
                          </a:solidFill>
                          <a:latin typeface="微软雅黑" pitchFamily="34" charset="0"/>
                          <a:ea typeface="微软雅黑" pitchFamily="34" charset="-122"/>
                          <a:cs typeface="微软雅黑" pitchFamily="34" charset="-120"/>
                        </a:rPr>
                        <a:t>Apache Hive</a:t>
                      </a:r>
                      <a:endParaRPr lang="en-US" sz="1600" dirty="0">
                        <a:latin typeface="微软雅黑" charset="0"/>
                        <a:ea typeface="微软雅黑" charset="0"/>
                        <a:cs typeface="微软雅黑" charset="0"/>
                      </a:endParaRPr>
                    </a:p>
                  </a:txBody>
                  <a:tcPr anchor="ctr">
                    <a:lnL w="12700" cap="flat" cmpd="sng" algn="ctr">
                      <a:solidFill>
                        <a:srgbClr val="1A202C"/>
                      </a:solidFill>
                      <a:prstDash val="solid"/>
                      <a:round/>
                      <a:headEnd type="none" w="med" len="med"/>
                      <a:tailEnd type="none" w="med" len="med"/>
                    </a:lnL>
                    <a:lnR w="12700" cap="flat" cmpd="sng" algn="ctr">
                      <a:solidFill>
                        <a:srgbClr val="1A202C"/>
                      </a:solidFill>
                      <a:prstDash val="solid"/>
                      <a:round/>
                      <a:headEnd type="none" w="med" len="med"/>
                      <a:tailEnd type="none" w="med" len="med"/>
                    </a:lnR>
                    <a:lnT w="0" cap="flat" cmpd="sng" algn="ctr">
                      <a:noFill/>
                    </a:lnT>
                    <a:lnB w="0" cap="flat" cmpd="sng" algn="ctr">
                      <a:noFill/>
                    </a:lnB>
                    <a:solidFill>
                      <a:srgbClr val="4A5568"/>
                    </a:solidFill>
                  </a:tcPr>
                </a:tc>
                <a:tc>
                  <a:txBody>
                    <a:bodyPr/>
                    <a:lstStyle/>
                    <a:p>
                      <a:pPr algn="l"/>
                      <a:r>
                        <a:rPr lang="en-US" sz="1600" b="1" u="none" dirty="0">
                          <a:solidFill>
                            <a:srgbClr val="E2E8F0"/>
                          </a:solidFill>
                          <a:latin typeface="微软雅黑" pitchFamily="34" charset="0"/>
                          <a:ea typeface="微软雅黑" pitchFamily="34" charset="-122"/>
                          <a:cs typeface="微软雅黑" pitchFamily="34" charset="-120"/>
                        </a:rPr>
                        <a:t>技术特点说明</a:t>
                      </a:r>
                      <a:endParaRPr lang="en-US" sz="1600" dirty="0">
                        <a:latin typeface="微软雅黑" charset="0"/>
                        <a:ea typeface="微软雅黑" charset="0"/>
                        <a:cs typeface="微软雅黑" charset="0"/>
                      </a:endParaRPr>
                    </a:p>
                  </a:txBody>
                  <a:tcPr anchor="ctr">
                    <a:lnL w="12700" cap="flat" cmpd="sng" algn="ctr">
                      <a:solidFill>
                        <a:srgbClr val="1A202C"/>
                      </a:solidFill>
                      <a:prstDash val="solid"/>
                      <a:round/>
                      <a:headEnd type="none" w="med" len="med"/>
                      <a:tailEnd type="none" w="med" len="med"/>
                    </a:lnL>
                    <a:lnR w="0" cap="flat" cmpd="sng" algn="ctr">
                      <a:noFill/>
                    </a:lnR>
                    <a:lnT w="0" cap="flat" cmpd="sng" algn="ctr">
                      <a:noFill/>
                    </a:lnT>
                    <a:lnB w="0" cap="flat" cmpd="sng" algn="ctr">
                      <a:noFill/>
                    </a:lnB>
                    <a:solidFill>
                      <a:srgbClr val="4A5568"/>
                    </a:solidFill>
                  </a:tcPr>
                </a:tc>
                <a:extLst>
                  <a:ext uri="{0D108BD9-81ED-4DB2-BD59-A6C34878D82A}">
                    <a16:rowId xmlns:a16="http://schemas.microsoft.com/office/drawing/2014/main" val="10000"/>
                  </a:ext>
                </a:extLst>
              </a:tr>
              <a:tr h="1229078">
                <a:tc>
                  <a:txBody>
                    <a:bodyPr/>
                    <a:lstStyle/>
                    <a:p>
                      <a:r>
                        <a:rPr lang="en-US" sz="1600" b="1" u="none" dirty="0">
                          <a:solidFill>
                            <a:srgbClr val="D69E2E"/>
                          </a:solidFill>
                          <a:latin typeface="微软雅黑" pitchFamily="34" charset="0"/>
                          <a:ea typeface="微软雅黑" pitchFamily="34" charset="-122"/>
                          <a:cs typeface="微软雅黑" pitchFamily="34" charset="-120"/>
                        </a:rPr>
                        <a:t>扩展架构</a:t>
                      </a:r>
                      <a:endParaRPr lang="en-US" sz="16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0" cap="flat" cmpd="sng" algn="ctr">
                      <a:noFill/>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纵向扩展(Scale-up)</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0" cap="flat" cmpd="sng" algn="ctr">
                      <a:noFill/>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横向扩展(Scale-out)</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0" cap="flat" cmpd="sng" algn="ctr">
                      <a:noFill/>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A0AEC0"/>
                          </a:solidFill>
                          <a:latin typeface="微软雅黑" pitchFamily="34" charset="0"/>
                          <a:ea typeface="微软雅黑" pitchFamily="34" charset="-122"/>
                          <a:cs typeface="微软雅黑" pitchFamily="34" charset="-120"/>
                        </a:rPr>
                        <a:t>Hive支持通过增加普通服务器节点实现线性扩展</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0" cap="flat" cmpd="sng" algn="ctr">
                      <a:noFill/>
                    </a:lnT>
                    <a:lnB w="12700" cap="flat" cmpd="sng" algn="ctr">
                      <a:solidFill>
                        <a:srgbClr val="4A5568"/>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1"/>
                  </a:ext>
                </a:extLst>
              </a:tr>
              <a:tr h="1229078">
                <a:tc>
                  <a:txBody>
                    <a:bodyPr/>
                    <a:lstStyle/>
                    <a:p>
                      <a:r>
                        <a:rPr lang="en-US" sz="1600" b="1" u="none" dirty="0">
                          <a:solidFill>
                            <a:srgbClr val="D69E2E"/>
                          </a:solidFill>
                          <a:latin typeface="微软雅黑" pitchFamily="34" charset="0"/>
                          <a:ea typeface="微软雅黑" pitchFamily="34" charset="-122"/>
                          <a:cs typeface="微软雅黑" pitchFamily="34" charset="-120"/>
                        </a:rPr>
                        <a:t>数据处理规模</a:t>
                      </a:r>
                      <a:endParaRPr lang="en-US" sz="16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TB级别</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PB级别</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A0AEC0"/>
                          </a:solidFill>
                          <a:latin typeface="微软雅黑" pitchFamily="34" charset="0"/>
                          <a:ea typeface="微软雅黑" pitchFamily="34" charset="-122"/>
                          <a:cs typeface="微软雅黑" pitchFamily="34" charset="-120"/>
                        </a:rPr>
                        <a:t>Hive基于分布式架构设计，具备处理海量数据的能力</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2"/>
                  </a:ext>
                </a:extLst>
              </a:tr>
              <a:tr h="1229078">
                <a:tc>
                  <a:txBody>
                    <a:bodyPr/>
                    <a:lstStyle/>
                    <a:p>
                      <a:r>
                        <a:rPr lang="en-US" sz="1600" b="1" u="none" dirty="0">
                          <a:solidFill>
                            <a:srgbClr val="D69E2E"/>
                          </a:solidFill>
                          <a:latin typeface="微软雅黑" pitchFamily="34" charset="0"/>
                          <a:ea typeface="微软雅黑" pitchFamily="34" charset="-122"/>
                          <a:cs typeface="微软雅黑" pitchFamily="34" charset="-120"/>
                        </a:rPr>
                        <a:t>总体拥有成本</a:t>
                      </a:r>
                      <a:endParaRPr lang="en-US" sz="16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高(商业许可证+专用硬件)</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低(开源软件+商用硬件)</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A0AEC0"/>
                          </a:solidFill>
                          <a:latin typeface="微软雅黑" pitchFamily="34" charset="0"/>
                          <a:ea typeface="微软雅黑" pitchFamily="34" charset="-122"/>
                          <a:cs typeface="微软雅黑" pitchFamily="34" charset="-120"/>
                        </a:rPr>
                        <a:t>Hive采用开源模式，大幅降低软件许可和硬件投资成本</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3"/>
                  </a:ext>
                </a:extLst>
              </a:tr>
              <a:tr h="1229078">
                <a:tc>
                  <a:txBody>
                    <a:bodyPr/>
                    <a:lstStyle/>
                    <a:p>
                      <a:r>
                        <a:rPr lang="en-US" sz="1600" b="1" u="none" dirty="0">
                          <a:solidFill>
                            <a:srgbClr val="D69E2E"/>
                          </a:solidFill>
                          <a:latin typeface="微软雅黑" pitchFamily="34" charset="0"/>
                          <a:ea typeface="微软雅黑" pitchFamily="34" charset="-122"/>
                          <a:cs typeface="微软雅黑" pitchFamily="34" charset="-120"/>
                        </a:rPr>
                        <a:t>查询响应性能</a:t>
                      </a:r>
                      <a:endParaRPr lang="en-US" sz="16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毫秒到秒级(OLTP场景)</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分钟到小时级(批处理场景)</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A0AEC0"/>
                          </a:solidFill>
                          <a:latin typeface="微软雅黑" pitchFamily="34" charset="0"/>
                          <a:ea typeface="微软雅黑" pitchFamily="34" charset="-122"/>
                          <a:cs typeface="微软雅黑" pitchFamily="34" charset="-120"/>
                        </a:rPr>
                        <a:t>Hive针对批处理分析优化，适合大规模数据离线分析</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4"/>
                  </a:ext>
                </a:extLst>
              </a:tr>
              <a:tr h="1229078">
                <a:tc>
                  <a:txBody>
                    <a:bodyPr/>
                    <a:lstStyle/>
                    <a:p>
                      <a:r>
                        <a:rPr lang="en-US" sz="1600" b="1" u="none" dirty="0">
                          <a:solidFill>
                            <a:srgbClr val="D69E2E"/>
                          </a:solidFill>
                          <a:latin typeface="微软雅黑" pitchFamily="34" charset="0"/>
                          <a:ea typeface="微软雅黑" pitchFamily="34" charset="-122"/>
                          <a:cs typeface="微软雅黑" pitchFamily="34" charset="-120"/>
                        </a:rPr>
                        <a:t>数据建模方式</a:t>
                      </a:r>
                      <a:endParaRPr lang="en-US" sz="16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规范化范式设计</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反范式宽表设计</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A0AEC0"/>
                          </a:solidFill>
                          <a:latin typeface="微软雅黑" pitchFamily="34" charset="0"/>
                          <a:ea typeface="微软雅黑" pitchFamily="34" charset="-122"/>
                          <a:cs typeface="微软雅黑" pitchFamily="34" charset="-120"/>
                        </a:rPr>
                        <a:t>Hive采用更适合分析查询的宽表模型</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5"/>
                  </a:ext>
                </a:extLst>
              </a:tr>
              <a:tr h="1229078">
                <a:tc>
                  <a:txBody>
                    <a:bodyPr/>
                    <a:lstStyle/>
                    <a:p>
                      <a:r>
                        <a:rPr lang="en-US" sz="1600" b="1" u="none" dirty="0">
                          <a:solidFill>
                            <a:srgbClr val="D69E2E"/>
                          </a:solidFill>
                          <a:latin typeface="微软雅黑" pitchFamily="34" charset="0"/>
                          <a:ea typeface="微软雅黑" pitchFamily="34" charset="-122"/>
                          <a:cs typeface="微软雅黑" pitchFamily="34" charset="-120"/>
                        </a:rPr>
                        <a:t>事务支持能力</a:t>
                      </a:r>
                      <a:endParaRPr lang="en-US" sz="16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完整的ACID事务支持</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有限的事务支持(Hive 3.0+增强)</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A0AEC0"/>
                          </a:solidFill>
                          <a:latin typeface="微软雅黑" pitchFamily="34" charset="0"/>
                          <a:ea typeface="微软雅黑" pitchFamily="34" charset="-122"/>
                          <a:cs typeface="微软雅黑" pitchFamily="34" charset="-120"/>
                        </a:rPr>
                        <a:t>传统数据库针对事务一致性优化</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6"/>
                  </a:ext>
                </a:extLst>
              </a:tr>
              <a:tr h="1229078">
                <a:tc>
                  <a:txBody>
                    <a:bodyPr/>
                    <a:lstStyle/>
                    <a:p>
                      <a:r>
                        <a:rPr lang="en-US" sz="1600" b="1" u="none" dirty="0">
                          <a:solidFill>
                            <a:srgbClr val="D69E2E"/>
                          </a:solidFill>
                          <a:latin typeface="微软雅黑" pitchFamily="34" charset="0"/>
                          <a:ea typeface="微软雅黑" pitchFamily="34" charset="-122"/>
                          <a:cs typeface="微软雅黑" pitchFamily="34" charset="-120"/>
                        </a:rPr>
                        <a:t>并发处理特性</a:t>
                      </a:r>
                      <a:endParaRPr lang="en-US" sz="16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高并发在线事务处理(OLTP)</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高吞吐批处理分析(OLAP)</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A0AEC0"/>
                          </a:solidFill>
                          <a:latin typeface="微软雅黑" pitchFamily="34" charset="0"/>
                          <a:ea typeface="微软雅黑" pitchFamily="34" charset="-122"/>
                          <a:cs typeface="微软雅黑" pitchFamily="34" charset="-120"/>
                        </a:rPr>
                        <a:t>两者针对不同的工作负载特性进行优化</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7"/>
                  </a:ext>
                </a:extLst>
              </a:tr>
              <a:tr h="1229078">
                <a:tc>
                  <a:txBody>
                    <a:bodyPr/>
                    <a:lstStyle/>
                    <a:p>
                      <a:r>
                        <a:rPr lang="en-US" sz="1600" b="1" u="none" dirty="0">
                          <a:solidFill>
                            <a:srgbClr val="D69E2E"/>
                          </a:solidFill>
                          <a:latin typeface="微软雅黑" pitchFamily="34" charset="0"/>
                          <a:ea typeface="微软雅黑" pitchFamily="34" charset="-122"/>
                          <a:cs typeface="微软雅黑" pitchFamily="34" charset="-120"/>
                        </a:rPr>
                        <a:t>典型应用场景</a:t>
                      </a:r>
                      <a:endParaRPr lang="en-US" sz="16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0" cap="flat" cmpd="sng" algn="ctr">
                      <a:noFill/>
                    </a:lnB>
                    <a:solidFill>
                      <a:srgbClr val="FFFFFF">
                        <a:alpha val="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在线事务处理、实时业务系统</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0" cap="flat" cmpd="sng" algn="ctr">
                      <a:noFill/>
                    </a:lnB>
                    <a:solidFill>
                      <a:srgbClr val="FFFFFF">
                        <a:alpha val="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数据仓库、批处理分析、离线报表</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0" cap="flat" cmpd="sng" algn="ctr">
                      <a:noFill/>
                    </a:lnB>
                    <a:solidFill>
                      <a:srgbClr val="FFFFFF">
                        <a:alpha val="0"/>
                      </a:srgbClr>
                    </a:solidFill>
                  </a:tcPr>
                </a:tc>
                <a:tc>
                  <a:txBody>
                    <a:bodyPr/>
                    <a:lstStyle/>
                    <a:p>
                      <a:r>
                        <a:rPr lang="en-US" sz="1600" u="none" dirty="0">
                          <a:solidFill>
                            <a:srgbClr val="A0AEC0"/>
                          </a:solidFill>
                          <a:latin typeface="微软雅黑" pitchFamily="34" charset="0"/>
                          <a:ea typeface="微软雅黑" pitchFamily="34" charset="-122"/>
                          <a:cs typeface="微软雅黑" pitchFamily="34" charset="-120"/>
                        </a:rPr>
                        <a:t>两者分别适用于实时事务处理和批量数据分析</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0" cap="flat" cmpd="sng" algn="ctr">
                      <a:noFill/>
                    </a:lnR>
                    <a:lnT w="12700" cap="flat" cmpd="sng" algn="ctr">
                      <a:solidFill>
                        <a:srgbClr val="4A5568"/>
                      </a:solidFill>
                      <a:prstDash val="solid"/>
                      <a:round/>
                      <a:headEnd type="none" w="med" len="med"/>
                      <a:tailEnd type="none" w="med" len="med"/>
                    </a:lnT>
                    <a:lnB w="0" cap="flat" cmpd="sng" algn="ctr">
                      <a:noFill/>
                    </a:lnB>
                    <a:solidFill>
                      <a:srgbClr val="FFFFFF">
                        <a:alpha val="0"/>
                      </a:srgbClr>
                    </a:solidFill>
                  </a:tcPr>
                </a:tc>
                <a:extLst>
                  <a:ext uri="{0D108BD9-81ED-4DB2-BD59-A6C34878D82A}">
                    <a16:rowId xmlns:a16="http://schemas.microsoft.com/office/drawing/2014/main" val="10008"/>
                  </a:ext>
                </a:extLst>
              </a:tr>
            </a:tbl>
          </a:graphicData>
        </a:graphic>
      </p:graphicFrame>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86343" y="486343"/>
            <a:ext cx="15575120" cy="583611"/>
          </a:xfrm>
          <a:prstGeom prst="rect">
            <a:avLst/>
          </a:prstGeom>
          <a:noFill/>
          <a:ln/>
        </p:spPr>
        <p:txBody>
          <a:bodyPr wrap="square" lIns="0" tIns="0" rIns="0" bIns="0" rtlCol="0" anchor="ctr"/>
          <a:lstStyle/>
          <a:p>
            <a:pPr>
              <a:lnSpc>
                <a:spcPct val="80000"/>
              </a:lnSpc>
            </a:pPr>
            <a:r>
              <a:rPr lang="en-US" sz="4595" b="1" dirty="0">
                <a:solidFill>
                  <a:srgbClr val="E2E8F0"/>
                </a:solidFill>
                <a:latin typeface="Noto Sans SC" pitchFamily="34" charset="0"/>
                <a:ea typeface="Noto Sans SC" pitchFamily="34" charset="-122"/>
                <a:cs typeface="Noto Sans SC" pitchFamily="34" charset="-120"/>
              </a:rPr>
              <a:t>Hive生态系统组件概览</a:t>
            </a:r>
            <a:endParaRPr lang="en-US" sz="1600" dirty="0"/>
          </a:p>
        </p:txBody>
      </p:sp>
      <p:sp>
        <p:nvSpPr>
          <p:cNvPr id="3" name="Shape 1"/>
          <p:cNvSpPr/>
          <p:nvPr/>
        </p:nvSpPr>
        <p:spPr>
          <a:xfrm>
            <a:off x="486343" y="1215856"/>
            <a:ext cx="1361759" cy="48634"/>
          </a:xfrm>
          <a:custGeom>
            <a:avLst/>
            <a:gdLst/>
            <a:ahLst/>
            <a:cxnLst/>
            <a:rect l="l" t="t" r="r" b="b"/>
            <a:pathLst>
              <a:path w="1361759" h="48634">
                <a:moveTo>
                  <a:pt x="0" y="0"/>
                </a:moveTo>
                <a:lnTo>
                  <a:pt x="1361759" y="0"/>
                </a:lnTo>
                <a:lnTo>
                  <a:pt x="1361759" y="48634"/>
                </a:lnTo>
                <a:lnTo>
                  <a:pt x="0" y="48634"/>
                </a:lnTo>
                <a:lnTo>
                  <a:pt x="0" y="0"/>
                </a:lnTo>
                <a:close/>
              </a:path>
            </a:pathLst>
          </a:custGeom>
          <a:solidFill>
            <a:srgbClr val="D69E2E"/>
          </a:solidFill>
          <a:ln/>
        </p:spPr>
        <p:txBody>
          <a:bodyPr/>
          <a:lstStyle/>
          <a:p>
            <a:endParaRPr lang="zh-CN" altLang="en-US"/>
          </a:p>
        </p:txBody>
      </p:sp>
      <p:sp>
        <p:nvSpPr>
          <p:cNvPr id="4" name="Shape 2"/>
          <p:cNvSpPr/>
          <p:nvPr/>
        </p:nvSpPr>
        <p:spPr>
          <a:xfrm>
            <a:off x="510660" y="1556296"/>
            <a:ext cx="48634" cy="1021319"/>
          </a:xfrm>
          <a:custGeom>
            <a:avLst/>
            <a:gdLst/>
            <a:ahLst/>
            <a:cxnLst/>
            <a:rect l="l" t="t" r="r" b="b"/>
            <a:pathLst>
              <a:path w="48634" h="1021319">
                <a:moveTo>
                  <a:pt x="0" y="0"/>
                </a:moveTo>
                <a:lnTo>
                  <a:pt x="48634" y="0"/>
                </a:lnTo>
                <a:lnTo>
                  <a:pt x="48634" y="1021319"/>
                </a:lnTo>
                <a:lnTo>
                  <a:pt x="0" y="1021319"/>
                </a:lnTo>
                <a:lnTo>
                  <a:pt x="0" y="0"/>
                </a:lnTo>
                <a:close/>
              </a:path>
            </a:pathLst>
          </a:custGeom>
          <a:solidFill>
            <a:srgbClr val="D69E2E"/>
          </a:solidFill>
          <a:ln/>
        </p:spPr>
        <p:txBody>
          <a:bodyPr/>
          <a:lstStyle/>
          <a:p>
            <a:endParaRPr lang="zh-CN" altLang="en-US"/>
          </a:p>
        </p:txBody>
      </p:sp>
      <p:sp>
        <p:nvSpPr>
          <p:cNvPr id="5" name="Text 3"/>
          <p:cNvSpPr/>
          <p:nvPr/>
        </p:nvSpPr>
        <p:spPr>
          <a:xfrm>
            <a:off x="826782" y="1702199"/>
            <a:ext cx="1994004" cy="340440"/>
          </a:xfrm>
          <a:prstGeom prst="rect">
            <a:avLst/>
          </a:prstGeom>
          <a:noFill/>
          <a:ln/>
        </p:spPr>
        <p:txBody>
          <a:bodyPr wrap="square" lIns="0" tIns="0" rIns="0" bIns="0" rtlCol="0" anchor="ctr"/>
          <a:lstStyle/>
          <a:p>
            <a:pPr>
              <a:lnSpc>
                <a:spcPct val="120000"/>
              </a:lnSpc>
            </a:pPr>
            <a:r>
              <a:rPr lang="en-US" sz="1915" b="1" dirty="0">
                <a:solidFill>
                  <a:srgbClr val="E2E8F0"/>
                </a:solidFill>
                <a:latin typeface="Liter" pitchFamily="34" charset="0"/>
                <a:ea typeface="Liter" pitchFamily="34" charset="-122"/>
                <a:cs typeface="Liter" pitchFamily="34" charset="-120"/>
              </a:rPr>
              <a:t>Hive CLI / Beeline</a:t>
            </a:r>
            <a:endParaRPr lang="en-US" sz="1600" dirty="0"/>
          </a:p>
        </p:txBody>
      </p:sp>
      <p:sp>
        <p:nvSpPr>
          <p:cNvPr id="6" name="Shape 4"/>
          <p:cNvSpPr/>
          <p:nvPr/>
        </p:nvSpPr>
        <p:spPr>
          <a:xfrm>
            <a:off x="8449347" y="1702199"/>
            <a:ext cx="972685" cy="340440"/>
          </a:xfrm>
          <a:custGeom>
            <a:avLst/>
            <a:gdLst/>
            <a:ahLst/>
            <a:cxnLst/>
            <a:rect l="l" t="t" r="r" b="b"/>
            <a:pathLst>
              <a:path w="972685" h="340440">
                <a:moveTo>
                  <a:pt x="48635" y="0"/>
                </a:moveTo>
                <a:lnTo>
                  <a:pt x="924050" y="0"/>
                </a:lnTo>
                <a:cubicBezTo>
                  <a:pt x="950910" y="0"/>
                  <a:pt x="972685" y="21775"/>
                  <a:pt x="972685" y="48635"/>
                </a:cubicBezTo>
                <a:lnTo>
                  <a:pt x="972685" y="291805"/>
                </a:lnTo>
                <a:cubicBezTo>
                  <a:pt x="972685" y="318665"/>
                  <a:pt x="950910" y="340440"/>
                  <a:pt x="924050" y="340440"/>
                </a:cubicBezTo>
                <a:lnTo>
                  <a:pt x="48635" y="340440"/>
                </a:lnTo>
                <a:cubicBezTo>
                  <a:pt x="21775" y="340440"/>
                  <a:pt x="0" y="318665"/>
                  <a:pt x="0" y="291805"/>
                </a:cubicBezTo>
                <a:lnTo>
                  <a:pt x="0" y="48635"/>
                </a:lnTo>
                <a:cubicBezTo>
                  <a:pt x="0" y="21775"/>
                  <a:pt x="21775" y="0"/>
                  <a:pt x="48635" y="0"/>
                </a:cubicBezTo>
                <a:close/>
              </a:path>
            </a:pathLst>
          </a:custGeom>
          <a:solidFill>
            <a:srgbClr val="D69E2E">
              <a:alpha val="20000"/>
            </a:srgbClr>
          </a:solidFill>
          <a:ln/>
        </p:spPr>
        <p:txBody>
          <a:bodyPr/>
          <a:lstStyle/>
          <a:p>
            <a:endParaRPr lang="zh-CN" altLang="en-US"/>
          </a:p>
        </p:txBody>
      </p:sp>
      <p:sp>
        <p:nvSpPr>
          <p:cNvPr id="7" name="Text 5"/>
          <p:cNvSpPr/>
          <p:nvPr/>
        </p:nvSpPr>
        <p:spPr>
          <a:xfrm>
            <a:off x="8449347" y="1702199"/>
            <a:ext cx="1057795" cy="340440"/>
          </a:xfrm>
          <a:prstGeom prst="rect">
            <a:avLst/>
          </a:prstGeom>
          <a:noFill/>
          <a:ln/>
        </p:spPr>
        <p:txBody>
          <a:bodyPr wrap="square" lIns="145903" tIns="48634" rIns="145903" bIns="48634" rtlCol="0" anchor="ctr"/>
          <a:lstStyle/>
          <a:p>
            <a:pPr>
              <a:lnSpc>
                <a:spcPct val="120000"/>
              </a:lnSpc>
            </a:pPr>
            <a:r>
              <a:rPr lang="en-US" sz="1340" b="1" dirty="0">
                <a:solidFill>
                  <a:srgbClr val="D69E2E"/>
                </a:solidFill>
                <a:latin typeface="MiSans" pitchFamily="34" charset="0"/>
                <a:ea typeface="MiSans" pitchFamily="34" charset="-122"/>
                <a:cs typeface="MiSans" pitchFamily="34" charset="-120"/>
              </a:rPr>
              <a:t>用户接口</a:t>
            </a:r>
            <a:endParaRPr lang="en-US" sz="1600" dirty="0"/>
          </a:p>
        </p:txBody>
      </p:sp>
      <p:sp>
        <p:nvSpPr>
          <p:cNvPr id="8" name="Text 6"/>
          <p:cNvSpPr/>
          <p:nvPr/>
        </p:nvSpPr>
        <p:spPr>
          <a:xfrm>
            <a:off x="826782" y="2139907"/>
            <a:ext cx="8693373" cy="291806"/>
          </a:xfrm>
          <a:prstGeom prst="rect">
            <a:avLst/>
          </a:prstGeom>
          <a:noFill/>
          <a:ln/>
        </p:spPr>
        <p:txBody>
          <a:bodyPr wrap="square" lIns="0" tIns="0" rIns="0" bIns="0" rtlCol="0" anchor="ctr"/>
          <a:lstStyle/>
          <a:p>
            <a:pPr>
              <a:lnSpc>
                <a:spcPct val="130000"/>
              </a:lnSpc>
            </a:pPr>
            <a:r>
              <a:rPr lang="en-US" sz="1532" dirty="0">
                <a:solidFill>
                  <a:srgbClr val="A0AEC0"/>
                </a:solidFill>
                <a:latin typeface="MiSans" pitchFamily="34" charset="0"/>
                <a:ea typeface="MiSans" pitchFamily="34" charset="-122"/>
                <a:cs typeface="MiSans" pitchFamily="34" charset="-120"/>
              </a:rPr>
              <a:t>Hive的命令行接口，提供交互式SQL查询功能</a:t>
            </a:r>
            <a:endParaRPr lang="en-US" sz="1600" dirty="0"/>
          </a:p>
        </p:txBody>
      </p:sp>
      <p:sp>
        <p:nvSpPr>
          <p:cNvPr id="9" name="Shape 7"/>
          <p:cNvSpPr/>
          <p:nvPr/>
        </p:nvSpPr>
        <p:spPr>
          <a:xfrm>
            <a:off x="510660" y="2772153"/>
            <a:ext cx="48634" cy="1021319"/>
          </a:xfrm>
          <a:custGeom>
            <a:avLst/>
            <a:gdLst/>
            <a:ahLst/>
            <a:cxnLst/>
            <a:rect l="l" t="t" r="r" b="b"/>
            <a:pathLst>
              <a:path w="48634" h="1021319">
                <a:moveTo>
                  <a:pt x="0" y="0"/>
                </a:moveTo>
                <a:lnTo>
                  <a:pt x="48634" y="0"/>
                </a:lnTo>
                <a:lnTo>
                  <a:pt x="48634" y="1021319"/>
                </a:lnTo>
                <a:lnTo>
                  <a:pt x="0" y="1021319"/>
                </a:lnTo>
                <a:lnTo>
                  <a:pt x="0" y="0"/>
                </a:lnTo>
                <a:close/>
              </a:path>
            </a:pathLst>
          </a:custGeom>
          <a:solidFill>
            <a:srgbClr val="D69E2E"/>
          </a:solidFill>
          <a:ln/>
        </p:spPr>
        <p:txBody>
          <a:bodyPr/>
          <a:lstStyle/>
          <a:p>
            <a:endParaRPr lang="zh-CN" altLang="en-US"/>
          </a:p>
        </p:txBody>
      </p:sp>
      <p:sp>
        <p:nvSpPr>
          <p:cNvPr id="10" name="Text 8"/>
          <p:cNvSpPr/>
          <p:nvPr/>
        </p:nvSpPr>
        <p:spPr>
          <a:xfrm>
            <a:off x="826782" y="2918055"/>
            <a:ext cx="2249334" cy="340440"/>
          </a:xfrm>
          <a:prstGeom prst="rect">
            <a:avLst/>
          </a:prstGeom>
          <a:noFill/>
          <a:ln/>
        </p:spPr>
        <p:txBody>
          <a:bodyPr wrap="square" lIns="0" tIns="0" rIns="0" bIns="0" rtlCol="0" anchor="ctr"/>
          <a:lstStyle/>
          <a:p>
            <a:pPr>
              <a:lnSpc>
                <a:spcPct val="120000"/>
              </a:lnSpc>
            </a:pPr>
            <a:r>
              <a:rPr lang="en-US" sz="1915" b="1" dirty="0">
                <a:solidFill>
                  <a:srgbClr val="E2E8F0"/>
                </a:solidFill>
                <a:latin typeface="Liter" pitchFamily="34" charset="0"/>
                <a:ea typeface="Liter" pitchFamily="34" charset="-122"/>
                <a:cs typeface="Liter" pitchFamily="34" charset="-120"/>
              </a:rPr>
              <a:t>Hive Server 2 (HS2)</a:t>
            </a:r>
            <a:endParaRPr lang="en-US" sz="1600" dirty="0"/>
          </a:p>
        </p:txBody>
      </p:sp>
      <p:sp>
        <p:nvSpPr>
          <p:cNvPr id="11" name="Shape 9"/>
          <p:cNvSpPr/>
          <p:nvPr/>
        </p:nvSpPr>
        <p:spPr>
          <a:xfrm>
            <a:off x="8619567" y="2918055"/>
            <a:ext cx="802465" cy="340440"/>
          </a:xfrm>
          <a:custGeom>
            <a:avLst/>
            <a:gdLst/>
            <a:ahLst/>
            <a:cxnLst/>
            <a:rect l="l" t="t" r="r" b="b"/>
            <a:pathLst>
              <a:path w="802465" h="340440">
                <a:moveTo>
                  <a:pt x="48635" y="0"/>
                </a:moveTo>
                <a:lnTo>
                  <a:pt x="753830" y="0"/>
                </a:lnTo>
                <a:cubicBezTo>
                  <a:pt x="780690" y="0"/>
                  <a:pt x="802465" y="21775"/>
                  <a:pt x="802465" y="48635"/>
                </a:cubicBezTo>
                <a:lnTo>
                  <a:pt x="802465" y="291805"/>
                </a:lnTo>
                <a:cubicBezTo>
                  <a:pt x="802465" y="318665"/>
                  <a:pt x="780690" y="340440"/>
                  <a:pt x="753830" y="340440"/>
                </a:cubicBezTo>
                <a:lnTo>
                  <a:pt x="48635" y="340440"/>
                </a:lnTo>
                <a:cubicBezTo>
                  <a:pt x="21775" y="340440"/>
                  <a:pt x="0" y="318665"/>
                  <a:pt x="0" y="291805"/>
                </a:cubicBezTo>
                <a:lnTo>
                  <a:pt x="0" y="48635"/>
                </a:lnTo>
                <a:cubicBezTo>
                  <a:pt x="0" y="21775"/>
                  <a:pt x="21775" y="0"/>
                  <a:pt x="48635" y="0"/>
                </a:cubicBezTo>
                <a:close/>
              </a:path>
            </a:pathLst>
          </a:custGeom>
          <a:solidFill>
            <a:srgbClr val="D69E2E">
              <a:alpha val="20000"/>
            </a:srgbClr>
          </a:solidFill>
          <a:ln/>
        </p:spPr>
        <p:txBody>
          <a:bodyPr/>
          <a:lstStyle/>
          <a:p>
            <a:endParaRPr lang="zh-CN" altLang="en-US"/>
          </a:p>
        </p:txBody>
      </p:sp>
      <p:sp>
        <p:nvSpPr>
          <p:cNvPr id="12" name="Text 10"/>
          <p:cNvSpPr/>
          <p:nvPr/>
        </p:nvSpPr>
        <p:spPr>
          <a:xfrm>
            <a:off x="8619567" y="2918055"/>
            <a:ext cx="887575" cy="340440"/>
          </a:xfrm>
          <a:prstGeom prst="rect">
            <a:avLst/>
          </a:prstGeom>
          <a:noFill/>
          <a:ln/>
        </p:spPr>
        <p:txBody>
          <a:bodyPr wrap="square" lIns="145903" tIns="48634" rIns="145903" bIns="48634" rtlCol="0" anchor="ctr"/>
          <a:lstStyle/>
          <a:p>
            <a:pPr>
              <a:lnSpc>
                <a:spcPct val="120000"/>
              </a:lnSpc>
            </a:pPr>
            <a:r>
              <a:rPr lang="en-US" sz="1340" b="1" dirty="0">
                <a:solidFill>
                  <a:srgbClr val="D69E2E"/>
                </a:solidFill>
                <a:latin typeface="MiSans" pitchFamily="34" charset="0"/>
                <a:ea typeface="MiSans" pitchFamily="34" charset="-122"/>
                <a:cs typeface="MiSans" pitchFamily="34" charset="-120"/>
              </a:rPr>
              <a:t>服务层</a:t>
            </a:r>
            <a:endParaRPr lang="en-US" sz="1600" dirty="0"/>
          </a:p>
        </p:txBody>
      </p:sp>
      <p:sp>
        <p:nvSpPr>
          <p:cNvPr id="13" name="Text 11"/>
          <p:cNvSpPr/>
          <p:nvPr/>
        </p:nvSpPr>
        <p:spPr>
          <a:xfrm>
            <a:off x="826782" y="3355764"/>
            <a:ext cx="8693373" cy="291806"/>
          </a:xfrm>
          <a:prstGeom prst="rect">
            <a:avLst/>
          </a:prstGeom>
          <a:noFill/>
          <a:ln/>
        </p:spPr>
        <p:txBody>
          <a:bodyPr wrap="square" lIns="0" tIns="0" rIns="0" bIns="0" rtlCol="0" anchor="ctr"/>
          <a:lstStyle/>
          <a:p>
            <a:pPr>
              <a:lnSpc>
                <a:spcPct val="130000"/>
              </a:lnSpc>
            </a:pPr>
            <a:r>
              <a:rPr lang="en-US" sz="1532" dirty="0">
                <a:solidFill>
                  <a:srgbClr val="A0AEC0"/>
                </a:solidFill>
                <a:latin typeface="MiSans" pitchFamily="34" charset="0"/>
                <a:ea typeface="MiSans" pitchFamily="34" charset="-122"/>
                <a:cs typeface="MiSans" pitchFamily="34" charset="-120"/>
              </a:rPr>
              <a:t>提供多用户并发访问支持，支持JDBC/ODBC连接</a:t>
            </a:r>
            <a:endParaRPr lang="en-US" sz="1600" dirty="0"/>
          </a:p>
        </p:txBody>
      </p:sp>
      <p:sp>
        <p:nvSpPr>
          <p:cNvPr id="14" name="Shape 12"/>
          <p:cNvSpPr/>
          <p:nvPr/>
        </p:nvSpPr>
        <p:spPr>
          <a:xfrm>
            <a:off x="510660" y="3988009"/>
            <a:ext cx="48634" cy="1021319"/>
          </a:xfrm>
          <a:custGeom>
            <a:avLst/>
            <a:gdLst/>
            <a:ahLst/>
            <a:cxnLst/>
            <a:rect l="l" t="t" r="r" b="b"/>
            <a:pathLst>
              <a:path w="48634" h="1021319">
                <a:moveTo>
                  <a:pt x="0" y="0"/>
                </a:moveTo>
                <a:lnTo>
                  <a:pt x="48634" y="0"/>
                </a:lnTo>
                <a:lnTo>
                  <a:pt x="48634" y="1021319"/>
                </a:lnTo>
                <a:lnTo>
                  <a:pt x="0" y="1021319"/>
                </a:lnTo>
                <a:lnTo>
                  <a:pt x="0" y="0"/>
                </a:lnTo>
                <a:close/>
              </a:path>
            </a:pathLst>
          </a:custGeom>
          <a:solidFill>
            <a:srgbClr val="D69E2E"/>
          </a:solidFill>
          <a:ln/>
        </p:spPr>
        <p:txBody>
          <a:bodyPr/>
          <a:lstStyle/>
          <a:p>
            <a:endParaRPr lang="zh-CN" altLang="en-US"/>
          </a:p>
        </p:txBody>
      </p:sp>
      <p:sp>
        <p:nvSpPr>
          <p:cNvPr id="15" name="Text 13"/>
          <p:cNvSpPr/>
          <p:nvPr/>
        </p:nvSpPr>
        <p:spPr>
          <a:xfrm>
            <a:off x="826782" y="4133912"/>
            <a:ext cx="1775150" cy="340440"/>
          </a:xfrm>
          <a:prstGeom prst="rect">
            <a:avLst/>
          </a:prstGeom>
          <a:noFill/>
          <a:ln/>
        </p:spPr>
        <p:txBody>
          <a:bodyPr wrap="square" lIns="0" tIns="0" rIns="0" bIns="0" rtlCol="0" anchor="ctr"/>
          <a:lstStyle/>
          <a:p>
            <a:pPr>
              <a:lnSpc>
                <a:spcPct val="120000"/>
              </a:lnSpc>
            </a:pPr>
            <a:r>
              <a:rPr lang="en-US" sz="1915" b="1" dirty="0">
                <a:solidFill>
                  <a:srgbClr val="E2E8F0"/>
                </a:solidFill>
                <a:latin typeface="Liter" pitchFamily="34" charset="0"/>
                <a:ea typeface="Liter" pitchFamily="34" charset="-122"/>
                <a:cs typeface="Liter" pitchFamily="34" charset="-120"/>
              </a:rPr>
              <a:t>Metadata Store</a:t>
            </a:r>
            <a:endParaRPr lang="en-US" sz="1600" dirty="0"/>
          </a:p>
        </p:txBody>
      </p:sp>
      <p:sp>
        <p:nvSpPr>
          <p:cNvPr id="16" name="Shape 14"/>
          <p:cNvSpPr/>
          <p:nvPr/>
        </p:nvSpPr>
        <p:spPr>
          <a:xfrm>
            <a:off x="8619567" y="4133912"/>
            <a:ext cx="802465" cy="340440"/>
          </a:xfrm>
          <a:custGeom>
            <a:avLst/>
            <a:gdLst/>
            <a:ahLst/>
            <a:cxnLst/>
            <a:rect l="l" t="t" r="r" b="b"/>
            <a:pathLst>
              <a:path w="802465" h="340440">
                <a:moveTo>
                  <a:pt x="48635" y="0"/>
                </a:moveTo>
                <a:lnTo>
                  <a:pt x="753830" y="0"/>
                </a:lnTo>
                <a:cubicBezTo>
                  <a:pt x="780690" y="0"/>
                  <a:pt x="802465" y="21775"/>
                  <a:pt x="802465" y="48635"/>
                </a:cubicBezTo>
                <a:lnTo>
                  <a:pt x="802465" y="291805"/>
                </a:lnTo>
                <a:cubicBezTo>
                  <a:pt x="802465" y="318665"/>
                  <a:pt x="780690" y="340440"/>
                  <a:pt x="753830" y="340440"/>
                </a:cubicBezTo>
                <a:lnTo>
                  <a:pt x="48635" y="340440"/>
                </a:lnTo>
                <a:cubicBezTo>
                  <a:pt x="21775" y="340440"/>
                  <a:pt x="0" y="318665"/>
                  <a:pt x="0" y="291805"/>
                </a:cubicBezTo>
                <a:lnTo>
                  <a:pt x="0" y="48635"/>
                </a:lnTo>
                <a:cubicBezTo>
                  <a:pt x="0" y="21775"/>
                  <a:pt x="21775" y="0"/>
                  <a:pt x="48635" y="0"/>
                </a:cubicBezTo>
                <a:close/>
              </a:path>
            </a:pathLst>
          </a:custGeom>
          <a:solidFill>
            <a:srgbClr val="D69E2E">
              <a:alpha val="20000"/>
            </a:srgbClr>
          </a:solidFill>
          <a:ln/>
        </p:spPr>
        <p:txBody>
          <a:bodyPr/>
          <a:lstStyle/>
          <a:p>
            <a:endParaRPr lang="zh-CN" altLang="en-US"/>
          </a:p>
        </p:txBody>
      </p:sp>
      <p:sp>
        <p:nvSpPr>
          <p:cNvPr id="17" name="Text 15"/>
          <p:cNvSpPr/>
          <p:nvPr/>
        </p:nvSpPr>
        <p:spPr>
          <a:xfrm>
            <a:off x="8619567" y="4133912"/>
            <a:ext cx="887575" cy="340440"/>
          </a:xfrm>
          <a:prstGeom prst="rect">
            <a:avLst/>
          </a:prstGeom>
          <a:noFill/>
          <a:ln/>
        </p:spPr>
        <p:txBody>
          <a:bodyPr wrap="square" lIns="145903" tIns="48634" rIns="145903" bIns="48634" rtlCol="0" anchor="ctr"/>
          <a:lstStyle/>
          <a:p>
            <a:pPr>
              <a:lnSpc>
                <a:spcPct val="120000"/>
              </a:lnSpc>
            </a:pPr>
            <a:r>
              <a:rPr lang="en-US" sz="1340" b="1" dirty="0">
                <a:solidFill>
                  <a:srgbClr val="D69E2E"/>
                </a:solidFill>
                <a:latin typeface="MiSans" pitchFamily="34" charset="0"/>
                <a:ea typeface="MiSans" pitchFamily="34" charset="-122"/>
                <a:cs typeface="MiSans" pitchFamily="34" charset="-120"/>
              </a:rPr>
              <a:t>元数据</a:t>
            </a:r>
            <a:endParaRPr lang="en-US" sz="1600" dirty="0"/>
          </a:p>
        </p:txBody>
      </p:sp>
      <p:sp>
        <p:nvSpPr>
          <p:cNvPr id="18" name="Text 16"/>
          <p:cNvSpPr/>
          <p:nvPr/>
        </p:nvSpPr>
        <p:spPr>
          <a:xfrm>
            <a:off x="826782" y="4571620"/>
            <a:ext cx="8693373" cy="291806"/>
          </a:xfrm>
          <a:prstGeom prst="rect">
            <a:avLst/>
          </a:prstGeom>
          <a:noFill/>
          <a:ln/>
        </p:spPr>
        <p:txBody>
          <a:bodyPr wrap="square" lIns="0" tIns="0" rIns="0" bIns="0" rtlCol="0" anchor="ctr"/>
          <a:lstStyle/>
          <a:p>
            <a:pPr>
              <a:lnSpc>
                <a:spcPct val="130000"/>
              </a:lnSpc>
            </a:pPr>
            <a:r>
              <a:rPr lang="en-US" sz="1532" dirty="0">
                <a:solidFill>
                  <a:srgbClr val="A0AEC0"/>
                </a:solidFill>
                <a:latin typeface="MiSans" pitchFamily="34" charset="0"/>
                <a:ea typeface="MiSans" pitchFamily="34" charset="-122"/>
                <a:cs typeface="MiSans" pitchFamily="34" charset="-120"/>
              </a:rPr>
              <a:t>元数据存储，使用关系型数据库(MySQL/PostgreSQL等)</a:t>
            </a:r>
            <a:endParaRPr lang="en-US" sz="1600" dirty="0"/>
          </a:p>
        </p:txBody>
      </p:sp>
      <p:sp>
        <p:nvSpPr>
          <p:cNvPr id="19" name="Shape 17"/>
          <p:cNvSpPr/>
          <p:nvPr/>
        </p:nvSpPr>
        <p:spPr>
          <a:xfrm>
            <a:off x="510660" y="5203865"/>
            <a:ext cx="48634" cy="1021319"/>
          </a:xfrm>
          <a:custGeom>
            <a:avLst/>
            <a:gdLst/>
            <a:ahLst/>
            <a:cxnLst/>
            <a:rect l="l" t="t" r="r" b="b"/>
            <a:pathLst>
              <a:path w="48634" h="1021319">
                <a:moveTo>
                  <a:pt x="0" y="0"/>
                </a:moveTo>
                <a:lnTo>
                  <a:pt x="48634" y="0"/>
                </a:lnTo>
                <a:lnTo>
                  <a:pt x="48634" y="1021319"/>
                </a:lnTo>
                <a:lnTo>
                  <a:pt x="0" y="1021319"/>
                </a:lnTo>
                <a:lnTo>
                  <a:pt x="0" y="0"/>
                </a:lnTo>
                <a:close/>
              </a:path>
            </a:pathLst>
          </a:custGeom>
          <a:solidFill>
            <a:srgbClr val="D69E2E"/>
          </a:solidFill>
          <a:ln/>
        </p:spPr>
        <p:txBody>
          <a:bodyPr/>
          <a:lstStyle/>
          <a:p>
            <a:endParaRPr lang="zh-CN" altLang="en-US"/>
          </a:p>
        </p:txBody>
      </p:sp>
      <p:sp>
        <p:nvSpPr>
          <p:cNvPr id="20" name="Text 18"/>
          <p:cNvSpPr/>
          <p:nvPr/>
        </p:nvSpPr>
        <p:spPr>
          <a:xfrm>
            <a:off x="826782" y="5349768"/>
            <a:ext cx="1799467" cy="340440"/>
          </a:xfrm>
          <a:prstGeom prst="rect">
            <a:avLst/>
          </a:prstGeom>
          <a:noFill/>
          <a:ln/>
        </p:spPr>
        <p:txBody>
          <a:bodyPr wrap="square" lIns="0" tIns="0" rIns="0" bIns="0" rtlCol="0" anchor="ctr"/>
          <a:lstStyle/>
          <a:p>
            <a:pPr>
              <a:lnSpc>
                <a:spcPct val="120000"/>
              </a:lnSpc>
            </a:pPr>
            <a:r>
              <a:rPr lang="en-US" sz="1915" b="1" dirty="0">
                <a:solidFill>
                  <a:srgbClr val="E2E8F0"/>
                </a:solidFill>
                <a:latin typeface="Liter" pitchFamily="34" charset="0"/>
                <a:ea typeface="Liter" pitchFamily="34" charset="-122"/>
                <a:cs typeface="Liter" pitchFamily="34" charset="-120"/>
              </a:rPr>
              <a:t>Query Compiler</a:t>
            </a:r>
            <a:endParaRPr lang="en-US" sz="1600" dirty="0"/>
          </a:p>
        </p:txBody>
      </p:sp>
      <p:sp>
        <p:nvSpPr>
          <p:cNvPr id="21" name="Shape 19"/>
          <p:cNvSpPr/>
          <p:nvPr/>
        </p:nvSpPr>
        <p:spPr>
          <a:xfrm>
            <a:off x="8449347" y="5349768"/>
            <a:ext cx="972685" cy="340440"/>
          </a:xfrm>
          <a:custGeom>
            <a:avLst/>
            <a:gdLst/>
            <a:ahLst/>
            <a:cxnLst/>
            <a:rect l="l" t="t" r="r" b="b"/>
            <a:pathLst>
              <a:path w="972685" h="340440">
                <a:moveTo>
                  <a:pt x="48635" y="0"/>
                </a:moveTo>
                <a:lnTo>
                  <a:pt x="924050" y="0"/>
                </a:lnTo>
                <a:cubicBezTo>
                  <a:pt x="950910" y="0"/>
                  <a:pt x="972685" y="21775"/>
                  <a:pt x="972685" y="48635"/>
                </a:cubicBezTo>
                <a:lnTo>
                  <a:pt x="972685" y="291805"/>
                </a:lnTo>
                <a:cubicBezTo>
                  <a:pt x="972685" y="318665"/>
                  <a:pt x="950910" y="340440"/>
                  <a:pt x="924050" y="340440"/>
                </a:cubicBezTo>
                <a:lnTo>
                  <a:pt x="48635" y="340440"/>
                </a:lnTo>
                <a:cubicBezTo>
                  <a:pt x="21775" y="340440"/>
                  <a:pt x="0" y="318665"/>
                  <a:pt x="0" y="291805"/>
                </a:cubicBezTo>
                <a:lnTo>
                  <a:pt x="0" y="48635"/>
                </a:lnTo>
                <a:cubicBezTo>
                  <a:pt x="0" y="21775"/>
                  <a:pt x="21775" y="0"/>
                  <a:pt x="48635" y="0"/>
                </a:cubicBezTo>
                <a:close/>
              </a:path>
            </a:pathLst>
          </a:custGeom>
          <a:solidFill>
            <a:srgbClr val="D69E2E">
              <a:alpha val="20000"/>
            </a:srgbClr>
          </a:solidFill>
          <a:ln/>
        </p:spPr>
        <p:txBody>
          <a:bodyPr/>
          <a:lstStyle/>
          <a:p>
            <a:endParaRPr lang="zh-CN" altLang="en-US"/>
          </a:p>
        </p:txBody>
      </p:sp>
      <p:sp>
        <p:nvSpPr>
          <p:cNvPr id="22" name="Text 20"/>
          <p:cNvSpPr/>
          <p:nvPr/>
        </p:nvSpPr>
        <p:spPr>
          <a:xfrm>
            <a:off x="8449347" y="5349768"/>
            <a:ext cx="1057795" cy="340440"/>
          </a:xfrm>
          <a:prstGeom prst="rect">
            <a:avLst/>
          </a:prstGeom>
          <a:noFill/>
          <a:ln/>
        </p:spPr>
        <p:txBody>
          <a:bodyPr wrap="square" lIns="145903" tIns="48634" rIns="145903" bIns="48634" rtlCol="0" anchor="ctr"/>
          <a:lstStyle/>
          <a:p>
            <a:pPr>
              <a:lnSpc>
                <a:spcPct val="120000"/>
              </a:lnSpc>
            </a:pPr>
            <a:r>
              <a:rPr lang="en-US" sz="1340" b="1" dirty="0">
                <a:solidFill>
                  <a:srgbClr val="D69E2E"/>
                </a:solidFill>
                <a:latin typeface="MiSans" pitchFamily="34" charset="0"/>
                <a:ea typeface="MiSans" pitchFamily="34" charset="-122"/>
                <a:cs typeface="MiSans" pitchFamily="34" charset="-120"/>
              </a:rPr>
              <a:t>查询处理</a:t>
            </a:r>
            <a:endParaRPr lang="en-US" sz="1600" dirty="0"/>
          </a:p>
        </p:txBody>
      </p:sp>
      <p:sp>
        <p:nvSpPr>
          <p:cNvPr id="23" name="Text 21"/>
          <p:cNvSpPr/>
          <p:nvPr/>
        </p:nvSpPr>
        <p:spPr>
          <a:xfrm>
            <a:off x="826782" y="5787476"/>
            <a:ext cx="8693373" cy="291806"/>
          </a:xfrm>
          <a:prstGeom prst="rect">
            <a:avLst/>
          </a:prstGeom>
          <a:noFill/>
          <a:ln/>
        </p:spPr>
        <p:txBody>
          <a:bodyPr wrap="square" lIns="0" tIns="0" rIns="0" bIns="0" rtlCol="0" anchor="ctr"/>
          <a:lstStyle/>
          <a:p>
            <a:pPr>
              <a:lnSpc>
                <a:spcPct val="130000"/>
              </a:lnSpc>
            </a:pPr>
            <a:r>
              <a:rPr lang="en-US" sz="1532" dirty="0">
                <a:solidFill>
                  <a:srgbClr val="A0AEC0"/>
                </a:solidFill>
                <a:latin typeface="MiSans" pitchFamily="34" charset="0"/>
                <a:ea typeface="MiSans" pitchFamily="34" charset="-122"/>
                <a:cs typeface="MiSans" pitchFamily="34" charset="-120"/>
              </a:rPr>
              <a:t>查询编译器，将SQL转换为执行计划</a:t>
            </a:r>
            <a:endParaRPr lang="en-US" sz="1600" dirty="0"/>
          </a:p>
        </p:txBody>
      </p:sp>
      <p:sp>
        <p:nvSpPr>
          <p:cNvPr id="24" name="Shape 22"/>
          <p:cNvSpPr/>
          <p:nvPr/>
        </p:nvSpPr>
        <p:spPr>
          <a:xfrm>
            <a:off x="510660" y="6419722"/>
            <a:ext cx="48634" cy="1021319"/>
          </a:xfrm>
          <a:custGeom>
            <a:avLst/>
            <a:gdLst/>
            <a:ahLst/>
            <a:cxnLst/>
            <a:rect l="l" t="t" r="r" b="b"/>
            <a:pathLst>
              <a:path w="48634" h="1021319">
                <a:moveTo>
                  <a:pt x="0" y="0"/>
                </a:moveTo>
                <a:lnTo>
                  <a:pt x="48634" y="0"/>
                </a:lnTo>
                <a:lnTo>
                  <a:pt x="48634" y="1021319"/>
                </a:lnTo>
                <a:lnTo>
                  <a:pt x="0" y="1021319"/>
                </a:lnTo>
                <a:lnTo>
                  <a:pt x="0" y="0"/>
                </a:lnTo>
                <a:close/>
              </a:path>
            </a:pathLst>
          </a:custGeom>
          <a:solidFill>
            <a:srgbClr val="D69E2E"/>
          </a:solidFill>
          <a:ln/>
        </p:spPr>
        <p:txBody>
          <a:bodyPr/>
          <a:lstStyle/>
          <a:p>
            <a:endParaRPr lang="zh-CN" altLang="en-US"/>
          </a:p>
        </p:txBody>
      </p:sp>
      <p:sp>
        <p:nvSpPr>
          <p:cNvPr id="25" name="Text 23"/>
          <p:cNvSpPr/>
          <p:nvPr/>
        </p:nvSpPr>
        <p:spPr>
          <a:xfrm>
            <a:off x="826782" y="6565625"/>
            <a:ext cx="1969687" cy="340440"/>
          </a:xfrm>
          <a:prstGeom prst="rect">
            <a:avLst/>
          </a:prstGeom>
          <a:noFill/>
          <a:ln/>
        </p:spPr>
        <p:txBody>
          <a:bodyPr wrap="square" lIns="0" tIns="0" rIns="0" bIns="0" rtlCol="0" anchor="ctr"/>
          <a:lstStyle/>
          <a:p>
            <a:pPr>
              <a:lnSpc>
                <a:spcPct val="120000"/>
              </a:lnSpc>
            </a:pPr>
            <a:r>
              <a:rPr lang="en-US" sz="1915" b="1" dirty="0">
                <a:solidFill>
                  <a:srgbClr val="E2E8F0"/>
                </a:solidFill>
                <a:latin typeface="Liter" pitchFamily="34" charset="0"/>
                <a:ea typeface="Liter" pitchFamily="34" charset="-122"/>
                <a:cs typeface="Liter" pitchFamily="34" charset="-120"/>
              </a:rPr>
              <a:t>Execution Engine</a:t>
            </a:r>
            <a:endParaRPr lang="en-US" sz="1600" dirty="0"/>
          </a:p>
        </p:txBody>
      </p:sp>
      <p:sp>
        <p:nvSpPr>
          <p:cNvPr id="26" name="Shape 24"/>
          <p:cNvSpPr/>
          <p:nvPr/>
        </p:nvSpPr>
        <p:spPr>
          <a:xfrm>
            <a:off x="8449347" y="6565625"/>
            <a:ext cx="972685" cy="340440"/>
          </a:xfrm>
          <a:custGeom>
            <a:avLst/>
            <a:gdLst/>
            <a:ahLst/>
            <a:cxnLst/>
            <a:rect l="l" t="t" r="r" b="b"/>
            <a:pathLst>
              <a:path w="972685" h="340440">
                <a:moveTo>
                  <a:pt x="48635" y="0"/>
                </a:moveTo>
                <a:lnTo>
                  <a:pt x="924050" y="0"/>
                </a:lnTo>
                <a:cubicBezTo>
                  <a:pt x="950910" y="0"/>
                  <a:pt x="972685" y="21775"/>
                  <a:pt x="972685" y="48635"/>
                </a:cubicBezTo>
                <a:lnTo>
                  <a:pt x="972685" y="291805"/>
                </a:lnTo>
                <a:cubicBezTo>
                  <a:pt x="972685" y="318665"/>
                  <a:pt x="950910" y="340440"/>
                  <a:pt x="924050" y="340440"/>
                </a:cubicBezTo>
                <a:lnTo>
                  <a:pt x="48635" y="340440"/>
                </a:lnTo>
                <a:cubicBezTo>
                  <a:pt x="21775" y="340440"/>
                  <a:pt x="0" y="318665"/>
                  <a:pt x="0" y="291805"/>
                </a:cubicBezTo>
                <a:lnTo>
                  <a:pt x="0" y="48635"/>
                </a:lnTo>
                <a:cubicBezTo>
                  <a:pt x="0" y="21775"/>
                  <a:pt x="21775" y="0"/>
                  <a:pt x="48635" y="0"/>
                </a:cubicBezTo>
                <a:close/>
              </a:path>
            </a:pathLst>
          </a:custGeom>
          <a:solidFill>
            <a:srgbClr val="D69E2E">
              <a:alpha val="20000"/>
            </a:srgbClr>
          </a:solidFill>
          <a:ln/>
        </p:spPr>
        <p:txBody>
          <a:bodyPr/>
          <a:lstStyle/>
          <a:p>
            <a:endParaRPr lang="zh-CN" altLang="en-US"/>
          </a:p>
        </p:txBody>
      </p:sp>
      <p:sp>
        <p:nvSpPr>
          <p:cNvPr id="27" name="Text 25"/>
          <p:cNvSpPr/>
          <p:nvPr/>
        </p:nvSpPr>
        <p:spPr>
          <a:xfrm>
            <a:off x="8449347" y="6565625"/>
            <a:ext cx="1057795" cy="340440"/>
          </a:xfrm>
          <a:prstGeom prst="rect">
            <a:avLst/>
          </a:prstGeom>
          <a:noFill/>
          <a:ln/>
        </p:spPr>
        <p:txBody>
          <a:bodyPr wrap="square" lIns="145903" tIns="48634" rIns="145903" bIns="48634" rtlCol="0" anchor="ctr"/>
          <a:lstStyle/>
          <a:p>
            <a:pPr>
              <a:lnSpc>
                <a:spcPct val="120000"/>
              </a:lnSpc>
            </a:pPr>
            <a:r>
              <a:rPr lang="en-US" sz="1340" b="1" dirty="0">
                <a:solidFill>
                  <a:srgbClr val="D69E2E"/>
                </a:solidFill>
                <a:latin typeface="MiSans" pitchFamily="34" charset="0"/>
                <a:ea typeface="MiSans" pitchFamily="34" charset="-122"/>
                <a:cs typeface="MiSans" pitchFamily="34" charset="-120"/>
              </a:rPr>
              <a:t>执行引擎</a:t>
            </a:r>
            <a:endParaRPr lang="en-US" sz="1600" dirty="0"/>
          </a:p>
        </p:txBody>
      </p:sp>
      <p:sp>
        <p:nvSpPr>
          <p:cNvPr id="28" name="Text 26"/>
          <p:cNvSpPr/>
          <p:nvPr/>
        </p:nvSpPr>
        <p:spPr>
          <a:xfrm>
            <a:off x="826782" y="7003333"/>
            <a:ext cx="8693373" cy="291806"/>
          </a:xfrm>
          <a:prstGeom prst="rect">
            <a:avLst/>
          </a:prstGeom>
          <a:noFill/>
          <a:ln/>
        </p:spPr>
        <p:txBody>
          <a:bodyPr wrap="square" lIns="0" tIns="0" rIns="0" bIns="0" rtlCol="0" anchor="ctr"/>
          <a:lstStyle/>
          <a:p>
            <a:pPr>
              <a:lnSpc>
                <a:spcPct val="130000"/>
              </a:lnSpc>
            </a:pPr>
            <a:r>
              <a:rPr lang="en-US" sz="1532" dirty="0">
                <a:solidFill>
                  <a:srgbClr val="A0AEC0"/>
                </a:solidFill>
                <a:latin typeface="MiSans" pitchFamily="34" charset="0"/>
                <a:ea typeface="MiSans" pitchFamily="34" charset="-122"/>
                <a:cs typeface="MiSans" pitchFamily="34" charset="-120"/>
              </a:rPr>
              <a:t>支持MapReduce、Tez、Spark等多种计算框架</a:t>
            </a:r>
            <a:endParaRPr lang="en-US" sz="1600" dirty="0"/>
          </a:p>
        </p:txBody>
      </p:sp>
      <p:sp>
        <p:nvSpPr>
          <p:cNvPr id="29" name="Shape 27"/>
          <p:cNvSpPr/>
          <p:nvPr/>
        </p:nvSpPr>
        <p:spPr>
          <a:xfrm>
            <a:off x="510660" y="7635578"/>
            <a:ext cx="48634" cy="1021319"/>
          </a:xfrm>
          <a:custGeom>
            <a:avLst/>
            <a:gdLst/>
            <a:ahLst/>
            <a:cxnLst/>
            <a:rect l="l" t="t" r="r" b="b"/>
            <a:pathLst>
              <a:path w="48634" h="1021319">
                <a:moveTo>
                  <a:pt x="0" y="0"/>
                </a:moveTo>
                <a:lnTo>
                  <a:pt x="48634" y="0"/>
                </a:lnTo>
                <a:lnTo>
                  <a:pt x="48634" y="1021319"/>
                </a:lnTo>
                <a:lnTo>
                  <a:pt x="0" y="1021319"/>
                </a:lnTo>
                <a:lnTo>
                  <a:pt x="0" y="0"/>
                </a:lnTo>
                <a:close/>
              </a:path>
            </a:pathLst>
          </a:custGeom>
          <a:solidFill>
            <a:srgbClr val="D69E2E"/>
          </a:solidFill>
          <a:ln/>
        </p:spPr>
        <p:txBody>
          <a:bodyPr/>
          <a:lstStyle/>
          <a:p>
            <a:endParaRPr lang="zh-CN" altLang="en-US"/>
          </a:p>
        </p:txBody>
      </p:sp>
      <p:sp>
        <p:nvSpPr>
          <p:cNvPr id="30" name="Text 28"/>
          <p:cNvSpPr/>
          <p:nvPr/>
        </p:nvSpPr>
        <p:spPr>
          <a:xfrm>
            <a:off x="826782" y="7781481"/>
            <a:ext cx="2225017" cy="340440"/>
          </a:xfrm>
          <a:prstGeom prst="rect">
            <a:avLst/>
          </a:prstGeom>
          <a:noFill/>
          <a:ln/>
        </p:spPr>
        <p:txBody>
          <a:bodyPr wrap="square" lIns="0" tIns="0" rIns="0" bIns="0" rtlCol="0" anchor="ctr"/>
          <a:lstStyle/>
          <a:p>
            <a:pPr>
              <a:lnSpc>
                <a:spcPct val="120000"/>
              </a:lnSpc>
            </a:pPr>
            <a:r>
              <a:rPr lang="en-US" sz="1915" b="1" dirty="0">
                <a:solidFill>
                  <a:srgbClr val="E2E8F0"/>
                </a:solidFill>
                <a:latin typeface="Liter" pitchFamily="34" charset="0"/>
                <a:ea typeface="Liter" pitchFamily="34" charset="-122"/>
                <a:cs typeface="Liter" pitchFamily="34" charset="-120"/>
              </a:rPr>
              <a:t>Storage Subsystem</a:t>
            </a:r>
            <a:endParaRPr lang="en-US" sz="1600" dirty="0"/>
          </a:p>
        </p:txBody>
      </p:sp>
      <p:sp>
        <p:nvSpPr>
          <p:cNvPr id="31" name="Shape 29"/>
          <p:cNvSpPr/>
          <p:nvPr/>
        </p:nvSpPr>
        <p:spPr>
          <a:xfrm>
            <a:off x="8619567" y="7781481"/>
            <a:ext cx="802465" cy="340440"/>
          </a:xfrm>
          <a:custGeom>
            <a:avLst/>
            <a:gdLst/>
            <a:ahLst/>
            <a:cxnLst/>
            <a:rect l="l" t="t" r="r" b="b"/>
            <a:pathLst>
              <a:path w="802465" h="340440">
                <a:moveTo>
                  <a:pt x="48635" y="0"/>
                </a:moveTo>
                <a:lnTo>
                  <a:pt x="753830" y="0"/>
                </a:lnTo>
                <a:cubicBezTo>
                  <a:pt x="780690" y="0"/>
                  <a:pt x="802465" y="21775"/>
                  <a:pt x="802465" y="48635"/>
                </a:cubicBezTo>
                <a:lnTo>
                  <a:pt x="802465" y="291805"/>
                </a:lnTo>
                <a:cubicBezTo>
                  <a:pt x="802465" y="318665"/>
                  <a:pt x="780690" y="340440"/>
                  <a:pt x="753830" y="340440"/>
                </a:cubicBezTo>
                <a:lnTo>
                  <a:pt x="48635" y="340440"/>
                </a:lnTo>
                <a:cubicBezTo>
                  <a:pt x="21775" y="340440"/>
                  <a:pt x="0" y="318665"/>
                  <a:pt x="0" y="291805"/>
                </a:cubicBezTo>
                <a:lnTo>
                  <a:pt x="0" y="48635"/>
                </a:lnTo>
                <a:cubicBezTo>
                  <a:pt x="0" y="21775"/>
                  <a:pt x="21775" y="0"/>
                  <a:pt x="48635" y="0"/>
                </a:cubicBezTo>
                <a:close/>
              </a:path>
            </a:pathLst>
          </a:custGeom>
          <a:solidFill>
            <a:srgbClr val="D69E2E">
              <a:alpha val="20000"/>
            </a:srgbClr>
          </a:solidFill>
          <a:ln/>
        </p:spPr>
        <p:txBody>
          <a:bodyPr/>
          <a:lstStyle/>
          <a:p>
            <a:endParaRPr lang="zh-CN" altLang="en-US"/>
          </a:p>
        </p:txBody>
      </p:sp>
      <p:sp>
        <p:nvSpPr>
          <p:cNvPr id="32" name="Text 30"/>
          <p:cNvSpPr/>
          <p:nvPr/>
        </p:nvSpPr>
        <p:spPr>
          <a:xfrm>
            <a:off x="8619567" y="7781481"/>
            <a:ext cx="887575" cy="340440"/>
          </a:xfrm>
          <a:prstGeom prst="rect">
            <a:avLst/>
          </a:prstGeom>
          <a:noFill/>
          <a:ln/>
        </p:spPr>
        <p:txBody>
          <a:bodyPr wrap="square" lIns="145903" tIns="48634" rIns="145903" bIns="48634" rtlCol="0" anchor="ctr"/>
          <a:lstStyle/>
          <a:p>
            <a:pPr>
              <a:lnSpc>
                <a:spcPct val="120000"/>
              </a:lnSpc>
            </a:pPr>
            <a:r>
              <a:rPr lang="en-US" sz="1340" b="1" dirty="0">
                <a:solidFill>
                  <a:srgbClr val="D69E2E"/>
                </a:solidFill>
                <a:latin typeface="MiSans" pitchFamily="34" charset="0"/>
                <a:ea typeface="MiSans" pitchFamily="34" charset="-122"/>
                <a:cs typeface="MiSans" pitchFamily="34" charset="-120"/>
              </a:rPr>
              <a:t>存储层</a:t>
            </a:r>
            <a:endParaRPr lang="en-US" sz="1600" dirty="0"/>
          </a:p>
        </p:txBody>
      </p:sp>
      <p:sp>
        <p:nvSpPr>
          <p:cNvPr id="33" name="Text 31"/>
          <p:cNvSpPr/>
          <p:nvPr/>
        </p:nvSpPr>
        <p:spPr>
          <a:xfrm>
            <a:off x="826782" y="8219189"/>
            <a:ext cx="8693373" cy="291806"/>
          </a:xfrm>
          <a:prstGeom prst="rect">
            <a:avLst/>
          </a:prstGeom>
          <a:noFill/>
          <a:ln/>
        </p:spPr>
        <p:txBody>
          <a:bodyPr wrap="square" lIns="0" tIns="0" rIns="0" bIns="0" rtlCol="0" anchor="ctr"/>
          <a:lstStyle/>
          <a:p>
            <a:pPr>
              <a:lnSpc>
                <a:spcPct val="130000"/>
              </a:lnSpc>
            </a:pPr>
            <a:r>
              <a:rPr lang="en-US" sz="1532" dirty="0">
                <a:solidFill>
                  <a:srgbClr val="A0AEC0"/>
                </a:solidFill>
                <a:latin typeface="MiSans" pitchFamily="34" charset="0"/>
                <a:ea typeface="MiSans" pitchFamily="34" charset="-122"/>
                <a:cs typeface="MiSans" pitchFamily="34" charset="-120"/>
              </a:rPr>
              <a:t>存储子系统，支持HDFS和多种文件格式(ORC/Parquet等)</a:t>
            </a:r>
            <a:endParaRPr lang="en-US" sz="1600" dirty="0"/>
          </a:p>
        </p:txBody>
      </p:sp>
      <p:sp>
        <p:nvSpPr>
          <p:cNvPr id="34" name="Shape 32"/>
          <p:cNvSpPr/>
          <p:nvPr/>
        </p:nvSpPr>
        <p:spPr>
          <a:xfrm>
            <a:off x="12017601" y="2699201"/>
            <a:ext cx="1544138" cy="1361759"/>
          </a:xfrm>
          <a:custGeom>
            <a:avLst/>
            <a:gdLst/>
            <a:ahLst/>
            <a:cxnLst/>
            <a:rect l="l" t="t" r="r" b="b"/>
            <a:pathLst>
              <a:path w="1544138" h="1361759">
                <a:moveTo>
                  <a:pt x="680880" y="0"/>
                </a:moveTo>
                <a:lnTo>
                  <a:pt x="863258" y="0"/>
                </a:lnTo>
                <a:cubicBezTo>
                  <a:pt x="1239297" y="0"/>
                  <a:pt x="1544138" y="304840"/>
                  <a:pt x="1544138" y="680880"/>
                </a:cubicBezTo>
                <a:lnTo>
                  <a:pt x="1544138" y="680880"/>
                </a:lnTo>
                <a:cubicBezTo>
                  <a:pt x="1544138" y="1056919"/>
                  <a:pt x="1239297" y="1361759"/>
                  <a:pt x="863258" y="1361759"/>
                </a:cubicBezTo>
                <a:lnTo>
                  <a:pt x="680880" y="1361759"/>
                </a:lnTo>
                <a:cubicBezTo>
                  <a:pt x="304840" y="1361759"/>
                  <a:pt x="0" y="1056919"/>
                  <a:pt x="0" y="680880"/>
                </a:cubicBezTo>
                <a:lnTo>
                  <a:pt x="0" y="680880"/>
                </a:lnTo>
                <a:cubicBezTo>
                  <a:pt x="0" y="304840"/>
                  <a:pt x="304840" y="0"/>
                  <a:pt x="680880" y="0"/>
                </a:cubicBezTo>
                <a:close/>
              </a:path>
            </a:pathLst>
          </a:custGeom>
          <a:solidFill>
            <a:srgbClr val="000000">
              <a:alpha val="0"/>
            </a:srgbClr>
          </a:solidFill>
          <a:ln w="50800">
            <a:solidFill>
              <a:srgbClr val="D69E2E"/>
            </a:solidFill>
            <a:prstDash val="solid"/>
          </a:ln>
        </p:spPr>
        <p:txBody>
          <a:bodyPr/>
          <a:lstStyle/>
          <a:p>
            <a:endParaRPr lang="zh-CN" altLang="en-US"/>
          </a:p>
        </p:txBody>
      </p:sp>
      <p:sp>
        <p:nvSpPr>
          <p:cNvPr id="35" name="Shape 33"/>
          <p:cNvSpPr/>
          <p:nvPr/>
        </p:nvSpPr>
        <p:spPr>
          <a:xfrm>
            <a:off x="12424912" y="3015324"/>
            <a:ext cx="729514" cy="729514"/>
          </a:xfrm>
          <a:custGeom>
            <a:avLst/>
            <a:gdLst/>
            <a:ahLst/>
            <a:cxnLst/>
            <a:rect l="l" t="t" r="r" b="b"/>
            <a:pathLst>
              <a:path w="729514" h="729514">
                <a:moveTo>
                  <a:pt x="331273" y="7409"/>
                </a:moveTo>
                <a:cubicBezTo>
                  <a:pt x="352503" y="-2422"/>
                  <a:pt x="377010" y="-2422"/>
                  <a:pt x="398240" y="7409"/>
                </a:cubicBezTo>
                <a:lnTo>
                  <a:pt x="709709" y="151317"/>
                </a:lnTo>
                <a:cubicBezTo>
                  <a:pt x="721820" y="156874"/>
                  <a:pt x="729514" y="168985"/>
                  <a:pt x="729514" y="182378"/>
                </a:cubicBezTo>
                <a:cubicBezTo>
                  <a:pt x="729514" y="195772"/>
                  <a:pt x="721820" y="207883"/>
                  <a:pt x="709709" y="213440"/>
                </a:cubicBezTo>
                <a:lnTo>
                  <a:pt x="398240" y="357348"/>
                </a:lnTo>
                <a:cubicBezTo>
                  <a:pt x="377010" y="367179"/>
                  <a:pt x="352503" y="367179"/>
                  <a:pt x="331273" y="357348"/>
                </a:cubicBezTo>
                <a:lnTo>
                  <a:pt x="19805" y="213440"/>
                </a:lnTo>
                <a:cubicBezTo>
                  <a:pt x="7694" y="207740"/>
                  <a:pt x="0" y="195629"/>
                  <a:pt x="0" y="182378"/>
                </a:cubicBezTo>
                <a:cubicBezTo>
                  <a:pt x="0" y="169128"/>
                  <a:pt x="7694" y="156874"/>
                  <a:pt x="19805" y="151317"/>
                </a:cubicBezTo>
                <a:lnTo>
                  <a:pt x="331273" y="7409"/>
                </a:lnTo>
                <a:close/>
                <a:moveTo>
                  <a:pt x="68534" y="311183"/>
                </a:moveTo>
                <a:lnTo>
                  <a:pt x="302634" y="419328"/>
                </a:lnTo>
                <a:cubicBezTo>
                  <a:pt x="342102" y="437566"/>
                  <a:pt x="387554" y="437566"/>
                  <a:pt x="427022" y="419328"/>
                </a:cubicBezTo>
                <a:lnTo>
                  <a:pt x="661122" y="311183"/>
                </a:lnTo>
                <a:lnTo>
                  <a:pt x="709709" y="333696"/>
                </a:lnTo>
                <a:cubicBezTo>
                  <a:pt x="721820" y="339252"/>
                  <a:pt x="729514" y="351364"/>
                  <a:pt x="729514" y="364757"/>
                </a:cubicBezTo>
                <a:cubicBezTo>
                  <a:pt x="729514" y="378150"/>
                  <a:pt x="721820" y="390261"/>
                  <a:pt x="709709" y="395818"/>
                </a:cubicBezTo>
                <a:lnTo>
                  <a:pt x="398240" y="539726"/>
                </a:lnTo>
                <a:cubicBezTo>
                  <a:pt x="377010" y="549558"/>
                  <a:pt x="352503" y="549558"/>
                  <a:pt x="331273" y="539726"/>
                </a:cubicBezTo>
                <a:lnTo>
                  <a:pt x="19805" y="395818"/>
                </a:lnTo>
                <a:cubicBezTo>
                  <a:pt x="7694" y="390119"/>
                  <a:pt x="0" y="378008"/>
                  <a:pt x="0" y="364757"/>
                </a:cubicBezTo>
                <a:cubicBezTo>
                  <a:pt x="0" y="351506"/>
                  <a:pt x="7694" y="339252"/>
                  <a:pt x="19805" y="333696"/>
                </a:cubicBezTo>
                <a:lnTo>
                  <a:pt x="68392" y="311183"/>
                </a:lnTo>
                <a:close/>
                <a:moveTo>
                  <a:pt x="19805" y="516074"/>
                </a:moveTo>
                <a:lnTo>
                  <a:pt x="68392" y="493562"/>
                </a:lnTo>
                <a:lnTo>
                  <a:pt x="302492" y="601706"/>
                </a:lnTo>
                <a:cubicBezTo>
                  <a:pt x="341960" y="619944"/>
                  <a:pt x="387412" y="619944"/>
                  <a:pt x="426880" y="601706"/>
                </a:cubicBezTo>
                <a:lnTo>
                  <a:pt x="660979" y="493562"/>
                </a:lnTo>
                <a:lnTo>
                  <a:pt x="709566" y="516074"/>
                </a:lnTo>
                <a:cubicBezTo>
                  <a:pt x="721677" y="521631"/>
                  <a:pt x="729371" y="533742"/>
                  <a:pt x="729371" y="547135"/>
                </a:cubicBezTo>
                <a:cubicBezTo>
                  <a:pt x="729371" y="560529"/>
                  <a:pt x="721677" y="572640"/>
                  <a:pt x="709566" y="578197"/>
                </a:cubicBezTo>
                <a:lnTo>
                  <a:pt x="398098" y="722105"/>
                </a:lnTo>
                <a:cubicBezTo>
                  <a:pt x="376868" y="731936"/>
                  <a:pt x="352361" y="731936"/>
                  <a:pt x="331131" y="722105"/>
                </a:cubicBezTo>
                <a:lnTo>
                  <a:pt x="19805" y="578197"/>
                </a:lnTo>
                <a:cubicBezTo>
                  <a:pt x="7694" y="572497"/>
                  <a:pt x="0" y="560386"/>
                  <a:pt x="0" y="547135"/>
                </a:cubicBezTo>
                <a:cubicBezTo>
                  <a:pt x="0" y="533884"/>
                  <a:pt x="7694" y="521631"/>
                  <a:pt x="19805" y="516074"/>
                </a:cubicBezTo>
                <a:close/>
              </a:path>
            </a:pathLst>
          </a:custGeom>
          <a:solidFill>
            <a:srgbClr val="D69E2E"/>
          </a:solidFill>
          <a:ln/>
        </p:spPr>
        <p:txBody>
          <a:bodyPr/>
          <a:lstStyle/>
          <a:p>
            <a:endParaRPr lang="zh-CN" altLang="en-US"/>
          </a:p>
        </p:txBody>
      </p:sp>
      <p:sp>
        <p:nvSpPr>
          <p:cNvPr id="36" name="Text 34"/>
          <p:cNvSpPr/>
          <p:nvPr/>
        </p:nvSpPr>
        <p:spPr>
          <a:xfrm>
            <a:off x="9738155" y="4279815"/>
            <a:ext cx="6103599" cy="389074"/>
          </a:xfrm>
          <a:prstGeom prst="rect">
            <a:avLst/>
          </a:prstGeom>
          <a:noFill/>
          <a:ln/>
        </p:spPr>
        <p:txBody>
          <a:bodyPr wrap="square" lIns="0" tIns="0" rIns="0" bIns="0" rtlCol="0" anchor="ctr"/>
          <a:lstStyle/>
          <a:p>
            <a:pPr algn="ctr">
              <a:lnSpc>
                <a:spcPct val="110000"/>
              </a:lnSpc>
            </a:pPr>
            <a:r>
              <a:rPr lang="en-US" sz="2298" b="1" dirty="0">
                <a:solidFill>
                  <a:srgbClr val="E2E8F0"/>
                </a:solidFill>
                <a:latin typeface="Noto Sans SC" pitchFamily="34" charset="0"/>
                <a:ea typeface="Noto Sans SC" pitchFamily="34" charset="-122"/>
                <a:cs typeface="Noto Sans SC" pitchFamily="34" charset="-120"/>
              </a:rPr>
              <a:t>分层架构设计</a:t>
            </a:r>
            <a:endParaRPr lang="en-US" sz="1600" dirty="0"/>
          </a:p>
        </p:txBody>
      </p:sp>
      <p:sp>
        <p:nvSpPr>
          <p:cNvPr id="37" name="Text 35"/>
          <p:cNvSpPr/>
          <p:nvPr/>
        </p:nvSpPr>
        <p:spPr>
          <a:xfrm>
            <a:off x="9762472" y="4863426"/>
            <a:ext cx="6054965" cy="632245"/>
          </a:xfrm>
          <a:prstGeom prst="rect">
            <a:avLst/>
          </a:prstGeom>
          <a:noFill/>
          <a:ln/>
        </p:spPr>
        <p:txBody>
          <a:bodyPr wrap="square" lIns="0" tIns="0" rIns="0" bIns="0" rtlCol="0" anchor="ctr"/>
          <a:lstStyle/>
          <a:p>
            <a:pPr algn="ctr">
              <a:lnSpc>
                <a:spcPct val="140000"/>
              </a:lnSpc>
            </a:pPr>
            <a:r>
              <a:rPr lang="en-US" sz="1532" dirty="0">
                <a:solidFill>
                  <a:srgbClr val="A0AEC0"/>
                </a:solidFill>
                <a:latin typeface="MiSans" pitchFamily="34" charset="0"/>
                <a:ea typeface="MiSans" pitchFamily="34" charset="-122"/>
                <a:cs typeface="MiSans" pitchFamily="34" charset="-120"/>
              </a:rPr>
              <a:t>Hive采用清晰的分层架构，从用户接口到存储系统，各层职责明确，通过标准化接口协同工作，提供完整的数据仓库解决方案</a:t>
            </a:r>
            <a:endParaRPr lang="en-US" sz="1600" dirty="0"/>
          </a:p>
        </p:txBody>
      </p:sp>
      <p:sp>
        <p:nvSpPr>
          <p:cNvPr id="38" name="Shape 36"/>
          <p:cNvSpPr/>
          <p:nvPr/>
        </p:nvSpPr>
        <p:spPr>
          <a:xfrm>
            <a:off x="9835423" y="5787476"/>
            <a:ext cx="48634" cy="486343"/>
          </a:xfrm>
          <a:custGeom>
            <a:avLst/>
            <a:gdLst/>
            <a:ahLst/>
            <a:cxnLst/>
            <a:rect l="l" t="t" r="r" b="b"/>
            <a:pathLst>
              <a:path w="48634" h="486343">
                <a:moveTo>
                  <a:pt x="0" y="0"/>
                </a:moveTo>
                <a:lnTo>
                  <a:pt x="48634" y="0"/>
                </a:lnTo>
                <a:lnTo>
                  <a:pt x="48634" y="486343"/>
                </a:lnTo>
                <a:lnTo>
                  <a:pt x="0" y="486343"/>
                </a:lnTo>
                <a:lnTo>
                  <a:pt x="0" y="0"/>
                </a:lnTo>
                <a:close/>
              </a:path>
            </a:pathLst>
          </a:custGeom>
          <a:solidFill>
            <a:srgbClr val="D69E2E"/>
          </a:solidFill>
          <a:ln/>
        </p:spPr>
        <p:txBody>
          <a:bodyPr/>
          <a:lstStyle/>
          <a:p>
            <a:endParaRPr lang="zh-CN" altLang="en-US"/>
          </a:p>
        </p:txBody>
      </p:sp>
      <p:sp>
        <p:nvSpPr>
          <p:cNvPr id="39" name="Shape 37"/>
          <p:cNvSpPr/>
          <p:nvPr/>
        </p:nvSpPr>
        <p:spPr>
          <a:xfrm>
            <a:off x="10078595" y="5933379"/>
            <a:ext cx="194537" cy="194537"/>
          </a:xfrm>
          <a:custGeom>
            <a:avLst/>
            <a:gdLst/>
            <a:ahLst/>
            <a:cxnLst/>
            <a:rect l="l" t="t" r="r" b="b"/>
            <a:pathLst>
              <a:path w="194537" h="194537">
                <a:moveTo>
                  <a:pt x="97269" y="194537"/>
                </a:moveTo>
                <a:cubicBezTo>
                  <a:pt x="150952" y="194537"/>
                  <a:pt x="194537" y="150952"/>
                  <a:pt x="194537" y="97269"/>
                </a:cubicBezTo>
                <a:cubicBezTo>
                  <a:pt x="194537" y="43585"/>
                  <a:pt x="150952" y="0"/>
                  <a:pt x="97269" y="0"/>
                </a:cubicBezTo>
                <a:cubicBezTo>
                  <a:pt x="43585" y="0"/>
                  <a:pt x="0" y="43585"/>
                  <a:pt x="0" y="97269"/>
                </a:cubicBezTo>
                <a:cubicBezTo>
                  <a:pt x="0" y="150952"/>
                  <a:pt x="43585" y="194537"/>
                  <a:pt x="97269" y="194537"/>
                </a:cubicBezTo>
                <a:close/>
                <a:moveTo>
                  <a:pt x="129337" y="80816"/>
                </a:moveTo>
                <a:lnTo>
                  <a:pt x="98940" y="129451"/>
                </a:lnTo>
                <a:cubicBezTo>
                  <a:pt x="97345" y="131996"/>
                  <a:pt x="94609" y="133592"/>
                  <a:pt x="91607" y="133744"/>
                </a:cubicBezTo>
                <a:cubicBezTo>
                  <a:pt x="88606" y="133896"/>
                  <a:pt x="85718" y="132528"/>
                  <a:pt x="83932" y="130097"/>
                </a:cubicBezTo>
                <a:lnTo>
                  <a:pt x="65694" y="105780"/>
                </a:lnTo>
                <a:cubicBezTo>
                  <a:pt x="62655" y="101752"/>
                  <a:pt x="63491" y="96053"/>
                  <a:pt x="67518" y="93013"/>
                </a:cubicBezTo>
                <a:cubicBezTo>
                  <a:pt x="71546" y="89973"/>
                  <a:pt x="77245" y="90809"/>
                  <a:pt x="80285" y="94837"/>
                </a:cubicBezTo>
                <a:lnTo>
                  <a:pt x="90543" y="108515"/>
                </a:lnTo>
                <a:lnTo>
                  <a:pt x="113873" y="71166"/>
                </a:lnTo>
                <a:cubicBezTo>
                  <a:pt x="116532" y="66910"/>
                  <a:pt x="122156" y="65580"/>
                  <a:pt x="126449" y="68278"/>
                </a:cubicBezTo>
                <a:cubicBezTo>
                  <a:pt x="130743" y="70976"/>
                  <a:pt x="132034" y="76561"/>
                  <a:pt x="129337" y="80854"/>
                </a:cubicBezTo>
                <a:close/>
              </a:path>
            </a:pathLst>
          </a:custGeom>
          <a:solidFill>
            <a:srgbClr val="D69E2E"/>
          </a:solidFill>
          <a:ln/>
        </p:spPr>
        <p:txBody>
          <a:bodyPr/>
          <a:lstStyle/>
          <a:p>
            <a:endParaRPr lang="zh-CN" altLang="en-US"/>
          </a:p>
        </p:txBody>
      </p:sp>
      <p:sp>
        <p:nvSpPr>
          <p:cNvPr id="40" name="Text 38"/>
          <p:cNvSpPr/>
          <p:nvPr/>
        </p:nvSpPr>
        <p:spPr>
          <a:xfrm>
            <a:off x="10443352" y="5884745"/>
            <a:ext cx="3404398" cy="291806"/>
          </a:xfrm>
          <a:prstGeom prst="rect">
            <a:avLst/>
          </a:prstGeom>
          <a:noFill/>
          <a:ln/>
        </p:spPr>
        <p:txBody>
          <a:bodyPr wrap="square" lIns="0" tIns="0" rIns="0" bIns="0" rtlCol="0" anchor="ctr"/>
          <a:lstStyle/>
          <a:p>
            <a:pPr>
              <a:lnSpc>
                <a:spcPct val="130000"/>
              </a:lnSpc>
            </a:pPr>
            <a:r>
              <a:rPr lang="en-US" sz="1532" b="1" dirty="0">
                <a:solidFill>
                  <a:srgbClr val="E2E8F0"/>
                </a:solidFill>
                <a:latin typeface="MiSans" pitchFamily="34" charset="0"/>
                <a:ea typeface="MiSans" pitchFamily="34" charset="-122"/>
                <a:cs typeface="MiSans" pitchFamily="34" charset="-120"/>
              </a:rPr>
              <a:t>开放性：</a:t>
            </a:r>
            <a:r>
              <a:rPr lang="en-US" sz="1532" dirty="0">
                <a:solidFill>
                  <a:srgbClr val="E2E8F0"/>
                </a:solidFill>
                <a:latin typeface="MiSans" pitchFamily="34" charset="0"/>
                <a:ea typeface="MiSans" pitchFamily="34" charset="-122"/>
                <a:cs typeface="MiSans" pitchFamily="34" charset="-120"/>
              </a:rPr>
              <a:t>支持多种计算引擎和存储格式</a:t>
            </a:r>
            <a:endParaRPr lang="en-US" sz="1600" dirty="0"/>
          </a:p>
        </p:txBody>
      </p:sp>
      <p:sp>
        <p:nvSpPr>
          <p:cNvPr id="41" name="Shape 39"/>
          <p:cNvSpPr/>
          <p:nvPr/>
        </p:nvSpPr>
        <p:spPr>
          <a:xfrm>
            <a:off x="9835423" y="6419722"/>
            <a:ext cx="48634" cy="486343"/>
          </a:xfrm>
          <a:custGeom>
            <a:avLst/>
            <a:gdLst/>
            <a:ahLst/>
            <a:cxnLst/>
            <a:rect l="l" t="t" r="r" b="b"/>
            <a:pathLst>
              <a:path w="48634" h="486343">
                <a:moveTo>
                  <a:pt x="0" y="0"/>
                </a:moveTo>
                <a:lnTo>
                  <a:pt x="48634" y="0"/>
                </a:lnTo>
                <a:lnTo>
                  <a:pt x="48634" y="486343"/>
                </a:lnTo>
                <a:lnTo>
                  <a:pt x="0" y="486343"/>
                </a:lnTo>
                <a:lnTo>
                  <a:pt x="0" y="0"/>
                </a:lnTo>
                <a:close/>
              </a:path>
            </a:pathLst>
          </a:custGeom>
          <a:solidFill>
            <a:srgbClr val="D69E2E"/>
          </a:solidFill>
          <a:ln/>
        </p:spPr>
        <p:txBody>
          <a:bodyPr/>
          <a:lstStyle/>
          <a:p>
            <a:endParaRPr lang="zh-CN" altLang="en-US"/>
          </a:p>
        </p:txBody>
      </p:sp>
      <p:sp>
        <p:nvSpPr>
          <p:cNvPr id="42" name="Shape 40"/>
          <p:cNvSpPr/>
          <p:nvPr/>
        </p:nvSpPr>
        <p:spPr>
          <a:xfrm>
            <a:off x="10078595" y="6565625"/>
            <a:ext cx="194537" cy="194537"/>
          </a:xfrm>
          <a:custGeom>
            <a:avLst/>
            <a:gdLst/>
            <a:ahLst/>
            <a:cxnLst/>
            <a:rect l="l" t="t" r="r" b="b"/>
            <a:pathLst>
              <a:path w="194537" h="194537">
                <a:moveTo>
                  <a:pt x="97269" y="194537"/>
                </a:moveTo>
                <a:cubicBezTo>
                  <a:pt x="150952" y="194537"/>
                  <a:pt x="194537" y="150952"/>
                  <a:pt x="194537" y="97269"/>
                </a:cubicBezTo>
                <a:cubicBezTo>
                  <a:pt x="194537" y="43585"/>
                  <a:pt x="150952" y="0"/>
                  <a:pt x="97269" y="0"/>
                </a:cubicBezTo>
                <a:cubicBezTo>
                  <a:pt x="43585" y="0"/>
                  <a:pt x="0" y="43585"/>
                  <a:pt x="0" y="97269"/>
                </a:cubicBezTo>
                <a:cubicBezTo>
                  <a:pt x="0" y="150952"/>
                  <a:pt x="43585" y="194537"/>
                  <a:pt x="97269" y="194537"/>
                </a:cubicBezTo>
                <a:close/>
                <a:moveTo>
                  <a:pt x="129337" y="80816"/>
                </a:moveTo>
                <a:lnTo>
                  <a:pt x="98940" y="129451"/>
                </a:lnTo>
                <a:cubicBezTo>
                  <a:pt x="97345" y="131996"/>
                  <a:pt x="94609" y="133592"/>
                  <a:pt x="91607" y="133744"/>
                </a:cubicBezTo>
                <a:cubicBezTo>
                  <a:pt x="88606" y="133896"/>
                  <a:pt x="85718" y="132528"/>
                  <a:pt x="83932" y="130097"/>
                </a:cubicBezTo>
                <a:lnTo>
                  <a:pt x="65694" y="105780"/>
                </a:lnTo>
                <a:cubicBezTo>
                  <a:pt x="62655" y="101752"/>
                  <a:pt x="63491" y="96053"/>
                  <a:pt x="67518" y="93013"/>
                </a:cubicBezTo>
                <a:cubicBezTo>
                  <a:pt x="71546" y="89973"/>
                  <a:pt x="77245" y="90809"/>
                  <a:pt x="80285" y="94837"/>
                </a:cubicBezTo>
                <a:lnTo>
                  <a:pt x="90543" y="108515"/>
                </a:lnTo>
                <a:lnTo>
                  <a:pt x="113873" y="71166"/>
                </a:lnTo>
                <a:cubicBezTo>
                  <a:pt x="116532" y="66910"/>
                  <a:pt x="122156" y="65580"/>
                  <a:pt x="126449" y="68278"/>
                </a:cubicBezTo>
                <a:cubicBezTo>
                  <a:pt x="130743" y="70976"/>
                  <a:pt x="132034" y="76561"/>
                  <a:pt x="129337" y="80854"/>
                </a:cubicBezTo>
                <a:close/>
              </a:path>
            </a:pathLst>
          </a:custGeom>
          <a:solidFill>
            <a:srgbClr val="D69E2E"/>
          </a:solidFill>
          <a:ln/>
        </p:spPr>
        <p:txBody>
          <a:bodyPr/>
          <a:lstStyle/>
          <a:p>
            <a:endParaRPr lang="zh-CN" altLang="en-US"/>
          </a:p>
        </p:txBody>
      </p:sp>
      <p:sp>
        <p:nvSpPr>
          <p:cNvPr id="43" name="Text 41"/>
          <p:cNvSpPr/>
          <p:nvPr/>
        </p:nvSpPr>
        <p:spPr>
          <a:xfrm>
            <a:off x="10443352" y="6516990"/>
            <a:ext cx="2820787" cy="291806"/>
          </a:xfrm>
          <a:prstGeom prst="rect">
            <a:avLst/>
          </a:prstGeom>
          <a:noFill/>
          <a:ln/>
        </p:spPr>
        <p:txBody>
          <a:bodyPr wrap="square" lIns="0" tIns="0" rIns="0" bIns="0" rtlCol="0" anchor="ctr"/>
          <a:lstStyle/>
          <a:p>
            <a:pPr>
              <a:lnSpc>
                <a:spcPct val="130000"/>
              </a:lnSpc>
            </a:pPr>
            <a:r>
              <a:rPr lang="en-US" sz="1532" b="1" dirty="0">
                <a:solidFill>
                  <a:srgbClr val="E2E8F0"/>
                </a:solidFill>
                <a:latin typeface="MiSans" pitchFamily="34" charset="0"/>
                <a:ea typeface="MiSans" pitchFamily="34" charset="-122"/>
                <a:cs typeface="MiSans" pitchFamily="34" charset="-120"/>
              </a:rPr>
              <a:t>可扩展性：</a:t>
            </a:r>
            <a:r>
              <a:rPr lang="en-US" sz="1532" dirty="0">
                <a:solidFill>
                  <a:srgbClr val="E2E8F0"/>
                </a:solidFill>
                <a:latin typeface="MiSans" pitchFamily="34" charset="0"/>
                <a:ea typeface="MiSans" pitchFamily="34" charset="-122"/>
                <a:cs typeface="MiSans" pitchFamily="34" charset="-120"/>
              </a:rPr>
              <a:t>各层独立演进和优化</a:t>
            </a:r>
            <a:endParaRPr lang="en-US" sz="1600" dirty="0"/>
          </a:p>
        </p:txBody>
      </p:sp>
      <p:sp>
        <p:nvSpPr>
          <p:cNvPr id="44" name="Shape 42"/>
          <p:cNvSpPr/>
          <p:nvPr/>
        </p:nvSpPr>
        <p:spPr>
          <a:xfrm>
            <a:off x="9835423" y="7051967"/>
            <a:ext cx="48634" cy="486343"/>
          </a:xfrm>
          <a:custGeom>
            <a:avLst/>
            <a:gdLst/>
            <a:ahLst/>
            <a:cxnLst/>
            <a:rect l="l" t="t" r="r" b="b"/>
            <a:pathLst>
              <a:path w="48634" h="486343">
                <a:moveTo>
                  <a:pt x="0" y="0"/>
                </a:moveTo>
                <a:lnTo>
                  <a:pt x="48634" y="0"/>
                </a:lnTo>
                <a:lnTo>
                  <a:pt x="48634" y="486343"/>
                </a:lnTo>
                <a:lnTo>
                  <a:pt x="0" y="486343"/>
                </a:lnTo>
                <a:lnTo>
                  <a:pt x="0" y="0"/>
                </a:lnTo>
                <a:close/>
              </a:path>
            </a:pathLst>
          </a:custGeom>
          <a:solidFill>
            <a:srgbClr val="D69E2E"/>
          </a:solidFill>
          <a:ln/>
        </p:spPr>
        <p:txBody>
          <a:bodyPr/>
          <a:lstStyle/>
          <a:p>
            <a:endParaRPr lang="zh-CN" altLang="en-US"/>
          </a:p>
        </p:txBody>
      </p:sp>
      <p:sp>
        <p:nvSpPr>
          <p:cNvPr id="45" name="Shape 43"/>
          <p:cNvSpPr/>
          <p:nvPr/>
        </p:nvSpPr>
        <p:spPr>
          <a:xfrm>
            <a:off x="10078595" y="7197870"/>
            <a:ext cx="194537" cy="194537"/>
          </a:xfrm>
          <a:custGeom>
            <a:avLst/>
            <a:gdLst/>
            <a:ahLst/>
            <a:cxnLst/>
            <a:rect l="l" t="t" r="r" b="b"/>
            <a:pathLst>
              <a:path w="194537" h="194537">
                <a:moveTo>
                  <a:pt x="97269" y="194537"/>
                </a:moveTo>
                <a:cubicBezTo>
                  <a:pt x="150952" y="194537"/>
                  <a:pt x="194537" y="150952"/>
                  <a:pt x="194537" y="97269"/>
                </a:cubicBezTo>
                <a:cubicBezTo>
                  <a:pt x="194537" y="43585"/>
                  <a:pt x="150952" y="0"/>
                  <a:pt x="97269" y="0"/>
                </a:cubicBezTo>
                <a:cubicBezTo>
                  <a:pt x="43585" y="0"/>
                  <a:pt x="0" y="43585"/>
                  <a:pt x="0" y="97269"/>
                </a:cubicBezTo>
                <a:cubicBezTo>
                  <a:pt x="0" y="150952"/>
                  <a:pt x="43585" y="194537"/>
                  <a:pt x="97269" y="194537"/>
                </a:cubicBezTo>
                <a:close/>
                <a:moveTo>
                  <a:pt x="129337" y="80816"/>
                </a:moveTo>
                <a:lnTo>
                  <a:pt x="98940" y="129451"/>
                </a:lnTo>
                <a:cubicBezTo>
                  <a:pt x="97345" y="131996"/>
                  <a:pt x="94609" y="133592"/>
                  <a:pt x="91607" y="133744"/>
                </a:cubicBezTo>
                <a:cubicBezTo>
                  <a:pt x="88606" y="133896"/>
                  <a:pt x="85718" y="132528"/>
                  <a:pt x="83932" y="130097"/>
                </a:cubicBezTo>
                <a:lnTo>
                  <a:pt x="65694" y="105780"/>
                </a:lnTo>
                <a:cubicBezTo>
                  <a:pt x="62655" y="101752"/>
                  <a:pt x="63491" y="96053"/>
                  <a:pt x="67518" y="93013"/>
                </a:cubicBezTo>
                <a:cubicBezTo>
                  <a:pt x="71546" y="89973"/>
                  <a:pt x="77245" y="90809"/>
                  <a:pt x="80285" y="94837"/>
                </a:cubicBezTo>
                <a:lnTo>
                  <a:pt x="90543" y="108515"/>
                </a:lnTo>
                <a:lnTo>
                  <a:pt x="113873" y="71166"/>
                </a:lnTo>
                <a:cubicBezTo>
                  <a:pt x="116532" y="66910"/>
                  <a:pt x="122156" y="65580"/>
                  <a:pt x="126449" y="68278"/>
                </a:cubicBezTo>
                <a:cubicBezTo>
                  <a:pt x="130743" y="70976"/>
                  <a:pt x="132034" y="76561"/>
                  <a:pt x="129337" y="80854"/>
                </a:cubicBezTo>
                <a:close/>
              </a:path>
            </a:pathLst>
          </a:custGeom>
          <a:solidFill>
            <a:srgbClr val="D69E2E"/>
          </a:solidFill>
          <a:ln/>
        </p:spPr>
        <p:txBody>
          <a:bodyPr/>
          <a:lstStyle/>
          <a:p>
            <a:endParaRPr lang="zh-CN" altLang="en-US"/>
          </a:p>
        </p:txBody>
      </p:sp>
      <p:sp>
        <p:nvSpPr>
          <p:cNvPr id="46" name="Text 44"/>
          <p:cNvSpPr/>
          <p:nvPr/>
        </p:nvSpPr>
        <p:spPr>
          <a:xfrm>
            <a:off x="10443352" y="7149236"/>
            <a:ext cx="3209861" cy="291806"/>
          </a:xfrm>
          <a:prstGeom prst="rect">
            <a:avLst/>
          </a:prstGeom>
          <a:noFill/>
          <a:ln/>
        </p:spPr>
        <p:txBody>
          <a:bodyPr wrap="square" lIns="0" tIns="0" rIns="0" bIns="0" rtlCol="0" anchor="ctr"/>
          <a:lstStyle/>
          <a:p>
            <a:pPr>
              <a:lnSpc>
                <a:spcPct val="130000"/>
              </a:lnSpc>
            </a:pPr>
            <a:r>
              <a:rPr lang="en-US" sz="1532" b="1" dirty="0">
                <a:solidFill>
                  <a:srgbClr val="E2E8F0"/>
                </a:solidFill>
                <a:latin typeface="MiSans" pitchFamily="34" charset="0"/>
                <a:ea typeface="MiSans" pitchFamily="34" charset="-122"/>
                <a:cs typeface="MiSans" pitchFamily="34" charset="-120"/>
              </a:rPr>
              <a:t>可靠性：</a:t>
            </a:r>
            <a:r>
              <a:rPr lang="en-US" sz="1532" dirty="0">
                <a:solidFill>
                  <a:srgbClr val="E2E8F0"/>
                </a:solidFill>
                <a:latin typeface="MiSans" pitchFamily="34" charset="0"/>
                <a:ea typeface="MiSans" pitchFamily="34" charset="-122"/>
                <a:cs typeface="MiSans" pitchFamily="34" charset="-120"/>
              </a:rPr>
              <a:t>完善的容错和错误处理机制</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50929" y="450929"/>
            <a:ext cx="15624699" cy="541115"/>
          </a:xfrm>
          <a:prstGeom prst="rect">
            <a:avLst/>
          </a:prstGeom>
          <a:noFill/>
          <a:ln/>
        </p:spPr>
        <p:txBody>
          <a:bodyPr wrap="square" lIns="0" tIns="0" rIns="0" bIns="0" rtlCol="0" anchor="ctr"/>
          <a:lstStyle/>
          <a:p>
            <a:pPr>
              <a:lnSpc>
                <a:spcPct val="80000"/>
              </a:lnSpc>
            </a:pPr>
            <a:r>
              <a:rPr lang="en-US" sz="4261" b="1" dirty="0">
                <a:solidFill>
                  <a:srgbClr val="E2E8F0"/>
                </a:solidFill>
                <a:latin typeface="Noto Sans SC" pitchFamily="34" charset="0"/>
                <a:ea typeface="Noto Sans SC" pitchFamily="34" charset="-122"/>
                <a:cs typeface="Noto Sans SC" pitchFamily="34" charset="-120"/>
              </a:rPr>
              <a:t>Hive整体架构设计</a:t>
            </a:r>
            <a:endParaRPr lang="en-US" sz="1600" dirty="0"/>
          </a:p>
        </p:txBody>
      </p:sp>
      <p:sp>
        <p:nvSpPr>
          <p:cNvPr id="3" name="Shape 1"/>
          <p:cNvSpPr/>
          <p:nvPr/>
        </p:nvSpPr>
        <p:spPr>
          <a:xfrm>
            <a:off x="450929" y="1127323"/>
            <a:ext cx="1262602" cy="45093"/>
          </a:xfrm>
          <a:custGeom>
            <a:avLst/>
            <a:gdLst/>
            <a:ahLst/>
            <a:cxnLst/>
            <a:rect l="l" t="t" r="r" b="b"/>
            <a:pathLst>
              <a:path w="1262602" h="45093">
                <a:moveTo>
                  <a:pt x="0" y="0"/>
                </a:moveTo>
                <a:lnTo>
                  <a:pt x="1262602" y="0"/>
                </a:lnTo>
                <a:lnTo>
                  <a:pt x="1262602" y="45093"/>
                </a:lnTo>
                <a:lnTo>
                  <a:pt x="0" y="45093"/>
                </a:lnTo>
                <a:lnTo>
                  <a:pt x="0" y="0"/>
                </a:lnTo>
                <a:close/>
              </a:path>
            </a:pathLst>
          </a:custGeom>
          <a:solidFill>
            <a:srgbClr val="D69E2E"/>
          </a:solidFill>
          <a:ln/>
        </p:spPr>
        <p:txBody>
          <a:bodyPr/>
          <a:lstStyle/>
          <a:p>
            <a:endParaRPr lang="zh-CN" altLang="en-US"/>
          </a:p>
        </p:txBody>
      </p:sp>
      <p:sp>
        <p:nvSpPr>
          <p:cNvPr id="4" name="Text 2"/>
          <p:cNvSpPr/>
          <p:nvPr/>
        </p:nvSpPr>
        <p:spPr>
          <a:xfrm>
            <a:off x="450929" y="1533160"/>
            <a:ext cx="15455601" cy="665121"/>
          </a:xfrm>
          <a:prstGeom prst="rect">
            <a:avLst/>
          </a:prstGeom>
          <a:noFill/>
          <a:ln/>
        </p:spPr>
        <p:txBody>
          <a:bodyPr wrap="square" lIns="0" tIns="0" rIns="0" bIns="0" rtlCol="0" anchor="ctr"/>
          <a:lstStyle/>
          <a:p>
            <a:pPr>
              <a:lnSpc>
                <a:spcPct val="140000"/>
              </a:lnSpc>
            </a:pPr>
            <a:r>
              <a:rPr lang="en-US" sz="1598" dirty="0">
                <a:solidFill>
                  <a:srgbClr val="A0AEC0"/>
                </a:solidFill>
                <a:latin typeface="MiSans" pitchFamily="34" charset="0"/>
                <a:ea typeface="MiSans" pitchFamily="34" charset="-122"/>
                <a:cs typeface="MiSans" pitchFamily="34" charset="-120"/>
              </a:rPr>
              <a:t>Hive的整体架构采用分层设计理念，</a:t>
            </a:r>
            <a:r>
              <a:rPr lang="en-US" sz="1598" b="1" dirty="0">
                <a:solidFill>
                  <a:srgbClr val="E2E8F0"/>
                </a:solidFill>
                <a:latin typeface="MiSans" pitchFamily="34" charset="0"/>
                <a:ea typeface="MiSans" pitchFamily="34" charset="-122"/>
                <a:cs typeface="MiSans" pitchFamily="34" charset="-120"/>
              </a:rPr>
              <a:t>将复杂的分布式处理逻辑封装在底层，为上层提供简洁的SQL接口</a:t>
            </a:r>
            <a:r>
              <a:rPr lang="en-US" sz="1598" dirty="0">
                <a:solidFill>
                  <a:srgbClr val="A0AEC0"/>
                </a:solidFill>
                <a:latin typeface="MiSans" pitchFamily="34" charset="0"/>
                <a:ea typeface="MiSans" pitchFamily="34" charset="-122"/>
                <a:cs typeface="MiSans" pitchFamily="34" charset="-120"/>
              </a:rPr>
              <a:t>。这种设计使得用户无需关心底层分布式计算的复杂性，能够专注于业务逻辑的实现。</a:t>
            </a:r>
            <a:endParaRPr lang="en-US" sz="1600" dirty="0"/>
          </a:p>
        </p:txBody>
      </p:sp>
      <p:sp>
        <p:nvSpPr>
          <p:cNvPr id="5" name="Shape 3"/>
          <p:cNvSpPr/>
          <p:nvPr/>
        </p:nvSpPr>
        <p:spPr>
          <a:xfrm>
            <a:off x="473476" y="2553387"/>
            <a:ext cx="45093" cy="2029182"/>
          </a:xfrm>
          <a:custGeom>
            <a:avLst/>
            <a:gdLst/>
            <a:ahLst/>
            <a:cxnLst/>
            <a:rect l="l" t="t" r="r" b="b"/>
            <a:pathLst>
              <a:path w="45093" h="2029182">
                <a:moveTo>
                  <a:pt x="0" y="0"/>
                </a:moveTo>
                <a:lnTo>
                  <a:pt x="45093" y="0"/>
                </a:lnTo>
                <a:lnTo>
                  <a:pt x="45093" y="2029182"/>
                </a:lnTo>
                <a:lnTo>
                  <a:pt x="0" y="2029182"/>
                </a:lnTo>
                <a:lnTo>
                  <a:pt x="0" y="0"/>
                </a:lnTo>
                <a:close/>
              </a:path>
            </a:pathLst>
          </a:custGeom>
          <a:solidFill>
            <a:srgbClr val="D69E2E"/>
          </a:solidFill>
          <a:ln/>
        </p:spPr>
        <p:txBody>
          <a:bodyPr/>
          <a:lstStyle/>
          <a:p>
            <a:endParaRPr lang="zh-CN" altLang="en-US"/>
          </a:p>
        </p:txBody>
      </p:sp>
      <p:sp>
        <p:nvSpPr>
          <p:cNvPr id="6" name="Shape 4"/>
          <p:cNvSpPr/>
          <p:nvPr/>
        </p:nvSpPr>
        <p:spPr>
          <a:xfrm>
            <a:off x="766580" y="2733759"/>
            <a:ext cx="541115" cy="541115"/>
          </a:xfrm>
          <a:custGeom>
            <a:avLst/>
            <a:gdLst/>
            <a:ahLst/>
            <a:cxnLst/>
            <a:rect l="l" t="t" r="r" b="b"/>
            <a:pathLst>
              <a:path w="541115" h="541115">
                <a:moveTo>
                  <a:pt x="90188" y="0"/>
                </a:moveTo>
                <a:lnTo>
                  <a:pt x="450927" y="0"/>
                </a:lnTo>
                <a:cubicBezTo>
                  <a:pt x="500737" y="0"/>
                  <a:pt x="541115" y="40378"/>
                  <a:pt x="541115" y="90188"/>
                </a:cubicBezTo>
                <a:lnTo>
                  <a:pt x="541115" y="450927"/>
                </a:lnTo>
                <a:cubicBezTo>
                  <a:pt x="541115" y="500737"/>
                  <a:pt x="500737" y="541115"/>
                  <a:pt x="450927" y="541115"/>
                </a:cubicBezTo>
                <a:lnTo>
                  <a:pt x="90188" y="541115"/>
                </a:lnTo>
                <a:cubicBezTo>
                  <a:pt x="40378" y="541115"/>
                  <a:pt x="0" y="500737"/>
                  <a:pt x="0" y="450927"/>
                </a:cubicBezTo>
                <a:lnTo>
                  <a:pt x="0" y="90188"/>
                </a:lnTo>
                <a:cubicBezTo>
                  <a:pt x="0" y="40412"/>
                  <a:pt x="40412" y="0"/>
                  <a:pt x="90188" y="0"/>
                </a:cubicBezTo>
                <a:close/>
              </a:path>
            </a:pathLst>
          </a:custGeom>
          <a:solidFill>
            <a:srgbClr val="D69E2E"/>
          </a:solidFill>
          <a:ln/>
        </p:spPr>
        <p:txBody>
          <a:bodyPr/>
          <a:lstStyle/>
          <a:p>
            <a:endParaRPr lang="zh-CN" altLang="en-US"/>
          </a:p>
        </p:txBody>
      </p:sp>
      <p:sp>
        <p:nvSpPr>
          <p:cNvPr id="7" name="Text 5"/>
          <p:cNvSpPr/>
          <p:nvPr/>
        </p:nvSpPr>
        <p:spPr>
          <a:xfrm>
            <a:off x="896662" y="2823945"/>
            <a:ext cx="417110" cy="360743"/>
          </a:xfrm>
          <a:prstGeom prst="rect">
            <a:avLst/>
          </a:prstGeom>
          <a:noFill/>
          <a:ln/>
        </p:spPr>
        <p:txBody>
          <a:bodyPr wrap="square" lIns="0" tIns="0" rIns="0" bIns="0" rtlCol="0" anchor="ctr"/>
          <a:lstStyle/>
          <a:p>
            <a:pPr>
              <a:lnSpc>
                <a:spcPct val="110000"/>
              </a:lnSpc>
            </a:pPr>
            <a:r>
              <a:rPr lang="en-US" sz="2130" b="1" dirty="0">
                <a:solidFill>
                  <a:srgbClr val="1A202C"/>
                </a:solidFill>
                <a:latin typeface="Liter" pitchFamily="34" charset="0"/>
                <a:ea typeface="Liter" pitchFamily="34" charset="-122"/>
                <a:cs typeface="Liter" pitchFamily="34" charset="-120"/>
              </a:rPr>
              <a:t>01</a:t>
            </a:r>
            <a:endParaRPr lang="en-US" sz="1600" dirty="0"/>
          </a:p>
        </p:txBody>
      </p:sp>
      <p:sp>
        <p:nvSpPr>
          <p:cNvPr id="8" name="Text 6"/>
          <p:cNvSpPr/>
          <p:nvPr/>
        </p:nvSpPr>
        <p:spPr>
          <a:xfrm>
            <a:off x="1442974" y="2846491"/>
            <a:ext cx="1240055" cy="315650"/>
          </a:xfrm>
          <a:prstGeom prst="rect">
            <a:avLst/>
          </a:prstGeom>
          <a:noFill/>
          <a:ln/>
        </p:spPr>
        <p:txBody>
          <a:bodyPr wrap="square" lIns="0" tIns="0" rIns="0" bIns="0" rtlCol="0" anchor="ctr"/>
          <a:lstStyle/>
          <a:p>
            <a:pPr>
              <a:lnSpc>
                <a:spcPct val="120000"/>
              </a:lnSpc>
            </a:pPr>
            <a:r>
              <a:rPr lang="en-US" sz="1775" b="1" dirty="0">
                <a:solidFill>
                  <a:srgbClr val="E2E8F0"/>
                </a:solidFill>
                <a:latin typeface="Noto Sans SC" pitchFamily="34" charset="0"/>
                <a:ea typeface="Noto Sans SC" pitchFamily="34" charset="-122"/>
                <a:cs typeface="Noto Sans SC" pitchFamily="34" charset="-120"/>
              </a:rPr>
              <a:t>用户接口层</a:t>
            </a:r>
            <a:endParaRPr lang="en-US" sz="1600" dirty="0"/>
          </a:p>
        </p:txBody>
      </p:sp>
      <p:sp>
        <p:nvSpPr>
          <p:cNvPr id="9" name="Text 7"/>
          <p:cNvSpPr/>
          <p:nvPr/>
        </p:nvSpPr>
        <p:spPr>
          <a:xfrm>
            <a:off x="766580" y="3410153"/>
            <a:ext cx="7316327" cy="586208"/>
          </a:xfrm>
          <a:prstGeom prst="rect">
            <a:avLst/>
          </a:prstGeom>
          <a:noFill/>
          <a:ln/>
        </p:spPr>
        <p:txBody>
          <a:bodyPr wrap="square" lIns="0" tIns="0" rIns="0" bIns="0" rtlCol="0" anchor="ctr"/>
          <a:lstStyle/>
          <a:p>
            <a:pPr>
              <a:lnSpc>
                <a:spcPct val="140000"/>
              </a:lnSpc>
            </a:pPr>
            <a:r>
              <a:rPr lang="en-US" sz="1420" dirty="0">
                <a:solidFill>
                  <a:srgbClr val="A0AEC0"/>
                </a:solidFill>
                <a:latin typeface="MiSans" pitchFamily="34" charset="0"/>
                <a:ea typeface="MiSans" pitchFamily="34" charset="-122"/>
                <a:cs typeface="MiSans" pitchFamily="34" charset="-120"/>
              </a:rPr>
              <a:t>提供多种客户端访问方式，包括传统的Hive CLI、现代化的Beeline客户端、标准的JDBC/ODBC驱动以及Web界面</a:t>
            </a:r>
            <a:endParaRPr lang="en-US" sz="1600" dirty="0"/>
          </a:p>
        </p:txBody>
      </p:sp>
      <p:sp>
        <p:nvSpPr>
          <p:cNvPr id="10" name="Shape 8"/>
          <p:cNvSpPr/>
          <p:nvPr/>
        </p:nvSpPr>
        <p:spPr>
          <a:xfrm>
            <a:off x="789126" y="4182369"/>
            <a:ext cx="180372" cy="180372"/>
          </a:xfrm>
          <a:custGeom>
            <a:avLst/>
            <a:gdLst/>
            <a:ahLst/>
            <a:cxnLst/>
            <a:rect l="l" t="t" r="r" b="b"/>
            <a:pathLst>
              <a:path w="180372" h="180372">
                <a:moveTo>
                  <a:pt x="90186" y="180372"/>
                </a:moveTo>
                <a:cubicBezTo>
                  <a:pt x="139961" y="180372"/>
                  <a:pt x="180372" y="139961"/>
                  <a:pt x="180372" y="90186"/>
                </a:cubicBezTo>
                <a:cubicBezTo>
                  <a:pt x="180372" y="40411"/>
                  <a:pt x="139961" y="0"/>
                  <a:pt x="90186" y="0"/>
                </a:cubicBezTo>
                <a:cubicBezTo>
                  <a:pt x="40411" y="0"/>
                  <a:pt x="0" y="40411"/>
                  <a:pt x="0" y="90186"/>
                </a:cubicBezTo>
                <a:cubicBezTo>
                  <a:pt x="0" y="139961"/>
                  <a:pt x="40411" y="180372"/>
                  <a:pt x="90186" y="180372"/>
                </a:cubicBezTo>
                <a:close/>
                <a:moveTo>
                  <a:pt x="119919" y="74932"/>
                </a:moveTo>
                <a:lnTo>
                  <a:pt x="91736" y="120025"/>
                </a:lnTo>
                <a:cubicBezTo>
                  <a:pt x="90256" y="122385"/>
                  <a:pt x="87720" y="123865"/>
                  <a:pt x="84937" y="124006"/>
                </a:cubicBezTo>
                <a:cubicBezTo>
                  <a:pt x="82154" y="124146"/>
                  <a:pt x="79476" y="122878"/>
                  <a:pt x="77821" y="120624"/>
                </a:cubicBezTo>
                <a:lnTo>
                  <a:pt x="60911" y="98077"/>
                </a:lnTo>
                <a:cubicBezTo>
                  <a:pt x="58092" y="94343"/>
                  <a:pt x="58867" y="89059"/>
                  <a:pt x="62602" y="86240"/>
                </a:cubicBezTo>
                <a:cubicBezTo>
                  <a:pt x="66336" y="83422"/>
                  <a:pt x="71620" y="84197"/>
                  <a:pt x="74439" y="87931"/>
                </a:cubicBezTo>
                <a:lnTo>
                  <a:pt x="83950" y="100614"/>
                </a:lnTo>
                <a:lnTo>
                  <a:pt x="105581" y="65984"/>
                </a:lnTo>
                <a:cubicBezTo>
                  <a:pt x="108047" y="62038"/>
                  <a:pt x="113261" y="60805"/>
                  <a:pt x="117242" y="63306"/>
                </a:cubicBezTo>
                <a:cubicBezTo>
                  <a:pt x="121222" y="65807"/>
                  <a:pt x="122420" y="70986"/>
                  <a:pt x="119919" y="74967"/>
                </a:cubicBezTo>
                <a:close/>
              </a:path>
            </a:pathLst>
          </a:custGeom>
          <a:solidFill>
            <a:srgbClr val="D69E2E"/>
          </a:solidFill>
          <a:ln/>
        </p:spPr>
        <p:txBody>
          <a:bodyPr/>
          <a:lstStyle/>
          <a:p>
            <a:endParaRPr lang="zh-CN" altLang="en-US"/>
          </a:p>
        </p:txBody>
      </p:sp>
      <p:sp>
        <p:nvSpPr>
          <p:cNvPr id="11" name="Text 9"/>
          <p:cNvSpPr/>
          <p:nvPr/>
        </p:nvSpPr>
        <p:spPr>
          <a:xfrm>
            <a:off x="1072098" y="4131639"/>
            <a:ext cx="7010809" cy="270558"/>
          </a:xfrm>
          <a:prstGeom prst="rect">
            <a:avLst/>
          </a:prstGeom>
          <a:noFill/>
          <a:ln/>
        </p:spPr>
        <p:txBody>
          <a:bodyPr wrap="square" lIns="0" tIns="0" rIns="0" bIns="0" rtlCol="0" anchor="ctr"/>
          <a:lstStyle/>
          <a:p>
            <a:pPr>
              <a:lnSpc>
                <a:spcPct val="130000"/>
              </a:lnSpc>
            </a:pPr>
            <a:r>
              <a:rPr lang="en-US" sz="1420" dirty="0">
                <a:solidFill>
                  <a:srgbClr val="E2E8F0"/>
                </a:solidFill>
                <a:latin typeface="MiSans" pitchFamily="34" charset="0"/>
                <a:ea typeface="MiSans" pitchFamily="34" charset="-122"/>
                <a:cs typeface="MiSans" pitchFamily="34" charset="-120"/>
              </a:rPr>
              <a:t>满足不同用户群体的使用需求</a:t>
            </a:r>
            <a:endParaRPr lang="en-US" sz="1600" dirty="0"/>
          </a:p>
        </p:txBody>
      </p:sp>
      <p:sp>
        <p:nvSpPr>
          <p:cNvPr id="12" name="Shape 10"/>
          <p:cNvSpPr/>
          <p:nvPr/>
        </p:nvSpPr>
        <p:spPr>
          <a:xfrm>
            <a:off x="8284592" y="2553387"/>
            <a:ext cx="45093" cy="2029182"/>
          </a:xfrm>
          <a:custGeom>
            <a:avLst/>
            <a:gdLst/>
            <a:ahLst/>
            <a:cxnLst/>
            <a:rect l="l" t="t" r="r" b="b"/>
            <a:pathLst>
              <a:path w="45093" h="2029182">
                <a:moveTo>
                  <a:pt x="0" y="0"/>
                </a:moveTo>
                <a:lnTo>
                  <a:pt x="45093" y="0"/>
                </a:lnTo>
                <a:lnTo>
                  <a:pt x="45093" y="2029182"/>
                </a:lnTo>
                <a:lnTo>
                  <a:pt x="0" y="2029182"/>
                </a:lnTo>
                <a:lnTo>
                  <a:pt x="0" y="0"/>
                </a:lnTo>
                <a:close/>
              </a:path>
            </a:pathLst>
          </a:custGeom>
          <a:solidFill>
            <a:srgbClr val="D69E2E"/>
          </a:solidFill>
          <a:ln/>
        </p:spPr>
        <p:txBody>
          <a:bodyPr/>
          <a:lstStyle/>
          <a:p>
            <a:endParaRPr lang="zh-CN" altLang="en-US"/>
          </a:p>
        </p:txBody>
      </p:sp>
      <p:sp>
        <p:nvSpPr>
          <p:cNvPr id="13" name="Shape 11"/>
          <p:cNvSpPr/>
          <p:nvPr/>
        </p:nvSpPr>
        <p:spPr>
          <a:xfrm>
            <a:off x="8577696" y="2733759"/>
            <a:ext cx="541115" cy="541115"/>
          </a:xfrm>
          <a:custGeom>
            <a:avLst/>
            <a:gdLst/>
            <a:ahLst/>
            <a:cxnLst/>
            <a:rect l="l" t="t" r="r" b="b"/>
            <a:pathLst>
              <a:path w="541115" h="541115">
                <a:moveTo>
                  <a:pt x="90188" y="0"/>
                </a:moveTo>
                <a:lnTo>
                  <a:pt x="450927" y="0"/>
                </a:lnTo>
                <a:cubicBezTo>
                  <a:pt x="500737" y="0"/>
                  <a:pt x="541115" y="40378"/>
                  <a:pt x="541115" y="90188"/>
                </a:cubicBezTo>
                <a:lnTo>
                  <a:pt x="541115" y="450927"/>
                </a:lnTo>
                <a:cubicBezTo>
                  <a:pt x="541115" y="500737"/>
                  <a:pt x="500737" y="541115"/>
                  <a:pt x="450927" y="541115"/>
                </a:cubicBezTo>
                <a:lnTo>
                  <a:pt x="90188" y="541115"/>
                </a:lnTo>
                <a:cubicBezTo>
                  <a:pt x="40378" y="541115"/>
                  <a:pt x="0" y="500737"/>
                  <a:pt x="0" y="450927"/>
                </a:cubicBezTo>
                <a:lnTo>
                  <a:pt x="0" y="90188"/>
                </a:lnTo>
                <a:cubicBezTo>
                  <a:pt x="0" y="40412"/>
                  <a:pt x="40412" y="0"/>
                  <a:pt x="90188" y="0"/>
                </a:cubicBezTo>
                <a:close/>
              </a:path>
            </a:pathLst>
          </a:custGeom>
          <a:solidFill>
            <a:srgbClr val="D69E2E"/>
          </a:solidFill>
          <a:ln/>
        </p:spPr>
        <p:txBody>
          <a:bodyPr/>
          <a:lstStyle/>
          <a:p>
            <a:endParaRPr lang="zh-CN" altLang="en-US"/>
          </a:p>
        </p:txBody>
      </p:sp>
      <p:sp>
        <p:nvSpPr>
          <p:cNvPr id="14" name="Text 12"/>
          <p:cNvSpPr/>
          <p:nvPr/>
        </p:nvSpPr>
        <p:spPr>
          <a:xfrm>
            <a:off x="8683295" y="2823945"/>
            <a:ext cx="462202" cy="360743"/>
          </a:xfrm>
          <a:prstGeom prst="rect">
            <a:avLst/>
          </a:prstGeom>
          <a:noFill/>
          <a:ln/>
        </p:spPr>
        <p:txBody>
          <a:bodyPr wrap="square" lIns="0" tIns="0" rIns="0" bIns="0" rtlCol="0" anchor="ctr"/>
          <a:lstStyle/>
          <a:p>
            <a:pPr>
              <a:lnSpc>
                <a:spcPct val="110000"/>
              </a:lnSpc>
            </a:pPr>
            <a:r>
              <a:rPr lang="en-US" sz="2130" b="1" dirty="0">
                <a:solidFill>
                  <a:srgbClr val="1A202C"/>
                </a:solidFill>
                <a:latin typeface="Liter" pitchFamily="34" charset="0"/>
                <a:ea typeface="Liter" pitchFamily="34" charset="-122"/>
                <a:cs typeface="Liter" pitchFamily="34" charset="-120"/>
              </a:rPr>
              <a:t>02</a:t>
            </a:r>
            <a:endParaRPr lang="en-US" sz="1600" dirty="0"/>
          </a:p>
        </p:txBody>
      </p:sp>
      <p:sp>
        <p:nvSpPr>
          <p:cNvPr id="15" name="Text 13"/>
          <p:cNvSpPr/>
          <p:nvPr/>
        </p:nvSpPr>
        <p:spPr>
          <a:xfrm>
            <a:off x="9254090" y="2846491"/>
            <a:ext cx="789126" cy="315650"/>
          </a:xfrm>
          <a:prstGeom prst="rect">
            <a:avLst/>
          </a:prstGeom>
          <a:noFill/>
          <a:ln/>
        </p:spPr>
        <p:txBody>
          <a:bodyPr wrap="square" lIns="0" tIns="0" rIns="0" bIns="0" rtlCol="0" anchor="ctr"/>
          <a:lstStyle/>
          <a:p>
            <a:pPr>
              <a:lnSpc>
                <a:spcPct val="120000"/>
              </a:lnSpc>
            </a:pPr>
            <a:r>
              <a:rPr lang="en-US" sz="1775" b="1" dirty="0">
                <a:solidFill>
                  <a:srgbClr val="E2E8F0"/>
                </a:solidFill>
                <a:latin typeface="Noto Sans SC" pitchFamily="34" charset="0"/>
                <a:ea typeface="Noto Sans SC" pitchFamily="34" charset="-122"/>
                <a:cs typeface="Noto Sans SC" pitchFamily="34" charset="-120"/>
              </a:rPr>
              <a:t>服务层</a:t>
            </a:r>
            <a:endParaRPr lang="en-US" sz="1600" dirty="0"/>
          </a:p>
        </p:txBody>
      </p:sp>
      <p:sp>
        <p:nvSpPr>
          <p:cNvPr id="16" name="Text 14"/>
          <p:cNvSpPr/>
          <p:nvPr/>
        </p:nvSpPr>
        <p:spPr>
          <a:xfrm>
            <a:off x="8577696" y="3410153"/>
            <a:ext cx="7316327" cy="293104"/>
          </a:xfrm>
          <a:prstGeom prst="rect">
            <a:avLst/>
          </a:prstGeom>
          <a:noFill/>
          <a:ln/>
        </p:spPr>
        <p:txBody>
          <a:bodyPr wrap="square" lIns="0" tIns="0" rIns="0" bIns="0" rtlCol="0" anchor="ctr"/>
          <a:lstStyle/>
          <a:p>
            <a:pPr>
              <a:lnSpc>
                <a:spcPct val="140000"/>
              </a:lnSpc>
            </a:pPr>
            <a:r>
              <a:rPr lang="en-US" sz="1420" dirty="0">
                <a:solidFill>
                  <a:srgbClr val="A0AEC0"/>
                </a:solidFill>
                <a:latin typeface="MiSans" pitchFamily="34" charset="0"/>
                <a:ea typeface="MiSans" pitchFamily="34" charset="-122"/>
                <a:cs typeface="MiSans" pitchFamily="34" charset="-120"/>
              </a:rPr>
              <a:t>包含Hive Server 2(HS2)和元数据服务(Metastore Service)。HS2提供多用户并发访问支持</a:t>
            </a:r>
            <a:endParaRPr lang="en-US" sz="1600" dirty="0"/>
          </a:p>
        </p:txBody>
      </p:sp>
      <p:sp>
        <p:nvSpPr>
          <p:cNvPr id="17" name="Shape 15"/>
          <p:cNvSpPr/>
          <p:nvPr/>
        </p:nvSpPr>
        <p:spPr>
          <a:xfrm>
            <a:off x="8600243" y="3889265"/>
            <a:ext cx="180372" cy="180372"/>
          </a:xfrm>
          <a:custGeom>
            <a:avLst/>
            <a:gdLst/>
            <a:ahLst/>
            <a:cxnLst/>
            <a:rect l="l" t="t" r="r" b="b"/>
            <a:pathLst>
              <a:path w="180372" h="180372">
                <a:moveTo>
                  <a:pt x="90186" y="180372"/>
                </a:moveTo>
                <a:cubicBezTo>
                  <a:pt x="139961" y="180372"/>
                  <a:pt x="180372" y="139961"/>
                  <a:pt x="180372" y="90186"/>
                </a:cubicBezTo>
                <a:cubicBezTo>
                  <a:pt x="180372" y="40411"/>
                  <a:pt x="139961" y="0"/>
                  <a:pt x="90186" y="0"/>
                </a:cubicBezTo>
                <a:cubicBezTo>
                  <a:pt x="40411" y="0"/>
                  <a:pt x="0" y="40411"/>
                  <a:pt x="0" y="90186"/>
                </a:cubicBezTo>
                <a:cubicBezTo>
                  <a:pt x="0" y="139961"/>
                  <a:pt x="40411" y="180372"/>
                  <a:pt x="90186" y="180372"/>
                </a:cubicBezTo>
                <a:close/>
                <a:moveTo>
                  <a:pt x="119919" y="74932"/>
                </a:moveTo>
                <a:lnTo>
                  <a:pt x="91736" y="120025"/>
                </a:lnTo>
                <a:cubicBezTo>
                  <a:pt x="90256" y="122385"/>
                  <a:pt x="87720" y="123865"/>
                  <a:pt x="84937" y="124006"/>
                </a:cubicBezTo>
                <a:cubicBezTo>
                  <a:pt x="82154" y="124146"/>
                  <a:pt x="79476" y="122878"/>
                  <a:pt x="77821" y="120624"/>
                </a:cubicBezTo>
                <a:lnTo>
                  <a:pt x="60911" y="98077"/>
                </a:lnTo>
                <a:cubicBezTo>
                  <a:pt x="58092" y="94343"/>
                  <a:pt x="58867" y="89059"/>
                  <a:pt x="62602" y="86240"/>
                </a:cubicBezTo>
                <a:cubicBezTo>
                  <a:pt x="66336" y="83422"/>
                  <a:pt x="71620" y="84197"/>
                  <a:pt x="74439" y="87931"/>
                </a:cubicBezTo>
                <a:lnTo>
                  <a:pt x="83950" y="100614"/>
                </a:lnTo>
                <a:lnTo>
                  <a:pt x="105581" y="65984"/>
                </a:lnTo>
                <a:cubicBezTo>
                  <a:pt x="108047" y="62038"/>
                  <a:pt x="113261" y="60805"/>
                  <a:pt x="117242" y="63306"/>
                </a:cubicBezTo>
                <a:cubicBezTo>
                  <a:pt x="121222" y="65807"/>
                  <a:pt x="122420" y="70986"/>
                  <a:pt x="119919" y="74967"/>
                </a:cubicBezTo>
                <a:close/>
              </a:path>
            </a:pathLst>
          </a:custGeom>
          <a:solidFill>
            <a:srgbClr val="D69E2E"/>
          </a:solidFill>
          <a:ln/>
        </p:spPr>
        <p:txBody>
          <a:bodyPr/>
          <a:lstStyle/>
          <a:p>
            <a:endParaRPr lang="zh-CN" altLang="en-US"/>
          </a:p>
        </p:txBody>
      </p:sp>
      <p:sp>
        <p:nvSpPr>
          <p:cNvPr id="18" name="Text 16"/>
          <p:cNvSpPr/>
          <p:nvPr/>
        </p:nvSpPr>
        <p:spPr>
          <a:xfrm>
            <a:off x="8883215" y="3838535"/>
            <a:ext cx="7010809" cy="270558"/>
          </a:xfrm>
          <a:prstGeom prst="rect">
            <a:avLst/>
          </a:prstGeom>
          <a:noFill/>
          <a:ln/>
        </p:spPr>
        <p:txBody>
          <a:bodyPr wrap="square" lIns="0" tIns="0" rIns="0" bIns="0" rtlCol="0" anchor="ctr"/>
          <a:lstStyle/>
          <a:p>
            <a:pPr>
              <a:lnSpc>
                <a:spcPct val="130000"/>
              </a:lnSpc>
            </a:pPr>
            <a:r>
              <a:rPr lang="en-US" sz="1420" dirty="0">
                <a:solidFill>
                  <a:srgbClr val="E2E8F0"/>
                </a:solidFill>
                <a:latin typeface="MiSans" pitchFamily="34" charset="0"/>
                <a:ea typeface="MiSans" pitchFamily="34" charset="-122"/>
                <a:cs typeface="MiSans" pitchFamily="34" charset="-120"/>
              </a:rPr>
              <a:t>元数据服务负责管理表结构、分区信息等元数据</a:t>
            </a:r>
            <a:endParaRPr lang="en-US" sz="1600" dirty="0"/>
          </a:p>
        </p:txBody>
      </p:sp>
      <p:sp>
        <p:nvSpPr>
          <p:cNvPr id="19" name="Shape 17"/>
          <p:cNvSpPr/>
          <p:nvPr/>
        </p:nvSpPr>
        <p:spPr>
          <a:xfrm>
            <a:off x="473476" y="4808033"/>
            <a:ext cx="45093" cy="2029182"/>
          </a:xfrm>
          <a:custGeom>
            <a:avLst/>
            <a:gdLst/>
            <a:ahLst/>
            <a:cxnLst/>
            <a:rect l="l" t="t" r="r" b="b"/>
            <a:pathLst>
              <a:path w="45093" h="2029182">
                <a:moveTo>
                  <a:pt x="0" y="0"/>
                </a:moveTo>
                <a:lnTo>
                  <a:pt x="45093" y="0"/>
                </a:lnTo>
                <a:lnTo>
                  <a:pt x="45093" y="2029182"/>
                </a:lnTo>
                <a:lnTo>
                  <a:pt x="0" y="2029182"/>
                </a:lnTo>
                <a:lnTo>
                  <a:pt x="0" y="0"/>
                </a:lnTo>
                <a:close/>
              </a:path>
            </a:pathLst>
          </a:custGeom>
          <a:solidFill>
            <a:srgbClr val="D69E2E"/>
          </a:solidFill>
          <a:ln/>
        </p:spPr>
        <p:txBody>
          <a:bodyPr/>
          <a:lstStyle/>
          <a:p>
            <a:endParaRPr lang="zh-CN" altLang="en-US"/>
          </a:p>
        </p:txBody>
      </p:sp>
      <p:sp>
        <p:nvSpPr>
          <p:cNvPr id="20" name="Shape 18"/>
          <p:cNvSpPr/>
          <p:nvPr/>
        </p:nvSpPr>
        <p:spPr>
          <a:xfrm>
            <a:off x="766580" y="4988405"/>
            <a:ext cx="541115" cy="541115"/>
          </a:xfrm>
          <a:custGeom>
            <a:avLst/>
            <a:gdLst/>
            <a:ahLst/>
            <a:cxnLst/>
            <a:rect l="l" t="t" r="r" b="b"/>
            <a:pathLst>
              <a:path w="541115" h="541115">
                <a:moveTo>
                  <a:pt x="90188" y="0"/>
                </a:moveTo>
                <a:lnTo>
                  <a:pt x="450927" y="0"/>
                </a:lnTo>
                <a:cubicBezTo>
                  <a:pt x="500737" y="0"/>
                  <a:pt x="541115" y="40378"/>
                  <a:pt x="541115" y="90188"/>
                </a:cubicBezTo>
                <a:lnTo>
                  <a:pt x="541115" y="450927"/>
                </a:lnTo>
                <a:cubicBezTo>
                  <a:pt x="541115" y="500737"/>
                  <a:pt x="500737" y="541115"/>
                  <a:pt x="450927" y="541115"/>
                </a:cubicBezTo>
                <a:lnTo>
                  <a:pt x="90188" y="541115"/>
                </a:lnTo>
                <a:cubicBezTo>
                  <a:pt x="40378" y="541115"/>
                  <a:pt x="0" y="500737"/>
                  <a:pt x="0" y="450927"/>
                </a:cubicBezTo>
                <a:lnTo>
                  <a:pt x="0" y="90188"/>
                </a:lnTo>
                <a:cubicBezTo>
                  <a:pt x="0" y="40412"/>
                  <a:pt x="40412" y="0"/>
                  <a:pt x="90188" y="0"/>
                </a:cubicBezTo>
                <a:close/>
              </a:path>
            </a:pathLst>
          </a:custGeom>
          <a:solidFill>
            <a:srgbClr val="D69E2E"/>
          </a:solidFill>
          <a:ln/>
        </p:spPr>
        <p:txBody>
          <a:bodyPr/>
          <a:lstStyle/>
          <a:p>
            <a:endParaRPr lang="zh-CN" altLang="en-US"/>
          </a:p>
        </p:txBody>
      </p:sp>
      <p:sp>
        <p:nvSpPr>
          <p:cNvPr id="21" name="Text 19"/>
          <p:cNvSpPr/>
          <p:nvPr/>
        </p:nvSpPr>
        <p:spPr>
          <a:xfrm>
            <a:off x="870945" y="5078591"/>
            <a:ext cx="462202" cy="360743"/>
          </a:xfrm>
          <a:prstGeom prst="rect">
            <a:avLst/>
          </a:prstGeom>
          <a:noFill/>
          <a:ln/>
        </p:spPr>
        <p:txBody>
          <a:bodyPr wrap="square" lIns="0" tIns="0" rIns="0" bIns="0" rtlCol="0" anchor="ctr"/>
          <a:lstStyle/>
          <a:p>
            <a:pPr>
              <a:lnSpc>
                <a:spcPct val="110000"/>
              </a:lnSpc>
            </a:pPr>
            <a:r>
              <a:rPr lang="en-US" sz="2130" b="1" dirty="0">
                <a:solidFill>
                  <a:srgbClr val="1A202C"/>
                </a:solidFill>
                <a:latin typeface="Liter" pitchFamily="34" charset="0"/>
                <a:ea typeface="Liter" pitchFamily="34" charset="-122"/>
                <a:cs typeface="Liter" pitchFamily="34" charset="-120"/>
              </a:rPr>
              <a:t>03</a:t>
            </a:r>
            <a:endParaRPr lang="en-US" sz="1600" dirty="0"/>
          </a:p>
        </p:txBody>
      </p:sp>
      <p:sp>
        <p:nvSpPr>
          <p:cNvPr id="22" name="Text 20"/>
          <p:cNvSpPr/>
          <p:nvPr/>
        </p:nvSpPr>
        <p:spPr>
          <a:xfrm>
            <a:off x="1442974" y="5101137"/>
            <a:ext cx="789126" cy="315650"/>
          </a:xfrm>
          <a:prstGeom prst="rect">
            <a:avLst/>
          </a:prstGeom>
          <a:noFill/>
          <a:ln/>
        </p:spPr>
        <p:txBody>
          <a:bodyPr wrap="square" lIns="0" tIns="0" rIns="0" bIns="0" rtlCol="0" anchor="ctr"/>
          <a:lstStyle/>
          <a:p>
            <a:pPr>
              <a:lnSpc>
                <a:spcPct val="120000"/>
              </a:lnSpc>
            </a:pPr>
            <a:r>
              <a:rPr lang="en-US" sz="1775" b="1" dirty="0">
                <a:solidFill>
                  <a:srgbClr val="E2E8F0"/>
                </a:solidFill>
                <a:latin typeface="Noto Sans SC" pitchFamily="34" charset="0"/>
                <a:ea typeface="Noto Sans SC" pitchFamily="34" charset="-122"/>
                <a:cs typeface="Noto Sans SC" pitchFamily="34" charset="-120"/>
              </a:rPr>
              <a:t>处理层</a:t>
            </a:r>
            <a:endParaRPr lang="en-US" sz="1600" dirty="0"/>
          </a:p>
        </p:txBody>
      </p:sp>
      <p:sp>
        <p:nvSpPr>
          <p:cNvPr id="23" name="Text 21"/>
          <p:cNvSpPr/>
          <p:nvPr/>
        </p:nvSpPr>
        <p:spPr>
          <a:xfrm>
            <a:off x="766580" y="5664799"/>
            <a:ext cx="7316327" cy="586208"/>
          </a:xfrm>
          <a:prstGeom prst="rect">
            <a:avLst/>
          </a:prstGeom>
          <a:noFill/>
          <a:ln/>
        </p:spPr>
        <p:txBody>
          <a:bodyPr wrap="square" lIns="0" tIns="0" rIns="0" bIns="0" rtlCol="0" anchor="ctr"/>
          <a:lstStyle/>
          <a:p>
            <a:pPr>
              <a:lnSpc>
                <a:spcPct val="140000"/>
              </a:lnSpc>
            </a:pPr>
            <a:r>
              <a:rPr lang="en-US" sz="1420" dirty="0">
                <a:solidFill>
                  <a:srgbClr val="A0AEC0"/>
                </a:solidFill>
                <a:latin typeface="MiSans" pitchFamily="34" charset="0"/>
                <a:ea typeface="MiSans" pitchFamily="34" charset="-122"/>
                <a:cs typeface="MiSans" pitchFamily="34" charset="-120"/>
              </a:rPr>
              <a:t>Hive的核心处理引擎，包括驱动(Driver)、编译器(Compiler)、优化器(Optimizer)和执行器(Executor)</a:t>
            </a:r>
            <a:endParaRPr lang="en-US" sz="1600" dirty="0"/>
          </a:p>
        </p:txBody>
      </p:sp>
      <p:sp>
        <p:nvSpPr>
          <p:cNvPr id="24" name="Shape 22"/>
          <p:cNvSpPr/>
          <p:nvPr/>
        </p:nvSpPr>
        <p:spPr>
          <a:xfrm>
            <a:off x="789126" y="6437015"/>
            <a:ext cx="180372" cy="180372"/>
          </a:xfrm>
          <a:custGeom>
            <a:avLst/>
            <a:gdLst/>
            <a:ahLst/>
            <a:cxnLst/>
            <a:rect l="l" t="t" r="r" b="b"/>
            <a:pathLst>
              <a:path w="180372" h="180372">
                <a:moveTo>
                  <a:pt x="90186" y="180372"/>
                </a:moveTo>
                <a:cubicBezTo>
                  <a:pt x="139961" y="180372"/>
                  <a:pt x="180372" y="139961"/>
                  <a:pt x="180372" y="90186"/>
                </a:cubicBezTo>
                <a:cubicBezTo>
                  <a:pt x="180372" y="40411"/>
                  <a:pt x="139961" y="0"/>
                  <a:pt x="90186" y="0"/>
                </a:cubicBezTo>
                <a:cubicBezTo>
                  <a:pt x="40411" y="0"/>
                  <a:pt x="0" y="40411"/>
                  <a:pt x="0" y="90186"/>
                </a:cubicBezTo>
                <a:cubicBezTo>
                  <a:pt x="0" y="139961"/>
                  <a:pt x="40411" y="180372"/>
                  <a:pt x="90186" y="180372"/>
                </a:cubicBezTo>
                <a:close/>
                <a:moveTo>
                  <a:pt x="119919" y="74932"/>
                </a:moveTo>
                <a:lnTo>
                  <a:pt x="91736" y="120025"/>
                </a:lnTo>
                <a:cubicBezTo>
                  <a:pt x="90256" y="122385"/>
                  <a:pt x="87720" y="123865"/>
                  <a:pt x="84937" y="124006"/>
                </a:cubicBezTo>
                <a:cubicBezTo>
                  <a:pt x="82154" y="124146"/>
                  <a:pt x="79476" y="122878"/>
                  <a:pt x="77821" y="120624"/>
                </a:cubicBezTo>
                <a:lnTo>
                  <a:pt x="60911" y="98077"/>
                </a:lnTo>
                <a:cubicBezTo>
                  <a:pt x="58092" y="94343"/>
                  <a:pt x="58867" y="89059"/>
                  <a:pt x="62602" y="86240"/>
                </a:cubicBezTo>
                <a:cubicBezTo>
                  <a:pt x="66336" y="83422"/>
                  <a:pt x="71620" y="84197"/>
                  <a:pt x="74439" y="87931"/>
                </a:cubicBezTo>
                <a:lnTo>
                  <a:pt x="83950" y="100614"/>
                </a:lnTo>
                <a:lnTo>
                  <a:pt x="105581" y="65984"/>
                </a:lnTo>
                <a:cubicBezTo>
                  <a:pt x="108047" y="62038"/>
                  <a:pt x="113261" y="60805"/>
                  <a:pt x="117242" y="63306"/>
                </a:cubicBezTo>
                <a:cubicBezTo>
                  <a:pt x="121222" y="65807"/>
                  <a:pt x="122420" y="70986"/>
                  <a:pt x="119919" y="74967"/>
                </a:cubicBezTo>
                <a:close/>
              </a:path>
            </a:pathLst>
          </a:custGeom>
          <a:solidFill>
            <a:srgbClr val="D69E2E"/>
          </a:solidFill>
          <a:ln/>
        </p:spPr>
        <p:txBody>
          <a:bodyPr/>
          <a:lstStyle/>
          <a:p>
            <a:endParaRPr lang="zh-CN" altLang="en-US"/>
          </a:p>
        </p:txBody>
      </p:sp>
      <p:sp>
        <p:nvSpPr>
          <p:cNvPr id="25" name="Text 23"/>
          <p:cNvSpPr/>
          <p:nvPr/>
        </p:nvSpPr>
        <p:spPr>
          <a:xfrm>
            <a:off x="1072098" y="6386286"/>
            <a:ext cx="7010809" cy="270558"/>
          </a:xfrm>
          <a:prstGeom prst="rect">
            <a:avLst/>
          </a:prstGeom>
          <a:noFill/>
          <a:ln/>
        </p:spPr>
        <p:txBody>
          <a:bodyPr wrap="square" lIns="0" tIns="0" rIns="0" bIns="0" rtlCol="0" anchor="ctr"/>
          <a:lstStyle/>
          <a:p>
            <a:pPr>
              <a:lnSpc>
                <a:spcPct val="130000"/>
              </a:lnSpc>
            </a:pPr>
            <a:r>
              <a:rPr lang="en-US" sz="1420" dirty="0">
                <a:solidFill>
                  <a:srgbClr val="E2E8F0"/>
                </a:solidFill>
                <a:latin typeface="MiSans" pitchFamily="34" charset="0"/>
                <a:ea typeface="MiSans" pitchFamily="34" charset="-122"/>
                <a:cs typeface="MiSans" pitchFamily="34" charset="-120"/>
              </a:rPr>
              <a:t>负责将SQL查询转换为可执行的分布式任务</a:t>
            </a:r>
            <a:endParaRPr lang="en-US" sz="1600" dirty="0"/>
          </a:p>
        </p:txBody>
      </p:sp>
      <p:sp>
        <p:nvSpPr>
          <p:cNvPr id="26" name="Shape 24"/>
          <p:cNvSpPr/>
          <p:nvPr/>
        </p:nvSpPr>
        <p:spPr>
          <a:xfrm>
            <a:off x="8284592" y="4808033"/>
            <a:ext cx="45093" cy="2029182"/>
          </a:xfrm>
          <a:custGeom>
            <a:avLst/>
            <a:gdLst/>
            <a:ahLst/>
            <a:cxnLst/>
            <a:rect l="l" t="t" r="r" b="b"/>
            <a:pathLst>
              <a:path w="45093" h="2029182">
                <a:moveTo>
                  <a:pt x="0" y="0"/>
                </a:moveTo>
                <a:lnTo>
                  <a:pt x="45093" y="0"/>
                </a:lnTo>
                <a:lnTo>
                  <a:pt x="45093" y="2029182"/>
                </a:lnTo>
                <a:lnTo>
                  <a:pt x="0" y="2029182"/>
                </a:lnTo>
                <a:lnTo>
                  <a:pt x="0" y="0"/>
                </a:lnTo>
                <a:close/>
              </a:path>
            </a:pathLst>
          </a:custGeom>
          <a:solidFill>
            <a:srgbClr val="D69E2E"/>
          </a:solidFill>
          <a:ln/>
        </p:spPr>
        <p:txBody>
          <a:bodyPr/>
          <a:lstStyle/>
          <a:p>
            <a:endParaRPr lang="zh-CN" altLang="en-US"/>
          </a:p>
        </p:txBody>
      </p:sp>
      <p:sp>
        <p:nvSpPr>
          <p:cNvPr id="27" name="Shape 25"/>
          <p:cNvSpPr/>
          <p:nvPr/>
        </p:nvSpPr>
        <p:spPr>
          <a:xfrm>
            <a:off x="8577696" y="4988405"/>
            <a:ext cx="541115" cy="541115"/>
          </a:xfrm>
          <a:custGeom>
            <a:avLst/>
            <a:gdLst/>
            <a:ahLst/>
            <a:cxnLst/>
            <a:rect l="l" t="t" r="r" b="b"/>
            <a:pathLst>
              <a:path w="541115" h="541115">
                <a:moveTo>
                  <a:pt x="90188" y="0"/>
                </a:moveTo>
                <a:lnTo>
                  <a:pt x="450927" y="0"/>
                </a:lnTo>
                <a:cubicBezTo>
                  <a:pt x="500737" y="0"/>
                  <a:pt x="541115" y="40378"/>
                  <a:pt x="541115" y="90188"/>
                </a:cubicBezTo>
                <a:lnTo>
                  <a:pt x="541115" y="450927"/>
                </a:lnTo>
                <a:cubicBezTo>
                  <a:pt x="541115" y="500737"/>
                  <a:pt x="500737" y="541115"/>
                  <a:pt x="450927" y="541115"/>
                </a:cubicBezTo>
                <a:lnTo>
                  <a:pt x="90188" y="541115"/>
                </a:lnTo>
                <a:cubicBezTo>
                  <a:pt x="40378" y="541115"/>
                  <a:pt x="0" y="500737"/>
                  <a:pt x="0" y="450927"/>
                </a:cubicBezTo>
                <a:lnTo>
                  <a:pt x="0" y="90188"/>
                </a:lnTo>
                <a:cubicBezTo>
                  <a:pt x="0" y="40412"/>
                  <a:pt x="40412" y="0"/>
                  <a:pt x="90188" y="0"/>
                </a:cubicBezTo>
                <a:close/>
              </a:path>
            </a:pathLst>
          </a:custGeom>
          <a:solidFill>
            <a:srgbClr val="D69E2E"/>
          </a:solidFill>
          <a:ln/>
        </p:spPr>
        <p:txBody>
          <a:bodyPr/>
          <a:lstStyle/>
          <a:p>
            <a:endParaRPr lang="zh-CN" altLang="en-US"/>
          </a:p>
        </p:txBody>
      </p:sp>
      <p:sp>
        <p:nvSpPr>
          <p:cNvPr id="28" name="Text 26"/>
          <p:cNvSpPr/>
          <p:nvPr/>
        </p:nvSpPr>
        <p:spPr>
          <a:xfrm>
            <a:off x="8682238" y="5078591"/>
            <a:ext cx="462202" cy="360743"/>
          </a:xfrm>
          <a:prstGeom prst="rect">
            <a:avLst/>
          </a:prstGeom>
          <a:noFill/>
          <a:ln/>
        </p:spPr>
        <p:txBody>
          <a:bodyPr wrap="square" lIns="0" tIns="0" rIns="0" bIns="0" rtlCol="0" anchor="ctr"/>
          <a:lstStyle/>
          <a:p>
            <a:pPr>
              <a:lnSpc>
                <a:spcPct val="110000"/>
              </a:lnSpc>
            </a:pPr>
            <a:r>
              <a:rPr lang="en-US" sz="2130" b="1" dirty="0">
                <a:solidFill>
                  <a:srgbClr val="1A202C"/>
                </a:solidFill>
                <a:latin typeface="Liter" pitchFamily="34" charset="0"/>
                <a:ea typeface="Liter" pitchFamily="34" charset="-122"/>
                <a:cs typeface="Liter" pitchFamily="34" charset="-120"/>
              </a:rPr>
              <a:t>04</a:t>
            </a:r>
            <a:endParaRPr lang="en-US" sz="1600" dirty="0"/>
          </a:p>
        </p:txBody>
      </p:sp>
      <p:sp>
        <p:nvSpPr>
          <p:cNvPr id="29" name="Text 27"/>
          <p:cNvSpPr/>
          <p:nvPr/>
        </p:nvSpPr>
        <p:spPr>
          <a:xfrm>
            <a:off x="9254090" y="5101137"/>
            <a:ext cx="789126" cy="315650"/>
          </a:xfrm>
          <a:prstGeom prst="rect">
            <a:avLst/>
          </a:prstGeom>
          <a:noFill/>
          <a:ln/>
        </p:spPr>
        <p:txBody>
          <a:bodyPr wrap="square" lIns="0" tIns="0" rIns="0" bIns="0" rtlCol="0" anchor="ctr"/>
          <a:lstStyle/>
          <a:p>
            <a:pPr>
              <a:lnSpc>
                <a:spcPct val="120000"/>
              </a:lnSpc>
            </a:pPr>
            <a:r>
              <a:rPr lang="en-US" sz="1775" b="1" dirty="0">
                <a:solidFill>
                  <a:srgbClr val="E2E8F0"/>
                </a:solidFill>
                <a:latin typeface="Noto Sans SC" pitchFamily="34" charset="0"/>
                <a:ea typeface="Noto Sans SC" pitchFamily="34" charset="-122"/>
                <a:cs typeface="Noto Sans SC" pitchFamily="34" charset="-120"/>
              </a:rPr>
              <a:t>执行层</a:t>
            </a:r>
            <a:endParaRPr lang="en-US" sz="1600" dirty="0"/>
          </a:p>
        </p:txBody>
      </p:sp>
      <p:sp>
        <p:nvSpPr>
          <p:cNvPr id="30" name="Text 28"/>
          <p:cNvSpPr/>
          <p:nvPr/>
        </p:nvSpPr>
        <p:spPr>
          <a:xfrm>
            <a:off x="8577696" y="5664799"/>
            <a:ext cx="7316327" cy="586208"/>
          </a:xfrm>
          <a:prstGeom prst="rect">
            <a:avLst/>
          </a:prstGeom>
          <a:noFill/>
          <a:ln/>
        </p:spPr>
        <p:txBody>
          <a:bodyPr wrap="square" lIns="0" tIns="0" rIns="0" bIns="0" rtlCol="0" anchor="ctr"/>
          <a:lstStyle/>
          <a:p>
            <a:pPr>
              <a:lnSpc>
                <a:spcPct val="140000"/>
              </a:lnSpc>
            </a:pPr>
            <a:r>
              <a:rPr lang="en-US" sz="1420" dirty="0">
                <a:solidFill>
                  <a:srgbClr val="A0AEC0"/>
                </a:solidFill>
                <a:latin typeface="MiSans" pitchFamily="34" charset="0"/>
                <a:ea typeface="MiSans" pitchFamily="34" charset="-122"/>
                <a:cs typeface="MiSans" pitchFamily="34" charset="-120"/>
              </a:rPr>
              <a:t>支持多种执行引擎，包括传统的MapReduce、高性能的Tez、内存计算的Spark以及实时查询的LLAP</a:t>
            </a:r>
            <a:endParaRPr lang="en-US" sz="1600" dirty="0"/>
          </a:p>
        </p:txBody>
      </p:sp>
      <p:sp>
        <p:nvSpPr>
          <p:cNvPr id="31" name="Shape 29"/>
          <p:cNvSpPr/>
          <p:nvPr/>
        </p:nvSpPr>
        <p:spPr>
          <a:xfrm>
            <a:off x="8600243" y="6437015"/>
            <a:ext cx="180372" cy="180372"/>
          </a:xfrm>
          <a:custGeom>
            <a:avLst/>
            <a:gdLst/>
            <a:ahLst/>
            <a:cxnLst/>
            <a:rect l="l" t="t" r="r" b="b"/>
            <a:pathLst>
              <a:path w="180372" h="180372">
                <a:moveTo>
                  <a:pt x="90186" y="180372"/>
                </a:moveTo>
                <a:cubicBezTo>
                  <a:pt x="139961" y="180372"/>
                  <a:pt x="180372" y="139961"/>
                  <a:pt x="180372" y="90186"/>
                </a:cubicBezTo>
                <a:cubicBezTo>
                  <a:pt x="180372" y="40411"/>
                  <a:pt x="139961" y="0"/>
                  <a:pt x="90186" y="0"/>
                </a:cubicBezTo>
                <a:cubicBezTo>
                  <a:pt x="40411" y="0"/>
                  <a:pt x="0" y="40411"/>
                  <a:pt x="0" y="90186"/>
                </a:cubicBezTo>
                <a:cubicBezTo>
                  <a:pt x="0" y="139961"/>
                  <a:pt x="40411" y="180372"/>
                  <a:pt x="90186" y="180372"/>
                </a:cubicBezTo>
                <a:close/>
                <a:moveTo>
                  <a:pt x="119919" y="74932"/>
                </a:moveTo>
                <a:lnTo>
                  <a:pt x="91736" y="120025"/>
                </a:lnTo>
                <a:cubicBezTo>
                  <a:pt x="90256" y="122385"/>
                  <a:pt x="87720" y="123865"/>
                  <a:pt x="84937" y="124006"/>
                </a:cubicBezTo>
                <a:cubicBezTo>
                  <a:pt x="82154" y="124146"/>
                  <a:pt x="79476" y="122878"/>
                  <a:pt x="77821" y="120624"/>
                </a:cubicBezTo>
                <a:lnTo>
                  <a:pt x="60911" y="98077"/>
                </a:lnTo>
                <a:cubicBezTo>
                  <a:pt x="58092" y="94343"/>
                  <a:pt x="58867" y="89059"/>
                  <a:pt x="62602" y="86240"/>
                </a:cubicBezTo>
                <a:cubicBezTo>
                  <a:pt x="66336" y="83422"/>
                  <a:pt x="71620" y="84197"/>
                  <a:pt x="74439" y="87931"/>
                </a:cubicBezTo>
                <a:lnTo>
                  <a:pt x="83950" y="100614"/>
                </a:lnTo>
                <a:lnTo>
                  <a:pt x="105581" y="65984"/>
                </a:lnTo>
                <a:cubicBezTo>
                  <a:pt x="108047" y="62038"/>
                  <a:pt x="113261" y="60805"/>
                  <a:pt x="117242" y="63306"/>
                </a:cubicBezTo>
                <a:cubicBezTo>
                  <a:pt x="121222" y="65807"/>
                  <a:pt x="122420" y="70986"/>
                  <a:pt x="119919" y="74967"/>
                </a:cubicBezTo>
                <a:close/>
              </a:path>
            </a:pathLst>
          </a:custGeom>
          <a:solidFill>
            <a:srgbClr val="D69E2E"/>
          </a:solidFill>
          <a:ln/>
        </p:spPr>
        <p:txBody>
          <a:bodyPr/>
          <a:lstStyle/>
          <a:p>
            <a:endParaRPr lang="zh-CN" altLang="en-US"/>
          </a:p>
        </p:txBody>
      </p:sp>
      <p:sp>
        <p:nvSpPr>
          <p:cNvPr id="32" name="Text 30"/>
          <p:cNvSpPr/>
          <p:nvPr/>
        </p:nvSpPr>
        <p:spPr>
          <a:xfrm>
            <a:off x="8883215" y="6386286"/>
            <a:ext cx="7010809" cy="270558"/>
          </a:xfrm>
          <a:prstGeom prst="rect">
            <a:avLst/>
          </a:prstGeom>
          <a:noFill/>
          <a:ln/>
        </p:spPr>
        <p:txBody>
          <a:bodyPr wrap="square" lIns="0" tIns="0" rIns="0" bIns="0" rtlCol="0" anchor="ctr"/>
          <a:lstStyle/>
          <a:p>
            <a:pPr>
              <a:lnSpc>
                <a:spcPct val="130000"/>
              </a:lnSpc>
            </a:pPr>
            <a:r>
              <a:rPr lang="en-US" sz="1420" dirty="0">
                <a:solidFill>
                  <a:srgbClr val="E2E8F0"/>
                </a:solidFill>
                <a:latin typeface="MiSans" pitchFamily="34" charset="0"/>
                <a:ea typeface="MiSans" pitchFamily="34" charset="-122"/>
                <a:cs typeface="MiSans" pitchFamily="34" charset="-120"/>
              </a:rPr>
              <a:t>用户可根据具体场景选择最适合的执行引擎</a:t>
            </a:r>
            <a:endParaRPr lang="en-US" sz="1600" dirty="0"/>
          </a:p>
        </p:txBody>
      </p:sp>
      <p:sp>
        <p:nvSpPr>
          <p:cNvPr id="33" name="Shape 31"/>
          <p:cNvSpPr/>
          <p:nvPr/>
        </p:nvSpPr>
        <p:spPr>
          <a:xfrm>
            <a:off x="473476" y="7062680"/>
            <a:ext cx="45093" cy="1623345"/>
          </a:xfrm>
          <a:custGeom>
            <a:avLst/>
            <a:gdLst/>
            <a:ahLst/>
            <a:cxnLst/>
            <a:rect l="l" t="t" r="r" b="b"/>
            <a:pathLst>
              <a:path w="45093" h="1623345">
                <a:moveTo>
                  <a:pt x="0" y="0"/>
                </a:moveTo>
                <a:lnTo>
                  <a:pt x="45093" y="0"/>
                </a:lnTo>
                <a:lnTo>
                  <a:pt x="45093" y="1623345"/>
                </a:lnTo>
                <a:lnTo>
                  <a:pt x="0" y="1623345"/>
                </a:lnTo>
                <a:lnTo>
                  <a:pt x="0" y="0"/>
                </a:lnTo>
                <a:close/>
              </a:path>
            </a:pathLst>
          </a:custGeom>
          <a:solidFill>
            <a:srgbClr val="D69E2E"/>
          </a:solidFill>
          <a:ln/>
        </p:spPr>
        <p:txBody>
          <a:bodyPr/>
          <a:lstStyle/>
          <a:p>
            <a:endParaRPr lang="zh-CN" altLang="en-US"/>
          </a:p>
        </p:txBody>
      </p:sp>
      <p:sp>
        <p:nvSpPr>
          <p:cNvPr id="34" name="Shape 32"/>
          <p:cNvSpPr/>
          <p:nvPr/>
        </p:nvSpPr>
        <p:spPr>
          <a:xfrm>
            <a:off x="766580" y="7243051"/>
            <a:ext cx="541115" cy="541115"/>
          </a:xfrm>
          <a:custGeom>
            <a:avLst/>
            <a:gdLst/>
            <a:ahLst/>
            <a:cxnLst/>
            <a:rect l="l" t="t" r="r" b="b"/>
            <a:pathLst>
              <a:path w="541115" h="541115">
                <a:moveTo>
                  <a:pt x="90188" y="0"/>
                </a:moveTo>
                <a:lnTo>
                  <a:pt x="450927" y="0"/>
                </a:lnTo>
                <a:cubicBezTo>
                  <a:pt x="500737" y="0"/>
                  <a:pt x="541115" y="40378"/>
                  <a:pt x="541115" y="90188"/>
                </a:cubicBezTo>
                <a:lnTo>
                  <a:pt x="541115" y="450927"/>
                </a:lnTo>
                <a:cubicBezTo>
                  <a:pt x="541115" y="500737"/>
                  <a:pt x="500737" y="541115"/>
                  <a:pt x="450927" y="541115"/>
                </a:cubicBezTo>
                <a:lnTo>
                  <a:pt x="90188" y="541115"/>
                </a:lnTo>
                <a:cubicBezTo>
                  <a:pt x="40378" y="541115"/>
                  <a:pt x="0" y="500737"/>
                  <a:pt x="0" y="450927"/>
                </a:cubicBezTo>
                <a:lnTo>
                  <a:pt x="0" y="90188"/>
                </a:lnTo>
                <a:cubicBezTo>
                  <a:pt x="0" y="40412"/>
                  <a:pt x="40412" y="0"/>
                  <a:pt x="90188" y="0"/>
                </a:cubicBezTo>
                <a:close/>
              </a:path>
            </a:pathLst>
          </a:custGeom>
          <a:solidFill>
            <a:srgbClr val="D69E2E"/>
          </a:solidFill>
          <a:ln/>
        </p:spPr>
        <p:txBody>
          <a:bodyPr/>
          <a:lstStyle/>
          <a:p>
            <a:endParaRPr lang="zh-CN" altLang="en-US"/>
          </a:p>
        </p:txBody>
      </p:sp>
      <p:sp>
        <p:nvSpPr>
          <p:cNvPr id="35" name="Text 33"/>
          <p:cNvSpPr/>
          <p:nvPr/>
        </p:nvSpPr>
        <p:spPr>
          <a:xfrm>
            <a:off x="872883" y="7333237"/>
            <a:ext cx="462202" cy="360743"/>
          </a:xfrm>
          <a:prstGeom prst="rect">
            <a:avLst/>
          </a:prstGeom>
          <a:noFill/>
          <a:ln/>
        </p:spPr>
        <p:txBody>
          <a:bodyPr wrap="square" lIns="0" tIns="0" rIns="0" bIns="0" rtlCol="0" anchor="ctr"/>
          <a:lstStyle/>
          <a:p>
            <a:pPr>
              <a:lnSpc>
                <a:spcPct val="110000"/>
              </a:lnSpc>
            </a:pPr>
            <a:r>
              <a:rPr lang="en-US" sz="2130" b="1" dirty="0">
                <a:solidFill>
                  <a:srgbClr val="1A202C"/>
                </a:solidFill>
                <a:latin typeface="Liter" pitchFamily="34" charset="0"/>
                <a:ea typeface="Liter" pitchFamily="34" charset="-122"/>
                <a:cs typeface="Liter" pitchFamily="34" charset="-120"/>
              </a:rPr>
              <a:t>05</a:t>
            </a:r>
            <a:endParaRPr lang="en-US" sz="1600" dirty="0"/>
          </a:p>
        </p:txBody>
      </p:sp>
      <p:sp>
        <p:nvSpPr>
          <p:cNvPr id="36" name="Text 34"/>
          <p:cNvSpPr/>
          <p:nvPr/>
        </p:nvSpPr>
        <p:spPr>
          <a:xfrm>
            <a:off x="1442974" y="7355784"/>
            <a:ext cx="789126" cy="315650"/>
          </a:xfrm>
          <a:prstGeom prst="rect">
            <a:avLst/>
          </a:prstGeom>
          <a:noFill/>
          <a:ln/>
        </p:spPr>
        <p:txBody>
          <a:bodyPr wrap="square" lIns="0" tIns="0" rIns="0" bIns="0" rtlCol="0" anchor="ctr"/>
          <a:lstStyle/>
          <a:p>
            <a:pPr>
              <a:lnSpc>
                <a:spcPct val="120000"/>
              </a:lnSpc>
            </a:pPr>
            <a:r>
              <a:rPr lang="en-US" sz="1775" b="1" dirty="0">
                <a:solidFill>
                  <a:srgbClr val="E2E8F0"/>
                </a:solidFill>
                <a:latin typeface="Noto Sans SC" pitchFamily="34" charset="0"/>
                <a:ea typeface="Noto Sans SC" pitchFamily="34" charset="-122"/>
                <a:cs typeface="Noto Sans SC" pitchFamily="34" charset="-120"/>
              </a:rPr>
              <a:t>存储层</a:t>
            </a:r>
            <a:endParaRPr lang="en-US" sz="1600" dirty="0"/>
          </a:p>
        </p:txBody>
      </p:sp>
      <p:sp>
        <p:nvSpPr>
          <p:cNvPr id="37" name="Text 35"/>
          <p:cNvSpPr/>
          <p:nvPr/>
        </p:nvSpPr>
        <p:spPr>
          <a:xfrm>
            <a:off x="766580" y="7919445"/>
            <a:ext cx="15128677" cy="586208"/>
          </a:xfrm>
          <a:prstGeom prst="rect">
            <a:avLst/>
          </a:prstGeom>
          <a:noFill/>
          <a:ln/>
        </p:spPr>
        <p:txBody>
          <a:bodyPr wrap="square" lIns="0" tIns="0" rIns="0" bIns="0" rtlCol="0" anchor="ctr"/>
          <a:lstStyle/>
          <a:p>
            <a:pPr>
              <a:lnSpc>
                <a:spcPct val="140000"/>
              </a:lnSpc>
            </a:pPr>
            <a:r>
              <a:rPr lang="en-US" sz="1420" dirty="0">
                <a:solidFill>
                  <a:srgbClr val="A0AEC0"/>
                </a:solidFill>
                <a:latin typeface="MiSans" pitchFamily="34" charset="0"/>
                <a:ea typeface="MiSans" pitchFamily="34" charset="-122"/>
                <a:cs typeface="MiSans" pitchFamily="34" charset="-120"/>
              </a:rPr>
              <a:t>基于Hadoop分布式文件系统(HDFS)，支持多种优化的文件格式，如列式存储的ORC和Parquet，以及行式存储的文本格式等。</a:t>
            </a:r>
            <a:r>
              <a:rPr lang="en-US" sz="1420" dirty="0">
                <a:solidFill>
                  <a:srgbClr val="D69E2E"/>
                </a:solidFill>
                <a:latin typeface="MiSans" pitchFamily="34" charset="0"/>
                <a:ea typeface="MiSans" pitchFamily="34" charset="-122"/>
                <a:cs typeface="MiSans" pitchFamily="34" charset="-120"/>
              </a:rPr>
              <a:t>这种分层架构设计使得Hive具有良好的扩展性和灵活性</a:t>
            </a:r>
            <a:r>
              <a:rPr lang="en-US" sz="1420" dirty="0">
                <a:solidFill>
                  <a:srgbClr val="A0AEC0"/>
                </a:solidFill>
                <a:latin typeface="MiSans" pitchFamily="34" charset="0"/>
                <a:ea typeface="MiSans" pitchFamily="34" charset="-122"/>
                <a:cs typeface="MiSans" pitchFamily="34" charset="-120"/>
              </a:rPr>
              <a:t>，各个层次之间通过清晰的接口进行通信，允许独立的技术演进和优化。</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23333" y="423333"/>
            <a:ext cx="15663333" cy="508000"/>
          </a:xfrm>
          <a:prstGeom prst="rect">
            <a:avLst/>
          </a:prstGeom>
          <a:noFill/>
          <a:ln/>
        </p:spPr>
        <p:txBody>
          <a:bodyPr wrap="square" lIns="0" tIns="0" rIns="0" bIns="0" rtlCol="0" anchor="ctr"/>
          <a:lstStyle/>
          <a:p>
            <a:pPr>
              <a:lnSpc>
                <a:spcPct val="80000"/>
              </a:lnSpc>
            </a:pPr>
            <a:r>
              <a:rPr lang="en-US" sz="4000" b="1" dirty="0">
                <a:solidFill>
                  <a:srgbClr val="E2E8F0"/>
                </a:solidFill>
                <a:latin typeface="Noto Sans SC" pitchFamily="34" charset="0"/>
                <a:ea typeface="Noto Sans SC" pitchFamily="34" charset="-122"/>
                <a:cs typeface="Noto Sans SC" pitchFamily="34" charset="-120"/>
              </a:rPr>
              <a:t>Hive SQL完整执行流程</a:t>
            </a:r>
            <a:endParaRPr lang="en-US" sz="1600" dirty="0"/>
          </a:p>
        </p:txBody>
      </p:sp>
      <p:sp>
        <p:nvSpPr>
          <p:cNvPr id="3" name="Shape 1"/>
          <p:cNvSpPr/>
          <p:nvPr/>
        </p:nvSpPr>
        <p:spPr>
          <a:xfrm>
            <a:off x="423333" y="1058333"/>
            <a:ext cx="1185333" cy="42333"/>
          </a:xfrm>
          <a:custGeom>
            <a:avLst/>
            <a:gdLst/>
            <a:ahLst/>
            <a:cxnLst/>
            <a:rect l="l" t="t" r="r" b="b"/>
            <a:pathLst>
              <a:path w="1185333" h="42333">
                <a:moveTo>
                  <a:pt x="0" y="0"/>
                </a:moveTo>
                <a:lnTo>
                  <a:pt x="1185333" y="0"/>
                </a:lnTo>
                <a:lnTo>
                  <a:pt x="1185333" y="42333"/>
                </a:lnTo>
                <a:lnTo>
                  <a:pt x="0" y="42333"/>
                </a:lnTo>
                <a:lnTo>
                  <a:pt x="0" y="0"/>
                </a:lnTo>
                <a:close/>
              </a:path>
            </a:pathLst>
          </a:custGeom>
          <a:solidFill>
            <a:srgbClr val="D69E2E"/>
          </a:solidFill>
          <a:ln/>
        </p:spPr>
        <p:txBody>
          <a:bodyPr/>
          <a:lstStyle/>
          <a:p>
            <a:endParaRPr lang="zh-CN" altLang="en-US"/>
          </a:p>
        </p:txBody>
      </p:sp>
      <p:sp>
        <p:nvSpPr>
          <p:cNvPr id="4" name="Text 2"/>
          <p:cNvSpPr/>
          <p:nvPr/>
        </p:nvSpPr>
        <p:spPr>
          <a:xfrm>
            <a:off x="423333" y="1439333"/>
            <a:ext cx="15504583" cy="306917"/>
          </a:xfrm>
          <a:prstGeom prst="rect">
            <a:avLst/>
          </a:prstGeom>
          <a:noFill/>
          <a:ln/>
        </p:spPr>
        <p:txBody>
          <a:bodyPr wrap="square" lIns="0" tIns="0" rIns="0" bIns="0" rtlCol="0" anchor="ctr"/>
          <a:lstStyle/>
          <a:p>
            <a:pPr>
              <a:lnSpc>
                <a:spcPct val="140000"/>
              </a:lnSpc>
            </a:pPr>
            <a:r>
              <a:rPr lang="en-US" sz="1500" dirty="0">
                <a:solidFill>
                  <a:srgbClr val="A0AEC0"/>
                </a:solidFill>
                <a:latin typeface="MiSans" pitchFamily="34" charset="0"/>
                <a:ea typeface="MiSans" pitchFamily="34" charset="-122"/>
                <a:cs typeface="MiSans" pitchFamily="34" charset="-120"/>
              </a:rPr>
              <a:t>为了深入理解Hive的工作原理，我们需要从系统层面分析一个SQL查询的完整执行过程。</a:t>
            </a:r>
            <a:r>
              <a:rPr lang="en-US" sz="1500" b="1" dirty="0">
                <a:solidFill>
                  <a:srgbClr val="E2E8F0"/>
                </a:solidFill>
                <a:latin typeface="MiSans" pitchFamily="34" charset="0"/>
                <a:ea typeface="MiSans" pitchFamily="34" charset="-122"/>
                <a:cs typeface="MiSans" pitchFamily="34" charset="-120"/>
              </a:rPr>
              <a:t>Hive的执行流程体现了其分层架构中各组件之间的协同工作机制</a:t>
            </a:r>
            <a:r>
              <a:rPr lang="en-US" sz="1500" dirty="0">
                <a:solidFill>
                  <a:srgbClr val="A0AEC0"/>
                </a:solidFill>
                <a:latin typeface="MiSans" pitchFamily="34" charset="0"/>
                <a:ea typeface="MiSans" pitchFamily="34" charset="-122"/>
                <a:cs typeface="MiSans" pitchFamily="34" charset="-120"/>
              </a:rPr>
              <a:t>。</a:t>
            </a:r>
            <a:endParaRPr lang="en-US" sz="1600" dirty="0"/>
          </a:p>
        </p:txBody>
      </p:sp>
      <p:sp>
        <p:nvSpPr>
          <p:cNvPr id="5" name="Shape 3"/>
          <p:cNvSpPr/>
          <p:nvPr/>
        </p:nvSpPr>
        <p:spPr>
          <a:xfrm>
            <a:off x="423333" y="2087563"/>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D69E2E"/>
          </a:solidFill>
          <a:ln/>
        </p:spPr>
        <p:txBody>
          <a:bodyPr/>
          <a:lstStyle/>
          <a:p>
            <a:endParaRPr lang="zh-CN" altLang="en-US"/>
          </a:p>
        </p:txBody>
      </p:sp>
      <p:sp>
        <p:nvSpPr>
          <p:cNvPr id="6" name="Text 4"/>
          <p:cNvSpPr/>
          <p:nvPr/>
        </p:nvSpPr>
        <p:spPr>
          <a:xfrm>
            <a:off x="635000" y="2193396"/>
            <a:ext cx="190500" cy="296333"/>
          </a:xfrm>
          <a:prstGeom prst="rect">
            <a:avLst/>
          </a:prstGeom>
          <a:noFill/>
          <a:ln/>
        </p:spPr>
        <p:txBody>
          <a:bodyPr wrap="square" lIns="0" tIns="0" rIns="0" bIns="0" rtlCol="0" anchor="ctr"/>
          <a:lstStyle/>
          <a:p>
            <a:pPr>
              <a:lnSpc>
                <a:spcPct val="120000"/>
              </a:lnSpc>
            </a:pPr>
            <a:r>
              <a:rPr lang="en-US" sz="1667" b="1" dirty="0">
                <a:solidFill>
                  <a:srgbClr val="1A202C"/>
                </a:solidFill>
                <a:latin typeface="Liter" pitchFamily="34" charset="0"/>
                <a:ea typeface="Liter" pitchFamily="34" charset="-122"/>
                <a:cs typeface="Liter" pitchFamily="34" charset="-120"/>
              </a:rPr>
              <a:t>1</a:t>
            </a:r>
            <a:endParaRPr lang="en-US" sz="1600" dirty="0"/>
          </a:p>
        </p:txBody>
      </p:sp>
      <p:sp>
        <p:nvSpPr>
          <p:cNvPr id="7" name="Shape 5"/>
          <p:cNvSpPr/>
          <p:nvPr/>
        </p:nvSpPr>
        <p:spPr>
          <a:xfrm>
            <a:off x="1121833" y="2087563"/>
            <a:ext cx="42333" cy="762000"/>
          </a:xfrm>
          <a:custGeom>
            <a:avLst/>
            <a:gdLst/>
            <a:ahLst/>
            <a:cxnLst/>
            <a:rect l="l" t="t" r="r" b="b"/>
            <a:pathLst>
              <a:path w="42333" h="762000">
                <a:moveTo>
                  <a:pt x="0" y="0"/>
                </a:moveTo>
                <a:lnTo>
                  <a:pt x="42333" y="0"/>
                </a:lnTo>
                <a:lnTo>
                  <a:pt x="42333" y="762000"/>
                </a:lnTo>
                <a:lnTo>
                  <a:pt x="0" y="762000"/>
                </a:lnTo>
                <a:lnTo>
                  <a:pt x="0" y="0"/>
                </a:lnTo>
                <a:close/>
              </a:path>
            </a:pathLst>
          </a:custGeom>
          <a:solidFill>
            <a:srgbClr val="D69E2E"/>
          </a:solidFill>
          <a:ln/>
        </p:spPr>
        <p:txBody>
          <a:bodyPr/>
          <a:lstStyle/>
          <a:p>
            <a:endParaRPr lang="zh-CN" altLang="en-US"/>
          </a:p>
        </p:txBody>
      </p:sp>
      <p:sp>
        <p:nvSpPr>
          <p:cNvPr id="8" name="Text 6"/>
          <p:cNvSpPr/>
          <p:nvPr/>
        </p:nvSpPr>
        <p:spPr>
          <a:xfrm>
            <a:off x="1312333" y="2172229"/>
            <a:ext cx="9006417" cy="296333"/>
          </a:xfrm>
          <a:prstGeom prst="rect">
            <a:avLst/>
          </a:prstGeom>
          <a:noFill/>
          <a:ln/>
        </p:spPr>
        <p:txBody>
          <a:bodyPr wrap="square" lIns="0" tIns="0" rIns="0" bIns="0" rtlCol="0" anchor="ctr"/>
          <a:lstStyle/>
          <a:p>
            <a:pPr>
              <a:lnSpc>
                <a:spcPct val="130000"/>
              </a:lnSpc>
            </a:pPr>
            <a:r>
              <a:rPr lang="en-US" sz="1500" b="1" dirty="0">
                <a:solidFill>
                  <a:srgbClr val="E2E8F0"/>
                </a:solidFill>
                <a:latin typeface="MiSans" pitchFamily="34" charset="0"/>
                <a:ea typeface="MiSans" pitchFamily="34" charset="-122"/>
                <a:cs typeface="MiSans" pitchFamily="34" charset="-120"/>
              </a:rPr>
              <a:t>客户端提交SQL查询</a:t>
            </a:r>
            <a:endParaRPr lang="en-US" sz="1600" dirty="0"/>
          </a:p>
        </p:txBody>
      </p:sp>
      <p:sp>
        <p:nvSpPr>
          <p:cNvPr id="9" name="Text 7"/>
          <p:cNvSpPr/>
          <p:nvPr/>
        </p:nvSpPr>
        <p:spPr>
          <a:xfrm>
            <a:off x="1312333" y="2510896"/>
            <a:ext cx="8995833" cy="254000"/>
          </a:xfrm>
          <a:prstGeom prst="rect">
            <a:avLst/>
          </a:prstGeom>
          <a:noFill/>
          <a:ln/>
        </p:spPr>
        <p:txBody>
          <a:bodyPr wrap="square" lIns="0" tIns="0" rIns="0" bIns="0" rtlCol="0" anchor="ctr"/>
          <a:lstStyle/>
          <a:p>
            <a:pPr>
              <a:lnSpc>
                <a:spcPct val="130000"/>
              </a:lnSpc>
            </a:pPr>
            <a:r>
              <a:rPr lang="en-US" sz="1333" dirty="0">
                <a:solidFill>
                  <a:srgbClr val="A0AEC0"/>
                </a:solidFill>
                <a:latin typeface="MiSans" pitchFamily="34" charset="0"/>
                <a:ea typeface="MiSans" pitchFamily="34" charset="-122"/>
                <a:cs typeface="MiSans" pitchFamily="34" charset="-120"/>
              </a:rPr>
              <a:t>通过CLI、Beeline、JDBC等接口提交查询，查询发送到Hive Server 2 (HS2)</a:t>
            </a:r>
            <a:endParaRPr lang="en-US" sz="1600" dirty="0"/>
          </a:p>
        </p:txBody>
      </p:sp>
      <p:sp>
        <p:nvSpPr>
          <p:cNvPr id="10" name="Shape 8"/>
          <p:cNvSpPr/>
          <p:nvPr/>
        </p:nvSpPr>
        <p:spPr>
          <a:xfrm>
            <a:off x="423333" y="3018896"/>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D69E2E"/>
          </a:solidFill>
          <a:ln/>
        </p:spPr>
        <p:txBody>
          <a:bodyPr/>
          <a:lstStyle/>
          <a:p>
            <a:endParaRPr lang="zh-CN" altLang="en-US"/>
          </a:p>
        </p:txBody>
      </p:sp>
      <p:sp>
        <p:nvSpPr>
          <p:cNvPr id="11" name="Text 9"/>
          <p:cNvSpPr/>
          <p:nvPr/>
        </p:nvSpPr>
        <p:spPr>
          <a:xfrm>
            <a:off x="615818" y="3124729"/>
            <a:ext cx="232833" cy="296333"/>
          </a:xfrm>
          <a:prstGeom prst="rect">
            <a:avLst/>
          </a:prstGeom>
          <a:noFill/>
          <a:ln/>
        </p:spPr>
        <p:txBody>
          <a:bodyPr wrap="square" lIns="0" tIns="0" rIns="0" bIns="0" rtlCol="0" anchor="ctr"/>
          <a:lstStyle/>
          <a:p>
            <a:pPr>
              <a:lnSpc>
                <a:spcPct val="120000"/>
              </a:lnSpc>
            </a:pPr>
            <a:r>
              <a:rPr lang="en-US" sz="1667" b="1" dirty="0">
                <a:solidFill>
                  <a:srgbClr val="1A202C"/>
                </a:solidFill>
                <a:latin typeface="Liter" pitchFamily="34" charset="0"/>
                <a:ea typeface="Liter" pitchFamily="34" charset="-122"/>
                <a:cs typeface="Liter" pitchFamily="34" charset="-120"/>
              </a:rPr>
              <a:t>2</a:t>
            </a:r>
            <a:endParaRPr lang="en-US" sz="1600" dirty="0"/>
          </a:p>
        </p:txBody>
      </p:sp>
      <p:sp>
        <p:nvSpPr>
          <p:cNvPr id="12" name="Shape 10"/>
          <p:cNvSpPr/>
          <p:nvPr/>
        </p:nvSpPr>
        <p:spPr>
          <a:xfrm>
            <a:off x="1121833" y="3018896"/>
            <a:ext cx="42333" cy="762000"/>
          </a:xfrm>
          <a:custGeom>
            <a:avLst/>
            <a:gdLst/>
            <a:ahLst/>
            <a:cxnLst/>
            <a:rect l="l" t="t" r="r" b="b"/>
            <a:pathLst>
              <a:path w="42333" h="762000">
                <a:moveTo>
                  <a:pt x="0" y="0"/>
                </a:moveTo>
                <a:lnTo>
                  <a:pt x="42333" y="0"/>
                </a:lnTo>
                <a:lnTo>
                  <a:pt x="42333" y="762000"/>
                </a:lnTo>
                <a:lnTo>
                  <a:pt x="0" y="762000"/>
                </a:lnTo>
                <a:lnTo>
                  <a:pt x="0" y="0"/>
                </a:lnTo>
                <a:close/>
              </a:path>
            </a:pathLst>
          </a:custGeom>
          <a:solidFill>
            <a:srgbClr val="D69E2E"/>
          </a:solidFill>
          <a:ln/>
        </p:spPr>
        <p:txBody>
          <a:bodyPr/>
          <a:lstStyle/>
          <a:p>
            <a:endParaRPr lang="zh-CN" altLang="en-US"/>
          </a:p>
        </p:txBody>
      </p:sp>
      <p:sp>
        <p:nvSpPr>
          <p:cNvPr id="13" name="Text 11"/>
          <p:cNvSpPr/>
          <p:nvPr/>
        </p:nvSpPr>
        <p:spPr>
          <a:xfrm>
            <a:off x="1312333" y="3103563"/>
            <a:ext cx="9006417" cy="296333"/>
          </a:xfrm>
          <a:prstGeom prst="rect">
            <a:avLst/>
          </a:prstGeom>
          <a:noFill/>
          <a:ln/>
        </p:spPr>
        <p:txBody>
          <a:bodyPr wrap="square" lIns="0" tIns="0" rIns="0" bIns="0" rtlCol="0" anchor="ctr"/>
          <a:lstStyle/>
          <a:p>
            <a:pPr>
              <a:lnSpc>
                <a:spcPct val="130000"/>
              </a:lnSpc>
            </a:pPr>
            <a:r>
              <a:rPr lang="en-US" sz="1500" b="1" dirty="0">
                <a:solidFill>
                  <a:srgbClr val="E2E8F0"/>
                </a:solidFill>
                <a:latin typeface="MiSans" pitchFamily="34" charset="0"/>
                <a:ea typeface="MiSans" pitchFamily="34" charset="-122"/>
                <a:cs typeface="MiSans" pitchFamily="34" charset="-120"/>
              </a:rPr>
              <a:t>HS2接收并预处理</a:t>
            </a:r>
            <a:endParaRPr lang="en-US" sz="1600" dirty="0"/>
          </a:p>
        </p:txBody>
      </p:sp>
      <p:sp>
        <p:nvSpPr>
          <p:cNvPr id="14" name="Text 12"/>
          <p:cNvSpPr/>
          <p:nvPr/>
        </p:nvSpPr>
        <p:spPr>
          <a:xfrm>
            <a:off x="1312333" y="3442229"/>
            <a:ext cx="8995833" cy="254000"/>
          </a:xfrm>
          <a:prstGeom prst="rect">
            <a:avLst/>
          </a:prstGeom>
          <a:noFill/>
          <a:ln/>
        </p:spPr>
        <p:txBody>
          <a:bodyPr wrap="square" lIns="0" tIns="0" rIns="0" bIns="0" rtlCol="0" anchor="ctr"/>
          <a:lstStyle/>
          <a:p>
            <a:pPr>
              <a:lnSpc>
                <a:spcPct val="130000"/>
              </a:lnSpc>
            </a:pPr>
            <a:r>
              <a:rPr lang="en-US" sz="1333" dirty="0">
                <a:solidFill>
                  <a:srgbClr val="A0AEC0"/>
                </a:solidFill>
                <a:latin typeface="MiSans" pitchFamily="34" charset="0"/>
                <a:ea typeface="MiSans" pitchFamily="34" charset="-122"/>
                <a:cs typeface="MiSans" pitchFamily="34" charset="-120"/>
              </a:rPr>
              <a:t>建立会话和操作上下文，验证用户权限和连接有效性，将查询转发给Driver组件</a:t>
            </a:r>
            <a:endParaRPr lang="en-US" sz="1600" dirty="0"/>
          </a:p>
        </p:txBody>
      </p:sp>
      <p:sp>
        <p:nvSpPr>
          <p:cNvPr id="15" name="Shape 13"/>
          <p:cNvSpPr/>
          <p:nvPr/>
        </p:nvSpPr>
        <p:spPr>
          <a:xfrm>
            <a:off x="423333" y="3950229"/>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D69E2E"/>
          </a:solidFill>
          <a:ln/>
        </p:spPr>
        <p:txBody>
          <a:bodyPr/>
          <a:lstStyle/>
          <a:p>
            <a:endParaRPr lang="zh-CN" altLang="en-US"/>
          </a:p>
        </p:txBody>
      </p:sp>
      <p:sp>
        <p:nvSpPr>
          <p:cNvPr id="16" name="Text 14"/>
          <p:cNvSpPr/>
          <p:nvPr/>
        </p:nvSpPr>
        <p:spPr>
          <a:xfrm>
            <a:off x="614826" y="4056063"/>
            <a:ext cx="232833" cy="296333"/>
          </a:xfrm>
          <a:prstGeom prst="rect">
            <a:avLst/>
          </a:prstGeom>
          <a:noFill/>
          <a:ln/>
        </p:spPr>
        <p:txBody>
          <a:bodyPr wrap="square" lIns="0" tIns="0" rIns="0" bIns="0" rtlCol="0" anchor="ctr"/>
          <a:lstStyle/>
          <a:p>
            <a:pPr>
              <a:lnSpc>
                <a:spcPct val="120000"/>
              </a:lnSpc>
            </a:pPr>
            <a:r>
              <a:rPr lang="en-US" sz="1667" b="1" dirty="0">
                <a:solidFill>
                  <a:srgbClr val="1A202C"/>
                </a:solidFill>
                <a:latin typeface="Liter" pitchFamily="34" charset="0"/>
                <a:ea typeface="Liter" pitchFamily="34" charset="-122"/>
                <a:cs typeface="Liter" pitchFamily="34" charset="-120"/>
              </a:rPr>
              <a:t>3</a:t>
            </a:r>
            <a:endParaRPr lang="en-US" sz="1600" dirty="0"/>
          </a:p>
        </p:txBody>
      </p:sp>
      <p:sp>
        <p:nvSpPr>
          <p:cNvPr id="17" name="Shape 15"/>
          <p:cNvSpPr/>
          <p:nvPr/>
        </p:nvSpPr>
        <p:spPr>
          <a:xfrm>
            <a:off x="1121833" y="3950229"/>
            <a:ext cx="42333" cy="762000"/>
          </a:xfrm>
          <a:custGeom>
            <a:avLst/>
            <a:gdLst/>
            <a:ahLst/>
            <a:cxnLst/>
            <a:rect l="l" t="t" r="r" b="b"/>
            <a:pathLst>
              <a:path w="42333" h="762000">
                <a:moveTo>
                  <a:pt x="0" y="0"/>
                </a:moveTo>
                <a:lnTo>
                  <a:pt x="42333" y="0"/>
                </a:lnTo>
                <a:lnTo>
                  <a:pt x="42333" y="762000"/>
                </a:lnTo>
                <a:lnTo>
                  <a:pt x="0" y="762000"/>
                </a:lnTo>
                <a:lnTo>
                  <a:pt x="0" y="0"/>
                </a:lnTo>
                <a:close/>
              </a:path>
            </a:pathLst>
          </a:custGeom>
          <a:solidFill>
            <a:srgbClr val="D69E2E"/>
          </a:solidFill>
          <a:ln/>
        </p:spPr>
        <p:txBody>
          <a:bodyPr/>
          <a:lstStyle/>
          <a:p>
            <a:endParaRPr lang="zh-CN" altLang="en-US"/>
          </a:p>
        </p:txBody>
      </p:sp>
      <p:sp>
        <p:nvSpPr>
          <p:cNvPr id="18" name="Text 16"/>
          <p:cNvSpPr/>
          <p:nvPr/>
        </p:nvSpPr>
        <p:spPr>
          <a:xfrm>
            <a:off x="1312333" y="4034896"/>
            <a:ext cx="9006417" cy="296333"/>
          </a:xfrm>
          <a:prstGeom prst="rect">
            <a:avLst/>
          </a:prstGeom>
          <a:noFill/>
          <a:ln/>
        </p:spPr>
        <p:txBody>
          <a:bodyPr wrap="square" lIns="0" tIns="0" rIns="0" bIns="0" rtlCol="0" anchor="ctr"/>
          <a:lstStyle/>
          <a:p>
            <a:pPr>
              <a:lnSpc>
                <a:spcPct val="130000"/>
              </a:lnSpc>
            </a:pPr>
            <a:r>
              <a:rPr lang="en-US" sz="1500" b="1" dirty="0">
                <a:solidFill>
                  <a:srgbClr val="E2E8F0"/>
                </a:solidFill>
                <a:latin typeface="MiSans" pitchFamily="34" charset="0"/>
                <a:ea typeface="MiSans" pitchFamily="34" charset="-122"/>
                <a:cs typeface="MiSans" pitchFamily="34" charset="-120"/>
              </a:rPr>
              <a:t>Driver协调执行流程</a:t>
            </a:r>
            <a:endParaRPr lang="en-US" sz="1600" dirty="0"/>
          </a:p>
        </p:txBody>
      </p:sp>
      <p:sp>
        <p:nvSpPr>
          <p:cNvPr id="19" name="Text 17"/>
          <p:cNvSpPr/>
          <p:nvPr/>
        </p:nvSpPr>
        <p:spPr>
          <a:xfrm>
            <a:off x="1312333" y="4373563"/>
            <a:ext cx="8995833" cy="254000"/>
          </a:xfrm>
          <a:prstGeom prst="rect">
            <a:avLst/>
          </a:prstGeom>
          <a:noFill/>
          <a:ln/>
        </p:spPr>
        <p:txBody>
          <a:bodyPr wrap="square" lIns="0" tIns="0" rIns="0" bIns="0" rtlCol="0" anchor="ctr"/>
          <a:lstStyle/>
          <a:p>
            <a:pPr>
              <a:lnSpc>
                <a:spcPct val="130000"/>
              </a:lnSpc>
            </a:pPr>
            <a:r>
              <a:rPr lang="en-US" sz="1333" dirty="0">
                <a:solidFill>
                  <a:srgbClr val="A0AEC0"/>
                </a:solidFill>
                <a:latin typeface="MiSans" pitchFamily="34" charset="0"/>
                <a:ea typeface="MiSans" pitchFamily="34" charset="-122"/>
                <a:cs typeface="MiSans" pitchFamily="34" charset="-120"/>
              </a:rPr>
              <a:t>调用Compiler进行SQL编译，管理查询执行状态和生命周期，处理异常和重试机制</a:t>
            </a:r>
            <a:endParaRPr lang="en-US" sz="1600" dirty="0"/>
          </a:p>
        </p:txBody>
      </p:sp>
      <p:sp>
        <p:nvSpPr>
          <p:cNvPr id="20" name="Shape 18"/>
          <p:cNvSpPr/>
          <p:nvPr/>
        </p:nvSpPr>
        <p:spPr>
          <a:xfrm>
            <a:off x="423333" y="4881563"/>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D69E2E"/>
          </a:solidFill>
          <a:ln/>
        </p:spPr>
        <p:txBody>
          <a:bodyPr/>
          <a:lstStyle/>
          <a:p>
            <a:endParaRPr lang="zh-CN" altLang="en-US"/>
          </a:p>
        </p:txBody>
      </p:sp>
      <p:sp>
        <p:nvSpPr>
          <p:cNvPr id="21" name="Text 19"/>
          <p:cNvSpPr/>
          <p:nvPr/>
        </p:nvSpPr>
        <p:spPr>
          <a:xfrm>
            <a:off x="614991" y="4987396"/>
            <a:ext cx="232833" cy="296333"/>
          </a:xfrm>
          <a:prstGeom prst="rect">
            <a:avLst/>
          </a:prstGeom>
          <a:noFill/>
          <a:ln/>
        </p:spPr>
        <p:txBody>
          <a:bodyPr wrap="square" lIns="0" tIns="0" rIns="0" bIns="0" rtlCol="0" anchor="ctr"/>
          <a:lstStyle/>
          <a:p>
            <a:pPr>
              <a:lnSpc>
                <a:spcPct val="120000"/>
              </a:lnSpc>
            </a:pPr>
            <a:r>
              <a:rPr lang="en-US" sz="1667" b="1" dirty="0">
                <a:solidFill>
                  <a:srgbClr val="1A202C"/>
                </a:solidFill>
                <a:latin typeface="Liter" pitchFamily="34" charset="0"/>
                <a:ea typeface="Liter" pitchFamily="34" charset="-122"/>
                <a:cs typeface="Liter" pitchFamily="34" charset="-120"/>
              </a:rPr>
              <a:t>4</a:t>
            </a:r>
            <a:endParaRPr lang="en-US" sz="1600" dirty="0"/>
          </a:p>
        </p:txBody>
      </p:sp>
      <p:sp>
        <p:nvSpPr>
          <p:cNvPr id="22" name="Shape 20"/>
          <p:cNvSpPr/>
          <p:nvPr/>
        </p:nvSpPr>
        <p:spPr>
          <a:xfrm>
            <a:off x="1121833" y="4881563"/>
            <a:ext cx="42333" cy="762000"/>
          </a:xfrm>
          <a:custGeom>
            <a:avLst/>
            <a:gdLst/>
            <a:ahLst/>
            <a:cxnLst/>
            <a:rect l="l" t="t" r="r" b="b"/>
            <a:pathLst>
              <a:path w="42333" h="762000">
                <a:moveTo>
                  <a:pt x="0" y="0"/>
                </a:moveTo>
                <a:lnTo>
                  <a:pt x="42333" y="0"/>
                </a:lnTo>
                <a:lnTo>
                  <a:pt x="42333" y="762000"/>
                </a:lnTo>
                <a:lnTo>
                  <a:pt x="0" y="762000"/>
                </a:lnTo>
                <a:lnTo>
                  <a:pt x="0" y="0"/>
                </a:lnTo>
                <a:close/>
              </a:path>
            </a:pathLst>
          </a:custGeom>
          <a:solidFill>
            <a:srgbClr val="D69E2E"/>
          </a:solidFill>
          <a:ln/>
        </p:spPr>
        <p:txBody>
          <a:bodyPr/>
          <a:lstStyle/>
          <a:p>
            <a:endParaRPr lang="zh-CN" altLang="en-US"/>
          </a:p>
        </p:txBody>
      </p:sp>
      <p:sp>
        <p:nvSpPr>
          <p:cNvPr id="23" name="Text 21"/>
          <p:cNvSpPr/>
          <p:nvPr/>
        </p:nvSpPr>
        <p:spPr>
          <a:xfrm>
            <a:off x="1312333" y="4966229"/>
            <a:ext cx="9006417" cy="296333"/>
          </a:xfrm>
          <a:prstGeom prst="rect">
            <a:avLst/>
          </a:prstGeom>
          <a:noFill/>
          <a:ln/>
        </p:spPr>
        <p:txBody>
          <a:bodyPr wrap="square" lIns="0" tIns="0" rIns="0" bIns="0" rtlCol="0" anchor="ctr"/>
          <a:lstStyle/>
          <a:p>
            <a:pPr>
              <a:lnSpc>
                <a:spcPct val="130000"/>
              </a:lnSpc>
            </a:pPr>
            <a:r>
              <a:rPr lang="en-US" sz="1500" b="1" dirty="0">
                <a:solidFill>
                  <a:srgbClr val="E2E8F0"/>
                </a:solidFill>
                <a:latin typeface="MiSans" pitchFamily="34" charset="0"/>
                <a:ea typeface="MiSans" pitchFamily="34" charset="-122"/>
                <a:cs typeface="MiSans" pitchFamily="34" charset="-120"/>
              </a:rPr>
              <a:t>Compiler编译SQL查询</a:t>
            </a:r>
            <a:endParaRPr lang="en-US" sz="1600" dirty="0"/>
          </a:p>
        </p:txBody>
      </p:sp>
      <p:sp>
        <p:nvSpPr>
          <p:cNvPr id="24" name="Text 22"/>
          <p:cNvSpPr/>
          <p:nvPr/>
        </p:nvSpPr>
        <p:spPr>
          <a:xfrm>
            <a:off x="1312333" y="5304896"/>
            <a:ext cx="8995833" cy="254000"/>
          </a:xfrm>
          <a:prstGeom prst="rect">
            <a:avLst/>
          </a:prstGeom>
          <a:noFill/>
          <a:ln/>
        </p:spPr>
        <p:txBody>
          <a:bodyPr wrap="square" lIns="0" tIns="0" rIns="0" bIns="0" rtlCol="0" anchor="ctr"/>
          <a:lstStyle/>
          <a:p>
            <a:pPr>
              <a:lnSpc>
                <a:spcPct val="130000"/>
              </a:lnSpc>
            </a:pPr>
            <a:r>
              <a:rPr lang="en-US" sz="1333" dirty="0">
                <a:solidFill>
                  <a:srgbClr val="A0AEC0"/>
                </a:solidFill>
                <a:latin typeface="MiSans" pitchFamily="34" charset="0"/>
                <a:ea typeface="MiSans" pitchFamily="34" charset="-122"/>
                <a:cs typeface="MiSans" pitchFamily="34" charset="-120"/>
              </a:rPr>
              <a:t>语法解析(转换为AST)、语义分析(验证元数据)、逻辑优化、物理计划生成</a:t>
            </a:r>
            <a:endParaRPr lang="en-US" sz="1600" dirty="0"/>
          </a:p>
        </p:txBody>
      </p:sp>
      <p:sp>
        <p:nvSpPr>
          <p:cNvPr id="25" name="Shape 23"/>
          <p:cNvSpPr/>
          <p:nvPr/>
        </p:nvSpPr>
        <p:spPr>
          <a:xfrm>
            <a:off x="423333" y="5812896"/>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D69E2E"/>
          </a:solidFill>
          <a:ln/>
        </p:spPr>
        <p:txBody>
          <a:bodyPr/>
          <a:lstStyle/>
          <a:p>
            <a:endParaRPr lang="zh-CN" altLang="en-US"/>
          </a:p>
        </p:txBody>
      </p:sp>
      <p:sp>
        <p:nvSpPr>
          <p:cNvPr id="26" name="Text 24"/>
          <p:cNvSpPr/>
          <p:nvPr/>
        </p:nvSpPr>
        <p:spPr>
          <a:xfrm>
            <a:off x="616314" y="5918729"/>
            <a:ext cx="232833" cy="296333"/>
          </a:xfrm>
          <a:prstGeom prst="rect">
            <a:avLst/>
          </a:prstGeom>
          <a:noFill/>
          <a:ln/>
        </p:spPr>
        <p:txBody>
          <a:bodyPr wrap="square" lIns="0" tIns="0" rIns="0" bIns="0" rtlCol="0" anchor="ctr"/>
          <a:lstStyle/>
          <a:p>
            <a:pPr>
              <a:lnSpc>
                <a:spcPct val="120000"/>
              </a:lnSpc>
            </a:pPr>
            <a:r>
              <a:rPr lang="en-US" sz="1667" b="1" dirty="0">
                <a:solidFill>
                  <a:srgbClr val="1A202C"/>
                </a:solidFill>
                <a:latin typeface="Liter" pitchFamily="34" charset="0"/>
                <a:ea typeface="Liter" pitchFamily="34" charset="-122"/>
                <a:cs typeface="Liter" pitchFamily="34" charset="-120"/>
              </a:rPr>
              <a:t>5</a:t>
            </a:r>
            <a:endParaRPr lang="en-US" sz="1600" dirty="0"/>
          </a:p>
        </p:txBody>
      </p:sp>
      <p:sp>
        <p:nvSpPr>
          <p:cNvPr id="27" name="Shape 25"/>
          <p:cNvSpPr/>
          <p:nvPr/>
        </p:nvSpPr>
        <p:spPr>
          <a:xfrm>
            <a:off x="1121833" y="5812896"/>
            <a:ext cx="42333" cy="762000"/>
          </a:xfrm>
          <a:custGeom>
            <a:avLst/>
            <a:gdLst/>
            <a:ahLst/>
            <a:cxnLst/>
            <a:rect l="l" t="t" r="r" b="b"/>
            <a:pathLst>
              <a:path w="42333" h="762000">
                <a:moveTo>
                  <a:pt x="0" y="0"/>
                </a:moveTo>
                <a:lnTo>
                  <a:pt x="42333" y="0"/>
                </a:lnTo>
                <a:lnTo>
                  <a:pt x="42333" y="762000"/>
                </a:lnTo>
                <a:lnTo>
                  <a:pt x="0" y="762000"/>
                </a:lnTo>
                <a:lnTo>
                  <a:pt x="0" y="0"/>
                </a:lnTo>
                <a:close/>
              </a:path>
            </a:pathLst>
          </a:custGeom>
          <a:solidFill>
            <a:srgbClr val="D69E2E"/>
          </a:solidFill>
          <a:ln/>
        </p:spPr>
        <p:txBody>
          <a:bodyPr/>
          <a:lstStyle/>
          <a:p>
            <a:endParaRPr lang="zh-CN" altLang="en-US"/>
          </a:p>
        </p:txBody>
      </p:sp>
      <p:sp>
        <p:nvSpPr>
          <p:cNvPr id="28" name="Text 26"/>
          <p:cNvSpPr/>
          <p:nvPr/>
        </p:nvSpPr>
        <p:spPr>
          <a:xfrm>
            <a:off x="1312333" y="5897563"/>
            <a:ext cx="9006417" cy="296333"/>
          </a:xfrm>
          <a:prstGeom prst="rect">
            <a:avLst/>
          </a:prstGeom>
          <a:noFill/>
          <a:ln/>
        </p:spPr>
        <p:txBody>
          <a:bodyPr wrap="square" lIns="0" tIns="0" rIns="0" bIns="0" rtlCol="0" anchor="ctr"/>
          <a:lstStyle/>
          <a:p>
            <a:pPr>
              <a:lnSpc>
                <a:spcPct val="130000"/>
              </a:lnSpc>
            </a:pPr>
            <a:r>
              <a:rPr lang="en-US" sz="1500" b="1" dirty="0">
                <a:solidFill>
                  <a:srgbClr val="E2E8F0"/>
                </a:solidFill>
                <a:latin typeface="MiSans" pitchFamily="34" charset="0"/>
                <a:ea typeface="MiSans" pitchFamily="34" charset="-122"/>
                <a:cs typeface="MiSans" pitchFamily="34" charset="-120"/>
              </a:rPr>
              <a:t>元数据交互(与Metastore)</a:t>
            </a:r>
            <a:endParaRPr lang="en-US" sz="1600" dirty="0"/>
          </a:p>
        </p:txBody>
      </p:sp>
      <p:sp>
        <p:nvSpPr>
          <p:cNvPr id="29" name="Text 27"/>
          <p:cNvSpPr/>
          <p:nvPr/>
        </p:nvSpPr>
        <p:spPr>
          <a:xfrm>
            <a:off x="1312333" y="6236229"/>
            <a:ext cx="8995833" cy="254000"/>
          </a:xfrm>
          <a:prstGeom prst="rect">
            <a:avLst/>
          </a:prstGeom>
          <a:noFill/>
          <a:ln/>
        </p:spPr>
        <p:txBody>
          <a:bodyPr wrap="square" lIns="0" tIns="0" rIns="0" bIns="0" rtlCol="0" anchor="ctr"/>
          <a:lstStyle/>
          <a:p>
            <a:pPr>
              <a:lnSpc>
                <a:spcPct val="130000"/>
              </a:lnSpc>
            </a:pPr>
            <a:r>
              <a:rPr lang="en-US" sz="1333" dirty="0">
                <a:solidFill>
                  <a:srgbClr val="A0AEC0"/>
                </a:solidFill>
                <a:latin typeface="MiSans" pitchFamily="34" charset="0"/>
                <a:ea typeface="MiSans" pitchFamily="34" charset="-122"/>
                <a:cs typeface="MiSans" pitchFamily="34" charset="-120"/>
              </a:rPr>
              <a:t>获取表结构、分区信息、统计信息等元数据，验证表是否存在、用户是否有访问权限</a:t>
            </a:r>
            <a:endParaRPr lang="en-US" sz="1600" dirty="0"/>
          </a:p>
        </p:txBody>
      </p:sp>
      <p:sp>
        <p:nvSpPr>
          <p:cNvPr id="30" name="Shape 28"/>
          <p:cNvSpPr/>
          <p:nvPr/>
        </p:nvSpPr>
        <p:spPr>
          <a:xfrm>
            <a:off x="423333" y="6744229"/>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D69E2E"/>
          </a:solidFill>
          <a:ln/>
        </p:spPr>
        <p:txBody>
          <a:bodyPr/>
          <a:lstStyle/>
          <a:p>
            <a:endParaRPr lang="zh-CN" altLang="en-US"/>
          </a:p>
        </p:txBody>
      </p:sp>
      <p:sp>
        <p:nvSpPr>
          <p:cNvPr id="31" name="Text 29"/>
          <p:cNvSpPr/>
          <p:nvPr/>
        </p:nvSpPr>
        <p:spPr>
          <a:xfrm>
            <a:off x="613999" y="6850063"/>
            <a:ext cx="232833" cy="296333"/>
          </a:xfrm>
          <a:prstGeom prst="rect">
            <a:avLst/>
          </a:prstGeom>
          <a:noFill/>
          <a:ln/>
        </p:spPr>
        <p:txBody>
          <a:bodyPr wrap="square" lIns="0" tIns="0" rIns="0" bIns="0" rtlCol="0" anchor="ctr"/>
          <a:lstStyle/>
          <a:p>
            <a:pPr>
              <a:lnSpc>
                <a:spcPct val="120000"/>
              </a:lnSpc>
            </a:pPr>
            <a:r>
              <a:rPr lang="en-US" sz="1667" b="1" dirty="0">
                <a:solidFill>
                  <a:srgbClr val="1A202C"/>
                </a:solidFill>
                <a:latin typeface="Liter" pitchFamily="34" charset="0"/>
                <a:ea typeface="Liter" pitchFamily="34" charset="-122"/>
                <a:cs typeface="Liter" pitchFamily="34" charset="-120"/>
              </a:rPr>
              <a:t>6</a:t>
            </a:r>
            <a:endParaRPr lang="en-US" sz="1600" dirty="0"/>
          </a:p>
        </p:txBody>
      </p:sp>
      <p:sp>
        <p:nvSpPr>
          <p:cNvPr id="32" name="Shape 30"/>
          <p:cNvSpPr/>
          <p:nvPr/>
        </p:nvSpPr>
        <p:spPr>
          <a:xfrm>
            <a:off x="1121833" y="6744229"/>
            <a:ext cx="42333" cy="762000"/>
          </a:xfrm>
          <a:custGeom>
            <a:avLst/>
            <a:gdLst/>
            <a:ahLst/>
            <a:cxnLst/>
            <a:rect l="l" t="t" r="r" b="b"/>
            <a:pathLst>
              <a:path w="42333" h="762000">
                <a:moveTo>
                  <a:pt x="0" y="0"/>
                </a:moveTo>
                <a:lnTo>
                  <a:pt x="42333" y="0"/>
                </a:lnTo>
                <a:lnTo>
                  <a:pt x="42333" y="762000"/>
                </a:lnTo>
                <a:lnTo>
                  <a:pt x="0" y="762000"/>
                </a:lnTo>
                <a:lnTo>
                  <a:pt x="0" y="0"/>
                </a:lnTo>
                <a:close/>
              </a:path>
            </a:pathLst>
          </a:custGeom>
          <a:solidFill>
            <a:srgbClr val="D69E2E"/>
          </a:solidFill>
          <a:ln/>
        </p:spPr>
        <p:txBody>
          <a:bodyPr/>
          <a:lstStyle/>
          <a:p>
            <a:endParaRPr lang="zh-CN" altLang="en-US"/>
          </a:p>
        </p:txBody>
      </p:sp>
      <p:sp>
        <p:nvSpPr>
          <p:cNvPr id="33" name="Text 31"/>
          <p:cNvSpPr/>
          <p:nvPr/>
        </p:nvSpPr>
        <p:spPr>
          <a:xfrm>
            <a:off x="1312333" y="6828896"/>
            <a:ext cx="9006417" cy="296333"/>
          </a:xfrm>
          <a:prstGeom prst="rect">
            <a:avLst/>
          </a:prstGeom>
          <a:noFill/>
          <a:ln/>
        </p:spPr>
        <p:txBody>
          <a:bodyPr wrap="square" lIns="0" tIns="0" rIns="0" bIns="0" rtlCol="0" anchor="ctr"/>
          <a:lstStyle/>
          <a:p>
            <a:pPr>
              <a:lnSpc>
                <a:spcPct val="130000"/>
              </a:lnSpc>
            </a:pPr>
            <a:r>
              <a:rPr lang="en-US" sz="1500" b="1" dirty="0">
                <a:solidFill>
                  <a:srgbClr val="E2E8F0"/>
                </a:solidFill>
                <a:latin typeface="MiSans" pitchFamily="34" charset="0"/>
                <a:ea typeface="MiSans" pitchFamily="34" charset="-122"/>
                <a:cs typeface="MiSans" pitchFamily="34" charset="-120"/>
              </a:rPr>
              <a:t>优化器进行查询优化</a:t>
            </a:r>
            <a:endParaRPr lang="en-US" sz="1600" dirty="0"/>
          </a:p>
        </p:txBody>
      </p:sp>
      <p:sp>
        <p:nvSpPr>
          <p:cNvPr id="34" name="Text 32"/>
          <p:cNvSpPr/>
          <p:nvPr/>
        </p:nvSpPr>
        <p:spPr>
          <a:xfrm>
            <a:off x="1312333" y="7167563"/>
            <a:ext cx="8995833" cy="254000"/>
          </a:xfrm>
          <a:prstGeom prst="rect">
            <a:avLst/>
          </a:prstGeom>
          <a:noFill/>
          <a:ln/>
        </p:spPr>
        <p:txBody>
          <a:bodyPr wrap="square" lIns="0" tIns="0" rIns="0" bIns="0" rtlCol="0" anchor="ctr"/>
          <a:lstStyle/>
          <a:p>
            <a:pPr>
              <a:lnSpc>
                <a:spcPct val="130000"/>
              </a:lnSpc>
            </a:pPr>
            <a:r>
              <a:rPr lang="en-US" sz="1333" dirty="0">
                <a:solidFill>
                  <a:srgbClr val="A0AEC0"/>
                </a:solidFill>
                <a:latin typeface="MiSans" pitchFamily="34" charset="0"/>
                <a:ea typeface="MiSans" pitchFamily="34" charset="-122"/>
                <a:cs typeface="MiSans" pitchFamily="34" charset="-120"/>
              </a:rPr>
              <a:t>谓词下推、列裁剪、连接优化、分区裁剪等基于规则和成本的优化</a:t>
            </a:r>
            <a:endParaRPr lang="en-US" sz="1600" dirty="0"/>
          </a:p>
        </p:txBody>
      </p:sp>
      <p:sp>
        <p:nvSpPr>
          <p:cNvPr id="35" name="Shape 33"/>
          <p:cNvSpPr/>
          <p:nvPr/>
        </p:nvSpPr>
        <p:spPr>
          <a:xfrm>
            <a:off x="423333" y="7675562"/>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D69E2E"/>
          </a:solidFill>
          <a:ln/>
        </p:spPr>
        <p:txBody>
          <a:bodyPr/>
          <a:lstStyle/>
          <a:p>
            <a:endParaRPr lang="zh-CN" altLang="en-US"/>
          </a:p>
        </p:txBody>
      </p:sp>
      <p:sp>
        <p:nvSpPr>
          <p:cNvPr id="36" name="Text 34"/>
          <p:cNvSpPr/>
          <p:nvPr/>
        </p:nvSpPr>
        <p:spPr>
          <a:xfrm>
            <a:off x="623094" y="7781396"/>
            <a:ext cx="211667" cy="296333"/>
          </a:xfrm>
          <a:prstGeom prst="rect">
            <a:avLst/>
          </a:prstGeom>
          <a:noFill/>
          <a:ln/>
        </p:spPr>
        <p:txBody>
          <a:bodyPr wrap="square" lIns="0" tIns="0" rIns="0" bIns="0" rtlCol="0" anchor="ctr"/>
          <a:lstStyle/>
          <a:p>
            <a:pPr>
              <a:lnSpc>
                <a:spcPct val="120000"/>
              </a:lnSpc>
            </a:pPr>
            <a:r>
              <a:rPr lang="en-US" sz="1667" b="1" dirty="0">
                <a:solidFill>
                  <a:srgbClr val="1A202C"/>
                </a:solidFill>
                <a:latin typeface="Liter" pitchFamily="34" charset="0"/>
                <a:ea typeface="Liter" pitchFamily="34" charset="-122"/>
                <a:cs typeface="Liter" pitchFamily="34" charset="-120"/>
              </a:rPr>
              <a:t>7</a:t>
            </a:r>
            <a:endParaRPr lang="en-US" sz="1600" dirty="0"/>
          </a:p>
        </p:txBody>
      </p:sp>
      <p:sp>
        <p:nvSpPr>
          <p:cNvPr id="37" name="Shape 35"/>
          <p:cNvSpPr/>
          <p:nvPr/>
        </p:nvSpPr>
        <p:spPr>
          <a:xfrm>
            <a:off x="1121833" y="7675562"/>
            <a:ext cx="42333" cy="762000"/>
          </a:xfrm>
          <a:custGeom>
            <a:avLst/>
            <a:gdLst/>
            <a:ahLst/>
            <a:cxnLst/>
            <a:rect l="l" t="t" r="r" b="b"/>
            <a:pathLst>
              <a:path w="42333" h="762000">
                <a:moveTo>
                  <a:pt x="0" y="0"/>
                </a:moveTo>
                <a:lnTo>
                  <a:pt x="42333" y="0"/>
                </a:lnTo>
                <a:lnTo>
                  <a:pt x="42333" y="762000"/>
                </a:lnTo>
                <a:lnTo>
                  <a:pt x="0" y="762000"/>
                </a:lnTo>
                <a:lnTo>
                  <a:pt x="0" y="0"/>
                </a:lnTo>
                <a:close/>
              </a:path>
            </a:pathLst>
          </a:custGeom>
          <a:solidFill>
            <a:srgbClr val="D69E2E"/>
          </a:solidFill>
          <a:ln/>
        </p:spPr>
        <p:txBody>
          <a:bodyPr/>
          <a:lstStyle/>
          <a:p>
            <a:endParaRPr lang="zh-CN" altLang="en-US"/>
          </a:p>
        </p:txBody>
      </p:sp>
      <p:sp>
        <p:nvSpPr>
          <p:cNvPr id="38" name="Text 36"/>
          <p:cNvSpPr/>
          <p:nvPr/>
        </p:nvSpPr>
        <p:spPr>
          <a:xfrm>
            <a:off x="1312333" y="7760229"/>
            <a:ext cx="9006417" cy="296333"/>
          </a:xfrm>
          <a:prstGeom prst="rect">
            <a:avLst/>
          </a:prstGeom>
          <a:noFill/>
          <a:ln/>
        </p:spPr>
        <p:txBody>
          <a:bodyPr wrap="square" lIns="0" tIns="0" rIns="0" bIns="0" rtlCol="0" anchor="ctr"/>
          <a:lstStyle/>
          <a:p>
            <a:pPr>
              <a:lnSpc>
                <a:spcPct val="130000"/>
              </a:lnSpc>
            </a:pPr>
            <a:r>
              <a:rPr lang="en-US" sz="1500" b="1" dirty="0">
                <a:solidFill>
                  <a:srgbClr val="E2E8F0"/>
                </a:solidFill>
                <a:latin typeface="MiSans" pitchFamily="34" charset="0"/>
                <a:ea typeface="MiSans" pitchFamily="34" charset="-122"/>
                <a:cs typeface="MiSans" pitchFamily="34" charset="-120"/>
              </a:rPr>
              <a:t>执行引擎执行物理计划</a:t>
            </a:r>
            <a:endParaRPr lang="en-US" sz="1600" dirty="0"/>
          </a:p>
        </p:txBody>
      </p:sp>
      <p:sp>
        <p:nvSpPr>
          <p:cNvPr id="39" name="Text 37"/>
          <p:cNvSpPr/>
          <p:nvPr/>
        </p:nvSpPr>
        <p:spPr>
          <a:xfrm>
            <a:off x="1312333" y="8098896"/>
            <a:ext cx="8995833" cy="254000"/>
          </a:xfrm>
          <a:prstGeom prst="rect">
            <a:avLst/>
          </a:prstGeom>
          <a:noFill/>
          <a:ln/>
        </p:spPr>
        <p:txBody>
          <a:bodyPr wrap="square" lIns="0" tIns="0" rIns="0" bIns="0" rtlCol="0" anchor="ctr"/>
          <a:lstStyle/>
          <a:p>
            <a:pPr>
              <a:lnSpc>
                <a:spcPct val="130000"/>
              </a:lnSpc>
            </a:pPr>
            <a:r>
              <a:rPr lang="en-US" sz="1333" dirty="0">
                <a:solidFill>
                  <a:srgbClr val="A0AEC0"/>
                </a:solidFill>
                <a:latin typeface="MiSans" pitchFamily="34" charset="0"/>
                <a:ea typeface="MiSans" pitchFamily="34" charset="-122"/>
                <a:cs typeface="MiSans" pitchFamily="34" charset="-120"/>
              </a:rPr>
              <a:t>根据配置选择执行引擎(MapReduce/Tez/Spark/LLAP)，通过YARN申请和管理计算资源</a:t>
            </a:r>
            <a:endParaRPr lang="en-US" sz="1600" dirty="0"/>
          </a:p>
        </p:txBody>
      </p:sp>
      <p:sp>
        <p:nvSpPr>
          <p:cNvPr id="40" name="Shape 38"/>
          <p:cNvSpPr/>
          <p:nvPr/>
        </p:nvSpPr>
        <p:spPr>
          <a:xfrm>
            <a:off x="10579117" y="2108729"/>
            <a:ext cx="5228167" cy="4275667"/>
          </a:xfrm>
          <a:custGeom>
            <a:avLst/>
            <a:gdLst/>
            <a:ahLst/>
            <a:cxnLst/>
            <a:rect l="l" t="t" r="r" b="b"/>
            <a:pathLst>
              <a:path w="5228167" h="4275667">
                <a:moveTo>
                  <a:pt x="84658" y="0"/>
                </a:moveTo>
                <a:lnTo>
                  <a:pt x="5143508" y="0"/>
                </a:lnTo>
                <a:cubicBezTo>
                  <a:pt x="5190264" y="0"/>
                  <a:pt x="5228167" y="37903"/>
                  <a:pt x="5228167" y="84658"/>
                </a:cubicBezTo>
                <a:lnTo>
                  <a:pt x="5228167" y="4191008"/>
                </a:lnTo>
                <a:cubicBezTo>
                  <a:pt x="5228167" y="4237764"/>
                  <a:pt x="5190264" y="4275667"/>
                  <a:pt x="5143508" y="4275667"/>
                </a:cubicBezTo>
                <a:lnTo>
                  <a:pt x="84658" y="4275667"/>
                </a:lnTo>
                <a:cubicBezTo>
                  <a:pt x="37903" y="4275667"/>
                  <a:pt x="0" y="4237764"/>
                  <a:pt x="0" y="4191008"/>
                </a:cubicBezTo>
                <a:lnTo>
                  <a:pt x="0" y="84658"/>
                </a:lnTo>
                <a:cubicBezTo>
                  <a:pt x="0" y="37903"/>
                  <a:pt x="37903" y="0"/>
                  <a:pt x="84658" y="0"/>
                </a:cubicBezTo>
                <a:close/>
              </a:path>
            </a:pathLst>
          </a:custGeom>
          <a:solidFill>
            <a:srgbClr val="000000">
              <a:alpha val="0"/>
            </a:srgbClr>
          </a:solidFill>
          <a:ln w="50800">
            <a:solidFill>
              <a:srgbClr val="D69E2E"/>
            </a:solidFill>
            <a:prstDash val="solid"/>
          </a:ln>
        </p:spPr>
        <p:txBody>
          <a:bodyPr/>
          <a:lstStyle/>
          <a:p>
            <a:endParaRPr lang="zh-CN" altLang="en-US"/>
          </a:p>
        </p:txBody>
      </p:sp>
      <p:sp>
        <p:nvSpPr>
          <p:cNvPr id="41" name="Text 39"/>
          <p:cNvSpPr/>
          <p:nvPr/>
        </p:nvSpPr>
        <p:spPr>
          <a:xfrm>
            <a:off x="10790783" y="2383896"/>
            <a:ext cx="4804833" cy="338667"/>
          </a:xfrm>
          <a:prstGeom prst="rect">
            <a:avLst/>
          </a:prstGeom>
          <a:noFill/>
          <a:ln/>
        </p:spPr>
        <p:txBody>
          <a:bodyPr wrap="square" lIns="0" tIns="0" rIns="0" bIns="0" rtlCol="0" anchor="ctr"/>
          <a:lstStyle/>
          <a:p>
            <a:pPr algn="ctr">
              <a:lnSpc>
                <a:spcPct val="110000"/>
              </a:lnSpc>
            </a:pPr>
            <a:r>
              <a:rPr lang="en-US" sz="2000" b="1" dirty="0">
                <a:solidFill>
                  <a:srgbClr val="E2E8F0"/>
                </a:solidFill>
                <a:latin typeface="Noto Sans SC" pitchFamily="34" charset="0"/>
                <a:ea typeface="Noto Sans SC" pitchFamily="34" charset="-122"/>
                <a:cs typeface="Noto Sans SC" pitchFamily="34" charset="-120"/>
              </a:rPr>
              <a:t>关键特性</a:t>
            </a:r>
            <a:endParaRPr lang="en-US" sz="1600" dirty="0"/>
          </a:p>
        </p:txBody>
      </p:sp>
      <p:sp>
        <p:nvSpPr>
          <p:cNvPr id="42" name="Shape 40"/>
          <p:cNvSpPr/>
          <p:nvPr/>
        </p:nvSpPr>
        <p:spPr>
          <a:xfrm>
            <a:off x="10880742" y="2934229"/>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D69E2E"/>
          </a:solidFill>
          <a:ln/>
        </p:spPr>
        <p:txBody>
          <a:bodyPr/>
          <a:lstStyle/>
          <a:p>
            <a:endParaRPr lang="zh-CN" altLang="en-US"/>
          </a:p>
        </p:txBody>
      </p:sp>
      <p:sp>
        <p:nvSpPr>
          <p:cNvPr id="43" name="Text 41"/>
          <p:cNvSpPr/>
          <p:nvPr/>
        </p:nvSpPr>
        <p:spPr>
          <a:xfrm>
            <a:off x="11219408" y="2891896"/>
            <a:ext cx="1862667" cy="254000"/>
          </a:xfrm>
          <a:prstGeom prst="rect">
            <a:avLst/>
          </a:prstGeom>
          <a:noFill/>
          <a:ln/>
        </p:spPr>
        <p:txBody>
          <a:bodyPr wrap="square" lIns="0" tIns="0" rIns="0" bIns="0" rtlCol="0" anchor="ctr"/>
          <a:lstStyle/>
          <a:p>
            <a:pPr>
              <a:lnSpc>
                <a:spcPct val="130000"/>
              </a:lnSpc>
            </a:pPr>
            <a:r>
              <a:rPr lang="en-US" sz="1333" b="1" dirty="0">
                <a:solidFill>
                  <a:srgbClr val="E2E8F0"/>
                </a:solidFill>
                <a:latin typeface="MiSans" pitchFamily="34" charset="0"/>
                <a:ea typeface="MiSans" pitchFamily="34" charset="-122"/>
                <a:cs typeface="MiSans" pitchFamily="34" charset="-120"/>
              </a:rPr>
              <a:t>端到端流水线处理</a:t>
            </a:r>
            <a:endParaRPr lang="en-US" sz="1600" dirty="0"/>
          </a:p>
        </p:txBody>
      </p:sp>
      <p:sp>
        <p:nvSpPr>
          <p:cNvPr id="44" name="Text 42"/>
          <p:cNvSpPr/>
          <p:nvPr/>
        </p:nvSpPr>
        <p:spPr>
          <a:xfrm>
            <a:off x="11219408" y="3188229"/>
            <a:ext cx="1852083" cy="211667"/>
          </a:xfrm>
          <a:prstGeom prst="rect">
            <a:avLst/>
          </a:prstGeom>
          <a:noFill/>
          <a:ln/>
        </p:spPr>
        <p:txBody>
          <a:bodyPr wrap="square" lIns="0" tIns="0" rIns="0" bIns="0" rtlCol="0" anchor="ctr"/>
          <a:lstStyle/>
          <a:p>
            <a:pPr>
              <a:lnSpc>
                <a:spcPct val="120000"/>
              </a:lnSpc>
            </a:pPr>
            <a:r>
              <a:rPr lang="en-US" sz="1167" dirty="0">
                <a:solidFill>
                  <a:srgbClr val="A0AEC0"/>
                </a:solidFill>
                <a:latin typeface="MiSans" pitchFamily="34" charset="0"/>
                <a:ea typeface="MiSans" pitchFamily="34" charset="-122"/>
                <a:cs typeface="MiSans" pitchFamily="34" charset="-120"/>
              </a:rPr>
              <a:t>各组件职责明确，协同工作</a:t>
            </a:r>
            <a:endParaRPr lang="en-US" sz="1600" dirty="0"/>
          </a:p>
        </p:txBody>
      </p:sp>
      <p:sp>
        <p:nvSpPr>
          <p:cNvPr id="45" name="Shape 43"/>
          <p:cNvSpPr/>
          <p:nvPr/>
        </p:nvSpPr>
        <p:spPr>
          <a:xfrm>
            <a:off x="10880742" y="3611563"/>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D69E2E"/>
          </a:solidFill>
          <a:ln/>
        </p:spPr>
        <p:txBody>
          <a:bodyPr/>
          <a:lstStyle/>
          <a:p>
            <a:endParaRPr lang="zh-CN" altLang="en-US"/>
          </a:p>
        </p:txBody>
      </p:sp>
      <p:sp>
        <p:nvSpPr>
          <p:cNvPr id="46" name="Text 44"/>
          <p:cNvSpPr/>
          <p:nvPr/>
        </p:nvSpPr>
        <p:spPr>
          <a:xfrm>
            <a:off x="11219408" y="3569229"/>
            <a:ext cx="1566333" cy="254000"/>
          </a:xfrm>
          <a:prstGeom prst="rect">
            <a:avLst/>
          </a:prstGeom>
          <a:noFill/>
          <a:ln/>
        </p:spPr>
        <p:txBody>
          <a:bodyPr wrap="square" lIns="0" tIns="0" rIns="0" bIns="0" rtlCol="0" anchor="ctr"/>
          <a:lstStyle/>
          <a:p>
            <a:pPr>
              <a:lnSpc>
                <a:spcPct val="130000"/>
              </a:lnSpc>
            </a:pPr>
            <a:r>
              <a:rPr lang="en-US" sz="1333" b="1" dirty="0">
                <a:solidFill>
                  <a:srgbClr val="E2E8F0"/>
                </a:solidFill>
                <a:latin typeface="MiSans" pitchFamily="34" charset="0"/>
                <a:ea typeface="MiSans" pitchFamily="34" charset="-122"/>
                <a:cs typeface="MiSans" pitchFamily="34" charset="-120"/>
              </a:rPr>
              <a:t>元数据驱动执行</a:t>
            </a:r>
            <a:endParaRPr lang="en-US" sz="1600" dirty="0"/>
          </a:p>
        </p:txBody>
      </p:sp>
      <p:sp>
        <p:nvSpPr>
          <p:cNvPr id="47" name="Text 45"/>
          <p:cNvSpPr/>
          <p:nvPr/>
        </p:nvSpPr>
        <p:spPr>
          <a:xfrm>
            <a:off x="11219408" y="3865563"/>
            <a:ext cx="1555750" cy="211667"/>
          </a:xfrm>
          <a:prstGeom prst="rect">
            <a:avLst/>
          </a:prstGeom>
          <a:noFill/>
          <a:ln/>
        </p:spPr>
        <p:txBody>
          <a:bodyPr wrap="square" lIns="0" tIns="0" rIns="0" bIns="0" rtlCol="0" anchor="ctr"/>
          <a:lstStyle/>
          <a:p>
            <a:pPr>
              <a:lnSpc>
                <a:spcPct val="120000"/>
              </a:lnSpc>
            </a:pPr>
            <a:r>
              <a:rPr lang="en-US" sz="1167" dirty="0">
                <a:solidFill>
                  <a:srgbClr val="A0AEC0"/>
                </a:solidFill>
                <a:latin typeface="MiSans" pitchFamily="34" charset="0"/>
                <a:ea typeface="MiSans" pitchFamily="34" charset="-122"/>
                <a:cs typeface="MiSans" pitchFamily="34" charset="-120"/>
              </a:rPr>
              <a:t>验证、优化、权限控制</a:t>
            </a:r>
            <a:endParaRPr lang="en-US" sz="1600" dirty="0"/>
          </a:p>
        </p:txBody>
      </p:sp>
      <p:sp>
        <p:nvSpPr>
          <p:cNvPr id="48" name="Shape 46"/>
          <p:cNvSpPr/>
          <p:nvPr/>
        </p:nvSpPr>
        <p:spPr>
          <a:xfrm>
            <a:off x="10880742" y="4288896"/>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D69E2E"/>
          </a:solidFill>
          <a:ln/>
        </p:spPr>
        <p:txBody>
          <a:bodyPr/>
          <a:lstStyle/>
          <a:p>
            <a:endParaRPr lang="zh-CN" altLang="en-US"/>
          </a:p>
        </p:txBody>
      </p:sp>
      <p:sp>
        <p:nvSpPr>
          <p:cNvPr id="49" name="Text 47"/>
          <p:cNvSpPr/>
          <p:nvPr/>
        </p:nvSpPr>
        <p:spPr>
          <a:xfrm>
            <a:off x="11219408" y="4246563"/>
            <a:ext cx="2053167" cy="254000"/>
          </a:xfrm>
          <a:prstGeom prst="rect">
            <a:avLst/>
          </a:prstGeom>
          <a:noFill/>
          <a:ln/>
        </p:spPr>
        <p:txBody>
          <a:bodyPr wrap="square" lIns="0" tIns="0" rIns="0" bIns="0" rtlCol="0" anchor="ctr"/>
          <a:lstStyle/>
          <a:p>
            <a:pPr>
              <a:lnSpc>
                <a:spcPct val="130000"/>
              </a:lnSpc>
            </a:pPr>
            <a:r>
              <a:rPr lang="en-US" sz="1333" b="1" dirty="0">
                <a:solidFill>
                  <a:srgbClr val="E2E8F0"/>
                </a:solidFill>
                <a:latin typeface="MiSans" pitchFamily="34" charset="0"/>
                <a:ea typeface="MiSans" pitchFamily="34" charset="-122"/>
                <a:cs typeface="MiSans" pitchFamily="34" charset="-120"/>
              </a:rPr>
              <a:t>多引擎支持</a:t>
            </a:r>
            <a:endParaRPr lang="en-US" sz="1600" dirty="0"/>
          </a:p>
        </p:txBody>
      </p:sp>
      <p:sp>
        <p:nvSpPr>
          <p:cNvPr id="50" name="Text 48"/>
          <p:cNvSpPr/>
          <p:nvPr/>
        </p:nvSpPr>
        <p:spPr>
          <a:xfrm>
            <a:off x="11219408" y="4542896"/>
            <a:ext cx="2042583" cy="211667"/>
          </a:xfrm>
          <a:prstGeom prst="rect">
            <a:avLst/>
          </a:prstGeom>
          <a:noFill/>
          <a:ln/>
        </p:spPr>
        <p:txBody>
          <a:bodyPr wrap="square" lIns="0" tIns="0" rIns="0" bIns="0" rtlCol="0" anchor="ctr"/>
          <a:lstStyle/>
          <a:p>
            <a:pPr>
              <a:lnSpc>
                <a:spcPct val="120000"/>
              </a:lnSpc>
            </a:pPr>
            <a:r>
              <a:rPr lang="en-US" sz="1167" dirty="0">
                <a:solidFill>
                  <a:srgbClr val="A0AEC0"/>
                </a:solidFill>
                <a:latin typeface="MiSans" pitchFamily="34" charset="0"/>
                <a:ea typeface="MiSans" pitchFamily="34" charset="-122"/>
                <a:cs typeface="MiSans" pitchFamily="34" charset="-120"/>
              </a:rPr>
              <a:t>MapReduce/Tez/Spark/LLAP</a:t>
            </a:r>
            <a:endParaRPr lang="en-US" sz="1600" dirty="0"/>
          </a:p>
        </p:txBody>
      </p:sp>
      <p:sp>
        <p:nvSpPr>
          <p:cNvPr id="51" name="Shape 49"/>
          <p:cNvSpPr/>
          <p:nvPr/>
        </p:nvSpPr>
        <p:spPr>
          <a:xfrm>
            <a:off x="10880742" y="4966229"/>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D69E2E"/>
          </a:solidFill>
          <a:ln/>
        </p:spPr>
        <p:txBody>
          <a:bodyPr/>
          <a:lstStyle/>
          <a:p>
            <a:endParaRPr lang="zh-CN" altLang="en-US"/>
          </a:p>
        </p:txBody>
      </p:sp>
      <p:sp>
        <p:nvSpPr>
          <p:cNvPr id="52" name="Text 50"/>
          <p:cNvSpPr/>
          <p:nvPr/>
        </p:nvSpPr>
        <p:spPr>
          <a:xfrm>
            <a:off x="11219408" y="4923896"/>
            <a:ext cx="2010833" cy="254000"/>
          </a:xfrm>
          <a:prstGeom prst="rect">
            <a:avLst/>
          </a:prstGeom>
          <a:noFill/>
          <a:ln/>
        </p:spPr>
        <p:txBody>
          <a:bodyPr wrap="square" lIns="0" tIns="0" rIns="0" bIns="0" rtlCol="0" anchor="ctr"/>
          <a:lstStyle/>
          <a:p>
            <a:pPr>
              <a:lnSpc>
                <a:spcPct val="130000"/>
              </a:lnSpc>
            </a:pPr>
            <a:r>
              <a:rPr lang="en-US" sz="1333" b="1" dirty="0">
                <a:solidFill>
                  <a:srgbClr val="E2E8F0"/>
                </a:solidFill>
                <a:latin typeface="MiSans" pitchFamily="34" charset="0"/>
                <a:ea typeface="MiSans" pitchFamily="34" charset="-122"/>
                <a:cs typeface="MiSans" pitchFamily="34" charset="-120"/>
              </a:rPr>
              <a:t>容错和重试机制</a:t>
            </a:r>
            <a:endParaRPr lang="en-US" sz="1600" dirty="0"/>
          </a:p>
        </p:txBody>
      </p:sp>
      <p:sp>
        <p:nvSpPr>
          <p:cNvPr id="53" name="Text 51"/>
          <p:cNvSpPr/>
          <p:nvPr/>
        </p:nvSpPr>
        <p:spPr>
          <a:xfrm>
            <a:off x="11219408" y="5220229"/>
            <a:ext cx="2000250" cy="211667"/>
          </a:xfrm>
          <a:prstGeom prst="rect">
            <a:avLst/>
          </a:prstGeom>
          <a:noFill/>
          <a:ln/>
        </p:spPr>
        <p:txBody>
          <a:bodyPr wrap="square" lIns="0" tIns="0" rIns="0" bIns="0" rtlCol="0" anchor="ctr"/>
          <a:lstStyle/>
          <a:p>
            <a:pPr>
              <a:lnSpc>
                <a:spcPct val="120000"/>
              </a:lnSpc>
            </a:pPr>
            <a:r>
              <a:rPr lang="en-US" sz="1167" dirty="0">
                <a:solidFill>
                  <a:srgbClr val="A0AEC0"/>
                </a:solidFill>
                <a:latin typeface="MiSans" pitchFamily="34" charset="0"/>
                <a:ea typeface="MiSans" pitchFamily="34" charset="-122"/>
                <a:cs typeface="MiSans" pitchFamily="34" charset="-120"/>
              </a:rPr>
              <a:t>任务失败自动重试、动态调整</a:t>
            </a:r>
            <a:endParaRPr lang="en-US" sz="1600" dirty="0"/>
          </a:p>
        </p:txBody>
      </p:sp>
      <p:sp>
        <p:nvSpPr>
          <p:cNvPr id="54" name="Shape 52"/>
          <p:cNvSpPr/>
          <p:nvPr/>
        </p:nvSpPr>
        <p:spPr>
          <a:xfrm>
            <a:off x="10880742" y="5643563"/>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D69E2E"/>
          </a:solidFill>
          <a:ln/>
        </p:spPr>
        <p:txBody>
          <a:bodyPr/>
          <a:lstStyle/>
          <a:p>
            <a:endParaRPr lang="zh-CN" altLang="en-US"/>
          </a:p>
        </p:txBody>
      </p:sp>
      <p:sp>
        <p:nvSpPr>
          <p:cNvPr id="55" name="Text 53"/>
          <p:cNvSpPr/>
          <p:nvPr/>
        </p:nvSpPr>
        <p:spPr>
          <a:xfrm>
            <a:off x="11219408" y="5601229"/>
            <a:ext cx="1957917" cy="254000"/>
          </a:xfrm>
          <a:prstGeom prst="rect">
            <a:avLst/>
          </a:prstGeom>
          <a:noFill/>
          <a:ln/>
        </p:spPr>
        <p:txBody>
          <a:bodyPr wrap="square" lIns="0" tIns="0" rIns="0" bIns="0" rtlCol="0" anchor="ctr"/>
          <a:lstStyle/>
          <a:p>
            <a:pPr>
              <a:lnSpc>
                <a:spcPct val="130000"/>
              </a:lnSpc>
            </a:pPr>
            <a:r>
              <a:rPr lang="en-US" sz="1333" b="1" dirty="0">
                <a:solidFill>
                  <a:srgbClr val="E2E8F0"/>
                </a:solidFill>
                <a:latin typeface="MiSans" pitchFamily="34" charset="0"/>
                <a:ea typeface="MiSans" pitchFamily="34" charset="-122"/>
                <a:cs typeface="MiSans" pitchFamily="34" charset="-120"/>
              </a:rPr>
              <a:t>资源管理集成</a:t>
            </a:r>
            <a:endParaRPr lang="en-US" sz="1600" dirty="0"/>
          </a:p>
        </p:txBody>
      </p:sp>
      <p:sp>
        <p:nvSpPr>
          <p:cNvPr id="56" name="Text 54"/>
          <p:cNvSpPr/>
          <p:nvPr/>
        </p:nvSpPr>
        <p:spPr>
          <a:xfrm>
            <a:off x="11219408" y="5897563"/>
            <a:ext cx="1947333" cy="211667"/>
          </a:xfrm>
          <a:prstGeom prst="rect">
            <a:avLst/>
          </a:prstGeom>
          <a:noFill/>
          <a:ln/>
        </p:spPr>
        <p:txBody>
          <a:bodyPr wrap="square" lIns="0" tIns="0" rIns="0" bIns="0" rtlCol="0" anchor="ctr"/>
          <a:lstStyle/>
          <a:p>
            <a:pPr>
              <a:lnSpc>
                <a:spcPct val="120000"/>
              </a:lnSpc>
            </a:pPr>
            <a:r>
              <a:rPr lang="en-US" sz="1167" dirty="0">
                <a:solidFill>
                  <a:srgbClr val="A0AEC0"/>
                </a:solidFill>
                <a:latin typeface="MiSans" pitchFamily="34" charset="0"/>
                <a:ea typeface="MiSans" pitchFamily="34" charset="-122"/>
                <a:cs typeface="MiSans" pitchFamily="34" charset="-120"/>
              </a:rPr>
              <a:t>与YARN紧密集成，动态分配</a:t>
            </a:r>
            <a:endParaRPr lang="en-US" sz="1600" dirty="0"/>
          </a:p>
        </p:txBody>
      </p:sp>
      <p:sp>
        <p:nvSpPr>
          <p:cNvPr id="57" name="Shape 55"/>
          <p:cNvSpPr/>
          <p:nvPr/>
        </p:nvSpPr>
        <p:spPr>
          <a:xfrm>
            <a:off x="10563242" y="6622521"/>
            <a:ext cx="5259917" cy="1407583"/>
          </a:xfrm>
          <a:custGeom>
            <a:avLst/>
            <a:gdLst/>
            <a:ahLst/>
            <a:cxnLst/>
            <a:rect l="l" t="t" r="r" b="b"/>
            <a:pathLst>
              <a:path w="5259917" h="1407583">
                <a:moveTo>
                  <a:pt x="84666" y="0"/>
                </a:moveTo>
                <a:lnTo>
                  <a:pt x="5175251" y="0"/>
                </a:lnTo>
                <a:cubicBezTo>
                  <a:pt x="5222010" y="0"/>
                  <a:pt x="5259917" y="37906"/>
                  <a:pt x="5259917" y="84666"/>
                </a:cubicBezTo>
                <a:lnTo>
                  <a:pt x="5259917" y="1322917"/>
                </a:lnTo>
                <a:cubicBezTo>
                  <a:pt x="5259917" y="1369677"/>
                  <a:pt x="5222010" y="1407583"/>
                  <a:pt x="5175251" y="1407583"/>
                </a:cubicBezTo>
                <a:lnTo>
                  <a:pt x="84666" y="1407583"/>
                </a:lnTo>
                <a:cubicBezTo>
                  <a:pt x="37906" y="1407583"/>
                  <a:pt x="0" y="1369677"/>
                  <a:pt x="0" y="1322917"/>
                </a:cubicBezTo>
                <a:lnTo>
                  <a:pt x="0" y="84666"/>
                </a:lnTo>
                <a:cubicBezTo>
                  <a:pt x="0" y="37938"/>
                  <a:pt x="37938" y="0"/>
                  <a:pt x="84666" y="0"/>
                </a:cubicBezTo>
                <a:close/>
              </a:path>
            </a:pathLst>
          </a:custGeom>
          <a:solidFill>
            <a:srgbClr val="D69E2E">
              <a:alpha val="10196"/>
            </a:srgbClr>
          </a:solidFill>
          <a:ln w="12700">
            <a:solidFill>
              <a:srgbClr val="D69E2E"/>
            </a:solidFill>
            <a:prstDash val="solid"/>
          </a:ln>
        </p:spPr>
        <p:txBody>
          <a:bodyPr/>
          <a:lstStyle/>
          <a:p>
            <a:endParaRPr lang="zh-CN" altLang="en-US"/>
          </a:p>
        </p:txBody>
      </p:sp>
      <p:sp>
        <p:nvSpPr>
          <p:cNvPr id="58" name="Shape 56"/>
          <p:cNvSpPr/>
          <p:nvPr/>
        </p:nvSpPr>
        <p:spPr>
          <a:xfrm>
            <a:off x="10843700" y="6860646"/>
            <a:ext cx="190500" cy="254000"/>
          </a:xfrm>
          <a:custGeom>
            <a:avLst/>
            <a:gdLst/>
            <a:ahLst/>
            <a:cxnLst/>
            <a:rect l="l" t="t" r="r" b="b"/>
            <a:pathLst>
              <a:path w="190500" h="254000">
                <a:moveTo>
                  <a:pt x="145306" y="190500"/>
                </a:moveTo>
                <a:cubicBezTo>
                  <a:pt x="148927" y="179437"/>
                  <a:pt x="156170" y="169416"/>
                  <a:pt x="164356" y="160784"/>
                </a:cubicBezTo>
                <a:cubicBezTo>
                  <a:pt x="180578" y="143718"/>
                  <a:pt x="190500" y="120650"/>
                  <a:pt x="190500" y="95250"/>
                </a:cubicBezTo>
                <a:cubicBezTo>
                  <a:pt x="190500" y="42664"/>
                  <a:pt x="147836" y="0"/>
                  <a:pt x="95250" y="0"/>
                </a:cubicBezTo>
                <a:cubicBezTo>
                  <a:pt x="42664" y="0"/>
                  <a:pt x="0" y="42664"/>
                  <a:pt x="0" y="95250"/>
                </a:cubicBezTo>
                <a:cubicBezTo>
                  <a:pt x="0" y="120650"/>
                  <a:pt x="9922" y="143718"/>
                  <a:pt x="26144" y="160784"/>
                </a:cubicBezTo>
                <a:cubicBezTo>
                  <a:pt x="34330" y="169416"/>
                  <a:pt x="41622" y="179437"/>
                  <a:pt x="45194" y="190500"/>
                </a:cubicBezTo>
                <a:lnTo>
                  <a:pt x="145256" y="190500"/>
                </a:lnTo>
                <a:close/>
                <a:moveTo>
                  <a:pt x="142875" y="214313"/>
                </a:moveTo>
                <a:lnTo>
                  <a:pt x="47625" y="214313"/>
                </a:lnTo>
                <a:lnTo>
                  <a:pt x="47625" y="222250"/>
                </a:lnTo>
                <a:cubicBezTo>
                  <a:pt x="47625" y="244177"/>
                  <a:pt x="65385" y="261937"/>
                  <a:pt x="87313" y="261937"/>
                </a:cubicBezTo>
                <a:lnTo>
                  <a:pt x="103188" y="261937"/>
                </a:lnTo>
                <a:cubicBezTo>
                  <a:pt x="125115" y="261937"/>
                  <a:pt x="142875" y="244177"/>
                  <a:pt x="142875" y="222250"/>
                </a:cubicBezTo>
                <a:lnTo>
                  <a:pt x="142875" y="214313"/>
                </a:lnTo>
                <a:close/>
                <a:moveTo>
                  <a:pt x="91281" y="55563"/>
                </a:moveTo>
                <a:cubicBezTo>
                  <a:pt x="71537" y="55563"/>
                  <a:pt x="55563" y="71537"/>
                  <a:pt x="55563" y="91281"/>
                </a:cubicBezTo>
                <a:cubicBezTo>
                  <a:pt x="55563" y="97879"/>
                  <a:pt x="50254" y="103188"/>
                  <a:pt x="43656" y="103188"/>
                </a:cubicBezTo>
                <a:cubicBezTo>
                  <a:pt x="37058" y="103188"/>
                  <a:pt x="31750" y="97879"/>
                  <a:pt x="31750" y="91281"/>
                </a:cubicBezTo>
                <a:cubicBezTo>
                  <a:pt x="31750" y="58390"/>
                  <a:pt x="58390" y="31750"/>
                  <a:pt x="91281" y="31750"/>
                </a:cubicBezTo>
                <a:cubicBezTo>
                  <a:pt x="97879" y="31750"/>
                  <a:pt x="103188" y="37058"/>
                  <a:pt x="103188" y="43656"/>
                </a:cubicBezTo>
                <a:cubicBezTo>
                  <a:pt x="103188" y="50254"/>
                  <a:pt x="97879" y="55563"/>
                  <a:pt x="91281" y="55563"/>
                </a:cubicBezTo>
                <a:close/>
              </a:path>
            </a:pathLst>
          </a:custGeom>
          <a:solidFill>
            <a:srgbClr val="D69E2E"/>
          </a:solidFill>
          <a:ln/>
        </p:spPr>
        <p:txBody>
          <a:bodyPr/>
          <a:lstStyle/>
          <a:p>
            <a:endParaRPr lang="zh-CN" altLang="en-US"/>
          </a:p>
        </p:txBody>
      </p:sp>
      <p:sp>
        <p:nvSpPr>
          <p:cNvPr id="59" name="Text 57"/>
          <p:cNvSpPr/>
          <p:nvPr/>
        </p:nvSpPr>
        <p:spPr>
          <a:xfrm>
            <a:off x="11224700" y="6839479"/>
            <a:ext cx="1238250" cy="296333"/>
          </a:xfrm>
          <a:prstGeom prst="rect">
            <a:avLst/>
          </a:prstGeom>
          <a:noFill/>
          <a:ln/>
        </p:spPr>
        <p:txBody>
          <a:bodyPr wrap="square" lIns="0" tIns="0" rIns="0" bIns="0" rtlCol="0" anchor="ctr"/>
          <a:lstStyle/>
          <a:p>
            <a:pPr>
              <a:lnSpc>
                <a:spcPct val="130000"/>
              </a:lnSpc>
            </a:pPr>
            <a:r>
              <a:rPr lang="en-US" sz="1500" b="1" dirty="0">
                <a:solidFill>
                  <a:srgbClr val="E2E8F0"/>
                </a:solidFill>
                <a:latin typeface="MiSans" pitchFamily="34" charset="0"/>
                <a:ea typeface="MiSans" pitchFamily="34" charset="-122"/>
                <a:cs typeface="MiSans" pitchFamily="34" charset="-120"/>
              </a:rPr>
              <a:t>执行流程价值</a:t>
            </a:r>
            <a:endParaRPr lang="en-US" sz="1600" dirty="0"/>
          </a:p>
        </p:txBody>
      </p:sp>
      <p:sp>
        <p:nvSpPr>
          <p:cNvPr id="60" name="Text 58"/>
          <p:cNvSpPr/>
          <p:nvPr/>
        </p:nvSpPr>
        <p:spPr>
          <a:xfrm>
            <a:off x="10780200" y="7262813"/>
            <a:ext cx="4910667" cy="550333"/>
          </a:xfrm>
          <a:prstGeom prst="rect">
            <a:avLst/>
          </a:prstGeom>
          <a:noFill/>
          <a:ln/>
        </p:spPr>
        <p:txBody>
          <a:bodyPr wrap="square" lIns="0" tIns="0" rIns="0" bIns="0" rtlCol="0" anchor="ctr"/>
          <a:lstStyle/>
          <a:p>
            <a:pPr>
              <a:lnSpc>
                <a:spcPct val="140000"/>
              </a:lnSpc>
            </a:pPr>
            <a:r>
              <a:rPr lang="en-US" sz="1333" dirty="0">
                <a:solidFill>
                  <a:srgbClr val="A0AEC0"/>
                </a:solidFill>
                <a:latin typeface="MiSans" pitchFamily="34" charset="0"/>
                <a:ea typeface="MiSans" pitchFamily="34" charset="-122"/>
                <a:cs typeface="MiSans" pitchFamily="34" charset="-120"/>
              </a:rPr>
              <a:t>展示了Hive如何将简单的SQL查询转换为复杂的分布式计算任务，体现了其作为大数据SQL引擎的核心价值</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77416" y="477416"/>
            <a:ext cx="15587618" cy="572899"/>
          </a:xfrm>
          <a:prstGeom prst="rect">
            <a:avLst/>
          </a:prstGeom>
          <a:noFill/>
          <a:ln/>
        </p:spPr>
        <p:txBody>
          <a:bodyPr wrap="square" lIns="0" tIns="0" rIns="0" bIns="0" rtlCol="0" anchor="ctr"/>
          <a:lstStyle/>
          <a:p>
            <a:pPr>
              <a:lnSpc>
                <a:spcPct val="80000"/>
              </a:lnSpc>
            </a:pPr>
            <a:r>
              <a:rPr lang="en-US" sz="4511" b="1" dirty="0">
                <a:solidFill>
                  <a:srgbClr val="E2E8F0"/>
                </a:solidFill>
                <a:latin typeface="Noto Sans SC" pitchFamily="34" charset="0"/>
                <a:ea typeface="Noto Sans SC" pitchFamily="34" charset="-122"/>
                <a:cs typeface="Noto Sans SC" pitchFamily="34" charset="-120"/>
              </a:rPr>
              <a:t>核心组件：元数据存储(Metastore)</a:t>
            </a:r>
            <a:endParaRPr lang="en-US" sz="1600" dirty="0"/>
          </a:p>
        </p:txBody>
      </p:sp>
      <p:sp>
        <p:nvSpPr>
          <p:cNvPr id="3" name="Shape 1"/>
          <p:cNvSpPr/>
          <p:nvPr/>
        </p:nvSpPr>
        <p:spPr>
          <a:xfrm>
            <a:off x="477416" y="1193539"/>
            <a:ext cx="1336764" cy="47742"/>
          </a:xfrm>
          <a:custGeom>
            <a:avLst/>
            <a:gdLst/>
            <a:ahLst/>
            <a:cxnLst/>
            <a:rect l="l" t="t" r="r" b="b"/>
            <a:pathLst>
              <a:path w="1336764" h="47742">
                <a:moveTo>
                  <a:pt x="0" y="0"/>
                </a:moveTo>
                <a:lnTo>
                  <a:pt x="1336764" y="0"/>
                </a:lnTo>
                <a:lnTo>
                  <a:pt x="1336764" y="47742"/>
                </a:lnTo>
                <a:lnTo>
                  <a:pt x="0" y="47742"/>
                </a:lnTo>
                <a:lnTo>
                  <a:pt x="0" y="0"/>
                </a:lnTo>
                <a:close/>
              </a:path>
            </a:pathLst>
          </a:custGeom>
          <a:solidFill>
            <a:srgbClr val="D69E2E"/>
          </a:solidFill>
          <a:ln/>
        </p:spPr>
        <p:txBody>
          <a:bodyPr/>
          <a:lstStyle/>
          <a:p>
            <a:endParaRPr lang="zh-CN" altLang="en-US"/>
          </a:p>
        </p:txBody>
      </p:sp>
      <p:sp>
        <p:nvSpPr>
          <p:cNvPr id="4" name="Text 2"/>
          <p:cNvSpPr/>
          <p:nvPr/>
        </p:nvSpPr>
        <p:spPr>
          <a:xfrm>
            <a:off x="477416" y="1623213"/>
            <a:ext cx="7602843" cy="381932"/>
          </a:xfrm>
          <a:prstGeom prst="rect">
            <a:avLst/>
          </a:prstGeom>
          <a:noFill/>
          <a:ln/>
        </p:spPr>
        <p:txBody>
          <a:bodyPr wrap="square" lIns="0" tIns="0" rIns="0" bIns="0" rtlCol="0" anchor="ctr"/>
          <a:lstStyle/>
          <a:p>
            <a:pPr>
              <a:lnSpc>
                <a:spcPct val="110000"/>
              </a:lnSpc>
            </a:pPr>
            <a:r>
              <a:rPr lang="en-US" sz="2256" b="1" dirty="0">
                <a:solidFill>
                  <a:srgbClr val="E2E8F0"/>
                </a:solidFill>
                <a:latin typeface="Noto Sans SC" pitchFamily="34" charset="0"/>
                <a:ea typeface="Noto Sans SC" pitchFamily="34" charset="-122"/>
                <a:cs typeface="Noto Sans SC" pitchFamily="34" charset="-120"/>
              </a:rPr>
              <a:t>核心功能</a:t>
            </a:r>
            <a:endParaRPr lang="en-US" sz="1600" dirty="0"/>
          </a:p>
        </p:txBody>
      </p:sp>
      <p:sp>
        <p:nvSpPr>
          <p:cNvPr id="5" name="Text 3"/>
          <p:cNvSpPr/>
          <p:nvPr/>
        </p:nvSpPr>
        <p:spPr>
          <a:xfrm>
            <a:off x="477416" y="2196112"/>
            <a:ext cx="7555101" cy="286449"/>
          </a:xfrm>
          <a:prstGeom prst="rect">
            <a:avLst/>
          </a:prstGeom>
          <a:noFill/>
          <a:ln/>
        </p:spPr>
        <p:txBody>
          <a:bodyPr wrap="square" lIns="0" tIns="0" rIns="0" bIns="0" rtlCol="0" anchor="ctr"/>
          <a:lstStyle/>
          <a:p>
            <a:pPr>
              <a:lnSpc>
                <a:spcPct val="130000"/>
              </a:lnSpc>
            </a:pPr>
            <a:r>
              <a:rPr lang="en-US" sz="1504" b="1" dirty="0">
                <a:solidFill>
                  <a:srgbClr val="D69E2E"/>
                </a:solidFill>
                <a:latin typeface="MiSans" pitchFamily="34" charset="0"/>
                <a:ea typeface="MiSans" pitchFamily="34" charset="-122"/>
                <a:cs typeface="MiSans" pitchFamily="34" charset="-120"/>
              </a:rPr>
              <a:t>1. 表结构管理：</a:t>
            </a:r>
            <a:r>
              <a:rPr lang="en-US" sz="1504" dirty="0">
                <a:solidFill>
                  <a:srgbClr val="A0AEC0"/>
                </a:solidFill>
                <a:latin typeface="MiSans" pitchFamily="34" charset="0"/>
                <a:ea typeface="MiSans" pitchFamily="34" charset="-122"/>
                <a:cs typeface="MiSans" pitchFamily="34" charset="-120"/>
              </a:rPr>
              <a:t>存储表的定义信息，包括表名、列名、数据类型、分区信息等</a:t>
            </a:r>
            <a:endParaRPr lang="en-US" sz="1600" dirty="0"/>
          </a:p>
        </p:txBody>
      </p:sp>
      <p:sp>
        <p:nvSpPr>
          <p:cNvPr id="6" name="Text 4"/>
          <p:cNvSpPr/>
          <p:nvPr/>
        </p:nvSpPr>
        <p:spPr>
          <a:xfrm>
            <a:off x="477416" y="2625786"/>
            <a:ext cx="7555101" cy="286449"/>
          </a:xfrm>
          <a:prstGeom prst="rect">
            <a:avLst/>
          </a:prstGeom>
          <a:noFill/>
          <a:ln/>
        </p:spPr>
        <p:txBody>
          <a:bodyPr wrap="square" lIns="0" tIns="0" rIns="0" bIns="0" rtlCol="0" anchor="ctr"/>
          <a:lstStyle/>
          <a:p>
            <a:pPr>
              <a:lnSpc>
                <a:spcPct val="130000"/>
              </a:lnSpc>
            </a:pPr>
            <a:r>
              <a:rPr lang="en-US" sz="1504" b="1" dirty="0">
                <a:solidFill>
                  <a:srgbClr val="D69E2E"/>
                </a:solidFill>
                <a:latin typeface="MiSans" pitchFamily="34" charset="0"/>
                <a:ea typeface="MiSans" pitchFamily="34" charset="-122"/>
                <a:cs typeface="MiSans" pitchFamily="34" charset="-120"/>
              </a:rPr>
              <a:t>2. 存储信息管理：</a:t>
            </a:r>
            <a:r>
              <a:rPr lang="en-US" sz="1504" dirty="0">
                <a:solidFill>
                  <a:srgbClr val="A0AEC0"/>
                </a:solidFill>
                <a:latin typeface="MiSans" pitchFamily="34" charset="0"/>
                <a:ea typeface="MiSans" pitchFamily="34" charset="-122"/>
                <a:cs typeface="MiSans" pitchFamily="34" charset="-120"/>
              </a:rPr>
              <a:t>记录数据存储位置、文件格式、压缩方式等存储相关信息</a:t>
            </a:r>
            <a:endParaRPr lang="en-US" sz="1600" dirty="0"/>
          </a:p>
        </p:txBody>
      </p:sp>
      <p:sp>
        <p:nvSpPr>
          <p:cNvPr id="7" name="Text 5"/>
          <p:cNvSpPr/>
          <p:nvPr/>
        </p:nvSpPr>
        <p:spPr>
          <a:xfrm>
            <a:off x="477416" y="3055460"/>
            <a:ext cx="7555101" cy="286449"/>
          </a:xfrm>
          <a:prstGeom prst="rect">
            <a:avLst/>
          </a:prstGeom>
          <a:noFill/>
          <a:ln/>
        </p:spPr>
        <p:txBody>
          <a:bodyPr wrap="square" lIns="0" tIns="0" rIns="0" bIns="0" rtlCol="0" anchor="ctr"/>
          <a:lstStyle/>
          <a:p>
            <a:pPr>
              <a:lnSpc>
                <a:spcPct val="130000"/>
              </a:lnSpc>
            </a:pPr>
            <a:r>
              <a:rPr lang="en-US" sz="1504" b="1" dirty="0">
                <a:solidFill>
                  <a:srgbClr val="D69E2E"/>
                </a:solidFill>
                <a:latin typeface="MiSans" pitchFamily="34" charset="0"/>
                <a:ea typeface="MiSans" pitchFamily="34" charset="-122"/>
                <a:cs typeface="MiSans" pitchFamily="34" charset="-120"/>
              </a:rPr>
              <a:t>3. 统计信息收集：</a:t>
            </a:r>
            <a:r>
              <a:rPr lang="en-US" sz="1504" dirty="0">
                <a:solidFill>
                  <a:srgbClr val="A0AEC0"/>
                </a:solidFill>
                <a:latin typeface="MiSans" pitchFamily="34" charset="0"/>
                <a:ea typeface="MiSans" pitchFamily="34" charset="-122"/>
                <a:cs typeface="MiSans" pitchFamily="34" charset="-120"/>
              </a:rPr>
              <a:t>维护表的行数、文件大小等统计信息，用于查询优化</a:t>
            </a:r>
            <a:endParaRPr lang="en-US" sz="1600" dirty="0"/>
          </a:p>
        </p:txBody>
      </p:sp>
      <p:sp>
        <p:nvSpPr>
          <p:cNvPr id="8" name="Text 6"/>
          <p:cNvSpPr/>
          <p:nvPr/>
        </p:nvSpPr>
        <p:spPr>
          <a:xfrm>
            <a:off x="477416" y="3485134"/>
            <a:ext cx="7555101" cy="286449"/>
          </a:xfrm>
          <a:prstGeom prst="rect">
            <a:avLst/>
          </a:prstGeom>
          <a:noFill/>
          <a:ln/>
        </p:spPr>
        <p:txBody>
          <a:bodyPr wrap="square" lIns="0" tIns="0" rIns="0" bIns="0" rtlCol="0" anchor="ctr"/>
          <a:lstStyle/>
          <a:p>
            <a:pPr>
              <a:lnSpc>
                <a:spcPct val="130000"/>
              </a:lnSpc>
            </a:pPr>
            <a:r>
              <a:rPr lang="en-US" sz="1504" b="1" dirty="0">
                <a:solidFill>
                  <a:srgbClr val="D69E2E"/>
                </a:solidFill>
                <a:latin typeface="MiSans" pitchFamily="34" charset="0"/>
                <a:ea typeface="MiSans" pitchFamily="34" charset="-122"/>
                <a:cs typeface="MiSans" pitchFamily="34" charset="-120"/>
              </a:rPr>
              <a:t>4. 权限控制：</a:t>
            </a:r>
            <a:r>
              <a:rPr lang="en-US" sz="1504" dirty="0">
                <a:solidFill>
                  <a:srgbClr val="A0AEC0"/>
                </a:solidFill>
                <a:latin typeface="MiSans" pitchFamily="34" charset="0"/>
                <a:ea typeface="MiSans" pitchFamily="34" charset="-122"/>
                <a:cs typeface="MiSans" pitchFamily="34" charset="-120"/>
              </a:rPr>
              <a:t>支持基于角色的访问控制(RBAC)，管理用户权限</a:t>
            </a:r>
            <a:endParaRPr lang="en-US" sz="1600" dirty="0"/>
          </a:p>
        </p:txBody>
      </p:sp>
      <p:sp>
        <p:nvSpPr>
          <p:cNvPr id="9" name="Text 7"/>
          <p:cNvSpPr/>
          <p:nvPr/>
        </p:nvSpPr>
        <p:spPr>
          <a:xfrm>
            <a:off x="477416" y="3914808"/>
            <a:ext cx="7555101" cy="286449"/>
          </a:xfrm>
          <a:prstGeom prst="rect">
            <a:avLst/>
          </a:prstGeom>
          <a:noFill/>
          <a:ln/>
        </p:spPr>
        <p:txBody>
          <a:bodyPr wrap="square" lIns="0" tIns="0" rIns="0" bIns="0" rtlCol="0" anchor="ctr"/>
          <a:lstStyle/>
          <a:p>
            <a:pPr>
              <a:lnSpc>
                <a:spcPct val="130000"/>
              </a:lnSpc>
            </a:pPr>
            <a:r>
              <a:rPr lang="en-US" sz="1504" b="1" dirty="0">
                <a:solidFill>
                  <a:srgbClr val="D69E2E"/>
                </a:solidFill>
                <a:latin typeface="MiSans" pitchFamily="34" charset="0"/>
                <a:ea typeface="MiSans" pitchFamily="34" charset="-122"/>
                <a:cs typeface="MiSans" pitchFamily="34" charset="-120"/>
              </a:rPr>
              <a:t>5. 分区管理：</a:t>
            </a:r>
            <a:r>
              <a:rPr lang="en-US" sz="1504" dirty="0">
                <a:solidFill>
                  <a:srgbClr val="A0AEC0"/>
                </a:solidFill>
                <a:latin typeface="MiSans" pitchFamily="34" charset="0"/>
                <a:ea typeface="MiSans" pitchFamily="34" charset="-122"/>
                <a:cs typeface="MiSans" pitchFamily="34" charset="-120"/>
              </a:rPr>
              <a:t>管理分区表的元数据，支持动态分区和静态分区</a:t>
            </a:r>
            <a:endParaRPr lang="en-US" sz="1600" dirty="0"/>
          </a:p>
        </p:txBody>
      </p:sp>
      <p:sp>
        <p:nvSpPr>
          <p:cNvPr id="10" name="Text 8"/>
          <p:cNvSpPr/>
          <p:nvPr/>
        </p:nvSpPr>
        <p:spPr>
          <a:xfrm>
            <a:off x="477416" y="4487706"/>
            <a:ext cx="7602843" cy="381932"/>
          </a:xfrm>
          <a:prstGeom prst="rect">
            <a:avLst/>
          </a:prstGeom>
          <a:noFill/>
          <a:ln/>
        </p:spPr>
        <p:txBody>
          <a:bodyPr wrap="square" lIns="0" tIns="0" rIns="0" bIns="0" rtlCol="0" anchor="ctr"/>
          <a:lstStyle/>
          <a:p>
            <a:pPr>
              <a:lnSpc>
                <a:spcPct val="110000"/>
              </a:lnSpc>
            </a:pPr>
            <a:r>
              <a:rPr lang="en-US" sz="2256" b="1" dirty="0">
                <a:solidFill>
                  <a:srgbClr val="E2E8F0"/>
                </a:solidFill>
                <a:latin typeface="Noto Sans SC" pitchFamily="34" charset="0"/>
                <a:ea typeface="Noto Sans SC" pitchFamily="34" charset="-122"/>
                <a:cs typeface="Noto Sans SC" pitchFamily="34" charset="-120"/>
              </a:rPr>
              <a:t>在SQL执行流程中的角色</a:t>
            </a:r>
            <a:endParaRPr lang="en-US" sz="1600" dirty="0"/>
          </a:p>
        </p:txBody>
      </p:sp>
      <p:sp>
        <p:nvSpPr>
          <p:cNvPr id="11" name="Text 9"/>
          <p:cNvSpPr/>
          <p:nvPr/>
        </p:nvSpPr>
        <p:spPr>
          <a:xfrm>
            <a:off x="477416" y="5060605"/>
            <a:ext cx="7555101" cy="310320"/>
          </a:xfrm>
          <a:prstGeom prst="rect">
            <a:avLst/>
          </a:prstGeom>
          <a:noFill/>
          <a:ln/>
        </p:spPr>
        <p:txBody>
          <a:bodyPr wrap="square" lIns="0" tIns="0" rIns="0" bIns="0" rtlCol="0" anchor="ctr"/>
          <a:lstStyle/>
          <a:p>
            <a:pPr>
              <a:lnSpc>
                <a:spcPct val="140000"/>
              </a:lnSpc>
            </a:pPr>
            <a:r>
              <a:rPr lang="en-US" sz="1504" dirty="0">
                <a:solidFill>
                  <a:srgbClr val="A0AEC0"/>
                </a:solidFill>
                <a:latin typeface="MiSans" pitchFamily="34" charset="0"/>
                <a:ea typeface="MiSans" pitchFamily="34" charset="-122"/>
                <a:cs typeface="MiSans" pitchFamily="34" charset="-120"/>
              </a:rPr>
              <a:t>Metastore在整个Hive SQL执行流程的</a:t>
            </a:r>
            <a:r>
              <a:rPr lang="en-US" sz="1504" dirty="0">
                <a:solidFill>
                  <a:srgbClr val="D69E2E"/>
                </a:solidFill>
                <a:latin typeface="MiSans" pitchFamily="34" charset="0"/>
                <a:ea typeface="MiSans" pitchFamily="34" charset="-122"/>
                <a:cs typeface="MiSans" pitchFamily="34" charset="-120"/>
              </a:rPr>
              <a:t>第5步"元数据交互"</a:t>
            </a:r>
            <a:r>
              <a:rPr lang="en-US" sz="1504" dirty="0">
                <a:solidFill>
                  <a:srgbClr val="A0AEC0"/>
                </a:solidFill>
                <a:latin typeface="MiSans" pitchFamily="34" charset="0"/>
                <a:ea typeface="MiSans" pitchFamily="34" charset="-122"/>
                <a:cs typeface="MiSans" pitchFamily="34" charset="-120"/>
              </a:rPr>
              <a:t>中发挥核心作用：</a:t>
            </a:r>
            <a:endParaRPr lang="en-US" sz="1600" dirty="0"/>
          </a:p>
        </p:txBody>
      </p:sp>
      <p:sp>
        <p:nvSpPr>
          <p:cNvPr id="12" name="Shape 10"/>
          <p:cNvSpPr/>
          <p:nvPr/>
        </p:nvSpPr>
        <p:spPr>
          <a:xfrm>
            <a:off x="501286" y="5567859"/>
            <a:ext cx="190966" cy="190966"/>
          </a:xfrm>
          <a:custGeom>
            <a:avLst/>
            <a:gdLst/>
            <a:ahLst/>
            <a:cxnLst/>
            <a:rect l="l" t="t" r="r" b="b"/>
            <a:pathLst>
              <a:path w="190966" h="190966">
                <a:moveTo>
                  <a:pt x="187460" y="103912"/>
                </a:moveTo>
                <a:cubicBezTo>
                  <a:pt x="192122" y="99250"/>
                  <a:pt x="192122" y="91679"/>
                  <a:pt x="187460" y="87016"/>
                </a:cubicBezTo>
                <a:lnTo>
                  <a:pt x="127783" y="27340"/>
                </a:lnTo>
                <a:cubicBezTo>
                  <a:pt x="123121" y="22677"/>
                  <a:pt x="115549" y="22677"/>
                  <a:pt x="110887" y="27340"/>
                </a:cubicBezTo>
                <a:cubicBezTo>
                  <a:pt x="106225" y="32002"/>
                  <a:pt x="106225" y="39573"/>
                  <a:pt x="110887" y="44236"/>
                </a:cubicBezTo>
                <a:lnTo>
                  <a:pt x="150199" y="83548"/>
                </a:lnTo>
                <a:lnTo>
                  <a:pt x="11935" y="83548"/>
                </a:lnTo>
                <a:cubicBezTo>
                  <a:pt x="5334" y="83548"/>
                  <a:pt x="0" y="88881"/>
                  <a:pt x="0" y="95483"/>
                </a:cubicBezTo>
                <a:cubicBezTo>
                  <a:pt x="0" y="102085"/>
                  <a:pt x="5334" y="107419"/>
                  <a:pt x="11935" y="107419"/>
                </a:cubicBezTo>
                <a:lnTo>
                  <a:pt x="150199" y="107419"/>
                </a:lnTo>
                <a:lnTo>
                  <a:pt x="110887" y="146731"/>
                </a:lnTo>
                <a:cubicBezTo>
                  <a:pt x="106225" y="151393"/>
                  <a:pt x="106225" y="158964"/>
                  <a:pt x="110887" y="163627"/>
                </a:cubicBezTo>
                <a:cubicBezTo>
                  <a:pt x="115549" y="168289"/>
                  <a:pt x="123121" y="168289"/>
                  <a:pt x="127783" y="163627"/>
                </a:cubicBezTo>
                <a:lnTo>
                  <a:pt x="187460" y="103950"/>
                </a:lnTo>
                <a:close/>
              </a:path>
            </a:pathLst>
          </a:custGeom>
          <a:solidFill>
            <a:srgbClr val="D69E2E"/>
          </a:solidFill>
          <a:ln/>
        </p:spPr>
        <p:txBody>
          <a:bodyPr/>
          <a:lstStyle/>
          <a:p>
            <a:endParaRPr lang="zh-CN" altLang="en-US"/>
          </a:p>
        </p:txBody>
      </p:sp>
      <p:sp>
        <p:nvSpPr>
          <p:cNvPr id="13" name="Text 11"/>
          <p:cNvSpPr/>
          <p:nvPr/>
        </p:nvSpPr>
        <p:spPr>
          <a:xfrm>
            <a:off x="805858" y="5514150"/>
            <a:ext cx="7226659" cy="286449"/>
          </a:xfrm>
          <a:prstGeom prst="rect">
            <a:avLst/>
          </a:prstGeom>
          <a:noFill/>
          <a:ln/>
        </p:spPr>
        <p:txBody>
          <a:bodyPr wrap="square" lIns="0" tIns="0" rIns="0" bIns="0" rtlCol="0" anchor="ctr"/>
          <a:lstStyle/>
          <a:p>
            <a:pPr>
              <a:lnSpc>
                <a:spcPct val="130000"/>
              </a:lnSpc>
            </a:pPr>
            <a:r>
              <a:rPr lang="en-US" sz="1504" b="1" dirty="0">
                <a:solidFill>
                  <a:srgbClr val="E2E8F0"/>
                </a:solidFill>
                <a:latin typeface="MiSans" pitchFamily="34" charset="0"/>
                <a:ea typeface="MiSans" pitchFamily="34" charset="-122"/>
                <a:cs typeface="MiSans" pitchFamily="34" charset="-120"/>
              </a:rPr>
              <a:t>表结构验证：</a:t>
            </a:r>
            <a:r>
              <a:rPr lang="en-US" sz="1504" dirty="0">
                <a:solidFill>
                  <a:srgbClr val="A0AEC0"/>
                </a:solidFill>
                <a:latin typeface="MiSans" pitchFamily="34" charset="0"/>
                <a:ea typeface="MiSans" pitchFamily="34" charset="-122"/>
                <a:cs typeface="MiSans" pitchFamily="34" charset="-120"/>
              </a:rPr>
              <a:t>在查询编译阶段验证表名、列名、数据类型的正确性</a:t>
            </a:r>
            <a:endParaRPr lang="en-US" sz="1600" dirty="0"/>
          </a:p>
        </p:txBody>
      </p:sp>
      <p:sp>
        <p:nvSpPr>
          <p:cNvPr id="14" name="Shape 12"/>
          <p:cNvSpPr/>
          <p:nvPr/>
        </p:nvSpPr>
        <p:spPr>
          <a:xfrm>
            <a:off x="501286" y="5949791"/>
            <a:ext cx="190966" cy="190966"/>
          </a:xfrm>
          <a:custGeom>
            <a:avLst/>
            <a:gdLst/>
            <a:ahLst/>
            <a:cxnLst/>
            <a:rect l="l" t="t" r="r" b="b"/>
            <a:pathLst>
              <a:path w="190966" h="190966">
                <a:moveTo>
                  <a:pt x="187460" y="103912"/>
                </a:moveTo>
                <a:cubicBezTo>
                  <a:pt x="192122" y="99250"/>
                  <a:pt x="192122" y="91679"/>
                  <a:pt x="187460" y="87016"/>
                </a:cubicBezTo>
                <a:lnTo>
                  <a:pt x="127783" y="27340"/>
                </a:lnTo>
                <a:cubicBezTo>
                  <a:pt x="123121" y="22677"/>
                  <a:pt x="115549" y="22677"/>
                  <a:pt x="110887" y="27340"/>
                </a:cubicBezTo>
                <a:cubicBezTo>
                  <a:pt x="106225" y="32002"/>
                  <a:pt x="106225" y="39573"/>
                  <a:pt x="110887" y="44236"/>
                </a:cubicBezTo>
                <a:lnTo>
                  <a:pt x="150199" y="83548"/>
                </a:lnTo>
                <a:lnTo>
                  <a:pt x="11935" y="83548"/>
                </a:lnTo>
                <a:cubicBezTo>
                  <a:pt x="5334" y="83548"/>
                  <a:pt x="0" y="88881"/>
                  <a:pt x="0" y="95483"/>
                </a:cubicBezTo>
                <a:cubicBezTo>
                  <a:pt x="0" y="102085"/>
                  <a:pt x="5334" y="107419"/>
                  <a:pt x="11935" y="107419"/>
                </a:cubicBezTo>
                <a:lnTo>
                  <a:pt x="150199" y="107419"/>
                </a:lnTo>
                <a:lnTo>
                  <a:pt x="110887" y="146731"/>
                </a:lnTo>
                <a:cubicBezTo>
                  <a:pt x="106225" y="151393"/>
                  <a:pt x="106225" y="158964"/>
                  <a:pt x="110887" y="163627"/>
                </a:cubicBezTo>
                <a:cubicBezTo>
                  <a:pt x="115549" y="168289"/>
                  <a:pt x="123121" y="168289"/>
                  <a:pt x="127783" y="163627"/>
                </a:cubicBezTo>
                <a:lnTo>
                  <a:pt x="187460" y="103950"/>
                </a:lnTo>
                <a:close/>
              </a:path>
            </a:pathLst>
          </a:custGeom>
          <a:solidFill>
            <a:srgbClr val="D69E2E"/>
          </a:solidFill>
          <a:ln/>
        </p:spPr>
        <p:txBody>
          <a:bodyPr/>
          <a:lstStyle/>
          <a:p>
            <a:endParaRPr lang="zh-CN" altLang="en-US"/>
          </a:p>
        </p:txBody>
      </p:sp>
      <p:sp>
        <p:nvSpPr>
          <p:cNvPr id="15" name="Text 13"/>
          <p:cNvSpPr/>
          <p:nvPr/>
        </p:nvSpPr>
        <p:spPr>
          <a:xfrm>
            <a:off x="805858" y="5896082"/>
            <a:ext cx="7226659" cy="286449"/>
          </a:xfrm>
          <a:prstGeom prst="rect">
            <a:avLst/>
          </a:prstGeom>
          <a:noFill/>
          <a:ln/>
        </p:spPr>
        <p:txBody>
          <a:bodyPr wrap="square" lIns="0" tIns="0" rIns="0" bIns="0" rtlCol="0" anchor="ctr"/>
          <a:lstStyle/>
          <a:p>
            <a:pPr>
              <a:lnSpc>
                <a:spcPct val="130000"/>
              </a:lnSpc>
            </a:pPr>
            <a:r>
              <a:rPr lang="en-US" sz="1504" b="1" dirty="0">
                <a:solidFill>
                  <a:srgbClr val="E2E8F0"/>
                </a:solidFill>
                <a:latin typeface="MiSans" pitchFamily="34" charset="0"/>
                <a:ea typeface="MiSans" pitchFamily="34" charset="-122"/>
                <a:cs typeface="MiSans" pitchFamily="34" charset="-120"/>
              </a:rPr>
              <a:t>统计信息提供：</a:t>
            </a:r>
            <a:r>
              <a:rPr lang="en-US" sz="1504" dirty="0">
                <a:solidFill>
                  <a:srgbClr val="A0AEC0"/>
                </a:solidFill>
                <a:latin typeface="MiSans" pitchFamily="34" charset="0"/>
                <a:ea typeface="MiSans" pitchFamily="34" charset="-122"/>
                <a:cs typeface="MiSans" pitchFamily="34" charset="-120"/>
              </a:rPr>
              <a:t>为查询优化器提供表的行数、数据量、唯一值数量等统计信息</a:t>
            </a:r>
            <a:endParaRPr lang="en-US" sz="1600" dirty="0"/>
          </a:p>
        </p:txBody>
      </p:sp>
      <p:sp>
        <p:nvSpPr>
          <p:cNvPr id="16" name="Shape 14"/>
          <p:cNvSpPr/>
          <p:nvPr/>
        </p:nvSpPr>
        <p:spPr>
          <a:xfrm>
            <a:off x="501286" y="6331724"/>
            <a:ext cx="190966" cy="190966"/>
          </a:xfrm>
          <a:custGeom>
            <a:avLst/>
            <a:gdLst/>
            <a:ahLst/>
            <a:cxnLst/>
            <a:rect l="l" t="t" r="r" b="b"/>
            <a:pathLst>
              <a:path w="190966" h="190966">
                <a:moveTo>
                  <a:pt x="187460" y="103912"/>
                </a:moveTo>
                <a:cubicBezTo>
                  <a:pt x="192122" y="99250"/>
                  <a:pt x="192122" y="91679"/>
                  <a:pt x="187460" y="87016"/>
                </a:cubicBezTo>
                <a:lnTo>
                  <a:pt x="127783" y="27340"/>
                </a:lnTo>
                <a:cubicBezTo>
                  <a:pt x="123121" y="22677"/>
                  <a:pt x="115549" y="22677"/>
                  <a:pt x="110887" y="27340"/>
                </a:cubicBezTo>
                <a:cubicBezTo>
                  <a:pt x="106225" y="32002"/>
                  <a:pt x="106225" y="39573"/>
                  <a:pt x="110887" y="44236"/>
                </a:cubicBezTo>
                <a:lnTo>
                  <a:pt x="150199" y="83548"/>
                </a:lnTo>
                <a:lnTo>
                  <a:pt x="11935" y="83548"/>
                </a:lnTo>
                <a:cubicBezTo>
                  <a:pt x="5334" y="83548"/>
                  <a:pt x="0" y="88881"/>
                  <a:pt x="0" y="95483"/>
                </a:cubicBezTo>
                <a:cubicBezTo>
                  <a:pt x="0" y="102085"/>
                  <a:pt x="5334" y="107419"/>
                  <a:pt x="11935" y="107419"/>
                </a:cubicBezTo>
                <a:lnTo>
                  <a:pt x="150199" y="107419"/>
                </a:lnTo>
                <a:lnTo>
                  <a:pt x="110887" y="146731"/>
                </a:lnTo>
                <a:cubicBezTo>
                  <a:pt x="106225" y="151393"/>
                  <a:pt x="106225" y="158964"/>
                  <a:pt x="110887" y="163627"/>
                </a:cubicBezTo>
                <a:cubicBezTo>
                  <a:pt x="115549" y="168289"/>
                  <a:pt x="123121" y="168289"/>
                  <a:pt x="127783" y="163627"/>
                </a:cubicBezTo>
                <a:lnTo>
                  <a:pt x="187460" y="103950"/>
                </a:lnTo>
                <a:close/>
              </a:path>
            </a:pathLst>
          </a:custGeom>
          <a:solidFill>
            <a:srgbClr val="D69E2E"/>
          </a:solidFill>
          <a:ln/>
        </p:spPr>
        <p:txBody>
          <a:bodyPr/>
          <a:lstStyle/>
          <a:p>
            <a:endParaRPr lang="zh-CN" altLang="en-US"/>
          </a:p>
        </p:txBody>
      </p:sp>
      <p:sp>
        <p:nvSpPr>
          <p:cNvPr id="17" name="Text 15"/>
          <p:cNvSpPr/>
          <p:nvPr/>
        </p:nvSpPr>
        <p:spPr>
          <a:xfrm>
            <a:off x="805858" y="6278015"/>
            <a:ext cx="7226659" cy="286449"/>
          </a:xfrm>
          <a:prstGeom prst="rect">
            <a:avLst/>
          </a:prstGeom>
          <a:noFill/>
          <a:ln/>
        </p:spPr>
        <p:txBody>
          <a:bodyPr wrap="square" lIns="0" tIns="0" rIns="0" bIns="0" rtlCol="0" anchor="ctr"/>
          <a:lstStyle/>
          <a:p>
            <a:pPr>
              <a:lnSpc>
                <a:spcPct val="130000"/>
              </a:lnSpc>
            </a:pPr>
            <a:r>
              <a:rPr lang="en-US" sz="1504" b="1" dirty="0">
                <a:solidFill>
                  <a:srgbClr val="E2E8F0"/>
                </a:solidFill>
                <a:latin typeface="MiSans" pitchFamily="34" charset="0"/>
                <a:ea typeface="MiSans" pitchFamily="34" charset="-122"/>
                <a:cs typeface="MiSans" pitchFamily="34" charset="-120"/>
              </a:rPr>
              <a:t>权限控制：</a:t>
            </a:r>
            <a:r>
              <a:rPr lang="en-US" sz="1504" dirty="0">
                <a:solidFill>
                  <a:srgbClr val="A0AEC0"/>
                </a:solidFill>
                <a:latin typeface="MiSans" pitchFamily="34" charset="0"/>
                <a:ea typeface="MiSans" pitchFamily="34" charset="-122"/>
                <a:cs typeface="MiSans" pitchFamily="34" charset="-120"/>
              </a:rPr>
              <a:t>验证用户对表数据的访问权限，确保数据安全</a:t>
            </a:r>
            <a:endParaRPr lang="en-US" sz="1600" dirty="0"/>
          </a:p>
        </p:txBody>
      </p:sp>
      <p:sp>
        <p:nvSpPr>
          <p:cNvPr id="18" name="Shape 16"/>
          <p:cNvSpPr/>
          <p:nvPr/>
        </p:nvSpPr>
        <p:spPr>
          <a:xfrm>
            <a:off x="501286" y="6713656"/>
            <a:ext cx="190966" cy="190966"/>
          </a:xfrm>
          <a:custGeom>
            <a:avLst/>
            <a:gdLst/>
            <a:ahLst/>
            <a:cxnLst/>
            <a:rect l="l" t="t" r="r" b="b"/>
            <a:pathLst>
              <a:path w="190966" h="190966">
                <a:moveTo>
                  <a:pt x="187460" y="103912"/>
                </a:moveTo>
                <a:cubicBezTo>
                  <a:pt x="192122" y="99250"/>
                  <a:pt x="192122" y="91679"/>
                  <a:pt x="187460" y="87016"/>
                </a:cubicBezTo>
                <a:lnTo>
                  <a:pt x="127783" y="27340"/>
                </a:lnTo>
                <a:cubicBezTo>
                  <a:pt x="123121" y="22677"/>
                  <a:pt x="115549" y="22677"/>
                  <a:pt x="110887" y="27340"/>
                </a:cubicBezTo>
                <a:cubicBezTo>
                  <a:pt x="106225" y="32002"/>
                  <a:pt x="106225" y="39573"/>
                  <a:pt x="110887" y="44236"/>
                </a:cubicBezTo>
                <a:lnTo>
                  <a:pt x="150199" y="83548"/>
                </a:lnTo>
                <a:lnTo>
                  <a:pt x="11935" y="83548"/>
                </a:lnTo>
                <a:cubicBezTo>
                  <a:pt x="5334" y="83548"/>
                  <a:pt x="0" y="88881"/>
                  <a:pt x="0" y="95483"/>
                </a:cubicBezTo>
                <a:cubicBezTo>
                  <a:pt x="0" y="102085"/>
                  <a:pt x="5334" y="107419"/>
                  <a:pt x="11935" y="107419"/>
                </a:cubicBezTo>
                <a:lnTo>
                  <a:pt x="150199" y="107419"/>
                </a:lnTo>
                <a:lnTo>
                  <a:pt x="110887" y="146731"/>
                </a:lnTo>
                <a:cubicBezTo>
                  <a:pt x="106225" y="151393"/>
                  <a:pt x="106225" y="158964"/>
                  <a:pt x="110887" y="163627"/>
                </a:cubicBezTo>
                <a:cubicBezTo>
                  <a:pt x="115549" y="168289"/>
                  <a:pt x="123121" y="168289"/>
                  <a:pt x="127783" y="163627"/>
                </a:cubicBezTo>
                <a:lnTo>
                  <a:pt x="187460" y="103950"/>
                </a:lnTo>
                <a:close/>
              </a:path>
            </a:pathLst>
          </a:custGeom>
          <a:solidFill>
            <a:srgbClr val="D69E2E"/>
          </a:solidFill>
          <a:ln/>
        </p:spPr>
        <p:txBody>
          <a:bodyPr/>
          <a:lstStyle/>
          <a:p>
            <a:endParaRPr lang="zh-CN" altLang="en-US"/>
          </a:p>
        </p:txBody>
      </p:sp>
      <p:sp>
        <p:nvSpPr>
          <p:cNvPr id="19" name="Text 17"/>
          <p:cNvSpPr/>
          <p:nvPr/>
        </p:nvSpPr>
        <p:spPr>
          <a:xfrm>
            <a:off x="805858" y="6659947"/>
            <a:ext cx="7226659" cy="286449"/>
          </a:xfrm>
          <a:prstGeom prst="rect">
            <a:avLst/>
          </a:prstGeom>
          <a:noFill/>
          <a:ln/>
        </p:spPr>
        <p:txBody>
          <a:bodyPr wrap="square" lIns="0" tIns="0" rIns="0" bIns="0" rtlCol="0" anchor="ctr"/>
          <a:lstStyle/>
          <a:p>
            <a:pPr>
              <a:lnSpc>
                <a:spcPct val="130000"/>
              </a:lnSpc>
            </a:pPr>
            <a:r>
              <a:rPr lang="en-US" sz="1504" b="1" dirty="0">
                <a:solidFill>
                  <a:srgbClr val="E2E8F0"/>
                </a:solidFill>
                <a:latin typeface="MiSans" pitchFamily="34" charset="0"/>
                <a:ea typeface="MiSans" pitchFamily="34" charset="-122"/>
                <a:cs typeface="MiSans" pitchFamily="34" charset="-120"/>
              </a:rPr>
              <a:t>分区管理：</a:t>
            </a:r>
            <a:r>
              <a:rPr lang="en-US" sz="1504" dirty="0">
                <a:solidFill>
                  <a:srgbClr val="A0AEC0"/>
                </a:solidFill>
                <a:latin typeface="MiSans" pitchFamily="34" charset="0"/>
                <a:ea typeface="MiSans" pitchFamily="34" charset="-122"/>
                <a:cs typeface="MiSans" pitchFamily="34" charset="-120"/>
              </a:rPr>
              <a:t>提供分区元数据，支持分区裁剪优化</a:t>
            </a:r>
            <a:endParaRPr lang="en-US" sz="1600" dirty="0"/>
          </a:p>
        </p:txBody>
      </p:sp>
      <p:sp>
        <p:nvSpPr>
          <p:cNvPr id="20" name="Text 18"/>
          <p:cNvSpPr/>
          <p:nvPr/>
        </p:nvSpPr>
        <p:spPr>
          <a:xfrm>
            <a:off x="8317661" y="1623213"/>
            <a:ext cx="7602843" cy="381932"/>
          </a:xfrm>
          <a:prstGeom prst="rect">
            <a:avLst/>
          </a:prstGeom>
          <a:noFill/>
          <a:ln/>
        </p:spPr>
        <p:txBody>
          <a:bodyPr wrap="square" lIns="0" tIns="0" rIns="0" bIns="0" rtlCol="0" anchor="ctr"/>
          <a:lstStyle/>
          <a:p>
            <a:pPr>
              <a:lnSpc>
                <a:spcPct val="110000"/>
              </a:lnSpc>
            </a:pPr>
            <a:r>
              <a:rPr lang="en-US" sz="2256" b="1" dirty="0">
                <a:solidFill>
                  <a:srgbClr val="E2E8F0"/>
                </a:solidFill>
                <a:latin typeface="Noto Sans SC" pitchFamily="34" charset="0"/>
                <a:ea typeface="Noto Sans SC" pitchFamily="34" charset="-122"/>
                <a:cs typeface="Noto Sans SC" pitchFamily="34" charset="-120"/>
              </a:rPr>
              <a:t>独特架构特性</a:t>
            </a:r>
            <a:endParaRPr lang="en-US" sz="1600" dirty="0"/>
          </a:p>
        </p:txBody>
      </p:sp>
      <p:sp>
        <p:nvSpPr>
          <p:cNvPr id="21" name="Shape 19"/>
          <p:cNvSpPr/>
          <p:nvPr/>
        </p:nvSpPr>
        <p:spPr>
          <a:xfrm>
            <a:off x="8341532" y="2196112"/>
            <a:ext cx="47742" cy="1002573"/>
          </a:xfrm>
          <a:custGeom>
            <a:avLst/>
            <a:gdLst/>
            <a:ahLst/>
            <a:cxnLst/>
            <a:rect l="l" t="t" r="r" b="b"/>
            <a:pathLst>
              <a:path w="47742" h="1002573">
                <a:moveTo>
                  <a:pt x="0" y="0"/>
                </a:moveTo>
                <a:lnTo>
                  <a:pt x="47742" y="0"/>
                </a:lnTo>
                <a:lnTo>
                  <a:pt x="47742" y="1002573"/>
                </a:lnTo>
                <a:lnTo>
                  <a:pt x="0" y="1002573"/>
                </a:lnTo>
                <a:lnTo>
                  <a:pt x="0" y="0"/>
                </a:lnTo>
                <a:close/>
              </a:path>
            </a:pathLst>
          </a:custGeom>
          <a:solidFill>
            <a:srgbClr val="D69E2E"/>
          </a:solidFill>
          <a:ln/>
        </p:spPr>
        <p:txBody>
          <a:bodyPr/>
          <a:lstStyle/>
          <a:p>
            <a:endParaRPr lang="zh-CN" altLang="en-US"/>
          </a:p>
        </p:txBody>
      </p:sp>
      <p:sp>
        <p:nvSpPr>
          <p:cNvPr id="22" name="Text 20"/>
          <p:cNvSpPr/>
          <p:nvPr/>
        </p:nvSpPr>
        <p:spPr>
          <a:xfrm>
            <a:off x="8604110" y="2339336"/>
            <a:ext cx="7280587" cy="334191"/>
          </a:xfrm>
          <a:prstGeom prst="rect">
            <a:avLst/>
          </a:prstGeom>
          <a:noFill/>
          <a:ln/>
        </p:spPr>
        <p:txBody>
          <a:bodyPr wrap="square" lIns="0" tIns="0" rIns="0" bIns="0" rtlCol="0" anchor="ctr"/>
          <a:lstStyle/>
          <a:p>
            <a:pPr>
              <a:lnSpc>
                <a:spcPct val="130000"/>
              </a:lnSpc>
            </a:pPr>
            <a:r>
              <a:rPr lang="en-US" sz="1692" b="1" dirty="0">
                <a:solidFill>
                  <a:srgbClr val="E2E8F0"/>
                </a:solidFill>
                <a:latin typeface="MiSans" pitchFamily="34" charset="0"/>
                <a:ea typeface="MiSans" pitchFamily="34" charset="-122"/>
                <a:cs typeface="MiSans" pitchFamily="34" charset="-120"/>
              </a:rPr>
              <a:t>客户端-服务端架构</a:t>
            </a:r>
            <a:endParaRPr lang="en-US" sz="1600" dirty="0"/>
          </a:p>
        </p:txBody>
      </p:sp>
      <p:sp>
        <p:nvSpPr>
          <p:cNvPr id="23" name="Text 21"/>
          <p:cNvSpPr/>
          <p:nvPr/>
        </p:nvSpPr>
        <p:spPr>
          <a:xfrm>
            <a:off x="8604110" y="2769010"/>
            <a:ext cx="7268652" cy="286449"/>
          </a:xfrm>
          <a:prstGeom prst="rect">
            <a:avLst/>
          </a:prstGeom>
          <a:noFill/>
          <a:ln/>
        </p:spPr>
        <p:txBody>
          <a:bodyPr wrap="square" lIns="0" tIns="0" rIns="0" bIns="0" rtlCol="0" anchor="ctr"/>
          <a:lstStyle/>
          <a:p>
            <a:pPr>
              <a:lnSpc>
                <a:spcPct val="130000"/>
              </a:lnSpc>
            </a:pPr>
            <a:r>
              <a:rPr lang="en-US" sz="1504" dirty="0">
                <a:solidFill>
                  <a:srgbClr val="A0AEC0"/>
                </a:solidFill>
                <a:latin typeface="MiSans" pitchFamily="34" charset="0"/>
                <a:ea typeface="MiSans" pitchFamily="34" charset="-122"/>
                <a:cs typeface="MiSans" pitchFamily="34" charset="-120"/>
              </a:rPr>
              <a:t>通过标准化的Thrift API提供服务，支持远程访问</a:t>
            </a:r>
            <a:endParaRPr lang="en-US" sz="1600" dirty="0"/>
          </a:p>
        </p:txBody>
      </p:sp>
      <p:sp>
        <p:nvSpPr>
          <p:cNvPr id="24" name="Shape 22"/>
          <p:cNvSpPr/>
          <p:nvPr/>
        </p:nvSpPr>
        <p:spPr>
          <a:xfrm>
            <a:off x="8341532" y="3389651"/>
            <a:ext cx="47742" cy="1002573"/>
          </a:xfrm>
          <a:custGeom>
            <a:avLst/>
            <a:gdLst/>
            <a:ahLst/>
            <a:cxnLst/>
            <a:rect l="l" t="t" r="r" b="b"/>
            <a:pathLst>
              <a:path w="47742" h="1002573">
                <a:moveTo>
                  <a:pt x="0" y="0"/>
                </a:moveTo>
                <a:lnTo>
                  <a:pt x="47742" y="0"/>
                </a:lnTo>
                <a:lnTo>
                  <a:pt x="47742" y="1002573"/>
                </a:lnTo>
                <a:lnTo>
                  <a:pt x="0" y="1002573"/>
                </a:lnTo>
                <a:lnTo>
                  <a:pt x="0" y="0"/>
                </a:lnTo>
                <a:close/>
              </a:path>
            </a:pathLst>
          </a:custGeom>
          <a:solidFill>
            <a:srgbClr val="D69E2E"/>
          </a:solidFill>
          <a:ln/>
        </p:spPr>
        <p:txBody>
          <a:bodyPr/>
          <a:lstStyle/>
          <a:p>
            <a:endParaRPr lang="zh-CN" altLang="en-US"/>
          </a:p>
        </p:txBody>
      </p:sp>
      <p:sp>
        <p:nvSpPr>
          <p:cNvPr id="25" name="Text 23"/>
          <p:cNvSpPr/>
          <p:nvPr/>
        </p:nvSpPr>
        <p:spPr>
          <a:xfrm>
            <a:off x="8604110" y="3532875"/>
            <a:ext cx="7280587" cy="334191"/>
          </a:xfrm>
          <a:prstGeom prst="rect">
            <a:avLst/>
          </a:prstGeom>
          <a:noFill/>
          <a:ln/>
        </p:spPr>
        <p:txBody>
          <a:bodyPr wrap="square" lIns="0" tIns="0" rIns="0" bIns="0" rtlCol="0" anchor="ctr"/>
          <a:lstStyle/>
          <a:p>
            <a:pPr>
              <a:lnSpc>
                <a:spcPct val="130000"/>
              </a:lnSpc>
            </a:pPr>
            <a:r>
              <a:rPr lang="en-US" sz="1692" b="1" dirty="0">
                <a:solidFill>
                  <a:srgbClr val="E2E8F0"/>
                </a:solidFill>
                <a:latin typeface="MiSans" pitchFamily="34" charset="0"/>
                <a:ea typeface="MiSans" pitchFamily="34" charset="-122"/>
                <a:cs typeface="MiSans" pitchFamily="34" charset="-120"/>
              </a:rPr>
              <a:t>多数据库后端支持</a:t>
            </a:r>
            <a:endParaRPr lang="en-US" sz="1600" dirty="0"/>
          </a:p>
        </p:txBody>
      </p:sp>
      <p:sp>
        <p:nvSpPr>
          <p:cNvPr id="26" name="Text 24"/>
          <p:cNvSpPr/>
          <p:nvPr/>
        </p:nvSpPr>
        <p:spPr>
          <a:xfrm>
            <a:off x="8604110" y="3962549"/>
            <a:ext cx="7268652" cy="286449"/>
          </a:xfrm>
          <a:prstGeom prst="rect">
            <a:avLst/>
          </a:prstGeom>
          <a:noFill/>
          <a:ln/>
        </p:spPr>
        <p:txBody>
          <a:bodyPr wrap="square" lIns="0" tIns="0" rIns="0" bIns="0" rtlCol="0" anchor="ctr"/>
          <a:lstStyle/>
          <a:p>
            <a:pPr>
              <a:lnSpc>
                <a:spcPct val="130000"/>
              </a:lnSpc>
            </a:pPr>
            <a:r>
              <a:rPr lang="en-US" sz="1504" dirty="0">
                <a:solidFill>
                  <a:srgbClr val="A0AEC0"/>
                </a:solidFill>
                <a:latin typeface="MiSans" pitchFamily="34" charset="0"/>
                <a:ea typeface="MiSans" pitchFamily="34" charset="-122"/>
                <a:cs typeface="MiSans" pitchFamily="34" charset="-120"/>
              </a:rPr>
              <a:t>支持MySQL、PostgreSQL、Oracle等多种关系型数据库作为存储后端</a:t>
            </a:r>
            <a:endParaRPr lang="en-US" sz="1600" dirty="0"/>
          </a:p>
        </p:txBody>
      </p:sp>
      <p:sp>
        <p:nvSpPr>
          <p:cNvPr id="27" name="Shape 25"/>
          <p:cNvSpPr/>
          <p:nvPr/>
        </p:nvSpPr>
        <p:spPr>
          <a:xfrm>
            <a:off x="8341532" y="4583189"/>
            <a:ext cx="47742" cy="1002573"/>
          </a:xfrm>
          <a:custGeom>
            <a:avLst/>
            <a:gdLst/>
            <a:ahLst/>
            <a:cxnLst/>
            <a:rect l="l" t="t" r="r" b="b"/>
            <a:pathLst>
              <a:path w="47742" h="1002573">
                <a:moveTo>
                  <a:pt x="0" y="0"/>
                </a:moveTo>
                <a:lnTo>
                  <a:pt x="47742" y="0"/>
                </a:lnTo>
                <a:lnTo>
                  <a:pt x="47742" y="1002573"/>
                </a:lnTo>
                <a:lnTo>
                  <a:pt x="0" y="1002573"/>
                </a:lnTo>
                <a:lnTo>
                  <a:pt x="0" y="0"/>
                </a:lnTo>
                <a:close/>
              </a:path>
            </a:pathLst>
          </a:custGeom>
          <a:solidFill>
            <a:srgbClr val="D69E2E"/>
          </a:solidFill>
          <a:ln/>
        </p:spPr>
        <p:txBody>
          <a:bodyPr/>
          <a:lstStyle/>
          <a:p>
            <a:endParaRPr lang="zh-CN" altLang="en-US"/>
          </a:p>
        </p:txBody>
      </p:sp>
      <p:sp>
        <p:nvSpPr>
          <p:cNvPr id="28" name="Text 26"/>
          <p:cNvSpPr/>
          <p:nvPr/>
        </p:nvSpPr>
        <p:spPr>
          <a:xfrm>
            <a:off x="8604110" y="4726414"/>
            <a:ext cx="7280587" cy="334191"/>
          </a:xfrm>
          <a:prstGeom prst="rect">
            <a:avLst/>
          </a:prstGeom>
          <a:noFill/>
          <a:ln/>
        </p:spPr>
        <p:txBody>
          <a:bodyPr wrap="square" lIns="0" tIns="0" rIns="0" bIns="0" rtlCol="0" anchor="ctr"/>
          <a:lstStyle/>
          <a:p>
            <a:pPr>
              <a:lnSpc>
                <a:spcPct val="130000"/>
              </a:lnSpc>
            </a:pPr>
            <a:r>
              <a:rPr lang="en-US" sz="1692" b="1" dirty="0">
                <a:solidFill>
                  <a:srgbClr val="E2E8F0"/>
                </a:solidFill>
                <a:latin typeface="MiSans" pitchFamily="34" charset="0"/>
                <a:ea typeface="MiSans" pitchFamily="34" charset="-122"/>
                <a:cs typeface="MiSans" pitchFamily="34" charset="-120"/>
              </a:rPr>
              <a:t>事务一致性保证</a:t>
            </a:r>
            <a:endParaRPr lang="en-US" sz="1600" dirty="0"/>
          </a:p>
        </p:txBody>
      </p:sp>
      <p:sp>
        <p:nvSpPr>
          <p:cNvPr id="29" name="Text 27"/>
          <p:cNvSpPr/>
          <p:nvPr/>
        </p:nvSpPr>
        <p:spPr>
          <a:xfrm>
            <a:off x="8604110" y="5156088"/>
            <a:ext cx="7268652" cy="286449"/>
          </a:xfrm>
          <a:prstGeom prst="rect">
            <a:avLst/>
          </a:prstGeom>
          <a:noFill/>
          <a:ln/>
        </p:spPr>
        <p:txBody>
          <a:bodyPr wrap="square" lIns="0" tIns="0" rIns="0" bIns="0" rtlCol="0" anchor="ctr"/>
          <a:lstStyle/>
          <a:p>
            <a:pPr>
              <a:lnSpc>
                <a:spcPct val="130000"/>
              </a:lnSpc>
            </a:pPr>
            <a:r>
              <a:rPr lang="en-US" sz="1504" dirty="0">
                <a:solidFill>
                  <a:srgbClr val="A0AEC0"/>
                </a:solidFill>
                <a:latin typeface="MiSans" pitchFamily="34" charset="0"/>
                <a:ea typeface="MiSans" pitchFamily="34" charset="-122"/>
                <a:cs typeface="MiSans" pitchFamily="34" charset="-120"/>
              </a:rPr>
              <a:t>基于底层RDBMS的事务机制确保元数据操作的ACID特性</a:t>
            </a:r>
            <a:endParaRPr lang="en-US" sz="1600" dirty="0"/>
          </a:p>
        </p:txBody>
      </p:sp>
      <p:sp>
        <p:nvSpPr>
          <p:cNvPr id="30" name="Shape 28"/>
          <p:cNvSpPr/>
          <p:nvPr/>
        </p:nvSpPr>
        <p:spPr>
          <a:xfrm>
            <a:off x="8341532" y="5776728"/>
            <a:ext cx="47742" cy="1002573"/>
          </a:xfrm>
          <a:custGeom>
            <a:avLst/>
            <a:gdLst/>
            <a:ahLst/>
            <a:cxnLst/>
            <a:rect l="l" t="t" r="r" b="b"/>
            <a:pathLst>
              <a:path w="47742" h="1002573">
                <a:moveTo>
                  <a:pt x="0" y="0"/>
                </a:moveTo>
                <a:lnTo>
                  <a:pt x="47742" y="0"/>
                </a:lnTo>
                <a:lnTo>
                  <a:pt x="47742" y="1002573"/>
                </a:lnTo>
                <a:lnTo>
                  <a:pt x="0" y="1002573"/>
                </a:lnTo>
                <a:lnTo>
                  <a:pt x="0" y="0"/>
                </a:lnTo>
                <a:close/>
              </a:path>
            </a:pathLst>
          </a:custGeom>
          <a:solidFill>
            <a:srgbClr val="D69E2E"/>
          </a:solidFill>
          <a:ln/>
        </p:spPr>
        <p:txBody>
          <a:bodyPr/>
          <a:lstStyle/>
          <a:p>
            <a:endParaRPr lang="zh-CN" altLang="en-US"/>
          </a:p>
        </p:txBody>
      </p:sp>
      <p:sp>
        <p:nvSpPr>
          <p:cNvPr id="31" name="Text 29"/>
          <p:cNvSpPr/>
          <p:nvPr/>
        </p:nvSpPr>
        <p:spPr>
          <a:xfrm>
            <a:off x="8604110" y="5919953"/>
            <a:ext cx="7280587" cy="334191"/>
          </a:xfrm>
          <a:prstGeom prst="rect">
            <a:avLst/>
          </a:prstGeom>
          <a:noFill/>
          <a:ln/>
        </p:spPr>
        <p:txBody>
          <a:bodyPr wrap="square" lIns="0" tIns="0" rIns="0" bIns="0" rtlCol="0" anchor="ctr"/>
          <a:lstStyle/>
          <a:p>
            <a:pPr>
              <a:lnSpc>
                <a:spcPct val="130000"/>
              </a:lnSpc>
            </a:pPr>
            <a:r>
              <a:rPr lang="en-US" sz="1692" b="1" dirty="0">
                <a:solidFill>
                  <a:srgbClr val="E2E8F0"/>
                </a:solidFill>
                <a:latin typeface="MiSans" pitchFamily="34" charset="0"/>
                <a:ea typeface="MiSans" pitchFamily="34" charset="-122"/>
                <a:cs typeface="MiSans" pitchFamily="34" charset="-120"/>
              </a:rPr>
              <a:t>并发访问控制</a:t>
            </a:r>
            <a:endParaRPr lang="en-US" sz="1600" dirty="0"/>
          </a:p>
        </p:txBody>
      </p:sp>
      <p:sp>
        <p:nvSpPr>
          <p:cNvPr id="32" name="Text 30"/>
          <p:cNvSpPr/>
          <p:nvPr/>
        </p:nvSpPr>
        <p:spPr>
          <a:xfrm>
            <a:off x="8604110" y="6349627"/>
            <a:ext cx="7268652" cy="286449"/>
          </a:xfrm>
          <a:prstGeom prst="rect">
            <a:avLst/>
          </a:prstGeom>
          <a:noFill/>
          <a:ln/>
        </p:spPr>
        <p:txBody>
          <a:bodyPr wrap="square" lIns="0" tIns="0" rIns="0" bIns="0" rtlCol="0" anchor="ctr"/>
          <a:lstStyle/>
          <a:p>
            <a:pPr>
              <a:lnSpc>
                <a:spcPct val="130000"/>
              </a:lnSpc>
            </a:pPr>
            <a:r>
              <a:rPr lang="en-US" sz="1504" dirty="0">
                <a:solidFill>
                  <a:srgbClr val="A0AEC0"/>
                </a:solidFill>
                <a:latin typeface="MiSans" pitchFamily="34" charset="0"/>
                <a:ea typeface="MiSans" pitchFamily="34" charset="-122"/>
                <a:cs typeface="MiSans" pitchFamily="34" charset="-120"/>
              </a:rPr>
              <a:t>支持多用户并发访问，通过锁机制避免元数据冲突</a:t>
            </a:r>
            <a:endParaRPr lang="en-US" sz="1600" dirty="0"/>
          </a:p>
        </p:txBody>
      </p:sp>
      <p:sp>
        <p:nvSpPr>
          <p:cNvPr id="33" name="Shape 31"/>
          <p:cNvSpPr/>
          <p:nvPr/>
        </p:nvSpPr>
        <p:spPr>
          <a:xfrm>
            <a:off x="8323628" y="7071718"/>
            <a:ext cx="7447683" cy="1587407"/>
          </a:xfrm>
          <a:custGeom>
            <a:avLst/>
            <a:gdLst/>
            <a:ahLst/>
            <a:cxnLst/>
            <a:rect l="l" t="t" r="r" b="b"/>
            <a:pathLst>
              <a:path w="7447683" h="1587407">
                <a:moveTo>
                  <a:pt x="95483" y="0"/>
                </a:moveTo>
                <a:lnTo>
                  <a:pt x="7352200" y="0"/>
                </a:lnTo>
                <a:cubicBezTo>
                  <a:pt x="7404934" y="0"/>
                  <a:pt x="7447683" y="42749"/>
                  <a:pt x="7447683" y="95483"/>
                </a:cubicBezTo>
                <a:lnTo>
                  <a:pt x="7447683" y="1491924"/>
                </a:lnTo>
                <a:cubicBezTo>
                  <a:pt x="7447683" y="1544658"/>
                  <a:pt x="7404934" y="1587407"/>
                  <a:pt x="7352200" y="1587407"/>
                </a:cubicBezTo>
                <a:lnTo>
                  <a:pt x="95483" y="1587407"/>
                </a:lnTo>
                <a:cubicBezTo>
                  <a:pt x="42749" y="1587407"/>
                  <a:pt x="0" y="1544658"/>
                  <a:pt x="0" y="1491924"/>
                </a:cubicBezTo>
                <a:lnTo>
                  <a:pt x="0" y="95483"/>
                </a:lnTo>
                <a:cubicBezTo>
                  <a:pt x="0" y="42749"/>
                  <a:pt x="42749" y="0"/>
                  <a:pt x="95483" y="0"/>
                </a:cubicBezTo>
                <a:close/>
              </a:path>
            </a:pathLst>
          </a:custGeom>
          <a:solidFill>
            <a:srgbClr val="D69E2E">
              <a:alpha val="10196"/>
            </a:srgbClr>
          </a:solidFill>
          <a:ln w="12700">
            <a:solidFill>
              <a:srgbClr val="D69E2E"/>
            </a:solidFill>
            <a:prstDash val="solid"/>
          </a:ln>
        </p:spPr>
        <p:txBody>
          <a:bodyPr/>
          <a:lstStyle/>
          <a:p>
            <a:endParaRPr lang="zh-CN" altLang="en-US"/>
          </a:p>
        </p:txBody>
      </p:sp>
      <p:sp>
        <p:nvSpPr>
          <p:cNvPr id="34" name="Shape 32"/>
          <p:cNvSpPr/>
          <p:nvPr/>
        </p:nvSpPr>
        <p:spPr>
          <a:xfrm>
            <a:off x="8598142" y="7364135"/>
            <a:ext cx="238708" cy="238708"/>
          </a:xfrm>
          <a:custGeom>
            <a:avLst/>
            <a:gdLst/>
            <a:ahLst/>
            <a:cxnLst/>
            <a:rect l="l" t="t" r="r" b="b"/>
            <a:pathLst>
              <a:path w="238708" h="238708">
                <a:moveTo>
                  <a:pt x="119354" y="0"/>
                </a:moveTo>
                <a:cubicBezTo>
                  <a:pt x="126207" y="0"/>
                  <a:pt x="132501" y="3776"/>
                  <a:pt x="135765" y="9791"/>
                </a:cubicBezTo>
                <a:lnTo>
                  <a:pt x="236470" y="196281"/>
                </a:lnTo>
                <a:cubicBezTo>
                  <a:pt x="239594" y="202062"/>
                  <a:pt x="239454" y="209056"/>
                  <a:pt x="236097" y="214697"/>
                </a:cubicBezTo>
                <a:cubicBezTo>
                  <a:pt x="232740" y="220338"/>
                  <a:pt x="226633" y="223789"/>
                  <a:pt x="220059" y="223789"/>
                </a:cubicBezTo>
                <a:lnTo>
                  <a:pt x="18649" y="223789"/>
                </a:lnTo>
                <a:cubicBezTo>
                  <a:pt x="12075" y="223789"/>
                  <a:pt x="6014" y="220338"/>
                  <a:pt x="2611" y="214697"/>
                </a:cubicBezTo>
                <a:cubicBezTo>
                  <a:pt x="-793" y="209056"/>
                  <a:pt x="-886" y="202062"/>
                  <a:pt x="2238" y="196281"/>
                </a:cubicBezTo>
                <a:lnTo>
                  <a:pt x="102943" y="9791"/>
                </a:lnTo>
                <a:cubicBezTo>
                  <a:pt x="106206" y="3776"/>
                  <a:pt x="112500" y="0"/>
                  <a:pt x="119354" y="0"/>
                </a:cubicBezTo>
                <a:close/>
                <a:moveTo>
                  <a:pt x="119354" y="78326"/>
                </a:moveTo>
                <a:cubicBezTo>
                  <a:pt x="113153" y="78326"/>
                  <a:pt x="108164" y="83315"/>
                  <a:pt x="108164" y="89515"/>
                </a:cubicBezTo>
                <a:lnTo>
                  <a:pt x="108164" y="141733"/>
                </a:lnTo>
                <a:cubicBezTo>
                  <a:pt x="108164" y="147934"/>
                  <a:pt x="113153" y="152922"/>
                  <a:pt x="119354" y="152922"/>
                </a:cubicBezTo>
                <a:cubicBezTo>
                  <a:pt x="125555" y="152922"/>
                  <a:pt x="130543" y="147934"/>
                  <a:pt x="130543" y="141733"/>
                </a:cubicBezTo>
                <a:lnTo>
                  <a:pt x="130543" y="89515"/>
                </a:lnTo>
                <a:cubicBezTo>
                  <a:pt x="130543" y="83315"/>
                  <a:pt x="125555" y="78326"/>
                  <a:pt x="119354" y="78326"/>
                </a:cubicBezTo>
                <a:close/>
                <a:moveTo>
                  <a:pt x="131802" y="179031"/>
                </a:moveTo>
                <a:cubicBezTo>
                  <a:pt x="132085" y="174410"/>
                  <a:pt x="129781" y="170014"/>
                  <a:pt x="125820" y="167618"/>
                </a:cubicBezTo>
                <a:cubicBezTo>
                  <a:pt x="121859" y="165222"/>
                  <a:pt x="116895" y="165222"/>
                  <a:pt x="112934" y="167618"/>
                </a:cubicBezTo>
                <a:cubicBezTo>
                  <a:pt x="108973" y="170014"/>
                  <a:pt x="106669" y="174410"/>
                  <a:pt x="106952" y="179031"/>
                </a:cubicBezTo>
                <a:cubicBezTo>
                  <a:pt x="106669" y="183651"/>
                  <a:pt x="108973" y="188048"/>
                  <a:pt x="112934" y="190444"/>
                </a:cubicBezTo>
                <a:cubicBezTo>
                  <a:pt x="116895" y="192840"/>
                  <a:pt x="121859" y="192840"/>
                  <a:pt x="125820" y="190444"/>
                </a:cubicBezTo>
                <a:cubicBezTo>
                  <a:pt x="129781" y="188048"/>
                  <a:pt x="132085" y="183651"/>
                  <a:pt x="131802" y="179031"/>
                </a:cubicBezTo>
                <a:close/>
              </a:path>
            </a:pathLst>
          </a:custGeom>
          <a:solidFill>
            <a:srgbClr val="D69E2E"/>
          </a:solidFill>
          <a:ln/>
        </p:spPr>
        <p:txBody>
          <a:bodyPr/>
          <a:lstStyle/>
          <a:p>
            <a:endParaRPr lang="zh-CN" altLang="en-US"/>
          </a:p>
        </p:txBody>
      </p:sp>
      <p:sp>
        <p:nvSpPr>
          <p:cNvPr id="35" name="Text 33"/>
          <p:cNvSpPr/>
          <p:nvPr/>
        </p:nvSpPr>
        <p:spPr>
          <a:xfrm>
            <a:off x="9009913" y="7316394"/>
            <a:ext cx="751930" cy="334191"/>
          </a:xfrm>
          <a:prstGeom prst="rect">
            <a:avLst/>
          </a:prstGeom>
          <a:noFill/>
          <a:ln/>
        </p:spPr>
        <p:txBody>
          <a:bodyPr wrap="square" lIns="0" tIns="0" rIns="0" bIns="0" rtlCol="0" anchor="ctr"/>
          <a:lstStyle/>
          <a:p>
            <a:pPr>
              <a:lnSpc>
                <a:spcPct val="130000"/>
              </a:lnSpc>
            </a:pPr>
            <a:r>
              <a:rPr lang="en-US" sz="1692" b="1" dirty="0">
                <a:solidFill>
                  <a:srgbClr val="E2E8F0"/>
                </a:solidFill>
                <a:latin typeface="MiSans" pitchFamily="34" charset="0"/>
                <a:ea typeface="MiSans" pitchFamily="34" charset="-122"/>
                <a:cs typeface="MiSans" pitchFamily="34" charset="-120"/>
              </a:rPr>
              <a:t>重要性</a:t>
            </a:r>
            <a:endParaRPr lang="en-US" sz="1600" dirty="0"/>
          </a:p>
        </p:txBody>
      </p:sp>
      <p:sp>
        <p:nvSpPr>
          <p:cNvPr id="36" name="Text 34"/>
          <p:cNvSpPr/>
          <p:nvPr/>
        </p:nvSpPr>
        <p:spPr>
          <a:xfrm>
            <a:off x="8568304" y="7793809"/>
            <a:ext cx="7053815" cy="620640"/>
          </a:xfrm>
          <a:prstGeom prst="rect">
            <a:avLst/>
          </a:prstGeom>
          <a:noFill/>
          <a:ln/>
        </p:spPr>
        <p:txBody>
          <a:bodyPr wrap="square" lIns="0" tIns="0" rIns="0" bIns="0" rtlCol="0" anchor="ctr"/>
          <a:lstStyle/>
          <a:p>
            <a:pPr>
              <a:lnSpc>
                <a:spcPct val="140000"/>
              </a:lnSpc>
            </a:pPr>
            <a:r>
              <a:rPr lang="en-US" sz="1504" dirty="0">
                <a:solidFill>
                  <a:srgbClr val="A0AEC0"/>
                </a:solidFill>
                <a:latin typeface="MiSans" pitchFamily="34" charset="0"/>
                <a:ea typeface="MiSans" pitchFamily="34" charset="-122"/>
                <a:cs typeface="MiSans" pitchFamily="34" charset="-120"/>
              </a:rPr>
              <a:t>Metastore的稳定性和性能直接影响整个Hive系统的可用性。在生产环境中，需要根据数据规模和使用模式选择合适的数据库后端和配置参数</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23333" y="423333"/>
            <a:ext cx="15663333" cy="508000"/>
          </a:xfrm>
          <a:prstGeom prst="rect">
            <a:avLst/>
          </a:prstGeom>
          <a:noFill/>
          <a:ln/>
        </p:spPr>
        <p:txBody>
          <a:bodyPr wrap="square" lIns="0" tIns="0" rIns="0" bIns="0" rtlCol="0" anchor="ctr"/>
          <a:lstStyle/>
          <a:p>
            <a:pPr>
              <a:lnSpc>
                <a:spcPct val="80000"/>
              </a:lnSpc>
            </a:pPr>
            <a:r>
              <a:rPr lang="en-US" sz="4000" b="1" dirty="0">
                <a:solidFill>
                  <a:srgbClr val="E2E8F0"/>
                </a:solidFill>
                <a:latin typeface="Noto Sans SC" pitchFamily="34" charset="0"/>
                <a:ea typeface="Noto Sans SC" pitchFamily="34" charset="-122"/>
                <a:cs typeface="Noto Sans SC" pitchFamily="34" charset="-120"/>
              </a:rPr>
              <a:t>核心组件：驱动引擎(Driver)</a:t>
            </a:r>
            <a:endParaRPr lang="en-US" sz="1600" dirty="0"/>
          </a:p>
        </p:txBody>
      </p:sp>
      <p:sp>
        <p:nvSpPr>
          <p:cNvPr id="3" name="Shape 1"/>
          <p:cNvSpPr/>
          <p:nvPr/>
        </p:nvSpPr>
        <p:spPr>
          <a:xfrm>
            <a:off x="423333" y="1058333"/>
            <a:ext cx="1185333" cy="42333"/>
          </a:xfrm>
          <a:custGeom>
            <a:avLst/>
            <a:gdLst/>
            <a:ahLst/>
            <a:cxnLst/>
            <a:rect l="l" t="t" r="r" b="b"/>
            <a:pathLst>
              <a:path w="1185333" h="42333">
                <a:moveTo>
                  <a:pt x="0" y="0"/>
                </a:moveTo>
                <a:lnTo>
                  <a:pt x="1185333" y="0"/>
                </a:lnTo>
                <a:lnTo>
                  <a:pt x="1185333" y="42333"/>
                </a:lnTo>
                <a:lnTo>
                  <a:pt x="0" y="42333"/>
                </a:lnTo>
                <a:lnTo>
                  <a:pt x="0" y="0"/>
                </a:lnTo>
                <a:close/>
              </a:path>
            </a:pathLst>
          </a:custGeom>
          <a:solidFill>
            <a:srgbClr val="D69E2E"/>
          </a:solidFill>
          <a:ln/>
        </p:spPr>
        <p:txBody>
          <a:bodyPr/>
          <a:lstStyle/>
          <a:p>
            <a:endParaRPr lang="zh-CN" altLang="en-US"/>
          </a:p>
        </p:txBody>
      </p:sp>
      <p:sp>
        <p:nvSpPr>
          <p:cNvPr id="4" name="Text 2"/>
          <p:cNvSpPr/>
          <p:nvPr/>
        </p:nvSpPr>
        <p:spPr>
          <a:xfrm>
            <a:off x="423333" y="1439333"/>
            <a:ext cx="15504583" cy="624417"/>
          </a:xfrm>
          <a:prstGeom prst="rect">
            <a:avLst/>
          </a:prstGeom>
          <a:noFill/>
          <a:ln/>
        </p:spPr>
        <p:txBody>
          <a:bodyPr wrap="square" lIns="0" tIns="0" rIns="0" bIns="0" rtlCol="0" anchor="ctr"/>
          <a:lstStyle/>
          <a:p>
            <a:pPr>
              <a:lnSpc>
                <a:spcPct val="140000"/>
              </a:lnSpc>
            </a:pPr>
            <a:r>
              <a:rPr lang="en-US" sz="1500" dirty="0">
                <a:solidFill>
                  <a:srgbClr val="A0AEC0"/>
                </a:solidFill>
                <a:latin typeface="MiSans" pitchFamily="34" charset="0"/>
                <a:ea typeface="MiSans" pitchFamily="34" charset="-122"/>
                <a:cs typeface="MiSans" pitchFamily="34" charset="-120"/>
              </a:rPr>
              <a:t>驱动引擎(Driver)是Hive查询处理流程的协调者，</a:t>
            </a:r>
            <a:r>
              <a:rPr lang="en-US" sz="1500" b="1" dirty="0">
                <a:solidFill>
                  <a:srgbClr val="E2E8F0"/>
                </a:solidFill>
                <a:latin typeface="MiSans" pitchFamily="34" charset="0"/>
                <a:ea typeface="MiSans" pitchFamily="34" charset="-122"/>
                <a:cs typeface="MiSans" pitchFamily="34" charset="-120"/>
              </a:rPr>
              <a:t>负责接收用户查询、协调各个组件完成查询处理，并返回最终结果</a:t>
            </a:r>
            <a:r>
              <a:rPr lang="en-US" sz="1500" dirty="0">
                <a:solidFill>
                  <a:srgbClr val="A0AEC0"/>
                </a:solidFill>
                <a:latin typeface="MiSans" pitchFamily="34" charset="0"/>
                <a:ea typeface="MiSans" pitchFamily="34" charset="-122"/>
                <a:cs typeface="MiSans" pitchFamily="34" charset="-120"/>
              </a:rPr>
              <a:t>。Driver的设计体现了Hive将复杂处理流程封装为简单接口的核心思想。</a:t>
            </a:r>
            <a:endParaRPr lang="en-US" sz="1600" dirty="0"/>
          </a:p>
        </p:txBody>
      </p:sp>
      <p:sp>
        <p:nvSpPr>
          <p:cNvPr id="5" name="Shape 3"/>
          <p:cNvSpPr/>
          <p:nvPr/>
        </p:nvSpPr>
        <p:spPr>
          <a:xfrm>
            <a:off x="444500" y="2397125"/>
            <a:ext cx="42333" cy="1037167"/>
          </a:xfrm>
          <a:custGeom>
            <a:avLst/>
            <a:gdLst/>
            <a:ahLst/>
            <a:cxnLst/>
            <a:rect l="l" t="t" r="r" b="b"/>
            <a:pathLst>
              <a:path w="42333" h="1037167">
                <a:moveTo>
                  <a:pt x="0" y="0"/>
                </a:moveTo>
                <a:lnTo>
                  <a:pt x="42333" y="0"/>
                </a:lnTo>
                <a:lnTo>
                  <a:pt x="42333" y="1037167"/>
                </a:lnTo>
                <a:lnTo>
                  <a:pt x="0" y="1037167"/>
                </a:lnTo>
                <a:lnTo>
                  <a:pt x="0" y="0"/>
                </a:lnTo>
                <a:close/>
              </a:path>
            </a:pathLst>
          </a:custGeom>
          <a:solidFill>
            <a:srgbClr val="D69E2E"/>
          </a:solidFill>
          <a:ln/>
        </p:spPr>
        <p:txBody>
          <a:bodyPr/>
          <a:lstStyle/>
          <a:p>
            <a:endParaRPr lang="zh-CN" altLang="en-US"/>
          </a:p>
        </p:txBody>
      </p:sp>
      <p:sp>
        <p:nvSpPr>
          <p:cNvPr id="6" name="Shape 4"/>
          <p:cNvSpPr/>
          <p:nvPr/>
        </p:nvSpPr>
        <p:spPr>
          <a:xfrm>
            <a:off x="751417" y="2587625"/>
            <a:ext cx="254000" cy="254000"/>
          </a:xfrm>
          <a:custGeom>
            <a:avLst/>
            <a:gdLst/>
            <a:ahLst/>
            <a:cxnLst/>
            <a:rect l="l" t="t" r="r" b="b"/>
            <a:pathLst>
              <a:path w="254000" h="254000">
                <a:moveTo>
                  <a:pt x="197941" y="190599"/>
                </a:moveTo>
                <a:cubicBezTo>
                  <a:pt x="186978" y="171549"/>
                  <a:pt x="166390" y="158750"/>
                  <a:pt x="142875" y="158750"/>
                </a:cubicBezTo>
                <a:lnTo>
                  <a:pt x="111125" y="158750"/>
                </a:lnTo>
                <a:cubicBezTo>
                  <a:pt x="87610" y="158750"/>
                  <a:pt x="67022" y="171549"/>
                  <a:pt x="56059" y="190599"/>
                </a:cubicBezTo>
                <a:cubicBezTo>
                  <a:pt x="73521" y="210046"/>
                  <a:pt x="98822" y="222250"/>
                  <a:pt x="127000" y="222250"/>
                </a:cubicBezTo>
                <a:cubicBezTo>
                  <a:pt x="155178" y="222250"/>
                  <a:pt x="180479" y="209996"/>
                  <a:pt x="197941" y="190599"/>
                </a:cubicBezTo>
                <a:close/>
                <a:moveTo>
                  <a:pt x="0" y="127000"/>
                </a:moveTo>
                <a:cubicBezTo>
                  <a:pt x="0" y="56907"/>
                  <a:pt x="56907" y="0"/>
                  <a:pt x="127000" y="0"/>
                </a:cubicBezTo>
                <a:cubicBezTo>
                  <a:pt x="197093" y="0"/>
                  <a:pt x="254000" y="56907"/>
                  <a:pt x="254000" y="127000"/>
                </a:cubicBezTo>
                <a:cubicBezTo>
                  <a:pt x="254000" y="197093"/>
                  <a:pt x="197093" y="254000"/>
                  <a:pt x="127000" y="254000"/>
                </a:cubicBezTo>
                <a:cubicBezTo>
                  <a:pt x="56907" y="254000"/>
                  <a:pt x="0" y="197093"/>
                  <a:pt x="0" y="127000"/>
                </a:cubicBezTo>
                <a:close/>
                <a:moveTo>
                  <a:pt x="127000" y="134938"/>
                </a:moveTo>
                <a:cubicBezTo>
                  <a:pt x="146714" y="134938"/>
                  <a:pt x="162719" y="118932"/>
                  <a:pt x="162719" y="99219"/>
                </a:cubicBezTo>
                <a:cubicBezTo>
                  <a:pt x="162719" y="79505"/>
                  <a:pt x="146714" y="63500"/>
                  <a:pt x="127000" y="63500"/>
                </a:cubicBezTo>
                <a:cubicBezTo>
                  <a:pt x="107286" y="63500"/>
                  <a:pt x="91281" y="79505"/>
                  <a:pt x="91281" y="99219"/>
                </a:cubicBezTo>
                <a:cubicBezTo>
                  <a:pt x="91281" y="118932"/>
                  <a:pt x="107286" y="134938"/>
                  <a:pt x="127000" y="134938"/>
                </a:cubicBezTo>
                <a:close/>
              </a:path>
            </a:pathLst>
          </a:custGeom>
          <a:solidFill>
            <a:srgbClr val="D69E2E"/>
          </a:solidFill>
          <a:ln/>
        </p:spPr>
        <p:txBody>
          <a:bodyPr/>
          <a:lstStyle/>
          <a:p>
            <a:endParaRPr lang="zh-CN" altLang="en-US"/>
          </a:p>
        </p:txBody>
      </p:sp>
      <p:sp>
        <p:nvSpPr>
          <p:cNvPr id="7" name="Text 5"/>
          <p:cNvSpPr/>
          <p:nvPr/>
        </p:nvSpPr>
        <p:spPr>
          <a:xfrm>
            <a:off x="1164167" y="2566458"/>
            <a:ext cx="952500" cy="296333"/>
          </a:xfrm>
          <a:prstGeom prst="rect">
            <a:avLst/>
          </a:prstGeom>
          <a:noFill/>
          <a:ln/>
        </p:spPr>
        <p:txBody>
          <a:bodyPr wrap="square" lIns="0" tIns="0" rIns="0" bIns="0" rtlCol="0" anchor="ctr"/>
          <a:lstStyle/>
          <a:p>
            <a:pPr>
              <a:lnSpc>
                <a:spcPct val="120000"/>
              </a:lnSpc>
            </a:pPr>
            <a:r>
              <a:rPr lang="en-US" sz="1667" b="1" dirty="0">
                <a:solidFill>
                  <a:srgbClr val="E2E8F0"/>
                </a:solidFill>
                <a:latin typeface="Noto Sans SC" pitchFamily="34" charset="0"/>
                <a:ea typeface="Noto Sans SC" pitchFamily="34" charset="-122"/>
                <a:cs typeface="Noto Sans SC" pitchFamily="34" charset="-120"/>
              </a:rPr>
              <a:t>会话管理</a:t>
            </a:r>
            <a:endParaRPr lang="en-US" sz="1600" dirty="0"/>
          </a:p>
        </p:txBody>
      </p:sp>
      <p:sp>
        <p:nvSpPr>
          <p:cNvPr id="8" name="Text 6"/>
          <p:cNvSpPr/>
          <p:nvPr/>
        </p:nvSpPr>
        <p:spPr>
          <a:xfrm>
            <a:off x="719667" y="2989792"/>
            <a:ext cx="4751917" cy="275167"/>
          </a:xfrm>
          <a:prstGeom prst="rect">
            <a:avLst/>
          </a:prstGeom>
          <a:noFill/>
          <a:ln/>
        </p:spPr>
        <p:txBody>
          <a:bodyPr wrap="square" lIns="0" tIns="0" rIns="0" bIns="0" rtlCol="0" anchor="ctr"/>
          <a:lstStyle/>
          <a:p>
            <a:pPr>
              <a:lnSpc>
                <a:spcPct val="140000"/>
              </a:lnSpc>
            </a:pPr>
            <a:r>
              <a:rPr lang="en-US" sz="1333" dirty="0">
                <a:solidFill>
                  <a:srgbClr val="A0AEC0"/>
                </a:solidFill>
                <a:latin typeface="MiSans" pitchFamily="34" charset="0"/>
                <a:ea typeface="MiSans" pitchFamily="34" charset="-122"/>
                <a:cs typeface="MiSans" pitchFamily="34" charset="-120"/>
              </a:rPr>
              <a:t>管理用户会话状态，包括配置参数、临时表等</a:t>
            </a:r>
            <a:endParaRPr lang="en-US" sz="1600" dirty="0"/>
          </a:p>
        </p:txBody>
      </p:sp>
      <p:sp>
        <p:nvSpPr>
          <p:cNvPr id="9" name="Shape 7"/>
          <p:cNvSpPr/>
          <p:nvPr/>
        </p:nvSpPr>
        <p:spPr>
          <a:xfrm>
            <a:off x="5665556" y="2397125"/>
            <a:ext cx="42333" cy="1037167"/>
          </a:xfrm>
          <a:custGeom>
            <a:avLst/>
            <a:gdLst/>
            <a:ahLst/>
            <a:cxnLst/>
            <a:rect l="l" t="t" r="r" b="b"/>
            <a:pathLst>
              <a:path w="42333" h="1037167">
                <a:moveTo>
                  <a:pt x="0" y="0"/>
                </a:moveTo>
                <a:lnTo>
                  <a:pt x="42333" y="0"/>
                </a:lnTo>
                <a:lnTo>
                  <a:pt x="42333" y="1037167"/>
                </a:lnTo>
                <a:lnTo>
                  <a:pt x="0" y="1037167"/>
                </a:lnTo>
                <a:lnTo>
                  <a:pt x="0" y="0"/>
                </a:lnTo>
                <a:close/>
              </a:path>
            </a:pathLst>
          </a:custGeom>
          <a:solidFill>
            <a:srgbClr val="D69E2E"/>
          </a:solidFill>
          <a:ln/>
        </p:spPr>
        <p:txBody>
          <a:bodyPr/>
          <a:lstStyle/>
          <a:p>
            <a:endParaRPr lang="zh-CN" altLang="en-US"/>
          </a:p>
        </p:txBody>
      </p:sp>
      <p:sp>
        <p:nvSpPr>
          <p:cNvPr id="10" name="Shape 8"/>
          <p:cNvSpPr/>
          <p:nvPr/>
        </p:nvSpPr>
        <p:spPr>
          <a:xfrm>
            <a:off x="5988348" y="2587625"/>
            <a:ext cx="222250" cy="254000"/>
          </a:xfrm>
          <a:custGeom>
            <a:avLst/>
            <a:gdLst/>
            <a:ahLst/>
            <a:cxnLst/>
            <a:rect l="l" t="t" r="r" b="b"/>
            <a:pathLst>
              <a:path w="222250" h="254000">
                <a:moveTo>
                  <a:pt x="127000" y="15875"/>
                </a:moveTo>
                <a:cubicBezTo>
                  <a:pt x="127000" y="7094"/>
                  <a:pt x="119906" y="0"/>
                  <a:pt x="111125" y="0"/>
                </a:cubicBezTo>
                <a:cubicBezTo>
                  <a:pt x="102344" y="0"/>
                  <a:pt x="95250" y="7094"/>
                  <a:pt x="95250" y="15875"/>
                </a:cubicBezTo>
                <a:lnTo>
                  <a:pt x="95250" y="120402"/>
                </a:lnTo>
                <a:lnTo>
                  <a:pt x="74712" y="99864"/>
                </a:lnTo>
                <a:cubicBezTo>
                  <a:pt x="68511" y="93662"/>
                  <a:pt x="58440" y="93662"/>
                  <a:pt x="52239" y="99864"/>
                </a:cubicBezTo>
                <a:cubicBezTo>
                  <a:pt x="46037" y="106065"/>
                  <a:pt x="46037" y="116136"/>
                  <a:pt x="52239" y="122337"/>
                </a:cubicBezTo>
                <a:lnTo>
                  <a:pt x="99864" y="169962"/>
                </a:lnTo>
                <a:cubicBezTo>
                  <a:pt x="106065" y="176163"/>
                  <a:pt x="116136" y="176163"/>
                  <a:pt x="122337" y="169962"/>
                </a:cubicBezTo>
                <a:lnTo>
                  <a:pt x="169962" y="122337"/>
                </a:lnTo>
                <a:cubicBezTo>
                  <a:pt x="176163" y="116136"/>
                  <a:pt x="176163" y="106065"/>
                  <a:pt x="169962" y="99864"/>
                </a:cubicBezTo>
                <a:cubicBezTo>
                  <a:pt x="163761" y="93662"/>
                  <a:pt x="153690" y="93662"/>
                  <a:pt x="147489" y="99864"/>
                </a:cubicBezTo>
                <a:lnTo>
                  <a:pt x="127000" y="120402"/>
                </a:lnTo>
                <a:lnTo>
                  <a:pt x="127000" y="15875"/>
                </a:lnTo>
                <a:close/>
                <a:moveTo>
                  <a:pt x="31750" y="158750"/>
                </a:moveTo>
                <a:cubicBezTo>
                  <a:pt x="14238" y="158750"/>
                  <a:pt x="0" y="172988"/>
                  <a:pt x="0" y="190500"/>
                </a:cubicBezTo>
                <a:lnTo>
                  <a:pt x="0" y="206375"/>
                </a:lnTo>
                <a:cubicBezTo>
                  <a:pt x="0" y="223887"/>
                  <a:pt x="14238" y="238125"/>
                  <a:pt x="31750" y="238125"/>
                </a:cubicBezTo>
                <a:lnTo>
                  <a:pt x="190500" y="238125"/>
                </a:lnTo>
                <a:cubicBezTo>
                  <a:pt x="208012" y="238125"/>
                  <a:pt x="222250" y="223887"/>
                  <a:pt x="222250" y="206375"/>
                </a:cubicBezTo>
                <a:lnTo>
                  <a:pt x="222250" y="190500"/>
                </a:lnTo>
                <a:cubicBezTo>
                  <a:pt x="222250" y="172988"/>
                  <a:pt x="208012" y="158750"/>
                  <a:pt x="190500" y="158750"/>
                </a:cubicBezTo>
                <a:lnTo>
                  <a:pt x="167233" y="158750"/>
                </a:lnTo>
                <a:lnTo>
                  <a:pt x="139154" y="186829"/>
                </a:lnTo>
                <a:cubicBezTo>
                  <a:pt x="123676" y="202307"/>
                  <a:pt x="98524" y="202307"/>
                  <a:pt x="83046" y="186829"/>
                </a:cubicBezTo>
                <a:lnTo>
                  <a:pt x="55017" y="158750"/>
                </a:lnTo>
                <a:lnTo>
                  <a:pt x="31750" y="158750"/>
                </a:lnTo>
                <a:close/>
                <a:moveTo>
                  <a:pt x="182563" y="186531"/>
                </a:moveTo>
                <a:cubicBezTo>
                  <a:pt x="189134" y="186531"/>
                  <a:pt x="194469" y="191866"/>
                  <a:pt x="194469" y="198438"/>
                </a:cubicBezTo>
                <a:cubicBezTo>
                  <a:pt x="194469" y="205009"/>
                  <a:pt x="189134" y="210344"/>
                  <a:pt x="182563" y="210344"/>
                </a:cubicBezTo>
                <a:cubicBezTo>
                  <a:pt x="175991" y="210344"/>
                  <a:pt x="170656" y="205009"/>
                  <a:pt x="170656" y="198438"/>
                </a:cubicBezTo>
                <a:cubicBezTo>
                  <a:pt x="170656" y="191866"/>
                  <a:pt x="175991" y="186531"/>
                  <a:pt x="182563" y="186531"/>
                </a:cubicBezTo>
                <a:close/>
              </a:path>
            </a:pathLst>
          </a:custGeom>
          <a:solidFill>
            <a:srgbClr val="D69E2E"/>
          </a:solidFill>
          <a:ln/>
        </p:spPr>
        <p:txBody>
          <a:bodyPr/>
          <a:lstStyle/>
          <a:p>
            <a:endParaRPr lang="zh-CN" altLang="en-US"/>
          </a:p>
        </p:txBody>
      </p:sp>
      <p:sp>
        <p:nvSpPr>
          <p:cNvPr id="11" name="Text 9"/>
          <p:cNvSpPr/>
          <p:nvPr/>
        </p:nvSpPr>
        <p:spPr>
          <a:xfrm>
            <a:off x="6385223" y="2566458"/>
            <a:ext cx="952500" cy="296333"/>
          </a:xfrm>
          <a:prstGeom prst="rect">
            <a:avLst/>
          </a:prstGeom>
          <a:noFill/>
          <a:ln/>
        </p:spPr>
        <p:txBody>
          <a:bodyPr wrap="square" lIns="0" tIns="0" rIns="0" bIns="0" rtlCol="0" anchor="ctr"/>
          <a:lstStyle/>
          <a:p>
            <a:pPr>
              <a:lnSpc>
                <a:spcPct val="120000"/>
              </a:lnSpc>
            </a:pPr>
            <a:r>
              <a:rPr lang="en-US" sz="1667" b="1" dirty="0">
                <a:solidFill>
                  <a:srgbClr val="E2E8F0"/>
                </a:solidFill>
                <a:latin typeface="Noto Sans SC" pitchFamily="34" charset="0"/>
                <a:ea typeface="Noto Sans SC" pitchFamily="34" charset="-122"/>
                <a:cs typeface="Noto Sans SC" pitchFamily="34" charset="-120"/>
              </a:rPr>
              <a:t>查询接收</a:t>
            </a:r>
            <a:endParaRPr lang="en-US" sz="1600" dirty="0"/>
          </a:p>
        </p:txBody>
      </p:sp>
      <p:sp>
        <p:nvSpPr>
          <p:cNvPr id="12" name="Text 10"/>
          <p:cNvSpPr/>
          <p:nvPr/>
        </p:nvSpPr>
        <p:spPr>
          <a:xfrm>
            <a:off x="5940723" y="2989792"/>
            <a:ext cx="4751917" cy="275167"/>
          </a:xfrm>
          <a:prstGeom prst="rect">
            <a:avLst/>
          </a:prstGeom>
          <a:noFill/>
          <a:ln/>
        </p:spPr>
        <p:txBody>
          <a:bodyPr wrap="square" lIns="0" tIns="0" rIns="0" bIns="0" rtlCol="0" anchor="ctr"/>
          <a:lstStyle/>
          <a:p>
            <a:pPr>
              <a:lnSpc>
                <a:spcPct val="140000"/>
              </a:lnSpc>
            </a:pPr>
            <a:r>
              <a:rPr lang="en-US" sz="1333" dirty="0">
                <a:solidFill>
                  <a:srgbClr val="A0AEC0"/>
                </a:solidFill>
                <a:latin typeface="MiSans" pitchFamily="34" charset="0"/>
                <a:ea typeface="MiSans" pitchFamily="34" charset="-122"/>
                <a:cs typeface="MiSans" pitchFamily="34" charset="-120"/>
              </a:rPr>
              <a:t>接收来自客户端的SQL查询请求</a:t>
            </a:r>
            <a:endParaRPr lang="en-US" sz="1600" dirty="0"/>
          </a:p>
        </p:txBody>
      </p:sp>
      <p:sp>
        <p:nvSpPr>
          <p:cNvPr id="13" name="Shape 11"/>
          <p:cNvSpPr/>
          <p:nvPr/>
        </p:nvSpPr>
        <p:spPr>
          <a:xfrm>
            <a:off x="10886695" y="2397125"/>
            <a:ext cx="42333" cy="1037167"/>
          </a:xfrm>
          <a:custGeom>
            <a:avLst/>
            <a:gdLst/>
            <a:ahLst/>
            <a:cxnLst/>
            <a:rect l="l" t="t" r="r" b="b"/>
            <a:pathLst>
              <a:path w="42333" h="1037167">
                <a:moveTo>
                  <a:pt x="0" y="0"/>
                </a:moveTo>
                <a:lnTo>
                  <a:pt x="42333" y="0"/>
                </a:lnTo>
                <a:lnTo>
                  <a:pt x="42333" y="1037167"/>
                </a:lnTo>
                <a:lnTo>
                  <a:pt x="0" y="1037167"/>
                </a:lnTo>
                <a:lnTo>
                  <a:pt x="0" y="0"/>
                </a:lnTo>
                <a:close/>
              </a:path>
            </a:pathLst>
          </a:custGeom>
          <a:solidFill>
            <a:srgbClr val="D69E2E"/>
          </a:solidFill>
          <a:ln/>
        </p:spPr>
        <p:txBody>
          <a:bodyPr/>
          <a:lstStyle/>
          <a:p>
            <a:endParaRPr lang="zh-CN" altLang="en-US"/>
          </a:p>
        </p:txBody>
      </p:sp>
      <p:sp>
        <p:nvSpPr>
          <p:cNvPr id="14" name="Shape 12"/>
          <p:cNvSpPr/>
          <p:nvPr/>
        </p:nvSpPr>
        <p:spPr>
          <a:xfrm>
            <a:off x="11193611" y="2587625"/>
            <a:ext cx="254000" cy="254000"/>
          </a:xfrm>
          <a:custGeom>
            <a:avLst/>
            <a:gdLst/>
            <a:ahLst/>
            <a:cxnLst/>
            <a:rect l="l" t="t" r="r" b="b"/>
            <a:pathLst>
              <a:path w="254000" h="254000">
                <a:moveTo>
                  <a:pt x="95250" y="31750"/>
                </a:moveTo>
                <a:cubicBezTo>
                  <a:pt x="95250" y="22969"/>
                  <a:pt x="102344" y="15875"/>
                  <a:pt x="111125" y="15875"/>
                </a:cubicBezTo>
                <a:lnTo>
                  <a:pt x="142875" y="15875"/>
                </a:lnTo>
                <a:cubicBezTo>
                  <a:pt x="151656" y="15875"/>
                  <a:pt x="158750" y="22969"/>
                  <a:pt x="158750" y="31750"/>
                </a:cubicBezTo>
                <a:lnTo>
                  <a:pt x="158750" y="63500"/>
                </a:lnTo>
                <a:cubicBezTo>
                  <a:pt x="158750" y="72281"/>
                  <a:pt x="151656" y="79375"/>
                  <a:pt x="142875" y="79375"/>
                </a:cubicBezTo>
                <a:lnTo>
                  <a:pt x="138906" y="79375"/>
                </a:lnTo>
                <a:lnTo>
                  <a:pt x="138906" y="111125"/>
                </a:lnTo>
                <a:lnTo>
                  <a:pt x="198438" y="111125"/>
                </a:lnTo>
                <a:cubicBezTo>
                  <a:pt x="218182" y="111125"/>
                  <a:pt x="234156" y="127099"/>
                  <a:pt x="234156" y="146844"/>
                </a:cubicBezTo>
                <a:lnTo>
                  <a:pt x="234156" y="174625"/>
                </a:lnTo>
                <a:lnTo>
                  <a:pt x="238125" y="174625"/>
                </a:lnTo>
                <a:cubicBezTo>
                  <a:pt x="246906" y="174625"/>
                  <a:pt x="254000" y="181719"/>
                  <a:pt x="254000" y="190500"/>
                </a:cubicBezTo>
                <a:lnTo>
                  <a:pt x="254000" y="222250"/>
                </a:lnTo>
                <a:cubicBezTo>
                  <a:pt x="254000" y="231031"/>
                  <a:pt x="246906" y="238125"/>
                  <a:pt x="238125" y="238125"/>
                </a:cubicBezTo>
                <a:lnTo>
                  <a:pt x="206375" y="238125"/>
                </a:lnTo>
                <a:cubicBezTo>
                  <a:pt x="197594" y="238125"/>
                  <a:pt x="190500" y="231031"/>
                  <a:pt x="190500" y="222250"/>
                </a:cubicBezTo>
                <a:lnTo>
                  <a:pt x="190500" y="190500"/>
                </a:lnTo>
                <a:cubicBezTo>
                  <a:pt x="190500" y="181719"/>
                  <a:pt x="197594" y="174625"/>
                  <a:pt x="206375" y="174625"/>
                </a:cubicBezTo>
                <a:lnTo>
                  <a:pt x="210344" y="174625"/>
                </a:lnTo>
                <a:lnTo>
                  <a:pt x="210344" y="146844"/>
                </a:lnTo>
                <a:cubicBezTo>
                  <a:pt x="210344" y="140246"/>
                  <a:pt x="205036" y="134938"/>
                  <a:pt x="198438" y="134938"/>
                </a:cubicBezTo>
                <a:lnTo>
                  <a:pt x="138906" y="134938"/>
                </a:lnTo>
                <a:lnTo>
                  <a:pt x="138906" y="174625"/>
                </a:lnTo>
                <a:lnTo>
                  <a:pt x="142875" y="174625"/>
                </a:lnTo>
                <a:cubicBezTo>
                  <a:pt x="151656" y="174625"/>
                  <a:pt x="158750" y="181719"/>
                  <a:pt x="158750" y="190500"/>
                </a:cubicBezTo>
                <a:lnTo>
                  <a:pt x="158750" y="222250"/>
                </a:lnTo>
                <a:cubicBezTo>
                  <a:pt x="158750" y="231031"/>
                  <a:pt x="151656" y="238125"/>
                  <a:pt x="142875" y="238125"/>
                </a:cubicBezTo>
                <a:lnTo>
                  <a:pt x="111125" y="238125"/>
                </a:lnTo>
                <a:cubicBezTo>
                  <a:pt x="102344" y="238125"/>
                  <a:pt x="95250" y="231031"/>
                  <a:pt x="95250" y="222250"/>
                </a:cubicBezTo>
                <a:lnTo>
                  <a:pt x="95250" y="190500"/>
                </a:lnTo>
                <a:cubicBezTo>
                  <a:pt x="95250" y="181719"/>
                  <a:pt x="102344" y="174625"/>
                  <a:pt x="111125" y="174625"/>
                </a:cubicBezTo>
                <a:lnTo>
                  <a:pt x="115094" y="174625"/>
                </a:lnTo>
                <a:lnTo>
                  <a:pt x="115094" y="134938"/>
                </a:lnTo>
                <a:lnTo>
                  <a:pt x="55563" y="134938"/>
                </a:lnTo>
                <a:cubicBezTo>
                  <a:pt x="48964" y="134938"/>
                  <a:pt x="43656" y="140246"/>
                  <a:pt x="43656" y="146844"/>
                </a:cubicBezTo>
                <a:lnTo>
                  <a:pt x="43656" y="174625"/>
                </a:lnTo>
                <a:lnTo>
                  <a:pt x="47625" y="174625"/>
                </a:lnTo>
                <a:cubicBezTo>
                  <a:pt x="56406" y="174625"/>
                  <a:pt x="63500" y="181719"/>
                  <a:pt x="63500" y="190500"/>
                </a:cubicBezTo>
                <a:lnTo>
                  <a:pt x="63500" y="222250"/>
                </a:lnTo>
                <a:cubicBezTo>
                  <a:pt x="63500" y="231031"/>
                  <a:pt x="56406" y="238125"/>
                  <a:pt x="47625" y="238125"/>
                </a:cubicBezTo>
                <a:lnTo>
                  <a:pt x="15875" y="238125"/>
                </a:lnTo>
                <a:cubicBezTo>
                  <a:pt x="7094" y="238125"/>
                  <a:pt x="0" y="231031"/>
                  <a:pt x="0" y="222250"/>
                </a:cubicBezTo>
                <a:lnTo>
                  <a:pt x="0" y="190500"/>
                </a:lnTo>
                <a:cubicBezTo>
                  <a:pt x="0" y="181719"/>
                  <a:pt x="7094" y="174625"/>
                  <a:pt x="15875" y="174625"/>
                </a:cubicBezTo>
                <a:lnTo>
                  <a:pt x="19844" y="174625"/>
                </a:lnTo>
                <a:lnTo>
                  <a:pt x="19844" y="146844"/>
                </a:lnTo>
                <a:cubicBezTo>
                  <a:pt x="19844" y="127099"/>
                  <a:pt x="35818" y="111125"/>
                  <a:pt x="55563" y="111125"/>
                </a:cubicBezTo>
                <a:lnTo>
                  <a:pt x="115094" y="111125"/>
                </a:lnTo>
                <a:lnTo>
                  <a:pt x="115094" y="79375"/>
                </a:lnTo>
                <a:lnTo>
                  <a:pt x="111125" y="79375"/>
                </a:lnTo>
                <a:cubicBezTo>
                  <a:pt x="102344" y="79375"/>
                  <a:pt x="95250" y="72281"/>
                  <a:pt x="95250" y="63500"/>
                </a:cubicBezTo>
                <a:lnTo>
                  <a:pt x="95250" y="31750"/>
                </a:lnTo>
                <a:close/>
              </a:path>
            </a:pathLst>
          </a:custGeom>
          <a:solidFill>
            <a:srgbClr val="D69E2E"/>
          </a:solidFill>
          <a:ln/>
        </p:spPr>
        <p:txBody>
          <a:bodyPr/>
          <a:lstStyle/>
          <a:p>
            <a:endParaRPr lang="zh-CN" altLang="en-US"/>
          </a:p>
        </p:txBody>
      </p:sp>
      <p:sp>
        <p:nvSpPr>
          <p:cNvPr id="15" name="Text 13"/>
          <p:cNvSpPr/>
          <p:nvPr/>
        </p:nvSpPr>
        <p:spPr>
          <a:xfrm>
            <a:off x="11606361" y="2566458"/>
            <a:ext cx="952500" cy="296333"/>
          </a:xfrm>
          <a:prstGeom prst="rect">
            <a:avLst/>
          </a:prstGeom>
          <a:noFill/>
          <a:ln/>
        </p:spPr>
        <p:txBody>
          <a:bodyPr wrap="square" lIns="0" tIns="0" rIns="0" bIns="0" rtlCol="0" anchor="ctr"/>
          <a:lstStyle/>
          <a:p>
            <a:pPr>
              <a:lnSpc>
                <a:spcPct val="120000"/>
              </a:lnSpc>
            </a:pPr>
            <a:r>
              <a:rPr lang="en-US" sz="1667" b="1" dirty="0">
                <a:solidFill>
                  <a:srgbClr val="E2E8F0"/>
                </a:solidFill>
                <a:latin typeface="Noto Sans SC" pitchFamily="34" charset="0"/>
                <a:ea typeface="Noto Sans SC" pitchFamily="34" charset="-122"/>
                <a:cs typeface="Noto Sans SC" pitchFamily="34" charset="-120"/>
              </a:rPr>
              <a:t>流程协调</a:t>
            </a:r>
            <a:endParaRPr lang="en-US" sz="1600" dirty="0"/>
          </a:p>
        </p:txBody>
      </p:sp>
      <p:sp>
        <p:nvSpPr>
          <p:cNvPr id="16" name="Text 14"/>
          <p:cNvSpPr/>
          <p:nvPr/>
        </p:nvSpPr>
        <p:spPr>
          <a:xfrm>
            <a:off x="11161861" y="2989792"/>
            <a:ext cx="4751917" cy="275167"/>
          </a:xfrm>
          <a:prstGeom prst="rect">
            <a:avLst/>
          </a:prstGeom>
          <a:noFill/>
          <a:ln/>
        </p:spPr>
        <p:txBody>
          <a:bodyPr wrap="square" lIns="0" tIns="0" rIns="0" bIns="0" rtlCol="0" anchor="ctr"/>
          <a:lstStyle/>
          <a:p>
            <a:pPr>
              <a:lnSpc>
                <a:spcPct val="140000"/>
              </a:lnSpc>
            </a:pPr>
            <a:r>
              <a:rPr lang="en-US" sz="1333" dirty="0">
                <a:solidFill>
                  <a:srgbClr val="A0AEC0"/>
                </a:solidFill>
                <a:latin typeface="MiSans" pitchFamily="34" charset="0"/>
                <a:ea typeface="MiSans" pitchFamily="34" charset="-122"/>
                <a:cs typeface="MiSans" pitchFamily="34" charset="-120"/>
              </a:rPr>
              <a:t>协调编译器、优化器、执行器完成查询处理</a:t>
            </a:r>
            <a:endParaRPr lang="en-US" sz="1600" dirty="0"/>
          </a:p>
        </p:txBody>
      </p:sp>
      <p:sp>
        <p:nvSpPr>
          <p:cNvPr id="17" name="Shape 15"/>
          <p:cNvSpPr/>
          <p:nvPr/>
        </p:nvSpPr>
        <p:spPr>
          <a:xfrm>
            <a:off x="444500" y="3688292"/>
            <a:ext cx="42333" cy="1375833"/>
          </a:xfrm>
          <a:custGeom>
            <a:avLst/>
            <a:gdLst/>
            <a:ahLst/>
            <a:cxnLst/>
            <a:rect l="l" t="t" r="r" b="b"/>
            <a:pathLst>
              <a:path w="42333" h="1375833">
                <a:moveTo>
                  <a:pt x="0" y="0"/>
                </a:moveTo>
                <a:lnTo>
                  <a:pt x="42333" y="0"/>
                </a:lnTo>
                <a:lnTo>
                  <a:pt x="42333" y="1375833"/>
                </a:lnTo>
                <a:lnTo>
                  <a:pt x="0" y="1375833"/>
                </a:lnTo>
                <a:lnTo>
                  <a:pt x="0" y="0"/>
                </a:lnTo>
                <a:close/>
              </a:path>
            </a:pathLst>
          </a:custGeom>
          <a:solidFill>
            <a:srgbClr val="D69E2E"/>
          </a:solidFill>
          <a:ln/>
        </p:spPr>
        <p:txBody>
          <a:bodyPr/>
          <a:lstStyle/>
          <a:p>
            <a:endParaRPr lang="zh-CN" altLang="en-US"/>
          </a:p>
        </p:txBody>
      </p:sp>
      <p:sp>
        <p:nvSpPr>
          <p:cNvPr id="18" name="Shape 16"/>
          <p:cNvSpPr/>
          <p:nvPr/>
        </p:nvSpPr>
        <p:spPr>
          <a:xfrm>
            <a:off x="767292" y="3878792"/>
            <a:ext cx="222250" cy="254000"/>
          </a:xfrm>
          <a:custGeom>
            <a:avLst/>
            <a:gdLst/>
            <a:ahLst/>
            <a:cxnLst/>
            <a:rect l="l" t="t" r="r" b="b"/>
            <a:pathLst>
              <a:path w="222250" h="254000">
                <a:moveTo>
                  <a:pt x="127000" y="54223"/>
                </a:moveTo>
                <a:lnTo>
                  <a:pt x="127000" y="158750"/>
                </a:lnTo>
                <a:cubicBezTo>
                  <a:pt x="127000" y="167531"/>
                  <a:pt x="119906" y="174625"/>
                  <a:pt x="111125" y="174625"/>
                </a:cubicBezTo>
                <a:cubicBezTo>
                  <a:pt x="102344" y="174625"/>
                  <a:pt x="95250" y="167531"/>
                  <a:pt x="95250" y="158750"/>
                </a:cubicBezTo>
                <a:lnTo>
                  <a:pt x="95250" y="54223"/>
                </a:lnTo>
                <a:lnTo>
                  <a:pt x="74712" y="74761"/>
                </a:lnTo>
                <a:cubicBezTo>
                  <a:pt x="68511" y="80963"/>
                  <a:pt x="58440" y="80963"/>
                  <a:pt x="52239" y="74761"/>
                </a:cubicBezTo>
                <a:cubicBezTo>
                  <a:pt x="46037" y="68560"/>
                  <a:pt x="46037" y="58489"/>
                  <a:pt x="52239" y="52288"/>
                </a:cubicBezTo>
                <a:lnTo>
                  <a:pt x="99864" y="4663"/>
                </a:lnTo>
                <a:cubicBezTo>
                  <a:pt x="106065" y="-1538"/>
                  <a:pt x="116136" y="-1538"/>
                  <a:pt x="122337" y="4663"/>
                </a:cubicBezTo>
                <a:lnTo>
                  <a:pt x="169962" y="52288"/>
                </a:lnTo>
                <a:cubicBezTo>
                  <a:pt x="176163" y="58489"/>
                  <a:pt x="176163" y="68560"/>
                  <a:pt x="169962" y="74761"/>
                </a:cubicBezTo>
                <a:cubicBezTo>
                  <a:pt x="163761" y="80963"/>
                  <a:pt x="153690" y="80963"/>
                  <a:pt x="147489" y="74761"/>
                </a:cubicBezTo>
                <a:lnTo>
                  <a:pt x="127000" y="54223"/>
                </a:lnTo>
                <a:close/>
                <a:moveTo>
                  <a:pt x="111125" y="198438"/>
                </a:moveTo>
                <a:cubicBezTo>
                  <a:pt x="133052" y="198438"/>
                  <a:pt x="150813" y="180677"/>
                  <a:pt x="150813" y="158750"/>
                </a:cubicBezTo>
                <a:lnTo>
                  <a:pt x="190500" y="158750"/>
                </a:lnTo>
                <a:cubicBezTo>
                  <a:pt x="208012" y="158750"/>
                  <a:pt x="222250" y="172988"/>
                  <a:pt x="222250" y="190500"/>
                </a:cubicBezTo>
                <a:lnTo>
                  <a:pt x="222250" y="206375"/>
                </a:lnTo>
                <a:cubicBezTo>
                  <a:pt x="222250" y="223887"/>
                  <a:pt x="208012" y="238125"/>
                  <a:pt x="190500" y="238125"/>
                </a:cubicBezTo>
                <a:lnTo>
                  <a:pt x="31750" y="238125"/>
                </a:lnTo>
                <a:cubicBezTo>
                  <a:pt x="14238" y="238125"/>
                  <a:pt x="0" y="223887"/>
                  <a:pt x="0" y="206375"/>
                </a:cubicBezTo>
                <a:lnTo>
                  <a:pt x="0" y="190500"/>
                </a:lnTo>
                <a:cubicBezTo>
                  <a:pt x="0" y="172988"/>
                  <a:pt x="14238" y="158750"/>
                  <a:pt x="31750" y="158750"/>
                </a:cubicBezTo>
                <a:lnTo>
                  <a:pt x="71438" y="158750"/>
                </a:lnTo>
                <a:cubicBezTo>
                  <a:pt x="71438" y="180677"/>
                  <a:pt x="89198" y="198438"/>
                  <a:pt x="111125" y="198438"/>
                </a:cubicBezTo>
                <a:close/>
                <a:moveTo>
                  <a:pt x="182563" y="210344"/>
                </a:moveTo>
                <a:cubicBezTo>
                  <a:pt x="189134" y="210344"/>
                  <a:pt x="194469" y="205009"/>
                  <a:pt x="194469" y="198438"/>
                </a:cubicBezTo>
                <a:cubicBezTo>
                  <a:pt x="194469" y="191866"/>
                  <a:pt x="189134" y="186531"/>
                  <a:pt x="182563" y="186531"/>
                </a:cubicBezTo>
                <a:cubicBezTo>
                  <a:pt x="175991" y="186531"/>
                  <a:pt x="170656" y="191866"/>
                  <a:pt x="170656" y="198438"/>
                </a:cubicBezTo>
                <a:cubicBezTo>
                  <a:pt x="170656" y="205009"/>
                  <a:pt x="175991" y="210344"/>
                  <a:pt x="182563" y="210344"/>
                </a:cubicBezTo>
                <a:close/>
              </a:path>
            </a:pathLst>
          </a:custGeom>
          <a:solidFill>
            <a:srgbClr val="D69E2E"/>
          </a:solidFill>
          <a:ln/>
        </p:spPr>
        <p:txBody>
          <a:bodyPr/>
          <a:lstStyle/>
          <a:p>
            <a:endParaRPr lang="zh-CN" altLang="en-US"/>
          </a:p>
        </p:txBody>
      </p:sp>
      <p:sp>
        <p:nvSpPr>
          <p:cNvPr id="19" name="Text 17"/>
          <p:cNvSpPr/>
          <p:nvPr/>
        </p:nvSpPr>
        <p:spPr>
          <a:xfrm>
            <a:off x="1164167" y="3857625"/>
            <a:ext cx="952500" cy="296333"/>
          </a:xfrm>
          <a:prstGeom prst="rect">
            <a:avLst/>
          </a:prstGeom>
          <a:noFill/>
          <a:ln/>
        </p:spPr>
        <p:txBody>
          <a:bodyPr wrap="square" lIns="0" tIns="0" rIns="0" bIns="0" rtlCol="0" anchor="ctr"/>
          <a:lstStyle/>
          <a:p>
            <a:pPr>
              <a:lnSpc>
                <a:spcPct val="120000"/>
              </a:lnSpc>
            </a:pPr>
            <a:r>
              <a:rPr lang="en-US" sz="1667" b="1" dirty="0">
                <a:solidFill>
                  <a:srgbClr val="E2E8F0"/>
                </a:solidFill>
                <a:latin typeface="Noto Sans SC" pitchFamily="34" charset="0"/>
                <a:ea typeface="Noto Sans SC" pitchFamily="34" charset="-122"/>
                <a:cs typeface="Noto Sans SC" pitchFamily="34" charset="-120"/>
              </a:rPr>
              <a:t>结果返回</a:t>
            </a:r>
            <a:endParaRPr lang="en-US" sz="1600" dirty="0"/>
          </a:p>
        </p:txBody>
      </p:sp>
      <p:sp>
        <p:nvSpPr>
          <p:cNvPr id="20" name="Text 18"/>
          <p:cNvSpPr/>
          <p:nvPr/>
        </p:nvSpPr>
        <p:spPr>
          <a:xfrm>
            <a:off x="719667" y="4280958"/>
            <a:ext cx="4751917" cy="275167"/>
          </a:xfrm>
          <a:prstGeom prst="rect">
            <a:avLst/>
          </a:prstGeom>
          <a:noFill/>
          <a:ln/>
        </p:spPr>
        <p:txBody>
          <a:bodyPr wrap="square" lIns="0" tIns="0" rIns="0" bIns="0" rtlCol="0" anchor="ctr"/>
          <a:lstStyle/>
          <a:p>
            <a:pPr>
              <a:lnSpc>
                <a:spcPct val="140000"/>
              </a:lnSpc>
            </a:pPr>
            <a:r>
              <a:rPr lang="en-US" sz="1333" dirty="0">
                <a:solidFill>
                  <a:srgbClr val="A0AEC0"/>
                </a:solidFill>
                <a:latin typeface="MiSans" pitchFamily="34" charset="0"/>
                <a:ea typeface="MiSans" pitchFamily="34" charset="-122"/>
                <a:cs typeface="MiSans" pitchFamily="34" charset="-120"/>
              </a:rPr>
              <a:t>将查询结果返回给客户端</a:t>
            </a:r>
            <a:endParaRPr lang="en-US" sz="1600" dirty="0"/>
          </a:p>
        </p:txBody>
      </p:sp>
      <p:sp>
        <p:nvSpPr>
          <p:cNvPr id="21" name="Shape 19"/>
          <p:cNvSpPr/>
          <p:nvPr/>
        </p:nvSpPr>
        <p:spPr>
          <a:xfrm>
            <a:off x="5665556" y="3688292"/>
            <a:ext cx="42333" cy="1375833"/>
          </a:xfrm>
          <a:custGeom>
            <a:avLst/>
            <a:gdLst/>
            <a:ahLst/>
            <a:cxnLst/>
            <a:rect l="l" t="t" r="r" b="b"/>
            <a:pathLst>
              <a:path w="42333" h="1375833">
                <a:moveTo>
                  <a:pt x="0" y="0"/>
                </a:moveTo>
                <a:lnTo>
                  <a:pt x="42333" y="0"/>
                </a:lnTo>
                <a:lnTo>
                  <a:pt x="42333" y="1375833"/>
                </a:lnTo>
                <a:lnTo>
                  <a:pt x="0" y="1375833"/>
                </a:lnTo>
                <a:lnTo>
                  <a:pt x="0" y="0"/>
                </a:lnTo>
                <a:close/>
              </a:path>
            </a:pathLst>
          </a:custGeom>
          <a:solidFill>
            <a:srgbClr val="D69E2E"/>
          </a:solidFill>
          <a:ln/>
        </p:spPr>
        <p:txBody>
          <a:bodyPr/>
          <a:lstStyle/>
          <a:p>
            <a:endParaRPr lang="zh-CN" altLang="en-US"/>
          </a:p>
        </p:txBody>
      </p:sp>
      <p:sp>
        <p:nvSpPr>
          <p:cNvPr id="22" name="Shape 20"/>
          <p:cNvSpPr/>
          <p:nvPr/>
        </p:nvSpPr>
        <p:spPr>
          <a:xfrm>
            <a:off x="5972473" y="3878792"/>
            <a:ext cx="254000" cy="254000"/>
          </a:xfrm>
          <a:custGeom>
            <a:avLst/>
            <a:gdLst/>
            <a:ahLst/>
            <a:cxnLst/>
            <a:rect l="l" t="t" r="r" b="b"/>
            <a:pathLst>
              <a:path w="254000" h="254000">
                <a:moveTo>
                  <a:pt x="127000" y="0"/>
                </a:moveTo>
                <a:cubicBezTo>
                  <a:pt x="134293" y="0"/>
                  <a:pt x="140990" y="4018"/>
                  <a:pt x="144463" y="10418"/>
                </a:cubicBezTo>
                <a:lnTo>
                  <a:pt x="251619" y="208855"/>
                </a:lnTo>
                <a:cubicBezTo>
                  <a:pt x="254943" y="215007"/>
                  <a:pt x="254794" y="222448"/>
                  <a:pt x="251222" y="228451"/>
                </a:cubicBezTo>
                <a:cubicBezTo>
                  <a:pt x="247650" y="234454"/>
                  <a:pt x="241151" y="238125"/>
                  <a:pt x="234156" y="238125"/>
                </a:cubicBezTo>
                <a:lnTo>
                  <a:pt x="19844" y="238125"/>
                </a:lnTo>
                <a:cubicBezTo>
                  <a:pt x="12849" y="238125"/>
                  <a:pt x="6400" y="234454"/>
                  <a:pt x="2778" y="228451"/>
                </a:cubicBezTo>
                <a:cubicBezTo>
                  <a:pt x="-843" y="222448"/>
                  <a:pt x="-943" y="215007"/>
                  <a:pt x="2381" y="208855"/>
                </a:cubicBezTo>
                <a:lnTo>
                  <a:pt x="109538" y="10418"/>
                </a:lnTo>
                <a:cubicBezTo>
                  <a:pt x="113010" y="4018"/>
                  <a:pt x="119707" y="0"/>
                  <a:pt x="127000" y="0"/>
                </a:cubicBezTo>
                <a:close/>
                <a:moveTo>
                  <a:pt x="127000" y="83344"/>
                </a:moveTo>
                <a:cubicBezTo>
                  <a:pt x="120402" y="83344"/>
                  <a:pt x="115094" y="88652"/>
                  <a:pt x="115094" y="95250"/>
                </a:cubicBezTo>
                <a:lnTo>
                  <a:pt x="115094" y="150813"/>
                </a:lnTo>
                <a:cubicBezTo>
                  <a:pt x="115094" y="157411"/>
                  <a:pt x="120402" y="162719"/>
                  <a:pt x="127000" y="162719"/>
                </a:cubicBezTo>
                <a:cubicBezTo>
                  <a:pt x="133598" y="162719"/>
                  <a:pt x="138906" y="157411"/>
                  <a:pt x="138906" y="150813"/>
                </a:cubicBezTo>
                <a:lnTo>
                  <a:pt x="138906" y="95250"/>
                </a:lnTo>
                <a:cubicBezTo>
                  <a:pt x="138906" y="88652"/>
                  <a:pt x="133598" y="83344"/>
                  <a:pt x="127000" y="83344"/>
                </a:cubicBezTo>
                <a:close/>
                <a:moveTo>
                  <a:pt x="140246" y="190500"/>
                </a:moveTo>
                <a:cubicBezTo>
                  <a:pt x="140547" y="185583"/>
                  <a:pt x="138095" y="180906"/>
                  <a:pt x="133880" y="178356"/>
                </a:cubicBezTo>
                <a:cubicBezTo>
                  <a:pt x="129666" y="175807"/>
                  <a:pt x="124384" y="175807"/>
                  <a:pt x="120169" y="178356"/>
                </a:cubicBezTo>
                <a:cubicBezTo>
                  <a:pt x="115955" y="180906"/>
                  <a:pt x="113503" y="185583"/>
                  <a:pt x="113804" y="190500"/>
                </a:cubicBezTo>
                <a:cubicBezTo>
                  <a:pt x="113503" y="195417"/>
                  <a:pt x="115955" y="200094"/>
                  <a:pt x="120169" y="202644"/>
                </a:cubicBezTo>
                <a:cubicBezTo>
                  <a:pt x="124384" y="205193"/>
                  <a:pt x="129666" y="205193"/>
                  <a:pt x="133880" y="202644"/>
                </a:cubicBezTo>
                <a:cubicBezTo>
                  <a:pt x="138095" y="200094"/>
                  <a:pt x="140547" y="195417"/>
                  <a:pt x="140246" y="190500"/>
                </a:cubicBezTo>
                <a:close/>
              </a:path>
            </a:pathLst>
          </a:custGeom>
          <a:solidFill>
            <a:srgbClr val="D69E2E"/>
          </a:solidFill>
          <a:ln/>
        </p:spPr>
        <p:txBody>
          <a:bodyPr/>
          <a:lstStyle/>
          <a:p>
            <a:endParaRPr lang="zh-CN" altLang="en-US"/>
          </a:p>
        </p:txBody>
      </p:sp>
      <p:sp>
        <p:nvSpPr>
          <p:cNvPr id="23" name="Text 21"/>
          <p:cNvSpPr/>
          <p:nvPr/>
        </p:nvSpPr>
        <p:spPr>
          <a:xfrm>
            <a:off x="6385223" y="3857625"/>
            <a:ext cx="952500" cy="296333"/>
          </a:xfrm>
          <a:prstGeom prst="rect">
            <a:avLst/>
          </a:prstGeom>
          <a:noFill/>
          <a:ln/>
        </p:spPr>
        <p:txBody>
          <a:bodyPr wrap="square" lIns="0" tIns="0" rIns="0" bIns="0" rtlCol="0" anchor="ctr"/>
          <a:lstStyle/>
          <a:p>
            <a:pPr>
              <a:lnSpc>
                <a:spcPct val="120000"/>
              </a:lnSpc>
            </a:pPr>
            <a:r>
              <a:rPr lang="en-US" sz="1667" b="1" dirty="0">
                <a:solidFill>
                  <a:srgbClr val="E2E8F0"/>
                </a:solidFill>
                <a:latin typeface="Noto Sans SC" pitchFamily="34" charset="0"/>
                <a:ea typeface="Noto Sans SC" pitchFamily="34" charset="-122"/>
                <a:cs typeface="Noto Sans SC" pitchFamily="34" charset="-120"/>
              </a:rPr>
              <a:t>错误处理</a:t>
            </a:r>
            <a:endParaRPr lang="en-US" sz="1600" dirty="0"/>
          </a:p>
        </p:txBody>
      </p:sp>
      <p:sp>
        <p:nvSpPr>
          <p:cNvPr id="24" name="Text 22"/>
          <p:cNvSpPr/>
          <p:nvPr/>
        </p:nvSpPr>
        <p:spPr>
          <a:xfrm>
            <a:off x="5940723" y="4280958"/>
            <a:ext cx="4751917" cy="275167"/>
          </a:xfrm>
          <a:prstGeom prst="rect">
            <a:avLst/>
          </a:prstGeom>
          <a:noFill/>
          <a:ln/>
        </p:spPr>
        <p:txBody>
          <a:bodyPr wrap="square" lIns="0" tIns="0" rIns="0" bIns="0" rtlCol="0" anchor="ctr"/>
          <a:lstStyle/>
          <a:p>
            <a:pPr>
              <a:lnSpc>
                <a:spcPct val="140000"/>
              </a:lnSpc>
            </a:pPr>
            <a:r>
              <a:rPr lang="en-US" sz="1333" dirty="0">
                <a:solidFill>
                  <a:srgbClr val="A0AEC0"/>
                </a:solidFill>
                <a:latin typeface="MiSans" pitchFamily="34" charset="0"/>
                <a:ea typeface="MiSans" pitchFamily="34" charset="-122"/>
                <a:cs typeface="MiSans" pitchFamily="34" charset="-120"/>
              </a:rPr>
              <a:t>处理查询过程中的异常和错误</a:t>
            </a:r>
            <a:endParaRPr lang="en-US" sz="1600" dirty="0"/>
          </a:p>
        </p:txBody>
      </p:sp>
      <p:sp>
        <p:nvSpPr>
          <p:cNvPr id="25" name="Shape 23"/>
          <p:cNvSpPr/>
          <p:nvPr/>
        </p:nvSpPr>
        <p:spPr>
          <a:xfrm>
            <a:off x="10886695" y="3688292"/>
            <a:ext cx="4942417" cy="1375833"/>
          </a:xfrm>
          <a:custGeom>
            <a:avLst/>
            <a:gdLst/>
            <a:ahLst/>
            <a:cxnLst/>
            <a:rect l="l" t="t" r="r" b="b"/>
            <a:pathLst>
              <a:path w="4942417" h="1375833">
                <a:moveTo>
                  <a:pt x="0" y="0"/>
                </a:moveTo>
                <a:lnTo>
                  <a:pt x="4942417" y="0"/>
                </a:lnTo>
                <a:lnTo>
                  <a:pt x="4942417" y="1375833"/>
                </a:lnTo>
                <a:lnTo>
                  <a:pt x="0" y="1375833"/>
                </a:lnTo>
                <a:lnTo>
                  <a:pt x="0" y="0"/>
                </a:lnTo>
                <a:close/>
              </a:path>
            </a:pathLst>
          </a:custGeom>
          <a:solidFill>
            <a:srgbClr val="D69E2E">
              <a:alpha val="5098"/>
            </a:srgbClr>
          </a:solidFill>
          <a:ln/>
        </p:spPr>
        <p:txBody>
          <a:bodyPr/>
          <a:lstStyle/>
          <a:p>
            <a:endParaRPr lang="zh-CN" altLang="en-US"/>
          </a:p>
        </p:txBody>
      </p:sp>
      <p:sp>
        <p:nvSpPr>
          <p:cNvPr id="26" name="Shape 24"/>
          <p:cNvSpPr/>
          <p:nvPr/>
        </p:nvSpPr>
        <p:spPr>
          <a:xfrm>
            <a:off x="10886695" y="3688292"/>
            <a:ext cx="42333" cy="1375833"/>
          </a:xfrm>
          <a:custGeom>
            <a:avLst/>
            <a:gdLst/>
            <a:ahLst/>
            <a:cxnLst/>
            <a:rect l="l" t="t" r="r" b="b"/>
            <a:pathLst>
              <a:path w="42333" h="1375833">
                <a:moveTo>
                  <a:pt x="0" y="0"/>
                </a:moveTo>
                <a:lnTo>
                  <a:pt x="42333" y="0"/>
                </a:lnTo>
                <a:lnTo>
                  <a:pt x="42333" y="1375833"/>
                </a:lnTo>
                <a:lnTo>
                  <a:pt x="0" y="1375833"/>
                </a:lnTo>
                <a:lnTo>
                  <a:pt x="0" y="0"/>
                </a:lnTo>
                <a:close/>
              </a:path>
            </a:pathLst>
          </a:custGeom>
          <a:solidFill>
            <a:srgbClr val="D69E2E"/>
          </a:solidFill>
          <a:ln/>
        </p:spPr>
        <p:txBody>
          <a:bodyPr/>
          <a:lstStyle/>
          <a:p>
            <a:endParaRPr lang="zh-CN" altLang="en-US"/>
          </a:p>
        </p:txBody>
      </p:sp>
      <p:sp>
        <p:nvSpPr>
          <p:cNvPr id="27" name="Shape 25"/>
          <p:cNvSpPr/>
          <p:nvPr/>
        </p:nvSpPr>
        <p:spPr>
          <a:xfrm>
            <a:off x="13341118" y="3857625"/>
            <a:ext cx="317500" cy="317500"/>
          </a:xfrm>
          <a:custGeom>
            <a:avLst/>
            <a:gdLst/>
            <a:ahLst/>
            <a:cxnLst/>
            <a:rect l="l" t="t" r="r" b="b"/>
            <a:pathLst>
              <a:path w="317500" h="317500">
                <a:moveTo>
                  <a:pt x="158750" y="317500"/>
                </a:moveTo>
                <a:cubicBezTo>
                  <a:pt x="246367" y="317500"/>
                  <a:pt x="317500" y="246367"/>
                  <a:pt x="317500" y="158750"/>
                </a:cubicBezTo>
                <a:cubicBezTo>
                  <a:pt x="317500" y="71133"/>
                  <a:pt x="246367" y="0"/>
                  <a:pt x="158750" y="0"/>
                </a:cubicBezTo>
                <a:cubicBezTo>
                  <a:pt x="71133" y="0"/>
                  <a:pt x="0" y="71133"/>
                  <a:pt x="0" y="158750"/>
                </a:cubicBezTo>
                <a:cubicBezTo>
                  <a:pt x="0" y="246367"/>
                  <a:pt x="71133" y="317500"/>
                  <a:pt x="158750" y="317500"/>
                </a:cubicBezTo>
                <a:close/>
                <a:moveTo>
                  <a:pt x="138906" y="99219"/>
                </a:moveTo>
                <a:cubicBezTo>
                  <a:pt x="138906" y="88267"/>
                  <a:pt x="147798" y="79375"/>
                  <a:pt x="158750" y="79375"/>
                </a:cubicBezTo>
                <a:cubicBezTo>
                  <a:pt x="169702" y="79375"/>
                  <a:pt x="178594" y="88267"/>
                  <a:pt x="178594" y="99219"/>
                </a:cubicBezTo>
                <a:cubicBezTo>
                  <a:pt x="178594" y="110171"/>
                  <a:pt x="169702" y="119062"/>
                  <a:pt x="158750" y="119062"/>
                </a:cubicBezTo>
                <a:cubicBezTo>
                  <a:pt x="147798" y="119062"/>
                  <a:pt x="138906" y="110171"/>
                  <a:pt x="138906" y="99219"/>
                </a:cubicBezTo>
                <a:close/>
                <a:moveTo>
                  <a:pt x="133945" y="138906"/>
                </a:moveTo>
                <a:lnTo>
                  <a:pt x="163711" y="138906"/>
                </a:lnTo>
                <a:cubicBezTo>
                  <a:pt x="171958" y="138906"/>
                  <a:pt x="178594" y="145542"/>
                  <a:pt x="178594" y="153789"/>
                </a:cubicBezTo>
                <a:lnTo>
                  <a:pt x="178594" y="208359"/>
                </a:lnTo>
                <a:lnTo>
                  <a:pt x="183555" y="208359"/>
                </a:lnTo>
                <a:cubicBezTo>
                  <a:pt x="191802" y="208359"/>
                  <a:pt x="198438" y="214995"/>
                  <a:pt x="198438" y="223242"/>
                </a:cubicBezTo>
                <a:cubicBezTo>
                  <a:pt x="198438" y="231490"/>
                  <a:pt x="191802" y="238125"/>
                  <a:pt x="183555" y="238125"/>
                </a:cubicBezTo>
                <a:lnTo>
                  <a:pt x="133945" y="238125"/>
                </a:lnTo>
                <a:cubicBezTo>
                  <a:pt x="125698" y="238125"/>
                  <a:pt x="119062" y="231490"/>
                  <a:pt x="119062" y="223242"/>
                </a:cubicBezTo>
                <a:cubicBezTo>
                  <a:pt x="119062" y="214995"/>
                  <a:pt x="125698" y="208359"/>
                  <a:pt x="133945" y="208359"/>
                </a:cubicBezTo>
                <a:lnTo>
                  <a:pt x="148828" y="208359"/>
                </a:lnTo>
                <a:lnTo>
                  <a:pt x="148828" y="168672"/>
                </a:lnTo>
                <a:lnTo>
                  <a:pt x="133945" y="168672"/>
                </a:lnTo>
                <a:cubicBezTo>
                  <a:pt x="125698" y="168672"/>
                  <a:pt x="119062" y="162037"/>
                  <a:pt x="119062" y="153789"/>
                </a:cubicBezTo>
                <a:cubicBezTo>
                  <a:pt x="119062" y="145542"/>
                  <a:pt x="125698" y="138906"/>
                  <a:pt x="133945" y="138906"/>
                </a:cubicBezTo>
                <a:close/>
              </a:path>
            </a:pathLst>
          </a:custGeom>
          <a:solidFill>
            <a:srgbClr val="D69E2E"/>
          </a:solidFill>
          <a:ln/>
        </p:spPr>
        <p:txBody>
          <a:bodyPr/>
          <a:lstStyle/>
          <a:p>
            <a:endParaRPr lang="zh-CN" altLang="en-US"/>
          </a:p>
        </p:txBody>
      </p:sp>
      <p:sp>
        <p:nvSpPr>
          <p:cNvPr id="28" name="Text 26"/>
          <p:cNvSpPr/>
          <p:nvPr/>
        </p:nvSpPr>
        <p:spPr>
          <a:xfrm>
            <a:off x="11119528" y="4302125"/>
            <a:ext cx="4751917" cy="254000"/>
          </a:xfrm>
          <a:prstGeom prst="rect">
            <a:avLst/>
          </a:prstGeom>
          <a:noFill/>
          <a:ln/>
        </p:spPr>
        <p:txBody>
          <a:bodyPr wrap="square" lIns="0" tIns="0" rIns="0" bIns="0" rtlCol="0" anchor="ctr"/>
          <a:lstStyle/>
          <a:p>
            <a:pPr algn="ctr">
              <a:lnSpc>
                <a:spcPct val="130000"/>
              </a:lnSpc>
            </a:pPr>
            <a:r>
              <a:rPr lang="en-US" sz="1333" b="1" dirty="0">
                <a:solidFill>
                  <a:srgbClr val="E2E8F0"/>
                </a:solidFill>
                <a:latin typeface="MiSans" pitchFamily="34" charset="0"/>
                <a:ea typeface="MiSans" pitchFamily="34" charset="-122"/>
                <a:cs typeface="MiSans" pitchFamily="34" charset="-120"/>
              </a:rPr>
              <a:t>在SQL执行流程中</a:t>
            </a:r>
            <a:endParaRPr lang="en-US" sz="1600" dirty="0"/>
          </a:p>
        </p:txBody>
      </p:sp>
      <p:sp>
        <p:nvSpPr>
          <p:cNvPr id="29" name="Text 27"/>
          <p:cNvSpPr/>
          <p:nvPr/>
        </p:nvSpPr>
        <p:spPr>
          <a:xfrm>
            <a:off x="11119528" y="4640792"/>
            <a:ext cx="4751917" cy="254000"/>
          </a:xfrm>
          <a:prstGeom prst="rect">
            <a:avLst/>
          </a:prstGeom>
          <a:noFill/>
          <a:ln/>
        </p:spPr>
        <p:txBody>
          <a:bodyPr wrap="square" lIns="0" tIns="0" rIns="0" bIns="0" rtlCol="0" anchor="ctr"/>
          <a:lstStyle/>
          <a:p>
            <a:pPr algn="ctr">
              <a:lnSpc>
                <a:spcPct val="130000"/>
              </a:lnSpc>
            </a:pPr>
            <a:r>
              <a:rPr lang="en-US" sz="1333" dirty="0">
                <a:solidFill>
                  <a:srgbClr val="A0AEC0"/>
                </a:solidFill>
                <a:latin typeface="MiSans" pitchFamily="34" charset="0"/>
                <a:ea typeface="MiSans" pitchFamily="34" charset="-122"/>
                <a:cs typeface="MiSans" pitchFamily="34" charset="-120"/>
              </a:rPr>
              <a:t>第3步"Driver协调执行流程"中承担核心职责</a:t>
            </a:r>
            <a:endParaRPr lang="en-US" sz="1600" dirty="0"/>
          </a:p>
        </p:txBody>
      </p:sp>
      <p:sp>
        <p:nvSpPr>
          <p:cNvPr id="30" name="Text 28"/>
          <p:cNvSpPr/>
          <p:nvPr/>
        </p:nvSpPr>
        <p:spPr>
          <a:xfrm>
            <a:off x="423333" y="5402792"/>
            <a:ext cx="7662333" cy="338667"/>
          </a:xfrm>
          <a:prstGeom prst="rect">
            <a:avLst/>
          </a:prstGeom>
          <a:noFill/>
          <a:ln/>
        </p:spPr>
        <p:txBody>
          <a:bodyPr wrap="square" lIns="0" tIns="0" rIns="0" bIns="0" rtlCol="0" anchor="ctr"/>
          <a:lstStyle/>
          <a:p>
            <a:pPr>
              <a:lnSpc>
                <a:spcPct val="110000"/>
              </a:lnSpc>
            </a:pPr>
            <a:r>
              <a:rPr lang="en-US" sz="2000" b="1" dirty="0">
                <a:solidFill>
                  <a:srgbClr val="E2E8F0"/>
                </a:solidFill>
                <a:latin typeface="Noto Sans SC" pitchFamily="34" charset="0"/>
                <a:ea typeface="Noto Sans SC" pitchFamily="34" charset="-122"/>
                <a:cs typeface="Noto Sans SC" pitchFamily="34" charset="-120"/>
              </a:rPr>
              <a:t>独特架构特性</a:t>
            </a:r>
            <a:endParaRPr lang="en-US" sz="1600" dirty="0"/>
          </a:p>
        </p:txBody>
      </p:sp>
      <p:sp>
        <p:nvSpPr>
          <p:cNvPr id="31" name="Text 29"/>
          <p:cNvSpPr/>
          <p:nvPr/>
        </p:nvSpPr>
        <p:spPr>
          <a:xfrm>
            <a:off x="423333" y="5910792"/>
            <a:ext cx="7620000" cy="254000"/>
          </a:xfrm>
          <a:prstGeom prst="rect">
            <a:avLst/>
          </a:prstGeom>
          <a:noFill/>
          <a:ln/>
        </p:spPr>
        <p:txBody>
          <a:bodyPr wrap="square" lIns="0" tIns="0" rIns="0" bIns="0" rtlCol="0" anchor="ctr"/>
          <a:lstStyle/>
          <a:p>
            <a:pPr>
              <a:lnSpc>
                <a:spcPct val="130000"/>
              </a:lnSpc>
            </a:pPr>
            <a:r>
              <a:rPr lang="en-US" sz="1333" b="1" dirty="0">
                <a:solidFill>
                  <a:srgbClr val="D69E2E"/>
                </a:solidFill>
                <a:latin typeface="MiSans" pitchFamily="34" charset="0"/>
                <a:ea typeface="MiSans" pitchFamily="34" charset="-122"/>
                <a:cs typeface="MiSans" pitchFamily="34" charset="-120"/>
              </a:rPr>
              <a:t>1. 会话状态管理：</a:t>
            </a:r>
            <a:r>
              <a:rPr lang="en-US" sz="1333" dirty="0">
                <a:solidFill>
                  <a:srgbClr val="A0AEC0"/>
                </a:solidFill>
                <a:latin typeface="MiSans" pitchFamily="34" charset="0"/>
                <a:ea typeface="MiSans" pitchFamily="34" charset="-122"/>
                <a:cs typeface="MiSans" pitchFamily="34" charset="-120"/>
              </a:rPr>
              <a:t>维护用户会话的完整上下文，包括配置参数、临时表、UDF注册等</a:t>
            </a:r>
            <a:endParaRPr lang="en-US" sz="1600" dirty="0"/>
          </a:p>
        </p:txBody>
      </p:sp>
      <p:sp>
        <p:nvSpPr>
          <p:cNvPr id="32" name="Text 30"/>
          <p:cNvSpPr/>
          <p:nvPr/>
        </p:nvSpPr>
        <p:spPr>
          <a:xfrm>
            <a:off x="423333" y="6291792"/>
            <a:ext cx="7620000" cy="254000"/>
          </a:xfrm>
          <a:prstGeom prst="rect">
            <a:avLst/>
          </a:prstGeom>
          <a:noFill/>
          <a:ln/>
        </p:spPr>
        <p:txBody>
          <a:bodyPr wrap="square" lIns="0" tIns="0" rIns="0" bIns="0" rtlCol="0" anchor="ctr"/>
          <a:lstStyle/>
          <a:p>
            <a:pPr>
              <a:lnSpc>
                <a:spcPct val="130000"/>
              </a:lnSpc>
            </a:pPr>
            <a:r>
              <a:rPr lang="en-US" sz="1333" b="1" dirty="0">
                <a:solidFill>
                  <a:srgbClr val="D69E2E"/>
                </a:solidFill>
                <a:latin typeface="MiSans" pitchFamily="34" charset="0"/>
                <a:ea typeface="MiSans" pitchFamily="34" charset="-122"/>
                <a:cs typeface="MiSans" pitchFamily="34" charset="-120"/>
              </a:rPr>
              <a:t>2. 组件协调机制：</a:t>
            </a:r>
            <a:r>
              <a:rPr lang="en-US" sz="1333" dirty="0">
                <a:solidFill>
                  <a:srgbClr val="A0AEC0"/>
                </a:solidFill>
                <a:latin typeface="MiSans" pitchFamily="34" charset="0"/>
                <a:ea typeface="MiSans" pitchFamily="34" charset="-122"/>
                <a:cs typeface="MiSans" pitchFamily="34" charset="-120"/>
              </a:rPr>
              <a:t>作为中央协调器，调度Compiler、Optimizer、Execution Engine协同工作</a:t>
            </a:r>
            <a:endParaRPr lang="en-US" sz="1600" dirty="0"/>
          </a:p>
        </p:txBody>
      </p:sp>
      <p:sp>
        <p:nvSpPr>
          <p:cNvPr id="33" name="Text 31"/>
          <p:cNvSpPr/>
          <p:nvPr/>
        </p:nvSpPr>
        <p:spPr>
          <a:xfrm>
            <a:off x="423333" y="6672792"/>
            <a:ext cx="7620000" cy="254000"/>
          </a:xfrm>
          <a:prstGeom prst="rect">
            <a:avLst/>
          </a:prstGeom>
          <a:noFill/>
          <a:ln/>
        </p:spPr>
        <p:txBody>
          <a:bodyPr wrap="square" lIns="0" tIns="0" rIns="0" bIns="0" rtlCol="0" anchor="ctr"/>
          <a:lstStyle/>
          <a:p>
            <a:pPr>
              <a:lnSpc>
                <a:spcPct val="130000"/>
              </a:lnSpc>
            </a:pPr>
            <a:r>
              <a:rPr lang="en-US" sz="1333" b="1" dirty="0">
                <a:solidFill>
                  <a:srgbClr val="D69E2E"/>
                </a:solidFill>
                <a:latin typeface="MiSans" pitchFamily="34" charset="0"/>
                <a:ea typeface="MiSans" pitchFamily="34" charset="-122"/>
                <a:cs typeface="MiSans" pitchFamily="34" charset="-120"/>
              </a:rPr>
              <a:t>3. 资源管理集成：</a:t>
            </a:r>
            <a:r>
              <a:rPr lang="en-US" sz="1333" dirty="0">
                <a:solidFill>
                  <a:srgbClr val="A0AEC0"/>
                </a:solidFill>
                <a:latin typeface="MiSans" pitchFamily="34" charset="0"/>
                <a:ea typeface="MiSans" pitchFamily="34" charset="-122"/>
                <a:cs typeface="MiSans" pitchFamily="34" charset="-120"/>
              </a:rPr>
              <a:t>与YARN资源管理器深度集成，负责计算资源的申请、分配和释放</a:t>
            </a:r>
            <a:endParaRPr lang="en-US" sz="1600" dirty="0"/>
          </a:p>
        </p:txBody>
      </p:sp>
      <p:sp>
        <p:nvSpPr>
          <p:cNvPr id="34" name="Text 32"/>
          <p:cNvSpPr/>
          <p:nvPr/>
        </p:nvSpPr>
        <p:spPr>
          <a:xfrm>
            <a:off x="423333" y="7053792"/>
            <a:ext cx="7620000" cy="254000"/>
          </a:xfrm>
          <a:prstGeom prst="rect">
            <a:avLst/>
          </a:prstGeom>
          <a:noFill/>
          <a:ln/>
        </p:spPr>
        <p:txBody>
          <a:bodyPr wrap="square" lIns="0" tIns="0" rIns="0" bIns="0" rtlCol="0" anchor="ctr"/>
          <a:lstStyle/>
          <a:p>
            <a:pPr>
              <a:lnSpc>
                <a:spcPct val="130000"/>
              </a:lnSpc>
            </a:pPr>
            <a:r>
              <a:rPr lang="en-US" sz="1333" b="1" dirty="0">
                <a:solidFill>
                  <a:srgbClr val="D69E2E"/>
                </a:solidFill>
                <a:latin typeface="MiSans" pitchFamily="34" charset="0"/>
                <a:ea typeface="MiSans" pitchFamily="34" charset="-122"/>
                <a:cs typeface="MiSans" pitchFamily="34" charset="-120"/>
              </a:rPr>
              <a:t>4. 容错与恢复：</a:t>
            </a:r>
            <a:r>
              <a:rPr lang="en-US" sz="1333" dirty="0">
                <a:solidFill>
                  <a:srgbClr val="A0AEC0"/>
                </a:solidFill>
                <a:latin typeface="MiSans" pitchFamily="34" charset="0"/>
                <a:ea typeface="MiSans" pitchFamily="34" charset="-122"/>
                <a:cs typeface="MiSans" pitchFamily="34" charset="-120"/>
              </a:rPr>
              <a:t>提供完善的错误处理框架，支持任务重试、故障转移和状态恢复</a:t>
            </a:r>
            <a:endParaRPr lang="en-US" sz="1600" dirty="0"/>
          </a:p>
        </p:txBody>
      </p:sp>
      <p:sp>
        <p:nvSpPr>
          <p:cNvPr id="35" name="Text 33"/>
          <p:cNvSpPr/>
          <p:nvPr/>
        </p:nvSpPr>
        <p:spPr>
          <a:xfrm>
            <a:off x="423333" y="7434792"/>
            <a:ext cx="7620000" cy="254000"/>
          </a:xfrm>
          <a:prstGeom prst="rect">
            <a:avLst/>
          </a:prstGeom>
          <a:noFill/>
          <a:ln/>
        </p:spPr>
        <p:txBody>
          <a:bodyPr wrap="square" lIns="0" tIns="0" rIns="0" bIns="0" rtlCol="0" anchor="ctr"/>
          <a:lstStyle/>
          <a:p>
            <a:pPr>
              <a:lnSpc>
                <a:spcPct val="130000"/>
              </a:lnSpc>
            </a:pPr>
            <a:r>
              <a:rPr lang="en-US" sz="1333" b="1" dirty="0">
                <a:solidFill>
                  <a:srgbClr val="D69E2E"/>
                </a:solidFill>
                <a:latin typeface="MiSans" pitchFamily="34" charset="0"/>
                <a:ea typeface="MiSans" pitchFamily="34" charset="-122"/>
                <a:cs typeface="MiSans" pitchFamily="34" charset="-120"/>
              </a:rPr>
              <a:t>5. 性能监控体系：</a:t>
            </a:r>
            <a:r>
              <a:rPr lang="en-US" sz="1333" dirty="0">
                <a:solidFill>
                  <a:srgbClr val="A0AEC0"/>
                </a:solidFill>
                <a:latin typeface="MiSans" pitchFamily="34" charset="0"/>
                <a:ea typeface="MiSans" pitchFamily="34" charset="-122"/>
                <a:cs typeface="MiSans" pitchFamily="34" charset="-120"/>
              </a:rPr>
              <a:t>内置完整的性能指标收集和报告机制，支持查询性能分析和优化</a:t>
            </a:r>
            <a:endParaRPr lang="en-US" sz="1600" dirty="0"/>
          </a:p>
        </p:txBody>
      </p:sp>
      <p:sp>
        <p:nvSpPr>
          <p:cNvPr id="36" name="Text 34"/>
          <p:cNvSpPr/>
          <p:nvPr/>
        </p:nvSpPr>
        <p:spPr>
          <a:xfrm>
            <a:off x="8297333" y="5402792"/>
            <a:ext cx="7662333" cy="338667"/>
          </a:xfrm>
          <a:prstGeom prst="rect">
            <a:avLst/>
          </a:prstGeom>
          <a:noFill/>
          <a:ln/>
        </p:spPr>
        <p:txBody>
          <a:bodyPr wrap="square" lIns="0" tIns="0" rIns="0" bIns="0" rtlCol="0" anchor="ctr"/>
          <a:lstStyle/>
          <a:p>
            <a:pPr>
              <a:lnSpc>
                <a:spcPct val="110000"/>
              </a:lnSpc>
            </a:pPr>
            <a:r>
              <a:rPr lang="en-US" sz="2000" b="1" dirty="0">
                <a:solidFill>
                  <a:srgbClr val="E2E8F0"/>
                </a:solidFill>
                <a:latin typeface="Noto Sans SC" pitchFamily="34" charset="0"/>
                <a:ea typeface="Noto Sans SC" pitchFamily="34" charset="-122"/>
                <a:cs typeface="Noto Sans SC" pitchFamily="34" charset="-120"/>
              </a:rPr>
              <a:t>关键特性</a:t>
            </a:r>
            <a:endParaRPr lang="en-US" sz="1600" dirty="0"/>
          </a:p>
        </p:txBody>
      </p:sp>
      <p:sp>
        <p:nvSpPr>
          <p:cNvPr id="37" name="Shape 35"/>
          <p:cNvSpPr/>
          <p:nvPr/>
        </p:nvSpPr>
        <p:spPr>
          <a:xfrm>
            <a:off x="8297333" y="5910792"/>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D69E2E"/>
          </a:solidFill>
          <a:ln/>
        </p:spPr>
        <p:txBody>
          <a:bodyPr/>
          <a:lstStyle/>
          <a:p>
            <a:endParaRPr lang="zh-CN" altLang="en-US"/>
          </a:p>
        </p:txBody>
      </p:sp>
      <p:sp>
        <p:nvSpPr>
          <p:cNvPr id="38" name="Shape 36"/>
          <p:cNvSpPr/>
          <p:nvPr/>
        </p:nvSpPr>
        <p:spPr>
          <a:xfrm>
            <a:off x="8445500" y="6058958"/>
            <a:ext cx="211667" cy="211667"/>
          </a:xfrm>
          <a:custGeom>
            <a:avLst/>
            <a:gdLst/>
            <a:ahLst/>
            <a:cxnLst/>
            <a:rect l="l" t="t" r="r" b="b"/>
            <a:pathLst>
              <a:path w="211667" h="211667">
                <a:moveTo>
                  <a:pt x="105833" y="0"/>
                </a:moveTo>
                <a:cubicBezTo>
                  <a:pt x="107735" y="0"/>
                  <a:pt x="109637" y="413"/>
                  <a:pt x="111373" y="1199"/>
                </a:cubicBezTo>
                <a:lnTo>
                  <a:pt x="189260" y="34230"/>
                </a:lnTo>
                <a:cubicBezTo>
                  <a:pt x="198355" y="38075"/>
                  <a:pt x="205135" y="47046"/>
                  <a:pt x="205093" y="57878"/>
                </a:cubicBezTo>
                <a:cubicBezTo>
                  <a:pt x="204887" y="98888"/>
                  <a:pt x="188020" y="173922"/>
                  <a:pt x="116789" y="208029"/>
                </a:cubicBezTo>
                <a:cubicBezTo>
                  <a:pt x="109885" y="211336"/>
                  <a:pt x="101865" y="211336"/>
                  <a:pt x="94961" y="208029"/>
                </a:cubicBezTo>
                <a:cubicBezTo>
                  <a:pt x="23688" y="173922"/>
                  <a:pt x="6863" y="98888"/>
                  <a:pt x="6656" y="57878"/>
                </a:cubicBezTo>
                <a:cubicBezTo>
                  <a:pt x="6615" y="47046"/>
                  <a:pt x="13395" y="38075"/>
                  <a:pt x="22490" y="34230"/>
                </a:cubicBezTo>
                <a:lnTo>
                  <a:pt x="100335" y="1199"/>
                </a:lnTo>
                <a:cubicBezTo>
                  <a:pt x="102071" y="413"/>
                  <a:pt x="103932" y="0"/>
                  <a:pt x="105833" y="0"/>
                </a:cubicBezTo>
                <a:close/>
                <a:moveTo>
                  <a:pt x="105833" y="27616"/>
                </a:moveTo>
                <a:lnTo>
                  <a:pt x="105833" y="183927"/>
                </a:lnTo>
                <a:cubicBezTo>
                  <a:pt x="162884" y="156311"/>
                  <a:pt x="178222" y="95126"/>
                  <a:pt x="178594" y="58498"/>
                </a:cubicBezTo>
                <a:lnTo>
                  <a:pt x="105833" y="27657"/>
                </a:lnTo>
                <a:lnTo>
                  <a:pt x="105833" y="27657"/>
                </a:lnTo>
                <a:close/>
              </a:path>
            </a:pathLst>
          </a:custGeom>
          <a:solidFill>
            <a:srgbClr val="1A202C"/>
          </a:solidFill>
          <a:ln/>
        </p:spPr>
        <p:txBody>
          <a:bodyPr/>
          <a:lstStyle/>
          <a:p>
            <a:endParaRPr lang="zh-CN" altLang="en-US"/>
          </a:p>
        </p:txBody>
      </p:sp>
      <p:sp>
        <p:nvSpPr>
          <p:cNvPr id="39" name="Text 37"/>
          <p:cNvSpPr/>
          <p:nvPr/>
        </p:nvSpPr>
        <p:spPr>
          <a:xfrm>
            <a:off x="8974667" y="5910792"/>
            <a:ext cx="2973917" cy="296333"/>
          </a:xfrm>
          <a:prstGeom prst="rect">
            <a:avLst/>
          </a:prstGeom>
          <a:noFill/>
          <a:ln/>
        </p:spPr>
        <p:txBody>
          <a:bodyPr wrap="square" lIns="0" tIns="0" rIns="0" bIns="0" rtlCol="0" anchor="ctr"/>
          <a:lstStyle/>
          <a:p>
            <a:pPr>
              <a:lnSpc>
                <a:spcPct val="130000"/>
              </a:lnSpc>
            </a:pPr>
            <a:r>
              <a:rPr lang="en-US" sz="1500" b="1" dirty="0">
                <a:solidFill>
                  <a:srgbClr val="E2E8F0"/>
                </a:solidFill>
                <a:latin typeface="MiSans" pitchFamily="34" charset="0"/>
                <a:ea typeface="MiSans" pitchFamily="34" charset="-122"/>
                <a:cs typeface="MiSans" pitchFamily="34" charset="-120"/>
              </a:rPr>
              <a:t>状态管理</a:t>
            </a:r>
            <a:endParaRPr lang="en-US" sz="1600" dirty="0"/>
          </a:p>
        </p:txBody>
      </p:sp>
      <p:sp>
        <p:nvSpPr>
          <p:cNvPr id="40" name="Text 38"/>
          <p:cNvSpPr/>
          <p:nvPr/>
        </p:nvSpPr>
        <p:spPr>
          <a:xfrm>
            <a:off x="8974667" y="6249458"/>
            <a:ext cx="2963333" cy="254000"/>
          </a:xfrm>
          <a:prstGeom prst="rect">
            <a:avLst/>
          </a:prstGeom>
          <a:noFill/>
          <a:ln/>
        </p:spPr>
        <p:txBody>
          <a:bodyPr wrap="square" lIns="0" tIns="0" rIns="0" bIns="0" rtlCol="0" anchor="ctr"/>
          <a:lstStyle/>
          <a:p>
            <a:pPr>
              <a:lnSpc>
                <a:spcPct val="130000"/>
              </a:lnSpc>
            </a:pPr>
            <a:r>
              <a:rPr lang="en-US" sz="1333" dirty="0">
                <a:solidFill>
                  <a:srgbClr val="A0AEC0"/>
                </a:solidFill>
                <a:latin typeface="MiSans" pitchFamily="34" charset="0"/>
                <a:ea typeface="MiSans" pitchFamily="34" charset="-122"/>
                <a:cs typeface="MiSans" pitchFamily="34" charset="-120"/>
              </a:rPr>
              <a:t>维护会话状态，确保查询执行的隔离性</a:t>
            </a:r>
            <a:endParaRPr lang="en-US" sz="1600" dirty="0"/>
          </a:p>
        </p:txBody>
      </p:sp>
      <p:sp>
        <p:nvSpPr>
          <p:cNvPr id="41" name="Shape 39"/>
          <p:cNvSpPr/>
          <p:nvPr/>
        </p:nvSpPr>
        <p:spPr>
          <a:xfrm>
            <a:off x="8297333" y="6672792"/>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D69E2E"/>
          </a:solidFill>
          <a:ln/>
        </p:spPr>
        <p:txBody>
          <a:bodyPr/>
          <a:lstStyle/>
          <a:p>
            <a:endParaRPr lang="zh-CN" altLang="en-US"/>
          </a:p>
        </p:txBody>
      </p:sp>
      <p:sp>
        <p:nvSpPr>
          <p:cNvPr id="42" name="Shape 40"/>
          <p:cNvSpPr/>
          <p:nvPr/>
        </p:nvSpPr>
        <p:spPr>
          <a:xfrm>
            <a:off x="8445500" y="6820958"/>
            <a:ext cx="211667" cy="211667"/>
          </a:xfrm>
          <a:custGeom>
            <a:avLst/>
            <a:gdLst/>
            <a:ahLst/>
            <a:cxnLst/>
            <a:rect l="l" t="t" r="r" b="b"/>
            <a:pathLst>
              <a:path w="211667" h="211667">
                <a:moveTo>
                  <a:pt x="105833" y="26458"/>
                </a:moveTo>
                <a:cubicBezTo>
                  <a:pt x="82352" y="26458"/>
                  <a:pt x="61226" y="36670"/>
                  <a:pt x="46674" y="52917"/>
                </a:cubicBezTo>
                <a:lnTo>
                  <a:pt x="66146" y="52917"/>
                </a:lnTo>
                <a:cubicBezTo>
                  <a:pt x="73463" y="52917"/>
                  <a:pt x="79375" y="58828"/>
                  <a:pt x="79375" y="66146"/>
                </a:cubicBezTo>
                <a:cubicBezTo>
                  <a:pt x="79375" y="73463"/>
                  <a:pt x="73463" y="79375"/>
                  <a:pt x="66146" y="79375"/>
                </a:cubicBezTo>
                <a:lnTo>
                  <a:pt x="13229" y="79375"/>
                </a:lnTo>
                <a:cubicBezTo>
                  <a:pt x="5912" y="79375"/>
                  <a:pt x="0" y="73463"/>
                  <a:pt x="0" y="66146"/>
                </a:cubicBezTo>
                <a:lnTo>
                  <a:pt x="0" y="13229"/>
                </a:lnTo>
                <a:cubicBezTo>
                  <a:pt x="0" y="5912"/>
                  <a:pt x="5912" y="0"/>
                  <a:pt x="13229" y="0"/>
                </a:cubicBezTo>
                <a:cubicBezTo>
                  <a:pt x="20547" y="0"/>
                  <a:pt x="26458" y="5912"/>
                  <a:pt x="26458" y="13229"/>
                </a:cubicBezTo>
                <a:lnTo>
                  <a:pt x="26458" y="35843"/>
                </a:lnTo>
                <a:cubicBezTo>
                  <a:pt x="45847" y="13891"/>
                  <a:pt x="74207" y="0"/>
                  <a:pt x="105833" y="0"/>
                </a:cubicBezTo>
                <a:cubicBezTo>
                  <a:pt x="164290" y="0"/>
                  <a:pt x="211667" y="47377"/>
                  <a:pt x="211667" y="105833"/>
                </a:cubicBezTo>
                <a:cubicBezTo>
                  <a:pt x="211667" y="164290"/>
                  <a:pt x="164290" y="211667"/>
                  <a:pt x="105833" y="211667"/>
                </a:cubicBezTo>
                <a:cubicBezTo>
                  <a:pt x="69867" y="211667"/>
                  <a:pt x="38075" y="193725"/>
                  <a:pt x="18976" y="166315"/>
                </a:cubicBezTo>
                <a:cubicBezTo>
                  <a:pt x="14800" y="160321"/>
                  <a:pt x="16247" y="152094"/>
                  <a:pt x="22242" y="147877"/>
                </a:cubicBezTo>
                <a:cubicBezTo>
                  <a:pt x="28236" y="143660"/>
                  <a:pt x="36463" y="145149"/>
                  <a:pt x="40680" y="151143"/>
                </a:cubicBezTo>
                <a:cubicBezTo>
                  <a:pt x="55066" y="171731"/>
                  <a:pt x="78879" y="185167"/>
                  <a:pt x="105833" y="185167"/>
                </a:cubicBezTo>
                <a:cubicBezTo>
                  <a:pt x="149655" y="185167"/>
                  <a:pt x="185208" y="149614"/>
                  <a:pt x="185208" y="105792"/>
                </a:cubicBezTo>
                <a:cubicBezTo>
                  <a:pt x="185208" y="61970"/>
                  <a:pt x="149655" y="26458"/>
                  <a:pt x="105833" y="26458"/>
                </a:cubicBezTo>
                <a:close/>
              </a:path>
            </a:pathLst>
          </a:custGeom>
          <a:solidFill>
            <a:srgbClr val="1A202C"/>
          </a:solidFill>
          <a:ln/>
        </p:spPr>
        <p:txBody>
          <a:bodyPr/>
          <a:lstStyle/>
          <a:p>
            <a:endParaRPr lang="zh-CN" altLang="en-US"/>
          </a:p>
        </p:txBody>
      </p:sp>
      <p:sp>
        <p:nvSpPr>
          <p:cNvPr id="43" name="Text 41"/>
          <p:cNvSpPr/>
          <p:nvPr/>
        </p:nvSpPr>
        <p:spPr>
          <a:xfrm>
            <a:off x="8974667" y="6672792"/>
            <a:ext cx="2465917" cy="296333"/>
          </a:xfrm>
          <a:prstGeom prst="rect">
            <a:avLst/>
          </a:prstGeom>
          <a:noFill/>
          <a:ln/>
        </p:spPr>
        <p:txBody>
          <a:bodyPr wrap="square" lIns="0" tIns="0" rIns="0" bIns="0" rtlCol="0" anchor="ctr"/>
          <a:lstStyle/>
          <a:p>
            <a:pPr>
              <a:lnSpc>
                <a:spcPct val="130000"/>
              </a:lnSpc>
            </a:pPr>
            <a:r>
              <a:rPr lang="en-US" sz="1500" b="1" dirty="0">
                <a:solidFill>
                  <a:srgbClr val="E2E8F0"/>
                </a:solidFill>
                <a:latin typeface="MiSans" pitchFamily="34" charset="0"/>
                <a:ea typeface="MiSans" pitchFamily="34" charset="-122"/>
                <a:cs typeface="MiSans" pitchFamily="34" charset="-120"/>
              </a:rPr>
              <a:t>容错处理</a:t>
            </a:r>
            <a:endParaRPr lang="en-US" sz="1600" dirty="0"/>
          </a:p>
        </p:txBody>
      </p:sp>
      <p:sp>
        <p:nvSpPr>
          <p:cNvPr id="44" name="Text 42"/>
          <p:cNvSpPr/>
          <p:nvPr/>
        </p:nvSpPr>
        <p:spPr>
          <a:xfrm>
            <a:off x="8974667" y="7011458"/>
            <a:ext cx="2455333" cy="254000"/>
          </a:xfrm>
          <a:prstGeom prst="rect">
            <a:avLst/>
          </a:prstGeom>
          <a:noFill/>
          <a:ln/>
        </p:spPr>
        <p:txBody>
          <a:bodyPr wrap="square" lIns="0" tIns="0" rIns="0" bIns="0" rtlCol="0" anchor="ctr"/>
          <a:lstStyle/>
          <a:p>
            <a:pPr>
              <a:lnSpc>
                <a:spcPct val="130000"/>
              </a:lnSpc>
            </a:pPr>
            <a:r>
              <a:rPr lang="en-US" sz="1333" dirty="0">
                <a:solidFill>
                  <a:srgbClr val="A0AEC0"/>
                </a:solidFill>
                <a:latin typeface="MiSans" pitchFamily="34" charset="0"/>
                <a:ea typeface="MiSans" pitchFamily="34" charset="-122"/>
                <a:cs typeface="MiSans" pitchFamily="34" charset="-120"/>
              </a:rPr>
              <a:t>提供完善的错误处理和恢复机制</a:t>
            </a:r>
            <a:endParaRPr lang="en-US" sz="1600" dirty="0"/>
          </a:p>
        </p:txBody>
      </p:sp>
      <p:sp>
        <p:nvSpPr>
          <p:cNvPr id="45" name="Shape 43"/>
          <p:cNvSpPr/>
          <p:nvPr/>
        </p:nvSpPr>
        <p:spPr>
          <a:xfrm>
            <a:off x="8297333" y="7434792"/>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D69E2E"/>
          </a:solidFill>
          <a:ln/>
        </p:spPr>
        <p:txBody>
          <a:bodyPr/>
          <a:lstStyle/>
          <a:p>
            <a:endParaRPr lang="zh-CN" altLang="en-US"/>
          </a:p>
        </p:txBody>
      </p:sp>
      <p:sp>
        <p:nvSpPr>
          <p:cNvPr id="46" name="Shape 44"/>
          <p:cNvSpPr/>
          <p:nvPr/>
        </p:nvSpPr>
        <p:spPr>
          <a:xfrm>
            <a:off x="8445500" y="7582958"/>
            <a:ext cx="211667" cy="211667"/>
          </a:xfrm>
          <a:custGeom>
            <a:avLst/>
            <a:gdLst/>
            <a:ahLst/>
            <a:cxnLst/>
            <a:rect l="l" t="t" r="r" b="b"/>
            <a:pathLst>
              <a:path w="211667" h="211667">
                <a:moveTo>
                  <a:pt x="55314" y="15007"/>
                </a:moveTo>
                <a:cubicBezTo>
                  <a:pt x="59821" y="18149"/>
                  <a:pt x="60896" y="24350"/>
                  <a:pt x="57754" y="28815"/>
                </a:cubicBezTo>
                <a:lnTo>
                  <a:pt x="34603" y="61888"/>
                </a:lnTo>
                <a:cubicBezTo>
                  <a:pt x="32908" y="64285"/>
                  <a:pt x="30262" y="65815"/>
                  <a:pt x="27326" y="66063"/>
                </a:cubicBezTo>
                <a:cubicBezTo>
                  <a:pt x="24391" y="66311"/>
                  <a:pt x="21497" y="65319"/>
                  <a:pt x="19430" y="63252"/>
                </a:cubicBezTo>
                <a:lnTo>
                  <a:pt x="2894" y="46715"/>
                </a:lnTo>
                <a:cubicBezTo>
                  <a:pt x="-951" y="42829"/>
                  <a:pt x="-951" y="36546"/>
                  <a:pt x="2894" y="32660"/>
                </a:cubicBezTo>
                <a:cubicBezTo>
                  <a:pt x="6739" y="28773"/>
                  <a:pt x="13064" y="28815"/>
                  <a:pt x="16950" y="32660"/>
                </a:cubicBezTo>
                <a:lnTo>
                  <a:pt x="25135" y="40845"/>
                </a:lnTo>
                <a:lnTo>
                  <a:pt x="41507" y="17446"/>
                </a:lnTo>
                <a:cubicBezTo>
                  <a:pt x="44648" y="12940"/>
                  <a:pt x="50850" y="11865"/>
                  <a:pt x="55314" y="15007"/>
                </a:cubicBezTo>
                <a:close/>
                <a:moveTo>
                  <a:pt x="55314" y="81153"/>
                </a:moveTo>
                <a:cubicBezTo>
                  <a:pt x="59821" y="84295"/>
                  <a:pt x="60896" y="90496"/>
                  <a:pt x="57754" y="94961"/>
                </a:cubicBezTo>
                <a:lnTo>
                  <a:pt x="34603" y="128034"/>
                </a:lnTo>
                <a:cubicBezTo>
                  <a:pt x="32908" y="130431"/>
                  <a:pt x="30262" y="131961"/>
                  <a:pt x="27326" y="132209"/>
                </a:cubicBezTo>
                <a:cubicBezTo>
                  <a:pt x="24391" y="132457"/>
                  <a:pt x="21497" y="131465"/>
                  <a:pt x="19430" y="129398"/>
                </a:cubicBezTo>
                <a:lnTo>
                  <a:pt x="2894" y="112861"/>
                </a:lnTo>
                <a:cubicBezTo>
                  <a:pt x="-992" y="108975"/>
                  <a:pt x="-992" y="102691"/>
                  <a:pt x="2894" y="98847"/>
                </a:cubicBezTo>
                <a:cubicBezTo>
                  <a:pt x="6780" y="95002"/>
                  <a:pt x="13064" y="94961"/>
                  <a:pt x="16909" y="98847"/>
                </a:cubicBezTo>
                <a:lnTo>
                  <a:pt x="25094" y="107032"/>
                </a:lnTo>
                <a:lnTo>
                  <a:pt x="41465" y="83633"/>
                </a:lnTo>
                <a:cubicBezTo>
                  <a:pt x="44607" y="79127"/>
                  <a:pt x="50808" y="78052"/>
                  <a:pt x="55273" y="81194"/>
                </a:cubicBezTo>
                <a:close/>
                <a:moveTo>
                  <a:pt x="92604" y="39688"/>
                </a:moveTo>
                <a:cubicBezTo>
                  <a:pt x="92604" y="32370"/>
                  <a:pt x="98516" y="26458"/>
                  <a:pt x="105833" y="26458"/>
                </a:cubicBezTo>
                <a:lnTo>
                  <a:pt x="198438" y="26458"/>
                </a:lnTo>
                <a:cubicBezTo>
                  <a:pt x="205755" y="26458"/>
                  <a:pt x="211667" y="32370"/>
                  <a:pt x="211667" y="39688"/>
                </a:cubicBezTo>
                <a:cubicBezTo>
                  <a:pt x="211667" y="47005"/>
                  <a:pt x="205755" y="52917"/>
                  <a:pt x="198438" y="52917"/>
                </a:cubicBezTo>
                <a:lnTo>
                  <a:pt x="105833" y="52917"/>
                </a:lnTo>
                <a:cubicBezTo>
                  <a:pt x="98516" y="52917"/>
                  <a:pt x="92604" y="47005"/>
                  <a:pt x="92604" y="39688"/>
                </a:cubicBezTo>
                <a:close/>
                <a:moveTo>
                  <a:pt x="92604" y="105833"/>
                </a:moveTo>
                <a:cubicBezTo>
                  <a:pt x="92604" y="98516"/>
                  <a:pt x="98516" y="92604"/>
                  <a:pt x="105833" y="92604"/>
                </a:cubicBezTo>
                <a:lnTo>
                  <a:pt x="198438" y="92604"/>
                </a:lnTo>
                <a:cubicBezTo>
                  <a:pt x="205755" y="92604"/>
                  <a:pt x="211667" y="98516"/>
                  <a:pt x="211667" y="105833"/>
                </a:cubicBezTo>
                <a:cubicBezTo>
                  <a:pt x="211667" y="113151"/>
                  <a:pt x="205755" y="119063"/>
                  <a:pt x="198438" y="119063"/>
                </a:cubicBezTo>
                <a:lnTo>
                  <a:pt x="105833" y="119063"/>
                </a:lnTo>
                <a:cubicBezTo>
                  <a:pt x="98516" y="119063"/>
                  <a:pt x="92604" y="113151"/>
                  <a:pt x="92604" y="105833"/>
                </a:cubicBezTo>
                <a:close/>
                <a:moveTo>
                  <a:pt x="66146" y="171979"/>
                </a:moveTo>
                <a:cubicBezTo>
                  <a:pt x="66146" y="164662"/>
                  <a:pt x="72058" y="158750"/>
                  <a:pt x="79375" y="158750"/>
                </a:cubicBezTo>
                <a:lnTo>
                  <a:pt x="198438" y="158750"/>
                </a:lnTo>
                <a:cubicBezTo>
                  <a:pt x="205755" y="158750"/>
                  <a:pt x="211667" y="164662"/>
                  <a:pt x="211667" y="171979"/>
                </a:cubicBezTo>
                <a:cubicBezTo>
                  <a:pt x="211667" y="179297"/>
                  <a:pt x="205755" y="185208"/>
                  <a:pt x="198438" y="185208"/>
                </a:cubicBezTo>
                <a:lnTo>
                  <a:pt x="79375" y="185208"/>
                </a:lnTo>
                <a:cubicBezTo>
                  <a:pt x="72058" y="185208"/>
                  <a:pt x="66146" y="179297"/>
                  <a:pt x="66146" y="171979"/>
                </a:cubicBezTo>
                <a:close/>
                <a:moveTo>
                  <a:pt x="26458" y="155443"/>
                </a:moveTo>
                <a:cubicBezTo>
                  <a:pt x="35585" y="155443"/>
                  <a:pt x="42995" y="162852"/>
                  <a:pt x="42995" y="171979"/>
                </a:cubicBezTo>
                <a:cubicBezTo>
                  <a:pt x="42995" y="181106"/>
                  <a:pt x="35585" y="188516"/>
                  <a:pt x="26458" y="188516"/>
                </a:cubicBezTo>
                <a:cubicBezTo>
                  <a:pt x="17332" y="188516"/>
                  <a:pt x="9922" y="181106"/>
                  <a:pt x="9922" y="171979"/>
                </a:cubicBezTo>
                <a:cubicBezTo>
                  <a:pt x="9922" y="162852"/>
                  <a:pt x="17332" y="155443"/>
                  <a:pt x="26458" y="155443"/>
                </a:cubicBezTo>
                <a:close/>
              </a:path>
            </a:pathLst>
          </a:custGeom>
          <a:solidFill>
            <a:srgbClr val="1A202C"/>
          </a:solidFill>
          <a:ln/>
        </p:spPr>
        <p:txBody>
          <a:bodyPr/>
          <a:lstStyle/>
          <a:p>
            <a:endParaRPr lang="zh-CN" altLang="en-US"/>
          </a:p>
        </p:txBody>
      </p:sp>
      <p:sp>
        <p:nvSpPr>
          <p:cNvPr id="47" name="Text 45"/>
          <p:cNvSpPr/>
          <p:nvPr/>
        </p:nvSpPr>
        <p:spPr>
          <a:xfrm>
            <a:off x="8974667" y="7434792"/>
            <a:ext cx="2296583" cy="296333"/>
          </a:xfrm>
          <a:prstGeom prst="rect">
            <a:avLst/>
          </a:prstGeom>
          <a:noFill/>
          <a:ln/>
        </p:spPr>
        <p:txBody>
          <a:bodyPr wrap="square" lIns="0" tIns="0" rIns="0" bIns="0" rtlCol="0" anchor="ctr"/>
          <a:lstStyle/>
          <a:p>
            <a:pPr>
              <a:lnSpc>
                <a:spcPct val="130000"/>
              </a:lnSpc>
            </a:pPr>
            <a:r>
              <a:rPr lang="en-US" sz="1500" b="1" dirty="0">
                <a:solidFill>
                  <a:srgbClr val="E2E8F0"/>
                </a:solidFill>
                <a:latin typeface="MiSans" pitchFamily="34" charset="0"/>
                <a:ea typeface="MiSans" pitchFamily="34" charset="-122"/>
                <a:cs typeface="MiSans" pitchFamily="34" charset="-120"/>
              </a:rPr>
              <a:t>资源管理</a:t>
            </a:r>
            <a:endParaRPr lang="en-US" sz="1600" dirty="0"/>
          </a:p>
        </p:txBody>
      </p:sp>
      <p:sp>
        <p:nvSpPr>
          <p:cNvPr id="48" name="Text 46"/>
          <p:cNvSpPr/>
          <p:nvPr/>
        </p:nvSpPr>
        <p:spPr>
          <a:xfrm>
            <a:off x="8974667" y="7773458"/>
            <a:ext cx="2286000" cy="254000"/>
          </a:xfrm>
          <a:prstGeom prst="rect">
            <a:avLst/>
          </a:prstGeom>
          <a:noFill/>
          <a:ln/>
        </p:spPr>
        <p:txBody>
          <a:bodyPr wrap="square" lIns="0" tIns="0" rIns="0" bIns="0" rtlCol="0" anchor="ctr"/>
          <a:lstStyle/>
          <a:p>
            <a:pPr>
              <a:lnSpc>
                <a:spcPct val="130000"/>
              </a:lnSpc>
            </a:pPr>
            <a:r>
              <a:rPr lang="en-US" sz="1333" dirty="0">
                <a:solidFill>
                  <a:srgbClr val="A0AEC0"/>
                </a:solidFill>
                <a:latin typeface="MiSans" pitchFamily="34" charset="0"/>
                <a:ea typeface="MiSans" pitchFamily="34" charset="-122"/>
                <a:cs typeface="MiSans" pitchFamily="34" charset="-120"/>
              </a:rPr>
              <a:t>协调资源分配，避免资源冲突</a:t>
            </a:r>
            <a:endParaRPr lang="en-US" sz="1600" dirty="0"/>
          </a:p>
        </p:txBody>
      </p:sp>
      <p:sp>
        <p:nvSpPr>
          <p:cNvPr id="49" name="Shape 47"/>
          <p:cNvSpPr/>
          <p:nvPr/>
        </p:nvSpPr>
        <p:spPr>
          <a:xfrm>
            <a:off x="8297333" y="8196792"/>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D69E2E"/>
          </a:solidFill>
          <a:ln/>
        </p:spPr>
        <p:txBody>
          <a:bodyPr/>
          <a:lstStyle/>
          <a:p>
            <a:endParaRPr lang="zh-CN" altLang="en-US"/>
          </a:p>
        </p:txBody>
      </p:sp>
      <p:sp>
        <p:nvSpPr>
          <p:cNvPr id="50" name="Shape 48"/>
          <p:cNvSpPr/>
          <p:nvPr/>
        </p:nvSpPr>
        <p:spPr>
          <a:xfrm>
            <a:off x="8445500" y="8344958"/>
            <a:ext cx="211667" cy="211667"/>
          </a:xfrm>
          <a:custGeom>
            <a:avLst/>
            <a:gdLst/>
            <a:ahLst/>
            <a:cxnLst/>
            <a:rect l="l" t="t" r="r" b="b"/>
            <a:pathLst>
              <a:path w="211667" h="211667">
                <a:moveTo>
                  <a:pt x="26458" y="26458"/>
                </a:moveTo>
                <a:cubicBezTo>
                  <a:pt x="26458" y="19141"/>
                  <a:pt x="20547" y="13229"/>
                  <a:pt x="13229" y="13229"/>
                </a:cubicBezTo>
                <a:cubicBezTo>
                  <a:pt x="5912" y="13229"/>
                  <a:pt x="0" y="19141"/>
                  <a:pt x="0" y="26458"/>
                </a:cubicBezTo>
                <a:lnTo>
                  <a:pt x="0" y="165365"/>
                </a:lnTo>
                <a:cubicBezTo>
                  <a:pt x="0" y="183637"/>
                  <a:pt x="14800" y="198438"/>
                  <a:pt x="33073" y="198438"/>
                </a:cubicBezTo>
                <a:lnTo>
                  <a:pt x="198438" y="198438"/>
                </a:lnTo>
                <a:cubicBezTo>
                  <a:pt x="205755" y="198438"/>
                  <a:pt x="211667" y="192526"/>
                  <a:pt x="211667" y="185208"/>
                </a:cubicBezTo>
                <a:cubicBezTo>
                  <a:pt x="211667" y="177891"/>
                  <a:pt x="205755" y="171979"/>
                  <a:pt x="198438" y="171979"/>
                </a:cubicBezTo>
                <a:lnTo>
                  <a:pt x="33073" y="171979"/>
                </a:lnTo>
                <a:cubicBezTo>
                  <a:pt x="29435" y="171979"/>
                  <a:pt x="26458" y="169003"/>
                  <a:pt x="26458" y="165365"/>
                </a:cubicBezTo>
                <a:lnTo>
                  <a:pt x="26458" y="26458"/>
                </a:lnTo>
                <a:close/>
                <a:moveTo>
                  <a:pt x="194551" y="62260"/>
                </a:moveTo>
                <a:cubicBezTo>
                  <a:pt x="199719" y="57092"/>
                  <a:pt x="199719" y="48700"/>
                  <a:pt x="194551" y="43532"/>
                </a:cubicBezTo>
                <a:cubicBezTo>
                  <a:pt x="189384" y="38365"/>
                  <a:pt x="180992" y="38365"/>
                  <a:pt x="175824" y="43532"/>
                </a:cubicBezTo>
                <a:lnTo>
                  <a:pt x="132292" y="87106"/>
                </a:lnTo>
                <a:lnTo>
                  <a:pt x="108562" y="63417"/>
                </a:lnTo>
                <a:cubicBezTo>
                  <a:pt x="103394" y="58250"/>
                  <a:pt x="95002" y="58250"/>
                  <a:pt x="89834" y="63417"/>
                </a:cubicBezTo>
                <a:lnTo>
                  <a:pt x="50147" y="103105"/>
                </a:lnTo>
                <a:cubicBezTo>
                  <a:pt x="44979" y="108272"/>
                  <a:pt x="44979" y="116665"/>
                  <a:pt x="50147" y="121832"/>
                </a:cubicBezTo>
                <a:cubicBezTo>
                  <a:pt x="55314" y="127000"/>
                  <a:pt x="63707" y="127000"/>
                  <a:pt x="68874" y="121832"/>
                </a:cubicBezTo>
                <a:lnTo>
                  <a:pt x="99219" y="91488"/>
                </a:lnTo>
                <a:lnTo>
                  <a:pt x="122949" y="115218"/>
                </a:lnTo>
                <a:cubicBezTo>
                  <a:pt x="128116" y="120385"/>
                  <a:pt x="136508" y="120385"/>
                  <a:pt x="141676" y="115218"/>
                </a:cubicBezTo>
                <a:lnTo>
                  <a:pt x="194593" y="62301"/>
                </a:lnTo>
                <a:close/>
              </a:path>
            </a:pathLst>
          </a:custGeom>
          <a:solidFill>
            <a:srgbClr val="1A202C"/>
          </a:solidFill>
          <a:ln/>
        </p:spPr>
        <p:txBody>
          <a:bodyPr/>
          <a:lstStyle/>
          <a:p>
            <a:endParaRPr lang="zh-CN" altLang="en-US"/>
          </a:p>
        </p:txBody>
      </p:sp>
      <p:sp>
        <p:nvSpPr>
          <p:cNvPr id="51" name="Text 49"/>
          <p:cNvSpPr/>
          <p:nvPr/>
        </p:nvSpPr>
        <p:spPr>
          <a:xfrm>
            <a:off x="8974667" y="8196792"/>
            <a:ext cx="3143250" cy="296333"/>
          </a:xfrm>
          <a:prstGeom prst="rect">
            <a:avLst/>
          </a:prstGeom>
          <a:noFill/>
          <a:ln/>
        </p:spPr>
        <p:txBody>
          <a:bodyPr wrap="square" lIns="0" tIns="0" rIns="0" bIns="0" rtlCol="0" anchor="ctr"/>
          <a:lstStyle/>
          <a:p>
            <a:pPr>
              <a:lnSpc>
                <a:spcPct val="130000"/>
              </a:lnSpc>
            </a:pPr>
            <a:r>
              <a:rPr lang="en-US" sz="1500" b="1" dirty="0">
                <a:solidFill>
                  <a:srgbClr val="E2E8F0"/>
                </a:solidFill>
                <a:latin typeface="MiSans" pitchFamily="34" charset="0"/>
                <a:ea typeface="MiSans" pitchFamily="34" charset="-122"/>
                <a:cs typeface="MiSans" pitchFamily="34" charset="-120"/>
              </a:rPr>
              <a:t>性能监控</a:t>
            </a:r>
            <a:endParaRPr lang="en-US" sz="1600" dirty="0"/>
          </a:p>
        </p:txBody>
      </p:sp>
      <p:sp>
        <p:nvSpPr>
          <p:cNvPr id="52" name="Text 50"/>
          <p:cNvSpPr/>
          <p:nvPr/>
        </p:nvSpPr>
        <p:spPr>
          <a:xfrm>
            <a:off x="8974667" y="8535458"/>
            <a:ext cx="3132667" cy="254000"/>
          </a:xfrm>
          <a:prstGeom prst="rect">
            <a:avLst/>
          </a:prstGeom>
          <a:noFill/>
          <a:ln/>
        </p:spPr>
        <p:txBody>
          <a:bodyPr wrap="square" lIns="0" tIns="0" rIns="0" bIns="0" rtlCol="0" anchor="ctr"/>
          <a:lstStyle/>
          <a:p>
            <a:pPr>
              <a:lnSpc>
                <a:spcPct val="130000"/>
              </a:lnSpc>
            </a:pPr>
            <a:r>
              <a:rPr lang="en-US" sz="1333" dirty="0">
                <a:solidFill>
                  <a:srgbClr val="A0AEC0"/>
                </a:solidFill>
                <a:latin typeface="MiSans" pitchFamily="34" charset="0"/>
                <a:ea typeface="MiSans" pitchFamily="34" charset="-122"/>
                <a:cs typeface="MiSans" pitchFamily="34" charset="-120"/>
              </a:rPr>
              <a:t>收集查询执行指标，支持性能分析和优化</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508000" y="508000"/>
            <a:ext cx="15544800" cy="609600"/>
          </a:xfrm>
          <a:prstGeom prst="rect">
            <a:avLst/>
          </a:prstGeom>
          <a:noFill/>
          <a:ln/>
        </p:spPr>
        <p:txBody>
          <a:bodyPr wrap="square" lIns="0" tIns="0" rIns="0" bIns="0" rtlCol="0" anchor="ctr"/>
          <a:lstStyle/>
          <a:p>
            <a:pPr>
              <a:lnSpc>
                <a:spcPct val="80000"/>
              </a:lnSpc>
            </a:pPr>
            <a:r>
              <a:rPr lang="en-US" sz="4800" b="1" dirty="0">
                <a:solidFill>
                  <a:srgbClr val="E2E8F0"/>
                </a:solidFill>
                <a:latin typeface="Noto Sans SC" pitchFamily="34" charset="0"/>
                <a:ea typeface="Noto Sans SC" pitchFamily="34" charset="-122"/>
                <a:cs typeface="Noto Sans SC" pitchFamily="34" charset="-120"/>
              </a:rPr>
              <a:t>核心组件：查询编译器(Compiler)</a:t>
            </a:r>
            <a:endParaRPr lang="en-US" sz="1600" dirty="0"/>
          </a:p>
        </p:txBody>
      </p:sp>
      <p:sp>
        <p:nvSpPr>
          <p:cNvPr id="3" name="Shape 1"/>
          <p:cNvSpPr/>
          <p:nvPr/>
        </p:nvSpPr>
        <p:spPr>
          <a:xfrm>
            <a:off x="508000" y="1270000"/>
            <a:ext cx="1422400" cy="50800"/>
          </a:xfrm>
          <a:custGeom>
            <a:avLst/>
            <a:gdLst/>
            <a:ahLst/>
            <a:cxnLst/>
            <a:rect l="l" t="t" r="r" b="b"/>
            <a:pathLst>
              <a:path w="1422400" h="50800">
                <a:moveTo>
                  <a:pt x="0" y="0"/>
                </a:moveTo>
                <a:lnTo>
                  <a:pt x="1422400" y="0"/>
                </a:lnTo>
                <a:lnTo>
                  <a:pt x="1422400" y="50800"/>
                </a:lnTo>
                <a:lnTo>
                  <a:pt x="0" y="50800"/>
                </a:lnTo>
                <a:lnTo>
                  <a:pt x="0" y="0"/>
                </a:lnTo>
                <a:close/>
              </a:path>
            </a:pathLst>
          </a:custGeom>
          <a:solidFill>
            <a:srgbClr val="D69E2E"/>
          </a:solidFill>
          <a:ln/>
        </p:spPr>
        <p:txBody>
          <a:bodyPr/>
          <a:lstStyle/>
          <a:p>
            <a:endParaRPr lang="zh-CN" altLang="en-US"/>
          </a:p>
        </p:txBody>
      </p:sp>
      <p:sp>
        <p:nvSpPr>
          <p:cNvPr id="4" name="Text 2"/>
          <p:cNvSpPr/>
          <p:nvPr/>
        </p:nvSpPr>
        <p:spPr>
          <a:xfrm>
            <a:off x="508000" y="1727200"/>
            <a:ext cx="15354300" cy="368300"/>
          </a:xfrm>
          <a:prstGeom prst="rect">
            <a:avLst/>
          </a:prstGeom>
          <a:noFill/>
          <a:ln/>
        </p:spPr>
        <p:txBody>
          <a:bodyPr wrap="square" lIns="0" tIns="0" rIns="0" bIns="0" rtlCol="0" anchor="ctr"/>
          <a:lstStyle/>
          <a:p>
            <a:pPr>
              <a:lnSpc>
                <a:spcPct val="140000"/>
              </a:lnSpc>
            </a:pPr>
            <a:r>
              <a:rPr lang="en-US" sz="1800" dirty="0">
                <a:solidFill>
                  <a:srgbClr val="A0AEC0"/>
                </a:solidFill>
                <a:latin typeface="MiSans" pitchFamily="34" charset="0"/>
                <a:ea typeface="MiSans" pitchFamily="34" charset="-122"/>
                <a:cs typeface="MiSans" pitchFamily="34" charset="-120"/>
              </a:rPr>
              <a:t>查询编译器(Compiler)是Hive架构中的智能核心，</a:t>
            </a:r>
            <a:r>
              <a:rPr lang="en-US" sz="1800" b="1" dirty="0">
                <a:solidFill>
                  <a:srgbClr val="E2E8F0"/>
                </a:solidFill>
                <a:latin typeface="MiSans" pitchFamily="34" charset="0"/>
                <a:ea typeface="MiSans" pitchFamily="34" charset="-122"/>
                <a:cs typeface="MiSans" pitchFamily="34" charset="-120"/>
              </a:rPr>
              <a:t>负责将SQL查询转换为可执行的分布式计算任务</a:t>
            </a:r>
            <a:r>
              <a:rPr lang="en-US" sz="1800" dirty="0">
                <a:solidFill>
                  <a:srgbClr val="A0AEC0"/>
                </a:solidFill>
                <a:latin typeface="MiSans" pitchFamily="34" charset="0"/>
                <a:ea typeface="MiSans" pitchFamily="34" charset="-122"/>
                <a:cs typeface="MiSans" pitchFamily="34" charset="-120"/>
              </a:rPr>
              <a:t>。编译器的设计质量直接决定了查询的性能和效率。</a:t>
            </a:r>
            <a:endParaRPr lang="en-US" sz="1600" dirty="0"/>
          </a:p>
        </p:txBody>
      </p:sp>
      <p:sp>
        <p:nvSpPr>
          <p:cNvPr id="5" name="Shape 3"/>
          <p:cNvSpPr/>
          <p:nvPr/>
        </p:nvSpPr>
        <p:spPr>
          <a:xfrm>
            <a:off x="533400" y="2505075"/>
            <a:ext cx="50800" cy="1371600"/>
          </a:xfrm>
          <a:custGeom>
            <a:avLst/>
            <a:gdLst/>
            <a:ahLst/>
            <a:cxnLst/>
            <a:rect l="l" t="t" r="r" b="b"/>
            <a:pathLst>
              <a:path w="50800" h="1371600">
                <a:moveTo>
                  <a:pt x="0" y="0"/>
                </a:moveTo>
                <a:lnTo>
                  <a:pt x="50800" y="0"/>
                </a:lnTo>
                <a:lnTo>
                  <a:pt x="50800" y="1371600"/>
                </a:lnTo>
                <a:lnTo>
                  <a:pt x="0" y="1371600"/>
                </a:lnTo>
                <a:lnTo>
                  <a:pt x="0" y="0"/>
                </a:lnTo>
                <a:close/>
              </a:path>
            </a:pathLst>
          </a:custGeom>
          <a:solidFill>
            <a:srgbClr val="D69E2E"/>
          </a:solidFill>
          <a:ln/>
        </p:spPr>
        <p:txBody>
          <a:bodyPr/>
          <a:lstStyle/>
          <a:p>
            <a:endParaRPr lang="zh-CN" altLang="en-US"/>
          </a:p>
        </p:txBody>
      </p:sp>
      <p:sp>
        <p:nvSpPr>
          <p:cNvPr id="6" name="Shape 4"/>
          <p:cNvSpPr/>
          <p:nvPr/>
        </p:nvSpPr>
        <p:spPr>
          <a:xfrm>
            <a:off x="863600" y="2708275"/>
            <a:ext cx="508000" cy="508000"/>
          </a:xfrm>
          <a:custGeom>
            <a:avLst/>
            <a:gdLst/>
            <a:ahLst/>
            <a:cxnLst/>
            <a:rect l="l" t="t" r="r" b="b"/>
            <a:pathLst>
              <a:path w="508000" h="508000">
                <a:moveTo>
                  <a:pt x="101600" y="0"/>
                </a:moveTo>
                <a:lnTo>
                  <a:pt x="406400" y="0"/>
                </a:lnTo>
                <a:cubicBezTo>
                  <a:pt x="462475" y="0"/>
                  <a:pt x="508000" y="45525"/>
                  <a:pt x="508000" y="101600"/>
                </a:cubicBezTo>
                <a:lnTo>
                  <a:pt x="508000" y="406400"/>
                </a:lnTo>
                <a:cubicBezTo>
                  <a:pt x="508000" y="462475"/>
                  <a:pt x="462475" y="508000"/>
                  <a:pt x="406400" y="508000"/>
                </a:cubicBezTo>
                <a:lnTo>
                  <a:pt x="101600" y="508000"/>
                </a:lnTo>
                <a:cubicBezTo>
                  <a:pt x="45525" y="508000"/>
                  <a:pt x="0" y="462475"/>
                  <a:pt x="0" y="406400"/>
                </a:cubicBezTo>
                <a:lnTo>
                  <a:pt x="0" y="101600"/>
                </a:lnTo>
                <a:cubicBezTo>
                  <a:pt x="0" y="45525"/>
                  <a:pt x="45525" y="0"/>
                  <a:pt x="101600" y="0"/>
                </a:cubicBezTo>
                <a:close/>
              </a:path>
            </a:pathLst>
          </a:custGeom>
          <a:solidFill>
            <a:srgbClr val="D69E2E"/>
          </a:solidFill>
          <a:ln/>
        </p:spPr>
        <p:txBody>
          <a:bodyPr/>
          <a:lstStyle/>
          <a:p>
            <a:endParaRPr lang="zh-CN" altLang="en-US"/>
          </a:p>
        </p:txBody>
      </p:sp>
      <p:sp>
        <p:nvSpPr>
          <p:cNvPr id="7" name="Text 5"/>
          <p:cNvSpPr/>
          <p:nvPr/>
        </p:nvSpPr>
        <p:spPr>
          <a:xfrm>
            <a:off x="1071860" y="2784475"/>
            <a:ext cx="203200" cy="355600"/>
          </a:xfrm>
          <a:prstGeom prst="rect">
            <a:avLst/>
          </a:prstGeom>
          <a:noFill/>
          <a:ln/>
        </p:spPr>
        <p:txBody>
          <a:bodyPr wrap="square" lIns="0" tIns="0" rIns="0" bIns="0" rtlCol="0" anchor="ctr"/>
          <a:lstStyle/>
          <a:p>
            <a:pPr>
              <a:lnSpc>
                <a:spcPct val="130000"/>
              </a:lnSpc>
            </a:pPr>
            <a:r>
              <a:rPr lang="en-US" sz="1800" b="1" dirty="0">
                <a:solidFill>
                  <a:srgbClr val="1A202C"/>
                </a:solidFill>
                <a:latin typeface="Liter" pitchFamily="34" charset="0"/>
                <a:ea typeface="Liter" pitchFamily="34" charset="-122"/>
                <a:cs typeface="Liter" pitchFamily="34" charset="-120"/>
              </a:rPr>
              <a:t>1</a:t>
            </a:r>
            <a:endParaRPr lang="en-US" sz="1600" dirty="0"/>
          </a:p>
        </p:txBody>
      </p:sp>
      <p:sp>
        <p:nvSpPr>
          <p:cNvPr id="8" name="Text 6"/>
          <p:cNvSpPr/>
          <p:nvPr/>
        </p:nvSpPr>
        <p:spPr>
          <a:xfrm>
            <a:off x="1524000" y="2784475"/>
            <a:ext cx="1028700" cy="355600"/>
          </a:xfrm>
          <a:prstGeom prst="rect">
            <a:avLst/>
          </a:prstGeom>
          <a:noFill/>
          <a:ln/>
        </p:spPr>
        <p:txBody>
          <a:bodyPr wrap="square" lIns="0" tIns="0" rIns="0" bIns="0" rtlCol="0" anchor="ctr"/>
          <a:lstStyle/>
          <a:p>
            <a:pPr>
              <a:lnSpc>
                <a:spcPct val="130000"/>
              </a:lnSpc>
            </a:pPr>
            <a:r>
              <a:rPr lang="en-US" sz="1800" b="1" dirty="0">
                <a:solidFill>
                  <a:srgbClr val="E2E8F0"/>
                </a:solidFill>
                <a:latin typeface="MiSans" pitchFamily="34" charset="0"/>
                <a:ea typeface="MiSans" pitchFamily="34" charset="-122"/>
                <a:cs typeface="MiSans" pitchFamily="34" charset="-120"/>
              </a:rPr>
              <a:t>语法解析</a:t>
            </a:r>
            <a:endParaRPr lang="en-US" sz="1600" dirty="0"/>
          </a:p>
        </p:txBody>
      </p:sp>
      <p:sp>
        <p:nvSpPr>
          <p:cNvPr id="9" name="Text 7"/>
          <p:cNvSpPr/>
          <p:nvPr/>
        </p:nvSpPr>
        <p:spPr>
          <a:xfrm>
            <a:off x="863600" y="3368675"/>
            <a:ext cx="4622800" cy="3048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将SQL文本解析为抽象语法树(AST)</a:t>
            </a:r>
            <a:endParaRPr lang="en-US" sz="1600" dirty="0"/>
          </a:p>
        </p:txBody>
      </p:sp>
      <p:sp>
        <p:nvSpPr>
          <p:cNvPr id="10" name="Shape 8"/>
          <p:cNvSpPr/>
          <p:nvPr/>
        </p:nvSpPr>
        <p:spPr>
          <a:xfrm>
            <a:off x="5715000" y="2505075"/>
            <a:ext cx="50800" cy="1371600"/>
          </a:xfrm>
          <a:custGeom>
            <a:avLst/>
            <a:gdLst/>
            <a:ahLst/>
            <a:cxnLst/>
            <a:rect l="l" t="t" r="r" b="b"/>
            <a:pathLst>
              <a:path w="50800" h="1371600">
                <a:moveTo>
                  <a:pt x="0" y="0"/>
                </a:moveTo>
                <a:lnTo>
                  <a:pt x="50800" y="0"/>
                </a:lnTo>
                <a:lnTo>
                  <a:pt x="50800" y="1371600"/>
                </a:lnTo>
                <a:lnTo>
                  <a:pt x="0" y="1371600"/>
                </a:lnTo>
                <a:lnTo>
                  <a:pt x="0" y="0"/>
                </a:lnTo>
                <a:close/>
              </a:path>
            </a:pathLst>
          </a:custGeom>
          <a:solidFill>
            <a:srgbClr val="D69E2E"/>
          </a:solidFill>
          <a:ln/>
        </p:spPr>
        <p:txBody>
          <a:bodyPr/>
          <a:lstStyle/>
          <a:p>
            <a:endParaRPr lang="zh-CN" altLang="en-US"/>
          </a:p>
        </p:txBody>
      </p:sp>
      <p:sp>
        <p:nvSpPr>
          <p:cNvPr id="11" name="Shape 9"/>
          <p:cNvSpPr/>
          <p:nvPr/>
        </p:nvSpPr>
        <p:spPr>
          <a:xfrm>
            <a:off x="6045200" y="2708275"/>
            <a:ext cx="508000" cy="508000"/>
          </a:xfrm>
          <a:custGeom>
            <a:avLst/>
            <a:gdLst/>
            <a:ahLst/>
            <a:cxnLst/>
            <a:rect l="l" t="t" r="r" b="b"/>
            <a:pathLst>
              <a:path w="508000" h="508000">
                <a:moveTo>
                  <a:pt x="101600" y="0"/>
                </a:moveTo>
                <a:lnTo>
                  <a:pt x="406400" y="0"/>
                </a:lnTo>
                <a:cubicBezTo>
                  <a:pt x="462475" y="0"/>
                  <a:pt x="508000" y="45525"/>
                  <a:pt x="508000" y="101600"/>
                </a:cubicBezTo>
                <a:lnTo>
                  <a:pt x="508000" y="406400"/>
                </a:lnTo>
                <a:cubicBezTo>
                  <a:pt x="508000" y="462475"/>
                  <a:pt x="462475" y="508000"/>
                  <a:pt x="406400" y="508000"/>
                </a:cubicBezTo>
                <a:lnTo>
                  <a:pt x="101600" y="508000"/>
                </a:lnTo>
                <a:cubicBezTo>
                  <a:pt x="45525" y="508000"/>
                  <a:pt x="0" y="462475"/>
                  <a:pt x="0" y="406400"/>
                </a:cubicBezTo>
                <a:lnTo>
                  <a:pt x="0" y="101600"/>
                </a:lnTo>
                <a:cubicBezTo>
                  <a:pt x="0" y="45525"/>
                  <a:pt x="45525" y="0"/>
                  <a:pt x="101600" y="0"/>
                </a:cubicBezTo>
                <a:close/>
              </a:path>
            </a:pathLst>
          </a:custGeom>
          <a:solidFill>
            <a:srgbClr val="D69E2E"/>
          </a:solidFill>
          <a:ln/>
        </p:spPr>
        <p:txBody>
          <a:bodyPr/>
          <a:lstStyle/>
          <a:p>
            <a:endParaRPr lang="zh-CN" altLang="en-US"/>
          </a:p>
        </p:txBody>
      </p:sp>
      <p:sp>
        <p:nvSpPr>
          <p:cNvPr id="12" name="Text 10"/>
          <p:cNvSpPr/>
          <p:nvPr/>
        </p:nvSpPr>
        <p:spPr>
          <a:xfrm>
            <a:off x="6232723" y="2784475"/>
            <a:ext cx="241300" cy="355600"/>
          </a:xfrm>
          <a:prstGeom prst="rect">
            <a:avLst/>
          </a:prstGeom>
          <a:noFill/>
          <a:ln/>
        </p:spPr>
        <p:txBody>
          <a:bodyPr wrap="square" lIns="0" tIns="0" rIns="0" bIns="0" rtlCol="0" anchor="ctr"/>
          <a:lstStyle/>
          <a:p>
            <a:pPr>
              <a:lnSpc>
                <a:spcPct val="130000"/>
              </a:lnSpc>
            </a:pPr>
            <a:r>
              <a:rPr lang="en-US" sz="1800" b="1" dirty="0">
                <a:solidFill>
                  <a:srgbClr val="1A202C"/>
                </a:solidFill>
                <a:latin typeface="Liter" pitchFamily="34" charset="0"/>
                <a:ea typeface="Liter" pitchFamily="34" charset="-122"/>
                <a:cs typeface="Liter" pitchFamily="34" charset="-120"/>
              </a:rPr>
              <a:t>2</a:t>
            </a:r>
            <a:endParaRPr lang="en-US" sz="1600" dirty="0"/>
          </a:p>
        </p:txBody>
      </p:sp>
      <p:sp>
        <p:nvSpPr>
          <p:cNvPr id="13" name="Text 11"/>
          <p:cNvSpPr/>
          <p:nvPr/>
        </p:nvSpPr>
        <p:spPr>
          <a:xfrm>
            <a:off x="6705600" y="2784475"/>
            <a:ext cx="1028700" cy="355600"/>
          </a:xfrm>
          <a:prstGeom prst="rect">
            <a:avLst/>
          </a:prstGeom>
          <a:noFill/>
          <a:ln/>
        </p:spPr>
        <p:txBody>
          <a:bodyPr wrap="square" lIns="0" tIns="0" rIns="0" bIns="0" rtlCol="0" anchor="ctr"/>
          <a:lstStyle/>
          <a:p>
            <a:pPr>
              <a:lnSpc>
                <a:spcPct val="130000"/>
              </a:lnSpc>
            </a:pPr>
            <a:r>
              <a:rPr lang="en-US" sz="1800" b="1" dirty="0">
                <a:solidFill>
                  <a:srgbClr val="E2E8F0"/>
                </a:solidFill>
                <a:latin typeface="MiSans" pitchFamily="34" charset="0"/>
                <a:ea typeface="MiSans" pitchFamily="34" charset="-122"/>
                <a:cs typeface="MiSans" pitchFamily="34" charset="-120"/>
              </a:rPr>
              <a:t>语义分析</a:t>
            </a:r>
            <a:endParaRPr lang="en-US" sz="1600" dirty="0"/>
          </a:p>
        </p:txBody>
      </p:sp>
      <p:sp>
        <p:nvSpPr>
          <p:cNvPr id="14" name="Text 12"/>
          <p:cNvSpPr/>
          <p:nvPr/>
        </p:nvSpPr>
        <p:spPr>
          <a:xfrm>
            <a:off x="6045200" y="3368675"/>
            <a:ext cx="4622800" cy="3048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验证查询的语义正确性，解析对象引用</a:t>
            </a:r>
            <a:endParaRPr lang="en-US" sz="1600" dirty="0"/>
          </a:p>
        </p:txBody>
      </p:sp>
      <p:sp>
        <p:nvSpPr>
          <p:cNvPr id="15" name="Shape 13"/>
          <p:cNvSpPr/>
          <p:nvPr/>
        </p:nvSpPr>
        <p:spPr>
          <a:xfrm>
            <a:off x="10896600" y="2505075"/>
            <a:ext cx="50800" cy="1371600"/>
          </a:xfrm>
          <a:custGeom>
            <a:avLst/>
            <a:gdLst/>
            <a:ahLst/>
            <a:cxnLst/>
            <a:rect l="l" t="t" r="r" b="b"/>
            <a:pathLst>
              <a:path w="50800" h="1371600">
                <a:moveTo>
                  <a:pt x="0" y="0"/>
                </a:moveTo>
                <a:lnTo>
                  <a:pt x="50800" y="0"/>
                </a:lnTo>
                <a:lnTo>
                  <a:pt x="50800" y="1371600"/>
                </a:lnTo>
                <a:lnTo>
                  <a:pt x="0" y="1371600"/>
                </a:lnTo>
                <a:lnTo>
                  <a:pt x="0" y="0"/>
                </a:lnTo>
                <a:close/>
              </a:path>
            </a:pathLst>
          </a:custGeom>
          <a:solidFill>
            <a:srgbClr val="D69E2E"/>
          </a:solidFill>
          <a:ln/>
        </p:spPr>
        <p:txBody>
          <a:bodyPr/>
          <a:lstStyle/>
          <a:p>
            <a:endParaRPr lang="zh-CN" altLang="en-US"/>
          </a:p>
        </p:txBody>
      </p:sp>
      <p:sp>
        <p:nvSpPr>
          <p:cNvPr id="16" name="Shape 14"/>
          <p:cNvSpPr/>
          <p:nvPr/>
        </p:nvSpPr>
        <p:spPr>
          <a:xfrm>
            <a:off x="11226800" y="2708275"/>
            <a:ext cx="508000" cy="508000"/>
          </a:xfrm>
          <a:custGeom>
            <a:avLst/>
            <a:gdLst/>
            <a:ahLst/>
            <a:cxnLst/>
            <a:rect l="l" t="t" r="r" b="b"/>
            <a:pathLst>
              <a:path w="508000" h="508000">
                <a:moveTo>
                  <a:pt x="101600" y="0"/>
                </a:moveTo>
                <a:lnTo>
                  <a:pt x="406400" y="0"/>
                </a:lnTo>
                <a:cubicBezTo>
                  <a:pt x="462475" y="0"/>
                  <a:pt x="508000" y="45525"/>
                  <a:pt x="508000" y="101600"/>
                </a:cubicBezTo>
                <a:lnTo>
                  <a:pt x="508000" y="406400"/>
                </a:lnTo>
                <a:cubicBezTo>
                  <a:pt x="508000" y="462475"/>
                  <a:pt x="462475" y="508000"/>
                  <a:pt x="406400" y="508000"/>
                </a:cubicBezTo>
                <a:lnTo>
                  <a:pt x="101600" y="508000"/>
                </a:lnTo>
                <a:cubicBezTo>
                  <a:pt x="45525" y="508000"/>
                  <a:pt x="0" y="462475"/>
                  <a:pt x="0" y="406400"/>
                </a:cubicBezTo>
                <a:lnTo>
                  <a:pt x="0" y="101600"/>
                </a:lnTo>
                <a:cubicBezTo>
                  <a:pt x="0" y="45525"/>
                  <a:pt x="45525" y="0"/>
                  <a:pt x="101600" y="0"/>
                </a:cubicBezTo>
                <a:close/>
              </a:path>
            </a:pathLst>
          </a:custGeom>
          <a:solidFill>
            <a:srgbClr val="D69E2E"/>
          </a:solidFill>
          <a:ln/>
        </p:spPr>
        <p:txBody>
          <a:bodyPr/>
          <a:lstStyle/>
          <a:p>
            <a:endParaRPr lang="zh-CN" altLang="en-US"/>
          </a:p>
        </p:txBody>
      </p:sp>
      <p:sp>
        <p:nvSpPr>
          <p:cNvPr id="17" name="Text 15"/>
          <p:cNvSpPr/>
          <p:nvPr/>
        </p:nvSpPr>
        <p:spPr>
          <a:xfrm>
            <a:off x="11413331" y="2784475"/>
            <a:ext cx="254000" cy="355600"/>
          </a:xfrm>
          <a:prstGeom prst="rect">
            <a:avLst/>
          </a:prstGeom>
          <a:noFill/>
          <a:ln/>
        </p:spPr>
        <p:txBody>
          <a:bodyPr wrap="square" lIns="0" tIns="0" rIns="0" bIns="0" rtlCol="0" anchor="ctr"/>
          <a:lstStyle/>
          <a:p>
            <a:pPr>
              <a:lnSpc>
                <a:spcPct val="130000"/>
              </a:lnSpc>
            </a:pPr>
            <a:r>
              <a:rPr lang="en-US" sz="1800" b="1" dirty="0">
                <a:solidFill>
                  <a:srgbClr val="1A202C"/>
                </a:solidFill>
                <a:latin typeface="Liter" pitchFamily="34" charset="0"/>
                <a:ea typeface="Liter" pitchFamily="34" charset="-122"/>
                <a:cs typeface="Liter" pitchFamily="34" charset="-120"/>
              </a:rPr>
              <a:t>3</a:t>
            </a:r>
            <a:endParaRPr lang="en-US" sz="1600" dirty="0"/>
          </a:p>
        </p:txBody>
      </p:sp>
      <p:sp>
        <p:nvSpPr>
          <p:cNvPr id="18" name="Text 16"/>
          <p:cNvSpPr/>
          <p:nvPr/>
        </p:nvSpPr>
        <p:spPr>
          <a:xfrm>
            <a:off x="11887200" y="2784475"/>
            <a:ext cx="1485900" cy="355600"/>
          </a:xfrm>
          <a:prstGeom prst="rect">
            <a:avLst/>
          </a:prstGeom>
          <a:noFill/>
          <a:ln/>
        </p:spPr>
        <p:txBody>
          <a:bodyPr wrap="square" lIns="0" tIns="0" rIns="0" bIns="0" rtlCol="0" anchor="ctr"/>
          <a:lstStyle/>
          <a:p>
            <a:pPr>
              <a:lnSpc>
                <a:spcPct val="130000"/>
              </a:lnSpc>
            </a:pPr>
            <a:r>
              <a:rPr lang="en-US" sz="1800" b="1" dirty="0">
                <a:solidFill>
                  <a:srgbClr val="E2E8F0"/>
                </a:solidFill>
                <a:latin typeface="MiSans" pitchFamily="34" charset="0"/>
                <a:ea typeface="MiSans" pitchFamily="34" charset="-122"/>
                <a:cs typeface="MiSans" pitchFamily="34" charset="-120"/>
              </a:rPr>
              <a:t>逻辑计划生成</a:t>
            </a:r>
            <a:endParaRPr lang="en-US" sz="1600" dirty="0"/>
          </a:p>
        </p:txBody>
      </p:sp>
      <p:sp>
        <p:nvSpPr>
          <p:cNvPr id="19" name="Text 17"/>
          <p:cNvSpPr/>
          <p:nvPr/>
        </p:nvSpPr>
        <p:spPr>
          <a:xfrm>
            <a:off x="11226800" y="3368675"/>
            <a:ext cx="4622800" cy="3048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生成初始的逻辑执行计划</a:t>
            </a:r>
            <a:endParaRPr lang="en-US" sz="1600" dirty="0"/>
          </a:p>
        </p:txBody>
      </p:sp>
      <p:sp>
        <p:nvSpPr>
          <p:cNvPr id="20" name="Shape 18"/>
          <p:cNvSpPr/>
          <p:nvPr/>
        </p:nvSpPr>
        <p:spPr>
          <a:xfrm>
            <a:off x="533400" y="4181475"/>
            <a:ext cx="50800" cy="1371600"/>
          </a:xfrm>
          <a:custGeom>
            <a:avLst/>
            <a:gdLst/>
            <a:ahLst/>
            <a:cxnLst/>
            <a:rect l="l" t="t" r="r" b="b"/>
            <a:pathLst>
              <a:path w="50800" h="1371600">
                <a:moveTo>
                  <a:pt x="0" y="0"/>
                </a:moveTo>
                <a:lnTo>
                  <a:pt x="50800" y="0"/>
                </a:lnTo>
                <a:lnTo>
                  <a:pt x="50800" y="1371600"/>
                </a:lnTo>
                <a:lnTo>
                  <a:pt x="0" y="1371600"/>
                </a:lnTo>
                <a:lnTo>
                  <a:pt x="0" y="0"/>
                </a:lnTo>
                <a:close/>
              </a:path>
            </a:pathLst>
          </a:custGeom>
          <a:solidFill>
            <a:srgbClr val="D69E2E"/>
          </a:solidFill>
          <a:ln/>
        </p:spPr>
        <p:txBody>
          <a:bodyPr/>
          <a:lstStyle/>
          <a:p>
            <a:endParaRPr lang="zh-CN" altLang="en-US"/>
          </a:p>
        </p:txBody>
      </p:sp>
      <p:sp>
        <p:nvSpPr>
          <p:cNvPr id="21" name="Shape 19"/>
          <p:cNvSpPr/>
          <p:nvPr/>
        </p:nvSpPr>
        <p:spPr>
          <a:xfrm>
            <a:off x="863600" y="4384675"/>
            <a:ext cx="508000" cy="508000"/>
          </a:xfrm>
          <a:custGeom>
            <a:avLst/>
            <a:gdLst/>
            <a:ahLst/>
            <a:cxnLst/>
            <a:rect l="l" t="t" r="r" b="b"/>
            <a:pathLst>
              <a:path w="508000" h="508000">
                <a:moveTo>
                  <a:pt x="101600" y="0"/>
                </a:moveTo>
                <a:lnTo>
                  <a:pt x="406400" y="0"/>
                </a:lnTo>
                <a:cubicBezTo>
                  <a:pt x="462475" y="0"/>
                  <a:pt x="508000" y="45525"/>
                  <a:pt x="508000" y="101600"/>
                </a:cubicBezTo>
                <a:lnTo>
                  <a:pt x="508000" y="406400"/>
                </a:lnTo>
                <a:cubicBezTo>
                  <a:pt x="508000" y="462475"/>
                  <a:pt x="462475" y="508000"/>
                  <a:pt x="406400" y="508000"/>
                </a:cubicBezTo>
                <a:lnTo>
                  <a:pt x="101600" y="508000"/>
                </a:lnTo>
                <a:cubicBezTo>
                  <a:pt x="45525" y="508000"/>
                  <a:pt x="0" y="462475"/>
                  <a:pt x="0" y="406400"/>
                </a:cubicBezTo>
                <a:lnTo>
                  <a:pt x="0" y="101600"/>
                </a:lnTo>
                <a:cubicBezTo>
                  <a:pt x="0" y="45525"/>
                  <a:pt x="45525" y="0"/>
                  <a:pt x="101600" y="0"/>
                </a:cubicBezTo>
                <a:close/>
              </a:path>
            </a:pathLst>
          </a:custGeom>
          <a:solidFill>
            <a:srgbClr val="D69E2E"/>
          </a:solidFill>
          <a:ln/>
        </p:spPr>
        <p:txBody>
          <a:bodyPr/>
          <a:lstStyle/>
          <a:p>
            <a:endParaRPr lang="zh-CN" altLang="en-US"/>
          </a:p>
        </p:txBody>
      </p:sp>
      <p:sp>
        <p:nvSpPr>
          <p:cNvPr id="22" name="Text 20"/>
          <p:cNvSpPr/>
          <p:nvPr/>
        </p:nvSpPr>
        <p:spPr>
          <a:xfrm>
            <a:off x="1050230" y="4460875"/>
            <a:ext cx="254000" cy="355600"/>
          </a:xfrm>
          <a:prstGeom prst="rect">
            <a:avLst/>
          </a:prstGeom>
          <a:noFill/>
          <a:ln/>
        </p:spPr>
        <p:txBody>
          <a:bodyPr wrap="square" lIns="0" tIns="0" rIns="0" bIns="0" rtlCol="0" anchor="ctr"/>
          <a:lstStyle/>
          <a:p>
            <a:pPr>
              <a:lnSpc>
                <a:spcPct val="130000"/>
              </a:lnSpc>
            </a:pPr>
            <a:r>
              <a:rPr lang="en-US" sz="1800" b="1" dirty="0">
                <a:solidFill>
                  <a:srgbClr val="1A202C"/>
                </a:solidFill>
                <a:latin typeface="Liter" pitchFamily="34" charset="0"/>
                <a:ea typeface="Liter" pitchFamily="34" charset="-122"/>
                <a:cs typeface="Liter" pitchFamily="34" charset="-120"/>
              </a:rPr>
              <a:t>4</a:t>
            </a:r>
            <a:endParaRPr lang="en-US" sz="1600" dirty="0"/>
          </a:p>
        </p:txBody>
      </p:sp>
      <p:sp>
        <p:nvSpPr>
          <p:cNvPr id="23" name="Text 21"/>
          <p:cNvSpPr/>
          <p:nvPr/>
        </p:nvSpPr>
        <p:spPr>
          <a:xfrm>
            <a:off x="1524000" y="4460875"/>
            <a:ext cx="1028700" cy="355600"/>
          </a:xfrm>
          <a:prstGeom prst="rect">
            <a:avLst/>
          </a:prstGeom>
          <a:noFill/>
          <a:ln/>
        </p:spPr>
        <p:txBody>
          <a:bodyPr wrap="square" lIns="0" tIns="0" rIns="0" bIns="0" rtlCol="0" anchor="ctr"/>
          <a:lstStyle/>
          <a:p>
            <a:pPr>
              <a:lnSpc>
                <a:spcPct val="130000"/>
              </a:lnSpc>
            </a:pPr>
            <a:r>
              <a:rPr lang="en-US" sz="1800" b="1" dirty="0">
                <a:solidFill>
                  <a:srgbClr val="E2E8F0"/>
                </a:solidFill>
                <a:latin typeface="MiSans" pitchFamily="34" charset="0"/>
                <a:ea typeface="MiSans" pitchFamily="34" charset="-122"/>
                <a:cs typeface="MiSans" pitchFamily="34" charset="-120"/>
              </a:rPr>
              <a:t>逻辑优化</a:t>
            </a:r>
            <a:endParaRPr lang="en-US" sz="1600" dirty="0"/>
          </a:p>
        </p:txBody>
      </p:sp>
      <p:sp>
        <p:nvSpPr>
          <p:cNvPr id="24" name="Text 22"/>
          <p:cNvSpPr/>
          <p:nvPr/>
        </p:nvSpPr>
        <p:spPr>
          <a:xfrm>
            <a:off x="863600" y="5045075"/>
            <a:ext cx="4622800" cy="3048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应用规则优化查询逻辑</a:t>
            </a:r>
            <a:endParaRPr lang="en-US" sz="1600" dirty="0"/>
          </a:p>
        </p:txBody>
      </p:sp>
      <p:sp>
        <p:nvSpPr>
          <p:cNvPr id="25" name="Shape 23"/>
          <p:cNvSpPr/>
          <p:nvPr/>
        </p:nvSpPr>
        <p:spPr>
          <a:xfrm>
            <a:off x="5715000" y="4181475"/>
            <a:ext cx="50800" cy="1371600"/>
          </a:xfrm>
          <a:custGeom>
            <a:avLst/>
            <a:gdLst/>
            <a:ahLst/>
            <a:cxnLst/>
            <a:rect l="l" t="t" r="r" b="b"/>
            <a:pathLst>
              <a:path w="50800" h="1371600">
                <a:moveTo>
                  <a:pt x="0" y="0"/>
                </a:moveTo>
                <a:lnTo>
                  <a:pt x="50800" y="0"/>
                </a:lnTo>
                <a:lnTo>
                  <a:pt x="50800" y="1371600"/>
                </a:lnTo>
                <a:lnTo>
                  <a:pt x="0" y="1371600"/>
                </a:lnTo>
                <a:lnTo>
                  <a:pt x="0" y="0"/>
                </a:lnTo>
                <a:close/>
              </a:path>
            </a:pathLst>
          </a:custGeom>
          <a:solidFill>
            <a:srgbClr val="D69E2E"/>
          </a:solidFill>
          <a:ln/>
        </p:spPr>
        <p:txBody>
          <a:bodyPr/>
          <a:lstStyle/>
          <a:p>
            <a:endParaRPr lang="zh-CN" altLang="en-US"/>
          </a:p>
        </p:txBody>
      </p:sp>
      <p:sp>
        <p:nvSpPr>
          <p:cNvPr id="26" name="Shape 24"/>
          <p:cNvSpPr/>
          <p:nvPr/>
        </p:nvSpPr>
        <p:spPr>
          <a:xfrm>
            <a:off x="6045200" y="4384675"/>
            <a:ext cx="508000" cy="508000"/>
          </a:xfrm>
          <a:custGeom>
            <a:avLst/>
            <a:gdLst/>
            <a:ahLst/>
            <a:cxnLst/>
            <a:rect l="l" t="t" r="r" b="b"/>
            <a:pathLst>
              <a:path w="508000" h="508000">
                <a:moveTo>
                  <a:pt x="101600" y="0"/>
                </a:moveTo>
                <a:lnTo>
                  <a:pt x="406400" y="0"/>
                </a:lnTo>
                <a:cubicBezTo>
                  <a:pt x="462475" y="0"/>
                  <a:pt x="508000" y="45525"/>
                  <a:pt x="508000" y="101600"/>
                </a:cubicBezTo>
                <a:lnTo>
                  <a:pt x="508000" y="406400"/>
                </a:lnTo>
                <a:cubicBezTo>
                  <a:pt x="508000" y="462475"/>
                  <a:pt x="462475" y="508000"/>
                  <a:pt x="406400" y="508000"/>
                </a:cubicBezTo>
                <a:lnTo>
                  <a:pt x="101600" y="508000"/>
                </a:lnTo>
                <a:cubicBezTo>
                  <a:pt x="45525" y="508000"/>
                  <a:pt x="0" y="462475"/>
                  <a:pt x="0" y="406400"/>
                </a:cubicBezTo>
                <a:lnTo>
                  <a:pt x="0" y="101600"/>
                </a:lnTo>
                <a:cubicBezTo>
                  <a:pt x="0" y="45525"/>
                  <a:pt x="45525" y="0"/>
                  <a:pt x="101600" y="0"/>
                </a:cubicBezTo>
                <a:close/>
              </a:path>
            </a:pathLst>
          </a:custGeom>
          <a:solidFill>
            <a:srgbClr val="D69E2E"/>
          </a:solidFill>
          <a:ln/>
        </p:spPr>
        <p:txBody>
          <a:bodyPr/>
          <a:lstStyle/>
          <a:p>
            <a:endParaRPr lang="zh-CN" altLang="en-US"/>
          </a:p>
        </p:txBody>
      </p:sp>
      <p:sp>
        <p:nvSpPr>
          <p:cNvPr id="27" name="Text 25"/>
          <p:cNvSpPr/>
          <p:nvPr/>
        </p:nvSpPr>
        <p:spPr>
          <a:xfrm>
            <a:off x="6233319" y="4460875"/>
            <a:ext cx="241300" cy="355600"/>
          </a:xfrm>
          <a:prstGeom prst="rect">
            <a:avLst/>
          </a:prstGeom>
          <a:noFill/>
          <a:ln/>
        </p:spPr>
        <p:txBody>
          <a:bodyPr wrap="square" lIns="0" tIns="0" rIns="0" bIns="0" rtlCol="0" anchor="ctr"/>
          <a:lstStyle/>
          <a:p>
            <a:pPr>
              <a:lnSpc>
                <a:spcPct val="130000"/>
              </a:lnSpc>
            </a:pPr>
            <a:r>
              <a:rPr lang="en-US" sz="1800" b="1" dirty="0">
                <a:solidFill>
                  <a:srgbClr val="1A202C"/>
                </a:solidFill>
                <a:latin typeface="Liter" pitchFamily="34" charset="0"/>
                <a:ea typeface="Liter" pitchFamily="34" charset="-122"/>
                <a:cs typeface="Liter" pitchFamily="34" charset="-120"/>
              </a:rPr>
              <a:t>5</a:t>
            </a:r>
            <a:endParaRPr lang="en-US" sz="1600" dirty="0"/>
          </a:p>
        </p:txBody>
      </p:sp>
      <p:sp>
        <p:nvSpPr>
          <p:cNvPr id="28" name="Text 26"/>
          <p:cNvSpPr/>
          <p:nvPr/>
        </p:nvSpPr>
        <p:spPr>
          <a:xfrm>
            <a:off x="6705600" y="4460875"/>
            <a:ext cx="1485900" cy="355600"/>
          </a:xfrm>
          <a:prstGeom prst="rect">
            <a:avLst/>
          </a:prstGeom>
          <a:noFill/>
          <a:ln/>
        </p:spPr>
        <p:txBody>
          <a:bodyPr wrap="square" lIns="0" tIns="0" rIns="0" bIns="0" rtlCol="0" anchor="ctr"/>
          <a:lstStyle/>
          <a:p>
            <a:pPr>
              <a:lnSpc>
                <a:spcPct val="130000"/>
              </a:lnSpc>
            </a:pPr>
            <a:r>
              <a:rPr lang="en-US" sz="1800" b="1" dirty="0">
                <a:solidFill>
                  <a:srgbClr val="E2E8F0"/>
                </a:solidFill>
                <a:latin typeface="MiSans" pitchFamily="34" charset="0"/>
                <a:ea typeface="MiSans" pitchFamily="34" charset="-122"/>
                <a:cs typeface="MiSans" pitchFamily="34" charset="-120"/>
              </a:rPr>
              <a:t>物理计划生成</a:t>
            </a:r>
            <a:endParaRPr lang="en-US" sz="1600" dirty="0"/>
          </a:p>
        </p:txBody>
      </p:sp>
      <p:sp>
        <p:nvSpPr>
          <p:cNvPr id="29" name="Text 27"/>
          <p:cNvSpPr/>
          <p:nvPr/>
        </p:nvSpPr>
        <p:spPr>
          <a:xfrm>
            <a:off x="6045200" y="5045075"/>
            <a:ext cx="4622800" cy="3048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将逻辑计划转换为物理执行计划</a:t>
            </a:r>
            <a:endParaRPr lang="en-US" sz="1600" dirty="0"/>
          </a:p>
        </p:txBody>
      </p:sp>
      <p:sp>
        <p:nvSpPr>
          <p:cNvPr id="30" name="Shape 28"/>
          <p:cNvSpPr/>
          <p:nvPr/>
        </p:nvSpPr>
        <p:spPr>
          <a:xfrm>
            <a:off x="10896600" y="4181475"/>
            <a:ext cx="50800" cy="1371600"/>
          </a:xfrm>
          <a:custGeom>
            <a:avLst/>
            <a:gdLst/>
            <a:ahLst/>
            <a:cxnLst/>
            <a:rect l="l" t="t" r="r" b="b"/>
            <a:pathLst>
              <a:path w="50800" h="1371600">
                <a:moveTo>
                  <a:pt x="0" y="0"/>
                </a:moveTo>
                <a:lnTo>
                  <a:pt x="50800" y="0"/>
                </a:lnTo>
                <a:lnTo>
                  <a:pt x="50800" y="1371600"/>
                </a:lnTo>
                <a:lnTo>
                  <a:pt x="0" y="1371600"/>
                </a:lnTo>
                <a:lnTo>
                  <a:pt x="0" y="0"/>
                </a:lnTo>
                <a:close/>
              </a:path>
            </a:pathLst>
          </a:custGeom>
          <a:solidFill>
            <a:srgbClr val="D69E2E"/>
          </a:solidFill>
          <a:ln/>
        </p:spPr>
        <p:txBody>
          <a:bodyPr/>
          <a:lstStyle/>
          <a:p>
            <a:endParaRPr lang="zh-CN" altLang="en-US"/>
          </a:p>
        </p:txBody>
      </p:sp>
      <p:sp>
        <p:nvSpPr>
          <p:cNvPr id="31" name="Shape 29"/>
          <p:cNvSpPr/>
          <p:nvPr/>
        </p:nvSpPr>
        <p:spPr>
          <a:xfrm>
            <a:off x="11226800" y="4384675"/>
            <a:ext cx="508000" cy="508000"/>
          </a:xfrm>
          <a:custGeom>
            <a:avLst/>
            <a:gdLst/>
            <a:ahLst/>
            <a:cxnLst/>
            <a:rect l="l" t="t" r="r" b="b"/>
            <a:pathLst>
              <a:path w="508000" h="508000">
                <a:moveTo>
                  <a:pt x="101600" y="0"/>
                </a:moveTo>
                <a:lnTo>
                  <a:pt x="406400" y="0"/>
                </a:lnTo>
                <a:cubicBezTo>
                  <a:pt x="462475" y="0"/>
                  <a:pt x="508000" y="45525"/>
                  <a:pt x="508000" y="101600"/>
                </a:cubicBezTo>
                <a:lnTo>
                  <a:pt x="508000" y="406400"/>
                </a:lnTo>
                <a:cubicBezTo>
                  <a:pt x="508000" y="462475"/>
                  <a:pt x="462475" y="508000"/>
                  <a:pt x="406400" y="508000"/>
                </a:cubicBezTo>
                <a:lnTo>
                  <a:pt x="101600" y="508000"/>
                </a:lnTo>
                <a:cubicBezTo>
                  <a:pt x="45525" y="508000"/>
                  <a:pt x="0" y="462475"/>
                  <a:pt x="0" y="406400"/>
                </a:cubicBezTo>
                <a:lnTo>
                  <a:pt x="0" y="101600"/>
                </a:lnTo>
                <a:cubicBezTo>
                  <a:pt x="0" y="45525"/>
                  <a:pt x="45525" y="0"/>
                  <a:pt x="101600" y="0"/>
                </a:cubicBezTo>
                <a:close/>
              </a:path>
            </a:pathLst>
          </a:custGeom>
          <a:solidFill>
            <a:srgbClr val="D69E2E"/>
          </a:solidFill>
          <a:ln/>
        </p:spPr>
        <p:txBody>
          <a:bodyPr/>
          <a:lstStyle/>
          <a:p>
            <a:endParaRPr lang="zh-CN" altLang="en-US"/>
          </a:p>
        </p:txBody>
      </p:sp>
      <p:sp>
        <p:nvSpPr>
          <p:cNvPr id="32" name="Text 30"/>
          <p:cNvSpPr/>
          <p:nvPr/>
        </p:nvSpPr>
        <p:spPr>
          <a:xfrm>
            <a:off x="11412438" y="4460875"/>
            <a:ext cx="254000" cy="355600"/>
          </a:xfrm>
          <a:prstGeom prst="rect">
            <a:avLst/>
          </a:prstGeom>
          <a:noFill/>
          <a:ln/>
        </p:spPr>
        <p:txBody>
          <a:bodyPr wrap="square" lIns="0" tIns="0" rIns="0" bIns="0" rtlCol="0" anchor="ctr"/>
          <a:lstStyle/>
          <a:p>
            <a:pPr>
              <a:lnSpc>
                <a:spcPct val="130000"/>
              </a:lnSpc>
            </a:pPr>
            <a:r>
              <a:rPr lang="en-US" sz="1800" b="1" dirty="0">
                <a:solidFill>
                  <a:srgbClr val="1A202C"/>
                </a:solidFill>
                <a:latin typeface="Liter" pitchFamily="34" charset="0"/>
                <a:ea typeface="Liter" pitchFamily="34" charset="-122"/>
                <a:cs typeface="Liter" pitchFamily="34" charset="-120"/>
              </a:rPr>
              <a:t>6</a:t>
            </a:r>
            <a:endParaRPr lang="en-US" sz="1600" dirty="0"/>
          </a:p>
        </p:txBody>
      </p:sp>
      <p:sp>
        <p:nvSpPr>
          <p:cNvPr id="33" name="Text 31"/>
          <p:cNvSpPr/>
          <p:nvPr/>
        </p:nvSpPr>
        <p:spPr>
          <a:xfrm>
            <a:off x="11887200" y="4460875"/>
            <a:ext cx="1028700" cy="355600"/>
          </a:xfrm>
          <a:prstGeom prst="rect">
            <a:avLst/>
          </a:prstGeom>
          <a:noFill/>
          <a:ln/>
        </p:spPr>
        <p:txBody>
          <a:bodyPr wrap="square" lIns="0" tIns="0" rIns="0" bIns="0" rtlCol="0" anchor="ctr"/>
          <a:lstStyle/>
          <a:p>
            <a:pPr>
              <a:lnSpc>
                <a:spcPct val="130000"/>
              </a:lnSpc>
            </a:pPr>
            <a:r>
              <a:rPr lang="en-US" sz="1800" b="1" dirty="0">
                <a:solidFill>
                  <a:srgbClr val="E2E8F0"/>
                </a:solidFill>
                <a:latin typeface="MiSans" pitchFamily="34" charset="0"/>
                <a:ea typeface="MiSans" pitchFamily="34" charset="-122"/>
                <a:cs typeface="MiSans" pitchFamily="34" charset="-120"/>
              </a:rPr>
              <a:t>物理优化</a:t>
            </a:r>
            <a:endParaRPr lang="en-US" sz="1600" dirty="0"/>
          </a:p>
        </p:txBody>
      </p:sp>
      <p:sp>
        <p:nvSpPr>
          <p:cNvPr id="34" name="Text 32"/>
          <p:cNvSpPr/>
          <p:nvPr/>
        </p:nvSpPr>
        <p:spPr>
          <a:xfrm>
            <a:off x="11226800" y="5045075"/>
            <a:ext cx="4622800" cy="3048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优化物理计划，选择最佳执行策略</a:t>
            </a:r>
            <a:endParaRPr lang="en-US" sz="1600" dirty="0"/>
          </a:p>
        </p:txBody>
      </p:sp>
      <p:sp>
        <p:nvSpPr>
          <p:cNvPr id="35" name="Text 33"/>
          <p:cNvSpPr/>
          <p:nvPr/>
        </p:nvSpPr>
        <p:spPr>
          <a:xfrm>
            <a:off x="508000" y="5959475"/>
            <a:ext cx="15392400" cy="406400"/>
          </a:xfrm>
          <a:prstGeom prst="rect">
            <a:avLst/>
          </a:prstGeom>
          <a:noFill/>
          <a:ln/>
        </p:spPr>
        <p:txBody>
          <a:bodyPr wrap="square" lIns="0" tIns="0" rIns="0" bIns="0" rtlCol="0" anchor="ctr"/>
          <a:lstStyle/>
          <a:p>
            <a:pPr>
              <a:lnSpc>
                <a:spcPct val="110000"/>
              </a:lnSpc>
            </a:pPr>
            <a:r>
              <a:rPr lang="en-US" sz="2400" b="1" dirty="0">
                <a:solidFill>
                  <a:srgbClr val="E2E8F0"/>
                </a:solidFill>
                <a:latin typeface="Noto Sans SC" pitchFamily="34" charset="0"/>
                <a:ea typeface="Noto Sans SC" pitchFamily="34" charset="-122"/>
                <a:cs typeface="Noto Sans SC" pitchFamily="34" charset="-120"/>
              </a:rPr>
              <a:t>重要优化技术</a:t>
            </a:r>
            <a:endParaRPr lang="en-US" sz="1600" dirty="0"/>
          </a:p>
        </p:txBody>
      </p:sp>
      <p:sp>
        <p:nvSpPr>
          <p:cNvPr id="36" name="Shape 34"/>
          <p:cNvSpPr/>
          <p:nvPr/>
        </p:nvSpPr>
        <p:spPr>
          <a:xfrm>
            <a:off x="520700" y="6581775"/>
            <a:ext cx="2857500" cy="1879600"/>
          </a:xfrm>
          <a:custGeom>
            <a:avLst/>
            <a:gdLst/>
            <a:ahLst/>
            <a:cxnLst/>
            <a:rect l="l" t="t" r="r" b="b"/>
            <a:pathLst>
              <a:path w="2857500" h="1879600">
                <a:moveTo>
                  <a:pt x="101592" y="0"/>
                </a:moveTo>
                <a:lnTo>
                  <a:pt x="2755908" y="0"/>
                </a:lnTo>
                <a:cubicBezTo>
                  <a:pt x="2812016" y="0"/>
                  <a:pt x="2857500" y="45484"/>
                  <a:pt x="2857500" y="101592"/>
                </a:cubicBezTo>
                <a:lnTo>
                  <a:pt x="2857500" y="1778008"/>
                </a:lnTo>
                <a:cubicBezTo>
                  <a:pt x="2857500" y="1834116"/>
                  <a:pt x="2812016" y="1879600"/>
                  <a:pt x="2755908" y="1879600"/>
                </a:cubicBezTo>
                <a:lnTo>
                  <a:pt x="101592" y="1879600"/>
                </a:lnTo>
                <a:cubicBezTo>
                  <a:pt x="45484" y="1879600"/>
                  <a:pt x="0" y="1834116"/>
                  <a:pt x="0" y="1778008"/>
                </a:cubicBezTo>
                <a:lnTo>
                  <a:pt x="0" y="101592"/>
                </a:lnTo>
                <a:cubicBezTo>
                  <a:pt x="0" y="45522"/>
                  <a:pt x="45522" y="0"/>
                  <a:pt x="101592" y="0"/>
                </a:cubicBezTo>
                <a:close/>
              </a:path>
            </a:pathLst>
          </a:custGeom>
          <a:solidFill>
            <a:srgbClr val="000000">
              <a:alpha val="0"/>
            </a:srgbClr>
          </a:solidFill>
          <a:ln w="25400">
            <a:solidFill>
              <a:srgbClr val="D69E2E"/>
            </a:solidFill>
            <a:prstDash val="solid"/>
          </a:ln>
        </p:spPr>
        <p:txBody>
          <a:bodyPr/>
          <a:lstStyle/>
          <a:p>
            <a:endParaRPr lang="zh-CN" altLang="en-US"/>
          </a:p>
        </p:txBody>
      </p:sp>
      <p:sp>
        <p:nvSpPr>
          <p:cNvPr id="37" name="Shape 35"/>
          <p:cNvSpPr/>
          <p:nvPr/>
        </p:nvSpPr>
        <p:spPr>
          <a:xfrm>
            <a:off x="1763316" y="6797675"/>
            <a:ext cx="381000" cy="381000"/>
          </a:xfrm>
          <a:custGeom>
            <a:avLst/>
            <a:gdLst/>
            <a:ahLst/>
            <a:cxnLst/>
            <a:rect l="l" t="t" r="r" b="b"/>
            <a:pathLst>
              <a:path w="381000" h="381000">
                <a:moveTo>
                  <a:pt x="23812" y="47625"/>
                </a:moveTo>
                <a:cubicBezTo>
                  <a:pt x="14213" y="47625"/>
                  <a:pt x="5507" y="53429"/>
                  <a:pt x="1786" y="62359"/>
                </a:cubicBezTo>
                <a:cubicBezTo>
                  <a:pt x="-1935" y="71289"/>
                  <a:pt x="149" y="81483"/>
                  <a:pt x="6995" y="88255"/>
                </a:cubicBezTo>
                <a:lnTo>
                  <a:pt x="142875" y="224210"/>
                </a:lnTo>
                <a:lnTo>
                  <a:pt x="142875" y="309563"/>
                </a:lnTo>
                <a:cubicBezTo>
                  <a:pt x="142875" y="315888"/>
                  <a:pt x="145405" y="321915"/>
                  <a:pt x="149870" y="326380"/>
                </a:cubicBezTo>
                <a:lnTo>
                  <a:pt x="197495" y="374005"/>
                </a:lnTo>
                <a:cubicBezTo>
                  <a:pt x="204341" y="380851"/>
                  <a:pt x="214536" y="382860"/>
                  <a:pt x="223465" y="379140"/>
                </a:cubicBezTo>
                <a:cubicBezTo>
                  <a:pt x="232395" y="375419"/>
                  <a:pt x="238125" y="366787"/>
                  <a:pt x="238125" y="357188"/>
                </a:cubicBezTo>
                <a:lnTo>
                  <a:pt x="238125" y="224210"/>
                </a:lnTo>
                <a:lnTo>
                  <a:pt x="374005" y="88329"/>
                </a:lnTo>
                <a:cubicBezTo>
                  <a:pt x="380851" y="81483"/>
                  <a:pt x="382860" y="71289"/>
                  <a:pt x="379140" y="62359"/>
                </a:cubicBezTo>
                <a:cubicBezTo>
                  <a:pt x="375419" y="53429"/>
                  <a:pt x="366787" y="47625"/>
                  <a:pt x="357188" y="47625"/>
                </a:cubicBezTo>
                <a:lnTo>
                  <a:pt x="23812" y="47625"/>
                </a:lnTo>
                <a:close/>
              </a:path>
            </a:pathLst>
          </a:custGeom>
          <a:solidFill>
            <a:srgbClr val="D69E2E"/>
          </a:solidFill>
          <a:ln/>
        </p:spPr>
        <p:txBody>
          <a:bodyPr/>
          <a:lstStyle/>
          <a:p>
            <a:endParaRPr lang="zh-CN" altLang="en-US"/>
          </a:p>
        </p:txBody>
      </p:sp>
      <p:sp>
        <p:nvSpPr>
          <p:cNvPr id="38" name="Text 36"/>
          <p:cNvSpPr/>
          <p:nvPr/>
        </p:nvSpPr>
        <p:spPr>
          <a:xfrm>
            <a:off x="679450" y="7280275"/>
            <a:ext cx="2540000" cy="355600"/>
          </a:xfrm>
          <a:prstGeom prst="rect">
            <a:avLst/>
          </a:prstGeom>
          <a:noFill/>
          <a:ln/>
        </p:spPr>
        <p:txBody>
          <a:bodyPr wrap="square" lIns="0" tIns="0" rIns="0" bIns="0" rtlCol="0" anchor="ctr"/>
          <a:lstStyle/>
          <a:p>
            <a:pPr algn="ctr">
              <a:lnSpc>
                <a:spcPct val="130000"/>
              </a:lnSpc>
            </a:pPr>
            <a:r>
              <a:rPr lang="en-US" sz="1800" b="1" dirty="0">
                <a:solidFill>
                  <a:srgbClr val="E2E8F0"/>
                </a:solidFill>
                <a:latin typeface="MiSans" pitchFamily="34" charset="0"/>
                <a:ea typeface="MiSans" pitchFamily="34" charset="-122"/>
                <a:cs typeface="MiSans" pitchFamily="34" charset="-120"/>
              </a:rPr>
              <a:t>谓词下推</a:t>
            </a:r>
            <a:endParaRPr lang="en-US" sz="1600" dirty="0"/>
          </a:p>
        </p:txBody>
      </p:sp>
      <p:sp>
        <p:nvSpPr>
          <p:cNvPr id="39" name="Text 37"/>
          <p:cNvSpPr/>
          <p:nvPr/>
        </p:nvSpPr>
        <p:spPr>
          <a:xfrm>
            <a:off x="692150" y="7737475"/>
            <a:ext cx="2514600" cy="508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将过滤条件推到数据源，</a:t>
            </a:r>
            <a:r>
              <a:rPr lang="en-US" sz="1400" dirty="0">
                <a:solidFill>
                  <a:srgbClr val="D69E2E"/>
                </a:solidFill>
                <a:latin typeface="MiSans" pitchFamily="34" charset="0"/>
                <a:ea typeface="MiSans" pitchFamily="34" charset="-122"/>
                <a:cs typeface="MiSans" pitchFamily="34" charset="-120"/>
              </a:rPr>
              <a:t>减少50-90%数据传输</a:t>
            </a:r>
            <a:endParaRPr lang="en-US" sz="1600" dirty="0"/>
          </a:p>
        </p:txBody>
      </p:sp>
      <p:sp>
        <p:nvSpPr>
          <p:cNvPr id="40" name="Shape 38"/>
          <p:cNvSpPr/>
          <p:nvPr/>
        </p:nvSpPr>
        <p:spPr>
          <a:xfrm>
            <a:off x="3609280" y="6581775"/>
            <a:ext cx="2857500" cy="1879600"/>
          </a:xfrm>
          <a:custGeom>
            <a:avLst/>
            <a:gdLst/>
            <a:ahLst/>
            <a:cxnLst/>
            <a:rect l="l" t="t" r="r" b="b"/>
            <a:pathLst>
              <a:path w="2857500" h="1879600">
                <a:moveTo>
                  <a:pt x="101592" y="0"/>
                </a:moveTo>
                <a:lnTo>
                  <a:pt x="2755908" y="0"/>
                </a:lnTo>
                <a:cubicBezTo>
                  <a:pt x="2812016" y="0"/>
                  <a:pt x="2857500" y="45484"/>
                  <a:pt x="2857500" y="101592"/>
                </a:cubicBezTo>
                <a:lnTo>
                  <a:pt x="2857500" y="1778008"/>
                </a:lnTo>
                <a:cubicBezTo>
                  <a:pt x="2857500" y="1834116"/>
                  <a:pt x="2812016" y="1879600"/>
                  <a:pt x="2755908" y="1879600"/>
                </a:cubicBezTo>
                <a:lnTo>
                  <a:pt x="101592" y="1879600"/>
                </a:lnTo>
                <a:cubicBezTo>
                  <a:pt x="45484" y="1879600"/>
                  <a:pt x="0" y="1834116"/>
                  <a:pt x="0" y="1778008"/>
                </a:cubicBezTo>
                <a:lnTo>
                  <a:pt x="0" y="101592"/>
                </a:lnTo>
                <a:cubicBezTo>
                  <a:pt x="0" y="45522"/>
                  <a:pt x="45522" y="0"/>
                  <a:pt x="101592" y="0"/>
                </a:cubicBezTo>
                <a:close/>
              </a:path>
            </a:pathLst>
          </a:custGeom>
          <a:solidFill>
            <a:srgbClr val="000000">
              <a:alpha val="0"/>
            </a:srgbClr>
          </a:solidFill>
          <a:ln w="25400">
            <a:solidFill>
              <a:srgbClr val="D69E2E"/>
            </a:solidFill>
            <a:prstDash val="solid"/>
          </a:ln>
        </p:spPr>
        <p:txBody>
          <a:bodyPr/>
          <a:lstStyle/>
          <a:p>
            <a:endParaRPr lang="zh-CN" altLang="en-US"/>
          </a:p>
        </p:txBody>
      </p:sp>
      <p:sp>
        <p:nvSpPr>
          <p:cNvPr id="41" name="Shape 39"/>
          <p:cNvSpPr/>
          <p:nvPr/>
        </p:nvSpPr>
        <p:spPr>
          <a:xfrm>
            <a:off x="4851995" y="6797675"/>
            <a:ext cx="381000" cy="381000"/>
          </a:xfrm>
          <a:custGeom>
            <a:avLst/>
            <a:gdLst/>
            <a:ahLst/>
            <a:cxnLst/>
            <a:rect l="l" t="t" r="r" b="b"/>
            <a:pathLst>
              <a:path w="381000" h="381000">
                <a:moveTo>
                  <a:pt x="142875" y="190500"/>
                </a:moveTo>
                <a:lnTo>
                  <a:pt x="113481" y="219894"/>
                </a:lnTo>
                <a:cubicBezTo>
                  <a:pt x="104105" y="216247"/>
                  <a:pt x="93985" y="214313"/>
                  <a:pt x="83344" y="214313"/>
                </a:cubicBezTo>
                <a:cubicBezTo>
                  <a:pt x="37281" y="214313"/>
                  <a:pt x="0" y="251594"/>
                  <a:pt x="0" y="297656"/>
                </a:cubicBezTo>
                <a:cubicBezTo>
                  <a:pt x="0" y="343719"/>
                  <a:pt x="37281" y="381000"/>
                  <a:pt x="83344" y="381000"/>
                </a:cubicBezTo>
                <a:cubicBezTo>
                  <a:pt x="129406" y="381000"/>
                  <a:pt x="166688" y="343719"/>
                  <a:pt x="166688" y="297656"/>
                </a:cubicBezTo>
                <a:cubicBezTo>
                  <a:pt x="166688" y="287015"/>
                  <a:pt x="164678" y="276895"/>
                  <a:pt x="161106" y="267519"/>
                </a:cubicBezTo>
                <a:lnTo>
                  <a:pt x="371475" y="57150"/>
                </a:lnTo>
                <a:cubicBezTo>
                  <a:pt x="376758" y="51867"/>
                  <a:pt x="376758" y="43383"/>
                  <a:pt x="371475" y="38100"/>
                </a:cubicBezTo>
                <a:cubicBezTo>
                  <a:pt x="350416" y="17041"/>
                  <a:pt x="316334" y="17041"/>
                  <a:pt x="295275" y="38100"/>
                </a:cubicBezTo>
                <a:lnTo>
                  <a:pt x="190500" y="142875"/>
                </a:lnTo>
                <a:lnTo>
                  <a:pt x="161106" y="113481"/>
                </a:lnTo>
                <a:cubicBezTo>
                  <a:pt x="164753" y="104105"/>
                  <a:pt x="166688" y="93985"/>
                  <a:pt x="166688" y="83344"/>
                </a:cubicBezTo>
                <a:cubicBezTo>
                  <a:pt x="166688" y="37281"/>
                  <a:pt x="129406" y="0"/>
                  <a:pt x="83344" y="0"/>
                </a:cubicBezTo>
                <a:cubicBezTo>
                  <a:pt x="37281" y="0"/>
                  <a:pt x="0" y="37281"/>
                  <a:pt x="0" y="83344"/>
                </a:cubicBezTo>
                <a:cubicBezTo>
                  <a:pt x="0" y="129406"/>
                  <a:pt x="37281" y="166688"/>
                  <a:pt x="83344" y="166688"/>
                </a:cubicBezTo>
                <a:cubicBezTo>
                  <a:pt x="93985" y="166688"/>
                  <a:pt x="104105" y="164678"/>
                  <a:pt x="113481" y="161106"/>
                </a:cubicBezTo>
                <a:lnTo>
                  <a:pt x="142875" y="190500"/>
                </a:lnTo>
                <a:close/>
                <a:moveTo>
                  <a:pt x="215726" y="263351"/>
                </a:moveTo>
                <a:lnTo>
                  <a:pt x="295275" y="342900"/>
                </a:lnTo>
                <a:cubicBezTo>
                  <a:pt x="316334" y="363959"/>
                  <a:pt x="350416" y="363959"/>
                  <a:pt x="371475" y="342900"/>
                </a:cubicBezTo>
                <a:cubicBezTo>
                  <a:pt x="376758" y="337617"/>
                  <a:pt x="376758" y="329133"/>
                  <a:pt x="371475" y="323850"/>
                </a:cubicBezTo>
                <a:lnTo>
                  <a:pt x="263351" y="215726"/>
                </a:lnTo>
                <a:lnTo>
                  <a:pt x="215726" y="263351"/>
                </a:lnTo>
                <a:close/>
                <a:moveTo>
                  <a:pt x="47625" y="83344"/>
                </a:moveTo>
                <a:cubicBezTo>
                  <a:pt x="47625" y="63630"/>
                  <a:pt x="63630" y="47625"/>
                  <a:pt x="83344" y="47625"/>
                </a:cubicBezTo>
                <a:cubicBezTo>
                  <a:pt x="103057" y="47625"/>
                  <a:pt x="119063" y="63630"/>
                  <a:pt x="119063" y="83344"/>
                </a:cubicBezTo>
                <a:cubicBezTo>
                  <a:pt x="119063" y="103057"/>
                  <a:pt x="103057" y="119063"/>
                  <a:pt x="83344" y="119063"/>
                </a:cubicBezTo>
                <a:cubicBezTo>
                  <a:pt x="63630" y="119063"/>
                  <a:pt x="47625" y="103057"/>
                  <a:pt x="47625" y="83344"/>
                </a:cubicBezTo>
                <a:close/>
                <a:moveTo>
                  <a:pt x="83344" y="261938"/>
                </a:moveTo>
                <a:cubicBezTo>
                  <a:pt x="103057" y="261938"/>
                  <a:pt x="119063" y="277943"/>
                  <a:pt x="119063" y="297656"/>
                </a:cubicBezTo>
                <a:cubicBezTo>
                  <a:pt x="119063" y="317370"/>
                  <a:pt x="103057" y="333375"/>
                  <a:pt x="83344" y="333375"/>
                </a:cubicBezTo>
                <a:cubicBezTo>
                  <a:pt x="63630" y="333375"/>
                  <a:pt x="47625" y="317370"/>
                  <a:pt x="47625" y="297656"/>
                </a:cubicBezTo>
                <a:cubicBezTo>
                  <a:pt x="47625" y="277943"/>
                  <a:pt x="63630" y="261938"/>
                  <a:pt x="83344" y="261938"/>
                </a:cubicBezTo>
                <a:close/>
              </a:path>
            </a:pathLst>
          </a:custGeom>
          <a:solidFill>
            <a:srgbClr val="D69E2E"/>
          </a:solidFill>
          <a:ln/>
        </p:spPr>
        <p:txBody>
          <a:bodyPr/>
          <a:lstStyle/>
          <a:p>
            <a:endParaRPr lang="zh-CN" altLang="en-US"/>
          </a:p>
        </p:txBody>
      </p:sp>
      <p:sp>
        <p:nvSpPr>
          <p:cNvPr id="42" name="Text 40"/>
          <p:cNvSpPr/>
          <p:nvPr/>
        </p:nvSpPr>
        <p:spPr>
          <a:xfrm>
            <a:off x="3768030" y="7280275"/>
            <a:ext cx="2540000" cy="355600"/>
          </a:xfrm>
          <a:prstGeom prst="rect">
            <a:avLst/>
          </a:prstGeom>
          <a:noFill/>
          <a:ln/>
        </p:spPr>
        <p:txBody>
          <a:bodyPr wrap="square" lIns="0" tIns="0" rIns="0" bIns="0" rtlCol="0" anchor="ctr"/>
          <a:lstStyle/>
          <a:p>
            <a:pPr algn="ctr">
              <a:lnSpc>
                <a:spcPct val="130000"/>
              </a:lnSpc>
            </a:pPr>
            <a:r>
              <a:rPr lang="en-US" sz="1800" b="1" dirty="0">
                <a:solidFill>
                  <a:srgbClr val="E2E8F0"/>
                </a:solidFill>
                <a:latin typeface="MiSans" pitchFamily="34" charset="0"/>
                <a:ea typeface="MiSans" pitchFamily="34" charset="-122"/>
                <a:cs typeface="MiSans" pitchFamily="34" charset="-120"/>
              </a:rPr>
              <a:t>列裁剪</a:t>
            </a:r>
            <a:endParaRPr lang="en-US" sz="1600" dirty="0"/>
          </a:p>
        </p:txBody>
      </p:sp>
      <p:sp>
        <p:nvSpPr>
          <p:cNvPr id="43" name="Text 41"/>
          <p:cNvSpPr/>
          <p:nvPr/>
        </p:nvSpPr>
        <p:spPr>
          <a:xfrm>
            <a:off x="3780730" y="7737475"/>
            <a:ext cx="2514600" cy="508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只读取查询需要的列，</a:t>
            </a:r>
            <a:r>
              <a:rPr lang="en-US" sz="1400" dirty="0">
                <a:solidFill>
                  <a:srgbClr val="D69E2E"/>
                </a:solidFill>
                <a:latin typeface="MiSans" pitchFamily="34" charset="0"/>
                <a:ea typeface="MiSans" pitchFamily="34" charset="-122"/>
                <a:cs typeface="MiSans" pitchFamily="34" charset="-120"/>
              </a:rPr>
              <a:t>显著减少I/O开销</a:t>
            </a:r>
            <a:endParaRPr lang="en-US" sz="1600" dirty="0"/>
          </a:p>
        </p:txBody>
      </p:sp>
      <p:sp>
        <p:nvSpPr>
          <p:cNvPr id="44" name="Shape 42"/>
          <p:cNvSpPr/>
          <p:nvPr/>
        </p:nvSpPr>
        <p:spPr>
          <a:xfrm>
            <a:off x="6697960" y="6581775"/>
            <a:ext cx="2857500" cy="1879600"/>
          </a:xfrm>
          <a:custGeom>
            <a:avLst/>
            <a:gdLst/>
            <a:ahLst/>
            <a:cxnLst/>
            <a:rect l="l" t="t" r="r" b="b"/>
            <a:pathLst>
              <a:path w="2857500" h="1879600">
                <a:moveTo>
                  <a:pt x="101592" y="0"/>
                </a:moveTo>
                <a:lnTo>
                  <a:pt x="2755908" y="0"/>
                </a:lnTo>
                <a:cubicBezTo>
                  <a:pt x="2812016" y="0"/>
                  <a:pt x="2857500" y="45484"/>
                  <a:pt x="2857500" y="101592"/>
                </a:cubicBezTo>
                <a:lnTo>
                  <a:pt x="2857500" y="1778008"/>
                </a:lnTo>
                <a:cubicBezTo>
                  <a:pt x="2857500" y="1834116"/>
                  <a:pt x="2812016" y="1879600"/>
                  <a:pt x="2755908" y="1879600"/>
                </a:cubicBezTo>
                <a:lnTo>
                  <a:pt x="101592" y="1879600"/>
                </a:lnTo>
                <a:cubicBezTo>
                  <a:pt x="45484" y="1879600"/>
                  <a:pt x="0" y="1834116"/>
                  <a:pt x="0" y="1778008"/>
                </a:cubicBezTo>
                <a:lnTo>
                  <a:pt x="0" y="101592"/>
                </a:lnTo>
                <a:cubicBezTo>
                  <a:pt x="0" y="45522"/>
                  <a:pt x="45522" y="0"/>
                  <a:pt x="101592" y="0"/>
                </a:cubicBezTo>
                <a:close/>
              </a:path>
            </a:pathLst>
          </a:custGeom>
          <a:solidFill>
            <a:srgbClr val="000000">
              <a:alpha val="0"/>
            </a:srgbClr>
          </a:solidFill>
          <a:ln w="25400">
            <a:solidFill>
              <a:srgbClr val="D69E2E"/>
            </a:solidFill>
            <a:prstDash val="solid"/>
          </a:ln>
        </p:spPr>
        <p:txBody>
          <a:bodyPr/>
          <a:lstStyle/>
          <a:p>
            <a:endParaRPr lang="zh-CN" altLang="en-US"/>
          </a:p>
        </p:txBody>
      </p:sp>
      <p:sp>
        <p:nvSpPr>
          <p:cNvPr id="45" name="Shape 43"/>
          <p:cNvSpPr/>
          <p:nvPr/>
        </p:nvSpPr>
        <p:spPr>
          <a:xfrm>
            <a:off x="7940576" y="6797675"/>
            <a:ext cx="381000" cy="381000"/>
          </a:xfrm>
          <a:custGeom>
            <a:avLst/>
            <a:gdLst/>
            <a:ahLst/>
            <a:cxnLst/>
            <a:rect l="l" t="t" r="r" b="b"/>
            <a:pathLst>
              <a:path w="381000" h="381000">
                <a:moveTo>
                  <a:pt x="173013" y="3870"/>
                </a:moveTo>
                <a:cubicBezTo>
                  <a:pt x="184100" y="-1265"/>
                  <a:pt x="196900" y="-1265"/>
                  <a:pt x="207987" y="3870"/>
                </a:cubicBezTo>
                <a:lnTo>
                  <a:pt x="370656" y="79028"/>
                </a:lnTo>
                <a:cubicBezTo>
                  <a:pt x="376982" y="81930"/>
                  <a:pt x="381000" y="88255"/>
                  <a:pt x="381000" y="95250"/>
                </a:cubicBezTo>
                <a:cubicBezTo>
                  <a:pt x="381000" y="102245"/>
                  <a:pt x="376982" y="108570"/>
                  <a:pt x="370656" y="111472"/>
                </a:cubicBezTo>
                <a:lnTo>
                  <a:pt x="207987" y="186630"/>
                </a:lnTo>
                <a:cubicBezTo>
                  <a:pt x="196900" y="191765"/>
                  <a:pt x="184100" y="191765"/>
                  <a:pt x="173013" y="186630"/>
                </a:cubicBezTo>
                <a:lnTo>
                  <a:pt x="10344" y="111472"/>
                </a:lnTo>
                <a:cubicBezTo>
                  <a:pt x="4018" y="108496"/>
                  <a:pt x="0" y="102171"/>
                  <a:pt x="0" y="95250"/>
                </a:cubicBezTo>
                <a:cubicBezTo>
                  <a:pt x="0" y="88329"/>
                  <a:pt x="4018" y="81930"/>
                  <a:pt x="10344" y="79028"/>
                </a:cubicBezTo>
                <a:lnTo>
                  <a:pt x="173013" y="3870"/>
                </a:lnTo>
                <a:close/>
                <a:moveTo>
                  <a:pt x="35793" y="162520"/>
                </a:moveTo>
                <a:lnTo>
                  <a:pt x="158055" y="219001"/>
                </a:lnTo>
                <a:cubicBezTo>
                  <a:pt x="178668" y="228526"/>
                  <a:pt x="202406" y="228526"/>
                  <a:pt x="223019" y="219001"/>
                </a:cubicBezTo>
                <a:lnTo>
                  <a:pt x="345281" y="162520"/>
                </a:lnTo>
                <a:lnTo>
                  <a:pt x="370656" y="174278"/>
                </a:lnTo>
                <a:cubicBezTo>
                  <a:pt x="376982" y="177180"/>
                  <a:pt x="381000" y="183505"/>
                  <a:pt x="381000" y="190500"/>
                </a:cubicBezTo>
                <a:cubicBezTo>
                  <a:pt x="381000" y="197495"/>
                  <a:pt x="376982" y="203820"/>
                  <a:pt x="370656" y="206722"/>
                </a:cubicBezTo>
                <a:lnTo>
                  <a:pt x="207987" y="281880"/>
                </a:lnTo>
                <a:cubicBezTo>
                  <a:pt x="196900" y="287015"/>
                  <a:pt x="184100" y="287015"/>
                  <a:pt x="173013" y="281880"/>
                </a:cubicBezTo>
                <a:lnTo>
                  <a:pt x="10344" y="206722"/>
                </a:lnTo>
                <a:cubicBezTo>
                  <a:pt x="4018" y="203746"/>
                  <a:pt x="0" y="197421"/>
                  <a:pt x="0" y="190500"/>
                </a:cubicBezTo>
                <a:cubicBezTo>
                  <a:pt x="0" y="183579"/>
                  <a:pt x="4018" y="177180"/>
                  <a:pt x="10344" y="174278"/>
                </a:cubicBezTo>
                <a:lnTo>
                  <a:pt x="35719" y="162520"/>
                </a:lnTo>
                <a:close/>
                <a:moveTo>
                  <a:pt x="10344" y="269528"/>
                </a:moveTo>
                <a:lnTo>
                  <a:pt x="35719" y="257770"/>
                </a:lnTo>
                <a:lnTo>
                  <a:pt x="157981" y="314251"/>
                </a:lnTo>
                <a:cubicBezTo>
                  <a:pt x="178594" y="323776"/>
                  <a:pt x="202332" y="323776"/>
                  <a:pt x="222945" y="314251"/>
                </a:cubicBezTo>
                <a:lnTo>
                  <a:pt x="345207" y="257770"/>
                </a:lnTo>
                <a:lnTo>
                  <a:pt x="370582" y="269528"/>
                </a:lnTo>
                <a:cubicBezTo>
                  <a:pt x="376907" y="272430"/>
                  <a:pt x="380926" y="278755"/>
                  <a:pt x="380926" y="285750"/>
                </a:cubicBezTo>
                <a:cubicBezTo>
                  <a:pt x="380926" y="292745"/>
                  <a:pt x="376907" y="299070"/>
                  <a:pt x="370582" y="301972"/>
                </a:cubicBezTo>
                <a:lnTo>
                  <a:pt x="207913" y="377130"/>
                </a:lnTo>
                <a:cubicBezTo>
                  <a:pt x="196825" y="382265"/>
                  <a:pt x="184026" y="382265"/>
                  <a:pt x="172938" y="377130"/>
                </a:cubicBezTo>
                <a:lnTo>
                  <a:pt x="10344" y="301972"/>
                </a:lnTo>
                <a:cubicBezTo>
                  <a:pt x="4018" y="298996"/>
                  <a:pt x="0" y="292671"/>
                  <a:pt x="0" y="285750"/>
                </a:cubicBezTo>
                <a:cubicBezTo>
                  <a:pt x="0" y="278829"/>
                  <a:pt x="4018" y="272430"/>
                  <a:pt x="10344" y="269528"/>
                </a:cubicBezTo>
                <a:close/>
              </a:path>
            </a:pathLst>
          </a:custGeom>
          <a:solidFill>
            <a:srgbClr val="D69E2E"/>
          </a:solidFill>
          <a:ln/>
        </p:spPr>
        <p:txBody>
          <a:bodyPr/>
          <a:lstStyle/>
          <a:p>
            <a:endParaRPr lang="zh-CN" altLang="en-US"/>
          </a:p>
        </p:txBody>
      </p:sp>
      <p:sp>
        <p:nvSpPr>
          <p:cNvPr id="46" name="Text 44"/>
          <p:cNvSpPr/>
          <p:nvPr/>
        </p:nvSpPr>
        <p:spPr>
          <a:xfrm>
            <a:off x="6856710" y="7280275"/>
            <a:ext cx="2540000" cy="355600"/>
          </a:xfrm>
          <a:prstGeom prst="rect">
            <a:avLst/>
          </a:prstGeom>
          <a:noFill/>
          <a:ln/>
        </p:spPr>
        <p:txBody>
          <a:bodyPr wrap="square" lIns="0" tIns="0" rIns="0" bIns="0" rtlCol="0" anchor="ctr"/>
          <a:lstStyle/>
          <a:p>
            <a:pPr algn="ctr">
              <a:lnSpc>
                <a:spcPct val="130000"/>
              </a:lnSpc>
            </a:pPr>
            <a:r>
              <a:rPr lang="en-US" sz="1800" b="1" dirty="0">
                <a:solidFill>
                  <a:srgbClr val="E2E8F0"/>
                </a:solidFill>
                <a:latin typeface="MiSans" pitchFamily="34" charset="0"/>
                <a:ea typeface="MiSans" pitchFamily="34" charset="-122"/>
                <a:cs typeface="MiSans" pitchFamily="34" charset="-120"/>
              </a:rPr>
              <a:t>分区裁剪</a:t>
            </a:r>
            <a:endParaRPr lang="en-US" sz="1600" dirty="0"/>
          </a:p>
        </p:txBody>
      </p:sp>
      <p:sp>
        <p:nvSpPr>
          <p:cNvPr id="47" name="Text 45"/>
          <p:cNvSpPr/>
          <p:nvPr/>
        </p:nvSpPr>
        <p:spPr>
          <a:xfrm>
            <a:off x="6869410" y="7737475"/>
            <a:ext cx="2514600" cy="508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只扫描相关分区，</a:t>
            </a:r>
            <a:r>
              <a:rPr lang="en-US" sz="1400" dirty="0">
                <a:solidFill>
                  <a:srgbClr val="D69E2E"/>
                </a:solidFill>
                <a:latin typeface="MiSans" pitchFamily="34" charset="0"/>
                <a:ea typeface="MiSans" pitchFamily="34" charset="-122"/>
                <a:cs typeface="MiSans" pitchFamily="34" charset="-120"/>
              </a:rPr>
              <a:t>大幅提升查询性能</a:t>
            </a:r>
            <a:endParaRPr lang="en-US" sz="1600" dirty="0"/>
          </a:p>
        </p:txBody>
      </p:sp>
      <p:sp>
        <p:nvSpPr>
          <p:cNvPr id="48" name="Shape 46"/>
          <p:cNvSpPr/>
          <p:nvPr/>
        </p:nvSpPr>
        <p:spPr>
          <a:xfrm>
            <a:off x="9786541" y="6581775"/>
            <a:ext cx="2857500" cy="1879600"/>
          </a:xfrm>
          <a:custGeom>
            <a:avLst/>
            <a:gdLst/>
            <a:ahLst/>
            <a:cxnLst/>
            <a:rect l="l" t="t" r="r" b="b"/>
            <a:pathLst>
              <a:path w="2857500" h="1879600">
                <a:moveTo>
                  <a:pt x="101592" y="0"/>
                </a:moveTo>
                <a:lnTo>
                  <a:pt x="2755908" y="0"/>
                </a:lnTo>
                <a:cubicBezTo>
                  <a:pt x="2812016" y="0"/>
                  <a:pt x="2857500" y="45484"/>
                  <a:pt x="2857500" y="101592"/>
                </a:cubicBezTo>
                <a:lnTo>
                  <a:pt x="2857500" y="1778008"/>
                </a:lnTo>
                <a:cubicBezTo>
                  <a:pt x="2857500" y="1834116"/>
                  <a:pt x="2812016" y="1879600"/>
                  <a:pt x="2755908" y="1879600"/>
                </a:cubicBezTo>
                <a:lnTo>
                  <a:pt x="101592" y="1879600"/>
                </a:lnTo>
                <a:cubicBezTo>
                  <a:pt x="45484" y="1879600"/>
                  <a:pt x="0" y="1834116"/>
                  <a:pt x="0" y="1778008"/>
                </a:cubicBezTo>
                <a:lnTo>
                  <a:pt x="0" y="101592"/>
                </a:lnTo>
                <a:cubicBezTo>
                  <a:pt x="0" y="45522"/>
                  <a:pt x="45522" y="0"/>
                  <a:pt x="101592" y="0"/>
                </a:cubicBezTo>
                <a:close/>
              </a:path>
            </a:pathLst>
          </a:custGeom>
          <a:solidFill>
            <a:srgbClr val="000000">
              <a:alpha val="0"/>
            </a:srgbClr>
          </a:solidFill>
          <a:ln w="25400">
            <a:solidFill>
              <a:srgbClr val="D69E2E"/>
            </a:solidFill>
            <a:prstDash val="solid"/>
          </a:ln>
        </p:spPr>
        <p:txBody>
          <a:bodyPr/>
          <a:lstStyle/>
          <a:p>
            <a:endParaRPr lang="zh-CN" altLang="en-US"/>
          </a:p>
        </p:txBody>
      </p:sp>
      <p:sp>
        <p:nvSpPr>
          <p:cNvPr id="49" name="Shape 47"/>
          <p:cNvSpPr/>
          <p:nvPr/>
        </p:nvSpPr>
        <p:spPr>
          <a:xfrm>
            <a:off x="11005443" y="6797675"/>
            <a:ext cx="428625" cy="381000"/>
          </a:xfrm>
          <a:custGeom>
            <a:avLst/>
            <a:gdLst/>
            <a:ahLst/>
            <a:cxnLst/>
            <a:rect l="l" t="t" r="r" b="b"/>
            <a:pathLst>
              <a:path w="428625" h="381000">
                <a:moveTo>
                  <a:pt x="312167" y="71438"/>
                </a:moveTo>
                <a:cubicBezTo>
                  <a:pt x="299814" y="71438"/>
                  <a:pt x="287834" y="74786"/>
                  <a:pt x="277341" y="80888"/>
                </a:cubicBezTo>
                <a:cubicBezTo>
                  <a:pt x="265584" y="68982"/>
                  <a:pt x="251892" y="59010"/>
                  <a:pt x="236786" y="51495"/>
                </a:cubicBezTo>
                <a:cubicBezTo>
                  <a:pt x="257770" y="33635"/>
                  <a:pt x="284485" y="23812"/>
                  <a:pt x="312167" y="23812"/>
                </a:cubicBezTo>
                <a:cubicBezTo>
                  <a:pt x="376461" y="23812"/>
                  <a:pt x="428625" y="75902"/>
                  <a:pt x="428625" y="140271"/>
                </a:cubicBezTo>
                <a:cubicBezTo>
                  <a:pt x="428625" y="171152"/>
                  <a:pt x="416347" y="200769"/>
                  <a:pt x="394543" y="222572"/>
                </a:cubicBezTo>
                <a:lnTo>
                  <a:pt x="341635" y="275481"/>
                </a:lnTo>
                <a:cubicBezTo>
                  <a:pt x="319832" y="297284"/>
                  <a:pt x="290215" y="309563"/>
                  <a:pt x="259333" y="309563"/>
                </a:cubicBezTo>
                <a:cubicBezTo>
                  <a:pt x="195039" y="309563"/>
                  <a:pt x="142875" y="257473"/>
                  <a:pt x="142875" y="193104"/>
                </a:cubicBezTo>
                <a:cubicBezTo>
                  <a:pt x="142875" y="191988"/>
                  <a:pt x="142875" y="190872"/>
                  <a:pt x="142949" y="189756"/>
                </a:cubicBezTo>
                <a:cubicBezTo>
                  <a:pt x="143321" y="176585"/>
                  <a:pt x="154260" y="166241"/>
                  <a:pt x="167432" y="166613"/>
                </a:cubicBezTo>
                <a:cubicBezTo>
                  <a:pt x="180603" y="166985"/>
                  <a:pt x="190946" y="177924"/>
                  <a:pt x="190574" y="191095"/>
                </a:cubicBezTo>
                <a:cubicBezTo>
                  <a:pt x="190574" y="191765"/>
                  <a:pt x="190574" y="192435"/>
                  <a:pt x="190574" y="193030"/>
                </a:cubicBezTo>
                <a:cubicBezTo>
                  <a:pt x="190574" y="231056"/>
                  <a:pt x="221382" y="261863"/>
                  <a:pt x="259407" y="261863"/>
                </a:cubicBezTo>
                <a:cubicBezTo>
                  <a:pt x="277639" y="261863"/>
                  <a:pt x="295126" y="254645"/>
                  <a:pt x="308074" y="241697"/>
                </a:cubicBezTo>
                <a:lnTo>
                  <a:pt x="360983" y="188788"/>
                </a:lnTo>
                <a:cubicBezTo>
                  <a:pt x="373856" y="175915"/>
                  <a:pt x="381149" y="158353"/>
                  <a:pt x="381149" y="140122"/>
                </a:cubicBezTo>
                <a:cubicBezTo>
                  <a:pt x="381149" y="102096"/>
                  <a:pt x="350341" y="71289"/>
                  <a:pt x="312316" y="71289"/>
                </a:cubicBezTo>
                <a:close/>
                <a:moveTo>
                  <a:pt x="204787" y="128960"/>
                </a:moveTo>
                <a:cubicBezTo>
                  <a:pt x="203374" y="128364"/>
                  <a:pt x="201960" y="127546"/>
                  <a:pt x="200695" y="126653"/>
                </a:cubicBezTo>
                <a:cubicBezTo>
                  <a:pt x="191319" y="121816"/>
                  <a:pt x="180603" y="119063"/>
                  <a:pt x="169366" y="119063"/>
                </a:cubicBezTo>
                <a:cubicBezTo>
                  <a:pt x="151135" y="119063"/>
                  <a:pt x="133648" y="126281"/>
                  <a:pt x="120700" y="139229"/>
                </a:cubicBezTo>
                <a:lnTo>
                  <a:pt x="67791" y="192137"/>
                </a:lnTo>
                <a:cubicBezTo>
                  <a:pt x="54918" y="205011"/>
                  <a:pt x="47625" y="222572"/>
                  <a:pt x="47625" y="240804"/>
                </a:cubicBezTo>
                <a:cubicBezTo>
                  <a:pt x="47625" y="278829"/>
                  <a:pt x="78432" y="309637"/>
                  <a:pt x="116458" y="309637"/>
                </a:cubicBezTo>
                <a:cubicBezTo>
                  <a:pt x="128736" y="309637"/>
                  <a:pt x="140717" y="306363"/>
                  <a:pt x="151209" y="300261"/>
                </a:cubicBezTo>
                <a:cubicBezTo>
                  <a:pt x="162967" y="312167"/>
                  <a:pt x="176659" y="322138"/>
                  <a:pt x="191839" y="329654"/>
                </a:cubicBezTo>
                <a:cubicBezTo>
                  <a:pt x="170855" y="347439"/>
                  <a:pt x="144214" y="357336"/>
                  <a:pt x="116458" y="357336"/>
                </a:cubicBezTo>
                <a:cubicBezTo>
                  <a:pt x="52164" y="357336"/>
                  <a:pt x="0" y="305246"/>
                  <a:pt x="0" y="240878"/>
                </a:cubicBezTo>
                <a:cubicBezTo>
                  <a:pt x="0" y="209996"/>
                  <a:pt x="12278" y="180380"/>
                  <a:pt x="34082" y="158576"/>
                </a:cubicBezTo>
                <a:lnTo>
                  <a:pt x="86990" y="105668"/>
                </a:lnTo>
                <a:cubicBezTo>
                  <a:pt x="108793" y="83865"/>
                  <a:pt x="138410" y="71586"/>
                  <a:pt x="169292" y="71586"/>
                </a:cubicBezTo>
                <a:cubicBezTo>
                  <a:pt x="233735" y="71586"/>
                  <a:pt x="285750" y="124123"/>
                  <a:pt x="285750" y="188342"/>
                </a:cubicBezTo>
                <a:cubicBezTo>
                  <a:pt x="285750" y="189309"/>
                  <a:pt x="285750" y="190277"/>
                  <a:pt x="285750" y="191244"/>
                </a:cubicBezTo>
                <a:cubicBezTo>
                  <a:pt x="285452" y="204415"/>
                  <a:pt x="274513" y="214759"/>
                  <a:pt x="261342" y="214461"/>
                </a:cubicBezTo>
                <a:cubicBezTo>
                  <a:pt x="248171" y="214164"/>
                  <a:pt x="237827" y="203225"/>
                  <a:pt x="238125" y="190054"/>
                </a:cubicBezTo>
                <a:cubicBezTo>
                  <a:pt x="238125" y="189458"/>
                  <a:pt x="238125" y="188937"/>
                  <a:pt x="238125" y="188342"/>
                </a:cubicBezTo>
                <a:cubicBezTo>
                  <a:pt x="238125" y="163264"/>
                  <a:pt x="224730" y="141238"/>
                  <a:pt x="204787" y="129108"/>
                </a:cubicBezTo>
                <a:close/>
              </a:path>
            </a:pathLst>
          </a:custGeom>
          <a:solidFill>
            <a:srgbClr val="D69E2E"/>
          </a:solidFill>
          <a:ln/>
        </p:spPr>
        <p:txBody>
          <a:bodyPr/>
          <a:lstStyle/>
          <a:p>
            <a:endParaRPr lang="zh-CN" altLang="en-US"/>
          </a:p>
        </p:txBody>
      </p:sp>
      <p:sp>
        <p:nvSpPr>
          <p:cNvPr id="50" name="Text 48"/>
          <p:cNvSpPr/>
          <p:nvPr/>
        </p:nvSpPr>
        <p:spPr>
          <a:xfrm>
            <a:off x="9945291" y="7280275"/>
            <a:ext cx="2540000" cy="355600"/>
          </a:xfrm>
          <a:prstGeom prst="rect">
            <a:avLst/>
          </a:prstGeom>
          <a:noFill/>
          <a:ln/>
        </p:spPr>
        <p:txBody>
          <a:bodyPr wrap="square" lIns="0" tIns="0" rIns="0" bIns="0" rtlCol="0" anchor="ctr"/>
          <a:lstStyle/>
          <a:p>
            <a:pPr algn="ctr">
              <a:lnSpc>
                <a:spcPct val="130000"/>
              </a:lnSpc>
            </a:pPr>
            <a:r>
              <a:rPr lang="en-US" sz="1800" b="1" dirty="0">
                <a:solidFill>
                  <a:srgbClr val="E2E8F0"/>
                </a:solidFill>
                <a:latin typeface="MiSans" pitchFamily="34" charset="0"/>
                <a:ea typeface="MiSans" pitchFamily="34" charset="-122"/>
                <a:cs typeface="MiSans" pitchFamily="34" charset="-120"/>
              </a:rPr>
              <a:t>连接优化</a:t>
            </a:r>
            <a:endParaRPr lang="en-US" sz="1600" dirty="0"/>
          </a:p>
        </p:txBody>
      </p:sp>
      <p:sp>
        <p:nvSpPr>
          <p:cNvPr id="51" name="Text 49"/>
          <p:cNvSpPr/>
          <p:nvPr/>
        </p:nvSpPr>
        <p:spPr>
          <a:xfrm>
            <a:off x="9957991" y="7737475"/>
            <a:ext cx="2514600" cy="508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选择最优的连接算法和顺序，</a:t>
            </a:r>
            <a:r>
              <a:rPr lang="en-US" sz="1400" dirty="0">
                <a:solidFill>
                  <a:srgbClr val="D69E2E"/>
                </a:solidFill>
                <a:latin typeface="MiSans" pitchFamily="34" charset="0"/>
                <a:ea typeface="MiSans" pitchFamily="34" charset="-122"/>
                <a:cs typeface="MiSans" pitchFamily="34" charset="-120"/>
              </a:rPr>
              <a:t>提高连接性能</a:t>
            </a:r>
            <a:endParaRPr lang="en-US" sz="1600" dirty="0"/>
          </a:p>
        </p:txBody>
      </p:sp>
      <p:sp>
        <p:nvSpPr>
          <p:cNvPr id="52" name="Shape 50"/>
          <p:cNvSpPr/>
          <p:nvPr/>
        </p:nvSpPr>
        <p:spPr>
          <a:xfrm>
            <a:off x="12875220" y="6581775"/>
            <a:ext cx="2857500" cy="1879600"/>
          </a:xfrm>
          <a:custGeom>
            <a:avLst/>
            <a:gdLst/>
            <a:ahLst/>
            <a:cxnLst/>
            <a:rect l="l" t="t" r="r" b="b"/>
            <a:pathLst>
              <a:path w="2857500" h="1879600">
                <a:moveTo>
                  <a:pt x="101592" y="0"/>
                </a:moveTo>
                <a:lnTo>
                  <a:pt x="2755908" y="0"/>
                </a:lnTo>
                <a:cubicBezTo>
                  <a:pt x="2812016" y="0"/>
                  <a:pt x="2857500" y="45484"/>
                  <a:pt x="2857500" y="101592"/>
                </a:cubicBezTo>
                <a:lnTo>
                  <a:pt x="2857500" y="1778008"/>
                </a:lnTo>
                <a:cubicBezTo>
                  <a:pt x="2857500" y="1834116"/>
                  <a:pt x="2812016" y="1879600"/>
                  <a:pt x="2755908" y="1879600"/>
                </a:cubicBezTo>
                <a:lnTo>
                  <a:pt x="101592" y="1879600"/>
                </a:lnTo>
                <a:cubicBezTo>
                  <a:pt x="45484" y="1879600"/>
                  <a:pt x="0" y="1834116"/>
                  <a:pt x="0" y="1778008"/>
                </a:cubicBezTo>
                <a:lnTo>
                  <a:pt x="0" y="101592"/>
                </a:lnTo>
                <a:cubicBezTo>
                  <a:pt x="0" y="45522"/>
                  <a:pt x="45522" y="0"/>
                  <a:pt x="101592" y="0"/>
                </a:cubicBezTo>
                <a:close/>
              </a:path>
            </a:pathLst>
          </a:custGeom>
          <a:solidFill>
            <a:srgbClr val="000000">
              <a:alpha val="0"/>
            </a:srgbClr>
          </a:solidFill>
          <a:ln w="25400">
            <a:solidFill>
              <a:srgbClr val="D69E2E"/>
            </a:solidFill>
            <a:prstDash val="solid"/>
          </a:ln>
        </p:spPr>
        <p:txBody>
          <a:bodyPr/>
          <a:lstStyle/>
          <a:p>
            <a:endParaRPr lang="zh-CN" altLang="en-US"/>
          </a:p>
        </p:txBody>
      </p:sp>
      <p:sp>
        <p:nvSpPr>
          <p:cNvPr id="53" name="Shape 51"/>
          <p:cNvSpPr/>
          <p:nvPr/>
        </p:nvSpPr>
        <p:spPr>
          <a:xfrm>
            <a:off x="14165461" y="6797675"/>
            <a:ext cx="285750" cy="381000"/>
          </a:xfrm>
          <a:custGeom>
            <a:avLst/>
            <a:gdLst/>
            <a:ahLst/>
            <a:cxnLst/>
            <a:rect l="l" t="t" r="r" b="b"/>
            <a:pathLst>
              <a:path w="285750" h="381000">
                <a:moveTo>
                  <a:pt x="47625" y="0"/>
                </a:moveTo>
                <a:cubicBezTo>
                  <a:pt x="21357" y="0"/>
                  <a:pt x="0" y="21357"/>
                  <a:pt x="0" y="47625"/>
                </a:cubicBezTo>
                <a:lnTo>
                  <a:pt x="0" y="333375"/>
                </a:lnTo>
                <a:cubicBezTo>
                  <a:pt x="0" y="359643"/>
                  <a:pt x="21357" y="381000"/>
                  <a:pt x="47625" y="381000"/>
                </a:cubicBezTo>
                <a:lnTo>
                  <a:pt x="238125" y="381000"/>
                </a:lnTo>
                <a:cubicBezTo>
                  <a:pt x="264393" y="381000"/>
                  <a:pt x="285750" y="359643"/>
                  <a:pt x="285750" y="333375"/>
                </a:cubicBezTo>
                <a:lnTo>
                  <a:pt x="285750" y="47625"/>
                </a:lnTo>
                <a:cubicBezTo>
                  <a:pt x="285750" y="21357"/>
                  <a:pt x="264393" y="0"/>
                  <a:pt x="238125" y="0"/>
                </a:cubicBezTo>
                <a:lnTo>
                  <a:pt x="47625" y="0"/>
                </a:lnTo>
                <a:close/>
                <a:moveTo>
                  <a:pt x="71438" y="47625"/>
                </a:moveTo>
                <a:lnTo>
                  <a:pt x="214313" y="47625"/>
                </a:lnTo>
                <a:cubicBezTo>
                  <a:pt x="227484" y="47625"/>
                  <a:pt x="238125" y="58266"/>
                  <a:pt x="238125" y="71438"/>
                </a:cubicBezTo>
                <a:lnTo>
                  <a:pt x="238125" y="95250"/>
                </a:lnTo>
                <a:cubicBezTo>
                  <a:pt x="238125" y="108421"/>
                  <a:pt x="227484" y="119063"/>
                  <a:pt x="214313" y="119063"/>
                </a:cubicBezTo>
                <a:lnTo>
                  <a:pt x="71438" y="119063"/>
                </a:lnTo>
                <a:cubicBezTo>
                  <a:pt x="58266" y="119063"/>
                  <a:pt x="47625" y="108421"/>
                  <a:pt x="47625" y="95250"/>
                </a:cubicBezTo>
                <a:lnTo>
                  <a:pt x="47625" y="71438"/>
                </a:lnTo>
                <a:cubicBezTo>
                  <a:pt x="47625" y="58266"/>
                  <a:pt x="58266" y="47625"/>
                  <a:pt x="71438" y="47625"/>
                </a:cubicBezTo>
                <a:close/>
                <a:moveTo>
                  <a:pt x="83344" y="172641"/>
                </a:moveTo>
                <a:cubicBezTo>
                  <a:pt x="83344" y="182497"/>
                  <a:pt x="75341" y="190500"/>
                  <a:pt x="65484" y="190500"/>
                </a:cubicBezTo>
                <a:cubicBezTo>
                  <a:pt x="55628" y="190500"/>
                  <a:pt x="47625" y="182497"/>
                  <a:pt x="47625" y="172641"/>
                </a:cubicBezTo>
                <a:cubicBezTo>
                  <a:pt x="47625" y="162784"/>
                  <a:pt x="55628" y="154781"/>
                  <a:pt x="65484" y="154781"/>
                </a:cubicBezTo>
                <a:cubicBezTo>
                  <a:pt x="75341" y="154781"/>
                  <a:pt x="83344" y="162784"/>
                  <a:pt x="83344" y="172641"/>
                </a:cubicBezTo>
                <a:close/>
                <a:moveTo>
                  <a:pt x="142875" y="190500"/>
                </a:moveTo>
                <a:cubicBezTo>
                  <a:pt x="133018" y="190500"/>
                  <a:pt x="125016" y="182497"/>
                  <a:pt x="125016" y="172641"/>
                </a:cubicBezTo>
                <a:cubicBezTo>
                  <a:pt x="125016" y="162784"/>
                  <a:pt x="133018" y="154781"/>
                  <a:pt x="142875" y="154781"/>
                </a:cubicBezTo>
                <a:cubicBezTo>
                  <a:pt x="152732" y="154781"/>
                  <a:pt x="160734" y="162784"/>
                  <a:pt x="160734" y="172641"/>
                </a:cubicBezTo>
                <a:cubicBezTo>
                  <a:pt x="160734" y="182497"/>
                  <a:pt x="152732" y="190500"/>
                  <a:pt x="142875" y="190500"/>
                </a:cubicBezTo>
                <a:close/>
                <a:moveTo>
                  <a:pt x="238125" y="172641"/>
                </a:moveTo>
                <a:cubicBezTo>
                  <a:pt x="238125" y="182497"/>
                  <a:pt x="230122" y="190500"/>
                  <a:pt x="220266" y="190500"/>
                </a:cubicBezTo>
                <a:cubicBezTo>
                  <a:pt x="210409" y="190500"/>
                  <a:pt x="202406" y="182497"/>
                  <a:pt x="202406" y="172641"/>
                </a:cubicBezTo>
                <a:cubicBezTo>
                  <a:pt x="202406" y="162784"/>
                  <a:pt x="210409" y="154781"/>
                  <a:pt x="220266" y="154781"/>
                </a:cubicBezTo>
                <a:cubicBezTo>
                  <a:pt x="230122" y="154781"/>
                  <a:pt x="238125" y="162784"/>
                  <a:pt x="238125" y="172641"/>
                </a:cubicBezTo>
                <a:close/>
                <a:moveTo>
                  <a:pt x="65484" y="261938"/>
                </a:moveTo>
                <a:cubicBezTo>
                  <a:pt x="55628" y="261938"/>
                  <a:pt x="47625" y="253935"/>
                  <a:pt x="47625" y="244078"/>
                </a:cubicBezTo>
                <a:cubicBezTo>
                  <a:pt x="47625" y="234221"/>
                  <a:pt x="55628" y="226219"/>
                  <a:pt x="65484" y="226219"/>
                </a:cubicBezTo>
                <a:cubicBezTo>
                  <a:pt x="75341" y="226219"/>
                  <a:pt x="83344" y="234221"/>
                  <a:pt x="83344" y="244078"/>
                </a:cubicBezTo>
                <a:cubicBezTo>
                  <a:pt x="83344" y="253935"/>
                  <a:pt x="75341" y="261938"/>
                  <a:pt x="65484" y="261938"/>
                </a:cubicBezTo>
                <a:close/>
                <a:moveTo>
                  <a:pt x="160734" y="244078"/>
                </a:moveTo>
                <a:cubicBezTo>
                  <a:pt x="160734" y="253935"/>
                  <a:pt x="152732" y="261938"/>
                  <a:pt x="142875" y="261938"/>
                </a:cubicBezTo>
                <a:cubicBezTo>
                  <a:pt x="133018" y="261938"/>
                  <a:pt x="125016" y="253935"/>
                  <a:pt x="125016" y="244078"/>
                </a:cubicBezTo>
                <a:cubicBezTo>
                  <a:pt x="125016" y="234221"/>
                  <a:pt x="133018" y="226219"/>
                  <a:pt x="142875" y="226219"/>
                </a:cubicBezTo>
                <a:cubicBezTo>
                  <a:pt x="152732" y="226219"/>
                  <a:pt x="160734" y="234221"/>
                  <a:pt x="160734" y="244078"/>
                </a:cubicBezTo>
                <a:close/>
                <a:moveTo>
                  <a:pt x="220266" y="261938"/>
                </a:moveTo>
                <a:cubicBezTo>
                  <a:pt x="210409" y="261938"/>
                  <a:pt x="202406" y="253935"/>
                  <a:pt x="202406" y="244078"/>
                </a:cubicBezTo>
                <a:cubicBezTo>
                  <a:pt x="202406" y="234221"/>
                  <a:pt x="210409" y="226219"/>
                  <a:pt x="220266" y="226219"/>
                </a:cubicBezTo>
                <a:cubicBezTo>
                  <a:pt x="230122" y="226219"/>
                  <a:pt x="238125" y="234221"/>
                  <a:pt x="238125" y="244078"/>
                </a:cubicBezTo>
                <a:cubicBezTo>
                  <a:pt x="238125" y="253935"/>
                  <a:pt x="230122" y="261938"/>
                  <a:pt x="220266" y="261938"/>
                </a:cubicBezTo>
                <a:close/>
                <a:moveTo>
                  <a:pt x="47625" y="315516"/>
                </a:moveTo>
                <a:cubicBezTo>
                  <a:pt x="47625" y="305619"/>
                  <a:pt x="55587" y="297656"/>
                  <a:pt x="65484" y="297656"/>
                </a:cubicBezTo>
                <a:lnTo>
                  <a:pt x="148828" y="297656"/>
                </a:lnTo>
                <a:cubicBezTo>
                  <a:pt x="158725" y="297656"/>
                  <a:pt x="166688" y="305619"/>
                  <a:pt x="166688" y="315516"/>
                </a:cubicBezTo>
                <a:cubicBezTo>
                  <a:pt x="166688" y="325413"/>
                  <a:pt x="158725" y="333375"/>
                  <a:pt x="148828" y="333375"/>
                </a:cubicBezTo>
                <a:lnTo>
                  <a:pt x="65484" y="333375"/>
                </a:lnTo>
                <a:cubicBezTo>
                  <a:pt x="55587" y="333375"/>
                  <a:pt x="47625" y="325413"/>
                  <a:pt x="47625" y="315516"/>
                </a:cubicBezTo>
                <a:close/>
                <a:moveTo>
                  <a:pt x="220266" y="297656"/>
                </a:moveTo>
                <a:cubicBezTo>
                  <a:pt x="230163" y="297656"/>
                  <a:pt x="238125" y="305619"/>
                  <a:pt x="238125" y="315516"/>
                </a:cubicBezTo>
                <a:cubicBezTo>
                  <a:pt x="238125" y="325413"/>
                  <a:pt x="230163" y="333375"/>
                  <a:pt x="220266" y="333375"/>
                </a:cubicBezTo>
                <a:cubicBezTo>
                  <a:pt x="210369" y="333375"/>
                  <a:pt x="202406" y="325413"/>
                  <a:pt x="202406" y="315516"/>
                </a:cubicBezTo>
                <a:cubicBezTo>
                  <a:pt x="202406" y="305619"/>
                  <a:pt x="210369" y="297656"/>
                  <a:pt x="220266" y="297656"/>
                </a:cubicBezTo>
                <a:close/>
              </a:path>
            </a:pathLst>
          </a:custGeom>
          <a:solidFill>
            <a:srgbClr val="D69E2E"/>
          </a:solidFill>
          <a:ln/>
        </p:spPr>
        <p:txBody>
          <a:bodyPr/>
          <a:lstStyle/>
          <a:p>
            <a:endParaRPr lang="zh-CN" altLang="en-US"/>
          </a:p>
        </p:txBody>
      </p:sp>
      <p:sp>
        <p:nvSpPr>
          <p:cNvPr id="54" name="Text 52"/>
          <p:cNvSpPr/>
          <p:nvPr/>
        </p:nvSpPr>
        <p:spPr>
          <a:xfrm>
            <a:off x="13033970" y="7280275"/>
            <a:ext cx="2540000" cy="355600"/>
          </a:xfrm>
          <a:prstGeom prst="rect">
            <a:avLst/>
          </a:prstGeom>
          <a:noFill/>
          <a:ln/>
        </p:spPr>
        <p:txBody>
          <a:bodyPr wrap="square" lIns="0" tIns="0" rIns="0" bIns="0" rtlCol="0" anchor="ctr"/>
          <a:lstStyle/>
          <a:p>
            <a:pPr algn="ctr">
              <a:lnSpc>
                <a:spcPct val="130000"/>
              </a:lnSpc>
            </a:pPr>
            <a:r>
              <a:rPr lang="en-US" sz="1800" b="1" dirty="0">
                <a:solidFill>
                  <a:srgbClr val="E2E8F0"/>
                </a:solidFill>
                <a:latin typeface="MiSans" pitchFamily="34" charset="0"/>
                <a:ea typeface="MiSans" pitchFamily="34" charset="-122"/>
                <a:cs typeface="MiSans" pitchFamily="34" charset="-120"/>
              </a:rPr>
              <a:t>聚合优化</a:t>
            </a:r>
            <a:endParaRPr lang="en-US" sz="1600" dirty="0"/>
          </a:p>
        </p:txBody>
      </p:sp>
      <p:sp>
        <p:nvSpPr>
          <p:cNvPr id="55" name="Text 53"/>
          <p:cNvSpPr/>
          <p:nvPr/>
        </p:nvSpPr>
        <p:spPr>
          <a:xfrm>
            <a:off x="13046670" y="7737475"/>
            <a:ext cx="2514600" cy="508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优化聚合操作，</a:t>
            </a:r>
            <a:r>
              <a:rPr lang="en-US" sz="1400" dirty="0">
                <a:solidFill>
                  <a:srgbClr val="D69E2E"/>
                </a:solidFill>
                <a:latin typeface="MiSans" pitchFamily="34" charset="0"/>
                <a:ea typeface="MiSans" pitchFamily="34" charset="-122"/>
                <a:cs typeface="MiSans" pitchFamily="34" charset="-120"/>
              </a:rPr>
              <a:t>减少中间结果数据量</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508000" y="508000"/>
            <a:ext cx="15544800" cy="609600"/>
          </a:xfrm>
          <a:prstGeom prst="rect">
            <a:avLst/>
          </a:prstGeom>
          <a:noFill/>
          <a:ln/>
        </p:spPr>
        <p:txBody>
          <a:bodyPr wrap="square" lIns="0" tIns="0" rIns="0" bIns="0" rtlCol="0" anchor="ctr"/>
          <a:lstStyle/>
          <a:p>
            <a:pPr>
              <a:lnSpc>
                <a:spcPct val="80000"/>
              </a:lnSpc>
            </a:pPr>
            <a:r>
              <a:rPr lang="en-US" sz="4800" b="1" dirty="0">
                <a:solidFill>
                  <a:srgbClr val="E2E8F0"/>
                </a:solidFill>
                <a:latin typeface="Noto Sans SC" pitchFamily="34" charset="0"/>
                <a:ea typeface="Noto Sans SC" pitchFamily="34" charset="-122"/>
                <a:cs typeface="Noto Sans SC" pitchFamily="34" charset="-120"/>
              </a:rPr>
              <a:t>核心组件：执行引擎(Execution Engine)</a:t>
            </a:r>
            <a:endParaRPr lang="en-US" sz="1600" dirty="0"/>
          </a:p>
        </p:txBody>
      </p:sp>
      <p:sp>
        <p:nvSpPr>
          <p:cNvPr id="3" name="Shape 1"/>
          <p:cNvSpPr/>
          <p:nvPr/>
        </p:nvSpPr>
        <p:spPr>
          <a:xfrm>
            <a:off x="508000" y="1270000"/>
            <a:ext cx="1422400" cy="50800"/>
          </a:xfrm>
          <a:custGeom>
            <a:avLst/>
            <a:gdLst/>
            <a:ahLst/>
            <a:cxnLst/>
            <a:rect l="l" t="t" r="r" b="b"/>
            <a:pathLst>
              <a:path w="1422400" h="50800">
                <a:moveTo>
                  <a:pt x="0" y="0"/>
                </a:moveTo>
                <a:lnTo>
                  <a:pt x="1422400" y="0"/>
                </a:lnTo>
                <a:lnTo>
                  <a:pt x="1422400" y="50800"/>
                </a:lnTo>
                <a:lnTo>
                  <a:pt x="0" y="50800"/>
                </a:lnTo>
                <a:lnTo>
                  <a:pt x="0" y="0"/>
                </a:lnTo>
                <a:close/>
              </a:path>
            </a:pathLst>
          </a:custGeom>
          <a:solidFill>
            <a:srgbClr val="D69E2E"/>
          </a:solidFill>
          <a:ln/>
        </p:spPr>
        <p:txBody>
          <a:bodyPr/>
          <a:lstStyle/>
          <a:p>
            <a:endParaRPr lang="zh-CN" altLang="en-US"/>
          </a:p>
        </p:txBody>
      </p:sp>
      <p:sp>
        <p:nvSpPr>
          <p:cNvPr id="4" name="Text 2"/>
          <p:cNvSpPr/>
          <p:nvPr/>
        </p:nvSpPr>
        <p:spPr>
          <a:xfrm>
            <a:off x="508000" y="1625600"/>
            <a:ext cx="15354300" cy="749300"/>
          </a:xfrm>
          <a:prstGeom prst="rect">
            <a:avLst/>
          </a:prstGeom>
          <a:noFill/>
          <a:ln/>
        </p:spPr>
        <p:txBody>
          <a:bodyPr wrap="square" lIns="0" tIns="0" rIns="0" bIns="0" rtlCol="0" anchor="ctr"/>
          <a:lstStyle/>
          <a:p>
            <a:pPr>
              <a:lnSpc>
                <a:spcPct val="140000"/>
              </a:lnSpc>
            </a:pPr>
            <a:r>
              <a:rPr lang="en-US" sz="1800" dirty="0">
                <a:solidFill>
                  <a:srgbClr val="A0AEC0"/>
                </a:solidFill>
                <a:latin typeface="MiSans" pitchFamily="34" charset="0"/>
                <a:ea typeface="MiSans" pitchFamily="34" charset="-122"/>
                <a:cs typeface="MiSans" pitchFamily="34" charset="-120"/>
              </a:rPr>
              <a:t>执行引擎(Execution Engine)是Hive架构中的执行层，</a:t>
            </a:r>
            <a:r>
              <a:rPr lang="en-US" sz="1800" b="1" dirty="0">
                <a:solidFill>
                  <a:srgbClr val="E2E8F0"/>
                </a:solidFill>
                <a:latin typeface="MiSans" pitchFamily="34" charset="0"/>
                <a:ea typeface="MiSans" pitchFamily="34" charset="-122"/>
                <a:cs typeface="MiSans" pitchFamily="34" charset="-120"/>
              </a:rPr>
              <a:t>负责将编译后的物理计划转换为实际的分布式计算任务</a:t>
            </a:r>
            <a:r>
              <a:rPr lang="en-US" sz="1800" dirty="0">
                <a:solidFill>
                  <a:srgbClr val="A0AEC0"/>
                </a:solidFill>
                <a:latin typeface="MiSans" pitchFamily="34" charset="0"/>
                <a:ea typeface="MiSans" pitchFamily="34" charset="-122"/>
                <a:cs typeface="MiSans" pitchFamily="34" charset="-120"/>
              </a:rPr>
              <a:t>。Hive支持多种执行引擎，每种引擎都有其特定的优势和适用场景。</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8000" y="2673350"/>
          <a:ext cx="15240000" cy="3086100"/>
        </p:xfrm>
        <a:graphic>
          <a:graphicData uri="http://schemas.openxmlformats.org/drawingml/2006/table">
            <a:tbl>
              <a:tblPr/>
              <a:tblGrid>
                <a:gridCol w="24003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3530600">
                  <a:extLst>
                    <a:ext uri="{9D8B030D-6E8A-4147-A177-3AD203B41FA5}">
                      <a16:colId xmlns:a16="http://schemas.microsoft.com/office/drawing/2014/main" val="20002"/>
                    </a:ext>
                  </a:extLst>
                </a:gridCol>
                <a:gridCol w="3479800">
                  <a:extLst>
                    <a:ext uri="{9D8B030D-6E8A-4147-A177-3AD203B41FA5}">
                      <a16:colId xmlns:a16="http://schemas.microsoft.com/office/drawing/2014/main" val="20003"/>
                    </a:ext>
                  </a:extLst>
                </a:gridCol>
                <a:gridCol w="3797300">
                  <a:extLst>
                    <a:ext uri="{9D8B030D-6E8A-4147-A177-3AD203B41FA5}">
                      <a16:colId xmlns:a16="http://schemas.microsoft.com/office/drawing/2014/main" val="20004"/>
                    </a:ext>
                  </a:extLst>
                </a:gridCol>
              </a:tblGrid>
              <a:tr h="617220">
                <a:tc>
                  <a:txBody>
                    <a:bodyPr/>
                    <a:lstStyle/>
                    <a:p>
                      <a:pPr algn="l"/>
                      <a:r>
                        <a:rPr lang="en-US" sz="1600" b="1" u="none" dirty="0">
                          <a:solidFill>
                            <a:srgbClr val="E2E8F0"/>
                          </a:solidFill>
                          <a:latin typeface="微软雅黑" pitchFamily="34" charset="0"/>
                          <a:ea typeface="微软雅黑" pitchFamily="34" charset="-122"/>
                          <a:cs typeface="微软雅黑" pitchFamily="34" charset="-120"/>
                        </a:rPr>
                        <a:t>执行引擎</a:t>
                      </a:r>
                      <a:endParaRPr lang="en-US" sz="1600" dirty="0">
                        <a:latin typeface="微软雅黑" charset="0"/>
                        <a:ea typeface="微软雅黑" charset="0"/>
                        <a:cs typeface="微软雅黑" charset="0"/>
                      </a:endParaRPr>
                    </a:p>
                  </a:txBody>
                  <a:tcPr anchor="ctr">
                    <a:lnL w="0" cap="flat" cmpd="sng" algn="ctr">
                      <a:noFill/>
                    </a:lnL>
                    <a:lnR w="12700" cap="flat" cmpd="sng" algn="ctr">
                      <a:solidFill>
                        <a:srgbClr val="1A202C"/>
                      </a:solidFill>
                      <a:prstDash val="solid"/>
                      <a:round/>
                      <a:headEnd type="none" w="med" len="med"/>
                      <a:tailEnd type="none" w="med" len="med"/>
                    </a:lnR>
                    <a:lnT w="0" cap="flat" cmpd="sng" algn="ctr">
                      <a:noFill/>
                    </a:lnT>
                    <a:lnB w="0" cap="flat" cmpd="sng" algn="ctr">
                      <a:noFill/>
                    </a:lnB>
                    <a:solidFill>
                      <a:srgbClr val="4A5568"/>
                    </a:solidFill>
                  </a:tcPr>
                </a:tc>
                <a:tc>
                  <a:txBody>
                    <a:bodyPr/>
                    <a:lstStyle/>
                    <a:p>
                      <a:pPr algn="l"/>
                      <a:r>
                        <a:rPr lang="en-US" sz="1600" b="1" u="none" dirty="0">
                          <a:solidFill>
                            <a:srgbClr val="E2E8F0"/>
                          </a:solidFill>
                          <a:latin typeface="微软雅黑" pitchFamily="34" charset="0"/>
                          <a:ea typeface="微软雅黑" pitchFamily="34" charset="-122"/>
                          <a:cs typeface="微软雅黑" pitchFamily="34" charset="-120"/>
                        </a:rPr>
                        <a:t>引入版本</a:t>
                      </a:r>
                      <a:endParaRPr lang="en-US" sz="1600" dirty="0">
                        <a:latin typeface="微软雅黑" charset="0"/>
                        <a:ea typeface="微软雅黑" charset="0"/>
                        <a:cs typeface="微软雅黑" charset="0"/>
                      </a:endParaRPr>
                    </a:p>
                  </a:txBody>
                  <a:tcPr anchor="ctr">
                    <a:lnL w="12700" cap="flat" cmpd="sng" algn="ctr">
                      <a:solidFill>
                        <a:srgbClr val="1A202C"/>
                      </a:solidFill>
                      <a:prstDash val="solid"/>
                      <a:round/>
                      <a:headEnd type="none" w="med" len="med"/>
                      <a:tailEnd type="none" w="med" len="med"/>
                    </a:lnL>
                    <a:lnR w="12700" cap="flat" cmpd="sng" algn="ctr">
                      <a:solidFill>
                        <a:srgbClr val="1A202C"/>
                      </a:solidFill>
                      <a:prstDash val="solid"/>
                      <a:round/>
                      <a:headEnd type="none" w="med" len="med"/>
                      <a:tailEnd type="none" w="med" len="med"/>
                    </a:lnR>
                    <a:lnT w="0" cap="flat" cmpd="sng" algn="ctr">
                      <a:noFill/>
                    </a:lnT>
                    <a:lnB w="0" cap="flat" cmpd="sng" algn="ctr">
                      <a:noFill/>
                    </a:lnB>
                    <a:solidFill>
                      <a:srgbClr val="4A5568"/>
                    </a:solidFill>
                  </a:tcPr>
                </a:tc>
                <a:tc>
                  <a:txBody>
                    <a:bodyPr/>
                    <a:lstStyle/>
                    <a:p>
                      <a:pPr algn="l"/>
                      <a:r>
                        <a:rPr lang="en-US" sz="1600" b="1" u="none" dirty="0">
                          <a:solidFill>
                            <a:srgbClr val="E2E8F0"/>
                          </a:solidFill>
                          <a:latin typeface="微软雅黑" pitchFamily="34" charset="0"/>
                          <a:ea typeface="微软雅黑" pitchFamily="34" charset="-122"/>
                          <a:cs typeface="微软雅黑" pitchFamily="34" charset="-120"/>
                        </a:rPr>
                        <a:t>核心特点</a:t>
                      </a:r>
                      <a:endParaRPr lang="en-US" sz="1600" dirty="0">
                        <a:latin typeface="微软雅黑" charset="0"/>
                        <a:ea typeface="微软雅黑" charset="0"/>
                        <a:cs typeface="微软雅黑" charset="0"/>
                      </a:endParaRPr>
                    </a:p>
                  </a:txBody>
                  <a:tcPr anchor="ctr">
                    <a:lnL w="12700" cap="flat" cmpd="sng" algn="ctr">
                      <a:solidFill>
                        <a:srgbClr val="1A202C"/>
                      </a:solidFill>
                      <a:prstDash val="solid"/>
                      <a:round/>
                      <a:headEnd type="none" w="med" len="med"/>
                      <a:tailEnd type="none" w="med" len="med"/>
                    </a:lnL>
                    <a:lnR w="12700" cap="flat" cmpd="sng" algn="ctr">
                      <a:solidFill>
                        <a:srgbClr val="1A202C"/>
                      </a:solidFill>
                      <a:prstDash val="solid"/>
                      <a:round/>
                      <a:headEnd type="none" w="med" len="med"/>
                      <a:tailEnd type="none" w="med" len="med"/>
                    </a:lnR>
                    <a:lnT w="0" cap="flat" cmpd="sng" algn="ctr">
                      <a:noFill/>
                    </a:lnT>
                    <a:lnB w="0" cap="flat" cmpd="sng" algn="ctr">
                      <a:noFill/>
                    </a:lnB>
                    <a:solidFill>
                      <a:srgbClr val="4A5568"/>
                    </a:solidFill>
                  </a:tcPr>
                </a:tc>
                <a:tc>
                  <a:txBody>
                    <a:bodyPr/>
                    <a:lstStyle/>
                    <a:p>
                      <a:pPr algn="l"/>
                      <a:r>
                        <a:rPr lang="en-US" sz="1600" b="1" u="none" dirty="0">
                          <a:solidFill>
                            <a:srgbClr val="E2E8F0"/>
                          </a:solidFill>
                          <a:latin typeface="微软雅黑" pitchFamily="34" charset="0"/>
                          <a:ea typeface="微软雅黑" pitchFamily="34" charset="-122"/>
                          <a:cs typeface="微软雅黑" pitchFamily="34" charset="-120"/>
                        </a:rPr>
                        <a:t>适用场景</a:t>
                      </a:r>
                      <a:endParaRPr lang="en-US" sz="1600" dirty="0">
                        <a:latin typeface="微软雅黑" charset="0"/>
                        <a:ea typeface="微软雅黑" charset="0"/>
                        <a:cs typeface="微软雅黑" charset="0"/>
                      </a:endParaRPr>
                    </a:p>
                  </a:txBody>
                  <a:tcPr anchor="ctr">
                    <a:lnL w="12700" cap="flat" cmpd="sng" algn="ctr">
                      <a:solidFill>
                        <a:srgbClr val="1A202C"/>
                      </a:solidFill>
                      <a:prstDash val="solid"/>
                      <a:round/>
                      <a:headEnd type="none" w="med" len="med"/>
                      <a:tailEnd type="none" w="med" len="med"/>
                    </a:lnL>
                    <a:lnR w="12700" cap="flat" cmpd="sng" algn="ctr">
                      <a:solidFill>
                        <a:srgbClr val="1A202C"/>
                      </a:solidFill>
                      <a:prstDash val="solid"/>
                      <a:round/>
                      <a:headEnd type="none" w="med" len="med"/>
                      <a:tailEnd type="none" w="med" len="med"/>
                    </a:lnR>
                    <a:lnT w="0" cap="flat" cmpd="sng" algn="ctr">
                      <a:noFill/>
                    </a:lnT>
                    <a:lnB w="0" cap="flat" cmpd="sng" algn="ctr">
                      <a:noFill/>
                    </a:lnB>
                    <a:solidFill>
                      <a:srgbClr val="4A5568"/>
                    </a:solidFill>
                  </a:tcPr>
                </a:tc>
                <a:tc>
                  <a:txBody>
                    <a:bodyPr/>
                    <a:lstStyle/>
                    <a:p>
                      <a:pPr algn="l"/>
                      <a:r>
                        <a:rPr lang="en-US" sz="1600" b="1" u="none" dirty="0">
                          <a:solidFill>
                            <a:srgbClr val="E2E8F0"/>
                          </a:solidFill>
                          <a:latin typeface="微软雅黑" pitchFamily="34" charset="0"/>
                          <a:ea typeface="微软雅黑" pitchFamily="34" charset="-122"/>
                          <a:cs typeface="微软雅黑" pitchFamily="34" charset="-120"/>
                        </a:rPr>
                        <a:t>性能特点</a:t>
                      </a:r>
                      <a:endParaRPr lang="en-US" sz="1600" dirty="0">
                        <a:latin typeface="微软雅黑" charset="0"/>
                        <a:ea typeface="微软雅黑" charset="0"/>
                        <a:cs typeface="微软雅黑" charset="0"/>
                      </a:endParaRPr>
                    </a:p>
                  </a:txBody>
                  <a:tcPr anchor="ctr">
                    <a:lnL w="12700" cap="flat" cmpd="sng" algn="ctr">
                      <a:solidFill>
                        <a:srgbClr val="1A202C"/>
                      </a:solidFill>
                      <a:prstDash val="solid"/>
                      <a:round/>
                      <a:headEnd type="none" w="med" len="med"/>
                      <a:tailEnd type="none" w="med" len="med"/>
                    </a:lnL>
                    <a:lnR w="0" cap="flat" cmpd="sng" algn="ctr">
                      <a:noFill/>
                    </a:lnR>
                    <a:lnT w="0" cap="flat" cmpd="sng" algn="ctr">
                      <a:noFill/>
                    </a:lnT>
                    <a:lnB w="0" cap="flat" cmpd="sng" algn="ctr">
                      <a:noFill/>
                    </a:lnB>
                    <a:solidFill>
                      <a:srgbClr val="4A5568"/>
                    </a:solidFill>
                  </a:tcPr>
                </a:tc>
                <a:extLst>
                  <a:ext uri="{0D108BD9-81ED-4DB2-BD59-A6C34878D82A}">
                    <a16:rowId xmlns:a16="http://schemas.microsoft.com/office/drawing/2014/main" val="10000"/>
                  </a:ext>
                </a:extLst>
              </a:tr>
              <a:tr h="617220">
                <a:tc>
                  <a:txBody>
                    <a:bodyPr/>
                    <a:lstStyle/>
                    <a:p>
                      <a:r>
                        <a:rPr lang="en-US" sz="1600" b="1" u="none" dirty="0">
                          <a:solidFill>
                            <a:srgbClr val="D69E2E"/>
                          </a:solidFill>
                          <a:latin typeface="微软雅黑" pitchFamily="34" charset="0"/>
                          <a:ea typeface="微软雅黑" pitchFamily="34" charset="-122"/>
                          <a:cs typeface="微软雅黑" pitchFamily="34" charset="-120"/>
                        </a:rPr>
                        <a:t>MapReduce</a:t>
                      </a:r>
                      <a:endParaRPr lang="en-US" sz="16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0" cap="flat" cmpd="sng" algn="ctr">
                      <a:noFill/>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Hive 0.x</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0" cap="flat" cmpd="sng" algn="ctr">
                      <a:noFill/>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A0AEC0"/>
                          </a:solidFill>
                          <a:latin typeface="微软雅黑" pitchFamily="34" charset="0"/>
                          <a:ea typeface="微软雅黑" pitchFamily="34" charset="-122"/>
                          <a:cs typeface="微软雅黑" pitchFamily="34" charset="-120"/>
                        </a:rPr>
                        <a:t>基于磁盘的批处理</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0" cap="flat" cmpd="sng" algn="ctr">
                      <a:noFill/>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A0AEC0"/>
                          </a:solidFill>
                          <a:latin typeface="微软雅黑" pitchFamily="34" charset="0"/>
                          <a:ea typeface="微软雅黑" pitchFamily="34" charset="-122"/>
                          <a:cs typeface="微软雅黑" pitchFamily="34" charset="-120"/>
                        </a:rPr>
                        <a:t>大规模批处理作业</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0" cap="flat" cmpd="sng" algn="ctr">
                      <a:noFill/>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A0AEC0"/>
                          </a:solidFill>
                          <a:latin typeface="微软雅黑" pitchFamily="34" charset="0"/>
                          <a:ea typeface="微软雅黑" pitchFamily="34" charset="-122"/>
                          <a:cs typeface="微软雅黑" pitchFamily="34" charset="-120"/>
                        </a:rPr>
                        <a:t>高可靠性，但延迟较高</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0" cap="flat" cmpd="sng" algn="ctr">
                      <a:noFill/>
                    </a:lnR>
                    <a:lnT w="0" cap="flat" cmpd="sng" algn="ctr">
                      <a:noFill/>
                    </a:lnT>
                    <a:lnB w="12700" cap="flat" cmpd="sng" algn="ctr">
                      <a:solidFill>
                        <a:srgbClr val="4A5568"/>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1"/>
                  </a:ext>
                </a:extLst>
              </a:tr>
              <a:tr h="617220">
                <a:tc>
                  <a:txBody>
                    <a:bodyPr/>
                    <a:lstStyle/>
                    <a:p>
                      <a:r>
                        <a:rPr lang="en-US" sz="1600" b="1" u="none" dirty="0">
                          <a:solidFill>
                            <a:srgbClr val="D69E2E"/>
                          </a:solidFill>
                          <a:latin typeface="微软雅黑" pitchFamily="34" charset="0"/>
                          <a:ea typeface="微软雅黑" pitchFamily="34" charset="-122"/>
                          <a:cs typeface="微软雅黑" pitchFamily="34" charset="-120"/>
                        </a:rPr>
                        <a:t>Tez</a:t>
                      </a:r>
                      <a:endParaRPr lang="en-US" sz="16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Hive 0.13</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A0AEC0"/>
                          </a:solidFill>
                          <a:latin typeface="微软雅黑" pitchFamily="34" charset="0"/>
                          <a:ea typeface="微软雅黑" pitchFamily="34" charset="-122"/>
                          <a:cs typeface="微软雅黑" pitchFamily="34" charset="-120"/>
                        </a:rPr>
                        <a:t>基于内存的DAG执行</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A0AEC0"/>
                          </a:solidFill>
                          <a:latin typeface="微软雅黑" pitchFamily="34" charset="0"/>
                          <a:ea typeface="微软雅黑" pitchFamily="34" charset="-122"/>
                          <a:cs typeface="微软雅黑" pitchFamily="34" charset="-120"/>
                        </a:rPr>
                        <a:t>交互式查询和批处理</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A0AEC0"/>
                          </a:solidFill>
                          <a:latin typeface="微软雅黑" pitchFamily="34" charset="0"/>
                          <a:ea typeface="微软雅黑" pitchFamily="34" charset="-122"/>
                          <a:cs typeface="微软雅黑" pitchFamily="34" charset="-120"/>
                        </a:rPr>
                        <a:t>比MapReduce快2-5倍</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0" cap="flat" cmpd="sng" algn="ctr">
                      <a:noFill/>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2"/>
                  </a:ext>
                </a:extLst>
              </a:tr>
              <a:tr h="617220">
                <a:tc>
                  <a:txBody>
                    <a:bodyPr/>
                    <a:lstStyle/>
                    <a:p>
                      <a:r>
                        <a:rPr lang="en-US" sz="1600" b="1" u="none" dirty="0">
                          <a:solidFill>
                            <a:srgbClr val="D69E2E"/>
                          </a:solidFill>
                          <a:latin typeface="微软雅黑" pitchFamily="34" charset="0"/>
                          <a:ea typeface="微软雅黑" pitchFamily="34" charset="-122"/>
                          <a:cs typeface="微软雅黑" pitchFamily="34" charset="-120"/>
                        </a:rPr>
                        <a:t>Spark</a:t>
                      </a:r>
                      <a:endParaRPr lang="en-US" sz="16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Hive 1.2</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A0AEC0"/>
                          </a:solidFill>
                          <a:latin typeface="微软雅黑" pitchFamily="34" charset="0"/>
                          <a:ea typeface="微软雅黑" pitchFamily="34" charset="-122"/>
                          <a:cs typeface="微软雅黑" pitchFamily="34" charset="-120"/>
                        </a:rPr>
                        <a:t>基于内存的迭代计算</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A0AEC0"/>
                          </a:solidFill>
                          <a:latin typeface="微软雅黑" pitchFamily="34" charset="0"/>
                          <a:ea typeface="微软雅黑" pitchFamily="34" charset="-122"/>
                          <a:cs typeface="微软雅黑" pitchFamily="34" charset="-120"/>
                        </a:rPr>
                        <a:t>机器学习、迭代算法</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600" u="none" dirty="0">
                          <a:solidFill>
                            <a:srgbClr val="A0AEC0"/>
                          </a:solidFill>
                          <a:latin typeface="微软雅黑" pitchFamily="34" charset="0"/>
                          <a:ea typeface="微软雅黑" pitchFamily="34" charset="-122"/>
                          <a:cs typeface="微软雅黑" pitchFamily="34" charset="-120"/>
                        </a:rPr>
                        <a:t>内存计算，性能优异</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0" cap="flat" cmpd="sng" algn="ctr">
                      <a:noFill/>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3"/>
                  </a:ext>
                </a:extLst>
              </a:tr>
              <a:tr h="617220">
                <a:tc>
                  <a:txBody>
                    <a:bodyPr/>
                    <a:lstStyle/>
                    <a:p>
                      <a:r>
                        <a:rPr lang="en-US" sz="1600" b="1" u="none" dirty="0">
                          <a:solidFill>
                            <a:srgbClr val="D69E2E"/>
                          </a:solidFill>
                          <a:latin typeface="微软雅黑" pitchFamily="34" charset="0"/>
                          <a:ea typeface="微软雅黑" pitchFamily="34" charset="-122"/>
                          <a:cs typeface="微软雅黑" pitchFamily="34" charset="-120"/>
                        </a:rPr>
                        <a:t>LLAP</a:t>
                      </a:r>
                      <a:endParaRPr lang="en-US" sz="16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0" cap="flat" cmpd="sng" algn="ctr">
                      <a:noFill/>
                    </a:lnB>
                    <a:solidFill>
                      <a:srgbClr val="FFFFFF">
                        <a:alpha val="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Hive 2.0</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0" cap="flat" cmpd="sng" algn="ctr">
                      <a:noFill/>
                    </a:lnB>
                    <a:solidFill>
                      <a:srgbClr val="FFFFFF">
                        <a:alpha val="0"/>
                      </a:srgbClr>
                    </a:solidFill>
                  </a:tcPr>
                </a:tc>
                <a:tc>
                  <a:txBody>
                    <a:bodyPr/>
                    <a:lstStyle/>
                    <a:p>
                      <a:r>
                        <a:rPr lang="en-US" sz="1600" u="none" dirty="0">
                          <a:solidFill>
                            <a:srgbClr val="A0AEC0"/>
                          </a:solidFill>
                          <a:latin typeface="微软雅黑" pitchFamily="34" charset="0"/>
                          <a:ea typeface="微软雅黑" pitchFamily="34" charset="-122"/>
                          <a:cs typeface="微软雅黑" pitchFamily="34" charset="-120"/>
                        </a:rPr>
                        <a:t>实时查询处理</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0" cap="flat" cmpd="sng" algn="ctr">
                      <a:noFill/>
                    </a:lnB>
                    <a:solidFill>
                      <a:srgbClr val="FFFFFF">
                        <a:alpha val="0"/>
                      </a:srgbClr>
                    </a:solidFill>
                  </a:tcPr>
                </a:tc>
                <a:tc>
                  <a:txBody>
                    <a:bodyPr/>
                    <a:lstStyle/>
                    <a:p>
                      <a:r>
                        <a:rPr lang="en-US" sz="1600" u="none" dirty="0">
                          <a:solidFill>
                            <a:srgbClr val="A0AEC0"/>
                          </a:solidFill>
                          <a:latin typeface="微软雅黑" pitchFamily="34" charset="0"/>
                          <a:ea typeface="微软雅黑" pitchFamily="34" charset="-122"/>
                          <a:cs typeface="微软雅黑" pitchFamily="34" charset="-120"/>
                        </a:rPr>
                        <a:t>交互式分析查询</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0" cap="flat" cmpd="sng" algn="ctr">
                      <a:noFill/>
                    </a:lnB>
                    <a:solidFill>
                      <a:srgbClr val="FFFFFF">
                        <a:alpha val="0"/>
                      </a:srgbClr>
                    </a:solidFill>
                  </a:tcPr>
                </a:tc>
                <a:tc>
                  <a:txBody>
                    <a:bodyPr/>
                    <a:lstStyle/>
                    <a:p>
                      <a:r>
                        <a:rPr lang="en-US" sz="1600" u="none" dirty="0">
                          <a:solidFill>
                            <a:srgbClr val="A0AEC0"/>
                          </a:solidFill>
                          <a:latin typeface="微软雅黑" pitchFamily="34" charset="0"/>
                          <a:ea typeface="微软雅黑" pitchFamily="34" charset="-122"/>
                          <a:cs typeface="微软雅黑" pitchFamily="34" charset="-120"/>
                        </a:rPr>
                        <a:t>亚秒级响应时间</a:t>
                      </a:r>
                      <a:endParaRPr lang="en-US" sz="16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0" cap="flat" cmpd="sng" algn="ctr">
                      <a:noFill/>
                    </a:lnR>
                    <a:lnT w="12700" cap="flat" cmpd="sng" algn="ctr">
                      <a:solidFill>
                        <a:srgbClr val="4A5568"/>
                      </a:solidFill>
                      <a:prstDash val="solid"/>
                      <a:round/>
                      <a:headEnd type="none" w="med" len="med"/>
                      <a:tailEnd type="none" w="med" len="med"/>
                    </a:lnT>
                    <a:lnB w="0" cap="flat" cmpd="sng" algn="ctr">
                      <a:noFill/>
                    </a:lnB>
                    <a:solidFill>
                      <a:srgbClr val="FFFFFF">
                        <a:alpha val="0"/>
                      </a:srgbClr>
                    </a:solidFill>
                  </a:tcPr>
                </a:tc>
                <a:extLst>
                  <a:ext uri="{0D108BD9-81ED-4DB2-BD59-A6C34878D82A}">
                    <a16:rowId xmlns:a16="http://schemas.microsoft.com/office/drawing/2014/main" val="10004"/>
                  </a:ext>
                </a:extLst>
              </a:tr>
            </a:tbl>
          </a:graphicData>
        </a:graphic>
      </p:graphicFrame>
      <p:sp>
        <p:nvSpPr>
          <p:cNvPr id="6" name="Text 3"/>
          <p:cNvSpPr/>
          <p:nvPr/>
        </p:nvSpPr>
        <p:spPr>
          <a:xfrm>
            <a:off x="508000" y="6064250"/>
            <a:ext cx="75946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Noto Sans SC" pitchFamily="34" charset="0"/>
                <a:ea typeface="Noto Sans SC" pitchFamily="34" charset="-122"/>
                <a:cs typeface="Noto Sans SC" pitchFamily="34" charset="-120"/>
              </a:rPr>
              <a:t>执行引擎选择策略</a:t>
            </a:r>
            <a:endParaRPr lang="en-US" sz="1600" dirty="0"/>
          </a:p>
        </p:txBody>
      </p:sp>
      <p:sp>
        <p:nvSpPr>
          <p:cNvPr id="7" name="Shape 4"/>
          <p:cNvSpPr/>
          <p:nvPr/>
        </p:nvSpPr>
        <p:spPr>
          <a:xfrm>
            <a:off x="533400" y="6680200"/>
            <a:ext cx="203200" cy="203200"/>
          </a:xfrm>
          <a:custGeom>
            <a:avLst/>
            <a:gdLst/>
            <a:ahLst/>
            <a:cxnLst/>
            <a:rect l="l" t="t" r="r" b="b"/>
            <a:pathLst>
              <a:path w="203200" h="203200">
                <a:moveTo>
                  <a:pt x="199469" y="110569"/>
                </a:moveTo>
                <a:cubicBezTo>
                  <a:pt x="204430" y="105608"/>
                  <a:pt x="204430" y="97552"/>
                  <a:pt x="199469" y="92591"/>
                </a:cubicBezTo>
                <a:lnTo>
                  <a:pt x="135969" y="29091"/>
                </a:lnTo>
                <a:cubicBezTo>
                  <a:pt x="131008" y="24130"/>
                  <a:pt x="122952" y="24130"/>
                  <a:pt x="117991" y="29091"/>
                </a:cubicBezTo>
                <a:cubicBezTo>
                  <a:pt x="113030" y="34052"/>
                  <a:pt x="113030" y="42108"/>
                  <a:pt x="117991" y="47069"/>
                </a:cubicBezTo>
                <a:lnTo>
                  <a:pt x="159822" y="88900"/>
                </a:lnTo>
                <a:lnTo>
                  <a:pt x="12700" y="88900"/>
                </a:lnTo>
                <a:cubicBezTo>
                  <a:pt x="5675" y="88900"/>
                  <a:pt x="0" y="94575"/>
                  <a:pt x="0" y="101600"/>
                </a:cubicBezTo>
                <a:cubicBezTo>
                  <a:pt x="0" y="108625"/>
                  <a:pt x="5675" y="114300"/>
                  <a:pt x="12700" y="114300"/>
                </a:cubicBezTo>
                <a:lnTo>
                  <a:pt x="159822" y="114300"/>
                </a:lnTo>
                <a:lnTo>
                  <a:pt x="117991" y="156131"/>
                </a:lnTo>
                <a:cubicBezTo>
                  <a:pt x="113030" y="161092"/>
                  <a:pt x="113030" y="169148"/>
                  <a:pt x="117991" y="174109"/>
                </a:cubicBezTo>
                <a:cubicBezTo>
                  <a:pt x="122952" y="179070"/>
                  <a:pt x="131008" y="179070"/>
                  <a:pt x="135969" y="174109"/>
                </a:cubicBezTo>
                <a:lnTo>
                  <a:pt x="199469" y="110609"/>
                </a:lnTo>
                <a:close/>
              </a:path>
            </a:pathLst>
          </a:custGeom>
          <a:solidFill>
            <a:srgbClr val="D69E2E"/>
          </a:solidFill>
          <a:ln/>
        </p:spPr>
        <p:txBody>
          <a:bodyPr/>
          <a:lstStyle/>
          <a:p>
            <a:endParaRPr lang="zh-CN" altLang="en-US"/>
          </a:p>
        </p:txBody>
      </p:sp>
      <p:sp>
        <p:nvSpPr>
          <p:cNvPr id="8" name="Text 5"/>
          <p:cNvSpPr/>
          <p:nvPr/>
        </p:nvSpPr>
        <p:spPr>
          <a:xfrm>
            <a:off x="863600" y="6623050"/>
            <a:ext cx="7213600" cy="304800"/>
          </a:xfrm>
          <a:prstGeom prst="rect">
            <a:avLst/>
          </a:prstGeom>
          <a:noFill/>
          <a:ln/>
        </p:spPr>
        <p:txBody>
          <a:bodyPr wrap="square" lIns="0" tIns="0" rIns="0" bIns="0" rtlCol="0" anchor="ctr"/>
          <a:lstStyle/>
          <a:p>
            <a:pPr>
              <a:lnSpc>
                <a:spcPct val="130000"/>
              </a:lnSpc>
            </a:pPr>
            <a:r>
              <a:rPr lang="en-US" sz="1600" b="1" dirty="0">
                <a:solidFill>
                  <a:srgbClr val="E2E8F0"/>
                </a:solidFill>
                <a:latin typeface="MiSans" pitchFamily="34" charset="0"/>
                <a:ea typeface="MiSans" pitchFamily="34" charset="-122"/>
                <a:cs typeface="MiSans" pitchFamily="34" charset="-120"/>
              </a:rPr>
              <a:t>简单查询：</a:t>
            </a:r>
            <a:r>
              <a:rPr lang="en-US" sz="1600" dirty="0">
                <a:solidFill>
                  <a:srgbClr val="A0AEC0"/>
                </a:solidFill>
                <a:latin typeface="MiSans" pitchFamily="34" charset="0"/>
                <a:ea typeface="MiSans" pitchFamily="34" charset="-122"/>
                <a:cs typeface="MiSans" pitchFamily="34" charset="-120"/>
              </a:rPr>
              <a:t>MapReduce或Tez，资源消耗较低</a:t>
            </a:r>
            <a:endParaRPr lang="en-US" sz="1600" dirty="0"/>
          </a:p>
        </p:txBody>
      </p:sp>
      <p:sp>
        <p:nvSpPr>
          <p:cNvPr id="9" name="Shape 6"/>
          <p:cNvSpPr/>
          <p:nvPr/>
        </p:nvSpPr>
        <p:spPr>
          <a:xfrm>
            <a:off x="533400" y="7137400"/>
            <a:ext cx="203200" cy="203200"/>
          </a:xfrm>
          <a:custGeom>
            <a:avLst/>
            <a:gdLst/>
            <a:ahLst/>
            <a:cxnLst/>
            <a:rect l="l" t="t" r="r" b="b"/>
            <a:pathLst>
              <a:path w="203200" h="203200">
                <a:moveTo>
                  <a:pt x="199469" y="110569"/>
                </a:moveTo>
                <a:cubicBezTo>
                  <a:pt x="204430" y="105608"/>
                  <a:pt x="204430" y="97552"/>
                  <a:pt x="199469" y="92591"/>
                </a:cubicBezTo>
                <a:lnTo>
                  <a:pt x="135969" y="29091"/>
                </a:lnTo>
                <a:cubicBezTo>
                  <a:pt x="131008" y="24130"/>
                  <a:pt x="122952" y="24130"/>
                  <a:pt x="117991" y="29091"/>
                </a:cubicBezTo>
                <a:cubicBezTo>
                  <a:pt x="113030" y="34052"/>
                  <a:pt x="113030" y="42108"/>
                  <a:pt x="117991" y="47069"/>
                </a:cubicBezTo>
                <a:lnTo>
                  <a:pt x="159822" y="88900"/>
                </a:lnTo>
                <a:lnTo>
                  <a:pt x="12700" y="88900"/>
                </a:lnTo>
                <a:cubicBezTo>
                  <a:pt x="5675" y="88900"/>
                  <a:pt x="0" y="94575"/>
                  <a:pt x="0" y="101600"/>
                </a:cubicBezTo>
                <a:cubicBezTo>
                  <a:pt x="0" y="108625"/>
                  <a:pt x="5675" y="114300"/>
                  <a:pt x="12700" y="114300"/>
                </a:cubicBezTo>
                <a:lnTo>
                  <a:pt x="159822" y="114300"/>
                </a:lnTo>
                <a:lnTo>
                  <a:pt x="117991" y="156131"/>
                </a:lnTo>
                <a:cubicBezTo>
                  <a:pt x="113030" y="161092"/>
                  <a:pt x="113030" y="169148"/>
                  <a:pt x="117991" y="174109"/>
                </a:cubicBezTo>
                <a:cubicBezTo>
                  <a:pt x="122952" y="179070"/>
                  <a:pt x="131008" y="179070"/>
                  <a:pt x="135969" y="174109"/>
                </a:cubicBezTo>
                <a:lnTo>
                  <a:pt x="199469" y="110609"/>
                </a:lnTo>
                <a:close/>
              </a:path>
            </a:pathLst>
          </a:custGeom>
          <a:solidFill>
            <a:srgbClr val="D69E2E"/>
          </a:solidFill>
          <a:ln/>
        </p:spPr>
        <p:txBody>
          <a:bodyPr/>
          <a:lstStyle/>
          <a:p>
            <a:endParaRPr lang="zh-CN" altLang="en-US"/>
          </a:p>
        </p:txBody>
      </p:sp>
      <p:sp>
        <p:nvSpPr>
          <p:cNvPr id="10" name="Text 7"/>
          <p:cNvSpPr/>
          <p:nvPr/>
        </p:nvSpPr>
        <p:spPr>
          <a:xfrm>
            <a:off x="863600" y="7080250"/>
            <a:ext cx="7213600" cy="304800"/>
          </a:xfrm>
          <a:prstGeom prst="rect">
            <a:avLst/>
          </a:prstGeom>
          <a:noFill/>
          <a:ln/>
        </p:spPr>
        <p:txBody>
          <a:bodyPr wrap="square" lIns="0" tIns="0" rIns="0" bIns="0" rtlCol="0" anchor="ctr"/>
          <a:lstStyle/>
          <a:p>
            <a:pPr>
              <a:lnSpc>
                <a:spcPct val="130000"/>
              </a:lnSpc>
            </a:pPr>
            <a:r>
              <a:rPr lang="en-US" sz="1600" b="1" dirty="0">
                <a:solidFill>
                  <a:srgbClr val="E2E8F0"/>
                </a:solidFill>
                <a:latin typeface="MiSans" pitchFamily="34" charset="0"/>
                <a:ea typeface="MiSans" pitchFamily="34" charset="-122"/>
                <a:cs typeface="MiSans" pitchFamily="34" charset="-120"/>
              </a:rPr>
              <a:t>复杂查询：</a:t>
            </a:r>
            <a:r>
              <a:rPr lang="en-US" sz="1600" dirty="0">
                <a:solidFill>
                  <a:srgbClr val="A0AEC0"/>
                </a:solidFill>
                <a:latin typeface="MiSans" pitchFamily="34" charset="0"/>
                <a:ea typeface="MiSans" pitchFamily="34" charset="-122"/>
                <a:cs typeface="MiSans" pitchFamily="34" charset="-120"/>
              </a:rPr>
              <a:t>Tez或Spark，利用DAG优化减少中间数据落地</a:t>
            </a:r>
            <a:endParaRPr lang="en-US" sz="1600" dirty="0"/>
          </a:p>
        </p:txBody>
      </p:sp>
      <p:sp>
        <p:nvSpPr>
          <p:cNvPr id="11" name="Shape 8"/>
          <p:cNvSpPr/>
          <p:nvPr/>
        </p:nvSpPr>
        <p:spPr>
          <a:xfrm>
            <a:off x="533400" y="7594600"/>
            <a:ext cx="203200" cy="203200"/>
          </a:xfrm>
          <a:custGeom>
            <a:avLst/>
            <a:gdLst/>
            <a:ahLst/>
            <a:cxnLst/>
            <a:rect l="l" t="t" r="r" b="b"/>
            <a:pathLst>
              <a:path w="203200" h="203200">
                <a:moveTo>
                  <a:pt x="199469" y="110569"/>
                </a:moveTo>
                <a:cubicBezTo>
                  <a:pt x="204430" y="105608"/>
                  <a:pt x="204430" y="97552"/>
                  <a:pt x="199469" y="92591"/>
                </a:cubicBezTo>
                <a:lnTo>
                  <a:pt x="135969" y="29091"/>
                </a:lnTo>
                <a:cubicBezTo>
                  <a:pt x="131008" y="24130"/>
                  <a:pt x="122952" y="24130"/>
                  <a:pt x="117991" y="29091"/>
                </a:cubicBezTo>
                <a:cubicBezTo>
                  <a:pt x="113030" y="34052"/>
                  <a:pt x="113030" y="42108"/>
                  <a:pt x="117991" y="47069"/>
                </a:cubicBezTo>
                <a:lnTo>
                  <a:pt x="159822" y="88900"/>
                </a:lnTo>
                <a:lnTo>
                  <a:pt x="12700" y="88900"/>
                </a:lnTo>
                <a:cubicBezTo>
                  <a:pt x="5675" y="88900"/>
                  <a:pt x="0" y="94575"/>
                  <a:pt x="0" y="101600"/>
                </a:cubicBezTo>
                <a:cubicBezTo>
                  <a:pt x="0" y="108625"/>
                  <a:pt x="5675" y="114300"/>
                  <a:pt x="12700" y="114300"/>
                </a:cubicBezTo>
                <a:lnTo>
                  <a:pt x="159822" y="114300"/>
                </a:lnTo>
                <a:lnTo>
                  <a:pt x="117991" y="156131"/>
                </a:lnTo>
                <a:cubicBezTo>
                  <a:pt x="113030" y="161092"/>
                  <a:pt x="113030" y="169148"/>
                  <a:pt x="117991" y="174109"/>
                </a:cubicBezTo>
                <a:cubicBezTo>
                  <a:pt x="122952" y="179070"/>
                  <a:pt x="131008" y="179070"/>
                  <a:pt x="135969" y="174109"/>
                </a:cubicBezTo>
                <a:lnTo>
                  <a:pt x="199469" y="110609"/>
                </a:lnTo>
                <a:close/>
              </a:path>
            </a:pathLst>
          </a:custGeom>
          <a:solidFill>
            <a:srgbClr val="D69E2E"/>
          </a:solidFill>
          <a:ln/>
        </p:spPr>
        <p:txBody>
          <a:bodyPr/>
          <a:lstStyle/>
          <a:p>
            <a:endParaRPr lang="zh-CN" altLang="en-US"/>
          </a:p>
        </p:txBody>
      </p:sp>
      <p:sp>
        <p:nvSpPr>
          <p:cNvPr id="12" name="Text 9"/>
          <p:cNvSpPr/>
          <p:nvPr/>
        </p:nvSpPr>
        <p:spPr>
          <a:xfrm>
            <a:off x="863600" y="7537450"/>
            <a:ext cx="7213600" cy="304800"/>
          </a:xfrm>
          <a:prstGeom prst="rect">
            <a:avLst/>
          </a:prstGeom>
          <a:noFill/>
          <a:ln/>
        </p:spPr>
        <p:txBody>
          <a:bodyPr wrap="square" lIns="0" tIns="0" rIns="0" bIns="0" rtlCol="0" anchor="ctr"/>
          <a:lstStyle/>
          <a:p>
            <a:pPr>
              <a:lnSpc>
                <a:spcPct val="130000"/>
              </a:lnSpc>
            </a:pPr>
            <a:r>
              <a:rPr lang="en-US" sz="1600" b="1" dirty="0">
                <a:solidFill>
                  <a:srgbClr val="E2E8F0"/>
                </a:solidFill>
                <a:latin typeface="MiSans" pitchFamily="34" charset="0"/>
                <a:ea typeface="MiSans" pitchFamily="34" charset="-122"/>
                <a:cs typeface="MiSans" pitchFamily="34" charset="-120"/>
              </a:rPr>
              <a:t>交互式查询：</a:t>
            </a:r>
            <a:r>
              <a:rPr lang="en-US" sz="1600" dirty="0">
                <a:solidFill>
                  <a:srgbClr val="A0AEC0"/>
                </a:solidFill>
                <a:latin typeface="MiSans" pitchFamily="34" charset="0"/>
                <a:ea typeface="MiSans" pitchFamily="34" charset="-122"/>
                <a:cs typeface="MiSans" pitchFamily="34" charset="-120"/>
              </a:rPr>
              <a:t>LLAP，提供近实时查询响应</a:t>
            </a:r>
            <a:endParaRPr lang="en-US" sz="1600" dirty="0"/>
          </a:p>
        </p:txBody>
      </p:sp>
      <p:sp>
        <p:nvSpPr>
          <p:cNvPr id="13" name="Shape 10"/>
          <p:cNvSpPr/>
          <p:nvPr/>
        </p:nvSpPr>
        <p:spPr>
          <a:xfrm>
            <a:off x="533400" y="8051800"/>
            <a:ext cx="203200" cy="203200"/>
          </a:xfrm>
          <a:custGeom>
            <a:avLst/>
            <a:gdLst/>
            <a:ahLst/>
            <a:cxnLst/>
            <a:rect l="l" t="t" r="r" b="b"/>
            <a:pathLst>
              <a:path w="203200" h="203200">
                <a:moveTo>
                  <a:pt x="199469" y="110569"/>
                </a:moveTo>
                <a:cubicBezTo>
                  <a:pt x="204430" y="105608"/>
                  <a:pt x="204430" y="97552"/>
                  <a:pt x="199469" y="92591"/>
                </a:cubicBezTo>
                <a:lnTo>
                  <a:pt x="135969" y="29091"/>
                </a:lnTo>
                <a:cubicBezTo>
                  <a:pt x="131008" y="24130"/>
                  <a:pt x="122952" y="24130"/>
                  <a:pt x="117991" y="29091"/>
                </a:cubicBezTo>
                <a:cubicBezTo>
                  <a:pt x="113030" y="34052"/>
                  <a:pt x="113030" y="42108"/>
                  <a:pt x="117991" y="47069"/>
                </a:cubicBezTo>
                <a:lnTo>
                  <a:pt x="159822" y="88900"/>
                </a:lnTo>
                <a:lnTo>
                  <a:pt x="12700" y="88900"/>
                </a:lnTo>
                <a:cubicBezTo>
                  <a:pt x="5675" y="88900"/>
                  <a:pt x="0" y="94575"/>
                  <a:pt x="0" y="101600"/>
                </a:cubicBezTo>
                <a:cubicBezTo>
                  <a:pt x="0" y="108625"/>
                  <a:pt x="5675" y="114300"/>
                  <a:pt x="12700" y="114300"/>
                </a:cubicBezTo>
                <a:lnTo>
                  <a:pt x="159822" y="114300"/>
                </a:lnTo>
                <a:lnTo>
                  <a:pt x="117991" y="156131"/>
                </a:lnTo>
                <a:cubicBezTo>
                  <a:pt x="113030" y="161092"/>
                  <a:pt x="113030" y="169148"/>
                  <a:pt x="117991" y="174109"/>
                </a:cubicBezTo>
                <a:cubicBezTo>
                  <a:pt x="122952" y="179070"/>
                  <a:pt x="131008" y="179070"/>
                  <a:pt x="135969" y="174109"/>
                </a:cubicBezTo>
                <a:lnTo>
                  <a:pt x="199469" y="110609"/>
                </a:lnTo>
                <a:close/>
              </a:path>
            </a:pathLst>
          </a:custGeom>
          <a:solidFill>
            <a:srgbClr val="D69E2E"/>
          </a:solidFill>
          <a:ln/>
        </p:spPr>
        <p:txBody>
          <a:bodyPr/>
          <a:lstStyle/>
          <a:p>
            <a:endParaRPr lang="zh-CN" altLang="en-US"/>
          </a:p>
        </p:txBody>
      </p:sp>
      <p:sp>
        <p:nvSpPr>
          <p:cNvPr id="14" name="Text 11"/>
          <p:cNvSpPr/>
          <p:nvPr/>
        </p:nvSpPr>
        <p:spPr>
          <a:xfrm>
            <a:off x="863600" y="7994650"/>
            <a:ext cx="7213600" cy="304800"/>
          </a:xfrm>
          <a:prstGeom prst="rect">
            <a:avLst/>
          </a:prstGeom>
          <a:noFill/>
          <a:ln/>
        </p:spPr>
        <p:txBody>
          <a:bodyPr wrap="square" lIns="0" tIns="0" rIns="0" bIns="0" rtlCol="0" anchor="ctr"/>
          <a:lstStyle/>
          <a:p>
            <a:pPr>
              <a:lnSpc>
                <a:spcPct val="130000"/>
              </a:lnSpc>
            </a:pPr>
            <a:r>
              <a:rPr lang="en-US" sz="1600" b="1" dirty="0">
                <a:solidFill>
                  <a:srgbClr val="E2E8F0"/>
                </a:solidFill>
                <a:latin typeface="MiSans" pitchFamily="34" charset="0"/>
                <a:ea typeface="MiSans" pitchFamily="34" charset="-122"/>
                <a:cs typeface="MiSans" pitchFamily="34" charset="-120"/>
              </a:rPr>
              <a:t>机器学习：</a:t>
            </a:r>
            <a:r>
              <a:rPr lang="en-US" sz="1600" dirty="0">
                <a:solidFill>
                  <a:srgbClr val="A0AEC0"/>
                </a:solidFill>
                <a:latin typeface="MiSans" pitchFamily="34" charset="0"/>
                <a:ea typeface="MiSans" pitchFamily="34" charset="-122"/>
                <a:cs typeface="MiSans" pitchFamily="34" charset="-120"/>
              </a:rPr>
              <a:t>Spark，支持迭代计算和高级数据分析</a:t>
            </a:r>
            <a:endParaRPr lang="en-US" sz="1600" dirty="0"/>
          </a:p>
        </p:txBody>
      </p:sp>
      <p:sp>
        <p:nvSpPr>
          <p:cNvPr id="5" name="Text 12"/>
          <p:cNvSpPr/>
          <p:nvPr/>
        </p:nvSpPr>
        <p:spPr>
          <a:xfrm>
            <a:off x="8280400" y="6064250"/>
            <a:ext cx="75946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Noto Sans SC" pitchFamily="34" charset="0"/>
                <a:ea typeface="Noto Sans SC" pitchFamily="34" charset="-122"/>
                <a:cs typeface="Noto Sans SC" pitchFamily="34" charset="-120"/>
              </a:rPr>
              <a:t>性能优化特性</a:t>
            </a:r>
            <a:endParaRPr lang="en-US" sz="1600" dirty="0"/>
          </a:p>
        </p:txBody>
      </p:sp>
      <p:sp>
        <p:nvSpPr>
          <p:cNvPr id="16" name="Shape 13"/>
          <p:cNvSpPr/>
          <p:nvPr/>
        </p:nvSpPr>
        <p:spPr>
          <a:xfrm>
            <a:off x="8305800" y="6680200"/>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D69E2E"/>
          </a:solidFill>
          <a:ln/>
        </p:spPr>
        <p:txBody>
          <a:bodyPr/>
          <a:lstStyle/>
          <a:p>
            <a:endParaRPr lang="zh-CN" altLang="en-US"/>
          </a:p>
        </p:txBody>
      </p:sp>
      <p:sp>
        <p:nvSpPr>
          <p:cNvPr id="17" name="Text 14"/>
          <p:cNvSpPr/>
          <p:nvPr/>
        </p:nvSpPr>
        <p:spPr>
          <a:xfrm>
            <a:off x="8636000" y="6623050"/>
            <a:ext cx="7213600" cy="304800"/>
          </a:xfrm>
          <a:prstGeom prst="rect">
            <a:avLst/>
          </a:prstGeom>
          <a:noFill/>
          <a:ln/>
        </p:spPr>
        <p:txBody>
          <a:bodyPr wrap="square" lIns="0" tIns="0" rIns="0" bIns="0" rtlCol="0" anchor="ctr"/>
          <a:lstStyle/>
          <a:p>
            <a:pPr>
              <a:lnSpc>
                <a:spcPct val="130000"/>
              </a:lnSpc>
            </a:pPr>
            <a:r>
              <a:rPr lang="en-US" sz="1600" b="1" dirty="0">
                <a:solidFill>
                  <a:srgbClr val="E2E8F0"/>
                </a:solidFill>
                <a:latin typeface="MiSans" pitchFamily="34" charset="0"/>
                <a:ea typeface="MiSans" pitchFamily="34" charset="-122"/>
                <a:cs typeface="MiSans" pitchFamily="34" charset="-120"/>
              </a:rPr>
              <a:t>数据本地化优化：</a:t>
            </a:r>
            <a:r>
              <a:rPr lang="en-US" sz="1600" dirty="0">
                <a:solidFill>
                  <a:srgbClr val="A0AEC0"/>
                </a:solidFill>
                <a:latin typeface="MiSans" pitchFamily="34" charset="0"/>
                <a:ea typeface="MiSans" pitchFamily="34" charset="-122"/>
                <a:cs typeface="MiSans" pitchFamily="34" charset="-120"/>
              </a:rPr>
              <a:t>优先将任务调度到数据所在节点</a:t>
            </a:r>
            <a:endParaRPr lang="en-US" sz="1600" dirty="0"/>
          </a:p>
        </p:txBody>
      </p:sp>
      <p:sp>
        <p:nvSpPr>
          <p:cNvPr id="18" name="Shape 15"/>
          <p:cNvSpPr/>
          <p:nvPr/>
        </p:nvSpPr>
        <p:spPr>
          <a:xfrm>
            <a:off x="8305800" y="7137400"/>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D69E2E"/>
          </a:solidFill>
          <a:ln/>
        </p:spPr>
        <p:txBody>
          <a:bodyPr/>
          <a:lstStyle/>
          <a:p>
            <a:endParaRPr lang="zh-CN" altLang="en-US"/>
          </a:p>
        </p:txBody>
      </p:sp>
      <p:sp>
        <p:nvSpPr>
          <p:cNvPr id="19" name="Text 16"/>
          <p:cNvSpPr/>
          <p:nvPr/>
        </p:nvSpPr>
        <p:spPr>
          <a:xfrm>
            <a:off x="8636000" y="7080250"/>
            <a:ext cx="7213600" cy="304800"/>
          </a:xfrm>
          <a:prstGeom prst="rect">
            <a:avLst/>
          </a:prstGeom>
          <a:noFill/>
          <a:ln/>
        </p:spPr>
        <p:txBody>
          <a:bodyPr wrap="square" lIns="0" tIns="0" rIns="0" bIns="0" rtlCol="0" anchor="ctr"/>
          <a:lstStyle/>
          <a:p>
            <a:pPr>
              <a:lnSpc>
                <a:spcPct val="130000"/>
              </a:lnSpc>
            </a:pPr>
            <a:r>
              <a:rPr lang="en-US" sz="1600" b="1" dirty="0">
                <a:solidFill>
                  <a:srgbClr val="E2E8F0"/>
                </a:solidFill>
                <a:latin typeface="MiSans" pitchFamily="34" charset="0"/>
                <a:ea typeface="MiSans" pitchFamily="34" charset="-122"/>
                <a:cs typeface="MiSans" pitchFamily="34" charset="-120"/>
              </a:rPr>
              <a:t>并行度优化：</a:t>
            </a:r>
            <a:r>
              <a:rPr lang="en-US" sz="1600" dirty="0">
                <a:solidFill>
                  <a:srgbClr val="A0AEC0"/>
                </a:solidFill>
                <a:latin typeface="MiSans" pitchFamily="34" charset="0"/>
                <a:ea typeface="MiSans" pitchFamily="34" charset="-122"/>
                <a:cs typeface="MiSans" pitchFamily="34" charset="-120"/>
              </a:rPr>
              <a:t>根据数据规模和集群资源动态调整并行度</a:t>
            </a:r>
            <a:endParaRPr lang="en-US" sz="1600" dirty="0"/>
          </a:p>
        </p:txBody>
      </p:sp>
      <p:sp>
        <p:nvSpPr>
          <p:cNvPr id="20" name="Shape 17"/>
          <p:cNvSpPr/>
          <p:nvPr/>
        </p:nvSpPr>
        <p:spPr>
          <a:xfrm>
            <a:off x="8305800" y="7594600"/>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D69E2E"/>
          </a:solidFill>
          <a:ln/>
        </p:spPr>
        <p:txBody>
          <a:bodyPr/>
          <a:lstStyle/>
          <a:p>
            <a:endParaRPr lang="zh-CN" altLang="en-US"/>
          </a:p>
        </p:txBody>
      </p:sp>
      <p:sp>
        <p:nvSpPr>
          <p:cNvPr id="21" name="Text 18"/>
          <p:cNvSpPr/>
          <p:nvPr/>
        </p:nvSpPr>
        <p:spPr>
          <a:xfrm>
            <a:off x="8636000" y="7537450"/>
            <a:ext cx="7213600" cy="304800"/>
          </a:xfrm>
          <a:prstGeom prst="rect">
            <a:avLst/>
          </a:prstGeom>
          <a:noFill/>
          <a:ln/>
        </p:spPr>
        <p:txBody>
          <a:bodyPr wrap="square" lIns="0" tIns="0" rIns="0" bIns="0" rtlCol="0" anchor="ctr"/>
          <a:lstStyle/>
          <a:p>
            <a:pPr>
              <a:lnSpc>
                <a:spcPct val="130000"/>
              </a:lnSpc>
            </a:pPr>
            <a:r>
              <a:rPr lang="en-US" sz="1600" b="1" dirty="0">
                <a:solidFill>
                  <a:srgbClr val="E2E8F0"/>
                </a:solidFill>
                <a:latin typeface="MiSans" pitchFamily="34" charset="0"/>
                <a:ea typeface="MiSans" pitchFamily="34" charset="-122"/>
                <a:cs typeface="MiSans" pitchFamily="34" charset="-120"/>
              </a:rPr>
              <a:t>内存计算优化：</a:t>
            </a:r>
            <a:r>
              <a:rPr lang="en-US" sz="1600" dirty="0">
                <a:solidFill>
                  <a:srgbClr val="A0AEC0"/>
                </a:solidFill>
                <a:latin typeface="MiSans" pitchFamily="34" charset="0"/>
                <a:ea typeface="MiSans" pitchFamily="34" charset="-122"/>
                <a:cs typeface="MiSans" pitchFamily="34" charset="-120"/>
              </a:rPr>
              <a:t>针对Spark和LLAP优化内存使用</a:t>
            </a:r>
            <a:endParaRPr lang="en-US" sz="1600" dirty="0"/>
          </a:p>
        </p:txBody>
      </p:sp>
      <p:sp>
        <p:nvSpPr>
          <p:cNvPr id="22" name="Shape 19"/>
          <p:cNvSpPr/>
          <p:nvPr/>
        </p:nvSpPr>
        <p:spPr>
          <a:xfrm>
            <a:off x="8305800" y="8051800"/>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D69E2E"/>
          </a:solidFill>
          <a:ln/>
        </p:spPr>
        <p:txBody>
          <a:bodyPr/>
          <a:lstStyle/>
          <a:p>
            <a:endParaRPr lang="zh-CN" altLang="en-US"/>
          </a:p>
        </p:txBody>
      </p:sp>
      <p:sp>
        <p:nvSpPr>
          <p:cNvPr id="23" name="Text 20"/>
          <p:cNvSpPr/>
          <p:nvPr/>
        </p:nvSpPr>
        <p:spPr>
          <a:xfrm>
            <a:off x="8636000" y="7994650"/>
            <a:ext cx="7213600" cy="304800"/>
          </a:xfrm>
          <a:prstGeom prst="rect">
            <a:avLst/>
          </a:prstGeom>
          <a:noFill/>
          <a:ln/>
        </p:spPr>
        <p:txBody>
          <a:bodyPr wrap="square" lIns="0" tIns="0" rIns="0" bIns="0" rtlCol="0" anchor="ctr"/>
          <a:lstStyle/>
          <a:p>
            <a:pPr>
              <a:lnSpc>
                <a:spcPct val="130000"/>
              </a:lnSpc>
            </a:pPr>
            <a:r>
              <a:rPr lang="en-US" sz="1600" b="1" dirty="0">
                <a:solidFill>
                  <a:srgbClr val="E2E8F0"/>
                </a:solidFill>
                <a:latin typeface="MiSans" pitchFamily="34" charset="0"/>
                <a:ea typeface="MiSans" pitchFamily="34" charset="-122"/>
                <a:cs typeface="MiSans" pitchFamily="34" charset="-120"/>
              </a:rPr>
              <a:t>执行计划缓存：</a:t>
            </a:r>
            <a:r>
              <a:rPr lang="en-US" sz="1600" dirty="0">
                <a:solidFill>
                  <a:srgbClr val="A0AEC0"/>
                </a:solidFill>
                <a:latin typeface="MiSans" pitchFamily="34" charset="0"/>
                <a:ea typeface="MiSans" pitchFamily="34" charset="-122"/>
                <a:cs typeface="MiSans" pitchFamily="34" charset="-120"/>
              </a:rPr>
              <a:t>缓存常用查询的执行计划</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63464" y="463464"/>
            <a:ext cx="15607150" cy="556157"/>
          </a:xfrm>
          <a:prstGeom prst="rect">
            <a:avLst/>
          </a:prstGeom>
          <a:noFill/>
          <a:ln/>
        </p:spPr>
        <p:txBody>
          <a:bodyPr wrap="square" lIns="0" tIns="0" rIns="0" bIns="0" rtlCol="0" anchor="ctr"/>
          <a:lstStyle/>
          <a:p>
            <a:pPr>
              <a:lnSpc>
                <a:spcPct val="80000"/>
              </a:lnSpc>
            </a:pPr>
            <a:r>
              <a:rPr lang="en-US" sz="4379" b="1" dirty="0">
                <a:solidFill>
                  <a:srgbClr val="E2E8F0"/>
                </a:solidFill>
                <a:latin typeface="Noto Sans SC" pitchFamily="34" charset="0"/>
                <a:ea typeface="Noto Sans SC" pitchFamily="34" charset="-122"/>
                <a:cs typeface="Noto Sans SC" pitchFamily="34" charset="-120"/>
              </a:rPr>
              <a:t>HiveQL语法特性与SQL兼容性</a:t>
            </a:r>
            <a:endParaRPr lang="en-US" sz="1600" dirty="0"/>
          </a:p>
        </p:txBody>
      </p:sp>
      <p:sp>
        <p:nvSpPr>
          <p:cNvPr id="3" name="Shape 1"/>
          <p:cNvSpPr/>
          <p:nvPr/>
        </p:nvSpPr>
        <p:spPr>
          <a:xfrm>
            <a:off x="463464" y="1158660"/>
            <a:ext cx="1297699" cy="46346"/>
          </a:xfrm>
          <a:custGeom>
            <a:avLst/>
            <a:gdLst/>
            <a:ahLst/>
            <a:cxnLst/>
            <a:rect l="l" t="t" r="r" b="b"/>
            <a:pathLst>
              <a:path w="1297699" h="46346">
                <a:moveTo>
                  <a:pt x="0" y="0"/>
                </a:moveTo>
                <a:lnTo>
                  <a:pt x="1297699" y="0"/>
                </a:lnTo>
                <a:lnTo>
                  <a:pt x="1297699" y="46346"/>
                </a:lnTo>
                <a:lnTo>
                  <a:pt x="0" y="46346"/>
                </a:lnTo>
                <a:lnTo>
                  <a:pt x="0" y="0"/>
                </a:lnTo>
                <a:close/>
              </a:path>
            </a:pathLst>
          </a:custGeom>
          <a:solidFill>
            <a:srgbClr val="D69E2E"/>
          </a:solidFill>
          <a:ln/>
        </p:spPr>
        <p:txBody>
          <a:bodyPr/>
          <a:lstStyle/>
          <a:p>
            <a:endParaRPr lang="zh-CN" altLang="en-US"/>
          </a:p>
        </p:txBody>
      </p:sp>
      <p:sp>
        <p:nvSpPr>
          <p:cNvPr id="4" name="Text 2"/>
          <p:cNvSpPr/>
          <p:nvPr/>
        </p:nvSpPr>
        <p:spPr>
          <a:xfrm>
            <a:off x="463464" y="1575778"/>
            <a:ext cx="15433351" cy="683609"/>
          </a:xfrm>
          <a:prstGeom prst="rect">
            <a:avLst/>
          </a:prstGeom>
          <a:noFill/>
          <a:ln/>
        </p:spPr>
        <p:txBody>
          <a:bodyPr wrap="square" lIns="0" tIns="0" rIns="0" bIns="0" rtlCol="0" anchor="ctr"/>
          <a:lstStyle/>
          <a:p>
            <a:pPr>
              <a:lnSpc>
                <a:spcPct val="140000"/>
              </a:lnSpc>
            </a:pPr>
            <a:r>
              <a:rPr lang="en-US" sz="1642" dirty="0">
                <a:solidFill>
                  <a:srgbClr val="A0AEC0"/>
                </a:solidFill>
                <a:latin typeface="MiSans" pitchFamily="34" charset="0"/>
                <a:ea typeface="MiSans" pitchFamily="34" charset="-122"/>
                <a:cs typeface="MiSans" pitchFamily="34" charset="-120"/>
              </a:rPr>
              <a:t>HiveQL(Hive Query Language)是Hive的核心查询语言，它基于SQL标准但针对大数据处理场景进行了扩展和优化。</a:t>
            </a:r>
            <a:r>
              <a:rPr lang="en-US" sz="1642" b="1" dirty="0">
                <a:solidFill>
                  <a:srgbClr val="E2E8F0"/>
                </a:solidFill>
                <a:latin typeface="MiSans" pitchFamily="34" charset="0"/>
                <a:ea typeface="MiSans" pitchFamily="34" charset="-122"/>
                <a:cs typeface="MiSans" pitchFamily="34" charset="-120"/>
              </a:rPr>
              <a:t>在保持SQL基本语法的基础上，针对大数据处理的特点进行了重要扩展</a:t>
            </a:r>
            <a:r>
              <a:rPr lang="en-US" sz="1642" dirty="0">
                <a:solidFill>
                  <a:srgbClr val="A0AEC0"/>
                </a:solidFill>
                <a:latin typeface="MiSans" pitchFamily="34" charset="0"/>
                <a:ea typeface="MiSans" pitchFamily="34" charset="-122"/>
                <a:cs typeface="MiSans" pitchFamily="34" charset="-120"/>
              </a:rPr>
              <a:t>。</a:t>
            </a:r>
            <a:endParaRPr lang="en-US" sz="1600" dirty="0"/>
          </a:p>
        </p:txBody>
      </p:sp>
      <p:sp>
        <p:nvSpPr>
          <p:cNvPr id="5" name="Text 3"/>
          <p:cNvSpPr/>
          <p:nvPr/>
        </p:nvSpPr>
        <p:spPr>
          <a:xfrm>
            <a:off x="463464" y="2624365"/>
            <a:ext cx="7612396" cy="370771"/>
          </a:xfrm>
          <a:prstGeom prst="rect">
            <a:avLst/>
          </a:prstGeom>
          <a:noFill/>
          <a:ln/>
        </p:spPr>
        <p:txBody>
          <a:bodyPr wrap="square" lIns="0" tIns="0" rIns="0" bIns="0" rtlCol="0" anchor="ctr"/>
          <a:lstStyle/>
          <a:p>
            <a:pPr>
              <a:lnSpc>
                <a:spcPct val="110000"/>
              </a:lnSpc>
            </a:pPr>
            <a:r>
              <a:rPr lang="en-US" sz="2190" b="1" dirty="0">
                <a:solidFill>
                  <a:srgbClr val="E2E8F0"/>
                </a:solidFill>
                <a:latin typeface="Noto Sans SC" pitchFamily="34" charset="0"/>
                <a:ea typeface="Noto Sans SC" pitchFamily="34" charset="-122"/>
                <a:cs typeface="Noto Sans SC" pitchFamily="34" charset="-120"/>
              </a:rPr>
              <a:t>核心语法特性</a:t>
            </a:r>
            <a:endParaRPr lang="en-US" sz="1600" dirty="0"/>
          </a:p>
        </p:txBody>
      </p:sp>
      <p:sp>
        <p:nvSpPr>
          <p:cNvPr id="6" name="Text 4"/>
          <p:cNvSpPr/>
          <p:nvPr/>
        </p:nvSpPr>
        <p:spPr>
          <a:xfrm>
            <a:off x="463464" y="3180522"/>
            <a:ext cx="7566050" cy="278078"/>
          </a:xfrm>
          <a:prstGeom prst="rect">
            <a:avLst/>
          </a:prstGeom>
          <a:noFill/>
          <a:ln/>
        </p:spPr>
        <p:txBody>
          <a:bodyPr wrap="square" lIns="0" tIns="0" rIns="0" bIns="0" rtlCol="0" anchor="ctr"/>
          <a:lstStyle/>
          <a:p>
            <a:pPr>
              <a:lnSpc>
                <a:spcPct val="130000"/>
              </a:lnSpc>
            </a:pPr>
            <a:r>
              <a:rPr lang="en-US" sz="1460" b="1" dirty="0">
                <a:solidFill>
                  <a:srgbClr val="D69E2E"/>
                </a:solidFill>
                <a:latin typeface="MiSans" pitchFamily="34" charset="0"/>
                <a:ea typeface="MiSans" pitchFamily="34" charset="-122"/>
                <a:cs typeface="MiSans" pitchFamily="34" charset="-120"/>
              </a:rPr>
              <a:t>1. DDL扩展：</a:t>
            </a:r>
            <a:r>
              <a:rPr lang="en-US" sz="1460" dirty="0">
                <a:solidFill>
                  <a:srgbClr val="A0AEC0"/>
                </a:solidFill>
                <a:latin typeface="MiSans" pitchFamily="34" charset="0"/>
                <a:ea typeface="MiSans" pitchFamily="34" charset="-122"/>
                <a:cs typeface="MiSans" pitchFamily="34" charset="-120"/>
              </a:rPr>
              <a:t>支持复杂的数据类型、分区、分桶等大数据特有的表结构定义</a:t>
            </a:r>
            <a:endParaRPr lang="en-US" sz="1600" dirty="0"/>
          </a:p>
        </p:txBody>
      </p:sp>
      <p:sp>
        <p:nvSpPr>
          <p:cNvPr id="7" name="Text 5"/>
          <p:cNvSpPr/>
          <p:nvPr/>
        </p:nvSpPr>
        <p:spPr>
          <a:xfrm>
            <a:off x="463464" y="3597639"/>
            <a:ext cx="7566050" cy="278078"/>
          </a:xfrm>
          <a:prstGeom prst="rect">
            <a:avLst/>
          </a:prstGeom>
          <a:noFill/>
          <a:ln/>
        </p:spPr>
        <p:txBody>
          <a:bodyPr wrap="square" lIns="0" tIns="0" rIns="0" bIns="0" rtlCol="0" anchor="ctr"/>
          <a:lstStyle/>
          <a:p>
            <a:pPr>
              <a:lnSpc>
                <a:spcPct val="130000"/>
              </a:lnSpc>
            </a:pPr>
            <a:r>
              <a:rPr lang="en-US" sz="1460" b="1" dirty="0">
                <a:solidFill>
                  <a:srgbClr val="D69E2E"/>
                </a:solidFill>
                <a:latin typeface="MiSans" pitchFamily="34" charset="0"/>
                <a:ea typeface="MiSans" pitchFamily="34" charset="-122"/>
                <a:cs typeface="MiSans" pitchFamily="34" charset="-120"/>
              </a:rPr>
              <a:t>2. DML增强：</a:t>
            </a:r>
            <a:r>
              <a:rPr lang="en-US" sz="1460" dirty="0">
                <a:solidFill>
                  <a:srgbClr val="A0AEC0"/>
                </a:solidFill>
                <a:latin typeface="MiSans" pitchFamily="34" charset="0"/>
                <a:ea typeface="MiSans" pitchFamily="34" charset="-122"/>
                <a:cs typeface="MiSans" pitchFamily="34" charset="-120"/>
              </a:rPr>
              <a:t>优化数据加载、导出和转换操作，支持大规模数据处理</a:t>
            </a:r>
            <a:endParaRPr lang="en-US" sz="1600" dirty="0"/>
          </a:p>
        </p:txBody>
      </p:sp>
      <p:sp>
        <p:nvSpPr>
          <p:cNvPr id="8" name="Text 6"/>
          <p:cNvSpPr/>
          <p:nvPr/>
        </p:nvSpPr>
        <p:spPr>
          <a:xfrm>
            <a:off x="463464" y="4014757"/>
            <a:ext cx="7566050" cy="278078"/>
          </a:xfrm>
          <a:prstGeom prst="rect">
            <a:avLst/>
          </a:prstGeom>
          <a:noFill/>
          <a:ln/>
        </p:spPr>
        <p:txBody>
          <a:bodyPr wrap="square" lIns="0" tIns="0" rIns="0" bIns="0" rtlCol="0" anchor="ctr"/>
          <a:lstStyle/>
          <a:p>
            <a:pPr>
              <a:lnSpc>
                <a:spcPct val="130000"/>
              </a:lnSpc>
            </a:pPr>
            <a:r>
              <a:rPr lang="en-US" sz="1460" b="1" dirty="0">
                <a:solidFill>
                  <a:srgbClr val="D69E2E"/>
                </a:solidFill>
                <a:latin typeface="MiSans" pitchFamily="34" charset="0"/>
                <a:ea typeface="MiSans" pitchFamily="34" charset="-122"/>
                <a:cs typeface="MiSans" pitchFamily="34" charset="-120"/>
              </a:rPr>
              <a:t>3. 函数扩展：</a:t>
            </a:r>
            <a:r>
              <a:rPr lang="en-US" sz="1460" dirty="0">
                <a:solidFill>
                  <a:srgbClr val="A0AEC0"/>
                </a:solidFill>
                <a:latin typeface="MiSans" pitchFamily="34" charset="0"/>
                <a:ea typeface="MiSans" pitchFamily="34" charset="-122"/>
                <a:cs typeface="MiSans" pitchFamily="34" charset="-120"/>
              </a:rPr>
              <a:t>提供丰富的内置函数和用户定义函数(UDF)支持</a:t>
            </a:r>
            <a:endParaRPr lang="en-US" sz="1600" dirty="0"/>
          </a:p>
        </p:txBody>
      </p:sp>
      <p:sp>
        <p:nvSpPr>
          <p:cNvPr id="9" name="Text 7"/>
          <p:cNvSpPr/>
          <p:nvPr/>
        </p:nvSpPr>
        <p:spPr>
          <a:xfrm>
            <a:off x="463464" y="4431875"/>
            <a:ext cx="7566050" cy="278078"/>
          </a:xfrm>
          <a:prstGeom prst="rect">
            <a:avLst/>
          </a:prstGeom>
          <a:noFill/>
          <a:ln/>
        </p:spPr>
        <p:txBody>
          <a:bodyPr wrap="square" lIns="0" tIns="0" rIns="0" bIns="0" rtlCol="0" anchor="ctr"/>
          <a:lstStyle/>
          <a:p>
            <a:pPr>
              <a:lnSpc>
                <a:spcPct val="130000"/>
              </a:lnSpc>
            </a:pPr>
            <a:r>
              <a:rPr lang="en-US" sz="1460" b="1" dirty="0">
                <a:solidFill>
                  <a:srgbClr val="D69E2E"/>
                </a:solidFill>
                <a:latin typeface="MiSans" pitchFamily="34" charset="0"/>
                <a:ea typeface="MiSans" pitchFamily="34" charset="-122"/>
                <a:cs typeface="MiSans" pitchFamily="34" charset="-120"/>
              </a:rPr>
              <a:t>4. 查询优化：</a:t>
            </a:r>
            <a:r>
              <a:rPr lang="en-US" sz="1460" dirty="0">
                <a:solidFill>
                  <a:srgbClr val="A0AEC0"/>
                </a:solidFill>
                <a:latin typeface="MiSans" pitchFamily="34" charset="0"/>
                <a:ea typeface="MiSans" pitchFamily="34" charset="-122"/>
                <a:cs typeface="MiSans" pitchFamily="34" charset="-120"/>
              </a:rPr>
              <a:t>支持复杂的连接、聚合和窗口函数，满足高级分析需求</a:t>
            </a:r>
            <a:endParaRPr lang="en-US" sz="1600" dirty="0"/>
          </a:p>
        </p:txBody>
      </p:sp>
      <p:sp>
        <p:nvSpPr>
          <p:cNvPr id="10" name="Text 8"/>
          <p:cNvSpPr/>
          <p:nvPr/>
        </p:nvSpPr>
        <p:spPr>
          <a:xfrm>
            <a:off x="463464" y="4848992"/>
            <a:ext cx="7566050" cy="278078"/>
          </a:xfrm>
          <a:prstGeom prst="rect">
            <a:avLst/>
          </a:prstGeom>
          <a:noFill/>
          <a:ln/>
        </p:spPr>
        <p:txBody>
          <a:bodyPr wrap="square" lIns="0" tIns="0" rIns="0" bIns="0" rtlCol="0" anchor="ctr"/>
          <a:lstStyle/>
          <a:p>
            <a:pPr>
              <a:lnSpc>
                <a:spcPct val="130000"/>
              </a:lnSpc>
            </a:pPr>
            <a:r>
              <a:rPr lang="en-US" sz="1460" b="1" dirty="0">
                <a:solidFill>
                  <a:srgbClr val="D69E2E"/>
                </a:solidFill>
                <a:latin typeface="MiSans" pitchFamily="34" charset="0"/>
                <a:ea typeface="MiSans" pitchFamily="34" charset="-122"/>
                <a:cs typeface="MiSans" pitchFamily="34" charset="-120"/>
              </a:rPr>
              <a:t>5. 脚本集成：</a:t>
            </a:r>
            <a:r>
              <a:rPr lang="en-US" sz="1460" dirty="0">
                <a:solidFill>
                  <a:srgbClr val="A0AEC0"/>
                </a:solidFill>
                <a:latin typeface="MiSans" pitchFamily="34" charset="0"/>
                <a:ea typeface="MiSans" pitchFamily="34" charset="-122"/>
                <a:cs typeface="MiSans" pitchFamily="34" charset="-120"/>
              </a:rPr>
              <a:t>支持通过TRANSFORM子句集成外部脚本和程序</a:t>
            </a:r>
            <a:endParaRPr lang="en-US" sz="1600" dirty="0"/>
          </a:p>
        </p:txBody>
      </p:sp>
      <p:sp>
        <p:nvSpPr>
          <p:cNvPr id="11" name="Text 9"/>
          <p:cNvSpPr/>
          <p:nvPr/>
        </p:nvSpPr>
        <p:spPr>
          <a:xfrm>
            <a:off x="8311394" y="2624365"/>
            <a:ext cx="7612396" cy="370771"/>
          </a:xfrm>
          <a:prstGeom prst="rect">
            <a:avLst/>
          </a:prstGeom>
          <a:noFill/>
          <a:ln/>
        </p:spPr>
        <p:txBody>
          <a:bodyPr wrap="square" lIns="0" tIns="0" rIns="0" bIns="0" rtlCol="0" anchor="ctr"/>
          <a:lstStyle/>
          <a:p>
            <a:pPr>
              <a:lnSpc>
                <a:spcPct val="110000"/>
              </a:lnSpc>
            </a:pPr>
            <a:r>
              <a:rPr lang="en-US" sz="2190" b="1" dirty="0">
                <a:solidFill>
                  <a:srgbClr val="E2E8F0"/>
                </a:solidFill>
                <a:latin typeface="Noto Sans SC" pitchFamily="34" charset="0"/>
                <a:ea typeface="Noto Sans SC" pitchFamily="34" charset="-122"/>
                <a:cs typeface="Noto Sans SC" pitchFamily="34" charset="-120"/>
              </a:rPr>
              <a:t>与标准SQL的主要差异</a:t>
            </a:r>
            <a:endParaRPr lang="en-US" sz="1600" dirty="0"/>
          </a:p>
        </p:txBody>
      </p:sp>
      <p:sp>
        <p:nvSpPr>
          <p:cNvPr id="12" name="Text 10"/>
          <p:cNvSpPr/>
          <p:nvPr/>
        </p:nvSpPr>
        <p:spPr>
          <a:xfrm>
            <a:off x="8311394" y="3180522"/>
            <a:ext cx="7566050" cy="278078"/>
          </a:xfrm>
          <a:prstGeom prst="rect">
            <a:avLst/>
          </a:prstGeom>
          <a:noFill/>
          <a:ln/>
        </p:spPr>
        <p:txBody>
          <a:bodyPr wrap="square" lIns="0" tIns="0" rIns="0" bIns="0" rtlCol="0" anchor="ctr"/>
          <a:lstStyle/>
          <a:p>
            <a:pPr>
              <a:lnSpc>
                <a:spcPct val="130000"/>
              </a:lnSpc>
            </a:pPr>
            <a:r>
              <a:rPr lang="en-US" sz="1460" b="1" dirty="0">
                <a:solidFill>
                  <a:srgbClr val="D69E2E"/>
                </a:solidFill>
                <a:latin typeface="MiSans" pitchFamily="34" charset="0"/>
                <a:ea typeface="MiSans" pitchFamily="34" charset="-122"/>
                <a:cs typeface="MiSans" pitchFamily="34" charset="-120"/>
              </a:rPr>
              <a:t>1. 事务支持：</a:t>
            </a:r>
            <a:r>
              <a:rPr lang="en-US" sz="1460" dirty="0">
                <a:solidFill>
                  <a:srgbClr val="A0AEC0"/>
                </a:solidFill>
                <a:latin typeface="MiSans" pitchFamily="34" charset="0"/>
                <a:ea typeface="MiSans" pitchFamily="34" charset="-122"/>
                <a:cs typeface="MiSans" pitchFamily="34" charset="-120"/>
              </a:rPr>
              <a:t>早期版本事务支持有限，Hive 3.0+增强了ACID事务能力</a:t>
            </a:r>
            <a:endParaRPr lang="en-US" sz="1600" dirty="0"/>
          </a:p>
        </p:txBody>
      </p:sp>
      <p:sp>
        <p:nvSpPr>
          <p:cNvPr id="13" name="Text 11"/>
          <p:cNvSpPr/>
          <p:nvPr/>
        </p:nvSpPr>
        <p:spPr>
          <a:xfrm>
            <a:off x="8311394" y="3597639"/>
            <a:ext cx="7566050" cy="278078"/>
          </a:xfrm>
          <a:prstGeom prst="rect">
            <a:avLst/>
          </a:prstGeom>
          <a:noFill/>
          <a:ln/>
        </p:spPr>
        <p:txBody>
          <a:bodyPr wrap="square" lIns="0" tIns="0" rIns="0" bIns="0" rtlCol="0" anchor="ctr"/>
          <a:lstStyle/>
          <a:p>
            <a:pPr>
              <a:lnSpc>
                <a:spcPct val="130000"/>
              </a:lnSpc>
            </a:pPr>
            <a:r>
              <a:rPr lang="en-US" sz="1460" b="1" dirty="0">
                <a:solidFill>
                  <a:srgbClr val="D69E2E"/>
                </a:solidFill>
                <a:latin typeface="MiSans" pitchFamily="34" charset="0"/>
                <a:ea typeface="MiSans" pitchFamily="34" charset="-122"/>
                <a:cs typeface="MiSans" pitchFamily="34" charset="-120"/>
              </a:rPr>
              <a:t>2. 索引机制：</a:t>
            </a:r>
            <a:r>
              <a:rPr lang="en-US" sz="1460" dirty="0">
                <a:solidFill>
                  <a:srgbClr val="A0AEC0"/>
                </a:solidFill>
                <a:latin typeface="MiSans" pitchFamily="34" charset="0"/>
                <a:ea typeface="MiSans" pitchFamily="34" charset="-122"/>
                <a:cs typeface="MiSans" pitchFamily="34" charset="-120"/>
              </a:rPr>
              <a:t>Hive的索引机制与传统数据库不同，更注重全表扫描优化</a:t>
            </a:r>
            <a:endParaRPr lang="en-US" sz="1600" dirty="0"/>
          </a:p>
        </p:txBody>
      </p:sp>
      <p:sp>
        <p:nvSpPr>
          <p:cNvPr id="14" name="Text 12"/>
          <p:cNvSpPr/>
          <p:nvPr/>
        </p:nvSpPr>
        <p:spPr>
          <a:xfrm>
            <a:off x="8311394" y="4014757"/>
            <a:ext cx="7566050" cy="278078"/>
          </a:xfrm>
          <a:prstGeom prst="rect">
            <a:avLst/>
          </a:prstGeom>
          <a:noFill/>
          <a:ln/>
        </p:spPr>
        <p:txBody>
          <a:bodyPr wrap="square" lIns="0" tIns="0" rIns="0" bIns="0" rtlCol="0" anchor="ctr"/>
          <a:lstStyle/>
          <a:p>
            <a:pPr>
              <a:lnSpc>
                <a:spcPct val="130000"/>
              </a:lnSpc>
            </a:pPr>
            <a:r>
              <a:rPr lang="en-US" sz="1460" b="1" dirty="0">
                <a:solidFill>
                  <a:srgbClr val="D69E2E"/>
                </a:solidFill>
                <a:latin typeface="MiSans" pitchFamily="34" charset="0"/>
                <a:ea typeface="MiSans" pitchFamily="34" charset="-122"/>
                <a:cs typeface="MiSans" pitchFamily="34" charset="-120"/>
              </a:rPr>
              <a:t>3. 更新删除：</a:t>
            </a:r>
            <a:r>
              <a:rPr lang="en-US" sz="1460" dirty="0">
                <a:solidFill>
                  <a:srgbClr val="A0AEC0"/>
                </a:solidFill>
                <a:latin typeface="MiSans" pitchFamily="34" charset="0"/>
                <a:ea typeface="MiSans" pitchFamily="34" charset="-122"/>
                <a:cs typeface="MiSans" pitchFamily="34" charset="-120"/>
              </a:rPr>
              <a:t>Hive主要针对批量数据处理，更新和删除操作有特定限制</a:t>
            </a:r>
            <a:endParaRPr lang="en-US" sz="1600" dirty="0"/>
          </a:p>
        </p:txBody>
      </p:sp>
      <p:sp>
        <p:nvSpPr>
          <p:cNvPr id="15" name="Text 13"/>
          <p:cNvSpPr/>
          <p:nvPr/>
        </p:nvSpPr>
        <p:spPr>
          <a:xfrm>
            <a:off x="8311394" y="4431875"/>
            <a:ext cx="7566050" cy="278078"/>
          </a:xfrm>
          <a:prstGeom prst="rect">
            <a:avLst/>
          </a:prstGeom>
          <a:noFill/>
          <a:ln/>
        </p:spPr>
        <p:txBody>
          <a:bodyPr wrap="square" lIns="0" tIns="0" rIns="0" bIns="0" rtlCol="0" anchor="ctr"/>
          <a:lstStyle/>
          <a:p>
            <a:pPr>
              <a:lnSpc>
                <a:spcPct val="130000"/>
              </a:lnSpc>
            </a:pPr>
            <a:r>
              <a:rPr lang="en-US" sz="1460" b="1" dirty="0">
                <a:solidFill>
                  <a:srgbClr val="D69E2E"/>
                </a:solidFill>
                <a:latin typeface="MiSans" pitchFamily="34" charset="0"/>
                <a:ea typeface="MiSans" pitchFamily="34" charset="-122"/>
                <a:cs typeface="MiSans" pitchFamily="34" charset="-120"/>
              </a:rPr>
              <a:t>4. 执行模型：</a:t>
            </a:r>
            <a:r>
              <a:rPr lang="en-US" sz="1460" dirty="0">
                <a:solidFill>
                  <a:srgbClr val="A0AEC0"/>
                </a:solidFill>
                <a:latin typeface="MiSans" pitchFamily="34" charset="0"/>
                <a:ea typeface="MiSans" pitchFamily="34" charset="-122"/>
                <a:cs typeface="MiSans" pitchFamily="34" charset="-120"/>
              </a:rPr>
              <a:t>基于MapReduce/Tez的分布式执行，与传统数据库的单机执行不同</a:t>
            </a:r>
            <a:endParaRPr lang="en-US" sz="1600" dirty="0"/>
          </a:p>
        </p:txBody>
      </p:sp>
      <p:sp>
        <p:nvSpPr>
          <p:cNvPr id="16" name="Text 14"/>
          <p:cNvSpPr/>
          <p:nvPr/>
        </p:nvSpPr>
        <p:spPr>
          <a:xfrm>
            <a:off x="8311394" y="4848992"/>
            <a:ext cx="7566050" cy="278078"/>
          </a:xfrm>
          <a:prstGeom prst="rect">
            <a:avLst/>
          </a:prstGeom>
          <a:noFill/>
          <a:ln/>
        </p:spPr>
        <p:txBody>
          <a:bodyPr wrap="square" lIns="0" tIns="0" rIns="0" bIns="0" rtlCol="0" anchor="ctr"/>
          <a:lstStyle/>
          <a:p>
            <a:pPr>
              <a:lnSpc>
                <a:spcPct val="130000"/>
              </a:lnSpc>
            </a:pPr>
            <a:r>
              <a:rPr lang="en-US" sz="1460" b="1" dirty="0">
                <a:solidFill>
                  <a:srgbClr val="D69E2E"/>
                </a:solidFill>
                <a:latin typeface="MiSans" pitchFamily="34" charset="0"/>
                <a:ea typeface="MiSans" pitchFamily="34" charset="-122"/>
                <a:cs typeface="MiSans" pitchFamily="34" charset="-120"/>
              </a:rPr>
              <a:t>5. 优化策略：</a:t>
            </a:r>
            <a:r>
              <a:rPr lang="en-US" sz="1460" dirty="0">
                <a:solidFill>
                  <a:srgbClr val="A0AEC0"/>
                </a:solidFill>
                <a:latin typeface="MiSans" pitchFamily="34" charset="0"/>
                <a:ea typeface="MiSans" pitchFamily="34" charset="-122"/>
                <a:cs typeface="MiSans" pitchFamily="34" charset="-120"/>
              </a:rPr>
              <a:t>优化重点在于减少数据扫描和网络传输，而非索引查找</a:t>
            </a:r>
            <a:endParaRPr lang="en-US" sz="1600" dirty="0"/>
          </a:p>
        </p:txBody>
      </p:sp>
      <p:sp>
        <p:nvSpPr>
          <p:cNvPr id="17" name="Shape 15"/>
          <p:cNvSpPr/>
          <p:nvPr/>
        </p:nvSpPr>
        <p:spPr>
          <a:xfrm>
            <a:off x="475051" y="5509428"/>
            <a:ext cx="15305899" cy="3151555"/>
          </a:xfrm>
          <a:custGeom>
            <a:avLst/>
            <a:gdLst/>
            <a:ahLst/>
            <a:cxnLst/>
            <a:rect l="l" t="t" r="r" b="b"/>
            <a:pathLst>
              <a:path w="15305899" h="3151555">
                <a:moveTo>
                  <a:pt x="92687" y="0"/>
                </a:moveTo>
                <a:lnTo>
                  <a:pt x="15213212" y="0"/>
                </a:lnTo>
                <a:cubicBezTo>
                  <a:pt x="15264401" y="0"/>
                  <a:pt x="15305899" y="41497"/>
                  <a:pt x="15305899" y="92687"/>
                </a:cubicBezTo>
                <a:lnTo>
                  <a:pt x="15305899" y="3058868"/>
                </a:lnTo>
                <a:cubicBezTo>
                  <a:pt x="15305899" y="3110058"/>
                  <a:pt x="15264401" y="3151555"/>
                  <a:pt x="15213212" y="3151555"/>
                </a:cubicBezTo>
                <a:lnTo>
                  <a:pt x="92687" y="3151555"/>
                </a:lnTo>
                <a:cubicBezTo>
                  <a:pt x="41497" y="3151555"/>
                  <a:pt x="0" y="3110058"/>
                  <a:pt x="0" y="3058868"/>
                </a:cubicBezTo>
                <a:lnTo>
                  <a:pt x="0" y="92687"/>
                </a:lnTo>
                <a:cubicBezTo>
                  <a:pt x="0" y="41532"/>
                  <a:pt x="41532" y="0"/>
                  <a:pt x="92687" y="0"/>
                </a:cubicBezTo>
                <a:close/>
              </a:path>
            </a:pathLst>
          </a:custGeom>
          <a:solidFill>
            <a:srgbClr val="4A5568">
              <a:alpha val="20000"/>
            </a:srgbClr>
          </a:solidFill>
          <a:ln w="25400">
            <a:solidFill>
              <a:srgbClr val="D69E2E"/>
            </a:solidFill>
            <a:prstDash val="solid"/>
          </a:ln>
        </p:spPr>
        <p:txBody>
          <a:bodyPr/>
          <a:lstStyle/>
          <a:p>
            <a:endParaRPr lang="zh-CN" altLang="en-US"/>
          </a:p>
        </p:txBody>
      </p:sp>
      <p:sp>
        <p:nvSpPr>
          <p:cNvPr id="18" name="Text 16"/>
          <p:cNvSpPr/>
          <p:nvPr/>
        </p:nvSpPr>
        <p:spPr>
          <a:xfrm>
            <a:off x="764716" y="5799093"/>
            <a:ext cx="14842435" cy="324425"/>
          </a:xfrm>
          <a:prstGeom prst="rect">
            <a:avLst/>
          </a:prstGeom>
          <a:noFill/>
          <a:ln/>
        </p:spPr>
        <p:txBody>
          <a:bodyPr wrap="square" lIns="0" tIns="0" rIns="0" bIns="0" rtlCol="0" anchor="ctr"/>
          <a:lstStyle/>
          <a:p>
            <a:pPr>
              <a:lnSpc>
                <a:spcPct val="120000"/>
              </a:lnSpc>
            </a:pPr>
            <a:r>
              <a:rPr lang="en-US" sz="1825" b="1" dirty="0">
                <a:solidFill>
                  <a:srgbClr val="E2E8F0"/>
                </a:solidFill>
                <a:latin typeface="Noto Sans SC" pitchFamily="34" charset="0"/>
                <a:ea typeface="Noto Sans SC" pitchFamily="34" charset="-122"/>
                <a:cs typeface="Noto Sans SC" pitchFamily="34" charset="-120"/>
              </a:rPr>
              <a:t>基本语法示例</a:t>
            </a:r>
            <a:endParaRPr lang="en-US" sz="1600" dirty="0"/>
          </a:p>
        </p:txBody>
      </p:sp>
      <p:sp>
        <p:nvSpPr>
          <p:cNvPr id="19" name="Text 17"/>
          <p:cNvSpPr/>
          <p:nvPr/>
        </p:nvSpPr>
        <p:spPr>
          <a:xfrm>
            <a:off x="764716" y="6308904"/>
            <a:ext cx="7311145" cy="278078"/>
          </a:xfrm>
          <a:prstGeom prst="rect">
            <a:avLst/>
          </a:prstGeom>
          <a:noFill/>
          <a:ln/>
        </p:spPr>
        <p:txBody>
          <a:bodyPr wrap="square" lIns="0" tIns="0" rIns="0" bIns="0" rtlCol="0" anchor="ctr"/>
          <a:lstStyle/>
          <a:p>
            <a:pPr>
              <a:lnSpc>
                <a:spcPct val="130000"/>
              </a:lnSpc>
            </a:pPr>
            <a:r>
              <a:rPr lang="en-US" sz="1460" b="1" dirty="0">
                <a:solidFill>
                  <a:srgbClr val="D69E2E"/>
                </a:solidFill>
                <a:latin typeface="MiSans" pitchFamily="34" charset="0"/>
                <a:ea typeface="MiSans" pitchFamily="34" charset="-122"/>
                <a:cs typeface="MiSans" pitchFamily="34" charset="-120"/>
              </a:rPr>
              <a:t>分区表创建</a:t>
            </a:r>
            <a:endParaRPr lang="en-US" sz="1600" dirty="0"/>
          </a:p>
        </p:txBody>
      </p:sp>
      <p:sp>
        <p:nvSpPr>
          <p:cNvPr id="20" name="Shape 18"/>
          <p:cNvSpPr/>
          <p:nvPr/>
        </p:nvSpPr>
        <p:spPr>
          <a:xfrm>
            <a:off x="770509" y="6685468"/>
            <a:ext cx="7206865" cy="1680057"/>
          </a:xfrm>
          <a:custGeom>
            <a:avLst/>
            <a:gdLst/>
            <a:ahLst/>
            <a:cxnLst/>
            <a:rect l="l" t="t" r="r" b="b"/>
            <a:pathLst>
              <a:path w="7206865" h="1680057">
                <a:moveTo>
                  <a:pt x="46353" y="0"/>
                </a:moveTo>
                <a:lnTo>
                  <a:pt x="7160513" y="0"/>
                </a:lnTo>
                <a:cubicBezTo>
                  <a:pt x="7186112" y="0"/>
                  <a:pt x="7206865" y="20753"/>
                  <a:pt x="7206865" y="46353"/>
                </a:cubicBezTo>
                <a:lnTo>
                  <a:pt x="7206865" y="1633704"/>
                </a:lnTo>
                <a:cubicBezTo>
                  <a:pt x="7206865" y="1659304"/>
                  <a:pt x="7186112" y="1680057"/>
                  <a:pt x="7160513" y="1680057"/>
                </a:cubicBezTo>
                <a:lnTo>
                  <a:pt x="46353" y="1680057"/>
                </a:lnTo>
                <a:cubicBezTo>
                  <a:pt x="20753" y="1680057"/>
                  <a:pt x="0" y="1659304"/>
                  <a:pt x="0" y="1633704"/>
                </a:cubicBezTo>
                <a:lnTo>
                  <a:pt x="0" y="46353"/>
                </a:lnTo>
                <a:cubicBezTo>
                  <a:pt x="0" y="20770"/>
                  <a:pt x="20770" y="0"/>
                  <a:pt x="46353" y="0"/>
                </a:cubicBezTo>
                <a:close/>
              </a:path>
            </a:pathLst>
          </a:custGeom>
          <a:solidFill>
            <a:srgbClr val="1A202C"/>
          </a:solidFill>
          <a:ln w="12700">
            <a:solidFill>
              <a:srgbClr val="4A5568"/>
            </a:solidFill>
            <a:prstDash val="solid"/>
          </a:ln>
        </p:spPr>
        <p:txBody>
          <a:bodyPr/>
          <a:lstStyle/>
          <a:p>
            <a:endParaRPr lang="zh-CN" altLang="en-US"/>
          </a:p>
        </p:txBody>
      </p:sp>
      <p:sp>
        <p:nvSpPr>
          <p:cNvPr id="21" name="Text 19"/>
          <p:cNvSpPr/>
          <p:nvPr/>
        </p:nvSpPr>
        <p:spPr>
          <a:xfrm>
            <a:off x="915340" y="6847681"/>
            <a:ext cx="6914209" cy="1349839"/>
          </a:xfrm>
          <a:prstGeom prst="rect">
            <a:avLst/>
          </a:prstGeom>
          <a:noFill/>
          <a:ln/>
        </p:spPr>
        <p:txBody>
          <a:bodyPr wrap="square" lIns="0" tIns="0" rIns="0" bIns="0" rtlCol="0" anchor="ctr"/>
          <a:lstStyle/>
          <a:p>
            <a:pPr>
              <a:lnSpc>
                <a:spcPct val="120000"/>
              </a:lnSpc>
            </a:pPr>
            <a:r>
              <a:rPr lang="en-US" sz="1277" dirty="0">
                <a:solidFill>
                  <a:srgbClr val="E2E8F0"/>
                </a:solidFill>
                <a:latin typeface="MiSans" pitchFamily="34" charset="0"/>
                <a:ea typeface="MiSans" pitchFamily="34" charset="-122"/>
                <a:cs typeface="MiSans" pitchFamily="34" charset="-120"/>
              </a:rPr>
              <a:t>CREATE TABLE sales ( product_id INT, amount DECIMAL(10,2) ) PARTITIONED BY (sale_date DATE) STORED AS ORC;</a:t>
            </a:r>
            <a:endParaRPr lang="en-US" sz="1600" dirty="0"/>
          </a:p>
        </p:txBody>
      </p:sp>
      <p:sp>
        <p:nvSpPr>
          <p:cNvPr id="22" name="Text 20"/>
          <p:cNvSpPr/>
          <p:nvPr/>
        </p:nvSpPr>
        <p:spPr>
          <a:xfrm>
            <a:off x="8265048" y="6308904"/>
            <a:ext cx="7311145" cy="278078"/>
          </a:xfrm>
          <a:prstGeom prst="rect">
            <a:avLst/>
          </a:prstGeom>
          <a:noFill/>
          <a:ln/>
        </p:spPr>
        <p:txBody>
          <a:bodyPr wrap="square" lIns="0" tIns="0" rIns="0" bIns="0" rtlCol="0" anchor="ctr"/>
          <a:lstStyle/>
          <a:p>
            <a:pPr>
              <a:lnSpc>
                <a:spcPct val="130000"/>
              </a:lnSpc>
            </a:pPr>
            <a:r>
              <a:rPr lang="en-US" sz="1460" b="1" dirty="0">
                <a:solidFill>
                  <a:srgbClr val="D69E2E"/>
                </a:solidFill>
                <a:latin typeface="MiSans" pitchFamily="34" charset="0"/>
                <a:ea typeface="MiSans" pitchFamily="34" charset="-122"/>
                <a:cs typeface="MiSans" pitchFamily="34" charset="-120"/>
              </a:rPr>
              <a:t>复杂查询</a:t>
            </a:r>
            <a:endParaRPr lang="en-US" sz="1600" dirty="0"/>
          </a:p>
        </p:txBody>
      </p:sp>
      <p:sp>
        <p:nvSpPr>
          <p:cNvPr id="23" name="Shape 21"/>
          <p:cNvSpPr/>
          <p:nvPr/>
        </p:nvSpPr>
        <p:spPr>
          <a:xfrm>
            <a:off x="8270841" y="6685468"/>
            <a:ext cx="7206865" cy="1680057"/>
          </a:xfrm>
          <a:custGeom>
            <a:avLst/>
            <a:gdLst/>
            <a:ahLst/>
            <a:cxnLst/>
            <a:rect l="l" t="t" r="r" b="b"/>
            <a:pathLst>
              <a:path w="7206865" h="1680057">
                <a:moveTo>
                  <a:pt x="46353" y="0"/>
                </a:moveTo>
                <a:lnTo>
                  <a:pt x="7160513" y="0"/>
                </a:lnTo>
                <a:cubicBezTo>
                  <a:pt x="7186112" y="0"/>
                  <a:pt x="7206865" y="20753"/>
                  <a:pt x="7206865" y="46353"/>
                </a:cubicBezTo>
                <a:lnTo>
                  <a:pt x="7206865" y="1633704"/>
                </a:lnTo>
                <a:cubicBezTo>
                  <a:pt x="7206865" y="1659304"/>
                  <a:pt x="7186112" y="1680057"/>
                  <a:pt x="7160513" y="1680057"/>
                </a:cubicBezTo>
                <a:lnTo>
                  <a:pt x="46353" y="1680057"/>
                </a:lnTo>
                <a:cubicBezTo>
                  <a:pt x="20753" y="1680057"/>
                  <a:pt x="0" y="1659304"/>
                  <a:pt x="0" y="1633704"/>
                </a:cubicBezTo>
                <a:lnTo>
                  <a:pt x="0" y="46353"/>
                </a:lnTo>
                <a:cubicBezTo>
                  <a:pt x="0" y="20770"/>
                  <a:pt x="20770" y="0"/>
                  <a:pt x="46353" y="0"/>
                </a:cubicBezTo>
                <a:close/>
              </a:path>
            </a:pathLst>
          </a:custGeom>
          <a:solidFill>
            <a:srgbClr val="1A202C"/>
          </a:solidFill>
          <a:ln w="12700">
            <a:solidFill>
              <a:srgbClr val="4A5568"/>
            </a:solidFill>
            <a:prstDash val="solid"/>
          </a:ln>
        </p:spPr>
        <p:txBody>
          <a:bodyPr/>
          <a:lstStyle/>
          <a:p>
            <a:endParaRPr lang="zh-CN" altLang="en-US"/>
          </a:p>
        </p:txBody>
      </p:sp>
      <p:sp>
        <p:nvSpPr>
          <p:cNvPr id="24" name="Text 22"/>
          <p:cNvSpPr/>
          <p:nvPr/>
        </p:nvSpPr>
        <p:spPr>
          <a:xfrm>
            <a:off x="8415673" y="6847681"/>
            <a:ext cx="6924985" cy="1349839"/>
          </a:xfrm>
          <a:prstGeom prst="rect">
            <a:avLst/>
          </a:prstGeom>
          <a:noFill/>
          <a:ln/>
        </p:spPr>
        <p:txBody>
          <a:bodyPr wrap="square" lIns="0" tIns="0" rIns="0" bIns="0" rtlCol="0" anchor="ctr"/>
          <a:lstStyle/>
          <a:p>
            <a:pPr>
              <a:lnSpc>
                <a:spcPct val="120000"/>
              </a:lnSpc>
            </a:pPr>
            <a:r>
              <a:rPr lang="en-US" sz="1277" dirty="0">
                <a:solidFill>
                  <a:srgbClr val="E2E8F0"/>
                </a:solidFill>
                <a:latin typeface="MiSans" pitchFamily="34" charset="0"/>
                <a:ea typeface="MiSans" pitchFamily="34" charset="-122"/>
                <a:cs typeface="MiSans" pitchFamily="34" charset="-120"/>
              </a:rPr>
              <a:t>SELECT region, SUM(amount) total FROM sales WHERE sale_date &gt;= '2023-01-01' GROUP BY region HAVING total &gt; 100000 ORDER BY total DESC;</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73246" y="473246"/>
            <a:ext cx="15593456" cy="567895"/>
          </a:xfrm>
          <a:prstGeom prst="rect">
            <a:avLst/>
          </a:prstGeom>
          <a:noFill/>
          <a:ln/>
        </p:spPr>
        <p:txBody>
          <a:bodyPr wrap="square" lIns="0" tIns="0" rIns="0" bIns="0" rtlCol="0" anchor="ctr"/>
          <a:lstStyle/>
          <a:p>
            <a:pPr>
              <a:lnSpc>
                <a:spcPct val="80000"/>
              </a:lnSpc>
            </a:pPr>
            <a:r>
              <a:rPr lang="en-US" sz="4472" b="1" dirty="0">
                <a:solidFill>
                  <a:srgbClr val="E2E8F0"/>
                </a:solidFill>
                <a:latin typeface="Noto Sans SC" pitchFamily="34" charset="0"/>
                <a:ea typeface="Noto Sans SC" pitchFamily="34" charset="-122"/>
                <a:cs typeface="Noto Sans SC" pitchFamily="34" charset="-120"/>
              </a:rPr>
              <a:t>数据定义语言(DDL)详解</a:t>
            </a:r>
            <a:endParaRPr lang="en-US" sz="1600" dirty="0"/>
          </a:p>
        </p:txBody>
      </p:sp>
      <p:sp>
        <p:nvSpPr>
          <p:cNvPr id="3" name="Shape 1"/>
          <p:cNvSpPr/>
          <p:nvPr/>
        </p:nvSpPr>
        <p:spPr>
          <a:xfrm>
            <a:off x="473246" y="1183115"/>
            <a:ext cx="1325089" cy="47325"/>
          </a:xfrm>
          <a:custGeom>
            <a:avLst/>
            <a:gdLst/>
            <a:ahLst/>
            <a:cxnLst/>
            <a:rect l="l" t="t" r="r" b="b"/>
            <a:pathLst>
              <a:path w="1325089" h="47325">
                <a:moveTo>
                  <a:pt x="0" y="0"/>
                </a:moveTo>
                <a:lnTo>
                  <a:pt x="1325089" y="0"/>
                </a:lnTo>
                <a:lnTo>
                  <a:pt x="1325089" y="47325"/>
                </a:lnTo>
                <a:lnTo>
                  <a:pt x="0" y="47325"/>
                </a:lnTo>
                <a:lnTo>
                  <a:pt x="0" y="0"/>
                </a:lnTo>
                <a:close/>
              </a:path>
            </a:pathLst>
          </a:custGeom>
          <a:solidFill>
            <a:srgbClr val="D69E2E"/>
          </a:solidFill>
          <a:ln/>
        </p:spPr>
        <p:txBody>
          <a:bodyPr/>
          <a:lstStyle/>
          <a:p>
            <a:endParaRPr lang="zh-CN" altLang="en-US"/>
          </a:p>
        </p:txBody>
      </p:sp>
      <p:sp>
        <p:nvSpPr>
          <p:cNvPr id="4" name="Text 2"/>
          <p:cNvSpPr/>
          <p:nvPr/>
        </p:nvSpPr>
        <p:spPr>
          <a:xfrm>
            <a:off x="473246" y="1514387"/>
            <a:ext cx="15415988" cy="343103"/>
          </a:xfrm>
          <a:prstGeom prst="rect">
            <a:avLst/>
          </a:prstGeom>
          <a:noFill/>
          <a:ln/>
        </p:spPr>
        <p:txBody>
          <a:bodyPr wrap="square" lIns="0" tIns="0" rIns="0" bIns="0" rtlCol="0" anchor="ctr"/>
          <a:lstStyle/>
          <a:p>
            <a:pPr>
              <a:lnSpc>
                <a:spcPct val="140000"/>
              </a:lnSpc>
            </a:pPr>
            <a:r>
              <a:rPr lang="en-US" sz="1677" dirty="0">
                <a:solidFill>
                  <a:srgbClr val="A0AEC0"/>
                </a:solidFill>
                <a:latin typeface="MiSans" pitchFamily="34" charset="0"/>
                <a:ea typeface="MiSans" pitchFamily="34" charset="-122"/>
                <a:cs typeface="MiSans" pitchFamily="34" charset="-120"/>
              </a:rPr>
              <a:t>Hive的数据定义语言提供了丰富的表结构定义能力，</a:t>
            </a:r>
            <a:r>
              <a:rPr lang="en-US" sz="1677" b="1" dirty="0">
                <a:solidFill>
                  <a:srgbClr val="E2E8F0"/>
                </a:solidFill>
                <a:latin typeface="MiSans" pitchFamily="34" charset="0"/>
                <a:ea typeface="MiSans" pitchFamily="34" charset="-122"/>
                <a:cs typeface="MiSans" pitchFamily="34" charset="-120"/>
              </a:rPr>
              <a:t>支持复杂的数据类型、分区、分桶等大数据处理所需的特性</a:t>
            </a:r>
            <a:r>
              <a:rPr lang="en-US" sz="1677" dirty="0">
                <a:solidFill>
                  <a:srgbClr val="A0AEC0"/>
                </a:solidFill>
                <a:latin typeface="MiSans" pitchFamily="34" charset="0"/>
                <a:ea typeface="MiSans" pitchFamily="34" charset="-122"/>
                <a:cs typeface="MiSans" pitchFamily="34" charset="-120"/>
              </a:rPr>
              <a:t>。</a:t>
            </a:r>
            <a:endParaRPr lang="en-US" sz="1600" dirty="0"/>
          </a:p>
        </p:txBody>
      </p:sp>
      <p:sp>
        <p:nvSpPr>
          <p:cNvPr id="5" name="Text 3"/>
          <p:cNvSpPr/>
          <p:nvPr/>
        </p:nvSpPr>
        <p:spPr>
          <a:xfrm>
            <a:off x="473246" y="2144396"/>
            <a:ext cx="7583767" cy="331272"/>
          </a:xfrm>
          <a:prstGeom prst="rect">
            <a:avLst/>
          </a:prstGeom>
          <a:noFill/>
          <a:ln/>
        </p:spPr>
        <p:txBody>
          <a:bodyPr wrap="square" lIns="0" tIns="0" rIns="0" bIns="0" rtlCol="0" anchor="ctr"/>
          <a:lstStyle/>
          <a:p>
            <a:pPr>
              <a:lnSpc>
                <a:spcPct val="120000"/>
              </a:lnSpc>
            </a:pPr>
            <a:r>
              <a:rPr lang="en-US" sz="1863" b="1" dirty="0">
                <a:solidFill>
                  <a:srgbClr val="E2E8F0"/>
                </a:solidFill>
                <a:latin typeface="Noto Sans SC" pitchFamily="34" charset="0"/>
                <a:ea typeface="Noto Sans SC" pitchFamily="34" charset="-122"/>
                <a:cs typeface="Noto Sans SC" pitchFamily="34" charset="-120"/>
              </a:rPr>
              <a:t>完整表创建语法</a:t>
            </a:r>
            <a:endParaRPr lang="en-US" sz="1600" dirty="0"/>
          </a:p>
        </p:txBody>
      </p:sp>
      <p:sp>
        <p:nvSpPr>
          <p:cNvPr id="6" name="Shape 4"/>
          <p:cNvSpPr/>
          <p:nvPr/>
        </p:nvSpPr>
        <p:spPr>
          <a:xfrm>
            <a:off x="485077" y="2629473"/>
            <a:ext cx="7441793" cy="3762306"/>
          </a:xfrm>
          <a:custGeom>
            <a:avLst/>
            <a:gdLst/>
            <a:ahLst/>
            <a:cxnLst/>
            <a:rect l="l" t="t" r="r" b="b"/>
            <a:pathLst>
              <a:path w="7441793" h="3762306">
                <a:moveTo>
                  <a:pt x="47330" y="0"/>
                </a:moveTo>
                <a:lnTo>
                  <a:pt x="7394463" y="0"/>
                </a:lnTo>
                <a:cubicBezTo>
                  <a:pt x="7420603" y="0"/>
                  <a:pt x="7441793" y="21190"/>
                  <a:pt x="7441793" y="47330"/>
                </a:cubicBezTo>
                <a:lnTo>
                  <a:pt x="7441793" y="3714976"/>
                </a:lnTo>
                <a:cubicBezTo>
                  <a:pt x="7441793" y="3741115"/>
                  <a:pt x="7420603" y="3762306"/>
                  <a:pt x="7394463" y="3762306"/>
                </a:cubicBezTo>
                <a:lnTo>
                  <a:pt x="47330" y="3762306"/>
                </a:lnTo>
                <a:cubicBezTo>
                  <a:pt x="21190" y="3762306"/>
                  <a:pt x="0" y="3741115"/>
                  <a:pt x="0" y="3714976"/>
                </a:cubicBezTo>
                <a:lnTo>
                  <a:pt x="0" y="47330"/>
                </a:lnTo>
                <a:cubicBezTo>
                  <a:pt x="0" y="21190"/>
                  <a:pt x="21190" y="0"/>
                  <a:pt x="47330" y="0"/>
                </a:cubicBezTo>
                <a:close/>
              </a:path>
            </a:pathLst>
          </a:custGeom>
          <a:solidFill>
            <a:srgbClr val="1A202C"/>
          </a:solidFill>
          <a:ln w="25400">
            <a:solidFill>
              <a:srgbClr val="D69E2E"/>
            </a:solidFill>
            <a:prstDash val="solid"/>
          </a:ln>
        </p:spPr>
        <p:txBody>
          <a:bodyPr/>
          <a:lstStyle/>
          <a:p>
            <a:endParaRPr lang="zh-CN" altLang="en-US"/>
          </a:p>
        </p:txBody>
      </p:sp>
      <p:sp>
        <p:nvSpPr>
          <p:cNvPr id="7" name="Text 5"/>
          <p:cNvSpPr/>
          <p:nvPr/>
        </p:nvSpPr>
        <p:spPr>
          <a:xfrm>
            <a:off x="686207" y="2866096"/>
            <a:ext cx="7071906" cy="3406117"/>
          </a:xfrm>
          <a:prstGeom prst="rect">
            <a:avLst/>
          </a:prstGeom>
          <a:noFill/>
          <a:ln/>
        </p:spPr>
        <p:txBody>
          <a:bodyPr wrap="square" lIns="0" tIns="0" rIns="0" bIns="0" rtlCol="0" anchor="ctr"/>
          <a:lstStyle/>
          <a:p>
            <a:pPr>
              <a:lnSpc>
                <a:spcPct val="140000"/>
              </a:lnSpc>
            </a:pPr>
            <a:r>
              <a:rPr lang="en-US" sz="1304" dirty="0">
                <a:solidFill>
                  <a:srgbClr val="E2E8F0"/>
                </a:solidFill>
                <a:latin typeface="MiSans" pitchFamily="34" charset="0"/>
                <a:ea typeface="MiSans" pitchFamily="34" charset="-122"/>
                <a:cs typeface="MiSans" pitchFamily="34" charset="-120"/>
              </a:rPr>
              <a:t>CREATE [EXTERNAL] TABLE [IF NOT EXISTS] table_name ( column_name data_type [COMMENT column_comment], ... ) [COMMENT table_comment] [PARTITIONED BY (col_name data_type, ...)] [CLUSTERED BY (col_name, ...) [SORTED BY (col_name, ...)] INTO num_buckets BUCKETS] [ROW FORMAT row_format] [STORED AS file_format] [LOCATION hdfs_path] [TBLPROPERTIES (property_name=property_value, ...)] [AS select_statement];</a:t>
            </a:r>
            <a:endParaRPr lang="en-US" sz="1600" dirty="0"/>
          </a:p>
        </p:txBody>
      </p:sp>
      <p:sp>
        <p:nvSpPr>
          <p:cNvPr id="8" name="Text 6"/>
          <p:cNvSpPr/>
          <p:nvPr/>
        </p:nvSpPr>
        <p:spPr>
          <a:xfrm>
            <a:off x="8318592" y="2144396"/>
            <a:ext cx="7583767" cy="331272"/>
          </a:xfrm>
          <a:prstGeom prst="rect">
            <a:avLst/>
          </a:prstGeom>
          <a:noFill/>
          <a:ln/>
        </p:spPr>
        <p:txBody>
          <a:bodyPr wrap="square" lIns="0" tIns="0" rIns="0" bIns="0" rtlCol="0" anchor="ctr"/>
          <a:lstStyle/>
          <a:p>
            <a:pPr>
              <a:lnSpc>
                <a:spcPct val="120000"/>
              </a:lnSpc>
            </a:pPr>
            <a:r>
              <a:rPr lang="en-US" sz="1863" b="1" dirty="0">
                <a:solidFill>
                  <a:srgbClr val="E2E8F0"/>
                </a:solidFill>
                <a:latin typeface="Noto Sans SC" pitchFamily="34" charset="0"/>
                <a:ea typeface="Noto Sans SC" pitchFamily="34" charset="-122"/>
                <a:cs typeface="Noto Sans SC" pitchFamily="34" charset="-120"/>
              </a:rPr>
              <a:t>复杂数据类型示例</a:t>
            </a:r>
            <a:endParaRPr lang="en-US" sz="1600" dirty="0"/>
          </a:p>
        </p:txBody>
      </p:sp>
      <p:sp>
        <p:nvSpPr>
          <p:cNvPr id="9" name="Shape 7"/>
          <p:cNvSpPr/>
          <p:nvPr/>
        </p:nvSpPr>
        <p:spPr>
          <a:xfrm>
            <a:off x="8330424" y="2629473"/>
            <a:ext cx="7441793" cy="3762306"/>
          </a:xfrm>
          <a:custGeom>
            <a:avLst/>
            <a:gdLst/>
            <a:ahLst/>
            <a:cxnLst/>
            <a:rect l="l" t="t" r="r" b="b"/>
            <a:pathLst>
              <a:path w="7441793" h="3762306">
                <a:moveTo>
                  <a:pt x="47330" y="0"/>
                </a:moveTo>
                <a:lnTo>
                  <a:pt x="7394463" y="0"/>
                </a:lnTo>
                <a:cubicBezTo>
                  <a:pt x="7420603" y="0"/>
                  <a:pt x="7441793" y="21190"/>
                  <a:pt x="7441793" y="47330"/>
                </a:cubicBezTo>
                <a:lnTo>
                  <a:pt x="7441793" y="3714976"/>
                </a:lnTo>
                <a:cubicBezTo>
                  <a:pt x="7441793" y="3741115"/>
                  <a:pt x="7420603" y="3762306"/>
                  <a:pt x="7394463" y="3762306"/>
                </a:cubicBezTo>
                <a:lnTo>
                  <a:pt x="47330" y="3762306"/>
                </a:lnTo>
                <a:cubicBezTo>
                  <a:pt x="21190" y="3762306"/>
                  <a:pt x="0" y="3741115"/>
                  <a:pt x="0" y="3714976"/>
                </a:cubicBezTo>
                <a:lnTo>
                  <a:pt x="0" y="47330"/>
                </a:lnTo>
                <a:cubicBezTo>
                  <a:pt x="0" y="21190"/>
                  <a:pt x="21190" y="0"/>
                  <a:pt x="47330" y="0"/>
                </a:cubicBezTo>
                <a:close/>
              </a:path>
            </a:pathLst>
          </a:custGeom>
          <a:solidFill>
            <a:srgbClr val="1A202C"/>
          </a:solidFill>
          <a:ln w="25400">
            <a:solidFill>
              <a:srgbClr val="D69E2E"/>
            </a:solidFill>
            <a:prstDash val="solid"/>
          </a:ln>
        </p:spPr>
        <p:txBody>
          <a:bodyPr/>
          <a:lstStyle/>
          <a:p>
            <a:endParaRPr lang="zh-CN" altLang="en-US"/>
          </a:p>
        </p:txBody>
      </p:sp>
      <p:sp>
        <p:nvSpPr>
          <p:cNvPr id="10" name="Text 8"/>
          <p:cNvSpPr/>
          <p:nvPr/>
        </p:nvSpPr>
        <p:spPr>
          <a:xfrm>
            <a:off x="8531553" y="2866096"/>
            <a:ext cx="7050071" cy="3406117"/>
          </a:xfrm>
          <a:prstGeom prst="rect">
            <a:avLst/>
          </a:prstGeom>
          <a:noFill/>
          <a:ln/>
        </p:spPr>
        <p:txBody>
          <a:bodyPr wrap="square" lIns="0" tIns="0" rIns="0" bIns="0" rtlCol="0" anchor="ctr"/>
          <a:lstStyle/>
          <a:p>
            <a:pPr>
              <a:lnSpc>
                <a:spcPct val="140000"/>
              </a:lnSpc>
            </a:pPr>
            <a:r>
              <a:rPr lang="en-US" sz="1304" dirty="0">
                <a:solidFill>
                  <a:srgbClr val="E2E8F0"/>
                </a:solidFill>
                <a:latin typeface="MiSans" pitchFamily="34" charset="0"/>
                <a:ea typeface="MiSans" pitchFamily="34" charset="-122"/>
                <a:cs typeface="MiSans" pitchFamily="34" charset="-120"/>
              </a:rPr>
              <a:t>CREATE TABLE user_profiles ( user_id INT, name STRUCT, addresses MAP, phone_numbers ARRAY, preferences MAP&gt;, registration_date TIMESTAMP ) STORED AS PARQUET; -- 查询复杂数据类型 SELECT user_id, name.first, -- 访问结构体 addresses['home'], -- 访问映射 phone_numbers[0] -- 访问数组 FROM user_profiles WHERE array_contains( phone_numbers, '13800138000' );</a:t>
            </a:r>
            <a:endParaRPr lang="en-US" sz="1600" dirty="0"/>
          </a:p>
        </p:txBody>
      </p:sp>
      <p:sp>
        <p:nvSpPr>
          <p:cNvPr id="11" name="Text 9"/>
          <p:cNvSpPr/>
          <p:nvPr/>
        </p:nvSpPr>
        <p:spPr>
          <a:xfrm>
            <a:off x="473246" y="6687557"/>
            <a:ext cx="7583767" cy="331272"/>
          </a:xfrm>
          <a:prstGeom prst="rect">
            <a:avLst/>
          </a:prstGeom>
          <a:noFill/>
          <a:ln/>
        </p:spPr>
        <p:txBody>
          <a:bodyPr wrap="square" lIns="0" tIns="0" rIns="0" bIns="0" rtlCol="0" anchor="ctr"/>
          <a:lstStyle/>
          <a:p>
            <a:pPr>
              <a:lnSpc>
                <a:spcPct val="120000"/>
              </a:lnSpc>
            </a:pPr>
            <a:r>
              <a:rPr lang="en-US" sz="1863" b="1" dirty="0">
                <a:solidFill>
                  <a:srgbClr val="E2E8F0"/>
                </a:solidFill>
                <a:latin typeface="Noto Sans SC" pitchFamily="34" charset="0"/>
                <a:ea typeface="Noto Sans SC" pitchFamily="34" charset="-122"/>
                <a:cs typeface="Noto Sans SC" pitchFamily="34" charset="-120"/>
              </a:rPr>
              <a:t>分区表示例</a:t>
            </a:r>
            <a:endParaRPr lang="en-US" sz="1600" dirty="0"/>
          </a:p>
        </p:txBody>
      </p:sp>
      <p:sp>
        <p:nvSpPr>
          <p:cNvPr id="12" name="Shape 10"/>
          <p:cNvSpPr/>
          <p:nvPr/>
        </p:nvSpPr>
        <p:spPr>
          <a:xfrm>
            <a:off x="479162" y="7166719"/>
            <a:ext cx="7453624" cy="1502556"/>
          </a:xfrm>
          <a:custGeom>
            <a:avLst/>
            <a:gdLst/>
            <a:ahLst/>
            <a:cxnLst/>
            <a:rect l="l" t="t" r="r" b="b"/>
            <a:pathLst>
              <a:path w="7453624" h="1502556">
                <a:moveTo>
                  <a:pt x="47331" y="0"/>
                </a:moveTo>
                <a:lnTo>
                  <a:pt x="7406294" y="0"/>
                </a:lnTo>
                <a:cubicBezTo>
                  <a:pt x="7432434" y="0"/>
                  <a:pt x="7453624" y="21191"/>
                  <a:pt x="7453624" y="47331"/>
                </a:cubicBezTo>
                <a:lnTo>
                  <a:pt x="7453624" y="1455226"/>
                </a:lnTo>
                <a:cubicBezTo>
                  <a:pt x="7453624" y="1481365"/>
                  <a:pt x="7432434" y="1502556"/>
                  <a:pt x="7406294" y="1502556"/>
                </a:cubicBezTo>
                <a:lnTo>
                  <a:pt x="47331" y="1502556"/>
                </a:lnTo>
                <a:cubicBezTo>
                  <a:pt x="21191" y="1502556"/>
                  <a:pt x="0" y="1481365"/>
                  <a:pt x="0" y="1455226"/>
                </a:cubicBezTo>
                <a:lnTo>
                  <a:pt x="0" y="47331"/>
                </a:lnTo>
                <a:cubicBezTo>
                  <a:pt x="0" y="21208"/>
                  <a:pt x="21208" y="0"/>
                  <a:pt x="47331" y="0"/>
                </a:cubicBezTo>
                <a:close/>
              </a:path>
            </a:pathLst>
          </a:custGeom>
          <a:solidFill>
            <a:srgbClr val="1A202C"/>
          </a:solidFill>
          <a:ln w="12700">
            <a:solidFill>
              <a:srgbClr val="4A5568"/>
            </a:solidFill>
            <a:prstDash val="solid"/>
          </a:ln>
        </p:spPr>
        <p:txBody>
          <a:bodyPr/>
          <a:lstStyle/>
          <a:p>
            <a:endParaRPr lang="zh-CN" altLang="en-US"/>
          </a:p>
        </p:txBody>
      </p:sp>
      <p:sp>
        <p:nvSpPr>
          <p:cNvPr id="13" name="Text 11"/>
          <p:cNvSpPr/>
          <p:nvPr/>
        </p:nvSpPr>
        <p:spPr>
          <a:xfrm>
            <a:off x="674375" y="7397426"/>
            <a:ext cx="7083737" cy="1132212"/>
          </a:xfrm>
          <a:prstGeom prst="rect">
            <a:avLst/>
          </a:prstGeom>
          <a:noFill/>
          <a:ln/>
        </p:spPr>
        <p:txBody>
          <a:bodyPr wrap="square" lIns="0" tIns="0" rIns="0" bIns="0" rtlCol="0" anchor="ctr"/>
          <a:lstStyle/>
          <a:p>
            <a:pPr>
              <a:lnSpc>
                <a:spcPct val="140000"/>
              </a:lnSpc>
            </a:pPr>
            <a:r>
              <a:rPr lang="en-US" sz="1304" dirty="0">
                <a:solidFill>
                  <a:srgbClr val="E2E8F0"/>
                </a:solidFill>
                <a:latin typeface="MiSans" pitchFamily="34" charset="0"/>
                <a:ea typeface="MiSans" pitchFamily="34" charset="-122"/>
                <a:cs typeface="MiSans" pitchFamily="34" charset="-120"/>
              </a:rPr>
              <a:t>CREATE TABLE web_logs ( ip STRING, url STRING, status INT ) PARTITIONED BY (log_date DATE, hour INT) STORED AS ORC; -- 动态分区插入 INSERT INTO TABLE web_logs PARTITION (log_date, hour) SELECT ip, url, status, to_date(event_time) as log_date, hour(event_time) as hour FROM raw_events;</a:t>
            </a:r>
            <a:endParaRPr lang="en-US" sz="1600" dirty="0"/>
          </a:p>
        </p:txBody>
      </p:sp>
      <p:sp>
        <p:nvSpPr>
          <p:cNvPr id="14" name="Text 12"/>
          <p:cNvSpPr/>
          <p:nvPr/>
        </p:nvSpPr>
        <p:spPr>
          <a:xfrm>
            <a:off x="8318592" y="6687557"/>
            <a:ext cx="7583767" cy="331272"/>
          </a:xfrm>
          <a:prstGeom prst="rect">
            <a:avLst/>
          </a:prstGeom>
          <a:noFill/>
          <a:ln/>
        </p:spPr>
        <p:txBody>
          <a:bodyPr wrap="square" lIns="0" tIns="0" rIns="0" bIns="0" rtlCol="0" anchor="ctr"/>
          <a:lstStyle/>
          <a:p>
            <a:pPr>
              <a:lnSpc>
                <a:spcPct val="120000"/>
              </a:lnSpc>
            </a:pPr>
            <a:r>
              <a:rPr lang="en-US" sz="1863" b="1" dirty="0">
                <a:solidFill>
                  <a:srgbClr val="E2E8F0"/>
                </a:solidFill>
                <a:latin typeface="Noto Sans SC" pitchFamily="34" charset="0"/>
                <a:ea typeface="Noto Sans SC" pitchFamily="34" charset="-122"/>
                <a:cs typeface="Noto Sans SC" pitchFamily="34" charset="-120"/>
              </a:rPr>
              <a:t>分桶表示例</a:t>
            </a:r>
            <a:endParaRPr lang="en-US" sz="1600" dirty="0"/>
          </a:p>
        </p:txBody>
      </p:sp>
      <p:sp>
        <p:nvSpPr>
          <p:cNvPr id="15" name="Shape 13"/>
          <p:cNvSpPr/>
          <p:nvPr/>
        </p:nvSpPr>
        <p:spPr>
          <a:xfrm>
            <a:off x="8324508" y="7166719"/>
            <a:ext cx="7453624" cy="1502556"/>
          </a:xfrm>
          <a:custGeom>
            <a:avLst/>
            <a:gdLst/>
            <a:ahLst/>
            <a:cxnLst/>
            <a:rect l="l" t="t" r="r" b="b"/>
            <a:pathLst>
              <a:path w="7453624" h="1502556">
                <a:moveTo>
                  <a:pt x="47331" y="0"/>
                </a:moveTo>
                <a:lnTo>
                  <a:pt x="7406294" y="0"/>
                </a:lnTo>
                <a:cubicBezTo>
                  <a:pt x="7432434" y="0"/>
                  <a:pt x="7453624" y="21191"/>
                  <a:pt x="7453624" y="47331"/>
                </a:cubicBezTo>
                <a:lnTo>
                  <a:pt x="7453624" y="1455226"/>
                </a:lnTo>
                <a:cubicBezTo>
                  <a:pt x="7453624" y="1481365"/>
                  <a:pt x="7432434" y="1502556"/>
                  <a:pt x="7406294" y="1502556"/>
                </a:cubicBezTo>
                <a:lnTo>
                  <a:pt x="47331" y="1502556"/>
                </a:lnTo>
                <a:cubicBezTo>
                  <a:pt x="21191" y="1502556"/>
                  <a:pt x="0" y="1481365"/>
                  <a:pt x="0" y="1455226"/>
                </a:cubicBezTo>
                <a:lnTo>
                  <a:pt x="0" y="47331"/>
                </a:lnTo>
                <a:cubicBezTo>
                  <a:pt x="0" y="21208"/>
                  <a:pt x="21208" y="0"/>
                  <a:pt x="47331" y="0"/>
                </a:cubicBezTo>
                <a:close/>
              </a:path>
            </a:pathLst>
          </a:custGeom>
          <a:solidFill>
            <a:srgbClr val="1A202C"/>
          </a:solidFill>
          <a:ln w="12700">
            <a:solidFill>
              <a:srgbClr val="4A5568"/>
            </a:solidFill>
            <a:prstDash val="solid"/>
          </a:ln>
        </p:spPr>
        <p:txBody>
          <a:bodyPr/>
          <a:lstStyle/>
          <a:p>
            <a:endParaRPr lang="zh-CN" altLang="en-US"/>
          </a:p>
        </p:txBody>
      </p:sp>
      <p:sp>
        <p:nvSpPr>
          <p:cNvPr id="16" name="Text 14"/>
          <p:cNvSpPr/>
          <p:nvPr/>
        </p:nvSpPr>
        <p:spPr>
          <a:xfrm>
            <a:off x="8519722" y="7397426"/>
            <a:ext cx="7061902" cy="1132213"/>
          </a:xfrm>
          <a:prstGeom prst="rect">
            <a:avLst/>
          </a:prstGeom>
          <a:noFill/>
          <a:ln/>
        </p:spPr>
        <p:txBody>
          <a:bodyPr wrap="square" lIns="0" tIns="0" rIns="0" bIns="0" rtlCol="0" anchor="ctr"/>
          <a:lstStyle/>
          <a:p>
            <a:pPr>
              <a:lnSpc>
                <a:spcPct val="140000"/>
              </a:lnSpc>
            </a:pPr>
            <a:r>
              <a:rPr lang="en-US" sz="1304" dirty="0">
                <a:solidFill>
                  <a:srgbClr val="E2E8F0"/>
                </a:solidFill>
                <a:latin typeface="MiSans" pitchFamily="34" charset="0"/>
                <a:ea typeface="MiSans" pitchFamily="34" charset="-122"/>
                <a:cs typeface="MiSans" pitchFamily="34" charset="-120"/>
              </a:rPr>
              <a:t>CREATE TABLE user_sessions ( user_id INT, session_id STRING, start_time TIMESTAMP ) CLUSTERED BY (user_id) INTO 32 BUCKETS SORTED BY (start_time) STORED AS ORC; -- 分桶优化查询 SELECT * FROM user_sessions WHERE user_id = 12345; -- 只扫描特定桶文件</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23333" y="423333"/>
            <a:ext cx="15663333" cy="508000"/>
          </a:xfrm>
          <a:prstGeom prst="rect">
            <a:avLst/>
          </a:prstGeom>
          <a:noFill/>
          <a:ln/>
        </p:spPr>
        <p:txBody>
          <a:bodyPr wrap="square" lIns="0" tIns="0" rIns="0" bIns="0" rtlCol="0" anchor="ctr"/>
          <a:lstStyle/>
          <a:p>
            <a:pPr>
              <a:lnSpc>
                <a:spcPct val="80000"/>
              </a:lnSpc>
            </a:pPr>
            <a:r>
              <a:rPr lang="en-US" sz="4000" b="1" dirty="0">
                <a:solidFill>
                  <a:srgbClr val="E2E8F0"/>
                </a:solidFill>
                <a:latin typeface="Noto Sans SC" pitchFamily="34" charset="0"/>
                <a:ea typeface="Noto Sans SC" pitchFamily="34" charset="-122"/>
                <a:cs typeface="Noto Sans SC" pitchFamily="34" charset="-120"/>
              </a:rPr>
              <a:t>数据操作语言(DML)详解</a:t>
            </a:r>
            <a:endParaRPr lang="en-US" sz="1600" dirty="0"/>
          </a:p>
        </p:txBody>
      </p:sp>
      <p:sp>
        <p:nvSpPr>
          <p:cNvPr id="3" name="Shape 1"/>
          <p:cNvSpPr/>
          <p:nvPr/>
        </p:nvSpPr>
        <p:spPr>
          <a:xfrm>
            <a:off x="423333" y="1058333"/>
            <a:ext cx="1185333" cy="42333"/>
          </a:xfrm>
          <a:custGeom>
            <a:avLst/>
            <a:gdLst/>
            <a:ahLst/>
            <a:cxnLst/>
            <a:rect l="l" t="t" r="r" b="b"/>
            <a:pathLst>
              <a:path w="1185333" h="42333">
                <a:moveTo>
                  <a:pt x="0" y="0"/>
                </a:moveTo>
                <a:lnTo>
                  <a:pt x="1185333" y="0"/>
                </a:lnTo>
                <a:lnTo>
                  <a:pt x="1185333" y="42333"/>
                </a:lnTo>
                <a:lnTo>
                  <a:pt x="0" y="42333"/>
                </a:lnTo>
                <a:lnTo>
                  <a:pt x="0" y="0"/>
                </a:lnTo>
                <a:close/>
              </a:path>
            </a:pathLst>
          </a:custGeom>
          <a:solidFill>
            <a:srgbClr val="D69E2E"/>
          </a:solidFill>
          <a:ln/>
        </p:spPr>
        <p:txBody>
          <a:bodyPr/>
          <a:lstStyle/>
          <a:p>
            <a:endParaRPr lang="zh-CN" altLang="en-US"/>
          </a:p>
        </p:txBody>
      </p:sp>
      <p:sp>
        <p:nvSpPr>
          <p:cNvPr id="4" name="Text 2"/>
          <p:cNvSpPr/>
          <p:nvPr/>
        </p:nvSpPr>
        <p:spPr>
          <a:xfrm>
            <a:off x="423333" y="1354667"/>
            <a:ext cx="15504583" cy="306917"/>
          </a:xfrm>
          <a:prstGeom prst="rect">
            <a:avLst/>
          </a:prstGeom>
          <a:noFill/>
          <a:ln/>
        </p:spPr>
        <p:txBody>
          <a:bodyPr wrap="square" lIns="0" tIns="0" rIns="0" bIns="0" rtlCol="0" anchor="ctr"/>
          <a:lstStyle/>
          <a:p>
            <a:pPr>
              <a:lnSpc>
                <a:spcPct val="140000"/>
              </a:lnSpc>
            </a:pPr>
            <a:r>
              <a:rPr lang="en-US" sz="1500" dirty="0">
                <a:solidFill>
                  <a:srgbClr val="A0AEC0"/>
                </a:solidFill>
                <a:latin typeface="MiSans" pitchFamily="34" charset="0"/>
                <a:ea typeface="MiSans" pitchFamily="34" charset="-122"/>
                <a:cs typeface="MiSans" pitchFamily="34" charset="-120"/>
              </a:rPr>
              <a:t>Hive的数据操作语言针对批量数据处理进行了优化，</a:t>
            </a:r>
            <a:r>
              <a:rPr lang="en-US" sz="1500" b="1" dirty="0">
                <a:solidFill>
                  <a:srgbClr val="E2E8F0"/>
                </a:solidFill>
                <a:latin typeface="MiSans" pitchFamily="34" charset="0"/>
                <a:ea typeface="MiSans" pitchFamily="34" charset="-122"/>
                <a:cs typeface="MiSans" pitchFamily="34" charset="-120"/>
              </a:rPr>
              <a:t>支持高效的数据加载、转换和导出操作</a:t>
            </a:r>
            <a:r>
              <a:rPr lang="en-US" sz="1500" dirty="0">
                <a:solidFill>
                  <a:srgbClr val="A0AEC0"/>
                </a:solidFill>
                <a:latin typeface="MiSans" pitchFamily="34" charset="0"/>
                <a:ea typeface="MiSans" pitchFamily="34" charset="-122"/>
                <a:cs typeface="MiSans" pitchFamily="34" charset="-120"/>
              </a:rPr>
              <a:t>。从Hive 3.0开始，还支持完整的ACID事务操作。</a:t>
            </a:r>
            <a:endParaRPr lang="en-US" sz="1600" dirty="0"/>
          </a:p>
        </p:txBody>
      </p:sp>
      <p:sp>
        <p:nvSpPr>
          <p:cNvPr id="5" name="Text 3"/>
          <p:cNvSpPr/>
          <p:nvPr/>
        </p:nvSpPr>
        <p:spPr>
          <a:xfrm>
            <a:off x="423333" y="1918229"/>
            <a:ext cx="7641167" cy="296333"/>
          </a:xfrm>
          <a:prstGeom prst="rect">
            <a:avLst/>
          </a:prstGeom>
          <a:noFill/>
          <a:ln/>
        </p:spPr>
        <p:txBody>
          <a:bodyPr wrap="square" lIns="0" tIns="0" rIns="0" bIns="0" rtlCol="0" anchor="ctr"/>
          <a:lstStyle/>
          <a:p>
            <a:pPr>
              <a:lnSpc>
                <a:spcPct val="120000"/>
              </a:lnSpc>
            </a:pPr>
            <a:r>
              <a:rPr lang="en-US" sz="1667" b="1" dirty="0">
                <a:solidFill>
                  <a:srgbClr val="E2E8F0"/>
                </a:solidFill>
                <a:latin typeface="Noto Sans SC" pitchFamily="34" charset="0"/>
                <a:ea typeface="Noto Sans SC" pitchFamily="34" charset="-122"/>
                <a:cs typeface="Noto Sans SC" pitchFamily="34" charset="-120"/>
              </a:rPr>
              <a:t>数据加载操作</a:t>
            </a:r>
            <a:endParaRPr lang="en-US" sz="1600" dirty="0"/>
          </a:p>
        </p:txBody>
      </p:sp>
      <p:sp>
        <p:nvSpPr>
          <p:cNvPr id="6" name="Shape 4"/>
          <p:cNvSpPr/>
          <p:nvPr/>
        </p:nvSpPr>
        <p:spPr>
          <a:xfrm>
            <a:off x="433917" y="2352146"/>
            <a:ext cx="7514167" cy="2010833"/>
          </a:xfrm>
          <a:custGeom>
            <a:avLst/>
            <a:gdLst/>
            <a:ahLst/>
            <a:cxnLst/>
            <a:rect l="l" t="t" r="r" b="b"/>
            <a:pathLst>
              <a:path w="7514167" h="2010833">
                <a:moveTo>
                  <a:pt x="42328" y="0"/>
                </a:moveTo>
                <a:lnTo>
                  <a:pt x="7471839" y="0"/>
                </a:lnTo>
                <a:cubicBezTo>
                  <a:pt x="7495216" y="0"/>
                  <a:pt x="7514167" y="18951"/>
                  <a:pt x="7514167" y="42328"/>
                </a:cubicBezTo>
                <a:lnTo>
                  <a:pt x="7514167" y="1968505"/>
                </a:lnTo>
                <a:cubicBezTo>
                  <a:pt x="7514167" y="1991882"/>
                  <a:pt x="7495216" y="2010833"/>
                  <a:pt x="7471839" y="2010833"/>
                </a:cubicBezTo>
                <a:lnTo>
                  <a:pt x="42328" y="2010833"/>
                </a:lnTo>
                <a:cubicBezTo>
                  <a:pt x="18951" y="2010833"/>
                  <a:pt x="0" y="1991882"/>
                  <a:pt x="0" y="1968505"/>
                </a:cubicBezTo>
                <a:lnTo>
                  <a:pt x="0" y="42328"/>
                </a:lnTo>
                <a:cubicBezTo>
                  <a:pt x="0" y="18967"/>
                  <a:pt x="18967" y="0"/>
                  <a:pt x="42328" y="0"/>
                </a:cubicBezTo>
                <a:close/>
              </a:path>
            </a:pathLst>
          </a:custGeom>
          <a:solidFill>
            <a:srgbClr val="1A202C"/>
          </a:solidFill>
          <a:ln w="25400">
            <a:solidFill>
              <a:srgbClr val="D69E2E"/>
            </a:solidFill>
            <a:prstDash val="solid"/>
          </a:ln>
        </p:spPr>
        <p:txBody>
          <a:bodyPr/>
          <a:lstStyle/>
          <a:p>
            <a:endParaRPr lang="zh-CN" altLang="en-US"/>
          </a:p>
        </p:txBody>
      </p:sp>
      <p:sp>
        <p:nvSpPr>
          <p:cNvPr id="7" name="Text 5"/>
          <p:cNvSpPr/>
          <p:nvPr/>
        </p:nvSpPr>
        <p:spPr>
          <a:xfrm>
            <a:off x="613832" y="2352145"/>
            <a:ext cx="7154335" cy="2010833"/>
          </a:xfrm>
          <a:prstGeom prst="rect">
            <a:avLst/>
          </a:prstGeom>
          <a:noFill/>
          <a:ln/>
        </p:spPr>
        <p:txBody>
          <a:bodyPr wrap="square" lIns="0" tIns="0" rIns="0" bIns="0" rtlCol="0" anchor="ctr"/>
          <a:lstStyle/>
          <a:p>
            <a:pPr>
              <a:lnSpc>
                <a:spcPct val="140000"/>
              </a:lnSpc>
            </a:pPr>
            <a:r>
              <a:rPr lang="en-US" sz="1167" dirty="0">
                <a:solidFill>
                  <a:srgbClr val="E2E8F0"/>
                </a:solidFill>
                <a:latin typeface="MiSans" pitchFamily="34" charset="0"/>
                <a:ea typeface="MiSans" pitchFamily="34" charset="-122"/>
                <a:cs typeface="MiSans" pitchFamily="34" charset="-120"/>
              </a:rPr>
              <a:t>-- </a:t>
            </a:r>
            <a:r>
              <a:rPr lang="en-US" sz="1167" dirty="0" err="1">
                <a:solidFill>
                  <a:srgbClr val="E2E8F0"/>
                </a:solidFill>
                <a:latin typeface="MiSans" pitchFamily="34" charset="0"/>
                <a:ea typeface="MiSans" pitchFamily="34" charset="-122"/>
                <a:cs typeface="MiSans" pitchFamily="34" charset="-120"/>
              </a:rPr>
              <a:t>从HDFS加载数据</a:t>
            </a:r>
            <a:endParaRPr lang="en-US" sz="1167" dirty="0">
              <a:solidFill>
                <a:srgbClr val="E2E8F0"/>
              </a:solidFill>
              <a:latin typeface="MiSans" pitchFamily="34" charset="0"/>
              <a:ea typeface="MiSans" pitchFamily="34" charset="-122"/>
              <a:cs typeface="MiSans" pitchFamily="34" charset="-120"/>
            </a:endParaRPr>
          </a:p>
          <a:p>
            <a:pPr>
              <a:lnSpc>
                <a:spcPct val="140000"/>
              </a:lnSpc>
            </a:pPr>
            <a:r>
              <a:rPr lang="en-US" sz="1167" dirty="0">
                <a:solidFill>
                  <a:srgbClr val="E2E8F0"/>
                </a:solidFill>
                <a:latin typeface="MiSans" pitchFamily="34" charset="0"/>
                <a:ea typeface="MiSans" pitchFamily="34" charset="-122"/>
                <a:cs typeface="MiSans" pitchFamily="34" charset="-120"/>
              </a:rPr>
              <a:t> LOAD DATA INPATH '/user/data/sales.csv' INTO TABLE sales; </a:t>
            </a:r>
          </a:p>
          <a:p>
            <a:pPr>
              <a:lnSpc>
                <a:spcPct val="140000"/>
              </a:lnSpc>
            </a:pPr>
            <a:r>
              <a:rPr lang="en-US" sz="1167" dirty="0">
                <a:solidFill>
                  <a:srgbClr val="E2E8F0"/>
                </a:solidFill>
                <a:latin typeface="MiSans" pitchFamily="34" charset="0"/>
                <a:ea typeface="MiSans" pitchFamily="34" charset="-122"/>
                <a:cs typeface="MiSans" pitchFamily="34" charset="-120"/>
              </a:rPr>
              <a:t>-- </a:t>
            </a:r>
            <a:r>
              <a:rPr lang="en-US" sz="1167" dirty="0" err="1">
                <a:solidFill>
                  <a:srgbClr val="E2E8F0"/>
                </a:solidFill>
                <a:latin typeface="MiSans" pitchFamily="34" charset="0"/>
                <a:ea typeface="MiSans" pitchFamily="34" charset="-122"/>
                <a:cs typeface="MiSans" pitchFamily="34" charset="-120"/>
              </a:rPr>
              <a:t>从本地文件系统加载</a:t>
            </a:r>
            <a:r>
              <a:rPr lang="en-US" sz="1167" dirty="0">
                <a:solidFill>
                  <a:srgbClr val="E2E8F0"/>
                </a:solidFill>
                <a:latin typeface="MiSans" pitchFamily="34" charset="0"/>
                <a:ea typeface="MiSans" pitchFamily="34" charset="-122"/>
                <a:cs typeface="MiSans" pitchFamily="34" charset="-120"/>
              </a:rPr>
              <a:t> </a:t>
            </a:r>
          </a:p>
          <a:p>
            <a:pPr>
              <a:lnSpc>
                <a:spcPct val="140000"/>
              </a:lnSpc>
            </a:pPr>
            <a:r>
              <a:rPr lang="en-US" sz="1167" dirty="0">
                <a:solidFill>
                  <a:srgbClr val="E2E8F0"/>
                </a:solidFill>
                <a:latin typeface="MiSans" pitchFamily="34" charset="0"/>
                <a:ea typeface="MiSans" pitchFamily="34" charset="-122"/>
                <a:cs typeface="MiSans" pitchFamily="34" charset="-120"/>
              </a:rPr>
              <a:t>LOAD DATA LOCAL INPATH '/opt/data.csv' INTO TABLE sales; </a:t>
            </a:r>
          </a:p>
          <a:p>
            <a:pPr>
              <a:lnSpc>
                <a:spcPct val="140000"/>
              </a:lnSpc>
            </a:pPr>
            <a:r>
              <a:rPr lang="en-US" sz="1167" dirty="0">
                <a:solidFill>
                  <a:srgbClr val="E2E8F0"/>
                </a:solidFill>
                <a:latin typeface="MiSans" pitchFamily="34" charset="0"/>
                <a:ea typeface="MiSans" pitchFamily="34" charset="-122"/>
                <a:cs typeface="MiSans" pitchFamily="34" charset="-120"/>
              </a:rPr>
              <a:t>-- </a:t>
            </a:r>
            <a:r>
              <a:rPr lang="en-US" sz="1167" dirty="0" err="1">
                <a:solidFill>
                  <a:srgbClr val="E2E8F0"/>
                </a:solidFill>
                <a:latin typeface="MiSans" pitchFamily="34" charset="0"/>
                <a:ea typeface="MiSans" pitchFamily="34" charset="-122"/>
                <a:cs typeface="MiSans" pitchFamily="34" charset="-120"/>
              </a:rPr>
              <a:t>覆盖现有数据</a:t>
            </a:r>
            <a:endParaRPr lang="en-US" sz="1167" dirty="0">
              <a:solidFill>
                <a:srgbClr val="E2E8F0"/>
              </a:solidFill>
              <a:latin typeface="MiSans" pitchFamily="34" charset="0"/>
              <a:ea typeface="MiSans" pitchFamily="34" charset="-122"/>
              <a:cs typeface="MiSans" pitchFamily="34" charset="-120"/>
            </a:endParaRPr>
          </a:p>
          <a:p>
            <a:pPr>
              <a:lnSpc>
                <a:spcPct val="140000"/>
              </a:lnSpc>
            </a:pPr>
            <a:r>
              <a:rPr lang="en-US" sz="1167" dirty="0">
                <a:solidFill>
                  <a:srgbClr val="E2E8F0"/>
                </a:solidFill>
                <a:latin typeface="MiSans" pitchFamily="34" charset="0"/>
                <a:ea typeface="MiSans" pitchFamily="34" charset="-122"/>
                <a:cs typeface="MiSans" pitchFamily="34" charset="-120"/>
              </a:rPr>
              <a:t> LOAD DATA INPATH '/user/data/*' OVERWRITE INTO TABLE sales; </a:t>
            </a:r>
          </a:p>
          <a:p>
            <a:pPr>
              <a:lnSpc>
                <a:spcPct val="140000"/>
              </a:lnSpc>
            </a:pPr>
            <a:r>
              <a:rPr lang="en-US" sz="1167" dirty="0">
                <a:solidFill>
                  <a:srgbClr val="E2E8F0"/>
                </a:solidFill>
                <a:latin typeface="MiSans" pitchFamily="34" charset="0"/>
                <a:ea typeface="MiSans" pitchFamily="34" charset="-122"/>
                <a:cs typeface="MiSans" pitchFamily="34" charset="-120"/>
              </a:rPr>
              <a:t>-- </a:t>
            </a:r>
            <a:r>
              <a:rPr lang="en-US" sz="1167" dirty="0" err="1">
                <a:solidFill>
                  <a:srgbClr val="E2E8F0"/>
                </a:solidFill>
                <a:latin typeface="MiSans" pitchFamily="34" charset="0"/>
                <a:ea typeface="MiSans" pitchFamily="34" charset="-122"/>
                <a:cs typeface="MiSans" pitchFamily="34" charset="-120"/>
              </a:rPr>
              <a:t>加载到特定分区</a:t>
            </a:r>
            <a:endParaRPr lang="en-US" sz="1167" dirty="0">
              <a:solidFill>
                <a:srgbClr val="E2E8F0"/>
              </a:solidFill>
              <a:latin typeface="MiSans" pitchFamily="34" charset="0"/>
              <a:ea typeface="MiSans" pitchFamily="34" charset="-122"/>
              <a:cs typeface="MiSans" pitchFamily="34" charset="-120"/>
            </a:endParaRPr>
          </a:p>
          <a:p>
            <a:pPr>
              <a:lnSpc>
                <a:spcPct val="140000"/>
              </a:lnSpc>
            </a:pPr>
            <a:r>
              <a:rPr lang="en-US" sz="1167" dirty="0">
                <a:solidFill>
                  <a:srgbClr val="E2E8F0"/>
                </a:solidFill>
                <a:latin typeface="MiSans" pitchFamily="34" charset="0"/>
                <a:ea typeface="MiSans" pitchFamily="34" charset="-122"/>
                <a:cs typeface="MiSans" pitchFamily="34" charset="-120"/>
              </a:rPr>
              <a:t> LOAD DATA INPATH '/user/data/202312/*' INTO TABLE sales PARTITION (year=2023, month=12);</a:t>
            </a:r>
            <a:endParaRPr lang="en-US" sz="1600" dirty="0"/>
          </a:p>
        </p:txBody>
      </p:sp>
      <p:sp>
        <p:nvSpPr>
          <p:cNvPr id="8" name="Text 6"/>
          <p:cNvSpPr/>
          <p:nvPr/>
        </p:nvSpPr>
        <p:spPr>
          <a:xfrm>
            <a:off x="8297333" y="1918229"/>
            <a:ext cx="7641167" cy="296333"/>
          </a:xfrm>
          <a:prstGeom prst="rect">
            <a:avLst/>
          </a:prstGeom>
          <a:noFill/>
          <a:ln/>
        </p:spPr>
        <p:txBody>
          <a:bodyPr wrap="square" lIns="0" tIns="0" rIns="0" bIns="0" rtlCol="0" anchor="ctr"/>
          <a:lstStyle/>
          <a:p>
            <a:pPr>
              <a:lnSpc>
                <a:spcPct val="120000"/>
              </a:lnSpc>
            </a:pPr>
            <a:r>
              <a:rPr lang="en-US" sz="1667" b="1" dirty="0">
                <a:solidFill>
                  <a:srgbClr val="E2E8F0"/>
                </a:solidFill>
                <a:latin typeface="Noto Sans SC" pitchFamily="34" charset="0"/>
                <a:ea typeface="Noto Sans SC" pitchFamily="34" charset="-122"/>
                <a:cs typeface="Noto Sans SC" pitchFamily="34" charset="-120"/>
              </a:rPr>
              <a:t>数据插入和导出</a:t>
            </a:r>
            <a:endParaRPr lang="en-US" sz="1600" dirty="0"/>
          </a:p>
        </p:txBody>
      </p:sp>
      <p:sp>
        <p:nvSpPr>
          <p:cNvPr id="9" name="Shape 7"/>
          <p:cNvSpPr/>
          <p:nvPr/>
        </p:nvSpPr>
        <p:spPr>
          <a:xfrm>
            <a:off x="8307917" y="2352146"/>
            <a:ext cx="7514167" cy="2010833"/>
          </a:xfrm>
          <a:custGeom>
            <a:avLst/>
            <a:gdLst/>
            <a:ahLst/>
            <a:cxnLst/>
            <a:rect l="l" t="t" r="r" b="b"/>
            <a:pathLst>
              <a:path w="7514167" h="2010833">
                <a:moveTo>
                  <a:pt x="42328" y="0"/>
                </a:moveTo>
                <a:lnTo>
                  <a:pt x="7471839" y="0"/>
                </a:lnTo>
                <a:cubicBezTo>
                  <a:pt x="7495216" y="0"/>
                  <a:pt x="7514167" y="18951"/>
                  <a:pt x="7514167" y="42328"/>
                </a:cubicBezTo>
                <a:lnTo>
                  <a:pt x="7514167" y="1968505"/>
                </a:lnTo>
                <a:cubicBezTo>
                  <a:pt x="7514167" y="1991882"/>
                  <a:pt x="7495216" y="2010833"/>
                  <a:pt x="7471839" y="2010833"/>
                </a:cubicBezTo>
                <a:lnTo>
                  <a:pt x="42328" y="2010833"/>
                </a:lnTo>
                <a:cubicBezTo>
                  <a:pt x="18951" y="2010833"/>
                  <a:pt x="0" y="1991882"/>
                  <a:pt x="0" y="1968505"/>
                </a:cubicBezTo>
                <a:lnTo>
                  <a:pt x="0" y="42328"/>
                </a:lnTo>
                <a:cubicBezTo>
                  <a:pt x="0" y="18967"/>
                  <a:pt x="18967" y="0"/>
                  <a:pt x="42328" y="0"/>
                </a:cubicBezTo>
                <a:close/>
              </a:path>
            </a:pathLst>
          </a:custGeom>
          <a:solidFill>
            <a:srgbClr val="1A202C"/>
          </a:solidFill>
          <a:ln w="25400">
            <a:solidFill>
              <a:srgbClr val="D69E2E"/>
            </a:solidFill>
            <a:prstDash val="solid"/>
          </a:ln>
        </p:spPr>
        <p:txBody>
          <a:bodyPr/>
          <a:lstStyle/>
          <a:p>
            <a:endParaRPr lang="zh-CN" altLang="en-US"/>
          </a:p>
        </p:txBody>
      </p:sp>
      <p:sp>
        <p:nvSpPr>
          <p:cNvPr id="10" name="Text 8"/>
          <p:cNvSpPr/>
          <p:nvPr/>
        </p:nvSpPr>
        <p:spPr>
          <a:xfrm>
            <a:off x="8297333" y="2352145"/>
            <a:ext cx="7514166" cy="2010833"/>
          </a:xfrm>
          <a:prstGeom prst="rect">
            <a:avLst/>
          </a:prstGeom>
          <a:noFill/>
          <a:ln/>
        </p:spPr>
        <p:txBody>
          <a:bodyPr wrap="square" lIns="0" tIns="0" rIns="0" bIns="0" rtlCol="0" anchor="ctr"/>
          <a:lstStyle/>
          <a:p>
            <a:pPr>
              <a:lnSpc>
                <a:spcPct val="140000"/>
              </a:lnSpc>
            </a:pPr>
            <a:r>
              <a:rPr lang="en-US" sz="1167" dirty="0">
                <a:solidFill>
                  <a:srgbClr val="E2E8F0"/>
                </a:solidFill>
                <a:latin typeface="MiSans" pitchFamily="34" charset="0"/>
                <a:ea typeface="MiSans" pitchFamily="34" charset="-122"/>
                <a:cs typeface="MiSans" pitchFamily="34" charset="-120"/>
              </a:rPr>
              <a:t>-- </a:t>
            </a:r>
            <a:r>
              <a:rPr lang="en-US" sz="1167" dirty="0" err="1">
                <a:solidFill>
                  <a:srgbClr val="E2E8F0"/>
                </a:solidFill>
                <a:latin typeface="MiSans" pitchFamily="34" charset="0"/>
                <a:ea typeface="MiSans" pitchFamily="34" charset="-122"/>
                <a:cs typeface="MiSans" pitchFamily="34" charset="-120"/>
              </a:rPr>
              <a:t>插入查询结果</a:t>
            </a:r>
            <a:r>
              <a:rPr lang="en-US" sz="1167" dirty="0">
                <a:solidFill>
                  <a:srgbClr val="E2E8F0"/>
                </a:solidFill>
                <a:latin typeface="MiSans" pitchFamily="34" charset="0"/>
                <a:ea typeface="MiSans" pitchFamily="34" charset="-122"/>
                <a:cs typeface="MiSans" pitchFamily="34" charset="-120"/>
              </a:rPr>
              <a:t> </a:t>
            </a:r>
          </a:p>
          <a:p>
            <a:pPr>
              <a:lnSpc>
                <a:spcPct val="140000"/>
              </a:lnSpc>
            </a:pPr>
            <a:r>
              <a:rPr lang="en-US" sz="1167" dirty="0">
                <a:solidFill>
                  <a:srgbClr val="E2E8F0"/>
                </a:solidFill>
                <a:latin typeface="MiSans" pitchFamily="34" charset="0"/>
                <a:ea typeface="MiSans" pitchFamily="34" charset="-122"/>
                <a:cs typeface="MiSans" pitchFamily="34" charset="-120"/>
              </a:rPr>
              <a:t>INSERT INTO TABLE monthly_sales SELECT year, month, SUM(amount) FROM sales GROUP BY year, month; </a:t>
            </a:r>
          </a:p>
          <a:p>
            <a:pPr>
              <a:lnSpc>
                <a:spcPct val="140000"/>
              </a:lnSpc>
            </a:pPr>
            <a:r>
              <a:rPr lang="en-US" sz="1167" dirty="0">
                <a:solidFill>
                  <a:srgbClr val="E2E8F0"/>
                </a:solidFill>
                <a:latin typeface="MiSans" pitchFamily="34" charset="0"/>
                <a:ea typeface="MiSans" pitchFamily="34" charset="-122"/>
                <a:cs typeface="MiSans" pitchFamily="34" charset="-120"/>
              </a:rPr>
              <a:t>-- </a:t>
            </a:r>
            <a:r>
              <a:rPr lang="en-US" sz="1167" dirty="0" err="1">
                <a:solidFill>
                  <a:srgbClr val="E2E8F0"/>
                </a:solidFill>
                <a:latin typeface="MiSans" pitchFamily="34" charset="0"/>
                <a:ea typeface="MiSans" pitchFamily="34" charset="-122"/>
                <a:cs typeface="MiSans" pitchFamily="34" charset="-120"/>
              </a:rPr>
              <a:t>多表插入</a:t>
            </a:r>
            <a:endParaRPr lang="en-US" sz="1167" dirty="0">
              <a:solidFill>
                <a:srgbClr val="E2E8F0"/>
              </a:solidFill>
              <a:latin typeface="MiSans" pitchFamily="34" charset="0"/>
              <a:ea typeface="MiSans" pitchFamily="34" charset="-122"/>
              <a:cs typeface="MiSans" pitchFamily="34" charset="-120"/>
            </a:endParaRPr>
          </a:p>
          <a:p>
            <a:pPr>
              <a:lnSpc>
                <a:spcPct val="140000"/>
              </a:lnSpc>
            </a:pPr>
            <a:r>
              <a:rPr lang="en-US" sz="1167" dirty="0">
                <a:solidFill>
                  <a:srgbClr val="E2E8F0"/>
                </a:solidFill>
                <a:latin typeface="MiSans" pitchFamily="34" charset="0"/>
                <a:ea typeface="MiSans" pitchFamily="34" charset="-122"/>
                <a:cs typeface="MiSans" pitchFamily="34" charset="-120"/>
              </a:rPr>
              <a:t> FROM daily_sales ds INSERT INTO monthly_sales SELECT year(date), month(date), SUM(amount) GROUP BY year(date), month(date) INSERT INTO regional_sales SELECT region, SUM(amount) GROUP BY region;</a:t>
            </a:r>
          </a:p>
          <a:p>
            <a:pPr>
              <a:lnSpc>
                <a:spcPct val="140000"/>
              </a:lnSpc>
            </a:pPr>
            <a:r>
              <a:rPr lang="en-US" sz="1167" dirty="0">
                <a:solidFill>
                  <a:srgbClr val="E2E8F0"/>
                </a:solidFill>
                <a:latin typeface="MiSans" pitchFamily="34" charset="0"/>
                <a:ea typeface="MiSans" pitchFamily="34" charset="-122"/>
                <a:cs typeface="MiSans" pitchFamily="34" charset="-120"/>
              </a:rPr>
              <a:t> -- </a:t>
            </a:r>
            <a:r>
              <a:rPr lang="en-US" sz="1167" dirty="0" err="1">
                <a:solidFill>
                  <a:srgbClr val="E2E8F0"/>
                </a:solidFill>
                <a:latin typeface="MiSans" pitchFamily="34" charset="0"/>
                <a:ea typeface="MiSans" pitchFamily="34" charset="-122"/>
                <a:cs typeface="MiSans" pitchFamily="34" charset="-120"/>
              </a:rPr>
              <a:t>导出数据到</a:t>
            </a:r>
            <a:endParaRPr lang="en-US" sz="1167" dirty="0">
              <a:solidFill>
                <a:srgbClr val="E2E8F0"/>
              </a:solidFill>
              <a:latin typeface="MiSans" pitchFamily="34" charset="0"/>
              <a:ea typeface="MiSans" pitchFamily="34" charset="-122"/>
              <a:cs typeface="MiSans" pitchFamily="34" charset="-120"/>
            </a:endParaRPr>
          </a:p>
          <a:p>
            <a:pPr>
              <a:lnSpc>
                <a:spcPct val="140000"/>
              </a:lnSpc>
            </a:pPr>
            <a:r>
              <a:rPr lang="en-US" sz="1167" dirty="0">
                <a:solidFill>
                  <a:srgbClr val="E2E8F0"/>
                </a:solidFill>
                <a:latin typeface="MiSans" pitchFamily="34" charset="0"/>
                <a:ea typeface="MiSans" pitchFamily="34" charset="-122"/>
                <a:cs typeface="MiSans" pitchFamily="34" charset="-120"/>
              </a:rPr>
              <a:t>HDFS INSERT OVERWRITE DIRECTORY '/export/sales' STORED AS TEXTFILE SELECT * FROM sales WHERE year = 2023;</a:t>
            </a:r>
            <a:endParaRPr lang="en-US" sz="1600" dirty="0"/>
          </a:p>
        </p:txBody>
      </p:sp>
      <p:sp>
        <p:nvSpPr>
          <p:cNvPr id="11" name="Text 9"/>
          <p:cNvSpPr/>
          <p:nvPr/>
        </p:nvSpPr>
        <p:spPr>
          <a:xfrm>
            <a:off x="423333" y="4627563"/>
            <a:ext cx="15515167" cy="296333"/>
          </a:xfrm>
          <a:prstGeom prst="rect">
            <a:avLst/>
          </a:prstGeom>
          <a:noFill/>
          <a:ln/>
        </p:spPr>
        <p:txBody>
          <a:bodyPr wrap="square" lIns="0" tIns="0" rIns="0" bIns="0" rtlCol="0" anchor="ctr"/>
          <a:lstStyle/>
          <a:p>
            <a:pPr>
              <a:lnSpc>
                <a:spcPct val="120000"/>
              </a:lnSpc>
            </a:pPr>
            <a:r>
              <a:rPr lang="en-US" sz="1667" b="1" dirty="0">
                <a:solidFill>
                  <a:srgbClr val="E2E8F0"/>
                </a:solidFill>
                <a:latin typeface="Noto Sans SC" pitchFamily="34" charset="0"/>
                <a:ea typeface="Noto Sans SC" pitchFamily="34" charset="-122"/>
                <a:cs typeface="Noto Sans SC" pitchFamily="34" charset="-120"/>
              </a:rPr>
              <a:t>数据更新和删除(Hive 3.0+ 支持ACID事务)</a:t>
            </a:r>
            <a:endParaRPr lang="en-US" sz="1600" dirty="0"/>
          </a:p>
        </p:txBody>
      </p:sp>
      <p:sp>
        <p:nvSpPr>
          <p:cNvPr id="12" name="Shape 10"/>
          <p:cNvSpPr/>
          <p:nvPr/>
        </p:nvSpPr>
        <p:spPr>
          <a:xfrm>
            <a:off x="433917" y="5061479"/>
            <a:ext cx="15388167" cy="3997855"/>
          </a:xfrm>
          <a:custGeom>
            <a:avLst/>
            <a:gdLst/>
            <a:ahLst/>
            <a:cxnLst/>
            <a:rect l="l" t="t" r="r" b="b"/>
            <a:pathLst>
              <a:path w="15388167" h="4212167">
                <a:moveTo>
                  <a:pt x="42332" y="0"/>
                </a:moveTo>
                <a:lnTo>
                  <a:pt x="15345834" y="0"/>
                </a:lnTo>
                <a:cubicBezTo>
                  <a:pt x="15369214" y="0"/>
                  <a:pt x="15388167" y="18953"/>
                  <a:pt x="15388167" y="42332"/>
                </a:cubicBezTo>
                <a:lnTo>
                  <a:pt x="15388167" y="4169834"/>
                </a:lnTo>
                <a:cubicBezTo>
                  <a:pt x="15388167" y="4193214"/>
                  <a:pt x="15369214" y="4212167"/>
                  <a:pt x="15345834" y="4212167"/>
                </a:cubicBezTo>
                <a:lnTo>
                  <a:pt x="42332" y="4212167"/>
                </a:lnTo>
                <a:cubicBezTo>
                  <a:pt x="18953" y="4212167"/>
                  <a:pt x="0" y="4193214"/>
                  <a:pt x="0" y="4169834"/>
                </a:cubicBezTo>
                <a:lnTo>
                  <a:pt x="0" y="42332"/>
                </a:lnTo>
                <a:cubicBezTo>
                  <a:pt x="0" y="18953"/>
                  <a:pt x="18953" y="0"/>
                  <a:pt x="42332" y="0"/>
                </a:cubicBezTo>
                <a:close/>
              </a:path>
            </a:pathLst>
          </a:custGeom>
          <a:solidFill>
            <a:srgbClr val="1A202C"/>
          </a:solidFill>
          <a:ln w="25400">
            <a:solidFill>
              <a:srgbClr val="D69E2E"/>
            </a:solidFill>
            <a:prstDash val="solid"/>
          </a:ln>
        </p:spPr>
        <p:txBody>
          <a:bodyPr/>
          <a:lstStyle/>
          <a:p>
            <a:endParaRPr lang="zh-CN" altLang="en-US"/>
          </a:p>
        </p:txBody>
      </p:sp>
      <p:sp>
        <p:nvSpPr>
          <p:cNvPr id="13" name="Text 11"/>
          <p:cNvSpPr/>
          <p:nvPr/>
        </p:nvSpPr>
        <p:spPr>
          <a:xfrm>
            <a:off x="423332" y="5180541"/>
            <a:ext cx="15388167" cy="3878793"/>
          </a:xfrm>
          <a:prstGeom prst="rect">
            <a:avLst/>
          </a:prstGeom>
          <a:noFill/>
          <a:ln/>
        </p:spPr>
        <p:txBody>
          <a:bodyPr wrap="square" lIns="0" tIns="0" rIns="0" bIns="0" numCol="3" rtlCol="0" anchor="ctr"/>
          <a:lstStyle/>
          <a:p>
            <a:pPr>
              <a:lnSpc>
                <a:spcPct val="140000"/>
              </a:lnSpc>
            </a:pPr>
            <a:r>
              <a:rPr lang="en-US" sz="1167" dirty="0">
                <a:solidFill>
                  <a:srgbClr val="E2E8F0"/>
                </a:solidFill>
                <a:latin typeface="MiSans" pitchFamily="34" charset="0"/>
                <a:ea typeface="MiSans" pitchFamily="34" charset="-122"/>
                <a:cs typeface="MiSans" pitchFamily="34" charset="-120"/>
              </a:rPr>
              <a:t>MERGE INTO sales t</a:t>
            </a:r>
          </a:p>
          <a:p>
            <a:pPr>
              <a:lnSpc>
                <a:spcPct val="140000"/>
              </a:lnSpc>
            </a:pPr>
            <a:r>
              <a:rPr lang="en-US" sz="1167" dirty="0">
                <a:solidFill>
                  <a:srgbClr val="E2E8F0"/>
                </a:solidFill>
                <a:latin typeface="MiSans" pitchFamily="34" charset="0"/>
                <a:ea typeface="MiSans" pitchFamily="34" charset="-122"/>
                <a:cs typeface="MiSans" pitchFamily="34" charset="-120"/>
              </a:rPr>
              <a:t>USING </a:t>
            </a:r>
            <a:r>
              <a:rPr lang="en-US" sz="1167" dirty="0" err="1">
                <a:solidFill>
                  <a:srgbClr val="E2E8F0"/>
                </a:solidFill>
                <a:latin typeface="MiSans" pitchFamily="34" charset="0"/>
                <a:ea typeface="MiSans" pitchFamily="34" charset="-122"/>
                <a:cs typeface="MiSans" pitchFamily="34" charset="-120"/>
              </a:rPr>
              <a:t>sales_changes</a:t>
            </a:r>
            <a:r>
              <a:rPr lang="en-US" sz="1167" dirty="0">
                <a:solidFill>
                  <a:srgbClr val="E2E8F0"/>
                </a:solidFill>
                <a:latin typeface="MiSans" pitchFamily="34" charset="0"/>
                <a:ea typeface="MiSans" pitchFamily="34" charset="-122"/>
                <a:cs typeface="MiSans" pitchFamily="34" charset="-120"/>
              </a:rPr>
              <a:t> s</a:t>
            </a:r>
          </a:p>
          <a:p>
            <a:pPr>
              <a:lnSpc>
                <a:spcPct val="140000"/>
              </a:lnSpc>
            </a:pPr>
            <a:r>
              <a:rPr lang="en-US" sz="1167" dirty="0">
                <a:solidFill>
                  <a:srgbClr val="E2E8F0"/>
                </a:solidFill>
                <a:latin typeface="MiSans" pitchFamily="34" charset="0"/>
                <a:ea typeface="MiSans" pitchFamily="34" charset="-122"/>
                <a:cs typeface="MiSans" pitchFamily="34" charset="-120"/>
              </a:rPr>
              <a:t>ON </a:t>
            </a:r>
            <a:r>
              <a:rPr lang="en-US" sz="1167" dirty="0" err="1">
                <a:solidFill>
                  <a:srgbClr val="E2E8F0"/>
                </a:solidFill>
                <a:latin typeface="MiSans" pitchFamily="34" charset="0"/>
                <a:ea typeface="MiSans" pitchFamily="34" charset="-122"/>
                <a:cs typeface="MiSans" pitchFamily="34" charset="-120"/>
              </a:rPr>
              <a:t>t.id</a:t>
            </a:r>
            <a:r>
              <a:rPr lang="en-US" sz="1167" dirty="0">
                <a:solidFill>
                  <a:srgbClr val="E2E8F0"/>
                </a:solidFill>
                <a:latin typeface="MiSans" pitchFamily="34" charset="0"/>
                <a:ea typeface="MiSans" pitchFamily="34" charset="-122"/>
                <a:cs typeface="MiSans" pitchFamily="34" charset="-120"/>
              </a:rPr>
              <a:t> = </a:t>
            </a:r>
            <a:r>
              <a:rPr lang="en-US" sz="1167" dirty="0" err="1">
                <a:solidFill>
                  <a:srgbClr val="E2E8F0"/>
                </a:solidFill>
                <a:latin typeface="MiSans" pitchFamily="34" charset="0"/>
                <a:ea typeface="MiSans" pitchFamily="34" charset="-122"/>
                <a:cs typeface="MiSans" pitchFamily="34" charset="-120"/>
              </a:rPr>
              <a:t>s.id</a:t>
            </a:r>
            <a:endParaRPr lang="en-US" sz="1167" dirty="0">
              <a:solidFill>
                <a:srgbClr val="E2E8F0"/>
              </a:solidFill>
              <a:latin typeface="MiSans" pitchFamily="34" charset="0"/>
              <a:ea typeface="MiSans" pitchFamily="34" charset="-122"/>
              <a:cs typeface="MiSans" pitchFamily="34" charset="-120"/>
            </a:endParaRPr>
          </a:p>
          <a:p>
            <a:pPr>
              <a:lnSpc>
                <a:spcPct val="140000"/>
              </a:lnSpc>
            </a:pPr>
            <a:endParaRPr lang="en-US" sz="1167" dirty="0">
              <a:solidFill>
                <a:srgbClr val="E2E8F0"/>
              </a:solidFill>
              <a:latin typeface="MiSans" pitchFamily="34" charset="0"/>
              <a:ea typeface="MiSans" pitchFamily="34" charset="-122"/>
              <a:cs typeface="MiSans" pitchFamily="34" charset="-120"/>
            </a:endParaRPr>
          </a:p>
          <a:p>
            <a:pPr>
              <a:lnSpc>
                <a:spcPct val="140000"/>
              </a:lnSpc>
            </a:pPr>
            <a:r>
              <a:rPr lang="en-US" sz="1167" dirty="0">
                <a:solidFill>
                  <a:srgbClr val="00B050"/>
                </a:solidFill>
                <a:latin typeface="MiSans" pitchFamily="34" charset="0"/>
                <a:ea typeface="MiSans" pitchFamily="34" charset="-122"/>
                <a:cs typeface="MiSans" pitchFamily="34" charset="-120"/>
              </a:rPr>
              <a:t>-- 1. </a:t>
            </a:r>
            <a:r>
              <a:rPr lang="zh-CN" altLang="en-US" sz="1167" dirty="0">
                <a:solidFill>
                  <a:srgbClr val="00B050"/>
                </a:solidFill>
                <a:latin typeface="MiSans" pitchFamily="34" charset="0"/>
                <a:ea typeface="MiSans" pitchFamily="34" charset="-122"/>
                <a:cs typeface="MiSans" pitchFamily="34" charset="-120"/>
              </a:rPr>
              <a:t>已存在记录：更新 </a:t>
            </a:r>
            <a:r>
              <a:rPr lang="en-US" altLang="zh-CN" sz="1167" dirty="0">
                <a:solidFill>
                  <a:srgbClr val="00B050"/>
                </a:solidFill>
                <a:latin typeface="MiSans" pitchFamily="34" charset="0"/>
                <a:ea typeface="MiSans" pitchFamily="34" charset="-122"/>
                <a:cs typeface="MiSans" pitchFamily="34" charset="-120"/>
              </a:rPr>
              <a:t>2023 </a:t>
            </a:r>
            <a:r>
              <a:rPr lang="zh-CN" altLang="en-US" sz="1167" dirty="0">
                <a:solidFill>
                  <a:srgbClr val="00B050"/>
                </a:solidFill>
                <a:latin typeface="MiSans" pitchFamily="34" charset="0"/>
                <a:ea typeface="MiSans" pitchFamily="34" charset="-122"/>
                <a:cs typeface="MiSans" pitchFamily="34" charset="-120"/>
              </a:rPr>
              <a:t>年 </a:t>
            </a:r>
            <a:r>
              <a:rPr lang="en-US" altLang="zh-CN" sz="1167" dirty="0">
                <a:solidFill>
                  <a:srgbClr val="00B050"/>
                </a:solidFill>
                <a:latin typeface="MiSans" pitchFamily="34" charset="0"/>
                <a:ea typeface="MiSans" pitchFamily="34" charset="-122"/>
                <a:cs typeface="MiSans" pitchFamily="34" charset="-120"/>
              </a:rPr>
              <a:t>12 </a:t>
            </a:r>
            <a:r>
              <a:rPr lang="zh-CN" altLang="en-US" sz="1167" dirty="0">
                <a:solidFill>
                  <a:srgbClr val="00B050"/>
                </a:solidFill>
                <a:latin typeface="MiSans" pitchFamily="34" charset="0"/>
                <a:ea typeface="MiSans" pitchFamily="34" charset="-122"/>
                <a:cs typeface="MiSans" pitchFamily="34" charset="-120"/>
              </a:rPr>
              <a:t>月的销售额（上涨 </a:t>
            </a:r>
            <a:r>
              <a:rPr lang="en-US" altLang="zh-CN" sz="1167" dirty="0">
                <a:solidFill>
                  <a:srgbClr val="00B050"/>
                </a:solidFill>
                <a:latin typeface="MiSans" pitchFamily="34" charset="0"/>
                <a:ea typeface="MiSans" pitchFamily="34" charset="-122"/>
                <a:cs typeface="MiSans" pitchFamily="34" charset="-120"/>
              </a:rPr>
              <a:t>10%</a:t>
            </a:r>
            <a:r>
              <a:rPr lang="zh-CN" altLang="en-US" sz="1167" dirty="0">
                <a:solidFill>
                  <a:srgbClr val="00B050"/>
                </a:solidFill>
                <a:latin typeface="MiSans" pitchFamily="34" charset="0"/>
                <a:ea typeface="MiSans" pitchFamily="34" charset="-122"/>
                <a:cs typeface="MiSans" pitchFamily="34" charset="-120"/>
              </a:rPr>
              <a:t>）</a:t>
            </a:r>
          </a:p>
          <a:p>
            <a:pPr>
              <a:lnSpc>
                <a:spcPct val="140000"/>
              </a:lnSpc>
            </a:pPr>
            <a:r>
              <a:rPr lang="en-US" sz="1167" dirty="0">
                <a:solidFill>
                  <a:srgbClr val="E2E8F0"/>
                </a:solidFill>
                <a:latin typeface="MiSans" pitchFamily="34" charset="0"/>
                <a:ea typeface="MiSans" pitchFamily="34" charset="-122"/>
                <a:cs typeface="MiSans" pitchFamily="34" charset="-120"/>
              </a:rPr>
              <a:t>WHEN MATCHED</a:t>
            </a:r>
          </a:p>
          <a:p>
            <a:pPr>
              <a:lnSpc>
                <a:spcPct val="140000"/>
              </a:lnSpc>
            </a:pPr>
            <a:r>
              <a:rPr lang="en-US" sz="1167" dirty="0">
                <a:solidFill>
                  <a:srgbClr val="E2E8F0"/>
                </a:solidFill>
                <a:latin typeface="MiSans" pitchFamily="34" charset="0"/>
                <a:ea typeface="MiSans" pitchFamily="34" charset="-122"/>
                <a:cs typeface="MiSans" pitchFamily="34" charset="-120"/>
              </a:rPr>
              <a:t>     AND </a:t>
            </a:r>
            <a:r>
              <a:rPr lang="en-US" sz="1167" dirty="0" err="1">
                <a:solidFill>
                  <a:srgbClr val="E2E8F0"/>
                </a:solidFill>
                <a:latin typeface="MiSans" pitchFamily="34" charset="0"/>
                <a:ea typeface="MiSans" pitchFamily="34" charset="-122"/>
                <a:cs typeface="MiSans" pitchFamily="34" charset="-120"/>
              </a:rPr>
              <a:t>s.op</a:t>
            </a:r>
            <a:r>
              <a:rPr lang="en-US" sz="1167" dirty="0">
                <a:solidFill>
                  <a:srgbClr val="E2E8F0"/>
                </a:solidFill>
                <a:latin typeface="MiSans" pitchFamily="34" charset="0"/>
                <a:ea typeface="MiSans" pitchFamily="34" charset="-122"/>
                <a:cs typeface="MiSans" pitchFamily="34" charset="-120"/>
              </a:rPr>
              <a:t> = 'update'</a:t>
            </a:r>
          </a:p>
          <a:p>
            <a:pPr>
              <a:lnSpc>
                <a:spcPct val="140000"/>
              </a:lnSpc>
            </a:pPr>
            <a:r>
              <a:rPr lang="en-US" sz="1167" dirty="0">
                <a:solidFill>
                  <a:srgbClr val="E2E8F0"/>
                </a:solidFill>
                <a:latin typeface="MiSans" pitchFamily="34" charset="0"/>
                <a:ea typeface="MiSans" pitchFamily="34" charset="-122"/>
                <a:cs typeface="MiSans" pitchFamily="34" charset="-120"/>
              </a:rPr>
              <a:t>     AND </a:t>
            </a:r>
            <a:r>
              <a:rPr lang="en-US" sz="1167" dirty="0" err="1">
                <a:solidFill>
                  <a:srgbClr val="E2E8F0"/>
                </a:solidFill>
                <a:latin typeface="MiSans" pitchFamily="34" charset="0"/>
                <a:ea typeface="MiSans" pitchFamily="34" charset="-122"/>
                <a:cs typeface="MiSans" pitchFamily="34" charset="-120"/>
              </a:rPr>
              <a:t>t.year</a:t>
            </a:r>
            <a:r>
              <a:rPr lang="en-US" sz="1167" dirty="0">
                <a:solidFill>
                  <a:srgbClr val="E2E8F0"/>
                </a:solidFill>
                <a:latin typeface="MiSans" pitchFamily="34" charset="0"/>
                <a:ea typeface="MiSans" pitchFamily="34" charset="-122"/>
                <a:cs typeface="MiSans" pitchFamily="34" charset="-120"/>
              </a:rPr>
              <a:t> = 2023</a:t>
            </a:r>
          </a:p>
          <a:p>
            <a:pPr>
              <a:lnSpc>
                <a:spcPct val="140000"/>
              </a:lnSpc>
            </a:pPr>
            <a:r>
              <a:rPr lang="en-US" sz="1167" dirty="0">
                <a:solidFill>
                  <a:srgbClr val="E2E8F0"/>
                </a:solidFill>
                <a:latin typeface="MiSans" pitchFamily="34" charset="0"/>
                <a:ea typeface="MiSans" pitchFamily="34" charset="-122"/>
                <a:cs typeface="MiSans" pitchFamily="34" charset="-120"/>
              </a:rPr>
              <a:t>     AND </a:t>
            </a:r>
            <a:r>
              <a:rPr lang="en-US" sz="1167" dirty="0" err="1">
                <a:solidFill>
                  <a:srgbClr val="E2E8F0"/>
                </a:solidFill>
                <a:latin typeface="MiSans" pitchFamily="34" charset="0"/>
                <a:ea typeface="MiSans" pitchFamily="34" charset="-122"/>
                <a:cs typeface="MiSans" pitchFamily="34" charset="-120"/>
              </a:rPr>
              <a:t>t.month</a:t>
            </a:r>
            <a:r>
              <a:rPr lang="en-US" sz="1167" dirty="0">
                <a:solidFill>
                  <a:srgbClr val="E2E8F0"/>
                </a:solidFill>
                <a:latin typeface="MiSans" pitchFamily="34" charset="0"/>
                <a:ea typeface="MiSans" pitchFamily="34" charset="-122"/>
                <a:cs typeface="MiSans" pitchFamily="34" charset="-120"/>
              </a:rPr>
              <a:t> = 12 THEN</a:t>
            </a:r>
          </a:p>
          <a:p>
            <a:pPr>
              <a:lnSpc>
                <a:spcPct val="140000"/>
              </a:lnSpc>
            </a:pPr>
            <a:r>
              <a:rPr lang="en-US" sz="1167" dirty="0">
                <a:solidFill>
                  <a:srgbClr val="E2E8F0"/>
                </a:solidFill>
                <a:latin typeface="MiSans" pitchFamily="34" charset="0"/>
                <a:ea typeface="MiSans" pitchFamily="34" charset="-122"/>
                <a:cs typeface="MiSans" pitchFamily="34" charset="-120"/>
              </a:rPr>
              <a:t>  UPDATE SET</a:t>
            </a:r>
          </a:p>
          <a:p>
            <a:pPr>
              <a:lnSpc>
                <a:spcPct val="140000"/>
              </a:lnSpc>
            </a:pPr>
            <a:r>
              <a:rPr lang="en-US" sz="1167" dirty="0">
                <a:solidFill>
                  <a:srgbClr val="E2E8F0"/>
                </a:solidFill>
                <a:latin typeface="MiSans" pitchFamily="34" charset="0"/>
                <a:ea typeface="MiSans" pitchFamily="34" charset="-122"/>
                <a:cs typeface="MiSans" pitchFamily="34" charset="-120"/>
              </a:rPr>
              <a:t>    </a:t>
            </a:r>
            <a:r>
              <a:rPr lang="en-US" sz="1167" dirty="0" err="1">
                <a:solidFill>
                  <a:srgbClr val="E2E8F0"/>
                </a:solidFill>
                <a:latin typeface="MiSans" pitchFamily="34" charset="0"/>
                <a:ea typeface="MiSans" pitchFamily="34" charset="-122"/>
                <a:cs typeface="MiSans" pitchFamily="34" charset="-120"/>
              </a:rPr>
              <a:t>t.amount</a:t>
            </a:r>
            <a:r>
              <a:rPr lang="en-US" sz="1167" dirty="0">
                <a:solidFill>
                  <a:srgbClr val="E2E8F0"/>
                </a:solidFill>
                <a:latin typeface="MiSans" pitchFamily="34" charset="0"/>
                <a:ea typeface="MiSans" pitchFamily="34" charset="-122"/>
                <a:cs typeface="MiSans" pitchFamily="34" charset="-120"/>
              </a:rPr>
              <a:t> = </a:t>
            </a:r>
            <a:r>
              <a:rPr lang="en-US" sz="1167" dirty="0" err="1">
                <a:solidFill>
                  <a:srgbClr val="E2E8F0"/>
                </a:solidFill>
                <a:latin typeface="MiSans" pitchFamily="34" charset="0"/>
                <a:ea typeface="MiSans" pitchFamily="34" charset="-122"/>
                <a:cs typeface="MiSans" pitchFamily="34" charset="-120"/>
              </a:rPr>
              <a:t>t.amount</a:t>
            </a:r>
            <a:r>
              <a:rPr lang="en-US" sz="1167" dirty="0">
                <a:solidFill>
                  <a:srgbClr val="E2E8F0"/>
                </a:solidFill>
                <a:latin typeface="MiSans" pitchFamily="34" charset="0"/>
                <a:ea typeface="MiSans" pitchFamily="34" charset="-122"/>
                <a:cs typeface="MiSans" pitchFamily="34" charset="-120"/>
              </a:rPr>
              <a:t> * 1.1</a:t>
            </a:r>
          </a:p>
          <a:p>
            <a:pPr>
              <a:lnSpc>
                <a:spcPct val="140000"/>
              </a:lnSpc>
            </a:pPr>
            <a:endParaRPr lang="en-US" sz="1167" dirty="0">
              <a:solidFill>
                <a:srgbClr val="E2E8F0"/>
              </a:solidFill>
              <a:latin typeface="MiSans" pitchFamily="34" charset="0"/>
              <a:ea typeface="MiSans" pitchFamily="34" charset="-122"/>
              <a:cs typeface="MiSans" pitchFamily="34" charset="-120"/>
            </a:endParaRPr>
          </a:p>
          <a:p>
            <a:pPr>
              <a:lnSpc>
                <a:spcPct val="140000"/>
              </a:lnSpc>
            </a:pPr>
            <a:r>
              <a:rPr lang="en-US" sz="1167" dirty="0">
                <a:solidFill>
                  <a:srgbClr val="00B050"/>
                </a:solidFill>
                <a:latin typeface="MiSans" pitchFamily="34" charset="0"/>
                <a:ea typeface="MiSans" pitchFamily="34" charset="-122"/>
                <a:cs typeface="MiSans" pitchFamily="34" charset="-120"/>
              </a:rPr>
              <a:t>-- 2. </a:t>
            </a:r>
            <a:r>
              <a:rPr lang="zh-CN" altLang="en-US" sz="1167" dirty="0">
                <a:solidFill>
                  <a:srgbClr val="00B050"/>
                </a:solidFill>
                <a:latin typeface="MiSans" pitchFamily="34" charset="0"/>
                <a:ea typeface="MiSans" pitchFamily="34" charset="-122"/>
                <a:cs typeface="MiSans" pitchFamily="34" charset="-120"/>
              </a:rPr>
              <a:t>已存在记录：删除 </a:t>
            </a:r>
            <a:r>
              <a:rPr lang="en-US" altLang="zh-CN" sz="1167" dirty="0">
                <a:solidFill>
                  <a:srgbClr val="00B050"/>
                </a:solidFill>
                <a:latin typeface="MiSans" pitchFamily="34" charset="0"/>
                <a:ea typeface="MiSans" pitchFamily="34" charset="-122"/>
                <a:cs typeface="MiSans" pitchFamily="34" charset="-120"/>
              </a:rPr>
              <a:t>2022 </a:t>
            </a:r>
            <a:r>
              <a:rPr lang="zh-CN" altLang="en-US" sz="1167" dirty="0">
                <a:solidFill>
                  <a:srgbClr val="00B050"/>
                </a:solidFill>
                <a:latin typeface="MiSans" pitchFamily="34" charset="0"/>
                <a:ea typeface="MiSans" pitchFamily="34" charset="-122"/>
                <a:cs typeface="MiSans" pitchFamily="34" charset="-120"/>
              </a:rPr>
              <a:t>年的低价值销售数据</a:t>
            </a:r>
          </a:p>
          <a:p>
            <a:pPr>
              <a:lnSpc>
                <a:spcPct val="140000"/>
              </a:lnSpc>
            </a:pPr>
            <a:r>
              <a:rPr lang="en-US" sz="1167" dirty="0">
                <a:solidFill>
                  <a:srgbClr val="E2E8F0"/>
                </a:solidFill>
                <a:latin typeface="MiSans" pitchFamily="34" charset="0"/>
                <a:ea typeface="MiSans" pitchFamily="34" charset="-122"/>
                <a:cs typeface="MiSans" pitchFamily="34" charset="-120"/>
              </a:rPr>
              <a:t>WHEN MATCHED</a:t>
            </a:r>
          </a:p>
          <a:p>
            <a:pPr>
              <a:lnSpc>
                <a:spcPct val="140000"/>
              </a:lnSpc>
            </a:pPr>
            <a:r>
              <a:rPr lang="en-US" sz="1167" dirty="0">
                <a:solidFill>
                  <a:srgbClr val="E2E8F0"/>
                </a:solidFill>
                <a:latin typeface="MiSans" pitchFamily="34" charset="0"/>
                <a:ea typeface="MiSans" pitchFamily="34" charset="-122"/>
                <a:cs typeface="MiSans" pitchFamily="34" charset="-120"/>
              </a:rPr>
              <a:t>     AND </a:t>
            </a:r>
            <a:r>
              <a:rPr lang="en-US" sz="1167" dirty="0" err="1">
                <a:solidFill>
                  <a:srgbClr val="E2E8F0"/>
                </a:solidFill>
                <a:latin typeface="MiSans" pitchFamily="34" charset="0"/>
                <a:ea typeface="MiSans" pitchFamily="34" charset="-122"/>
                <a:cs typeface="MiSans" pitchFamily="34" charset="-120"/>
              </a:rPr>
              <a:t>s.op</a:t>
            </a:r>
            <a:r>
              <a:rPr lang="en-US" sz="1167" dirty="0">
                <a:solidFill>
                  <a:srgbClr val="E2E8F0"/>
                </a:solidFill>
                <a:latin typeface="MiSans" pitchFamily="34" charset="0"/>
                <a:ea typeface="MiSans" pitchFamily="34" charset="-122"/>
                <a:cs typeface="MiSans" pitchFamily="34" charset="-120"/>
              </a:rPr>
              <a:t> = 'delete'</a:t>
            </a:r>
          </a:p>
          <a:p>
            <a:pPr>
              <a:lnSpc>
                <a:spcPct val="140000"/>
              </a:lnSpc>
            </a:pPr>
            <a:r>
              <a:rPr lang="en-US" sz="1167" dirty="0">
                <a:solidFill>
                  <a:srgbClr val="E2E8F0"/>
                </a:solidFill>
                <a:latin typeface="MiSans" pitchFamily="34" charset="0"/>
                <a:ea typeface="MiSans" pitchFamily="34" charset="-122"/>
                <a:cs typeface="MiSans" pitchFamily="34" charset="-120"/>
              </a:rPr>
              <a:t>     AND </a:t>
            </a:r>
            <a:r>
              <a:rPr lang="en-US" sz="1167" dirty="0" err="1">
                <a:solidFill>
                  <a:srgbClr val="E2E8F0"/>
                </a:solidFill>
                <a:latin typeface="MiSans" pitchFamily="34" charset="0"/>
                <a:ea typeface="MiSans" pitchFamily="34" charset="-122"/>
                <a:cs typeface="MiSans" pitchFamily="34" charset="-120"/>
              </a:rPr>
              <a:t>t.year</a:t>
            </a:r>
            <a:r>
              <a:rPr lang="en-US" sz="1167" dirty="0">
                <a:solidFill>
                  <a:srgbClr val="E2E8F0"/>
                </a:solidFill>
                <a:latin typeface="MiSans" pitchFamily="34" charset="0"/>
                <a:ea typeface="MiSans" pitchFamily="34" charset="-122"/>
                <a:cs typeface="MiSans" pitchFamily="34" charset="-120"/>
              </a:rPr>
              <a:t> = 2022</a:t>
            </a:r>
          </a:p>
          <a:p>
            <a:pPr>
              <a:lnSpc>
                <a:spcPct val="140000"/>
              </a:lnSpc>
            </a:pPr>
            <a:r>
              <a:rPr lang="en-US" sz="1167" dirty="0">
                <a:solidFill>
                  <a:srgbClr val="E2E8F0"/>
                </a:solidFill>
                <a:latin typeface="MiSans" pitchFamily="34" charset="0"/>
                <a:ea typeface="MiSans" pitchFamily="34" charset="-122"/>
                <a:cs typeface="MiSans" pitchFamily="34" charset="-120"/>
              </a:rPr>
              <a:t>     AND </a:t>
            </a:r>
            <a:r>
              <a:rPr lang="en-US" sz="1167" dirty="0" err="1">
                <a:solidFill>
                  <a:srgbClr val="E2E8F0"/>
                </a:solidFill>
                <a:latin typeface="MiSans" pitchFamily="34" charset="0"/>
                <a:ea typeface="MiSans" pitchFamily="34" charset="-122"/>
                <a:cs typeface="MiSans" pitchFamily="34" charset="-120"/>
              </a:rPr>
              <a:t>t.amount</a:t>
            </a:r>
            <a:r>
              <a:rPr lang="en-US" sz="1167" dirty="0">
                <a:solidFill>
                  <a:srgbClr val="E2E8F0"/>
                </a:solidFill>
                <a:latin typeface="MiSans" pitchFamily="34" charset="0"/>
                <a:ea typeface="MiSans" pitchFamily="34" charset="-122"/>
                <a:cs typeface="MiSans" pitchFamily="34" charset="-120"/>
              </a:rPr>
              <a:t> &lt; 100 THEN</a:t>
            </a:r>
          </a:p>
          <a:p>
            <a:pPr>
              <a:lnSpc>
                <a:spcPct val="140000"/>
              </a:lnSpc>
            </a:pPr>
            <a:r>
              <a:rPr lang="en-US" sz="1167" dirty="0">
                <a:solidFill>
                  <a:srgbClr val="E2E8F0"/>
                </a:solidFill>
                <a:latin typeface="MiSans" pitchFamily="34" charset="0"/>
                <a:ea typeface="MiSans" pitchFamily="34" charset="-122"/>
                <a:cs typeface="MiSans" pitchFamily="34" charset="-120"/>
              </a:rPr>
              <a:t>  DELETE</a:t>
            </a:r>
          </a:p>
          <a:p>
            <a:pPr>
              <a:lnSpc>
                <a:spcPct val="140000"/>
              </a:lnSpc>
            </a:pPr>
            <a:endParaRPr lang="en-US" sz="1167" dirty="0">
              <a:solidFill>
                <a:srgbClr val="E2E8F0"/>
              </a:solidFill>
              <a:latin typeface="MiSans" pitchFamily="34" charset="0"/>
              <a:ea typeface="MiSans" pitchFamily="34" charset="-122"/>
              <a:cs typeface="MiSans" pitchFamily="34" charset="-120"/>
            </a:endParaRPr>
          </a:p>
          <a:p>
            <a:pPr>
              <a:lnSpc>
                <a:spcPct val="140000"/>
              </a:lnSpc>
            </a:pPr>
            <a:r>
              <a:rPr lang="en-US" sz="1167" dirty="0">
                <a:solidFill>
                  <a:srgbClr val="00B050"/>
                </a:solidFill>
                <a:latin typeface="MiSans" pitchFamily="34" charset="0"/>
                <a:ea typeface="MiSans" pitchFamily="34" charset="-122"/>
                <a:cs typeface="MiSans" pitchFamily="34" charset="-120"/>
              </a:rPr>
              <a:t>-- 3. </a:t>
            </a:r>
            <a:r>
              <a:rPr lang="zh-CN" altLang="en-US" sz="1167" dirty="0">
                <a:solidFill>
                  <a:srgbClr val="00B050"/>
                </a:solidFill>
                <a:latin typeface="MiSans" pitchFamily="34" charset="0"/>
                <a:ea typeface="MiSans" pitchFamily="34" charset="-122"/>
                <a:cs typeface="MiSans" pitchFamily="34" charset="-120"/>
              </a:rPr>
              <a:t>不存在记录：插入新销售数据</a:t>
            </a:r>
          </a:p>
          <a:p>
            <a:pPr>
              <a:lnSpc>
                <a:spcPct val="140000"/>
              </a:lnSpc>
            </a:pPr>
            <a:r>
              <a:rPr lang="en-US" sz="1167" dirty="0">
                <a:solidFill>
                  <a:srgbClr val="E2E8F0"/>
                </a:solidFill>
                <a:latin typeface="MiSans" pitchFamily="34" charset="0"/>
                <a:ea typeface="MiSans" pitchFamily="34" charset="-122"/>
                <a:cs typeface="MiSans" pitchFamily="34" charset="-120"/>
              </a:rPr>
              <a:t>WHEN NOT MATCHED</a:t>
            </a:r>
          </a:p>
          <a:p>
            <a:pPr>
              <a:lnSpc>
                <a:spcPct val="140000"/>
              </a:lnSpc>
            </a:pPr>
            <a:r>
              <a:rPr lang="en-US" sz="1167" dirty="0">
                <a:solidFill>
                  <a:srgbClr val="E2E8F0"/>
                </a:solidFill>
                <a:latin typeface="MiSans" pitchFamily="34" charset="0"/>
                <a:ea typeface="MiSans" pitchFamily="34" charset="-122"/>
                <a:cs typeface="MiSans" pitchFamily="34" charset="-120"/>
              </a:rPr>
              <a:t>     AND </a:t>
            </a:r>
            <a:r>
              <a:rPr lang="en-US" sz="1167" dirty="0" err="1">
                <a:solidFill>
                  <a:srgbClr val="E2E8F0"/>
                </a:solidFill>
                <a:latin typeface="MiSans" pitchFamily="34" charset="0"/>
                <a:ea typeface="MiSans" pitchFamily="34" charset="-122"/>
                <a:cs typeface="MiSans" pitchFamily="34" charset="-120"/>
              </a:rPr>
              <a:t>s.op</a:t>
            </a:r>
            <a:r>
              <a:rPr lang="en-US" sz="1167" dirty="0">
                <a:solidFill>
                  <a:srgbClr val="E2E8F0"/>
                </a:solidFill>
                <a:latin typeface="MiSans" pitchFamily="34" charset="0"/>
                <a:ea typeface="MiSans" pitchFamily="34" charset="-122"/>
                <a:cs typeface="MiSans" pitchFamily="34" charset="-120"/>
              </a:rPr>
              <a:t> = 'insert' THEN</a:t>
            </a:r>
          </a:p>
          <a:p>
            <a:pPr>
              <a:lnSpc>
                <a:spcPct val="140000"/>
              </a:lnSpc>
            </a:pPr>
            <a:r>
              <a:rPr lang="en-US" sz="1167" dirty="0">
                <a:solidFill>
                  <a:srgbClr val="E2E8F0"/>
                </a:solidFill>
                <a:latin typeface="MiSans" pitchFamily="34" charset="0"/>
                <a:ea typeface="MiSans" pitchFamily="34" charset="-122"/>
                <a:cs typeface="MiSans" pitchFamily="34" charset="-120"/>
              </a:rPr>
              <a:t>  INSERT (</a:t>
            </a:r>
          </a:p>
          <a:p>
            <a:pPr>
              <a:lnSpc>
                <a:spcPct val="140000"/>
              </a:lnSpc>
            </a:pPr>
            <a:r>
              <a:rPr lang="en-US" sz="1167" dirty="0">
                <a:solidFill>
                  <a:srgbClr val="E2E8F0"/>
                </a:solidFill>
                <a:latin typeface="MiSans" pitchFamily="34" charset="0"/>
                <a:ea typeface="MiSans" pitchFamily="34" charset="-122"/>
                <a:cs typeface="MiSans" pitchFamily="34" charset="-120"/>
              </a:rPr>
              <a:t>    id,</a:t>
            </a:r>
          </a:p>
          <a:p>
            <a:pPr>
              <a:lnSpc>
                <a:spcPct val="140000"/>
              </a:lnSpc>
            </a:pPr>
            <a:r>
              <a:rPr lang="en-US" sz="1167" dirty="0">
                <a:solidFill>
                  <a:srgbClr val="E2E8F0"/>
                </a:solidFill>
                <a:latin typeface="MiSans" pitchFamily="34" charset="0"/>
                <a:ea typeface="MiSans" pitchFamily="34" charset="-122"/>
                <a:cs typeface="MiSans" pitchFamily="34" charset="-120"/>
              </a:rPr>
              <a:t>    amount,</a:t>
            </a:r>
          </a:p>
          <a:p>
            <a:pPr>
              <a:lnSpc>
                <a:spcPct val="140000"/>
              </a:lnSpc>
            </a:pPr>
            <a:r>
              <a:rPr lang="en-US" sz="1167" dirty="0">
                <a:solidFill>
                  <a:srgbClr val="E2E8F0"/>
                </a:solidFill>
                <a:latin typeface="MiSans" pitchFamily="34" charset="0"/>
                <a:ea typeface="MiSans" pitchFamily="34" charset="-122"/>
                <a:cs typeface="MiSans" pitchFamily="34" charset="-120"/>
              </a:rPr>
              <a:t>    year,</a:t>
            </a:r>
          </a:p>
          <a:p>
            <a:pPr>
              <a:lnSpc>
                <a:spcPct val="140000"/>
              </a:lnSpc>
            </a:pPr>
            <a:r>
              <a:rPr lang="en-US" sz="1167" dirty="0">
                <a:solidFill>
                  <a:srgbClr val="E2E8F0"/>
                </a:solidFill>
                <a:latin typeface="MiSans" pitchFamily="34" charset="0"/>
                <a:ea typeface="MiSans" pitchFamily="34" charset="-122"/>
                <a:cs typeface="MiSans" pitchFamily="34" charset="-120"/>
              </a:rPr>
              <a:t>    month</a:t>
            </a:r>
          </a:p>
          <a:p>
            <a:pPr>
              <a:lnSpc>
                <a:spcPct val="140000"/>
              </a:lnSpc>
            </a:pPr>
            <a:r>
              <a:rPr lang="en-US" sz="1167" dirty="0">
                <a:solidFill>
                  <a:srgbClr val="E2E8F0"/>
                </a:solidFill>
                <a:latin typeface="MiSans" pitchFamily="34" charset="0"/>
                <a:ea typeface="MiSans" pitchFamily="34" charset="-122"/>
                <a:cs typeface="MiSans" pitchFamily="34" charset="-120"/>
              </a:rPr>
              <a:t>  )</a:t>
            </a:r>
          </a:p>
          <a:p>
            <a:pPr>
              <a:lnSpc>
                <a:spcPct val="140000"/>
              </a:lnSpc>
            </a:pPr>
            <a:r>
              <a:rPr lang="en-US" sz="1167" dirty="0">
                <a:solidFill>
                  <a:srgbClr val="E2E8F0"/>
                </a:solidFill>
                <a:latin typeface="MiSans" pitchFamily="34" charset="0"/>
                <a:ea typeface="MiSans" pitchFamily="34" charset="-122"/>
                <a:cs typeface="MiSans" pitchFamily="34" charset="-120"/>
              </a:rPr>
              <a:t>  VALUES (</a:t>
            </a:r>
          </a:p>
          <a:p>
            <a:pPr>
              <a:lnSpc>
                <a:spcPct val="140000"/>
              </a:lnSpc>
            </a:pPr>
            <a:r>
              <a:rPr lang="en-US" sz="1167" dirty="0">
                <a:solidFill>
                  <a:srgbClr val="E2E8F0"/>
                </a:solidFill>
                <a:latin typeface="MiSans" pitchFamily="34" charset="0"/>
                <a:ea typeface="MiSans" pitchFamily="34" charset="-122"/>
                <a:cs typeface="MiSans" pitchFamily="34" charset="-120"/>
              </a:rPr>
              <a:t>    </a:t>
            </a:r>
            <a:r>
              <a:rPr lang="en-US" sz="1167" dirty="0" err="1">
                <a:solidFill>
                  <a:srgbClr val="E2E8F0"/>
                </a:solidFill>
                <a:latin typeface="MiSans" pitchFamily="34" charset="0"/>
                <a:ea typeface="MiSans" pitchFamily="34" charset="-122"/>
                <a:cs typeface="MiSans" pitchFamily="34" charset="-120"/>
              </a:rPr>
              <a:t>s.id</a:t>
            </a:r>
            <a:r>
              <a:rPr lang="en-US" sz="1167" dirty="0">
                <a:solidFill>
                  <a:srgbClr val="E2E8F0"/>
                </a:solidFill>
                <a:latin typeface="MiSans" pitchFamily="34" charset="0"/>
                <a:ea typeface="MiSans" pitchFamily="34" charset="-122"/>
                <a:cs typeface="MiSans" pitchFamily="34" charset="-120"/>
              </a:rPr>
              <a:t>,</a:t>
            </a:r>
          </a:p>
          <a:p>
            <a:pPr>
              <a:lnSpc>
                <a:spcPct val="140000"/>
              </a:lnSpc>
            </a:pPr>
            <a:r>
              <a:rPr lang="en-US" sz="1167" dirty="0">
                <a:solidFill>
                  <a:srgbClr val="E2E8F0"/>
                </a:solidFill>
                <a:latin typeface="MiSans" pitchFamily="34" charset="0"/>
                <a:ea typeface="MiSans" pitchFamily="34" charset="-122"/>
                <a:cs typeface="MiSans" pitchFamily="34" charset="-120"/>
              </a:rPr>
              <a:t>    </a:t>
            </a:r>
            <a:r>
              <a:rPr lang="en-US" sz="1167" dirty="0" err="1">
                <a:solidFill>
                  <a:srgbClr val="E2E8F0"/>
                </a:solidFill>
                <a:latin typeface="MiSans" pitchFamily="34" charset="0"/>
                <a:ea typeface="MiSans" pitchFamily="34" charset="-122"/>
                <a:cs typeface="MiSans" pitchFamily="34" charset="-120"/>
              </a:rPr>
              <a:t>s.amount</a:t>
            </a:r>
            <a:r>
              <a:rPr lang="en-US" sz="1167" dirty="0">
                <a:solidFill>
                  <a:srgbClr val="E2E8F0"/>
                </a:solidFill>
                <a:latin typeface="MiSans" pitchFamily="34" charset="0"/>
                <a:ea typeface="MiSans" pitchFamily="34" charset="-122"/>
                <a:cs typeface="MiSans" pitchFamily="34" charset="-120"/>
              </a:rPr>
              <a:t>,</a:t>
            </a:r>
          </a:p>
          <a:p>
            <a:pPr>
              <a:lnSpc>
                <a:spcPct val="140000"/>
              </a:lnSpc>
            </a:pPr>
            <a:r>
              <a:rPr lang="en-US" sz="1167" dirty="0">
                <a:solidFill>
                  <a:srgbClr val="E2E8F0"/>
                </a:solidFill>
                <a:latin typeface="MiSans" pitchFamily="34" charset="0"/>
                <a:ea typeface="MiSans" pitchFamily="34" charset="-122"/>
                <a:cs typeface="MiSans" pitchFamily="34" charset="-120"/>
              </a:rPr>
              <a:t>    </a:t>
            </a:r>
            <a:r>
              <a:rPr lang="en-US" sz="1167" dirty="0" err="1">
                <a:solidFill>
                  <a:srgbClr val="E2E8F0"/>
                </a:solidFill>
                <a:latin typeface="MiSans" pitchFamily="34" charset="0"/>
                <a:ea typeface="MiSans" pitchFamily="34" charset="-122"/>
                <a:cs typeface="MiSans" pitchFamily="34" charset="-120"/>
              </a:rPr>
              <a:t>s.year</a:t>
            </a:r>
            <a:r>
              <a:rPr lang="en-US" sz="1167" dirty="0">
                <a:solidFill>
                  <a:srgbClr val="E2E8F0"/>
                </a:solidFill>
                <a:latin typeface="MiSans" pitchFamily="34" charset="0"/>
                <a:ea typeface="MiSans" pitchFamily="34" charset="-122"/>
                <a:cs typeface="MiSans" pitchFamily="34" charset="-120"/>
              </a:rPr>
              <a:t>,</a:t>
            </a:r>
          </a:p>
          <a:p>
            <a:pPr>
              <a:lnSpc>
                <a:spcPct val="140000"/>
              </a:lnSpc>
            </a:pPr>
            <a:r>
              <a:rPr lang="en-US" sz="1167" dirty="0">
                <a:solidFill>
                  <a:srgbClr val="E2E8F0"/>
                </a:solidFill>
                <a:latin typeface="MiSans" pitchFamily="34" charset="0"/>
                <a:ea typeface="MiSans" pitchFamily="34" charset="-122"/>
                <a:cs typeface="MiSans" pitchFamily="34" charset="-120"/>
              </a:rPr>
              <a:t>    </a:t>
            </a:r>
            <a:r>
              <a:rPr lang="en-US" sz="1167" dirty="0" err="1">
                <a:solidFill>
                  <a:srgbClr val="E2E8F0"/>
                </a:solidFill>
                <a:latin typeface="MiSans" pitchFamily="34" charset="0"/>
                <a:ea typeface="MiSans" pitchFamily="34" charset="-122"/>
                <a:cs typeface="MiSans" pitchFamily="34" charset="-120"/>
              </a:rPr>
              <a:t>s.month</a:t>
            </a:r>
            <a:endParaRPr lang="en-US" sz="1167" dirty="0">
              <a:solidFill>
                <a:srgbClr val="E2E8F0"/>
              </a:solidFill>
              <a:latin typeface="MiSans" pitchFamily="34" charset="0"/>
              <a:ea typeface="MiSans" pitchFamily="34" charset="-122"/>
              <a:cs typeface="MiSans" pitchFamily="34" charset="-120"/>
            </a:endParaRPr>
          </a:p>
          <a:p>
            <a:pPr>
              <a:lnSpc>
                <a:spcPct val="140000"/>
              </a:lnSpc>
            </a:pPr>
            <a:r>
              <a:rPr lang="en-US" sz="1167" dirty="0">
                <a:solidFill>
                  <a:srgbClr val="E2E8F0"/>
                </a:solidFill>
                <a:latin typeface="MiSans" pitchFamily="34" charset="0"/>
                <a:ea typeface="MiSans" pitchFamily="34" charset="-122"/>
                <a:cs typeface="MiSans" pitchFamily="34" charset="-120"/>
              </a:rPr>
              <a:t>  );</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02C"/>
        </a:solidFill>
        <a:effectLst/>
      </p:bgPr>
    </p:bg>
    <p:spTree>
      <p:nvGrpSpPr>
        <p:cNvPr id="1" name=""/>
        <p:cNvGrpSpPr/>
        <p:nvPr/>
      </p:nvGrpSpPr>
      <p:grpSpPr>
        <a:xfrm>
          <a:off x="0" y="0"/>
          <a:ext cx="0" cy="0"/>
          <a:chOff x="0" y="0"/>
          <a:chExt cx="0" cy="0"/>
        </a:xfrm>
      </p:grpSpPr>
      <p:pic>
        <p:nvPicPr>
          <p:cNvPr id="2" name="Image 0" descr="https://kimi-web-img.moonshot.cn/img/images.contentstack.io/f123113f30bac999bca12e1d54bec6113fc7dc9c.jpg"/>
          <p:cNvPicPr>
            <a:picLocks noChangeAspect="1"/>
          </p:cNvPicPr>
          <p:nvPr/>
        </p:nvPicPr>
        <p:blipFill>
          <a:blip r:embed="rId3">
            <a:alphaModFix amt="30000"/>
          </a:blip>
          <a:srcRect t="12935" b="12935"/>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flip="none" rotWithShape="1">
            <a:gsLst>
              <a:gs pos="0">
                <a:srgbClr val="1A202C"/>
              </a:gs>
              <a:gs pos="50000">
                <a:srgbClr val="1A202C">
                  <a:alpha val="90000"/>
                </a:srgbClr>
              </a:gs>
              <a:gs pos="100000">
                <a:srgbClr val="000000">
                  <a:alpha val="0"/>
                </a:srgbClr>
              </a:gs>
            </a:gsLst>
            <a:lin ang="0" scaled="1"/>
          </a:gradFill>
          <a:ln/>
        </p:spPr>
        <p:txBody>
          <a:bodyPr/>
          <a:lstStyle/>
          <a:p>
            <a:endParaRPr lang="zh-CN" altLang="en-US"/>
          </a:p>
        </p:txBody>
      </p:sp>
      <p:sp>
        <p:nvSpPr>
          <p:cNvPr id="4" name="Shape 1"/>
          <p:cNvSpPr/>
          <p:nvPr/>
        </p:nvSpPr>
        <p:spPr>
          <a:xfrm>
            <a:off x="508000" y="1806575"/>
            <a:ext cx="2565400" cy="711200"/>
          </a:xfrm>
          <a:custGeom>
            <a:avLst/>
            <a:gdLst/>
            <a:ahLst/>
            <a:cxnLst/>
            <a:rect l="l" t="t" r="r" b="b"/>
            <a:pathLst>
              <a:path w="2565400" h="711200">
                <a:moveTo>
                  <a:pt x="101602" y="0"/>
                </a:moveTo>
                <a:lnTo>
                  <a:pt x="2463798" y="0"/>
                </a:lnTo>
                <a:cubicBezTo>
                  <a:pt x="2519911" y="0"/>
                  <a:pt x="2565400" y="45489"/>
                  <a:pt x="2565400" y="101602"/>
                </a:cubicBezTo>
                <a:lnTo>
                  <a:pt x="2565400" y="609598"/>
                </a:lnTo>
                <a:cubicBezTo>
                  <a:pt x="2565400" y="665711"/>
                  <a:pt x="2519911" y="711200"/>
                  <a:pt x="2463798" y="711200"/>
                </a:cubicBezTo>
                <a:lnTo>
                  <a:pt x="101602" y="711200"/>
                </a:lnTo>
                <a:cubicBezTo>
                  <a:pt x="45489" y="711200"/>
                  <a:pt x="0" y="665711"/>
                  <a:pt x="0" y="609598"/>
                </a:cubicBezTo>
                <a:lnTo>
                  <a:pt x="0" y="101602"/>
                </a:lnTo>
                <a:cubicBezTo>
                  <a:pt x="0" y="45526"/>
                  <a:pt x="45526" y="0"/>
                  <a:pt x="101602" y="0"/>
                </a:cubicBezTo>
                <a:close/>
              </a:path>
            </a:pathLst>
          </a:custGeom>
          <a:solidFill>
            <a:srgbClr val="D69E2E"/>
          </a:solidFill>
          <a:ln/>
        </p:spPr>
        <p:txBody>
          <a:bodyPr/>
          <a:lstStyle/>
          <a:p>
            <a:endParaRPr lang="zh-CN" altLang="en-US"/>
          </a:p>
        </p:txBody>
      </p:sp>
      <p:sp>
        <p:nvSpPr>
          <p:cNvPr id="5" name="Text 2"/>
          <p:cNvSpPr/>
          <p:nvPr/>
        </p:nvSpPr>
        <p:spPr>
          <a:xfrm>
            <a:off x="812800" y="1958975"/>
            <a:ext cx="2108200" cy="406400"/>
          </a:xfrm>
          <a:prstGeom prst="rect">
            <a:avLst/>
          </a:prstGeom>
          <a:noFill/>
          <a:ln/>
        </p:spPr>
        <p:txBody>
          <a:bodyPr wrap="square" lIns="0" tIns="0" rIns="0" bIns="0" rtlCol="0" anchor="ctr"/>
          <a:lstStyle/>
          <a:p>
            <a:pPr>
              <a:lnSpc>
                <a:spcPct val="110000"/>
              </a:lnSpc>
            </a:pPr>
            <a:r>
              <a:rPr lang="en-US" sz="2400" b="1" kern="0" spc="120" dirty="0">
                <a:solidFill>
                  <a:srgbClr val="1A202C"/>
                </a:solidFill>
                <a:latin typeface="Liter" pitchFamily="34" charset="0"/>
                <a:ea typeface="Liter" pitchFamily="34" charset="-122"/>
                <a:cs typeface="Liter" pitchFamily="34" charset="-120"/>
              </a:rPr>
              <a:t>CHAPTER 02</a:t>
            </a:r>
            <a:endParaRPr lang="en-US" sz="1600" dirty="0"/>
          </a:p>
        </p:txBody>
      </p:sp>
      <p:sp>
        <p:nvSpPr>
          <p:cNvPr id="6" name="Text 3"/>
          <p:cNvSpPr/>
          <p:nvPr/>
        </p:nvSpPr>
        <p:spPr>
          <a:xfrm>
            <a:off x="508000" y="2924175"/>
            <a:ext cx="6172200" cy="2286000"/>
          </a:xfrm>
          <a:prstGeom prst="rect">
            <a:avLst/>
          </a:prstGeom>
          <a:noFill/>
          <a:ln/>
        </p:spPr>
        <p:txBody>
          <a:bodyPr wrap="square" lIns="0" tIns="0" rIns="0" bIns="0" rtlCol="0" anchor="ctr"/>
          <a:lstStyle/>
          <a:p>
            <a:pPr>
              <a:lnSpc>
                <a:spcPct val="100000"/>
              </a:lnSpc>
            </a:pPr>
            <a:r>
              <a:rPr lang="en-US" sz="7200" b="1" dirty="0">
                <a:solidFill>
                  <a:srgbClr val="E2E8F0"/>
                </a:solidFill>
                <a:latin typeface="Noto Sans SC" pitchFamily="34" charset="0"/>
                <a:ea typeface="Noto Sans SC" pitchFamily="34" charset="-122"/>
                <a:cs typeface="Noto Sans SC" pitchFamily="34" charset="-120"/>
              </a:rPr>
              <a:t>Hive架构</a:t>
            </a:r>
            <a:endParaRPr lang="en-US" sz="1600" dirty="0"/>
          </a:p>
          <a:p>
            <a:pPr>
              <a:lnSpc>
                <a:spcPct val="100000"/>
              </a:lnSpc>
            </a:pPr>
            <a:r>
              <a:rPr lang="en-US" sz="7200" b="1" dirty="0">
                <a:solidFill>
                  <a:srgbClr val="E2E8F0"/>
                </a:solidFill>
                <a:latin typeface="Noto Sans SC" pitchFamily="34" charset="0"/>
                <a:ea typeface="Noto Sans SC" pitchFamily="34" charset="-122"/>
                <a:cs typeface="Noto Sans SC" pitchFamily="34" charset="-120"/>
              </a:rPr>
              <a:t>深入解析</a:t>
            </a:r>
            <a:endParaRPr lang="en-US" sz="1600" dirty="0"/>
          </a:p>
        </p:txBody>
      </p:sp>
      <p:sp>
        <p:nvSpPr>
          <p:cNvPr id="7" name="Shape 4"/>
          <p:cNvSpPr/>
          <p:nvPr/>
        </p:nvSpPr>
        <p:spPr>
          <a:xfrm>
            <a:off x="508000" y="5616575"/>
            <a:ext cx="2032000" cy="76200"/>
          </a:xfrm>
          <a:custGeom>
            <a:avLst/>
            <a:gdLst/>
            <a:ahLst/>
            <a:cxnLst/>
            <a:rect l="l" t="t" r="r" b="b"/>
            <a:pathLst>
              <a:path w="2032000" h="76200">
                <a:moveTo>
                  <a:pt x="0" y="0"/>
                </a:moveTo>
                <a:lnTo>
                  <a:pt x="2032000" y="0"/>
                </a:lnTo>
                <a:lnTo>
                  <a:pt x="2032000" y="76200"/>
                </a:lnTo>
                <a:lnTo>
                  <a:pt x="0" y="76200"/>
                </a:lnTo>
                <a:lnTo>
                  <a:pt x="0" y="0"/>
                </a:lnTo>
                <a:close/>
              </a:path>
            </a:pathLst>
          </a:custGeom>
          <a:solidFill>
            <a:srgbClr val="D69E2E"/>
          </a:solidFill>
          <a:ln/>
        </p:spPr>
        <p:txBody>
          <a:bodyPr/>
          <a:lstStyle/>
          <a:p>
            <a:endParaRPr lang="zh-CN" altLang="en-US"/>
          </a:p>
        </p:txBody>
      </p:sp>
      <p:sp>
        <p:nvSpPr>
          <p:cNvPr id="8" name="Text 5"/>
          <p:cNvSpPr/>
          <p:nvPr/>
        </p:nvSpPr>
        <p:spPr>
          <a:xfrm>
            <a:off x="508000" y="6099175"/>
            <a:ext cx="5905500" cy="1244600"/>
          </a:xfrm>
          <a:prstGeom prst="rect">
            <a:avLst/>
          </a:prstGeom>
          <a:noFill/>
          <a:ln/>
        </p:spPr>
        <p:txBody>
          <a:bodyPr wrap="square" lIns="0" tIns="0" rIns="0" bIns="0" rtlCol="0" anchor="ctr"/>
          <a:lstStyle/>
          <a:p>
            <a:pPr>
              <a:lnSpc>
                <a:spcPct val="140000"/>
              </a:lnSpc>
            </a:pPr>
            <a:r>
              <a:rPr lang="en-US" sz="3000" dirty="0">
                <a:solidFill>
                  <a:srgbClr val="A0AEC0"/>
                </a:solidFill>
                <a:latin typeface="MiSans" pitchFamily="34" charset="0"/>
                <a:ea typeface="MiSans" pitchFamily="34" charset="-122"/>
                <a:cs typeface="MiSans" pitchFamily="34" charset="-120"/>
              </a:rPr>
              <a:t>深入理解元数据管理、查询处理、</a:t>
            </a:r>
            <a:endParaRPr lang="en-US" sz="1600" dirty="0"/>
          </a:p>
          <a:p>
            <a:pPr>
              <a:lnSpc>
                <a:spcPct val="140000"/>
              </a:lnSpc>
            </a:pPr>
            <a:r>
              <a:rPr lang="en-US" sz="3000" dirty="0">
                <a:solidFill>
                  <a:srgbClr val="A0AEC0"/>
                </a:solidFill>
                <a:latin typeface="MiSans" pitchFamily="34" charset="0"/>
                <a:ea typeface="MiSans" pitchFamily="34" charset="-122"/>
                <a:cs typeface="MiSans" pitchFamily="34" charset="-120"/>
              </a:rPr>
              <a:t>执行引擎和存储系统</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23333" y="423333"/>
            <a:ext cx="15663333" cy="508000"/>
          </a:xfrm>
          <a:prstGeom prst="rect">
            <a:avLst/>
          </a:prstGeom>
          <a:noFill/>
          <a:ln/>
        </p:spPr>
        <p:txBody>
          <a:bodyPr wrap="square" lIns="0" tIns="0" rIns="0" bIns="0" rtlCol="0" anchor="ctr"/>
          <a:lstStyle/>
          <a:p>
            <a:pPr>
              <a:lnSpc>
                <a:spcPct val="80000"/>
              </a:lnSpc>
            </a:pPr>
            <a:r>
              <a:rPr lang="en-US" sz="4000" b="1" dirty="0">
                <a:solidFill>
                  <a:srgbClr val="E2E8F0"/>
                </a:solidFill>
                <a:latin typeface="Noto Sans SC" pitchFamily="34" charset="0"/>
                <a:ea typeface="Noto Sans SC" pitchFamily="34" charset="-122"/>
                <a:cs typeface="Noto Sans SC" pitchFamily="34" charset="-120"/>
              </a:rPr>
              <a:t>Metastore架构设计与服务组件</a:t>
            </a:r>
            <a:endParaRPr lang="en-US" sz="1600" dirty="0"/>
          </a:p>
        </p:txBody>
      </p:sp>
      <p:sp>
        <p:nvSpPr>
          <p:cNvPr id="3" name="Shape 1"/>
          <p:cNvSpPr/>
          <p:nvPr/>
        </p:nvSpPr>
        <p:spPr>
          <a:xfrm>
            <a:off x="423333" y="1058333"/>
            <a:ext cx="1185333" cy="42333"/>
          </a:xfrm>
          <a:custGeom>
            <a:avLst/>
            <a:gdLst/>
            <a:ahLst/>
            <a:cxnLst/>
            <a:rect l="l" t="t" r="r" b="b"/>
            <a:pathLst>
              <a:path w="1185333" h="42333">
                <a:moveTo>
                  <a:pt x="0" y="0"/>
                </a:moveTo>
                <a:lnTo>
                  <a:pt x="1185333" y="0"/>
                </a:lnTo>
                <a:lnTo>
                  <a:pt x="1185333" y="42333"/>
                </a:lnTo>
                <a:lnTo>
                  <a:pt x="0" y="42333"/>
                </a:lnTo>
                <a:lnTo>
                  <a:pt x="0" y="0"/>
                </a:lnTo>
                <a:close/>
              </a:path>
            </a:pathLst>
          </a:custGeom>
          <a:solidFill>
            <a:srgbClr val="D69E2E"/>
          </a:solidFill>
          <a:ln/>
        </p:spPr>
        <p:txBody>
          <a:bodyPr/>
          <a:lstStyle/>
          <a:p>
            <a:endParaRPr lang="zh-CN" altLang="en-US"/>
          </a:p>
        </p:txBody>
      </p:sp>
      <p:sp>
        <p:nvSpPr>
          <p:cNvPr id="4" name="Text 2"/>
          <p:cNvSpPr/>
          <p:nvPr/>
        </p:nvSpPr>
        <p:spPr>
          <a:xfrm>
            <a:off x="423333" y="1439333"/>
            <a:ext cx="15504583" cy="624417"/>
          </a:xfrm>
          <a:prstGeom prst="rect">
            <a:avLst/>
          </a:prstGeom>
          <a:noFill/>
          <a:ln/>
        </p:spPr>
        <p:txBody>
          <a:bodyPr wrap="square" lIns="0" tIns="0" rIns="0" bIns="0" rtlCol="0" anchor="ctr"/>
          <a:lstStyle/>
          <a:p>
            <a:pPr>
              <a:lnSpc>
                <a:spcPct val="140000"/>
              </a:lnSpc>
            </a:pPr>
            <a:r>
              <a:rPr lang="en-US" sz="1500" dirty="0">
                <a:solidFill>
                  <a:srgbClr val="A0AEC0"/>
                </a:solidFill>
                <a:latin typeface="MiSans" pitchFamily="34" charset="0"/>
                <a:ea typeface="MiSans" pitchFamily="34" charset="-122"/>
                <a:cs typeface="MiSans" pitchFamily="34" charset="-120"/>
              </a:rPr>
              <a:t>Hive的元数据管理系统(Metastore)是整个架构的核心组件，</a:t>
            </a:r>
            <a:r>
              <a:rPr lang="en-US" sz="1500" b="1" dirty="0">
                <a:solidFill>
                  <a:srgbClr val="E2E8F0"/>
                </a:solidFill>
                <a:latin typeface="MiSans" pitchFamily="34" charset="0"/>
                <a:ea typeface="MiSans" pitchFamily="34" charset="-122"/>
                <a:cs typeface="MiSans" pitchFamily="34" charset="-120"/>
              </a:rPr>
              <a:t>负责存储和管理所有表、分区、列、数据类型等元数据信息</a:t>
            </a:r>
            <a:r>
              <a:rPr lang="en-US" sz="1500" dirty="0">
                <a:solidFill>
                  <a:srgbClr val="A0AEC0"/>
                </a:solidFill>
                <a:latin typeface="MiSans" pitchFamily="34" charset="0"/>
                <a:ea typeface="MiSans" pitchFamily="34" charset="-122"/>
                <a:cs typeface="MiSans" pitchFamily="34" charset="-120"/>
              </a:rPr>
              <a:t>。Metastore提供了统一的元数据服务接口，使得多个计算引擎可以共享相同的元数据视图。</a:t>
            </a:r>
            <a:endParaRPr lang="en-US" sz="1600" dirty="0"/>
          </a:p>
        </p:txBody>
      </p:sp>
      <p:sp>
        <p:nvSpPr>
          <p:cNvPr id="5" name="Text 3"/>
          <p:cNvSpPr/>
          <p:nvPr/>
        </p:nvSpPr>
        <p:spPr>
          <a:xfrm>
            <a:off x="423333" y="2397125"/>
            <a:ext cx="7662333" cy="338667"/>
          </a:xfrm>
          <a:prstGeom prst="rect">
            <a:avLst/>
          </a:prstGeom>
          <a:noFill/>
          <a:ln/>
        </p:spPr>
        <p:txBody>
          <a:bodyPr wrap="square" lIns="0" tIns="0" rIns="0" bIns="0" rtlCol="0" anchor="ctr"/>
          <a:lstStyle/>
          <a:p>
            <a:pPr>
              <a:lnSpc>
                <a:spcPct val="110000"/>
              </a:lnSpc>
            </a:pPr>
            <a:r>
              <a:rPr lang="en-US" sz="2000" b="1" dirty="0">
                <a:solidFill>
                  <a:srgbClr val="E2E8F0"/>
                </a:solidFill>
                <a:latin typeface="Noto Sans SC" pitchFamily="34" charset="0"/>
                <a:ea typeface="Noto Sans SC" pitchFamily="34" charset="-122"/>
                <a:cs typeface="Noto Sans SC" pitchFamily="34" charset="-120"/>
              </a:rPr>
              <a:t>核心组件</a:t>
            </a:r>
            <a:endParaRPr lang="en-US" sz="1600" dirty="0"/>
          </a:p>
        </p:txBody>
      </p:sp>
      <p:sp>
        <p:nvSpPr>
          <p:cNvPr id="6" name="Shape 4"/>
          <p:cNvSpPr/>
          <p:nvPr/>
        </p:nvSpPr>
        <p:spPr>
          <a:xfrm>
            <a:off x="444500" y="2905125"/>
            <a:ext cx="42333" cy="889000"/>
          </a:xfrm>
          <a:custGeom>
            <a:avLst/>
            <a:gdLst/>
            <a:ahLst/>
            <a:cxnLst/>
            <a:rect l="l" t="t" r="r" b="b"/>
            <a:pathLst>
              <a:path w="42333" h="889000">
                <a:moveTo>
                  <a:pt x="0" y="0"/>
                </a:moveTo>
                <a:lnTo>
                  <a:pt x="42333" y="0"/>
                </a:lnTo>
                <a:lnTo>
                  <a:pt x="42333" y="889000"/>
                </a:lnTo>
                <a:lnTo>
                  <a:pt x="0" y="889000"/>
                </a:lnTo>
                <a:lnTo>
                  <a:pt x="0" y="0"/>
                </a:lnTo>
                <a:close/>
              </a:path>
            </a:pathLst>
          </a:custGeom>
          <a:solidFill>
            <a:srgbClr val="D69E2E"/>
          </a:solidFill>
          <a:ln/>
        </p:spPr>
        <p:txBody>
          <a:bodyPr/>
          <a:lstStyle/>
          <a:p>
            <a:endParaRPr lang="zh-CN" altLang="en-US"/>
          </a:p>
        </p:txBody>
      </p:sp>
      <p:sp>
        <p:nvSpPr>
          <p:cNvPr id="7" name="Shape 5"/>
          <p:cNvSpPr/>
          <p:nvPr/>
        </p:nvSpPr>
        <p:spPr>
          <a:xfrm>
            <a:off x="759354" y="3074458"/>
            <a:ext cx="185208" cy="211667"/>
          </a:xfrm>
          <a:custGeom>
            <a:avLst/>
            <a:gdLst/>
            <a:ahLst/>
            <a:cxnLst/>
            <a:rect l="l" t="t" r="r" b="b"/>
            <a:pathLst>
              <a:path w="185208" h="211667">
                <a:moveTo>
                  <a:pt x="26458" y="13229"/>
                </a:moveTo>
                <a:cubicBezTo>
                  <a:pt x="11865" y="13229"/>
                  <a:pt x="0" y="25094"/>
                  <a:pt x="0" y="39688"/>
                </a:cubicBezTo>
                <a:lnTo>
                  <a:pt x="0" y="66146"/>
                </a:lnTo>
                <a:cubicBezTo>
                  <a:pt x="0" y="80739"/>
                  <a:pt x="11865" y="92604"/>
                  <a:pt x="26458" y="92604"/>
                </a:cubicBezTo>
                <a:lnTo>
                  <a:pt x="158750" y="92604"/>
                </a:lnTo>
                <a:cubicBezTo>
                  <a:pt x="173343" y="92604"/>
                  <a:pt x="185208" y="80739"/>
                  <a:pt x="185208" y="66146"/>
                </a:cubicBezTo>
                <a:lnTo>
                  <a:pt x="185208" y="39688"/>
                </a:lnTo>
                <a:cubicBezTo>
                  <a:pt x="185208" y="25094"/>
                  <a:pt x="173343" y="13229"/>
                  <a:pt x="158750" y="13229"/>
                </a:cubicBezTo>
                <a:lnTo>
                  <a:pt x="26458" y="13229"/>
                </a:lnTo>
                <a:close/>
                <a:moveTo>
                  <a:pt x="115755" y="42995"/>
                </a:moveTo>
                <a:cubicBezTo>
                  <a:pt x="121231" y="42995"/>
                  <a:pt x="125677" y="47441"/>
                  <a:pt x="125677" y="52917"/>
                </a:cubicBezTo>
                <a:cubicBezTo>
                  <a:pt x="125677" y="58393"/>
                  <a:pt x="121231" y="62839"/>
                  <a:pt x="115755" y="62839"/>
                </a:cubicBezTo>
                <a:cubicBezTo>
                  <a:pt x="110279" y="62839"/>
                  <a:pt x="105833" y="58393"/>
                  <a:pt x="105833" y="52917"/>
                </a:cubicBezTo>
                <a:cubicBezTo>
                  <a:pt x="105833" y="47441"/>
                  <a:pt x="110279" y="42995"/>
                  <a:pt x="115755" y="42995"/>
                </a:cubicBezTo>
                <a:close/>
                <a:moveTo>
                  <a:pt x="138906" y="52917"/>
                </a:moveTo>
                <a:cubicBezTo>
                  <a:pt x="138906" y="47441"/>
                  <a:pt x="143352" y="42995"/>
                  <a:pt x="148828" y="42995"/>
                </a:cubicBezTo>
                <a:cubicBezTo>
                  <a:pt x="154304" y="42995"/>
                  <a:pt x="158750" y="47441"/>
                  <a:pt x="158750" y="52917"/>
                </a:cubicBezTo>
                <a:cubicBezTo>
                  <a:pt x="158750" y="58393"/>
                  <a:pt x="154304" y="62839"/>
                  <a:pt x="148828" y="62839"/>
                </a:cubicBezTo>
                <a:cubicBezTo>
                  <a:pt x="143352" y="62839"/>
                  <a:pt x="138906" y="58393"/>
                  <a:pt x="138906" y="52917"/>
                </a:cubicBezTo>
                <a:close/>
                <a:moveTo>
                  <a:pt x="26458" y="119063"/>
                </a:moveTo>
                <a:cubicBezTo>
                  <a:pt x="11865" y="119063"/>
                  <a:pt x="0" y="130927"/>
                  <a:pt x="0" y="145521"/>
                </a:cubicBezTo>
                <a:lnTo>
                  <a:pt x="0" y="171979"/>
                </a:lnTo>
                <a:cubicBezTo>
                  <a:pt x="0" y="186573"/>
                  <a:pt x="11865" y="198438"/>
                  <a:pt x="26458" y="198438"/>
                </a:cubicBezTo>
                <a:lnTo>
                  <a:pt x="158750" y="198438"/>
                </a:lnTo>
                <a:cubicBezTo>
                  <a:pt x="173343" y="198438"/>
                  <a:pt x="185208" y="186573"/>
                  <a:pt x="185208" y="171979"/>
                </a:cubicBezTo>
                <a:lnTo>
                  <a:pt x="185208" y="145521"/>
                </a:lnTo>
                <a:cubicBezTo>
                  <a:pt x="185208" y="130927"/>
                  <a:pt x="173343" y="119063"/>
                  <a:pt x="158750" y="119063"/>
                </a:cubicBezTo>
                <a:lnTo>
                  <a:pt x="26458" y="119063"/>
                </a:lnTo>
                <a:close/>
                <a:moveTo>
                  <a:pt x="115755" y="148828"/>
                </a:moveTo>
                <a:cubicBezTo>
                  <a:pt x="121231" y="148828"/>
                  <a:pt x="125677" y="153274"/>
                  <a:pt x="125677" y="158750"/>
                </a:cubicBezTo>
                <a:cubicBezTo>
                  <a:pt x="125677" y="164226"/>
                  <a:pt x="121231" y="168672"/>
                  <a:pt x="115755" y="168672"/>
                </a:cubicBezTo>
                <a:cubicBezTo>
                  <a:pt x="110279" y="168672"/>
                  <a:pt x="105833" y="164226"/>
                  <a:pt x="105833" y="158750"/>
                </a:cubicBezTo>
                <a:cubicBezTo>
                  <a:pt x="105833" y="153274"/>
                  <a:pt x="110279" y="148828"/>
                  <a:pt x="115755" y="148828"/>
                </a:cubicBezTo>
                <a:close/>
                <a:moveTo>
                  <a:pt x="138906" y="158750"/>
                </a:moveTo>
                <a:cubicBezTo>
                  <a:pt x="138906" y="153274"/>
                  <a:pt x="143352" y="148828"/>
                  <a:pt x="148828" y="148828"/>
                </a:cubicBezTo>
                <a:cubicBezTo>
                  <a:pt x="154304" y="148828"/>
                  <a:pt x="158750" y="153274"/>
                  <a:pt x="158750" y="158750"/>
                </a:cubicBezTo>
                <a:cubicBezTo>
                  <a:pt x="158750" y="164226"/>
                  <a:pt x="154304" y="168672"/>
                  <a:pt x="148828" y="168672"/>
                </a:cubicBezTo>
                <a:cubicBezTo>
                  <a:pt x="143352" y="168672"/>
                  <a:pt x="138906" y="164226"/>
                  <a:pt x="138906" y="158750"/>
                </a:cubicBezTo>
                <a:close/>
              </a:path>
            </a:pathLst>
          </a:custGeom>
          <a:solidFill>
            <a:srgbClr val="D69E2E"/>
          </a:solidFill>
          <a:ln/>
        </p:spPr>
        <p:txBody>
          <a:bodyPr/>
          <a:lstStyle/>
          <a:p>
            <a:endParaRPr lang="zh-CN" altLang="en-US"/>
          </a:p>
        </p:txBody>
      </p:sp>
      <p:sp>
        <p:nvSpPr>
          <p:cNvPr id="8" name="Text 6"/>
          <p:cNvSpPr/>
          <p:nvPr/>
        </p:nvSpPr>
        <p:spPr>
          <a:xfrm>
            <a:off x="1111250" y="3032125"/>
            <a:ext cx="1629833" cy="296333"/>
          </a:xfrm>
          <a:prstGeom prst="rect">
            <a:avLst/>
          </a:prstGeom>
          <a:noFill/>
          <a:ln/>
        </p:spPr>
        <p:txBody>
          <a:bodyPr wrap="square" lIns="0" tIns="0" rIns="0" bIns="0" rtlCol="0" anchor="ctr"/>
          <a:lstStyle/>
          <a:p>
            <a:pPr>
              <a:lnSpc>
                <a:spcPct val="130000"/>
              </a:lnSpc>
            </a:pPr>
            <a:r>
              <a:rPr lang="en-US" sz="1500" b="1" dirty="0">
                <a:solidFill>
                  <a:srgbClr val="E2E8F0"/>
                </a:solidFill>
                <a:latin typeface="Liter" pitchFamily="34" charset="0"/>
                <a:ea typeface="Liter" pitchFamily="34" charset="-122"/>
                <a:cs typeface="Liter" pitchFamily="34" charset="-120"/>
              </a:rPr>
              <a:t>Metastore Service</a:t>
            </a:r>
            <a:endParaRPr lang="en-US" sz="1600" dirty="0"/>
          </a:p>
        </p:txBody>
      </p:sp>
      <p:sp>
        <p:nvSpPr>
          <p:cNvPr id="9" name="Text 7"/>
          <p:cNvSpPr/>
          <p:nvPr/>
        </p:nvSpPr>
        <p:spPr>
          <a:xfrm>
            <a:off x="719667" y="3413125"/>
            <a:ext cx="7323667" cy="254000"/>
          </a:xfrm>
          <a:prstGeom prst="rect">
            <a:avLst/>
          </a:prstGeom>
          <a:noFill/>
          <a:ln/>
        </p:spPr>
        <p:txBody>
          <a:bodyPr wrap="square" lIns="0" tIns="0" rIns="0" bIns="0" rtlCol="0" anchor="ctr"/>
          <a:lstStyle/>
          <a:p>
            <a:pPr>
              <a:lnSpc>
                <a:spcPct val="130000"/>
              </a:lnSpc>
            </a:pPr>
            <a:r>
              <a:rPr lang="en-US" sz="1333" dirty="0">
                <a:solidFill>
                  <a:srgbClr val="A0AEC0"/>
                </a:solidFill>
                <a:latin typeface="MiSans" pitchFamily="34" charset="0"/>
                <a:ea typeface="MiSans" pitchFamily="34" charset="-122"/>
                <a:cs typeface="MiSans" pitchFamily="34" charset="-120"/>
              </a:rPr>
              <a:t>提供Thrift接口的元数据服务，支持远程调用</a:t>
            </a:r>
            <a:endParaRPr lang="en-US" sz="1600" dirty="0"/>
          </a:p>
        </p:txBody>
      </p:sp>
      <p:sp>
        <p:nvSpPr>
          <p:cNvPr id="10" name="Shape 8"/>
          <p:cNvSpPr/>
          <p:nvPr/>
        </p:nvSpPr>
        <p:spPr>
          <a:xfrm>
            <a:off x="444500" y="3963458"/>
            <a:ext cx="42333" cy="889000"/>
          </a:xfrm>
          <a:custGeom>
            <a:avLst/>
            <a:gdLst/>
            <a:ahLst/>
            <a:cxnLst/>
            <a:rect l="l" t="t" r="r" b="b"/>
            <a:pathLst>
              <a:path w="42333" h="889000">
                <a:moveTo>
                  <a:pt x="0" y="0"/>
                </a:moveTo>
                <a:lnTo>
                  <a:pt x="42333" y="0"/>
                </a:lnTo>
                <a:lnTo>
                  <a:pt x="42333" y="889000"/>
                </a:lnTo>
                <a:lnTo>
                  <a:pt x="0" y="889000"/>
                </a:lnTo>
                <a:lnTo>
                  <a:pt x="0" y="0"/>
                </a:lnTo>
                <a:close/>
              </a:path>
            </a:pathLst>
          </a:custGeom>
          <a:solidFill>
            <a:srgbClr val="D69E2E"/>
          </a:solidFill>
          <a:ln/>
        </p:spPr>
        <p:txBody>
          <a:bodyPr/>
          <a:lstStyle/>
          <a:p>
            <a:endParaRPr lang="zh-CN" altLang="en-US"/>
          </a:p>
        </p:txBody>
      </p:sp>
      <p:sp>
        <p:nvSpPr>
          <p:cNvPr id="11" name="Shape 9"/>
          <p:cNvSpPr/>
          <p:nvPr/>
        </p:nvSpPr>
        <p:spPr>
          <a:xfrm>
            <a:off x="759354" y="4132792"/>
            <a:ext cx="185208" cy="211667"/>
          </a:xfrm>
          <a:custGeom>
            <a:avLst/>
            <a:gdLst/>
            <a:ahLst/>
            <a:cxnLst/>
            <a:rect l="l" t="t" r="r" b="b"/>
            <a:pathLst>
              <a:path w="185208" h="211667">
                <a:moveTo>
                  <a:pt x="185208" y="85080"/>
                </a:moveTo>
                <a:cubicBezTo>
                  <a:pt x="179090" y="89132"/>
                  <a:pt x="172062" y="92397"/>
                  <a:pt x="164744" y="95002"/>
                </a:cubicBezTo>
                <a:cubicBezTo>
                  <a:pt x="145314" y="101947"/>
                  <a:pt x="119807" y="105833"/>
                  <a:pt x="92604" y="105833"/>
                </a:cubicBezTo>
                <a:cubicBezTo>
                  <a:pt x="65402" y="105833"/>
                  <a:pt x="39853" y="101906"/>
                  <a:pt x="20464" y="95002"/>
                </a:cubicBezTo>
                <a:cubicBezTo>
                  <a:pt x="13188" y="92397"/>
                  <a:pt x="6118" y="89132"/>
                  <a:pt x="0" y="85080"/>
                </a:cubicBezTo>
                <a:lnTo>
                  <a:pt x="0" y="119063"/>
                </a:lnTo>
                <a:cubicBezTo>
                  <a:pt x="0" y="137335"/>
                  <a:pt x="41465" y="152135"/>
                  <a:pt x="92604" y="152135"/>
                </a:cubicBezTo>
                <a:cubicBezTo>
                  <a:pt x="143743" y="152135"/>
                  <a:pt x="185208" y="137335"/>
                  <a:pt x="185208" y="119063"/>
                </a:cubicBezTo>
                <a:lnTo>
                  <a:pt x="185208" y="85080"/>
                </a:lnTo>
                <a:close/>
                <a:moveTo>
                  <a:pt x="185208" y="52917"/>
                </a:moveTo>
                <a:lnTo>
                  <a:pt x="185208" y="33073"/>
                </a:lnTo>
                <a:cubicBezTo>
                  <a:pt x="185208" y="14800"/>
                  <a:pt x="143743" y="0"/>
                  <a:pt x="92604" y="0"/>
                </a:cubicBezTo>
                <a:cubicBezTo>
                  <a:pt x="41465" y="0"/>
                  <a:pt x="0" y="14800"/>
                  <a:pt x="0" y="33073"/>
                </a:cubicBezTo>
                <a:lnTo>
                  <a:pt x="0" y="52917"/>
                </a:lnTo>
                <a:cubicBezTo>
                  <a:pt x="0" y="71189"/>
                  <a:pt x="41465" y="85990"/>
                  <a:pt x="92604" y="85990"/>
                </a:cubicBezTo>
                <a:cubicBezTo>
                  <a:pt x="143743" y="85990"/>
                  <a:pt x="185208" y="71189"/>
                  <a:pt x="185208" y="52917"/>
                </a:cubicBezTo>
                <a:close/>
                <a:moveTo>
                  <a:pt x="164744" y="161148"/>
                </a:moveTo>
                <a:cubicBezTo>
                  <a:pt x="145355" y="168052"/>
                  <a:pt x="119848" y="171979"/>
                  <a:pt x="92604" y="171979"/>
                </a:cubicBezTo>
                <a:cubicBezTo>
                  <a:pt x="65360" y="171979"/>
                  <a:pt x="39853" y="168052"/>
                  <a:pt x="20464" y="161148"/>
                </a:cubicBezTo>
                <a:cubicBezTo>
                  <a:pt x="13188" y="158543"/>
                  <a:pt x="6118" y="155277"/>
                  <a:pt x="0" y="151226"/>
                </a:cubicBezTo>
                <a:lnTo>
                  <a:pt x="0" y="178594"/>
                </a:lnTo>
                <a:cubicBezTo>
                  <a:pt x="0" y="196867"/>
                  <a:pt x="41465" y="211667"/>
                  <a:pt x="92604" y="211667"/>
                </a:cubicBezTo>
                <a:cubicBezTo>
                  <a:pt x="143743" y="211667"/>
                  <a:pt x="185208" y="196867"/>
                  <a:pt x="185208" y="178594"/>
                </a:cubicBezTo>
                <a:lnTo>
                  <a:pt x="185208" y="151226"/>
                </a:lnTo>
                <a:cubicBezTo>
                  <a:pt x="179090" y="155277"/>
                  <a:pt x="172062" y="158543"/>
                  <a:pt x="164744" y="161148"/>
                </a:cubicBezTo>
                <a:close/>
              </a:path>
            </a:pathLst>
          </a:custGeom>
          <a:solidFill>
            <a:srgbClr val="D69E2E"/>
          </a:solidFill>
          <a:ln/>
        </p:spPr>
        <p:txBody>
          <a:bodyPr/>
          <a:lstStyle/>
          <a:p>
            <a:endParaRPr lang="zh-CN" altLang="en-US"/>
          </a:p>
        </p:txBody>
      </p:sp>
      <p:sp>
        <p:nvSpPr>
          <p:cNvPr id="12" name="Text 10"/>
          <p:cNvSpPr/>
          <p:nvPr/>
        </p:nvSpPr>
        <p:spPr>
          <a:xfrm>
            <a:off x="1111250" y="4090458"/>
            <a:ext cx="1661583" cy="296333"/>
          </a:xfrm>
          <a:prstGeom prst="rect">
            <a:avLst/>
          </a:prstGeom>
          <a:noFill/>
          <a:ln/>
        </p:spPr>
        <p:txBody>
          <a:bodyPr wrap="square" lIns="0" tIns="0" rIns="0" bIns="0" rtlCol="0" anchor="ctr"/>
          <a:lstStyle/>
          <a:p>
            <a:pPr>
              <a:lnSpc>
                <a:spcPct val="130000"/>
              </a:lnSpc>
            </a:pPr>
            <a:r>
              <a:rPr lang="en-US" sz="1500" b="1" dirty="0">
                <a:solidFill>
                  <a:srgbClr val="E2E8F0"/>
                </a:solidFill>
                <a:latin typeface="Liter" pitchFamily="34" charset="0"/>
                <a:ea typeface="Liter" pitchFamily="34" charset="-122"/>
                <a:cs typeface="Liter" pitchFamily="34" charset="-120"/>
              </a:rPr>
              <a:t>Database Backend</a:t>
            </a:r>
            <a:endParaRPr lang="en-US" sz="1600" dirty="0"/>
          </a:p>
        </p:txBody>
      </p:sp>
      <p:sp>
        <p:nvSpPr>
          <p:cNvPr id="13" name="Text 11"/>
          <p:cNvSpPr/>
          <p:nvPr/>
        </p:nvSpPr>
        <p:spPr>
          <a:xfrm>
            <a:off x="719667" y="4471458"/>
            <a:ext cx="7323667" cy="254000"/>
          </a:xfrm>
          <a:prstGeom prst="rect">
            <a:avLst/>
          </a:prstGeom>
          <a:noFill/>
          <a:ln/>
        </p:spPr>
        <p:txBody>
          <a:bodyPr wrap="square" lIns="0" tIns="0" rIns="0" bIns="0" rtlCol="0" anchor="ctr"/>
          <a:lstStyle/>
          <a:p>
            <a:pPr>
              <a:lnSpc>
                <a:spcPct val="130000"/>
              </a:lnSpc>
            </a:pPr>
            <a:r>
              <a:rPr lang="en-US" sz="1333" dirty="0">
                <a:solidFill>
                  <a:srgbClr val="A0AEC0"/>
                </a:solidFill>
                <a:latin typeface="MiSans" pitchFamily="34" charset="0"/>
                <a:ea typeface="MiSans" pitchFamily="34" charset="-122"/>
                <a:cs typeface="MiSans" pitchFamily="34" charset="-120"/>
              </a:rPr>
              <a:t>支持多种关系型数据库作为元数据存储后端</a:t>
            </a:r>
            <a:endParaRPr lang="en-US" sz="1600" dirty="0"/>
          </a:p>
        </p:txBody>
      </p:sp>
      <p:sp>
        <p:nvSpPr>
          <p:cNvPr id="14" name="Shape 12"/>
          <p:cNvSpPr/>
          <p:nvPr/>
        </p:nvSpPr>
        <p:spPr>
          <a:xfrm>
            <a:off x="444500" y="5021792"/>
            <a:ext cx="42333" cy="889000"/>
          </a:xfrm>
          <a:custGeom>
            <a:avLst/>
            <a:gdLst/>
            <a:ahLst/>
            <a:cxnLst/>
            <a:rect l="l" t="t" r="r" b="b"/>
            <a:pathLst>
              <a:path w="42333" h="889000">
                <a:moveTo>
                  <a:pt x="0" y="0"/>
                </a:moveTo>
                <a:lnTo>
                  <a:pt x="42333" y="0"/>
                </a:lnTo>
                <a:lnTo>
                  <a:pt x="42333" y="889000"/>
                </a:lnTo>
                <a:lnTo>
                  <a:pt x="0" y="889000"/>
                </a:lnTo>
                <a:lnTo>
                  <a:pt x="0" y="0"/>
                </a:lnTo>
                <a:close/>
              </a:path>
            </a:pathLst>
          </a:custGeom>
          <a:solidFill>
            <a:srgbClr val="D69E2E"/>
          </a:solidFill>
          <a:ln/>
        </p:spPr>
        <p:txBody>
          <a:bodyPr/>
          <a:lstStyle/>
          <a:p>
            <a:endParaRPr lang="zh-CN" altLang="en-US"/>
          </a:p>
        </p:txBody>
      </p:sp>
      <p:sp>
        <p:nvSpPr>
          <p:cNvPr id="15" name="Shape 13"/>
          <p:cNvSpPr/>
          <p:nvPr/>
        </p:nvSpPr>
        <p:spPr>
          <a:xfrm>
            <a:off x="719667" y="5191125"/>
            <a:ext cx="264583" cy="211667"/>
          </a:xfrm>
          <a:custGeom>
            <a:avLst/>
            <a:gdLst/>
            <a:ahLst/>
            <a:cxnLst/>
            <a:rect l="l" t="t" r="r" b="b"/>
            <a:pathLst>
              <a:path w="264583" h="211667">
                <a:moveTo>
                  <a:pt x="171938" y="87023"/>
                </a:moveTo>
                <a:cubicBezTo>
                  <a:pt x="176981" y="85659"/>
                  <a:pt x="182273" y="88057"/>
                  <a:pt x="184547" y="92728"/>
                </a:cubicBezTo>
                <a:lnTo>
                  <a:pt x="192236" y="108272"/>
                </a:lnTo>
                <a:cubicBezTo>
                  <a:pt x="196494" y="108851"/>
                  <a:pt x="200670" y="110009"/>
                  <a:pt x="204597" y="111621"/>
                </a:cubicBezTo>
                <a:lnTo>
                  <a:pt x="219067" y="101989"/>
                </a:lnTo>
                <a:cubicBezTo>
                  <a:pt x="223408" y="99095"/>
                  <a:pt x="229154" y="99674"/>
                  <a:pt x="232833" y="103353"/>
                </a:cubicBezTo>
                <a:lnTo>
                  <a:pt x="240771" y="111290"/>
                </a:lnTo>
                <a:cubicBezTo>
                  <a:pt x="244450" y="114970"/>
                  <a:pt x="245029" y="120757"/>
                  <a:pt x="242135" y="125057"/>
                </a:cubicBezTo>
                <a:lnTo>
                  <a:pt x="232503" y="139485"/>
                </a:lnTo>
                <a:cubicBezTo>
                  <a:pt x="233288" y="141428"/>
                  <a:pt x="233991" y="143454"/>
                  <a:pt x="234570" y="145562"/>
                </a:cubicBezTo>
                <a:cubicBezTo>
                  <a:pt x="235148" y="147671"/>
                  <a:pt x="235521" y="149738"/>
                  <a:pt x="235810" y="151846"/>
                </a:cubicBezTo>
                <a:lnTo>
                  <a:pt x="251396" y="159535"/>
                </a:lnTo>
                <a:cubicBezTo>
                  <a:pt x="256067" y="161851"/>
                  <a:pt x="258465" y="167142"/>
                  <a:pt x="257101" y="172145"/>
                </a:cubicBezTo>
                <a:lnTo>
                  <a:pt x="254207" y="182976"/>
                </a:lnTo>
                <a:cubicBezTo>
                  <a:pt x="252842" y="187978"/>
                  <a:pt x="248171" y="191368"/>
                  <a:pt x="242962" y="191037"/>
                </a:cubicBezTo>
                <a:lnTo>
                  <a:pt x="225599" y="189921"/>
                </a:lnTo>
                <a:cubicBezTo>
                  <a:pt x="222994" y="193270"/>
                  <a:pt x="219976" y="196370"/>
                  <a:pt x="216545" y="199016"/>
                </a:cubicBezTo>
                <a:lnTo>
                  <a:pt x="217661" y="216338"/>
                </a:lnTo>
                <a:cubicBezTo>
                  <a:pt x="217992" y="221547"/>
                  <a:pt x="214602" y="226260"/>
                  <a:pt x="209600" y="227583"/>
                </a:cubicBezTo>
                <a:lnTo>
                  <a:pt x="198768" y="230477"/>
                </a:lnTo>
                <a:cubicBezTo>
                  <a:pt x="193725" y="231841"/>
                  <a:pt x="188474" y="229443"/>
                  <a:pt x="186159" y="224772"/>
                </a:cubicBezTo>
                <a:lnTo>
                  <a:pt x="178470" y="209228"/>
                </a:lnTo>
                <a:cubicBezTo>
                  <a:pt x="174212" y="208649"/>
                  <a:pt x="170036" y="207491"/>
                  <a:pt x="166109" y="205879"/>
                </a:cubicBezTo>
                <a:lnTo>
                  <a:pt x="151639" y="215511"/>
                </a:lnTo>
                <a:cubicBezTo>
                  <a:pt x="147299" y="218405"/>
                  <a:pt x="141552" y="217826"/>
                  <a:pt x="137873" y="214147"/>
                </a:cubicBezTo>
                <a:lnTo>
                  <a:pt x="129935" y="206210"/>
                </a:lnTo>
                <a:cubicBezTo>
                  <a:pt x="126256" y="202530"/>
                  <a:pt x="125677" y="196784"/>
                  <a:pt x="128571" y="192443"/>
                </a:cubicBezTo>
                <a:lnTo>
                  <a:pt x="138203" y="177974"/>
                </a:lnTo>
                <a:cubicBezTo>
                  <a:pt x="137418" y="176031"/>
                  <a:pt x="136715" y="174005"/>
                  <a:pt x="136136" y="171896"/>
                </a:cubicBezTo>
                <a:cubicBezTo>
                  <a:pt x="135558" y="169788"/>
                  <a:pt x="135186" y="167680"/>
                  <a:pt x="134896" y="165613"/>
                </a:cubicBezTo>
                <a:lnTo>
                  <a:pt x="119311" y="157923"/>
                </a:lnTo>
                <a:cubicBezTo>
                  <a:pt x="114639" y="155608"/>
                  <a:pt x="112283" y="150316"/>
                  <a:pt x="113605" y="145314"/>
                </a:cubicBezTo>
                <a:lnTo>
                  <a:pt x="116499" y="134483"/>
                </a:lnTo>
                <a:cubicBezTo>
                  <a:pt x="117864" y="129480"/>
                  <a:pt x="122535" y="126090"/>
                  <a:pt x="127744" y="126421"/>
                </a:cubicBezTo>
                <a:lnTo>
                  <a:pt x="145066" y="127537"/>
                </a:lnTo>
                <a:cubicBezTo>
                  <a:pt x="147671" y="124189"/>
                  <a:pt x="150688" y="121088"/>
                  <a:pt x="154120" y="118442"/>
                </a:cubicBezTo>
                <a:lnTo>
                  <a:pt x="153004" y="101162"/>
                </a:lnTo>
                <a:cubicBezTo>
                  <a:pt x="152673" y="95953"/>
                  <a:pt x="156063" y="91240"/>
                  <a:pt x="161065" y="89917"/>
                </a:cubicBezTo>
                <a:lnTo>
                  <a:pt x="171896" y="87023"/>
                </a:lnTo>
                <a:close/>
                <a:moveTo>
                  <a:pt x="185374" y="140560"/>
                </a:moveTo>
                <a:cubicBezTo>
                  <a:pt x="175334" y="140571"/>
                  <a:pt x="167193" y="148731"/>
                  <a:pt x="167204" y="158771"/>
                </a:cubicBezTo>
                <a:cubicBezTo>
                  <a:pt x="167216" y="168810"/>
                  <a:pt x="175376" y="176952"/>
                  <a:pt x="185415" y="176940"/>
                </a:cubicBezTo>
                <a:cubicBezTo>
                  <a:pt x="195454" y="176929"/>
                  <a:pt x="203596" y="168769"/>
                  <a:pt x="203584" y="158729"/>
                </a:cubicBezTo>
                <a:cubicBezTo>
                  <a:pt x="203573" y="148690"/>
                  <a:pt x="195413" y="140548"/>
                  <a:pt x="185374" y="140560"/>
                </a:cubicBezTo>
                <a:close/>
                <a:moveTo>
                  <a:pt x="92976" y="-18810"/>
                </a:moveTo>
                <a:lnTo>
                  <a:pt x="103808" y="-15916"/>
                </a:lnTo>
                <a:cubicBezTo>
                  <a:pt x="108810" y="-14552"/>
                  <a:pt x="112200" y="-9839"/>
                  <a:pt x="111869" y="-4672"/>
                </a:cubicBezTo>
                <a:lnTo>
                  <a:pt x="110753" y="12609"/>
                </a:lnTo>
                <a:cubicBezTo>
                  <a:pt x="114184" y="15255"/>
                  <a:pt x="117202" y="18314"/>
                  <a:pt x="119807" y="21704"/>
                </a:cubicBezTo>
                <a:lnTo>
                  <a:pt x="137170" y="20588"/>
                </a:lnTo>
                <a:cubicBezTo>
                  <a:pt x="142338" y="20257"/>
                  <a:pt x="147050" y="23647"/>
                  <a:pt x="148415" y="28649"/>
                </a:cubicBezTo>
                <a:lnTo>
                  <a:pt x="151309" y="39481"/>
                </a:lnTo>
                <a:cubicBezTo>
                  <a:pt x="152632" y="44483"/>
                  <a:pt x="150275" y="49775"/>
                  <a:pt x="145604" y="52090"/>
                </a:cubicBezTo>
                <a:lnTo>
                  <a:pt x="130018" y="59779"/>
                </a:lnTo>
                <a:cubicBezTo>
                  <a:pt x="129729" y="61888"/>
                  <a:pt x="129315" y="63996"/>
                  <a:pt x="128778" y="66063"/>
                </a:cubicBezTo>
                <a:cubicBezTo>
                  <a:pt x="128240" y="68130"/>
                  <a:pt x="127496" y="70197"/>
                  <a:pt x="126711" y="72140"/>
                </a:cubicBezTo>
                <a:lnTo>
                  <a:pt x="136343" y="86610"/>
                </a:lnTo>
                <a:cubicBezTo>
                  <a:pt x="139237" y="90951"/>
                  <a:pt x="138658" y="96697"/>
                  <a:pt x="134979" y="100376"/>
                </a:cubicBezTo>
                <a:lnTo>
                  <a:pt x="127041" y="108314"/>
                </a:lnTo>
                <a:cubicBezTo>
                  <a:pt x="123362" y="111993"/>
                  <a:pt x="117616" y="112572"/>
                  <a:pt x="113275" y="109678"/>
                </a:cubicBezTo>
                <a:lnTo>
                  <a:pt x="98805" y="100046"/>
                </a:lnTo>
                <a:cubicBezTo>
                  <a:pt x="94878" y="101658"/>
                  <a:pt x="90702" y="102815"/>
                  <a:pt x="86444" y="103394"/>
                </a:cubicBezTo>
                <a:lnTo>
                  <a:pt x="78755" y="118938"/>
                </a:lnTo>
                <a:cubicBezTo>
                  <a:pt x="76440" y="123610"/>
                  <a:pt x="71148" y="125966"/>
                  <a:pt x="66146" y="124644"/>
                </a:cubicBezTo>
                <a:lnTo>
                  <a:pt x="55314" y="121750"/>
                </a:lnTo>
                <a:cubicBezTo>
                  <a:pt x="50271" y="120385"/>
                  <a:pt x="46922" y="115673"/>
                  <a:pt x="47253" y="110505"/>
                </a:cubicBezTo>
                <a:lnTo>
                  <a:pt x="48369" y="93183"/>
                </a:lnTo>
                <a:cubicBezTo>
                  <a:pt x="44938" y="90537"/>
                  <a:pt x="41920" y="87478"/>
                  <a:pt x="39315" y="84088"/>
                </a:cubicBezTo>
                <a:lnTo>
                  <a:pt x="21952" y="85204"/>
                </a:lnTo>
                <a:cubicBezTo>
                  <a:pt x="16785" y="85535"/>
                  <a:pt x="12072" y="82145"/>
                  <a:pt x="10707" y="77143"/>
                </a:cubicBezTo>
                <a:lnTo>
                  <a:pt x="7813" y="66311"/>
                </a:lnTo>
                <a:cubicBezTo>
                  <a:pt x="6491" y="61309"/>
                  <a:pt x="8847" y="56017"/>
                  <a:pt x="13519" y="53702"/>
                </a:cubicBezTo>
                <a:lnTo>
                  <a:pt x="29104" y="46013"/>
                </a:lnTo>
                <a:cubicBezTo>
                  <a:pt x="29394" y="43904"/>
                  <a:pt x="29807" y="41837"/>
                  <a:pt x="30344" y="39729"/>
                </a:cubicBezTo>
                <a:cubicBezTo>
                  <a:pt x="30923" y="37620"/>
                  <a:pt x="31585" y="35595"/>
                  <a:pt x="32411" y="33652"/>
                </a:cubicBezTo>
                <a:lnTo>
                  <a:pt x="22779" y="19224"/>
                </a:lnTo>
                <a:cubicBezTo>
                  <a:pt x="19885" y="14883"/>
                  <a:pt x="20464" y="9136"/>
                  <a:pt x="24143" y="5457"/>
                </a:cubicBezTo>
                <a:lnTo>
                  <a:pt x="32081" y="-2480"/>
                </a:lnTo>
                <a:cubicBezTo>
                  <a:pt x="35760" y="-6160"/>
                  <a:pt x="41507" y="-6739"/>
                  <a:pt x="45847" y="-3845"/>
                </a:cubicBezTo>
                <a:lnTo>
                  <a:pt x="60317" y="5788"/>
                </a:lnTo>
                <a:cubicBezTo>
                  <a:pt x="64244" y="4175"/>
                  <a:pt x="68420" y="3018"/>
                  <a:pt x="72678" y="2439"/>
                </a:cubicBezTo>
                <a:lnTo>
                  <a:pt x="80367" y="-13105"/>
                </a:lnTo>
                <a:cubicBezTo>
                  <a:pt x="82682" y="-17777"/>
                  <a:pt x="87933" y="-20133"/>
                  <a:pt x="92976" y="-18810"/>
                </a:cubicBezTo>
                <a:close/>
                <a:moveTo>
                  <a:pt x="79540" y="34727"/>
                </a:moveTo>
                <a:cubicBezTo>
                  <a:pt x="69501" y="34727"/>
                  <a:pt x="61350" y="42877"/>
                  <a:pt x="61350" y="52917"/>
                </a:cubicBezTo>
                <a:cubicBezTo>
                  <a:pt x="61350" y="62956"/>
                  <a:pt x="69501" y="71107"/>
                  <a:pt x="79540" y="71107"/>
                </a:cubicBezTo>
                <a:cubicBezTo>
                  <a:pt x="89580" y="71107"/>
                  <a:pt x="97730" y="62956"/>
                  <a:pt x="97730" y="52917"/>
                </a:cubicBezTo>
                <a:cubicBezTo>
                  <a:pt x="97730" y="42877"/>
                  <a:pt x="89580" y="34727"/>
                  <a:pt x="79540" y="34727"/>
                </a:cubicBezTo>
                <a:close/>
              </a:path>
            </a:pathLst>
          </a:custGeom>
          <a:solidFill>
            <a:srgbClr val="D69E2E"/>
          </a:solidFill>
          <a:ln/>
        </p:spPr>
        <p:txBody>
          <a:bodyPr/>
          <a:lstStyle/>
          <a:p>
            <a:endParaRPr lang="zh-CN" altLang="en-US"/>
          </a:p>
        </p:txBody>
      </p:sp>
      <p:sp>
        <p:nvSpPr>
          <p:cNvPr id="16" name="Text 14"/>
          <p:cNvSpPr/>
          <p:nvPr/>
        </p:nvSpPr>
        <p:spPr>
          <a:xfrm>
            <a:off x="1111250" y="5148792"/>
            <a:ext cx="1661583" cy="296333"/>
          </a:xfrm>
          <a:prstGeom prst="rect">
            <a:avLst/>
          </a:prstGeom>
          <a:noFill/>
          <a:ln/>
        </p:spPr>
        <p:txBody>
          <a:bodyPr wrap="square" lIns="0" tIns="0" rIns="0" bIns="0" rtlCol="0" anchor="ctr"/>
          <a:lstStyle/>
          <a:p>
            <a:pPr>
              <a:lnSpc>
                <a:spcPct val="130000"/>
              </a:lnSpc>
            </a:pPr>
            <a:r>
              <a:rPr lang="en-US" sz="1500" b="1" dirty="0">
                <a:solidFill>
                  <a:srgbClr val="E2E8F0"/>
                </a:solidFill>
                <a:latin typeface="Liter" pitchFamily="34" charset="0"/>
                <a:ea typeface="Liter" pitchFamily="34" charset="-122"/>
                <a:cs typeface="Liter" pitchFamily="34" charset="-120"/>
              </a:rPr>
              <a:t>Metastore Handler</a:t>
            </a:r>
            <a:endParaRPr lang="en-US" sz="1600" dirty="0"/>
          </a:p>
        </p:txBody>
      </p:sp>
      <p:sp>
        <p:nvSpPr>
          <p:cNvPr id="17" name="Text 15"/>
          <p:cNvSpPr/>
          <p:nvPr/>
        </p:nvSpPr>
        <p:spPr>
          <a:xfrm>
            <a:off x="719667" y="5529792"/>
            <a:ext cx="7323667" cy="254000"/>
          </a:xfrm>
          <a:prstGeom prst="rect">
            <a:avLst/>
          </a:prstGeom>
          <a:noFill/>
          <a:ln/>
        </p:spPr>
        <p:txBody>
          <a:bodyPr wrap="square" lIns="0" tIns="0" rIns="0" bIns="0" rtlCol="0" anchor="ctr"/>
          <a:lstStyle/>
          <a:p>
            <a:pPr>
              <a:lnSpc>
                <a:spcPct val="130000"/>
              </a:lnSpc>
            </a:pPr>
            <a:r>
              <a:rPr lang="en-US" sz="1333" dirty="0">
                <a:solidFill>
                  <a:srgbClr val="A0AEC0"/>
                </a:solidFill>
                <a:latin typeface="MiSans" pitchFamily="34" charset="0"/>
                <a:ea typeface="MiSans" pitchFamily="34" charset="-122"/>
                <a:cs typeface="MiSans" pitchFamily="34" charset="-120"/>
              </a:rPr>
              <a:t>管理Hive对象(表、分区、函数等)的生命周期和对象映射</a:t>
            </a:r>
            <a:endParaRPr lang="en-US" sz="1600" dirty="0"/>
          </a:p>
        </p:txBody>
      </p:sp>
      <p:sp>
        <p:nvSpPr>
          <p:cNvPr id="18" name="Shape 16"/>
          <p:cNvSpPr/>
          <p:nvPr/>
        </p:nvSpPr>
        <p:spPr>
          <a:xfrm>
            <a:off x="444500" y="6080125"/>
            <a:ext cx="42333" cy="889000"/>
          </a:xfrm>
          <a:custGeom>
            <a:avLst/>
            <a:gdLst/>
            <a:ahLst/>
            <a:cxnLst/>
            <a:rect l="l" t="t" r="r" b="b"/>
            <a:pathLst>
              <a:path w="42333" h="889000">
                <a:moveTo>
                  <a:pt x="0" y="0"/>
                </a:moveTo>
                <a:lnTo>
                  <a:pt x="42333" y="0"/>
                </a:lnTo>
                <a:lnTo>
                  <a:pt x="42333" y="889000"/>
                </a:lnTo>
                <a:lnTo>
                  <a:pt x="0" y="889000"/>
                </a:lnTo>
                <a:lnTo>
                  <a:pt x="0" y="0"/>
                </a:lnTo>
                <a:close/>
              </a:path>
            </a:pathLst>
          </a:custGeom>
          <a:solidFill>
            <a:srgbClr val="D69E2E"/>
          </a:solidFill>
          <a:ln/>
        </p:spPr>
        <p:txBody>
          <a:bodyPr/>
          <a:lstStyle/>
          <a:p>
            <a:endParaRPr lang="zh-CN" altLang="en-US"/>
          </a:p>
        </p:txBody>
      </p:sp>
      <p:sp>
        <p:nvSpPr>
          <p:cNvPr id="19" name="Shape 17"/>
          <p:cNvSpPr/>
          <p:nvPr/>
        </p:nvSpPr>
        <p:spPr>
          <a:xfrm>
            <a:off x="746125" y="6249458"/>
            <a:ext cx="211667" cy="211667"/>
          </a:xfrm>
          <a:custGeom>
            <a:avLst/>
            <a:gdLst/>
            <a:ahLst/>
            <a:cxnLst/>
            <a:rect l="l" t="t" r="r" b="b"/>
            <a:pathLst>
              <a:path w="211667" h="211667">
                <a:moveTo>
                  <a:pt x="105833" y="0"/>
                </a:moveTo>
                <a:cubicBezTo>
                  <a:pt x="107735" y="0"/>
                  <a:pt x="109637" y="413"/>
                  <a:pt x="111373" y="1199"/>
                </a:cubicBezTo>
                <a:lnTo>
                  <a:pt x="189260" y="34230"/>
                </a:lnTo>
                <a:cubicBezTo>
                  <a:pt x="198355" y="38075"/>
                  <a:pt x="205135" y="47046"/>
                  <a:pt x="205093" y="57878"/>
                </a:cubicBezTo>
                <a:cubicBezTo>
                  <a:pt x="204887" y="98888"/>
                  <a:pt x="188020" y="173922"/>
                  <a:pt x="116789" y="208029"/>
                </a:cubicBezTo>
                <a:cubicBezTo>
                  <a:pt x="109885" y="211336"/>
                  <a:pt x="101865" y="211336"/>
                  <a:pt x="94961" y="208029"/>
                </a:cubicBezTo>
                <a:cubicBezTo>
                  <a:pt x="23688" y="173922"/>
                  <a:pt x="6863" y="98888"/>
                  <a:pt x="6656" y="57878"/>
                </a:cubicBezTo>
                <a:cubicBezTo>
                  <a:pt x="6615" y="47046"/>
                  <a:pt x="13395" y="38075"/>
                  <a:pt x="22490" y="34230"/>
                </a:cubicBezTo>
                <a:lnTo>
                  <a:pt x="100335" y="1199"/>
                </a:lnTo>
                <a:cubicBezTo>
                  <a:pt x="102071" y="413"/>
                  <a:pt x="103932" y="0"/>
                  <a:pt x="105833" y="0"/>
                </a:cubicBezTo>
                <a:close/>
                <a:moveTo>
                  <a:pt x="105833" y="27616"/>
                </a:moveTo>
                <a:lnTo>
                  <a:pt x="105833" y="183927"/>
                </a:lnTo>
                <a:cubicBezTo>
                  <a:pt x="162884" y="156311"/>
                  <a:pt x="178222" y="95126"/>
                  <a:pt x="178594" y="58498"/>
                </a:cubicBezTo>
                <a:lnTo>
                  <a:pt x="105833" y="27657"/>
                </a:lnTo>
                <a:lnTo>
                  <a:pt x="105833" y="27657"/>
                </a:lnTo>
                <a:close/>
              </a:path>
            </a:pathLst>
          </a:custGeom>
          <a:solidFill>
            <a:srgbClr val="D69E2E"/>
          </a:solidFill>
          <a:ln/>
        </p:spPr>
        <p:txBody>
          <a:bodyPr/>
          <a:lstStyle/>
          <a:p>
            <a:endParaRPr lang="zh-CN" altLang="en-US"/>
          </a:p>
        </p:txBody>
      </p:sp>
      <p:sp>
        <p:nvSpPr>
          <p:cNvPr id="20" name="Text 18"/>
          <p:cNvSpPr/>
          <p:nvPr/>
        </p:nvSpPr>
        <p:spPr>
          <a:xfrm>
            <a:off x="1111250" y="6207125"/>
            <a:ext cx="2000250" cy="296333"/>
          </a:xfrm>
          <a:prstGeom prst="rect">
            <a:avLst/>
          </a:prstGeom>
          <a:noFill/>
          <a:ln/>
        </p:spPr>
        <p:txBody>
          <a:bodyPr wrap="square" lIns="0" tIns="0" rIns="0" bIns="0" rtlCol="0" anchor="ctr"/>
          <a:lstStyle/>
          <a:p>
            <a:pPr>
              <a:lnSpc>
                <a:spcPct val="130000"/>
              </a:lnSpc>
            </a:pPr>
            <a:r>
              <a:rPr lang="en-US" sz="1500" b="1" dirty="0">
                <a:solidFill>
                  <a:srgbClr val="E2E8F0"/>
                </a:solidFill>
                <a:latin typeface="Liter" pitchFamily="34" charset="0"/>
                <a:ea typeface="Liter" pitchFamily="34" charset="-122"/>
                <a:cs typeface="Liter" pitchFamily="34" charset="-120"/>
              </a:rPr>
              <a:t>Authorization Manager</a:t>
            </a:r>
            <a:endParaRPr lang="en-US" sz="1600" dirty="0"/>
          </a:p>
        </p:txBody>
      </p:sp>
      <p:sp>
        <p:nvSpPr>
          <p:cNvPr id="21" name="Text 19"/>
          <p:cNvSpPr/>
          <p:nvPr/>
        </p:nvSpPr>
        <p:spPr>
          <a:xfrm>
            <a:off x="719667" y="6588125"/>
            <a:ext cx="7323667" cy="254000"/>
          </a:xfrm>
          <a:prstGeom prst="rect">
            <a:avLst/>
          </a:prstGeom>
          <a:noFill/>
          <a:ln/>
        </p:spPr>
        <p:txBody>
          <a:bodyPr wrap="square" lIns="0" tIns="0" rIns="0" bIns="0" rtlCol="0" anchor="ctr"/>
          <a:lstStyle/>
          <a:p>
            <a:pPr>
              <a:lnSpc>
                <a:spcPct val="130000"/>
              </a:lnSpc>
            </a:pPr>
            <a:r>
              <a:rPr lang="en-US" sz="1333" dirty="0">
                <a:solidFill>
                  <a:srgbClr val="A0AEC0"/>
                </a:solidFill>
                <a:latin typeface="MiSans" pitchFamily="34" charset="0"/>
                <a:ea typeface="MiSans" pitchFamily="34" charset="-122"/>
                <a:cs typeface="MiSans" pitchFamily="34" charset="-120"/>
              </a:rPr>
              <a:t>提供元数据访问权限控制</a:t>
            </a:r>
            <a:endParaRPr lang="en-US" sz="1600" dirty="0"/>
          </a:p>
        </p:txBody>
      </p:sp>
      <p:sp>
        <p:nvSpPr>
          <p:cNvPr id="22" name="Text 20"/>
          <p:cNvSpPr/>
          <p:nvPr/>
        </p:nvSpPr>
        <p:spPr>
          <a:xfrm>
            <a:off x="8297333" y="2397125"/>
            <a:ext cx="7662333" cy="338667"/>
          </a:xfrm>
          <a:prstGeom prst="rect">
            <a:avLst/>
          </a:prstGeom>
          <a:noFill/>
          <a:ln/>
        </p:spPr>
        <p:txBody>
          <a:bodyPr wrap="square" lIns="0" tIns="0" rIns="0" bIns="0" rtlCol="0" anchor="ctr"/>
          <a:lstStyle/>
          <a:p>
            <a:pPr>
              <a:lnSpc>
                <a:spcPct val="110000"/>
              </a:lnSpc>
            </a:pPr>
            <a:r>
              <a:rPr lang="en-US" sz="2000" b="1" dirty="0">
                <a:solidFill>
                  <a:srgbClr val="E2E8F0"/>
                </a:solidFill>
                <a:latin typeface="Noto Sans SC" pitchFamily="34" charset="0"/>
                <a:ea typeface="Noto Sans SC" pitchFamily="34" charset="-122"/>
                <a:cs typeface="Noto Sans SC" pitchFamily="34" charset="-120"/>
              </a:rPr>
              <a:t>关键特性</a:t>
            </a:r>
            <a:endParaRPr lang="en-US" sz="1600" dirty="0"/>
          </a:p>
        </p:txBody>
      </p:sp>
      <p:sp>
        <p:nvSpPr>
          <p:cNvPr id="23" name="Shape 21"/>
          <p:cNvSpPr/>
          <p:nvPr/>
        </p:nvSpPr>
        <p:spPr>
          <a:xfrm>
            <a:off x="8297333" y="2905125"/>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D69E2E"/>
          </a:solidFill>
          <a:ln/>
        </p:spPr>
        <p:txBody>
          <a:bodyPr/>
          <a:lstStyle/>
          <a:p>
            <a:endParaRPr lang="zh-CN" altLang="en-US"/>
          </a:p>
        </p:txBody>
      </p:sp>
      <p:sp>
        <p:nvSpPr>
          <p:cNvPr id="24" name="Shape 22"/>
          <p:cNvSpPr/>
          <p:nvPr/>
        </p:nvSpPr>
        <p:spPr>
          <a:xfrm>
            <a:off x="8445500" y="3053292"/>
            <a:ext cx="211667" cy="211667"/>
          </a:xfrm>
          <a:custGeom>
            <a:avLst/>
            <a:gdLst/>
            <a:ahLst/>
            <a:cxnLst/>
            <a:rect l="l" t="t" r="r" b="b"/>
            <a:pathLst>
              <a:path w="211667" h="211667">
                <a:moveTo>
                  <a:pt x="105833" y="211667"/>
                </a:moveTo>
                <a:cubicBezTo>
                  <a:pt x="164244" y="211667"/>
                  <a:pt x="211667" y="164244"/>
                  <a:pt x="211667" y="105833"/>
                </a:cubicBezTo>
                <a:cubicBezTo>
                  <a:pt x="211667" y="47422"/>
                  <a:pt x="164244" y="0"/>
                  <a:pt x="105833" y="0"/>
                </a:cubicBezTo>
                <a:cubicBezTo>
                  <a:pt x="47422" y="0"/>
                  <a:pt x="0" y="47422"/>
                  <a:pt x="0" y="105833"/>
                </a:cubicBezTo>
                <a:cubicBezTo>
                  <a:pt x="0" y="164244"/>
                  <a:pt x="47422" y="211667"/>
                  <a:pt x="105833" y="211667"/>
                </a:cubicBezTo>
                <a:close/>
                <a:moveTo>
                  <a:pt x="140725" y="87933"/>
                </a:moveTo>
                <a:lnTo>
                  <a:pt x="107652" y="140849"/>
                </a:lnTo>
                <a:cubicBezTo>
                  <a:pt x="105916" y="143619"/>
                  <a:pt x="102939" y="145355"/>
                  <a:pt x="99674" y="145521"/>
                </a:cubicBezTo>
                <a:cubicBezTo>
                  <a:pt x="96408" y="145686"/>
                  <a:pt x="93266" y="144198"/>
                  <a:pt x="91323" y="141552"/>
                </a:cubicBezTo>
                <a:lnTo>
                  <a:pt x="71479" y="115094"/>
                </a:lnTo>
                <a:cubicBezTo>
                  <a:pt x="68172" y="110712"/>
                  <a:pt x="69081" y="104510"/>
                  <a:pt x="73463" y="101203"/>
                </a:cubicBezTo>
                <a:cubicBezTo>
                  <a:pt x="77845" y="97896"/>
                  <a:pt x="84047" y="98805"/>
                  <a:pt x="87354" y="103188"/>
                </a:cubicBezTo>
                <a:lnTo>
                  <a:pt x="98516" y="118070"/>
                </a:lnTo>
                <a:lnTo>
                  <a:pt x="123899" y="77432"/>
                </a:lnTo>
                <a:cubicBezTo>
                  <a:pt x="126793" y="72802"/>
                  <a:pt x="132912" y="71355"/>
                  <a:pt x="137583" y="74290"/>
                </a:cubicBezTo>
                <a:cubicBezTo>
                  <a:pt x="142255" y="77225"/>
                  <a:pt x="143660" y="83302"/>
                  <a:pt x="140725" y="87974"/>
                </a:cubicBezTo>
                <a:close/>
              </a:path>
            </a:pathLst>
          </a:custGeom>
          <a:solidFill>
            <a:srgbClr val="1A202C"/>
          </a:solidFill>
          <a:ln/>
        </p:spPr>
        <p:txBody>
          <a:bodyPr/>
          <a:lstStyle/>
          <a:p>
            <a:endParaRPr lang="zh-CN" altLang="en-US"/>
          </a:p>
        </p:txBody>
      </p:sp>
      <p:sp>
        <p:nvSpPr>
          <p:cNvPr id="25" name="Text 23"/>
          <p:cNvSpPr/>
          <p:nvPr/>
        </p:nvSpPr>
        <p:spPr>
          <a:xfrm>
            <a:off x="8974667" y="2905125"/>
            <a:ext cx="2127250" cy="296333"/>
          </a:xfrm>
          <a:prstGeom prst="rect">
            <a:avLst/>
          </a:prstGeom>
          <a:noFill/>
          <a:ln/>
        </p:spPr>
        <p:txBody>
          <a:bodyPr wrap="square" lIns="0" tIns="0" rIns="0" bIns="0" rtlCol="0" anchor="ctr"/>
          <a:lstStyle/>
          <a:p>
            <a:pPr>
              <a:lnSpc>
                <a:spcPct val="130000"/>
              </a:lnSpc>
            </a:pPr>
            <a:r>
              <a:rPr lang="en-US" sz="1500" b="1" dirty="0">
                <a:solidFill>
                  <a:srgbClr val="E2E8F0"/>
                </a:solidFill>
                <a:latin typeface="MiSans" pitchFamily="34" charset="0"/>
                <a:ea typeface="MiSans" pitchFamily="34" charset="-122"/>
                <a:cs typeface="MiSans" pitchFamily="34" charset="-120"/>
              </a:rPr>
              <a:t>高可用性</a:t>
            </a:r>
            <a:endParaRPr lang="en-US" sz="1600" dirty="0"/>
          </a:p>
        </p:txBody>
      </p:sp>
      <p:sp>
        <p:nvSpPr>
          <p:cNvPr id="26" name="Text 24"/>
          <p:cNvSpPr/>
          <p:nvPr/>
        </p:nvSpPr>
        <p:spPr>
          <a:xfrm>
            <a:off x="8974667" y="3243792"/>
            <a:ext cx="2116667" cy="254000"/>
          </a:xfrm>
          <a:prstGeom prst="rect">
            <a:avLst/>
          </a:prstGeom>
          <a:noFill/>
          <a:ln/>
        </p:spPr>
        <p:txBody>
          <a:bodyPr wrap="square" lIns="0" tIns="0" rIns="0" bIns="0" rtlCol="0" anchor="ctr"/>
          <a:lstStyle/>
          <a:p>
            <a:pPr>
              <a:lnSpc>
                <a:spcPct val="130000"/>
              </a:lnSpc>
            </a:pPr>
            <a:r>
              <a:rPr lang="en-US" sz="1333" dirty="0">
                <a:solidFill>
                  <a:srgbClr val="A0AEC0"/>
                </a:solidFill>
                <a:latin typeface="MiSans" pitchFamily="34" charset="0"/>
                <a:ea typeface="MiSans" pitchFamily="34" charset="-122"/>
                <a:cs typeface="MiSans" pitchFamily="34" charset="-120"/>
              </a:rPr>
              <a:t>支持多实例部署和负载均衡</a:t>
            </a:r>
            <a:endParaRPr lang="en-US" sz="1600" dirty="0"/>
          </a:p>
        </p:txBody>
      </p:sp>
      <p:sp>
        <p:nvSpPr>
          <p:cNvPr id="27" name="Shape 25"/>
          <p:cNvSpPr/>
          <p:nvPr/>
        </p:nvSpPr>
        <p:spPr>
          <a:xfrm>
            <a:off x="8297333" y="3667125"/>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D69E2E"/>
          </a:solidFill>
          <a:ln/>
        </p:spPr>
        <p:txBody>
          <a:bodyPr/>
          <a:lstStyle/>
          <a:p>
            <a:endParaRPr lang="zh-CN" altLang="en-US"/>
          </a:p>
        </p:txBody>
      </p:sp>
      <p:sp>
        <p:nvSpPr>
          <p:cNvPr id="28" name="Shape 26"/>
          <p:cNvSpPr/>
          <p:nvPr/>
        </p:nvSpPr>
        <p:spPr>
          <a:xfrm>
            <a:off x="8458729" y="3815292"/>
            <a:ext cx="185208" cy="211667"/>
          </a:xfrm>
          <a:custGeom>
            <a:avLst/>
            <a:gdLst/>
            <a:ahLst/>
            <a:cxnLst/>
            <a:rect l="l" t="t" r="r" b="b"/>
            <a:pathLst>
              <a:path w="185208" h="211667">
                <a:moveTo>
                  <a:pt x="69453" y="13229"/>
                </a:moveTo>
                <a:lnTo>
                  <a:pt x="9922" y="13229"/>
                </a:lnTo>
                <a:cubicBezTo>
                  <a:pt x="4424" y="13229"/>
                  <a:pt x="0" y="17653"/>
                  <a:pt x="0" y="23151"/>
                </a:cubicBezTo>
                <a:lnTo>
                  <a:pt x="0" y="82682"/>
                </a:lnTo>
                <a:cubicBezTo>
                  <a:pt x="0" y="86692"/>
                  <a:pt x="2398" y="90330"/>
                  <a:pt x="6118" y="91860"/>
                </a:cubicBezTo>
                <a:cubicBezTo>
                  <a:pt x="9839" y="93390"/>
                  <a:pt x="14097" y="92521"/>
                  <a:pt x="16950" y="89710"/>
                </a:cubicBezTo>
                <a:lnTo>
                  <a:pt x="33486" y="73174"/>
                </a:lnTo>
                <a:lnTo>
                  <a:pt x="66146" y="105833"/>
                </a:lnTo>
                <a:lnTo>
                  <a:pt x="33486" y="138493"/>
                </a:lnTo>
                <a:lnTo>
                  <a:pt x="16950" y="121956"/>
                </a:lnTo>
                <a:cubicBezTo>
                  <a:pt x="14097" y="119104"/>
                  <a:pt x="9839" y="118277"/>
                  <a:pt x="6118" y="119807"/>
                </a:cubicBezTo>
                <a:cubicBezTo>
                  <a:pt x="2398" y="121336"/>
                  <a:pt x="0" y="124974"/>
                  <a:pt x="0" y="128984"/>
                </a:cubicBezTo>
                <a:lnTo>
                  <a:pt x="0" y="188516"/>
                </a:lnTo>
                <a:cubicBezTo>
                  <a:pt x="0" y="194014"/>
                  <a:pt x="4424" y="198438"/>
                  <a:pt x="9922" y="198438"/>
                </a:cubicBezTo>
                <a:lnTo>
                  <a:pt x="69453" y="198438"/>
                </a:lnTo>
                <a:cubicBezTo>
                  <a:pt x="73463" y="198438"/>
                  <a:pt x="77101" y="196040"/>
                  <a:pt x="78631" y="192319"/>
                </a:cubicBezTo>
                <a:cubicBezTo>
                  <a:pt x="80160" y="188598"/>
                  <a:pt x="79334" y="184340"/>
                  <a:pt x="76481" y="181488"/>
                </a:cubicBezTo>
                <a:lnTo>
                  <a:pt x="59945" y="164951"/>
                </a:lnTo>
                <a:lnTo>
                  <a:pt x="92604" y="132292"/>
                </a:lnTo>
                <a:lnTo>
                  <a:pt x="125264" y="164951"/>
                </a:lnTo>
                <a:lnTo>
                  <a:pt x="108727" y="181488"/>
                </a:lnTo>
                <a:cubicBezTo>
                  <a:pt x="105875" y="184340"/>
                  <a:pt x="105048" y="188598"/>
                  <a:pt x="106577" y="192319"/>
                </a:cubicBezTo>
                <a:cubicBezTo>
                  <a:pt x="108107" y="196040"/>
                  <a:pt x="111745" y="198438"/>
                  <a:pt x="115755" y="198438"/>
                </a:cubicBezTo>
                <a:lnTo>
                  <a:pt x="175286" y="198438"/>
                </a:lnTo>
                <a:cubicBezTo>
                  <a:pt x="180785" y="198438"/>
                  <a:pt x="185208" y="194014"/>
                  <a:pt x="185208" y="188516"/>
                </a:cubicBezTo>
                <a:lnTo>
                  <a:pt x="185208" y="128984"/>
                </a:lnTo>
                <a:cubicBezTo>
                  <a:pt x="185208" y="124974"/>
                  <a:pt x="182811" y="121336"/>
                  <a:pt x="179090" y="119807"/>
                </a:cubicBezTo>
                <a:cubicBezTo>
                  <a:pt x="175369" y="118277"/>
                  <a:pt x="171111" y="119104"/>
                  <a:pt x="168258" y="121956"/>
                </a:cubicBezTo>
                <a:lnTo>
                  <a:pt x="151722" y="138493"/>
                </a:lnTo>
                <a:lnTo>
                  <a:pt x="119063" y="105833"/>
                </a:lnTo>
                <a:lnTo>
                  <a:pt x="151722" y="73174"/>
                </a:lnTo>
                <a:lnTo>
                  <a:pt x="168258" y="89710"/>
                </a:lnTo>
                <a:cubicBezTo>
                  <a:pt x="171111" y="92563"/>
                  <a:pt x="175369" y="93390"/>
                  <a:pt x="179090" y="91860"/>
                </a:cubicBezTo>
                <a:cubicBezTo>
                  <a:pt x="182811" y="90330"/>
                  <a:pt x="185208" y="86692"/>
                  <a:pt x="185208" y="82682"/>
                </a:cubicBezTo>
                <a:lnTo>
                  <a:pt x="185208" y="23151"/>
                </a:lnTo>
                <a:cubicBezTo>
                  <a:pt x="185208" y="17653"/>
                  <a:pt x="180785" y="13229"/>
                  <a:pt x="175286" y="13229"/>
                </a:cubicBezTo>
                <a:lnTo>
                  <a:pt x="115755" y="13229"/>
                </a:lnTo>
                <a:cubicBezTo>
                  <a:pt x="111745" y="13229"/>
                  <a:pt x="108107" y="15627"/>
                  <a:pt x="106577" y="19348"/>
                </a:cubicBezTo>
                <a:cubicBezTo>
                  <a:pt x="105048" y="23068"/>
                  <a:pt x="105916" y="27326"/>
                  <a:pt x="108727" y="30179"/>
                </a:cubicBezTo>
                <a:lnTo>
                  <a:pt x="125264" y="46715"/>
                </a:lnTo>
                <a:lnTo>
                  <a:pt x="92604" y="79375"/>
                </a:lnTo>
                <a:lnTo>
                  <a:pt x="59945" y="46715"/>
                </a:lnTo>
                <a:lnTo>
                  <a:pt x="76481" y="30179"/>
                </a:lnTo>
                <a:cubicBezTo>
                  <a:pt x="79334" y="27326"/>
                  <a:pt x="80160" y="23068"/>
                  <a:pt x="78631" y="19348"/>
                </a:cubicBezTo>
                <a:cubicBezTo>
                  <a:pt x="77101" y="15627"/>
                  <a:pt x="73463" y="13229"/>
                  <a:pt x="69453" y="13229"/>
                </a:cubicBezTo>
                <a:close/>
              </a:path>
            </a:pathLst>
          </a:custGeom>
          <a:solidFill>
            <a:srgbClr val="1A202C"/>
          </a:solidFill>
          <a:ln/>
        </p:spPr>
        <p:txBody>
          <a:bodyPr/>
          <a:lstStyle/>
          <a:p>
            <a:endParaRPr lang="zh-CN" altLang="en-US"/>
          </a:p>
        </p:txBody>
      </p:sp>
      <p:sp>
        <p:nvSpPr>
          <p:cNvPr id="29" name="Text 27"/>
          <p:cNvSpPr/>
          <p:nvPr/>
        </p:nvSpPr>
        <p:spPr>
          <a:xfrm>
            <a:off x="8974667" y="3667125"/>
            <a:ext cx="2973917" cy="296333"/>
          </a:xfrm>
          <a:prstGeom prst="rect">
            <a:avLst/>
          </a:prstGeom>
          <a:noFill/>
          <a:ln/>
        </p:spPr>
        <p:txBody>
          <a:bodyPr wrap="square" lIns="0" tIns="0" rIns="0" bIns="0" rtlCol="0" anchor="ctr"/>
          <a:lstStyle/>
          <a:p>
            <a:pPr>
              <a:lnSpc>
                <a:spcPct val="130000"/>
              </a:lnSpc>
            </a:pPr>
            <a:r>
              <a:rPr lang="en-US" sz="1500" b="1" dirty="0">
                <a:solidFill>
                  <a:srgbClr val="E2E8F0"/>
                </a:solidFill>
                <a:latin typeface="MiSans" pitchFamily="34" charset="0"/>
                <a:ea typeface="MiSans" pitchFamily="34" charset="-122"/>
                <a:cs typeface="MiSans" pitchFamily="34" charset="-120"/>
              </a:rPr>
              <a:t>扩展性</a:t>
            </a:r>
            <a:endParaRPr lang="en-US" sz="1600" dirty="0"/>
          </a:p>
        </p:txBody>
      </p:sp>
      <p:sp>
        <p:nvSpPr>
          <p:cNvPr id="30" name="Text 28"/>
          <p:cNvSpPr/>
          <p:nvPr/>
        </p:nvSpPr>
        <p:spPr>
          <a:xfrm>
            <a:off x="8974667" y="4005792"/>
            <a:ext cx="2963333" cy="254000"/>
          </a:xfrm>
          <a:prstGeom prst="rect">
            <a:avLst/>
          </a:prstGeom>
          <a:noFill/>
          <a:ln/>
        </p:spPr>
        <p:txBody>
          <a:bodyPr wrap="square" lIns="0" tIns="0" rIns="0" bIns="0" rtlCol="0" anchor="ctr"/>
          <a:lstStyle/>
          <a:p>
            <a:pPr>
              <a:lnSpc>
                <a:spcPct val="130000"/>
              </a:lnSpc>
            </a:pPr>
            <a:r>
              <a:rPr lang="en-US" sz="1333" dirty="0">
                <a:solidFill>
                  <a:srgbClr val="A0AEC0"/>
                </a:solidFill>
                <a:latin typeface="MiSans" pitchFamily="34" charset="0"/>
                <a:ea typeface="MiSans" pitchFamily="34" charset="-122"/>
                <a:cs typeface="MiSans" pitchFamily="34" charset="-120"/>
              </a:rPr>
              <a:t>通过数据库分片支持大规模元数据存储</a:t>
            </a:r>
            <a:endParaRPr lang="en-US" sz="1600" dirty="0"/>
          </a:p>
        </p:txBody>
      </p:sp>
      <p:sp>
        <p:nvSpPr>
          <p:cNvPr id="31" name="Shape 29"/>
          <p:cNvSpPr/>
          <p:nvPr/>
        </p:nvSpPr>
        <p:spPr>
          <a:xfrm>
            <a:off x="8297333" y="4429125"/>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D69E2E"/>
          </a:solidFill>
          <a:ln/>
        </p:spPr>
        <p:txBody>
          <a:bodyPr/>
          <a:lstStyle/>
          <a:p>
            <a:endParaRPr lang="zh-CN" altLang="en-US"/>
          </a:p>
        </p:txBody>
      </p:sp>
      <p:sp>
        <p:nvSpPr>
          <p:cNvPr id="32" name="Shape 30"/>
          <p:cNvSpPr/>
          <p:nvPr/>
        </p:nvSpPr>
        <p:spPr>
          <a:xfrm>
            <a:off x="8432271" y="4577292"/>
            <a:ext cx="238125" cy="211667"/>
          </a:xfrm>
          <a:custGeom>
            <a:avLst/>
            <a:gdLst/>
            <a:ahLst/>
            <a:cxnLst/>
            <a:rect l="l" t="t" r="r" b="b"/>
            <a:pathLst>
              <a:path w="238125" h="211667">
                <a:moveTo>
                  <a:pt x="173426" y="39688"/>
                </a:moveTo>
                <a:cubicBezTo>
                  <a:pt x="166563" y="39688"/>
                  <a:pt x="159908" y="41548"/>
                  <a:pt x="154078" y="44938"/>
                </a:cubicBezTo>
                <a:cubicBezTo>
                  <a:pt x="147547" y="38323"/>
                  <a:pt x="139940" y="32784"/>
                  <a:pt x="131548" y="28608"/>
                </a:cubicBezTo>
                <a:cubicBezTo>
                  <a:pt x="143206" y="18686"/>
                  <a:pt x="158047" y="13229"/>
                  <a:pt x="173426" y="13229"/>
                </a:cubicBezTo>
                <a:cubicBezTo>
                  <a:pt x="209145" y="13229"/>
                  <a:pt x="238125" y="42168"/>
                  <a:pt x="238125" y="77928"/>
                </a:cubicBezTo>
                <a:cubicBezTo>
                  <a:pt x="238125" y="95085"/>
                  <a:pt x="231304" y="111538"/>
                  <a:pt x="219191" y="123651"/>
                </a:cubicBezTo>
                <a:lnTo>
                  <a:pt x="189797" y="153045"/>
                </a:lnTo>
                <a:cubicBezTo>
                  <a:pt x="177684" y="165158"/>
                  <a:pt x="161230" y="171979"/>
                  <a:pt x="144074" y="171979"/>
                </a:cubicBezTo>
                <a:cubicBezTo>
                  <a:pt x="108355" y="171979"/>
                  <a:pt x="79375" y="143040"/>
                  <a:pt x="79375" y="107280"/>
                </a:cubicBezTo>
                <a:cubicBezTo>
                  <a:pt x="79375" y="106660"/>
                  <a:pt x="79375" y="106040"/>
                  <a:pt x="79416" y="105420"/>
                </a:cubicBezTo>
                <a:cubicBezTo>
                  <a:pt x="79623" y="98103"/>
                  <a:pt x="85700" y="92356"/>
                  <a:pt x="93018" y="92563"/>
                </a:cubicBezTo>
                <a:cubicBezTo>
                  <a:pt x="100335" y="92770"/>
                  <a:pt x="106081" y="98847"/>
                  <a:pt x="105875" y="106164"/>
                </a:cubicBezTo>
                <a:cubicBezTo>
                  <a:pt x="105875" y="106536"/>
                  <a:pt x="105875" y="106908"/>
                  <a:pt x="105875" y="107239"/>
                </a:cubicBezTo>
                <a:cubicBezTo>
                  <a:pt x="105875" y="128364"/>
                  <a:pt x="122990" y="145479"/>
                  <a:pt x="144115" y="145479"/>
                </a:cubicBezTo>
                <a:cubicBezTo>
                  <a:pt x="154244" y="145479"/>
                  <a:pt x="163959" y="141469"/>
                  <a:pt x="171152" y="134276"/>
                </a:cubicBezTo>
                <a:lnTo>
                  <a:pt x="200546" y="104882"/>
                </a:lnTo>
                <a:cubicBezTo>
                  <a:pt x="207698" y="97730"/>
                  <a:pt x="211749" y="87974"/>
                  <a:pt x="211749" y="77845"/>
                </a:cubicBezTo>
                <a:cubicBezTo>
                  <a:pt x="211749" y="56720"/>
                  <a:pt x="194634" y="39605"/>
                  <a:pt x="173509" y="39605"/>
                </a:cubicBezTo>
                <a:close/>
                <a:moveTo>
                  <a:pt x="113771" y="71644"/>
                </a:moveTo>
                <a:cubicBezTo>
                  <a:pt x="112985" y="71313"/>
                  <a:pt x="112200" y="70859"/>
                  <a:pt x="111497" y="70363"/>
                </a:cubicBezTo>
                <a:cubicBezTo>
                  <a:pt x="106288" y="67675"/>
                  <a:pt x="100335" y="66146"/>
                  <a:pt x="94092" y="66146"/>
                </a:cubicBezTo>
                <a:cubicBezTo>
                  <a:pt x="83964" y="66146"/>
                  <a:pt x="74249" y="70156"/>
                  <a:pt x="67055" y="77349"/>
                </a:cubicBezTo>
                <a:lnTo>
                  <a:pt x="37662" y="106743"/>
                </a:lnTo>
                <a:cubicBezTo>
                  <a:pt x="30510" y="113895"/>
                  <a:pt x="26458" y="123651"/>
                  <a:pt x="26458" y="133780"/>
                </a:cubicBezTo>
                <a:cubicBezTo>
                  <a:pt x="26458" y="154905"/>
                  <a:pt x="43574" y="172021"/>
                  <a:pt x="64699" y="172021"/>
                </a:cubicBezTo>
                <a:cubicBezTo>
                  <a:pt x="71520" y="172021"/>
                  <a:pt x="78176" y="170201"/>
                  <a:pt x="84005" y="166812"/>
                </a:cubicBezTo>
                <a:cubicBezTo>
                  <a:pt x="90537" y="173426"/>
                  <a:pt x="98144" y="178966"/>
                  <a:pt x="106577" y="183141"/>
                </a:cubicBezTo>
                <a:cubicBezTo>
                  <a:pt x="94919" y="193022"/>
                  <a:pt x="80119" y="198520"/>
                  <a:pt x="64699" y="198520"/>
                </a:cubicBezTo>
                <a:cubicBezTo>
                  <a:pt x="28980" y="198520"/>
                  <a:pt x="0" y="169581"/>
                  <a:pt x="0" y="133821"/>
                </a:cubicBezTo>
                <a:cubicBezTo>
                  <a:pt x="0" y="116665"/>
                  <a:pt x="6821" y="100211"/>
                  <a:pt x="18934" y="88098"/>
                </a:cubicBezTo>
                <a:lnTo>
                  <a:pt x="48328" y="58704"/>
                </a:lnTo>
                <a:cubicBezTo>
                  <a:pt x="60441" y="46591"/>
                  <a:pt x="76895" y="39770"/>
                  <a:pt x="94051" y="39770"/>
                </a:cubicBezTo>
                <a:cubicBezTo>
                  <a:pt x="129853" y="39770"/>
                  <a:pt x="158750" y="68957"/>
                  <a:pt x="158750" y="104634"/>
                </a:cubicBezTo>
                <a:cubicBezTo>
                  <a:pt x="158750" y="105172"/>
                  <a:pt x="158750" y="105709"/>
                  <a:pt x="158750" y="106247"/>
                </a:cubicBezTo>
                <a:cubicBezTo>
                  <a:pt x="158585" y="113564"/>
                  <a:pt x="152507" y="119311"/>
                  <a:pt x="145190" y="119145"/>
                </a:cubicBezTo>
                <a:cubicBezTo>
                  <a:pt x="137873" y="118980"/>
                  <a:pt x="132126" y="112903"/>
                  <a:pt x="132292" y="105585"/>
                </a:cubicBezTo>
                <a:cubicBezTo>
                  <a:pt x="132292" y="105255"/>
                  <a:pt x="132292" y="104965"/>
                  <a:pt x="132292" y="104634"/>
                </a:cubicBezTo>
                <a:cubicBezTo>
                  <a:pt x="132292" y="90702"/>
                  <a:pt x="124850" y="78465"/>
                  <a:pt x="113771" y="71727"/>
                </a:cubicBezTo>
                <a:close/>
              </a:path>
            </a:pathLst>
          </a:custGeom>
          <a:solidFill>
            <a:srgbClr val="1A202C"/>
          </a:solidFill>
          <a:ln/>
        </p:spPr>
        <p:txBody>
          <a:bodyPr/>
          <a:lstStyle/>
          <a:p>
            <a:endParaRPr lang="zh-CN" altLang="en-US"/>
          </a:p>
        </p:txBody>
      </p:sp>
      <p:sp>
        <p:nvSpPr>
          <p:cNvPr id="33" name="Text 31"/>
          <p:cNvSpPr/>
          <p:nvPr/>
        </p:nvSpPr>
        <p:spPr>
          <a:xfrm>
            <a:off x="8974667" y="4429125"/>
            <a:ext cx="2804583" cy="296333"/>
          </a:xfrm>
          <a:prstGeom prst="rect">
            <a:avLst/>
          </a:prstGeom>
          <a:noFill/>
          <a:ln/>
        </p:spPr>
        <p:txBody>
          <a:bodyPr wrap="square" lIns="0" tIns="0" rIns="0" bIns="0" rtlCol="0" anchor="ctr"/>
          <a:lstStyle/>
          <a:p>
            <a:pPr>
              <a:lnSpc>
                <a:spcPct val="130000"/>
              </a:lnSpc>
            </a:pPr>
            <a:r>
              <a:rPr lang="en-US" sz="1500" b="1" dirty="0">
                <a:solidFill>
                  <a:srgbClr val="E2E8F0"/>
                </a:solidFill>
                <a:latin typeface="MiSans" pitchFamily="34" charset="0"/>
                <a:ea typeface="MiSans" pitchFamily="34" charset="-122"/>
                <a:cs typeface="MiSans" pitchFamily="34" charset="-120"/>
              </a:rPr>
              <a:t>兼容性</a:t>
            </a:r>
            <a:endParaRPr lang="en-US" sz="1600" dirty="0"/>
          </a:p>
        </p:txBody>
      </p:sp>
      <p:sp>
        <p:nvSpPr>
          <p:cNvPr id="34" name="Text 32"/>
          <p:cNvSpPr/>
          <p:nvPr/>
        </p:nvSpPr>
        <p:spPr>
          <a:xfrm>
            <a:off x="8974667" y="4767792"/>
            <a:ext cx="2794000" cy="254000"/>
          </a:xfrm>
          <a:prstGeom prst="rect">
            <a:avLst/>
          </a:prstGeom>
          <a:noFill/>
          <a:ln/>
        </p:spPr>
        <p:txBody>
          <a:bodyPr wrap="square" lIns="0" tIns="0" rIns="0" bIns="0" rtlCol="0" anchor="ctr"/>
          <a:lstStyle/>
          <a:p>
            <a:pPr>
              <a:lnSpc>
                <a:spcPct val="130000"/>
              </a:lnSpc>
            </a:pPr>
            <a:r>
              <a:rPr lang="en-US" sz="1333" dirty="0">
                <a:solidFill>
                  <a:srgbClr val="A0AEC0"/>
                </a:solidFill>
                <a:latin typeface="MiSans" pitchFamily="34" charset="0"/>
                <a:ea typeface="MiSans" pitchFamily="34" charset="-122"/>
                <a:cs typeface="MiSans" pitchFamily="34" charset="-120"/>
              </a:rPr>
              <a:t>保持与旧版本Hive的元数据格式兼容</a:t>
            </a:r>
            <a:endParaRPr lang="en-US" sz="1600" dirty="0"/>
          </a:p>
        </p:txBody>
      </p:sp>
      <p:sp>
        <p:nvSpPr>
          <p:cNvPr id="35" name="Shape 33"/>
          <p:cNvSpPr/>
          <p:nvPr/>
        </p:nvSpPr>
        <p:spPr>
          <a:xfrm>
            <a:off x="8297333" y="5191125"/>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D69E2E"/>
          </a:solidFill>
          <a:ln/>
        </p:spPr>
        <p:txBody>
          <a:bodyPr/>
          <a:lstStyle/>
          <a:p>
            <a:endParaRPr lang="zh-CN" altLang="en-US"/>
          </a:p>
        </p:txBody>
      </p:sp>
      <p:sp>
        <p:nvSpPr>
          <p:cNvPr id="36" name="Shape 34"/>
          <p:cNvSpPr/>
          <p:nvPr/>
        </p:nvSpPr>
        <p:spPr>
          <a:xfrm>
            <a:off x="8471958" y="5339292"/>
            <a:ext cx="158750" cy="211667"/>
          </a:xfrm>
          <a:custGeom>
            <a:avLst/>
            <a:gdLst/>
            <a:ahLst/>
            <a:cxnLst/>
            <a:rect l="l" t="t" r="r" b="b"/>
            <a:pathLst>
              <a:path w="158750" h="211667">
                <a:moveTo>
                  <a:pt x="52917" y="39688"/>
                </a:moveTo>
                <a:lnTo>
                  <a:pt x="52917" y="66146"/>
                </a:lnTo>
                <a:lnTo>
                  <a:pt x="105833" y="66146"/>
                </a:lnTo>
                <a:lnTo>
                  <a:pt x="105833" y="39688"/>
                </a:lnTo>
                <a:cubicBezTo>
                  <a:pt x="105833" y="25094"/>
                  <a:pt x="93968" y="13229"/>
                  <a:pt x="79375" y="13229"/>
                </a:cubicBezTo>
                <a:cubicBezTo>
                  <a:pt x="64782" y="13229"/>
                  <a:pt x="52917" y="25094"/>
                  <a:pt x="52917" y="39688"/>
                </a:cubicBezTo>
                <a:close/>
                <a:moveTo>
                  <a:pt x="26458" y="66146"/>
                </a:moveTo>
                <a:lnTo>
                  <a:pt x="26458" y="39688"/>
                </a:lnTo>
                <a:cubicBezTo>
                  <a:pt x="26458" y="10459"/>
                  <a:pt x="50147" y="-13229"/>
                  <a:pt x="79375" y="-13229"/>
                </a:cubicBezTo>
                <a:cubicBezTo>
                  <a:pt x="108603" y="-13229"/>
                  <a:pt x="132292" y="10459"/>
                  <a:pt x="132292" y="39688"/>
                </a:cubicBezTo>
                <a:lnTo>
                  <a:pt x="132292" y="66146"/>
                </a:lnTo>
                <a:cubicBezTo>
                  <a:pt x="146885" y="66146"/>
                  <a:pt x="158750" y="78011"/>
                  <a:pt x="158750" y="92604"/>
                </a:cubicBezTo>
                <a:lnTo>
                  <a:pt x="158750" y="185208"/>
                </a:lnTo>
                <a:cubicBezTo>
                  <a:pt x="158750" y="199802"/>
                  <a:pt x="146885" y="211667"/>
                  <a:pt x="132292" y="211667"/>
                </a:cubicBezTo>
                <a:lnTo>
                  <a:pt x="26458" y="211667"/>
                </a:lnTo>
                <a:cubicBezTo>
                  <a:pt x="11865" y="211667"/>
                  <a:pt x="0" y="199802"/>
                  <a:pt x="0" y="185208"/>
                </a:cubicBezTo>
                <a:lnTo>
                  <a:pt x="0" y="92604"/>
                </a:lnTo>
                <a:cubicBezTo>
                  <a:pt x="0" y="78011"/>
                  <a:pt x="11865" y="66146"/>
                  <a:pt x="26458" y="66146"/>
                </a:cubicBezTo>
                <a:close/>
              </a:path>
            </a:pathLst>
          </a:custGeom>
          <a:solidFill>
            <a:srgbClr val="1A202C"/>
          </a:solidFill>
          <a:ln/>
        </p:spPr>
        <p:txBody>
          <a:bodyPr/>
          <a:lstStyle/>
          <a:p>
            <a:endParaRPr lang="zh-CN" altLang="en-US"/>
          </a:p>
        </p:txBody>
      </p:sp>
      <p:sp>
        <p:nvSpPr>
          <p:cNvPr id="37" name="Text 35"/>
          <p:cNvSpPr/>
          <p:nvPr/>
        </p:nvSpPr>
        <p:spPr>
          <a:xfrm>
            <a:off x="8974667" y="5191125"/>
            <a:ext cx="3164417" cy="296333"/>
          </a:xfrm>
          <a:prstGeom prst="rect">
            <a:avLst/>
          </a:prstGeom>
          <a:noFill/>
          <a:ln/>
        </p:spPr>
        <p:txBody>
          <a:bodyPr wrap="square" lIns="0" tIns="0" rIns="0" bIns="0" rtlCol="0" anchor="ctr"/>
          <a:lstStyle/>
          <a:p>
            <a:pPr>
              <a:lnSpc>
                <a:spcPct val="130000"/>
              </a:lnSpc>
            </a:pPr>
            <a:r>
              <a:rPr lang="en-US" sz="1500" b="1" dirty="0">
                <a:solidFill>
                  <a:srgbClr val="E2E8F0"/>
                </a:solidFill>
                <a:latin typeface="MiSans" pitchFamily="34" charset="0"/>
                <a:ea typeface="MiSans" pitchFamily="34" charset="-122"/>
                <a:cs typeface="MiSans" pitchFamily="34" charset="-120"/>
              </a:rPr>
              <a:t>安全性</a:t>
            </a:r>
            <a:endParaRPr lang="en-US" sz="1600" dirty="0"/>
          </a:p>
        </p:txBody>
      </p:sp>
      <p:sp>
        <p:nvSpPr>
          <p:cNvPr id="38" name="Text 36"/>
          <p:cNvSpPr/>
          <p:nvPr/>
        </p:nvSpPr>
        <p:spPr>
          <a:xfrm>
            <a:off x="8974667" y="5529792"/>
            <a:ext cx="3153833" cy="254000"/>
          </a:xfrm>
          <a:prstGeom prst="rect">
            <a:avLst/>
          </a:prstGeom>
          <a:noFill/>
          <a:ln/>
        </p:spPr>
        <p:txBody>
          <a:bodyPr wrap="square" lIns="0" tIns="0" rIns="0" bIns="0" rtlCol="0" anchor="ctr"/>
          <a:lstStyle/>
          <a:p>
            <a:pPr>
              <a:lnSpc>
                <a:spcPct val="130000"/>
              </a:lnSpc>
            </a:pPr>
            <a:r>
              <a:rPr lang="en-US" sz="1333" dirty="0">
                <a:solidFill>
                  <a:srgbClr val="A0AEC0"/>
                </a:solidFill>
                <a:latin typeface="MiSans" pitchFamily="34" charset="0"/>
                <a:ea typeface="MiSans" pitchFamily="34" charset="-122"/>
                <a:cs typeface="MiSans" pitchFamily="34" charset="-120"/>
              </a:rPr>
              <a:t>支持Kerberos认证和基于角色的访问控制</a:t>
            </a:r>
            <a:endParaRPr lang="en-US" sz="1600" dirty="0"/>
          </a:p>
        </p:txBody>
      </p:sp>
      <p:sp>
        <p:nvSpPr>
          <p:cNvPr id="39" name="Shape 37"/>
          <p:cNvSpPr/>
          <p:nvPr/>
        </p:nvSpPr>
        <p:spPr>
          <a:xfrm>
            <a:off x="433917" y="7318375"/>
            <a:ext cx="15388167" cy="1460500"/>
          </a:xfrm>
          <a:custGeom>
            <a:avLst/>
            <a:gdLst/>
            <a:ahLst/>
            <a:cxnLst/>
            <a:rect l="l" t="t" r="r" b="b"/>
            <a:pathLst>
              <a:path w="15388167" h="1460500">
                <a:moveTo>
                  <a:pt x="84665" y="0"/>
                </a:moveTo>
                <a:lnTo>
                  <a:pt x="15303501" y="0"/>
                </a:lnTo>
                <a:cubicBezTo>
                  <a:pt x="15350261" y="0"/>
                  <a:pt x="15388167" y="37906"/>
                  <a:pt x="15388167" y="84665"/>
                </a:cubicBezTo>
                <a:lnTo>
                  <a:pt x="15388167" y="1375835"/>
                </a:lnTo>
                <a:cubicBezTo>
                  <a:pt x="15388167" y="1422594"/>
                  <a:pt x="15350261" y="1460500"/>
                  <a:pt x="15303501" y="1460500"/>
                </a:cubicBezTo>
                <a:lnTo>
                  <a:pt x="84665" y="1460500"/>
                </a:lnTo>
                <a:cubicBezTo>
                  <a:pt x="37906" y="1460500"/>
                  <a:pt x="0" y="1422594"/>
                  <a:pt x="0" y="1375835"/>
                </a:cubicBezTo>
                <a:lnTo>
                  <a:pt x="0" y="84665"/>
                </a:lnTo>
                <a:cubicBezTo>
                  <a:pt x="0" y="37937"/>
                  <a:pt x="37937" y="0"/>
                  <a:pt x="84665" y="0"/>
                </a:cubicBezTo>
                <a:close/>
              </a:path>
            </a:pathLst>
          </a:custGeom>
          <a:solidFill>
            <a:srgbClr val="D69E2E">
              <a:alpha val="10196"/>
            </a:srgbClr>
          </a:solidFill>
          <a:ln w="25400">
            <a:solidFill>
              <a:srgbClr val="D69E2E"/>
            </a:solidFill>
            <a:prstDash val="solid"/>
          </a:ln>
        </p:spPr>
        <p:txBody>
          <a:bodyPr/>
          <a:lstStyle/>
          <a:p>
            <a:endParaRPr lang="zh-CN" altLang="en-US"/>
          </a:p>
        </p:txBody>
      </p:sp>
      <p:sp>
        <p:nvSpPr>
          <p:cNvPr id="40" name="Shape 38"/>
          <p:cNvSpPr/>
          <p:nvPr/>
        </p:nvSpPr>
        <p:spPr>
          <a:xfrm>
            <a:off x="698500" y="7582958"/>
            <a:ext cx="317500" cy="317500"/>
          </a:xfrm>
          <a:custGeom>
            <a:avLst/>
            <a:gdLst/>
            <a:ahLst/>
            <a:cxnLst/>
            <a:rect l="l" t="t" r="r" b="b"/>
            <a:pathLst>
              <a:path w="317500" h="317500">
                <a:moveTo>
                  <a:pt x="119062" y="39688"/>
                </a:moveTo>
                <a:cubicBezTo>
                  <a:pt x="119062" y="28711"/>
                  <a:pt x="127930" y="19844"/>
                  <a:pt x="138906" y="19844"/>
                </a:cubicBezTo>
                <a:lnTo>
                  <a:pt x="178594" y="19844"/>
                </a:lnTo>
                <a:cubicBezTo>
                  <a:pt x="189570" y="19844"/>
                  <a:pt x="198438" y="28711"/>
                  <a:pt x="198438" y="39688"/>
                </a:cubicBezTo>
                <a:lnTo>
                  <a:pt x="198438" y="79375"/>
                </a:lnTo>
                <a:cubicBezTo>
                  <a:pt x="198438" y="90351"/>
                  <a:pt x="189570" y="99219"/>
                  <a:pt x="178594" y="99219"/>
                </a:cubicBezTo>
                <a:lnTo>
                  <a:pt x="173633" y="99219"/>
                </a:lnTo>
                <a:lnTo>
                  <a:pt x="173633" y="138906"/>
                </a:lnTo>
                <a:lnTo>
                  <a:pt x="248047" y="138906"/>
                </a:lnTo>
                <a:cubicBezTo>
                  <a:pt x="272728" y="138906"/>
                  <a:pt x="292695" y="158874"/>
                  <a:pt x="292695" y="183555"/>
                </a:cubicBezTo>
                <a:lnTo>
                  <a:pt x="292695" y="218281"/>
                </a:lnTo>
                <a:lnTo>
                  <a:pt x="297656" y="218281"/>
                </a:lnTo>
                <a:cubicBezTo>
                  <a:pt x="308632" y="218281"/>
                  <a:pt x="317500" y="227149"/>
                  <a:pt x="317500" y="238125"/>
                </a:cubicBezTo>
                <a:lnTo>
                  <a:pt x="317500" y="277813"/>
                </a:lnTo>
                <a:cubicBezTo>
                  <a:pt x="317500" y="288789"/>
                  <a:pt x="308632" y="297656"/>
                  <a:pt x="297656" y="297656"/>
                </a:cubicBezTo>
                <a:lnTo>
                  <a:pt x="257969" y="297656"/>
                </a:lnTo>
                <a:cubicBezTo>
                  <a:pt x="246993" y="297656"/>
                  <a:pt x="238125" y="288789"/>
                  <a:pt x="238125" y="277813"/>
                </a:cubicBezTo>
                <a:lnTo>
                  <a:pt x="238125" y="238125"/>
                </a:lnTo>
                <a:cubicBezTo>
                  <a:pt x="238125" y="227149"/>
                  <a:pt x="246993" y="218281"/>
                  <a:pt x="257969" y="218281"/>
                </a:cubicBezTo>
                <a:lnTo>
                  <a:pt x="262930" y="218281"/>
                </a:lnTo>
                <a:lnTo>
                  <a:pt x="262930" y="183555"/>
                </a:lnTo>
                <a:cubicBezTo>
                  <a:pt x="262930" y="175307"/>
                  <a:pt x="256294" y="168672"/>
                  <a:pt x="248047" y="168672"/>
                </a:cubicBezTo>
                <a:lnTo>
                  <a:pt x="173633" y="168672"/>
                </a:lnTo>
                <a:lnTo>
                  <a:pt x="173633" y="218281"/>
                </a:lnTo>
                <a:lnTo>
                  <a:pt x="178594" y="218281"/>
                </a:lnTo>
                <a:cubicBezTo>
                  <a:pt x="189570" y="218281"/>
                  <a:pt x="198438" y="227149"/>
                  <a:pt x="198438" y="238125"/>
                </a:cubicBezTo>
                <a:lnTo>
                  <a:pt x="198438" y="277813"/>
                </a:lnTo>
                <a:cubicBezTo>
                  <a:pt x="198438" y="288789"/>
                  <a:pt x="189570" y="297656"/>
                  <a:pt x="178594" y="297656"/>
                </a:cubicBezTo>
                <a:lnTo>
                  <a:pt x="138906" y="297656"/>
                </a:lnTo>
                <a:cubicBezTo>
                  <a:pt x="127930" y="297656"/>
                  <a:pt x="119062" y="288789"/>
                  <a:pt x="119062" y="277813"/>
                </a:cubicBezTo>
                <a:lnTo>
                  <a:pt x="119062" y="238125"/>
                </a:lnTo>
                <a:cubicBezTo>
                  <a:pt x="119062" y="227149"/>
                  <a:pt x="127930" y="218281"/>
                  <a:pt x="138906" y="218281"/>
                </a:cubicBezTo>
                <a:lnTo>
                  <a:pt x="143867" y="218281"/>
                </a:lnTo>
                <a:lnTo>
                  <a:pt x="143867" y="168672"/>
                </a:lnTo>
                <a:lnTo>
                  <a:pt x="69453" y="168672"/>
                </a:lnTo>
                <a:cubicBezTo>
                  <a:pt x="61206" y="168672"/>
                  <a:pt x="54570" y="175307"/>
                  <a:pt x="54570" y="183555"/>
                </a:cubicBezTo>
                <a:lnTo>
                  <a:pt x="54570" y="218281"/>
                </a:lnTo>
                <a:lnTo>
                  <a:pt x="59531" y="218281"/>
                </a:lnTo>
                <a:cubicBezTo>
                  <a:pt x="70507" y="218281"/>
                  <a:pt x="79375" y="227149"/>
                  <a:pt x="79375" y="238125"/>
                </a:cubicBezTo>
                <a:lnTo>
                  <a:pt x="79375" y="277813"/>
                </a:lnTo>
                <a:cubicBezTo>
                  <a:pt x="79375" y="288789"/>
                  <a:pt x="70507" y="297656"/>
                  <a:pt x="59531" y="297656"/>
                </a:cubicBezTo>
                <a:lnTo>
                  <a:pt x="19844" y="297656"/>
                </a:lnTo>
                <a:cubicBezTo>
                  <a:pt x="8868" y="297656"/>
                  <a:pt x="0" y="288789"/>
                  <a:pt x="0" y="277813"/>
                </a:cubicBezTo>
                <a:lnTo>
                  <a:pt x="0" y="238125"/>
                </a:lnTo>
                <a:cubicBezTo>
                  <a:pt x="0" y="227149"/>
                  <a:pt x="8868" y="218281"/>
                  <a:pt x="19844" y="218281"/>
                </a:cubicBezTo>
                <a:lnTo>
                  <a:pt x="24805" y="218281"/>
                </a:lnTo>
                <a:lnTo>
                  <a:pt x="24805" y="183555"/>
                </a:lnTo>
                <a:cubicBezTo>
                  <a:pt x="24805" y="158874"/>
                  <a:pt x="44772" y="138906"/>
                  <a:pt x="69453" y="138906"/>
                </a:cubicBezTo>
                <a:lnTo>
                  <a:pt x="143867" y="138906"/>
                </a:lnTo>
                <a:lnTo>
                  <a:pt x="143867" y="99219"/>
                </a:lnTo>
                <a:lnTo>
                  <a:pt x="138906" y="99219"/>
                </a:lnTo>
                <a:cubicBezTo>
                  <a:pt x="127930" y="99219"/>
                  <a:pt x="119062" y="90351"/>
                  <a:pt x="119062" y="79375"/>
                </a:cubicBezTo>
                <a:lnTo>
                  <a:pt x="119062" y="39688"/>
                </a:lnTo>
                <a:close/>
              </a:path>
            </a:pathLst>
          </a:custGeom>
          <a:solidFill>
            <a:srgbClr val="D69E2E"/>
          </a:solidFill>
          <a:ln/>
        </p:spPr>
        <p:txBody>
          <a:bodyPr/>
          <a:lstStyle/>
          <a:p>
            <a:endParaRPr lang="zh-CN" altLang="en-US"/>
          </a:p>
        </p:txBody>
      </p:sp>
      <p:sp>
        <p:nvSpPr>
          <p:cNvPr id="41" name="Text 39"/>
          <p:cNvSpPr/>
          <p:nvPr/>
        </p:nvSpPr>
        <p:spPr>
          <a:xfrm>
            <a:off x="1185333" y="7582958"/>
            <a:ext cx="14478000" cy="296333"/>
          </a:xfrm>
          <a:prstGeom prst="rect">
            <a:avLst/>
          </a:prstGeom>
          <a:noFill/>
          <a:ln/>
        </p:spPr>
        <p:txBody>
          <a:bodyPr wrap="square" lIns="0" tIns="0" rIns="0" bIns="0" rtlCol="0" anchor="ctr"/>
          <a:lstStyle/>
          <a:p>
            <a:pPr>
              <a:lnSpc>
                <a:spcPct val="120000"/>
              </a:lnSpc>
            </a:pPr>
            <a:r>
              <a:rPr lang="en-US" sz="1667" b="1" dirty="0">
                <a:solidFill>
                  <a:srgbClr val="E2E8F0"/>
                </a:solidFill>
                <a:latin typeface="Noto Sans SC" pitchFamily="34" charset="0"/>
                <a:ea typeface="Noto Sans SC" pitchFamily="34" charset="-122"/>
                <a:cs typeface="Noto Sans SC" pitchFamily="34" charset="-120"/>
              </a:rPr>
              <a:t>服务化架构设计价值</a:t>
            </a:r>
            <a:endParaRPr lang="en-US" sz="1600" dirty="0"/>
          </a:p>
        </p:txBody>
      </p:sp>
      <p:sp>
        <p:nvSpPr>
          <p:cNvPr id="42" name="Text 40"/>
          <p:cNvSpPr/>
          <p:nvPr/>
        </p:nvSpPr>
        <p:spPr>
          <a:xfrm>
            <a:off x="1185333" y="7963958"/>
            <a:ext cx="14456833" cy="550333"/>
          </a:xfrm>
          <a:prstGeom prst="rect">
            <a:avLst/>
          </a:prstGeom>
          <a:noFill/>
          <a:ln/>
        </p:spPr>
        <p:txBody>
          <a:bodyPr wrap="square" lIns="0" tIns="0" rIns="0" bIns="0" rtlCol="0" anchor="ctr"/>
          <a:lstStyle/>
          <a:p>
            <a:pPr>
              <a:lnSpc>
                <a:spcPct val="140000"/>
              </a:lnSpc>
            </a:pPr>
            <a:r>
              <a:rPr lang="en-US" sz="1333" dirty="0">
                <a:solidFill>
                  <a:srgbClr val="A0AEC0"/>
                </a:solidFill>
                <a:latin typeface="MiSans" pitchFamily="34" charset="0"/>
                <a:ea typeface="MiSans" pitchFamily="34" charset="-122"/>
                <a:cs typeface="MiSans" pitchFamily="34" charset="-120"/>
              </a:rPr>
              <a:t>Metastore采用服务化架构设计，通过标准化的Thrift API提供服务，支持HiveServer2、Spark SQL、Presto/Trino等多种计算引擎的远程调用。这种设计使得多个计算引擎可以共享相同的元数据视图，</a:t>
            </a:r>
            <a:r>
              <a:rPr lang="en-US" sz="1333" dirty="0">
                <a:solidFill>
                  <a:srgbClr val="D69E2E"/>
                </a:solidFill>
                <a:latin typeface="MiSans" pitchFamily="34" charset="0"/>
                <a:ea typeface="MiSans" pitchFamily="34" charset="-122"/>
                <a:cs typeface="MiSans" pitchFamily="34" charset="-120"/>
              </a:rPr>
              <a:t>实现了数据治理的标准化和元数据的统一管理</a:t>
            </a:r>
            <a:r>
              <a:rPr lang="en-US" sz="1333" dirty="0">
                <a:solidFill>
                  <a:srgbClr val="A0AEC0"/>
                </a:solidFill>
                <a:latin typeface="MiSans" pitchFamily="34" charset="0"/>
                <a:ea typeface="MiSans" pitchFamily="34" charset="-122"/>
                <a:cs typeface="MiSans" pitchFamily="34" charset="-120"/>
              </a:rPr>
              <a:t>，为企业构建统一的数据分析平台提供了坚实基础。</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50929" y="450929"/>
            <a:ext cx="15624699" cy="541115"/>
          </a:xfrm>
          <a:prstGeom prst="rect">
            <a:avLst/>
          </a:prstGeom>
          <a:noFill/>
          <a:ln/>
        </p:spPr>
        <p:txBody>
          <a:bodyPr wrap="square" lIns="0" tIns="0" rIns="0" bIns="0" rtlCol="0" anchor="ctr"/>
          <a:lstStyle/>
          <a:p>
            <a:pPr>
              <a:lnSpc>
                <a:spcPct val="80000"/>
              </a:lnSpc>
            </a:pPr>
            <a:r>
              <a:rPr lang="en-US" sz="4261" b="1" dirty="0">
                <a:solidFill>
                  <a:srgbClr val="E2E8F0"/>
                </a:solidFill>
                <a:latin typeface="Noto Sans SC" pitchFamily="34" charset="0"/>
                <a:ea typeface="Noto Sans SC" pitchFamily="34" charset="-122"/>
                <a:cs typeface="Noto Sans SC" pitchFamily="34" charset="-120"/>
              </a:rPr>
              <a:t>元数据存储后端对比与选择</a:t>
            </a:r>
            <a:endParaRPr lang="en-US" sz="1600" dirty="0"/>
          </a:p>
        </p:txBody>
      </p:sp>
      <p:sp>
        <p:nvSpPr>
          <p:cNvPr id="3" name="Shape 1"/>
          <p:cNvSpPr/>
          <p:nvPr/>
        </p:nvSpPr>
        <p:spPr>
          <a:xfrm>
            <a:off x="450929" y="1127323"/>
            <a:ext cx="1262602" cy="45093"/>
          </a:xfrm>
          <a:custGeom>
            <a:avLst/>
            <a:gdLst/>
            <a:ahLst/>
            <a:cxnLst/>
            <a:rect l="l" t="t" r="r" b="b"/>
            <a:pathLst>
              <a:path w="1262602" h="45093">
                <a:moveTo>
                  <a:pt x="0" y="0"/>
                </a:moveTo>
                <a:lnTo>
                  <a:pt x="1262602" y="0"/>
                </a:lnTo>
                <a:lnTo>
                  <a:pt x="1262602" y="45093"/>
                </a:lnTo>
                <a:lnTo>
                  <a:pt x="0" y="45093"/>
                </a:lnTo>
                <a:lnTo>
                  <a:pt x="0" y="0"/>
                </a:lnTo>
                <a:close/>
              </a:path>
            </a:pathLst>
          </a:custGeom>
          <a:solidFill>
            <a:srgbClr val="D69E2E"/>
          </a:solidFill>
          <a:ln/>
        </p:spPr>
        <p:txBody>
          <a:bodyPr/>
          <a:lstStyle/>
          <a:p>
            <a:endParaRPr lang="zh-CN" altLang="en-US"/>
          </a:p>
        </p:txBody>
      </p:sp>
      <p:sp>
        <p:nvSpPr>
          <p:cNvPr id="4" name="Text 2"/>
          <p:cNvSpPr/>
          <p:nvPr/>
        </p:nvSpPr>
        <p:spPr>
          <a:xfrm>
            <a:off x="450929" y="1442974"/>
            <a:ext cx="15455601" cy="326924"/>
          </a:xfrm>
          <a:prstGeom prst="rect">
            <a:avLst/>
          </a:prstGeom>
          <a:noFill/>
          <a:ln/>
        </p:spPr>
        <p:txBody>
          <a:bodyPr wrap="square" lIns="0" tIns="0" rIns="0" bIns="0" rtlCol="0" anchor="ctr"/>
          <a:lstStyle/>
          <a:p>
            <a:pPr>
              <a:lnSpc>
                <a:spcPct val="140000"/>
              </a:lnSpc>
            </a:pPr>
            <a:r>
              <a:rPr lang="en-US" sz="1598" dirty="0">
                <a:solidFill>
                  <a:srgbClr val="A0AEC0"/>
                </a:solidFill>
                <a:latin typeface="MiSans" pitchFamily="34" charset="0"/>
                <a:ea typeface="MiSans" pitchFamily="34" charset="-122"/>
                <a:cs typeface="MiSans" pitchFamily="34" charset="-120"/>
              </a:rPr>
              <a:t>Hive Metastore支持多种关系型数据库作为存储后端，</a:t>
            </a:r>
            <a:r>
              <a:rPr lang="en-US" sz="1598" b="1" dirty="0">
                <a:solidFill>
                  <a:srgbClr val="E2E8F0"/>
                </a:solidFill>
                <a:latin typeface="MiSans" pitchFamily="34" charset="0"/>
                <a:ea typeface="MiSans" pitchFamily="34" charset="-122"/>
                <a:cs typeface="MiSans" pitchFamily="34" charset="-120"/>
              </a:rPr>
              <a:t>不同的后端方案在适用场景、性能特征和配置复杂度上各有差异</a:t>
            </a:r>
            <a:r>
              <a:rPr lang="en-US" sz="1598" dirty="0">
                <a:solidFill>
                  <a:srgbClr val="A0AEC0"/>
                </a:solidFill>
                <a:latin typeface="MiSans" pitchFamily="34" charset="0"/>
                <a:ea typeface="MiSans" pitchFamily="34" charset="-122"/>
                <a:cs typeface="MiSans" pitchFamily="34" charset="-120"/>
              </a:rPr>
              <a:t>，需要根据实际生产环境的需求进行选择。</a:t>
            </a:r>
            <a:endParaRPr lang="en-US" sz="1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0929" y="2043273"/>
          <a:ext cx="15354142" cy="2187008"/>
        </p:xfrm>
        <a:graphic>
          <a:graphicData uri="http://schemas.openxmlformats.org/drawingml/2006/table">
            <a:tbl>
              <a:tblPr/>
              <a:tblGrid>
                <a:gridCol w="3068572">
                  <a:extLst>
                    <a:ext uri="{9D8B030D-6E8A-4147-A177-3AD203B41FA5}">
                      <a16:colId xmlns:a16="http://schemas.microsoft.com/office/drawing/2014/main" val="20000"/>
                    </a:ext>
                  </a:extLst>
                </a:gridCol>
                <a:gridCol w="3835715">
                  <a:extLst>
                    <a:ext uri="{9D8B030D-6E8A-4147-A177-3AD203B41FA5}">
                      <a16:colId xmlns:a16="http://schemas.microsoft.com/office/drawing/2014/main" val="20001"/>
                    </a:ext>
                  </a:extLst>
                </a:gridCol>
                <a:gridCol w="3835715">
                  <a:extLst>
                    <a:ext uri="{9D8B030D-6E8A-4147-A177-3AD203B41FA5}">
                      <a16:colId xmlns:a16="http://schemas.microsoft.com/office/drawing/2014/main" val="20002"/>
                    </a:ext>
                  </a:extLst>
                </a:gridCol>
                <a:gridCol w="4614140">
                  <a:extLst>
                    <a:ext uri="{9D8B030D-6E8A-4147-A177-3AD203B41FA5}">
                      <a16:colId xmlns:a16="http://schemas.microsoft.com/office/drawing/2014/main" val="20003"/>
                    </a:ext>
                  </a:extLst>
                </a:gridCol>
              </a:tblGrid>
              <a:tr h="546752">
                <a:tc>
                  <a:txBody>
                    <a:bodyPr/>
                    <a:lstStyle/>
                    <a:p>
                      <a:pPr algn="l"/>
                      <a:r>
                        <a:rPr lang="en-US" sz="1400" b="1" u="none" dirty="0">
                          <a:solidFill>
                            <a:srgbClr val="E2E8F0"/>
                          </a:solidFill>
                          <a:latin typeface="微软雅黑" pitchFamily="34" charset="0"/>
                          <a:ea typeface="微软雅黑" pitchFamily="34" charset="-122"/>
                          <a:cs typeface="微软雅黑" pitchFamily="34" charset="-120"/>
                        </a:rPr>
                        <a:t>后端类型</a:t>
                      </a:r>
                      <a:endParaRPr lang="en-US" sz="1400" dirty="0">
                        <a:latin typeface="微软雅黑" charset="0"/>
                        <a:ea typeface="微软雅黑" charset="0"/>
                        <a:cs typeface="微软雅黑" charset="0"/>
                      </a:endParaRPr>
                    </a:p>
                  </a:txBody>
                  <a:tcPr anchor="ctr">
                    <a:lnL w="0" cap="flat" cmpd="sng" algn="ctr">
                      <a:noFill/>
                    </a:lnL>
                    <a:lnR w="12700" cap="flat" cmpd="sng" algn="ctr">
                      <a:solidFill>
                        <a:srgbClr val="1A202C"/>
                      </a:solidFill>
                      <a:prstDash val="solid"/>
                      <a:round/>
                      <a:headEnd type="none" w="med" len="med"/>
                      <a:tailEnd type="none" w="med" len="med"/>
                    </a:lnR>
                    <a:lnT w="0" cap="flat" cmpd="sng" algn="ctr">
                      <a:noFill/>
                    </a:lnT>
                    <a:lnB w="0" cap="flat" cmpd="sng" algn="ctr">
                      <a:noFill/>
                    </a:lnB>
                    <a:solidFill>
                      <a:srgbClr val="4A5568"/>
                    </a:solidFill>
                  </a:tcPr>
                </a:tc>
                <a:tc>
                  <a:txBody>
                    <a:bodyPr/>
                    <a:lstStyle/>
                    <a:p>
                      <a:pPr algn="l"/>
                      <a:r>
                        <a:rPr lang="en-US" sz="1400" b="1" u="none" dirty="0">
                          <a:solidFill>
                            <a:srgbClr val="E2E8F0"/>
                          </a:solidFill>
                          <a:latin typeface="微软雅黑" pitchFamily="34" charset="0"/>
                          <a:ea typeface="微软雅黑" pitchFamily="34" charset="-122"/>
                          <a:cs typeface="微软雅黑" pitchFamily="34" charset="-120"/>
                        </a:rPr>
                        <a:t>适用场景</a:t>
                      </a:r>
                      <a:endParaRPr lang="en-US" sz="1400" dirty="0">
                        <a:latin typeface="微软雅黑" charset="0"/>
                        <a:ea typeface="微软雅黑" charset="0"/>
                        <a:cs typeface="微软雅黑" charset="0"/>
                      </a:endParaRPr>
                    </a:p>
                  </a:txBody>
                  <a:tcPr anchor="ctr">
                    <a:lnL w="12700" cap="flat" cmpd="sng" algn="ctr">
                      <a:solidFill>
                        <a:srgbClr val="1A202C"/>
                      </a:solidFill>
                      <a:prstDash val="solid"/>
                      <a:round/>
                      <a:headEnd type="none" w="med" len="med"/>
                      <a:tailEnd type="none" w="med" len="med"/>
                    </a:lnL>
                    <a:lnR w="12700" cap="flat" cmpd="sng" algn="ctr">
                      <a:solidFill>
                        <a:srgbClr val="1A202C"/>
                      </a:solidFill>
                      <a:prstDash val="solid"/>
                      <a:round/>
                      <a:headEnd type="none" w="med" len="med"/>
                      <a:tailEnd type="none" w="med" len="med"/>
                    </a:lnR>
                    <a:lnT w="0" cap="flat" cmpd="sng" algn="ctr">
                      <a:noFill/>
                    </a:lnT>
                    <a:lnB w="0" cap="flat" cmpd="sng" algn="ctr">
                      <a:noFill/>
                    </a:lnB>
                    <a:solidFill>
                      <a:srgbClr val="4A5568"/>
                    </a:solidFill>
                  </a:tcPr>
                </a:tc>
                <a:tc>
                  <a:txBody>
                    <a:bodyPr/>
                    <a:lstStyle/>
                    <a:p>
                      <a:pPr algn="l"/>
                      <a:r>
                        <a:rPr lang="en-US" sz="1400" b="1" u="none" dirty="0">
                          <a:solidFill>
                            <a:srgbClr val="E2E8F0"/>
                          </a:solidFill>
                          <a:latin typeface="微软雅黑" pitchFamily="34" charset="0"/>
                          <a:ea typeface="微软雅黑" pitchFamily="34" charset="-122"/>
                          <a:cs typeface="微软雅黑" pitchFamily="34" charset="-120"/>
                        </a:rPr>
                        <a:t>优点</a:t>
                      </a:r>
                      <a:endParaRPr lang="en-US" sz="1400" dirty="0">
                        <a:latin typeface="微软雅黑" charset="0"/>
                        <a:ea typeface="微软雅黑" charset="0"/>
                        <a:cs typeface="微软雅黑" charset="0"/>
                      </a:endParaRPr>
                    </a:p>
                  </a:txBody>
                  <a:tcPr anchor="ctr">
                    <a:lnL w="12700" cap="flat" cmpd="sng" algn="ctr">
                      <a:solidFill>
                        <a:srgbClr val="1A202C"/>
                      </a:solidFill>
                      <a:prstDash val="solid"/>
                      <a:round/>
                      <a:headEnd type="none" w="med" len="med"/>
                      <a:tailEnd type="none" w="med" len="med"/>
                    </a:lnL>
                    <a:lnR w="12700" cap="flat" cmpd="sng" algn="ctr">
                      <a:solidFill>
                        <a:srgbClr val="1A202C"/>
                      </a:solidFill>
                      <a:prstDash val="solid"/>
                      <a:round/>
                      <a:headEnd type="none" w="med" len="med"/>
                      <a:tailEnd type="none" w="med" len="med"/>
                    </a:lnR>
                    <a:lnT w="0" cap="flat" cmpd="sng" algn="ctr">
                      <a:noFill/>
                    </a:lnT>
                    <a:lnB w="0" cap="flat" cmpd="sng" algn="ctr">
                      <a:noFill/>
                    </a:lnB>
                    <a:solidFill>
                      <a:srgbClr val="4A5568"/>
                    </a:solidFill>
                  </a:tcPr>
                </a:tc>
                <a:tc>
                  <a:txBody>
                    <a:bodyPr/>
                    <a:lstStyle/>
                    <a:p>
                      <a:pPr algn="l"/>
                      <a:r>
                        <a:rPr lang="en-US" sz="1400" b="1" u="none" dirty="0">
                          <a:solidFill>
                            <a:srgbClr val="E2E8F0"/>
                          </a:solidFill>
                          <a:latin typeface="微软雅黑" pitchFamily="34" charset="0"/>
                          <a:ea typeface="微软雅黑" pitchFamily="34" charset="-122"/>
                          <a:cs typeface="微软雅黑" pitchFamily="34" charset="-120"/>
                        </a:rPr>
                        <a:t>缺点</a:t>
                      </a:r>
                      <a:endParaRPr lang="en-US" sz="1400" dirty="0">
                        <a:latin typeface="微软雅黑" charset="0"/>
                        <a:ea typeface="微软雅黑" charset="0"/>
                        <a:cs typeface="微软雅黑" charset="0"/>
                      </a:endParaRPr>
                    </a:p>
                  </a:txBody>
                  <a:tcPr anchor="ctr">
                    <a:lnL w="12700" cap="flat" cmpd="sng" algn="ctr">
                      <a:solidFill>
                        <a:srgbClr val="1A202C"/>
                      </a:solidFill>
                      <a:prstDash val="solid"/>
                      <a:round/>
                      <a:headEnd type="none" w="med" len="med"/>
                      <a:tailEnd type="none" w="med" len="med"/>
                    </a:lnL>
                    <a:lnR w="0" cap="flat" cmpd="sng" algn="ctr">
                      <a:noFill/>
                    </a:lnR>
                    <a:lnT w="0" cap="flat" cmpd="sng" algn="ctr">
                      <a:noFill/>
                    </a:lnT>
                    <a:lnB w="0" cap="flat" cmpd="sng" algn="ctr">
                      <a:noFill/>
                    </a:lnB>
                    <a:solidFill>
                      <a:srgbClr val="4A5568"/>
                    </a:solidFill>
                  </a:tcPr>
                </a:tc>
                <a:extLst>
                  <a:ext uri="{0D108BD9-81ED-4DB2-BD59-A6C34878D82A}">
                    <a16:rowId xmlns:a16="http://schemas.microsoft.com/office/drawing/2014/main" val="10000"/>
                  </a:ext>
                </a:extLst>
              </a:tr>
              <a:tr h="546752">
                <a:tc>
                  <a:txBody>
                    <a:bodyPr/>
                    <a:lstStyle/>
                    <a:p>
                      <a:r>
                        <a:rPr lang="en-US" sz="1400" b="1" u="none" dirty="0">
                          <a:solidFill>
                            <a:srgbClr val="D69E2E"/>
                          </a:solidFill>
                          <a:latin typeface="微软雅黑" pitchFamily="34" charset="0"/>
                          <a:ea typeface="微软雅黑" pitchFamily="34" charset="-122"/>
                          <a:cs typeface="微软雅黑" pitchFamily="34" charset="-120"/>
                        </a:rPr>
                        <a:t>Apache Derby</a:t>
                      </a:r>
                      <a:endParaRPr lang="en-US" sz="14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0" cap="flat" cmpd="sng" algn="ctr">
                      <a:noFill/>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400" u="none" dirty="0">
                          <a:solidFill>
                            <a:srgbClr val="E2E8F0"/>
                          </a:solidFill>
                          <a:latin typeface="微软雅黑" pitchFamily="34" charset="0"/>
                          <a:ea typeface="微软雅黑" pitchFamily="34" charset="-122"/>
                          <a:cs typeface="微软雅黑" pitchFamily="34" charset="-120"/>
                        </a:rPr>
                        <a:t>开发测试环境</a:t>
                      </a:r>
                      <a:endParaRPr lang="en-US" sz="14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0" cap="flat" cmpd="sng" algn="ctr">
                      <a:noFill/>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零配置，内嵌在Hive进程中</a:t>
                      </a:r>
                      <a:endParaRPr lang="en-US" sz="14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0" cap="flat" cmpd="sng" algn="ctr">
                      <a:noFill/>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不支持并发访问，性能有限</a:t>
                      </a:r>
                      <a:endParaRPr lang="en-US" sz="14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0" cap="flat" cmpd="sng" algn="ctr">
                      <a:noFill/>
                    </a:lnR>
                    <a:lnT w="0" cap="flat" cmpd="sng" algn="ctr">
                      <a:noFill/>
                    </a:lnT>
                    <a:lnB w="12700" cap="flat" cmpd="sng" algn="ctr">
                      <a:solidFill>
                        <a:srgbClr val="4A5568"/>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1"/>
                  </a:ext>
                </a:extLst>
              </a:tr>
              <a:tr h="546752">
                <a:tc>
                  <a:txBody>
                    <a:bodyPr/>
                    <a:lstStyle/>
                    <a:p>
                      <a:r>
                        <a:rPr lang="en-US" sz="1400" b="1" u="none" dirty="0">
                          <a:solidFill>
                            <a:srgbClr val="D69E2E"/>
                          </a:solidFill>
                          <a:latin typeface="微软雅黑" pitchFamily="34" charset="0"/>
                          <a:ea typeface="微软雅黑" pitchFamily="34" charset="-122"/>
                          <a:cs typeface="微软雅黑" pitchFamily="34" charset="-120"/>
                        </a:rPr>
                        <a:t>MySQL</a:t>
                      </a:r>
                      <a:endParaRPr lang="en-US" sz="14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400" u="none" dirty="0">
                          <a:solidFill>
                            <a:srgbClr val="E2E8F0"/>
                          </a:solidFill>
                          <a:latin typeface="微软雅黑" pitchFamily="34" charset="0"/>
                          <a:ea typeface="微软雅黑" pitchFamily="34" charset="-122"/>
                          <a:cs typeface="微软雅黑" pitchFamily="34" charset="-120"/>
                        </a:rPr>
                        <a:t>中小规模生产环境</a:t>
                      </a:r>
                      <a:endParaRPr lang="en-US" sz="14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性能稳定，社区支持完善</a:t>
                      </a:r>
                      <a:endParaRPr lang="en-US" sz="14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对复杂查询和事务处理能力有限</a:t>
                      </a:r>
                      <a:endParaRPr lang="en-US" sz="14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0" cap="flat" cmpd="sng" algn="ctr">
                      <a:noFill/>
                    </a:lnR>
                    <a:lnT w="12700" cap="flat" cmpd="sng" algn="ctr">
                      <a:solidFill>
                        <a:srgbClr val="4A5568"/>
                      </a:solidFill>
                      <a:prstDash val="solid"/>
                      <a:round/>
                      <a:headEnd type="none" w="med" len="med"/>
                      <a:tailEnd type="none" w="med" len="med"/>
                    </a:lnT>
                    <a:lnB w="12700" cap="flat" cmpd="sng" algn="ctr">
                      <a:solidFill>
                        <a:srgbClr val="4A5568"/>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2"/>
                  </a:ext>
                </a:extLst>
              </a:tr>
              <a:tr h="546752">
                <a:tc>
                  <a:txBody>
                    <a:bodyPr/>
                    <a:lstStyle/>
                    <a:p>
                      <a:r>
                        <a:rPr lang="en-US" sz="1400" b="1" u="none" dirty="0">
                          <a:solidFill>
                            <a:srgbClr val="D69E2E"/>
                          </a:solidFill>
                          <a:latin typeface="微软雅黑" pitchFamily="34" charset="0"/>
                          <a:ea typeface="微软雅黑" pitchFamily="34" charset="-122"/>
                          <a:cs typeface="微软雅黑" pitchFamily="34" charset="-120"/>
                        </a:rPr>
                        <a:t>PostgreSQL</a:t>
                      </a:r>
                      <a:endParaRPr lang="en-US" sz="1400" dirty="0">
                        <a:latin typeface="微软雅黑" charset="0"/>
                        <a:ea typeface="微软雅黑" charset="0"/>
                        <a:cs typeface="微软雅黑" charset="0"/>
                      </a:endParaRPr>
                    </a:p>
                  </a:txBody>
                  <a:tcPr anchor="ctr">
                    <a:lnL w="0" cap="flat" cmpd="sng" algn="ctr">
                      <a:noFill/>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0" cap="flat" cmpd="sng" algn="ctr">
                      <a:noFill/>
                    </a:lnB>
                    <a:solidFill>
                      <a:srgbClr val="FFFFFF">
                        <a:alpha val="0"/>
                      </a:srgbClr>
                    </a:solidFill>
                  </a:tcPr>
                </a:tc>
                <a:tc>
                  <a:txBody>
                    <a:bodyPr/>
                    <a:lstStyle/>
                    <a:p>
                      <a:r>
                        <a:rPr lang="en-US" sz="1400" u="none" dirty="0">
                          <a:solidFill>
                            <a:srgbClr val="E2E8F0"/>
                          </a:solidFill>
                          <a:latin typeface="微软雅黑" pitchFamily="34" charset="0"/>
                          <a:ea typeface="微软雅黑" pitchFamily="34" charset="-122"/>
                          <a:cs typeface="微软雅黑" pitchFamily="34" charset="-120"/>
                        </a:rPr>
                        <a:t>大规模企业环境</a:t>
                      </a:r>
                      <a:endParaRPr lang="en-US" sz="14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0" cap="flat" cmpd="sng" algn="ctr">
                      <a:noFill/>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支持更复杂的查询和事务处理</a:t>
                      </a:r>
                      <a:endParaRPr lang="en-US" sz="14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12700" cap="flat" cmpd="sng" algn="ctr">
                      <a:solidFill>
                        <a:srgbClr val="4A5568"/>
                      </a:solidFill>
                      <a:prstDash val="solid"/>
                      <a:round/>
                      <a:headEnd type="none" w="med" len="med"/>
                      <a:tailEnd type="none" w="med" len="med"/>
                    </a:lnR>
                    <a:lnT w="12700" cap="flat" cmpd="sng" algn="ctr">
                      <a:solidFill>
                        <a:srgbClr val="4A5568"/>
                      </a:solidFill>
                      <a:prstDash val="solid"/>
                      <a:round/>
                      <a:headEnd type="none" w="med" len="med"/>
                      <a:tailEnd type="none" w="med" len="med"/>
                    </a:lnT>
                    <a:lnB w="0" cap="flat" cmpd="sng" algn="ctr">
                      <a:noFill/>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配置相对复杂，资源消耗较大</a:t>
                      </a:r>
                      <a:endParaRPr lang="en-US" sz="1400" dirty="0">
                        <a:latin typeface="微软雅黑" charset="0"/>
                        <a:ea typeface="微软雅黑" charset="0"/>
                        <a:cs typeface="微软雅黑" charset="0"/>
                      </a:endParaRPr>
                    </a:p>
                  </a:txBody>
                  <a:tcPr anchor="ctr">
                    <a:lnL w="12700" cap="flat" cmpd="sng" algn="ctr">
                      <a:solidFill>
                        <a:srgbClr val="4A5568"/>
                      </a:solidFill>
                      <a:prstDash val="solid"/>
                      <a:round/>
                      <a:headEnd type="none" w="med" len="med"/>
                      <a:tailEnd type="none" w="med" len="med"/>
                    </a:lnL>
                    <a:lnR w="0" cap="flat" cmpd="sng" algn="ctr">
                      <a:noFill/>
                    </a:lnR>
                    <a:lnT w="12700" cap="flat" cmpd="sng" algn="ctr">
                      <a:solidFill>
                        <a:srgbClr val="4A5568"/>
                      </a:solidFill>
                      <a:prstDash val="solid"/>
                      <a:round/>
                      <a:headEnd type="none" w="med" len="med"/>
                      <a:tailEnd type="none" w="med" len="med"/>
                    </a:lnT>
                    <a:lnB w="0" cap="flat" cmpd="sng" algn="ctr">
                      <a:noFill/>
                    </a:lnB>
                    <a:solidFill>
                      <a:srgbClr val="FFFFFF">
                        <a:alpha val="0"/>
                      </a:srgbClr>
                    </a:solidFill>
                  </a:tcPr>
                </a:tc>
                <a:extLst>
                  <a:ext uri="{0D108BD9-81ED-4DB2-BD59-A6C34878D82A}">
                    <a16:rowId xmlns:a16="http://schemas.microsoft.com/office/drawing/2014/main" val="10003"/>
                  </a:ext>
                </a:extLst>
              </a:tr>
            </a:tbl>
          </a:graphicData>
        </a:graphic>
      </p:graphicFrame>
      <p:sp>
        <p:nvSpPr>
          <p:cNvPr id="6" name="Shape 3"/>
          <p:cNvSpPr/>
          <p:nvPr/>
        </p:nvSpPr>
        <p:spPr>
          <a:xfrm>
            <a:off x="462202" y="4512111"/>
            <a:ext cx="4915129" cy="2119368"/>
          </a:xfrm>
          <a:custGeom>
            <a:avLst/>
            <a:gdLst/>
            <a:ahLst/>
            <a:cxnLst/>
            <a:rect l="l" t="t" r="r" b="b"/>
            <a:pathLst>
              <a:path w="4915129" h="2119368">
                <a:moveTo>
                  <a:pt x="90179" y="0"/>
                </a:moveTo>
                <a:lnTo>
                  <a:pt x="4824950" y="0"/>
                </a:lnTo>
                <a:cubicBezTo>
                  <a:pt x="4874754" y="0"/>
                  <a:pt x="4915129" y="40375"/>
                  <a:pt x="4915129" y="90179"/>
                </a:cubicBezTo>
                <a:lnTo>
                  <a:pt x="4915129" y="2029188"/>
                </a:lnTo>
                <a:cubicBezTo>
                  <a:pt x="4915129" y="2078993"/>
                  <a:pt x="4874754" y="2119368"/>
                  <a:pt x="4824950" y="2119368"/>
                </a:cubicBezTo>
                <a:lnTo>
                  <a:pt x="90179" y="2119368"/>
                </a:lnTo>
                <a:cubicBezTo>
                  <a:pt x="40375" y="2119368"/>
                  <a:pt x="0" y="2078993"/>
                  <a:pt x="0" y="2029188"/>
                </a:cubicBezTo>
                <a:lnTo>
                  <a:pt x="0" y="90179"/>
                </a:lnTo>
                <a:cubicBezTo>
                  <a:pt x="0" y="40408"/>
                  <a:pt x="40408" y="0"/>
                  <a:pt x="90179" y="0"/>
                </a:cubicBezTo>
                <a:close/>
              </a:path>
            </a:pathLst>
          </a:custGeom>
          <a:solidFill>
            <a:srgbClr val="000000">
              <a:alpha val="0"/>
            </a:srgbClr>
          </a:solidFill>
          <a:ln w="25400">
            <a:solidFill>
              <a:srgbClr val="D69E2E"/>
            </a:solidFill>
            <a:prstDash val="solid"/>
          </a:ln>
        </p:spPr>
        <p:txBody>
          <a:bodyPr/>
          <a:lstStyle/>
          <a:p>
            <a:endParaRPr lang="zh-CN" altLang="en-US"/>
          </a:p>
        </p:txBody>
      </p:sp>
      <p:sp>
        <p:nvSpPr>
          <p:cNvPr id="7" name="Text 4"/>
          <p:cNvSpPr/>
          <p:nvPr/>
        </p:nvSpPr>
        <p:spPr>
          <a:xfrm>
            <a:off x="698940" y="4748849"/>
            <a:ext cx="4543112" cy="315650"/>
          </a:xfrm>
          <a:prstGeom prst="rect">
            <a:avLst/>
          </a:prstGeom>
          <a:noFill/>
          <a:ln/>
        </p:spPr>
        <p:txBody>
          <a:bodyPr wrap="square" lIns="0" tIns="0" rIns="0" bIns="0" rtlCol="0" anchor="ctr"/>
          <a:lstStyle/>
          <a:p>
            <a:pPr>
              <a:lnSpc>
                <a:spcPct val="130000"/>
              </a:lnSpc>
            </a:pPr>
            <a:r>
              <a:rPr lang="en-US" sz="1598" b="1" dirty="0">
                <a:solidFill>
                  <a:srgbClr val="E2E8F0"/>
                </a:solidFill>
                <a:latin typeface="MiSans" pitchFamily="34" charset="0"/>
                <a:ea typeface="MiSans" pitchFamily="34" charset="-122"/>
                <a:cs typeface="MiSans" pitchFamily="34" charset="-120"/>
              </a:rPr>
              <a:t>Derby配置示例</a:t>
            </a:r>
            <a:endParaRPr lang="en-US" sz="1600" dirty="0"/>
          </a:p>
        </p:txBody>
      </p:sp>
      <p:sp>
        <p:nvSpPr>
          <p:cNvPr id="8" name="Shape 5"/>
          <p:cNvSpPr/>
          <p:nvPr/>
        </p:nvSpPr>
        <p:spPr>
          <a:xfrm>
            <a:off x="704577" y="5205415"/>
            <a:ext cx="4430380" cy="1183689"/>
          </a:xfrm>
          <a:custGeom>
            <a:avLst/>
            <a:gdLst/>
            <a:ahLst/>
            <a:cxnLst/>
            <a:rect l="l" t="t" r="r" b="b"/>
            <a:pathLst>
              <a:path w="4430380" h="1183689">
                <a:moveTo>
                  <a:pt x="45099" y="0"/>
                </a:moveTo>
                <a:lnTo>
                  <a:pt x="4385281" y="0"/>
                </a:lnTo>
                <a:cubicBezTo>
                  <a:pt x="4410189" y="0"/>
                  <a:pt x="4430380" y="20191"/>
                  <a:pt x="4430380" y="45099"/>
                </a:cubicBezTo>
                <a:lnTo>
                  <a:pt x="4430380" y="1138591"/>
                </a:lnTo>
                <a:cubicBezTo>
                  <a:pt x="4430380" y="1163498"/>
                  <a:pt x="4410189" y="1183689"/>
                  <a:pt x="4385281" y="1183689"/>
                </a:cubicBezTo>
                <a:lnTo>
                  <a:pt x="45099" y="1183689"/>
                </a:lnTo>
                <a:cubicBezTo>
                  <a:pt x="20191" y="1183689"/>
                  <a:pt x="0" y="1163498"/>
                  <a:pt x="0" y="1138591"/>
                </a:cubicBezTo>
                <a:lnTo>
                  <a:pt x="0" y="45099"/>
                </a:lnTo>
                <a:cubicBezTo>
                  <a:pt x="0" y="20208"/>
                  <a:pt x="20208" y="0"/>
                  <a:pt x="45099" y="0"/>
                </a:cubicBezTo>
                <a:close/>
              </a:path>
            </a:pathLst>
          </a:custGeom>
          <a:solidFill>
            <a:srgbClr val="1A202C"/>
          </a:solidFill>
          <a:ln w="12700">
            <a:solidFill>
              <a:srgbClr val="4A5568"/>
            </a:solidFill>
            <a:prstDash val="solid"/>
          </a:ln>
        </p:spPr>
        <p:txBody>
          <a:bodyPr/>
          <a:lstStyle/>
          <a:p>
            <a:endParaRPr lang="zh-CN" altLang="en-US"/>
          </a:p>
        </p:txBody>
      </p:sp>
      <p:sp>
        <p:nvSpPr>
          <p:cNvPr id="9" name="Text 6"/>
          <p:cNvSpPr/>
          <p:nvPr/>
        </p:nvSpPr>
        <p:spPr>
          <a:xfrm>
            <a:off x="845492" y="5363240"/>
            <a:ext cx="4169421" cy="862402"/>
          </a:xfrm>
          <a:prstGeom prst="rect">
            <a:avLst/>
          </a:prstGeom>
          <a:noFill/>
          <a:ln/>
        </p:spPr>
        <p:txBody>
          <a:bodyPr wrap="square" lIns="0" tIns="0" rIns="0" bIns="0" rtlCol="0" anchor="ctr"/>
          <a:lstStyle/>
          <a:p>
            <a:pPr>
              <a:lnSpc>
                <a:spcPct val="120000"/>
              </a:lnSpc>
            </a:pPr>
            <a:r>
              <a:rPr lang="en-US" sz="1243" dirty="0">
                <a:solidFill>
                  <a:srgbClr val="E2E8F0"/>
                </a:solidFill>
                <a:latin typeface="MiSans" pitchFamily="34" charset="0"/>
                <a:ea typeface="MiSans" pitchFamily="34" charset="-122"/>
                <a:cs typeface="MiSans" pitchFamily="34" charset="-120"/>
              </a:rPr>
              <a:t>javax.jdo.option.ConnectionURL jdbc:derby:;databaseName=metastore_db;create=true</a:t>
            </a:r>
            <a:endParaRPr lang="en-US" sz="1600" dirty="0"/>
          </a:p>
        </p:txBody>
      </p:sp>
      <p:sp>
        <p:nvSpPr>
          <p:cNvPr id="10" name="Shape 7"/>
          <p:cNvSpPr/>
          <p:nvPr/>
        </p:nvSpPr>
        <p:spPr>
          <a:xfrm>
            <a:off x="5669555" y="4512111"/>
            <a:ext cx="4915129" cy="2119368"/>
          </a:xfrm>
          <a:custGeom>
            <a:avLst/>
            <a:gdLst/>
            <a:ahLst/>
            <a:cxnLst/>
            <a:rect l="l" t="t" r="r" b="b"/>
            <a:pathLst>
              <a:path w="4915129" h="2119368">
                <a:moveTo>
                  <a:pt x="90179" y="0"/>
                </a:moveTo>
                <a:lnTo>
                  <a:pt x="4824950" y="0"/>
                </a:lnTo>
                <a:cubicBezTo>
                  <a:pt x="4874754" y="0"/>
                  <a:pt x="4915129" y="40375"/>
                  <a:pt x="4915129" y="90179"/>
                </a:cubicBezTo>
                <a:lnTo>
                  <a:pt x="4915129" y="2029188"/>
                </a:lnTo>
                <a:cubicBezTo>
                  <a:pt x="4915129" y="2078993"/>
                  <a:pt x="4874754" y="2119368"/>
                  <a:pt x="4824950" y="2119368"/>
                </a:cubicBezTo>
                <a:lnTo>
                  <a:pt x="90179" y="2119368"/>
                </a:lnTo>
                <a:cubicBezTo>
                  <a:pt x="40375" y="2119368"/>
                  <a:pt x="0" y="2078993"/>
                  <a:pt x="0" y="2029188"/>
                </a:cubicBezTo>
                <a:lnTo>
                  <a:pt x="0" y="90179"/>
                </a:lnTo>
                <a:cubicBezTo>
                  <a:pt x="0" y="40408"/>
                  <a:pt x="40408" y="0"/>
                  <a:pt x="90179" y="0"/>
                </a:cubicBezTo>
                <a:close/>
              </a:path>
            </a:pathLst>
          </a:custGeom>
          <a:solidFill>
            <a:srgbClr val="000000">
              <a:alpha val="0"/>
            </a:srgbClr>
          </a:solidFill>
          <a:ln w="25400">
            <a:solidFill>
              <a:srgbClr val="D69E2E"/>
            </a:solidFill>
            <a:prstDash val="solid"/>
          </a:ln>
        </p:spPr>
        <p:txBody>
          <a:bodyPr/>
          <a:lstStyle/>
          <a:p>
            <a:endParaRPr lang="zh-CN" altLang="en-US"/>
          </a:p>
        </p:txBody>
      </p:sp>
      <p:sp>
        <p:nvSpPr>
          <p:cNvPr id="11" name="Text 8"/>
          <p:cNvSpPr/>
          <p:nvPr/>
        </p:nvSpPr>
        <p:spPr>
          <a:xfrm>
            <a:off x="5906293" y="4748849"/>
            <a:ext cx="4543112" cy="315650"/>
          </a:xfrm>
          <a:prstGeom prst="rect">
            <a:avLst/>
          </a:prstGeom>
          <a:noFill/>
          <a:ln/>
        </p:spPr>
        <p:txBody>
          <a:bodyPr wrap="square" lIns="0" tIns="0" rIns="0" bIns="0" rtlCol="0" anchor="ctr"/>
          <a:lstStyle/>
          <a:p>
            <a:pPr>
              <a:lnSpc>
                <a:spcPct val="130000"/>
              </a:lnSpc>
            </a:pPr>
            <a:r>
              <a:rPr lang="en-US" sz="1598" b="1" dirty="0">
                <a:solidFill>
                  <a:srgbClr val="E2E8F0"/>
                </a:solidFill>
                <a:latin typeface="MiSans" pitchFamily="34" charset="0"/>
                <a:ea typeface="MiSans" pitchFamily="34" charset="-122"/>
                <a:cs typeface="MiSans" pitchFamily="34" charset="-120"/>
              </a:rPr>
              <a:t>MySQL配置示例</a:t>
            </a:r>
            <a:endParaRPr lang="en-US" sz="1600" dirty="0"/>
          </a:p>
        </p:txBody>
      </p:sp>
      <p:sp>
        <p:nvSpPr>
          <p:cNvPr id="12" name="Shape 9"/>
          <p:cNvSpPr/>
          <p:nvPr/>
        </p:nvSpPr>
        <p:spPr>
          <a:xfrm>
            <a:off x="5911929" y="5205415"/>
            <a:ext cx="4430380" cy="1183689"/>
          </a:xfrm>
          <a:custGeom>
            <a:avLst/>
            <a:gdLst/>
            <a:ahLst/>
            <a:cxnLst/>
            <a:rect l="l" t="t" r="r" b="b"/>
            <a:pathLst>
              <a:path w="4430380" h="1183689">
                <a:moveTo>
                  <a:pt x="45099" y="0"/>
                </a:moveTo>
                <a:lnTo>
                  <a:pt x="4385281" y="0"/>
                </a:lnTo>
                <a:cubicBezTo>
                  <a:pt x="4410189" y="0"/>
                  <a:pt x="4430380" y="20191"/>
                  <a:pt x="4430380" y="45099"/>
                </a:cubicBezTo>
                <a:lnTo>
                  <a:pt x="4430380" y="1138591"/>
                </a:lnTo>
                <a:cubicBezTo>
                  <a:pt x="4430380" y="1163498"/>
                  <a:pt x="4410189" y="1183689"/>
                  <a:pt x="4385281" y="1183689"/>
                </a:cubicBezTo>
                <a:lnTo>
                  <a:pt x="45099" y="1183689"/>
                </a:lnTo>
                <a:cubicBezTo>
                  <a:pt x="20191" y="1183689"/>
                  <a:pt x="0" y="1163498"/>
                  <a:pt x="0" y="1138591"/>
                </a:cubicBezTo>
                <a:lnTo>
                  <a:pt x="0" y="45099"/>
                </a:lnTo>
                <a:cubicBezTo>
                  <a:pt x="0" y="20208"/>
                  <a:pt x="20208" y="0"/>
                  <a:pt x="45099" y="0"/>
                </a:cubicBezTo>
                <a:close/>
              </a:path>
            </a:pathLst>
          </a:custGeom>
          <a:solidFill>
            <a:srgbClr val="1A202C"/>
          </a:solidFill>
          <a:ln w="12700">
            <a:solidFill>
              <a:srgbClr val="4A5568"/>
            </a:solidFill>
            <a:prstDash val="solid"/>
          </a:ln>
        </p:spPr>
        <p:txBody>
          <a:bodyPr/>
          <a:lstStyle/>
          <a:p>
            <a:endParaRPr lang="zh-CN" altLang="en-US"/>
          </a:p>
        </p:txBody>
      </p:sp>
      <p:sp>
        <p:nvSpPr>
          <p:cNvPr id="13" name="Text 10"/>
          <p:cNvSpPr/>
          <p:nvPr/>
        </p:nvSpPr>
        <p:spPr>
          <a:xfrm>
            <a:off x="6052845" y="5363240"/>
            <a:ext cx="5209994" cy="862402"/>
          </a:xfrm>
          <a:prstGeom prst="rect">
            <a:avLst/>
          </a:prstGeom>
          <a:noFill/>
          <a:ln/>
        </p:spPr>
        <p:txBody>
          <a:bodyPr wrap="square" lIns="0" tIns="0" rIns="0" bIns="0" rtlCol="0" anchor="ctr"/>
          <a:lstStyle/>
          <a:p>
            <a:pPr>
              <a:lnSpc>
                <a:spcPct val="120000"/>
              </a:lnSpc>
            </a:pPr>
            <a:r>
              <a:rPr lang="en-US" sz="1243" dirty="0">
                <a:solidFill>
                  <a:srgbClr val="E2E8F0"/>
                </a:solidFill>
                <a:latin typeface="MiSans" pitchFamily="34" charset="0"/>
                <a:ea typeface="MiSans" pitchFamily="34" charset="-122"/>
                <a:cs typeface="MiSans" pitchFamily="34" charset="-120"/>
              </a:rPr>
              <a:t>javax.jdo.option.ConnectionURL jdbc:mysql://host:3306/hive_metastore</a:t>
            </a:r>
            <a:endParaRPr lang="en-US" sz="1600" dirty="0"/>
          </a:p>
        </p:txBody>
      </p:sp>
      <p:sp>
        <p:nvSpPr>
          <p:cNvPr id="14" name="Shape 11"/>
          <p:cNvSpPr/>
          <p:nvPr/>
        </p:nvSpPr>
        <p:spPr>
          <a:xfrm>
            <a:off x="10876907" y="4512111"/>
            <a:ext cx="4915129" cy="2119368"/>
          </a:xfrm>
          <a:custGeom>
            <a:avLst/>
            <a:gdLst/>
            <a:ahLst/>
            <a:cxnLst/>
            <a:rect l="l" t="t" r="r" b="b"/>
            <a:pathLst>
              <a:path w="4915129" h="2119368">
                <a:moveTo>
                  <a:pt x="90179" y="0"/>
                </a:moveTo>
                <a:lnTo>
                  <a:pt x="4824950" y="0"/>
                </a:lnTo>
                <a:cubicBezTo>
                  <a:pt x="4874754" y="0"/>
                  <a:pt x="4915129" y="40375"/>
                  <a:pt x="4915129" y="90179"/>
                </a:cubicBezTo>
                <a:lnTo>
                  <a:pt x="4915129" y="2029188"/>
                </a:lnTo>
                <a:cubicBezTo>
                  <a:pt x="4915129" y="2078993"/>
                  <a:pt x="4874754" y="2119368"/>
                  <a:pt x="4824950" y="2119368"/>
                </a:cubicBezTo>
                <a:lnTo>
                  <a:pt x="90179" y="2119368"/>
                </a:lnTo>
                <a:cubicBezTo>
                  <a:pt x="40375" y="2119368"/>
                  <a:pt x="0" y="2078993"/>
                  <a:pt x="0" y="2029188"/>
                </a:cubicBezTo>
                <a:lnTo>
                  <a:pt x="0" y="90179"/>
                </a:lnTo>
                <a:cubicBezTo>
                  <a:pt x="0" y="40408"/>
                  <a:pt x="40408" y="0"/>
                  <a:pt x="90179" y="0"/>
                </a:cubicBezTo>
                <a:close/>
              </a:path>
            </a:pathLst>
          </a:custGeom>
          <a:solidFill>
            <a:srgbClr val="000000">
              <a:alpha val="0"/>
            </a:srgbClr>
          </a:solidFill>
          <a:ln w="25400">
            <a:solidFill>
              <a:srgbClr val="D69E2E"/>
            </a:solidFill>
            <a:prstDash val="solid"/>
          </a:ln>
        </p:spPr>
        <p:txBody>
          <a:bodyPr/>
          <a:lstStyle/>
          <a:p>
            <a:endParaRPr lang="zh-CN" altLang="en-US"/>
          </a:p>
        </p:txBody>
      </p:sp>
      <p:sp>
        <p:nvSpPr>
          <p:cNvPr id="15" name="Text 12"/>
          <p:cNvSpPr/>
          <p:nvPr/>
        </p:nvSpPr>
        <p:spPr>
          <a:xfrm>
            <a:off x="11113645" y="4748849"/>
            <a:ext cx="4543112" cy="315650"/>
          </a:xfrm>
          <a:prstGeom prst="rect">
            <a:avLst/>
          </a:prstGeom>
          <a:noFill/>
          <a:ln/>
        </p:spPr>
        <p:txBody>
          <a:bodyPr wrap="square" lIns="0" tIns="0" rIns="0" bIns="0" rtlCol="0" anchor="ctr"/>
          <a:lstStyle/>
          <a:p>
            <a:pPr>
              <a:lnSpc>
                <a:spcPct val="130000"/>
              </a:lnSpc>
            </a:pPr>
            <a:r>
              <a:rPr lang="en-US" sz="1598" b="1" dirty="0">
                <a:solidFill>
                  <a:srgbClr val="E2E8F0"/>
                </a:solidFill>
                <a:latin typeface="MiSans" pitchFamily="34" charset="0"/>
                <a:ea typeface="MiSans" pitchFamily="34" charset="-122"/>
                <a:cs typeface="MiSans" pitchFamily="34" charset="-120"/>
              </a:rPr>
              <a:t>PostgreSQL配置</a:t>
            </a:r>
            <a:endParaRPr lang="en-US" sz="1600" dirty="0"/>
          </a:p>
        </p:txBody>
      </p:sp>
      <p:sp>
        <p:nvSpPr>
          <p:cNvPr id="16" name="Shape 13"/>
          <p:cNvSpPr/>
          <p:nvPr/>
        </p:nvSpPr>
        <p:spPr>
          <a:xfrm>
            <a:off x="11119282" y="5205415"/>
            <a:ext cx="4430380" cy="1183689"/>
          </a:xfrm>
          <a:custGeom>
            <a:avLst/>
            <a:gdLst/>
            <a:ahLst/>
            <a:cxnLst/>
            <a:rect l="l" t="t" r="r" b="b"/>
            <a:pathLst>
              <a:path w="4430380" h="1183689">
                <a:moveTo>
                  <a:pt x="45099" y="0"/>
                </a:moveTo>
                <a:lnTo>
                  <a:pt x="4385281" y="0"/>
                </a:lnTo>
                <a:cubicBezTo>
                  <a:pt x="4410189" y="0"/>
                  <a:pt x="4430380" y="20191"/>
                  <a:pt x="4430380" y="45099"/>
                </a:cubicBezTo>
                <a:lnTo>
                  <a:pt x="4430380" y="1138591"/>
                </a:lnTo>
                <a:cubicBezTo>
                  <a:pt x="4430380" y="1163498"/>
                  <a:pt x="4410189" y="1183689"/>
                  <a:pt x="4385281" y="1183689"/>
                </a:cubicBezTo>
                <a:lnTo>
                  <a:pt x="45099" y="1183689"/>
                </a:lnTo>
                <a:cubicBezTo>
                  <a:pt x="20191" y="1183689"/>
                  <a:pt x="0" y="1163498"/>
                  <a:pt x="0" y="1138591"/>
                </a:cubicBezTo>
                <a:lnTo>
                  <a:pt x="0" y="45099"/>
                </a:lnTo>
                <a:cubicBezTo>
                  <a:pt x="0" y="20208"/>
                  <a:pt x="20208" y="0"/>
                  <a:pt x="45099" y="0"/>
                </a:cubicBezTo>
                <a:close/>
              </a:path>
            </a:pathLst>
          </a:custGeom>
          <a:solidFill>
            <a:srgbClr val="1A202C"/>
          </a:solidFill>
          <a:ln w="12700">
            <a:solidFill>
              <a:srgbClr val="4A5568"/>
            </a:solidFill>
            <a:prstDash val="solid"/>
          </a:ln>
        </p:spPr>
        <p:txBody>
          <a:bodyPr/>
          <a:lstStyle/>
          <a:p>
            <a:endParaRPr lang="zh-CN" altLang="en-US"/>
          </a:p>
        </p:txBody>
      </p:sp>
      <p:sp>
        <p:nvSpPr>
          <p:cNvPr id="17" name="Text 14"/>
          <p:cNvSpPr/>
          <p:nvPr/>
        </p:nvSpPr>
        <p:spPr>
          <a:xfrm>
            <a:off x="11260197" y="5363240"/>
            <a:ext cx="4150311" cy="862402"/>
          </a:xfrm>
          <a:prstGeom prst="rect">
            <a:avLst/>
          </a:prstGeom>
          <a:noFill/>
          <a:ln/>
        </p:spPr>
        <p:txBody>
          <a:bodyPr wrap="square" lIns="0" tIns="0" rIns="0" bIns="0" rtlCol="0" anchor="ctr"/>
          <a:lstStyle/>
          <a:p>
            <a:pPr>
              <a:lnSpc>
                <a:spcPct val="120000"/>
              </a:lnSpc>
            </a:pPr>
            <a:r>
              <a:rPr lang="en-US" sz="1243" dirty="0">
                <a:solidFill>
                  <a:srgbClr val="E2E8F0"/>
                </a:solidFill>
                <a:latin typeface="MiSans" pitchFamily="34" charset="0"/>
                <a:ea typeface="MiSans" pitchFamily="34" charset="-122"/>
                <a:cs typeface="MiSans" pitchFamily="34" charset="-120"/>
              </a:rPr>
              <a:t>javax.jdo.option.ConnectionURL jdbc:postgresql://host:5432/hive_metastore</a:t>
            </a:r>
            <a:endParaRPr lang="en-US" sz="1600" dirty="0"/>
          </a:p>
        </p:txBody>
      </p:sp>
      <p:sp>
        <p:nvSpPr>
          <p:cNvPr id="18" name="Shape 15"/>
          <p:cNvSpPr/>
          <p:nvPr/>
        </p:nvSpPr>
        <p:spPr>
          <a:xfrm>
            <a:off x="462202" y="6924583"/>
            <a:ext cx="15331595" cy="1420427"/>
          </a:xfrm>
          <a:custGeom>
            <a:avLst/>
            <a:gdLst/>
            <a:ahLst/>
            <a:cxnLst/>
            <a:rect l="l" t="t" r="r" b="b"/>
            <a:pathLst>
              <a:path w="15331595" h="1420427">
                <a:moveTo>
                  <a:pt x="90183" y="0"/>
                </a:moveTo>
                <a:lnTo>
                  <a:pt x="15241412" y="0"/>
                </a:lnTo>
                <a:cubicBezTo>
                  <a:pt x="15291219" y="0"/>
                  <a:pt x="15331595" y="40376"/>
                  <a:pt x="15331595" y="90183"/>
                </a:cubicBezTo>
                <a:lnTo>
                  <a:pt x="15331595" y="1330244"/>
                </a:lnTo>
                <a:cubicBezTo>
                  <a:pt x="15331595" y="1380051"/>
                  <a:pt x="15291219" y="1420427"/>
                  <a:pt x="15241412" y="1420427"/>
                </a:cubicBezTo>
                <a:lnTo>
                  <a:pt x="90183" y="1420427"/>
                </a:lnTo>
                <a:cubicBezTo>
                  <a:pt x="40376" y="1420427"/>
                  <a:pt x="0" y="1380051"/>
                  <a:pt x="0" y="1330244"/>
                </a:cubicBezTo>
                <a:lnTo>
                  <a:pt x="0" y="90183"/>
                </a:lnTo>
                <a:cubicBezTo>
                  <a:pt x="0" y="40410"/>
                  <a:pt x="40410" y="0"/>
                  <a:pt x="90183" y="0"/>
                </a:cubicBezTo>
                <a:close/>
              </a:path>
            </a:pathLst>
          </a:custGeom>
          <a:solidFill>
            <a:srgbClr val="D69E2E">
              <a:alpha val="10196"/>
            </a:srgbClr>
          </a:solidFill>
          <a:ln w="25400">
            <a:solidFill>
              <a:srgbClr val="D69E2E"/>
            </a:solidFill>
            <a:prstDash val="solid"/>
          </a:ln>
        </p:spPr>
        <p:txBody>
          <a:bodyPr/>
          <a:lstStyle/>
          <a:p>
            <a:endParaRPr lang="zh-CN" altLang="en-US"/>
          </a:p>
        </p:txBody>
      </p:sp>
      <p:sp>
        <p:nvSpPr>
          <p:cNvPr id="19" name="Shape 16"/>
          <p:cNvSpPr/>
          <p:nvPr/>
        </p:nvSpPr>
        <p:spPr>
          <a:xfrm>
            <a:off x="766580" y="7161320"/>
            <a:ext cx="202918" cy="270558"/>
          </a:xfrm>
          <a:custGeom>
            <a:avLst/>
            <a:gdLst/>
            <a:ahLst/>
            <a:cxnLst/>
            <a:rect l="l" t="t" r="r" b="b"/>
            <a:pathLst>
              <a:path w="202918" h="270558">
                <a:moveTo>
                  <a:pt x="154778" y="202918"/>
                </a:moveTo>
                <a:cubicBezTo>
                  <a:pt x="158636" y="191134"/>
                  <a:pt x="166351" y="180460"/>
                  <a:pt x="175070" y="171265"/>
                </a:cubicBezTo>
                <a:cubicBezTo>
                  <a:pt x="192350" y="153087"/>
                  <a:pt x="202918" y="128515"/>
                  <a:pt x="202918" y="101459"/>
                </a:cubicBezTo>
                <a:cubicBezTo>
                  <a:pt x="202918" y="45445"/>
                  <a:pt x="157473" y="0"/>
                  <a:pt x="101459" y="0"/>
                </a:cubicBezTo>
                <a:cubicBezTo>
                  <a:pt x="45445" y="0"/>
                  <a:pt x="0" y="45445"/>
                  <a:pt x="0" y="101459"/>
                </a:cubicBezTo>
                <a:cubicBezTo>
                  <a:pt x="0" y="128515"/>
                  <a:pt x="10569" y="153087"/>
                  <a:pt x="27848" y="171265"/>
                </a:cubicBezTo>
                <a:cubicBezTo>
                  <a:pt x="36568" y="180460"/>
                  <a:pt x="44336" y="191134"/>
                  <a:pt x="48140" y="202918"/>
                </a:cubicBezTo>
                <a:lnTo>
                  <a:pt x="154725" y="202918"/>
                </a:lnTo>
                <a:close/>
                <a:moveTo>
                  <a:pt x="152189" y="228283"/>
                </a:moveTo>
                <a:lnTo>
                  <a:pt x="50730" y="228283"/>
                </a:lnTo>
                <a:lnTo>
                  <a:pt x="50730" y="236738"/>
                </a:lnTo>
                <a:cubicBezTo>
                  <a:pt x="50730" y="260095"/>
                  <a:pt x="69647" y="279012"/>
                  <a:pt x="93004" y="279012"/>
                </a:cubicBezTo>
                <a:lnTo>
                  <a:pt x="109914" y="279012"/>
                </a:lnTo>
                <a:cubicBezTo>
                  <a:pt x="133271" y="279012"/>
                  <a:pt x="152189" y="260095"/>
                  <a:pt x="152189" y="236738"/>
                </a:cubicBezTo>
                <a:lnTo>
                  <a:pt x="152189" y="228283"/>
                </a:lnTo>
                <a:close/>
                <a:moveTo>
                  <a:pt x="97232" y="59184"/>
                </a:moveTo>
                <a:cubicBezTo>
                  <a:pt x="76200" y="59184"/>
                  <a:pt x="59184" y="76200"/>
                  <a:pt x="59184" y="97232"/>
                </a:cubicBezTo>
                <a:cubicBezTo>
                  <a:pt x="59184" y="104260"/>
                  <a:pt x="53530" y="109914"/>
                  <a:pt x="46502" y="109914"/>
                </a:cubicBezTo>
                <a:cubicBezTo>
                  <a:pt x="39474" y="109914"/>
                  <a:pt x="33820" y="104260"/>
                  <a:pt x="33820" y="97232"/>
                </a:cubicBezTo>
                <a:cubicBezTo>
                  <a:pt x="33820" y="62197"/>
                  <a:pt x="62197" y="33820"/>
                  <a:pt x="97232" y="33820"/>
                </a:cubicBezTo>
                <a:cubicBezTo>
                  <a:pt x="104260" y="33820"/>
                  <a:pt x="109914" y="39474"/>
                  <a:pt x="109914" y="46502"/>
                </a:cubicBezTo>
                <a:cubicBezTo>
                  <a:pt x="109914" y="53530"/>
                  <a:pt x="104260" y="59184"/>
                  <a:pt x="97232" y="59184"/>
                </a:cubicBezTo>
                <a:close/>
              </a:path>
            </a:pathLst>
          </a:custGeom>
          <a:solidFill>
            <a:srgbClr val="D69E2E"/>
          </a:solidFill>
          <a:ln/>
        </p:spPr>
        <p:txBody>
          <a:bodyPr/>
          <a:lstStyle/>
          <a:p>
            <a:endParaRPr lang="zh-CN" altLang="en-US"/>
          </a:p>
        </p:txBody>
      </p:sp>
      <p:sp>
        <p:nvSpPr>
          <p:cNvPr id="20" name="Text 17"/>
          <p:cNvSpPr/>
          <p:nvPr/>
        </p:nvSpPr>
        <p:spPr>
          <a:xfrm>
            <a:off x="1217509" y="7161320"/>
            <a:ext cx="9108771" cy="315650"/>
          </a:xfrm>
          <a:prstGeom prst="rect">
            <a:avLst/>
          </a:prstGeom>
          <a:noFill/>
          <a:ln/>
        </p:spPr>
        <p:txBody>
          <a:bodyPr wrap="square" lIns="0" tIns="0" rIns="0" bIns="0" rtlCol="0" anchor="ctr"/>
          <a:lstStyle/>
          <a:p>
            <a:pPr>
              <a:lnSpc>
                <a:spcPct val="130000"/>
              </a:lnSpc>
            </a:pPr>
            <a:r>
              <a:rPr lang="en-US" sz="1598" b="1" dirty="0">
                <a:solidFill>
                  <a:srgbClr val="E2E8F0"/>
                </a:solidFill>
                <a:latin typeface="MiSans" pitchFamily="34" charset="0"/>
                <a:ea typeface="MiSans" pitchFamily="34" charset="-122"/>
                <a:cs typeface="MiSans" pitchFamily="34" charset="-120"/>
              </a:rPr>
              <a:t>性能优化建议</a:t>
            </a:r>
            <a:endParaRPr lang="en-US" sz="1600" dirty="0"/>
          </a:p>
        </p:txBody>
      </p:sp>
      <p:sp>
        <p:nvSpPr>
          <p:cNvPr id="5" name="Shape 18"/>
          <p:cNvSpPr/>
          <p:nvPr/>
        </p:nvSpPr>
        <p:spPr>
          <a:xfrm>
            <a:off x="1251329" y="7617886"/>
            <a:ext cx="157825" cy="180372"/>
          </a:xfrm>
          <a:custGeom>
            <a:avLst/>
            <a:gdLst/>
            <a:ahLst/>
            <a:cxnLst/>
            <a:rect l="l" t="t" r="r" b="b"/>
            <a:pathLst>
              <a:path w="157825" h="180372">
                <a:moveTo>
                  <a:pt x="153175" y="24695"/>
                </a:moveTo>
                <a:cubicBezTo>
                  <a:pt x="158213" y="28359"/>
                  <a:pt x="159340" y="35405"/>
                  <a:pt x="155676" y="40443"/>
                </a:cubicBezTo>
                <a:lnTo>
                  <a:pt x="65490" y="164448"/>
                </a:lnTo>
                <a:cubicBezTo>
                  <a:pt x="63553" y="167126"/>
                  <a:pt x="60558" y="168781"/>
                  <a:pt x="57247" y="169063"/>
                </a:cubicBezTo>
                <a:cubicBezTo>
                  <a:pt x="53935" y="169345"/>
                  <a:pt x="50730" y="168112"/>
                  <a:pt x="48404" y="165787"/>
                </a:cubicBezTo>
                <a:lnTo>
                  <a:pt x="3312" y="120694"/>
                </a:lnTo>
                <a:cubicBezTo>
                  <a:pt x="-1092" y="116290"/>
                  <a:pt x="-1092" y="109139"/>
                  <a:pt x="3312" y="104735"/>
                </a:cubicBezTo>
                <a:cubicBezTo>
                  <a:pt x="7715" y="100332"/>
                  <a:pt x="14867" y="100332"/>
                  <a:pt x="19270" y="104735"/>
                </a:cubicBezTo>
                <a:lnTo>
                  <a:pt x="55027" y="140493"/>
                </a:lnTo>
                <a:lnTo>
                  <a:pt x="137463" y="27161"/>
                </a:lnTo>
                <a:cubicBezTo>
                  <a:pt x="141127" y="22124"/>
                  <a:pt x="148173" y="20996"/>
                  <a:pt x="153210" y="24660"/>
                </a:cubicBezTo>
                <a:close/>
              </a:path>
            </a:pathLst>
          </a:custGeom>
          <a:solidFill>
            <a:srgbClr val="D69E2E"/>
          </a:solidFill>
          <a:ln/>
        </p:spPr>
        <p:txBody>
          <a:bodyPr/>
          <a:lstStyle/>
          <a:p>
            <a:endParaRPr lang="zh-CN" altLang="en-US"/>
          </a:p>
        </p:txBody>
      </p:sp>
      <p:sp>
        <p:nvSpPr>
          <p:cNvPr id="22" name="Text 19"/>
          <p:cNvSpPr/>
          <p:nvPr/>
        </p:nvSpPr>
        <p:spPr>
          <a:xfrm>
            <a:off x="1523028" y="7567157"/>
            <a:ext cx="4192501" cy="270558"/>
          </a:xfrm>
          <a:prstGeom prst="rect">
            <a:avLst/>
          </a:prstGeom>
          <a:noFill/>
          <a:ln/>
        </p:spPr>
        <p:txBody>
          <a:bodyPr wrap="square" lIns="0" tIns="0" rIns="0" bIns="0" rtlCol="0" anchor="ctr"/>
          <a:lstStyle/>
          <a:p>
            <a:pPr>
              <a:lnSpc>
                <a:spcPct val="130000"/>
              </a:lnSpc>
            </a:pPr>
            <a:r>
              <a:rPr lang="en-US" sz="1420" dirty="0">
                <a:solidFill>
                  <a:srgbClr val="A0AEC0"/>
                </a:solidFill>
                <a:latin typeface="MiSans" pitchFamily="34" charset="0"/>
                <a:ea typeface="MiSans" pitchFamily="34" charset="-122"/>
                <a:cs typeface="MiSans" pitchFamily="34" charset="-120"/>
              </a:rPr>
              <a:t>为频繁查询的表(TBLS、PARTITIONS)建立合适索引</a:t>
            </a:r>
            <a:endParaRPr lang="en-US" sz="1600" dirty="0"/>
          </a:p>
        </p:txBody>
      </p:sp>
      <p:sp>
        <p:nvSpPr>
          <p:cNvPr id="23" name="Shape 20"/>
          <p:cNvSpPr/>
          <p:nvPr/>
        </p:nvSpPr>
        <p:spPr>
          <a:xfrm>
            <a:off x="1251329" y="7888444"/>
            <a:ext cx="157825" cy="180372"/>
          </a:xfrm>
          <a:custGeom>
            <a:avLst/>
            <a:gdLst/>
            <a:ahLst/>
            <a:cxnLst/>
            <a:rect l="l" t="t" r="r" b="b"/>
            <a:pathLst>
              <a:path w="157825" h="180372">
                <a:moveTo>
                  <a:pt x="153175" y="24695"/>
                </a:moveTo>
                <a:cubicBezTo>
                  <a:pt x="158213" y="28359"/>
                  <a:pt x="159340" y="35405"/>
                  <a:pt x="155676" y="40443"/>
                </a:cubicBezTo>
                <a:lnTo>
                  <a:pt x="65490" y="164448"/>
                </a:lnTo>
                <a:cubicBezTo>
                  <a:pt x="63553" y="167126"/>
                  <a:pt x="60558" y="168781"/>
                  <a:pt x="57247" y="169063"/>
                </a:cubicBezTo>
                <a:cubicBezTo>
                  <a:pt x="53935" y="169345"/>
                  <a:pt x="50730" y="168112"/>
                  <a:pt x="48404" y="165787"/>
                </a:cubicBezTo>
                <a:lnTo>
                  <a:pt x="3312" y="120694"/>
                </a:lnTo>
                <a:cubicBezTo>
                  <a:pt x="-1092" y="116290"/>
                  <a:pt x="-1092" y="109139"/>
                  <a:pt x="3312" y="104735"/>
                </a:cubicBezTo>
                <a:cubicBezTo>
                  <a:pt x="7715" y="100332"/>
                  <a:pt x="14867" y="100332"/>
                  <a:pt x="19270" y="104735"/>
                </a:cubicBezTo>
                <a:lnTo>
                  <a:pt x="55027" y="140493"/>
                </a:lnTo>
                <a:lnTo>
                  <a:pt x="137463" y="27161"/>
                </a:lnTo>
                <a:cubicBezTo>
                  <a:pt x="141127" y="22124"/>
                  <a:pt x="148173" y="20996"/>
                  <a:pt x="153210" y="24660"/>
                </a:cubicBezTo>
                <a:close/>
              </a:path>
            </a:pathLst>
          </a:custGeom>
          <a:solidFill>
            <a:srgbClr val="D69E2E"/>
          </a:solidFill>
          <a:ln/>
        </p:spPr>
        <p:txBody>
          <a:bodyPr/>
          <a:lstStyle/>
          <a:p>
            <a:endParaRPr lang="zh-CN" altLang="en-US"/>
          </a:p>
        </p:txBody>
      </p:sp>
      <p:sp>
        <p:nvSpPr>
          <p:cNvPr id="24" name="Text 21"/>
          <p:cNvSpPr/>
          <p:nvPr/>
        </p:nvSpPr>
        <p:spPr>
          <a:xfrm>
            <a:off x="1523028" y="7837714"/>
            <a:ext cx="4192501" cy="270558"/>
          </a:xfrm>
          <a:prstGeom prst="rect">
            <a:avLst/>
          </a:prstGeom>
          <a:noFill/>
          <a:ln/>
        </p:spPr>
        <p:txBody>
          <a:bodyPr wrap="square" lIns="0" tIns="0" rIns="0" bIns="0" rtlCol="0" anchor="ctr"/>
          <a:lstStyle/>
          <a:p>
            <a:pPr>
              <a:lnSpc>
                <a:spcPct val="130000"/>
              </a:lnSpc>
            </a:pPr>
            <a:r>
              <a:rPr lang="en-US" sz="1420" dirty="0">
                <a:solidFill>
                  <a:srgbClr val="A0AEC0"/>
                </a:solidFill>
                <a:latin typeface="MiSans" pitchFamily="34" charset="0"/>
                <a:ea typeface="MiSans" pitchFamily="34" charset="-122"/>
                <a:cs typeface="MiSans" pitchFamily="34" charset="-120"/>
              </a:rPr>
              <a:t>配置数据库连接池大小(建议20-50个连接)</a:t>
            </a:r>
            <a:endParaRPr lang="en-US" sz="1600" dirty="0"/>
          </a:p>
        </p:txBody>
      </p:sp>
      <p:sp>
        <p:nvSpPr>
          <p:cNvPr id="25" name="Shape 22"/>
          <p:cNvSpPr/>
          <p:nvPr/>
        </p:nvSpPr>
        <p:spPr>
          <a:xfrm>
            <a:off x="5844730" y="7617886"/>
            <a:ext cx="157825" cy="180372"/>
          </a:xfrm>
          <a:custGeom>
            <a:avLst/>
            <a:gdLst/>
            <a:ahLst/>
            <a:cxnLst/>
            <a:rect l="l" t="t" r="r" b="b"/>
            <a:pathLst>
              <a:path w="157825" h="180372">
                <a:moveTo>
                  <a:pt x="153175" y="24695"/>
                </a:moveTo>
                <a:cubicBezTo>
                  <a:pt x="158213" y="28359"/>
                  <a:pt x="159340" y="35405"/>
                  <a:pt x="155676" y="40443"/>
                </a:cubicBezTo>
                <a:lnTo>
                  <a:pt x="65490" y="164448"/>
                </a:lnTo>
                <a:cubicBezTo>
                  <a:pt x="63553" y="167126"/>
                  <a:pt x="60558" y="168781"/>
                  <a:pt x="57247" y="169063"/>
                </a:cubicBezTo>
                <a:cubicBezTo>
                  <a:pt x="53935" y="169345"/>
                  <a:pt x="50730" y="168112"/>
                  <a:pt x="48404" y="165787"/>
                </a:cubicBezTo>
                <a:lnTo>
                  <a:pt x="3312" y="120694"/>
                </a:lnTo>
                <a:cubicBezTo>
                  <a:pt x="-1092" y="116290"/>
                  <a:pt x="-1092" y="109139"/>
                  <a:pt x="3312" y="104735"/>
                </a:cubicBezTo>
                <a:cubicBezTo>
                  <a:pt x="7715" y="100332"/>
                  <a:pt x="14867" y="100332"/>
                  <a:pt x="19270" y="104735"/>
                </a:cubicBezTo>
                <a:lnTo>
                  <a:pt x="55027" y="140493"/>
                </a:lnTo>
                <a:lnTo>
                  <a:pt x="137463" y="27161"/>
                </a:lnTo>
                <a:cubicBezTo>
                  <a:pt x="141127" y="22124"/>
                  <a:pt x="148173" y="20996"/>
                  <a:pt x="153210" y="24660"/>
                </a:cubicBezTo>
                <a:close/>
              </a:path>
            </a:pathLst>
          </a:custGeom>
          <a:solidFill>
            <a:srgbClr val="D69E2E"/>
          </a:solidFill>
          <a:ln/>
        </p:spPr>
        <p:txBody>
          <a:bodyPr/>
          <a:lstStyle/>
          <a:p>
            <a:endParaRPr lang="zh-CN" altLang="en-US"/>
          </a:p>
        </p:txBody>
      </p:sp>
      <p:sp>
        <p:nvSpPr>
          <p:cNvPr id="26" name="Text 23"/>
          <p:cNvSpPr/>
          <p:nvPr/>
        </p:nvSpPr>
        <p:spPr>
          <a:xfrm>
            <a:off x="6116429" y="7567157"/>
            <a:ext cx="4192501" cy="270558"/>
          </a:xfrm>
          <a:prstGeom prst="rect">
            <a:avLst/>
          </a:prstGeom>
          <a:noFill/>
          <a:ln/>
        </p:spPr>
        <p:txBody>
          <a:bodyPr wrap="square" lIns="0" tIns="0" rIns="0" bIns="0" rtlCol="0" anchor="ctr"/>
          <a:lstStyle/>
          <a:p>
            <a:pPr>
              <a:lnSpc>
                <a:spcPct val="130000"/>
              </a:lnSpc>
            </a:pPr>
            <a:r>
              <a:rPr lang="en-US" sz="1420" dirty="0">
                <a:solidFill>
                  <a:srgbClr val="A0AEC0"/>
                </a:solidFill>
                <a:latin typeface="MiSans" pitchFamily="34" charset="0"/>
                <a:ea typeface="MiSans" pitchFamily="34" charset="-122"/>
                <a:cs typeface="MiSans" pitchFamily="34" charset="-120"/>
              </a:rPr>
              <a:t>定期清理历史元数据(如过期分区信息)</a:t>
            </a:r>
            <a:endParaRPr lang="en-US" sz="1600" dirty="0"/>
          </a:p>
        </p:txBody>
      </p:sp>
      <p:sp>
        <p:nvSpPr>
          <p:cNvPr id="27" name="Shape 24"/>
          <p:cNvSpPr/>
          <p:nvPr/>
        </p:nvSpPr>
        <p:spPr>
          <a:xfrm>
            <a:off x="5844730" y="7888444"/>
            <a:ext cx="157825" cy="180372"/>
          </a:xfrm>
          <a:custGeom>
            <a:avLst/>
            <a:gdLst/>
            <a:ahLst/>
            <a:cxnLst/>
            <a:rect l="l" t="t" r="r" b="b"/>
            <a:pathLst>
              <a:path w="157825" h="180372">
                <a:moveTo>
                  <a:pt x="153175" y="24695"/>
                </a:moveTo>
                <a:cubicBezTo>
                  <a:pt x="158213" y="28359"/>
                  <a:pt x="159340" y="35405"/>
                  <a:pt x="155676" y="40443"/>
                </a:cubicBezTo>
                <a:lnTo>
                  <a:pt x="65490" y="164448"/>
                </a:lnTo>
                <a:cubicBezTo>
                  <a:pt x="63553" y="167126"/>
                  <a:pt x="60558" y="168781"/>
                  <a:pt x="57247" y="169063"/>
                </a:cubicBezTo>
                <a:cubicBezTo>
                  <a:pt x="53935" y="169345"/>
                  <a:pt x="50730" y="168112"/>
                  <a:pt x="48404" y="165787"/>
                </a:cubicBezTo>
                <a:lnTo>
                  <a:pt x="3312" y="120694"/>
                </a:lnTo>
                <a:cubicBezTo>
                  <a:pt x="-1092" y="116290"/>
                  <a:pt x="-1092" y="109139"/>
                  <a:pt x="3312" y="104735"/>
                </a:cubicBezTo>
                <a:cubicBezTo>
                  <a:pt x="7715" y="100332"/>
                  <a:pt x="14867" y="100332"/>
                  <a:pt x="19270" y="104735"/>
                </a:cubicBezTo>
                <a:lnTo>
                  <a:pt x="55027" y="140493"/>
                </a:lnTo>
                <a:lnTo>
                  <a:pt x="137463" y="27161"/>
                </a:lnTo>
                <a:cubicBezTo>
                  <a:pt x="141127" y="22124"/>
                  <a:pt x="148173" y="20996"/>
                  <a:pt x="153210" y="24660"/>
                </a:cubicBezTo>
                <a:close/>
              </a:path>
            </a:pathLst>
          </a:custGeom>
          <a:solidFill>
            <a:srgbClr val="D69E2E"/>
          </a:solidFill>
          <a:ln/>
        </p:spPr>
        <p:txBody>
          <a:bodyPr/>
          <a:lstStyle/>
          <a:p>
            <a:endParaRPr lang="zh-CN" altLang="en-US"/>
          </a:p>
        </p:txBody>
      </p:sp>
      <p:sp>
        <p:nvSpPr>
          <p:cNvPr id="28" name="Text 25"/>
          <p:cNvSpPr/>
          <p:nvPr/>
        </p:nvSpPr>
        <p:spPr>
          <a:xfrm>
            <a:off x="6116429" y="7837714"/>
            <a:ext cx="4192501" cy="270558"/>
          </a:xfrm>
          <a:prstGeom prst="rect">
            <a:avLst/>
          </a:prstGeom>
          <a:noFill/>
          <a:ln/>
        </p:spPr>
        <p:txBody>
          <a:bodyPr wrap="square" lIns="0" tIns="0" rIns="0" bIns="0" rtlCol="0" anchor="ctr"/>
          <a:lstStyle/>
          <a:p>
            <a:pPr>
              <a:lnSpc>
                <a:spcPct val="130000"/>
              </a:lnSpc>
            </a:pPr>
            <a:r>
              <a:rPr lang="en-US" sz="1420" dirty="0">
                <a:solidFill>
                  <a:srgbClr val="A0AEC0"/>
                </a:solidFill>
                <a:latin typeface="MiSans" pitchFamily="34" charset="0"/>
                <a:ea typeface="MiSans" pitchFamily="34" charset="-122"/>
                <a:cs typeface="MiSans" pitchFamily="34" charset="-120"/>
              </a:rPr>
              <a:t>启用数据库查询缓存</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202C"/>
        </a:solidFill>
        <a:effectLst/>
      </p:bgPr>
    </p:bg>
    <p:spTree>
      <p:nvGrpSpPr>
        <p:cNvPr id="1" name=""/>
        <p:cNvGrpSpPr/>
        <p:nvPr/>
      </p:nvGrpSpPr>
      <p:grpSpPr>
        <a:xfrm>
          <a:off x="0" y="0"/>
          <a:ext cx="0" cy="0"/>
          <a:chOff x="0" y="0"/>
          <a:chExt cx="0" cy="0"/>
        </a:xfrm>
      </p:grpSpPr>
      <p:pic>
        <p:nvPicPr>
          <p:cNvPr id="2" name="Image 0" descr="https://kimi-web-img.moonshot.cn/img/hypergts.com/0468209185d000c1926ea17be3b192c64ee15857.png"/>
          <p:cNvPicPr>
            <a:picLocks noChangeAspect="1"/>
          </p:cNvPicPr>
          <p:nvPr/>
        </p:nvPicPr>
        <p:blipFill>
          <a:blip r:embed="rId3">
            <a:alphaModFix amt="30000"/>
          </a:blip>
          <a:srcRect t="21834" b="21834"/>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flip="none" rotWithShape="1">
            <a:gsLst>
              <a:gs pos="0">
                <a:srgbClr val="1A202C"/>
              </a:gs>
              <a:gs pos="50000">
                <a:srgbClr val="1A202C">
                  <a:alpha val="90000"/>
                </a:srgbClr>
              </a:gs>
              <a:gs pos="100000">
                <a:srgbClr val="000000">
                  <a:alpha val="0"/>
                </a:srgbClr>
              </a:gs>
            </a:gsLst>
            <a:lin ang="0" scaled="1"/>
          </a:gradFill>
          <a:ln/>
        </p:spPr>
        <p:txBody>
          <a:bodyPr/>
          <a:lstStyle/>
          <a:p>
            <a:endParaRPr lang="zh-CN" altLang="en-US"/>
          </a:p>
        </p:txBody>
      </p:sp>
      <p:sp>
        <p:nvSpPr>
          <p:cNvPr id="4" name="Shape 1"/>
          <p:cNvSpPr/>
          <p:nvPr/>
        </p:nvSpPr>
        <p:spPr>
          <a:xfrm>
            <a:off x="508000" y="1806575"/>
            <a:ext cx="2578100" cy="711200"/>
          </a:xfrm>
          <a:custGeom>
            <a:avLst/>
            <a:gdLst/>
            <a:ahLst/>
            <a:cxnLst/>
            <a:rect l="l" t="t" r="r" b="b"/>
            <a:pathLst>
              <a:path w="2578100" h="711200">
                <a:moveTo>
                  <a:pt x="101602" y="0"/>
                </a:moveTo>
                <a:lnTo>
                  <a:pt x="2476498" y="0"/>
                </a:lnTo>
                <a:cubicBezTo>
                  <a:pt x="2532611" y="0"/>
                  <a:pt x="2578100" y="45489"/>
                  <a:pt x="2578100" y="101602"/>
                </a:cubicBezTo>
                <a:lnTo>
                  <a:pt x="2578100" y="609598"/>
                </a:lnTo>
                <a:cubicBezTo>
                  <a:pt x="2578100" y="665711"/>
                  <a:pt x="2532611" y="711200"/>
                  <a:pt x="2476498" y="711200"/>
                </a:cubicBezTo>
                <a:lnTo>
                  <a:pt x="101602" y="711200"/>
                </a:lnTo>
                <a:cubicBezTo>
                  <a:pt x="45489" y="711200"/>
                  <a:pt x="0" y="665711"/>
                  <a:pt x="0" y="609598"/>
                </a:cubicBezTo>
                <a:lnTo>
                  <a:pt x="0" y="101602"/>
                </a:lnTo>
                <a:cubicBezTo>
                  <a:pt x="0" y="45526"/>
                  <a:pt x="45526" y="0"/>
                  <a:pt x="101602" y="0"/>
                </a:cubicBezTo>
                <a:close/>
              </a:path>
            </a:pathLst>
          </a:custGeom>
          <a:solidFill>
            <a:srgbClr val="D69E2E"/>
          </a:solidFill>
          <a:ln/>
        </p:spPr>
        <p:txBody>
          <a:bodyPr/>
          <a:lstStyle/>
          <a:p>
            <a:endParaRPr lang="zh-CN" altLang="en-US"/>
          </a:p>
        </p:txBody>
      </p:sp>
      <p:sp>
        <p:nvSpPr>
          <p:cNvPr id="5" name="Text 2"/>
          <p:cNvSpPr/>
          <p:nvPr/>
        </p:nvSpPr>
        <p:spPr>
          <a:xfrm>
            <a:off x="812800" y="1958975"/>
            <a:ext cx="2120900" cy="406400"/>
          </a:xfrm>
          <a:prstGeom prst="rect">
            <a:avLst/>
          </a:prstGeom>
          <a:noFill/>
          <a:ln/>
        </p:spPr>
        <p:txBody>
          <a:bodyPr wrap="square" lIns="0" tIns="0" rIns="0" bIns="0" rtlCol="0" anchor="ctr"/>
          <a:lstStyle/>
          <a:p>
            <a:pPr>
              <a:lnSpc>
                <a:spcPct val="110000"/>
              </a:lnSpc>
            </a:pPr>
            <a:r>
              <a:rPr lang="en-US" sz="2400" b="1" kern="0" spc="120" dirty="0">
                <a:solidFill>
                  <a:srgbClr val="1A202C"/>
                </a:solidFill>
                <a:latin typeface="Liter" pitchFamily="34" charset="0"/>
                <a:ea typeface="Liter" pitchFamily="34" charset="-122"/>
                <a:cs typeface="Liter" pitchFamily="34" charset="-120"/>
              </a:rPr>
              <a:t>CHAPTER 03</a:t>
            </a:r>
            <a:endParaRPr lang="en-US" sz="1600" dirty="0"/>
          </a:p>
        </p:txBody>
      </p:sp>
      <p:sp>
        <p:nvSpPr>
          <p:cNvPr id="6" name="Text 3"/>
          <p:cNvSpPr/>
          <p:nvPr/>
        </p:nvSpPr>
        <p:spPr>
          <a:xfrm>
            <a:off x="508000" y="2924175"/>
            <a:ext cx="5410200" cy="2286000"/>
          </a:xfrm>
          <a:prstGeom prst="rect">
            <a:avLst/>
          </a:prstGeom>
          <a:noFill/>
          <a:ln/>
        </p:spPr>
        <p:txBody>
          <a:bodyPr wrap="square" lIns="0" tIns="0" rIns="0" bIns="0" rtlCol="0" anchor="ctr"/>
          <a:lstStyle/>
          <a:p>
            <a:pPr>
              <a:lnSpc>
                <a:spcPct val="100000"/>
              </a:lnSpc>
            </a:pPr>
            <a:r>
              <a:rPr lang="en-US" sz="7200" b="1" dirty="0">
                <a:solidFill>
                  <a:srgbClr val="E2E8F0"/>
                </a:solidFill>
                <a:latin typeface="Noto Sans SC" pitchFamily="34" charset="0"/>
                <a:ea typeface="Noto Sans SC" pitchFamily="34" charset="-122"/>
                <a:cs typeface="Noto Sans SC" pitchFamily="34" charset="-120"/>
              </a:rPr>
              <a:t>查询优化与</a:t>
            </a:r>
            <a:endParaRPr lang="en-US" sz="1600" dirty="0"/>
          </a:p>
          <a:p>
            <a:pPr>
              <a:lnSpc>
                <a:spcPct val="100000"/>
              </a:lnSpc>
            </a:pPr>
            <a:r>
              <a:rPr lang="en-US" sz="7200" b="1" dirty="0">
                <a:solidFill>
                  <a:srgbClr val="E2E8F0"/>
                </a:solidFill>
                <a:latin typeface="Noto Sans SC" pitchFamily="34" charset="0"/>
                <a:ea typeface="Noto Sans SC" pitchFamily="34" charset="-122"/>
                <a:cs typeface="Noto Sans SC" pitchFamily="34" charset="-120"/>
              </a:rPr>
              <a:t>执行引擎</a:t>
            </a:r>
            <a:endParaRPr lang="en-US" sz="1600" dirty="0"/>
          </a:p>
        </p:txBody>
      </p:sp>
      <p:sp>
        <p:nvSpPr>
          <p:cNvPr id="7" name="Shape 4"/>
          <p:cNvSpPr/>
          <p:nvPr/>
        </p:nvSpPr>
        <p:spPr>
          <a:xfrm>
            <a:off x="508000" y="5616575"/>
            <a:ext cx="2032000" cy="76200"/>
          </a:xfrm>
          <a:custGeom>
            <a:avLst/>
            <a:gdLst/>
            <a:ahLst/>
            <a:cxnLst/>
            <a:rect l="l" t="t" r="r" b="b"/>
            <a:pathLst>
              <a:path w="2032000" h="76200">
                <a:moveTo>
                  <a:pt x="0" y="0"/>
                </a:moveTo>
                <a:lnTo>
                  <a:pt x="2032000" y="0"/>
                </a:lnTo>
                <a:lnTo>
                  <a:pt x="2032000" y="76200"/>
                </a:lnTo>
                <a:lnTo>
                  <a:pt x="0" y="76200"/>
                </a:lnTo>
                <a:lnTo>
                  <a:pt x="0" y="0"/>
                </a:lnTo>
                <a:close/>
              </a:path>
            </a:pathLst>
          </a:custGeom>
          <a:solidFill>
            <a:srgbClr val="D69E2E"/>
          </a:solidFill>
          <a:ln/>
        </p:spPr>
        <p:txBody>
          <a:bodyPr/>
          <a:lstStyle/>
          <a:p>
            <a:endParaRPr lang="zh-CN" altLang="en-US"/>
          </a:p>
        </p:txBody>
      </p:sp>
      <p:sp>
        <p:nvSpPr>
          <p:cNvPr id="8" name="Text 5"/>
          <p:cNvSpPr/>
          <p:nvPr/>
        </p:nvSpPr>
        <p:spPr>
          <a:xfrm>
            <a:off x="508000" y="6099175"/>
            <a:ext cx="5143500" cy="1244600"/>
          </a:xfrm>
          <a:prstGeom prst="rect">
            <a:avLst/>
          </a:prstGeom>
          <a:noFill/>
          <a:ln/>
        </p:spPr>
        <p:txBody>
          <a:bodyPr wrap="square" lIns="0" tIns="0" rIns="0" bIns="0" rtlCol="0" anchor="ctr"/>
          <a:lstStyle/>
          <a:p>
            <a:pPr>
              <a:lnSpc>
                <a:spcPct val="140000"/>
              </a:lnSpc>
            </a:pPr>
            <a:r>
              <a:rPr lang="en-US" sz="3000" dirty="0">
                <a:solidFill>
                  <a:srgbClr val="A0AEC0"/>
                </a:solidFill>
                <a:latin typeface="MiSans" pitchFamily="34" charset="0"/>
                <a:ea typeface="MiSans" pitchFamily="34" charset="-122"/>
                <a:cs typeface="MiSans" pitchFamily="34" charset="-120"/>
              </a:rPr>
              <a:t>掌握Hive查询编译优化技术和</a:t>
            </a:r>
            <a:endParaRPr lang="en-US" sz="1600" dirty="0"/>
          </a:p>
          <a:p>
            <a:pPr>
              <a:lnSpc>
                <a:spcPct val="140000"/>
              </a:lnSpc>
            </a:pPr>
            <a:r>
              <a:rPr lang="en-US" sz="3000" dirty="0">
                <a:solidFill>
                  <a:srgbClr val="A0AEC0"/>
                </a:solidFill>
                <a:latin typeface="MiSans" pitchFamily="34" charset="0"/>
                <a:ea typeface="MiSans" pitchFamily="34" charset="-122"/>
                <a:cs typeface="MiSans" pitchFamily="34" charset="-120"/>
              </a:rPr>
              <a:t>多执行引擎选择策略</a:t>
            </a:r>
            <a:endParaRPr lang="en-US" sz="160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36989" y="436989"/>
            <a:ext cx="15644215" cy="524387"/>
          </a:xfrm>
          <a:prstGeom prst="rect">
            <a:avLst/>
          </a:prstGeom>
          <a:noFill/>
          <a:ln/>
        </p:spPr>
        <p:txBody>
          <a:bodyPr wrap="square" lIns="0" tIns="0" rIns="0" bIns="0" rtlCol="0" anchor="ctr"/>
          <a:lstStyle/>
          <a:p>
            <a:pPr>
              <a:lnSpc>
                <a:spcPct val="80000"/>
              </a:lnSpc>
            </a:pPr>
            <a:r>
              <a:rPr lang="en-US" sz="4129" b="1" dirty="0">
                <a:solidFill>
                  <a:srgbClr val="E2E8F0"/>
                </a:solidFill>
                <a:latin typeface="Noto Sans SC" pitchFamily="34" charset="0"/>
                <a:ea typeface="Noto Sans SC" pitchFamily="34" charset="-122"/>
                <a:cs typeface="Noto Sans SC" pitchFamily="34" charset="-120"/>
              </a:rPr>
              <a:t>查询优化器核心策略</a:t>
            </a:r>
            <a:endParaRPr lang="en-US" sz="1600" dirty="0"/>
          </a:p>
        </p:txBody>
      </p:sp>
      <p:sp>
        <p:nvSpPr>
          <p:cNvPr id="3" name="Shape 1"/>
          <p:cNvSpPr/>
          <p:nvPr/>
        </p:nvSpPr>
        <p:spPr>
          <a:xfrm>
            <a:off x="436989" y="1092473"/>
            <a:ext cx="1223570" cy="43699"/>
          </a:xfrm>
          <a:custGeom>
            <a:avLst/>
            <a:gdLst/>
            <a:ahLst/>
            <a:cxnLst/>
            <a:rect l="l" t="t" r="r" b="b"/>
            <a:pathLst>
              <a:path w="1223570" h="43699">
                <a:moveTo>
                  <a:pt x="0" y="0"/>
                </a:moveTo>
                <a:lnTo>
                  <a:pt x="1223570" y="0"/>
                </a:lnTo>
                <a:lnTo>
                  <a:pt x="1223570" y="43699"/>
                </a:lnTo>
                <a:lnTo>
                  <a:pt x="0" y="43699"/>
                </a:lnTo>
                <a:lnTo>
                  <a:pt x="0" y="0"/>
                </a:lnTo>
                <a:close/>
              </a:path>
            </a:pathLst>
          </a:custGeom>
          <a:solidFill>
            <a:srgbClr val="D69E2E"/>
          </a:solidFill>
          <a:ln/>
        </p:spPr>
        <p:txBody>
          <a:bodyPr/>
          <a:lstStyle/>
          <a:p>
            <a:endParaRPr lang="zh-CN" altLang="en-US"/>
          </a:p>
        </p:txBody>
      </p:sp>
      <p:sp>
        <p:nvSpPr>
          <p:cNvPr id="4" name="Text 2"/>
          <p:cNvSpPr/>
          <p:nvPr/>
        </p:nvSpPr>
        <p:spPr>
          <a:xfrm>
            <a:off x="436989" y="1485763"/>
            <a:ext cx="15480344" cy="316817"/>
          </a:xfrm>
          <a:prstGeom prst="rect">
            <a:avLst/>
          </a:prstGeom>
          <a:noFill/>
          <a:ln/>
        </p:spPr>
        <p:txBody>
          <a:bodyPr wrap="square" lIns="0" tIns="0" rIns="0" bIns="0" rtlCol="0" anchor="ctr"/>
          <a:lstStyle/>
          <a:p>
            <a:pPr>
              <a:lnSpc>
                <a:spcPct val="140000"/>
              </a:lnSpc>
            </a:pPr>
            <a:r>
              <a:rPr lang="en-US" sz="1548" dirty="0">
                <a:solidFill>
                  <a:srgbClr val="A0AEC0"/>
                </a:solidFill>
                <a:latin typeface="MiSans" pitchFamily="34" charset="0"/>
                <a:ea typeface="MiSans" pitchFamily="34" charset="-122"/>
                <a:cs typeface="MiSans" pitchFamily="34" charset="-120"/>
              </a:rPr>
              <a:t>Hive查询优化器采用多阶段的优化架构，</a:t>
            </a:r>
            <a:r>
              <a:rPr lang="en-US" sz="1548" b="1" dirty="0">
                <a:solidFill>
                  <a:srgbClr val="E2E8F0"/>
                </a:solidFill>
                <a:latin typeface="MiSans" pitchFamily="34" charset="0"/>
                <a:ea typeface="MiSans" pitchFamily="34" charset="-122"/>
                <a:cs typeface="MiSans" pitchFamily="34" charset="-120"/>
              </a:rPr>
              <a:t>通过一系列优化技术显著提升查询性能</a:t>
            </a:r>
            <a:r>
              <a:rPr lang="en-US" sz="1548" dirty="0">
                <a:solidFill>
                  <a:srgbClr val="A0AEC0"/>
                </a:solidFill>
                <a:latin typeface="MiSans" pitchFamily="34" charset="0"/>
                <a:ea typeface="MiSans" pitchFamily="34" charset="-122"/>
                <a:cs typeface="MiSans" pitchFamily="34" charset="-120"/>
              </a:rPr>
              <a:t>。其优化策略包含基于规则的优化和基于成本的优化两大类别。</a:t>
            </a:r>
            <a:endParaRPr lang="en-US" sz="1600" dirty="0"/>
          </a:p>
        </p:txBody>
      </p:sp>
      <p:sp>
        <p:nvSpPr>
          <p:cNvPr id="5" name="Text 3"/>
          <p:cNvSpPr/>
          <p:nvPr/>
        </p:nvSpPr>
        <p:spPr>
          <a:xfrm>
            <a:off x="436989" y="2154903"/>
            <a:ext cx="7647312" cy="349591"/>
          </a:xfrm>
          <a:prstGeom prst="rect">
            <a:avLst/>
          </a:prstGeom>
          <a:noFill/>
          <a:ln/>
        </p:spPr>
        <p:txBody>
          <a:bodyPr wrap="square" lIns="0" tIns="0" rIns="0" bIns="0" rtlCol="0" anchor="ctr"/>
          <a:lstStyle/>
          <a:p>
            <a:pPr>
              <a:lnSpc>
                <a:spcPct val="110000"/>
              </a:lnSpc>
            </a:pPr>
            <a:r>
              <a:rPr lang="en-US" sz="2065" b="1" dirty="0">
                <a:solidFill>
                  <a:srgbClr val="E2E8F0"/>
                </a:solidFill>
                <a:latin typeface="Noto Sans SC" pitchFamily="34" charset="0"/>
                <a:ea typeface="Noto Sans SC" pitchFamily="34" charset="-122"/>
                <a:cs typeface="Noto Sans SC" pitchFamily="34" charset="-120"/>
              </a:rPr>
              <a:t>基于规则的优化</a:t>
            </a:r>
            <a:endParaRPr lang="en-US" sz="1600" dirty="0"/>
          </a:p>
        </p:txBody>
      </p:sp>
      <p:sp>
        <p:nvSpPr>
          <p:cNvPr id="6" name="Shape 4"/>
          <p:cNvSpPr/>
          <p:nvPr/>
        </p:nvSpPr>
        <p:spPr>
          <a:xfrm>
            <a:off x="458839" y="2679290"/>
            <a:ext cx="43699" cy="1267269"/>
          </a:xfrm>
          <a:custGeom>
            <a:avLst/>
            <a:gdLst/>
            <a:ahLst/>
            <a:cxnLst/>
            <a:rect l="l" t="t" r="r" b="b"/>
            <a:pathLst>
              <a:path w="43699" h="1267269">
                <a:moveTo>
                  <a:pt x="0" y="0"/>
                </a:moveTo>
                <a:lnTo>
                  <a:pt x="43699" y="0"/>
                </a:lnTo>
                <a:lnTo>
                  <a:pt x="43699" y="1267269"/>
                </a:lnTo>
                <a:lnTo>
                  <a:pt x="0" y="1267269"/>
                </a:lnTo>
                <a:lnTo>
                  <a:pt x="0" y="0"/>
                </a:lnTo>
                <a:close/>
              </a:path>
            </a:pathLst>
          </a:custGeom>
          <a:solidFill>
            <a:srgbClr val="D69E2E"/>
          </a:solidFill>
          <a:ln/>
        </p:spPr>
        <p:txBody>
          <a:bodyPr/>
          <a:lstStyle/>
          <a:p>
            <a:endParaRPr lang="zh-CN" altLang="en-US"/>
          </a:p>
        </p:txBody>
      </p:sp>
      <p:sp>
        <p:nvSpPr>
          <p:cNvPr id="7" name="Shape 5"/>
          <p:cNvSpPr/>
          <p:nvPr/>
        </p:nvSpPr>
        <p:spPr>
          <a:xfrm>
            <a:off x="770194" y="2854086"/>
            <a:ext cx="218495" cy="218495"/>
          </a:xfrm>
          <a:custGeom>
            <a:avLst/>
            <a:gdLst/>
            <a:ahLst/>
            <a:cxnLst/>
            <a:rect l="l" t="t" r="r" b="b"/>
            <a:pathLst>
              <a:path w="218495" h="218495">
                <a:moveTo>
                  <a:pt x="13656" y="27312"/>
                </a:moveTo>
                <a:cubicBezTo>
                  <a:pt x="8151" y="27312"/>
                  <a:pt x="3158" y="30640"/>
                  <a:pt x="1024" y="35761"/>
                </a:cubicBezTo>
                <a:cubicBezTo>
                  <a:pt x="-1110" y="40882"/>
                  <a:pt x="85" y="46729"/>
                  <a:pt x="4011" y="50612"/>
                </a:cubicBezTo>
                <a:lnTo>
                  <a:pt x="81935" y="128579"/>
                </a:lnTo>
                <a:lnTo>
                  <a:pt x="81935" y="177527"/>
                </a:lnTo>
                <a:cubicBezTo>
                  <a:pt x="81935" y="181154"/>
                  <a:pt x="83386" y="184611"/>
                  <a:pt x="85947" y="187171"/>
                </a:cubicBezTo>
                <a:lnTo>
                  <a:pt x="113259" y="214483"/>
                </a:lnTo>
                <a:cubicBezTo>
                  <a:pt x="117185" y="218409"/>
                  <a:pt x="123031" y="219561"/>
                  <a:pt x="128152" y="217428"/>
                </a:cubicBezTo>
                <a:cubicBezTo>
                  <a:pt x="133273" y="215294"/>
                  <a:pt x="136559" y="210344"/>
                  <a:pt x="136559" y="204839"/>
                </a:cubicBezTo>
                <a:lnTo>
                  <a:pt x="136559" y="128579"/>
                </a:lnTo>
                <a:lnTo>
                  <a:pt x="214483" y="50655"/>
                </a:lnTo>
                <a:cubicBezTo>
                  <a:pt x="218409" y="46729"/>
                  <a:pt x="219561" y="40882"/>
                  <a:pt x="217428" y="35761"/>
                </a:cubicBezTo>
                <a:cubicBezTo>
                  <a:pt x="215294" y="30640"/>
                  <a:pt x="210344" y="27312"/>
                  <a:pt x="204839" y="27312"/>
                </a:cubicBezTo>
                <a:lnTo>
                  <a:pt x="13656" y="27312"/>
                </a:lnTo>
                <a:close/>
              </a:path>
            </a:pathLst>
          </a:custGeom>
          <a:solidFill>
            <a:srgbClr val="D69E2E"/>
          </a:solidFill>
          <a:ln/>
        </p:spPr>
        <p:txBody>
          <a:bodyPr/>
          <a:lstStyle/>
          <a:p>
            <a:endParaRPr lang="zh-CN" altLang="en-US"/>
          </a:p>
        </p:txBody>
      </p:sp>
      <p:sp>
        <p:nvSpPr>
          <p:cNvPr id="8" name="Text 6"/>
          <p:cNvSpPr/>
          <p:nvPr/>
        </p:nvSpPr>
        <p:spPr>
          <a:xfrm>
            <a:off x="1147097" y="2810387"/>
            <a:ext cx="884903" cy="305892"/>
          </a:xfrm>
          <a:prstGeom prst="rect">
            <a:avLst/>
          </a:prstGeom>
          <a:noFill/>
          <a:ln/>
        </p:spPr>
        <p:txBody>
          <a:bodyPr wrap="square" lIns="0" tIns="0" rIns="0" bIns="0" rtlCol="0" anchor="ctr"/>
          <a:lstStyle/>
          <a:p>
            <a:pPr>
              <a:lnSpc>
                <a:spcPct val="130000"/>
              </a:lnSpc>
            </a:pPr>
            <a:r>
              <a:rPr lang="en-US" sz="1548" b="1" dirty="0">
                <a:solidFill>
                  <a:srgbClr val="E2E8F0"/>
                </a:solidFill>
                <a:latin typeface="MiSans" pitchFamily="34" charset="0"/>
                <a:ea typeface="MiSans" pitchFamily="34" charset="-122"/>
                <a:cs typeface="MiSans" pitchFamily="34" charset="-120"/>
              </a:rPr>
              <a:t>谓词下推</a:t>
            </a:r>
            <a:endParaRPr lang="en-US" sz="1600" dirty="0"/>
          </a:p>
        </p:txBody>
      </p:sp>
      <p:sp>
        <p:nvSpPr>
          <p:cNvPr id="9" name="Text 7"/>
          <p:cNvSpPr/>
          <p:nvPr/>
        </p:nvSpPr>
        <p:spPr>
          <a:xfrm>
            <a:off x="742882" y="3203677"/>
            <a:ext cx="7297720" cy="262194"/>
          </a:xfrm>
          <a:prstGeom prst="rect">
            <a:avLst/>
          </a:prstGeom>
          <a:noFill/>
          <a:ln/>
        </p:spPr>
        <p:txBody>
          <a:bodyPr wrap="square" lIns="0" tIns="0" rIns="0" bIns="0" rtlCol="0" anchor="ctr"/>
          <a:lstStyle/>
          <a:p>
            <a:pPr>
              <a:lnSpc>
                <a:spcPct val="130000"/>
              </a:lnSpc>
            </a:pPr>
            <a:r>
              <a:rPr lang="en-US" sz="1376" dirty="0">
                <a:solidFill>
                  <a:srgbClr val="A0AEC0"/>
                </a:solidFill>
                <a:latin typeface="MiSans" pitchFamily="34" charset="0"/>
                <a:ea typeface="MiSans" pitchFamily="34" charset="-122"/>
                <a:cs typeface="MiSans" pitchFamily="34" charset="-120"/>
              </a:rPr>
              <a:t>将过滤条件尽可能推到数据源附近执行，减少数据传输量</a:t>
            </a:r>
            <a:endParaRPr lang="en-US" sz="1600" dirty="0"/>
          </a:p>
        </p:txBody>
      </p:sp>
      <p:sp>
        <p:nvSpPr>
          <p:cNvPr id="10" name="Shape 8"/>
          <p:cNvSpPr/>
          <p:nvPr/>
        </p:nvSpPr>
        <p:spPr>
          <a:xfrm>
            <a:off x="764731" y="3602430"/>
            <a:ext cx="174796" cy="174796"/>
          </a:xfrm>
          <a:custGeom>
            <a:avLst/>
            <a:gdLst/>
            <a:ahLst/>
            <a:cxnLst/>
            <a:rect l="l" t="t" r="r" b="b"/>
            <a:pathLst>
              <a:path w="174796" h="174796">
                <a:moveTo>
                  <a:pt x="21849" y="21849"/>
                </a:moveTo>
                <a:cubicBezTo>
                  <a:pt x="21849" y="15807"/>
                  <a:pt x="16967" y="10925"/>
                  <a:pt x="10925" y="10925"/>
                </a:cubicBezTo>
                <a:cubicBezTo>
                  <a:pt x="4882" y="10925"/>
                  <a:pt x="0" y="15807"/>
                  <a:pt x="0" y="21849"/>
                </a:cubicBezTo>
                <a:lnTo>
                  <a:pt x="0" y="136559"/>
                </a:lnTo>
                <a:cubicBezTo>
                  <a:pt x="0" y="151649"/>
                  <a:pt x="12222" y="163871"/>
                  <a:pt x="27312" y="163871"/>
                </a:cubicBezTo>
                <a:lnTo>
                  <a:pt x="163871" y="163871"/>
                </a:lnTo>
                <a:cubicBezTo>
                  <a:pt x="169914" y="163871"/>
                  <a:pt x="174796" y="158989"/>
                  <a:pt x="174796" y="152946"/>
                </a:cubicBezTo>
                <a:cubicBezTo>
                  <a:pt x="174796" y="146903"/>
                  <a:pt x="169914" y="142022"/>
                  <a:pt x="163871" y="142022"/>
                </a:cubicBezTo>
                <a:lnTo>
                  <a:pt x="27312" y="142022"/>
                </a:lnTo>
                <a:cubicBezTo>
                  <a:pt x="24308" y="142022"/>
                  <a:pt x="21849" y="139563"/>
                  <a:pt x="21849" y="136559"/>
                </a:cubicBezTo>
                <a:lnTo>
                  <a:pt x="21849" y="21849"/>
                </a:lnTo>
                <a:close/>
                <a:moveTo>
                  <a:pt x="160662" y="51415"/>
                </a:moveTo>
                <a:cubicBezTo>
                  <a:pt x="164929" y="47147"/>
                  <a:pt x="164929" y="40217"/>
                  <a:pt x="160662" y="35949"/>
                </a:cubicBezTo>
                <a:cubicBezTo>
                  <a:pt x="156394" y="31682"/>
                  <a:pt x="149464" y="31682"/>
                  <a:pt x="145197" y="35949"/>
                </a:cubicBezTo>
                <a:lnTo>
                  <a:pt x="109247" y="71933"/>
                </a:lnTo>
                <a:lnTo>
                  <a:pt x="89651" y="52370"/>
                </a:lnTo>
                <a:cubicBezTo>
                  <a:pt x="85384" y="48103"/>
                  <a:pt x="78453" y="48103"/>
                  <a:pt x="74186" y="52370"/>
                </a:cubicBezTo>
                <a:lnTo>
                  <a:pt x="41412" y="85145"/>
                </a:lnTo>
                <a:cubicBezTo>
                  <a:pt x="37144" y="89412"/>
                  <a:pt x="37144" y="96342"/>
                  <a:pt x="41412" y="100610"/>
                </a:cubicBezTo>
                <a:cubicBezTo>
                  <a:pt x="45679" y="104877"/>
                  <a:pt x="52609" y="104877"/>
                  <a:pt x="56877" y="100610"/>
                </a:cubicBezTo>
                <a:lnTo>
                  <a:pt x="81935" y="75551"/>
                </a:lnTo>
                <a:lnTo>
                  <a:pt x="101532" y="95148"/>
                </a:lnTo>
                <a:cubicBezTo>
                  <a:pt x="105799" y="99415"/>
                  <a:pt x="112730" y="99415"/>
                  <a:pt x="116997" y="95148"/>
                </a:cubicBezTo>
                <a:lnTo>
                  <a:pt x="160696" y="51449"/>
                </a:lnTo>
                <a:close/>
              </a:path>
            </a:pathLst>
          </a:custGeom>
          <a:solidFill>
            <a:srgbClr val="D69E2E"/>
          </a:solidFill>
          <a:ln/>
        </p:spPr>
        <p:txBody>
          <a:bodyPr/>
          <a:lstStyle/>
          <a:p>
            <a:endParaRPr lang="zh-CN" altLang="en-US"/>
          </a:p>
        </p:txBody>
      </p:sp>
      <p:sp>
        <p:nvSpPr>
          <p:cNvPr id="11" name="Text 9"/>
          <p:cNvSpPr/>
          <p:nvPr/>
        </p:nvSpPr>
        <p:spPr>
          <a:xfrm>
            <a:off x="1036557" y="3553269"/>
            <a:ext cx="7004045" cy="262194"/>
          </a:xfrm>
          <a:prstGeom prst="rect">
            <a:avLst/>
          </a:prstGeom>
          <a:noFill/>
          <a:ln/>
        </p:spPr>
        <p:txBody>
          <a:bodyPr wrap="square" lIns="0" tIns="0" rIns="0" bIns="0" rtlCol="0" anchor="ctr"/>
          <a:lstStyle/>
          <a:p>
            <a:pPr>
              <a:lnSpc>
                <a:spcPct val="130000"/>
              </a:lnSpc>
            </a:pPr>
            <a:r>
              <a:rPr lang="en-US" sz="1376" dirty="0">
                <a:solidFill>
                  <a:srgbClr val="E2E8F0"/>
                </a:solidFill>
                <a:latin typeface="MiSans" pitchFamily="34" charset="0"/>
                <a:ea typeface="MiSans" pitchFamily="34" charset="-122"/>
                <a:cs typeface="MiSans" pitchFamily="34" charset="-120"/>
              </a:rPr>
              <a:t>效果：可减少</a:t>
            </a:r>
            <a:r>
              <a:rPr lang="en-US" sz="1376" dirty="0">
                <a:solidFill>
                  <a:srgbClr val="D69E2E"/>
                </a:solidFill>
                <a:latin typeface="MiSans" pitchFamily="34" charset="0"/>
                <a:ea typeface="MiSans" pitchFamily="34" charset="-122"/>
                <a:cs typeface="MiSans" pitchFamily="34" charset="-120"/>
              </a:rPr>
              <a:t>50-90%</a:t>
            </a:r>
            <a:r>
              <a:rPr lang="en-US" sz="1376" dirty="0">
                <a:solidFill>
                  <a:srgbClr val="E2E8F0"/>
                </a:solidFill>
                <a:latin typeface="MiSans" pitchFamily="34" charset="0"/>
                <a:ea typeface="MiSans" pitchFamily="34" charset="-122"/>
                <a:cs typeface="MiSans" pitchFamily="34" charset="-120"/>
              </a:rPr>
              <a:t>的数据传输和后续处理开销</a:t>
            </a:r>
            <a:endParaRPr lang="en-US" sz="1600" dirty="0"/>
          </a:p>
        </p:txBody>
      </p:sp>
      <p:sp>
        <p:nvSpPr>
          <p:cNvPr id="12" name="Shape 10"/>
          <p:cNvSpPr/>
          <p:nvPr/>
        </p:nvSpPr>
        <p:spPr>
          <a:xfrm>
            <a:off x="458839" y="4121355"/>
            <a:ext cx="43699" cy="1267269"/>
          </a:xfrm>
          <a:custGeom>
            <a:avLst/>
            <a:gdLst/>
            <a:ahLst/>
            <a:cxnLst/>
            <a:rect l="l" t="t" r="r" b="b"/>
            <a:pathLst>
              <a:path w="43699" h="1267269">
                <a:moveTo>
                  <a:pt x="0" y="0"/>
                </a:moveTo>
                <a:lnTo>
                  <a:pt x="43699" y="0"/>
                </a:lnTo>
                <a:lnTo>
                  <a:pt x="43699" y="1267269"/>
                </a:lnTo>
                <a:lnTo>
                  <a:pt x="0" y="1267269"/>
                </a:lnTo>
                <a:lnTo>
                  <a:pt x="0" y="0"/>
                </a:lnTo>
                <a:close/>
              </a:path>
            </a:pathLst>
          </a:custGeom>
          <a:solidFill>
            <a:srgbClr val="D69E2E"/>
          </a:solidFill>
          <a:ln/>
        </p:spPr>
        <p:txBody>
          <a:bodyPr/>
          <a:lstStyle/>
          <a:p>
            <a:endParaRPr lang="zh-CN" altLang="en-US"/>
          </a:p>
        </p:txBody>
      </p:sp>
      <p:sp>
        <p:nvSpPr>
          <p:cNvPr id="13" name="Shape 11"/>
          <p:cNvSpPr/>
          <p:nvPr/>
        </p:nvSpPr>
        <p:spPr>
          <a:xfrm>
            <a:off x="770194" y="4296151"/>
            <a:ext cx="218495" cy="218495"/>
          </a:xfrm>
          <a:custGeom>
            <a:avLst/>
            <a:gdLst/>
            <a:ahLst/>
            <a:cxnLst/>
            <a:rect l="l" t="t" r="r" b="b"/>
            <a:pathLst>
              <a:path w="218495" h="218495">
                <a:moveTo>
                  <a:pt x="81935" y="109247"/>
                </a:moveTo>
                <a:lnTo>
                  <a:pt x="65079" y="126104"/>
                </a:lnTo>
                <a:cubicBezTo>
                  <a:pt x="59702" y="124013"/>
                  <a:pt x="53898" y="122903"/>
                  <a:pt x="47796" y="122903"/>
                </a:cubicBezTo>
                <a:cubicBezTo>
                  <a:pt x="21380" y="122903"/>
                  <a:pt x="0" y="144283"/>
                  <a:pt x="0" y="170699"/>
                </a:cubicBezTo>
                <a:cubicBezTo>
                  <a:pt x="0" y="197115"/>
                  <a:pt x="21380" y="218495"/>
                  <a:pt x="47796" y="218495"/>
                </a:cubicBezTo>
                <a:cubicBezTo>
                  <a:pt x="74211" y="218495"/>
                  <a:pt x="95591" y="197115"/>
                  <a:pt x="95591" y="170699"/>
                </a:cubicBezTo>
                <a:cubicBezTo>
                  <a:pt x="95591" y="164596"/>
                  <a:pt x="94439" y="158793"/>
                  <a:pt x="92391" y="153416"/>
                </a:cubicBezTo>
                <a:lnTo>
                  <a:pt x="213032" y="32774"/>
                </a:lnTo>
                <a:cubicBezTo>
                  <a:pt x="216062" y="29744"/>
                  <a:pt x="216062" y="24879"/>
                  <a:pt x="213032" y="21849"/>
                </a:cubicBezTo>
                <a:cubicBezTo>
                  <a:pt x="200955" y="9773"/>
                  <a:pt x="181410" y="9773"/>
                  <a:pt x="169333" y="21849"/>
                </a:cubicBezTo>
                <a:lnTo>
                  <a:pt x="109247" y="81935"/>
                </a:lnTo>
                <a:lnTo>
                  <a:pt x="92391" y="65079"/>
                </a:lnTo>
                <a:cubicBezTo>
                  <a:pt x="94482" y="59702"/>
                  <a:pt x="95591" y="53898"/>
                  <a:pt x="95591" y="47796"/>
                </a:cubicBezTo>
                <a:cubicBezTo>
                  <a:pt x="95591" y="21380"/>
                  <a:pt x="74211" y="0"/>
                  <a:pt x="47796" y="0"/>
                </a:cubicBezTo>
                <a:cubicBezTo>
                  <a:pt x="21380" y="0"/>
                  <a:pt x="0" y="21380"/>
                  <a:pt x="0" y="47796"/>
                </a:cubicBezTo>
                <a:cubicBezTo>
                  <a:pt x="0" y="74211"/>
                  <a:pt x="21380" y="95591"/>
                  <a:pt x="47796" y="95591"/>
                </a:cubicBezTo>
                <a:cubicBezTo>
                  <a:pt x="53898" y="95591"/>
                  <a:pt x="59702" y="94439"/>
                  <a:pt x="65079" y="92391"/>
                </a:cubicBezTo>
                <a:lnTo>
                  <a:pt x="81935" y="109247"/>
                </a:lnTo>
                <a:close/>
                <a:moveTo>
                  <a:pt x="123714" y="151026"/>
                </a:moveTo>
                <a:lnTo>
                  <a:pt x="169333" y="196645"/>
                </a:lnTo>
                <a:cubicBezTo>
                  <a:pt x="181410" y="208722"/>
                  <a:pt x="200955" y="208722"/>
                  <a:pt x="213032" y="196645"/>
                </a:cubicBezTo>
                <a:cubicBezTo>
                  <a:pt x="216062" y="193615"/>
                  <a:pt x="216062" y="188750"/>
                  <a:pt x="213032" y="185720"/>
                </a:cubicBezTo>
                <a:lnTo>
                  <a:pt x="151026" y="123714"/>
                </a:lnTo>
                <a:lnTo>
                  <a:pt x="123714" y="151026"/>
                </a:lnTo>
                <a:close/>
                <a:moveTo>
                  <a:pt x="27312" y="47796"/>
                </a:moveTo>
                <a:cubicBezTo>
                  <a:pt x="27312" y="36490"/>
                  <a:pt x="36490" y="27312"/>
                  <a:pt x="47796" y="27312"/>
                </a:cubicBezTo>
                <a:cubicBezTo>
                  <a:pt x="59101" y="27312"/>
                  <a:pt x="68280" y="36490"/>
                  <a:pt x="68280" y="47796"/>
                </a:cubicBezTo>
                <a:cubicBezTo>
                  <a:pt x="68280" y="59101"/>
                  <a:pt x="59101" y="68280"/>
                  <a:pt x="47796" y="68280"/>
                </a:cubicBezTo>
                <a:cubicBezTo>
                  <a:pt x="36490" y="68280"/>
                  <a:pt x="27312" y="59101"/>
                  <a:pt x="27312" y="47796"/>
                </a:cubicBezTo>
                <a:close/>
                <a:moveTo>
                  <a:pt x="47796" y="150215"/>
                </a:moveTo>
                <a:cubicBezTo>
                  <a:pt x="59101" y="150215"/>
                  <a:pt x="68280" y="159394"/>
                  <a:pt x="68280" y="170699"/>
                </a:cubicBezTo>
                <a:cubicBezTo>
                  <a:pt x="68280" y="182004"/>
                  <a:pt x="59101" y="191183"/>
                  <a:pt x="47796" y="191183"/>
                </a:cubicBezTo>
                <a:cubicBezTo>
                  <a:pt x="36490" y="191183"/>
                  <a:pt x="27312" y="182004"/>
                  <a:pt x="27312" y="170699"/>
                </a:cubicBezTo>
                <a:cubicBezTo>
                  <a:pt x="27312" y="159394"/>
                  <a:pt x="36490" y="150215"/>
                  <a:pt x="47796" y="150215"/>
                </a:cubicBezTo>
                <a:close/>
              </a:path>
            </a:pathLst>
          </a:custGeom>
          <a:solidFill>
            <a:srgbClr val="D69E2E"/>
          </a:solidFill>
          <a:ln/>
        </p:spPr>
        <p:txBody>
          <a:bodyPr/>
          <a:lstStyle/>
          <a:p>
            <a:endParaRPr lang="zh-CN" altLang="en-US"/>
          </a:p>
        </p:txBody>
      </p:sp>
      <p:sp>
        <p:nvSpPr>
          <p:cNvPr id="14" name="Text 12"/>
          <p:cNvSpPr/>
          <p:nvPr/>
        </p:nvSpPr>
        <p:spPr>
          <a:xfrm>
            <a:off x="1147097" y="4252452"/>
            <a:ext cx="688258" cy="305892"/>
          </a:xfrm>
          <a:prstGeom prst="rect">
            <a:avLst/>
          </a:prstGeom>
          <a:noFill/>
          <a:ln/>
        </p:spPr>
        <p:txBody>
          <a:bodyPr wrap="square" lIns="0" tIns="0" rIns="0" bIns="0" rtlCol="0" anchor="ctr"/>
          <a:lstStyle/>
          <a:p>
            <a:pPr>
              <a:lnSpc>
                <a:spcPct val="130000"/>
              </a:lnSpc>
            </a:pPr>
            <a:r>
              <a:rPr lang="en-US" sz="1548" b="1" dirty="0">
                <a:solidFill>
                  <a:srgbClr val="E2E8F0"/>
                </a:solidFill>
                <a:latin typeface="MiSans" pitchFamily="34" charset="0"/>
                <a:ea typeface="MiSans" pitchFamily="34" charset="-122"/>
                <a:cs typeface="MiSans" pitchFamily="34" charset="-120"/>
              </a:rPr>
              <a:t>列裁剪</a:t>
            </a:r>
            <a:endParaRPr lang="en-US" sz="1600" dirty="0"/>
          </a:p>
        </p:txBody>
      </p:sp>
      <p:sp>
        <p:nvSpPr>
          <p:cNvPr id="15" name="Text 13"/>
          <p:cNvSpPr/>
          <p:nvPr/>
        </p:nvSpPr>
        <p:spPr>
          <a:xfrm>
            <a:off x="742882" y="4645742"/>
            <a:ext cx="7297720" cy="262194"/>
          </a:xfrm>
          <a:prstGeom prst="rect">
            <a:avLst/>
          </a:prstGeom>
          <a:noFill/>
          <a:ln/>
        </p:spPr>
        <p:txBody>
          <a:bodyPr wrap="square" lIns="0" tIns="0" rIns="0" bIns="0" rtlCol="0" anchor="ctr"/>
          <a:lstStyle/>
          <a:p>
            <a:pPr>
              <a:lnSpc>
                <a:spcPct val="130000"/>
              </a:lnSpc>
            </a:pPr>
            <a:r>
              <a:rPr lang="en-US" sz="1376" dirty="0">
                <a:solidFill>
                  <a:srgbClr val="A0AEC0"/>
                </a:solidFill>
                <a:latin typeface="MiSans" pitchFamily="34" charset="0"/>
                <a:ea typeface="MiSans" pitchFamily="34" charset="-122"/>
                <a:cs typeface="MiSans" pitchFamily="34" charset="-120"/>
              </a:rPr>
              <a:t>只读取查询中实际引用的列，忽略不必要的列</a:t>
            </a:r>
            <a:endParaRPr lang="en-US" sz="1600" dirty="0"/>
          </a:p>
        </p:txBody>
      </p:sp>
      <p:sp>
        <p:nvSpPr>
          <p:cNvPr id="16" name="Shape 14"/>
          <p:cNvSpPr/>
          <p:nvPr/>
        </p:nvSpPr>
        <p:spPr>
          <a:xfrm>
            <a:off x="764731" y="5044495"/>
            <a:ext cx="174796" cy="174796"/>
          </a:xfrm>
          <a:custGeom>
            <a:avLst/>
            <a:gdLst/>
            <a:ahLst/>
            <a:cxnLst/>
            <a:rect l="l" t="t" r="r" b="b"/>
            <a:pathLst>
              <a:path w="174796" h="174796">
                <a:moveTo>
                  <a:pt x="21849" y="21849"/>
                </a:moveTo>
                <a:cubicBezTo>
                  <a:pt x="21849" y="15807"/>
                  <a:pt x="16967" y="10925"/>
                  <a:pt x="10925" y="10925"/>
                </a:cubicBezTo>
                <a:cubicBezTo>
                  <a:pt x="4882" y="10925"/>
                  <a:pt x="0" y="15807"/>
                  <a:pt x="0" y="21849"/>
                </a:cubicBezTo>
                <a:lnTo>
                  <a:pt x="0" y="136559"/>
                </a:lnTo>
                <a:cubicBezTo>
                  <a:pt x="0" y="151649"/>
                  <a:pt x="12222" y="163871"/>
                  <a:pt x="27312" y="163871"/>
                </a:cubicBezTo>
                <a:lnTo>
                  <a:pt x="163871" y="163871"/>
                </a:lnTo>
                <a:cubicBezTo>
                  <a:pt x="169914" y="163871"/>
                  <a:pt x="174796" y="158989"/>
                  <a:pt x="174796" y="152946"/>
                </a:cubicBezTo>
                <a:cubicBezTo>
                  <a:pt x="174796" y="146903"/>
                  <a:pt x="169914" y="142022"/>
                  <a:pt x="163871" y="142022"/>
                </a:cubicBezTo>
                <a:lnTo>
                  <a:pt x="27312" y="142022"/>
                </a:lnTo>
                <a:cubicBezTo>
                  <a:pt x="24308" y="142022"/>
                  <a:pt x="21849" y="139563"/>
                  <a:pt x="21849" y="136559"/>
                </a:cubicBezTo>
                <a:lnTo>
                  <a:pt x="21849" y="21849"/>
                </a:lnTo>
                <a:close/>
                <a:moveTo>
                  <a:pt x="160662" y="51415"/>
                </a:moveTo>
                <a:cubicBezTo>
                  <a:pt x="164929" y="47147"/>
                  <a:pt x="164929" y="40217"/>
                  <a:pt x="160662" y="35949"/>
                </a:cubicBezTo>
                <a:cubicBezTo>
                  <a:pt x="156394" y="31682"/>
                  <a:pt x="149464" y="31682"/>
                  <a:pt x="145197" y="35949"/>
                </a:cubicBezTo>
                <a:lnTo>
                  <a:pt x="109247" y="71933"/>
                </a:lnTo>
                <a:lnTo>
                  <a:pt x="89651" y="52370"/>
                </a:lnTo>
                <a:cubicBezTo>
                  <a:pt x="85384" y="48103"/>
                  <a:pt x="78453" y="48103"/>
                  <a:pt x="74186" y="52370"/>
                </a:cubicBezTo>
                <a:lnTo>
                  <a:pt x="41412" y="85145"/>
                </a:lnTo>
                <a:cubicBezTo>
                  <a:pt x="37144" y="89412"/>
                  <a:pt x="37144" y="96342"/>
                  <a:pt x="41412" y="100610"/>
                </a:cubicBezTo>
                <a:cubicBezTo>
                  <a:pt x="45679" y="104877"/>
                  <a:pt x="52609" y="104877"/>
                  <a:pt x="56877" y="100610"/>
                </a:cubicBezTo>
                <a:lnTo>
                  <a:pt x="81935" y="75551"/>
                </a:lnTo>
                <a:lnTo>
                  <a:pt x="101532" y="95148"/>
                </a:lnTo>
                <a:cubicBezTo>
                  <a:pt x="105799" y="99415"/>
                  <a:pt x="112730" y="99415"/>
                  <a:pt x="116997" y="95148"/>
                </a:cubicBezTo>
                <a:lnTo>
                  <a:pt x="160696" y="51449"/>
                </a:lnTo>
                <a:close/>
              </a:path>
            </a:pathLst>
          </a:custGeom>
          <a:solidFill>
            <a:srgbClr val="D69E2E"/>
          </a:solidFill>
          <a:ln/>
        </p:spPr>
        <p:txBody>
          <a:bodyPr/>
          <a:lstStyle/>
          <a:p>
            <a:endParaRPr lang="zh-CN" altLang="en-US"/>
          </a:p>
        </p:txBody>
      </p:sp>
      <p:sp>
        <p:nvSpPr>
          <p:cNvPr id="17" name="Text 15"/>
          <p:cNvSpPr/>
          <p:nvPr/>
        </p:nvSpPr>
        <p:spPr>
          <a:xfrm>
            <a:off x="1036557" y="4995333"/>
            <a:ext cx="7004045" cy="262194"/>
          </a:xfrm>
          <a:prstGeom prst="rect">
            <a:avLst/>
          </a:prstGeom>
          <a:noFill/>
          <a:ln/>
        </p:spPr>
        <p:txBody>
          <a:bodyPr wrap="square" lIns="0" tIns="0" rIns="0" bIns="0" rtlCol="0" anchor="ctr"/>
          <a:lstStyle/>
          <a:p>
            <a:pPr>
              <a:lnSpc>
                <a:spcPct val="130000"/>
              </a:lnSpc>
            </a:pPr>
            <a:r>
              <a:rPr lang="en-US" sz="1376" dirty="0">
                <a:solidFill>
                  <a:srgbClr val="E2E8F0"/>
                </a:solidFill>
                <a:latin typeface="MiSans" pitchFamily="34" charset="0"/>
                <a:ea typeface="MiSans" pitchFamily="34" charset="-122"/>
                <a:cs typeface="MiSans" pitchFamily="34" charset="-120"/>
              </a:rPr>
              <a:t>效果：显著减少</a:t>
            </a:r>
            <a:r>
              <a:rPr lang="en-US" sz="1376" dirty="0">
                <a:solidFill>
                  <a:srgbClr val="D69E2E"/>
                </a:solidFill>
                <a:latin typeface="MiSans" pitchFamily="34" charset="0"/>
                <a:ea typeface="MiSans" pitchFamily="34" charset="-122"/>
                <a:cs typeface="MiSans" pitchFamily="34" charset="-120"/>
              </a:rPr>
              <a:t>I/O开销</a:t>
            </a:r>
            <a:r>
              <a:rPr lang="en-US" sz="1376" dirty="0">
                <a:solidFill>
                  <a:srgbClr val="E2E8F0"/>
                </a:solidFill>
                <a:latin typeface="MiSans" pitchFamily="34" charset="0"/>
                <a:ea typeface="MiSans" pitchFamily="34" charset="-122"/>
                <a:cs typeface="MiSans" pitchFamily="34" charset="-120"/>
              </a:rPr>
              <a:t>，特别适合宽表场景</a:t>
            </a:r>
            <a:endParaRPr lang="en-US" sz="1600" dirty="0"/>
          </a:p>
        </p:txBody>
      </p:sp>
      <p:sp>
        <p:nvSpPr>
          <p:cNvPr id="18" name="Shape 16"/>
          <p:cNvSpPr/>
          <p:nvPr/>
        </p:nvSpPr>
        <p:spPr>
          <a:xfrm>
            <a:off x="458839" y="5563419"/>
            <a:ext cx="43699" cy="1267269"/>
          </a:xfrm>
          <a:custGeom>
            <a:avLst/>
            <a:gdLst/>
            <a:ahLst/>
            <a:cxnLst/>
            <a:rect l="l" t="t" r="r" b="b"/>
            <a:pathLst>
              <a:path w="43699" h="1267269">
                <a:moveTo>
                  <a:pt x="0" y="0"/>
                </a:moveTo>
                <a:lnTo>
                  <a:pt x="43699" y="0"/>
                </a:lnTo>
                <a:lnTo>
                  <a:pt x="43699" y="1267269"/>
                </a:lnTo>
                <a:lnTo>
                  <a:pt x="0" y="1267269"/>
                </a:lnTo>
                <a:lnTo>
                  <a:pt x="0" y="0"/>
                </a:lnTo>
                <a:close/>
              </a:path>
            </a:pathLst>
          </a:custGeom>
          <a:solidFill>
            <a:srgbClr val="D69E2E"/>
          </a:solidFill>
          <a:ln/>
        </p:spPr>
        <p:txBody>
          <a:bodyPr/>
          <a:lstStyle/>
          <a:p>
            <a:endParaRPr lang="zh-CN" altLang="en-US"/>
          </a:p>
        </p:txBody>
      </p:sp>
      <p:sp>
        <p:nvSpPr>
          <p:cNvPr id="19" name="Shape 17"/>
          <p:cNvSpPr/>
          <p:nvPr/>
        </p:nvSpPr>
        <p:spPr>
          <a:xfrm>
            <a:off x="797505" y="5738215"/>
            <a:ext cx="163871" cy="218495"/>
          </a:xfrm>
          <a:custGeom>
            <a:avLst/>
            <a:gdLst/>
            <a:ahLst/>
            <a:cxnLst/>
            <a:rect l="l" t="t" r="r" b="b"/>
            <a:pathLst>
              <a:path w="163871" h="218495">
                <a:moveTo>
                  <a:pt x="27312" y="0"/>
                </a:moveTo>
                <a:cubicBezTo>
                  <a:pt x="12248" y="0"/>
                  <a:pt x="0" y="12248"/>
                  <a:pt x="0" y="27312"/>
                </a:cubicBezTo>
                <a:lnTo>
                  <a:pt x="0" y="191183"/>
                </a:lnTo>
                <a:cubicBezTo>
                  <a:pt x="0" y="206247"/>
                  <a:pt x="12248" y="218495"/>
                  <a:pt x="27312" y="218495"/>
                </a:cubicBezTo>
                <a:lnTo>
                  <a:pt x="136559" y="218495"/>
                </a:lnTo>
                <a:cubicBezTo>
                  <a:pt x="151623" y="218495"/>
                  <a:pt x="163871" y="206247"/>
                  <a:pt x="163871" y="191183"/>
                </a:cubicBezTo>
                <a:lnTo>
                  <a:pt x="163871" y="27312"/>
                </a:lnTo>
                <a:cubicBezTo>
                  <a:pt x="163871" y="12248"/>
                  <a:pt x="151623" y="0"/>
                  <a:pt x="136559" y="0"/>
                </a:cubicBezTo>
                <a:lnTo>
                  <a:pt x="27312" y="0"/>
                </a:lnTo>
                <a:close/>
                <a:moveTo>
                  <a:pt x="40968" y="27312"/>
                </a:moveTo>
                <a:lnTo>
                  <a:pt x="122903" y="27312"/>
                </a:lnTo>
                <a:cubicBezTo>
                  <a:pt x="130457" y="27312"/>
                  <a:pt x="136559" y="33414"/>
                  <a:pt x="136559" y="40968"/>
                </a:cubicBezTo>
                <a:lnTo>
                  <a:pt x="136559" y="54624"/>
                </a:lnTo>
                <a:cubicBezTo>
                  <a:pt x="136559" y="62177"/>
                  <a:pt x="130457" y="68280"/>
                  <a:pt x="122903" y="68280"/>
                </a:cubicBezTo>
                <a:lnTo>
                  <a:pt x="40968" y="68280"/>
                </a:lnTo>
                <a:cubicBezTo>
                  <a:pt x="33414" y="68280"/>
                  <a:pt x="27312" y="62177"/>
                  <a:pt x="27312" y="54624"/>
                </a:cubicBezTo>
                <a:lnTo>
                  <a:pt x="27312" y="40968"/>
                </a:lnTo>
                <a:cubicBezTo>
                  <a:pt x="27312" y="33414"/>
                  <a:pt x="33414" y="27312"/>
                  <a:pt x="40968" y="27312"/>
                </a:cubicBezTo>
                <a:close/>
                <a:moveTo>
                  <a:pt x="47796" y="99005"/>
                </a:moveTo>
                <a:cubicBezTo>
                  <a:pt x="47796" y="104658"/>
                  <a:pt x="43206" y="109247"/>
                  <a:pt x="37554" y="109247"/>
                </a:cubicBezTo>
                <a:cubicBezTo>
                  <a:pt x="31901" y="109247"/>
                  <a:pt x="27312" y="104658"/>
                  <a:pt x="27312" y="99005"/>
                </a:cubicBezTo>
                <a:cubicBezTo>
                  <a:pt x="27312" y="93353"/>
                  <a:pt x="31901" y="88763"/>
                  <a:pt x="37554" y="88763"/>
                </a:cubicBezTo>
                <a:cubicBezTo>
                  <a:pt x="43206" y="88763"/>
                  <a:pt x="47796" y="93353"/>
                  <a:pt x="47796" y="99005"/>
                </a:cubicBezTo>
                <a:close/>
                <a:moveTo>
                  <a:pt x="81935" y="109247"/>
                </a:moveTo>
                <a:cubicBezTo>
                  <a:pt x="76283" y="109247"/>
                  <a:pt x="71694" y="104658"/>
                  <a:pt x="71694" y="99005"/>
                </a:cubicBezTo>
                <a:cubicBezTo>
                  <a:pt x="71694" y="93353"/>
                  <a:pt x="76283" y="88763"/>
                  <a:pt x="81935" y="88763"/>
                </a:cubicBezTo>
                <a:cubicBezTo>
                  <a:pt x="87588" y="88763"/>
                  <a:pt x="92177" y="93353"/>
                  <a:pt x="92177" y="99005"/>
                </a:cubicBezTo>
                <a:cubicBezTo>
                  <a:pt x="92177" y="104658"/>
                  <a:pt x="87588" y="109247"/>
                  <a:pt x="81935" y="109247"/>
                </a:cubicBezTo>
                <a:close/>
                <a:moveTo>
                  <a:pt x="136559" y="99005"/>
                </a:moveTo>
                <a:cubicBezTo>
                  <a:pt x="136559" y="104658"/>
                  <a:pt x="131970" y="109247"/>
                  <a:pt x="126317" y="109247"/>
                </a:cubicBezTo>
                <a:cubicBezTo>
                  <a:pt x="120665" y="109247"/>
                  <a:pt x="116075" y="104658"/>
                  <a:pt x="116075" y="99005"/>
                </a:cubicBezTo>
                <a:cubicBezTo>
                  <a:pt x="116075" y="93353"/>
                  <a:pt x="120665" y="88763"/>
                  <a:pt x="126317" y="88763"/>
                </a:cubicBezTo>
                <a:cubicBezTo>
                  <a:pt x="131970" y="88763"/>
                  <a:pt x="136559" y="93353"/>
                  <a:pt x="136559" y="99005"/>
                </a:cubicBezTo>
                <a:close/>
                <a:moveTo>
                  <a:pt x="37554" y="150215"/>
                </a:moveTo>
                <a:cubicBezTo>
                  <a:pt x="31901" y="150215"/>
                  <a:pt x="27312" y="145626"/>
                  <a:pt x="27312" y="139973"/>
                </a:cubicBezTo>
                <a:cubicBezTo>
                  <a:pt x="27312" y="134320"/>
                  <a:pt x="31901" y="129731"/>
                  <a:pt x="37554" y="129731"/>
                </a:cubicBezTo>
                <a:cubicBezTo>
                  <a:pt x="43206" y="129731"/>
                  <a:pt x="47796" y="134320"/>
                  <a:pt x="47796" y="139973"/>
                </a:cubicBezTo>
                <a:cubicBezTo>
                  <a:pt x="47796" y="145626"/>
                  <a:pt x="43206" y="150215"/>
                  <a:pt x="37554" y="150215"/>
                </a:cubicBezTo>
                <a:close/>
                <a:moveTo>
                  <a:pt x="92177" y="139973"/>
                </a:moveTo>
                <a:cubicBezTo>
                  <a:pt x="92177" y="145626"/>
                  <a:pt x="87588" y="150215"/>
                  <a:pt x="81935" y="150215"/>
                </a:cubicBezTo>
                <a:cubicBezTo>
                  <a:pt x="76283" y="150215"/>
                  <a:pt x="71694" y="145626"/>
                  <a:pt x="71694" y="139973"/>
                </a:cubicBezTo>
                <a:cubicBezTo>
                  <a:pt x="71694" y="134320"/>
                  <a:pt x="76283" y="129731"/>
                  <a:pt x="81935" y="129731"/>
                </a:cubicBezTo>
                <a:cubicBezTo>
                  <a:pt x="87588" y="129731"/>
                  <a:pt x="92177" y="134320"/>
                  <a:pt x="92177" y="139973"/>
                </a:cubicBezTo>
                <a:close/>
                <a:moveTo>
                  <a:pt x="126317" y="150215"/>
                </a:moveTo>
                <a:cubicBezTo>
                  <a:pt x="120665" y="150215"/>
                  <a:pt x="116075" y="145626"/>
                  <a:pt x="116075" y="139973"/>
                </a:cubicBezTo>
                <a:cubicBezTo>
                  <a:pt x="116075" y="134320"/>
                  <a:pt x="120665" y="129731"/>
                  <a:pt x="126317" y="129731"/>
                </a:cubicBezTo>
                <a:cubicBezTo>
                  <a:pt x="131970" y="129731"/>
                  <a:pt x="136559" y="134320"/>
                  <a:pt x="136559" y="139973"/>
                </a:cubicBezTo>
                <a:cubicBezTo>
                  <a:pt x="136559" y="145626"/>
                  <a:pt x="131970" y="150215"/>
                  <a:pt x="126317" y="150215"/>
                </a:cubicBezTo>
                <a:close/>
                <a:moveTo>
                  <a:pt x="27312" y="180941"/>
                </a:moveTo>
                <a:cubicBezTo>
                  <a:pt x="27312" y="175265"/>
                  <a:pt x="31878" y="170699"/>
                  <a:pt x="37554" y="170699"/>
                </a:cubicBezTo>
                <a:lnTo>
                  <a:pt x="85349" y="170699"/>
                </a:lnTo>
                <a:cubicBezTo>
                  <a:pt x="91025" y="170699"/>
                  <a:pt x="95591" y="175265"/>
                  <a:pt x="95591" y="180941"/>
                </a:cubicBezTo>
                <a:cubicBezTo>
                  <a:pt x="95591" y="186617"/>
                  <a:pt x="91025" y="191183"/>
                  <a:pt x="85349" y="191183"/>
                </a:cubicBezTo>
                <a:lnTo>
                  <a:pt x="37554" y="191183"/>
                </a:lnTo>
                <a:cubicBezTo>
                  <a:pt x="31878" y="191183"/>
                  <a:pt x="27312" y="186617"/>
                  <a:pt x="27312" y="180941"/>
                </a:cubicBezTo>
                <a:close/>
                <a:moveTo>
                  <a:pt x="126317" y="170699"/>
                </a:moveTo>
                <a:cubicBezTo>
                  <a:pt x="131993" y="170699"/>
                  <a:pt x="136559" y="175265"/>
                  <a:pt x="136559" y="180941"/>
                </a:cubicBezTo>
                <a:cubicBezTo>
                  <a:pt x="136559" y="186617"/>
                  <a:pt x="131993" y="191183"/>
                  <a:pt x="126317" y="191183"/>
                </a:cubicBezTo>
                <a:cubicBezTo>
                  <a:pt x="120641" y="191183"/>
                  <a:pt x="116075" y="186617"/>
                  <a:pt x="116075" y="180941"/>
                </a:cubicBezTo>
                <a:cubicBezTo>
                  <a:pt x="116075" y="175265"/>
                  <a:pt x="120641" y="170699"/>
                  <a:pt x="126317" y="170699"/>
                </a:cubicBezTo>
                <a:close/>
              </a:path>
            </a:pathLst>
          </a:custGeom>
          <a:solidFill>
            <a:srgbClr val="D69E2E"/>
          </a:solidFill>
          <a:ln/>
        </p:spPr>
        <p:txBody>
          <a:bodyPr/>
          <a:lstStyle/>
          <a:p>
            <a:endParaRPr lang="zh-CN" altLang="en-US"/>
          </a:p>
        </p:txBody>
      </p:sp>
      <p:sp>
        <p:nvSpPr>
          <p:cNvPr id="20" name="Text 18"/>
          <p:cNvSpPr/>
          <p:nvPr/>
        </p:nvSpPr>
        <p:spPr>
          <a:xfrm>
            <a:off x="1147097" y="5694516"/>
            <a:ext cx="884903" cy="305892"/>
          </a:xfrm>
          <a:prstGeom prst="rect">
            <a:avLst/>
          </a:prstGeom>
          <a:noFill/>
          <a:ln/>
        </p:spPr>
        <p:txBody>
          <a:bodyPr wrap="square" lIns="0" tIns="0" rIns="0" bIns="0" rtlCol="0" anchor="ctr"/>
          <a:lstStyle/>
          <a:p>
            <a:pPr>
              <a:lnSpc>
                <a:spcPct val="130000"/>
              </a:lnSpc>
            </a:pPr>
            <a:r>
              <a:rPr lang="en-US" sz="1548" b="1" dirty="0">
                <a:solidFill>
                  <a:srgbClr val="E2E8F0"/>
                </a:solidFill>
                <a:latin typeface="MiSans" pitchFamily="34" charset="0"/>
                <a:ea typeface="MiSans" pitchFamily="34" charset="-122"/>
                <a:cs typeface="MiSans" pitchFamily="34" charset="-120"/>
              </a:rPr>
              <a:t>常量折叠</a:t>
            </a:r>
            <a:endParaRPr lang="en-US" sz="1600" dirty="0"/>
          </a:p>
        </p:txBody>
      </p:sp>
      <p:sp>
        <p:nvSpPr>
          <p:cNvPr id="21" name="Text 19"/>
          <p:cNvSpPr/>
          <p:nvPr/>
        </p:nvSpPr>
        <p:spPr>
          <a:xfrm>
            <a:off x="742882" y="6087806"/>
            <a:ext cx="7297720" cy="262194"/>
          </a:xfrm>
          <a:prstGeom prst="rect">
            <a:avLst/>
          </a:prstGeom>
          <a:noFill/>
          <a:ln/>
        </p:spPr>
        <p:txBody>
          <a:bodyPr wrap="square" lIns="0" tIns="0" rIns="0" bIns="0" rtlCol="0" anchor="ctr"/>
          <a:lstStyle/>
          <a:p>
            <a:pPr>
              <a:lnSpc>
                <a:spcPct val="130000"/>
              </a:lnSpc>
            </a:pPr>
            <a:r>
              <a:rPr lang="en-US" sz="1376" dirty="0">
                <a:solidFill>
                  <a:srgbClr val="A0AEC0"/>
                </a:solidFill>
                <a:latin typeface="MiSans" pitchFamily="34" charset="0"/>
                <a:ea typeface="MiSans" pitchFamily="34" charset="-122"/>
                <a:cs typeface="MiSans" pitchFamily="34" charset="-120"/>
              </a:rPr>
              <a:t>在编译时计算常量表达式，减少运行时计算</a:t>
            </a:r>
            <a:endParaRPr lang="en-US" sz="1600" dirty="0"/>
          </a:p>
        </p:txBody>
      </p:sp>
      <p:sp>
        <p:nvSpPr>
          <p:cNvPr id="22" name="Shape 20"/>
          <p:cNvSpPr/>
          <p:nvPr/>
        </p:nvSpPr>
        <p:spPr>
          <a:xfrm>
            <a:off x="764731" y="6486559"/>
            <a:ext cx="174796" cy="174796"/>
          </a:xfrm>
          <a:custGeom>
            <a:avLst/>
            <a:gdLst/>
            <a:ahLst/>
            <a:cxnLst/>
            <a:rect l="l" t="t" r="r" b="b"/>
            <a:pathLst>
              <a:path w="174796" h="174796">
                <a:moveTo>
                  <a:pt x="21849" y="21849"/>
                </a:moveTo>
                <a:cubicBezTo>
                  <a:pt x="21849" y="15807"/>
                  <a:pt x="16967" y="10925"/>
                  <a:pt x="10925" y="10925"/>
                </a:cubicBezTo>
                <a:cubicBezTo>
                  <a:pt x="4882" y="10925"/>
                  <a:pt x="0" y="15807"/>
                  <a:pt x="0" y="21849"/>
                </a:cubicBezTo>
                <a:lnTo>
                  <a:pt x="0" y="136559"/>
                </a:lnTo>
                <a:cubicBezTo>
                  <a:pt x="0" y="151649"/>
                  <a:pt x="12222" y="163871"/>
                  <a:pt x="27312" y="163871"/>
                </a:cubicBezTo>
                <a:lnTo>
                  <a:pt x="163871" y="163871"/>
                </a:lnTo>
                <a:cubicBezTo>
                  <a:pt x="169914" y="163871"/>
                  <a:pt x="174796" y="158989"/>
                  <a:pt x="174796" y="152946"/>
                </a:cubicBezTo>
                <a:cubicBezTo>
                  <a:pt x="174796" y="146903"/>
                  <a:pt x="169914" y="142022"/>
                  <a:pt x="163871" y="142022"/>
                </a:cubicBezTo>
                <a:lnTo>
                  <a:pt x="27312" y="142022"/>
                </a:lnTo>
                <a:cubicBezTo>
                  <a:pt x="24308" y="142022"/>
                  <a:pt x="21849" y="139563"/>
                  <a:pt x="21849" y="136559"/>
                </a:cubicBezTo>
                <a:lnTo>
                  <a:pt x="21849" y="21849"/>
                </a:lnTo>
                <a:close/>
                <a:moveTo>
                  <a:pt x="160662" y="51415"/>
                </a:moveTo>
                <a:cubicBezTo>
                  <a:pt x="164929" y="47147"/>
                  <a:pt x="164929" y="40217"/>
                  <a:pt x="160662" y="35949"/>
                </a:cubicBezTo>
                <a:cubicBezTo>
                  <a:pt x="156394" y="31682"/>
                  <a:pt x="149464" y="31682"/>
                  <a:pt x="145197" y="35949"/>
                </a:cubicBezTo>
                <a:lnTo>
                  <a:pt x="109247" y="71933"/>
                </a:lnTo>
                <a:lnTo>
                  <a:pt x="89651" y="52370"/>
                </a:lnTo>
                <a:cubicBezTo>
                  <a:pt x="85384" y="48103"/>
                  <a:pt x="78453" y="48103"/>
                  <a:pt x="74186" y="52370"/>
                </a:cubicBezTo>
                <a:lnTo>
                  <a:pt x="41412" y="85145"/>
                </a:lnTo>
                <a:cubicBezTo>
                  <a:pt x="37144" y="89412"/>
                  <a:pt x="37144" y="96342"/>
                  <a:pt x="41412" y="100610"/>
                </a:cubicBezTo>
                <a:cubicBezTo>
                  <a:pt x="45679" y="104877"/>
                  <a:pt x="52609" y="104877"/>
                  <a:pt x="56877" y="100610"/>
                </a:cubicBezTo>
                <a:lnTo>
                  <a:pt x="81935" y="75551"/>
                </a:lnTo>
                <a:lnTo>
                  <a:pt x="101532" y="95148"/>
                </a:lnTo>
                <a:cubicBezTo>
                  <a:pt x="105799" y="99415"/>
                  <a:pt x="112730" y="99415"/>
                  <a:pt x="116997" y="95148"/>
                </a:cubicBezTo>
                <a:lnTo>
                  <a:pt x="160696" y="51449"/>
                </a:lnTo>
                <a:close/>
              </a:path>
            </a:pathLst>
          </a:custGeom>
          <a:solidFill>
            <a:srgbClr val="D69E2E"/>
          </a:solidFill>
          <a:ln/>
        </p:spPr>
        <p:txBody>
          <a:bodyPr/>
          <a:lstStyle/>
          <a:p>
            <a:endParaRPr lang="zh-CN" altLang="en-US"/>
          </a:p>
        </p:txBody>
      </p:sp>
      <p:sp>
        <p:nvSpPr>
          <p:cNvPr id="23" name="Text 21"/>
          <p:cNvSpPr/>
          <p:nvPr/>
        </p:nvSpPr>
        <p:spPr>
          <a:xfrm>
            <a:off x="1036557" y="6437398"/>
            <a:ext cx="7004045" cy="262194"/>
          </a:xfrm>
          <a:prstGeom prst="rect">
            <a:avLst/>
          </a:prstGeom>
          <a:noFill/>
          <a:ln/>
        </p:spPr>
        <p:txBody>
          <a:bodyPr wrap="square" lIns="0" tIns="0" rIns="0" bIns="0" rtlCol="0" anchor="ctr"/>
          <a:lstStyle/>
          <a:p>
            <a:pPr>
              <a:lnSpc>
                <a:spcPct val="130000"/>
              </a:lnSpc>
            </a:pPr>
            <a:r>
              <a:rPr lang="en-US" sz="1376" dirty="0">
                <a:solidFill>
                  <a:srgbClr val="E2E8F0"/>
                </a:solidFill>
                <a:latin typeface="MiSans" pitchFamily="34" charset="0"/>
                <a:ea typeface="MiSans" pitchFamily="34" charset="-122"/>
                <a:cs typeface="MiSans" pitchFamily="34" charset="-120"/>
              </a:rPr>
              <a:t>效果：消除不必要的</a:t>
            </a:r>
            <a:r>
              <a:rPr lang="en-US" sz="1376" dirty="0">
                <a:solidFill>
                  <a:srgbClr val="D69E2E"/>
                </a:solidFill>
                <a:latin typeface="MiSans" pitchFamily="34" charset="0"/>
                <a:ea typeface="MiSans" pitchFamily="34" charset="-122"/>
                <a:cs typeface="MiSans" pitchFamily="34" charset="-120"/>
              </a:rPr>
              <a:t>运行时计算开销</a:t>
            </a:r>
            <a:endParaRPr lang="en-US" sz="1600" dirty="0"/>
          </a:p>
        </p:txBody>
      </p:sp>
      <p:sp>
        <p:nvSpPr>
          <p:cNvPr id="24" name="Text 22"/>
          <p:cNvSpPr/>
          <p:nvPr/>
        </p:nvSpPr>
        <p:spPr>
          <a:xfrm>
            <a:off x="8302796" y="2154903"/>
            <a:ext cx="7647312" cy="349591"/>
          </a:xfrm>
          <a:prstGeom prst="rect">
            <a:avLst/>
          </a:prstGeom>
          <a:noFill/>
          <a:ln/>
        </p:spPr>
        <p:txBody>
          <a:bodyPr wrap="square" lIns="0" tIns="0" rIns="0" bIns="0" rtlCol="0" anchor="ctr"/>
          <a:lstStyle/>
          <a:p>
            <a:pPr>
              <a:lnSpc>
                <a:spcPct val="110000"/>
              </a:lnSpc>
            </a:pPr>
            <a:r>
              <a:rPr lang="en-US" sz="2065" b="1" dirty="0">
                <a:solidFill>
                  <a:srgbClr val="E2E8F0"/>
                </a:solidFill>
                <a:latin typeface="Noto Sans SC" pitchFamily="34" charset="0"/>
                <a:ea typeface="Noto Sans SC" pitchFamily="34" charset="-122"/>
                <a:cs typeface="Noto Sans SC" pitchFamily="34" charset="-120"/>
              </a:rPr>
              <a:t>基于成本的优化</a:t>
            </a:r>
            <a:endParaRPr lang="en-US" sz="1600" dirty="0"/>
          </a:p>
        </p:txBody>
      </p:sp>
      <p:sp>
        <p:nvSpPr>
          <p:cNvPr id="25" name="Shape 23"/>
          <p:cNvSpPr/>
          <p:nvPr/>
        </p:nvSpPr>
        <p:spPr>
          <a:xfrm>
            <a:off x="8324645" y="2679290"/>
            <a:ext cx="43699" cy="1267269"/>
          </a:xfrm>
          <a:custGeom>
            <a:avLst/>
            <a:gdLst/>
            <a:ahLst/>
            <a:cxnLst/>
            <a:rect l="l" t="t" r="r" b="b"/>
            <a:pathLst>
              <a:path w="43699" h="1267269">
                <a:moveTo>
                  <a:pt x="0" y="0"/>
                </a:moveTo>
                <a:lnTo>
                  <a:pt x="43699" y="0"/>
                </a:lnTo>
                <a:lnTo>
                  <a:pt x="43699" y="1267269"/>
                </a:lnTo>
                <a:lnTo>
                  <a:pt x="0" y="1267269"/>
                </a:lnTo>
                <a:lnTo>
                  <a:pt x="0" y="0"/>
                </a:lnTo>
                <a:close/>
              </a:path>
            </a:pathLst>
          </a:custGeom>
          <a:solidFill>
            <a:srgbClr val="D69E2E"/>
          </a:solidFill>
          <a:ln/>
        </p:spPr>
        <p:txBody>
          <a:bodyPr/>
          <a:lstStyle/>
          <a:p>
            <a:endParaRPr lang="zh-CN" altLang="en-US"/>
          </a:p>
        </p:txBody>
      </p:sp>
      <p:sp>
        <p:nvSpPr>
          <p:cNvPr id="26" name="Shape 24"/>
          <p:cNvSpPr/>
          <p:nvPr/>
        </p:nvSpPr>
        <p:spPr>
          <a:xfrm>
            <a:off x="8636000" y="2854086"/>
            <a:ext cx="218495" cy="218495"/>
          </a:xfrm>
          <a:custGeom>
            <a:avLst/>
            <a:gdLst/>
            <a:ahLst/>
            <a:cxnLst/>
            <a:rect l="l" t="t" r="r" b="b"/>
            <a:pathLst>
              <a:path w="218495" h="218495">
                <a:moveTo>
                  <a:pt x="99219" y="2219"/>
                </a:moveTo>
                <a:cubicBezTo>
                  <a:pt x="105577" y="-725"/>
                  <a:pt x="112917" y="-725"/>
                  <a:pt x="119276" y="2219"/>
                </a:cubicBezTo>
                <a:lnTo>
                  <a:pt x="212563" y="45321"/>
                </a:lnTo>
                <a:cubicBezTo>
                  <a:pt x="216190" y="46985"/>
                  <a:pt x="218495" y="50612"/>
                  <a:pt x="218495" y="54624"/>
                </a:cubicBezTo>
                <a:cubicBezTo>
                  <a:pt x="218495" y="58635"/>
                  <a:pt x="216190" y="62262"/>
                  <a:pt x="212563" y="63927"/>
                </a:cubicBezTo>
                <a:lnTo>
                  <a:pt x="119276" y="107028"/>
                </a:lnTo>
                <a:cubicBezTo>
                  <a:pt x="112917" y="109973"/>
                  <a:pt x="105577" y="109973"/>
                  <a:pt x="99219" y="107028"/>
                </a:cubicBezTo>
                <a:lnTo>
                  <a:pt x="5932" y="63927"/>
                </a:lnTo>
                <a:cubicBezTo>
                  <a:pt x="2304" y="62220"/>
                  <a:pt x="0" y="58592"/>
                  <a:pt x="0" y="54624"/>
                </a:cubicBezTo>
                <a:cubicBezTo>
                  <a:pt x="0" y="50655"/>
                  <a:pt x="2304" y="46985"/>
                  <a:pt x="5932" y="45321"/>
                </a:cubicBezTo>
                <a:lnTo>
                  <a:pt x="99219" y="2219"/>
                </a:lnTo>
                <a:close/>
                <a:moveTo>
                  <a:pt x="20527" y="93202"/>
                </a:moveTo>
                <a:lnTo>
                  <a:pt x="90641" y="125592"/>
                </a:lnTo>
                <a:cubicBezTo>
                  <a:pt x="102462" y="131054"/>
                  <a:pt x="116075" y="131054"/>
                  <a:pt x="127896" y="125592"/>
                </a:cubicBezTo>
                <a:lnTo>
                  <a:pt x="198011" y="93202"/>
                </a:lnTo>
                <a:lnTo>
                  <a:pt x="212563" y="99944"/>
                </a:lnTo>
                <a:cubicBezTo>
                  <a:pt x="216190" y="101609"/>
                  <a:pt x="218495" y="105236"/>
                  <a:pt x="218495" y="109247"/>
                </a:cubicBezTo>
                <a:cubicBezTo>
                  <a:pt x="218495" y="113259"/>
                  <a:pt x="216190" y="116886"/>
                  <a:pt x="212563" y="118550"/>
                </a:cubicBezTo>
                <a:lnTo>
                  <a:pt x="119276" y="161652"/>
                </a:lnTo>
                <a:cubicBezTo>
                  <a:pt x="112917" y="164596"/>
                  <a:pt x="105577" y="164596"/>
                  <a:pt x="99219" y="161652"/>
                </a:cubicBezTo>
                <a:lnTo>
                  <a:pt x="5932" y="118550"/>
                </a:lnTo>
                <a:cubicBezTo>
                  <a:pt x="2304" y="116843"/>
                  <a:pt x="0" y="113216"/>
                  <a:pt x="0" y="109247"/>
                </a:cubicBezTo>
                <a:cubicBezTo>
                  <a:pt x="0" y="105279"/>
                  <a:pt x="2304" y="101609"/>
                  <a:pt x="5932" y="99944"/>
                </a:cubicBezTo>
                <a:lnTo>
                  <a:pt x="20484" y="93202"/>
                </a:lnTo>
                <a:close/>
                <a:moveTo>
                  <a:pt x="5932" y="154568"/>
                </a:moveTo>
                <a:lnTo>
                  <a:pt x="20484" y="147825"/>
                </a:lnTo>
                <a:lnTo>
                  <a:pt x="90598" y="180215"/>
                </a:lnTo>
                <a:cubicBezTo>
                  <a:pt x="102419" y="185678"/>
                  <a:pt x="116033" y="185678"/>
                  <a:pt x="127853" y="180215"/>
                </a:cubicBezTo>
                <a:lnTo>
                  <a:pt x="197968" y="147825"/>
                </a:lnTo>
                <a:lnTo>
                  <a:pt x="212520" y="154568"/>
                </a:lnTo>
                <a:cubicBezTo>
                  <a:pt x="216148" y="156232"/>
                  <a:pt x="218452" y="159860"/>
                  <a:pt x="218452" y="163871"/>
                </a:cubicBezTo>
                <a:cubicBezTo>
                  <a:pt x="218452" y="167882"/>
                  <a:pt x="216148" y="171510"/>
                  <a:pt x="212520" y="173174"/>
                </a:cubicBezTo>
                <a:lnTo>
                  <a:pt x="119233" y="216276"/>
                </a:lnTo>
                <a:cubicBezTo>
                  <a:pt x="112875" y="219220"/>
                  <a:pt x="105535" y="219220"/>
                  <a:pt x="99176" y="216276"/>
                </a:cubicBezTo>
                <a:lnTo>
                  <a:pt x="5932" y="173174"/>
                </a:lnTo>
                <a:cubicBezTo>
                  <a:pt x="2304" y="171467"/>
                  <a:pt x="0" y="167840"/>
                  <a:pt x="0" y="163871"/>
                </a:cubicBezTo>
                <a:cubicBezTo>
                  <a:pt x="0" y="159902"/>
                  <a:pt x="2304" y="156232"/>
                  <a:pt x="5932" y="154568"/>
                </a:cubicBezTo>
                <a:close/>
              </a:path>
            </a:pathLst>
          </a:custGeom>
          <a:solidFill>
            <a:srgbClr val="D69E2E"/>
          </a:solidFill>
          <a:ln/>
        </p:spPr>
        <p:txBody>
          <a:bodyPr/>
          <a:lstStyle/>
          <a:p>
            <a:endParaRPr lang="zh-CN" altLang="en-US"/>
          </a:p>
        </p:txBody>
      </p:sp>
      <p:sp>
        <p:nvSpPr>
          <p:cNvPr id="27" name="Text 25"/>
          <p:cNvSpPr/>
          <p:nvPr/>
        </p:nvSpPr>
        <p:spPr>
          <a:xfrm>
            <a:off x="9012903" y="2810387"/>
            <a:ext cx="884903" cy="305892"/>
          </a:xfrm>
          <a:prstGeom prst="rect">
            <a:avLst/>
          </a:prstGeom>
          <a:noFill/>
          <a:ln/>
        </p:spPr>
        <p:txBody>
          <a:bodyPr wrap="square" lIns="0" tIns="0" rIns="0" bIns="0" rtlCol="0" anchor="ctr"/>
          <a:lstStyle/>
          <a:p>
            <a:pPr>
              <a:lnSpc>
                <a:spcPct val="130000"/>
              </a:lnSpc>
            </a:pPr>
            <a:r>
              <a:rPr lang="en-US" sz="1548" b="1" dirty="0">
                <a:solidFill>
                  <a:srgbClr val="E2E8F0"/>
                </a:solidFill>
                <a:latin typeface="MiSans" pitchFamily="34" charset="0"/>
                <a:ea typeface="MiSans" pitchFamily="34" charset="-122"/>
                <a:cs typeface="MiSans" pitchFamily="34" charset="-120"/>
              </a:rPr>
              <a:t>分区裁剪</a:t>
            </a:r>
            <a:endParaRPr lang="en-US" sz="1600" dirty="0"/>
          </a:p>
        </p:txBody>
      </p:sp>
      <p:sp>
        <p:nvSpPr>
          <p:cNvPr id="28" name="Text 26"/>
          <p:cNvSpPr/>
          <p:nvPr/>
        </p:nvSpPr>
        <p:spPr>
          <a:xfrm>
            <a:off x="8608688" y="3203677"/>
            <a:ext cx="7297720" cy="262194"/>
          </a:xfrm>
          <a:prstGeom prst="rect">
            <a:avLst/>
          </a:prstGeom>
          <a:noFill/>
          <a:ln/>
        </p:spPr>
        <p:txBody>
          <a:bodyPr wrap="square" lIns="0" tIns="0" rIns="0" bIns="0" rtlCol="0" anchor="ctr"/>
          <a:lstStyle/>
          <a:p>
            <a:pPr>
              <a:lnSpc>
                <a:spcPct val="130000"/>
              </a:lnSpc>
            </a:pPr>
            <a:r>
              <a:rPr lang="en-US" sz="1376" dirty="0">
                <a:solidFill>
                  <a:srgbClr val="A0AEC0"/>
                </a:solidFill>
                <a:latin typeface="MiSans" pitchFamily="34" charset="0"/>
                <a:ea typeface="MiSans" pitchFamily="34" charset="-122"/>
                <a:cs typeface="MiSans" pitchFamily="34" charset="-120"/>
              </a:rPr>
              <a:t>根据查询条件只扫描相关的数据分区</a:t>
            </a:r>
            <a:endParaRPr lang="en-US" sz="1600" dirty="0"/>
          </a:p>
        </p:txBody>
      </p:sp>
      <p:sp>
        <p:nvSpPr>
          <p:cNvPr id="29" name="Shape 27"/>
          <p:cNvSpPr/>
          <p:nvPr/>
        </p:nvSpPr>
        <p:spPr>
          <a:xfrm>
            <a:off x="8630538" y="3602430"/>
            <a:ext cx="174796" cy="174796"/>
          </a:xfrm>
          <a:custGeom>
            <a:avLst/>
            <a:gdLst/>
            <a:ahLst/>
            <a:cxnLst/>
            <a:rect l="l" t="t" r="r" b="b"/>
            <a:pathLst>
              <a:path w="174796" h="174796">
                <a:moveTo>
                  <a:pt x="21849" y="21849"/>
                </a:moveTo>
                <a:cubicBezTo>
                  <a:pt x="21849" y="15807"/>
                  <a:pt x="16967" y="10925"/>
                  <a:pt x="10925" y="10925"/>
                </a:cubicBezTo>
                <a:cubicBezTo>
                  <a:pt x="4882" y="10925"/>
                  <a:pt x="0" y="15807"/>
                  <a:pt x="0" y="21849"/>
                </a:cubicBezTo>
                <a:lnTo>
                  <a:pt x="0" y="136559"/>
                </a:lnTo>
                <a:cubicBezTo>
                  <a:pt x="0" y="151649"/>
                  <a:pt x="12222" y="163871"/>
                  <a:pt x="27312" y="163871"/>
                </a:cubicBezTo>
                <a:lnTo>
                  <a:pt x="163871" y="163871"/>
                </a:lnTo>
                <a:cubicBezTo>
                  <a:pt x="169914" y="163871"/>
                  <a:pt x="174796" y="158989"/>
                  <a:pt x="174796" y="152946"/>
                </a:cubicBezTo>
                <a:cubicBezTo>
                  <a:pt x="174796" y="146903"/>
                  <a:pt x="169914" y="142022"/>
                  <a:pt x="163871" y="142022"/>
                </a:cubicBezTo>
                <a:lnTo>
                  <a:pt x="27312" y="142022"/>
                </a:lnTo>
                <a:cubicBezTo>
                  <a:pt x="24308" y="142022"/>
                  <a:pt x="21849" y="139563"/>
                  <a:pt x="21849" y="136559"/>
                </a:cubicBezTo>
                <a:lnTo>
                  <a:pt x="21849" y="21849"/>
                </a:lnTo>
                <a:close/>
                <a:moveTo>
                  <a:pt x="160662" y="51415"/>
                </a:moveTo>
                <a:cubicBezTo>
                  <a:pt x="164929" y="47147"/>
                  <a:pt x="164929" y="40217"/>
                  <a:pt x="160662" y="35949"/>
                </a:cubicBezTo>
                <a:cubicBezTo>
                  <a:pt x="156394" y="31682"/>
                  <a:pt x="149464" y="31682"/>
                  <a:pt x="145197" y="35949"/>
                </a:cubicBezTo>
                <a:lnTo>
                  <a:pt x="109247" y="71933"/>
                </a:lnTo>
                <a:lnTo>
                  <a:pt x="89651" y="52370"/>
                </a:lnTo>
                <a:cubicBezTo>
                  <a:pt x="85384" y="48103"/>
                  <a:pt x="78453" y="48103"/>
                  <a:pt x="74186" y="52370"/>
                </a:cubicBezTo>
                <a:lnTo>
                  <a:pt x="41412" y="85145"/>
                </a:lnTo>
                <a:cubicBezTo>
                  <a:pt x="37144" y="89412"/>
                  <a:pt x="37144" y="96342"/>
                  <a:pt x="41412" y="100610"/>
                </a:cubicBezTo>
                <a:cubicBezTo>
                  <a:pt x="45679" y="104877"/>
                  <a:pt x="52609" y="104877"/>
                  <a:pt x="56877" y="100610"/>
                </a:cubicBezTo>
                <a:lnTo>
                  <a:pt x="81935" y="75551"/>
                </a:lnTo>
                <a:lnTo>
                  <a:pt x="101532" y="95148"/>
                </a:lnTo>
                <a:cubicBezTo>
                  <a:pt x="105799" y="99415"/>
                  <a:pt x="112730" y="99415"/>
                  <a:pt x="116997" y="95148"/>
                </a:cubicBezTo>
                <a:lnTo>
                  <a:pt x="160696" y="51449"/>
                </a:lnTo>
                <a:close/>
              </a:path>
            </a:pathLst>
          </a:custGeom>
          <a:solidFill>
            <a:srgbClr val="D69E2E"/>
          </a:solidFill>
          <a:ln/>
        </p:spPr>
        <p:txBody>
          <a:bodyPr/>
          <a:lstStyle/>
          <a:p>
            <a:endParaRPr lang="zh-CN" altLang="en-US"/>
          </a:p>
        </p:txBody>
      </p:sp>
      <p:sp>
        <p:nvSpPr>
          <p:cNvPr id="30" name="Text 28"/>
          <p:cNvSpPr/>
          <p:nvPr/>
        </p:nvSpPr>
        <p:spPr>
          <a:xfrm>
            <a:off x="8902364" y="3553269"/>
            <a:ext cx="7004045" cy="262194"/>
          </a:xfrm>
          <a:prstGeom prst="rect">
            <a:avLst/>
          </a:prstGeom>
          <a:noFill/>
          <a:ln/>
        </p:spPr>
        <p:txBody>
          <a:bodyPr wrap="square" lIns="0" tIns="0" rIns="0" bIns="0" rtlCol="0" anchor="ctr"/>
          <a:lstStyle/>
          <a:p>
            <a:pPr>
              <a:lnSpc>
                <a:spcPct val="130000"/>
              </a:lnSpc>
            </a:pPr>
            <a:r>
              <a:rPr lang="en-US" sz="1376" dirty="0">
                <a:solidFill>
                  <a:srgbClr val="E2E8F0"/>
                </a:solidFill>
                <a:latin typeface="MiSans" pitchFamily="34" charset="0"/>
                <a:ea typeface="MiSans" pitchFamily="34" charset="-122"/>
                <a:cs typeface="MiSans" pitchFamily="34" charset="-120"/>
              </a:rPr>
              <a:t>效果：大幅减少</a:t>
            </a:r>
            <a:r>
              <a:rPr lang="en-US" sz="1376" dirty="0">
                <a:solidFill>
                  <a:srgbClr val="D69E2E"/>
                </a:solidFill>
                <a:latin typeface="MiSans" pitchFamily="34" charset="0"/>
                <a:ea typeface="MiSans" pitchFamily="34" charset="-122"/>
                <a:cs typeface="MiSans" pitchFamily="34" charset="-120"/>
              </a:rPr>
              <a:t>数据扫描量</a:t>
            </a:r>
            <a:r>
              <a:rPr lang="en-US" sz="1376" dirty="0">
                <a:solidFill>
                  <a:srgbClr val="E2E8F0"/>
                </a:solidFill>
                <a:latin typeface="MiSans" pitchFamily="34" charset="0"/>
                <a:ea typeface="MiSans" pitchFamily="34" charset="-122"/>
                <a:cs typeface="MiSans" pitchFamily="34" charset="-120"/>
              </a:rPr>
              <a:t>，提升查询性能数倍</a:t>
            </a:r>
            <a:endParaRPr lang="en-US" sz="1600" dirty="0"/>
          </a:p>
        </p:txBody>
      </p:sp>
      <p:sp>
        <p:nvSpPr>
          <p:cNvPr id="31" name="Shape 29"/>
          <p:cNvSpPr/>
          <p:nvPr/>
        </p:nvSpPr>
        <p:spPr>
          <a:xfrm>
            <a:off x="8324645" y="4121355"/>
            <a:ext cx="43699" cy="1267269"/>
          </a:xfrm>
          <a:custGeom>
            <a:avLst/>
            <a:gdLst/>
            <a:ahLst/>
            <a:cxnLst/>
            <a:rect l="l" t="t" r="r" b="b"/>
            <a:pathLst>
              <a:path w="43699" h="1267269">
                <a:moveTo>
                  <a:pt x="0" y="0"/>
                </a:moveTo>
                <a:lnTo>
                  <a:pt x="43699" y="0"/>
                </a:lnTo>
                <a:lnTo>
                  <a:pt x="43699" y="1267269"/>
                </a:lnTo>
                <a:lnTo>
                  <a:pt x="0" y="1267269"/>
                </a:lnTo>
                <a:lnTo>
                  <a:pt x="0" y="0"/>
                </a:lnTo>
                <a:close/>
              </a:path>
            </a:pathLst>
          </a:custGeom>
          <a:solidFill>
            <a:srgbClr val="D69E2E"/>
          </a:solidFill>
          <a:ln/>
        </p:spPr>
        <p:txBody>
          <a:bodyPr/>
          <a:lstStyle/>
          <a:p>
            <a:endParaRPr lang="zh-CN" altLang="en-US"/>
          </a:p>
        </p:txBody>
      </p:sp>
      <p:sp>
        <p:nvSpPr>
          <p:cNvPr id="32" name="Shape 30"/>
          <p:cNvSpPr/>
          <p:nvPr/>
        </p:nvSpPr>
        <p:spPr>
          <a:xfrm>
            <a:off x="8636000" y="4296151"/>
            <a:ext cx="218495" cy="218495"/>
          </a:xfrm>
          <a:custGeom>
            <a:avLst/>
            <a:gdLst/>
            <a:ahLst/>
            <a:cxnLst/>
            <a:rect l="l" t="t" r="r" b="b"/>
            <a:pathLst>
              <a:path w="218495" h="218495">
                <a:moveTo>
                  <a:pt x="13656" y="13656"/>
                </a:moveTo>
                <a:cubicBezTo>
                  <a:pt x="21209" y="13656"/>
                  <a:pt x="27312" y="19758"/>
                  <a:pt x="27312" y="27312"/>
                </a:cubicBezTo>
                <a:lnTo>
                  <a:pt x="27312" y="170699"/>
                </a:lnTo>
                <a:cubicBezTo>
                  <a:pt x="27312" y="174454"/>
                  <a:pt x="30384" y="177527"/>
                  <a:pt x="34140" y="177527"/>
                </a:cubicBezTo>
                <a:lnTo>
                  <a:pt x="204839" y="177527"/>
                </a:lnTo>
                <a:cubicBezTo>
                  <a:pt x="212392" y="177527"/>
                  <a:pt x="218495" y="183629"/>
                  <a:pt x="218495" y="191183"/>
                </a:cubicBezTo>
                <a:cubicBezTo>
                  <a:pt x="218495" y="198736"/>
                  <a:pt x="212392" y="204839"/>
                  <a:pt x="204839" y="204839"/>
                </a:cubicBezTo>
                <a:lnTo>
                  <a:pt x="34140" y="204839"/>
                </a:lnTo>
                <a:cubicBezTo>
                  <a:pt x="15278" y="204839"/>
                  <a:pt x="0" y="189561"/>
                  <a:pt x="0" y="170699"/>
                </a:cubicBezTo>
                <a:lnTo>
                  <a:pt x="0" y="27312"/>
                </a:lnTo>
                <a:cubicBezTo>
                  <a:pt x="0" y="19758"/>
                  <a:pt x="6102" y="13656"/>
                  <a:pt x="13656" y="13656"/>
                </a:cubicBezTo>
                <a:close/>
                <a:moveTo>
                  <a:pt x="54624" y="40968"/>
                </a:moveTo>
                <a:cubicBezTo>
                  <a:pt x="54624" y="33414"/>
                  <a:pt x="60726" y="27312"/>
                  <a:pt x="68280" y="27312"/>
                </a:cubicBezTo>
                <a:lnTo>
                  <a:pt x="150215" y="27312"/>
                </a:lnTo>
                <a:cubicBezTo>
                  <a:pt x="157768" y="27312"/>
                  <a:pt x="163871" y="33414"/>
                  <a:pt x="163871" y="40968"/>
                </a:cubicBezTo>
                <a:cubicBezTo>
                  <a:pt x="163871" y="48521"/>
                  <a:pt x="157768" y="54624"/>
                  <a:pt x="150215" y="54624"/>
                </a:cubicBezTo>
                <a:lnTo>
                  <a:pt x="68280" y="54624"/>
                </a:lnTo>
                <a:cubicBezTo>
                  <a:pt x="60726" y="54624"/>
                  <a:pt x="54624" y="48521"/>
                  <a:pt x="54624" y="40968"/>
                </a:cubicBezTo>
                <a:close/>
                <a:moveTo>
                  <a:pt x="68280" y="75108"/>
                </a:moveTo>
                <a:lnTo>
                  <a:pt x="122903" y="75108"/>
                </a:lnTo>
                <a:cubicBezTo>
                  <a:pt x="130457" y="75108"/>
                  <a:pt x="136559" y="81210"/>
                  <a:pt x="136559" y="88763"/>
                </a:cubicBezTo>
                <a:cubicBezTo>
                  <a:pt x="136559" y="96317"/>
                  <a:pt x="130457" y="102419"/>
                  <a:pt x="122903" y="102419"/>
                </a:cubicBezTo>
                <a:lnTo>
                  <a:pt x="68280" y="102419"/>
                </a:lnTo>
                <a:cubicBezTo>
                  <a:pt x="60726" y="102419"/>
                  <a:pt x="54624" y="96317"/>
                  <a:pt x="54624" y="88763"/>
                </a:cubicBezTo>
                <a:cubicBezTo>
                  <a:pt x="54624" y="81210"/>
                  <a:pt x="60726" y="75108"/>
                  <a:pt x="68280" y="75108"/>
                </a:cubicBezTo>
                <a:close/>
                <a:moveTo>
                  <a:pt x="68280" y="122903"/>
                </a:moveTo>
                <a:lnTo>
                  <a:pt x="177527" y="122903"/>
                </a:lnTo>
                <a:cubicBezTo>
                  <a:pt x="185080" y="122903"/>
                  <a:pt x="191183" y="129006"/>
                  <a:pt x="191183" y="136559"/>
                </a:cubicBezTo>
                <a:cubicBezTo>
                  <a:pt x="191183" y="144113"/>
                  <a:pt x="185080" y="150215"/>
                  <a:pt x="177527" y="150215"/>
                </a:cubicBezTo>
                <a:lnTo>
                  <a:pt x="68280" y="150215"/>
                </a:lnTo>
                <a:cubicBezTo>
                  <a:pt x="60726" y="150215"/>
                  <a:pt x="54624" y="144113"/>
                  <a:pt x="54624" y="136559"/>
                </a:cubicBezTo>
                <a:cubicBezTo>
                  <a:pt x="54624" y="129006"/>
                  <a:pt x="60726" y="122903"/>
                  <a:pt x="68280" y="122903"/>
                </a:cubicBezTo>
                <a:close/>
              </a:path>
            </a:pathLst>
          </a:custGeom>
          <a:solidFill>
            <a:srgbClr val="D69E2E"/>
          </a:solidFill>
          <a:ln/>
        </p:spPr>
        <p:txBody>
          <a:bodyPr/>
          <a:lstStyle/>
          <a:p>
            <a:endParaRPr lang="zh-CN" altLang="en-US"/>
          </a:p>
        </p:txBody>
      </p:sp>
      <p:sp>
        <p:nvSpPr>
          <p:cNvPr id="33" name="Text 31"/>
          <p:cNvSpPr/>
          <p:nvPr/>
        </p:nvSpPr>
        <p:spPr>
          <a:xfrm>
            <a:off x="9012903" y="4252452"/>
            <a:ext cx="1278194" cy="305892"/>
          </a:xfrm>
          <a:prstGeom prst="rect">
            <a:avLst/>
          </a:prstGeom>
          <a:noFill/>
          <a:ln/>
        </p:spPr>
        <p:txBody>
          <a:bodyPr wrap="square" lIns="0" tIns="0" rIns="0" bIns="0" rtlCol="0" anchor="ctr"/>
          <a:lstStyle/>
          <a:p>
            <a:pPr>
              <a:lnSpc>
                <a:spcPct val="130000"/>
              </a:lnSpc>
            </a:pPr>
            <a:r>
              <a:rPr lang="en-US" sz="1548" b="1" dirty="0">
                <a:solidFill>
                  <a:srgbClr val="E2E8F0"/>
                </a:solidFill>
                <a:latin typeface="MiSans" pitchFamily="34" charset="0"/>
                <a:ea typeface="MiSans" pitchFamily="34" charset="-122"/>
                <a:cs typeface="MiSans" pitchFamily="34" charset="-120"/>
              </a:rPr>
              <a:t>统计信息使用</a:t>
            </a:r>
            <a:endParaRPr lang="en-US" sz="1600" dirty="0"/>
          </a:p>
        </p:txBody>
      </p:sp>
      <p:sp>
        <p:nvSpPr>
          <p:cNvPr id="34" name="Text 32"/>
          <p:cNvSpPr/>
          <p:nvPr/>
        </p:nvSpPr>
        <p:spPr>
          <a:xfrm>
            <a:off x="8608688" y="4645742"/>
            <a:ext cx="7297720" cy="262194"/>
          </a:xfrm>
          <a:prstGeom prst="rect">
            <a:avLst/>
          </a:prstGeom>
          <a:noFill/>
          <a:ln/>
        </p:spPr>
        <p:txBody>
          <a:bodyPr wrap="square" lIns="0" tIns="0" rIns="0" bIns="0" rtlCol="0" anchor="ctr"/>
          <a:lstStyle/>
          <a:p>
            <a:pPr>
              <a:lnSpc>
                <a:spcPct val="130000"/>
              </a:lnSpc>
            </a:pPr>
            <a:r>
              <a:rPr lang="en-US" sz="1376" dirty="0">
                <a:solidFill>
                  <a:srgbClr val="A0AEC0"/>
                </a:solidFill>
                <a:latin typeface="MiSans" pitchFamily="34" charset="0"/>
                <a:ea typeface="MiSans" pitchFamily="34" charset="-122"/>
                <a:cs typeface="MiSans" pitchFamily="34" charset="-120"/>
              </a:rPr>
              <a:t>利用表的统计信息(行数、数据量、NDV等)进行成本估算</a:t>
            </a:r>
            <a:endParaRPr lang="en-US" sz="1600" dirty="0"/>
          </a:p>
        </p:txBody>
      </p:sp>
      <p:sp>
        <p:nvSpPr>
          <p:cNvPr id="35" name="Shape 33"/>
          <p:cNvSpPr/>
          <p:nvPr/>
        </p:nvSpPr>
        <p:spPr>
          <a:xfrm>
            <a:off x="8630538" y="5044495"/>
            <a:ext cx="174796" cy="174796"/>
          </a:xfrm>
          <a:custGeom>
            <a:avLst/>
            <a:gdLst/>
            <a:ahLst/>
            <a:cxnLst/>
            <a:rect l="l" t="t" r="r" b="b"/>
            <a:pathLst>
              <a:path w="174796" h="174796">
                <a:moveTo>
                  <a:pt x="21849" y="21849"/>
                </a:moveTo>
                <a:cubicBezTo>
                  <a:pt x="21849" y="15807"/>
                  <a:pt x="16967" y="10925"/>
                  <a:pt x="10925" y="10925"/>
                </a:cubicBezTo>
                <a:cubicBezTo>
                  <a:pt x="4882" y="10925"/>
                  <a:pt x="0" y="15807"/>
                  <a:pt x="0" y="21849"/>
                </a:cubicBezTo>
                <a:lnTo>
                  <a:pt x="0" y="136559"/>
                </a:lnTo>
                <a:cubicBezTo>
                  <a:pt x="0" y="151649"/>
                  <a:pt x="12222" y="163871"/>
                  <a:pt x="27312" y="163871"/>
                </a:cubicBezTo>
                <a:lnTo>
                  <a:pt x="163871" y="163871"/>
                </a:lnTo>
                <a:cubicBezTo>
                  <a:pt x="169914" y="163871"/>
                  <a:pt x="174796" y="158989"/>
                  <a:pt x="174796" y="152946"/>
                </a:cubicBezTo>
                <a:cubicBezTo>
                  <a:pt x="174796" y="146903"/>
                  <a:pt x="169914" y="142022"/>
                  <a:pt x="163871" y="142022"/>
                </a:cubicBezTo>
                <a:lnTo>
                  <a:pt x="27312" y="142022"/>
                </a:lnTo>
                <a:cubicBezTo>
                  <a:pt x="24308" y="142022"/>
                  <a:pt x="21849" y="139563"/>
                  <a:pt x="21849" y="136559"/>
                </a:cubicBezTo>
                <a:lnTo>
                  <a:pt x="21849" y="21849"/>
                </a:lnTo>
                <a:close/>
                <a:moveTo>
                  <a:pt x="160662" y="51415"/>
                </a:moveTo>
                <a:cubicBezTo>
                  <a:pt x="164929" y="47147"/>
                  <a:pt x="164929" y="40217"/>
                  <a:pt x="160662" y="35949"/>
                </a:cubicBezTo>
                <a:cubicBezTo>
                  <a:pt x="156394" y="31682"/>
                  <a:pt x="149464" y="31682"/>
                  <a:pt x="145197" y="35949"/>
                </a:cubicBezTo>
                <a:lnTo>
                  <a:pt x="109247" y="71933"/>
                </a:lnTo>
                <a:lnTo>
                  <a:pt x="89651" y="52370"/>
                </a:lnTo>
                <a:cubicBezTo>
                  <a:pt x="85384" y="48103"/>
                  <a:pt x="78453" y="48103"/>
                  <a:pt x="74186" y="52370"/>
                </a:cubicBezTo>
                <a:lnTo>
                  <a:pt x="41412" y="85145"/>
                </a:lnTo>
                <a:cubicBezTo>
                  <a:pt x="37144" y="89412"/>
                  <a:pt x="37144" y="96342"/>
                  <a:pt x="41412" y="100610"/>
                </a:cubicBezTo>
                <a:cubicBezTo>
                  <a:pt x="45679" y="104877"/>
                  <a:pt x="52609" y="104877"/>
                  <a:pt x="56877" y="100610"/>
                </a:cubicBezTo>
                <a:lnTo>
                  <a:pt x="81935" y="75551"/>
                </a:lnTo>
                <a:lnTo>
                  <a:pt x="101532" y="95148"/>
                </a:lnTo>
                <a:cubicBezTo>
                  <a:pt x="105799" y="99415"/>
                  <a:pt x="112730" y="99415"/>
                  <a:pt x="116997" y="95148"/>
                </a:cubicBezTo>
                <a:lnTo>
                  <a:pt x="160696" y="51449"/>
                </a:lnTo>
                <a:close/>
              </a:path>
            </a:pathLst>
          </a:custGeom>
          <a:solidFill>
            <a:srgbClr val="D69E2E"/>
          </a:solidFill>
          <a:ln/>
        </p:spPr>
        <p:txBody>
          <a:bodyPr/>
          <a:lstStyle/>
          <a:p>
            <a:endParaRPr lang="zh-CN" altLang="en-US"/>
          </a:p>
        </p:txBody>
      </p:sp>
      <p:sp>
        <p:nvSpPr>
          <p:cNvPr id="36" name="Text 34"/>
          <p:cNvSpPr/>
          <p:nvPr/>
        </p:nvSpPr>
        <p:spPr>
          <a:xfrm>
            <a:off x="8902364" y="4995333"/>
            <a:ext cx="7004045" cy="262194"/>
          </a:xfrm>
          <a:prstGeom prst="rect">
            <a:avLst/>
          </a:prstGeom>
          <a:noFill/>
          <a:ln/>
        </p:spPr>
        <p:txBody>
          <a:bodyPr wrap="square" lIns="0" tIns="0" rIns="0" bIns="0" rtlCol="0" anchor="ctr"/>
          <a:lstStyle/>
          <a:p>
            <a:pPr>
              <a:lnSpc>
                <a:spcPct val="130000"/>
              </a:lnSpc>
            </a:pPr>
            <a:r>
              <a:rPr lang="en-US" sz="1376" dirty="0">
                <a:solidFill>
                  <a:srgbClr val="E2E8F0"/>
                </a:solidFill>
                <a:latin typeface="MiSans" pitchFamily="34" charset="0"/>
                <a:ea typeface="MiSans" pitchFamily="34" charset="-122"/>
                <a:cs typeface="MiSans" pitchFamily="34" charset="-120"/>
              </a:rPr>
              <a:t>基于</a:t>
            </a:r>
            <a:r>
              <a:rPr lang="en-US" sz="1376" dirty="0">
                <a:solidFill>
                  <a:srgbClr val="D69E2E"/>
                </a:solidFill>
                <a:latin typeface="MiSans" pitchFamily="34" charset="0"/>
                <a:ea typeface="MiSans" pitchFamily="34" charset="-122"/>
                <a:cs typeface="MiSans" pitchFamily="34" charset="-120"/>
              </a:rPr>
              <a:t>代价模型</a:t>
            </a:r>
            <a:r>
              <a:rPr lang="en-US" sz="1376" dirty="0">
                <a:solidFill>
                  <a:srgbClr val="E2E8F0"/>
                </a:solidFill>
                <a:latin typeface="MiSans" pitchFamily="34" charset="0"/>
                <a:ea typeface="MiSans" pitchFamily="34" charset="-122"/>
                <a:cs typeface="MiSans" pitchFamily="34" charset="-120"/>
              </a:rPr>
              <a:t>选择最优的执行计划变体</a:t>
            </a:r>
            <a:endParaRPr lang="en-US" sz="1600" dirty="0"/>
          </a:p>
        </p:txBody>
      </p:sp>
      <p:sp>
        <p:nvSpPr>
          <p:cNvPr id="37" name="Shape 35"/>
          <p:cNvSpPr/>
          <p:nvPr/>
        </p:nvSpPr>
        <p:spPr>
          <a:xfrm>
            <a:off x="8324645" y="5563419"/>
            <a:ext cx="43699" cy="1267269"/>
          </a:xfrm>
          <a:custGeom>
            <a:avLst/>
            <a:gdLst/>
            <a:ahLst/>
            <a:cxnLst/>
            <a:rect l="l" t="t" r="r" b="b"/>
            <a:pathLst>
              <a:path w="43699" h="1267269">
                <a:moveTo>
                  <a:pt x="0" y="0"/>
                </a:moveTo>
                <a:lnTo>
                  <a:pt x="43699" y="0"/>
                </a:lnTo>
                <a:lnTo>
                  <a:pt x="43699" y="1267269"/>
                </a:lnTo>
                <a:lnTo>
                  <a:pt x="0" y="1267269"/>
                </a:lnTo>
                <a:lnTo>
                  <a:pt x="0" y="0"/>
                </a:lnTo>
                <a:close/>
              </a:path>
            </a:pathLst>
          </a:custGeom>
          <a:solidFill>
            <a:srgbClr val="D69E2E"/>
          </a:solidFill>
          <a:ln/>
        </p:spPr>
        <p:txBody>
          <a:bodyPr/>
          <a:lstStyle/>
          <a:p>
            <a:endParaRPr lang="zh-CN" altLang="en-US"/>
          </a:p>
        </p:txBody>
      </p:sp>
      <p:sp>
        <p:nvSpPr>
          <p:cNvPr id="38" name="Shape 36"/>
          <p:cNvSpPr/>
          <p:nvPr/>
        </p:nvSpPr>
        <p:spPr>
          <a:xfrm>
            <a:off x="8622344" y="5738215"/>
            <a:ext cx="245806" cy="218495"/>
          </a:xfrm>
          <a:custGeom>
            <a:avLst/>
            <a:gdLst/>
            <a:ahLst/>
            <a:cxnLst/>
            <a:rect l="l" t="t" r="r" b="b"/>
            <a:pathLst>
              <a:path w="245806" h="218495">
                <a:moveTo>
                  <a:pt x="64268" y="17667"/>
                </a:moveTo>
                <a:cubicBezTo>
                  <a:pt x="58934" y="12333"/>
                  <a:pt x="50271" y="12333"/>
                  <a:pt x="44936" y="17667"/>
                </a:cubicBezTo>
                <a:lnTo>
                  <a:pt x="3969" y="58635"/>
                </a:lnTo>
                <a:cubicBezTo>
                  <a:pt x="-1366" y="63969"/>
                  <a:pt x="-1366" y="72632"/>
                  <a:pt x="3969" y="77967"/>
                </a:cubicBezTo>
                <a:cubicBezTo>
                  <a:pt x="9303" y="83301"/>
                  <a:pt x="17966" y="83301"/>
                  <a:pt x="23300" y="77967"/>
                </a:cubicBezTo>
                <a:lnTo>
                  <a:pt x="40968" y="60299"/>
                </a:lnTo>
                <a:lnTo>
                  <a:pt x="40968" y="191183"/>
                </a:lnTo>
                <a:cubicBezTo>
                  <a:pt x="40968" y="198736"/>
                  <a:pt x="47070" y="204839"/>
                  <a:pt x="54624" y="204839"/>
                </a:cubicBezTo>
                <a:cubicBezTo>
                  <a:pt x="62177" y="204839"/>
                  <a:pt x="68280" y="198736"/>
                  <a:pt x="68280" y="191183"/>
                </a:cubicBezTo>
                <a:lnTo>
                  <a:pt x="68280" y="60299"/>
                </a:lnTo>
                <a:lnTo>
                  <a:pt x="85947" y="77967"/>
                </a:lnTo>
                <a:cubicBezTo>
                  <a:pt x="91281" y="83301"/>
                  <a:pt x="99944" y="83301"/>
                  <a:pt x="105279" y="77967"/>
                </a:cubicBezTo>
                <a:cubicBezTo>
                  <a:pt x="110613" y="72632"/>
                  <a:pt x="110613" y="63969"/>
                  <a:pt x="105279" y="58635"/>
                </a:cubicBezTo>
                <a:lnTo>
                  <a:pt x="64311" y="17667"/>
                </a:lnTo>
                <a:close/>
                <a:moveTo>
                  <a:pt x="136559" y="204839"/>
                </a:moveTo>
                <a:lnTo>
                  <a:pt x="150215" y="204839"/>
                </a:lnTo>
                <a:cubicBezTo>
                  <a:pt x="157768" y="204839"/>
                  <a:pt x="163871" y="198736"/>
                  <a:pt x="163871" y="191183"/>
                </a:cubicBezTo>
                <a:cubicBezTo>
                  <a:pt x="163871" y="183629"/>
                  <a:pt x="157768" y="177527"/>
                  <a:pt x="150215" y="177527"/>
                </a:cubicBezTo>
                <a:lnTo>
                  <a:pt x="136559" y="177527"/>
                </a:lnTo>
                <a:cubicBezTo>
                  <a:pt x="129006" y="177527"/>
                  <a:pt x="122903" y="183629"/>
                  <a:pt x="122903" y="191183"/>
                </a:cubicBezTo>
                <a:cubicBezTo>
                  <a:pt x="122903" y="198736"/>
                  <a:pt x="129006" y="204839"/>
                  <a:pt x="136559" y="204839"/>
                </a:cubicBezTo>
                <a:close/>
                <a:moveTo>
                  <a:pt x="136559" y="150215"/>
                </a:moveTo>
                <a:lnTo>
                  <a:pt x="177527" y="150215"/>
                </a:lnTo>
                <a:cubicBezTo>
                  <a:pt x="185080" y="150215"/>
                  <a:pt x="191183" y="144113"/>
                  <a:pt x="191183" y="136559"/>
                </a:cubicBezTo>
                <a:cubicBezTo>
                  <a:pt x="191183" y="129006"/>
                  <a:pt x="185080" y="122903"/>
                  <a:pt x="177527" y="122903"/>
                </a:cubicBezTo>
                <a:lnTo>
                  <a:pt x="136559" y="122903"/>
                </a:lnTo>
                <a:cubicBezTo>
                  <a:pt x="129006" y="122903"/>
                  <a:pt x="122903" y="129006"/>
                  <a:pt x="122903" y="136559"/>
                </a:cubicBezTo>
                <a:cubicBezTo>
                  <a:pt x="122903" y="144113"/>
                  <a:pt x="129006" y="150215"/>
                  <a:pt x="136559" y="150215"/>
                </a:cubicBezTo>
                <a:close/>
                <a:moveTo>
                  <a:pt x="136559" y="95591"/>
                </a:moveTo>
                <a:lnTo>
                  <a:pt x="204839" y="95591"/>
                </a:lnTo>
                <a:cubicBezTo>
                  <a:pt x="212392" y="95591"/>
                  <a:pt x="218495" y="89489"/>
                  <a:pt x="218495" y="81935"/>
                </a:cubicBezTo>
                <a:cubicBezTo>
                  <a:pt x="218495" y="74382"/>
                  <a:pt x="212392" y="68280"/>
                  <a:pt x="204839" y="68280"/>
                </a:cubicBezTo>
                <a:lnTo>
                  <a:pt x="136559" y="68280"/>
                </a:lnTo>
                <a:cubicBezTo>
                  <a:pt x="129006" y="68280"/>
                  <a:pt x="122903" y="74382"/>
                  <a:pt x="122903" y="81935"/>
                </a:cubicBezTo>
                <a:cubicBezTo>
                  <a:pt x="122903" y="89489"/>
                  <a:pt x="129006" y="95591"/>
                  <a:pt x="136559" y="95591"/>
                </a:cubicBezTo>
                <a:close/>
                <a:moveTo>
                  <a:pt x="136559" y="40968"/>
                </a:moveTo>
                <a:lnTo>
                  <a:pt x="232151" y="40968"/>
                </a:lnTo>
                <a:cubicBezTo>
                  <a:pt x="239704" y="40968"/>
                  <a:pt x="245806" y="34865"/>
                  <a:pt x="245806" y="27312"/>
                </a:cubicBezTo>
                <a:cubicBezTo>
                  <a:pt x="245806" y="19758"/>
                  <a:pt x="239704" y="13656"/>
                  <a:pt x="232151" y="13656"/>
                </a:cubicBezTo>
                <a:lnTo>
                  <a:pt x="136559" y="13656"/>
                </a:lnTo>
                <a:cubicBezTo>
                  <a:pt x="129006" y="13656"/>
                  <a:pt x="122903" y="19758"/>
                  <a:pt x="122903" y="27312"/>
                </a:cubicBezTo>
                <a:cubicBezTo>
                  <a:pt x="122903" y="34865"/>
                  <a:pt x="129006" y="40968"/>
                  <a:pt x="136559" y="40968"/>
                </a:cubicBezTo>
                <a:close/>
              </a:path>
            </a:pathLst>
          </a:custGeom>
          <a:solidFill>
            <a:srgbClr val="D69E2E"/>
          </a:solidFill>
          <a:ln/>
        </p:spPr>
        <p:txBody>
          <a:bodyPr/>
          <a:lstStyle/>
          <a:p>
            <a:endParaRPr lang="zh-CN" altLang="en-US"/>
          </a:p>
        </p:txBody>
      </p:sp>
      <p:sp>
        <p:nvSpPr>
          <p:cNvPr id="39" name="Text 37"/>
          <p:cNvSpPr/>
          <p:nvPr/>
        </p:nvSpPr>
        <p:spPr>
          <a:xfrm>
            <a:off x="9012903" y="5694516"/>
            <a:ext cx="1278194" cy="305892"/>
          </a:xfrm>
          <a:prstGeom prst="rect">
            <a:avLst/>
          </a:prstGeom>
          <a:noFill/>
          <a:ln/>
        </p:spPr>
        <p:txBody>
          <a:bodyPr wrap="square" lIns="0" tIns="0" rIns="0" bIns="0" rtlCol="0" anchor="ctr"/>
          <a:lstStyle/>
          <a:p>
            <a:pPr>
              <a:lnSpc>
                <a:spcPct val="130000"/>
              </a:lnSpc>
            </a:pPr>
            <a:r>
              <a:rPr lang="en-US" sz="1548" b="1" dirty="0">
                <a:solidFill>
                  <a:srgbClr val="E2E8F0"/>
                </a:solidFill>
                <a:latin typeface="MiSans" pitchFamily="34" charset="0"/>
                <a:ea typeface="MiSans" pitchFamily="34" charset="-122"/>
                <a:cs typeface="MiSans" pitchFamily="34" charset="-120"/>
              </a:rPr>
              <a:t>连接顺序优化</a:t>
            </a:r>
            <a:endParaRPr lang="en-US" sz="1600" dirty="0"/>
          </a:p>
        </p:txBody>
      </p:sp>
      <p:sp>
        <p:nvSpPr>
          <p:cNvPr id="40" name="Text 38"/>
          <p:cNvSpPr/>
          <p:nvPr/>
        </p:nvSpPr>
        <p:spPr>
          <a:xfrm>
            <a:off x="8608688" y="6087806"/>
            <a:ext cx="7297720" cy="262194"/>
          </a:xfrm>
          <a:prstGeom prst="rect">
            <a:avLst/>
          </a:prstGeom>
          <a:noFill/>
          <a:ln/>
        </p:spPr>
        <p:txBody>
          <a:bodyPr wrap="square" lIns="0" tIns="0" rIns="0" bIns="0" rtlCol="0" anchor="ctr"/>
          <a:lstStyle/>
          <a:p>
            <a:pPr>
              <a:lnSpc>
                <a:spcPct val="130000"/>
              </a:lnSpc>
            </a:pPr>
            <a:r>
              <a:rPr lang="en-US" sz="1376" dirty="0">
                <a:solidFill>
                  <a:srgbClr val="A0AEC0"/>
                </a:solidFill>
                <a:latin typeface="MiSans" pitchFamily="34" charset="0"/>
                <a:ea typeface="MiSans" pitchFamily="34" charset="-122"/>
                <a:cs typeface="MiSans" pitchFamily="34" charset="-120"/>
              </a:rPr>
              <a:t>选择连接顺序以最小化中间结果大小</a:t>
            </a:r>
            <a:endParaRPr lang="en-US" sz="1600" dirty="0"/>
          </a:p>
        </p:txBody>
      </p:sp>
      <p:sp>
        <p:nvSpPr>
          <p:cNvPr id="41" name="Shape 39"/>
          <p:cNvSpPr/>
          <p:nvPr/>
        </p:nvSpPr>
        <p:spPr>
          <a:xfrm>
            <a:off x="8630538" y="6486559"/>
            <a:ext cx="174796" cy="174796"/>
          </a:xfrm>
          <a:custGeom>
            <a:avLst/>
            <a:gdLst/>
            <a:ahLst/>
            <a:cxnLst/>
            <a:rect l="l" t="t" r="r" b="b"/>
            <a:pathLst>
              <a:path w="174796" h="174796">
                <a:moveTo>
                  <a:pt x="21849" y="21849"/>
                </a:moveTo>
                <a:cubicBezTo>
                  <a:pt x="21849" y="15807"/>
                  <a:pt x="16967" y="10925"/>
                  <a:pt x="10925" y="10925"/>
                </a:cubicBezTo>
                <a:cubicBezTo>
                  <a:pt x="4882" y="10925"/>
                  <a:pt x="0" y="15807"/>
                  <a:pt x="0" y="21849"/>
                </a:cubicBezTo>
                <a:lnTo>
                  <a:pt x="0" y="136559"/>
                </a:lnTo>
                <a:cubicBezTo>
                  <a:pt x="0" y="151649"/>
                  <a:pt x="12222" y="163871"/>
                  <a:pt x="27312" y="163871"/>
                </a:cubicBezTo>
                <a:lnTo>
                  <a:pt x="163871" y="163871"/>
                </a:lnTo>
                <a:cubicBezTo>
                  <a:pt x="169914" y="163871"/>
                  <a:pt x="174796" y="158989"/>
                  <a:pt x="174796" y="152946"/>
                </a:cubicBezTo>
                <a:cubicBezTo>
                  <a:pt x="174796" y="146903"/>
                  <a:pt x="169914" y="142022"/>
                  <a:pt x="163871" y="142022"/>
                </a:cubicBezTo>
                <a:lnTo>
                  <a:pt x="27312" y="142022"/>
                </a:lnTo>
                <a:cubicBezTo>
                  <a:pt x="24308" y="142022"/>
                  <a:pt x="21849" y="139563"/>
                  <a:pt x="21849" y="136559"/>
                </a:cubicBezTo>
                <a:lnTo>
                  <a:pt x="21849" y="21849"/>
                </a:lnTo>
                <a:close/>
                <a:moveTo>
                  <a:pt x="160662" y="51415"/>
                </a:moveTo>
                <a:cubicBezTo>
                  <a:pt x="164929" y="47147"/>
                  <a:pt x="164929" y="40217"/>
                  <a:pt x="160662" y="35949"/>
                </a:cubicBezTo>
                <a:cubicBezTo>
                  <a:pt x="156394" y="31682"/>
                  <a:pt x="149464" y="31682"/>
                  <a:pt x="145197" y="35949"/>
                </a:cubicBezTo>
                <a:lnTo>
                  <a:pt x="109247" y="71933"/>
                </a:lnTo>
                <a:lnTo>
                  <a:pt x="89651" y="52370"/>
                </a:lnTo>
                <a:cubicBezTo>
                  <a:pt x="85384" y="48103"/>
                  <a:pt x="78453" y="48103"/>
                  <a:pt x="74186" y="52370"/>
                </a:cubicBezTo>
                <a:lnTo>
                  <a:pt x="41412" y="85145"/>
                </a:lnTo>
                <a:cubicBezTo>
                  <a:pt x="37144" y="89412"/>
                  <a:pt x="37144" y="96342"/>
                  <a:pt x="41412" y="100610"/>
                </a:cubicBezTo>
                <a:cubicBezTo>
                  <a:pt x="45679" y="104877"/>
                  <a:pt x="52609" y="104877"/>
                  <a:pt x="56877" y="100610"/>
                </a:cubicBezTo>
                <a:lnTo>
                  <a:pt x="81935" y="75551"/>
                </a:lnTo>
                <a:lnTo>
                  <a:pt x="101532" y="95148"/>
                </a:lnTo>
                <a:cubicBezTo>
                  <a:pt x="105799" y="99415"/>
                  <a:pt x="112730" y="99415"/>
                  <a:pt x="116997" y="95148"/>
                </a:cubicBezTo>
                <a:lnTo>
                  <a:pt x="160696" y="51449"/>
                </a:lnTo>
                <a:close/>
              </a:path>
            </a:pathLst>
          </a:custGeom>
          <a:solidFill>
            <a:srgbClr val="D69E2E"/>
          </a:solidFill>
          <a:ln/>
        </p:spPr>
        <p:txBody>
          <a:bodyPr/>
          <a:lstStyle/>
          <a:p>
            <a:endParaRPr lang="zh-CN" altLang="en-US"/>
          </a:p>
        </p:txBody>
      </p:sp>
      <p:sp>
        <p:nvSpPr>
          <p:cNvPr id="42" name="Text 40"/>
          <p:cNvSpPr/>
          <p:nvPr/>
        </p:nvSpPr>
        <p:spPr>
          <a:xfrm>
            <a:off x="8902364" y="6437398"/>
            <a:ext cx="7004045" cy="262194"/>
          </a:xfrm>
          <a:prstGeom prst="rect">
            <a:avLst/>
          </a:prstGeom>
          <a:noFill/>
          <a:ln/>
        </p:spPr>
        <p:txBody>
          <a:bodyPr wrap="square" lIns="0" tIns="0" rIns="0" bIns="0" rtlCol="0" anchor="ctr"/>
          <a:lstStyle/>
          <a:p>
            <a:pPr>
              <a:lnSpc>
                <a:spcPct val="130000"/>
              </a:lnSpc>
            </a:pPr>
            <a:r>
              <a:rPr lang="en-US" sz="1376" dirty="0">
                <a:solidFill>
                  <a:srgbClr val="E2E8F0"/>
                </a:solidFill>
                <a:latin typeface="MiSans" pitchFamily="34" charset="0"/>
                <a:ea typeface="MiSans" pitchFamily="34" charset="-122"/>
                <a:cs typeface="MiSans" pitchFamily="34" charset="-120"/>
              </a:rPr>
              <a:t>选择最优的</a:t>
            </a:r>
            <a:r>
              <a:rPr lang="en-US" sz="1376" dirty="0">
                <a:solidFill>
                  <a:srgbClr val="D69E2E"/>
                </a:solidFill>
                <a:latin typeface="MiSans" pitchFamily="34" charset="0"/>
                <a:ea typeface="MiSans" pitchFamily="34" charset="-122"/>
                <a:cs typeface="MiSans" pitchFamily="34" charset="-120"/>
              </a:rPr>
              <a:t>聚合执行策略</a:t>
            </a:r>
            <a:r>
              <a:rPr lang="en-US" sz="1376" dirty="0">
                <a:solidFill>
                  <a:srgbClr val="E2E8F0"/>
                </a:solidFill>
                <a:latin typeface="MiSans" pitchFamily="34" charset="0"/>
                <a:ea typeface="MiSans" pitchFamily="34" charset="-122"/>
                <a:cs typeface="MiSans" pitchFamily="34" charset="-120"/>
              </a:rPr>
              <a:t>(Map-side vs Reduce-side)</a:t>
            </a:r>
            <a:endParaRPr lang="en-US" sz="1600" dirty="0"/>
          </a:p>
        </p:txBody>
      </p:sp>
      <p:sp>
        <p:nvSpPr>
          <p:cNvPr id="43" name="Shape 41"/>
          <p:cNvSpPr/>
          <p:nvPr/>
        </p:nvSpPr>
        <p:spPr>
          <a:xfrm>
            <a:off x="447914" y="7191204"/>
            <a:ext cx="15360172" cy="1507613"/>
          </a:xfrm>
          <a:custGeom>
            <a:avLst/>
            <a:gdLst/>
            <a:ahLst/>
            <a:cxnLst/>
            <a:rect l="l" t="t" r="r" b="b"/>
            <a:pathLst>
              <a:path w="15360172" h="1507613">
                <a:moveTo>
                  <a:pt x="87396" y="0"/>
                </a:moveTo>
                <a:lnTo>
                  <a:pt x="15272776" y="0"/>
                </a:lnTo>
                <a:cubicBezTo>
                  <a:pt x="15321043" y="0"/>
                  <a:pt x="15360172" y="39129"/>
                  <a:pt x="15360172" y="87396"/>
                </a:cubicBezTo>
                <a:lnTo>
                  <a:pt x="15360172" y="1420217"/>
                </a:lnTo>
                <a:cubicBezTo>
                  <a:pt x="15360172" y="1468484"/>
                  <a:pt x="15321043" y="1507613"/>
                  <a:pt x="15272776" y="1507613"/>
                </a:cubicBezTo>
                <a:lnTo>
                  <a:pt x="87396" y="1507613"/>
                </a:lnTo>
                <a:cubicBezTo>
                  <a:pt x="39129" y="1507613"/>
                  <a:pt x="0" y="1468484"/>
                  <a:pt x="0" y="1420217"/>
                </a:cubicBezTo>
                <a:lnTo>
                  <a:pt x="0" y="87396"/>
                </a:lnTo>
                <a:cubicBezTo>
                  <a:pt x="0" y="39161"/>
                  <a:pt x="39161" y="0"/>
                  <a:pt x="87396" y="0"/>
                </a:cubicBezTo>
                <a:close/>
              </a:path>
            </a:pathLst>
          </a:custGeom>
          <a:solidFill>
            <a:srgbClr val="D69E2E">
              <a:alpha val="10196"/>
            </a:srgbClr>
          </a:solidFill>
          <a:ln w="25400">
            <a:solidFill>
              <a:srgbClr val="D69E2E"/>
            </a:solidFill>
            <a:prstDash val="solid"/>
          </a:ln>
        </p:spPr>
        <p:txBody>
          <a:bodyPr/>
          <a:lstStyle/>
          <a:p>
            <a:endParaRPr lang="zh-CN" altLang="en-US"/>
          </a:p>
        </p:txBody>
      </p:sp>
      <p:sp>
        <p:nvSpPr>
          <p:cNvPr id="44" name="Shape 42"/>
          <p:cNvSpPr/>
          <p:nvPr/>
        </p:nvSpPr>
        <p:spPr>
          <a:xfrm>
            <a:off x="737419" y="7464323"/>
            <a:ext cx="327742" cy="327742"/>
          </a:xfrm>
          <a:custGeom>
            <a:avLst/>
            <a:gdLst/>
            <a:ahLst/>
            <a:cxnLst/>
            <a:rect l="l" t="t" r="r" b="b"/>
            <a:pathLst>
              <a:path w="327742" h="327742">
                <a:moveTo>
                  <a:pt x="81935" y="204839"/>
                </a:moveTo>
                <a:lnTo>
                  <a:pt x="15683" y="204839"/>
                </a:lnTo>
                <a:cubicBezTo>
                  <a:pt x="-256" y="204839"/>
                  <a:pt x="-10050" y="187491"/>
                  <a:pt x="-1856" y="173793"/>
                </a:cubicBezTo>
                <a:lnTo>
                  <a:pt x="32006" y="117334"/>
                </a:lnTo>
                <a:cubicBezTo>
                  <a:pt x="37575" y="108052"/>
                  <a:pt x="47561" y="102419"/>
                  <a:pt x="58379" y="102419"/>
                </a:cubicBezTo>
                <a:lnTo>
                  <a:pt x="119191" y="102419"/>
                </a:lnTo>
                <a:cubicBezTo>
                  <a:pt x="167904" y="19908"/>
                  <a:pt x="240557" y="15747"/>
                  <a:pt x="289143" y="22852"/>
                </a:cubicBezTo>
                <a:cubicBezTo>
                  <a:pt x="297336" y="24069"/>
                  <a:pt x="303737" y="30470"/>
                  <a:pt x="304890" y="38599"/>
                </a:cubicBezTo>
                <a:cubicBezTo>
                  <a:pt x="311995" y="87184"/>
                  <a:pt x="307834" y="159838"/>
                  <a:pt x="225323" y="208551"/>
                </a:cubicBezTo>
                <a:lnTo>
                  <a:pt x="225323" y="269363"/>
                </a:lnTo>
                <a:cubicBezTo>
                  <a:pt x="225323" y="280181"/>
                  <a:pt x="219690" y="290167"/>
                  <a:pt x="210408" y="295736"/>
                </a:cubicBezTo>
                <a:lnTo>
                  <a:pt x="153949" y="329598"/>
                </a:lnTo>
                <a:cubicBezTo>
                  <a:pt x="140315" y="337792"/>
                  <a:pt x="122903" y="327934"/>
                  <a:pt x="122903" y="312059"/>
                </a:cubicBezTo>
                <a:lnTo>
                  <a:pt x="122903" y="245806"/>
                </a:lnTo>
                <a:cubicBezTo>
                  <a:pt x="122903" y="223210"/>
                  <a:pt x="104532" y="204839"/>
                  <a:pt x="81935" y="204839"/>
                </a:cubicBezTo>
                <a:lnTo>
                  <a:pt x="81871" y="204839"/>
                </a:lnTo>
                <a:close/>
                <a:moveTo>
                  <a:pt x="256048" y="102419"/>
                </a:moveTo>
                <a:cubicBezTo>
                  <a:pt x="256048" y="85461"/>
                  <a:pt x="242281" y="71694"/>
                  <a:pt x="225323" y="71694"/>
                </a:cubicBezTo>
                <a:cubicBezTo>
                  <a:pt x="208365" y="71694"/>
                  <a:pt x="194597" y="85461"/>
                  <a:pt x="194597" y="102419"/>
                </a:cubicBezTo>
                <a:cubicBezTo>
                  <a:pt x="194597" y="119377"/>
                  <a:pt x="208365" y="133145"/>
                  <a:pt x="225323" y="133145"/>
                </a:cubicBezTo>
                <a:cubicBezTo>
                  <a:pt x="242281" y="133145"/>
                  <a:pt x="256048" y="119377"/>
                  <a:pt x="256048" y="102419"/>
                </a:cubicBezTo>
                <a:close/>
              </a:path>
            </a:pathLst>
          </a:custGeom>
          <a:solidFill>
            <a:srgbClr val="D69E2E"/>
          </a:solidFill>
          <a:ln/>
        </p:spPr>
        <p:txBody>
          <a:bodyPr/>
          <a:lstStyle/>
          <a:p>
            <a:endParaRPr lang="zh-CN" altLang="en-US"/>
          </a:p>
        </p:txBody>
      </p:sp>
      <p:sp>
        <p:nvSpPr>
          <p:cNvPr id="45" name="Text 43"/>
          <p:cNvSpPr/>
          <p:nvPr/>
        </p:nvSpPr>
        <p:spPr>
          <a:xfrm>
            <a:off x="1259502" y="7464323"/>
            <a:ext cx="14387871" cy="305892"/>
          </a:xfrm>
          <a:prstGeom prst="rect">
            <a:avLst/>
          </a:prstGeom>
          <a:noFill/>
          <a:ln/>
        </p:spPr>
        <p:txBody>
          <a:bodyPr wrap="square" lIns="0" tIns="0" rIns="0" bIns="0" rtlCol="0" anchor="ctr"/>
          <a:lstStyle/>
          <a:p>
            <a:pPr>
              <a:lnSpc>
                <a:spcPct val="120000"/>
              </a:lnSpc>
            </a:pPr>
            <a:r>
              <a:rPr lang="en-US" sz="1720" b="1" dirty="0">
                <a:solidFill>
                  <a:srgbClr val="E2E8F0"/>
                </a:solidFill>
                <a:latin typeface="Noto Sans SC" pitchFamily="34" charset="0"/>
                <a:ea typeface="Noto Sans SC" pitchFamily="34" charset="-122"/>
                <a:cs typeface="Noto Sans SC" pitchFamily="34" charset="-120"/>
              </a:rPr>
              <a:t>优化器核心价值</a:t>
            </a:r>
            <a:endParaRPr lang="en-US" sz="1600" dirty="0"/>
          </a:p>
        </p:txBody>
      </p:sp>
      <p:sp>
        <p:nvSpPr>
          <p:cNvPr id="46" name="Text 44"/>
          <p:cNvSpPr/>
          <p:nvPr/>
        </p:nvSpPr>
        <p:spPr>
          <a:xfrm>
            <a:off x="1259502" y="7857613"/>
            <a:ext cx="14366022" cy="568086"/>
          </a:xfrm>
          <a:prstGeom prst="rect">
            <a:avLst/>
          </a:prstGeom>
          <a:noFill/>
          <a:ln/>
        </p:spPr>
        <p:txBody>
          <a:bodyPr wrap="square" lIns="0" tIns="0" rIns="0" bIns="0" rtlCol="0" anchor="ctr"/>
          <a:lstStyle/>
          <a:p>
            <a:pPr>
              <a:lnSpc>
                <a:spcPct val="140000"/>
              </a:lnSpc>
            </a:pPr>
            <a:r>
              <a:rPr lang="en-US" sz="1376" dirty="0">
                <a:solidFill>
                  <a:srgbClr val="A0AEC0"/>
                </a:solidFill>
                <a:latin typeface="MiSans" pitchFamily="34" charset="0"/>
                <a:ea typeface="MiSans" pitchFamily="34" charset="-122"/>
                <a:cs typeface="MiSans" pitchFamily="34" charset="-120"/>
              </a:rPr>
              <a:t>通过多阶段优化，Hive能够将SQL查询转换为最优的分布式执行计划，</a:t>
            </a:r>
            <a:r>
              <a:rPr lang="en-US" sz="1376" dirty="0">
                <a:solidFill>
                  <a:srgbClr val="D69E2E"/>
                </a:solidFill>
                <a:latin typeface="MiSans" pitchFamily="34" charset="0"/>
                <a:ea typeface="MiSans" pitchFamily="34" charset="-122"/>
                <a:cs typeface="MiSans" pitchFamily="34" charset="-120"/>
              </a:rPr>
              <a:t>显著提升查询性能2-10倍</a:t>
            </a:r>
            <a:r>
              <a:rPr lang="en-US" sz="1376" dirty="0">
                <a:solidFill>
                  <a:srgbClr val="A0AEC0"/>
                </a:solidFill>
                <a:latin typeface="MiSans" pitchFamily="34" charset="0"/>
                <a:ea typeface="MiSans" pitchFamily="34" charset="-122"/>
                <a:cs typeface="MiSans" pitchFamily="34" charset="-120"/>
              </a:rPr>
              <a:t>。优化器充分利用元数据信息和统计信息，智能选择执行策略，确保在海量数据场景下依然保持高效的查询响应。</a:t>
            </a:r>
            <a:endParaRPr lang="en-US" sz="16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202C"/>
        </a:solidFill>
        <a:effectLst/>
      </p:bgPr>
    </p:bg>
    <p:spTree>
      <p:nvGrpSpPr>
        <p:cNvPr id="1" name=""/>
        <p:cNvGrpSpPr/>
        <p:nvPr/>
      </p:nvGrpSpPr>
      <p:grpSpPr>
        <a:xfrm>
          <a:off x="0" y="0"/>
          <a:ext cx="0" cy="0"/>
          <a:chOff x="0" y="0"/>
          <a:chExt cx="0" cy="0"/>
        </a:xfrm>
      </p:grpSpPr>
      <p:pic>
        <p:nvPicPr>
          <p:cNvPr id="2" name="Image 0" descr="https://kimi-web-img.moonshot.cn/img/www.btmorgan.com/7cfd736b721b15e635d472352d739a6e3e5a2114.png"/>
          <p:cNvPicPr>
            <a:picLocks noChangeAspect="1"/>
          </p:cNvPicPr>
          <p:nvPr/>
        </p:nvPicPr>
        <p:blipFill>
          <a:blip r:embed="rId3">
            <a:alphaModFix amt="30000"/>
          </a:blip>
          <a:srcRect l="6453" r="6453"/>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flip="none" rotWithShape="1">
            <a:gsLst>
              <a:gs pos="0">
                <a:srgbClr val="1A202C"/>
              </a:gs>
              <a:gs pos="50000">
                <a:srgbClr val="1A202C">
                  <a:alpha val="90000"/>
                </a:srgbClr>
              </a:gs>
              <a:gs pos="100000">
                <a:srgbClr val="000000">
                  <a:alpha val="0"/>
                </a:srgbClr>
              </a:gs>
            </a:gsLst>
            <a:lin ang="0" scaled="1"/>
          </a:gradFill>
          <a:ln/>
        </p:spPr>
        <p:txBody>
          <a:bodyPr/>
          <a:lstStyle/>
          <a:p>
            <a:endParaRPr lang="zh-CN" altLang="en-US"/>
          </a:p>
        </p:txBody>
      </p:sp>
      <p:sp>
        <p:nvSpPr>
          <p:cNvPr id="4" name="Shape 1"/>
          <p:cNvSpPr/>
          <p:nvPr/>
        </p:nvSpPr>
        <p:spPr>
          <a:xfrm>
            <a:off x="508000" y="1806575"/>
            <a:ext cx="2578100" cy="711200"/>
          </a:xfrm>
          <a:custGeom>
            <a:avLst/>
            <a:gdLst/>
            <a:ahLst/>
            <a:cxnLst/>
            <a:rect l="l" t="t" r="r" b="b"/>
            <a:pathLst>
              <a:path w="2578100" h="711200">
                <a:moveTo>
                  <a:pt x="101602" y="0"/>
                </a:moveTo>
                <a:lnTo>
                  <a:pt x="2476498" y="0"/>
                </a:lnTo>
                <a:cubicBezTo>
                  <a:pt x="2532611" y="0"/>
                  <a:pt x="2578100" y="45489"/>
                  <a:pt x="2578100" y="101602"/>
                </a:cubicBezTo>
                <a:lnTo>
                  <a:pt x="2578100" y="609598"/>
                </a:lnTo>
                <a:cubicBezTo>
                  <a:pt x="2578100" y="665711"/>
                  <a:pt x="2532611" y="711200"/>
                  <a:pt x="2476498" y="711200"/>
                </a:cubicBezTo>
                <a:lnTo>
                  <a:pt x="101602" y="711200"/>
                </a:lnTo>
                <a:cubicBezTo>
                  <a:pt x="45489" y="711200"/>
                  <a:pt x="0" y="665711"/>
                  <a:pt x="0" y="609598"/>
                </a:cubicBezTo>
                <a:lnTo>
                  <a:pt x="0" y="101602"/>
                </a:lnTo>
                <a:cubicBezTo>
                  <a:pt x="0" y="45526"/>
                  <a:pt x="45526" y="0"/>
                  <a:pt x="101602" y="0"/>
                </a:cubicBezTo>
                <a:close/>
              </a:path>
            </a:pathLst>
          </a:custGeom>
          <a:solidFill>
            <a:srgbClr val="D69E2E"/>
          </a:solidFill>
          <a:ln/>
        </p:spPr>
        <p:txBody>
          <a:bodyPr/>
          <a:lstStyle/>
          <a:p>
            <a:endParaRPr lang="zh-CN" altLang="en-US"/>
          </a:p>
        </p:txBody>
      </p:sp>
      <p:sp>
        <p:nvSpPr>
          <p:cNvPr id="5" name="Text 2"/>
          <p:cNvSpPr/>
          <p:nvPr/>
        </p:nvSpPr>
        <p:spPr>
          <a:xfrm>
            <a:off x="812800" y="1958975"/>
            <a:ext cx="2120900" cy="406400"/>
          </a:xfrm>
          <a:prstGeom prst="rect">
            <a:avLst/>
          </a:prstGeom>
          <a:noFill/>
          <a:ln/>
        </p:spPr>
        <p:txBody>
          <a:bodyPr wrap="square" lIns="0" tIns="0" rIns="0" bIns="0" rtlCol="0" anchor="ctr"/>
          <a:lstStyle/>
          <a:p>
            <a:pPr>
              <a:lnSpc>
                <a:spcPct val="110000"/>
              </a:lnSpc>
            </a:pPr>
            <a:r>
              <a:rPr lang="en-US" sz="2400" b="1" kern="0" spc="120" dirty="0">
                <a:solidFill>
                  <a:srgbClr val="1A202C"/>
                </a:solidFill>
                <a:latin typeface="Liter" pitchFamily="34" charset="0"/>
                <a:ea typeface="Liter" pitchFamily="34" charset="-122"/>
                <a:cs typeface="Liter" pitchFamily="34" charset="-120"/>
              </a:rPr>
              <a:t>CHAPTER 04</a:t>
            </a:r>
            <a:endParaRPr lang="en-US" sz="1600" dirty="0"/>
          </a:p>
        </p:txBody>
      </p:sp>
      <p:sp>
        <p:nvSpPr>
          <p:cNvPr id="6" name="Text 3"/>
          <p:cNvSpPr/>
          <p:nvPr/>
        </p:nvSpPr>
        <p:spPr>
          <a:xfrm>
            <a:off x="508000" y="2924175"/>
            <a:ext cx="5029200" cy="2286000"/>
          </a:xfrm>
          <a:prstGeom prst="rect">
            <a:avLst/>
          </a:prstGeom>
          <a:noFill/>
          <a:ln/>
        </p:spPr>
        <p:txBody>
          <a:bodyPr wrap="square" lIns="0" tIns="0" rIns="0" bIns="0" rtlCol="0" anchor="ctr"/>
          <a:lstStyle/>
          <a:p>
            <a:pPr>
              <a:lnSpc>
                <a:spcPct val="100000"/>
              </a:lnSpc>
            </a:pPr>
            <a:r>
              <a:rPr lang="en-US" sz="7200" b="1" dirty="0">
                <a:solidFill>
                  <a:srgbClr val="E2E8F0"/>
                </a:solidFill>
                <a:latin typeface="Noto Sans SC" pitchFamily="34" charset="0"/>
                <a:ea typeface="Noto Sans SC" pitchFamily="34" charset="-122"/>
                <a:cs typeface="Noto Sans SC" pitchFamily="34" charset="-120"/>
              </a:rPr>
              <a:t>数据存储与</a:t>
            </a:r>
            <a:endParaRPr lang="en-US" sz="1600" dirty="0"/>
          </a:p>
          <a:p>
            <a:pPr>
              <a:lnSpc>
                <a:spcPct val="100000"/>
              </a:lnSpc>
            </a:pPr>
            <a:r>
              <a:rPr lang="en-US" sz="7200" b="1" dirty="0">
                <a:solidFill>
                  <a:srgbClr val="E2E8F0"/>
                </a:solidFill>
                <a:latin typeface="Noto Sans SC" pitchFamily="34" charset="0"/>
                <a:ea typeface="Noto Sans SC" pitchFamily="34" charset="-122"/>
                <a:cs typeface="Noto Sans SC" pitchFamily="34" charset="-120"/>
              </a:rPr>
              <a:t>格式优化</a:t>
            </a:r>
            <a:endParaRPr lang="en-US" sz="1600" dirty="0"/>
          </a:p>
        </p:txBody>
      </p:sp>
      <p:sp>
        <p:nvSpPr>
          <p:cNvPr id="7" name="Shape 4"/>
          <p:cNvSpPr/>
          <p:nvPr/>
        </p:nvSpPr>
        <p:spPr>
          <a:xfrm>
            <a:off x="508000" y="5616575"/>
            <a:ext cx="2032000" cy="76200"/>
          </a:xfrm>
          <a:custGeom>
            <a:avLst/>
            <a:gdLst/>
            <a:ahLst/>
            <a:cxnLst/>
            <a:rect l="l" t="t" r="r" b="b"/>
            <a:pathLst>
              <a:path w="2032000" h="76200">
                <a:moveTo>
                  <a:pt x="0" y="0"/>
                </a:moveTo>
                <a:lnTo>
                  <a:pt x="2032000" y="0"/>
                </a:lnTo>
                <a:lnTo>
                  <a:pt x="2032000" y="76200"/>
                </a:lnTo>
                <a:lnTo>
                  <a:pt x="0" y="76200"/>
                </a:lnTo>
                <a:lnTo>
                  <a:pt x="0" y="0"/>
                </a:lnTo>
                <a:close/>
              </a:path>
            </a:pathLst>
          </a:custGeom>
          <a:solidFill>
            <a:srgbClr val="D69E2E"/>
          </a:solidFill>
          <a:ln/>
        </p:spPr>
        <p:txBody>
          <a:bodyPr/>
          <a:lstStyle/>
          <a:p>
            <a:endParaRPr lang="zh-CN" altLang="en-US"/>
          </a:p>
        </p:txBody>
      </p:sp>
      <p:sp>
        <p:nvSpPr>
          <p:cNvPr id="8" name="Text 5"/>
          <p:cNvSpPr/>
          <p:nvPr/>
        </p:nvSpPr>
        <p:spPr>
          <a:xfrm>
            <a:off x="508000" y="6099175"/>
            <a:ext cx="4762500" cy="1244600"/>
          </a:xfrm>
          <a:prstGeom prst="rect">
            <a:avLst/>
          </a:prstGeom>
          <a:noFill/>
          <a:ln/>
        </p:spPr>
        <p:txBody>
          <a:bodyPr wrap="square" lIns="0" tIns="0" rIns="0" bIns="0" rtlCol="0" anchor="ctr"/>
          <a:lstStyle/>
          <a:p>
            <a:pPr>
              <a:lnSpc>
                <a:spcPct val="140000"/>
              </a:lnSpc>
            </a:pPr>
            <a:r>
              <a:rPr lang="en-US" sz="3000" dirty="0">
                <a:solidFill>
                  <a:srgbClr val="A0AEC0"/>
                </a:solidFill>
                <a:latin typeface="MiSans" pitchFamily="34" charset="0"/>
                <a:ea typeface="MiSans" pitchFamily="34" charset="-122"/>
                <a:cs typeface="MiSans" pitchFamily="34" charset="-120"/>
              </a:rPr>
              <a:t>理解Hive支持的文件格式、</a:t>
            </a:r>
            <a:endParaRPr lang="en-US" sz="1600" dirty="0"/>
          </a:p>
          <a:p>
            <a:pPr>
              <a:lnSpc>
                <a:spcPct val="140000"/>
              </a:lnSpc>
            </a:pPr>
            <a:r>
              <a:rPr lang="en-US" sz="3000" dirty="0">
                <a:solidFill>
                  <a:srgbClr val="A0AEC0"/>
                </a:solidFill>
                <a:latin typeface="MiSans" pitchFamily="34" charset="0"/>
                <a:ea typeface="MiSans" pitchFamily="34" charset="-122"/>
                <a:cs typeface="MiSans" pitchFamily="34" charset="-120"/>
              </a:rPr>
              <a:t>压缩算法和存储优化技术</a:t>
            </a:r>
            <a:endParaRPr lang="en-US" sz="1600"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23333" y="423333"/>
            <a:ext cx="15663333" cy="508000"/>
          </a:xfrm>
          <a:prstGeom prst="rect">
            <a:avLst/>
          </a:prstGeom>
          <a:noFill/>
          <a:ln/>
        </p:spPr>
        <p:txBody>
          <a:bodyPr wrap="square" lIns="0" tIns="0" rIns="0" bIns="0" rtlCol="0" anchor="ctr"/>
          <a:lstStyle/>
          <a:p>
            <a:pPr>
              <a:lnSpc>
                <a:spcPct val="80000"/>
              </a:lnSpc>
            </a:pPr>
            <a:r>
              <a:rPr lang="en-US" sz="4000" b="1" dirty="0">
                <a:solidFill>
                  <a:srgbClr val="E2E8F0"/>
                </a:solidFill>
                <a:latin typeface="Noto Sans SC" pitchFamily="34" charset="0"/>
                <a:ea typeface="Noto Sans SC" pitchFamily="34" charset="-122"/>
                <a:cs typeface="Noto Sans SC" pitchFamily="34" charset="-120"/>
              </a:rPr>
              <a:t>关键洞察：第1章核心要点</a:t>
            </a:r>
            <a:endParaRPr lang="en-US" sz="1600" dirty="0"/>
          </a:p>
        </p:txBody>
      </p:sp>
      <p:sp>
        <p:nvSpPr>
          <p:cNvPr id="3" name="Shape 1"/>
          <p:cNvSpPr/>
          <p:nvPr/>
        </p:nvSpPr>
        <p:spPr>
          <a:xfrm>
            <a:off x="423333" y="1058333"/>
            <a:ext cx="1185333" cy="42333"/>
          </a:xfrm>
          <a:custGeom>
            <a:avLst/>
            <a:gdLst/>
            <a:ahLst/>
            <a:cxnLst/>
            <a:rect l="l" t="t" r="r" b="b"/>
            <a:pathLst>
              <a:path w="1185333" h="42333">
                <a:moveTo>
                  <a:pt x="0" y="0"/>
                </a:moveTo>
                <a:lnTo>
                  <a:pt x="1185333" y="0"/>
                </a:lnTo>
                <a:lnTo>
                  <a:pt x="1185333" y="42333"/>
                </a:lnTo>
                <a:lnTo>
                  <a:pt x="0" y="42333"/>
                </a:lnTo>
                <a:lnTo>
                  <a:pt x="0" y="0"/>
                </a:lnTo>
                <a:close/>
              </a:path>
            </a:pathLst>
          </a:custGeom>
          <a:solidFill>
            <a:srgbClr val="D69E2E"/>
          </a:solidFill>
          <a:ln/>
        </p:spPr>
        <p:txBody>
          <a:bodyPr/>
          <a:lstStyle/>
          <a:p>
            <a:endParaRPr lang="zh-CN" altLang="en-US"/>
          </a:p>
        </p:txBody>
      </p:sp>
      <p:sp>
        <p:nvSpPr>
          <p:cNvPr id="4" name="Text 2"/>
          <p:cNvSpPr/>
          <p:nvPr/>
        </p:nvSpPr>
        <p:spPr>
          <a:xfrm>
            <a:off x="423333" y="1439333"/>
            <a:ext cx="15504583" cy="306917"/>
          </a:xfrm>
          <a:prstGeom prst="rect">
            <a:avLst/>
          </a:prstGeom>
          <a:noFill/>
          <a:ln/>
        </p:spPr>
        <p:txBody>
          <a:bodyPr wrap="square" lIns="0" tIns="0" rIns="0" bIns="0" rtlCol="0" anchor="ctr"/>
          <a:lstStyle/>
          <a:p>
            <a:pPr>
              <a:lnSpc>
                <a:spcPct val="140000"/>
              </a:lnSpc>
            </a:pPr>
            <a:r>
              <a:rPr lang="en-US" sz="1500" dirty="0">
                <a:solidFill>
                  <a:srgbClr val="A0AEC0"/>
                </a:solidFill>
                <a:latin typeface="MiSans" pitchFamily="34" charset="0"/>
                <a:ea typeface="MiSans" pitchFamily="34" charset="-122"/>
                <a:cs typeface="MiSans" pitchFamily="34" charset="-120"/>
              </a:rPr>
              <a:t>本章全面介绍了Apache Hive的核心设计理念——</a:t>
            </a:r>
            <a:r>
              <a:rPr lang="en-US" sz="1500" b="1" dirty="0">
                <a:solidFill>
                  <a:srgbClr val="E2E8F0"/>
                </a:solidFill>
                <a:latin typeface="MiSans" pitchFamily="34" charset="0"/>
                <a:ea typeface="MiSans" pitchFamily="34" charset="-122"/>
                <a:cs typeface="MiSans" pitchFamily="34" charset="-120"/>
              </a:rPr>
              <a:t>"SQL-on-Hadoop与数据仓库抽象层"</a:t>
            </a:r>
            <a:r>
              <a:rPr lang="en-US" sz="1500" dirty="0">
                <a:solidFill>
                  <a:srgbClr val="A0AEC0"/>
                </a:solidFill>
                <a:latin typeface="MiSans" pitchFamily="34" charset="0"/>
                <a:ea typeface="MiSans" pitchFamily="34" charset="-122"/>
                <a:cs typeface="MiSans" pitchFamily="34" charset="-120"/>
              </a:rPr>
              <a:t>，这一理念是Hive成为大数据仓库标准的关键基础。</a:t>
            </a:r>
            <a:endParaRPr lang="en-US" sz="1600" dirty="0"/>
          </a:p>
        </p:txBody>
      </p:sp>
      <p:sp>
        <p:nvSpPr>
          <p:cNvPr id="5" name="Shape 3"/>
          <p:cNvSpPr/>
          <p:nvPr/>
        </p:nvSpPr>
        <p:spPr>
          <a:xfrm>
            <a:off x="444500" y="2087563"/>
            <a:ext cx="42333" cy="1248833"/>
          </a:xfrm>
          <a:custGeom>
            <a:avLst/>
            <a:gdLst/>
            <a:ahLst/>
            <a:cxnLst/>
            <a:rect l="l" t="t" r="r" b="b"/>
            <a:pathLst>
              <a:path w="42333" h="1248833">
                <a:moveTo>
                  <a:pt x="0" y="0"/>
                </a:moveTo>
                <a:lnTo>
                  <a:pt x="42333" y="0"/>
                </a:lnTo>
                <a:lnTo>
                  <a:pt x="42333" y="1248833"/>
                </a:lnTo>
                <a:lnTo>
                  <a:pt x="0" y="1248833"/>
                </a:lnTo>
                <a:lnTo>
                  <a:pt x="0" y="0"/>
                </a:lnTo>
                <a:close/>
              </a:path>
            </a:pathLst>
          </a:custGeom>
          <a:solidFill>
            <a:srgbClr val="D69E2E"/>
          </a:solidFill>
          <a:ln/>
        </p:spPr>
        <p:txBody>
          <a:bodyPr/>
          <a:lstStyle/>
          <a:p>
            <a:endParaRPr lang="zh-CN" altLang="en-US"/>
          </a:p>
        </p:txBody>
      </p:sp>
      <p:sp>
        <p:nvSpPr>
          <p:cNvPr id="6" name="Shape 4"/>
          <p:cNvSpPr/>
          <p:nvPr/>
        </p:nvSpPr>
        <p:spPr>
          <a:xfrm>
            <a:off x="719667" y="2256896"/>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D69E2E"/>
          </a:solidFill>
          <a:ln/>
        </p:spPr>
        <p:txBody>
          <a:bodyPr/>
          <a:lstStyle/>
          <a:p>
            <a:endParaRPr lang="zh-CN" altLang="en-US"/>
          </a:p>
        </p:txBody>
      </p:sp>
      <p:sp>
        <p:nvSpPr>
          <p:cNvPr id="7" name="Text 5"/>
          <p:cNvSpPr/>
          <p:nvPr/>
        </p:nvSpPr>
        <p:spPr>
          <a:xfrm>
            <a:off x="922817" y="2341563"/>
            <a:ext cx="232833" cy="338667"/>
          </a:xfrm>
          <a:prstGeom prst="rect">
            <a:avLst/>
          </a:prstGeom>
          <a:noFill/>
          <a:ln/>
        </p:spPr>
        <p:txBody>
          <a:bodyPr wrap="square" lIns="0" tIns="0" rIns="0" bIns="0" rtlCol="0" anchor="ctr"/>
          <a:lstStyle/>
          <a:p>
            <a:pPr>
              <a:lnSpc>
                <a:spcPct val="110000"/>
              </a:lnSpc>
            </a:pPr>
            <a:r>
              <a:rPr lang="en-US" sz="2000" b="1" dirty="0">
                <a:solidFill>
                  <a:srgbClr val="1A202C"/>
                </a:solidFill>
                <a:latin typeface="Liter" pitchFamily="34" charset="0"/>
                <a:ea typeface="Liter" pitchFamily="34" charset="-122"/>
                <a:cs typeface="Liter" pitchFamily="34" charset="-120"/>
              </a:rPr>
              <a:t>1</a:t>
            </a:r>
            <a:endParaRPr lang="en-US" sz="1600" dirty="0"/>
          </a:p>
        </p:txBody>
      </p:sp>
      <p:sp>
        <p:nvSpPr>
          <p:cNvPr id="8" name="Text 6"/>
          <p:cNvSpPr/>
          <p:nvPr/>
        </p:nvSpPr>
        <p:spPr>
          <a:xfrm>
            <a:off x="1354667" y="2362729"/>
            <a:ext cx="1375833" cy="296333"/>
          </a:xfrm>
          <a:prstGeom prst="rect">
            <a:avLst/>
          </a:prstGeom>
          <a:noFill/>
          <a:ln/>
        </p:spPr>
        <p:txBody>
          <a:bodyPr wrap="square" lIns="0" tIns="0" rIns="0" bIns="0" rtlCol="0" anchor="ctr"/>
          <a:lstStyle/>
          <a:p>
            <a:pPr>
              <a:lnSpc>
                <a:spcPct val="120000"/>
              </a:lnSpc>
            </a:pPr>
            <a:r>
              <a:rPr lang="en-US" sz="1667" b="1" dirty="0">
                <a:solidFill>
                  <a:srgbClr val="E2E8F0"/>
                </a:solidFill>
                <a:latin typeface="Noto Sans SC" pitchFamily="34" charset="0"/>
                <a:ea typeface="Noto Sans SC" pitchFamily="34" charset="-122"/>
                <a:cs typeface="Noto Sans SC" pitchFamily="34" charset="-120"/>
              </a:rPr>
              <a:t>技术架构革新</a:t>
            </a:r>
            <a:endParaRPr lang="en-US" sz="1600" dirty="0"/>
          </a:p>
        </p:txBody>
      </p:sp>
      <p:sp>
        <p:nvSpPr>
          <p:cNvPr id="9" name="Text 7"/>
          <p:cNvSpPr/>
          <p:nvPr/>
        </p:nvSpPr>
        <p:spPr>
          <a:xfrm>
            <a:off x="719667" y="2891896"/>
            <a:ext cx="7323667" cy="275167"/>
          </a:xfrm>
          <a:prstGeom prst="rect">
            <a:avLst/>
          </a:prstGeom>
          <a:noFill/>
          <a:ln/>
        </p:spPr>
        <p:txBody>
          <a:bodyPr wrap="square" lIns="0" tIns="0" rIns="0" bIns="0" rtlCol="0" anchor="ctr"/>
          <a:lstStyle/>
          <a:p>
            <a:pPr>
              <a:lnSpc>
                <a:spcPct val="140000"/>
              </a:lnSpc>
            </a:pPr>
            <a:r>
              <a:rPr lang="en-US" sz="1333" dirty="0">
                <a:solidFill>
                  <a:srgbClr val="A0AEC0"/>
                </a:solidFill>
                <a:latin typeface="MiSans" pitchFamily="34" charset="0"/>
                <a:ea typeface="MiSans" pitchFamily="34" charset="-122"/>
                <a:cs typeface="MiSans" pitchFamily="34" charset="-120"/>
              </a:rPr>
              <a:t>从传统的MapReduce编程模式转向SQL接口抽象，</a:t>
            </a:r>
            <a:r>
              <a:rPr lang="en-US" sz="1333" dirty="0">
                <a:solidFill>
                  <a:srgbClr val="D69E2E"/>
                </a:solidFill>
                <a:latin typeface="MiSans" pitchFamily="34" charset="0"/>
                <a:ea typeface="MiSans" pitchFamily="34" charset="-122"/>
                <a:cs typeface="MiSans" pitchFamily="34" charset="-120"/>
              </a:rPr>
              <a:t>数据分析效率提升5-10倍</a:t>
            </a:r>
            <a:r>
              <a:rPr lang="en-US" sz="1333" dirty="0">
                <a:solidFill>
                  <a:srgbClr val="A0AEC0"/>
                </a:solidFill>
                <a:latin typeface="MiSans" pitchFamily="34" charset="0"/>
                <a:ea typeface="MiSans" pitchFamily="34" charset="-122"/>
                <a:cs typeface="MiSans" pitchFamily="34" charset="-120"/>
              </a:rPr>
              <a:t>，开发门槛显著降低</a:t>
            </a:r>
            <a:endParaRPr lang="en-US" sz="1600" dirty="0"/>
          </a:p>
        </p:txBody>
      </p:sp>
      <p:sp>
        <p:nvSpPr>
          <p:cNvPr id="10" name="Shape 8"/>
          <p:cNvSpPr/>
          <p:nvPr/>
        </p:nvSpPr>
        <p:spPr>
          <a:xfrm>
            <a:off x="8318500" y="2087563"/>
            <a:ext cx="42333" cy="1248833"/>
          </a:xfrm>
          <a:custGeom>
            <a:avLst/>
            <a:gdLst/>
            <a:ahLst/>
            <a:cxnLst/>
            <a:rect l="l" t="t" r="r" b="b"/>
            <a:pathLst>
              <a:path w="42333" h="1248833">
                <a:moveTo>
                  <a:pt x="0" y="0"/>
                </a:moveTo>
                <a:lnTo>
                  <a:pt x="42333" y="0"/>
                </a:lnTo>
                <a:lnTo>
                  <a:pt x="42333" y="1248833"/>
                </a:lnTo>
                <a:lnTo>
                  <a:pt x="0" y="1248833"/>
                </a:lnTo>
                <a:lnTo>
                  <a:pt x="0" y="0"/>
                </a:lnTo>
                <a:close/>
              </a:path>
            </a:pathLst>
          </a:custGeom>
          <a:solidFill>
            <a:srgbClr val="D69E2E"/>
          </a:solidFill>
          <a:ln/>
        </p:spPr>
        <p:txBody>
          <a:bodyPr/>
          <a:lstStyle/>
          <a:p>
            <a:endParaRPr lang="zh-CN" altLang="en-US"/>
          </a:p>
        </p:txBody>
      </p:sp>
      <p:sp>
        <p:nvSpPr>
          <p:cNvPr id="11" name="Shape 9"/>
          <p:cNvSpPr/>
          <p:nvPr/>
        </p:nvSpPr>
        <p:spPr>
          <a:xfrm>
            <a:off x="8593667" y="2256896"/>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D69E2E"/>
          </a:solidFill>
          <a:ln/>
        </p:spPr>
        <p:txBody>
          <a:bodyPr/>
          <a:lstStyle/>
          <a:p>
            <a:endParaRPr lang="zh-CN" altLang="en-US"/>
          </a:p>
        </p:txBody>
      </p:sp>
      <p:sp>
        <p:nvSpPr>
          <p:cNvPr id="12" name="Text 10"/>
          <p:cNvSpPr/>
          <p:nvPr/>
        </p:nvSpPr>
        <p:spPr>
          <a:xfrm>
            <a:off x="8773831" y="2341563"/>
            <a:ext cx="275167" cy="338667"/>
          </a:xfrm>
          <a:prstGeom prst="rect">
            <a:avLst/>
          </a:prstGeom>
          <a:noFill/>
          <a:ln/>
        </p:spPr>
        <p:txBody>
          <a:bodyPr wrap="square" lIns="0" tIns="0" rIns="0" bIns="0" rtlCol="0" anchor="ctr"/>
          <a:lstStyle/>
          <a:p>
            <a:pPr>
              <a:lnSpc>
                <a:spcPct val="110000"/>
              </a:lnSpc>
            </a:pPr>
            <a:r>
              <a:rPr lang="en-US" sz="2000" b="1" dirty="0">
                <a:solidFill>
                  <a:srgbClr val="1A202C"/>
                </a:solidFill>
                <a:latin typeface="Liter" pitchFamily="34" charset="0"/>
                <a:ea typeface="Liter" pitchFamily="34" charset="-122"/>
                <a:cs typeface="Liter" pitchFamily="34" charset="-120"/>
              </a:rPr>
              <a:t>2</a:t>
            </a:r>
            <a:endParaRPr lang="en-US" sz="1600" dirty="0"/>
          </a:p>
        </p:txBody>
      </p:sp>
      <p:sp>
        <p:nvSpPr>
          <p:cNvPr id="13" name="Text 11"/>
          <p:cNvSpPr/>
          <p:nvPr/>
        </p:nvSpPr>
        <p:spPr>
          <a:xfrm>
            <a:off x="9228667" y="2362729"/>
            <a:ext cx="1587500" cy="296333"/>
          </a:xfrm>
          <a:prstGeom prst="rect">
            <a:avLst/>
          </a:prstGeom>
          <a:noFill/>
          <a:ln/>
        </p:spPr>
        <p:txBody>
          <a:bodyPr wrap="square" lIns="0" tIns="0" rIns="0" bIns="0" rtlCol="0" anchor="ctr"/>
          <a:lstStyle/>
          <a:p>
            <a:pPr>
              <a:lnSpc>
                <a:spcPct val="120000"/>
              </a:lnSpc>
            </a:pPr>
            <a:r>
              <a:rPr lang="en-US" sz="1667" b="1" dirty="0">
                <a:solidFill>
                  <a:srgbClr val="E2E8F0"/>
                </a:solidFill>
                <a:latin typeface="Noto Sans SC" pitchFamily="34" charset="0"/>
                <a:ea typeface="Noto Sans SC" pitchFamily="34" charset="-122"/>
                <a:cs typeface="Noto Sans SC" pitchFamily="34" charset="-120"/>
              </a:rPr>
              <a:t>元数据管理统一</a:t>
            </a:r>
            <a:endParaRPr lang="en-US" sz="1600" dirty="0"/>
          </a:p>
        </p:txBody>
      </p:sp>
      <p:sp>
        <p:nvSpPr>
          <p:cNvPr id="14" name="Text 12"/>
          <p:cNvSpPr/>
          <p:nvPr/>
        </p:nvSpPr>
        <p:spPr>
          <a:xfrm>
            <a:off x="8593667" y="2891896"/>
            <a:ext cx="7323667" cy="275167"/>
          </a:xfrm>
          <a:prstGeom prst="rect">
            <a:avLst/>
          </a:prstGeom>
          <a:noFill/>
          <a:ln/>
        </p:spPr>
        <p:txBody>
          <a:bodyPr wrap="square" lIns="0" tIns="0" rIns="0" bIns="0" rtlCol="0" anchor="ctr"/>
          <a:lstStyle/>
          <a:p>
            <a:pPr>
              <a:lnSpc>
                <a:spcPct val="140000"/>
              </a:lnSpc>
            </a:pPr>
            <a:r>
              <a:rPr lang="en-US" sz="1333" dirty="0">
                <a:solidFill>
                  <a:srgbClr val="A0AEC0"/>
                </a:solidFill>
                <a:latin typeface="MiSans" pitchFamily="34" charset="0"/>
                <a:ea typeface="MiSans" pitchFamily="34" charset="-122"/>
                <a:cs typeface="MiSans" pitchFamily="34" charset="-120"/>
              </a:rPr>
              <a:t>通过Metastore提供统一的元数据服务，支持多计算引擎共享元数据，</a:t>
            </a:r>
            <a:r>
              <a:rPr lang="en-US" sz="1333" dirty="0">
                <a:solidFill>
                  <a:srgbClr val="D69E2E"/>
                </a:solidFill>
                <a:latin typeface="MiSans" pitchFamily="34" charset="0"/>
                <a:ea typeface="MiSans" pitchFamily="34" charset="-122"/>
                <a:cs typeface="MiSans" pitchFamily="34" charset="-120"/>
              </a:rPr>
              <a:t>实现数据治理标准化</a:t>
            </a:r>
            <a:endParaRPr lang="en-US" sz="1600" dirty="0"/>
          </a:p>
        </p:txBody>
      </p:sp>
      <p:sp>
        <p:nvSpPr>
          <p:cNvPr id="15" name="Shape 13"/>
          <p:cNvSpPr/>
          <p:nvPr/>
        </p:nvSpPr>
        <p:spPr>
          <a:xfrm>
            <a:off x="444500" y="3675063"/>
            <a:ext cx="42333" cy="1248833"/>
          </a:xfrm>
          <a:custGeom>
            <a:avLst/>
            <a:gdLst/>
            <a:ahLst/>
            <a:cxnLst/>
            <a:rect l="l" t="t" r="r" b="b"/>
            <a:pathLst>
              <a:path w="42333" h="1248833">
                <a:moveTo>
                  <a:pt x="0" y="0"/>
                </a:moveTo>
                <a:lnTo>
                  <a:pt x="42333" y="0"/>
                </a:lnTo>
                <a:lnTo>
                  <a:pt x="42333" y="1248833"/>
                </a:lnTo>
                <a:lnTo>
                  <a:pt x="0" y="1248833"/>
                </a:lnTo>
                <a:lnTo>
                  <a:pt x="0" y="0"/>
                </a:lnTo>
                <a:close/>
              </a:path>
            </a:pathLst>
          </a:custGeom>
          <a:solidFill>
            <a:srgbClr val="D69E2E"/>
          </a:solidFill>
          <a:ln/>
        </p:spPr>
        <p:txBody>
          <a:bodyPr/>
          <a:lstStyle/>
          <a:p>
            <a:endParaRPr lang="zh-CN" altLang="en-US"/>
          </a:p>
        </p:txBody>
      </p:sp>
      <p:sp>
        <p:nvSpPr>
          <p:cNvPr id="16" name="Shape 14"/>
          <p:cNvSpPr/>
          <p:nvPr/>
        </p:nvSpPr>
        <p:spPr>
          <a:xfrm>
            <a:off x="719667" y="3844396"/>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D69E2E"/>
          </a:solidFill>
          <a:ln/>
        </p:spPr>
        <p:txBody>
          <a:bodyPr/>
          <a:lstStyle/>
          <a:p>
            <a:endParaRPr lang="zh-CN" altLang="en-US"/>
          </a:p>
        </p:txBody>
      </p:sp>
      <p:sp>
        <p:nvSpPr>
          <p:cNvPr id="17" name="Text 15"/>
          <p:cNvSpPr/>
          <p:nvPr/>
        </p:nvSpPr>
        <p:spPr>
          <a:xfrm>
            <a:off x="898674" y="3929063"/>
            <a:ext cx="275167" cy="338667"/>
          </a:xfrm>
          <a:prstGeom prst="rect">
            <a:avLst/>
          </a:prstGeom>
          <a:noFill/>
          <a:ln/>
        </p:spPr>
        <p:txBody>
          <a:bodyPr wrap="square" lIns="0" tIns="0" rIns="0" bIns="0" rtlCol="0" anchor="ctr"/>
          <a:lstStyle/>
          <a:p>
            <a:pPr>
              <a:lnSpc>
                <a:spcPct val="110000"/>
              </a:lnSpc>
            </a:pPr>
            <a:r>
              <a:rPr lang="en-US" sz="2000" b="1" dirty="0">
                <a:solidFill>
                  <a:srgbClr val="1A202C"/>
                </a:solidFill>
                <a:latin typeface="Liter" pitchFamily="34" charset="0"/>
                <a:ea typeface="Liter" pitchFamily="34" charset="-122"/>
                <a:cs typeface="Liter" pitchFamily="34" charset="-120"/>
              </a:rPr>
              <a:t>3</a:t>
            </a:r>
            <a:endParaRPr lang="en-US" sz="1600" dirty="0"/>
          </a:p>
        </p:txBody>
      </p:sp>
      <p:sp>
        <p:nvSpPr>
          <p:cNvPr id="18" name="Text 16"/>
          <p:cNvSpPr/>
          <p:nvPr/>
        </p:nvSpPr>
        <p:spPr>
          <a:xfrm>
            <a:off x="1354667" y="3950229"/>
            <a:ext cx="1587500" cy="296333"/>
          </a:xfrm>
          <a:prstGeom prst="rect">
            <a:avLst/>
          </a:prstGeom>
          <a:noFill/>
          <a:ln/>
        </p:spPr>
        <p:txBody>
          <a:bodyPr wrap="square" lIns="0" tIns="0" rIns="0" bIns="0" rtlCol="0" anchor="ctr"/>
          <a:lstStyle/>
          <a:p>
            <a:pPr>
              <a:lnSpc>
                <a:spcPct val="120000"/>
              </a:lnSpc>
            </a:pPr>
            <a:r>
              <a:rPr lang="en-US" sz="1667" b="1" dirty="0">
                <a:solidFill>
                  <a:srgbClr val="E2E8F0"/>
                </a:solidFill>
                <a:latin typeface="Noto Sans SC" pitchFamily="34" charset="0"/>
                <a:ea typeface="Noto Sans SC" pitchFamily="34" charset="-122"/>
                <a:cs typeface="Noto Sans SC" pitchFamily="34" charset="-120"/>
              </a:rPr>
              <a:t>执行引擎多样化</a:t>
            </a:r>
            <a:endParaRPr lang="en-US" sz="1600" dirty="0"/>
          </a:p>
        </p:txBody>
      </p:sp>
      <p:sp>
        <p:nvSpPr>
          <p:cNvPr id="19" name="Text 17"/>
          <p:cNvSpPr/>
          <p:nvPr/>
        </p:nvSpPr>
        <p:spPr>
          <a:xfrm>
            <a:off x="719667" y="4479396"/>
            <a:ext cx="7323667" cy="275167"/>
          </a:xfrm>
          <a:prstGeom prst="rect">
            <a:avLst/>
          </a:prstGeom>
          <a:noFill/>
          <a:ln/>
        </p:spPr>
        <p:txBody>
          <a:bodyPr wrap="square" lIns="0" tIns="0" rIns="0" bIns="0" rtlCol="0" anchor="ctr"/>
          <a:lstStyle/>
          <a:p>
            <a:pPr>
              <a:lnSpc>
                <a:spcPct val="140000"/>
              </a:lnSpc>
            </a:pPr>
            <a:r>
              <a:rPr lang="en-US" sz="1333" dirty="0">
                <a:solidFill>
                  <a:srgbClr val="A0AEC0"/>
                </a:solidFill>
                <a:latin typeface="MiSans" pitchFamily="34" charset="0"/>
                <a:ea typeface="MiSans" pitchFamily="34" charset="-122"/>
                <a:cs typeface="MiSans" pitchFamily="34" charset="-120"/>
              </a:rPr>
              <a:t>从单一的MapReduce执行引擎扩展到Tez、Spark、LLAP等多种引擎，</a:t>
            </a:r>
            <a:r>
              <a:rPr lang="en-US" sz="1333" dirty="0">
                <a:solidFill>
                  <a:srgbClr val="D69E2E"/>
                </a:solidFill>
                <a:latin typeface="MiSans" pitchFamily="34" charset="0"/>
                <a:ea typeface="MiSans" pitchFamily="34" charset="-122"/>
                <a:cs typeface="MiSans" pitchFamily="34" charset="-120"/>
              </a:rPr>
              <a:t>满足不同场景的性能需求</a:t>
            </a:r>
            <a:endParaRPr lang="en-US" sz="1600" dirty="0"/>
          </a:p>
        </p:txBody>
      </p:sp>
      <p:sp>
        <p:nvSpPr>
          <p:cNvPr id="20" name="Shape 18"/>
          <p:cNvSpPr/>
          <p:nvPr/>
        </p:nvSpPr>
        <p:spPr>
          <a:xfrm>
            <a:off x="8318500" y="3675063"/>
            <a:ext cx="42333" cy="1248833"/>
          </a:xfrm>
          <a:custGeom>
            <a:avLst/>
            <a:gdLst/>
            <a:ahLst/>
            <a:cxnLst/>
            <a:rect l="l" t="t" r="r" b="b"/>
            <a:pathLst>
              <a:path w="42333" h="1248833">
                <a:moveTo>
                  <a:pt x="0" y="0"/>
                </a:moveTo>
                <a:lnTo>
                  <a:pt x="42333" y="0"/>
                </a:lnTo>
                <a:lnTo>
                  <a:pt x="42333" y="1248833"/>
                </a:lnTo>
                <a:lnTo>
                  <a:pt x="0" y="1248833"/>
                </a:lnTo>
                <a:lnTo>
                  <a:pt x="0" y="0"/>
                </a:lnTo>
                <a:close/>
              </a:path>
            </a:pathLst>
          </a:custGeom>
          <a:solidFill>
            <a:srgbClr val="D69E2E"/>
          </a:solidFill>
          <a:ln/>
        </p:spPr>
        <p:txBody>
          <a:bodyPr/>
          <a:lstStyle/>
          <a:p>
            <a:endParaRPr lang="zh-CN" altLang="en-US"/>
          </a:p>
        </p:txBody>
      </p:sp>
      <p:sp>
        <p:nvSpPr>
          <p:cNvPr id="21" name="Shape 19"/>
          <p:cNvSpPr/>
          <p:nvPr/>
        </p:nvSpPr>
        <p:spPr>
          <a:xfrm>
            <a:off x="8593667" y="3844396"/>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D69E2E"/>
          </a:solidFill>
          <a:ln/>
        </p:spPr>
        <p:txBody>
          <a:bodyPr/>
          <a:lstStyle/>
          <a:p>
            <a:endParaRPr lang="zh-CN" altLang="en-US"/>
          </a:p>
        </p:txBody>
      </p:sp>
      <p:sp>
        <p:nvSpPr>
          <p:cNvPr id="22" name="Text 20"/>
          <p:cNvSpPr/>
          <p:nvPr/>
        </p:nvSpPr>
        <p:spPr>
          <a:xfrm>
            <a:off x="8772839" y="3929063"/>
            <a:ext cx="275167" cy="338667"/>
          </a:xfrm>
          <a:prstGeom prst="rect">
            <a:avLst/>
          </a:prstGeom>
          <a:noFill/>
          <a:ln/>
        </p:spPr>
        <p:txBody>
          <a:bodyPr wrap="square" lIns="0" tIns="0" rIns="0" bIns="0" rtlCol="0" anchor="ctr"/>
          <a:lstStyle/>
          <a:p>
            <a:pPr>
              <a:lnSpc>
                <a:spcPct val="110000"/>
              </a:lnSpc>
            </a:pPr>
            <a:r>
              <a:rPr lang="en-US" sz="2000" b="1" dirty="0">
                <a:solidFill>
                  <a:srgbClr val="1A202C"/>
                </a:solidFill>
                <a:latin typeface="Liter" pitchFamily="34" charset="0"/>
                <a:ea typeface="Liter" pitchFamily="34" charset="-122"/>
                <a:cs typeface="Liter" pitchFamily="34" charset="-120"/>
              </a:rPr>
              <a:t>4</a:t>
            </a:r>
            <a:endParaRPr lang="en-US" sz="1600" dirty="0"/>
          </a:p>
        </p:txBody>
      </p:sp>
      <p:sp>
        <p:nvSpPr>
          <p:cNvPr id="23" name="Text 21"/>
          <p:cNvSpPr/>
          <p:nvPr/>
        </p:nvSpPr>
        <p:spPr>
          <a:xfrm>
            <a:off x="9228667" y="3950229"/>
            <a:ext cx="1566333" cy="296333"/>
          </a:xfrm>
          <a:prstGeom prst="rect">
            <a:avLst/>
          </a:prstGeom>
          <a:noFill/>
          <a:ln/>
        </p:spPr>
        <p:txBody>
          <a:bodyPr wrap="square" lIns="0" tIns="0" rIns="0" bIns="0" rtlCol="0" anchor="ctr"/>
          <a:lstStyle/>
          <a:p>
            <a:pPr>
              <a:lnSpc>
                <a:spcPct val="120000"/>
              </a:lnSpc>
            </a:pPr>
            <a:r>
              <a:rPr lang="en-US" sz="1667" b="1" dirty="0">
                <a:solidFill>
                  <a:srgbClr val="E2E8F0"/>
                </a:solidFill>
                <a:latin typeface="Noto Sans SC" pitchFamily="34" charset="0"/>
                <a:ea typeface="Noto Sans SC" pitchFamily="34" charset="-122"/>
                <a:cs typeface="Noto Sans SC" pitchFamily="34" charset="-120"/>
              </a:rPr>
              <a:t>SQL兼容性完善</a:t>
            </a:r>
            <a:endParaRPr lang="en-US" sz="1600" dirty="0"/>
          </a:p>
        </p:txBody>
      </p:sp>
      <p:sp>
        <p:nvSpPr>
          <p:cNvPr id="24" name="Text 22"/>
          <p:cNvSpPr/>
          <p:nvPr/>
        </p:nvSpPr>
        <p:spPr>
          <a:xfrm>
            <a:off x="8593667" y="4479396"/>
            <a:ext cx="7323667" cy="275167"/>
          </a:xfrm>
          <a:prstGeom prst="rect">
            <a:avLst/>
          </a:prstGeom>
          <a:noFill/>
          <a:ln/>
        </p:spPr>
        <p:txBody>
          <a:bodyPr wrap="square" lIns="0" tIns="0" rIns="0" bIns="0" rtlCol="0" anchor="ctr"/>
          <a:lstStyle/>
          <a:p>
            <a:pPr>
              <a:lnSpc>
                <a:spcPct val="140000"/>
              </a:lnSpc>
            </a:pPr>
            <a:r>
              <a:rPr lang="en-US" sz="1333" dirty="0">
                <a:solidFill>
                  <a:srgbClr val="A0AEC0"/>
                </a:solidFill>
                <a:latin typeface="MiSans" pitchFamily="34" charset="0"/>
                <a:ea typeface="MiSans" pitchFamily="34" charset="-122"/>
                <a:cs typeface="MiSans" pitchFamily="34" charset="-120"/>
              </a:rPr>
              <a:t>从基础SQL子集支持到接近完整的ANSI SQL兼容，</a:t>
            </a:r>
            <a:r>
              <a:rPr lang="en-US" sz="1333" dirty="0">
                <a:solidFill>
                  <a:srgbClr val="D69E2E"/>
                </a:solidFill>
                <a:latin typeface="MiSans" pitchFamily="34" charset="0"/>
                <a:ea typeface="MiSans" pitchFamily="34" charset="-122"/>
                <a:cs typeface="MiSans" pitchFamily="34" charset="-120"/>
              </a:rPr>
              <a:t>支持复杂查询和高级分析功能</a:t>
            </a:r>
            <a:endParaRPr lang="en-US" sz="1600" dirty="0"/>
          </a:p>
        </p:txBody>
      </p:sp>
      <p:sp>
        <p:nvSpPr>
          <p:cNvPr id="25" name="Shape 23"/>
          <p:cNvSpPr/>
          <p:nvPr/>
        </p:nvSpPr>
        <p:spPr>
          <a:xfrm>
            <a:off x="444500" y="5262563"/>
            <a:ext cx="42333" cy="1248833"/>
          </a:xfrm>
          <a:custGeom>
            <a:avLst/>
            <a:gdLst/>
            <a:ahLst/>
            <a:cxnLst/>
            <a:rect l="l" t="t" r="r" b="b"/>
            <a:pathLst>
              <a:path w="42333" h="1248833">
                <a:moveTo>
                  <a:pt x="0" y="0"/>
                </a:moveTo>
                <a:lnTo>
                  <a:pt x="42333" y="0"/>
                </a:lnTo>
                <a:lnTo>
                  <a:pt x="42333" y="1248833"/>
                </a:lnTo>
                <a:lnTo>
                  <a:pt x="0" y="1248833"/>
                </a:lnTo>
                <a:lnTo>
                  <a:pt x="0" y="0"/>
                </a:lnTo>
                <a:close/>
              </a:path>
            </a:pathLst>
          </a:custGeom>
          <a:solidFill>
            <a:srgbClr val="D69E2E"/>
          </a:solidFill>
          <a:ln/>
        </p:spPr>
        <p:txBody>
          <a:bodyPr/>
          <a:lstStyle/>
          <a:p>
            <a:endParaRPr lang="zh-CN" altLang="en-US"/>
          </a:p>
        </p:txBody>
      </p:sp>
      <p:sp>
        <p:nvSpPr>
          <p:cNvPr id="26" name="Shape 24"/>
          <p:cNvSpPr/>
          <p:nvPr/>
        </p:nvSpPr>
        <p:spPr>
          <a:xfrm>
            <a:off x="719667" y="5431896"/>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D69E2E"/>
          </a:solidFill>
          <a:ln/>
        </p:spPr>
        <p:txBody>
          <a:bodyPr/>
          <a:lstStyle/>
          <a:p>
            <a:endParaRPr lang="zh-CN" altLang="en-US"/>
          </a:p>
        </p:txBody>
      </p:sp>
      <p:sp>
        <p:nvSpPr>
          <p:cNvPr id="27" name="Text 25"/>
          <p:cNvSpPr/>
          <p:nvPr/>
        </p:nvSpPr>
        <p:spPr>
          <a:xfrm>
            <a:off x="900493" y="5516563"/>
            <a:ext cx="275167" cy="338667"/>
          </a:xfrm>
          <a:prstGeom prst="rect">
            <a:avLst/>
          </a:prstGeom>
          <a:noFill/>
          <a:ln/>
        </p:spPr>
        <p:txBody>
          <a:bodyPr wrap="square" lIns="0" tIns="0" rIns="0" bIns="0" rtlCol="0" anchor="ctr"/>
          <a:lstStyle/>
          <a:p>
            <a:pPr>
              <a:lnSpc>
                <a:spcPct val="110000"/>
              </a:lnSpc>
            </a:pPr>
            <a:r>
              <a:rPr lang="en-US" sz="2000" b="1" dirty="0">
                <a:solidFill>
                  <a:srgbClr val="1A202C"/>
                </a:solidFill>
                <a:latin typeface="Liter" pitchFamily="34" charset="0"/>
                <a:ea typeface="Liter" pitchFamily="34" charset="-122"/>
                <a:cs typeface="Liter" pitchFamily="34" charset="-120"/>
              </a:rPr>
              <a:t>5</a:t>
            </a:r>
            <a:endParaRPr lang="en-US" sz="1600" dirty="0"/>
          </a:p>
        </p:txBody>
      </p:sp>
      <p:sp>
        <p:nvSpPr>
          <p:cNvPr id="28" name="Text 26"/>
          <p:cNvSpPr/>
          <p:nvPr/>
        </p:nvSpPr>
        <p:spPr>
          <a:xfrm>
            <a:off x="1354667" y="5537729"/>
            <a:ext cx="1587500" cy="296333"/>
          </a:xfrm>
          <a:prstGeom prst="rect">
            <a:avLst/>
          </a:prstGeom>
          <a:noFill/>
          <a:ln/>
        </p:spPr>
        <p:txBody>
          <a:bodyPr wrap="square" lIns="0" tIns="0" rIns="0" bIns="0" rtlCol="0" anchor="ctr"/>
          <a:lstStyle/>
          <a:p>
            <a:pPr>
              <a:lnSpc>
                <a:spcPct val="120000"/>
              </a:lnSpc>
            </a:pPr>
            <a:r>
              <a:rPr lang="en-US" sz="1667" b="1" dirty="0">
                <a:solidFill>
                  <a:srgbClr val="E2E8F0"/>
                </a:solidFill>
                <a:latin typeface="Noto Sans SC" pitchFamily="34" charset="0"/>
                <a:ea typeface="Noto Sans SC" pitchFamily="34" charset="-122"/>
                <a:cs typeface="Noto Sans SC" pitchFamily="34" charset="-120"/>
              </a:rPr>
              <a:t>企业级特性增强</a:t>
            </a:r>
            <a:endParaRPr lang="en-US" sz="1600" dirty="0"/>
          </a:p>
        </p:txBody>
      </p:sp>
      <p:sp>
        <p:nvSpPr>
          <p:cNvPr id="29" name="Text 27"/>
          <p:cNvSpPr/>
          <p:nvPr/>
        </p:nvSpPr>
        <p:spPr>
          <a:xfrm>
            <a:off x="719667" y="6066896"/>
            <a:ext cx="15197667" cy="275167"/>
          </a:xfrm>
          <a:prstGeom prst="rect">
            <a:avLst/>
          </a:prstGeom>
          <a:noFill/>
          <a:ln/>
        </p:spPr>
        <p:txBody>
          <a:bodyPr wrap="square" lIns="0" tIns="0" rIns="0" bIns="0" rtlCol="0" anchor="ctr"/>
          <a:lstStyle/>
          <a:p>
            <a:pPr>
              <a:lnSpc>
                <a:spcPct val="140000"/>
              </a:lnSpc>
            </a:pPr>
            <a:r>
              <a:rPr lang="en-US" sz="1333" dirty="0">
                <a:solidFill>
                  <a:srgbClr val="A0AEC0"/>
                </a:solidFill>
                <a:latin typeface="MiSans" pitchFamily="34" charset="0"/>
                <a:ea typeface="MiSans" pitchFamily="34" charset="-122"/>
                <a:cs typeface="MiSans" pitchFamily="34" charset="-120"/>
              </a:rPr>
              <a:t>ACID事务支持、物化视图、查询优化等特性，使Hive成为真正的企业级数据仓库解决方案</a:t>
            </a:r>
            <a:endParaRPr lang="en-US" sz="1600" dirty="0"/>
          </a:p>
        </p:txBody>
      </p:sp>
      <p:sp>
        <p:nvSpPr>
          <p:cNvPr id="30" name="Shape 28"/>
          <p:cNvSpPr/>
          <p:nvPr/>
        </p:nvSpPr>
        <p:spPr>
          <a:xfrm>
            <a:off x="433917" y="6860646"/>
            <a:ext cx="15388167" cy="1460500"/>
          </a:xfrm>
          <a:custGeom>
            <a:avLst/>
            <a:gdLst/>
            <a:ahLst/>
            <a:cxnLst/>
            <a:rect l="l" t="t" r="r" b="b"/>
            <a:pathLst>
              <a:path w="15388167" h="1460500">
                <a:moveTo>
                  <a:pt x="84665" y="0"/>
                </a:moveTo>
                <a:lnTo>
                  <a:pt x="15303501" y="0"/>
                </a:lnTo>
                <a:cubicBezTo>
                  <a:pt x="15350261" y="0"/>
                  <a:pt x="15388167" y="37906"/>
                  <a:pt x="15388167" y="84665"/>
                </a:cubicBezTo>
                <a:lnTo>
                  <a:pt x="15388167" y="1375835"/>
                </a:lnTo>
                <a:cubicBezTo>
                  <a:pt x="15388167" y="1422594"/>
                  <a:pt x="15350261" y="1460500"/>
                  <a:pt x="15303501" y="1460500"/>
                </a:cubicBezTo>
                <a:lnTo>
                  <a:pt x="84665" y="1460500"/>
                </a:lnTo>
                <a:cubicBezTo>
                  <a:pt x="37906" y="1460500"/>
                  <a:pt x="0" y="1422594"/>
                  <a:pt x="0" y="1375835"/>
                </a:cubicBezTo>
                <a:lnTo>
                  <a:pt x="0" y="84665"/>
                </a:lnTo>
                <a:cubicBezTo>
                  <a:pt x="0" y="37937"/>
                  <a:pt x="37937" y="0"/>
                  <a:pt x="84665" y="0"/>
                </a:cubicBezTo>
                <a:close/>
              </a:path>
            </a:pathLst>
          </a:custGeom>
          <a:solidFill>
            <a:srgbClr val="D69E2E">
              <a:alpha val="10196"/>
            </a:srgbClr>
          </a:solidFill>
          <a:ln w="25400">
            <a:solidFill>
              <a:srgbClr val="D69E2E"/>
            </a:solidFill>
            <a:prstDash val="solid"/>
          </a:ln>
        </p:spPr>
        <p:txBody>
          <a:bodyPr/>
          <a:lstStyle/>
          <a:p>
            <a:endParaRPr lang="zh-CN" altLang="en-US"/>
          </a:p>
        </p:txBody>
      </p:sp>
      <p:sp>
        <p:nvSpPr>
          <p:cNvPr id="31" name="Shape 29"/>
          <p:cNvSpPr/>
          <p:nvPr/>
        </p:nvSpPr>
        <p:spPr>
          <a:xfrm>
            <a:off x="678656" y="7125229"/>
            <a:ext cx="357188" cy="317500"/>
          </a:xfrm>
          <a:custGeom>
            <a:avLst/>
            <a:gdLst/>
            <a:ahLst/>
            <a:cxnLst/>
            <a:rect l="l" t="t" r="r" b="b"/>
            <a:pathLst>
              <a:path w="357188" h="317500">
                <a:moveTo>
                  <a:pt x="29766" y="121419"/>
                </a:moveTo>
                <a:lnTo>
                  <a:pt x="159494" y="174811"/>
                </a:lnTo>
                <a:cubicBezTo>
                  <a:pt x="165571" y="177292"/>
                  <a:pt x="172021" y="178594"/>
                  <a:pt x="178594" y="178594"/>
                </a:cubicBezTo>
                <a:cubicBezTo>
                  <a:pt x="185167" y="178594"/>
                  <a:pt x="191616" y="177292"/>
                  <a:pt x="197693" y="174811"/>
                </a:cubicBezTo>
                <a:lnTo>
                  <a:pt x="348010" y="112923"/>
                </a:lnTo>
                <a:cubicBezTo>
                  <a:pt x="353591" y="110629"/>
                  <a:pt x="357188" y="105234"/>
                  <a:pt x="357188" y="99219"/>
                </a:cubicBezTo>
                <a:cubicBezTo>
                  <a:pt x="357188" y="93204"/>
                  <a:pt x="353591" y="87809"/>
                  <a:pt x="348010" y="85514"/>
                </a:cubicBezTo>
                <a:lnTo>
                  <a:pt x="197693" y="23626"/>
                </a:lnTo>
                <a:cubicBezTo>
                  <a:pt x="191616" y="21146"/>
                  <a:pt x="185167" y="19844"/>
                  <a:pt x="178594" y="19844"/>
                </a:cubicBezTo>
                <a:cubicBezTo>
                  <a:pt x="172021" y="19844"/>
                  <a:pt x="165571" y="21146"/>
                  <a:pt x="159494" y="23626"/>
                </a:cubicBezTo>
                <a:lnTo>
                  <a:pt x="9178" y="85514"/>
                </a:lnTo>
                <a:cubicBezTo>
                  <a:pt x="3597" y="87809"/>
                  <a:pt x="0" y="93204"/>
                  <a:pt x="0" y="99219"/>
                </a:cubicBezTo>
                <a:lnTo>
                  <a:pt x="0" y="282773"/>
                </a:lnTo>
                <a:cubicBezTo>
                  <a:pt x="0" y="291021"/>
                  <a:pt x="6635" y="297656"/>
                  <a:pt x="14883" y="297656"/>
                </a:cubicBezTo>
                <a:cubicBezTo>
                  <a:pt x="23130" y="297656"/>
                  <a:pt x="29766" y="291021"/>
                  <a:pt x="29766" y="282773"/>
                </a:cubicBezTo>
                <a:lnTo>
                  <a:pt x="29766" y="121419"/>
                </a:lnTo>
                <a:close/>
                <a:moveTo>
                  <a:pt x="59531" y="165881"/>
                </a:moveTo>
                <a:lnTo>
                  <a:pt x="59531" y="238125"/>
                </a:lnTo>
                <a:cubicBezTo>
                  <a:pt x="59531" y="270991"/>
                  <a:pt x="112861" y="297656"/>
                  <a:pt x="178594" y="297656"/>
                </a:cubicBezTo>
                <a:cubicBezTo>
                  <a:pt x="244326" y="297656"/>
                  <a:pt x="297656" y="270991"/>
                  <a:pt x="297656" y="238125"/>
                </a:cubicBezTo>
                <a:lnTo>
                  <a:pt x="297656" y="165819"/>
                </a:lnTo>
                <a:lnTo>
                  <a:pt x="209042" y="202344"/>
                </a:lnTo>
                <a:cubicBezTo>
                  <a:pt x="199368" y="206313"/>
                  <a:pt x="189074" y="208359"/>
                  <a:pt x="178594" y="208359"/>
                </a:cubicBezTo>
                <a:cubicBezTo>
                  <a:pt x="168114" y="208359"/>
                  <a:pt x="157820" y="206313"/>
                  <a:pt x="148146" y="202344"/>
                </a:cubicBezTo>
                <a:lnTo>
                  <a:pt x="59531" y="165819"/>
                </a:lnTo>
                <a:close/>
              </a:path>
            </a:pathLst>
          </a:custGeom>
          <a:solidFill>
            <a:srgbClr val="D69E2E"/>
          </a:solidFill>
          <a:ln/>
        </p:spPr>
        <p:txBody>
          <a:bodyPr/>
          <a:lstStyle/>
          <a:p>
            <a:endParaRPr lang="zh-CN" altLang="en-US"/>
          </a:p>
        </p:txBody>
      </p:sp>
      <p:sp>
        <p:nvSpPr>
          <p:cNvPr id="32" name="Text 30"/>
          <p:cNvSpPr/>
          <p:nvPr/>
        </p:nvSpPr>
        <p:spPr>
          <a:xfrm>
            <a:off x="1185333" y="7125229"/>
            <a:ext cx="14478000" cy="296333"/>
          </a:xfrm>
          <a:prstGeom prst="rect">
            <a:avLst/>
          </a:prstGeom>
          <a:noFill/>
          <a:ln/>
        </p:spPr>
        <p:txBody>
          <a:bodyPr wrap="square" lIns="0" tIns="0" rIns="0" bIns="0" rtlCol="0" anchor="ctr"/>
          <a:lstStyle/>
          <a:p>
            <a:pPr>
              <a:lnSpc>
                <a:spcPct val="120000"/>
              </a:lnSpc>
            </a:pPr>
            <a:r>
              <a:rPr lang="en-US" sz="1667" b="1" dirty="0">
                <a:solidFill>
                  <a:srgbClr val="E2E8F0"/>
                </a:solidFill>
                <a:latin typeface="Noto Sans SC" pitchFamily="34" charset="0"/>
                <a:ea typeface="Noto Sans SC" pitchFamily="34" charset="-122"/>
                <a:cs typeface="Noto Sans SC" pitchFamily="34" charset="-120"/>
              </a:rPr>
              <a:t>学习价值</a:t>
            </a:r>
            <a:endParaRPr lang="en-US" sz="1600" dirty="0"/>
          </a:p>
        </p:txBody>
      </p:sp>
      <p:sp>
        <p:nvSpPr>
          <p:cNvPr id="33" name="Text 31"/>
          <p:cNvSpPr/>
          <p:nvPr/>
        </p:nvSpPr>
        <p:spPr>
          <a:xfrm>
            <a:off x="1185333" y="7506229"/>
            <a:ext cx="14456833" cy="550333"/>
          </a:xfrm>
          <a:prstGeom prst="rect">
            <a:avLst/>
          </a:prstGeom>
          <a:noFill/>
          <a:ln/>
        </p:spPr>
        <p:txBody>
          <a:bodyPr wrap="square" lIns="0" tIns="0" rIns="0" bIns="0" rtlCol="0" anchor="ctr"/>
          <a:lstStyle/>
          <a:p>
            <a:pPr>
              <a:lnSpc>
                <a:spcPct val="140000"/>
              </a:lnSpc>
            </a:pPr>
            <a:r>
              <a:rPr lang="en-US" sz="1333" dirty="0">
                <a:solidFill>
                  <a:srgbClr val="A0AEC0"/>
                </a:solidFill>
                <a:latin typeface="MiSans" pitchFamily="34" charset="0"/>
                <a:ea typeface="MiSans" pitchFamily="34" charset="-122"/>
                <a:cs typeface="MiSans" pitchFamily="34" charset="-120"/>
              </a:rPr>
              <a:t>SQL-on-Hadoop与数据仓库抽象层不仅是一个技术架构，更是Hive在实际大数据应用中支撑企业级数据分析的核心技术体系。通过本章的学习，我们掌握了Hive的设计思想、架构组件和核心概念，</a:t>
            </a:r>
            <a:r>
              <a:rPr lang="en-US" sz="1333" dirty="0">
                <a:solidFill>
                  <a:srgbClr val="D69E2E"/>
                </a:solidFill>
                <a:latin typeface="MiSans" pitchFamily="34" charset="0"/>
                <a:ea typeface="MiSans" pitchFamily="34" charset="-122"/>
                <a:cs typeface="MiSans" pitchFamily="34" charset="-120"/>
              </a:rPr>
              <a:t>为深入理解其查询优化、执行机制和高级特性奠定了坚实基础</a:t>
            </a:r>
            <a:r>
              <a:rPr lang="en-US" sz="1333" dirty="0">
                <a:solidFill>
                  <a:srgbClr val="A0AEC0"/>
                </a:solidFill>
                <a:latin typeface="MiSans" pitchFamily="34" charset="0"/>
                <a:ea typeface="MiSans" pitchFamily="34" charset="-122"/>
                <a:cs typeface="MiSans" pitchFamily="34" charset="-120"/>
              </a:rPr>
              <a:t>。</a:t>
            </a:r>
            <a:endParaRPr lang="en-US" sz="1600"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202C"/>
        </a:solidFill>
        <a:effectLst/>
      </p:bgPr>
    </p:bg>
    <p:spTree>
      <p:nvGrpSpPr>
        <p:cNvPr id="1" name=""/>
        <p:cNvGrpSpPr/>
        <p:nvPr/>
      </p:nvGrpSpPr>
      <p:grpSpPr>
        <a:xfrm>
          <a:off x="0" y="0"/>
          <a:ext cx="0" cy="0"/>
          <a:chOff x="0" y="0"/>
          <a:chExt cx="0" cy="0"/>
        </a:xfrm>
      </p:grpSpPr>
      <p:pic>
        <p:nvPicPr>
          <p:cNvPr id="2" name="Image 0" descr="https://kimi-web-img.moonshot.cn/img/zd-brightspot.s3.us-east-1.amazonaws.com/1e697cde4b63ab68e914a1804c939aaf25511dc9.png"/>
          <p:cNvPicPr>
            <a:picLocks noChangeAspect="1"/>
          </p:cNvPicPr>
          <p:nvPr/>
        </p:nvPicPr>
        <p:blipFill>
          <a:blip r:embed="rId3">
            <a:alphaModFix amt="30000"/>
          </a:blip>
          <a:srcRect t="18699" b="18699"/>
          <a:stretch/>
        </p:blipFill>
        <p:spPr>
          <a:xfrm>
            <a:off x="0" y="0"/>
            <a:ext cx="16256000" cy="9992966"/>
          </a:xfrm>
          <a:prstGeom prst="roundRect">
            <a:avLst>
              <a:gd name="adj" fmla="val 0"/>
            </a:avLst>
          </a:prstGeom>
        </p:spPr>
      </p:pic>
      <p:sp>
        <p:nvSpPr>
          <p:cNvPr id="3" name="Shape 0"/>
          <p:cNvSpPr/>
          <p:nvPr/>
        </p:nvSpPr>
        <p:spPr>
          <a:xfrm>
            <a:off x="0" y="0"/>
            <a:ext cx="16256000" cy="9992966"/>
          </a:xfrm>
          <a:custGeom>
            <a:avLst/>
            <a:gdLst/>
            <a:ahLst/>
            <a:cxnLst/>
            <a:rect l="l" t="t" r="r" b="b"/>
            <a:pathLst>
              <a:path w="16256000" h="9992966">
                <a:moveTo>
                  <a:pt x="0" y="0"/>
                </a:moveTo>
                <a:lnTo>
                  <a:pt x="16256000" y="0"/>
                </a:lnTo>
                <a:lnTo>
                  <a:pt x="16256000" y="9992966"/>
                </a:lnTo>
                <a:lnTo>
                  <a:pt x="0" y="9992966"/>
                </a:lnTo>
                <a:lnTo>
                  <a:pt x="0" y="0"/>
                </a:lnTo>
                <a:close/>
              </a:path>
            </a:pathLst>
          </a:custGeom>
          <a:gradFill flip="none" rotWithShape="1">
            <a:gsLst>
              <a:gs pos="0">
                <a:srgbClr val="1A202C">
                  <a:alpha val="95000"/>
                </a:srgbClr>
              </a:gs>
              <a:gs pos="50000">
                <a:srgbClr val="1A202C">
                  <a:alpha val="85000"/>
                </a:srgbClr>
              </a:gs>
              <a:gs pos="100000">
                <a:srgbClr val="000000">
                  <a:alpha val="0"/>
                </a:srgbClr>
              </a:gs>
            </a:gsLst>
            <a:lin ang="2700000" scaled="1"/>
          </a:gradFill>
          <a:ln/>
        </p:spPr>
        <p:txBody>
          <a:bodyPr/>
          <a:lstStyle/>
          <a:p>
            <a:endParaRPr lang="zh-CN" altLang="en-US"/>
          </a:p>
        </p:txBody>
      </p:sp>
      <p:sp>
        <p:nvSpPr>
          <p:cNvPr id="4" name="Shape 1"/>
          <p:cNvSpPr/>
          <p:nvPr/>
        </p:nvSpPr>
        <p:spPr>
          <a:xfrm>
            <a:off x="7036381" y="94320"/>
            <a:ext cx="2184509" cy="1905635"/>
          </a:xfrm>
          <a:custGeom>
            <a:avLst/>
            <a:gdLst/>
            <a:ahLst/>
            <a:cxnLst/>
            <a:rect l="l" t="t" r="r" b="b"/>
            <a:pathLst>
              <a:path w="2184509" h="1905635">
                <a:moveTo>
                  <a:pt x="952818" y="0"/>
                </a:moveTo>
                <a:lnTo>
                  <a:pt x="1231691" y="0"/>
                </a:lnTo>
                <a:cubicBezTo>
                  <a:pt x="1757918" y="0"/>
                  <a:pt x="2184509" y="426591"/>
                  <a:pt x="2184509" y="952818"/>
                </a:cubicBezTo>
                <a:lnTo>
                  <a:pt x="2184509" y="952818"/>
                </a:lnTo>
                <a:cubicBezTo>
                  <a:pt x="2184509" y="1479044"/>
                  <a:pt x="1757918" y="1905635"/>
                  <a:pt x="1231691" y="1905635"/>
                </a:cubicBezTo>
                <a:lnTo>
                  <a:pt x="952818" y="1905635"/>
                </a:lnTo>
                <a:cubicBezTo>
                  <a:pt x="426591" y="1905635"/>
                  <a:pt x="0" y="1479044"/>
                  <a:pt x="0" y="952818"/>
                </a:cubicBezTo>
                <a:lnTo>
                  <a:pt x="0" y="952818"/>
                </a:lnTo>
                <a:cubicBezTo>
                  <a:pt x="0" y="426591"/>
                  <a:pt x="426591" y="0"/>
                  <a:pt x="952818" y="0"/>
                </a:cubicBezTo>
                <a:close/>
              </a:path>
            </a:pathLst>
          </a:custGeom>
          <a:solidFill>
            <a:srgbClr val="000000">
              <a:alpha val="0"/>
            </a:srgbClr>
          </a:solidFill>
          <a:ln w="50800">
            <a:solidFill>
              <a:srgbClr val="D69E2E"/>
            </a:solidFill>
            <a:prstDash val="solid"/>
          </a:ln>
        </p:spPr>
        <p:txBody>
          <a:bodyPr/>
          <a:lstStyle/>
          <a:p>
            <a:endParaRPr lang="zh-CN" altLang="en-US"/>
          </a:p>
        </p:txBody>
      </p:sp>
      <p:sp>
        <p:nvSpPr>
          <p:cNvPr id="5" name="Shape 2"/>
          <p:cNvSpPr/>
          <p:nvPr/>
        </p:nvSpPr>
        <p:spPr>
          <a:xfrm>
            <a:off x="7640607" y="489390"/>
            <a:ext cx="976057" cy="1115494"/>
          </a:xfrm>
          <a:custGeom>
            <a:avLst/>
            <a:gdLst/>
            <a:ahLst/>
            <a:cxnLst/>
            <a:rect l="l" t="t" r="r" b="b"/>
            <a:pathLst>
              <a:path w="976057" h="1115494">
                <a:moveTo>
                  <a:pt x="976057" y="448376"/>
                </a:moveTo>
                <a:cubicBezTo>
                  <a:pt x="943812" y="469728"/>
                  <a:pt x="906775" y="486939"/>
                  <a:pt x="868212" y="500665"/>
                </a:cubicBezTo>
                <a:cubicBezTo>
                  <a:pt x="765813" y="537267"/>
                  <a:pt x="631387" y="557747"/>
                  <a:pt x="488029" y="557747"/>
                </a:cubicBezTo>
                <a:cubicBezTo>
                  <a:pt x="344670" y="557747"/>
                  <a:pt x="210027" y="537049"/>
                  <a:pt x="107846" y="500665"/>
                </a:cubicBezTo>
                <a:cubicBezTo>
                  <a:pt x="69501" y="486939"/>
                  <a:pt x="32245" y="469728"/>
                  <a:pt x="0" y="448376"/>
                </a:cubicBezTo>
                <a:lnTo>
                  <a:pt x="0" y="627465"/>
                </a:lnTo>
                <a:cubicBezTo>
                  <a:pt x="0" y="723764"/>
                  <a:pt x="218524" y="801761"/>
                  <a:pt x="488029" y="801761"/>
                </a:cubicBezTo>
                <a:cubicBezTo>
                  <a:pt x="757534" y="801761"/>
                  <a:pt x="976057" y="723764"/>
                  <a:pt x="976057" y="627465"/>
                </a:cubicBezTo>
                <a:lnTo>
                  <a:pt x="976057" y="448376"/>
                </a:lnTo>
                <a:close/>
                <a:moveTo>
                  <a:pt x="976057" y="278873"/>
                </a:moveTo>
                <a:lnTo>
                  <a:pt x="976057" y="174296"/>
                </a:lnTo>
                <a:cubicBezTo>
                  <a:pt x="976057" y="77997"/>
                  <a:pt x="757534" y="0"/>
                  <a:pt x="488029" y="0"/>
                </a:cubicBezTo>
                <a:cubicBezTo>
                  <a:pt x="218524" y="0"/>
                  <a:pt x="0" y="77997"/>
                  <a:pt x="0" y="174296"/>
                </a:cubicBezTo>
                <a:lnTo>
                  <a:pt x="0" y="278873"/>
                </a:lnTo>
                <a:cubicBezTo>
                  <a:pt x="0" y="375172"/>
                  <a:pt x="218524" y="453169"/>
                  <a:pt x="488029" y="453169"/>
                </a:cubicBezTo>
                <a:cubicBezTo>
                  <a:pt x="757534" y="453169"/>
                  <a:pt x="976057" y="375172"/>
                  <a:pt x="976057" y="278873"/>
                </a:cubicBezTo>
                <a:close/>
                <a:moveTo>
                  <a:pt x="868212" y="849257"/>
                </a:moveTo>
                <a:cubicBezTo>
                  <a:pt x="766031" y="885641"/>
                  <a:pt x="631605" y="906339"/>
                  <a:pt x="488029" y="906339"/>
                </a:cubicBezTo>
                <a:cubicBezTo>
                  <a:pt x="344452" y="906339"/>
                  <a:pt x="210027" y="885641"/>
                  <a:pt x="107846" y="849257"/>
                </a:cubicBezTo>
                <a:cubicBezTo>
                  <a:pt x="69501" y="835531"/>
                  <a:pt x="32245" y="818319"/>
                  <a:pt x="0" y="796968"/>
                </a:cubicBezTo>
                <a:lnTo>
                  <a:pt x="0" y="941198"/>
                </a:lnTo>
                <a:cubicBezTo>
                  <a:pt x="0" y="1037496"/>
                  <a:pt x="218524" y="1115494"/>
                  <a:pt x="488029" y="1115494"/>
                </a:cubicBezTo>
                <a:cubicBezTo>
                  <a:pt x="757534" y="1115494"/>
                  <a:pt x="976057" y="1037496"/>
                  <a:pt x="976057" y="941198"/>
                </a:cubicBezTo>
                <a:lnTo>
                  <a:pt x="976057" y="796968"/>
                </a:lnTo>
                <a:cubicBezTo>
                  <a:pt x="943812" y="818319"/>
                  <a:pt x="906775" y="835531"/>
                  <a:pt x="868212" y="849257"/>
                </a:cubicBezTo>
                <a:close/>
              </a:path>
            </a:pathLst>
          </a:custGeom>
          <a:solidFill>
            <a:srgbClr val="D69E2E"/>
          </a:solidFill>
          <a:ln/>
        </p:spPr>
        <p:txBody>
          <a:bodyPr/>
          <a:lstStyle/>
          <a:p>
            <a:endParaRPr lang="zh-CN" altLang="en-US"/>
          </a:p>
        </p:txBody>
      </p:sp>
      <p:sp>
        <p:nvSpPr>
          <p:cNvPr id="6" name="Text 3"/>
          <p:cNvSpPr/>
          <p:nvPr/>
        </p:nvSpPr>
        <p:spPr>
          <a:xfrm>
            <a:off x="5409619" y="2952773"/>
            <a:ext cx="5438033" cy="2091551"/>
          </a:xfrm>
          <a:prstGeom prst="rect">
            <a:avLst/>
          </a:prstGeom>
          <a:noFill/>
          <a:ln/>
        </p:spPr>
        <p:txBody>
          <a:bodyPr wrap="square" lIns="0" tIns="0" rIns="0" bIns="0" rtlCol="0" anchor="ctr"/>
          <a:lstStyle/>
          <a:p>
            <a:pPr algn="ctr">
              <a:lnSpc>
                <a:spcPct val="100000"/>
              </a:lnSpc>
            </a:pPr>
            <a:r>
              <a:rPr lang="en-US" sz="6588" b="1" dirty="0">
                <a:solidFill>
                  <a:srgbClr val="E2E8F0"/>
                </a:solidFill>
                <a:latin typeface="Noto Sans SC" pitchFamily="34" charset="0"/>
                <a:ea typeface="Noto Sans SC" pitchFamily="34" charset="-122"/>
                <a:cs typeface="Noto Sans SC" pitchFamily="34" charset="-120"/>
              </a:rPr>
              <a:t>持续探索</a:t>
            </a:r>
            <a:endParaRPr lang="en-US" sz="1600" dirty="0"/>
          </a:p>
          <a:p>
            <a:pPr algn="ctr">
              <a:lnSpc>
                <a:spcPct val="100000"/>
              </a:lnSpc>
            </a:pPr>
            <a:r>
              <a:rPr lang="en-US" sz="6588" b="1" dirty="0">
                <a:solidFill>
                  <a:srgbClr val="E2E8F0"/>
                </a:solidFill>
                <a:latin typeface="Noto Sans SC" pitchFamily="34" charset="0"/>
                <a:ea typeface="Noto Sans SC" pitchFamily="34" charset="-122"/>
                <a:cs typeface="Noto Sans SC" pitchFamily="34" charset="-120"/>
              </a:rPr>
              <a:t>数据仓库技术</a:t>
            </a:r>
            <a:endParaRPr lang="en-US" sz="1600" dirty="0"/>
          </a:p>
        </p:txBody>
      </p:sp>
      <p:sp>
        <p:nvSpPr>
          <p:cNvPr id="7" name="Shape 4"/>
          <p:cNvSpPr/>
          <p:nvPr/>
        </p:nvSpPr>
        <p:spPr>
          <a:xfrm>
            <a:off x="7199057" y="5416155"/>
            <a:ext cx="1859157" cy="0"/>
          </a:xfrm>
          <a:custGeom>
            <a:avLst/>
            <a:gdLst/>
            <a:ahLst/>
            <a:cxnLst/>
            <a:rect l="l" t="t" r="r" b="b"/>
            <a:pathLst>
              <a:path w="1859157">
                <a:moveTo>
                  <a:pt x="0" y="0"/>
                </a:moveTo>
                <a:lnTo>
                  <a:pt x="1859157" y="0"/>
                </a:lnTo>
                <a:lnTo>
                  <a:pt x="1859157" y="0"/>
                </a:lnTo>
                <a:lnTo>
                  <a:pt x="0" y="0"/>
                </a:lnTo>
                <a:lnTo>
                  <a:pt x="0" y="0"/>
                </a:lnTo>
                <a:close/>
              </a:path>
            </a:pathLst>
          </a:custGeom>
          <a:solidFill>
            <a:srgbClr val="D69E2E"/>
          </a:solidFill>
          <a:ln/>
        </p:spPr>
        <p:txBody>
          <a:bodyPr/>
          <a:lstStyle/>
          <a:p>
            <a:endParaRPr lang="zh-CN" altLang="en-US"/>
          </a:p>
        </p:txBody>
      </p:sp>
      <p:sp>
        <p:nvSpPr>
          <p:cNvPr id="8" name="Text 5"/>
          <p:cNvSpPr/>
          <p:nvPr/>
        </p:nvSpPr>
        <p:spPr>
          <a:xfrm>
            <a:off x="4015252" y="5787986"/>
            <a:ext cx="8226768" cy="906339"/>
          </a:xfrm>
          <a:prstGeom prst="rect">
            <a:avLst/>
          </a:prstGeom>
          <a:noFill/>
          <a:ln/>
        </p:spPr>
        <p:txBody>
          <a:bodyPr wrap="square" lIns="0" tIns="0" rIns="0" bIns="0" rtlCol="0" anchor="ctr"/>
          <a:lstStyle/>
          <a:p>
            <a:pPr algn="ctr">
              <a:lnSpc>
                <a:spcPct val="140000"/>
              </a:lnSpc>
            </a:pPr>
            <a:r>
              <a:rPr lang="en-US" sz="2196" dirty="0">
                <a:solidFill>
                  <a:srgbClr val="A0AEC0"/>
                </a:solidFill>
                <a:latin typeface="MiSans" pitchFamily="34" charset="0"/>
                <a:ea typeface="MiSans" pitchFamily="34" charset="-122"/>
                <a:cs typeface="MiSans" pitchFamily="34" charset="-120"/>
              </a:rPr>
              <a:t>感谢您的学习。Apache Hive作为大数据仓库标准，</a:t>
            </a:r>
            <a:endParaRPr lang="en-US" sz="1600" dirty="0"/>
          </a:p>
          <a:p>
            <a:pPr algn="ctr">
              <a:lnSpc>
                <a:spcPct val="140000"/>
              </a:lnSpc>
            </a:pPr>
            <a:r>
              <a:rPr lang="en-US" sz="2196" dirty="0">
                <a:solidFill>
                  <a:srgbClr val="A0AEC0"/>
                </a:solidFill>
                <a:latin typeface="MiSans" pitchFamily="34" charset="0"/>
                <a:ea typeface="MiSans" pitchFamily="34" charset="-122"/>
                <a:cs typeface="MiSans" pitchFamily="34" charset="-120"/>
              </a:rPr>
              <a:t>持续演进的数据湖技术生态，为您的数据分析之旅提供坚实基础。</a:t>
            </a:r>
            <a:endParaRPr lang="en-US" sz="1600" dirty="0"/>
          </a:p>
        </p:txBody>
      </p:sp>
      <p:sp>
        <p:nvSpPr>
          <p:cNvPr id="9" name="Shape 6"/>
          <p:cNvSpPr/>
          <p:nvPr/>
        </p:nvSpPr>
        <p:spPr>
          <a:xfrm>
            <a:off x="3794477" y="7263692"/>
            <a:ext cx="2626059" cy="1766199"/>
          </a:xfrm>
          <a:custGeom>
            <a:avLst/>
            <a:gdLst/>
            <a:ahLst/>
            <a:cxnLst/>
            <a:rect l="l" t="t" r="r" b="b"/>
            <a:pathLst>
              <a:path w="2626059" h="1766199">
                <a:moveTo>
                  <a:pt x="92955" y="0"/>
                </a:moveTo>
                <a:lnTo>
                  <a:pt x="2533104" y="0"/>
                </a:lnTo>
                <a:cubicBezTo>
                  <a:pt x="2584441" y="0"/>
                  <a:pt x="2626059" y="41617"/>
                  <a:pt x="2626059" y="92955"/>
                </a:cubicBezTo>
                <a:lnTo>
                  <a:pt x="2626059" y="1673244"/>
                </a:lnTo>
                <a:cubicBezTo>
                  <a:pt x="2626059" y="1724581"/>
                  <a:pt x="2584441" y="1766199"/>
                  <a:pt x="2533104" y="1766199"/>
                </a:cubicBezTo>
                <a:lnTo>
                  <a:pt x="92955" y="1766199"/>
                </a:lnTo>
                <a:cubicBezTo>
                  <a:pt x="41617" y="1766199"/>
                  <a:pt x="0" y="1724581"/>
                  <a:pt x="0" y="1673244"/>
                </a:cubicBezTo>
                <a:lnTo>
                  <a:pt x="0" y="92955"/>
                </a:lnTo>
                <a:cubicBezTo>
                  <a:pt x="0" y="41617"/>
                  <a:pt x="41617" y="0"/>
                  <a:pt x="92955" y="0"/>
                </a:cubicBezTo>
                <a:close/>
              </a:path>
            </a:pathLst>
          </a:custGeom>
          <a:solidFill>
            <a:srgbClr val="000000">
              <a:alpha val="0"/>
            </a:srgbClr>
          </a:solidFill>
          <a:ln w="25400">
            <a:solidFill>
              <a:srgbClr val="D69E2E"/>
            </a:solidFill>
            <a:prstDash val="solid"/>
          </a:ln>
        </p:spPr>
        <p:txBody>
          <a:bodyPr/>
          <a:lstStyle/>
          <a:p>
            <a:endParaRPr lang="zh-CN" altLang="en-US"/>
          </a:p>
        </p:txBody>
      </p:sp>
      <p:sp>
        <p:nvSpPr>
          <p:cNvPr id="10" name="Shape 7"/>
          <p:cNvSpPr/>
          <p:nvPr/>
        </p:nvSpPr>
        <p:spPr>
          <a:xfrm>
            <a:off x="4957902" y="7554185"/>
            <a:ext cx="305018" cy="348592"/>
          </a:xfrm>
          <a:custGeom>
            <a:avLst/>
            <a:gdLst/>
            <a:ahLst/>
            <a:cxnLst/>
            <a:rect l="l" t="t" r="r" b="b"/>
            <a:pathLst>
              <a:path w="305018" h="348592">
                <a:moveTo>
                  <a:pt x="261444" y="348592"/>
                </a:moveTo>
                <a:lnTo>
                  <a:pt x="65361" y="348592"/>
                </a:lnTo>
                <a:cubicBezTo>
                  <a:pt x="29276" y="348592"/>
                  <a:pt x="0" y="319316"/>
                  <a:pt x="0" y="283231"/>
                </a:cubicBezTo>
                <a:lnTo>
                  <a:pt x="0" y="65361"/>
                </a:lnTo>
                <a:cubicBezTo>
                  <a:pt x="0" y="29276"/>
                  <a:pt x="29276" y="0"/>
                  <a:pt x="65361" y="0"/>
                </a:cubicBezTo>
                <a:lnTo>
                  <a:pt x="272337" y="0"/>
                </a:lnTo>
                <a:cubicBezTo>
                  <a:pt x="290380" y="0"/>
                  <a:pt x="305018" y="14638"/>
                  <a:pt x="305018" y="32680"/>
                </a:cubicBezTo>
                <a:lnTo>
                  <a:pt x="305018" y="228763"/>
                </a:lnTo>
                <a:cubicBezTo>
                  <a:pt x="305018" y="242993"/>
                  <a:pt x="295895" y="255112"/>
                  <a:pt x="283231" y="259606"/>
                </a:cubicBezTo>
                <a:lnTo>
                  <a:pt x="283231" y="305018"/>
                </a:lnTo>
                <a:cubicBezTo>
                  <a:pt x="295282" y="305018"/>
                  <a:pt x="305018" y="314754"/>
                  <a:pt x="305018" y="326805"/>
                </a:cubicBezTo>
                <a:cubicBezTo>
                  <a:pt x="305018" y="338856"/>
                  <a:pt x="295282" y="348592"/>
                  <a:pt x="283231" y="348592"/>
                </a:cubicBezTo>
                <a:lnTo>
                  <a:pt x="261444" y="348592"/>
                </a:lnTo>
                <a:close/>
                <a:moveTo>
                  <a:pt x="65361" y="261444"/>
                </a:moveTo>
                <a:cubicBezTo>
                  <a:pt x="53310" y="261444"/>
                  <a:pt x="43574" y="271180"/>
                  <a:pt x="43574" y="283231"/>
                </a:cubicBezTo>
                <a:cubicBezTo>
                  <a:pt x="43574" y="295282"/>
                  <a:pt x="53310" y="305018"/>
                  <a:pt x="65361" y="305018"/>
                </a:cubicBezTo>
                <a:lnTo>
                  <a:pt x="239657" y="305018"/>
                </a:lnTo>
                <a:lnTo>
                  <a:pt x="239657" y="261444"/>
                </a:lnTo>
                <a:lnTo>
                  <a:pt x="65361" y="261444"/>
                </a:lnTo>
                <a:close/>
                <a:moveTo>
                  <a:pt x="87148" y="103488"/>
                </a:moveTo>
                <a:cubicBezTo>
                  <a:pt x="87148" y="112543"/>
                  <a:pt x="94433" y="119828"/>
                  <a:pt x="103488" y="119828"/>
                </a:cubicBezTo>
                <a:lnTo>
                  <a:pt x="223317" y="119828"/>
                </a:lnTo>
                <a:cubicBezTo>
                  <a:pt x="232372" y="119828"/>
                  <a:pt x="239657" y="112543"/>
                  <a:pt x="239657" y="103488"/>
                </a:cubicBezTo>
                <a:cubicBezTo>
                  <a:pt x="239657" y="94433"/>
                  <a:pt x="232372" y="87148"/>
                  <a:pt x="223317" y="87148"/>
                </a:cubicBezTo>
                <a:lnTo>
                  <a:pt x="103488" y="87148"/>
                </a:lnTo>
                <a:cubicBezTo>
                  <a:pt x="94433" y="87148"/>
                  <a:pt x="87148" y="94433"/>
                  <a:pt x="87148" y="103488"/>
                </a:cubicBezTo>
                <a:close/>
                <a:moveTo>
                  <a:pt x="103488" y="152509"/>
                </a:moveTo>
                <a:cubicBezTo>
                  <a:pt x="94433" y="152509"/>
                  <a:pt x="87148" y="159794"/>
                  <a:pt x="87148" y="168849"/>
                </a:cubicBezTo>
                <a:cubicBezTo>
                  <a:pt x="87148" y="177904"/>
                  <a:pt x="94433" y="185189"/>
                  <a:pt x="103488" y="185189"/>
                </a:cubicBezTo>
                <a:lnTo>
                  <a:pt x="223317" y="185189"/>
                </a:lnTo>
                <a:cubicBezTo>
                  <a:pt x="232372" y="185189"/>
                  <a:pt x="239657" y="177904"/>
                  <a:pt x="239657" y="168849"/>
                </a:cubicBezTo>
                <a:cubicBezTo>
                  <a:pt x="239657" y="159794"/>
                  <a:pt x="232372" y="152509"/>
                  <a:pt x="223317" y="152509"/>
                </a:cubicBezTo>
                <a:lnTo>
                  <a:pt x="103488" y="152509"/>
                </a:lnTo>
                <a:close/>
              </a:path>
            </a:pathLst>
          </a:custGeom>
          <a:solidFill>
            <a:srgbClr val="D69E2E"/>
          </a:solidFill>
          <a:ln/>
        </p:spPr>
        <p:txBody>
          <a:bodyPr/>
          <a:lstStyle/>
          <a:p>
            <a:endParaRPr lang="zh-CN" altLang="en-US"/>
          </a:p>
        </p:txBody>
      </p:sp>
      <p:sp>
        <p:nvSpPr>
          <p:cNvPr id="11" name="Text 8"/>
          <p:cNvSpPr/>
          <p:nvPr/>
        </p:nvSpPr>
        <p:spPr>
          <a:xfrm>
            <a:off x="4026871" y="8042214"/>
            <a:ext cx="2161269" cy="325352"/>
          </a:xfrm>
          <a:prstGeom prst="rect">
            <a:avLst/>
          </a:prstGeom>
          <a:noFill/>
          <a:ln/>
        </p:spPr>
        <p:txBody>
          <a:bodyPr wrap="square" lIns="0" tIns="0" rIns="0" bIns="0" rtlCol="0" anchor="ctr"/>
          <a:lstStyle/>
          <a:p>
            <a:pPr algn="ctr">
              <a:lnSpc>
                <a:spcPct val="120000"/>
              </a:lnSpc>
            </a:pPr>
            <a:r>
              <a:rPr lang="en-US" sz="1830" b="1" dirty="0">
                <a:solidFill>
                  <a:srgbClr val="E2E8F0"/>
                </a:solidFill>
                <a:latin typeface="Noto Sans SC" pitchFamily="34" charset="0"/>
                <a:ea typeface="Noto Sans SC" pitchFamily="34" charset="-122"/>
                <a:cs typeface="Noto Sans SC" pitchFamily="34" charset="-120"/>
              </a:rPr>
              <a:t>深入学习</a:t>
            </a:r>
            <a:endParaRPr lang="en-US" sz="1600" dirty="0"/>
          </a:p>
        </p:txBody>
      </p:sp>
      <p:sp>
        <p:nvSpPr>
          <p:cNvPr id="12" name="Text 9"/>
          <p:cNvSpPr/>
          <p:nvPr/>
        </p:nvSpPr>
        <p:spPr>
          <a:xfrm>
            <a:off x="4038491" y="8460524"/>
            <a:ext cx="2138030" cy="278873"/>
          </a:xfrm>
          <a:prstGeom prst="rect">
            <a:avLst/>
          </a:prstGeom>
          <a:noFill/>
          <a:ln/>
        </p:spPr>
        <p:txBody>
          <a:bodyPr wrap="square" lIns="0" tIns="0" rIns="0" bIns="0" rtlCol="0" anchor="ctr"/>
          <a:lstStyle/>
          <a:p>
            <a:pPr algn="ctr">
              <a:lnSpc>
                <a:spcPct val="130000"/>
              </a:lnSpc>
            </a:pPr>
            <a:r>
              <a:rPr lang="en-US" sz="1464" dirty="0">
                <a:solidFill>
                  <a:srgbClr val="A0AEC0"/>
                </a:solidFill>
                <a:latin typeface="MiSans" pitchFamily="34" charset="0"/>
                <a:ea typeface="MiSans" pitchFamily="34" charset="-122"/>
                <a:cs typeface="MiSans" pitchFamily="34" charset="-120"/>
              </a:rPr>
              <a:t>掌握高级特性和性能调优</a:t>
            </a:r>
            <a:endParaRPr lang="en-US" sz="1600" dirty="0"/>
          </a:p>
        </p:txBody>
      </p:sp>
      <p:sp>
        <p:nvSpPr>
          <p:cNvPr id="13" name="Shape 10"/>
          <p:cNvSpPr/>
          <p:nvPr/>
        </p:nvSpPr>
        <p:spPr>
          <a:xfrm>
            <a:off x="6815606" y="7263692"/>
            <a:ext cx="2626059" cy="1766199"/>
          </a:xfrm>
          <a:custGeom>
            <a:avLst/>
            <a:gdLst/>
            <a:ahLst/>
            <a:cxnLst/>
            <a:rect l="l" t="t" r="r" b="b"/>
            <a:pathLst>
              <a:path w="2626059" h="1766199">
                <a:moveTo>
                  <a:pt x="92955" y="0"/>
                </a:moveTo>
                <a:lnTo>
                  <a:pt x="2533104" y="0"/>
                </a:lnTo>
                <a:cubicBezTo>
                  <a:pt x="2584441" y="0"/>
                  <a:pt x="2626059" y="41617"/>
                  <a:pt x="2626059" y="92955"/>
                </a:cubicBezTo>
                <a:lnTo>
                  <a:pt x="2626059" y="1673244"/>
                </a:lnTo>
                <a:cubicBezTo>
                  <a:pt x="2626059" y="1724581"/>
                  <a:pt x="2584441" y="1766199"/>
                  <a:pt x="2533104" y="1766199"/>
                </a:cubicBezTo>
                <a:lnTo>
                  <a:pt x="92955" y="1766199"/>
                </a:lnTo>
                <a:cubicBezTo>
                  <a:pt x="41617" y="1766199"/>
                  <a:pt x="0" y="1724581"/>
                  <a:pt x="0" y="1673244"/>
                </a:cubicBezTo>
                <a:lnTo>
                  <a:pt x="0" y="92955"/>
                </a:lnTo>
                <a:cubicBezTo>
                  <a:pt x="0" y="41617"/>
                  <a:pt x="41617" y="0"/>
                  <a:pt x="92955" y="0"/>
                </a:cubicBezTo>
                <a:close/>
              </a:path>
            </a:pathLst>
          </a:custGeom>
          <a:solidFill>
            <a:srgbClr val="000000">
              <a:alpha val="0"/>
            </a:srgbClr>
          </a:solidFill>
          <a:ln w="25400">
            <a:solidFill>
              <a:srgbClr val="D69E2E"/>
            </a:solidFill>
            <a:prstDash val="solid"/>
          </a:ln>
        </p:spPr>
        <p:txBody>
          <a:bodyPr/>
          <a:lstStyle/>
          <a:p>
            <a:endParaRPr lang="zh-CN" altLang="en-US"/>
          </a:p>
        </p:txBody>
      </p:sp>
      <p:sp>
        <p:nvSpPr>
          <p:cNvPr id="14" name="Shape 11"/>
          <p:cNvSpPr/>
          <p:nvPr/>
        </p:nvSpPr>
        <p:spPr>
          <a:xfrm>
            <a:off x="7935457" y="7554185"/>
            <a:ext cx="392166" cy="348592"/>
          </a:xfrm>
          <a:custGeom>
            <a:avLst/>
            <a:gdLst/>
            <a:ahLst/>
            <a:cxnLst/>
            <a:rect l="l" t="t" r="r" b="b"/>
            <a:pathLst>
              <a:path w="392166" h="348592">
                <a:moveTo>
                  <a:pt x="245648" y="817"/>
                </a:moveTo>
                <a:cubicBezTo>
                  <a:pt x="234074" y="-2519"/>
                  <a:pt x="222023" y="4221"/>
                  <a:pt x="218687" y="15796"/>
                </a:cubicBezTo>
                <a:lnTo>
                  <a:pt x="131539" y="320813"/>
                </a:lnTo>
                <a:cubicBezTo>
                  <a:pt x="128203" y="332388"/>
                  <a:pt x="134943" y="344439"/>
                  <a:pt x="146518" y="347775"/>
                </a:cubicBezTo>
                <a:cubicBezTo>
                  <a:pt x="158092" y="351111"/>
                  <a:pt x="170143" y="344371"/>
                  <a:pt x="173479" y="332796"/>
                </a:cubicBezTo>
                <a:lnTo>
                  <a:pt x="260627" y="27778"/>
                </a:lnTo>
                <a:cubicBezTo>
                  <a:pt x="263963" y="16204"/>
                  <a:pt x="257223" y="4153"/>
                  <a:pt x="245648" y="817"/>
                </a:cubicBezTo>
                <a:close/>
                <a:moveTo>
                  <a:pt x="289631" y="93480"/>
                </a:moveTo>
                <a:cubicBezTo>
                  <a:pt x="281120" y="101990"/>
                  <a:pt x="281120" y="115811"/>
                  <a:pt x="289631" y="124322"/>
                </a:cubicBezTo>
                <a:lnTo>
                  <a:pt x="339605" y="174296"/>
                </a:lnTo>
                <a:lnTo>
                  <a:pt x="289631" y="224270"/>
                </a:lnTo>
                <a:cubicBezTo>
                  <a:pt x="281120" y="232780"/>
                  <a:pt x="281120" y="246602"/>
                  <a:pt x="289631" y="255112"/>
                </a:cubicBezTo>
                <a:cubicBezTo>
                  <a:pt x="298141" y="263623"/>
                  <a:pt x="311962" y="263623"/>
                  <a:pt x="320473" y="255112"/>
                </a:cubicBezTo>
                <a:lnTo>
                  <a:pt x="385834" y="189751"/>
                </a:lnTo>
                <a:cubicBezTo>
                  <a:pt x="394345" y="181241"/>
                  <a:pt x="394345" y="167419"/>
                  <a:pt x="385834" y="158909"/>
                </a:cubicBezTo>
                <a:lnTo>
                  <a:pt x="320473" y="93548"/>
                </a:lnTo>
                <a:cubicBezTo>
                  <a:pt x="311962" y="85037"/>
                  <a:pt x="298141" y="85037"/>
                  <a:pt x="289631" y="93548"/>
                </a:cubicBezTo>
                <a:close/>
                <a:moveTo>
                  <a:pt x="102603" y="93480"/>
                </a:moveTo>
                <a:cubicBezTo>
                  <a:pt x="94093" y="84969"/>
                  <a:pt x="80271" y="84969"/>
                  <a:pt x="71761" y="93480"/>
                </a:cubicBezTo>
                <a:lnTo>
                  <a:pt x="6400" y="158841"/>
                </a:lnTo>
                <a:cubicBezTo>
                  <a:pt x="-2111" y="167351"/>
                  <a:pt x="-2111" y="181172"/>
                  <a:pt x="6400" y="189683"/>
                </a:cubicBezTo>
                <a:lnTo>
                  <a:pt x="71761" y="255044"/>
                </a:lnTo>
                <a:cubicBezTo>
                  <a:pt x="80271" y="263555"/>
                  <a:pt x="94093" y="263555"/>
                  <a:pt x="102603" y="255044"/>
                </a:cubicBezTo>
                <a:cubicBezTo>
                  <a:pt x="111114" y="246533"/>
                  <a:pt x="111114" y="232712"/>
                  <a:pt x="102603" y="224202"/>
                </a:cubicBezTo>
                <a:lnTo>
                  <a:pt x="52629" y="174296"/>
                </a:lnTo>
                <a:lnTo>
                  <a:pt x="102535" y="124322"/>
                </a:lnTo>
                <a:cubicBezTo>
                  <a:pt x="111046" y="115811"/>
                  <a:pt x="111046" y="101990"/>
                  <a:pt x="102535" y="93480"/>
                </a:cubicBezTo>
                <a:close/>
              </a:path>
            </a:pathLst>
          </a:custGeom>
          <a:solidFill>
            <a:srgbClr val="D69E2E"/>
          </a:solidFill>
          <a:ln/>
        </p:spPr>
        <p:txBody>
          <a:bodyPr/>
          <a:lstStyle/>
          <a:p>
            <a:endParaRPr lang="zh-CN" altLang="en-US"/>
          </a:p>
        </p:txBody>
      </p:sp>
      <p:sp>
        <p:nvSpPr>
          <p:cNvPr id="15" name="Text 12"/>
          <p:cNvSpPr/>
          <p:nvPr/>
        </p:nvSpPr>
        <p:spPr>
          <a:xfrm>
            <a:off x="7048001" y="8042214"/>
            <a:ext cx="2161269" cy="325352"/>
          </a:xfrm>
          <a:prstGeom prst="rect">
            <a:avLst/>
          </a:prstGeom>
          <a:noFill/>
          <a:ln/>
        </p:spPr>
        <p:txBody>
          <a:bodyPr wrap="square" lIns="0" tIns="0" rIns="0" bIns="0" rtlCol="0" anchor="ctr"/>
          <a:lstStyle/>
          <a:p>
            <a:pPr algn="ctr">
              <a:lnSpc>
                <a:spcPct val="120000"/>
              </a:lnSpc>
            </a:pPr>
            <a:r>
              <a:rPr lang="en-US" sz="1830" b="1" dirty="0">
                <a:solidFill>
                  <a:srgbClr val="E2E8F0"/>
                </a:solidFill>
                <a:latin typeface="Noto Sans SC" pitchFamily="34" charset="0"/>
                <a:ea typeface="Noto Sans SC" pitchFamily="34" charset="-122"/>
                <a:cs typeface="Noto Sans SC" pitchFamily="34" charset="-120"/>
              </a:rPr>
              <a:t>实践应用</a:t>
            </a:r>
            <a:endParaRPr lang="en-US" sz="1600" dirty="0"/>
          </a:p>
        </p:txBody>
      </p:sp>
      <p:sp>
        <p:nvSpPr>
          <p:cNvPr id="16" name="Text 13"/>
          <p:cNvSpPr/>
          <p:nvPr/>
        </p:nvSpPr>
        <p:spPr>
          <a:xfrm>
            <a:off x="7059620" y="8460524"/>
            <a:ext cx="2138030" cy="278873"/>
          </a:xfrm>
          <a:prstGeom prst="rect">
            <a:avLst/>
          </a:prstGeom>
          <a:noFill/>
          <a:ln/>
        </p:spPr>
        <p:txBody>
          <a:bodyPr wrap="square" lIns="0" tIns="0" rIns="0" bIns="0" rtlCol="0" anchor="ctr"/>
          <a:lstStyle/>
          <a:p>
            <a:pPr algn="ctr">
              <a:lnSpc>
                <a:spcPct val="130000"/>
              </a:lnSpc>
            </a:pPr>
            <a:r>
              <a:rPr lang="en-US" sz="1464" dirty="0">
                <a:solidFill>
                  <a:srgbClr val="A0AEC0"/>
                </a:solidFill>
                <a:latin typeface="MiSans" pitchFamily="34" charset="0"/>
                <a:ea typeface="MiSans" pitchFamily="34" charset="-122"/>
                <a:cs typeface="MiSans" pitchFamily="34" charset="-120"/>
              </a:rPr>
              <a:t>在实际项目中积累经验</a:t>
            </a:r>
            <a:endParaRPr lang="en-US" sz="1600" dirty="0"/>
          </a:p>
        </p:txBody>
      </p:sp>
      <p:sp>
        <p:nvSpPr>
          <p:cNvPr id="17" name="Shape 14"/>
          <p:cNvSpPr/>
          <p:nvPr/>
        </p:nvSpPr>
        <p:spPr>
          <a:xfrm>
            <a:off x="9836736" y="7263692"/>
            <a:ext cx="2626059" cy="1766199"/>
          </a:xfrm>
          <a:custGeom>
            <a:avLst/>
            <a:gdLst/>
            <a:ahLst/>
            <a:cxnLst/>
            <a:rect l="l" t="t" r="r" b="b"/>
            <a:pathLst>
              <a:path w="2626059" h="1766199">
                <a:moveTo>
                  <a:pt x="92955" y="0"/>
                </a:moveTo>
                <a:lnTo>
                  <a:pt x="2533104" y="0"/>
                </a:lnTo>
                <a:cubicBezTo>
                  <a:pt x="2584441" y="0"/>
                  <a:pt x="2626059" y="41617"/>
                  <a:pt x="2626059" y="92955"/>
                </a:cubicBezTo>
                <a:lnTo>
                  <a:pt x="2626059" y="1673244"/>
                </a:lnTo>
                <a:cubicBezTo>
                  <a:pt x="2626059" y="1724581"/>
                  <a:pt x="2584441" y="1766199"/>
                  <a:pt x="2533104" y="1766199"/>
                </a:cubicBezTo>
                <a:lnTo>
                  <a:pt x="92955" y="1766199"/>
                </a:lnTo>
                <a:cubicBezTo>
                  <a:pt x="41617" y="1766199"/>
                  <a:pt x="0" y="1724581"/>
                  <a:pt x="0" y="1673244"/>
                </a:cubicBezTo>
                <a:lnTo>
                  <a:pt x="0" y="92955"/>
                </a:lnTo>
                <a:cubicBezTo>
                  <a:pt x="0" y="41617"/>
                  <a:pt x="41617" y="0"/>
                  <a:pt x="92955" y="0"/>
                </a:cubicBezTo>
                <a:close/>
              </a:path>
            </a:pathLst>
          </a:custGeom>
          <a:solidFill>
            <a:srgbClr val="000000">
              <a:alpha val="0"/>
            </a:srgbClr>
          </a:solidFill>
          <a:ln w="25400">
            <a:solidFill>
              <a:srgbClr val="D69E2E"/>
            </a:solidFill>
            <a:prstDash val="solid"/>
          </a:ln>
        </p:spPr>
        <p:txBody>
          <a:bodyPr/>
          <a:lstStyle/>
          <a:p>
            <a:endParaRPr lang="zh-CN" altLang="en-US"/>
          </a:p>
        </p:txBody>
      </p:sp>
      <p:sp>
        <p:nvSpPr>
          <p:cNvPr id="18" name="Shape 15"/>
          <p:cNvSpPr/>
          <p:nvPr/>
        </p:nvSpPr>
        <p:spPr>
          <a:xfrm>
            <a:off x="10978374" y="7554185"/>
            <a:ext cx="348592" cy="348592"/>
          </a:xfrm>
          <a:custGeom>
            <a:avLst/>
            <a:gdLst/>
            <a:ahLst/>
            <a:cxnLst/>
            <a:rect l="l" t="t" r="r" b="b"/>
            <a:pathLst>
              <a:path w="348592" h="348592">
                <a:moveTo>
                  <a:pt x="87148" y="217870"/>
                </a:moveTo>
                <a:lnTo>
                  <a:pt x="16681" y="217870"/>
                </a:lnTo>
                <a:cubicBezTo>
                  <a:pt x="-272" y="217870"/>
                  <a:pt x="-10689" y="199419"/>
                  <a:pt x="-1974" y="184849"/>
                </a:cubicBezTo>
                <a:lnTo>
                  <a:pt x="34042" y="124799"/>
                </a:lnTo>
                <a:cubicBezTo>
                  <a:pt x="39966" y="114926"/>
                  <a:pt x="50587" y="108935"/>
                  <a:pt x="62093" y="108935"/>
                </a:cubicBezTo>
                <a:lnTo>
                  <a:pt x="126773" y="108935"/>
                </a:lnTo>
                <a:cubicBezTo>
                  <a:pt x="178585" y="21174"/>
                  <a:pt x="255861" y="16749"/>
                  <a:pt x="307537" y="24306"/>
                </a:cubicBezTo>
                <a:cubicBezTo>
                  <a:pt x="316252" y="25600"/>
                  <a:pt x="323060" y="32408"/>
                  <a:pt x="324286" y="41055"/>
                </a:cubicBezTo>
                <a:cubicBezTo>
                  <a:pt x="331843" y="92731"/>
                  <a:pt x="327418" y="170007"/>
                  <a:pt x="239657" y="221819"/>
                </a:cubicBezTo>
                <a:lnTo>
                  <a:pt x="239657" y="286499"/>
                </a:lnTo>
                <a:cubicBezTo>
                  <a:pt x="239657" y="298005"/>
                  <a:pt x="233665" y="308626"/>
                  <a:pt x="223793" y="314550"/>
                </a:cubicBezTo>
                <a:lnTo>
                  <a:pt x="163743" y="350566"/>
                </a:lnTo>
                <a:cubicBezTo>
                  <a:pt x="149241" y="359281"/>
                  <a:pt x="130722" y="348796"/>
                  <a:pt x="130722" y="331911"/>
                </a:cubicBezTo>
                <a:lnTo>
                  <a:pt x="130722" y="261444"/>
                </a:lnTo>
                <a:cubicBezTo>
                  <a:pt x="130722" y="237410"/>
                  <a:pt x="111182" y="217870"/>
                  <a:pt x="87148" y="217870"/>
                </a:cubicBezTo>
                <a:lnTo>
                  <a:pt x="87080" y="217870"/>
                </a:lnTo>
                <a:close/>
                <a:moveTo>
                  <a:pt x="272337" y="108935"/>
                </a:moveTo>
                <a:cubicBezTo>
                  <a:pt x="272337" y="90898"/>
                  <a:pt x="257694" y="76254"/>
                  <a:pt x="239657" y="76254"/>
                </a:cubicBezTo>
                <a:cubicBezTo>
                  <a:pt x="221620" y="76254"/>
                  <a:pt x="206976" y="90898"/>
                  <a:pt x="206976" y="108935"/>
                </a:cubicBezTo>
                <a:cubicBezTo>
                  <a:pt x="206976" y="126972"/>
                  <a:pt x="221620" y="141615"/>
                  <a:pt x="239657" y="141615"/>
                </a:cubicBezTo>
                <a:cubicBezTo>
                  <a:pt x="257694" y="141615"/>
                  <a:pt x="272337" y="126972"/>
                  <a:pt x="272337" y="108935"/>
                </a:cubicBezTo>
                <a:close/>
              </a:path>
            </a:pathLst>
          </a:custGeom>
          <a:solidFill>
            <a:srgbClr val="D69E2E"/>
          </a:solidFill>
          <a:ln/>
        </p:spPr>
        <p:txBody>
          <a:bodyPr/>
          <a:lstStyle/>
          <a:p>
            <a:endParaRPr lang="zh-CN" altLang="en-US"/>
          </a:p>
        </p:txBody>
      </p:sp>
      <p:sp>
        <p:nvSpPr>
          <p:cNvPr id="19" name="Text 16"/>
          <p:cNvSpPr/>
          <p:nvPr/>
        </p:nvSpPr>
        <p:spPr>
          <a:xfrm>
            <a:off x="10069130" y="8042214"/>
            <a:ext cx="2161269" cy="325352"/>
          </a:xfrm>
          <a:prstGeom prst="rect">
            <a:avLst/>
          </a:prstGeom>
          <a:noFill/>
          <a:ln/>
        </p:spPr>
        <p:txBody>
          <a:bodyPr wrap="square" lIns="0" tIns="0" rIns="0" bIns="0" rtlCol="0" anchor="ctr"/>
          <a:lstStyle/>
          <a:p>
            <a:pPr algn="ctr">
              <a:lnSpc>
                <a:spcPct val="120000"/>
              </a:lnSpc>
            </a:pPr>
            <a:r>
              <a:rPr lang="en-US" sz="1830" b="1" dirty="0">
                <a:solidFill>
                  <a:srgbClr val="E2E8F0"/>
                </a:solidFill>
                <a:latin typeface="Noto Sans SC" pitchFamily="34" charset="0"/>
                <a:ea typeface="Noto Sans SC" pitchFamily="34" charset="-122"/>
                <a:cs typeface="Noto Sans SC" pitchFamily="34" charset="-120"/>
              </a:rPr>
              <a:t>持续探索</a:t>
            </a:r>
            <a:endParaRPr lang="en-US" sz="1600" dirty="0"/>
          </a:p>
        </p:txBody>
      </p:sp>
      <p:sp>
        <p:nvSpPr>
          <p:cNvPr id="20" name="Text 17"/>
          <p:cNvSpPr/>
          <p:nvPr/>
        </p:nvSpPr>
        <p:spPr>
          <a:xfrm>
            <a:off x="10080750" y="8460524"/>
            <a:ext cx="2138030" cy="278873"/>
          </a:xfrm>
          <a:prstGeom prst="rect">
            <a:avLst/>
          </a:prstGeom>
          <a:noFill/>
          <a:ln/>
        </p:spPr>
        <p:txBody>
          <a:bodyPr wrap="square" lIns="0" tIns="0" rIns="0" bIns="0" rtlCol="0" anchor="ctr"/>
          <a:lstStyle/>
          <a:p>
            <a:pPr algn="ctr">
              <a:lnSpc>
                <a:spcPct val="130000"/>
              </a:lnSpc>
            </a:pPr>
            <a:r>
              <a:rPr lang="en-US" sz="1464" dirty="0">
                <a:solidFill>
                  <a:srgbClr val="A0AEC0"/>
                </a:solidFill>
                <a:latin typeface="MiSans" pitchFamily="34" charset="0"/>
                <a:ea typeface="MiSans" pitchFamily="34" charset="-122"/>
                <a:cs typeface="MiSans" pitchFamily="34" charset="-120"/>
              </a:rPr>
              <a:t>关注数据湖技术发展</a:t>
            </a:r>
            <a:endParaRPr lang="en-US" sz="1600" dirty="0"/>
          </a:p>
        </p:txBody>
      </p:sp>
      <p:sp>
        <p:nvSpPr>
          <p:cNvPr id="21" name="Shape 18"/>
          <p:cNvSpPr/>
          <p:nvPr/>
        </p:nvSpPr>
        <p:spPr>
          <a:xfrm>
            <a:off x="6252231" y="9622497"/>
            <a:ext cx="348592" cy="278873"/>
          </a:xfrm>
          <a:custGeom>
            <a:avLst/>
            <a:gdLst/>
            <a:ahLst/>
            <a:cxnLst/>
            <a:rect l="l" t="t" r="r" b="b"/>
            <a:pathLst>
              <a:path w="348592" h="278873"/>
            </a:pathLst>
          </a:custGeom>
          <a:solidFill>
            <a:srgbClr val="D69E2E"/>
          </a:solidFill>
          <a:ln/>
        </p:spPr>
        <p:txBody>
          <a:bodyPr/>
          <a:lstStyle/>
          <a:p>
            <a:endParaRPr lang="zh-CN" altLang="en-US"/>
          </a:p>
        </p:txBody>
      </p:sp>
      <p:sp>
        <p:nvSpPr>
          <p:cNvPr id="22" name="Text 19"/>
          <p:cNvSpPr/>
          <p:nvPr/>
        </p:nvSpPr>
        <p:spPr>
          <a:xfrm>
            <a:off x="6734450" y="9599257"/>
            <a:ext cx="3323242" cy="325352"/>
          </a:xfrm>
          <a:prstGeom prst="rect">
            <a:avLst/>
          </a:prstGeom>
          <a:noFill/>
          <a:ln/>
        </p:spPr>
        <p:txBody>
          <a:bodyPr wrap="square" lIns="0" tIns="0" rIns="0" bIns="0" rtlCol="0" anchor="ctr"/>
          <a:lstStyle/>
          <a:p>
            <a:pPr algn="ctr">
              <a:lnSpc>
                <a:spcPct val="130000"/>
              </a:lnSpc>
            </a:pPr>
            <a:r>
              <a:rPr lang="en-US" sz="1647" dirty="0">
                <a:solidFill>
                  <a:srgbClr val="A0AEC0"/>
                </a:solidFill>
                <a:latin typeface="MiSans" pitchFamily="34" charset="0"/>
                <a:ea typeface="MiSans" pitchFamily="34" charset="-122"/>
                <a:cs typeface="MiSans" pitchFamily="34" charset="-120"/>
              </a:rPr>
              <a:t>Apache Hive 3.x - 大数据仓库标准</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2632</Words>
  <Application>Microsoft Macintosh PowerPoint</Application>
  <PresentationFormat>自定义</PresentationFormat>
  <Paragraphs>567</Paragraphs>
  <Slides>25</Slides>
  <Notes>25</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25</vt:i4>
      </vt:variant>
    </vt:vector>
  </HeadingPairs>
  <TitlesOfParts>
    <vt:vector size="31" baseType="lpstr">
      <vt:lpstr>MiSans</vt:lpstr>
      <vt:lpstr>微软雅黑</vt:lpstr>
      <vt:lpstr>Liter</vt:lpstr>
      <vt:lpstr>Arial</vt:lpstr>
      <vt:lpstr>Noto Sans SC</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Apache Hive 设计与实现</dc:title>
  <dc:subject>Apache Hive 设计与实现</dc:subject>
  <dc:creator>Kimi</dc:creator>
  <cp:lastModifiedBy>王 天青</cp:lastModifiedBy>
  <cp:revision>3</cp:revision>
  <dcterms:created xsi:type="dcterms:W3CDTF">2025-12-20T00:33:15Z</dcterms:created>
  <dcterms:modified xsi:type="dcterms:W3CDTF">2025-12-20T00:45:22Z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{"Label":"Apache Hive 设计与实现","ContentProducer":"001191110108MACG2KBH8F10000","ProduceID":"19b3927a-5832-8d8f-8000-00009560a034","ReservedCode1":"","ContentPropagator":"001191110108MACG2KBH8F20000","PropagateID":"19b3927a-5832-8d8f-8000-00009560a034","ReservedCode2":""}</vt:lpwstr>
  </property>
</Properties>
</file>