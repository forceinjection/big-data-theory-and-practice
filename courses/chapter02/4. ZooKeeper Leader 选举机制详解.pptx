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6256000" cy="9144000"/>
  <p:notesSz cx="9144000" cy="16256000"/>
  <p:embeddedFontLst>
    <p:embeddedFont>
      <p:font typeface="KaiTi" panose="02010609060101010101" pitchFamily="49" charset="-122"/>
      <p:regular r:id="rId27"/>
    </p:embeddedFont>
    <p:embeddedFont>
      <p:font typeface="微软雅黑" panose="020B0503020204020204" pitchFamily="34" charset="-122"/>
      <p:regular r:id="rId28"/>
      <p:bold r:id="rId29"/>
    </p:embeddedFont>
    <p:embeddedFont>
      <p:font typeface="MiSans" pitchFamily="2" charset="-122"/>
      <p:regular r:id="rId30"/>
    </p:embeddedFont>
    <p:embeddedFont>
      <p:font typeface="Noto Sans SC" panose="020B0200000000000000" pitchFamily="34" charset="-128"/>
      <p:regular r:id="rId31"/>
    </p:embeddedFont>
    <p:embeddedFont>
      <p:font typeface="Liter" panose="02000503030000020004" pitchFamily="2" charset="0"/>
      <p:regular r:id="rId3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48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2063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33400" y="1143000"/>
            <a:ext cx="3365500" cy="558800"/>
          </a:xfrm>
          <a:custGeom>
            <a:avLst/>
            <a:gdLst/>
            <a:ahLst/>
            <a:cxnLst/>
            <a:rect l="l" t="t" r="r" b="b"/>
            <a:pathLst>
              <a:path w="3365500" h="558800">
                <a:moveTo>
                  <a:pt x="0" y="0"/>
                </a:moveTo>
                <a:lnTo>
                  <a:pt x="3365500" y="0"/>
                </a:lnTo>
                <a:lnTo>
                  <a:pt x="33655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33400" y="1143000"/>
            <a:ext cx="50800" cy="558800"/>
          </a:xfrm>
          <a:custGeom>
            <a:avLst/>
            <a:gdLst/>
            <a:ahLst/>
            <a:cxnLst/>
            <a:rect l="l" t="t" r="r" b="b"/>
            <a:pathLst>
              <a:path w="50800" h="558800">
                <a:moveTo>
                  <a:pt x="0" y="0"/>
                </a:moveTo>
                <a:lnTo>
                  <a:pt x="50800" y="0"/>
                </a:lnTo>
                <a:lnTo>
                  <a:pt x="50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863600" y="1244600"/>
            <a:ext cx="2844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90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DISTRIBUTED SYSTEMS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2413000"/>
            <a:ext cx="13314362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dirty="0" err="1">
                <a:solidFill>
                  <a:srgbClr val="D1D5DB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ZooKeeper</a:t>
            </a:r>
            <a:r>
              <a:rPr lang="en-US" sz="1600" dirty="0"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 </a:t>
            </a:r>
            <a:r>
              <a:rPr lang="en-US" sz="9600" dirty="0">
                <a:solidFill>
                  <a:srgbClr val="D1D5DB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Leader</a:t>
            </a:r>
          </a:p>
          <a:p>
            <a:pPr>
              <a:lnSpc>
                <a:spcPct val="100000"/>
              </a:lnSpc>
            </a:pPr>
            <a:r>
              <a:rPr lang="en-US" sz="9600" dirty="0" err="1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选举机制详解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508000" y="5867400"/>
            <a:ext cx="708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B89A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分布式协调服务的核心原理与实践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7391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6A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654050" y="75692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/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270000" y="7518400"/>
            <a:ext cx="234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ZooKeeper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903563" y="7391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6A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4065488" y="75692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47625" y="47625"/>
                </a:moveTo>
                <a:cubicBezTo>
                  <a:pt x="47625" y="30113"/>
                  <a:pt x="61863" y="15875"/>
                  <a:pt x="79375" y="15875"/>
                </a:cubicBezTo>
                <a:lnTo>
                  <a:pt x="206375" y="15875"/>
                </a:lnTo>
                <a:cubicBezTo>
                  <a:pt x="223887" y="15875"/>
                  <a:pt x="238125" y="30113"/>
                  <a:pt x="238125" y="47625"/>
                </a:cubicBezTo>
                <a:lnTo>
                  <a:pt x="238125" y="158750"/>
                </a:lnTo>
                <a:cubicBezTo>
                  <a:pt x="238125" y="176262"/>
                  <a:pt x="223887" y="190500"/>
                  <a:pt x="206375" y="190500"/>
                </a:cubicBezTo>
                <a:lnTo>
                  <a:pt x="79375" y="190500"/>
                </a:lnTo>
                <a:cubicBezTo>
                  <a:pt x="61863" y="190500"/>
                  <a:pt x="47625" y="176262"/>
                  <a:pt x="47625" y="158750"/>
                </a:cubicBezTo>
                <a:lnTo>
                  <a:pt x="47625" y="47625"/>
                </a:lnTo>
                <a:close/>
                <a:moveTo>
                  <a:pt x="180925" y="57348"/>
                </a:moveTo>
                <a:cubicBezTo>
                  <a:pt x="175369" y="53876"/>
                  <a:pt x="168027" y="55563"/>
                  <a:pt x="164505" y="61119"/>
                </a:cubicBezTo>
                <a:lnTo>
                  <a:pt x="134045" y="109885"/>
                </a:lnTo>
                <a:lnTo>
                  <a:pt x="120650" y="92025"/>
                </a:lnTo>
                <a:cubicBezTo>
                  <a:pt x="116681" y="86767"/>
                  <a:pt x="109240" y="85675"/>
                  <a:pt x="103981" y="89644"/>
                </a:cubicBezTo>
                <a:cubicBezTo>
                  <a:pt x="98723" y="93613"/>
                  <a:pt x="97631" y="101054"/>
                  <a:pt x="101600" y="106313"/>
                </a:cubicBezTo>
                <a:lnTo>
                  <a:pt x="125413" y="138063"/>
                </a:lnTo>
                <a:cubicBezTo>
                  <a:pt x="127744" y="141188"/>
                  <a:pt x="131514" y="142974"/>
                  <a:pt x="135434" y="142825"/>
                </a:cubicBezTo>
                <a:cubicBezTo>
                  <a:pt x="139353" y="142677"/>
                  <a:pt x="142925" y="140593"/>
                  <a:pt x="145008" y="137220"/>
                </a:cubicBezTo>
                <a:lnTo>
                  <a:pt x="184696" y="73720"/>
                </a:lnTo>
                <a:cubicBezTo>
                  <a:pt x="188168" y="68163"/>
                  <a:pt x="186482" y="60821"/>
                  <a:pt x="180925" y="57299"/>
                </a:cubicBezTo>
                <a:close/>
                <a:moveTo>
                  <a:pt x="23812" y="154781"/>
                </a:moveTo>
                <a:lnTo>
                  <a:pt x="23812" y="206375"/>
                </a:lnTo>
                <a:cubicBezTo>
                  <a:pt x="23812" y="210741"/>
                  <a:pt x="27384" y="214313"/>
                  <a:pt x="31750" y="214313"/>
                </a:cubicBezTo>
                <a:lnTo>
                  <a:pt x="254000" y="214313"/>
                </a:lnTo>
                <a:cubicBezTo>
                  <a:pt x="258366" y="214313"/>
                  <a:pt x="261937" y="210741"/>
                  <a:pt x="261937" y="206375"/>
                </a:cubicBezTo>
                <a:lnTo>
                  <a:pt x="261937" y="154781"/>
                </a:lnTo>
                <a:cubicBezTo>
                  <a:pt x="261937" y="148183"/>
                  <a:pt x="267246" y="142875"/>
                  <a:pt x="273844" y="142875"/>
                </a:cubicBezTo>
                <a:cubicBezTo>
                  <a:pt x="280442" y="142875"/>
                  <a:pt x="285750" y="148183"/>
                  <a:pt x="285750" y="154781"/>
                </a:cubicBezTo>
                <a:lnTo>
                  <a:pt x="285750" y="206375"/>
                </a:lnTo>
                <a:cubicBezTo>
                  <a:pt x="285750" y="223887"/>
                  <a:pt x="271512" y="238125"/>
                  <a:pt x="2540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lnTo>
                  <a:pt x="0" y="154781"/>
                </a:lnTo>
                <a:cubicBezTo>
                  <a:pt x="0" y="148183"/>
                  <a:pt x="5308" y="142875"/>
                  <a:pt x="11906" y="142875"/>
                </a:cubicBezTo>
                <a:cubicBezTo>
                  <a:pt x="18504" y="142875"/>
                  <a:pt x="23812" y="148183"/>
                  <a:pt x="23812" y="154781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4665563" y="7518400"/>
            <a:ext cx="194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Leader Election</a:t>
            </a:r>
            <a:endParaRPr lang="en-US" sz="1600" dirty="0"/>
          </a:p>
        </p:txBody>
      </p:sp>
      <p:pic>
        <p:nvPicPr>
          <p:cNvPr id="16" name="图片 15" descr="穿军装的卡通人物&#10;&#10;AI 生成的内容可能不正确。">
            <a:extLst>
              <a:ext uri="{FF2B5EF4-FFF2-40B4-BE49-F238E27FC236}">
                <a16:creationId xmlns:a16="http://schemas.microsoft.com/office/drawing/2014/main" id="{6B0A6BB8-B8F5-44B7-F791-0968F7170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7512050"/>
            <a:ext cx="368300" cy="3683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90549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75861" y="581025"/>
            <a:ext cx="152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dirty="0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4761" y="1108075"/>
            <a:ext cx="134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2082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6A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16657" y="2260600"/>
            <a:ext cx="58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2133600"/>
            <a:ext cx="6553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4000" y="2641600"/>
            <a:ext cx="65151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ZooKeeper 与分布式协调服务的挑战与重要性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31200" y="2082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6A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05329" y="2260600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47200" y="2133600"/>
            <a:ext cx="6553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ZooKeeper 集群架构基础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47200" y="2641600"/>
            <a:ext cx="65151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节点角色、核心概念、配置参数与投票机制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8000" y="3317875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6A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80442" y="3495675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24000" y="3368675"/>
            <a:ext cx="6553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三节点集群首次启动选举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4000" y="3876675"/>
            <a:ext cx="65151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完整的选举流程与状态转换实例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31200" y="3317875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6A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503841" y="3495675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47200" y="3368675"/>
            <a:ext cx="6553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异常场景下的选举机制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47200" y="3876675"/>
            <a:ext cx="65151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集群重启、节点故障与网络分区的处理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8000" y="455295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6A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83121" y="473075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24000" y="4603750"/>
            <a:ext cx="1437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总结与核心要点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24000" y="5111750"/>
            <a:ext cx="14338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关键学习要点与实践指导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858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679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63600"/>
            <a:ext cx="6997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dirty="0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引言：分布式协调的挑战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27050" y="1930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47638" y="52388"/>
                </a:moveTo>
                <a:lnTo>
                  <a:pt x="195263" y="52388"/>
                </a:lnTo>
                <a:lnTo>
                  <a:pt x="195263" y="80962"/>
                </a:lnTo>
                <a:lnTo>
                  <a:pt x="147638" y="80962"/>
                </a:lnTo>
                <a:lnTo>
                  <a:pt x="147638" y="52388"/>
                </a:lnTo>
                <a:close/>
                <a:moveTo>
                  <a:pt x="142875" y="19050"/>
                </a:moveTo>
                <a:cubicBezTo>
                  <a:pt x="127099" y="19050"/>
                  <a:pt x="114300" y="31849"/>
                  <a:pt x="114300" y="47625"/>
                </a:cubicBezTo>
                <a:lnTo>
                  <a:pt x="114300" y="85725"/>
                </a:lnTo>
                <a:cubicBezTo>
                  <a:pt x="114300" y="101501"/>
                  <a:pt x="127099" y="114300"/>
                  <a:pt x="142875" y="114300"/>
                </a:cubicBezTo>
                <a:lnTo>
                  <a:pt x="152400" y="114300"/>
                </a:lnTo>
                <a:lnTo>
                  <a:pt x="152400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76200" y="171450"/>
                </a:lnTo>
                <a:lnTo>
                  <a:pt x="76200" y="190500"/>
                </a:lnTo>
                <a:lnTo>
                  <a:pt x="66675" y="190500"/>
                </a:lnTo>
                <a:cubicBezTo>
                  <a:pt x="50899" y="190500"/>
                  <a:pt x="38100" y="203299"/>
                  <a:pt x="38100" y="219075"/>
                </a:cubicBezTo>
                <a:lnTo>
                  <a:pt x="38100" y="257175"/>
                </a:lnTo>
                <a:cubicBezTo>
                  <a:pt x="38100" y="272951"/>
                  <a:pt x="50899" y="285750"/>
                  <a:pt x="66675" y="285750"/>
                </a:cubicBezTo>
                <a:lnTo>
                  <a:pt x="123825" y="285750"/>
                </a:lnTo>
                <a:cubicBezTo>
                  <a:pt x="139601" y="285750"/>
                  <a:pt x="152400" y="272951"/>
                  <a:pt x="152400" y="257175"/>
                </a:cubicBezTo>
                <a:lnTo>
                  <a:pt x="152400" y="219075"/>
                </a:lnTo>
                <a:cubicBezTo>
                  <a:pt x="152400" y="203299"/>
                  <a:pt x="139601" y="190500"/>
                  <a:pt x="123825" y="190500"/>
                </a:cubicBezTo>
                <a:lnTo>
                  <a:pt x="114300" y="190500"/>
                </a:lnTo>
                <a:lnTo>
                  <a:pt x="114300" y="171450"/>
                </a:lnTo>
                <a:lnTo>
                  <a:pt x="228600" y="171450"/>
                </a:lnTo>
                <a:lnTo>
                  <a:pt x="228600" y="190500"/>
                </a:lnTo>
                <a:lnTo>
                  <a:pt x="219075" y="190500"/>
                </a:lnTo>
                <a:cubicBezTo>
                  <a:pt x="203299" y="190500"/>
                  <a:pt x="190500" y="203299"/>
                  <a:pt x="190500" y="219075"/>
                </a:cubicBezTo>
                <a:lnTo>
                  <a:pt x="190500" y="257175"/>
                </a:lnTo>
                <a:cubicBezTo>
                  <a:pt x="190500" y="272951"/>
                  <a:pt x="203299" y="285750"/>
                  <a:pt x="219075" y="285750"/>
                </a:cubicBezTo>
                <a:lnTo>
                  <a:pt x="276225" y="285750"/>
                </a:lnTo>
                <a:cubicBezTo>
                  <a:pt x="292001" y="285750"/>
                  <a:pt x="304800" y="272951"/>
                  <a:pt x="304800" y="257175"/>
                </a:cubicBezTo>
                <a:lnTo>
                  <a:pt x="304800" y="219075"/>
                </a:lnTo>
                <a:cubicBezTo>
                  <a:pt x="304800" y="203299"/>
                  <a:pt x="292001" y="190500"/>
                  <a:pt x="276225" y="190500"/>
                </a:cubicBezTo>
                <a:lnTo>
                  <a:pt x="266700" y="190500"/>
                </a:lnTo>
                <a:lnTo>
                  <a:pt x="266700" y="171450"/>
                </a:lnTo>
                <a:lnTo>
                  <a:pt x="323850" y="171450"/>
                </a:lnTo>
                <a:cubicBezTo>
                  <a:pt x="334387" y="171450"/>
                  <a:pt x="342900" y="162937"/>
                  <a:pt x="342900" y="152400"/>
                </a:cubicBezTo>
                <a:cubicBezTo>
                  <a:pt x="342900" y="141863"/>
                  <a:pt x="334387" y="133350"/>
                  <a:pt x="323850" y="133350"/>
                </a:cubicBezTo>
                <a:lnTo>
                  <a:pt x="190500" y="133350"/>
                </a:lnTo>
                <a:lnTo>
                  <a:pt x="190500" y="114300"/>
                </a:lnTo>
                <a:lnTo>
                  <a:pt x="200025" y="114300"/>
                </a:lnTo>
                <a:cubicBezTo>
                  <a:pt x="215801" y="114300"/>
                  <a:pt x="228600" y="101501"/>
                  <a:pt x="228600" y="85725"/>
                </a:cubicBezTo>
                <a:lnTo>
                  <a:pt x="228600" y="47625"/>
                </a:lnTo>
                <a:cubicBezTo>
                  <a:pt x="228600" y="31849"/>
                  <a:pt x="215801" y="19050"/>
                  <a:pt x="200025" y="19050"/>
                </a:cubicBezTo>
                <a:lnTo>
                  <a:pt x="142875" y="19050"/>
                </a:lnTo>
                <a:close/>
                <a:moveTo>
                  <a:pt x="266700" y="223838"/>
                </a:moveTo>
                <a:lnTo>
                  <a:pt x="271463" y="223838"/>
                </a:lnTo>
                <a:lnTo>
                  <a:pt x="271463" y="252413"/>
                </a:lnTo>
                <a:lnTo>
                  <a:pt x="223838" y="252413"/>
                </a:lnTo>
                <a:lnTo>
                  <a:pt x="223838" y="223838"/>
                </a:lnTo>
                <a:lnTo>
                  <a:pt x="266700" y="223838"/>
                </a:lnTo>
                <a:close/>
                <a:moveTo>
                  <a:pt x="114300" y="223838"/>
                </a:moveTo>
                <a:lnTo>
                  <a:pt x="119062" y="223838"/>
                </a:lnTo>
                <a:lnTo>
                  <a:pt x="119062" y="252413"/>
                </a:lnTo>
                <a:lnTo>
                  <a:pt x="71438" y="252413"/>
                </a:lnTo>
                <a:lnTo>
                  <a:pt x="71438" y="223838"/>
                </a:lnTo>
                <a:lnTo>
                  <a:pt x="114300" y="223838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41400" y="1879600"/>
            <a:ext cx="2692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ZooKeeper 的定位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8000" y="2438400"/>
            <a:ext cx="75311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ZooKeeper</a:t>
            </a: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是一个开源的分布式协调服务，为分布式应用提供高可用的协调服务。广泛应用于配置管理、命名服务、分布式锁等场景。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7050" y="3857625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52328" y="6846"/>
                </a:moveTo>
                <a:cubicBezTo>
                  <a:pt x="45601" y="2738"/>
                  <a:pt x="36790" y="4941"/>
                  <a:pt x="32683" y="11668"/>
                </a:cubicBezTo>
                <a:cubicBezTo>
                  <a:pt x="17919" y="36076"/>
                  <a:pt x="9465" y="64710"/>
                  <a:pt x="9465" y="95250"/>
                </a:cubicBezTo>
                <a:cubicBezTo>
                  <a:pt x="9465" y="125790"/>
                  <a:pt x="17919" y="154424"/>
                  <a:pt x="32683" y="178832"/>
                </a:cubicBezTo>
                <a:cubicBezTo>
                  <a:pt x="36790" y="185559"/>
                  <a:pt x="45541" y="187762"/>
                  <a:pt x="52328" y="183654"/>
                </a:cubicBezTo>
                <a:cubicBezTo>
                  <a:pt x="59115" y="179546"/>
                  <a:pt x="61258" y="170795"/>
                  <a:pt x="57150" y="164009"/>
                </a:cubicBezTo>
                <a:cubicBezTo>
                  <a:pt x="45065" y="144006"/>
                  <a:pt x="38100" y="120432"/>
                  <a:pt x="38100" y="95250"/>
                </a:cubicBezTo>
                <a:cubicBezTo>
                  <a:pt x="38100" y="70068"/>
                  <a:pt x="45065" y="46494"/>
                  <a:pt x="57210" y="26432"/>
                </a:cubicBezTo>
                <a:cubicBezTo>
                  <a:pt x="61317" y="19705"/>
                  <a:pt x="59115" y="10894"/>
                  <a:pt x="52388" y="6787"/>
                </a:cubicBezTo>
                <a:close/>
                <a:moveTo>
                  <a:pt x="290513" y="6846"/>
                </a:moveTo>
                <a:cubicBezTo>
                  <a:pt x="283785" y="10954"/>
                  <a:pt x="281583" y="19705"/>
                  <a:pt x="285690" y="26491"/>
                </a:cubicBezTo>
                <a:cubicBezTo>
                  <a:pt x="297835" y="46553"/>
                  <a:pt x="304800" y="70128"/>
                  <a:pt x="304800" y="95310"/>
                </a:cubicBezTo>
                <a:cubicBezTo>
                  <a:pt x="304800" y="120491"/>
                  <a:pt x="297835" y="144066"/>
                  <a:pt x="285690" y="164128"/>
                </a:cubicBezTo>
                <a:cubicBezTo>
                  <a:pt x="281583" y="170855"/>
                  <a:pt x="283785" y="179665"/>
                  <a:pt x="290513" y="183773"/>
                </a:cubicBezTo>
                <a:cubicBezTo>
                  <a:pt x="297240" y="187881"/>
                  <a:pt x="306050" y="185678"/>
                  <a:pt x="310158" y="178951"/>
                </a:cubicBezTo>
                <a:cubicBezTo>
                  <a:pt x="324922" y="154543"/>
                  <a:pt x="333375" y="125909"/>
                  <a:pt x="333375" y="95369"/>
                </a:cubicBezTo>
                <a:cubicBezTo>
                  <a:pt x="333375" y="64830"/>
                  <a:pt x="324922" y="36076"/>
                  <a:pt x="310158" y="11668"/>
                </a:cubicBezTo>
                <a:cubicBezTo>
                  <a:pt x="306050" y="4941"/>
                  <a:pt x="297299" y="2738"/>
                  <a:pt x="290513" y="6846"/>
                </a:cubicBezTo>
                <a:close/>
                <a:moveTo>
                  <a:pt x="190500" y="128230"/>
                </a:moveTo>
                <a:cubicBezTo>
                  <a:pt x="201870" y="121622"/>
                  <a:pt x="209550" y="109359"/>
                  <a:pt x="209550" y="95250"/>
                </a:cubicBezTo>
                <a:cubicBezTo>
                  <a:pt x="209550" y="74235"/>
                  <a:pt x="192465" y="57150"/>
                  <a:pt x="171450" y="57150"/>
                </a:cubicBezTo>
                <a:cubicBezTo>
                  <a:pt x="150435" y="57150"/>
                  <a:pt x="133350" y="74235"/>
                  <a:pt x="133350" y="95250"/>
                </a:cubicBezTo>
                <a:cubicBezTo>
                  <a:pt x="133350" y="109359"/>
                  <a:pt x="141030" y="121682"/>
                  <a:pt x="152400" y="128230"/>
                </a:cubicBezTo>
                <a:lnTo>
                  <a:pt x="152400" y="285750"/>
                </a:lnTo>
                <a:cubicBezTo>
                  <a:pt x="152400" y="296287"/>
                  <a:pt x="160913" y="304800"/>
                  <a:pt x="171450" y="304800"/>
                </a:cubicBezTo>
                <a:cubicBezTo>
                  <a:pt x="181987" y="304800"/>
                  <a:pt x="190500" y="296287"/>
                  <a:pt x="190500" y="285750"/>
                </a:cubicBezTo>
                <a:lnTo>
                  <a:pt x="190500" y="128230"/>
                </a:lnTo>
                <a:close/>
                <a:moveTo>
                  <a:pt x="107275" y="54173"/>
                </a:moveTo>
                <a:cubicBezTo>
                  <a:pt x="111562" y="47506"/>
                  <a:pt x="109597" y="38695"/>
                  <a:pt x="102989" y="34409"/>
                </a:cubicBezTo>
                <a:cubicBezTo>
                  <a:pt x="96381" y="30123"/>
                  <a:pt x="87511" y="32087"/>
                  <a:pt x="83225" y="38695"/>
                </a:cubicBezTo>
                <a:cubicBezTo>
                  <a:pt x="72747" y="55007"/>
                  <a:pt x="66675" y="74414"/>
                  <a:pt x="66675" y="95250"/>
                </a:cubicBezTo>
                <a:cubicBezTo>
                  <a:pt x="66675" y="116086"/>
                  <a:pt x="72747" y="135493"/>
                  <a:pt x="83225" y="151805"/>
                </a:cubicBezTo>
                <a:cubicBezTo>
                  <a:pt x="87511" y="158472"/>
                  <a:pt x="96322" y="160377"/>
                  <a:pt x="102989" y="156091"/>
                </a:cubicBezTo>
                <a:cubicBezTo>
                  <a:pt x="109657" y="151805"/>
                  <a:pt x="111562" y="142994"/>
                  <a:pt x="107275" y="136327"/>
                </a:cubicBezTo>
                <a:cubicBezTo>
                  <a:pt x="99655" y="124480"/>
                  <a:pt x="95250" y="110371"/>
                  <a:pt x="95250" y="95250"/>
                </a:cubicBezTo>
                <a:cubicBezTo>
                  <a:pt x="95250" y="80129"/>
                  <a:pt x="99655" y="66020"/>
                  <a:pt x="107275" y="54173"/>
                </a:cubicBezTo>
                <a:close/>
                <a:moveTo>
                  <a:pt x="259675" y="38695"/>
                </a:moveTo>
                <a:cubicBezTo>
                  <a:pt x="255389" y="32028"/>
                  <a:pt x="246578" y="30123"/>
                  <a:pt x="239911" y="34409"/>
                </a:cubicBezTo>
                <a:cubicBezTo>
                  <a:pt x="233243" y="38695"/>
                  <a:pt x="231338" y="47506"/>
                  <a:pt x="235625" y="54173"/>
                </a:cubicBezTo>
                <a:cubicBezTo>
                  <a:pt x="243245" y="66020"/>
                  <a:pt x="247650" y="80129"/>
                  <a:pt x="247650" y="95250"/>
                </a:cubicBezTo>
                <a:cubicBezTo>
                  <a:pt x="247650" y="110371"/>
                  <a:pt x="243245" y="124480"/>
                  <a:pt x="235625" y="136327"/>
                </a:cubicBezTo>
                <a:cubicBezTo>
                  <a:pt x="231338" y="142994"/>
                  <a:pt x="233303" y="151805"/>
                  <a:pt x="239911" y="156091"/>
                </a:cubicBezTo>
                <a:cubicBezTo>
                  <a:pt x="246519" y="160377"/>
                  <a:pt x="255389" y="158413"/>
                  <a:pt x="259675" y="151805"/>
                </a:cubicBezTo>
                <a:cubicBezTo>
                  <a:pt x="270153" y="135493"/>
                  <a:pt x="276225" y="116086"/>
                  <a:pt x="276225" y="95250"/>
                </a:cubicBezTo>
                <a:cubicBezTo>
                  <a:pt x="276225" y="74414"/>
                  <a:pt x="270153" y="55007"/>
                  <a:pt x="259675" y="38695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41400" y="3806825"/>
            <a:ext cx="2959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ZAB 协议的核心作用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8000" y="4365625"/>
            <a:ext cx="75311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核心的 </a:t>
            </a:r>
            <a:r>
              <a:rPr lang="en-US" sz="18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ZAB（ZooKeeper Atomic Broadcast）协议</a:t>
            </a: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通过 Leader 选举机制确保集群的一致性和可用性，是 ZooKeeper 集群管理的基础。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4200" y="5464175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41400" y="5413375"/>
            <a:ext cx="167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为什么重要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8000" y="5972175"/>
            <a:ext cx="75311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 Leader 选举的工作原理对于以下方面具有重要意义：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70000" y="654685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6A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533525" y="682625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11175" y="48171"/>
                </a:moveTo>
                <a:lnTo>
                  <a:pt x="111175" y="72777"/>
                </a:lnTo>
                <a:lnTo>
                  <a:pt x="111423" y="73025"/>
                </a:lnTo>
                <a:cubicBezTo>
                  <a:pt x="114647" y="32147"/>
                  <a:pt x="148828" y="0"/>
                  <a:pt x="190550" y="0"/>
                </a:cubicBezTo>
                <a:cubicBezTo>
                  <a:pt x="200521" y="0"/>
                  <a:pt x="210096" y="1836"/>
                  <a:pt x="218877" y="5209"/>
                </a:cubicBezTo>
                <a:cubicBezTo>
                  <a:pt x="223838" y="7094"/>
                  <a:pt x="224730" y="13395"/>
                  <a:pt x="221010" y="17165"/>
                </a:cubicBezTo>
                <a:lnTo>
                  <a:pt x="177006" y="61168"/>
                </a:lnTo>
                <a:cubicBezTo>
                  <a:pt x="175518" y="62657"/>
                  <a:pt x="174675" y="64691"/>
                  <a:pt x="174675" y="66774"/>
                </a:cubicBezTo>
                <a:lnTo>
                  <a:pt x="174675" y="87313"/>
                </a:lnTo>
                <a:cubicBezTo>
                  <a:pt x="174675" y="91678"/>
                  <a:pt x="178246" y="95250"/>
                  <a:pt x="182612" y="95250"/>
                </a:cubicBezTo>
                <a:lnTo>
                  <a:pt x="203150" y="95250"/>
                </a:lnTo>
                <a:cubicBezTo>
                  <a:pt x="205234" y="95250"/>
                  <a:pt x="207268" y="94407"/>
                  <a:pt x="208756" y="92918"/>
                </a:cubicBezTo>
                <a:lnTo>
                  <a:pt x="252760" y="48915"/>
                </a:lnTo>
                <a:cubicBezTo>
                  <a:pt x="256530" y="45145"/>
                  <a:pt x="262830" y="46087"/>
                  <a:pt x="264716" y="51048"/>
                </a:cubicBezTo>
                <a:cubicBezTo>
                  <a:pt x="268089" y="59829"/>
                  <a:pt x="269925" y="69404"/>
                  <a:pt x="269925" y="79375"/>
                </a:cubicBezTo>
                <a:cubicBezTo>
                  <a:pt x="269925" y="109438"/>
                  <a:pt x="253206" y="135632"/>
                  <a:pt x="228501" y="149076"/>
                </a:cubicBezTo>
                <a:lnTo>
                  <a:pt x="268932" y="189508"/>
                </a:lnTo>
                <a:cubicBezTo>
                  <a:pt x="278209" y="198785"/>
                  <a:pt x="278209" y="213866"/>
                  <a:pt x="268932" y="223193"/>
                </a:cubicBezTo>
                <a:lnTo>
                  <a:pt x="239117" y="253008"/>
                </a:lnTo>
                <a:cubicBezTo>
                  <a:pt x="229840" y="262285"/>
                  <a:pt x="214759" y="262285"/>
                  <a:pt x="205432" y="253008"/>
                </a:cubicBezTo>
                <a:lnTo>
                  <a:pt x="142925" y="190500"/>
                </a:lnTo>
                <a:cubicBezTo>
                  <a:pt x="129332" y="176907"/>
                  <a:pt x="126256" y="156815"/>
                  <a:pt x="133747" y="140246"/>
                </a:cubicBezTo>
                <a:lnTo>
                  <a:pt x="88751" y="95250"/>
                </a:lnTo>
                <a:lnTo>
                  <a:pt x="64145" y="95250"/>
                </a:lnTo>
                <a:cubicBezTo>
                  <a:pt x="58837" y="95250"/>
                  <a:pt x="53876" y="92621"/>
                  <a:pt x="50949" y="88205"/>
                </a:cubicBezTo>
                <a:lnTo>
                  <a:pt x="11609" y="29220"/>
                </a:lnTo>
                <a:cubicBezTo>
                  <a:pt x="9525" y="26095"/>
                  <a:pt x="9922" y="21878"/>
                  <a:pt x="12601" y="19199"/>
                </a:cubicBezTo>
                <a:lnTo>
                  <a:pt x="35123" y="-3324"/>
                </a:lnTo>
                <a:cubicBezTo>
                  <a:pt x="37802" y="-6003"/>
                  <a:pt x="41970" y="-6400"/>
                  <a:pt x="45145" y="-4316"/>
                </a:cubicBezTo>
                <a:lnTo>
                  <a:pt x="104130" y="34975"/>
                </a:lnTo>
                <a:cubicBezTo>
                  <a:pt x="108545" y="37902"/>
                  <a:pt x="111175" y="42863"/>
                  <a:pt x="111175" y="48171"/>
                </a:cubicBezTo>
                <a:close/>
                <a:moveTo>
                  <a:pt x="106958" y="147141"/>
                </a:moveTo>
                <a:cubicBezTo>
                  <a:pt x="103832" y="165497"/>
                  <a:pt x="108148" y="184894"/>
                  <a:pt x="120055" y="200422"/>
                </a:cubicBezTo>
                <a:lnTo>
                  <a:pt x="72926" y="247501"/>
                </a:lnTo>
                <a:cubicBezTo>
                  <a:pt x="58986" y="261441"/>
                  <a:pt x="36364" y="261441"/>
                  <a:pt x="22423" y="247501"/>
                </a:cubicBezTo>
                <a:cubicBezTo>
                  <a:pt x="8483" y="233561"/>
                  <a:pt x="8483" y="210939"/>
                  <a:pt x="22423" y="196999"/>
                </a:cubicBezTo>
                <a:lnTo>
                  <a:pt x="89595" y="129828"/>
                </a:lnTo>
                <a:lnTo>
                  <a:pt x="106958" y="147191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57200" y="7461250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运维集群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0" y="654685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6A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089400" y="68262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06375" y="103188"/>
                </a:moveTo>
                <a:cubicBezTo>
                  <a:pt x="206375" y="125958"/>
                  <a:pt x="198983" y="146993"/>
                  <a:pt x="186531" y="164058"/>
                </a:cubicBezTo>
                <a:lnTo>
                  <a:pt x="249337" y="226913"/>
                </a:lnTo>
                <a:cubicBezTo>
                  <a:pt x="255538" y="233114"/>
                  <a:pt x="255538" y="243185"/>
                  <a:pt x="249337" y="249386"/>
                </a:cubicBezTo>
                <a:cubicBezTo>
                  <a:pt x="243136" y="255588"/>
                  <a:pt x="233065" y="255588"/>
                  <a:pt x="226864" y="249386"/>
                </a:cubicBezTo>
                <a:lnTo>
                  <a:pt x="164058" y="186531"/>
                </a:lnTo>
                <a:cubicBezTo>
                  <a:pt x="146993" y="198983"/>
                  <a:pt x="125958" y="206375"/>
                  <a:pt x="103188" y="206375"/>
                </a:cubicBezTo>
                <a:cubicBezTo>
                  <a:pt x="46186" y="206375"/>
                  <a:pt x="0" y="160189"/>
                  <a:pt x="0" y="103188"/>
                </a:cubicBezTo>
                <a:cubicBezTo>
                  <a:pt x="0" y="46186"/>
                  <a:pt x="46186" y="0"/>
                  <a:pt x="103188" y="0"/>
                </a:cubicBezTo>
                <a:cubicBezTo>
                  <a:pt x="160189" y="0"/>
                  <a:pt x="206375" y="46186"/>
                  <a:pt x="206375" y="103188"/>
                </a:cubicBezTo>
                <a:close/>
                <a:moveTo>
                  <a:pt x="103188" y="174625"/>
                </a:moveTo>
                <a:cubicBezTo>
                  <a:pt x="142615" y="174625"/>
                  <a:pt x="174625" y="142615"/>
                  <a:pt x="174625" y="103188"/>
                </a:cubicBezTo>
                <a:cubicBezTo>
                  <a:pt x="174625" y="63760"/>
                  <a:pt x="142615" y="31750"/>
                  <a:pt x="103188" y="31750"/>
                </a:cubicBezTo>
                <a:cubicBezTo>
                  <a:pt x="63760" y="31750"/>
                  <a:pt x="31750" y="63760"/>
                  <a:pt x="31750" y="103187"/>
                </a:cubicBezTo>
                <a:cubicBezTo>
                  <a:pt x="31750" y="142615"/>
                  <a:pt x="63760" y="174625"/>
                  <a:pt x="103187" y="174625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997200" y="7461250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排查问题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0000" y="654685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6A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29400" y="68262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537200" y="7461250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优化性能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37550" y="1885950"/>
            <a:ext cx="7404100" cy="3175000"/>
          </a:xfrm>
          <a:custGeom>
            <a:avLst/>
            <a:gdLst/>
            <a:ahLst/>
            <a:cxnLst/>
            <a:rect l="l" t="t" r="r" b="b"/>
            <a:pathLst>
              <a:path w="7404100" h="3175000">
                <a:moveTo>
                  <a:pt x="152400" y="0"/>
                </a:moveTo>
                <a:lnTo>
                  <a:pt x="7251700" y="0"/>
                </a:lnTo>
                <a:cubicBezTo>
                  <a:pt x="7335812" y="0"/>
                  <a:pt x="7404100" y="68288"/>
                  <a:pt x="7404100" y="152400"/>
                </a:cubicBezTo>
                <a:lnTo>
                  <a:pt x="7404100" y="3022600"/>
                </a:lnTo>
                <a:cubicBezTo>
                  <a:pt x="7404100" y="3106712"/>
                  <a:pt x="7335812" y="3175000"/>
                  <a:pt x="7251700" y="3175000"/>
                </a:cubicBezTo>
                <a:lnTo>
                  <a:pt x="152400" y="3175000"/>
                </a:lnTo>
                <a:cubicBezTo>
                  <a:pt x="68288" y="3175000"/>
                  <a:pt x="0" y="3106712"/>
                  <a:pt x="0" y="3022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 w="12700">
            <a:solidFill>
              <a:srgbClr val="4F6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667750" y="22479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86333" y="51911"/>
                </a:moveTo>
                <a:cubicBezTo>
                  <a:pt x="191810" y="47565"/>
                  <a:pt x="195263" y="40838"/>
                  <a:pt x="195263" y="33338"/>
                </a:cubicBezTo>
                <a:cubicBezTo>
                  <a:pt x="195263" y="20181"/>
                  <a:pt x="184606" y="9525"/>
                  <a:pt x="171450" y="9525"/>
                </a:cubicBezTo>
                <a:cubicBezTo>
                  <a:pt x="158294" y="9525"/>
                  <a:pt x="147638" y="20181"/>
                  <a:pt x="147638" y="33338"/>
                </a:cubicBezTo>
                <a:cubicBezTo>
                  <a:pt x="147638" y="40838"/>
                  <a:pt x="151150" y="47565"/>
                  <a:pt x="156567" y="51911"/>
                </a:cubicBezTo>
                <a:lnTo>
                  <a:pt x="115848" y="115967"/>
                </a:lnTo>
                <a:cubicBezTo>
                  <a:pt x="109895" y="125313"/>
                  <a:pt x="97215" y="127635"/>
                  <a:pt x="88344" y="120968"/>
                </a:cubicBezTo>
                <a:lnTo>
                  <a:pt x="52923" y="94476"/>
                </a:lnTo>
                <a:cubicBezTo>
                  <a:pt x="55602" y="90666"/>
                  <a:pt x="57150" y="85963"/>
                  <a:pt x="57150" y="80962"/>
                </a:cubicBezTo>
                <a:cubicBezTo>
                  <a:pt x="57150" y="67806"/>
                  <a:pt x="46494" y="57150"/>
                  <a:pt x="33338" y="57150"/>
                </a:cubicBezTo>
                <a:cubicBezTo>
                  <a:pt x="20181" y="57150"/>
                  <a:pt x="9525" y="67806"/>
                  <a:pt x="9525" y="80962"/>
                </a:cubicBezTo>
                <a:cubicBezTo>
                  <a:pt x="9525" y="93940"/>
                  <a:pt x="19943" y="104537"/>
                  <a:pt x="32861" y="104775"/>
                </a:cubicBezTo>
                <a:lnTo>
                  <a:pt x="52268" y="234255"/>
                </a:lnTo>
                <a:cubicBezTo>
                  <a:pt x="55066" y="252889"/>
                  <a:pt x="71080" y="266700"/>
                  <a:pt x="89952" y="266700"/>
                </a:cubicBezTo>
                <a:lnTo>
                  <a:pt x="252948" y="266700"/>
                </a:lnTo>
                <a:cubicBezTo>
                  <a:pt x="271820" y="266700"/>
                  <a:pt x="287834" y="252889"/>
                  <a:pt x="290632" y="234255"/>
                </a:cubicBezTo>
                <a:lnTo>
                  <a:pt x="310039" y="104775"/>
                </a:lnTo>
                <a:cubicBezTo>
                  <a:pt x="322957" y="104537"/>
                  <a:pt x="333375" y="93940"/>
                  <a:pt x="333375" y="80962"/>
                </a:cubicBezTo>
                <a:cubicBezTo>
                  <a:pt x="333375" y="67806"/>
                  <a:pt x="322719" y="57150"/>
                  <a:pt x="309563" y="57150"/>
                </a:cubicBezTo>
                <a:cubicBezTo>
                  <a:pt x="296406" y="57150"/>
                  <a:pt x="285750" y="67806"/>
                  <a:pt x="285750" y="80962"/>
                </a:cubicBezTo>
                <a:cubicBezTo>
                  <a:pt x="285750" y="85963"/>
                  <a:pt x="287298" y="90666"/>
                  <a:pt x="289977" y="94476"/>
                </a:cubicBezTo>
                <a:lnTo>
                  <a:pt x="254615" y="121027"/>
                </a:lnTo>
                <a:cubicBezTo>
                  <a:pt x="245745" y="127695"/>
                  <a:pt x="233065" y="125373"/>
                  <a:pt x="227112" y="116026"/>
                </a:cubicBezTo>
                <a:lnTo>
                  <a:pt x="186333" y="51911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182100" y="2197100"/>
            <a:ext cx="2120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Leader 的角色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48700" y="2806700"/>
            <a:ext cx="68961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Leader 选举决定了哪个节点承担协调者角色，负责：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48700" y="3482975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902700" y="3381375"/>
            <a:ext cx="664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</a:t>
            </a:r>
            <a:r>
              <a:rPr lang="en-US" sz="1800" b="1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所有写请求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648700" y="3990975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902700" y="3889375"/>
            <a:ext cx="664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协调分布式事务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648700" y="4498975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902700" y="4397375"/>
            <a:ext cx="664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将状态变更同步到所有节点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37550" y="5381625"/>
            <a:ext cx="2324100" cy="1435100"/>
          </a:xfrm>
          <a:custGeom>
            <a:avLst/>
            <a:gdLst/>
            <a:ahLst/>
            <a:cxnLst/>
            <a:rect l="l" t="t" r="r" b="b"/>
            <a:pathLst>
              <a:path w="2324100" h="1435100">
                <a:moveTo>
                  <a:pt x="152393" y="0"/>
                </a:moveTo>
                <a:lnTo>
                  <a:pt x="2171707" y="0"/>
                </a:lnTo>
                <a:cubicBezTo>
                  <a:pt x="2255815" y="0"/>
                  <a:pt x="2324100" y="68285"/>
                  <a:pt x="2324100" y="152393"/>
                </a:cubicBezTo>
                <a:lnTo>
                  <a:pt x="2324100" y="1282707"/>
                </a:lnTo>
                <a:cubicBezTo>
                  <a:pt x="2324100" y="1366871"/>
                  <a:pt x="2255871" y="1435100"/>
                  <a:pt x="2171707" y="1435100"/>
                </a:cubicBezTo>
                <a:lnTo>
                  <a:pt x="152393" y="1435100"/>
                </a:lnTo>
                <a:cubicBezTo>
                  <a:pt x="68285" y="1435100"/>
                  <a:pt x="0" y="1366815"/>
                  <a:pt x="0" y="1282707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3E5C5A">
              <a:alpha val="20000"/>
            </a:srgbClr>
          </a:solidFill>
          <a:ln w="12700">
            <a:solidFill>
              <a:srgbClr val="3E5C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483600" y="5641975"/>
            <a:ext cx="20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3.6.0+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47100" y="6251575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当前版本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877550" y="5381625"/>
            <a:ext cx="2324100" cy="1435100"/>
          </a:xfrm>
          <a:custGeom>
            <a:avLst/>
            <a:gdLst/>
            <a:ahLst/>
            <a:cxnLst/>
            <a:rect l="l" t="t" r="r" b="b"/>
            <a:pathLst>
              <a:path w="2324100" h="1435100">
                <a:moveTo>
                  <a:pt x="152393" y="0"/>
                </a:moveTo>
                <a:lnTo>
                  <a:pt x="2171707" y="0"/>
                </a:lnTo>
                <a:cubicBezTo>
                  <a:pt x="2255815" y="0"/>
                  <a:pt x="2324100" y="68285"/>
                  <a:pt x="2324100" y="152393"/>
                </a:cubicBezTo>
                <a:lnTo>
                  <a:pt x="2324100" y="1282707"/>
                </a:lnTo>
                <a:cubicBezTo>
                  <a:pt x="2324100" y="1366871"/>
                  <a:pt x="2255871" y="1435100"/>
                  <a:pt x="2171707" y="1435100"/>
                </a:cubicBezTo>
                <a:lnTo>
                  <a:pt x="152393" y="1435100"/>
                </a:lnTo>
                <a:cubicBezTo>
                  <a:pt x="68285" y="1435100"/>
                  <a:pt x="0" y="1366815"/>
                  <a:pt x="0" y="1282707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3E5C5A">
              <a:alpha val="20000"/>
            </a:srgbClr>
          </a:solidFill>
          <a:ln w="12700">
            <a:solidFill>
              <a:srgbClr val="3E5C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1023600" y="5641975"/>
            <a:ext cx="20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087100" y="6251575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通信协议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3417550" y="5381625"/>
            <a:ext cx="2324100" cy="1435100"/>
          </a:xfrm>
          <a:custGeom>
            <a:avLst/>
            <a:gdLst/>
            <a:ahLst/>
            <a:cxnLst/>
            <a:rect l="l" t="t" r="r" b="b"/>
            <a:pathLst>
              <a:path w="2324100" h="1435100">
                <a:moveTo>
                  <a:pt x="152393" y="0"/>
                </a:moveTo>
                <a:lnTo>
                  <a:pt x="2171707" y="0"/>
                </a:lnTo>
                <a:cubicBezTo>
                  <a:pt x="2255815" y="0"/>
                  <a:pt x="2324100" y="68285"/>
                  <a:pt x="2324100" y="152393"/>
                </a:cubicBezTo>
                <a:lnTo>
                  <a:pt x="2324100" y="1282707"/>
                </a:lnTo>
                <a:cubicBezTo>
                  <a:pt x="2324100" y="1366871"/>
                  <a:pt x="2255871" y="1435100"/>
                  <a:pt x="2171707" y="1435100"/>
                </a:cubicBezTo>
                <a:lnTo>
                  <a:pt x="152393" y="1435100"/>
                </a:lnTo>
                <a:cubicBezTo>
                  <a:pt x="68285" y="1435100"/>
                  <a:pt x="0" y="1366815"/>
                  <a:pt x="0" y="1282707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3E5C5A">
              <a:alpha val="20000"/>
            </a:srgbClr>
          </a:solidFill>
          <a:ln w="12700">
            <a:solidFill>
              <a:srgbClr val="3E5C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3563600" y="5641975"/>
            <a:ext cx="20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 20s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627100" y="6251575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恢复时间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980CD251-B22A-CA4C-F5BE-4CCA59F22260}"/>
              </a:ext>
            </a:extLst>
          </p:cNvPr>
          <p:cNvGrpSpPr/>
          <p:nvPr/>
        </p:nvGrpSpPr>
        <p:grpSpPr>
          <a:xfrm>
            <a:off x="563513" y="3086100"/>
            <a:ext cx="1193800" cy="1193800"/>
            <a:chOff x="563513" y="2857500"/>
            <a:chExt cx="1193800" cy="1193800"/>
          </a:xfrm>
        </p:grpSpPr>
        <p:sp>
          <p:nvSpPr>
            <p:cNvPr id="4" name="Shape 1"/>
            <p:cNvSpPr/>
            <p:nvPr/>
          </p:nvSpPr>
          <p:spPr>
            <a:xfrm>
              <a:off x="563513" y="2857500"/>
              <a:ext cx="1193800" cy="1193800"/>
            </a:xfrm>
            <a:custGeom>
              <a:avLst/>
              <a:gdLst/>
              <a:ahLst/>
              <a:cxnLst/>
              <a:rect l="l" t="t" r="r" b="b"/>
              <a:pathLst>
                <a:path w="1193800" h="1193800">
                  <a:moveTo>
                    <a:pt x="152401" y="0"/>
                  </a:moveTo>
                  <a:lnTo>
                    <a:pt x="1041399" y="0"/>
                  </a:lnTo>
                  <a:cubicBezTo>
                    <a:pt x="1125512" y="0"/>
                    <a:pt x="1193800" y="68288"/>
                    <a:pt x="1193800" y="152401"/>
                  </a:cubicBezTo>
                  <a:lnTo>
                    <a:pt x="1193800" y="1041399"/>
                  </a:lnTo>
                  <a:cubicBezTo>
                    <a:pt x="1193800" y="1125568"/>
                    <a:pt x="1125568" y="1193800"/>
                    <a:pt x="1041399" y="1193800"/>
                  </a:cubicBezTo>
                  <a:lnTo>
                    <a:pt x="152401" y="1193800"/>
                  </a:lnTo>
                  <a:cubicBezTo>
                    <a:pt x="68232" y="1193800"/>
                    <a:pt x="0" y="1125568"/>
                    <a:pt x="0" y="1041399"/>
                  </a:cubicBezTo>
                  <a:lnTo>
                    <a:pt x="0" y="152401"/>
                  </a:lnTo>
                  <a:cubicBezTo>
                    <a:pt x="0" y="68232"/>
                    <a:pt x="68232" y="0"/>
                    <a:pt x="152401" y="0"/>
                  </a:cubicBezTo>
                  <a:close/>
                </a:path>
              </a:pathLst>
            </a:custGeom>
            <a:solidFill>
              <a:srgbClr val="4F6A82">
                <a:alpha val="30196"/>
              </a:srgbClr>
            </a:solidFill>
            <a:ln w="25400">
              <a:solidFill>
                <a:srgbClr val="B89A6A"/>
              </a:solidFill>
              <a:prstDash val="solid"/>
            </a:ln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ext 2"/>
            <p:cNvSpPr/>
            <p:nvPr/>
          </p:nvSpPr>
          <p:spPr>
            <a:xfrm>
              <a:off x="633363" y="3149600"/>
              <a:ext cx="1054100" cy="901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800" b="1" dirty="0">
                  <a:solidFill>
                    <a:srgbClr val="B89A6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02</a:t>
              </a:r>
              <a:endParaRPr lang="en-US" sz="1600" dirty="0"/>
            </a:p>
          </p:txBody>
        </p:sp>
      </p:grpSp>
      <p:sp>
        <p:nvSpPr>
          <p:cNvPr id="7" name="Text 4"/>
          <p:cNvSpPr/>
          <p:nvPr/>
        </p:nvSpPr>
        <p:spPr>
          <a:xfrm>
            <a:off x="1930400" y="2540000"/>
            <a:ext cx="12014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 err="1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ZooKeeper</a:t>
            </a:r>
            <a:r>
              <a:rPr lang="zh-CN" altLang="en-US" sz="1600" dirty="0"/>
              <a:t> </a:t>
            </a:r>
            <a:r>
              <a:rPr lang="en-US" sz="7200" dirty="0" err="1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集群架构基础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6100" y="548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041400" y="5435600"/>
            <a:ext cx="289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节点角色与职责分工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84700" y="5486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57150" y="57150"/>
                </a:moveTo>
                <a:cubicBezTo>
                  <a:pt x="57150" y="36135"/>
                  <a:pt x="74235" y="19050"/>
                  <a:pt x="95250" y="19050"/>
                </a:cubicBezTo>
                <a:lnTo>
                  <a:pt x="247650" y="19050"/>
                </a:lnTo>
                <a:cubicBezTo>
                  <a:pt x="268665" y="19050"/>
                  <a:pt x="285750" y="36135"/>
                  <a:pt x="285750" y="57150"/>
                </a:cubicBezTo>
                <a:lnTo>
                  <a:pt x="285750" y="190500"/>
                </a:lnTo>
                <a:cubicBezTo>
                  <a:pt x="285750" y="211515"/>
                  <a:pt x="268665" y="228600"/>
                  <a:pt x="247650" y="228600"/>
                </a:cubicBezTo>
                <a:lnTo>
                  <a:pt x="95250" y="228600"/>
                </a:lnTo>
                <a:cubicBezTo>
                  <a:pt x="74235" y="228600"/>
                  <a:pt x="57150" y="211515"/>
                  <a:pt x="57150" y="190500"/>
                </a:cubicBezTo>
                <a:lnTo>
                  <a:pt x="57150" y="57150"/>
                </a:lnTo>
                <a:close/>
                <a:moveTo>
                  <a:pt x="217110" y="68818"/>
                </a:moveTo>
                <a:cubicBezTo>
                  <a:pt x="210443" y="64651"/>
                  <a:pt x="201632" y="66675"/>
                  <a:pt x="197406" y="73343"/>
                </a:cubicBezTo>
                <a:lnTo>
                  <a:pt x="160853" y="131862"/>
                </a:lnTo>
                <a:lnTo>
                  <a:pt x="144780" y="110430"/>
                </a:lnTo>
                <a:cubicBezTo>
                  <a:pt x="140018" y="104120"/>
                  <a:pt x="131088" y="102810"/>
                  <a:pt x="124777" y="107573"/>
                </a:cubicBezTo>
                <a:cubicBezTo>
                  <a:pt x="118467" y="112335"/>
                  <a:pt x="117157" y="121265"/>
                  <a:pt x="121920" y="127575"/>
                </a:cubicBezTo>
                <a:lnTo>
                  <a:pt x="150495" y="165675"/>
                </a:lnTo>
                <a:cubicBezTo>
                  <a:pt x="153293" y="169426"/>
                  <a:pt x="157817" y="171569"/>
                  <a:pt x="162520" y="171390"/>
                </a:cubicBezTo>
                <a:cubicBezTo>
                  <a:pt x="167223" y="171212"/>
                  <a:pt x="171510" y="168712"/>
                  <a:pt x="174010" y="164663"/>
                </a:cubicBezTo>
                <a:lnTo>
                  <a:pt x="221635" y="88463"/>
                </a:lnTo>
                <a:cubicBezTo>
                  <a:pt x="225802" y="81796"/>
                  <a:pt x="223778" y="72985"/>
                  <a:pt x="217110" y="68759"/>
                </a:cubicBezTo>
                <a:close/>
                <a:moveTo>
                  <a:pt x="28575" y="185738"/>
                </a:moveTo>
                <a:lnTo>
                  <a:pt x="28575" y="247650"/>
                </a:lnTo>
                <a:cubicBezTo>
                  <a:pt x="28575" y="252889"/>
                  <a:pt x="32861" y="257175"/>
                  <a:pt x="38100" y="257175"/>
                </a:cubicBezTo>
                <a:lnTo>
                  <a:pt x="304800" y="257175"/>
                </a:lnTo>
                <a:cubicBezTo>
                  <a:pt x="310039" y="257175"/>
                  <a:pt x="314325" y="252889"/>
                  <a:pt x="314325" y="247650"/>
                </a:cubicBezTo>
                <a:lnTo>
                  <a:pt x="314325" y="185738"/>
                </a:lnTo>
                <a:cubicBezTo>
                  <a:pt x="314325" y="177820"/>
                  <a:pt x="320695" y="171450"/>
                  <a:pt x="328613" y="171450"/>
                </a:cubicBezTo>
                <a:cubicBezTo>
                  <a:pt x="336530" y="171450"/>
                  <a:pt x="342900" y="177820"/>
                  <a:pt x="342900" y="185738"/>
                </a:cubicBezTo>
                <a:lnTo>
                  <a:pt x="342900" y="247650"/>
                </a:lnTo>
                <a:cubicBezTo>
                  <a:pt x="342900" y="268665"/>
                  <a:pt x="325815" y="285750"/>
                  <a:pt x="3048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185738"/>
                </a:lnTo>
                <a:cubicBezTo>
                  <a:pt x="0" y="177820"/>
                  <a:pt x="6370" y="171450"/>
                  <a:pt x="14288" y="171450"/>
                </a:cubicBezTo>
                <a:cubicBezTo>
                  <a:pt x="22205" y="171450"/>
                  <a:pt x="28575" y="177820"/>
                  <a:pt x="28575" y="185738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5099050" y="5435600"/>
            <a:ext cx="289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投票机制与比较算法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56700" y="548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6145" y="5655"/>
                </a:moveTo>
                <a:cubicBezTo>
                  <a:pt x="117931" y="-3155"/>
                  <a:pt x="125730" y="-9525"/>
                  <a:pt x="134779" y="-9525"/>
                </a:cubicBezTo>
                <a:lnTo>
                  <a:pt x="170378" y="-9525"/>
                </a:lnTo>
                <a:cubicBezTo>
                  <a:pt x="179427" y="-9525"/>
                  <a:pt x="187226" y="-3155"/>
                  <a:pt x="189012" y="5655"/>
                </a:cubicBezTo>
                <a:lnTo>
                  <a:pt x="197644" y="47327"/>
                </a:lnTo>
                <a:cubicBezTo>
                  <a:pt x="206038" y="50899"/>
                  <a:pt x="213896" y="55483"/>
                  <a:pt x="221040" y="60900"/>
                </a:cubicBezTo>
                <a:lnTo>
                  <a:pt x="261402" y="47506"/>
                </a:lnTo>
                <a:cubicBezTo>
                  <a:pt x="269974" y="44648"/>
                  <a:pt x="279380" y="48220"/>
                  <a:pt x="283905" y="56078"/>
                </a:cubicBezTo>
                <a:lnTo>
                  <a:pt x="301704" y="86916"/>
                </a:lnTo>
                <a:cubicBezTo>
                  <a:pt x="306229" y="94774"/>
                  <a:pt x="304621" y="104656"/>
                  <a:pt x="297835" y="110669"/>
                </a:cubicBezTo>
                <a:lnTo>
                  <a:pt x="266105" y="138886"/>
                </a:lnTo>
                <a:cubicBezTo>
                  <a:pt x="266640" y="143292"/>
                  <a:pt x="266879" y="147816"/>
                  <a:pt x="266879" y="152400"/>
                </a:cubicBezTo>
                <a:cubicBezTo>
                  <a:pt x="266879" y="156984"/>
                  <a:pt x="266581" y="161508"/>
                  <a:pt x="266105" y="165914"/>
                </a:cubicBezTo>
                <a:lnTo>
                  <a:pt x="297894" y="194191"/>
                </a:lnTo>
                <a:cubicBezTo>
                  <a:pt x="304681" y="200204"/>
                  <a:pt x="306229" y="210145"/>
                  <a:pt x="301764" y="217944"/>
                </a:cubicBezTo>
                <a:lnTo>
                  <a:pt x="283964" y="248781"/>
                </a:lnTo>
                <a:cubicBezTo>
                  <a:pt x="279440" y="256580"/>
                  <a:pt x="270034" y="260211"/>
                  <a:pt x="261461" y="257354"/>
                </a:cubicBezTo>
                <a:lnTo>
                  <a:pt x="221099" y="243959"/>
                </a:lnTo>
                <a:cubicBezTo>
                  <a:pt x="213896" y="249376"/>
                  <a:pt x="206038" y="253901"/>
                  <a:pt x="197703" y="257532"/>
                </a:cubicBezTo>
                <a:lnTo>
                  <a:pt x="189131" y="299145"/>
                </a:lnTo>
                <a:cubicBezTo>
                  <a:pt x="187285" y="308015"/>
                  <a:pt x="179487" y="314325"/>
                  <a:pt x="170497" y="314325"/>
                </a:cubicBezTo>
                <a:lnTo>
                  <a:pt x="134898" y="314325"/>
                </a:lnTo>
                <a:cubicBezTo>
                  <a:pt x="125849" y="314325"/>
                  <a:pt x="118050" y="307955"/>
                  <a:pt x="116265" y="299145"/>
                </a:cubicBezTo>
                <a:lnTo>
                  <a:pt x="107692" y="257532"/>
                </a:lnTo>
                <a:cubicBezTo>
                  <a:pt x="99298" y="253960"/>
                  <a:pt x="91500" y="249376"/>
                  <a:pt x="84296" y="243959"/>
                </a:cubicBezTo>
                <a:lnTo>
                  <a:pt x="43755" y="257354"/>
                </a:lnTo>
                <a:cubicBezTo>
                  <a:pt x="35183" y="260211"/>
                  <a:pt x="25777" y="256639"/>
                  <a:pt x="21253" y="248781"/>
                </a:cubicBezTo>
                <a:lnTo>
                  <a:pt x="3453" y="217944"/>
                </a:lnTo>
                <a:cubicBezTo>
                  <a:pt x="-1072" y="210086"/>
                  <a:pt x="536" y="200204"/>
                  <a:pt x="7322" y="194191"/>
                </a:cubicBezTo>
                <a:lnTo>
                  <a:pt x="39112" y="165914"/>
                </a:lnTo>
                <a:cubicBezTo>
                  <a:pt x="38576" y="161508"/>
                  <a:pt x="38338" y="156984"/>
                  <a:pt x="38338" y="152400"/>
                </a:cubicBezTo>
                <a:cubicBezTo>
                  <a:pt x="38338" y="147816"/>
                  <a:pt x="38636" y="143292"/>
                  <a:pt x="39112" y="138886"/>
                </a:cubicBezTo>
                <a:lnTo>
                  <a:pt x="7322" y="110609"/>
                </a:lnTo>
                <a:cubicBezTo>
                  <a:pt x="536" y="104596"/>
                  <a:pt x="-1012" y="94655"/>
                  <a:pt x="3453" y="86856"/>
                </a:cubicBezTo>
                <a:lnTo>
                  <a:pt x="21253" y="56019"/>
                </a:lnTo>
                <a:cubicBezTo>
                  <a:pt x="25777" y="48161"/>
                  <a:pt x="35183" y="44589"/>
                  <a:pt x="43755" y="47446"/>
                </a:cubicBezTo>
                <a:lnTo>
                  <a:pt x="84118" y="60841"/>
                </a:lnTo>
                <a:cubicBezTo>
                  <a:pt x="91321" y="55424"/>
                  <a:pt x="99179" y="50899"/>
                  <a:pt x="107513" y="47268"/>
                </a:cubicBezTo>
                <a:lnTo>
                  <a:pt x="116145" y="5655"/>
                </a:lnTo>
                <a:close/>
                <a:moveTo>
                  <a:pt x="152579" y="200025"/>
                </a:moveTo>
                <a:cubicBezTo>
                  <a:pt x="169593" y="199961"/>
                  <a:pt x="185282" y="190825"/>
                  <a:pt x="193734" y="176058"/>
                </a:cubicBezTo>
                <a:cubicBezTo>
                  <a:pt x="202186" y="161291"/>
                  <a:pt x="202118" y="143136"/>
                  <a:pt x="193555" y="128433"/>
                </a:cubicBezTo>
                <a:cubicBezTo>
                  <a:pt x="184993" y="113730"/>
                  <a:pt x="169236" y="104711"/>
                  <a:pt x="152221" y="104775"/>
                </a:cubicBezTo>
                <a:cubicBezTo>
                  <a:pt x="135207" y="104839"/>
                  <a:pt x="119518" y="113975"/>
                  <a:pt x="111066" y="128742"/>
                </a:cubicBezTo>
                <a:cubicBezTo>
                  <a:pt x="102614" y="143509"/>
                  <a:pt x="102682" y="161664"/>
                  <a:pt x="111245" y="176367"/>
                </a:cubicBezTo>
                <a:cubicBezTo>
                  <a:pt x="119807" y="191070"/>
                  <a:pt x="135564" y="200089"/>
                  <a:pt x="152579" y="200025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9652000" y="5435600"/>
            <a:ext cx="289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配置参数与算法选择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800" y="674730"/>
            <a:ext cx="49980" cy="499800"/>
          </a:xfrm>
          <a:custGeom>
            <a:avLst/>
            <a:gdLst/>
            <a:ahLst/>
            <a:cxnLst/>
            <a:rect l="l" t="t" r="r" b="b"/>
            <a:pathLst>
              <a:path w="49980" h="499800">
                <a:moveTo>
                  <a:pt x="0" y="0"/>
                </a:moveTo>
                <a:lnTo>
                  <a:pt x="49980" y="0"/>
                </a:lnTo>
                <a:lnTo>
                  <a:pt x="49980" y="499800"/>
                </a:lnTo>
                <a:lnTo>
                  <a:pt x="0" y="4998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700" y="499800"/>
            <a:ext cx="5485307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4" b="1" kern="0" spc="79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9700" y="849660"/>
            <a:ext cx="5610257" cy="49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42" dirty="0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集群架构：节点角色与职责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6048" y="1655588"/>
            <a:ext cx="15243905" cy="5046631"/>
          </a:xfrm>
          <a:custGeom>
            <a:avLst/>
            <a:gdLst/>
            <a:ahLst/>
            <a:cxnLst/>
            <a:rect l="l" t="t" r="r" b="b"/>
            <a:pathLst>
              <a:path w="15243905" h="5585267">
                <a:moveTo>
                  <a:pt x="149964" y="0"/>
                </a:moveTo>
                <a:lnTo>
                  <a:pt x="15093940" y="0"/>
                </a:lnTo>
                <a:cubicBezTo>
                  <a:pt x="15176763" y="0"/>
                  <a:pt x="15243905" y="67141"/>
                  <a:pt x="15243905" y="149964"/>
                </a:cubicBezTo>
                <a:lnTo>
                  <a:pt x="15243905" y="5435302"/>
                </a:lnTo>
                <a:cubicBezTo>
                  <a:pt x="15243905" y="5518125"/>
                  <a:pt x="15176763" y="5585267"/>
                  <a:pt x="15093940" y="5585267"/>
                </a:cubicBezTo>
                <a:lnTo>
                  <a:pt x="149964" y="5585267"/>
                </a:lnTo>
                <a:cubicBezTo>
                  <a:pt x="67141" y="5585267"/>
                  <a:pt x="0" y="5518125"/>
                  <a:pt x="0" y="5435302"/>
                </a:cubicBezTo>
                <a:lnTo>
                  <a:pt x="0" y="149964"/>
                </a:lnTo>
                <a:cubicBezTo>
                  <a:pt x="0" y="67197"/>
                  <a:pt x="67197" y="0"/>
                  <a:pt x="14996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4F6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711405"/>
              </p:ext>
            </p:extLst>
          </p:nvPr>
        </p:nvGraphicFramePr>
        <p:xfrm>
          <a:off x="512295" y="1661836"/>
          <a:ext cx="15231409" cy="5046631"/>
        </p:xfrm>
        <a:graphic>
          <a:graphicData uri="http://schemas.openxmlformats.org/drawingml/2006/table">
            <a:tbl>
              <a:tblPr/>
              <a:tblGrid>
                <a:gridCol w="4310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8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89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734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7052">
                <a:tc>
                  <a:txBody>
                    <a:bodyPr/>
                    <a:lstStyle/>
                    <a:p>
                      <a:pPr algn="l"/>
                      <a:r>
                        <a:rPr lang="en-US" sz="1900" b="1" u="none" dirty="0">
                          <a:solidFill>
                            <a:srgbClr val="B89A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节点角色</a:t>
                      </a:r>
                      <a:endParaRPr lang="en-US" sz="1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6A8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b="1" u="none" dirty="0">
                          <a:solidFill>
                            <a:srgbClr val="B89A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主要职责</a:t>
                      </a:r>
                      <a:endParaRPr lang="en-US" sz="1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6A8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u="none" dirty="0">
                          <a:solidFill>
                            <a:srgbClr val="B89A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投票权</a:t>
                      </a:r>
                      <a:endParaRPr lang="en-US" sz="1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6A8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b="1" u="none" dirty="0">
                          <a:solidFill>
                            <a:srgbClr val="B89A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数量限制</a:t>
                      </a:r>
                      <a:endParaRPr lang="en-US" sz="1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6A82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193"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Leader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处理写请求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5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协调事务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5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维护集群状态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有且仅有 1 个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193"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Follower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处理读请求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5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参与投票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5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同步数据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多个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193"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Observer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处理读请求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5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同步数据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5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不参与投票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多个（可选）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24790" y="7546982"/>
            <a:ext cx="49980" cy="1099560"/>
          </a:xfrm>
          <a:custGeom>
            <a:avLst/>
            <a:gdLst/>
            <a:ahLst/>
            <a:cxnLst/>
            <a:rect l="l" t="t" r="r" b="b"/>
            <a:pathLst>
              <a:path w="49980" h="1099560">
                <a:moveTo>
                  <a:pt x="0" y="0"/>
                </a:moveTo>
                <a:lnTo>
                  <a:pt x="49980" y="0"/>
                </a:lnTo>
                <a:lnTo>
                  <a:pt x="49980" y="1099560"/>
                </a:lnTo>
                <a:lnTo>
                  <a:pt x="0" y="109956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765319" y="7596962"/>
            <a:ext cx="281138" cy="249900"/>
          </a:xfrm>
          <a:custGeom>
            <a:avLst/>
            <a:gdLst/>
            <a:ahLst/>
            <a:cxnLst/>
            <a:rect l="l" t="t" r="r" b="b"/>
            <a:pathLst>
              <a:path w="281138" h="249900">
                <a:moveTo>
                  <a:pt x="152771" y="42561"/>
                </a:moveTo>
                <a:cubicBezTo>
                  <a:pt x="157261" y="38998"/>
                  <a:pt x="160092" y="33483"/>
                  <a:pt x="160092" y="27333"/>
                </a:cubicBezTo>
                <a:cubicBezTo>
                  <a:pt x="160092" y="16546"/>
                  <a:pt x="151355" y="7809"/>
                  <a:pt x="140569" y="7809"/>
                </a:cubicBezTo>
                <a:cubicBezTo>
                  <a:pt x="129782" y="7809"/>
                  <a:pt x="121045" y="16546"/>
                  <a:pt x="121045" y="27333"/>
                </a:cubicBezTo>
                <a:cubicBezTo>
                  <a:pt x="121045" y="33483"/>
                  <a:pt x="123925" y="38998"/>
                  <a:pt x="128367" y="42561"/>
                </a:cubicBezTo>
                <a:lnTo>
                  <a:pt x="94982" y="95079"/>
                </a:lnTo>
                <a:cubicBezTo>
                  <a:pt x="90101" y="102742"/>
                  <a:pt x="79704" y="104646"/>
                  <a:pt x="72432" y="99179"/>
                </a:cubicBezTo>
                <a:lnTo>
                  <a:pt x="43391" y="77459"/>
                </a:lnTo>
                <a:cubicBezTo>
                  <a:pt x="45587" y="74336"/>
                  <a:pt x="46856" y="70480"/>
                  <a:pt x="46856" y="66380"/>
                </a:cubicBezTo>
                <a:cubicBezTo>
                  <a:pt x="46856" y="55593"/>
                  <a:pt x="38120" y="46856"/>
                  <a:pt x="27333" y="46856"/>
                </a:cubicBezTo>
                <a:cubicBezTo>
                  <a:pt x="16546" y="46856"/>
                  <a:pt x="7809" y="55593"/>
                  <a:pt x="7809" y="66380"/>
                </a:cubicBezTo>
                <a:cubicBezTo>
                  <a:pt x="7809" y="77020"/>
                  <a:pt x="16351" y="85708"/>
                  <a:pt x="26942" y="85903"/>
                </a:cubicBezTo>
                <a:lnTo>
                  <a:pt x="42854" y="192062"/>
                </a:lnTo>
                <a:cubicBezTo>
                  <a:pt x="45148" y="207339"/>
                  <a:pt x="58277" y="218663"/>
                  <a:pt x="73750" y="218663"/>
                </a:cubicBezTo>
                <a:lnTo>
                  <a:pt x="207388" y="218663"/>
                </a:lnTo>
                <a:cubicBezTo>
                  <a:pt x="222860" y="218663"/>
                  <a:pt x="235990" y="207339"/>
                  <a:pt x="238284" y="192062"/>
                </a:cubicBezTo>
                <a:lnTo>
                  <a:pt x="254195" y="85903"/>
                </a:lnTo>
                <a:cubicBezTo>
                  <a:pt x="264787" y="85708"/>
                  <a:pt x="273328" y="77020"/>
                  <a:pt x="273328" y="66380"/>
                </a:cubicBezTo>
                <a:cubicBezTo>
                  <a:pt x="273328" y="55593"/>
                  <a:pt x="264591" y="46856"/>
                  <a:pt x="253805" y="46856"/>
                </a:cubicBezTo>
                <a:cubicBezTo>
                  <a:pt x="243018" y="46856"/>
                  <a:pt x="234281" y="55593"/>
                  <a:pt x="234281" y="66380"/>
                </a:cubicBezTo>
                <a:cubicBezTo>
                  <a:pt x="234281" y="70480"/>
                  <a:pt x="235550" y="74336"/>
                  <a:pt x="237747" y="77459"/>
                </a:cubicBezTo>
                <a:lnTo>
                  <a:pt x="208754" y="99228"/>
                </a:lnTo>
                <a:cubicBezTo>
                  <a:pt x="201482" y="104694"/>
                  <a:pt x="191086" y="102791"/>
                  <a:pt x="186205" y="95128"/>
                </a:cubicBezTo>
                <a:lnTo>
                  <a:pt x="152771" y="42561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162035" y="7546982"/>
            <a:ext cx="924630" cy="34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8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Leader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700" y="7996802"/>
            <a:ext cx="4735606" cy="64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74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集群的</a:t>
            </a:r>
            <a:r>
              <a:rPr lang="en-US" sz="1574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协调者</a:t>
            </a:r>
            <a:r>
              <a:rPr lang="en-US" sz="1574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，负责处理所有写请求，确保数据一致性。每个集群有且仅有一个 Leader 节点。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11583" y="7546982"/>
            <a:ext cx="49980" cy="1099560"/>
          </a:xfrm>
          <a:custGeom>
            <a:avLst/>
            <a:gdLst/>
            <a:ahLst/>
            <a:cxnLst/>
            <a:rect l="l" t="t" r="r" b="b"/>
            <a:pathLst>
              <a:path w="49980" h="1099560">
                <a:moveTo>
                  <a:pt x="0" y="0"/>
                </a:moveTo>
                <a:lnTo>
                  <a:pt x="49980" y="0"/>
                </a:lnTo>
                <a:lnTo>
                  <a:pt x="49980" y="1099560"/>
                </a:lnTo>
                <a:lnTo>
                  <a:pt x="0" y="1099560"/>
                </a:lnTo>
                <a:lnTo>
                  <a:pt x="0" y="0"/>
                </a:ln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5936493" y="7596962"/>
            <a:ext cx="312375" cy="249900"/>
          </a:xfrm>
          <a:custGeom>
            <a:avLst/>
            <a:gdLst/>
            <a:ahLst/>
            <a:cxnLst/>
            <a:rect l="l" t="t" r="r" b="b"/>
            <a:pathLst>
              <a:path w="312375" h="249900">
                <a:moveTo>
                  <a:pt x="156188" y="7809"/>
                </a:moveTo>
                <a:cubicBezTo>
                  <a:pt x="184203" y="7809"/>
                  <a:pt x="206949" y="30555"/>
                  <a:pt x="206949" y="58570"/>
                </a:cubicBezTo>
                <a:cubicBezTo>
                  <a:pt x="206949" y="86586"/>
                  <a:pt x="184203" y="109331"/>
                  <a:pt x="156188" y="109331"/>
                </a:cubicBezTo>
                <a:cubicBezTo>
                  <a:pt x="128172" y="109331"/>
                  <a:pt x="105427" y="86586"/>
                  <a:pt x="105427" y="58570"/>
                </a:cubicBezTo>
                <a:cubicBezTo>
                  <a:pt x="105427" y="30555"/>
                  <a:pt x="128172" y="7809"/>
                  <a:pt x="156188" y="7809"/>
                </a:cubicBezTo>
                <a:close/>
                <a:moveTo>
                  <a:pt x="46856" y="42952"/>
                </a:moveTo>
                <a:cubicBezTo>
                  <a:pt x="66252" y="42952"/>
                  <a:pt x="81998" y="58698"/>
                  <a:pt x="81998" y="78094"/>
                </a:cubicBezTo>
                <a:cubicBezTo>
                  <a:pt x="81998" y="97489"/>
                  <a:pt x="66252" y="113236"/>
                  <a:pt x="46856" y="113236"/>
                </a:cubicBezTo>
                <a:cubicBezTo>
                  <a:pt x="27461" y="113236"/>
                  <a:pt x="11714" y="97489"/>
                  <a:pt x="11714" y="78094"/>
                </a:cubicBezTo>
                <a:cubicBezTo>
                  <a:pt x="11714" y="58698"/>
                  <a:pt x="27461" y="42952"/>
                  <a:pt x="46856" y="42952"/>
                </a:cubicBezTo>
                <a:close/>
                <a:moveTo>
                  <a:pt x="0" y="203044"/>
                </a:moveTo>
                <a:cubicBezTo>
                  <a:pt x="0" y="168536"/>
                  <a:pt x="27967" y="140569"/>
                  <a:pt x="62475" y="140569"/>
                </a:cubicBezTo>
                <a:cubicBezTo>
                  <a:pt x="68723" y="140569"/>
                  <a:pt x="74775" y="141496"/>
                  <a:pt x="80485" y="143204"/>
                </a:cubicBezTo>
                <a:cubicBezTo>
                  <a:pt x="64427" y="161166"/>
                  <a:pt x="54666" y="184887"/>
                  <a:pt x="54666" y="210853"/>
                </a:cubicBezTo>
                <a:lnTo>
                  <a:pt x="54666" y="218663"/>
                </a:lnTo>
                <a:cubicBezTo>
                  <a:pt x="54666" y="224227"/>
                  <a:pt x="55837" y="229498"/>
                  <a:pt x="57936" y="234281"/>
                </a:cubicBezTo>
                <a:lnTo>
                  <a:pt x="15619" y="234281"/>
                </a:lnTo>
                <a:cubicBezTo>
                  <a:pt x="6980" y="234281"/>
                  <a:pt x="0" y="227302"/>
                  <a:pt x="0" y="218663"/>
                </a:cubicBezTo>
                <a:lnTo>
                  <a:pt x="0" y="203044"/>
                </a:lnTo>
                <a:close/>
                <a:moveTo>
                  <a:pt x="254439" y="234281"/>
                </a:moveTo>
                <a:cubicBezTo>
                  <a:pt x="256538" y="229498"/>
                  <a:pt x="257709" y="224227"/>
                  <a:pt x="257709" y="218663"/>
                </a:cubicBezTo>
                <a:lnTo>
                  <a:pt x="257709" y="210853"/>
                </a:lnTo>
                <a:cubicBezTo>
                  <a:pt x="257709" y="184887"/>
                  <a:pt x="247948" y="161166"/>
                  <a:pt x="231890" y="143204"/>
                </a:cubicBezTo>
                <a:cubicBezTo>
                  <a:pt x="237600" y="141496"/>
                  <a:pt x="243653" y="140569"/>
                  <a:pt x="249900" y="140569"/>
                </a:cubicBezTo>
                <a:cubicBezTo>
                  <a:pt x="284408" y="140569"/>
                  <a:pt x="312375" y="168536"/>
                  <a:pt x="312375" y="203044"/>
                </a:cubicBezTo>
                <a:lnTo>
                  <a:pt x="312375" y="218663"/>
                </a:lnTo>
                <a:cubicBezTo>
                  <a:pt x="312375" y="227302"/>
                  <a:pt x="305395" y="234281"/>
                  <a:pt x="296756" y="234281"/>
                </a:cubicBezTo>
                <a:lnTo>
                  <a:pt x="254439" y="234281"/>
                </a:lnTo>
                <a:close/>
                <a:moveTo>
                  <a:pt x="230377" y="78094"/>
                </a:moveTo>
                <a:cubicBezTo>
                  <a:pt x="230377" y="58698"/>
                  <a:pt x="246123" y="42952"/>
                  <a:pt x="265519" y="42952"/>
                </a:cubicBezTo>
                <a:cubicBezTo>
                  <a:pt x="284914" y="42952"/>
                  <a:pt x="300661" y="58698"/>
                  <a:pt x="300661" y="78094"/>
                </a:cubicBezTo>
                <a:cubicBezTo>
                  <a:pt x="300661" y="97489"/>
                  <a:pt x="284914" y="113236"/>
                  <a:pt x="265519" y="113236"/>
                </a:cubicBezTo>
                <a:cubicBezTo>
                  <a:pt x="246123" y="113236"/>
                  <a:pt x="230377" y="97489"/>
                  <a:pt x="230377" y="78094"/>
                </a:cubicBezTo>
                <a:close/>
                <a:moveTo>
                  <a:pt x="78094" y="210853"/>
                </a:moveTo>
                <a:cubicBezTo>
                  <a:pt x="78094" y="167706"/>
                  <a:pt x="113041" y="132759"/>
                  <a:pt x="156188" y="132759"/>
                </a:cubicBezTo>
                <a:cubicBezTo>
                  <a:pt x="199334" y="132759"/>
                  <a:pt x="234281" y="167706"/>
                  <a:pt x="234281" y="210853"/>
                </a:cubicBezTo>
                <a:lnTo>
                  <a:pt x="234281" y="218663"/>
                </a:lnTo>
                <a:cubicBezTo>
                  <a:pt x="234281" y="227302"/>
                  <a:pt x="227302" y="234281"/>
                  <a:pt x="218663" y="234281"/>
                </a:cubicBezTo>
                <a:lnTo>
                  <a:pt x="93713" y="234281"/>
                </a:lnTo>
                <a:cubicBezTo>
                  <a:pt x="85073" y="234281"/>
                  <a:pt x="78094" y="227302"/>
                  <a:pt x="78094" y="218663"/>
                </a:cubicBezTo>
                <a:lnTo>
                  <a:pt x="78094" y="210853"/>
                </a:ln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6348829" y="7546982"/>
            <a:ext cx="1099560" cy="34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8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Follower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936493" y="7996802"/>
            <a:ext cx="4735606" cy="64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74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集群的</a:t>
            </a:r>
            <a:r>
              <a:rPr lang="en-US" sz="1574" b="1" dirty="0">
                <a:solidFill>
                  <a:srgbClr val="4F6A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参与者</a:t>
            </a:r>
            <a:r>
              <a:rPr lang="en-US" sz="1574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，可以处理读请求并参与投票。是集群的主要组成部分。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898377" y="7546982"/>
            <a:ext cx="49980" cy="1099560"/>
          </a:xfrm>
          <a:custGeom>
            <a:avLst/>
            <a:gdLst/>
            <a:ahLst/>
            <a:cxnLst/>
            <a:rect l="l" t="t" r="r" b="b"/>
            <a:pathLst>
              <a:path w="49980" h="1099560">
                <a:moveTo>
                  <a:pt x="0" y="0"/>
                </a:moveTo>
                <a:lnTo>
                  <a:pt x="49980" y="0"/>
                </a:lnTo>
                <a:lnTo>
                  <a:pt x="49980" y="1099560"/>
                </a:lnTo>
                <a:lnTo>
                  <a:pt x="0" y="1099560"/>
                </a:lnTo>
                <a:lnTo>
                  <a:pt x="0" y="0"/>
                </a:lnTo>
                <a:close/>
              </a:path>
            </a:pathLst>
          </a:custGeom>
          <a:solidFill>
            <a:srgbClr val="3E5C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11138905" y="7596962"/>
            <a:ext cx="281138" cy="249900"/>
          </a:xfrm>
          <a:custGeom>
            <a:avLst/>
            <a:gdLst/>
            <a:ahLst/>
            <a:cxnLst/>
            <a:rect l="l" t="t" r="r" b="b"/>
            <a:pathLst>
              <a:path w="281138" h="249900">
                <a:moveTo>
                  <a:pt x="140569" y="15619"/>
                </a:moveTo>
                <a:cubicBezTo>
                  <a:pt x="101131" y="15619"/>
                  <a:pt x="69552" y="33580"/>
                  <a:pt x="46563" y="54958"/>
                </a:cubicBezTo>
                <a:cubicBezTo>
                  <a:pt x="23721" y="76190"/>
                  <a:pt x="8444" y="101522"/>
                  <a:pt x="1171" y="118947"/>
                </a:cubicBezTo>
                <a:cubicBezTo>
                  <a:pt x="-439" y="122802"/>
                  <a:pt x="-439" y="127098"/>
                  <a:pt x="1171" y="130953"/>
                </a:cubicBezTo>
                <a:cubicBezTo>
                  <a:pt x="8444" y="148378"/>
                  <a:pt x="23721" y="173759"/>
                  <a:pt x="46563" y="194942"/>
                </a:cubicBezTo>
                <a:cubicBezTo>
                  <a:pt x="69552" y="216271"/>
                  <a:pt x="101131" y="234281"/>
                  <a:pt x="140569" y="234281"/>
                </a:cubicBezTo>
                <a:cubicBezTo>
                  <a:pt x="180006" y="234281"/>
                  <a:pt x="211585" y="216320"/>
                  <a:pt x="234574" y="194942"/>
                </a:cubicBezTo>
                <a:cubicBezTo>
                  <a:pt x="257417" y="173710"/>
                  <a:pt x="272694" y="148378"/>
                  <a:pt x="279966" y="130953"/>
                </a:cubicBezTo>
                <a:cubicBezTo>
                  <a:pt x="281577" y="127098"/>
                  <a:pt x="281577" y="122802"/>
                  <a:pt x="279966" y="118947"/>
                </a:cubicBezTo>
                <a:cubicBezTo>
                  <a:pt x="272694" y="101522"/>
                  <a:pt x="257417" y="76141"/>
                  <a:pt x="234574" y="54958"/>
                </a:cubicBezTo>
                <a:cubicBezTo>
                  <a:pt x="211585" y="33629"/>
                  <a:pt x="180006" y="15619"/>
                  <a:pt x="140569" y="15619"/>
                </a:cubicBezTo>
                <a:close/>
                <a:moveTo>
                  <a:pt x="70284" y="124950"/>
                </a:moveTo>
                <a:cubicBezTo>
                  <a:pt x="70284" y="86159"/>
                  <a:pt x="101778" y="54666"/>
                  <a:pt x="140569" y="54666"/>
                </a:cubicBezTo>
                <a:cubicBezTo>
                  <a:pt x="179360" y="54666"/>
                  <a:pt x="210853" y="86159"/>
                  <a:pt x="210853" y="124950"/>
                </a:cubicBezTo>
                <a:cubicBezTo>
                  <a:pt x="210853" y="163741"/>
                  <a:pt x="179360" y="195234"/>
                  <a:pt x="140569" y="195234"/>
                </a:cubicBezTo>
                <a:cubicBezTo>
                  <a:pt x="101778" y="195234"/>
                  <a:pt x="70284" y="163741"/>
                  <a:pt x="70284" y="124950"/>
                </a:cubicBezTo>
                <a:close/>
                <a:moveTo>
                  <a:pt x="140569" y="93713"/>
                </a:moveTo>
                <a:cubicBezTo>
                  <a:pt x="140569" y="110942"/>
                  <a:pt x="126561" y="124950"/>
                  <a:pt x="109331" y="124950"/>
                </a:cubicBezTo>
                <a:cubicBezTo>
                  <a:pt x="103718" y="124950"/>
                  <a:pt x="98447" y="123486"/>
                  <a:pt x="93859" y="120850"/>
                </a:cubicBezTo>
                <a:cubicBezTo>
                  <a:pt x="93371" y="126170"/>
                  <a:pt x="93810" y="131637"/>
                  <a:pt x="95274" y="137055"/>
                </a:cubicBezTo>
                <a:cubicBezTo>
                  <a:pt x="101961" y="162045"/>
                  <a:pt x="127683" y="176882"/>
                  <a:pt x="152673" y="170196"/>
                </a:cubicBezTo>
                <a:cubicBezTo>
                  <a:pt x="177663" y="163509"/>
                  <a:pt x="192501" y="137787"/>
                  <a:pt x="185814" y="112797"/>
                </a:cubicBezTo>
                <a:cubicBezTo>
                  <a:pt x="179860" y="90491"/>
                  <a:pt x="158726" y="76288"/>
                  <a:pt x="136469" y="78240"/>
                </a:cubicBezTo>
                <a:cubicBezTo>
                  <a:pt x="139056" y="82779"/>
                  <a:pt x="140569" y="88051"/>
                  <a:pt x="140569" y="93713"/>
                </a:cubicBezTo>
                <a:close/>
              </a:path>
            </a:pathLst>
          </a:custGeom>
          <a:solidFill>
            <a:srgbClr val="3E5C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11535622" y="7546982"/>
            <a:ext cx="1174530" cy="34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8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Observer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123287" y="7996802"/>
            <a:ext cx="4735606" cy="64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74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集群的</a:t>
            </a:r>
            <a:r>
              <a:rPr lang="en-US" sz="1574" b="1" dirty="0">
                <a:solidFill>
                  <a:srgbClr val="3E5C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观察者</a:t>
            </a:r>
            <a:r>
              <a:rPr lang="en-US" sz="1574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，只同步数据不参与投票，可提高读性能而不影响选举。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7208" y="603730"/>
            <a:ext cx="44721" cy="447208"/>
          </a:xfrm>
          <a:custGeom>
            <a:avLst/>
            <a:gdLst/>
            <a:ahLst/>
            <a:cxnLst/>
            <a:rect l="l" t="t" r="r" b="b"/>
            <a:pathLst>
              <a:path w="44721" h="447208">
                <a:moveTo>
                  <a:pt x="0" y="0"/>
                </a:moveTo>
                <a:lnTo>
                  <a:pt x="44721" y="0"/>
                </a:lnTo>
                <a:lnTo>
                  <a:pt x="44721" y="447208"/>
                </a:lnTo>
                <a:lnTo>
                  <a:pt x="0" y="447208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0812" y="447208"/>
            <a:ext cx="3309337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9" b="1" kern="0" spc="70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 DESIGN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0812" y="760253"/>
            <a:ext cx="3421139" cy="44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69" dirty="0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集群规模设计原则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2798" y="1481376"/>
            <a:ext cx="15350404" cy="3253436"/>
          </a:xfrm>
          <a:custGeom>
            <a:avLst/>
            <a:gdLst/>
            <a:ahLst/>
            <a:cxnLst/>
            <a:rect l="l" t="t" r="r" b="b"/>
            <a:pathLst>
              <a:path w="15350404" h="3253436">
                <a:moveTo>
                  <a:pt x="134172" y="0"/>
                </a:moveTo>
                <a:lnTo>
                  <a:pt x="15216233" y="0"/>
                </a:lnTo>
                <a:cubicBezTo>
                  <a:pt x="15290334" y="0"/>
                  <a:pt x="15350404" y="60071"/>
                  <a:pt x="15350404" y="134172"/>
                </a:cubicBezTo>
                <a:lnTo>
                  <a:pt x="15350404" y="3119264"/>
                </a:lnTo>
                <a:cubicBezTo>
                  <a:pt x="15350404" y="3193365"/>
                  <a:pt x="15290334" y="3253436"/>
                  <a:pt x="15216233" y="3253436"/>
                </a:cubicBezTo>
                <a:lnTo>
                  <a:pt x="134172" y="3253436"/>
                </a:lnTo>
                <a:cubicBezTo>
                  <a:pt x="60071" y="3253436"/>
                  <a:pt x="0" y="3193365"/>
                  <a:pt x="0" y="3119264"/>
                </a:cubicBezTo>
                <a:lnTo>
                  <a:pt x="0" y="134172"/>
                </a:lnTo>
                <a:cubicBezTo>
                  <a:pt x="0" y="60071"/>
                  <a:pt x="60071" y="0"/>
                  <a:pt x="13417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4F6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8388" y="1486966"/>
          <a:ext cx="15339224" cy="3242256"/>
        </p:xfrm>
        <a:graphic>
          <a:graphicData uri="http://schemas.openxmlformats.org/drawingml/2006/table">
            <a:tbl>
              <a:tblPr/>
              <a:tblGrid>
                <a:gridCol w="3298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8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0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18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0564">
                <a:tc>
                  <a:txBody>
                    <a:bodyPr/>
                    <a:lstStyle/>
                    <a:p>
                      <a:pPr algn="l"/>
                      <a:r>
                        <a:rPr lang="en-US" sz="1700" b="1" u="none" dirty="0">
                          <a:solidFill>
                            <a:srgbClr val="B89A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集群规模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6A8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u="none" dirty="0">
                          <a:solidFill>
                            <a:srgbClr val="B89A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容错能力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6A8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u="none" dirty="0">
                          <a:solidFill>
                            <a:srgbClr val="B89A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最小仲裁数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6A8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u="none" dirty="0">
                          <a:solidFill>
                            <a:srgbClr val="B89A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6A82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564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节点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容忍 1 个 故障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开发测试环境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0564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节点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容忍 2 个 故障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生产环境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0564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 节点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容忍 3 个 故障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高可用要求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469568" y="5008726"/>
            <a:ext cx="44721" cy="3689464"/>
          </a:xfrm>
          <a:custGeom>
            <a:avLst/>
            <a:gdLst/>
            <a:ahLst/>
            <a:cxnLst/>
            <a:rect l="l" t="t" r="r" b="b"/>
            <a:pathLst>
              <a:path w="44721" h="3689464">
                <a:moveTo>
                  <a:pt x="0" y="0"/>
                </a:moveTo>
                <a:lnTo>
                  <a:pt x="44721" y="0"/>
                </a:lnTo>
                <a:lnTo>
                  <a:pt x="44721" y="3689464"/>
                </a:lnTo>
                <a:lnTo>
                  <a:pt x="0" y="3689464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749073" y="5053447"/>
            <a:ext cx="268325" cy="268325"/>
          </a:xfrm>
          <a:custGeom>
            <a:avLst/>
            <a:gdLst/>
            <a:ahLst/>
            <a:cxnLst/>
            <a:rect l="l" t="t" r="r" b="b"/>
            <a:pathLst>
              <a:path w="268325" h="268325">
                <a:moveTo>
                  <a:pt x="134162" y="268325"/>
                </a:moveTo>
                <a:cubicBezTo>
                  <a:pt x="208209" y="268325"/>
                  <a:pt x="268325" y="208209"/>
                  <a:pt x="268325" y="134162"/>
                </a:cubicBezTo>
                <a:cubicBezTo>
                  <a:pt x="268325" y="60116"/>
                  <a:pt x="208209" y="0"/>
                  <a:pt x="134162" y="0"/>
                </a:cubicBezTo>
                <a:cubicBezTo>
                  <a:pt x="60116" y="0"/>
                  <a:pt x="0" y="60116"/>
                  <a:pt x="0" y="134162"/>
                </a:cubicBezTo>
                <a:cubicBezTo>
                  <a:pt x="0" y="208209"/>
                  <a:pt x="60116" y="268325"/>
                  <a:pt x="134162" y="268325"/>
                </a:cubicBezTo>
                <a:close/>
                <a:moveTo>
                  <a:pt x="134162" y="92237"/>
                </a:moveTo>
                <a:cubicBezTo>
                  <a:pt x="124886" y="92237"/>
                  <a:pt x="117392" y="99731"/>
                  <a:pt x="117392" y="109007"/>
                </a:cubicBezTo>
                <a:cubicBezTo>
                  <a:pt x="117392" y="115977"/>
                  <a:pt x="111784" y="121585"/>
                  <a:pt x="104814" y="121585"/>
                </a:cubicBezTo>
                <a:cubicBezTo>
                  <a:pt x="97844" y="121585"/>
                  <a:pt x="92237" y="115977"/>
                  <a:pt x="92237" y="109007"/>
                </a:cubicBezTo>
                <a:cubicBezTo>
                  <a:pt x="92237" y="85843"/>
                  <a:pt x="110998" y="67081"/>
                  <a:pt x="134162" y="67081"/>
                </a:cubicBezTo>
                <a:cubicBezTo>
                  <a:pt x="157326" y="67081"/>
                  <a:pt x="176088" y="85843"/>
                  <a:pt x="176088" y="109007"/>
                </a:cubicBezTo>
                <a:cubicBezTo>
                  <a:pt x="176088" y="133743"/>
                  <a:pt x="157221" y="144224"/>
                  <a:pt x="146740" y="148050"/>
                </a:cubicBezTo>
                <a:lnTo>
                  <a:pt x="146740" y="150042"/>
                </a:lnTo>
                <a:cubicBezTo>
                  <a:pt x="146740" y="157012"/>
                  <a:pt x="141132" y="162619"/>
                  <a:pt x="134162" y="162619"/>
                </a:cubicBezTo>
                <a:cubicBezTo>
                  <a:pt x="127192" y="162619"/>
                  <a:pt x="121585" y="157012"/>
                  <a:pt x="121585" y="150042"/>
                </a:cubicBezTo>
                <a:lnTo>
                  <a:pt x="121585" y="145797"/>
                </a:lnTo>
                <a:cubicBezTo>
                  <a:pt x="121585" y="135053"/>
                  <a:pt x="129341" y="127349"/>
                  <a:pt x="137359" y="124729"/>
                </a:cubicBezTo>
                <a:cubicBezTo>
                  <a:pt x="140713" y="123628"/>
                  <a:pt x="144277" y="121847"/>
                  <a:pt x="146897" y="119331"/>
                </a:cubicBezTo>
                <a:cubicBezTo>
                  <a:pt x="149151" y="117130"/>
                  <a:pt x="150933" y="114090"/>
                  <a:pt x="150933" y="109059"/>
                </a:cubicBezTo>
                <a:cubicBezTo>
                  <a:pt x="150933" y="99783"/>
                  <a:pt x="143438" y="92289"/>
                  <a:pt x="134162" y="92289"/>
                </a:cubicBezTo>
                <a:close/>
                <a:moveTo>
                  <a:pt x="117392" y="192858"/>
                </a:moveTo>
                <a:cubicBezTo>
                  <a:pt x="117392" y="183603"/>
                  <a:pt x="124907" y="176088"/>
                  <a:pt x="134162" y="176088"/>
                </a:cubicBezTo>
                <a:cubicBezTo>
                  <a:pt x="143418" y="176088"/>
                  <a:pt x="150933" y="183603"/>
                  <a:pt x="150933" y="192858"/>
                </a:cubicBezTo>
                <a:cubicBezTo>
                  <a:pt x="150933" y="202114"/>
                  <a:pt x="143418" y="209629"/>
                  <a:pt x="134162" y="209629"/>
                </a:cubicBezTo>
                <a:cubicBezTo>
                  <a:pt x="124907" y="209629"/>
                  <a:pt x="117392" y="202114"/>
                  <a:pt x="117392" y="192858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185100" y="5008726"/>
            <a:ext cx="3085733" cy="357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13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为什么采用奇数个节点？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5532" y="5545376"/>
            <a:ext cx="7378927" cy="313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5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过半数机制 (Majority Quorum)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5532" y="5947862"/>
            <a:ext cx="7367747" cy="581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9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ZooKeeper 要求获得</a:t>
            </a:r>
            <a:r>
              <a:rPr lang="en-US" sz="1409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过半数节点支持</a:t>
            </a:r>
            <a:r>
              <a:rPr lang="en-US" sz="1409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才能形成仲裁，确保在网络分区时只有一个分区能继续服务。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15532" y="6663395"/>
            <a:ext cx="7378927" cy="313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5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防止"脑裂"问题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15532" y="7065882"/>
            <a:ext cx="7367747" cy="290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9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奇数节点确保无法对称分裂，避免多个分区同时认为自己是多数派，保证数据一致性。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285746" y="5008726"/>
            <a:ext cx="44721" cy="1520506"/>
          </a:xfrm>
          <a:custGeom>
            <a:avLst/>
            <a:gdLst/>
            <a:ahLst/>
            <a:cxnLst/>
            <a:rect l="l" t="t" r="r" b="b"/>
            <a:pathLst>
              <a:path w="44721" h="1520506">
                <a:moveTo>
                  <a:pt x="0" y="0"/>
                </a:moveTo>
                <a:lnTo>
                  <a:pt x="44721" y="0"/>
                </a:lnTo>
                <a:lnTo>
                  <a:pt x="44721" y="1520506"/>
                </a:lnTo>
                <a:lnTo>
                  <a:pt x="0" y="1520506"/>
                </a:lnTo>
                <a:lnTo>
                  <a:pt x="0" y="0"/>
                </a:ln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8587611" y="5053447"/>
            <a:ext cx="167703" cy="223604"/>
          </a:xfrm>
          <a:custGeom>
            <a:avLst/>
            <a:gdLst/>
            <a:ahLst/>
            <a:cxnLst/>
            <a:rect l="l" t="t" r="r" b="b"/>
            <a:pathLst>
              <a:path w="167703" h="223604">
                <a:moveTo>
                  <a:pt x="27950" y="0"/>
                </a:moveTo>
                <a:cubicBezTo>
                  <a:pt x="12534" y="0"/>
                  <a:pt x="0" y="12534"/>
                  <a:pt x="0" y="27950"/>
                </a:cubicBezTo>
                <a:lnTo>
                  <a:pt x="0" y="195653"/>
                </a:lnTo>
                <a:cubicBezTo>
                  <a:pt x="0" y="211070"/>
                  <a:pt x="12534" y="223604"/>
                  <a:pt x="27950" y="223604"/>
                </a:cubicBezTo>
                <a:lnTo>
                  <a:pt x="139752" y="223604"/>
                </a:lnTo>
                <a:cubicBezTo>
                  <a:pt x="155169" y="223604"/>
                  <a:pt x="167703" y="211070"/>
                  <a:pt x="167703" y="195653"/>
                </a:cubicBezTo>
                <a:lnTo>
                  <a:pt x="167703" y="27950"/>
                </a:lnTo>
                <a:cubicBezTo>
                  <a:pt x="167703" y="12534"/>
                  <a:pt x="155169" y="0"/>
                  <a:pt x="139752" y="0"/>
                </a:cubicBezTo>
                <a:lnTo>
                  <a:pt x="27950" y="0"/>
                </a:lnTo>
                <a:close/>
                <a:moveTo>
                  <a:pt x="41926" y="27950"/>
                </a:moveTo>
                <a:lnTo>
                  <a:pt x="125777" y="27950"/>
                </a:lnTo>
                <a:cubicBezTo>
                  <a:pt x="133507" y="27950"/>
                  <a:pt x="139752" y="34196"/>
                  <a:pt x="139752" y="41926"/>
                </a:cubicBezTo>
                <a:lnTo>
                  <a:pt x="139752" y="55901"/>
                </a:lnTo>
                <a:cubicBezTo>
                  <a:pt x="139752" y="63631"/>
                  <a:pt x="133507" y="69876"/>
                  <a:pt x="125777" y="69876"/>
                </a:cubicBezTo>
                <a:lnTo>
                  <a:pt x="41926" y="69876"/>
                </a:lnTo>
                <a:cubicBezTo>
                  <a:pt x="34196" y="69876"/>
                  <a:pt x="27950" y="63631"/>
                  <a:pt x="27950" y="55901"/>
                </a:cubicBezTo>
                <a:lnTo>
                  <a:pt x="27950" y="41926"/>
                </a:lnTo>
                <a:cubicBezTo>
                  <a:pt x="27950" y="34196"/>
                  <a:pt x="34196" y="27950"/>
                  <a:pt x="41926" y="27950"/>
                </a:cubicBezTo>
                <a:close/>
                <a:moveTo>
                  <a:pt x="48913" y="101320"/>
                </a:moveTo>
                <a:cubicBezTo>
                  <a:pt x="48913" y="107105"/>
                  <a:pt x="44217" y="111802"/>
                  <a:pt x="38432" y="111802"/>
                </a:cubicBezTo>
                <a:cubicBezTo>
                  <a:pt x="32647" y="111802"/>
                  <a:pt x="27950" y="107105"/>
                  <a:pt x="27950" y="101320"/>
                </a:cubicBezTo>
                <a:cubicBezTo>
                  <a:pt x="27950" y="95536"/>
                  <a:pt x="32647" y="90839"/>
                  <a:pt x="38432" y="90839"/>
                </a:cubicBezTo>
                <a:cubicBezTo>
                  <a:pt x="44217" y="90839"/>
                  <a:pt x="48913" y="95536"/>
                  <a:pt x="48913" y="101320"/>
                </a:cubicBezTo>
                <a:close/>
                <a:moveTo>
                  <a:pt x="83851" y="111802"/>
                </a:moveTo>
                <a:cubicBezTo>
                  <a:pt x="78067" y="111802"/>
                  <a:pt x="73370" y="107105"/>
                  <a:pt x="73370" y="101320"/>
                </a:cubicBezTo>
                <a:cubicBezTo>
                  <a:pt x="73370" y="95536"/>
                  <a:pt x="78067" y="90839"/>
                  <a:pt x="83851" y="90839"/>
                </a:cubicBezTo>
                <a:cubicBezTo>
                  <a:pt x="89636" y="90839"/>
                  <a:pt x="94333" y="95536"/>
                  <a:pt x="94333" y="101320"/>
                </a:cubicBezTo>
                <a:cubicBezTo>
                  <a:pt x="94333" y="107105"/>
                  <a:pt x="89636" y="111802"/>
                  <a:pt x="83851" y="111802"/>
                </a:cubicBezTo>
                <a:close/>
                <a:moveTo>
                  <a:pt x="139752" y="101320"/>
                </a:moveTo>
                <a:cubicBezTo>
                  <a:pt x="139752" y="107105"/>
                  <a:pt x="135056" y="111802"/>
                  <a:pt x="129271" y="111802"/>
                </a:cubicBezTo>
                <a:cubicBezTo>
                  <a:pt x="123486" y="111802"/>
                  <a:pt x="118790" y="107105"/>
                  <a:pt x="118790" y="101320"/>
                </a:cubicBezTo>
                <a:cubicBezTo>
                  <a:pt x="118790" y="95536"/>
                  <a:pt x="123486" y="90839"/>
                  <a:pt x="129271" y="90839"/>
                </a:cubicBezTo>
                <a:cubicBezTo>
                  <a:pt x="135056" y="90839"/>
                  <a:pt x="139752" y="95536"/>
                  <a:pt x="139752" y="101320"/>
                </a:cubicBezTo>
                <a:close/>
                <a:moveTo>
                  <a:pt x="38432" y="153728"/>
                </a:moveTo>
                <a:cubicBezTo>
                  <a:pt x="32647" y="153728"/>
                  <a:pt x="27950" y="149031"/>
                  <a:pt x="27950" y="143246"/>
                </a:cubicBezTo>
                <a:cubicBezTo>
                  <a:pt x="27950" y="137461"/>
                  <a:pt x="32647" y="132765"/>
                  <a:pt x="38432" y="132765"/>
                </a:cubicBezTo>
                <a:cubicBezTo>
                  <a:pt x="44217" y="132765"/>
                  <a:pt x="48913" y="137461"/>
                  <a:pt x="48913" y="143246"/>
                </a:cubicBezTo>
                <a:cubicBezTo>
                  <a:pt x="48913" y="149031"/>
                  <a:pt x="44217" y="153728"/>
                  <a:pt x="38432" y="153728"/>
                </a:cubicBezTo>
                <a:close/>
                <a:moveTo>
                  <a:pt x="94333" y="143246"/>
                </a:moveTo>
                <a:cubicBezTo>
                  <a:pt x="94333" y="149031"/>
                  <a:pt x="89636" y="153728"/>
                  <a:pt x="83851" y="153728"/>
                </a:cubicBezTo>
                <a:cubicBezTo>
                  <a:pt x="78067" y="153728"/>
                  <a:pt x="73370" y="149031"/>
                  <a:pt x="73370" y="143246"/>
                </a:cubicBezTo>
                <a:cubicBezTo>
                  <a:pt x="73370" y="137461"/>
                  <a:pt x="78067" y="132765"/>
                  <a:pt x="83851" y="132765"/>
                </a:cubicBezTo>
                <a:cubicBezTo>
                  <a:pt x="89636" y="132765"/>
                  <a:pt x="94333" y="137461"/>
                  <a:pt x="94333" y="143246"/>
                </a:cubicBezTo>
                <a:close/>
                <a:moveTo>
                  <a:pt x="129271" y="153728"/>
                </a:moveTo>
                <a:cubicBezTo>
                  <a:pt x="123486" y="153728"/>
                  <a:pt x="118790" y="149031"/>
                  <a:pt x="118790" y="143246"/>
                </a:cubicBezTo>
                <a:cubicBezTo>
                  <a:pt x="118790" y="137461"/>
                  <a:pt x="123486" y="132765"/>
                  <a:pt x="129271" y="132765"/>
                </a:cubicBezTo>
                <a:cubicBezTo>
                  <a:pt x="135056" y="132765"/>
                  <a:pt x="139752" y="137461"/>
                  <a:pt x="139752" y="143246"/>
                </a:cubicBezTo>
                <a:cubicBezTo>
                  <a:pt x="139752" y="149031"/>
                  <a:pt x="135056" y="153728"/>
                  <a:pt x="129271" y="153728"/>
                </a:cubicBezTo>
                <a:close/>
                <a:moveTo>
                  <a:pt x="27950" y="185172"/>
                </a:moveTo>
                <a:cubicBezTo>
                  <a:pt x="27950" y="179363"/>
                  <a:pt x="32623" y="174691"/>
                  <a:pt x="38432" y="174691"/>
                </a:cubicBezTo>
                <a:lnTo>
                  <a:pt x="87345" y="174691"/>
                </a:lnTo>
                <a:cubicBezTo>
                  <a:pt x="93154" y="174691"/>
                  <a:pt x="97827" y="179363"/>
                  <a:pt x="97827" y="185172"/>
                </a:cubicBezTo>
                <a:cubicBezTo>
                  <a:pt x="97827" y="190980"/>
                  <a:pt x="93154" y="195653"/>
                  <a:pt x="87345" y="195653"/>
                </a:cubicBezTo>
                <a:lnTo>
                  <a:pt x="38432" y="195653"/>
                </a:lnTo>
                <a:cubicBezTo>
                  <a:pt x="32623" y="195653"/>
                  <a:pt x="27950" y="190980"/>
                  <a:pt x="27950" y="185172"/>
                </a:cubicBezTo>
                <a:close/>
                <a:moveTo>
                  <a:pt x="129271" y="174691"/>
                </a:moveTo>
                <a:cubicBezTo>
                  <a:pt x="135079" y="174691"/>
                  <a:pt x="139752" y="179363"/>
                  <a:pt x="139752" y="185172"/>
                </a:cubicBezTo>
                <a:cubicBezTo>
                  <a:pt x="139752" y="190980"/>
                  <a:pt x="135079" y="195653"/>
                  <a:pt x="129271" y="195653"/>
                </a:cubicBezTo>
                <a:cubicBezTo>
                  <a:pt x="123463" y="195653"/>
                  <a:pt x="118790" y="190980"/>
                  <a:pt x="118790" y="185172"/>
                </a:cubicBezTo>
                <a:cubicBezTo>
                  <a:pt x="118790" y="179363"/>
                  <a:pt x="123463" y="174691"/>
                  <a:pt x="129271" y="174691"/>
                </a:cubicBez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8900656" y="5008726"/>
            <a:ext cx="1677029" cy="313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1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仲裁数计算公式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531710" y="5455934"/>
            <a:ext cx="7278305" cy="1073298"/>
          </a:xfrm>
          <a:custGeom>
            <a:avLst/>
            <a:gdLst/>
            <a:ahLst/>
            <a:cxnLst/>
            <a:rect l="l" t="t" r="r" b="b"/>
            <a:pathLst>
              <a:path w="7278305" h="1073298">
                <a:moveTo>
                  <a:pt x="134162" y="0"/>
                </a:moveTo>
                <a:lnTo>
                  <a:pt x="7144143" y="0"/>
                </a:lnTo>
                <a:cubicBezTo>
                  <a:pt x="7218239" y="0"/>
                  <a:pt x="7278305" y="60067"/>
                  <a:pt x="7278305" y="134162"/>
                </a:cubicBezTo>
                <a:lnTo>
                  <a:pt x="7278305" y="939136"/>
                </a:lnTo>
                <a:cubicBezTo>
                  <a:pt x="7278305" y="1013232"/>
                  <a:pt x="7218239" y="1073298"/>
                  <a:pt x="7144143" y="1073298"/>
                </a:cubicBezTo>
                <a:lnTo>
                  <a:pt x="134162" y="1073298"/>
                </a:lnTo>
                <a:cubicBezTo>
                  <a:pt x="60067" y="1073298"/>
                  <a:pt x="0" y="1013232"/>
                  <a:pt x="0" y="939136"/>
                </a:cubicBezTo>
                <a:lnTo>
                  <a:pt x="0" y="134162"/>
                </a:lnTo>
                <a:cubicBezTo>
                  <a:pt x="0" y="60116"/>
                  <a:pt x="60116" y="0"/>
                  <a:pt x="134162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8643512" y="5634817"/>
            <a:ext cx="7054702" cy="357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113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⌊ N / 2 ⌋ + 1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665872" y="6082025"/>
            <a:ext cx="7009981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9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其中 N 为集群节点总数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285746" y="6708116"/>
            <a:ext cx="44721" cy="1990074"/>
          </a:xfrm>
          <a:custGeom>
            <a:avLst/>
            <a:gdLst/>
            <a:ahLst/>
            <a:cxnLst/>
            <a:rect l="l" t="t" r="r" b="b"/>
            <a:pathLst>
              <a:path w="44721" h="1990074">
                <a:moveTo>
                  <a:pt x="0" y="0"/>
                </a:moveTo>
                <a:lnTo>
                  <a:pt x="44721" y="0"/>
                </a:lnTo>
                <a:lnTo>
                  <a:pt x="44721" y="1990074"/>
                </a:lnTo>
                <a:lnTo>
                  <a:pt x="0" y="1990074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8559660" y="6752836"/>
            <a:ext cx="223604" cy="223604"/>
          </a:xfrm>
          <a:custGeom>
            <a:avLst/>
            <a:gdLst/>
            <a:ahLst/>
            <a:cxnLst/>
            <a:rect l="l" t="t" r="r" b="b"/>
            <a:pathLst>
              <a:path w="223604" h="223604">
                <a:moveTo>
                  <a:pt x="111802" y="0"/>
                </a:moveTo>
                <a:cubicBezTo>
                  <a:pt x="113811" y="0"/>
                  <a:pt x="115820" y="437"/>
                  <a:pt x="117654" y="1267"/>
                </a:cubicBezTo>
                <a:lnTo>
                  <a:pt x="199933" y="36161"/>
                </a:lnTo>
                <a:cubicBezTo>
                  <a:pt x="209541" y="40222"/>
                  <a:pt x="216704" y="49699"/>
                  <a:pt x="216660" y="61142"/>
                </a:cubicBezTo>
                <a:cubicBezTo>
                  <a:pt x="216442" y="104465"/>
                  <a:pt x="198623" y="183731"/>
                  <a:pt x="123375" y="219761"/>
                </a:cubicBezTo>
                <a:cubicBezTo>
                  <a:pt x="116082" y="223254"/>
                  <a:pt x="107609" y="223254"/>
                  <a:pt x="100316" y="219761"/>
                </a:cubicBezTo>
                <a:cubicBezTo>
                  <a:pt x="25024" y="183731"/>
                  <a:pt x="7250" y="104465"/>
                  <a:pt x="7031" y="61142"/>
                </a:cubicBezTo>
                <a:cubicBezTo>
                  <a:pt x="6988" y="49699"/>
                  <a:pt x="14150" y="40222"/>
                  <a:pt x="23758" y="36161"/>
                </a:cubicBezTo>
                <a:lnTo>
                  <a:pt x="105993" y="1267"/>
                </a:lnTo>
                <a:cubicBezTo>
                  <a:pt x="107828" y="437"/>
                  <a:pt x="109793" y="0"/>
                  <a:pt x="111802" y="0"/>
                </a:cubicBezTo>
                <a:close/>
                <a:moveTo>
                  <a:pt x="111802" y="29173"/>
                </a:moveTo>
                <a:lnTo>
                  <a:pt x="111802" y="194300"/>
                </a:lnTo>
                <a:cubicBezTo>
                  <a:pt x="172070" y="165126"/>
                  <a:pt x="188273" y="100491"/>
                  <a:pt x="188666" y="61797"/>
                </a:cubicBezTo>
                <a:lnTo>
                  <a:pt x="111802" y="29217"/>
                </a:lnTo>
                <a:lnTo>
                  <a:pt x="111802" y="29217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8900656" y="6708116"/>
            <a:ext cx="1453425" cy="313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1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容错能力对比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531710" y="7177684"/>
            <a:ext cx="961497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9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 节点集群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4609542" y="7155323"/>
            <a:ext cx="1296902" cy="313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5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容忍 1 个故障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531710" y="7580171"/>
            <a:ext cx="961497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9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节点集群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4609542" y="7557810"/>
            <a:ext cx="1296902" cy="313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5" b="1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同样容忍 1 个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531710" y="7982657"/>
            <a:ext cx="961497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9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 节点集群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4575565" y="7960297"/>
            <a:ext cx="1341623" cy="313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5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容忍 2 个故障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531710" y="8407505"/>
            <a:ext cx="7367747" cy="290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9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结论：</a:t>
            </a:r>
            <a:r>
              <a:rPr lang="en-US" sz="1409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偶数节点并不能提升容错能力，反而增加资源消耗和通信开销。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858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557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VOTING MECHANISM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63600"/>
            <a:ext cx="570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投票机制：格式与比较算法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6100" y="1727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9231" y="136029"/>
                </a:moveTo>
                <a:cubicBezTo>
                  <a:pt x="47149" y="80665"/>
                  <a:pt x="94833" y="38100"/>
                  <a:pt x="152400" y="38100"/>
                </a:cubicBezTo>
                <a:cubicBezTo>
                  <a:pt x="183952" y="38100"/>
                  <a:pt x="212527" y="50899"/>
                  <a:pt x="233243" y="71557"/>
                </a:cubicBezTo>
                <a:cubicBezTo>
                  <a:pt x="233363" y="71676"/>
                  <a:pt x="233482" y="71795"/>
                  <a:pt x="233601" y="71914"/>
                </a:cubicBezTo>
                <a:lnTo>
                  <a:pt x="238125" y="76200"/>
                </a:lnTo>
                <a:lnTo>
                  <a:pt x="209610" y="76200"/>
                </a:lnTo>
                <a:cubicBezTo>
                  <a:pt x="199073" y="76200"/>
                  <a:pt x="190560" y="84713"/>
                  <a:pt x="190560" y="95250"/>
                </a:cubicBezTo>
                <a:cubicBezTo>
                  <a:pt x="190560" y="105787"/>
                  <a:pt x="199073" y="114300"/>
                  <a:pt x="209610" y="114300"/>
                </a:cubicBezTo>
                <a:lnTo>
                  <a:pt x="285810" y="114300"/>
                </a:lnTo>
                <a:cubicBezTo>
                  <a:pt x="296347" y="114300"/>
                  <a:pt x="304860" y="105787"/>
                  <a:pt x="304860" y="95250"/>
                </a:cubicBezTo>
                <a:lnTo>
                  <a:pt x="304860" y="19050"/>
                </a:lnTo>
                <a:cubicBezTo>
                  <a:pt x="304860" y="8513"/>
                  <a:pt x="296347" y="0"/>
                  <a:pt x="285810" y="0"/>
                </a:cubicBezTo>
                <a:cubicBezTo>
                  <a:pt x="275273" y="0"/>
                  <a:pt x="266760" y="8513"/>
                  <a:pt x="266760" y="19050"/>
                </a:cubicBezTo>
                <a:lnTo>
                  <a:pt x="266760" y="50840"/>
                </a:lnTo>
                <a:lnTo>
                  <a:pt x="260033" y="44470"/>
                </a:lnTo>
                <a:cubicBezTo>
                  <a:pt x="232470" y="17026"/>
                  <a:pt x="194370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lose/>
                <a:moveTo>
                  <a:pt x="303252" y="174129"/>
                </a:moveTo>
                <a:cubicBezTo>
                  <a:pt x="304740" y="163711"/>
                  <a:pt x="297478" y="154067"/>
                  <a:pt x="287119" y="152579"/>
                </a:cubicBezTo>
                <a:cubicBezTo>
                  <a:pt x="276761" y="151090"/>
                  <a:pt x="267057" y="158353"/>
                  <a:pt x="265569" y="168712"/>
                </a:cubicBezTo>
                <a:cubicBezTo>
                  <a:pt x="257651" y="224076"/>
                  <a:pt x="209967" y="266640"/>
                  <a:pt x="152400" y="266640"/>
                </a:cubicBezTo>
                <a:cubicBezTo>
                  <a:pt x="120848" y="266640"/>
                  <a:pt x="92273" y="253841"/>
                  <a:pt x="71557" y="233184"/>
                </a:cubicBezTo>
                <a:cubicBezTo>
                  <a:pt x="71437" y="233065"/>
                  <a:pt x="71318" y="232946"/>
                  <a:pt x="71199" y="232827"/>
                </a:cubicBezTo>
                <a:lnTo>
                  <a:pt x="66675" y="228540"/>
                </a:lnTo>
                <a:lnTo>
                  <a:pt x="95190" y="228540"/>
                </a:lnTo>
                <a:cubicBezTo>
                  <a:pt x="105727" y="228540"/>
                  <a:pt x="114240" y="220028"/>
                  <a:pt x="114240" y="209490"/>
                </a:cubicBezTo>
                <a:cubicBezTo>
                  <a:pt x="114240" y="198953"/>
                  <a:pt x="105727" y="190440"/>
                  <a:pt x="95190" y="190440"/>
                </a:cubicBezTo>
                <a:lnTo>
                  <a:pt x="19050" y="190500"/>
                </a:lnTo>
                <a:cubicBezTo>
                  <a:pt x="13990" y="190500"/>
                  <a:pt x="9108" y="192524"/>
                  <a:pt x="5536" y="196155"/>
                </a:cubicBezTo>
                <a:cubicBezTo>
                  <a:pt x="1965" y="199787"/>
                  <a:pt x="-60" y="204609"/>
                  <a:pt x="0" y="209729"/>
                </a:cubicBezTo>
                <a:lnTo>
                  <a:pt x="595" y="285333"/>
                </a:lnTo>
                <a:cubicBezTo>
                  <a:pt x="655" y="295870"/>
                  <a:pt x="9287" y="304324"/>
                  <a:pt x="19824" y="304205"/>
                </a:cubicBezTo>
                <a:cubicBezTo>
                  <a:pt x="30361" y="304086"/>
                  <a:pt x="38814" y="295513"/>
                  <a:pt x="38695" y="284976"/>
                </a:cubicBezTo>
                <a:lnTo>
                  <a:pt x="38457" y="254318"/>
                </a:lnTo>
                <a:lnTo>
                  <a:pt x="44827" y="260330"/>
                </a:lnTo>
                <a:cubicBezTo>
                  <a:pt x="72390" y="287774"/>
                  <a:pt x="110430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41400" y="1676400"/>
            <a:ext cx="2298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投票格式 (Vote)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8000" y="2286000"/>
            <a:ext cx="75311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ZooKeeper 使用</a:t>
            </a:r>
            <a:r>
              <a:rPr lang="en-US" sz="18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四元组</a:t>
            </a: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投票格式：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4350" y="2867025"/>
            <a:ext cx="7404100" cy="1079500"/>
          </a:xfrm>
          <a:custGeom>
            <a:avLst/>
            <a:gdLst/>
            <a:ahLst/>
            <a:cxnLst/>
            <a:rect l="l" t="t" r="r" b="b"/>
            <a:pathLst>
              <a:path w="7404100" h="1079500">
                <a:moveTo>
                  <a:pt x="152404" y="0"/>
                </a:moveTo>
                <a:lnTo>
                  <a:pt x="7251696" y="0"/>
                </a:lnTo>
                <a:cubicBezTo>
                  <a:pt x="7335866" y="0"/>
                  <a:pt x="7404100" y="68234"/>
                  <a:pt x="7404100" y="152404"/>
                </a:cubicBezTo>
                <a:lnTo>
                  <a:pt x="7404100" y="927096"/>
                </a:lnTo>
                <a:cubicBezTo>
                  <a:pt x="7404100" y="1011266"/>
                  <a:pt x="7335866" y="1079500"/>
                  <a:pt x="7251696" y="1079500"/>
                </a:cubicBezTo>
                <a:lnTo>
                  <a:pt x="152404" y="1079500"/>
                </a:lnTo>
                <a:cubicBezTo>
                  <a:pt x="68234" y="1079500"/>
                  <a:pt x="0" y="1011266"/>
                  <a:pt x="0" y="9270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 w="12700">
            <a:solidFill>
              <a:srgbClr val="4F6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98500" y="3127375"/>
            <a:ext cx="7035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(leader, zxid, peerEpoch, electionEpoch)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" y="4156075"/>
            <a:ext cx="50800" cy="355600"/>
          </a:xfrm>
          <a:custGeom>
            <a:avLst/>
            <a:gdLst/>
            <a:ahLst/>
            <a:cxnLst/>
            <a:rect l="l" t="t" r="r" b="b"/>
            <a:pathLst>
              <a:path w="50800" h="355600">
                <a:moveTo>
                  <a:pt x="0" y="0"/>
                </a:moveTo>
                <a:lnTo>
                  <a:pt x="50800" y="0"/>
                </a:lnTo>
                <a:lnTo>
                  <a:pt x="508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62000" y="4156075"/>
            <a:ext cx="82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9130" y="4156075"/>
            <a:ext cx="207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推荐的 </a:t>
            </a:r>
            <a:r>
              <a:rPr lang="en-US" sz="1600" b="1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ID</a:t>
            </a: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(myid)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" y="4664075"/>
            <a:ext cx="50800" cy="355600"/>
          </a:xfrm>
          <a:custGeom>
            <a:avLst/>
            <a:gdLst/>
            <a:ahLst/>
            <a:cxnLst/>
            <a:rect l="l" t="t" r="r" b="b"/>
            <a:pathLst>
              <a:path w="50800" h="355600">
                <a:moveTo>
                  <a:pt x="0" y="0"/>
                </a:moveTo>
                <a:lnTo>
                  <a:pt x="50800" y="0"/>
                </a:lnTo>
                <a:lnTo>
                  <a:pt x="508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62000" y="4664075"/>
            <a:ext cx="571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F6A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zxid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64555" y="4664075"/>
            <a:ext cx="218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推荐节点的最新</a:t>
            </a:r>
            <a:r>
              <a:rPr lang="en-US" sz="1600" b="1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事务 ID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5172075"/>
            <a:ext cx="50800" cy="355600"/>
          </a:xfrm>
          <a:custGeom>
            <a:avLst/>
            <a:gdLst/>
            <a:ahLst/>
            <a:cxnLst/>
            <a:rect l="l" t="t" r="r" b="b"/>
            <a:pathLst>
              <a:path w="50800" h="355600">
                <a:moveTo>
                  <a:pt x="0" y="0"/>
                </a:moveTo>
                <a:lnTo>
                  <a:pt x="50800" y="0"/>
                </a:lnTo>
                <a:lnTo>
                  <a:pt x="508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E5C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62000" y="5172075"/>
            <a:ext cx="134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E5C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peerEpoch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31318" y="5172075"/>
            <a:ext cx="2019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推荐节点的 epoch 值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3400" y="5680075"/>
            <a:ext cx="50800" cy="355600"/>
          </a:xfrm>
          <a:custGeom>
            <a:avLst/>
            <a:gdLst/>
            <a:ahLst/>
            <a:cxnLst/>
            <a:rect l="l" t="t" r="r" b="b"/>
            <a:pathLst>
              <a:path w="50800" h="355600">
                <a:moveTo>
                  <a:pt x="0" y="0"/>
                </a:moveTo>
                <a:lnTo>
                  <a:pt x="50800" y="0"/>
                </a:lnTo>
                <a:lnTo>
                  <a:pt x="508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62000" y="5680075"/>
            <a:ext cx="172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electionEpoch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519462" y="5680075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当前选举轮次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50250" y="1727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46804" y="223004"/>
                </a:moveTo>
                <a:lnTo>
                  <a:pt x="89654" y="280154"/>
                </a:lnTo>
                <a:cubicBezTo>
                  <a:pt x="82213" y="287595"/>
                  <a:pt x="70128" y="287595"/>
                  <a:pt x="62686" y="280154"/>
                </a:cubicBezTo>
                <a:lnTo>
                  <a:pt x="5536" y="223004"/>
                </a:lnTo>
                <a:cubicBezTo>
                  <a:pt x="-1905" y="215563"/>
                  <a:pt x="-1905" y="203478"/>
                  <a:pt x="5536" y="196036"/>
                </a:cubicBezTo>
                <a:cubicBezTo>
                  <a:pt x="12978" y="188595"/>
                  <a:pt x="25063" y="188595"/>
                  <a:pt x="32504" y="196036"/>
                </a:cubicBezTo>
                <a:lnTo>
                  <a:pt x="57150" y="220682"/>
                </a:lnTo>
                <a:lnTo>
                  <a:pt x="57150" y="38100"/>
                </a:lnTo>
                <a:cubicBezTo>
                  <a:pt x="57150" y="27563"/>
                  <a:pt x="65663" y="19050"/>
                  <a:pt x="76200" y="19050"/>
                </a:cubicBezTo>
                <a:cubicBezTo>
                  <a:pt x="86737" y="19050"/>
                  <a:pt x="95250" y="27563"/>
                  <a:pt x="95250" y="38100"/>
                </a:cubicBezTo>
                <a:lnTo>
                  <a:pt x="95250" y="220682"/>
                </a:lnTo>
                <a:lnTo>
                  <a:pt x="119896" y="196036"/>
                </a:lnTo>
                <a:cubicBezTo>
                  <a:pt x="127337" y="188595"/>
                  <a:pt x="139422" y="188595"/>
                  <a:pt x="146864" y="196036"/>
                </a:cubicBezTo>
                <a:cubicBezTo>
                  <a:pt x="154305" y="203478"/>
                  <a:pt x="154305" y="215563"/>
                  <a:pt x="146864" y="223004"/>
                </a:cubicBezTo>
                <a:close/>
                <a:moveTo>
                  <a:pt x="190500" y="285750"/>
                </a:moveTo>
                <a:cubicBezTo>
                  <a:pt x="179963" y="285750"/>
                  <a:pt x="171450" y="277237"/>
                  <a:pt x="171450" y="266700"/>
                </a:cubicBezTo>
                <a:cubicBezTo>
                  <a:pt x="171450" y="256163"/>
                  <a:pt x="179963" y="247650"/>
                  <a:pt x="190500" y="247650"/>
                </a:cubicBezTo>
                <a:lnTo>
                  <a:pt x="209550" y="247650"/>
                </a:lnTo>
                <a:cubicBezTo>
                  <a:pt x="220087" y="247650"/>
                  <a:pt x="228600" y="256163"/>
                  <a:pt x="228600" y="266700"/>
                </a:cubicBezTo>
                <a:cubicBezTo>
                  <a:pt x="228600" y="277237"/>
                  <a:pt x="220087" y="285750"/>
                  <a:pt x="209550" y="285750"/>
                </a:cubicBezTo>
                <a:lnTo>
                  <a:pt x="190500" y="285750"/>
                </a:lnTo>
                <a:close/>
                <a:moveTo>
                  <a:pt x="190500" y="209550"/>
                </a:moveTo>
                <a:cubicBezTo>
                  <a:pt x="179963" y="209550"/>
                  <a:pt x="171450" y="201037"/>
                  <a:pt x="171450" y="190500"/>
                </a:cubicBezTo>
                <a:cubicBezTo>
                  <a:pt x="171450" y="179963"/>
                  <a:pt x="179963" y="171450"/>
                  <a:pt x="190500" y="171450"/>
                </a:cubicBez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190500" y="209550"/>
                </a:lnTo>
                <a:close/>
                <a:moveTo>
                  <a:pt x="190500" y="133350"/>
                </a:moveTo>
                <a:cubicBezTo>
                  <a:pt x="179963" y="133350"/>
                  <a:pt x="171450" y="124837"/>
                  <a:pt x="171450" y="114300"/>
                </a:cubicBezTo>
                <a:cubicBezTo>
                  <a:pt x="171450" y="103763"/>
                  <a:pt x="179963" y="95250"/>
                  <a:pt x="190500" y="95250"/>
                </a:cubicBezTo>
                <a:lnTo>
                  <a:pt x="285750" y="95250"/>
                </a:lnTo>
                <a:cubicBezTo>
                  <a:pt x="296287" y="95250"/>
                  <a:pt x="304800" y="103763"/>
                  <a:pt x="304800" y="114300"/>
                </a:cubicBezTo>
                <a:cubicBezTo>
                  <a:pt x="304800" y="124837"/>
                  <a:pt x="296287" y="133350"/>
                  <a:pt x="285750" y="133350"/>
                </a:cubicBezTo>
                <a:lnTo>
                  <a:pt x="190500" y="133350"/>
                </a:lnTo>
                <a:close/>
                <a:moveTo>
                  <a:pt x="190500" y="57150"/>
                </a:moveTo>
                <a:cubicBezTo>
                  <a:pt x="179963" y="57150"/>
                  <a:pt x="171450" y="48637"/>
                  <a:pt x="171450" y="38100"/>
                </a:cubicBezTo>
                <a:cubicBezTo>
                  <a:pt x="171450" y="27563"/>
                  <a:pt x="179963" y="19050"/>
                  <a:pt x="190500" y="19050"/>
                </a:cubicBezTo>
                <a:lnTo>
                  <a:pt x="323850" y="19050"/>
                </a:lnTo>
                <a:cubicBezTo>
                  <a:pt x="334387" y="19050"/>
                  <a:pt x="342900" y="27563"/>
                  <a:pt x="342900" y="38100"/>
                </a:cubicBezTo>
                <a:cubicBezTo>
                  <a:pt x="342900" y="48637"/>
                  <a:pt x="334387" y="57150"/>
                  <a:pt x="323850" y="57150"/>
                </a:cubicBezTo>
                <a:lnTo>
                  <a:pt x="190500" y="5715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864600" y="1676400"/>
            <a:ext cx="3505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比较算法（优先级顺序）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56600" y="2286000"/>
            <a:ext cx="50800" cy="1803400"/>
          </a:xfrm>
          <a:custGeom>
            <a:avLst/>
            <a:gdLst/>
            <a:ahLst/>
            <a:cxnLst/>
            <a:rect l="l" t="t" r="r" b="b"/>
            <a:pathLst>
              <a:path w="50800" h="1803400">
                <a:moveTo>
                  <a:pt x="0" y="0"/>
                </a:moveTo>
                <a:lnTo>
                  <a:pt x="50800" y="0"/>
                </a:lnTo>
                <a:lnTo>
                  <a:pt x="50800" y="1803400"/>
                </a:lnTo>
                <a:lnTo>
                  <a:pt x="0" y="18034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585200" y="2286000"/>
            <a:ext cx="279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59540" y="2311400"/>
            <a:ext cx="236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electionEpoch 比较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85200" y="2794000"/>
            <a:ext cx="726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确保同一轮选举的投票才具有可比性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85200" y="32258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接收到的 &gt; 本地：更新并接受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85200" y="35306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接收到的 &lt; 本地：忽略该投票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85200" y="38354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相等：继续下一步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56600" y="4241800"/>
            <a:ext cx="50800" cy="838200"/>
          </a:xfrm>
          <a:custGeom>
            <a:avLst/>
            <a:gdLst/>
            <a:ahLst/>
            <a:cxnLst/>
            <a:rect l="l" t="t" r="r" b="b"/>
            <a:pathLst>
              <a:path w="50800" h="838200">
                <a:moveTo>
                  <a:pt x="0" y="0"/>
                </a:moveTo>
                <a:lnTo>
                  <a:pt x="50800" y="0"/>
                </a:lnTo>
                <a:lnTo>
                  <a:pt x="508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585200" y="4241800"/>
            <a:ext cx="330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F6A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14705" y="4267200"/>
            <a:ext cx="196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peerEpoch 比较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85200" y="4749800"/>
            <a:ext cx="726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4F6A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数值越大优先级越高</a:t>
            </a: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，反映节点数据版本的新旧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56600" y="5232400"/>
            <a:ext cx="50800" cy="838200"/>
          </a:xfrm>
          <a:custGeom>
            <a:avLst/>
            <a:gdLst/>
            <a:ahLst/>
            <a:cxnLst/>
            <a:rect l="l" t="t" r="r" b="b"/>
            <a:pathLst>
              <a:path w="50800" h="838200">
                <a:moveTo>
                  <a:pt x="0" y="0"/>
                </a:moveTo>
                <a:lnTo>
                  <a:pt x="50800" y="0"/>
                </a:lnTo>
                <a:lnTo>
                  <a:pt x="508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3E5C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585200" y="5232400"/>
            <a:ext cx="330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E5C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917484" y="5257800"/>
            <a:ext cx="1168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zxid 比较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85200" y="5740400"/>
            <a:ext cx="726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3E5C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64 位事务标识符</a:t>
            </a: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，数值越大优先级越高，确保选择拥有最新数据的节点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56600" y="6223000"/>
            <a:ext cx="50800" cy="838200"/>
          </a:xfrm>
          <a:custGeom>
            <a:avLst/>
            <a:gdLst/>
            <a:ahLst/>
            <a:cxnLst/>
            <a:rect l="l" t="t" r="r" b="b"/>
            <a:pathLst>
              <a:path w="50800" h="838200">
                <a:moveTo>
                  <a:pt x="0" y="0"/>
                </a:moveTo>
                <a:lnTo>
                  <a:pt x="50800" y="0"/>
                </a:lnTo>
                <a:lnTo>
                  <a:pt x="508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585200" y="6223000"/>
            <a:ext cx="330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917186" y="6248400"/>
            <a:ext cx="2438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leader（myid）比较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85200" y="6731000"/>
            <a:ext cx="726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节点标识符，</a:t>
            </a: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数值越大优先级越高</a:t>
            </a: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，用于打破平局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858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340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CONCEPTS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63600"/>
            <a:ext cx="353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Epoch 概念详解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676400"/>
            <a:ext cx="50800" cy="4648200"/>
          </a:xfrm>
          <a:custGeom>
            <a:avLst/>
            <a:gdLst/>
            <a:ahLst/>
            <a:cxnLst/>
            <a:rect l="l" t="t" r="r" b="b"/>
            <a:pathLst>
              <a:path w="50800" h="4648200">
                <a:moveTo>
                  <a:pt x="0" y="0"/>
                </a:moveTo>
                <a:lnTo>
                  <a:pt x="50800" y="0"/>
                </a:lnTo>
                <a:lnTo>
                  <a:pt x="50800" y="4648200"/>
                </a:lnTo>
                <a:lnTo>
                  <a:pt x="0" y="46482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50900" y="1727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346200" y="1676400"/>
            <a:ext cx="213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electionEpoch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286000"/>
            <a:ext cx="7226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选举轮次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2794000"/>
            <a:ext cx="721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149600"/>
            <a:ext cx="7213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选举过程中的</a:t>
            </a: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逻辑时钟</a:t>
            </a: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，标识当前是第几轮选举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632200"/>
            <a:ext cx="721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3987800"/>
            <a:ext cx="7213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防止不同轮次的投票相互干扰，确保选举过程的</a:t>
            </a: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有序性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4470400"/>
            <a:ext cx="721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变化时机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4826000"/>
            <a:ext cx="721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节点进入 LOOKING 状态时递增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5181600"/>
            <a:ext cx="721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收到更高 electionEpoch 投票时更新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5638800"/>
            <a:ext cx="721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生命周期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5994400"/>
            <a:ext cx="7213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仅在</a:t>
            </a: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选举过程中有效</a:t>
            </a: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，选举结束后重置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56600" y="1676400"/>
            <a:ext cx="50800" cy="4648200"/>
          </a:xfrm>
          <a:custGeom>
            <a:avLst/>
            <a:gdLst/>
            <a:ahLst/>
            <a:cxnLst/>
            <a:rect l="l" t="t" r="r" b="b"/>
            <a:pathLst>
              <a:path w="50800" h="4648200">
                <a:moveTo>
                  <a:pt x="0" y="0"/>
                </a:moveTo>
                <a:lnTo>
                  <a:pt x="50800" y="0"/>
                </a:lnTo>
                <a:lnTo>
                  <a:pt x="50800" y="4648200"/>
                </a:lnTo>
                <a:lnTo>
                  <a:pt x="0" y="4648200"/>
                </a:lnTo>
                <a:lnTo>
                  <a:pt x="0" y="0"/>
                </a:ln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674100" y="1727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169400" y="1676400"/>
            <a:ext cx="1663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peerEpoch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36000" y="2286000"/>
            <a:ext cx="7226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F6A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节点轮次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36000" y="2794000"/>
            <a:ext cx="721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36000" y="3149600"/>
            <a:ext cx="7213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节点记录的</a:t>
            </a:r>
            <a:r>
              <a:rPr lang="en-US" sz="1600" b="1" dirty="0">
                <a:solidFill>
                  <a:srgbClr val="4F6A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最后一个 Leader 的 epoch 值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36000" y="3632200"/>
            <a:ext cx="721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36000" y="3987800"/>
            <a:ext cx="7213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反映节点参与的最新 Leader 任期，确保</a:t>
            </a:r>
            <a:r>
              <a:rPr lang="en-US" sz="1600" b="1" dirty="0">
                <a:solidFill>
                  <a:srgbClr val="4F6A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数据一致性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36000" y="4470400"/>
            <a:ext cx="721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变化时机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36000" y="4826000"/>
            <a:ext cx="721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新 Leader 当选时更新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36000" y="5181600"/>
            <a:ext cx="721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节点重启后从持久化存储恢复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36000" y="5638800"/>
            <a:ext cx="721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生命周期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36000" y="5994400"/>
            <a:ext cx="7213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4F6A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持久化保存</a:t>
            </a: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，跨选举轮次保持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3400" y="6629400"/>
            <a:ext cx="50800" cy="1524000"/>
          </a:xfrm>
          <a:custGeom>
            <a:avLst/>
            <a:gdLst/>
            <a:ahLst/>
            <a:cxnLst/>
            <a:rect l="l" t="t" r="r" b="b"/>
            <a:pathLst>
              <a:path w="50800" h="1524000">
                <a:moveTo>
                  <a:pt x="0" y="0"/>
                </a:moveTo>
                <a:lnTo>
                  <a:pt x="50800" y="0"/>
                </a:lnTo>
                <a:lnTo>
                  <a:pt x="508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12800" y="66802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90500" y="15875"/>
                </a:moveTo>
                <a:lnTo>
                  <a:pt x="254000" y="15875"/>
                </a:lnTo>
                <a:cubicBezTo>
                  <a:pt x="262781" y="15875"/>
                  <a:pt x="269875" y="22969"/>
                  <a:pt x="269875" y="31750"/>
                </a:cubicBezTo>
                <a:cubicBezTo>
                  <a:pt x="269875" y="40531"/>
                  <a:pt x="262781" y="47625"/>
                  <a:pt x="254000" y="47625"/>
                </a:cubicBezTo>
                <a:lnTo>
                  <a:pt x="197644" y="47625"/>
                </a:lnTo>
                <a:cubicBezTo>
                  <a:pt x="195064" y="60424"/>
                  <a:pt x="186283" y="70991"/>
                  <a:pt x="174625" y="76051"/>
                </a:cubicBezTo>
                <a:lnTo>
                  <a:pt x="174625" y="222250"/>
                </a:lnTo>
                <a:lnTo>
                  <a:pt x="254000" y="222250"/>
                </a:lnTo>
                <a:cubicBezTo>
                  <a:pt x="262781" y="222250"/>
                  <a:pt x="269875" y="229344"/>
                  <a:pt x="269875" y="238125"/>
                </a:cubicBezTo>
                <a:cubicBezTo>
                  <a:pt x="269875" y="246906"/>
                  <a:pt x="262781" y="254000"/>
                  <a:pt x="254000" y="254000"/>
                </a:cubicBezTo>
                <a:lnTo>
                  <a:pt x="63500" y="254000"/>
                </a:lnTo>
                <a:cubicBezTo>
                  <a:pt x="54719" y="254000"/>
                  <a:pt x="47625" y="246906"/>
                  <a:pt x="47625" y="238125"/>
                </a:cubicBezTo>
                <a:cubicBezTo>
                  <a:pt x="47625" y="229344"/>
                  <a:pt x="54719" y="222250"/>
                  <a:pt x="63500" y="222250"/>
                </a:cubicBezTo>
                <a:lnTo>
                  <a:pt x="142875" y="222250"/>
                </a:lnTo>
                <a:lnTo>
                  <a:pt x="142875" y="76051"/>
                </a:lnTo>
                <a:cubicBezTo>
                  <a:pt x="131217" y="70941"/>
                  <a:pt x="122436" y="60375"/>
                  <a:pt x="119856" y="47625"/>
                </a:cubicBezTo>
                <a:lnTo>
                  <a:pt x="63500" y="47625"/>
                </a:lnTo>
                <a:cubicBezTo>
                  <a:pt x="54719" y="47625"/>
                  <a:pt x="47625" y="40531"/>
                  <a:pt x="47625" y="31750"/>
                </a:cubicBezTo>
                <a:cubicBezTo>
                  <a:pt x="47625" y="22969"/>
                  <a:pt x="54719" y="15875"/>
                  <a:pt x="63500" y="15875"/>
                </a:cubicBezTo>
                <a:lnTo>
                  <a:pt x="127000" y="15875"/>
                </a:lnTo>
                <a:cubicBezTo>
                  <a:pt x="134243" y="6251"/>
                  <a:pt x="145752" y="0"/>
                  <a:pt x="158750" y="0"/>
                </a:cubicBezTo>
                <a:cubicBezTo>
                  <a:pt x="171748" y="0"/>
                  <a:pt x="183257" y="6251"/>
                  <a:pt x="190500" y="15875"/>
                </a:cubicBezTo>
                <a:close/>
                <a:moveTo>
                  <a:pt x="218083" y="158750"/>
                </a:moveTo>
                <a:lnTo>
                  <a:pt x="289917" y="158750"/>
                </a:lnTo>
                <a:lnTo>
                  <a:pt x="254000" y="97135"/>
                </a:lnTo>
                <a:lnTo>
                  <a:pt x="218083" y="158750"/>
                </a:lnTo>
                <a:close/>
                <a:moveTo>
                  <a:pt x="254000" y="206375"/>
                </a:moveTo>
                <a:cubicBezTo>
                  <a:pt x="222796" y="206375"/>
                  <a:pt x="196850" y="189508"/>
                  <a:pt x="191492" y="167233"/>
                </a:cubicBezTo>
                <a:cubicBezTo>
                  <a:pt x="190202" y="161776"/>
                  <a:pt x="191988" y="156170"/>
                  <a:pt x="194816" y="151309"/>
                </a:cubicBezTo>
                <a:lnTo>
                  <a:pt x="242044" y="70346"/>
                </a:lnTo>
                <a:cubicBezTo>
                  <a:pt x="244525" y="66080"/>
                  <a:pt x="249089" y="63500"/>
                  <a:pt x="254000" y="63500"/>
                </a:cubicBezTo>
                <a:cubicBezTo>
                  <a:pt x="258911" y="63500"/>
                  <a:pt x="263475" y="66129"/>
                  <a:pt x="265956" y="70346"/>
                </a:cubicBezTo>
                <a:lnTo>
                  <a:pt x="313184" y="151309"/>
                </a:lnTo>
                <a:cubicBezTo>
                  <a:pt x="316012" y="156170"/>
                  <a:pt x="317798" y="161776"/>
                  <a:pt x="316508" y="167233"/>
                </a:cubicBezTo>
                <a:cubicBezTo>
                  <a:pt x="311150" y="189458"/>
                  <a:pt x="285204" y="206375"/>
                  <a:pt x="254000" y="206375"/>
                </a:cubicBezTo>
                <a:close/>
                <a:moveTo>
                  <a:pt x="62905" y="97135"/>
                </a:moveTo>
                <a:lnTo>
                  <a:pt x="26988" y="158750"/>
                </a:lnTo>
                <a:lnTo>
                  <a:pt x="98871" y="158750"/>
                </a:lnTo>
                <a:lnTo>
                  <a:pt x="62905" y="97135"/>
                </a:lnTo>
                <a:close/>
                <a:moveTo>
                  <a:pt x="446" y="167233"/>
                </a:moveTo>
                <a:cubicBezTo>
                  <a:pt x="-843" y="161776"/>
                  <a:pt x="943" y="156170"/>
                  <a:pt x="3770" y="151309"/>
                </a:cubicBezTo>
                <a:lnTo>
                  <a:pt x="50998" y="70346"/>
                </a:lnTo>
                <a:cubicBezTo>
                  <a:pt x="53479" y="66080"/>
                  <a:pt x="58043" y="63500"/>
                  <a:pt x="62954" y="63500"/>
                </a:cubicBezTo>
                <a:cubicBezTo>
                  <a:pt x="67866" y="63500"/>
                  <a:pt x="72430" y="66129"/>
                  <a:pt x="74910" y="70346"/>
                </a:cubicBezTo>
                <a:lnTo>
                  <a:pt x="122138" y="151309"/>
                </a:lnTo>
                <a:cubicBezTo>
                  <a:pt x="124966" y="156170"/>
                  <a:pt x="126752" y="161776"/>
                  <a:pt x="125462" y="167233"/>
                </a:cubicBezTo>
                <a:cubicBezTo>
                  <a:pt x="120104" y="189458"/>
                  <a:pt x="94159" y="206375"/>
                  <a:pt x="62954" y="206375"/>
                </a:cubicBezTo>
                <a:cubicBezTo>
                  <a:pt x="31750" y="206375"/>
                  <a:pt x="5804" y="189508"/>
                  <a:pt x="446" y="167233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282700" y="6629400"/>
            <a:ext cx="26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两者关系与比较优先级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2800" y="7137400"/>
            <a:ext cx="741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层次不同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12800" y="7543800"/>
            <a:ext cx="741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electionEpoch 是选举层面的计数器，peerEpoch 是集群层面的版本号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32800" y="7137400"/>
            <a:ext cx="741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优先级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32800" y="7543800"/>
            <a:ext cx="7416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先比较 electionEpoch（确保同一轮选举），再比较 peerEpoch（确保数据新旧）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571500"/>
            <a:ext cx="42333" cy="423333"/>
          </a:xfrm>
          <a:custGeom>
            <a:avLst/>
            <a:gdLst/>
            <a:ahLst/>
            <a:cxnLst/>
            <a:rect l="l" t="t" r="r" b="b"/>
            <a:pathLst>
              <a:path w="42333" h="423333">
                <a:moveTo>
                  <a:pt x="0" y="0"/>
                </a:moveTo>
                <a:lnTo>
                  <a:pt x="42333" y="0"/>
                </a:lnTo>
                <a:lnTo>
                  <a:pt x="42333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35000" y="423333"/>
            <a:ext cx="3513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35000" y="719667"/>
            <a:ext cx="36195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关键配置参数与算法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8625" y="1402292"/>
            <a:ext cx="15398750" cy="3169706"/>
          </a:xfrm>
          <a:custGeom>
            <a:avLst/>
            <a:gdLst/>
            <a:ahLst/>
            <a:cxnLst/>
            <a:rect l="l" t="t" r="r" b="b"/>
            <a:pathLst>
              <a:path w="15398750" h="3556000">
                <a:moveTo>
                  <a:pt x="126985" y="0"/>
                </a:moveTo>
                <a:lnTo>
                  <a:pt x="15271765" y="0"/>
                </a:lnTo>
                <a:cubicBezTo>
                  <a:pt x="15341897" y="0"/>
                  <a:pt x="15398750" y="56853"/>
                  <a:pt x="15398750" y="126985"/>
                </a:cubicBezTo>
                <a:lnTo>
                  <a:pt x="15398750" y="3429015"/>
                </a:lnTo>
                <a:cubicBezTo>
                  <a:pt x="15398750" y="3499147"/>
                  <a:pt x="15341897" y="3556000"/>
                  <a:pt x="15271765" y="3556000"/>
                </a:cubicBezTo>
                <a:lnTo>
                  <a:pt x="126985" y="3556000"/>
                </a:lnTo>
                <a:cubicBezTo>
                  <a:pt x="56853" y="3556000"/>
                  <a:pt x="0" y="3499147"/>
                  <a:pt x="0" y="3429015"/>
                </a:cubicBezTo>
                <a:lnTo>
                  <a:pt x="0" y="126985"/>
                </a:lnTo>
                <a:cubicBezTo>
                  <a:pt x="0" y="56900"/>
                  <a:pt x="56900" y="0"/>
                  <a:pt x="12698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4F6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124132"/>
              </p:ext>
            </p:extLst>
          </p:nvPr>
        </p:nvGraphicFramePr>
        <p:xfrm>
          <a:off x="433917" y="1407583"/>
          <a:ext cx="15388167" cy="3164415"/>
        </p:xfrm>
        <a:graphic>
          <a:graphicData uri="http://schemas.openxmlformats.org/drawingml/2006/table">
            <a:tbl>
              <a:tblPr/>
              <a:tblGrid>
                <a:gridCol w="365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8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9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391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288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B89A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6A8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rgbClr val="B89A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默认值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6A8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B89A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6A8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B89A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6A82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883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tickTime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2000ms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心跳间隔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故障检测速度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883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initLimit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初始连接超时倍数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集群启动时间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883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syncLimit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同步超时倍数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数据一致性保证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883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electionAlg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选举算法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选举效率和可靠性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44500" y="4788955"/>
            <a:ext cx="42333" cy="4159250"/>
          </a:xfrm>
          <a:custGeom>
            <a:avLst/>
            <a:gdLst/>
            <a:ahLst/>
            <a:cxnLst/>
            <a:rect l="l" t="t" r="r" b="b"/>
            <a:pathLst>
              <a:path w="42333" h="4159250">
                <a:moveTo>
                  <a:pt x="0" y="0"/>
                </a:moveTo>
                <a:lnTo>
                  <a:pt x="42333" y="0"/>
                </a:lnTo>
                <a:lnTo>
                  <a:pt x="42333" y="4159250"/>
                </a:lnTo>
                <a:lnTo>
                  <a:pt x="0" y="415925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724958" y="4831289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83592" y="0"/>
                </a:moveTo>
                <a:cubicBezTo>
                  <a:pt x="76994" y="0"/>
                  <a:pt x="71686" y="5308"/>
                  <a:pt x="71686" y="11906"/>
                </a:cubicBezTo>
                <a:cubicBezTo>
                  <a:pt x="71686" y="18504"/>
                  <a:pt x="76994" y="23812"/>
                  <a:pt x="83592" y="23812"/>
                </a:cubicBezTo>
                <a:lnTo>
                  <a:pt x="99467" y="23812"/>
                </a:lnTo>
                <a:lnTo>
                  <a:pt x="99467" y="36364"/>
                </a:lnTo>
                <a:cubicBezTo>
                  <a:pt x="45889" y="42267"/>
                  <a:pt x="4217" y="87709"/>
                  <a:pt x="4217" y="142875"/>
                </a:cubicBezTo>
                <a:cubicBezTo>
                  <a:pt x="4217" y="202059"/>
                  <a:pt x="52189" y="250031"/>
                  <a:pt x="111373" y="250031"/>
                </a:cubicBezTo>
                <a:cubicBezTo>
                  <a:pt x="170557" y="250031"/>
                  <a:pt x="218529" y="202059"/>
                  <a:pt x="218529" y="142875"/>
                </a:cubicBezTo>
                <a:cubicBezTo>
                  <a:pt x="218529" y="123130"/>
                  <a:pt x="213171" y="104626"/>
                  <a:pt x="203845" y="88702"/>
                </a:cubicBezTo>
                <a:lnTo>
                  <a:pt x="217835" y="74712"/>
                </a:lnTo>
                <a:cubicBezTo>
                  <a:pt x="224036" y="68511"/>
                  <a:pt x="224036" y="58440"/>
                  <a:pt x="217835" y="52239"/>
                </a:cubicBezTo>
                <a:cubicBezTo>
                  <a:pt x="211634" y="46038"/>
                  <a:pt x="201563" y="46038"/>
                  <a:pt x="195362" y="52239"/>
                </a:cubicBezTo>
                <a:lnTo>
                  <a:pt x="183753" y="63847"/>
                </a:lnTo>
                <a:cubicBezTo>
                  <a:pt x="167432" y="48865"/>
                  <a:pt x="146447" y="38894"/>
                  <a:pt x="123230" y="36314"/>
                </a:cubicBezTo>
                <a:lnTo>
                  <a:pt x="123230" y="23763"/>
                </a:lnTo>
                <a:lnTo>
                  <a:pt x="139105" y="23763"/>
                </a:lnTo>
                <a:cubicBezTo>
                  <a:pt x="145703" y="23763"/>
                  <a:pt x="151011" y="18455"/>
                  <a:pt x="151011" y="11857"/>
                </a:cubicBezTo>
                <a:cubicBezTo>
                  <a:pt x="151011" y="5259"/>
                  <a:pt x="145703" y="-50"/>
                  <a:pt x="139105" y="-50"/>
                </a:cubicBezTo>
                <a:lnTo>
                  <a:pt x="83542" y="-50"/>
                </a:lnTo>
                <a:close/>
                <a:moveTo>
                  <a:pt x="123279" y="91281"/>
                </a:moveTo>
                <a:lnTo>
                  <a:pt x="123279" y="142875"/>
                </a:lnTo>
                <a:cubicBezTo>
                  <a:pt x="123279" y="149473"/>
                  <a:pt x="117971" y="154781"/>
                  <a:pt x="111373" y="154781"/>
                </a:cubicBezTo>
                <a:cubicBezTo>
                  <a:pt x="104775" y="154781"/>
                  <a:pt x="99467" y="149473"/>
                  <a:pt x="99467" y="142875"/>
                </a:cubicBezTo>
                <a:lnTo>
                  <a:pt x="99467" y="91281"/>
                </a:lnTo>
                <a:cubicBezTo>
                  <a:pt x="99467" y="84683"/>
                  <a:pt x="104775" y="79375"/>
                  <a:pt x="111373" y="79375"/>
                </a:cubicBezTo>
                <a:cubicBezTo>
                  <a:pt x="117971" y="79375"/>
                  <a:pt x="123279" y="84683"/>
                  <a:pt x="123279" y="91281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121833" y="4788955"/>
            <a:ext cx="1651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选举时间估算</a:t>
            </a:r>
            <a:endParaRPr lang="en-US" sz="1600" dirty="0"/>
          </a:p>
        </p:txBody>
      </p:sp>
      <p:sp>
        <p:nvSpPr>
          <p:cNvPr id="6" name="Text 7"/>
          <p:cNvSpPr/>
          <p:nvPr/>
        </p:nvSpPr>
        <p:spPr>
          <a:xfrm>
            <a:off x="677333" y="5296955"/>
            <a:ext cx="736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故障检测时间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77333" y="5635622"/>
            <a:ext cx="7281333" cy="804333"/>
          </a:xfrm>
          <a:custGeom>
            <a:avLst/>
            <a:gdLst/>
            <a:ahLst/>
            <a:cxnLst/>
            <a:rect l="l" t="t" r="r" b="b"/>
            <a:pathLst>
              <a:path w="7281333" h="804333">
                <a:moveTo>
                  <a:pt x="84664" y="0"/>
                </a:moveTo>
                <a:lnTo>
                  <a:pt x="7196669" y="0"/>
                </a:lnTo>
                <a:cubicBezTo>
                  <a:pt x="7243428" y="0"/>
                  <a:pt x="7281333" y="37905"/>
                  <a:pt x="7281333" y="84664"/>
                </a:cubicBezTo>
                <a:lnTo>
                  <a:pt x="7281333" y="719669"/>
                </a:lnTo>
                <a:cubicBezTo>
                  <a:pt x="7281333" y="766428"/>
                  <a:pt x="7243428" y="804333"/>
                  <a:pt x="7196669" y="804333"/>
                </a:cubicBezTo>
                <a:lnTo>
                  <a:pt x="84664" y="804333"/>
                </a:lnTo>
                <a:cubicBezTo>
                  <a:pt x="37905" y="804333"/>
                  <a:pt x="0" y="766428"/>
                  <a:pt x="0" y="719669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804333" y="5762622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心跳超时：</a:t>
            </a:r>
            <a:r>
              <a:rPr lang="en-US" sz="1333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tickTime × syncLimit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4333" y="6058955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2000ms × 5 = </a:t>
            </a:r>
            <a:r>
              <a:rPr lang="en-US" sz="1333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秒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77333" y="6482289"/>
            <a:ext cx="7355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实际检测：通常在 </a:t>
            </a:r>
            <a:r>
              <a:rPr lang="en-US" sz="1167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2-5 秒</a:t>
            </a:r>
            <a:r>
              <a:rPr lang="en-US" sz="1167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内完成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7333" y="6863289"/>
            <a:ext cx="736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选举过程时间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77333" y="7201955"/>
            <a:ext cx="736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投票交换：</a:t>
            </a:r>
            <a:r>
              <a:rPr lang="en-US" sz="1333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1-3 秒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77333" y="7498289"/>
            <a:ext cx="736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结果确认：</a:t>
            </a:r>
            <a:r>
              <a:rPr lang="en-US" sz="1333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1-2 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77333" y="7842247"/>
            <a:ext cx="7281333" cy="10583"/>
          </a:xfrm>
          <a:custGeom>
            <a:avLst/>
            <a:gdLst/>
            <a:ahLst/>
            <a:cxnLst/>
            <a:rect l="l" t="t" r="r" b="b"/>
            <a:pathLst>
              <a:path w="7281333" h="10583">
                <a:moveTo>
                  <a:pt x="0" y="0"/>
                </a:moveTo>
                <a:lnTo>
                  <a:pt x="7281333" y="0"/>
                </a:lnTo>
                <a:lnTo>
                  <a:pt x="7281333" y="10583"/>
                </a:lnTo>
                <a:lnTo>
                  <a:pt x="0" y="10583"/>
                </a:lnTo>
                <a:lnTo>
                  <a:pt x="0" y="0"/>
                </a:lnTo>
                <a:close/>
              </a:path>
            </a:pathLst>
          </a:custGeom>
          <a:solidFill>
            <a:srgbClr val="4F6A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677333" y="7836955"/>
            <a:ext cx="7366000" cy="338667"/>
          </a:xfrm>
          <a:prstGeom prst="rect">
            <a:avLst/>
          </a:prstGeom>
          <a:noFill/>
          <a:ln/>
        </p:spPr>
        <p:txBody>
          <a:bodyPr wrap="square" lIns="0" tIns="84667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总计：</a:t>
            </a:r>
            <a:r>
              <a:rPr lang="en-US" sz="1333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3-8 秒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77333" y="8355539"/>
            <a:ext cx="736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完整恢复时间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77333" y="8694205"/>
            <a:ext cx="736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故障检测 + 选举 + 数据同步：通常 </a:t>
            </a:r>
            <a:r>
              <a:rPr lang="en-US" sz="1333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10-20 秒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318500" y="4788955"/>
            <a:ext cx="42333" cy="1778000"/>
          </a:xfrm>
          <a:custGeom>
            <a:avLst/>
            <a:gdLst/>
            <a:ahLst/>
            <a:cxnLst/>
            <a:rect l="l" t="t" r="r" b="b"/>
            <a:pathLst>
              <a:path w="42333" h="1778000">
                <a:moveTo>
                  <a:pt x="0" y="0"/>
                </a:moveTo>
                <a:lnTo>
                  <a:pt x="42333" y="0"/>
                </a:lnTo>
                <a:lnTo>
                  <a:pt x="42333" y="1778000"/>
                </a:lnTo>
                <a:lnTo>
                  <a:pt x="0" y="1778000"/>
                </a:lnTo>
                <a:lnTo>
                  <a:pt x="0" y="0"/>
                </a:ln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/>
          <p:cNvSpPr/>
          <p:nvPr/>
        </p:nvSpPr>
        <p:spPr>
          <a:xfrm>
            <a:off x="8598958" y="4831289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68077" y="-4911"/>
                </a:moveTo>
                <a:cubicBezTo>
                  <a:pt x="173980" y="-645"/>
                  <a:pt x="176163" y="7094"/>
                  <a:pt x="173484" y="13841"/>
                </a:cubicBezTo>
                <a:lnTo>
                  <a:pt x="134590" y="111125"/>
                </a:lnTo>
                <a:lnTo>
                  <a:pt x="206375" y="111125"/>
                </a:lnTo>
                <a:cubicBezTo>
                  <a:pt x="213072" y="111125"/>
                  <a:pt x="219025" y="115292"/>
                  <a:pt x="221307" y="121593"/>
                </a:cubicBezTo>
                <a:cubicBezTo>
                  <a:pt x="223589" y="127893"/>
                  <a:pt x="221655" y="134938"/>
                  <a:pt x="216545" y="139204"/>
                </a:cubicBezTo>
                <a:lnTo>
                  <a:pt x="73670" y="258266"/>
                </a:lnTo>
                <a:cubicBezTo>
                  <a:pt x="68064" y="262930"/>
                  <a:pt x="60077" y="263178"/>
                  <a:pt x="54173" y="258911"/>
                </a:cubicBezTo>
                <a:cubicBezTo>
                  <a:pt x="48270" y="254645"/>
                  <a:pt x="46087" y="246906"/>
                  <a:pt x="48766" y="240159"/>
                </a:cubicBezTo>
                <a:lnTo>
                  <a:pt x="87660" y="142875"/>
                </a:lnTo>
                <a:lnTo>
                  <a:pt x="15875" y="142875"/>
                </a:lnTo>
                <a:cubicBezTo>
                  <a:pt x="9178" y="142875"/>
                  <a:pt x="3225" y="138708"/>
                  <a:pt x="943" y="132407"/>
                </a:cubicBezTo>
                <a:cubicBezTo>
                  <a:pt x="-1339" y="126107"/>
                  <a:pt x="595" y="119062"/>
                  <a:pt x="5705" y="114796"/>
                </a:cubicBezTo>
                <a:lnTo>
                  <a:pt x="148580" y="-4266"/>
                </a:lnTo>
                <a:cubicBezTo>
                  <a:pt x="154186" y="-8930"/>
                  <a:pt x="162173" y="-9178"/>
                  <a:pt x="168077" y="-4911"/>
                </a:cubicBez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8995833" y="4788955"/>
            <a:ext cx="236008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FastLeaderElection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551333" y="5254622"/>
            <a:ext cx="736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6A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当前唯一支持的算法（ZooKeeper 3.6.0+）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583083" y="5677955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8847667" y="5635622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高效性：</a:t>
            </a:r>
            <a:r>
              <a:rPr lang="en-US" sz="1333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 TCP 连接，减少网络开销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583083" y="6016622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8847667" y="5974289"/>
            <a:ext cx="211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可靠性：</a:t>
            </a:r>
            <a:r>
              <a:rPr lang="en-US" sz="1333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支持网络分区恢复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583083" y="6355289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8847667" y="6312955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一致性：</a:t>
            </a:r>
            <a:r>
              <a:rPr lang="en-US" sz="1333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严格按照优先级比较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318500" y="6736289"/>
            <a:ext cx="42333" cy="2159000"/>
          </a:xfrm>
          <a:custGeom>
            <a:avLst/>
            <a:gdLst/>
            <a:ahLst/>
            <a:cxnLst/>
            <a:rect l="l" t="t" r="r" b="b"/>
            <a:pathLst>
              <a:path w="42333" h="2159000">
                <a:moveTo>
                  <a:pt x="0" y="0"/>
                </a:moveTo>
                <a:lnTo>
                  <a:pt x="42333" y="0"/>
                </a:lnTo>
                <a:lnTo>
                  <a:pt x="42333" y="2159000"/>
                </a:lnTo>
                <a:lnTo>
                  <a:pt x="0" y="2159000"/>
                </a:lnTo>
                <a:lnTo>
                  <a:pt x="0" y="0"/>
                </a:lnTo>
                <a:close/>
              </a:path>
            </a:pathLst>
          </a:custGeom>
          <a:solidFill>
            <a:srgbClr val="3E5C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0"/>
          <p:cNvSpPr/>
          <p:nvPr/>
        </p:nvSpPr>
        <p:spPr>
          <a:xfrm>
            <a:off x="8564563" y="6778622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49159" y="496"/>
                </a:moveTo>
                <a:cubicBezTo>
                  <a:pt x="142131" y="-1530"/>
                  <a:pt x="134813" y="2563"/>
                  <a:pt x="132788" y="9591"/>
                </a:cubicBezTo>
                <a:lnTo>
                  <a:pt x="79871" y="194799"/>
                </a:lnTo>
                <a:cubicBezTo>
                  <a:pt x="77845" y="201827"/>
                  <a:pt x="81938" y="209145"/>
                  <a:pt x="88966" y="211171"/>
                </a:cubicBezTo>
                <a:cubicBezTo>
                  <a:pt x="95994" y="213196"/>
                  <a:pt x="103312" y="209104"/>
                  <a:pt x="105337" y="202076"/>
                </a:cubicBezTo>
                <a:lnTo>
                  <a:pt x="158254" y="16867"/>
                </a:lnTo>
                <a:cubicBezTo>
                  <a:pt x="160280" y="9839"/>
                  <a:pt x="156187" y="2522"/>
                  <a:pt x="149159" y="496"/>
                </a:cubicBezTo>
                <a:close/>
                <a:moveTo>
                  <a:pt x="175865" y="56761"/>
                </a:moveTo>
                <a:cubicBezTo>
                  <a:pt x="170698" y="61929"/>
                  <a:pt x="170698" y="70321"/>
                  <a:pt x="175865" y="75489"/>
                </a:cubicBezTo>
                <a:lnTo>
                  <a:pt x="206210" y="105833"/>
                </a:lnTo>
                <a:lnTo>
                  <a:pt x="175865" y="136178"/>
                </a:lnTo>
                <a:cubicBezTo>
                  <a:pt x="170698" y="141345"/>
                  <a:pt x="170698" y="149738"/>
                  <a:pt x="175865" y="154905"/>
                </a:cubicBezTo>
                <a:cubicBezTo>
                  <a:pt x="181033" y="160073"/>
                  <a:pt x="189425" y="160073"/>
                  <a:pt x="194593" y="154905"/>
                </a:cubicBezTo>
                <a:lnTo>
                  <a:pt x="234280" y="115218"/>
                </a:lnTo>
                <a:cubicBezTo>
                  <a:pt x="239448" y="110050"/>
                  <a:pt x="239448" y="101658"/>
                  <a:pt x="234280" y="96490"/>
                </a:cubicBezTo>
                <a:lnTo>
                  <a:pt x="194593" y="56803"/>
                </a:lnTo>
                <a:cubicBezTo>
                  <a:pt x="189425" y="51635"/>
                  <a:pt x="181033" y="51635"/>
                  <a:pt x="175865" y="56803"/>
                </a:cubicBezTo>
                <a:close/>
                <a:moveTo>
                  <a:pt x="62301" y="56761"/>
                </a:moveTo>
                <a:cubicBezTo>
                  <a:pt x="57133" y="51594"/>
                  <a:pt x="48741" y="51594"/>
                  <a:pt x="43574" y="56761"/>
                </a:cubicBezTo>
                <a:lnTo>
                  <a:pt x="3886" y="96449"/>
                </a:lnTo>
                <a:cubicBezTo>
                  <a:pt x="-1282" y="101617"/>
                  <a:pt x="-1282" y="110009"/>
                  <a:pt x="3886" y="115176"/>
                </a:cubicBezTo>
                <a:lnTo>
                  <a:pt x="43574" y="154864"/>
                </a:lnTo>
                <a:cubicBezTo>
                  <a:pt x="48741" y="160032"/>
                  <a:pt x="57133" y="160032"/>
                  <a:pt x="62301" y="154864"/>
                </a:cubicBezTo>
                <a:cubicBezTo>
                  <a:pt x="67469" y="149696"/>
                  <a:pt x="67469" y="141304"/>
                  <a:pt x="62301" y="136136"/>
                </a:cubicBezTo>
                <a:lnTo>
                  <a:pt x="31957" y="105833"/>
                </a:lnTo>
                <a:lnTo>
                  <a:pt x="62260" y="75489"/>
                </a:lnTo>
                <a:cubicBezTo>
                  <a:pt x="67427" y="70321"/>
                  <a:pt x="67427" y="61929"/>
                  <a:pt x="62260" y="56761"/>
                </a:cubicBezTo>
                <a:close/>
              </a:path>
            </a:pathLst>
          </a:custGeom>
          <a:solidFill>
            <a:srgbClr val="3E5C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8900583" y="6736289"/>
            <a:ext cx="952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配置示例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556625" y="7164914"/>
            <a:ext cx="7270750" cy="1725083"/>
          </a:xfrm>
          <a:custGeom>
            <a:avLst/>
            <a:gdLst/>
            <a:ahLst/>
            <a:cxnLst/>
            <a:rect l="l" t="t" r="r" b="b"/>
            <a:pathLst>
              <a:path w="7270750" h="1725083">
                <a:moveTo>
                  <a:pt x="127001" y="0"/>
                </a:moveTo>
                <a:lnTo>
                  <a:pt x="7143749" y="0"/>
                </a:lnTo>
                <a:cubicBezTo>
                  <a:pt x="7213890" y="0"/>
                  <a:pt x="7270750" y="56860"/>
                  <a:pt x="7270750" y="127001"/>
                </a:cubicBezTo>
                <a:lnTo>
                  <a:pt x="7270750" y="1598083"/>
                </a:lnTo>
                <a:cubicBezTo>
                  <a:pt x="7270750" y="1668223"/>
                  <a:pt x="7213890" y="1725083"/>
                  <a:pt x="7143749" y="1725083"/>
                </a:cubicBezTo>
                <a:lnTo>
                  <a:pt x="127001" y="1725083"/>
                </a:lnTo>
                <a:cubicBezTo>
                  <a:pt x="56907" y="1725083"/>
                  <a:pt x="0" y="1668176"/>
                  <a:pt x="0" y="1598083"/>
                </a:cubicBezTo>
                <a:lnTo>
                  <a:pt x="0" y="127001"/>
                </a:lnTo>
                <a:cubicBezTo>
                  <a:pt x="0" y="56907"/>
                  <a:pt x="56907" y="0"/>
                  <a:pt x="1270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3E5C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3"/>
          <p:cNvSpPr/>
          <p:nvPr/>
        </p:nvSpPr>
        <p:spPr>
          <a:xfrm>
            <a:off x="8731250" y="7376580"/>
            <a:ext cx="1409981" cy="130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zoo.cfg</a:t>
            </a:r>
            <a:r>
              <a:rPr lang="en-US" sz="1333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tickTime=2000 initLimit=10 syncLimit=5 electionAlg=3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1728" y="677333"/>
            <a:ext cx="50173" cy="501728"/>
          </a:xfrm>
          <a:custGeom>
            <a:avLst/>
            <a:gdLst/>
            <a:ahLst/>
            <a:cxnLst/>
            <a:rect l="l" t="t" r="r" b="b"/>
            <a:pathLst>
              <a:path w="50173" h="501728">
                <a:moveTo>
                  <a:pt x="0" y="0"/>
                </a:moveTo>
                <a:lnTo>
                  <a:pt x="50173" y="0"/>
                </a:lnTo>
                <a:lnTo>
                  <a:pt x="50173" y="501728"/>
                </a:lnTo>
                <a:lnTo>
                  <a:pt x="0" y="501728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52593" y="501728"/>
            <a:ext cx="3712790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0" b="1" kern="0" spc="79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PRACTICAL EXAMPLES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52593" y="852938"/>
            <a:ext cx="3838222" cy="50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56" dirty="0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投票比较实例分析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26815" y="1655704"/>
            <a:ext cx="50173" cy="6986568"/>
          </a:xfrm>
          <a:custGeom>
            <a:avLst/>
            <a:gdLst/>
            <a:ahLst/>
            <a:cxnLst/>
            <a:rect l="l" t="t" r="r" b="b"/>
            <a:pathLst>
              <a:path w="50173" h="6986568">
                <a:moveTo>
                  <a:pt x="0" y="0"/>
                </a:moveTo>
                <a:lnTo>
                  <a:pt x="50173" y="0"/>
                </a:lnTo>
                <a:lnTo>
                  <a:pt x="50173" y="6986568"/>
                </a:lnTo>
                <a:lnTo>
                  <a:pt x="0" y="6986568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02765" y="1906568"/>
            <a:ext cx="338667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63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03802" y="1956741"/>
            <a:ext cx="2772049" cy="35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5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 peerEpoch 的选择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2765" y="2558815"/>
            <a:ext cx="4415210" cy="288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3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网络分区恢复后的重新选举，节点数据版本不同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2765" y="3044864"/>
            <a:ext cx="4327407" cy="903111"/>
          </a:xfrm>
          <a:custGeom>
            <a:avLst/>
            <a:gdLst/>
            <a:ahLst/>
            <a:cxnLst/>
            <a:rect l="l" t="t" r="r" b="b"/>
            <a:pathLst>
              <a:path w="4327407" h="903111">
                <a:moveTo>
                  <a:pt x="100345" y="0"/>
                </a:moveTo>
                <a:lnTo>
                  <a:pt x="4227063" y="0"/>
                </a:lnTo>
                <a:cubicBezTo>
                  <a:pt x="4282482" y="0"/>
                  <a:pt x="4327407" y="44926"/>
                  <a:pt x="4327407" y="100345"/>
                </a:cubicBezTo>
                <a:lnTo>
                  <a:pt x="4327407" y="802766"/>
                </a:lnTo>
                <a:cubicBezTo>
                  <a:pt x="4327407" y="858185"/>
                  <a:pt x="4282482" y="903111"/>
                  <a:pt x="4227063" y="903111"/>
                </a:cubicBezTo>
                <a:lnTo>
                  <a:pt x="100345" y="903111"/>
                </a:lnTo>
                <a:cubicBezTo>
                  <a:pt x="44926" y="903111"/>
                  <a:pt x="0" y="858185"/>
                  <a:pt x="0" y="802766"/>
                </a:cubicBezTo>
                <a:lnTo>
                  <a:pt x="0" y="100345"/>
                </a:lnTo>
                <a:cubicBezTo>
                  <a:pt x="0" y="44926"/>
                  <a:pt x="44926" y="0"/>
                  <a:pt x="100345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53284" y="3195383"/>
            <a:ext cx="4114173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投票 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3284" y="3546593"/>
            <a:ext cx="4114173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(1, 0x500000001, </a:t>
            </a:r>
            <a:r>
              <a:rPr lang="en-US" sz="1383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r>
              <a:rPr lang="en-US" sz="1383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3)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2765" y="4098494"/>
            <a:ext cx="4327407" cy="903111"/>
          </a:xfrm>
          <a:custGeom>
            <a:avLst/>
            <a:gdLst/>
            <a:ahLst/>
            <a:cxnLst/>
            <a:rect l="l" t="t" r="r" b="b"/>
            <a:pathLst>
              <a:path w="4327407" h="903111">
                <a:moveTo>
                  <a:pt x="100345" y="0"/>
                </a:moveTo>
                <a:lnTo>
                  <a:pt x="4227063" y="0"/>
                </a:lnTo>
                <a:cubicBezTo>
                  <a:pt x="4282482" y="0"/>
                  <a:pt x="4327407" y="44926"/>
                  <a:pt x="4327407" y="100345"/>
                </a:cubicBezTo>
                <a:lnTo>
                  <a:pt x="4327407" y="802766"/>
                </a:lnTo>
                <a:cubicBezTo>
                  <a:pt x="4327407" y="858185"/>
                  <a:pt x="4282482" y="903111"/>
                  <a:pt x="4227063" y="903111"/>
                </a:cubicBezTo>
                <a:lnTo>
                  <a:pt x="100345" y="903111"/>
                </a:lnTo>
                <a:cubicBezTo>
                  <a:pt x="44926" y="903111"/>
                  <a:pt x="0" y="858185"/>
                  <a:pt x="0" y="802766"/>
                </a:cubicBezTo>
                <a:lnTo>
                  <a:pt x="0" y="100345"/>
                </a:lnTo>
                <a:cubicBezTo>
                  <a:pt x="0" y="44926"/>
                  <a:pt x="44926" y="0"/>
                  <a:pt x="100345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53284" y="4249012"/>
            <a:ext cx="4114173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投票 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3284" y="4600222"/>
            <a:ext cx="4114173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(2, 0x500000002, </a:t>
            </a:r>
            <a:r>
              <a:rPr lang="en-US" sz="1383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r>
              <a:rPr lang="en-US" sz="1383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3)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2765" y="5202296"/>
            <a:ext cx="4327407" cy="1354667"/>
          </a:xfrm>
          <a:custGeom>
            <a:avLst/>
            <a:gdLst/>
            <a:ahLst/>
            <a:cxnLst/>
            <a:rect l="l" t="t" r="r" b="b"/>
            <a:pathLst>
              <a:path w="4327407" h="1354667">
                <a:moveTo>
                  <a:pt x="150517" y="0"/>
                </a:moveTo>
                <a:lnTo>
                  <a:pt x="4176890" y="0"/>
                </a:lnTo>
                <a:cubicBezTo>
                  <a:pt x="4260019" y="0"/>
                  <a:pt x="4327407" y="67389"/>
                  <a:pt x="4327407" y="150517"/>
                </a:cubicBezTo>
                <a:lnTo>
                  <a:pt x="4327407" y="1204150"/>
                </a:lnTo>
                <a:cubicBezTo>
                  <a:pt x="4327407" y="1287278"/>
                  <a:pt x="4260019" y="1354667"/>
                  <a:pt x="4176890" y="1354667"/>
                </a:cubicBezTo>
                <a:lnTo>
                  <a:pt x="150517" y="1354667"/>
                </a:lnTo>
                <a:cubicBezTo>
                  <a:pt x="67389" y="1354667"/>
                  <a:pt x="0" y="1287278"/>
                  <a:pt x="0" y="1204150"/>
                </a:cubicBezTo>
                <a:lnTo>
                  <a:pt x="0" y="150517"/>
                </a:lnTo>
                <a:cubicBezTo>
                  <a:pt x="0" y="67444"/>
                  <a:pt x="67444" y="0"/>
                  <a:pt x="150517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03457" y="5402988"/>
            <a:ext cx="4026370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比较过程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3457" y="5804370"/>
            <a:ext cx="4013827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electionEpoch: 3 == 3 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3457" y="6105407"/>
            <a:ext cx="4013827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peerEpoch: </a:t>
            </a:r>
            <a:r>
              <a:rPr lang="en-US" sz="1383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&lt; 5</a:t>
            </a:r>
            <a:r>
              <a:rPr lang="en-US" sz="1383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9037" y="7366000"/>
            <a:ext cx="4314864" cy="1016000"/>
          </a:xfrm>
          <a:custGeom>
            <a:avLst/>
            <a:gdLst/>
            <a:ahLst/>
            <a:cxnLst/>
            <a:rect l="l" t="t" r="r" b="b"/>
            <a:pathLst>
              <a:path w="4314864" h="1016000">
                <a:moveTo>
                  <a:pt x="150520" y="0"/>
                </a:moveTo>
                <a:lnTo>
                  <a:pt x="4164344" y="0"/>
                </a:lnTo>
                <a:cubicBezTo>
                  <a:pt x="4247474" y="0"/>
                  <a:pt x="4314864" y="67390"/>
                  <a:pt x="4314864" y="150520"/>
                </a:cubicBezTo>
                <a:lnTo>
                  <a:pt x="4314864" y="865480"/>
                </a:lnTo>
                <a:cubicBezTo>
                  <a:pt x="4314864" y="948610"/>
                  <a:pt x="4247474" y="1016000"/>
                  <a:pt x="4164344" y="1016000"/>
                </a:cubicBezTo>
                <a:lnTo>
                  <a:pt x="150520" y="1016000"/>
                </a:lnTo>
                <a:cubicBezTo>
                  <a:pt x="67390" y="1016000"/>
                  <a:pt x="0" y="948610"/>
                  <a:pt x="0" y="865480"/>
                </a:cubicBezTo>
                <a:lnTo>
                  <a:pt x="0" y="150520"/>
                </a:lnTo>
                <a:cubicBezTo>
                  <a:pt x="0" y="67446"/>
                  <a:pt x="67446" y="0"/>
                  <a:pt x="150520" y="0"/>
                </a:cubicBezTo>
                <a:close/>
              </a:path>
            </a:pathLst>
          </a:custGeom>
          <a:solidFill>
            <a:srgbClr val="3E5C5A">
              <a:alpha val="20000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65827" y="7572963"/>
            <a:ext cx="4001284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结果：选择节点 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72099" y="7924173"/>
            <a:ext cx="3988741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3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peerEpoch 更大，数据版本更新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1276" y="1655704"/>
            <a:ext cx="50173" cy="6986568"/>
          </a:xfrm>
          <a:custGeom>
            <a:avLst/>
            <a:gdLst/>
            <a:ahLst/>
            <a:cxnLst/>
            <a:rect l="l" t="t" r="r" b="b"/>
            <a:pathLst>
              <a:path w="50173" h="6986568">
                <a:moveTo>
                  <a:pt x="0" y="0"/>
                </a:moveTo>
                <a:lnTo>
                  <a:pt x="50173" y="0"/>
                </a:lnTo>
                <a:lnTo>
                  <a:pt x="50173" y="6986568"/>
                </a:lnTo>
                <a:lnTo>
                  <a:pt x="0" y="6986568"/>
                </a:lnTo>
                <a:lnTo>
                  <a:pt x="0" y="0"/>
                </a:ln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987227" y="1906568"/>
            <a:ext cx="401383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63" b="1" dirty="0">
                <a:solidFill>
                  <a:srgbClr val="4F6A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6468" y="1956741"/>
            <a:ext cx="1981827" cy="35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5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 zxid 的选择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87227" y="2558815"/>
            <a:ext cx="4415210" cy="288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3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同一 Leader 任期内，节点处理事务数量不同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87227" y="3044864"/>
            <a:ext cx="4327407" cy="903111"/>
          </a:xfrm>
          <a:custGeom>
            <a:avLst/>
            <a:gdLst/>
            <a:ahLst/>
            <a:cxnLst/>
            <a:rect l="l" t="t" r="r" b="b"/>
            <a:pathLst>
              <a:path w="4327407" h="903111">
                <a:moveTo>
                  <a:pt x="100345" y="0"/>
                </a:moveTo>
                <a:lnTo>
                  <a:pt x="4227063" y="0"/>
                </a:lnTo>
                <a:cubicBezTo>
                  <a:pt x="4282482" y="0"/>
                  <a:pt x="4327407" y="44926"/>
                  <a:pt x="4327407" y="100345"/>
                </a:cubicBezTo>
                <a:lnTo>
                  <a:pt x="4327407" y="802766"/>
                </a:lnTo>
                <a:cubicBezTo>
                  <a:pt x="4327407" y="858185"/>
                  <a:pt x="4282482" y="903111"/>
                  <a:pt x="4227063" y="903111"/>
                </a:cubicBezTo>
                <a:lnTo>
                  <a:pt x="100345" y="903111"/>
                </a:lnTo>
                <a:cubicBezTo>
                  <a:pt x="44926" y="903111"/>
                  <a:pt x="0" y="858185"/>
                  <a:pt x="0" y="802766"/>
                </a:cubicBezTo>
                <a:lnTo>
                  <a:pt x="0" y="100345"/>
                </a:lnTo>
                <a:cubicBezTo>
                  <a:pt x="0" y="44926"/>
                  <a:pt x="44926" y="0"/>
                  <a:pt x="100345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137745" y="3195383"/>
            <a:ext cx="4114173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投票 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37745" y="3546593"/>
            <a:ext cx="4114173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(1, </a:t>
            </a:r>
            <a:r>
              <a:rPr lang="en-US" sz="1383" b="1" dirty="0">
                <a:solidFill>
                  <a:srgbClr val="4F6A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0x500000001</a:t>
            </a:r>
            <a:r>
              <a:rPr lang="en-US" sz="1383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5, 3)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87227" y="4098494"/>
            <a:ext cx="4327407" cy="903111"/>
          </a:xfrm>
          <a:custGeom>
            <a:avLst/>
            <a:gdLst/>
            <a:ahLst/>
            <a:cxnLst/>
            <a:rect l="l" t="t" r="r" b="b"/>
            <a:pathLst>
              <a:path w="4327407" h="903111">
                <a:moveTo>
                  <a:pt x="100345" y="0"/>
                </a:moveTo>
                <a:lnTo>
                  <a:pt x="4227063" y="0"/>
                </a:lnTo>
                <a:cubicBezTo>
                  <a:pt x="4282482" y="0"/>
                  <a:pt x="4327407" y="44926"/>
                  <a:pt x="4327407" y="100345"/>
                </a:cubicBezTo>
                <a:lnTo>
                  <a:pt x="4327407" y="802766"/>
                </a:lnTo>
                <a:cubicBezTo>
                  <a:pt x="4327407" y="858185"/>
                  <a:pt x="4282482" y="903111"/>
                  <a:pt x="4227063" y="903111"/>
                </a:cubicBezTo>
                <a:lnTo>
                  <a:pt x="100345" y="903111"/>
                </a:lnTo>
                <a:cubicBezTo>
                  <a:pt x="44926" y="903111"/>
                  <a:pt x="0" y="858185"/>
                  <a:pt x="0" y="802766"/>
                </a:cubicBezTo>
                <a:lnTo>
                  <a:pt x="0" y="100345"/>
                </a:lnTo>
                <a:cubicBezTo>
                  <a:pt x="0" y="44926"/>
                  <a:pt x="44926" y="0"/>
                  <a:pt x="100345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137745" y="4249012"/>
            <a:ext cx="4114173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投票 B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37745" y="4600222"/>
            <a:ext cx="4114173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(2, </a:t>
            </a:r>
            <a:r>
              <a:rPr lang="en-US" sz="1383" b="1" dirty="0">
                <a:solidFill>
                  <a:srgbClr val="4F6A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0x500000002</a:t>
            </a:r>
            <a:r>
              <a:rPr lang="en-US" sz="1383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5, 3)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987227" y="5202296"/>
            <a:ext cx="4327407" cy="1655704"/>
          </a:xfrm>
          <a:custGeom>
            <a:avLst/>
            <a:gdLst/>
            <a:ahLst/>
            <a:cxnLst/>
            <a:rect l="l" t="t" r="r" b="b"/>
            <a:pathLst>
              <a:path w="4327407" h="1655704">
                <a:moveTo>
                  <a:pt x="150520" y="0"/>
                </a:moveTo>
                <a:lnTo>
                  <a:pt x="4176887" y="0"/>
                </a:lnTo>
                <a:cubicBezTo>
                  <a:pt x="4260017" y="0"/>
                  <a:pt x="4327407" y="67390"/>
                  <a:pt x="4327407" y="150520"/>
                </a:cubicBezTo>
                <a:lnTo>
                  <a:pt x="4327407" y="1505184"/>
                </a:lnTo>
                <a:cubicBezTo>
                  <a:pt x="4327407" y="1588314"/>
                  <a:pt x="4260017" y="1655704"/>
                  <a:pt x="4176887" y="1655704"/>
                </a:cubicBezTo>
                <a:lnTo>
                  <a:pt x="150520" y="1655704"/>
                </a:lnTo>
                <a:cubicBezTo>
                  <a:pt x="67446" y="1655704"/>
                  <a:pt x="0" y="1588258"/>
                  <a:pt x="0" y="1505184"/>
                </a:cubicBezTo>
                <a:lnTo>
                  <a:pt x="0" y="150520"/>
                </a:lnTo>
                <a:cubicBezTo>
                  <a:pt x="0" y="67446"/>
                  <a:pt x="67446" y="0"/>
                  <a:pt x="150520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187918" y="5402988"/>
            <a:ext cx="4026370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0" b="1" dirty="0">
                <a:solidFill>
                  <a:srgbClr val="4F6A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比较过程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87918" y="5804370"/>
            <a:ext cx="4013827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electionEpoch: 3 == 3 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187918" y="6105407"/>
            <a:ext cx="4013827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peerEpoch: 5 == 5 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87918" y="6406444"/>
            <a:ext cx="4013827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zxid: </a:t>
            </a:r>
            <a:r>
              <a:rPr lang="en-US" sz="1383" b="1" dirty="0">
                <a:solidFill>
                  <a:srgbClr val="4F6A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0x500000001 &lt; 0x500000002</a:t>
            </a:r>
            <a:r>
              <a:rPr lang="en-US" sz="1383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✓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993498" y="7366000"/>
            <a:ext cx="4314864" cy="1016000"/>
          </a:xfrm>
          <a:custGeom>
            <a:avLst/>
            <a:gdLst/>
            <a:ahLst/>
            <a:cxnLst/>
            <a:rect l="l" t="t" r="r" b="b"/>
            <a:pathLst>
              <a:path w="4314864" h="1016000">
                <a:moveTo>
                  <a:pt x="150520" y="0"/>
                </a:moveTo>
                <a:lnTo>
                  <a:pt x="4164344" y="0"/>
                </a:lnTo>
                <a:cubicBezTo>
                  <a:pt x="4247474" y="0"/>
                  <a:pt x="4314864" y="67390"/>
                  <a:pt x="4314864" y="150520"/>
                </a:cubicBezTo>
                <a:lnTo>
                  <a:pt x="4314864" y="865480"/>
                </a:lnTo>
                <a:cubicBezTo>
                  <a:pt x="4314864" y="948610"/>
                  <a:pt x="4247474" y="1016000"/>
                  <a:pt x="4164344" y="1016000"/>
                </a:cubicBezTo>
                <a:lnTo>
                  <a:pt x="150520" y="1016000"/>
                </a:lnTo>
                <a:cubicBezTo>
                  <a:pt x="67390" y="1016000"/>
                  <a:pt x="0" y="948610"/>
                  <a:pt x="0" y="865480"/>
                </a:cubicBezTo>
                <a:lnTo>
                  <a:pt x="0" y="150520"/>
                </a:lnTo>
                <a:cubicBezTo>
                  <a:pt x="0" y="67446"/>
                  <a:pt x="67446" y="0"/>
                  <a:pt x="150520" y="0"/>
                </a:cubicBezTo>
                <a:close/>
              </a:path>
            </a:pathLst>
          </a:custGeom>
          <a:solidFill>
            <a:srgbClr val="3E5C5A">
              <a:alpha val="20000"/>
            </a:srgbClr>
          </a:solidFill>
          <a:ln w="12700">
            <a:solidFill>
              <a:srgbClr val="4F6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150289" y="7572963"/>
            <a:ext cx="4001284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0" b="1" dirty="0">
                <a:solidFill>
                  <a:srgbClr val="4F6A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结果：选择节点 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156560" y="7924173"/>
            <a:ext cx="3988741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3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zxid 更大，数据最新完整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895836" y="1655704"/>
            <a:ext cx="50173" cy="6986568"/>
          </a:xfrm>
          <a:custGeom>
            <a:avLst/>
            <a:gdLst/>
            <a:ahLst/>
            <a:cxnLst/>
            <a:rect l="l" t="t" r="r" b="b"/>
            <a:pathLst>
              <a:path w="50173" h="6986568">
                <a:moveTo>
                  <a:pt x="0" y="0"/>
                </a:moveTo>
                <a:lnTo>
                  <a:pt x="50173" y="0"/>
                </a:lnTo>
                <a:lnTo>
                  <a:pt x="50173" y="6986568"/>
                </a:lnTo>
                <a:lnTo>
                  <a:pt x="0" y="6986568"/>
                </a:lnTo>
                <a:lnTo>
                  <a:pt x="0" y="0"/>
                </a:lnTo>
                <a:close/>
              </a:path>
            </a:pathLst>
          </a:custGeom>
          <a:solidFill>
            <a:srgbClr val="3E5C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171786" y="1906568"/>
            <a:ext cx="413926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63" b="1" dirty="0">
                <a:solidFill>
                  <a:srgbClr val="3E5C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544359" y="1956741"/>
            <a:ext cx="2583901" cy="35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5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 myid 的平局决胜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171786" y="2558815"/>
            <a:ext cx="4415210" cy="288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3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前三个条件完全相同，使用节点 ID 打破平局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171786" y="3044864"/>
            <a:ext cx="4327407" cy="903111"/>
          </a:xfrm>
          <a:custGeom>
            <a:avLst/>
            <a:gdLst/>
            <a:ahLst/>
            <a:cxnLst/>
            <a:rect l="l" t="t" r="r" b="b"/>
            <a:pathLst>
              <a:path w="4327407" h="903111">
                <a:moveTo>
                  <a:pt x="100345" y="0"/>
                </a:moveTo>
                <a:lnTo>
                  <a:pt x="4227063" y="0"/>
                </a:lnTo>
                <a:cubicBezTo>
                  <a:pt x="4282482" y="0"/>
                  <a:pt x="4327407" y="44926"/>
                  <a:pt x="4327407" y="100345"/>
                </a:cubicBezTo>
                <a:lnTo>
                  <a:pt x="4327407" y="802766"/>
                </a:lnTo>
                <a:cubicBezTo>
                  <a:pt x="4327407" y="858185"/>
                  <a:pt x="4282482" y="903111"/>
                  <a:pt x="4227063" y="903111"/>
                </a:cubicBezTo>
                <a:lnTo>
                  <a:pt x="100345" y="903111"/>
                </a:lnTo>
                <a:cubicBezTo>
                  <a:pt x="44926" y="903111"/>
                  <a:pt x="0" y="858185"/>
                  <a:pt x="0" y="802766"/>
                </a:cubicBezTo>
                <a:lnTo>
                  <a:pt x="0" y="100345"/>
                </a:lnTo>
                <a:cubicBezTo>
                  <a:pt x="0" y="44926"/>
                  <a:pt x="44926" y="0"/>
                  <a:pt x="100345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1322305" y="3195383"/>
            <a:ext cx="4114173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投票 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322305" y="3546593"/>
            <a:ext cx="4114173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383" b="1" dirty="0">
                <a:solidFill>
                  <a:srgbClr val="3E5C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r>
              <a:rPr lang="en-US" sz="1383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0x500000001, 5, 3)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171786" y="4098494"/>
            <a:ext cx="4327407" cy="903111"/>
          </a:xfrm>
          <a:custGeom>
            <a:avLst/>
            <a:gdLst/>
            <a:ahLst/>
            <a:cxnLst/>
            <a:rect l="l" t="t" r="r" b="b"/>
            <a:pathLst>
              <a:path w="4327407" h="903111">
                <a:moveTo>
                  <a:pt x="100345" y="0"/>
                </a:moveTo>
                <a:lnTo>
                  <a:pt x="4227063" y="0"/>
                </a:lnTo>
                <a:cubicBezTo>
                  <a:pt x="4282482" y="0"/>
                  <a:pt x="4327407" y="44926"/>
                  <a:pt x="4327407" y="100345"/>
                </a:cubicBezTo>
                <a:lnTo>
                  <a:pt x="4327407" y="802766"/>
                </a:lnTo>
                <a:cubicBezTo>
                  <a:pt x="4327407" y="858185"/>
                  <a:pt x="4282482" y="903111"/>
                  <a:pt x="4227063" y="903111"/>
                </a:cubicBezTo>
                <a:lnTo>
                  <a:pt x="100345" y="903111"/>
                </a:lnTo>
                <a:cubicBezTo>
                  <a:pt x="44926" y="903111"/>
                  <a:pt x="0" y="858185"/>
                  <a:pt x="0" y="802766"/>
                </a:cubicBezTo>
                <a:lnTo>
                  <a:pt x="0" y="100345"/>
                </a:lnTo>
                <a:cubicBezTo>
                  <a:pt x="0" y="44926"/>
                  <a:pt x="44926" y="0"/>
                  <a:pt x="100345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1322305" y="4249012"/>
            <a:ext cx="4114173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投票 B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322305" y="4600222"/>
            <a:ext cx="4114173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383" b="1" dirty="0">
                <a:solidFill>
                  <a:srgbClr val="3E5C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lang="en-US" sz="1383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0x500000001, 5, 3)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1171786" y="5202296"/>
            <a:ext cx="4327407" cy="1956741"/>
          </a:xfrm>
          <a:custGeom>
            <a:avLst/>
            <a:gdLst/>
            <a:ahLst/>
            <a:cxnLst/>
            <a:rect l="l" t="t" r="r" b="b"/>
            <a:pathLst>
              <a:path w="4327407" h="1956741">
                <a:moveTo>
                  <a:pt x="150512" y="0"/>
                </a:moveTo>
                <a:lnTo>
                  <a:pt x="4176895" y="0"/>
                </a:lnTo>
                <a:cubicBezTo>
                  <a:pt x="4260021" y="0"/>
                  <a:pt x="4327407" y="67387"/>
                  <a:pt x="4327407" y="150512"/>
                </a:cubicBezTo>
                <a:lnTo>
                  <a:pt x="4327407" y="1806228"/>
                </a:lnTo>
                <a:cubicBezTo>
                  <a:pt x="4327407" y="1889354"/>
                  <a:pt x="4260021" y="1956741"/>
                  <a:pt x="4176895" y="1956741"/>
                </a:cubicBezTo>
                <a:lnTo>
                  <a:pt x="150512" y="1956741"/>
                </a:lnTo>
                <a:cubicBezTo>
                  <a:pt x="67387" y="1956741"/>
                  <a:pt x="0" y="1889354"/>
                  <a:pt x="0" y="1806228"/>
                </a:cubicBezTo>
                <a:lnTo>
                  <a:pt x="0" y="150512"/>
                </a:lnTo>
                <a:cubicBezTo>
                  <a:pt x="0" y="67387"/>
                  <a:pt x="67387" y="0"/>
                  <a:pt x="150512" y="0"/>
                </a:cubicBezTo>
                <a:close/>
              </a:path>
            </a:pathLst>
          </a:custGeom>
          <a:solidFill>
            <a:srgbClr val="3E5C5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1372478" y="5402988"/>
            <a:ext cx="4026370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0" b="1" dirty="0">
                <a:solidFill>
                  <a:srgbClr val="3E5C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比较过程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372478" y="5804370"/>
            <a:ext cx="4013827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electionEpoch: 3 == 3 ✓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372478" y="6105407"/>
            <a:ext cx="4013827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peerEpoch: 5 == 5 ✓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372478" y="6406444"/>
            <a:ext cx="4013827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zxid: 0x500000001 == 0x500000001 ✓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372478" y="6707481"/>
            <a:ext cx="4013827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leader: </a:t>
            </a:r>
            <a:r>
              <a:rPr lang="en-US" sz="1383" b="1" dirty="0">
                <a:solidFill>
                  <a:srgbClr val="3E5C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 &lt; 2</a:t>
            </a:r>
            <a:r>
              <a:rPr lang="en-US" sz="1383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✓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178058" y="7366000"/>
            <a:ext cx="4314864" cy="1016000"/>
          </a:xfrm>
          <a:custGeom>
            <a:avLst/>
            <a:gdLst/>
            <a:ahLst/>
            <a:cxnLst/>
            <a:rect l="l" t="t" r="r" b="b"/>
            <a:pathLst>
              <a:path w="4314864" h="1016000">
                <a:moveTo>
                  <a:pt x="150520" y="0"/>
                </a:moveTo>
                <a:lnTo>
                  <a:pt x="4164344" y="0"/>
                </a:lnTo>
                <a:cubicBezTo>
                  <a:pt x="4247474" y="0"/>
                  <a:pt x="4314864" y="67390"/>
                  <a:pt x="4314864" y="150520"/>
                </a:cubicBezTo>
                <a:lnTo>
                  <a:pt x="4314864" y="865480"/>
                </a:lnTo>
                <a:cubicBezTo>
                  <a:pt x="4314864" y="948610"/>
                  <a:pt x="4247474" y="1016000"/>
                  <a:pt x="4164344" y="1016000"/>
                </a:cubicBezTo>
                <a:lnTo>
                  <a:pt x="150520" y="1016000"/>
                </a:lnTo>
                <a:cubicBezTo>
                  <a:pt x="67390" y="1016000"/>
                  <a:pt x="0" y="948610"/>
                  <a:pt x="0" y="865480"/>
                </a:cubicBezTo>
                <a:lnTo>
                  <a:pt x="0" y="150520"/>
                </a:lnTo>
                <a:cubicBezTo>
                  <a:pt x="0" y="67446"/>
                  <a:pt x="67446" y="0"/>
                  <a:pt x="150520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  <a:ln w="12700">
            <a:solidFill>
              <a:srgbClr val="3E5C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1334848" y="7572963"/>
            <a:ext cx="4001284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0" b="1" dirty="0">
                <a:solidFill>
                  <a:srgbClr val="3E5C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结果：选择节点 2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341120" y="7924173"/>
            <a:ext cx="3988741" cy="25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3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myid 更大，打破平局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2023.cnblogs.com/b064507b726d4ebbef082bda769f89df6e16eaf8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22192" r="2219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4F6A82">
                  <a:alpha val="3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1930399" y="2540000"/>
            <a:ext cx="1232852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 err="1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三节点集群</a:t>
            </a:r>
            <a:r>
              <a:rPr lang="zh-CN" altLang="en-US" sz="7200" dirty="0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 </a:t>
            </a:r>
            <a:r>
              <a:rPr lang="en-US" altLang="zh-CN" sz="7200" dirty="0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-</a:t>
            </a:r>
            <a:r>
              <a:rPr lang="zh-CN" altLang="en-US" sz="7200" dirty="0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 </a:t>
            </a:r>
            <a:r>
              <a:rPr lang="en-US" sz="7200" dirty="0" err="1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首次启动选举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6100" y="548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12097" y="87570"/>
                </a:moveTo>
                <a:cubicBezTo>
                  <a:pt x="107573" y="90071"/>
                  <a:pt x="104775" y="94893"/>
                  <a:pt x="104775" y="100013"/>
                </a:cubicBezTo>
                <a:lnTo>
                  <a:pt x="104775" y="204787"/>
                </a:lnTo>
                <a:cubicBezTo>
                  <a:pt x="104775" y="209967"/>
                  <a:pt x="107573" y="214729"/>
                  <a:pt x="112097" y="217230"/>
                </a:cubicBezTo>
                <a:cubicBezTo>
                  <a:pt x="116622" y="219730"/>
                  <a:pt x="122099" y="219670"/>
                  <a:pt x="126563" y="216932"/>
                </a:cubicBezTo>
                <a:lnTo>
                  <a:pt x="212288" y="164544"/>
                </a:lnTo>
                <a:cubicBezTo>
                  <a:pt x="216515" y="161925"/>
                  <a:pt x="219135" y="157341"/>
                  <a:pt x="219135" y="152340"/>
                </a:cubicBezTo>
                <a:cubicBezTo>
                  <a:pt x="219135" y="147340"/>
                  <a:pt x="216515" y="142756"/>
                  <a:pt x="212288" y="140137"/>
                </a:cubicBezTo>
                <a:lnTo>
                  <a:pt x="126563" y="87749"/>
                </a:lnTo>
                <a:cubicBezTo>
                  <a:pt x="122158" y="85070"/>
                  <a:pt x="116622" y="84951"/>
                  <a:pt x="112097" y="87451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041400" y="5435600"/>
            <a:ext cx="289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场景设置与初始状态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972050" y="548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5467350" y="5435600"/>
            <a:ext cx="2590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节点逐个启动过程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093200" y="548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89654"/>
                </a:moveTo>
                <a:lnTo>
                  <a:pt x="242054" y="146804"/>
                </a:lnTo>
                <a:cubicBezTo>
                  <a:pt x="236577" y="152281"/>
                  <a:pt x="228421" y="153888"/>
                  <a:pt x="221278" y="150912"/>
                </a:cubicBezTo>
                <a:cubicBezTo>
                  <a:pt x="214134" y="147935"/>
                  <a:pt x="209550" y="141030"/>
                  <a:pt x="209550" y="133350"/>
                </a:cubicBezTo>
                <a:lnTo>
                  <a:pt x="209550" y="95250"/>
                </a:lnTo>
                <a:lnTo>
                  <a:pt x="19050" y="95250"/>
                </a:lnTo>
                <a:cubicBezTo>
                  <a:pt x="8513" y="95250"/>
                  <a:pt x="0" y="86737"/>
                  <a:pt x="0" y="76200"/>
                </a:cubicBezTo>
                <a:cubicBezTo>
                  <a:pt x="0" y="65663"/>
                  <a:pt x="8513" y="57150"/>
                  <a:pt x="19050" y="57150"/>
                </a:cubicBezTo>
                <a:lnTo>
                  <a:pt x="209550" y="57150"/>
                </a:lnTo>
                <a:lnTo>
                  <a:pt x="209550" y="19050"/>
                </a:lnTo>
                <a:cubicBezTo>
                  <a:pt x="209550" y="11370"/>
                  <a:pt x="214193" y="4405"/>
                  <a:pt x="221337" y="1429"/>
                </a:cubicBezTo>
                <a:cubicBezTo>
                  <a:pt x="228481" y="-1548"/>
                  <a:pt x="236637" y="119"/>
                  <a:pt x="242114" y="5536"/>
                </a:cubicBezTo>
                <a:lnTo>
                  <a:pt x="299264" y="62686"/>
                </a:lnTo>
                <a:cubicBezTo>
                  <a:pt x="306705" y="70128"/>
                  <a:pt x="306705" y="82213"/>
                  <a:pt x="299264" y="89654"/>
                </a:cubicBezTo>
                <a:close/>
                <a:moveTo>
                  <a:pt x="62686" y="299204"/>
                </a:moveTo>
                <a:lnTo>
                  <a:pt x="5536" y="242054"/>
                </a:lnTo>
                <a:cubicBezTo>
                  <a:pt x="-1905" y="234613"/>
                  <a:pt x="-1905" y="222528"/>
                  <a:pt x="5536" y="215086"/>
                </a:cubicBezTo>
                <a:lnTo>
                  <a:pt x="62686" y="157936"/>
                </a:lnTo>
                <a:cubicBezTo>
                  <a:pt x="68163" y="152460"/>
                  <a:pt x="76319" y="150852"/>
                  <a:pt x="83463" y="153829"/>
                </a:cubicBezTo>
                <a:cubicBezTo>
                  <a:pt x="90607" y="156805"/>
                  <a:pt x="95250" y="163770"/>
                  <a:pt x="95250" y="171450"/>
                </a:cubicBezTo>
                <a:lnTo>
                  <a:pt x="95250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cubicBezTo>
                  <a:pt x="304800" y="239137"/>
                  <a:pt x="296287" y="247650"/>
                  <a:pt x="285750" y="247650"/>
                </a:cubicBezTo>
                <a:lnTo>
                  <a:pt x="95250" y="247650"/>
                </a:lnTo>
                <a:lnTo>
                  <a:pt x="95250" y="285750"/>
                </a:lnTo>
                <a:cubicBezTo>
                  <a:pt x="95250" y="293430"/>
                  <a:pt x="90607" y="300395"/>
                  <a:pt x="83463" y="303371"/>
                </a:cubicBezTo>
                <a:cubicBezTo>
                  <a:pt x="76319" y="306348"/>
                  <a:pt x="68163" y="304681"/>
                  <a:pt x="62686" y="299264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9588500" y="5435600"/>
            <a:ext cx="289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投票交换与状态转换</a:t>
            </a:r>
            <a:endParaRPr lang="en-US" sz="1600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F9E0F1F-599B-0D83-2F40-8C2D82881573}"/>
              </a:ext>
            </a:extLst>
          </p:cNvPr>
          <p:cNvGrpSpPr/>
          <p:nvPr/>
        </p:nvGrpSpPr>
        <p:grpSpPr>
          <a:xfrm>
            <a:off x="563513" y="3086100"/>
            <a:ext cx="1193800" cy="1193800"/>
            <a:chOff x="563513" y="2857500"/>
            <a:chExt cx="1193800" cy="1193800"/>
          </a:xfrm>
        </p:grpSpPr>
        <p:sp>
          <p:nvSpPr>
            <p:cNvPr id="18" name="Shape 1">
              <a:extLst>
                <a:ext uri="{FF2B5EF4-FFF2-40B4-BE49-F238E27FC236}">
                  <a16:creationId xmlns:a16="http://schemas.microsoft.com/office/drawing/2014/main" id="{1CF2D8FC-126A-6CC0-5DE8-CBB0B9104050}"/>
                </a:ext>
              </a:extLst>
            </p:cNvPr>
            <p:cNvSpPr/>
            <p:nvPr/>
          </p:nvSpPr>
          <p:spPr>
            <a:xfrm>
              <a:off x="563513" y="2857500"/>
              <a:ext cx="1193800" cy="1193800"/>
            </a:xfrm>
            <a:custGeom>
              <a:avLst/>
              <a:gdLst/>
              <a:ahLst/>
              <a:cxnLst/>
              <a:rect l="l" t="t" r="r" b="b"/>
              <a:pathLst>
                <a:path w="1193800" h="1193800">
                  <a:moveTo>
                    <a:pt x="152401" y="0"/>
                  </a:moveTo>
                  <a:lnTo>
                    <a:pt x="1041399" y="0"/>
                  </a:lnTo>
                  <a:cubicBezTo>
                    <a:pt x="1125512" y="0"/>
                    <a:pt x="1193800" y="68288"/>
                    <a:pt x="1193800" y="152401"/>
                  </a:cubicBezTo>
                  <a:lnTo>
                    <a:pt x="1193800" y="1041399"/>
                  </a:lnTo>
                  <a:cubicBezTo>
                    <a:pt x="1193800" y="1125568"/>
                    <a:pt x="1125568" y="1193800"/>
                    <a:pt x="1041399" y="1193800"/>
                  </a:cubicBezTo>
                  <a:lnTo>
                    <a:pt x="152401" y="1193800"/>
                  </a:lnTo>
                  <a:cubicBezTo>
                    <a:pt x="68232" y="1193800"/>
                    <a:pt x="0" y="1125568"/>
                    <a:pt x="0" y="1041399"/>
                  </a:cubicBezTo>
                  <a:lnTo>
                    <a:pt x="0" y="152401"/>
                  </a:lnTo>
                  <a:cubicBezTo>
                    <a:pt x="0" y="68232"/>
                    <a:pt x="68232" y="0"/>
                    <a:pt x="152401" y="0"/>
                  </a:cubicBezTo>
                  <a:close/>
                </a:path>
              </a:pathLst>
            </a:custGeom>
            <a:solidFill>
              <a:srgbClr val="4F6A82">
                <a:alpha val="30196"/>
              </a:srgbClr>
            </a:solidFill>
            <a:ln w="25400">
              <a:solidFill>
                <a:srgbClr val="B89A6A"/>
              </a:solidFill>
              <a:prstDash val="solid"/>
            </a:ln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ext 2">
              <a:extLst>
                <a:ext uri="{FF2B5EF4-FFF2-40B4-BE49-F238E27FC236}">
                  <a16:creationId xmlns:a16="http://schemas.microsoft.com/office/drawing/2014/main" id="{5953B522-6B73-6E41-176E-807A739E36CE}"/>
                </a:ext>
              </a:extLst>
            </p:cNvPr>
            <p:cNvSpPr/>
            <p:nvPr/>
          </p:nvSpPr>
          <p:spPr>
            <a:xfrm>
              <a:off x="633363" y="3149600"/>
              <a:ext cx="1054100" cy="901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800" b="1" dirty="0">
                  <a:solidFill>
                    <a:srgbClr val="B89A6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0</a:t>
              </a:r>
              <a:r>
                <a:rPr lang="en-US" altLang="zh-CN" sz="4800" b="1" dirty="0">
                  <a:solidFill>
                    <a:srgbClr val="B89A6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3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858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421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ELECTION SCENARIO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63600"/>
            <a:ext cx="4343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场景设置与初始状态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6100" y="1828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41400" y="1778000"/>
            <a:ext cx="228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三节点集群配置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3400" y="24384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12800" y="2463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32669" y="2590800"/>
            <a:ext cx="29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74800" y="2438400"/>
            <a:ext cx="234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74800" y="2794000"/>
            <a:ext cx="233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myid=1, IP=192.168.1.101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3400" y="33020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12800" y="3327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38523" y="3454400"/>
            <a:ext cx="27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F6A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74800" y="33020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74800" y="3657600"/>
            <a:ext cx="240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myid=2, IP=192.168.1.102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" y="41656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3E5C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12800" y="419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E5C5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029395" y="4318000"/>
            <a:ext cx="304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E5C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74800" y="4165600"/>
            <a:ext cx="2425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74800" y="4521200"/>
            <a:ext cx="241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myid=3, IP=192.168.1.103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4350" y="5137150"/>
            <a:ext cx="8890000" cy="1435100"/>
          </a:xfrm>
          <a:custGeom>
            <a:avLst/>
            <a:gdLst/>
            <a:ahLst/>
            <a:cxnLst/>
            <a:rect l="l" t="t" r="r" b="b"/>
            <a:pathLst>
              <a:path w="8890000" h="1435100">
                <a:moveTo>
                  <a:pt x="152393" y="0"/>
                </a:moveTo>
                <a:lnTo>
                  <a:pt x="8737607" y="0"/>
                </a:lnTo>
                <a:cubicBezTo>
                  <a:pt x="8821771" y="0"/>
                  <a:pt x="8890000" y="68229"/>
                  <a:pt x="8890000" y="152393"/>
                </a:cubicBezTo>
                <a:lnTo>
                  <a:pt x="8890000" y="1282707"/>
                </a:lnTo>
                <a:cubicBezTo>
                  <a:pt x="8890000" y="1366871"/>
                  <a:pt x="8821771" y="1435100"/>
                  <a:pt x="8737607" y="1435100"/>
                </a:cubicBezTo>
                <a:lnTo>
                  <a:pt x="152393" y="1435100"/>
                </a:lnTo>
                <a:cubicBezTo>
                  <a:pt x="68285" y="1435100"/>
                  <a:pt x="0" y="1366815"/>
                  <a:pt x="0" y="1282707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 w="12700">
            <a:solidFill>
              <a:srgbClr val="4F6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06450" y="5448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11125" y="79375"/>
                </a:moveTo>
                <a:cubicBezTo>
                  <a:pt x="111125" y="70613"/>
                  <a:pt x="118238" y="63500"/>
                  <a:pt x="127000" y="63500"/>
                </a:cubicBezTo>
                <a:cubicBezTo>
                  <a:pt x="135762" y="63500"/>
                  <a:pt x="142875" y="70613"/>
                  <a:pt x="142875" y="79375"/>
                </a:cubicBezTo>
                <a:cubicBezTo>
                  <a:pt x="142875" y="88137"/>
                  <a:pt x="135762" y="95250"/>
                  <a:pt x="127000" y="95250"/>
                </a:cubicBezTo>
                <a:cubicBezTo>
                  <a:pt x="118238" y="95250"/>
                  <a:pt x="111125" y="88137"/>
                  <a:pt x="111125" y="79375"/>
                </a:cubicBezTo>
                <a:close/>
                <a:moveTo>
                  <a:pt x="107156" y="111125"/>
                </a:moveTo>
                <a:lnTo>
                  <a:pt x="130969" y="111125"/>
                </a:lnTo>
                <a:cubicBezTo>
                  <a:pt x="137567" y="111125"/>
                  <a:pt x="142875" y="116433"/>
                  <a:pt x="142875" y="123031"/>
                </a:cubicBezTo>
                <a:lnTo>
                  <a:pt x="142875" y="166688"/>
                </a:lnTo>
                <a:lnTo>
                  <a:pt x="146844" y="166688"/>
                </a:lnTo>
                <a:cubicBezTo>
                  <a:pt x="153442" y="166688"/>
                  <a:pt x="158750" y="171996"/>
                  <a:pt x="158750" y="178594"/>
                </a:cubicBezTo>
                <a:cubicBezTo>
                  <a:pt x="158750" y="185192"/>
                  <a:pt x="153442" y="190500"/>
                  <a:pt x="146844" y="190500"/>
                </a:cubicBezTo>
                <a:lnTo>
                  <a:pt x="107156" y="190500"/>
                </a:lnTo>
                <a:cubicBezTo>
                  <a:pt x="100558" y="190500"/>
                  <a:pt x="95250" y="185192"/>
                  <a:pt x="95250" y="178594"/>
                </a:cubicBezTo>
                <a:cubicBezTo>
                  <a:pt x="95250" y="171996"/>
                  <a:pt x="100558" y="166688"/>
                  <a:pt x="107156" y="166688"/>
                </a:cubicBezTo>
                <a:lnTo>
                  <a:pt x="119063" y="166688"/>
                </a:lnTo>
                <a:lnTo>
                  <a:pt x="119063" y="134938"/>
                </a:lnTo>
                <a:lnTo>
                  <a:pt x="107156" y="134938"/>
                </a:lnTo>
                <a:cubicBezTo>
                  <a:pt x="100558" y="134938"/>
                  <a:pt x="95250" y="129629"/>
                  <a:pt x="95250" y="123031"/>
                </a:cubicBezTo>
                <a:cubicBezTo>
                  <a:pt x="95250" y="116433"/>
                  <a:pt x="100558" y="111125"/>
                  <a:pt x="107156" y="111125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244600" y="53975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启动顺序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4700" y="5905500"/>
            <a:ext cx="35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13346" y="59817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702296" y="5905500"/>
            <a:ext cx="342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F6A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126853" y="59817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2615803" y="5905500"/>
            <a:ext cx="368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E5C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852620" y="1828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71450" y="0"/>
                </a:moveTo>
                <a:cubicBezTo>
                  <a:pt x="171450" y="-10537"/>
                  <a:pt x="162937" y="-19050"/>
                  <a:pt x="152400" y="-19050"/>
                </a:cubicBezTo>
                <a:cubicBezTo>
                  <a:pt x="141863" y="-19050"/>
                  <a:pt x="133350" y="-10537"/>
                  <a:pt x="133350" y="0"/>
                </a:cubicBezTo>
                <a:lnTo>
                  <a:pt x="133350" y="152400"/>
                </a:lnTo>
                <a:cubicBezTo>
                  <a:pt x="133350" y="162937"/>
                  <a:pt x="141863" y="171450"/>
                  <a:pt x="152400" y="171450"/>
                </a:cubicBezTo>
                <a:cubicBezTo>
                  <a:pt x="162937" y="171450"/>
                  <a:pt x="171450" y="162937"/>
                  <a:pt x="171450" y="152400"/>
                </a:cubicBezTo>
                <a:lnTo>
                  <a:pt x="171450" y="0"/>
                </a:lnTo>
                <a:close/>
                <a:moveTo>
                  <a:pt x="87094" y="58579"/>
                </a:moveTo>
                <a:cubicBezTo>
                  <a:pt x="95726" y="52566"/>
                  <a:pt x="97810" y="40660"/>
                  <a:pt x="91797" y="32028"/>
                </a:cubicBezTo>
                <a:cubicBezTo>
                  <a:pt x="85785" y="23396"/>
                  <a:pt x="73878" y="21312"/>
                  <a:pt x="65246" y="27325"/>
                </a:cubicBezTo>
                <a:cubicBezTo>
                  <a:pt x="25837" y="54828"/>
                  <a:pt x="0" y="100608"/>
                  <a:pt x="0" y="152400"/>
                </a:cubicBezTo>
                <a:cubicBezTo>
                  <a:pt x="0" y="236577"/>
                  <a:pt x="68223" y="304800"/>
                  <a:pt x="152400" y="304800"/>
                </a:cubicBezTo>
                <a:cubicBezTo>
                  <a:pt x="236577" y="304800"/>
                  <a:pt x="304800" y="236577"/>
                  <a:pt x="304800" y="152400"/>
                </a:cubicBezTo>
                <a:cubicBezTo>
                  <a:pt x="304800" y="100608"/>
                  <a:pt x="278963" y="54828"/>
                  <a:pt x="239494" y="27325"/>
                </a:cubicBezTo>
                <a:cubicBezTo>
                  <a:pt x="230862" y="21312"/>
                  <a:pt x="219015" y="23396"/>
                  <a:pt x="212943" y="32028"/>
                </a:cubicBezTo>
                <a:cubicBezTo>
                  <a:pt x="206871" y="40660"/>
                  <a:pt x="209014" y="52507"/>
                  <a:pt x="217646" y="58579"/>
                </a:cubicBezTo>
                <a:cubicBezTo>
                  <a:pt x="247293" y="79296"/>
                  <a:pt x="266640" y="113586"/>
                  <a:pt x="266640" y="152400"/>
                </a:cubicBezTo>
                <a:cubicBezTo>
                  <a:pt x="266640" y="215503"/>
                  <a:pt x="215444" y="266700"/>
                  <a:pt x="152340" y="266700"/>
                </a:cubicBezTo>
                <a:cubicBezTo>
                  <a:pt x="89237" y="266700"/>
                  <a:pt x="38100" y="215503"/>
                  <a:pt x="38100" y="152400"/>
                </a:cubicBezTo>
                <a:cubicBezTo>
                  <a:pt x="38100" y="113586"/>
                  <a:pt x="57448" y="79236"/>
                  <a:pt x="87094" y="58579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347920" y="1778000"/>
            <a:ext cx="2590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所有节点初始状态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820870" y="2444750"/>
            <a:ext cx="5918200" cy="1282700"/>
          </a:xfrm>
          <a:custGeom>
            <a:avLst/>
            <a:gdLst/>
            <a:ahLst/>
            <a:cxnLst/>
            <a:rect l="l" t="t" r="r" b="b"/>
            <a:pathLst>
              <a:path w="5918200" h="1282700">
                <a:moveTo>
                  <a:pt x="152398" y="0"/>
                </a:moveTo>
                <a:lnTo>
                  <a:pt x="5765802" y="0"/>
                </a:lnTo>
                <a:cubicBezTo>
                  <a:pt x="5849969" y="0"/>
                  <a:pt x="5918200" y="68231"/>
                  <a:pt x="5918200" y="152398"/>
                </a:cubicBezTo>
                <a:lnTo>
                  <a:pt x="5918200" y="1130302"/>
                </a:lnTo>
                <a:cubicBezTo>
                  <a:pt x="5918200" y="1214469"/>
                  <a:pt x="5849969" y="1282700"/>
                  <a:pt x="5765802" y="1282700"/>
                </a:cubicBezTo>
                <a:lnTo>
                  <a:pt x="152398" y="1282700"/>
                </a:lnTo>
                <a:cubicBezTo>
                  <a:pt x="68287" y="1282700"/>
                  <a:pt x="0" y="1214413"/>
                  <a:pt x="0" y="11303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 w="12700">
            <a:solidFill>
              <a:srgbClr val="4F6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0030420" y="2654300"/>
            <a:ext cx="560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peerEpoch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30420" y="3060700"/>
            <a:ext cx="568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D1D5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820870" y="3892550"/>
            <a:ext cx="5918200" cy="1282700"/>
          </a:xfrm>
          <a:custGeom>
            <a:avLst/>
            <a:gdLst/>
            <a:ahLst/>
            <a:cxnLst/>
            <a:rect l="l" t="t" r="r" b="b"/>
            <a:pathLst>
              <a:path w="5918200" h="1282700">
                <a:moveTo>
                  <a:pt x="152398" y="0"/>
                </a:moveTo>
                <a:lnTo>
                  <a:pt x="5765802" y="0"/>
                </a:lnTo>
                <a:cubicBezTo>
                  <a:pt x="5849969" y="0"/>
                  <a:pt x="5918200" y="68231"/>
                  <a:pt x="5918200" y="152398"/>
                </a:cubicBezTo>
                <a:lnTo>
                  <a:pt x="5918200" y="1130302"/>
                </a:lnTo>
                <a:cubicBezTo>
                  <a:pt x="5918200" y="1214469"/>
                  <a:pt x="5849969" y="1282700"/>
                  <a:pt x="5765802" y="1282700"/>
                </a:cubicBezTo>
                <a:lnTo>
                  <a:pt x="152398" y="1282700"/>
                </a:lnTo>
                <a:cubicBezTo>
                  <a:pt x="68287" y="1282700"/>
                  <a:pt x="0" y="1214413"/>
                  <a:pt x="0" y="11303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 w="12700">
            <a:solidFill>
              <a:srgbClr val="4F6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0030420" y="4102100"/>
            <a:ext cx="560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zxid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030420" y="4508500"/>
            <a:ext cx="568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D1D5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820870" y="5340350"/>
            <a:ext cx="5918200" cy="1282700"/>
          </a:xfrm>
          <a:custGeom>
            <a:avLst/>
            <a:gdLst/>
            <a:ahLst/>
            <a:cxnLst/>
            <a:rect l="l" t="t" r="r" b="b"/>
            <a:pathLst>
              <a:path w="5918200" h="1282700">
                <a:moveTo>
                  <a:pt x="152398" y="0"/>
                </a:moveTo>
                <a:lnTo>
                  <a:pt x="5765802" y="0"/>
                </a:lnTo>
                <a:cubicBezTo>
                  <a:pt x="5849969" y="0"/>
                  <a:pt x="5918200" y="68231"/>
                  <a:pt x="5918200" y="152398"/>
                </a:cubicBezTo>
                <a:lnTo>
                  <a:pt x="5918200" y="1130302"/>
                </a:lnTo>
                <a:cubicBezTo>
                  <a:pt x="5918200" y="1214469"/>
                  <a:pt x="5849969" y="1282700"/>
                  <a:pt x="5765802" y="1282700"/>
                </a:cubicBezTo>
                <a:lnTo>
                  <a:pt x="152398" y="1282700"/>
                </a:lnTo>
                <a:cubicBezTo>
                  <a:pt x="68287" y="1282700"/>
                  <a:pt x="0" y="1214413"/>
                  <a:pt x="0" y="11303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 w="12700">
            <a:solidFill>
              <a:srgbClr val="4F6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0030420" y="5549900"/>
            <a:ext cx="560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electionEpoch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030420" y="5956300"/>
            <a:ext cx="568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D1D5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820870" y="6788150"/>
            <a:ext cx="5918200" cy="1282700"/>
          </a:xfrm>
          <a:custGeom>
            <a:avLst/>
            <a:gdLst/>
            <a:ahLst/>
            <a:cxnLst/>
            <a:rect l="l" t="t" r="r" b="b"/>
            <a:pathLst>
              <a:path w="5918200" h="1282700">
                <a:moveTo>
                  <a:pt x="152398" y="0"/>
                </a:moveTo>
                <a:lnTo>
                  <a:pt x="5765802" y="0"/>
                </a:lnTo>
                <a:cubicBezTo>
                  <a:pt x="5849969" y="0"/>
                  <a:pt x="5918200" y="68231"/>
                  <a:pt x="5918200" y="152398"/>
                </a:cubicBezTo>
                <a:lnTo>
                  <a:pt x="5918200" y="1130302"/>
                </a:lnTo>
                <a:cubicBezTo>
                  <a:pt x="5918200" y="1214469"/>
                  <a:pt x="5849969" y="1282700"/>
                  <a:pt x="5765802" y="1282700"/>
                </a:cubicBezTo>
                <a:lnTo>
                  <a:pt x="152398" y="1282700"/>
                </a:lnTo>
                <a:cubicBezTo>
                  <a:pt x="68287" y="1282700"/>
                  <a:pt x="0" y="1214413"/>
                  <a:pt x="0" y="11303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 w="12700">
            <a:solidFill>
              <a:srgbClr val="4F6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0030420" y="6997700"/>
            <a:ext cx="560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030420" y="7404100"/>
            <a:ext cx="568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LOOKING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858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2501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1 · t=0s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63600"/>
            <a:ext cx="2628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节点 A 启动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778000"/>
            <a:ext cx="50800" cy="1600200"/>
          </a:xfrm>
          <a:custGeom>
            <a:avLst/>
            <a:gdLst/>
            <a:ahLst/>
            <a:cxnLst/>
            <a:rect l="l" t="t" r="r" b="b"/>
            <a:pathLst>
              <a:path w="50800" h="1600200">
                <a:moveTo>
                  <a:pt x="0" y="0"/>
                </a:moveTo>
                <a:lnTo>
                  <a:pt x="50800" y="0"/>
                </a:lnTo>
                <a:lnTo>
                  <a:pt x="5080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69950" y="18288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95250"/>
                </a:lnTo>
                <a:cubicBezTo>
                  <a:pt x="0" y="116265"/>
                  <a:pt x="17085" y="133350"/>
                  <a:pt x="38100" y="133350"/>
                </a:cubicBezTo>
                <a:lnTo>
                  <a:pt x="228600" y="133350"/>
                </a:lnTo>
                <a:cubicBezTo>
                  <a:pt x="249615" y="133350"/>
                  <a:pt x="266700" y="116265"/>
                  <a:pt x="266700" y="952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166688" y="61912"/>
                </a:moveTo>
                <a:cubicBezTo>
                  <a:pt x="174573" y="61912"/>
                  <a:pt x="180975" y="68315"/>
                  <a:pt x="180975" y="76200"/>
                </a:cubicBezTo>
                <a:cubicBezTo>
                  <a:pt x="180975" y="84085"/>
                  <a:pt x="174573" y="90488"/>
                  <a:pt x="166688" y="90488"/>
                </a:cubicBezTo>
                <a:cubicBezTo>
                  <a:pt x="158802" y="90488"/>
                  <a:pt x="152400" y="84085"/>
                  <a:pt x="152400" y="76200"/>
                </a:cubicBezTo>
                <a:cubicBezTo>
                  <a:pt x="152400" y="68315"/>
                  <a:pt x="158802" y="61912"/>
                  <a:pt x="166688" y="61912"/>
                </a:cubicBezTo>
                <a:close/>
                <a:moveTo>
                  <a:pt x="200025" y="76200"/>
                </a:moveTo>
                <a:cubicBezTo>
                  <a:pt x="200025" y="68315"/>
                  <a:pt x="206427" y="61912"/>
                  <a:pt x="214313" y="61912"/>
                </a:cubicBezTo>
                <a:cubicBezTo>
                  <a:pt x="222198" y="61912"/>
                  <a:pt x="228600" y="68315"/>
                  <a:pt x="228600" y="76200"/>
                </a:cubicBezTo>
                <a:cubicBezTo>
                  <a:pt x="228600" y="84085"/>
                  <a:pt x="222198" y="90488"/>
                  <a:pt x="214313" y="90488"/>
                </a:cubicBezTo>
                <a:cubicBezTo>
                  <a:pt x="206427" y="90488"/>
                  <a:pt x="200025" y="84085"/>
                  <a:pt x="200025" y="76200"/>
                </a:cubicBezTo>
                <a:close/>
                <a:moveTo>
                  <a:pt x="38100" y="171450"/>
                </a:moveTo>
                <a:cubicBezTo>
                  <a:pt x="17085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209550"/>
                </a:lnTo>
                <a:cubicBezTo>
                  <a:pt x="266700" y="188535"/>
                  <a:pt x="249615" y="171450"/>
                  <a:pt x="228600" y="171450"/>
                </a:cubicBezTo>
                <a:lnTo>
                  <a:pt x="38100" y="171450"/>
                </a:lnTo>
                <a:close/>
                <a:moveTo>
                  <a:pt x="166688" y="214313"/>
                </a:moveTo>
                <a:cubicBezTo>
                  <a:pt x="174573" y="214313"/>
                  <a:pt x="180975" y="220715"/>
                  <a:pt x="180975" y="228600"/>
                </a:cubicBezTo>
                <a:cubicBezTo>
                  <a:pt x="180975" y="236485"/>
                  <a:pt x="174573" y="242888"/>
                  <a:pt x="166688" y="242888"/>
                </a:cubicBezTo>
                <a:cubicBezTo>
                  <a:pt x="158802" y="242888"/>
                  <a:pt x="152400" y="236485"/>
                  <a:pt x="152400" y="228600"/>
                </a:cubicBezTo>
                <a:cubicBezTo>
                  <a:pt x="152400" y="220715"/>
                  <a:pt x="158802" y="214313"/>
                  <a:pt x="166688" y="214313"/>
                </a:cubicBezTo>
                <a:close/>
                <a:moveTo>
                  <a:pt x="200025" y="228600"/>
                </a:moveTo>
                <a:cubicBezTo>
                  <a:pt x="200025" y="220715"/>
                  <a:pt x="206427" y="214313"/>
                  <a:pt x="214313" y="214313"/>
                </a:cubicBezTo>
                <a:cubicBezTo>
                  <a:pt x="222198" y="214313"/>
                  <a:pt x="228600" y="220715"/>
                  <a:pt x="228600" y="228600"/>
                </a:cubicBezTo>
                <a:cubicBezTo>
                  <a:pt x="228600" y="236485"/>
                  <a:pt x="222198" y="242888"/>
                  <a:pt x="214313" y="242888"/>
                </a:cubicBezTo>
                <a:cubicBezTo>
                  <a:pt x="206427" y="242888"/>
                  <a:pt x="200025" y="236485"/>
                  <a:pt x="200025" y="228600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346200" y="1778000"/>
            <a:ext cx="1752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A 状态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9150" y="2393950"/>
            <a:ext cx="7099300" cy="977900"/>
          </a:xfrm>
          <a:custGeom>
            <a:avLst/>
            <a:gdLst/>
            <a:ahLst/>
            <a:cxnLst/>
            <a:rect l="l" t="t" r="r" b="b"/>
            <a:pathLst>
              <a:path w="7099300" h="977900">
                <a:moveTo>
                  <a:pt x="152396" y="0"/>
                </a:moveTo>
                <a:lnTo>
                  <a:pt x="6946904" y="0"/>
                </a:lnTo>
                <a:cubicBezTo>
                  <a:pt x="7031070" y="0"/>
                  <a:pt x="7099300" y="68230"/>
                  <a:pt x="7099300" y="152396"/>
                </a:cubicBezTo>
                <a:lnTo>
                  <a:pt x="7099300" y="825504"/>
                </a:lnTo>
                <a:cubicBezTo>
                  <a:pt x="7099300" y="909670"/>
                  <a:pt x="7031070" y="977900"/>
                  <a:pt x="6946904" y="977900"/>
                </a:cubicBezTo>
                <a:lnTo>
                  <a:pt x="152396" y="977900"/>
                </a:lnTo>
                <a:cubicBezTo>
                  <a:pt x="68286" y="977900"/>
                  <a:pt x="0" y="909614"/>
                  <a:pt x="0" y="82550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84250" y="2654300"/>
            <a:ext cx="6769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LOOKING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" y="3683000"/>
            <a:ext cx="50800" cy="1905000"/>
          </a:xfrm>
          <a:custGeom>
            <a:avLst/>
            <a:gdLst/>
            <a:ahLst/>
            <a:cxnLst/>
            <a:rect l="l" t="t" r="r" b="b"/>
            <a:pathLst>
              <a:path w="50800" h="1905000">
                <a:moveTo>
                  <a:pt x="0" y="0"/>
                </a:moveTo>
                <a:lnTo>
                  <a:pt x="50800" y="0"/>
                </a:lnTo>
                <a:lnTo>
                  <a:pt x="50800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31850" y="3733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57150" y="57150"/>
                </a:moveTo>
                <a:cubicBezTo>
                  <a:pt x="57150" y="36135"/>
                  <a:pt x="74235" y="19050"/>
                  <a:pt x="95250" y="19050"/>
                </a:cubicBezTo>
                <a:lnTo>
                  <a:pt x="247650" y="19050"/>
                </a:lnTo>
                <a:cubicBezTo>
                  <a:pt x="268665" y="19050"/>
                  <a:pt x="285750" y="36135"/>
                  <a:pt x="285750" y="57150"/>
                </a:cubicBezTo>
                <a:lnTo>
                  <a:pt x="285750" y="190500"/>
                </a:lnTo>
                <a:cubicBezTo>
                  <a:pt x="285750" y="211515"/>
                  <a:pt x="268665" y="228600"/>
                  <a:pt x="247650" y="228600"/>
                </a:cubicBezTo>
                <a:lnTo>
                  <a:pt x="95250" y="228600"/>
                </a:lnTo>
                <a:cubicBezTo>
                  <a:pt x="74235" y="228600"/>
                  <a:pt x="57150" y="211515"/>
                  <a:pt x="57150" y="190500"/>
                </a:cubicBezTo>
                <a:lnTo>
                  <a:pt x="57150" y="57150"/>
                </a:lnTo>
                <a:close/>
                <a:moveTo>
                  <a:pt x="217110" y="68818"/>
                </a:moveTo>
                <a:cubicBezTo>
                  <a:pt x="210443" y="64651"/>
                  <a:pt x="201632" y="66675"/>
                  <a:pt x="197406" y="73343"/>
                </a:cubicBezTo>
                <a:lnTo>
                  <a:pt x="160853" y="131862"/>
                </a:lnTo>
                <a:lnTo>
                  <a:pt x="144780" y="110430"/>
                </a:lnTo>
                <a:cubicBezTo>
                  <a:pt x="140018" y="104120"/>
                  <a:pt x="131088" y="102810"/>
                  <a:pt x="124777" y="107573"/>
                </a:cubicBezTo>
                <a:cubicBezTo>
                  <a:pt x="118467" y="112335"/>
                  <a:pt x="117157" y="121265"/>
                  <a:pt x="121920" y="127575"/>
                </a:cubicBezTo>
                <a:lnTo>
                  <a:pt x="150495" y="165675"/>
                </a:lnTo>
                <a:cubicBezTo>
                  <a:pt x="153293" y="169426"/>
                  <a:pt x="157817" y="171569"/>
                  <a:pt x="162520" y="171390"/>
                </a:cubicBezTo>
                <a:cubicBezTo>
                  <a:pt x="167223" y="171212"/>
                  <a:pt x="171510" y="168712"/>
                  <a:pt x="174010" y="164663"/>
                </a:cubicBezTo>
                <a:lnTo>
                  <a:pt x="221635" y="88463"/>
                </a:lnTo>
                <a:cubicBezTo>
                  <a:pt x="225802" y="81796"/>
                  <a:pt x="223778" y="72985"/>
                  <a:pt x="217110" y="68759"/>
                </a:cubicBezTo>
                <a:close/>
                <a:moveTo>
                  <a:pt x="28575" y="185738"/>
                </a:moveTo>
                <a:lnTo>
                  <a:pt x="28575" y="247650"/>
                </a:lnTo>
                <a:cubicBezTo>
                  <a:pt x="28575" y="252889"/>
                  <a:pt x="32861" y="257175"/>
                  <a:pt x="38100" y="257175"/>
                </a:cubicBezTo>
                <a:lnTo>
                  <a:pt x="304800" y="257175"/>
                </a:lnTo>
                <a:cubicBezTo>
                  <a:pt x="310039" y="257175"/>
                  <a:pt x="314325" y="252889"/>
                  <a:pt x="314325" y="247650"/>
                </a:cubicBezTo>
                <a:lnTo>
                  <a:pt x="314325" y="185738"/>
                </a:lnTo>
                <a:cubicBezTo>
                  <a:pt x="314325" y="177820"/>
                  <a:pt x="320695" y="171450"/>
                  <a:pt x="328613" y="171450"/>
                </a:cubicBezTo>
                <a:cubicBezTo>
                  <a:pt x="336530" y="171450"/>
                  <a:pt x="342900" y="177820"/>
                  <a:pt x="342900" y="185738"/>
                </a:cubicBezTo>
                <a:lnTo>
                  <a:pt x="342900" y="247650"/>
                </a:lnTo>
                <a:cubicBezTo>
                  <a:pt x="342900" y="268665"/>
                  <a:pt x="325815" y="285750"/>
                  <a:pt x="3048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185738"/>
                </a:lnTo>
                <a:cubicBezTo>
                  <a:pt x="0" y="177820"/>
                  <a:pt x="6370" y="171450"/>
                  <a:pt x="14288" y="171450"/>
                </a:cubicBezTo>
                <a:cubicBezTo>
                  <a:pt x="22205" y="171450"/>
                  <a:pt x="28575" y="177820"/>
                  <a:pt x="28575" y="185738"/>
                </a:cubicBez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346200" y="368300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初始投票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9150" y="4298950"/>
            <a:ext cx="7099300" cy="1282700"/>
          </a:xfrm>
          <a:custGeom>
            <a:avLst/>
            <a:gdLst/>
            <a:ahLst/>
            <a:cxnLst/>
            <a:rect l="l" t="t" r="r" b="b"/>
            <a:pathLst>
              <a:path w="7099300" h="1282700">
                <a:moveTo>
                  <a:pt x="152398" y="0"/>
                </a:moveTo>
                <a:lnTo>
                  <a:pt x="6946902" y="0"/>
                </a:lnTo>
                <a:cubicBezTo>
                  <a:pt x="7031069" y="0"/>
                  <a:pt x="7099300" y="68231"/>
                  <a:pt x="7099300" y="152398"/>
                </a:cubicBezTo>
                <a:lnTo>
                  <a:pt x="7099300" y="1130302"/>
                </a:lnTo>
                <a:cubicBezTo>
                  <a:pt x="7099300" y="1214469"/>
                  <a:pt x="7031069" y="1282700"/>
                  <a:pt x="6946902" y="1282700"/>
                </a:cubicBezTo>
                <a:lnTo>
                  <a:pt x="152398" y="1282700"/>
                </a:lnTo>
                <a:cubicBezTo>
                  <a:pt x="68287" y="1282700"/>
                  <a:pt x="0" y="1214413"/>
                  <a:pt x="0" y="11303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 w="12700">
            <a:solidFill>
              <a:srgbClr val="4F6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16000" y="4559300"/>
            <a:ext cx="670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D1D5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Vote(1, 0, 0, 1)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5050" y="5067300"/>
            <a:ext cx="166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leader=1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05100" y="5067300"/>
            <a:ext cx="166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zxid=0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75150" y="5067300"/>
            <a:ext cx="166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peerEpoch=0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45200" y="5067300"/>
            <a:ext cx="166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electionEpoch=1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3400" y="5892800"/>
            <a:ext cx="50800" cy="1358900"/>
          </a:xfrm>
          <a:custGeom>
            <a:avLst/>
            <a:gdLst/>
            <a:ahLst/>
            <a:cxnLst/>
            <a:rect l="l" t="t" r="r" b="b"/>
            <a:pathLst>
              <a:path w="50800" h="1358900">
                <a:moveTo>
                  <a:pt x="0" y="0"/>
                </a:moveTo>
                <a:lnTo>
                  <a:pt x="50800" y="0"/>
                </a:lnTo>
                <a:lnTo>
                  <a:pt x="50800" y="1358900"/>
                </a:lnTo>
                <a:lnTo>
                  <a:pt x="0" y="1358900"/>
                </a:lnTo>
                <a:lnTo>
                  <a:pt x="0" y="0"/>
                </a:lnTo>
                <a:close/>
              </a:path>
            </a:pathLst>
          </a:custGeom>
          <a:solidFill>
            <a:srgbClr val="3E5C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31850" y="5943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57150"/>
                </a:moveTo>
                <a:cubicBezTo>
                  <a:pt x="117336" y="57150"/>
                  <a:pt x="68342" y="78581"/>
                  <a:pt x="32325" y="113467"/>
                </a:cubicBezTo>
                <a:cubicBezTo>
                  <a:pt x="24765" y="120789"/>
                  <a:pt x="12680" y="120610"/>
                  <a:pt x="5417" y="113050"/>
                </a:cubicBezTo>
                <a:cubicBezTo>
                  <a:pt x="-1845" y="105489"/>
                  <a:pt x="-1726" y="93405"/>
                  <a:pt x="5834" y="86142"/>
                </a:cubicBezTo>
                <a:cubicBezTo>
                  <a:pt x="48637" y="44589"/>
                  <a:pt x="107097" y="19050"/>
                  <a:pt x="171450" y="19050"/>
                </a:cubicBezTo>
                <a:cubicBezTo>
                  <a:pt x="235803" y="19050"/>
                  <a:pt x="294263" y="44589"/>
                  <a:pt x="337125" y="86142"/>
                </a:cubicBezTo>
                <a:cubicBezTo>
                  <a:pt x="344686" y="93464"/>
                  <a:pt x="344865" y="105549"/>
                  <a:pt x="337542" y="113050"/>
                </a:cubicBezTo>
                <a:cubicBezTo>
                  <a:pt x="330220" y="120551"/>
                  <a:pt x="318135" y="120789"/>
                  <a:pt x="310634" y="113467"/>
                </a:cubicBezTo>
                <a:cubicBezTo>
                  <a:pt x="274558" y="78581"/>
                  <a:pt x="225564" y="57150"/>
                  <a:pt x="171450" y="57150"/>
                </a:cubicBezTo>
                <a:close/>
                <a:moveTo>
                  <a:pt x="142875" y="257175"/>
                </a:moveTo>
                <a:cubicBezTo>
                  <a:pt x="142875" y="241404"/>
                  <a:pt x="155679" y="228600"/>
                  <a:pt x="171450" y="228600"/>
                </a:cubicBezTo>
                <a:cubicBezTo>
                  <a:pt x="187221" y="228600"/>
                  <a:pt x="200025" y="241404"/>
                  <a:pt x="200025" y="257175"/>
                </a:cubicBezTo>
                <a:cubicBezTo>
                  <a:pt x="200025" y="272946"/>
                  <a:pt x="187221" y="285750"/>
                  <a:pt x="171450" y="285750"/>
                </a:cubicBezTo>
                <a:cubicBezTo>
                  <a:pt x="155679" y="285750"/>
                  <a:pt x="142875" y="272946"/>
                  <a:pt x="142875" y="257175"/>
                </a:cubicBezTo>
                <a:close/>
                <a:moveTo>
                  <a:pt x="100013" y="194191"/>
                </a:moveTo>
                <a:cubicBezTo>
                  <a:pt x="93047" y="202109"/>
                  <a:pt x="81022" y="202823"/>
                  <a:pt x="73104" y="195858"/>
                </a:cubicBezTo>
                <a:cubicBezTo>
                  <a:pt x="65187" y="188893"/>
                  <a:pt x="64472" y="176867"/>
                  <a:pt x="71438" y="168950"/>
                </a:cubicBezTo>
                <a:cubicBezTo>
                  <a:pt x="95845" y="141327"/>
                  <a:pt x="131624" y="123825"/>
                  <a:pt x="171450" y="123825"/>
                </a:cubicBezTo>
                <a:cubicBezTo>
                  <a:pt x="211276" y="123825"/>
                  <a:pt x="247055" y="141327"/>
                  <a:pt x="271463" y="168950"/>
                </a:cubicBezTo>
                <a:cubicBezTo>
                  <a:pt x="278428" y="176867"/>
                  <a:pt x="277654" y="188893"/>
                  <a:pt x="269796" y="195858"/>
                </a:cubicBezTo>
                <a:cubicBezTo>
                  <a:pt x="261937" y="202823"/>
                  <a:pt x="249853" y="202049"/>
                  <a:pt x="242888" y="194191"/>
                </a:cubicBezTo>
                <a:cubicBezTo>
                  <a:pt x="225385" y="174367"/>
                  <a:pt x="199906" y="161925"/>
                  <a:pt x="171450" y="161925"/>
                </a:cubicBezTo>
                <a:cubicBezTo>
                  <a:pt x="142994" y="161925"/>
                  <a:pt x="117515" y="174367"/>
                  <a:pt x="100013" y="194191"/>
                </a:cubicBezTo>
                <a:close/>
              </a:path>
            </a:pathLst>
          </a:custGeom>
          <a:solidFill>
            <a:srgbClr val="3E5C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346200" y="589280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网络连接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2800" y="6502400"/>
            <a:ext cx="72263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A 尝试连接其他节点（B 和 C），但由于它们尚未启动，</a:t>
            </a:r>
            <a:r>
              <a:rPr lang="en-US" sz="1800" b="1" dirty="0">
                <a:solidFill>
                  <a:srgbClr val="3E5C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连接失败</a:t>
            </a: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56600" y="1778000"/>
            <a:ext cx="50800" cy="3352800"/>
          </a:xfrm>
          <a:custGeom>
            <a:avLst/>
            <a:gdLst/>
            <a:ahLst/>
            <a:cxnLst/>
            <a:rect l="l" t="t" r="r" b="b"/>
            <a:pathLst>
              <a:path w="50800" h="3352800">
                <a:moveTo>
                  <a:pt x="0" y="0"/>
                </a:moveTo>
                <a:lnTo>
                  <a:pt x="50800" y="0"/>
                </a:lnTo>
                <a:lnTo>
                  <a:pt x="508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655050" y="1828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05038" y="142875"/>
                </a:moveTo>
                <a:lnTo>
                  <a:pt x="200263" y="142875"/>
                </a:lnTo>
                <a:cubicBezTo>
                  <a:pt x="189726" y="142875"/>
                  <a:pt x="181213" y="134362"/>
                  <a:pt x="181213" y="123825"/>
                </a:cubicBezTo>
                <a:lnTo>
                  <a:pt x="181213" y="19050"/>
                </a:lnTo>
                <a:cubicBezTo>
                  <a:pt x="181213" y="8513"/>
                  <a:pt x="189786" y="-119"/>
                  <a:pt x="200204" y="1250"/>
                </a:cubicBezTo>
                <a:cubicBezTo>
                  <a:pt x="263902" y="9704"/>
                  <a:pt x="314385" y="60186"/>
                  <a:pt x="322838" y="123885"/>
                </a:cubicBezTo>
                <a:cubicBezTo>
                  <a:pt x="324207" y="134303"/>
                  <a:pt x="315575" y="142875"/>
                  <a:pt x="305038" y="142875"/>
                </a:cubicBezTo>
                <a:close/>
                <a:moveTo>
                  <a:pt x="132517" y="22146"/>
                </a:moveTo>
                <a:cubicBezTo>
                  <a:pt x="143292" y="19883"/>
                  <a:pt x="152638" y="28694"/>
                  <a:pt x="152638" y="39707"/>
                </a:cubicBezTo>
                <a:lnTo>
                  <a:pt x="152638" y="157163"/>
                </a:lnTo>
                <a:cubicBezTo>
                  <a:pt x="152638" y="160496"/>
                  <a:pt x="153829" y="163711"/>
                  <a:pt x="155912" y="166271"/>
                </a:cubicBezTo>
                <a:lnTo>
                  <a:pt x="234553" y="261164"/>
                </a:lnTo>
                <a:cubicBezTo>
                  <a:pt x="241518" y="269558"/>
                  <a:pt x="240030" y="282238"/>
                  <a:pt x="230445" y="287417"/>
                </a:cubicBezTo>
                <a:cubicBezTo>
                  <a:pt x="210145" y="298490"/>
                  <a:pt x="186869" y="304800"/>
                  <a:pt x="162163" y="304800"/>
                </a:cubicBezTo>
                <a:cubicBezTo>
                  <a:pt x="83284" y="304800"/>
                  <a:pt x="19288" y="240804"/>
                  <a:pt x="19288" y="161925"/>
                </a:cubicBezTo>
                <a:cubicBezTo>
                  <a:pt x="19288" y="93166"/>
                  <a:pt x="67806" y="35778"/>
                  <a:pt x="132517" y="22146"/>
                </a:cubicBezTo>
                <a:close/>
                <a:moveTo>
                  <a:pt x="284440" y="171450"/>
                </a:moveTo>
                <a:lnTo>
                  <a:pt x="322540" y="171450"/>
                </a:lnTo>
                <a:cubicBezTo>
                  <a:pt x="333554" y="171450"/>
                  <a:pt x="342364" y="180796"/>
                  <a:pt x="340102" y="191572"/>
                </a:cubicBezTo>
                <a:cubicBezTo>
                  <a:pt x="334030" y="220385"/>
                  <a:pt x="319266" y="245983"/>
                  <a:pt x="298668" y="265509"/>
                </a:cubicBezTo>
                <a:cubicBezTo>
                  <a:pt x="291346" y="272475"/>
                  <a:pt x="279856" y="270986"/>
                  <a:pt x="273427" y="263188"/>
                </a:cubicBezTo>
                <a:lnTo>
                  <a:pt x="223183" y="202644"/>
                </a:lnTo>
                <a:cubicBezTo>
                  <a:pt x="212884" y="190202"/>
                  <a:pt x="221754" y="171450"/>
                  <a:pt x="237827" y="171450"/>
                </a:cubicBezTo>
                <a:lnTo>
                  <a:pt x="284381" y="17145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169400" y="177800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投票统计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36000" y="2387600"/>
            <a:ext cx="7112000" cy="812800"/>
          </a:xfrm>
          <a:custGeom>
            <a:avLst/>
            <a:gdLst/>
            <a:ahLst/>
            <a:cxnLst/>
            <a:rect l="l" t="t" r="r" b="b"/>
            <a:pathLst>
              <a:path w="7112000" h="812800">
                <a:moveTo>
                  <a:pt x="101600" y="0"/>
                </a:moveTo>
                <a:lnTo>
                  <a:pt x="7010400" y="0"/>
                </a:lnTo>
                <a:cubicBezTo>
                  <a:pt x="7066475" y="0"/>
                  <a:pt x="7112000" y="45525"/>
                  <a:pt x="7112000" y="101600"/>
                </a:cubicBezTo>
                <a:lnTo>
                  <a:pt x="7112000" y="711200"/>
                </a:lnTo>
                <a:cubicBezTo>
                  <a:pt x="7112000" y="767275"/>
                  <a:pt x="7066475" y="812800"/>
                  <a:pt x="70104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839200" y="2616200"/>
            <a:ext cx="1308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A 支持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031343" y="2590800"/>
            <a:ext cx="279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254883" y="2616200"/>
            <a:ext cx="40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 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636000" y="3352800"/>
            <a:ext cx="7112000" cy="812800"/>
          </a:xfrm>
          <a:custGeom>
            <a:avLst/>
            <a:gdLst/>
            <a:ahLst/>
            <a:cxnLst/>
            <a:rect l="l" t="t" r="r" b="b"/>
            <a:pathLst>
              <a:path w="7112000" h="812800">
                <a:moveTo>
                  <a:pt x="101600" y="0"/>
                </a:moveTo>
                <a:lnTo>
                  <a:pt x="7010400" y="0"/>
                </a:lnTo>
                <a:cubicBezTo>
                  <a:pt x="7066475" y="0"/>
                  <a:pt x="7112000" y="45525"/>
                  <a:pt x="7112000" y="101600"/>
                </a:cubicBezTo>
                <a:lnTo>
                  <a:pt x="7112000" y="711200"/>
                </a:lnTo>
                <a:cubicBezTo>
                  <a:pt x="7112000" y="767275"/>
                  <a:pt x="7066475" y="812800"/>
                  <a:pt x="70104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E5C5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839200" y="3581400"/>
            <a:ext cx="1308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B 支持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958814" y="3556000"/>
            <a:ext cx="342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254883" y="3581400"/>
            <a:ext cx="40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 3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36000" y="4318000"/>
            <a:ext cx="7112000" cy="812800"/>
          </a:xfrm>
          <a:custGeom>
            <a:avLst/>
            <a:gdLst/>
            <a:ahLst/>
            <a:cxnLst/>
            <a:rect l="l" t="t" r="r" b="b"/>
            <a:pathLst>
              <a:path w="7112000" h="812800">
                <a:moveTo>
                  <a:pt x="101600" y="0"/>
                </a:moveTo>
                <a:lnTo>
                  <a:pt x="7010400" y="0"/>
                </a:lnTo>
                <a:cubicBezTo>
                  <a:pt x="7066475" y="0"/>
                  <a:pt x="7112000" y="45525"/>
                  <a:pt x="7112000" y="101600"/>
                </a:cubicBezTo>
                <a:lnTo>
                  <a:pt x="7112000" y="711200"/>
                </a:lnTo>
                <a:cubicBezTo>
                  <a:pt x="7112000" y="767275"/>
                  <a:pt x="7066475" y="812800"/>
                  <a:pt x="70104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E5C5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839200" y="4546600"/>
            <a:ext cx="1320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C 支持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958814" y="4521200"/>
            <a:ext cx="342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5254883" y="4546600"/>
            <a:ext cx="40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 3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43900" y="5448300"/>
            <a:ext cx="7391400" cy="1892300"/>
          </a:xfrm>
          <a:custGeom>
            <a:avLst/>
            <a:gdLst/>
            <a:ahLst/>
            <a:cxnLst/>
            <a:rect l="l" t="t" r="r" b="b"/>
            <a:pathLst>
              <a:path w="7391400" h="1892300">
                <a:moveTo>
                  <a:pt x="152406" y="0"/>
                </a:moveTo>
                <a:lnTo>
                  <a:pt x="7238994" y="0"/>
                </a:lnTo>
                <a:cubicBezTo>
                  <a:pt x="7323166" y="0"/>
                  <a:pt x="7391400" y="68234"/>
                  <a:pt x="7391400" y="152406"/>
                </a:cubicBezTo>
                <a:lnTo>
                  <a:pt x="7391400" y="1739894"/>
                </a:lnTo>
                <a:cubicBezTo>
                  <a:pt x="7391400" y="1824066"/>
                  <a:pt x="7323166" y="1892300"/>
                  <a:pt x="7238994" y="1892300"/>
                </a:cubicBezTo>
                <a:lnTo>
                  <a:pt x="152406" y="1892300"/>
                </a:lnTo>
                <a:cubicBezTo>
                  <a:pt x="68234" y="1892300"/>
                  <a:pt x="0" y="1824066"/>
                  <a:pt x="0" y="17398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  <a:ln w="25400">
            <a:solidFill>
              <a:srgbClr val="B89A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699500" y="5791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9194800" y="5765800"/>
            <a:ext cx="88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关键点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661400" y="6273800"/>
            <a:ext cx="68707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单个节点</a:t>
            </a:r>
            <a:r>
              <a:rPr lang="en-US" sz="18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无法形成过半数仲裁</a:t>
            </a: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（1 &lt; 2），必须等待其他节点启动。节点 A 继续处于 LOOKING 状态。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858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247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2 · t=10s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63600"/>
            <a:ext cx="260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节点 B 启动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676400"/>
            <a:ext cx="50800" cy="3352800"/>
          </a:xfrm>
          <a:custGeom>
            <a:avLst/>
            <a:gdLst/>
            <a:ahLst/>
            <a:cxnLst/>
            <a:rect l="l" t="t" r="r" b="b"/>
            <a:pathLst>
              <a:path w="50800" h="3352800">
                <a:moveTo>
                  <a:pt x="0" y="0"/>
                </a:moveTo>
                <a:lnTo>
                  <a:pt x="50800" y="0"/>
                </a:lnTo>
                <a:lnTo>
                  <a:pt x="508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12800" y="1727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6A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22747" y="1828800"/>
            <a:ext cx="342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F6A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74800" y="1676400"/>
            <a:ext cx="146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B 状态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74800" y="2032000"/>
            <a:ext cx="1447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F6A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LOOKING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2590800"/>
            <a:ext cx="721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初始投票：</a:t>
            </a:r>
            <a:r>
              <a:rPr lang="en-US" sz="1600" b="1" dirty="0">
                <a:solidFill>
                  <a:srgbClr val="4F6A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Vote(2, 0, 0, 1)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56600" y="1676400"/>
            <a:ext cx="50800" cy="3352800"/>
          </a:xfrm>
          <a:custGeom>
            <a:avLst/>
            <a:gdLst/>
            <a:ahLst/>
            <a:cxnLst/>
            <a:rect l="l" t="t" r="r" b="b"/>
            <a:pathLst>
              <a:path w="50800" h="3352800">
                <a:moveTo>
                  <a:pt x="0" y="0"/>
                </a:moveTo>
                <a:lnTo>
                  <a:pt x="50800" y="0"/>
                </a:lnTo>
                <a:lnTo>
                  <a:pt x="508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636000" y="1676400"/>
            <a:ext cx="723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投票交换过程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36000" y="2235200"/>
            <a:ext cx="7112000" cy="1016000"/>
          </a:xfrm>
          <a:custGeom>
            <a:avLst/>
            <a:gdLst/>
            <a:ahLst/>
            <a:cxnLst/>
            <a:rect l="l" t="t" r="r" b="b"/>
            <a:pathLst>
              <a:path w="7112000" h="1016000">
                <a:moveTo>
                  <a:pt x="101600" y="0"/>
                </a:moveTo>
                <a:lnTo>
                  <a:pt x="7010400" y="0"/>
                </a:lnTo>
                <a:cubicBezTo>
                  <a:pt x="7066475" y="0"/>
                  <a:pt x="7112000" y="45525"/>
                  <a:pt x="7112000" y="101600"/>
                </a:cubicBezTo>
                <a:lnTo>
                  <a:pt x="7112000" y="914400"/>
                </a:lnTo>
                <a:cubicBezTo>
                  <a:pt x="7112000" y="970475"/>
                  <a:pt x="7066475" y="1016000"/>
                  <a:pt x="7010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788400" y="2387600"/>
            <a:ext cx="690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步骤 1：B 向 A 发送投票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88400" y="2794000"/>
            <a:ext cx="690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 → A: Vote(2, 0, 0, 1)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36000" y="3403600"/>
            <a:ext cx="7112000" cy="1625600"/>
          </a:xfrm>
          <a:custGeom>
            <a:avLst/>
            <a:gdLst/>
            <a:ahLst/>
            <a:cxnLst/>
            <a:rect l="l" t="t" r="r" b="b"/>
            <a:pathLst>
              <a:path w="7112000" h="1625600">
                <a:moveTo>
                  <a:pt x="101600" y="0"/>
                </a:moveTo>
                <a:lnTo>
                  <a:pt x="7010400" y="0"/>
                </a:lnTo>
                <a:cubicBezTo>
                  <a:pt x="7066475" y="0"/>
                  <a:pt x="7112000" y="45525"/>
                  <a:pt x="7112000" y="101600"/>
                </a:cubicBezTo>
                <a:lnTo>
                  <a:pt x="7112000" y="1524000"/>
                </a:lnTo>
                <a:cubicBezTo>
                  <a:pt x="7112000" y="1580075"/>
                  <a:pt x="7066475" y="1625600"/>
                  <a:pt x="7010400" y="1625600"/>
                </a:cubicBezTo>
                <a:lnTo>
                  <a:pt x="101600" y="1625600"/>
                </a:lnTo>
                <a:cubicBezTo>
                  <a:pt x="45525" y="1625600"/>
                  <a:pt x="0" y="1580075"/>
                  <a:pt x="0" y="15240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788400" y="3556000"/>
            <a:ext cx="690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步骤 2：A 比较并更新投票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88400" y="3962400"/>
            <a:ext cx="690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A的投票：(1, 0, 0, 1)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B的投票：(2, 0, 0, 1)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myid(2) &gt; myid(1)</a:t>
            </a: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A更新为Vote(2, 0, 0, 1)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4350" y="5340350"/>
            <a:ext cx="15227300" cy="2197100"/>
          </a:xfrm>
          <a:custGeom>
            <a:avLst/>
            <a:gdLst/>
            <a:ahLst/>
            <a:cxnLst/>
            <a:rect l="l" t="t" r="r" b="b"/>
            <a:pathLst>
              <a:path w="15227300" h="2197100">
                <a:moveTo>
                  <a:pt x="152391" y="0"/>
                </a:moveTo>
                <a:lnTo>
                  <a:pt x="15074909" y="0"/>
                </a:lnTo>
                <a:cubicBezTo>
                  <a:pt x="15159016" y="0"/>
                  <a:pt x="15227300" y="68284"/>
                  <a:pt x="15227300" y="152391"/>
                </a:cubicBezTo>
                <a:lnTo>
                  <a:pt x="15227300" y="2044709"/>
                </a:lnTo>
                <a:cubicBezTo>
                  <a:pt x="15227300" y="2128872"/>
                  <a:pt x="15159072" y="2197100"/>
                  <a:pt x="15074909" y="2197100"/>
                </a:cubicBezTo>
                <a:lnTo>
                  <a:pt x="152391" y="2197100"/>
                </a:lnTo>
                <a:cubicBezTo>
                  <a:pt x="68284" y="2197100"/>
                  <a:pt x="0" y="2128816"/>
                  <a:pt x="0" y="204470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3E5C5A">
              <a:alpha val="20000"/>
            </a:srgbClr>
          </a:solidFill>
          <a:ln w="12700">
            <a:solidFill>
              <a:srgbClr val="3E5C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74700" y="5600700"/>
            <a:ext cx="1483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投票统计（2个节点在线）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3900" y="6159500"/>
            <a:ext cx="480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4700" y="6565900"/>
            <a:ext cx="4699000" cy="711200"/>
          </a:xfrm>
          <a:custGeom>
            <a:avLst/>
            <a:gdLst/>
            <a:ahLst/>
            <a:cxnLst/>
            <a:rect l="l" t="t" r="r" b="b"/>
            <a:pathLst>
              <a:path w="4699000" h="711200">
                <a:moveTo>
                  <a:pt x="101602" y="0"/>
                </a:moveTo>
                <a:lnTo>
                  <a:pt x="4597398" y="0"/>
                </a:lnTo>
                <a:cubicBezTo>
                  <a:pt x="4653511" y="0"/>
                  <a:pt x="4699000" y="45489"/>
                  <a:pt x="4699000" y="101602"/>
                </a:cubicBezTo>
                <a:lnTo>
                  <a:pt x="4699000" y="609598"/>
                </a:lnTo>
                <a:cubicBezTo>
                  <a:pt x="4699000" y="665711"/>
                  <a:pt x="4653511" y="711200"/>
                  <a:pt x="45973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6A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2860774" y="6705600"/>
            <a:ext cx="27434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F6A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066852" y="680720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27700" y="6159500"/>
            <a:ext cx="480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B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78500" y="6565900"/>
            <a:ext cx="4699000" cy="711200"/>
          </a:xfrm>
          <a:custGeom>
            <a:avLst/>
            <a:gdLst/>
            <a:ahLst/>
            <a:cxnLst/>
            <a:rect l="l" t="t" r="r" b="b"/>
            <a:pathLst>
              <a:path w="4699000" h="711200">
                <a:moveTo>
                  <a:pt x="101602" y="0"/>
                </a:moveTo>
                <a:lnTo>
                  <a:pt x="4597398" y="0"/>
                </a:lnTo>
                <a:cubicBezTo>
                  <a:pt x="4653511" y="0"/>
                  <a:pt x="4699000" y="45489"/>
                  <a:pt x="4699000" y="101602"/>
                </a:cubicBezTo>
                <a:lnTo>
                  <a:pt x="4699000" y="609598"/>
                </a:lnTo>
                <a:cubicBezTo>
                  <a:pt x="4699000" y="665711"/>
                  <a:pt x="4653511" y="711200"/>
                  <a:pt x="45973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B89A6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836991" y="6705600"/>
            <a:ext cx="32950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98234" y="680720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731500" y="6159500"/>
            <a:ext cx="480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C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782300" y="6565900"/>
            <a:ext cx="4699000" cy="711200"/>
          </a:xfrm>
          <a:custGeom>
            <a:avLst/>
            <a:gdLst/>
            <a:ahLst/>
            <a:cxnLst/>
            <a:rect l="l" t="t" r="r" b="b"/>
            <a:pathLst>
              <a:path w="4699000" h="711200">
                <a:moveTo>
                  <a:pt x="101602" y="0"/>
                </a:moveTo>
                <a:lnTo>
                  <a:pt x="4597398" y="0"/>
                </a:lnTo>
                <a:cubicBezTo>
                  <a:pt x="4653511" y="0"/>
                  <a:pt x="4699000" y="45489"/>
                  <a:pt x="4699000" y="101602"/>
                </a:cubicBezTo>
                <a:lnTo>
                  <a:pt x="4699000" y="609598"/>
                </a:lnTo>
                <a:cubicBezTo>
                  <a:pt x="4699000" y="665711"/>
                  <a:pt x="4653511" y="711200"/>
                  <a:pt x="45973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E5C5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2832159" y="6705600"/>
            <a:ext cx="34686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D1D5DB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110766" y="680720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858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247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3 · t=20s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63600"/>
            <a:ext cx="260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节点 C 启动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676400"/>
            <a:ext cx="50800" cy="2908300"/>
          </a:xfrm>
          <a:custGeom>
            <a:avLst/>
            <a:gdLst/>
            <a:ahLst/>
            <a:cxnLst/>
            <a:rect l="l" t="t" r="r" b="b"/>
            <a:pathLst>
              <a:path w="50800" h="2908300">
                <a:moveTo>
                  <a:pt x="0" y="0"/>
                </a:moveTo>
                <a:lnTo>
                  <a:pt x="50800" y="0"/>
                </a:lnTo>
                <a:lnTo>
                  <a:pt x="50800" y="2908300"/>
                </a:lnTo>
                <a:lnTo>
                  <a:pt x="0" y="2908300"/>
                </a:lnTo>
                <a:lnTo>
                  <a:pt x="0" y="0"/>
                </a:lnTo>
                <a:close/>
              </a:path>
            </a:pathLst>
          </a:custGeom>
          <a:solidFill>
            <a:srgbClr val="3E5C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12800" y="1727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E5C5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11833" y="1828800"/>
            <a:ext cx="368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E5C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74800" y="1676400"/>
            <a:ext cx="1473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C 状态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74800" y="2032000"/>
            <a:ext cx="146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E5C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LOOKING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2590800"/>
            <a:ext cx="721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初始投票：</a:t>
            </a:r>
            <a:r>
              <a:rPr lang="en-US" sz="1600" b="1" dirty="0">
                <a:solidFill>
                  <a:srgbClr val="3E5C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Vote(3, 0, 0, 1)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56600" y="1676400"/>
            <a:ext cx="50800" cy="2908300"/>
          </a:xfrm>
          <a:custGeom>
            <a:avLst/>
            <a:gdLst/>
            <a:ahLst/>
            <a:cxnLst/>
            <a:rect l="l" t="t" r="r" b="b"/>
            <a:pathLst>
              <a:path w="50800" h="2908300">
                <a:moveTo>
                  <a:pt x="0" y="0"/>
                </a:moveTo>
                <a:lnTo>
                  <a:pt x="50800" y="0"/>
                </a:lnTo>
                <a:lnTo>
                  <a:pt x="50800" y="2908300"/>
                </a:lnTo>
                <a:lnTo>
                  <a:pt x="0" y="29083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636000" y="1676400"/>
            <a:ext cx="723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完整投票交换流程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36000" y="2235200"/>
            <a:ext cx="7112000" cy="520700"/>
          </a:xfrm>
          <a:custGeom>
            <a:avLst/>
            <a:gdLst/>
            <a:ahLst/>
            <a:cxnLst/>
            <a:rect l="l" t="t" r="r" b="b"/>
            <a:pathLst>
              <a:path w="7112000" h="520700">
                <a:moveTo>
                  <a:pt x="101599" y="0"/>
                </a:moveTo>
                <a:lnTo>
                  <a:pt x="7010401" y="0"/>
                </a:lnTo>
                <a:cubicBezTo>
                  <a:pt x="7066513" y="0"/>
                  <a:pt x="7112000" y="45487"/>
                  <a:pt x="7112000" y="101599"/>
                </a:cubicBezTo>
                <a:lnTo>
                  <a:pt x="7112000" y="419101"/>
                </a:lnTo>
                <a:cubicBezTo>
                  <a:pt x="7112000" y="475213"/>
                  <a:pt x="7066513" y="520700"/>
                  <a:pt x="70104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737600" y="2336800"/>
            <a:ext cx="7010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</a:t>
            </a: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C向A、B发送投票: Vote(3, 0, 0, 1)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36000" y="2851150"/>
            <a:ext cx="7112000" cy="508000"/>
          </a:xfrm>
          <a:custGeom>
            <a:avLst/>
            <a:gdLst/>
            <a:ahLst/>
            <a:cxnLst/>
            <a:rect l="l" t="t" r="r" b="b"/>
            <a:pathLst>
              <a:path w="7112000" h="508000">
                <a:moveTo>
                  <a:pt x="101600" y="0"/>
                </a:moveTo>
                <a:lnTo>
                  <a:pt x="7010400" y="0"/>
                </a:lnTo>
                <a:cubicBezTo>
                  <a:pt x="7066475" y="0"/>
                  <a:pt x="7112000" y="45525"/>
                  <a:pt x="7112000" y="101600"/>
                </a:cubicBezTo>
                <a:lnTo>
                  <a:pt x="7112000" y="406400"/>
                </a:lnTo>
                <a:cubicBezTo>
                  <a:pt x="7112000" y="462475"/>
                  <a:pt x="7066475" y="508000"/>
                  <a:pt x="7010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737600" y="2952750"/>
            <a:ext cx="701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</a:t>
            </a: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A、B收到C投票, </a:t>
            </a: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myid(3)最大</a:t>
            </a: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更新投票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36000" y="3460750"/>
            <a:ext cx="7112000" cy="508000"/>
          </a:xfrm>
          <a:custGeom>
            <a:avLst/>
            <a:gdLst/>
            <a:ahLst/>
            <a:cxnLst/>
            <a:rect l="l" t="t" r="r" b="b"/>
            <a:pathLst>
              <a:path w="7112000" h="508000">
                <a:moveTo>
                  <a:pt x="101600" y="0"/>
                </a:moveTo>
                <a:lnTo>
                  <a:pt x="7010400" y="0"/>
                </a:lnTo>
                <a:cubicBezTo>
                  <a:pt x="7066475" y="0"/>
                  <a:pt x="7112000" y="45525"/>
                  <a:pt x="7112000" y="101600"/>
                </a:cubicBezTo>
                <a:lnTo>
                  <a:pt x="7112000" y="406400"/>
                </a:lnTo>
                <a:cubicBezTo>
                  <a:pt x="7112000" y="462475"/>
                  <a:pt x="7066475" y="508000"/>
                  <a:pt x="7010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737600" y="3562350"/>
            <a:ext cx="701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</a:t>
            </a: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A、B广播更新后的投票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36000" y="4070350"/>
            <a:ext cx="7112000" cy="508000"/>
          </a:xfrm>
          <a:custGeom>
            <a:avLst/>
            <a:gdLst/>
            <a:ahLst/>
            <a:cxnLst/>
            <a:rect l="l" t="t" r="r" b="b"/>
            <a:pathLst>
              <a:path w="7112000" h="508000">
                <a:moveTo>
                  <a:pt x="101600" y="0"/>
                </a:moveTo>
                <a:lnTo>
                  <a:pt x="7010400" y="0"/>
                </a:lnTo>
                <a:cubicBezTo>
                  <a:pt x="7066475" y="0"/>
                  <a:pt x="7112000" y="45525"/>
                  <a:pt x="7112000" y="101600"/>
                </a:cubicBezTo>
                <a:lnTo>
                  <a:pt x="7112000" y="406400"/>
                </a:lnTo>
                <a:cubicBezTo>
                  <a:pt x="7112000" y="462475"/>
                  <a:pt x="7066475" y="508000"/>
                  <a:pt x="7010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737600" y="4171950"/>
            <a:ext cx="701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</a:t>
            </a: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所有节点投票支持C, </a:t>
            </a: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达到过半数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0700" y="4895850"/>
            <a:ext cx="15214600" cy="2971800"/>
          </a:xfrm>
          <a:custGeom>
            <a:avLst/>
            <a:gdLst/>
            <a:ahLst/>
            <a:cxnLst/>
            <a:rect l="l" t="t" r="r" b="b"/>
            <a:pathLst>
              <a:path w="15214600" h="2971800">
                <a:moveTo>
                  <a:pt x="152394" y="0"/>
                </a:moveTo>
                <a:lnTo>
                  <a:pt x="15062206" y="0"/>
                </a:lnTo>
                <a:cubicBezTo>
                  <a:pt x="15146371" y="0"/>
                  <a:pt x="15214600" y="68229"/>
                  <a:pt x="15214600" y="152394"/>
                </a:cubicBezTo>
                <a:lnTo>
                  <a:pt x="15214600" y="2819406"/>
                </a:lnTo>
                <a:cubicBezTo>
                  <a:pt x="15214600" y="2903571"/>
                  <a:pt x="15146371" y="2971800"/>
                  <a:pt x="15062206" y="2971800"/>
                </a:cubicBezTo>
                <a:lnTo>
                  <a:pt x="152394" y="2971800"/>
                </a:lnTo>
                <a:cubicBezTo>
                  <a:pt x="68229" y="2971800"/>
                  <a:pt x="0" y="2903571"/>
                  <a:pt x="0" y="2819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  <a:ln w="25400">
            <a:solidFill>
              <a:srgbClr val="B89A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19150" y="52133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71586" y="0"/>
                </a:moveTo>
                <a:lnTo>
                  <a:pt x="182711" y="0"/>
                </a:lnTo>
                <a:cubicBezTo>
                  <a:pt x="195858" y="0"/>
                  <a:pt x="206573" y="10815"/>
                  <a:pt x="206077" y="23912"/>
                </a:cubicBezTo>
                <a:cubicBezTo>
                  <a:pt x="205978" y="26541"/>
                  <a:pt x="205879" y="29170"/>
                  <a:pt x="205730" y="31750"/>
                </a:cubicBezTo>
                <a:lnTo>
                  <a:pt x="230336" y="31750"/>
                </a:lnTo>
                <a:cubicBezTo>
                  <a:pt x="243284" y="31750"/>
                  <a:pt x="254695" y="42466"/>
                  <a:pt x="253702" y="56455"/>
                </a:cubicBezTo>
                <a:cubicBezTo>
                  <a:pt x="249982" y="107900"/>
                  <a:pt x="223689" y="136178"/>
                  <a:pt x="195163" y="150961"/>
                </a:cubicBezTo>
                <a:cubicBezTo>
                  <a:pt x="187325" y="155029"/>
                  <a:pt x="179338" y="158055"/>
                  <a:pt x="171748" y="160288"/>
                </a:cubicBezTo>
                <a:cubicBezTo>
                  <a:pt x="161727" y="174476"/>
                  <a:pt x="151309" y="181967"/>
                  <a:pt x="143024" y="185986"/>
                </a:cubicBezTo>
                <a:lnTo>
                  <a:pt x="143024" y="222250"/>
                </a:lnTo>
                <a:lnTo>
                  <a:pt x="174774" y="222250"/>
                </a:lnTo>
                <a:cubicBezTo>
                  <a:pt x="183555" y="222250"/>
                  <a:pt x="190649" y="229344"/>
                  <a:pt x="190649" y="238125"/>
                </a:cubicBezTo>
                <a:cubicBezTo>
                  <a:pt x="190649" y="246906"/>
                  <a:pt x="183555" y="254000"/>
                  <a:pt x="174774" y="254000"/>
                </a:cubicBezTo>
                <a:lnTo>
                  <a:pt x="79524" y="254000"/>
                </a:lnTo>
                <a:cubicBezTo>
                  <a:pt x="70743" y="254000"/>
                  <a:pt x="63649" y="246906"/>
                  <a:pt x="63649" y="238125"/>
                </a:cubicBezTo>
                <a:cubicBezTo>
                  <a:pt x="63649" y="229344"/>
                  <a:pt x="70743" y="222250"/>
                  <a:pt x="79524" y="222250"/>
                </a:cubicBezTo>
                <a:lnTo>
                  <a:pt x="111274" y="222250"/>
                </a:lnTo>
                <a:lnTo>
                  <a:pt x="111274" y="185986"/>
                </a:lnTo>
                <a:cubicBezTo>
                  <a:pt x="103336" y="182166"/>
                  <a:pt x="93464" y="175071"/>
                  <a:pt x="83840" y="162024"/>
                </a:cubicBezTo>
                <a:cubicBezTo>
                  <a:pt x="74712" y="159643"/>
                  <a:pt x="64790" y="156021"/>
                  <a:pt x="55116" y="150564"/>
                </a:cubicBezTo>
                <a:cubicBezTo>
                  <a:pt x="28277" y="135533"/>
                  <a:pt x="4068" y="107206"/>
                  <a:pt x="595" y="56356"/>
                </a:cubicBezTo>
                <a:cubicBezTo>
                  <a:pt x="-347" y="42416"/>
                  <a:pt x="11013" y="31700"/>
                  <a:pt x="23961" y="31700"/>
                </a:cubicBezTo>
                <a:lnTo>
                  <a:pt x="48568" y="31700"/>
                </a:lnTo>
                <a:cubicBezTo>
                  <a:pt x="48419" y="29121"/>
                  <a:pt x="48320" y="26541"/>
                  <a:pt x="48220" y="23862"/>
                </a:cubicBezTo>
                <a:cubicBezTo>
                  <a:pt x="47724" y="10716"/>
                  <a:pt x="58440" y="-50"/>
                  <a:pt x="71586" y="-50"/>
                </a:cubicBezTo>
                <a:close/>
                <a:moveTo>
                  <a:pt x="50354" y="55563"/>
                </a:moveTo>
                <a:lnTo>
                  <a:pt x="24358" y="55563"/>
                </a:lnTo>
                <a:cubicBezTo>
                  <a:pt x="27434" y="97582"/>
                  <a:pt x="46732" y="118616"/>
                  <a:pt x="66625" y="129778"/>
                </a:cubicBezTo>
                <a:cubicBezTo>
                  <a:pt x="59482" y="111274"/>
                  <a:pt x="53578" y="87114"/>
                  <a:pt x="50354" y="55563"/>
                </a:cubicBezTo>
                <a:close/>
                <a:moveTo>
                  <a:pt x="188516" y="127397"/>
                </a:moveTo>
                <a:cubicBezTo>
                  <a:pt x="208607" y="115590"/>
                  <a:pt x="226764" y="94605"/>
                  <a:pt x="229840" y="55563"/>
                </a:cubicBezTo>
                <a:lnTo>
                  <a:pt x="203895" y="55563"/>
                </a:lnTo>
                <a:cubicBezTo>
                  <a:pt x="200819" y="85775"/>
                  <a:pt x="195263" y="109240"/>
                  <a:pt x="188516" y="127397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104900" y="5162550"/>
            <a:ext cx="1449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最终投票统计（3个节点在线）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7400" y="5670550"/>
            <a:ext cx="4686300" cy="1066800"/>
          </a:xfrm>
          <a:custGeom>
            <a:avLst/>
            <a:gdLst/>
            <a:ahLst/>
            <a:cxnLst/>
            <a:rect l="l" t="t" r="r" b="b"/>
            <a:pathLst>
              <a:path w="4686300" h="1066800">
                <a:moveTo>
                  <a:pt x="101602" y="0"/>
                </a:moveTo>
                <a:lnTo>
                  <a:pt x="4584698" y="0"/>
                </a:lnTo>
                <a:cubicBezTo>
                  <a:pt x="4640811" y="0"/>
                  <a:pt x="4686300" y="45489"/>
                  <a:pt x="4686300" y="101602"/>
                </a:cubicBezTo>
                <a:lnTo>
                  <a:pt x="4686300" y="965198"/>
                </a:lnTo>
                <a:cubicBezTo>
                  <a:pt x="4686300" y="1021311"/>
                  <a:pt x="4640811" y="1066800"/>
                  <a:pt x="45846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6A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89000" y="582295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6300" y="6229350"/>
            <a:ext cx="450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E5C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 节点 C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82667" y="5670550"/>
            <a:ext cx="4686300" cy="1066800"/>
          </a:xfrm>
          <a:custGeom>
            <a:avLst/>
            <a:gdLst/>
            <a:ahLst/>
            <a:cxnLst/>
            <a:rect l="l" t="t" r="r" b="b"/>
            <a:pathLst>
              <a:path w="4686300" h="1066800">
                <a:moveTo>
                  <a:pt x="101602" y="0"/>
                </a:moveTo>
                <a:lnTo>
                  <a:pt x="4584698" y="0"/>
                </a:lnTo>
                <a:cubicBezTo>
                  <a:pt x="4640811" y="0"/>
                  <a:pt x="4686300" y="45489"/>
                  <a:pt x="4686300" y="101602"/>
                </a:cubicBezTo>
                <a:lnTo>
                  <a:pt x="4686300" y="965198"/>
                </a:lnTo>
                <a:cubicBezTo>
                  <a:pt x="4686300" y="1021311"/>
                  <a:pt x="4640811" y="1066800"/>
                  <a:pt x="45846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6A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884267" y="582295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B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71567" y="6229350"/>
            <a:ext cx="450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E5C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 节点 C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778034" y="5670550"/>
            <a:ext cx="4686300" cy="1066800"/>
          </a:xfrm>
          <a:custGeom>
            <a:avLst/>
            <a:gdLst/>
            <a:ahLst/>
            <a:cxnLst/>
            <a:rect l="l" t="t" r="r" b="b"/>
            <a:pathLst>
              <a:path w="4686300" h="1066800">
                <a:moveTo>
                  <a:pt x="101602" y="0"/>
                </a:moveTo>
                <a:lnTo>
                  <a:pt x="4584698" y="0"/>
                </a:lnTo>
                <a:cubicBezTo>
                  <a:pt x="4640811" y="0"/>
                  <a:pt x="4686300" y="45489"/>
                  <a:pt x="4686300" y="101602"/>
                </a:cubicBezTo>
                <a:lnTo>
                  <a:pt x="4686300" y="965198"/>
                </a:lnTo>
                <a:cubicBezTo>
                  <a:pt x="4686300" y="1021311"/>
                  <a:pt x="4640811" y="1066800"/>
                  <a:pt x="45846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B89A6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879634" y="582295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C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866934" y="6229350"/>
            <a:ext cx="450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B89A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 节点 C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87400" y="6940550"/>
            <a:ext cx="14681200" cy="660400"/>
          </a:xfrm>
          <a:custGeom>
            <a:avLst/>
            <a:gdLst/>
            <a:ahLst/>
            <a:cxnLst/>
            <a:rect l="l" t="t" r="r" b="b"/>
            <a:pathLst>
              <a:path w="14681200" h="660400">
                <a:moveTo>
                  <a:pt x="101603" y="0"/>
                </a:moveTo>
                <a:lnTo>
                  <a:pt x="14579597" y="0"/>
                </a:lnTo>
                <a:cubicBezTo>
                  <a:pt x="14635711" y="0"/>
                  <a:pt x="14681200" y="45489"/>
                  <a:pt x="14681200" y="101603"/>
                </a:cubicBezTo>
                <a:lnTo>
                  <a:pt x="14681200" y="558797"/>
                </a:lnTo>
                <a:cubicBezTo>
                  <a:pt x="14681200" y="614911"/>
                  <a:pt x="14635711" y="660400"/>
                  <a:pt x="145795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B89A6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82650" y="7092950"/>
            <a:ext cx="1449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总计：</a:t>
            </a:r>
            <a:r>
              <a:rPr lang="en-US" sz="18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3票</a:t>
            </a:r>
            <a:r>
              <a:rPr lang="en-US" sz="18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支持节点 C </a:t>
            </a:r>
            <a:r>
              <a:rPr lang="en-US" sz="18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≥ 2</a:t>
            </a:r>
            <a:r>
              <a:rPr lang="en-US" sz="18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(过半数) ✓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4126" y="626570"/>
            <a:ext cx="46413" cy="464126"/>
          </a:xfrm>
          <a:custGeom>
            <a:avLst/>
            <a:gdLst/>
            <a:ahLst/>
            <a:cxnLst/>
            <a:rect l="l" t="t" r="r" b="b"/>
            <a:pathLst>
              <a:path w="46413" h="464126">
                <a:moveTo>
                  <a:pt x="0" y="0"/>
                </a:moveTo>
                <a:lnTo>
                  <a:pt x="46413" y="0"/>
                </a:lnTo>
                <a:lnTo>
                  <a:pt x="46413" y="464126"/>
                </a:lnTo>
                <a:lnTo>
                  <a:pt x="0" y="464126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96188" y="464126"/>
            <a:ext cx="3852243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kern="0" spc="73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ELECTION COMPLETE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96188" y="789014"/>
            <a:ext cx="3968274" cy="46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89" dirty="0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选举结果与状态转换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729" y="1636043"/>
            <a:ext cx="7449216" cy="4061099"/>
          </a:xfrm>
          <a:custGeom>
            <a:avLst/>
            <a:gdLst/>
            <a:ahLst/>
            <a:cxnLst/>
            <a:rect l="l" t="t" r="r" b="b"/>
            <a:pathLst>
              <a:path w="7449216" h="4061099">
                <a:moveTo>
                  <a:pt x="139255" y="0"/>
                </a:moveTo>
                <a:lnTo>
                  <a:pt x="7309961" y="0"/>
                </a:lnTo>
                <a:cubicBezTo>
                  <a:pt x="7386870" y="0"/>
                  <a:pt x="7449216" y="62347"/>
                  <a:pt x="7449216" y="139255"/>
                </a:cubicBezTo>
                <a:lnTo>
                  <a:pt x="7449216" y="3921844"/>
                </a:lnTo>
                <a:cubicBezTo>
                  <a:pt x="7449216" y="3998701"/>
                  <a:pt x="7386818" y="4061099"/>
                  <a:pt x="7309961" y="4061099"/>
                </a:cubicBezTo>
                <a:lnTo>
                  <a:pt x="139255" y="4061099"/>
                </a:lnTo>
                <a:cubicBezTo>
                  <a:pt x="62347" y="4061099"/>
                  <a:pt x="0" y="3998753"/>
                  <a:pt x="0" y="3921844"/>
                </a:cubicBezTo>
                <a:lnTo>
                  <a:pt x="0" y="139255"/>
                </a:lnTo>
                <a:cubicBezTo>
                  <a:pt x="0" y="62347"/>
                  <a:pt x="62347" y="0"/>
                  <a:pt x="139255" y="0"/>
                </a:cubicBezTo>
                <a:close/>
              </a:path>
            </a:pathLst>
          </a:custGeom>
          <a:solidFill>
            <a:srgbClr val="B89A6A">
              <a:alpha val="30196"/>
            </a:srgbClr>
          </a:solidFill>
          <a:ln w="25400">
            <a:solidFill>
              <a:srgbClr val="B89A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90464" y="1937724"/>
            <a:ext cx="391606" cy="348094"/>
          </a:xfrm>
          <a:custGeom>
            <a:avLst/>
            <a:gdLst/>
            <a:ahLst/>
            <a:cxnLst/>
            <a:rect l="l" t="t" r="r" b="b"/>
            <a:pathLst>
              <a:path w="391606" h="348094">
                <a:moveTo>
                  <a:pt x="212800" y="59285"/>
                </a:moveTo>
                <a:cubicBezTo>
                  <a:pt x="219055" y="54322"/>
                  <a:pt x="222998" y="46639"/>
                  <a:pt x="222998" y="38073"/>
                </a:cubicBezTo>
                <a:cubicBezTo>
                  <a:pt x="222998" y="23048"/>
                  <a:pt x="210828" y="10878"/>
                  <a:pt x="195803" y="10878"/>
                </a:cubicBezTo>
                <a:cubicBezTo>
                  <a:pt x="180778" y="10878"/>
                  <a:pt x="168608" y="23048"/>
                  <a:pt x="168608" y="38073"/>
                </a:cubicBezTo>
                <a:cubicBezTo>
                  <a:pt x="168608" y="46639"/>
                  <a:pt x="172619" y="54322"/>
                  <a:pt x="178806" y="59285"/>
                </a:cubicBezTo>
                <a:lnTo>
                  <a:pt x="132303" y="132439"/>
                </a:lnTo>
                <a:cubicBezTo>
                  <a:pt x="125504" y="143113"/>
                  <a:pt x="111023" y="145764"/>
                  <a:pt x="100893" y="138150"/>
                </a:cubicBezTo>
                <a:lnTo>
                  <a:pt x="60441" y="107896"/>
                </a:lnTo>
                <a:cubicBezTo>
                  <a:pt x="63500" y="103544"/>
                  <a:pt x="65268" y="98173"/>
                  <a:pt x="65268" y="92463"/>
                </a:cubicBezTo>
                <a:cubicBezTo>
                  <a:pt x="65268" y="77437"/>
                  <a:pt x="53098" y="65268"/>
                  <a:pt x="38073" y="65268"/>
                </a:cubicBezTo>
                <a:cubicBezTo>
                  <a:pt x="23048" y="65268"/>
                  <a:pt x="10878" y="77437"/>
                  <a:pt x="10878" y="92463"/>
                </a:cubicBezTo>
                <a:cubicBezTo>
                  <a:pt x="10878" y="107284"/>
                  <a:pt x="22776" y="119385"/>
                  <a:pt x="37529" y="119657"/>
                </a:cubicBezTo>
                <a:lnTo>
                  <a:pt x="59693" y="267529"/>
                </a:lnTo>
                <a:cubicBezTo>
                  <a:pt x="62888" y="288809"/>
                  <a:pt x="81177" y="304582"/>
                  <a:pt x="102729" y="304582"/>
                </a:cubicBezTo>
                <a:lnTo>
                  <a:pt x="288877" y="304582"/>
                </a:lnTo>
                <a:cubicBezTo>
                  <a:pt x="310429" y="304582"/>
                  <a:pt x="328718" y="288809"/>
                  <a:pt x="331913" y="267529"/>
                </a:cubicBezTo>
                <a:lnTo>
                  <a:pt x="354077" y="119657"/>
                </a:lnTo>
                <a:cubicBezTo>
                  <a:pt x="368830" y="119385"/>
                  <a:pt x="380728" y="107284"/>
                  <a:pt x="380728" y="92463"/>
                </a:cubicBezTo>
                <a:cubicBezTo>
                  <a:pt x="380728" y="77437"/>
                  <a:pt x="368558" y="65268"/>
                  <a:pt x="353533" y="65268"/>
                </a:cubicBezTo>
                <a:cubicBezTo>
                  <a:pt x="338508" y="65268"/>
                  <a:pt x="326338" y="77437"/>
                  <a:pt x="326338" y="92463"/>
                </a:cubicBezTo>
                <a:cubicBezTo>
                  <a:pt x="326338" y="98173"/>
                  <a:pt x="328106" y="103544"/>
                  <a:pt x="331165" y="107896"/>
                </a:cubicBezTo>
                <a:lnTo>
                  <a:pt x="290781" y="138218"/>
                </a:lnTo>
                <a:cubicBezTo>
                  <a:pt x="280651" y="145832"/>
                  <a:pt x="266170" y="143181"/>
                  <a:pt x="259371" y="132507"/>
                </a:cubicBezTo>
                <a:lnTo>
                  <a:pt x="212800" y="59285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340163" y="1926121"/>
            <a:ext cx="1659249" cy="37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93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Leader 当选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738749" y="2483072"/>
            <a:ext cx="928251" cy="928251"/>
          </a:xfrm>
          <a:custGeom>
            <a:avLst/>
            <a:gdLst/>
            <a:ahLst/>
            <a:cxnLst/>
            <a:rect l="l" t="t" r="r" b="b"/>
            <a:pathLst>
              <a:path w="928251" h="928251">
                <a:moveTo>
                  <a:pt x="139238" y="0"/>
                </a:moveTo>
                <a:lnTo>
                  <a:pt x="789014" y="0"/>
                </a:lnTo>
                <a:cubicBezTo>
                  <a:pt x="865861" y="0"/>
                  <a:pt x="928251" y="62390"/>
                  <a:pt x="928251" y="139238"/>
                </a:cubicBezTo>
                <a:lnTo>
                  <a:pt x="928251" y="789014"/>
                </a:lnTo>
                <a:cubicBezTo>
                  <a:pt x="928251" y="865912"/>
                  <a:pt x="865912" y="928251"/>
                  <a:pt x="789014" y="928251"/>
                </a:cubicBezTo>
                <a:lnTo>
                  <a:pt x="139238" y="928251"/>
                </a:lnTo>
                <a:cubicBezTo>
                  <a:pt x="62390" y="928251"/>
                  <a:pt x="0" y="865861"/>
                  <a:pt x="0" y="789014"/>
                </a:cubicBezTo>
                <a:lnTo>
                  <a:pt x="0" y="139238"/>
                </a:lnTo>
                <a:cubicBezTo>
                  <a:pt x="0" y="62339"/>
                  <a:pt x="62339" y="0"/>
                  <a:pt x="139238" y="0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953498" y="2715135"/>
            <a:ext cx="498935" cy="46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289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6188" y="3550561"/>
            <a:ext cx="7008297" cy="37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193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C (myid=3)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5807" y="4107512"/>
            <a:ext cx="6869059" cy="1299552"/>
          </a:xfrm>
          <a:custGeom>
            <a:avLst/>
            <a:gdLst/>
            <a:ahLst/>
            <a:cxnLst/>
            <a:rect l="l" t="t" r="r" b="b"/>
            <a:pathLst>
              <a:path w="6869059" h="1299552">
                <a:moveTo>
                  <a:pt x="92827" y="0"/>
                </a:moveTo>
                <a:lnTo>
                  <a:pt x="6776232" y="0"/>
                </a:lnTo>
                <a:cubicBezTo>
                  <a:pt x="6827499" y="0"/>
                  <a:pt x="6869059" y="41560"/>
                  <a:pt x="6869059" y="92827"/>
                </a:cubicBezTo>
                <a:lnTo>
                  <a:pt x="6869059" y="1206725"/>
                </a:lnTo>
                <a:cubicBezTo>
                  <a:pt x="6869059" y="1257992"/>
                  <a:pt x="6827499" y="1299552"/>
                  <a:pt x="6776232" y="1299552"/>
                </a:cubicBezTo>
                <a:lnTo>
                  <a:pt x="92827" y="1299552"/>
                </a:lnTo>
                <a:cubicBezTo>
                  <a:pt x="41560" y="1299552"/>
                  <a:pt x="0" y="1257992"/>
                  <a:pt x="0" y="1206725"/>
                </a:cubicBezTo>
                <a:lnTo>
                  <a:pt x="0" y="92827"/>
                </a:lnTo>
                <a:cubicBezTo>
                  <a:pt x="0" y="41560"/>
                  <a:pt x="41560" y="0"/>
                  <a:pt x="92827" y="0"/>
                </a:cubicBezTo>
                <a:close/>
              </a:path>
            </a:pathLst>
          </a:custGeom>
          <a:solidFill>
            <a:srgbClr val="4F6A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51458" y="4293162"/>
            <a:ext cx="6590584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当选原因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1458" y="4664463"/>
            <a:ext cx="6590584" cy="55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在初始启动场景下，所有节点的 epoch 和 zxid 相同，因此</a:t>
            </a:r>
            <a:r>
              <a:rPr lang="en-US" sz="1462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myid 最大</a:t>
            </a:r>
            <a:r>
              <a:rPr lang="en-US" sz="1462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的节点 C 当选。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7332" y="5987221"/>
            <a:ext cx="46413" cy="2181390"/>
          </a:xfrm>
          <a:custGeom>
            <a:avLst/>
            <a:gdLst/>
            <a:ahLst/>
            <a:cxnLst/>
            <a:rect l="l" t="t" r="r" b="b"/>
            <a:pathLst>
              <a:path w="46413" h="2181390">
                <a:moveTo>
                  <a:pt x="0" y="0"/>
                </a:moveTo>
                <a:lnTo>
                  <a:pt x="46413" y="0"/>
                </a:lnTo>
                <a:lnTo>
                  <a:pt x="46413" y="2181390"/>
                </a:lnTo>
                <a:lnTo>
                  <a:pt x="0" y="2181390"/>
                </a:lnTo>
                <a:lnTo>
                  <a:pt x="0" y="0"/>
                </a:ln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42601" y="6033633"/>
            <a:ext cx="348094" cy="278475"/>
          </a:xfrm>
          <a:custGeom>
            <a:avLst/>
            <a:gdLst/>
            <a:ahLst/>
            <a:cxnLst/>
            <a:rect l="l" t="t" r="r" b="b"/>
            <a:pathLst>
              <a:path w="348094" h="278475">
                <a:moveTo>
                  <a:pt x="174047" y="8702"/>
                </a:moveTo>
                <a:cubicBezTo>
                  <a:pt x="205266" y="8702"/>
                  <a:pt x="230612" y="34048"/>
                  <a:pt x="230612" y="65268"/>
                </a:cubicBezTo>
                <a:cubicBezTo>
                  <a:pt x="230612" y="96487"/>
                  <a:pt x="205266" y="121833"/>
                  <a:pt x="174047" y="121833"/>
                </a:cubicBezTo>
                <a:cubicBezTo>
                  <a:pt x="142828" y="121833"/>
                  <a:pt x="117482" y="96487"/>
                  <a:pt x="117482" y="65268"/>
                </a:cubicBezTo>
                <a:cubicBezTo>
                  <a:pt x="117482" y="34048"/>
                  <a:pt x="142828" y="8702"/>
                  <a:pt x="174047" y="8702"/>
                </a:cubicBezTo>
                <a:close/>
                <a:moveTo>
                  <a:pt x="52214" y="47863"/>
                </a:moveTo>
                <a:cubicBezTo>
                  <a:pt x="73827" y="47863"/>
                  <a:pt x="91375" y="65410"/>
                  <a:pt x="91375" y="87024"/>
                </a:cubicBezTo>
                <a:cubicBezTo>
                  <a:pt x="91375" y="108637"/>
                  <a:pt x="73827" y="126184"/>
                  <a:pt x="52214" y="126184"/>
                </a:cubicBezTo>
                <a:cubicBezTo>
                  <a:pt x="30601" y="126184"/>
                  <a:pt x="13054" y="108637"/>
                  <a:pt x="13054" y="87024"/>
                </a:cubicBezTo>
                <a:cubicBezTo>
                  <a:pt x="13054" y="65410"/>
                  <a:pt x="30601" y="47863"/>
                  <a:pt x="52214" y="47863"/>
                </a:cubicBezTo>
                <a:close/>
                <a:moveTo>
                  <a:pt x="0" y="226261"/>
                </a:moveTo>
                <a:cubicBezTo>
                  <a:pt x="0" y="187808"/>
                  <a:pt x="31165" y="156642"/>
                  <a:pt x="69619" y="156642"/>
                </a:cubicBezTo>
                <a:cubicBezTo>
                  <a:pt x="76581" y="156642"/>
                  <a:pt x="83325" y="157676"/>
                  <a:pt x="89689" y="159579"/>
                </a:cubicBezTo>
                <a:cubicBezTo>
                  <a:pt x="71794" y="179595"/>
                  <a:pt x="60916" y="206028"/>
                  <a:pt x="60916" y="234964"/>
                </a:cubicBezTo>
                <a:lnTo>
                  <a:pt x="60916" y="243666"/>
                </a:lnTo>
                <a:cubicBezTo>
                  <a:pt x="60916" y="249866"/>
                  <a:pt x="62222" y="255740"/>
                  <a:pt x="64561" y="261071"/>
                </a:cubicBezTo>
                <a:lnTo>
                  <a:pt x="17405" y="261071"/>
                </a:lnTo>
                <a:cubicBezTo>
                  <a:pt x="7778" y="261071"/>
                  <a:pt x="0" y="253293"/>
                  <a:pt x="0" y="243666"/>
                </a:cubicBezTo>
                <a:lnTo>
                  <a:pt x="0" y="226261"/>
                </a:lnTo>
                <a:close/>
                <a:moveTo>
                  <a:pt x="283534" y="261071"/>
                </a:moveTo>
                <a:cubicBezTo>
                  <a:pt x="285872" y="255740"/>
                  <a:pt x="287178" y="249866"/>
                  <a:pt x="287178" y="243666"/>
                </a:cubicBezTo>
                <a:lnTo>
                  <a:pt x="287178" y="234964"/>
                </a:lnTo>
                <a:cubicBezTo>
                  <a:pt x="287178" y="206028"/>
                  <a:pt x="276300" y="179595"/>
                  <a:pt x="258406" y="159579"/>
                </a:cubicBezTo>
                <a:cubicBezTo>
                  <a:pt x="264769" y="157676"/>
                  <a:pt x="271513" y="156642"/>
                  <a:pt x="278475" y="156642"/>
                </a:cubicBezTo>
                <a:cubicBezTo>
                  <a:pt x="316929" y="156642"/>
                  <a:pt x="348094" y="187808"/>
                  <a:pt x="348094" y="226261"/>
                </a:cubicBezTo>
                <a:lnTo>
                  <a:pt x="348094" y="243666"/>
                </a:lnTo>
                <a:cubicBezTo>
                  <a:pt x="348094" y="253293"/>
                  <a:pt x="340316" y="261071"/>
                  <a:pt x="330690" y="261071"/>
                </a:cubicBezTo>
                <a:lnTo>
                  <a:pt x="283534" y="261071"/>
                </a:lnTo>
                <a:close/>
                <a:moveTo>
                  <a:pt x="256719" y="87024"/>
                </a:moveTo>
                <a:cubicBezTo>
                  <a:pt x="256719" y="65410"/>
                  <a:pt x="274267" y="47863"/>
                  <a:pt x="295880" y="47863"/>
                </a:cubicBezTo>
                <a:cubicBezTo>
                  <a:pt x="317493" y="47863"/>
                  <a:pt x="335041" y="65410"/>
                  <a:pt x="335041" y="87024"/>
                </a:cubicBezTo>
                <a:cubicBezTo>
                  <a:pt x="335041" y="108637"/>
                  <a:pt x="317493" y="126184"/>
                  <a:pt x="295880" y="126184"/>
                </a:cubicBezTo>
                <a:cubicBezTo>
                  <a:pt x="274267" y="126184"/>
                  <a:pt x="256719" y="108637"/>
                  <a:pt x="256719" y="87024"/>
                </a:cubicBezTo>
                <a:close/>
                <a:moveTo>
                  <a:pt x="87024" y="234964"/>
                </a:moveTo>
                <a:cubicBezTo>
                  <a:pt x="87024" y="186883"/>
                  <a:pt x="125967" y="147940"/>
                  <a:pt x="174047" y="147940"/>
                </a:cubicBezTo>
                <a:cubicBezTo>
                  <a:pt x="222128" y="147940"/>
                  <a:pt x="261071" y="186883"/>
                  <a:pt x="261071" y="234964"/>
                </a:cubicBezTo>
                <a:lnTo>
                  <a:pt x="261071" y="243666"/>
                </a:lnTo>
                <a:cubicBezTo>
                  <a:pt x="261071" y="253293"/>
                  <a:pt x="253293" y="261071"/>
                  <a:pt x="243666" y="261071"/>
                </a:cubicBezTo>
                <a:lnTo>
                  <a:pt x="104428" y="261071"/>
                </a:lnTo>
                <a:cubicBezTo>
                  <a:pt x="94801" y="261071"/>
                  <a:pt x="87024" y="253293"/>
                  <a:pt x="87024" y="243666"/>
                </a:cubicBezTo>
                <a:lnTo>
                  <a:pt x="87024" y="234964"/>
                </a:ln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29933" y="5987221"/>
            <a:ext cx="1868106" cy="37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93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Follower 角色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2601" y="6544171"/>
            <a:ext cx="7193947" cy="742601"/>
          </a:xfrm>
          <a:custGeom>
            <a:avLst/>
            <a:gdLst/>
            <a:ahLst/>
            <a:cxnLst/>
            <a:rect l="l" t="t" r="r" b="b"/>
            <a:pathLst>
              <a:path w="7193947" h="742601">
                <a:moveTo>
                  <a:pt x="92825" y="0"/>
                </a:moveTo>
                <a:lnTo>
                  <a:pt x="7101122" y="0"/>
                </a:lnTo>
                <a:cubicBezTo>
                  <a:pt x="7152388" y="0"/>
                  <a:pt x="7193947" y="41559"/>
                  <a:pt x="7193947" y="92825"/>
                </a:cubicBezTo>
                <a:lnTo>
                  <a:pt x="7193947" y="649776"/>
                </a:lnTo>
                <a:cubicBezTo>
                  <a:pt x="7193947" y="701042"/>
                  <a:pt x="7152388" y="742601"/>
                  <a:pt x="7101122" y="742601"/>
                </a:cubicBezTo>
                <a:lnTo>
                  <a:pt x="92825" y="742601"/>
                </a:lnTo>
                <a:cubicBezTo>
                  <a:pt x="41559" y="742601"/>
                  <a:pt x="0" y="701042"/>
                  <a:pt x="0" y="649776"/>
                </a:cubicBezTo>
                <a:lnTo>
                  <a:pt x="0" y="92825"/>
                </a:lnTo>
                <a:cubicBezTo>
                  <a:pt x="0" y="41594"/>
                  <a:pt x="41594" y="0"/>
                  <a:pt x="92825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81839" y="6683409"/>
            <a:ext cx="464126" cy="464126"/>
          </a:xfrm>
          <a:custGeom>
            <a:avLst/>
            <a:gdLst/>
            <a:ahLst/>
            <a:cxnLst/>
            <a:rect l="l" t="t" r="r" b="b"/>
            <a:pathLst>
              <a:path w="464126" h="464126">
                <a:moveTo>
                  <a:pt x="92825" y="0"/>
                </a:moveTo>
                <a:lnTo>
                  <a:pt x="371300" y="0"/>
                </a:lnTo>
                <a:cubicBezTo>
                  <a:pt x="422532" y="0"/>
                  <a:pt x="464126" y="41594"/>
                  <a:pt x="464126" y="92825"/>
                </a:cubicBezTo>
                <a:lnTo>
                  <a:pt x="464126" y="371300"/>
                </a:lnTo>
                <a:cubicBezTo>
                  <a:pt x="464126" y="422532"/>
                  <a:pt x="422532" y="464126"/>
                  <a:pt x="371300" y="464126"/>
                </a:cubicBezTo>
                <a:lnTo>
                  <a:pt x="92825" y="464126"/>
                </a:lnTo>
                <a:cubicBezTo>
                  <a:pt x="41594" y="464126"/>
                  <a:pt x="0" y="422532"/>
                  <a:pt x="0" y="371300"/>
                </a:cubicBezTo>
                <a:lnTo>
                  <a:pt x="0" y="92825"/>
                </a:lnTo>
                <a:cubicBezTo>
                  <a:pt x="0" y="41594"/>
                  <a:pt x="41594" y="0"/>
                  <a:pt x="92825" y="0"/>
                </a:cubicBez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036305" y="6753028"/>
            <a:ext cx="266872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7" b="1" dirty="0">
                <a:solidFill>
                  <a:srgbClr val="D1D5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85202" y="6753028"/>
            <a:ext cx="1578027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5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A (myid=1)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2601" y="7426010"/>
            <a:ext cx="7193947" cy="742601"/>
          </a:xfrm>
          <a:custGeom>
            <a:avLst/>
            <a:gdLst/>
            <a:ahLst/>
            <a:cxnLst/>
            <a:rect l="l" t="t" r="r" b="b"/>
            <a:pathLst>
              <a:path w="7193947" h="742601">
                <a:moveTo>
                  <a:pt x="92825" y="0"/>
                </a:moveTo>
                <a:lnTo>
                  <a:pt x="7101122" y="0"/>
                </a:lnTo>
                <a:cubicBezTo>
                  <a:pt x="7152388" y="0"/>
                  <a:pt x="7193947" y="41559"/>
                  <a:pt x="7193947" y="92825"/>
                </a:cubicBezTo>
                <a:lnTo>
                  <a:pt x="7193947" y="649776"/>
                </a:lnTo>
                <a:cubicBezTo>
                  <a:pt x="7193947" y="701042"/>
                  <a:pt x="7152388" y="742601"/>
                  <a:pt x="7101122" y="742601"/>
                </a:cubicBezTo>
                <a:lnTo>
                  <a:pt x="92825" y="742601"/>
                </a:lnTo>
                <a:cubicBezTo>
                  <a:pt x="41559" y="742601"/>
                  <a:pt x="0" y="701042"/>
                  <a:pt x="0" y="649776"/>
                </a:cubicBezTo>
                <a:lnTo>
                  <a:pt x="0" y="92825"/>
                </a:lnTo>
                <a:cubicBezTo>
                  <a:pt x="0" y="41594"/>
                  <a:pt x="41594" y="0"/>
                  <a:pt x="92825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81839" y="7565248"/>
            <a:ext cx="464126" cy="464126"/>
          </a:xfrm>
          <a:custGeom>
            <a:avLst/>
            <a:gdLst/>
            <a:ahLst/>
            <a:cxnLst/>
            <a:rect l="l" t="t" r="r" b="b"/>
            <a:pathLst>
              <a:path w="464126" h="464126">
                <a:moveTo>
                  <a:pt x="92825" y="0"/>
                </a:moveTo>
                <a:lnTo>
                  <a:pt x="371300" y="0"/>
                </a:lnTo>
                <a:cubicBezTo>
                  <a:pt x="422532" y="0"/>
                  <a:pt x="464126" y="41594"/>
                  <a:pt x="464126" y="92825"/>
                </a:cubicBezTo>
                <a:lnTo>
                  <a:pt x="464126" y="371300"/>
                </a:lnTo>
                <a:cubicBezTo>
                  <a:pt x="464126" y="422532"/>
                  <a:pt x="422532" y="464126"/>
                  <a:pt x="371300" y="464126"/>
                </a:cubicBezTo>
                <a:lnTo>
                  <a:pt x="92825" y="464126"/>
                </a:lnTo>
                <a:cubicBezTo>
                  <a:pt x="41594" y="464126"/>
                  <a:pt x="0" y="422532"/>
                  <a:pt x="0" y="371300"/>
                </a:cubicBezTo>
                <a:lnTo>
                  <a:pt x="0" y="92825"/>
                </a:lnTo>
                <a:cubicBezTo>
                  <a:pt x="0" y="41594"/>
                  <a:pt x="41594" y="0"/>
                  <a:pt x="92825" y="0"/>
                </a:cubicBez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041654" y="7634867"/>
            <a:ext cx="255269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7" b="1" dirty="0">
                <a:solidFill>
                  <a:srgbClr val="D1D5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85202" y="7634867"/>
            <a:ext cx="1612837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5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B (myid=2)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36131" y="1624440"/>
            <a:ext cx="46413" cy="4432400"/>
          </a:xfrm>
          <a:custGeom>
            <a:avLst/>
            <a:gdLst/>
            <a:ahLst/>
            <a:cxnLst/>
            <a:rect l="l" t="t" r="r" b="b"/>
            <a:pathLst>
              <a:path w="46413" h="4432400">
                <a:moveTo>
                  <a:pt x="0" y="0"/>
                </a:moveTo>
                <a:lnTo>
                  <a:pt x="46413" y="0"/>
                </a:lnTo>
                <a:lnTo>
                  <a:pt x="46413" y="4432400"/>
                </a:lnTo>
                <a:lnTo>
                  <a:pt x="0" y="44324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626210" y="1670852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261125" y="104428"/>
                </a:moveTo>
                <a:lnTo>
                  <a:pt x="265422" y="104428"/>
                </a:lnTo>
                <a:cubicBezTo>
                  <a:pt x="272656" y="104428"/>
                  <a:pt x="278475" y="98609"/>
                  <a:pt x="278475" y="91375"/>
                </a:cubicBezTo>
                <a:lnTo>
                  <a:pt x="278475" y="13054"/>
                </a:lnTo>
                <a:cubicBezTo>
                  <a:pt x="278475" y="7778"/>
                  <a:pt x="275321" y="2991"/>
                  <a:pt x="270426" y="979"/>
                </a:cubicBezTo>
                <a:cubicBezTo>
                  <a:pt x="265531" y="-1033"/>
                  <a:pt x="259928" y="109"/>
                  <a:pt x="256176" y="3807"/>
                </a:cubicBezTo>
                <a:lnTo>
                  <a:pt x="228056" y="31981"/>
                </a:lnTo>
                <a:cubicBezTo>
                  <a:pt x="203961" y="12020"/>
                  <a:pt x="172959" y="0"/>
                  <a:pt x="139238" y="0"/>
                </a:cubicBezTo>
                <a:cubicBezTo>
                  <a:pt x="69075" y="0"/>
                  <a:pt x="11041" y="51888"/>
                  <a:pt x="1414" y="119385"/>
                </a:cubicBezTo>
                <a:cubicBezTo>
                  <a:pt x="54" y="128904"/>
                  <a:pt x="6636" y="137715"/>
                  <a:pt x="16154" y="139075"/>
                </a:cubicBezTo>
                <a:cubicBezTo>
                  <a:pt x="25672" y="140434"/>
                  <a:pt x="34483" y="133799"/>
                  <a:pt x="35843" y="124335"/>
                </a:cubicBezTo>
                <a:cubicBezTo>
                  <a:pt x="43077" y="73698"/>
                  <a:pt x="86643" y="34809"/>
                  <a:pt x="139238" y="34809"/>
                </a:cubicBezTo>
                <a:cubicBezTo>
                  <a:pt x="163387" y="34809"/>
                  <a:pt x="185578" y="42968"/>
                  <a:pt x="203254" y="56728"/>
                </a:cubicBezTo>
                <a:lnTo>
                  <a:pt x="177854" y="82128"/>
                </a:lnTo>
                <a:cubicBezTo>
                  <a:pt x="174101" y="85881"/>
                  <a:pt x="173014" y="91484"/>
                  <a:pt x="175026" y="96379"/>
                </a:cubicBezTo>
                <a:cubicBezTo>
                  <a:pt x="177039" y="101274"/>
                  <a:pt x="181825" y="104428"/>
                  <a:pt x="187101" y="104428"/>
                </a:cubicBezTo>
                <a:lnTo>
                  <a:pt x="261125" y="104428"/>
                </a:lnTo>
                <a:close/>
                <a:moveTo>
                  <a:pt x="277116" y="159090"/>
                </a:moveTo>
                <a:cubicBezTo>
                  <a:pt x="278475" y="149572"/>
                  <a:pt x="271840" y="140761"/>
                  <a:pt x="262376" y="139401"/>
                </a:cubicBezTo>
                <a:cubicBezTo>
                  <a:pt x="252912" y="138041"/>
                  <a:pt x="244047" y="144677"/>
                  <a:pt x="242687" y="154140"/>
                </a:cubicBezTo>
                <a:cubicBezTo>
                  <a:pt x="235453" y="204723"/>
                  <a:pt x="191887" y="243612"/>
                  <a:pt x="139292" y="243612"/>
                </a:cubicBezTo>
                <a:cubicBezTo>
                  <a:pt x="115143" y="243612"/>
                  <a:pt x="92952" y="235453"/>
                  <a:pt x="75275" y="221693"/>
                </a:cubicBezTo>
                <a:lnTo>
                  <a:pt x="100621" y="196347"/>
                </a:lnTo>
                <a:cubicBezTo>
                  <a:pt x="104374" y="192594"/>
                  <a:pt x="105462" y="186992"/>
                  <a:pt x="103449" y="182097"/>
                </a:cubicBezTo>
                <a:cubicBezTo>
                  <a:pt x="101437" y="177202"/>
                  <a:pt x="96651" y="174047"/>
                  <a:pt x="91375" y="174047"/>
                </a:cubicBezTo>
                <a:lnTo>
                  <a:pt x="13054" y="174047"/>
                </a:lnTo>
                <a:cubicBezTo>
                  <a:pt x="5820" y="174047"/>
                  <a:pt x="0" y="179867"/>
                  <a:pt x="0" y="187101"/>
                </a:cubicBezTo>
                <a:lnTo>
                  <a:pt x="0" y="265422"/>
                </a:lnTo>
                <a:cubicBezTo>
                  <a:pt x="0" y="270698"/>
                  <a:pt x="3155" y="275484"/>
                  <a:pt x="8050" y="277496"/>
                </a:cubicBezTo>
                <a:cubicBezTo>
                  <a:pt x="12945" y="279509"/>
                  <a:pt x="18547" y="278367"/>
                  <a:pt x="22300" y="274668"/>
                </a:cubicBezTo>
                <a:lnTo>
                  <a:pt x="50474" y="246494"/>
                </a:lnTo>
                <a:cubicBezTo>
                  <a:pt x="74514" y="266455"/>
                  <a:pt x="105516" y="278475"/>
                  <a:pt x="139238" y="278475"/>
                </a:cubicBezTo>
                <a:cubicBezTo>
                  <a:pt x="209400" y="278475"/>
                  <a:pt x="267434" y="226588"/>
                  <a:pt x="277061" y="159090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078732" y="1624440"/>
            <a:ext cx="1253139" cy="37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93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状态转换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91400" y="2181390"/>
            <a:ext cx="7193947" cy="1160314"/>
          </a:xfrm>
          <a:custGeom>
            <a:avLst/>
            <a:gdLst/>
            <a:ahLst/>
            <a:cxnLst/>
            <a:rect l="l" t="t" r="r" b="b"/>
            <a:pathLst>
              <a:path w="7193947" h="1160314">
                <a:moveTo>
                  <a:pt x="139238" y="0"/>
                </a:moveTo>
                <a:lnTo>
                  <a:pt x="7054709" y="0"/>
                </a:lnTo>
                <a:cubicBezTo>
                  <a:pt x="7131608" y="0"/>
                  <a:pt x="7193947" y="62339"/>
                  <a:pt x="7193947" y="139238"/>
                </a:cubicBezTo>
                <a:lnTo>
                  <a:pt x="7193947" y="1021076"/>
                </a:lnTo>
                <a:cubicBezTo>
                  <a:pt x="7193947" y="1097975"/>
                  <a:pt x="7131608" y="1160314"/>
                  <a:pt x="7054709" y="1160314"/>
                </a:cubicBezTo>
                <a:lnTo>
                  <a:pt x="139238" y="1160314"/>
                </a:lnTo>
                <a:cubicBezTo>
                  <a:pt x="62390" y="1160314"/>
                  <a:pt x="0" y="1097924"/>
                  <a:pt x="0" y="1021076"/>
                </a:cubicBezTo>
                <a:lnTo>
                  <a:pt x="0" y="139238"/>
                </a:lnTo>
                <a:cubicBezTo>
                  <a:pt x="0" y="62339"/>
                  <a:pt x="62339" y="0"/>
                  <a:pt x="139238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777051" y="2367041"/>
            <a:ext cx="6927075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5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777051" y="2784754"/>
            <a:ext cx="1102298" cy="371300"/>
          </a:xfrm>
          <a:custGeom>
            <a:avLst/>
            <a:gdLst/>
            <a:ahLst/>
            <a:cxnLst/>
            <a:rect l="l" t="t" r="r" b="b"/>
            <a:pathLst>
              <a:path w="1102298" h="371300">
                <a:moveTo>
                  <a:pt x="46413" y="0"/>
                </a:moveTo>
                <a:lnTo>
                  <a:pt x="1055886" y="0"/>
                </a:lnTo>
                <a:cubicBezTo>
                  <a:pt x="1081519" y="0"/>
                  <a:pt x="1102298" y="20780"/>
                  <a:pt x="1102298" y="46413"/>
                </a:cubicBezTo>
                <a:lnTo>
                  <a:pt x="1102298" y="324888"/>
                </a:lnTo>
                <a:cubicBezTo>
                  <a:pt x="1102298" y="350521"/>
                  <a:pt x="1081519" y="371300"/>
                  <a:pt x="1055886" y="371300"/>
                </a:cubicBezTo>
                <a:lnTo>
                  <a:pt x="46413" y="371300"/>
                </a:lnTo>
                <a:cubicBezTo>
                  <a:pt x="20780" y="371300"/>
                  <a:pt x="0" y="350521"/>
                  <a:pt x="0" y="324888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F6A82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777051" y="2784754"/>
            <a:ext cx="1195123" cy="371300"/>
          </a:xfrm>
          <a:prstGeom prst="rect">
            <a:avLst/>
          </a:prstGeom>
          <a:noFill/>
          <a:ln/>
        </p:spPr>
        <p:txBody>
          <a:bodyPr wrap="square" lIns="139238" tIns="46413" rIns="139238" bIns="46413" rtlCol="0" anchor="ctr"/>
          <a:lstStyle/>
          <a:p>
            <a:pPr>
              <a:lnSpc>
                <a:spcPct val="120000"/>
              </a:lnSpc>
            </a:pPr>
            <a:r>
              <a:rPr lang="en-US" sz="1462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LOOKING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046416" y="2877579"/>
            <a:ext cx="185650" cy="185650"/>
          </a:xfrm>
          <a:custGeom>
            <a:avLst/>
            <a:gdLst/>
            <a:ahLst/>
            <a:cxnLst/>
            <a:rect l="l" t="t" r="r" b="b"/>
            <a:pathLst>
              <a:path w="185650" h="185650">
                <a:moveTo>
                  <a:pt x="182242" y="101020"/>
                </a:moveTo>
                <a:cubicBezTo>
                  <a:pt x="186774" y="96487"/>
                  <a:pt x="186774" y="89127"/>
                  <a:pt x="182242" y="84594"/>
                </a:cubicBezTo>
                <a:lnTo>
                  <a:pt x="124226" y="26578"/>
                </a:lnTo>
                <a:cubicBezTo>
                  <a:pt x="119694" y="22046"/>
                  <a:pt x="112333" y="22046"/>
                  <a:pt x="107800" y="26578"/>
                </a:cubicBezTo>
                <a:cubicBezTo>
                  <a:pt x="103268" y="31111"/>
                  <a:pt x="103268" y="38472"/>
                  <a:pt x="107800" y="43004"/>
                </a:cubicBezTo>
                <a:lnTo>
                  <a:pt x="146018" y="81222"/>
                </a:lnTo>
                <a:lnTo>
                  <a:pt x="11603" y="81222"/>
                </a:lnTo>
                <a:cubicBezTo>
                  <a:pt x="5185" y="81222"/>
                  <a:pt x="0" y="86407"/>
                  <a:pt x="0" y="92825"/>
                </a:cubicBezTo>
                <a:cubicBezTo>
                  <a:pt x="0" y="99243"/>
                  <a:pt x="5185" y="104428"/>
                  <a:pt x="11603" y="104428"/>
                </a:cubicBezTo>
                <a:lnTo>
                  <a:pt x="146018" y="104428"/>
                </a:lnTo>
                <a:lnTo>
                  <a:pt x="107800" y="142646"/>
                </a:lnTo>
                <a:cubicBezTo>
                  <a:pt x="103268" y="147179"/>
                  <a:pt x="103268" y="154539"/>
                  <a:pt x="107800" y="159072"/>
                </a:cubicBezTo>
                <a:cubicBezTo>
                  <a:pt x="112333" y="163604"/>
                  <a:pt x="119694" y="163604"/>
                  <a:pt x="124226" y="159072"/>
                </a:cubicBezTo>
                <a:lnTo>
                  <a:pt x="182242" y="101056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0394510" y="2784754"/>
            <a:ext cx="1369171" cy="371300"/>
          </a:xfrm>
          <a:custGeom>
            <a:avLst/>
            <a:gdLst/>
            <a:ahLst/>
            <a:cxnLst/>
            <a:rect l="l" t="t" r="r" b="b"/>
            <a:pathLst>
              <a:path w="1369171" h="371300">
                <a:moveTo>
                  <a:pt x="46413" y="0"/>
                </a:moveTo>
                <a:lnTo>
                  <a:pt x="1322758" y="0"/>
                </a:lnTo>
                <a:cubicBezTo>
                  <a:pt x="1348391" y="0"/>
                  <a:pt x="1369171" y="20780"/>
                  <a:pt x="1369171" y="46413"/>
                </a:cubicBezTo>
                <a:lnTo>
                  <a:pt x="1369171" y="324888"/>
                </a:lnTo>
                <a:cubicBezTo>
                  <a:pt x="1369171" y="350521"/>
                  <a:pt x="1348391" y="371300"/>
                  <a:pt x="1322758" y="371300"/>
                </a:cubicBezTo>
                <a:lnTo>
                  <a:pt x="46413" y="371300"/>
                </a:lnTo>
                <a:cubicBezTo>
                  <a:pt x="20780" y="371300"/>
                  <a:pt x="0" y="350521"/>
                  <a:pt x="0" y="324888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394510" y="2784754"/>
            <a:ext cx="1461996" cy="371300"/>
          </a:xfrm>
          <a:prstGeom prst="rect">
            <a:avLst/>
          </a:prstGeom>
          <a:noFill/>
          <a:ln/>
        </p:spPr>
        <p:txBody>
          <a:bodyPr wrap="square" lIns="139238" tIns="46413" rIns="139238" bIns="46413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FOLLOWING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91400" y="3527355"/>
            <a:ext cx="7193947" cy="1160314"/>
          </a:xfrm>
          <a:custGeom>
            <a:avLst/>
            <a:gdLst/>
            <a:ahLst/>
            <a:cxnLst/>
            <a:rect l="l" t="t" r="r" b="b"/>
            <a:pathLst>
              <a:path w="7193947" h="1160314">
                <a:moveTo>
                  <a:pt x="139238" y="0"/>
                </a:moveTo>
                <a:lnTo>
                  <a:pt x="7054709" y="0"/>
                </a:lnTo>
                <a:cubicBezTo>
                  <a:pt x="7131608" y="0"/>
                  <a:pt x="7193947" y="62339"/>
                  <a:pt x="7193947" y="139238"/>
                </a:cubicBezTo>
                <a:lnTo>
                  <a:pt x="7193947" y="1021076"/>
                </a:lnTo>
                <a:cubicBezTo>
                  <a:pt x="7193947" y="1097975"/>
                  <a:pt x="7131608" y="1160314"/>
                  <a:pt x="7054709" y="1160314"/>
                </a:cubicBezTo>
                <a:lnTo>
                  <a:pt x="139238" y="1160314"/>
                </a:lnTo>
                <a:cubicBezTo>
                  <a:pt x="62390" y="1160314"/>
                  <a:pt x="0" y="1097924"/>
                  <a:pt x="0" y="1021076"/>
                </a:cubicBezTo>
                <a:lnTo>
                  <a:pt x="0" y="139238"/>
                </a:lnTo>
                <a:cubicBezTo>
                  <a:pt x="0" y="62339"/>
                  <a:pt x="62339" y="0"/>
                  <a:pt x="139238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777051" y="3713005"/>
            <a:ext cx="6927075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5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B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777051" y="4130718"/>
            <a:ext cx="1102298" cy="371300"/>
          </a:xfrm>
          <a:custGeom>
            <a:avLst/>
            <a:gdLst/>
            <a:ahLst/>
            <a:cxnLst/>
            <a:rect l="l" t="t" r="r" b="b"/>
            <a:pathLst>
              <a:path w="1102298" h="371300">
                <a:moveTo>
                  <a:pt x="46413" y="0"/>
                </a:moveTo>
                <a:lnTo>
                  <a:pt x="1055886" y="0"/>
                </a:lnTo>
                <a:cubicBezTo>
                  <a:pt x="1081519" y="0"/>
                  <a:pt x="1102298" y="20780"/>
                  <a:pt x="1102298" y="46413"/>
                </a:cubicBezTo>
                <a:lnTo>
                  <a:pt x="1102298" y="324888"/>
                </a:lnTo>
                <a:cubicBezTo>
                  <a:pt x="1102298" y="350521"/>
                  <a:pt x="1081519" y="371300"/>
                  <a:pt x="1055886" y="371300"/>
                </a:cubicBezTo>
                <a:lnTo>
                  <a:pt x="46413" y="371300"/>
                </a:lnTo>
                <a:cubicBezTo>
                  <a:pt x="20780" y="371300"/>
                  <a:pt x="0" y="350521"/>
                  <a:pt x="0" y="324888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F6A82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777051" y="4130718"/>
            <a:ext cx="1195123" cy="371300"/>
          </a:xfrm>
          <a:prstGeom prst="rect">
            <a:avLst/>
          </a:prstGeom>
          <a:noFill/>
          <a:ln/>
        </p:spPr>
        <p:txBody>
          <a:bodyPr wrap="square" lIns="139238" tIns="46413" rIns="139238" bIns="46413" rtlCol="0" anchor="ctr"/>
          <a:lstStyle/>
          <a:p>
            <a:pPr>
              <a:lnSpc>
                <a:spcPct val="120000"/>
              </a:lnSpc>
            </a:pPr>
            <a:r>
              <a:rPr lang="en-US" sz="1462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LOOKING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046416" y="4223543"/>
            <a:ext cx="185650" cy="185650"/>
          </a:xfrm>
          <a:custGeom>
            <a:avLst/>
            <a:gdLst/>
            <a:ahLst/>
            <a:cxnLst/>
            <a:rect l="l" t="t" r="r" b="b"/>
            <a:pathLst>
              <a:path w="185650" h="185650">
                <a:moveTo>
                  <a:pt x="182242" y="101020"/>
                </a:moveTo>
                <a:cubicBezTo>
                  <a:pt x="186774" y="96487"/>
                  <a:pt x="186774" y="89127"/>
                  <a:pt x="182242" y="84594"/>
                </a:cubicBezTo>
                <a:lnTo>
                  <a:pt x="124226" y="26578"/>
                </a:lnTo>
                <a:cubicBezTo>
                  <a:pt x="119694" y="22046"/>
                  <a:pt x="112333" y="22046"/>
                  <a:pt x="107800" y="26578"/>
                </a:cubicBezTo>
                <a:cubicBezTo>
                  <a:pt x="103268" y="31111"/>
                  <a:pt x="103268" y="38472"/>
                  <a:pt x="107800" y="43004"/>
                </a:cubicBezTo>
                <a:lnTo>
                  <a:pt x="146018" y="81222"/>
                </a:lnTo>
                <a:lnTo>
                  <a:pt x="11603" y="81222"/>
                </a:lnTo>
                <a:cubicBezTo>
                  <a:pt x="5185" y="81222"/>
                  <a:pt x="0" y="86407"/>
                  <a:pt x="0" y="92825"/>
                </a:cubicBezTo>
                <a:cubicBezTo>
                  <a:pt x="0" y="99243"/>
                  <a:pt x="5185" y="104428"/>
                  <a:pt x="11603" y="104428"/>
                </a:cubicBezTo>
                <a:lnTo>
                  <a:pt x="146018" y="104428"/>
                </a:lnTo>
                <a:lnTo>
                  <a:pt x="107800" y="142646"/>
                </a:lnTo>
                <a:cubicBezTo>
                  <a:pt x="103268" y="147179"/>
                  <a:pt x="103268" y="154539"/>
                  <a:pt x="107800" y="159072"/>
                </a:cubicBezTo>
                <a:cubicBezTo>
                  <a:pt x="112333" y="163604"/>
                  <a:pt x="119694" y="163604"/>
                  <a:pt x="124226" y="159072"/>
                </a:cubicBezTo>
                <a:lnTo>
                  <a:pt x="182242" y="101056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0394510" y="4130718"/>
            <a:ext cx="1369171" cy="371300"/>
          </a:xfrm>
          <a:custGeom>
            <a:avLst/>
            <a:gdLst/>
            <a:ahLst/>
            <a:cxnLst/>
            <a:rect l="l" t="t" r="r" b="b"/>
            <a:pathLst>
              <a:path w="1369171" h="371300">
                <a:moveTo>
                  <a:pt x="46413" y="0"/>
                </a:moveTo>
                <a:lnTo>
                  <a:pt x="1322758" y="0"/>
                </a:lnTo>
                <a:cubicBezTo>
                  <a:pt x="1348391" y="0"/>
                  <a:pt x="1369171" y="20780"/>
                  <a:pt x="1369171" y="46413"/>
                </a:cubicBezTo>
                <a:lnTo>
                  <a:pt x="1369171" y="324888"/>
                </a:lnTo>
                <a:cubicBezTo>
                  <a:pt x="1369171" y="350521"/>
                  <a:pt x="1348391" y="371300"/>
                  <a:pt x="1322758" y="371300"/>
                </a:cubicBezTo>
                <a:lnTo>
                  <a:pt x="46413" y="371300"/>
                </a:lnTo>
                <a:cubicBezTo>
                  <a:pt x="20780" y="371300"/>
                  <a:pt x="0" y="350521"/>
                  <a:pt x="0" y="324888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0394510" y="4130718"/>
            <a:ext cx="1461996" cy="371300"/>
          </a:xfrm>
          <a:prstGeom prst="rect">
            <a:avLst/>
          </a:prstGeom>
          <a:noFill/>
          <a:ln/>
        </p:spPr>
        <p:txBody>
          <a:bodyPr wrap="square" lIns="139238" tIns="46413" rIns="139238" bIns="46413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FOLLOWING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597202" y="4879121"/>
            <a:ext cx="7182344" cy="1171917"/>
          </a:xfrm>
          <a:custGeom>
            <a:avLst/>
            <a:gdLst/>
            <a:ahLst/>
            <a:cxnLst/>
            <a:rect l="l" t="t" r="r" b="b"/>
            <a:pathLst>
              <a:path w="7182344" h="1171917">
                <a:moveTo>
                  <a:pt x="139235" y="0"/>
                </a:moveTo>
                <a:lnTo>
                  <a:pt x="7043109" y="0"/>
                </a:lnTo>
                <a:cubicBezTo>
                  <a:pt x="7120006" y="0"/>
                  <a:pt x="7182344" y="62338"/>
                  <a:pt x="7182344" y="139235"/>
                </a:cubicBezTo>
                <a:lnTo>
                  <a:pt x="7182344" y="1032682"/>
                </a:lnTo>
                <a:cubicBezTo>
                  <a:pt x="7182344" y="1109579"/>
                  <a:pt x="7120006" y="1171917"/>
                  <a:pt x="7043109" y="1171917"/>
                </a:cubicBezTo>
                <a:lnTo>
                  <a:pt x="139235" y="1171917"/>
                </a:lnTo>
                <a:cubicBezTo>
                  <a:pt x="62389" y="1171917"/>
                  <a:pt x="0" y="1109528"/>
                  <a:pt x="0" y="1032682"/>
                </a:cubicBezTo>
                <a:lnTo>
                  <a:pt x="0" y="139235"/>
                </a:lnTo>
                <a:cubicBezTo>
                  <a:pt x="0" y="62338"/>
                  <a:pt x="62338" y="0"/>
                  <a:pt x="139235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788654" y="5070572"/>
            <a:ext cx="6903869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5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C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788654" y="5488286"/>
            <a:ext cx="1102298" cy="371300"/>
          </a:xfrm>
          <a:custGeom>
            <a:avLst/>
            <a:gdLst/>
            <a:ahLst/>
            <a:cxnLst/>
            <a:rect l="l" t="t" r="r" b="b"/>
            <a:pathLst>
              <a:path w="1102298" h="371300">
                <a:moveTo>
                  <a:pt x="46413" y="0"/>
                </a:moveTo>
                <a:lnTo>
                  <a:pt x="1055886" y="0"/>
                </a:lnTo>
                <a:cubicBezTo>
                  <a:pt x="1081519" y="0"/>
                  <a:pt x="1102298" y="20780"/>
                  <a:pt x="1102298" y="46413"/>
                </a:cubicBezTo>
                <a:lnTo>
                  <a:pt x="1102298" y="324888"/>
                </a:lnTo>
                <a:cubicBezTo>
                  <a:pt x="1102298" y="350521"/>
                  <a:pt x="1081519" y="371300"/>
                  <a:pt x="1055886" y="371300"/>
                </a:cubicBezTo>
                <a:lnTo>
                  <a:pt x="46413" y="371300"/>
                </a:lnTo>
                <a:cubicBezTo>
                  <a:pt x="20780" y="371300"/>
                  <a:pt x="0" y="350521"/>
                  <a:pt x="0" y="324888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F6A82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788654" y="5488286"/>
            <a:ext cx="1195123" cy="371300"/>
          </a:xfrm>
          <a:prstGeom prst="rect">
            <a:avLst/>
          </a:prstGeom>
          <a:noFill/>
          <a:ln/>
        </p:spPr>
        <p:txBody>
          <a:bodyPr wrap="square" lIns="139238" tIns="46413" rIns="139238" bIns="46413" rtlCol="0" anchor="ctr"/>
          <a:lstStyle/>
          <a:p>
            <a:pPr>
              <a:lnSpc>
                <a:spcPct val="120000"/>
              </a:lnSpc>
            </a:pPr>
            <a:r>
              <a:rPr lang="en-US" sz="1462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LOOKING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058019" y="5581111"/>
            <a:ext cx="185650" cy="185650"/>
          </a:xfrm>
          <a:custGeom>
            <a:avLst/>
            <a:gdLst/>
            <a:ahLst/>
            <a:cxnLst/>
            <a:rect l="l" t="t" r="r" b="b"/>
            <a:pathLst>
              <a:path w="185650" h="185650">
                <a:moveTo>
                  <a:pt x="182242" y="101020"/>
                </a:moveTo>
                <a:cubicBezTo>
                  <a:pt x="186774" y="96487"/>
                  <a:pt x="186774" y="89127"/>
                  <a:pt x="182242" y="84594"/>
                </a:cubicBezTo>
                <a:lnTo>
                  <a:pt x="124226" y="26578"/>
                </a:lnTo>
                <a:cubicBezTo>
                  <a:pt x="119694" y="22046"/>
                  <a:pt x="112333" y="22046"/>
                  <a:pt x="107800" y="26578"/>
                </a:cubicBezTo>
                <a:cubicBezTo>
                  <a:pt x="103268" y="31111"/>
                  <a:pt x="103268" y="38472"/>
                  <a:pt x="107800" y="43004"/>
                </a:cubicBezTo>
                <a:lnTo>
                  <a:pt x="146018" y="81222"/>
                </a:lnTo>
                <a:lnTo>
                  <a:pt x="11603" y="81222"/>
                </a:lnTo>
                <a:cubicBezTo>
                  <a:pt x="5185" y="81222"/>
                  <a:pt x="0" y="86407"/>
                  <a:pt x="0" y="92825"/>
                </a:cubicBezTo>
                <a:cubicBezTo>
                  <a:pt x="0" y="99243"/>
                  <a:pt x="5185" y="104428"/>
                  <a:pt x="11603" y="104428"/>
                </a:cubicBezTo>
                <a:lnTo>
                  <a:pt x="146018" y="104428"/>
                </a:lnTo>
                <a:lnTo>
                  <a:pt x="107800" y="142646"/>
                </a:lnTo>
                <a:cubicBezTo>
                  <a:pt x="103268" y="147179"/>
                  <a:pt x="103268" y="154539"/>
                  <a:pt x="107800" y="159072"/>
                </a:cubicBezTo>
                <a:cubicBezTo>
                  <a:pt x="112333" y="163604"/>
                  <a:pt x="119694" y="163604"/>
                  <a:pt x="124226" y="159072"/>
                </a:cubicBezTo>
                <a:lnTo>
                  <a:pt x="182242" y="101056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0406113" y="5488286"/>
            <a:ext cx="1067489" cy="371300"/>
          </a:xfrm>
          <a:custGeom>
            <a:avLst/>
            <a:gdLst/>
            <a:ahLst/>
            <a:cxnLst/>
            <a:rect l="l" t="t" r="r" b="b"/>
            <a:pathLst>
              <a:path w="1067489" h="371300">
                <a:moveTo>
                  <a:pt x="46413" y="0"/>
                </a:moveTo>
                <a:lnTo>
                  <a:pt x="1021076" y="0"/>
                </a:lnTo>
                <a:cubicBezTo>
                  <a:pt x="1046709" y="0"/>
                  <a:pt x="1067489" y="20780"/>
                  <a:pt x="1067489" y="46413"/>
                </a:cubicBezTo>
                <a:lnTo>
                  <a:pt x="1067489" y="324888"/>
                </a:lnTo>
                <a:cubicBezTo>
                  <a:pt x="1067489" y="350521"/>
                  <a:pt x="1046709" y="371300"/>
                  <a:pt x="1021076" y="371300"/>
                </a:cubicBezTo>
                <a:lnTo>
                  <a:pt x="46413" y="371300"/>
                </a:lnTo>
                <a:cubicBezTo>
                  <a:pt x="20780" y="371300"/>
                  <a:pt x="0" y="350521"/>
                  <a:pt x="0" y="324888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0406113" y="5488286"/>
            <a:ext cx="1160314" cy="371300"/>
          </a:xfrm>
          <a:prstGeom prst="rect">
            <a:avLst/>
          </a:prstGeom>
          <a:noFill/>
          <a:ln/>
        </p:spPr>
        <p:txBody>
          <a:bodyPr wrap="square" lIns="139238" tIns="46413" rIns="139238" bIns="46413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LEADING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18727" y="6341116"/>
            <a:ext cx="7460819" cy="2332231"/>
          </a:xfrm>
          <a:custGeom>
            <a:avLst/>
            <a:gdLst/>
            <a:ahLst/>
            <a:cxnLst/>
            <a:rect l="l" t="t" r="r" b="b"/>
            <a:pathLst>
              <a:path w="7460819" h="2332231">
                <a:moveTo>
                  <a:pt x="139234" y="0"/>
                </a:moveTo>
                <a:lnTo>
                  <a:pt x="7321585" y="0"/>
                </a:lnTo>
                <a:cubicBezTo>
                  <a:pt x="7398482" y="0"/>
                  <a:pt x="7460819" y="62337"/>
                  <a:pt x="7460819" y="139234"/>
                </a:cubicBezTo>
                <a:lnTo>
                  <a:pt x="7460819" y="2192997"/>
                </a:lnTo>
                <a:cubicBezTo>
                  <a:pt x="7460819" y="2269894"/>
                  <a:pt x="7398482" y="2332231"/>
                  <a:pt x="7321585" y="2332231"/>
                </a:cubicBezTo>
                <a:lnTo>
                  <a:pt x="139234" y="2332231"/>
                </a:lnTo>
                <a:cubicBezTo>
                  <a:pt x="62337" y="2332231"/>
                  <a:pt x="0" y="2269894"/>
                  <a:pt x="0" y="2192997"/>
                </a:cubicBezTo>
                <a:lnTo>
                  <a:pt x="0" y="139234"/>
                </a:lnTo>
                <a:cubicBezTo>
                  <a:pt x="0" y="62389"/>
                  <a:pt x="62389" y="0"/>
                  <a:pt x="139234" y="0"/>
                </a:cubicBezTo>
                <a:close/>
              </a:path>
            </a:pathLst>
          </a:custGeom>
          <a:solidFill>
            <a:srgbClr val="3E5C5A">
              <a:alpha val="20000"/>
            </a:srgbClr>
          </a:solidFill>
          <a:ln w="12700">
            <a:solidFill>
              <a:srgbClr val="3E5C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585599" y="6625393"/>
            <a:ext cx="232063" cy="232063"/>
          </a:xfrm>
          <a:custGeom>
            <a:avLst/>
            <a:gdLst/>
            <a:ahLst/>
            <a:cxnLst/>
            <a:rect l="l" t="t" r="r" b="b"/>
            <a:pathLst>
              <a:path w="232063" h="232063">
                <a:moveTo>
                  <a:pt x="0" y="43512"/>
                </a:moveTo>
                <a:cubicBezTo>
                  <a:pt x="0" y="35489"/>
                  <a:pt x="6481" y="29008"/>
                  <a:pt x="14504" y="29008"/>
                </a:cubicBezTo>
                <a:lnTo>
                  <a:pt x="188551" y="29008"/>
                </a:lnTo>
                <a:cubicBezTo>
                  <a:pt x="196574" y="29008"/>
                  <a:pt x="203055" y="35489"/>
                  <a:pt x="203055" y="43512"/>
                </a:cubicBezTo>
                <a:cubicBezTo>
                  <a:pt x="203055" y="51534"/>
                  <a:pt x="196574" y="58016"/>
                  <a:pt x="188551" y="58016"/>
                </a:cubicBezTo>
                <a:lnTo>
                  <a:pt x="14504" y="58016"/>
                </a:lnTo>
                <a:cubicBezTo>
                  <a:pt x="6481" y="58016"/>
                  <a:pt x="0" y="51534"/>
                  <a:pt x="0" y="43512"/>
                </a:cubicBezTo>
                <a:close/>
                <a:moveTo>
                  <a:pt x="29008" y="116031"/>
                </a:moveTo>
                <a:cubicBezTo>
                  <a:pt x="29008" y="108009"/>
                  <a:pt x="35489" y="101527"/>
                  <a:pt x="43512" y="101527"/>
                </a:cubicBezTo>
                <a:lnTo>
                  <a:pt x="217559" y="101527"/>
                </a:lnTo>
                <a:cubicBezTo>
                  <a:pt x="225581" y="101527"/>
                  <a:pt x="232063" y="108009"/>
                  <a:pt x="232063" y="116031"/>
                </a:cubicBezTo>
                <a:cubicBezTo>
                  <a:pt x="232063" y="124054"/>
                  <a:pt x="225581" y="130535"/>
                  <a:pt x="217559" y="130535"/>
                </a:cubicBezTo>
                <a:lnTo>
                  <a:pt x="43512" y="130535"/>
                </a:lnTo>
                <a:cubicBezTo>
                  <a:pt x="35489" y="130535"/>
                  <a:pt x="29008" y="124054"/>
                  <a:pt x="29008" y="116031"/>
                </a:cubicBezTo>
                <a:close/>
                <a:moveTo>
                  <a:pt x="203055" y="188551"/>
                </a:moveTo>
                <a:cubicBezTo>
                  <a:pt x="203055" y="196574"/>
                  <a:pt x="196574" y="203055"/>
                  <a:pt x="188551" y="203055"/>
                </a:cubicBezTo>
                <a:lnTo>
                  <a:pt x="14504" y="203055"/>
                </a:lnTo>
                <a:cubicBezTo>
                  <a:pt x="6481" y="203055"/>
                  <a:pt x="0" y="196574"/>
                  <a:pt x="0" y="188551"/>
                </a:cubicBezTo>
                <a:cubicBezTo>
                  <a:pt x="0" y="180529"/>
                  <a:pt x="6481" y="174047"/>
                  <a:pt x="14504" y="174047"/>
                </a:cubicBezTo>
                <a:lnTo>
                  <a:pt x="188551" y="174047"/>
                </a:lnTo>
                <a:cubicBezTo>
                  <a:pt x="196574" y="174047"/>
                  <a:pt x="203055" y="180529"/>
                  <a:pt x="203055" y="188551"/>
                </a:cubicBezTo>
                <a:close/>
              </a:path>
            </a:pathLst>
          </a:custGeom>
          <a:solidFill>
            <a:srgbClr val="3E5C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985907" y="6578981"/>
            <a:ext cx="1044283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7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后续步骤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556591" y="7043106"/>
            <a:ext cx="7077916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</a:t>
            </a:r>
            <a:r>
              <a:rPr lang="en-US" sz="1462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节点 C 开始 Leader 初始化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556591" y="7414407"/>
            <a:ext cx="7077916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</a:t>
            </a:r>
            <a:r>
              <a:rPr lang="en-US" sz="1462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节点 A、B 连接到 Leader 节点 C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556591" y="7785707"/>
            <a:ext cx="7077916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</a:t>
            </a:r>
            <a:r>
              <a:rPr lang="en-US" sz="1462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进入数据同步阶段（无需同步）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556591" y="8157008"/>
            <a:ext cx="7077916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</a:t>
            </a:r>
            <a:r>
              <a:rPr lang="en-US" sz="1462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集群开始正常服务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1930400" y="2540000"/>
            <a:ext cx="11571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 err="1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异常场景下的选举机制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6100" y="548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59973" y="44470"/>
                </a:moveTo>
                <a:lnTo>
                  <a:pt x="266700" y="50840"/>
                </a:lnTo>
                <a:lnTo>
                  <a:pt x="266700" y="19050"/>
                </a:lnTo>
                <a:cubicBezTo>
                  <a:pt x="266700" y="8513"/>
                  <a:pt x="275213" y="0"/>
                  <a:pt x="285750" y="0"/>
                </a:cubicBezTo>
                <a:cubicBezTo>
                  <a:pt x="296287" y="0"/>
                  <a:pt x="304800" y="8513"/>
                  <a:pt x="304800" y="19050"/>
                </a:cubicBezTo>
                <a:lnTo>
                  <a:pt x="304800" y="95250"/>
                </a:lnTo>
                <a:cubicBezTo>
                  <a:pt x="304800" y="105787"/>
                  <a:pt x="296287" y="114300"/>
                  <a:pt x="285750" y="114300"/>
                </a:cubicBezTo>
                <a:lnTo>
                  <a:pt x="209550" y="114300"/>
                </a:lnTo>
                <a:cubicBezTo>
                  <a:pt x="199013" y="114300"/>
                  <a:pt x="190500" y="105787"/>
                  <a:pt x="190500" y="95250"/>
                </a:cubicBezTo>
                <a:cubicBezTo>
                  <a:pt x="190500" y="84713"/>
                  <a:pt x="199013" y="76200"/>
                  <a:pt x="209550" y="76200"/>
                </a:cubicBezTo>
                <a:lnTo>
                  <a:pt x="238065" y="76200"/>
                </a:lnTo>
                <a:lnTo>
                  <a:pt x="233541" y="71914"/>
                </a:lnTo>
                <a:cubicBezTo>
                  <a:pt x="233422" y="71795"/>
                  <a:pt x="233303" y="71676"/>
                  <a:pt x="233184" y="71557"/>
                </a:cubicBezTo>
                <a:cubicBezTo>
                  <a:pt x="188535" y="26908"/>
                  <a:pt x="116205" y="26908"/>
                  <a:pt x="71557" y="71557"/>
                </a:cubicBezTo>
                <a:cubicBezTo>
                  <a:pt x="26908" y="116205"/>
                  <a:pt x="26908" y="188535"/>
                  <a:pt x="71557" y="233184"/>
                </a:cubicBezTo>
                <a:cubicBezTo>
                  <a:pt x="116205" y="277832"/>
                  <a:pt x="188535" y="277832"/>
                  <a:pt x="233184" y="233184"/>
                </a:cubicBezTo>
                <a:cubicBezTo>
                  <a:pt x="238065" y="228302"/>
                  <a:pt x="242411" y="223123"/>
                  <a:pt x="246221" y="217646"/>
                </a:cubicBezTo>
                <a:cubicBezTo>
                  <a:pt x="252234" y="209014"/>
                  <a:pt x="264140" y="206931"/>
                  <a:pt x="272772" y="212943"/>
                </a:cubicBezTo>
                <a:cubicBezTo>
                  <a:pt x="281404" y="218956"/>
                  <a:pt x="283488" y="230862"/>
                  <a:pt x="277475" y="239494"/>
                </a:cubicBezTo>
                <a:cubicBezTo>
                  <a:pt x="272415" y="246757"/>
                  <a:pt x="266640" y="253663"/>
                  <a:pt x="260152" y="260152"/>
                </a:cubicBezTo>
                <a:cubicBezTo>
                  <a:pt x="200620" y="319683"/>
                  <a:pt x="104120" y="319683"/>
                  <a:pt x="44648" y="260152"/>
                </a:cubicBezTo>
                <a:cubicBezTo>
                  <a:pt x="-14823" y="200620"/>
                  <a:pt x="-14883" y="104180"/>
                  <a:pt x="44648" y="44648"/>
                </a:cubicBezTo>
                <a:cubicBezTo>
                  <a:pt x="104120" y="-14823"/>
                  <a:pt x="200442" y="-14883"/>
                  <a:pt x="259973" y="44470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041400" y="5435600"/>
            <a:ext cx="198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集群重启场景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32300" y="5435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99417" y="99417"/>
                </a:moveTo>
                <a:cubicBezTo>
                  <a:pt x="105013" y="93821"/>
                  <a:pt x="114062" y="93821"/>
                  <a:pt x="119598" y="99417"/>
                </a:cubicBezTo>
                <a:lnTo>
                  <a:pt x="152340" y="132159"/>
                </a:lnTo>
                <a:lnTo>
                  <a:pt x="185083" y="99417"/>
                </a:lnTo>
                <a:cubicBezTo>
                  <a:pt x="190679" y="93821"/>
                  <a:pt x="199727" y="93821"/>
                  <a:pt x="205264" y="99417"/>
                </a:cubicBezTo>
                <a:cubicBezTo>
                  <a:pt x="210800" y="105013"/>
                  <a:pt x="210860" y="114062"/>
                  <a:pt x="205264" y="119598"/>
                </a:cubicBezTo>
                <a:lnTo>
                  <a:pt x="172522" y="152340"/>
                </a:lnTo>
                <a:lnTo>
                  <a:pt x="205264" y="185083"/>
                </a:lnTo>
                <a:cubicBezTo>
                  <a:pt x="210860" y="190679"/>
                  <a:pt x="210860" y="199727"/>
                  <a:pt x="205264" y="205264"/>
                </a:cubicBezTo>
                <a:cubicBezTo>
                  <a:pt x="199668" y="210800"/>
                  <a:pt x="190619" y="210860"/>
                  <a:pt x="185083" y="205264"/>
                </a:cubicBezTo>
                <a:lnTo>
                  <a:pt x="152340" y="172522"/>
                </a:lnTo>
                <a:lnTo>
                  <a:pt x="119598" y="205264"/>
                </a:lnTo>
                <a:cubicBezTo>
                  <a:pt x="114002" y="210860"/>
                  <a:pt x="104954" y="210860"/>
                  <a:pt x="99417" y="205264"/>
                </a:cubicBezTo>
                <a:cubicBezTo>
                  <a:pt x="93881" y="199668"/>
                  <a:pt x="93821" y="190619"/>
                  <a:pt x="99417" y="185083"/>
                </a:cubicBezTo>
                <a:lnTo>
                  <a:pt x="132159" y="152340"/>
                </a:lnTo>
                <a:lnTo>
                  <a:pt x="99417" y="119598"/>
                </a:lnTo>
                <a:cubicBezTo>
                  <a:pt x="93821" y="114002"/>
                  <a:pt x="93821" y="104954"/>
                  <a:pt x="99417" y="99417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4927600" y="5384800"/>
            <a:ext cx="198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节点故障处理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813800" y="5486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47638" y="52388"/>
                </a:moveTo>
                <a:lnTo>
                  <a:pt x="195263" y="52388"/>
                </a:lnTo>
                <a:lnTo>
                  <a:pt x="195263" y="80962"/>
                </a:lnTo>
                <a:lnTo>
                  <a:pt x="147638" y="80962"/>
                </a:lnTo>
                <a:lnTo>
                  <a:pt x="147638" y="52388"/>
                </a:lnTo>
                <a:close/>
                <a:moveTo>
                  <a:pt x="142875" y="19050"/>
                </a:moveTo>
                <a:cubicBezTo>
                  <a:pt x="127099" y="19050"/>
                  <a:pt x="114300" y="31849"/>
                  <a:pt x="114300" y="47625"/>
                </a:cubicBezTo>
                <a:lnTo>
                  <a:pt x="114300" y="85725"/>
                </a:lnTo>
                <a:cubicBezTo>
                  <a:pt x="114300" y="101501"/>
                  <a:pt x="127099" y="114300"/>
                  <a:pt x="142875" y="114300"/>
                </a:cubicBezTo>
                <a:lnTo>
                  <a:pt x="152400" y="114300"/>
                </a:lnTo>
                <a:lnTo>
                  <a:pt x="152400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76200" y="171450"/>
                </a:lnTo>
                <a:lnTo>
                  <a:pt x="76200" y="190500"/>
                </a:lnTo>
                <a:lnTo>
                  <a:pt x="66675" y="190500"/>
                </a:lnTo>
                <a:cubicBezTo>
                  <a:pt x="50899" y="190500"/>
                  <a:pt x="38100" y="203299"/>
                  <a:pt x="38100" y="219075"/>
                </a:cubicBezTo>
                <a:lnTo>
                  <a:pt x="38100" y="257175"/>
                </a:lnTo>
                <a:cubicBezTo>
                  <a:pt x="38100" y="272951"/>
                  <a:pt x="50899" y="285750"/>
                  <a:pt x="66675" y="285750"/>
                </a:cubicBezTo>
                <a:lnTo>
                  <a:pt x="123825" y="285750"/>
                </a:lnTo>
                <a:cubicBezTo>
                  <a:pt x="139601" y="285750"/>
                  <a:pt x="152400" y="272951"/>
                  <a:pt x="152400" y="257175"/>
                </a:cubicBezTo>
                <a:lnTo>
                  <a:pt x="152400" y="219075"/>
                </a:lnTo>
                <a:cubicBezTo>
                  <a:pt x="152400" y="203299"/>
                  <a:pt x="139601" y="190500"/>
                  <a:pt x="123825" y="190500"/>
                </a:cubicBezTo>
                <a:lnTo>
                  <a:pt x="114300" y="190500"/>
                </a:lnTo>
                <a:lnTo>
                  <a:pt x="114300" y="171450"/>
                </a:lnTo>
                <a:lnTo>
                  <a:pt x="228600" y="171450"/>
                </a:lnTo>
                <a:lnTo>
                  <a:pt x="228600" y="190500"/>
                </a:lnTo>
                <a:lnTo>
                  <a:pt x="219075" y="190500"/>
                </a:lnTo>
                <a:cubicBezTo>
                  <a:pt x="203299" y="190500"/>
                  <a:pt x="190500" y="203299"/>
                  <a:pt x="190500" y="219075"/>
                </a:cubicBezTo>
                <a:lnTo>
                  <a:pt x="190500" y="257175"/>
                </a:lnTo>
                <a:cubicBezTo>
                  <a:pt x="190500" y="272951"/>
                  <a:pt x="203299" y="285750"/>
                  <a:pt x="219075" y="285750"/>
                </a:cubicBezTo>
                <a:lnTo>
                  <a:pt x="276225" y="285750"/>
                </a:lnTo>
                <a:cubicBezTo>
                  <a:pt x="292001" y="285750"/>
                  <a:pt x="304800" y="272951"/>
                  <a:pt x="304800" y="257175"/>
                </a:cubicBezTo>
                <a:lnTo>
                  <a:pt x="304800" y="219075"/>
                </a:lnTo>
                <a:cubicBezTo>
                  <a:pt x="304800" y="203299"/>
                  <a:pt x="292001" y="190500"/>
                  <a:pt x="276225" y="190500"/>
                </a:cubicBezTo>
                <a:lnTo>
                  <a:pt x="266700" y="190500"/>
                </a:lnTo>
                <a:lnTo>
                  <a:pt x="266700" y="171450"/>
                </a:lnTo>
                <a:lnTo>
                  <a:pt x="323850" y="171450"/>
                </a:lnTo>
                <a:cubicBezTo>
                  <a:pt x="334387" y="171450"/>
                  <a:pt x="342900" y="162937"/>
                  <a:pt x="342900" y="152400"/>
                </a:cubicBezTo>
                <a:cubicBezTo>
                  <a:pt x="342900" y="141863"/>
                  <a:pt x="334387" y="133350"/>
                  <a:pt x="323850" y="133350"/>
                </a:cubicBezTo>
                <a:lnTo>
                  <a:pt x="190500" y="133350"/>
                </a:lnTo>
                <a:lnTo>
                  <a:pt x="190500" y="114300"/>
                </a:lnTo>
                <a:lnTo>
                  <a:pt x="200025" y="114300"/>
                </a:lnTo>
                <a:cubicBezTo>
                  <a:pt x="215801" y="114300"/>
                  <a:pt x="228600" y="101501"/>
                  <a:pt x="228600" y="85725"/>
                </a:cubicBezTo>
                <a:lnTo>
                  <a:pt x="228600" y="47625"/>
                </a:lnTo>
                <a:cubicBezTo>
                  <a:pt x="228600" y="31849"/>
                  <a:pt x="215801" y="19050"/>
                  <a:pt x="200025" y="19050"/>
                </a:cubicBezTo>
                <a:lnTo>
                  <a:pt x="142875" y="19050"/>
                </a:lnTo>
                <a:close/>
                <a:moveTo>
                  <a:pt x="266700" y="223838"/>
                </a:moveTo>
                <a:lnTo>
                  <a:pt x="271463" y="223838"/>
                </a:lnTo>
                <a:lnTo>
                  <a:pt x="271463" y="252413"/>
                </a:lnTo>
                <a:lnTo>
                  <a:pt x="223838" y="252413"/>
                </a:lnTo>
                <a:lnTo>
                  <a:pt x="223838" y="223838"/>
                </a:lnTo>
                <a:lnTo>
                  <a:pt x="266700" y="223838"/>
                </a:lnTo>
                <a:close/>
                <a:moveTo>
                  <a:pt x="114300" y="223838"/>
                </a:moveTo>
                <a:lnTo>
                  <a:pt x="119062" y="223838"/>
                </a:lnTo>
                <a:lnTo>
                  <a:pt x="119062" y="252413"/>
                </a:lnTo>
                <a:lnTo>
                  <a:pt x="71438" y="252413"/>
                </a:lnTo>
                <a:lnTo>
                  <a:pt x="71438" y="223838"/>
                </a:lnTo>
                <a:lnTo>
                  <a:pt x="114300" y="223838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9328150" y="5435600"/>
            <a:ext cx="198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网络分区应对</a:t>
            </a:r>
            <a:endParaRPr lang="en-US" sz="1600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32071AF-77FD-83A5-2506-89645EA83A8F}"/>
              </a:ext>
            </a:extLst>
          </p:cNvPr>
          <p:cNvGrpSpPr/>
          <p:nvPr/>
        </p:nvGrpSpPr>
        <p:grpSpPr>
          <a:xfrm>
            <a:off x="563513" y="3086100"/>
            <a:ext cx="1193800" cy="1193800"/>
            <a:chOff x="563513" y="2857500"/>
            <a:chExt cx="1193800" cy="1193800"/>
          </a:xfrm>
        </p:grpSpPr>
        <p:sp>
          <p:nvSpPr>
            <p:cNvPr id="18" name="Shape 1">
              <a:extLst>
                <a:ext uri="{FF2B5EF4-FFF2-40B4-BE49-F238E27FC236}">
                  <a16:creationId xmlns:a16="http://schemas.microsoft.com/office/drawing/2014/main" id="{772B189B-967E-D5D6-8E4B-28A1523CB955}"/>
                </a:ext>
              </a:extLst>
            </p:cNvPr>
            <p:cNvSpPr/>
            <p:nvPr/>
          </p:nvSpPr>
          <p:spPr>
            <a:xfrm>
              <a:off x="563513" y="2857500"/>
              <a:ext cx="1193800" cy="1193800"/>
            </a:xfrm>
            <a:custGeom>
              <a:avLst/>
              <a:gdLst/>
              <a:ahLst/>
              <a:cxnLst/>
              <a:rect l="l" t="t" r="r" b="b"/>
              <a:pathLst>
                <a:path w="1193800" h="1193800">
                  <a:moveTo>
                    <a:pt x="152401" y="0"/>
                  </a:moveTo>
                  <a:lnTo>
                    <a:pt x="1041399" y="0"/>
                  </a:lnTo>
                  <a:cubicBezTo>
                    <a:pt x="1125512" y="0"/>
                    <a:pt x="1193800" y="68288"/>
                    <a:pt x="1193800" y="152401"/>
                  </a:cubicBezTo>
                  <a:lnTo>
                    <a:pt x="1193800" y="1041399"/>
                  </a:lnTo>
                  <a:cubicBezTo>
                    <a:pt x="1193800" y="1125568"/>
                    <a:pt x="1125568" y="1193800"/>
                    <a:pt x="1041399" y="1193800"/>
                  </a:cubicBezTo>
                  <a:lnTo>
                    <a:pt x="152401" y="1193800"/>
                  </a:lnTo>
                  <a:cubicBezTo>
                    <a:pt x="68232" y="1193800"/>
                    <a:pt x="0" y="1125568"/>
                    <a:pt x="0" y="1041399"/>
                  </a:cubicBezTo>
                  <a:lnTo>
                    <a:pt x="0" y="152401"/>
                  </a:lnTo>
                  <a:cubicBezTo>
                    <a:pt x="0" y="68232"/>
                    <a:pt x="68232" y="0"/>
                    <a:pt x="152401" y="0"/>
                  </a:cubicBezTo>
                  <a:close/>
                </a:path>
              </a:pathLst>
            </a:custGeom>
            <a:solidFill>
              <a:srgbClr val="4F6A82">
                <a:alpha val="30196"/>
              </a:srgbClr>
            </a:solidFill>
            <a:ln w="25400">
              <a:solidFill>
                <a:srgbClr val="B89A6A"/>
              </a:solidFill>
              <a:prstDash val="solid"/>
            </a:ln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ext 2">
              <a:extLst>
                <a:ext uri="{FF2B5EF4-FFF2-40B4-BE49-F238E27FC236}">
                  <a16:creationId xmlns:a16="http://schemas.microsoft.com/office/drawing/2014/main" id="{8BB2F8BE-6D02-9CD7-95FD-4FA013101D44}"/>
                </a:ext>
              </a:extLst>
            </p:cNvPr>
            <p:cNvSpPr/>
            <p:nvPr/>
          </p:nvSpPr>
          <p:spPr>
            <a:xfrm>
              <a:off x="633363" y="3149600"/>
              <a:ext cx="1054100" cy="901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800" b="1" dirty="0">
                  <a:solidFill>
                    <a:srgbClr val="B89A6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0</a:t>
              </a:r>
              <a:r>
                <a:rPr lang="en-US" altLang="zh-CN" sz="4800" b="1" dirty="0">
                  <a:solidFill>
                    <a:srgbClr val="B89A6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4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858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284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FAILURE SCENARIO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63600"/>
            <a:ext cx="2971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集群重启场景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778000"/>
            <a:ext cx="50800" cy="2070100"/>
          </a:xfrm>
          <a:custGeom>
            <a:avLst/>
            <a:gdLst/>
            <a:ahLst/>
            <a:cxnLst/>
            <a:rect l="l" t="t" r="r" b="b"/>
            <a:pathLst>
              <a:path w="50800" h="2070100">
                <a:moveTo>
                  <a:pt x="0" y="0"/>
                </a:moveTo>
                <a:lnTo>
                  <a:pt x="50800" y="0"/>
                </a:lnTo>
                <a:lnTo>
                  <a:pt x="508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31850" y="1828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38100"/>
                </a:moveTo>
                <a:cubicBezTo>
                  <a:pt x="234553" y="38100"/>
                  <a:pt x="285750" y="89297"/>
                  <a:pt x="285750" y="152400"/>
                </a:cubicBezTo>
                <a:cubicBezTo>
                  <a:pt x="285750" y="215503"/>
                  <a:pt x="234553" y="266700"/>
                  <a:pt x="171450" y="266700"/>
                </a:cubicBezTo>
                <a:cubicBezTo>
                  <a:pt x="132636" y="266700"/>
                  <a:pt x="98286" y="247352"/>
                  <a:pt x="77629" y="217706"/>
                </a:cubicBezTo>
                <a:cubicBezTo>
                  <a:pt x="71616" y="209074"/>
                  <a:pt x="59710" y="206990"/>
                  <a:pt x="51078" y="213003"/>
                </a:cubicBezTo>
                <a:cubicBezTo>
                  <a:pt x="42446" y="219015"/>
                  <a:pt x="40362" y="230922"/>
                  <a:pt x="46375" y="239554"/>
                </a:cubicBezTo>
                <a:cubicBezTo>
                  <a:pt x="73878" y="278963"/>
                  <a:pt x="119658" y="304800"/>
                  <a:pt x="171450" y="304800"/>
                </a:cubicBezTo>
                <a:cubicBezTo>
                  <a:pt x="255627" y="304800"/>
                  <a:pt x="323850" y="236577"/>
                  <a:pt x="323850" y="152400"/>
                </a:cubicBezTo>
                <a:cubicBezTo>
                  <a:pt x="323850" y="68223"/>
                  <a:pt x="255627" y="0"/>
                  <a:pt x="171450" y="0"/>
                </a:cubicBezTo>
                <a:cubicBezTo>
                  <a:pt x="120432" y="0"/>
                  <a:pt x="75307" y="25063"/>
                  <a:pt x="47625" y="63520"/>
                </a:cubicBezTo>
                <a:lnTo>
                  <a:pt x="47625" y="47625"/>
                </a:lnTo>
                <a:cubicBezTo>
                  <a:pt x="47625" y="37088"/>
                  <a:pt x="39112" y="28575"/>
                  <a:pt x="28575" y="28575"/>
                </a:cubicBezTo>
                <a:cubicBezTo>
                  <a:pt x="18038" y="28575"/>
                  <a:pt x="9525" y="37088"/>
                  <a:pt x="9525" y="47625"/>
                </a:cubicBezTo>
                <a:lnTo>
                  <a:pt x="9525" y="114300"/>
                </a:lnTo>
                <a:cubicBezTo>
                  <a:pt x="9525" y="124837"/>
                  <a:pt x="18038" y="133350"/>
                  <a:pt x="28575" y="133350"/>
                </a:cubicBezTo>
                <a:lnTo>
                  <a:pt x="43220" y="133350"/>
                </a:lnTo>
                <a:cubicBezTo>
                  <a:pt x="43517" y="133350"/>
                  <a:pt x="43815" y="133350"/>
                  <a:pt x="44113" y="133350"/>
                </a:cubicBezTo>
                <a:lnTo>
                  <a:pt x="95310" y="133350"/>
                </a:lnTo>
                <a:cubicBezTo>
                  <a:pt x="105847" y="133350"/>
                  <a:pt x="114360" y="124837"/>
                  <a:pt x="114360" y="114300"/>
                </a:cubicBezTo>
                <a:cubicBezTo>
                  <a:pt x="114360" y="103763"/>
                  <a:pt x="105847" y="95250"/>
                  <a:pt x="95310" y="95250"/>
                </a:cubicBezTo>
                <a:lnTo>
                  <a:pt x="72509" y="95250"/>
                </a:lnTo>
                <a:cubicBezTo>
                  <a:pt x="92214" y="61079"/>
                  <a:pt x="129183" y="38100"/>
                  <a:pt x="171450" y="38100"/>
                </a:cubicBezTo>
                <a:close/>
                <a:moveTo>
                  <a:pt x="185738" y="90488"/>
                </a:moveTo>
                <a:cubicBezTo>
                  <a:pt x="185738" y="82570"/>
                  <a:pt x="179368" y="76200"/>
                  <a:pt x="171450" y="76200"/>
                </a:cubicBezTo>
                <a:cubicBezTo>
                  <a:pt x="163532" y="76200"/>
                  <a:pt x="157163" y="82570"/>
                  <a:pt x="157163" y="90488"/>
                </a:cubicBezTo>
                <a:lnTo>
                  <a:pt x="157163" y="152400"/>
                </a:lnTo>
                <a:cubicBezTo>
                  <a:pt x="157163" y="156210"/>
                  <a:pt x="158651" y="159841"/>
                  <a:pt x="161330" y="162520"/>
                </a:cubicBezTo>
                <a:lnTo>
                  <a:pt x="204192" y="205383"/>
                </a:lnTo>
                <a:cubicBezTo>
                  <a:pt x="209788" y="210979"/>
                  <a:pt x="218837" y="210979"/>
                  <a:pt x="224373" y="205383"/>
                </a:cubicBezTo>
                <a:cubicBezTo>
                  <a:pt x="229910" y="199787"/>
                  <a:pt x="229969" y="190738"/>
                  <a:pt x="224373" y="185202"/>
                </a:cubicBezTo>
                <a:lnTo>
                  <a:pt x="185678" y="146506"/>
                </a:lnTo>
                <a:lnTo>
                  <a:pt x="185678" y="90488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346200" y="1778000"/>
            <a:ext cx="3200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与首次启动的关键区别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387600"/>
            <a:ext cx="7226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集群重启与首次启动的</a:t>
            </a:r>
            <a:r>
              <a:rPr lang="en-US" sz="18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最大区别</a:t>
            </a: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在于：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9150" y="2968625"/>
            <a:ext cx="7099300" cy="876300"/>
          </a:xfrm>
          <a:custGeom>
            <a:avLst/>
            <a:gdLst/>
            <a:ahLst/>
            <a:cxnLst/>
            <a:rect l="l" t="t" r="r" b="b"/>
            <a:pathLst>
              <a:path w="7099300" h="876300">
                <a:moveTo>
                  <a:pt x="152397" y="0"/>
                </a:moveTo>
                <a:lnTo>
                  <a:pt x="6946903" y="0"/>
                </a:lnTo>
                <a:cubicBezTo>
                  <a:pt x="7031069" y="0"/>
                  <a:pt x="7099300" y="68231"/>
                  <a:pt x="7099300" y="152397"/>
                </a:cubicBezTo>
                <a:lnTo>
                  <a:pt x="7099300" y="723903"/>
                </a:lnTo>
                <a:cubicBezTo>
                  <a:pt x="7099300" y="808069"/>
                  <a:pt x="7031069" y="876300"/>
                  <a:pt x="6946903" y="876300"/>
                </a:cubicBezTo>
                <a:lnTo>
                  <a:pt x="152397" y="876300"/>
                </a:lnTo>
                <a:cubicBezTo>
                  <a:pt x="68231" y="876300"/>
                  <a:pt x="0" y="808069"/>
                  <a:pt x="0" y="723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022350" y="3228975"/>
            <a:ext cx="669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节点具有历史数据状态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4350" y="4162425"/>
            <a:ext cx="7404100" cy="3873500"/>
          </a:xfrm>
          <a:custGeom>
            <a:avLst/>
            <a:gdLst/>
            <a:ahLst/>
            <a:cxnLst/>
            <a:rect l="l" t="t" r="r" b="b"/>
            <a:pathLst>
              <a:path w="7404100" h="3873500">
                <a:moveTo>
                  <a:pt x="152383" y="0"/>
                </a:moveTo>
                <a:lnTo>
                  <a:pt x="7251717" y="0"/>
                </a:lnTo>
                <a:cubicBezTo>
                  <a:pt x="7335876" y="0"/>
                  <a:pt x="7404100" y="68224"/>
                  <a:pt x="7404100" y="152383"/>
                </a:cubicBezTo>
                <a:lnTo>
                  <a:pt x="7404100" y="3721117"/>
                </a:lnTo>
                <a:cubicBezTo>
                  <a:pt x="7404100" y="3805276"/>
                  <a:pt x="7335876" y="3873500"/>
                  <a:pt x="7251717" y="3873500"/>
                </a:cubicBezTo>
                <a:lnTo>
                  <a:pt x="152383" y="3873500"/>
                </a:lnTo>
                <a:cubicBezTo>
                  <a:pt x="68224" y="3873500"/>
                  <a:pt x="0" y="3805276"/>
                  <a:pt x="0" y="3721117"/>
                </a:cubicBezTo>
                <a:lnTo>
                  <a:pt x="0" y="152383"/>
                </a:lnTo>
                <a:cubicBezTo>
                  <a:pt x="0" y="68281"/>
                  <a:pt x="68281" y="0"/>
                  <a:pt x="152383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 w="12700">
            <a:solidFill>
              <a:srgbClr val="4F6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74700" y="4422775"/>
            <a:ext cx="701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重启前集群状态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0100" y="4981575"/>
            <a:ext cx="50800" cy="558800"/>
          </a:xfrm>
          <a:custGeom>
            <a:avLst/>
            <a:gdLst/>
            <a:ahLst/>
            <a:cxnLst/>
            <a:rect l="l" t="t" r="r" b="b"/>
            <a:pathLst>
              <a:path w="50800" h="558800">
                <a:moveTo>
                  <a:pt x="0" y="0"/>
                </a:moveTo>
                <a:lnTo>
                  <a:pt x="50800" y="0"/>
                </a:lnTo>
                <a:lnTo>
                  <a:pt x="50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77900" y="4981575"/>
            <a:ext cx="678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A: myid=1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77900" y="5286375"/>
            <a:ext cx="676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peerEpoch=5, zxid=0x500000012, Follower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0100" y="5692775"/>
            <a:ext cx="50800" cy="558800"/>
          </a:xfrm>
          <a:custGeom>
            <a:avLst/>
            <a:gdLst/>
            <a:ahLst/>
            <a:cxnLst/>
            <a:rect l="l" t="t" r="r" b="b"/>
            <a:pathLst>
              <a:path w="50800" h="558800">
                <a:moveTo>
                  <a:pt x="0" y="0"/>
                </a:moveTo>
                <a:lnTo>
                  <a:pt x="50800" y="0"/>
                </a:lnTo>
                <a:lnTo>
                  <a:pt x="50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77900" y="5692775"/>
            <a:ext cx="678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B: myid=2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7900" y="5997575"/>
            <a:ext cx="676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peerEpoch=5, </a:t>
            </a:r>
            <a:r>
              <a:rPr lang="en-US" sz="14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zxid=0x500000015</a:t>
            </a:r>
            <a:r>
              <a:rPr lang="en-US" sz="14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Leader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0100" y="6403975"/>
            <a:ext cx="50800" cy="558800"/>
          </a:xfrm>
          <a:custGeom>
            <a:avLst/>
            <a:gdLst/>
            <a:ahLst/>
            <a:cxnLst/>
            <a:rect l="l" t="t" r="r" b="b"/>
            <a:pathLst>
              <a:path w="50800" h="558800">
                <a:moveTo>
                  <a:pt x="0" y="0"/>
                </a:moveTo>
                <a:lnTo>
                  <a:pt x="50800" y="0"/>
                </a:lnTo>
                <a:lnTo>
                  <a:pt x="50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3E5C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77900" y="6403975"/>
            <a:ext cx="678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C: myid=3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77900" y="6708775"/>
            <a:ext cx="676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peerEpoch=5, zxid=0x500000010, Follower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4700" y="7165975"/>
            <a:ext cx="6883400" cy="609600"/>
          </a:xfrm>
          <a:custGeom>
            <a:avLst/>
            <a:gdLst/>
            <a:ahLst/>
            <a:cxnLst/>
            <a:rect l="l" t="t" r="r" b="b"/>
            <a:pathLst>
              <a:path w="6883400" h="609600">
                <a:moveTo>
                  <a:pt x="101602" y="0"/>
                </a:moveTo>
                <a:lnTo>
                  <a:pt x="6781798" y="0"/>
                </a:lnTo>
                <a:cubicBezTo>
                  <a:pt x="6837911" y="0"/>
                  <a:pt x="6883400" y="45489"/>
                  <a:pt x="6883400" y="101602"/>
                </a:cubicBezTo>
                <a:lnTo>
                  <a:pt x="6883400" y="507998"/>
                </a:lnTo>
                <a:cubicBezTo>
                  <a:pt x="6883400" y="564111"/>
                  <a:pt x="6837911" y="609600"/>
                  <a:pt x="67817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27100" y="7318375"/>
            <a:ext cx="668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关键信息：</a:t>
            </a: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B 作为前 Leader，拥有最新的 zxid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56600" y="1778000"/>
            <a:ext cx="50800" cy="4267200"/>
          </a:xfrm>
          <a:custGeom>
            <a:avLst/>
            <a:gdLst/>
            <a:ahLst/>
            <a:cxnLst/>
            <a:rect l="l" t="t" r="r" b="b"/>
            <a:pathLst>
              <a:path w="50800" h="4267200">
                <a:moveTo>
                  <a:pt x="0" y="0"/>
                </a:moveTo>
                <a:lnTo>
                  <a:pt x="50800" y="0"/>
                </a:lnTo>
                <a:lnTo>
                  <a:pt x="50800" y="4267200"/>
                </a:lnTo>
                <a:lnTo>
                  <a:pt x="0" y="4267200"/>
                </a:lnTo>
                <a:lnTo>
                  <a:pt x="0" y="0"/>
                </a:ln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674100" y="1828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42863"/>
                </a:moveTo>
                <a:cubicBezTo>
                  <a:pt x="0" y="35004"/>
                  <a:pt x="6370" y="28575"/>
                  <a:pt x="14288" y="28575"/>
                </a:cubicBezTo>
                <a:lnTo>
                  <a:pt x="42863" y="28575"/>
                </a:lnTo>
                <a:cubicBezTo>
                  <a:pt x="50780" y="28575"/>
                  <a:pt x="57150" y="34945"/>
                  <a:pt x="57150" y="42863"/>
                </a:cubicBezTo>
                <a:lnTo>
                  <a:pt x="57150" y="104775"/>
                </a:lnTo>
                <a:lnTo>
                  <a:pt x="71438" y="104775"/>
                </a:lnTo>
                <a:cubicBezTo>
                  <a:pt x="79355" y="104775"/>
                  <a:pt x="85725" y="111145"/>
                  <a:pt x="85725" y="119062"/>
                </a:cubicBezTo>
                <a:cubicBezTo>
                  <a:pt x="85725" y="126980"/>
                  <a:pt x="79355" y="133350"/>
                  <a:pt x="71438" y="133350"/>
                </a:cubicBezTo>
                <a:lnTo>
                  <a:pt x="14288" y="133350"/>
                </a:lnTo>
                <a:cubicBezTo>
                  <a:pt x="6370" y="133350"/>
                  <a:pt x="0" y="126980"/>
                  <a:pt x="0" y="119062"/>
                </a:cubicBezTo>
                <a:cubicBezTo>
                  <a:pt x="0" y="111145"/>
                  <a:pt x="6370" y="104775"/>
                  <a:pt x="14288" y="104775"/>
                </a:cubicBezTo>
                <a:lnTo>
                  <a:pt x="28575" y="104775"/>
                </a:lnTo>
                <a:lnTo>
                  <a:pt x="28575" y="57150"/>
                </a:lnTo>
                <a:lnTo>
                  <a:pt x="14288" y="57150"/>
                </a:lnTo>
                <a:cubicBezTo>
                  <a:pt x="6370" y="57150"/>
                  <a:pt x="0" y="50780"/>
                  <a:pt x="0" y="42863"/>
                </a:cubicBezTo>
                <a:close/>
                <a:moveTo>
                  <a:pt x="18098" y="179308"/>
                </a:moveTo>
                <a:cubicBezTo>
                  <a:pt x="24884" y="174188"/>
                  <a:pt x="33159" y="171450"/>
                  <a:pt x="41672" y="171450"/>
                </a:cubicBezTo>
                <a:lnTo>
                  <a:pt x="44589" y="171450"/>
                </a:lnTo>
                <a:cubicBezTo>
                  <a:pt x="64651" y="171450"/>
                  <a:pt x="80962" y="187762"/>
                  <a:pt x="80962" y="207824"/>
                </a:cubicBezTo>
                <a:cubicBezTo>
                  <a:pt x="80962" y="219492"/>
                  <a:pt x="75367" y="230386"/>
                  <a:pt x="65961" y="237232"/>
                </a:cubicBezTo>
                <a:lnTo>
                  <a:pt x="51673" y="247650"/>
                </a:lnTo>
                <a:lnTo>
                  <a:pt x="71438" y="247650"/>
                </a:lnTo>
                <a:cubicBezTo>
                  <a:pt x="79355" y="247650"/>
                  <a:pt x="85725" y="254020"/>
                  <a:pt x="85725" y="261937"/>
                </a:cubicBezTo>
                <a:cubicBezTo>
                  <a:pt x="85725" y="269855"/>
                  <a:pt x="79355" y="276225"/>
                  <a:pt x="71438" y="276225"/>
                </a:cubicBezTo>
                <a:lnTo>
                  <a:pt x="17443" y="276225"/>
                </a:lnTo>
                <a:cubicBezTo>
                  <a:pt x="7799" y="276225"/>
                  <a:pt x="0" y="268426"/>
                  <a:pt x="0" y="258782"/>
                </a:cubicBezTo>
                <a:cubicBezTo>
                  <a:pt x="0" y="253186"/>
                  <a:pt x="2679" y="247948"/>
                  <a:pt x="7203" y="244673"/>
                </a:cubicBezTo>
                <a:lnTo>
                  <a:pt x="49173" y="214134"/>
                </a:lnTo>
                <a:cubicBezTo>
                  <a:pt x="51197" y="212646"/>
                  <a:pt x="52388" y="210324"/>
                  <a:pt x="52388" y="207824"/>
                </a:cubicBezTo>
                <a:cubicBezTo>
                  <a:pt x="52388" y="203537"/>
                  <a:pt x="48875" y="200025"/>
                  <a:pt x="44589" y="200025"/>
                </a:cubicBezTo>
                <a:lnTo>
                  <a:pt x="41672" y="200025"/>
                </a:lnTo>
                <a:cubicBezTo>
                  <a:pt x="39350" y="200025"/>
                  <a:pt x="37088" y="200799"/>
                  <a:pt x="35243" y="202168"/>
                </a:cubicBezTo>
                <a:lnTo>
                  <a:pt x="22860" y="211455"/>
                </a:lnTo>
                <a:cubicBezTo>
                  <a:pt x="16550" y="216218"/>
                  <a:pt x="7620" y="214908"/>
                  <a:pt x="2857" y="208597"/>
                </a:cubicBezTo>
                <a:cubicBezTo>
                  <a:pt x="-1905" y="202287"/>
                  <a:pt x="-595" y="193358"/>
                  <a:pt x="5715" y="188595"/>
                </a:cubicBezTo>
                <a:lnTo>
                  <a:pt x="18098" y="179308"/>
                </a:lnTo>
                <a:close/>
                <a:moveTo>
                  <a:pt x="133350" y="38100"/>
                </a:moveTo>
                <a:lnTo>
                  <a:pt x="285750" y="38100"/>
                </a:lnTo>
                <a:cubicBezTo>
                  <a:pt x="296287" y="38100"/>
                  <a:pt x="304800" y="46613"/>
                  <a:pt x="304800" y="57150"/>
                </a:cubicBezTo>
                <a:cubicBezTo>
                  <a:pt x="304800" y="67687"/>
                  <a:pt x="296287" y="76200"/>
                  <a:pt x="285750" y="76200"/>
                </a:cubicBezTo>
                <a:lnTo>
                  <a:pt x="133350" y="76200"/>
                </a:lnTo>
                <a:cubicBezTo>
                  <a:pt x="122813" y="76200"/>
                  <a:pt x="114300" y="67687"/>
                  <a:pt x="114300" y="57150"/>
                </a:cubicBezTo>
                <a:cubicBezTo>
                  <a:pt x="114300" y="46613"/>
                  <a:pt x="122813" y="38100"/>
                  <a:pt x="133350" y="38100"/>
                </a:cubicBezTo>
                <a:close/>
                <a:moveTo>
                  <a:pt x="133350" y="133350"/>
                </a:moveTo>
                <a:lnTo>
                  <a:pt x="285750" y="133350"/>
                </a:lnTo>
                <a:cubicBezTo>
                  <a:pt x="296287" y="133350"/>
                  <a:pt x="304800" y="141863"/>
                  <a:pt x="304800" y="152400"/>
                </a:cubicBezTo>
                <a:cubicBezTo>
                  <a:pt x="304800" y="162937"/>
                  <a:pt x="296287" y="171450"/>
                  <a:pt x="285750" y="171450"/>
                </a:cubicBezTo>
                <a:lnTo>
                  <a:pt x="133350" y="171450"/>
                </a:lnTo>
                <a:cubicBezTo>
                  <a:pt x="122813" y="171450"/>
                  <a:pt x="114300" y="162937"/>
                  <a:pt x="114300" y="152400"/>
                </a:cubicBezTo>
                <a:cubicBezTo>
                  <a:pt x="114300" y="141863"/>
                  <a:pt x="122813" y="133350"/>
                  <a:pt x="133350" y="133350"/>
                </a:cubicBezTo>
                <a:close/>
                <a:moveTo>
                  <a:pt x="133350" y="228600"/>
                </a:moveTo>
                <a:lnTo>
                  <a:pt x="285750" y="228600"/>
                </a:lnTo>
                <a:cubicBezTo>
                  <a:pt x="296287" y="228600"/>
                  <a:pt x="304800" y="237113"/>
                  <a:pt x="304800" y="247650"/>
                </a:cubicBezTo>
                <a:cubicBezTo>
                  <a:pt x="304800" y="258187"/>
                  <a:pt x="296287" y="266700"/>
                  <a:pt x="2857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169400" y="1778000"/>
            <a:ext cx="289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不同重启顺序的影响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36000" y="2387600"/>
            <a:ext cx="7112000" cy="1117600"/>
          </a:xfrm>
          <a:custGeom>
            <a:avLst/>
            <a:gdLst/>
            <a:ahLst/>
            <a:cxnLst/>
            <a:rect l="l" t="t" r="r" b="b"/>
            <a:pathLst>
              <a:path w="7112000" h="1117600">
                <a:moveTo>
                  <a:pt x="101601" y="0"/>
                </a:moveTo>
                <a:lnTo>
                  <a:pt x="7010399" y="0"/>
                </a:lnTo>
                <a:cubicBezTo>
                  <a:pt x="7066512" y="0"/>
                  <a:pt x="7112000" y="45488"/>
                  <a:pt x="7112000" y="101601"/>
                </a:cubicBezTo>
                <a:lnTo>
                  <a:pt x="7112000" y="1015999"/>
                </a:lnTo>
                <a:cubicBezTo>
                  <a:pt x="7112000" y="1072112"/>
                  <a:pt x="7066512" y="1117600"/>
                  <a:pt x="70103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839200" y="2590800"/>
            <a:ext cx="680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Follower 先重启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39200" y="2997200"/>
            <a:ext cx="680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Leader 最后重启，</a:t>
            </a:r>
            <a:r>
              <a:rPr lang="en-US" sz="1600" b="1" dirty="0">
                <a:solidFill>
                  <a:srgbClr val="4F6A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避免不必要的选举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636000" y="3657600"/>
            <a:ext cx="7112000" cy="1117600"/>
          </a:xfrm>
          <a:custGeom>
            <a:avLst/>
            <a:gdLst/>
            <a:ahLst/>
            <a:cxnLst/>
            <a:rect l="l" t="t" r="r" b="b"/>
            <a:pathLst>
              <a:path w="7112000" h="1117600">
                <a:moveTo>
                  <a:pt x="101601" y="0"/>
                </a:moveTo>
                <a:lnTo>
                  <a:pt x="7010399" y="0"/>
                </a:lnTo>
                <a:cubicBezTo>
                  <a:pt x="7066512" y="0"/>
                  <a:pt x="7112000" y="45488"/>
                  <a:pt x="7112000" y="101601"/>
                </a:cubicBezTo>
                <a:lnTo>
                  <a:pt x="7112000" y="1015999"/>
                </a:lnTo>
                <a:cubicBezTo>
                  <a:pt x="7112000" y="1072112"/>
                  <a:pt x="7066512" y="1117600"/>
                  <a:pt x="70103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839200" y="3860800"/>
            <a:ext cx="680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Leader 先重启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39200" y="4267200"/>
            <a:ext cx="680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立即触发选举，可能产生</a:t>
            </a:r>
            <a:r>
              <a:rPr lang="en-US" sz="1600" b="1" dirty="0">
                <a:solidFill>
                  <a:srgbClr val="4F6A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临时 Leader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636000" y="4927600"/>
            <a:ext cx="7112000" cy="1117600"/>
          </a:xfrm>
          <a:custGeom>
            <a:avLst/>
            <a:gdLst/>
            <a:ahLst/>
            <a:cxnLst/>
            <a:rect l="l" t="t" r="r" b="b"/>
            <a:pathLst>
              <a:path w="7112000" h="1117600">
                <a:moveTo>
                  <a:pt x="101601" y="0"/>
                </a:moveTo>
                <a:lnTo>
                  <a:pt x="7010399" y="0"/>
                </a:lnTo>
                <a:cubicBezTo>
                  <a:pt x="7066512" y="0"/>
                  <a:pt x="7112000" y="45488"/>
                  <a:pt x="7112000" y="101601"/>
                </a:cubicBezTo>
                <a:lnTo>
                  <a:pt x="7112000" y="1015999"/>
                </a:lnTo>
                <a:cubicBezTo>
                  <a:pt x="7112000" y="1072112"/>
                  <a:pt x="7066512" y="1117600"/>
                  <a:pt x="70103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839200" y="5130800"/>
            <a:ext cx="680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同时重启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839200" y="5537200"/>
            <a:ext cx="680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类似首次启动选举，基于</a:t>
            </a:r>
            <a:r>
              <a:rPr lang="en-US" sz="1600" b="1" dirty="0">
                <a:solidFill>
                  <a:srgbClr val="4F6A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zxid 优先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43900" y="6261100"/>
            <a:ext cx="7391400" cy="1790700"/>
          </a:xfrm>
          <a:custGeom>
            <a:avLst/>
            <a:gdLst/>
            <a:ahLst/>
            <a:cxnLst/>
            <a:rect l="l" t="t" r="r" b="b"/>
            <a:pathLst>
              <a:path w="7391400" h="1790700">
                <a:moveTo>
                  <a:pt x="152406" y="0"/>
                </a:moveTo>
                <a:lnTo>
                  <a:pt x="7238994" y="0"/>
                </a:lnTo>
                <a:cubicBezTo>
                  <a:pt x="7323165" y="0"/>
                  <a:pt x="7391400" y="68235"/>
                  <a:pt x="7391400" y="152406"/>
                </a:cubicBezTo>
                <a:lnTo>
                  <a:pt x="7391400" y="1638294"/>
                </a:lnTo>
                <a:cubicBezTo>
                  <a:pt x="7391400" y="1722465"/>
                  <a:pt x="7323165" y="1790700"/>
                  <a:pt x="7238994" y="1790700"/>
                </a:cubicBezTo>
                <a:lnTo>
                  <a:pt x="152406" y="1790700"/>
                </a:lnTo>
                <a:cubicBezTo>
                  <a:pt x="68235" y="1790700"/>
                  <a:pt x="0" y="1722465"/>
                  <a:pt x="0" y="16382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B89A6A">
              <a:alpha val="30196"/>
            </a:srgbClr>
          </a:solidFill>
          <a:ln w="25400">
            <a:solidFill>
              <a:srgbClr val="B89A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642350" y="6578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66688" y="174625"/>
                </a:moveTo>
                <a:cubicBezTo>
                  <a:pt x="214908" y="174625"/>
                  <a:pt x="254000" y="135533"/>
                  <a:pt x="254000" y="87313"/>
                </a:cubicBezTo>
                <a:cubicBezTo>
                  <a:pt x="254000" y="39092"/>
                  <a:pt x="214908" y="0"/>
                  <a:pt x="166688" y="0"/>
                </a:cubicBezTo>
                <a:cubicBezTo>
                  <a:pt x="118467" y="0"/>
                  <a:pt x="79375" y="39092"/>
                  <a:pt x="79375" y="87313"/>
                </a:cubicBezTo>
                <a:cubicBezTo>
                  <a:pt x="79375" y="96589"/>
                  <a:pt x="80814" y="105569"/>
                  <a:pt x="83493" y="113953"/>
                </a:cubicBezTo>
                <a:lnTo>
                  <a:pt x="3473" y="193973"/>
                </a:lnTo>
                <a:cubicBezTo>
                  <a:pt x="1240" y="196205"/>
                  <a:pt x="0" y="199231"/>
                  <a:pt x="0" y="202406"/>
                </a:cubicBezTo>
                <a:lnTo>
                  <a:pt x="0" y="242094"/>
                </a:lnTo>
                <a:cubicBezTo>
                  <a:pt x="0" y="248692"/>
                  <a:pt x="5308" y="254000"/>
                  <a:pt x="11906" y="254000"/>
                </a:cubicBezTo>
                <a:lnTo>
                  <a:pt x="51594" y="254000"/>
                </a:lnTo>
                <a:cubicBezTo>
                  <a:pt x="58192" y="254000"/>
                  <a:pt x="63500" y="248692"/>
                  <a:pt x="63500" y="242094"/>
                </a:cubicBezTo>
                <a:lnTo>
                  <a:pt x="63500" y="222250"/>
                </a:lnTo>
                <a:lnTo>
                  <a:pt x="83344" y="222250"/>
                </a:lnTo>
                <a:cubicBezTo>
                  <a:pt x="89942" y="222250"/>
                  <a:pt x="95250" y="216942"/>
                  <a:pt x="95250" y="210344"/>
                </a:cubicBezTo>
                <a:lnTo>
                  <a:pt x="95250" y="190500"/>
                </a:lnTo>
                <a:lnTo>
                  <a:pt x="115094" y="190500"/>
                </a:lnTo>
                <a:cubicBezTo>
                  <a:pt x="118269" y="190500"/>
                  <a:pt x="121295" y="189260"/>
                  <a:pt x="123527" y="187027"/>
                </a:cubicBezTo>
                <a:lnTo>
                  <a:pt x="140047" y="170507"/>
                </a:lnTo>
                <a:cubicBezTo>
                  <a:pt x="148431" y="173186"/>
                  <a:pt x="157411" y="174625"/>
                  <a:pt x="166688" y="174625"/>
                </a:cubicBezTo>
                <a:close/>
                <a:moveTo>
                  <a:pt x="186531" y="47625"/>
                </a:moveTo>
                <a:cubicBezTo>
                  <a:pt x="197483" y="47625"/>
                  <a:pt x="206375" y="56517"/>
                  <a:pt x="206375" y="67469"/>
                </a:cubicBezTo>
                <a:cubicBezTo>
                  <a:pt x="206375" y="78421"/>
                  <a:pt x="197483" y="87313"/>
                  <a:pt x="186531" y="87313"/>
                </a:cubicBezTo>
                <a:cubicBezTo>
                  <a:pt x="175579" y="87313"/>
                  <a:pt x="166688" y="78421"/>
                  <a:pt x="166688" y="67469"/>
                </a:cubicBezTo>
                <a:cubicBezTo>
                  <a:pt x="166688" y="56517"/>
                  <a:pt x="175579" y="47625"/>
                  <a:pt x="186531" y="47625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9080500" y="65278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核心原则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53450" y="7035800"/>
            <a:ext cx="69723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无论重启顺序如何，</a:t>
            </a:r>
            <a:r>
              <a:rPr lang="en-US" sz="18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拥有最新 zxid 的节点总是会当选 Leader</a:t>
            </a:r>
            <a:r>
              <a:rPr lang="en-US" sz="1800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，确保数据一致性。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3810" y="653143"/>
            <a:ext cx="48381" cy="483810"/>
          </a:xfrm>
          <a:custGeom>
            <a:avLst/>
            <a:gdLst/>
            <a:ahLst/>
            <a:cxnLst/>
            <a:rect l="l" t="t" r="r" b="b"/>
            <a:pathLst>
              <a:path w="48381" h="483810">
                <a:moveTo>
                  <a:pt x="0" y="0"/>
                </a:moveTo>
                <a:lnTo>
                  <a:pt x="48381" y="0"/>
                </a:lnTo>
                <a:lnTo>
                  <a:pt x="48381" y="483810"/>
                </a:lnTo>
                <a:lnTo>
                  <a:pt x="0" y="48381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5714" y="483810"/>
            <a:ext cx="4293810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kern="0" spc="76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FAILURE SCENARIO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5714" y="822476"/>
            <a:ext cx="4414762" cy="483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29" dirty="0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Leader 节点宕机场景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1596571"/>
            <a:ext cx="48381" cy="4547810"/>
          </a:xfrm>
          <a:custGeom>
            <a:avLst/>
            <a:gdLst/>
            <a:ahLst/>
            <a:cxnLst/>
            <a:rect l="l" t="t" r="r" b="b"/>
            <a:pathLst>
              <a:path w="48381" h="4547810">
                <a:moveTo>
                  <a:pt x="0" y="0"/>
                </a:moveTo>
                <a:lnTo>
                  <a:pt x="48381" y="0"/>
                </a:lnTo>
                <a:lnTo>
                  <a:pt x="48381" y="4547810"/>
                </a:lnTo>
                <a:lnTo>
                  <a:pt x="0" y="454781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10381" y="1644952"/>
            <a:ext cx="290286" cy="290286"/>
          </a:xfrm>
          <a:custGeom>
            <a:avLst/>
            <a:gdLst/>
            <a:ahLst/>
            <a:cxnLst/>
            <a:rect l="l" t="t" r="r" b="b"/>
            <a:pathLst>
              <a:path w="290286" h="290286">
                <a:moveTo>
                  <a:pt x="145143" y="61175"/>
                </a:moveTo>
                <a:lnTo>
                  <a:pt x="136638" y="49383"/>
                </a:lnTo>
                <a:cubicBezTo>
                  <a:pt x="122464" y="29766"/>
                  <a:pt x="99729" y="18143"/>
                  <a:pt x="75463" y="18143"/>
                </a:cubicBezTo>
                <a:cubicBezTo>
                  <a:pt x="33791" y="18143"/>
                  <a:pt x="0" y="51934"/>
                  <a:pt x="0" y="93606"/>
                </a:cubicBezTo>
                <a:lnTo>
                  <a:pt x="0" y="95080"/>
                </a:lnTo>
                <a:cubicBezTo>
                  <a:pt x="0" y="108460"/>
                  <a:pt x="3515" y="122294"/>
                  <a:pt x="9412" y="136071"/>
                </a:cubicBezTo>
                <a:lnTo>
                  <a:pt x="69510" y="136071"/>
                </a:lnTo>
                <a:cubicBezTo>
                  <a:pt x="71324" y="136071"/>
                  <a:pt x="72968" y="134994"/>
                  <a:pt x="73705" y="133293"/>
                </a:cubicBezTo>
                <a:lnTo>
                  <a:pt x="91735" y="90034"/>
                </a:lnTo>
                <a:cubicBezTo>
                  <a:pt x="93833" y="85045"/>
                  <a:pt x="98708" y="81756"/>
                  <a:pt x="104095" y="81643"/>
                </a:cubicBezTo>
                <a:cubicBezTo>
                  <a:pt x="109481" y="81529"/>
                  <a:pt x="114470" y="84704"/>
                  <a:pt x="116681" y="89637"/>
                </a:cubicBezTo>
                <a:lnTo>
                  <a:pt x="145767" y="154214"/>
                </a:lnTo>
                <a:lnTo>
                  <a:pt x="169239" y="107270"/>
                </a:lnTo>
                <a:cubicBezTo>
                  <a:pt x="171563" y="102677"/>
                  <a:pt x="176269" y="99729"/>
                  <a:pt x="181429" y="99729"/>
                </a:cubicBezTo>
                <a:cubicBezTo>
                  <a:pt x="186588" y="99729"/>
                  <a:pt x="191294" y="102621"/>
                  <a:pt x="193618" y="107270"/>
                </a:cubicBezTo>
                <a:lnTo>
                  <a:pt x="206772" y="133520"/>
                </a:lnTo>
                <a:cubicBezTo>
                  <a:pt x="207566" y="135051"/>
                  <a:pt x="209096" y="136015"/>
                  <a:pt x="210854" y="136015"/>
                </a:cubicBezTo>
                <a:lnTo>
                  <a:pt x="280931" y="136015"/>
                </a:lnTo>
                <a:cubicBezTo>
                  <a:pt x="286884" y="122238"/>
                  <a:pt x="290342" y="108404"/>
                  <a:pt x="290342" y="95023"/>
                </a:cubicBezTo>
                <a:lnTo>
                  <a:pt x="290342" y="93549"/>
                </a:lnTo>
                <a:cubicBezTo>
                  <a:pt x="290286" y="51934"/>
                  <a:pt x="256495" y="18143"/>
                  <a:pt x="214823" y="18143"/>
                </a:cubicBezTo>
                <a:cubicBezTo>
                  <a:pt x="190613" y="18143"/>
                  <a:pt x="167821" y="29766"/>
                  <a:pt x="153647" y="49383"/>
                </a:cubicBezTo>
                <a:lnTo>
                  <a:pt x="145143" y="61119"/>
                </a:lnTo>
                <a:close/>
                <a:moveTo>
                  <a:pt x="266246" y="163286"/>
                </a:moveTo>
                <a:lnTo>
                  <a:pt x="210797" y="163286"/>
                </a:lnTo>
                <a:cubicBezTo>
                  <a:pt x="198778" y="163286"/>
                  <a:pt x="187779" y="156482"/>
                  <a:pt x="182392" y="145710"/>
                </a:cubicBezTo>
                <a:lnTo>
                  <a:pt x="181429" y="143782"/>
                </a:lnTo>
                <a:lnTo>
                  <a:pt x="157333" y="192031"/>
                </a:lnTo>
                <a:cubicBezTo>
                  <a:pt x="155008" y="196737"/>
                  <a:pt x="150132" y="199685"/>
                  <a:pt x="144859" y="199571"/>
                </a:cubicBezTo>
                <a:cubicBezTo>
                  <a:pt x="139587" y="199458"/>
                  <a:pt x="134881" y="196340"/>
                  <a:pt x="132726" y="191577"/>
                </a:cubicBezTo>
                <a:lnTo>
                  <a:pt x="104775" y="129495"/>
                </a:lnTo>
                <a:lnTo>
                  <a:pt x="98822" y="143782"/>
                </a:lnTo>
                <a:cubicBezTo>
                  <a:pt x="93889" y="155632"/>
                  <a:pt x="82323" y="163342"/>
                  <a:pt x="69510" y="163342"/>
                </a:cubicBezTo>
                <a:lnTo>
                  <a:pt x="24039" y="163342"/>
                </a:lnTo>
                <a:cubicBezTo>
                  <a:pt x="50800" y="205184"/>
                  <a:pt x="93776" y="243681"/>
                  <a:pt x="120650" y="264205"/>
                </a:cubicBezTo>
                <a:cubicBezTo>
                  <a:pt x="127680" y="269535"/>
                  <a:pt x="136298" y="272200"/>
                  <a:pt x="145086" y="272200"/>
                </a:cubicBezTo>
                <a:cubicBezTo>
                  <a:pt x="153874" y="272200"/>
                  <a:pt x="162549" y="269592"/>
                  <a:pt x="169522" y="264205"/>
                </a:cubicBezTo>
                <a:cubicBezTo>
                  <a:pt x="196510" y="243625"/>
                  <a:pt x="239486" y="205128"/>
                  <a:pt x="266246" y="163286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82095" y="1596571"/>
            <a:ext cx="1886857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86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故障检测机制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4095" y="2177143"/>
            <a:ext cx="7160381" cy="1354667"/>
          </a:xfrm>
          <a:custGeom>
            <a:avLst/>
            <a:gdLst/>
            <a:ahLst/>
            <a:cxnLst/>
            <a:rect l="l" t="t" r="r" b="b"/>
            <a:pathLst>
              <a:path w="7160381" h="1354667">
                <a:moveTo>
                  <a:pt x="96764" y="0"/>
                </a:moveTo>
                <a:lnTo>
                  <a:pt x="7063617" y="0"/>
                </a:lnTo>
                <a:cubicBezTo>
                  <a:pt x="7117058" y="0"/>
                  <a:pt x="7160381" y="43323"/>
                  <a:pt x="7160381" y="96764"/>
                </a:cubicBezTo>
                <a:lnTo>
                  <a:pt x="7160381" y="1257903"/>
                </a:lnTo>
                <a:cubicBezTo>
                  <a:pt x="7160381" y="1311344"/>
                  <a:pt x="7117058" y="1354667"/>
                  <a:pt x="7063617" y="1354667"/>
                </a:cubicBezTo>
                <a:lnTo>
                  <a:pt x="96764" y="1354667"/>
                </a:lnTo>
                <a:cubicBezTo>
                  <a:pt x="43323" y="1354667"/>
                  <a:pt x="0" y="1311344"/>
                  <a:pt x="0" y="1257903"/>
                </a:cubicBezTo>
                <a:lnTo>
                  <a:pt x="0" y="96764"/>
                </a:lnTo>
                <a:cubicBezTo>
                  <a:pt x="0" y="43358"/>
                  <a:pt x="43358" y="0"/>
                  <a:pt x="96764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67619" y="2370667"/>
            <a:ext cx="6870095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正常心跳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7619" y="2757714"/>
            <a:ext cx="6870095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Leader 每 </a:t>
            </a:r>
            <a:r>
              <a:rPr lang="en-US" sz="1524" b="1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tickTime/2</a:t>
            </a:r>
            <a:r>
              <a:rPr lang="en-US" sz="1524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(1s) 发送心跳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7619" y="3048000"/>
            <a:ext cx="6870095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Followers 在 </a:t>
            </a:r>
            <a:r>
              <a:rPr lang="en-US" sz="1524" b="1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syncLimit×tickTime</a:t>
            </a:r>
            <a:r>
              <a:rPr lang="en-US" sz="1524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(10s) 内响应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4095" y="3676952"/>
            <a:ext cx="7160381" cy="1741714"/>
          </a:xfrm>
          <a:custGeom>
            <a:avLst/>
            <a:gdLst/>
            <a:ahLst/>
            <a:cxnLst/>
            <a:rect l="l" t="t" r="r" b="b"/>
            <a:pathLst>
              <a:path w="7160381" h="1741714">
                <a:moveTo>
                  <a:pt x="96770" y="0"/>
                </a:moveTo>
                <a:lnTo>
                  <a:pt x="7063611" y="0"/>
                </a:lnTo>
                <a:cubicBezTo>
                  <a:pt x="7117056" y="0"/>
                  <a:pt x="7160381" y="43325"/>
                  <a:pt x="7160381" y="96770"/>
                </a:cubicBezTo>
                <a:lnTo>
                  <a:pt x="7160381" y="1644945"/>
                </a:lnTo>
                <a:cubicBezTo>
                  <a:pt x="7160381" y="1698389"/>
                  <a:pt x="7117056" y="1741714"/>
                  <a:pt x="7063611" y="1741714"/>
                </a:cubicBezTo>
                <a:lnTo>
                  <a:pt x="96770" y="1741714"/>
                </a:lnTo>
                <a:cubicBezTo>
                  <a:pt x="43325" y="1741714"/>
                  <a:pt x="0" y="1698389"/>
                  <a:pt x="0" y="1644945"/>
                </a:cubicBezTo>
                <a:lnTo>
                  <a:pt x="0" y="96770"/>
                </a:lnTo>
                <a:cubicBezTo>
                  <a:pt x="0" y="43361"/>
                  <a:pt x="43361" y="0"/>
                  <a:pt x="96770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67619" y="3870476"/>
            <a:ext cx="6870095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故障检测过程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7619" y="4257524"/>
            <a:ext cx="6870095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t=0s:</a:t>
            </a:r>
            <a:r>
              <a:rPr lang="en-US" sz="1524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Leader C 宕机, 停止心跳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7619" y="4596190"/>
            <a:ext cx="6870095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t=3-4s:</a:t>
            </a:r>
            <a:r>
              <a:rPr lang="en-US" sz="1524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连续3-4个周期未收到响应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7619" y="4934857"/>
            <a:ext cx="6870095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t=5s:</a:t>
            </a:r>
            <a:r>
              <a:rPr lang="en-US" sz="1524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达到syncLimit超时阈值, 判定故障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45714" y="1596571"/>
            <a:ext cx="48381" cy="4547810"/>
          </a:xfrm>
          <a:custGeom>
            <a:avLst/>
            <a:gdLst/>
            <a:ahLst/>
            <a:cxnLst/>
            <a:rect l="l" t="t" r="r" b="b"/>
            <a:pathLst>
              <a:path w="48381" h="4547810">
                <a:moveTo>
                  <a:pt x="0" y="0"/>
                </a:moveTo>
                <a:lnTo>
                  <a:pt x="48381" y="0"/>
                </a:lnTo>
                <a:lnTo>
                  <a:pt x="48381" y="4547810"/>
                </a:lnTo>
                <a:lnTo>
                  <a:pt x="0" y="4547810"/>
                </a:lnTo>
                <a:lnTo>
                  <a:pt x="0" y="0"/>
                </a:ln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648095" y="1644952"/>
            <a:ext cx="290286" cy="290286"/>
          </a:xfrm>
          <a:custGeom>
            <a:avLst/>
            <a:gdLst/>
            <a:ahLst/>
            <a:cxnLst/>
            <a:rect l="l" t="t" r="r" b="b"/>
            <a:pathLst>
              <a:path w="290286" h="290286">
                <a:moveTo>
                  <a:pt x="284956" y="85385"/>
                </a:moveTo>
                <a:lnTo>
                  <a:pt x="230528" y="139813"/>
                </a:lnTo>
                <a:cubicBezTo>
                  <a:pt x="225312" y="145029"/>
                  <a:pt x="217544" y="146560"/>
                  <a:pt x="210741" y="143725"/>
                </a:cubicBezTo>
                <a:cubicBezTo>
                  <a:pt x="203937" y="140891"/>
                  <a:pt x="199571" y="134314"/>
                  <a:pt x="199571" y="127000"/>
                </a:cubicBezTo>
                <a:lnTo>
                  <a:pt x="199571" y="90714"/>
                </a:lnTo>
                <a:lnTo>
                  <a:pt x="18143" y="90714"/>
                </a:lnTo>
                <a:cubicBezTo>
                  <a:pt x="8108" y="90714"/>
                  <a:pt x="0" y="82607"/>
                  <a:pt x="0" y="72571"/>
                </a:cubicBezTo>
                <a:cubicBezTo>
                  <a:pt x="0" y="62536"/>
                  <a:pt x="8108" y="54429"/>
                  <a:pt x="18143" y="54429"/>
                </a:cubicBezTo>
                <a:lnTo>
                  <a:pt x="199571" y="54429"/>
                </a:lnTo>
                <a:lnTo>
                  <a:pt x="199571" y="18143"/>
                </a:lnTo>
                <a:cubicBezTo>
                  <a:pt x="199571" y="10829"/>
                  <a:pt x="203994" y="4196"/>
                  <a:pt x="210797" y="1361"/>
                </a:cubicBezTo>
                <a:cubicBezTo>
                  <a:pt x="217601" y="-1474"/>
                  <a:pt x="225368" y="113"/>
                  <a:pt x="230584" y="5273"/>
                </a:cubicBezTo>
                <a:lnTo>
                  <a:pt x="285013" y="59701"/>
                </a:lnTo>
                <a:cubicBezTo>
                  <a:pt x="292100" y="66788"/>
                  <a:pt x="292100" y="78298"/>
                  <a:pt x="285013" y="85385"/>
                </a:cubicBezTo>
                <a:close/>
                <a:moveTo>
                  <a:pt x="59701" y="284956"/>
                </a:moveTo>
                <a:lnTo>
                  <a:pt x="5273" y="230528"/>
                </a:lnTo>
                <a:cubicBezTo>
                  <a:pt x="-1814" y="223441"/>
                  <a:pt x="-1814" y="211931"/>
                  <a:pt x="5273" y="204844"/>
                </a:cubicBezTo>
                <a:lnTo>
                  <a:pt x="59701" y="150416"/>
                </a:lnTo>
                <a:cubicBezTo>
                  <a:pt x="64917" y="145200"/>
                  <a:pt x="72685" y="143669"/>
                  <a:pt x="79488" y="146504"/>
                </a:cubicBezTo>
                <a:cubicBezTo>
                  <a:pt x="86292" y="149338"/>
                  <a:pt x="90714" y="155972"/>
                  <a:pt x="90714" y="163286"/>
                </a:cubicBezTo>
                <a:lnTo>
                  <a:pt x="90714" y="199571"/>
                </a:lnTo>
                <a:lnTo>
                  <a:pt x="272143" y="199571"/>
                </a:lnTo>
                <a:cubicBezTo>
                  <a:pt x="282178" y="199571"/>
                  <a:pt x="290286" y="207679"/>
                  <a:pt x="290286" y="217714"/>
                </a:cubicBezTo>
                <a:cubicBezTo>
                  <a:pt x="290286" y="227750"/>
                  <a:pt x="282178" y="235857"/>
                  <a:pt x="272143" y="235857"/>
                </a:cubicBezTo>
                <a:lnTo>
                  <a:pt x="90714" y="235857"/>
                </a:lnTo>
                <a:lnTo>
                  <a:pt x="90714" y="272143"/>
                </a:lnTo>
                <a:cubicBezTo>
                  <a:pt x="90714" y="279457"/>
                  <a:pt x="86292" y="286090"/>
                  <a:pt x="79488" y="288925"/>
                </a:cubicBezTo>
                <a:cubicBezTo>
                  <a:pt x="72685" y="291760"/>
                  <a:pt x="64917" y="290172"/>
                  <a:pt x="59701" y="285013"/>
                </a:cubicBez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119810" y="1596571"/>
            <a:ext cx="2177143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86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新一轮选举过程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11810" y="2177143"/>
            <a:ext cx="7160381" cy="1741714"/>
          </a:xfrm>
          <a:custGeom>
            <a:avLst/>
            <a:gdLst/>
            <a:ahLst/>
            <a:cxnLst/>
            <a:rect l="l" t="t" r="r" b="b"/>
            <a:pathLst>
              <a:path w="7160381" h="1741714">
                <a:moveTo>
                  <a:pt x="96770" y="0"/>
                </a:moveTo>
                <a:lnTo>
                  <a:pt x="7063611" y="0"/>
                </a:lnTo>
                <a:cubicBezTo>
                  <a:pt x="7117056" y="0"/>
                  <a:pt x="7160381" y="43325"/>
                  <a:pt x="7160381" y="96770"/>
                </a:cubicBezTo>
                <a:lnTo>
                  <a:pt x="7160381" y="1644945"/>
                </a:lnTo>
                <a:cubicBezTo>
                  <a:pt x="7160381" y="1698389"/>
                  <a:pt x="7117056" y="1741714"/>
                  <a:pt x="7063611" y="1741714"/>
                </a:cubicBezTo>
                <a:lnTo>
                  <a:pt x="96770" y="1741714"/>
                </a:lnTo>
                <a:cubicBezTo>
                  <a:pt x="43325" y="1741714"/>
                  <a:pt x="0" y="1698389"/>
                  <a:pt x="0" y="1644945"/>
                </a:cubicBezTo>
                <a:lnTo>
                  <a:pt x="0" y="96770"/>
                </a:lnTo>
                <a:cubicBezTo>
                  <a:pt x="0" y="43361"/>
                  <a:pt x="43361" y="0"/>
                  <a:pt x="96770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805333" y="2370667"/>
            <a:ext cx="6870095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选举参数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05333" y="2757714"/>
            <a:ext cx="6870095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electionEpoch = 1 (新一轮选举)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05333" y="3096381"/>
            <a:ext cx="6870095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peerEpoch = 6 (继承原Leader的epoch)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805333" y="3435048"/>
            <a:ext cx="6870095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zxid = 0x600000020 (两节点数据一致)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611810" y="4064000"/>
            <a:ext cx="7160381" cy="2080381"/>
          </a:xfrm>
          <a:custGeom>
            <a:avLst/>
            <a:gdLst/>
            <a:ahLst/>
            <a:cxnLst/>
            <a:rect l="l" t="t" r="r" b="b"/>
            <a:pathLst>
              <a:path w="7160381" h="2080381">
                <a:moveTo>
                  <a:pt x="96759" y="0"/>
                </a:moveTo>
                <a:lnTo>
                  <a:pt x="7063622" y="0"/>
                </a:lnTo>
                <a:cubicBezTo>
                  <a:pt x="7117061" y="0"/>
                  <a:pt x="7160381" y="43320"/>
                  <a:pt x="7160381" y="96759"/>
                </a:cubicBezTo>
                <a:lnTo>
                  <a:pt x="7160381" y="1983622"/>
                </a:lnTo>
                <a:cubicBezTo>
                  <a:pt x="7160381" y="2037061"/>
                  <a:pt x="7117061" y="2080381"/>
                  <a:pt x="7063622" y="2080381"/>
                </a:cubicBezTo>
                <a:lnTo>
                  <a:pt x="96759" y="2080381"/>
                </a:lnTo>
                <a:cubicBezTo>
                  <a:pt x="43320" y="2080381"/>
                  <a:pt x="0" y="2037061"/>
                  <a:pt x="0" y="1983622"/>
                </a:cubicBezTo>
                <a:lnTo>
                  <a:pt x="0" y="96759"/>
                </a:lnTo>
                <a:cubicBezTo>
                  <a:pt x="0" y="43356"/>
                  <a:pt x="43356" y="0"/>
                  <a:pt x="96759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805333" y="4257524"/>
            <a:ext cx="6870095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投票过程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05333" y="4644571"/>
            <a:ext cx="6870095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初始投票: A和B都投给自己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05333" y="4983238"/>
            <a:ext cx="6870095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投票交换: B的myid(2) &gt; A的myid(1)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05333" y="5321905"/>
            <a:ext cx="6870095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A改投B, B获得2票 (2/2 = 过半数)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805333" y="5660571"/>
            <a:ext cx="6870095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24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节点B当选新Leader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9857" y="6440714"/>
            <a:ext cx="4886476" cy="2213429"/>
          </a:xfrm>
          <a:custGeom>
            <a:avLst/>
            <a:gdLst/>
            <a:ahLst/>
            <a:cxnLst/>
            <a:rect l="l" t="t" r="r" b="b"/>
            <a:pathLst>
              <a:path w="4886476" h="2213429">
                <a:moveTo>
                  <a:pt x="145135" y="0"/>
                </a:moveTo>
                <a:lnTo>
                  <a:pt x="4741342" y="0"/>
                </a:lnTo>
                <a:cubicBezTo>
                  <a:pt x="4821497" y="0"/>
                  <a:pt x="4886476" y="64979"/>
                  <a:pt x="4886476" y="145135"/>
                </a:cubicBezTo>
                <a:lnTo>
                  <a:pt x="4886476" y="2068294"/>
                </a:lnTo>
                <a:cubicBezTo>
                  <a:pt x="4886476" y="2148450"/>
                  <a:pt x="4821497" y="2213429"/>
                  <a:pt x="4741342" y="2213429"/>
                </a:cubicBezTo>
                <a:lnTo>
                  <a:pt x="145135" y="2213429"/>
                </a:lnTo>
                <a:cubicBezTo>
                  <a:pt x="65033" y="2213429"/>
                  <a:pt x="0" y="2148396"/>
                  <a:pt x="0" y="2068294"/>
                </a:cubicBezTo>
                <a:lnTo>
                  <a:pt x="0" y="145135"/>
                </a:lnTo>
                <a:cubicBezTo>
                  <a:pt x="0" y="65033"/>
                  <a:pt x="65033" y="0"/>
                  <a:pt x="145135" y="0"/>
                </a:cubicBezTo>
                <a:close/>
              </a:path>
            </a:pathLst>
          </a:custGeom>
          <a:solidFill>
            <a:srgbClr val="3E5C5A">
              <a:alpha val="20000"/>
            </a:srgbClr>
          </a:solidFill>
          <a:ln w="12700">
            <a:solidFill>
              <a:srgbClr val="3E5C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2756675" y="6688667"/>
            <a:ext cx="362857" cy="362857"/>
          </a:xfrm>
          <a:custGeom>
            <a:avLst/>
            <a:gdLst/>
            <a:ahLst/>
            <a:cxnLst/>
            <a:rect l="l" t="t" r="r" b="b"/>
            <a:pathLst>
              <a:path w="362857" h="362857">
                <a:moveTo>
                  <a:pt x="294821" y="147411"/>
                </a:moveTo>
                <a:cubicBezTo>
                  <a:pt x="294821" y="179940"/>
                  <a:pt x="284262" y="209989"/>
                  <a:pt x="266473" y="234369"/>
                </a:cubicBezTo>
                <a:lnTo>
                  <a:pt x="356195" y="324162"/>
                </a:lnTo>
                <a:cubicBezTo>
                  <a:pt x="365054" y="333021"/>
                  <a:pt x="365054" y="347407"/>
                  <a:pt x="356195" y="356266"/>
                </a:cubicBezTo>
                <a:cubicBezTo>
                  <a:pt x="347336" y="365125"/>
                  <a:pt x="332950" y="365125"/>
                  <a:pt x="324091" y="356266"/>
                </a:cubicBezTo>
                <a:lnTo>
                  <a:pt x="234369" y="266473"/>
                </a:lnTo>
                <a:cubicBezTo>
                  <a:pt x="209989" y="284262"/>
                  <a:pt x="179940" y="294821"/>
                  <a:pt x="147411" y="294821"/>
                </a:cubicBezTo>
                <a:cubicBezTo>
                  <a:pt x="65980" y="294821"/>
                  <a:pt x="0" y="228841"/>
                  <a:pt x="0" y="147411"/>
                </a:cubicBezTo>
                <a:cubicBezTo>
                  <a:pt x="0" y="65980"/>
                  <a:pt x="65980" y="0"/>
                  <a:pt x="147411" y="0"/>
                </a:cubicBezTo>
                <a:cubicBezTo>
                  <a:pt x="228841" y="0"/>
                  <a:pt x="294821" y="65980"/>
                  <a:pt x="294821" y="147411"/>
                </a:cubicBezTo>
                <a:close/>
                <a:moveTo>
                  <a:pt x="147411" y="249464"/>
                </a:moveTo>
                <a:cubicBezTo>
                  <a:pt x="203736" y="249464"/>
                  <a:pt x="249464" y="203736"/>
                  <a:pt x="249464" y="147411"/>
                </a:cubicBezTo>
                <a:cubicBezTo>
                  <a:pt x="249464" y="91086"/>
                  <a:pt x="203736" y="45357"/>
                  <a:pt x="147411" y="45357"/>
                </a:cubicBezTo>
                <a:cubicBezTo>
                  <a:pt x="91086" y="45357"/>
                  <a:pt x="45357" y="91086"/>
                  <a:pt x="45357" y="147411"/>
                </a:cubicBezTo>
                <a:cubicBezTo>
                  <a:pt x="45357" y="203736"/>
                  <a:pt x="91086" y="249464"/>
                  <a:pt x="147411" y="249464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77333" y="7196667"/>
            <a:ext cx="4511524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5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故障检测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7095" y="7632095"/>
            <a:ext cx="4572000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57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1-5s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9429" y="8115905"/>
            <a:ext cx="4487333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24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心跳超时检测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82683" y="6440714"/>
            <a:ext cx="4886476" cy="2213429"/>
          </a:xfrm>
          <a:custGeom>
            <a:avLst/>
            <a:gdLst/>
            <a:ahLst/>
            <a:cxnLst/>
            <a:rect l="l" t="t" r="r" b="b"/>
            <a:pathLst>
              <a:path w="4886476" h="2213429">
                <a:moveTo>
                  <a:pt x="145135" y="0"/>
                </a:moveTo>
                <a:lnTo>
                  <a:pt x="4741342" y="0"/>
                </a:lnTo>
                <a:cubicBezTo>
                  <a:pt x="4821497" y="0"/>
                  <a:pt x="4886476" y="64979"/>
                  <a:pt x="4886476" y="145135"/>
                </a:cubicBezTo>
                <a:lnTo>
                  <a:pt x="4886476" y="2068294"/>
                </a:lnTo>
                <a:cubicBezTo>
                  <a:pt x="4886476" y="2148450"/>
                  <a:pt x="4821497" y="2213429"/>
                  <a:pt x="4741342" y="2213429"/>
                </a:cubicBezTo>
                <a:lnTo>
                  <a:pt x="145135" y="2213429"/>
                </a:lnTo>
                <a:cubicBezTo>
                  <a:pt x="65033" y="2213429"/>
                  <a:pt x="0" y="2148396"/>
                  <a:pt x="0" y="2068294"/>
                </a:cubicBezTo>
                <a:lnTo>
                  <a:pt x="0" y="145135"/>
                </a:lnTo>
                <a:cubicBezTo>
                  <a:pt x="0" y="65033"/>
                  <a:pt x="65033" y="0"/>
                  <a:pt x="145135" y="0"/>
                </a:cubicBezTo>
                <a:close/>
              </a:path>
            </a:pathLst>
          </a:custGeom>
          <a:solidFill>
            <a:srgbClr val="3E5C5A">
              <a:alpha val="20000"/>
            </a:srgbClr>
          </a:solidFill>
          <a:ln w="12700">
            <a:solidFill>
              <a:srgbClr val="3E5C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7926822" y="6688667"/>
            <a:ext cx="408214" cy="362857"/>
          </a:xfrm>
          <a:custGeom>
            <a:avLst/>
            <a:gdLst/>
            <a:ahLst/>
            <a:cxnLst/>
            <a:rect l="l" t="t" r="r" b="b"/>
            <a:pathLst>
              <a:path w="408214" h="362857">
                <a:moveTo>
                  <a:pt x="68036" y="68036"/>
                </a:moveTo>
                <a:cubicBezTo>
                  <a:pt x="68036" y="43018"/>
                  <a:pt x="88376" y="22679"/>
                  <a:pt x="113393" y="22679"/>
                </a:cubicBezTo>
                <a:lnTo>
                  <a:pt x="294821" y="22679"/>
                </a:lnTo>
                <a:cubicBezTo>
                  <a:pt x="319839" y="22679"/>
                  <a:pt x="340179" y="43018"/>
                  <a:pt x="340179" y="68036"/>
                </a:cubicBezTo>
                <a:lnTo>
                  <a:pt x="340179" y="226786"/>
                </a:lnTo>
                <a:cubicBezTo>
                  <a:pt x="340179" y="251803"/>
                  <a:pt x="319839" y="272143"/>
                  <a:pt x="294821" y="272143"/>
                </a:cubicBezTo>
                <a:lnTo>
                  <a:pt x="113393" y="272143"/>
                </a:lnTo>
                <a:cubicBezTo>
                  <a:pt x="88376" y="272143"/>
                  <a:pt x="68036" y="251803"/>
                  <a:pt x="68036" y="226786"/>
                </a:cubicBezTo>
                <a:lnTo>
                  <a:pt x="68036" y="68036"/>
                </a:lnTo>
                <a:close/>
                <a:moveTo>
                  <a:pt x="258465" y="81926"/>
                </a:moveTo>
                <a:cubicBezTo>
                  <a:pt x="250527" y="76965"/>
                  <a:pt x="240039" y="79375"/>
                  <a:pt x="235007" y="87313"/>
                </a:cubicBezTo>
                <a:lnTo>
                  <a:pt x="191492" y="156978"/>
                </a:lnTo>
                <a:lnTo>
                  <a:pt x="172357" y="131465"/>
                </a:lnTo>
                <a:cubicBezTo>
                  <a:pt x="166688" y="123953"/>
                  <a:pt x="156057" y="122393"/>
                  <a:pt x="148545" y="128063"/>
                </a:cubicBezTo>
                <a:cubicBezTo>
                  <a:pt x="141032" y="133733"/>
                  <a:pt x="139473" y="144363"/>
                  <a:pt x="145143" y="151876"/>
                </a:cubicBezTo>
                <a:lnTo>
                  <a:pt x="179161" y="197233"/>
                </a:lnTo>
                <a:cubicBezTo>
                  <a:pt x="182492" y="201698"/>
                  <a:pt x="187878" y="204249"/>
                  <a:pt x="193477" y="204036"/>
                </a:cubicBezTo>
                <a:cubicBezTo>
                  <a:pt x="199075" y="203824"/>
                  <a:pt x="204178" y="200847"/>
                  <a:pt x="207155" y="196028"/>
                </a:cubicBezTo>
                <a:lnTo>
                  <a:pt x="263851" y="105314"/>
                </a:lnTo>
                <a:cubicBezTo>
                  <a:pt x="268812" y="97376"/>
                  <a:pt x="266402" y="86887"/>
                  <a:pt x="258465" y="81855"/>
                </a:cubicBezTo>
                <a:close/>
                <a:moveTo>
                  <a:pt x="34018" y="221116"/>
                </a:moveTo>
                <a:lnTo>
                  <a:pt x="34018" y="294821"/>
                </a:lnTo>
                <a:cubicBezTo>
                  <a:pt x="34018" y="301058"/>
                  <a:pt x="39121" y="306161"/>
                  <a:pt x="45357" y="306161"/>
                </a:cubicBezTo>
                <a:lnTo>
                  <a:pt x="362857" y="306161"/>
                </a:lnTo>
                <a:cubicBezTo>
                  <a:pt x="369094" y="306161"/>
                  <a:pt x="374196" y="301058"/>
                  <a:pt x="374196" y="294821"/>
                </a:cubicBezTo>
                <a:lnTo>
                  <a:pt x="374196" y="221116"/>
                </a:lnTo>
                <a:cubicBezTo>
                  <a:pt x="374196" y="211690"/>
                  <a:pt x="381780" y="204107"/>
                  <a:pt x="391205" y="204107"/>
                </a:cubicBezTo>
                <a:cubicBezTo>
                  <a:pt x="400631" y="204107"/>
                  <a:pt x="408214" y="211690"/>
                  <a:pt x="408214" y="221116"/>
                </a:cubicBezTo>
                <a:lnTo>
                  <a:pt x="408214" y="294821"/>
                </a:lnTo>
                <a:cubicBezTo>
                  <a:pt x="408214" y="319839"/>
                  <a:pt x="387874" y="340179"/>
                  <a:pt x="362857" y="340179"/>
                </a:cubicBezTo>
                <a:lnTo>
                  <a:pt x="45357" y="340179"/>
                </a:lnTo>
                <a:cubicBezTo>
                  <a:pt x="20340" y="340179"/>
                  <a:pt x="0" y="319839"/>
                  <a:pt x="0" y="294821"/>
                </a:cubicBezTo>
                <a:lnTo>
                  <a:pt x="0" y="221116"/>
                </a:lnTo>
                <a:cubicBezTo>
                  <a:pt x="0" y="211690"/>
                  <a:pt x="7583" y="204107"/>
                  <a:pt x="17009" y="204107"/>
                </a:cubicBezTo>
                <a:cubicBezTo>
                  <a:pt x="26435" y="204107"/>
                  <a:pt x="34018" y="211690"/>
                  <a:pt x="34018" y="221116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870159" y="7196667"/>
            <a:ext cx="4511524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5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重新选举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839921" y="7632095"/>
            <a:ext cx="4572000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57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3-8s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882254" y="8115905"/>
            <a:ext cx="4487333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24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投票交换确认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875603" y="6440714"/>
            <a:ext cx="4886476" cy="2213429"/>
          </a:xfrm>
          <a:custGeom>
            <a:avLst/>
            <a:gdLst/>
            <a:ahLst/>
            <a:cxnLst/>
            <a:rect l="l" t="t" r="r" b="b"/>
            <a:pathLst>
              <a:path w="4886476" h="2213429">
                <a:moveTo>
                  <a:pt x="145135" y="0"/>
                </a:moveTo>
                <a:lnTo>
                  <a:pt x="4741342" y="0"/>
                </a:lnTo>
                <a:cubicBezTo>
                  <a:pt x="4821497" y="0"/>
                  <a:pt x="4886476" y="64979"/>
                  <a:pt x="4886476" y="145135"/>
                </a:cubicBezTo>
                <a:lnTo>
                  <a:pt x="4886476" y="2068294"/>
                </a:lnTo>
                <a:cubicBezTo>
                  <a:pt x="4886476" y="2148450"/>
                  <a:pt x="4821497" y="2213429"/>
                  <a:pt x="4741342" y="2213429"/>
                </a:cubicBezTo>
                <a:lnTo>
                  <a:pt x="145135" y="2213429"/>
                </a:lnTo>
                <a:cubicBezTo>
                  <a:pt x="65033" y="2213429"/>
                  <a:pt x="0" y="2148396"/>
                  <a:pt x="0" y="2068294"/>
                </a:cubicBezTo>
                <a:lnTo>
                  <a:pt x="0" y="145135"/>
                </a:lnTo>
                <a:cubicBezTo>
                  <a:pt x="0" y="65033"/>
                  <a:pt x="65033" y="0"/>
                  <a:pt x="145135" y="0"/>
                </a:cubicBezTo>
                <a:close/>
              </a:path>
            </a:pathLst>
          </a:custGeom>
          <a:solidFill>
            <a:srgbClr val="3E5C5A">
              <a:alpha val="20000"/>
            </a:srgbClr>
          </a:solidFill>
          <a:ln w="12700">
            <a:solidFill>
              <a:srgbClr val="3E5C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3142421" y="6688667"/>
            <a:ext cx="362857" cy="362857"/>
          </a:xfrm>
          <a:custGeom>
            <a:avLst/>
            <a:gdLst/>
            <a:ahLst/>
            <a:cxnLst/>
            <a:rect l="l" t="t" r="r" b="b"/>
            <a:pathLst>
              <a:path w="362857" h="362857">
                <a:moveTo>
                  <a:pt x="181429" y="362857"/>
                </a:moveTo>
                <a:cubicBezTo>
                  <a:pt x="281562" y="362857"/>
                  <a:pt x="362857" y="281562"/>
                  <a:pt x="362857" y="181429"/>
                </a:cubicBezTo>
                <a:cubicBezTo>
                  <a:pt x="362857" y="81295"/>
                  <a:pt x="281562" y="0"/>
                  <a:pt x="181429" y="0"/>
                </a:cubicBezTo>
                <a:cubicBezTo>
                  <a:pt x="81295" y="0"/>
                  <a:pt x="0" y="81295"/>
                  <a:pt x="0" y="181429"/>
                </a:cubicBezTo>
                <a:cubicBezTo>
                  <a:pt x="0" y="281562"/>
                  <a:pt x="81295" y="362857"/>
                  <a:pt x="181429" y="362857"/>
                </a:cubicBezTo>
                <a:close/>
                <a:moveTo>
                  <a:pt x="241243" y="150742"/>
                </a:moveTo>
                <a:lnTo>
                  <a:pt x="184547" y="241456"/>
                </a:lnTo>
                <a:cubicBezTo>
                  <a:pt x="181570" y="246204"/>
                  <a:pt x="176468" y="249181"/>
                  <a:pt x="170869" y="249464"/>
                </a:cubicBezTo>
                <a:cubicBezTo>
                  <a:pt x="165270" y="249748"/>
                  <a:pt x="159884" y="247196"/>
                  <a:pt x="156553" y="242661"/>
                </a:cubicBezTo>
                <a:lnTo>
                  <a:pt x="122535" y="197304"/>
                </a:lnTo>
                <a:cubicBezTo>
                  <a:pt x="116866" y="189791"/>
                  <a:pt x="118425" y="179161"/>
                  <a:pt x="125937" y="173491"/>
                </a:cubicBezTo>
                <a:cubicBezTo>
                  <a:pt x="133449" y="167821"/>
                  <a:pt x="144080" y="169381"/>
                  <a:pt x="149749" y="176893"/>
                </a:cubicBezTo>
                <a:lnTo>
                  <a:pt x="168884" y="202406"/>
                </a:lnTo>
                <a:lnTo>
                  <a:pt x="212399" y="132741"/>
                </a:lnTo>
                <a:cubicBezTo>
                  <a:pt x="217360" y="124803"/>
                  <a:pt x="227849" y="122323"/>
                  <a:pt x="235857" y="127354"/>
                </a:cubicBezTo>
                <a:cubicBezTo>
                  <a:pt x="243866" y="132386"/>
                  <a:pt x="246275" y="142804"/>
                  <a:pt x="241243" y="150813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1063080" y="7196667"/>
            <a:ext cx="4511524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5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服务恢复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032842" y="7632095"/>
            <a:ext cx="4572000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57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8s+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075175" y="8115905"/>
            <a:ext cx="4487333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24" dirty="0">
                <a:solidFill>
                  <a:srgbClr val="D1D5DB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数据同步完成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9534" y="620370"/>
            <a:ext cx="45953" cy="459534"/>
          </a:xfrm>
          <a:custGeom>
            <a:avLst/>
            <a:gdLst/>
            <a:ahLst/>
            <a:cxnLst/>
            <a:rect l="l" t="t" r="r" b="b"/>
            <a:pathLst>
              <a:path w="45953" h="459534">
                <a:moveTo>
                  <a:pt x="0" y="0"/>
                </a:moveTo>
                <a:lnTo>
                  <a:pt x="45953" y="0"/>
                </a:lnTo>
                <a:lnTo>
                  <a:pt x="45953" y="459534"/>
                </a:lnTo>
                <a:lnTo>
                  <a:pt x="0" y="459534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89300" y="459534"/>
            <a:ext cx="2573388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kern="0" spc="72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NETWORK SCENARIO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9300" y="781207"/>
            <a:ext cx="2688271" cy="459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57" dirty="0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网络分区场景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2510" y="1608367"/>
            <a:ext cx="45953" cy="3549897"/>
          </a:xfrm>
          <a:custGeom>
            <a:avLst/>
            <a:gdLst/>
            <a:ahLst/>
            <a:cxnLst/>
            <a:rect l="l" t="t" r="r" b="b"/>
            <a:pathLst>
              <a:path w="45953" h="3549897">
                <a:moveTo>
                  <a:pt x="0" y="0"/>
                </a:moveTo>
                <a:lnTo>
                  <a:pt x="45953" y="0"/>
                </a:lnTo>
                <a:lnTo>
                  <a:pt x="45953" y="3549897"/>
                </a:lnTo>
                <a:lnTo>
                  <a:pt x="0" y="3549897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9719" y="1654321"/>
            <a:ext cx="275720" cy="275720"/>
          </a:xfrm>
          <a:custGeom>
            <a:avLst/>
            <a:gdLst/>
            <a:ahLst/>
            <a:cxnLst/>
            <a:rect l="l" t="t" r="r" b="b"/>
            <a:pathLst>
              <a:path w="275720" h="275720">
                <a:moveTo>
                  <a:pt x="137860" y="0"/>
                </a:moveTo>
                <a:cubicBezTo>
                  <a:pt x="145776" y="0"/>
                  <a:pt x="153046" y="4362"/>
                  <a:pt x="156816" y="11309"/>
                </a:cubicBezTo>
                <a:lnTo>
                  <a:pt x="273135" y="226715"/>
                </a:lnTo>
                <a:cubicBezTo>
                  <a:pt x="276743" y="233393"/>
                  <a:pt x="276582" y="241471"/>
                  <a:pt x="272704" y="247987"/>
                </a:cubicBezTo>
                <a:cubicBezTo>
                  <a:pt x="268827" y="254503"/>
                  <a:pt x="261773" y="258488"/>
                  <a:pt x="254180" y="258488"/>
                </a:cubicBezTo>
                <a:lnTo>
                  <a:pt x="21541" y="258488"/>
                </a:lnTo>
                <a:cubicBezTo>
                  <a:pt x="13948" y="258488"/>
                  <a:pt x="6947" y="254503"/>
                  <a:pt x="3016" y="247987"/>
                </a:cubicBezTo>
                <a:cubicBezTo>
                  <a:pt x="-915" y="241471"/>
                  <a:pt x="-1023" y="233393"/>
                  <a:pt x="2585" y="226715"/>
                </a:cubicBezTo>
                <a:lnTo>
                  <a:pt x="118904" y="11309"/>
                </a:lnTo>
                <a:cubicBezTo>
                  <a:pt x="122674" y="4362"/>
                  <a:pt x="129944" y="0"/>
                  <a:pt x="137860" y="0"/>
                </a:cubicBezTo>
                <a:close/>
                <a:moveTo>
                  <a:pt x="137860" y="90471"/>
                </a:moveTo>
                <a:cubicBezTo>
                  <a:pt x="130698" y="90471"/>
                  <a:pt x="124936" y="96233"/>
                  <a:pt x="124936" y="103395"/>
                </a:cubicBezTo>
                <a:lnTo>
                  <a:pt x="124936" y="163709"/>
                </a:lnTo>
                <a:cubicBezTo>
                  <a:pt x="124936" y="170871"/>
                  <a:pt x="130698" y="176633"/>
                  <a:pt x="137860" y="176633"/>
                </a:cubicBezTo>
                <a:cubicBezTo>
                  <a:pt x="145022" y="176633"/>
                  <a:pt x="150784" y="170871"/>
                  <a:pt x="150784" y="163709"/>
                </a:cubicBezTo>
                <a:lnTo>
                  <a:pt x="150784" y="103395"/>
                </a:lnTo>
                <a:cubicBezTo>
                  <a:pt x="150784" y="96233"/>
                  <a:pt x="145022" y="90471"/>
                  <a:pt x="137860" y="90471"/>
                </a:cubicBezTo>
                <a:close/>
                <a:moveTo>
                  <a:pt x="152238" y="206790"/>
                </a:moveTo>
                <a:cubicBezTo>
                  <a:pt x="152566" y="201453"/>
                  <a:pt x="149904" y="196375"/>
                  <a:pt x="145329" y="193608"/>
                </a:cubicBezTo>
                <a:cubicBezTo>
                  <a:pt x="140754" y="190840"/>
                  <a:pt x="135020" y="190840"/>
                  <a:pt x="130445" y="193608"/>
                </a:cubicBezTo>
                <a:cubicBezTo>
                  <a:pt x="125870" y="196375"/>
                  <a:pt x="123208" y="201453"/>
                  <a:pt x="123536" y="206790"/>
                </a:cubicBezTo>
                <a:cubicBezTo>
                  <a:pt x="123208" y="212127"/>
                  <a:pt x="125870" y="217205"/>
                  <a:pt x="130445" y="219972"/>
                </a:cubicBezTo>
                <a:cubicBezTo>
                  <a:pt x="135020" y="222740"/>
                  <a:pt x="140754" y="222740"/>
                  <a:pt x="145329" y="219972"/>
                </a:cubicBezTo>
                <a:cubicBezTo>
                  <a:pt x="149904" y="217205"/>
                  <a:pt x="152566" y="212127"/>
                  <a:pt x="152238" y="206790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17764" y="1608367"/>
            <a:ext cx="2067901" cy="36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71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网络分区的特征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5254" y="2159808"/>
            <a:ext cx="7318072" cy="677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28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网络分区是指由于</a:t>
            </a:r>
            <a:r>
              <a:rPr lang="en-US" sz="1628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网络故障</a:t>
            </a:r>
            <a:r>
              <a:rPr lang="en-US" sz="1628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导致集群节点被分割成多个无法相互通信的子集群。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0998" y="3021433"/>
            <a:ext cx="7203189" cy="2125343"/>
          </a:xfrm>
          <a:custGeom>
            <a:avLst/>
            <a:gdLst/>
            <a:ahLst/>
            <a:cxnLst/>
            <a:rect l="l" t="t" r="r" b="b"/>
            <a:pathLst>
              <a:path w="7203189" h="2125343">
                <a:moveTo>
                  <a:pt x="137850" y="0"/>
                </a:moveTo>
                <a:lnTo>
                  <a:pt x="7065339" y="0"/>
                </a:lnTo>
                <a:cubicBezTo>
                  <a:pt x="7141471" y="0"/>
                  <a:pt x="7203189" y="61717"/>
                  <a:pt x="7203189" y="137850"/>
                </a:cubicBezTo>
                <a:lnTo>
                  <a:pt x="7203189" y="1987493"/>
                </a:lnTo>
                <a:cubicBezTo>
                  <a:pt x="7203189" y="2063625"/>
                  <a:pt x="7141471" y="2125343"/>
                  <a:pt x="7065339" y="2125343"/>
                </a:cubicBezTo>
                <a:lnTo>
                  <a:pt x="137850" y="2125343"/>
                </a:lnTo>
                <a:cubicBezTo>
                  <a:pt x="61717" y="2125343"/>
                  <a:pt x="0" y="2063625"/>
                  <a:pt x="0" y="1987493"/>
                </a:cubicBezTo>
                <a:lnTo>
                  <a:pt x="0" y="137850"/>
                </a:lnTo>
                <a:cubicBezTo>
                  <a:pt x="0" y="61768"/>
                  <a:pt x="61768" y="0"/>
                  <a:pt x="137850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30555" y="3210991"/>
            <a:ext cx="6915980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与节点宕机的区别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0555" y="3578618"/>
            <a:ext cx="6915980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47" b="1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节点状态：</a:t>
            </a:r>
            <a:r>
              <a:rPr lang="en-US" sz="1447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所有节点都在运行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0555" y="3946245"/>
            <a:ext cx="6915980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47" b="1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数据处理：</a:t>
            </a:r>
            <a:r>
              <a:rPr lang="en-US" sz="1447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分区内节点可能继续处理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0555" y="4313871"/>
            <a:ext cx="6915980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47" b="1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脑裂风险：</a:t>
            </a:r>
            <a:r>
              <a:rPr lang="en-US" sz="1447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高风险，需过半数防护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0555" y="4681498"/>
            <a:ext cx="6915980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47" b="1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恢复复杂度：</a:t>
            </a:r>
            <a:r>
              <a:rPr lang="en-US" sz="1447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需检查数据一致性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5278" y="5433984"/>
            <a:ext cx="7478909" cy="2309156"/>
          </a:xfrm>
          <a:custGeom>
            <a:avLst/>
            <a:gdLst/>
            <a:ahLst/>
            <a:cxnLst/>
            <a:rect l="l" t="t" r="r" b="b"/>
            <a:pathLst>
              <a:path w="7478909" h="2309156">
                <a:moveTo>
                  <a:pt x="137857" y="0"/>
                </a:moveTo>
                <a:lnTo>
                  <a:pt x="7341052" y="0"/>
                </a:lnTo>
                <a:cubicBezTo>
                  <a:pt x="7417188" y="0"/>
                  <a:pt x="7478909" y="61721"/>
                  <a:pt x="7478909" y="137857"/>
                </a:cubicBezTo>
                <a:lnTo>
                  <a:pt x="7478909" y="2171300"/>
                </a:lnTo>
                <a:cubicBezTo>
                  <a:pt x="7478909" y="2247436"/>
                  <a:pt x="7417188" y="2309156"/>
                  <a:pt x="7341052" y="2309156"/>
                </a:cubicBezTo>
                <a:lnTo>
                  <a:pt x="137857" y="2309156"/>
                </a:lnTo>
                <a:cubicBezTo>
                  <a:pt x="61771" y="2309156"/>
                  <a:pt x="0" y="2247385"/>
                  <a:pt x="0" y="2171300"/>
                </a:cubicBezTo>
                <a:lnTo>
                  <a:pt x="0" y="137857"/>
                </a:lnTo>
                <a:cubicBezTo>
                  <a:pt x="0" y="61771"/>
                  <a:pt x="61771" y="0"/>
                  <a:pt x="137857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 w="12700">
            <a:solidFill>
              <a:srgbClr val="4F6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15149" y="5715449"/>
            <a:ext cx="258488" cy="229767"/>
          </a:xfrm>
          <a:custGeom>
            <a:avLst/>
            <a:gdLst/>
            <a:ahLst/>
            <a:cxnLst/>
            <a:rect l="l" t="t" r="r" b="b"/>
            <a:pathLst>
              <a:path w="258488" h="229767">
                <a:moveTo>
                  <a:pt x="18399" y="-11174"/>
                </a:moveTo>
                <a:cubicBezTo>
                  <a:pt x="14181" y="-15393"/>
                  <a:pt x="7360" y="-15393"/>
                  <a:pt x="3186" y="-11174"/>
                </a:cubicBezTo>
                <a:cubicBezTo>
                  <a:pt x="-987" y="-6956"/>
                  <a:pt x="-1032" y="-135"/>
                  <a:pt x="3141" y="4084"/>
                </a:cubicBezTo>
                <a:lnTo>
                  <a:pt x="240088" y="241031"/>
                </a:lnTo>
                <a:cubicBezTo>
                  <a:pt x="244307" y="245249"/>
                  <a:pt x="251128" y="245249"/>
                  <a:pt x="255301" y="241031"/>
                </a:cubicBezTo>
                <a:cubicBezTo>
                  <a:pt x="259475" y="236812"/>
                  <a:pt x="259520" y="229991"/>
                  <a:pt x="255301" y="225818"/>
                </a:cubicBezTo>
                <a:lnTo>
                  <a:pt x="200552" y="171069"/>
                </a:lnTo>
                <a:cubicBezTo>
                  <a:pt x="202437" y="169543"/>
                  <a:pt x="204277" y="167882"/>
                  <a:pt x="205982" y="166177"/>
                </a:cubicBezTo>
                <a:lnTo>
                  <a:pt x="237889" y="134270"/>
                </a:lnTo>
                <a:cubicBezTo>
                  <a:pt x="251038" y="121121"/>
                  <a:pt x="258443" y="103260"/>
                  <a:pt x="258443" y="84637"/>
                </a:cubicBezTo>
                <a:cubicBezTo>
                  <a:pt x="258443" y="45864"/>
                  <a:pt x="227029" y="14405"/>
                  <a:pt x="188211" y="14405"/>
                </a:cubicBezTo>
                <a:cubicBezTo>
                  <a:pt x="171472" y="14405"/>
                  <a:pt x="155407" y="20374"/>
                  <a:pt x="142752" y="31099"/>
                </a:cubicBezTo>
                <a:cubicBezTo>
                  <a:pt x="151861" y="35632"/>
                  <a:pt x="160119" y="41645"/>
                  <a:pt x="167209" y="48825"/>
                </a:cubicBezTo>
                <a:cubicBezTo>
                  <a:pt x="173537" y="45101"/>
                  <a:pt x="180762" y="43126"/>
                  <a:pt x="188211" y="43126"/>
                </a:cubicBezTo>
                <a:cubicBezTo>
                  <a:pt x="211143" y="43126"/>
                  <a:pt x="229722" y="61705"/>
                  <a:pt x="229722" y="84637"/>
                </a:cubicBezTo>
                <a:cubicBezTo>
                  <a:pt x="229722" y="95631"/>
                  <a:pt x="225369" y="106177"/>
                  <a:pt x="217560" y="113986"/>
                </a:cubicBezTo>
                <a:lnTo>
                  <a:pt x="185653" y="145893"/>
                </a:lnTo>
                <a:cubicBezTo>
                  <a:pt x="183903" y="147643"/>
                  <a:pt x="182018" y="149214"/>
                  <a:pt x="179999" y="150605"/>
                </a:cubicBezTo>
                <a:lnTo>
                  <a:pt x="158683" y="129289"/>
                </a:lnTo>
                <a:cubicBezTo>
                  <a:pt x="166087" y="128885"/>
                  <a:pt x="172011" y="122827"/>
                  <a:pt x="172235" y="115332"/>
                </a:cubicBezTo>
                <a:cubicBezTo>
                  <a:pt x="172235" y="114749"/>
                  <a:pt x="172235" y="114165"/>
                  <a:pt x="172235" y="113582"/>
                </a:cubicBezTo>
                <a:cubicBezTo>
                  <a:pt x="172235" y="74854"/>
                  <a:pt x="140867" y="43171"/>
                  <a:pt x="102004" y="43171"/>
                </a:cubicBezTo>
                <a:cubicBezTo>
                  <a:pt x="93388" y="43171"/>
                  <a:pt x="84996" y="44742"/>
                  <a:pt x="77098" y="47748"/>
                </a:cubicBezTo>
                <a:lnTo>
                  <a:pt x="18399" y="-11174"/>
                </a:lnTo>
                <a:close/>
                <a:moveTo>
                  <a:pt x="101376" y="71802"/>
                </a:moveTo>
                <a:cubicBezTo>
                  <a:pt x="101645" y="71802"/>
                  <a:pt x="101869" y="71802"/>
                  <a:pt x="102139" y="71802"/>
                </a:cubicBezTo>
                <a:cubicBezTo>
                  <a:pt x="108915" y="71802"/>
                  <a:pt x="115377" y="73463"/>
                  <a:pt x="121031" y="76380"/>
                </a:cubicBezTo>
                <a:cubicBezTo>
                  <a:pt x="121839" y="76918"/>
                  <a:pt x="122647" y="77412"/>
                  <a:pt x="123500" y="77771"/>
                </a:cubicBezTo>
                <a:cubicBezTo>
                  <a:pt x="135527" y="85086"/>
                  <a:pt x="143604" y="98369"/>
                  <a:pt x="143604" y="113492"/>
                </a:cubicBezTo>
                <a:cubicBezTo>
                  <a:pt x="143604" y="113672"/>
                  <a:pt x="143604" y="113851"/>
                  <a:pt x="143604" y="114031"/>
                </a:cubicBezTo>
                <a:lnTo>
                  <a:pt x="101376" y="71802"/>
                </a:lnTo>
                <a:close/>
                <a:moveTo>
                  <a:pt x="155362" y="186686"/>
                </a:moveTo>
                <a:lnTo>
                  <a:pt x="86163" y="117486"/>
                </a:lnTo>
                <a:cubicBezTo>
                  <a:pt x="86701" y="155452"/>
                  <a:pt x="117396" y="186102"/>
                  <a:pt x="155317" y="186641"/>
                </a:cubicBezTo>
                <a:close/>
                <a:moveTo>
                  <a:pt x="62692" y="94016"/>
                </a:moveTo>
                <a:lnTo>
                  <a:pt x="42363" y="73687"/>
                </a:lnTo>
                <a:lnTo>
                  <a:pt x="20553" y="95497"/>
                </a:lnTo>
                <a:cubicBezTo>
                  <a:pt x="7405" y="108646"/>
                  <a:pt x="0" y="126506"/>
                  <a:pt x="0" y="145130"/>
                </a:cubicBezTo>
                <a:cubicBezTo>
                  <a:pt x="0" y="183903"/>
                  <a:pt x="31413" y="215361"/>
                  <a:pt x="70231" y="215361"/>
                </a:cubicBezTo>
                <a:cubicBezTo>
                  <a:pt x="86925" y="215361"/>
                  <a:pt x="103036" y="209393"/>
                  <a:pt x="115691" y="198667"/>
                </a:cubicBezTo>
                <a:cubicBezTo>
                  <a:pt x="106581" y="194135"/>
                  <a:pt x="98279" y="188122"/>
                  <a:pt x="91189" y="180941"/>
                </a:cubicBezTo>
                <a:cubicBezTo>
                  <a:pt x="84906" y="184621"/>
                  <a:pt x="77681" y="186596"/>
                  <a:pt x="70231" y="186596"/>
                </a:cubicBezTo>
                <a:cubicBezTo>
                  <a:pt x="47300" y="186596"/>
                  <a:pt x="28721" y="168017"/>
                  <a:pt x="28721" y="145085"/>
                </a:cubicBezTo>
                <a:cubicBezTo>
                  <a:pt x="28721" y="134090"/>
                  <a:pt x="33074" y="123545"/>
                  <a:pt x="40882" y="115736"/>
                </a:cubicBezTo>
                <a:lnTo>
                  <a:pt x="62692" y="93926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87997" y="5669495"/>
            <a:ext cx="6835562" cy="32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9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分区检测过程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0789" y="6129029"/>
            <a:ext cx="7099794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t=0s:</a:t>
            </a:r>
            <a:r>
              <a:rPr lang="en-US" sz="1447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网络故障，连接中断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0789" y="6496656"/>
            <a:ext cx="7099794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t=1-3s:</a:t>
            </a:r>
            <a:r>
              <a:rPr lang="en-US" sz="1447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尝试重连，心跳失败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0789" y="6864283"/>
            <a:ext cx="7099794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t=4-5s:</a:t>
            </a:r>
            <a:r>
              <a:rPr lang="en-US" sz="1447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判定网络分区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0789" y="7231910"/>
            <a:ext cx="7099794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t=5s:</a:t>
            </a:r>
            <a:r>
              <a:rPr lang="en-US" sz="1447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触发分区处理逻辑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35418" y="1608367"/>
            <a:ext cx="45953" cy="4825102"/>
          </a:xfrm>
          <a:custGeom>
            <a:avLst/>
            <a:gdLst/>
            <a:ahLst/>
            <a:cxnLst/>
            <a:rect l="l" t="t" r="r" b="b"/>
            <a:pathLst>
              <a:path w="45953" h="4825102">
                <a:moveTo>
                  <a:pt x="0" y="0"/>
                </a:moveTo>
                <a:lnTo>
                  <a:pt x="45953" y="0"/>
                </a:lnTo>
                <a:lnTo>
                  <a:pt x="45953" y="4825102"/>
                </a:lnTo>
                <a:lnTo>
                  <a:pt x="0" y="4825102"/>
                </a:lnTo>
                <a:lnTo>
                  <a:pt x="0" y="0"/>
                </a:ln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605394" y="1654321"/>
            <a:ext cx="310185" cy="275720"/>
          </a:xfrm>
          <a:custGeom>
            <a:avLst/>
            <a:gdLst/>
            <a:ahLst/>
            <a:cxnLst/>
            <a:rect l="l" t="t" r="r" b="b"/>
            <a:pathLst>
              <a:path w="310185" h="275720">
                <a:moveTo>
                  <a:pt x="133552" y="47389"/>
                </a:moveTo>
                <a:lnTo>
                  <a:pt x="176633" y="47389"/>
                </a:lnTo>
                <a:lnTo>
                  <a:pt x="176633" y="73238"/>
                </a:lnTo>
                <a:lnTo>
                  <a:pt x="133552" y="73238"/>
                </a:lnTo>
                <a:lnTo>
                  <a:pt x="133552" y="47389"/>
                </a:lnTo>
                <a:close/>
                <a:moveTo>
                  <a:pt x="129244" y="17233"/>
                </a:moveTo>
                <a:cubicBezTo>
                  <a:pt x="114973" y="17233"/>
                  <a:pt x="103395" y="28811"/>
                  <a:pt x="103395" y="43081"/>
                </a:cubicBezTo>
                <a:lnTo>
                  <a:pt x="103395" y="77546"/>
                </a:lnTo>
                <a:cubicBezTo>
                  <a:pt x="103395" y="91817"/>
                  <a:pt x="114973" y="103395"/>
                  <a:pt x="129244" y="103395"/>
                </a:cubicBezTo>
                <a:lnTo>
                  <a:pt x="137860" y="103395"/>
                </a:lnTo>
                <a:lnTo>
                  <a:pt x="137860" y="120628"/>
                </a:lnTo>
                <a:lnTo>
                  <a:pt x="17233" y="120628"/>
                </a:lnTo>
                <a:cubicBezTo>
                  <a:pt x="7701" y="120628"/>
                  <a:pt x="0" y="128328"/>
                  <a:pt x="0" y="137860"/>
                </a:cubicBezTo>
                <a:cubicBezTo>
                  <a:pt x="0" y="147392"/>
                  <a:pt x="7701" y="155093"/>
                  <a:pt x="17233" y="155093"/>
                </a:cubicBezTo>
                <a:lnTo>
                  <a:pt x="68930" y="155093"/>
                </a:lnTo>
                <a:lnTo>
                  <a:pt x="68930" y="172325"/>
                </a:lnTo>
                <a:lnTo>
                  <a:pt x="60314" y="172325"/>
                </a:lnTo>
                <a:cubicBezTo>
                  <a:pt x="46043" y="172325"/>
                  <a:pt x="34465" y="183903"/>
                  <a:pt x="34465" y="198174"/>
                </a:cubicBezTo>
                <a:lnTo>
                  <a:pt x="34465" y="232639"/>
                </a:lnTo>
                <a:cubicBezTo>
                  <a:pt x="34465" y="246910"/>
                  <a:pt x="46043" y="258488"/>
                  <a:pt x="60314" y="258488"/>
                </a:cubicBezTo>
                <a:lnTo>
                  <a:pt x="112011" y="258488"/>
                </a:lnTo>
                <a:cubicBezTo>
                  <a:pt x="126282" y="258488"/>
                  <a:pt x="137860" y="246910"/>
                  <a:pt x="137860" y="232639"/>
                </a:cubicBezTo>
                <a:lnTo>
                  <a:pt x="137860" y="198174"/>
                </a:lnTo>
                <a:cubicBezTo>
                  <a:pt x="137860" y="183903"/>
                  <a:pt x="126282" y="172325"/>
                  <a:pt x="112011" y="172325"/>
                </a:cubicBezTo>
                <a:lnTo>
                  <a:pt x="103395" y="172325"/>
                </a:lnTo>
                <a:lnTo>
                  <a:pt x="103395" y="155093"/>
                </a:lnTo>
                <a:lnTo>
                  <a:pt x="206790" y="155093"/>
                </a:lnTo>
                <a:lnTo>
                  <a:pt x="206790" y="172325"/>
                </a:lnTo>
                <a:lnTo>
                  <a:pt x="198174" y="172325"/>
                </a:lnTo>
                <a:cubicBezTo>
                  <a:pt x="183903" y="172325"/>
                  <a:pt x="172325" y="183903"/>
                  <a:pt x="172325" y="198174"/>
                </a:cubicBezTo>
                <a:lnTo>
                  <a:pt x="172325" y="232639"/>
                </a:lnTo>
                <a:cubicBezTo>
                  <a:pt x="172325" y="246910"/>
                  <a:pt x="183903" y="258488"/>
                  <a:pt x="198174" y="258488"/>
                </a:cubicBezTo>
                <a:lnTo>
                  <a:pt x="249871" y="258488"/>
                </a:lnTo>
                <a:cubicBezTo>
                  <a:pt x="264142" y="258488"/>
                  <a:pt x="275720" y="246910"/>
                  <a:pt x="275720" y="232639"/>
                </a:cubicBezTo>
                <a:lnTo>
                  <a:pt x="275720" y="198174"/>
                </a:lnTo>
                <a:cubicBezTo>
                  <a:pt x="275720" y="183903"/>
                  <a:pt x="264142" y="172325"/>
                  <a:pt x="249871" y="172325"/>
                </a:cubicBezTo>
                <a:lnTo>
                  <a:pt x="241255" y="172325"/>
                </a:lnTo>
                <a:lnTo>
                  <a:pt x="241255" y="155093"/>
                </a:lnTo>
                <a:lnTo>
                  <a:pt x="292953" y="155093"/>
                </a:lnTo>
                <a:cubicBezTo>
                  <a:pt x="302484" y="155093"/>
                  <a:pt x="310185" y="147392"/>
                  <a:pt x="310185" y="137860"/>
                </a:cubicBezTo>
                <a:cubicBezTo>
                  <a:pt x="310185" y="128328"/>
                  <a:pt x="302484" y="120628"/>
                  <a:pt x="292953" y="120628"/>
                </a:cubicBezTo>
                <a:lnTo>
                  <a:pt x="172325" y="120628"/>
                </a:lnTo>
                <a:lnTo>
                  <a:pt x="172325" y="103395"/>
                </a:lnTo>
                <a:lnTo>
                  <a:pt x="180941" y="103395"/>
                </a:lnTo>
                <a:cubicBezTo>
                  <a:pt x="195212" y="103395"/>
                  <a:pt x="206790" y="91817"/>
                  <a:pt x="206790" y="77546"/>
                </a:cubicBezTo>
                <a:lnTo>
                  <a:pt x="206790" y="43081"/>
                </a:lnTo>
                <a:cubicBezTo>
                  <a:pt x="206790" y="28811"/>
                  <a:pt x="195212" y="17233"/>
                  <a:pt x="180941" y="17233"/>
                </a:cubicBezTo>
                <a:lnTo>
                  <a:pt x="129244" y="17233"/>
                </a:lnTo>
                <a:close/>
                <a:moveTo>
                  <a:pt x="241255" y="202482"/>
                </a:moveTo>
                <a:lnTo>
                  <a:pt x="245563" y="202482"/>
                </a:lnTo>
                <a:lnTo>
                  <a:pt x="245563" y="228331"/>
                </a:lnTo>
                <a:lnTo>
                  <a:pt x="202482" y="228331"/>
                </a:lnTo>
                <a:lnTo>
                  <a:pt x="202482" y="202482"/>
                </a:lnTo>
                <a:lnTo>
                  <a:pt x="241255" y="202482"/>
                </a:lnTo>
                <a:close/>
                <a:moveTo>
                  <a:pt x="103395" y="202482"/>
                </a:moveTo>
                <a:lnTo>
                  <a:pt x="107703" y="202482"/>
                </a:lnTo>
                <a:lnTo>
                  <a:pt x="107703" y="228331"/>
                </a:lnTo>
                <a:lnTo>
                  <a:pt x="64622" y="228331"/>
                </a:lnTo>
                <a:lnTo>
                  <a:pt x="64622" y="202482"/>
                </a:lnTo>
                <a:lnTo>
                  <a:pt x="103395" y="202482"/>
                </a:ln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070672" y="1608367"/>
            <a:ext cx="1792181" cy="36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71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分区行为示例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88162" y="2159808"/>
            <a:ext cx="7306584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场景：Leader A 与 Followers B、C 分离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93906" y="2625086"/>
            <a:ext cx="7203189" cy="1803669"/>
          </a:xfrm>
          <a:custGeom>
            <a:avLst/>
            <a:gdLst/>
            <a:ahLst/>
            <a:cxnLst/>
            <a:rect l="l" t="t" r="r" b="b"/>
            <a:pathLst>
              <a:path w="7203189" h="1803669">
                <a:moveTo>
                  <a:pt x="137854" y="0"/>
                </a:moveTo>
                <a:lnTo>
                  <a:pt x="7065334" y="0"/>
                </a:lnTo>
                <a:cubicBezTo>
                  <a:pt x="7141469" y="0"/>
                  <a:pt x="7203189" y="61720"/>
                  <a:pt x="7203189" y="137854"/>
                </a:cubicBezTo>
                <a:lnTo>
                  <a:pt x="7203189" y="1665815"/>
                </a:lnTo>
                <a:cubicBezTo>
                  <a:pt x="7203189" y="1741950"/>
                  <a:pt x="7141469" y="1803669"/>
                  <a:pt x="7065334" y="1803669"/>
                </a:cubicBezTo>
                <a:lnTo>
                  <a:pt x="137854" y="1803669"/>
                </a:lnTo>
                <a:cubicBezTo>
                  <a:pt x="61720" y="1803669"/>
                  <a:pt x="0" y="1741950"/>
                  <a:pt x="0" y="1665815"/>
                </a:cubicBezTo>
                <a:lnTo>
                  <a:pt x="0" y="137854"/>
                </a:lnTo>
                <a:cubicBezTo>
                  <a:pt x="0" y="61771"/>
                  <a:pt x="61771" y="0"/>
                  <a:pt x="137854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783464" y="2814643"/>
            <a:ext cx="6915980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分区 1：节点 A（原 Leader）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783464" y="3228223"/>
            <a:ext cx="6915980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无法连接到 B、C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783464" y="3595850"/>
            <a:ext cx="6915980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当前分区节点数 1 &lt; 过半数 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83464" y="3963477"/>
            <a:ext cx="6915980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状态降级为 LOOKING，停止服务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93906" y="4624057"/>
            <a:ext cx="7203189" cy="1803669"/>
          </a:xfrm>
          <a:custGeom>
            <a:avLst/>
            <a:gdLst/>
            <a:ahLst/>
            <a:cxnLst/>
            <a:rect l="l" t="t" r="r" b="b"/>
            <a:pathLst>
              <a:path w="7203189" h="1803669">
                <a:moveTo>
                  <a:pt x="137854" y="0"/>
                </a:moveTo>
                <a:lnTo>
                  <a:pt x="7065334" y="0"/>
                </a:lnTo>
                <a:cubicBezTo>
                  <a:pt x="7141469" y="0"/>
                  <a:pt x="7203189" y="61720"/>
                  <a:pt x="7203189" y="137854"/>
                </a:cubicBezTo>
                <a:lnTo>
                  <a:pt x="7203189" y="1665815"/>
                </a:lnTo>
                <a:cubicBezTo>
                  <a:pt x="7203189" y="1741950"/>
                  <a:pt x="7141469" y="1803669"/>
                  <a:pt x="7065334" y="1803669"/>
                </a:cubicBezTo>
                <a:lnTo>
                  <a:pt x="137854" y="1803669"/>
                </a:lnTo>
                <a:cubicBezTo>
                  <a:pt x="61720" y="1803669"/>
                  <a:pt x="0" y="1741950"/>
                  <a:pt x="0" y="1665815"/>
                </a:cubicBezTo>
                <a:lnTo>
                  <a:pt x="0" y="137854"/>
                </a:lnTo>
                <a:cubicBezTo>
                  <a:pt x="0" y="61771"/>
                  <a:pt x="61771" y="0"/>
                  <a:pt x="137854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 w="12700">
            <a:solidFill>
              <a:srgbClr val="4F6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783464" y="4813614"/>
            <a:ext cx="6915980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dirty="0">
                <a:solidFill>
                  <a:srgbClr val="4F6A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分区 2：节点 B + C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783464" y="5227194"/>
            <a:ext cx="6915980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检测到 Leader A 失联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783464" y="5594821"/>
            <a:ext cx="6915980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当前分区节点数 2 ≥ 过半数 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783464" y="5962448"/>
            <a:ext cx="6915980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触发选举，选出新 Leader，继续服务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23930" y="6720678"/>
            <a:ext cx="7467420" cy="1953018"/>
          </a:xfrm>
          <a:custGeom>
            <a:avLst/>
            <a:gdLst/>
            <a:ahLst/>
            <a:cxnLst/>
            <a:rect l="l" t="t" r="r" b="b"/>
            <a:pathLst>
              <a:path w="7467420" h="1953018">
                <a:moveTo>
                  <a:pt x="137864" y="0"/>
                </a:moveTo>
                <a:lnTo>
                  <a:pt x="7329557" y="0"/>
                </a:lnTo>
                <a:cubicBezTo>
                  <a:pt x="7405697" y="0"/>
                  <a:pt x="7467420" y="61724"/>
                  <a:pt x="7467420" y="137864"/>
                </a:cubicBezTo>
                <a:lnTo>
                  <a:pt x="7467420" y="1815154"/>
                </a:lnTo>
                <a:cubicBezTo>
                  <a:pt x="7467420" y="1891294"/>
                  <a:pt x="7405697" y="1953018"/>
                  <a:pt x="7329557" y="1953018"/>
                </a:cubicBezTo>
                <a:lnTo>
                  <a:pt x="137864" y="1953018"/>
                </a:lnTo>
                <a:cubicBezTo>
                  <a:pt x="61724" y="1953018"/>
                  <a:pt x="0" y="1891294"/>
                  <a:pt x="0" y="1815154"/>
                </a:cubicBezTo>
                <a:lnTo>
                  <a:pt x="0" y="137864"/>
                </a:lnTo>
                <a:cubicBezTo>
                  <a:pt x="0" y="61724"/>
                  <a:pt x="61724" y="0"/>
                  <a:pt x="137864" y="0"/>
                </a:cubicBezTo>
                <a:close/>
              </a:path>
            </a:pathLst>
          </a:custGeom>
          <a:solidFill>
            <a:srgbClr val="B89A6A">
              <a:alpha val="30196"/>
            </a:srgbClr>
          </a:solidFill>
          <a:ln w="25400">
            <a:solidFill>
              <a:srgbClr val="B89A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593906" y="7007887"/>
            <a:ext cx="229767" cy="229767"/>
          </a:xfrm>
          <a:custGeom>
            <a:avLst/>
            <a:gdLst/>
            <a:ahLst/>
            <a:cxnLst/>
            <a:rect l="l" t="t" r="r" b="b"/>
            <a:pathLst>
              <a:path w="229767" h="229767">
                <a:moveTo>
                  <a:pt x="114883" y="0"/>
                </a:moveTo>
                <a:cubicBezTo>
                  <a:pt x="116948" y="0"/>
                  <a:pt x="119012" y="449"/>
                  <a:pt x="120897" y="1301"/>
                </a:cubicBezTo>
                <a:lnTo>
                  <a:pt x="205444" y="37158"/>
                </a:lnTo>
                <a:cubicBezTo>
                  <a:pt x="215317" y="41331"/>
                  <a:pt x="222676" y="51069"/>
                  <a:pt x="222631" y="62827"/>
                </a:cubicBezTo>
                <a:cubicBezTo>
                  <a:pt x="222407" y="107344"/>
                  <a:pt x="204098" y="188795"/>
                  <a:pt x="126776" y="225818"/>
                </a:cubicBezTo>
                <a:cubicBezTo>
                  <a:pt x="119281" y="229408"/>
                  <a:pt x="110575" y="229408"/>
                  <a:pt x="103081" y="225818"/>
                </a:cubicBezTo>
                <a:cubicBezTo>
                  <a:pt x="25714" y="188795"/>
                  <a:pt x="7449" y="107344"/>
                  <a:pt x="7225" y="62827"/>
                </a:cubicBezTo>
                <a:cubicBezTo>
                  <a:pt x="7180" y="51069"/>
                  <a:pt x="14540" y="41331"/>
                  <a:pt x="24413" y="37158"/>
                </a:cubicBezTo>
                <a:lnTo>
                  <a:pt x="108915" y="1301"/>
                </a:lnTo>
                <a:cubicBezTo>
                  <a:pt x="110800" y="449"/>
                  <a:pt x="112819" y="0"/>
                  <a:pt x="114883" y="0"/>
                </a:cubicBezTo>
                <a:close/>
                <a:moveTo>
                  <a:pt x="114883" y="29977"/>
                </a:moveTo>
                <a:lnTo>
                  <a:pt x="114883" y="199655"/>
                </a:lnTo>
                <a:cubicBezTo>
                  <a:pt x="176813" y="169677"/>
                  <a:pt x="193462" y="103260"/>
                  <a:pt x="193866" y="63500"/>
                </a:cubicBezTo>
                <a:lnTo>
                  <a:pt x="114883" y="30022"/>
                </a:lnTo>
                <a:lnTo>
                  <a:pt x="114883" y="30022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990254" y="6961934"/>
            <a:ext cx="1033951" cy="32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9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关键机制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65185" y="7421467"/>
            <a:ext cx="7076817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过半数原则：</a:t>
            </a:r>
            <a:r>
              <a:rPr lang="en-US" sz="1447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确保只有一个分区能继续服务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65185" y="7789094"/>
            <a:ext cx="7076817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分区检测：</a:t>
            </a:r>
            <a:r>
              <a:rPr lang="en-US" sz="1447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快速识别网络分区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565185" y="8156721"/>
            <a:ext cx="7076817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状态降级：</a:t>
            </a:r>
            <a:r>
              <a:rPr lang="en-US" sz="1447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防止脑裂问题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1930400" y="2540000"/>
            <a:ext cx="9285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 err="1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总结与核心要点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6100" y="548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" y="85725"/>
                </a:moveTo>
                <a:cubicBezTo>
                  <a:pt x="44346" y="85725"/>
                  <a:pt x="57150" y="72921"/>
                  <a:pt x="57150" y="57150"/>
                </a:cubicBezTo>
                <a:cubicBezTo>
                  <a:pt x="57150" y="41379"/>
                  <a:pt x="44346" y="28575"/>
                  <a:pt x="28575" y="28575"/>
                </a:cubicBezTo>
                <a:cubicBezTo>
                  <a:pt x="12804" y="28575"/>
                  <a:pt x="0" y="41379"/>
                  <a:pt x="0" y="57150"/>
                </a:cubicBezTo>
                <a:cubicBezTo>
                  <a:pt x="0" y="72921"/>
                  <a:pt x="12804" y="85725"/>
                  <a:pt x="28575" y="85725"/>
                </a:cubicBezTo>
                <a:close/>
                <a:moveTo>
                  <a:pt x="114300" y="38100"/>
                </a:moveTo>
                <a:cubicBezTo>
                  <a:pt x="103763" y="38100"/>
                  <a:pt x="95250" y="46613"/>
                  <a:pt x="95250" y="57150"/>
                </a:cubicBezTo>
                <a:cubicBezTo>
                  <a:pt x="95250" y="67687"/>
                  <a:pt x="103763" y="76200"/>
                  <a:pt x="114300" y="76200"/>
                </a:cubicBezTo>
                <a:lnTo>
                  <a:pt x="285750" y="76200"/>
                </a:lnTo>
                <a:cubicBezTo>
                  <a:pt x="296287" y="76200"/>
                  <a:pt x="304800" y="67687"/>
                  <a:pt x="304800" y="57150"/>
                </a:cubicBezTo>
                <a:cubicBezTo>
                  <a:pt x="304800" y="46613"/>
                  <a:pt x="296287" y="38100"/>
                  <a:pt x="285750" y="38100"/>
                </a:cubicBezTo>
                <a:lnTo>
                  <a:pt x="114300" y="38100"/>
                </a:lnTo>
                <a:close/>
                <a:moveTo>
                  <a:pt x="114300" y="133350"/>
                </a:moveTo>
                <a:cubicBezTo>
                  <a:pt x="103763" y="133350"/>
                  <a:pt x="95250" y="141863"/>
                  <a:pt x="95250" y="152400"/>
                </a:cubicBezTo>
                <a:cubicBezTo>
                  <a:pt x="95250" y="162937"/>
                  <a:pt x="103763" y="171450"/>
                  <a:pt x="114300" y="171450"/>
                </a:cubicBezTo>
                <a:lnTo>
                  <a:pt x="285750" y="171450"/>
                </a:lnTo>
                <a:cubicBezTo>
                  <a:pt x="296287" y="171450"/>
                  <a:pt x="304800" y="162937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lnTo>
                  <a:pt x="114300" y="133350"/>
                </a:lnTo>
                <a:close/>
                <a:moveTo>
                  <a:pt x="114300" y="228600"/>
                </a:moveTo>
                <a:cubicBezTo>
                  <a:pt x="103763" y="228600"/>
                  <a:pt x="95250" y="237113"/>
                  <a:pt x="95250" y="247650"/>
                </a:cubicBezTo>
                <a:cubicBezTo>
                  <a:pt x="95250" y="258187"/>
                  <a:pt x="103763" y="266700"/>
                  <a:pt x="114300" y="266700"/>
                </a:cubicBez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ubicBezTo>
                  <a:pt x="304800" y="237113"/>
                  <a:pt x="296287" y="228600"/>
                  <a:pt x="285750" y="228600"/>
                </a:cubicBezTo>
                <a:lnTo>
                  <a:pt x="114300" y="228600"/>
                </a:lnTo>
                <a:close/>
                <a:moveTo>
                  <a:pt x="28575" y="276225"/>
                </a:moveTo>
                <a:cubicBezTo>
                  <a:pt x="44346" y="276225"/>
                  <a:pt x="57150" y="263421"/>
                  <a:pt x="57150" y="247650"/>
                </a:cubicBezTo>
                <a:cubicBezTo>
                  <a:pt x="57150" y="231879"/>
                  <a:pt x="44346" y="219075"/>
                  <a:pt x="28575" y="219075"/>
                </a:cubicBezTo>
                <a:cubicBezTo>
                  <a:pt x="12804" y="219075"/>
                  <a:pt x="0" y="231879"/>
                  <a:pt x="0" y="247650"/>
                </a:cubicBezTo>
                <a:cubicBezTo>
                  <a:pt x="0" y="263421"/>
                  <a:pt x="12804" y="276225"/>
                  <a:pt x="28575" y="276225"/>
                </a:cubicBezTo>
                <a:close/>
                <a:moveTo>
                  <a:pt x="57150" y="152400"/>
                </a:moveTo>
                <a:cubicBezTo>
                  <a:pt x="57150" y="136629"/>
                  <a:pt x="44346" y="123825"/>
                  <a:pt x="28575" y="123825"/>
                </a:cubicBezTo>
                <a:cubicBezTo>
                  <a:pt x="12804" y="123825"/>
                  <a:pt x="0" y="136629"/>
                  <a:pt x="0" y="152400"/>
                </a:cubicBezTo>
                <a:cubicBezTo>
                  <a:pt x="0" y="168171"/>
                  <a:pt x="12804" y="180975"/>
                  <a:pt x="28575" y="180975"/>
                </a:cubicBezTo>
                <a:cubicBezTo>
                  <a:pt x="44346" y="180975"/>
                  <a:pt x="57150" y="168171"/>
                  <a:pt x="57150" y="152400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041400" y="5435600"/>
            <a:ext cx="2590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核心选举场景分类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13263" y="5486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46804" y="223004"/>
                </a:moveTo>
                <a:lnTo>
                  <a:pt x="89654" y="280154"/>
                </a:lnTo>
                <a:cubicBezTo>
                  <a:pt x="82213" y="287595"/>
                  <a:pt x="70128" y="287595"/>
                  <a:pt x="62686" y="280154"/>
                </a:cubicBezTo>
                <a:lnTo>
                  <a:pt x="5536" y="223004"/>
                </a:lnTo>
                <a:cubicBezTo>
                  <a:pt x="-1905" y="215563"/>
                  <a:pt x="-1905" y="203478"/>
                  <a:pt x="5536" y="196036"/>
                </a:cubicBezTo>
                <a:cubicBezTo>
                  <a:pt x="12978" y="188595"/>
                  <a:pt x="25063" y="188595"/>
                  <a:pt x="32504" y="196036"/>
                </a:cubicBezTo>
                <a:lnTo>
                  <a:pt x="57150" y="220682"/>
                </a:lnTo>
                <a:lnTo>
                  <a:pt x="57150" y="38100"/>
                </a:lnTo>
                <a:cubicBezTo>
                  <a:pt x="57150" y="27563"/>
                  <a:pt x="65663" y="19050"/>
                  <a:pt x="76200" y="19050"/>
                </a:cubicBezTo>
                <a:cubicBezTo>
                  <a:pt x="86737" y="19050"/>
                  <a:pt x="95250" y="27563"/>
                  <a:pt x="95250" y="38100"/>
                </a:cubicBezTo>
                <a:lnTo>
                  <a:pt x="95250" y="220682"/>
                </a:lnTo>
                <a:lnTo>
                  <a:pt x="119896" y="196036"/>
                </a:lnTo>
                <a:cubicBezTo>
                  <a:pt x="127337" y="188595"/>
                  <a:pt x="139422" y="188595"/>
                  <a:pt x="146864" y="196036"/>
                </a:cubicBezTo>
                <a:cubicBezTo>
                  <a:pt x="154305" y="203478"/>
                  <a:pt x="154305" y="215563"/>
                  <a:pt x="146864" y="223004"/>
                </a:cubicBezTo>
                <a:close/>
                <a:moveTo>
                  <a:pt x="190500" y="285750"/>
                </a:moveTo>
                <a:cubicBezTo>
                  <a:pt x="179963" y="285750"/>
                  <a:pt x="171450" y="277237"/>
                  <a:pt x="171450" y="266700"/>
                </a:cubicBezTo>
                <a:cubicBezTo>
                  <a:pt x="171450" y="256163"/>
                  <a:pt x="179963" y="247650"/>
                  <a:pt x="190500" y="247650"/>
                </a:cubicBezTo>
                <a:lnTo>
                  <a:pt x="209550" y="247650"/>
                </a:lnTo>
                <a:cubicBezTo>
                  <a:pt x="220087" y="247650"/>
                  <a:pt x="228600" y="256163"/>
                  <a:pt x="228600" y="266700"/>
                </a:cubicBezTo>
                <a:cubicBezTo>
                  <a:pt x="228600" y="277237"/>
                  <a:pt x="220087" y="285750"/>
                  <a:pt x="209550" y="285750"/>
                </a:cubicBezTo>
                <a:lnTo>
                  <a:pt x="190500" y="285750"/>
                </a:lnTo>
                <a:close/>
                <a:moveTo>
                  <a:pt x="190500" y="209550"/>
                </a:moveTo>
                <a:cubicBezTo>
                  <a:pt x="179963" y="209550"/>
                  <a:pt x="171450" y="201037"/>
                  <a:pt x="171450" y="190500"/>
                </a:cubicBezTo>
                <a:cubicBezTo>
                  <a:pt x="171450" y="179963"/>
                  <a:pt x="179963" y="171450"/>
                  <a:pt x="190500" y="171450"/>
                </a:cubicBez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190500" y="209550"/>
                </a:lnTo>
                <a:close/>
                <a:moveTo>
                  <a:pt x="190500" y="133350"/>
                </a:moveTo>
                <a:cubicBezTo>
                  <a:pt x="179963" y="133350"/>
                  <a:pt x="171450" y="124837"/>
                  <a:pt x="171450" y="114300"/>
                </a:cubicBezTo>
                <a:cubicBezTo>
                  <a:pt x="171450" y="103763"/>
                  <a:pt x="179963" y="95250"/>
                  <a:pt x="190500" y="95250"/>
                </a:cubicBezTo>
                <a:lnTo>
                  <a:pt x="285750" y="95250"/>
                </a:lnTo>
                <a:cubicBezTo>
                  <a:pt x="296287" y="95250"/>
                  <a:pt x="304800" y="103763"/>
                  <a:pt x="304800" y="114300"/>
                </a:cubicBezTo>
                <a:cubicBezTo>
                  <a:pt x="304800" y="124837"/>
                  <a:pt x="296287" y="133350"/>
                  <a:pt x="285750" y="133350"/>
                </a:cubicBezTo>
                <a:lnTo>
                  <a:pt x="190500" y="133350"/>
                </a:lnTo>
                <a:close/>
                <a:moveTo>
                  <a:pt x="190500" y="57150"/>
                </a:moveTo>
                <a:cubicBezTo>
                  <a:pt x="179963" y="57150"/>
                  <a:pt x="171450" y="48637"/>
                  <a:pt x="171450" y="38100"/>
                </a:cubicBezTo>
                <a:cubicBezTo>
                  <a:pt x="171450" y="27563"/>
                  <a:pt x="179963" y="19050"/>
                  <a:pt x="190500" y="19050"/>
                </a:cubicBezTo>
                <a:lnTo>
                  <a:pt x="323850" y="19050"/>
                </a:lnTo>
                <a:cubicBezTo>
                  <a:pt x="334387" y="19050"/>
                  <a:pt x="342900" y="27563"/>
                  <a:pt x="342900" y="38100"/>
                </a:cubicBezTo>
                <a:cubicBezTo>
                  <a:pt x="342900" y="48637"/>
                  <a:pt x="334387" y="57150"/>
                  <a:pt x="323850" y="57150"/>
                </a:cubicBezTo>
                <a:lnTo>
                  <a:pt x="190500" y="5715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5027613" y="5435600"/>
            <a:ext cx="289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选举决策因素优先级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318626" y="5486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9775826" y="5435600"/>
            <a:ext cx="198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关键学习要点</a:t>
            </a:r>
            <a:endParaRPr lang="en-US" sz="1600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2016BAE-7203-3F5E-C361-3ECEB00B6783}"/>
              </a:ext>
            </a:extLst>
          </p:cNvPr>
          <p:cNvGrpSpPr/>
          <p:nvPr/>
        </p:nvGrpSpPr>
        <p:grpSpPr>
          <a:xfrm>
            <a:off x="563513" y="3086100"/>
            <a:ext cx="1193800" cy="1193800"/>
            <a:chOff x="563513" y="2857500"/>
            <a:chExt cx="1193800" cy="1193800"/>
          </a:xfrm>
        </p:grpSpPr>
        <p:sp>
          <p:nvSpPr>
            <p:cNvPr id="18" name="Shape 1">
              <a:extLst>
                <a:ext uri="{FF2B5EF4-FFF2-40B4-BE49-F238E27FC236}">
                  <a16:creationId xmlns:a16="http://schemas.microsoft.com/office/drawing/2014/main" id="{D79FB99F-369E-79E2-175A-00F0A35797E1}"/>
                </a:ext>
              </a:extLst>
            </p:cNvPr>
            <p:cNvSpPr/>
            <p:nvPr/>
          </p:nvSpPr>
          <p:spPr>
            <a:xfrm>
              <a:off x="563513" y="2857500"/>
              <a:ext cx="1193800" cy="1193800"/>
            </a:xfrm>
            <a:custGeom>
              <a:avLst/>
              <a:gdLst/>
              <a:ahLst/>
              <a:cxnLst/>
              <a:rect l="l" t="t" r="r" b="b"/>
              <a:pathLst>
                <a:path w="1193800" h="1193800">
                  <a:moveTo>
                    <a:pt x="152401" y="0"/>
                  </a:moveTo>
                  <a:lnTo>
                    <a:pt x="1041399" y="0"/>
                  </a:lnTo>
                  <a:cubicBezTo>
                    <a:pt x="1125512" y="0"/>
                    <a:pt x="1193800" y="68288"/>
                    <a:pt x="1193800" y="152401"/>
                  </a:cubicBezTo>
                  <a:lnTo>
                    <a:pt x="1193800" y="1041399"/>
                  </a:lnTo>
                  <a:cubicBezTo>
                    <a:pt x="1193800" y="1125568"/>
                    <a:pt x="1125568" y="1193800"/>
                    <a:pt x="1041399" y="1193800"/>
                  </a:cubicBezTo>
                  <a:lnTo>
                    <a:pt x="152401" y="1193800"/>
                  </a:lnTo>
                  <a:cubicBezTo>
                    <a:pt x="68232" y="1193800"/>
                    <a:pt x="0" y="1125568"/>
                    <a:pt x="0" y="1041399"/>
                  </a:cubicBezTo>
                  <a:lnTo>
                    <a:pt x="0" y="152401"/>
                  </a:lnTo>
                  <a:cubicBezTo>
                    <a:pt x="0" y="68232"/>
                    <a:pt x="68232" y="0"/>
                    <a:pt x="152401" y="0"/>
                  </a:cubicBezTo>
                  <a:close/>
                </a:path>
              </a:pathLst>
            </a:custGeom>
            <a:solidFill>
              <a:srgbClr val="4F6A82">
                <a:alpha val="30196"/>
              </a:srgbClr>
            </a:solidFill>
            <a:ln w="25400">
              <a:solidFill>
                <a:srgbClr val="B89A6A"/>
              </a:solidFill>
              <a:prstDash val="solid"/>
            </a:ln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ext 2">
              <a:extLst>
                <a:ext uri="{FF2B5EF4-FFF2-40B4-BE49-F238E27FC236}">
                  <a16:creationId xmlns:a16="http://schemas.microsoft.com/office/drawing/2014/main" id="{D4A7DA68-1972-E211-6001-5EF3DC90CDD1}"/>
                </a:ext>
              </a:extLst>
            </p:cNvPr>
            <p:cNvSpPr/>
            <p:nvPr/>
          </p:nvSpPr>
          <p:spPr>
            <a:xfrm>
              <a:off x="633363" y="3149600"/>
              <a:ext cx="1054100" cy="901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800" b="1" dirty="0">
                  <a:solidFill>
                    <a:srgbClr val="B89A6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0</a:t>
              </a:r>
              <a:r>
                <a:rPr lang="en-US" altLang="zh-CN" sz="4800" b="1" dirty="0">
                  <a:solidFill>
                    <a:srgbClr val="B89A6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5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2813" y="611298"/>
            <a:ext cx="45281" cy="452813"/>
          </a:xfrm>
          <a:custGeom>
            <a:avLst/>
            <a:gdLst/>
            <a:ahLst/>
            <a:cxnLst/>
            <a:rect l="l" t="t" r="r" b="b"/>
            <a:pathLst>
              <a:path w="45281" h="452813">
                <a:moveTo>
                  <a:pt x="0" y="0"/>
                </a:moveTo>
                <a:lnTo>
                  <a:pt x="45281" y="0"/>
                </a:lnTo>
                <a:lnTo>
                  <a:pt x="45281" y="452813"/>
                </a:lnTo>
                <a:lnTo>
                  <a:pt x="0" y="452813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9220" y="452813"/>
            <a:ext cx="3350819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b="1" kern="0" spc="7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9220" y="769783"/>
            <a:ext cx="3464022" cy="452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09" dirty="0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核心选举场景分类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8474" y="1499944"/>
            <a:ext cx="15339053" cy="5716769"/>
          </a:xfrm>
          <a:custGeom>
            <a:avLst/>
            <a:gdLst/>
            <a:ahLst/>
            <a:cxnLst/>
            <a:rect l="l" t="t" r="r" b="b"/>
            <a:pathLst>
              <a:path w="15339053" h="5716769">
                <a:moveTo>
                  <a:pt x="135830" y="0"/>
                </a:moveTo>
                <a:lnTo>
                  <a:pt x="15203222" y="0"/>
                </a:lnTo>
                <a:cubicBezTo>
                  <a:pt x="15278240" y="0"/>
                  <a:pt x="15339053" y="60813"/>
                  <a:pt x="15339053" y="135830"/>
                </a:cubicBezTo>
                <a:lnTo>
                  <a:pt x="15339053" y="5580938"/>
                </a:lnTo>
                <a:cubicBezTo>
                  <a:pt x="15339053" y="5655955"/>
                  <a:pt x="15278240" y="5716769"/>
                  <a:pt x="15203222" y="5716769"/>
                </a:cubicBezTo>
                <a:lnTo>
                  <a:pt x="135830" y="5716769"/>
                </a:lnTo>
                <a:cubicBezTo>
                  <a:pt x="60813" y="5716769"/>
                  <a:pt x="0" y="5655955"/>
                  <a:pt x="0" y="5580938"/>
                </a:cubicBezTo>
                <a:lnTo>
                  <a:pt x="0" y="135830"/>
                </a:lnTo>
                <a:cubicBezTo>
                  <a:pt x="0" y="60864"/>
                  <a:pt x="60864" y="0"/>
                  <a:pt x="13583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4F6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4134" y="1505604"/>
          <a:ext cx="15327733" cy="5705448"/>
        </p:xfrm>
        <a:graphic>
          <a:graphicData uri="http://schemas.openxmlformats.org/drawingml/2006/table">
            <a:tbl>
              <a:tblPr/>
              <a:tblGrid>
                <a:gridCol w="269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3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08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0908">
                <a:tc>
                  <a:txBody>
                    <a:bodyPr/>
                    <a:lstStyle/>
                    <a:p>
                      <a:pPr algn="l"/>
                      <a:r>
                        <a:rPr lang="en-US" sz="1700" b="1" u="none" dirty="0">
                          <a:solidFill>
                            <a:srgbClr val="B89A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场景类型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6A8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u="none" dirty="0">
                          <a:solidFill>
                            <a:srgbClr val="B89A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具体场景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6A8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u="none" dirty="0">
                          <a:solidFill>
                            <a:srgbClr val="B89A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主要特点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6A8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u="none" dirty="0">
                          <a:solidFill>
                            <a:srgbClr val="B89A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关键机制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6A82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908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正常场景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首次启动选举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                               所有节点同时启动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 myid 优先级 选举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myid 比较过半数确认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908">
                <a:tc rowSpan="2"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故障场景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Leader 故障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                               Follower 检测到 Leader 失联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重新选举，基于 zxid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心跳检测状态转换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90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不影响 Leader 地位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数据同步状态恢复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0908">
                <a:tc rowSpan="2"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网络场景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网络分区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                               集群被分割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只有过半数分区能提供服务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过半数机制分区检测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090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解决 Leader 冲突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1D5D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Epoch 比较数据同步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8474" y="7499721"/>
            <a:ext cx="15339053" cy="1188635"/>
          </a:xfrm>
          <a:custGeom>
            <a:avLst/>
            <a:gdLst/>
            <a:ahLst/>
            <a:cxnLst/>
            <a:rect l="l" t="t" r="r" b="b"/>
            <a:pathLst>
              <a:path w="15339053" h="1188635">
                <a:moveTo>
                  <a:pt x="135849" y="0"/>
                </a:moveTo>
                <a:lnTo>
                  <a:pt x="15203204" y="0"/>
                </a:lnTo>
                <a:cubicBezTo>
                  <a:pt x="15278231" y="0"/>
                  <a:pt x="15339053" y="60822"/>
                  <a:pt x="15339053" y="135849"/>
                </a:cubicBezTo>
                <a:lnTo>
                  <a:pt x="15339053" y="1052786"/>
                </a:lnTo>
                <a:cubicBezTo>
                  <a:pt x="15339053" y="1127813"/>
                  <a:pt x="15278231" y="1188635"/>
                  <a:pt x="15203204" y="1188635"/>
                </a:cubicBezTo>
                <a:lnTo>
                  <a:pt x="135849" y="1188635"/>
                </a:lnTo>
                <a:cubicBezTo>
                  <a:pt x="60822" y="1188635"/>
                  <a:pt x="0" y="1127813"/>
                  <a:pt x="0" y="1052786"/>
                </a:cubicBezTo>
                <a:lnTo>
                  <a:pt x="0" y="135849"/>
                </a:lnTo>
                <a:cubicBezTo>
                  <a:pt x="0" y="60872"/>
                  <a:pt x="60872" y="0"/>
                  <a:pt x="135849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718841" y="7777070"/>
            <a:ext cx="226407" cy="226407"/>
          </a:xfrm>
          <a:custGeom>
            <a:avLst/>
            <a:gdLst/>
            <a:ahLst/>
            <a:cxnLst/>
            <a:rect l="l" t="t" r="r" b="b"/>
            <a:pathLst>
              <a:path w="226407" h="226407">
                <a:moveTo>
                  <a:pt x="28301" y="28301"/>
                </a:moveTo>
                <a:cubicBezTo>
                  <a:pt x="28301" y="20474"/>
                  <a:pt x="21977" y="14150"/>
                  <a:pt x="14150" y="14150"/>
                </a:cubicBezTo>
                <a:cubicBezTo>
                  <a:pt x="6323" y="14150"/>
                  <a:pt x="0" y="20474"/>
                  <a:pt x="0" y="28301"/>
                </a:cubicBezTo>
                <a:lnTo>
                  <a:pt x="0" y="176880"/>
                </a:lnTo>
                <a:cubicBezTo>
                  <a:pt x="0" y="196425"/>
                  <a:pt x="15831" y="212256"/>
                  <a:pt x="35376" y="212256"/>
                </a:cubicBezTo>
                <a:lnTo>
                  <a:pt x="212256" y="212256"/>
                </a:lnTo>
                <a:cubicBezTo>
                  <a:pt x="220083" y="212256"/>
                  <a:pt x="226407" y="205933"/>
                  <a:pt x="226407" y="198106"/>
                </a:cubicBezTo>
                <a:cubicBezTo>
                  <a:pt x="226407" y="190279"/>
                  <a:pt x="220083" y="183955"/>
                  <a:pt x="212256" y="183955"/>
                </a:cubicBezTo>
                <a:lnTo>
                  <a:pt x="35376" y="183955"/>
                </a:lnTo>
                <a:cubicBezTo>
                  <a:pt x="31485" y="183955"/>
                  <a:pt x="28301" y="180772"/>
                  <a:pt x="28301" y="176880"/>
                </a:cubicBezTo>
                <a:lnTo>
                  <a:pt x="28301" y="28301"/>
                </a:lnTo>
                <a:close/>
                <a:moveTo>
                  <a:pt x="208100" y="66595"/>
                </a:moveTo>
                <a:cubicBezTo>
                  <a:pt x="213627" y="61068"/>
                  <a:pt x="213627" y="52091"/>
                  <a:pt x="208100" y="46564"/>
                </a:cubicBezTo>
                <a:cubicBezTo>
                  <a:pt x="202572" y="41036"/>
                  <a:pt x="193595" y="41036"/>
                  <a:pt x="188068" y="46564"/>
                </a:cubicBezTo>
                <a:lnTo>
                  <a:pt x="141504" y="93172"/>
                </a:lnTo>
                <a:lnTo>
                  <a:pt x="116122" y="67834"/>
                </a:lnTo>
                <a:cubicBezTo>
                  <a:pt x="110594" y="62306"/>
                  <a:pt x="101618" y="62306"/>
                  <a:pt x="96090" y="67834"/>
                </a:cubicBezTo>
                <a:lnTo>
                  <a:pt x="53639" y="110285"/>
                </a:lnTo>
                <a:cubicBezTo>
                  <a:pt x="48111" y="115812"/>
                  <a:pt x="48111" y="124789"/>
                  <a:pt x="53639" y="130317"/>
                </a:cubicBezTo>
                <a:cubicBezTo>
                  <a:pt x="59166" y="135844"/>
                  <a:pt x="68143" y="135844"/>
                  <a:pt x="73671" y="130317"/>
                </a:cubicBezTo>
                <a:lnTo>
                  <a:pt x="106128" y="97859"/>
                </a:lnTo>
                <a:lnTo>
                  <a:pt x="131510" y="123241"/>
                </a:lnTo>
                <a:cubicBezTo>
                  <a:pt x="137038" y="128769"/>
                  <a:pt x="146015" y="128769"/>
                  <a:pt x="151542" y="123241"/>
                </a:cubicBezTo>
                <a:lnTo>
                  <a:pt x="208144" y="6664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109393" y="7731788"/>
            <a:ext cx="1471643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3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场景演化路径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90540" y="8184602"/>
            <a:ext cx="815064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首次启动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704852" y="8229883"/>
            <a:ext cx="181125" cy="181125"/>
          </a:xfrm>
          <a:custGeom>
            <a:avLst/>
            <a:gdLst/>
            <a:ahLst/>
            <a:cxnLst/>
            <a:rect l="l" t="t" r="r" b="b"/>
            <a:pathLst>
              <a:path w="181125" h="181125">
                <a:moveTo>
                  <a:pt x="177800" y="98558"/>
                </a:moveTo>
                <a:cubicBezTo>
                  <a:pt x="182222" y="94136"/>
                  <a:pt x="182222" y="86954"/>
                  <a:pt x="177800" y="82532"/>
                </a:cubicBezTo>
                <a:lnTo>
                  <a:pt x="121198" y="25931"/>
                </a:lnTo>
                <a:cubicBezTo>
                  <a:pt x="116776" y="21509"/>
                  <a:pt x="109595" y="21509"/>
                  <a:pt x="105173" y="25931"/>
                </a:cubicBezTo>
                <a:cubicBezTo>
                  <a:pt x="100751" y="30353"/>
                  <a:pt x="100751" y="37534"/>
                  <a:pt x="105173" y="41956"/>
                </a:cubicBezTo>
                <a:lnTo>
                  <a:pt x="142459" y="79242"/>
                </a:lnTo>
                <a:lnTo>
                  <a:pt x="11320" y="79242"/>
                </a:lnTo>
                <a:cubicBezTo>
                  <a:pt x="5059" y="79242"/>
                  <a:pt x="0" y="84301"/>
                  <a:pt x="0" y="90563"/>
                </a:cubicBezTo>
                <a:cubicBezTo>
                  <a:pt x="0" y="96824"/>
                  <a:pt x="5059" y="101883"/>
                  <a:pt x="11320" y="101883"/>
                </a:cubicBezTo>
                <a:lnTo>
                  <a:pt x="142459" y="101883"/>
                </a:lnTo>
                <a:lnTo>
                  <a:pt x="105173" y="139169"/>
                </a:lnTo>
                <a:cubicBezTo>
                  <a:pt x="100751" y="143591"/>
                  <a:pt x="100751" y="150773"/>
                  <a:pt x="105173" y="155195"/>
                </a:cubicBezTo>
                <a:cubicBezTo>
                  <a:pt x="109595" y="159617"/>
                  <a:pt x="116776" y="159617"/>
                  <a:pt x="121198" y="155195"/>
                </a:cubicBezTo>
                <a:lnTo>
                  <a:pt x="177800" y="98593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4175788" y="8184602"/>
            <a:ext cx="815064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正常服务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90100" y="8229883"/>
            <a:ext cx="181125" cy="181125"/>
          </a:xfrm>
          <a:custGeom>
            <a:avLst/>
            <a:gdLst/>
            <a:ahLst/>
            <a:cxnLst/>
            <a:rect l="l" t="t" r="r" b="b"/>
            <a:pathLst>
              <a:path w="181125" h="181125">
                <a:moveTo>
                  <a:pt x="177800" y="98558"/>
                </a:moveTo>
                <a:cubicBezTo>
                  <a:pt x="182222" y="94136"/>
                  <a:pt x="182222" y="86954"/>
                  <a:pt x="177800" y="82532"/>
                </a:cubicBezTo>
                <a:lnTo>
                  <a:pt x="121198" y="25931"/>
                </a:lnTo>
                <a:cubicBezTo>
                  <a:pt x="116776" y="21509"/>
                  <a:pt x="109595" y="21509"/>
                  <a:pt x="105173" y="25931"/>
                </a:cubicBezTo>
                <a:cubicBezTo>
                  <a:pt x="100751" y="30353"/>
                  <a:pt x="100751" y="37534"/>
                  <a:pt x="105173" y="41956"/>
                </a:cubicBezTo>
                <a:lnTo>
                  <a:pt x="142459" y="79242"/>
                </a:lnTo>
                <a:lnTo>
                  <a:pt x="11320" y="79242"/>
                </a:lnTo>
                <a:cubicBezTo>
                  <a:pt x="5059" y="79242"/>
                  <a:pt x="0" y="84301"/>
                  <a:pt x="0" y="90563"/>
                </a:cubicBezTo>
                <a:cubicBezTo>
                  <a:pt x="0" y="96824"/>
                  <a:pt x="5059" y="101883"/>
                  <a:pt x="11320" y="101883"/>
                </a:cubicBezTo>
                <a:lnTo>
                  <a:pt x="142459" y="101883"/>
                </a:lnTo>
                <a:lnTo>
                  <a:pt x="105173" y="139169"/>
                </a:lnTo>
                <a:cubicBezTo>
                  <a:pt x="100751" y="143591"/>
                  <a:pt x="100751" y="150773"/>
                  <a:pt x="105173" y="155195"/>
                </a:cubicBezTo>
                <a:cubicBezTo>
                  <a:pt x="109595" y="159617"/>
                  <a:pt x="116776" y="159617"/>
                  <a:pt x="121198" y="155195"/>
                </a:cubicBezTo>
                <a:lnTo>
                  <a:pt x="177800" y="98593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7661036" y="8184602"/>
            <a:ext cx="1030150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Leader故障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889462" y="8229883"/>
            <a:ext cx="181125" cy="181125"/>
          </a:xfrm>
          <a:custGeom>
            <a:avLst/>
            <a:gdLst/>
            <a:ahLst/>
            <a:cxnLst/>
            <a:rect l="l" t="t" r="r" b="b"/>
            <a:pathLst>
              <a:path w="181125" h="181125">
                <a:moveTo>
                  <a:pt x="177800" y="98558"/>
                </a:moveTo>
                <a:cubicBezTo>
                  <a:pt x="182222" y="94136"/>
                  <a:pt x="182222" y="86954"/>
                  <a:pt x="177800" y="82532"/>
                </a:cubicBezTo>
                <a:lnTo>
                  <a:pt x="121198" y="25931"/>
                </a:lnTo>
                <a:cubicBezTo>
                  <a:pt x="116776" y="21509"/>
                  <a:pt x="109595" y="21509"/>
                  <a:pt x="105173" y="25931"/>
                </a:cubicBezTo>
                <a:cubicBezTo>
                  <a:pt x="100751" y="30353"/>
                  <a:pt x="100751" y="37534"/>
                  <a:pt x="105173" y="41956"/>
                </a:cubicBezTo>
                <a:lnTo>
                  <a:pt x="142459" y="79242"/>
                </a:lnTo>
                <a:lnTo>
                  <a:pt x="11320" y="79242"/>
                </a:lnTo>
                <a:cubicBezTo>
                  <a:pt x="5059" y="79242"/>
                  <a:pt x="0" y="84301"/>
                  <a:pt x="0" y="90563"/>
                </a:cubicBezTo>
                <a:cubicBezTo>
                  <a:pt x="0" y="96824"/>
                  <a:pt x="5059" y="101883"/>
                  <a:pt x="11320" y="101883"/>
                </a:cubicBezTo>
                <a:lnTo>
                  <a:pt x="142459" y="101883"/>
                </a:lnTo>
                <a:lnTo>
                  <a:pt x="105173" y="139169"/>
                </a:lnTo>
                <a:cubicBezTo>
                  <a:pt x="100751" y="143591"/>
                  <a:pt x="100751" y="150773"/>
                  <a:pt x="105173" y="155195"/>
                </a:cubicBezTo>
                <a:cubicBezTo>
                  <a:pt x="109595" y="159617"/>
                  <a:pt x="116776" y="159617"/>
                  <a:pt x="121198" y="155195"/>
                </a:cubicBezTo>
                <a:lnTo>
                  <a:pt x="177800" y="98593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11360398" y="8184602"/>
            <a:ext cx="815064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重新选举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3374710" y="8229883"/>
            <a:ext cx="181125" cy="181125"/>
          </a:xfrm>
          <a:custGeom>
            <a:avLst/>
            <a:gdLst/>
            <a:ahLst/>
            <a:cxnLst/>
            <a:rect l="l" t="t" r="r" b="b"/>
            <a:pathLst>
              <a:path w="181125" h="181125">
                <a:moveTo>
                  <a:pt x="177800" y="98558"/>
                </a:moveTo>
                <a:cubicBezTo>
                  <a:pt x="182222" y="94136"/>
                  <a:pt x="182222" y="86954"/>
                  <a:pt x="177800" y="82532"/>
                </a:cubicBezTo>
                <a:lnTo>
                  <a:pt x="121198" y="25931"/>
                </a:lnTo>
                <a:cubicBezTo>
                  <a:pt x="116776" y="21509"/>
                  <a:pt x="109595" y="21509"/>
                  <a:pt x="105173" y="25931"/>
                </a:cubicBezTo>
                <a:cubicBezTo>
                  <a:pt x="100751" y="30353"/>
                  <a:pt x="100751" y="37534"/>
                  <a:pt x="105173" y="41956"/>
                </a:cubicBezTo>
                <a:lnTo>
                  <a:pt x="142459" y="79242"/>
                </a:lnTo>
                <a:lnTo>
                  <a:pt x="11320" y="79242"/>
                </a:lnTo>
                <a:cubicBezTo>
                  <a:pt x="5059" y="79242"/>
                  <a:pt x="0" y="84301"/>
                  <a:pt x="0" y="90563"/>
                </a:cubicBezTo>
                <a:cubicBezTo>
                  <a:pt x="0" y="96824"/>
                  <a:pt x="5059" y="101883"/>
                  <a:pt x="11320" y="101883"/>
                </a:cubicBezTo>
                <a:lnTo>
                  <a:pt x="142459" y="101883"/>
                </a:lnTo>
                <a:lnTo>
                  <a:pt x="105173" y="139169"/>
                </a:lnTo>
                <a:cubicBezTo>
                  <a:pt x="100751" y="143591"/>
                  <a:pt x="100751" y="150773"/>
                  <a:pt x="105173" y="155195"/>
                </a:cubicBezTo>
                <a:cubicBezTo>
                  <a:pt x="109595" y="159617"/>
                  <a:pt x="116776" y="159617"/>
                  <a:pt x="121198" y="155195"/>
                </a:cubicBezTo>
                <a:lnTo>
                  <a:pt x="177800" y="98593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14845646" y="8184602"/>
            <a:ext cx="815064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服务恢复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201" y="579422"/>
            <a:ext cx="42920" cy="429201"/>
          </a:xfrm>
          <a:custGeom>
            <a:avLst/>
            <a:gdLst/>
            <a:ahLst/>
            <a:cxnLst/>
            <a:rect l="l" t="t" r="r" b="b"/>
            <a:pathLst>
              <a:path w="42920" h="429201">
                <a:moveTo>
                  <a:pt x="0" y="0"/>
                </a:moveTo>
                <a:lnTo>
                  <a:pt x="42920" y="0"/>
                </a:lnTo>
                <a:lnTo>
                  <a:pt x="42920" y="429201"/>
                </a:lnTo>
                <a:lnTo>
                  <a:pt x="0" y="429201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3802" y="429201"/>
            <a:ext cx="3948652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2" b="1" kern="0" spc="68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DECISION FACTORS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3802" y="729642"/>
            <a:ext cx="4055952" cy="429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42" dirty="0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选举决策因素及优先级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0661" y="1502205"/>
            <a:ext cx="42920" cy="1995786"/>
          </a:xfrm>
          <a:custGeom>
            <a:avLst/>
            <a:gdLst/>
            <a:ahLst/>
            <a:cxnLst/>
            <a:rect l="l" t="t" r="r" b="b"/>
            <a:pathLst>
              <a:path w="42920" h="1995786">
                <a:moveTo>
                  <a:pt x="0" y="0"/>
                </a:moveTo>
                <a:lnTo>
                  <a:pt x="42920" y="0"/>
                </a:lnTo>
                <a:lnTo>
                  <a:pt x="42920" y="1995786"/>
                </a:lnTo>
                <a:lnTo>
                  <a:pt x="0" y="1995786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29642" y="1502205"/>
            <a:ext cx="461391" cy="51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55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4453" y="1566585"/>
            <a:ext cx="2253307" cy="38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535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electionEpoch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9642" y="2188927"/>
            <a:ext cx="7317883" cy="300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1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选举轮次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9642" y="2618128"/>
            <a:ext cx="7307152" cy="278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2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优先级最高</a:t>
            </a:r>
            <a:r>
              <a:rPr lang="en-US" sz="1352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，确保同一轮选举的投票才具有可比性，防止不同轮次的投票相互干扰。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9642" y="3025869"/>
            <a:ext cx="7221312" cy="472121"/>
          </a:xfrm>
          <a:custGeom>
            <a:avLst/>
            <a:gdLst/>
            <a:ahLst/>
            <a:cxnLst/>
            <a:rect l="l" t="t" r="r" b="b"/>
            <a:pathLst>
              <a:path w="7221312" h="472121">
                <a:moveTo>
                  <a:pt x="85841" y="0"/>
                </a:moveTo>
                <a:lnTo>
                  <a:pt x="7135471" y="0"/>
                </a:lnTo>
                <a:cubicBezTo>
                  <a:pt x="7182880" y="0"/>
                  <a:pt x="7221312" y="38432"/>
                  <a:pt x="7221312" y="85841"/>
                </a:cubicBezTo>
                <a:lnTo>
                  <a:pt x="7221312" y="386280"/>
                </a:lnTo>
                <a:cubicBezTo>
                  <a:pt x="7221312" y="433689"/>
                  <a:pt x="7182880" y="472121"/>
                  <a:pt x="7135471" y="472121"/>
                </a:cubicBezTo>
                <a:lnTo>
                  <a:pt x="85841" y="472121"/>
                </a:lnTo>
                <a:cubicBezTo>
                  <a:pt x="38464" y="472121"/>
                  <a:pt x="0" y="433657"/>
                  <a:pt x="0" y="386280"/>
                </a:cubicBezTo>
                <a:lnTo>
                  <a:pt x="0" y="85841"/>
                </a:lnTo>
                <a:cubicBezTo>
                  <a:pt x="0" y="38464"/>
                  <a:pt x="38464" y="0"/>
                  <a:pt x="85841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58403" y="3154630"/>
            <a:ext cx="7038902" cy="214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确保选举的</a:t>
            </a:r>
            <a:r>
              <a:rPr lang="en-US" sz="1183" b="1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时序性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19296" y="1502205"/>
            <a:ext cx="42920" cy="1995786"/>
          </a:xfrm>
          <a:custGeom>
            <a:avLst/>
            <a:gdLst/>
            <a:ahLst/>
            <a:cxnLst/>
            <a:rect l="l" t="t" r="r" b="b"/>
            <a:pathLst>
              <a:path w="42920" h="1995786">
                <a:moveTo>
                  <a:pt x="0" y="0"/>
                </a:moveTo>
                <a:lnTo>
                  <a:pt x="42920" y="0"/>
                </a:lnTo>
                <a:lnTo>
                  <a:pt x="42920" y="1995786"/>
                </a:lnTo>
                <a:lnTo>
                  <a:pt x="0" y="1995786"/>
                </a:lnTo>
                <a:lnTo>
                  <a:pt x="0" y="0"/>
                </a:ln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598277" y="1502205"/>
            <a:ext cx="557962" cy="51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55" b="1" dirty="0">
                <a:solidFill>
                  <a:srgbClr val="4F6A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26305" y="1566585"/>
            <a:ext cx="1759725" cy="38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535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peerEpoch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98277" y="2188927"/>
            <a:ext cx="7317883" cy="300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1" b="1" dirty="0">
                <a:solidFill>
                  <a:srgbClr val="4F6A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节点轮次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8277" y="2618128"/>
            <a:ext cx="7307152" cy="278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2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反映节点的</a:t>
            </a:r>
            <a:r>
              <a:rPr lang="en-US" sz="1352" b="1" dirty="0">
                <a:solidFill>
                  <a:srgbClr val="4F6A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数据版本新旧</a:t>
            </a:r>
            <a:r>
              <a:rPr lang="en-US" sz="1352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，数值越大优先级越高，确保选择拥有较新数据的节点。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98277" y="3025869"/>
            <a:ext cx="7221312" cy="472121"/>
          </a:xfrm>
          <a:custGeom>
            <a:avLst/>
            <a:gdLst/>
            <a:ahLst/>
            <a:cxnLst/>
            <a:rect l="l" t="t" r="r" b="b"/>
            <a:pathLst>
              <a:path w="7221312" h="472121">
                <a:moveTo>
                  <a:pt x="85841" y="0"/>
                </a:moveTo>
                <a:lnTo>
                  <a:pt x="7135471" y="0"/>
                </a:lnTo>
                <a:cubicBezTo>
                  <a:pt x="7182880" y="0"/>
                  <a:pt x="7221312" y="38432"/>
                  <a:pt x="7221312" y="85841"/>
                </a:cubicBezTo>
                <a:lnTo>
                  <a:pt x="7221312" y="386280"/>
                </a:lnTo>
                <a:cubicBezTo>
                  <a:pt x="7221312" y="433689"/>
                  <a:pt x="7182880" y="472121"/>
                  <a:pt x="7135471" y="472121"/>
                </a:cubicBezTo>
                <a:lnTo>
                  <a:pt x="85841" y="472121"/>
                </a:lnTo>
                <a:cubicBezTo>
                  <a:pt x="38464" y="472121"/>
                  <a:pt x="0" y="433657"/>
                  <a:pt x="0" y="386280"/>
                </a:cubicBezTo>
                <a:lnTo>
                  <a:pt x="0" y="85841"/>
                </a:lnTo>
                <a:cubicBezTo>
                  <a:pt x="0" y="38464"/>
                  <a:pt x="38464" y="0"/>
                  <a:pt x="85841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727038" y="3154630"/>
            <a:ext cx="7038902" cy="214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保证</a:t>
            </a:r>
            <a:r>
              <a:rPr lang="en-US" sz="1183" b="1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数据一致性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0661" y="3841352"/>
            <a:ext cx="42920" cy="1995786"/>
          </a:xfrm>
          <a:custGeom>
            <a:avLst/>
            <a:gdLst/>
            <a:ahLst/>
            <a:cxnLst/>
            <a:rect l="l" t="t" r="r" b="b"/>
            <a:pathLst>
              <a:path w="42920" h="1995786">
                <a:moveTo>
                  <a:pt x="0" y="0"/>
                </a:moveTo>
                <a:lnTo>
                  <a:pt x="42920" y="0"/>
                </a:lnTo>
                <a:lnTo>
                  <a:pt x="42920" y="1995786"/>
                </a:lnTo>
                <a:lnTo>
                  <a:pt x="0" y="1995786"/>
                </a:lnTo>
                <a:lnTo>
                  <a:pt x="0" y="0"/>
                </a:lnTo>
                <a:close/>
              </a:path>
            </a:pathLst>
          </a:custGeom>
          <a:solidFill>
            <a:srgbClr val="3E5C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29642" y="3841352"/>
            <a:ext cx="557962" cy="51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55" b="1" dirty="0">
                <a:solidFill>
                  <a:srgbClr val="3E5C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62281" y="3905732"/>
            <a:ext cx="740372" cy="38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535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zxid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9642" y="4528074"/>
            <a:ext cx="7317883" cy="300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1" b="1" dirty="0">
                <a:solidFill>
                  <a:srgbClr val="3E5C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事务 ID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9642" y="4957275"/>
            <a:ext cx="7307152" cy="278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2" b="1" dirty="0">
                <a:solidFill>
                  <a:srgbClr val="3E5C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64 位</a:t>
            </a:r>
            <a:r>
              <a:rPr lang="en-US" sz="1352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事务标识符，数值越大优先级越高，确保选择拥有最新数据的节点作为 Leader。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9642" y="5365017"/>
            <a:ext cx="7221312" cy="472121"/>
          </a:xfrm>
          <a:custGeom>
            <a:avLst/>
            <a:gdLst/>
            <a:ahLst/>
            <a:cxnLst/>
            <a:rect l="l" t="t" r="r" b="b"/>
            <a:pathLst>
              <a:path w="7221312" h="472121">
                <a:moveTo>
                  <a:pt x="85841" y="0"/>
                </a:moveTo>
                <a:lnTo>
                  <a:pt x="7135471" y="0"/>
                </a:lnTo>
                <a:cubicBezTo>
                  <a:pt x="7182880" y="0"/>
                  <a:pt x="7221312" y="38432"/>
                  <a:pt x="7221312" y="85841"/>
                </a:cubicBezTo>
                <a:lnTo>
                  <a:pt x="7221312" y="386280"/>
                </a:lnTo>
                <a:cubicBezTo>
                  <a:pt x="7221312" y="433689"/>
                  <a:pt x="7182880" y="472121"/>
                  <a:pt x="7135471" y="472121"/>
                </a:cubicBezTo>
                <a:lnTo>
                  <a:pt x="85841" y="472121"/>
                </a:lnTo>
                <a:cubicBezTo>
                  <a:pt x="38464" y="472121"/>
                  <a:pt x="0" y="433657"/>
                  <a:pt x="0" y="386280"/>
                </a:cubicBezTo>
                <a:lnTo>
                  <a:pt x="0" y="85841"/>
                </a:lnTo>
                <a:cubicBezTo>
                  <a:pt x="0" y="38464"/>
                  <a:pt x="38464" y="0"/>
                  <a:pt x="85841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58403" y="5493777"/>
            <a:ext cx="7038902" cy="214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</a:t>
            </a:r>
            <a:r>
              <a:rPr lang="en-US" sz="1183" b="1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完整性保证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19296" y="3841352"/>
            <a:ext cx="42920" cy="1995786"/>
          </a:xfrm>
          <a:custGeom>
            <a:avLst/>
            <a:gdLst/>
            <a:ahLst/>
            <a:cxnLst/>
            <a:rect l="l" t="t" r="r" b="b"/>
            <a:pathLst>
              <a:path w="42920" h="1995786">
                <a:moveTo>
                  <a:pt x="0" y="0"/>
                </a:moveTo>
                <a:lnTo>
                  <a:pt x="42920" y="0"/>
                </a:lnTo>
                <a:lnTo>
                  <a:pt x="42920" y="1995786"/>
                </a:lnTo>
                <a:lnTo>
                  <a:pt x="0" y="1995786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598277" y="3841352"/>
            <a:ext cx="557962" cy="51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55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30413" y="3905732"/>
            <a:ext cx="879863" cy="38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535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myid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98277" y="4528074"/>
            <a:ext cx="7317883" cy="300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1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ID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98277" y="4957275"/>
            <a:ext cx="7307152" cy="278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2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节点标识符，数值越大优先级越高，用于</a:t>
            </a:r>
            <a:r>
              <a:rPr lang="en-US" sz="1352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打破平局</a:t>
            </a:r>
            <a:r>
              <a:rPr lang="en-US" sz="1352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，确保选举结果的确定性。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98277" y="5365017"/>
            <a:ext cx="7221312" cy="472121"/>
          </a:xfrm>
          <a:custGeom>
            <a:avLst/>
            <a:gdLst/>
            <a:ahLst/>
            <a:cxnLst/>
            <a:rect l="l" t="t" r="r" b="b"/>
            <a:pathLst>
              <a:path w="7221312" h="472121">
                <a:moveTo>
                  <a:pt x="85841" y="0"/>
                </a:moveTo>
                <a:lnTo>
                  <a:pt x="7135471" y="0"/>
                </a:lnTo>
                <a:cubicBezTo>
                  <a:pt x="7182880" y="0"/>
                  <a:pt x="7221312" y="38432"/>
                  <a:pt x="7221312" y="85841"/>
                </a:cubicBezTo>
                <a:lnTo>
                  <a:pt x="7221312" y="386280"/>
                </a:lnTo>
                <a:cubicBezTo>
                  <a:pt x="7221312" y="433689"/>
                  <a:pt x="7182880" y="472121"/>
                  <a:pt x="7135471" y="472121"/>
                </a:cubicBezTo>
                <a:lnTo>
                  <a:pt x="85841" y="472121"/>
                </a:lnTo>
                <a:cubicBezTo>
                  <a:pt x="38464" y="472121"/>
                  <a:pt x="0" y="433657"/>
                  <a:pt x="0" y="386280"/>
                </a:cubicBezTo>
                <a:lnTo>
                  <a:pt x="0" y="85841"/>
                </a:lnTo>
                <a:cubicBezTo>
                  <a:pt x="0" y="38464"/>
                  <a:pt x="38464" y="0"/>
                  <a:pt x="85841" y="0"/>
                </a:cubicBezTo>
                <a:close/>
              </a:path>
            </a:pathLst>
          </a:custGeom>
          <a:solidFill>
            <a:srgbClr val="4F6A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727038" y="5493777"/>
            <a:ext cx="7038902" cy="214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确保结果的</a:t>
            </a:r>
            <a:r>
              <a:rPr lang="en-US" sz="1183" b="1" dirty="0">
                <a:solidFill>
                  <a:srgbClr val="D1D5D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确定性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9931" y="6191229"/>
            <a:ext cx="15376137" cy="1952866"/>
          </a:xfrm>
          <a:custGeom>
            <a:avLst/>
            <a:gdLst/>
            <a:ahLst/>
            <a:cxnLst/>
            <a:rect l="l" t="t" r="r" b="b"/>
            <a:pathLst>
              <a:path w="15376137" h="1952866">
                <a:moveTo>
                  <a:pt x="128752" y="0"/>
                </a:moveTo>
                <a:lnTo>
                  <a:pt x="15247385" y="0"/>
                </a:lnTo>
                <a:cubicBezTo>
                  <a:pt x="15318493" y="0"/>
                  <a:pt x="15376137" y="57644"/>
                  <a:pt x="15376137" y="128752"/>
                </a:cubicBezTo>
                <a:lnTo>
                  <a:pt x="15376137" y="1824114"/>
                </a:lnTo>
                <a:cubicBezTo>
                  <a:pt x="15376137" y="1895222"/>
                  <a:pt x="15318493" y="1952866"/>
                  <a:pt x="15247385" y="1952866"/>
                </a:cubicBezTo>
                <a:lnTo>
                  <a:pt x="128752" y="1952866"/>
                </a:lnTo>
                <a:cubicBezTo>
                  <a:pt x="57644" y="1952866"/>
                  <a:pt x="0" y="1895222"/>
                  <a:pt x="0" y="1824114"/>
                </a:cubicBezTo>
                <a:lnTo>
                  <a:pt x="0" y="128752"/>
                </a:lnTo>
                <a:cubicBezTo>
                  <a:pt x="0" y="57692"/>
                  <a:pt x="57692" y="0"/>
                  <a:pt x="128752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  <a:ln w="25400">
            <a:solidFill>
              <a:srgbClr val="B89A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740372" y="6502400"/>
            <a:ext cx="257521" cy="257521"/>
          </a:xfrm>
          <a:custGeom>
            <a:avLst/>
            <a:gdLst/>
            <a:ahLst/>
            <a:cxnLst/>
            <a:rect l="l" t="t" r="r" b="b"/>
            <a:pathLst>
              <a:path w="257521" h="257521">
                <a:moveTo>
                  <a:pt x="96570" y="32190"/>
                </a:moveTo>
                <a:cubicBezTo>
                  <a:pt x="96570" y="23288"/>
                  <a:pt x="103763" y="16095"/>
                  <a:pt x="112665" y="16095"/>
                </a:cubicBezTo>
                <a:lnTo>
                  <a:pt x="144855" y="16095"/>
                </a:lnTo>
                <a:cubicBezTo>
                  <a:pt x="153758" y="16095"/>
                  <a:pt x="160950" y="23288"/>
                  <a:pt x="160950" y="32190"/>
                </a:cubicBezTo>
                <a:lnTo>
                  <a:pt x="160950" y="64380"/>
                </a:lnTo>
                <a:cubicBezTo>
                  <a:pt x="160950" y="73283"/>
                  <a:pt x="153758" y="80475"/>
                  <a:pt x="144855" y="80475"/>
                </a:cubicBezTo>
                <a:lnTo>
                  <a:pt x="140832" y="80475"/>
                </a:lnTo>
                <a:lnTo>
                  <a:pt x="140832" y="112665"/>
                </a:lnTo>
                <a:lnTo>
                  <a:pt x="201188" y="112665"/>
                </a:lnTo>
                <a:cubicBezTo>
                  <a:pt x="221206" y="112665"/>
                  <a:pt x="237402" y="128861"/>
                  <a:pt x="237402" y="148879"/>
                </a:cubicBezTo>
                <a:lnTo>
                  <a:pt x="237402" y="177046"/>
                </a:lnTo>
                <a:lnTo>
                  <a:pt x="241426" y="177046"/>
                </a:lnTo>
                <a:cubicBezTo>
                  <a:pt x="250328" y="177046"/>
                  <a:pt x="257521" y="184238"/>
                  <a:pt x="257521" y="193141"/>
                </a:cubicBezTo>
                <a:lnTo>
                  <a:pt x="257521" y="225331"/>
                </a:lnTo>
                <a:cubicBezTo>
                  <a:pt x="257521" y="234233"/>
                  <a:pt x="250328" y="241426"/>
                  <a:pt x="241426" y="241426"/>
                </a:cubicBezTo>
                <a:lnTo>
                  <a:pt x="209236" y="241426"/>
                </a:lnTo>
                <a:cubicBezTo>
                  <a:pt x="200333" y="241426"/>
                  <a:pt x="193141" y="234233"/>
                  <a:pt x="193141" y="225331"/>
                </a:cubicBezTo>
                <a:lnTo>
                  <a:pt x="193141" y="193141"/>
                </a:lnTo>
                <a:cubicBezTo>
                  <a:pt x="193141" y="184238"/>
                  <a:pt x="200333" y="177046"/>
                  <a:pt x="209236" y="177046"/>
                </a:cubicBezTo>
                <a:lnTo>
                  <a:pt x="213259" y="177046"/>
                </a:lnTo>
                <a:lnTo>
                  <a:pt x="213259" y="148879"/>
                </a:lnTo>
                <a:cubicBezTo>
                  <a:pt x="213259" y="142190"/>
                  <a:pt x="207878" y="136808"/>
                  <a:pt x="201188" y="136808"/>
                </a:cubicBezTo>
                <a:lnTo>
                  <a:pt x="140832" y="136808"/>
                </a:lnTo>
                <a:lnTo>
                  <a:pt x="140832" y="177046"/>
                </a:lnTo>
                <a:lnTo>
                  <a:pt x="144855" y="177046"/>
                </a:lnTo>
                <a:cubicBezTo>
                  <a:pt x="153758" y="177046"/>
                  <a:pt x="160950" y="184238"/>
                  <a:pt x="160950" y="193141"/>
                </a:cubicBezTo>
                <a:lnTo>
                  <a:pt x="160950" y="225331"/>
                </a:lnTo>
                <a:cubicBezTo>
                  <a:pt x="160950" y="234233"/>
                  <a:pt x="153758" y="241426"/>
                  <a:pt x="144855" y="241426"/>
                </a:cubicBezTo>
                <a:lnTo>
                  <a:pt x="112665" y="241426"/>
                </a:lnTo>
                <a:cubicBezTo>
                  <a:pt x="103763" y="241426"/>
                  <a:pt x="96570" y="234233"/>
                  <a:pt x="96570" y="225331"/>
                </a:cubicBezTo>
                <a:lnTo>
                  <a:pt x="96570" y="193141"/>
                </a:lnTo>
                <a:cubicBezTo>
                  <a:pt x="96570" y="184238"/>
                  <a:pt x="103763" y="177046"/>
                  <a:pt x="112665" y="177046"/>
                </a:cubicBezTo>
                <a:lnTo>
                  <a:pt x="116689" y="177046"/>
                </a:lnTo>
                <a:lnTo>
                  <a:pt x="116689" y="136808"/>
                </a:lnTo>
                <a:lnTo>
                  <a:pt x="56333" y="136808"/>
                </a:lnTo>
                <a:cubicBezTo>
                  <a:pt x="49643" y="136808"/>
                  <a:pt x="44261" y="142190"/>
                  <a:pt x="44261" y="148879"/>
                </a:cubicBezTo>
                <a:lnTo>
                  <a:pt x="44261" y="177046"/>
                </a:lnTo>
                <a:lnTo>
                  <a:pt x="48285" y="177046"/>
                </a:lnTo>
                <a:cubicBezTo>
                  <a:pt x="57188" y="177046"/>
                  <a:pt x="64380" y="184238"/>
                  <a:pt x="64380" y="193141"/>
                </a:cubicBezTo>
                <a:lnTo>
                  <a:pt x="64380" y="225331"/>
                </a:lnTo>
                <a:cubicBezTo>
                  <a:pt x="64380" y="234233"/>
                  <a:pt x="57188" y="241426"/>
                  <a:pt x="48285" y="241426"/>
                </a:cubicBezTo>
                <a:lnTo>
                  <a:pt x="16095" y="241426"/>
                </a:lnTo>
                <a:cubicBezTo>
                  <a:pt x="7192" y="241426"/>
                  <a:pt x="0" y="234233"/>
                  <a:pt x="0" y="225331"/>
                </a:cubicBezTo>
                <a:lnTo>
                  <a:pt x="0" y="193141"/>
                </a:lnTo>
                <a:cubicBezTo>
                  <a:pt x="0" y="184238"/>
                  <a:pt x="7192" y="177046"/>
                  <a:pt x="16095" y="177046"/>
                </a:cubicBezTo>
                <a:lnTo>
                  <a:pt x="20119" y="177046"/>
                </a:lnTo>
                <a:lnTo>
                  <a:pt x="20119" y="148879"/>
                </a:lnTo>
                <a:cubicBezTo>
                  <a:pt x="20119" y="128861"/>
                  <a:pt x="36314" y="112665"/>
                  <a:pt x="56333" y="112665"/>
                </a:cubicBezTo>
                <a:lnTo>
                  <a:pt x="116689" y="112665"/>
                </a:lnTo>
                <a:lnTo>
                  <a:pt x="116689" y="80475"/>
                </a:lnTo>
                <a:lnTo>
                  <a:pt x="112665" y="80475"/>
                </a:lnTo>
                <a:cubicBezTo>
                  <a:pt x="103763" y="80475"/>
                  <a:pt x="96570" y="73283"/>
                  <a:pt x="96570" y="64380"/>
                </a:cubicBezTo>
                <a:lnTo>
                  <a:pt x="96570" y="3219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158844" y="6459480"/>
            <a:ext cx="1673885" cy="343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28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应用场景分析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9897" y="6974521"/>
            <a:ext cx="4871435" cy="300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21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集群启动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5262" y="7360803"/>
            <a:ext cx="4860705" cy="51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2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主要依赖 </a:t>
            </a:r>
            <a:r>
              <a:rPr lang="en-US" sz="1352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myid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52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（数据相同时）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691025" y="6974521"/>
            <a:ext cx="4871435" cy="300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21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故障恢复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696390" y="7360803"/>
            <a:ext cx="4860705" cy="51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2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主要依赖 </a:t>
            </a:r>
            <a:r>
              <a:rPr lang="en-US" sz="1352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zxid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52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（选择数据最新节点）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722237" y="6974521"/>
            <a:ext cx="4871435" cy="300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21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网络分区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727602" y="7360803"/>
            <a:ext cx="4860705" cy="51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2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依赖 </a:t>
            </a:r>
            <a:r>
              <a:rPr lang="en-US" sz="1352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过半数原则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52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 peerEpoch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858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284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63600"/>
            <a:ext cx="2971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D1D5D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关键学习要点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778000"/>
            <a:ext cx="50800" cy="1358900"/>
          </a:xfrm>
          <a:custGeom>
            <a:avLst/>
            <a:gdLst/>
            <a:ahLst/>
            <a:cxnLst/>
            <a:rect l="l" t="t" r="r" b="b"/>
            <a:pathLst>
              <a:path w="50800" h="1358900">
                <a:moveTo>
                  <a:pt x="0" y="0"/>
                </a:moveTo>
                <a:lnTo>
                  <a:pt x="50800" y="0"/>
                </a:lnTo>
                <a:lnTo>
                  <a:pt x="50800" y="1358900"/>
                </a:lnTo>
                <a:lnTo>
                  <a:pt x="0" y="13589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66775" y="17907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38125" y="11906"/>
                </a:moveTo>
                <a:cubicBezTo>
                  <a:pt x="280838" y="11906"/>
                  <a:pt x="315516" y="46584"/>
                  <a:pt x="315516" y="89297"/>
                </a:cubicBezTo>
                <a:cubicBezTo>
                  <a:pt x="315516" y="132010"/>
                  <a:pt x="280838" y="166688"/>
                  <a:pt x="238125" y="166688"/>
                </a:cubicBezTo>
                <a:cubicBezTo>
                  <a:pt x="195412" y="166688"/>
                  <a:pt x="160734" y="132010"/>
                  <a:pt x="160734" y="89297"/>
                </a:cubicBezTo>
                <a:cubicBezTo>
                  <a:pt x="160734" y="46584"/>
                  <a:pt x="195412" y="11906"/>
                  <a:pt x="238125" y="11906"/>
                </a:cubicBezTo>
                <a:close/>
                <a:moveTo>
                  <a:pt x="71438" y="65484"/>
                </a:moveTo>
                <a:cubicBezTo>
                  <a:pt x="101008" y="65484"/>
                  <a:pt x="125016" y="89492"/>
                  <a:pt x="125016" y="119063"/>
                </a:cubicBezTo>
                <a:cubicBezTo>
                  <a:pt x="125016" y="148633"/>
                  <a:pt x="101008" y="172641"/>
                  <a:pt x="71438" y="172641"/>
                </a:cubicBezTo>
                <a:cubicBezTo>
                  <a:pt x="41867" y="172641"/>
                  <a:pt x="17859" y="148633"/>
                  <a:pt x="17859" y="119063"/>
                </a:cubicBezTo>
                <a:cubicBezTo>
                  <a:pt x="17859" y="89492"/>
                  <a:pt x="41867" y="65484"/>
                  <a:pt x="71437" y="65484"/>
                </a:cubicBezTo>
                <a:close/>
                <a:moveTo>
                  <a:pt x="0" y="309563"/>
                </a:moveTo>
                <a:cubicBezTo>
                  <a:pt x="0" y="256952"/>
                  <a:pt x="42639" y="214313"/>
                  <a:pt x="95250" y="214313"/>
                </a:cubicBezTo>
                <a:cubicBezTo>
                  <a:pt x="104775" y="214313"/>
                  <a:pt x="114002" y="215726"/>
                  <a:pt x="122709" y="218331"/>
                </a:cubicBezTo>
                <a:cubicBezTo>
                  <a:pt x="98227" y="245715"/>
                  <a:pt x="83344" y="281880"/>
                  <a:pt x="83344" y="321469"/>
                </a:cubicBezTo>
                <a:lnTo>
                  <a:pt x="83344" y="333375"/>
                </a:lnTo>
                <a:cubicBezTo>
                  <a:pt x="83344" y="341858"/>
                  <a:pt x="85130" y="349895"/>
                  <a:pt x="88329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309563"/>
                </a:lnTo>
                <a:close/>
                <a:moveTo>
                  <a:pt x="387921" y="357188"/>
                </a:moveTo>
                <a:cubicBezTo>
                  <a:pt x="391120" y="349895"/>
                  <a:pt x="392906" y="341858"/>
                  <a:pt x="392906" y="333375"/>
                </a:cubicBezTo>
                <a:lnTo>
                  <a:pt x="392906" y="321469"/>
                </a:lnTo>
                <a:cubicBezTo>
                  <a:pt x="392906" y="281880"/>
                  <a:pt x="378023" y="245715"/>
                  <a:pt x="353541" y="218331"/>
                </a:cubicBezTo>
                <a:cubicBezTo>
                  <a:pt x="362248" y="215726"/>
                  <a:pt x="371475" y="214313"/>
                  <a:pt x="381000" y="214313"/>
                </a:cubicBezTo>
                <a:cubicBezTo>
                  <a:pt x="433611" y="214313"/>
                  <a:pt x="476250" y="256952"/>
                  <a:pt x="476250" y="309563"/>
                </a:cubicBezTo>
                <a:lnTo>
                  <a:pt x="476250" y="333375"/>
                </a:lnTo>
                <a:cubicBezTo>
                  <a:pt x="476250" y="346546"/>
                  <a:pt x="465609" y="357188"/>
                  <a:pt x="452438" y="357188"/>
                </a:cubicBezTo>
                <a:lnTo>
                  <a:pt x="387921" y="357188"/>
                </a:lnTo>
                <a:close/>
                <a:moveTo>
                  <a:pt x="351234" y="119063"/>
                </a:moveTo>
                <a:cubicBezTo>
                  <a:pt x="351234" y="89492"/>
                  <a:pt x="375242" y="65484"/>
                  <a:pt x="404813" y="65484"/>
                </a:cubicBezTo>
                <a:cubicBezTo>
                  <a:pt x="434383" y="65484"/>
                  <a:pt x="458391" y="89492"/>
                  <a:pt x="458391" y="119062"/>
                </a:cubicBezTo>
                <a:cubicBezTo>
                  <a:pt x="458391" y="148633"/>
                  <a:pt x="434383" y="172641"/>
                  <a:pt x="404813" y="172641"/>
                </a:cubicBezTo>
                <a:cubicBezTo>
                  <a:pt x="375242" y="172641"/>
                  <a:pt x="351234" y="148633"/>
                  <a:pt x="351234" y="119063"/>
                </a:cubicBezTo>
                <a:close/>
                <a:moveTo>
                  <a:pt x="119063" y="321469"/>
                </a:moveTo>
                <a:cubicBezTo>
                  <a:pt x="119063" y="255687"/>
                  <a:pt x="172343" y="202406"/>
                  <a:pt x="238125" y="202406"/>
                </a:cubicBezTo>
                <a:cubicBezTo>
                  <a:pt x="303907" y="202406"/>
                  <a:pt x="357188" y="255687"/>
                  <a:pt x="357188" y="321469"/>
                </a:cubicBezTo>
                <a:lnTo>
                  <a:pt x="357188" y="333375"/>
                </a:lnTo>
                <a:cubicBezTo>
                  <a:pt x="357188" y="346546"/>
                  <a:pt x="346546" y="357188"/>
                  <a:pt x="333375" y="357188"/>
                </a:cubicBezTo>
                <a:lnTo>
                  <a:pt x="142875" y="357188"/>
                </a:lnTo>
                <a:cubicBezTo>
                  <a:pt x="129704" y="357188"/>
                  <a:pt x="119063" y="346546"/>
                  <a:pt x="119063" y="333375"/>
                </a:cubicBezTo>
                <a:lnTo>
                  <a:pt x="119063" y="321469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492250" y="1778000"/>
            <a:ext cx="167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过半数原则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3600" y="2387600"/>
            <a:ext cx="71755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确保集群的</a:t>
            </a:r>
            <a:r>
              <a:rPr lang="en-US" sz="18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一致性和可用性</a:t>
            </a: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，防止"脑裂"问题。只有在获得过半数节点支持时，才能形成仲裁并成为 Leader。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56600" y="1778000"/>
            <a:ext cx="50800" cy="1358900"/>
          </a:xfrm>
          <a:custGeom>
            <a:avLst/>
            <a:gdLst/>
            <a:ahLst/>
            <a:cxnLst/>
            <a:rect l="l" t="t" r="r" b="b"/>
            <a:pathLst>
              <a:path w="50800" h="1358900">
                <a:moveTo>
                  <a:pt x="0" y="0"/>
                </a:moveTo>
                <a:lnTo>
                  <a:pt x="50800" y="0"/>
                </a:lnTo>
                <a:lnTo>
                  <a:pt x="50800" y="1358900"/>
                </a:lnTo>
                <a:lnTo>
                  <a:pt x="0" y="1358900"/>
                </a:lnTo>
                <a:lnTo>
                  <a:pt x="0" y="0"/>
                </a:ln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761413" y="17907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333375" y="153144"/>
                </a:moveTo>
                <a:cubicBezTo>
                  <a:pt x="322362" y="160437"/>
                  <a:pt x="309711" y="166315"/>
                  <a:pt x="296540" y="171004"/>
                </a:cubicBezTo>
                <a:cubicBezTo>
                  <a:pt x="261565" y="183505"/>
                  <a:pt x="215652" y="190500"/>
                  <a:pt x="166688" y="190500"/>
                </a:cubicBezTo>
                <a:cubicBezTo>
                  <a:pt x="117723" y="190500"/>
                  <a:pt x="71735" y="183431"/>
                  <a:pt x="36835" y="171004"/>
                </a:cubicBezTo>
                <a:cubicBezTo>
                  <a:pt x="23738" y="166315"/>
                  <a:pt x="11013" y="160437"/>
                  <a:pt x="0" y="153144"/>
                </a:cubicBezTo>
                <a:lnTo>
                  <a:pt x="0" y="214313"/>
                </a:lnTo>
                <a:cubicBezTo>
                  <a:pt x="0" y="247204"/>
                  <a:pt x="74637" y="273844"/>
                  <a:pt x="166688" y="273844"/>
                </a:cubicBezTo>
                <a:cubicBezTo>
                  <a:pt x="258738" y="273844"/>
                  <a:pt x="333375" y="247204"/>
                  <a:pt x="333375" y="214313"/>
                </a:cubicBezTo>
                <a:lnTo>
                  <a:pt x="333375" y="153144"/>
                </a:lnTo>
                <a:close/>
                <a:moveTo>
                  <a:pt x="333375" y="95250"/>
                </a:moveTo>
                <a:lnTo>
                  <a:pt x="333375" y="59531"/>
                </a:lnTo>
                <a:cubicBezTo>
                  <a:pt x="333375" y="26640"/>
                  <a:pt x="258738" y="0"/>
                  <a:pt x="166688" y="0"/>
                </a:cubicBezTo>
                <a:cubicBezTo>
                  <a:pt x="74637" y="0"/>
                  <a:pt x="0" y="26640"/>
                  <a:pt x="0" y="59531"/>
                </a:cubicBezTo>
                <a:lnTo>
                  <a:pt x="0" y="95250"/>
                </a:lnTo>
                <a:cubicBezTo>
                  <a:pt x="0" y="128141"/>
                  <a:pt x="74637" y="154781"/>
                  <a:pt x="166688" y="154781"/>
                </a:cubicBezTo>
                <a:cubicBezTo>
                  <a:pt x="258738" y="154781"/>
                  <a:pt x="333375" y="128141"/>
                  <a:pt x="333375" y="95250"/>
                </a:cubicBezTo>
                <a:close/>
                <a:moveTo>
                  <a:pt x="296540" y="290066"/>
                </a:moveTo>
                <a:cubicBezTo>
                  <a:pt x="261640" y="302493"/>
                  <a:pt x="215726" y="309563"/>
                  <a:pt x="166688" y="309563"/>
                </a:cubicBezTo>
                <a:cubicBezTo>
                  <a:pt x="117649" y="309563"/>
                  <a:pt x="71735" y="302493"/>
                  <a:pt x="36835" y="290066"/>
                </a:cubicBezTo>
                <a:cubicBezTo>
                  <a:pt x="23738" y="285378"/>
                  <a:pt x="11013" y="279499"/>
                  <a:pt x="0" y="272207"/>
                </a:cubicBezTo>
                <a:lnTo>
                  <a:pt x="0" y="321469"/>
                </a:lnTo>
                <a:cubicBezTo>
                  <a:pt x="0" y="354360"/>
                  <a:pt x="74637" y="381000"/>
                  <a:pt x="166688" y="381000"/>
                </a:cubicBezTo>
                <a:cubicBezTo>
                  <a:pt x="258738" y="381000"/>
                  <a:pt x="333375" y="354360"/>
                  <a:pt x="333375" y="321469"/>
                </a:cubicBezTo>
                <a:lnTo>
                  <a:pt x="333375" y="272207"/>
                </a:lnTo>
                <a:cubicBezTo>
                  <a:pt x="322362" y="279499"/>
                  <a:pt x="309711" y="285378"/>
                  <a:pt x="296540" y="290066"/>
                </a:cubicBezTo>
                <a:close/>
              </a:path>
            </a:pathLst>
          </a:custGeom>
          <a:solidFill>
            <a:srgbClr val="4F6A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315450" y="177800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数据优先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0" y="2387600"/>
            <a:ext cx="71755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优先选择拥有</a:t>
            </a:r>
            <a:r>
              <a:rPr lang="en-US" sz="1800" b="1" dirty="0">
                <a:solidFill>
                  <a:srgbClr val="4F6A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最新数据</a:t>
            </a: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的节点作为 Leader。通过比较 peerEpoch 和 zxid 确保数据完整性和一致性。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" y="3536950"/>
            <a:ext cx="50800" cy="1358900"/>
          </a:xfrm>
          <a:custGeom>
            <a:avLst/>
            <a:gdLst/>
            <a:ahLst/>
            <a:cxnLst/>
            <a:rect l="l" t="t" r="r" b="b"/>
            <a:pathLst>
              <a:path w="50800" h="1358900">
                <a:moveTo>
                  <a:pt x="0" y="0"/>
                </a:moveTo>
                <a:lnTo>
                  <a:pt x="50800" y="0"/>
                </a:lnTo>
                <a:lnTo>
                  <a:pt x="50800" y="1358900"/>
                </a:lnTo>
                <a:lnTo>
                  <a:pt x="0" y="1358900"/>
                </a:lnTo>
                <a:lnTo>
                  <a:pt x="0" y="0"/>
                </a:lnTo>
                <a:close/>
              </a:path>
            </a:pathLst>
          </a:custGeom>
          <a:solidFill>
            <a:srgbClr val="3E5C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3549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57262" y="142875"/>
                </a:moveTo>
                <a:lnTo>
                  <a:pt x="363141" y="142875"/>
                </a:lnTo>
                <a:cubicBezTo>
                  <a:pt x="373038" y="142875"/>
                  <a:pt x="381000" y="134913"/>
                  <a:pt x="381000" y="125016"/>
                </a:cubicBezTo>
                <a:lnTo>
                  <a:pt x="381000" y="17859"/>
                </a:lnTo>
                <a:cubicBezTo>
                  <a:pt x="381000" y="10641"/>
                  <a:pt x="376684" y="4093"/>
                  <a:pt x="369987" y="1339"/>
                </a:cubicBezTo>
                <a:cubicBezTo>
                  <a:pt x="363289" y="-1414"/>
                  <a:pt x="355625" y="149"/>
                  <a:pt x="350490" y="5209"/>
                </a:cubicBezTo>
                <a:lnTo>
                  <a:pt x="312018" y="43755"/>
                </a:lnTo>
                <a:cubicBezTo>
                  <a:pt x="279053" y="16446"/>
                  <a:pt x="236637" y="0"/>
                  <a:pt x="190500" y="0"/>
                </a:cubicBezTo>
                <a:cubicBezTo>
                  <a:pt x="94506" y="0"/>
                  <a:pt x="15106" y="70991"/>
                  <a:pt x="1935" y="163339"/>
                </a:cubicBezTo>
                <a:cubicBezTo>
                  <a:pt x="74" y="176361"/>
                  <a:pt x="9079" y="188416"/>
                  <a:pt x="22101" y="190277"/>
                </a:cubicBezTo>
                <a:cubicBezTo>
                  <a:pt x="35123" y="192137"/>
                  <a:pt x="47179" y="183059"/>
                  <a:pt x="49039" y="170111"/>
                </a:cubicBezTo>
                <a:cubicBezTo>
                  <a:pt x="58936" y="100831"/>
                  <a:pt x="118542" y="47625"/>
                  <a:pt x="190500" y="47625"/>
                </a:cubicBezTo>
                <a:cubicBezTo>
                  <a:pt x="223540" y="47625"/>
                  <a:pt x="253901" y="58787"/>
                  <a:pt x="278085" y="77614"/>
                </a:cubicBezTo>
                <a:lnTo>
                  <a:pt x="243334" y="112365"/>
                </a:lnTo>
                <a:cubicBezTo>
                  <a:pt x="238199" y="117500"/>
                  <a:pt x="236711" y="125164"/>
                  <a:pt x="239464" y="131862"/>
                </a:cubicBezTo>
                <a:cubicBezTo>
                  <a:pt x="242218" y="138559"/>
                  <a:pt x="248766" y="142875"/>
                  <a:pt x="255984" y="142875"/>
                </a:cubicBezTo>
                <a:lnTo>
                  <a:pt x="357262" y="142875"/>
                </a:lnTo>
                <a:close/>
                <a:moveTo>
                  <a:pt x="379140" y="217661"/>
                </a:moveTo>
                <a:cubicBezTo>
                  <a:pt x="381000" y="204639"/>
                  <a:pt x="371921" y="192584"/>
                  <a:pt x="358973" y="190723"/>
                </a:cubicBezTo>
                <a:cubicBezTo>
                  <a:pt x="346025" y="188863"/>
                  <a:pt x="333896" y="197941"/>
                  <a:pt x="332036" y="210889"/>
                </a:cubicBezTo>
                <a:cubicBezTo>
                  <a:pt x="322138" y="280095"/>
                  <a:pt x="262533" y="333301"/>
                  <a:pt x="190574" y="333301"/>
                </a:cubicBezTo>
                <a:cubicBezTo>
                  <a:pt x="157535" y="333301"/>
                  <a:pt x="127174" y="322138"/>
                  <a:pt x="102989" y="303312"/>
                </a:cubicBezTo>
                <a:lnTo>
                  <a:pt x="137666" y="268635"/>
                </a:lnTo>
                <a:cubicBezTo>
                  <a:pt x="142801" y="263500"/>
                  <a:pt x="144289" y="255836"/>
                  <a:pt x="141536" y="249138"/>
                </a:cubicBezTo>
                <a:cubicBezTo>
                  <a:pt x="138782" y="242441"/>
                  <a:pt x="132234" y="238125"/>
                  <a:pt x="125016" y="238125"/>
                </a:cubicBezTo>
                <a:lnTo>
                  <a:pt x="17859" y="238125"/>
                </a:lnTo>
                <a:cubicBezTo>
                  <a:pt x="7962" y="238125"/>
                  <a:pt x="0" y="246087"/>
                  <a:pt x="0" y="255984"/>
                </a:cubicBezTo>
                <a:lnTo>
                  <a:pt x="0" y="363141"/>
                </a:lnTo>
                <a:cubicBezTo>
                  <a:pt x="0" y="370359"/>
                  <a:pt x="4316" y="376907"/>
                  <a:pt x="11013" y="379661"/>
                </a:cubicBezTo>
                <a:cubicBezTo>
                  <a:pt x="17711" y="382414"/>
                  <a:pt x="25375" y="380851"/>
                  <a:pt x="30510" y="375791"/>
                </a:cubicBezTo>
                <a:lnTo>
                  <a:pt x="69056" y="337245"/>
                </a:lnTo>
                <a:cubicBezTo>
                  <a:pt x="101947" y="364554"/>
                  <a:pt x="144363" y="381000"/>
                  <a:pt x="190500" y="381000"/>
                </a:cubicBezTo>
                <a:cubicBezTo>
                  <a:pt x="286494" y="381000"/>
                  <a:pt x="365894" y="310009"/>
                  <a:pt x="379065" y="217661"/>
                </a:cubicBezTo>
                <a:close/>
              </a:path>
            </a:pathLst>
          </a:custGeom>
          <a:solidFill>
            <a:srgbClr val="3E5C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492250" y="353695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自动恢复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3600" y="4146550"/>
            <a:ext cx="71755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3E5C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无需人工干预</a:t>
            </a: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的故障检测和恢复能力。ZooKeeper 能够自动检测 Leader 故障、触发选举、选择新 Leader 并恢复服务。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56600" y="3536950"/>
            <a:ext cx="50800" cy="1358900"/>
          </a:xfrm>
          <a:custGeom>
            <a:avLst/>
            <a:gdLst/>
            <a:ahLst/>
            <a:cxnLst/>
            <a:rect l="l" t="t" r="r" b="b"/>
            <a:pathLst>
              <a:path w="50800" h="1358900">
                <a:moveTo>
                  <a:pt x="0" y="0"/>
                </a:moveTo>
                <a:lnTo>
                  <a:pt x="50800" y="0"/>
                </a:lnTo>
                <a:lnTo>
                  <a:pt x="50800" y="1358900"/>
                </a:lnTo>
                <a:lnTo>
                  <a:pt x="0" y="13589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689975" y="354965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85750" y="23812"/>
                </a:moveTo>
                <a:lnTo>
                  <a:pt x="381000" y="23812"/>
                </a:lnTo>
                <a:cubicBezTo>
                  <a:pt x="394171" y="23812"/>
                  <a:pt x="404813" y="34454"/>
                  <a:pt x="404813" y="47625"/>
                </a:cubicBezTo>
                <a:cubicBezTo>
                  <a:pt x="404813" y="60796"/>
                  <a:pt x="394171" y="71438"/>
                  <a:pt x="381000" y="71438"/>
                </a:cubicBezTo>
                <a:lnTo>
                  <a:pt x="296466" y="71438"/>
                </a:lnTo>
                <a:cubicBezTo>
                  <a:pt x="292596" y="90636"/>
                  <a:pt x="279425" y="106487"/>
                  <a:pt x="261938" y="114077"/>
                </a:cubicBezTo>
                <a:lnTo>
                  <a:pt x="261938" y="333375"/>
                </a:lnTo>
                <a:lnTo>
                  <a:pt x="381000" y="333375"/>
                </a:lnTo>
                <a:cubicBezTo>
                  <a:pt x="394171" y="333375"/>
                  <a:pt x="404813" y="344016"/>
                  <a:pt x="404813" y="357188"/>
                </a:cubicBezTo>
                <a:cubicBezTo>
                  <a:pt x="404813" y="370359"/>
                  <a:pt x="394171" y="381000"/>
                  <a:pt x="381000" y="381000"/>
                </a:cubicBezTo>
                <a:lnTo>
                  <a:pt x="95250" y="381000"/>
                </a:lnTo>
                <a:cubicBezTo>
                  <a:pt x="82079" y="381000"/>
                  <a:pt x="71438" y="370359"/>
                  <a:pt x="71438" y="357188"/>
                </a:cubicBezTo>
                <a:cubicBezTo>
                  <a:pt x="71438" y="344016"/>
                  <a:pt x="82079" y="333375"/>
                  <a:pt x="95250" y="333375"/>
                </a:cubicBezTo>
                <a:lnTo>
                  <a:pt x="214313" y="333375"/>
                </a:lnTo>
                <a:lnTo>
                  <a:pt x="214313" y="114077"/>
                </a:lnTo>
                <a:cubicBezTo>
                  <a:pt x="196825" y="106412"/>
                  <a:pt x="183654" y="90562"/>
                  <a:pt x="179784" y="71438"/>
                </a:cubicBezTo>
                <a:lnTo>
                  <a:pt x="95250" y="71438"/>
                </a:lnTo>
                <a:cubicBezTo>
                  <a:pt x="82079" y="71438"/>
                  <a:pt x="71438" y="60796"/>
                  <a:pt x="71438" y="47625"/>
                </a:cubicBezTo>
                <a:cubicBezTo>
                  <a:pt x="71438" y="34454"/>
                  <a:pt x="82079" y="23812"/>
                  <a:pt x="95250" y="23812"/>
                </a:cubicBezTo>
                <a:lnTo>
                  <a:pt x="190500" y="23812"/>
                </a:lnTo>
                <a:cubicBezTo>
                  <a:pt x="201364" y="9376"/>
                  <a:pt x="218629" y="0"/>
                  <a:pt x="238125" y="0"/>
                </a:cubicBezTo>
                <a:cubicBezTo>
                  <a:pt x="257621" y="0"/>
                  <a:pt x="274886" y="9376"/>
                  <a:pt x="285750" y="23812"/>
                </a:cubicBezTo>
                <a:close/>
                <a:moveTo>
                  <a:pt x="327124" y="238125"/>
                </a:moveTo>
                <a:lnTo>
                  <a:pt x="434876" y="238125"/>
                </a:lnTo>
                <a:lnTo>
                  <a:pt x="381000" y="145703"/>
                </a:lnTo>
                <a:lnTo>
                  <a:pt x="327124" y="238125"/>
                </a:lnTo>
                <a:close/>
                <a:moveTo>
                  <a:pt x="381000" y="309563"/>
                </a:moveTo>
                <a:cubicBezTo>
                  <a:pt x="334194" y="309563"/>
                  <a:pt x="295275" y="284262"/>
                  <a:pt x="287238" y="250850"/>
                </a:cubicBezTo>
                <a:cubicBezTo>
                  <a:pt x="285304" y="242664"/>
                  <a:pt x="287982" y="234255"/>
                  <a:pt x="292224" y="226963"/>
                </a:cubicBezTo>
                <a:lnTo>
                  <a:pt x="363066" y="105519"/>
                </a:lnTo>
                <a:cubicBezTo>
                  <a:pt x="366787" y="99120"/>
                  <a:pt x="373633" y="95250"/>
                  <a:pt x="381000" y="95250"/>
                </a:cubicBezTo>
                <a:cubicBezTo>
                  <a:pt x="388367" y="95250"/>
                  <a:pt x="395213" y="99194"/>
                  <a:pt x="398934" y="105519"/>
                </a:cubicBezTo>
                <a:lnTo>
                  <a:pt x="469776" y="226963"/>
                </a:lnTo>
                <a:cubicBezTo>
                  <a:pt x="474018" y="234255"/>
                  <a:pt x="476696" y="242664"/>
                  <a:pt x="474762" y="250850"/>
                </a:cubicBezTo>
                <a:cubicBezTo>
                  <a:pt x="466725" y="284187"/>
                  <a:pt x="427806" y="309563"/>
                  <a:pt x="381000" y="309563"/>
                </a:cubicBezTo>
                <a:close/>
                <a:moveTo>
                  <a:pt x="94357" y="145703"/>
                </a:moveTo>
                <a:lnTo>
                  <a:pt x="40481" y="238125"/>
                </a:lnTo>
                <a:lnTo>
                  <a:pt x="148307" y="238125"/>
                </a:lnTo>
                <a:lnTo>
                  <a:pt x="94357" y="145703"/>
                </a:lnTo>
                <a:close/>
                <a:moveTo>
                  <a:pt x="670" y="250850"/>
                </a:moveTo>
                <a:cubicBezTo>
                  <a:pt x="-1265" y="242664"/>
                  <a:pt x="1414" y="234255"/>
                  <a:pt x="5655" y="226963"/>
                </a:cubicBezTo>
                <a:lnTo>
                  <a:pt x="76498" y="105519"/>
                </a:lnTo>
                <a:cubicBezTo>
                  <a:pt x="80218" y="99120"/>
                  <a:pt x="87064" y="95250"/>
                  <a:pt x="94431" y="95250"/>
                </a:cubicBezTo>
                <a:cubicBezTo>
                  <a:pt x="101798" y="95250"/>
                  <a:pt x="108645" y="99194"/>
                  <a:pt x="112365" y="105519"/>
                </a:cubicBezTo>
                <a:lnTo>
                  <a:pt x="183207" y="226963"/>
                </a:lnTo>
                <a:cubicBezTo>
                  <a:pt x="187449" y="234255"/>
                  <a:pt x="190128" y="242664"/>
                  <a:pt x="188193" y="250850"/>
                </a:cubicBezTo>
                <a:cubicBezTo>
                  <a:pt x="180156" y="284187"/>
                  <a:pt x="141238" y="309563"/>
                  <a:pt x="94431" y="309563"/>
                </a:cubicBezTo>
                <a:cubicBezTo>
                  <a:pt x="47625" y="309563"/>
                  <a:pt x="8706" y="284262"/>
                  <a:pt x="670" y="250850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315450" y="353695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状态一致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4146550"/>
            <a:ext cx="71755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所有节点最终达到</a:t>
            </a:r>
            <a:r>
              <a:rPr lang="en-US" sz="18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一致的集群状态</a:t>
            </a:r>
            <a:r>
              <a:rPr lang="en-US" sz="18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。通过 ZAB 协议保证分布式事务的原子性和一致性。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0700" y="5308600"/>
            <a:ext cx="15214600" cy="2768600"/>
          </a:xfrm>
          <a:custGeom>
            <a:avLst/>
            <a:gdLst/>
            <a:ahLst/>
            <a:cxnLst/>
            <a:rect l="l" t="t" r="r" b="b"/>
            <a:pathLst>
              <a:path w="15214600" h="2768600">
                <a:moveTo>
                  <a:pt x="152411" y="0"/>
                </a:moveTo>
                <a:lnTo>
                  <a:pt x="15062189" y="0"/>
                </a:lnTo>
                <a:cubicBezTo>
                  <a:pt x="15146307" y="0"/>
                  <a:pt x="15214600" y="68293"/>
                  <a:pt x="15214600" y="152411"/>
                </a:cubicBezTo>
                <a:lnTo>
                  <a:pt x="15214600" y="2616189"/>
                </a:lnTo>
                <a:cubicBezTo>
                  <a:pt x="15214600" y="2700363"/>
                  <a:pt x="15146363" y="2768600"/>
                  <a:pt x="15062189" y="2768600"/>
                </a:cubicBezTo>
                <a:lnTo>
                  <a:pt x="152411" y="2768600"/>
                </a:lnTo>
                <a:cubicBezTo>
                  <a:pt x="68237" y="2768600"/>
                  <a:pt x="0" y="2700363"/>
                  <a:pt x="0" y="2616189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B89A6A">
              <a:alpha val="30196"/>
            </a:srgbClr>
          </a:solidFill>
          <a:ln w="25400">
            <a:solidFill>
              <a:srgbClr val="B89A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966788" y="57404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35719" y="145703"/>
                </a:moveTo>
                <a:lnTo>
                  <a:pt x="191393" y="209773"/>
                </a:lnTo>
                <a:cubicBezTo>
                  <a:pt x="198686" y="212750"/>
                  <a:pt x="206425" y="214313"/>
                  <a:pt x="214313" y="214313"/>
                </a:cubicBezTo>
                <a:cubicBezTo>
                  <a:pt x="222200" y="214313"/>
                  <a:pt x="229939" y="212750"/>
                  <a:pt x="237232" y="209773"/>
                </a:cubicBezTo>
                <a:lnTo>
                  <a:pt x="417612" y="135508"/>
                </a:lnTo>
                <a:cubicBezTo>
                  <a:pt x="424309" y="132755"/>
                  <a:pt x="428625" y="126281"/>
                  <a:pt x="428625" y="119062"/>
                </a:cubicBezTo>
                <a:cubicBezTo>
                  <a:pt x="428625" y="111844"/>
                  <a:pt x="424309" y="105370"/>
                  <a:pt x="417612" y="102617"/>
                </a:cubicBezTo>
                <a:lnTo>
                  <a:pt x="237232" y="28352"/>
                </a:lnTo>
                <a:cubicBezTo>
                  <a:pt x="229939" y="25375"/>
                  <a:pt x="222200" y="23812"/>
                  <a:pt x="214313" y="23812"/>
                </a:cubicBezTo>
                <a:cubicBezTo>
                  <a:pt x="206425" y="23812"/>
                  <a:pt x="198686" y="25375"/>
                  <a:pt x="191393" y="28352"/>
                </a:cubicBezTo>
                <a:lnTo>
                  <a:pt x="11013" y="102617"/>
                </a:lnTo>
                <a:cubicBezTo>
                  <a:pt x="4316" y="105370"/>
                  <a:pt x="0" y="111844"/>
                  <a:pt x="0" y="119063"/>
                </a:cubicBezTo>
                <a:lnTo>
                  <a:pt x="0" y="339328"/>
                </a:lnTo>
                <a:cubicBezTo>
                  <a:pt x="0" y="349225"/>
                  <a:pt x="7962" y="357188"/>
                  <a:pt x="17859" y="357188"/>
                </a:cubicBezTo>
                <a:cubicBezTo>
                  <a:pt x="27756" y="357188"/>
                  <a:pt x="35719" y="349225"/>
                  <a:pt x="35719" y="339328"/>
                </a:cubicBezTo>
                <a:lnTo>
                  <a:pt x="35719" y="145703"/>
                </a:lnTo>
                <a:close/>
                <a:moveTo>
                  <a:pt x="71438" y="199058"/>
                </a:moveTo>
                <a:lnTo>
                  <a:pt x="71438" y="285750"/>
                </a:lnTo>
                <a:cubicBezTo>
                  <a:pt x="71438" y="325189"/>
                  <a:pt x="135434" y="357188"/>
                  <a:pt x="214313" y="357188"/>
                </a:cubicBezTo>
                <a:cubicBezTo>
                  <a:pt x="293191" y="357188"/>
                  <a:pt x="357188" y="325189"/>
                  <a:pt x="357188" y="285750"/>
                </a:cubicBezTo>
                <a:lnTo>
                  <a:pt x="357188" y="198983"/>
                </a:lnTo>
                <a:lnTo>
                  <a:pt x="250850" y="242813"/>
                </a:lnTo>
                <a:cubicBezTo>
                  <a:pt x="239241" y="247576"/>
                  <a:pt x="226888" y="250031"/>
                  <a:pt x="214313" y="250031"/>
                </a:cubicBezTo>
                <a:cubicBezTo>
                  <a:pt x="201737" y="250031"/>
                  <a:pt x="189384" y="247576"/>
                  <a:pt x="177775" y="242813"/>
                </a:cubicBezTo>
                <a:lnTo>
                  <a:pt x="71438" y="198983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568450" y="5727700"/>
            <a:ext cx="198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核心理解要点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827834" y="63881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6A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081834" y="6642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42863"/>
                </a:moveTo>
                <a:cubicBezTo>
                  <a:pt x="0" y="35004"/>
                  <a:pt x="6370" y="28575"/>
                  <a:pt x="14288" y="28575"/>
                </a:cubicBezTo>
                <a:lnTo>
                  <a:pt x="42863" y="28575"/>
                </a:lnTo>
                <a:cubicBezTo>
                  <a:pt x="50780" y="28575"/>
                  <a:pt x="57150" y="34945"/>
                  <a:pt x="57150" y="42863"/>
                </a:cubicBezTo>
                <a:lnTo>
                  <a:pt x="57150" y="104775"/>
                </a:lnTo>
                <a:lnTo>
                  <a:pt x="71438" y="104775"/>
                </a:lnTo>
                <a:cubicBezTo>
                  <a:pt x="79355" y="104775"/>
                  <a:pt x="85725" y="111145"/>
                  <a:pt x="85725" y="119062"/>
                </a:cubicBezTo>
                <a:cubicBezTo>
                  <a:pt x="85725" y="126980"/>
                  <a:pt x="79355" y="133350"/>
                  <a:pt x="71438" y="133350"/>
                </a:cubicBezTo>
                <a:lnTo>
                  <a:pt x="14288" y="133350"/>
                </a:lnTo>
                <a:cubicBezTo>
                  <a:pt x="6370" y="133350"/>
                  <a:pt x="0" y="126980"/>
                  <a:pt x="0" y="119062"/>
                </a:cubicBezTo>
                <a:cubicBezTo>
                  <a:pt x="0" y="111145"/>
                  <a:pt x="6370" y="104775"/>
                  <a:pt x="14288" y="104775"/>
                </a:cubicBezTo>
                <a:lnTo>
                  <a:pt x="28575" y="104775"/>
                </a:lnTo>
                <a:lnTo>
                  <a:pt x="28575" y="57150"/>
                </a:lnTo>
                <a:lnTo>
                  <a:pt x="14288" y="57150"/>
                </a:lnTo>
                <a:cubicBezTo>
                  <a:pt x="6370" y="57150"/>
                  <a:pt x="0" y="50780"/>
                  <a:pt x="0" y="42863"/>
                </a:cubicBezTo>
                <a:close/>
                <a:moveTo>
                  <a:pt x="18098" y="179308"/>
                </a:moveTo>
                <a:cubicBezTo>
                  <a:pt x="24884" y="174188"/>
                  <a:pt x="33159" y="171450"/>
                  <a:pt x="41672" y="171450"/>
                </a:cubicBezTo>
                <a:lnTo>
                  <a:pt x="44589" y="171450"/>
                </a:lnTo>
                <a:cubicBezTo>
                  <a:pt x="64651" y="171450"/>
                  <a:pt x="80962" y="187762"/>
                  <a:pt x="80962" y="207824"/>
                </a:cubicBezTo>
                <a:cubicBezTo>
                  <a:pt x="80962" y="219492"/>
                  <a:pt x="75367" y="230386"/>
                  <a:pt x="65961" y="237232"/>
                </a:cubicBezTo>
                <a:lnTo>
                  <a:pt x="51673" y="247650"/>
                </a:lnTo>
                <a:lnTo>
                  <a:pt x="71438" y="247650"/>
                </a:lnTo>
                <a:cubicBezTo>
                  <a:pt x="79355" y="247650"/>
                  <a:pt x="85725" y="254020"/>
                  <a:pt x="85725" y="261937"/>
                </a:cubicBezTo>
                <a:cubicBezTo>
                  <a:pt x="85725" y="269855"/>
                  <a:pt x="79355" y="276225"/>
                  <a:pt x="71438" y="276225"/>
                </a:cubicBezTo>
                <a:lnTo>
                  <a:pt x="17443" y="276225"/>
                </a:lnTo>
                <a:cubicBezTo>
                  <a:pt x="7799" y="276225"/>
                  <a:pt x="0" y="268426"/>
                  <a:pt x="0" y="258782"/>
                </a:cubicBezTo>
                <a:cubicBezTo>
                  <a:pt x="0" y="253186"/>
                  <a:pt x="2679" y="247948"/>
                  <a:pt x="7203" y="244673"/>
                </a:cubicBezTo>
                <a:lnTo>
                  <a:pt x="49173" y="214134"/>
                </a:lnTo>
                <a:cubicBezTo>
                  <a:pt x="51197" y="212646"/>
                  <a:pt x="52388" y="210324"/>
                  <a:pt x="52388" y="207824"/>
                </a:cubicBezTo>
                <a:cubicBezTo>
                  <a:pt x="52388" y="203537"/>
                  <a:pt x="48875" y="200025"/>
                  <a:pt x="44589" y="200025"/>
                </a:cubicBezTo>
                <a:lnTo>
                  <a:pt x="41672" y="200025"/>
                </a:lnTo>
                <a:cubicBezTo>
                  <a:pt x="39350" y="200025"/>
                  <a:pt x="37088" y="200799"/>
                  <a:pt x="35243" y="202168"/>
                </a:cubicBezTo>
                <a:lnTo>
                  <a:pt x="22860" y="211455"/>
                </a:lnTo>
                <a:cubicBezTo>
                  <a:pt x="16550" y="216218"/>
                  <a:pt x="7620" y="214908"/>
                  <a:pt x="2857" y="208597"/>
                </a:cubicBezTo>
                <a:cubicBezTo>
                  <a:pt x="-1905" y="202287"/>
                  <a:pt x="-595" y="193358"/>
                  <a:pt x="5715" y="188595"/>
                </a:cubicBezTo>
                <a:lnTo>
                  <a:pt x="18098" y="179308"/>
                </a:lnTo>
                <a:close/>
                <a:moveTo>
                  <a:pt x="133350" y="38100"/>
                </a:moveTo>
                <a:lnTo>
                  <a:pt x="285750" y="38100"/>
                </a:lnTo>
                <a:cubicBezTo>
                  <a:pt x="296287" y="38100"/>
                  <a:pt x="304800" y="46613"/>
                  <a:pt x="304800" y="57150"/>
                </a:cubicBezTo>
                <a:cubicBezTo>
                  <a:pt x="304800" y="67687"/>
                  <a:pt x="296287" y="76200"/>
                  <a:pt x="285750" y="76200"/>
                </a:cubicBezTo>
                <a:lnTo>
                  <a:pt x="133350" y="76200"/>
                </a:lnTo>
                <a:cubicBezTo>
                  <a:pt x="122813" y="76200"/>
                  <a:pt x="114300" y="67687"/>
                  <a:pt x="114300" y="57150"/>
                </a:cubicBezTo>
                <a:cubicBezTo>
                  <a:pt x="114300" y="46613"/>
                  <a:pt x="122813" y="38100"/>
                  <a:pt x="133350" y="38100"/>
                </a:cubicBezTo>
                <a:close/>
                <a:moveTo>
                  <a:pt x="133350" y="133350"/>
                </a:moveTo>
                <a:lnTo>
                  <a:pt x="285750" y="133350"/>
                </a:lnTo>
                <a:cubicBezTo>
                  <a:pt x="296287" y="133350"/>
                  <a:pt x="304800" y="141863"/>
                  <a:pt x="304800" y="152400"/>
                </a:cubicBezTo>
                <a:cubicBezTo>
                  <a:pt x="304800" y="162937"/>
                  <a:pt x="296287" y="171450"/>
                  <a:pt x="285750" y="171450"/>
                </a:cubicBezTo>
                <a:lnTo>
                  <a:pt x="133350" y="171450"/>
                </a:lnTo>
                <a:cubicBezTo>
                  <a:pt x="122813" y="171450"/>
                  <a:pt x="114300" y="162937"/>
                  <a:pt x="114300" y="152400"/>
                </a:cubicBezTo>
                <a:cubicBezTo>
                  <a:pt x="114300" y="141863"/>
                  <a:pt x="122813" y="133350"/>
                  <a:pt x="133350" y="133350"/>
                </a:cubicBezTo>
                <a:close/>
                <a:moveTo>
                  <a:pt x="133350" y="228600"/>
                </a:moveTo>
                <a:lnTo>
                  <a:pt x="285750" y="228600"/>
                </a:lnTo>
                <a:cubicBezTo>
                  <a:pt x="296287" y="228600"/>
                  <a:pt x="304800" y="237113"/>
                  <a:pt x="304800" y="247650"/>
                </a:cubicBezTo>
                <a:cubicBezTo>
                  <a:pt x="304800" y="258187"/>
                  <a:pt x="296287" y="266700"/>
                  <a:pt x="2857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89000" y="7353300"/>
            <a:ext cx="468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选举基于明确的</a:t>
            </a: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优先级规则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721501" y="63881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6A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7975501" y="6642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782667" y="7353300"/>
            <a:ext cx="468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过半数机制</a:t>
            </a: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防止脑裂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615267" y="63881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6A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2907367" y="66421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48769" y="39767"/>
                </a:moveTo>
                <a:cubicBezTo>
                  <a:pt x="154960" y="31254"/>
                  <a:pt x="153055" y="19348"/>
                  <a:pt x="144542" y="13156"/>
                </a:cubicBezTo>
                <a:cubicBezTo>
                  <a:pt x="136029" y="6965"/>
                  <a:pt x="124123" y="8870"/>
                  <a:pt x="117931" y="17383"/>
                </a:cubicBezTo>
                <a:lnTo>
                  <a:pt x="54828" y="104120"/>
                </a:lnTo>
                <a:lnTo>
                  <a:pt x="32504" y="81796"/>
                </a:lnTo>
                <a:cubicBezTo>
                  <a:pt x="25063" y="74355"/>
                  <a:pt x="12978" y="74355"/>
                  <a:pt x="5536" y="81796"/>
                </a:cubicBezTo>
                <a:cubicBezTo>
                  <a:pt x="-1905" y="89237"/>
                  <a:pt x="-1905" y="101322"/>
                  <a:pt x="5536" y="108764"/>
                </a:cubicBezTo>
                <a:lnTo>
                  <a:pt x="43636" y="146864"/>
                </a:lnTo>
                <a:cubicBezTo>
                  <a:pt x="47565" y="150793"/>
                  <a:pt x="53042" y="152817"/>
                  <a:pt x="58579" y="152400"/>
                </a:cubicBezTo>
                <a:cubicBezTo>
                  <a:pt x="64115" y="151983"/>
                  <a:pt x="69235" y="149126"/>
                  <a:pt x="72509" y="144601"/>
                </a:cubicBezTo>
                <a:lnTo>
                  <a:pt x="148709" y="39826"/>
                </a:lnTo>
                <a:close/>
                <a:moveTo>
                  <a:pt x="224969" y="120729"/>
                </a:moveTo>
                <a:cubicBezTo>
                  <a:pt x="231160" y="112216"/>
                  <a:pt x="229255" y="100310"/>
                  <a:pt x="220742" y="94119"/>
                </a:cubicBezTo>
                <a:cubicBezTo>
                  <a:pt x="212229" y="87928"/>
                  <a:pt x="200323" y="89833"/>
                  <a:pt x="194131" y="98346"/>
                </a:cubicBezTo>
                <a:lnTo>
                  <a:pt x="92928" y="237470"/>
                </a:lnTo>
                <a:lnTo>
                  <a:pt x="51554" y="196096"/>
                </a:lnTo>
                <a:cubicBezTo>
                  <a:pt x="44113" y="188655"/>
                  <a:pt x="32028" y="188655"/>
                  <a:pt x="24586" y="196096"/>
                </a:cubicBezTo>
                <a:cubicBezTo>
                  <a:pt x="17145" y="203537"/>
                  <a:pt x="17145" y="215622"/>
                  <a:pt x="24586" y="223064"/>
                </a:cubicBezTo>
                <a:lnTo>
                  <a:pt x="81736" y="280214"/>
                </a:lnTo>
                <a:cubicBezTo>
                  <a:pt x="85665" y="284143"/>
                  <a:pt x="91142" y="286167"/>
                  <a:pt x="96679" y="285750"/>
                </a:cubicBezTo>
                <a:cubicBezTo>
                  <a:pt x="102215" y="285333"/>
                  <a:pt x="107335" y="282476"/>
                  <a:pt x="110609" y="277951"/>
                </a:cubicBezTo>
                <a:lnTo>
                  <a:pt x="224909" y="120789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0676434" y="7353300"/>
            <a:ext cx="468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D1D5DB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保证数据的</a:t>
            </a:r>
            <a:r>
              <a:rPr lang="en-US" sz="1600" b="1" dirty="0">
                <a:solidFill>
                  <a:srgbClr val="B89A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一致性和完整性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1711</Words>
  <Application>Microsoft Macintosh PowerPoint</Application>
  <PresentationFormat>自定义</PresentationFormat>
  <Paragraphs>566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微软雅黑</vt:lpstr>
      <vt:lpstr>Liter</vt:lpstr>
      <vt:lpstr>Noto Sans SC</vt:lpstr>
      <vt:lpstr>MiSans</vt:lpstr>
      <vt:lpstr>Arial</vt:lpstr>
      <vt:lpstr>Calibri</vt:lpstr>
      <vt:lpstr>KaiTi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ZooKeeper Leader 选举机制详解</dc:title>
  <dc:subject>ZooKeeper Leader 选举机制详解</dc:subject>
  <dc:creator>Kimi</dc:creator>
  <cp:lastModifiedBy>王 天青</cp:lastModifiedBy>
  <cp:revision>11</cp:revision>
  <dcterms:created xsi:type="dcterms:W3CDTF">2025-12-20T08:15:45Z</dcterms:created>
  <dcterms:modified xsi:type="dcterms:W3CDTF">2025-12-20T08:33:39Z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{"Label":"ZooKeeper Leader 选举机制详解","ContentProducer":"001191110108MACG2KBH8F10000","ProduceID":"19b3acbc-84d2-8405-8000-0000d1dd06ed","ReservedCode1":"","ContentPropagator":"001191110108MACG2KBH8F20000","PropagateID":"19b3acbc-84d2-8405-8000-0000d1dd06ed","ReservedCode2":""}</vt:lpwstr>
  </property>
</Properties>
</file>