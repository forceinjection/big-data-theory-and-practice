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6256000" cy="9144000"/>
  <p:notesSz cx="9144000" cy="16256000"/>
  <p:embeddedFontLst>
    <p:embeddedFont>
      <p:font typeface="微软雅黑" panose="020B0503020204020204" pitchFamily="34" charset="-122"/>
      <p:regular r:id="rId29"/>
      <p:bold r:id="rId30"/>
    </p:embeddedFont>
    <p:embeddedFont>
      <p:font typeface="MiSans" pitchFamily="2" charset="-122"/>
      <p:regular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152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20700" y="1379538"/>
            <a:ext cx="3937000" cy="685800"/>
          </a:xfrm>
          <a:custGeom>
            <a:avLst/>
            <a:gdLst/>
            <a:ahLst/>
            <a:cxnLst/>
            <a:rect l="l" t="t" r="r" b="b"/>
            <a:pathLst>
              <a:path w="3937000" h="685800">
                <a:moveTo>
                  <a:pt x="101601" y="0"/>
                </a:moveTo>
                <a:lnTo>
                  <a:pt x="3835399" y="0"/>
                </a:lnTo>
                <a:cubicBezTo>
                  <a:pt x="3891512" y="0"/>
                  <a:pt x="3937000" y="45488"/>
                  <a:pt x="3937000" y="101601"/>
                </a:cubicBezTo>
                <a:lnTo>
                  <a:pt x="3937000" y="584199"/>
                </a:lnTo>
                <a:cubicBezTo>
                  <a:pt x="3937000" y="640312"/>
                  <a:pt x="3891512" y="685800"/>
                  <a:pt x="3835399" y="685800"/>
                </a:cubicBezTo>
                <a:lnTo>
                  <a:pt x="101601" y="685800"/>
                </a:lnTo>
                <a:cubicBezTo>
                  <a:pt x="45488" y="685800"/>
                  <a:pt x="0" y="640312"/>
                  <a:pt x="0" y="5841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38200" y="1550988"/>
            <a:ext cx="343287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2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SYSTEMS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484438"/>
            <a:ext cx="15849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 err="1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分布式系统概述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9388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从基础概念到核心原理的系统化学习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71675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669925" y="734536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3812" y="97135"/>
                </a:moveTo>
                <a:lnTo>
                  <a:pt x="127595" y="139849"/>
                </a:lnTo>
                <a:cubicBezTo>
                  <a:pt x="132457" y="141833"/>
                  <a:pt x="137616" y="142875"/>
                  <a:pt x="142875" y="142875"/>
                </a:cubicBezTo>
                <a:cubicBezTo>
                  <a:pt x="148134" y="142875"/>
                  <a:pt x="153293" y="141833"/>
                  <a:pt x="158155" y="139849"/>
                </a:cubicBezTo>
                <a:lnTo>
                  <a:pt x="278408" y="90339"/>
                </a:lnTo>
                <a:cubicBezTo>
                  <a:pt x="282873" y="88503"/>
                  <a:pt x="285750" y="84187"/>
                  <a:pt x="285750" y="79375"/>
                </a:cubicBezTo>
                <a:cubicBezTo>
                  <a:pt x="285750" y="74563"/>
                  <a:pt x="282873" y="70247"/>
                  <a:pt x="278408" y="68411"/>
                </a:cubicBezTo>
                <a:lnTo>
                  <a:pt x="158155" y="18901"/>
                </a:lnTo>
                <a:cubicBezTo>
                  <a:pt x="153293" y="16917"/>
                  <a:pt x="148134" y="15875"/>
                  <a:pt x="142875" y="15875"/>
                </a:cubicBezTo>
                <a:cubicBezTo>
                  <a:pt x="137616" y="15875"/>
                  <a:pt x="132457" y="16917"/>
                  <a:pt x="127595" y="18901"/>
                </a:cubicBezTo>
                <a:lnTo>
                  <a:pt x="7342" y="68411"/>
                </a:lnTo>
                <a:cubicBezTo>
                  <a:pt x="2877" y="70247"/>
                  <a:pt x="0" y="74563"/>
                  <a:pt x="0" y="79375"/>
                </a:cubicBezTo>
                <a:lnTo>
                  <a:pt x="0" y="226219"/>
                </a:lnTo>
                <a:cubicBezTo>
                  <a:pt x="0" y="232817"/>
                  <a:pt x="5308" y="238125"/>
                  <a:pt x="11906" y="238125"/>
                </a:cubicBezTo>
                <a:cubicBezTo>
                  <a:pt x="18504" y="238125"/>
                  <a:pt x="23812" y="232817"/>
                  <a:pt x="23812" y="226219"/>
                </a:cubicBezTo>
                <a:lnTo>
                  <a:pt x="23812" y="97135"/>
                </a:lnTo>
                <a:close/>
                <a:moveTo>
                  <a:pt x="47625" y="132705"/>
                </a:moveTo>
                <a:lnTo>
                  <a:pt x="47625" y="190500"/>
                </a:lnTo>
                <a:cubicBezTo>
                  <a:pt x="47625" y="216793"/>
                  <a:pt x="90289" y="238125"/>
                  <a:pt x="142875" y="238125"/>
                </a:cubicBezTo>
                <a:cubicBezTo>
                  <a:pt x="195461" y="238125"/>
                  <a:pt x="238125" y="216793"/>
                  <a:pt x="238125" y="190500"/>
                </a:cubicBezTo>
                <a:lnTo>
                  <a:pt x="238125" y="132655"/>
                </a:lnTo>
                <a:lnTo>
                  <a:pt x="167233" y="161875"/>
                </a:lnTo>
                <a:cubicBezTo>
                  <a:pt x="159494" y="165050"/>
                  <a:pt x="151259" y="166687"/>
                  <a:pt x="142875" y="166687"/>
                </a:cubicBezTo>
                <a:cubicBezTo>
                  <a:pt x="134491" y="166687"/>
                  <a:pt x="126256" y="165050"/>
                  <a:pt x="118517" y="161875"/>
                </a:cubicBezTo>
                <a:lnTo>
                  <a:pt x="47625" y="132655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270000" y="7294563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教学课程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692400" y="71675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2854325" y="734536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23031" y="43656"/>
                </a:moveTo>
                <a:lnTo>
                  <a:pt x="162719" y="43656"/>
                </a:lnTo>
                <a:lnTo>
                  <a:pt x="162719" y="67469"/>
                </a:lnTo>
                <a:lnTo>
                  <a:pt x="123031" y="67469"/>
                </a:lnTo>
                <a:lnTo>
                  <a:pt x="123031" y="43656"/>
                </a:lnTo>
                <a:close/>
                <a:moveTo>
                  <a:pt x="119063" y="15875"/>
                </a:moveTo>
                <a:cubicBezTo>
                  <a:pt x="105916" y="15875"/>
                  <a:pt x="95250" y="26541"/>
                  <a:pt x="95250" y="39688"/>
                </a:cubicBezTo>
                <a:lnTo>
                  <a:pt x="95250" y="71438"/>
                </a:lnTo>
                <a:cubicBezTo>
                  <a:pt x="95250" y="84584"/>
                  <a:pt x="105916" y="95250"/>
                  <a:pt x="119063" y="95250"/>
                </a:cubicBezTo>
                <a:lnTo>
                  <a:pt x="127000" y="95250"/>
                </a:lnTo>
                <a:lnTo>
                  <a:pt x="127000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63500" y="142875"/>
                </a:lnTo>
                <a:lnTo>
                  <a:pt x="63500" y="158750"/>
                </a:lnTo>
                <a:lnTo>
                  <a:pt x="55563" y="158750"/>
                </a:lnTo>
                <a:cubicBezTo>
                  <a:pt x="42416" y="158750"/>
                  <a:pt x="31750" y="169416"/>
                  <a:pt x="31750" y="182563"/>
                </a:cubicBezTo>
                <a:lnTo>
                  <a:pt x="31750" y="214313"/>
                </a:lnTo>
                <a:cubicBezTo>
                  <a:pt x="31750" y="227459"/>
                  <a:pt x="42416" y="238125"/>
                  <a:pt x="55563" y="238125"/>
                </a:cubicBezTo>
                <a:lnTo>
                  <a:pt x="103188" y="238125"/>
                </a:lnTo>
                <a:cubicBezTo>
                  <a:pt x="116334" y="238125"/>
                  <a:pt x="127000" y="227459"/>
                  <a:pt x="127000" y="214313"/>
                </a:cubicBezTo>
                <a:lnTo>
                  <a:pt x="127000" y="182563"/>
                </a:lnTo>
                <a:cubicBezTo>
                  <a:pt x="127000" y="169416"/>
                  <a:pt x="116334" y="158750"/>
                  <a:pt x="103188" y="158750"/>
                </a:cubicBezTo>
                <a:lnTo>
                  <a:pt x="95250" y="158750"/>
                </a:lnTo>
                <a:lnTo>
                  <a:pt x="95250" y="142875"/>
                </a:lnTo>
                <a:lnTo>
                  <a:pt x="190500" y="142875"/>
                </a:lnTo>
                <a:lnTo>
                  <a:pt x="190500" y="158750"/>
                </a:lnTo>
                <a:lnTo>
                  <a:pt x="182563" y="158750"/>
                </a:lnTo>
                <a:cubicBezTo>
                  <a:pt x="169416" y="158750"/>
                  <a:pt x="158750" y="169416"/>
                  <a:pt x="158750" y="182563"/>
                </a:cubicBezTo>
                <a:lnTo>
                  <a:pt x="158750" y="214313"/>
                </a:lnTo>
                <a:cubicBezTo>
                  <a:pt x="158750" y="227459"/>
                  <a:pt x="169416" y="238125"/>
                  <a:pt x="182563" y="238125"/>
                </a:cubicBezTo>
                <a:lnTo>
                  <a:pt x="230188" y="238125"/>
                </a:lnTo>
                <a:cubicBezTo>
                  <a:pt x="243334" y="238125"/>
                  <a:pt x="254000" y="227459"/>
                  <a:pt x="254000" y="214313"/>
                </a:cubicBezTo>
                <a:lnTo>
                  <a:pt x="254000" y="182563"/>
                </a:lnTo>
                <a:cubicBezTo>
                  <a:pt x="254000" y="169416"/>
                  <a:pt x="243334" y="158750"/>
                  <a:pt x="230188" y="158750"/>
                </a:cubicBezTo>
                <a:lnTo>
                  <a:pt x="222250" y="158750"/>
                </a:lnTo>
                <a:lnTo>
                  <a:pt x="222250" y="142875"/>
                </a:lnTo>
                <a:lnTo>
                  <a:pt x="269875" y="142875"/>
                </a:lnTo>
                <a:cubicBezTo>
                  <a:pt x="278656" y="142875"/>
                  <a:pt x="285750" y="135781"/>
                  <a:pt x="285750" y="127000"/>
                </a:cubicBezTo>
                <a:cubicBezTo>
                  <a:pt x="285750" y="118219"/>
                  <a:pt x="278656" y="111125"/>
                  <a:pt x="269875" y="111125"/>
                </a:cubicBezTo>
                <a:lnTo>
                  <a:pt x="158750" y="111125"/>
                </a:lnTo>
                <a:lnTo>
                  <a:pt x="158750" y="95250"/>
                </a:lnTo>
                <a:lnTo>
                  <a:pt x="166688" y="95250"/>
                </a:lnTo>
                <a:cubicBezTo>
                  <a:pt x="179834" y="95250"/>
                  <a:pt x="190500" y="84584"/>
                  <a:pt x="190500" y="71438"/>
                </a:cubicBezTo>
                <a:lnTo>
                  <a:pt x="190500" y="39688"/>
                </a:lnTo>
                <a:cubicBezTo>
                  <a:pt x="190500" y="26541"/>
                  <a:pt x="179834" y="15875"/>
                  <a:pt x="166688" y="15875"/>
                </a:cubicBezTo>
                <a:lnTo>
                  <a:pt x="119063" y="15875"/>
                </a:lnTo>
                <a:close/>
                <a:moveTo>
                  <a:pt x="222250" y="186531"/>
                </a:moveTo>
                <a:lnTo>
                  <a:pt x="226219" y="186531"/>
                </a:lnTo>
                <a:lnTo>
                  <a:pt x="226219" y="210344"/>
                </a:lnTo>
                <a:lnTo>
                  <a:pt x="186531" y="210344"/>
                </a:lnTo>
                <a:lnTo>
                  <a:pt x="186531" y="186531"/>
                </a:lnTo>
                <a:lnTo>
                  <a:pt x="222250" y="186531"/>
                </a:lnTo>
                <a:close/>
                <a:moveTo>
                  <a:pt x="95250" y="186531"/>
                </a:moveTo>
                <a:lnTo>
                  <a:pt x="99219" y="186531"/>
                </a:lnTo>
                <a:lnTo>
                  <a:pt x="99219" y="210344"/>
                </a:lnTo>
                <a:lnTo>
                  <a:pt x="59531" y="210344"/>
                </a:lnTo>
                <a:lnTo>
                  <a:pt x="59531" y="186531"/>
                </a:lnTo>
                <a:lnTo>
                  <a:pt x="95250" y="186531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454400" y="7294563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876800" y="71675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5070475" y="734536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638800" y="7294563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理论基础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286000" cy="520700"/>
          </a:xfrm>
          <a:custGeom>
            <a:avLst/>
            <a:gdLst/>
            <a:ahLst/>
            <a:cxnLst/>
            <a:rect l="l" t="t" r="r" b="b"/>
            <a:pathLst>
              <a:path w="2286000" h="520700">
                <a:moveTo>
                  <a:pt x="50799" y="0"/>
                </a:moveTo>
                <a:lnTo>
                  <a:pt x="2235201" y="0"/>
                </a:lnTo>
                <a:cubicBezTo>
                  <a:pt x="2263256" y="0"/>
                  <a:pt x="2286000" y="22744"/>
                  <a:pt x="2286000" y="50799"/>
                </a:cubicBezTo>
                <a:lnTo>
                  <a:pt x="2286000" y="469901"/>
                </a:lnTo>
                <a:cubicBezTo>
                  <a:pt x="2286000" y="497956"/>
                  <a:pt x="2263256" y="520700"/>
                  <a:pt x="2235201" y="520700"/>
                </a:cubicBezTo>
                <a:lnTo>
                  <a:pt x="50799" y="520700"/>
                </a:lnTo>
                <a:cubicBezTo>
                  <a:pt x="22744" y="520700"/>
                  <a:pt x="0" y="497956"/>
                  <a:pt x="0" y="4699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3900" y="641350"/>
            <a:ext cx="19680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COURSE OUTLINE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938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课程大纲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2209800"/>
            <a:ext cx="7442200" cy="1651000"/>
          </a:xfrm>
          <a:custGeom>
            <a:avLst/>
            <a:gdLst/>
            <a:ahLst/>
            <a:cxnLst/>
            <a:rect l="l" t="t" r="r" b="b"/>
            <a:pathLst>
              <a:path w="7442200" h="1651000">
                <a:moveTo>
                  <a:pt x="50800" y="0"/>
                </a:moveTo>
                <a:lnTo>
                  <a:pt x="7340597" y="0"/>
                </a:lnTo>
                <a:cubicBezTo>
                  <a:pt x="7396711" y="0"/>
                  <a:pt x="7442200" y="45489"/>
                  <a:pt x="7442200" y="101603"/>
                </a:cubicBezTo>
                <a:lnTo>
                  <a:pt x="7442200" y="1549397"/>
                </a:lnTo>
                <a:cubicBezTo>
                  <a:pt x="7442200" y="1605511"/>
                  <a:pt x="7396711" y="1651000"/>
                  <a:pt x="7340597" y="1651000"/>
                </a:cubicBezTo>
                <a:lnTo>
                  <a:pt x="50800" y="1651000"/>
                </a:lnTo>
                <a:cubicBezTo>
                  <a:pt x="22763" y="1651000"/>
                  <a:pt x="0" y="1628237"/>
                  <a:pt x="0" y="1600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2209800"/>
            <a:ext cx="50800" cy="1651000"/>
          </a:xfrm>
          <a:custGeom>
            <a:avLst/>
            <a:gdLst/>
            <a:ahLst/>
            <a:cxnLst/>
            <a:rect l="l" t="t" r="r" b="b"/>
            <a:pathLst>
              <a:path w="50800" h="1651000">
                <a:moveTo>
                  <a:pt x="50800" y="0"/>
                </a:moveTo>
                <a:lnTo>
                  <a:pt x="50800" y="0"/>
                </a:lnTo>
                <a:lnTo>
                  <a:pt x="50800" y="1651000"/>
                </a:lnTo>
                <a:lnTo>
                  <a:pt x="50800" y="1651000"/>
                </a:lnTo>
                <a:cubicBezTo>
                  <a:pt x="22763" y="1651000"/>
                  <a:pt x="0" y="1628237"/>
                  <a:pt x="0" y="1600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12800" y="2463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12924" y="2616200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27200" y="2616200"/>
            <a:ext cx="289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分布式系统发展历史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276600"/>
            <a:ext cx="7010400" cy="330200"/>
          </a:xfrm>
          <a:prstGeom prst="rect">
            <a:avLst/>
          </a:prstGeom>
          <a:noFill/>
          <a:ln/>
        </p:spPr>
        <p:txBody>
          <a:bodyPr wrap="square" lIns="9144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从集中式到云原生的技术演进之路,探索关键里程碑与技术突破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4064000"/>
            <a:ext cx="7442200" cy="1651000"/>
          </a:xfrm>
          <a:custGeom>
            <a:avLst/>
            <a:gdLst/>
            <a:ahLst/>
            <a:cxnLst/>
            <a:rect l="l" t="t" r="r" b="b"/>
            <a:pathLst>
              <a:path w="7442200" h="1651000">
                <a:moveTo>
                  <a:pt x="50800" y="0"/>
                </a:moveTo>
                <a:lnTo>
                  <a:pt x="7340597" y="0"/>
                </a:lnTo>
                <a:cubicBezTo>
                  <a:pt x="7396711" y="0"/>
                  <a:pt x="7442200" y="45489"/>
                  <a:pt x="7442200" y="101603"/>
                </a:cubicBezTo>
                <a:lnTo>
                  <a:pt x="7442200" y="1549397"/>
                </a:lnTo>
                <a:cubicBezTo>
                  <a:pt x="7442200" y="1605511"/>
                  <a:pt x="7396711" y="1651000"/>
                  <a:pt x="7340597" y="1651000"/>
                </a:cubicBezTo>
                <a:lnTo>
                  <a:pt x="50800" y="1651000"/>
                </a:lnTo>
                <a:cubicBezTo>
                  <a:pt x="22763" y="1651000"/>
                  <a:pt x="0" y="1628237"/>
                  <a:pt x="0" y="1600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33400" y="4064000"/>
            <a:ext cx="50800" cy="1651000"/>
          </a:xfrm>
          <a:custGeom>
            <a:avLst/>
            <a:gdLst/>
            <a:ahLst/>
            <a:cxnLst/>
            <a:rect l="l" t="t" r="r" b="b"/>
            <a:pathLst>
              <a:path w="50800" h="1651000">
                <a:moveTo>
                  <a:pt x="50800" y="0"/>
                </a:moveTo>
                <a:lnTo>
                  <a:pt x="50800" y="0"/>
                </a:lnTo>
                <a:lnTo>
                  <a:pt x="50800" y="1651000"/>
                </a:lnTo>
                <a:lnTo>
                  <a:pt x="50800" y="1651000"/>
                </a:lnTo>
                <a:cubicBezTo>
                  <a:pt x="22763" y="1651000"/>
                  <a:pt x="0" y="1628237"/>
                  <a:pt x="0" y="1600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12800" y="4318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87127" y="44704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27200" y="4470400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基本概念与特征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5130800"/>
            <a:ext cx="7010400" cy="330200"/>
          </a:xfrm>
          <a:prstGeom prst="rect">
            <a:avLst/>
          </a:prstGeom>
          <a:noFill/>
          <a:ln/>
        </p:spPr>
        <p:txBody>
          <a:bodyPr wrap="square" lIns="9144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建立分布式系统的基础认知框架,理解核心概念与关键特征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5918200"/>
            <a:ext cx="7442200" cy="1651000"/>
          </a:xfrm>
          <a:custGeom>
            <a:avLst/>
            <a:gdLst/>
            <a:ahLst/>
            <a:cxnLst/>
            <a:rect l="l" t="t" r="r" b="b"/>
            <a:pathLst>
              <a:path w="7442200" h="1651000">
                <a:moveTo>
                  <a:pt x="50800" y="0"/>
                </a:moveTo>
                <a:lnTo>
                  <a:pt x="7340597" y="0"/>
                </a:lnTo>
                <a:cubicBezTo>
                  <a:pt x="7396711" y="0"/>
                  <a:pt x="7442200" y="45489"/>
                  <a:pt x="7442200" y="101603"/>
                </a:cubicBezTo>
                <a:lnTo>
                  <a:pt x="7442200" y="1549397"/>
                </a:lnTo>
                <a:cubicBezTo>
                  <a:pt x="7442200" y="1605511"/>
                  <a:pt x="7396711" y="1651000"/>
                  <a:pt x="7340597" y="1651000"/>
                </a:cubicBezTo>
                <a:lnTo>
                  <a:pt x="50800" y="1651000"/>
                </a:lnTo>
                <a:cubicBezTo>
                  <a:pt x="22763" y="1651000"/>
                  <a:pt x="0" y="1628237"/>
                  <a:pt x="0" y="1600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33400" y="5918200"/>
            <a:ext cx="50800" cy="1651000"/>
          </a:xfrm>
          <a:custGeom>
            <a:avLst/>
            <a:gdLst/>
            <a:ahLst/>
            <a:cxnLst/>
            <a:rect l="l" t="t" r="r" b="b"/>
            <a:pathLst>
              <a:path w="50800" h="1651000">
                <a:moveTo>
                  <a:pt x="50800" y="0"/>
                </a:moveTo>
                <a:lnTo>
                  <a:pt x="50800" y="0"/>
                </a:lnTo>
                <a:lnTo>
                  <a:pt x="50800" y="1651000"/>
                </a:lnTo>
                <a:lnTo>
                  <a:pt x="50800" y="1651000"/>
                </a:lnTo>
                <a:cubicBezTo>
                  <a:pt x="22763" y="1651000"/>
                  <a:pt x="0" y="1628237"/>
                  <a:pt x="0" y="1600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12800" y="6172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83159" y="63246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27200" y="63246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核心挑战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" y="6985000"/>
            <a:ext cx="7010400" cy="330200"/>
          </a:xfrm>
          <a:prstGeom prst="rect">
            <a:avLst/>
          </a:prstGeom>
          <a:noFill/>
          <a:ln/>
        </p:spPr>
        <p:txBody>
          <a:bodyPr wrap="square" lIns="9144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理解网络不可靠性、时钟同步与应用层核心挑战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05800" y="2209800"/>
            <a:ext cx="7442200" cy="1651000"/>
          </a:xfrm>
          <a:custGeom>
            <a:avLst/>
            <a:gdLst/>
            <a:ahLst/>
            <a:cxnLst/>
            <a:rect l="l" t="t" r="r" b="b"/>
            <a:pathLst>
              <a:path w="7442200" h="1651000">
                <a:moveTo>
                  <a:pt x="50800" y="0"/>
                </a:moveTo>
                <a:lnTo>
                  <a:pt x="7340597" y="0"/>
                </a:lnTo>
                <a:cubicBezTo>
                  <a:pt x="7396711" y="0"/>
                  <a:pt x="7442200" y="45489"/>
                  <a:pt x="7442200" y="101603"/>
                </a:cubicBezTo>
                <a:lnTo>
                  <a:pt x="7442200" y="1549397"/>
                </a:lnTo>
                <a:cubicBezTo>
                  <a:pt x="7442200" y="1605511"/>
                  <a:pt x="7396711" y="1651000"/>
                  <a:pt x="7340597" y="1651000"/>
                </a:cubicBezTo>
                <a:lnTo>
                  <a:pt x="50800" y="1651000"/>
                </a:lnTo>
                <a:cubicBezTo>
                  <a:pt x="22763" y="1651000"/>
                  <a:pt x="0" y="1628237"/>
                  <a:pt x="0" y="1600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305800" y="2209800"/>
            <a:ext cx="50800" cy="1651000"/>
          </a:xfrm>
          <a:custGeom>
            <a:avLst/>
            <a:gdLst/>
            <a:ahLst/>
            <a:cxnLst/>
            <a:rect l="l" t="t" r="r" b="b"/>
            <a:pathLst>
              <a:path w="50800" h="1651000">
                <a:moveTo>
                  <a:pt x="50800" y="0"/>
                </a:moveTo>
                <a:lnTo>
                  <a:pt x="50800" y="0"/>
                </a:lnTo>
                <a:lnTo>
                  <a:pt x="50800" y="1651000"/>
                </a:lnTo>
                <a:lnTo>
                  <a:pt x="50800" y="1651000"/>
                </a:lnTo>
                <a:cubicBezTo>
                  <a:pt x="22763" y="1651000"/>
                  <a:pt x="0" y="1628237"/>
                  <a:pt x="0" y="1600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85200" y="2463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755856" y="26162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99600" y="26162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核心理论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85200" y="3276600"/>
            <a:ext cx="7010400" cy="330200"/>
          </a:xfrm>
          <a:prstGeom prst="rect">
            <a:avLst/>
          </a:prstGeom>
          <a:noFill/>
          <a:ln/>
        </p:spPr>
        <p:txBody>
          <a:bodyPr wrap="square" lIns="9144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掌握CAP定理、BASE理论与一致性模型的深刻内涵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05800" y="4064000"/>
            <a:ext cx="7442200" cy="1651000"/>
          </a:xfrm>
          <a:custGeom>
            <a:avLst/>
            <a:gdLst/>
            <a:ahLst/>
            <a:cxnLst/>
            <a:rect l="l" t="t" r="r" b="b"/>
            <a:pathLst>
              <a:path w="7442200" h="1651000">
                <a:moveTo>
                  <a:pt x="50800" y="0"/>
                </a:moveTo>
                <a:lnTo>
                  <a:pt x="7340597" y="0"/>
                </a:lnTo>
                <a:cubicBezTo>
                  <a:pt x="7396711" y="0"/>
                  <a:pt x="7442200" y="45489"/>
                  <a:pt x="7442200" y="101603"/>
                </a:cubicBezTo>
                <a:lnTo>
                  <a:pt x="7442200" y="1549397"/>
                </a:lnTo>
                <a:cubicBezTo>
                  <a:pt x="7442200" y="1605511"/>
                  <a:pt x="7396711" y="1651000"/>
                  <a:pt x="7340597" y="1651000"/>
                </a:cubicBezTo>
                <a:lnTo>
                  <a:pt x="50800" y="1651000"/>
                </a:lnTo>
                <a:cubicBezTo>
                  <a:pt x="22763" y="1651000"/>
                  <a:pt x="0" y="1628237"/>
                  <a:pt x="0" y="1600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05800" y="4064000"/>
            <a:ext cx="50800" cy="1651000"/>
          </a:xfrm>
          <a:custGeom>
            <a:avLst/>
            <a:gdLst/>
            <a:ahLst/>
            <a:cxnLst/>
            <a:rect l="l" t="t" r="r" b="b"/>
            <a:pathLst>
              <a:path w="50800" h="1651000">
                <a:moveTo>
                  <a:pt x="50800" y="0"/>
                </a:moveTo>
                <a:lnTo>
                  <a:pt x="50800" y="0"/>
                </a:lnTo>
                <a:lnTo>
                  <a:pt x="50800" y="1651000"/>
                </a:lnTo>
                <a:lnTo>
                  <a:pt x="50800" y="1651000"/>
                </a:lnTo>
                <a:cubicBezTo>
                  <a:pt x="22763" y="1651000"/>
                  <a:pt x="0" y="1628237"/>
                  <a:pt x="0" y="1600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585200" y="4318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754170" y="44704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99600" y="44704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85200" y="5130800"/>
            <a:ext cx="7010400" cy="330200"/>
          </a:xfrm>
          <a:prstGeom prst="rect">
            <a:avLst/>
          </a:prstGeom>
          <a:noFill/>
          <a:ln/>
        </p:spPr>
        <p:txBody>
          <a:bodyPr wrap="square" lIns="9144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学习共识算法、数据分片、故障检测等关键技术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05800" y="5918200"/>
            <a:ext cx="7442200" cy="1651000"/>
          </a:xfrm>
          <a:custGeom>
            <a:avLst/>
            <a:gdLst/>
            <a:ahLst/>
            <a:cxnLst/>
            <a:rect l="l" t="t" r="r" b="b"/>
            <a:pathLst>
              <a:path w="7442200" h="1651000">
                <a:moveTo>
                  <a:pt x="50800" y="0"/>
                </a:moveTo>
                <a:lnTo>
                  <a:pt x="7340597" y="0"/>
                </a:lnTo>
                <a:cubicBezTo>
                  <a:pt x="7396711" y="0"/>
                  <a:pt x="7442200" y="45489"/>
                  <a:pt x="7442200" y="101603"/>
                </a:cubicBezTo>
                <a:lnTo>
                  <a:pt x="7442200" y="1549397"/>
                </a:lnTo>
                <a:cubicBezTo>
                  <a:pt x="7442200" y="1605511"/>
                  <a:pt x="7396711" y="1651000"/>
                  <a:pt x="7340597" y="1651000"/>
                </a:cubicBezTo>
                <a:lnTo>
                  <a:pt x="50800" y="1651000"/>
                </a:lnTo>
                <a:cubicBezTo>
                  <a:pt x="22763" y="1651000"/>
                  <a:pt x="0" y="1628237"/>
                  <a:pt x="0" y="1600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305800" y="5918200"/>
            <a:ext cx="50800" cy="1651000"/>
          </a:xfrm>
          <a:custGeom>
            <a:avLst/>
            <a:gdLst/>
            <a:ahLst/>
            <a:cxnLst/>
            <a:rect l="l" t="t" r="r" b="b"/>
            <a:pathLst>
              <a:path w="50800" h="1651000">
                <a:moveTo>
                  <a:pt x="50800" y="0"/>
                </a:moveTo>
                <a:lnTo>
                  <a:pt x="50800" y="0"/>
                </a:lnTo>
                <a:lnTo>
                  <a:pt x="50800" y="1651000"/>
                </a:lnTo>
                <a:lnTo>
                  <a:pt x="50800" y="1651000"/>
                </a:lnTo>
                <a:cubicBezTo>
                  <a:pt x="22763" y="1651000"/>
                  <a:pt x="0" y="1628237"/>
                  <a:pt x="0" y="1600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585200" y="6172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53574" y="6324600"/>
            <a:ext cx="520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99600" y="63246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知识总结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85200" y="6985000"/>
            <a:ext cx="7010400" cy="330200"/>
          </a:xfrm>
          <a:prstGeom prst="rect">
            <a:avLst/>
          </a:prstGeom>
          <a:noFill/>
          <a:ln/>
        </p:spPr>
        <p:txBody>
          <a:bodyPr wrap="square" lIns="9144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整合全文内容,形成完整的分布式系统认知体系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14350" y="7905750"/>
            <a:ext cx="15227300" cy="723900"/>
          </a:xfrm>
          <a:custGeom>
            <a:avLst/>
            <a:gdLst/>
            <a:ahLst/>
            <a:cxnLst/>
            <a:rect l="l" t="t" r="r" b="b"/>
            <a:pathLst>
              <a:path w="15227300" h="723900">
                <a:moveTo>
                  <a:pt x="101599" y="0"/>
                </a:moveTo>
                <a:lnTo>
                  <a:pt x="15125701" y="0"/>
                </a:lnTo>
                <a:cubicBezTo>
                  <a:pt x="15181812" y="0"/>
                  <a:pt x="15227300" y="45488"/>
                  <a:pt x="15227300" y="101599"/>
                </a:cubicBezTo>
                <a:lnTo>
                  <a:pt x="15227300" y="622301"/>
                </a:lnTo>
                <a:cubicBezTo>
                  <a:pt x="15227300" y="678412"/>
                  <a:pt x="15181812" y="723900"/>
                  <a:pt x="15125701" y="723900"/>
                </a:cubicBezTo>
                <a:lnTo>
                  <a:pt x="101599" y="723900"/>
                </a:lnTo>
                <a:cubicBezTo>
                  <a:pt x="45488" y="723900"/>
                  <a:pt x="0" y="678412"/>
                  <a:pt x="0" y="6223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787400" y="81407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93800" y="8115300"/>
            <a:ext cx="758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学习目标: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建立完整的分布式系统知识体系,掌握从基础概念到核心机制的系统性理解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1252538"/>
            <a:ext cx="3403600" cy="863600"/>
          </a:xfrm>
          <a:custGeom>
            <a:avLst/>
            <a:gdLst/>
            <a:ahLst/>
            <a:cxnLst/>
            <a:rect l="l" t="t" r="r" b="b"/>
            <a:pathLst>
              <a:path w="3403600" h="863600">
                <a:moveTo>
                  <a:pt x="101603" y="0"/>
                </a:moveTo>
                <a:lnTo>
                  <a:pt x="3301997" y="0"/>
                </a:lnTo>
                <a:cubicBezTo>
                  <a:pt x="3358111" y="0"/>
                  <a:pt x="3403600" y="45489"/>
                  <a:pt x="3403600" y="101603"/>
                </a:cubicBezTo>
                <a:lnTo>
                  <a:pt x="3403600" y="761997"/>
                </a:lnTo>
                <a:cubicBezTo>
                  <a:pt x="3403600" y="818111"/>
                  <a:pt x="3358111" y="863600"/>
                  <a:pt x="3301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14400" y="1430338"/>
            <a:ext cx="278705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kern="0" spc="300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522538"/>
            <a:ext cx="15849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 err="1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分布式系统发展历史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976938"/>
            <a:ext cx="99441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从集中式到云原生的技术演进之路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4350" y="7212013"/>
            <a:ext cx="2171700" cy="673100"/>
          </a:xfrm>
          <a:custGeom>
            <a:avLst/>
            <a:gdLst/>
            <a:ahLst/>
            <a:cxnLst/>
            <a:rect l="l" t="t" r="r" b="b"/>
            <a:pathLst>
              <a:path w="2171700" h="673100">
                <a:moveTo>
                  <a:pt x="101598" y="0"/>
                </a:moveTo>
                <a:lnTo>
                  <a:pt x="2070102" y="0"/>
                </a:lnTo>
                <a:cubicBezTo>
                  <a:pt x="2126213" y="0"/>
                  <a:pt x="2171700" y="45487"/>
                  <a:pt x="2171700" y="101598"/>
                </a:cubicBezTo>
                <a:lnTo>
                  <a:pt x="2171700" y="571502"/>
                </a:lnTo>
                <a:cubicBezTo>
                  <a:pt x="2171700" y="627613"/>
                  <a:pt x="2126213" y="673100"/>
                  <a:pt x="2070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41375" y="742791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31750"/>
                </a:moveTo>
                <a:cubicBezTo>
                  <a:pt x="195461" y="31750"/>
                  <a:pt x="238125" y="74414"/>
                  <a:pt x="238125" y="127000"/>
                </a:cubicBezTo>
                <a:cubicBezTo>
                  <a:pt x="238125" y="179586"/>
                  <a:pt x="195461" y="222250"/>
                  <a:pt x="142875" y="222250"/>
                </a:cubicBezTo>
                <a:cubicBezTo>
                  <a:pt x="110530" y="222250"/>
                  <a:pt x="81905" y="206127"/>
                  <a:pt x="64691" y="181421"/>
                </a:cubicBezTo>
                <a:cubicBezTo>
                  <a:pt x="59680" y="174228"/>
                  <a:pt x="49758" y="172492"/>
                  <a:pt x="42565" y="177502"/>
                </a:cubicBezTo>
                <a:cubicBezTo>
                  <a:pt x="35371" y="182513"/>
                  <a:pt x="33635" y="192435"/>
                  <a:pt x="38646" y="199628"/>
                </a:cubicBezTo>
                <a:cubicBezTo>
                  <a:pt x="61565" y="232470"/>
                  <a:pt x="99715" y="254000"/>
                  <a:pt x="142875" y="254000"/>
                </a:cubicBezTo>
                <a:cubicBezTo>
                  <a:pt x="213023" y="254000"/>
                  <a:pt x="269875" y="197148"/>
                  <a:pt x="269875" y="127000"/>
                </a:cubicBezTo>
                <a:cubicBezTo>
                  <a:pt x="269875" y="56852"/>
                  <a:pt x="213023" y="0"/>
                  <a:pt x="142875" y="0"/>
                </a:cubicBezTo>
                <a:cubicBezTo>
                  <a:pt x="100360" y="0"/>
                  <a:pt x="62756" y="20886"/>
                  <a:pt x="39688" y="52933"/>
                </a:cubicBezTo>
                <a:lnTo>
                  <a:pt x="39688" y="39688"/>
                </a:lnTo>
                <a:cubicBezTo>
                  <a:pt x="39688" y="30907"/>
                  <a:pt x="32593" y="23812"/>
                  <a:pt x="23812" y="23812"/>
                </a:cubicBezTo>
                <a:cubicBezTo>
                  <a:pt x="15032" y="23812"/>
                  <a:pt x="7938" y="30907"/>
                  <a:pt x="7938" y="39688"/>
                </a:cubicBezTo>
                <a:lnTo>
                  <a:pt x="7938" y="95250"/>
                </a:lnTo>
                <a:cubicBezTo>
                  <a:pt x="7938" y="104031"/>
                  <a:pt x="15032" y="111125"/>
                  <a:pt x="23812" y="111125"/>
                </a:cubicBezTo>
                <a:lnTo>
                  <a:pt x="36016" y="111125"/>
                </a:lnTo>
                <a:cubicBezTo>
                  <a:pt x="36264" y="111125"/>
                  <a:pt x="36513" y="111125"/>
                  <a:pt x="36761" y="111125"/>
                </a:cubicBezTo>
                <a:lnTo>
                  <a:pt x="79425" y="111125"/>
                </a:lnTo>
                <a:cubicBezTo>
                  <a:pt x="88205" y="111125"/>
                  <a:pt x="95300" y="104031"/>
                  <a:pt x="95300" y="95250"/>
                </a:cubicBezTo>
                <a:cubicBezTo>
                  <a:pt x="95300" y="86469"/>
                  <a:pt x="88205" y="79375"/>
                  <a:pt x="79425" y="79375"/>
                </a:cubicBezTo>
                <a:lnTo>
                  <a:pt x="60424" y="79375"/>
                </a:lnTo>
                <a:cubicBezTo>
                  <a:pt x="76845" y="50899"/>
                  <a:pt x="107652" y="31750"/>
                  <a:pt x="142875" y="31750"/>
                </a:cubicBezTo>
                <a:close/>
                <a:moveTo>
                  <a:pt x="154781" y="75406"/>
                </a:moveTo>
                <a:cubicBezTo>
                  <a:pt x="154781" y="68808"/>
                  <a:pt x="149473" y="63500"/>
                  <a:pt x="142875" y="63500"/>
                </a:cubicBezTo>
                <a:cubicBezTo>
                  <a:pt x="136277" y="63500"/>
                  <a:pt x="130969" y="68808"/>
                  <a:pt x="130969" y="75406"/>
                </a:cubicBezTo>
                <a:lnTo>
                  <a:pt x="130969" y="127000"/>
                </a:lnTo>
                <a:cubicBezTo>
                  <a:pt x="130969" y="130175"/>
                  <a:pt x="132209" y="133201"/>
                  <a:pt x="134441" y="135434"/>
                </a:cubicBezTo>
                <a:lnTo>
                  <a:pt x="170160" y="171152"/>
                </a:lnTo>
                <a:cubicBezTo>
                  <a:pt x="174823" y="175816"/>
                  <a:pt x="182364" y="175816"/>
                  <a:pt x="186978" y="171152"/>
                </a:cubicBezTo>
                <a:cubicBezTo>
                  <a:pt x="191591" y="166489"/>
                  <a:pt x="191641" y="158948"/>
                  <a:pt x="186978" y="154335"/>
                </a:cubicBezTo>
                <a:lnTo>
                  <a:pt x="154732" y="122089"/>
                </a:lnTo>
                <a:lnTo>
                  <a:pt x="154732" y="75406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354138" y="7377113"/>
            <a:ext cx="11430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技术演进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98788" y="7212013"/>
            <a:ext cx="2425700" cy="673100"/>
          </a:xfrm>
          <a:custGeom>
            <a:avLst/>
            <a:gdLst/>
            <a:ahLst/>
            <a:cxnLst/>
            <a:rect l="l" t="t" r="r" b="b"/>
            <a:pathLst>
              <a:path w="2425700" h="673100">
                <a:moveTo>
                  <a:pt x="101598" y="0"/>
                </a:moveTo>
                <a:lnTo>
                  <a:pt x="2324102" y="0"/>
                </a:lnTo>
                <a:cubicBezTo>
                  <a:pt x="2380213" y="0"/>
                  <a:pt x="2425700" y="45487"/>
                  <a:pt x="2425700" y="101598"/>
                </a:cubicBezTo>
                <a:lnTo>
                  <a:pt x="2425700" y="571502"/>
                </a:lnTo>
                <a:cubicBezTo>
                  <a:pt x="2425700" y="627613"/>
                  <a:pt x="2380213" y="673100"/>
                  <a:pt x="2324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3341688" y="74279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8418" y="2530"/>
                </a:moveTo>
                <a:cubicBezTo>
                  <a:pt x="123627" y="-843"/>
                  <a:pt x="130373" y="-843"/>
                  <a:pt x="135582" y="2530"/>
                </a:cubicBezTo>
                <a:lnTo>
                  <a:pt x="246707" y="73968"/>
                </a:lnTo>
                <a:cubicBezTo>
                  <a:pt x="252611" y="77787"/>
                  <a:pt x="255339" y="85030"/>
                  <a:pt x="253355" y="91777"/>
                </a:cubicBezTo>
                <a:cubicBezTo>
                  <a:pt x="251371" y="98524"/>
                  <a:pt x="245170" y="103188"/>
                  <a:pt x="238125" y="103188"/>
                </a:cubicBezTo>
                <a:lnTo>
                  <a:pt x="222250" y="103188"/>
                </a:lnTo>
                <a:lnTo>
                  <a:pt x="222250" y="206375"/>
                </a:lnTo>
                <a:lnTo>
                  <a:pt x="247650" y="225425"/>
                </a:lnTo>
                <a:cubicBezTo>
                  <a:pt x="251668" y="228402"/>
                  <a:pt x="254000" y="233114"/>
                  <a:pt x="254000" y="238125"/>
                </a:cubicBezTo>
                <a:cubicBezTo>
                  <a:pt x="254000" y="246906"/>
                  <a:pt x="246906" y="254000"/>
                  <a:pt x="238125" y="254000"/>
                </a:cubicBezTo>
                <a:lnTo>
                  <a:pt x="15875" y="254000"/>
                </a:lnTo>
                <a:cubicBezTo>
                  <a:pt x="7094" y="254000"/>
                  <a:pt x="0" y="246906"/>
                  <a:pt x="0" y="238125"/>
                </a:cubicBezTo>
                <a:cubicBezTo>
                  <a:pt x="0" y="233114"/>
                  <a:pt x="2332" y="228402"/>
                  <a:pt x="6350" y="225425"/>
                </a:cubicBezTo>
                <a:lnTo>
                  <a:pt x="31750" y="206375"/>
                </a:lnTo>
                <a:lnTo>
                  <a:pt x="31750" y="206375"/>
                </a:lnTo>
                <a:lnTo>
                  <a:pt x="31750" y="103188"/>
                </a:lnTo>
                <a:lnTo>
                  <a:pt x="15875" y="103188"/>
                </a:lnTo>
                <a:cubicBezTo>
                  <a:pt x="8830" y="103188"/>
                  <a:pt x="2629" y="98524"/>
                  <a:pt x="645" y="91777"/>
                </a:cubicBezTo>
                <a:cubicBezTo>
                  <a:pt x="-1339" y="85030"/>
                  <a:pt x="1389" y="77738"/>
                  <a:pt x="7293" y="73968"/>
                </a:cubicBezTo>
                <a:lnTo>
                  <a:pt x="118418" y="2530"/>
                </a:lnTo>
                <a:close/>
                <a:moveTo>
                  <a:pt x="166688" y="103188"/>
                </a:moveTo>
                <a:lnTo>
                  <a:pt x="166688" y="206375"/>
                </a:lnTo>
                <a:lnTo>
                  <a:pt x="198438" y="206375"/>
                </a:lnTo>
                <a:lnTo>
                  <a:pt x="198438" y="103188"/>
                </a:lnTo>
                <a:lnTo>
                  <a:pt x="166688" y="103188"/>
                </a:lnTo>
                <a:close/>
                <a:moveTo>
                  <a:pt x="111125" y="206375"/>
                </a:moveTo>
                <a:lnTo>
                  <a:pt x="142875" y="206375"/>
                </a:lnTo>
                <a:lnTo>
                  <a:pt x="142875" y="103188"/>
                </a:lnTo>
                <a:lnTo>
                  <a:pt x="111125" y="103188"/>
                </a:lnTo>
                <a:lnTo>
                  <a:pt x="111125" y="206375"/>
                </a:lnTo>
                <a:close/>
                <a:moveTo>
                  <a:pt x="55563" y="103188"/>
                </a:moveTo>
                <a:lnTo>
                  <a:pt x="55563" y="206375"/>
                </a:lnTo>
                <a:lnTo>
                  <a:pt x="87313" y="206375"/>
                </a:lnTo>
                <a:lnTo>
                  <a:pt x="87313" y="103188"/>
                </a:lnTo>
                <a:lnTo>
                  <a:pt x="55563" y="103188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838575" y="7377113"/>
            <a:ext cx="13970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关键里程碑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37225" y="7212013"/>
            <a:ext cx="2425700" cy="673100"/>
          </a:xfrm>
          <a:custGeom>
            <a:avLst/>
            <a:gdLst/>
            <a:ahLst/>
            <a:cxnLst/>
            <a:rect l="l" t="t" r="r" b="b"/>
            <a:pathLst>
              <a:path w="2425700" h="673100">
                <a:moveTo>
                  <a:pt x="101598" y="0"/>
                </a:moveTo>
                <a:lnTo>
                  <a:pt x="2324102" y="0"/>
                </a:lnTo>
                <a:cubicBezTo>
                  <a:pt x="2380213" y="0"/>
                  <a:pt x="2425700" y="45487"/>
                  <a:pt x="2425700" y="101598"/>
                </a:cubicBezTo>
                <a:lnTo>
                  <a:pt x="2425700" y="571502"/>
                </a:lnTo>
                <a:cubicBezTo>
                  <a:pt x="2425700" y="627613"/>
                  <a:pt x="2380213" y="673100"/>
                  <a:pt x="2324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6080125" y="74279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577013" y="7377113"/>
            <a:ext cx="13970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驱动力分析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921000" cy="520700"/>
          </a:xfrm>
          <a:custGeom>
            <a:avLst/>
            <a:gdLst/>
            <a:ahLst/>
            <a:cxnLst/>
            <a:rect l="l" t="t" r="r" b="b"/>
            <a:pathLst>
              <a:path w="2921000" h="520700">
                <a:moveTo>
                  <a:pt x="50799" y="0"/>
                </a:moveTo>
                <a:lnTo>
                  <a:pt x="2870201" y="0"/>
                </a:lnTo>
                <a:cubicBezTo>
                  <a:pt x="2898256" y="0"/>
                  <a:pt x="2921000" y="22744"/>
                  <a:pt x="2921000" y="50799"/>
                </a:cubicBezTo>
                <a:lnTo>
                  <a:pt x="2921000" y="469901"/>
                </a:lnTo>
                <a:cubicBezTo>
                  <a:pt x="2921000" y="497956"/>
                  <a:pt x="2898256" y="520700"/>
                  <a:pt x="2870201" y="520700"/>
                </a:cubicBezTo>
                <a:lnTo>
                  <a:pt x="50799" y="520700"/>
                </a:lnTo>
                <a:cubicBezTo>
                  <a:pt x="22744" y="520700"/>
                  <a:pt x="0" y="497956"/>
                  <a:pt x="0" y="4699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3900" y="641350"/>
            <a:ext cx="26032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DEVELOPMENT STAGES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43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发展阶段概览:从集中式到云原生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6100" y="200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41400" y="1955800"/>
            <a:ext cx="1485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架构复杂度演进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25654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341600" y="25654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2971800"/>
            <a:ext cx="15240000" cy="152400"/>
          </a:xfrm>
          <a:custGeom>
            <a:avLst/>
            <a:gdLst/>
            <a:ahLst/>
            <a:cxnLst/>
            <a:rect l="l" t="t" r="r" b="b"/>
            <a:pathLst>
              <a:path w="15240000" h="152400">
                <a:moveTo>
                  <a:pt x="76200" y="0"/>
                </a:moveTo>
                <a:lnTo>
                  <a:pt x="15163800" y="0"/>
                </a:lnTo>
                <a:cubicBezTo>
                  <a:pt x="15205856" y="0"/>
                  <a:pt x="15240000" y="34144"/>
                  <a:pt x="15240000" y="76200"/>
                </a:cubicBezTo>
                <a:lnTo>
                  <a:pt x="15240000" y="76200"/>
                </a:lnTo>
                <a:cubicBezTo>
                  <a:pt x="15240000" y="118256"/>
                  <a:pt x="15205856" y="152400"/>
                  <a:pt x="151638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08000" y="2971800"/>
            <a:ext cx="15240000" cy="152400"/>
          </a:xfrm>
          <a:custGeom>
            <a:avLst/>
            <a:gdLst/>
            <a:ahLst/>
            <a:cxnLst/>
            <a:rect l="l" t="t" r="r" b="b"/>
            <a:pathLst>
              <a:path w="15240000" h="152400">
                <a:moveTo>
                  <a:pt x="76200" y="0"/>
                </a:moveTo>
                <a:lnTo>
                  <a:pt x="15163800" y="0"/>
                </a:lnTo>
                <a:cubicBezTo>
                  <a:pt x="15205856" y="0"/>
                  <a:pt x="15240000" y="34144"/>
                  <a:pt x="15240000" y="76200"/>
                </a:cubicBezTo>
                <a:lnTo>
                  <a:pt x="15240000" y="76200"/>
                </a:lnTo>
                <a:cubicBezTo>
                  <a:pt x="15240000" y="118256"/>
                  <a:pt x="15205856" y="152400"/>
                  <a:pt x="151638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37"/>
              </a:gs>
              <a:gs pos="100000">
                <a:srgbClr val="D4A237">
                  <a:alpha val="4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08000" y="3276600"/>
            <a:ext cx="62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集中式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64558" y="32766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客户端-服务器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34387" y="32766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主从架构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8745" y="32766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无共享架构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80902" y="32766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云原生分布式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4350" y="3841750"/>
            <a:ext cx="15227300" cy="3479800"/>
          </a:xfrm>
          <a:custGeom>
            <a:avLst/>
            <a:gdLst/>
            <a:ahLst/>
            <a:cxnLst/>
            <a:rect l="l" t="t" r="r" b="b"/>
            <a:pathLst>
              <a:path w="15227300" h="3479800">
                <a:moveTo>
                  <a:pt x="101610" y="0"/>
                </a:moveTo>
                <a:lnTo>
                  <a:pt x="15125690" y="0"/>
                </a:lnTo>
                <a:cubicBezTo>
                  <a:pt x="15181808" y="0"/>
                  <a:pt x="15227300" y="45492"/>
                  <a:pt x="15227300" y="101610"/>
                </a:cubicBezTo>
                <a:lnTo>
                  <a:pt x="15227300" y="3378190"/>
                </a:lnTo>
                <a:cubicBezTo>
                  <a:pt x="15227300" y="3434308"/>
                  <a:pt x="15181808" y="3479800"/>
                  <a:pt x="15125690" y="3479800"/>
                </a:cubicBezTo>
                <a:lnTo>
                  <a:pt x="101610" y="3479800"/>
                </a:lnTo>
                <a:cubicBezTo>
                  <a:pt x="45492" y="3479800"/>
                  <a:pt x="0" y="3434308"/>
                  <a:pt x="0" y="3378190"/>
                </a:cubicBezTo>
                <a:lnTo>
                  <a:pt x="0" y="101610"/>
                </a:lnTo>
                <a:cubicBezTo>
                  <a:pt x="0" y="45530"/>
                  <a:pt x="45530" y="0"/>
                  <a:pt x="101610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20700" y="3848100"/>
            <a:ext cx="15214600" cy="666750"/>
          </a:xfrm>
          <a:custGeom>
            <a:avLst/>
            <a:gdLst/>
            <a:ahLst/>
            <a:cxnLst/>
            <a:rect l="l" t="t" r="r" b="b"/>
            <a:pathLst>
              <a:path w="15214600" h="666750">
                <a:moveTo>
                  <a:pt x="0" y="0"/>
                </a:moveTo>
                <a:lnTo>
                  <a:pt x="15214600" y="0"/>
                </a:lnTo>
                <a:lnTo>
                  <a:pt x="1521460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20700" y="4514850"/>
            <a:ext cx="15214600" cy="12700"/>
          </a:xfrm>
          <a:custGeom>
            <a:avLst/>
            <a:gdLst/>
            <a:ahLst/>
            <a:cxnLst/>
            <a:rect l="l" t="t" r="r" b="b"/>
            <a:pathLst>
              <a:path w="15214600" h="12700">
                <a:moveTo>
                  <a:pt x="0" y="0"/>
                </a:moveTo>
                <a:lnTo>
                  <a:pt x="15214600" y="0"/>
                </a:lnTo>
                <a:lnTo>
                  <a:pt x="15214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73125" y="40513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7000" y="79375"/>
                </a:moveTo>
                <a:lnTo>
                  <a:pt x="127000" y="127000"/>
                </a:lnTo>
                <a:lnTo>
                  <a:pt x="190500" y="127000"/>
                </a:lnTo>
                <a:lnTo>
                  <a:pt x="190500" y="79375"/>
                </a:lnTo>
                <a:lnTo>
                  <a:pt x="127000" y="79375"/>
                </a:lnTo>
                <a:close/>
                <a:moveTo>
                  <a:pt x="95250" y="79375"/>
                </a:moveTo>
                <a:lnTo>
                  <a:pt x="31750" y="79375"/>
                </a:lnTo>
                <a:lnTo>
                  <a:pt x="31750" y="127000"/>
                </a:lnTo>
                <a:lnTo>
                  <a:pt x="95250" y="127000"/>
                </a:lnTo>
                <a:lnTo>
                  <a:pt x="95250" y="79375"/>
                </a:lnTo>
                <a:close/>
                <a:moveTo>
                  <a:pt x="0" y="158750"/>
                </a:moveTo>
                <a:lnTo>
                  <a:pt x="0" y="47625"/>
                </a:lnTo>
                <a:cubicBezTo>
                  <a:pt x="0" y="30113"/>
                  <a:pt x="14238" y="15875"/>
                  <a:pt x="31750" y="15875"/>
                </a:cubicBezTo>
                <a:lnTo>
                  <a:pt x="190500" y="15875"/>
                </a:lnTo>
                <a:cubicBezTo>
                  <a:pt x="208012" y="15875"/>
                  <a:pt x="222250" y="30113"/>
                  <a:pt x="222250" y="47625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158750"/>
                </a:lnTo>
                <a:close/>
                <a:moveTo>
                  <a:pt x="190500" y="158750"/>
                </a:moveTo>
                <a:lnTo>
                  <a:pt x="127000" y="158750"/>
                </a:lnTo>
                <a:lnTo>
                  <a:pt x="127000" y="206375"/>
                </a:lnTo>
                <a:lnTo>
                  <a:pt x="190500" y="206375"/>
                </a:lnTo>
                <a:lnTo>
                  <a:pt x="190500" y="158750"/>
                </a:lnTo>
                <a:close/>
                <a:moveTo>
                  <a:pt x="95250" y="206375"/>
                </a:moveTo>
                <a:lnTo>
                  <a:pt x="95250" y="158750"/>
                </a:lnTo>
                <a:lnTo>
                  <a:pt x="31750" y="158750"/>
                </a:lnTo>
                <a:lnTo>
                  <a:pt x="31750" y="206375"/>
                </a:lnTo>
                <a:lnTo>
                  <a:pt x="95250" y="206375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295400" y="4000500"/>
            <a:ext cx="142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发展阶段详细对比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0700" y="4521200"/>
          <a:ext cx="15214600" cy="2794002"/>
        </p:xfrm>
        <a:graphic>
          <a:graphicData uri="http://schemas.openxmlformats.org/drawingml/2006/table">
            <a:tbl>
              <a:tblPr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发展阶段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时间范围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核心特征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典型技术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代表系统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集中式系统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1960s-1980s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单一主机,终端访问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大型机、小型机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IBM 大型机系统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客户端-服务器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1980s-1990s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两层架构,网络通信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TCP/IP、RPC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早期数据库系统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主从架构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1990s-2000s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主节点协调,从节点执行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主从复制、负载均衡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MySQL 主从复制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无共享架构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2000s-2010s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节点独立,水平扩展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分片、一致性哈希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Google MapReduce、Hadoop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云原生分布式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2010s-至今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微服务、容器化、自动化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Kubernetes 1.29.x、服务网格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Kubernetes、Istio 1.20.x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247900" cy="520700"/>
          </a:xfrm>
          <a:custGeom>
            <a:avLst/>
            <a:gdLst/>
            <a:ahLst/>
            <a:cxnLst/>
            <a:rect l="l" t="t" r="r" b="b"/>
            <a:pathLst>
              <a:path w="2247900" h="520700">
                <a:moveTo>
                  <a:pt x="50799" y="0"/>
                </a:moveTo>
                <a:lnTo>
                  <a:pt x="2197101" y="0"/>
                </a:lnTo>
                <a:cubicBezTo>
                  <a:pt x="2225156" y="0"/>
                  <a:pt x="2247900" y="22744"/>
                  <a:pt x="2247900" y="50799"/>
                </a:cubicBezTo>
                <a:lnTo>
                  <a:pt x="2247900" y="469901"/>
                </a:lnTo>
                <a:cubicBezTo>
                  <a:pt x="2247900" y="497956"/>
                  <a:pt x="2225156" y="520700"/>
                  <a:pt x="2197101" y="520700"/>
                </a:cubicBezTo>
                <a:lnTo>
                  <a:pt x="50799" y="520700"/>
                </a:lnTo>
                <a:cubicBezTo>
                  <a:pt x="22744" y="520700"/>
                  <a:pt x="0" y="497956"/>
                  <a:pt x="0" y="4699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3900" y="641350"/>
            <a:ext cx="19316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43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关键历史里程碑与技术突破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09750"/>
            <a:ext cx="15227300" cy="5518150"/>
          </a:xfrm>
          <a:custGeom>
            <a:avLst/>
            <a:gdLst/>
            <a:ahLst/>
            <a:cxnLst/>
            <a:rect l="l" t="t" r="r" b="b"/>
            <a:pathLst>
              <a:path w="15227300" h="6819900">
                <a:moveTo>
                  <a:pt x="101617" y="0"/>
                </a:moveTo>
                <a:lnTo>
                  <a:pt x="15125683" y="0"/>
                </a:lnTo>
                <a:cubicBezTo>
                  <a:pt x="15181805" y="0"/>
                  <a:pt x="15227300" y="45495"/>
                  <a:pt x="15227300" y="101617"/>
                </a:cubicBezTo>
                <a:lnTo>
                  <a:pt x="15227300" y="6718283"/>
                </a:lnTo>
                <a:cubicBezTo>
                  <a:pt x="15227300" y="6774405"/>
                  <a:pt x="15181805" y="6819900"/>
                  <a:pt x="15125683" y="6819900"/>
                </a:cubicBezTo>
                <a:lnTo>
                  <a:pt x="101617" y="6819900"/>
                </a:lnTo>
                <a:cubicBezTo>
                  <a:pt x="45495" y="6819900"/>
                  <a:pt x="0" y="6774405"/>
                  <a:pt x="0" y="6718283"/>
                </a:cubicBezTo>
                <a:lnTo>
                  <a:pt x="0" y="101617"/>
                </a:lnTo>
                <a:cubicBezTo>
                  <a:pt x="0" y="45533"/>
                  <a:pt x="45533" y="0"/>
                  <a:pt x="101617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20700" y="1816100"/>
            <a:ext cx="15214600" cy="565150"/>
          </a:xfrm>
          <a:custGeom>
            <a:avLst/>
            <a:gdLst/>
            <a:ahLst/>
            <a:cxnLst/>
            <a:rect l="l" t="t" r="r" b="b"/>
            <a:pathLst>
              <a:path w="15214600" h="565150">
                <a:moveTo>
                  <a:pt x="0" y="0"/>
                </a:moveTo>
                <a:lnTo>
                  <a:pt x="15214600" y="0"/>
                </a:lnTo>
                <a:lnTo>
                  <a:pt x="15214600" y="565150"/>
                </a:lnTo>
                <a:lnTo>
                  <a:pt x="0" y="565150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2381250"/>
            <a:ext cx="15214600" cy="12700"/>
          </a:xfrm>
          <a:custGeom>
            <a:avLst/>
            <a:gdLst/>
            <a:ahLst/>
            <a:cxnLst/>
            <a:rect l="l" t="t" r="r" b="b"/>
            <a:pathLst>
              <a:path w="15214600" h="12700">
                <a:moveTo>
                  <a:pt x="0" y="0"/>
                </a:moveTo>
                <a:lnTo>
                  <a:pt x="15214600" y="0"/>
                </a:lnTo>
                <a:lnTo>
                  <a:pt x="15214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73125" y="19685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31750" y="7094"/>
                  <a:pt x="24656" y="0"/>
                  <a:pt x="15875" y="0"/>
                </a:cubicBezTo>
                <a:cubicBezTo>
                  <a:pt x="7094" y="0"/>
                  <a:pt x="0" y="7094"/>
                  <a:pt x="0" y="15875"/>
                </a:cubicBezTo>
                <a:lnTo>
                  <a:pt x="0" y="238125"/>
                </a:lnTo>
                <a:cubicBezTo>
                  <a:pt x="0" y="246906"/>
                  <a:pt x="7094" y="254000"/>
                  <a:pt x="15875" y="254000"/>
                </a:cubicBezTo>
                <a:cubicBezTo>
                  <a:pt x="24656" y="254000"/>
                  <a:pt x="31750" y="246906"/>
                  <a:pt x="31750" y="238125"/>
                </a:cubicBezTo>
                <a:lnTo>
                  <a:pt x="31750" y="177800"/>
                </a:lnTo>
                <a:lnTo>
                  <a:pt x="62855" y="168473"/>
                </a:lnTo>
                <a:cubicBezTo>
                  <a:pt x="83641" y="162223"/>
                  <a:pt x="106065" y="164157"/>
                  <a:pt x="125462" y="173881"/>
                </a:cubicBezTo>
                <a:cubicBezTo>
                  <a:pt x="146645" y="184497"/>
                  <a:pt x="171351" y="185787"/>
                  <a:pt x="193526" y="177453"/>
                </a:cubicBezTo>
                <a:lnTo>
                  <a:pt x="211931" y="170557"/>
                </a:lnTo>
                <a:cubicBezTo>
                  <a:pt x="218132" y="168225"/>
                  <a:pt x="222250" y="162322"/>
                  <a:pt x="222250" y="155674"/>
                </a:cubicBezTo>
                <a:lnTo>
                  <a:pt x="222250" y="32792"/>
                </a:lnTo>
                <a:cubicBezTo>
                  <a:pt x="222250" y="21382"/>
                  <a:pt x="210245" y="13940"/>
                  <a:pt x="200025" y="19050"/>
                </a:cubicBezTo>
                <a:lnTo>
                  <a:pt x="194171" y="21977"/>
                </a:lnTo>
                <a:cubicBezTo>
                  <a:pt x="171896" y="33139"/>
                  <a:pt x="145653" y="33139"/>
                  <a:pt x="123329" y="21977"/>
                </a:cubicBezTo>
                <a:cubicBezTo>
                  <a:pt x="105271" y="12948"/>
                  <a:pt x="84485" y="11162"/>
                  <a:pt x="65187" y="16966"/>
                </a:cubicBezTo>
                <a:lnTo>
                  <a:pt x="31750" y="26988"/>
                </a:lnTo>
                <a:lnTo>
                  <a:pt x="31750" y="15875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95400" y="1917700"/>
            <a:ext cx="142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分布式系统发展的重要节点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0700" y="2387600"/>
          <a:ext cx="15214600" cy="4864106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16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年份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里程碑事件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技术突破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影响意义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16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1969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ARPANET 诞生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分组交换网络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现代互联网和分布式通信的基础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16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1973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Ethernet 发明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局域网技术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使计算机网络连接成为可能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16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1981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TCP/IP 协议标准化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网络协议栈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统一了网络通信标准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16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1989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World Wide Web 发明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HTTP 协议、HTML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分布式信息系统的革命性突破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16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1995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Java 语言发布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"一次编写,到处运行"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简化了分布式应用开发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16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1999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Google 创立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大规模分布式搜索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证明了分布式系统的商业价值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16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2003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GFS 论文发表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分布式文件系统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开启了大数据存储时代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16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2004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MapReduce 论文发表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分布式计算框架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使大规模数据处理成为可能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16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2006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AWS 推出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云计算服务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分布式系统即服务的商业化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16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2008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Hadoop 开源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开源大数据生态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降低了分布式系统使用门槛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16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2013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Docker 发布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容器化技术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简化了分布式应用部署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416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2014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Kubernetes 开源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容器编排平台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自动化分布式系统管理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356" y="475356"/>
            <a:ext cx="2042270" cy="481225"/>
          </a:xfrm>
          <a:custGeom>
            <a:avLst/>
            <a:gdLst/>
            <a:ahLst/>
            <a:cxnLst/>
            <a:rect l="l" t="t" r="r" b="b"/>
            <a:pathLst>
              <a:path w="2042270" h="481225">
                <a:moveTo>
                  <a:pt x="46948" y="0"/>
                </a:moveTo>
                <a:lnTo>
                  <a:pt x="1995322" y="0"/>
                </a:lnTo>
                <a:cubicBezTo>
                  <a:pt x="2021251" y="0"/>
                  <a:pt x="2042270" y="21019"/>
                  <a:pt x="2042270" y="46948"/>
                </a:cubicBezTo>
                <a:lnTo>
                  <a:pt x="2042270" y="434276"/>
                </a:lnTo>
                <a:cubicBezTo>
                  <a:pt x="2042270" y="460205"/>
                  <a:pt x="2021251" y="481225"/>
                  <a:pt x="1995322" y="481225"/>
                </a:cubicBezTo>
                <a:lnTo>
                  <a:pt x="46948" y="481225"/>
                </a:lnTo>
                <a:cubicBezTo>
                  <a:pt x="21019" y="481225"/>
                  <a:pt x="0" y="460205"/>
                  <a:pt x="0" y="434276"/>
                </a:cubicBezTo>
                <a:lnTo>
                  <a:pt x="0" y="46948"/>
                </a:lnTo>
                <a:cubicBezTo>
                  <a:pt x="0" y="21037"/>
                  <a:pt x="21037" y="0"/>
                  <a:pt x="46948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9019" y="592728"/>
            <a:ext cx="175122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kern="0" spc="74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DRIVING FORCES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9487" y="1056347"/>
            <a:ext cx="15528295" cy="469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2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技术演进的驱动力:需求与基础设施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356" y="1719497"/>
            <a:ext cx="7500061" cy="2734764"/>
          </a:xfrm>
          <a:custGeom>
            <a:avLst/>
            <a:gdLst/>
            <a:ahLst/>
            <a:cxnLst/>
            <a:rect l="l" t="t" r="r" b="b"/>
            <a:pathLst>
              <a:path w="7500061" h="2734764">
                <a:moveTo>
                  <a:pt x="93884" y="0"/>
                </a:moveTo>
                <a:lnTo>
                  <a:pt x="7406176" y="0"/>
                </a:lnTo>
                <a:cubicBezTo>
                  <a:pt x="7458027" y="0"/>
                  <a:pt x="7500061" y="42033"/>
                  <a:pt x="7500061" y="93884"/>
                </a:cubicBezTo>
                <a:lnTo>
                  <a:pt x="7500061" y="2640879"/>
                </a:lnTo>
                <a:cubicBezTo>
                  <a:pt x="7500061" y="2692730"/>
                  <a:pt x="7458027" y="2734764"/>
                  <a:pt x="7406176" y="2734764"/>
                </a:cubicBezTo>
                <a:lnTo>
                  <a:pt x="93884" y="2734764"/>
                </a:lnTo>
                <a:cubicBezTo>
                  <a:pt x="42033" y="2734764"/>
                  <a:pt x="0" y="2692730"/>
                  <a:pt x="0" y="2640879"/>
                </a:cubicBezTo>
                <a:lnTo>
                  <a:pt x="0" y="93884"/>
                </a:lnTo>
                <a:cubicBezTo>
                  <a:pt x="0" y="42033"/>
                  <a:pt x="42033" y="0"/>
                  <a:pt x="9388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04231" y="1960110"/>
            <a:ext cx="281692" cy="281692"/>
          </a:xfrm>
          <a:custGeom>
            <a:avLst/>
            <a:gdLst/>
            <a:ahLst/>
            <a:cxnLst/>
            <a:rect l="l" t="t" r="r" b="b"/>
            <a:pathLst>
              <a:path w="281692" h="281692">
                <a:moveTo>
                  <a:pt x="35212" y="35212"/>
                </a:moveTo>
                <a:cubicBezTo>
                  <a:pt x="35212" y="25473"/>
                  <a:pt x="27344" y="17606"/>
                  <a:pt x="17606" y="17606"/>
                </a:cubicBezTo>
                <a:cubicBezTo>
                  <a:pt x="7868" y="17606"/>
                  <a:pt x="0" y="25473"/>
                  <a:pt x="0" y="35212"/>
                </a:cubicBezTo>
                <a:lnTo>
                  <a:pt x="0" y="220072"/>
                </a:lnTo>
                <a:cubicBezTo>
                  <a:pt x="0" y="244390"/>
                  <a:pt x="19696" y="264087"/>
                  <a:pt x="44014" y="264087"/>
                </a:cubicBezTo>
                <a:lnTo>
                  <a:pt x="264087" y="264087"/>
                </a:lnTo>
                <a:cubicBezTo>
                  <a:pt x="273825" y="264087"/>
                  <a:pt x="281692" y="256219"/>
                  <a:pt x="281692" y="246481"/>
                </a:cubicBezTo>
                <a:cubicBezTo>
                  <a:pt x="281692" y="236743"/>
                  <a:pt x="273825" y="228875"/>
                  <a:pt x="264087" y="228875"/>
                </a:cubicBezTo>
                <a:lnTo>
                  <a:pt x="44014" y="228875"/>
                </a:lnTo>
                <a:cubicBezTo>
                  <a:pt x="39173" y="228875"/>
                  <a:pt x="35212" y="224914"/>
                  <a:pt x="35212" y="220072"/>
                </a:cubicBezTo>
                <a:lnTo>
                  <a:pt x="35212" y="35212"/>
                </a:lnTo>
                <a:close/>
                <a:moveTo>
                  <a:pt x="258915" y="82857"/>
                </a:moveTo>
                <a:cubicBezTo>
                  <a:pt x="265792" y="75980"/>
                  <a:pt x="265792" y="64811"/>
                  <a:pt x="258915" y="57934"/>
                </a:cubicBezTo>
                <a:cubicBezTo>
                  <a:pt x="252038" y="51057"/>
                  <a:pt x="240869" y="51057"/>
                  <a:pt x="233992" y="57934"/>
                </a:cubicBezTo>
                <a:lnTo>
                  <a:pt x="176058" y="115923"/>
                </a:lnTo>
                <a:lnTo>
                  <a:pt x="144477" y="84398"/>
                </a:lnTo>
                <a:cubicBezTo>
                  <a:pt x="137600" y="77520"/>
                  <a:pt x="126431" y="77520"/>
                  <a:pt x="119554" y="84398"/>
                </a:cubicBezTo>
                <a:lnTo>
                  <a:pt x="66737" y="137215"/>
                </a:lnTo>
                <a:cubicBezTo>
                  <a:pt x="59860" y="144092"/>
                  <a:pt x="59860" y="155261"/>
                  <a:pt x="66737" y="162138"/>
                </a:cubicBezTo>
                <a:cubicBezTo>
                  <a:pt x="73614" y="169015"/>
                  <a:pt x="84783" y="169015"/>
                  <a:pt x="91660" y="162138"/>
                </a:cubicBezTo>
                <a:lnTo>
                  <a:pt x="132043" y="121755"/>
                </a:lnTo>
                <a:lnTo>
                  <a:pt x="163624" y="153335"/>
                </a:lnTo>
                <a:cubicBezTo>
                  <a:pt x="170501" y="160213"/>
                  <a:pt x="181670" y="160213"/>
                  <a:pt x="188547" y="153335"/>
                </a:cubicBezTo>
                <a:lnTo>
                  <a:pt x="258970" y="82912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51303" y="1913161"/>
            <a:ext cx="6771296" cy="375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业务需求的爆炸式增长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9019" y="2476546"/>
            <a:ext cx="1220667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数据规模演进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9019" y="2805187"/>
            <a:ext cx="1490622" cy="56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1990s: KB → MB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29240" y="2992982"/>
            <a:ext cx="187795" cy="187795"/>
          </a:xfrm>
          <a:custGeom>
            <a:avLst/>
            <a:gdLst/>
            <a:ahLst/>
            <a:cxnLst/>
            <a:rect l="l" t="t" r="r" b="b"/>
            <a:pathLst>
              <a:path w="187795" h="187795">
                <a:moveTo>
                  <a:pt x="184347" y="102187"/>
                </a:moveTo>
                <a:cubicBezTo>
                  <a:pt x="188932" y="97602"/>
                  <a:pt x="188932" y="90156"/>
                  <a:pt x="184347" y="85571"/>
                </a:cubicBezTo>
                <a:lnTo>
                  <a:pt x="125661" y="26885"/>
                </a:lnTo>
                <a:cubicBezTo>
                  <a:pt x="121076" y="22301"/>
                  <a:pt x="113631" y="22301"/>
                  <a:pt x="109046" y="26885"/>
                </a:cubicBezTo>
                <a:cubicBezTo>
                  <a:pt x="104461" y="31470"/>
                  <a:pt x="104461" y="38916"/>
                  <a:pt x="109046" y="43501"/>
                </a:cubicBezTo>
                <a:lnTo>
                  <a:pt x="147705" y="82160"/>
                </a:lnTo>
                <a:lnTo>
                  <a:pt x="11737" y="82160"/>
                </a:lnTo>
                <a:cubicBezTo>
                  <a:pt x="5245" y="82160"/>
                  <a:pt x="0" y="87405"/>
                  <a:pt x="0" y="93897"/>
                </a:cubicBezTo>
                <a:cubicBezTo>
                  <a:pt x="0" y="100390"/>
                  <a:pt x="5245" y="105635"/>
                  <a:pt x="11737" y="105635"/>
                </a:cubicBezTo>
                <a:lnTo>
                  <a:pt x="147705" y="105635"/>
                </a:lnTo>
                <a:lnTo>
                  <a:pt x="109046" y="144294"/>
                </a:lnTo>
                <a:cubicBezTo>
                  <a:pt x="104461" y="148879"/>
                  <a:pt x="104461" y="156325"/>
                  <a:pt x="109046" y="160909"/>
                </a:cubicBezTo>
                <a:cubicBezTo>
                  <a:pt x="113631" y="165494"/>
                  <a:pt x="121076" y="165494"/>
                  <a:pt x="125661" y="160909"/>
                </a:cubicBezTo>
                <a:lnTo>
                  <a:pt x="184347" y="10222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575487" y="2805187"/>
            <a:ext cx="1549308" cy="56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2000s: MB → GB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95218" y="2992982"/>
            <a:ext cx="187795" cy="187795"/>
          </a:xfrm>
          <a:custGeom>
            <a:avLst/>
            <a:gdLst/>
            <a:ahLst/>
            <a:cxnLst/>
            <a:rect l="l" t="t" r="r" b="b"/>
            <a:pathLst>
              <a:path w="187795" h="187795">
                <a:moveTo>
                  <a:pt x="184347" y="102187"/>
                </a:moveTo>
                <a:cubicBezTo>
                  <a:pt x="188932" y="97602"/>
                  <a:pt x="188932" y="90156"/>
                  <a:pt x="184347" y="85571"/>
                </a:cubicBezTo>
                <a:lnTo>
                  <a:pt x="125661" y="26885"/>
                </a:lnTo>
                <a:cubicBezTo>
                  <a:pt x="121076" y="22301"/>
                  <a:pt x="113631" y="22301"/>
                  <a:pt x="109046" y="26885"/>
                </a:cubicBezTo>
                <a:cubicBezTo>
                  <a:pt x="104461" y="31470"/>
                  <a:pt x="104461" y="38916"/>
                  <a:pt x="109046" y="43501"/>
                </a:cubicBezTo>
                <a:lnTo>
                  <a:pt x="147705" y="82160"/>
                </a:lnTo>
                <a:lnTo>
                  <a:pt x="11737" y="82160"/>
                </a:lnTo>
                <a:cubicBezTo>
                  <a:pt x="5245" y="82160"/>
                  <a:pt x="0" y="87405"/>
                  <a:pt x="0" y="93897"/>
                </a:cubicBezTo>
                <a:cubicBezTo>
                  <a:pt x="0" y="100390"/>
                  <a:pt x="5245" y="105635"/>
                  <a:pt x="11737" y="105635"/>
                </a:cubicBezTo>
                <a:lnTo>
                  <a:pt x="147705" y="105635"/>
                </a:lnTo>
                <a:lnTo>
                  <a:pt x="109046" y="144294"/>
                </a:lnTo>
                <a:cubicBezTo>
                  <a:pt x="104461" y="148879"/>
                  <a:pt x="104461" y="156325"/>
                  <a:pt x="109046" y="160909"/>
                </a:cubicBezTo>
                <a:cubicBezTo>
                  <a:pt x="113631" y="165494"/>
                  <a:pt x="121076" y="165494"/>
                  <a:pt x="125661" y="160909"/>
                </a:cubicBezTo>
                <a:lnTo>
                  <a:pt x="184347" y="10222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41465" y="2805187"/>
            <a:ext cx="1455411" cy="56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2010s: GB → TB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68399" y="2992982"/>
            <a:ext cx="187795" cy="187795"/>
          </a:xfrm>
          <a:custGeom>
            <a:avLst/>
            <a:gdLst/>
            <a:ahLst/>
            <a:cxnLst/>
            <a:rect l="l" t="t" r="r" b="b"/>
            <a:pathLst>
              <a:path w="187795" h="187795">
                <a:moveTo>
                  <a:pt x="184347" y="102187"/>
                </a:moveTo>
                <a:cubicBezTo>
                  <a:pt x="188932" y="97602"/>
                  <a:pt x="188932" y="90156"/>
                  <a:pt x="184347" y="85571"/>
                </a:cubicBezTo>
                <a:lnTo>
                  <a:pt x="125661" y="26885"/>
                </a:lnTo>
                <a:cubicBezTo>
                  <a:pt x="121076" y="22301"/>
                  <a:pt x="113631" y="22301"/>
                  <a:pt x="109046" y="26885"/>
                </a:cubicBezTo>
                <a:cubicBezTo>
                  <a:pt x="104461" y="31470"/>
                  <a:pt x="104461" y="38916"/>
                  <a:pt x="109046" y="43501"/>
                </a:cubicBezTo>
                <a:lnTo>
                  <a:pt x="147705" y="82160"/>
                </a:lnTo>
                <a:lnTo>
                  <a:pt x="11737" y="82160"/>
                </a:lnTo>
                <a:cubicBezTo>
                  <a:pt x="5245" y="82160"/>
                  <a:pt x="0" y="87405"/>
                  <a:pt x="0" y="93897"/>
                </a:cubicBezTo>
                <a:cubicBezTo>
                  <a:pt x="0" y="100390"/>
                  <a:pt x="5245" y="105635"/>
                  <a:pt x="11737" y="105635"/>
                </a:cubicBezTo>
                <a:lnTo>
                  <a:pt x="147705" y="105635"/>
                </a:lnTo>
                <a:lnTo>
                  <a:pt x="109046" y="144294"/>
                </a:lnTo>
                <a:cubicBezTo>
                  <a:pt x="104461" y="148879"/>
                  <a:pt x="104461" y="156325"/>
                  <a:pt x="109046" y="160909"/>
                </a:cubicBezTo>
                <a:cubicBezTo>
                  <a:pt x="113631" y="165494"/>
                  <a:pt x="121076" y="165494"/>
                  <a:pt x="125661" y="160909"/>
                </a:cubicBezTo>
                <a:lnTo>
                  <a:pt x="184347" y="10222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14646" y="2805187"/>
            <a:ext cx="1467148" cy="56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2020s: TB → PB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9019" y="3509418"/>
            <a:ext cx="1220667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用户规模演进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9019" y="3838059"/>
            <a:ext cx="1255879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1990s: 百人级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999814" y="3885008"/>
            <a:ext cx="187795" cy="187795"/>
          </a:xfrm>
          <a:custGeom>
            <a:avLst/>
            <a:gdLst/>
            <a:ahLst/>
            <a:cxnLst/>
            <a:rect l="l" t="t" r="r" b="b"/>
            <a:pathLst>
              <a:path w="187795" h="187795">
                <a:moveTo>
                  <a:pt x="184347" y="102187"/>
                </a:moveTo>
                <a:cubicBezTo>
                  <a:pt x="188932" y="97602"/>
                  <a:pt x="188932" y="90156"/>
                  <a:pt x="184347" y="85571"/>
                </a:cubicBezTo>
                <a:lnTo>
                  <a:pt x="125661" y="26885"/>
                </a:lnTo>
                <a:cubicBezTo>
                  <a:pt x="121076" y="22301"/>
                  <a:pt x="113631" y="22301"/>
                  <a:pt x="109046" y="26885"/>
                </a:cubicBezTo>
                <a:cubicBezTo>
                  <a:pt x="104461" y="31470"/>
                  <a:pt x="104461" y="38916"/>
                  <a:pt x="109046" y="43501"/>
                </a:cubicBezTo>
                <a:lnTo>
                  <a:pt x="147705" y="82160"/>
                </a:lnTo>
                <a:lnTo>
                  <a:pt x="11737" y="82160"/>
                </a:lnTo>
                <a:cubicBezTo>
                  <a:pt x="5245" y="82160"/>
                  <a:pt x="0" y="87405"/>
                  <a:pt x="0" y="93897"/>
                </a:cubicBezTo>
                <a:cubicBezTo>
                  <a:pt x="0" y="100390"/>
                  <a:pt x="5245" y="105635"/>
                  <a:pt x="11737" y="105635"/>
                </a:cubicBezTo>
                <a:lnTo>
                  <a:pt x="147705" y="105635"/>
                </a:lnTo>
                <a:lnTo>
                  <a:pt x="109046" y="144294"/>
                </a:lnTo>
                <a:cubicBezTo>
                  <a:pt x="104461" y="148879"/>
                  <a:pt x="104461" y="156325"/>
                  <a:pt x="109046" y="160909"/>
                </a:cubicBezTo>
                <a:cubicBezTo>
                  <a:pt x="113631" y="165494"/>
                  <a:pt x="121076" y="165494"/>
                  <a:pt x="125661" y="160909"/>
                </a:cubicBezTo>
                <a:lnTo>
                  <a:pt x="184347" y="10222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351930" y="3838059"/>
            <a:ext cx="1302827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2000s: 万人级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26464" y="3885008"/>
            <a:ext cx="187795" cy="187795"/>
          </a:xfrm>
          <a:custGeom>
            <a:avLst/>
            <a:gdLst/>
            <a:ahLst/>
            <a:cxnLst/>
            <a:rect l="l" t="t" r="r" b="b"/>
            <a:pathLst>
              <a:path w="187795" h="187795">
                <a:moveTo>
                  <a:pt x="184347" y="102187"/>
                </a:moveTo>
                <a:cubicBezTo>
                  <a:pt x="188932" y="97602"/>
                  <a:pt x="188932" y="90156"/>
                  <a:pt x="184347" y="85571"/>
                </a:cubicBezTo>
                <a:lnTo>
                  <a:pt x="125661" y="26885"/>
                </a:lnTo>
                <a:cubicBezTo>
                  <a:pt x="121076" y="22301"/>
                  <a:pt x="113631" y="22301"/>
                  <a:pt x="109046" y="26885"/>
                </a:cubicBezTo>
                <a:cubicBezTo>
                  <a:pt x="104461" y="31470"/>
                  <a:pt x="104461" y="38916"/>
                  <a:pt x="109046" y="43501"/>
                </a:cubicBezTo>
                <a:lnTo>
                  <a:pt x="147705" y="82160"/>
                </a:lnTo>
                <a:lnTo>
                  <a:pt x="11737" y="82160"/>
                </a:lnTo>
                <a:cubicBezTo>
                  <a:pt x="5245" y="82160"/>
                  <a:pt x="0" y="87405"/>
                  <a:pt x="0" y="93897"/>
                </a:cubicBezTo>
                <a:cubicBezTo>
                  <a:pt x="0" y="100390"/>
                  <a:pt x="5245" y="105635"/>
                  <a:pt x="11737" y="105635"/>
                </a:cubicBezTo>
                <a:lnTo>
                  <a:pt x="147705" y="105635"/>
                </a:lnTo>
                <a:lnTo>
                  <a:pt x="109046" y="144294"/>
                </a:lnTo>
                <a:cubicBezTo>
                  <a:pt x="104461" y="148879"/>
                  <a:pt x="104461" y="156325"/>
                  <a:pt x="109046" y="160909"/>
                </a:cubicBezTo>
                <a:cubicBezTo>
                  <a:pt x="113631" y="165494"/>
                  <a:pt x="121076" y="165494"/>
                  <a:pt x="125661" y="160909"/>
                </a:cubicBezTo>
                <a:lnTo>
                  <a:pt x="184347" y="10222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078580" y="3838059"/>
            <a:ext cx="1255879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2010s: 千万级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09191" y="3885008"/>
            <a:ext cx="187795" cy="187795"/>
          </a:xfrm>
          <a:custGeom>
            <a:avLst/>
            <a:gdLst/>
            <a:ahLst/>
            <a:cxnLst/>
            <a:rect l="l" t="t" r="r" b="b"/>
            <a:pathLst>
              <a:path w="187795" h="187795">
                <a:moveTo>
                  <a:pt x="184347" y="102187"/>
                </a:moveTo>
                <a:cubicBezTo>
                  <a:pt x="188932" y="97602"/>
                  <a:pt x="188932" y="90156"/>
                  <a:pt x="184347" y="85571"/>
                </a:cubicBezTo>
                <a:lnTo>
                  <a:pt x="125661" y="26885"/>
                </a:lnTo>
                <a:cubicBezTo>
                  <a:pt x="121076" y="22301"/>
                  <a:pt x="113631" y="22301"/>
                  <a:pt x="109046" y="26885"/>
                </a:cubicBezTo>
                <a:cubicBezTo>
                  <a:pt x="104461" y="31470"/>
                  <a:pt x="104461" y="38916"/>
                  <a:pt x="109046" y="43501"/>
                </a:cubicBezTo>
                <a:lnTo>
                  <a:pt x="147705" y="82160"/>
                </a:lnTo>
                <a:lnTo>
                  <a:pt x="11737" y="82160"/>
                </a:lnTo>
                <a:cubicBezTo>
                  <a:pt x="5245" y="82160"/>
                  <a:pt x="0" y="87405"/>
                  <a:pt x="0" y="93897"/>
                </a:cubicBezTo>
                <a:cubicBezTo>
                  <a:pt x="0" y="100390"/>
                  <a:pt x="5245" y="105635"/>
                  <a:pt x="11737" y="105635"/>
                </a:cubicBezTo>
                <a:lnTo>
                  <a:pt x="147705" y="105635"/>
                </a:lnTo>
                <a:lnTo>
                  <a:pt x="109046" y="144294"/>
                </a:lnTo>
                <a:cubicBezTo>
                  <a:pt x="104461" y="148879"/>
                  <a:pt x="104461" y="156325"/>
                  <a:pt x="109046" y="160909"/>
                </a:cubicBezTo>
                <a:cubicBezTo>
                  <a:pt x="113631" y="165494"/>
                  <a:pt x="121076" y="165494"/>
                  <a:pt x="125661" y="160909"/>
                </a:cubicBezTo>
                <a:lnTo>
                  <a:pt x="184347" y="10222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761307" y="3838059"/>
            <a:ext cx="1291090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2020s: 十亿级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73981" y="1719497"/>
            <a:ext cx="7500061" cy="2734764"/>
          </a:xfrm>
          <a:custGeom>
            <a:avLst/>
            <a:gdLst/>
            <a:ahLst/>
            <a:cxnLst/>
            <a:rect l="l" t="t" r="r" b="b"/>
            <a:pathLst>
              <a:path w="7500061" h="2734764">
                <a:moveTo>
                  <a:pt x="93884" y="0"/>
                </a:moveTo>
                <a:lnTo>
                  <a:pt x="7406176" y="0"/>
                </a:lnTo>
                <a:cubicBezTo>
                  <a:pt x="7458027" y="0"/>
                  <a:pt x="7500061" y="42033"/>
                  <a:pt x="7500061" y="93884"/>
                </a:cubicBezTo>
                <a:lnTo>
                  <a:pt x="7500061" y="2640879"/>
                </a:lnTo>
                <a:cubicBezTo>
                  <a:pt x="7500061" y="2692730"/>
                  <a:pt x="7458027" y="2734764"/>
                  <a:pt x="7406176" y="2734764"/>
                </a:cubicBezTo>
                <a:lnTo>
                  <a:pt x="93884" y="2734764"/>
                </a:lnTo>
                <a:cubicBezTo>
                  <a:pt x="42033" y="2734764"/>
                  <a:pt x="0" y="2692730"/>
                  <a:pt x="0" y="2640879"/>
                </a:cubicBezTo>
                <a:lnTo>
                  <a:pt x="0" y="93884"/>
                </a:lnTo>
                <a:cubicBezTo>
                  <a:pt x="0" y="42033"/>
                  <a:pt x="42033" y="0"/>
                  <a:pt x="9388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02856" y="1960110"/>
            <a:ext cx="281692" cy="281692"/>
          </a:xfrm>
          <a:custGeom>
            <a:avLst/>
            <a:gdLst/>
            <a:ahLst/>
            <a:cxnLst/>
            <a:rect l="l" t="t" r="r" b="b"/>
            <a:pathLst>
              <a:path w="281692" h="281692">
                <a:moveTo>
                  <a:pt x="70423" y="176058"/>
                </a:moveTo>
                <a:lnTo>
                  <a:pt x="13479" y="176058"/>
                </a:lnTo>
                <a:cubicBezTo>
                  <a:pt x="-220" y="176058"/>
                  <a:pt x="-8638" y="161148"/>
                  <a:pt x="-1596" y="149374"/>
                </a:cubicBezTo>
                <a:lnTo>
                  <a:pt x="27509" y="100848"/>
                </a:lnTo>
                <a:cubicBezTo>
                  <a:pt x="32296" y="92870"/>
                  <a:pt x="40878" y="88029"/>
                  <a:pt x="50176" y="88029"/>
                </a:cubicBezTo>
                <a:lnTo>
                  <a:pt x="102444" y="88029"/>
                </a:lnTo>
                <a:cubicBezTo>
                  <a:pt x="144312" y="17111"/>
                  <a:pt x="206758" y="13534"/>
                  <a:pt x="248517" y="19641"/>
                </a:cubicBezTo>
                <a:cubicBezTo>
                  <a:pt x="255559" y="20687"/>
                  <a:pt x="261061" y="26189"/>
                  <a:pt x="262051" y="33176"/>
                </a:cubicBezTo>
                <a:cubicBezTo>
                  <a:pt x="268158" y="74935"/>
                  <a:pt x="264582" y="137380"/>
                  <a:pt x="193664" y="179249"/>
                </a:cubicBezTo>
                <a:lnTo>
                  <a:pt x="193664" y="231516"/>
                </a:lnTo>
                <a:cubicBezTo>
                  <a:pt x="193664" y="240814"/>
                  <a:pt x="188822" y="249397"/>
                  <a:pt x="180844" y="254183"/>
                </a:cubicBezTo>
                <a:lnTo>
                  <a:pt x="132318" y="283288"/>
                </a:lnTo>
                <a:cubicBezTo>
                  <a:pt x="120600" y="290330"/>
                  <a:pt x="105635" y="281857"/>
                  <a:pt x="105635" y="268213"/>
                </a:cubicBezTo>
                <a:lnTo>
                  <a:pt x="105635" y="211269"/>
                </a:lnTo>
                <a:cubicBezTo>
                  <a:pt x="105635" y="191848"/>
                  <a:pt x="89844" y="176058"/>
                  <a:pt x="70423" y="176058"/>
                </a:cubicBezTo>
                <a:lnTo>
                  <a:pt x="70368" y="176058"/>
                </a:lnTo>
                <a:close/>
                <a:moveTo>
                  <a:pt x="220072" y="88029"/>
                </a:moveTo>
                <a:cubicBezTo>
                  <a:pt x="220072" y="73454"/>
                  <a:pt x="208239" y="61620"/>
                  <a:pt x="193664" y="61620"/>
                </a:cubicBezTo>
                <a:cubicBezTo>
                  <a:pt x="179088" y="61620"/>
                  <a:pt x="167255" y="73454"/>
                  <a:pt x="167255" y="88029"/>
                </a:cubicBezTo>
                <a:cubicBezTo>
                  <a:pt x="167255" y="102604"/>
                  <a:pt x="179088" y="114438"/>
                  <a:pt x="193664" y="114438"/>
                </a:cubicBezTo>
                <a:cubicBezTo>
                  <a:pt x="208239" y="114438"/>
                  <a:pt x="220072" y="102604"/>
                  <a:pt x="220072" y="88029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949929" y="1913161"/>
            <a:ext cx="6771296" cy="375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典型应用场景演进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67645" y="2476546"/>
            <a:ext cx="7206631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1960s-1980s:</a:t>
            </a: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银行核心系统、政府数据处理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67645" y="2852136"/>
            <a:ext cx="7206631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1980s-1990s:</a:t>
            </a: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企业管理系统、早期互联网应用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67645" y="3227726"/>
            <a:ext cx="7206631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1990s-2000s:</a:t>
            </a: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电商网站、在线游戏、门户网站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67645" y="3603316"/>
            <a:ext cx="7206631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2000s-2010s:</a:t>
            </a: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搜索引擎、社交网络、大数据处理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67645" y="3978905"/>
            <a:ext cx="7206631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2010s-至今:</a:t>
            </a: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云计算、物联网、人工智能、边缘计算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5356" y="4606845"/>
            <a:ext cx="15305288" cy="4061066"/>
          </a:xfrm>
          <a:custGeom>
            <a:avLst/>
            <a:gdLst/>
            <a:ahLst/>
            <a:cxnLst/>
            <a:rect l="l" t="t" r="r" b="b"/>
            <a:pathLst>
              <a:path w="15305288" h="4061066">
                <a:moveTo>
                  <a:pt x="93892" y="0"/>
                </a:moveTo>
                <a:lnTo>
                  <a:pt x="15211396" y="0"/>
                </a:lnTo>
                <a:cubicBezTo>
                  <a:pt x="15263251" y="0"/>
                  <a:pt x="15305288" y="42037"/>
                  <a:pt x="15305288" y="93892"/>
                </a:cubicBezTo>
                <a:lnTo>
                  <a:pt x="15305288" y="3967174"/>
                </a:lnTo>
                <a:cubicBezTo>
                  <a:pt x="15305288" y="4019029"/>
                  <a:pt x="15263251" y="4061066"/>
                  <a:pt x="15211396" y="4061066"/>
                </a:cubicBezTo>
                <a:lnTo>
                  <a:pt x="93892" y="4061066"/>
                </a:lnTo>
                <a:cubicBezTo>
                  <a:pt x="42037" y="4061066"/>
                  <a:pt x="0" y="4019029"/>
                  <a:pt x="0" y="3967174"/>
                </a:cubicBezTo>
                <a:lnTo>
                  <a:pt x="0" y="93892"/>
                </a:lnTo>
                <a:cubicBezTo>
                  <a:pt x="0" y="42072"/>
                  <a:pt x="42072" y="0"/>
                  <a:pt x="93892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81225" y="4612713"/>
            <a:ext cx="15293551" cy="616202"/>
          </a:xfrm>
          <a:custGeom>
            <a:avLst/>
            <a:gdLst/>
            <a:ahLst/>
            <a:cxnLst/>
            <a:rect l="l" t="t" r="r" b="b"/>
            <a:pathLst>
              <a:path w="15293551" h="616202">
                <a:moveTo>
                  <a:pt x="0" y="0"/>
                </a:moveTo>
                <a:lnTo>
                  <a:pt x="15293551" y="0"/>
                </a:lnTo>
                <a:lnTo>
                  <a:pt x="15293551" y="616202"/>
                </a:lnTo>
                <a:lnTo>
                  <a:pt x="0" y="616202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81225" y="5228916"/>
            <a:ext cx="15293551" cy="11737"/>
          </a:xfrm>
          <a:custGeom>
            <a:avLst/>
            <a:gdLst/>
            <a:ahLst/>
            <a:cxnLst/>
            <a:rect l="l" t="t" r="r" b="b"/>
            <a:pathLst>
              <a:path w="15293551" h="11737">
                <a:moveTo>
                  <a:pt x="0" y="0"/>
                </a:moveTo>
                <a:lnTo>
                  <a:pt x="15293551" y="0"/>
                </a:lnTo>
                <a:lnTo>
                  <a:pt x="15293551" y="11737"/>
                </a:lnTo>
                <a:lnTo>
                  <a:pt x="0" y="11737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06931" y="4800508"/>
            <a:ext cx="205401" cy="234744"/>
          </a:xfrm>
          <a:custGeom>
            <a:avLst/>
            <a:gdLst/>
            <a:ahLst/>
            <a:cxnLst/>
            <a:rect l="l" t="t" r="r" b="b"/>
            <a:pathLst>
              <a:path w="205401" h="234744">
                <a:moveTo>
                  <a:pt x="29343" y="14671"/>
                </a:moveTo>
                <a:cubicBezTo>
                  <a:pt x="13158" y="14671"/>
                  <a:pt x="0" y="27830"/>
                  <a:pt x="0" y="44014"/>
                </a:cubicBezTo>
                <a:lnTo>
                  <a:pt x="0" y="73357"/>
                </a:lnTo>
                <a:cubicBezTo>
                  <a:pt x="0" y="89542"/>
                  <a:pt x="13158" y="102700"/>
                  <a:pt x="29343" y="102700"/>
                </a:cubicBezTo>
                <a:lnTo>
                  <a:pt x="176058" y="102700"/>
                </a:lnTo>
                <a:cubicBezTo>
                  <a:pt x="192242" y="102700"/>
                  <a:pt x="205401" y="89542"/>
                  <a:pt x="205401" y="73357"/>
                </a:cubicBezTo>
                <a:lnTo>
                  <a:pt x="205401" y="44014"/>
                </a:lnTo>
                <a:cubicBezTo>
                  <a:pt x="205401" y="27830"/>
                  <a:pt x="192242" y="14671"/>
                  <a:pt x="176058" y="14671"/>
                </a:cubicBezTo>
                <a:lnTo>
                  <a:pt x="29343" y="14671"/>
                </a:lnTo>
                <a:close/>
                <a:moveTo>
                  <a:pt x="128375" y="47682"/>
                </a:moveTo>
                <a:cubicBezTo>
                  <a:pt x="134449" y="47682"/>
                  <a:pt x="139379" y="52613"/>
                  <a:pt x="139379" y="58686"/>
                </a:cubicBezTo>
                <a:cubicBezTo>
                  <a:pt x="139379" y="64759"/>
                  <a:pt x="134449" y="69690"/>
                  <a:pt x="128375" y="69690"/>
                </a:cubicBezTo>
                <a:cubicBezTo>
                  <a:pt x="122302" y="69690"/>
                  <a:pt x="117372" y="64759"/>
                  <a:pt x="117372" y="58686"/>
                </a:cubicBezTo>
                <a:cubicBezTo>
                  <a:pt x="117372" y="52613"/>
                  <a:pt x="122302" y="47682"/>
                  <a:pt x="128375" y="47682"/>
                </a:cubicBezTo>
                <a:close/>
                <a:moveTo>
                  <a:pt x="154051" y="58686"/>
                </a:moveTo>
                <a:cubicBezTo>
                  <a:pt x="154051" y="52613"/>
                  <a:pt x="158981" y="47682"/>
                  <a:pt x="165054" y="47682"/>
                </a:cubicBezTo>
                <a:cubicBezTo>
                  <a:pt x="171127" y="47682"/>
                  <a:pt x="176058" y="52613"/>
                  <a:pt x="176058" y="58686"/>
                </a:cubicBezTo>
                <a:cubicBezTo>
                  <a:pt x="176058" y="64759"/>
                  <a:pt x="171127" y="69690"/>
                  <a:pt x="165054" y="69690"/>
                </a:cubicBezTo>
                <a:cubicBezTo>
                  <a:pt x="158981" y="69690"/>
                  <a:pt x="154051" y="64759"/>
                  <a:pt x="154051" y="58686"/>
                </a:cubicBezTo>
                <a:close/>
                <a:moveTo>
                  <a:pt x="29343" y="132043"/>
                </a:moveTo>
                <a:cubicBezTo>
                  <a:pt x="13158" y="132043"/>
                  <a:pt x="0" y="145202"/>
                  <a:pt x="0" y="161386"/>
                </a:cubicBezTo>
                <a:lnTo>
                  <a:pt x="0" y="190729"/>
                </a:lnTo>
                <a:cubicBezTo>
                  <a:pt x="0" y="206914"/>
                  <a:pt x="13158" y="220072"/>
                  <a:pt x="29343" y="220072"/>
                </a:cubicBezTo>
                <a:lnTo>
                  <a:pt x="176058" y="220072"/>
                </a:lnTo>
                <a:cubicBezTo>
                  <a:pt x="192242" y="220072"/>
                  <a:pt x="205401" y="206914"/>
                  <a:pt x="205401" y="190729"/>
                </a:cubicBezTo>
                <a:lnTo>
                  <a:pt x="205401" y="161386"/>
                </a:lnTo>
                <a:cubicBezTo>
                  <a:pt x="205401" y="145202"/>
                  <a:pt x="192242" y="132043"/>
                  <a:pt x="176058" y="132043"/>
                </a:cubicBezTo>
                <a:lnTo>
                  <a:pt x="29343" y="132043"/>
                </a:lnTo>
                <a:close/>
                <a:moveTo>
                  <a:pt x="128375" y="165054"/>
                </a:moveTo>
                <a:cubicBezTo>
                  <a:pt x="134449" y="165054"/>
                  <a:pt x="139379" y="169985"/>
                  <a:pt x="139379" y="176058"/>
                </a:cubicBezTo>
                <a:cubicBezTo>
                  <a:pt x="139379" y="182131"/>
                  <a:pt x="134449" y="187061"/>
                  <a:pt x="128375" y="187061"/>
                </a:cubicBezTo>
                <a:cubicBezTo>
                  <a:pt x="122302" y="187061"/>
                  <a:pt x="117372" y="182131"/>
                  <a:pt x="117372" y="176058"/>
                </a:cubicBezTo>
                <a:cubicBezTo>
                  <a:pt x="117372" y="169985"/>
                  <a:pt x="122302" y="165054"/>
                  <a:pt x="128375" y="165054"/>
                </a:cubicBezTo>
                <a:close/>
                <a:moveTo>
                  <a:pt x="154051" y="176058"/>
                </a:moveTo>
                <a:cubicBezTo>
                  <a:pt x="154051" y="169985"/>
                  <a:pt x="158981" y="165054"/>
                  <a:pt x="165054" y="165054"/>
                </a:cubicBezTo>
                <a:cubicBezTo>
                  <a:pt x="171127" y="165054"/>
                  <a:pt x="176058" y="169985"/>
                  <a:pt x="176058" y="176058"/>
                </a:cubicBezTo>
                <a:cubicBezTo>
                  <a:pt x="176058" y="182131"/>
                  <a:pt x="171127" y="187061"/>
                  <a:pt x="165054" y="187061"/>
                </a:cubicBezTo>
                <a:cubicBezTo>
                  <a:pt x="158981" y="187061"/>
                  <a:pt x="154051" y="182131"/>
                  <a:pt x="154051" y="17605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86515" y="4753560"/>
            <a:ext cx="14423940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4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技术基础设施的成熟</a:t>
            </a:r>
            <a:endParaRPr lang="en-US" sz="1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1225" y="5234784"/>
          <a:ext cx="15293551" cy="3427260"/>
        </p:xfrm>
        <a:graphic>
          <a:graphicData uri="http://schemas.openxmlformats.org/drawingml/2006/table">
            <a:tbl>
              <a:tblPr/>
              <a:tblGrid>
                <a:gridCol w="2838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3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0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9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17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21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技术领域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1990s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2000s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2010s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2020s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1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网络带宽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56K 拨号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1M 宽带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100M 光纤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1G+ 5G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21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存储成本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$10/MB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$1/GB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$0.1/GB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$0.02/GB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21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 性能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单核 MHz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单核 GHz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多核 GHz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众核 + GPU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21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内存容量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4-16MB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256MB-1GB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4-16GB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64GB+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21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虚拟化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VMware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云虚拟机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容器 + K8s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1252538"/>
            <a:ext cx="3479800" cy="863600"/>
          </a:xfrm>
          <a:custGeom>
            <a:avLst/>
            <a:gdLst/>
            <a:ahLst/>
            <a:cxnLst/>
            <a:rect l="l" t="t" r="r" b="b"/>
            <a:pathLst>
              <a:path w="3479800" h="863600">
                <a:moveTo>
                  <a:pt x="101603" y="0"/>
                </a:moveTo>
                <a:lnTo>
                  <a:pt x="3378197" y="0"/>
                </a:lnTo>
                <a:cubicBezTo>
                  <a:pt x="3434311" y="0"/>
                  <a:pt x="3479800" y="45489"/>
                  <a:pt x="3479800" y="101603"/>
                </a:cubicBezTo>
                <a:lnTo>
                  <a:pt x="3479800" y="761997"/>
                </a:lnTo>
                <a:cubicBezTo>
                  <a:pt x="3479800" y="818111"/>
                  <a:pt x="3434311" y="863600"/>
                  <a:pt x="33781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14400" y="1430338"/>
            <a:ext cx="2851448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kern="0" spc="300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522538"/>
            <a:ext cx="15849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 err="1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基本概念与特征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976938"/>
            <a:ext cx="99441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建立分布式系统的基础认知框架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4350" y="7212013"/>
            <a:ext cx="2171700" cy="673100"/>
          </a:xfrm>
          <a:custGeom>
            <a:avLst/>
            <a:gdLst/>
            <a:ahLst/>
            <a:cxnLst/>
            <a:rect l="l" t="t" r="r" b="b"/>
            <a:pathLst>
              <a:path w="2171700" h="673100">
                <a:moveTo>
                  <a:pt x="101598" y="0"/>
                </a:moveTo>
                <a:lnTo>
                  <a:pt x="2070102" y="0"/>
                </a:lnTo>
                <a:cubicBezTo>
                  <a:pt x="2126213" y="0"/>
                  <a:pt x="2171700" y="45487"/>
                  <a:pt x="2171700" y="101598"/>
                </a:cubicBezTo>
                <a:lnTo>
                  <a:pt x="2171700" y="571502"/>
                </a:lnTo>
                <a:cubicBezTo>
                  <a:pt x="2171700" y="627613"/>
                  <a:pt x="2126213" y="673100"/>
                  <a:pt x="2070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57250" y="74279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354138" y="7377113"/>
            <a:ext cx="11430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基本定义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98788" y="7212013"/>
            <a:ext cx="2171700" cy="673100"/>
          </a:xfrm>
          <a:custGeom>
            <a:avLst/>
            <a:gdLst/>
            <a:ahLst/>
            <a:cxnLst/>
            <a:rect l="l" t="t" r="r" b="b"/>
            <a:pathLst>
              <a:path w="2171700" h="673100">
                <a:moveTo>
                  <a:pt x="101598" y="0"/>
                </a:moveTo>
                <a:lnTo>
                  <a:pt x="2070102" y="0"/>
                </a:lnTo>
                <a:cubicBezTo>
                  <a:pt x="2126213" y="0"/>
                  <a:pt x="2171700" y="45487"/>
                  <a:pt x="2171700" y="101598"/>
                </a:cubicBezTo>
                <a:lnTo>
                  <a:pt x="2171700" y="571502"/>
                </a:lnTo>
                <a:cubicBezTo>
                  <a:pt x="2171700" y="627613"/>
                  <a:pt x="2126213" y="673100"/>
                  <a:pt x="2070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3325813" y="742791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99033" y="19397"/>
                </a:moveTo>
                <a:lnTo>
                  <a:pt x="272554" y="93960"/>
                </a:lnTo>
                <a:cubicBezTo>
                  <a:pt x="286296" y="107900"/>
                  <a:pt x="286296" y="130225"/>
                  <a:pt x="272554" y="144165"/>
                </a:cubicBezTo>
                <a:lnTo>
                  <a:pt x="194965" y="222696"/>
                </a:lnTo>
                <a:cubicBezTo>
                  <a:pt x="190351" y="227360"/>
                  <a:pt x="182811" y="227409"/>
                  <a:pt x="178147" y="222796"/>
                </a:cubicBezTo>
                <a:cubicBezTo>
                  <a:pt x="173484" y="218182"/>
                  <a:pt x="173434" y="210641"/>
                  <a:pt x="178048" y="205978"/>
                </a:cubicBezTo>
                <a:lnTo>
                  <a:pt x="255637" y="127397"/>
                </a:lnTo>
                <a:cubicBezTo>
                  <a:pt x="260201" y="122783"/>
                  <a:pt x="260201" y="115292"/>
                  <a:pt x="255637" y="110679"/>
                </a:cubicBezTo>
                <a:lnTo>
                  <a:pt x="182066" y="36165"/>
                </a:lnTo>
                <a:cubicBezTo>
                  <a:pt x="177453" y="31502"/>
                  <a:pt x="177502" y="23961"/>
                  <a:pt x="182166" y="19348"/>
                </a:cubicBezTo>
                <a:cubicBezTo>
                  <a:pt x="186829" y="14734"/>
                  <a:pt x="194370" y="14784"/>
                  <a:pt x="198983" y="19447"/>
                </a:cubicBezTo>
                <a:close/>
                <a:moveTo>
                  <a:pt x="15925" y="113854"/>
                </a:moveTo>
                <a:lnTo>
                  <a:pt x="15925" y="47625"/>
                </a:lnTo>
                <a:cubicBezTo>
                  <a:pt x="15925" y="30113"/>
                  <a:pt x="30163" y="15875"/>
                  <a:pt x="47675" y="15875"/>
                </a:cubicBezTo>
                <a:lnTo>
                  <a:pt x="113903" y="15875"/>
                </a:lnTo>
                <a:cubicBezTo>
                  <a:pt x="122337" y="15875"/>
                  <a:pt x="130423" y="19199"/>
                  <a:pt x="136376" y="25152"/>
                </a:cubicBezTo>
                <a:lnTo>
                  <a:pt x="207814" y="96589"/>
                </a:lnTo>
                <a:cubicBezTo>
                  <a:pt x="220216" y="108992"/>
                  <a:pt x="220216" y="129084"/>
                  <a:pt x="207814" y="141486"/>
                </a:cubicBezTo>
                <a:lnTo>
                  <a:pt x="141585" y="207714"/>
                </a:lnTo>
                <a:cubicBezTo>
                  <a:pt x="129183" y="220117"/>
                  <a:pt x="109091" y="220117"/>
                  <a:pt x="96689" y="207714"/>
                </a:cubicBezTo>
                <a:lnTo>
                  <a:pt x="25251" y="136277"/>
                </a:lnTo>
                <a:cubicBezTo>
                  <a:pt x="19298" y="130324"/>
                  <a:pt x="15974" y="122238"/>
                  <a:pt x="15974" y="113804"/>
                </a:cubicBezTo>
                <a:close/>
                <a:moveTo>
                  <a:pt x="87362" y="71438"/>
                </a:moveTo>
                <a:cubicBezTo>
                  <a:pt x="87362" y="62676"/>
                  <a:pt x="80249" y="55563"/>
                  <a:pt x="71487" y="55563"/>
                </a:cubicBezTo>
                <a:cubicBezTo>
                  <a:pt x="62725" y="55563"/>
                  <a:pt x="55612" y="62676"/>
                  <a:pt x="55612" y="71438"/>
                </a:cubicBezTo>
                <a:cubicBezTo>
                  <a:pt x="55612" y="80199"/>
                  <a:pt x="62725" y="87313"/>
                  <a:pt x="71487" y="87313"/>
                </a:cubicBezTo>
                <a:cubicBezTo>
                  <a:pt x="80249" y="87313"/>
                  <a:pt x="87362" y="80199"/>
                  <a:pt x="87362" y="7143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838575" y="7377113"/>
            <a:ext cx="11430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关键特征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3225" y="7212013"/>
            <a:ext cx="2171700" cy="673100"/>
          </a:xfrm>
          <a:custGeom>
            <a:avLst/>
            <a:gdLst/>
            <a:ahLst/>
            <a:cxnLst/>
            <a:rect l="l" t="t" r="r" b="b"/>
            <a:pathLst>
              <a:path w="2171700" h="673100">
                <a:moveTo>
                  <a:pt x="101598" y="0"/>
                </a:moveTo>
                <a:lnTo>
                  <a:pt x="2070102" y="0"/>
                </a:lnTo>
                <a:cubicBezTo>
                  <a:pt x="2126213" y="0"/>
                  <a:pt x="2171700" y="45487"/>
                  <a:pt x="2171700" y="101598"/>
                </a:cubicBezTo>
                <a:lnTo>
                  <a:pt x="2171700" y="571502"/>
                </a:lnTo>
                <a:cubicBezTo>
                  <a:pt x="2171700" y="627613"/>
                  <a:pt x="2126213" y="673100"/>
                  <a:pt x="2070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5826125" y="74279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323013" y="7377113"/>
            <a:ext cx="11430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系统分类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1936750" cy="433917"/>
          </a:xfrm>
          <a:custGeom>
            <a:avLst/>
            <a:gdLst/>
            <a:ahLst/>
            <a:cxnLst/>
            <a:rect l="l" t="t" r="r" b="b"/>
            <a:pathLst>
              <a:path w="1936750" h="433917">
                <a:moveTo>
                  <a:pt x="42333" y="0"/>
                </a:moveTo>
                <a:lnTo>
                  <a:pt x="1894417" y="0"/>
                </a:lnTo>
                <a:cubicBezTo>
                  <a:pt x="1917797" y="0"/>
                  <a:pt x="1936750" y="18953"/>
                  <a:pt x="1936750" y="42333"/>
                </a:cubicBezTo>
                <a:lnTo>
                  <a:pt x="1936750" y="391584"/>
                </a:lnTo>
                <a:cubicBezTo>
                  <a:pt x="1936750" y="414964"/>
                  <a:pt x="1917797" y="433917"/>
                  <a:pt x="1894417" y="433917"/>
                </a:cubicBezTo>
                <a:lnTo>
                  <a:pt x="42333" y="433917"/>
                </a:lnTo>
                <a:cubicBezTo>
                  <a:pt x="18953" y="433917"/>
                  <a:pt x="0" y="414964"/>
                  <a:pt x="0" y="391584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3250" y="534458"/>
            <a:ext cx="167572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BASIC DEFINITION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952500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分布式系统的基本定义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8625" y="1408109"/>
            <a:ext cx="15398750" cy="1005417"/>
          </a:xfrm>
          <a:custGeom>
            <a:avLst/>
            <a:gdLst/>
            <a:ahLst/>
            <a:cxnLst/>
            <a:rect l="l" t="t" r="r" b="b"/>
            <a:pathLst>
              <a:path w="15398750" h="1005417">
                <a:moveTo>
                  <a:pt x="84666" y="0"/>
                </a:moveTo>
                <a:lnTo>
                  <a:pt x="15314084" y="0"/>
                </a:lnTo>
                <a:cubicBezTo>
                  <a:pt x="15360844" y="0"/>
                  <a:pt x="15398750" y="37906"/>
                  <a:pt x="15398750" y="84666"/>
                </a:cubicBezTo>
                <a:lnTo>
                  <a:pt x="15398750" y="920751"/>
                </a:lnTo>
                <a:cubicBezTo>
                  <a:pt x="15398750" y="967510"/>
                  <a:pt x="15360844" y="1005417"/>
                  <a:pt x="15314084" y="1005417"/>
                </a:cubicBezTo>
                <a:lnTo>
                  <a:pt x="84666" y="1005417"/>
                </a:lnTo>
                <a:cubicBezTo>
                  <a:pt x="37906" y="1005417"/>
                  <a:pt x="0" y="967510"/>
                  <a:pt x="0" y="920751"/>
                </a:cubicBezTo>
                <a:lnTo>
                  <a:pt x="0" y="84666"/>
                </a:lnTo>
                <a:cubicBezTo>
                  <a:pt x="0" y="37938"/>
                  <a:pt x="37938" y="0"/>
                  <a:pt x="8466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03250" y="158273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64646" y="1730901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158750" y="211667"/>
                </a:moveTo>
                <a:lnTo>
                  <a:pt x="39688" y="211667"/>
                </a:lnTo>
                <a:cubicBezTo>
                  <a:pt x="17777" y="211667"/>
                  <a:pt x="0" y="193890"/>
                  <a:pt x="0" y="171979"/>
                </a:cubicBezTo>
                <a:lnTo>
                  <a:pt x="0" y="39688"/>
                </a:lnTo>
                <a:cubicBezTo>
                  <a:pt x="0" y="17777"/>
                  <a:pt x="17777" y="0"/>
                  <a:pt x="39688" y="0"/>
                </a:cubicBezTo>
                <a:lnTo>
                  <a:pt x="165365" y="0"/>
                </a:lnTo>
                <a:cubicBezTo>
                  <a:pt x="176320" y="0"/>
                  <a:pt x="185208" y="8888"/>
                  <a:pt x="185208" y="19844"/>
                </a:cubicBezTo>
                <a:lnTo>
                  <a:pt x="185208" y="138906"/>
                </a:lnTo>
                <a:cubicBezTo>
                  <a:pt x="185208" y="147547"/>
                  <a:pt x="179669" y="154905"/>
                  <a:pt x="171979" y="157634"/>
                </a:cubicBezTo>
                <a:lnTo>
                  <a:pt x="171979" y="185208"/>
                </a:lnTo>
                <a:cubicBezTo>
                  <a:pt x="179297" y="185208"/>
                  <a:pt x="185208" y="191120"/>
                  <a:pt x="185208" y="198438"/>
                </a:cubicBezTo>
                <a:cubicBezTo>
                  <a:pt x="185208" y="205755"/>
                  <a:pt x="179297" y="211667"/>
                  <a:pt x="171979" y="211667"/>
                </a:cubicBezTo>
                <a:lnTo>
                  <a:pt x="158750" y="211667"/>
                </a:lnTo>
                <a:close/>
                <a:moveTo>
                  <a:pt x="39688" y="158750"/>
                </a:moveTo>
                <a:cubicBezTo>
                  <a:pt x="32370" y="158750"/>
                  <a:pt x="26458" y="164662"/>
                  <a:pt x="26458" y="171979"/>
                </a:cubicBezTo>
                <a:cubicBezTo>
                  <a:pt x="26458" y="179297"/>
                  <a:pt x="32370" y="185208"/>
                  <a:pt x="39688" y="185208"/>
                </a:cubicBezTo>
                <a:lnTo>
                  <a:pt x="145521" y="185208"/>
                </a:lnTo>
                <a:lnTo>
                  <a:pt x="145521" y="158750"/>
                </a:lnTo>
                <a:lnTo>
                  <a:pt x="39688" y="158750"/>
                </a:lnTo>
                <a:close/>
                <a:moveTo>
                  <a:pt x="52917" y="62839"/>
                </a:moveTo>
                <a:cubicBezTo>
                  <a:pt x="52917" y="68337"/>
                  <a:pt x="57340" y="72760"/>
                  <a:pt x="62839" y="72760"/>
                </a:cubicBezTo>
                <a:lnTo>
                  <a:pt x="135599" y="72760"/>
                </a:lnTo>
                <a:cubicBezTo>
                  <a:pt x="141097" y="72760"/>
                  <a:pt x="145521" y="68337"/>
                  <a:pt x="145521" y="62839"/>
                </a:cubicBezTo>
                <a:cubicBezTo>
                  <a:pt x="145521" y="57340"/>
                  <a:pt x="141097" y="52917"/>
                  <a:pt x="135599" y="52917"/>
                </a:cubicBezTo>
                <a:lnTo>
                  <a:pt x="62839" y="52917"/>
                </a:lnTo>
                <a:cubicBezTo>
                  <a:pt x="57340" y="52917"/>
                  <a:pt x="52917" y="57340"/>
                  <a:pt x="52917" y="62839"/>
                </a:cubicBezTo>
                <a:close/>
                <a:moveTo>
                  <a:pt x="62839" y="92604"/>
                </a:moveTo>
                <a:cubicBezTo>
                  <a:pt x="57340" y="92604"/>
                  <a:pt x="52917" y="97028"/>
                  <a:pt x="52917" y="102526"/>
                </a:cubicBezTo>
                <a:cubicBezTo>
                  <a:pt x="52917" y="108024"/>
                  <a:pt x="57340" y="112448"/>
                  <a:pt x="62839" y="112448"/>
                </a:cubicBezTo>
                <a:lnTo>
                  <a:pt x="135599" y="112448"/>
                </a:lnTo>
                <a:cubicBezTo>
                  <a:pt x="141097" y="112448"/>
                  <a:pt x="145521" y="108024"/>
                  <a:pt x="145521" y="102526"/>
                </a:cubicBezTo>
                <a:cubicBezTo>
                  <a:pt x="145521" y="97028"/>
                  <a:pt x="141097" y="92604"/>
                  <a:pt x="135599" y="92604"/>
                </a:cubicBezTo>
                <a:lnTo>
                  <a:pt x="62839" y="92604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80583" y="1582734"/>
            <a:ext cx="12255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583" y="1963734"/>
            <a:ext cx="12234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分布式系统是由</a:t>
            </a:r>
            <a:r>
              <a:rPr lang="en-US" sz="1333" b="1" dirty="0">
                <a:solidFill>
                  <a:srgbClr val="D4A237"/>
                </a:solidFill>
                <a:highlight>
                  <a:srgbClr val="D4A23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多个独立的计算机节点 </a:t>
            </a:r>
            <a:r>
              <a:rPr lang="en-US" sz="1333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组成的系统,这些节点通过</a:t>
            </a:r>
            <a:r>
              <a:rPr lang="en-US" sz="1333" b="1" dirty="0">
                <a:solidFill>
                  <a:srgbClr val="D4A237"/>
                </a:solidFill>
                <a:highlight>
                  <a:srgbClr val="D4A23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网络连接 </a:t>
            </a:r>
            <a:r>
              <a:rPr lang="en-US" sz="1333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,协同工作以完成共同的任务。在用户看来,整个系统就像一台单独的计算机一样工作。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8625" y="2522534"/>
            <a:ext cx="7609417" cy="4180415"/>
          </a:xfrm>
          <a:custGeom>
            <a:avLst/>
            <a:gdLst/>
            <a:ahLst/>
            <a:cxnLst/>
            <a:rect l="l" t="t" r="r" b="b"/>
            <a:pathLst>
              <a:path w="7609417" h="4582583">
                <a:moveTo>
                  <a:pt x="84686" y="0"/>
                </a:moveTo>
                <a:lnTo>
                  <a:pt x="7524731" y="0"/>
                </a:lnTo>
                <a:cubicBezTo>
                  <a:pt x="7571501" y="0"/>
                  <a:pt x="7609417" y="37915"/>
                  <a:pt x="7609417" y="84686"/>
                </a:cubicBezTo>
                <a:lnTo>
                  <a:pt x="7609417" y="4497897"/>
                </a:lnTo>
                <a:cubicBezTo>
                  <a:pt x="7609417" y="4544668"/>
                  <a:pt x="7571501" y="4582583"/>
                  <a:pt x="7524731" y="4582583"/>
                </a:cubicBezTo>
                <a:lnTo>
                  <a:pt x="84686" y="4582583"/>
                </a:lnTo>
                <a:cubicBezTo>
                  <a:pt x="37915" y="4582583"/>
                  <a:pt x="0" y="4544668"/>
                  <a:pt x="0" y="4497897"/>
                </a:cubicBezTo>
                <a:lnTo>
                  <a:pt x="0" y="84686"/>
                </a:lnTo>
                <a:cubicBezTo>
                  <a:pt x="0" y="37947"/>
                  <a:pt x="37947" y="0"/>
                  <a:pt x="8468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29708" y="2739491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6458" y="13229"/>
                </a:moveTo>
                <a:cubicBezTo>
                  <a:pt x="11865" y="13229"/>
                  <a:pt x="0" y="25094"/>
                  <a:pt x="0" y="39688"/>
                </a:cubicBezTo>
                <a:lnTo>
                  <a:pt x="0" y="145521"/>
                </a:lnTo>
                <a:cubicBezTo>
                  <a:pt x="0" y="160114"/>
                  <a:pt x="11865" y="171979"/>
                  <a:pt x="26458" y="171979"/>
                </a:cubicBezTo>
                <a:lnTo>
                  <a:pt x="85990" y="171979"/>
                </a:lnTo>
                <a:lnTo>
                  <a:pt x="79375" y="191823"/>
                </a:lnTo>
                <a:lnTo>
                  <a:pt x="49609" y="191823"/>
                </a:lnTo>
                <a:cubicBezTo>
                  <a:pt x="44111" y="191823"/>
                  <a:pt x="39688" y="196246"/>
                  <a:pt x="39688" y="201745"/>
                </a:cubicBezTo>
                <a:cubicBezTo>
                  <a:pt x="39688" y="207243"/>
                  <a:pt x="44111" y="211667"/>
                  <a:pt x="49609" y="211667"/>
                </a:cubicBezTo>
                <a:lnTo>
                  <a:pt x="162057" y="211667"/>
                </a:lnTo>
                <a:cubicBezTo>
                  <a:pt x="167556" y="211667"/>
                  <a:pt x="171979" y="207243"/>
                  <a:pt x="171979" y="201745"/>
                </a:cubicBezTo>
                <a:cubicBezTo>
                  <a:pt x="171979" y="196246"/>
                  <a:pt x="167556" y="191823"/>
                  <a:pt x="162057" y="191823"/>
                </a:cubicBezTo>
                <a:lnTo>
                  <a:pt x="132292" y="191823"/>
                </a:lnTo>
                <a:lnTo>
                  <a:pt x="125677" y="171979"/>
                </a:lnTo>
                <a:lnTo>
                  <a:pt x="185208" y="171979"/>
                </a:lnTo>
                <a:cubicBezTo>
                  <a:pt x="199802" y="171979"/>
                  <a:pt x="211667" y="160114"/>
                  <a:pt x="211667" y="145521"/>
                </a:cubicBezTo>
                <a:lnTo>
                  <a:pt x="211667" y="39688"/>
                </a:lnTo>
                <a:cubicBezTo>
                  <a:pt x="211667" y="25094"/>
                  <a:pt x="199802" y="13229"/>
                  <a:pt x="185208" y="13229"/>
                </a:cubicBezTo>
                <a:lnTo>
                  <a:pt x="26458" y="13229"/>
                </a:lnTo>
                <a:close/>
                <a:moveTo>
                  <a:pt x="39688" y="39688"/>
                </a:moveTo>
                <a:lnTo>
                  <a:pt x="171979" y="39688"/>
                </a:lnTo>
                <a:cubicBezTo>
                  <a:pt x="179297" y="39688"/>
                  <a:pt x="185208" y="45599"/>
                  <a:pt x="185208" y="52917"/>
                </a:cubicBezTo>
                <a:lnTo>
                  <a:pt x="185208" y="119063"/>
                </a:lnTo>
                <a:cubicBezTo>
                  <a:pt x="185208" y="126380"/>
                  <a:pt x="179297" y="132292"/>
                  <a:pt x="171979" y="132292"/>
                </a:cubicBezTo>
                <a:lnTo>
                  <a:pt x="39688" y="132292"/>
                </a:lnTo>
                <a:cubicBezTo>
                  <a:pt x="32370" y="132292"/>
                  <a:pt x="26458" y="126380"/>
                  <a:pt x="26458" y="119063"/>
                </a:cubicBezTo>
                <a:lnTo>
                  <a:pt x="26458" y="52917"/>
                </a:lnTo>
                <a:cubicBezTo>
                  <a:pt x="26458" y="45599"/>
                  <a:pt x="32370" y="39688"/>
                  <a:pt x="39688" y="3968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73667" y="2697158"/>
            <a:ext cx="699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单机系统架构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66583" y="2802459"/>
            <a:ext cx="1333500" cy="656167"/>
          </a:xfrm>
          <a:custGeom>
            <a:avLst/>
            <a:gdLst/>
            <a:ahLst/>
            <a:cxnLst/>
            <a:rect l="l" t="t" r="r" b="b"/>
            <a:pathLst>
              <a:path w="1333500" h="656167">
                <a:moveTo>
                  <a:pt x="84665" y="0"/>
                </a:moveTo>
                <a:lnTo>
                  <a:pt x="1248835" y="0"/>
                </a:lnTo>
                <a:cubicBezTo>
                  <a:pt x="1295594" y="0"/>
                  <a:pt x="1333500" y="37906"/>
                  <a:pt x="1333500" y="84665"/>
                </a:cubicBezTo>
                <a:lnTo>
                  <a:pt x="1333500" y="571501"/>
                </a:lnTo>
                <a:cubicBezTo>
                  <a:pt x="1333500" y="618261"/>
                  <a:pt x="1295594" y="656167"/>
                  <a:pt x="1248835" y="656167"/>
                </a:cubicBezTo>
                <a:lnTo>
                  <a:pt x="84665" y="656167"/>
                </a:lnTo>
                <a:cubicBezTo>
                  <a:pt x="37906" y="656167"/>
                  <a:pt x="0" y="618261"/>
                  <a:pt x="0" y="571501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495057"/>
          </a:solidFill>
          <a:ln w="254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979333" y="3003542"/>
            <a:ext cx="59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06333" y="3553875"/>
            <a:ext cx="38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97250" y="3987792"/>
            <a:ext cx="1672167" cy="825500"/>
          </a:xfrm>
          <a:custGeom>
            <a:avLst/>
            <a:gdLst/>
            <a:ahLst/>
            <a:cxnLst/>
            <a:rect l="l" t="t" r="r" b="b"/>
            <a:pathLst>
              <a:path w="1672167" h="825500">
                <a:moveTo>
                  <a:pt x="84663" y="0"/>
                </a:moveTo>
                <a:lnTo>
                  <a:pt x="1587503" y="0"/>
                </a:lnTo>
                <a:cubicBezTo>
                  <a:pt x="1634262" y="0"/>
                  <a:pt x="1672167" y="37905"/>
                  <a:pt x="1672167" y="84663"/>
                </a:cubicBezTo>
                <a:lnTo>
                  <a:pt x="1672167" y="740837"/>
                </a:lnTo>
                <a:cubicBezTo>
                  <a:pt x="1672167" y="787595"/>
                  <a:pt x="1634262" y="825500"/>
                  <a:pt x="1587503" y="825500"/>
                </a:cubicBezTo>
                <a:lnTo>
                  <a:pt x="84663" y="825500"/>
                </a:lnTo>
                <a:cubicBezTo>
                  <a:pt x="37905" y="825500"/>
                  <a:pt x="0" y="787595"/>
                  <a:pt x="0" y="740837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746500" y="4167709"/>
            <a:ext cx="973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银行服务器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51792" y="4421709"/>
            <a:ext cx="96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单点故障风险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06333" y="4908542"/>
            <a:ext cx="38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66583" y="5342459"/>
            <a:ext cx="1333500" cy="656167"/>
          </a:xfrm>
          <a:custGeom>
            <a:avLst/>
            <a:gdLst/>
            <a:ahLst/>
            <a:cxnLst/>
            <a:rect l="l" t="t" r="r" b="b"/>
            <a:pathLst>
              <a:path w="1333500" h="656167">
                <a:moveTo>
                  <a:pt x="84665" y="0"/>
                </a:moveTo>
                <a:lnTo>
                  <a:pt x="1248835" y="0"/>
                </a:lnTo>
                <a:cubicBezTo>
                  <a:pt x="1295594" y="0"/>
                  <a:pt x="1333500" y="37906"/>
                  <a:pt x="1333500" y="84665"/>
                </a:cubicBezTo>
                <a:lnTo>
                  <a:pt x="1333500" y="571501"/>
                </a:lnTo>
                <a:cubicBezTo>
                  <a:pt x="1333500" y="618261"/>
                  <a:pt x="1295594" y="656167"/>
                  <a:pt x="1248835" y="656167"/>
                </a:cubicBezTo>
                <a:lnTo>
                  <a:pt x="84665" y="656167"/>
                </a:lnTo>
                <a:cubicBezTo>
                  <a:pt x="37906" y="656167"/>
                  <a:pt x="0" y="618261"/>
                  <a:pt x="0" y="571501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495057"/>
          </a:solidFill>
          <a:ln w="254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979333" y="5543542"/>
            <a:ext cx="59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208" y="6136209"/>
            <a:ext cx="7334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所有组件集中在一台机器上,简单但存在单点故障风险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17958" y="2522534"/>
            <a:ext cx="7609417" cy="4180415"/>
          </a:xfrm>
          <a:custGeom>
            <a:avLst/>
            <a:gdLst/>
            <a:ahLst/>
            <a:cxnLst/>
            <a:rect l="l" t="t" r="r" b="b"/>
            <a:pathLst>
              <a:path w="7609417" h="4582583">
                <a:moveTo>
                  <a:pt x="84686" y="0"/>
                </a:moveTo>
                <a:lnTo>
                  <a:pt x="7524731" y="0"/>
                </a:lnTo>
                <a:cubicBezTo>
                  <a:pt x="7571501" y="0"/>
                  <a:pt x="7609417" y="37915"/>
                  <a:pt x="7609417" y="84686"/>
                </a:cubicBezTo>
                <a:lnTo>
                  <a:pt x="7609417" y="4497897"/>
                </a:lnTo>
                <a:cubicBezTo>
                  <a:pt x="7609417" y="4544668"/>
                  <a:pt x="7571501" y="4582583"/>
                  <a:pt x="7524731" y="4582583"/>
                </a:cubicBezTo>
                <a:lnTo>
                  <a:pt x="84686" y="4582583"/>
                </a:lnTo>
                <a:cubicBezTo>
                  <a:pt x="37915" y="4582583"/>
                  <a:pt x="0" y="4544668"/>
                  <a:pt x="0" y="4497897"/>
                </a:cubicBezTo>
                <a:lnTo>
                  <a:pt x="0" y="84686"/>
                </a:lnTo>
                <a:cubicBezTo>
                  <a:pt x="0" y="37947"/>
                  <a:pt x="37947" y="0"/>
                  <a:pt x="8468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405813" y="2739491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02526" y="36380"/>
                </a:moveTo>
                <a:lnTo>
                  <a:pt x="135599" y="36380"/>
                </a:lnTo>
                <a:lnTo>
                  <a:pt x="135599" y="56224"/>
                </a:lnTo>
                <a:lnTo>
                  <a:pt x="102526" y="56224"/>
                </a:lnTo>
                <a:lnTo>
                  <a:pt x="102526" y="36380"/>
                </a:lnTo>
                <a:close/>
                <a:moveTo>
                  <a:pt x="99219" y="13229"/>
                </a:moveTo>
                <a:cubicBezTo>
                  <a:pt x="88263" y="13229"/>
                  <a:pt x="79375" y="22118"/>
                  <a:pt x="79375" y="33073"/>
                </a:cubicBezTo>
                <a:lnTo>
                  <a:pt x="79375" y="59531"/>
                </a:lnTo>
                <a:cubicBezTo>
                  <a:pt x="79375" y="70487"/>
                  <a:pt x="88263" y="79375"/>
                  <a:pt x="99219" y="79375"/>
                </a:cubicBezTo>
                <a:lnTo>
                  <a:pt x="105833" y="79375"/>
                </a:lnTo>
                <a:lnTo>
                  <a:pt x="105833" y="92604"/>
                </a:lnTo>
                <a:lnTo>
                  <a:pt x="13229" y="92604"/>
                </a:lnTo>
                <a:cubicBezTo>
                  <a:pt x="5912" y="92604"/>
                  <a:pt x="0" y="98516"/>
                  <a:pt x="0" y="105833"/>
                </a:cubicBezTo>
                <a:cubicBezTo>
                  <a:pt x="0" y="113151"/>
                  <a:pt x="5912" y="119063"/>
                  <a:pt x="13229" y="119063"/>
                </a:cubicBezTo>
                <a:lnTo>
                  <a:pt x="52917" y="119063"/>
                </a:lnTo>
                <a:lnTo>
                  <a:pt x="52917" y="132292"/>
                </a:lnTo>
                <a:lnTo>
                  <a:pt x="46302" y="132292"/>
                </a:lnTo>
                <a:cubicBezTo>
                  <a:pt x="35347" y="132292"/>
                  <a:pt x="26458" y="141180"/>
                  <a:pt x="26458" y="152135"/>
                </a:cubicBezTo>
                <a:lnTo>
                  <a:pt x="26458" y="178594"/>
                </a:lnTo>
                <a:cubicBezTo>
                  <a:pt x="26458" y="189549"/>
                  <a:pt x="35347" y="198438"/>
                  <a:pt x="46302" y="198438"/>
                </a:cubicBezTo>
                <a:lnTo>
                  <a:pt x="85990" y="198438"/>
                </a:lnTo>
                <a:cubicBezTo>
                  <a:pt x="96945" y="198438"/>
                  <a:pt x="105833" y="189549"/>
                  <a:pt x="105833" y="178594"/>
                </a:cubicBezTo>
                <a:lnTo>
                  <a:pt x="105833" y="152135"/>
                </a:lnTo>
                <a:cubicBezTo>
                  <a:pt x="105833" y="141180"/>
                  <a:pt x="96945" y="132292"/>
                  <a:pt x="85990" y="132292"/>
                </a:cubicBezTo>
                <a:lnTo>
                  <a:pt x="79375" y="132292"/>
                </a:lnTo>
                <a:lnTo>
                  <a:pt x="79375" y="119063"/>
                </a:lnTo>
                <a:lnTo>
                  <a:pt x="158750" y="119063"/>
                </a:lnTo>
                <a:lnTo>
                  <a:pt x="158750" y="132292"/>
                </a:lnTo>
                <a:lnTo>
                  <a:pt x="152135" y="132292"/>
                </a:lnTo>
                <a:cubicBezTo>
                  <a:pt x="141180" y="132292"/>
                  <a:pt x="132292" y="141180"/>
                  <a:pt x="132292" y="152135"/>
                </a:cubicBezTo>
                <a:lnTo>
                  <a:pt x="132292" y="178594"/>
                </a:lnTo>
                <a:cubicBezTo>
                  <a:pt x="132292" y="189549"/>
                  <a:pt x="141180" y="198438"/>
                  <a:pt x="152135" y="198438"/>
                </a:cubicBezTo>
                <a:lnTo>
                  <a:pt x="191823" y="198438"/>
                </a:lnTo>
                <a:cubicBezTo>
                  <a:pt x="202778" y="198438"/>
                  <a:pt x="211667" y="189549"/>
                  <a:pt x="211667" y="178594"/>
                </a:cubicBezTo>
                <a:lnTo>
                  <a:pt x="211667" y="152135"/>
                </a:lnTo>
                <a:cubicBezTo>
                  <a:pt x="211667" y="141180"/>
                  <a:pt x="202778" y="132292"/>
                  <a:pt x="191823" y="132292"/>
                </a:cubicBezTo>
                <a:lnTo>
                  <a:pt x="185208" y="132292"/>
                </a:lnTo>
                <a:lnTo>
                  <a:pt x="185208" y="119063"/>
                </a:lnTo>
                <a:lnTo>
                  <a:pt x="224896" y="119063"/>
                </a:lnTo>
                <a:cubicBezTo>
                  <a:pt x="232213" y="119063"/>
                  <a:pt x="238125" y="113151"/>
                  <a:pt x="238125" y="105833"/>
                </a:cubicBezTo>
                <a:cubicBezTo>
                  <a:pt x="238125" y="98516"/>
                  <a:pt x="232213" y="92604"/>
                  <a:pt x="224896" y="92604"/>
                </a:cubicBezTo>
                <a:lnTo>
                  <a:pt x="132292" y="92604"/>
                </a:lnTo>
                <a:lnTo>
                  <a:pt x="132292" y="79375"/>
                </a:lnTo>
                <a:lnTo>
                  <a:pt x="138906" y="79375"/>
                </a:lnTo>
                <a:cubicBezTo>
                  <a:pt x="149862" y="79375"/>
                  <a:pt x="158750" y="70487"/>
                  <a:pt x="158750" y="59531"/>
                </a:cubicBezTo>
                <a:lnTo>
                  <a:pt x="158750" y="33073"/>
                </a:lnTo>
                <a:cubicBezTo>
                  <a:pt x="158750" y="22118"/>
                  <a:pt x="149862" y="13229"/>
                  <a:pt x="138906" y="13229"/>
                </a:cubicBezTo>
                <a:lnTo>
                  <a:pt x="99219" y="13229"/>
                </a:lnTo>
                <a:close/>
                <a:moveTo>
                  <a:pt x="185208" y="155443"/>
                </a:moveTo>
                <a:lnTo>
                  <a:pt x="188516" y="155443"/>
                </a:lnTo>
                <a:lnTo>
                  <a:pt x="188516" y="175286"/>
                </a:lnTo>
                <a:lnTo>
                  <a:pt x="155443" y="175286"/>
                </a:lnTo>
                <a:lnTo>
                  <a:pt x="155443" y="155443"/>
                </a:lnTo>
                <a:lnTo>
                  <a:pt x="185208" y="155443"/>
                </a:lnTo>
                <a:close/>
                <a:moveTo>
                  <a:pt x="79375" y="155443"/>
                </a:moveTo>
                <a:lnTo>
                  <a:pt x="82682" y="155443"/>
                </a:lnTo>
                <a:lnTo>
                  <a:pt x="82682" y="175286"/>
                </a:lnTo>
                <a:lnTo>
                  <a:pt x="49609" y="175286"/>
                </a:lnTo>
                <a:lnTo>
                  <a:pt x="49609" y="155443"/>
                </a:lnTo>
                <a:lnTo>
                  <a:pt x="79375" y="15544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763000" y="2697158"/>
            <a:ext cx="699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分布式系统架构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355917" y="2802459"/>
            <a:ext cx="1333500" cy="486833"/>
          </a:xfrm>
          <a:custGeom>
            <a:avLst/>
            <a:gdLst/>
            <a:ahLst/>
            <a:cxnLst/>
            <a:rect l="l" t="t" r="r" b="b"/>
            <a:pathLst>
              <a:path w="1333500" h="486833">
                <a:moveTo>
                  <a:pt x="84665" y="0"/>
                </a:moveTo>
                <a:lnTo>
                  <a:pt x="1248835" y="0"/>
                </a:lnTo>
                <a:cubicBezTo>
                  <a:pt x="1295594" y="0"/>
                  <a:pt x="1333500" y="37906"/>
                  <a:pt x="1333500" y="84665"/>
                </a:cubicBezTo>
                <a:lnTo>
                  <a:pt x="1333500" y="402168"/>
                </a:lnTo>
                <a:cubicBezTo>
                  <a:pt x="1333500" y="448927"/>
                  <a:pt x="1295594" y="486833"/>
                  <a:pt x="1248835" y="486833"/>
                </a:cubicBezTo>
                <a:lnTo>
                  <a:pt x="84665" y="486833"/>
                </a:lnTo>
                <a:cubicBezTo>
                  <a:pt x="37906" y="486833"/>
                  <a:pt x="0" y="448927"/>
                  <a:pt x="0" y="402168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495057"/>
          </a:solidFill>
          <a:ln w="254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768667" y="2918875"/>
            <a:ext cx="59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916833" y="3384542"/>
            <a:ext cx="317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186583" y="3776125"/>
            <a:ext cx="1672167" cy="486833"/>
          </a:xfrm>
          <a:custGeom>
            <a:avLst/>
            <a:gdLst/>
            <a:ahLst/>
            <a:cxnLst/>
            <a:rect l="l" t="t" r="r" b="b"/>
            <a:pathLst>
              <a:path w="1672167" h="486833">
                <a:moveTo>
                  <a:pt x="84665" y="0"/>
                </a:moveTo>
                <a:lnTo>
                  <a:pt x="1587501" y="0"/>
                </a:lnTo>
                <a:cubicBezTo>
                  <a:pt x="1634261" y="0"/>
                  <a:pt x="1672167" y="37906"/>
                  <a:pt x="1672167" y="84665"/>
                </a:cubicBezTo>
                <a:lnTo>
                  <a:pt x="1672167" y="402168"/>
                </a:lnTo>
                <a:cubicBezTo>
                  <a:pt x="1672167" y="448927"/>
                  <a:pt x="1634261" y="486833"/>
                  <a:pt x="1587501" y="486833"/>
                </a:cubicBezTo>
                <a:lnTo>
                  <a:pt x="84665" y="486833"/>
                </a:lnTo>
                <a:cubicBezTo>
                  <a:pt x="37906" y="486833"/>
                  <a:pt x="0" y="448927"/>
                  <a:pt x="0" y="402168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1599333" y="3892542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负载均衡器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916833" y="4358209"/>
            <a:ext cx="317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636250" y="4749792"/>
            <a:ext cx="825500" cy="571500"/>
          </a:xfrm>
          <a:custGeom>
            <a:avLst/>
            <a:gdLst/>
            <a:ahLst/>
            <a:cxnLst/>
            <a:rect l="l" t="t" r="r" b="b"/>
            <a:pathLst>
              <a:path w="825500" h="571500">
                <a:moveTo>
                  <a:pt x="84668" y="0"/>
                </a:moveTo>
                <a:lnTo>
                  <a:pt x="740832" y="0"/>
                </a:lnTo>
                <a:cubicBezTo>
                  <a:pt x="787562" y="0"/>
                  <a:pt x="825500" y="37938"/>
                  <a:pt x="825500" y="84668"/>
                </a:cubicBezTo>
                <a:lnTo>
                  <a:pt x="825500" y="486832"/>
                </a:lnTo>
                <a:cubicBezTo>
                  <a:pt x="825500" y="533562"/>
                  <a:pt x="787562" y="571500"/>
                  <a:pt x="740832" y="571500"/>
                </a:cubicBezTo>
                <a:lnTo>
                  <a:pt x="84668" y="571500"/>
                </a:lnTo>
                <a:cubicBezTo>
                  <a:pt x="37938" y="571500"/>
                  <a:pt x="0" y="533562"/>
                  <a:pt x="0" y="486832"/>
                </a:cubicBezTo>
                <a:lnTo>
                  <a:pt x="0" y="84668"/>
                </a:lnTo>
                <a:cubicBezTo>
                  <a:pt x="0" y="37938"/>
                  <a:pt x="37938" y="0"/>
                  <a:pt x="84668" y="0"/>
                </a:cubicBezTo>
                <a:close/>
              </a:path>
            </a:pathLst>
          </a:custGeom>
          <a:solidFill>
            <a:srgbClr val="495057"/>
          </a:solidFill>
          <a:ln w="254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593917" y="4739209"/>
            <a:ext cx="8678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A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北京DC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609917" y="4749792"/>
            <a:ext cx="825500" cy="571500"/>
          </a:xfrm>
          <a:custGeom>
            <a:avLst/>
            <a:gdLst/>
            <a:ahLst/>
            <a:cxnLst/>
            <a:rect l="l" t="t" r="r" b="b"/>
            <a:pathLst>
              <a:path w="825500" h="571500">
                <a:moveTo>
                  <a:pt x="84668" y="0"/>
                </a:moveTo>
                <a:lnTo>
                  <a:pt x="740832" y="0"/>
                </a:lnTo>
                <a:cubicBezTo>
                  <a:pt x="787562" y="0"/>
                  <a:pt x="825500" y="37938"/>
                  <a:pt x="825500" y="84668"/>
                </a:cubicBezTo>
                <a:lnTo>
                  <a:pt x="825500" y="486832"/>
                </a:lnTo>
                <a:cubicBezTo>
                  <a:pt x="825500" y="533562"/>
                  <a:pt x="787562" y="571500"/>
                  <a:pt x="740832" y="571500"/>
                </a:cubicBezTo>
                <a:lnTo>
                  <a:pt x="84668" y="571500"/>
                </a:lnTo>
                <a:cubicBezTo>
                  <a:pt x="37938" y="571500"/>
                  <a:pt x="0" y="533562"/>
                  <a:pt x="0" y="486832"/>
                </a:cubicBezTo>
                <a:lnTo>
                  <a:pt x="0" y="84668"/>
                </a:lnTo>
                <a:cubicBezTo>
                  <a:pt x="0" y="37938"/>
                  <a:pt x="37938" y="0"/>
                  <a:pt x="84668" y="0"/>
                </a:cubicBezTo>
                <a:close/>
              </a:path>
            </a:pathLst>
          </a:custGeom>
          <a:solidFill>
            <a:srgbClr val="495057"/>
          </a:solidFill>
          <a:ln w="254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567583" y="4739209"/>
            <a:ext cx="8678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B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上海DC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583583" y="4749792"/>
            <a:ext cx="825500" cy="571500"/>
          </a:xfrm>
          <a:custGeom>
            <a:avLst/>
            <a:gdLst/>
            <a:ahLst/>
            <a:cxnLst/>
            <a:rect l="l" t="t" r="r" b="b"/>
            <a:pathLst>
              <a:path w="825500" h="571500">
                <a:moveTo>
                  <a:pt x="84668" y="0"/>
                </a:moveTo>
                <a:lnTo>
                  <a:pt x="740832" y="0"/>
                </a:lnTo>
                <a:cubicBezTo>
                  <a:pt x="787562" y="0"/>
                  <a:pt x="825500" y="37938"/>
                  <a:pt x="825500" y="84668"/>
                </a:cubicBezTo>
                <a:lnTo>
                  <a:pt x="825500" y="486832"/>
                </a:lnTo>
                <a:cubicBezTo>
                  <a:pt x="825500" y="533562"/>
                  <a:pt x="787562" y="571500"/>
                  <a:pt x="740832" y="571500"/>
                </a:cubicBezTo>
                <a:lnTo>
                  <a:pt x="84668" y="571500"/>
                </a:lnTo>
                <a:cubicBezTo>
                  <a:pt x="37938" y="571500"/>
                  <a:pt x="0" y="533562"/>
                  <a:pt x="0" y="486832"/>
                </a:cubicBezTo>
                <a:lnTo>
                  <a:pt x="0" y="84668"/>
                </a:lnTo>
                <a:cubicBezTo>
                  <a:pt x="0" y="37938"/>
                  <a:pt x="37938" y="0"/>
                  <a:pt x="84668" y="0"/>
                </a:cubicBezTo>
                <a:close/>
              </a:path>
            </a:pathLst>
          </a:custGeom>
          <a:solidFill>
            <a:srgbClr val="495057"/>
          </a:solidFill>
          <a:ln w="254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2541250" y="4739209"/>
            <a:ext cx="8678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C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深圳DC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916833" y="5416542"/>
            <a:ext cx="317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630958" y="5802834"/>
            <a:ext cx="836083" cy="497417"/>
          </a:xfrm>
          <a:custGeom>
            <a:avLst/>
            <a:gdLst/>
            <a:ahLst/>
            <a:cxnLst/>
            <a:rect l="l" t="t" r="r" b="b"/>
            <a:pathLst>
              <a:path w="836083" h="497417">
                <a:moveTo>
                  <a:pt x="84665" y="0"/>
                </a:moveTo>
                <a:lnTo>
                  <a:pt x="751418" y="0"/>
                </a:lnTo>
                <a:cubicBezTo>
                  <a:pt x="798177" y="0"/>
                  <a:pt x="836083" y="37906"/>
                  <a:pt x="836083" y="84665"/>
                </a:cubicBezTo>
                <a:lnTo>
                  <a:pt x="836083" y="412751"/>
                </a:lnTo>
                <a:cubicBezTo>
                  <a:pt x="836083" y="459511"/>
                  <a:pt x="798177" y="497417"/>
                  <a:pt x="751418" y="497417"/>
                </a:cubicBezTo>
                <a:lnTo>
                  <a:pt x="84665" y="497417"/>
                </a:lnTo>
                <a:cubicBezTo>
                  <a:pt x="37906" y="497417"/>
                  <a:pt x="0" y="459511"/>
                  <a:pt x="0" y="412751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495057">
              <a:alpha val="60000"/>
            </a:srgbClr>
          </a:solidFill>
          <a:ln w="12700">
            <a:solidFill>
              <a:srgbClr val="49505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593917" y="5797542"/>
            <a:ext cx="8890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604625" y="5802834"/>
            <a:ext cx="836083" cy="497417"/>
          </a:xfrm>
          <a:custGeom>
            <a:avLst/>
            <a:gdLst/>
            <a:ahLst/>
            <a:cxnLst/>
            <a:rect l="l" t="t" r="r" b="b"/>
            <a:pathLst>
              <a:path w="836083" h="497417">
                <a:moveTo>
                  <a:pt x="84665" y="0"/>
                </a:moveTo>
                <a:lnTo>
                  <a:pt x="751418" y="0"/>
                </a:lnTo>
                <a:cubicBezTo>
                  <a:pt x="798177" y="0"/>
                  <a:pt x="836083" y="37906"/>
                  <a:pt x="836083" y="84665"/>
                </a:cubicBezTo>
                <a:lnTo>
                  <a:pt x="836083" y="412751"/>
                </a:lnTo>
                <a:cubicBezTo>
                  <a:pt x="836083" y="459511"/>
                  <a:pt x="798177" y="497417"/>
                  <a:pt x="751418" y="497417"/>
                </a:cubicBezTo>
                <a:lnTo>
                  <a:pt x="84665" y="497417"/>
                </a:lnTo>
                <a:cubicBezTo>
                  <a:pt x="37906" y="497417"/>
                  <a:pt x="0" y="459511"/>
                  <a:pt x="0" y="412751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495057">
              <a:alpha val="60000"/>
            </a:srgbClr>
          </a:solidFill>
          <a:ln w="12700">
            <a:solidFill>
              <a:srgbClr val="49505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567583" y="5797542"/>
            <a:ext cx="8890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数据库B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578292" y="5802834"/>
            <a:ext cx="836083" cy="497417"/>
          </a:xfrm>
          <a:custGeom>
            <a:avLst/>
            <a:gdLst/>
            <a:ahLst/>
            <a:cxnLst/>
            <a:rect l="l" t="t" r="r" b="b"/>
            <a:pathLst>
              <a:path w="836083" h="497417">
                <a:moveTo>
                  <a:pt x="84665" y="0"/>
                </a:moveTo>
                <a:lnTo>
                  <a:pt x="751418" y="0"/>
                </a:lnTo>
                <a:cubicBezTo>
                  <a:pt x="798177" y="0"/>
                  <a:pt x="836083" y="37906"/>
                  <a:pt x="836083" y="84665"/>
                </a:cubicBezTo>
                <a:lnTo>
                  <a:pt x="836083" y="412751"/>
                </a:lnTo>
                <a:cubicBezTo>
                  <a:pt x="836083" y="459511"/>
                  <a:pt x="798177" y="497417"/>
                  <a:pt x="751418" y="497417"/>
                </a:cubicBezTo>
                <a:lnTo>
                  <a:pt x="84665" y="497417"/>
                </a:lnTo>
                <a:cubicBezTo>
                  <a:pt x="37906" y="497417"/>
                  <a:pt x="0" y="459511"/>
                  <a:pt x="0" y="412751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495057">
              <a:alpha val="60000"/>
            </a:srgbClr>
          </a:solidFill>
          <a:ln w="12700">
            <a:solidFill>
              <a:srgbClr val="49505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2541250" y="5797542"/>
            <a:ext cx="8890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数据库C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55542" y="6390209"/>
            <a:ext cx="7334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多个地理分布的节点协同工作,提供高可用性和扩展性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8625" y="6799786"/>
            <a:ext cx="15398750" cy="2222500"/>
          </a:xfrm>
          <a:custGeom>
            <a:avLst/>
            <a:gdLst/>
            <a:ahLst/>
            <a:cxnLst/>
            <a:rect l="l" t="t" r="r" b="b"/>
            <a:pathLst>
              <a:path w="15398750" h="2222500">
                <a:moveTo>
                  <a:pt x="84677" y="0"/>
                </a:moveTo>
                <a:lnTo>
                  <a:pt x="15314073" y="0"/>
                </a:lnTo>
                <a:cubicBezTo>
                  <a:pt x="15360839" y="0"/>
                  <a:pt x="15398750" y="37911"/>
                  <a:pt x="15398750" y="84677"/>
                </a:cubicBezTo>
                <a:lnTo>
                  <a:pt x="15398750" y="2137823"/>
                </a:lnTo>
                <a:cubicBezTo>
                  <a:pt x="15398750" y="2184589"/>
                  <a:pt x="15360839" y="2222500"/>
                  <a:pt x="15314073" y="2222500"/>
                </a:cubicBezTo>
                <a:lnTo>
                  <a:pt x="84677" y="2222500"/>
                </a:lnTo>
                <a:cubicBezTo>
                  <a:pt x="37911" y="2222500"/>
                  <a:pt x="0" y="2184589"/>
                  <a:pt x="0" y="2137823"/>
                </a:cubicBezTo>
                <a:lnTo>
                  <a:pt x="0" y="84677"/>
                </a:lnTo>
                <a:cubicBezTo>
                  <a:pt x="0" y="37943"/>
                  <a:pt x="37943" y="0"/>
                  <a:pt x="84677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433917" y="6805077"/>
            <a:ext cx="15388167" cy="555625"/>
          </a:xfrm>
          <a:custGeom>
            <a:avLst/>
            <a:gdLst/>
            <a:ahLst/>
            <a:cxnLst/>
            <a:rect l="l" t="t" r="r" b="b"/>
            <a:pathLst>
              <a:path w="15388167" h="555625">
                <a:moveTo>
                  <a:pt x="0" y="0"/>
                </a:moveTo>
                <a:lnTo>
                  <a:pt x="15388167" y="0"/>
                </a:lnTo>
                <a:lnTo>
                  <a:pt x="15388167" y="555625"/>
                </a:lnTo>
                <a:lnTo>
                  <a:pt x="0" y="555625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433917" y="7360702"/>
            <a:ext cx="15388167" cy="10583"/>
          </a:xfrm>
          <a:custGeom>
            <a:avLst/>
            <a:gdLst/>
            <a:ahLst/>
            <a:cxnLst/>
            <a:rect l="l" t="t" r="r" b="b"/>
            <a:pathLst>
              <a:path w="15388167" h="10583">
                <a:moveTo>
                  <a:pt x="0" y="0"/>
                </a:moveTo>
                <a:lnTo>
                  <a:pt x="15388167" y="0"/>
                </a:lnTo>
                <a:lnTo>
                  <a:pt x="15388167" y="10583"/>
                </a:lnTo>
                <a:lnTo>
                  <a:pt x="0" y="10583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740833" y="6974411"/>
            <a:ext cx="158750" cy="211667"/>
          </a:xfrm>
          <a:custGeom>
            <a:avLst/>
            <a:gdLst/>
            <a:ahLst/>
            <a:cxnLst/>
            <a:rect l="l" t="t" r="r" b="b"/>
            <a:pathLst>
              <a:path w="158750" h="211667">
                <a:moveTo>
                  <a:pt x="121088" y="158750"/>
                </a:moveTo>
                <a:cubicBezTo>
                  <a:pt x="124106" y="149531"/>
                  <a:pt x="130142" y="141180"/>
                  <a:pt x="136963" y="133987"/>
                </a:cubicBezTo>
                <a:cubicBezTo>
                  <a:pt x="150482" y="119765"/>
                  <a:pt x="158750" y="100542"/>
                  <a:pt x="158750" y="79375"/>
                </a:cubicBezTo>
                <a:cubicBezTo>
                  <a:pt x="158750" y="35553"/>
                  <a:pt x="123197" y="0"/>
                  <a:pt x="79375" y="0"/>
                </a:cubicBezTo>
                <a:cubicBezTo>
                  <a:pt x="35553" y="0"/>
                  <a:pt x="0" y="35553"/>
                  <a:pt x="0" y="79375"/>
                </a:cubicBezTo>
                <a:cubicBezTo>
                  <a:pt x="0" y="100542"/>
                  <a:pt x="8268" y="119765"/>
                  <a:pt x="21787" y="133987"/>
                </a:cubicBezTo>
                <a:cubicBezTo>
                  <a:pt x="28608" y="141180"/>
                  <a:pt x="34685" y="149531"/>
                  <a:pt x="37662" y="158750"/>
                </a:cubicBezTo>
                <a:lnTo>
                  <a:pt x="121047" y="158750"/>
                </a:lnTo>
                <a:close/>
                <a:moveTo>
                  <a:pt x="119063" y="178594"/>
                </a:moveTo>
                <a:lnTo>
                  <a:pt x="39688" y="178594"/>
                </a:lnTo>
                <a:lnTo>
                  <a:pt x="39688" y="185208"/>
                </a:lnTo>
                <a:cubicBezTo>
                  <a:pt x="39688" y="203481"/>
                  <a:pt x="54488" y="218281"/>
                  <a:pt x="72760" y="218281"/>
                </a:cubicBezTo>
                <a:lnTo>
                  <a:pt x="85990" y="218281"/>
                </a:lnTo>
                <a:cubicBezTo>
                  <a:pt x="104262" y="218281"/>
                  <a:pt x="119063" y="203481"/>
                  <a:pt x="119063" y="185208"/>
                </a:cubicBezTo>
                <a:lnTo>
                  <a:pt x="119063" y="178594"/>
                </a:lnTo>
                <a:close/>
                <a:moveTo>
                  <a:pt x="76068" y="46302"/>
                </a:moveTo>
                <a:cubicBezTo>
                  <a:pt x="59614" y="46302"/>
                  <a:pt x="46302" y="59614"/>
                  <a:pt x="46302" y="76068"/>
                </a:cubicBezTo>
                <a:cubicBezTo>
                  <a:pt x="46302" y="81566"/>
                  <a:pt x="41879" y="85990"/>
                  <a:pt x="36380" y="85990"/>
                </a:cubicBezTo>
                <a:cubicBezTo>
                  <a:pt x="30882" y="85990"/>
                  <a:pt x="26458" y="81566"/>
                  <a:pt x="26458" y="76068"/>
                </a:cubicBezTo>
                <a:cubicBezTo>
                  <a:pt x="26458" y="48659"/>
                  <a:pt x="48659" y="26458"/>
                  <a:pt x="76068" y="26458"/>
                </a:cubicBezTo>
                <a:cubicBezTo>
                  <a:pt x="81566" y="26458"/>
                  <a:pt x="85990" y="30882"/>
                  <a:pt x="85990" y="36380"/>
                </a:cubicBezTo>
                <a:cubicBezTo>
                  <a:pt x="85990" y="41879"/>
                  <a:pt x="81566" y="46302"/>
                  <a:pt x="76068" y="4630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58333" y="6932077"/>
            <a:ext cx="1461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分布式系统核心概念解析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498042" y="7535327"/>
            <a:ext cx="10583" cy="1312333"/>
          </a:xfrm>
          <a:custGeom>
            <a:avLst/>
            <a:gdLst/>
            <a:ahLst/>
            <a:cxnLst/>
            <a:rect l="l" t="t" r="r" b="b"/>
            <a:pathLst>
              <a:path w="10583" h="1312333">
                <a:moveTo>
                  <a:pt x="0" y="0"/>
                </a:moveTo>
                <a:lnTo>
                  <a:pt x="10583" y="0"/>
                </a:lnTo>
                <a:lnTo>
                  <a:pt x="10583" y="1312333"/>
                </a:lnTo>
                <a:lnTo>
                  <a:pt x="0" y="1312333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03250" y="753532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730250" y="766232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74183" y="-827"/>
                </a:moveTo>
                <a:cubicBezTo>
                  <a:pt x="80731" y="-4597"/>
                  <a:pt x="88801" y="-4597"/>
                  <a:pt x="95349" y="-827"/>
                </a:cubicBezTo>
                <a:lnTo>
                  <a:pt x="153524" y="32742"/>
                </a:lnTo>
                <a:cubicBezTo>
                  <a:pt x="160073" y="36513"/>
                  <a:pt x="164108" y="43524"/>
                  <a:pt x="164108" y="51065"/>
                </a:cubicBezTo>
                <a:lnTo>
                  <a:pt x="164108" y="118203"/>
                </a:lnTo>
                <a:cubicBezTo>
                  <a:pt x="164108" y="125776"/>
                  <a:pt x="160073" y="132755"/>
                  <a:pt x="153524" y="136525"/>
                </a:cubicBezTo>
                <a:lnTo>
                  <a:pt x="95349" y="170160"/>
                </a:lnTo>
                <a:cubicBezTo>
                  <a:pt x="88801" y="173930"/>
                  <a:pt x="80731" y="173930"/>
                  <a:pt x="74183" y="170160"/>
                </a:cubicBezTo>
                <a:lnTo>
                  <a:pt x="16040" y="136591"/>
                </a:lnTo>
                <a:cubicBezTo>
                  <a:pt x="9492" y="132821"/>
                  <a:pt x="5457" y="125809"/>
                  <a:pt x="5457" y="118269"/>
                </a:cubicBezTo>
                <a:lnTo>
                  <a:pt x="5457" y="51131"/>
                </a:lnTo>
                <a:cubicBezTo>
                  <a:pt x="5457" y="43557"/>
                  <a:pt x="9492" y="36579"/>
                  <a:pt x="16040" y="32808"/>
                </a:cubicBezTo>
                <a:lnTo>
                  <a:pt x="74183" y="-827"/>
                </a:lnTo>
                <a:close/>
                <a:moveTo>
                  <a:pt x="142908" y="118236"/>
                </a:moveTo>
                <a:lnTo>
                  <a:pt x="142908" y="63302"/>
                </a:lnTo>
                <a:lnTo>
                  <a:pt x="95349" y="90752"/>
                </a:lnTo>
                <a:lnTo>
                  <a:pt x="95349" y="145686"/>
                </a:lnTo>
                <a:lnTo>
                  <a:pt x="142908" y="118236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153583" y="7598827"/>
            <a:ext cx="1111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(Node)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03250" y="8043327"/>
            <a:ext cx="48048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系统中的每个独立计算机都是一个节点,具有</a:t>
            </a:r>
            <a:r>
              <a:rPr lang="en-US" sz="1333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独立性、自治性、协作性</a:t>
            </a: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三个特征。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03250" y="8635994"/>
            <a:ext cx="4794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基本构成单元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570931" y="7535327"/>
            <a:ext cx="10583" cy="1312333"/>
          </a:xfrm>
          <a:custGeom>
            <a:avLst/>
            <a:gdLst/>
            <a:ahLst/>
            <a:cxnLst/>
            <a:rect l="l" t="t" r="r" b="b"/>
            <a:pathLst>
              <a:path w="10583" h="1312333">
                <a:moveTo>
                  <a:pt x="0" y="0"/>
                </a:moveTo>
                <a:lnTo>
                  <a:pt x="10583" y="0"/>
                </a:lnTo>
                <a:lnTo>
                  <a:pt x="10583" y="1312333"/>
                </a:lnTo>
                <a:lnTo>
                  <a:pt x="0" y="1312333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5676139" y="753532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5792556" y="7662327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95250" y="31750"/>
                </a:moveTo>
                <a:cubicBezTo>
                  <a:pt x="65187" y="31750"/>
                  <a:pt x="37968" y="43656"/>
                  <a:pt x="17959" y="63037"/>
                </a:cubicBezTo>
                <a:cubicBezTo>
                  <a:pt x="13758" y="67105"/>
                  <a:pt x="7045" y="67006"/>
                  <a:pt x="3010" y="62805"/>
                </a:cubicBezTo>
                <a:cubicBezTo>
                  <a:pt x="-1025" y="58605"/>
                  <a:pt x="-959" y="51891"/>
                  <a:pt x="3241" y="47857"/>
                </a:cubicBezTo>
                <a:cubicBezTo>
                  <a:pt x="27021" y="24772"/>
                  <a:pt x="59498" y="10583"/>
                  <a:pt x="95250" y="10583"/>
                </a:cubicBezTo>
                <a:cubicBezTo>
                  <a:pt x="131002" y="10583"/>
                  <a:pt x="163479" y="24772"/>
                  <a:pt x="187292" y="47857"/>
                </a:cubicBezTo>
                <a:cubicBezTo>
                  <a:pt x="191492" y="51924"/>
                  <a:pt x="191591" y="58638"/>
                  <a:pt x="187523" y="62805"/>
                </a:cubicBezTo>
                <a:cubicBezTo>
                  <a:pt x="183455" y="66973"/>
                  <a:pt x="176742" y="67105"/>
                  <a:pt x="172574" y="63037"/>
                </a:cubicBezTo>
                <a:cubicBezTo>
                  <a:pt x="152532" y="43656"/>
                  <a:pt x="125313" y="31750"/>
                  <a:pt x="95250" y="31750"/>
                </a:cubicBezTo>
                <a:close/>
                <a:moveTo>
                  <a:pt x="79375" y="142875"/>
                </a:moveTo>
                <a:cubicBezTo>
                  <a:pt x="79375" y="134113"/>
                  <a:pt x="86488" y="127000"/>
                  <a:pt x="95250" y="127000"/>
                </a:cubicBezTo>
                <a:cubicBezTo>
                  <a:pt x="104012" y="127000"/>
                  <a:pt x="111125" y="134113"/>
                  <a:pt x="111125" y="142875"/>
                </a:cubicBezTo>
                <a:cubicBezTo>
                  <a:pt x="111125" y="151637"/>
                  <a:pt x="104012" y="158750"/>
                  <a:pt x="95250" y="158750"/>
                </a:cubicBezTo>
                <a:cubicBezTo>
                  <a:pt x="86488" y="158750"/>
                  <a:pt x="79375" y="151637"/>
                  <a:pt x="79375" y="142875"/>
                </a:cubicBezTo>
                <a:close/>
                <a:moveTo>
                  <a:pt x="55563" y="107884"/>
                </a:moveTo>
                <a:cubicBezTo>
                  <a:pt x="51693" y="112283"/>
                  <a:pt x="45012" y="112679"/>
                  <a:pt x="40614" y="108810"/>
                </a:cubicBezTo>
                <a:cubicBezTo>
                  <a:pt x="36215" y="104940"/>
                  <a:pt x="35818" y="98260"/>
                  <a:pt x="39688" y="93861"/>
                </a:cubicBezTo>
                <a:cubicBezTo>
                  <a:pt x="53247" y="78515"/>
                  <a:pt x="73124" y="68792"/>
                  <a:pt x="95250" y="68792"/>
                </a:cubicBezTo>
                <a:cubicBezTo>
                  <a:pt x="117376" y="68792"/>
                  <a:pt x="137253" y="78515"/>
                  <a:pt x="150813" y="93861"/>
                </a:cubicBezTo>
                <a:cubicBezTo>
                  <a:pt x="154682" y="98260"/>
                  <a:pt x="154252" y="104940"/>
                  <a:pt x="149886" y="108810"/>
                </a:cubicBezTo>
                <a:cubicBezTo>
                  <a:pt x="145521" y="112679"/>
                  <a:pt x="138807" y="112249"/>
                  <a:pt x="134938" y="107884"/>
                </a:cubicBezTo>
                <a:cubicBezTo>
                  <a:pt x="125214" y="96871"/>
                  <a:pt x="111059" y="89958"/>
                  <a:pt x="95250" y="89958"/>
                </a:cubicBezTo>
                <a:cubicBezTo>
                  <a:pt x="79441" y="89958"/>
                  <a:pt x="65286" y="96871"/>
                  <a:pt x="55563" y="107884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6226473" y="7598827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网络通信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676139" y="8043327"/>
            <a:ext cx="48048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节点间通过</a:t>
            </a:r>
            <a:r>
              <a:rPr lang="en-US" sz="1333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消息传递</a:t>
            </a: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交换信息,需要统一的</a:t>
            </a:r>
            <a:r>
              <a:rPr lang="en-US" sz="1333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协议标准</a:t>
            </a: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确保互操作性。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676139" y="8635994"/>
            <a:ext cx="4794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分布式"神经系统"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749111" y="753532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0886695" y="766232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8167" y="68064"/>
                </a:moveTo>
                <a:cubicBezTo>
                  <a:pt x="143272" y="71305"/>
                  <a:pt x="137649" y="73918"/>
                  <a:pt x="131796" y="76002"/>
                </a:cubicBezTo>
                <a:cubicBezTo>
                  <a:pt x="116251" y="81558"/>
                  <a:pt x="95845" y="84667"/>
                  <a:pt x="74083" y="84667"/>
                </a:cubicBezTo>
                <a:cubicBezTo>
                  <a:pt x="52321" y="84667"/>
                  <a:pt x="31882" y="81525"/>
                  <a:pt x="16371" y="76002"/>
                </a:cubicBezTo>
                <a:cubicBezTo>
                  <a:pt x="10550" y="73918"/>
                  <a:pt x="4895" y="71305"/>
                  <a:pt x="0" y="68064"/>
                </a:cubicBezTo>
                <a:lnTo>
                  <a:pt x="0" y="95250"/>
                </a:lnTo>
                <a:cubicBezTo>
                  <a:pt x="0" y="109868"/>
                  <a:pt x="33172" y="121708"/>
                  <a:pt x="74083" y="121708"/>
                </a:cubicBezTo>
                <a:cubicBezTo>
                  <a:pt x="114995" y="121708"/>
                  <a:pt x="148167" y="109868"/>
                  <a:pt x="148167" y="95250"/>
                </a:cubicBezTo>
                <a:lnTo>
                  <a:pt x="148167" y="68064"/>
                </a:lnTo>
                <a:close/>
                <a:moveTo>
                  <a:pt x="148167" y="42333"/>
                </a:moveTo>
                <a:lnTo>
                  <a:pt x="148167" y="26458"/>
                </a:lnTo>
                <a:cubicBezTo>
                  <a:pt x="148167" y="11840"/>
                  <a:pt x="114995" y="0"/>
                  <a:pt x="74083" y="0"/>
                </a:cubicBezTo>
                <a:cubicBezTo>
                  <a:pt x="33172" y="0"/>
                  <a:pt x="0" y="11840"/>
                  <a:pt x="0" y="26458"/>
                </a:cubicBezTo>
                <a:lnTo>
                  <a:pt x="0" y="42333"/>
                </a:lnTo>
                <a:cubicBezTo>
                  <a:pt x="0" y="56952"/>
                  <a:pt x="33172" y="68792"/>
                  <a:pt x="74083" y="68792"/>
                </a:cubicBezTo>
                <a:cubicBezTo>
                  <a:pt x="114995" y="68792"/>
                  <a:pt x="148167" y="56952"/>
                  <a:pt x="148167" y="42333"/>
                </a:cubicBezTo>
                <a:close/>
                <a:moveTo>
                  <a:pt x="131796" y="128918"/>
                </a:moveTo>
                <a:cubicBezTo>
                  <a:pt x="116284" y="134441"/>
                  <a:pt x="95878" y="137583"/>
                  <a:pt x="74083" y="137583"/>
                </a:cubicBezTo>
                <a:cubicBezTo>
                  <a:pt x="52288" y="137583"/>
                  <a:pt x="31882" y="134441"/>
                  <a:pt x="16371" y="128918"/>
                </a:cubicBezTo>
                <a:cubicBezTo>
                  <a:pt x="10550" y="126835"/>
                  <a:pt x="4895" y="124222"/>
                  <a:pt x="0" y="120981"/>
                </a:cubicBezTo>
                <a:lnTo>
                  <a:pt x="0" y="142875"/>
                </a:lnTo>
                <a:cubicBezTo>
                  <a:pt x="0" y="157493"/>
                  <a:pt x="33172" y="169333"/>
                  <a:pt x="74083" y="169333"/>
                </a:cubicBezTo>
                <a:cubicBezTo>
                  <a:pt x="114995" y="169333"/>
                  <a:pt x="148167" y="157493"/>
                  <a:pt x="148167" y="142875"/>
                </a:cubicBezTo>
                <a:lnTo>
                  <a:pt x="148167" y="120981"/>
                </a:lnTo>
                <a:cubicBezTo>
                  <a:pt x="143272" y="124222"/>
                  <a:pt x="137649" y="126835"/>
                  <a:pt x="131796" y="12891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1299445" y="7598827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749111" y="8043327"/>
            <a:ext cx="481541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所有节点对同一数据的认知应该</a:t>
            </a:r>
            <a:r>
              <a:rPr lang="en-US" sz="1333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</a:t>
            </a: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,数据变更需要及时</a:t>
            </a:r>
            <a:r>
              <a:rPr lang="en-US" sz="1333" b="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同步</a:t>
            </a: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749111" y="8360827"/>
            <a:ext cx="4804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最核心挑战之一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1981200" cy="520700"/>
          </a:xfrm>
          <a:custGeom>
            <a:avLst/>
            <a:gdLst/>
            <a:ahLst/>
            <a:cxnLst/>
            <a:rect l="l" t="t" r="r" b="b"/>
            <a:pathLst>
              <a:path w="1981200" h="520700">
                <a:moveTo>
                  <a:pt x="50799" y="0"/>
                </a:moveTo>
                <a:lnTo>
                  <a:pt x="1930401" y="0"/>
                </a:lnTo>
                <a:cubicBezTo>
                  <a:pt x="1958456" y="0"/>
                  <a:pt x="1981200" y="22744"/>
                  <a:pt x="1981200" y="50799"/>
                </a:cubicBezTo>
                <a:lnTo>
                  <a:pt x="1981200" y="469901"/>
                </a:lnTo>
                <a:cubicBezTo>
                  <a:pt x="1981200" y="497956"/>
                  <a:pt x="1958456" y="520700"/>
                  <a:pt x="1930401" y="520700"/>
                </a:cubicBezTo>
                <a:lnTo>
                  <a:pt x="50799" y="520700"/>
                </a:lnTo>
                <a:cubicBezTo>
                  <a:pt x="22744" y="520700"/>
                  <a:pt x="0" y="497956"/>
                  <a:pt x="0" y="4699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3900" y="641350"/>
            <a:ext cx="1662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43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分布式系统的六大关键特征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60550"/>
            <a:ext cx="15227300" cy="5676900"/>
          </a:xfrm>
          <a:custGeom>
            <a:avLst/>
            <a:gdLst/>
            <a:ahLst/>
            <a:cxnLst/>
            <a:rect l="l" t="t" r="r" b="b"/>
            <a:pathLst>
              <a:path w="15227300" h="5676900">
                <a:moveTo>
                  <a:pt x="101617" y="0"/>
                </a:moveTo>
                <a:lnTo>
                  <a:pt x="15125683" y="0"/>
                </a:lnTo>
                <a:cubicBezTo>
                  <a:pt x="15181805" y="0"/>
                  <a:pt x="15227300" y="45495"/>
                  <a:pt x="15227300" y="101617"/>
                </a:cubicBezTo>
                <a:lnTo>
                  <a:pt x="15227300" y="5575283"/>
                </a:lnTo>
                <a:cubicBezTo>
                  <a:pt x="15227300" y="5631405"/>
                  <a:pt x="15181805" y="5676900"/>
                  <a:pt x="15125683" y="5676900"/>
                </a:cubicBezTo>
                <a:lnTo>
                  <a:pt x="101617" y="5676900"/>
                </a:lnTo>
                <a:cubicBezTo>
                  <a:pt x="45495" y="5676900"/>
                  <a:pt x="0" y="5631405"/>
                  <a:pt x="0" y="5575283"/>
                </a:cubicBezTo>
                <a:lnTo>
                  <a:pt x="0" y="101617"/>
                </a:lnTo>
                <a:cubicBezTo>
                  <a:pt x="0" y="45533"/>
                  <a:pt x="45533" y="0"/>
                  <a:pt x="101617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20700" y="1866900"/>
            <a:ext cx="15214600" cy="666750"/>
          </a:xfrm>
          <a:custGeom>
            <a:avLst/>
            <a:gdLst/>
            <a:ahLst/>
            <a:cxnLst/>
            <a:rect l="l" t="t" r="r" b="b"/>
            <a:pathLst>
              <a:path w="15214600" h="666750">
                <a:moveTo>
                  <a:pt x="0" y="0"/>
                </a:moveTo>
                <a:lnTo>
                  <a:pt x="15214600" y="0"/>
                </a:lnTo>
                <a:lnTo>
                  <a:pt x="1521460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2533650"/>
            <a:ext cx="15214600" cy="12700"/>
          </a:xfrm>
          <a:custGeom>
            <a:avLst/>
            <a:gdLst/>
            <a:ahLst/>
            <a:cxnLst/>
            <a:rect l="l" t="t" r="r" b="b"/>
            <a:pathLst>
              <a:path w="15214600" h="12700">
                <a:moveTo>
                  <a:pt x="0" y="0"/>
                </a:moveTo>
                <a:lnTo>
                  <a:pt x="15214600" y="0"/>
                </a:lnTo>
                <a:lnTo>
                  <a:pt x="15214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57250" y="2070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3812" y="71438"/>
                </a:moveTo>
                <a:cubicBezTo>
                  <a:pt x="36955" y="71438"/>
                  <a:pt x="47625" y="60767"/>
                  <a:pt x="47625" y="47625"/>
                </a:cubicBezTo>
                <a:cubicBezTo>
                  <a:pt x="47625" y="34483"/>
                  <a:pt x="36955" y="23812"/>
                  <a:pt x="23812" y="23812"/>
                </a:cubicBezTo>
                <a:cubicBezTo>
                  <a:pt x="10670" y="23812"/>
                  <a:pt x="0" y="34483"/>
                  <a:pt x="0" y="47625"/>
                </a:cubicBezTo>
                <a:cubicBezTo>
                  <a:pt x="0" y="60767"/>
                  <a:pt x="10670" y="71438"/>
                  <a:pt x="23812" y="71438"/>
                </a:cubicBezTo>
                <a:close/>
                <a:moveTo>
                  <a:pt x="95250" y="31750"/>
                </a:moveTo>
                <a:cubicBezTo>
                  <a:pt x="86469" y="31750"/>
                  <a:pt x="79375" y="38844"/>
                  <a:pt x="79375" y="47625"/>
                </a:cubicBezTo>
                <a:cubicBezTo>
                  <a:pt x="79375" y="56406"/>
                  <a:pt x="86469" y="63500"/>
                  <a:pt x="95250" y="63500"/>
                </a:cubicBezTo>
                <a:lnTo>
                  <a:pt x="238125" y="63500"/>
                </a:lnTo>
                <a:cubicBezTo>
                  <a:pt x="246906" y="63500"/>
                  <a:pt x="254000" y="56406"/>
                  <a:pt x="254000" y="47625"/>
                </a:cubicBezTo>
                <a:cubicBezTo>
                  <a:pt x="254000" y="38844"/>
                  <a:pt x="246906" y="31750"/>
                  <a:pt x="238125" y="31750"/>
                </a:cubicBezTo>
                <a:lnTo>
                  <a:pt x="95250" y="31750"/>
                </a:lnTo>
                <a:close/>
                <a:moveTo>
                  <a:pt x="95250" y="111125"/>
                </a:moveTo>
                <a:cubicBezTo>
                  <a:pt x="86469" y="111125"/>
                  <a:pt x="79375" y="118219"/>
                  <a:pt x="79375" y="127000"/>
                </a:cubicBezTo>
                <a:cubicBezTo>
                  <a:pt x="79375" y="135781"/>
                  <a:pt x="86469" y="142875"/>
                  <a:pt x="95250" y="142875"/>
                </a:cubicBezTo>
                <a:lnTo>
                  <a:pt x="238125" y="142875"/>
                </a:lnTo>
                <a:cubicBezTo>
                  <a:pt x="246906" y="142875"/>
                  <a:pt x="254000" y="135781"/>
                  <a:pt x="254000" y="127000"/>
                </a:cubicBezTo>
                <a:cubicBezTo>
                  <a:pt x="254000" y="118219"/>
                  <a:pt x="246906" y="111125"/>
                  <a:pt x="238125" y="111125"/>
                </a:cubicBezTo>
                <a:lnTo>
                  <a:pt x="95250" y="111125"/>
                </a:lnTo>
                <a:close/>
                <a:moveTo>
                  <a:pt x="95250" y="190500"/>
                </a:moveTo>
                <a:cubicBezTo>
                  <a:pt x="86469" y="190500"/>
                  <a:pt x="79375" y="197594"/>
                  <a:pt x="79375" y="206375"/>
                </a:cubicBezTo>
                <a:cubicBezTo>
                  <a:pt x="79375" y="215156"/>
                  <a:pt x="86469" y="222250"/>
                  <a:pt x="95250" y="222250"/>
                </a:cubicBez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ubicBezTo>
                  <a:pt x="254000" y="197594"/>
                  <a:pt x="246906" y="190500"/>
                  <a:pt x="238125" y="190500"/>
                </a:cubicBezTo>
                <a:lnTo>
                  <a:pt x="95250" y="190500"/>
                </a:lnTo>
                <a:close/>
                <a:moveTo>
                  <a:pt x="23812" y="230188"/>
                </a:moveTo>
                <a:cubicBezTo>
                  <a:pt x="36955" y="230188"/>
                  <a:pt x="47625" y="219517"/>
                  <a:pt x="47625" y="206375"/>
                </a:cubicBezTo>
                <a:cubicBezTo>
                  <a:pt x="47625" y="193233"/>
                  <a:pt x="36955" y="182563"/>
                  <a:pt x="23812" y="182563"/>
                </a:cubicBezTo>
                <a:cubicBezTo>
                  <a:pt x="10670" y="182563"/>
                  <a:pt x="0" y="193233"/>
                  <a:pt x="0" y="206375"/>
                </a:cubicBezTo>
                <a:cubicBezTo>
                  <a:pt x="0" y="219517"/>
                  <a:pt x="10670" y="230188"/>
                  <a:pt x="23812" y="230188"/>
                </a:cubicBezTo>
                <a:close/>
                <a:moveTo>
                  <a:pt x="47625" y="127000"/>
                </a:moveTo>
                <a:cubicBezTo>
                  <a:pt x="47625" y="113858"/>
                  <a:pt x="36955" y="103188"/>
                  <a:pt x="23812" y="103188"/>
                </a:cubicBezTo>
                <a:cubicBezTo>
                  <a:pt x="10670" y="103188"/>
                  <a:pt x="0" y="113858"/>
                  <a:pt x="0" y="127000"/>
                </a:cubicBezTo>
                <a:cubicBezTo>
                  <a:pt x="0" y="140142"/>
                  <a:pt x="10670" y="150813"/>
                  <a:pt x="23812" y="150813"/>
                </a:cubicBezTo>
                <a:cubicBezTo>
                  <a:pt x="36955" y="150813"/>
                  <a:pt x="47625" y="140142"/>
                  <a:pt x="47625" y="12700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95400" y="2019300"/>
            <a:ext cx="142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六大核心特征详解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4700" y="2794000"/>
          <a:ext cx="14706599" cy="4025903"/>
        </p:xfrm>
        <a:graphic>
          <a:graphicData uri="http://schemas.openxmlformats.org/drawingml/2006/table">
            <a:tbl>
              <a:tblPr/>
              <a:tblGrid>
                <a:gridCol w="1903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6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6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0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12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特征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银行系统示例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技术实现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129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多个独立节点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系统由多台物理或虚拟机器组成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多个数据中心,每个都能独立处理业务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集群部署、节点管理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129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网络通信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节点之间通过网络进行消息传递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数据中心间通过专线同步账户余额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TCP/IP、消息队列、RPC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129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协同工作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各节点协调配合完成整体任务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跨行转账需要多个银行系统协调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分布式协议、工作流引擎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129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透明性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用户感知不到系统的分布式特性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客户不需要知道数据存储位置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负载均衡、统一接口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129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可扩展性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通过增加节点提升系统能力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新增分支机构扩大服务范围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水平扩展、弹性伸缩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5129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容错性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部分节点故障不影响整体服务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单个分支故障不影响其他分支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冗余备份、故障转移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14350" y="7753350"/>
            <a:ext cx="4927600" cy="876300"/>
          </a:xfrm>
          <a:custGeom>
            <a:avLst/>
            <a:gdLst/>
            <a:ahLst/>
            <a:cxnLst/>
            <a:rect l="l" t="t" r="r" b="b"/>
            <a:pathLst>
              <a:path w="4927600" h="876300">
                <a:moveTo>
                  <a:pt x="101598" y="0"/>
                </a:moveTo>
                <a:lnTo>
                  <a:pt x="4826002" y="0"/>
                </a:lnTo>
                <a:cubicBezTo>
                  <a:pt x="4882113" y="0"/>
                  <a:pt x="4927600" y="45487"/>
                  <a:pt x="4927600" y="101598"/>
                </a:cubicBezTo>
                <a:lnTo>
                  <a:pt x="4927600" y="774702"/>
                </a:lnTo>
                <a:cubicBezTo>
                  <a:pt x="4927600" y="830813"/>
                  <a:pt x="4882113" y="876300"/>
                  <a:pt x="4826002" y="876300"/>
                </a:cubicBezTo>
                <a:lnTo>
                  <a:pt x="101598" y="876300"/>
                </a:lnTo>
                <a:cubicBezTo>
                  <a:pt x="45487" y="876300"/>
                  <a:pt x="0" y="830813"/>
                  <a:pt x="0" y="7747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704850" y="8064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143000" y="7912100"/>
            <a:ext cx="205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高可用性保障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3000" y="8216900"/>
            <a:ext cx="204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通过冗余和故障转移实现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662017" y="7753350"/>
            <a:ext cx="4927600" cy="876300"/>
          </a:xfrm>
          <a:custGeom>
            <a:avLst/>
            <a:gdLst/>
            <a:ahLst/>
            <a:cxnLst/>
            <a:rect l="l" t="t" r="r" b="b"/>
            <a:pathLst>
              <a:path w="4927600" h="876300">
                <a:moveTo>
                  <a:pt x="101598" y="0"/>
                </a:moveTo>
                <a:lnTo>
                  <a:pt x="4826002" y="0"/>
                </a:lnTo>
                <a:cubicBezTo>
                  <a:pt x="4882113" y="0"/>
                  <a:pt x="4927600" y="45487"/>
                  <a:pt x="4927600" y="101598"/>
                </a:cubicBezTo>
                <a:lnTo>
                  <a:pt x="4927600" y="774702"/>
                </a:lnTo>
                <a:cubicBezTo>
                  <a:pt x="4927600" y="830813"/>
                  <a:pt x="4882113" y="876300"/>
                  <a:pt x="4826002" y="876300"/>
                </a:cubicBezTo>
                <a:lnTo>
                  <a:pt x="101598" y="876300"/>
                </a:lnTo>
                <a:cubicBezTo>
                  <a:pt x="45487" y="876300"/>
                  <a:pt x="0" y="830813"/>
                  <a:pt x="0" y="7747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5868392" y="80645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5875" y="15875"/>
                </a:moveTo>
                <a:cubicBezTo>
                  <a:pt x="7094" y="15875"/>
                  <a:pt x="0" y="22969"/>
                  <a:pt x="0" y="31750"/>
                </a:cubicBezTo>
                <a:lnTo>
                  <a:pt x="0" y="79375"/>
                </a:lnTo>
                <a:cubicBezTo>
                  <a:pt x="0" y="88156"/>
                  <a:pt x="7094" y="95250"/>
                  <a:pt x="15875" y="95250"/>
                </a:cubicBezTo>
                <a:cubicBezTo>
                  <a:pt x="24656" y="95250"/>
                  <a:pt x="31750" y="88156"/>
                  <a:pt x="31750" y="79375"/>
                </a:cubicBezTo>
                <a:lnTo>
                  <a:pt x="31750" y="47625"/>
                </a:lnTo>
                <a:lnTo>
                  <a:pt x="63500" y="47625"/>
                </a:lnTo>
                <a:cubicBezTo>
                  <a:pt x="72281" y="47625"/>
                  <a:pt x="79375" y="40531"/>
                  <a:pt x="79375" y="31750"/>
                </a:cubicBezTo>
                <a:cubicBezTo>
                  <a:pt x="79375" y="22969"/>
                  <a:pt x="72281" y="15875"/>
                  <a:pt x="63500" y="15875"/>
                </a:cubicBezTo>
                <a:lnTo>
                  <a:pt x="15875" y="15875"/>
                </a:lnTo>
                <a:close/>
                <a:moveTo>
                  <a:pt x="31750" y="174625"/>
                </a:moveTo>
                <a:cubicBezTo>
                  <a:pt x="31750" y="165844"/>
                  <a:pt x="24656" y="158750"/>
                  <a:pt x="15875" y="158750"/>
                </a:cubicBezTo>
                <a:cubicBezTo>
                  <a:pt x="7094" y="158750"/>
                  <a:pt x="0" y="165844"/>
                  <a:pt x="0" y="174625"/>
                </a:cubicBezTo>
                <a:lnTo>
                  <a:pt x="0" y="222250"/>
                </a:lnTo>
                <a:cubicBezTo>
                  <a:pt x="0" y="231031"/>
                  <a:pt x="7094" y="238125"/>
                  <a:pt x="15875" y="238125"/>
                </a:cubicBezTo>
                <a:lnTo>
                  <a:pt x="63500" y="238125"/>
                </a:lnTo>
                <a:cubicBezTo>
                  <a:pt x="72281" y="238125"/>
                  <a:pt x="79375" y="231031"/>
                  <a:pt x="79375" y="222250"/>
                </a:cubicBezTo>
                <a:cubicBezTo>
                  <a:pt x="79375" y="213469"/>
                  <a:pt x="72281" y="206375"/>
                  <a:pt x="63500" y="206375"/>
                </a:cubicBezTo>
                <a:lnTo>
                  <a:pt x="31750" y="206375"/>
                </a:lnTo>
                <a:lnTo>
                  <a:pt x="31750" y="174625"/>
                </a:lnTo>
                <a:close/>
                <a:moveTo>
                  <a:pt x="158750" y="15875"/>
                </a:moveTo>
                <a:cubicBezTo>
                  <a:pt x="149969" y="15875"/>
                  <a:pt x="142875" y="22969"/>
                  <a:pt x="142875" y="31750"/>
                </a:cubicBezTo>
                <a:cubicBezTo>
                  <a:pt x="142875" y="40531"/>
                  <a:pt x="149969" y="47625"/>
                  <a:pt x="158750" y="47625"/>
                </a:cubicBezTo>
                <a:lnTo>
                  <a:pt x="190500" y="47625"/>
                </a:lnTo>
                <a:lnTo>
                  <a:pt x="190500" y="79375"/>
                </a:lnTo>
                <a:cubicBezTo>
                  <a:pt x="190500" y="88156"/>
                  <a:pt x="197594" y="95250"/>
                  <a:pt x="206375" y="95250"/>
                </a:cubicBezTo>
                <a:cubicBezTo>
                  <a:pt x="215156" y="95250"/>
                  <a:pt x="222250" y="88156"/>
                  <a:pt x="222250" y="79375"/>
                </a:cubicBezTo>
                <a:lnTo>
                  <a:pt x="222250" y="31750"/>
                </a:lnTo>
                <a:cubicBezTo>
                  <a:pt x="222250" y="22969"/>
                  <a:pt x="215156" y="15875"/>
                  <a:pt x="206375" y="15875"/>
                </a:cubicBezTo>
                <a:lnTo>
                  <a:pt x="158750" y="15875"/>
                </a:lnTo>
                <a:close/>
                <a:moveTo>
                  <a:pt x="222250" y="174625"/>
                </a:moveTo>
                <a:cubicBezTo>
                  <a:pt x="222250" y="165844"/>
                  <a:pt x="215156" y="158750"/>
                  <a:pt x="206375" y="158750"/>
                </a:cubicBezTo>
                <a:cubicBezTo>
                  <a:pt x="197594" y="158750"/>
                  <a:pt x="190500" y="165844"/>
                  <a:pt x="190500" y="174625"/>
                </a:cubicBezTo>
                <a:lnTo>
                  <a:pt x="190500" y="206375"/>
                </a:lnTo>
                <a:lnTo>
                  <a:pt x="158750" y="206375"/>
                </a:lnTo>
                <a:cubicBezTo>
                  <a:pt x="149969" y="206375"/>
                  <a:pt x="142875" y="213469"/>
                  <a:pt x="142875" y="222250"/>
                </a:cubicBezTo>
                <a:cubicBezTo>
                  <a:pt x="142875" y="231031"/>
                  <a:pt x="149969" y="238125"/>
                  <a:pt x="158750" y="238125"/>
                </a:cubicBezTo>
                <a:lnTo>
                  <a:pt x="206375" y="238125"/>
                </a:lnTo>
                <a:cubicBezTo>
                  <a:pt x="215156" y="238125"/>
                  <a:pt x="222250" y="231031"/>
                  <a:pt x="222250" y="222250"/>
                </a:cubicBezTo>
                <a:lnTo>
                  <a:pt x="222250" y="174625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290667" y="7912100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弹性扩展能力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90667" y="821690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根据负载动态增减节点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809784" y="7753350"/>
            <a:ext cx="4927600" cy="876300"/>
          </a:xfrm>
          <a:custGeom>
            <a:avLst/>
            <a:gdLst/>
            <a:ahLst/>
            <a:cxnLst/>
            <a:rect l="l" t="t" r="r" b="b"/>
            <a:pathLst>
              <a:path w="4927600" h="876300">
                <a:moveTo>
                  <a:pt x="101598" y="0"/>
                </a:moveTo>
                <a:lnTo>
                  <a:pt x="4826002" y="0"/>
                </a:lnTo>
                <a:cubicBezTo>
                  <a:pt x="4882113" y="0"/>
                  <a:pt x="4927600" y="45487"/>
                  <a:pt x="4927600" y="101598"/>
                </a:cubicBezTo>
                <a:lnTo>
                  <a:pt x="4927600" y="774702"/>
                </a:lnTo>
                <a:cubicBezTo>
                  <a:pt x="4927600" y="830813"/>
                  <a:pt x="4882113" y="876300"/>
                  <a:pt x="4826002" y="876300"/>
                </a:cubicBezTo>
                <a:lnTo>
                  <a:pt x="101598" y="876300"/>
                </a:lnTo>
                <a:cubicBezTo>
                  <a:pt x="45487" y="876300"/>
                  <a:pt x="0" y="830813"/>
                  <a:pt x="0" y="7747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11000284" y="8064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74575" y="138906"/>
                </a:moveTo>
                <a:lnTo>
                  <a:pt x="79871" y="138906"/>
                </a:lnTo>
                <a:cubicBezTo>
                  <a:pt x="81310" y="170904"/>
                  <a:pt x="88404" y="200372"/>
                  <a:pt x="98475" y="221952"/>
                </a:cubicBezTo>
                <a:cubicBezTo>
                  <a:pt x="104130" y="234107"/>
                  <a:pt x="110232" y="242689"/>
                  <a:pt x="115888" y="247948"/>
                </a:cubicBezTo>
                <a:cubicBezTo>
                  <a:pt x="121444" y="253157"/>
                  <a:pt x="125264" y="254000"/>
                  <a:pt x="127248" y="254000"/>
                </a:cubicBezTo>
                <a:cubicBezTo>
                  <a:pt x="129232" y="254000"/>
                  <a:pt x="133052" y="253157"/>
                  <a:pt x="138609" y="247948"/>
                </a:cubicBezTo>
                <a:cubicBezTo>
                  <a:pt x="144264" y="242689"/>
                  <a:pt x="150366" y="234057"/>
                  <a:pt x="156021" y="221952"/>
                </a:cubicBezTo>
                <a:cubicBezTo>
                  <a:pt x="166092" y="200372"/>
                  <a:pt x="173186" y="170904"/>
                  <a:pt x="174625" y="138906"/>
                </a:cubicBezTo>
                <a:close/>
                <a:moveTo>
                  <a:pt x="79821" y="115094"/>
                </a:moveTo>
                <a:lnTo>
                  <a:pt x="174526" y="115094"/>
                </a:lnTo>
                <a:cubicBezTo>
                  <a:pt x="173137" y="83096"/>
                  <a:pt x="166043" y="53628"/>
                  <a:pt x="155972" y="32048"/>
                </a:cubicBezTo>
                <a:cubicBezTo>
                  <a:pt x="150316" y="19943"/>
                  <a:pt x="144214" y="11311"/>
                  <a:pt x="138559" y="6052"/>
                </a:cubicBezTo>
                <a:cubicBezTo>
                  <a:pt x="133003" y="843"/>
                  <a:pt x="129183" y="0"/>
                  <a:pt x="127198" y="0"/>
                </a:cubicBezTo>
                <a:cubicBezTo>
                  <a:pt x="125214" y="0"/>
                  <a:pt x="121394" y="843"/>
                  <a:pt x="115838" y="6052"/>
                </a:cubicBezTo>
                <a:cubicBezTo>
                  <a:pt x="110182" y="11311"/>
                  <a:pt x="104080" y="19943"/>
                  <a:pt x="98425" y="32048"/>
                </a:cubicBezTo>
                <a:cubicBezTo>
                  <a:pt x="88354" y="53628"/>
                  <a:pt x="81260" y="83096"/>
                  <a:pt x="79821" y="115094"/>
                </a:cubicBezTo>
                <a:close/>
                <a:moveTo>
                  <a:pt x="56009" y="115094"/>
                </a:moveTo>
                <a:cubicBezTo>
                  <a:pt x="57745" y="72628"/>
                  <a:pt x="68709" y="33189"/>
                  <a:pt x="84733" y="7293"/>
                </a:cubicBezTo>
                <a:cubicBezTo>
                  <a:pt x="39043" y="23465"/>
                  <a:pt x="5407" y="65088"/>
                  <a:pt x="744" y="115094"/>
                </a:cubicBezTo>
                <a:lnTo>
                  <a:pt x="56009" y="115094"/>
                </a:lnTo>
                <a:close/>
                <a:moveTo>
                  <a:pt x="744" y="138906"/>
                </a:moveTo>
                <a:cubicBezTo>
                  <a:pt x="5407" y="188913"/>
                  <a:pt x="39043" y="230535"/>
                  <a:pt x="84733" y="246707"/>
                </a:cubicBezTo>
                <a:cubicBezTo>
                  <a:pt x="68709" y="220811"/>
                  <a:pt x="57745" y="181372"/>
                  <a:pt x="56009" y="138906"/>
                </a:cubicBezTo>
                <a:lnTo>
                  <a:pt x="744" y="138906"/>
                </a:lnTo>
                <a:close/>
                <a:moveTo>
                  <a:pt x="198388" y="138906"/>
                </a:moveTo>
                <a:cubicBezTo>
                  <a:pt x="196652" y="181372"/>
                  <a:pt x="185688" y="220811"/>
                  <a:pt x="169664" y="246707"/>
                </a:cubicBezTo>
                <a:cubicBezTo>
                  <a:pt x="215354" y="230485"/>
                  <a:pt x="248989" y="188913"/>
                  <a:pt x="253653" y="138906"/>
                </a:cubicBezTo>
                <a:lnTo>
                  <a:pt x="198388" y="138906"/>
                </a:lnTo>
                <a:close/>
                <a:moveTo>
                  <a:pt x="253653" y="115094"/>
                </a:moveTo>
                <a:cubicBezTo>
                  <a:pt x="248989" y="65088"/>
                  <a:pt x="215354" y="23465"/>
                  <a:pt x="169664" y="7293"/>
                </a:cubicBezTo>
                <a:cubicBezTo>
                  <a:pt x="185688" y="33189"/>
                  <a:pt x="196652" y="72628"/>
                  <a:pt x="198388" y="115094"/>
                </a:cubicBezTo>
                <a:lnTo>
                  <a:pt x="253653" y="11509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11438434" y="7912100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地理分布部署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438434" y="821690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就近服务降低访问延迟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9162" y="479162"/>
            <a:ext cx="2863138" cy="485077"/>
          </a:xfrm>
          <a:custGeom>
            <a:avLst/>
            <a:gdLst/>
            <a:ahLst/>
            <a:cxnLst/>
            <a:rect l="l" t="t" r="r" b="b"/>
            <a:pathLst>
              <a:path w="2863138" h="485077">
                <a:moveTo>
                  <a:pt x="47324" y="0"/>
                </a:moveTo>
                <a:lnTo>
                  <a:pt x="2815814" y="0"/>
                </a:lnTo>
                <a:cubicBezTo>
                  <a:pt x="2841951" y="0"/>
                  <a:pt x="2863138" y="21188"/>
                  <a:pt x="2863138" y="47324"/>
                </a:cubicBezTo>
                <a:lnTo>
                  <a:pt x="2863138" y="437753"/>
                </a:lnTo>
                <a:cubicBezTo>
                  <a:pt x="2863138" y="463889"/>
                  <a:pt x="2841951" y="485077"/>
                  <a:pt x="2815814" y="485077"/>
                </a:cubicBezTo>
                <a:lnTo>
                  <a:pt x="47324" y="485077"/>
                </a:lnTo>
                <a:cubicBezTo>
                  <a:pt x="21188" y="485077"/>
                  <a:pt x="0" y="463889"/>
                  <a:pt x="0" y="437753"/>
                </a:cubicBezTo>
                <a:lnTo>
                  <a:pt x="0" y="47324"/>
                </a:lnTo>
                <a:cubicBezTo>
                  <a:pt x="0" y="21205"/>
                  <a:pt x="21205" y="0"/>
                  <a:pt x="47324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4376" y="597473"/>
            <a:ext cx="2572443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1" b="1" kern="0" spc="75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CLASSIFICATION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3246" y="1064803"/>
            <a:ext cx="15522469" cy="47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5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分布式系统的分类方法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739" y="1774672"/>
            <a:ext cx="283948" cy="283948"/>
          </a:xfrm>
          <a:custGeom>
            <a:avLst/>
            <a:gdLst/>
            <a:ahLst/>
            <a:cxnLst/>
            <a:rect l="l" t="t" r="r" b="b"/>
            <a:pathLst>
              <a:path w="283948" h="283948">
                <a:moveTo>
                  <a:pt x="106480" y="35493"/>
                </a:moveTo>
                <a:cubicBezTo>
                  <a:pt x="106480" y="25677"/>
                  <a:pt x="114411" y="17747"/>
                  <a:pt x="124227" y="17747"/>
                </a:cubicBezTo>
                <a:lnTo>
                  <a:pt x="159721" y="17747"/>
                </a:lnTo>
                <a:cubicBezTo>
                  <a:pt x="169537" y="17747"/>
                  <a:pt x="177467" y="25677"/>
                  <a:pt x="177467" y="35493"/>
                </a:cubicBezTo>
                <a:lnTo>
                  <a:pt x="177467" y="70987"/>
                </a:lnTo>
                <a:cubicBezTo>
                  <a:pt x="177467" y="80803"/>
                  <a:pt x="169537" y="88734"/>
                  <a:pt x="159721" y="88734"/>
                </a:cubicBezTo>
                <a:lnTo>
                  <a:pt x="155284" y="88734"/>
                </a:lnTo>
                <a:lnTo>
                  <a:pt x="155284" y="124227"/>
                </a:lnTo>
                <a:lnTo>
                  <a:pt x="221834" y="124227"/>
                </a:lnTo>
                <a:cubicBezTo>
                  <a:pt x="243907" y="124227"/>
                  <a:pt x="261764" y="142085"/>
                  <a:pt x="261764" y="164157"/>
                </a:cubicBezTo>
                <a:lnTo>
                  <a:pt x="261764" y="195214"/>
                </a:lnTo>
                <a:lnTo>
                  <a:pt x="266201" y="195214"/>
                </a:lnTo>
                <a:cubicBezTo>
                  <a:pt x="276017" y="195214"/>
                  <a:pt x="283948" y="203145"/>
                  <a:pt x="283948" y="212961"/>
                </a:cubicBezTo>
                <a:lnTo>
                  <a:pt x="283948" y="248454"/>
                </a:lnTo>
                <a:cubicBezTo>
                  <a:pt x="283948" y="258270"/>
                  <a:pt x="276017" y="266201"/>
                  <a:pt x="266201" y="266201"/>
                </a:cubicBezTo>
                <a:lnTo>
                  <a:pt x="230707" y="266201"/>
                </a:lnTo>
                <a:cubicBezTo>
                  <a:pt x="220891" y="266201"/>
                  <a:pt x="212961" y="258270"/>
                  <a:pt x="212961" y="248454"/>
                </a:cubicBezTo>
                <a:lnTo>
                  <a:pt x="212961" y="212961"/>
                </a:lnTo>
                <a:cubicBezTo>
                  <a:pt x="212961" y="203145"/>
                  <a:pt x="220891" y="195214"/>
                  <a:pt x="230707" y="195214"/>
                </a:cubicBezTo>
                <a:lnTo>
                  <a:pt x="235144" y="195214"/>
                </a:lnTo>
                <a:lnTo>
                  <a:pt x="235144" y="164157"/>
                </a:lnTo>
                <a:cubicBezTo>
                  <a:pt x="235144" y="156781"/>
                  <a:pt x="229210" y="150847"/>
                  <a:pt x="221834" y="150847"/>
                </a:cubicBezTo>
                <a:lnTo>
                  <a:pt x="155284" y="150847"/>
                </a:lnTo>
                <a:lnTo>
                  <a:pt x="155284" y="195214"/>
                </a:lnTo>
                <a:lnTo>
                  <a:pt x="159721" y="195214"/>
                </a:lnTo>
                <a:cubicBezTo>
                  <a:pt x="169537" y="195214"/>
                  <a:pt x="177467" y="203145"/>
                  <a:pt x="177467" y="212961"/>
                </a:cubicBezTo>
                <a:lnTo>
                  <a:pt x="177467" y="248454"/>
                </a:lnTo>
                <a:cubicBezTo>
                  <a:pt x="177467" y="258270"/>
                  <a:pt x="169537" y="266201"/>
                  <a:pt x="159721" y="266201"/>
                </a:cubicBezTo>
                <a:lnTo>
                  <a:pt x="124227" y="266201"/>
                </a:lnTo>
                <a:cubicBezTo>
                  <a:pt x="114411" y="266201"/>
                  <a:pt x="106480" y="258270"/>
                  <a:pt x="106480" y="248454"/>
                </a:cubicBezTo>
                <a:lnTo>
                  <a:pt x="106480" y="212961"/>
                </a:lnTo>
                <a:cubicBezTo>
                  <a:pt x="106480" y="203145"/>
                  <a:pt x="114411" y="195214"/>
                  <a:pt x="124227" y="195214"/>
                </a:cubicBezTo>
                <a:lnTo>
                  <a:pt x="128664" y="195214"/>
                </a:lnTo>
                <a:lnTo>
                  <a:pt x="128664" y="150847"/>
                </a:lnTo>
                <a:lnTo>
                  <a:pt x="62114" y="150847"/>
                </a:lnTo>
                <a:cubicBezTo>
                  <a:pt x="54738" y="150847"/>
                  <a:pt x="48803" y="156781"/>
                  <a:pt x="48803" y="164157"/>
                </a:cubicBezTo>
                <a:lnTo>
                  <a:pt x="48803" y="195214"/>
                </a:lnTo>
                <a:lnTo>
                  <a:pt x="53240" y="195214"/>
                </a:lnTo>
                <a:cubicBezTo>
                  <a:pt x="63056" y="195214"/>
                  <a:pt x="70987" y="203145"/>
                  <a:pt x="70987" y="212961"/>
                </a:cubicBezTo>
                <a:lnTo>
                  <a:pt x="70987" y="248454"/>
                </a:lnTo>
                <a:cubicBezTo>
                  <a:pt x="70987" y="258270"/>
                  <a:pt x="63056" y="266201"/>
                  <a:pt x="53240" y="266201"/>
                </a:cubicBezTo>
                <a:lnTo>
                  <a:pt x="17747" y="266201"/>
                </a:lnTo>
                <a:cubicBezTo>
                  <a:pt x="7931" y="266201"/>
                  <a:pt x="0" y="258270"/>
                  <a:pt x="0" y="248454"/>
                </a:cubicBezTo>
                <a:lnTo>
                  <a:pt x="0" y="212961"/>
                </a:lnTo>
                <a:cubicBezTo>
                  <a:pt x="0" y="203145"/>
                  <a:pt x="7931" y="195214"/>
                  <a:pt x="17747" y="195214"/>
                </a:cubicBezTo>
                <a:lnTo>
                  <a:pt x="22183" y="195214"/>
                </a:lnTo>
                <a:lnTo>
                  <a:pt x="22183" y="164157"/>
                </a:lnTo>
                <a:cubicBezTo>
                  <a:pt x="22183" y="142085"/>
                  <a:pt x="40041" y="124227"/>
                  <a:pt x="62114" y="124227"/>
                </a:cubicBezTo>
                <a:lnTo>
                  <a:pt x="128664" y="124227"/>
                </a:lnTo>
                <a:lnTo>
                  <a:pt x="128664" y="88734"/>
                </a:lnTo>
                <a:lnTo>
                  <a:pt x="124227" y="88734"/>
                </a:lnTo>
                <a:cubicBezTo>
                  <a:pt x="114411" y="88734"/>
                  <a:pt x="106480" y="80803"/>
                  <a:pt x="106480" y="70987"/>
                </a:cubicBezTo>
                <a:lnTo>
                  <a:pt x="106480" y="3549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60441" y="1727348"/>
            <a:ext cx="14964286" cy="378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3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按架构模式分类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9162" y="2253834"/>
            <a:ext cx="4969083" cy="3371878"/>
          </a:xfrm>
          <a:custGeom>
            <a:avLst/>
            <a:gdLst/>
            <a:ahLst/>
            <a:cxnLst/>
            <a:rect l="l" t="t" r="r" b="b"/>
            <a:pathLst>
              <a:path w="4969083" h="3371878">
                <a:moveTo>
                  <a:pt x="94649" y="0"/>
                </a:moveTo>
                <a:lnTo>
                  <a:pt x="4874434" y="0"/>
                </a:lnTo>
                <a:cubicBezTo>
                  <a:pt x="4926707" y="0"/>
                  <a:pt x="4969083" y="42376"/>
                  <a:pt x="4969083" y="94649"/>
                </a:cubicBezTo>
                <a:lnTo>
                  <a:pt x="4969083" y="3277229"/>
                </a:lnTo>
                <a:cubicBezTo>
                  <a:pt x="4969083" y="3329502"/>
                  <a:pt x="4926707" y="3371878"/>
                  <a:pt x="4874434" y="3371878"/>
                </a:cubicBezTo>
                <a:lnTo>
                  <a:pt x="94649" y="3371878"/>
                </a:lnTo>
                <a:cubicBezTo>
                  <a:pt x="42376" y="3371878"/>
                  <a:pt x="0" y="3329502"/>
                  <a:pt x="0" y="3277229"/>
                </a:cubicBezTo>
                <a:lnTo>
                  <a:pt x="0" y="94649"/>
                </a:lnTo>
                <a:cubicBezTo>
                  <a:pt x="0" y="42411"/>
                  <a:pt x="42411" y="0"/>
                  <a:pt x="94649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73811" y="2401723"/>
            <a:ext cx="4779785" cy="33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客户端-服务器模式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90283" y="2833560"/>
            <a:ext cx="745362" cy="461415"/>
          </a:xfrm>
          <a:custGeom>
            <a:avLst/>
            <a:gdLst/>
            <a:ahLst/>
            <a:cxnLst/>
            <a:rect l="l" t="t" r="r" b="b"/>
            <a:pathLst>
              <a:path w="745362" h="461415">
                <a:moveTo>
                  <a:pt x="47323" y="0"/>
                </a:moveTo>
                <a:lnTo>
                  <a:pt x="698040" y="0"/>
                </a:lnTo>
                <a:cubicBezTo>
                  <a:pt x="724175" y="0"/>
                  <a:pt x="745362" y="21187"/>
                  <a:pt x="745362" y="47323"/>
                </a:cubicBezTo>
                <a:lnTo>
                  <a:pt x="745362" y="414092"/>
                </a:lnTo>
                <a:cubicBezTo>
                  <a:pt x="745362" y="440228"/>
                  <a:pt x="724175" y="461415"/>
                  <a:pt x="698040" y="461415"/>
                </a:cubicBezTo>
                <a:lnTo>
                  <a:pt x="47323" y="461415"/>
                </a:lnTo>
                <a:cubicBezTo>
                  <a:pt x="21187" y="461415"/>
                  <a:pt x="0" y="440228"/>
                  <a:pt x="0" y="414092"/>
                </a:cubicBezTo>
                <a:lnTo>
                  <a:pt x="0" y="47323"/>
                </a:lnTo>
                <a:cubicBezTo>
                  <a:pt x="0" y="21205"/>
                  <a:pt x="21205" y="0"/>
                  <a:pt x="47323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648874" y="2827645"/>
            <a:ext cx="804518" cy="44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89451" y="2833560"/>
            <a:ext cx="745362" cy="461415"/>
          </a:xfrm>
          <a:custGeom>
            <a:avLst/>
            <a:gdLst/>
            <a:ahLst/>
            <a:cxnLst/>
            <a:rect l="l" t="t" r="r" b="b"/>
            <a:pathLst>
              <a:path w="745362" h="461415">
                <a:moveTo>
                  <a:pt x="47323" y="0"/>
                </a:moveTo>
                <a:lnTo>
                  <a:pt x="698040" y="0"/>
                </a:lnTo>
                <a:cubicBezTo>
                  <a:pt x="724175" y="0"/>
                  <a:pt x="745362" y="21187"/>
                  <a:pt x="745362" y="47323"/>
                </a:cubicBezTo>
                <a:lnTo>
                  <a:pt x="745362" y="414092"/>
                </a:lnTo>
                <a:cubicBezTo>
                  <a:pt x="745362" y="440228"/>
                  <a:pt x="724175" y="461415"/>
                  <a:pt x="698040" y="461415"/>
                </a:cubicBezTo>
                <a:lnTo>
                  <a:pt x="47323" y="461415"/>
                </a:lnTo>
                <a:cubicBezTo>
                  <a:pt x="21187" y="461415"/>
                  <a:pt x="0" y="440228"/>
                  <a:pt x="0" y="414092"/>
                </a:cubicBezTo>
                <a:lnTo>
                  <a:pt x="0" y="47323"/>
                </a:lnTo>
                <a:cubicBezTo>
                  <a:pt x="0" y="21205"/>
                  <a:pt x="21205" y="0"/>
                  <a:pt x="47323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548041" y="2827645"/>
            <a:ext cx="804518" cy="44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88618" y="2833560"/>
            <a:ext cx="745362" cy="461415"/>
          </a:xfrm>
          <a:custGeom>
            <a:avLst/>
            <a:gdLst/>
            <a:ahLst/>
            <a:cxnLst/>
            <a:rect l="l" t="t" r="r" b="b"/>
            <a:pathLst>
              <a:path w="745362" h="461415">
                <a:moveTo>
                  <a:pt x="47323" y="0"/>
                </a:moveTo>
                <a:lnTo>
                  <a:pt x="698040" y="0"/>
                </a:lnTo>
                <a:cubicBezTo>
                  <a:pt x="724175" y="0"/>
                  <a:pt x="745362" y="21187"/>
                  <a:pt x="745362" y="47323"/>
                </a:cubicBezTo>
                <a:lnTo>
                  <a:pt x="745362" y="414092"/>
                </a:lnTo>
                <a:cubicBezTo>
                  <a:pt x="745362" y="440228"/>
                  <a:pt x="724175" y="461415"/>
                  <a:pt x="698040" y="461415"/>
                </a:cubicBezTo>
                <a:lnTo>
                  <a:pt x="47323" y="461415"/>
                </a:lnTo>
                <a:cubicBezTo>
                  <a:pt x="21187" y="461415"/>
                  <a:pt x="0" y="440228"/>
                  <a:pt x="0" y="414092"/>
                </a:cubicBezTo>
                <a:lnTo>
                  <a:pt x="0" y="47323"/>
                </a:lnTo>
                <a:cubicBezTo>
                  <a:pt x="0" y="21205"/>
                  <a:pt x="21205" y="0"/>
                  <a:pt x="47323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447209" y="2827645"/>
            <a:ext cx="804518" cy="44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72998" y="3395540"/>
            <a:ext cx="899167" cy="33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3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 请求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16769" y="3833293"/>
            <a:ext cx="1490725" cy="638882"/>
          </a:xfrm>
          <a:custGeom>
            <a:avLst/>
            <a:gdLst/>
            <a:ahLst/>
            <a:cxnLst/>
            <a:rect l="l" t="t" r="r" b="b"/>
            <a:pathLst>
              <a:path w="1490725" h="638882">
                <a:moveTo>
                  <a:pt x="94650" y="0"/>
                </a:moveTo>
                <a:lnTo>
                  <a:pt x="1396075" y="0"/>
                </a:lnTo>
                <a:cubicBezTo>
                  <a:pt x="1448348" y="0"/>
                  <a:pt x="1490725" y="42376"/>
                  <a:pt x="1490725" y="94650"/>
                </a:cubicBezTo>
                <a:lnTo>
                  <a:pt x="1490725" y="544232"/>
                </a:lnTo>
                <a:cubicBezTo>
                  <a:pt x="1490725" y="596506"/>
                  <a:pt x="1448348" y="638882"/>
                  <a:pt x="1396075" y="638882"/>
                </a:cubicBezTo>
                <a:lnTo>
                  <a:pt x="94650" y="638882"/>
                </a:lnTo>
                <a:cubicBezTo>
                  <a:pt x="42376" y="638882"/>
                  <a:pt x="0" y="596506"/>
                  <a:pt x="0" y="544232"/>
                </a:cubicBezTo>
                <a:lnTo>
                  <a:pt x="0" y="94650"/>
                </a:lnTo>
                <a:cubicBezTo>
                  <a:pt x="0" y="42411"/>
                  <a:pt x="42411" y="0"/>
                  <a:pt x="94650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678184" y="4010760"/>
            <a:ext cx="662544" cy="2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1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72998" y="4578655"/>
            <a:ext cx="899167" cy="33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3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↑ 响应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051" y="5004576"/>
            <a:ext cx="4756122" cy="47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特点:</a:t>
            </a:r>
            <a:r>
              <a:rPr lang="en-US" sz="1304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中心化服务,管理简单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应用:</a:t>
            </a:r>
            <a:r>
              <a:rPr lang="en-US" sz="1304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Web应用、数据库系统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46231" y="2253834"/>
            <a:ext cx="4969083" cy="3371878"/>
          </a:xfrm>
          <a:custGeom>
            <a:avLst/>
            <a:gdLst/>
            <a:ahLst/>
            <a:cxnLst/>
            <a:rect l="l" t="t" r="r" b="b"/>
            <a:pathLst>
              <a:path w="4969083" h="3371878">
                <a:moveTo>
                  <a:pt x="94649" y="0"/>
                </a:moveTo>
                <a:lnTo>
                  <a:pt x="4874434" y="0"/>
                </a:lnTo>
                <a:cubicBezTo>
                  <a:pt x="4926707" y="0"/>
                  <a:pt x="4969083" y="42376"/>
                  <a:pt x="4969083" y="94649"/>
                </a:cubicBezTo>
                <a:lnTo>
                  <a:pt x="4969083" y="3277229"/>
                </a:lnTo>
                <a:cubicBezTo>
                  <a:pt x="4969083" y="3329502"/>
                  <a:pt x="4926707" y="3371878"/>
                  <a:pt x="4874434" y="3371878"/>
                </a:cubicBezTo>
                <a:lnTo>
                  <a:pt x="94649" y="3371878"/>
                </a:lnTo>
                <a:cubicBezTo>
                  <a:pt x="42376" y="3371878"/>
                  <a:pt x="0" y="3329502"/>
                  <a:pt x="0" y="3277229"/>
                </a:cubicBezTo>
                <a:lnTo>
                  <a:pt x="0" y="94649"/>
                </a:lnTo>
                <a:cubicBezTo>
                  <a:pt x="0" y="42411"/>
                  <a:pt x="42411" y="0"/>
                  <a:pt x="94649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740881" y="2401723"/>
            <a:ext cx="4779785" cy="33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对等网络模式(P2P)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03845" y="2833560"/>
            <a:ext cx="650713" cy="461415"/>
          </a:xfrm>
          <a:custGeom>
            <a:avLst/>
            <a:gdLst/>
            <a:ahLst/>
            <a:cxnLst/>
            <a:rect l="l" t="t" r="r" b="b"/>
            <a:pathLst>
              <a:path w="650713" h="461415">
                <a:moveTo>
                  <a:pt x="47323" y="0"/>
                </a:moveTo>
                <a:lnTo>
                  <a:pt x="603391" y="0"/>
                </a:lnTo>
                <a:cubicBezTo>
                  <a:pt x="629526" y="0"/>
                  <a:pt x="650713" y="21187"/>
                  <a:pt x="650713" y="47323"/>
                </a:cubicBezTo>
                <a:lnTo>
                  <a:pt x="650713" y="414092"/>
                </a:lnTo>
                <a:cubicBezTo>
                  <a:pt x="650713" y="440228"/>
                  <a:pt x="629526" y="461415"/>
                  <a:pt x="603391" y="461415"/>
                </a:cubicBezTo>
                <a:lnTo>
                  <a:pt x="47323" y="461415"/>
                </a:lnTo>
                <a:cubicBezTo>
                  <a:pt x="21187" y="461415"/>
                  <a:pt x="0" y="440228"/>
                  <a:pt x="0" y="414092"/>
                </a:cubicBezTo>
                <a:lnTo>
                  <a:pt x="0" y="47323"/>
                </a:lnTo>
                <a:cubicBezTo>
                  <a:pt x="0" y="21205"/>
                  <a:pt x="21205" y="0"/>
                  <a:pt x="47323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762436" y="2827645"/>
            <a:ext cx="709869" cy="44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67531" y="3543429"/>
            <a:ext cx="650713" cy="461415"/>
          </a:xfrm>
          <a:custGeom>
            <a:avLst/>
            <a:gdLst/>
            <a:ahLst/>
            <a:cxnLst/>
            <a:rect l="l" t="t" r="r" b="b"/>
            <a:pathLst>
              <a:path w="650713" h="461415">
                <a:moveTo>
                  <a:pt x="47323" y="0"/>
                </a:moveTo>
                <a:lnTo>
                  <a:pt x="603391" y="0"/>
                </a:lnTo>
                <a:cubicBezTo>
                  <a:pt x="629526" y="0"/>
                  <a:pt x="650713" y="21187"/>
                  <a:pt x="650713" y="47323"/>
                </a:cubicBezTo>
                <a:lnTo>
                  <a:pt x="650713" y="414092"/>
                </a:lnTo>
                <a:cubicBezTo>
                  <a:pt x="650713" y="440228"/>
                  <a:pt x="629526" y="461415"/>
                  <a:pt x="603391" y="461415"/>
                </a:cubicBezTo>
                <a:lnTo>
                  <a:pt x="47323" y="461415"/>
                </a:lnTo>
                <a:cubicBezTo>
                  <a:pt x="21187" y="461415"/>
                  <a:pt x="0" y="440228"/>
                  <a:pt x="0" y="414092"/>
                </a:cubicBezTo>
                <a:lnTo>
                  <a:pt x="0" y="47323"/>
                </a:lnTo>
                <a:cubicBezTo>
                  <a:pt x="0" y="21205"/>
                  <a:pt x="21205" y="0"/>
                  <a:pt x="47323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926122" y="3537514"/>
            <a:ext cx="709869" cy="44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节点C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40252" y="3543429"/>
            <a:ext cx="650713" cy="461415"/>
          </a:xfrm>
          <a:custGeom>
            <a:avLst/>
            <a:gdLst/>
            <a:ahLst/>
            <a:cxnLst/>
            <a:rect l="l" t="t" r="r" b="b"/>
            <a:pathLst>
              <a:path w="650713" h="461415">
                <a:moveTo>
                  <a:pt x="47323" y="0"/>
                </a:moveTo>
                <a:lnTo>
                  <a:pt x="603391" y="0"/>
                </a:lnTo>
                <a:cubicBezTo>
                  <a:pt x="629526" y="0"/>
                  <a:pt x="650713" y="21187"/>
                  <a:pt x="650713" y="47323"/>
                </a:cubicBezTo>
                <a:lnTo>
                  <a:pt x="650713" y="414092"/>
                </a:lnTo>
                <a:cubicBezTo>
                  <a:pt x="650713" y="440228"/>
                  <a:pt x="629526" y="461415"/>
                  <a:pt x="603391" y="461415"/>
                </a:cubicBezTo>
                <a:lnTo>
                  <a:pt x="47323" y="461415"/>
                </a:lnTo>
                <a:cubicBezTo>
                  <a:pt x="21187" y="461415"/>
                  <a:pt x="0" y="440228"/>
                  <a:pt x="0" y="414092"/>
                </a:cubicBezTo>
                <a:lnTo>
                  <a:pt x="0" y="47323"/>
                </a:lnTo>
                <a:cubicBezTo>
                  <a:pt x="0" y="21205"/>
                  <a:pt x="21205" y="0"/>
                  <a:pt x="47323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598843" y="3537514"/>
            <a:ext cx="709869" cy="44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803845" y="3188495"/>
            <a:ext cx="650713" cy="461415"/>
          </a:xfrm>
          <a:custGeom>
            <a:avLst/>
            <a:gdLst/>
            <a:ahLst/>
            <a:cxnLst/>
            <a:rect l="l" t="t" r="r" b="b"/>
            <a:pathLst>
              <a:path w="650713" h="461415">
                <a:moveTo>
                  <a:pt x="47323" y="0"/>
                </a:moveTo>
                <a:lnTo>
                  <a:pt x="603391" y="0"/>
                </a:lnTo>
                <a:cubicBezTo>
                  <a:pt x="629526" y="0"/>
                  <a:pt x="650713" y="21187"/>
                  <a:pt x="650713" y="47323"/>
                </a:cubicBezTo>
                <a:lnTo>
                  <a:pt x="650713" y="414092"/>
                </a:lnTo>
                <a:cubicBezTo>
                  <a:pt x="650713" y="440228"/>
                  <a:pt x="629526" y="461415"/>
                  <a:pt x="603391" y="461415"/>
                </a:cubicBezTo>
                <a:lnTo>
                  <a:pt x="47323" y="461415"/>
                </a:lnTo>
                <a:cubicBezTo>
                  <a:pt x="21187" y="461415"/>
                  <a:pt x="0" y="440228"/>
                  <a:pt x="0" y="414092"/>
                </a:cubicBezTo>
                <a:lnTo>
                  <a:pt x="0" y="47323"/>
                </a:lnTo>
                <a:cubicBezTo>
                  <a:pt x="0" y="21205"/>
                  <a:pt x="21205" y="0"/>
                  <a:pt x="47323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762436" y="3182579"/>
            <a:ext cx="709869" cy="44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94121" y="4105409"/>
            <a:ext cx="4756122" cy="47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特点:</a:t>
            </a:r>
            <a:r>
              <a:rPr lang="en-US" sz="1304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去中心化,节点地位平等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应用:</a:t>
            </a:r>
            <a:r>
              <a:rPr lang="en-US" sz="1304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文件共享、区块链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813394" y="2253834"/>
            <a:ext cx="4969083" cy="3371878"/>
          </a:xfrm>
          <a:custGeom>
            <a:avLst/>
            <a:gdLst/>
            <a:ahLst/>
            <a:cxnLst/>
            <a:rect l="l" t="t" r="r" b="b"/>
            <a:pathLst>
              <a:path w="4969083" h="3371878">
                <a:moveTo>
                  <a:pt x="94649" y="0"/>
                </a:moveTo>
                <a:lnTo>
                  <a:pt x="4874434" y="0"/>
                </a:lnTo>
                <a:cubicBezTo>
                  <a:pt x="4926707" y="0"/>
                  <a:pt x="4969083" y="42376"/>
                  <a:pt x="4969083" y="94649"/>
                </a:cubicBezTo>
                <a:lnTo>
                  <a:pt x="4969083" y="3277229"/>
                </a:lnTo>
                <a:cubicBezTo>
                  <a:pt x="4969083" y="3329502"/>
                  <a:pt x="4926707" y="3371878"/>
                  <a:pt x="4874434" y="3371878"/>
                </a:cubicBezTo>
                <a:lnTo>
                  <a:pt x="94649" y="3371878"/>
                </a:lnTo>
                <a:cubicBezTo>
                  <a:pt x="42376" y="3371878"/>
                  <a:pt x="0" y="3329502"/>
                  <a:pt x="0" y="3277229"/>
                </a:cubicBezTo>
                <a:lnTo>
                  <a:pt x="0" y="94649"/>
                </a:lnTo>
                <a:cubicBezTo>
                  <a:pt x="0" y="42411"/>
                  <a:pt x="42411" y="0"/>
                  <a:pt x="94649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908043" y="2401723"/>
            <a:ext cx="4779785" cy="33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混合模式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740300" y="2839476"/>
            <a:ext cx="1112128" cy="449584"/>
          </a:xfrm>
          <a:custGeom>
            <a:avLst/>
            <a:gdLst/>
            <a:ahLst/>
            <a:cxnLst/>
            <a:rect l="l" t="t" r="r" b="b"/>
            <a:pathLst>
              <a:path w="1112128" h="449584">
                <a:moveTo>
                  <a:pt x="94651" y="0"/>
                </a:moveTo>
                <a:lnTo>
                  <a:pt x="1017477" y="0"/>
                </a:lnTo>
                <a:cubicBezTo>
                  <a:pt x="1069751" y="0"/>
                  <a:pt x="1112128" y="42377"/>
                  <a:pt x="1112128" y="94651"/>
                </a:cubicBezTo>
                <a:lnTo>
                  <a:pt x="1112128" y="354933"/>
                </a:lnTo>
                <a:cubicBezTo>
                  <a:pt x="1112128" y="407207"/>
                  <a:pt x="1069751" y="449584"/>
                  <a:pt x="1017477" y="449584"/>
                </a:cubicBezTo>
                <a:lnTo>
                  <a:pt x="94651" y="449584"/>
                </a:lnTo>
                <a:cubicBezTo>
                  <a:pt x="42412" y="449584"/>
                  <a:pt x="0" y="407172"/>
                  <a:pt x="0" y="354933"/>
                </a:cubicBezTo>
                <a:lnTo>
                  <a:pt x="0" y="94651"/>
                </a:lnTo>
                <a:cubicBezTo>
                  <a:pt x="0" y="42412"/>
                  <a:pt x="42412" y="0"/>
                  <a:pt x="94651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2882274" y="2945956"/>
            <a:ext cx="910999" cy="236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中心服务器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626702" y="3395540"/>
            <a:ext cx="1443400" cy="33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 索引和协调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213814" y="3827377"/>
            <a:ext cx="650713" cy="461415"/>
          </a:xfrm>
          <a:custGeom>
            <a:avLst/>
            <a:gdLst/>
            <a:ahLst/>
            <a:cxnLst/>
            <a:rect l="l" t="t" r="r" b="b"/>
            <a:pathLst>
              <a:path w="650713" h="461415">
                <a:moveTo>
                  <a:pt x="47323" y="0"/>
                </a:moveTo>
                <a:lnTo>
                  <a:pt x="603391" y="0"/>
                </a:lnTo>
                <a:cubicBezTo>
                  <a:pt x="629526" y="0"/>
                  <a:pt x="650713" y="21187"/>
                  <a:pt x="650713" y="47323"/>
                </a:cubicBezTo>
                <a:lnTo>
                  <a:pt x="650713" y="414092"/>
                </a:lnTo>
                <a:cubicBezTo>
                  <a:pt x="650713" y="440228"/>
                  <a:pt x="629526" y="461415"/>
                  <a:pt x="603391" y="461415"/>
                </a:cubicBezTo>
                <a:lnTo>
                  <a:pt x="47323" y="461415"/>
                </a:lnTo>
                <a:cubicBezTo>
                  <a:pt x="21187" y="461415"/>
                  <a:pt x="0" y="440228"/>
                  <a:pt x="0" y="414092"/>
                </a:cubicBezTo>
                <a:lnTo>
                  <a:pt x="0" y="47323"/>
                </a:lnTo>
                <a:cubicBezTo>
                  <a:pt x="0" y="21205"/>
                  <a:pt x="21205" y="0"/>
                  <a:pt x="47323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2172405" y="3821461"/>
            <a:ext cx="709869" cy="44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971007" y="3827377"/>
            <a:ext cx="650713" cy="461415"/>
          </a:xfrm>
          <a:custGeom>
            <a:avLst/>
            <a:gdLst/>
            <a:ahLst/>
            <a:cxnLst/>
            <a:rect l="l" t="t" r="r" b="b"/>
            <a:pathLst>
              <a:path w="650713" h="461415">
                <a:moveTo>
                  <a:pt x="47323" y="0"/>
                </a:moveTo>
                <a:lnTo>
                  <a:pt x="603391" y="0"/>
                </a:lnTo>
                <a:cubicBezTo>
                  <a:pt x="629526" y="0"/>
                  <a:pt x="650713" y="21187"/>
                  <a:pt x="650713" y="47323"/>
                </a:cubicBezTo>
                <a:lnTo>
                  <a:pt x="650713" y="414092"/>
                </a:lnTo>
                <a:cubicBezTo>
                  <a:pt x="650713" y="440228"/>
                  <a:pt x="629526" y="461415"/>
                  <a:pt x="603391" y="461415"/>
                </a:cubicBezTo>
                <a:lnTo>
                  <a:pt x="47323" y="461415"/>
                </a:lnTo>
                <a:cubicBezTo>
                  <a:pt x="21187" y="461415"/>
                  <a:pt x="0" y="440228"/>
                  <a:pt x="0" y="414092"/>
                </a:cubicBezTo>
                <a:lnTo>
                  <a:pt x="0" y="47323"/>
                </a:lnTo>
                <a:cubicBezTo>
                  <a:pt x="0" y="21205"/>
                  <a:pt x="21205" y="0"/>
                  <a:pt x="47323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2929598" y="3821461"/>
            <a:ext cx="709869" cy="44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节点B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728201" y="3827377"/>
            <a:ext cx="650713" cy="461415"/>
          </a:xfrm>
          <a:custGeom>
            <a:avLst/>
            <a:gdLst/>
            <a:ahLst/>
            <a:cxnLst/>
            <a:rect l="l" t="t" r="r" b="b"/>
            <a:pathLst>
              <a:path w="650713" h="461415">
                <a:moveTo>
                  <a:pt x="47323" y="0"/>
                </a:moveTo>
                <a:lnTo>
                  <a:pt x="603391" y="0"/>
                </a:lnTo>
                <a:cubicBezTo>
                  <a:pt x="629526" y="0"/>
                  <a:pt x="650713" y="21187"/>
                  <a:pt x="650713" y="47323"/>
                </a:cubicBezTo>
                <a:lnTo>
                  <a:pt x="650713" y="414092"/>
                </a:lnTo>
                <a:cubicBezTo>
                  <a:pt x="650713" y="440228"/>
                  <a:pt x="629526" y="461415"/>
                  <a:pt x="603391" y="461415"/>
                </a:cubicBezTo>
                <a:lnTo>
                  <a:pt x="47323" y="461415"/>
                </a:lnTo>
                <a:cubicBezTo>
                  <a:pt x="21187" y="461415"/>
                  <a:pt x="0" y="440228"/>
                  <a:pt x="0" y="414092"/>
                </a:cubicBezTo>
                <a:lnTo>
                  <a:pt x="0" y="47323"/>
                </a:lnTo>
                <a:cubicBezTo>
                  <a:pt x="0" y="21205"/>
                  <a:pt x="21205" y="0"/>
                  <a:pt x="47323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3686792" y="3821461"/>
            <a:ext cx="709869" cy="44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1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节点C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61283" y="4389357"/>
            <a:ext cx="4756122" cy="47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特点:</a:t>
            </a:r>
            <a:r>
              <a:rPr lang="en-US" sz="1304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结合中心化和去中心化优势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应用:</a:t>
            </a:r>
            <a:r>
              <a:rPr lang="en-US" sz="1304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Skype、现代CDN系统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79162" y="5826841"/>
            <a:ext cx="7548274" cy="2591022"/>
          </a:xfrm>
          <a:custGeom>
            <a:avLst/>
            <a:gdLst/>
            <a:ahLst/>
            <a:cxnLst/>
            <a:rect l="l" t="t" r="r" b="b"/>
            <a:pathLst>
              <a:path w="7548274" h="2591022">
                <a:moveTo>
                  <a:pt x="94650" y="0"/>
                </a:moveTo>
                <a:lnTo>
                  <a:pt x="7453624" y="0"/>
                </a:lnTo>
                <a:cubicBezTo>
                  <a:pt x="7505897" y="0"/>
                  <a:pt x="7548274" y="42376"/>
                  <a:pt x="7548274" y="94650"/>
                </a:cubicBezTo>
                <a:lnTo>
                  <a:pt x="7548274" y="2496372"/>
                </a:lnTo>
                <a:cubicBezTo>
                  <a:pt x="7548274" y="2548646"/>
                  <a:pt x="7505897" y="2591022"/>
                  <a:pt x="7453624" y="2591022"/>
                </a:cubicBezTo>
                <a:lnTo>
                  <a:pt x="94650" y="2591022"/>
                </a:lnTo>
                <a:cubicBezTo>
                  <a:pt x="42376" y="2591022"/>
                  <a:pt x="0" y="2548646"/>
                  <a:pt x="0" y="2496372"/>
                </a:cubicBezTo>
                <a:lnTo>
                  <a:pt x="0" y="94650"/>
                </a:lnTo>
                <a:cubicBezTo>
                  <a:pt x="0" y="42411"/>
                  <a:pt x="42411" y="0"/>
                  <a:pt x="94650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03953" y="6069380"/>
            <a:ext cx="236623" cy="236623"/>
          </a:xfrm>
          <a:custGeom>
            <a:avLst/>
            <a:gdLst/>
            <a:ahLst/>
            <a:cxnLst/>
            <a:rect l="l" t="t" r="r" b="b"/>
            <a:pathLst>
              <a:path w="236623" h="236623">
                <a:moveTo>
                  <a:pt x="162632" y="129403"/>
                </a:moveTo>
                <a:lnTo>
                  <a:pt x="74407" y="129403"/>
                </a:lnTo>
                <a:cubicBezTo>
                  <a:pt x="75747" y="159212"/>
                  <a:pt x="82356" y="186664"/>
                  <a:pt x="91738" y="206768"/>
                </a:cubicBezTo>
                <a:cubicBezTo>
                  <a:pt x="97006" y="218091"/>
                  <a:pt x="102691" y="226086"/>
                  <a:pt x="107959" y="230985"/>
                </a:cubicBezTo>
                <a:cubicBezTo>
                  <a:pt x="113135" y="235837"/>
                  <a:pt x="116694" y="236623"/>
                  <a:pt x="118543" y="236623"/>
                </a:cubicBezTo>
                <a:cubicBezTo>
                  <a:pt x="120391" y="236623"/>
                  <a:pt x="123950" y="235837"/>
                  <a:pt x="129126" y="230985"/>
                </a:cubicBezTo>
                <a:cubicBezTo>
                  <a:pt x="134394" y="226086"/>
                  <a:pt x="140079" y="218044"/>
                  <a:pt x="145348" y="206768"/>
                </a:cubicBezTo>
                <a:cubicBezTo>
                  <a:pt x="154729" y="186664"/>
                  <a:pt x="161338" y="159212"/>
                  <a:pt x="162678" y="129403"/>
                </a:cubicBezTo>
                <a:close/>
                <a:moveTo>
                  <a:pt x="74361" y="107220"/>
                </a:moveTo>
                <a:lnTo>
                  <a:pt x="162586" y="107220"/>
                </a:lnTo>
                <a:cubicBezTo>
                  <a:pt x="161292" y="77411"/>
                  <a:pt x="154683" y="49959"/>
                  <a:pt x="145301" y="29855"/>
                </a:cubicBezTo>
                <a:cubicBezTo>
                  <a:pt x="140033" y="18579"/>
                  <a:pt x="134348" y="10537"/>
                  <a:pt x="129080" y="5638"/>
                </a:cubicBezTo>
                <a:cubicBezTo>
                  <a:pt x="123904" y="786"/>
                  <a:pt x="120345" y="0"/>
                  <a:pt x="118496" y="0"/>
                </a:cubicBezTo>
                <a:cubicBezTo>
                  <a:pt x="116648" y="0"/>
                  <a:pt x="113089" y="786"/>
                  <a:pt x="107913" y="5638"/>
                </a:cubicBezTo>
                <a:cubicBezTo>
                  <a:pt x="102644" y="10537"/>
                  <a:pt x="96960" y="18579"/>
                  <a:pt x="91691" y="29855"/>
                </a:cubicBezTo>
                <a:cubicBezTo>
                  <a:pt x="82310" y="49959"/>
                  <a:pt x="75701" y="77411"/>
                  <a:pt x="74361" y="107220"/>
                </a:cubicBezTo>
                <a:close/>
                <a:moveTo>
                  <a:pt x="52177" y="107220"/>
                </a:moveTo>
                <a:cubicBezTo>
                  <a:pt x="53795" y="67659"/>
                  <a:pt x="64008" y="30918"/>
                  <a:pt x="78936" y="6794"/>
                </a:cubicBezTo>
                <a:cubicBezTo>
                  <a:pt x="36372" y="21860"/>
                  <a:pt x="5037" y="60635"/>
                  <a:pt x="693" y="107220"/>
                </a:cubicBezTo>
                <a:lnTo>
                  <a:pt x="52177" y="107220"/>
                </a:lnTo>
                <a:close/>
                <a:moveTo>
                  <a:pt x="693" y="129403"/>
                </a:moveTo>
                <a:cubicBezTo>
                  <a:pt x="5037" y="175988"/>
                  <a:pt x="36372" y="214763"/>
                  <a:pt x="78936" y="229829"/>
                </a:cubicBezTo>
                <a:cubicBezTo>
                  <a:pt x="64008" y="205705"/>
                  <a:pt x="53795" y="168964"/>
                  <a:pt x="52177" y="129403"/>
                </a:cubicBezTo>
                <a:lnTo>
                  <a:pt x="693" y="129403"/>
                </a:lnTo>
                <a:close/>
                <a:moveTo>
                  <a:pt x="184816" y="129403"/>
                </a:moveTo>
                <a:cubicBezTo>
                  <a:pt x="183198" y="168964"/>
                  <a:pt x="172984" y="205705"/>
                  <a:pt x="158057" y="229829"/>
                </a:cubicBezTo>
                <a:cubicBezTo>
                  <a:pt x="200621" y="214717"/>
                  <a:pt x="231955" y="175988"/>
                  <a:pt x="236299" y="129403"/>
                </a:cubicBezTo>
                <a:lnTo>
                  <a:pt x="184816" y="129403"/>
                </a:lnTo>
                <a:close/>
                <a:moveTo>
                  <a:pt x="236299" y="107220"/>
                </a:moveTo>
                <a:cubicBezTo>
                  <a:pt x="231955" y="60635"/>
                  <a:pt x="200621" y="21860"/>
                  <a:pt x="158057" y="6794"/>
                </a:cubicBezTo>
                <a:cubicBezTo>
                  <a:pt x="172984" y="30918"/>
                  <a:pt x="183198" y="67659"/>
                  <a:pt x="184816" y="107220"/>
                </a:cubicBezTo>
                <a:lnTo>
                  <a:pt x="236299" y="10722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02415" y="6022055"/>
            <a:ext cx="6848118" cy="33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按地理分布分类</a:t>
            </a:r>
            <a:endParaRPr lang="en-US" sz="16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376" y="6495301"/>
          <a:ext cx="7157846" cy="1727348"/>
        </p:xfrm>
        <a:graphic>
          <a:graphicData uri="http://schemas.openxmlformats.org/drawingml/2006/table">
            <a:tbl>
              <a:tblPr/>
              <a:tblGrid>
                <a:gridCol w="1100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1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5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37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分类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覆盖范围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网络延迟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典型应用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37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局域网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单个建筑物或园区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1ms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企业内部系统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37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城域网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单个城市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1-10ms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城市级服务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37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广域网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跨地区、跨国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10-300ms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全球化服务、CDN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Shape 44"/>
          <p:cNvSpPr/>
          <p:nvPr/>
        </p:nvSpPr>
        <p:spPr>
          <a:xfrm>
            <a:off x="8229859" y="5826841"/>
            <a:ext cx="7548274" cy="2591022"/>
          </a:xfrm>
          <a:custGeom>
            <a:avLst/>
            <a:gdLst/>
            <a:ahLst/>
            <a:cxnLst/>
            <a:rect l="l" t="t" r="r" b="b"/>
            <a:pathLst>
              <a:path w="7548274" h="2591022">
                <a:moveTo>
                  <a:pt x="94650" y="0"/>
                </a:moveTo>
                <a:lnTo>
                  <a:pt x="7453624" y="0"/>
                </a:lnTo>
                <a:cubicBezTo>
                  <a:pt x="7505897" y="0"/>
                  <a:pt x="7548274" y="42376"/>
                  <a:pt x="7548274" y="94650"/>
                </a:cubicBezTo>
                <a:lnTo>
                  <a:pt x="7548274" y="2496372"/>
                </a:lnTo>
                <a:cubicBezTo>
                  <a:pt x="7548274" y="2548646"/>
                  <a:pt x="7505897" y="2591022"/>
                  <a:pt x="7453624" y="2591022"/>
                </a:cubicBezTo>
                <a:lnTo>
                  <a:pt x="94650" y="2591022"/>
                </a:lnTo>
                <a:cubicBezTo>
                  <a:pt x="42376" y="2591022"/>
                  <a:pt x="0" y="2548646"/>
                  <a:pt x="0" y="2496372"/>
                </a:cubicBezTo>
                <a:lnTo>
                  <a:pt x="0" y="94650"/>
                </a:lnTo>
                <a:cubicBezTo>
                  <a:pt x="0" y="42411"/>
                  <a:pt x="42411" y="0"/>
                  <a:pt x="94650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5"/>
          <p:cNvSpPr/>
          <p:nvPr/>
        </p:nvSpPr>
        <p:spPr>
          <a:xfrm>
            <a:off x="8439862" y="6069380"/>
            <a:ext cx="266201" cy="236623"/>
          </a:xfrm>
          <a:custGeom>
            <a:avLst/>
            <a:gdLst/>
            <a:ahLst/>
            <a:cxnLst/>
            <a:rect l="l" t="t" r="r" b="b"/>
            <a:pathLst>
              <a:path w="266201" h="236623">
                <a:moveTo>
                  <a:pt x="193874" y="44367"/>
                </a:moveTo>
                <a:cubicBezTo>
                  <a:pt x="186202" y="44367"/>
                  <a:pt x="178761" y="46447"/>
                  <a:pt x="172245" y="50236"/>
                </a:cubicBezTo>
                <a:cubicBezTo>
                  <a:pt x="164943" y="42842"/>
                  <a:pt x="156439" y="36649"/>
                  <a:pt x="147057" y="31981"/>
                </a:cubicBezTo>
                <a:cubicBezTo>
                  <a:pt x="160090" y="20889"/>
                  <a:pt x="176682" y="14789"/>
                  <a:pt x="193874" y="14789"/>
                </a:cubicBezTo>
                <a:cubicBezTo>
                  <a:pt x="233804" y="14789"/>
                  <a:pt x="266201" y="47140"/>
                  <a:pt x="266201" y="87116"/>
                </a:cubicBezTo>
                <a:cubicBezTo>
                  <a:pt x="266201" y="106295"/>
                  <a:pt x="258575" y="124689"/>
                  <a:pt x="245034" y="138230"/>
                </a:cubicBezTo>
                <a:lnTo>
                  <a:pt x="212175" y="171090"/>
                </a:lnTo>
                <a:cubicBezTo>
                  <a:pt x="198634" y="184631"/>
                  <a:pt x="180240" y="192256"/>
                  <a:pt x="161061" y="192256"/>
                </a:cubicBezTo>
                <a:cubicBezTo>
                  <a:pt x="121131" y="192256"/>
                  <a:pt x="88734" y="159905"/>
                  <a:pt x="88734" y="119929"/>
                </a:cubicBezTo>
                <a:cubicBezTo>
                  <a:pt x="88734" y="119236"/>
                  <a:pt x="88734" y="118543"/>
                  <a:pt x="88780" y="117849"/>
                </a:cubicBezTo>
                <a:cubicBezTo>
                  <a:pt x="89011" y="109669"/>
                  <a:pt x="95805" y="103245"/>
                  <a:pt x="103985" y="103476"/>
                </a:cubicBezTo>
                <a:cubicBezTo>
                  <a:pt x="112165" y="103707"/>
                  <a:pt x="118589" y="110501"/>
                  <a:pt x="118358" y="118681"/>
                </a:cubicBezTo>
                <a:cubicBezTo>
                  <a:pt x="118358" y="119097"/>
                  <a:pt x="118358" y="119513"/>
                  <a:pt x="118358" y="119883"/>
                </a:cubicBezTo>
                <a:cubicBezTo>
                  <a:pt x="118358" y="143499"/>
                  <a:pt x="137491" y="162632"/>
                  <a:pt x="161107" y="162632"/>
                </a:cubicBezTo>
                <a:cubicBezTo>
                  <a:pt x="172430" y="162632"/>
                  <a:pt x="183290" y="158149"/>
                  <a:pt x="191332" y="150108"/>
                </a:cubicBezTo>
                <a:lnTo>
                  <a:pt x="224191" y="117249"/>
                </a:lnTo>
                <a:cubicBezTo>
                  <a:pt x="232186" y="109253"/>
                  <a:pt x="236715" y="98346"/>
                  <a:pt x="236715" y="87024"/>
                </a:cubicBezTo>
                <a:cubicBezTo>
                  <a:pt x="236715" y="63408"/>
                  <a:pt x="217582" y="44274"/>
                  <a:pt x="193966" y="44274"/>
                </a:cubicBezTo>
                <a:close/>
                <a:moveTo>
                  <a:pt x="127185" y="80091"/>
                </a:moveTo>
                <a:cubicBezTo>
                  <a:pt x="126307" y="79722"/>
                  <a:pt x="125429" y="79213"/>
                  <a:pt x="124643" y="78659"/>
                </a:cubicBezTo>
                <a:cubicBezTo>
                  <a:pt x="118820" y="75655"/>
                  <a:pt x="112165" y="73945"/>
                  <a:pt x="105186" y="73945"/>
                </a:cubicBezTo>
                <a:cubicBezTo>
                  <a:pt x="93864" y="73945"/>
                  <a:pt x="83003" y="78428"/>
                  <a:pt x="74961" y="86469"/>
                </a:cubicBezTo>
                <a:lnTo>
                  <a:pt x="42102" y="119328"/>
                </a:lnTo>
                <a:cubicBezTo>
                  <a:pt x="34107" y="127324"/>
                  <a:pt x="29578" y="138230"/>
                  <a:pt x="29578" y="149553"/>
                </a:cubicBezTo>
                <a:cubicBezTo>
                  <a:pt x="29578" y="173169"/>
                  <a:pt x="48711" y="192302"/>
                  <a:pt x="72327" y="192302"/>
                </a:cubicBezTo>
                <a:cubicBezTo>
                  <a:pt x="79953" y="192302"/>
                  <a:pt x="87393" y="190269"/>
                  <a:pt x="93910" y="186479"/>
                </a:cubicBezTo>
                <a:cubicBezTo>
                  <a:pt x="101212" y="193874"/>
                  <a:pt x="109715" y="200067"/>
                  <a:pt x="119143" y="204734"/>
                </a:cubicBezTo>
                <a:cubicBezTo>
                  <a:pt x="106111" y="215780"/>
                  <a:pt x="89566" y="221926"/>
                  <a:pt x="72327" y="221926"/>
                </a:cubicBezTo>
                <a:cubicBezTo>
                  <a:pt x="32397" y="221926"/>
                  <a:pt x="0" y="189576"/>
                  <a:pt x="0" y="149599"/>
                </a:cubicBezTo>
                <a:cubicBezTo>
                  <a:pt x="0" y="130420"/>
                  <a:pt x="7626" y="112026"/>
                  <a:pt x="21167" y="98485"/>
                </a:cubicBezTo>
                <a:lnTo>
                  <a:pt x="54026" y="65626"/>
                </a:lnTo>
                <a:cubicBezTo>
                  <a:pt x="67567" y="52085"/>
                  <a:pt x="85961" y="44459"/>
                  <a:pt x="105140" y="44459"/>
                </a:cubicBezTo>
                <a:cubicBezTo>
                  <a:pt x="145163" y="44459"/>
                  <a:pt x="177467" y="77087"/>
                  <a:pt x="177467" y="116971"/>
                </a:cubicBezTo>
                <a:cubicBezTo>
                  <a:pt x="177467" y="117572"/>
                  <a:pt x="177467" y="118173"/>
                  <a:pt x="177467" y="118774"/>
                </a:cubicBezTo>
                <a:cubicBezTo>
                  <a:pt x="177282" y="126954"/>
                  <a:pt x="170489" y="133378"/>
                  <a:pt x="162309" y="133193"/>
                </a:cubicBezTo>
                <a:cubicBezTo>
                  <a:pt x="154128" y="133008"/>
                  <a:pt x="147705" y="126214"/>
                  <a:pt x="147889" y="118034"/>
                </a:cubicBezTo>
                <a:cubicBezTo>
                  <a:pt x="147889" y="117664"/>
                  <a:pt x="147889" y="117341"/>
                  <a:pt x="147889" y="116971"/>
                </a:cubicBezTo>
                <a:cubicBezTo>
                  <a:pt x="147889" y="101397"/>
                  <a:pt x="139571" y="87717"/>
                  <a:pt x="127185" y="80184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6"/>
          <p:cNvSpPr/>
          <p:nvPr/>
        </p:nvSpPr>
        <p:spPr>
          <a:xfrm>
            <a:off x="8853112" y="6022055"/>
            <a:ext cx="6848118" cy="33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按耦合程度分类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448735" y="6495301"/>
            <a:ext cx="47325" cy="922830"/>
          </a:xfrm>
          <a:custGeom>
            <a:avLst/>
            <a:gdLst/>
            <a:ahLst/>
            <a:cxnLst/>
            <a:rect l="l" t="t" r="r" b="b"/>
            <a:pathLst>
              <a:path w="47325" h="922830">
                <a:moveTo>
                  <a:pt x="0" y="0"/>
                </a:moveTo>
                <a:lnTo>
                  <a:pt x="47325" y="0"/>
                </a:lnTo>
                <a:lnTo>
                  <a:pt x="47325" y="922830"/>
                </a:lnTo>
                <a:lnTo>
                  <a:pt x="0" y="92283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8"/>
          <p:cNvSpPr/>
          <p:nvPr/>
        </p:nvSpPr>
        <p:spPr>
          <a:xfrm>
            <a:off x="8614371" y="6495301"/>
            <a:ext cx="7075028" cy="33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紧耦合系统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614371" y="6873898"/>
            <a:ext cx="7051365" cy="544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4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节点间频繁通信,共享时钟和内存。适用于高性能计算、实时系统,如多处理器系统、集群数据库。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448735" y="7554189"/>
            <a:ext cx="47325" cy="650713"/>
          </a:xfrm>
          <a:custGeom>
            <a:avLst/>
            <a:gdLst/>
            <a:ahLst/>
            <a:cxnLst/>
            <a:rect l="l" t="t" r="r" b="b"/>
            <a:pathLst>
              <a:path w="47325" h="650713">
                <a:moveTo>
                  <a:pt x="0" y="0"/>
                </a:moveTo>
                <a:lnTo>
                  <a:pt x="47325" y="0"/>
                </a:lnTo>
                <a:lnTo>
                  <a:pt x="47325" y="650713"/>
                </a:lnTo>
                <a:lnTo>
                  <a:pt x="0" y="650713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1"/>
          <p:cNvSpPr/>
          <p:nvPr/>
        </p:nvSpPr>
        <p:spPr>
          <a:xfrm>
            <a:off x="8614371" y="7554189"/>
            <a:ext cx="7075028" cy="33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松耦合系统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614371" y="7932786"/>
            <a:ext cx="7051365" cy="27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4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节点相对独立,通过消息通信。适用于互联网应用、大规模系统,如微服务架构、分布式存储。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1862667" cy="433917"/>
          </a:xfrm>
          <a:custGeom>
            <a:avLst/>
            <a:gdLst/>
            <a:ahLst/>
            <a:cxnLst/>
            <a:rect l="l" t="t" r="r" b="b"/>
            <a:pathLst>
              <a:path w="1862667" h="433917">
                <a:moveTo>
                  <a:pt x="42333" y="0"/>
                </a:moveTo>
                <a:lnTo>
                  <a:pt x="1820334" y="0"/>
                </a:lnTo>
                <a:cubicBezTo>
                  <a:pt x="1843714" y="0"/>
                  <a:pt x="1862667" y="18953"/>
                  <a:pt x="1862667" y="42333"/>
                </a:cubicBezTo>
                <a:lnTo>
                  <a:pt x="1862667" y="391584"/>
                </a:lnTo>
                <a:cubicBezTo>
                  <a:pt x="1862667" y="414964"/>
                  <a:pt x="1843714" y="433917"/>
                  <a:pt x="1820334" y="433917"/>
                </a:cubicBezTo>
                <a:lnTo>
                  <a:pt x="42333" y="433917"/>
                </a:lnTo>
                <a:cubicBezTo>
                  <a:pt x="18953" y="433917"/>
                  <a:pt x="0" y="414964"/>
                  <a:pt x="0" y="391584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3250" y="534458"/>
            <a:ext cx="16005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952500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核心概念深度解析:透明性与可扩展性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8625" y="1508125"/>
            <a:ext cx="7609417" cy="3619500"/>
          </a:xfrm>
          <a:custGeom>
            <a:avLst/>
            <a:gdLst/>
            <a:ahLst/>
            <a:cxnLst/>
            <a:rect l="l" t="t" r="r" b="b"/>
            <a:pathLst>
              <a:path w="7609417" h="3619500">
                <a:moveTo>
                  <a:pt x="84660" y="0"/>
                </a:moveTo>
                <a:lnTo>
                  <a:pt x="7524757" y="0"/>
                </a:lnTo>
                <a:cubicBezTo>
                  <a:pt x="7571513" y="0"/>
                  <a:pt x="7609417" y="37904"/>
                  <a:pt x="7609417" y="84660"/>
                </a:cubicBezTo>
                <a:lnTo>
                  <a:pt x="7609417" y="3534840"/>
                </a:lnTo>
                <a:cubicBezTo>
                  <a:pt x="7609417" y="3581596"/>
                  <a:pt x="7571513" y="3619500"/>
                  <a:pt x="7524757" y="3619500"/>
                </a:cubicBezTo>
                <a:lnTo>
                  <a:pt x="84660" y="3619500"/>
                </a:lnTo>
                <a:cubicBezTo>
                  <a:pt x="37904" y="3619500"/>
                  <a:pt x="0" y="3581596"/>
                  <a:pt x="0" y="3534840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33917" y="1513417"/>
            <a:ext cx="7598833" cy="470958"/>
          </a:xfrm>
          <a:custGeom>
            <a:avLst/>
            <a:gdLst/>
            <a:ahLst/>
            <a:cxnLst/>
            <a:rect l="l" t="t" r="r" b="b"/>
            <a:pathLst>
              <a:path w="7598833" h="470958">
                <a:moveTo>
                  <a:pt x="0" y="0"/>
                </a:moveTo>
                <a:lnTo>
                  <a:pt x="7598833" y="0"/>
                </a:lnTo>
                <a:lnTo>
                  <a:pt x="7598833" y="470958"/>
                </a:lnTo>
                <a:lnTo>
                  <a:pt x="0" y="470958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33917" y="1984375"/>
            <a:ext cx="7598833" cy="10583"/>
          </a:xfrm>
          <a:custGeom>
            <a:avLst/>
            <a:gdLst/>
            <a:ahLst/>
            <a:cxnLst/>
            <a:rect l="l" t="t" r="r" b="b"/>
            <a:pathLst>
              <a:path w="7598833" h="10583">
                <a:moveTo>
                  <a:pt x="0" y="0"/>
                </a:moveTo>
                <a:lnTo>
                  <a:pt x="7598833" y="0"/>
                </a:lnTo>
                <a:lnTo>
                  <a:pt x="7598833" y="10583"/>
                </a:lnTo>
                <a:lnTo>
                  <a:pt x="0" y="10583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58813" y="1640417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6950" y="-10294"/>
                </a:moveTo>
                <a:cubicBezTo>
                  <a:pt x="13064" y="-14180"/>
                  <a:pt x="6780" y="-14180"/>
                  <a:pt x="2935" y="-10294"/>
                </a:cubicBezTo>
                <a:cubicBezTo>
                  <a:pt x="-910" y="-6408"/>
                  <a:pt x="-951" y="-124"/>
                  <a:pt x="2894" y="3762"/>
                </a:cubicBezTo>
                <a:lnTo>
                  <a:pt x="221175" y="222043"/>
                </a:lnTo>
                <a:cubicBezTo>
                  <a:pt x="225061" y="225929"/>
                  <a:pt x="231345" y="225929"/>
                  <a:pt x="235190" y="222043"/>
                </a:cubicBezTo>
                <a:cubicBezTo>
                  <a:pt x="239035" y="218157"/>
                  <a:pt x="239076" y="211873"/>
                  <a:pt x="235190" y="208029"/>
                </a:cubicBezTo>
                <a:lnTo>
                  <a:pt x="195337" y="168176"/>
                </a:lnTo>
                <a:cubicBezTo>
                  <a:pt x="196453" y="167184"/>
                  <a:pt x="197569" y="166191"/>
                  <a:pt x="198644" y="165199"/>
                </a:cubicBezTo>
                <a:cubicBezTo>
                  <a:pt x="217992" y="147216"/>
                  <a:pt x="230932" y="125760"/>
                  <a:pt x="237091" y="111001"/>
                </a:cubicBezTo>
                <a:cubicBezTo>
                  <a:pt x="238456" y="107735"/>
                  <a:pt x="238456" y="104097"/>
                  <a:pt x="237091" y="100831"/>
                </a:cubicBezTo>
                <a:cubicBezTo>
                  <a:pt x="230932" y="86072"/>
                  <a:pt x="217992" y="64575"/>
                  <a:pt x="198644" y="46633"/>
                </a:cubicBezTo>
                <a:cubicBezTo>
                  <a:pt x="179173" y="28567"/>
                  <a:pt x="152425" y="13312"/>
                  <a:pt x="119021" y="13312"/>
                </a:cubicBezTo>
                <a:cubicBezTo>
                  <a:pt x="95539" y="13312"/>
                  <a:pt x="75365" y="20836"/>
                  <a:pt x="58663" y="31585"/>
                </a:cubicBezTo>
                <a:lnTo>
                  <a:pt x="16950" y="-10294"/>
                </a:lnTo>
                <a:close/>
                <a:moveTo>
                  <a:pt x="84543" y="57340"/>
                </a:moveTo>
                <a:cubicBezTo>
                  <a:pt x="94258" y="50395"/>
                  <a:pt x="106205" y="46302"/>
                  <a:pt x="119063" y="46302"/>
                </a:cubicBezTo>
                <a:cubicBezTo>
                  <a:pt x="151929" y="46302"/>
                  <a:pt x="178594" y="72967"/>
                  <a:pt x="178594" y="105833"/>
                </a:cubicBezTo>
                <a:cubicBezTo>
                  <a:pt x="178594" y="118690"/>
                  <a:pt x="174501" y="130597"/>
                  <a:pt x="167556" y="140353"/>
                </a:cubicBezTo>
                <a:lnTo>
                  <a:pt x="153210" y="126008"/>
                </a:lnTo>
                <a:cubicBezTo>
                  <a:pt x="158461" y="117161"/>
                  <a:pt x="160238" y="106288"/>
                  <a:pt x="157386" y="95539"/>
                </a:cubicBezTo>
                <a:cubicBezTo>
                  <a:pt x="151722" y="74373"/>
                  <a:pt x="129935" y="61805"/>
                  <a:pt x="108769" y="67469"/>
                </a:cubicBezTo>
                <a:cubicBezTo>
                  <a:pt x="105213" y="68420"/>
                  <a:pt x="101865" y="69825"/>
                  <a:pt x="98847" y="71603"/>
                </a:cubicBezTo>
                <a:lnTo>
                  <a:pt x="84501" y="57257"/>
                </a:lnTo>
                <a:close/>
                <a:moveTo>
                  <a:pt x="134483" y="163339"/>
                </a:moveTo>
                <a:cubicBezTo>
                  <a:pt x="129563" y="164662"/>
                  <a:pt x="124396" y="165365"/>
                  <a:pt x="119063" y="165365"/>
                </a:cubicBezTo>
                <a:cubicBezTo>
                  <a:pt x="86196" y="165365"/>
                  <a:pt x="59531" y="138700"/>
                  <a:pt x="59531" y="105833"/>
                </a:cubicBezTo>
                <a:cubicBezTo>
                  <a:pt x="59531" y="100500"/>
                  <a:pt x="60234" y="95333"/>
                  <a:pt x="61557" y="90413"/>
                </a:cubicBezTo>
                <a:lnTo>
                  <a:pt x="28691" y="57547"/>
                </a:lnTo>
                <a:cubicBezTo>
                  <a:pt x="15214" y="72760"/>
                  <a:pt x="5953" y="88883"/>
                  <a:pt x="1034" y="100748"/>
                </a:cubicBezTo>
                <a:cubicBezTo>
                  <a:pt x="-331" y="104014"/>
                  <a:pt x="-331" y="107652"/>
                  <a:pt x="1034" y="110918"/>
                </a:cubicBezTo>
                <a:cubicBezTo>
                  <a:pt x="7193" y="125677"/>
                  <a:pt x="20133" y="147174"/>
                  <a:pt x="39481" y="165117"/>
                </a:cubicBezTo>
                <a:cubicBezTo>
                  <a:pt x="58952" y="183183"/>
                  <a:pt x="85700" y="198438"/>
                  <a:pt x="119104" y="198438"/>
                </a:cubicBezTo>
                <a:cubicBezTo>
                  <a:pt x="134524" y="198438"/>
                  <a:pt x="148539" y="195172"/>
                  <a:pt x="161065" y="189921"/>
                </a:cubicBezTo>
                <a:lnTo>
                  <a:pt x="134524" y="16338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16000" y="1598083"/>
            <a:ext cx="6910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透明性 (Transparency)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0917" y="2116667"/>
            <a:ext cx="74295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用户和应用程序无需了解系统的分布式特性就能使用系统。理想情况下,分布式系统应该像一个单机系统一样易于使用。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0917" y="28151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62947" y="2857500"/>
            <a:ext cx="11641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9583" y="2809875"/>
            <a:ext cx="97234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访问透明性: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36208" y="2831042"/>
            <a:ext cx="2148417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隐藏数据表示和访问方式的差异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0917" y="31326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2198" y="3175000"/>
            <a:ext cx="1375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9583" y="3127375"/>
            <a:ext cx="97234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位置透明性: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36208" y="3148542"/>
            <a:ext cx="1861013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隐藏资源的物理位置 (CDN)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0917" y="34501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50544" y="3492500"/>
            <a:ext cx="1375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9583" y="3444875"/>
            <a:ext cx="97234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复制透明性: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36208" y="3466042"/>
            <a:ext cx="2206129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隐藏资源的多个副本 (Redis主从)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0917" y="37676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50627" y="3810000"/>
            <a:ext cx="1375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9583" y="3762375"/>
            <a:ext cx="97234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故障透明性: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836208" y="3783542"/>
            <a:ext cx="2725291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隐藏组件故障和恢复过程 (云服务高可用)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0917" y="40851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9965" y="4127500"/>
            <a:ext cx="1375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9583" y="4079875"/>
            <a:ext cx="97234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并发透明性: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836208" y="4101042"/>
            <a:ext cx="2774570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隐藏多用户并发访问的影响 (数据库ACID)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17958" y="1508125"/>
            <a:ext cx="7609417" cy="3619500"/>
          </a:xfrm>
          <a:custGeom>
            <a:avLst/>
            <a:gdLst/>
            <a:ahLst/>
            <a:cxnLst/>
            <a:rect l="l" t="t" r="r" b="b"/>
            <a:pathLst>
              <a:path w="7609417" h="3619500">
                <a:moveTo>
                  <a:pt x="84660" y="0"/>
                </a:moveTo>
                <a:lnTo>
                  <a:pt x="7524757" y="0"/>
                </a:lnTo>
                <a:cubicBezTo>
                  <a:pt x="7571513" y="0"/>
                  <a:pt x="7609417" y="37904"/>
                  <a:pt x="7609417" y="84660"/>
                </a:cubicBezTo>
                <a:lnTo>
                  <a:pt x="7609417" y="3534840"/>
                </a:lnTo>
                <a:cubicBezTo>
                  <a:pt x="7609417" y="3581596"/>
                  <a:pt x="7571513" y="3619500"/>
                  <a:pt x="7524757" y="3619500"/>
                </a:cubicBezTo>
                <a:lnTo>
                  <a:pt x="84660" y="3619500"/>
                </a:lnTo>
                <a:cubicBezTo>
                  <a:pt x="37904" y="3619500"/>
                  <a:pt x="0" y="3581596"/>
                  <a:pt x="0" y="3534840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223250" y="1513417"/>
            <a:ext cx="7598833" cy="470958"/>
          </a:xfrm>
          <a:custGeom>
            <a:avLst/>
            <a:gdLst/>
            <a:ahLst/>
            <a:cxnLst/>
            <a:rect l="l" t="t" r="r" b="b"/>
            <a:pathLst>
              <a:path w="7598833" h="470958">
                <a:moveTo>
                  <a:pt x="0" y="0"/>
                </a:moveTo>
                <a:lnTo>
                  <a:pt x="7598833" y="0"/>
                </a:lnTo>
                <a:lnTo>
                  <a:pt x="7598833" y="470958"/>
                </a:lnTo>
                <a:lnTo>
                  <a:pt x="0" y="470958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223250" y="1984375"/>
            <a:ext cx="7598833" cy="10583"/>
          </a:xfrm>
          <a:custGeom>
            <a:avLst/>
            <a:gdLst/>
            <a:ahLst/>
            <a:cxnLst/>
            <a:rect l="l" t="t" r="r" b="b"/>
            <a:pathLst>
              <a:path w="7598833" h="10583">
                <a:moveTo>
                  <a:pt x="0" y="0"/>
                </a:moveTo>
                <a:lnTo>
                  <a:pt x="7598833" y="0"/>
                </a:lnTo>
                <a:lnTo>
                  <a:pt x="7598833" y="10583"/>
                </a:lnTo>
                <a:lnTo>
                  <a:pt x="0" y="10583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474604" y="1640417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69453" y="13229"/>
                </a:moveTo>
                <a:lnTo>
                  <a:pt x="9922" y="13229"/>
                </a:lnTo>
                <a:cubicBezTo>
                  <a:pt x="4424" y="13229"/>
                  <a:pt x="0" y="17653"/>
                  <a:pt x="0" y="23151"/>
                </a:cubicBezTo>
                <a:lnTo>
                  <a:pt x="0" y="82682"/>
                </a:lnTo>
                <a:cubicBezTo>
                  <a:pt x="0" y="86692"/>
                  <a:pt x="2398" y="90330"/>
                  <a:pt x="6118" y="91860"/>
                </a:cubicBezTo>
                <a:cubicBezTo>
                  <a:pt x="9839" y="93390"/>
                  <a:pt x="14097" y="92521"/>
                  <a:pt x="16950" y="89710"/>
                </a:cubicBezTo>
                <a:lnTo>
                  <a:pt x="33486" y="73174"/>
                </a:lnTo>
                <a:lnTo>
                  <a:pt x="66146" y="105833"/>
                </a:lnTo>
                <a:lnTo>
                  <a:pt x="33486" y="138493"/>
                </a:lnTo>
                <a:lnTo>
                  <a:pt x="16950" y="121956"/>
                </a:lnTo>
                <a:cubicBezTo>
                  <a:pt x="14097" y="119104"/>
                  <a:pt x="9839" y="118277"/>
                  <a:pt x="6118" y="119807"/>
                </a:cubicBezTo>
                <a:cubicBezTo>
                  <a:pt x="2398" y="121336"/>
                  <a:pt x="0" y="124974"/>
                  <a:pt x="0" y="128984"/>
                </a:cubicBezTo>
                <a:lnTo>
                  <a:pt x="0" y="188516"/>
                </a:lnTo>
                <a:cubicBezTo>
                  <a:pt x="0" y="194014"/>
                  <a:pt x="4424" y="198438"/>
                  <a:pt x="9922" y="198438"/>
                </a:cubicBezTo>
                <a:lnTo>
                  <a:pt x="69453" y="198438"/>
                </a:lnTo>
                <a:cubicBezTo>
                  <a:pt x="73463" y="198438"/>
                  <a:pt x="77101" y="196040"/>
                  <a:pt x="78631" y="192319"/>
                </a:cubicBezTo>
                <a:cubicBezTo>
                  <a:pt x="80160" y="188598"/>
                  <a:pt x="79334" y="184340"/>
                  <a:pt x="76481" y="181488"/>
                </a:cubicBezTo>
                <a:lnTo>
                  <a:pt x="59945" y="164951"/>
                </a:lnTo>
                <a:lnTo>
                  <a:pt x="92604" y="132292"/>
                </a:lnTo>
                <a:lnTo>
                  <a:pt x="125264" y="164951"/>
                </a:lnTo>
                <a:lnTo>
                  <a:pt x="108727" y="181488"/>
                </a:lnTo>
                <a:cubicBezTo>
                  <a:pt x="105875" y="184340"/>
                  <a:pt x="105048" y="188598"/>
                  <a:pt x="106577" y="192319"/>
                </a:cubicBezTo>
                <a:cubicBezTo>
                  <a:pt x="108107" y="196040"/>
                  <a:pt x="111745" y="198438"/>
                  <a:pt x="115755" y="198438"/>
                </a:cubicBezTo>
                <a:lnTo>
                  <a:pt x="175286" y="198438"/>
                </a:lnTo>
                <a:cubicBezTo>
                  <a:pt x="180785" y="198438"/>
                  <a:pt x="185208" y="194014"/>
                  <a:pt x="185208" y="188516"/>
                </a:cubicBezTo>
                <a:lnTo>
                  <a:pt x="185208" y="128984"/>
                </a:lnTo>
                <a:cubicBezTo>
                  <a:pt x="185208" y="124974"/>
                  <a:pt x="182811" y="121336"/>
                  <a:pt x="179090" y="119807"/>
                </a:cubicBezTo>
                <a:cubicBezTo>
                  <a:pt x="175369" y="118277"/>
                  <a:pt x="171111" y="119104"/>
                  <a:pt x="168258" y="121956"/>
                </a:cubicBezTo>
                <a:lnTo>
                  <a:pt x="151722" y="138493"/>
                </a:lnTo>
                <a:lnTo>
                  <a:pt x="119063" y="105833"/>
                </a:lnTo>
                <a:lnTo>
                  <a:pt x="151722" y="73174"/>
                </a:lnTo>
                <a:lnTo>
                  <a:pt x="168258" y="89710"/>
                </a:lnTo>
                <a:cubicBezTo>
                  <a:pt x="171111" y="92563"/>
                  <a:pt x="175369" y="93390"/>
                  <a:pt x="179090" y="91860"/>
                </a:cubicBezTo>
                <a:cubicBezTo>
                  <a:pt x="182811" y="90330"/>
                  <a:pt x="185208" y="86692"/>
                  <a:pt x="185208" y="82682"/>
                </a:cubicBezTo>
                <a:lnTo>
                  <a:pt x="185208" y="23151"/>
                </a:lnTo>
                <a:cubicBezTo>
                  <a:pt x="185208" y="17653"/>
                  <a:pt x="180785" y="13229"/>
                  <a:pt x="175286" y="13229"/>
                </a:cubicBezTo>
                <a:lnTo>
                  <a:pt x="115755" y="13229"/>
                </a:lnTo>
                <a:cubicBezTo>
                  <a:pt x="111745" y="13229"/>
                  <a:pt x="108107" y="15627"/>
                  <a:pt x="106577" y="19348"/>
                </a:cubicBezTo>
                <a:cubicBezTo>
                  <a:pt x="105048" y="23068"/>
                  <a:pt x="105916" y="27326"/>
                  <a:pt x="108727" y="30179"/>
                </a:cubicBezTo>
                <a:lnTo>
                  <a:pt x="125264" y="46715"/>
                </a:lnTo>
                <a:lnTo>
                  <a:pt x="92604" y="79375"/>
                </a:lnTo>
                <a:lnTo>
                  <a:pt x="59945" y="46715"/>
                </a:lnTo>
                <a:lnTo>
                  <a:pt x="76481" y="30179"/>
                </a:lnTo>
                <a:cubicBezTo>
                  <a:pt x="79334" y="27326"/>
                  <a:pt x="80160" y="23068"/>
                  <a:pt x="78631" y="19348"/>
                </a:cubicBezTo>
                <a:cubicBezTo>
                  <a:pt x="77101" y="15627"/>
                  <a:pt x="73463" y="13229"/>
                  <a:pt x="69453" y="13229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805333" y="1598083"/>
            <a:ext cx="6910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可扩展性 (Scalability)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50250" y="2116667"/>
            <a:ext cx="74295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系统通过增加资源来提升性能的能力。分布式系统的可扩展性体现在三个维度: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71417" y="2518833"/>
            <a:ext cx="42333" cy="825500"/>
          </a:xfrm>
          <a:custGeom>
            <a:avLst/>
            <a:gdLst/>
            <a:ahLst/>
            <a:cxnLst/>
            <a:rect l="l" t="t" r="r" b="b"/>
            <a:pathLst>
              <a:path w="42333" h="825500">
                <a:moveTo>
                  <a:pt x="0" y="0"/>
                </a:moveTo>
                <a:lnTo>
                  <a:pt x="42333" y="0"/>
                </a:lnTo>
                <a:lnTo>
                  <a:pt x="42333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519583" y="2518833"/>
            <a:ext cx="7270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规模可扩展性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19583" y="2857500"/>
            <a:ext cx="7249583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用户数量: </a:t>
            </a:r>
            <a:r>
              <a:rPr lang="en-US" sz="11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 → 1K → 10K → 1M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数据量: </a:t>
            </a:r>
            <a:r>
              <a:rPr lang="en-US" sz="11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GB → TB → PB → EB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71417" y="3466042"/>
            <a:ext cx="42333" cy="825500"/>
          </a:xfrm>
          <a:custGeom>
            <a:avLst/>
            <a:gdLst/>
            <a:ahLst/>
            <a:cxnLst/>
            <a:rect l="l" t="t" r="r" b="b"/>
            <a:pathLst>
              <a:path w="42333" h="825500">
                <a:moveTo>
                  <a:pt x="0" y="0"/>
                </a:moveTo>
                <a:lnTo>
                  <a:pt x="42333" y="0"/>
                </a:lnTo>
                <a:lnTo>
                  <a:pt x="42333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519583" y="3466042"/>
            <a:ext cx="7270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地理可扩展性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19583" y="3804708"/>
            <a:ext cx="7249583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覆盖范围: </a:t>
            </a:r>
            <a:r>
              <a:rPr lang="en-US" sz="11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 → 城市 → 国家 → 全球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延迟要求: </a:t>
            </a:r>
            <a:r>
              <a:rPr lang="en-US" sz="11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&lt;1ms → &lt;10ms → &lt;100ms → &lt;500ms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71417" y="4413250"/>
            <a:ext cx="42333" cy="582083"/>
          </a:xfrm>
          <a:custGeom>
            <a:avLst/>
            <a:gdLst/>
            <a:ahLst/>
            <a:cxnLst/>
            <a:rect l="l" t="t" r="r" b="b"/>
            <a:pathLst>
              <a:path w="42333" h="582083">
                <a:moveTo>
                  <a:pt x="0" y="0"/>
                </a:moveTo>
                <a:lnTo>
                  <a:pt x="42333" y="0"/>
                </a:lnTo>
                <a:lnTo>
                  <a:pt x="42333" y="582083"/>
                </a:lnTo>
                <a:lnTo>
                  <a:pt x="0" y="582083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519583" y="4413250"/>
            <a:ext cx="7270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管理可扩展性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19583" y="4751917"/>
            <a:ext cx="7249583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管理域: </a:t>
            </a:r>
            <a:r>
              <a:rPr lang="en-US" sz="11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单一组织 → 多部门 → 多公司 → 多国家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8625" y="5135563"/>
            <a:ext cx="15398750" cy="3577167"/>
          </a:xfrm>
          <a:custGeom>
            <a:avLst/>
            <a:gdLst/>
            <a:ahLst/>
            <a:cxnLst/>
            <a:rect l="l" t="t" r="r" b="b"/>
            <a:pathLst>
              <a:path w="15398750" h="3577167">
                <a:moveTo>
                  <a:pt x="84672" y="0"/>
                </a:moveTo>
                <a:lnTo>
                  <a:pt x="15314078" y="0"/>
                </a:lnTo>
                <a:cubicBezTo>
                  <a:pt x="15360841" y="0"/>
                  <a:pt x="15398750" y="37909"/>
                  <a:pt x="15398750" y="84672"/>
                </a:cubicBezTo>
                <a:lnTo>
                  <a:pt x="15398750" y="3492495"/>
                </a:lnTo>
                <a:cubicBezTo>
                  <a:pt x="15398750" y="3539258"/>
                  <a:pt x="15360841" y="3577167"/>
                  <a:pt x="15314078" y="3577167"/>
                </a:cubicBezTo>
                <a:lnTo>
                  <a:pt x="84672" y="3577167"/>
                </a:lnTo>
                <a:cubicBezTo>
                  <a:pt x="37909" y="3577167"/>
                  <a:pt x="0" y="3539258"/>
                  <a:pt x="0" y="3492495"/>
                </a:cubicBezTo>
                <a:lnTo>
                  <a:pt x="0" y="84672"/>
                </a:lnTo>
                <a:cubicBezTo>
                  <a:pt x="0" y="37909"/>
                  <a:pt x="37909" y="0"/>
                  <a:pt x="84672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433917" y="5140854"/>
            <a:ext cx="15388167" cy="555625"/>
          </a:xfrm>
          <a:custGeom>
            <a:avLst/>
            <a:gdLst/>
            <a:ahLst/>
            <a:cxnLst/>
            <a:rect l="l" t="t" r="r" b="b"/>
            <a:pathLst>
              <a:path w="15388167" h="555625">
                <a:moveTo>
                  <a:pt x="0" y="0"/>
                </a:moveTo>
                <a:lnTo>
                  <a:pt x="15388167" y="0"/>
                </a:lnTo>
                <a:lnTo>
                  <a:pt x="15388167" y="555625"/>
                </a:lnTo>
                <a:lnTo>
                  <a:pt x="0" y="555625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433917" y="5696479"/>
            <a:ext cx="15388167" cy="10583"/>
          </a:xfrm>
          <a:custGeom>
            <a:avLst/>
            <a:gdLst/>
            <a:ahLst/>
            <a:cxnLst/>
            <a:rect l="l" t="t" r="r" b="b"/>
            <a:pathLst>
              <a:path w="15388167" h="10583">
                <a:moveTo>
                  <a:pt x="0" y="0"/>
                </a:moveTo>
                <a:lnTo>
                  <a:pt x="15388167" y="0"/>
                </a:lnTo>
                <a:lnTo>
                  <a:pt x="15388167" y="10583"/>
                </a:lnTo>
                <a:lnTo>
                  <a:pt x="0" y="10583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87917" y="5310188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58750" y="13229"/>
                </a:moveTo>
                <a:lnTo>
                  <a:pt x="211667" y="13229"/>
                </a:lnTo>
                <a:cubicBezTo>
                  <a:pt x="218984" y="13229"/>
                  <a:pt x="224896" y="19141"/>
                  <a:pt x="224896" y="26458"/>
                </a:cubicBezTo>
                <a:cubicBezTo>
                  <a:pt x="224896" y="33776"/>
                  <a:pt x="218984" y="39688"/>
                  <a:pt x="211667" y="39688"/>
                </a:cubicBezTo>
                <a:lnTo>
                  <a:pt x="164703" y="39688"/>
                </a:lnTo>
                <a:cubicBezTo>
                  <a:pt x="162553" y="50354"/>
                  <a:pt x="155236" y="59159"/>
                  <a:pt x="145521" y="63376"/>
                </a:cubicBezTo>
                <a:lnTo>
                  <a:pt x="145521" y="185208"/>
                </a:lnTo>
                <a:lnTo>
                  <a:pt x="211667" y="185208"/>
                </a:lnTo>
                <a:cubicBezTo>
                  <a:pt x="218984" y="185208"/>
                  <a:pt x="224896" y="191120"/>
                  <a:pt x="224896" y="198438"/>
                </a:cubicBezTo>
                <a:cubicBezTo>
                  <a:pt x="224896" y="205755"/>
                  <a:pt x="218984" y="211667"/>
                  <a:pt x="211667" y="211667"/>
                </a:cubicBezTo>
                <a:lnTo>
                  <a:pt x="52917" y="211667"/>
                </a:lnTo>
                <a:cubicBezTo>
                  <a:pt x="45599" y="211667"/>
                  <a:pt x="39688" y="205755"/>
                  <a:pt x="39688" y="198438"/>
                </a:cubicBezTo>
                <a:cubicBezTo>
                  <a:pt x="39688" y="191120"/>
                  <a:pt x="45599" y="185208"/>
                  <a:pt x="52917" y="185208"/>
                </a:cubicBezTo>
                <a:lnTo>
                  <a:pt x="119063" y="185208"/>
                </a:lnTo>
                <a:lnTo>
                  <a:pt x="119063" y="63376"/>
                </a:lnTo>
                <a:cubicBezTo>
                  <a:pt x="109347" y="59118"/>
                  <a:pt x="102030" y="50312"/>
                  <a:pt x="99880" y="39688"/>
                </a:cubicBezTo>
                <a:lnTo>
                  <a:pt x="52917" y="39688"/>
                </a:lnTo>
                <a:cubicBezTo>
                  <a:pt x="45599" y="39688"/>
                  <a:pt x="39688" y="33776"/>
                  <a:pt x="39688" y="26458"/>
                </a:cubicBezTo>
                <a:cubicBezTo>
                  <a:pt x="39688" y="19141"/>
                  <a:pt x="45599" y="13229"/>
                  <a:pt x="52917" y="13229"/>
                </a:cubicBezTo>
                <a:lnTo>
                  <a:pt x="105833" y="13229"/>
                </a:lnTo>
                <a:cubicBezTo>
                  <a:pt x="111869" y="5209"/>
                  <a:pt x="121460" y="0"/>
                  <a:pt x="132292" y="0"/>
                </a:cubicBezTo>
                <a:cubicBezTo>
                  <a:pt x="143123" y="0"/>
                  <a:pt x="152714" y="5209"/>
                  <a:pt x="158750" y="13229"/>
                </a:cubicBezTo>
                <a:close/>
                <a:moveTo>
                  <a:pt x="181736" y="132292"/>
                </a:moveTo>
                <a:lnTo>
                  <a:pt x="241598" y="132292"/>
                </a:lnTo>
                <a:lnTo>
                  <a:pt x="211667" y="80946"/>
                </a:lnTo>
                <a:lnTo>
                  <a:pt x="181736" y="132292"/>
                </a:lnTo>
                <a:close/>
                <a:moveTo>
                  <a:pt x="211667" y="171979"/>
                </a:moveTo>
                <a:cubicBezTo>
                  <a:pt x="185663" y="171979"/>
                  <a:pt x="164042" y="157923"/>
                  <a:pt x="159577" y="139361"/>
                </a:cubicBezTo>
                <a:cubicBezTo>
                  <a:pt x="158502" y="134813"/>
                  <a:pt x="159990" y="130142"/>
                  <a:pt x="162347" y="126090"/>
                </a:cubicBezTo>
                <a:lnTo>
                  <a:pt x="201703" y="58622"/>
                </a:lnTo>
                <a:cubicBezTo>
                  <a:pt x="203771" y="55066"/>
                  <a:pt x="207574" y="52917"/>
                  <a:pt x="211667" y="52917"/>
                </a:cubicBezTo>
                <a:cubicBezTo>
                  <a:pt x="215759" y="52917"/>
                  <a:pt x="219563" y="55108"/>
                  <a:pt x="221630" y="58622"/>
                </a:cubicBezTo>
                <a:lnTo>
                  <a:pt x="260987" y="126090"/>
                </a:lnTo>
                <a:cubicBezTo>
                  <a:pt x="263343" y="130142"/>
                  <a:pt x="264831" y="134813"/>
                  <a:pt x="263757" y="139361"/>
                </a:cubicBezTo>
                <a:cubicBezTo>
                  <a:pt x="259292" y="157882"/>
                  <a:pt x="237670" y="171979"/>
                  <a:pt x="211667" y="171979"/>
                </a:cubicBezTo>
                <a:close/>
                <a:moveTo>
                  <a:pt x="52421" y="80946"/>
                </a:moveTo>
                <a:lnTo>
                  <a:pt x="22490" y="132292"/>
                </a:lnTo>
                <a:lnTo>
                  <a:pt x="82393" y="132292"/>
                </a:lnTo>
                <a:lnTo>
                  <a:pt x="52421" y="80946"/>
                </a:lnTo>
                <a:close/>
                <a:moveTo>
                  <a:pt x="372" y="139361"/>
                </a:moveTo>
                <a:cubicBezTo>
                  <a:pt x="-703" y="134813"/>
                  <a:pt x="785" y="130142"/>
                  <a:pt x="3142" y="126090"/>
                </a:cubicBezTo>
                <a:lnTo>
                  <a:pt x="42499" y="58622"/>
                </a:lnTo>
                <a:cubicBezTo>
                  <a:pt x="44566" y="55066"/>
                  <a:pt x="48369" y="52917"/>
                  <a:pt x="52462" y="52917"/>
                </a:cubicBezTo>
                <a:cubicBezTo>
                  <a:pt x="56555" y="52917"/>
                  <a:pt x="60358" y="55108"/>
                  <a:pt x="62425" y="58622"/>
                </a:cubicBezTo>
                <a:lnTo>
                  <a:pt x="101782" y="126090"/>
                </a:lnTo>
                <a:cubicBezTo>
                  <a:pt x="104138" y="130142"/>
                  <a:pt x="105627" y="134813"/>
                  <a:pt x="104552" y="139361"/>
                </a:cubicBezTo>
                <a:cubicBezTo>
                  <a:pt x="100087" y="157882"/>
                  <a:pt x="78465" y="171979"/>
                  <a:pt x="52462" y="171979"/>
                </a:cubicBezTo>
                <a:cubicBezTo>
                  <a:pt x="26458" y="171979"/>
                  <a:pt x="4837" y="157923"/>
                  <a:pt x="372" y="13936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58333" y="5267854"/>
            <a:ext cx="1461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扩展策略对比:垂直扩展 vs 水平扩展</a:t>
            </a:r>
            <a:endParaRPr lang="en-US" sz="16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250" y="5871104"/>
          <a:ext cx="15049500" cy="2667000"/>
        </p:xfrm>
        <a:graphic>
          <a:graphicData uri="http://schemas.openxmlformats.org/drawingml/2006/table">
            <a:tbl>
              <a:tblPr/>
              <a:tblGrid>
                <a:gridCol w="158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垂直扩展 (Scale Up)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水平扩展 (Scale Out)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实现方式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升级单机硬件配置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增加更多机器节点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成本特点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初期便宜,后期昂贵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初期复杂,后期经济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扩展上限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受硬件物理限制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理论上无限扩展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技术复杂度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简单,无需改架构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复杂,需要分布式设计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典型应用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传统数据库、单体应用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云计算、微服务架构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9257" y="469257"/>
            <a:ext cx="2838717" cy="475051"/>
          </a:xfrm>
          <a:custGeom>
            <a:avLst/>
            <a:gdLst/>
            <a:ahLst/>
            <a:cxnLst/>
            <a:rect l="l" t="t" r="r" b="b"/>
            <a:pathLst>
              <a:path w="2838717" h="475051">
                <a:moveTo>
                  <a:pt x="46346" y="0"/>
                </a:moveTo>
                <a:lnTo>
                  <a:pt x="2792371" y="0"/>
                </a:lnTo>
                <a:cubicBezTo>
                  <a:pt x="2817967" y="0"/>
                  <a:pt x="2838717" y="20750"/>
                  <a:pt x="2838717" y="46346"/>
                </a:cubicBezTo>
                <a:lnTo>
                  <a:pt x="2838717" y="428705"/>
                </a:lnTo>
                <a:cubicBezTo>
                  <a:pt x="2838717" y="454301"/>
                  <a:pt x="2817967" y="475051"/>
                  <a:pt x="2792371" y="475051"/>
                </a:cubicBezTo>
                <a:lnTo>
                  <a:pt x="46346" y="475051"/>
                </a:lnTo>
                <a:cubicBezTo>
                  <a:pt x="20750" y="475051"/>
                  <a:pt x="0" y="454301"/>
                  <a:pt x="0" y="428705"/>
                </a:cubicBezTo>
                <a:lnTo>
                  <a:pt x="0" y="46346"/>
                </a:lnTo>
                <a:cubicBezTo>
                  <a:pt x="0" y="20767"/>
                  <a:pt x="20767" y="0"/>
                  <a:pt x="46346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0436" y="585123"/>
            <a:ext cx="2550591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0" b="1" kern="0" spc="73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 SCENARIOS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3464" y="1042794"/>
            <a:ext cx="15537631" cy="46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8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典型应用场景:互联网服务与企业级应用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9257" y="1697437"/>
            <a:ext cx="7554463" cy="3939444"/>
          </a:xfrm>
          <a:custGeom>
            <a:avLst/>
            <a:gdLst/>
            <a:ahLst/>
            <a:cxnLst/>
            <a:rect l="l" t="t" r="r" b="b"/>
            <a:pathLst>
              <a:path w="7554463" h="3939444">
                <a:moveTo>
                  <a:pt x="92695" y="0"/>
                </a:moveTo>
                <a:lnTo>
                  <a:pt x="7461768" y="0"/>
                </a:lnTo>
                <a:cubicBezTo>
                  <a:pt x="7512962" y="0"/>
                  <a:pt x="7554463" y="41501"/>
                  <a:pt x="7554463" y="92695"/>
                </a:cubicBezTo>
                <a:lnTo>
                  <a:pt x="7554463" y="3846749"/>
                </a:lnTo>
                <a:cubicBezTo>
                  <a:pt x="7554463" y="3897943"/>
                  <a:pt x="7512962" y="3939444"/>
                  <a:pt x="7461768" y="3939444"/>
                </a:cubicBezTo>
                <a:lnTo>
                  <a:pt x="92695" y="3939444"/>
                </a:lnTo>
                <a:cubicBezTo>
                  <a:pt x="41501" y="3939444"/>
                  <a:pt x="0" y="3897943"/>
                  <a:pt x="0" y="3846749"/>
                </a:cubicBezTo>
                <a:lnTo>
                  <a:pt x="0" y="92695"/>
                </a:lnTo>
                <a:cubicBezTo>
                  <a:pt x="0" y="41501"/>
                  <a:pt x="41501" y="0"/>
                  <a:pt x="92695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60436" y="1934962"/>
            <a:ext cx="289665" cy="231732"/>
          </a:xfrm>
          <a:custGeom>
            <a:avLst/>
            <a:gdLst/>
            <a:ahLst/>
            <a:cxnLst/>
            <a:rect l="l" t="t" r="r" b="b"/>
            <a:pathLst>
              <a:path w="289665" h="231732">
                <a:moveTo>
                  <a:pt x="10862" y="-7242"/>
                </a:moveTo>
                <a:cubicBezTo>
                  <a:pt x="4843" y="-7242"/>
                  <a:pt x="0" y="-2399"/>
                  <a:pt x="0" y="3621"/>
                </a:cubicBezTo>
                <a:cubicBezTo>
                  <a:pt x="0" y="9640"/>
                  <a:pt x="4843" y="14483"/>
                  <a:pt x="10862" y="14483"/>
                </a:cubicBezTo>
                <a:lnTo>
                  <a:pt x="31365" y="14483"/>
                </a:lnTo>
                <a:cubicBezTo>
                  <a:pt x="33130" y="14483"/>
                  <a:pt x="34624" y="15751"/>
                  <a:pt x="34941" y="17470"/>
                </a:cubicBezTo>
                <a:lnTo>
                  <a:pt x="58521" y="147050"/>
                </a:lnTo>
                <a:cubicBezTo>
                  <a:pt x="61328" y="162529"/>
                  <a:pt x="74815" y="173799"/>
                  <a:pt x="90566" y="173799"/>
                </a:cubicBezTo>
                <a:lnTo>
                  <a:pt x="206386" y="173799"/>
                </a:lnTo>
                <a:cubicBezTo>
                  <a:pt x="212406" y="173799"/>
                  <a:pt x="217249" y="168956"/>
                  <a:pt x="217249" y="162937"/>
                </a:cubicBezTo>
                <a:cubicBezTo>
                  <a:pt x="217249" y="156917"/>
                  <a:pt x="212406" y="152074"/>
                  <a:pt x="206386" y="152074"/>
                </a:cubicBezTo>
                <a:lnTo>
                  <a:pt x="90566" y="152074"/>
                </a:lnTo>
                <a:cubicBezTo>
                  <a:pt x="85315" y="152074"/>
                  <a:pt x="80835" y="148318"/>
                  <a:pt x="79884" y="143158"/>
                </a:cubicBezTo>
                <a:lnTo>
                  <a:pt x="77576" y="130349"/>
                </a:lnTo>
                <a:lnTo>
                  <a:pt x="214986" y="130349"/>
                </a:lnTo>
                <a:cubicBezTo>
                  <a:pt x="228926" y="130349"/>
                  <a:pt x="240875" y="120437"/>
                  <a:pt x="243454" y="106723"/>
                </a:cubicBezTo>
                <a:lnTo>
                  <a:pt x="257485" y="31637"/>
                </a:lnTo>
                <a:cubicBezTo>
                  <a:pt x="259160" y="22721"/>
                  <a:pt x="252325" y="14483"/>
                  <a:pt x="243228" y="14483"/>
                </a:cubicBezTo>
                <a:lnTo>
                  <a:pt x="56439" y="14483"/>
                </a:lnTo>
                <a:lnTo>
                  <a:pt x="56258" y="13578"/>
                </a:lnTo>
                <a:cubicBezTo>
                  <a:pt x="54086" y="1539"/>
                  <a:pt x="43586" y="-7242"/>
                  <a:pt x="31320" y="-7242"/>
                </a:cubicBezTo>
                <a:lnTo>
                  <a:pt x="10862" y="-7242"/>
                </a:lnTo>
                <a:close/>
                <a:moveTo>
                  <a:pt x="94141" y="231732"/>
                </a:moveTo>
                <a:cubicBezTo>
                  <a:pt x="106131" y="231732"/>
                  <a:pt x="115866" y="221997"/>
                  <a:pt x="115866" y="210007"/>
                </a:cubicBezTo>
                <a:cubicBezTo>
                  <a:pt x="115866" y="198017"/>
                  <a:pt x="106131" y="188282"/>
                  <a:pt x="94141" y="188282"/>
                </a:cubicBezTo>
                <a:cubicBezTo>
                  <a:pt x="82151" y="188282"/>
                  <a:pt x="72416" y="198017"/>
                  <a:pt x="72416" y="210007"/>
                </a:cubicBezTo>
                <a:cubicBezTo>
                  <a:pt x="72416" y="221997"/>
                  <a:pt x="82151" y="231732"/>
                  <a:pt x="94141" y="231732"/>
                </a:cubicBezTo>
                <a:close/>
                <a:moveTo>
                  <a:pt x="195524" y="231732"/>
                </a:moveTo>
                <a:cubicBezTo>
                  <a:pt x="207514" y="231732"/>
                  <a:pt x="217249" y="221997"/>
                  <a:pt x="217249" y="210007"/>
                </a:cubicBezTo>
                <a:cubicBezTo>
                  <a:pt x="217249" y="198017"/>
                  <a:pt x="207514" y="188282"/>
                  <a:pt x="195524" y="188282"/>
                </a:cubicBezTo>
                <a:cubicBezTo>
                  <a:pt x="183534" y="188282"/>
                  <a:pt x="173799" y="198017"/>
                  <a:pt x="173799" y="210007"/>
                </a:cubicBezTo>
                <a:cubicBezTo>
                  <a:pt x="173799" y="221997"/>
                  <a:pt x="183534" y="231732"/>
                  <a:pt x="195524" y="23173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76951" y="1888616"/>
            <a:ext cx="6871457" cy="32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电商平台架构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78406" y="2409017"/>
            <a:ext cx="915341" cy="451877"/>
          </a:xfrm>
          <a:custGeom>
            <a:avLst/>
            <a:gdLst/>
            <a:ahLst/>
            <a:cxnLst/>
            <a:rect l="l" t="t" r="r" b="b"/>
            <a:pathLst>
              <a:path w="915341" h="451877">
                <a:moveTo>
                  <a:pt x="92694" y="0"/>
                </a:moveTo>
                <a:lnTo>
                  <a:pt x="822648" y="0"/>
                </a:lnTo>
                <a:cubicBezTo>
                  <a:pt x="873841" y="0"/>
                  <a:pt x="915341" y="41500"/>
                  <a:pt x="915341" y="92694"/>
                </a:cubicBezTo>
                <a:lnTo>
                  <a:pt x="915341" y="359184"/>
                </a:lnTo>
                <a:cubicBezTo>
                  <a:pt x="915341" y="410377"/>
                  <a:pt x="873841" y="451877"/>
                  <a:pt x="822648" y="451877"/>
                </a:cubicBezTo>
                <a:lnTo>
                  <a:pt x="92694" y="451877"/>
                </a:lnTo>
                <a:cubicBezTo>
                  <a:pt x="41535" y="451877"/>
                  <a:pt x="0" y="410343"/>
                  <a:pt x="0" y="359184"/>
                </a:cubicBezTo>
                <a:lnTo>
                  <a:pt x="0" y="92694"/>
                </a:lnTo>
                <a:cubicBezTo>
                  <a:pt x="0" y="41500"/>
                  <a:pt x="41500" y="0"/>
                  <a:pt x="92694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632059" y="2403224"/>
            <a:ext cx="984861" cy="440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移动APP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90719" y="2409017"/>
            <a:ext cx="915341" cy="451877"/>
          </a:xfrm>
          <a:custGeom>
            <a:avLst/>
            <a:gdLst/>
            <a:ahLst/>
            <a:cxnLst/>
            <a:rect l="l" t="t" r="r" b="b"/>
            <a:pathLst>
              <a:path w="915341" h="451877">
                <a:moveTo>
                  <a:pt x="92694" y="0"/>
                </a:moveTo>
                <a:lnTo>
                  <a:pt x="822648" y="0"/>
                </a:lnTo>
                <a:cubicBezTo>
                  <a:pt x="873841" y="0"/>
                  <a:pt x="915341" y="41500"/>
                  <a:pt x="915341" y="92694"/>
                </a:cubicBezTo>
                <a:lnTo>
                  <a:pt x="915341" y="359184"/>
                </a:lnTo>
                <a:cubicBezTo>
                  <a:pt x="915341" y="410377"/>
                  <a:pt x="873841" y="451877"/>
                  <a:pt x="822648" y="451877"/>
                </a:cubicBezTo>
                <a:lnTo>
                  <a:pt x="92694" y="451877"/>
                </a:lnTo>
                <a:cubicBezTo>
                  <a:pt x="41535" y="451877"/>
                  <a:pt x="0" y="410343"/>
                  <a:pt x="0" y="359184"/>
                </a:cubicBezTo>
                <a:lnTo>
                  <a:pt x="0" y="92694"/>
                </a:lnTo>
                <a:cubicBezTo>
                  <a:pt x="0" y="41500"/>
                  <a:pt x="41500" y="0"/>
                  <a:pt x="92694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744373" y="2403224"/>
            <a:ext cx="984861" cy="440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Web浏览器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03033" y="2409017"/>
            <a:ext cx="915341" cy="451877"/>
          </a:xfrm>
          <a:custGeom>
            <a:avLst/>
            <a:gdLst/>
            <a:ahLst/>
            <a:cxnLst/>
            <a:rect l="l" t="t" r="r" b="b"/>
            <a:pathLst>
              <a:path w="915341" h="451877">
                <a:moveTo>
                  <a:pt x="92694" y="0"/>
                </a:moveTo>
                <a:lnTo>
                  <a:pt x="822648" y="0"/>
                </a:lnTo>
                <a:cubicBezTo>
                  <a:pt x="873841" y="0"/>
                  <a:pt x="915341" y="41500"/>
                  <a:pt x="915341" y="92694"/>
                </a:cubicBezTo>
                <a:lnTo>
                  <a:pt x="915341" y="359184"/>
                </a:lnTo>
                <a:cubicBezTo>
                  <a:pt x="915341" y="410377"/>
                  <a:pt x="873841" y="451877"/>
                  <a:pt x="822648" y="451877"/>
                </a:cubicBezTo>
                <a:lnTo>
                  <a:pt x="92694" y="451877"/>
                </a:lnTo>
                <a:cubicBezTo>
                  <a:pt x="41535" y="451877"/>
                  <a:pt x="0" y="410343"/>
                  <a:pt x="0" y="359184"/>
                </a:cubicBezTo>
                <a:lnTo>
                  <a:pt x="0" y="92694"/>
                </a:lnTo>
                <a:cubicBezTo>
                  <a:pt x="0" y="41500"/>
                  <a:pt x="41500" y="0"/>
                  <a:pt x="92694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56686" y="2403224"/>
            <a:ext cx="984861" cy="440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小程序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47663" y="3073346"/>
            <a:ext cx="2201454" cy="532984"/>
          </a:xfrm>
          <a:custGeom>
            <a:avLst/>
            <a:gdLst/>
            <a:ahLst/>
            <a:cxnLst/>
            <a:rect l="l" t="t" r="r" b="b"/>
            <a:pathLst>
              <a:path w="2201454" h="532984">
                <a:moveTo>
                  <a:pt x="92691" y="0"/>
                </a:moveTo>
                <a:lnTo>
                  <a:pt x="2108763" y="0"/>
                </a:lnTo>
                <a:cubicBezTo>
                  <a:pt x="2159955" y="0"/>
                  <a:pt x="2201454" y="41499"/>
                  <a:pt x="2201454" y="92691"/>
                </a:cubicBezTo>
                <a:lnTo>
                  <a:pt x="2201454" y="440292"/>
                </a:lnTo>
                <a:cubicBezTo>
                  <a:pt x="2201454" y="491484"/>
                  <a:pt x="2159955" y="532984"/>
                  <a:pt x="2108763" y="532984"/>
                </a:cubicBezTo>
                <a:lnTo>
                  <a:pt x="92691" y="532984"/>
                </a:lnTo>
                <a:cubicBezTo>
                  <a:pt x="41499" y="532984"/>
                  <a:pt x="0" y="491484"/>
                  <a:pt x="0" y="440292"/>
                </a:cubicBezTo>
                <a:lnTo>
                  <a:pt x="0" y="92691"/>
                </a:lnTo>
                <a:cubicBezTo>
                  <a:pt x="0" y="41534"/>
                  <a:pt x="41534" y="0"/>
                  <a:pt x="92691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803211" y="3200798"/>
            <a:ext cx="984861" cy="2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网关层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24752" y="3818780"/>
            <a:ext cx="915341" cy="544570"/>
          </a:xfrm>
          <a:custGeom>
            <a:avLst/>
            <a:gdLst/>
            <a:ahLst/>
            <a:cxnLst/>
            <a:rect l="l" t="t" r="r" b="b"/>
            <a:pathLst>
              <a:path w="915341" h="544570">
                <a:moveTo>
                  <a:pt x="92691" y="0"/>
                </a:moveTo>
                <a:lnTo>
                  <a:pt x="822650" y="0"/>
                </a:lnTo>
                <a:cubicBezTo>
                  <a:pt x="873842" y="0"/>
                  <a:pt x="915341" y="41499"/>
                  <a:pt x="915341" y="92691"/>
                </a:cubicBezTo>
                <a:lnTo>
                  <a:pt x="915341" y="451879"/>
                </a:lnTo>
                <a:cubicBezTo>
                  <a:pt x="915341" y="503071"/>
                  <a:pt x="873842" y="544570"/>
                  <a:pt x="822650" y="544570"/>
                </a:cubicBezTo>
                <a:lnTo>
                  <a:pt x="92691" y="544570"/>
                </a:lnTo>
                <a:cubicBezTo>
                  <a:pt x="41499" y="544570"/>
                  <a:pt x="0" y="503071"/>
                  <a:pt x="0" y="451879"/>
                </a:cubicBezTo>
                <a:lnTo>
                  <a:pt x="0" y="92691"/>
                </a:lnTo>
                <a:cubicBezTo>
                  <a:pt x="0" y="41534"/>
                  <a:pt x="41534" y="0"/>
                  <a:pt x="92691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678406" y="3812987"/>
            <a:ext cx="984861" cy="53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用户服务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90719" y="3818780"/>
            <a:ext cx="915341" cy="544570"/>
          </a:xfrm>
          <a:custGeom>
            <a:avLst/>
            <a:gdLst/>
            <a:ahLst/>
            <a:cxnLst/>
            <a:rect l="l" t="t" r="r" b="b"/>
            <a:pathLst>
              <a:path w="915341" h="544570">
                <a:moveTo>
                  <a:pt x="92691" y="0"/>
                </a:moveTo>
                <a:lnTo>
                  <a:pt x="822650" y="0"/>
                </a:lnTo>
                <a:cubicBezTo>
                  <a:pt x="873842" y="0"/>
                  <a:pt x="915341" y="41499"/>
                  <a:pt x="915341" y="92691"/>
                </a:cubicBezTo>
                <a:lnTo>
                  <a:pt x="915341" y="451879"/>
                </a:lnTo>
                <a:cubicBezTo>
                  <a:pt x="915341" y="503071"/>
                  <a:pt x="873842" y="544570"/>
                  <a:pt x="822650" y="544570"/>
                </a:cubicBezTo>
                <a:lnTo>
                  <a:pt x="92691" y="544570"/>
                </a:lnTo>
                <a:cubicBezTo>
                  <a:pt x="41499" y="544570"/>
                  <a:pt x="0" y="503071"/>
                  <a:pt x="0" y="451879"/>
                </a:cubicBezTo>
                <a:lnTo>
                  <a:pt x="0" y="92691"/>
                </a:lnTo>
                <a:cubicBezTo>
                  <a:pt x="0" y="41534"/>
                  <a:pt x="41534" y="0"/>
                  <a:pt x="92691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744373" y="3812987"/>
            <a:ext cx="984861" cy="53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商品服务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56686" y="3818780"/>
            <a:ext cx="915341" cy="544570"/>
          </a:xfrm>
          <a:custGeom>
            <a:avLst/>
            <a:gdLst/>
            <a:ahLst/>
            <a:cxnLst/>
            <a:rect l="l" t="t" r="r" b="b"/>
            <a:pathLst>
              <a:path w="915341" h="544570">
                <a:moveTo>
                  <a:pt x="92691" y="0"/>
                </a:moveTo>
                <a:lnTo>
                  <a:pt x="822650" y="0"/>
                </a:lnTo>
                <a:cubicBezTo>
                  <a:pt x="873842" y="0"/>
                  <a:pt x="915341" y="41499"/>
                  <a:pt x="915341" y="92691"/>
                </a:cubicBezTo>
                <a:lnTo>
                  <a:pt x="915341" y="451879"/>
                </a:lnTo>
                <a:cubicBezTo>
                  <a:pt x="915341" y="503071"/>
                  <a:pt x="873842" y="544570"/>
                  <a:pt x="822650" y="544570"/>
                </a:cubicBezTo>
                <a:lnTo>
                  <a:pt x="92691" y="544570"/>
                </a:lnTo>
                <a:cubicBezTo>
                  <a:pt x="41499" y="544570"/>
                  <a:pt x="0" y="503071"/>
                  <a:pt x="0" y="451879"/>
                </a:cubicBezTo>
                <a:lnTo>
                  <a:pt x="0" y="92691"/>
                </a:lnTo>
                <a:cubicBezTo>
                  <a:pt x="0" y="41534"/>
                  <a:pt x="41534" y="0"/>
                  <a:pt x="92691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10340" y="3812987"/>
            <a:ext cx="984861" cy="53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订单服务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24752" y="4570009"/>
            <a:ext cx="915341" cy="451877"/>
          </a:xfrm>
          <a:custGeom>
            <a:avLst/>
            <a:gdLst/>
            <a:ahLst/>
            <a:cxnLst/>
            <a:rect l="l" t="t" r="r" b="b"/>
            <a:pathLst>
              <a:path w="915341" h="451877">
                <a:moveTo>
                  <a:pt x="92694" y="0"/>
                </a:moveTo>
                <a:lnTo>
                  <a:pt x="822648" y="0"/>
                </a:lnTo>
                <a:cubicBezTo>
                  <a:pt x="873841" y="0"/>
                  <a:pt x="915341" y="41500"/>
                  <a:pt x="915341" y="92694"/>
                </a:cubicBezTo>
                <a:lnTo>
                  <a:pt x="915341" y="359184"/>
                </a:lnTo>
                <a:cubicBezTo>
                  <a:pt x="915341" y="410377"/>
                  <a:pt x="873841" y="451877"/>
                  <a:pt x="822648" y="451877"/>
                </a:cubicBezTo>
                <a:lnTo>
                  <a:pt x="92694" y="451877"/>
                </a:lnTo>
                <a:cubicBezTo>
                  <a:pt x="41535" y="451877"/>
                  <a:pt x="0" y="410343"/>
                  <a:pt x="0" y="359184"/>
                </a:cubicBezTo>
                <a:lnTo>
                  <a:pt x="0" y="92694"/>
                </a:lnTo>
                <a:cubicBezTo>
                  <a:pt x="0" y="41500"/>
                  <a:pt x="41500" y="0"/>
                  <a:pt x="92694" y="0"/>
                </a:cubicBezTo>
                <a:close/>
              </a:path>
            </a:pathLst>
          </a:custGeom>
          <a:solidFill>
            <a:srgbClr val="495057">
              <a:alpha val="60000"/>
            </a:srgbClr>
          </a:solidFill>
          <a:ln w="12700">
            <a:solidFill>
              <a:srgbClr val="49505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2684199" y="4564215"/>
            <a:ext cx="973274" cy="440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用户DB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90719" y="4570009"/>
            <a:ext cx="915341" cy="451877"/>
          </a:xfrm>
          <a:custGeom>
            <a:avLst/>
            <a:gdLst/>
            <a:ahLst/>
            <a:cxnLst/>
            <a:rect l="l" t="t" r="r" b="b"/>
            <a:pathLst>
              <a:path w="915341" h="451877">
                <a:moveTo>
                  <a:pt x="92694" y="0"/>
                </a:moveTo>
                <a:lnTo>
                  <a:pt x="822648" y="0"/>
                </a:lnTo>
                <a:cubicBezTo>
                  <a:pt x="873841" y="0"/>
                  <a:pt x="915341" y="41500"/>
                  <a:pt x="915341" y="92694"/>
                </a:cubicBezTo>
                <a:lnTo>
                  <a:pt x="915341" y="359184"/>
                </a:lnTo>
                <a:cubicBezTo>
                  <a:pt x="915341" y="410377"/>
                  <a:pt x="873841" y="451877"/>
                  <a:pt x="822648" y="451877"/>
                </a:cubicBezTo>
                <a:lnTo>
                  <a:pt x="92694" y="451877"/>
                </a:lnTo>
                <a:cubicBezTo>
                  <a:pt x="41535" y="451877"/>
                  <a:pt x="0" y="410343"/>
                  <a:pt x="0" y="359184"/>
                </a:cubicBezTo>
                <a:lnTo>
                  <a:pt x="0" y="92694"/>
                </a:lnTo>
                <a:cubicBezTo>
                  <a:pt x="0" y="41500"/>
                  <a:pt x="41500" y="0"/>
                  <a:pt x="92694" y="0"/>
                </a:cubicBezTo>
                <a:close/>
              </a:path>
            </a:pathLst>
          </a:custGeom>
          <a:solidFill>
            <a:srgbClr val="495057">
              <a:alpha val="60000"/>
            </a:srgbClr>
          </a:solidFill>
          <a:ln w="12700">
            <a:solidFill>
              <a:srgbClr val="49505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750166" y="4564215"/>
            <a:ext cx="973274" cy="440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商品DB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56686" y="4570009"/>
            <a:ext cx="915341" cy="451877"/>
          </a:xfrm>
          <a:custGeom>
            <a:avLst/>
            <a:gdLst/>
            <a:ahLst/>
            <a:cxnLst/>
            <a:rect l="l" t="t" r="r" b="b"/>
            <a:pathLst>
              <a:path w="915341" h="451877">
                <a:moveTo>
                  <a:pt x="92694" y="0"/>
                </a:moveTo>
                <a:lnTo>
                  <a:pt x="822648" y="0"/>
                </a:lnTo>
                <a:cubicBezTo>
                  <a:pt x="873841" y="0"/>
                  <a:pt x="915341" y="41500"/>
                  <a:pt x="915341" y="92694"/>
                </a:cubicBezTo>
                <a:lnTo>
                  <a:pt x="915341" y="359184"/>
                </a:lnTo>
                <a:cubicBezTo>
                  <a:pt x="915341" y="410377"/>
                  <a:pt x="873841" y="451877"/>
                  <a:pt x="822648" y="451877"/>
                </a:cubicBezTo>
                <a:lnTo>
                  <a:pt x="92694" y="451877"/>
                </a:lnTo>
                <a:cubicBezTo>
                  <a:pt x="41535" y="451877"/>
                  <a:pt x="0" y="410343"/>
                  <a:pt x="0" y="359184"/>
                </a:cubicBezTo>
                <a:lnTo>
                  <a:pt x="0" y="92694"/>
                </a:lnTo>
                <a:cubicBezTo>
                  <a:pt x="0" y="41500"/>
                  <a:pt x="41500" y="0"/>
                  <a:pt x="92694" y="0"/>
                </a:cubicBezTo>
                <a:close/>
              </a:path>
            </a:pathLst>
          </a:custGeom>
          <a:solidFill>
            <a:srgbClr val="495057">
              <a:alpha val="60000"/>
            </a:srgbClr>
          </a:solidFill>
          <a:ln w="12700">
            <a:solidFill>
              <a:srgbClr val="49505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816133" y="4564215"/>
            <a:ext cx="973274" cy="440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订单DB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0436" y="5218134"/>
            <a:ext cx="7253212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分布式挑战:</a:t>
            </a:r>
            <a:r>
              <a:rPr lang="en-US" sz="127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高并发、数据一致性、库存扣减 | </a:t>
            </a:r>
            <a:r>
              <a:rPr lang="en-US" sz="12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解决方案:</a:t>
            </a:r>
            <a:r>
              <a:rPr lang="en-US" sz="127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微服务、缓存、消息队列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24495" y="1697437"/>
            <a:ext cx="7554463" cy="3939444"/>
          </a:xfrm>
          <a:custGeom>
            <a:avLst/>
            <a:gdLst/>
            <a:ahLst/>
            <a:cxnLst/>
            <a:rect l="l" t="t" r="r" b="b"/>
            <a:pathLst>
              <a:path w="7554463" h="3939444">
                <a:moveTo>
                  <a:pt x="92695" y="0"/>
                </a:moveTo>
                <a:lnTo>
                  <a:pt x="7461768" y="0"/>
                </a:lnTo>
                <a:cubicBezTo>
                  <a:pt x="7512962" y="0"/>
                  <a:pt x="7554463" y="41501"/>
                  <a:pt x="7554463" y="92695"/>
                </a:cubicBezTo>
                <a:lnTo>
                  <a:pt x="7554463" y="3846749"/>
                </a:lnTo>
                <a:cubicBezTo>
                  <a:pt x="7554463" y="3897943"/>
                  <a:pt x="7512962" y="3939444"/>
                  <a:pt x="7461768" y="3939444"/>
                </a:cubicBezTo>
                <a:lnTo>
                  <a:pt x="92695" y="3939444"/>
                </a:lnTo>
                <a:cubicBezTo>
                  <a:pt x="41501" y="3939444"/>
                  <a:pt x="0" y="3897943"/>
                  <a:pt x="0" y="3846749"/>
                </a:cubicBezTo>
                <a:lnTo>
                  <a:pt x="0" y="92695"/>
                </a:lnTo>
                <a:cubicBezTo>
                  <a:pt x="0" y="41501"/>
                  <a:pt x="41501" y="0"/>
                  <a:pt x="92695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415674" y="1934962"/>
            <a:ext cx="289665" cy="231732"/>
          </a:xfrm>
          <a:custGeom>
            <a:avLst/>
            <a:gdLst/>
            <a:ahLst/>
            <a:cxnLst/>
            <a:rect l="l" t="t" r="r" b="b"/>
            <a:pathLst>
              <a:path w="289665" h="231732">
                <a:moveTo>
                  <a:pt x="144833" y="7242"/>
                </a:moveTo>
                <a:cubicBezTo>
                  <a:pt x="170811" y="7242"/>
                  <a:pt x="191903" y="28333"/>
                  <a:pt x="191903" y="54312"/>
                </a:cubicBezTo>
                <a:cubicBezTo>
                  <a:pt x="191903" y="80291"/>
                  <a:pt x="170811" y="101383"/>
                  <a:pt x="144833" y="101383"/>
                </a:cubicBezTo>
                <a:cubicBezTo>
                  <a:pt x="118854" y="101383"/>
                  <a:pt x="97762" y="80291"/>
                  <a:pt x="97762" y="54312"/>
                </a:cubicBezTo>
                <a:cubicBezTo>
                  <a:pt x="97762" y="28333"/>
                  <a:pt x="118854" y="7242"/>
                  <a:pt x="144833" y="7242"/>
                </a:cubicBezTo>
                <a:close/>
                <a:moveTo>
                  <a:pt x="43450" y="39829"/>
                </a:moveTo>
                <a:cubicBezTo>
                  <a:pt x="61435" y="39829"/>
                  <a:pt x="76037" y="54431"/>
                  <a:pt x="76037" y="72416"/>
                </a:cubicBezTo>
                <a:cubicBezTo>
                  <a:pt x="76037" y="90402"/>
                  <a:pt x="61435" y="105004"/>
                  <a:pt x="43450" y="105004"/>
                </a:cubicBezTo>
                <a:cubicBezTo>
                  <a:pt x="25464" y="105004"/>
                  <a:pt x="10862" y="90402"/>
                  <a:pt x="10862" y="72416"/>
                </a:cubicBezTo>
                <a:cubicBezTo>
                  <a:pt x="10862" y="54431"/>
                  <a:pt x="25464" y="39829"/>
                  <a:pt x="43450" y="39829"/>
                </a:cubicBezTo>
                <a:close/>
                <a:moveTo>
                  <a:pt x="0" y="188282"/>
                </a:moveTo>
                <a:cubicBezTo>
                  <a:pt x="0" y="156283"/>
                  <a:pt x="25934" y="130349"/>
                  <a:pt x="57933" y="130349"/>
                </a:cubicBezTo>
                <a:cubicBezTo>
                  <a:pt x="63726" y="130349"/>
                  <a:pt x="69339" y="131209"/>
                  <a:pt x="74634" y="132793"/>
                </a:cubicBezTo>
                <a:cubicBezTo>
                  <a:pt x="59743" y="149449"/>
                  <a:pt x="50691" y="171445"/>
                  <a:pt x="50691" y="195524"/>
                </a:cubicBezTo>
                <a:lnTo>
                  <a:pt x="50691" y="202766"/>
                </a:lnTo>
                <a:cubicBezTo>
                  <a:pt x="50691" y="207925"/>
                  <a:pt x="51778" y="212813"/>
                  <a:pt x="53724" y="217249"/>
                </a:cubicBezTo>
                <a:lnTo>
                  <a:pt x="14483" y="217249"/>
                </a:lnTo>
                <a:cubicBezTo>
                  <a:pt x="6472" y="217249"/>
                  <a:pt x="0" y="210777"/>
                  <a:pt x="0" y="202766"/>
                </a:cubicBezTo>
                <a:lnTo>
                  <a:pt x="0" y="188282"/>
                </a:lnTo>
                <a:close/>
                <a:moveTo>
                  <a:pt x="235941" y="217249"/>
                </a:moveTo>
                <a:cubicBezTo>
                  <a:pt x="237887" y="212813"/>
                  <a:pt x="238974" y="207925"/>
                  <a:pt x="238974" y="202766"/>
                </a:cubicBezTo>
                <a:lnTo>
                  <a:pt x="238974" y="195524"/>
                </a:lnTo>
                <a:cubicBezTo>
                  <a:pt x="238974" y="171445"/>
                  <a:pt x="229922" y="149449"/>
                  <a:pt x="215031" y="132793"/>
                </a:cubicBezTo>
                <a:cubicBezTo>
                  <a:pt x="220326" y="131209"/>
                  <a:pt x="225939" y="130349"/>
                  <a:pt x="231732" y="130349"/>
                </a:cubicBezTo>
                <a:cubicBezTo>
                  <a:pt x="263731" y="130349"/>
                  <a:pt x="289665" y="156283"/>
                  <a:pt x="289665" y="188282"/>
                </a:cubicBezTo>
                <a:lnTo>
                  <a:pt x="289665" y="202766"/>
                </a:lnTo>
                <a:cubicBezTo>
                  <a:pt x="289665" y="210777"/>
                  <a:pt x="283193" y="217249"/>
                  <a:pt x="275182" y="217249"/>
                </a:cubicBezTo>
                <a:lnTo>
                  <a:pt x="235941" y="217249"/>
                </a:lnTo>
                <a:close/>
                <a:moveTo>
                  <a:pt x="213628" y="72416"/>
                </a:moveTo>
                <a:cubicBezTo>
                  <a:pt x="213628" y="54431"/>
                  <a:pt x="228230" y="39829"/>
                  <a:pt x="246215" y="39829"/>
                </a:cubicBezTo>
                <a:cubicBezTo>
                  <a:pt x="264201" y="39829"/>
                  <a:pt x="278803" y="54431"/>
                  <a:pt x="278803" y="72416"/>
                </a:cubicBezTo>
                <a:cubicBezTo>
                  <a:pt x="278803" y="90402"/>
                  <a:pt x="264201" y="105004"/>
                  <a:pt x="246215" y="105004"/>
                </a:cubicBezTo>
                <a:cubicBezTo>
                  <a:pt x="228230" y="105004"/>
                  <a:pt x="213628" y="90402"/>
                  <a:pt x="213628" y="72416"/>
                </a:cubicBezTo>
                <a:close/>
                <a:moveTo>
                  <a:pt x="72416" y="195524"/>
                </a:moveTo>
                <a:cubicBezTo>
                  <a:pt x="72416" y="155514"/>
                  <a:pt x="104823" y="123108"/>
                  <a:pt x="144833" y="123108"/>
                </a:cubicBezTo>
                <a:cubicBezTo>
                  <a:pt x="184842" y="123108"/>
                  <a:pt x="217249" y="155514"/>
                  <a:pt x="217249" y="195524"/>
                </a:cubicBezTo>
                <a:lnTo>
                  <a:pt x="217249" y="202766"/>
                </a:lnTo>
                <a:cubicBezTo>
                  <a:pt x="217249" y="210777"/>
                  <a:pt x="210777" y="217249"/>
                  <a:pt x="202766" y="217249"/>
                </a:cubicBezTo>
                <a:lnTo>
                  <a:pt x="86900" y="217249"/>
                </a:lnTo>
                <a:cubicBezTo>
                  <a:pt x="78888" y="217249"/>
                  <a:pt x="72416" y="210777"/>
                  <a:pt x="72416" y="202766"/>
                </a:cubicBezTo>
                <a:lnTo>
                  <a:pt x="72416" y="19552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832188" y="1888616"/>
            <a:ext cx="6871457" cy="32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社交网络系统</a:t>
            </a:r>
            <a:endParaRPr lang="en-US" sz="1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5674" y="2352080"/>
          <a:ext cx="7172107" cy="3093620"/>
        </p:xfrm>
        <a:graphic>
          <a:graphicData uri="http://schemas.openxmlformats.org/drawingml/2006/table">
            <a:tbl>
              <a:tblPr/>
              <a:tblGrid>
                <a:gridCol w="98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6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8724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功能模块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分布式挑战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解决方案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技术选型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72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用户关系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海量关系数据存储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图数据库、分片存储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Neo4j、分布式图计算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72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内容分发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全球用户实时访问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CDN、边缘计算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CloudFlare、AWS CloudFront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72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消息推送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实时性要求高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消息队列、长连接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Kafka、WebSocket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72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推荐算法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大规模机器学习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分布式计算框架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Spark、TensorFlow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469257" y="5838017"/>
            <a:ext cx="7554463" cy="3058862"/>
          </a:xfrm>
          <a:custGeom>
            <a:avLst/>
            <a:gdLst/>
            <a:ahLst/>
            <a:cxnLst/>
            <a:rect l="l" t="t" r="r" b="b"/>
            <a:pathLst>
              <a:path w="7554463" h="3058862">
                <a:moveTo>
                  <a:pt x="92684" y="0"/>
                </a:moveTo>
                <a:lnTo>
                  <a:pt x="7461780" y="0"/>
                </a:lnTo>
                <a:cubicBezTo>
                  <a:pt x="7512967" y="0"/>
                  <a:pt x="7554463" y="41496"/>
                  <a:pt x="7554463" y="92684"/>
                </a:cubicBezTo>
                <a:lnTo>
                  <a:pt x="7554463" y="2966179"/>
                </a:lnTo>
                <a:cubicBezTo>
                  <a:pt x="7554463" y="3017367"/>
                  <a:pt x="7512967" y="3058862"/>
                  <a:pt x="7461780" y="3058862"/>
                </a:cubicBezTo>
                <a:lnTo>
                  <a:pt x="92684" y="3058862"/>
                </a:lnTo>
                <a:cubicBezTo>
                  <a:pt x="41530" y="3058862"/>
                  <a:pt x="0" y="3017332"/>
                  <a:pt x="0" y="2966179"/>
                </a:cubicBezTo>
                <a:lnTo>
                  <a:pt x="0" y="92684"/>
                </a:lnTo>
                <a:cubicBezTo>
                  <a:pt x="0" y="41530"/>
                  <a:pt x="41530" y="0"/>
                  <a:pt x="9268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1"/>
          <p:cNvSpPr/>
          <p:nvPr/>
        </p:nvSpPr>
        <p:spPr>
          <a:xfrm>
            <a:off x="689403" y="6075542"/>
            <a:ext cx="231732" cy="231732"/>
          </a:xfrm>
          <a:custGeom>
            <a:avLst/>
            <a:gdLst/>
            <a:ahLst/>
            <a:cxnLst/>
            <a:rect l="l" t="t" r="r" b="b"/>
            <a:pathLst>
              <a:path w="231732" h="231732">
                <a:moveTo>
                  <a:pt x="123062" y="9143"/>
                </a:moveTo>
                <a:cubicBezTo>
                  <a:pt x="118627" y="6608"/>
                  <a:pt x="113150" y="6608"/>
                  <a:pt x="108670" y="9143"/>
                </a:cubicBezTo>
                <a:lnTo>
                  <a:pt x="7287" y="67076"/>
                </a:lnTo>
                <a:cubicBezTo>
                  <a:pt x="1584" y="70334"/>
                  <a:pt x="-1222" y="77033"/>
                  <a:pt x="453" y="83369"/>
                </a:cubicBezTo>
                <a:cubicBezTo>
                  <a:pt x="2127" y="89706"/>
                  <a:pt x="7921" y="94141"/>
                  <a:pt x="14483" y="94141"/>
                </a:cubicBezTo>
                <a:lnTo>
                  <a:pt x="28967" y="94141"/>
                </a:lnTo>
                <a:lnTo>
                  <a:pt x="28967" y="188282"/>
                </a:lnTo>
                <a:lnTo>
                  <a:pt x="28967" y="188282"/>
                </a:lnTo>
                <a:lnTo>
                  <a:pt x="5793" y="205662"/>
                </a:lnTo>
                <a:cubicBezTo>
                  <a:pt x="2127" y="208378"/>
                  <a:pt x="0" y="212677"/>
                  <a:pt x="0" y="217249"/>
                </a:cubicBezTo>
                <a:cubicBezTo>
                  <a:pt x="0" y="225260"/>
                  <a:pt x="6472" y="231732"/>
                  <a:pt x="14483" y="231732"/>
                </a:cubicBezTo>
                <a:lnTo>
                  <a:pt x="217249" y="231732"/>
                </a:lnTo>
                <a:cubicBezTo>
                  <a:pt x="225260" y="231732"/>
                  <a:pt x="231732" y="225260"/>
                  <a:pt x="231732" y="217249"/>
                </a:cubicBezTo>
                <a:cubicBezTo>
                  <a:pt x="231732" y="212677"/>
                  <a:pt x="229605" y="208378"/>
                  <a:pt x="225939" y="205662"/>
                </a:cubicBezTo>
                <a:lnTo>
                  <a:pt x="202766" y="188282"/>
                </a:lnTo>
                <a:lnTo>
                  <a:pt x="202766" y="94141"/>
                </a:lnTo>
                <a:lnTo>
                  <a:pt x="217249" y="94141"/>
                </a:lnTo>
                <a:cubicBezTo>
                  <a:pt x="223811" y="94141"/>
                  <a:pt x="229560" y="89706"/>
                  <a:pt x="231234" y="83369"/>
                </a:cubicBezTo>
                <a:cubicBezTo>
                  <a:pt x="232909" y="77033"/>
                  <a:pt x="230103" y="70334"/>
                  <a:pt x="224400" y="67076"/>
                </a:cubicBezTo>
                <a:lnTo>
                  <a:pt x="123017" y="9143"/>
                </a:lnTo>
                <a:close/>
                <a:moveTo>
                  <a:pt x="181041" y="94141"/>
                </a:moveTo>
                <a:lnTo>
                  <a:pt x="181041" y="188282"/>
                </a:lnTo>
                <a:lnTo>
                  <a:pt x="152074" y="188282"/>
                </a:lnTo>
                <a:lnTo>
                  <a:pt x="152074" y="94141"/>
                </a:lnTo>
                <a:lnTo>
                  <a:pt x="181041" y="94141"/>
                </a:lnTo>
                <a:close/>
                <a:moveTo>
                  <a:pt x="130349" y="94141"/>
                </a:moveTo>
                <a:lnTo>
                  <a:pt x="130349" y="188282"/>
                </a:lnTo>
                <a:lnTo>
                  <a:pt x="101383" y="188282"/>
                </a:lnTo>
                <a:lnTo>
                  <a:pt x="101383" y="94141"/>
                </a:lnTo>
                <a:lnTo>
                  <a:pt x="130349" y="94141"/>
                </a:lnTo>
                <a:close/>
                <a:moveTo>
                  <a:pt x="79658" y="94141"/>
                </a:moveTo>
                <a:lnTo>
                  <a:pt x="79658" y="188282"/>
                </a:lnTo>
                <a:lnTo>
                  <a:pt x="50691" y="188282"/>
                </a:lnTo>
                <a:lnTo>
                  <a:pt x="50691" y="94141"/>
                </a:lnTo>
                <a:lnTo>
                  <a:pt x="79658" y="94141"/>
                </a:lnTo>
                <a:close/>
                <a:moveTo>
                  <a:pt x="115866" y="43450"/>
                </a:moveTo>
                <a:cubicBezTo>
                  <a:pt x="123860" y="43450"/>
                  <a:pt x="130349" y="49939"/>
                  <a:pt x="130349" y="57933"/>
                </a:cubicBezTo>
                <a:cubicBezTo>
                  <a:pt x="130349" y="65927"/>
                  <a:pt x="123860" y="72416"/>
                  <a:pt x="115866" y="72416"/>
                </a:cubicBezTo>
                <a:cubicBezTo>
                  <a:pt x="107872" y="72416"/>
                  <a:pt x="101383" y="65927"/>
                  <a:pt x="101383" y="57933"/>
                </a:cubicBezTo>
                <a:cubicBezTo>
                  <a:pt x="101383" y="49939"/>
                  <a:pt x="107872" y="43450"/>
                  <a:pt x="115866" y="4345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1076951" y="6029196"/>
            <a:ext cx="6871457" cy="32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金融交易系统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2017969" y="6600832"/>
            <a:ext cx="1100727" cy="544570"/>
          </a:xfrm>
          <a:custGeom>
            <a:avLst/>
            <a:gdLst/>
            <a:ahLst/>
            <a:cxnLst/>
            <a:rect l="l" t="t" r="r" b="b"/>
            <a:pathLst>
              <a:path w="1100727" h="544570">
                <a:moveTo>
                  <a:pt x="92691" y="0"/>
                </a:moveTo>
                <a:lnTo>
                  <a:pt x="1008036" y="0"/>
                </a:lnTo>
                <a:cubicBezTo>
                  <a:pt x="1059228" y="0"/>
                  <a:pt x="1100727" y="41499"/>
                  <a:pt x="1100727" y="92691"/>
                </a:cubicBezTo>
                <a:lnTo>
                  <a:pt x="1100727" y="451879"/>
                </a:lnTo>
                <a:cubicBezTo>
                  <a:pt x="1100727" y="503071"/>
                  <a:pt x="1059228" y="544570"/>
                  <a:pt x="1008036" y="544570"/>
                </a:cubicBezTo>
                <a:lnTo>
                  <a:pt x="92691" y="544570"/>
                </a:lnTo>
                <a:cubicBezTo>
                  <a:pt x="41499" y="544570"/>
                  <a:pt x="0" y="503071"/>
                  <a:pt x="0" y="451879"/>
                </a:cubicBezTo>
                <a:lnTo>
                  <a:pt x="0" y="92691"/>
                </a:lnTo>
                <a:cubicBezTo>
                  <a:pt x="0" y="41534"/>
                  <a:pt x="41534" y="0"/>
                  <a:pt x="92691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1971623" y="6595038"/>
            <a:ext cx="1170247" cy="53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交易请求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292495" y="6757251"/>
            <a:ext cx="231732" cy="231732"/>
          </a:xfrm>
          <a:custGeom>
            <a:avLst/>
            <a:gdLst/>
            <a:ahLst/>
            <a:cxnLst/>
            <a:rect l="l" t="t" r="r" b="b"/>
            <a:pathLst>
              <a:path w="231732" h="231732">
                <a:moveTo>
                  <a:pt x="227478" y="126095"/>
                </a:moveTo>
                <a:cubicBezTo>
                  <a:pt x="233135" y="120437"/>
                  <a:pt x="233135" y="111249"/>
                  <a:pt x="227478" y="105592"/>
                </a:cubicBezTo>
                <a:lnTo>
                  <a:pt x="155061" y="33176"/>
                </a:lnTo>
                <a:cubicBezTo>
                  <a:pt x="149404" y="27518"/>
                  <a:pt x="140216" y="27518"/>
                  <a:pt x="134558" y="33176"/>
                </a:cubicBezTo>
                <a:cubicBezTo>
                  <a:pt x="128901" y="38833"/>
                  <a:pt x="128901" y="48021"/>
                  <a:pt x="134558" y="53679"/>
                </a:cubicBezTo>
                <a:lnTo>
                  <a:pt x="182263" y="101383"/>
                </a:lnTo>
                <a:lnTo>
                  <a:pt x="14483" y="101383"/>
                </a:lnTo>
                <a:cubicBezTo>
                  <a:pt x="6472" y="101383"/>
                  <a:pt x="0" y="107855"/>
                  <a:pt x="0" y="115866"/>
                </a:cubicBezTo>
                <a:cubicBezTo>
                  <a:pt x="0" y="123877"/>
                  <a:pt x="6472" y="130349"/>
                  <a:pt x="14483" y="130349"/>
                </a:cubicBezTo>
                <a:lnTo>
                  <a:pt x="182263" y="130349"/>
                </a:lnTo>
                <a:lnTo>
                  <a:pt x="134558" y="178053"/>
                </a:lnTo>
                <a:cubicBezTo>
                  <a:pt x="128901" y="183711"/>
                  <a:pt x="128901" y="192899"/>
                  <a:pt x="134558" y="198556"/>
                </a:cubicBezTo>
                <a:cubicBezTo>
                  <a:pt x="140216" y="204214"/>
                  <a:pt x="149404" y="204214"/>
                  <a:pt x="155061" y="198556"/>
                </a:cubicBezTo>
                <a:lnTo>
                  <a:pt x="227478" y="12614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6"/>
          <p:cNvSpPr/>
          <p:nvPr/>
        </p:nvSpPr>
        <p:spPr>
          <a:xfrm>
            <a:off x="3698026" y="6600832"/>
            <a:ext cx="1100727" cy="544570"/>
          </a:xfrm>
          <a:custGeom>
            <a:avLst/>
            <a:gdLst/>
            <a:ahLst/>
            <a:cxnLst/>
            <a:rect l="l" t="t" r="r" b="b"/>
            <a:pathLst>
              <a:path w="1100727" h="544570">
                <a:moveTo>
                  <a:pt x="92691" y="0"/>
                </a:moveTo>
                <a:lnTo>
                  <a:pt x="1008036" y="0"/>
                </a:lnTo>
                <a:cubicBezTo>
                  <a:pt x="1059228" y="0"/>
                  <a:pt x="1100727" y="41499"/>
                  <a:pt x="1100727" y="92691"/>
                </a:cubicBezTo>
                <a:lnTo>
                  <a:pt x="1100727" y="451879"/>
                </a:lnTo>
                <a:cubicBezTo>
                  <a:pt x="1100727" y="503071"/>
                  <a:pt x="1059228" y="544570"/>
                  <a:pt x="1008036" y="544570"/>
                </a:cubicBezTo>
                <a:lnTo>
                  <a:pt x="92691" y="544570"/>
                </a:lnTo>
                <a:cubicBezTo>
                  <a:pt x="41499" y="544570"/>
                  <a:pt x="0" y="503071"/>
                  <a:pt x="0" y="451879"/>
                </a:cubicBezTo>
                <a:lnTo>
                  <a:pt x="0" y="92691"/>
                </a:lnTo>
                <a:cubicBezTo>
                  <a:pt x="0" y="41534"/>
                  <a:pt x="41534" y="0"/>
                  <a:pt x="92691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3651680" y="6595038"/>
            <a:ext cx="1170247" cy="53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风控检查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972552" y="6757251"/>
            <a:ext cx="231732" cy="231732"/>
          </a:xfrm>
          <a:custGeom>
            <a:avLst/>
            <a:gdLst/>
            <a:ahLst/>
            <a:cxnLst/>
            <a:rect l="l" t="t" r="r" b="b"/>
            <a:pathLst>
              <a:path w="231732" h="231732">
                <a:moveTo>
                  <a:pt x="227478" y="126095"/>
                </a:moveTo>
                <a:cubicBezTo>
                  <a:pt x="233135" y="120437"/>
                  <a:pt x="233135" y="111249"/>
                  <a:pt x="227478" y="105592"/>
                </a:cubicBezTo>
                <a:lnTo>
                  <a:pt x="155061" y="33176"/>
                </a:lnTo>
                <a:cubicBezTo>
                  <a:pt x="149404" y="27518"/>
                  <a:pt x="140216" y="27518"/>
                  <a:pt x="134558" y="33176"/>
                </a:cubicBezTo>
                <a:cubicBezTo>
                  <a:pt x="128901" y="38833"/>
                  <a:pt x="128901" y="48021"/>
                  <a:pt x="134558" y="53679"/>
                </a:cubicBezTo>
                <a:lnTo>
                  <a:pt x="182263" y="101383"/>
                </a:lnTo>
                <a:lnTo>
                  <a:pt x="14483" y="101383"/>
                </a:lnTo>
                <a:cubicBezTo>
                  <a:pt x="6472" y="101383"/>
                  <a:pt x="0" y="107855"/>
                  <a:pt x="0" y="115866"/>
                </a:cubicBezTo>
                <a:cubicBezTo>
                  <a:pt x="0" y="123877"/>
                  <a:pt x="6472" y="130349"/>
                  <a:pt x="14483" y="130349"/>
                </a:cubicBezTo>
                <a:lnTo>
                  <a:pt x="182263" y="130349"/>
                </a:lnTo>
                <a:lnTo>
                  <a:pt x="134558" y="178053"/>
                </a:lnTo>
                <a:cubicBezTo>
                  <a:pt x="128901" y="183711"/>
                  <a:pt x="128901" y="192899"/>
                  <a:pt x="134558" y="198556"/>
                </a:cubicBezTo>
                <a:cubicBezTo>
                  <a:pt x="140216" y="204214"/>
                  <a:pt x="149404" y="204214"/>
                  <a:pt x="155061" y="198556"/>
                </a:cubicBezTo>
                <a:lnTo>
                  <a:pt x="227478" y="12614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9"/>
          <p:cNvSpPr/>
          <p:nvPr/>
        </p:nvSpPr>
        <p:spPr>
          <a:xfrm>
            <a:off x="5378083" y="6600832"/>
            <a:ext cx="1100727" cy="544570"/>
          </a:xfrm>
          <a:custGeom>
            <a:avLst/>
            <a:gdLst/>
            <a:ahLst/>
            <a:cxnLst/>
            <a:rect l="l" t="t" r="r" b="b"/>
            <a:pathLst>
              <a:path w="1100727" h="544570">
                <a:moveTo>
                  <a:pt x="92691" y="0"/>
                </a:moveTo>
                <a:lnTo>
                  <a:pt x="1008036" y="0"/>
                </a:lnTo>
                <a:cubicBezTo>
                  <a:pt x="1059228" y="0"/>
                  <a:pt x="1100727" y="41499"/>
                  <a:pt x="1100727" y="92691"/>
                </a:cubicBezTo>
                <a:lnTo>
                  <a:pt x="1100727" y="451879"/>
                </a:lnTo>
                <a:cubicBezTo>
                  <a:pt x="1100727" y="503071"/>
                  <a:pt x="1059228" y="544570"/>
                  <a:pt x="1008036" y="544570"/>
                </a:cubicBezTo>
                <a:lnTo>
                  <a:pt x="92691" y="544570"/>
                </a:lnTo>
                <a:cubicBezTo>
                  <a:pt x="41499" y="544570"/>
                  <a:pt x="0" y="503071"/>
                  <a:pt x="0" y="451879"/>
                </a:cubicBezTo>
                <a:lnTo>
                  <a:pt x="0" y="92691"/>
                </a:lnTo>
                <a:cubicBezTo>
                  <a:pt x="0" y="41534"/>
                  <a:pt x="41534" y="0"/>
                  <a:pt x="92691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5331737" y="6595038"/>
            <a:ext cx="1170247" cy="53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资金划转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2776892" y="7460322"/>
            <a:ext cx="2942996" cy="532984"/>
          </a:xfrm>
          <a:custGeom>
            <a:avLst/>
            <a:gdLst/>
            <a:ahLst/>
            <a:cxnLst/>
            <a:rect l="l" t="t" r="r" b="b"/>
            <a:pathLst>
              <a:path w="2942996" h="532984">
                <a:moveTo>
                  <a:pt x="92691" y="0"/>
                </a:moveTo>
                <a:lnTo>
                  <a:pt x="2850305" y="0"/>
                </a:lnTo>
                <a:cubicBezTo>
                  <a:pt x="2901497" y="0"/>
                  <a:pt x="2942996" y="41499"/>
                  <a:pt x="2942996" y="92691"/>
                </a:cubicBezTo>
                <a:lnTo>
                  <a:pt x="2942996" y="440292"/>
                </a:lnTo>
                <a:cubicBezTo>
                  <a:pt x="2942996" y="491484"/>
                  <a:pt x="2901497" y="532984"/>
                  <a:pt x="2850305" y="532984"/>
                </a:cubicBezTo>
                <a:lnTo>
                  <a:pt x="92691" y="532984"/>
                </a:lnTo>
                <a:cubicBezTo>
                  <a:pt x="41499" y="532984"/>
                  <a:pt x="0" y="491484"/>
                  <a:pt x="0" y="440292"/>
                </a:cubicBezTo>
                <a:lnTo>
                  <a:pt x="0" y="92691"/>
                </a:lnTo>
                <a:cubicBezTo>
                  <a:pt x="0" y="41534"/>
                  <a:pt x="41534" y="0"/>
                  <a:pt x="92691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2"/>
          <p:cNvSpPr/>
          <p:nvPr/>
        </p:nvSpPr>
        <p:spPr>
          <a:xfrm>
            <a:off x="3506847" y="7587775"/>
            <a:ext cx="1575778" cy="27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分布式事务协调器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60436" y="8252194"/>
            <a:ext cx="769242" cy="21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关键要求: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60436" y="8483926"/>
            <a:ext cx="2189867" cy="21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一致性、可用性、性能、安全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294736" y="8252194"/>
            <a:ext cx="769242" cy="21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技术挑战: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4294736" y="8483926"/>
            <a:ext cx="2027655" cy="21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强一致性、高可用、低延迟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224495" y="5838017"/>
            <a:ext cx="7554463" cy="3058862"/>
          </a:xfrm>
          <a:custGeom>
            <a:avLst/>
            <a:gdLst/>
            <a:ahLst/>
            <a:cxnLst/>
            <a:rect l="l" t="t" r="r" b="b"/>
            <a:pathLst>
              <a:path w="7554463" h="3058862">
                <a:moveTo>
                  <a:pt x="92684" y="0"/>
                </a:moveTo>
                <a:lnTo>
                  <a:pt x="7461780" y="0"/>
                </a:lnTo>
                <a:cubicBezTo>
                  <a:pt x="7512967" y="0"/>
                  <a:pt x="7554463" y="41496"/>
                  <a:pt x="7554463" y="92684"/>
                </a:cubicBezTo>
                <a:lnTo>
                  <a:pt x="7554463" y="2966179"/>
                </a:lnTo>
                <a:cubicBezTo>
                  <a:pt x="7554463" y="3017367"/>
                  <a:pt x="7512967" y="3058862"/>
                  <a:pt x="7461780" y="3058862"/>
                </a:cubicBezTo>
                <a:lnTo>
                  <a:pt x="92684" y="3058862"/>
                </a:lnTo>
                <a:cubicBezTo>
                  <a:pt x="41530" y="3058862"/>
                  <a:pt x="0" y="3017332"/>
                  <a:pt x="0" y="2966179"/>
                </a:cubicBezTo>
                <a:lnTo>
                  <a:pt x="0" y="92684"/>
                </a:lnTo>
                <a:cubicBezTo>
                  <a:pt x="0" y="41530"/>
                  <a:pt x="41530" y="0"/>
                  <a:pt x="9268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8"/>
          <p:cNvSpPr/>
          <p:nvPr/>
        </p:nvSpPr>
        <p:spPr>
          <a:xfrm>
            <a:off x="8444640" y="6558468"/>
            <a:ext cx="231732" cy="231732"/>
          </a:xfrm>
          <a:custGeom>
            <a:avLst/>
            <a:gdLst/>
            <a:ahLst/>
            <a:cxnLst/>
            <a:rect l="l" t="t" r="r" b="b"/>
            <a:pathLst>
              <a:path w="231732" h="231732">
                <a:moveTo>
                  <a:pt x="79658" y="10862"/>
                </a:moveTo>
                <a:cubicBezTo>
                  <a:pt x="79658" y="4843"/>
                  <a:pt x="74815" y="0"/>
                  <a:pt x="68795" y="0"/>
                </a:cubicBezTo>
                <a:cubicBezTo>
                  <a:pt x="62776" y="0"/>
                  <a:pt x="57933" y="4843"/>
                  <a:pt x="57933" y="10862"/>
                </a:cubicBezTo>
                <a:lnTo>
                  <a:pt x="57933" y="28967"/>
                </a:lnTo>
                <a:cubicBezTo>
                  <a:pt x="41956" y="28967"/>
                  <a:pt x="28967" y="41956"/>
                  <a:pt x="28967" y="57933"/>
                </a:cubicBezTo>
                <a:lnTo>
                  <a:pt x="10862" y="57933"/>
                </a:lnTo>
                <a:cubicBezTo>
                  <a:pt x="4843" y="57933"/>
                  <a:pt x="0" y="62776"/>
                  <a:pt x="0" y="68795"/>
                </a:cubicBezTo>
                <a:cubicBezTo>
                  <a:pt x="0" y="74815"/>
                  <a:pt x="4843" y="79658"/>
                  <a:pt x="10862" y="79658"/>
                </a:cubicBezTo>
                <a:lnTo>
                  <a:pt x="28967" y="79658"/>
                </a:lnTo>
                <a:lnTo>
                  <a:pt x="28967" y="105004"/>
                </a:lnTo>
                <a:lnTo>
                  <a:pt x="10862" y="105004"/>
                </a:lnTo>
                <a:cubicBezTo>
                  <a:pt x="4843" y="105004"/>
                  <a:pt x="0" y="109846"/>
                  <a:pt x="0" y="115866"/>
                </a:cubicBezTo>
                <a:cubicBezTo>
                  <a:pt x="0" y="121886"/>
                  <a:pt x="4843" y="126728"/>
                  <a:pt x="10862" y="126728"/>
                </a:cubicBezTo>
                <a:lnTo>
                  <a:pt x="28967" y="126728"/>
                </a:lnTo>
                <a:lnTo>
                  <a:pt x="28967" y="152074"/>
                </a:lnTo>
                <a:lnTo>
                  <a:pt x="10862" y="152074"/>
                </a:lnTo>
                <a:cubicBezTo>
                  <a:pt x="4843" y="152074"/>
                  <a:pt x="0" y="156917"/>
                  <a:pt x="0" y="162937"/>
                </a:cubicBezTo>
                <a:cubicBezTo>
                  <a:pt x="0" y="168956"/>
                  <a:pt x="4843" y="173799"/>
                  <a:pt x="10862" y="173799"/>
                </a:cubicBezTo>
                <a:lnTo>
                  <a:pt x="28967" y="173799"/>
                </a:lnTo>
                <a:cubicBezTo>
                  <a:pt x="28967" y="189776"/>
                  <a:pt x="41956" y="202766"/>
                  <a:pt x="57933" y="202766"/>
                </a:cubicBezTo>
                <a:lnTo>
                  <a:pt x="57933" y="220870"/>
                </a:lnTo>
                <a:cubicBezTo>
                  <a:pt x="57933" y="226889"/>
                  <a:pt x="62776" y="231732"/>
                  <a:pt x="68795" y="231732"/>
                </a:cubicBezTo>
                <a:cubicBezTo>
                  <a:pt x="74815" y="231732"/>
                  <a:pt x="79658" y="226889"/>
                  <a:pt x="79658" y="220870"/>
                </a:cubicBezTo>
                <a:lnTo>
                  <a:pt x="79658" y="202766"/>
                </a:lnTo>
                <a:lnTo>
                  <a:pt x="105004" y="202766"/>
                </a:lnTo>
                <a:lnTo>
                  <a:pt x="105004" y="220870"/>
                </a:lnTo>
                <a:cubicBezTo>
                  <a:pt x="105004" y="226889"/>
                  <a:pt x="109846" y="231732"/>
                  <a:pt x="115866" y="231732"/>
                </a:cubicBezTo>
                <a:cubicBezTo>
                  <a:pt x="121886" y="231732"/>
                  <a:pt x="126728" y="226889"/>
                  <a:pt x="126728" y="220870"/>
                </a:cubicBezTo>
                <a:lnTo>
                  <a:pt x="126728" y="202766"/>
                </a:lnTo>
                <a:lnTo>
                  <a:pt x="152074" y="202766"/>
                </a:lnTo>
                <a:lnTo>
                  <a:pt x="152074" y="220870"/>
                </a:lnTo>
                <a:cubicBezTo>
                  <a:pt x="152074" y="226889"/>
                  <a:pt x="156917" y="231732"/>
                  <a:pt x="162937" y="231732"/>
                </a:cubicBezTo>
                <a:cubicBezTo>
                  <a:pt x="168956" y="231732"/>
                  <a:pt x="173799" y="226889"/>
                  <a:pt x="173799" y="220870"/>
                </a:cubicBezTo>
                <a:lnTo>
                  <a:pt x="173799" y="202766"/>
                </a:lnTo>
                <a:cubicBezTo>
                  <a:pt x="189776" y="202766"/>
                  <a:pt x="202766" y="189776"/>
                  <a:pt x="202766" y="173799"/>
                </a:cubicBezTo>
                <a:lnTo>
                  <a:pt x="220870" y="173799"/>
                </a:lnTo>
                <a:cubicBezTo>
                  <a:pt x="226889" y="173799"/>
                  <a:pt x="231732" y="168956"/>
                  <a:pt x="231732" y="162937"/>
                </a:cubicBezTo>
                <a:cubicBezTo>
                  <a:pt x="231732" y="156917"/>
                  <a:pt x="226889" y="152074"/>
                  <a:pt x="220870" y="152074"/>
                </a:cubicBezTo>
                <a:lnTo>
                  <a:pt x="202766" y="152074"/>
                </a:lnTo>
                <a:lnTo>
                  <a:pt x="202766" y="126728"/>
                </a:lnTo>
                <a:lnTo>
                  <a:pt x="220870" y="126728"/>
                </a:lnTo>
                <a:cubicBezTo>
                  <a:pt x="226889" y="126728"/>
                  <a:pt x="231732" y="121886"/>
                  <a:pt x="231732" y="115866"/>
                </a:cubicBezTo>
                <a:cubicBezTo>
                  <a:pt x="231732" y="109846"/>
                  <a:pt x="226889" y="105004"/>
                  <a:pt x="220870" y="105004"/>
                </a:cubicBezTo>
                <a:lnTo>
                  <a:pt x="202766" y="105004"/>
                </a:lnTo>
                <a:lnTo>
                  <a:pt x="202766" y="79658"/>
                </a:lnTo>
                <a:lnTo>
                  <a:pt x="220870" y="79658"/>
                </a:lnTo>
                <a:cubicBezTo>
                  <a:pt x="226889" y="79658"/>
                  <a:pt x="231732" y="74815"/>
                  <a:pt x="231732" y="68795"/>
                </a:cubicBezTo>
                <a:cubicBezTo>
                  <a:pt x="231732" y="62776"/>
                  <a:pt x="226889" y="57933"/>
                  <a:pt x="220870" y="57933"/>
                </a:cubicBezTo>
                <a:lnTo>
                  <a:pt x="202766" y="57933"/>
                </a:lnTo>
                <a:cubicBezTo>
                  <a:pt x="202766" y="41956"/>
                  <a:pt x="189776" y="28967"/>
                  <a:pt x="173799" y="28967"/>
                </a:cubicBezTo>
                <a:lnTo>
                  <a:pt x="173799" y="10862"/>
                </a:lnTo>
                <a:cubicBezTo>
                  <a:pt x="173799" y="4843"/>
                  <a:pt x="168956" y="0"/>
                  <a:pt x="162937" y="0"/>
                </a:cubicBezTo>
                <a:cubicBezTo>
                  <a:pt x="156917" y="0"/>
                  <a:pt x="152074" y="4843"/>
                  <a:pt x="152074" y="10862"/>
                </a:cubicBezTo>
                <a:lnTo>
                  <a:pt x="152074" y="28967"/>
                </a:lnTo>
                <a:lnTo>
                  <a:pt x="126728" y="28967"/>
                </a:lnTo>
                <a:lnTo>
                  <a:pt x="126728" y="10862"/>
                </a:lnTo>
                <a:cubicBezTo>
                  <a:pt x="126728" y="4843"/>
                  <a:pt x="121886" y="0"/>
                  <a:pt x="115866" y="0"/>
                </a:cubicBezTo>
                <a:cubicBezTo>
                  <a:pt x="109846" y="0"/>
                  <a:pt x="105004" y="4843"/>
                  <a:pt x="105004" y="10862"/>
                </a:cubicBezTo>
                <a:lnTo>
                  <a:pt x="105004" y="28967"/>
                </a:lnTo>
                <a:lnTo>
                  <a:pt x="79658" y="28967"/>
                </a:lnTo>
                <a:lnTo>
                  <a:pt x="79658" y="10862"/>
                </a:lnTo>
                <a:close/>
                <a:moveTo>
                  <a:pt x="72416" y="57933"/>
                </a:moveTo>
                <a:lnTo>
                  <a:pt x="159316" y="57933"/>
                </a:lnTo>
                <a:cubicBezTo>
                  <a:pt x="167327" y="57933"/>
                  <a:pt x="173799" y="64405"/>
                  <a:pt x="173799" y="72416"/>
                </a:cubicBezTo>
                <a:lnTo>
                  <a:pt x="173799" y="159316"/>
                </a:lnTo>
                <a:cubicBezTo>
                  <a:pt x="173799" y="167327"/>
                  <a:pt x="167327" y="173799"/>
                  <a:pt x="159316" y="173799"/>
                </a:cubicBezTo>
                <a:lnTo>
                  <a:pt x="72416" y="173799"/>
                </a:lnTo>
                <a:cubicBezTo>
                  <a:pt x="64405" y="173799"/>
                  <a:pt x="57933" y="167327"/>
                  <a:pt x="57933" y="159316"/>
                </a:cubicBezTo>
                <a:lnTo>
                  <a:pt x="57933" y="72416"/>
                </a:lnTo>
                <a:cubicBezTo>
                  <a:pt x="57933" y="64405"/>
                  <a:pt x="64405" y="57933"/>
                  <a:pt x="72416" y="57933"/>
                </a:cubicBezTo>
                <a:close/>
                <a:moveTo>
                  <a:pt x="79658" y="79658"/>
                </a:moveTo>
                <a:lnTo>
                  <a:pt x="79658" y="152074"/>
                </a:lnTo>
                <a:lnTo>
                  <a:pt x="152074" y="152074"/>
                </a:lnTo>
                <a:lnTo>
                  <a:pt x="152074" y="79658"/>
                </a:lnTo>
                <a:lnTo>
                  <a:pt x="79658" y="79658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9"/>
          <p:cNvSpPr/>
          <p:nvPr/>
        </p:nvSpPr>
        <p:spPr>
          <a:xfrm>
            <a:off x="8832188" y="6512122"/>
            <a:ext cx="6871457" cy="32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物联网 (IoT) 系统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622581" y="6981379"/>
            <a:ext cx="1100727" cy="729956"/>
          </a:xfrm>
          <a:custGeom>
            <a:avLst/>
            <a:gdLst/>
            <a:ahLst/>
            <a:cxnLst/>
            <a:rect l="l" t="t" r="r" b="b"/>
            <a:pathLst>
              <a:path w="1100727" h="729956">
                <a:moveTo>
                  <a:pt x="92690" y="0"/>
                </a:moveTo>
                <a:lnTo>
                  <a:pt x="1008037" y="0"/>
                </a:lnTo>
                <a:cubicBezTo>
                  <a:pt x="1059228" y="0"/>
                  <a:pt x="1100727" y="41499"/>
                  <a:pt x="1100727" y="92690"/>
                </a:cubicBezTo>
                <a:lnTo>
                  <a:pt x="1100727" y="637266"/>
                </a:lnTo>
                <a:cubicBezTo>
                  <a:pt x="1100727" y="688457"/>
                  <a:pt x="1059228" y="729956"/>
                  <a:pt x="1008037" y="729956"/>
                </a:cubicBezTo>
                <a:lnTo>
                  <a:pt x="92690" y="729956"/>
                </a:lnTo>
                <a:cubicBezTo>
                  <a:pt x="41499" y="729956"/>
                  <a:pt x="0" y="688457"/>
                  <a:pt x="0" y="637266"/>
                </a:cubicBezTo>
                <a:lnTo>
                  <a:pt x="0" y="92690"/>
                </a:lnTo>
                <a:cubicBezTo>
                  <a:pt x="0" y="41499"/>
                  <a:pt x="41499" y="0"/>
                  <a:pt x="92690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1"/>
          <p:cNvSpPr/>
          <p:nvPr/>
        </p:nvSpPr>
        <p:spPr>
          <a:xfrm>
            <a:off x="9688027" y="7137798"/>
            <a:ext cx="973274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设备层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693820" y="7369530"/>
            <a:ext cx="961688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传感器/执行器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10949247" y="7253664"/>
            <a:ext cx="278078" cy="278078"/>
          </a:xfrm>
          <a:custGeom>
            <a:avLst/>
            <a:gdLst/>
            <a:ahLst/>
            <a:cxnLst/>
            <a:rect l="l" t="t" r="r" b="b"/>
            <a:pathLst>
              <a:path w="278078" h="278078">
                <a:moveTo>
                  <a:pt x="272973" y="151314"/>
                </a:moveTo>
                <a:cubicBezTo>
                  <a:pt x="279762" y="144525"/>
                  <a:pt x="279762" y="133499"/>
                  <a:pt x="272973" y="126710"/>
                </a:cubicBezTo>
                <a:lnTo>
                  <a:pt x="186074" y="39811"/>
                </a:lnTo>
                <a:cubicBezTo>
                  <a:pt x="179285" y="33022"/>
                  <a:pt x="168259" y="33022"/>
                  <a:pt x="161470" y="39811"/>
                </a:cubicBezTo>
                <a:cubicBezTo>
                  <a:pt x="154681" y="46600"/>
                  <a:pt x="154681" y="57625"/>
                  <a:pt x="161470" y="64414"/>
                </a:cubicBezTo>
                <a:lnTo>
                  <a:pt x="218715" y="121659"/>
                </a:lnTo>
                <a:lnTo>
                  <a:pt x="17380" y="121659"/>
                </a:lnTo>
                <a:cubicBezTo>
                  <a:pt x="7767" y="121659"/>
                  <a:pt x="0" y="129426"/>
                  <a:pt x="0" y="139039"/>
                </a:cubicBezTo>
                <a:cubicBezTo>
                  <a:pt x="0" y="148652"/>
                  <a:pt x="7767" y="156419"/>
                  <a:pt x="17380" y="156419"/>
                </a:cubicBezTo>
                <a:lnTo>
                  <a:pt x="218715" y="156419"/>
                </a:lnTo>
                <a:lnTo>
                  <a:pt x="161470" y="213664"/>
                </a:lnTo>
                <a:cubicBezTo>
                  <a:pt x="154681" y="220453"/>
                  <a:pt x="154681" y="231479"/>
                  <a:pt x="161470" y="238268"/>
                </a:cubicBezTo>
                <a:cubicBezTo>
                  <a:pt x="168259" y="245057"/>
                  <a:pt x="179285" y="245057"/>
                  <a:pt x="186074" y="238268"/>
                </a:cubicBezTo>
                <a:lnTo>
                  <a:pt x="272973" y="151368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4"/>
          <p:cNvSpPr/>
          <p:nvPr/>
        </p:nvSpPr>
        <p:spPr>
          <a:xfrm>
            <a:off x="11453264" y="6981379"/>
            <a:ext cx="1100727" cy="729956"/>
          </a:xfrm>
          <a:custGeom>
            <a:avLst/>
            <a:gdLst/>
            <a:ahLst/>
            <a:cxnLst/>
            <a:rect l="l" t="t" r="r" b="b"/>
            <a:pathLst>
              <a:path w="1100727" h="729956">
                <a:moveTo>
                  <a:pt x="92690" y="0"/>
                </a:moveTo>
                <a:lnTo>
                  <a:pt x="1008037" y="0"/>
                </a:lnTo>
                <a:cubicBezTo>
                  <a:pt x="1059228" y="0"/>
                  <a:pt x="1100727" y="41499"/>
                  <a:pt x="1100727" y="92690"/>
                </a:cubicBezTo>
                <a:lnTo>
                  <a:pt x="1100727" y="637266"/>
                </a:lnTo>
                <a:cubicBezTo>
                  <a:pt x="1100727" y="688457"/>
                  <a:pt x="1059228" y="729956"/>
                  <a:pt x="1008037" y="729956"/>
                </a:cubicBezTo>
                <a:lnTo>
                  <a:pt x="92690" y="729956"/>
                </a:lnTo>
                <a:cubicBezTo>
                  <a:pt x="41499" y="729956"/>
                  <a:pt x="0" y="688457"/>
                  <a:pt x="0" y="637266"/>
                </a:cubicBezTo>
                <a:lnTo>
                  <a:pt x="0" y="92690"/>
                </a:lnTo>
                <a:cubicBezTo>
                  <a:pt x="0" y="41499"/>
                  <a:pt x="41499" y="0"/>
                  <a:pt x="92690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5"/>
          <p:cNvSpPr/>
          <p:nvPr/>
        </p:nvSpPr>
        <p:spPr>
          <a:xfrm>
            <a:off x="11684996" y="7137798"/>
            <a:ext cx="637263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边缘层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1690789" y="7369530"/>
            <a:ext cx="625676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边缘网关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12779929" y="7253664"/>
            <a:ext cx="278078" cy="278078"/>
          </a:xfrm>
          <a:custGeom>
            <a:avLst/>
            <a:gdLst/>
            <a:ahLst/>
            <a:cxnLst/>
            <a:rect l="l" t="t" r="r" b="b"/>
            <a:pathLst>
              <a:path w="278078" h="278078">
                <a:moveTo>
                  <a:pt x="272973" y="151314"/>
                </a:moveTo>
                <a:cubicBezTo>
                  <a:pt x="279762" y="144525"/>
                  <a:pt x="279762" y="133499"/>
                  <a:pt x="272973" y="126710"/>
                </a:cubicBezTo>
                <a:lnTo>
                  <a:pt x="186074" y="39811"/>
                </a:lnTo>
                <a:cubicBezTo>
                  <a:pt x="179285" y="33022"/>
                  <a:pt x="168259" y="33022"/>
                  <a:pt x="161470" y="39811"/>
                </a:cubicBezTo>
                <a:cubicBezTo>
                  <a:pt x="154681" y="46600"/>
                  <a:pt x="154681" y="57625"/>
                  <a:pt x="161470" y="64414"/>
                </a:cubicBezTo>
                <a:lnTo>
                  <a:pt x="218715" y="121659"/>
                </a:lnTo>
                <a:lnTo>
                  <a:pt x="17380" y="121659"/>
                </a:lnTo>
                <a:cubicBezTo>
                  <a:pt x="7767" y="121659"/>
                  <a:pt x="0" y="129426"/>
                  <a:pt x="0" y="139039"/>
                </a:cubicBezTo>
                <a:cubicBezTo>
                  <a:pt x="0" y="148652"/>
                  <a:pt x="7767" y="156419"/>
                  <a:pt x="17380" y="156419"/>
                </a:cubicBezTo>
                <a:lnTo>
                  <a:pt x="218715" y="156419"/>
                </a:lnTo>
                <a:lnTo>
                  <a:pt x="161470" y="213664"/>
                </a:lnTo>
                <a:cubicBezTo>
                  <a:pt x="154681" y="220453"/>
                  <a:pt x="154681" y="231479"/>
                  <a:pt x="161470" y="238268"/>
                </a:cubicBezTo>
                <a:cubicBezTo>
                  <a:pt x="168259" y="245057"/>
                  <a:pt x="179285" y="245057"/>
                  <a:pt x="186074" y="238268"/>
                </a:cubicBezTo>
                <a:lnTo>
                  <a:pt x="272973" y="151368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8"/>
          <p:cNvSpPr/>
          <p:nvPr/>
        </p:nvSpPr>
        <p:spPr>
          <a:xfrm>
            <a:off x="13283947" y="6981379"/>
            <a:ext cx="1100727" cy="729956"/>
          </a:xfrm>
          <a:custGeom>
            <a:avLst/>
            <a:gdLst/>
            <a:ahLst/>
            <a:cxnLst/>
            <a:rect l="l" t="t" r="r" b="b"/>
            <a:pathLst>
              <a:path w="1100727" h="729956">
                <a:moveTo>
                  <a:pt x="92690" y="0"/>
                </a:moveTo>
                <a:lnTo>
                  <a:pt x="1008037" y="0"/>
                </a:lnTo>
                <a:cubicBezTo>
                  <a:pt x="1059228" y="0"/>
                  <a:pt x="1100727" y="41499"/>
                  <a:pt x="1100727" y="92690"/>
                </a:cubicBezTo>
                <a:lnTo>
                  <a:pt x="1100727" y="637266"/>
                </a:lnTo>
                <a:cubicBezTo>
                  <a:pt x="1100727" y="688457"/>
                  <a:pt x="1059228" y="729956"/>
                  <a:pt x="1008037" y="729956"/>
                </a:cubicBezTo>
                <a:lnTo>
                  <a:pt x="92690" y="729956"/>
                </a:lnTo>
                <a:cubicBezTo>
                  <a:pt x="41499" y="729956"/>
                  <a:pt x="0" y="688457"/>
                  <a:pt x="0" y="637266"/>
                </a:cubicBezTo>
                <a:lnTo>
                  <a:pt x="0" y="92690"/>
                </a:lnTo>
                <a:cubicBezTo>
                  <a:pt x="0" y="41499"/>
                  <a:pt x="41499" y="0"/>
                  <a:pt x="92690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59"/>
          <p:cNvSpPr/>
          <p:nvPr/>
        </p:nvSpPr>
        <p:spPr>
          <a:xfrm>
            <a:off x="13446159" y="7137798"/>
            <a:ext cx="776302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云端层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13451952" y="7369530"/>
            <a:ext cx="764716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大数据分析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8415674" y="7995207"/>
            <a:ext cx="3626606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分布式特点:</a:t>
            </a:r>
            <a:r>
              <a:rPr lang="en-US" sz="127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地理分布、异构性、实时性、规模性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12049974" y="7995207"/>
            <a:ext cx="3626606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应用场景:</a:t>
            </a:r>
            <a:r>
              <a:rPr lang="en-US" sz="127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智能家居、工业物联网、智慧城市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2014538"/>
            <a:ext cx="3479800" cy="863600"/>
          </a:xfrm>
          <a:custGeom>
            <a:avLst/>
            <a:gdLst/>
            <a:ahLst/>
            <a:cxnLst/>
            <a:rect l="l" t="t" r="r" b="b"/>
            <a:pathLst>
              <a:path w="3479800" h="863600">
                <a:moveTo>
                  <a:pt x="101603" y="0"/>
                </a:moveTo>
                <a:lnTo>
                  <a:pt x="3378197" y="0"/>
                </a:lnTo>
                <a:cubicBezTo>
                  <a:pt x="3434311" y="0"/>
                  <a:pt x="3479800" y="45489"/>
                  <a:pt x="3479800" y="101603"/>
                </a:cubicBezTo>
                <a:lnTo>
                  <a:pt x="3479800" y="761997"/>
                </a:lnTo>
                <a:cubicBezTo>
                  <a:pt x="3479800" y="818111"/>
                  <a:pt x="3434311" y="863600"/>
                  <a:pt x="33781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14400" y="2192338"/>
            <a:ext cx="286137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kern="0" spc="300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284538"/>
            <a:ext cx="1584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核心挑战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214938"/>
            <a:ext cx="99441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理解分布式系统面临的基础设施与应用层挑战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4350" y="6450013"/>
            <a:ext cx="2679700" cy="673100"/>
          </a:xfrm>
          <a:custGeom>
            <a:avLst/>
            <a:gdLst/>
            <a:ahLst/>
            <a:cxnLst/>
            <a:rect l="l" t="t" r="r" b="b"/>
            <a:pathLst>
              <a:path w="2679700" h="673100">
                <a:moveTo>
                  <a:pt x="101598" y="0"/>
                </a:moveTo>
                <a:lnTo>
                  <a:pt x="2578102" y="0"/>
                </a:lnTo>
                <a:cubicBezTo>
                  <a:pt x="2634213" y="0"/>
                  <a:pt x="2679700" y="45487"/>
                  <a:pt x="2679700" y="101598"/>
                </a:cubicBezTo>
                <a:lnTo>
                  <a:pt x="2679700" y="571502"/>
                </a:lnTo>
                <a:cubicBezTo>
                  <a:pt x="2679700" y="627613"/>
                  <a:pt x="2634213" y="673100"/>
                  <a:pt x="2578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41375" y="666591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23031" y="43656"/>
                </a:moveTo>
                <a:lnTo>
                  <a:pt x="162719" y="43656"/>
                </a:lnTo>
                <a:lnTo>
                  <a:pt x="162719" y="67469"/>
                </a:lnTo>
                <a:lnTo>
                  <a:pt x="123031" y="67469"/>
                </a:lnTo>
                <a:lnTo>
                  <a:pt x="123031" y="43656"/>
                </a:lnTo>
                <a:close/>
                <a:moveTo>
                  <a:pt x="119063" y="15875"/>
                </a:moveTo>
                <a:cubicBezTo>
                  <a:pt x="105916" y="15875"/>
                  <a:pt x="95250" y="26541"/>
                  <a:pt x="95250" y="39688"/>
                </a:cubicBezTo>
                <a:lnTo>
                  <a:pt x="95250" y="71438"/>
                </a:lnTo>
                <a:cubicBezTo>
                  <a:pt x="95250" y="84584"/>
                  <a:pt x="105916" y="95250"/>
                  <a:pt x="119063" y="95250"/>
                </a:cubicBezTo>
                <a:lnTo>
                  <a:pt x="127000" y="95250"/>
                </a:lnTo>
                <a:lnTo>
                  <a:pt x="127000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63500" y="142875"/>
                </a:lnTo>
                <a:lnTo>
                  <a:pt x="63500" y="158750"/>
                </a:lnTo>
                <a:lnTo>
                  <a:pt x="55563" y="158750"/>
                </a:lnTo>
                <a:cubicBezTo>
                  <a:pt x="42416" y="158750"/>
                  <a:pt x="31750" y="169416"/>
                  <a:pt x="31750" y="182563"/>
                </a:cubicBezTo>
                <a:lnTo>
                  <a:pt x="31750" y="214313"/>
                </a:lnTo>
                <a:cubicBezTo>
                  <a:pt x="31750" y="227459"/>
                  <a:pt x="42416" y="238125"/>
                  <a:pt x="55563" y="238125"/>
                </a:cubicBezTo>
                <a:lnTo>
                  <a:pt x="103188" y="238125"/>
                </a:lnTo>
                <a:cubicBezTo>
                  <a:pt x="116334" y="238125"/>
                  <a:pt x="127000" y="227459"/>
                  <a:pt x="127000" y="214313"/>
                </a:cubicBezTo>
                <a:lnTo>
                  <a:pt x="127000" y="182563"/>
                </a:lnTo>
                <a:cubicBezTo>
                  <a:pt x="127000" y="169416"/>
                  <a:pt x="116334" y="158750"/>
                  <a:pt x="103188" y="158750"/>
                </a:cubicBezTo>
                <a:lnTo>
                  <a:pt x="95250" y="158750"/>
                </a:lnTo>
                <a:lnTo>
                  <a:pt x="95250" y="142875"/>
                </a:lnTo>
                <a:lnTo>
                  <a:pt x="190500" y="142875"/>
                </a:lnTo>
                <a:lnTo>
                  <a:pt x="190500" y="158750"/>
                </a:lnTo>
                <a:lnTo>
                  <a:pt x="182563" y="158750"/>
                </a:lnTo>
                <a:cubicBezTo>
                  <a:pt x="169416" y="158750"/>
                  <a:pt x="158750" y="169416"/>
                  <a:pt x="158750" y="182563"/>
                </a:cubicBezTo>
                <a:lnTo>
                  <a:pt x="158750" y="214313"/>
                </a:lnTo>
                <a:cubicBezTo>
                  <a:pt x="158750" y="227459"/>
                  <a:pt x="169416" y="238125"/>
                  <a:pt x="182563" y="238125"/>
                </a:cubicBezTo>
                <a:lnTo>
                  <a:pt x="230188" y="238125"/>
                </a:lnTo>
                <a:cubicBezTo>
                  <a:pt x="243334" y="238125"/>
                  <a:pt x="254000" y="227459"/>
                  <a:pt x="254000" y="214313"/>
                </a:cubicBezTo>
                <a:lnTo>
                  <a:pt x="254000" y="182563"/>
                </a:lnTo>
                <a:cubicBezTo>
                  <a:pt x="254000" y="169416"/>
                  <a:pt x="243334" y="158750"/>
                  <a:pt x="230188" y="158750"/>
                </a:cubicBezTo>
                <a:lnTo>
                  <a:pt x="222250" y="158750"/>
                </a:lnTo>
                <a:lnTo>
                  <a:pt x="222250" y="142875"/>
                </a:lnTo>
                <a:lnTo>
                  <a:pt x="269875" y="142875"/>
                </a:lnTo>
                <a:cubicBezTo>
                  <a:pt x="278656" y="142875"/>
                  <a:pt x="285750" y="135781"/>
                  <a:pt x="285750" y="127000"/>
                </a:cubicBezTo>
                <a:cubicBezTo>
                  <a:pt x="285750" y="118219"/>
                  <a:pt x="278656" y="111125"/>
                  <a:pt x="269875" y="111125"/>
                </a:cubicBezTo>
                <a:lnTo>
                  <a:pt x="158750" y="111125"/>
                </a:lnTo>
                <a:lnTo>
                  <a:pt x="158750" y="95250"/>
                </a:lnTo>
                <a:lnTo>
                  <a:pt x="166688" y="95250"/>
                </a:lnTo>
                <a:cubicBezTo>
                  <a:pt x="179834" y="95250"/>
                  <a:pt x="190500" y="84584"/>
                  <a:pt x="190500" y="71438"/>
                </a:cubicBezTo>
                <a:lnTo>
                  <a:pt x="190500" y="39688"/>
                </a:lnTo>
                <a:cubicBezTo>
                  <a:pt x="190500" y="26541"/>
                  <a:pt x="179834" y="15875"/>
                  <a:pt x="166688" y="15875"/>
                </a:cubicBezTo>
                <a:lnTo>
                  <a:pt x="119063" y="15875"/>
                </a:lnTo>
                <a:close/>
                <a:moveTo>
                  <a:pt x="222250" y="186531"/>
                </a:moveTo>
                <a:lnTo>
                  <a:pt x="226219" y="186531"/>
                </a:lnTo>
                <a:lnTo>
                  <a:pt x="226219" y="210344"/>
                </a:lnTo>
                <a:lnTo>
                  <a:pt x="186531" y="210344"/>
                </a:lnTo>
                <a:lnTo>
                  <a:pt x="186531" y="186531"/>
                </a:lnTo>
                <a:lnTo>
                  <a:pt x="222250" y="186531"/>
                </a:lnTo>
                <a:close/>
                <a:moveTo>
                  <a:pt x="95250" y="186531"/>
                </a:moveTo>
                <a:lnTo>
                  <a:pt x="99219" y="186531"/>
                </a:lnTo>
                <a:lnTo>
                  <a:pt x="99219" y="210344"/>
                </a:lnTo>
                <a:lnTo>
                  <a:pt x="59531" y="210344"/>
                </a:lnTo>
                <a:lnTo>
                  <a:pt x="59531" y="186531"/>
                </a:lnTo>
                <a:lnTo>
                  <a:pt x="95250" y="186531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354138" y="6615113"/>
            <a:ext cx="16510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网络不可靠性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06788" y="6450013"/>
            <a:ext cx="2171700" cy="673100"/>
          </a:xfrm>
          <a:custGeom>
            <a:avLst/>
            <a:gdLst/>
            <a:ahLst/>
            <a:cxnLst/>
            <a:rect l="l" t="t" r="r" b="b"/>
            <a:pathLst>
              <a:path w="2171700" h="673100">
                <a:moveTo>
                  <a:pt x="101598" y="0"/>
                </a:moveTo>
                <a:lnTo>
                  <a:pt x="2070102" y="0"/>
                </a:lnTo>
                <a:cubicBezTo>
                  <a:pt x="2126213" y="0"/>
                  <a:pt x="2171700" y="45487"/>
                  <a:pt x="2171700" y="101598"/>
                </a:cubicBezTo>
                <a:lnTo>
                  <a:pt x="2171700" y="571502"/>
                </a:lnTo>
                <a:cubicBezTo>
                  <a:pt x="2171700" y="627613"/>
                  <a:pt x="2126213" y="673100"/>
                  <a:pt x="2070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3849688" y="66659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346575" y="6615113"/>
            <a:ext cx="11430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时钟同步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91225" y="6450013"/>
            <a:ext cx="2425700" cy="673100"/>
          </a:xfrm>
          <a:custGeom>
            <a:avLst/>
            <a:gdLst/>
            <a:ahLst/>
            <a:cxnLst/>
            <a:rect l="l" t="t" r="r" b="b"/>
            <a:pathLst>
              <a:path w="2425700" h="673100">
                <a:moveTo>
                  <a:pt x="101598" y="0"/>
                </a:moveTo>
                <a:lnTo>
                  <a:pt x="2324102" y="0"/>
                </a:lnTo>
                <a:cubicBezTo>
                  <a:pt x="2380213" y="0"/>
                  <a:pt x="2425700" y="45487"/>
                  <a:pt x="2425700" y="101598"/>
                </a:cubicBezTo>
                <a:lnTo>
                  <a:pt x="2425700" y="571502"/>
                </a:lnTo>
                <a:cubicBezTo>
                  <a:pt x="2425700" y="627613"/>
                  <a:pt x="2380213" y="673100"/>
                  <a:pt x="2324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6334125" y="66659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6377" y="18008"/>
                </a:moveTo>
                <a:cubicBezTo>
                  <a:pt x="71785" y="21779"/>
                  <a:pt x="73075" y="29220"/>
                  <a:pt x="69304" y="34578"/>
                </a:cubicBezTo>
                <a:lnTo>
                  <a:pt x="41523" y="74265"/>
                </a:lnTo>
                <a:cubicBezTo>
                  <a:pt x="39489" y="77143"/>
                  <a:pt x="36314" y="78978"/>
                  <a:pt x="32792" y="79276"/>
                </a:cubicBezTo>
                <a:cubicBezTo>
                  <a:pt x="29270" y="79573"/>
                  <a:pt x="25797" y="78383"/>
                  <a:pt x="23316" y="75902"/>
                </a:cubicBezTo>
                <a:lnTo>
                  <a:pt x="3473" y="56059"/>
                </a:lnTo>
                <a:cubicBezTo>
                  <a:pt x="-1141" y="51395"/>
                  <a:pt x="-1141" y="43855"/>
                  <a:pt x="3473" y="39191"/>
                </a:cubicBezTo>
                <a:cubicBezTo>
                  <a:pt x="8086" y="34528"/>
                  <a:pt x="15677" y="34578"/>
                  <a:pt x="20340" y="39191"/>
                </a:cubicBezTo>
                <a:lnTo>
                  <a:pt x="30163" y="49014"/>
                </a:lnTo>
                <a:lnTo>
                  <a:pt x="49808" y="20935"/>
                </a:lnTo>
                <a:cubicBezTo>
                  <a:pt x="53578" y="15528"/>
                  <a:pt x="61020" y="14238"/>
                  <a:pt x="66377" y="18008"/>
                </a:cubicBezTo>
                <a:close/>
                <a:moveTo>
                  <a:pt x="66377" y="97383"/>
                </a:moveTo>
                <a:cubicBezTo>
                  <a:pt x="71785" y="101154"/>
                  <a:pt x="73075" y="108595"/>
                  <a:pt x="69304" y="113953"/>
                </a:cubicBezTo>
                <a:lnTo>
                  <a:pt x="41523" y="153640"/>
                </a:lnTo>
                <a:cubicBezTo>
                  <a:pt x="39489" y="156518"/>
                  <a:pt x="36314" y="158353"/>
                  <a:pt x="32792" y="158651"/>
                </a:cubicBezTo>
                <a:cubicBezTo>
                  <a:pt x="29270" y="158948"/>
                  <a:pt x="25797" y="157758"/>
                  <a:pt x="23316" y="155277"/>
                </a:cubicBezTo>
                <a:lnTo>
                  <a:pt x="3473" y="135434"/>
                </a:lnTo>
                <a:cubicBezTo>
                  <a:pt x="-1191" y="130770"/>
                  <a:pt x="-1191" y="123230"/>
                  <a:pt x="3473" y="118616"/>
                </a:cubicBezTo>
                <a:cubicBezTo>
                  <a:pt x="8136" y="114002"/>
                  <a:pt x="15677" y="113953"/>
                  <a:pt x="20290" y="118616"/>
                </a:cubicBezTo>
                <a:lnTo>
                  <a:pt x="30113" y="128439"/>
                </a:lnTo>
                <a:lnTo>
                  <a:pt x="49758" y="100360"/>
                </a:lnTo>
                <a:cubicBezTo>
                  <a:pt x="53529" y="94952"/>
                  <a:pt x="60970" y="93662"/>
                  <a:pt x="66328" y="97433"/>
                </a:cubicBezTo>
                <a:close/>
                <a:moveTo>
                  <a:pt x="111125" y="47625"/>
                </a:moveTo>
                <a:cubicBezTo>
                  <a:pt x="111125" y="38844"/>
                  <a:pt x="118219" y="31750"/>
                  <a:pt x="127000" y="31750"/>
                </a:cubicBezTo>
                <a:lnTo>
                  <a:pt x="238125" y="31750"/>
                </a:lnTo>
                <a:cubicBezTo>
                  <a:pt x="246906" y="31750"/>
                  <a:pt x="254000" y="38844"/>
                  <a:pt x="254000" y="47625"/>
                </a:cubicBezTo>
                <a:cubicBezTo>
                  <a:pt x="254000" y="56406"/>
                  <a:pt x="246906" y="63500"/>
                  <a:pt x="238125" y="63500"/>
                </a:cubicBezTo>
                <a:lnTo>
                  <a:pt x="127000" y="63500"/>
                </a:lnTo>
                <a:cubicBezTo>
                  <a:pt x="118219" y="63500"/>
                  <a:pt x="111125" y="56406"/>
                  <a:pt x="111125" y="47625"/>
                </a:cubicBezTo>
                <a:close/>
                <a:moveTo>
                  <a:pt x="111125" y="127000"/>
                </a:moveTo>
                <a:cubicBezTo>
                  <a:pt x="111125" y="118219"/>
                  <a:pt x="118219" y="111125"/>
                  <a:pt x="127000" y="111125"/>
                </a:cubicBezTo>
                <a:lnTo>
                  <a:pt x="238125" y="111125"/>
                </a:lnTo>
                <a:cubicBezTo>
                  <a:pt x="246906" y="111125"/>
                  <a:pt x="254000" y="118219"/>
                  <a:pt x="254000" y="127000"/>
                </a:cubicBezTo>
                <a:cubicBezTo>
                  <a:pt x="254000" y="135781"/>
                  <a:pt x="246906" y="142875"/>
                  <a:pt x="238125" y="142875"/>
                </a:cubicBezTo>
                <a:lnTo>
                  <a:pt x="127000" y="142875"/>
                </a:lnTo>
                <a:cubicBezTo>
                  <a:pt x="118219" y="142875"/>
                  <a:pt x="111125" y="135781"/>
                  <a:pt x="111125" y="127000"/>
                </a:cubicBezTo>
                <a:close/>
                <a:moveTo>
                  <a:pt x="79375" y="206375"/>
                </a:moveTo>
                <a:cubicBezTo>
                  <a:pt x="79375" y="197594"/>
                  <a:pt x="86469" y="190500"/>
                  <a:pt x="95250" y="190500"/>
                </a:cubicBezTo>
                <a:lnTo>
                  <a:pt x="238125" y="190500"/>
                </a:lnTo>
                <a:cubicBezTo>
                  <a:pt x="246906" y="190500"/>
                  <a:pt x="254000" y="197594"/>
                  <a:pt x="254000" y="206375"/>
                </a:cubicBezTo>
                <a:cubicBezTo>
                  <a:pt x="254000" y="215156"/>
                  <a:pt x="246906" y="222250"/>
                  <a:pt x="238125" y="222250"/>
                </a:cubicBezTo>
                <a:lnTo>
                  <a:pt x="95250" y="222250"/>
                </a:lnTo>
                <a:cubicBezTo>
                  <a:pt x="86469" y="222250"/>
                  <a:pt x="79375" y="215156"/>
                  <a:pt x="79375" y="206375"/>
                </a:cubicBezTo>
                <a:close/>
                <a:moveTo>
                  <a:pt x="31750" y="186531"/>
                </a:moveTo>
                <a:cubicBezTo>
                  <a:pt x="42702" y="186531"/>
                  <a:pt x="51594" y="195423"/>
                  <a:pt x="51594" y="206375"/>
                </a:cubicBezTo>
                <a:cubicBezTo>
                  <a:pt x="51594" y="217327"/>
                  <a:pt x="42702" y="226219"/>
                  <a:pt x="31750" y="226219"/>
                </a:cubicBezTo>
                <a:cubicBezTo>
                  <a:pt x="20798" y="226219"/>
                  <a:pt x="11906" y="217327"/>
                  <a:pt x="11906" y="206375"/>
                </a:cubicBezTo>
                <a:cubicBezTo>
                  <a:pt x="11906" y="195423"/>
                  <a:pt x="20798" y="186531"/>
                  <a:pt x="31750" y="18653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831013" y="6615113"/>
            <a:ext cx="13970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应用层挑战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437" y="506437"/>
            <a:ext cx="3063631" cy="512689"/>
          </a:xfrm>
          <a:custGeom>
            <a:avLst/>
            <a:gdLst/>
            <a:ahLst/>
            <a:cxnLst/>
            <a:rect l="l" t="t" r="r" b="b"/>
            <a:pathLst>
              <a:path w="3063631" h="512689">
                <a:moveTo>
                  <a:pt x="50018" y="0"/>
                </a:moveTo>
                <a:lnTo>
                  <a:pt x="3013613" y="0"/>
                </a:lnTo>
                <a:cubicBezTo>
                  <a:pt x="3041237" y="0"/>
                  <a:pt x="3063631" y="22394"/>
                  <a:pt x="3063631" y="50018"/>
                </a:cubicBezTo>
                <a:lnTo>
                  <a:pt x="3063631" y="462671"/>
                </a:lnTo>
                <a:cubicBezTo>
                  <a:pt x="3063631" y="490295"/>
                  <a:pt x="3041237" y="512689"/>
                  <a:pt x="3013613" y="512689"/>
                </a:cubicBezTo>
                <a:lnTo>
                  <a:pt x="50018" y="512689"/>
                </a:lnTo>
                <a:cubicBezTo>
                  <a:pt x="22394" y="512689"/>
                  <a:pt x="0" y="490295"/>
                  <a:pt x="0" y="462671"/>
                </a:cubicBezTo>
                <a:lnTo>
                  <a:pt x="0" y="50018"/>
                </a:lnTo>
                <a:cubicBezTo>
                  <a:pt x="0" y="22412"/>
                  <a:pt x="22412" y="0"/>
                  <a:pt x="50018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12763" y="631483"/>
            <a:ext cx="2756095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kern="0" spc="79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UNRELIABILITY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0185" y="1125415"/>
            <a:ext cx="15480714" cy="50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4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网络不可靠性:分布式系统的根本挑战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6437" y="1781908"/>
            <a:ext cx="15243126" cy="3226191"/>
          </a:xfrm>
          <a:custGeom>
            <a:avLst/>
            <a:gdLst/>
            <a:ahLst/>
            <a:cxnLst/>
            <a:rect l="l" t="t" r="r" b="b"/>
            <a:pathLst>
              <a:path w="15243126" h="3226191">
                <a:moveTo>
                  <a:pt x="100044" y="0"/>
                </a:moveTo>
                <a:lnTo>
                  <a:pt x="15143082" y="0"/>
                </a:lnTo>
                <a:cubicBezTo>
                  <a:pt x="15198335" y="0"/>
                  <a:pt x="15243126" y="44791"/>
                  <a:pt x="15243126" y="100044"/>
                </a:cubicBezTo>
                <a:lnTo>
                  <a:pt x="15243126" y="3126147"/>
                </a:lnTo>
                <a:cubicBezTo>
                  <a:pt x="15243126" y="3181399"/>
                  <a:pt x="15198335" y="3226191"/>
                  <a:pt x="15143082" y="3226191"/>
                </a:cubicBezTo>
                <a:lnTo>
                  <a:pt x="100044" y="3226191"/>
                </a:lnTo>
                <a:cubicBezTo>
                  <a:pt x="44791" y="3226191"/>
                  <a:pt x="0" y="3181399"/>
                  <a:pt x="0" y="3126147"/>
                </a:cubicBezTo>
                <a:lnTo>
                  <a:pt x="0" y="100044"/>
                </a:lnTo>
                <a:cubicBezTo>
                  <a:pt x="0" y="44828"/>
                  <a:pt x="44828" y="0"/>
                  <a:pt x="10004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12689" y="1788160"/>
            <a:ext cx="15230622" cy="656492"/>
          </a:xfrm>
          <a:custGeom>
            <a:avLst/>
            <a:gdLst/>
            <a:ahLst/>
            <a:cxnLst/>
            <a:rect l="l" t="t" r="r" b="b"/>
            <a:pathLst>
              <a:path w="15230622" h="656492">
                <a:moveTo>
                  <a:pt x="0" y="0"/>
                </a:moveTo>
                <a:lnTo>
                  <a:pt x="15230622" y="0"/>
                </a:lnTo>
                <a:lnTo>
                  <a:pt x="15230622" y="656492"/>
                </a:lnTo>
                <a:lnTo>
                  <a:pt x="0" y="656492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2689" y="2444652"/>
            <a:ext cx="15230622" cy="12505"/>
          </a:xfrm>
          <a:custGeom>
            <a:avLst/>
            <a:gdLst/>
            <a:ahLst/>
            <a:cxnLst/>
            <a:rect l="l" t="t" r="r" b="b"/>
            <a:pathLst>
              <a:path w="15230622" h="12505">
                <a:moveTo>
                  <a:pt x="0" y="0"/>
                </a:moveTo>
                <a:lnTo>
                  <a:pt x="15230622" y="0"/>
                </a:lnTo>
                <a:lnTo>
                  <a:pt x="15230622" y="12505"/>
                </a:lnTo>
                <a:lnTo>
                  <a:pt x="0" y="12505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44062" y="1988234"/>
            <a:ext cx="250092" cy="250092"/>
          </a:xfrm>
          <a:custGeom>
            <a:avLst/>
            <a:gdLst/>
            <a:ahLst/>
            <a:cxnLst/>
            <a:rect l="l" t="t" r="r" b="b"/>
            <a:pathLst>
              <a:path w="250092" h="250092">
                <a:moveTo>
                  <a:pt x="125046" y="0"/>
                </a:moveTo>
                <a:cubicBezTo>
                  <a:pt x="132227" y="0"/>
                  <a:pt x="138821" y="3957"/>
                  <a:pt x="142240" y="10258"/>
                </a:cubicBezTo>
                <a:lnTo>
                  <a:pt x="247748" y="205642"/>
                </a:lnTo>
                <a:cubicBezTo>
                  <a:pt x="251020" y="211699"/>
                  <a:pt x="250874" y="219026"/>
                  <a:pt x="247357" y="224937"/>
                </a:cubicBezTo>
                <a:cubicBezTo>
                  <a:pt x="243840" y="230847"/>
                  <a:pt x="237441" y="234462"/>
                  <a:pt x="230554" y="234462"/>
                </a:cubicBezTo>
                <a:lnTo>
                  <a:pt x="19538" y="234462"/>
                </a:lnTo>
                <a:cubicBezTo>
                  <a:pt x="12651" y="234462"/>
                  <a:pt x="6301" y="230847"/>
                  <a:pt x="2735" y="224937"/>
                </a:cubicBezTo>
                <a:cubicBezTo>
                  <a:pt x="-830" y="219026"/>
                  <a:pt x="-928" y="211699"/>
                  <a:pt x="2345" y="205642"/>
                </a:cubicBezTo>
                <a:lnTo>
                  <a:pt x="107852" y="10258"/>
                </a:lnTo>
                <a:cubicBezTo>
                  <a:pt x="111272" y="3957"/>
                  <a:pt x="117866" y="0"/>
                  <a:pt x="125046" y="0"/>
                </a:cubicBezTo>
                <a:close/>
                <a:moveTo>
                  <a:pt x="125046" y="82062"/>
                </a:moveTo>
                <a:cubicBezTo>
                  <a:pt x="118550" y="82062"/>
                  <a:pt x="113323" y="87288"/>
                  <a:pt x="113323" y="93785"/>
                </a:cubicBezTo>
                <a:lnTo>
                  <a:pt x="113323" y="148492"/>
                </a:lnTo>
                <a:cubicBezTo>
                  <a:pt x="113323" y="154989"/>
                  <a:pt x="118550" y="160215"/>
                  <a:pt x="125046" y="160215"/>
                </a:cubicBezTo>
                <a:cubicBezTo>
                  <a:pt x="131543" y="160215"/>
                  <a:pt x="136769" y="154989"/>
                  <a:pt x="136769" y="148492"/>
                </a:cubicBezTo>
                <a:lnTo>
                  <a:pt x="136769" y="93785"/>
                </a:lnTo>
                <a:cubicBezTo>
                  <a:pt x="136769" y="87288"/>
                  <a:pt x="131543" y="82062"/>
                  <a:pt x="125046" y="82062"/>
                </a:cubicBezTo>
                <a:close/>
                <a:moveTo>
                  <a:pt x="138088" y="187569"/>
                </a:moveTo>
                <a:cubicBezTo>
                  <a:pt x="138385" y="182728"/>
                  <a:pt x="135971" y="178122"/>
                  <a:pt x="131821" y="175612"/>
                </a:cubicBezTo>
                <a:cubicBezTo>
                  <a:pt x="127671" y="173102"/>
                  <a:pt x="122470" y="173102"/>
                  <a:pt x="118321" y="175612"/>
                </a:cubicBezTo>
                <a:cubicBezTo>
                  <a:pt x="114171" y="178122"/>
                  <a:pt x="111756" y="182728"/>
                  <a:pt x="112053" y="187569"/>
                </a:cubicBezTo>
                <a:cubicBezTo>
                  <a:pt x="111756" y="192410"/>
                  <a:pt x="114171" y="197016"/>
                  <a:pt x="118321" y="199526"/>
                </a:cubicBezTo>
                <a:cubicBezTo>
                  <a:pt x="122470" y="202036"/>
                  <a:pt x="127671" y="202036"/>
                  <a:pt x="131821" y="199526"/>
                </a:cubicBezTo>
                <a:cubicBezTo>
                  <a:pt x="135971" y="197016"/>
                  <a:pt x="138385" y="192410"/>
                  <a:pt x="138088" y="187569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73162" y="1938215"/>
            <a:ext cx="14295084" cy="35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网络问题类型与解决策略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745" y="2600960"/>
          <a:ext cx="14930512" cy="2250834"/>
        </p:xfrm>
        <a:graphic>
          <a:graphicData uri="http://schemas.openxmlformats.org/drawingml/2006/table">
            <a:tbl>
              <a:tblPr/>
              <a:tblGrid>
                <a:gridCol w="1251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139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问题类型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具体表现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解决策略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139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网络延迟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消息传输时间不确定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响应时间不可预测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超时机制、异步处理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139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网络分区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节点间无法通信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系统被分割为多个子系统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分区容错设计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139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消息丢失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网络包在传输过程中丢失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数据不一致、操作失败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重传机制、确认机制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139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消息乱序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消息到达顺序与发送顺序不同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状态不一致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序列号、向量时钟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139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消息重复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同一消息被多次接收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重复操作、数据错误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幂等性设计、去重机制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06437" y="5170658"/>
            <a:ext cx="7515274" cy="3463778"/>
          </a:xfrm>
          <a:custGeom>
            <a:avLst/>
            <a:gdLst/>
            <a:ahLst/>
            <a:cxnLst/>
            <a:rect l="l" t="t" r="r" b="b"/>
            <a:pathLst>
              <a:path w="7515274" h="3463778">
                <a:moveTo>
                  <a:pt x="100034" y="0"/>
                </a:moveTo>
                <a:lnTo>
                  <a:pt x="7415240" y="0"/>
                </a:lnTo>
                <a:cubicBezTo>
                  <a:pt x="7470487" y="0"/>
                  <a:pt x="7515274" y="44787"/>
                  <a:pt x="7515274" y="100034"/>
                </a:cubicBezTo>
                <a:lnTo>
                  <a:pt x="7515274" y="3363745"/>
                </a:lnTo>
                <a:cubicBezTo>
                  <a:pt x="7515274" y="3418992"/>
                  <a:pt x="7470487" y="3463778"/>
                  <a:pt x="7415240" y="3463778"/>
                </a:cubicBezTo>
                <a:lnTo>
                  <a:pt x="100034" y="3463778"/>
                </a:lnTo>
                <a:cubicBezTo>
                  <a:pt x="44787" y="3463778"/>
                  <a:pt x="0" y="3418992"/>
                  <a:pt x="0" y="3363745"/>
                </a:cubicBezTo>
                <a:lnTo>
                  <a:pt x="0" y="100034"/>
                </a:lnTo>
                <a:cubicBezTo>
                  <a:pt x="0" y="44824"/>
                  <a:pt x="44824" y="0"/>
                  <a:pt x="10003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728394" y="5427003"/>
            <a:ext cx="281354" cy="250092"/>
          </a:xfrm>
          <a:custGeom>
            <a:avLst/>
            <a:gdLst/>
            <a:ahLst/>
            <a:cxnLst/>
            <a:rect l="l" t="t" r="r" b="b"/>
            <a:pathLst>
              <a:path w="281354" h="250092">
                <a:moveTo>
                  <a:pt x="20027" y="-12163"/>
                </a:moveTo>
                <a:cubicBezTo>
                  <a:pt x="15435" y="-16754"/>
                  <a:pt x="8011" y="-16754"/>
                  <a:pt x="3468" y="-12163"/>
                </a:cubicBezTo>
                <a:cubicBezTo>
                  <a:pt x="-1075" y="-7571"/>
                  <a:pt x="-1123" y="-147"/>
                  <a:pt x="3419" y="4445"/>
                </a:cubicBezTo>
                <a:lnTo>
                  <a:pt x="261327" y="262353"/>
                </a:lnTo>
                <a:cubicBezTo>
                  <a:pt x="265918" y="266944"/>
                  <a:pt x="273343" y="266944"/>
                  <a:pt x="277886" y="262353"/>
                </a:cubicBezTo>
                <a:cubicBezTo>
                  <a:pt x="282428" y="257761"/>
                  <a:pt x="282477" y="250337"/>
                  <a:pt x="277886" y="245794"/>
                </a:cubicBezTo>
                <a:lnTo>
                  <a:pt x="218293" y="186202"/>
                </a:lnTo>
                <a:cubicBezTo>
                  <a:pt x="220345" y="184541"/>
                  <a:pt x="222348" y="182733"/>
                  <a:pt x="224204" y="180877"/>
                </a:cubicBezTo>
                <a:lnTo>
                  <a:pt x="258933" y="146148"/>
                </a:lnTo>
                <a:cubicBezTo>
                  <a:pt x="273245" y="131836"/>
                  <a:pt x="281305" y="112395"/>
                  <a:pt x="281305" y="92124"/>
                </a:cubicBezTo>
                <a:cubicBezTo>
                  <a:pt x="281305" y="49921"/>
                  <a:pt x="247113" y="15680"/>
                  <a:pt x="204861" y="15680"/>
                </a:cubicBezTo>
                <a:cubicBezTo>
                  <a:pt x="186641" y="15680"/>
                  <a:pt x="169154" y="22176"/>
                  <a:pt x="155380" y="33850"/>
                </a:cubicBezTo>
                <a:cubicBezTo>
                  <a:pt x="165295" y="38784"/>
                  <a:pt x="174283" y="45329"/>
                  <a:pt x="182001" y="53145"/>
                </a:cubicBezTo>
                <a:cubicBezTo>
                  <a:pt x="188888" y="49090"/>
                  <a:pt x="196752" y="46941"/>
                  <a:pt x="204861" y="46941"/>
                </a:cubicBezTo>
                <a:cubicBezTo>
                  <a:pt x="229821" y="46941"/>
                  <a:pt x="250043" y="67163"/>
                  <a:pt x="250043" y="92124"/>
                </a:cubicBezTo>
                <a:cubicBezTo>
                  <a:pt x="250043" y="104091"/>
                  <a:pt x="245305" y="115570"/>
                  <a:pt x="236806" y="124069"/>
                </a:cubicBezTo>
                <a:lnTo>
                  <a:pt x="202077" y="158799"/>
                </a:lnTo>
                <a:cubicBezTo>
                  <a:pt x="200172" y="160704"/>
                  <a:pt x="198120" y="162413"/>
                  <a:pt x="195922" y="163928"/>
                </a:cubicBezTo>
                <a:lnTo>
                  <a:pt x="172720" y="140726"/>
                </a:lnTo>
                <a:cubicBezTo>
                  <a:pt x="180780" y="140286"/>
                  <a:pt x="187227" y="133692"/>
                  <a:pt x="187472" y="125535"/>
                </a:cubicBezTo>
                <a:cubicBezTo>
                  <a:pt x="187472" y="124900"/>
                  <a:pt x="187472" y="124265"/>
                  <a:pt x="187472" y="123630"/>
                </a:cubicBezTo>
                <a:cubicBezTo>
                  <a:pt x="187472" y="81475"/>
                  <a:pt x="153328" y="46990"/>
                  <a:pt x="111027" y="46990"/>
                </a:cubicBezTo>
                <a:cubicBezTo>
                  <a:pt x="101649" y="46990"/>
                  <a:pt x="92515" y="48700"/>
                  <a:pt x="83918" y="51972"/>
                </a:cubicBezTo>
                <a:lnTo>
                  <a:pt x="20027" y="-12163"/>
                </a:lnTo>
                <a:close/>
                <a:moveTo>
                  <a:pt x="110343" y="78154"/>
                </a:moveTo>
                <a:cubicBezTo>
                  <a:pt x="110637" y="78154"/>
                  <a:pt x="110881" y="78154"/>
                  <a:pt x="111174" y="78154"/>
                </a:cubicBezTo>
                <a:cubicBezTo>
                  <a:pt x="118550" y="78154"/>
                  <a:pt x="125583" y="79961"/>
                  <a:pt x="131738" y="83136"/>
                </a:cubicBezTo>
                <a:cubicBezTo>
                  <a:pt x="132617" y="83722"/>
                  <a:pt x="133497" y="84260"/>
                  <a:pt x="134425" y="84650"/>
                </a:cubicBezTo>
                <a:cubicBezTo>
                  <a:pt x="147515" y="92612"/>
                  <a:pt x="156308" y="107071"/>
                  <a:pt x="156308" y="123532"/>
                </a:cubicBezTo>
                <a:cubicBezTo>
                  <a:pt x="156308" y="123727"/>
                  <a:pt x="156308" y="123923"/>
                  <a:pt x="156308" y="124118"/>
                </a:cubicBezTo>
                <a:lnTo>
                  <a:pt x="110343" y="78154"/>
                </a:lnTo>
                <a:close/>
                <a:moveTo>
                  <a:pt x="169105" y="203200"/>
                </a:moveTo>
                <a:lnTo>
                  <a:pt x="93785" y="127879"/>
                </a:lnTo>
                <a:cubicBezTo>
                  <a:pt x="94371" y="169203"/>
                  <a:pt x="127782" y="202565"/>
                  <a:pt x="169057" y="203151"/>
                </a:cubicBezTo>
                <a:close/>
                <a:moveTo>
                  <a:pt x="68238" y="102333"/>
                </a:moveTo>
                <a:lnTo>
                  <a:pt x="46111" y="80205"/>
                </a:lnTo>
                <a:lnTo>
                  <a:pt x="22372" y="103945"/>
                </a:lnTo>
                <a:cubicBezTo>
                  <a:pt x="8060" y="118257"/>
                  <a:pt x="0" y="137697"/>
                  <a:pt x="0" y="157968"/>
                </a:cubicBezTo>
                <a:cubicBezTo>
                  <a:pt x="0" y="200172"/>
                  <a:pt x="34192" y="234413"/>
                  <a:pt x="76444" y="234413"/>
                </a:cubicBezTo>
                <a:cubicBezTo>
                  <a:pt x="94615" y="234413"/>
                  <a:pt x="112151" y="227916"/>
                  <a:pt x="125925" y="216242"/>
                </a:cubicBezTo>
                <a:cubicBezTo>
                  <a:pt x="116010" y="211308"/>
                  <a:pt x="106973" y="204763"/>
                  <a:pt x="99255" y="196948"/>
                </a:cubicBezTo>
                <a:cubicBezTo>
                  <a:pt x="92417" y="200953"/>
                  <a:pt x="84553" y="203102"/>
                  <a:pt x="76444" y="203102"/>
                </a:cubicBezTo>
                <a:cubicBezTo>
                  <a:pt x="51484" y="203102"/>
                  <a:pt x="31262" y="182880"/>
                  <a:pt x="31262" y="157920"/>
                </a:cubicBezTo>
                <a:cubicBezTo>
                  <a:pt x="31262" y="145952"/>
                  <a:pt x="36000" y="134473"/>
                  <a:pt x="44499" y="125974"/>
                </a:cubicBezTo>
                <a:lnTo>
                  <a:pt x="68238" y="102235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173125" y="5376985"/>
            <a:ext cx="6767305" cy="35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网络分区场景分析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2763" y="5827151"/>
            <a:ext cx="7202658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正常网络状态</a:t>
            </a:r>
            <a:endParaRPr lang="en-US" sz="1600" dirty="0"/>
          </a:p>
        </p:txBody>
      </p:sp>
      <p:sp>
        <p:nvSpPr>
          <p:cNvPr id="10" name="Shape 12"/>
          <p:cNvSpPr/>
          <p:nvPr/>
        </p:nvSpPr>
        <p:spPr>
          <a:xfrm>
            <a:off x="719015" y="6183532"/>
            <a:ext cx="2050757" cy="487680"/>
          </a:xfrm>
          <a:custGeom>
            <a:avLst/>
            <a:gdLst/>
            <a:ahLst/>
            <a:cxnLst/>
            <a:rect l="l" t="t" r="r" b="b"/>
            <a:pathLst>
              <a:path w="2050757" h="487680">
                <a:moveTo>
                  <a:pt x="50016" y="0"/>
                </a:moveTo>
                <a:lnTo>
                  <a:pt x="2000740" y="0"/>
                </a:lnTo>
                <a:cubicBezTo>
                  <a:pt x="2028364" y="0"/>
                  <a:pt x="2050757" y="22393"/>
                  <a:pt x="2050757" y="50016"/>
                </a:cubicBezTo>
                <a:lnTo>
                  <a:pt x="2050757" y="437664"/>
                </a:lnTo>
                <a:cubicBezTo>
                  <a:pt x="2050757" y="465287"/>
                  <a:pt x="2028364" y="487680"/>
                  <a:pt x="2000740" y="487680"/>
                </a:cubicBezTo>
                <a:lnTo>
                  <a:pt x="50016" y="487680"/>
                </a:lnTo>
                <a:cubicBezTo>
                  <a:pt x="22393" y="487680"/>
                  <a:pt x="0" y="465287"/>
                  <a:pt x="0" y="437664"/>
                </a:cubicBezTo>
                <a:lnTo>
                  <a:pt x="0" y="50016"/>
                </a:lnTo>
                <a:cubicBezTo>
                  <a:pt x="0" y="22412"/>
                  <a:pt x="22412" y="0"/>
                  <a:pt x="50016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68997" y="6177280"/>
            <a:ext cx="2125785" cy="47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数据中心A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891790" y="6327335"/>
            <a:ext cx="225083" cy="200074"/>
          </a:xfrm>
          <a:custGeom>
            <a:avLst/>
            <a:gdLst/>
            <a:ahLst/>
            <a:cxnLst/>
            <a:rect l="l" t="t" r="r" b="b"/>
            <a:pathLst>
              <a:path w="225083" h="200074">
                <a:moveTo>
                  <a:pt x="163928" y="37514"/>
                </a:moveTo>
                <a:cubicBezTo>
                  <a:pt x="157441" y="37514"/>
                  <a:pt x="151150" y="39272"/>
                  <a:pt x="145640" y="42477"/>
                </a:cubicBezTo>
                <a:cubicBezTo>
                  <a:pt x="139466" y="36224"/>
                  <a:pt x="132275" y="30988"/>
                  <a:pt x="124343" y="27041"/>
                </a:cubicBezTo>
                <a:cubicBezTo>
                  <a:pt x="135362" y="17663"/>
                  <a:pt x="149391" y="12505"/>
                  <a:pt x="163928" y="12505"/>
                </a:cubicBezTo>
                <a:cubicBezTo>
                  <a:pt x="197690" y="12505"/>
                  <a:pt x="225083" y="39858"/>
                  <a:pt x="225083" y="73660"/>
                </a:cubicBezTo>
                <a:cubicBezTo>
                  <a:pt x="225083" y="89877"/>
                  <a:pt x="218635" y="105430"/>
                  <a:pt x="207186" y="116879"/>
                </a:cubicBezTo>
                <a:lnTo>
                  <a:pt x="179402" y="144663"/>
                </a:lnTo>
                <a:cubicBezTo>
                  <a:pt x="167953" y="156112"/>
                  <a:pt x="152400" y="162560"/>
                  <a:pt x="136183" y="162560"/>
                </a:cubicBezTo>
                <a:cubicBezTo>
                  <a:pt x="102421" y="162560"/>
                  <a:pt x="75028" y="135206"/>
                  <a:pt x="75028" y="101405"/>
                </a:cubicBezTo>
                <a:cubicBezTo>
                  <a:pt x="75028" y="100818"/>
                  <a:pt x="75028" y="100232"/>
                  <a:pt x="75067" y="99646"/>
                </a:cubicBezTo>
                <a:cubicBezTo>
                  <a:pt x="75262" y="92730"/>
                  <a:pt x="81006" y="87298"/>
                  <a:pt x="87923" y="87493"/>
                </a:cubicBezTo>
                <a:cubicBezTo>
                  <a:pt x="94840" y="87689"/>
                  <a:pt x="100271" y="93433"/>
                  <a:pt x="100076" y="100350"/>
                </a:cubicBezTo>
                <a:cubicBezTo>
                  <a:pt x="100076" y="100701"/>
                  <a:pt x="100076" y="101053"/>
                  <a:pt x="100076" y="101366"/>
                </a:cubicBezTo>
                <a:cubicBezTo>
                  <a:pt x="100076" y="121334"/>
                  <a:pt x="116254" y="137512"/>
                  <a:pt x="136222" y="137512"/>
                </a:cubicBezTo>
                <a:cubicBezTo>
                  <a:pt x="145796" y="137512"/>
                  <a:pt x="154979" y="133721"/>
                  <a:pt x="161778" y="126922"/>
                </a:cubicBezTo>
                <a:lnTo>
                  <a:pt x="189562" y="99138"/>
                </a:lnTo>
                <a:cubicBezTo>
                  <a:pt x="196322" y="92378"/>
                  <a:pt x="200152" y="83156"/>
                  <a:pt x="200152" y="73582"/>
                </a:cubicBezTo>
                <a:cubicBezTo>
                  <a:pt x="200152" y="53614"/>
                  <a:pt x="183974" y="37436"/>
                  <a:pt x="164006" y="37436"/>
                </a:cubicBezTo>
                <a:close/>
                <a:moveTo>
                  <a:pt x="107540" y="67720"/>
                </a:moveTo>
                <a:cubicBezTo>
                  <a:pt x="106797" y="67408"/>
                  <a:pt x="106055" y="66978"/>
                  <a:pt x="105390" y="66509"/>
                </a:cubicBezTo>
                <a:cubicBezTo>
                  <a:pt x="100467" y="63969"/>
                  <a:pt x="94840" y="62523"/>
                  <a:pt x="88939" y="62523"/>
                </a:cubicBezTo>
                <a:cubicBezTo>
                  <a:pt x="79365" y="62523"/>
                  <a:pt x="70182" y="66314"/>
                  <a:pt x="63383" y="73113"/>
                </a:cubicBezTo>
                <a:lnTo>
                  <a:pt x="35599" y="100897"/>
                </a:lnTo>
                <a:cubicBezTo>
                  <a:pt x="28839" y="107657"/>
                  <a:pt x="25009" y="116879"/>
                  <a:pt x="25009" y="126453"/>
                </a:cubicBezTo>
                <a:cubicBezTo>
                  <a:pt x="25009" y="146421"/>
                  <a:pt x="41187" y="162599"/>
                  <a:pt x="61155" y="162599"/>
                </a:cubicBezTo>
                <a:cubicBezTo>
                  <a:pt x="67603" y="162599"/>
                  <a:pt x="73894" y="160880"/>
                  <a:pt x="79404" y="157675"/>
                </a:cubicBezTo>
                <a:cubicBezTo>
                  <a:pt x="85578" y="163928"/>
                  <a:pt x="92769" y="169164"/>
                  <a:pt x="100740" y="173111"/>
                </a:cubicBezTo>
                <a:cubicBezTo>
                  <a:pt x="89721" y="182450"/>
                  <a:pt x="75731" y="187647"/>
                  <a:pt x="61155" y="187647"/>
                </a:cubicBezTo>
                <a:cubicBezTo>
                  <a:pt x="27393" y="187647"/>
                  <a:pt x="0" y="160294"/>
                  <a:pt x="0" y="126492"/>
                </a:cubicBezTo>
                <a:cubicBezTo>
                  <a:pt x="0" y="110275"/>
                  <a:pt x="6448" y="94722"/>
                  <a:pt x="17897" y="83273"/>
                </a:cubicBezTo>
                <a:lnTo>
                  <a:pt x="45681" y="55489"/>
                </a:lnTo>
                <a:cubicBezTo>
                  <a:pt x="57130" y="44040"/>
                  <a:pt x="72683" y="37592"/>
                  <a:pt x="88900" y="37592"/>
                </a:cubicBezTo>
                <a:cubicBezTo>
                  <a:pt x="122741" y="37592"/>
                  <a:pt x="150055" y="65180"/>
                  <a:pt x="150055" y="98904"/>
                </a:cubicBezTo>
                <a:cubicBezTo>
                  <a:pt x="150055" y="99412"/>
                  <a:pt x="150055" y="99920"/>
                  <a:pt x="150055" y="100428"/>
                </a:cubicBezTo>
                <a:cubicBezTo>
                  <a:pt x="149899" y="107344"/>
                  <a:pt x="144155" y="112776"/>
                  <a:pt x="137238" y="112620"/>
                </a:cubicBezTo>
                <a:cubicBezTo>
                  <a:pt x="130322" y="112463"/>
                  <a:pt x="124890" y="106719"/>
                  <a:pt x="125046" y="99802"/>
                </a:cubicBezTo>
                <a:cubicBezTo>
                  <a:pt x="125046" y="99490"/>
                  <a:pt x="125046" y="99216"/>
                  <a:pt x="125046" y="98904"/>
                </a:cubicBezTo>
                <a:cubicBezTo>
                  <a:pt x="125046" y="85735"/>
                  <a:pt x="118012" y="74168"/>
                  <a:pt x="107540" y="6779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3235667" y="6183532"/>
            <a:ext cx="2050757" cy="487680"/>
          </a:xfrm>
          <a:custGeom>
            <a:avLst/>
            <a:gdLst/>
            <a:ahLst/>
            <a:cxnLst/>
            <a:rect l="l" t="t" r="r" b="b"/>
            <a:pathLst>
              <a:path w="2050757" h="487680">
                <a:moveTo>
                  <a:pt x="50016" y="0"/>
                </a:moveTo>
                <a:lnTo>
                  <a:pt x="2000740" y="0"/>
                </a:lnTo>
                <a:cubicBezTo>
                  <a:pt x="2028364" y="0"/>
                  <a:pt x="2050757" y="22393"/>
                  <a:pt x="2050757" y="50016"/>
                </a:cubicBezTo>
                <a:lnTo>
                  <a:pt x="2050757" y="437664"/>
                </a:lnTo>
                <a:cubicBezTo>
                  <a:pt x="2050757" y="465287"/>
                  <a:pt x="2028364" y="487680"/>
                  <a:pt x="2000740" y="487680"/>
                </a:cubicBezTo>
                <a:lnTo>
                  <a:pt x="50016" y="487680"/>
                </a:lnTo>
                <a:cubicBezTo>
                  <a:pt x="22393" y="487680"/>
                  <a:pt x="0" y="465287"/>
                  <a:pt x="0" y="437664"/>
                </a:cubicBezTo>
                <a:lnTo>
                  <a:pt x="0" y="50016"/>
                </a:lnTo>
                <a:cubicBezTo>
                  <a:pt x="0" y="22412"/>
                  <a:pt x="22412" y="0"/>
                  <a:pt x="50016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3185648" y="6177280"/>
            <a:ext cx="2125785" cy="47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数据中心B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08442" y="6327335"/>
            <a:ext cx="225083" cy="200074"/>
          </a:xfrm>
          <a:custGeom>
            <a:avLst/>
            <a:gdLst/>
            <a:ahLst/>
            <a:cxnLst/>
            <a:rect l="l" t="t" r="r" b="b"/>
            <a:pathLst>
              <a:path w="225083" h="200074">
                <a:moveTo>
                  <a:pt x="163928" y="37514"/>
                </a:moveTo>
                <a:cubicBezTo>
                  <a:pt x="157441" y="37514"/>
                  <a:pt x="151150" y="39272"/>
                  <a:pt x="145640" y="42477"/>
                </a:cubicBezTo>
                <a:cubicBezTo>
                  <a:pt x="139466" y="36224"/>
                  <a:pt x="132275" y="30988"/>
                  <a:pt x="124343" y="27041"/>
                </a:cubicBezTo>
                <a:cubicBezTo>
                  <a:pt x="135362" y="17663"/>
                  <a:pt x="149391" y="12505"/>
                  <a:pt x="163928" y="12505"/>
                </a:cubicBezTo>
                <a:cubicBezTo>
                  <a:pt x="197690" y="12505"/>
                  <a:pt x="225083" y="39858"/>
                  <a:pt x="225083" y="73660"/>
                </a:cubicBezTo>
                <a:cubicBezTo>
                  <a:pt x="225083" y="89877"/>
                  <a:pt x="218635" y="105430"/>
                  <a:pt x="207186" y="116879"/>
                </a:cubicBezTo>
                <a:lnTo>
                  <a:pt x="179402" y="144663"/>
                </a:lnTo>
                <a:cubicBezTo>
                  <a:pt x="167953" y="156112"/>
                  <a:pt x="152400" y="162560"/>
                  <a:pt x="136183" y="162560"/>
                </a:cubicBezTo>
                <a:cubicBezTo>
                  <a:pt x="102421" y="162560"/>
                  <a:pt x="75028" y="135206"/>
                  <a:pt x="75028" y="101405"/>
                </a:cubicBezTo>
                <a:cubicBezTo>
                  <a:pt x="75028" y="100818"/>
                  <a:pt x="75028" y="100232"/>
                  <a:pt x="75067" y="99646"/>
                </a:cubicBezTo>
                <a:cubicBezTo>
                  <a:pt x="75262" y="92730"/>
                  <a:pt x="81006" y="87298"/>
                  <a:pt x="87923" y="87493"/>
                </a:cubicBezTo>
                <a:cubicBezTo>
                  <a:pt x="94840" y="87689"/>
                  <a:pt x="100271" y="93433"/>
                  <a:pt x="100076" y="100350"/>
                </a:cubicBezTo>
                <a:cubicBezTo>
                  <a:pt x="100076" y="100701"/>
                  <a:pt x="100076" y="101053"/>
                  <a:pt x="100076" y="101366"/>
                </a:cubicBezTo>
                <a:cubicBezTo>
                  <a:pt x="100076" y="121334"/>
                  <a:pt x="116254" y="137512"/>
                  <a:pt x="136222" y="137512"/>
                </a:cubicBezTo>
                <a:cubicBezTo>
                  <a:pt x="145796" y="137512"/>
                  <a:pt x="154979" y="133721"/>
                  <a:pt x="161778" y="126922"/>
                </a:cubicBezTo>
                <a:lnTo>
                  <a:pt x="189562" y="99138"/>
                </a:lnTo>
                <a:cubicBezTo>
                  <a:pt x="196322" y="92378"/>
                  <a:pt x="200152" y="83156"/>
                  <a:pt x="200152" y="73582"/>
                </a:cubicBezTo>
                <a:cubicBezTo>
                  <a:pt x="200152" y="53614"/>
                  <a:pt x="183974" y="37436"/>
                  <a:pt x="164006" y="37436"/>
                </a:cubicBezTo>
                <a:close/>
                <a:moveTo>
                  <a:pt x="107540" y="67720"/>
                </a:moveTo>
                <a:cubicBezTo>
                  <a:pt x="106797" y="67408"/>
                  <a:pt x="106055" y="66978"/>
                  <a:pt x="105390" y="66509"/>
                </a:cubicBezTo>
                <a:cubicBezTo>
                  <a:pt x="100467" y="63969"/>
                  <a:pt x="94840" y="62523"/>
                  <a:pt x="88939" y="62523"/>
                </a:cubicBezTo>
                <a:cubicBezTo>
                  <a:pt x="79365" y="62523"/>
                  <a:pt x="70182" y="66314"/>
                  <a:pt x="63383" y="73113"/>
                </a:cubicBezTo>
                <a:lnTo>
                  <a:pt x="35599" y="100897"/>
                </a:lnTo>
                <a:cubicBezTo>
                  <a:pt x="28839" y="107657"/>
                  <a:pt x="25009" y="116879"/>
                  <a:pt x="25009" y="126453"/>
                </a:cubicBezTo>
                <a:cubicBezTo>
                  <a:pt x="25009" y="146421"/>
                  <a:pt x="41187" y="162599"/>
                  <a:pt x="61155" y="162599"/>
                </a:cubicBezTo>
                <a:cubicBezTo>
                  <a:pt x="67603" y="162599"/>
                  <a:pt x="73894" y="160880"/>
                  <a:pt x="79404" y="157675"/>
                </a:cubicBezTo>
                <a:cubicBezTo>
                  <a:pt x="85578" y="163928"/>
                  <a:pt x="92769" y="169164"/>
                  <a:pt x="100740" y="173111"/>
                </a:cubicBezTo>
                <a:cubicBezTo>
                  <a:pt x="89721" y="182450"/>
                  <a:pt x="75731" y="187647"/>
                  <a:pt x="61155" y="187647"/>
                </a:cubicBezTo>
                <a:cubicBezTo>
                  <a:pt x="27393" y="187647"/>
                  <a:pt x="0" y="160294"/>
                  <a:pt x="0" y="126492"/>
                </a:cubicBezTo>
                <a:cubicBezTo>
                  <a:pt x="0" y="110275"/>
                  <a:pt x="6448" y="94722"/>
                  <a:pt x="17897" y="83273"/>
                </a:cubicBezTo>
                <a:lnTo>
                  <a:pt x="45681" y="55489"/>
                </a:lnTo>
                <a:cubicBezTo>
                  <a:pt x="57130" y="44040"/>
                  <a:pt x="72683" y="37592"/>
                  <a:pt x="88900" y="37592"/>
                </a:cubicBezTo>
                <a:cubicBezTo>
                  <a:pt x="122741" y="37592"/>
                  <a:pt x="150055" y="65180"/>
                  <a:pt x="150055" y="98904"/>
                </a:cubicBezTo>
                <a:cubicBezTo>
                  <a:pt x="150055" y="99412"/>
                  <a:pt x="150055" y="99920"/>
                  <a:pt x="150055" y="100428"/>
                </a:cubicBezTo>
                <a:cubicBezTo>
                  <a:pt x="149899" y="107344"/>
                  <a:pt x="144155" y="112776"/>
                  <a:pt x="137238" y="112620"/>
                </a:cubicBezTo>
                <a:cubicBezTo>
                  <a:pt x="130322" y="112463"/>
                  <a:pt x="124890" y="106719"/>
                  <a:pt x="125046" y="99802"/>
                </a:cubicBezTo>
                <a:cubicBezTo>
                  <a:pt x="125046" y="99490"/>
                  <a:pt x="125046" y="99216"/>
                  <a:pt x="125046" y="98904"/>
                </a:cubicBezTo>
                <a:cubicBezTo>
                  <a:pt x="125046" y="85735"/>
                  <a:pt x="118012" y="74168"/>
                  <a:pt x="107540" y="6779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5752318" y="6183532"/>
            <a:ext cx="2050757" cy="487680"/>
          </a:xfrm>
          <a:custGeom>
            <a:avLst/>
            <a:gdLst/>
            <a:ahLst/>
            <a:cxnLst/>
            <a:rect l="l" t="t" r="r" b="b"/>
            <a:pathLst>
              <a:path w="2050757" h="487680">
                <a:moveTo>
                  <a:pt x="50016" y="0"/>
                </a:moveTo>
                <a:lnTo>
                  <a:pt x="2000740" y="0"/>
                </a:lnTo>
                <a:cubicBezTo>
                  <a:pt x="2028364" y="0"/>
                  <a:pt x="2050757" y="22393"/>
                  <a:pt x="2050757" y="50016"/>
                </a:cubicBezTo>
                <a:lnTo>
                  <a:pt x="2050757" y="437664"/>
                </a:lnTo>
                <a:cubicBezTo>
                  <a:pt x="2050757" y="465287"/>
                  <a:pt x="2028364" y="487680"/>
                  <a:pt x="2000740" y="487680"/>
                </a:cubicBezTo>
                <a:lnTo>
                  <a:pt x="50016" y="487680"/>
                </a:lnTo>
                <a:cubicBezTo>
                  <a:pt x="22393" y="487680"/>
                  <a:pt x="0" y="465287"/>
                  <a:pt x="0" y="437664"/>
                </a:cubicBezTo>
                <a:lnTo>
                  <a:pt x="0" y="50016"/>
                </a:lnTo>
                <a:cubicBezTo>
                  <a:pt x="0" y="22412"/>
                  <a:pt x="22412" y="0"/>
                  <a:pt x="50016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5702300" y="6177280"/>
            <a:ext cx="2125785" cy="47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数据中心C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75249" y="6727483"/>
            <a:ext cx="7177649" cy="200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82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全网互通,数据同步正常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12763" y="7027594"/>
            <a:ext cx="7202658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网络分区发生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25268" y="7390228"/>
            <a:ext cx="2063262" cy="475175"/>
          </a:xfrm>
          <a:custGeom>
            <a:avLst/>
            <a:gdLst/>
            <a:ahLst/>
            <a:cxnLst/>
            <a:rect l="l" t="t" r="r" b="b"/>
            <a:pathLst>
              <a:path w="2063262" h="475175">
                <a:moveTo>
                  <a:pt x="50017" y="0"/>
                </a:moveTo>
                <a:lnTo>
                  <a:pt x="2013245" y="0"/>
                </a:lnTo>
                <a:cubicBezTo>
                  <a:pt x="2040868" y="0"/>
                  <a:pt x="2063262" y="22393"/>
                  <a:pt x="2063262" y="50017"/>
                </a:cubicBezTo>
                <a:lnTo>
                  <a:pt x="2063262" y="425158"/>
                </a:lnTo>
                <a:cubicBezTo>
                  <a:pt x="2063262" y="452782"/>
                  <a:pt x="2040868" y="475175"/>
                  <a:pt x="2013245" y="475175"/>
                </a:cubicBezTo>
                <a:lnTo>
                  <a:pt x="50017" y="475175"/>
                </a:lnTo>
                <a:cubicBezTo>
                  <a:pt x="22393" y="475175"/>
                  <a:pt x="0" y="452782"/>
                  <a:pt x="0" y="425158"/>
                </a:cubicBezTo>
                <a:lnTo>
                  <a:pt x="0" y="50017"/>
                </a:lnTo>
                <a:cubicBezTo>
                  <a:pt x="0" y="22412"/>
                  <a:pt x="22412" y="0"/>
                  <a:pt x="50017" y="0"/>
                </a:cubicBezTo>
                <a:close/>
              </a:path>
            </a:pathLst>
          </a:custGeom>
          <a:solidFill>
            <a:srgbClr val="495057">
              <a:alpha val="4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668997" y="7377723"/>
            <a:ext cx="2125785" cy="45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数据中心A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182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分区1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2908495" y="7527778"/>
            <a:ext cx="225083" cy="200074"/>
          </a:xfrm>
          <a:custGeom>
            <a:avLst/>
            <a:gdLst/>
            <a:ahLst/>
            <a:cxnLst/>
            <a:rect l="l" t="t" r="r" b="b"/>
            <a:pathLst>
              <a:path w="225083" h="200074">
                <a:moveTo>
                  <a:pt x="16022" y="-9730"/>
                </a:moveTo>
                <a:cubicBezTo>
                  <a:pt x="12348" y="-13403"/>
                  <a:pt x="6409" y="-13403"/>
                  <a:pt x="2774" y="-9730"/>
                </a:cubicBezTo>
                <a:cubicBezTo>
                  <a:pt x="-860" y="-6057"/>
                  <a:pt x="-899" y="-117"/>
                  <a:pt x="2735" y="3556"/>
                </a:cubicBezTo>
                <a:lnTo>
                  <a:pt x="209062" y="209882"/>
                </a:lnTo>
                <a:cubicBezTo>
                  <a:pt x="212735" y="213555"/>
                  <a:pt x="218674" y="213555"/>
                  <a:pt x="222309" y="209882"/>
                </a:cubicBezTo>
                <a:cubicBezTo>
                  <a:pt x="225943" y="206209"/>
                  <a:pt x="225982" y="200269"/>
                  <a:pt x="222309" y="196635"/>
                </a:cubicBezTo>
                <a:lnTo>
                  <a:pt x="174635" y="148961"/>
                </a:lnTo>
                <a:cubicBezTo>
                  <a:pt x="176276" y="147633"/>
                  <a:pt x="177878" y="146187"/>
                  <a:pt x="179363" y="144702"/>
                </a:cubicBezTo>
                <a:lnTo>
                  <a:pt x="207147" y="116918"/>
                </a:lnTo>
                <a:cubicBezTo>
                  <a:pt x="218596" y="105469"/>
                  <a:pt x="225044" y="89916"/>
                  <a:pt x="225044" y="73699"/>
                </a:cubicBezTo>
                <a:cubicBezTo>
                  <a:pt x="225044" y="39937"/>
                  <a:pt x="197690" y="12544"/>
                  <a:pt x="163889" y="12544"/>
                </a:cubicBezTo>
                <a:cubicBezTo>
                  <a:pt x="149313" y="12544"/>
                  <a:pt x="135323" y="17741"/>
                  <a:pt x="124304" y="27080"/>
                </a:cubicBezTo>
                <a:cubicBezTo>
                  <a:pt x="132236" y="31027"/>
                  <a:pt x="139426" y="36263"/>
                  <a:pt x="145601" y="42516"/>
                </a:cubicBezTo>
                <a:cubicBezTo>
                  <a:pt x="151110" y="39272"/>
                  <a:pt x="157402" y="37553"/>
                  <a:pt x="163889" y="37553"/>
                </a:cubicBezTo>
                <a:cubicBezTo>
                  <a:pt x="183857" y="37553"/>
                  <a:pt x="200035" y="53731"/>
                  <a:pt x="200035" y="73699"/>
                </a:cubicBezTo>
                <a:cubicBezTo>
                  <a:pt x="200035" y="83273"/>
                  <a:pt x="196244" y="92456"/>
                  <a:pt x="189445" y="99255"/>
                </a:cubicBezTo>
                <a:lnTo>
                  <a:pt x="161661" y="127039"/>
                </a:lnTo>
                <a:cubicBezTo>
                  <a:pt x="160137" y="128563"/>
                  <a:pt x="158496" y="129931"/>
                  <a:pt x="156738" y="131142"/>
                </a:cubicBezTo>
                <a:lnTo>
                  <a:pt x="138176" y="112581"/>
                </a:lnTo>
                <a:cubicBezTo>
                  <a:pt x="144624" y="112229"/>
                  <a:pt x="149782" y="106954"/>
                  <a:pt x="149977" y="100428"/>
                </a:cubicBezTo>
                <a:cubicBezTo>
                  <a:pt x="149977" y="99920"/>
                  <a:pt x="149977" y="99412"/>
                  <a:pt x="149977" y="98904"/>
                </a:cubicBezTo>
                <a:cubicBezTo>
                  <a:pt x="149977" y="65180"/>
                  <a:pt x="122662" y="37592"/>
                  <a:pt x="88822" y="37592"/>
                </a:cubicBezTo>
                <a:cubicBezTo>
                  <a:pt x="81319" y="37592"/>
                  <a:pt x="74012" y="38960"/>
                  <a:pt x="67134" y="41578"/>
                </a:cubicBezTo>
                <a:lnTo>
                  <a:pt x="16022" y="-9730"/>
                </a:lnTo>
                <a:close/>
                <a:moveTo>
                  <a:pt x="88275" y="62523"/>
                </a:moveTo>
                <a:cubicBezTo>
                  <a:pt x="88509" y="62523"/>
                  <a:pt x="88705" y="62523"/>
                  <a:pt x="88939" y="62523"/>
                </a:cubicBezTo>
                <a:cubicBezTo>
                  <a:pt x="94840" y="62523"/>
                  <a:pt x="100467" y="63969"/>
                  <a:pt x="105390" y="66509"/>
                </a:cubicBezTo>
                <a:cubicBezTo>
                  <a:pt x="106094" y="66978"/>
                  <a:pt x="106797" y="67408"/>
                  <a:pt x="107540" y="67720"/>
                </a:cubicBezTo>
                <a:cubicBezTo>
                  <a:pt x="118012" y="74090"/>
                  <a:pt x="125046" y="85657"/>
                  <a:pt x="125046" y="98826"/>
                </a:cubicBezTo>
                <a:cubicBezTo>
                  <a:pt x="125046" y="98982"/>
                  <a:pt x="125046" y="99138"/>
                  <a:pt x="125046" y="99294"/>
                </a:cubicBezTo>
                <a:lnTo>
                  <a:pt x="88275" y="62523"/>
                </a:lnTo>
                <a:close/>
                <a:moveTo>
                  <a:pt x="135284" y="162560"/>
                </a:moveTo>
                <a:lnTo>
                  <a:pt x="75028" y="102303"/>
                </a:lnTo>
                <a:cubicBezTo>
                  <a:pt x="75497" y="135362"/>
                  <a:pt x="102225" y="162052"/>
                  <a:pt x="135245" y="162521"/>
                </a:cubicBezTo>
                <a:close/>
                <a:moveTo>
                  <a:pt x="54590" y="81866"/>
                </a:moveTo>
                <a:lnTo>
                  <a:pt x="36889" y="64164"/>
                </a:lnTo>
                <a:lnTo>
                  <a:pt x="17897" y="83156"/>
                </a:lnTo>
                <a:cubicBezTo>
                  <a:pt x="6448" y="94605"/>
                  <a:pt x="0" y="110158"/>
                  <a:pt x="0" y="126375"/>
                </a:cubicBezTo>
                <a:cubicBezTo>
                  <a:pt x="0" y="160137"/>
                  <a:pt x="27354" y="187530"/>
                  <a:pt x="61155" y="187530"/>
                </a:cubicBezTo>
                <a:cubicBezTo>
                  <a:pt x="75692" y="187530"/>
                  <a:pt x="89721" y="182333"/>
                  <a:pt x="100740" y="172994"/>
                </a:cubicBezTo>
                <a:cubicBezTo>
                  <a:pt x="92808" y="169047"/>
                  <a:pt x="85578" y="163810"/>
                  <a:pt x="79404" y="157558"/>
                </a:cubicBezTo>
                <a:cubicBezTo>
                  <a:pt x="73934" y="160762"/>
                  <a:pt x="67642" y="162482"/>
                  <a:pt x="61155" y="162482"/>
                </a:cubicBezTo>
                <a:cubicBezTo>
                  <a:pt x="41187" y="162482"/>
                  <a:pt x="25009" y="146304"/>
                  <a:pt x="25009" y="126336"/>
                </a:cubicBezTo>
                <a:cubicBezTo>
                  <a:pt x="25009" y="116762"/>
                  <a:pt x="28800" y="107579"/>
                  <a:pt x="35599" y="100779"/>
                </a:cubicBezTo>
                <a:lnTo>
                  <a:pt x="54590" y="81788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3252372" y="7383975"/>
            <a:ext cx="2050757" cy="487680"/>
          </a:xfrm>
          <a:custGeom>
            <a:avLst/>
            <a:gdLst/>
            <a:ahLst/>
            <a:cxnLst/>
            <a:rect l="l" t="t" r="r" b="b"/>
            <a:pathLst>
              <a:path w="2050757" h="487680">
                <a:moveTo>
                  <a:pt x="50016" y="0"/>
                </a:moveTo>
                <a:lnTo>
                  <a:pt x="2000740" y="0"/>
                </a:lnTo>
                <a:cubicBezTo>
                  <a:pt x="2028364" y="0"/>
                  <a:pt x="2050757" y="22393"/>
                  <a:pt x="2050757" y="50016"/>
                </a:cubicBezTo>
                <a:lnTo>
                  <a:pt x="2050757" y="437664"/>
                </a:lnTo>
                <a:cubicBezTo>
                  <a:pt x="2050757" y="465287"/>
                  <a:pt x="2028364" y="487680"/>
                  <a:pt x="2000740" y="487680"/>
                </a:cubicBezTo>
                <a:lnTo>
                  <a:pt x="50016" y="487680"/>
                </a:lnTo>
                <a:cubicBezTo>
                  <a:pt x="22393" y="487680"/>
                  <a:pt x="0" y="465287"/>
                  <a:pt x="0" y="437664"/>
                </a:cubicBezTo>
                <a:lnTo>
                  <a:pt x="0" y="50016"/>
                </a:lnTo>
                <a:cubicBezTo>
                  <a:pt x="0" y="22412"/>
                  <a:pt x="22412" y="0"/>
                  <a:pt x="50016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3202354" y="7377723"/>
            <a:ext cx="2125785" cy="47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数据中心B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416843" y="7527778"/>
            <a:ext cx="225083" cy="200074"/>
          </a:xfrm>
          <a:custGeom>
            <a:avLst/>
            <a:gdLst/>
            <a:ahLst/>
            <a:cxnLst/>
            <a:rect l="l" t="t" r="r" b="b"/>
            <a:pathLst>
              <a:path w="225083" h="200074">
                <a:moveTo>
                  <a:pt x="163928" y="37514"/>
                </a:moveTo>
                <a:cubicBezTo>
                  <a:pt x="157441" y="37514"/>
                  <a:pt x="151150" y="39272"/>
                  <a:pt x="145640" y="42477"/>
                </a:cubicBezTo>
                <a:cubicBezTo>
                  <a:pt x="139466" y="36224"/>
                  <a:pt x="132275" y="30988"/>
                  <a:pt x="124343" y="27041"/>
                </a:cubicBezTo>
                <a:cubicBezTo>
                  <a:pt x="135362" y="17663"/>
                  <a:pt x="149391" y="12505"/>
                  <a:pt x="163928" y="12505"/>
                </a:cubicBezTo>
                <a:cubicBezTo>
                  <a:pt x="197690" y="12505"/>
                  <a:pt x="225083" y="39858"/>
                  <a:pt x="225083" y="73660"/>
                </a:cubicBezTo>
                <a:cubicBezTo>
                  <a:pt x="225083" y="89877"/>
                  <a:pt x="218635" y="105430"/>
                  <a:pt x="207186" y="116879"/>
                </a:cubicBezTo>
                <a:lnTo>
                  <a:pt x="179402" y="144663"/>
                </a:lnTo>
                <a:cubicBezTo>
                  <a:pt x="167953" y="156112"/>
                  <a:pt x="152400" y="162560"/>
                  <a:pt x="136183" y="162560"/>
                </a:cubicBezTo>
                <a:cubicBezTo>
                  <a:pt x="102421" y="162560"/>
                  <a:pt x="75028" y="135206"/>
                  <a:pt x="75028" y="101405"/>
                </a:cubicBezTo>
                <a:cubicBezTo>
                  <a:pt x="75028" y="100818"/>
                  <a:pt x="75028" y="100232"/>
                  <a:pt x="75067" y="99646"/>
                </a:cubicBezTo>
                <a:cubicBezTo>
                  <a:pt x="75262" y="92730"/>
                  <a:pt x="81006" y="87298"/>
                  <a:pt x="87923" y="87493"/>
                </a:cubicBezTo>
                <a:cubicBezTo>
                  <a:pt x="94840" y="87689"/>
                  <a:pt x="100271" y="93433"/>
                  <a:pt x="100076" y="100350"/>
                </a:cubicBezTo>
                <a:cubicBezTo>
                  <a:pt x="100076" y="100701"/>
                  <a:pt x="100076" y="101053"/>
                  <a:pt x="100076" y="101366"/>
                </a:cubicBezTo>
                <a:cubicBezTo>
                  <a:pt x="100076" y="121334"/>
                  <a:pt x="116254" y="137512"/>
                  <a:pt x="136222" y="137512"/>
                </a:cubicBezTo>
                <a:cubicBezTo>
                  <a:pt x="145796" y="137512"/>
                  <a:pt x="154979" y="133721"/>
                  <a:pt x="161778" y="126922"/>
                </a:cubicBezTo>
                <a:lnTo>
                  <a:pt x="189562" y="99138"/>
                </a:lnTo>
                <a:cubicBezTo>
                  <a:pt x="196322" y="92378"/>
                  <a:pt x="200152" y="83156"/>
                  <a:pt x="200152" y="73582"/>
                </a:cubicBezTo>
                <a:cubicBezTo>
                  <a:pt x="200152" y="53614"/>
                  <a:pt x="183974" y="37436"/>
                  <a:pt x="164006" y="37436"/>
                </a:cubicBezTo>
                <a:close/>
                <a:moveTo>
                  <a:pt x="107540" y="67720"/>
                </a:moveTo>
                <a:cubicBezTo>
                  <a:pt x="106797" y="67408"/>
                  <a:pt x="106055" y="66978"/>
                  <a:pt x="105390" y="66509"/>
                </a:cubicBezTo>
                <a:cubicBezTo>
                  <a:pt x="100467" y="63969"/>
                  <a:pt x="94840" y="62523"/>
                  <a:pt x="88939" y="62523"/>
                </a:cubicBezTo>
                <a:cubicBezTo>
                  <a:pt x="79365" y="62523"/>
                  <a:pt x="70182" y="66314"/>
                  <a:pt x="63383" y="73113"/>
                </a:cubicBezTo>
                <a:lnTo>
                  <a:pt x="35599" y="100897"/>
                </a:lnTo>
                <a:cubicBezTo>
                  <a:pt x="28839" y="107657"/>
                  <a:pt x="25009" y="116879"/>
                  <a:pt x="25009" y="126453"/>
                </a:cubicBezTo>
                <a:cubicBezTo>
                  <a:pt x="25009" y="146421"/>
                  <a:pt x="41187" y="162599"/>
                  <a:pt x="61155" y="162599"/>
                </a:cubicBezTo>
                <a:cubicBezTo>
                  <a:pt x="67603" y="162599"/>
                  <a:pt x="73894" y="160880"/>
                  <a:pt x="79404" y="157675"/>
                </a:cubicBezTo>
                <a:cubicBezTo>
                  <a:pt x="85578" y="163928"/>
                  <a:pt x="92769" y="169164"/>
                  <a:pt x="100740" y="173111"/>
                </a:cubicBezTo>
                <a:cubicBezTo>
                  <a:pt x="89721" y="182450"/>
                  <a:pt x="75731" y="187647"/>
                  <a:pt x="61155" y="187647"/>
                </a:cubicBezTo>
                <a:cubicBezTo>
                  <a:pt x="27393" y="187647"/>
                  <a:pt x="0" y="160294"/>
                  <a:pt x="0" y="126492"/>
                </a:cubicBezTo>
                <a:cubicBezTo>
                  <a:pt x="0" y="110275"/>
                  <a:pt x="6448" y="94722"/>
                  <a:pt x="17897" y="83273"/>
                </a:cubicBezTo>
                <a:lnTo>
                  <a:pt x="45681" y="55489"/>
                </a:lnTo>
                <a:cubicBezTo>
                  <a:pt x="57130" y="44040"/>
                  <a:pt x="72683" y="37592"/>
                  <a:pt x="88900" y="37592"/>
                </a:cubicBezTo>
                <a:cubicBezTo>
                  <a:pt x="122741" y="37592"/>
                  <a:pt x="150055" y="65180"/>
                  <a:pt x="150055" y="98904"/>
                </a:cubicBezTo>
                <a:cubicBezTo>
                  <a:pt x="150055" y="99412"/>
                  <a:pt x="150055" y="99920"/>
                  <a:pt x="150055" y="100428"/>
                </a:cubicBezTo>
                <a:cubicBezTo>
                  <a:pt x="149899" y="107344"/>
                  <a:pt x="144155" y="112776"/>
                  <a:pt x="137238" y="112620"/>
                </a:cubicBezTo>
                <a:cubicBezTo>
                  <a:pt x="130322" y="112463"/>
                  <a:pt x="124890" y="106719"/>
                  <a:pt x="125046" y="99802"/>
                </a:cubicBezTo>
                <a:cubicBezTo>
                  <a:pt x="125046" y="99490"/>
                  <a:pt x="125046" y="99216"/>
                  <a:pt x="125046" y="98904"/>
                </a:cubicBezTo>
                <a:cubicBezTo>
                  <a:pt x="125046" y="85735"/>
                  <a:pt x="118012" y="74168"/>
                  <a:pt x="107540" y="6779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8"/>
          <p:cNvSpPr/>
          <p:nvPr/>
        </p:nvSpPr>
        <p:spPr>
          <a:xfrm>
            <a:off x="5760720" y="7383975"/>
            <a:ext cx="2050757" cy="487680"/>
          </a:xfrm>
          <a:custGeom>
            <a:avLst/>
            <a:gdLst/>
            <a:ahLst/>
            <a:cxnLst/>
            <a:rect l="l" t="t" r="r" b="b"/>
            <a:pathLst>
              <a:path w="2050757" h="487680">
                <a:moveTo>
                  <a:pt x="50016" y="0"/>
                </a:moveTo>
                <a:lnTo>
                  <a:pt x="2000740" y="0"/>
                </a:lnTo>
                <a:cubicBezTo>
                  <a:pt x="2028364" y="0"/>
                  <a:pt x="2050757" y="22393"/>
                  <a:pt x="2050757" y="50016"/>
                </a:cubicBezTo>
                <a:lnTo>
                  <a:pt x="2050757" y="437664"/>
                </a:lnTo>
                <a:cubicBezTo>
                  <a:pt x="2050757" y="465287"/>
                  <a:pt x="2028364" y="487680"/>
                  <a:pt x="2000740" y="487680"/>
                </a:cubicBezTo>
                <a:lnTo>
                  <a:pt x="50016" y="487680"/>
                </a:lnTo>
                <a:cubicBezTo>
                  <a:pt x="22393" y="487680"/>
                  <a:pt x="0" y="465287"/>
                  <a:pt x="0" y="437664"/>
                </a:cubicBezTo>
                <a:lnTo>
                  <a:pt x="0" y="50016"/>
                </a:lnTo>
                <a:cubicBezTo>
                  <a:pt x="0" y="22412"/>
                  <a:pt x="22412" y="0"/>
                  <a:pt x="50016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5710702" y="7377723"/>
            <a:ext cx="2125785" cy="47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数据中心C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75249" y="7927926"/>
            <a:ext cx="7177649" cy="200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82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系统被分割为两个独立分区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231456" y="5170658"/>
            <a:ext cx="7515274" cy="3463778"/>
          </a:xfrm>
          <a:custGeom>
            <a:avLst/>
            <a:gdLst/>
            <a:ahLst/>
            <a:cxnLst/>
            <a:rect l="l" t="t" r="r" b="b"/>
            <a:pathLst>
              <a:path w="7515274" h="3463778">
                <a:moveTo>
                  <a:pt x="100034" y="0"/>
                </a:moveTo>
                <a:lnTo>
                  <a:pt x="7415240" y="0"/>
                </a:lnTo>
                <a:cubicBezTo>
                  <a:pt x="7470487" y="0"/>
                  <a:pt x="7515274" y="44787"/>
                  <a:pt x="7515274" y="100034"/>
                </a:cubicBezTo>
                <a:lnTo>
                  <a:pt x="7515274" y="3363745"/>
                </a:lnTo>
                <a:cubicBezTo>
                  <a:pt x="7515274" y="3418992"/>
                  <a:pt x="7470487" y="3463778"/>
                  <a:pt x="7415240" y="3463778"/>
                </a:cubicBezTo>
                <a:lnTo>
                  <a:pt x="100034" y="3463778"/>
                </a:lnTo>
                <a:cubicBezTo>
                  <a:pt x="44787" y="3463778"/>
                  <a:pt x="0" y="3418992"/>
                  <a:pt x="0" y="3363745"/>
                </a:cubicBezTo>
                <a:lnTo>
                  <a:pt x="0" y="100034"/>
                </a:lnTo>
                <a:cubicBezTo>
                  <a:pt x="0" y="44824"/>
                  <a:pt x="44824" y="0"/>
                  <a:pt x="10003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8437782" y="5427003"/>
            <a:ext cx="312615" cy="250092"/>
          </a:xfrm>
          <a:custGeom>
            <a:avLst/>
            <a:gdLst/>
            <a:ahLst/>
            <a:cxnLst/>
            <a:rect l="l" t="t" r="r" b="b"/>
            <a:pathLst>
              <a:path w="312615" h="250092">
                <a:moveTo>
                  <a:pt x="187569" y="15631"/>
                </a:moveTo>
                <a:lnTo>
                  <a:pt x="250092" y="15631"/>
                </a:lnTo>
                <a:cubicBezTo>
                  <a:pt x="258738" y="15631"/>
                  <a:pt x="265723" y="22616"/>
                  <a:pt x="265723" y="31262"/>
                </a:cubicBezTo>
                <a:cubicBezTo>
                  <a:pt x="265723" y="39907"/>
                  <a:pt x="258738" y="46892"/>
                  <a:pt x="250092" y="46892"/>
                </a:cubicBezTo>
                <a:lnTo>
                  <a:pt x="194603" y="46892"/>
                </a:lnTo>
                <a:cubicBezTo>
                  <a:pt x="192063" y="59495"/>
                  <a:pt x="183417" y="69899"/>
                  <a:pt x="171938" y="74881"/>
                </a:cubicBezTo>
                <a:lnTo>
                  <a:pt x="171938" y="218831"/>
                </a:lnTo>
                <a:lnTo>
                  <a:pt x="250092" y="218831"/>
                </a:lnTo>
                <a:cubicBezTo>
                  <a:pt x="258738" y="218831"/>
                  <a:pt x="265723" y="225816"/>
                  <a:pt x="265723" y="234462"/>
                </a:cubicBezTo>
                <a:cubicBezTo>
                  <a:pt x="265723" y="243107"/>
                  <a:pt x="258738" y="250092"/>
                  <a:pt x="250092" y="250092"/>
                </a:cubicBezTo>
                <a:lnTo>
                  <a:pt x="62523" y="250092"/>
                </a:lnTo>
                <a:cubicBezTo>
                  <a:pt x="53877" y="250092"/>
                  <a:pt x="46892" y="243107"/>
                  <a:pt x="46892" y="234462"/>
                </a:cubicBezTo>
                <a:cubicBezTo>
                  <a:pt x="46892" y="225816"/>
                  <a:pt x="53877" y="218831"/>
                  <a:pt x="62523" y="218831"/>
                </a:cubicBezTo>
                <a:lnTo>
                  <a:pt x="140677" y="218831"/>
                </a:lnTo>
                <a:lnTo>
                  <a:pt x="140677" y="74881"/>
                </a:lnTo>
                <a:cubicBezTo>
                  <a:pt x="129198" y="69850"/>
                  <a:pt x="120552" y="59446"/>
                  <a:pt x="118012" y="46892"/>
                </a:cubicBezTo>
                <a:lnTo>
                  <a:pt x="62523" y="46892"/>
                </a:lnTo>
                <a:cubicBezTo>
                  <a:pt x="53877" y="46892"/>
                  <a:pt x="46892" y="39907"/>
                  <a:pt x="46892" y="31262"/>
                </a:cubicBezTo>
                <a:cubicBezTo>
                  <a:pt x="46892" y="22616"/>
                  <a:pt x="53877" y="15631"/>
                  <a:pt x="62523" y="15631"/>
                </a:cubicBezTo>
                <a:lnTo>
                  <a:pt x="125046" y="15631"/>
                </a:lnTo>
                <a:cubicBezTo>
                  <a:pt x="132178" y="6155"/>
                  <a:pt x="143510" y="0"/>
                  <a:pt x="156308" y="0"/>
                </a:cubicBezTo>
                <a:cubicBezTo>
                  <a:pt x="169105" y="0"/>
                  <a:pt x="180438" y="6155"/>
                  <a:pt x="187569" y="15631"/>
                </a:cubicBezTo>
                <a:close/>
                <a:moveTo>
                  <a:pt x="214728" y="156308"/>
                </a:moveTo>
                <a:lnTo>
                  <a:pt x="285457" y="156308"/>
                </a:lnTo>
                <a:lnTo>
                  <a:pt x="250092" y="95641"/>
                </a:lnTo>
                <a:lnTo>
                  <a:pt x="214728" y="156308"/>
                </a:lnTo>
                <a:close/>
                <a:moveTo>
                  <a:pt x="250092" y="203200"/>
                </a:moveTo>
                <a:cubicBezTo>
                  <a:pt x="219368" y="203200"/>
                  <a:pt x="193822" y="186592"/>
                  <a:pt x="188546" y="164660"/>
                </a:cubicBezTo>
                <a:cubicBezTo>
                  <a:pt x="187276" y="159287"/>
                  <a:pt x="189035" y="153768"/>
                  <a:pt x="191819" y="148981"/>
                </a:cubicBezTo>
                <a:lnTo>
                  <a:pt x="238320" y="69264"/>
                </a:lnTo>
                <a:cubicBezTo>
                  <a:pt x="240763" y="65063"/>
                  <a:pt x="245257" y="62523"/>
                  <a:pt x="250092" y="62523"/>
                </a:cubicBezTo>
                <a:cubicBezTo>
                  <a:pt x="254928" y="62523"/>
                  <a:pt x="259422" y="65112"/>
                  <a:pt x="261864" y="69264"/>
                </a:cubicBezTo>
                <a:lnTo>
                  <a:pt x="308366" y="148981"/>
                </a:lnTo>
                <a:cubicBezTo>
                  <a:pt x="311150" y="153768"/>
                  <a:pt x="312908" y="159287"/>
                  <a:pt x="311638" y="164660"/>
                </a:cubicBezTo>
                <a:cubicBezTo>
                  <a:pt x="306363" y="186543"/>
                  <a:pt x="280817" y="203200"/>
                  <a:pt x="250092" y="203200"/>
                </a:cubicBezTo>
                <a:close/>
                <a:moveTo>
                  <a:pt x="61937" y="95641"/>
                </a:moveTo>
                <a:lnTo>
                  <a:pt x="26572" y="156308"/>
                </a:lnTo>
                <a:lnTo>
                  <a:pt x="97350" y="156308"/>
                </a:lnTo>
                <a:lnTo>
                  <a:pt x="61937" y="95641"/>
                </a:lnTo>
                <a:close/>
                <a:moveTo>
                  <a:pt x="440" y="164660"/>
                </a:moveTo>
                <a:cubicBezTo>
                  <a:pt x="-830" y="159287"/>
                  <a:pt x="928" y="153768"/>
                  <a:pt x="3712" y="148981"/>
                </a:cubicBezTo>
                <a:lnTo>
                  <a:pt x="50214" y="69264"/>
                </a:lnTo>
                <a:cubicBezTo>
                  <a:pt x="52656" y="65063"/>
                  <a:pt x="57150" y="62523"/>
                  <a:pt x="61986" y="62523"/>
                </a:cubicBezTo>
                <a:cubicBezTo>
                  <a:pt x="66822" y="62523"/>
                  <a:pt x="71315" y="65112"/>
                  <a:pt x="73758" y="69264"/>
                </a:cubicBezTo>
                <a:lnTo>
                  <a:pt x="120259" y="148981"/>
                </a:lnTo>
                <a:cubicBezTo>
                  <a:pt x="123043" y="153768"/>
                  <a:pt x="124802" y="159287"/>
                  <a:pt x="123532" y="164660"/>
                </a:cubicBezTo>
                <a:cubicBezTo>
                  <a:pt x="118257" y="186543"/>
                  <a:pt x="92710" y="203200"/>
                  <a:pt x="61986" y="203200"/>
                </a:cubicBezTo>
                <a:cubicBezTo>
                  <a:pt x="31262" y="203200"/>
                  <a:pt x="5715" y="186592"/>
                  <a:pt x="440" y="16466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8898145" y="5376985"/>
            <a:ext cx="6767305" cy="35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分区容错策略对比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462792" y="5827151"/>
            <a:ext cx="7077612" cy="800295"/>
          </a:xfrm>
          <a:custGeom>
            <a:avLst/>
            <a:gdLst/>
            <a:ahLst/>
            <a:cxnLst/>
            <a:rect l="l" t="t" r="r" b="b"/>
            <a:pathLst>
              <a:path w="7077612" h="800295">
                <a:moveTo>
                  <a:pt x="50018" y="0"/>
                </a:moveTo>
                <a:lnTo>
                  <a:pt x="7027594" y="0"/>
                </a:lnTo>
                <a:cubicBezTo>
                  <a:pt x="7055218" y="0"/>
                  <a:pt x="7077612" y="22394"/>
                  <a:pt x="7077612" y="50018"/>
                </a:cubicBezTo>
                <a:lnTo>
                  <a:pt x="7077612" y="750277"/>
                </a:lnTo>
                <a:cubicBezTo>
                  <a:pt x="7077612" y="777901"/>
                  <a:pt x="7055218" y="800295"/>
                  <a:pt x="7027594" y="800295"/>
                </a:cubicBezTo>
                <a:lnTo>
                  <a:pt x="50018" y="800295"/>
                </a:lnTo>
                <a:cubicBezTo>
                  <a:pt x="22394" y="800295"/>
                  <a:pt x="0" y="777901"/>
                  <a:pt x="0" y="750277"/>
                </a:cubicBezTo>
                <a:lnTo>
                  <a:pt x="0" y="50018"/>
                </a:lnTo>
                <a:cubicBezTo>
                  <a:pt x="0" y="22394"/>
                  <a:pt x="22394" y="0"/>
                  <a:pt x="5001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5"/>
          <p:cNvSpPr/>
          <p:nvPr/>
        </p:nvSpPr>
        <p:spPr>
          <a:xfrm>
            <a:off x="8462792" y="5827151"/>
            <a:ext cx="50018" cy="800295"/>
          </a:xfrm>
          <a:custGeom>
            <a:avLst/>
            <a:gdLst/>
            <a:ahLst/>
            <a:cxnLst/>
            <a:rect l="l" t="t" r="r" b="b"/>
            <a:pathLst>
              <a:path w="50018" h="800295">
                <a:moveTo>
                  <a:pt x="50018" y="0"/>
                </a:moveTo>
                <a:lnTo>
                  <a:pt x="50018" y="0"/>
                </a:lnTo>
                <a:lnTo>
                  <a:pt x="50018" y="800295"/>
                </a:lnTo>
                <a:lnTo>
                  <a:pt x="50018" y="800295"/>
                </a:lnTo>
                <a:cubicBezTo>
                  <a:pt x="22394" y="800295"/>
                  <a:pt x="0" y="777901"/>
                  <a:pt x="0" y="750277"/>
                </a:cubicBezTo>
                <a:lnTo>
                  <a:pt x="0" y="50018"/>
                </a:lnTo>
                <a:cubicBezTo>
                  <a:pt x="0" y="22394"/>
                  <a:pt x="22394" y="0"/>
                  <a:pt x="50018" y="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8637856" y="5927188"/>
            <a:ext cx="6902548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策略1:停止服务 (CP策略)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637856" y="6277317"/>
            <a:ext cx="6890043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所有分区停止服务,保证数据一致性但整个系统不可用。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462792" y="6727483"/>
            <a:ext cx="7077612" cy="800295"/>
          </a:xfrm>
          <a:custGeom>
            <a:avLst/>
            <a:gdLst/>
            <a:ahLst/>
            <a:cxnLst/>
            <a:rect l="l" t="t" r="r" b="b"/>
            <a:pathLst>
              <a:path w="7077612" h="800295">
                <a:moveTo>
                  <a:pt x="50018" y="0"/>
                </a:moveTo>
                <a:lnTo>
                  <a:pt x="7027594" y="0"/>
                </a:lnTo>
                <a:cubicBezTo>
                  <a:pt x="7055218" y="0"/>
                  <a:pt x="7077612" y="22394"/>
                  <a:pt x="7077612" y="50018"/>
                </a:cubicBezTo>
                <a:lnTo>
                  <a:pt x="7077612" y="750277"/>
                </a:lnTo>
                <a:cubicBezTo>
                  <a:pt x="7077612" y="777901"/>
                  <a:pt x="7055218" y="800295"/>
                  <a:pt x="7027594" y="800295"/>
                </a:cubicBezTo>
                <a:lnTo>
                  <a:pt x="50018" y="800295"/>
                </a:lnTo>
                <a:cubicBezTo>
                  <a:pt x="22394" y="800295"/>
                  <a:pt x="0" y="777901"/>
                  <a:pt x="0" y="750277"/>
                </a:cubicBezTo>
                <a:lnTo>
                  <a:pt x="0" y="50018"/>
                </a:lnTo>
                <a:cubicBezTo>
                  <a:pt x="0" y="22394"/>
                  <a:pt x="22394" y="0"/>
                  <a:pt x="5001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9"/>
          <p:cNvSpPr/>
          <p:nvPr/>
        </p:nvSpPr>
        <p:spPr>
          <a:xfrm>
            <a:off x="8462792" y="6727483"/>
            <a:ext cx="50018" cy="800295"/>
          </a:xfrm>
          <a:custGeom>
            <a:avLst/>
            <a:gdLst/>
            <a:ahLst/>
            <a:cxnLst/>
            <a:rect l="l" t="t" r="r" b="b"/>
            <a:pathLst>
              <a:path w="50018" h="800295">
                <a:moveTo>
                  <a:pt x="50018" y="0"/>
                </a:moveTo>
                <a:lnTo>
                  <a:pt x="50018" y="0"/>
                </a:lnTo>
                <a:lnTo>
                  <a:pt x="50018" y="800295"/>
                </a:lnTo>
                <a:lnTo>
                  <a:pt x="50018" y="800295"/>
                </a:lnTo>
                <a:cubicBezTo>
                  <a:pt x="22394" y="800295"/>
                  <a:pt x="0" y="777901"/>
                  <a:pt x="0" y="750277"/>
                </a:cubicBezTo>
                <a:lnTo>
                  <a:pt x="0" y="50018"/>
                </a:lnTo>
                <a:cubicBezTo>
                  <a:pt x="0" y="22394"/>
                  <a:pt x="22394" y="0"/>
                  <a:pt x="50018" y="0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8637856" y="6827520"/>
            <a:ext cx="6902548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策略2:继续服务 (AP策略)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637856" y="7177649"/>
            <a:ext cx="6890043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所有分区继续服务,保证可用性但可能出现数据不一致。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462792" y="7627815"/>
            <a:ext cx="7077612" cy="800295"/>
          </a:xfrm>
          <a:custGeom>
            <a:avLst/>
            <a:gdLst/>
            <a:ahLst/>
            <a:cxnLst/>
            <a:rect l="l" t="t" r="r" b="b"/>
            <a:pathLst>
              <a:path w="7077612" h="800295">
                <a:moveTo>
                  <a:pt x="50018" y="0"/>
                </a:moveTo>
                <a:lnTo>
                  <a:pt x="7027594" y="0"/>
                </a:lnTo>
                <a:cubicBezTo>
                  <a:pt x="7055218" y="0"/>
                  <a:pt x="7077612" y="22394"/>
                  <a:pt x="7077612" y="50018"/>
                </a:cubicBezTo>
                <a:lnTo>
                  <a:pt x="7077612" y="750277"/>
                </a:lnTo>
                <a:cubicBezTo>
                  <a:pt x="7077612" y="777901"/>
                  <a:pt x="7055218" y="800295"/>
                  <a:pt x="7027594" y="800295"/>
                </a:cubicBezTo>
                <a:lnTo>
                  <a:pt x="50018" y="800295"/>
                </a:lnTo>
                <a:cubicBezTo>
                  <a:pt x="22394" y="800295"/>
                  <a:pt x="0" y="777901"/>
                  <a:pt x="0" y="750277"/>
                </a:cubicBezTo>
                <a:lnTo>
                  <a:pt x="0" y="50018"/>
                </a:lnTo>
                <a:cubicBezTo>
                  <a:pt x="0" y="22394"/>
                  <a:pt x="22394" y="0"/>
                  <a:pt x="5001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3"/>
          <p:cNvSpPr/>
          <p:nvPr/>
        </p:nvSpPr>
        <p:spPr>
          <a:xfrm>
            <a:off x="8462792" y="7627815"/>
            <a:ext cx="50018" cy="800295"/>
          </a:xfrm>
          <a:custGeom>
            <a:avLst/>
            <a:gdLst/>
            <a:ahLst/>
            <a:cxnLst/>
            <a:rect l="l" t="t" r="r" b="b"/>
            <a:pathLst>
              <a:path w="50018" h="800295">
                <a:moveTo>
                  <a:pt x="50018" y="0"/>
                </a:moveTo>
                <a:lnTo>
                  <a:pt x="50018" y="0"/>
                </a:lnTo>
                <a:lnTo>
                  <a:pt x="50018" y="800295"/>
                </a:lnTo>
                <a:lnTo>
                  <a:pt x="50018" y="800295"/>
                </a:lnTo>
                <a:cubicBezTo>
                  <a:pt x="22394" y="800295"/>
                  <a:pt x="0" y="777901"/>
                  <a:pt x="0" y="750277"/>
                </a:cubicBezTo>
                <a:lnTo>
                  <a:pt x="0" y="50018"/>
                </a:lnTo>
                <a:cubicBezTo>
                  <a:pt x="0" y="22394"/>
                  <a:pt x="22394" y="0"/>
                  <a:pt x="50018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4"/>
          <p:cNvSpPr/>
          <p:nvPr/>
        </p:nvSpPr>
        <p:spPr>
          <a:xfrm>
            <a:off x="8637856" y="7727852"/>
            <a:ext cx="6902548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策略3:多数派策略 (实用CP)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637856" y="8077982"/>
            <a:ext cx="6890043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节点数过半的分区继续服务,平衡一致性和可用性。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8793" y="458793"/>
            <a:ext cx="2922682" cy="464457"/>
          </a:xfrm>
          <a:custGeom>
            <a:avLst/>
            <a:gdLst/>
            <a:ahLst/>
            <a:cxnLst/>
            <a:rect l="l" t="t" r="r" b="b"/>
            <a:pathLst>
              <a:path w="2922682" h="464457">
                <a:moveTo>
                  <a:pt x="45312" y="0"/>
                </a:moveTo>
                <a:lnTo>
                  <a:pt x="2877369" y="0"/>
                </a:lnTo>
                <a:cubicBezTo>
                  <a:pt x="2902394" y="0"/>
                  <a:pt x="2922682" y="20287"/>
                  <a:pt x="2922682" y="45312"/>
                </a:cubicBezTo>
                <a:lnTo>
                  <a:pt x="2922682" y="419145"/>
                </a:lnTo>
                <a:cubicBezTo>
                  <a:pt x="2922682" y="444170"/>
                  <a:pt x="2902394" y="464457"/>
                  <a:pt x="2877369" y="464457"/>
                </a:cubicBezTo>
                <a:lnTo>
                  <a:pt x="45312" y="464457"/>
                </a:lnTo>
                <a:cubicBezTo>
                  <a:pt x="20287" y="464457"/>
                  <a:pt x="0" y="444170"/>
                  <a:pt x="0" y="419145"/>
                </a:cubicBezTo>
                <a:lnTo>
                  <a:pt x="0" y="45312"/>
                </a:lnTo>
                <a:cubicBezTo>
                  <a:pt x="0" y="20287"/>
                  <a:pt x="20287" y="0"/>
                  <a:pt x="45312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5709" y="572075"/>
            <a:ext cx="2635759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7" b="1" kern="0" spc="7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CLOCK SYNCHRONIZATION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3129" y="1019540"/>
            <a:ext cx="15553650" cy="45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11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时钟同步问题与Lamport逻辑时钟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8793" y="1614272"/>
            <a:ext cx="7567253" cy="3591047"/>
          </a:xfrm>
          <a:custGeom>
            <a:avLst/>
            <a:gdLst/>
            <a:ahLst/>
            <a:cxnLst/>
            <a:rect l="l" t="t" r="r" b="b"/>
            <a:pathLst>
              <a:path w="7567253" h="3591047">
                <a:moveTo>
                  <a:pt x="90638" y="0"/>
                </a:moveTo>
                <a:lnTo>
                  <a:pt x="7476615" y="0"/>
                </a:lnTo>
                <a:cubicBezTo>
                  <a:pt x="7526673" y="0"/>
                  <a:pt x="7567253" y="40580"/>
                  <a:pt x="7567253" y="90638"/>
                </a:cubicBezTo>
                <a:lnTo>
                  <a:pt x="7567253" y="3500409"/>
                </a:lnTo>
                <a:cubicBezTo>
                  <a:pt x="7567253" y="3550467"/>
                  <a:pt x="7526673" y="3591047"/>
                  <a:pt x="7476615" y="3591047"/>
                </a:cubicBezTo>
                <a:lnTo>
                  <a:pt x="90638" y="3591047"/>
                </a:lnTo>
                <a:cubicBezTo>
                  <a:pt x="40580" y="3591047"/>
                  <a:pt x="0" y="3550467"/>
                  <a:pt x="0" y="3500409"/>
                </a:cubicBezTo>
                <a:lnTo>
                  <a:pt x="0" y="90638"/>
                </a:lnTo>
                <a:cubicBezTo>
                  <a:pt x="0" y="40614"/>
                  <a:pt x="40614" y="0"/>
                  <a:pt x="9063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28716" y="1801187"/>
            <a:ext cx="226564" cy="226564"/>
          </a:xfrm>
          <a:custGeom>
            <a:avLst/>
            <a:gdLst/>
            <a:ahLst/>
            <a:cxnLst/>
            <a:rect l="l" t="t" r="r" b="b"/>
            <a:pathLst>
              <a:path w="226564" h="226564">
                <a:moveTo>
                  <a:pt x="113282" y="0"/>
                </a:moveTo>
                <a:cubicBezTo>
                  <a:pt x="175804" y="0"/>
                  <a:pt x="226564" y="50760"/>
                  <a:pt x="226564" y="113282"/>
                </a:cubicBezTo>
                <a:cubicBezTo>
                  <a:pt x="226564" y="175804"/>
                  <a:pt x="175804" y="226564"/>
                  <a:pt x="113282" y="226564"/>
                </a:cubicBezTo>
                <a:cubicBezTo>
                  <a:pt x="50760" y="226564"/>
                  <a:pt x="0" y="175804"/>
                  <a:pt x="0" y="113282"/>
                </a:cubicBezTo>
                <a:cubicBezTo>
                  <a:pt x="0" y="50760"/>
                  <a:pt x="50760" y="0"/>
                  <a:pt x="113282" y="0"/>
                </a:cubicBezTo>
                <a:close/>
                <a:moveTo>
                  <a:pt x="102662" y="53101"/>
                </a:moveTo>
                <a:lnTo>
                  <a:pt x="102662" y="113282"/>
                </a:lnTo>
                <a:cubicBezTo>
                  <a:pt x="102662" y="116822"/>
                  <a:pt x="104432" y="120141"/>
                  <a:pt x="107397" y="122132"/>
                </a:cubicBezTo>
                <a:lnTo>
                  <a:pt x="149878" y="150453"/>
                </a:lnTo>
                <a:cubicBezTo>
                  <a:pt x="154745" y="153728"/>
                  <a:pt x="161339" y="152400"/>
                  <a:pt x="164613" y="147488"/>
                </a:cubicBezTo>
                <a:cubicBezTo>
                  <a:pt x="167888" y="142576"/>
                  <a:pt x="166560" y="136027"/>
                  <a:pt x="161648" y="132753"/>
                </a:cubicBezTo>
                <a:lnTo>
                  <a:pt x="123902" y="107618"/>
                </a:lnTo>
                <a:lnTo>
                  <a:pt x="123902" y="53101"/>
                </a:lnTo>
                <a:cubicBezTo>
                  <a:pt x="123902" y="47216"/>
                  <a:pt x="119168" y="42481"/>
                  <a:pt x="113282" y="42481"/>
                </a:cubicBezTo>
                <a:cubicBezTo>
                  <a:pt x="107397" y="42481"/>
                  <a:pt x="102662" y="47216"/>
                  <a:pt x="102662" y="5310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04857" y="1755875"/>
            <a:ext cx="6992869" cy="31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时钟类型与特点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396" y="2163691"/>
          <a:ext cx="7284047" cy="1653920"/>
        </p:xfrm>
        <a:graphic>
          <a:graphicData uri="http://schemas.openxmlformats.org/drawingml/2006/table">
            <a:tbl>
              <a:tblPr/>
              <a:tblGrid>
                <a:gridCol w="1164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5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1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348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时钟类型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问题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应用场景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48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物理时钟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反映真实时间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漂移、不同步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日志记录、监控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48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逻辑时钟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反映事件顺序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无法确定真实时间间隔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因果关系、事件排序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48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向量时钟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捕获并发关系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空间开销大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版本控制、冲突检测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222343" y="1614272"/>
            <a:ext cx="7567253" cy="3591047"/>
          </a:xfrm>
          <a:custGeom>
            <a:avLst/>
            <a:gdLst/>
            <a:ahLst/>
            <a:cxnLst/>
            <a:rect l="l" t="t" r="r" b="b"/>
            <a:pathLst>
              <a:path w="7567253" h="3591047">
                <a:moveTo>
                  <a:pt x="90638" y="0"/>
                </a:moveTo>
                <a:lnTo>
                  <a:pt x="7476615" y="0"/>
                </a:lnTo>
                <a:cubicBezTo>
                  <a:pt x="7526673" y="0"/>
                  <a:pt x="7567253" y="40580"/>
                  <a:pt x="7567253" y="90638"/>
                </a:cubicBezTo>
                <a:lnTo>
                  <a:pt x="7567253" y="3500409"/>
                </a:lnTo>
                <a:cubicBezTo>
                  <a:pt x="7567253" y="3550467"/>
                  <a:pt x="7526673" y="3591047"/>
                  <a:pt x="7476615" y="3591047"/>
                </a:cubicBezTo>
                <a:lnTo>
                  <a:pt x="90638" y="3591047"/>
                </a:lnTo>
                <a:cubicBezTo>
                  <a:pt x="40580" y="3591047"/>
                  <a:pt x="0" y="3550467"/>
                  <a:pt x="0" y="3500409"/>
                </a:cubicBezTo>
                <a:lnTo>
                  <a:pt x="0" y="90638"/>
                </a:lnTo>
                <a:cubicBezTo>
                  <a:pt x="0" y="40614"/>
                  <a:pt x="40614" y="0"/>
                  <a:pt x="9063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363946" y="1801187"/>
            <a:ext cx="283206" cy="226564"/>
          </a:xfrm>
          <a:custGeom>
            <a:avLst/>
            <a:gdLst/>
            <a:ahLst/>
            <a:cxnLst/>
            <a:rect l="l" t="t" r="r" b="b"/>
            <a:pathLst>
              <a:path w="283206" h="226564">
                <a:moveTo>
                  <a:pt x="184039" y="93148"/>
                </a:moveTo>
                <a:cubicBezTo>
                  <a:pt x="189438" y="91688"/>
                  <a:pt x="195102" y="94254"/>
                  <a:pt x="197536" y="99255"/>
                </a:cubicBezTo>
                <a:lnTo>
                  <a:pt x="205767" y="115893"/>
                </a:lnTo>
                <a:cubicBezTo>
                  <a:pt x="210324" y="116513"/>
                  <a:pt x="214794" y="117752"/>
                  <a:pt x="218998" y="119477"/>
                </a:cubicBezTo>
                <a:lnTo>
                  <a:pt x="234485" y="109167"/>
                </a:lnTo>
                <a:cubicBezTo>
                  <a:pt x="239132" y="106069"/>
                  <a:pt x="245283" y="106689"/>
                  <a:pt x="249221" y="110627"/>
                </a:cubicBezTo>
                <a:lnTo>
                  <a:pt x="257717" y="119123"/>
                </a:lnTo>
                <a:cubicBezTo>
                  <a:pt x="261655" y="123062"/>
                  <a:pt x="262275" y="129257"/>
                  <a:pt x="259177" y="133859"/>
                </a:cubicBezTo>
                <a:lnTo>
                  <a:pt x="248867" y="149302"/>
                </a:lnTo>
                <a:cubicBezTo>
                  <a:pt x="249708" y="151382"/>
                  <a:pt x="250460" y="153551"/>
                  <a:pt x="251079" y="155807"/>
                </a:cubicBezTo>
                <a:cubicBezTo>
                  <a:pt x="251699" y="158064"/>
                  <a:pt x="252097" y="160277"/>
                  <a:pt x="252407" y="162533"/>
                </a:cubicBezTo>
                <a:lnTo>
                  <a:pt x="269090" y="170764"/>
                </a:lnTo>
                <a:cubicBezTo>
                  <a:pt x="274090" y="173242"/>
                  <a:pt x="276656" y="178906"/>
                  <a:pt x="275196" y="184261"/>
                </a:cubicBezTo>
                <a:lnTo>
                  <a:pt x="272099" y="195854"/>
                </a:lnTo>
                <a:cubicBezTo>
                  <a:pt x="270638" y="201209"/>
                  <a:pt x="265638" y="204837"/>
                  <a:pt x="260062" y="204483"/>
                </a:cubicBezTo>
                <a:lnTo>
                  <a:pt x="241477" y="203289"/>
                </a:lnTo>
                <a:cubicBezTo>
                  <a:pt x="238689" y="206873"/>
                  <a:pt x="235459" y="210192"/>
                  <a:pt x="231786" y="213024"/>
                </a:cubicBezTo>
                <a:lnTo>
                  <a:pt x="232981" y="231565"/>
                </a:lnTo>
                <a:cubicBezTo>
                  <a:pt x="233335" y="237140"/>
                  <a:pt x="229706" y="242185"/>
                  <a:pt x="224352" y="243601"/>
                </a:cubicBezTo>
                <a:lnTo>
                  <a:pt x="212758" y="246699"/>
                </a:lnTo>
                <a:cubicBezTo>
                  <a:pt x="207360" y="248159"/>
                  <a:pt x="201740" y="245592"/>
                  <a:pt x="199262" y="240592"/>
                </a:cubicBezTo>
                <a:lnTo>
                  <a:pt x="191031" y="223954"/>
                </a:lnTo>
                <a:cubicBezTo>
                  <a:pt x="186473" y="223334"/>
                  <a:pt x="182004" y="222095"/>
                  <a:pt x="177800" y="220369"/>
                </a:cubicBezTo>
                <a:lnTo>
                  <a:pt x="162312" y="230680"/>
                </a:lnTo>
                <a:cubicBezTo>
                  <a:pt x="157666" y="233777"/>
                  <a:pt x="151515" y="233158"/>
                  <a:pt x="147577" y="229220"/>
                </a:cubicBezTo>
                <a:lnTo>
                  <a:pt x="139080" y="220723"/>
                </a:lnTo>
                <a:cubicBezTo>
                  <a:pt x="135142" y="216785"/>
                  <a:pt x="134523" y="210634"/>
                  <a:pt x="137620" y="205988"/>
                </a:cubicBezTo>
                <a:lnTo>
                  <a:pt x="147931" y="190500"/>
                </a:lnTo>
                <a:cubicBezTo>
                  <a:pt x="147090" y="188420"/>
                  <a:pt x="146338" y="186252"/>
                  <a:pt x="145718" y="183995"/>
                </a:cubicBezTo>
                <a:cubicBezTo>
                  <a:pt x="145099" y="181738"/>
                  <a:pt x="144700" y="179482"/>
                  <a:pt x="144391" y="177269"/>
                </a:cubicBezTo>
                <a:lnTo>
                  <a:pt x="127708" y="169038"/>
                </a:lnTo>
                <a:cubicBezTo>
                  <a:pt x="122708" y="166560"/>
                  <a:pt x="120185" y="160896"/>
                  <a:pt x="121601" y="155542"/>
                </a:cubicBezTo>
                <a:lnTo>
                  <a:pt x="124699" y="143948"/>
                </a:lnTo>
                <a:cubicBezTo>
                  <a:pt x="126159" y="138594"/>
                  <a:pt x="131160" y="134965"/>
                  <a:pt x="136735" y="135319"/>
                </a:cubicBezTo>
                <a:lnTo>
                  <a:pt x="155276" y="136514"/>
                </a:lnTo>
                <a:cubicBezTo>
                  <a:pt x="158064" y="132930"/>
                  <a:pt x="161294" y="129611"/>
                  <a:pt x="164967" y="126779"/>
                </a:cubicBezTo>
                <a:lnTo>
                  <a:pt x="163772" y="108282"/>
                </a:lnTo>
                <a:cubicBezTo>
                  <a:pt x="163418" y="102706"/>
                  <a:pt x="167047" y="97662"/>
                  <a:pt x="172401" y="96246"/>
                </a:cubicBezTo>
                <a:lnTo>
                  <a:pt x="183995" y="93148"/>
                </a:lnTo>
                <a:close/>
                <a:moveTo>
                  <a:pt x="198421" y="150453"/>
                </a:moveTo>
                <a:cubicBezTo>
                  <a:pt x="187675" y="150465"/>
                  <a:pt x="178960" y="159199"/>
                  <a:pt x="178973" y="169945"/>
                </a:cubicBezTo>
                <a:cubicBezTo>
                  <a:pt x="178985" y="180691"/>
                  <a:pt x="187719" y="189406"/>
                  <a:pt x="198465" y="189394"/>
                </a:cubicBezTo>
                <a:cubicBezTo>
                  <a:pt x="209211" y="189382"/>
                  <a:pt x="217926" y="180647"/>
                  <a:pt x="217913" y="169901"/>
                </a:cubicBezTo>
                <a:cubicBezTo>
                  <a:pt x="217901" y="159155"/>
                  <a:pt x="209167" y="150441"/>
                  <a:pt x="198421" y="150453"/>
                </a:cubicBezTo>
                <a:close/>
                <a:moveTo>
                  <a:pt x="99520" y="-20134"/>
                </a:moveTo>
                <a:lnTo>
                  <a:pt x="111114" y="-17037"/>
                </a:lnTo>
                <a:cubicBezTo>
                  <a:pt x="116468" y="-15576"/>
                  <a:pt x="120097" y="-10532"/>
                  <a:pt x="119743" y="-5000"/>
                </a:cubicBezTo>
                <a:lnTo>
                  <a:pt x="118548" y="13497"/>
                </a:lnTo>
                <a:cubicBezTo>
                  <a:pt x="122221" y="16329"/>
                  <a:pt x="125451" y="19603"/>
                  <a:pt x="128239" y="23232"/>
                </a:cubicBezTo>
                <a:lnTo>
                  <a:pt x="146824" y="22037"/>
                </a:lnTo>
                <a:cubicBezTo>
                  <a:pt x="152356" y="21683"/>
                  <a:pt x="157400" y="25311"/>
                  <a:pt x="158861" y="30666"/>
                </a:cubicBezTo>
                <a:lnTo>
                  <a:pt x="161958" y="42260"/>
                </a:lnTo>
                <a:cubicBezTo>
                  <a:pt x="163374" y="47614"/>
                  <a:pt x="160852" y="53278"/>
                  <a:pt x="155852" y="55756"/>
                </a:cubicBezTo>
                <a:lnTo>
                  <a:pt x="139169" y="63987"/>
                </a:lnTo>
                <a:cubicBezTo>
                  <a:pt x="138859" y="66244"/>
                  <a:pt x="138417" y="68500"/>
                  <a:pt x="137841" y="70713"/>
                </a:cubicBezTo>
                <a:cubicBezTo>
                  <a:pt x="137266" y="72925"/>
                  <a:pt x="136470" y="75138"/>
                  <a:pt x="135629" y="77218"/>
                </a:cubicBezTo>
                <a:lnTo>
                  <a:pt x="145939" y="92706"/>
                </a:lnTo>
                <a:cubicBezTo>
                  <a:pt x="149037" y="97352"/>
                  <a:pt x="148417" y="103503"/>
                  <a:pt x="144479" y="107441"/>
                </a:cubicBezTo>
                <a:lnTo>
                  <a:pt x="135983" y="115937"/>
                </a:lnTo>
                <a:cubicBezTo>
                  <a:pt x="132045" y="119876"/>
                  <a:pt x="125894" y="120495"/>
                  <a:pt x="121247" y="117398"/>
                </a:cubicBezTo>
                <a:lnTo>
                  <a:pt x="105760" y="107087"/>
                </a:lnTo>
                <a:cubicBezTo>
                  <a:pt x="101556" y="108813"/>
                  <a:pt x="97086" y="110052"/>
                  <a:pt x="92529" y="110671"/>
                </a:cubicBezTo>
                <a:lnTo>
                  <a:pt x="84298" y="127310"/>
                </a:lnTo>
                <a:cubicBezTo>
                  <a:pt x="81820" y="132310"/>
                  <a:pt x="76156" y="134832"/>
                  <a:pt x="70801" y="133416"/>
                </a:cubicBezTo>
                <a:lnTo>
                  <a:pt x="59208" y="130319"/>
                </a:lnTo>
                <a:cubicBezTo>
                  <a:pt x="53809" y="128859"/>
                  <a:pt x="50225" y="123814"/>
                  <a:pt x="50579" y="118283"/>
                </a:cubicBezTo>
                <a:lnTo>
                  <a:pt x="51774" y="99741"/>
                </a:lnTo>
                <a:cubicBezTo>
                  <a:pt x="48101" y="96909"/>
                  <a:pt x="44870" y="93635"/>
                  <a:pt x="42083" y="90006"/>
                </a:cubicBezTo>
                <a:lnTo>
                  <a:pt x="23497" y="91201"/>
                </a:lnTo>
                <a:cubicBezTo>
                  <a:pt x="17966" y="91555"/>
                  <a:pt x="12921" y="87926"/>
                  <a:pt x="11461" y="82572"/>
                </a:cubicBezTo>
                <a:lnTo>
                  <a:pt x="8363" y="70978"/>
                </a:lnTo>
                <a:cubicBezTo>
                  <a:pt x="6947" y="65624"/>
                  <a:pt x="9470" y="59960"/>
                  <a:pt x="14470" y="57482"/>
                </a:cubicBezTo>
                <a:lnTo>
                  <a:pt x="31153" y="49251"/>
                </a:lnTo>
                <a:cubicBezTo>
                  <a:pt x="31462" y="46994"/>
                  <a:pt x="31905" y="44782"/>
                  <a:pt x="32480" y="42525"/>
                </a:cubicBezTo>
                <a:cubicBezTo>
                  <a:pt x="33100" y="40268"/>
                  <a:pt x="33808" y="38100"/>
                  <a:pt x="34693" y="36020"/>
                </a:cubicBezTo>
                <a:lnTo>
                  <a:pt x="24382" y="20577"/>
                </a:lnTo>
                <a:cubicBezTo>
                  <a:pt x="21285" y="15930"/>
                  <a:pt x="21904" y="9779"/>
                  <a:pt x="25843" y="5841"/>
                </a:cubicBezTo>
                <a:lnTo>
                  <a:pt x="34339" y="-2655"/>
                </a:lnTo>
                <a:cubicBezTo>
                  <a:pt x="38277" y="-6593"/>
                  <a:pt x="44428" y="-7213"/>
                  <a:pt x="49074" y="-4115"/>
                </a:cubicBezTo>
                <a:lnTo>
                  <a:pt x="64562" y="6195"/>
                </a:lnTo>
                <a:cubicBezTo>
                  <a:pt x="68766" y="4469"/>
                  <a:pt x="73235" y="3230"/>
                  <a:pt x="77793" y="2611"/>
                </a:cubicBezTo>
                <a:lnTo>
                  <a:pt x="86024" y="-14028"/>
                </a:lnTo>
                <a:cubicBezTo>
                  <a:pt x="88502" y="-19028"/>
                  <a:pt x="94122" y="-21550"/>
                  <a:pt x="99520" y="-20134"/>
                </a:cubicBezTo>
                <a:close/>
                <a:moveTo>
                  <a:pt x="85139" y="37171"/>
                </a:moveTo>
                <a:cubicBezTo>
                  <a:pt x="74393" y="37171"/>
                  <a:pt x="65668" y="45895"/>
                  <a:pt x="65668" y="56641"/>
                </a:cubicBezTo>
                <a:cubicBezTo>
                  <a:pt x="65668" y="67387"/>
                  <a:pt x="74393" y="76111"/>
                  <a:pt x="85139" y="76111"/>
                </a:cubicBezTo>
                <a:cubicBezTo>
                  <a:pt x="95885" y="76111"/>
                  <a:pt x="104609" y="67387"/>
                  <a:pt x="104609" y="56641"/>
                </a:cubicBezTo>
                <a:cubicBezTo>
                  <a:pt x="104609" y="45895"/>
                  <a:pt x="95885" y="37171"/>
                  <a:pt x="85139" y="3717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768407" y="1755875"/>
            <a:ext cx="6992869" cy="31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Lamport逻辑时钟算法规则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386602" y="2163691"/>
            <a:ext cx="7261391" cy="736334"/>
          </a:xfrm>
          <a:custGeom>
            <a:avLst/>
            <a:gdLst/>
            <a:ahLst/>
            <a:cxnLst/>
            <a:rect l="l" t="t" r="r" b="b"/>
            <a:pathLst>
              <a:path w="7261391" h="736334">
                <a:moveTo>
                  <a:pt x="45313" y="0"/>
                </a:moveTo>
                <a:lnTo>
                  <a:pt x="7216077" y="0"/>
                </a:lnTo>
                <a:cubicBezTo>
                  <a:pt x="7241103" y="0"/>
                  <a:pt x="7261391" y="20288"/>
                  <a:pt x="7261391" y="45314"/>
                </a:cubicBezTo>
                <a:lnTo>
                  <a:pt x="7261391" y="691020"/>
                </a:lnTo>
                <a:cubicBezTo>
                  <a:pt x="7261391" y="716047"/>
                  <a:pt x="7241103" y="736334"/>
                  <a:pt x="7216077" y="736334"/>
                </a:cubicBezTo>
                <a:lnTo>
                  <a:pt x="45313" y="736334"/>
                </a:lnTo>
                <a:cubicBezTo>
                  <a:pt x="20287" y="736334"/>
                  <a:pt x="0" y="716047"/>
                  <a:pt x="0" y="691022"/>
                </a:cubicBezTo>
                <a:lnTo>
                  <a:pt x="0" y="45313"/>
                </a:lnTo>
                <a:cubicBezTo>
                  <a:pt x="0" y="20304"/>
                  <a:pt x="20304" y="0"/>
                  <a:pt x="453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8386602" y="2163691"/>
            <a:ext cx="45313" cy="736334"/>
          </a:xfrm>
          <a:custGeom>
            <a:avLst/>
            <a:gdLst/>
            <a:ahLst/>
            <a:cxnLst/>
            <a:rect l="l" t="t" r="r" b="b"/>
            <a:pathLst>
              <a:path w="45313" h="736334">
                <a:moveTo>
                  <a:pt x="45313" y="0"/>
                </a:moveTo>
                <a:lnTo>
                  <a:pt x="45313" y="0"/>
                </a:lnTo>
                <a:lnTo>
                  <a:pt x="45313" y="736334"/>
                </a:lnTo>
                <a:lnTo>
                  <a:pt x="45313" y="736334"/>
                </a:lnTo>
                <a:cubicBezTo>
                  <a:pt x="20304" y="736334"/>
                  <a:pt x="0" y="716030"/>
                  <a:pt x="0" y="691022"/>
                </a:cubicBezTo>
                <a:lnTo>
                  <a:pt x="0" y="45313"/>
                </a:lnTo>
                <a:cubicBezTo>
                  <a:pt x="0" y="20304"/>
                  <a:pt x="20304" y="0"/>
                  <a:pt x="4531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545197" y="2254316"/>
            <a:ext cx="7102796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本地事件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545197" y="2571507"/>
            <a:ext cx="7091468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时钟递增: </a:t>
            </a:r>
            <a:r>
              <a:rPr lang="en-US" sz="1249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LCᵢ = LCᵢ + 1</a:t>
            </a:r>
            <a:endParaRPr lang="en-US" sz="1600" dirty="0"/>
          </a:p>
        </p:txBody>
      </p:sp>
      <p:sp>
        <p:nvSpPr>
          <p:cNvPr id="8" name="Shape 13"/>
          <p:cNvSpPr/>
          <p:nvPr/>
        </p:nvSpPr>
        <p:spPr>
          <a:xfrm>
            <a:off x="8386602" y="2984987"/>
            <a:ext cx="7261391" cy="736334"/>
          </a:xfrm>
          <a:custGeom>
            <a:avLst/>
            <a:gdLst/>
            <a:ahLst/>
            <a:cxnLst/>
            <a:rect l="l" t="t" r="r" b="b"/>
            <a:pathLst>
              <a:path w="7261391" h="736334">
                <a:moveTo>
                  <a:pt x="45313" y="0"/>
                </a:moveTo>
                <a:lnTo>
                  <a:pt x="7216077" y="0"/>
                </a:lnTo>
                <a:cubicBezTo>
                  <a:pt x="7241103" y="0"/>
                  <a:pt x="7261391" y="20288"/>
                  <a:pt x="7261391" y="45314"/>
                </a:cubicBezTo>
                <a:lnTo>
                  <a:pt x="7261391" y="691020"/>
                </a:lnTo>
                <a:cubicBezTo>
                  <a:pt x="7261391" y="716047"/>
                  <a:pt x="7241103" y="736334"/>
                  <a:pt x="7216077" y="736334"/>
                </a:cubicBezTo>
                <a:lnTo>
                  <a:pt x="45313" y="736334"/>
                </a:lnTo>
                <a:cubicBezTo>
                  <a:pt x="20287" y="736334"/>
                  <a:pt x="0" y="716047"/>
                  <a:pt x="0" y="691022"/>
                </a:cubicBezTo>
                <a:lnTo>
                  <a:pt x="0" y="45313"/>
                </a:lnTo>
                <a:cubicBezTo>
                  <a:pt x="0" y="20304"/>
                  <a:pt x="20304" y="0"/>
                  <a:pt x="453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8386602" y="2984987"/>
            <a:ext cx="45313" cy="736334"/>
          </a:xfrm>
          <a:custGeom>
            <a:avLst/>
            <a:gdLst/>
            <a:ahLst/>
            <a:cxnLst/>
            <a:rect l="l" t="t" r="r" b="b"/>
            <a:pathLst>
              <a:path w="45313" h="736334">
                <a:moveTo>
                  <a:pt x="45313" y="0"/>
                </a:moveTo>
                <a:lnTo>
                  <a:pt x="45313" y="0"/>
                </a:lnTo>
                <a:lnTo>
                  <a:pt x="45313" y="736334"/>
                </a:lnTo>
                <a:lnTo>
                  <a:pt x="45313" y="736334"/>
                </a:lnTo>
                <a:cubicBezTo>
                  <a:pt x="20304" y="736334"/>
                  <a:pt x="0" y="716030"/>
                  <a:pt x="0" y="691022"/>
                </a:cubicBezTo>
                <a:lnTo>
                  <a:pt x="0" y="45313"/>
                </a:lnTo>
                <a:cubicBezTo>
                  <a:pt x="0" y="20304"/>
                  <a:pt x="20304" y="0"/>
                  <a:pt x="4531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8545197" y="3075613"/>
            <a:ext cx="7102796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发送消息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545197" y="3392803"/>
            <a:ext cx="7091468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时钟递增并附加时间戳: </a:t>
            </a:r>
            <a:r>
              <a:rPr lang="en-US" sz="1249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LCᵢ = LCᵢ + 1; msg.ts = LCᵢ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386602" y="3806283"/>
            <a:ext cx="7261391" cy="736334"/>
          </a:xfrm>
          <a:custGeom>
            <a:avLst/>
            <a:gdLst/>
            <a:ahLst/>
            <a:cxnLst/>
            <a:rect l="l" t="t" r="r" b="b"/>
            <a:pathLst>
              <a:path w="7261391" h="736334">
                <a:moveTo>
                  <a:pt x="45313" y="0"/>
                </a:moveTo>
                <a:lnTo>
                  <a:pt x="7216077" y="0"/>
                </a:lnTo>
                <a:cubicBezTo>
                  <a:pt x="7241103" y="0"/>
                  <a:pt x="7261391" y="20288"/>
                  <a:pt x="7261391" y="45314"/>
                </a:cubicBezTo>
                <a:lnTo>
                  <a:pt x="7261391" y="691020"/>
                </a:lnTo>
                <a:cubicBezTo>
                  <a:pt x="7261391" y="716047"/>
                  <a:pt x="7241103" y="736334"/>
                  <a:pt x="7216077" y="736334"/>
                </a:cubicBezTo>
                <a:lnTo>
                  <a:pt x="45313" y="736334"/>
                </a:lnTo>
                <a:cubicBezTo>
                  <a:pt x="20287" y="736334"/>
                  <a:pt x="0" y="716047"/>
                  <a:pt x="0" y="691022"/>
                </a:cubicBezTo>
                <a:lnTo>
                  <a:pt x="0" y="45313"/>
                </a:lnTo>
                <a:cubicBezTo>
                  <a:pt x="0" y="20304"/>
                  <a:pt x="20304" y="0"/>
                  <a:pt x="453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8386602" y="3806283"/>
            <a:ext cx="45313" cy="736334"/>
          </a:xfrm>
          <a:custGeom>
            <a:avLst/>
            <a:gdLst/>
            <a:ahLst/>
            <a:cxnLst/>
            <a:rect l="l" t="t" r="r" b="b"/>
            <a:pathLst>
              <a:path w="45313" h="736334">
                <a:moveTo>
                  <a:pt x="45313" y="0"/>
                </a:moveTo>
                <a:lnTo>
                  <a:pt x="45313" y="0"/>
                </a:lnTo>
                <a:lnTo>
                  <a:pt x="45313" y="736334"/>
                </a:lnTo>
                <a:lnTo>
                  <a:pt x="45313" y="736334"/>
                </a:lnTo>
                <a:cubicBezTo>
                  <a:pt x="20304" y="736334"/>
                  <a:pt x="0" y="716030"/>
                  <a:pt x="0" y="691022"/>
                </a:cubicBezTo>
                <a:lnTo>
                  <a:pt x="0" y="45313"/>
                </a:lnTo>
                <a:cubicBezTo>
                  <a:pt x="0" y="20304"/>
                  <a:pt x="20304" y="0"/>
                  <a:pt x="4531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8545197" y="3896909"/>
            <a:ext cx="7102796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接收消息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545197" y="4214099"/>
            <a:ext cx="7091468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同步时钟并递增: </a:t>
            </a:r>
            <a:r>
              <a:rPr lang="en-US" sz="1249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LCᵢ = max(LCᵢ, msg.ts) + 1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369610" y="4633243"/>
            <a:ext cx="7272719" cy="419144"/>
          </a:xfrm>
          <a:custGeom>
            <a:avLst/>
            <a:gdLst/>
            <a:ahLst/>
            <a:cxnLst/>
            <a:rect l="l" t="t" r="r" b="b"/>
            <a:pathLst>
              <a:path w="7272719" h="419144">
                <a:moveTo>
                  <a:pt x="45314" y="0"/>
                </a:moveTo>
                <a:lnTo>
                  <a:pt x="7227405" y="0"/>
                </a:lnTo>
                <a:cubicBezTo>
                  <a:pt x="7252432" y="0"/>
                  <a:pt x="7272719" y="20288"/>
                  <a:pt x="7272719" y="45314"/>
                </a:cubicBezTo>
                <a:lnTo>
                  <a:pt x="7272719" y="373831"/>
                </a:lnTo>
                <a:cubicBezTo>
                  <a:pt x="7272719" y="398857"/>
                  <a:pt x="7252432" y="419144"/>
                  <a:pt x="7227405" y="419144"/>
                </a:cubicBezTo>
                <a:lnTo>
                  <a:pt x="45314" y="419144"/>
                </a:lnTo>
                <a:cubicBezTo>
                  <a:pt x="20288" y="419144"/>
                  <a:pt x="0" y="398857"/>
                  <a:pt x="0" y="373831"/>
                </a:cubicBezTo>
                <a:lnTo>
                  <a:pt x="0" y="45314"/>
                </a:lnTo>
                <a:cubicBezTo>
                  <a:pt x="0" y="20304"/>
                  <a:pt x="20304" y="0"/>
                  <a:pt x="45314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8465900" y="4729533"/>
            <a:ext cx="7159437" cy="226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核心思想:</a:t>
            </a:r>
            <a:r>
              <a:rPr lang="en-US" sz="1249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如果事件a happens-before事件b,则C(a) &lt; C(b)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58793" y="5346921"/>
            <a:ext cx="15338414" cy="3330498"/>
          </a:xfrm>
          <a:custGeom>
            <a:avLst/>
            <a:gdLst/>
            <a:ahLst/>
            <a:cxnLst/>
            <a:rect l="l" t="t" r="r" b="b"/>
            <a:pathLst>
              <a:path w="15338414" h="3330498">
                <a:moveTo>
                  <a:pt x="90623" y="0"/>
                </a:moveTo>
                <a:lnTo>
                  <a:pt x="15247791" y="0"/>
                </a:lnTo>
                <a:cubicBezTo>
                  <a:pt x="15297841" y="0"/>
                  <a:pt x="15338414" y="40573"/>
                  <a:pt x="15338414" y="90623"/>
                </a:cubicBezTo>
                <a:lnTo>
                  <a:pt x="15338414" y="3239875"/>
                </a:lnTo>
                <a:cubicBezTo>
                  <a:pt x="15338414" y="3289924"/>
                  <a:pt x="15297841" y="3330498"/>
                  <a:pt x="15247791" y="3330498"/>
                </a:cubicBezTo>
                <a:lnTo>
                  <a:pt x="90623" y="3330498"/>
                </a:lnTo>
                <a:cubicBezTo>
                  <a:pt x="40573" y="3330498"/>
                  <a:pt x="0" y="3289924"/>
                  <a:pt x="0" y="3239875"/>
                </a:cubicBezTo>
                <a:lnTo>
                  <a:pt x="0" y="90623"/>
                </a:lnTo>
                <a:cubicBezTo>
                  <a:pt x="0" y="40607"/>
                  <a:pt x="40607" y="0"/>
                  <a:pt x="90623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464457" y="5352585"/>
            <a:ext cx="15327086" cy="594732"/>
          </a:xfrm>
          <a:custGeom>
            <a:avLst/>
            <a:gdLst/>
            <a:ahLst/>
            <a:cxnLst/>
            <a:rect l="l" t="t" r="r" b="b"/>
            <a:pathLst>
              <a:path w="15327086" h="594732">
                <a:moveTo>
                  <a:pt x="0" y="0"/>
                </a:moveTo>
                <a:lnTo>
                  <a:pt x="15327086" y="0"/>
                </a:lnTo>
                <a:lnTo>
                  <a:pt x="15327086" y="594732"/>
                </a:lnTo>
                <a:lnTo>
                  <a:pt x="0" y="594732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464457" y="5947317"/>
            <a:ext cx="15327086" cy="11328"/>
          </a:xfrm>
          <a:custGeom>
            <a:avLst/>
            <a:gdLst/>
            <a:ahLst/>
            <a:cxnLst/>
            <a:rect l="l" t="t" r="r" b="b"/>
            <a:pathLst>
              <a:path w="15327086" h="11328">
                <a:moveTo>
                  <a:pt x="0" y="0"/>
                </a:moveTo>
                <a:lnTo>
                  <a:pt x="15327086" y="0"/>
                </a:lnTo>
                <a:lnTo>
                  <a:pt x="15327086" y="11328"/>
                </a:lnTo>
                <a:lnTo>
                  <a:pt x="0" y="11328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764655" y="5533837"/>
            <a:ext cx="226564" cy="226564"/>
          </a:xfrm>
          <a:custGeom>
            <a:avLst/>
            <a:gdLst/>
            <a:ahLst/>
            <a:cxnLst/>
            <a:rect l="l" t="t" r="r" b="b"/>
            <a:pathLst>
              <a:path w="226564" h="226564">
                <a:moveTo>
                  <a:pt x="0" y="113282"/>
                </a:moveTo>
                <a:cubicBezTo>
                  <a:pt x="0" y="50760"/>
                  <a:pt x="50760" y="0"/>
                  <a:pt x="113282" y="0"/>
                </a:cubicBezTo>
                <a:cubicBezTo>
                  <a:pt x="175804" y="0"/>
                  <a:pt x="226564" y="50760"/>
                  <a:pt x="226564" y="113282"/>
                </a:cubicBezTo>
                <a:cubicBezTo>
                  <a:pt x="226564" y="175804"/>
                  <a:pt x="175804" y="226564"/>
                  <a:pt x="113282" y="226564"/>
                </a:cubicBezTo>
                <a:cubicBezTo>
                  <a:pt x="50760" y="226564"/>
                  <a:pt x="0" y="175804"/>
                  <a:pt x="0" y="113282"/>
                </a:cubicBezTo>
                <a:close/>
                <a:moveTo>
                  <a:pt x="83324" y="65093"/>
                </a:moveTo>
                <a:cubicBezTo>
                  <a:pt x="79961" y="66952"/>
                  <a:pt x="77882" y="70536"/>
                  <a:pt x="77882" y="74341"/>
                </a:cubicBezTo>
                <a:lnTo>
                  <a:pt x="77882" y="152223"/>
                </a:lnTo>
                <a:cubicBezTo>
                  <a:pt x="77882" y="156073"/>
                  <a:pt x="79961" y="159613"/>
                  <a:pt x="83324" y="161471"/>
                </a:cubicBezTo>
                <a:cubicBezTo>
                  <a:pt x="86687" y="163330"/>
                  <a:pt x="90759" y="163286"/>
                  <a:pt x="94077" y="161250"/>
                </a:cubicBezTo>
                <a:lnTo>
                  <a:pt x="157799" y="122309"/>
                </a:lnTo>
                <a:cubicBezTo>
                  <a:pt x="160940" y="120362"/>
                  <a:pt x="162887" y="116955"/>
                  <a:pt x="162887" y="113238"/>
                </a:cubicBezTo>
                <a:cubicBezTo>
                  <a:pt x="162887" y="109521"/>
                  <a:pt x="160940" y="106114"/>
                  <a:pt x="157799" y="104167"/>
                </a:cubicBezTo>
                <a:lnTo>
                  <a:pt x="94077" y="65226"/>
                </a:lnTo>
                <a:cubicBezTo>
                  <a:pt x="90803" y="63234"/>
                  <a:pt x="86687" y="63146"/>
                  <a:pt x="83324" y="6500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1140795" y="5488524"/>
            <a:ext cx="14492152" cy="31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Lamport逻辑时钟工作原理示例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45709" y="6134233"/>
            <a:ext cx="2888697" cy="2356270"/>
          </a:xfrm>
          <a:custGeom>
            <a:avLst/>
            <a:gdLst/>
            <a:ahLst/>
            <a:cxnLst/>
            <a:rect l="l" t="t" r="r" b="b"/>
            <a:pathLst>
              <a:path w="2888697" h="2356270">
                <a:moveTo>
                  <a:pt x="45311" y="0"/>
                </a:moveTo>
                <a:lnTo>
                  <a:pt x="2843386" y="0"/>
                </a:lnTo>
                <a:cubicBezTo>
                  <a:pt x="2868410" y="0"/>
                  <a:pt x="2888697" y="20286"/>
                  <a:pt x="2888697" y="45311"/>
                </a:cubicBezTo>
                <a:lnTo>
                  <a:pt x="2888697" y="2310959"/>
                </a:lnTo>
                <a:cubicBezTo>
                  <a:pt x="2888697" y="2335984"/>
                  <a:pt x="2868410" y="2356270"/>
                  <a:pt x="2843386" y="2356270"/>
                </a:cubicBezTo>
                <a:lnTo>
                  <a:pt x="45311" y="2356270"/>
                </a:lnTo>
                <a:cubicBezTo>
                  <a:pt x="20286" y="2356270"/>
                  <a:pt x="0" y="2335984"/>
                  <a:pt x="0" y="2310959"/>
                </a:cubicBezTo>
                <a:lnTo>
                  <a:pt x="0" y="45311"/>
                </a:lnTo>
                <a:cubicBezTo>
                  <a:pt x="0" y="20303"/>
                  <a:pt x="20303" y="0"/>
                  <a:pt x="45311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736334" y="6270171"/>
            <a:ext cx="2707445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2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 P1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87311" y="6638339"/>
            <a:ext cx="2605491" cy="351175"/>
          </a:xfrm>
          <a:custGeom>
            <a:avLst/>
            <a:gdLst/>
            <a:ahLst/>
            <a:cxnLst/>
            <a:rect l="l" t="t" r="r" b="b"/>
            <a:pathLst>
              <a:path w="2605491" h="351175">
                <a:moveTo>
                  <a:pt x="45312" y="0"/>
                </a:moveTo>
                <a:lnTo>
                  <a:pt x="2560179" y="0"/>
                </a:lnTo>
                <a:cubicBezTo>
                  <a:pt x="2585204" y="0"/>
                  <a:pt x="2605491" y="20287"/>
                  <a:pt x="2605491" y="45312"/>
                </a:cubicBezTo>
                <a:lnTo>
                  <a:pt x="2605491" y="305863"/>
                </a:lnTo>
                <a:cubicBezTo>
                  <a:pt x="2605491" y="330888"/>
                  <a:pt x="2585204" y="351175"/>
                  <a:pt x="2560179" y="351175"/>
                </a:cubicBezTo>
                <a:lnTo>
                  <a:pt x="45312" y="351175"/>
                </a:lnTo>
                <a:cubicBezTo>
                  <a:pt x="20287" y="351175"/>
                  <a:pt x="0" y="330888"/>
                  <a:pt x="0" y="305863"/>
                </a:cubicBezTo>
                <a:lnTo>
                  <a:pt x="0" y="45312"/>
                </a:lnTo>
                <a:cubicBezTo>
                  <a:pt x="0" y="20287"/>
                  <a:pt x="20287" y="0"/>
                  <a:pt x="45312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741999" y="6632675"/>
            <a:ext cx="2673461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[1] 本地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87311" y="7091468"/>
            <a:ext cx="2605491" cy="351175"/>
          </a:xfrm>
          <a:custGeom>
            <a:avLst/>
            <a:gdLst/>
            <a:ahLst/>
            <a:cxnLst/>
            <a:rect l="l" t="t" r="r" b="b"/>
            <a:pathLst>
              <a:path w="2605491" h="351175">
                <a:moveTo>
                  <a:pt x="45312" y="0"/>
                </a:moveTo>
                <a:lnTo>
                  <a:pt x="2560179" y="0"/>
                </a:lnTo>
                <a:cubicBezTo>
                  <a:pt x="2585204" y="0"/>
                  <a:pt x="2605491" y="20287"/>
                  <a:pt x="2605491" y="45312"/>
                </a:cubicBezTo>
                <a:lnTo>
                  <a:pt x="2605491" y="305863"/>
                </a:lnTo>
                <a:cubicBezTo>
                  <a:pt x="2605491" y="330888"/>
                  <a:pt x="2585204" y="351175"/>
                  <a:pt x="2560179" y="351175"/>
                </a:cubicBezTo>
                <a:lnTo>
                  <a:pt x="45312" y="351175"/>
                </a:lnTo>
                <a:cubicBezTo>
                  <a:pt x="20287" y="351175"/>
                  <a:pt x="0" y="330888"/>
                  <a:pt x="0" y="305863"/>
                </a:cubicBezTo>
                <a:lnTo>
                  <a:pt x="0" y="45312"/>
                </a:lnTo>
                <a:cubicBezTo>
                  <a:pt x="0" y="20287"/>
                  <a:pt x="20287" y="0"/>
                  <a:pt x="45312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741999" y="7085803"/>
            <a:ext cx="2673461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[2] 发送 m1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87311" y="7544597"/>
            <a:ext cx="2605491" cy="351175"/>
          </a:xfrm>
          <a:custGeom>
            <a:avLst/>
            <a:gdLst/>
            <a:ahLst/>
            <a:cxnLst/>
            <a:rect l="l" t="t" r="r" b="b"/>
            <a:pathLst>
              <a:path w="2605491" h="351175">
                <a:moveTo>
                  <a:pt x="45312" y="0"/>
                </a:moveTo>
                <a:lnTo>
                  <a:pt x="2560179" y="0"/>
                </a:lnTo>
                <a:cubicBezTo>
                  <a:pt x="2585204" y="0"/>
                  <a:pt x="2605491" y="20287"/>
                  <a:pt x="2605491" y="45312"/>
                </a:cubicBezTo>
                <a:lnTo>
                  <a:pt x="2605491" y="305863"/>
                </a:lnTo>
                <a:cubicBezTo>
                  <a:pt x="2605491" y="330888"/>
                  <a:pt x="2585204" y="351175"/>
                  <a:pt x="2560179" y="351175"/>
                </a:cubicBezTo>
                <a:lnTo>
                  <a:pt x="45312" y="351175"/>
                </a:lnTo>
                <a:cubicBezTo>
                  <a:pt x="20287" y="351175"/>
                  <a:pt x="0" y="330888"/>
                  <a:pt x="0" y="305863"/>
                </a:cubicBezTo>
                <a:lnTo>
                  <a:pt x="0" y="45312"/>
                </a:lnTo>
                <a:cubicBezTo>
                  <a:pt x="0" y="20287"/>
                  <a:pt x="20287" y="0"/>
                  <a:pt x="45312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741999" y="7538932"/>
            <a:ext cx="2673461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[4] 本地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87311" y="7997725"/>
            <a:ext cx="2605491" cy="351175"/>
          </a:xfrm>
          <a:custGeom>
            <a:avLst/>
            <a:gdLst/>
            <a:ahLst/>
            <a:cxnLst/>
            <a:rect l="l" t="t" r="r" b="b"/>
            <a:pathLst>
              <a:path w="2605491" h="351175">
                <a:moveTo>
                  <a:pt x="45312" y="0"/>
                </a:moveTo>
                <a:lnTo>
                  <a:pt x="2560179" y="0"/>
                </a:lnTo>
                <a:cubicBezTo>
                  <a:pt x="2585204" y="0"/>
                  <a:pt x="2605491" y="20287"/>
                  <a:pt x="2605491" y="45312"/>
                </a:cubicBezTo>
                <a:lnTo>
                  <a:pt x="2605491" y="305863"/>
                </a:lnTo>
                <a:cubicBezTo>
                  <a:pt x="2605491" y="330888"/>
                  <a:pt x="2585204" y="351175"/>
                  <a:pt x="2560179" y="351175"/>
                </a:cubicBezTo>
                <a:lnTo>
                  <a:pt x="45312" y="351175"/>
                </a:lnTo>
                <a:cubicBezTo>
                  <a:pt x="20287" y="351175"/>
                  <a:pt x="0" y="330888"/>
                  <a:pt x="0" y="305863"/>
                </a:cubicBezTo>
                <a:lnTo>
                  <a:pt x="0" y="45312"/>
                </a:lnTo>
                <a:cubicBezTo>
                  <a:pt x="0" y="20287"/>
                  <a:pt x="20287" y="0"/>
                  <a:pt x="45312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741999" y="7992061"/>
            <a:ext cx="2673461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[5] 发送 m3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665034" y="6134233"/>
            <a:ext cx="2888697" cy="2356270"/>
          </a:xfrm>
          <a:custGeom>
            <a:avLst/>
            <a:gdLst/>
            <a:ahLst/>
            <a:cxnLst/>
            <a:rect l="l" t="t" r="r" b="b"/>
            <a:pathLst>
              <a:path w="2888697" h="2356270">
                <a:moveTo>
                  <a:pt x="45311" y="0"/>
                </a:moveTo>
                <a:lnTo>
                  <a:pt x="2843386" y="0"/>
                </a:lnTo>
                <a:cubicBezTo>
                  <a:pt x="2868410" y="0"/>
                  <a:pt x="2888697" y="20286"/>
                  <a:pt x="2888697" y="45311"/>
                </a:cubicBezTo>
                <a:lnTo>
                  <a:pt x="2888697" y="2310959"/>
                </a:lnTo>
                <a:cubicBezTo>
                  <a:pt x="2888697" y="2335984"/>
                  <a:pt x="2868410" y="2356270"/>
                  <a:pt x="2843386" y="2356270"/>
                </a:cubicBezTo>
                <a:lnTo>
                  <a:pt x="45311" y="2356270"/>
                </a:lnTo>
                <a:cubicBezTo>
                  <a:pt x="20286" y="2356270"/>
                  <a:pt x="0" y="2335984"/>
                  <a:pt x="0" y="2310959"/>
                </a:cubicBezTo>
                <a:lnTo>
                  <a:pt x="0" y="45311"/>
                </a:lnTo>
                <a:cubicBezTo>
                  <a:pt x="0" y="20303"/>
                  <a:pt x="20303" y="0"/>
                  <a:pt x="45311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3755660" y="6270171"/>
            <a:ext cx="2707445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2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 P2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3806637" y="6638339"/>
            <a:ext cx="2605491" cy="351175"/>
          </a:xfrm>
          <a:custGeom>
            <a:avLst/>
            <a:gdLst/>
            <a:ahLst/>
            <a:cxnLst/>
            <a:rect l="l" t="t" r="r" b="b"/>
            <a:pathLst>
              <a:path w="2605491" h="351175">
                <a:moveTo>
                  <a:pt x="45312" y="0"/>
                </a:moveTo>
                <a:lnTo>
                  <a:pt x="2560179" y="0"/>
                </a:lnTo>
                <a:cubicBezTo>
                  <a:pt x="2585204" y="0"/>
                  <a:pt x="2605491" y="20287"/>
                  <a:pt x="2605491" y="45312"/>
                </a:cubicBezTo>
                <a:lnTo>
                  <a:pt x="2605491" y="305863"/>
                </a:lnTo>
                <a:cubicBezTo>
                  <a:pt x="2605491" y="330888"/>
                  <a:pt x="2585204" y="351175"/>
                  <a:pt x="2560179" y="351175"/>
                </a:cubicBezTo>
                <a:lnTo>
                  <a:pt x="45312" y="351175"/>
                </a:lnTo>
                <a:cubicBezTo>
                  <a:pt x="20287" y="351175"/>
                  <a:pt x="0" y="330888"/>
                  <a:pt x="0" y="305863"/>
                </a:cubicBezTo>
                <a:lnTo>
                  <a:pt x="0" y="45312"/>
                </a:lnTo>
                <a:cubicBezTo>
                  <a:pt x="0" y="20287"/>
                  <a:pt x="20287" y="0"/>
                  <a:pt x="45312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1"/>
          <p:cNvSpPr/>
          <p:nvPr/>
        </p:nvSpPr>
        <p:spPr>
          <a:xfrm>
            <a:off x="3761324" y="6632675"/>
            <a:ext cx="2673461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[1] 本地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806637" y="7091468"/>
            <a:ext cx="2605491" cy="351175"/>
          </a:xfrm>
          <a:custGeom>
            <a:avLst/>
            <a:gdLst/>
            <a:ahLst/>
            <a:cxnLst/>
            <a:rect l="l" t="t" r="r" b="b"/>
            <a:pathLst>
              <a:path w="2605491" h="351175">
                <a:moveTo>
                  <a:pt x="45312" y="0"/>
                </a:moveTo>
                <a:lnTo>
                  <a:pt x="2560179" y="0"/>
                </a:lnTo>
                <a:cubicBezTo>
                  <a:pt x="2585204" y="0"/>
                  <a:pt x="2605491" y="20287"/>
                  <a:pt x="2605491" y="45312"/>
                </a:cubicBezTo>
                <a:lnTo>
                  <a:pt x="2605491" y="305863"/>
                </a:lnTo>
                <a:cubicBezTo>
                  <a:pt x="2605491" y="330888"/>
                  <a:pt x="2585204" y="351175"/>
                  <a:pt x="2560179" y="351175"/>
                </a:cubicBezTo>
                <a:lnTo>
                  <a:pt x="45312" y="351175"/>
                </a:lnTo>
                <a:cubicBezTo>
                  <a:pt x="20287" y="351175"/>
                  <a:pt x="0" y="330888"/>
                  <a:pt x="0" y="305863"/>
                </a:cubicBezTo>
                <a:lnTo>
                  <a:pt x="0" y="45312"/>
                </a:lnTo>
                <a:cubicBezTo>
                  <a:pt x="0" y="20287"/>
                  <a:pt x="20287" y="0"/>
                  <a:pt x="45312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3"/>
          <p:cNvSpPr/>
          <p:nvPr/>
        </p:nvSpPr>
        <p:spPr>
          <a:xfrm>
            <a:off x="3761324" y="7085803"/>
            <a:ext cx="2673461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[3] 接收 m1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806637" y="7544597"/>
            <a:ext cx="2605491" cy="351175"/>
          </a:xfrm>
          <a:custGeom>
            <a:avLst/>
            <a:gdLst/>
            <a:ahLst/>
            <a:cxnLst/>
            <a:rect l="l" t="t" r="r" b="b"/>
            <a:pathLst>
              <a:path w="2605491" h="351175">
                <a:moveTo>
                  <a:pt x="45312" y="0"/>
                </a:moveTo>
                <a:lnTo>
                  <a:pt x="2560179" y="0"/>
                </a:lnTo>
                <a:cubicBezTo>
                  <a:pt x="2585204" y="0"/>
                  <a:pt x="2605491" y="20287"/>
                  <a:pt x="2605491" y="45312"/>
                </a:cubicBezTo>
                <a:lnTo>
                  <a:pt x="2605491" y="305863"/>
                </a:lnTo>
                <a:cubicBezTo>
                  <a:pt x="2605491" y="330888"/>
                  <a:pt x="2585204" y="351175"/>
                  <a:pt x="2560179" y="351175"/>
                </a:cubicBezTo>
                <a:lnTo>
                  <a:pt x="45312" y="351175"/>
                </a:lnTo>
                <a:cubicBezTo>
                  <a:pt x="20287" y="351175"/>
                  <a:pt x="0" y="330888"/>
                  <a:pt x="0" y="305863"/>
                </a:cubicBezTo>
                <a:lnTo>
                  <a:pt x="0" y="45312"/>
                </a:lnTo>
                <a:cubicBezTo>
                  <a:pt x="0" y="20287"/>
                  <a:pt x="20287" y="0"/>
                  <a:pt x="45312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3761324" y="7538932"/>
            <a:ext cx="2673461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[3] 发送 m2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684360" y="6134233"/>
            <a:ext cx="2888697" cy="2356270"/>
          </a:xfrm>
          <a:custGeom>
            <a:avLst/>
            <a:gdLst/>
            <a:ahLst/>
            <a:cxnLst/>
            <a:rect l="l" t="t" r="r" b="b"/>
            <a:pathLst>
              <a:path w="2888697" h="2356270">
                <a:moveTo>
                  <a:pt x="45311" y="0"/>
                </a:moveTo>
                <a:lnTo>
                  <a:pt x="2843386" y="0"/>
                </a:lnTo>
                <a:cubicBezTo>
                  <a:pt x="2868410" y="0"/>
                  <a:pt x="2888697" y="20286"/>
                  <a:pt x="2888697" y="45311"/>
                </a:cubicBezTo>
                <a:lnTo>
                  <a:pt x="2888697" y="2310959"/>
                </a:lnTo>
                <a:cubicBezTo>
                  <a:pt x="2888697" y="2335984"/>
                  <a:pt x="2868410" y="2356270"/>
                  <a:pt x="2843386" y="2356270"/>
                </a:cubicBezTo>
                <a:lnTo>
                  <a:pt x="45311" y="2356270"/>
                </a:lnTo>
                <a:cubicBezTo>
                  <a:pt x="20286" y="2356270"/>
                  <a:pt x="0" y="2335984"/>
                  <a:pt x="0" y="2310959"/>
                </a:cubicBezTo>
                <a:lnTo>
                  <a:pt x="0" y="45311"/>
                </a:lnTo>
                <a:cubicBezTo>
                  <a:pt x="0" y="20303"/>
                  <a:pt x="20303" y="0"/>
                  <a:pt x="45311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7"/>
          <p:cNvSpPr/>
          <p:nvPr/>
        </p:nvSpPr>
        <p:spPr>
          <a:xfrm>
            <a:off x="6774985" y="6270171"/>
            <a:ext cx="2707445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2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 P3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825962" y="6638339"/>
            <a:ext cx="2605491" cy="351175"/>
          </a:xfrm>
          <a:custGeom>
            <a:avLst/>
            <a:gdLst/>
            <a:ahLst/>
            <a:cxnLst/>
            <a:rect l="l" t="t" r="r" b="b"/>
            <a:pathLst>
              <a:path w="2605491" h="351175">
                <a:moveTo>
                  <a:pt x="45312" y="0"/>
                </a:moveTo>
                <a:lnTo>
                  <a:pt x="2560179" y="0"/>
                </a:lnTo>
                <a:cubicBezTo>
                  <a:pt x="2585204" y="0"/>
                  <a:pt x="2605491" y="20287"/>
                  <a:pt x="2605491" y="45312"/>
                </a:cubicBezTo>
                <a:lnTo>
                  <a:pt x="2605491" y="305863"/>
                </a:lnTo>
                <a:cubicBezTo>
                  <a:pt x="2605491" y="330888"/>
                  <a:pt x="2585204" y="351175"/>
                  <a:pt x="2560179" y="351175"/>
                </a:cubicBezTo>
                <a:lnTo>
                  <a:pt x="45312" y="351175"/>
                </a:lnTo>
                <a:cubicBezTo>
                  <a:pt x="20287" y="351175"/>
                  <a:pt x="0" y="330888"/>
                  <a:pt x="0" y="305863"/>
                </a:cubicBezTo>
                <a:lnTo>
                  <a:pt x="0" y="45312"/>
                </a:lnTo>
                <a:cubicBezTo>
                  <a:pt x="0" y="20287"/>
                  <a:pt x="20287" y="0"/>
                  <a:pt x="45312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9"/>
          <p:cNvSpPr/>
          <p:nvPr/>
        </p:nvSpPr>
        <p:spPr>
          <a:xfrm>
            <a:off x="6780649" y="6632675"/>
            <a:ext cx="2673461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[1] 本地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825962" y="7091468"/>
            <a:ext cx="2605491" cy="351175"/>
          </a:xfrm>
          <a:custGeom>
            <a:avLst/>
            <a:gdLst/>
            <a:ahLst/>
            <a:cxnLst/>
            <a:rect l="l" t="t" r="r" b="b"/>
            <a:pathLst>
              <a:path w="2605491" h="351175">
                <a:moveTo>
                  <a:pt x="45312" y="0"/>
                </a:moveTo>
                <a:lnTo>
                  <a:pt x="2560179" y="0"/>
                </a:lnTo>
                <a:cubicBezTo>
                  <a:pt x="2585204" y="0"/>
                  <a:pt x="2605491" y="20287"/>
                  <a:pt x="2605491" y="45312"/>
                </a:cubicBezTo>
                <a:lnTo>
                  <a:pt x="2605491" y="305863"/>
                </a:lnTo>
                <a:cubicBezTo>
                  <a:pt x="2605491" y="330888"/>
                  <a:pt x="2585204" y="351175"/>
                  <a:pt x="2560179" y="351175"/>
                </a:cubicBezTo>
                <a:lnTo>
                  <a:pt x="45312" y="351175"/>
                </a:lnTo>
                <a:cubicBezTo>
                  <a:pt x="20287" y="351175"/>
                  <a:pt x="0" y="330888"/>
                  <a:pt x="0" y="305863"/>
                </a:cubicBezTo>
                <a:lnTo>
                  <a:pt x="0" y="45312"/>
                </a:lnTo>
                <a:cubicBezTo>
                  <a:pt x="0" y="20287"/>
                  <a:pt x="20287" y="0"/>
                  <a:pt x="45312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1"/>
          <p:cNvSpPr/>
          <p:nvPr/>
        </p:nvSpPr>
        <p:spPr>
          <a:xfrm>
            <a:off x="6780649" y="7085803"/>
            <a:ext cx="2673461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[2] 本地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825962" y="7544597"/>
            <a:ext cx="2605491" cy="351175"/>
          </a:xfrm>
          <a:custGeom>
            <a:avLst/>
            <a:gdLst/>
            <a:ahLst/>
            <a:cxnLst/>
            <a:rect l="l" t="t" r="r" b="b"/>
            <a:pathLst>
              <a:path w="2605491" h="351175">
                <a:moveTo>
                  <a:pt x="45312" y="0"/>
                </a:moveTo>
                <a:lnTo>
                  <a:pt x="2560179" y="0"/>
                </a:lnTo>
                <a:cubicBezTo>
                  <a:pt x="2585204" y="0"/>
                  <a:pt x="2605491" y="20287"/>
                  <a:pt x="2605491" y="45312"/>
                </a:cubicBezTo>
                <a:lnTo>
                  <a:pt x="2605491" y="305863"/>
                </a:lnTo>
                <a:cubicBezTo>
                  <a:pt x="2605491" y="330888"/>
                  <a:pt x="2585204" y="351175"/>
                  <a:pt x="2560179" y="351175"/>
                </a:cubicBezTo>
                <a:lnTo>
                  <a:pt x="45312" y="351175"/>
                </a:lnTo>
                <a:cubicBezTo>
                  <a:pt x="20287" y="351175"/>
                  <a:pt x="0" y="330888"/>
                  <a:pt x="0" y="305863"/>
                </a:cubicBezTo>
                <a:lnTo>
                  <a:pt x="0" y="45312"/>
                </a:lnTo>
                <a:cubicBezTo>
                  <a:pt x="0" y="20287"/>
                  <a:pt x="20287" y="0"/>
                  <a:pt x="45312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3"/>
          <p:cNvSpPr/>
          <p:nvPr/>
        </p:nvSpPr>
        <p:spPr>
          <a:xfrm>
            <a:off x="6780649" y="7538932"/>
            <a:ext cx="2673461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[4] 接收 m2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825962" y="7997725"/>
            <a:ext cx="2605491" cy="351175"/>
          </a:xfrm>
          <a:custGeom>
            <a:avLst/>
            <a:gdLst/>
            <a:ahLst/>
            <a:cxnLst/>
            <a:rect l="l" t="t" r="r" b="b"/>
            <a:pathLst>
              <a:path w="2605491" h="351175">
                <a:moveTo>
                  <a:pt x="45312" y="0"/>
                </a:moveTo>
                <a:lnTo>
                  <a:pt x="2560179" y="0"/>
                </a:lnTo>
                <a:cubicBezTo>
                  <a:pt x="2585204" y="0"/>
                  <a:pt x="2605491" y="20287"/>
                  <a:pt x="2605491" y="45312"/>
                </a:cubicBezTo>
                <a:lnTo>
                  <a:pt x="2605491" y="305863"/>
                </a:lnTo>
                <a:cubicBezTo>
                  <a:pt x="2605491" y="330888"/>
                  <a:pt x="2585204" y="351175"/>
                  <a:pt x="2560179" y="351175"/>
                </a:cubicBezTo>
                <a:lnTo>
                  <a:pt x="45312" y="351175"/>
                </a:lnTo>
                <a:cubicBezTo>
                  <a:pt x="20287" y="351175"/>
                  <a:pt x="0" y="330888"/>
                  <a:pt x="0" y="305863"/>
                </a:cubicBezTo>
                <a:lnTo>
                  <a:pt x="0" y="45312"/>
                </a:lnTo>
                <a:cubicBezTo>
                  <a:pt x="0" y="20287"/>
                  <a:pt x="20287" y="0"/>
                  <a:pt x="45312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5"/>
          <p:cNvSpPr/>
          <p:nvPr/>
        </p:nvSpPr>
        <p:spPr>
          <a:xfrm>
            <a:off x="6780649" y="7992061"/>
            <a:ext cx="2673461" cy="3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9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[6] 接收 m3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9703685" y="6134233"/>
            <a:ext cx="2888697" cy="2356270"/>
          </a:xfrm>
          <a:custGeom>
            <a:avLst/>
            <a:gdLst/>
            <a:ahLst/>
            <a:cxnLst/>
            <a:rect l="l" t="t" r="r" b="b"/>
            <a:pathLst>
              <a:path w="2888697" h="2356270">
                <a:moveTo>
                  <a:pt x="45311" y="0"/>
                </a:moveTo>
                <a:lnTo>
                  <a:pt x="2843386" y="0"/>
                </a:lnTo>
                <a:cubicBezTo>
                  <a:pt x="2868410" y="0"/>
                  <a:pt x="2888697" y="20286"/>
                  <a:pt x="2888697" y="45311"/>
                </a:cubicBezTo>
                <a:lnTo>
                  <a:pt x="2888697" y="2310959"/>
                </a:lnTo>
                <a:cubicBezTo>
                  <a:pt x="2888697" y="2335984"/>
                  <a:pt x="2868410" y="2356270"/>
                  <a:pt x="2843386" y="2356270"/>
                </a:cubicBezTo>
                <a:lnTo>
                  <a:pt x="45311" y="2356270"/>
                </a:lnTo>
                <a:cubicBezTo>
                  <a:pt x="20286" y="2356270"/>
                  <a:pt x="0" y="2335984"/>
                  <a:pt x="0" y="2310959"/>
                </a:cubicBezTo>
                <a:lnTo>
                  <a:pt x="0" y="45311"/>
                </a:lnTo>
                <a:cubicBezTo>
                  <a:pt x="0" y="20303"/>
                  <a:pt x="20303" y="0"/>
                  <a:pt x="45311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7"/>
          <p:cNvSpPr/>
          <p:nvPr/>
        </p:nvSpPr>
        <p:spPr>
          <a:xfrm>
            <a:off x="9839624" y="6383454"/>
            <a:ext cx="2707445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因果关系验证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9839624" y="6745957"/>
            <a:ext cx="2696117" cy="226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P1[1] → P1[2]: 1 &lt; 2 ✅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9839624" y="7063147"/>
            <a:ext cx="2696117" cy="226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P1[2] → P2[3]: 2 &lt; 3 ✅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9839624" y="7380337"/>
            <a:ext cx="2696117" cy="226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P2[3] → P3[4]: 3 &lt; 4 ✅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9839624" y="7697528"/>
            <a:ext cx="2696117" cy="226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P1[4] → P1[5]: 4 &lt; 5 ✅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9839624" y="8014718"/>
            <a:ext cx="2696117" cy="226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P1[5] → P3[6]: 5 &lt; 6 ✅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12723010" y="6134233"/>
            <a:ext cx="2888697" cy="2356270"/>
          </a:xfrm>
          <a:custGeom>
            <a:avLst/>
            <a:gdLst/>
            <a:ahLst/>
            <a:cxnLst/>
            <a:rect l="l" t="t" r="r" b="b"/>
            <a:pathLst>
              <a:path w="2888697" h="2356270">
                <a:moveTo>
                  <a:pt x="45311" y="0"/>
                </a:moveTo>
                <a:lnTo>
                  <a:pt x="2843386" y="0"/>
                </a:lnTo>
                <a:cubicBezTo>
                  <a:pt x="2868410" y="0"/>
                  <a:pt x="2888697" y="20286"/>
                  <a:pt x="2888697" y="45311"/>
                </a:cubicBezTo>
                <a:lnTo>
                  <a:pt x="2888697" y="2310959"/>
                </a:lnTo>
                <a:cubicBezTo>
                  <a:pt x="2888697" y="2335984"/>
                  <a:pt x="2868410" y="2356270"/>
                  <a:pt x="2843386" y="2356270"/>
                </a:cubicBezTo>
                <a:lnTo>
                  <a:pt x="45311" y="2356270"/>
                </a:lnTo>
                <a:cubicBezTo>
                  <a:pt x="20286" y="2356270"/>
                  <a:pt x="0" y="2335984"/>
                  <a:pt x="0" y="2310959"/>
                </a:cubicBezTo>
                <a:lnTo>
                  <a:pt x="0" y="45311"/>
                </a:lnTo>
                <a:cubicBezTo>
                  <a:pt x="0" y="20303"/>
                  <a:pt x="20303" y="0"/>
                  <a:pt x="45311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4"/>
          <p:cNvSpPr/>
          <p:nvPr/>
        </p:nvSpPr>
        <p:spPr>
          <a:xfrm>
            <a:off x="12858949" y="6440095"/>
            <a:ext cx="2707445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并发事件识别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12858949" y="6802598"/>
            <a:ext cx="2696117" cy="226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P1[1] ∥ P2[1] ∥ P3[1]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12858949" y="7119788"/>
            <a:ext cx="2696117" cy="226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P1[4] ∥ P2[3]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12858949" y="7436978"/>
            <a:ext cx="2696117" cy="226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P2[3] ∥ P3[2]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12864613" y="7805146"/>
            <a:ext cx="2605491" cy="373831"/>
          </a:xfrm>
          <a:custGeom>
            <a:avLst/>
            <a:gdLst/>
            <a:ahLst/>
            <a:cxnLst/>
            <a:rect l="l" t="t" r="r" b="b"/>
            <a:pathLst>
              <a:path w="2605491" h="373831">
                <a:moveTo>
                  <a:pt x="45312" y="0"/>
                </a:moveTo>
                <a:lnTo>
                  <a:pt x="2560179" y="0"/>
                </a:lnTo>
                <a:cubicBezTo>
                  <a:pt x="2585204" y="0"/>
                  <a:pt x="2605491" y="20287"/>
                  <a:pt x="2605491" y="45312"/>
                </a:cubicBezTo>
                <a:lnTo>
                  <a:pt x="2605491" y="328519"/>
                </a:lnTo>
                <a:cubicBezTo>
                  <a:pt x="2605491" y="353544"/>
                  <a:pt x="2585204" y="373831"/>
                  <a:pt x="2560179" y="373831"/>
                </a:cubicBezTo>
                <a:lnTo>
                  <a:pt x="45312" y="373831"/>
                </a:lnTo>
                <a:cubicBezTo>
                  <a:pt x="20287" y="373831"/>
                  <a:pt x="0" y="353544"/>
                  <a:pt x="0" y="328519"/>
                </a:cubicBezTo>
                <a:lnTo>
                  <a:pt x="0" y="45312"/>
                </a:lnTo>
                <a:cubicBezTo>
                  <a:pt x="0" y="20287"/>
                  <a:pt x="20287" y="0"/>
                  <a:pt x="45312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69"/>
          <p:cNvSpPr/>
          <p:nvPr/>
        </p:nvSpPr>
        <p:spPr>
          <a:xfrm>
            <a:off x="12960903" y="7901436"/>
            <a:ext cx="2480881" cy="18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注意:</a:t>
            </a:r>
            <a:r>
              <a:rPr lang="en-US" sz="1070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时钟值相同不等于并发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3543300" cy="520700"/>
          </a:xfrm>
          <a:custGeom>
            <a:avLst/>
            <a:gdLst/>
            <a:ahLst/>
            <a:cxnLst/>
            <a:rect l="l" t="t" r="r" b="b"/>
            <a:pathLst>
              <a:path w="3543300" h="520700">
                <a:moveTo>
                  <a:pt x="50799" y="0"/>
                </a:moveTo>
                <a:lnTo>
                  <a:pt x="3492501" y="0"/>
                </a:lnTo>
                <a:cubicBezTo>
                  <a:pt x="3520556" y="0"/>
                  <a:pt x="3543300" y="22744"/>
                  <a:pt x="3543300" y="50799"/>
                </a:cubicBezTo>
                <a:lnTo>
                  <a:pt x="3543300" y="469901"/>
                </a:lnTo>
                <a:cubicBezTo>
                  <a:pt x="3543300" y="497956"/>
                  <a:pt x="3520556" y="520700"/>
                  <a:pt x="3492501" y="520700"/>
                </a:cubicBezTo>
                <a:lnTo>
                  <a:pt x="50799" y="520700"/>
                </a:lnTo>
                <a:cubicBezTo>
                  <a:pt x="22744" y="520700"/>
                  <a:pt x="0" y="497956"/>
                  <a:pt x="0" y="4699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3900" y="641350"/>
            <a:ext cx="3220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TRANSACTIONS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43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应用层核心挑战(一):分布式事务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20700" y="1644650"/>
            <a:ext cx="7505700" cy="3219450"/>
          </a:xfrm>
          <a:custGeom>
            <a:avLst/>
            <a:gdLst/>
            <a:ahLst/>
            <a:cxnLst/>
            <a:rect l="l" t="t" r="r" b="b"/>
            <a:pathLst>
              <a:path w="7505700" h="3962400">
                <a:moveTo>
                  <a:pt x="101596" y="0"/>
                </a:moveTo>
                <a:lnTo>
                  <a:pt x="7404104" y="0"/>
                </a:lnTo>
                <a:cubicBezTo>
                  <a:pt x="7460214" y="0"/>
                  <a:pt x="7505700" y="45486"/>
                  <a:pt x="7505700" y="101596"/>
                </a:cubicBezTo>
                <a:lnTo>
                  <a:pt x="7505700" y="3860804"/>
                </a:lnTo>
                <a:cubicBezTo>
                  <a:pt x="7505700" y="3916914"/>
                  <a:pt x="7460214" y="3962400"/>
                  <a:pt x="7404104" y="3962400"/>
                </a:cubicBezTo>
                <a:lnTo>
                  <a:pt x="101596" y="3962400"/>
                </a:lnTo>
                <a:cubicBezTo>
                  <a:pt x="45486" y="3962400"/>
                  <a:pt x="0" y="3916914"/>
                  <a:pt x="0" y="38608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2000" y="1905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27000" y="67469"/>
                </a:moveTo>
                <a:cubicBezTo>
                  <a:pt x="133598" y="67469"/>
                  <a:pt x="138906" y="72777"/>
                  <a:pt x="138906" y="79375"/>
                </a:cubicBezTo>
                <a:lnTo>
                  <a:pt x="138906" y="134938"/>
                </a:lnTo>
                <a:cubicBezTo>
                  <a:pt x="138906" y="141536"/>
                  <a:pt x="133598" y="146844"/>
                  <a:pt x="127000" y="146844"/>
                </a:cubicBezTo>
                <a:cubicBezTo>
                  <a:pt x="120402" y="146844"/>
                  <a:pt x="115094" y="141536"/>
                  <a:pt x="115094" y="134938"/>
                </a:cubicBezTo>
                <a:lnTo>
                  <a:pt x="115094" y="79375"/>
                </a:lnTo>
                <a:cubicBezTo>
                  <a:pt x="115094" y="72777"/>
                  <a:pt x="120402" y="67469"/>
                  <a:pt x="127000" y="67469"/>
                </a:cubicBezTo>
                <a:close/>
                <a:moveTo>
                  <a:pt x="113754" y="174625"/>
                </a:moveTo>
                <a:cubicBezTo>
                  <a:pt x="113453" y="169708"/>
                  <a:pt x="115905" y="165031"/>
                  <a:pt x="120120" y="162481"/>
                </a:cubicBezTo>
                <a:cubicBezTo>
                  <a:pt x="124334" y="159932"/>
                  <a:pt x="129616" y="159932"/>
                  <a:pt x="133831" y="162481"/>
                </a:cubicBezTo>
                <a:cubicBezTo>
                  <a:pt x="138045" y="165031"/>
                  <a:pt x="140497" y="169708"/>
                  <a:pt x="140196" y="174625"/>
                </a:cubicBezTo>
                <a:cubicBezTo>
                  <a:pt x="140497" y="179542"/>
                  <a:pt x="138045" y="184219"/>
                  <a:pt x="133831" y="186769"/>
                </a:cubicBezTo>
                <a:cubicBezTo>
                  <a:pt x="129616" y="189318"/>
                  <a:pt x="124334" y="189318"/>
                  <a:pt x="120120" y="186769"/>
                </a:cubicBezTo>
                <a:cubicBezTo>
                  <a:pt x="115905" y="184219"/>
                  <a:pt x="113453" y="179542"/>
                  <a:pt x="113754" y="17462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00150" y="1854200"/>
            <a:ext cx="674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分布式事务的挑战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315195"/>
              </p:ext>
            </p:extLst>
          </p:nvPr>
        </p:nvGraphicFramePr>
        <p:xfrm>
          <a:off x="730250" y="2362200"/>
          <a:ext cx="7086600" cy="232410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挑战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单机环境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分布式环境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网络故障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不存在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节点间通信可能失败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无法确定操作是否成功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节点故障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系统整体故障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部分节点故障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需要处理部分失败情况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并发控制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本地锁机制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跨节点锁协调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死锁检测复杂化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数据一致性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本地约束检查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跨节点约束验证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一致性维护困难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235950" y="917576"/>
            <a:ext cx="7505700" cy="3962400"/>
          </a:xfrm>
          <a:custGeom>
            <a:avLst/>
            <a:gdLst/>
            <a:ahLst/>
            <a:cxnLst/>
            <a:rect l="l" t="t" r="r" b="b"/>
            <a:pathLst>
              <a:path w="7505700" h="3962400">
                <a:moveTo>
                  <a:pt x="101596" y="0"/>
                </a:moveTo>
                <a:lnTo>
                  <a:pt x="7404104" y="0"/>
                </a:lnTo>
                <a:cubicBezTo>
                  <a:pt x="7460214" y="0"/>
                  <a:pt x="7505700" y="45486"/>
                  <a:pt x="7505700" y="101596"/>
                </a:cubicBezTo>
                <a:lnTo>
                  <a:pt x="7505700" y="3860804"/>
                </a:lnTo>
                <a:cubicBezTo>
                  <a:pt x="7505700" y="3916914"/>
                  <a:pt x="7460214" y="3962400"/>
                  <a:pt x="7404104" y="3962400"/>
                </a:cubicBezTo>
                <a:lnTo>
                  <a:pt x="101596" y="3962400"/>
                </a:lnTo>
                <a:cubicBezTo>
                  <a:pt x="45486" y="3962400"/>
                  <a:pt x="0" y="3916914"/>
                  <a:pt x="0" y="38608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509000" y="1177926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63500" y="47625"/>
                </a:moveTo>
                <a:lnTo>
                  <a:pt x="63500" y="79375"/>
                </a:lnTo>
                <a:lnTo>
                  <a:pt x="127000" y="79375"/>
                </a:lnTo>
                <a:lnTo>
                  <a:pt x="127000" y="47625"/>
                </a:lnTo>
                <a:cubicBezTo>
                  <a:pt x="127000" y="30113"/>
                  <a:pt x="112762" y="15875"/>
                  <a:pt x="95250" y="15875"/>
                </a:cubicBezTo>
                <a:cubicBezTo>
                  <a:pt x="77738" y="15875"/>
                  <a:pt x="63500" y="30113"/>
                  <a:pt x="63500" y="47625"/>
                </a:cubicBezTo>
                <a:close/>
                <a:moveTo>
                  <a:pt x="31750" y="79375"/>
                </a:moveTo>
                <a:lnTo>
                  <a:pt x="31750" y="47625"/>
                </a:lnTo>
                <a:cubicBezTo>
                  <a:pt x="31750" y="12551"/>
                  <a:pt x="60176" y="-15875"/>
                  <a:pt x="95250" y="-15875"/>
                </a:cubicBezTo>
                <a:cubicBezTo>
                  <a:pt x="130324" y="-15875"/>
                  <a:pt x="158750" y="12551"/>
                  <a:pt x="158750" y="47625"/>
                </a:cubicBezTo>
                <a:lnTo>
                  <a:pt x="158750" y="79375"/>
                </a:lnTo>
                <a:cubicBezTo>
                  <a:pt x="176262" y="79375"/>
                  <a:pt x="190500" y="93613"/>
                  <a:pt x="190500" y="111125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111125"/>
                </a:lnTo>
                <a:cubicBezTo>
                  <a:pt x="0" y="93613"/>
                  <a:pt x="14238" y="79375"/>
                  <a:pt x="31750" y="793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915400" y="1127126"/>
            <a:ext cx="674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ACID特性的数学定义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470900" y="1635126"/>
            <a:ext cx="50800" cy="647700"/>
          </a:xfrm>
          <a:custGeom>
            <a:avLst/>
            <a:gdLst/>
            <a:ahLst/>
            <a:cxnLst/>
            <a:rect l="l" t="t" r="r" b="b"/>
            <a:pathLst>
              <a:path w="50800" h="647700">
                <a:moveTo>
                  <a:pt x="0" y="0"/>
                </a:moveTo>
                <a:lnTo>
                  <a:pt x="50800" y="0"/>
                </a:lnTo>
                <a:lnTo>
                  <a:pt x="508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648700" y="1635126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原子性 (Atomicity)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48700" y="1990726"/>
            <a:ext cx="697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事务T中的所有操作要么全部执行,要么全部不执行。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470900" y="2432051"/>
            <a:ext cx="50800" cy="647700"/>
          </a:xfrm>
          <a:custGeom>
            <a:avLst/>
            <a:gdLst/>
            <a:ahLst/>
            <a:cxnLst/>
            <a:rect l="l" t="t" r="r" b="b"/>
            <a:pathLst>
              <a:path w="50800" h="647700">
                <a:moveTo>
                  <a:pt x="0" y="0"/>
                </a:moveTo>
                <a:lnTo>
                  <a:pt x="50800" y="0"/>
                </a:lnTo>
                <a:lnTo>
                  <a:pt x="508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648700" y="2432051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 (Consistency)</a:t>
            </a:r>
            <a:endParaRPr lang="en-US" sz="1600" dirty="0"/>
          </a:p>
        </p:txBody>
      </p:sp>
      <p:sp>
        <p:nvSpPr>
          <p:cNvPr id="8" name="Text 14"/>
          <p:cNvSpPr/>
          <p:nvPr/>
        </p:nvSpPr>
        <p:spPr>
          <a:xfrm>
            <a:off x="8648700" y="2787651"/>
            <a:ext cx="697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事务执行前后,数据库的完整性约束不被破坏。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470900" y="3228976"/>
            <a:ext cx="50800" cy="647700"/>
          </a:xfrm>
          <a:custGeom>
            <a:avLst/>
            <a:gdLst/>
            <a:ahLst/>
            <a:cxnLst/>
            <a:rect l="l" t="t" r="r" b="b"/>
            <a:pathLst>
              <a:path w="50800" h="647700">
                <a:moveTo>
                  <a:pt x="0" y="0"/>
                </a:moveTo>
                <a:lnTo>
                  <a:pt x="50800" y="0"/>
                </a:lnTo>
                <a:lnTo>
                  <a:pt x="508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8648700" y="3228976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隔离性 (Isolation)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48700" y="3584576"/>
            <a:ext cx="697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并发执行的事务之间互不干扰,如同串行执行。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470900" y="4025901"/>
            <a:ext cx="50800" cy="647700"/>
          </a:xfrm>
          <a:custGeom>
            <a:avLst/>
            <a:gdLst/>
            <a:ahLst/>
            <a:cxnLst/>
            <a:rect l="l" t="t" r="r" b="b"/>
            <a:pathLst>
              <a:path w="50800" h="647700">
                <a:moveTo>
                  <a:pt x="0" y="0"/>
                </a:moveTo>
                <a:lnTo>
                  <a:pt x="50800" y="0"/>
                </a:lnTo>
                <a:lnTo>
                  <a:pt x="508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8648700" y="4025901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持久性 (Durability)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648700" y="4381501"/>
            <a:ext cx="697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事务提交后,其修改将永久保存在数据库中。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14350" y="4967277"/>
            <a:ext cx="15227300" cy="3962399"/>
          </a:xfrm>
          <a:custGeom>
            <a:avLst/>
            <a:gdLst/>
            <a:ahLst/>
            <a:cxnLst/>
            <a:rect l="l" t="t" r="r" b="b"/>
            <a:pathLst>
              <a:path w="15227300" h="2590800">
                <a:moveTo>
                  <a:pt x="101611" y="0"/>
                </a:moveTo>
                <a:lnTo>
                  <a:pt x="15125689" y="0"/>
                </a:lnTo>
                <a:cubicBezTo>
                  <a:pt x="15181807" y="0"/>
                  <a:pt x="15227300" y="45493"/>
                  <a:pt x="15227300" y="101611"/>
                </a:cubicBezTo>
                <a:lnTo>
                  <a:pt x="15227300" y="2489189"/>
                </a:lnTo>
                <a:cubicBezTo>
                  <a:pt x="15227300" y="2545307"/>
                  <a:pt x="15181807" y="2590800"/>
                  <a:pt x="15125689" y="2590800"/>
                </a:cubicBezTo>
                <a:lnTo>
                  <a:pt x="101611" y="2590800"/>
                </a:lnTo>
                <a:cubicBezTo>
                  <a:pt x="45493" y="2590800"/>
                  <a:pt x="0" y="2545307"/>
                  <a:pt x="0" y="24891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520700" y="4973628"/>
            <a:ext cx="15214600" cy="666750"/>
          </a:xfrm>
          <a:custGeom>
            <a:avLst/>
            <a:gdLst/>
            <a:ahLst/>
            <a:cxnLst/>
            <a:rect l="l" t="t" r="r" b="b"/>
            <a:pathLst>
              <a:path w="15214600" h="666750">
                <a:moveTo>
                  <a:pt x="0" y="0"/>
                </a:moveTo>
                <a:lnTo>
                  <a:pt x="15214600" y="0"/>
                </a:lnTo>
                <a:lnTo>
                  <a:pt x="1521460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520700" y="5640378"/>
            <a:ext cx="15214600" cy="12700"/>
          </a:xfrm>
          <a:custGeom>
            <a:avLst/>
            <a:gdLst/>
            <a:ahLst/>
            <a:cxnLst/>
            <a:rect l="l" t="t" r="r" b="b"/>
            <a:pathLst>
              <a:path w="15214600" h="12700">
                <a:moveTo>
                  <a:pt x="0" y="0"/>
                </a:moveTo>
                <a:lnTo>
                  <a:pt x="15214600" y="0"/>
                </a:lnTo>
                <a:lnTo>
                  <a:pt x="15214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857250" y="517682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74712"/>
                </a:moveTo>
                <a:lnTo>
                  <a:pt x="201712" y="122337"/>
                </a:lnTo>
                <a:cubicBezTo>
                  <a:pt x="197148" y="126901"/>
                  <a:pt x="190351" y="128240"/>
                  <a:pt x="184398" y="125760"/>
                </a:cubicBezTo>
                <a:cubicBezTo>
                  <a:pt x="178445" y="123279"/>
                  <a:pt x="174625" y="117525"/>
                  <a:pt x="174625" y="111125"/>
                </a:cubicBezTo>
                <a:lnTo>
                  <a:pt x="174625" y="79375"/>
                </a:ln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174625" y="47625"/>
                </a:lnTo>
                <a:lnTo>
                  <a:pt x="174625" y="15875"/>
                </a:lnTo>
                <a:cubicBezTo>
                  <a:pt x="174625" y="9475"/>
                  <a:pt x="178495" y="3671"/>
                  <a:pt x="184448" y="1191"/>
                </a:cubicBezTo>
                <a:cubicBezTo>
                  <a:pt x="190401" y="-1290"/>
                  <a:pt x="197197" y="99"/>
                  <a:pt x="201761" y="4614"/>
                </a:cubicBezTo>
                <a:lnTo>
                  <a:pt x="249386" y="52239"/>
                </a:lnTo>
                <a:cubicBezTo>
                  <a:pt x="255588" y="58440"/>
                  <a:pt x="255588" y="68511"/>
                  <a:pt x="249386" y="74712"/>
                </a:cubicBezTo>
                <a:close/>
                <a:moveTo>
                  <a:pt x="52239" y="249337"/>
                </a:moveTo>
                <a:lnTo>
                  <a:pt x="4614" y="201712"/>
                </a:lnTo>
                <a:cubicBezTo>
                  <a:pt x="-1587" y="195511"/>
                  <a:pt x="-1587" y="185440"/>
                  <a:pt x="4614" y="179239"/>
                </a:cubicBezTo>
                <a:lnTo>
                  <a:pt x="52239" y="131614"/>
                </a:lnTo>
                <a:cubicBezTo>
                  <a:pt x="56803" y="127050"/>
                  <a:pt x="63599" y="125710"/>
                  <a:pt x="69552" y="128191"/>
                </a:cubicBezTo>
                <a:cubicBezTo>
                  <a:pt x="75505" y="130671"/>
                  <a:pt x="79375" y="136475"/>
                  <a:pt x="79375" y="142875"/>
                </a:cubicBezTo>
                <a:lnTo>
                  <a:pt x="79375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cubicBezTo>
                  <a:pt x="254000" y="199281"/>
                  <a:pt x="246906" y="206375"/>
                  <a:pt x="238125" y="206375"/>
                </a:cubicBezTo>
                <a:lnTo>
                  <a:pt x="79375" y="206375"/>
                </a:lnTo>
                <a:lnTo>
                  <a:pt x="79375" y="238125"/>
                </a:lnTo>
                <a:cubicBezTo>
                  <a:pt x="79375" y="244525"/>
                  <a:pt x="75505" y="250329"/>
                  <a:pt x="69552" y="252809"/>
                </a:cubicBezTo>
                <a:cubicBezTo>
                  <a:pt x="63599" y="255290"/>
                  <a:pt x="56803" y="253901"/>
                  <a:pt x="52239" y="249386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1295400" y="5126028"/>
            <a:ext cx="142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两阶段提交协议 (2PC) 流程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2290167" y="5862628"/>
            <a:ext cx="1600200" cy="584200"/>
          </a:xfrm>
          <a:custGeom>
            <a:avLst/>
            <a:gdLst/>
            <a:ahLst/>
            <a:cxnLst/>
            <a:rect l="l" t="t" r="r" b="b"/>
            <a:pathLst>
              <a:path w="1600200" h="584200">
                <a:moveTo>
                  <a:pt x="101598" y="0"/>
                </a:moveTo>
                <a:lnTo>
                  <a:pt x="1498602" y="0"/>
                </a:lnTo>
                <a:cubicBezTo>
                  <a:pt x="1554713" y="0"/>
                  <a:pt x="1600200" y="45487"/>
                  <a:pt x="1600200" y="101598"/>
                </a:cubicBezTo>
                <a:lnTo>
                  <a:pt x="1600200" y="482602"/>
                </a:lnTo>
                <a:cubicBezTo>
                  <a:pt x="1600200" y="538713"/>
                  <a:pt x="1554713" y="584200"/>
                  <a:pt x="1498602" y="584200"/>
                </a:cubicBezTo>
                <a:lnTo>
                  <a:pt x="101598" y="584200"/>
                </a:lnTo>
                <a:cubicBezTo>
                  <a:pt x="45487" y="584200"/>
                  <a:pt x="0" y="538713"/>
                  <a:pt x="0" y="482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2785467" y="6002328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协调者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30250" y="6618278"/>
            <a:ext cx="4724400" cy="345417"/>
          </a:xfrm>
          <a:custGeom>
            <a:avLst/>
            <a:gdLst/>
            <a:ahLst/>
            <a:cxnLst/>
            <a:rect l="l" t="t" r="r" b="b"/>
            <a:pathLst>
              <a:path w="4724400" h="495300">
                <a:moveTo>
                  <a:pt x="50798" y="0"/>
                </a:moveTo>
                <a:lnTo>
                  <a:pt x="4673602" y="0"/>
                </a:lnTo>
                <a:cubicBezTo>
                  <a:pt x="4701657" y="0"/>
                  <a:pt x="4724400" y="22743"/>
                  <a:pt x="4724400" y="50798"/>
                </a:cubicBezTo>
                <a:lnTo>
                  <a:pt x="4724400" y="444502"/>
                </a:lnTo>
                <a:cubicBezTo>
                  <a:pt x="4724400" y="472557"/>
                  <a:pt x="4701657" y="495300"/>
                  <a:pt x="4673602" y="495300"/>
                </a:cubicBezTo>
                <a:lnTo>
                  <a:pt x="50798" y="495300"/>
                </a:lnTo>
                <a:cubicBezTo>
                  <a:pt x="22743" y="495300"/>
                  <a:pt x="0" y="472557"/>
                  <a:pt x="0" y="4445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679450" y="6611928"/>
            <a:ext cx="4800600" cy="336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开始事务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30250" y="7042138"/>
            <a:ext cx="4724400" cy="345417"/>
          </a:xfrm>
          <a:custGeom>
            <a:avLst/>
            <a:gdLst/>
            <a:ahLst/>
            <a:cxnLst/>
            <a:rect l="l" t="t" r="r" b="b"/>
            <a:pathLst>
              <a:path w="4724400" h="495300">
                <a:moveTo>
                  <a:pt x="50798" y="0"/>
                </a:moveTo>
                <a:lnTo>
                  <a:pt x="4673602" y="0"/>
                </a:lnTo>
                <a:cubicBezTo>
                  <a:pt x="4701657" y="0"/>
                  <a:pt x="4724400" y="22743"/>
                  <a:pt x="4724400" y="50798"/>
                </a:cubicBezTo>
                <a:lnTo>
                  <a:pt x="4724400" y="444502"/>
                </a:lnTo>
                <a:cubicBezTo>
                  <a:pt x="4724400" y="472557"/>
                  <a:pt x="4701657" y="495300"/>
                  <a:pt x="4673602" y="495300"/>
                </a:cubicBezTo>
                <a:lnTo>
                  <a:pt x="50798" y="495300"/>
                </a:lnTo>
                <a:cubicBezTo>
                  <a:pt x="22743" y="495300"/>
                  <a:pt x="0" y="472557"/>
                  <a:pt x="0" y="4445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679450" y="7035788"/>
            <a:ext cx="4800600" cy="336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阶段一:准备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30250" y="7494574"/>
            <a:ext cx="4724400" cy="345417"/>
          </a:xfrm>
          <a:custGeom>
            <a:avLst/>
            <a:gdLst/>
            <a:ahLst/>
            <a:cxnLst/>
            <a:rect l="l" t="t" r="r" b="b"/>
            <a:pathLst>
              <a:path w="4724400" h="495300">
                <a:moveTo>
                  <a:pt x="50798" y="0"/>
                </a:moveTo>
                <a:lnTo>
                  <a:pt x="4673602" y="0"/>
                </a:lnTo>
                <a:cubicBezTo>
                  <a:pt x="4701657" y="0"/>
                  <a:pt x="4724400" y="22743"/>
                  <a:pt x="4724400" y="50798"/>
                </a:cubicBezTo>
                <a:lnTo>
                  <a:pt x="4724400" y="444502"/>
                </a:lnTo>
                <a:cubicBezTo>
                  <a:pt x="4724400" y="472557"/>
                  <a:pt x="4701657" y="495300"/>
                  <a:pt x="4673602" y="495300"/>
                </a:cubicBezTo>
                <a:lnTo>
                  <a:pt x="50798" y="495300"/>
                </a:lnTo>
                <a:cubicBezTo>
                  <a:pt x="22743" y="495300"/>
                  <a:pt x="0" y="472557"/>
                  <a:pt x="0" y="4445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679450" y="7488224"/>
            <a:ext cx="4800600" cy="336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收集投票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30250" y="7932724"/>
            <a:ext cx="4724400" cy="345417"/>
          </a:xfrm>
          <a:custGeom>
            <a:avLst/>
            <a:gdLst/>
            <a:ahLst/>
            <a:cxnLst/>
            <a:rect l="l" t="t" r="r" b="b"/>
            <a:pathLst>
              <a:path w="4724400" h="495300">
                <a:moveTo>
                  <a:pt x="50798" y="0"/>
                </a:moveTo>
                <a:lnTo>
                  <a:pt x="4673602" y="0"/>
                </a:lnTo>
                <a:cubicBezTo>
                  <a:pt x="4701657" y="0"/>
                  <a:pt x="4724400" y="22743"/>
                  <a:pt x="4724400" y="50798"/>
                </a:cubicBezTo>
                <a:lnTo>
                  <a:pt x="4724400" y="444502"/>
                </a:lnTo>
                <a:cubicBezTo>
                  <a:pt x="4724400" y="472557"/>
                  <a:pt x="4701657" y="495300"/>
                  <a:pt x="4673602" y="495300"/>
                </a:cubicBezTo>
                <a:lnTo>
                  <a:pt x="50798" y="495300"/>
                </a:lnTo>
                <a:cubicBezTo>
                  <a:pt x="22743" y="495300"/>
                  <a:pt x="0" y="472557"/>
                  <a:pt x="0" y="4445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679450" y="7926374"/>
            <a:ext cx="4800600" cy="336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阶段二:提交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30250" y="8399446"/>
            <a:ext cx="4724400" cy="345417"/>
          </a:xfrm>
          <a:custGeom>
            <a:avLst/>
            <a:gdLst/>
            <a:ahLst/>
            <a:cxnLst/>
            <a:rect l="l" t="t" r="r" b="b"/>
            <a:pathLst>
              <a:path w="4724400" h="495300">
                <a:moveTo>
                  <a:pt x="50798" y="0"/>
                </a:moveTo>
                <a:lnTo>
                  <a:pt x="4673602" y="0"/>
                </a:lnTo>
                <a:cubicBezTo>
                  <a:pt x="4701657" y="0"/>
                  <a:pt x="4724400" y="22743"/>
                  <a:pt x="4724400" y="50798"/>
                </a:cubicBezTo>
                <a:lnTo>
                  <a:pt x="4724400" y="444502"/>
                </a:lnTo>
                <a:cubicBezTo>
                  <a:pt x="4724400" y="472557"/>
                  <a:pt x="4701657" y="495300"/>
                  <a:pt x="4673602" y="495300"/>
                </a:cubicBezTo>
                <a:lnTo>
                  <a:pt x="50798" y="495300"/>
                </a:lnTo>
                <a:cubicBezTo>
                  <a:pt x="22743" y="495300"/>
                  <a:pt x="0" y="472557"/>
                  <a:pt x="0" y="4445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679450" y="8393096"/>
            <a:ext cx="4800600" cy="336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事务完成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823101" y="6027728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参与者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717084" y="6434128"/>
            <a:ext cx="4826000" cy="35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─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767884" y="7042138"/>
            <a:ext cx="4724400" cy="345417"/>
          </a:xfrm>
          <a:custGeom>
            <a:avLst/>
            <a:gdLst/>
            <a:ahLst/>
            <a:cxnLst/>
            <a:rect l="l" t="t" r="r" b="b"/>
            <a:pathLst>
              <a:path w="4724400" h="495300">
                <a:moveTo>
                  <a:pt x="50798" y="0"/>
                </a:moveTo>
                <a:lnTo>
                  <a:pt x="4673602" y="0"/>
                </a:lnTo>
                <a:cubicBezTo>
                  <a:pt x="4701657" y="0"/>
                  <a:pt x="4724400" y="22743"/>
                  <a:pt x="4724400" y="50798"/>
                </a:cubicBezTo>
                <a:lnTo>
                  <a:pt x="4724400" y="444502"/>
                </a:lnTo>
                <a:cubicBezTo>
                  <a:pt x="4724400" y="472557"/>
                  <a:pt x="4701657" y="495300"/>
                  <a:pt x="4673602" y="495300"/>
                </a:cubicBezTo>
                <a:lnTo>
                  <a:pt x="50798" y="495300"/>
                </a:lnTo>
                <a:cubicBezTo>
                  <a:pt x="22743" y="495300"/>
                  <a:pt x="0" y="472557"/>
                  <a:pt x="0" y="4445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1"/>
          <p:cNvSpPr/>
          <p:nvPr/>
        </p:nvSpPr>
        <p:spPr>
          <a:xfrm>
            <a:off x="5717084" y="7035788"/>
            <a:ext cx="4800600" cy="336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PREPARE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5767884" y="7505888"/>
            <a:ext cx="4724400" cy="345417"/>
          </a:xfrm>
          <a:custGeom>
            <a:avLst/>
            <a:gdLst/>
            <a:ahLst/>
            <a:cxnLst/>
            <a:rect l="l" t="t" r="r" b="b"/>
            <a:pathLst>
              <a:path w="4724400" h="495300">
                <a:moveTo>
                  <a:pt x="50798" y="0"/>
                </a:moveTo>
                <a:lnTo>
                  <a:pt x="4673602" y="0"/>
                </a:lnTo>
                <a:cubicBezTo>
                  <a:pt x="4701657" y="0"/>
                  <a:pt x="4724400" y="22743"/>
                  <a:pt x="4724400" y="50798"/>
                </a:cubicBezTo>
                <a:lnTo>
                  <a:pt x="4724400" y="444502"/>
                </a:lnTo>
                <a:cubicBezTo>
                  <a:pt x="4724400" y="472557"/>
                  <a:pt x="4701657" y="495300"/>
                  <a:pt x="4673602" y="495300"/>
                </a:cubicBezTo>
                <a:lnTo>
                  <a:pt x="50798" y="495300"/>
                </a:lnTo>
                <a:cubicBezTo>
                  <a:pt x="22743" y="495300"/>
                  <a:pt x="0" y="472557"/>
                  <a:pt x="0" y="4445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3"/>
          <p:cNvSpPr/>
          <p:nvPr/>
        </p:nvSpPr>
        <p:spPr>
          <a:xfrm>
            <a:off x="5717084" y="7499538"/>
            <a:ext cx="4800600" cy="336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投票 YES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5767884" y="7932724"/>
            <a:ext cx="4724400" cy="345417"/>
          </a:xfrm>
          <a:custGeom>
            <a:avLst/>
            <a:gdLst/>
            <a:ahLst/>
            <a:cxnLst/>
            <a:rect l="l" t="t" r="r" b="b"/>
            <a:pathLst>
              <a:path w="4724400" h="495300">
                <a:moveTo>
                  <a:pt x="50798" y="0"/>
                </a:moveTo>
                <a:lnTo>
                  <a:pt x="4673602" y="0"/>
                </a:lnTo>
                <a:cubicBezTo>
                  <a:pt x="4701657" y="0"/>
                  <a:pt x="4724400" y="22743"/>
                  <a:pt x="4724400" y="50798"/>
                </a:cubicBezTo>
                <a:lnTo>
                  <a:pt x="4724400" y="444502"/>
                </a:lnTo>
                <a:cubicBezTo>
                  <a:pt x="4724400" y="472557"/>
                  <a:pt x="4701657" y="495300"/>
                  <a:pt x="4673602" y="495300"/>
                </a:cubicBezTo>
                <a:lnTo>
                  <a:pt x="50798" y="495300"/>
                </a:lnTo>
                <a:cubicBezTo>
                  <a:pt x="22743" y="495300"/>
                  <a:pt x="0" y="472557"/>
                  <a:pt x="0" y="4445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5717084" y="7926374"/>
            <a:ext cx="4800600" cy="336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COMMIT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767884" y="8405796"/>
            <a:ext cx="4724400" cy="345417"/>
          </a:xfrm>
          <a:custGeom>
            <a:avLst/>
            <a:gdLst/>
            <a:ahLst/>
            <a:cxnLst/>
            <a:rect l="l" t="t" r="r" b="b"/>
            <a:pathLst>
              <a:path w="4724400" h="495300">
                <a:moveTo>
                  <a:pt x="50798" y="0"/>
                </a:moveTo>
                <a:lnTo>
                  <a:pt x="4673602" y="0"/>
                </a:lnTo>
                <a:cubicBezTo>
                  <a:pt x="4701657" y="0"/>
                  <a:pt x="4724400" y="22743"/>
                  <a:pt x="4724400" y="50798"/>
                </a:cubicBezTo>
                <a:lnTo>
                  <a:pt x="4724400" y="444502"/>
                </a:lnTo>
                <a:cubicBezTo>
                  <a:pt x="4724400" y="472557"/>
                  <a:pt x="4701657" y="495300"/>
                  <a:pt x="4673602" y="495300"/>
                </a:cubicBezTo>
                <a:lnTo>
                  <a:pt x="50798" y="495300"/>
                </a:lnTo>
                <a:cubicBezTo>
                  <a:pt x="22743" y="495300"/>
                  <a:pt x="0" y="472557"/>
                  <a:pt x="0" y="4445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7"/>
          <p:cNvSpPr/>
          <p:nvPr/>
        </p:nvSpPr>
        <p:spPr>
          <a:xfrm>
            <a:off x="5717084" y="8399446"/>
            <a:ext cx="4800600" cy="336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ACK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0799167" y="5849928"/>
            <a:ext cx="4737100" cy="1987550"/>
          </a:xfrm>
          <a:custGeom>
            <a:avLst/>
            <a:gdLst/>
            <a:ahLst/>
            <a:cxnLst/>
            <a:rect l="l" t="t" r="r" b="b"/>
            <a:pathLst>
              <a:path w="4737100" h="3708400">
                <a:moveTo>
                  <a:pt x="50805" y="0"/>
                </a:moveTo>
                <a:lnTo>
                  <a:pt x="4686295" y="0"/>
                </a:lnTo>
                <a:cubicBezTo>
                  <a:pt x="4714354" y="0"/>
                  <a:pt x="4737100" y="22746"/>
                  <a:pt x="4737100" y="50805"/>
                </a:cubicBezTo>
                <a:lnTo>
                  <a:pt x="4737100" y="3657595"/>
                </a:lnTo>
                <a:cubicBezTo>
                  <a:pt x="4737100" y="3685654"/>
                  <a:pt x="4714354" y="3708400"/>
                  <a:pt x="4686295" y="3708400"/>
                </a:cubicBezTo>
                <a:lnTo>
                  <a:pt x="50805" y="3708400"/>
                </a:lnTo>
                <a:cubicBezTo>
                  <a:pt x="22746" y="3708400"/>
                  <a:pt x="0" y="3685654"/>
                  <a:pt x="0" y="3657595"/>
                </a:cubicBezTo>
                <a:lnTo>
                  <a:pt x="0" y="50805"/>
                </a:lnTo>
                <a:cubicBezTo>
                  <a:pt x="0" y="22765"/>
                  <a:pt x="22765" y="0"/>
                  <a:pt x="50805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9"/>
          <p:cNvSpPr/>
          <p:nvPr/>
        </p:nvSpPr>
        <p:spPr>
          <a:xfrm>
            <a:off x="10951567" y="5940408"/>
            <a:ext cx="454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2PC的局限性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10976967" y="6499208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45733" y="163711"/>
                </a:moveTo>
                <a:lnTo>
                  <a:pt x="39489" y="57468"/>
                </a:lnTo>
                <a:cubicBezTo>
                  <a:pt x="30599" y="69929"/>
                  <a:pt x="25400" y="85169"/>
                  <a:pt x="25400" y="101600"/>
                </a:cubicBezTo>
                <a:cubicBezTo>
                  <a:pt x="25400" y="143669"/>
                  <a:pt x="59531" y="177800"/>
                  <a:pt x="101600" y="177800"/>
                </a:cubicBezTo>
                <a:cubicBezTo>
                  <a:pt x="118070" y="177800"/>
                  <a:pt x="133310" y="172601"/>
                  <a:pt x="145733" y="163711"/>
                </a:cubicBezTo>
                <a:close/>
                <a:moveTo>
                  <a:pt x="163711" y="145733"/>
                </a:moveTo>
                <a:cubicBezTo>
                  <a:pt x="172601" y="133271"/>
                  <a:pt x="177800" y="118031"/>
                  <a:pt x="177800" y="101600"/>
                </a:cubicBezTo>
                <a:cubicBezTo>
                  <a:pt x="177800" y="59531"/>
                  <a:pt x="143669" y="25400"/>
                  <a:pt x="101600" y="25400"/>
                </a:cubicBezTo>
                <a:cubicBezTo>
                  <a:pt x="85130" y="25400"/>
                  <a:pt x="69890" y="30599"/>
                  <a:pt x="57468" y="39489"/>
                </a:cubicBezTo>
                <a:lnTo>
                  <a:pt x="163711" y="145733"/>
                </a:lnTo>
                <a:close/>
                <a:moveTo>
                  <a:pt x="0" y="101600"/>
                </a:moveTo>
                <a:cubicBezTo>
                  <a:pt x="0" y="45525"/>
                  <a:pt x="45525" y="0"/>
                  <a:pt x="101600" y="0"/>
                </a:cubicBez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1"/>
          <p:cNvSpPr/>
          <p:nvPr/>
        </p:nvSpPr>
        <p:spPr>
          <a:xfrm>
            <a:off x="11307167" y="6448408"/>
            <a:ext cx="367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阻塞问题: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协调者故障时参与者无法决定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10989667" y="6956408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63500"/>
                </a:lnTo>
                <a:cubicBezTo>
                  <a:pt x="0" y="77510"/>
                  <a:pt x="11390" y="88900"/>
                  <a:pt x="25400" y="88900"/>
                </a:cubicBezTo>
                <a:lnTo>
                  <a:pt x="152400" y="88900"/>
                </a:lnTo>
                <a:cubicBezTo>
                  <a:pt x="166410" y="88900"/>
                  <a:pt x="177800" y="77510"/>
                  <a:pt x="177800" y="63500"/>
                </a:cubicBezTo>
                <a:lnTo>
                  <a:pt x="177800" y="38100"/>
                </a:lnTo>
                <a:cubicBezTo>
                  <a:pt x="177800" y="24090"/>
                  <a:pt x="166410" y="12700"/>
                  <a:pt x="152400" y="12700"/>
                </a:cubicBezTo>
                <a:lnTo>
                  <a:pt x="25400" y="12700"/>
                </a:lnTo>
                <a:close/>
                <a:moveTo>
                  <a:pt x="111125" y="41275"/>
                </a:moveTo>
                <a:cubicBezTo>
                  <a:pt x="116382" y="41275"/>
                  <a:pt x="120650" y="45543"/>
                  <a:pt x="120650" y="50800"/>
                </a:cubicBezTo>
                <a:cubicBezTo>
                  <a:pt x="120650" y="56057"/>
                  <a:pt x="116382" y="60325"/>
                  <a:pt x="111125" y="60325"/>
                </a:cubicBezTo>
                <a:cubicBezTo>
                  <a:pt x="105868" y="60325"/>
                  <a:pt x="101600" y="56057"/>
                  <a:pt x="101600" y="50800"/>
                </a:cubicBezTo>
                <a:cubicBezTo>
                  <a:pt x="101600" y="45543"/>
                  <a:pt x="105868" y="41275"/>
                  <a:pt x="111125" y="41275"/>
                </a:cubicBezTo>
                <a:close/>
                <a:moveTo>
                  <a:pt x="133350" y="50800"/>
                </a:moveTo>
                <a:cubicBezTo>
                  <a:pt x="133350" y="45543"/>
                  <a:pt x="137618" y="41275"/>
                  <a:pt x="142875" y="41275"/>
                </a:cubicBezTo>
                <a:cubicBezTo>
                  <a:pt x="148132" y="41275"/>
                  <a:pt x="152400" y="45543"/>
                  <a:pt x="152400" y="50800"/>
                </a:cubicBezTo>
                <a:cubicBezTo>
                  <a:pt x="152400" y="56057"/>
                  <a:pt x="148132" y="60325"/>
                  <a:pt x="142875" y="60325"/>
                </a:cubicBezTo>
                <a:cubicBezTo>
                  <a:pt x="137618" y="60325"/>
                  <a:pt x="133350" y="56057"/>
                  <a:pt x="133350" y="50800"/>
                </a:cubicBezTo>
                <a:close/>
                <a:moveTo>
                  <a:pt x="25400" y="114300"/>
                </a:moveTo>
                <a:cubicBezTo>
                  <a:pt x="11390" y="114300"/>
                  <a:pt x="0" y="125690"/>
                  <a:pt x="0" y="1397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139700"/>
                </a:lnTo>
                <a:cubicBezTo>
                  <a:pt x="177800" y="125690"/>
                  <a:pt x="166410" y="114300"/>
                  <a:pt x="152400" y="114300"/>
                </a:cubicBezTo>
                <a:lnTo>
                  <a:pt x="25400" y="114300"/>
                </a:lnTo>
                <a:close/>
                <a:moveTo>
                  <a:pt x="111125" y="142875"/>
                </a:moveTo>
                <a:cubicBezTo>
                  <a:pt x="116382" y="142875"/>
                  <a:pt x="120650" y="147143"/>
                  <a:pt x="120650" y="152400"/>
                </a:cubicBezTo>
                <a:cubicBezTo>
                  <a:pt x="120650" y="157657"/>
                  <a:pt x="116382" y="161925"/>
                  <a:pt x="111125" y="161925"/>
                </a:cubicBezTo>
                <a:cubicBezTo>
                  <a:pt x="105868" y="161925"/>
                  <a:pt x="101600" y="157657"/>
                  <a:pt x="101600" y="152400"/>
                </a:cubicBezTo>
                <a:cubicBezTo>
                  <a:pt x="101600" y="147143"/>
                  <a:pt x="105868" y="142875"/>
                  <a:pt x="111125" y="142875"/>
                </a:cubicBezTo>
                <a:close/>
                <a:moveTo>
                  <a:pt x="133350" y="152400"/>
                </a:moveTo>
                <a:cubicBezTo>
                  <a:pt x="133350" y="147143"/>
                  <a:pt x="137618" y="142875"/>
                  <a:pt x="142875" y="142875"/>
                </a:cubicBezTo>
                <a:cubicBezTo>
                  <a:pt x="148132" y="142875"/>
                  <a:pt x="152400" y="147143"/>
                  <a:pt x="152400" y="152400"/>
                </a:cubicBezTo>
                <a:cubicBezTo>
                  <a:pt x="152400" y="157657"/>
                  <a:pt x="148132" y="161925"/>
                  <a:pt x="142875" y="161925"/>
                </a:cubicBezTo>
                <a:cubicBezTo>
                  <a:pt x="137618" y="161925"/>
                  <a:pt x="133350" y="157657"/>
                  <a:pt x="133350" y="152400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3"/>
          <p:cNvSpPr/>
          <p:nvPr/>
        </p:nvSpPr>
        <p:spPr>
          <a:xfrm>
            <a:off x="11307167" y="6905608"/>
            <a:ext cx="265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单点故障: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协调者是系统瓶颈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11002367" y="7413608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2700" y="0"/>
                </a:moveTo>
                <a:cubicBezTo>
                  <a:pt x="5675" y="0"/>
                  <a:pt x="0" y="5675"/>
                  <a:pt x="0" y="12700"/>
                </a:cubicBezTo>
                <a:cubicBezTo>
                  <a:pt x="0" y="19725"/>
                  <a:pt x="5675" y="25400"/>
                  <a:pt x="12700" y="25400"/>
                </a:cubicBezTo>
                <a:lnTo>
                  <a:pt x="12700" y="29766"/>
                </a:lnTo>
                <a:cubicBezTo>
                  <a:pt x="12700" y="46593"/>
                  <a:pt x="19407" y="62746"/>
                  <a:pt x="31313" y="74652"/>
                </a:cubicBezTo>
                <a:lnTo>
                  <a:pt x="58261" y="101600"/>
                </a:lnTo>
                <a:lnTo>
                  <a:pt x="31313" y="128548"/>
                </a:lnTo>
                <a:cubicBezTo>
                  <a:pt x="19407" y="140454"/>
                  <a:pt x="12700" y="156607"/>
                  <a:pt x="12700" y="173434"/>
                </a:cubicBezTo>
                <a:lnTo>
                  <a:pt x="12700" y="177800"/>
                </a:lnTo>
                <a:cubicBezTo>
                  <a:pt x="5675" y="177800"/>
                  <a:pt x="0" y="183475"/>
                  <a:pt x="0" y="190500"/>
                </a:cubicBezTo>
                <a:cubicBezTo>
                  <a:pt x="0" y="197525"/>
                  <a:pt x="5675" y="203200"/>
                  <a:pt x="12700" y="203200"/>
                </a:cubicBezTo>
                <a:lnTo>
                  <a:pt x="139700" y="203200"/>
                </a:lnTo>
                <a:cubicBezTo>
                  <a:pt x="146725" y="203200"/>
                  <a:pt x="152400" y="197525"/>
                  <a:pt x="152400" y="190500"/>
                </a:cubicBezTo>
                <a:cubicBezTo>
                  <a:pt x="152400" y="183475"/>
                  <a:pt x="146725" y="177800"/>
                  <a:pt x="139700" y="177800"/>
                </a:cubicBezTo>
                <a:lnTo>
                  <a:pt x="139700" y="173434"/>
                </a:lnTo>
                <a:cubicBezTo>
                  <a:pt x="139700" y="156607"/>
                  <a:pt x="132993" y="140454"/>
                  <a:pt x="121087" y="128548"/>
                </a:cubicBezTo>
                <a:lnTo>
                  <a:pt x="94139" y="101600"/>
                </a:lnTo>
                <a:lnTo>
                  <a:pt x="121087" y="74652"/>
                </a:lnTo>
                <a:cubicBezTo>
                  <a:pt x="132993" y="62746"/>
                  <a:pt x="139700" y="46593"/>
                  <a:pt x="139700" y="29766"/>
                </a:cubicBezTo>
                <a:lnTo>
                  <a:pt x="139700" y="25400"/>
                </a:lnTo>
                <a:cubicBezTo>
                  <a:pt x="146725" y="25400"/>
                  <a:pt x="152400" y="19725"/>
                  <a:pt x="152400" y="12700"/>
                </a:cubicBezTo>
                <a:cubicBezTo>
                  <a:pt x="152400" y="5675"/>
                  <a:pt x="146725" y="0"/>
                  <a:pt x="139700" y="0"/>
                </a:cubicBezTo>
                <a:lnTo>
                  <a:pt x="12700" y="0"/>
                </a:lnTo>
                <a:close/>
                <a:moveTo>
                  <a:pt x="38100" y="29766"/>
                </a:moveTo>
                <a:lnTo>
                  <a:pt x="38100" y="25400"/>
                </a:lnTo>
                <a:lnTo>
                  <a:pt x="114300" y="25400"/>
                </a:lnTo>
                <a:lnTo>
                  <a:pt x="114300" y="29766"/>
                </a:lnTo>
                <a:cubicBezTo>
                  <a:pt x="114300" y="37306"/>
                  <a:pt x="112078" y="44609"/>
                  <a:pt x="107950" y="50800"/>
                </a:cubicBezTo>
                <a:lnTo>
                  <a:pt x="44450" y="50800"/>
                </a:lnTo>
                <a:cubicBezTo>
                  <a:pt x="40362" y="44609"/>
                  <a:pt x="38100" y="37306"/>
                  <a:pt x="38100" y="29766"/>
                </a:cubicBezTo>
                <a:close/>
                <a:moveTo>
                  <a:pt x="44450" y="152400"/>
                </a:moveTo>
                <a:cubicBezTo>
                  <a:pt x="45839" y="150297"/>
                  <a:pt x="47466" y="148312"/>
                  <a:pt x="49252" y="146487"/>
                </a:cubicBezTo>
                <a:lnTo>
                  <a:pt x="76200" y="119539"/>
                </a:lnTo>
                <a:lnTo>
                  <a:pt x="103148" y="146487"/>
                </a:lnTo>
                <a:cubicBezTo>
                  <a:pt x="104973" y="148312"/>
                  <a:pt x="106561" y="150297"/>
                  <a:pt x="107990" y="152400"/>
                </a:cubicBezTo>
                <a:lnTo>
                  <a:pt x="44450" y="152400"/>
                </a:lnTo>
                <a:close/>
              </a:path>
            </a:pathLst>
          </a:custGeom>
          <a:solidFill>
            <a:srgbClr val="51A2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5"/>
          <p:cNvSpPr/>
          <p:nvPr/>
        </p:nvSpPr>
        <p:spPr>
          <a:xfrm>
            <a:off x="11307167" y="7362808"/>
            <a:ext cx="265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性能问题: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需要两轮网络通信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2910417" cy="433917"/>
          </a:xfrm>
          <a:custGeom>
            <a:avLst/>
            <a:gdLst/>
            <a:ahLst/>
            <a:cxnLst/>
            <a:rect l="l" t="t" r="r" b="b"/>
            <a:pathLst>
              <a:path w="2910417" h="433917">
                <a:moveTo>
                  <a:pt x="42333" y="0"/>
                </a:moveTo>
                <a:lnTo>
                  <a:pt x="2868084" y="0"/>
                </a:lnTo>
                <a:cubicBezTo>
                  <a:pt x="2891464" y="0"/>
                  <a:pt x="2910417" y="18953"/>
                  <a:pt x="2910417" y="42333"/>
                </a:cubicBezTo>
                <a:lnTo>
                  <a:pt x="2910417" y="391584"/>
                </a:lnTo>
                <a:cubicBezTo>
                  <a:pt x="2910417" y="414964"/>
                  <a:pt x="2891464" y="433917"/>
                  <a:pt x="2868084" y="433917"/>
                </a:cubicBezTo>
                <a:lnTo>
                  <a:pt x="42333" y="433917"/>
                </a:lnTo>
                <a:cubicBezTo>
                  <a:pt x="18953" y="433917"/>
                  <a:pt x="0" y="414964"/>
                  <a:pt x="0" y="391584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3250" y="534458"/>
            <a:ext cx="264608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LOCKS &amp; LOAD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952500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应用层核心挑战(二):分布式锁与负载分布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8625" y="1508125"/>
            <a:ext cx="7609417" cy="5577417"/>
          </a:xfrm>
          <a:custGeom>
            <a:avLst/>
            <a:gdLst/>
            <a:ahLst/>
            <a:cxnLst/>
            <a:rect l="l" t="t" r="r" b="b"/>
            <a:pathLst>
              <a:path w="7609417" h="5577417">
                <a:moveTo>
                  <a:pt x="84665" y="0"/>
                </a:moveTo>
                <a:lnTo>
                  <a:pt x="7524751" y="0"/>
                </a:lnTo>
                <a:cubicBezTo>
                  <a:pt x="7571511" y="0"/>
                  <a:pt x="7609417" y="37906"/>
                  <a:pt x="7609417" y="84665"/>
                </a:cubicBezTo>
                <a:lnTo>
                  <a:pt x="7609417" y="5492751"/>
                </a:lnTo>
                <a:cubicBezTo>
                  <a:pt x="7609417" y="5539511"/>
                  <a:pt x="7571511" y="5577417"/>
                  <a:pt x="7524751" y="5577417"/>
                </a:cubicBezTo>
                <a:lnTo>
                  <a:pt x="84665" y="5577417"/>
                </a:lnTo>
                <a:cubicBezTo>
                  <a:pt x="37906" y="5577417"/>
                  <a:pt x="0" y="5539511"/>
                  <a:pt x="0" y="5492751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29708" y="172508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38906" y="145521"/>
                </a:moveTo>
                <a:cubicBezTo>
                  <a:pt x="179090" y="145521"/>
                  <a:pt x="211667" y="112944"/>
                  <a:pt x="211667" y="72760"/>
                </a:cubicBezTo>
                <a:cubicBezTo>
                  <a:pt x="211667" y="32577"/>
                  <a:pt x="179090" y="0"/>
                  <a:pt x="138906" y="0"/>
                </a:cubicBezTo>
                <a:cubicBezTo>
                  <a:pt x="98723" y="0"/>
                  <a:pt x="66146" y="32577"/>
                  <a:pt x="66146" y="72760"/>
                </a:cubicBezTo>
                <a:cubicBezTo>
                  <a:pt x="66146" y="80491"/>
                  <a:pt x="67345" y="87974"/>
                  <a:pt x="69577" y="94961"/>
                </a:cubicBezTo>
                <a:lnTo>
                  <a:pt x="2894" y="161644"/>
                </a:lnTo>
                <a:cubicBezTo>
                  <a:pt x="1034" y="163504"/>
                  <a:pt x="0" y="166026"/>
                  <a:pt x="0" y="168672"/>
                </a:cubicBezTo>
                <a:lnTo>
                  <a:pt x="0" y="201745"/>
                </a:lnTo>
                <a:cubicBezTo>
                  <a:pt x="0" y="207243"/>
                  <a:pt x="4424" y="211667"/>
                  <a:pt x="9922" y="211667"/>
                </a:cubicBezTo>
                <a:lnTo>
                  <a:pt x="42995" y="211667"/>
                </a:lnTo>
                <a:cubicBezTo>
                  <a:pt x="48493" y="211667"/>
                  <a:pt x="52917" y="207243"/>
                  <a:pt x="52917" y="201745"/>
                </a:cubicBezTo>
                <a:lnTo>
                  <a:pt x="52917" y="185208"/>
                </a:lnTo>
                <a:lnTo>
                  <a:pt x="69453" y="185208"/>
                </a:lnTo>
                <a:cubicBezTo>
                  <a:pt x="74951" y="185208"/>
                  <a:pt x="79375" y="180785"/>
                  <a:pt x="79375" y="175286"/>
                </a:cubicBezTo>
                <a:lnTo>
                  <a:pt x="79375" y="158750"/>
                </a:lnTo>
                <a:lnTo>
                  <a:pt x="95911" y="158750"/>
                </a:lnTo>
                <a:cubicBezTo>
                  <a:pt x="98557" y="158750"/>
                  <a:pt x="101079" y="157716"/>
                  <a:pt x="102939" y="155856"/>
                </a:cubicBezTo>
                <a:lnTo>
                  <a:pt x="116706" y="142090"/>
                </a:lnTo>
                <a:cubicBezTo>
                  <a:pt x="123693" y="144322"/>
                  <a:pt x="131175" y="145521"/>
                  <a:pt x="138906" y="145521"/>
                </a:cubicBezTo>
                <a:close/>
                <a:moveTo>
                  <a:pt x="155443" y="39688"/>
                </a:moveTo>
                <a:cubicBezTo>
                  <a:pt x="164569" y="39688"/>
                  <a:pt x="171979" y="47097"/>
                  <a:pt x="171979" y="56224"/>
                </a:cubicBezTo>
                <a:cubicBezTo>
                  <a:pt x="171979" y="65351"/>
                  <a:pt x="164569" y="72760"/>
                  <a:pt x="155443" y="72760"/>
                </a:cubicBezTo>
                <a:cubicBezTo>
                  <a:pt x="146316" y="72760"/>
                  <a:pt x="138906" y="65351"/>
                  <a:pt x="138906" y="56224"/>
                </a:cubicBezTo>
                <a:cubicBezTo>
                  <a:pt x="138906" y="47097"/>
                  <a:pt x="146316" y="39688"/>
                  <a:pt x="155443" y="3968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73667" y="1682750"/>
            <a:ext cx="699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分布式锁的核心思想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3250" y="2106083"/>
            <a:ext cx="7344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分布式锁就像银行的"</a:t>
            </a:r>
            <a:r>
              <a:rPr lang="en-US" sz="133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统一排队系统</a:t>
            </a:r>
            <a:r>
              <a:rPr lang="en-US" sz="1333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",确保多个网点的客户能有序访问共享资源。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417" y="2681800"/>
            <a:ext cx="7239000" cy="677333"/>
          </a:xfrm>
          <a:custGeom>
            <a:avLst/>
            <a:gdLst/>
            <a:ahLst/>
            <a:cxnLst/>
            <a:rect l="l" t="t" r="r" b="b"/>
            <a:pathLst>
              <a:path w="7239000" h="677333">
                <a:moveTo>
                  <a:pt x="42333" y="0"/>
                </a:moveTo>
                <a:lnTo>
                  <a:pt x="7196667" y="0"/>
                </a:lnTo>
                <a:cubicBezTo>
                  <a:pt x="7220047" y="0"/>
                  <a:pt x="7239000" y="18953"/>
                  <a:pt x="7239000" y="42333"/>
                </a:cubicBezTo>
                <a:lnTo>
                  <a:pt x="7239000" y="635000"/>
                </a:lnTo>
                <a:cubicBezTo>
                  <a:pt x="7239000" y="658380"/>
                  <a:pt x="7220047" y="677333"/>
                  <a:pt x="7196667" y="677333"/>
                </a:cubicBez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24417" y="2681800"/>
            <a:ext cx="42333" cy="677333"/>
          </a:xfrm>
          <a:custGeom>
            <a:avLst/>
            <a:gdLst/>
            <a:ahLst/>
            <a:cxnLst/>
            <a:rect l="l" t="t" r="r" b="b"/>
            <a:pathLst>
              <a:path w="42333" h="677333">
                <a:moveTo>
                  <a:pt x="42333" y="0"/>
                </a:moveTo>
                <a:lnTo>
                  <a:pt x="42333" y="0"/>
                </a:lnTo>
                <a:lnTo>
                  <a:pt x="42333" y="677333"/>
                </a:ln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72583" y="2766467"/>
            <a:ext cx="709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获取锁(取号)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2583" y="3062800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向共享存储发送请求,创建唯一标识的锁记录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417" y="3790900"/>
            <a:ext cx="7239000" cy="677333"/>
          </a:xfrm>
          <a:custGeom>
            <a:avLst/>
            <a:gdLst/>
            <a:ahLst/>
            <a:cxnLst/>
            <a:rect l="l" t="t" r="r" b="b"/>
            <a:pathLst>
              <a:path w="7239000" h="677333">
                <a:moveTo>
                  <a:pt x="42333" y="0"/>
                </a:moveTo>
                <a:lnTo>
                  <a:pt x="7196667" y="0"/>
                </a:lnTo>
                <a:cubicBezTo>
                  <a:pt x="7220047" y="0"/>
                  <a:pt x="7239000" y="18953"/>
                  <a:pt x="7239000" y="42333"/>
                </a:cubicBezTo>
                <a:lnTo>
                  <a:pt x="7239000" y="635000"/>
                </a:lnTo>
                <a:cubicBezTo>
                  <a:pt x="7239000" y="658380"/>
                  <a:pt x="7220047" y="677333"/>
                  <a:pt x="7196667" y="677333"/>
                </a:cubicBez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24417" y="3790900"/>
            <a:ext cx="42333" cy="677333"/>
          </a:xfrm>
          <a:custGeom>
            <a:avLst/>
            <a:gdLst/>
            <a:ahLst/>
            <a:cxnLst/>
            <a:rect l="l" t="t" r="r" b="b"/>
            <a:pathLst>
              <a:path w="42333" h="677333">
                <a:moveTo>
                  <a:pt x="42333" y="0"/>
                </a:moveTo>
                <a:lnTo>
                  <a:pt x="42333" y="0"/>
                </a:lnTo>
                <a:lnTo>
                  <a:pt x="42333" y="677333"/>
                </a:ln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72583" y="3875567"/>
            <a:ext cx="709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使用锁(办业务)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2583" y="4171900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拿到锁后安全访问共享资源,其他进程等待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417" y="4900001"/>
            <a:ext cx="7239000" cy="677333"/>
          </a:xfrm>
          <a:custGeom>
            <a:avLst/>
            <a:gdLst/>
            <a:ahLst/>
            <a:cxnLst/>
            <a:rect l="l" t="t" r="r" b="b"/>
            <a:pathLst>
              <a:path w="7239000" h="677333">
                <a:moveTo>
                  <a:pt x="42333" y="0"/>
                </a:moveTo>
                <a:lnTo>
                  <a:pt x="7196667" y="0"/>
                </a:lnTo>
                <a:cubicBezTo>
                  <a:pt x="7220047" y="0"/>
                  <a:pt x="7239000" y="18953"/>
                  <a:pt x="7239000" y="42333"/>
                </a:cubicBezTo>
                <a:lnTo>
                  <a:pt x="7239000" y="635000"/>
                </a:lnTo>
                <a:cubicBezTo>
                  <a:pt x="7239000" y="658380"/>
                  <a:pt x="7220047" y="677333"/>
                  <a:pt x="7196667" y="677333"/>
                </a:cubicBez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24417" y="4900001"/>
            <a:ext cx="42333" cy="677333"/>
          </a:xfrm>
          <a:custGeom>
            <a:avLst/>
            <a:gdLst/>
            <a:ahLst/>
            <a:cxnLst/>
            <a:rect l="l" t="t" r="r" b="b"/>
            <a:pathLst>
              <a:path w="42333" h="677333">
                <a:moveTo>
                  <a:pt x="42333" y="0"/>
                </a:moveTo>
                <a:lnTo>
                  <a:pt x="42333" y="0"/>
                </a:lnTo>
                <a:lnTo>
                  <a:pt x="42333" y="677333"/>
                </a:ln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72583" y="4984667"/>
            <a:ext cx="709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释放锁(办完业务)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2583" y="5281001"/>
            <a:ext cx="7080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操作完成后删除锁记录,让其他进程可以获取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542" y="5883258"/>
            <a:ext cx="7249583" cy="1026583"/>
          </a:xfrm>
          <a:custGeom>
            <a:avLst/>
            <a:gdLst/>
            <a:ahLst/>
            <a:cxnLst/>
            <a:rect l="l" t="t" r="r" b="b"/>
            <a:pathLst>
              <a:path w="7249583" h="1026583">
                <a:moveTo>
                  <a:pt x="42336" y="0"/>
                </a:moveTo>
                <a:lnTo>
                  <a:pt x="7207247" y="0"/>
                </a:lnTo>
                <a:cubicBezTo>
                  <a:pt x="7230629" y="0"/>
                  <a:pt x="7249583" y="18955"/>
                  <a:pt x="7249583" y="42336"/>
                </a:cubicBezTo>
                <a:lnTo>
                  <a:pt x="7249583" y="984247"/>
                </a:lnTo>
                <a:cubicBezTo>
                  <a:pt x="7249583" y="1007629"/>
                  <a:pt x="7230629" y="1026583"/>
                  <a:pt x="7207247" y="1026583"/>
                </a:cubicBezTo>
                <a:lnTo>
                  <a:pt x="42336" y="1026583"/>
                </a:lnTo>
                <a:cubicBezTo>
                  <a:pt x="18955" y="1026583"/>
                  <a:pt x="0" y="1007629"/>
                  <a:pt x="0" y="984247"/>
                </a:cubicBezTo>
                <a:lnTo>
                  <a:pt x="0" y="42336"/>
                </a:lnTo>
                <a:cubicBezTo>
                  <a:pt x="0" y="18970"/>
                  <a:pt x="18970" y="0"/>
                  <a:pt x="42336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98500" y="5973217"/>
            <a:ext cx="7154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实际应用场景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8927" y="6343633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06900" y="37042"/>
                </a:moveTo>
                <a:lnTo>
                  <a:pt x="96974" y="23151"/>
                </a:lnTo>
                <a:lnTo>
                  <a:pt x="32701" y="23151"/>
                </a:lnTo>
                <a:lnTo>
                  <a:pt x="22775" y="37042"/>
                </a:lnTo>
                <a:lnTo>
                  <a:pt x="106900" y="37042"/>
                </a:lnTo>
                <a:close/>
                <a:moveTo>
                  <a:pt x="0" y="42974"/>
                </a:moveTo>
                <a:cubicBezTo>
                  <a:pt x="0" y="39125"/>
                  <a:pt x="1215" y="35363"/>
                  <a:pt x="3444" y="32209"/>
                </a:cubicBezTo>
                <a:lnTo>
                  <a:pt x="17624" y="12386"/>
                </a:lnTo>
                <a:cubicBezTo>
                  <a:pt x="21096" y="7524"/>
                  <a:pt x="26711" y="4630"/>
                  <a:pt x="32672" y="4630"/>
                </a:cubicBezTo>
                <a:lnTo>
                  <a:pt x="96945" y="4630"/>
                </a:lnTo>
                <a:cubicBezTo>
                  <a:pt x="102935" y="4630"/>
                  <a:pt x="108549" y="7524"/>
                  <a:pt x="112022" y="12386"/>
                </a:cubicBezTo>
                <a:lnTo>
                  <a:pt x="126173" y="32209"/>
                </a:lnTo>
                <a:cubicBezTo>
                  <a:pt x="128430" y="35363"/>
                  <a:pt x="129617" y="39125"/>
                  <a:pt x="129617" y="42974"/>
                </a:cubicBezTo>
                <a:lnTo>
                  <a:pt x="129646" y="120385"/>
                </a:lnTo>
                <a:cubicBezTo>
                  <a:pt x="129646" y="130601"/>
                  <a:pt x="121340" y="138906"/>
                  <a:pt x="111125" y="138906"/>
                </a:cubicBezTo>
                <a:lnTo>
                  <a:pt x="18521" y="138906"/>
                </a:lnTo>
                <a:cubicBezTo>
                  <a:pt x="8305" y="138906"/>
                  <a:pt x="0" y="130601"/>
                  <a:pt x="0" y="120385"/>
                </a:cubicBezTo>
                <a:lnTo>
                  <a:pt x="0" y="4297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68375" y="6311883"/>
            <a:ext cx="666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库存扣减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15354" y="6343633"/>
            <a:ext cx="111125" cy="148167"/>
          </a:xfrm>
          <a:custGeom>
            <a:avLst/>
            <a:gdLst/>
            <a:ahLst/>
            <a:cxnLst/>
            <a:rect l="l" t="t" r="r" b="b"/>
            <a:pathLst>
              <a:path w="111125" h="148167">
                <a:moveTo>
                  <a:pt x="4051" y="637"/>
                </a:moveTo>
                <a:cubicBezTo>
                  <a:pt x="6511" y="-492"/>
                  <a:pt x="9405" y="-87"/>
                  <a:pt x="11460" y="1678"/>
                </a:cubicBezTo>
                <a:lnTo>
                  <a:pt x="23151" y="11691"/>
                </a:lnTo>
                <a:lnTo>
                  <a:pt x="34842" y="1678"/>
                </a:lnTo>
                <a:cubicBezTo>
                  <a:pt x="37447" y="-550"/>
                  <a:pt x="41296" y="-550"/>
                  <a:pt x="43871" y="1678"/>
                </a:cubicBezTo>
                <a:lnTo>
                  <a:pt x="55562" y="11691"/>
                </a:lnTo>
                <a:lnTo>
                  <a:pt x="67254" y="1678"/>
                </a:lnTo>
                <a:cubicBezTo>
                  <a:pt x="69858" y="-550"/>
                  <a:pt x="73678" y="-550"/>
                  <a:pt x="76283" y="1678"/>
                </a:cubicBezTo>
                <a:lnTo>
                  <a:pt x="87974" y="11691"/>
                </a:lnTo>
                <a:lnTo>
                  <a:pt x="99665" y="1678"/>
                </a:lnTo>
                <a:cubicBezTo>
                  <a:pt x="101720" y="-87"/>
                  <a:pt x="104614" y="-492"/>
                  <a:pt x="107074" y="637"/>
                </a:cubicBezTo>
                <a:cubicBezTo>
                  <a:pt x="109533" y="1765"/>
                  <a:pt x="111125" y="4225"/>
                  <a:pt x="111125" y="6945"/>
                </a:cubicBezTo>
                <a:lnTo>
                  <a:pt x="111125" y="141221"/>
                </a:lnTo>
                <a:cubicBezTo>
                  <a:pt x="111125" y="143942"/>
                  <a:pt x="109533" y="146401"/>
                  <a:pt x="107074" y="147530"/>
                </a:cubicBezTo>
                <a:cubicBezTo>
                  <a:pt x="104614" y="148659"/>
                  <a:pt x="101720" y="148253"/>
                  <a:pt x="99665" y="146488"/>
                </a:cubicBezTo>
                <a:lnTo>
                  <a:pt x="87974" y="136475"/>
                </a:lnTo>
                <a:lnTo>
                  <a:pt x="76283" y="146488"/>
                </a:lnTo>
                <a:cubicBezTo>
                  <a:pt x="73678" y="148717"/>
                  <a:pt x="69858" y="148717"/>
                  <a:pt x="67254" y="146488"/>
                </a:cubicBezTo>
                <a:lnTo>
                  <a:pt x="55563" y="136475"/>
                </a:lnTo>
                <a:lnTo>
                  <a:pt x="43871" y="146488"/>
                </a:lnTo>
                <a:cubicBezTo>
                  <a:pt x="41267" y="148717"/>
                  <a:pt x="37418" y="148717"/>
                  <a:pt x="34842" y="146488"/>
                </a:cubicBezTo>
                <a:lnTo>
                  <a:pt x="23151" y="136475"/>
                </a:lnTo>
                <a:lnTo>
                  <a:pt x="11460" y="146488"/>
                </a:lnTo>
                <a:cubicBezTo>
                  <a:pt x="9405" y="148253"/>
                  <a:pt x="6511" y="148659"/>
                  <a:pt x="4051" y="147530"/>
                </a:cubicBezTo>
                <a:cubicBezTo>
                  <a:pt x="1592" y="146401"/>
                  <a:pt x="0" y="143942"/>
                  <a:pt x="0" y="141221"/>
                </a:cubicBezTo>
                <a:lnTo>
                  <a:pt x="0" y="6945"/>
                </a:lnTo>
                <a:cubicBezTo>
                  <a:pt x="0" y="4225"/>
                  <a:pt x="1592" y="1765"/>
                  <a:pt x="4051" y="637"/>
                </a:cubicBezTo>
                <a:close/>
                <a:moveTo>
                  <a:pt x="30096" y="39357"/>
                </a:moveTo>
                <a:cubicBezTo>
                  <a:pt x="26247" y="39357"/>
                  <a:pt x="23151" y="42453"/>
                  <a:pt x="23151" y="46302"/>
                </a:cubicBezTo>
                <a:cubicBezTo>
                  <a:pt x="23151" y="50151"/>
                  <a:pt x="26247" y="53247"/>
                  <a:pt x="30096" y="53247"/>
                </a:cubicBezTo>
                <a:lnTo>
                  <a:pt x="81029" y="53247"/>
                </a:lnTo>
                <a:cubicBezTo>
                  <a:pt x="84878" y="53247"/>
                  <a:pt x="87974" y="50151"/>
                  <a:pt x="87974" y="46302"/>
                </a:cubicBezTo>
                <a:cubicBezTo>
                  <a:pt x="87974" y="42453"/>
                  <a:pt x="84878" y="39357"/>
                  <a:pt x="81029" y="39357"/>
                </a:cubicBezTo>
                <a:lnTo>
                  <a:pt x="30096" y="39357"/>
                </a:lnTo>
                <a:close/>
                <a:moveTo>
                  <a:pt x="23151" y="101865"/>
                </a:moveTo>
                <a:cubicBezTo>
                  <a:pt x="23151" y="105713"/>
                  <a:pt x="26247" y="108810"/>
                  <a:pt x="30096" y="108810"/>
                </a:cubicBezTo>
                <a:lnTo>
                  <a:pt x="81029" y="108810"/>
                </a:lnTo>
                <a:cubicBezTo>
                  <a:pt x="84878" y="108810"/>
                  <a:pt x="87974" y="105713"/>
                  <a:pt x="87974" y="101865"/>
                </a:cubicBezTo>
                <a:cubicBezTo>
                  <a:pt x="87974" y="98016"/>
                  <a:pt x="84878" y="94919"/>
                  <a:pt x="81029" y="94919"/>
                </a:cubicBezTo>
                <a:lnTo>
                  <a:pt x="30096" y="94919"/>
                </a:lnTo>
                <a:cubicBezTo>
                  <a:pt x="26247" y="94919"/>
                  <a:pt x="23151" y="98016"/>
                  <a:pt x="23151" y="101865"/>
                </a:cubicBezTo>
                <a:close/>
                <a:moveTo>
                  <a:pt x="30096" y="67138"/>
                </a:moveTo>
                <a:cubicBezTo>
                  <a:pt x="26247" y="67138"/>
                  <a:pt x="23151" y="70234"/>
                  <a:pt x="23151" y="74083"/>
                </a:cubicBezTo>
                <a:cubicBezTo>
                  <a:pt x="23151" y="77932"/>
                  <a:pt x="26247" y="81029"/>
                  <a:pt x="30096" y="81029"/>
                </a:cubicBezTo>
                <a:lnTo>
                  <a:pt x="81029" y="81029"/>
                </a:lnTo>
                <a:cubicBezTo>
                  <a:pt x="84878" y="81029"/>
                  <a:pt x="87974" y="77932"/>
                  <a:pt x="87974" y="74083"/>
                </a:cubicBezTo>
                <a:cubicBezTo>
                  <a:pt x="87974" y="70234"/>
                  <a:pt x="84878" y="67138"/>
                  <a:pt x="81029" y="67138"/>
                </a:cubicBezTo>
                <a:lnTo>
                  <a:pt x="30096" y="67138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545542" y="6311883"/>
            <a:ext cx="814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订单号生成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9667" y="6639967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0"/>
                </a:moveTo>
                <a:cubicBezTo>
                  <a:pt x="114971" y="0"/>
                  <a:pt x="148167" y="33196"/>
                  <a:pt x="148167" y="74083"/>
                </a:cubicBezTo>
                <a:cubicBezTo>
                  <a:pt x="148167" y="114971"/>
                  <a:pt x="114971" y="148167"/>
                  <a:pt x="74083" y="148167"/>
                </a:cubicBezTo>
                <a:cubicBezTo>
                  <a:pt x="33196" y="148167"/>
                  <a:pt x="0" y="114971"/>
                  <a:pt x="0" y="74083"/>
                </a:cubicBezTo>
                <a:cubicBezTo>
                  <a:pt x="0" y="33196"/>
                  <a:pt x="33196" y="0"/>
                  <a:pt x="74083" y="0"/>
                </a:cubicBezTo>
                <a:close/>
                <a:moveTo>
                  <a:pt x="67138" y="34727"/>
                </a:moveTo>
                <a:lnTo>
                  <a:pt x="67138" y="74083"/>
                </a:lnTo>
                <a:cubicBezTo>
                  <a:pt x="67138" y="76398"/>
                  <a:pt x="68296" y="78569"/>
                  <a:pt x="70234" y="79871"/>
                </a:cubicBezTo>
                <a:lnTo>
                  <a:pt x="98016" y="98392"/>
                </a:lnTo>
                <a:cubicBezTo>
                  <a:pt x="101199" y="100533"/>
                  <a:pt x="105511" y="99665"/>
                  <a:pt x="107652" y="96453"/>
                </a:cubicBezTo>
                <a:cubicBezTo>
                  <a:pt x="109794" y="93241"/>
                  <a:pt x="108926" y="88958"/>
                  <a:pt x="105713" y="86816"/>
                </a:cubicBezTo>
                <a:lnTo>
                  <a:pt x="81029" y="70379"/>
                </a:lnTo>
                <a:lnTo>
                  <a:pt x="81029" y="34727"/>
                </a:lnTo>
                <a:cubicBezTo>
                  <a:pt x="81029" y="30878"/>
                  <a:pt x="77932" y="27781"/>
                  <a:pt x="74083" y="27781"/>
                </a:cubicBezTo>
                <a:cubicBezTo>
                  <a:pt x="70234" y="27781"/>
                  <a:pt x="67138" y="30878"/>
                  <a:pt x="67138" y="34727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68375" y="6608217"/>
            <a:ext cx="666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定时任务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06094" y="6639967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9646" y="59556"/>
                </a:moveTo>
                <a:cubicBezTo>
                  <a:pt x="125363" y="62392"/>
                  <a:pt x="120443" y="64678"/>
                  <a:pt x="115321" y="66501"/>
                </a:cubicBezTo>
                <a:cubicBezTo>
                  <a:pt x="101720" y="71363"/>
                  <a:pt x="83865" y="74083"/>
                  <a:pt x="64823" y="74083"/>
                </a:cubicBezTo>
                <a:cubicBezTo>
                  <a:pt x="45781" y="74083"/>
                  <a:pt x="27897" y="71334"/>
                  <a:pt x="14325" y="66501"/>
                </a:cubicBezTo>
                <a:cubicBezTo>
                  <a:pt x="9231" y="64678"/>
                  <a:pt x="4283" y="62392"/>
                  <a:pt x="0" y="59556"/>
                </a:cubicBezTo>
                <a:lnTo>
                  <a:pt x="0" y="83344"/>
                </a:lnTo>
                <a:cubicBezTo>
                  <a:pt x="0" y="96135"/>
                  <a:pt x="29026" y="106495"/>
                  <a:pt x="64823" y="106495"/>
                </a:cubicBezTo>
                <a:cubicBezTo>
                  <a:pt x="100620" y="106495"/>
                  <a:pt x="129646" y="96135"/>
                  <a:pt x="129646" y="83344"/>
                </a:cubicBezTo>
                <a:lnTo>
                  <a:pt x="129646" y="59556"/>
                </a:lnTo>
                <a:close/>
                <a:moveTo>
                  <a:pt x="129646" y="37042"/>
                </a:moveTo>
                <a:lnTo>
                  <a:pt x="129646" y="23151"/>
                </a:lnTo>
                <a:cubicBezTo>
                  <a:pt x="129646" y="10360"/>
                  <a:pt x="100620" y="0"/>
                  <a:pt x="64823" y="0"/>
                </a:cubicBezTo>
                <a:cubicBezTo>
                  <a:pt x="29026" y="0"/>
                  <a:pt x="0" y="10360"/>
                  <a:pt x="0" y="23151"/>
                </a:cubicBezTo>
                <a:lnTo>
                  <a:pt x="0" y="37042"/>
                </a:lnTo>
                <a:cubicBezTo>
                  <a:pt x="0" y="49833"/>
                  <a:pt x="29026" y="60193"/>
                  <a:pt x="64823" y="60193"/>
                </a:cubicBezTo>
                <a:cubicBezTo>
                  <a:pt x="100620" y="60193"/>
                  <a:pt x="129646" y="49833"/>
                  <a:pt x="129646" y="37042"/>
                </a:cubicBezTo>
                <a:close/>
                <a:moveTo>
                  <a:pt x="115321" y="112803"/>
                </a:moveTo>
                <a:cubicBezTo>
                  <a:pt x="101749" y="117636"/>
                  <a:pt x="83894" y="120385"/>
                  <a:pt x="64823" y="120385"/>
                </a:cubicBezTo>
                <a:cubicBezTo>
                  <a:pt x="45752" y="120385"/>
                  <a:pt x="27897" y="117636"/>
                  <a:pt x="14325" y="112803"/>
                </a:cubicBezTo>
                <a:cubicBezTo>
                  <a:pt x="9231" y="110980"/>
                  <a:pt x="4283" y="108694"/>
                  <a:pt x="0" y="105858"/>
                </a:cubicBezTo>
                <a:lnTo>
                  <a:pt x="0" y="125016"/>
                </a:lnTo>
                <a:cubicBezTo>
                  <a:pt x="0" y="137807"/>
                  <a:pt x="29026" y="148167"/>
                  <a:pt x="64823" y="148167"/>
                </a:cubicBezTo>
                <a:cubicBezTo>
                  <a:pt x="100620" y="148167"/>
                  <a:pt x="129646" y="137807"/>
                  <a:pt x="129646" y="125016"/>
                </a:cubicBezTo>
                <a:lnTo>
                  <a:pt x="129646" y="105858"/>
                </a:lnTo>
                <a:cubicBezTo>
                  <a:pt x="125363" y="108694"/>
                  <a:pt x="120443" y="110980"/>
                  <a:pt x="115321" y="11280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545542" y="6608217"/>
            <a:ext cx="666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缓存更新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17958" y="1508125"/>
            <a:ext cx="7609417" cy="5577417"/>
          </a:xfrm>
          <a:custGeom>
            <a:avLst/>
            <a:gdLst/>
            <a:ahLst/>
            <a:cxnLst/>
            <a:rect l="l" t="t" r="r" b="b"/>
            <a:pathLst>
              <a:path w="7609417" h="5577417">
                <a:moveTo>
                  <a:pt x="84665" y="0"/>
                </a:moveTo>
                <a:lnTo>
                  <a:pt x="7524751" y="0"/>
                </a:lnTo>
                <a:cubicBezTo>
                  <a:pt x="7571511" y="0"/>
                  <a:pt x="7609417" y="37906"/>
                  <a:pt x="7609417" y="84665"/>
                </a:cubicBezTo>
                <a:lnTo>
                  <a:pt x="7609417" y="5492751"/>
                </a:lnTo>
                <a:cubicBezTo>
                  <a:pt x="7609417" y="5539511"/>
                  <a:pt x="7571511" y="5577417"/>
                  <a:pt x="7524751" y="5577417"/>
                </a:cubicBezTo>
                <a:lnTo>
                  <a:pt x="84665" y="5577417"/>
                </a:lnTo>
                <a:cubicBezTo>
                  <a:pt x="37906" y="5577417"/>
                  <a:pt x="0" y="5539511"/>
                  <a:pt x="0" y="5492751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392583" y="1725083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58750" y="13229"/>
                </a:moveTo>
                <a:lnTo>
                  <a:pt x="211667" y="13229"/>
                </a:lnTo>
                <a:cubicBezTo>
                  <a:pt x="218984" y="13229"/>
                  <a:pt x="224896" y="19141"/>
                  <a:pt x="224896" y="26458"/>
                </a:cubicBezTo>
                <a:cubicBezTo>
                  <a:pt x="224896" y="33776"/>
                  <a:pt x="218984" y="39688"/>
                  <a:pt x="211667" y="39688"/>
                </a:cubicBezTo>
                <a:lnTo>
                  <a:pt x="164703" y="39688"/>
                </a:lnTo>
                <a:cubicBezTo>
                  <a:pt x="162553" y="50354"/>
                  <a:pt x="155236" y="59159"/>
                  <a:pt x="145521" y="63376"/>
                </a:cubicBezTo>
                <a:lnTo>
                  <a:pt x="145521" y="185208"/>
                </a:lnTo>
                <a:lnTo>
                  <a:pt x="211667" y="185208"/>
                </a:lnTo>
                <a:cubicBezTo>
                  <a:pt x="218984" y="185208"/>
                  <a:pt x="224896" y="191120"/>
                  <a:pt x="224896" y="198438"/>
                </a:cubicBezTo>
                <a:cubicBezTo>
                  <a:pt x="224896" y="205755"/>
                  <a:pt x="218984" y="211667"/>
                  <a:pt x="211667" y="211667"/>
                </a:cubicBezTo>
                <a:lnTo>
                  <a:pt x="52917" y="211667"/>
                </a:lnTo>
                <a:cubicBezTo>
                  <a:pt x="45599" y="211667"/>
                  <a:pt x="39688" y="205755"/>
                  <a:pt x="39688" y="198438"/>
                </a:cubicBezTo>
                <a:cubicBezTo>
                  <a:pt x="39688" y="191120"/>
                  <a:pt x="45599" y="185208"/>
                  <a:pt x="52917" y="185208"/>
                </a:cubicBezTo>
                <a:lnTo>
                  <a:pt x="119063" y="185208"/>
                </a:lnTo>
                <a:lnTo>
                  <a:pt x="119063" y="63376"/>
                </a:lnTo>
                <a:cubicBezTo>
                  <a:pt x="109347" y="59118"/>
                  <a:pt x="102030" y="50312"/>
                  <a:pt x="99880" y="39688"/>
                </a:cubicBezTo>
                <a:lnTo>
                  <a:pt x="52917" y="39688"/>
                </a:lnTo>
                <a:cubicBezTo>
                  <a:pt x="45599" y="39688"/>
                  <a:pt x="39688" y="33776"/>
                  <a:pt x="39688" y="26458"/>
                </a:cubicBezTo>
                <a:cubicBezTo>
                  <a:pt x="39688" y="19141"/>
                  <a:pt x="45599" y="13229"/>
                  <a:pt x="52917" y="13229"/>
                </a:cubicBezTo>
                <a:lnTo>
                  <a:pt x="105833" y="13229"/>
                </a:lnTo>
                <a:cubicBezTo>
                  <a:pt x="111869" y="5209"/>
                  <a:pt x="121460" y="0"/>
                  <a:pt x="132292" y="0"/>
                </a:cubicBezTo>
                <a:cubicBezTo>
                  <a:pt x="143123" y="0"/>
                  <a:pt x="152714" y="5209"/>
                  <a:pt x="158750" y="13229"/>
                </a:cubicBezTo>
                <a:close/>
                <a:moveTo>
                  <a:pt x="181736" y="132292"/>
                </a:moveTo>
                <a:lnTo>
                  <a:pt x="241598" y="132292"/>
                </a:lnTo>
                <a:lnTo>
                  <a:pt x="211667" y="80946"/>
                </a:lnTo>
                <a:lnTo>
                  <a:pt x="181736" y="132292"/>
                </a:lnTo>
                <a:close/>
                <a:moveTo>
                  <a:pt x="211667" y="171979"/>
                </a:moveTo>
                <a:cubicBezTo>
                  <a:pt x="185663" y="171979"/>
                  <a:pt x="164042" y="157923"/>
                  <a:pt x="159577" y="139361"/>
                </a:cubicBezTo>
                <a:cubicBezTo>
                  <a:pt x="158502" y="134813"/>
                  <a:pt x="159990" y="130142"/>
                  <a:pt x="162347" y="126090"/>
                </a:cubicBezTo>
                <a:lnTo>
                  <a:pt x="201703" y="58622"/>
                </a:lnTo>
                <a:cubicBezTo>
                  <a:pt x="203771" y="55066"/>
                  <a:pt x="207574" y="52917"/>
                  <a:pt x="211667" y="52917"/>
                </a:cubicBezTo>
                <a:cubicBezTo>
                  <a:pt x="215759" y="52917"/>
                  <a:pt x="219563" y="55108"/>
                  <a:pt x="221630" y="58622"/>
                </a:cubicBezTo>
                <a:lnTo>
                  <a:pt x="260987" y="126090"/>
                </a:lnTo>
                <a:cubicBezTo>
                  <a:pt x="263343" y="130142"/>
                  <a:pt x="264831" y="134813"/>
                  <a:pt x="263757" y="139361"/>
                </a:cubicBezTo>
                <a:cubicBezTo>
                  <a:pt x="259292" y="157882"/>
                  <a:pt x="237670" y="171979"/>
                  <a:pt x="211667" y="171979"/>
                </a:cubicBezTo>
                <a:close/>
                <a:moveTo>
                  <a:pt x="52421" y="80946"/>
                </a:moveTo>
                <a:lnTo>
                  <a:pt x="22490" y="132292"/>
                </a:lnTo>
                <a:lnTo>
                  <a:pt x="82393" y="132292"/>
                </a:lnTo>
                <a:lnTo>
                  <a:pt x="52421" y="80946"/>
                </a:lnTo>
                <a:close/>
                <a:moveTo>
                  <a:pt x="372" y="139361"/>
                </a:moveTo>
                <a:cubicBezTo>
                  <a:pt x="-703" y="134813"/>
                  <a:pt x="785" y="130142"/>
                  <a:pt x="3142" y="126090"/>
                </a:cubicBezTo>
                <a:lnTo>
                  <a:pt x="42499" y="58622"/>
                </a:lnTo>
                <a:cubicBezTo>
                  <a:pt x="44566" y="55066"/>
                  <a:pt x="48369" y="52917"/>
                  <a:pt x="52462" y="52917"/>
                </a:cubicBezTo>
                <a:cubicBezTo>
                  <a:pt x="56555" y="52917"/>
                  <a:pt x="60358" y="55108"/>
                  <a:pt x="62425" y="58622"/>
                </a:cubicBezTo>
                <a:lnTo>
                  <a:pt x="101782" y="126090"/>
                </a:lnTo>
                <a:cubicBezTo>
                  <a:pt x="104138" y="130142"/>
                  <a:pt x="105627" y="134813"/>
                  <a:pt x="104552" y="139361"/>
                </a:cubicBezTo>
                <a:cubicBezTo>
                  <a:pt x="100087" y="157882"/>
                  <a:pt x="78465" y="171979"/>
                  <a:pt x="52462" y="171979"/>
                </a:cubicBezTo>
                <a:cubicBezTo>
                  <a:pt x="26458" y="171979"/>
                  <a:pt x="4837" y="157923"/>
                  <a:pt x="372" y="13936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763000" y="1682750"/>
            <a:ext cx="699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负载均衡算法对比</a:t>
            </a:r>
            <a:endParaRPr lang="en-US" sz="1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92583" y="2106083"/>
          <a:ext cx="7260167" cy="4804835"/>
        </p:xfrm>
        <a:graphic>
          <a:graphicData uri="http://schemas.openxmlformats.org/drawingml/2006/table">
            <a:tbl>
              <a:tblPr/>
              <a:tblGrid>
                <a:gridCol w="1025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5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0967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优点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缺点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967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轮询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依次分配给每个服务器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简单、公平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不考虑性能差异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服务器性能相近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967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加权轮询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根据权重分配请求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考虑能力差异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静态权重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性能已知且稳定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967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最少连接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分配给连接数最少的服务器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动态平衡负载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需维护连接状态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长连接场景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967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一致性哈希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基于哈希值分配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节点变化影响小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可能负载不均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缓存、分布式存储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428625" y="7183948"/>
            <a:ext cx="15398750" cy="1874325"/>
          </a:xfrm>
          <a:custGeom>
            <a:avLst/>
            <a:gdLst/>
            <a:ahLst/>
            <a:cxnLst/>
            <a:rect l="l" t="t" r="r" b="b"/>
            <a:pathLst>
              <a:path w="7609417" h="4794250">
                <a:moveTo>
                  <a:pt x="84666" y="0"/>
                </a:moveTo>
                <a:lnTo>
                  <a:pt x="7524750" y="0"/>
                </a:lnTo>
                <a:cubicBezTo>
                  <a:pt x="7571510" y="0"/>
                  <a:pt x="7609417" y="37906"/>
                  <a:pt x="7609417" y="84666"/>
                </a:cubicBezTo>
                <a:lnTo>
                  <a:pt x="7609417" y="4709584"/>
                </a:lnTo>
                <a:cubicBezTo>
                  <a:pt x="7609417" y="4756344"/>
                  <a:pt x="7571510" y="4794250"/>
                  <a:pt x="7524750" y="4794250"/>
                </a:cubicBezTo>
                <a:lnTo>
                  <a:pt x="84666" y="4794250"/>
                </a:lnTo>
                <a:cubicBezTo>
                  <a:pt x="37906" y="4794250"/>
                  <a:pt x="0" y="4756344"/>
                  <a:pt x="0" y="4709584"/>
                </a:cubicBezTo>
                <a:lnTo>
                  <a:pt x="0" y="84666"/>
                </a:lnTo>
                <a:cubicBezTo>
                  <a:pt x="0" y="37938"/>
                  <a:pt x="37938" y="0"/>
                  <a:pt x="8466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3"/>
          <p:cNvSpPr/>
          <p:nvPr/>
        </p:nvSpPr>
        <p:spPr>
          <a:xfrm>
            <a:off x="616479" y="7400906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211832" y="99219"/>
                </a:moveTo>
                <a:lnTo>
                  <a:pt x="139072" y="99219"/>
                </a:lnTo>
                <a:cubicBezTo>
                  <a:pt x="131754" y="99219"/>
                  <a:pt x="125842" y="93307"/>
                  <a:pt x="125842" y="85990"/>
                </a:cubicBezTo>
                <a:lnTo>
                  <a:pt x="125842" y="13229"/>
                </a:lnTo>
                <a:cubicBezTo>
                  <a:pt x="125842" y="5912"/>
                  <a:pt x="131796" y="-83"/>
                  <a:pt x="139030" y="868"/>
                </a:cubicBezTo>
                <a:cubicBezTo>
                  <a:pt x="183265" y="6739"/>
                  <a:pt x="218323" y="41796"/>
                  <a:pt x="224193" y="86031"/>
                </a:cubicBezTo>
                <a:cubicBezTo>
                  <a:pt x="225144" y="93266"/>
                  <a:pt x="219149" y="99219"/>
                  <a:pt x="211832" y="99219"/>
                </a:cubicBezTo>
                <a:close/>
                <a:moveTo>
                  <a:pt x="92025" y="15379"/>
                </a:moveTo>
                <a:cubicBezTo>
                  <a:pt x="99508" y="13808"/>
                  <a:pt x="105999" y="19926"/>
                  <a:pt x="105999" y="27575"/>
                </a:cubicBezTo>
                <a:lnTo>
                  <a:pt x="105999" y="109141"/>
                </a:lnTo>
                <a:cubicBezTo>
                  <a:pt x="105999" y="111456"/>
                  <a:pt x="106826" y="113688"/>
                  <a:pt x="108272" y="115466"/>
                </a:cubicBezTo>
                <a:lnTo>
                  <a:pt x="162884" y="181364"/>
                </a:lnTo>
                <a:cubicBezTo>
                  <a:pt x="167721" y="187193"/>
                  <a:pt x="166688" y="195998"/>
                  <a:pt x="160032" y="199595"/>
                </a:cubicBezTo>
                <a:cubicBezTo>
                  <a:pt x="145934" y="207285"/>
                  <a:pt x="129770" y="211667"/>
                  <a:pt x="112613" y="211667"/>
                </a:cubicBezTo>
                <a:cubicBezTo>
                  <a:pt x="57836" y="211667"/>
                  <a:pt x="13395" y="167225"/>
                  <a:pt x="13395" y="112448"/>
                </a:cubicBezTo>
                <a:cubicBezTo>
                  <a:pt x="13395" y="64699"/>
                  <a:pt x="47088" y="24846"/>
                  <a:pt x="92025" y="15379"/>
                </a:cubicBezTo>
                <a:close/>
                <a:moveTo>
                  <a:pt x="197528" y="119063"/>
                </a:moveTo>
                <a:lnTo>
                  <a:pt x="223986" y="119063"/>
                </a:lnTo>
                <a:cubicBezTo>
                  <a:pt x="231634" y="119063"/>
                  <a:pt x="237753" y="125553"/>
                  <a:pt x="236182" y="133036"/>
                </a:cubicBezTo>
                <a:cubicBezTo>
                  <a:pt x="231965" y="153045"/>
                  <a:pt x="221713" y="170822"/>
                  <a:pt x="207409" y="184382"/>
                </a:cubicBezTo>
                <a:cubicBezTo>
                  <a:pt x="202324" y="189218"/>
                  <a:pt x="194345" y="188185"/>
                  <a:pt x="189880" y="182769"/>
                </a:cubicBezTo>
                <a:lnTo>
                  <a:pt x="154988" y="140725"/>
                </a:lnTo>
                <a:cubicBezTo>
                  <a:pt x="147836" y="132085"/>
                  <a:pt x="153996" y="119063"/>
                  <a:pt x="165158" y="119063"/>
                </a:cubicBezTo>
                <a:lnTo>
                  <a:pt x="197487" y="11906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973667" y="7358573"/>
            <a:ext cx="699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一致性哈希的核心思想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3249331" y="7353281"/>
            <a:ext cx="7344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一致性哈希就像"</a:t>
            </a:r>
            <a:r>
              <a:rPr lang="en-US" sz="133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圆桌分餐</a:t>
            </a:r>
            <a:r>
              <a:rPr lang="en-US" sz="1333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"系统,只有相邻客人需要换位置,避免了全局变动。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08542" y="7660723"/>
            <a:ext cx="3556000" cy="1334575"/>
          </a:xfrm>
          <a:custGeom>
            <a:avLst/>
            <a:gdLst/>
            <a:ahLst/>
            <a:cxnLst/>
            <a:rect l="l" t="t" r="r" b="b"/>
            <a:pathLst>
              <a:path w="3556000" h="2360083">
                <a:moveTo>
                  <a:pt x="42340" y="0"/>
                </a:moveTo>
                <a:lnTo>
                  <a:pt x="3513660" y="0"/>
                </a:lnTo>
                <a:cubicBezTo>
                  <a:pt x="3537044" y="0"/>
                  <a:pt x="3556000" y="18956"/>
                  <a:pt x="3556000" y="42340"/>
                </a:cubicBezTo>
                <a:lnTo>
                  <a:pt x="3556000" y="2317743"/>
                </a:lnTo>
                <a:cubicBezTo>
                  <a:pt x="3556000" y="2341127"/>
                  <a:pt x="3537044" y="2360083"/>
                  <a:pt x="3513660" y="2360083"/>
                </a:cubicBezTo>
                <a:lnTo>
                  <a:pt x="42340" y="2360083"/>
                </a:lnTo>
                <a:cubicBezTo>
                  <a:pt x="18956" y="2360083"/>
                  <a:pt x="0" y="2341127"/>
                  <a:pt x="0" y="2317743"/>
                </a:cubicBezTo>
                <a:lnTo>
                  <a:pt x="0" y="42340"/>
                </a:lnTo>
                <a:cubicBezTo>
                  <a:pt x="0" y="18972"/>
                  <a:pt x="18972" y="0"/>
                  <a:pt x="4234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 w="12700">
            <a:solidFill>
              <a:srgbClr val="FF646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7"/>
          <p:cNvSpPr/>
          <p:nvPr/>
        </p:nvSpPr>
        <p:spPr>
          <a:xfrm>
            <a:off x="783167" y="7835348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18223" y="24276"/>
                </a:moveTo>
                <a:cubicBezTo>
                  <a:pt x="14089" y="20141"/>
                  <a:pt x="7375" y="20141"/>
                  <a:pt x="3241" y="24276"/>
                </a:cubicBezTo>
                <a:cubicBezTo>
                  <a:pt x="-893" y="28410"/>
                  <a:pt x="-893" y="35123"/>
                  <a:pt x="3241" y="39258"/>
                </a:cubicBezTo>
                <a:lnTo>
                  <a:pt x="48683" y="84667"/>
                </a:lnTo>
                <a:lnTo>
                  <a:pt x="3274" y="130109"/>
                </a:lnTo>
                <a:cubicBezTo>
                  <a:pt x="-860" y="134243"/>
                  <a:pt x="-860" y="140957"/>
                  <a:pt x="3274" y="145091"/>
                </a:cubicBezTo>
                <a:cubicBezTo>
                  <a:pt x="7408" y="149225"/>
                  <a:pt x="14122" y="149225"/>
                  <a:pt x="18256" y="145091"/>
                </a:cubicBezTo>
                <a:lnTo>
                  <a:pt x="63665" y="99649"/>
                </a:lnTo>
                <a:lnTo>
                  <a:pt x="109108" y="145058"/>
                </a:lnTo>
                <a:cubicBezTo>
                  <a:pt x="113242" y="149192"/>
                  <a:pt x="119955" y="149192"/>
                  <a:pt x="124090" y="145058"/>
                </a:cubicBezTo>
                <a:cubicBezTo>
                  <a:pt x="128224" y="140924"/>
                  <a:pt x="128224" y="134210"/>
                  <a:pt x="124090" y="130076"/>
                </a:cubicBezTo>
                <a:lnTo>
                  <a:pt x="78647" y="84667"/>
                </a:lnTo>
                <a:lnTo>
                  <a:pt x="124057" y="39224"/>
                </a:lnTo>
                <a:cubicBezTo>
                  <a:pt x="128191" y="35090"/>
                  <a:pt x="128191" y="28377"/>
                  <a:pt x="124057" y="24242"/>
                </a:cubicBezTo>
                <a:cubicBezTo>
                  <a:pt x="119922" y="20108"/>
                  <a:pt x="113209" y="20108"/>
                  <a:pt x="109074" y="24242"/>
                </a:cubicBezTo>
                <a:lnTo>
                  <a:pt x="63665" y="69685"/>
                </a:lnTo>
                <a:lnTo>
                  <a:pt x="18223" y="24276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8"/>
          <p:cNvSpPr/>
          <p:nvPr/>
        </p:nvSpPr>
        <p:spPr>
          <a:xfrm>
            <a:off x="952500" y="7793014"/>
            <a:ext cx="3164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传统哈希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40833" y="8131681"/>
            <a:ext cx="336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固定座位分配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40833" y="8385681"/>
            <a:ext cx="336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增删节点影响大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40833" y="8639681"/>
            <a:ext cx="336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几乎所有数据需迁移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4302125" y="7660723"/>
            <a:ext cx="3556000" cy="1334575"/>
          </a:xfrm>
          <a:custGeom>
            <a:avLst/>
            <a:gdLst/>
            <a:ahLst/>
            <a:cxnLst/>
            <a:rect l="l" t="t" r="r" b="b"/>
            <a:pathLst>
              <a:path w="3556000" h="2360083">
                <a:moveTo>
                  <a:pt x="42340" y="0"/>
                </a:moveTo>
                <a:lnTo>
                  <a:pt x="3513660" y="0"/>
                </a:lnTo>
                <a:cubicBezTo>
                  <a:pt x="3537044" y="0"/>
                  <a:pt x="3556000" y="18956"/>
                  <a:pt x="3556000" y="42340"/>
                </a:cubicBezTo>
                <a:lnTo>
                  <a:pt x="3556000" y="2317743"/>
                </a:lnTo>
                <a:cubicBezTo>
                  <a:pt x="3556000" y="2341127"/>
                  <a:pt x="3537044" y="2360083"/>
                  <a:pt x="3513660" y="2360083"/>
                </a:cubicBezTo>
                <a:lnTo>
                  <a:pt x="42340" y="2360083"/>
                </a:lnTo>
                <a:cubicBezTo>
                  <a:pt x="18956" y="2360083"/>
                  <a:pt x="0" y="2341127"/>
                  <a:pt x="0" y="2317743"/>
                </a:cubicBezTo>
                <a:lnTo>
                  <a:pt x="0" y="42340"/>
                </a:lnTo>
                <a:cubicBezTo>
                  <a:pt x="0" y="18972"/>
                  <a:pt x="18972" y="0"/>
                  <a:pt x="4234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 w="12700">
            <a:solidFill>
              <a:srgbClr val="05DF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3"/>
          <p:cNvSpPr/>
          <p:nvPr/>
        </p:nvSpPr>
        <p:spPr>
          <a:xfrm>
            <a:off x="4466167" y="7835348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05DF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4"/>
          <p:cNvSpPr/>
          <p:nvPr/>
        </p:nvSpPr>
        <p:spPr>
          <a:xfrm>
            <a:off x="4646083" y="7793014"/>
            <a:ext cx="3164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一致性哈希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434417" y="8131681"/>
            <a:ext cx="336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圆桌环形结构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4434417" y="8385681"/>
            <a:ext cx="336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只影响相邻节点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4434417" y="8639681"/>
            <a:ext cx="336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数据迁移量最小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202083" y="7724189"/>
            <a:ext cx="7249583" cy="1111250"/>
          </a:xfrm>
          <a:custGeom>
            <a:avLst/>
            <a:gdLst/>
            <a:ahLst/>
            <a:cxnLst/>
            <a:rect l="l" t="t" r="r" b="b"/>
            <a:pathLst>
              <a:path w="7249583" h="1111250">
                <a:moveTo>
                  <a:pt x="42339" y="0"/>
                </a:moveTo>
                <a:lnTo>
                  <a:pt x="7207245" y="0"/>
                </a:lnTo>
                <a:cubicBezTo>
                  <a:pt x="7230628" y="0"/>
                  <a:pt x="7249583" y="18956"/>
                  <a:pt x="7249583" y="42339"/>
                </a:cubicBezTo>
                <a:lnTo>
                  <a:pt x="7249583" y="1068911"/>
                </a:lnTo>
                <a:cubicBezTo>
                  <a:pt x="7249583" y="1092294"/>
                  <a:pt x="7230628" y="1111250"/>
                  <a:pt x="7207245" y="1111250"/>
                </a:cubicBezTo>
                <a:lnTo>
                  <a:pt x="42339" y="1111250"/>
                </a:lnTo>
                <a:cubicBezTo>
                  <a:pt x="18956" y="1111250"/>
                  <a:pt x="0" y="1092294"/>
                  <a:pt x="0" y="1068911"/>
                </a:cubicBezTo>
                <a:lnTo>
                  <a:pt x="0" y="42339"/>
                </a:lnTo>
                <a:cubicBezTo>
                  <a:pt x="0" y="18971"/>
                  <a:pt x="18971" y="0"/>
                  <a:pt x="4233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9"/>
          <p:cNvSpPr/>
          <p:nvPr/>
        </p:nvSpPr>
        <p:spPr>
          <a:xfrm>
            <a:off x="8334374" y="7856481"/>
            <a:ext cx="706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一致性哈希的优势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355541" y="8226898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45446" y="43582"/>
                </a:moveTo>
                <a:lnTo>
                  <a:pt x="117665" y="71363"/>
                </a:lnTo>
                <a:cubicBezTo>
                  <a:pt x="115003" y="74025"/>
                  <a:pt x="111038" y="74807"/>
                  <a:pt x="107566" y="73360"/>
                </a:cubicBezTo>
                <a:cubicBezTo>
                  <a:pt x="104093" y="71913"/>
                  <a:pt x="101865" y="68556"/>
                  <a:pt x="101865" y="64823"/>
                </a:cubicBezTo>
                <a:lnTo>
                  <a:pt x="101865" y="46302"/>
                </a:lnTo>
                <a:lnTo>
                  <a:pt x="9260" y="46302"/>
                </a:lnTo>
                <a:cubicBezTo>
                  <a:pt x="4138" y="46302"/>
                  <a:pt x="0" y="42164"/>
                  <a:pt x="0" y="37042"/>
                </a:cubicBezTo>
                <a:cubicBezTo>
                  <a:pt x="0" y="31919"/>
                  <a:pt x="4138" y="27781"/>
                  <a:pt x="9260" y="27781"/>
                </a:cubicBezTo>
                <a:lnTo>
                  <a:pt x="101865" y="27781"/>
                </a:lnTo>
                <a:lnTo>
                  <a:pt x="101865" y="9260"/>
                </a:lnTo>
                <a:cubicBezTo>
                  <a:pt x="101865" y="5527"/>
                  <a:pt x="104122" y="2141"/>
                  <a:pt x="107594" y="695"/>
                </a:cubicBezTo>
                <a:cubicBezTo>
                  <a:pt x="111067" y="-752"/>
                  <a:pt x="115032" y="58"/>
                  <a:pt x="117694" y="2691"/>
                </a:cubicBezTo>
                <a:lnTo>
                  <a:pt x="145475" y="30473"/>
                </a:lnTo>
                <a:cubicBezTo>
                  <a:pt x="149093" y="34090"/>
                  <a:pt x="149093" y="39964"/>
                  <a:pt x="145475" y="43582"/>
                </a:cubicBezTo>
                <a:close/>
                <a:moveTo>
                  <a:pt x="30473" y="145446"/>
                </a:moveTo>
                <a:lnTo>
                  <a:pt x="2691" y="117665"/>
                </a:lnTo>
                <a:cubicBezTo>
                  <a:pt x="-926" y="114048"/>
                  <a:pt x="-926" y="108173"/>
                  <a:pt x="2691" y="104556"/>
                </a:cubicBezTo>
                <a:lnTo>
                  <a:pt x="30473" y="76775"/>
                </a:lnTo>
                <a:cubicBezTo>
                  <a:pt x="33135" y="74112"/>
                  <a:pt x="37100" y="73331"/>
                  <a:pt x="40572" y="74778"/>
                </a:cubicBezTo>
                <a:cubicBezTo>
                  <a:pt x="44045" y="76225"/>
                  <a:pt x="46302" y="79611"/>
                  <a:pt x="46302" y="83344"/>
                </a:cubicBezTo>
                <a:lnTo>
                  <a:pt x="46302" y="101865"/>
                </a:lnTo>
                <a:lnTo>
                  <a:pt x="138906" y="101865"/>
                </a:lnTo>
                <a:cubicBezTo>
                  <a:pt x="144028" y="101865"/>
                  <a:pt x="148167" y="106003"/>
                  <a:pt x="148167" y="111125"/>
                </a:cubicBezTo>
                <a:cubicBezTo>
                  <a:pt x="148167" y="116247"/>
                  <a:pt x="144028" y="120385"/>
                  <a:pt x="138906" y="120385"/>
                </a:cubicBezTo>
                <a:lnTo>
                  <a:pt x="46302" y="120385"/>
                </a:lnTo>
                <a:lnTo>
                  <a:pt x="46302" y="138906"/>
                </a:lnTo>
                <a:cubicBezTo>
                  <a:pt x="46302" y="142639"/>
                  <a:pt x="44045" y="146025"/>
                  <a:pt x="40572" y="147472"/>
                </a:cubicBezTo>
                <a:cubicBezTo>
                  <a:pt x="37100" y="148919"/>
                  <a:pt x="33135" y="148109"/>
                  <a:pt x="30473" y="1454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1"/>
          <p:cNvSpPr/>
          <p:nvPr/>
        </p:nvSpPr>
        <p:spPr>
          <a:xfrm>
            <a:off x="8604249" y="8195148"/>
            <a:ext cx="1259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节点变化影响最小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11871854" y="8226898"/>
            <a:ext cx="185208" cy="148167"/>
          </a:xfrm>
          <a:custGeom>
            <a:avLst/>
            <a:gdLst/>
            <a:ahLst/>
            <a:cxnLst/>
            <a:rect l="l" t="t" r="r" b="b"/>
            <a:pathLst>
              <a:path w="185208" h="148167">
                <a:moveTo>
                  <a:pt x="34206" y="18058"/>
                </a:moveTo>
                <a:cubicBezTo>
                  <a:pt x="29373" y="16437"/>
                  <a:pt x="26739" y="11170"/>
                  <a:pt x="28360" y="6338"/>
                </a:cubicBezTo>
                <a:cubicBezTo>
                  <a:pt x="29981" y="1505"/>
                  <a:pt x="35219" y="-1129"/>
                  <a:pt x="40080" y="463"/>
                </a:cubicBezTo>
                <a:lnTo>
                  <a:pt x="72781" y="11373"/>
                </a:lnTo>
                <a:cubicBezTo>
                  <a:pt x="76804" y="4572"/>
                  <a:pt x="84241" y="0"/>
                  <a:pt x="92720" y="0"/>
                </a:cubicBezTo>
                <a:cubicBezTo>
                  <a:pt x="105511" y="0"/>
                  <a:pt x="115871" y="10360"/>
                  <a:pt x="115871" y="23151"/>
                </a:cubicBezTo>
                <a:cubicBezTo>
                  <a:pt x="115871" y="24019"/>
                  <a:pt x="115813" y="24858"/>
                  <a:pt x="115726" y="25698"/>
                </a:cubicBezTo>
                <a:lnTo>
                  <a:pt x="151205" y="37534"/>
                </a:lnTo>
                <a:cubicBezTo>
                  <a:pt x="156067" y="39154"/>
                  <a:pt x="158671" y="44392"/>
                  <a:pt x="157051" y="49254"/>
                </a:cubicBezTo>
                <a:cubicBezTo>
                  <a:pt x="155430" y="54116"/>
                  <a:pt x="150192" y="56720"/>
                  <a:pt x="145331" y="55099"/>
                </a:cubicBezTo>
                <a:lnTo>
                  <a:pt x="106119" y="42019"/>
                </a:lnTo>
                <a:cubicBezTo>
                  <a:pt x="104816" y="42945"/>
                  <a:pt x="103427" y="43727"/>
                  <a:pt x="101951" y="44392"/>
                </a:cubicBezTo>
                <a:lnTo>
                  <a:pt x="101951" y="138935"/>
                </a:lnTo>
                <a:cubicBezTo>
                  <a:pt x="101951" y="144057"/>
                  <a:pt x="97813" y="148196"/>
                  <a:pt x="92691" y="148196"/>
                </a:cubicBezTo>
                <a:lnTo>
                  <a:pt x="37128" y="148196"/>
                </a:lnTo>
                <a:cubicBezTo>
                  <a:pt x="32006" y="148196"/>
                  <a:pt x="27868" y="144057"/>
                  <a:pt x="27868" y="138935"/>
                </a:cubicBezTo>
                <a:cubicBezTo>
                  <a:pt x="27868" y="133813"/>
                  <a:pt x="32006" y="129675"/>
                  <a:pt x="37128" y="129675"/>
                </a:cubicBezTo>
                <a:lnTo>
                  <a:pt x="83431" y="129675"/>
                </a:lnTo>
                <a:lnTo>
                  <a:pt x="83431" y="44392"/>
                </a:lnTo>
                <a:cubicBezTo>
                  <a:pt x="77353" y="41730"/>
                  <a:pt x="72665" y="36579"/>
                  <a:pt x="70640" y="30212"/>
                </a:cubicBezTo>
                <a:lnTo>
                  <a:pt x="34206" y="18058"/>
                </a:lnTo>
                <a:close/>
                <a:moveTo>
                  <a:pt x="58109" y="83344"/>
                </a:moveTo>
                <a:lnTo>
                  <a:pt x="37128" y="47402"/>
                </a:lnTo>
                <a:lnTo>
                  <a:pt x="16177" y="83344"/>
                </a:lnTo>
                <a:lnTo>
                  <a:pt x="58109" y="83344"/>
                </a:lnTo>
                <a:close/>
                <a:moveTo>
                  <a:pt x="37157" y="111125"/>
                </a:moveTo>
                <a:cubicBezTo>
                  <a:pt x="18955" y="111125"/>
                  <a:pt x="3820" y="101286"/>
                  <a:pt x="695" y="88292"/>
                </a:cubicBezTo>
                <a:cubicBezTo>
                  <a:pt x="-58" y="85109"/>
                  <a:pt x="984" y="81839"/>
                  <a:pt x="2633" y="79003"/>
                </a:cubicBezTo>
                <a:lnTo>
                  <a:pt x="30183" y="31775"/>
                </a:lnTo>
                <a:cubicBezTo>
                  <a:pt x="31630" y="29286"/>
                  <a:pt x="34292" y="27781"/>
                  <a:pt x="37157" y="27781"/>
                </a:cubicBezTo>
                <a:cubicBezTo>
                  <a:pt x="40022" y="27781"/>
                  <a:pt x="42685" y="29315"/>
                  <a:pt x="44132" y="31775"/>
                </a:cubicBezTo>
                <a:lnTo>
                  <a:pt x="71681" y="79003"/>
                </a:lnTo>
                <a:cubicBezTo>
                  <a:pt x="73331" y="81839"/>
                  <a:pt x="74373" y="85109"/>
                  <a:pt x="73620" y="88292"/>
                </a:cubicBezTo>
                <a:cubicBezTo>
                  <a:pt x="70495" y="101257"/>
                  <a:pt x="55360" y="111125"/>
                  <a:pt x="37157" y="111125"/>
                </a:cubicBezTo>
                <a:close/>
                <a:moveTo>
                  <a:pt x="147935" y="84443"/>
                </a:moveTo>
                <a:lnTo>
                  <a:pt x="126983" y="120385"/>
                </a:lnTo>
                <a:lnTo>
                  <a:pt x="168916" y="120385"/>
                </a:lnTo>
                <a:lnTo>
                  <a:pt x="147964" y="84443"/>
                </a:lnTo>
                <a:close/>
                <a:moveTo>
                  <a:pt x="184398" y="125334"/>
                </a:moveTo>
                <a:cubicBezTo>
                  <a:pt x="181273" y="138327"/>
                  <a:pt x="166138" y="148167"/>
                  <a:pt x="147935" y="148167"/>
                </a:cubicBezTo>
                <a:cubicBezTo>
                  <a:pt x="129733" y="148167"/>
                  <a:pt x="114598" y="138327"/>
                  <a:pt x="111472" y="125334"/>
                </a:cubicBezTo>
                <a:cubicBezTo>
                  <a:pt x="110720" y="122151"/>
                  <a:pt x="111762" y="118881"/>
                  <a:pt x="113411" y="116045"/>
                </a:cubicBezTo>
                <a:lnTo>
                  <a:pt x="140961" y="68816"/>
                </a:lnTo>
                <a:cubicBezTo>
                  <a:pt x="142408" y="66328"/>
                  <a:pt x="145070" y="64823"/>
                  <a:pt x="147935" y="64823"/>
                </a:cubicBezTo>
                <a:cubicBezTo>
                  <a:pt x="150800" y="64823"/>
                  <a:pt x="153462" y="66357"/>
                  <a:pt x="154909" y="68816"/>
                </a:cubicBezTo>
                <a:lnTo>
                  <a:pt x="182459" y="116045"/>
                </a:lnTo>
                <a:cubicBezTo>
                  <a:pt x="184109" y="118881"/>
                  <a:pt x="185150" y="122151"/>
                  <a:pt x="184398" y="125334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3"/>
          <p:cNvSpPr/>
          <p:nvPr/>
        </p:nvSpPr>
        <p:spPr>
          <a:xfrm>
            <a:off x="12139083" y="8195148"/>
            <a:ext cx="1111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负载均衡效果好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364801" y="8523231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9260" y="9260"/>
                </a:moveTo>
                <a:cubicBezTo>
                  <a:pt x="4138" y="9260"/>
                  <a:pt x="0" y="13399"/>
                  <a:pt x="0" y="18521"/>
                </a:cubicBezTo>
                <a:lnTo>
                  <a:pt x="0" y="46302"/>
                </a:lnTo>
                <a:cubicBezTo>
                  <a:pt x="0" y="51424"/>
                  <a:pt x="4138" y="55562"/>
                  <a:pt x="9260" y="55562"/>
                </a:cubicBezTo>
                <a:cubicBezTo>
                  <a:pt x="14383" y="55562"/>
                  <a:pt x="18521" y="51424"/>
                  <a:pt x="18521" y="46302"/>
                </a:cubicBezTo>
                <a:lnTo>
                  <a:pt x="18521" y="27781"/>
                </a:lnTo>
                <a:lnTo>
                  <a:pt x="37042" y="27781"/>
                </a:lnTo>
                <a:cubicBezTo>
                  <a:pt x="42164" y="27781"/>
                  <a:pt x="46302" y="23643"/>
                  <a:pt x="46302" y="18521"/>
                </a:cubicBezTo>
                <a:cubicBezTo>
                  <a:pt x="46302" y="13399"/>
                  <a:pt x="42164" y="9260"/>
                  <a:pt x="37042" y="9260"/>
                </a:cubicBezTo>
                <a:lnTo>
                  <a:pt x="9260" y="9260"/>
                </a:lnTo>
                <a:close/>
                <a:moveTo>
                  <a:pt x="18521" y="101865"/>
                </a:moveTo>
                <a:cubicBezTo>
                  <a:pt x="18521" y="96742"/>
                  <a:pt x="14383" y="92604"/>
                  <a:pt x="9260" y="92604"/>
                </a:cubicBezTo>
                <a:cubicBezTo>
                  <a:pt x="4138" y="92604"/>
                  <a:pt x="0" y="96742"/>
                  <a:pt x="0" y="101865"/>
                </a:cubicBezTo>
                <a:lnTo>
                  <a:pt x="0" y="129646"/>
                </a:lnTo>
                <a:cubicBezTo>
                  <a:pt x="0" y="134768"/>
                  <a:pt x="4138" y="138906"/>
                  <a:pt x="9260" y="138906"/>
                </a:cubicBezTo>
                <a:lnTo>
                  <a:pt x="37042" y="138906"/>
                </a:lnTo>
                <a:cubicBezTo>
                  <a:pt x="42164" y="138906"/>
                  <a:pt x="46302" y="134768"/>
                  <a:pt x="46302" y="129646"/>
                </a:cubicBezTo>
                <a:cubicBezTo>
                  <a:pt x="46302" y="124524"/>
                  <a:pt x="42164" y="120385"/>
                  <a:pt x="37042" y="120385"/>
                </a:cubicBezTo>
                <a:lnTo>
                  <a:pt x="18521" y="120385"/>
                </a:lnTo>
                <a:lnTo>
                  <a:pt x="18521" y="101865"/>
                </a:lnTo>
                <a:close/>
                <a:moveTo>
                  <a:pt x="92604" y="9260"/>
                </a:moveTo>
                <a:cubicBezTo>
                  <a:pt x="87482" y="9260"/>
                  <a:pt x="83344" y="13399"/>
                  <a:pt x="83344" y="18521"/>
                </a:cubicBezTo>
                <a:cubicBezTo>
                  <a:pt x="83344" y="23643"/>
                  <a:pt x="87482" y="27781"/>
                  <a:pt x="92604" y="27781"/>
                </a:cubicBezTo>
                <a:lnTo>
                  <a:pt x="111125" y="27781"/>
                </a:lnTo>
                <a:lnTo>
                  <a:pt x="111125" y="46302"/>
                </a:lnTo>
                <a:cubicBezTo>
                  <a:pt x="111125" y="51424"/>
                  <a:pt x="115263" y="55562"/>
                  <a:pt x="120385" y="55562"/>
                </a:cubicBezTo>
                <a:cubicBezTo>
                  <a:pt x="125508" y="55562"/>
                  <a:pt x="129646" y="51424"/>
                  <a:pt x="129646" y="46302"/>
                </a:cubicBezTo>
                <a:lnTo>
                  <a:pt x="129646" y="18521"/>
                </a:lnTo>
                <a:cubicBezTo>
                  <a:pt x="129646" y="13399"/>
                  <a:pt x="125508" y="9260"/>
                  <a:pt x="120385" y="9260"/>
                </a:cubicBezTo>
                <a:lnTo>
                  <a:pt x="92604" y="9260"/>
                </a:lnTo>
                <a:close/>
                <a:moveTo>
                  <a:pt x="129646" y="101865"/>
                </a:moveTo>
                <a:cubicBezTo>
                  <a:pt x="129646" y="96742"/>
                  <a:pt x="125508" y="92604"/>
                  <a:pt x="120385" y="92604"/>
                </a:cubicBezTo>
                <a:cubicBezTo>
                  <a:pt x="115263" y="92604"/>
                  <a:pt x="111125" y="96742"/>
                  <a:pt x="111125" y="101865"/>
                </a:cubicBezTo>
                <a:lnTo>
                  <a:pt x="111125" y="120385"/>
                </a:lnTo>
                <a:lnTo>
                  <a:pt x="92604" y="120385"/>
                </a:lnTo>
                <a:cubicBezTo>
                  <a:pt x="87482" y="120385"/>
                  <a:pt x="83344" y="124524"/>
                  <a:pt x="83344" y="129646"/>
                </a:cubicBezTo>
                <a:cubicBezTo>
                  <a:pt x="83344" y="134768"/>
                  <a:pt x="87482" y="138906"/>
                  <a:pt x="92604" y="138906"/>
                </a:cubicBezTo>
                <a:lnTo>
                  <a:pt x="120385" y="138906"/>
                </a:lnTo>
                <a:cubicBezTo>
                  <a:pt x="125508" y="138906"/>
                  <a:pt x="129646" y="134768"/>
                  <a:pt x="129646" y="129646"/>
                </a:cubicBezTo>
                <a:lnTo>
                  <a:pt x="129646" y="101865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5"/>
          <p:cNvSpPr/>
          <p:nvPr/>
        </p:nvSpPr>
        <p:spPr>
          <a:xfrm>
            <a:off x="8604249" y="8491481"/>
            <a:ext cx="666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扩展性强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11890374" y="8523231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0"/>
                </a:moveTo>
                <a:cubicBezTo>
                  <a:pt x="75415" y="0"/>
                  <a:pt x="76746" y="289"/>
                  <a:pt x="77961" y="839"/>
                </a:cubicBezTo>
                <a:lnTo>
                  <a:pt x="132482" y="23961"/>
                </a:lnTo>
                <a:cubicBezTo>
                  <a:pt x="138848" y="26653"/>
                  <a:pt x="143594" y="32932"/>
                  <a:pt x="143565" y="40514"/>
                </a:cubicBezTo>
                <a:cubicBezTo>
                  <a:pt x="143421" y="69222"/>
                  <a:pt x="131614" y="121746"/>
                  <a:pt x="81752" y="145620"/>
                </a:cubicBezTo>
                <a:cubicBezTo>
                  <a:pt x="76919" y="147935"/>
                  <a:pt x="71305" y="147935"/>
                  <a:pt x="66472" y="145620"/>
                </a:cubicBezTo>
                <a:cubicBezTo>
                  <a:pt x="16582" y="121746"/>
                  <a:pt x="4804" y="69222"/>
                  <a:pt x="4659" y="40514"/>
                </a:cubicBezTo>
                <a:cubicBezTo>
                  <a:pt x="4630" y="32932"/>
                  <a:pt x="9376" y="26653"/>
                  <a:pt x="15743" y="23961"/>
                </a:cubicBezTo>
                <a:lnTo>
                  <a:pt x="70234" y="839"/>
                </a:lnTo>
                <a:cubicBezTo>
                  <a:pt x="71450" y="289"/>
                  <a:pt x="72752" y="0"/>
                  <a:pt x="74083" y="0"/>
                </a:cubicBezTo>
                <a:close/>
                <a:moveTo>
                  <a:pt x="74083" y="19331"/>
                </a:moveTo>
                <a:lnTo>
                  <a:pt x="74083" y="128749"/>
                </a:lnTo>
                <a:cubicBezTo>
                  <a:pt x="114019" y="109418"/>
                  <a:pt x="124755" y="66588"/>
                  <a:pt x="125016" y="40948"/>
                </a:cubicBezTo>
                <a:lnTo>
                  <a:pt x="74083" y="19360"/>
                </a:lnTo>
                <a:lnTo>
                  <a:pt x="74083" y="1936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7"/>
          <p:cNvSpPr/>
          <p:nvPr/>
        </p:nvSpPr>
        <p:spPr>
          <a:xfrm>
            <a:off x="12139083" y="8491481"/>
            <a:ext cx="666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容错性高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2014538"/>
            <a:ext cx="3479800" cy="863600"/>
          </a:xfrm>
          <a:custGeom>
            <a:avLst/>
            <a:gdLst/>
            <a:ahLst/>
            <a:cxnLst/>
            <a:rect l="l" t="t" r="r" b="b"/>
            <a:pathLst>
              <a:path w="3479800" h="863600">
                <a:moveTo>
                  <a:pt x="101603" y="0"/>
                </a:moveTo>
                <a:lnTo>
                  <a:pt x="3378197" y="0"/>
                </a:lnTo>
                <a:cubicBezTo>
                  <a:pt x="3434311" y="0"/>
                  <a:pt x="3479800" y="45489"/>
                  <a:pt x="3479800" y="101603"/>
                </a:cubicBezTo>
                <a:lnTo>
                  <a:pt x="3479800" y="761997"/>
                </a:lnTo>
                <a:cubicBezTo>
                  <a:pt x="3479800" y="818111"/>
                  <a:pt x="3434311" y="863600"/>
                  <a:pt x="33781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14400" y="2192338"/>
            <a:ext cx="286057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kern="0" spc="300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284538"/>
            <a:ext cx="1584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核心理论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214938"/>
            <a:ext cx="99441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掌握指导分布式系统设计的核心理论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4350" y="6450013"/>
            <a:ext cx="2159000" cy="673100"/>
          </a:xfrm>
          <a:custGeom>
            <a:avLst/>
            <a:gdLst/>
            <a:ahLst/>
            <a:cxnLst/>
            <a:rect l="l" t="t" r="r" b="b"/>
            <a:pathLst>
              <a:path w="2159000" h="673100">
                <a:moveTo>
                  <a:pt x="101598" y="0"/>
                </a:moveTo>
                <a:lnTo>
                  <a:pt x="2057402" y="0"/>
                </a:lnTo>
                <a:cubicBezTo>
                  <a:pt x="2113513" y="0"/>
                  <a:pt x="2159000" y="45487"/>
                  <a:pt x="2159000" y="101598"/>
                </a:cubicBezTo>
                <a:lnTo>
                  <a:pt x="2159000" y="571502"/>
                </a:lnTo>
                <a:cubicBezTo>
                  <a:pt x="2159000" y="627613"/>
                  <a:pt x="2113513" y="673100"/>
                  <a:pt x="20574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25500" y="6665913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90500" y="15875"/>
                </a:moveTo>
                <a:lnTo>
                  <a:pt x="254000" y="15875"/>
                </a:lnTo>
                <a:cubicBezTo>
                  <a:pt x="262781" y="15875"/>
                  <a:pt x="269875" y="22969"/>
                  <a:pt x="269875" y="31750"/>
                </a:cubicBezTo>
                <a:cubicBezTo>
                  <a:pt x="269875" y="40531"/>
                  <a:pt x="262781" y="47625"/>
                  <a:pt x="254000" y="47625"/>
                </a:cubicBezTo>
                <a:lnTo>
                  <a:pt x="197644" y="47625"/>
                </a:lnTo>
                <a:cubicBezTo>
                  <a:pt x="195064" y="60424"/>
                  <a:pt x="186283" y="70991"/>
                  <a:pt x="174625" y="76051"/>
                </a:cubicBezTo>
                <a:lnTo>
                  <a:pt x="174625" y="222250"/>
                </a:lnTo>
                <a:lnTo>
                  <a:pt x="254000" y="222250"/>
                </a:lnTo>
                <a:cubicBezTo>
                  <a:pt x="262781" y="222250"/>
                  <a:pt x="269875" y="229344"/>
                  <a:pt x="269875" y="238125"/>
                </a:cubicBezTo>
                <a:cubicBezTo>
                  <a:pt x="269875" y="246906"/>
                  <a:pt x="262781" y="254000"/>
                  <a:pt x="254000" y="254000"/>
                </a:cubicBezTo>
                <a:lnTo>
                  <a:pt x="63500" y="254000"/>
                </a:lnTo>
                <a:cubicBezTo>
                  <a:pt x="54719" y="254000"/>
                  <a:pt x="47625" y="246906"/>
                  <a:pt x="47625" y="238125"/>
                </a:cubicBezTo>
                <a:cubicBezTo>
                  <a:pt x="47625" y="229344"/>
                  <a:pt x="54719" y="222250"/>
                  <a:pt x="63500" y="222250"/>
                </a:cubicBezTo>
                <a:lnTo>
                  <a:pt x="142875" y="222250"/>
                </a:lnTo>
                <a:lnTo>
                  <a:pt x="142875" y="76051"/>
                </a:lnTo>
                <a:cubicBezTo>
                  <a:pt x="131217" y="70941"/>
                  <a:pt x="122436" y="60375"/>
                  <a:pt x="119856" y="47625"/>
                </a:cubicBezTo>
                <a:lnTo>
                  <a:pt x="63500" y="47625"/>
                </a:lnTo>
                <a:cubicBezTo>
                  <a:pt x="54719" y="47625"/>
                  <a:pt x="47625" y="40531"/>
                  <a:pt x="47625" y="31750"/>
                </a:cubicBezTo>
                <a:cubicBezTo>
                  <a:pt x="47625" y="22969"/>
                  <a:pt x="54719" y="15875"/>
                  <a:pt x="63500" y="15875"/>
                </a:cubicBezTo>
                <a:lnTo>
                  <a:pt x="127000" y="15875"/>
                </a:lnTo>
                <a:cubicBezTo>
                  <a:pt x="134243" y="6251"/>
                  <a:pt x="145752" y="0"/>
                  <a:pt x="158750" y="0"/>
                </a:cubicBezTo>
                <a:cubicBezTo>
                  <a:pt x="171748" y="0"/>
                  <a:pt x="183257" y="6251"/>
                  <a:pt x="190500" y="15875"/>
                </a:cubicBezTo>
                <a:close/>
                <a:moveTo>
                  <a:pt x="218083" y="158750"/>
                </a:moveTo>
                <a:lnTo>
                  <a:pt x="289917" y="158750"/>
                </a:lnTo>
                <a:lnTo>
                  <a:pt x="254000" y="97135"/>
                </a:lnTo>
                <a:lnTo>
                  <a:pt x="218083" y="158750"/>
                </a:lnTo>
                <a:close/>
                <a:moveTo>
                  <a:pt x="254000" y="206375"/>
                </a:moveTo>
                <a:cubicBezTo>
                  <a:pt x="222796" y="206375"/>
                  <a:pt x="196850" y="189508"/>
                  <a:pt x="191492" y="167233"/>
                </a:cubicBezTo>
                <a:cubicBezTo>
                  <a:pt x="190202" y="161776"/>
                  <a:pt x="191988" y="156170"/>
                  <a:pt x="194816" y="151309"/>
                </a:cubicBezTo>
                <a:lnTo>
                  <a:pt x="242044" y="70346"/>
                </a:lnTo>
                <a:cubicBezTo>
                  <a:pt x="244525" y="66080"/>
                  <a:pt x="249089" y="63500"/>
                  <a:pt x="254000" y="63500"/>
                </a:cubicBezTo>
                <a:cubicBezTo>
                  <a:pt x="258911" y="63500"/>
                  <a:pt x="263475" y="66129"/>
                  <a:pt x="265956" y="70346"/>
                </a:cubicBezTo>
                <a:lnTo>
                  <a:pt x="313184" y="151309"/>
                </a:lnTo>
                <a:cubicBezTo>
                  <a:pt x="316012" y="156170"/>
                  <a:pt x="317798" y="161776"/>
                  <a:pt x="316508" y="167233"/>
                </a:cubicBezTo>
                <a:cubicBezTo>
                  <a:pt x="311150" y="189458"/>
                  <a:pt x="285204" y="206375"/>
                  <a:pt x="254000" y="206375"/>
                </a:cubicBezTo>
                <a:close/>
                <a:moveTo>
                  <a:pt x="62905" y="97135"/>
                </a:moveTo>
                <a:lnTo>
                  <a:pt x="26988" y="158750"/>
                </a:lnTo>
                <a:lnTo>
                  <a:pt x="98871" y="158750"/>
                </a:lnTo>
                <a:lnTo>
                  <a:pt x="62905" y="97135"/>
                </a:lnTo>
                <a:close/>
                <a:moveTo>
                  <a:pt x="446" y="167233"/>
                </a:moveTo>
                <a:cubicBezTo>
                  <a:pt x="-843" y="161776"/>
                  <a:pt x="943" y="156170"/>
                  <a:pt x="3770" y="151309"/>
                </a:cubicBezTo>
                <a:lnTo>
                  <a:pt x="50998" y="70346"/>
                </a:lnTo>
                <a:cubicBezTo>
                  <a:pt x="53479" y="66080"/>
                  <a:pt x="58043" y="63500"/>
                  <a:pt x="62954" y="63500"/>
                </a:cubicBezTo>
                <a:cubicBezTo>
                  <a:pt x="67866" y="63500"/>
                  <a:pt x="72430" y="66129"/>
                  <a:pt x="74910" y="70346"/>
                </a:cubicBezTo>
                <a:lnTo>
                  <a:pt x="122138" y="151309"/>
                </a:lnTo>
                <a:cubicBezTo>
                  <a:pt x="124966" y="156170"/>
                  <a:pt x="126752" y="161776"/>
                  <a:pt x="125462" y="167233"/>
                </a:cubicBezTo>
                <a:cubicBezTo>
                  <a:pt x="120104" y="189458"/>
                  <a:pt x="94159" y="206375"/>
                  <a:pt x="62954" y="206375"/>
                </a:cubicBezTo>
                <a:cubicBezTo>
                  <a:pt x="31750" y="206375"/>
                  <a:pt x="5804" y="189508"/>
                  <a:pt x="446" y="16723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354138" y="6615113"/>
            <a:ext cx="1136154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CAP定理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91941" y="6450013"/>
            <a:ext cx="2298700" cy="673100"/>
          </a:xfrm>
          <a:custGeom>
            <a:avLst/>
            <a:gdLst/>
            <a:ahLst/>
            <a:cxnLst/>
            <a:rect l="l" t="t" r="r" b="b"/>
            <a:pathLst>
              <a:path w="2298700" h="673100">
                <a:moveTo>
                  <a:pt x="101598" y="0"/>
                </a:moveTo>
                <a:lnTo>
                  <a:pt x="2197102" y="0"/>
                </a:lnTo>
                <a:cubicBezTo>
                  <a:pt x="2253213" y="0"/>
                  <a:pt x="2298700" y="45487"/>
                  <a:pt x="2298700" y="101598"/>
                </a:cubicBezTo>
                <a:lnTo>
                  <a:pt x="2298700" y="571502"/>
                </a:lnTo>
                <a:cubicBezTo>
                  <a:pt x="2298700" y="627613"/>
                  <a:pt x="2253213" y="673100"/>
                  <a:pt x="2197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3334841" y="66659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831729" y="6615113"/>
            <a:ext cx="1273572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BASE理论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06951" y="6450013"/>
            <a:ext cx="2425700" cy="673100"/>
          </a:xfrm>
          <a:custGeom>
            <a:avLst/>
            <a:gdLst/>
            <a:ahLst/>
            <a:cxnLst/>
            <a:rect l="l" t="t" r="r" b="b"/>
            <a:pathLst>
              <a:path w="2425700" h="673100">
                <a:moveTo>
                  <a:pt x="101598" y="0"/>
                </a:moveTo>
                <a:lnTo>
                  <a:pt x="2324102" y="0"/>
                </a:lnTo>
                <a:cubicBezTo>
                  <a:pt x="2380213" y="0"/>
                  <a:pt x="2425700" y="45487"/>
                  <a:pt x="2425700" y="101598"/>
                </a:cubicBezTo>
                <a:lnTo>
                  <a:pt x="2425700" y="571502"/>
                </a:lnTo>
                <a:cubicBezTo>
                  <a:pt x="2425700" y="627613"/>
                  <a:pt x="2380213" y="673100"/>
                  <a:pt x="2324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5965726" y="666591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5875" y="63500"/>
                </a:moveTo>
                <a:cubicBezTo>
                  <a:pt x="7094" y="63500"/>
                  <a:pt x="0" y="70594"/>
                  <a:pt x="0" y="79375"/>
                </a:cubicBezTo>
                <a:cubicBezTo>
                  <a:pt x="0" y="88156"/>
                  <a:pt x="7094" y="95250"/>
                  <a:pt x="15875" y="95250"/>
                </a:cubicBezTo>
                <a:lnTo>
                  <a:pt x="206375" y="95250"/>
                </a:lnTo>
                <a:cubicBezTo>
                  <a:pt x="215156" y="95250"/>
                  <a:pt x="222250" y="88156"/>
                  <a:pt x="222250" y="79375"/>
                </a:cubicBezTo>
                <a:cubicBezTo>
                  <a:pt x="222250" y="70594"/>
                  <a:pt x="215156" y="63500"/>
                  <a:pt x="206375" y="63500"/>
                </a:cubicBezTo>
                <a:lnTo>
                  <a:pt x="15875" y="63500"/>
                </a:lnTo>
                <a:close/>
                <a:moveTo>
                  <a:pt x="15875" y="158750"/>
                </a:moveTo>
                <a:cubicBezTo>
                  <a:pt x="7094" y="158750"/>
                  <a:pt x="0" y="165844"/>
                  <a:pt x="0" y="174625"/>
                </a:cubicBezTo>
                <a:cubicBezTo>
                  <a:pt x="0" y="183406"/>
                  <a:pt x="7094" y="190500"/>
                  <a:pt x="15875" y="190500"/>
                </a:cubicBezTo>
                <a:lnTo>
                  <a:pt x="206375" y="190500"/>
                </a:lnTo>
                <a:cubicBezTo>
                  <a:pt x="215156" y="190500"/>
                  <a:pt x="222250" y="183406"/>
                  <a:pt x="222250" y="174625"/>
                </a:cubicBezTo>
                <a:cubicBezTo>
                  <a:pt x="222250" y="165844"/>
                  <a:pt x="215156" y="158750"/>
                  <a:pt x="206375" y="158750"/>
                </a:cubicBezTo>
                <a:lnTo>
                  <a:pt x="15875" y="15875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446738" y="6615113"/>
            <a:ext cx="13970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一致性模型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9257" y="469257"/>
            <a:ext cx="1784336" cy="475051"/>
          </a:xfrm>
          <a:custGeom>
            <a:avLst/>
            <a:gdLst/>
            <a:ahLst/>
            <a:cxnLst/>
            <a:rect l="l" t="t" r="r" b="b"/>
            <a:pathLst>
              <a:path w="1784336" h="475051">
                <a:moveTo>
                  <a:pt x="46346" y="0"/>
                </a:moveTo>
                <a:lnTo>
                  <a:pt x="1737990" y="0"/>
                </a:lnTo>
                <a:cubicBezTo>
                  <a:pt x="1763587" y="0"/>
                  <a:pt x="1784336" y="20750"/>
                  <a:pt x="1784336" y="46346"/>
                </a:cubicBezTo>
                <a:lnTo>
                  <a:pt x="1784336" y="428705"/>
                </a:lnTo>
                <a:cubicBezTo>
                  <a:pt x="1784336" y="454301"/>
                  <a:pt x="1763587" y="475051"/>
                  <a:pt x="1737990" y="475051"/>
                </a:cubicBezTo>
                <a:lnTo>
                  <a:pt x="46346" y="475051"/>
                </a:lnTo>
                <a:cubicBezTo>
                  <a:pt x="20750" y="475051"/>
                  <a:pt x="0" y="454301"/>
                  <a:pt x="0" y="428705"/>
                </a:cubicBezTo>
                <a:lnTo>
                  <a:pt x="0" y="46346"/>
                </a:lnTo>
                <a:cubicBezTo>
                  <a:pt x="0" y="20767"/>
                  <a:pt x="20767" y="0"/>
                  <a:pt x="46346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0436" y="585123"/>
            <a:ext cx="1499650" cy="24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0" b="1" kern="0" spc="73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 THEOREM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3464" y="1042794"/>
            <a:ext cx="15537631" cy="46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8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CAP定理:分布式系统的根本约束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9257" y="1651091"/>
            <a:ext cx="7554463" cy="4090070"/>
          </a:xfrm>
          <a:custGeom>
            <a:avLst/>
            <a:gdLst/>
            <a:ahLst/>
            <a:cxnLst/>
            <a:rect l="l" t="t" r="r" b="b"/>
            <a:pathLst>
              <a:path w="7554463" h="4090070">
                <a:moveTo>
                  <a:pt x="92681" y="0"/>
                </a:moveTo>
                <a:lnTo>
                  <a:pt x="7461782" y="0"/>
                </a:lnTo>
                <a:cubicBezTo>
                  <a:pt x="7512969" y="0"/>
                  <a:pt x="7554463" y="41495"/>
                  <a:pt x="7554463" y="92681"/>
                </a:cubicBezTo>
                <a:lnTo>
                  <a:pt x="7554463" y="3997389"/>
                </a:lnTo>
                <a:cubicBezTo>
                  <a:pt x="7554463" y="4048575"/>
                  <a:pt x="7512969" y="4090070"/>
                  <a:pt x="7461782" y="4090070"/>
                </a:cubicBezTo>
                <a:lnTo>
                  <a:pt x="92681" y="4090070"/>
                </a:lnTo>
                <a:cubicBezTo>
                  <a:pt x="41495" y="4090070"/>
                  <a:pt x="0" y="4048575"/>
                  <a:pt x="0" y="3997389"/>
                </a:cubicBezTo>
                <a:lnTo>
                  <a:pt x="0" y="92681"/>
                </a:lnTo>
                <a:cubicBezTo>
                  <a:pt x="0" y="41495"/>
                  <a:pt x="41495" y="0"/>
                  <a:pt x="9268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02503" y="1842269"/>
            <a:ext cx="7287971" cy="32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2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CAP三角形</a:t>
            </a:r>
            <a:endParaRPr lang="en-US" sz="1600" dirty="0"/>
          </a:p>
        </p:txBody>
      </p:sp>
      <p:sp>
        <p:nvSpPr>
          <p:cNvPr id="35" name="任意形状 34">
            <a:extLst>
              <a:ext uri="{FF2B5EF4-FFF2-40B4-BE49-F238E27FC236}">
                <a16:creationId xmlns:a16="http://schemas.microsoft.com/office/drawing/2014/main" id="{AC9D4430-7BE1-1BB1-BC75-F00F07D235C0}"/>
              </a:ext>
            </a:extLst>
          </p:cNvPr>
          <p:cNvSpPr/>
          <p:nvPr/>
        </p:nvSpPr>
        <p:spPr>
          <a:xfrm>
            <a:off x="3437328" y="2606985"/>
            <a:ext cx="1622124" cy="1853856"/>
          </a:xfrm>
          <a:custGeom>
            <a:avLst/>
            <a:gdLst>
              <a:gd name="csX0" fmla="*/ 811062 w 1622124"/>
              <a:gd name="csY0" fmla="*/ 0 h 1853856"/>
              <a:gd name="csX1" fmla="*/ 0 w 1622124"/>
              <a:gd name="csY1" fmla="*/ 1853856 h 1853856"/>
              <a:gd name="csX2" fmla="*/ 1622124 w 1622124"/>
              <a:gd name="csY2" fmla="*/ 1853856 h 18538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22124" h="1853856">
                <a:moveTo>
                  <a:pt x="811062" y="0"/>
                </a:moveTo>
                <a:lnTo>
                  <a:pt x="0" y="1853856"/>
                </a:lnTo>
                <a:lnTo>
                  <a:pt x="1622124" y="1853856"/>
                </a:lnTo>
                <a:close/>
              </a:path>
            </a:pathLst>
          </a:custGeom>
          <a:noFill/>
          <a:ln w="34698" cap="flat">
            <a:solidFill>
              <a:srgbClr val="D4A23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0162ADA3-F7BF-458D-8D7B-AF7665D76BCC}"/>
              </a:ext>
            </a:extLst>
          </p:cNvPr>
          <p:cNvSpPr/>
          <p:nvPr/>
        </p:nvSpPr>
        <p:spPr>
          <a:xfrm>
            <a:off x="3958725" y="2317320"/>
            <a:ext cx="579330" cy="579330"/>
          </a:xfrm>
          <a:prstGeom prst="ellipse">
            <a:avLst/>
          </a:prstGeom>
          <a:solidFill>
            <a:srgbClr val="D4A237"/>
          </a:solidFill>
          <a:ln w="11566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C340CF0-0890-25C3-D8B4-B7366258B9DD}"/>
              </a:ext>
            </a:extLst>
          </p:cNvPr>
          <p:cNvSpPr txBox="1"/>
          <p:nvPr/>
        </p:nvSpPr>
        <p:spPr>
          <a:xfrm>
            <a:off x="4098377" y="2472351"/>
            <a:ext cx="300024" cy="2726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 b="1" spc="0" baseline="0">
                <a:ln/>
                <a:solidFill>
                  <a:srgbClr val="1A1D21"/>
                </a:solidFill>
                <a:latin typeface="Arial"/>
                <a:cs typeface="Arial"/>
                <a:sym typeface="Arial"/>
                <a:rtl val="0"/>
              </a:rPr>
              <a:t>C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E26B27C-5EDA-A0A8-5D27-7AE0CEB4DF83}"/>
              </a:ext>
            </a:extLst>
          </p:cNvPr>
          <p:cNvSpPr txBox="1"/>
          <p:nvPr/>
        </p:nvSpPr>
        <p:spPr>
          <a:xfrm>
            <a:off x="3362599" y="2483229"/>
            <a:ext cx="599997" cy="274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F8F9FA"/>
                </a:solidFill>
                <a:latin typeface="微软雅黑"/>
                <a:ea typeface="微软雅黑"/>
                <a:sym typeface="微软雅黑"/>
                <a:rtl val="0"/>
              </a:rPr>
              <a:t>一致性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BB37BDC3-047A-BF9A-0654-4E9EE4A44C7A}"/>
              </a:ext>
            </a:extLst>
          </p:cNvPr>
          <p:cNvSpPr/>
          <p:nvPr/>
        </p:nvSpPr>
        <p:spPr>
          <a:xfrm>
            <a:off x="3147663" y="4171176"/>
            <a:ext cx="579330" cy="579330"/>
          </a:xfrm>
          <a:prstGeom prst="ellipse">
            <a:avLst/>
          </a:prstGeom>
          <a:solidFill>
            <a:srgbClr val="D4A237"/>
          </a:solidFill>
          <a:ln w="11566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2A47D9D-0225-5AD0-0A65-C1709517E946}"/>
              </a:ext>
            </a:extLst>
          </p:cNvPr>
          <p:cNvSpPr txBox="1"/>
          <p:nvPr/>
        </p:nvSpPr>
        <p:spPr>
          <a:xfrm>
            <a:off x="3291790" y="4326207"/>
            <a:ext cx="291074" cy="2726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 b="1" spc="0" baseline="0">
                <a:ln/>
                <a:solidFill>
                  <a:srgbClr val="1A1D21"/>
                </a:solidFill>
                <a:latin typeface="Arial"/>
                <a:cs typeface="Arial"/>
                <a:sym typeface="Arial"/>
                <a:rtl val="0"/>
              </a:rPr>
              <a:t>P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2359C45-A966-8E29-9CF2-66F1CE9BFD02}"/>
              </a:ext>
            </a:extLst>
          </p:cNvPr>
          <p:cNvSpPr txBox="1"/>
          <p:nvPr/>
        </p:nvSpPr>
        <p:spPr>
          <a:xfrm>
            <a:off x="2328806" y="4343355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900" spc="0" baseline="0" dirty="0">
                <a:ln/>
                <a:solidFill>
                  <a:srgbClr val="F8F9FA"/>
                </a:solidFill>
                <a:latin typeface="微软雅黑"/>
                <a:ea typeface="微软雅黑"/>
                <a:sym typeface="微软雅黑"/>
                <a:rtl val="0"/>
              </a:rPr>
              <a:t>分区容错性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D5730C63-83CD-8FFD-98D9-4F9BB9F07D0C}"/>
              </a:ext>
            </a:extLst>
          </p:cNvPr>
          <p:cNvSpPr/>
          <p:nvPr/>
        </p:nvSpPr>
        <p:spPr>
          <a:xfrm>
            <a:off x="4769787" y="4171176"/>
            <a:ext cx="579330" cy="579330"/>
          </a:xfrm>
          <a:prstGeom prst="ellipse">
            <a:avLst/>
          </a:prstGeom>
          <a:solidFill>
            <a:srgbClr val="D4A237"/>
          </a:solidFill>
          <a:ln w="11566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5010856-6CD8-5B34-29F1-0C75B77D8917}"/>
              </a:ext>
            </a:extLst>
          </p:cNvPr>
          <p:cNvSpPr txBox="1"/>
          <p:nvPr/>
        </p:nvSpPr>
        <p:spPr>
          <a:xfrm>
            <a:off x="4909439" y="4326207"/>
            <a:ext cx="300024" cy="2726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50" b="1" spc="0" baseline="0">
                <a:ln/>
                <a:solidFill>
                  <a:srgbClr val="1A1D21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2493B32-B2AC-55F0-088E-8DA71A2BF7A6}"/>
              </a:ext>
            </a:extLst>
          </p:cNvPr>
          <p:cNvSpPr txBox="1"/>
          <p:nvPr/>
        </p:nvSpPr>
        <p:spPr>
          <a:xfrm>
            <a:off x="5388109" y="4329064"/>
            <a:ext cx="599997" cy="274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F8F9FA"/>
                </a:solidFill>
                <a:latin typeface="微软雅黑"/>
                <a:ea typeface="微软雅黑"/>
                <a:sym typeface="微软雅黑"/>
                <a:rtl val="0"/>
              </a:rPr>
              <a:t>可用性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C354FC0-C908-1309-DC90-7C863F66B477}"/>
              </a:ext>
            </a:extLst>
          </p:cNvPr>
          <p:cNvSpPr txBox="1"/>
          <p:nvPr/>
        </p:nvSpPr>
        <p:spPr>
          <a:xfrm>
            <a:off x="3824374" y="3612077"/>
            <a:ext cx="819455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25" spc="0" baseline="0" dirty="0">
                <a:ln/>
                <a:solidFill>
                  <a:srgbClr val="F8F9FA"/>
                </a:solidFill>
                <a:latin typeface="微软雅黑"/>
                <a:ea typeface="微软雅黑"/>
                <a:sym typeface="微软雅黑"/>
                <a:rtl val="0"/>
              </a:rPr>
              <a:t>理想但不可能</a:t>
            </a:r>
          </a:p>
        </p:txBody>
      </p:sp>
      <p:sp>
        <p:nvSpPr>
          <p:cNvPr id="8" name="Text 5"/>
          <p:cNvSpPr/>
          <p:nvPr/>
        </p:nvSpPr>
        <p:spPr>
          <a:xfrm>
            <a:off x="625676" y="5132864"/>
            <a:ext cx="2398426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CP系统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5676" y="5364596"/>
            <a:ext cx="2398426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银行核心系统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048543" y="5132864"/>
            <a:ext cx="2398426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AP系统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048543" y="5364596"/>
            <a:ext cx="2398426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社交媒体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71410" y="5132864"/>
            <a:ext cx="2398426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CA系统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71410" y="5364596"/>
            <a:ext cx="2398426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9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单机数据库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24495" y="1651091"/>
            <a:ext cx="7554463" cy="1587364"/>
          </a:xfrm>
          <a:custGeom>
            <a:avLst/>
            <a:gdLst/>
            <a:ahLst/>
            <a:cxnLst/>
            <a:rect l="l" t="t" r="r" b="b"/>
            <a:pathLst>
              <a:path w="7554463" h="1587364">
                <a:moveTo>
                  <a:pt x="92686" y="0"/>
                </a:moveTo>
                <a:lnTo>
                  <a:pt x="7461777" y="0"/>
                </a:lnTo>
                <a:cubicBezTo>
                  <a:pt x="7512966" y="0"/>
                  <a:pt x="7554463" y="41497"/>
                  <a:pt x="7554463" y="92686"/>
                </a:cubicBezTo>
                <a:lnTo>
                  <a:pt x="7554463" y="1494678"/>
                </a:lnTo>
                <a:cubicBezTo>
                  <a:pt x="7554463" y="1545867"/>
                  <a:pt x="7512966" y="1587364"/>
                  <a:pt x="7461777" y="1587364"/>
                </a:cubicBezTo>
                <a:lnTo>
                  <a:pt x="92686" y="1587364"/>
                </a:lnTo>
                <a:cubicBezTo>
                  <a:pt x="41497" y="1587364"/>
                  <a:pt x="0" y="1545867"/>
                  <a:pt x="0" y="1494678"/>
                </a:cubicBezTo>
                <a:lnTo>
                  <a:pt x="0" y="92686"/>
                </a:lnTo>
                <a:cubicBezTo>
                  <a:pt x="0" y="41531"/>
                  <a:pt x="41531" y="0"/>
                  <a:pt x="9268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369327" y="1795923"/>
            <a:ext cx="7380664" cy="32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CAP三特性详解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69327" y="2213041"/>
            <a:ext cx="7345904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 (C):</a:t>
            </a:r>
            <a:r>
              <a:rPr lang="en-US" sz="127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所有节点在同一时刻对同一数据有相同的视图。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69327" y="2537465"/>
            <a:ext cx="7345904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可用性 (A):</a:t>
            </a:r>
            <a:r>
              <a:rPr lang="en-US" sz="127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系统能够持续提供服务,即使部分组件故障。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69327" y="2861890"/>
            <a:ext cx="7345904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分区容错性 (P):</a:t>
            </a:r>
            <a:r>
              <a:rPr lang="en-US" sz="127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网络分区发生时系统仍能继续运行。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224495" y="3342734"/>
            <a:ext cx="7554463" cy="1622124"/>
          </a:xfrm>
          <a:custGeom>
            <a:avLst/>
            <a:gdLst/>
            <a:ahLst/>
            <a:cxnLst/>
            <a:rect l="l" t="t" r="r" b="b"/>
            <a:pathLst>
              <a:path w="7554463" h="1622124">
                <a:moveTo>
                  <a:pt x="92688" y="0"/>
                </a:moveTo>
                <a:lnTo>
                  <a:pt x="7461775" y="0"/>
                </a:lnTo>
                <a:cubicBezTo>
                  <a:pt x="7512965" y="0"/>
                  <a:pt x="7554463" y="41498"/>
                  <a:pt x="7554463" y="92688"/>
                </a:cubicBezTo>
                <a:lnTo>
                  <a:pt x="7554463" y="1529436"/>
                </a:lnTo>
                <a:cubicBezTo>
                  <a:pt x="7554463" y="1580626"/>
                  <a:pt x="7512965" y="1622124"/>
                  <a:pt x="7461775" y="1622124"/>
                </a:cubicBezTo>
                <a:lnTo>
                  <a:pt x="92688" y="1622124"/>
                </a:lnTo>
                <a:cubicBezTo>
                  <a:pt x="41498" y="1622124"/>
                  <a:pt x="0" y="1580626"/>
                  <a:pt x="0" y="1529436"/>
                </a:cubicBezTo>
                <a:lnTo>
                  <a:pt x="0" y="92688"/>
                </a:lnTo>
                <a:cubicBezTo>
                  <a:pt x="0" y="41498"/>
                  <a:pt x="41498" y="0"/>
                  <a:pt x="9268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8369327" y="3487567"/>
            <a:ext cx="7380664" cy="32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为什么只能"三选二"?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69327" y="3904684"/>
            <a:ext cx="7345904" cy="266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网络分区是不可避免的。当分区发生时,系统必须在</a:t>
            </a:r>
            <a:r>
              <a:rPr lang="en-US" sz="127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</a:t>
            </a:r>
            <a:r>
              <a:rPr lang="en-US" sz="127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27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可用性</a:t>
            </a:r>
            <a:r>
              <a:rPr lang="en-US" sz="127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之间做出选择: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369327" y="4284145"/>
            <a:ext cx="231732" cy="231732"/>
          </a:xfrm>
          <a:custGeom>
            <a:avLst/>
            <a:gdLst/>
            <a:ahLst/>
            <a:cxnLst/>
            <a:rect l="l" t="t" r="r" b="b"/>
            <a:pathLst>
              <a:path w="231732" h="231732">
                <a:moveTo>
                  <a:pt x="115866" y="0"/>
                </a:moveTo>
                <a:lnTo>
                  <a:pt x="115866" y="0"/>
                </a:lnTo>
                <a:cubicBezTo>
                  <a:pt x="179814" y="0"/>
                  <a:pt x="231732" y="51918"/>
                  <a:pt x="231732" y="115866"/>
                </a:cubicBezTo>
                <a:lnTo>
                  <a:pt x="231732" y="115866"/>
                </a:lnTo>
                <a:cubicBezTo>
                  <a:pt x="231732" y="179814"/>
                  <a:pt x="179814" y="231732"/>
                  <a:pt x="115866" y="231732"/>
                </a:cubicBezTo>
                <a:lnTo>
                  <a:pt x="115866" y="231732"/>
                </a:lnTo>
                <a:cubicBezTo>
                  <a:pt x="51918" y="231732"/>
                  <a:pt x="0" y="179814"/>
                  <a:pt x="0" y="115866"/>
                </a:cubicBezTo>
                <a:lnTo>
                  <a:pt x="0" y="115866"/>
                </a:lnTo>
                <a:cubicBezTo>
                  <a:pt x="0" y="51918"/>
                  <a:pt x="51918" y="0"/>
                  <a:pt x="11586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8457856" y="4307319"/>
            <a:ext cx="127453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693752" y="4260972"/>
            <a:ext cx="3661366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选择CP: 停止服务直到网络恢复,确保数据绝对可靠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369327" y="4585397"/>
            <a:ext cx="231732" cy="231732"/>
          </a:xfrm>
          <a:custGeom>
            <a:avLst/>
            <a:gdLst/>
            <a:ahLst/>
            <a:cxnLst/>
            <a:rect l="l" t="t" r="r" b="b"/>
            <a:pathLst>
              <a:path w="231732" h="231732">
                <a:moveTo>
                  <a:pt x="115866" y="0"/>
                </a:moveTo>
                <a:lnTo>
                  <a:pt x="115866" y="0"/>
                </a:lnTo>
                <a:cubicBezTo>
                  <a:pt x="179814" y="0"/>
                  <a:pt x="231732" y="51918"/>
                  <a:pt x="231732" y="115866"/>
                </a:cubicBezTo>
                <a:lnTo>
                  <a:pt x="231732" y="115866"/>
                </a:lnTo>
                <a:cubicBezTo>
                  <a:pt x="231732" y="179814"/>
                  <a:pt x="179814" y="231732"/>
                  <a:pt x="115866" y="231732"/>
                </a:cubicBezTo>
                <a:lnTo>
                  <a:pt x="115866" y="231732"/>
                </a:lnTo>
                <a:cubicBezTo>
                  <a:pt x="51918" y="231732"/>
                  <a:pt x="0" y="179814"/>
                  <a:pt x="0" y="115866"/>
                </a:cubicBezTo>
                <a:lnTo>
                  <a:pt x="0" y="115866"/>
                </a:lnTo>
                <a:cubicBezTo>
                  <a:pt x="0" y="51918"/>
                  <a:pt x="51918" y="0"/>
                  <a:pt x="11586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8446088" y="4608570"/>
            <a:ext cx="150626" cy="18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95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693752" y="4562224"/>
            <a:ext cx="3823578" cy="23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选择AP: 继续服务但可能返回过时数据,用户体验优先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69257" y="5891786"/>
            <a:ext cx="15317485" cy="2780784"/>
          </a:xfrm>
          <a:custGeom>
            <a:avLst/>
            <a:gdLst/>
            <a:ahLst/>
            <a:cxnLst/>
            <a:rect l="l" t="t" r="r" b="b"/>
            <a:pathLst>
              <a:path w="15317485" h="2780784">
                <a:moveTo>
                  <a:pt x="92684" y="0"/>
                </a:moveTo>
                <a:lnTo>
                  <a:pt x="15224802" y="0"/>
                </a:lnTo>
                <a:cubicBezTo>
                  <a:pt x="15275990" y="0"/>
                  <a:pt x="15317485" y="41496"/>
                  <a:pt x="15317485" y="92684"/>
                </a:cubicBezTo>
                <a:lnTo>
                  <a:pt x="15317485" y="2688101"/>
                </a:lnTo>
                <a:cubicBezTo>
                  <a:pt x="15317485" y="2739288"/>
                  <a:pt x="15275990" y="2780784"/>
                  <a:pt x="15224802" y="2780784"/>
                </a:cubicBezTo>
                <a:lnTo>
                  <a:pt x="92684" y="2780784"/>
                </a:lnTo>
                <a:cubicBezTo>
                  <a:pt x="41530" y="2780784"/>
                  <a:pt x="0" y="2739254"/>
                  <a:pt x="0" y="2688101"/>
                </a:cubicBezTo>
                <a:lnTo>
                  <a:pt x="0" y="92684"/>
                </a:lnTo>
                <a:cubicBezTo>
                  <a:pt x="0" y="41530"/>
                  <a:pt x="41530" y="0"/>
                  <a:pt x="9268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475051" y="5897579"/>
            <a:ext cx="15305899" cy="608297"/>
          </a:xfrm>
          <a:custGeom>
            <a:avLst/>
            <a:gdLst/>
            <a:ahLst/>
            <a:cxnLst/>
            <a:rect l="l" t="t" r="r" b="b"/>
            <a:pathLst>
              <a:path w="15305899" h="608297">
                <a:moveTo>
                  <a:pt x="0" y="0"/>
                </a:moveTo>
                <a:lnTo>
                  <a:pt x="15305899" y="0"/>
                </a:lnTo>
                <a:lnTo>
                  <a:pt x="15305899" y="608297"/>
                </a:lnTo>
                <a:lnTo>
                  <a:pt x="0" y="608297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>
            <a:off x="475051" y="6505876"/>
            <a:ext cx="15305899" cy="11587"/>
          </a:xfrm>
          <a:custGeom>
            <a:avLst/>
            <a:gdLst/>
            <a:ahLst/>
            <a:cxnLst/>
            <a:rect l="l" t="t" r="r" b="b"/>
            <a:pathLst>
              <a:path w="15305899" h="11587">
                <a:moveTo>
                  <a:pt x="0" y="0"/>
                </a:moveTo>
                <a:lnTo>
                  <a:pt x="15305899" y="0"/>
                </a:lnTo>
                <a:lnTo>
                  <a:pt x="15305899" y="11587"/>
                </a:lnTo>
                <a:lnTo>
                  <a:pt x="0" y="11587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8"/>
          <p:cNvSpPr/>
          <p:nvPr/>
        </p:nvSpPr>
        <p:spPr>
          <a:xfrm>
            <a:off x="796579" y="6082965"/>
            <a:ext cx="202766" cy="231732"/>
          </a:xfrm>
          <a:custGeom>
            <a:avLst/>
            <a:gdLst/>
            <a:ahLst/>
            <a:cxnLst/>
            <a:rect l="l" t="t" r="r" b="b"/>
            <a:pathLst>
              <a:path w="202766" h="231732">
                <a:moveTo>
                  <a:pt x="115866" y="72416"/>
                </a:moveTo>
                <a:lnTo>
                  <a:pt x="115866" y="115866"/>
                </a:lnTo>
                <a:lnTo>
                  <a:pt x="173799" y="115866"/>
                </a:lnTo>
                <a:lnTo>
                  <a:pt x="173799" y="72416"/>
                </a:lnTo>
                <a:lnTo>
                  <a:pt x="115866" y="72416"/>
                </a:lnTo>
                <a:close/>
                <a:moveTo>
                  <a:pt x="86900" y="72416"/>
                </a:moveTo>
                <a:lnTo>
                  <a:pt x="28967" y="72416"/>
                </a:lnTo>
                <a:lnTo>
                  <a:pt x="28967" y="115866"/>
                </a:lnTo>
                <a:lnTo>
                  <a:pt x="86900" y="115866"/>
                </a:lnTo>
                <a:lnTo>
                  <a:pt x="86900" y="72416"/>
                </a:lnTo>
                <a:close/>
                <a:moveTo>
                  <a:pt x="0" y="144833"/>
                </a:moveTo>
                <a:lnTo>
                  <a:pt x="0" y="43450"/>
                </a:lnTo>
                <a:cubicBezTo>
                  <a:pt x="0" y="27473"/>
                  <a:pt x="12990" y="14483"/>
                  <a:pt x="28967" y="14483"/>
                </a:cubicBezTo>
                <a:lnTo>
                  <a:pt x="173799" y="14483"/>
                </a:lnTo>
                <a:cubicBezTo>
                  <a:pt x="189776" y="14483"/>
                  <a:pt x="202766" y="27473"/>
                  <a:pt x="202766" y="43450"/>
                </a:cubicBezTo>
                <a:lnTo>
                  <a:pt x="202766" y="188282"/>
                </a:lnTo>
                <a:cubicBezTo>
                  <a:pt x="202766" y="204259"/>
                  <a:pt x="189776" y="217249"/>
                  <a:pt x="173799" y="217249"/>
                </a:cubicBezTo>
                <a:lnTo>
                  <a:pt x="28967" y="217249"/>
                </a:lnTo>
                <a:cubicBezTo>
                  <a:pt x="12990" y="217249"/>
                  <a:pt x="0" y="204259"/>
                  <a:pt x="0" y="188282"/>
                </a:cubicBezTo>
                <a:lnTo>
                  <a:pt x="0" y="144833"/>
                </a:lnTo>
                <a:close/>
                <a:moveTo>
                  <a:pt x="173799" y="144833"/>
                </a:moveTo>
                <a:lnTo>
                  <a:pt x="115866" y="144833"/>
                </a:lnTo>
                <a:lnTo>
                  <a:pt x="115866" y="188282"/>
                </a:lnTo>
                <a:lnTo>
                  <a:pt x="173799" y="188282"/>
                </a:lnTo>
                <a:lnTo>
                  <a:pt x="173799" y="144833"/>
                </a:lnTo>
                <a:close/>
                <a:moveTo>
                  <a:pt x="86900" y="188282"/>
                </a:moveTo>
                <a:lnTo>
                  <a:pt x="86900" y="144833"/>
                </a:lnTo>
                <a:lnTo>
                  <a:pt x="28967" y="144833"/>
                </a:lnTo>
                <a:lnTo>
                  <a:pt x="28967" y="188282"/>
                </a:lnTo>
                <a:lnTo>
                  <a:pt x="86900" y="188282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1169644" y="6036619"/>
            <a:ext cx="14449093" cy="32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CAP组合策略与实际应用</a:t>
            </a:r>
            <a:endParaRPr lang="en-US" sz="1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36" y="6697055"/>
          <a:ext cx="14935128" cy="1784336"/>
        </p:xfrm>
        <a:graphic>
          <a:graphicData uri="http://schemas.openxmlformats.org/drawingml/2006/table">
            <a:tbl>
              <a:tblPr/>
              <a:tblGrid>
                <a:gridCol w="1275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4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3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0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10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6084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组合类型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保证特性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牺牲特性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核心思想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典型系统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 系统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 + 可用性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分区容错性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网络稳定环境下的双重保证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单数据中心、局域网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MySQL 8.0.x (单机)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 系统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 + 分区容错性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"宁可不服务,也不能给错误数据"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金融、库存等强一致性需求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HBase 2.5.x, MongoDB 7.0.x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84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 系统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可用性 + 分区容错性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强一致性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"服务优先,数据最终会一致"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内容分发、社交网络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DNS, Cassandra 5.0.x, DynamoDB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8474" y="458474"/>
            <a:ext cx="1698050" cy="464134"/>
          </a:xfrm>
          <a:custGeom>
            <a:avLst/>
            <a:gdLst/>
            <a:ahLst/>
            <a:cxnLst/>
            <a:rect l="l" t="t" r="r" b="b"/>
            <a:pathLst>
              <a:path w="1698050" h="464134">
                <a:moveTo>
                  <a:pt x="45281" y="0"/>
                </a:moveTo>
                <a:lnTo>
                  <a:pt x="1652769" y="0"/>
                </a:lnTo>
                <a:cubicBezTo>
                  <a:pt x="1677777" y="0"/>
                  <a:pt x="1698050" y="20273"/>
                  <a:pt x="1698050" y="45281"/>
                </a:cubicBezTo>
                <a:lnTo>
                  <a:pt x="1698050" y="418853"/>
                </a:lnTo>
                <a:cubicBezTo>
                  <a:pt x="1698050" y="443861"/>
                  <a:pt x="1677777" y="464134"/>
                  <a:pt x="1652769" y="464134"/>
                </a:cubicBezTo>
                <a:lnTo>
                  <a:pt x="45281" y="464134"/>
                </a:lnTo>
                <a:cubicBezTo>
                  <a:pt x="20273" y="464134"/>
                  <a:pt x="0" y="443861"/>
                  <a:pt x="0" y="418853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5259" y="571677"/>
            <a:ext cx="1409558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kern="0" spc="7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THEORY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2813" y="1018830"/>
            <a:ext cx="15554139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BASE理论:CAP定理的实用设计方法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8474" y="1613148"/>
            <a:ext cx="7573304" cy="4630017"/>
          </a:xfrm>
          <a:custGeom>
            <a:avLst/>
            <a:gdLst/>
            <a:ahLst/>
            <a:cxnLst/>
            <a:rect l="l" t="t" r="r" b="b"/>
            <a:pathLst>
              <a:path w="7573304" h="4630017">
                <a:moveTo>
                  <a:pt x="90563" y="0"/>
                </a:moveTo>
                <a:lnTo>
                  <a:pt x="7482740" y="0"/>
                </a:lnTo>
                <a:cubicBezTo>
                  <a:pt x="7532757" y="0"/>
                  <a:pt x="7573304" y="40546"/>
                  <a:pt x="7573304" y="90563"/>
                </a:cubicBezTo>
                <a:lnTo>
                  <a:pt x="7573304" y="4539454"/>
                </a:lnTo>
                <a:cubicBezTo>
                  <a:pt x="7573304" y="4589470"/>
                  <a:pt x="7532757" y="4630017"/>
                  <a:pt x="7482740" y="4630017"/>
                </a:cubicBezTo>
                <a:lnTo>
                  <a:pt x="90563" y="4630017"/>
                </a:lnTo>
                <a:cubicBezTo>
                  <a:pt x="40546" y="4630017"/>
                  <a:pt x="0" y="4589470"/>
                  <a:pt x="0" y="4539454"/>
                </a:cubicBezTo>
                <a:lnTo>
                  <a:pt x="0" y="90563"/>
                </a:lnTo>
                <a:cubicBezTo>
                  <a:pt x="0" y="40580"/>
                  <a:pt x="40580" y="0"/>
                  <a:pt x="90563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73560" y="1845214"/>
            <a:ext cx="226407" cy="226407"/>
          </a:xfrm>
          <a:custGeom>
            <a:avLst/>
            <a:gdLst/>
            <a:ahLst/>
            <a:cxnLst/>
            <a:rect l="l" t="t" r="r" b="b"/>
            <a:pathLst>
              <a:path w="226407" h="226407">
                <a:moveTo>
                  <a:pt x="113203" y="226407"/>
                </a:moveTo>
                <a:cubicBezTo>
                  <a:pt x="175682" y="226407"/>
                  <a:pt x="226407" y="175682"/>
                  <a:pt x="226407" y="113203"/>
                </a:cubicBezTo>
                <a:cubicBezTo>
                  <a:pt x="226407" y="50725"/>
                  <a:pt x="175682" y="0"/>
                  <a:pt x="113203" y="0"/>
                </a:cubicBezTo>
                <a:cubicBezTo>
                  <a:pt x="50725" y="0"/>
                  <a:pt x="0" y="50725"/>
                  <a:pt x="0" y="113203"/>
                </a:cubicBezTo>
                <a:cubicBezTo>
                  <a:pt x="0" y="175682"/>
                  <a:pt x="50725" y="226407"/>
                  <a:pt x="113203" y="226407"/>
                </a:cubicBezTo>
                <a:close/>
                <a:moveTo>
                  <a:pt x="99053" y="70752"/>
                </a:moveTo>
                <a:cubicBezTo>
                  <a:pt x="99053" y="62942"/>
                  <a:pt x="105394" y="56602"/>
                  <a:pt x="113203" y="56602"/>
                </a:cubicBezTo>
                <a:cubicBezTo>
                  <a:pt x="121013" y="56602"/>
                  <a:pt x="127354" y="62942"/>
                  <a:pt x="127354" y="70752"/>
                </a:cubicBezTo>
                <a:cubicBezTo>
                  <a:pt x="127354" y="78562"/>
                  <a:pt x="121013" y="84903"/>
                  <a:pt x="113203" y="84903"/>
                </a:cubicBezTo>
                <a:cubicBezTo>
                  <a:pt x="105394" y="84903"/>
                  <a:pt x="99053" y="78562"/>
                  <a:pt x="99053" y="70752"/>
                </a:cubicBezTo>
                <a:close/>
                <a:moveTo>
                  <a:pt x="95515" y="99053"/>
                </a:moveTo>
                <a:lnTo>
                  <a:pt x="116741" y="99053"/>
                </a:lnTo>
                <a:cubicBezTo>
                  <a:pt x="122622" y="99053"/>
                  <a:pt x="127354" y="103784"/>
                  <a:pt x="127354" y="109666"/>
                </a:cubicBezTo>
                <a:lnTo>
                  <a:pt x="127354" y="148579"/>
                </a:lnTo>
                <a:lnTo>
                  <a:pt x="130891" y="148579"/>
                </a:lnTo>
                <a:cubicBezTo>
                  <a:pt x="136773" y="148579"/>
                  <a:pt x="141504" y="153311"/>
                  <a:pt x="141504" y="159192"/>
                </a:cubicBezTo>
                <a:cubicBezTo>
                  <a:pt x="141504" y="165073"/>
                  <a:pt x="136773" y="169805"/>
                  <a:pt x="130891" y="169805"/>
                </a:cubicBezTo>
                <a:lnTo>
                  <a:pt x="95515" y="169805"/>
                </a:lnTo>
                <a:cubicBezTo>
                  <a:pt x="89634" y="169805"/>
                  <a:pt x="84903" y="165073"/>
                  <a:pt x="84903" y="159192"/>
                </a:cubicBezTo>
                <a:cubicBezTo>
                  <a:pt x="84903" y="153311"/>
                  <a:pt x="89634" y="148579"/>
                  <a:pt x="95515" y="148579"/>
                </a:cubicBezTo>
                <a:lnTo>
                  <a:pt x="106128" y="148579"/>
                </a:lnTo>
                <a:lnTo>
                  <a:pt x="106128" y="120279"/>
                </a:lnTo>
                <a:lnTo>
                  <a:pt x="95515" y="120279"/>
                </a:lnTo>
                <a:cubicBezTo>
                  <a:pt x="89634" y="120279"/>
                  <a:pt x="84903" y="115547"/>
                  <a:pt x="84903" y="109666"/>
                </a:cubicBezTo>
                <a:cubicBezTo>
                  <a:pt x="84903" y="103784"/>
                  <a:pt x="89634" y="99053"/>
                  <a:pt x="95515" y="9905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49354" y="1799933"/>
            <a:ext cx="6908841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BASE理论概述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0919" y="2258407"/>
            <a:ext cx="7188412" cy="1165994"/>
          </a:xfrm>
          <a:custGeom>
            <a:avLst/>
            <a:gdLst/>
            <a:ahLst/>
            <a:cxnLst/>
            <a:rect l="l" t="t" r="r" b="b"/>
            <a:pathLst>
              <a:path w="7188412" h="1165994">
                <a:moveTo>
                  <a:pt x="45276" y="0"/>
                </a:moveTo>
                <a:lnTo>
                  <a:pt x="7143137" y="0"/>
                </a:lnTo>
                <a:cubicBezTo>
                  <a:pt x="7168142" y="0"/>
                  <a:pt x="7188412" y="20271"/>
                  <a:pt x="7188412" y="45276"/>
                </a:cubicBezTo>
                <a:lnTo>
                  <a:pt x="7188412" y="1120719"/>
                </a:lnTo>
                <a:cubicBezTo>
                  <a:pt x="7188412" y="1145724"/>
                  <a:pt x="7168142" y="1165994"/>
                  <a:pt x="7143137" y="1165994"/>
                </a:cubicBezTo>
                <a:lnTo>
                  <a:pt x="45276" y="1165994"/>
                </a:lnTo>
                <a:cubicBezTo>
                  <a:pt x="20271" y="1165994"/>
                  <a:pt x="0" y="1145724"/>
                  <a:pt x="0" y="1120719"/>
                </a:cubicBezTo>
                <a:lnTo>
                  <a:pt x="0" y="45276"/>
                </a:lnTo>
                <a:cubicBezTo>
                  <a:pt x="0" y="20287"/>
                  <a:pt x="20287" y="0"/>
                  <a:pt x="45276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92423" y="2399911"/>
            <a:ext cx="6995967" cy="882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BASE理论是对CAP定理的延伸和实践指导,提供了在分布式系统中实现高可用性的设计思路。如果说CAP定理告诉我们"</a:t>
            </a:r>
            <a:r>
              <a:rPr lang="en-US" sz="1426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不可能同时拥有一切</a:t>
            </a:r>
            <a:r>
              <a:rPr lang="en-US" sz="1426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",那么BASE理论就告诉我们"</a:t>
            </a:r>
            <a:r>
              <a:rPr lang="en-US" sz="1426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如何在现实约束下做到最好</a:t>
            </a:r>
            <a:r>
              <a:rPr lang="en-US" sz="1426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900" y="3565905"/>
            <a:ext cx="7177092" cy="769783"/>
          </a:xfrm>
          <a:custGeom>
            <a:avLst/>
            <a:gdLst/>
            <a:ahLst/>
            <a:cxnLst/>
            <a:rect l="l" t="t" r="r" b="b"/>
            <a:pathLst>
              <a:path w="7177092" h="769783">
                <a:moveTo>
                  <a:pt x="45279" y="0"/>
                </a:moveTo>
                <a:lnTo>
                  <a:pt x="7131813" y="0"/>
                </a:lnTo>
                <a:cubicBezTo>
                  <a:pt x="7156820" y="0"/>
                  <a:pt x="7177092" y="20272"/>
                  <a:pt x="7177092" y="45279"/>
                </a:cubicBezTo>
                <a:lnTo>
                  <a:pt x="7177092" y="724504"/>
                </a:lnTo>
                <a:cubicBezTo>
                  <a:pt x="7177092" y="749511"/>
                  <a:pt x="7156820" y="769783"/>
                  <a:pt x="7131813" y="769783"/>
                </a:cubicBezTo>
                <a:lnTo>
                  <a:pt x="45279" y="769783"/>
                </a:lnTo>
                <a:cubicBezTo>
                  <a:pt x="20272" y="769783"/>
                  <a:pt x="0" y="749511"/>
                  <a:pt x="0" y="724504"/>
                </a:cubicBezTo>
                <a:lnTo>
                  <a:pt x="0" y="45279"/>
                </a:lnTo>
                <a:cubicBezTo>
                  <a:pt x="0" y="20289"/>
                  <a:pt x="20289" y="0"/>
                  <a:pt x="4527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67900" y="3565905"/>
            <a:ext cx="45281" cy="769783"/>
          </a:xfrm>
          <a:custGeom>
            <a:avLst/>
            <a:gdLst/>
            <a:ahLst/>
            <a:cxnLst/>
            <a:rect l="l" t="t" r="r" b="b"/>
            <a:pathLst>
              <a:path w="45281" h="769783">
                <a:moveTo>
                  <a:pt x="45281" y="0"/>
                </a:moveTo>
                <a:lnTo>
                  <a:pt x="45281" y="0"/>
                </a:lnTo>
                <a:lnTo>
                  <a:pt x="45281" y="769783"/>
                </a:lnTo>
                <a:lnTo>
                  <a:pt x="45281" y="769783"/>
                </a:lnTo>
                <a:cubicBezTo>
                  <a:pt x="20273" y="769783"/>
                  <a:pt x="0" y="749510"/>
                  <a:pt x="0" y="724501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26384" y="3656468"/>
            <a:ext cx="7029928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 - 基本可用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6384" y="4018719"/>
            <a:ext cx="7007287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Basically Available - 系统在故障时仍能提供降级服务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900" y="4426251"/>
            <a:ext cx="7177092" cy="769783"/>
          </a:xfrm>
          <a:custGeom>
            <a:avLst/>
            <a:gdLst/>
            <a:ahLst/>
            <a:cxnLst/>
            <a:rect l="l" t="t" r="r" b="b"/>
            <a:pathLst>
              <a:path w="7177092" h="769783">
                <a:moveTo>
                  <a:pt x="45279" y="0"/>
                </a:moveTo>
                <a:lnTo>
                  <a:pt x="7131813" y="0"/>
                </a:lnTo>
                <a:cubicBezTo>
                  <a:pt x="7156820" y="0"/>
                  <a:pt x="7177092" y="20272"/>
                  <a:pt x="7177092" y="45279"/>
                </a:cubicBezTo>
                <a:lnTo>
                  <a:pt x="7177092" y="724504"/>
                </a:lnTo>
                <a:cubicBezTo>
                  <a:pt x="7177092" y="749511"/>
                  <a:pt x="7156820" y="769783"/>
                  <a:pt x="7131813" y="769783"/>
                </a:cubicBezTo>
                <a:lnTo>
                  <a:pt x="45279" y="769783"/>
                </a:lnTo>
                <a:cubicBezTo>
                  <a:pt x="20272" y="769783"/>
                  <a:pt x="0" y="749511"/>
                  <a:pt x="0" y="724504"/>
                </a:cubicBezTo>
                <a:lnTo>
                  <a:pt x="0" y="45279"/>
                </a:lnTo>
                <a:cubicBezTo>
                  <a:pt x="0" y="20289"/>
                  <a:pt x="20289" y="0"/>
                  <a:pt x="4527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67900" y="4426251"/>
            <a:ext cx="45281" cy="769783"/>
          </a:xfrm>
          <a:custGeom>
            <a:avLst/>
            <a:gdLst/>
            <a:ahLst/>
            <a:cxnLst/>
            <a:rect l="l" t="t" r="r" b="b"/>
            <a:pathLst>
              <a:path w="45281" h="769783">
                <a:moveTo>
                  <a:pt x="45281" y="0"/>
                </a:moveTo>
                <a:lnTo>
                  <a:pt x="45281" y="0"/>
                </a:lnTo>
                <a:lnTo>
                  <a:pt x="45281" y="769783"/>
                </a:lnTo>
                <a:lnTo>
                  <a:pt x="45281" y="769783"/>
                </a:lnTo>
                <a:cubicBezTo>
                  <a:pt x="20273" y="769783"/>
                  <a:pt x="0" y="749510"/>
                  <a:pt x="0" y="724501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26384" y="4516813"/>
            <a:ext cx="7029928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 - 软状态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6384" y="4879064"/>
            <a:ext cx="7007287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Soft State - 允许系统在一段时间内存在中间状态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7900" y="5286596"/>
            <a:ext cx="7177092" cy="769783"/>
          </a:xfrm>
          <a:custGeom>
            <a:avLst/>
            <a:gdLst/>
            <a:ahLst/>
            <a:cxnLst/>
            <a:rect l="l" t="t" r="r" b="b"/>
            <a:pathLst>
              <a:path w="7177092" h="769783">
                <a:moveTo>
                  <a:pt x="45279" y="0"/>
                </a:moveTo>
                <a:lnTo>
                  <a:pt x="7131813" y="0"/>
                </a:lnTo>
                <a:cubicBezTo>
                  <a:pt x="7156820" y="0"/>
                  <a:pt x="7177092" y="20272"/>
                  <a:pt x="7177092" y="45279"/>
                </a:cubicBezTo>
                <a:lnTo>
                  <a:pt x="7177092" y="724504"/>
                </a:lnTo>
                <a:cubicBezTo>
                  <a:pt x="7177092" y="749511"/>
                  <a:pt x="7156820" y="769783"/>
                  <a:pt x="7131813" y="769783"/>
                </a:cubicBezTo>
                <a:lnTo>
                  <a:pt x="45279" y="769783"/>
                </a:lnTo>
                <a:cubicBezTo>
                  <a:pt x="20272" y="769783"/>
                  <a:pt x="0" y="749511"/>
                  <a:pt x="0" y="724504"/>
                </a:cubicBezTo>
                <a:lnTo>
                  <a:pt x="0" y="45279"/>
                </a:lnTo>
                <a:cubicBezTo>
                  <a:pt x="0" y="20289"/>
                  <a:pt x="20289" y="0"/>
                  <a:pt x="4527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67900" y="5286596"/>
            <a:ext cx="45281" cy="769783"/>
          </a:xfrm>
          <a:custGeom>
            <a:avLst/>
            <a:gdLst/>
            <a:ahLst/>
            <a:cxnLst/>
            <a:rect l="l" t="t" r="r" b="b"/>
            <a:pathLst>
              <a:path w="45281" h="769783">
                <a:moveTo>
                  <a:pt x="45281" y="0"/>
                </a:moveTo>
                <a:lnTo>
                  <a:pt x="45281" y="0"/>
                </a:lnTo>
                <a:lnTo>
                  <a:pt x="45281" y="769783"/>
                </a:lnTo>
                <a:lnTo>
                  <a:pt x="45281" y="769783"/>
                </a:lnTo>
                <a:cubicBezTo>
                  <a:pt x="20273" y="769783"/>
                  <a:pt x="0" y="749510"/>
                  <a:pt x="0" y="724501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6384" y="5377159"/>
            <a:ext cx="7029928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 - 最终一致性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6384" y="5739409"/>
            <a:ext cx="7007287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Eventually Consistent - 系统最终会达到一致状态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6699" y="1613148"/>
            <a:ext cx="7573304" cy="4630017"/>
          </a:xfrm>
          <a:custGeom>
            <a:avLst/>
            <a:gdLst/>
            <a:ahLst/>
            <a:cxnLst/>
            <a:rect l="l" t="t" r="r" b="b"/>
            <a:pathLst>
              <a:path w="7573304" h="4630017">
                <a:moveTo>
                  <a:pt x="90563" y="0"/>
                </a:moveTo>
                <a:lnTo>
                  <a:pt x="7482740" y="0"/>
                </a:lnTo>
                <a:cubicBezTo>
                  <a:pt x="7532757" y="0"/>
                  <a:pt x="7573304" y="40546"/>
                  <a:pt x="7573304" y="90563"/>
                </a:cubicBezTo>
                <a:lnTo>
                  <a:pt x="7573304" y="4539454"/>
                </a:lnTo>
                <a:cubicBezTo>
                  <a:pt x="7573304" y="4589470"/>
                  <a:pt x="7532757" y="4630017"/>
                  <a:pt x="7482740" y="4630017"/>
                </a:cubicBezTo>
                <a:lnTo>
                  <a:pt x="90563" y="4630017"/>
                </a:lnTo>
                <a:cubicBezTo>
                  <a:pt x="40546" y="4630017"/>
                  <a:pt x="0" y="4589470"/>
                  <a:pt x="0" y="4539454"/>
                </a:cubicBezTo>
                <a:lnTo>
                  <a:pt x="0" y="90563"/>
                </a:lnTo>
                <a:cubicBezTo>
                  <a:pt x="0" y="40580"/>
                  <a:pt x="40580" y="0"/>
                  <a:pt x="90563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441786" y="1845214"/>
            <a:ext cx="226407" cy="226407"/>
          </a:xfrm>
          <a:custGeom>
            <a:avLst/>
            <a:gdLst/>
            <a:ahLst/>
            <a:cxnLst/>
            <a:rect l="l" t="t" r="r" b="b"/>
            <a:pathLst>
              <a:path w="226407" h="226407">
                <a:moveTo>
                  <a:pt x="222250" y="66595"/>
                </a:moveTo>
                <a:lnTo>
                  <a:pt x="179799" y="109047"/>
                </a:lnTo>
                <a:cubicBezTo>
                  <a:pt x="175731" y="113115"/>
                  <a:pt x="169672" y="114309"/>
                  <a:pt x="164366" y="112098"/>
                </a:cubicBezTo>
                <a:cubicBezTo>
                  <a:pt x="159060" y="109887"/>
                  <a:pt x="155655" y="104757"/>
                  <a:pt x="155655" y="99053"/>
                </a:cubicBezTo>
                <a:lnTo>
                  <a:pt x="155655" y="70752"/>
                </a:lnTo>
                <a:lnTo>
                  <a:pt x="14150" y="70752"/>
                </a:lnTo>
                <a:cubicBezTo>
                  <a:pt x="6323" y="70752"/>
                  <a:pt x="0" y="64429"/>
                  <a:pt x="0" y="56602"/>
                </a:cubicBezTo>
                <a:cubicBezTo>
                  <a:pt x="0" y="48775"/>
                  <a:pt x="6323" y="42451"/>
                  <a:pt x="14150" y="42451"/>
                </a:cubicBezTo>
                <a:lnTo>
                  <a:pt x="155655" y="42451"/>
                </a:lnTo>
                <a:lnTo>
                  <a:pt x="155655" y="14150"/>
                </a:lnTo>
                <a:cubicBezTo>
                  <a:pt x="155655" y="8446"/>
                  <a:pt x="159104" y="3272"/>
                  <a:pt x="164410" y="1061"/>
                </a:cubicBezTo>
                <a:cubicBezTo>
                  <a:pt x="169717" y="-1150"/>
                  <a:pt x="175775" y="88"/>
                  <a:pt x="179843" y="4112"/>
                </a:cubicBezTo>
                <a:lnTo>
                  <a:pt x="222294" y="46564"/>
                </a:lnTo>
                <a:cubicBezTo>
                  <a:pt x="227822" y="52091"/>
                  <a:pt x="227822" y="61068"/>
                  <a:pt x="222294" y="66595"/>
                </a:cubicBezTo>
                <a:close/>
                <a:moveTo>
                  <a:pt x="46564" y="222250"/>
                </a:moveTo>
                <a:lnTo>
                  <a:pt x="4112" y="179799"/>
                </a:lnTo>
                <a:cubicBezTo>
                  <a:pt x="-1415" y="174271"/>
                  <a:pt x="-1415" y="165295"/>
                  <a:pt x="4112" y="159767"/>
                </a:cubicBezTo>
                <a:lnTo>
                  <a:pt x="46564" y="117316"/>
                </a:lnTo>
                <a:cubicBezTo>
                  <a:pt x="50632" y="113248"/>
                  <a:pt x="56690" y="112054"/>
                  <a:pt x="61997" y="114265"/>
                </a:cubicBezTo>
                <a:cubicBezTo>
                  <a:pt x="67303" y="116476"/>
                  <a:pt x="70752" y="121649"/>
                  <a:pt x="70752" y="127354"/>
                </a:cubicBezTo>
                <a:lnTo>
                  <a:pt x="70752" y="155655"/>
                </a:lnTo>
                <a:lnTo>
                  <a:pt x="212256" y="155655"/>
                </a:lnTo>
                <a:cubicBezTo>
                  <a:pt x="220083" y="155655"/>
                  <a:pt x="226407" y="161978"/>
                  <a:pt x="226407" y="169805"/>
                </a:cubicBezTo>
                <a:cubicBezTo>
                  <a:pt x="226407" y="177632"/>
                  <a:pt x="220083" y="183955"/>
                  <a:pt x="212256" y="183955"/>
                </a:cubicBezTo>
                <a:lnTo>
                  <a:pt x="70752" y="183955"/>
                </a:lnTo>
                <a:lnTo>
                  <a:pt x="70752" y="212256"/>
                </a:lnTo>
                <a:cubicBezTo>
                  <a:pt x="70752" y="217961"/>
                  <a:pt x="67303" y="223134"/>
                  <a:pt x="61997" y="225345"/>
                </a:cubicBezTo>
                <a:cubicBezTo>
                  <a:pt x="56690" y="227556"/>
                  <a:pt x="50632" y="226318"/>
                  <a:pt x="46564" y="222294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817580" y="1799933"/>
            <a:ext cx="6908841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BASE与CAP的关系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3485" y="2252747"/>
            <a:ext cx="7290295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CAP定理的约束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92409" y="2614997"/>
            <a:ext cx="1154674" cy="316969"/>
          </a:xfrm>
          <a:custGeom>
            <a:avLst/>
            <a:gdLst/>
            <a:ahLst/>
            <a:cxnLst/>
            <a:rect l="l" t="t" r="r" b="b"/>
            <a:pathLst>
              <a:path w="1154674" h="316969">
                <a:moveTo>
                  <a:pt x="45282" y="0"/>
                </a:moveTo>
                <a:lnTo>
                  <a:pt x="1109392" y="0"/>
                </a:lnTo>
                <a:cubicBezTo>
                  <a:pt x="1134401" y="0"/>
                  <a:pt x="1154674" y="20274"/>
                  <a:pt x="1154674" y="45282"/>
                </a:cubicBezTo>
                <a:lnTo>
                  <a:pt x="1154674" y="271687"/>
                </a:lnTo>
                <a:cubicBezTo>
                  <a:pt x="1154674" y="296696"/>
                  <a:pt x="1134401" y="316969"/>
                  <a:pt x="1109392" y="316969"/>
                </a:cubicBezTo>
                <a:lnTo>
                  <a:pt x="45282" y="316969"/>
                </a:lnTo>
                <a:cubicBezTo>
                  <a:pt x="20274" y="316969"/>
                  <a:pt x="0" y="296696"/>
                  <a:pt x="0" y="271687"/>
                </a:cubicBezTo>
                <a:lnTo>
                  <a:pt x="0" y="45282"/>
                </a:lnTo>
                <a:cubicBezTo>
                  <a:pt x="0" y="20290"/>
                  <a:pt x="20290" y="0"/>
                  <a:pt x="45282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692409" y="2614997"/>
            <a:ext cx="1233916" cy="316969"/>
          </a:xfrm>
          <a:prstGeom prst="rect">
            <a:avLst/>
          </a:prstGeom>
          <a:noFill/>
          <a:ln/>
        </p:spPr>
        <p:txBody>
          <a:bodyPr wrap="square" lIns="135844" tIns="45281" rIns="135844" bIns="45281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强一致性 (C)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940653" y="2660279"/>
            <a:ext cx="237727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F8F9FA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185279" y="2614997"/>
            <a:ext cx="1154674" cy="316969"/>
          </a:xfrm>
          <a:custGeom>
            <a:avLst/>
            <a:gdLst/>
            <a:ahLst/>
            <a:cxnLst/>
            <a:rect l="l" t="t" r="r" b="b"/>
            <a:pathLst>
              <a:path w="1154674" h="316969">
                <a:moveTo>
                  <a:pt x="45282" y="0"/>
                </a:moveTo>
                <a:lnTo>
                  <a:pt x="1109392" y="0"/>
                </a:lnTo>
                <a:cubicBezTo>
                  <a:pt x="1134401" y="0"/>
                  <a:pt x="1154674" y="20274"/>
                  <a:pt x="1154674" y="45282"/>
                </a:cubicBezTo>
                <a:lnTo>
                  <a:pt x="1154674" y="271687"/>
                </a:lnTo>
                <a:cubicBezTo>
                  <a:pt x="1154674" y="296696"/>
                  <a:pt x="1134401" y="316969"/>
                  <a:pt x="1109392" y="316969"/>
                </a:cubicBezTo>
                <a:lnTo>
                  <a:pt x="45282" y="316969"/>
                </a:lnTo>
                <a:cubicBezTo>
                  <a:pt x="20274" y="316969"/>
                  <a:pt x="0" y="296696"/>
                  <a:pt x="0" y="271687"/>
                </a:cubicBezTo>
                <a:lnTo>
                  <a:pt x="0" y="45282"/>
                </a:lnTo>
                <a:cubicBezTo>
                  <a:pt x="0" y="20290"/>
                  <a:pt x="20290" y="0"/>
                  <a:pt x="45282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2185279" y="2614997"/>
            <a:ext cx="1233916" cy="316969"/>
          </a:xfrm>
          <a:prstGeom prst="rect">
            <a:avLst/>
          </a:prstGeom>
          <a:noFill/>
          <a:ln/>
        </p:spPr>
        <p:txBody>
          <a:bodyPr wrap="square" lIns="135844" tIns="45281" rIns="135844" bIns="45281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高可用性 (A)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79524" y="2977248"/>
            <a:ext cx="7267655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7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理想但不可能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13485" y="3294217"/>
            <a:ext cx="7290295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BASE理论的解决方案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19145" y="3662128"/>
            <a:ext cx="7188412" cy="1041471"/>
          </a:xfrm>
          <a:custGeom>
            <a:avLst/>
            <a:gdLst/>
            <a:ahLst/>
            <a:cxnLst/>
            <a:rect l="l" t="t" r="r" b="b"/>
            <a:pathLst>
              <a:path w="7188412" h="1041471">
                <a:moveTo>
                  <a:pt x="45283" y="0"/>
                </a:moveTo>
                <a:lnTo>
                  <a:pt x="7143129" y="0"/>
                </a:lnTo>
                <a:cubicBezTo>
                  <a:pt x="7168138" y="0"/>
                  <a:pt x="7188412" y="20274"/>
                  <a:pt x="7188412" y="45283"/>
                </a:cubicBezTo>
                <a:lnTo>
                  <a:pt x="7188412" y="996188"/>
                </a:lnTo>
                <a:cubicBezTo>
                  <a:pt x="7188412" y="1021197"/>
                  <a:pt x="7168138" y="1041471"/>
                  <a:pt x="7143129" y="1041471"/>
                </a:cubicBezTo>
                <a:lnTo>
                  <a:pt x="45283" y="1041471"/>
                </a:lnTo>
                <a:cubicBezTo>
                  <a:pt x="20274" y="1041471"/>
                  <a:pt x="0" y="1021197"/>
                  <a:pt x="0" y="996188"/>
                </a:cubicBezTo>
                <a:lnTo>
                  <a:pt x="0" y="45283"/>
                </a:lnTo>
                <a:cubicBezTo>
                  <a:pt x="0" y="20274"/>
                  <a:pt x="20274" y="0"/>
                  <a:pt x="45283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60649" y="3803632"/>
            <a:ext cx="6984646" cy="26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8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在AP基础上,通过时间维度实现"弱一致性":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60649" y="4151733"/>
            <a:ext cx="815064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t0: 数据更新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901047" y="4174373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133350" y="73918"/>
                </a:moveTo>
                <a:cubicBezTo>
                  <a:pt x="136667" y="70602"/>
                  <a:pt x="136667" y="65216"/>
                  <a:pt x="133350" y="61899"/>
                </a:cubicBezTo>
                <a:lnTo>
                  <a:pt x="90899" y="19448"/>
                </a:lnTo>
                <a:cubicBezTo>
                  <a:pt x="87582" y="16131"/>
                  <a:pt x="82196" y="16131"/>
                  <a:pt x="78880" y="19448"/>
                </a:cubicBezTo>
                <a:cubicBezTo>
                  <a:pt x="75563" y="22764"/>
                  <a:pt x="75563" y="28150"/>
                  <a:pt x="78880" y="31467"/>
                </a:cubicBezTo>
                <a:lnTo>
                  <a:pt x="106844" y="59432"/>
                </a:lnTo>
                <a:lnTo>
                  <a:pt x="8490" y="59432"/>
                </a:lnTo>
                <a:cubicBezTo>
                  <a:pt x="3794" y="59432"/>
                  <a:pt x="0" y="63226"/>
                  <a:pt x="0" y="67922"/>
                </a:cubicBezTo>
                <a:cubicBezTo>
                  <a:pt x="0" y="72618"/>
                  <a:pt x="3794" y="76412"/>
                  <a:pt x="8490" y="76412"/>
                </a:cubicBezTo>
                <a:lnTo>
                  <a:pt x="106844" y="76412"/>
                </a:lnTo>
                <a:lnTo>
                  <a:pt x="78880" y="104377"/>
                </a:lnTo>
                <a:cubicBezTo>
                  <a:pt x="75563" y="107694"/>
                  <a:pt x="75563" y="113080"/>
                  <a:pt x="78880" y="116396"/>
                </a:cubicBezTo>
                <a:cubicBezTo>
                  <a:pt x="82196" y="119713"/>
                  <a:pt x="87582" y="119713"/>
                  <a:pt x="90899" y="116396"/>
                </a:cubicBezTo>
                <a:lnTo>
                  <a:pt x="133350" y="73945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629175" y="4151733"/>
            <a:ext cx="781103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t1: 部分同步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937823" y="4174373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133350" y="73918"/>
                </a:moveTo>
                <a:cubicBezTo>
                  <a:pt x="136667" y="70602"/>
                  <a:pt x="136667" y="65216"/>
                  <a:pt x="133350" y="61899"/>
                </a:cubicBezTo>
                <a:lnTo>
                  <a:pt x="90899" y="19448"/>
                </a:lnTo>
                <a:cubicBezTo>
                  <a:pt x="87582" y="16131"/>
                  <a:pt x="82196" y="16131"/>
                  <a:pt x="78880" y="19448"/>
                </a:cubicBezTo>
                <a:cubicBezTo>
                  <a:pt x="75563" y="22764"/>
                  <a:pt x="75563" y="28150"/>
                  <a:pt x="78880" y="31467"/>
                </a:cubicBezTo>
                <a:lnTo>
                  <a:pt x="106844" y="59432"/>
                </a:lnTo>
                <a:lnTo>
                  <a:pt x="8490" y="59432"/>
                </a:lnTo>
                <a:cubicBezTo>
                  <a:pt x="3794" y="59432"/>
                  <a:pt x="0" y="63226"/>
                  <a:pt x="0" y="67922"/>
                </a:cubicBezTo>
                <a:cubicBezTo>
                  <a:pt x="0" y="72618"/>
                  <a:pt x="3794" y="76412"/>
                  <a:pt x="8490" y="76412"/>
                </a:cubicBezTo>
                <a:lnTo>
                  <a:pt x="106844" y="76412"/>
                </a:lnTo>
                <a:lnTo>
                  <a:pt x="78880" y="104377"/>
                </a:lnTo>
                <a:cubicBezTo>
                  <a:pt x="75563" y="107694"/>
                  <a:pt x="75563" y="113080"/>
                  <a:pt x="78880" y="116396"/>
                </a:cubicBezTo>
                <a:cubicBezTo>
                  <a:pt x="82196" y="119713"/>
                  <a:pt x="87582" y="119713"/>
                  <a:pt x="90899" y="116396"/>
                </a:cubicBezTo>
                <a:lnTo>
                  <a:pt x="133350" y="73945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2665951" y="4151733"/>
            <a:ext cx="803744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t2: 更多同步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997505" y="4174373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133350" y="73918"/>
                </a:moveTo>
                <a:cubicBezTo>
                  <a:pt x="136667" y="70602"/>
                  <a:pt x="136667" y="65216"/>
                  <a:pt x="133350" y="61899"/>
                </a:cubicBezTo>
                <a:lnTo>
                  <a:pt x="90899" y="19448"/>
                </a:lnTo>
                <a:cubicBezTo>
                  <a:pt x="87582" y="16131"/>
                  <a:pt x="82196" y="16131"/>
                  <a:pt x="78880" y="19448"/>
                </a:cubicBezTo>
                <a:cubicBezTo>
                  <a:pt x="75563" y="22764"/>
                  <a:pt x="75563" y="28150"/>
                  <a:pt x="78880" y="31467"/>
                </a:cubicBezTo>
                <a:lnTo>
                  <a:pt x="106844" y="59432"/>
                </a:lnTo>
                <a:lnTo>
                  <a:pt x="8490" y="59432"/>
                </a:lnTo>
                <a:cubicBezTo>
                  <a:pt x="3794" y="59432"/>
                  <a:pt x="0" y="63226"/>
                  <a:pt x="0" y="67922"/>
                </a:cubicBezTo>
                <a:cubicBezTo>
                  <a:pt x="0" y="72618"/>
                  <a:pt x="3794" y="76412"/>
                  <a:pt x="8490" y="76412"/>
                </a:cubicBezTo>
                <a:lnTo>
                  <a:pt x="106844" y="76412"/>
                </a:lnTo>
                <a:lnTo>
                  <a:pt x="78880" y="104377"/>
                </a:lnTo>
                <a:cubicBezTo>
                  <a:pt x="75563" y="107694"/>
                  <a:pt x="75563" y="113080"/>
                  <a:pt x="78880" y="116396"/>
                </a:cubicBezTo>
                <a:cubicBezTo>
                  <a:pt x="82196" y="119713"/>
                  <a:pt x="87582" y="119713"/>
                  <a:pt x="90899" y="116396"/>
                </a:cubicBezTo>
                <a:lnTo>
                  <a:pt x="133350" y="73945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4725632" y="4151733"/>
            <a:ext cx="815064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t3: 全部同步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60649" y="4378139"/>
            <a:ext cx="747142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不一致开始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674979" y="4378139"/>
            <a:ext cx="747142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软状态期间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789309" y="4378139"/>
            <a:ext cx="747142" cy="1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7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13485" y="4842273"/>
            <a:ext cx="7199733" cy="633939"/>
          </a:xfrm>
          <a:custGeom>
            <a:avLst/>
            <a:gdLst/>
            <a:ahLst/>
            <a:cxnLst/>
            <a:rect l="l" t="t" r="r" b="b"/>
            <a:pathLst>
              <a:path w="7199733" h="633939">
                <a:moveTo>
                  <a:pt x="45282" y="0"/>
                </a:moveTo>
                <a:lnTo>
                  <a:pt x="7154450" y="0"/>
                </a:lnTo>
                <a:cubicBezTo>
                  <a:pt x="7179459" y="0"/>
                  <a:pt x="7199733" y="20274"/>
                  <a:pt x="7199733" y="45282"/>
                </a:cubicBezTo>
                <a:lnTo>
                  <a:pt x="7199733" y="588656"/>
                </a:lnTo>
                <a:cubicBezTo>
                  <a:pt x="7199733" y="613665"/>
                  <a:pt x="7179459" y="633939"/>
                  <a:pt x="7154450" y="633939"/>
                </a:cubicBezTo>
                <a:lnTo>
                  <a:pt x="45282" y="633939"/>
                </a:lnTo>
                <a:cubicBezTo>
                  <a:pt x="20274" y="633939"/>
                  <a:pt x="0" y="613665"/>
                  <a:pt x="0" y="588656"/>
                </a:cubicBezTo>
                <a:lnTo>
                  <a:pt x="0" y="45282"/>
                </a:lnTo>
                <a:cubicBezTo>
                  <a:pt x="0" y="20290"/>
                  <a:pt x="20290" y="0"/>
                  <a:pt x="4528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504047" y="4932836"/>
            <a:ext cx="7097850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强一致性:</a:t>
            </a:r>
            <a:r>
              <a:rPr lang="en-US" sz="124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要求t0时刻就一致 (CP)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248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最终一致性:</a:t>
            </a:r>
            <a:r>
              <a:rPr lang="en-US" sz="124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允许t0-t3期间不一致 (BASE)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8474" y="6390329"/>
            <a:ext cx="15339053" cy="2298028"/>
          </a:xfrm>
          <a:custGeom>
            <a:avLst/>
            <a:gdLst/>
            <a:ahLst/>
            <a:cxnLst/>
            <a:rect l="l" t="t" r="r" b="b"/>
            <a:pathLst>
              <a:path w="15339053" h="2298028">
                <a:moveTo>
                  <a:pt x="90565" y="0"/>
                </a:moveTo>
                <a:lnTo>
                  <a:pt x="15248488" y="0"/>
                </a:lnTo>
                <a:cubicBezTo>
                  <a:pt x="15298505" y="0"/>
                  <a:pt x="15339053" y="40547"/>
                  <a:pt x="15339053" y="90565"/>
                </a:cubicBezTo>
                <a:lnTo>
                  <a:pt x="15339053" y="2207463"/>
                </a:lnTo>
                <a:cubicBezTo>
                  <a:pt x="15339053" y="2257480"/>
                  <a:pt x="15298505" y="2298028"/>
                  <a:pt x="15248488" y="2298028"/>
                </a:cubicBezTo>
                <a:lnTo>
                  <a:pt x="90565" y="2298028"/>
                </a:lnTo>
                <a:cubicBezTo>
                  <a:pt x="40547" y="2298028"/>
                  <a:pt x="0" y="2257480"/>
                  <a:pt x="0" y="2207463"/>
                </a:cubicBezTo>
                <a:lnTo>
                  <a:pt x="0" y="90565"/>
                </a:lnTo>
                <a:cubicBezTo>
                  <a:pt x="0" y="40581"/>
                  <a:pt x="40581" y="0"/>
                  <a:pt x="90565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464134" y="6395989"/>
            <a:ext cx="15327733" cy="594318"/>
          </a:xfrm>
          <a:custGeom>
            <a:avLst/>
            <a:gdLst/>
            <a:ahLst/>
            <a:cxnLst/>
            <a:rect l="l" t="t" r="r" b="b"/>
            <a:pathLst>
              <a:path w="15327733" h="594318">
                <a:moveTo>
                  <a:pt x="0" y="0"/>
                </a:moveTo>
                <a:lnTo>
                  <a:pt x="15327733" y="0"/>
                </a:lnTo>
                <a:lnTo>
                  <a:pt x="15327733" y="594318"/>
                </a:lnTo>
                <a:lnTo>
                  <a:pt x="0" y="594318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464134" y="6990306"/>
            <a:ext cx="15327733" cy="11320"/>
          </a:xfrm>
          <a:custGeom>
            <a:avLst/>
            <a:gdLst/>
            <a:ahLst/>
            <a:cxnLst/>
            <a:rect l="l" t="t" r="r" b="b"/>
            <a:pathLst>
              <a:path w="15327733" h="11320">
                <a:moveTo>
                  <a:pt x="0" y="0"/>
                </a:moveTo>
                <a:lnTo>
                  <a:pt x="15327733" y="0"/>
                </a:lnTo>
                <a:lnTo>
                  <a:pt x="15327733" y="11320"/>
                </a:lnTo>
                <a:lnTo>
                  <a:pt x="0" y="11320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64123" y="6577114"/>
            <a:ext cx="226407" cy="226407"/>
          </a:xfrm>
          <a:custGeom>
            <a:avLst/>
            <a:gdLst/>
            <a:ahLst/>
            <a:cxnLst/>
            <a:rect l="l" t="t" r="r" b="b"/>
            <a:pathLst>
              <a:path w="226407" h="226407">
                <a:moveTo>
                  <a:pt x="21226" y="63677"/>
                </a:moveTo>
                <a:cubicBezTo>
                  <a:pt x="32940" y="63677"/>
                  <a:pt x="42451" y="54166"/>
                  <a:pt x="42451" y="42451"/>
                </a:cubicBezTo>
                <a:cubicBezTo>
                  <a:pt x="42451" y="30737"/>
                  <a:pt x="32940" y="21226"/>
                  <a:pt x="21226" y="21226"/>
                </a:cubicBezTo>
                <a:cubicBezTo>
                  <a:pt x="9511" y="21226"/>
                  <a:pt x="0" y="30737"/>
                  <a:pt x="0" y="42451"/>
                </a:cubicBezTo>
                <a:cubicBezTo>
                  <a:pt x="0" y="54166"/>
                  <a:pt x="9511" y="63677"/>
                  <a:pt x="21226" y="63677"/>
                </a:cubicBezTo>
                <a:close/>
                <a:moveTo>
                  <a:pt x="84903" y="28301"/>
                </a:moveTo>
                <a:cubicBezTo>
                  <a:pt x="77076" y="28301"/>
                  <a:pt x="70752" y="34624"/>
                  <a:pt x="70752" y="42451"/>
                </a:cubicBezTo>
                <a:cubicBezTo>
                  <a:pt x="70752" y="50278"/>
                  <a:pt x="77076" y="56602"/>
                  <a:pt x="84903" y="56602"/>
                </a:cubicBezTo>
                <a:lnTo>
                  <a:pt x="212256" y="56602"/>
                </a:lnTo>
                <a:cubicBezTo>
                  <a:pt x="220083" y="56602"/>
                  <a:pt x="226407" y="50278"/>
                  <a:pt x="226407" y="42451"/>
                </a:cubicBezTo>
                <a:cubicBezTo>
                  <a:pt x="226407" y="34624"/>
                  <a:pt x="220083" y="28301"/>
                  <a:pt x="212256" y="28301"/>
                </a:cubicBezTo>
                <a:lnTo>
                  <a:pt x="84903" y="28301"/>
                </a:lnTo>
                <a:close/>
                <a:moveTo>
                  <a:pt x="84903" y="99053"/>
                </a:moveTo>
                <a:cubicBezTo>
                  <a:pt x="77076" y="99053"/>
                  <a:pt x="70752" y="105376"/>
                  <a:pt x="70752" y="113203"/>
                </a:cubicBezTo>
                <a:cubicBezTo>
                  <a:pt x="70752" y="121030"/>
                  <a:pt x="77076" y="127354"/>
                  <a:pt x="84903" y="127354"/>
                </a:cubicBezTo>
                <a:lnTo>
                  <a:pt x="212256" y="127354"/>
                </a:lnTo>
                <a:cubicBezTo>
                  <a:pt x="220083" y="127354"/>
                  <a:pt x="226407" y="121030"/>
                  <a:pt x="226407" y="113203"/>
                </a:cubicBezTo>
                <a:cubicBezTo>
                  <a:pt x="226407" y="105376"/>
                  <a:pt x="220083" y="99053"/>
                  <a:pt x="212256" y="99053"/>
                </a:cubicBezTo>
                <a:lnTo>
                  <a:pt x="84903" y="99053"/>
                </a:lnTo>
                <a:close/>
                <a:moveTo>
                  <a:pt x="84903" y="169805"/>
                </a:moveTo>
                <a:cubicBezTo>
                  <a:pt x="77076" y="169805"/>
                  <a:pt x="70752" y="176128"/>
                  <a:pt x="70752" y="183955"/>
                </a:cubicBezTo>
                <a:cubicBezTo>
                  <a:pt x="70752" y="191782"/>
                  <a:pt x="77076" y="198106"/>
                  <a:pt x="84903" y="198106"/>
                </a:cubicBezTo>
                <a:lnTo>
                  <a:pt x="212256" y="198106"/>
                </a:lnTo>
                <a:cubicBezTo>
                  <a:pt x="220083" y="198106"/>
                  <a:pt x="226407" y="191782"/>
                  <a:pt x="226407" y="183955"/>
                </a:cubicBezTo>
                <a:cubicBezTo>
                  <a:pt x="226407" y="176128"/>
                  <a:pt x="220083" y="169805"/>
                  <a:pt x="212256" y="169805"/>
                </a:cubicBezTo>
                <a:lnTo>
                  <a:pt x="84903" y="169805"/>
                </a:lnTo>
                <a:close/>
                <a:moveTo>
                  <a:pt x="21226" y="205181"/>
                </a:moveTo>
                <a:cubicBezTo>
                  <a:pt x="32940" y="205181"/>
                  <a:pt x="42451" y="195670"/>
                  <a:pt x="42451" y="183955"/>
                </a:cubicBezTo>
                <a:cubicBezTo>
                  <a:pt x="42451" y="172241"/>
                  <a:pt x="32940" y="162730"/>
                  <a:pt x="21226" y="162730"/>
                </a:cubicBezTo>
                <a:cubicBezTo>
                  <a:pt x="9511" y="162730"/>
                  <a:pt x="0" y="172241"/>
                  <a:pt x="0" y="183955"/>
                </a:cubicBezTo>
                <a:cubicBezTo>
                  <a:pt x="0" y="195670"/>
                  <a:pt x="9511" y="205181"/>
                  <a:pt x="21226" y="205181"/>
                </a:cubicBezTo>
                <a:close/>
                <a:moveTo>
                  <a:pt x="42451" y="113203"/>
                </a:moveTo>
                <a:cubicBezTo>
                  <a:pt x="42451" y="101489"/>
                  <a:pt x="32940" y="91978"/>
                  <a:pt x="21226" y="91978"/>
                </a:cubicBezTo>
                <a:cubicBezTo>
                  <a:pt x="9511" y="91978"/>
                  <a:pt x="0" y="101489"/>
                  <a:pt x="0" y="113203"/>
                </a:cubicBezTo>
                <a:cubicBezTo>
                  <a:pt x="0" y="124918"/>
                  <a:pt x="9511" y="134429"/>
                  <a:pt x="21226" y="134429"/>
                </a:cubicBezTo>
                <a:cubicBezTo>
                  <a:pt x="32940" y="134429"/>
                  <a:pt x="42451" y="124918"/>
                  <a:pt x="42451" y="11320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139917" y="6531833"/>
            <a:ext cx="14493465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BASE理论详解与特性对比</a:t>
            </a:r>
            <a:endParaRPr lang="en-US" sz="16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259" y="7177092"/>
          <a:ext cx="14965482" cy="1324479"/>
        </p:xfrm>
        <a:graphic>
          <a:graphicData uri="http://schemas.openxmlformats.org/drawingml/2006/table">
            <a:tbl>
              <a:tblPr/>
              <a:tblGrid>
                <a:gridCol w="1664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2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6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3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43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1493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实现方式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应用示例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挑战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49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基本可用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故障时仍能提供基本服务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降级服务、限流、熔断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电商故障时只提供浏览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提高系统韧性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需要设计降级策略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49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最终一致性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系统最终会达到一致状态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补偿机制、定时同步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分布式缓存最终同步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平衡性能与一致性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需要处理冲突解决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908300" cy="520700"/>
          </a:xfrm>
          <a:custGeom>
            <a:avLst/>
            <a:gdLst/>
            <a:ahLst/>
            <a:cxnLst/>
            <a:rect l="l" t="t" r="r" b="b"/>
            <a:pathLst>
              <a:path w="2908300" h="520700">
                <a:moveTo>
                  <a:pt x="50799" y="0"/>
                </a:moveTo>
                <a:lnTo>
                  <a:pt x="2857501" y="0"/>
                </a:lnTo>
                <a:cubicBezTo>
                  <a:pt x="2885556" y="0"/>
                  <a:pt x="2908300" y="22744"/>
                  <a:pt x="2908300" y="50799"/>
                </a:cubicBezTo>
                <a:lnTo>
                  <a:pt x="2908300" y="469901"/>
                </a:lnTo>
                <a:cubicBezTo>
                  <a:pt x="2908300" y="497956"/>
                  <a:pt x="2885556" y="520700"/>
                  <a:pt x="2857501" y="520700"/>
                </a:cubicBezTo>
                <a:lnTo>
                  <a:pt x="50799" y="520700"/>
                </a:lnTo>
                <a:cubicBezTo>
                  <a:pt x="22744" y="520700"/>
                  <a:pt x="0" y="497956"/>
                  <a:pt x="0" y="4699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23900" y="641350"/>
            <a:ext cx="25845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CONSISTENCY MODELS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43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一致性模型:从强一致性到最终一致性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631946"/>
            <a:ext cx="7505700" cy="4476752"/>
          </a:xfrm>
          <a:custGeom>
            <a:avLst/>
            <a:gdLst/>
            <a:ahLst/>
            <a:cxnLst/>
            <a:rect l="l" t="t" r="r" b="b"/>
            <a:pathLst>
              <a:path w="7505700" h="5168900">
                <a:moveTo>
                  <a:pt x="101621" y="0"/>
                </a:moveTo>
                <a:lnTo>
                  <a:pt x="7404079" y="0"/>
                </a:lnTo>
                <a:cubicBezTo>
                  <a:pt x="7460203" y="0"/>
                  <a:pt x="7505700" y="45497"/>
                  <a:pt x="7505700" y="101621"/>
                </a:cubicBezTo>
                <a:lnTo>
                  <a:pt x="7505700" y="5067279"/>
                </a:lnTo>
                <a:cubicBezTo>
                  <a:pt x="7505700" y="5123403"/>
                  <a:pt x="7460203" y="5168900"/>
                  <a:pt x="7404079" y="5168900"/>
                </a:cubicBezTo>
                <a:lnTo>
                  <a:pt x="101621" y="5168900"/>
                </a:lnTo>
                <a:cubicBezTo>
                  <a:pt x="45497" y="5168900"/>
                  <a:pt x="0" y="5123403"/>
                  <a:pt x="0" y="5067279"/>
                </a:cubicBezTo>
                <a:lnTo>
                  <a:pt x="0" y="101621"/>
                </a:lnTo>
                <a:cubicBezTo>
                  <a:pt x="0" y="45535"/>
                  <a:pt x="45535" y="0"/>
                  <a:pt x="10162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55650" y="189229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93800" y="1841496"/>
            <a:ext cx="674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一致性模型层次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3900" y="2349496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强一致性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94500" y="2349496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3900" y="2755896"/>
            <a:ext cx="7086600" cy="406400"/>
          </a:xfrm>
          <a:custGeom>
            <a:avLst/>
            <a:gdLst/>
            <a:ahLst/>
            <a:cxnLst/>
            <a:rect l="l" t="t" r="r" b="b"/>
            <a:pathLst>
              <a:path w="7086600" h="406400">
                <a:moveTo>
                  <a:pt x="203200" y="0"/>
                </a:moveTo>
                <a:lnTo>
                  <a:pt x="6883400" y="0"/>
                </a:lnTo>
                <a:cubicBezTo>
                  <a:pt x="6995549" y="0"/>
                  <a:pt x="7086600" y="91051"/>
                  <a:pt x="7086600" y="203200"/>
                </a:cubicBezTo>
                <a:lnTo>
                  <a:pt x="7086600" y="203200"/>
                </a:lnTo>
                <a:cubicBezTo>
                  <a:pt x="7086600" y="315349"/>
                  <a:pt x="6995549" y="406400"/>
                  <a:pt x="68834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23900" y="2755896"/>
            <a:ext cx="7086600" cy="406400"/>
          </a:xfrm>
          <a:custGeom>
            <a:avLst/>
            <a:gdLst/>
            <a:ahLst/>
            <a:cxnLst/>
            <a:rect l="l" t="t" r="r" b="b"/>
            <a:pathLst>
              <a:path w="7086600" h="406400">
                <a:moveTo>
                  <a:pt x="203200" y="0"/>
                </a:moveTo>
                <a:lnTo>
                  <a:pt x="6883400" y="0"/>
                </a:lnTo>
                <a:cubicBezTo>
                  <a:pt x="6995549" y="0"/>
                  <a:pt x="7086600" y="91051"/>
                  <a:pt x="7086600" y="203200"/>
                </a:cubicBezTo>
                <a:lnTo>
                  <a:pt x="7086600" y="203200"/>
                </a:lnTo>
                <a:cubicBezTo>
                  <a:pt x="7086600" y="315349"/>
                  <a:pt x="6995549" y="406400"/>
                  <a:pt x="68834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37"/>
              </a:gs>
              <a:gs pos="100000">
                <a:srgbClr val="D4A237">
                  <a:alpha val="3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27100" y="2832096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高延迟,低可用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5455" y="2832096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低延迟,高可用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208033"/>
              </p:ext>
            </p:extLst>
          </p:nvPr>
        </p:nvGraphicFramePr>
        <p:xfrm>
          <a:off x="723900" y="3314696"/>
          <a:ext cx="7086600" cy="2794002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保证强度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典型应用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线性一致性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最强保证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实时性要求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银行转账、库存扣减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顺序一致性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强保证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全局顺序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股票交易、游戏排行榜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因果一致性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中等保证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因果关系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社交媒体、评论回复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会话一致性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中等保证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单会话视角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Web应用、购物车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最终一致性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弱保证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最终收敛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DNS、CDN、缓存系统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235950" y="938212"/>
            <a:ext cx="7505700" cy="5168900"/>
          </a:xfrm>
          <a:custGeom>
            <a:avLst/>
            <a:gdLst/>
            <a:ahLst/>
            <a:cxnLst/>
            <a:rect l="l" t="t" r="r" b="b"/>
            <a:pathLst>
              <a:path w="7505700" h="5168900">
                <a:moveTo>
                  <a:pt x="101621" y="0"/>
                </a:moveTo>
                <a:lnTo>
                  <a:pt x="7404079" y="0"/>
                </a:lnTo>
                <a:cubicBezTo>
                  <a:pt x="7460203" y="0"/>
                  <a:pt x="7505700" y="45497"/>
                  <a:pt x="7505700" y="101621"/>
                </a:cubicBezTo>
                <a:lnTo>
                  <a:pt x="7505700" y="5067279"/>
                </a:lnTo>
                <a:cubicBezTo>
                  <a:pt x="7505700" y="5123403"/>
                  <a:pt x="7460203" y="5168900"/>
                  <a:pt x="7404079" y="5168900"/>
                </a:cubicBezTo>
                <a:lnTo>
                  <a:pt x="101621" y="5168900"/>
                </a:lnTo>
                <a:cubicBezTo>
                  <a:pt x="45497" y="5168900"/>
                  <a:pt x="0" y="5123403"/>
                  <a:pt x="0" y="5067279"/>
                </a:cubicBezTo>
                <a:lnTo>
                  <a:pt x="0" y="101621"/>
                </a:lnTo>
                <a:cubicBezTo>
                  <a:pt x="0" y="45535"/>
                  <a:pt x="45535" y="0"/>
                  <a:pt x="10162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8493125" y="1198562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9688" y="51594"/>
                </a:moveTo>
                <a:cubicBezTo>
                  <a:pt x="46259" y="51594"/>
                  <a:pt x="51594" y="46259"/>
                  <a:pt x="51594" y="39688"/>
                </a:cubicBezTo>
                <a:cubicBezTo>
                  <a:pt x="51594" y="33116"/>
                  <a:pt x="46259" y="27781"/>
                  <a:pt x="39688" y="27781"/>
                </a:cubicBezTo>
                <a:cubicBezTo>
                  <a:pt x="33116" y="27781"/>
                  <a:pt x="27781" y="33116"/>
                  <a:pt x="27781" y="39688"/>
                </a:cubicBezTo>
                <a:cubicBezTo>
                  <a:pt x="27781" y="46259"/>
                  <a:pt x="33116" y="51594"/>
                  <a:pt x="39688" y="51594"/>
                </a:cubicBezTo>
                <a:close/>
                <a:moveTo>
                  <a:pt x="79375" y="39688"/>
                </a:moveTo>
                <a:cubicBezTo>
                  <a:pt x="79375" y="55959"/>
                  <a:pt x="69602" y="69949"/>
                  <a:pt x="55563" y="76051"/>
                </a:cubicBezTo>
                <a:lnTo>
                  <a:pt x="55563" y="111125"/>
                </a:lnTo>
                <a:lnTo>
                  <a:pt x="142875" y="111125"/>
                </a:lnTo>
                <a:cubicBezTo>
                  <a:pt x="156021" y="111125"/>
                  <a:pt x="166688" y="100459"/>
                  <a:pt x="166688" y="87313"/>
                </a:cubicBezTo>
                <a:lnTo>
                  <a:pt x="166688" y="76051"/>
                </a:lnTo>
                <a:cubicBezTo>
                  <a:pt x="152648" y="69949"/>
                  <a:pt x="142875" y="55959"/>
                  <a:pt x="142875" y="39688"/>
                </a:cubicBezTo>
                <a:cubicBezTo>
                  <a:pt x="142875" y="17760"/>
                  <a:pt x="160635" y="0"/>
                  <a:pt x="182563" y="0"/>
                </a:cubicBezTo>
                <a:cubicBezTo>
                  <a:pt x="204490" y="0"/>
                  <a:pt x="222250" y="17760"/>
                  <a:pt x="222250" y="39688"/>
                </a:cubicBezTo>
                <a:cubicBezTo>
                  <a:pt x="222250" y="55959"/>
                  <a:pt x="212477" y="69949"/>
                  <a:pt x="198438" y="76051"/>
                </a:cubicBezTo>
                <a:lnTo>
                  <a:pt x="198438" y="87313"/>
                </a:lnTo>
                <a:cubicBezTo>
                  <a:pt x="198438" y="118021"/>
                  <a:pt x="173583" y="142875"/>
                  <a:pt x="142875" y="142875"/>
                </a:cubicBezTo>
                <a:lnTo>
                  <a:pt x="55563" y="142875"/>
                </a:lnTo>
                <a:lnTo>
                  <a:pt x="55563" y="177949"/>
                </a:lnTo>
                <a:cubicBezTo>
                  <a:pt x="69602" y="184051"/>
                  <a:pt x="79375" y="198041"/>
                  <a:pt x="79375" y="214313"/>
                </a:cubicBezTo>
                <a:cubicBezTo>
                  <a:pt x="79375" y="236240"/>
                  <a:pt x="61615" y="254000"/>
                  <a:pt x="39688" y="254000"/>
                </a:cubicBezTo>
                <a:cubicBezTo>
                  <a:pt x="17760" y="254000"/>
                  <a:pt x="0" y="236240"/>
                  <a:pt x="0" y="214313"/>
                </a:cubicBezTo>
                <a:cubicBezTo>
                  <a:pt x="0" y="198041"/>
                  <a:pt x="9773" y="184051"/>
                  <a:pt x="23812" y="177949"/>
                </a:cubicBezTo>
                <a:lnTo>
                  <a:pt x="23812" y="76101"/>
                </a:lnTo>
                <a:cubicBezTo>
                  <a:pt x="9773" y="69949"/>
                  <a:pt x="0" y="55959"/>
                  <a:pt x="0" y="39688"/>
                </a:cubicBezTo>
                <a:cubicBezTo>
                  <a:pt x="0" y="17760"/>
                  <a:pt x="17760" y="0"/>
                  <a:pt x="39688" y="0"/>
                </a:cubicBezTo>
                <a:cubicBezTo>
                  <a:pt x="61615" y="0"/>
                  <a:pt x="79375" y="17760"/>
                  <a:pt x="79375" y="39688"/>
                </a:cubicBezTo>
                <a:close/>
                <a:moveTo>
                  <a:pt x="194469" y="39688"/>
                </a:moveTo>
                <a:cubicBezTo>
                  <a:pt x="194469" y="33116"/>
                  <a:pt x="189134" y="27781"/>
                  <a:pt x="182563" y="27781"/>
                </a:cubicBezTo>
                <a:cubicBezTo>
                  <a:pt x="175991" y="27781"/>
                  <a:pt x="170656" y="33116"/>
                  <a:pt x="170656" y="39688"/>
                </a:cubicBezTo>
                <a:cubicBezTo>
                  <a:pt x="170656" y="46259"/>
                  <a:pt x="175991" y="51594"/>
                  <a:pt x="182563" y="51594"/>
                </a:cubicBezTo>
                <a:cubicBezTo>
                  <a:pt x="189134" y="51594"/>
                  <a:pt x="194469" y="46259"/>
                  <a:pt x="194469" y="39688"/>
                </a:cubicBezTo>
                <a:close/>
                <a:moveTo>
                  <a:pt x="39688" y="226219"/>
                </a:moveTo>
                <a:cubicBezTo>
                  <a:pt x="46259" y="226219"/>
                  <a:pt x="51594" y="220884"/>
                  <a:pt x="51594" y="214313"/>
                </a:cubicBezTo>
                <a:cubicBezTo>
                  <a:pt x="51594" y="207741"/>
                  <a:pt x="46259" y="202406"/>
                  <a:pt x="39688" y="202406"/>
                </a:cubicBezTo>
                <a:cubicBezTo>
                  <a:pt x="33116" y="202406"/>
                  <a:pt x="27781" y="207741"/>
                  <a:pt x="27781" y="214313"/>
                </a:cubicBezTo>
                <a:cubicBezTo>
                  <a:pt x="27781" y="220884"/>
                  <a:pt x="33116" y="226219"/>
                  <a:pt x="39688" y="226219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915400" y="1147762"/>
            <a:ext cx="674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因果一致性与向量时钟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45500" y="1655762"/>
            <a:ext cx="7188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向量时钟通过维护一个向量来捕获事件的因果关系,判断事件间的happens-before关系和并发关系。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451850" y="2474912"/>
            <a:ext cx="7073900" cy="1689100"/>
          </a:xfrm>
          <a:custGeom>
            <a:avLst/>
            <a:gdLst/>
            <a:ahLst/>
            <a:cxnLst/>
            <a:rect l="l" t="t" r="r" b="b"/>
            <a:pathLst>
              <a:path w="7073900" h="1689100">
                <a:moveTo>
                  <a:pt x="50808" y="0"/>
                </a:moveTo>
                <a:lnTo>
                  <a:pt x="7023092" y="0"/>
                </a:lnTo>
                <a:cubicBezTo>
                  <a:pt x="7051152" y="0"/>
                  <a:pt x="7073900" y="22748"/>
                  <a:pt x="7073900" y="50808"/>
                </a:cubicBezTo>
                <a:lnTo>
                  <a:pt x="7073900" y="1638292"/>
                </a:lnTo>
                <a:cubicBezTo>
                  <a:pt x="7073900" y="1666352"/>
                  <a:pt x="7051152" y="1689100"/>
                  <a:pt x="7023092" y="1689100"/>
                </a:cubicBezTo>
                <a:lnTo>
                  <a:pt x="50808" y="1689100"/>
                </a:lnTo>
                <a:cubicBezTo>
                  <a:pt x="22748" y="1689100"/>
                  <a:pt x="0" y="1666352"/>
                  <a:pt x="0" y="1638292"/>
                </a:cubicBezTo>
                <a:lnTo>
                  <a:pt x="0" y="50808"/>
                </a:lnTo>
                <a:cubicBezTo>
                  <a:pt x="0" y="22766"/>
                  <a:pt x="22766" y="0"/>
                  <a:pt x="5080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8610600" y="2633662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向量时钟更新规则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10600" y="3040062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本地事件: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VCᵢ[i] = VCᵢ[i] + 1</a:t>
            </a:r>
            <a:endParaRPr lang="en-US" sz="1600" dirty="0"/>
          </a:p>
        </p:txBody>
      </p:sp>
      <p:sp>
        <p:nvSpPr>
          <p:cNvPr id="14" name="Text 19"/>
          <p:cNvSpPr/>
          <p:nvPr/>
        </p:nvSpPr>
        <p:spPr>
          <a:xfrm>
            <a:off x="8610600" y="3395662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发送消息: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将VCᵢ附加到消息中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610600" y="3751262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接收消息: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VCᵢ[j] = max(VCᵢ[j], VCₘₛg[j]), 然后VCᵢ[i] = VCᵢ[i] + 1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445500" y="4322762"/>
            <a:ext cx="3467100" cy="1574800"/>
          </a:xfrm>
          <a:custGeom>
            <a:avLst/>
            <a:gdLst/>
            <a:ahLst/>
            <a:cxnLst/>
            <a:rect l="l" t="t" r="r" b="b"/>
            <a:pathLst>
              <a:path w="3467100" h="1574800">
                <a:moveTo>
                  <a:pt x="50803" y="0"/>
                </a:moveTo>
                <a:lnTo>
                  <a:pt x="3416297" y="0"/>
                </a:lnTo>
                <a:cubicBezTo>
                  <a:pt x="3444355" y="0"/>
                  <a:pt x="3467100" y="22745"/>
                  <a:pt x="3467100" y="50803"/>
                </a:cubicBezTo>
                <a:lnTo>
                  <a:pt x="3467100" y="1523997"/>
                </a:lnTo>
                <a:cubicBezTo>
                  <a:pt x="3467100" y="1552055"/>
                  <a:pt x="3444355" y="1574800"/>
                  <a:pt x="3416297" y="1574800"/>
                </a:cubicBezTo>
                <a:lnTo>
                  <a:pt x="50803" y="1574800"/>
                </a:lnTo>
                <a:cubicBezTo>
                  <a:pt x="22745" y="1574800"/>
                  <a:pt x="0" y="1552055"/>
                  <a:pt x="0" y="15239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8597900" y="4475162"/>
            <a:ext cx="326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因果关系判断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597900" y="4881562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因果先于: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VCₐ &lt; VCᵦ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597900" y="5237162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并发关系: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VCₐ ∥ VCᵦ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2065000" y="4322762"/>
            <a:ext cx="3467100" cy="1574800"/>
          </a:xfrm>
          <a:custGeom>
            <a:avLst/>
            <a:gdLst/>
            <a:ahLst/>
            <a:cxnLst/>
            <a:rect l="l" t="t" r="r" b="b"/>
            <a:pathLst>
              <a:path w="3467100" h="1574800">
                <a:moveTo>
                  <a:pt x="50803" y="0"/>
                </a:moveTo>
                <a:lnTo>
                  <a:pt x="3416297" y="0"/>
                </a:lnTo>
                <a:cubicBezTo>
                  <a:pt x="3444355" y="0"/>
                  <a:pt x="3467100" y="22745"/>
                  <a:pt x="3467100" y="50803"/>
                </a:cubicBezTo>
                <a:lnTo>
                  <a:pt x="3467100" y="1523997"/>
                </a:lnTo>
                <a:cubicBezTo>
                  <a:pt x="3467100" y="1552055"/>
                  <a:pt x="3444355" y="1574800"/>
                  <a:pt x="3416297" y="1574800"/>
                </a:cubicBezTo>
                <a:lnTo>
                  <a:pt x="50803" y="1574800"/>
                </a:lnTo>
                <a:cubicBezTo>
                  <a:pt x="22745" y="1574800"/>
                  <a:pt x="0" y="1552055"/>
                  <a:pt x="0" y="15239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12217400" y="4475162"/>
            <a:ext cx="326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2217400" y="4881562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分布式数据库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2217400" y="5186362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版本控制系统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2217400" y="5491162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分布式调试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14350" y="6159490"/>
            <a:ext cx="15227300" cy="2955933"/>
          </a:xfrm>
          <a:custGeom>
            <a:avLst/>
            <a:gdLst/>
            <a:ahLst/>
            <a:cxnLst/>
            <a:rect l="l" t="t" r="r" b="b"/>
            <a:pathLst>
              <a:path w="15227300" h="1384300">
                <a:moveTo>
                  <a:pt x="101594" y="0"/>
                </a:moveTo>
                <a:lnTo>
                  <a:pt x="15125706" y="0"/>
                </a:lnTo>
                <a:cubicBezTo>
                  <a:pt x="15181815" y="0"/>
                  <a:pt x="15227300" y="45485"/>
                  <a:pt x="15227300" y="101594"/>
                </a:cubicBezTo>
                <a:lnTo>
                  <a:pt x="15227300" y="1282706"/>
                </a:lnTo>
                <a:cubicBezTo>
                  <a:pt x="15227300" y="1338815"/>
                  <a:pt x="15181815" y="1384300"/>
                  <a:pt x="15125706" y="1384300"/>
                </a:cubicBezTo>
                <a:lnTo>
                  <a:pt x="101594" y="1384300"/>
                </a:lnTo>
                <a:cubicBezTo>
                  <a:pt x="45485" y="1384300"/>
                  <a:pt x="0" y="1338815"/>
                  <a:pt x="0" y="12827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1"/>
          <p:cNvSpPr/>
          <p:nvPr/>
        </p:nvSpPr>
        <p:spPr>
          <a:xfrm>
            <a:off x="520700" y="6165841"/>
            <a:ext cx="15214600" cy="666750"/>
          </a:xfrm>
          <a:custGeom>
            <a:avLst/>
            <a:gdLst/>
            <a:ahLst/>
            <a:cxnLst/>
            <a:rect l="l" t="t" r="r" b="b"/>
            <a:pathLst>
              <a:path w="15214600" h="666750">
                <a:moveTo>
                  <a:pt x="0" y="0"/>
                </a:moveTo>
                <a:lnTo>
                  <a:pt x="15214600" y="0"/>
                </a:lnTo>
                <a:lnTo>
                  <a:pt x="1521460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520700" y="6832591"/>
            <a:ext cx="15214600" cy="12700"/>
          </a:xfrm>
          <a:custGeom>
            <a:avLst/>
            <a:gdLst/>
            <a:ahLst/>
            <a:cxnLst/>
            <a:rect l="l" t="t" r="r" b="b"/>
            <a:pathLst>
              <a:path w="15214600" h="12700">
                <a:moveTo>
                  <a:pt x="0" y="0"/>
                </a:moveTo>
                <a:lnTo>
                  <a:pt x="15214600" y="0"/>
                </a:lnTo>
                <a:lnTo>
                  <a:pt x="15214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3"/>
          <p:cNvSpPr/>
          <p:nvPr/>
        </p:nvSpPr>
        <p:spPr>
          <a:xfrm>
            <a:off x="825500" y="6369041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90500" y="15875"/>
                </a:moveTo>
                <a:lnTo>
                  <a:pt x="254000" y="15875"/>
                </a:lnTo>
                <a:cubicBezTo>
                  <a:pt x="262781" y="15875"/>
                  <a:pt x="269875" y="22969"/>
                  <a:pt x="269875" y="31750"/>
                </a:cubicBezTo>
                <a:cubicBezTo>
                  <a:pt x="269875" y="40531"/>
                  <a:pt x="262781" y="47625"/>
                  <a:pt x="254000" y="47625"/>
                </a:cubicBezTo>
                <a:lnTo>
                  <a:pt x="197644" y="47625"/>
                </a:lnTo>
                <a:cubicBezTo>
                  <a:pt x="195064" y="60424"/>
                  <a:pt x="186283" y="70991"/>
                  <a:pt x="174625" y="76051"/>
                </a:cubicBezTo>
                <a:lnTo>
                  <a:pt x="174625" y="222250"/>
                </a:lnTo>
                <a:lnTo>
                  <a:pt x="254000" y="222250"/>
                </a:lnTo>
                <a:cubicBezTo>
                  <a:pt x="262781" y="222250"/>
                  <a:pt x="269875" y="229344"/>
                  <a:pt x="269875" y="238125"/>
                </a:cubicBezTo>
                <a:cubicBezTo>
                  <a:pt x="269875" y="246906"/>
                  <a:pt x="262781" y="254000"/>
                  <a:pt x="254000" y="254000"/>
                </a:cubicBezTo>
                <a:lnTo>
                  <a:pt x="63500" y="254000"/>
                </a:lnTo>
                <a:cubicBezTo>
                  <a:pt x="54719" y="254000"/>
                  <a:pt x="47625" y="246906"/>
                  <a:pt x="47625" y="238125"/>
                </a:cubicBezTo>
                <a:cubicBezTo>
                  <a:pt x="47625" y="229344"/>
                  <a:pt x="54719" y="222250"/>
                  <a:pt x="63500" y="222250"/>
                </a:cubicBezTo>
                <a:lnTo>
                  <a:pt x="142875" y="222250"/>
                </a:lnTo>
                <a:lnTo>
                  <a:pt x="142875" y="76051"/>
                </a:lnTo>
                <a:cubicBezTo>
                  <a:pt x="131217" y="70941"/>
                  <a:pt x="122436" y="60375"/>
                  <a:pt x="119856" y="47625"/>
                </a:cubicBezTo>
                <a:lnTo>
                  <a:pt x="63500" y="47625"/>
                </a:lnTo>
                <a:cubicBezTo>
                  <a:pt x="54719" y="47625"/>
                  <a:pt x="47625" y="40531"/>
                  <a:pt x="47625" y="31750"/>
                </a:cubicBezTo>
                <a:cubicBezTo>
                  <a:pt x="47625" y="22969"/>
                  <a:pt x="54719" y="15875"/>
                  <a:pt x="63500" y="15875"/>
                </a:cubicBezTo>
                <a:lnTo>
                  <a:pt x="127000" y="15875"/>
                </a:lnTo>
                <a:cubicBezTo>
                  <a:pt x="134243" y="6251"/>
                  <a:pt x="145752" y="0"/>
                  <a:pt x="158750" y="0"/>
                </a:cubicBezTo>
                <a:cubicBezTo>
                  <a:pt x="171748" y="0"/>
                  <a:pt x="183257" y="6251"/>
                  <a:pt x="190500" y="15875"/>
                </a:cubicBezTo>
                <a:close/>
                <a:moveTo>
                  <a:pt x="218083" y="158750"/>
                </a:moveTo>
                <a:lnTo>
                  <a:pt x="289917" y="158750"/>
                </a:lnTo>
                <a:lnTo>
                  <a:pt x="254000" y="97135"/>
                </a:lnTo>
                <a:lnTo>
                  <a:pt x="218083" y="158750"/>
                </a:lnTo>
                <a:close/>
                <a:moveTo>
                  <a:pt x="254000" y="206375"/>
                </a:moveTo>
                <a:cubicBezTo>
                  <a:pt x="222796" y="206375"/>
                  <a:pt x="196850" y="189508"/>
                  <a:pt x="191492" y="167233"/>
                </a:cubicBezTo>
                <a:cubicBezTo>
                  <a:pt x="190202" y="161776"/>
                  <a:pt x="191988" y="156170"/>
                  <a:pt x="194816" y="151309"/>
                </a:cubicBezTo>
                <a:lnTo>
                  <a:pt x="242044" y="70346"/>
                </a:lnTo>
                <a:cubicBezTo>
                  <a:pt x="244525" y="66080"/>
                  <a:pt x="249089" y="63500"/>
                  <a:pt x="254000" y="63500"/>
                </a:cubicBezTo>
                <a:cubicBezTo>
                  <a:pt x="258911" y="63500"/>
                  <a:pt x="263475" y="66129"/>
                  <a:pt x="265956" y="70346"/>
                </a:cubicBezTo>
                <a:lnTo>
                  <a:pt x="313184" y="151309"/>
                </a:lnTo>
                <a:cubicBezTo>
                  <a:pt x="316012" y="156170"/>
                  <a:pt x="317798" y="161776"/>
                  <a:pt x="316508" y="167233"/>
                </a:cubicBezTo>
                <a:cubicBezTo>
                  <a:pt x="311150" y="189458"/>
                  <a:pt x="285204" y="206375"/>
                  <a:pt x="254000" y="206375"/>
                </a:cubicBezTo>
                <a:close/>
                <a:moveTo>
                  <a:pt x="62905" y="97135"/>
                </a:moveTo>
                <a:lnTo>
                  <a:pt x="26988" y="158750"/>
                </a:lnTo>
                <a:lnTo>
                  <a:pt x="98871" y="158750"/>
                </a:lnTo>
                <a:lnTo>
                  <a:pt x="62905" y="97135"/>
                </a:lnTo>
                <a:close/>
                <a:moveTo>
                  <a:pt x="446" y="167233"/>
                </a:moveTo>
                <a:cubicBezTo>
                  <a:pt x="-843" y="161776"/>
                  <a:pt x="943" y="156170"/>
                  <a:pt x="3770" y="151309"/>
                </a:cubicBezTo>
                <a:lnTo>
                  <a:pt x="50998" y="70346"/>
                </a:lnTo>
                <a:cubicBezTo>
                  <a:pt x="53479" y="66080"/>
                  <a:pt x="58043" y="63500"/>
                  <a:pt x="62954" y="63500"/>
                </a:cubicBezTo>
                <a:cubicBezTo>
                  <a:pt x="67866" y="63500"/>
                  <a:pt x="72430" y="66129"/>
                  <a:pt x="74910" y="70346"/>
                </a:cubicBezTo>
                <a:lnTo>
                  <a:pt x="122138" y="151309"/>
                </a:lnTo>
                <a:cubicBezTo>
                  <a:pt x="124966" y="156170"/>
                  <a:pt x="126752" y="161776"/>
                  <a:pt x="125462" y="167233"/>
                </a:cubicBezTo>
                <a:cubicBezTo>
                  <a:pt x="120104" y="189458"/>
                  <a:pt x="94159" y="206375"/>
                  <a:pt x="62954" y="206375"/>
                </a:cubicBezTo>
                <a:cubicBezTo>
                  <a:pt x="31750" y="206375"/>
                  <a:pt x="5804" y="189508"/>
                  <a:pt x="446" y="16723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1295400" y="6318241"/>
            <a:ext cx="142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一致性模型综合对比</a:t>
            </a:r>
            <a:endParaRPr lang="en-US" sz="16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315549"/>
              </p:ext>
            </p:extLst>
          </p:nvPr>
        </p:nvGraphicFramePr>
        <p:xfrm>
          <a:off x="723900" y="6999277"/>
          <a:ext cx="14808201" cy="1958982"/>
        </p:xfrm>
        <a:graphic>
          <a:graphicData uri="http://schemas.openxmlformats.org/drawingml/2006/table">
            <a:tbl>
              <a:tblPr/>
              <a:tblGrid>
                <a:gridCol w="2847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9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8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99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1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649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强度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实现复杂度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性能影响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一致性保证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49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线性一致性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05DF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最低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9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顺序一致性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F890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F890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F890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05DF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F890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9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因果一致性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DC7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DC7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DC7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DC7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DC7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49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会话一致性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弱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49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最终一致性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05DF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弱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05DF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05DF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最弱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05DF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2014538"/>
            <a:ext cx="3492500" cy="863600"/>
          </a:xfrm>
          <a:custGeom>
            <a:avLst/>
            <a:gdLst/>
            <a:ahLst/>
            <a:cxnLst/>
            <a:rect l="l" t="t" r="r" b="b"/>
            <a:pathLst>
              <a:path w="3492500" h="863600">
                <a:moveTo>
                  <a:pt x="101603" y="0"/>
                </a:moveTo>
                <a:lnTo>
                  <a:pt x="3390897" y="0"/>
                </a:lnTo>
                <a:cubicBezTo>
                  <a:pt x="3447011" y="0"/>
                  <a:pt x="3492500" y="45489"/>
                  <a:pt x="3492500" y="101603"/>
                </a:cubicBezTo>
                <a:lnTo>
                  <a:pt x="3492500" y="761997"/>
                </a:lnTo>
                <a:cubicBezTo>
                  <a:pt x="3492500" y="818111"/>
                  <a:pt x="3447011" y="863600"/>
                  <a:pt x="33908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14400" y="2192338"/>
            <a:ext cx="286474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kern="0" spc="300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284538"/>
            <a:ext cx="1584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核心机制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214938"/>
            <a:ext cx="99441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学习分布式系统的关键实现技术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4350" y="6450013"/>
            <a:ext cx="2171700" cy="673100"/>
          </a:xfrm>
          <a:custGeom>
            <a:avLst/>
            <a:gdLst/>
            <a:ahLst/>
            <a:cxnLst/>
            <a:rect l="l" t="t" r="r" b="b"/>
            <a:pathLst>
              <a:path w="2171700" h="673100">
                <a:moveTo>
                  <a:pt x="101598" y="0"/>
                </a:moveTo>
                <a:lnTo>
                  <a:pt x="2070102" y="0"/>
                </a:lnTo>
                <a:cubicBezTo>
                  <a:pt x="2126213" y="0"/>
                  <a:pt x="2171700" y="45487"/>
                  <a:pt x="2171700" y="101598"/>
                </a:cubicBezTo>
                <a:lnTo>
                  <a:pt x="2171700" y="571502"/>
                </a:lnTo>
                <a:cubicBezTo>
                  <a:pt x="2171700" y="627613"/>
                  <a:pt x="2126213" y="673100"/>
                  <a:pt x="2070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41375" y="666591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33400" y="42267"/>
                </a:moveTo>
                <a:lnTo>
                  <a:pt x="75555" y="106561"/>
                </a:lnTo>
                <a:cubicBezTo>
                  <a:pt x="73273" y="109091"/>
                  <a:pt x="73372" y="113010"/>
                  <a:pt x="75803" y="115441"/>
                </a:cubicBezTo>
                <a:cubicBezTo>
                  <a:pt x="90934" y="130572"/>
                  <a:pt x="115491" y="130572"/>
                  <a:pt x="130621" y="115441"/>
                </a:cubicBezTo>
                <a:lnTo>
                  <a:pt x="146397" y="99665"/>
                </a:lnTo>
                <a:cubicBezTo>
                  <a:pt x="148481" y="97582"/>
                  <a:pt x="151110" y="96441"/>
                  <a:pt x="153789" y="96242"/>
                </a:cubicBezTo>
                <a:cubicBezTo>
                  <a:pt x="157163" y="95945"/>
                  <a:pt x="160635" y="97086"/>
                  <a:pt x="163215" y="99665"/>
                </a:cubicBezTo>
                <a:lnTo>
                  <a:pt x="250825" y="186531"/>
                </a:lnTo>
                <a:lnTo>
                  <a:pt x="285750" y="158750"/>
                </a:lnTo>
                <a:lnTo>
                  <a:pt x="285750" y="15875"/>
                </a:lnTo>
                <a:lnTo>
                  <a:pt x="230188" y="47625"/>
                </a:lnTo>
                <a:lnTo>
                  <a:pt x="218380" y="39737"/>
                </a:lnTo>
                <a:cubicBezTo>
                  <a:pt x="210542" y="34528"/>
                  <a:pt x="201364" y="31750"/>
                  <a:pt x="191939" y="31750"/>
                </a:cubicBezTo>
                <a:lnTo>
                  <a:pt x="157014" y="31750"/>
                </a:lnTo>
                <a:cubicBezTo>
                  <a:pt x="156468" y="31750"/>
                  <a:pt x="155873" y="31750"/>
                  <a:pt x="155327" y="31800"/>
                </a:cubicBezTo>
                <a:cubicBezTo>
                  <a:pt x="146943" y="32246"/>
                  <a:pt x="139055" y="36016"/>
                  <a:pt x="133400" y="42267"/>
                </a:cubicBezTo>
                <a:close/>
                <a:moveTo>
                  <a:pt x="57845" y="90636"/>
                </a:moveTo>
                <a:lnTo>
                  <a:pt x="110827" y="31750"/>
                </a:lnTo>
                <a:lnTo>
                  <a:pt x="91182" y="31750"/>
                </a:lnTo>
                <a:cubicBezTo>
                  <a:pt x="78532" y="31750"/>
                  <a:pt x="66427" y="36761"/>
                  <a:pt x="57497" y="45690"/>
                </a:cubicBezTo>
                <a:lnTo>
                  <a:pt x="55563" y="47625"/>
                </a:lnTo>
                <a:lnTo>
                  <a:pt x="0" y="15875"/>
                </a:lnTo>
                <a:lnTo>
                  <a:pt x="0" y="158750"/>
                </a:lnTo>
                <a:lnTo>
                  <a:pt x="77589" y="223391"/>
                </a:lnTo>
                <a:cubicBezTo>
                  <a:pt x="88999" y="232916"/>
                  <a:pt x="103386" y="238125"/>
                  <a:pt x="118219" y="238125"/>
                </a:cubicBezTo>
                <a:lnTo>
                  <a:pt x="126008" y="238125"/>
                </a:lnTo>
                <a:lnTo>
                  <a:pt x="122535" y="234652"/>
                </a:lnTo>
                <a:cubicBezTo>
                  <a:pt x="117872" y="229989"/>
                  <a:pt x="117872" y="222448"/>
                  <a:pt x="122535" y="217835"/>
                </a:cubicBezTo>
                <a:cubicBezTo>
                  <a:pt x="127198" y="213221"/>
                  <a:pt x="134739" y="213171"/>
                  <a:pt x="139353" y="217835"/>
                </a:cubicBezTo>
                <a:lnTo>
                  <a:pt x="159693" y="238175"/>
                </a:lnTo>
                <a:lnTo>
                  <a:pt x="164157" y="238175"/>
                </a:lnTo>
                <a:cubicBezTo>
                  <a:pt x="173633" y="238175"/>
                  <a:pt x="182910" y="236041"/>
                  <a:pt x="191343" y="232073"/>
                </a:cubicBezTo>
                <a:lnTo>
                  <a:pt x="178098" y="218777"/>
                </a:lnTo>
                <a:cubicBezTo>
                  <a:pt x="173434" y="214114"/>
                  <a:pt x="173434" y="206573"/>
                  <a:pt x="178098" y="201960"/>
                </a:cubicBezTo>
                <a:cubicBezTo>
                  <a:pt x="182761" y="197346"/>
                  <a:pt x="190302" y="197296"/>
                  <a:pt x="194915" y="201960"/>
                </a:cubicBezTo>
                <a:lnTo>
                  <a:pt x="210790" y="217835"/>
                </a:lnTo>
                <a:lnTo>
                  <a:pt x="219472" y="209153"/>
                </a:lnTo>
                <a:cubicBezTo>
                  <a:pt x="223887" y="204738"/>
                  <a:pt x="225177" y="198338"/>
                  <a:pt x="223242" y="192732"/>
                </a:cubicBezTo>
                <a:lnTo>
                  <a:pt x="154831" y="124867"/>
                </a:lnTo>
                <a:lnTo>
                  <a:pt x="147439" y="132259"/>
                </a:lnTo>
                <a:cubicBezTo>
                  <a:pt x="122982" y="156716"/>
                  <a:pt x="83393" y="156716"/>
                  <a:pt x="58936" y="132259"/>
                </a:cubicBezTo>
                <a:cubicBezTo>
                  <a:pt x="47526" y="120848"/>
                  <a:pt x="47079" y="102543"/>
                  <a:pt x="57845" y="90587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354138" y="6615113"/>
            <a:ext cx="11430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共识算法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98788" y="6450013"/>
            <a:ext cx="2171700" cy="673100"/>
          </a:xfrm>
          <a:custGeom>
            <a:avLst/>
            <a:gdLst/>
            <a:ahLst/>
            <a:cxnLst/>
            <a:rect l="l" t="t" r="r" b="b"/>
            <a:pathLst>
              <a:path w="2171700" h="673100">
                <a:moveTo>
                  <a:pt x="101598" y="0"/>
                </a:moveTo>
                <a:lnTo>
                  <a:pt x="2070102" y="0"/>
                </a:lnTo>
                <a:cubicBezTo>
                  <a:pt x="2126213" y="0"/>
                  <a:pt x="2171700" y="45487"/>
                  <a:pt x="2171700" y="101598"/>
                </a:cubicBezTo>
                <a:lnTo>
                  <a:pt x="2171700" y="571502"/>
                </a:lnTo>
                <a:cubicBezTo>
                  <a:pt x="2171700" y="627613"/>
                  <a:pt x="2126213" y="673100"/>
                  <a:pt x="2070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3357563" y="666591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838575" y="6615113"/>
            <a:ext cx="11430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数据分片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3225" y="6450013"/>
            <a:ext cx="2171700" cy="673100"/>
          </a:xfrm>
          <a:custGeom>
            <a:avLst/>
            <a:gdLst/>
            <a:ahLst/>
            <a:cxnLst/>
            <a:rect l="l" t="t" r="r" b="b"/>
            <a:pathLst>
              <a:path w="2171700" h="673100">
                <a:moveTo>
                  <a:pt x="101598" y="0"/>
                </a:moveTo>
                <a:lnTo>
                  <a:pt x="2070102" y="0"/>
                </a:lnTo>
                <a:cubicBezTo>
                  <a:pt x="2126213" y="0"/>
                  <a:pt x="2171700" y="45487"/>
                  <a:pt x="2171700" y="101598"/>
                </a:cubicBezTo>
                <a:lnTo>
                  <a:pt x="2171700" y="571502"/>
                </a:lnTo>
                <a:cubicBezTo>
                  <a:pt x="2171700" y="627613"/>
                  <a:pt x="2126213" y="673100"/>
                  <a:pt x="20701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5826125" y="66659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53529"/>
                </a:moveTo>
                <a:lnTo>
                  <a:pt x="119559" y="43210"/>
                </a:lnTo>
                <a:cubicBezTo>
                  <a:pt x="107156" y="26045"/>
                  <a:pt x="87263" y="15875"/>
                  <a:pt x="66030" y="15875"/>
                </a:cubicBezTo>
                <a:cubicBezTo>
                  <a:pt x="29567" y="15875"/>
                  <a:pt x="0" y="45442"/>
                  <a:pt x="0" y="81905"/>
                </a:cubicBezTo>
                <a:lnTo>
                  <a:pt x="0" y="83195"/>
                </a:lnTo>
                <a:cubicBezTo>
                  <a:pt x="0" y="94903"/>
                  <a:pt x="3076" y="107007"/>
                  <a:pt x="8235" y="119063"/>
                </a:cubicBezTo>
                <a:lnTo>
                  <a:pt x="60821" y="119063"/>
                </a:lnTo>
                <a:cubicBezTo>
                  <a:pt x="62409" y="119063"/>
                  <a:pt x="63847" y="118120"/>
                  <a:pt x="64492" y="116632"/>
                </a:cubicBezTo>
                <a:lnTo>
                  <a:pt x="80268" y="78780"/>
                </a:lnTo>
                <a:cubicBezTo>
                  <a:pt x="82104" y="74414"/>
                  <a:pt x="86370" y="71537"/>
                  <a:pt x="91083" y="71438"/>
                </a:cubicBezTo>
                <a:cubicBezTo>
                  <a:pt x="95796" y="71338"/>
                  <a:pt x="100161" y="74116"/>
                  <a:pt x="102096" y="78432"/>
                </a:cubicBezTo>
                <a:lnTo>
                  <a:pt x="127546" y="134938"/>
                </a:lnTo>
                <a:lnTo>
                  <a:pt x="148084" y="93861"/>
                </a:lnTo>
                <a:cubicBezTo>
                  <a:pt x="150118" y="89843"/>
                  <a:pt x="154236" y="87263"/>
                  <a:pt x="158750" y="87263"/>
                </a:cubicBezTo>
                <a:cubicBezTo>
                  <a:pt x="163264" y="87263"/>
                  <a:pt x="167382" y="89793"/>
                  <a:pt x="169416" y="93861"/>
                </a:cubicBezTo>
                <a:lnTo>
                  <a:pt x="180925" y="116830"/>
                </a:lnTo>
                <a:cubicBezTo>
                  <a:pt x="181620" y="118170"/>
                  <a:pt x="182959" y="119013"/>
                  <a:pt x="184497" y="119013"/>
                </a:cubicBezTo>
                <a:lnTo>
                  <a:pt x="245814" y="119013"/>
                </a:lnTo>
                <a:cubicBezTo>
                  <a:pt x="251023" y="106958"/>
                  <a:pt x="254050" y="94853"/>
                  <a:pt x="254050" y="83145"/>
                </a:cubicBezTo>
                <a:lnTo>
                  <a:pt x="254050" y="81855"/>
                </a:lnTo>
                <a:cubicBezTo>
                  <a:pt x="254000" y="45442"/>
                  <a:pt x="224433" y="15875"/>
                  <a:pt x="187970" y="15875"/>
                </a:cubicBezTo>
                <a:cubicBezTo>
                  <a:pt x="166787" y="15875"/>
                  <a:pt x="146844" y="26045"/>
                  <a:pt x="134441" y="43210"/>
                </a:cubicBezTo>
                <a:lnTo>
                  <a:pt x="127000" y="53479"/>
                </a:lnTo>
                <a:close/>
                <a:moveTo>
                  <a:pt x="232966" y="142875"/>
                </a:moveTo>
                <a:lnTo>
                  <a:pt x="184448" y="142875"/>
                </a:lnTo>
                <a:cubicBezTo>
                  <a:pt x="173930" y="142875"/>
                  <a:pt x="164306" y="136922"/>
                  <a:pt x="159593" y="127496"/>
                </a:cubicBezTo>
                <a:lnTo>
                  <a:pt x="158750" y="125809"/>
                </a:lnTo>
                <a:lnTo>
                  <a:pt x="137666" y="168027"/>
                </a:lnTo>
                <a:cubicBezTo>
                  <a:pt x="135632" y="172145"/>
                  <a:pt x="131366" y="174724"/>
                  <a:pt x="126752" y="174625"/>
                </a:cubicBezTo>
                <a:cubicBezTo>
                  <a:pt x="122138" y="174526"/>
                  <a:pt x="118021" y="171797"/>
                  <a:pt x="116136" y="167630"/>
                </a:cubicBezTo>
                <a:lnTo>
                  <a:pt x="91678" y="113308"/>
                </a:lnTo>
                <a:lnTo>
                  <a:pt x="86469" y="125809"/>
                </a:lnTo>
                <a:cubicBezTo>
                  <a:pt x="82153" y="136178"/>
                  <a:pt x="72033" y="142925"/>
                  <a:pt x="60821" y="142925"/>
                </a:cubicBezTo>
                <a:lnTo>
                  <a:pt x="21034" y="142925"/>
                </a:lnTo>
                <a:cubicBezTo>
                  <a:pt x="44450" y="179536"/>
                  <a:pt x="82054" y="213221"/>
                  <a:pt x="105569" y="231180"/>
                </a:cubicBezTo>
                <a:cubicBezTo>
                  <a:pt x="111720" y="235843"/>
                  <a:pt x="119261" y="238175"/>
                  <a:pt x="126950" y="238175"/>
                </a:cubicBezTo>
                <a:cubicBezTo>
                  <a:pt x="134640" y="238175"/>
                  <a:pt x="142230" y="235893"/>
                  <a:pt x="148332" y="231180"/>
                </a:cubicBezTo>
                <a:cubicBezTo>
                  <a:pt x="171946" y="213171"/>
                  <a:pt x="209550" y="179487"/>
                  <a:pt x="232966" y="1428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323013" y="6615113"/>
            <a:ext cx="11430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7261" y="447261"/>
            <a:ext cx="2782957" cy="452783"/>
          </a:xfrm>
          <a:custGeom>
            <a:avLst/>
            <a:gdLst/>
            <a:ahLst/>
            <a:cxnLst/>
            <a:rect l="l" t="t" r="r" b="b"/>
            <a:pathLst>
              <a:path w="2782957" h="452783">
                <a:moveTo>
                  <a:pt x="44173" y="0"/>
                </a:moveTo>
                <a:lnTo>
                  <a:pt x="2738783" y="0"/>
                </a:lnTo>
                <a:cubicBezTo>
                  <a:pt x="2763179" y="0"/>
                  <a:pt x="2782957" y="19777"/>
                  <a:pt x="2782957" y="44173"/>
                </a:cubicBezTo>
                <a:lnTo>
                  <a:pt x="2782957" y="408609"/>
                </a:lnTo>
                <a:cubicBezTo>
                  <a:pt x="2782957" y="433005"/>
                  <a:pt x="2763179" y="452783"/>
                  <a:pt x="2738783" y="452783"/>
                </a:cubicBezTo>
                <a:lnTo>
                  <a:pt x="44173" y="452783"/>
                </a:lnTo>
                <a:cubicBezTo>
                  <a:pt x="19777" y="452783"/>
                  <a:pt x="0" y="433005"/>
                  <a:pt x="0" y="408609"/>
                </a:cubicBezTo>
                <a:lnTo>
                  <a:pt x="0" y="44173"/>
                </a:lnTo>
                <a:cubicBezTo>
                  <a:pt x="0" y="19793"/>
                  <a:pt x="19793" y="0"/>
                  <a:pt x="44173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9478" y="557696"/>
            <a:ext cx="2510752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kern="0" spc="7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CONSENSUS ALGORITHMS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1739" y="993913"/>
            <a:ext cx="15571304" cy="441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3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共识算法:Raft与拜占庭容错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7261" y="1573696"/>
            <a:ext cx="7586870" cy="3611217"/>
          </a:xfrm>
          <a:custGeom>
            <a:avLst/>
            <a:gdLst/>
            <a:ahLst/>
            <a:cxnLst/>
            <a:rect l="l" t="t" r="r" b="b"/>
            <a:pathLst>
              <a:path w="7586870" h="3611217">
                <a:moveTo>
                  <a:pt x="88330" y="0"/>
                </a:moveTo>
                <a:lnTo>
                  <a:pt x="7498539" y="0"/>
                </a:lnTo>
                <a:cubicBezTo>
                  <a:pt x="7547323" y="0"/>
                  <a:pt x="7586870" y="39547"/>
                  <a:pt x="7586870" y="88330"/>
                </a:cubicBezTo>
                <a:lnTo>
                  <a:pt x="7586870" y="3522887"/>
                </a:lnTo>
                <a:cubicBezTo>
                  <a:pt x="7586870" y="3571671"/>
                  <a:pt x="7547323" y="3611217"/>
                  <a:pt x="7498539" y="3611217"/>
                </a:cubicBezTo>
                <a:lnTo>
                  <a:pt x="88330" y="3611217"/>
                </a:lnTo>
                <a:cubicBezTo>
                  <a:pt x="39547" y="3611217"/>
                  <a:pt x="0" y="3571671"/>
                  <a:pt x="0" y="3522887"/>
                </a:cubicBezTo>
                <a:lnTo>
                  <a:pt x="0" y="88330"/>
                </a:lnTo>
                <a:cubicBezTo>
                  <a:pt x="0" y="39580"/>
                  <a:pt x="39580" y="0"/>
                  <a:pt x="88330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3283" y="1800087"/>
            <a:ext cx="248478" cy="220870"/>
          </a:xfrm>
          <a:custGeom>
            <a:avLst/>
            <a:gdLst/>
            <a:ahLst/>
            <a:cxnLst/>
            <a:rect l="l" t="t" r="r" b="b"/>
            <a:pathLst>
              <a:path w="248478" h="220870">
                <a:moveTo>
                  <a:pt x="116000" y="36754"/>
                </a:moveTo>
                <a:lnTo>
                  <a:pt x="65700" y="92662"/>
                </a:lnTo>
                <a:cubicBezTo>
                  <a:pt x="63716" y="94862"/>
                  <a:pt x="63802" y="98270"/>
                  <a:pt x="65916" y="100383"/>
                </a:cubicBezTo>
                <a:cubicBezTo>
                  <a:pt x="79073" y="113541"/>
                  <a:pt x="100427" y="113541"/>
                  <a:pt x="113584" y="100383"/>
                </a:cubicBezTo>
                <a:lnTo>
                  <a:pt x="127302" y="86665"/>
                </a:lnTo>
                <a:cubicBezTo>
                  <a:pt x="129114" y="84854"/>
                  <a:pt x="131400" y="83861"/>
                  <a:pt x="133730" y="83689"/>
                </a:cubicBezTo>
                <a:cubicBezTo>
                  <a:pt x="136663" y="83430"/>
                  <a:pt x="139683" y="84422"/>
                  <a:pt x="141926" y="86665"/>
                </a:cubicBezTo>
                <a:lnTo>
                  <a:pt x="218109" y="162201"/>
                </a:lnTo>
                <a:lnTo>
                  <a:pt x="248478" y="138043"/>
                </a:lnTo>
                <a:lnTo>
                  <a:pt x="248478" y="13804"/>
                </a:lnTo>
                <a:lnTo>
                  <a:pt x="200163" y="41413"/>
                </a:lnTo>
                <a:lnTo>
                  <a:pt x="189896" y="34554"/>
                </a:lnTo>
                <a:cubicBezTo>
                  <a:pt x="183080" y="30024"/>
                  <a:pt x="175100" y="27609"/>
                  <a:pt x="166903" y="27609"/>
                </a:cubicBezTo>
                <a:lnTo>
                  <a:pt x="136534" y="27609"/>
                </a:lnTo>
                <a:cubicBezTo>
                  <a:pt x="136059" y="27609"/>
                  <a:pt x="135541" y="27609"/>
                  <a:pt x="135067" y="27652"/>
                </a:cubicBezTo>
                <a:cubicBezTo>
                  <a:pt x="127776" y="28040"/>
                  <a:pt x="120917" y="31319"/>
                  <a:pt x="116000" y="36754"/>
                </a:cubicBezTo>
                <a:close/>
                <a:moveTo>
                  <a:pt x="50300" y="78814"/>
                </a:moveTo>
                <a:lnTo>
                  <a:pt x="96372" y="27609"/>
                </a:lnTo>
                <a:lnTo>
                  <a:pt x="79289" y="27609"/>
                </a:lnTo>
                <a:cubicBezTo>
                  <a:pt x="68288" y="27609"/>
                  <a:pt x="57763" y="31966"/>
                  <a:pt x="49998" y="39731"/>
                </a:cubicBezTo>
                <a:lnTo>
                  <a:pt x="48315" y="41413"/>
                </a:lnTo>
                <a:lnTo>
                  <a:pt x="0" y="13804"/>
                </a:lnTo>
                <a:lnTo>
                  <a:pt x="0" y="138043"/>
                </a:lnTo>
                <a:lnTo>
                  <a:pt x="67469" y="194253"/>
                </a:lnTo>
                <a:cubicBezTo>
                  <a:pt x="77391" y="202536"/>
                  <a:pt x="89901" y="207065"/>
                  <a:pt x="102799" y="207065"/>
                </a:cubicBezTo>
                <a:lnTo>
                  <a:pt x="109572" y="207065"/>
                </a:lnTo>
                <a:lnTo>
                  <a:pt x="106552" y="204046"/>
                </a:lnTo>
                <a:cubicBezTo>
                  <a:pt x="102497" y="199990"/>
                  <a:pt x="102497" y="193433"/>
                  <a:pt x="106552" y="189422"/>
                </a:cubicBezTo>
                <a:cubicBezTo>
                  <a:pt x="110607" y="185410"/>
                  <a:pt x="117164" y="185367"/>
                  <a:pt x="121176" y="189422"/>
                </a:cubicBezTo>
                <a:lnTo>
                  <a:pt x="138863" y="207108"/>
                </a:lnTo>
                <a:lnTo>
                  <a:pt x="142746" y="207108"/>
                </a:lnTo>
                <a:cubicBezTo>
                  <a:pt x="150985" y="207108"/>
                  <a:pt x="159052" y="205253"/>
                  <a:pt x="166386" y="201802"/>
                </a:cubicBezTo>
                <a:lnTo>
                  <a:pt x="154868" y="190241"/>
                </a:lnTo>
                <a:cubicBezTo>
                  <a:pt x="150813" y="186186"/>
                  <a:pt x="150813" y="179629"/>
                  <a:pt x="154868" y="175617"/>
                </a:cubicBezTo>
                <a:cubicBezTo>
                  <a:pt x="158923" y="171605"/>
                  <a:pt x="165480" y="171562"/>
                  <a:pt x="169492" y="175617"/>
                </a:cubicBezTo>
                <a:lnTo>
                  <a:pt x="183296" y="189422"/>
                </a:lnTo>
                <a:lnTo>
                  <a:pt x="190845" y="181872"/>
                </a:lnTo>
                <a:cubicBezTo>
                  <a:pt x="194684" y="178033"/>
                  <a:pt x="195806" y="172468"/>
                  <a:pt x="194124" y="167593"/>
                </a:cubicBezTo>
                <a:lnTo>
                  <a:pt x="134636" y="108580"/>
                </a:lnTo>
                <a:lnTo>
                  <a:pt x="128208" y="115007"/>
                </a:lnTo>
                <a:cubicBezTo>
                  <a:pt x="106941" y="136275"/>
                  <a:pt x="72516" y="136275"/>
                  <a:pt x="51249" y="115007"/>
                </a:cubicBezTo>
                <a:cubicBezTo>
                  <a:pt x="41327" y="105086"/>
                  <a:pt x="40939" y="89167"/>
                  <a:pt x="50300" y="7877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20802" y="1755913"/>
            <a:ext cx="6941546" cy="309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Raft算法详解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9478" y="2197652"/>
            <a:ext cx="7310783" cy="287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1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Raft通过</a:t>
            </a:r>
            <a:r>
              <a:rPr lang="en-US" sz="139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"强领导者"</a:t>
            </a:r>
            <a:r>
              <a:rPr lang="en-US" sz="1391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模式简化共识过程:先选出唯一领导者,再由领导者负责日志复制。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1565" y="2617304"/>
            <a:ext cx="7200348" cy="706783"/>
          </a:xfrm>
          <a:custGeom>
            <a:avLst/>
            <a:gdLst/>
            <a:ahLst/>
            <a:cxnLst/>
            <a:rect l="l" t="t" r="r" b="b"/>
            <a:pathLst>
              <a:path w="7200348" h="706783">
                <a:moveTo>
                  <a:pt x="44174" y="0"/>
                </a:moveTo>
                <a:lnTo>
                  <a:pt x="7156174" y="0"/>
                </a:lnTo>
                <a:cubicBezTo>
                  <a:pt x="7180570" y="0"/>
                  <a:pt x="7200348" y="19777"/>
                  <a:pt x="7200348" y="44174"/>
                </a:cubicBezTo>
                <a:lnTo>
                  <a:pt x="7200348" y="662609"/>
                </a:lnTo>
                <a:cubicBezTo>
                  <a:pt x="7200348" y="687005"/>
                  <a:pt x="7180570" y="706783"/>
                  <a:pt x="7156174" y="706783"/>
                </a:cubicBezTo>
                <a:lnTo>
                  <a:pt x="44174" y="706783"/>
                </a:lnTo>
                <a:cubicBezTo>
                  <a:pt x="19777" y="706783"/>
                  <a:pt x="0" y="687005"/>
                  <a:pt x="0" y="662609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51565" y="2617304"/>
            <a:ext cx="44174" cy="706783"/>
          </a:xfrm>
          <a:custGeom>
            <a:avLst/>
            <a:gdLst/>
            <a:ahLst/>
            <a:cxnLst/>
            <a:rect l="l" t="t" r="r" b="b"/>
            <a:pathLst>
              <a:path w="44174" h="706783">
                <a:moveTo>
                  <a:pt x="44174" y="0"/>
                </a:moveTo>
                <a:lnTo>
                  <a:pt x="44174" y="0"/>
                </a:lnTo>
                <a:lnTo>
                  <a:pt x="44174" y="706783"/>
                </a:lnTo>
                <a:lnTo>
                  <a:pt x="44174" y="706783"/>
                </a:lnTo>
                <a:cubicBezTo>
                  <a:pt x="19777" y="706783"/>
                  <a:pt x="0" y="687005"/>
                  <a:pt x="0" y="662609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6174" y="2705652"/>
            <a:ext cx="7045739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领导者选举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6174" y="3014870"/>
            <a:ext cx="7034696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节点超时后发起选举,获得多数票者成为领导者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1565" y="3456609"/>
            <a:ext cx="7200348" cy="706783"/>
          </a:xfrm>
          <a:custGeom>
            <a:avLst/>
            <a:gdLst/>
            <a:ahLst/>
            <a:cxnLst/>
            <a:rect l="l" t="t" r="r" b="b"/>
            <a:pathLst>
              <a:path w="7200348" h="706783">
                <a:moveTo>
                  <a:pt x="44174" y="0"/>
                </a:moveTo>
                <a:lnTo>
                  <a:pt x="7156174" y="0"/>
                </a:lnTo>
                <a:cubicBezTo>
                  <a:pt x="7180570" y="0"/>
                  <a:pt x="7200348" y="19777"/>
                  <a:pt x="7200348" y="44174"/>
                </a:cubicBezTo>
                <a:lnTo>
                  <a:pt x="7200348" y="662609"/>
                </a:lnTo>
                <a:cubicBezTo>
                  <a:pt x="7200348" y="687005"/>
                  <a:pt x="7180570" y="706783"/>
                  <a:pt x="7156174" y="706783"/>
                </a:cubicBezTo>
                <a:lnTo>
                  <a:pt x="44174" y="706783"/>
                </a:lnTo>
                <a:cubicBezTo>
                  <a:pt x="19777" y="706783"/>
                  <a:pt x="0" y="687005"/>
                  <a:pt x="0" y="662609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51565" y="3456609"/>
            <a:ext cx="44174" cy="706783"/>
          </a:xfrm>
          <a:custGeom>
            <a:avLst/>
            <a:gdLst/>
            <a:ahLst/>
            <a:cxnLst/>
            <a:rect l="l" t="t" r="r" b="b"/>
            <a:pathLst>
              <a:path w="44174" h="706783">
                <a:moveTo>
                  <a:pt x="44174" y="0"/>
                </a:moveTo>
                <a:lnTo>
                  <a:pt x="44174" y="0"/>
                </a:lnTo>
                <a:lnTo>
                  <a:pt x="44174" y="706783"/>
                </a:lnTo>
                <a:lnTo>
                  <a:pt x="44174" y="706783"/>
                </a:lnTo>
                <a:cubicBezTo>
                  <a:pt x="19777" y="706783"/>
                  <a:pt x="0" y="687005"/>
                  <a:pt x="0" y="662609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06174" y="3544957"/>
            <a:ext cx="7045739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日志复制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6174" y="3854174"/>
            <a:ext cx="7034696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领导者接收客户端请求,复制到多数节点后提交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1565" y="4295913"/>
            <a:ext cx="7200348" cy="706783"/>
          </a:xfrm>
          <a:custGeom>
            <a:avLst/>
            <a:gdLst/>
            <a:ahLst/>
            <a:cxnLst/>
            <a:rect l="l" t="t" r="r" b="b"/>
            <a:pathLst>
              <a:path w="7200348" h="706783">
                <a:moveTo>
                  <a:pt x="44174" y="0"/>
                </a:moveTo>
                <a:lnTo>
                  <a:pt x="7156174" y="0"/>
                </a:lnTo>
                <a:cubicBezTo>
                  <a:pt x="7180570" y="0"/>
                  <a:pt x="7200348" y="19777"/>
                  <a:pt x="7200348" y="44174"/>
                </a:cubicBezTo>
                <a:lnTo>
                  <a:pt x="7200348" y="662609"/>
                </a:lnTo>
                <a:cubicBezTo>
                  <a:pt x="7200348" y="687005"/>
                  <a:pt x="7180570" y="706783"/>
                  <a:pt x="7156174" y="706783"/>
                </a:cubicBezTo>
                <a:lnTo>
                  <a:pt x="44174" y="706783"/>
                </a:lnTo>
                <a:cubicBezTo>
                  <a:pt x="19777" y="706783"/>
                  <a:pt x="0" y="687005"/>
                  <a:pt x="0" y="662609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51565" y="4295913"/>
            <a:ext cx="44174" cy="706783"/>
          </a:xfrm>
          <a:custGeom>
            <a:avLst/>
            <a:gdLst/>
            <a:ahLst/>
            <a:cxnLst/>
            <a:rect l="l" t="t" r="r" b="b"/>
            <a:pathLst>
              <a:path w="44174" h="706783">
                <a:moveTo>
                  <a:pt x="44174" y="0"/>
                </a:moveTo>
                <a:lnTo>
                  <a:pt x="44174" y="0"/>
                </a:lnTo>
                <a:lnTo>
                  <a:pt x="44174" y="706783"/>
                </a:lnTo>
                <a:lnTo>
                  <a:pt x="44174" y="706783"/>
                </a:lnTo>
                <a:cubicBezTo>
                  <a:pt x="19777" y="706783"/>
                  <a:pt x="0" y="687005"/>
                  <a:pt x="0" y="662609"/>
                </a:cubicBezTo>
                <a:lnTo>
                  <a:pt x="0" y="44174"/>
                </a:lnTo>
                <a:cubicBezTo>
                  <a:pt x="0" y="19794"/>
                  <a:pt x="19794" y="0"/>
                  <a:pt x="4417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6174" y="4384261"/>
            <a:ext cx="7045739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安全性保证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6174" y="4693478"/>
            <a:ext cx="7034696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选举安全性、日志匹配性、领导者完整性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1870" y="1573696"/>
            <a:ext cx="7586870" cy="3611217"/>
          </a:xfrm>
          <a:custGeom>
            <a:avLst/>
            <a:gdLst/>
            <a:ahLst/>
            <a:cxnLst/>
            <a:rect l="l" t="t" r="r" b="b"/>
            <a:pathLst>
              <a:path w="7586870" h="3611217">
                <a:moveTo>
                  <a:pt x="88330" y="0"/>
                </a:moveTo>
                <a:lnTo>
                  <a:pt x="7498539" y="0"/>
                </a:lnTo>
                <a:cubicBezTo>
                  <a:pt x="7547323" y="0"/>
                  <a:pt x="7586870" y="39547"/>
                  <a:pt x="7586870" y="88330"/>
                </a:cubicBezTo>
                <a:lnTo>
                  <a:pt x="7586870" y="3522887"/>
                </a:lnTo>
                <a:cubicBezTo>
                  <a:pt x="7586870" y="3571671"/>
                  <a:pt x="7547323" y="3611217"/>
                  <a:pt x="7498539" y="3611217"/>
                </a:cubicBezTo>
                <a:lnTo>
                  <a:pt x="88330" y="3611217"/>
                </a:lnTo>
                <a:cubicBezTo>
                  <a:pt x="39547" y="3611217"/>
                  <a:pt x="0" y="3571671"/>
                  <a:pt x="0" y="3522887"/>
                </a:cubicBezTo>
                <a:lnTo>
                  <a:pt x="0" y="88330"/>
                </a:lnTo>
                <a:cubicBezTo>
                  <a:pt x="0" y="39580"/>
                  <a:pt x="39580" y="0"/>
                  <a:pt x="88330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404087" y="1800087"/>
            <a:ext cx="276087" cy="220870"/>
          </a:xfrm>
          <a:custGeom>
            <a:avLst/>
            <a:gdLst/>
            <a:ahLst/>
            <a:cxnLst/>
            <a:rect l="l" t="t" r="r" b="b"/>
            <a:pathLst>
              <a:path w="276087" h="220870">
                <a:moveTo>
                  <a:pt x="165652" y="13804"/>
                </a:moveTo>
                <a:lnTo>
                  <a:pt x="220870" y="13804"/>
                </a:lnTo>
                <a:cubicBezTo>
                  <a:pt x="228505" y="13804"/>
                  <a:pt x="234674" y="19973"/>
                  <a:pt x="234674" y="27609"/>
                </a:cubicBezTo>
                <a:cubicBezTo>
                  <a:pt x="234674" y="35244"/>
                  <a:pt x="228505" y="41413"/>
                  <a:pt x="220870" y="41413"/>
                </a:cubicBezTo>
                <a:lnTo>
                  <a:pt x="171864" y="41413"/>
                </a:lnTo>
                <a:cubicBezTo>
                  <a:pt x="169621" y="52543"/>
                  <a:pt x="161985" y="61731"/>
                  <a:pt x="151848" y="66131"/>
                </a:cubicBezTo>
                <a:lnTo>
                  <a:pt x="151848" y="193261"/>
                </a:lnTo>
                <a:lnTo>
                  <a:pt x="220870" y="193261"/>
                </a:lnTo>
                <a:cubicBezTo>
                  <a:pt x="228505" y="193261"/>
                  <a:pt x="234674" y="199430"/>
                  <a:pt x="234674" y="207065"/>
                </a:cubicBezTo>
                <a:cubicBezTo>
                  <a:pt x="234674" y="214701"/>
                  <a:pt x="228505" y="220870"/>
                  <a:pt x="220870" y="220870"/>
                </a:cubicBezTo>
                <a:lnTo>
                  <a:pt x="55217" y="220870"/>
                </a:lnTo>
                <a:cubicBezTo>
                  <a:pt x="47582" y="220870"/>
                  <a:pt x="41413" y="214701"/>
                  <a:pt x="41413" y="207065"/>
                </a:cubicBezTo>
                <a:cubicBezTo>
                  <a:pt x="41413" y="199430"/>
                  <a:pt x="47582" y="193261"/>
                  <a:pt x="55217" y="193261"/>
                </a:cubicBezTo>
                <a:lnTo>
                  <a:pt x="124239" y="193261"/>
                </a:lnTo>
                <a:lnTo>
                  <a:pt x="124239" y="66131"/>
                </a:lnTo>
                <a:cubicBezTo>
                  <a:pt x="114102" y="61688"/>
                  <a:pt x="106466" y="52500"/>
                  <a:pt x="104223" y="41413"/>
                </a:cubicBezTo>
                <a:lnTo>
                  <a:pt x="55217" y="41413"/>
                </a:lnTo>
                <a:cubicBezTo>
                  <a:pt x="47582" y="41413"/>
                  <a:pt x="41413" y="35244"/>
                  <a:pt x="41413" y="27609"/>
                </a:cubicBezTo>
                <a:cubicBezTo>
                  <a:pt x="41413" y="19973"/>
                  <a:pt x="47582" y="13804"/>
                  <a:pt x="55217" y="13804"/>
                </a:cubicBezTo>
                <a:lnTo>
                  <a:pt x="110435" y="13804"/>
                </a:lnTo>
                <a:cubicBezTo>
                  <a:pt x="116733" y="5435"/>
                  <a:pt x="126741" y="0"/>
                  <a:pt x="138043" y="0"/>
                </a:cubicBezTo>
                <a:cubicBezTo>
                  <a:pt x="149346" y="0"/>
                  <a:pt x="159354" y="5435"/>
                  <a:pt x="165652" y="13804"/>
                </a:cubicBezTo>
                <a:close/>
                <a:moveTo>
                  <a:pt x="189637" y="138043"/>
                </a:moveTo>
                <a:lnTo>
                  <a:pt x="252102" y="138043"/>
                </a:lnTo>
                <a:lnTo>
                  <a:pt x="220870" y="84465"/>
                </a:lnTo>
                <a:lnTo>
                  <a:pt x="189637" y="138043"/>
                </a:lnTo>
                <a:close/>
                <a:moveTo>
                  <a:pt x="220870" y="179457"/>
                </a:moveTo>
                <a:cubicBezTo>
                  <a:pt x="193735" y="179457"/>
                  <a:pt x="171174" y="164789"/>
                  <a:pt x="166515" y="145420"/>
                </a:cubicBezTo>
                <a:cubicBezTo>
                  <a:pt x="165393" y="140675"/>
                  <a:pt x="166946" y="135800"/>
                  <a:pt x="169405" y="131573"/>
                </a:cubicBezTo>
                <a:lnTo>
                  <a:pt x="210473" y="61171"/>
                </a:lnTo>
                <a:cubicBezTo>
                  <a:pt x="212630" y="57461"/>
                  <a:pt x="216599" y="55217"/>
                  <a:pt x="220870" y="55217"/>
                </a:cubicBezTo>
                <a:cubicBezTo>
                  <a:pt x="225140" y="55217"/>
                  <a:pt x="229109" y="57504"/>
                  <a:pt x="231266" y="61171"/>
                </a:cubicBezTo>
                <a:lnTo>
                  <a:pt x="272334" y="131573"/>
                </a:lnTo>
                <a:cubicBezTo>
                  <a:pt x="274793" y="135800"/>
                  <a:pt x="276346" y="140675"/>
                  <a:pt x="275224" y="145420"/>
                </a:cubicBezTo>
                <a:cubicBezTo>
                  <a:pt x="270565" y="164746"/>
                  <a:pt x="248004" y="179457"/>
                  <a:pt x="220870" y="179457"/>
                </a:cubicBezTo>
                <a:close/>
                <a:moveTo>
                  <a:pt x="54700" y="84465"/>
                </a:moveTo>
                <a:lnTo>
                  <a:pt x="23467" y="138043"/>
                </a:lnTo>
                <a:lnTo>
                  <a:pt x="85975" y="138043"/>
                </a:lnTo>
                <a:lnTo>
                  <a:pt x="54700" y="84465"/>
                </a:lnTo>
                <a:close/>
                <a:moveTo>
                  <a:pt x="388" y="145420"/>
                </a:moveTo>
                <a:cubicBezTo>
                  <a:pt x="-733" y="140675"/>
                  <a:pt x="820" y="135800"/>
                  <a:pt x="3279" y="131573"/>
                </a:cubicBezTo>
                <a:lnTo>
                  <a:pt x="44346" y="61171"/>
                </a:lnTo>
                <a:cubicBezTo>
                  <a:pt x="46503" y="57461"/>
                  <a:pt x="50472" y="55217"/>
                  <a:pt x="54743" y="55217"/>
                </a:cubicBezTo>
                <a:cubicBezTo>
                  <a:pt x="59014" y="55217"/>
                  <a:pt x="62982" y="57504"/>
                  <a:pt x="65139" y="61171"/>
                </a:cubicBezTo>
                <a:lnTo>
                  <a:pt x="106207" y="131573"/>
                </a:lnTo>
                <a:cubicBezTo>
                  <a:pt x="108666" y="135800"/>
                  <a:pt x="110219" y="140675"/>
                  <a:pt x="109097" y="145420"/>
                </a:cubicBezTo>
                <a:cubicBezTo>
                  <a:pt x="104439" y="164746"/>
                  <a:pt x="81877" y="179457"/>
                  <a:pt x="54743" y="179457"/>
                </a:cubicBezTo>
                <a:cubicBezTo>
                  <a:pt x="27609" y="179457"/>
                  <a:pt x="5047" y="164789"/>
                  <a:pt x="388" y="14542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795410" y="1755913"/>
            <a:ext cx="6941546" cy="309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共识算法对比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04087" y="2197652"/>
          <a:ext cx="7222435" cy="2805045"/>
        </p:xfrm>
        <a:graphic>
          <a:graphicData uri="http://schemas.openxmlformats.org/drawingml/2006/table">
            <a:tbl>
              <a:tblPr/>
              <a:tblGrid>
                <a:gridCol w="1003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5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1009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理解难度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容错能力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00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Raft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05DF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崩溃故障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大多数分布式系统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00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Paxos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崩溃故障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对正确性要求极高的系统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00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PBFT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很高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很高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拜占庭故障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区块链、金融系统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00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Gossip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05DF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05DF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网络分区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最终一致性系统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447261" y="5328478"/>
            <a:ext cx="7586870" cy="3081130"/>
          </a:xfrm>
          <a:custGeom>
            <a:avLst/>
            <a:gdLst/>
            <a:ahLst/>
            <a:cxnLst/>
            <a:rect l="l" t="t" r="r" b="b"/>
            <a:pathLst>
              <a:path w="7586870" h="3081130">
                <a:moveTo>
                  <a:pt x="88336" y="0"/>
                </a:moveTo>
                <a:lnTo>
                  <a:pt x="7498534" y="0"/>
                </a:lnTo>
                <a:cubicBezTo>
                  <a:pt x="7547320" y="0"/>
                  <a:pt x="7586870" y="39549"/>
                  <a:pt x="7586870" y="88336"/>
                </a:cubicBezTo>
                <a:lnTo>
                  <a:pt x="7586870" y="2992794"/>
                </a:lnTo>
                <a:cubicBezTo>
                  <a:pt x="7586870" y="3041581"/>
                  <a:pt x="7547320" y="3081130"/>
                  <a:pt x="7498534" y="3081130"/>
                </a:cubicBezTo>
                <a:lnTo>
                  <a:pt x="88336" y="3081130"/>
                </a:lnTo>
                <a:cubicBezTo>
                  <a:pt x="39549" y="3081130"/>
                  <a:pt x="0" y="3041581"/>
                  <a:pt x="0" y="2992794"/>
                </a:cubicBezTo>
                <a:lnTo>
                  <a:pt x="0" y="88336"/>
                </a:lnTo>
                <a:cubicBezTo>
                  <a:pt x="0" y="39582"/>
                  <a:pt x="39582" y="0"/>
                  <a:pt x="8833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657087" y="5554870"/>
            <a:ext cx="220870" cy="220870"/>
          </a:xfrm>
          <a:custGeom>
            <a:avLst/>
            <a:gdLst/>
            <a:ahLst/>
            <a:cxnLst/>
            <a:rect l="l" t="t" r="r" b="b"/>
            <a:pathLst>
              <a:path w="220870" h="220870">
                <a:moveTo>
                  <a:pt x="110435" y="0"/>
                </a:moveTo>
                <a:cubicBezTo>
                  <a:pt x="112419" y="0"/>
                  <a:pt x="114404" y="431"/>
                  <a:pt x="116215" y="1251"/>
                </a:cubicBezTo>
                <a:lnTo>
                  <a:pt x="197488" y="35719"/>
                </a:lnTo>
                <a:cubicBezTo>
                  <a:pt x="206979" y="39731"/>
                  <a:pt x="214054" y="49092"/>
                  <a:pt x="214011" y="60394"/>
                </a:cubicBezTo>
                <a:cubicBezTo>
                  <a:pt x="213795" y="103187"/>
                  <a:pt x="196194" y="181484"/>
                  <a:pt x="121867" y="217073"/>
                </a:cubicBezTo>
                <a:cubicBezTo>
                  <a:pt x="114662" y="220524"/>
                  <a:pt x="106293" y="220524"/>
                  <a:pt x="99089" y="217073"/>
                </a:cubicBezTo>
                <a:cubicBezTo>
                  <a:pt x="24718" y="181484"/>
                  <a:pt x="7161" y="103187"/>
                  <a:pt x="6945" y="60394"/>
                </a:cubicBezTo>
                <a:cubicBezTo>
                  <a:pt x="6902" y="49092"/>
                  <a:pt x="13977" y="39731"/>
                  <a:pt x="23467" y="35719"/>
                </a:cubicBezTo>
                <a:lnTo>
                  <a:pt x="104697" y="1251"/>
                </a:lnTo>
                <a:cubicBezTo>
                  <a:pt x="106509" y="431"/>
                  <a:pt x="108450" y="0"/>
                  <a:pt x="110435" y="0"/>
                </a:cubicBezTo>
                <a:close/>
                <a:moveTo>
                  <a:pt x="110435" y="28817"/>
                </a:moveTo>
                <a:lnTo>
                  <a:pt x="110435" y="191924"/>
                </a:lnTo>
                <a:cubicBezTo>
                  <a:pt x="169966" y="163107"/>
                  <a:pt x="185970" y="99262"/>
                  <a:pt x="186359" y="61041"/>
                </a:cubicBezTo>
                <a:lnTo>
                  <a:pt x="110435" y="28860"/>
                </a:lnTo>
                <a:lnTo>
                  <a:pt x="110435" y="2886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1020802" y="5510696"/>
            <a:ext cx="6941546" cy="309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拜占庭容错算法(PBFT)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29478" y="5952435"/>
            <a:ext cx="7310783" cy="574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1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在存在恶意节点的环境中,需要使用拜占庭容错算法。PBFT可容忍</a:t>
            </a:r>
            <a:r>
              <a:rPr lang="en-US" sz="1391" b="1" dirty="0">
                <a:solidFill>
                  <a:srgbClr val="D4A237"/>
                </a:solidFill>
                <a:highlight>
                  <a:srgbClr val="D4A23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f个拜占庭故障 </a:t>
            </a:r>
            <a:r>
              <a:rPr lang="en-US" sz="1391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,需要</a:t>
            </a:r>
            <a:r>
              <a:rPr lang="en-US" sz="1391" b="1" dirty="0">
                <a:solidFill>
                  <a:srgbClr val="D4A237"/>
                </a:solidFill>
                <a:highlight>
                  <a:srgbClr val="D4A237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3f+1个节点 </a:t>
            </a:r>
            <a:r>
              <a:rPr lang="en-US" sz="1391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478" y="6615043"/>
          <a:ext cx="7222435" cy="1612348"/>
        </p:xfrm>
        <a:graphic>
          <a:graphicData uri="http://schemas.openxmlformats.org/drawingml/2006/table">
            <a:tbl>
              <a:tblPr/>
              <a:tblGrid>
                <a:gridCol w="1800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2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087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08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容错能力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可容忍f个拜占庭故障,需要3f+1个节点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08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协议阶段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预准备、准备、提交(每阶段需2f+1个确认)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08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消息复杂度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O(n²),适用于小规模网络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8221870" y="5328478"/>
            <a:ext cx="7586870" cy="3081130"/>
          </a:xfrm>
          <a:custGeom>
            <a:avLst/>
            <a:gdLst/>
            <a:ahLst/>
            <a:cxnLst/>
            <a:rect l="l" t="t" r="r" b="b"/>
            <a:pathLst>
              <a:path w="7586870" h="3081130">
                <a:moveTo>
                  <a:pt x="88336" y="0"/>
                </a:moveTo>
                <a:lnTo>
                  <a:pt x="7498534" y="0"/>
                </a:lnTo>
                <a:cubicBezTo>
                  <a:pt x="7547320" y="0"/>
                  <a:pt x="7586870" y="39549"/>
                  <a:pt x="7586870" y="88336"/>
                </a:cubicBezTo>
                <a:lnTo>
                  <a:pt x="7586870" y="2992794"/>
                </a:lnTo>
                <a:cubicBezTo>
                  <a:pt x="7586870" y="3041581"/>
                  <a:pt x="7547320" y="3081130"/>
                  <a:pt x="7498534" y="3081130"/>
                </a:cubicBezTo>
                <a:lnTo>
                  <a:pt x="88336" y="3081130"/>
                </a:lnTo>
                <a:cubicBezTo>
                  <a:pt x="39549" y="3081130"/>
                  <a:pt x="0" y="3041581"/>
                  <a:pt x="0" y="2992794"/>
                </a:cubicBezTo>
                <a:lnTo>
                  <a:pt x="0" y="88336"/>
                </a:lnTo>
                <a:cubicBezTo>
                  <a:pt x="0" y="39582"/>
                  <a:pt x="39582" y="0"/>
                  <a:pt x="8833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7"/>
          <p:cNvSpPr/>
          <p:nvPr/>
        </p:nvSpPr>
        <p:spPr>
          <a:xfrm>
            <a:off x="8417891" y="5554870"/>
            <a:ext cx="248478" cy="220870"/>
          </a:xfrm>
          <a:custGeom>
            <a:avLst/>
            <a:gdLst/>
            <a:ahLst/>
            <a:cxnLst/>
            <a:rect l="l" t="t" r="r" b="b"/>
            <a:pathLst>
              <a:path w="248478" h="220870">
                <a:moveTo>
                  <a:pt x="155644" y="518"/>
                </a:moveTo>
                <a:cubicBezTo>
                  <a:pt x="148310" y="-1596"/>
                  <a:pt x="140675" y="2675"/>
                  <a:pt x="138561" y="10008"/>
                </a:cubicBezTo>
                <a:lnTo>
                  <a:pt x="83344" y="203269"/>
                </a:lnTo>
                <a:cubicBezTo>
                  <a:pt x="81230" y="210603"/>
                  <a:pt x="85501" y="218238"/>
                  <a:pt x="92834" y="220352"/>
                </a:cubicBezTo>
                <a:cubicBezTo>
                  <a:pt x="100168" y="222466"/>
                  <a:pt x="107803" y="218195"/>
                  <a:pt x="109917" y="210861"/>
                </a:cubicBezTo>
                <a:lnTo>
                  <a:pt x="165135" y="17601"/>
                </a:lnTo>
                <a:cubicBezTo>
                  <a:pt x="167248" y="10267"/>
                  <a:pt x="162978" y="2631"/>
                  <a:pt x="155644" y="518"/>
                </a:cubicBezTo>
                <a:close/>
                <a:moveTo>
                  <a:pt x="183512" y="59229"/>
                </a:moveTo>
                <a:cubicBezTo>
                  <a:pt x="178119" y="64622"/>
                  <a:pt x="178119" y="73379"/>
                  <a:pt x="183512" y="78771"/>
                </a:cubicBezTo>
                <a:lnTo>
                  <a:pt x="215175" y="110435"/>
                </a:lnTo>
                <a:lnTo>
                  <a:pt x="183512" y="142099"/>
                </a:lnTo>
                <a:cubicBezTo>
                  <a:pt x="178119" y="147491"/>
                  <a:pt x="178119" y="156248"/>
                  <a:pt x="183512" y="161640"/>
                </a:cubicBezTo>
                <a:cubicBezTo>
                  <a:pt x="188904" y="167033"/>
                  <a:pt x="197661" y="167033"/>
                  <a:pt x="203053" y="161640"/>
                </a:cubicBezTo>
                <a:lnTo>
                  <a:pt x="244466" y="120227"/>
                </a:lnTo>
                <a:cubicBezTo>
                  <a:pt x="249859" y="114835"/>
                  <a:pt x="249859" y="106078"/>
                  <a:pt x="244466" y="100685"/>
                </a:cubicBezTo>
                <a:lnTo>
                  <a:pt x="203053" y="59272"/>
                </a:lnTo>
                <a:cubicBezTo>
                  <a:pt x="197661" y="53880"/>
                  <a:pt x="188904" y="53880"/>
                  <a:pt x="183512" y="59272"/>
                </a:cubicBezTo>
                <a:close/>
                <a:moveTo>
                  <a:pt x="65010" y="59229"/>
                </a:moveTo>
                <a:cubicBezTo>
                  <a:pt x="59618" y="53837"/>
                  <a:pt x="50860" y="53837"/>
                  <a:pt x="45468" y="59229"/>
                </a:cubicBezTo>
                <a:lnTo>
                  <a:pt x="4055" y="100642"/>
                </a:lnTo>
                <a:cubicBezTo>
                  <a:pt x="-1337" y="106035"/>
                  <a:pt x="-1337" y="114792"/>
                  <a:pt x="4055" y="120184"/>
                </a:cubicBezTo>
                <a:lnTo>
                  <a:pt x="45468" y="161597"/>
                </a:lnTo>
                <a:cubicBezTo>
                  <a:pt x="50860" y="166989"/>
                  <a:pt x="59618" y="166989"/>
                  <a:pt x="65010" y="161597"/>
                </a:cubicBezTo>
                <a:cubicBezTo>
                  <a:pt x="70402" y="156205"/>
                  <a:pt x="70402" y="147448"/>
                  <a:pt x="65010" y="142055"/>
                </a:cubicBezTo>
                <a:lnTo>
                  <a:pt x="33346" y="110435"/>
                </a:lnTo>
                <a:lnTo>
                  <a:pt x="64967" y="78771"/>
                </a:lnTo>
                <a:cubicBezTo>
                  <a:pt x="70359" y="73379"/>
                  <a:pt x="70359" y="64622"/>
                  <a:pt x="64967" y="59229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8"/>
          <p:cNvSpPr/>
          <p:nvPr/>
        </p:nvSpPr>
        <p:spPr>
          <a:xfrm>
            <a:off x="8795410" y="5510696"/>
            <a:ext cx="6941546" cy="309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Raft vs PBFT对比</a:t>
            </a:r>
            <a:endParaRPr lang="en-US" sz="1600" dirty="0"/>
          </a:p>
        </p:txBody>
      </p:sp>
      <p:graphicFrame>
        <p:nvGraphicFramePr>
          <p:cNvPr id="7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04087" y="5952435"/>
          <a:ext cx="7222435" cy="2020955"/>
        </p:xfrm>
        <a:graphic>
          <a:graphicData uri="http://schemas.openxmlformats.org/drawingml/2006/table">
            <a:tbl>
              <a:tblPr/>
              <a:tblGrid>
                <a:gridCol w="2186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8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191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Raft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PBFT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191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故障模型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崩溃故障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拜占庭故障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191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节点要求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2f + 1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3f + 1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191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消息复杂度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O(n²)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191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内部系统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开放网络、区块链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210" y="480210"/>
            <a:ext cx="3604540" cy="486139"/>
          </a:xfrm>
          <a:custGeom>
            <a:avLst/>
            <a:gdLst/>
            <a:ahLst/>
            <a:cxnLst/>
            <a:rect l="l" t="t" r="r" b="b"/>
            <a:pathLst>
              <a:path w="3604540" h="486139">
                <a:moveTo>
                  <a:pt x="47428" y="0"/>
                </a:moveTo>
                <a:lnTo>
                  <a:pt x="3557112" y="0"/>
                </a:lnTo>
                <a:cubicBezTo>
                  <a:pt x="3583306" y="0"/>
                  <a:pt x="3604540" y="21234"/>
                  <a:pt x="3604540" y="47428"/>
                </a:cubicBezTo>
                <a:lnTo>
                  <a:pt x="3604540" y="438711"/>
                </a:lnTo>
                <a:cubicBezTo>
                  <a:pt x="3604540" y="464904"/>
                  <a:pt x="3583306" y="486139"/>
                  <a:pt x="3557112" y="486139"/>
                </a:cubicBezTo>
                <a:lnTo>
                  <a:pt x="47428" y="486139"/>
                </a:lnTo>
                <a:cubicBezTo>
                  <a:pt x="21234" y="486139"/>
                  <a:pt x="0" y="464904"/>
                  <a:pt x="0" y="438711"/>
                </a:cubicBezTo>
                <a:lnTo>
                  <a:pt x="0" y="47428"/>
                </a:lnTo>
                <a:cubicBezTo>
                  <a:pt x="0" y="21252"/>
                  <a:pt x="21252" y="0"/>
                  <a:pt x="47428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5851" y="598780"/>
            <a:ext cx="3311078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4" b="1" kern="0" spc="75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SHARDING &amp; REPLICATION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4282" y="1067133"/>
            <a:ext cx="15520864" cy="47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61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数据分片与复制策略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0210" y="1689628"/>
            <a:ext cx="7541077" cy="3983965"/>
          </a:xfrm>
          <a:custGeom>
            <a:avLst/>
            <a:gdLst/>
            <a:ahLst/>
            <a:cxnLst/>
            <a:rect l="l" t="t" r="r" b="b"/>
            <a:pathLst>
              <a:path w="7541077" h="3983965">
                <a:moveTo>
                  <a:pt x="94858" y="0"/>
                </a:moveTo>
                <a:lnTo>
                  <a:pt x="7446218" y="0"/>
                </a:lnTo>
                <a:cubicBezTo>
                  <a:pt x="7498607" y="0"/>
                  <a:pt x="7541077" y="42469"/>
                  <a:pt x="7541077" y="94858"/>
                </a:cubicBezTo>
                <a:lnTo>
                  <a:pt x="7541077" y="3889107"/>
                </a:lnTo>
                <a:cubicBezTo>
                  <a:pt x="7541077" y="3941496"/>
                  <a:pt x="7498607" y="3983965"/>
                  <a:pt x="7446218" y="3983965"/>
                </a:cubicBezTo>
                <a:lnTo>
                  <a:pt x="94858" y="3983965"/>
                </a:lnTo>
                <a:cubicBezTo>
                  <a:pt x="42469" y="3983965"/>
                  <a:pt x="0" y="3941496"/>
                  <a:pt x="0" y="3889107"/>
                </a:cubicBezTo>
                <a:lnTo>
                  <a:pt x="0" y="94858"/>
                </a:lnTo>
                <a:cubicBezTo>
                  <a:pt x="0" y="42505"/>
                  <a:pt x="42505" y="0"/>
                  <a:pt x="9485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05494" y="1932697"/>
            <a:ext cx="237141" cy="237141"/>
          </a:xfrm>
          <a:custGeom>
            <a:avLst/>
            <a:gdLst/>
            <a:ahLst/>
            <a:cxnLst/>
            <a:rect l="l" t="t" r="r" b="b"/>
            <a:pathLst>
              <a:path w="237141" h="237141">
                <a:moveTo>
                  <a:pt x="88928" y="118570"/>
                </a:moveTo>
                <a:lnTo>
                  <a:pt x="70633" y="136865"/>
                </a:lnTo>
                <a:cubicBezTo>
                  <a:pt x="64797" y="134596"/>
                  <a:pt x="58498" y="133392"/>
                  <a:pt x="51875" y="133392"/>
                </a:cubicBezTo>
                <a:cubicBezTo>
                  <a:pt x="23205" y="133392"/>
                  <a:pt x="0" y="156596"/>
                  <a:pt x="0" y="185266"/>
                </a:cubicBezTo>
                <a:cubicBezTo>
                  <a:pt x="0" y="213936"/>
                  <a:pt x="23205" y="237141"/>
                  <a:pt x="51875" y="237141"/>
                </a:cubicBezTo>
                <a:cubicBezTo>
                  <a:pt x="80544" y="237141"/>
                  <a:pt x="103749" y="213936"/>
                  <a:pt x="103749" y="185266"/>
                </a:cubicBezTo>
                <a:cubicBezTo>
                  <a:pt x="103749" y="178643"/>
                  <a:pt x="102499" y="172344"/>
                  <a:pt x="100275" y="166508"/>
                </a:cubicBezTo>
                <a:lnTo>
                  <a:pt x="231212" y="35571"/>
                </a:lnTo>
                <a:cubicBezTo>
                  <a:pt x="234501" y="32283"/>
                  <a:pt x="234501" y="27003"/>
                  <a:pt x="231212" y="23714"/>
                </a:cubicBezTo>
                <a:cubicBezTo>
                  <a:pt x="218105" y="10606"/>
                  <a:pt x="196892" y="10606"/>
                  <a:pt x="183784" y="23714"/>
                </a:cubicBezTo>
                <a:lnTo>
                  <a:pt x="118570" y="88928"/>
                </a:lnTo>
                <a:lnTo>
                  <a:pt x="100275" y="70633"/>
                </a:lnTo>
                <a:cubicBezTo>
                  <a:pt x="102545" y="64797"/>
                  <a:pt x="103749" y="58498"/>
                  <a:pt x="103749" y="51875"/>
                </a:cubicBezTo>
                <a:cubicBezTo>
                  <a:pt x="103749" y="23205"/>
                  <a:pt x="80544" y="0"/>
                  <a:pt x="51875" y="0"/>
                </a:cubicBezTo>
                <a:cubicBezTo>
                  <a:pt x="23205" y="0"/>
                  <a:pt x="0" y="23205"/>
                  <a:pt x="0" y="51875"/>
                </a:cubicBezTo>
                <a:cubicBezTo>
                  <a:pt x="0" y="80544"/>
                  <a:pt x="23205" y="103749"/>
                  <a:pt x="51875" y="103749"/>
                </a:cubicBezTo>
                <a:cubicBezTo>
                  <a:pt x="58498" y="103749"/>
                  <a:pt x="64797" y="102499"/>
                  <a:pt x="70633" y="100275"/>
                </a:cubicBezTo>
                <a:lnTo>
                  <a:pt x="88928" y="118570"/>
                </a:lnTo>
                <a:close/>
                <a:moveTo>
                  <a:pt x="134272" y="163914"/>
                </a:moveTo>
                <a:lnTo>
                  <a:pt x="183784" y="213427"/>
                </a:lnTo>
                <a:cubicBezTo>
                  <a:pt x="196892" y="226534"/>
                  <a:pt x="218105" y="226534"/>
                  <a:pt x="231212" y="213427"/>
                </a:cubicBezTo>
                <a:cubicBezTo>
                  <a:pt x="234501" y="210138"/>
                  <a:pt x="234501" y="204858"/>
                  <a:pt x="231212" y="201570"/>
                </a:cubicBezTo>
                <a:lnTo>
                  <a:pt x="163914" y="134272"/>
                </a:lnTo>
                <a:lnTo>
                  <a:pt x="134272" y="163914"/>
                </a:lnTo>
                <a:close/>
                <a:moveTo>
                  <a:pt x="29643" y="51875"/>
                </a:moveTo>
                <a:cubicBezTo>
                  <a:pt x="29643" y="39604"/>
                  <a:pt x="39604" y="29643"/>
                  <a:pt x="51875" y="29643"/>
                </a:cubicBezTo>
                <a:cubicBezTo>
                  <a:pt x="64145" y="29643"/>
                  <a:pt x="74106" y="39604"/>
                  <a:pt x="74106" y="51875"/>
                </a:cubicBezTo>
                <a:cubicBezTo>
                  <a:pt x="74106" y="64145"/>
                  <a:pt x="64145" y="74106"/>
                  <a:pt x="51875" y="74106"/>
                </a:cubicBezTo>
                <a:cubicBezTo>
                  <a:pt x="39604" y="74106"/>
                  <a:pt x="29643" y="64145"/>
                  <a:pt x="29643" y="51875"/>
                </a:cubicBezTo>
                <a:close/>
                <a:moveTo>
                  <a:pt x="51875" y="163034"/>
                </a:moveTo>
                <a:cubicBezTo>
                  <a:pt x="64145" y="163034"/>
                  <a:pt x="74106" y="172996"/>
                  <a:pt x="74106" y="185266"/>
                </a:cubicBezTo>
                <a:cubicBezTo>
                  <a:pt x="74106" y="197536"/>
                  <a:pt x="64145" y="207498"/>
                  <a:pt x="51875" y="207498"/>
                </a:cubicBezTo>
                <a:cubicBezTo>
                  <a:pt x="39604" y="207498"/>
                  <a:pt x="29643" y="197536"/>
                  <a:pt x="29643" y="185266"/>
                </a:cubicBezTo>
                <a:cubicBezTo>
                  <a:pt x="29643" y="172996"/>
                  <a:pt x="39604" y="163034"/>
                  <a:pt x="51875" y="163034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05118" y="1885269"/>
            <a:ext cx="6839098" cy="331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数据分片策略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5851" y="2359551"/>
          <a:ext cx="7149793" cy="3118400"/>
        </p:xfrm>
        <a:graphic>
          <a:graphicData uri="http://schemas.openxmlformats.org/drawingml/2006/table">
            <a:tbl>
              <a:tblPr/>
              <a:tblGrid>
                <a:gridCol w="1100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3680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策略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缺点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68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范围分片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按数据范围分割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范围查询效率高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可能负载不均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时序数据、有序数据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68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哈希分片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按哈希值分割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负载均衡好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范围查询困难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随机访问、键值存储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68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目录分片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维护分片映射表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灵活性高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映射表成为瓶颈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复杂分片逻辑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68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一致性哈希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环形哈希空间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节点变化影响小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实现复杂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分布式缓存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226747" y="1689628"/>
            <a:ext cx="7541077" cy="3983965"/>
          </a:xfrm>
          <a:custGeom>
            <a:avLst/>
            <a:gdLst/>
            <a:ahLst/>
            <a:cxnLst/>
            <a:rect l="l" t="t" r="r" b="b"/>
            <a:pathLst>
              <a:path w="7541077" h="3983965">
                <a:moveTo>
                  <a:pt x="94858" y="0"/>
                </a:moveTo>
                <a:lnTo>
                  <a:pt x="7446218" y="0"/>
                </a:lnTo>
                <a:cubicBezTo>
                  <a:pt x="7498607" y="0"/>
                  <a:pt x="7541077" y="42469"/>
                  <a:pt x="7541077" y="94858"/>
                </a:cubicBezTo>
                <a:lnTo>
                  <a:pt x="7541077" y="3889107"/>
                </a:lnTo>
                <a:cubicBezTo>
                  <a:pt x="7541077" y="3941496"/>
                  <a:pt x="7498607" y="3983965"/>
                  <a:pt x="7446218" y="3983965"/>
                </a:cubicBezTo>
                <a:lnTo>
                  <a:pt x="94858" y="3983965"/>
                </a:lnTo>
                <a:cubicBezTo>
                  <a:pt x="42469" y="3983965"/>
                  <a:pt x="0" y="3941496"/>
                  <a:pt x="0" y="3889107"/>
                </a:cubicBezTo>
                <a:lnTo>
                  <a:pt x="0" y="94858"/>
                </a:lnTo>
                <a:cubicBezTo>
                  <a:pt x="0" y="42505"/>
                  <a:pt x="42505" y="0"/>
                  <a:pt x="9485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466852" y="1932697"/>
            <a:ext cx="207498" cy="237141"/>
          </a:xfrm>
          <a:custGeom>
            <a:avLst/>
            <a:gdLst/>
            <a:ahLst/>
            <a:cxnLst/>
            <a:rect l="l" t="t" r="r" b="b"/>
            <a:pathLst>
              <a:path w="207498" h="237141">
                <a:moveTo>
                  <a:pt x="88928" y="0"/>
                </a:moveTo>
                <a:cubicBezTo>
                  <a:pt x="72578" y="0"/>
                  <a:pt x="59285" y="13293"/>
                  <a:pt x="59285" y="29643"/>
                </a:cubicBezTo>
                <a:lnTo>
                  <a:pt x="59285" y="148213"/>
                </a:lnTo>
                <a:cubicBezTo>
                  <a:pt x="59285" y="164563"/>
                  <a:pt x="72578" y="177856"/>
                  <a:pt x="88928" y="177856"/>
                </a:cubicBezTo>
                <a:lnTo>
                  <a:pt x="177856" y="177856"/>
                </a:lnTo>
                <a:cubicBezTo>
                  <a:pt x="194205" y="177856"/>
                  <a:pt x="207498" y="164563"/>
                  <a:pt x="207498" y="148213"/>
                </a:cubicBezTo>
                <a:lnTo>
                  <a:pt x="207498" y="55302"/>
                </a:lnTo>
                <a:cubicBezTo>
                  <a:pt x="207498" y="47243"/>
                  <a:pt x="204210" y="39508"/>
                  <a:pt x="198374" y="33904"/>
                </a:cubicBezTo>
                <a:lnTo>
                  <a:pt x="171649" y="8244"/>
                </a:lnTo>
                <a:cubicBezTo>
                  <a:pt x="166137" y="2964"/>
                  <a:pt x="158773" y="0"/>
                  <a:pt x="151131" y="0"/>
                </a:cubicBezTo>
                <a:lnTo>
                  <a:pt x="88928" y="0"/>
                </a:lnTo>
                <a:close/>
                <a:moveTo>
                  <a:pt x="29643" y="59285"/>
                </a:moveTo>
                <a:cubicBezTo>
                  <a:pt x="13293" y="59285"/>
                  <a:pt x="0" y="72578"/>
                  <a:pt x="0" y="88928"/>
                </a:cubicBezTo>
                <a:lnTo>
                  <a:pt x="0" y="207498"/>
                </a:lnTo>
                <a:cubicBezTo>
                  <a:pt x="0" y="223848"/>
                  <a:pt x="13293" y="237141"/>
                  <a:pt x="29643" y="237141"/>
                </a:cubicBezTo>
                <a:lnTo>
                  <a:pt x="118570" y="237141"/>
                </a:lnTo>
                <a:cubicBezTo>
                  <a:pt x="134920" y="237141"/>
                  <a:pt x="148213" y="223848"/>
                  <a:pt x="148213" y="207498"/>
                </a:cubicBezTo>
                <a:lnTo>
                  <a:pt x="148213" y="200088"/>
                </a:lnTo>
                <a:lnTo>
                  <a:pt x="118570" y="200088"/>
                </a:lnTo>
                <a:lnTo>
                  <a:pt x="118570" y="207498"/>
                </a:lnTo>
                <a:lnTo>
                  <a:pt x="29643" y="207498"/>
                </a:lnTo>
                <a:lnTo>
                  <a:pt x="29643" y="88928"/>
                </a:lnTo>
                <a:lnTo>
                  <a:pt x="37053" y="88928"/>
                </a:lnTo>
                <a:lnTo>
                  <a:pt x="37053" y="59285"/>
                </a:lnTo>
                <a:lnTo>
                  <a:pt x="29643" y="59285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851654" y="1885269"/>
            <a:ext cx="6839098" cy="331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数据复制策略</a:t>
            </a:r>
            <a:endParaRPr lang="en-US" sz="16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22388" y="2359551"/>
          <a:ext cx="7149795" cy="3118400"/>
        </p:xfrm>
        <a:graphic>
          <a:graphicData uri="http://schemas.openxmlformats.org/drawingml/2006/table">
            <a:tbl>
              <a:tblPr/>
              <a:tblGrid>
                <a:gridCol w="1148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8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8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2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3680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策略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68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主从复制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一主多从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05DF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强一致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DC7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读多写少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68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主主复制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多主互相复制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DC7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最终一致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05DF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写密集型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68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链式复制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节点形成复制链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05DF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强一致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DC7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顺序处理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680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法定人数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多数派确认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可调节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平衡一致性和可用性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80210" y="5827735"/>
            <a:ext cx="7541077" cy="2833832"/>
          </a:xfrm>
          <a:custGeom>
            <a:avLst/>
            <a:gdLst/>
            <a:ahLst/>
            <a:cxnLst/>
            <a:rect l="l" t="t" r="r" b="b"/>
            <a:pathLst>
              <a:path w="7541077" h="2833832">
                <a:moveTo>
                  <a:pt x="94848" y="0"/>
                </a:moveTo>
                <a:lnTo>
                  <a:pt x="7446228" y="0"/>
                </a:lnTo>
                <a:cubicBezTo>
                  <a:pt x="7498612" y="0"/>
                  <a:pt x="7541077" y="42465"/>
                  <a:pt x="7541077" y="94848"/>
                </a:cubicBezTo>
                <a:lnTo>
                  <a:pt x="7541077" y="2738984"/>
                </a:lnTo>
                <a:cubicBezTo>
                  <a:pt x="7541077" y="2791367"/>
                  <a:pt x="7498612" y="2833832"/>
                  <a:pt x="7446228" y="2833832"/>
                </a:cubicBezTo>
                <a:lnTo>
                  <a:pt x="94848" y="2833832"/>
                </a:lnTo>
                <a:cubicBezTo>
                  <a:pt x="42465" y="2833832"/>
                  <a:pt x="0" y="2791367"/>
                  <a:pt x="0" y="2738984"/>
                </a:cubicBezTo>
                <a:lnTo>
                  <a:pt x="0" y="94848"/>
                </a:lnTo>
                <a:cubicBezTo>
                  <a:pt x="0" y="42500"/>
                  <a:pt x="42500" y="0"/>
                  <a:pt x="9484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0"/>
          <p:cNvSpPr/>
          <p:nvPr/>
        </p:nvSpPr>
        <p:spPr>
          <a:xfrm>
            <a:off x="690673" y="6070804"/>
            <a:ext cx="266783" cy="237141"/>
          </a:xfrm>
          <a:custGeom>
            <a:avLst/>
            <a:gdLst/>
            <a:ahLst/>
            <a:cxnLst/>
            <a:rect l="l" t="t" r="r" b="b"/>
            <a:pathLst>
              <a:path w="266783" h="237141">
                <a:moveTo>
                  <a:pt x="194298" y="44464"/>
                </a:moveTo>
                <a:cubicBezTo>
                  <a:pt x="186609" y="44464"/>
                  <a:pt x="179152" y="46548"/>
                  <a:pt x="172622" y="50346"/>
                </a:cubicBezTo>
                <a:cubicBezTo>
                  <a:pt x="165304" y="42935"/>
                  <a:pt x="156782" y="36729"/>
                  <a:pt x="147379" y="32051"/>
                </a:cubicBezTo>
                <a:cubicBezTo>
                  <a:pt x="160441" y="20935"/>
                  <a:pt x="177068" y="14821"/>
                  <a:pt x="194298" y="14821"/>
                </a:cubicBezTo>
                <a:cubicBezTo>
                  <a:pt x="234315" y="14821"/>
                  <a:pt x="266783" y="47243"/>
                  <a:pt x="266783" y="87307"/>
                </a:cubicBezTo>
                <a:cubicBezTo>
                  <a:pt x="266783" y="106528"/>
                  <a:pt x="259141" y="124962"/>
                  <a:pt x="245570" y="138533"/>
                </a:cubicBezTo>
                <a:lnTo>
                  <a:pt x="212639" y="171464"/>
                </a:lnTo>
                <a:cubicBezTo>
                  <a:pt x="199069" y="185035"/>
                  <a:pt x="180635" y="192677"/>
                  <a:pt x="161413" y="192677"/>
                </a:cubicBezTo>
                <a:cubicBezTo>
                  <a:pt x="121396" y="192677"/>
                  <a:pt x="88928" y="160255"/>
                  <a:pt x="88928" y="120191"/>
                </a:cubicBezTo>
                <a:cubicBezTo>
                  <a:pt x="88928" y="119497"/>
                  <a:pt x="88928" y="118802"/>
                  <a:pt x="88974" y="118107"/>
                </a:cubicBezTo>
                <a:cubicBezTo>
                  <a:pt x="89206" y="109909"/>
                  <a:pt x="96014" y="103471"/>
                  <a:pt x="104212" y="103703"/>
                </a:cubicBezTo>
                <a:cubicBezTo>
                  <a:pt x="112410" y="103934"/>
                  <a:pt x="118848" y="110743"/>
                  <a:pt x="118617" y="118941"/>
                </a:cubicBezTo>
                <a:cubicBezTo>
                  <a:pt x="118617" y="119358"/>
                  <a:pt x="118617" y="119775"/>
                  <a:pt x="118617" y="120145"/>
                </a:cubicBezTo>
                <a:cubicBezTo>
                  <a:pt x="118617" y="143813"/>
                  <a:pt x="137792" y="162988"/>
                  <a:pt x="161460" y="162988"/>
                </a:cubicBezTo>
                <a:cubicBezTo>
                  <a:pt x="172807" y="162988"/>
                  <a:pt x="183691" y="158495"/>
                  <a:pt x="191751" y="150436"/>
                </a:cubicBezTo>
                <a:lnTo>
                  <a:pt x="224682" y="117505"/>
                </a:lnTo>
                <a:cubicBezTo>
                  <a:pt x="232694" y="109492"/>
                  <a:pt x="237233" y="98562"/>
                  <a:pt x="237233" y="87214"/>
                </a:cubicBezTo>
                <a:cubicBezTo>
                  <a:pt x="237233" y="63546"/>
                  <a:pt x="218058" y="44371"/>
                  <a:pt x="194391" y="44371"/>
                </a:cubicBezTo>
                <a:close/>
                <a:moveTo>
                  <a:pt x="127463" y="80267"/>
                </a:moveTo>
                <a:cubicBezTo>
                  <a:pt x="126583" y="79896"/>
                  <a:pt x="125703" y="79387"/>
                  <a:pt x="124916" y="78831"/>
                </a:cubicBezTo>
                <a:cubicBezTo>
                  <a:pt x="119080" y="75820"/>
                  <a:pt x="112410" y="74106"/>
                  <a:pt x="105416" y="74106"/>
                </a:cubicBezTo>
                <a:cubicBezTo>
                  <a:pt x="94069" y="74106"/>
                  <a:pt x="83185" y="78599"/>
                  <a:pt x="75125" y="86658"/>
                </a:cubicBezTo>
                <a:lnTo>
                  <a:pt x="42194" y="119589"/>
                </a:lnTo>
                <a:cubicBezTo>
                  <a:pt x="34182" y="127602"/>
                  <a:pt x="29643" y="138533"/>
                  <a:pt x="29643" y="149880"/>
                </a:cubicBezTo>
                <a:cubicBezTo>
                  <a:pt x="29643" y="173548"/>
                  <a:pt x="48818" y="192723"/>
                  <a:pt x="72485" y="192723"/>
                </a:cubicBezTo>
                <a:cubicBezTo>
                  <a:pt x="80128" y="192723"/>
                  <a:pt x="87585" y="190685"/>
                  <a:pt x="94115" y="186887"/>
                </a:cubicBezTo>
                <a:cubicBezTo>
                  <a:pt x="101433" y="194298"/>
                  <a:pt x="109956" y="200504"/>
                  <a:pt x="119404" y="205182"/>
                </a:cubicBezTo>
                <a:cubicBezTo>
                  <a:pt x="106343" y="216252"/>
                  <a:pt x="89761" y="222412"/>
                  <a:pt x="72485" y="222412"/>
                </a:cubicBezTo>
                <a:cubicBezTo>
                  <a:pt x="32468" y="222412"/>
                  <a:pt x="0" y="189991"/>
                  <a:pt x="0" y="149927"/>
                </a:cubicBezTo>
                <a:cubicBezTo>
                  <a:pt x="0" y="130705"/>
                  <a:pt x="7642" y="112271"/>
                  <a:pt x="21213" y="98701"/>
                </a:cubicBezTo>
                <a:lnTo>
                  <a:pt x="54144" y="65770"/>
                </a:lnTo>
                <a:cubicBezTo>
                  <a:pt x="67715" y="52199"/>
                  <a:pt x="86149" y="44557"/>
                  <a:pt x="105370" y="44557"/>
                </a:cubicBezTo>
                <a:cubicBezTo>
                  <a:pt x="145480" y="44557"/>
                  <a:pt x="177856" y="77256"/>
                  <a:pt x="177856" y="117227"/>
                </a:cubicBezTo>
                <a:cubicBezTo>
                  <a:pt x="177856" y="117829"/>
                  <a:pt x="177856" y="118431"/>
                  <a:pt x="177856" y="119034"/>
                </a:cubicBezTo>
                <a:cubicBezTo>
                  <a:pt x="177670" y="127232"/>
                  <a:pt x="170862" y="133670"/>
                  <a:pt x="162664" y="133484"/>
                </a:cubicBezTo>
                <a:cubicBezTo>
                  <a:pt x="154466" y="133299"/>
                  <a:pt x="148028" y="126491"/>
                  <a:pt x="148213" y="118292"/>
                </a:cubicBezTo>
                <a:cubicBezTo>
                  <a:pt x="148213" y="117922"/>
                  <a:pt x="148213" y="117598"/>
                  <a:pt x="148213" y="117227"/>
                </a:cubicBezTo>
                <a:cubicBezTo>
                  <a:pt x="148213" y="101619"/>
                  <a:pt x="139876" y="87909"/>
                  <a:pt x="127463" y="80359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1105118" y="6023376"/>
            <a:ext cx="6839098" cy="331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一致性哈希分片原理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75851" y="6497657"/>
            <a:ext cx="7244651" cy="308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4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一致性哈希分片就像在一个圆形跑道上安排运动员和观众席位: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75851" y="6900796"/>
            <a:ext cx="7232794" cy="237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7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0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哈希环:</a:t>
            </a:r>
            <a:r>
              <a:rPr lang="en-US" sz="1307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范围是0到2³²-1的环形空间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75851" y="7232794"/>
            <a:ext cx="7232794" cy="237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7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0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存储节点:</a:t>
            </a:r>
            <a:r>
              <a:rPr lang="en-US" sz="1307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分布在环上的不同位置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75851" y="7564791"/>
            <a:ext cx="7232794" cy="237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7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0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数据定位:</a:t>
            </a:r>
            <a:r>
              <a:rPr lang="en-US" sz="1307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顺时针查找第一个服务器节点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75851" y="7896788"/>
            <a:ext cx="7232794" cy="237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7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0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虚拟节点:</a:t>
            </a:r>
            <a:r>
              <a:rPr lang="en-US" sz="1307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每个物理服务器创建多个虚拟节点,解决负载不均问题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8226747" y="5827735"/>
            <a:ext cx="7541077" cy="2833832"/>
          </a:xfrm>
          <a:custGeom>
            <a:avLst/>
            <a:gdLst/>
            <a:ahLst/>
            <a:cxnLst/>
            <a:rect l="l" t="t" r="r" b="b"/>
            <a:pathLst>
              <a:path w="7541077" h="2833832">
                <a:moveTo>
                  <a:pt x="94848" y="0"/>
                </a:moveTo>
                <a:lnTo>
                  <a:pt x="7446228" y="0"/>
                </a:lnTo>
                <a:cubicBezTo>
                  <a:pt x="7498612" y="0"/>
                  <a:pt x="7541077" y="42465"/>
                  <a:pt x="7541077" y="94848"/>
                </a:cubicBezTo>
                <a:lnTo>
                  <a:pt x="7541077" y="2738984"/>
                </a:lnTo>
                <a:cubicBezTo>
                  <a:pt x="7541077" y="2791367"/>
                  <a:pt x="7498612" y="2833832"/>
                  <a:pt x="7446228" y="2833832"/>
                </a:cubicBezTo>
                <a:lnTo>
                  <a:pt x="94848" y="2833832"/>
                </a:lnTo>
                <a:cubicBezTo>
                  <a:pt x="42465" y="2833832"/>
                  <a:pt x="0" y="2791367"/>
                  <a:pt x="0" y="2738984"/>
                </a:cubicBezTo>
                <a:lnTo>
                  <a:pt x="0" y="94848"/>
                </a:lnTo>
                <a:cubicBezTo>
                  <a:pt x="0" y="42500"/>
                  <a:pt x="42500" y="0"/>
                  <a:pt x="9484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8"/>
          <p:cNvSpPr/>
          <p:nvPr/>
        </p:nvSpPr>
        <p:spPr>
          <a:xfrm>
            <a:off x="8437209" y="6070804"/>
            <a:ext cx="266783" cy="237141"/>
          </a:xfrm>
          <a:custGeom>
            <a:avLst/>
            <a:gdLst/>
            <a:ahLst/>
            <a:cxnLst/>
            <a:rect l="l" t="t" r="r" b="b"/>
            <a:pathLst>
              <a:path w="266783" h="237141">
                <a:moveTo>
                  <a:pt x="44464" y="44464"/>
                </a:moveTo>
                <a:cubicBezTo>
                  <a:pt x="44464" y="28114"/>
                  <a:pt x="57757" y="14821"/>
                  <a:pt x="74106" y="14821"/>
                </a:cubicBezTo>
                <a:lnTo>
                  <a:pt x="192677" y="14821"/>
                </a:lnTo>
                <a:cubicBezTo>
                  <a:pt x="209027" y="14821"/>
                  <a:pt x="222319" y="28114"/>
                  <a:pt x="222319" y="44464"/>
                </a:cubicBezTo>
                <a:lnTo>
                  <a:pt x="222319" y="148213"/>
                </a:lnTo>
                <a:cubicBezTo>
                  <a:pt x="222319" y="164563"/>
                  <a:pt x="209027" y="177856"/>
                  <a:pt x="192677" y="177856"/>
                </a:cubicBezTo>
                <a:lnTo>
                  <a:pt x="74106" y="177856"/>
                </a:lnTo>
                <a:cubicBezTo>
                  <a:pt x="57757" y="177856"/>
                  <a:pt x="44464" y="164563"/>
                  <a:pt x="44464" y="148213"/>
                </a:cubicBezTo>
                <a:lnTo>
                  <a:pt x="44464" y="44464"/>
                </a:lnTo>
                <a:close/>
                <a:moveTo>
                  <a:pt x="168916" y="53542"/>
                </a:moveTo>
                <a:cubicBezTo>
                  <a:pt x="163729" y="50300"/>
                  <a:pt x="156874" y="51875"/>
                  <a:pt x="153586" y="57062"/>
                </a:cubicBezTo>
                <a:lnTo>
                  <a:pt x="125147" y="102591"/>
                </a:lnTo>
                <a:lnTo>
                  <a:pt x="112642" y="85917"/>
                </a:lnTo>
                <a:cubicBezTo>
                  <a:pt x="108937" y="81008"/>
                  <a:pt x="101989" y="79989"/>
                  <a:pt x="97080" y="83694"/>
                </a:cubicBezTo>
                <a:cubicBezTo>
                  <a:pt x="92170" y="87399"/>
                  <a:pt x="91151" y="94347"/>
                  <a:pt x="94856" y="99256"/>
                </a:cubicBezTo>
                <a:lnTo>
                  <a:pt x="117088" y="128899"/>
                </a:lnTo>
                <a:cubicBezTo>
                  <a:pt x="119265" y="131817"/>
                  <a:pt x="122785" y="133484"/>
                  <a:pt x="126444" y="133345"/>
                </a:cubicBezTo>
                <a:cubicBezTo>
                  <a:pt x="130103" y="133206"/>
                  <a:pt x="133438" y="131261"/>
                  <a:pt x="135383" y="128112"/>
                </a:cubicBezTo>
                <a:lnTo>
                  <a:pt x="172437" y="68826"/>
                </a:lnTo>
                <a:cubicBezTo>
                  <a:pt x="175679" y="63639"/>
                  <a:pt x="174104" y="56784"/>
                  <a:pt x="168916" y="53496"/>
                </a:cubicBezTo>
                <a:close/>
                <a:moveTo>
                  <a:pt x="22232" y="144508"/>
                </a:moveTo>
                <a:lnTo>
                  <a:pt x="22232" y="192677"/>
                </a:lnTo>
                <a:cubicBezTo>
                  <a:pt x="22232" y="196753"/>
                  <a:pt x="25567" y="200088"/>
                  <a:pt x="29643" y="200088"/>
                </a:cubicBezTo>
                <a:lnTo>
                  <a:pt x="237141" y="200088"/>
                </a:lnTo>
                <a:cubicBezTo>
                  <a:pt x="241217" y="200088"/>
                  <a:pt x="244551" y="196753"/>
                  <a:pt x="244551" y="192677"/>
                </a:cubicBezTo>
                <a:lnTo>
                  <a:pt x="244551" y="144508"/>
                </a:lnTo>
                <a:cubicBezTo>
                  <a:pt x="244551" y="138348"/>
                  <a:pt x="249507" y="133392"/>
                  <a:pt x="255667" y="133392"/>
                </a:cubicBezTo>
                <a:cubicBezTo>
                  <a:pt x="261827" y="133392"/>
                  <a:pt x="266783" y="138348"/>
                  <a:pt x="266783" y="144508"/>
                </a:cubicBezTo>
                <a:lnTo>
                  <a:pt x="266783" y="192677"/>
                </a:lnTo>
                <a:cubicBezTo>
                  <a:pt x="266783" y="209027"/>
                  <a:pt x="253491" y="222319"/>
                  <a:pt x="237141" y="222319"/>
                </a:cubicBezTo>
                <a:lnTo>
                  <a:pt x="29643" y="222319"/>
                </a:lnTo>
                <a:cubicBezTo>
                  <a:pt x="13293" y="222319"/>
                  <a:pt x="0" y="209027"/>
                  <a:pt x="0" y="192677"/>
                </a:cubicBezTo>
                <a:lnTo>
                  <a:pt x="0" y="144508"/>
                </a:lnTo>
                <a:cubicBezTo>
                  <a:pt x="0" y="138348"/>
                  <a:pt x="4956" y="133392"/>
                  <a:pt x="11116" y="133392"/>
                </a:cubicBezTo>
                <a:cubicBezTo>
                  <a:pt x="17276" y="133392"/>
                  <a:pt x="22232" y="138348"/>
                  <a:pt x="22232" y="14450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8851654" y="6023376"/>
            <a:ext cx="6839098" cy="331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法定人数复制 (Quorum)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422388" y="6497657"/>
            <a:ext cx="7244651" cy="616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4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基于多数派原则,需要超过半数节点确认才能完成操作。通过调整W和R的值,可以在一致性和可用性之间做权衡。</a:t>
            </a:r>
            <a:endParaRPr lang="en-US" sz="1600" dirty="0"/>
          </a:p>
        </p:txBody>
      </p:sp>
      <p:sp>
        <p:nvSpPr>
          <p:cNvPr id="8" name="Shape 21"/>
          <p:cNvSpPr/>
          <p:nvPr/>
        </p:nvSpPr>
        <p:spPr>
          <a:xfrm>
            <a:off x="8428317" y="7215008"/>
            <a:ext cx="7137937" cy="1244989"/>
          </a:xfrm>
          <a:custGeom>
            <a:avLst/>
            <a:gdLst/>
            <a:ahLst/>
            <a:cxnLst/>
            <a:rect l="l" t="t" r="r" b="b"/>
            <a:pathLst>
              <a:path w="7137937" h="1244989">
                <a:moveTo>
                  <a:pt x="47434" y="0"/>
                </a:moveTo>
                <a:lnTo>
                  <a:pt x="7090503" y="0"/>
                </a:lnTo>
                <a:cubicBezTo>
                  <a:pt x="7116700" y="0"/>
                  <a:pt x="7137937" y="21237"/>
                  <a:pt x="7137937" y="47434"/>
                </a:cubicBezTo>
                <a:lnTo>
                  <a:pt x="7137937" y="1197555"/>
                </a:lnTo>
                <a:cubicBezTo>
                  <a:pt x="7137937" y="1223752"/>
                  <a:pt x="7116700" y="1244989"/>
                  <a:pt x="7090503" y="1244989"/>
                </a:cubicBezTo>
                <a:lnTo>
                  <a:pt x="47434" y="1244989"/>
                </a:lnTo>
                <a:cubicBezTo>
                  <a:pt x="21237" y="1244989"/>
                  <a:pt x="0" y="1223752"/>
                  <a:pt x="0" y="1197555"/>
                </a:cubicBezTo>
                <a:lnTo>
                  <a:pt x="0" y="47434"/>
                </a:lnTo>
                <a:cubicBezTo>
                  <a:pt x="0" y="21237"/>
                  <a:pt x="21237" y="0"/>
                  <a:pt x="4743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8576530" y="7363221"/>
            <a:ext cx="6936368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核心参数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8576530" y="7742646"/>
            <a:ext cx="3462255" cy="237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0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N:</a:t>
            </a:r>
            <a:r>
              <a:rPr lang="en-US" sz="130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总副本数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2046659" y="7742646"/>
            <a:ext cx="3462255" cy="237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0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W:</a:t>
            </a:r>
            <a:r>
              <a:rPr lang="en-US" sz="130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写操作需要的确认数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576530" y="8074643"/>
            <a:ext cx="3462255" cy="237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0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R:</a:t>
            </a:r>
            <a:r>
              <a:rPr lang="en-US" sz="130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读操作需要的确认数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12046659" y="8074643"/>
            <a:ext cx="3462255" cy="237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0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强一致性条件:</a:t>
            </a:r>
            <a:r>
              <a:rPr lang="en-US" sz="130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 + R &gt; 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480" y="448480"/>
            <a:ext cx="3598910" cy="454016"/>
          </a:xfrm>
          <a:custGeom>
            <a:avLst/>
            <a:gdLst/>
            <a:ahLst/>
            <a:cxnLst/>
            <a:rect l="l" t="t" r="r" b="b"/>
            <a:pathLst>
              <a:path w="3598910" h="454016">
                <a:moveTo>
                  <a:pt x="44294" y="0"/>
                </a:moveTo>
                <a:lnTo>
                  <a:pt x="3554616" y="0"/>
                </a:lnTo>
                <a:cubicBezTo>
                  <a:pt x="3579079" y="0"/>
                  <a:pt x="3598910" y="19831"/>
                  <a:pt x="3598910" y="44294"/>
                </a:cubicBezTo>
                <a:lnTo>
                  <a:pt x="3598910" y="409723"/>
                </a:lnTo>
                <a:cubicBezTo>
                  <a:pt x="3598910" y="434185"/>
                  <a:pt x="3579079" y="454016"/>
                  <a:pt x="3554616" y="454016"/>
                </a:cubicBezTo>
                <a:lnTo>
                  <a:pt x="44294" y="454016"/>
                </a:lnTo>
                <a:cubicBezTo>
                  <a:pt x="19831" y="454016"/>
                  <a:pt x="0" y="434185"/>
                  <a:pt x="0" y="409723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127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1193" y="559215"/>
            <a:ext cx="3318351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kern="0" spc="7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HEARTBEAT &amp; FAILURE DETECTION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2943" y="996621"/>
            <a:ext cx="15569439" cy="442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3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心跳机制与故障检测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8480" y="1577984"/>
            <a:ext cx="7585395" cy="3621057"/>
          </a:xfrm>
          <a:custGeom>
            <a:avLst/>
            <a:gdLst/>
            <a:ahLst/>
            <a:cxnLst/>
            <a:rect l="l" t="t" r="r" b="b"/>
            <a:pathLst>
              <a:path w="7585395" h="3621057">
                <a:moveTo>
                  <a:pt x="88571" y="0"/>
                </a:moveTo>
                <a:lnTo>
                  <a:pt x="7496824" y="0"/>
                </a:lnTo>
                <a:cubicBezTo>
                  <a:pt x="7545740" y="0"/>
                  <a:pt x="7585395" y="39655"/>
                  <a:pt x="7585395" y="88571"/>
                </a:cubicBezTo>
                <a:lnTo>
                  <a:pt x="7585395" y="3532486"/>
                </a:lnTo>
                <a:cubicBezTo>
                  <a:pt x="7585395" y="3581403"/>
                  <a:pt x="7545740" y="3621057"/>
                  <a:pt x="7496824" y="3621057"/>
                </a:cubicBezTo>
                <a:lnTo>
                  <a:pt x="88571" y="3621057"/>
                </a:lnTo>
                <a:cubicBezTo>
                  <a:pt x="39655" y="3621057"/>
                  <a:pt x="0" y="3581403"/>
                  <a:pt x="0" y="3532486"/>
                </a:cubicBezTo>
                <a:lnTo>
                  <a:pt x="0" y="88571"/>
                </a:lnTo>
                <a:cubicBezTo>
                  <a:pt x="0" y="39687"/>
                  <a:pt x="39687" y="0"/>
                  <a:pt x="8857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58877" y="1804992"/>
            <a:ext cx="221471" cy="221471"/>
          </a:xfrm>
          <a:custGeom>
            <a:avLst/>
            <a:gdLst/>
            <a:ahLst/>
            <a:cxnLst/>
            <a:rect l="l" t="t" r="r" b="b"/>
            <a:pathLst>
              <a:path w="221471" h="221471">
                <a:moveTo>
                  <a:pt x="110736" y="46673"/>
                </a:moveTo>
                <a:lnTo>
                  <a:pt x="104247" y="37676"/>
                </a:lnTo>
                <a:cubicBezTo>
                  <a:pt x="93433" y="22709"/>
                  <a:pt x="76088" y="13842"/>
                  <a:pt x="57574" y="13842"/>
                </a:cubicBezTo>
                <a:cubicBezTo>
                  <a:pt x="25781" y="13842"/>
                  <a:pt x="0" y="39623"/>
                  <a:pt x="0" y="71416"/>
                </a:cubicBezTo>
                <a:lnTo>
                  <a:pt x="0" y="72541"/>
                </a:lnTo>
                <a:cubicBezTo>
                  <a:pt x="0" y="82749"/>
                  <a:pt x="2682" y="93303"/>
                  <a:pt x="7181" y="103815"/>
                </a:cubicBezTo>
                <a:lnTo>
                  <a:pt x="53032" y="103815"/>
                </a:lnTo>
                <a:cubicBezTo>
                  <a:pt x="54416" y="103815"/>
                  <a:pt x="55671" y="102993"/>
                  <a:pt x="56233" y="101695"/>
                </a:cubicBezTo>
                <a:lnTo>
                  <a:pt x="69988" y="68691"/>
                </a:lnTo>
                <a:cubicBezTo>
                  <a:pt x="71589" y="64884"/>
                  <a:pt x="75309" y="62375"/>
                  <a:pt x="79418" y="62289"/>
                </a:cubicBezTo>
                <a:cubicBezTo>
                  <a:pt x="83528" y="62202"/>
                  <a:pt x="87334" y="64625"/>
                  <a:pt x="89021" y="68388"/>
                </a:cubicBezTo>
                <a:lnTo>
                  <a:pt x="111212" y="117657"/>
                </a:lnTo>
                <a:lnTo>
                  <a:pt x="129120" y="81841"/>
                </a:lnTo>
                <a:cubicBezTo>
                  <a:pt x="130893" y="78337"/>
                  <a:pt x="134483" y="76088"/>
                  <a:pt x="138420" y="76088"/>
                </a:cubicBezTo>
                <a:cubicBezTo>
                  <a:pt x="142356" y="76088"/>
                  <a:pt x="145946" y="78294"/>
                  <a:pt x="147720" y="81841"/>
                </a:cubicBezTo>
                <a:lnTo>
                  <a:pt x="157755" y="101868"/>
                </a:lnTo>
                <a:cubicBezTo>
                  <a:pt x="158361" y="103036"/>
                  <a:pt x="159529" y="103771"/>
                  <a:pt x="160870" y="103771"/>
                </a:cubicBezTo>
                <a:lnTo>
                  <a:pt x="214334" y="103771"/>
                </a:lnTo>
                <a:cubicBezTo>
                  <a:pt x="218876" y="93260"/>
                  <a:pt x="221515" y="82706"/>
                  <a:pt x="221515" y="72497"/>
                </a:cubicBezTo>
                <a:lnTo>
                  <a:pt x="221515" y="71373"/>
                </a:lnTo>
                <a:cubicBezTo>
                  <a:pt x="221471" y="39623"/>
                  <a:pt x="195691" y="13842"/>
                  <a:pt x="163897" y="13842"/>
                </a:cubicBezTo>
                <a:cubicBezTo>
                  <a:pt x="145427" y="13842"/>
                  <a:pt x="128038" y="22709"/>
                  <a:pt x="117224" y="37676"/>
                </a:cubicBezTo>
                <a:lnTo>
                  <a:pt x="110736" y="46630"/>
                </a:lnTo>
                <a:close/>
                <a:moveTo>
                  <a:pt x="203131" y="124578"/>
                </a:moveTo>
                <a:lnTo>
                  <a:pt x="160826" y="124578"/>
                </a:lnTo>
                <a:cubicBezTo>
                  <a:pt x="151656" y="124578"/>
                  <a:pt x="143264" y="119387"/>
                  <a:pt x="139155" y="111168"/>
                </a:cubicBezTo>
                <a:lnTo>
                  <a:pt x="138420" y="109698"/>
                </a:lnTo>
                <a:lnTo>
                  <a:pt x="120036" y="146509"/>
                </a:lnTo>
                <a:cubicBezTo>
                  <a:pt x="118262" y="150099"/>
                  <a:pt x="114542" y="152348"/>
                  <a:pt x="110519" y="152262"/>
                </a:cubicBezTo>
                <a:cubicBezTo>
                  <a:pt x="106497" y="152175"/>
                  <a:pt x="102906" y="149796"/>
                  <a:pt x="101263" y="146162"/>
                </a:cubicBezTo>
                <a:lnTo>
                  <a:pt x="79937" y="98797"/>
                </a:lnTo>
                <a:lnTo>
                  <a:pt x="75395" y="109698"/>
                </a:lnTo>
                <a:cubicBezTo>
                  <a:pt x="71632" y="118738"/>
                  <a:pt x="62808" y="124621"/>
                  <a:pt x="53032" y="124621"/>
                </a:cubicBezTo>
                <a:lnTo>
                  <a:pt x="18341" y="124621"/>
                </a:lnTo>
                <a:cubicBezTo>
                  <a:pt x="38757" y="156544"/>
                  <a:pt x="71546" y="185915"/>
                  <a:pt x="92049" y="201574"/>
                </a:cubicBezTo>
                <a:cubicBezTo>
                  <a:pt x="97413" y="205640"/>
                  <a:pt x="103988" y="207673"/>
                  <a:pt x="110692" y="207673"/>
                </a:cubicBezTo>
                <a:cubicBezTo>
                  <a:pt x="117397" y="207673"/>
                  <a:pt x="124015" y="205683"/>
                  <a:pt x="129336" y="201574"/>
                </a:cubicBezTo>
                <a:cubicBezTo>
                  <a:pt x="149926" y="185872"/>
                  <a:pt x="182714" y="156501"/>
                  <a:pt x="203131" y="12457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23898" y="1760698"/>
            <a:ext cx="6937999" cy="31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心跳机制工作原理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1193" y="2203640"/>
            <a:ext cx="7308556" cy="28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5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心跳机制就像"</a:t>
            </a:r>
            <a:r>
              <a:rPr lang="en-US" sz="1395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点名签到</a:t>
            </a:r>
            <a:r>
              <a:rPr lang="en-US" sz="1395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"系统,节点定期发送存活信号,监控中心检测超时来判断故障。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341" y="2624436"/>
            <a:ext cx="7197820" cy="708708"/>
          </a:xfrm>
          <a:custGeom>
            <a:avLst/>
            <a:gdLst/>
            <a:ahLst/>
            <a:cxnLst/>
            <a:rect l="l" t="t" r="r" b="b"/>
            <a:pathLst>
              <a:path w="7197820" h="708708">
                <a:moveTo>
                  <a:pt x="44294" y="0"/>
                </a:moveTo>
                <a:lnTo>
                  <a:pt x="7153526" y="0"/>
                </a:lnTo>
                <a:cubicBezTo>
                  <a:pt x="7177989" y="0"/>
                  <a:pt x="7197820" y="19831"/>
                  <a:pt x="7197820" y="44294"/>
                </a:cubicBezTo>
                <a:lnTo>
                  <a:pt x="7197820" y="664414"/>
                </a:lnTo>
                <a:cubicBezTo>
                  <a:pt x="7197820" y="688877"/>
                  <a:pt x="7177989" y="708708"/>
                  <a:pt x="7153526" y="708708"/>
                </a:cubicBezTo>
                <a:lnTo>
                  <a:pt x="44294" y="708708"/>
                </a:lnTo>
                <a:cubicBezTo>
                  <a:pt x="19831" y="708708"/>
                  <a:pt x="0" y="688877"/>
                  <a:pt x="0" y="664414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53341" y="2624436"/>
            <a:ext cx="44294" cy="708708"/>
          </a:xfrm>
          <a:custGeom>
            <a:avLst/>
            <a:gdLst/>
            <a:ahLst/>
            <a:cxnLst/>
            <a:rect l="l" t="t" r="r" b="b"/>
            <a:pathLst>
              <a:path w="44294" h="708708">
                <a:moveTo>
                  <a:pt x="44294" y="0"/>
                </a:moveTo>
                <a:lnTo>
                  <a:pt x="44294" y="0"/>
                </a:lnTo>
                <a:lnTo>
                  <a:pt x="44294" y="708708"/>
                </a:lnTo>
                <a:lnTo>
                  <a:pt x="44294" y="708708"/>
                </a:lnTo>
                <a:cubicBezTo>
                  <a:pt x="19831" y="708708"/>
                  <a:pt x="0" y="688877"/>
                  <a:pt x="0" y="664414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8371" y="2713025"/>
            <a:ext cx="7042790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心跳发送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8371" y="3023084"/>
            <a:ext cx="7031717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各节点定期向监控中心发送存活信号,证明正常运行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3341" y="3466027"/>
            <a:ext cx="7197820" cy="708708"/>
          </a:xfrm>
          <a:custGeom>
            <a:avLst/>
            <a:gdLst/>
            <a:ahLst/>
            <a:cxnLst/>
            <a:rect l="l" t="t" r="r" b="b"/>
            <a:pathLst>
              <a:path w="7197820" h="708708">
                <a:moveTo>
                  <a:pt x="44294" y="0"/>
                </a:moveTo>
                <a:lnTo>
                  <a:pt x="7153526" y="0"/>
                </a:lnTo>
                <a:cubicBezTo>
                  <a:pt x="7177989" y="0"/>
                  <a:pt x="7197820" y="19831"/>
                  <a:pt x="7197820" y="44294"/>
                </a:cubicBezTo>
                <a:lnTo>
                  <a:pt x="7197820" y="664414"/>
                </a:lnTo>
                <a:cubicBezTo>
                  <a:pt x="7197820" y="688877"/>
                  <a:pt x="7177989" y="708708"/>
                  <a:pt x="7153526" y="708708"/>
                </a:cubicBezTo>
                <a:lnTo>
                  <a:pt x="44294" y="708708"/>
                </a:lnTo>
                <a:cubicBezTo>
                  <a:pt x="19831" y="708708"/>
                  <a:pt x="0" y="688877"/>
                  <a:pt x="0" y="664414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53341" y="3466027"/>
            <a:ext cx="44294" cy="708708"/>
          </a:xfrm>
          <a:custGeom>
            <a:avLst/>
            <a:gdLst/>
            <a:ahLst/>
            <a:cxnLst/>
            <a:rect l="l" t="t" r="r" b="b"/>
            <a:pathLst>
              <a:path w="44294" h="708708">
                <a:moveTo>
                  <a:pt x="44294" y="0"/>
                </a:moveTo>
                <a:lnTo>
                  <a:pt x="44294" y="0"/>
                </a:lnTo>
                <a:lnTo>
                  <a:pt x="44294" y="708708"/>
                </a:lnTo>
                <a:lnTo>
                  <a:pt x="44294" y="708708"/>
                </a:lnTo>
                <a:cubicBezTo>
                  <a:pt x="19831" y="708708"/>
                  <a:pt x="0" y="688877"/>
                  <a:pt x="0" y="664414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08371" y="3554616"/>
            <a:ext cx="7042790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超时检测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8371" y="3864676"/>
            <a:ext cx="7031717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监控中心检查节点心跳是否超过预设阈值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3341" y="4307619"/>
            <a:ext cx="7197820" cy="708708"/>
          </a:xfrm>
          <a:custGeom>
            <a:avLst/>
            <a:gdLst/>
            <a:ahLst/>
            <a:cxnLst/>
            <a:rect l="l" t="t" r="r" b="b"/>
            <a:pathLst>
              <a:path w="7197820" h="708708">
                <a:moveTo>
                  <a:pt x="44294" y="0"/>
                </a:moveTo>
                <a:lnTo>
                  <a:pt x="7153526" y="0"/>
                </a:lnTo>
                <a:cubicBezTo>
                  <a:pt x="7177989" y="0"/>
                  <a:pt x="7197820" y="19831"/>
                  <a:pt x="7197820" y="44294"/>
                </a:cubicBezTo>
                <a:lnTo>
                  <a:pt x="7197820" y="664414"/>
                </a:lnTo>
                <a:cubicBezTo>
                  <a:pt x="7197820" y="688877"/>
                  <a:pt x="7177989" y="708708"/>
                  <a:pt x="7153526" y="708708"/>
                </a:cubicBezTo>
                <a:lnTo>
                  <a:pt x="44294" y="708708"/>
                </a:lnTo>
                <a:cubicBezTo>
                  <a:pt x="19831" y="708708"/>
                  <a:pt x="0" y="688877"/>
                  <a:pt x="0" y="664414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53341" y="4307619"/>
            <a:ext cx="44294" cy="708708"/>
          </a:xfrm>
          <a:custGeom>
            <a:avLst/>
            <a:gdLst/>
            <a:ahLst/>
            <a:cxnLst/>
            <a:rect l="l" t="t" r="r" b="b"/>
            <a:pathLst>
              <a:path w="44294" h="708708">
                <a:moveTo>
                  <a:pt x="44294" y="0"/>
                </a:moveTo>
                <a:lnTo>
                  <a:pt x="44294" y="0"/>
                </a:lnTo>
                <a:lnTo>
                  <a:pt x="44294" y="708708"/>
                </a:lnTo>
                <a:lnTo>
                  <a:pt x="44294" y="708708"/>
                </a:lnTo>
                <a:cubicBezTo>
                  <a:pt x="19831" y="708708"/>
                  <a:pt x="0" y="688877"/>
                  <a:pt x="0" y="664414"/>
                </a:cubicBezTo>
                <a:lnTo>
                  <a:pt x="0" y="44294"/>
                </a:lnTo>
                <a:cubicBezTo>
                  <a:pt x="0" y="19831"/>
                  <a:pt x="19831" y="0"/>
                  <a:pt x="4429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8371" y="4396207"/>
            <a:ext cx="7042790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故障判定与恢复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8371" y="4706267"/>
            <a:ext cx="7031717" cy="22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超时节点被标记为故障,触发恢复流程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4548" y="1577984"/>
            <a:ext cx="7585395" cy="3621057"/>
          </a:xfrm>
          <a:custGeom>
            <a:avLst/>
            <a:gdLst/>
            <a:ahLst/>
            <a:cxnLst/>
            <a:rect l="l" t="t" r="r" b="b"/>
            <a:pathLst>
              <a:path w="7585395" h="3621057">
                <a:moveTo>
                  <a:pt x="88571" y="0"/>
                </a:moveTo>
                <a:lnTo>
                  <a:pt x="7496824" y="0"/>
                </a:lnTo>
                <a:cubicBezTo>
                  <a:pt x="7545740" y="0"/>
                  <a:pt x="7585395" y="39655"/>
                  <a:pt x="7585395" y="88571"/>
                </a:cubicBezTo>
                <a:lnTo>
                  <a:pt x="7585395" y="3532486"/>
                </a:lnTo>
                <a:cubicBezTo>
                  <a:pt x="7585395" y="3581403"/>
                  <a:pt x="7545740" y="3621057"/>
                  <a:pt x="7496824" y="3621057"/>
                </a:cubicBezTo>
                <a:lnTo>
                  <a:pt x="88571" y="3621057"/>
                </a:lnTo>
                <a:cubicBezTo>
                  <a:pt x="39655" y="3621057"/>
                  <a:pt x="0" y="3581403"/>
                  <a:pt x="0" y="3532486"/>
                </a:cubicBezTo>
                <a:lnTo>
                  <a:pt x="0" y="88571"/>
                </a:lnTo>
                <a:cubicBezTo>
                  <a:pt x="0" y="39687"/>
                  <a:pt x="39687" y="0"/>
                  <a:pt x="8857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462629" y="1804992"/>
            <a:ext cx="166104" cy="221471"/>
          </a:xfrm>
          <a:custGeom>
            <a:avLst/>
            <a:gdLst/>
            <a:ahLst/>
            <a:cxnLst/>
            <a:rect l="l" t="t" r="r" b="b"/>
            <a:pathLst>
              <a:path w="166104" h="221471">
                <a:moveTo>
                  <a:pt x="134700" y="13842"/>
                </a:moveTo>
                <a:lnTo>
                  <a:pt x="138420" y="13842"/>
                </a:lnTo>
                <a:cubicBezTo>
                  <a:pt x="153689" y="13842"/>
                  <a:pt x="166104" y="26256"/>
                  <a:pt x="166104" y="41526"/>
                </a:cubicBezTo>
                <a:lnTo>
                  <a:pt x="166104" y="193787"/>
                </a:lnTo>
                <a:cubicBezTo>
                  <a:pt x="166104" y="209057"/>
                  <a:pt x="153689" y="221471"/>
                  <a:pt x="138420" y="221471"/>
                </a:cubicBezTo>
                <a:lnTo>
                  <a:pt x="27684" y="221471"/>
                </a:lnTo>
                <a:cubicBezTo>
                  <a:pt x="12415" y="221471"/>
                  <a:pt x="0" y="209057"/>
                  <a:pt x="0" y="193787"/>
                </a:cubicBezTo>
                <a:lnTo>
                  <a:pt x="0" y="41526"/>
                </a:lnTo>
                <a:cubicBezTo>
                  <a:pt x="0" y="26256"/>
                  <a:pt x="12415" y="13842"/>
                  <a:pt x="27684" y="13842"/>
                </a:cubicBezTo>
                <a:lnTo>
                  <a:pt x="31404" y="13842"/>
                </a:lnTo>
                <a:cubicBezTo>
                  <a:pt x="36162" y="5580"/>
                  <a:pt x="45116" y="0"/>
                  <a:pt x="55368" y="0"/>
                </a:cubicBezTo>
                <a:lnTo>
                  <a:pt x="110736" y="0"/>
                </a:lnTo>
                <a:cubicBezTo>
                  <a:pt x="120987" y="0"/>
                  <a:pt x="129941" y="5580"/>
                  <a:pt x="134700" y="13842"/>
                </a:cubicBezTo>
                <a:close/>
                <a:moveTo>
                  <a:pt x="107275" y="48447"/>
                </a:moveTo>
                <a:cubicBezTo>
                  <a:pt x="113028" y="48447"/>
                  <a:pt x="117657" y="43818"/>
                  <a:pt x="117657" y="38065"/>
                </a:cubicBezTo>
                <a:cubicBezTo>
                  <a:pt x="117657" y="32312"/>
                  <a:pt x="113028" y="27684"/>
                  <a:pt x="107275" y="27684"/>
                </a:cubicBezTo>
                <a:lnTo>
                  <a:pt x="58828" y="27684"/>
                </a:lnTo>
                <a:cubicBezTo>
                  <a:pt x="53075" y="27684"/>
                  <a:pt x="48447" y="32312"/>
                  <a:pt x="48447" y="38065"/>
                </a:cubicBezTo>
                <a:cubicBezTo>
                  <a:pt x="48447" y="43818"/>
                  <a:pt x="53075" y="48447"/>
                  <a:pt x="58828" y="48447"/>
                </a:cubicBezTo>
                <a:lnTo>
                  <a:pt x="107275" y="48447"/>
                </a:lnTo>
                <a:close/>
                <a:moveTo>
                  <a:pt x="55368" y="110736"/>
                </a:moveTo>
                <a:cubicBezTo>
                  <a:pt x="55368" y="103096"/>
                  <a:pt x="49165" y="96894"/>
                  <a:pt x="41526" y="96894"/>
                </a:cubicBezTo>
                <a:cubicBezTo>
                  <a:pt x="33886" y="96894"/>
                  <a:pt x="27684" y="103096"/>
                  <a:pt x="27684" y="110736"/>
                </a:cubicBezTo>
                <a:cubicBezTo>
                  <a:pt x="27684" y="118375"/>
                  <a:pt x="33886" y="124578"/>
                  <a:pt x="41526" y="124578"/>
                </a:cubicBezTo>
                <a:cubicBezTo>
                  <a:pt x="49165" y="124578"/>
                  <a:pt x="55368" y="118375"/>
                  <a:pt x="55368" y="110736"/>
                </a:cubicBezTo>
                <a:close/>
                <a:moveTo>
                  <a:pt x="69210" y="110736"/>
                </a:moveTo>
                <a:cubicBezTo>
                  <a:pt x="69210" y="116489"/>
                  <a:pt x="73838" y="121117"/>
                  <a:pt x="79591" y="121117"/>
                </a:cubicBezTo>
                <a:lnTo>
                  <a:pt x="128038" y="121117"/>
                </a:lnTo>
                <a:cubicBezTo>
                  <a:pt x="133791" y="121117"/>
                  <a:pt x="138420" y="116489"/>
                  <a:pt x="138420" y="110736"/>
                </a:cubicBezTo>
                <a:cubicBezTo>
                  <a:pt x="138420" y="104983"/>
                  <a:pt x="133791" y="100354"/>
                  <a:pt x="128038" y="100354"/>
                </a:cubicBezTo>
                <a:lnTo>
                  <a:pt x="79591" y="100354"/>
                </a:lnTo>
                <a:cubicBezTo>
                  <a:pt x="73838" y="100354"/>
                  <a:pt x="69210" y="104983"/>
                  <a:pt x="69210" y="110736"/>
                </a:cubicBezTo>
                <a:close/>
                <a:moveTo>
                  <a:pt x="69210" y="166104"/>
                </a:moveTo>
                <a:cubicBezTo>
                  <a:pt x="69210" y="171857"/>
                  <a:pt x="73838" y="176485"/>
                  <a:pt x="79591" y="176485"/>
                </a:cubicBezTo>
                <a:lnTo>
                  <a:pt x="128038" y="176485"/>
                </a:lnTo>
                <a:cubicBezTo>
                  <a:pt x="133791" y="176485"/>
                  <a:pt x="138420" y="171857"/>
                  <a:pt x="138420" y="166104"/>
                </a:cubicBezTo>
                <a:cubicBezTo>
                  <a:pt x="138420" y="160350"/>
                  <a:pt x="133791" y="155722"/>
                  <a:pt x="128038" y="155722"/>
                </a:cubicBezTo>
                <a:lnTo>
                  <a:pt x="79591" y="155722"/>
                </a:lnTo>
                <a:cubicBezTo>
                  <a:pt x="73838" y="155722"/>
                  <a:pt x="69210" y="160350"/>
                  <a:pt x="69210" y="166104"/>
                </a:cubicBezTo>
                <a:close/>
                <a:moveTo>
                  <a:pt x="41526" y="179946"/>
                </a:moveTo>
                <a:cubicBezTo>
                  <a:pt x="49165" y="179946"/>
                  <a:pt x="55368" y="173743"/>
                  <a:pt x="55368" y="166104"/>
                </a:cubicBezTo>
                <a:cubicBezTo>
                  <a:pt x="55368" y="158464"/>
                  <a:pt x="49165" y="152262"/>
                  <a:pt x="41526" y="152262"/>
                </a:cubicBezTo>
                <a:cubicBezTo>
                  <a:pt x="33886" y="152262"/>
                  <a:pt x="27684" y="158464"/>
                  <a:pt x="27684" y="166104"/>
                </a:cubicBezTo>
                <a:cubicBezTo>
                  <a:pt x="27684" y="173743"/>
                  <a:pt x="33886" y="179946"/>
                  <a:pt x="41526" y="179946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799966" y="1760698"/>
            <a:ext cx="6937999" cy="31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故障检测机制对比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07262" y="2203640"/>
          <a:ext cx="7219968" cy="2812685"/>
        </p:xfrm>
        <a:graphic>
          <a:graphicData uri="http://schemas.openxmlformats.org/drawingml/2006/table">
            <a:tbl>
              <a:tblPr/>
              <a:tblGrid>
                <a:gridCol w="109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5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5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0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35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2537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机制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缺点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9505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53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心跳检测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定期发送心跳消息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简单、实时性好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网络抖动可能误判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集群管理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53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租约机制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基于时间的故障检测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减少网络开销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时钟同步要求高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53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Gossip协议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节点间传播状态信息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去中心化、容错性强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收敛时间较长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大规模集群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53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故障检测器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基于超时和怀疑机制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理论基础完备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实现复杂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共识算法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448480" y="5342997"/>
            <a:ext cx="7585395" cy="3661372"/>
          </a:xfrm>
          <a:custGeom>
            <a:avLst/>
            <a:gdLst/>
            <a:ahLst/>
            <a:cxnLst/>
            <a:rect l="l" t="t" r="r" b="b"/>
            <a:pathLst>
              <a:path w="7585395" h="4374060">
                <a:moveTo>
                  <a:pt x="88575" y="0"/>
                </a:moveTo>
                <a:lnTo>
                  <a:pt x="7496820" y="0"/>
                </a:lnTo>
                <a:cubicBezTo>
                  <a:pt x="7545739" y="0"/>
                  <a:pt x="7585395" y="39656"/>
                  <a:pt x="7585395" y="88575"/>
                </a:cubicBezTo>
                <a:lnTo>
                  <a:pt x="7585395" y="4285485"/>
                </a:lnTo>
                <a:cubicBezTo>
                  <a:pt x="7585395" y="4334404"/>
                  <a:pt x="7545739" y="4374060"/>
                  <a:pt x="7496820" y="4374060"/>
                </a:cubicBezTo>
                <a:lnTo>
                  <a:pt x="88575" y="4374060"/>
                </a:lnTo>
                <a:cubicBezTo>
                  <a:pt x="39656" y="4374060"/>
                  <a:pt x="0" y="4334404"/>
                  <a:pt x="0" y="4285485"/>
                </a:cubicBezTo>
                <a:lnTo>
                  <a:pt x="0" y="88575"/>
                </a:lnTo>
                <a:cubicBezTo>
                  <a:pt x="0" y="39689"/>
                  <a:pt x="39689" y="0"/>
                  <a:pt x="88575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3"/>
          <p:cNvSpPr/>
          <p:nvPr/>
        </p:nvSpPr>
        <p:spPr>
          <a:xfrm>
            <a:off x="658877" y="5570005"/>
            <a:ext cx="221471" cy="221471"/>
          </a:xfrm>
          <a:custGeom>
            <a:avLst/>
            <a:gdLst/>
            <a:ahLst/>
            <a:cxnLst/>
            <a:rect l="l" t="t" r="r" b="b"/>
            <a:pathLst>
              <a:path w="221471" h="221471">
                <a:moveTo>
                  <a:pt x="110736" y="0"/>
                </a:moveTo>
                <a:cubicBezTo>
                  <a:pt x="117094" y="0"/>
                  <a:pt x="122934" y="3504"/>
                  <a:pt x="125962" y="9084"/>
                </a:cubicBezTo>
                <a:lnTo>
                  <a:pt x="219395" y="182108"/>
                </a:lnTo>
                <a:cubicBezTo>
                  <a:pt x="222293" y="187472"/>
                  <a:pt x="222163" y="193960"/>
                  <a:pt x="219049" y="199194"/>
                </a:cubicBezTo>
                <a:cubicBezTo>
                  <a:pt x="215935" y="204428"/>
                  <a:pt x="210268" y="207629"/>
                  <a:pt x="204169" y="207629"/>
                </a:cubicBezTo>
                <a:lnTo>
                  <a:pt x="17302" y="207629"/>
                </a:lnTo>
                <a:cubicBezTo>
                  <a:pt x="11203" y="207629"/>
                  <a:pt x="5580" y="204428"/>
                  <a:pt x="2422" y="199194"/>
                </a:cubicBezTo>
                <a:cubicBezTo>
                  <a:pt x="-735" y="193960"/>
                  <a:pt x="-822" y="187472"/>
                  <a:pt x="2076" y="182108"/>
                </a:cubicBezTo>
                <a:lnTo>
                  <a:pt x="95510" y="9084"/>
                </a:lnTo>
                <a:cubicBezTo>
                  <a:pt x="98537" y="3504"/>
                  <a:pt x="104377" y="0"/>
                  <a:pt x="110736" y="0"/>
                </a:cubicBezTo>
                <a:close/>
                <a:moveTo>
                  <a:pt x="110736" y="72670"/>
                </a:moveTo>
                <a:cubicBezTo>
                  <a:pt x="104983" y="72670"/>
                  <a:pt x="100354" y="77299"/>
                  <a:pt x="100354" y="83052"/>
                </a:cubicBezTo>
                <a:lnTo>
                  <a:pt x="100354" y="131499"/>
                </a:lnTo>
                <a:cubicBezTo>
                  <a:pt x="100354" y="137252"/>
                  <a:pt x="104983" y="141880"/>
                  <a:pt x="110736" y="141880"/>
                </a:cubicBezTo>
                <a:cubicBezTo>
                  <a:pt x="116489" y="141880"/>
                  <a:pt x="121117" y="137252"/>
                  <a:pt x="121117" y="131499"/>
                </a:cubicBezTo>
                <a:lnTo>
                  <a:pt x="121117" y="83052"/>
                </a:lnTo>
                <a:cubicBezTo>
                  <a:pt x="121117" y="77299"/>
                  <a:pt x="116489" y="72670"/>
                  <a:pt x="110736" y="72670"/>
                </a:cubicBezTo>
                <a:close/>
                <a:moveTo>
                  <a:pt x="122285" y="166104"/>
                </a:moveTo>
                <a:cubicBezTo>
                  <a:pt x="122548" y="161817"/>
                  <a:pt x="120410" y="157738"/>
                  <a:pt x="116735" y="155515"/>
                </a:cubicBezTo>
                <a:cubicBezTo>
                  <a:pt x="113060" y="153292"/>
                  <a:pt x="108455" y="153292"/>
                  <a:pt x="104780" y="155515"/>
                </a:cubicBezTo>
                <a:cubicBezTo>
                  <a:pt x="101105" y="157738"/>
                  <a:pt x="98967" y="161817"/>
                  <a:pt x="99230" y="166104"/>
                </a:cubicBezTo>
                <a:cubicBezTo>
                  <a:pt x="98967" y="170391"/>
                  <a:pt x="101105" y="174469"/>
                  <a:pt x="104780" y="176692"/>
                </a:cubicBezTo>
                <a:cubicBezTo>
                  <a:pt x="108455" y="178915"/>
                  <a:pt x="113060" y="178915"/>
                  <a:pt x="116735" y="176692"/>
                </a:cubicBezTo>
                <a:cubicBezTo>
                  <a:pt x="120410" y="174469"/>
                  <a:pt x="122548" y="170391"/>
                  <a:pt x="122285" y="166104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1023898" y="5525711"/>
            <a:ext cx="6937999" cy="31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故障检测的挑战与解决方案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2267" y="6292210"/>
            <a:ext cx="199324" cy="177177"/>
          </a:xfrm>
          <a:custGeom>
            <a:avLst/>
            <a:gdLst/>
            <a:ahLst/>
            <a:cxnLst/>
            <a:rect l="l" t="t" r="r" b="b"/>
            <a:pathLst>
              <a:path w="199324" h="177177">
                <a:moveTo>
                  <a:pt x="85820" y="30452"/>
                </a:moveTo>
                <a:lnTo>
                  <a:pt x="113504" y="30452"/>
                </a:lnTo>
                <a:lnTo>
                  <a:pt x="113504" y="47063"/>
                </a:lnTo>
                <a:lnTo>
                  <a:pt x="85820" y="47063"/>
                </a:lnTo>
                <a:lnTo>
                  <a:pt x="85820" y="30452"/>
                </a:lnTo>
                <a:close/>
                <a:moveTo>
                  <a:pt x="83052" y="11074"/>
                </a:moveTo>
                <a:cubicBezTo>
                  <a:pt x="73881" y="11074"/>
                  <a:pt x="66441" y="18514"/>
                  <a:pt x="66441" y="27684"/>
                </a:cubicBezTo>
                <a:lnTo>
                  <a:pt x="66441" y="49831"/>
                </a:lnTo>
                <a:cubicBezTo>
                  <a:pt x="66441" y="59001"/>
                  <a:pt x="73881" y="66441"/>
                  <a:pt x="83052" y="66441"/>
                </a:cubicBezTo>
                <a:lnTo>
                  <a:pt x="88589" y="66441"/>
                </a:lnTo>
                <a:lnTo>
                  <a:pt x="88589" y="77515"/>
                </a:lnTo>
                <a:lnTo>
                  <a:pt x="11074" y="77515"/>
                </a:lnTo>
                <a:cubicBezTo>
                  <a:pt x="4949" y="77515"/>
                  <a:pt x="0" y="82463"/>
                  <a:pt x="0" y="88589"/>
                </a:cubicBezTo>
                <a:cubicBezTo>
                  <a:pt x="0" y="94714"/>
                  <a:pt x="4949" y="99662"/>
                  <a:pt x="11074" y="99662"/>
                </a:cubicBezTo>
                <a:lnTo>
                  <a:pt x="44294" y="99662"/>
                </a:lnTo>
                <a:lnTo>
                  <a:pt x="44294" y="110736"/>
                </a:lnTo>
                <a:lnTo>
                  <a:pt x="38757" y="110736"/>
                </a:lnTo>
                <a:cubicBezTo>
                  <a:pt x="29587" y="110736"/>
                  <a:pt x="22147" y="118176"/>
                  <a:pt x="22147" y="127346"/>
                </a:cubicBezTo>
                <a:lnTo>
                  <a:pt x="22147" y="149493"/>
                </a:lnTo>
                <a:cubicBezTo>
                  <a:pt x="22147" y="158663"/>
                  <a:pt x="29587" y="166104"/>
                  <a:pt x="38757" y="166104"/>
                </a:cubicBezTo>
                <a:lnTo>
                  <a:pt x="71978" y="166104"/>
                </a:lnTo>
                <a:cubicBezTo>
                  <a:pt x="81149" y="166104"/>
                  <a:pt x="88589" y="158663"/>
                  <a:pt x="88589" y="149493"/>
                </a:cubicBezTo>
                <a:lnTo>
                  <a:pt x="88589" y="127346"/>
                </a:lnTo>
                <a:cubicBezTo>
                  <a:pt x="88589" y="118176"/>
                  <a:pt x="81149" y="110736"/>
                  <a:pt x="71978" y="110736"/>
                </a:cubicBezTo>
                <a:lnTo>
                  <a:pt x="66441" y="110736"/>
                </a:lnTo>
                <a:lnTo>
                  <a:pt x="66441" y="99662"/>
                </a:lnTo>
                <a:lnTo>
                  <a:pt x="132883" y="99662"/>
                </a:lnTo>
                <a:lnTo>
                  <a:pt x="132883" y="110736"/>
                </a:lnTo>
                <a:lnTo>
                  <a:pt x="127346" y="110736"/>
                </a:lnTo>
                <a:cubicBezTo>
                  <a:pt x="118176" y="110736"/>
                  <a:pt x="110736" y="118176"/>
                  <a:pt x="110736" y="127346"/>
                </a:cubicBezTo>
                <a:lnTo>
                  <a:pt x="110736" y="149493"/>
                </a:lnTo>
                <a:cubicBezTo>
                  <a:pt x="110736" y="158663"/>
                  <a:pt x="118176" y="166104"/>
                  <a:pt x="127346" y="166104"/>
                </a:cubicBezTo>
                <a:lnTo>
                  <a:pt x="160567" y="166104"/>
                </a:lnTo>
                <a:cubicBezTo>
                  <a:pt x="169737" y="166104"/>
                  <a:pt x="177177" y="158663"/>
                  <a:pt x="177177" y="149493"/>
                </a:cubicBezTo>
                <a:lnTo>
                  <a:pt x="177177" y="127346"/>
                </a:lnTo>
                <a:cubicBezTo>
                  <a:pt x="177177" y="118176"/>
                  <a:pt x="169737" y="110736"/>
                  <a:pt x="160567" y="110736"/>
                </a:cubicBezTo>
                <a:lnTo>
                  <a:pt x="155030" y="110736"/>
                </a:lnTo>
                <a:lnTo>
                  <a:pt x="155030" y="99662"/>
                </a:lnTo>
                <a:lnTo>
                  <a:pt x="188251" y="99662"/>
                </a:lnTo>
                <a:cubicBezTo>
                  <a:pt x="194376" y="99662"/>
                  <a:pt x="199324" y="94714"/>
                  <a:pt x="199324" y="88589"/>
                </a:cubicBezTo>
                <a:cubicBezTo>
                  <a:pt x="199324" y="82463"/>
                  <a:pt x="194376" y="77515"/>
                  <a:pt x="188251" y="77515"/>
                </a:cubicBezTo>
                <a:lnTo>
                  <a:pt x="110736" y="77515"/>
                </a:lnTo>
                <a:lnTo>
                  <a:pt x="110736" y="66441"/>
                </a:lnTo>
                <a:lnTo>
                  <a:pt x="116272" y="66441"/>
                </a:lnTo>
                <a:cubicBezTo>
                  <a:pt x="125443" y="66441"/>
                  <a:pt x="132883" y="59001"/>
                  <a:pt x="132883" y="49831"/>
                </a:cubicBezTo>
                <a:lnTo>
                  <a:pt x="132883" y="27684"/>
                </a:lnTo>
                <a:cubicBezTo>
                  <a:pt x="132883" y="18514"/>
                  <a:pt x="125443" y="11074"/>
                  <a:pt x="116272" y="11074"/>
                </a:cubicBezTo>
                <a:lnTo>
                  <a:pt x="83052" y="11074"/>
                </a:lnTo>
                <a:close/>
                <a:moveTo>
                  <a:pt x="155030" y="130114"/>
                </a:moveTo>
                <a:lnTo>
                  <a:pt x="157798" y="130114"/>
                </a:lnTo>
                <a:lnTo>
                  <a:pt x="157798" y="146725"/>
                </a:lnTo>
                <a:lnTo>
                  <a:pt x="130114" y="146725"/>
                </a:lnTo>
                <a:lnTo>
                  <a:pt x="130114" y="130114"/>
                </a:lnTo>
                <a:lnTo>
                  <a:pt x="155030" y="130114"/>
                </a:lnTo>
                <a:close/>
                <a:moveTo>
                  <a:pt x="66441" y="130114"/>
                </a:moveTo>
                <a:lnTo>
                  <a:pt x="69210" y="130114"/>
                </a:lnTo>
                <a:lnTo>
                  <a:pt x="69210" y="146725"/>
                </a:lnTo>
                <a:lnTo>
                  <a:pt x="41526" y="146725"/>
                </a:lnTo>
                <a:lnTo>
                  <a:pt x="41526" y="130114"/>
                </a:lnTo>
                <a:lnTo>
                  <a:pt x="66441" y="130114"/>
                </a:ln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985548" y="6247916"/>
            <a:ext cx="3023084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网络分区:</a:t>
            </a:r>
            <a:r>
              <a:rPr lang="en-US" sz="139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使用多路径检测、仲裁机制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2267" y="7052685"/>
            <a:ext cx="177177" cy="177177"/>
          </a:xfrm>
          <a:custGeom>
            <a:avLst/>
            <a:gdLst/>
            <a:ahLst/>
            <a:cxnLst/>
            <a:rect l="l" t="t" r="r" b="b"/>
            <a:pathLst>
              <a:path w="177177" h="177177">
                <a:moveTo>
                  <a:pt x="88589" y="0"/>
                </a:moveTo>
                <a:cubicBezTo>
                  <a:pt x="137482" y="0"/>
                  <a:pt x="177177" y="39695"/>
                  <a:pt x="177177" y="88589"/>
                </a:cubicBezTo>
                <a:cubicBezTo>
                  <a:pt x="177177" y="137482"/>
                  <a:pt x="137482" y="177177"/>
                  <a:pt x="88589" y="177177"/>
                </a:cubicBezTo>
                <a:cubicBezTo>
                  <a:pt x="39695" y="177177"/>
                  <a:pt x="0" y="137482"/>
                  <a:pt x="0" y="88589"/>
                </a:cubicBezTo>
                <a:cubicBezTo>
                  <a:pt x="0" y="39695"/>
                  <a:pt x="39695" y="0"/>
                  <a:pt x="88589" y="0"/>
                </a:cubicBezTo>
                <a:close/>
                <a:moveTo>
                  <a:pt x="80283" y="41526"/>
                </a:moveTo>
                <a:lnTo>
                  <a:pt x="80283" y="88589"/>
                </a:lnTo>
                <a:cubicBezTo>
                  <a:pt x="80283" y="91357"/>
                  <a:pt x="81668" y="93952"/>
                  <a:pt x="83986" y="95510"/>
                </a:cubicBezTo>
                <a:lnTo>
                  <a:pt x="117207" y="117657"/>
                </a:lnTo>
                <a:cubicBezTo>
                  <a:pt x="121013" y="120217"/>
                  <a:pt x="126169" y="119179"/>
                  <a:pt x="128730" y="115338"/>
                </a:cubicBezTo>
                <a:cubicBezTo>
                  <a:pt x="131291" y="111497"/>
                  <a:pt x="130253" y="106375"/>
                  <a:pt x="126412" y="103815"/>
                </a:cubicBezTo>
                <a:lnTo>
                  <a:pt x="96894" y="84159"/>
                </a:lnTo>
                <a:lnTo>
                  <a:pt x="96894" y="41526"/>
                </a:lnTo>
                <a:cubicBezTo>
                  <a:pt x="96894" y="36923"/>
                  <a:pt x="93191" y="33221"/>
                  <a:pt x="88589" y="33221"/>
                </a:cubicBezTo>
                <a:cubicBezTo>
                  <a:pt x="83986" y="33221"/>
                  <a:pt x="80283" y="36923"/>
                  <a:pt x="80283" y="41526"/>
                </a:cubicBezTo>
                <a:close/>
              </a:path>
            </a:pathLst>
          </a:custGeom>
          <a:solidFill>
            <a:srgbClr val="FDC7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985548" y="7004321"/>
            <a:ext cx="3377439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时钟偏差:</a:t>
            </a:r>
            <a:r>
              <a:rPr lang="en-US" sz="139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使用相对时间间隔而非绝对时间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42267" y="7813160"/>
            <a:ext cx="155030" cy="177177"/>
          </a:xfrm>
          <a:custGeom>
            <a:avLst/>
            <a:gdLst/>
            <a:ahLst/>
            <a:cxnLst/>
            <a:rect l="l" t="t" r="r" b="b"/>
            <a:pathLst>
              <a:path w="155030" h="177177">
                <a:moveTo>
                  <a:pt x="22147" y="11074"/>
                </a:moveTo>
                <a:cubicBezTo>
                  <a:pt x="9932" y="11074"/>
                  <a:pt x="0" y="21005"/>
                  <a:pt x="0" y="33221"/>
                </a:cubicBezTo>
                <a:lnTo>
                  <a:pt x="0" y="55368"/>
                </a:lnTo>
                <a:cubicBezTo>
                  <a:pt x="0" y="67583"/>
                  <a:pt x="9932" y="77515"/>
                  <a:pt x="22147" y="77515"/>
                </a:cubicBezTo>
                <a:lnTo>
                  <a:pt x="132883" y="77515"/>
                </a:lnTo>
                <a:cubicBezTo>
                  <a:pt x="145098" y="77515"/>
                  <a:pt x="155030" y="67583"/>
                  <a:pt x="155030" y="55368"/>
                </a:cubicBezTo>
                <a:lnTo>
                  <a:pt x="155030" y="33221"/>
                </a:lnTo>
                <a:cubicBezTo>
                  <a:pt x="155030" y="21005"/>
                  <a:pt x="145098" y="11074"/>
                  <a:pt x="132883" y="11074"/>
                </a:cubicBezTo>
                <a:lnTo>
                  <a:pt x="22147" y="11074"/>
                </a:lnTo>
                <a:close/>
                <a:moveTo>
                  <a:pt x="96894" y="35989"/>
                </a:moveTo>
                <a:cubicBezTo>
                  <a:pt x="101477" y="35989"/>
                  <a:pt x="105199" y="39711"/>
                  <a:pt x="105199" y="44294"/>
                </a:cubicBezTo>
                <a:cubicBezTo>
                  <a:pt x="105199" y="48878"/>
                  <a:pt x="101477" y="52599"/>
                  <a:pt x="96894" y="52599"/>
                </a:cubicBezTo>
                <a:cubicBezTo>
                  <a:pt x="92310" y="52599"/>
                  <a:pt x="88589" y="48878"/>
                  <a:pt x="88589" y="44294"/>
                </a:cubicBezTo>
                <a:cubicBezTo>
                  <a:pt x="88589" y="39711"/>
                  <a:pt x="92310" y="35989"/>
                  <a:pt x="96894" y="35989"/>
                </a:cubicBezTo>
                <a:close/>
                <a:moveTo>
                  <a:pt x="116272" y="44294"/>
                </a:moveTo>
                <a:cubicBezTo>
                  <a:pt x="116272" y="39711"/>
                  <a:pt x="119994" y="35989"/>
                  <a:pt x="124578" y="35989"/>
                </a:cubicBezTo>
                <a:cubicBezTo>
                  <a:pt x="129161" y="35989"/>
                  <a:pt x="132883" y="39711"/>
                  <a:pt x="132883" y="44294"/>
                </a:cubicBezTo>
                <a:cubicBezTo>
                  <a:pt x="132883" y="48878"/>
                  <a:pt x="129161" y="52599"/>
                  <a:pt x="124578" y="52599"/>
                </a:cubicBezTo>
                <a:cubicBezTo>
                  <a:pt x="119994" y="52599"/>
                  <a:pt x="116272" y="48878"/>
                  <a:pt x="116272" y="44294"/>
                </a:cubicBezTo>
                <a:close/>
                <a:moveTo>
                  <a:pt x="22147" y="99662"/>
                </a:moveTo>
                <a:cubicBezTo>
                  <a:pt x="9932" y="99662"/>
                  <a:pt x="0" y="109594"/>
                  <a:pt x="0" y="121809"/>
                </a:cubicBezTo>
                <a:lnTo>
                  <a:pt x="0" y="143956"/>
                </a:lnTo>
                <a:cubicBezTo>
                  <a:pt x="0" y="156172"/>
                  <a:pt x="9932" y="166104"/>
                  <a:pt x="22147" y="166104"/>
                </a:cubicBezTo>
                <a:lnTo>
                  <a:pt x="132883" y="166104"/>
                </a:lnTo>
                <a:cubicBezTo>
                  <a:pt x="145098" y="166104"/>
                  <a:pt x="155030" y="156172"/>
                  <a:pt x="155030" y="143956"/>
                </a:cubicBezTo>
                <a:lnTo>
                  <a:pt x="155030" y="121809"/>
                </a:lnTo>
                <a:cubicBezTo>
                  <a:pt x="155030" y="109594"/>
                  <a:pt x="145098" y="99662"/>
                  <a:pt x="132883" y="99662"/>
                </a:cubicBezTo>
                <a:lnTo>
                  <a:pt x="22147" y="99662"/>
                </a:lnTo>
                <a:close/>
                <a:moveTo>
                  <a:pt x="96894" y="124578"/>
                </a:moveTo>
                <a:cubicBezTo>
                  <a:pt x="101477" y="124578"/>
                  <a:pt x="105199" y="128299"/>
                  <a:pt x="105199" y="132883"/>
                </a:cubicBezTo>
                <a:cubicBezTo>
                  <a:pt x="105199" y="137467"/>
                  <a:pt x="101477" y="141188"/>
                  <a:pt x="96894" y="141188"/>
                </a:cubicBezTo>
                <a:cubicBezTo>
                  <a:pt x="92310" y="141188"/>
                  <a:pt x="88589" y="137467"/>
                  <a:pt x="88589" y="132883"/>
                </a:cubicBezTo>
                <a:cubicBezTo>
                  <a:pt x="88589" y="128299"/>
                  <a:pt x="92310" y="124578"/>
                  <a:pt x="96894" y="124578"/>
                </a:cubicBezTo>
                <a:close/>
                <a:moveTo>
                  <a:pt x="116272" y="132883"/>
                </a:moveTo>
                <a:cubicBezTo>
                  <a:pt x="116272" y="128299"/>
                  <a:pt x="119994" y="124578"/>
                  <a:pt x="124578" y="124578"/>
                </a:cubicBezTo>
                <a:cubicBezTo>
                  <a:pt x="129161" y="124578"/>
                  <a:pt x="132883" y="128299"/>
                  <a:pt x="132883" y="132883"/>
                </a:cubicBezTo>
                <a:cubicBezTo>
                  <a:pt x="132883" y="137467"/>
                  <a:pt x="129161" y="141188"/>
                  <a:pt x="124578" y="141188"/>
                </a:cubicBezTo>
                <a:cubicBezTo>
                  <a:pt x="119994" y="141188"/>
                  <a:pt x="116272" y="137467"/>
                  <a:pt x="116272" y="132883"/>
                </a:cubicBezTo>
                <a:close/>
              </a:path>
            </a:pathLst>
          </a:custGeom>
          <a:solidFill>
            <a:srgbClr val="51A2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985548" y="7760726"/>
            <a:ext cx="2314376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负载影响:</a:t>
            </a:r>
            <a:r>
              <a:rPr lang="en-US" sz="139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动态调整超时阈值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42267" y="8573636"/>
            <a:ext cx="177177" cy="177177"/>
          </a:xfrm>
          <a:custGeom>
            <a:avLst/>
            <a:gdLst/>
            <a:ahLst/>
            <a:cxnLst/>
            <a:rect l="l" t="t" r="r" b="b"/>
            <a:pathLst>
              <a:path w="177177" h="177177">
                <a:moveTo>
                  <a:pt x="41526" y="19379"/>
                </a:moveTo>
                <a:cubicBezTo>
                  <a:pt x="41526" y="8686"/>
                  <a:pt x="50212" y="0"/>
                  <a:pt x="60905" y="0"/>
                </a:cubicBezTo>
                <a:lnTo>
                  <a:pt x="69210" y="0"/>
                </a:lnTo>
                <a:cubicBezTo>
                  <a:pt x="75335" y="0"/>
                  <a:pt x="80283" y="4949"/>
                  <a:pt x="80283" y="11074"/>
                </a:cubicBezTo>
                <a:lnTo>
                  <a:pt x="80283" y="166104"/>
                </a:lnTo>
                <a:cubicBezTo>
                  <a:pt x="80283" y="172229"/>
                  <a:pt x="75335" y="177177"/>
                  <a:pt x="69210" y="177177"/>
                </a:cubicBezTo>
                <a:lnTo>
                  <a:pt x="58136" y="177177"/>
                </a:lnTo>
                <a:cubicBezTo>
                  <a:pt x="47824" y="177177"/>
                  <a:pt x="39138" y="170118"/>
                  <a:pt x="36681" y="160567"/>
                </a:cubicBezTo>
                <a:cubicBezTo>
                  <a:pt x="36439" y="160567"/>
                  <a:pt x="36231" y="160567"/>
                  <a:pt x="35989" y="160567"/>
                </a:cubicBezTo>
                <a:cubicBezTo>
                  <a:pt x="20694" y="160567"/>
                  <a:pt x="8305" y="148178"/>
                  <a:pt x="8305" y="132883"/>
                </a:cubicBezTo>
                <a:cubicBezTo>
                  <a:pt x="8305" y="126654"/>
                  <a:pt x="10381" y="120910"/>
                  <a:pt x="13842" y="116272"/>
                </a:cubicBezTo>
                <a:cubicBezTo>
                  <a:pt x="7129" y="111220"/>
                  <a:pt x="2768" y="103192"/>
                  <a:pt x="2768" y="94125"/>
                </a:cubicBezTo>
                <a:cubicBezTo>
                  <a:pt x="2768" y="83432"/>
                  <a:pt x="8859" y="74124"/>
                  <a:pt x="17718" y="69521"/>
                </a:cubicBezTo>
                <a:cubicBezTo>
                  <a:pt x="15261" y="65369"/>
                  <a:pt x="13842" y="60524"/>
                  <a:pt x="13842" y="55368"/>
                </a:cubicBezTo>
                <a:cubicBezTo>
                  <a:pt x="13842" y="40072"/>
                  <a:pt x="26231" y="27684"/>
                  <a:pt x="41526" y="27684"/>
                </a:cubicBezTo>
                <a:lnTo>
                  <a:pt x="41526" y="19379"/>
                </a:lnTo>
                <a:close/>
                <a:moveTo>
                  <a:pt x="135651" y="19379"/>
                </a:moveTo>
                <a:lnTo>
                  <a:pt x="135651" y="27684"/>
                </a:lnTo>
                <a:cubicBezTo>
                  <a:pt x="150947" y="27684"/>
                  <a:pt x="163335" y="40072"/>
                  <a:pt x="163335" y="55368"/>
                </a:cubicBezTo>
                <a:cubicBezTo>
                  <a:pt x="163335" y="60559"/>
                  <a:pt x="161916" y="65403"/>
                  <a:pt x="159459" y="69521"/>
                </a:cubicBezTo>
                <a:cubicBezTo>
                  <a:pt x="168353" y="74124"/>
                  <a:pt x="174409" y="83398"/>
                  <a:pt x="174409" y="94125"/>
                </a:cubicBezTo>
                <a:cubicBezTo>
                  <a:pt x="174409" y="103192"/>
                  <a:pt x="170049" y="111220"/>
                  <a:pt x="163335" y="116272"/>
                </a:cubicBezTo>
                <a:cubicBezTo>
                  <a:pt x="166796" y="120910"/>
                  <a:pt x="168872" y="126654"/>
                  <a:pt x="168872" y="132883"/>
                </a:cubicBezTo>
                <a:cubicBezTo>
                  <a:pt x="168872" y="148178"/>
                  <a:pt x="156483" y="160567"/>
                  <a:pt x="141188" y="160567"/>
                </a:cubicBezTo>
                <a:cubicBezTo>
                  <a:pt x="140946" y="160567"/>
                  <a:pt x="140738" y="160567"/>
                  <a:pt x="140496" y="160567"/>
                </a:cubicBezTo>
                <a:cubicBezTo>
                  <a:pt x="138039" y="170118"/>
                  <a:pt x="129353" y="177177"/>
                  <a:pt x="119041" y="177177"/>
                </a:cubicBezTo>
                <a:lnTo>
                  <a:pt x="107967" y="177177"/>
                </a:lnTo>
                <a:cubicBezTo>
                  <a:pt x="101842" y="177177"/>
                  <a:pt x="96894" y="172229"/>
                  <a:pt x="96894" y="166104"/>
                </a:cubicBezTo>
                <a:lnTo>
                  <a:pt x="96894" y="11074"/>
                </a:lnTo>
                <a:cubicBezTo>
                  <a:pt x="96894" y="4949"/>
                  <a:pt x="101842" y="0"/>
                  <a:pt x="107967" y="0"/>
                </a:cubicBezTo>
                <a:lnTo>
                  <a:pt x="116272" y="0"/>
                </a:lnTo>
                <a:cubicBezTo>
                  <a:pt x="126965" y="0"/>
                  <a:pt x="135651" y="8686"/>
                  <a:pt x="135651" y="19379"/>
                </a:cubicBezTo>
                <a:close/>
              </a:path>
            </a:pathLst>
          </a:custGeom>
          <a:solidFill>
            <a:srgbClr val="C27A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985548" y="8517132"/>
            <a:ext cx="2845907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脑裂问题:</a:t>
            </a:r>
            <a:r>
              <a:rPr lang="en-US" sz="139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使用奇数节点、仲裁投票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224548" y="5342997"/>
            <a:ext cx="7585395" cy="3661372"/>
          </a:xfrm>
          <a:custGeom>
            <a:avLst/>
            <a:gdLst/>
            <a:ahLst/>
            <a:cxnLst/>
            <a:rect l="l" t="t" r="r" b="b"/>
            <a:pathLst>
              <a:path w="7585395" h="4374060">
                <a:moveTo>
                  <a:pt x="88575" y="0"/>
                </a:moveTo>
                <a:lnTo>
                  <a:pt x="7496820" y="0"/>
                </a:lnTo>
                <a:cubicBezTo>
                  <a:pt x="7545739" y="0"/>
                  <a:pt x="7585395" y="39656"/>
                  <a:pt x="7585395" y="88575"/>
                </a:cubicBezTo>
                <a:lnTo>
                  <a:pt x="7585395" y="4285485"/>
                </a:lnTo>
                <a:cubicBezTo>
                  <a:pt x="7585395" y="4334404"/>
                  <a:pt x="7545739" y="4374060"/>
                  <a:pt x="7496820" y="4374060"/>
                </a:cubicBezTo>
                <a:lnTo>
                  <a:pt x="88575" y="4374060"/>
                </a:lnTo>
                <a:cubicBezTo>
                  <a:pt x="39656" y="4374060"/>
                  <a:pt x="0" y="4334404"/>
                  <a:pt x="0" y="4285485"/>
                </a:cubicBezTo>
                <a:lnTo>
                  <a:pt x="0" y="88575"/>
                </a:lnTo>
                <a:cubicBezTo>
                  <a:pt x="0" y="39689"/>
                  <a:pt x="39689" y="0"/>
                  <a:pt x="88575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4"/>
          <p:cNvSpPr/>
          <p:nvPr/>
        </p:nvSpPr>
        <p:spPr>
          <a:xfrm>
            <a:off x="8434946" y="5570005"/>
            <a:ext cx="221471" cy="221471"/>
          </a:xfrm>
          <a:custGeom>
            <a:avLst/>
            <a:gdLst/>
            <a:ahLst/>
            <a:cxnLst/>
            <a:rect l="l" t="t" r="r" b="b"/>
            <a:pathLst>
              <a:path w="221471" h="221471">
                <a:moveTo>
                  <a:pt x="57877" y="15702"/>
                </a:moveTo>
                <a:cubicBezTo>
                  <a:pt x="62592" y="18989"/>
                  <a:pt x="63716" y="25478"/>
                  <a:pt x="60429" y="30150"/>
                </a:cubicBezTo>
                <a:lnTo>
                  <a:pt x="36205" y="64754"/>
                </a:lnTo>
                <a:cubicBezTo>
                  <a:pt x="34432" y="67263"/>
                  <a:pt x="31663" y="68864"/>
                  <a:pt x="28592" y="69123"/>
                </a:cubicBezTo>
                <a:cubicBezTo>
                  <a:pt x="25521" y="69383"/>
                  <a:pt x="22493" y="68345"/>
                  <a:pt x="20330" y="66182"/>
                </a:cubicBezTo>
                <a:lnTo>
                  <a:pt x="3028" y="48879"/>
                </a:lnTo>
                <a:cubicBezTo>
                  <a:pt x="-995" y="44813"/>
                  <a:pt x="-995" y="38238"/>
                  <a:pt x="3028" y="34172"/>
                </a:cubicBezTo>
                <a:cubicBezTo>
                  <a:pt x="7051" y="30106"/>
                  <a:pt x="13669" y="30150"/>
                  <a:pt x="17735" y="34172"/>
                </a:cubicBezTo>
                <a:lnTo>
                  <a:pt x="26300" y="42737"/>
                </a:lnTo>
                <a:lnTo>
                  <a:pt x="43429" y="18254"/>
                </a:lnTo>
                <a:cubicBezTo>
                  <a:pt x="46717" y="13539"/>
                  <a:pt x="53205" y="12415"/>
                  <a:pt x="57877" y="15702"/>
                </a:cubicBezTo>
                <a:close/>
                <a:moveTo>
                  <a:pt x="57877" y="84912"/>
                </a:moveTo>
                <a:cubicBezTo>
                  <a:pt x="62592" y="88199"/>
                  <a:pt x="63716" y="94688"/>
                  <a:pt x="60429" y="99359"/>
                </a:cubicBezTo>
                <a:lnTo>
                  <a:pt x="36205" y="133964"/>
                </a:lnTo>
                <a:cubicBezTo>
                  <a:pt x="34432" y="136473"/>
                  <a:pt x="31663" y="138074"/>
                  <a:pt x="28592" y="138333"/>
                </a:cubicBezTo>
                <a:cubicBezTo>
                  <a:pt x="25521" y="138593"/>
                  <a:pt x="22493" y="137554"/>
                  <a:pt x="20330" y="135392"/>
                </a:cubicBezTo>
                <a:lnTo>
                  <a:pt x="3028" y="118089"/>
                </a:lnTo>
                <a:cubicBezTo>
                  <a:pt x="-1038" y="114023"/>
                  <a:pt x="-1038" y="107448"/>
                  <a:pt x="3028" y="103425"/>
                </a:cubicBezTo>
                <a:cubicBezTo>
                  <a:pt x="7094" y="99403"/>
                  <a:pt x="13669" y="99359"/>
                  <a:pt x="17692" y="103425"/>
                </a:cubicBezTo>
                <a:lnTo>
                  <a:pt x="26256" y="111990"/>
                </a:lnTo>
                <a:lnTo>
                  <a:pt x="43386" y="87507"/>
                </a:lnTo>
                <a:cubicBezTo>
                  <a:pt x="46673" y="82792"/>
                  <a:pt x="53162" y="81668"/>
                  <a:pt x="57833" y="84955"/>
                </a:cubicBezTo>
                <a:close/>
                <a:moveTo>
                  <a:pt x="96894" y="41526"/>
                </a:moveTo>
                <a:cubicBezTo>
                  <a:pt x="96894" y="33870"/>
                  <a:pt x="103079" y="27684"/>
                  <a:pt x="110736" y="27684"/>
                </a:cubicBezTo>
                <a:lnTo>
                  <a:pt x="207629" y="27684"/>
                </a:lnTo>
                <a:cubicBezTo>
                  <a:pt x="215286" y="27684"/>
                  <a:pt x="221471" y="33870"/>
                  <a:pt x="221471" y="41526"/>
                </a:cubicBezTo>
                <a:cubicBezTo>
                  <a:pt x="221471" y="49182"/>
                  <a:pt x="215286" y="55368"/>
                  <a:pt x="207629" y="55368"/>
                </a:cubicBezTo>
                <a:lnTo>
                  <a:pt x="110736" y="55368"/>
                </a:lnTo>
                <a:cubicBezTo>
                  <a:pt x="103079" y="55368"/>
                  <a:pt x="96894" y="49182"/>
                  <a:pt x="96894" y="41526"/>
                </a:cubicBezTo>
                <a:close/>
                <a:moveTo>
                  <a:pt x="96894" y="110736"/>
                </a:moveTo>
                <a:cubicBezTo>
                  <a:pt x="96894" y="103079"/>
                  <a:pt x="103079" y="96894"/>
                  <a:pt x="110736" y="96894"/>
                </a:cubicBezTo>
                <a:lnTo>
                  <a:pt x="207629" y="96894"/>
                </a:lnTo>
                <a:cubicBezTo>
                  <a:pt x="215286" y="96894"/>
                  <a:pt x="221471" y="103079"/>
                  <a:pt x="221471" y="110736"/>
                </a:cubicBezTo>
                <a:cubicBezTo>
                  <a:pt x="221471" y="118392"/>
                  <a:pt x="215286" y="124578"/>
                  <a:pt x="207629" y="124578"/>
                </a:cubicBezTo>
                <a:lnTo>
                  <a:pt x="110736" y="124578"/>
                </a:lnTo>
                <a:cubicBezTo>
                  <a:pt x="103079" y="124578"/>
                  <a:pt x="96894" y="118392"/>
                  <a:pt x="96894" y="110736"/>
                </a:cubicBezTo>
                <a:close/>
                <a:moveTo>
                  <a:pt x="69210" y="179946"/>
                </a:moveTo>
                <a:cubicBezTo>
                  <a:pt x="69210" y="172289"/>
                  <a:pt x="75395" y="166104"/>
                  <a:pt x="83052" y="166104"/>
                </a:cubicBezTo>
                <a:lnTo>
                  <a:pt x="207629" y="166104"/>
                </a:lnTo>
                <a:cubicBezTo>
                  <a:pt x="215286" y="166104"/>
                  <a:pt x="221471" y="172289"/>
                  <a:pt x="221471" y="179946"/>
                </a:cubicBezTo>
                <a:cubicBezTo>
                  <a:pt x="221471" y="187602"/>
                  <a:pt x="215286" y="193787"/>
                  <a:pt x="207629" y="193787"/>
                </a:cubicBezTo>
                <a:lnTo>
                  <a:pt x="83052" y="193787"/>
                </a:lnTo>
                <a:cubicBezTo>
                  <a:pt x="75395" y="193787"/>
                  <a:pt x="69210" y="187602"/>
                  <a:pt x="69210" y="179946"/>
                </a:cubicBezTo>
                <a:close/>
                <a:moveTo>
                  <a:pt x="27684" y="162643"/>
                </a:moveTo>
                <a:cubicBezTo>
                  <a:pt x="37233" y="162643"/>
                  <a:pt x="44986" y="170396"/>
                  <a:pt x="44986" y="179946"/>
                </a:cubicBezTo>
                <a:cubicBezTo>
                  <a:pt x="44986" y="189495"/>
                  <a:pt x="37233" y="197248"/>
                  <a:pt x="27684" y="197248"/>
                </a:cubicBezTo>
                <a:cubicBezTo>
                  <a:pt x="18134" y="197248"/>
                  <a:pt x="10381" y="189495"/>
                  <a:pt x="10381" y="179946"/>
                </a:cubicBezTo>
                <a:cubicBezTo>
                  <a:pt x="10381" y="170396"/>
                  <a:pt x="18134" y="162643"/>
                  <a:pt x="27684" y="16264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8799966" y="5525711"/>
            <a:ext cx="6937999" cy="31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4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实际应用场景</a:t>
            </a:r>
            <a:endParaRPr lang="en-US" sz="1600" dirty="0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4CD7CAAE-EA05-5A9F-0FF0-BFDB10D3812E}"/>
              </a:ext>
            </a:extLst>
          </p:cNvPr>
          <p:cNvGrpSpPr/>
          <p:nvPr/>
        </p:nvGrpSpPr>
        <p:grpSpPr>
          <a:xfrm>
            <a:off x="8429409" y="6071671"/>
            <a:ext cx="7197820" cy="664414"/>
            <a:chOff x="8429409" y="6185973"/>
            <a:chExt cx="7197820" cy="664414"/>
          </a:xfrm>
        </p:grpSpPr>
        <p:sp>
          <p:nvSpPr>
            <p:cNvPr id="39" name="Shape 36"/>
            <p:cNvSpPr/>
            <p:nvPr/>
          </p:nvSpPr>
          <p:spPr>
            <a:xfrm>
              <a:off x="8429409" y="6185973"/>
              <a:ext cx="7197820" cy="664414"/>
            </a:xfrm>
            <a:custGeom>
              <a:avLst/>
              <a:gdLst/>
              <a:ahLst/>
              <a:cxnLst/>
              <a:rect l="l" t="t" r="r" b="b"/>
              <a:pathLst>
                <a:path w="7197820" h="664414">
                  <a:moveTo>
                    <a:pt x="44294" y="0"/>
                  </a:moveTo>
                  <a:lnTo>
                    <a:pt x="7153524" y="0"/>
                  </a:lnTo>
                  <a:cubicBezTo>
                    <a:pt x="7177988" y="0"/>
                    <a:pt x="7197820" y="19832"/>
                    <a:pt x="7197820" y="44296"/>
                  </a:cubicBezTo>
                  <a:lnTo>
                    <a:pt x="7197820" y="620118"/>
                  </a:lnTo>
                  <a:cubicBezTo>
                    <a:pt x="7197820" y="644582"/>
                    <a:pt x="7177988" y="664414"/>
                    <a:pt x="7153524" y="664414"/>
                  </a:cubicBezTo>
                  <a:lnTo>
                    <a:pt x="44294" y="664414"/>
                  </a:lnTo>
                  <a:cubicBezTo>
                    <a:pt x="19831" y="664414"/>
                    <a:pt x="0" y="644583"/>
                    <a:pt x="0" y="620120"/>
                  </a:cubicBezTo>
                  <a:lnTo>
                    <a:pt x="0" y="44294"/>
                  </a:lnTo>
                  <a:cubicBezTo>
                    <a:pt x="0" y="19831"/>
                    <a:pt x="19831" y="0"/>
                    <a:pt x="44294" y="0"/>
                  </a:cubicBezTo>
                  <a:close/>
                </a:path>
              </a:pathLst>
            </a:custGeom>
            <a:solidFill>
              <a:srgbClr val="495057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Shape 37"/>
            <p:cNvSpPr/>
            <p:nvPr/>
          </p:nvSpPr>
          <p:spPr>
            <a:xfrm>
              <a:off x="8429409" y="6185973"/>
              <a:ext cx="44294" cy="664414"/>
            </a:xfrm>
            <a:custGeom>
              <a:avLst/>
              <a:gdLst/>
              <a:ahLst/>
              <a:cxnLst/>
              <a:rect l="l" t="t" r="r" b="b"/>
              <a:pathLst>
                <a:path w="44294" h="664414">
                  <a:moveTo>
                    <a:pt x="44294" y="0"/>
                  </a:moveTo>
                  <a:lnTo>
                    <a:pt x="44294" y="0"/>
                  </a:lnTo>
                  <a:lnTo>
                    <a:pt x="44294" y="664414"/>
                  </a:lnTo>
                  <a:lnTo>
                    <a:pt x="44294" y="664414"/>
                  </a:lnTo>
                  <a:cubicBezTo>
                    <a:pt x="19831" y="664414"/>
                    <a:pt x="0" y="644583"/>
                    <a:pt x="0" y="620120"/>
                  </a:cubicBezTo>
                  <a:lnTo>
                    <a:pt x="0" y="44294"/>
                  </a:lnTo>
                  <a:cubicBezTo>
                    <a:pt x="0" y="19831"/>
                    <a:pt x="19831" y="0"/>
                    <a:pt x="44294" y="0"/>
                  </a:cubicBezTo>
                  <a:close/>
                </a:path>
              </a:pathLst>
            </a:custGeom>
            <a:solidFill>
              <a:srgbClr val="D4A237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Shape 38"/>
            <p:cNvSpPr/>
            <p:nvPr/>
          </p:nvSpPr>
          <p:spPr>
            <a:xfrm>
              <a:off x="8625965" y="6407444"/>
              <a:ext cx="193787" cy="221471"/>
            </a:xfrm>
            <a:custGeom>
              <a:avLst/>
              <a:gdLst/>
              <a:ahLst/>
              <a:cxnLst/>
              <a:rect l="l" t="t" r="r" b="b"/>
              <a:pathLst>
                <a:path w="193787" h="221471">
                  <a:moveTo>
                    <a:pt x="193787" y="89021"/>
                  </a:moveTo>
                  <a:cubicBezTo>
                    <a:pt x="187386" y="93260"/>
                    <a:pt x="180032" y="96677"/>
                    <a:pt x="172376" y="99403"/>
                  </a:cubicBezTo>
                  <a:cubicBezTo>
                    <a:pt x="152045" y="106670"/>
                    <a:pt x="125356" y="110736"/>
                    <a:pt x="96894" y="110736"/>
                  </a:cubicBezTo>
                  <a:cubicBezTo>
                    <a:pt x="68431" y="110736"/>
                    <a:pt x="41699" y="106626"/>
                    <a:pt x="21412" y="99403"/>
                  </a:cubicBezTo>
                  <a:cubicBezTo>
                    <a:pt x="13799" y="96677"/>
                    <a:pt x="6402" y="93260"/>
                    <a:pt x="0" y="89021"/>
                  </a:cubicBezTo>
                  <a:lnTo>
                    <a:pt x="0" y="124578"/>
                  </a:lnTo>
                  <a:cubicBezTo>
                    <a:pt x="0" y="143697"/>
                    <a:pt x="43386" y="159183"/>
                    <a:pt x="96894" y="159183"/>
                  </a:cubicBezTo>
                  <a:cubicBezTo>
                    <a:pt x="150402" y="159183"/>
                    <a:pt x="193787" y="143697"/>
                    <a:pt x="193787" y="124578"/>
                  </a:cubicBezTo>
                  <a:lnTo>
                    <a:pt x="193787" y="89021"/>
                  </a:lnTo>
                  <a:close/>
                  <a:moveTo>
                    <a:pt x="193787" y="55368"/>
                  </a:moveTo>
                  <a:lnTo>
                    <a:pt x="193787" y="34605"/>
                  </a:lnTo>
                  <a:cubicBezTo>
                    <a:pt x="193787" y="15486"/>
                    <a:pt x="150402" y="0"/>
                    <a:pt x="96894" y="0"/>
                  </a:cubicBezTo>
                  <a:cubicBezTo>
                    <a:pt x="43386" y="0"/>
                    <a:pt x="0" y="15486"/>
                    <a:pt x="0" y="34605"/>
                  </a:cubicBezTo>
                  <a:lnTo>
                    <a:pt x="0" y="55368"/>
                  </a:lnTo>
                  <a:cubicBezTo>
                    <a:pt x="0" y="74487"/>
                    <a:pt x="43386" y="89973"/>
                    <a:pt x="96894" y="89973"/>
                  </a:cubicBezTo>
                  <a:cubicBezTo>
                    <a:pt x="150402" y="89973"/>
                    <a:pt x="193787" y="74487"/>
                    <a:pt x="193787" y="55368"/>
                  </a:cubicBezTo>
                  <a:close/>
                  <a:moveTo>
                    <a:pt x="172376" y="168612"/>
                  </a:moveTo>
                  <a:cubicBezTo>
                    <a:pt x="152089" y="175836"/>
                    <a:pt x="125400" y="179946"/>
                    <a:pt x="96894" y="179946"/>
                  </a:cubicBezTo>
                  <a:cubicBezTo>
                    <a:pt x="68388" y="179946"/>
                    <a:pt x="41699" y="175836"/>
                    <a:pt x="21412" y="168612"/>
                  </a:cubicBezTo>
                  <a:cubicBezTo>
                    <a:pt x="13799" y="165887"/>
                    <a:pt x="6402" y="162470"/>
                    <a:pt x="0" y="158231"/>
                  </a:cubicBezTo>
                  <a:lnTo>
                    <a:pt x="0" y="186866"/>
                  </a:lnTo>
                  <a:cubicBezTo>
                    <a:pt x="0" y="205986"/>
                    <a:pt x="43386" y="221471"/>
                    <a:pt x="96894" y="221471"/>
                  </a:cubicBezTo>
                  <a:cubicBezTo>
                    <a:pt x="150402" y="221471"/>
                    <a:pt x="193787" y="205986"/>
                    <a:pt x="193787" y="186866"/>
                  </a:cubicBezTo>
                  <a:lnTo>
                    <a:pt x="193787" y="158231"/>
                  </a:lnTo>
                  <a:cubicBezTo>
                    <a:pt x="187386" y="162470"/>
                    <a:pt x="180032" y="165887"/>
                    <a:pt x="172376" y="168612"/>
                  </a:cubicBezTo>
                  <a:close/>
                </a:path>
              </a:pathLst>
            </a:custGeom>
            <a:solidFill>
              <a:srgbClr val="D4A237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39"/>
            <p:cNvSpPr/>
            <p:nvPr/>
          </p:nvSpPr>
          <p:spPr>
            <a:xfrm>
              <a:off x="8994161" y="6274561"/>
              <a:ext cx="2148272" cy="2657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95" b="1" dirty="0">
                  <a:solidFill>
                    <a:srgbClr val="F8F9F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数据库集群</a:t>
              </a:r>
              <a:endParaRPr lang="en-US" sz="160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8994161" y="6540327"/>
              <a:ext cx="2137199" cy="2214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21" dirty="0">
                  <a:solidFill>
                    <a:srgbClr val="F8F9FA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主从心跳检测,故障时自动切换</a:t>
              </a:r>
              <a:endParaRPr lang="en-US" sz="1600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B93A99F6-008F-AD61-1840-8CCB4DE646C9}"/>
              </a:ext>
            </a:extLst>
          </p:cNvPr>
          <p:cNvGrpSpPr/>
          <p:nvPr/>
        </p:nvGrpSpPr>
        <p:grpSpPr>
          <a:xfrm>
            <a:off x="8429409" y="7060802"/>
            <a:ext cx="7197820" cy="664414"/>
            <a:chOff x="8429409" y="7417994"/>
            <a:chExt cx="7197820" cy="664414"/>
          </a:xfrm>
        </p:grpSpPr>
        <p:sp>
          <p:nvSpPr>
            <p:cNvPr id="44" name="Shape 41"/>
            <p:cNvSpPr/>
            <p:nvPr/>
          </p:nvSpPr>
          <p:spPr>
            <a:xfrm>
              <a:off x="8429409" y="7417994"/>
              <a:ext cx="7197820" cy="664414"/>
            </a:xfrm>
            <a:custGeom>
              <a:avLst/>
              <a:gdLst/>
              <a:ahLst/>
              <a:cxnLst/>
              <a:rect l="l" t="t" r="r" b="b"/>
              <a:pathLst>
                <a:path w="7197820" h="664414">
                  <a:moveTo>
                    <a:pt x="44294" y="0"/>
                  </a:moveTo>
                  <a:lnTo>
                    <a:pt x="7153524" y="0"/>
                  </a:lnTo>
                  <a:cubicBezTo>
                    <a:pt x="7177988" y="0"/>
                    <a:pt x="7197820" y="19832"/>
                    <a:pt x="7197820" y="44296"/>
                  </a:cubicBezTo>
                  <a:lnTo>
                    <a:pt x="7197820" y="620118"/>
                  </a:lnTo>
                  <a:cubicBezTo>
                    <a:pt x="7197820" y="644582"/>
                    <a:pt x="7177988" y="664414"/>
                    <a:pt x="7153524" y="664414"/>
                  </a:cubicBezTo>
                  <a:lnTo>
                    <a:pt x="44294" y="664414"/>
                  </a:lnTo>
                  <a:cubicBezTo>
                    <a:pt x="19831" y="664414"/>
                    <a:pt x="0" y="644583"/>
                    <a:pt x="0" y="620120"/>
                  </a:cubicBezTo>
                  <a:lnTo>
                    <a:pt x="0" y="44294"/>
                  </a:lnTo>
                  <a:cubicBezTo>
                    <a:pt x="0" y="19831"/>
                    <a:pt x="19831" y="0"/>
                    <a:pt x="44294" y="0"/>
                  </a:cubicBezTo>
                  <a:close/>
                </a:path>
              </a:pathLst>
            </a:custGeom>
            <a:solidFill>
              <a:srgbClr val="495057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Shape 42"/>
            <p:cNvSpPr/>
            <p:nvPr/>
          </p:nvSpPr>
          <p:spPr>
            <a:xfrm>
              <a:off x="8429409" y="7417994"/>
              <a:ext cx="44294" cy="664414"/>
            </a:xfrm>
            <a:custGeom>
              <a:avLst/>
              <a:gdLst/>
              <a:ahLst/>
              <a:cxnLst/>
              <a:rect l="l" t="t" r="r" b="b"/>
              <a:pathLst>
                <a:path w="44294" h="664414">
                  <a:moveTo>
                    <a:pt x="44294" y="0"/>
                  </a:moveTo>
                  <a:lnTo>
                    <a:pt x="44294" y="0"/>
                  </a:lnTo>
                  <a:lnTo>
                    <a:pt x="44294" y="664414"/>
                  </a:lnTo>
                  <a:lnTo>
                    <a:pt x="44294" y="664414"/>
                  </a:lnTo>
                  <a:cubicBezTo>
                    <a:pt x="19831" y="664414"/>
                    <a:pt x="0" y="644583"/>
                    <a:pt x="0" y="620120"/>
                  </a:cubicBezTo>
                  <a:lnTo>
                    <a:pt x="0" y="44294"/>
                  </a:lnTo>
                  <a:cubicBezTo>
                    <a:pt x="0" y="19831"/>
                    <a:pt x="19831" y="0"/>
                    <a:pt x="44294" y="0"/>
                  </a:cubicBezTo>
                  <a:close/>
                </a:path>
              </a:pathLst>
            </a:custGeom>
            <a:solidFill>
              <a:srgbClr val="D4A237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Shape 43"/>
            <p:cNvSpPr/>
            <p:nvPr/>
          </p:nvSpPr>
          <p:spPr>
            <a:xfrm>
              <a:off x="8612123" y="7639465"/>
              <a:ext cx="221471" cy="221471"/>
            </a:xfrm>
            <a:custGeom>
              <a:avLst/>
              <a:gdLst/>
              <a:ahLst/>
              <a:cxnLst/>
              <a:rect l="l" t="t" r="r" b="b"/>
              <a:pathLst>
                <a:path w="221471" h="221471">
                  <a:moveTo>
                    <a:pt x="122847" y="-562"/>
                  </a:moveTo>
                  <a:cubicBezTo>
                    <a:pt x="115364" y="-4888"/>
                    <a:pt x="106107" y="-4888"/>
                    <a:pt x="98624" y="-562"/>
                  </a:cubicBezTo>
                  <a:lnTo>
                    <a:pt x="62202" y="20460"/>
                  </a:lnTo>
                  <a:cubicBezTo>
                    <a:pt x="54719" y="24786"/>
                    <a:pt x="50091" y="32788"/>
                    <a:pt x="50091" y="41439"/>
                  </a:cubicBezTo>
                  <a:lnTo>
                    <a:pt x="50091" y="85517"/>
                  </a:lnTo>
                  <a:lnTo>
                    <a:pt x="11895" y="107578"/>
                  </a:lnTo>
                  <a:cubicBezTo>
                    <a:pt x="4412" y="111904"/>
                    <a:pt x="-216" y="119906"/>
                    <a:pt x="-216" y="128557"/>
                  </a:cubicBezTo>
                  <a:lnTo>
                    <a:pt x="-216" y="170645"/>
                  </a:lnTo>
                  <a:cubicBezTo>
                    <a:pt x="-216" y="179297"/>
                    <a:pt x="4412" y="187299"/>
                    <a:pt x="11895" y="191625"/>
                  </a:cubicBezTo>
                  <a:lnTo>
                    <a:pt x="48360" y="212647"/>
                  </a:lnTo>
                  <a:cubicBezTo>
                    <a:pt x="55844" y="216973"/>
                    <a:pt x="65100" y="216973"/>
                    <a:pt x="72584" y="212647"/>
                  </a:cubicBezTo>
                  <a:lnTo>
                    <a:pt x="110779" y="190587"/>
                  </a:lnTo>
                  <a:lnTo>
                    <a:pt x="148974" y="212647"/>
                  </a:lnTo>
                  <a:cubicBezTo>
                    <a:pt x="156457" y="216973"/>
                    <a:pt x="165714" y="216973"/>
                    <a:pt x="173198" y="212647"/>
                  </a:cubicBezTo>
                  <a:lnTo>
                    <a:pt x="209576" y="191625"/>
                  </a:lnTo>
                  <a:cubicBezTo>
                    <a:pt x="217059" y="187299"/>
                    <a:pt x="221688" y="179297"/>
                    <a:pt x="221688" y="170645"/>
                  </a:cubicBezTo>
                  <a:lnTo>
                    <a:pt x="221688" y="128557"/>
                  </a:lnTo>
                  <a:cubicBezTo>
                    <a:pt x="221688" y="119906"/>
                    <a:pt x="217059" y="111904"/>
                    <a:pt x="209576" y="107578"/>
                  </a:cubicBezTo>
                  <a:lnTo>
                    <a:pt x="171381" y="85517"/>
                  </a:lnTo>
                  <a:lnTo>
                    <a:pt x="171381" y="41439"/>
                  </a:lnTo>
                  <a:cubicBezTo>
                    <a:pt x="171381" y="32788"/>
                    <a:pt x="166752" y="24786"/>
                    <a:pt x="159269" y="20460"/>
                  </a:cubicBezTo>
                  <a:lnTo>
                    <a:pt x="122847" y="-562"/>
                  </a:lnTo>
                  <a:close/>
                  <a:moveTo>
                    <a:pt x="100354" y="126567"/>
                  </a:moveTo>
                  <a:lnTo>
                    <a:pt x="100354" y="172635"/>
                  </a:lnTo>
                  <a:lnTo>
                    <a:pt x="62159" y="194696"/>
                  </a:lnTo>
                  <a:cubicBezTo>
                    <a:pt x="61640" y="194999"/>
                    <a:pt x="61034" y="195172"/>
                    <a:pt x="60429" y="195172"/>
                  </a:cubicBezTo>
                  <a:lnTo>
                    <a:pt x="60429" y="149623"/>
                  </a:lnTo>
                  <a:lnTo>
                    <a:pt x="100354" y="126567"/>
                  </a:lnTo>
                  <a:close/>
                  <a:moveTo>
                    <a:pt x="200449" y="126827"/>
                  </a:moveTo>
                  <a:cubicBezTo>
                    <a:pt x="200752" y="127346"/>
                    <a:pt x="200925" y="127952"/>
                    <a:pt x="200925" y="128557"/>
                  </a:cubicBezTo>
                  <a:lnTo>
                    <a:pt x="200925" y="170645"/>
                  </a:lnTo>
                  <a:cubicBezTo>
                    <a:pt x="200925" y="171900"/>
                    <a:pt x="200276" y="173025"/>
                    <a:pt x="199194" y="173630"/>
                  </a:cubicBezTo>
                  <a:lnTo>
                    <a:pt x="162730" y="194653"/>
                  </a:lnTo>
                  <a:cubicBezTo>
                    <a:pt x="162210" y="194955"/>
                    <a:pt x="161605" y="195128"/>
                    <a:pt x="160999" y="195128"/>
                  </a:cubicBezTo>
                  <a:lnTo>
                    <a:pt x="160999" y="149580"/>
                  </a:lnTo>
                  <a:lnTo>
                    <a:pt x="200449" y="126827"/>
                  </a:lnTo>
                  <a:close/>
                  <a:moveTo>
                    <a:pt x="150661" y="41439"/>
                  </a:moveTo>
                  <a:lnTo>
                    <a:pt x="150661" y="85517"/>
                  </a:lnTo>
                  <a:lnTo>
                    <a:pt x="110736" y="108573"/>
                  </a:lnTo>
                  <a:lnTo>
                    <a:pt x="110736" y="62505"/>
                  </a:lnTo>
                  <a:lnTo>
                    <a:pt x="150185" y="39752"/>
                  </a:lnTo>
                  <a:cubicBezTo>
                    <a:pt x="150488" y="40271"/>
                    <a:pt x="150661" y="40877"/>
                    <a:pt x="150661" y="41483"/>
                  </a:cubicBezTo>
                  <a:close/>
                </a:path>
              </a:pathLst>
            </a:custGeom>
            <a:solidFill>
              <a:srgbClr val="D4A237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44"/>
            <p:cNvSpPr/>
            <p:nvPr/>
          </p:nvSpPr>
          <p:spPr>
            <a:xfrm>
              <a:off x="8994161" y="7506582"/>
              <a:ext cx="3078452" cy="2657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95" b="1" dirty="0">
                  <a:solidFill>
                    <a:srgbClr val="F8F9F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微服务架构</a:t>
              </a:r>
              <a:endParaRPr lang="en-US" sz="1600" dirty="0"/>
            </a:p>
          </p:txBody>
        </p:sp>
        <p:sp>
          <p:nvSpPr>
            <p:cNvPr id="48" name="Text 45"/>
            <p:cNvSpPr/>
            <p:nvPr/>
          </p:nvSpPr>
          <p:spPr>
            <a:xfrm>
              <a:off x="8994161" y="7772348"/>
              <a:ext cx="3067379" cy="2214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21" dirty="0">
                  <a:solidFill>
                    <a:srgbClr val="F8F9FA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服务注册中心健康检查,自动摘除不健康服务</a:t>
              </a:r>
              <a:endParaRPr lang="en-US" sz="1600" dirty="0"/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C5D32D4-35AF-36EB-31D5-7A7FCBE6F05D}"/>
              </a:ext>
            </a:extLst>
          </p:cNvPr>
          <p:cNvGrpSpPr/>
          <p:nvPr/>
        </p:nvGrpSpPr>
        <p:grpSpPr>
          <a:xfrm>
            <a:off x="8429409" y="8049933"/>
            <a:ext cx="7197820" cy="664414"/>
            <a:chOff x="8429409" y="8650015"/>
            <a:chExt cx="7197820" cy="664414"/>
          </a:xfrm>
        </p:grpSpPr>
        <p:sp>
          <p:nvSpPr>
            <p:cNvPr id="49" name="Shape 46"/>
            <p:cNvSpPr/>
            <p:nvPr/>
          </p:nvSpPr>
          <p:spPr>
            <a:xfrm>
              <a:off x="8429409" y="8650015"/>
              <a:ext cx="7197820" cy="664414"/>
            </a:xfrm>
            <a:custGeom>
              <a:avLst/>
              <a:gdLst/>
              <a:ahLst/>
              <a:cxnLst/>
              <a:rect l="l" t="t" r="r" b="b"/>
              <a:pathLst>
                <a:path w="7197820" h="664414">
                  <a:moveTo>
                    <a:pt x="44294" y="0"/>
                  </a:moveTo>
                  <a:lnTo>
                    <a:pt x="7153524" y="0"/>
                  </a:lnTo>
                  <a:cubicBezTo>
                    <a:pt x="7177988" y="0"/>
                    <a:pt x="7197820" y="19832"/>
                    <a:pt x="7197820" y="44296"/>
                  </a:cubicBezTo>
                  <a:lnTo>
                    <a:pt x="7197820" y="620118"/>
                  </a:lnTo>
                  <a:cubicBezTo>
                    <a:pt x="7197820" y="644582"/>
                    <a:pt x="7177988" y="664414"/>
                    <a:pt x="7153524" y="664414"/>
                  </a:cubicBezTo>
                  <a:lnTo>
                    <a:pt x="44294" y="664414"/>
                  </a:lnTo>
                  <a:cubicBezTo>
                    <a:pt x="19831" y="664414"/>
                    <a:pt x="0" y="644583"/>
                    <a:pt x="0" y="620120"/>
                  </a:cubicBezTo>
                  <a:lnTo>
                    <a:pt x="0" y="44294"/>
                  </a:lnTo>
                  <a:cubicBezTo>
                    <a:pt x="0" y="19831"/>
                    <a:pt x="19831" y="0"/>
                    <a:pt x="44294" y="0"/>
                  </a:cubicBezTo>
                  <a:close/>
                </a:path>
              </a:pathLst>
            </a:custGeom>
            <a:solidFill>
              <a:srgbClr val="495057">
                <a:alpha val="2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Shape 47"/>
            <p:cNvSpPr/>
            <p:nvPr/>
          </p:nvSpPr>
          <p:spPr>
            <a:xfrm>
              <a:off x="8429409" y="8650015"/>
              <a:ext cx="44294" cy="664414"/>
            </a:xfrm>
            <a:custGeom>
              <a:avLst/>
              <a:gdLst/>
              <a:ahLst/>
              <a:cxnLst/>
              <a:rect l="l" t="t" r="r" b="b"/>
              <a:pathLst>
                <a:path w="44294" h="664414">
                  <a:moveTo>
                    <a:pt x="44294" y="0"/>
                  </a:moveTo>
                  <a:lnTo>
                    <a:pt x="44294" y="0"/>
                  </a:lnTo>
                  <a:lnTo>
                    <a:pt x="44294" y="664414"/>
                  </a:lnTo>
                  <a:lnTo>
                    <a:pt x="44294" y="664414"/>
                  </a:lnTo>
                  <a:cubicBezTo>
                    <a:pt x="19831" y="664414"/>
                    <a:pt x="0" y="644583"/>
                    <a:pt x="0" y="620120"/>
                  </a:cubicBezTo>
                  <a:lnTo>
                    <a:pt x="0" y="44294"/>
                  </a:lnTo>
                  <a:cubicBezTo>
                    <a:pt x="0" y="19831"/>
                    <a:pt x="19831" y="0"/>
                    <a:pt x="44294" y="0"/>
                  </a:cubicBezTo>
                  <a:close/>
                </a:path>
              </a:pathLst>
            </a:custGeom>
            <a:solidFill>
              <a:srgbClr val="D4A237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Shape 48"/>
            <p:cNvSpPr/>
            <p:nvPr/>
          </p:nvSpPr>
          <p:spPr>
            <a:xfrm>
              <a:off x="8625965" y="8871486"/>
              <a:ext cx="193787" cy="221471"/>
            </a:xfrm>
            <a:custGeom>
              <a:avLst/>
              <a:gdLst/>
              <a:ahLst/>
              <a:cxnLst/>
              <a:rect l="l" t="t" r="r" b="b"/>
              <a:pathLst>
                <a:path w="193787" h="221471">
                  <a:moveTo>
                    <a:pt x="27684" y="13842"/>
                  </a:moveTo>
                  <a:cubicBezTo>
                    <a:pt x="12415" y="13842"/>
                    <a:pt x="0" y="26256"/>
                    <a:pt x="0" y="41526"/>
                  </a:cubicBezTo>
                  <a:lnTo>
                    <a:pt x="0" y="112509"/>
                  </a:lnTo>
                  <a:cubicBezTo>
                    <a:pt x="7829" y="107016"/>
                    <a:pt x="17389" y="103815"/>
                    <a:pt x="27684" y="103815"/>
                  </a:cubicBezTo>
                  <a:lnTo>
                    <a:pt x="166104" y="103815"/>
                  </a:lnTo>
                  <a:cubicBezTo>
                    <a:pt x="176399" y="103815"/>
                    <a:pt x="185958" y="107016"/>
                    <a:pt x="193787" y="112509"/>
                  </a:cubicBezTo>
                  <a:lnTo>
                    <a:pt x="193787" y="41526"/>
                  </a:lnTo>
                  <a:cubicBezTo>
                    <a:pt x="193787" y="26256"/>
                    <a:pt x="181373" y="13842"/>
                    <a:pt x="166104" y="13842"/>
                  </a:cubicBezTo>
                  <a:lnTo>
                    <a:pt x="27684" y="13842"/>
                  </a:lnTo>
                  <a:close/>
                  <a:moveTo>
                    <a:pt x="193787" y="152262"/>
                  </a:moveTo>
                  <a:cubicBezTo>
                    <a:pt x="193787" y="136992"/>
                    <a:pt x="181373" y="124578"/>
                    <a:pt x="166104" y="124578"/>
                  </a:cubicBezTo>
                  <a:lnTo>
                    <a:pt x="27684" y="124578"/>
                  </a:lnTo>
                  <a:cubicBezTo>
                    <a:pt x="12415" y="124578"/>
                    <a:pt x="0" y="136992"/>
                    <a:pt x="0" y="152262"/>
                  </a:cubicBezTo>
                  <a:lnTo>
                    <a:pt x="0" y="179946"/>
                  </a:lnTo>
                  <a:cubicBezTo>
                    <a:pt x="0" y="195215"/>
                    <a:pt x="12415" y="207629"/>
                    <a:pt x="27684" y="207629"/>
                  </a:cubicBezTo>
                  <a:lnTo>
                    <a:pt x="166104" y="207629"/>
                  </a:lnTo>
                  <a:cubicBezTo>
                    <a:pt x="181373" y="207629"/>
                    <a:pt x="193787" y="195215"/>
                    <a:pt x="193787" y="179946"/>
                  </a:cubicBezTo>
                  <a:lnTo>
                    <a:pt x="193787" y="152262"/>
                  </a:lnTo>
                  <a:close/>
                  <a:moveTo>
                    <a:pt x="96894" y="166104"/>
                  </a:moveTo>
                  <a:cubicBezTo>
                    <a:pt x="96894" y="158464"/>
                    <a:pt x="103096" y="152262"/>
                    <a:pt x="110736" y="152262"/>
                  </a:cubicBezTo>
                  <a:cubicBezTo>
                    <a:pt x="118375" y="152262"/>
                    <a:pt x="124578" y="158464"/>
                    <a:pt x="124578" y="166104"/>
                  </a:cubicBezTo>
                  <a:cubicBezTo>
                    <a:pt x="124578" y="173743"/>
                    <a:pt x="118375" y="179946"/>
                    <a:pt x="110736" y="179946"/>
                  </a:cubicBezTo>
                  <a:cubicBezTo>
                    <a:pt x="103096" y="179946"/>
                    <a:pt x="96894" y="173743"/>
                    <a:pt x="96894" y="166104"/>
                  </a:cubicBezTo>
                  <a:close/>
                  <a:moveTo>
                    <a:pt x="152262" y="152262"/>
                  </a:moveTo>
                  <a:cubicBezTo>
                    <a:pt x="159901" y="152262"/>
                    <a:pt x="166104" y="158464"/>
                    <a:pt x="166104" y="166104"/>
                  </a:cubicBezTo>
                  <a:cubicBezTo>
                    <a:pt x="166104" y="173743"/>
                    <a:pt x="159901" y="179946"/>
                    <a:pt x="152262" y="179946"/>
                  </a:cubicBezTo>
                  <a:cubicBezTo>
                    <a:pt x="144622" y="179946"/>
                    <a:pt x="138420" y="173743"/>
                    <a:pt x="138420" y="166104"/>
                  </a:cubicBezTo>
                  <a:cubicBezTo>
                    <a:pt x="138420" y="158464"/>
                    <a:pt x="144622" y="152262"/>
                    <a:pt x="152262" y="152262"/>
                  </a:cubicBezTo>
                  <a:close/>
                </a:path>
              </a:pathLst>
            </a:custGeom>
            <a:solidFill>
              <a:srgbClr val="D4A237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 49"/>
            <p:cNvSpPr/>
            <p:nvPr/>
          </p:nvSpPr>
          <p:spPr>
            <a:xfrm>
              <a:off x="8994161" y="8738604"/>
              <a:ext cx="2768392" cy="2657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95" b="1" dirty="0">
                  <a:solidFill>
                    <a:srgbClr val="F8F9FA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分布式存储</a:t>
              </a:r>
              <a:endParaRPr lang="en-US" sz="1600" dirty="0"/>
            </a:p>
          </p:txBody>
        </p:sp>
        <p:sp>
          <p:nvSpPr>
            <p:cNvPr id="53" name="Text 50"/>
            <p:cNvSpPr/>
            <p:nvPr/>
          </p:nvSpPr>
          <p:spPr>
            <a:xfrm>
              <a:off x="8994161" y="9004369"/>
              <a:ext cx="2757319" cy="2214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221" dirty="0">
                  <a:solidFill>
                    <a:srgbClr val="F8F9FA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节点间相互监控,故障节点数据自动迁移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493728" y="997389"/>
            <a:ext cx="15638840" cy="1851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831" b="1" dirty="0" err="1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知识总结与学习路径建议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3728" y="2616464"/>
            <a:ext cx="15416662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分布式系统是现代软件架构的基石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99900" y="3400258"/>
            <a:ext cx="4875566" cy="1542901"/>
          </a:xfrm>
          <a:custGeom>
            <a:avLst/>
            <a:gdLst/>
            <a:ahLst/>
            <a:cxnLst/>
            <a:rect l="l" t="t" r="r" b="b"/>
            <a:pathLst>
              <a:path w="4875566" h="1542901">
                <a:moveTo>
                  <a:pt x="98746" y="0"/>
                </a:moveTo>
                <a:lnTo>
                  <a:pt x="4776820" y="0"/>
                </a:lnTo>
                <a:cubicBezTo>
                  <a:pt x="4831356" y="0"/>
                  <a:pt x="4875566" y="44210"/>
                  <a:pt x="4875566" y="98746"/>
                </a:cubicBezTo>
                <a:lnTo>
                  <a:pt x="4875566" y="1444155"/>
                </a:lnTo>
                <a:cubicBezTo>
                  <a:pt x="4875566" y="1498691"/>
                  <a:pt x="4831356" y="1542901"/>
                  <a:pt x="4776820" y="1542901"/>
                </a:cubicBezTo>
                <a:lnTo>
                  <a:pt x="98746" y="1542901"/>
                </a:lnTo>
                <a:cubicBezTo>
                  <a:pt x="44210" y="1542901"/>
                  <a:pt x="0" y="1498691"/>
                  <a:pt x="0" y="1444155"/>
                </a:cubicBezTo>
                <a:lnTo>
                  <a:pt x="0" y="98746"/>
                </a:lnTo>
                <a:cubicBezTo>
                  <a:pt x="0" y="44246"/>
                  <a:pt x="44246" y="0"/>
                  <a:pt x="98746" y="0"/>
                </a:cubicBezTo>
                <a:close/>
              </a:path>
            </a:pathLst>
          </a:custGeom>
          <a:solidFill>
            <a:srgbClr val="343A40">
              <a:alpha val="8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718992" y="3653293"/>
            <a:ext cx="277722" cy="246864"/>
          </a:xfrm>
          <a:custGeom>
            <a:avLst/>
            <a:gdLst/>
            <a:ahLst/>
            <a:cxnLst/>
            <a:rect l="l" t="t" r="r" b="b"/>
            <a:pathLst>
              <a:path w="277722" h="246864">
                <a:moveTo>
                  <a:pt x="138861" y="30858"/>
                </a:moveTo>
                <a:cubicBezTo>
                  <a:pt x="189970" y="30858"/>
                  <a:pt x="231435" y="72323"/>
                  <a:pt x="231435" y="123432"/>
                </a:cubicBezTo>
                <a:cubicBezTo>
                  <a:pt x="231435" y="174541"/>
                  <a:pt x="189970" y="216006"/>
                  <a:pt x="138861" y="216006"/>
                </a:cubicBezTo>
                <a:cubicBezTo>
                  <a:pt x="107424" y="216006"/>
                  <a:pt x="79604" y="200336"/>
                  <a:pt x="62873" y="176325"/>
                </a:cubicBezTo>
                <a:cubicBezTo>
                  <a:pt x="58003" y="169333"/>
                  <a:pt x="48360" y="167646"/>
                  <a:pt x="41369" y="172516"/>
                </a:cubicBezTo>
                <a:cubicBezTo>
                  <a:pt x="34378" y="177385"/>
                  <a:pt x="32690" y="187028"/>
                  <a:pt x="37560" y="194020"/>
                </a:cubicBezTo>
                <a:cubicBezTo>
                  <a:pt x="59836" y="225938"/>
                  <a:pt x="96913" y="246864"/>
                  <a:pt x="138861" y="246864"/>
                </a:cubicBezTo>
                <a:cubicBezTo>
                  <a:pt x="207038" y="246864"/>
                  <a:pt x="262293" y="191609"/>
                  <a:pt x="262293" y="123432"/>
                </a:cubicBezTo>
                <a:cubicBezTo>
                  <a:pt x="262293" y="55255"/>
                  <a:pt x="207038" y="0"/>
                  <a:pt x="138861" y="0"/>
                </a:cubicBezTo>
                <a:cubicBezTo>
                  <a:pt x="97540" y="0"/>
                  <a:pt x="60993" y="20299"/>
                  <a:pt x="38573" y="51446"/>
                </a:cubicBezTo>
                <a:lnTo>
                  <a:pt x="38573" y="38573"/>
                </a:lnTo>
                <a:cubicBezTo>
                  <a:pt x="38573" y="30038"/>
                  <a:pt x="31678" y="23144"/>
                  <a:pt x="23144" y="23144"/>
                </a:cubicBezTo>
                <a:cubicBezTo>
                  <a:pt x="14609" y="23144"/>
                  <a:pt x="7715" y="30038"/>
                  <a:pt x="7715" y="38573"/>
                </a:cubicBezTo>
                <a:lnTo>
                  <a:pt x="7715" y="92574"/>
                </a:lnTo>
                <a:cubicBezTo>
                  <a:pt x="7715" y="101108"/>
                  <a:pt x="14609" y="108003"/>
                  <a:pt x="23144" y="108003"/>
                </a:cubicBezTo>
                <a:lnTo>
                  <a:pt x="35005" y="108003"/>
                </a:lnTo>
                <a:cubicBezTo>
                  <a:pt x="35246" y="108003"/>
                  <a:pt x="35487" y="108003"/>
                  <a:pt x="35728" y="108003"/>
                </a:cubicBezTo>
                <a:lnTo>
                  <a:pt x="77193" y="108003"/>
                </a:lnTo>
                <a:cubicBezTo>
                  <a:pt x="85727" y="108003"/>
                  <a:pt x="92622" y="101108"/>
                  <a:pt x="92622" y="92574"/>
                </a:cubicBezTo>
                <a:cubicBezTo>
                  <a:pt x="92622" y="84040"/>
                  <a:pt x="85727" y="77145"/>
                  <a:pt x="77193" y="77145"/>
                </a:cubicBezTo>
                <a:lnTo>
                  <a:pt x="58727" y="77145"/>
                </a:lnTo>
                <a:cubicBezTo>
                  <a:pt x="74686" y="49469"/>
                  <a:pt x="104628" y="30858"/>
                  <a:pt x="138861" y="30858"/>
                </a:cubicBezTo>
                <a:close/>
                <a:moveTo>
                  <a:pt x="150433" y="73288"/>
                </a:moveTo>
                <a:cubicBezTo>
                  <a:pt x="150433" y="66875"/>
                  <a:pt x="145274" y="61716"/>
                  <a:pt x="138861" y="61716"/>
                </a:cubicBezTo>
                <a:cubicBezTo>
                  <a:pt x="132448" y="61716"/>
                  <a:pt x="127289" y="66875"/>
                  <a:pt x="127289" y="73288"/>
                </a:cubicBezTo>
                <a:lnTo>
                  <a:pt x="127289" y="123432"/>
                </a:lnTo>
                <a:cubicBezTo>
                  <a:pt x="127289" y="126518"/>
                  <a:pt x="128495" y="129459"/>
                  <a:pt x="130664" y="131629"/>
                </a:cubicBezTo>
                <a:lnTo>
                  <a:pt x="165380" y="166344"/>
                </a:lnTo>
                <a:cubicBezTo>
                  <a:pt x="169912" y="170876"/>
                  <a:pt x="177241" y="170876"/>
                  <a:pt x="181725" y="166344"/>
                </a:cubicBezTo>
                <a:cubicBezTo>
                  <a:pt x="186209" y="161812"/>
                  <a:pt x="186257" y="154483"/>
                  <a:pt x="181725" y="149999"/>
                </a:cubicBezTo>
                <a:lnTo>
                  <a:pt x="150385" y="118659"/>
                </a:lnTo>
                <a:lnTo>
                  <a:pt x="150385" y="73288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012143" y="3603921"/>
            <a:ext cx="4283092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发展历史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03563" y="4097649"/>
            <a:ext cx="4566986" cy="64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从集中式到云原生,技术演进由业务需求与基础设施成熟共同推动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89446" y="3400258"/>
            <a:ext cx="4875566" cy="1542901"/>
          </a:xfrm>
          <a:custGeom>
            <a:avLst/>
            <a:gdLst/>
            <a:ahLst/>
            <a:cxnLst/>
            <a:rect l="l" t="t" r="r" b="b"/>
            <a:pathLst>
              <a:path w="4875566" h="1542901">
                <a:moveTo>
                  <a:pt x="98746" y="0"/>
                </a:moveTo>
                <a:lnTo>
                  <a:pt x="4776820" y="0"/>
                </a:lnTo>
                <a:cubicBezTo>
                  <a:pt x="4831356" y="0"/>
                  <a:pt x="4875566" y="44210"/>
                  <a:pt x="4875566" y="98746"/>
                </a:cubicBezTo>
                <a:lnTo>
                  <a:pt x="4875566" y="1444155"/>
                </a:lnTo>
                <a:cubicBezTo>
                  <a:pt x="4875566" y="1498691"/>
                  <a:pt x="4831356" y="1542901"/>
                  <a:pt x="4776820" y="1542901"/>
                </a:cubicBezTo>
                <a:lnTo>
                  <a:pt x="98746" y="1542901"/>
                </a:lnTo>
                <a:cubicBezTo>
                  <a:pt x="44210" y="1542901"/>
                  <a:pt x="0" y="1498691"/>
                  <a:pt x="0" y="1444155"/>
                </a:cubicBezTo>
                <a:lnTo>
                  <a:pt x="0" y="98746"/>
                </a:lnTo>
                <a:cubicBezTo>
                  <a:pt x="0" y="44246"/>
                  <a:pt x="44246" y="0"/>
                  <a:pt x="98746" y="0"/>
                </a:cubicBezTo>
                <a:close/>
              </a:path>
            </a:pathLst>
          </a:custGeom>
          <a:solidFill>
            <a:srgbClr val="343A40">
              <a:alpha val="8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5923967" y="3653293"/>
            <a:ext cx="246864" cy="246864"/>
          </a:xfrm>
          <a:custGeom>
            <a:avLst/>
            <a:gdLst/>
            <a:ahLst/>
            <a:cxnLst/>
            <a:rect l="l" t="t" r="r" b="b"/>
            <a:pathLst>
              <a:path w="246864" h="246864">
                <a:moveTo>
                  <a:pt x="92574" y="30858"/>
                </a:moveTo>
                <a:cubicBezTo>
                  <a:pt x="92574" y="22324"/>
                  <a:pt x="99469" y="15429"/>
                  <a:pt x="108003" y="15429"/>
                </a:cubicBezTo>
                <a:lnTo>
                  <a:pt x="138861" y="15429"/>
                </a:lnTo>
                <a:cubicBezTo>
                  <a:pt x="147395" y="15429"/>
                  <a:pt x="154290" y="22324"/>
                  <a:pt x="154290" y="30858"/>
                </a:cubicBezTo>
                <a:lnTo>
                  <a:pt x="154290" y="61716"/>
                </a:lnTo>
                <a:cubicBezTo>
                  <a:pt x="154290" y="70250"/>
                  <a:pt x="147395" y="77145"/>
                  <a:pt x="138861" y="77145"/>
                </a:cubicBezTo>
                <a:lnTo>
                  <a:pt x="135004" y="77145"/>
                </a:lnTo>
                <a:lnTo>
                  <a:pt x="135004" y="108003"/>
                </a:lnTo>
                <a:lnTo>
                  <a:pt x="192863" y="108003"/>
                </a:lnTo>
                <a:cubicBezTo>
                  <a:pt x="212052" y="108003"/>
                  <a:pt x="227578" y="123528"/>
                  <a:pt x="227578" y="142718"/>
                </a:cubicBezTo>
                <a:lnTo>
                  <a:pt x="227578" y="169719"/>
                </a:lnTo>
                <a:lnTo>
                  <a:pt x="231435" y="169719"/>
                </a:lnTo>
                <a:cubicBezTo>
                  <a:pt x="239969" y="169719"/>
                  <a:pt x="246864" y="176614"/>
                  <a:pt x="246864" y="185148"/>
                </a:cubicBezTo>
                <a:lnTo>
                  <a:pt x="246864" y="216006"/>
                </a:lnTo>
                <a:cubicBezTo>
                  <a:pt x="246864" y="224540"/>
                  <a:pt x="239969" y="231435"/>
                  <a:pt x="231435" y="231435"/>
                </a:cubicBezTo>
                <a:lnTo>
                  <a:pt x="200577" y="231435"/>
                </a:lnTo>
                <a:cubicBezTo>
                  <a:pt x="192043" y="231435"/>
                  <a:pt x="185148" y="224540"/>
                  <a:pt x="185148" y="216006"/>
                </a:cubicBezTo>
                <a:lnTo>
                  <a:pt x="185148" y="185148"/>
                </a:lnTo>
                <a:cubicBezTo>
                  <a:pt x="185148" y="176614"/>
                  <a:pt x="192043" y="169719"/>
                  <a:pt x="200577" y="169719"/>
                </a:cubicBezTo>
                <a:lnTo>
                  <a:pt x="204434" y="169719"/>
                </a:lnTo>
                <a:lnTo>
                  <a:pt x="204434" y="142718"/>
                </a:lnTo>
                <a:cubicBezTo>
                  <a:pt x="204434" y="136306"/>
                  <a:pt x="199275" y="131147"/>
                  <a:pt x="192863" y="131147"/>
                </a:cubicBezTo>
                <a:lnTo>
                  <a:pt x="135004" y="131147"/>
                </a:lnTo>
                <a:lnTo>
                  <a:pt x="135004" y="169719"/>
                </a:lnTo>
                <a:lnTo>
                  <a:pt x="138861" y="169719"/>
                </a:lnTo>
                <a:cubicBezTo>
                  <a:pt x="147395" y="169719"/>
                  <a:pt x="154290" y="176614"/>
                  <a:pt x="154290" y="185148"/>
                </a:cubicBezTo>
                <a:lnTo>
                  <a:pt x="154290" y="216006"/>
                </a:lnTo>
                <a:cubicBezTo>
                  <a:pt x="154290" y="224540"/>
                  <a:pt x="147395" y="231435"/>
                  <a:pt x="138861" y="231435"/>
                </a:cubicBezTo>
                <a:lnTo>
                  <a:pt x="108003" y="231435"/>
                </a:lnTo>
                <a:cubicBezTo>
                  <a:pt x="99469" y="231435"/>
                  <a:pt x="92574" y="224540"/>
                  <a:pt x="92574" y="216006"/>
                </a:cubicBezTo>
                <a:lnTo>
                  <a:pt x="92574" y="185148"/>
                </a:lnTo>
                <a:cubicBezTo>
                  <a:pt x="92574" y="176614"/>
                  <a:pt x="99469" y="169719"/>
                  <a:pt x="108003" y="169719"/>
                </a:cubicBezTo>
                <a:lnTo>
                  <a:pt x="111860" y="169719"/>
                </a:lnTo>
                <a:lnTo>
                  <a:pt x="111860" y="131147"/>
                </a:lnTo>
                <a:lnTo>
                  <a:pt x="54002" y="131147"/>
                </a:lnTo>
                <a:cubicBezTo>
                  <a:pt x="47589" y="131147"/>
                  <a:pt x="42430" y="136306"/>
                  <a:pt x="42430" y="142718"/>
                </a:cubicBezTo>
                <a:lnTo>
                  <a:pt x="42430" y="169719"/>
                </a:lnTo>
                <a:lnTo>
                  <a:pt x="46287" y="169719"/>
                </a:lnTo>
                <a:cubicBezTo>
                  <a:pt x="54821" y="169719"/>
                  <a:pt x="61716" y="176614"/>
                  <a:pt x="61716" y="185148"/>
                </a:cubicBezTo>
                <a:lnTo>
                  <a:pt x="61716" y="216006"/>
                </a:lnTo>
                <a:cubicBezTo>
                  <a:pt x="61716" y="224540"/>
                  <a:pt x="54821" y="231435"/>
                  <a:pt x="46287" y="231435"/>
                </a:cubicBezTo>
                <a:lnTo>
                  <a:pt x="15429" y="231435"/>
                </a:lnTo>
                <a:cubicBezTo>
                  <a:pt x="6895" y="231435"/>
                  <a:pt x="0" y="224540"/>
                  <a:pt x="0" y="216006"/>
                </a:cubicBezTo>
                <a:lnTo>
                  <a:pt x="0" y="185148"/>
                </a:lnTo>
                <a:cubicBezTo>
                  <a:pt x="0" y="176614"/>
                  <a:pt x="6895" y="169719"/>
                  <a:pt x="15429" y="169719"/>
                </a:cubicBezTo>
                <a:lnTo>
                  <a:pt x="19286" y="169719"/>
                </a:lnTo>
                <a:lnTo>
                  <a:pt x="19286" y="142718"/>
                </a:lnTo>
                <a:cubicBezTo>
                  <a:pt x="19286" y="123528"/>
                  <a:pt x="34812" y="108003"/>
                  <a:pt x="54002" y="108003"/>
                </a:cubicBezTo>
                <a:lnTo>
                  <a:pt x="111860" y="108003"/>
                </a:lnTo>
                <a:lnTo>
                  <a:pt x="111860" y="77145"/>
                </a:lnTo>
                <a:lnTo>
                  <a:pt x="108003" y="77145"/>
                </a:lnTo>
                <a:cubicBezTo>
                  <a:pt x="99469" y="77145"/>
                  <a:pt x="92574" y="70250"/>
                  <a:pt x="92574" y="61716"/>
                </a:cubicBezTo>
                <a:lnTo>
                  <a:pt x="92574" y="30858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6201689" y="3603921"/>
            <a:ext cx="4283092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93109" y="4097649"/>
            <a:ext cx="4566986" cy="64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透明性与可扩展性是分布式系统的关键特征,理解这些概念是设计基础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879088" y="3400258"/>
            <a:ext cx="4875566" cy="1542901"/>
          </a:xfrm>
          <a:custGeom>
            <a:avLst/>
            <a:gdLst/>
            <a:ahLst/>
            <a:cxnLst/>
            <a:rect l="l" t="t" r="r" b="b"/>
            <a:pathLst>
              <a:path w="4875566" h="1542901">
                <a:moveTo>
                  <a:pt x="98746" y="0"/>
                </a:moveTo>
                <a:lnTo>
                  <a:pt x="4776820" y="0"/>
                </a:lnTo>
                <a:cubicBezTo>
                  <a:pt x="4831356" y="0"/>
                  <a:pt x="4875566" y="44210"/>
                  <a:pt x="4875566" y="98746"/>
                </a:cubicBezTo>
                <a:lnTo>
                  <a:pt x="4875566" y="1444155"/>
                </a:lnTo>
                <a:cubicBezTo>
                  <a:pt x="4875566" y="1498691"/>
                  <a:pt x="4831356" y="1542901"/>
                  <a:pt x="4776820" y="1542901"/>
                </a:cubicBezTo>
                <a:lnTo>
                  <a:pt x="98746" y="1542901"/>
                </a:lnTo>
                <a:cubicBezTo>
                  <a:pt x="44210" y="1542901"/>
                  <a:pt x="0" y="1498691"/>
                  <a:pt x="0" y="1444155"/>
                </a:cubicBezTo>
                <a:lnTo>
                  <a:pt x="0" y="98746"/>
                </a:lnTo>
                <a:cubicBezTo>
                  <a:pt x="0" y="44246"/>
                  <a:pt x="44246" y="0"/>
                  <a:pt x="98746" y="0"/>
                </a:cubicBezTo>
                <a:close/>
              </a:path>
            </a:pathLst>
          </a:custGeom>
          <a:solidFill>
            <a:srgbClr val="343A40">
              <a:alpha val="8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11113609" y="3653293"/>
            <a:ext cx="246864" cy="246864"/>
          </a:xfrm>
          <a:custGeom>
            <a:avLst/>
            <a:gdLst/>
            <a:ahLst/>
            <a:cxnLst/>
            <a:rect l="l" t="t" r="r" b="b"/>
            <a:pathLst>
              <a:path w="246864" h="246864">
                <a:moveTo>
                  <a:pt x="123432" y="0"/>
                </a:moveTo>
                <a:cubicBezTo>
                  <a:pt x="130520" y="0"/>
                  <a:pt x="137029" y="3905"/>
                  <a:pt x="140404" y="10125"/>
                </a:cubicBezTo>
                <a:lnTo>
                  <a:pt x="244550" y="202988"/>
                </a:lnTo>
                <a:cubicBezTo>
                  <a:pt x="247780" y="208967"/>
                  <a:pt x="247636" y="216199"/>
                  <a:pt x="244164" y="222033"/>
                </a:cubicBezTo>
                <a:cubicBezTo>
                  <a:pt x="240692" y="227867"/>
                  <a:pt x="234376" y="231435"/>
                  <a:pt x="227578" y="231435"/>
                </a:cubicBezTo>
                <a:lnTo>
                  <a:pt x="19286" y="231435"/>
                </a:lnTo>
                <a:cubicBezTo>
                  <a:pt x="12488" y="231435"/>
                  <a:pt x="6220" y="227867"/>
                  <a:pt x="2700" y="222033"/>
                </a:cubicBezTo>
                <a:cubicBezTo>
                  <a:pt x="-820" y="216199"/>
                  <a:pt x="-916" y="208967"/>
                  <a:pt x="2314" y="202988"/>
                </a:cubicBezTo>
                <a:lnTo>
                  <a:pt x="106460" y="10125"/>
                </a:lnTo>
                <a:cubicBezTo>
                  <a:pt x="109835" y="3905"/>
                  <a:pt x="116344" y="0"/>
                  <a:pt x="123432" y="0"/>
                </a:cubicBezTo>
                <a:close/>
                <a:moveTo>
                  <a:pt x="123432" y="81002"/>
                </a:moveTo>
                <a:cubicBezTo>
                  <a:pt x="117019" y="81002"/>
                  <a:pt x="111860" y="86161"/>
                  <a:pt x="111860" y="92574"/>
                </a:cubicBezTo>
                <a:lnTo>
                  <a:pt x="111860" y="146576"/>
                </a:lnTo>
                <a:cubicBezTo>
                  <a:pt x="111860" y="152988"/>
                  <a:pt x="117019" y="158147"/>
                  <a:pt x="123432" y="158147"/>
                </a:cubicBezTo>
                <a:cubicBezTo>
                  <a:pt x="129845" y="158147"/>
                  <a:pt x="135004" y="152988"/>
                  <a:pt x="135004" y="146576"/>
                </a:cubicBezTo>
                <a:lnTo>
                  <a:pt x="135004" y="92574"/>
                </a:lnTo>
                <a:cubicBezTo>
                  <a:pt x="135004" y="86161"/>
                  <a:pt x="129845" y="81002"/>
                  <a:pt x="123432" y="81002"/>
                </a:cubicBezTo>
                <a:close/>
                <a:moveTo>
                  <a:pt x="136306" y="185148"/>
                </a:moveTo>
                <a:cubicBezTo>
                  <a:pt x="136598" y="180370"/>
                  <a:pt x="134215" y="175823"/>
                  <a:pt x="130119" y="173345"/>
                </a:cubicBezTo>
                <a:cubicBezTo>
                  <a:pt x="126023" y="170868"/>
                  <a:pt x="120890" y="170868"/>
                  <a:pt x="116793" y="173345"/>
                </a:cubicBezTo>
                <a:cubicBezTo>
                  <a:pt x="112697" y="175823"/>
                  <a:pt x="110314" y="180370"/>
                  <a:pt x="110607" y="185148"/>
                </a:cubicBezTo>
                <a:cubicBezTo>
                  <a:pt x="110314" y="189927"/>
                  <a:pt x="112697" y="194473"/>
                  <a:pt x="116793" y="196951"/>
                </a:cubicBezTo>
                <a:cubicBezTo>
                  <a:pt x="120890" y="199429"/>
                  <a:pt x="126023" y="199429"/>
                  <a:pt x="130119" y="196951"/>
                </a:cubicBezTo>
                <a:cubicBezTo>
                  <a:pt x="134215" y="194473"/>
                  <a:pt x="136598" y="189927"/>
                  <a:pt x="136306" y="18514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1391331" y="3603921"/>
            <a:ext cx="4283092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核心挑战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082751" y="4097649"/>
            <a:ext cx="4566986" cy="64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网络不可靠性与时钟同步是基础设施挑战,分布式事务、锁、负载分布是应用层挑战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99900" y="5251738"/>
            <a:ext cx="4875566" cy="1542901"/>
          </a:xfrm>
          <a:custGeom>
            <a:avLst/>
            <a:gdLst/>
            <a:ahLst/>
            <a:cxnLst/>
            <a:rect l="l" t="t" r="r" b="b"/>
            <a:pathLst>
              <a:path w="4875566" h="1542901">
                <a:moveTo>
                  <a:pt x="98746" y="0"/>
                </a:moveTo>
                <a:lnTo>
                  <a:pt x="4776820" y="0"/>
                </a:lnTo>
                <a:cubicBezTo>
                  <a:pt x="4831356" y="0"/>
                  <a:pt x="4875566" y="44210"/>
                  <a:pt x="4875566" y="98746"/>
                </a:cubicBezTo>
                <a:lnTo>
                  <a:pt x="4875566" y="1444155"/>
                </a:lnTo>
                <a:cubicBezTo>
                  <a:pt x="4875566" y="1498691"/>
                  <a:pt x="4831356" y="1542901"/>
                  <a:pt x="4776820" y="1542901"/>
                </a:cubicBezTo>
                <a:lnTo>
                  <a:pt x="98746" y="1542901"/>
                </a:lnTo>
                <a:cubicBezTo>
                  <a:pt x="44210" y="1542901"/>
                  <a:pt x="0" y="1498691"/>
                  <a:pt x="0" y="1444155"/>
                </a:cubicBezTo>
                <a:lnTo>
                  <a:pt x="0" y="98746"/>
                </a:lnTo>
                <a:cubicBezTo>
                  <a:pt x="0" y="44246"/>
                  <a:pt x="44246" y="0"/>
                  <a:pt x="98746" y="0"/>
                </a:cubicBezTo>
                <a:close/>
              </a:path>
            </a:pathLst>
          </a:custGeom>
          <a:solidFill>
            <a:srgbClr val="343A40">
              <a:alpha val="8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703563" y="5504774"/>
            <a:ext cx="308580" cy="246864"/>
          </a:xfrm>
          <a:custGeom>
            <a:avLst/>
            <a:gdLst/>
            <a:ahLst/>
            <a:cxnLst/>
            <a:rect l="l" t="t" r="r" b="b"/>
            <a:pathLst>
              <a:path w="308580" h="246864">
                <a:moveTo>
                  <a:pt x="185148" y="15429"/>
                </a:moveTo>
                <a:lnTo>
                  <a:pt x="246864" y="15429"/>
                </a:lnTo>
                <a:cubicBezTo>
                  <a:pt x="255398" y="15429"/>
                  <a:pt x="262293" y="22324"/>
                  <a:pt x="262293" y="30858"/>
                </a:cubicBezTo>
                <a:cubicBezTo>
                  <a:pt x="262293" y="39392"/>
                  <a:pt x="255398" y="46287"/>
                  <a:pt x="246864" y="46287"/>
                </a:cubicBezTo>
                <a:lnTo>
                  <a:pt x="192091" y="46287"/>
                </a:lnTo>
                <a:cubicBezTo>
                  <a:pt x="189584" y="58727"/>
                  <a:pt x="181050" y="68997"/>
                  <a:pt x="169719" y="73915"/>
                </a:cubicBezTo>
                <a:lnTo>
                  <a:pt x="169719" y="216006"/>
                </a:lnTo>
                <a:lnTo>
                  <a:pt x="246864" y="216006"/>
                </a:lnTo>
                <a:cubicBezTo>
                  <a:pt x="255398" y="216006"/>
                  <a:pt x="262293" y="222901"/>
                  <a:pt x="262293" y="231435"/>
                </a:cubicBezTo>
                <a:cubicBezTo>
                  <a:pt x="262293" y="239969"/>
                  <a:pt x="255398" y="246864"/>
                  <a:pt x="246864" y="246864"/>
                </a:cubicBezTo>
                <a:lnTo>
                  <a:pt x="61716" y="246864"/>
                </a:lnTo>
                <a:cubicBezTo>
                  <a:pt x="53182" y="246864"/>
                  <a:pt x="46287" y="239969"/>
                  <a:pt x="46287" y="231435"/>
                </a:cubicBezTo>
                <a:cubicBezTo>
                  <a:pt x="46287" y="222901"/>
                  <a:pt x="53182" y="216006"/>
                  <a:pt x="61716" y="216006"/>
                </a:cubicBezTo>
                <a:lnTo>
                  <a:pt x="138861" y="216006"/>
                </a:lnTo>
                <a:lnTo>
                  <a:pt x="138861" y="73915"/>
                </a:lnTo>
                <a:cubicBezTo>
                  <a:pt x="127530" y="68948"/>
                  <a:pt x="118996" y="58678"/>
                  <a:pt x="116489" y="46287"/>
                </a:cubicBezTo>
                <a:lnTo>
                  <a:pt x="61716" y="46287"/>
                </a:lnTo>
                <a:cubicBezTo>
                  <a:pt x="53182" y="46287"/>
                  <a:pt x="46287" y="39392"/>
                  <a:pt x="46287" y="30858"/>
                </a:cubicBezTo>
                <a:cubicBezTo>
                  <a:pt x="46287" y="22324"/>
                  <a:pt x="53182" y="15429"/>
                  <a:pt x="61716" y="15429"/>
                </a:cubicBezTo>
                <a:lnTo>
                  <a:pt x="123432" y="15429"/>
                </a:lnTo>
                <a:cubicBezTo>
                  <a:pt x="130472" y="6075"/>
                  <a:pt x="141658" y="0"/>
                  <a:pt x="154290" y="0"/>
                </a:cubicBezTo>
                <a:cubicBezTo>
                  <a:pt x="166923" y="0"/>
                  <a:pt x="178109" y="6075"/>
                  <a:pt x="185148" y="15429"/>
                </a:cubicBezTo>
                <a:close/>
                <a:moveTo>
                  <a:pt x="211956" y="154290"/>
                </a:moveTo>
                <a:lnTo>
                  <a:pt x="281772" y="154290"/>
                </a:lnTo>
                <a:lnTo>
                  <a:pt x="246864" y="94406"/>
                </a:lnTo>
                <a:lnTo>
                  <a:pt x="211956" y="154290"/>
                </a:lnTo>
                <a:close/>
                <a:moveTo>
                  <a:pt x="246864" y="200577"/>
                </a:moveTo>
                <a:cubicBezTo>
                  <a:pt x="216536" y="200577"/>
                  <a:pt x="191320" y="184184"/>
                  <a:pt x="186112" y="162535"/>
                </a:cubicBezTo>
                <a:cubicBezTo>
                  <a:pt x="184859" y="157231"/>
                  <a:pt x="186595" y="151783"/>
                  <a:pt x="189343" y="147058"/>
                </a:cubicBezTo>
                <a:lnTo>
                  <a:pt x="235244" y="68370"/>
                </a:lnTo>
                <a:cubicBezTo>
                  <a:pt x="237655" y="64223"/>
                  <a:pt x="242091" y="61716"/>
                  <a:pt x="246864" y="61716"/>
                </a:cubicBezTo>
                <a:cubicBezTo>
                  <a:pt x="251637" y="61716"/>
                  <a:pt x="256073" y="64271"/>
                  <a:pt x="258484" y="68370"/>
                </a:cubicBezTo>
                <a:lnTo>
                  <a:pt x="304385" y="147058"/>
                </a:lnTo>
                <a:cubicBezTo>
                  <a:pt x="307134" y="151783"/>
                  <a:pt x="308869" y="157231"/>
                  <a:pt x="307616" y="162535"/>
                </a:cubicBezTo>
                <a:cubicBezTo>
                  <a:pt x="302409" y="184136"/>
                  <a:pt x="277192" y="200577"/>
                  <a:pt x="246864" y="200577"/>
                </a:cubicBezTo>
                <a:close/>
                <a:moveTo>
                  <a:pt x="61137" y="94406"/>
                </a:moveTo>
                <a:lnTo>
                  <a:pt x="26229" y="154290"/>
                </a:lnTo>
                <a:lnTo>
                  <a:pt x="96094" y="154290"/>
                </a:lnTo>
                <a:lnTo>
                  <a:pt x="61137" y="94406"/>
                </a:lnTo>
                <a:close/>
                <a:moveTo>
                  <a:pt x="434" y="162535"/>
                </a:moveTo>
                <a:cubicBezTo>
                  <a:pt x="-820" y="157231"/>
                  <a:pt x="916" y="151783"/>
                  <a:pt x="3664" y="147058"/>
                </a:cubicBezTo>
                <a:lnTo>
                  <a:pt x="49566" y="68370"/>
                </a:lnTo>
                <a:cubicBezTo>
                  <a:pt x="51976" y="64223"/>
                  <a:pt x="56412" y="61716"/>
                  <a:pt x="61186" y="61716"/>
                </a:cubicBezTo>
                <a:cubicBezTo>
                  <a:pt x="65959" y="61716"/>
                  <a:pt x="70395" y="64271"/>
                  <a:pt x="72806" y="68370"/>
                </a:cubicBezTo>
                <a:lnTo>
                  <a:pt x="118707" y="147058"/>
                </a:lnTo>
                <a:cubicBezTo>
                  <a:pt x="121455" y="151783"/>
                  <a:pt x="123191" y="157231"/>
                  <a:pt x="121937" y="162535"/>
                </a:cubicBezTo>
                <a:cubicBezTo>
                  <a:pt x="116730" y="184136"/>
                  <a:pt x="91513" y="200577"/>
                  <a:pt x="61186" y="200577"/>
                </a:cubicBezTo>
                <a:cubicBezTo>
                  <a:pt x="30858" y="200577"/>
                  <a:pt x="5641" y="184184"/>
                  <a:pt x="434" y="16253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1012143" y="5455401"/>
            <a:ext cx="4283092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核心理论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03563" y="5949129"/>
            <a:ext cx="4566986" cy="64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CAP定理揭示了根本约束,BASE理论提供了实用设计方法,一致性模型细化了不同层次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689446" y="5251738"/>
            <a:ext cx="4875566" cy="1542901"/>
          </a:xfrm>
          <a:custGeom>
            <a:avLst/>
            <a:gdLst/>
            <a:ahLst/>
            <a:cxnLst/>
            <a:rect l="l" t="t" r="r" b="b"/>
            <a:pathLst>
              <a:path w="4875566" h="1542901">
                <a:moveTo>
                  <a:pt x="98746" y="0"/>
                </a:moveTo>
                <a:lnTo>
                  <a:pt x="4776820" y="0"/>
                </a:lnTo>
                <a:cubicBezTo>
                  <a:pt x="4831356" y="0"/>
                  <a:pt x="4875566" y="44210"/>
                  <a:pt x="4875566" y="98746"/>
                </a:cubicBezTo>
                <a:lnTo>
                  <a:pt x="4875566" y="1444155"/>
                </a:lnTo>
                <a:cubicBezTo>
                  <a:pt x="4875566" y="1498691"/>
                  <a:pt x="4831356" y="1542901"/>
                  <a:pt x="4776820" y="1542901"/>
                </a:cubicBezTo>
                <a:lnTo>
                  <a:pt x="98746" y="1542901"/>
                </a:lnTo>
                <a:cubicBezTo>
                  <a:pt x="44210" y="1542901"/>
                  <a:pt x="0" y="1498691"/>
                  <a:pt x="0" y="1444155"/>
                </a:cubicBezTo>
                <a:lnTo>
                  <a:pt x="0" y="98746"/>
                </a:lnTo>
                <a:cubicBezTo>
                  <a:pt x="0" y="44246"/>
                  <a:pt x="44246" y="0"/>
                  <a:pt x="98746" y="0"/>
                </a:cubicBezTo>
                <a:close/>
              </a:path>
            </a:pathLst>
          </a:custGeom>
          <a:solidFill>
            <a:srgbClr val="343A40">
              <a:alpha val="8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5893109" y="5504774"/>
            <a:ext cx="308580" cy="246864"/>
          </a:xfrm>
          <a:custGeom>
            <a:avLst/>
            <a:gdLst/>
            <a:ahLst/>
            <a:cxnLst/>
            <a:rect l="l" t="t" r="r" b="b"/>
            <a:pathLst>
              <a:path w="308580" h="246864">
                <a:moveTo>
                  <a:pt x="200529" y="101494"/>
                </a:moveTo>
                <a:cubicBezTo>
                  <a:pt x="206411" y="99903"/>
                  <a:pt x="212583" y="102699"/>
                  <a:pt x="215235" y="108148"/>
                </a:cubicBezTo>
                <a:lnTo>
                  <a:pt x="224203" y="126277"/>
                </a:lnTo>
                <a:cubicBezTo>
                  <a:pt x="229169" y="126952"/>
                  <a:pt x="234039" y="128302"/>
                  <a:pt x="238619" y="130182"/>
                </a:cubicBezTo>
                <a:lnTo>
                  <a:pt x="255495" y="118948"/>
                </a:lnTo>
                <a:cubicBezTo>
                  <a:pt x="260557" y="115573"/>
                  <a:pt x="267259" y="116248"/>
                  <a:pt x="271550" y="120539"/>
                </a:cubicBezTo>
                <a:lnTo>
                  <a:pt x="280808" y="129797"/>
                </a:lnTo>
                <a:cubicBezTo>
                  <a:pt x="285099" y="134088"/>
                  <a:pt x="285774" y="140838"/>
                  <a:pt x="282399" y="145852"/>
                </a:cubicBezTo>
                <a:lnTo>
                  <a:pt x="271165" y="162680"/>
                </a:lnTo>
                <a:cubicBezTo>
                  <a:pt x="272081" y="164946"/>
                  <a:pt x="272901" y="167308"/>
                  <a:pt x="273576" y="169767"/>
                </a:cubicBezTo>
                <a:cubicBezTo>
                  <a:pt x="274251" y="172226"/>
                  <a:pt x="274685" y="174637"/>
                  <a:pt x="275022" y="177096"/>
                </a:cubicBezTo>
                <a:lnTo>
                  <a:pt x="293199" y="186064"/>
                </a:lnTo>
                <a:cubicBezTo>
                  <a:pt x="298648" y="188764"/>
                  <a:pt x="301444" y="194936"/>
                  <a:pt x="299853" y="200770"/>
                </a:cubicBezTo>
                <a:lnTo>
                  <a:pt x="296478" y="213402"/>
                </a:lnTo>
                <a:cubicBezTo>
                  <a:pt x="294887" y="219237"/>
                  <a:pt x="289438" y="223190"/>
                  <a:pt x="283363" y="222804"/>
                </a:cubicBezTo>
                <a:lnTo>
                  <a:pt x="263113" y="221503"/>
                </a:lnTo>
                <a:cubicBezTo>
                  <a:pt x="260075" y="225408"/>
                  <a:pt x="256555" y="229024"/>
                  <a:pt x="252554" y="232110"/>
                </a:cubicBezTo>
                <a:lnTo>
                  <a:pt x="253855" y="252312"/>
                </a:lnTo>
                <a:cubicBezTo>
                  <a:pt x="254241" y="258388"/>
                  <a:pt x="250287" y="263884"/>
                  <a:pt x="244453" y="265427"/>
                </a:cubicBezTo>
                <a:lnTo>
                  <a:pt x="231821" y="268802"/>
                </a:lnTo>
                <a:cubicBezTo>
                  <a:pt x="225938" y="270393"/>
                  <a:pt x="219815" y="267597"/>
                  <a:pt x="217115" y="262148"/>
                </a:cubicBezTo>
                <a:lnTo>
                  <a:pt x="208147" y="244019"/>
                </a:lnTo>
                <a:cubicBezTo>
                  <a:pt x="203181" y="243344"/>
                  <a:pt x="198311" y="241994"/>
                  <a:pt x="193730" y="240114"/>
                </a:cubicBezTo>
                <a:lnTo>
                  <a:pt x="176855" y="251348"/>
                </a:lnTo>
                <a:cubicBezTo>
                  <a:pt x="171792" y="254723"/>
                  <a:pt x="165090" y="254048"/>
                  <a:pt x="160799" y="249757"/>
                </a:cubicBezTo>
                <a:lnTo>
                  <a:pt x="151542" y="240500"/>
                </a:lnTo>
                <a:cubicBezTo>
                  <a:pt x="147251" y="236208"/>
                  <a:pt x="146576" y="229506"/>
                  <a:pt x="149951" y="224444"/>
                </a:cubicBezTo>
                <a:lnTo>
                  <a:pt x="161185" y="207568"/>
                </a:lnTo>
                <a:cubicBezTo>
                  <a:pt x="160269" y="205302"/>
                  <a:pt x="159449" y="202940"/>
                  <a:pt x="158774" y="200481"/>
                </a:cubicBezTo>
                <a:cubicBezTo>
                  <a:pt x="158099" y="198022"/>
                  <a:pt x="157665" y="195563"/>
                  <a:pt x="157328" y="193152"/>
                </a:cubicBezTo>
                <a:lnTo>
                  <a:pt x="139150" y="184184"/>
                </a:lnTo>
                <a:cubicBezTo>
                  <a:pt x="133702" y="181484"/>
                  <a:pt x="130954" y="175312"/>
                  <a:pt x="132497" y="169478"/>
                </a:cubicBezTo>
                <a:lnTo>
                  <a:pt x="135872" y="156845"/>
                </a:lnTo>
                <a:cubicBezTo>
                  <a:pt x="137463" y="151011"/>
                  <a:pt x="142911" y="147058"/>
                  <a:pt x="148986" y="147443"/>
                </a:cubicBezTo>
                <a:lnTo>
                  <a:pt x="169189" y="148745"/>
                </a:lnTo>
                <a:cubicBezTo>
                  <a:pt x="172226" y="144840"/>
                  <a:pt x="175746" y="141224"/>
                  <a:pt x="179748" y="138138"/>
                </a:cubicBezTo>
                <a:lnTo>
                  <a:pt x="178446" y="117984"/>
                </a:lnTo>
                <a:cubicBezTo>
                  <a:pt x="178060" y="111909"/>
                  <a:pt x="182014" y="106412"/>
                  <a:pt x="187848" y="104869"/>
                </a:cubicBezTo>
                <a:lnTo>
                  <a:pt x="200481" y="101494"/>
                </a:lnTo>
                <a:close/>
                <a:moveTo>
                  <a:pt x="216199" y="163933"/>
                </a:moveTo>
                <a:cubicBezTo>
                  <a:pt x="204490" y="163946"/>
                  <a:pt x="194995" y="173463"/>
                  <a:pt x="195008" y="185172"/>
                </a:cubicBezTo>
                <a:cubicBezTo>
                  <a:pt x="195021" y="196881"/>
                  <a:pt x="204538" y="206376"/>
                  <a:pt x="216247" y="206363"/>
                </a:cubicBezTo>
                <a:cubicBezTo>
                  <a:pt x="227956" y="206350"/>
                  <a:pt x="237451" y="196833"/>
                  <a:pt x="237438" y="185124"/>
                </a:cubicBezTo>
                <a:cubicBezTo>
                  <a:pt x="237425" y="173415"/>
                  <a:pt x="227908" y="163920"/>
                  <a:pt x="216199" y="163933"/>
                </a:cubicBezTo>
                <a:close/>
                <a:moveTo>
                  <a:pt x="108437" y="-21938"/>
                </a:moveTo>
                <a:lnTo>
                  <a:pt x="121069" y="-18563"/>
                </a:lnTo>
                <a:cubicBezTo>
                  <a:pt x="126904" y="-16972"/>
                  <a:pt x="130857" y="-11475"/>
                  <a:pt x="130472" y="-5448"/>
                </a:cubicBezTo>
                <a:lnTo>
                  <a:pt x="129170" y="14706"/>
                </a:lnTo>
                <a:cubicBezTo>
                  <a:pt x="133172" y="17792"/>
                  <a:pt x="136691" y="21360"/>
                  <a:pt x="139729" y="25313"/>
                </a:cubicBezTo>
                <a:lnTo>
                  <a:pt x="159979" y="24011"/>
                </a:lnTo>
                <a:cubicBezTo>
                  <a:pt x="166006" y="23626"/>
                  <a:pt x="171503" y="27579"/>
                  <a:pt x="173094" y="33413"/>
                </a:cubicBezTo>
                <a:lnTo>
                  <a:pt x="176469" y="46046"/>
                </a:lnTo>
                <a:cubicBezTo>
                  <a:pt x="178012" y="51880"/>
                  <a:pt x="175264" y="58052"/>
                  <a:pt x="169815" y="60752"/>
                </a:cubicBezTo>
                <a:lnTo>
                  <a:pt x="151638" y="69720"/>
                </a:lnTo>
                <a:cubicBezTo>
                  <a:pt x="151301" y="72179"/>
                  <a:pt x="150819" y="74638"/>
                  <a:pt x="150192" y="77049"/>
                </a:cubicBezTo>
                <a:cubicBezTo>
                  <a:pt x="149565" y="79459"/>
                  <a:pt x="148697" y="81870"/>
                  <a:pt x="147781" y="84136"/>
                </a:cubicBezTo>
                <a:lnTo>
                  <a:pt x="159015" y="101012"/>
                </a:lnTo>
                <a:cubicBezTo>
                  <a:pt x="162390" y="106074"/>
                  <a:pt x="161715" y="112776"/>
                  <a:pt x="157424" y="117068"/>
                </a:cubicBezTo>
                <a:lnTo>
                  <a:pt x="148167" y="126325"/>
                </a:lnTo>
                <a:cubicBezTo>
                  <a:pt x="143875" y="130616"/>
                  <a:pt x="137174" y="131291"/>
                  <a:pt x="132111" y="127916"/>
                </a:cubicBezTo>
                <a:lnTo>
                  <a:pt x="115235" y="116682"/>
                </a:lnTo>
                <a:cubicBezTo>
                  <a:pt x="110655" y="118562"/>
                  <a:pt x="105785" y="119912"/>
                  <a:pt x="100819" y="120587"/>
                </a:cubicBezTo>
                <a:lnTo>
                  <a:pt x="91851" y="138716"/>
                </a:lnTo>
                <a:cubicBezTo>
                  <a:pt x="89151" y="144165"/>
                  <a:pt x="82979" y="146913"/>
                  <a:pt x="77145" y="145370"/>
                </a:cubicBezTo>
                <a:lnTo>
                  <a:pt x="64513" y="141995"/>
                </a:lnTo>
                <a:cubicBezTo>
                  <a:pt x="58630" y="140404"/>
                  <a:pt x="54725" y="134907"/>
                  <a:pt x="55110" y="128880"/>
                </a:cubicBezTo>
                <a:lnTo>
                  <a:pt x="56412" y="108678"/>
                </a:lnTo>
                <a:cubicBezTo>
                  <a:pt x="52410" y="105592"/>
                  <a:pt x="48891" y="102024"/>
                  <a:pt x="45853" y="98071"/>
                </a:cubicBezTo>
                <a:lnTo>
                  <a:pt x="25603" y="99372"/>
                </a:lnTo>
                <a:cubicBezTo>
                  <a:pt x="19576" y="99758"/>
                  <a:pt x="14079" y="95804"/>
                  <a:pt x="12488" y="89970"/>
                </a:cubicBezTo>
                <a:lnTo>
                  <a:pt x="9113" y="77338"/>
                </a:lnTo>
                <a:cubicBezTo>
                  <a:pt x="7570" y="71504"/>
                  <a:pt x="10318" y="65332"/>
                  <a:pt x="15767" y="62632"/>
                </a:cubicBezTo>
                <a:lnTo>
                  <a:pt x="33944" y="53664"/>
                </a:lnTo>
                <a:cubicBezTo>
                  <a:pt x="34281" y="51205"/>
                  <a:pt x="34763" y="48794"/>
                  <a:pt x="35390" y="46335"/>
                </a:cubicBezTo>
                <a:cubicBezTo>
                  <a:pt x="36065" y="43876"/>
                  <a:pt x="36837" y="41514"/>
                  <a:pt x="37801" y="39248"/>
                </a:cubicBezTo>
                <a:lnTo>
                  <a:pt x="26567" y="22420"/>
                </a:lnTo>
                <a:cubicBezTo>
                  <a:pt x="23192" y="17358"/>
                  <a:pt x="23867" y="10656"/>
                  <a:pt x="28158" y="6364"/>
                </a:cubicBezTo>
                <a:lnTo>
                  <a:pt x="37415" y="-2893"/>
                </a:lnTo>
                <a:cubicBezTo>
                  <a:pt x="41707" y="-7184"/>
                  <a:pt x="48409" y="-7859"/>
                  <a:pt x="53471" y="-4484"/>
                </a:cubicBezTo>
                <a:lnTo>
                  <a:pt x="70347" y="6750"/>
                </a:lnTo>
                <a:cubicBezTo>
                  <a:pt x="74927" y="4870"/>
                  <a:pt x="79797" y="3520"/>
                  <a:pt x="84763" y="2845"/>
                </a:cubicBezTo>
                <a:lnTo>
                  <a:pt x="93731" y="-15284"/>
                </a:lnTo>
                <a:cubicBezTo>
                  <a:pt x="96431" y="-20733"/>
                  <a:pt x="102555" y="-23481"/>
                  <a:pt x="108437" y="-21938"/>
                </a:cubicBezTo>
                <a:close/>
                <a:moveTo>
                  <a:pt x="92767" y="40501"/>
                </a:moveTo>
                <a:cubicBezTo>
                  <a:pt x="81058" y="40501"/>
                  <a:pt x="71552" y="50007"/>
                  <a:pt x="71552" y="61716"/>
                </a:cubicBezTo>
                <a:cubicBezTo>
                  <a:pt x="71552" y="73425"/>
                  <a:pt x="81058" y="82931"/>
                  <a:pt x="92767" y="82931"/>
                </a:cubicBezTo>
                <a:cubicBezTo>
                  <a:pt x="104476" y="82931"/>
                  <a:pt x="113982" y="73425"/>
                  <a:pt x="113982" y="61716"/>
                </a:cubicBezTo>
                <a:cubicBezTo>
                  <a:pt x="113982" y="50007"/>
                  <a:pt x="104476" y="40501"/>
                  <a:pt x="92767" y="4050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6201689" y="5455401"/>
            <a:ext cx="4283092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核心机制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893109" y="5949129"/>
            <a:ext cx="4566986" cy="64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共识算法(Raft)、数据分片(一致性哈希)、复制策略(法定人数)、故障检测(心跳)是关键技术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879088" y="5251738"/>
            <a:ext cx="4875566" cy="1542901"/>
          </a:xfrm>
          <a:custGeom>
            <a:avLst/>
            <a:gdLst/>
            <a:ahLst/>
            <a:cxnLst/>
            <a:rect l="l" t="t" r="r" b="b"/>
            <a:pathLst>
              <a:path w="4875566" h="1542901">
                <a:moveTo>
                  <a:pt x="98746" y="0"/>
                </a:moveTo>
                <a:lnTo>
                  <a:pt x="4776820" y="0"/>
                </a:lnTo>
                <a:cubicBezTo>
                  <a:pt x="4831356" y="0"/>
                  <a:pt x="4875566" y="44210"/>
                  <a:pt x="4875566" y="98746"/>
                </a:cubicBezTo>
                <a:lnTo>
                  <a:pt x="4875566" y="1444155"/>
                </a:lnTo>
                <a:cubicBezTo>
                  <a:pt x="4875566" y="1498691"/>
                  <a:pt x="4831356" y="1542901"/>
                  <a:pt x="4776820" y="1542901"/>
                </a:cubicBezTo>
                <a:lnTo>
                  <a:pt x="98746" y="1542901"/>
                </a:lnTo>
                <a:cubicBezTo>
                  <a:pt x="44210" y="1542901"/>
                  <a:pt x="0" y="1498691"/>
                  <a:pt x="0" y="1444155"/>
                </a:cubicBezTo>
                <a:lnTo>
                  <a:pt x="0" y="98746"/>
                </a:lnTo>
                <a:cubicBezTo>
                  <a:pt x="0" y="44246"/>
                  <a:pt x="44246" y="0"/>
                  <a:pt x="98746" y="0"/>
                </a:cubicBezTo>
                <a:close/>
              </a:path>
            </a:pathLst>
          </a:custGeom>
          <a:solidFill>
            <a:srgbClr val="343A40">
              <a:alpha val="80000"/>
            </a:srgbClr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11113609" y="5504774"/>
            <a:ext cx="246864" cy="246864"/>
          </a:xfrm>
          <a:custGeom>
            <a:avLst/>
            <a:gdLst/>
            <a:ahLst/>
            <a:cxnLst/>
            <a:rect l="l" t="t" r="r" b="b"/>
            <a:pathLst>
              <a:path w="246864" h="246864">
                <a:moveTo>
                  <a:pt x="61716" y="154290"/>
                </a:moveTo>
                <a:lnTo>
                  <a:pt x="11813" y="154290"/>
                </a:lnTo>
                <a:cubicBezTo>
                  <a:pt x="-193" y="154290"/>
                  <a:pt x="-7570" y="141224"/>
                  <a:pt x="-1398" y="130905"/>
                </a:cubicBezTo>
                <a:lnTo>
                  <a:pt x="24108" y="88379"/>
                </a:lnTo>
                <a:cubicBezTo>
                  <a:pt x="28303" y="81388"/>
                  <a:pt x="35824" y="77145"/>
                  <a:pt x="43973" y="77145"/>
                </a:cubicBezTo>
                <a:lnTo>
                  <a:pt x="89778" y="77145"/>
                </a:lnTo>
                <a:cubicBezTo>
                  <a:pt x="126470" y="14995"/>
                  <a:pt x="181194" y="11861"/>
                  <a:pt x="217790" y="17213"/>
                </a:cubicBezTo>
                <a:cubicBezTo>
                  <a:pt x="223962" y="18129"/>
                  <a:pt x="228783" y="22951"/>
                  <a:pt x="229651" y="29074"/>
                </a:cubicBezTo>
                <a:cubicBezTo>
                  <a:pt x="235003" y="65670"/>
                  <a:pt x="231869" y="120394"/>
                  <a:pt x="169719" y="157087"/>
                </a:cubicBezTo>
                <a:lnTo>
                  <a:pt x="169719" y="202891"/>
                </a:lnTo>
                <a:cubicBezTo>
                  <a:pt x="169719" y="211040"/>
                  <a:pt x="165476" y="218562"/>
                  <a:pt x="158485" y="222756"/>
                </a:cubicBezTo>
                <a:lnTo>
                  <a:pt x="115959" y="248262"/>
                </a:lnTo>
                <a:cubicBezTo>
                  <a:pt x="105689" y="254434"/>
                  <a:pt x="92574" y="247009"/>
                  <a:pt x="92574" y="235051"/>
                </a:cubicBezTo>
                <a:lnTo>
                  <a:pt x="92574" y="185148"/>
                </a:lnTo>
                <a:cubicBezTo>
                  <a:pt x="92574" y="168128"/>
                  <a:pt x="78736" y="154290"/>
                  <a:pt x="61716" y="154290"/>
                </a:cubicBezTo>
                <a:lnTo>
                  <a:pt x="61668" y="154290"/>
                </a:lnTo>
                <a:close/>
                <a:moveTo>
                  <a:pt x="192863" y="77145"/>
                </a:moveTo>
                <a:cubicBezTo>
                  <a:pt x="192863" y="64372"/>
                  <a:pt x="182492" y="54002"/>
                  <a:pt x="169719" y="54002"/>
                </a:cubicBezTo>
                <a:cubicBezTo>
                  <a:pt x="156946" y="54002"/>
                  <a:pt x="146576" y="64372"/>
                  <a:pt x="146576" y="77145"/>
                </a:cubicBezTo>
                <a:cubicBezTo>
                  <a:pt x="146576" y="89918"/>
                  <a:pt x="156946" y="100289"/>
                  <a:pt x="169719" y="100289"/>
                </a:cubicBezTo>
                <a:cubicBezTo>
                  <a:pt x="182492" y="100289"/>
                  <a:pt x="192863" y="89918"/>
                  <a:pt x="192863" y="7714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11391331" y="5455401"/>
            <a:ext cx="4283092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实践应用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082751" y="5949129"/>
            <a:ext cx="4566986" cy="64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从电商到金融,从物联网到云计算,分布式系统无处不在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06071" y="7109391"/>
            <a:ext cx="15243857" cy="1752735"/>
          </a:xfrm>
          <a:custGeom>
            <a:avLst/>
            <a:gdLst/>
            <a:ahLst/>
            <a:cxnLst/>
            <a:rect l="l" t="t" r="r" b="b"/>
            <a:pathLst>
              <a:path w="15243857" h="1752735">
                <a:moveTo>
                  <a:pt x="98749" y="0"/>
                </a:moveTo>
                <a:lnTo>
                  <a:pt x="15145108" y="0"/>
                </a:lnTo>
                <a:cubicBezTo>
                  <a:pt x="15199646" y="0"/>
                  <a:pt x="15243857" y="44211"/>
                  <a:pt x="15243857" y="98749"/>
                </a:cubicBezTo>
                <a:lnTo>
                  <a:pt x="15243857" y="1653986"/>
                </a:lnTo>
                <a:cubicBezTo>
                  <a:pt x="15243857" y="1708524"/>
                  <a:pt x="15199646" y="1752735"/>
                  <a:pt x="15145108" y="1752735"/>
                </a:cubicBezTo>
                <a:lnTo>
                  <a:pt x="98749" y="1752735"/>
                </a:lnTo>
                <a:cubicBezTo>
                  <a:pt x="44211" y="1752735"/>
                  <a:pt x="0" y="1708524"/>
                  <a:pt x="0" y="1653986"/>
                </a:cubicBezTo>
                <a:lnTo>
                  <a:pt x="0" y="98749"/>
                </a:lnTo>
                <a:cubicBezTo>
                  <a:pt x="0" y="44211"/>
                  <a:pt x="44211" y="0"/>
                  <a:pt x="98749" y="0"/>
                </a:cubicBezTo>
                <a:close/>
              </a:path>
            </a:pathLst>
          </a:custGeom>
          <a:solidFill>
            <a:srgbClr val="D4A237">
              <a:alpha val="20000"/>
            </a:srgbClr>
          </a:solidFill>
          <a:ln w="25400">
            <a:solidFill>
              <a:srgbClr val="D4A2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0"/>
          <p:cNvSpPr/>
          <p:nvPr/>
        </p:nvSpPr>
        <p:spPr>
          <a:xfrm>
            <a:off x="783793" y="7417971"/>
            <a:ext cx="333267" cy="296237"/>
          </a:xfrm>
          <a:custGeom>
            <a:avLst/>
            <a:gdLst/>
            <a:ahLst/>
            <a:cxnLst/>
            <a:rect l="l" t="t" r="r" b="b"/>
            <a:pathLst>
              <a:path w="333267" h="296237">
                <a:moveTo>
                  <a:pt x="27772" y="113287"/>
                </a:moveTo>
                <a:lnTo>
                  <a:pt x="148813" y="163104"/>
                </a:lnTo>
                <a:cubicBezTo>
                  <a:pt x="154483" y="165418"/>
                  <a:pt x="160500" y="166633"/>
                  <a:pt x="166633" y="166633"/>
                </a:cubicBezTo>
                <a:cubicBezTo>
                  <a:pt x="172766" y="166633"/>
                  <a:pt x="178784" y="165418"/>
                  <a:pt x="184454" y="163104"/>
                </a:cubicBezTo>
                <a:lnTo>
                  <a:pt x="324703" y="105361"/>
                </a:lnTo>
                <a:cubicBezTo>
                  <a:pt x="329911" y="103220"/>
                  <a:pt x="333267" y="98186"/>
                  <a:pt x="333267" y="92574"/>
                </a:cubicBezTo>
                <a:cubicBezTo>
                  <a:pt x="333267" y="86962"/>
                  <a:pt x="329911" y="81928"/>
                  <a:pt x="324703" y="79787"/>
                </a:cubicBezTo>
                <a:lnTo>
                  <a:pt x="184454" y="22044"/>
                </a:lnTo>
                <a:cubicBezTo>
                  <a:pt x="178784" y="19730"/>
                  <a:pt x="172766" y="18515"/>
                  <a:pt x="166633" y="18515"/>
                </a:cubicBezTo>
                <a:cubicBezTo>
                  <a:pt x="160500" y="18515"/>
                  <a:pt x="154483" y="19730"/>
                  <a:pt x="148813" y="22044"/>
                </a:cubicBezTo>
                <a:lnTo>
                  <a:pt x="8563" y="79787"/>
                </a:lnTo>
                <a:cubicBezTo>
                  <a:pt x="3356" y="81928"/>
                  <a:pt x="0" y="86962"/>
                  <a:pt x="0" y="92574"/>
                </a:cubicBezTo>
                <a:lnTo>
                  <a:pt x="0" y="263836"/>
                </a:lnTo>
                <a:cubicBezTo>
                  <a:pt x="0" y="271531"/>
                  <a:pt x="6191" y="277722"/>
                  <a:pt x="13886" y="277722"/>
                </a:cubicBezTo>
                <a:cubicBezTo>
                  <a:pt x="21581" y="277722"/>
                  <a:pt x="27772" y="271531"/>
                  <a:pt x="27772" y="263836"/>
                </a:cubicBezTo>
                <a:lnTo>
                  <a:pt x="27772" y="113287"/>
                </a:lnTo>
                <a:close/>
                <a:moveTo>
                  <a:pt x="55544" y="154772"/>
                </a:moveTo>
                <a:lnTo>
                  <a:pt x="55544" y="222178"/>
                </a:lnTo>
                <a:cubicBezTo>
                  <a:pt x="55544" y="252843"/>
                  <a:pt x="105303" y="277722"/>
                  <a:pt x="166633" y="277722"/>
                </a:cubicBezTo>
                <a:cubicBezTo>
                  <a:pt x="227964" y="277722"/>
                  <a:pt x="277722" y="252843"/>
                  <a:pt x="277722" y="222178"/>
                </a:cubicBezTo>
                <a:lnTo>
                  <a:pt x="277722" y="154714"/>
                </a:lnTo>
                <a:lnTo>
                  <a:pt x="195042" y="188793"/>
                </a:lnTo>
                <a:cubicBezTo>
                  <a:pt x="186016" y="192496"/>
                  <a:pt x="176411" y="194405"/>
                  <a:pt x="166633" y="194405"/>
                </a:cubicBezTo>
                <a:cubicBezTo>
                  <a:pt x="156855" y="194405"/>
                  <a:pt x="147251" y="192496"/>
                  <a:pt x="138225" y="188793"/>
                </a:cubicBezTo>
                <a:lnTo>
                  <a:pt x="55544" y="15471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1135575" y="7368598"/>
            <a:ext cx="14503265" cy="394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建议后续学习路径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65279" y="7961072"/>
            <a:ext cx="394983" cy="394983"/>
          </a:xfrm>
          <a:custGeom>
            <a:avLst/>
            <a:gdLst/>
            <a:ahLst/>
            <a:cxnLst/>
            <a:rect l="l" t="t" r="r" b="b"/>
            <a:pathLst>
              <a:path w="394983" h="394983">
                <a:moveTo>
                  <a:pt x="197491" y="0"/>
                </a:moveTo>
                <a:lnTo>
                  <a:pt x="197491" y="0"/>
                </a:lnTo>
                <a:cubicBezTo>
                  <a:pt x="306490" y="0"/>
                  <a:pt x="394983" y="88493"/>
                  <a:pt x="394983" y="197491"/>
                </a:cubicBezTo>
                <a:lnTo>
                  <a:pt x="394983" y="197491"/>
                </a:lnTo>
                <a:cubicBezTo>
                  <a:pt x="394983" y="306490"/>
                  <a:pt x="306490" y="394983"/>
                  <a:pt x="197491" y="394983"/>
                </a:cubicBezTo>
                <a:lnTo>
                  <a:pt x="197491" y="394983"/>
                </a:lnTo>
                <a:cubicBezTo>
                  <a:pt x="88493" y="394983"/>
                  <a:pt x="0" y="306490"/>
                  <a:pt x="0" y="197491"/>
                </a:cubicBezTo>
                <a:lnTo>
                  <a:pt x="0" y="197491"/>
                </a:lnTo>
                <a:cubicBezTo>
                  <a:pt x="0" y="88493"/>
                  <a:pt x="88493" y="0"/>
                  <a:pt x="19749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919087" y="7985758"/>
            <a:ext cx="197491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9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308380" y="7911699"/>
            <a:ext cx="3517813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深入阅读经典论文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308380" y="8306681"/>
            <a:ext cx="3505470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GFS、MapReduce、BigTable、Raft等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740940" y="7961072"/>
            <a:ext cx="394983" cy="394983"/>
          </a:xfrm>
          <a:custGeom>
            <a:avLst/>
            <a:gdLst/>
            <a:ahLst/>
            <a:cxnLst/>
            <a:rect l="l" t="t" r="r" b="b"/>
            <a:pathLst>
              <a:path w="394983" h="394983">
                <a:moveTo>
                  <a:pt x="197491" y="0"/>
                </a:moveTo>
                <a:lnTo>
                  <a:pt x="197491" y="0"/>
                </a:lnTo>
                <a:cubicBezTo>
                  <a:pt x="306490" y="0"/>
                  <a:pt x="394983" y="88493"/>
                  <a:pt x="394983" y="197491"/>
                </a:cubicBezTo>
                <a:lnTo>
                  <a:pt x="394983" y="197491"/>
                </a:lnTo>
                <a:cubicBezTo>
                  <a:pt x="394983" y="306490"/>
                  <a:pt x="306490" y="394983"/>
                  <a:pt x="197491" y="394983"/>
                </a:cubicBezTo>
                <a:lnTo>
                  <a:pt x="197491" y="394983"/>
                </a:lnTo>
                <a:cubicBezTo>
                  <a:pt x="88493" y="394983"/>
                  <a:pt x="0" y="306490"/>
                  <a:pt x="0" y="197491"/>
                </a:cubicBezTo>
                <a:lnTo>
                  <a:pt x="0" y="197491"/>
                </a:lnTo>
                <a:cubicBezTo>
                  <a:pt x="0" y="88493"/>
                  <a:pt x="88493" y="0"/>
                  <a:pt x="19749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5875944" y="7985758"/>
            <a:ext cx="234521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9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284041" y="7911699"/>
            <a:ext cx="3345008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实践开源系统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284041" y="8306681"/>
            <a:ext cx="3332665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Kubernetes、Redis、Kafka、etcd等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0716601" y="7961072"/>
            <a:ext cx="394983" cy="394983"/>
          </a:xfrm>
          <a:custGeom>
            <a:avLst/>
            <a:gdLst/>
            <a:ahLst/>
            <a:cxnLst/>
            <a:rect l="l" t="t" r="r" b="b"/>
            <a:pathLst>
              <a:path w="394983" h="394983">
                <a:moveTo>
                  <a:pt x="197491" y="0"/>
                </a:moveTo>
                <a:lnTo>
                  <a:pt x="197491" y="0"/>
                </a:lnTo>
                <a:cubicBezTo>
                  <a:pt x="306490" y="0"/>
                  <a:pt x="394983" y="88493"/>
                  <a:pt x="394983" y="197491"/>
                </a:cubicBezTo>
                <a:lnTo>
                  <a:pt x="394983" y="197491"/>
                </a:lnTo>
                <a:cubicBezTo>
                  <a:pt x="394983" y="306490"/>
                  <a:pt x="306490" y="394983"/>
                  <a:pt x="197491" y="394983"/>
                </a:cubicBezTo>
                <a:lnTo>
                  <a:pt x="197491" y="394983"/>
                </a:lnTo>
                <a:cubicBezTo>
                  <a:pt x="88493" y="394983"/>
                  <a:pt x="0" y="306490"/>
                  <a:pt x="0" y="197491"/>
                </a:cubicBezTo>
                <a:lnTo>
                  <a:pt x="0" y="197491"/>
                </a:lnTo>
                <a:cubicBezTo>
                  <a:pt x="0" y="88493"/>
                  <a:pt x="88493" y="0"/>
                  <a:pt x="19749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1"/>
          <p:cNvSpPr/>
          <p:nvPr/>
        </p:nvSpPr>
        <p:spPr>
          <a:xfrm>
            <a:off x="10848712" y="7985758"/>
            <a:ext cx="246864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9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1259702" y="7911699"/>
            <a:ext cx="3011742" cy="34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4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关注技术发展趋势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1259702" y="8306681"/>
            <a:ext cx="2999399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云原生、服务网格、Serverless等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2355</Words>
  <Application>Microsoft Macintosh PowerPoint</Application>
  <PresentationFormat>自定义</PresentationFormat>
  <Paragraphs>1037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微软雅黑</vt:lpstr>
      <vt:lpstr>MiSans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分布式系统概述</dc:title>
  <dc:subject>分布式系统概述</dc:subject>
  <dc:creator>Kimi</dc:creator>
  <cp:lastModifiedBy>王 天青</cp:lastModifiedBy>
  <cp:revision>11</cp:revision>
  <dcterms:created xsi:type="dcterms:W3CDTF">2025-12-20T07:44:48Z</dcterms:created>
  <dcterms:modified xsi:type="dcterms:W3CDTF">2025-12-20T07:59:11Z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{"Label":"分布式系统概述","ContentProducer":"001191110108MACG2KBH8F10000","ProduceID":"19b3aad0-e812-8932-8000-0000da5da872","ReservedCode1":"","ContentPropagator":"001191110108MACG2KBH8F20000","PropagateID":"19b3aad0-e812-8932-8000-0000da5da872","ReservedCode2":""}</vt:lpwstr>
  </property>
</Properties>
</file>