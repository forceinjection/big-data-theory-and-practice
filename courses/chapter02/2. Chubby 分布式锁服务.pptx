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3" r:id="rId10"/>
    <p:sldId id="284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6256000" cy="9144000"/>
  <p:notesSz cx="9144000" cy="16256000"/>
  <p:embeddedFontLst>
    <p:embeddedFont>
      <p:font typeface="等线" panose="02010600030101010101" pitchFamily="2" charset="-122"/>
      <p:regular r:id="rId30"/>
      <p:bold r:id="rId31"/>
    </p:embeddedFont>
    <p:embeddedFont>
      <p:font typeface="KaiTi" panose="02010609060101010101" pitchFamily="49" charset="-122"/>
      <p:regular r:id="rId32"/>
    </p:embeddedFont>
    <p:embeddedFont>
      <p:font typeface="Microsoft YaHei" panose="020B0503020204020204" pitchFamily="34" charset="-122"/>
      <p:regular r:id="rId33"/>
      <p:bold r:id="rId34"/>
    </p:embeddedFont>
    <p:embeddedFont>
      <p:font typeface="MiSans" pitchFamily="2" charset="-122"/>
      <p:regular r:id="rId35"/>
    </p:embeddedFont>
    <p:embeddedFont>
      <p:font typeface="Noto Sans SC" panose="020B0200000000000000" pitchFamily="34" charset="-128"/>
      <p:regular r:id="rId3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>
        <p:scale>
          <a:sx n="70" d="100"/>
          <a:sy n="70" d="100"/>
        </p:scale>
        <p:origin x="1480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9448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D6CE4-FFE5-FAAD-248F-3FC4307B6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CF7E79-4E61-C178-15D1-06D98A8EE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6AED70-54E7-B50A-5E72-D20BA92B05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23769-2BC6-DA1A-6FE2-CAE7CA571A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98906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25E2D-4301-579F-EE72-54F4A4AC6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9E59A-67F4-AE2F-2FD3-F6464F2F6F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5F9C57-F86B-472B-9BEA-EB55D19AA3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EDFB8C-12DC-7289-CB89-996987466C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67840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4350" y="1485900"/>
            <a:ext cx="2844800" cy="571500"/>
          </a:xfrm>
          <a:custGeom>
            <a:avLst/>
            <a:gdLst/>
            <a:ahLst/>
            <a:cxnLst/>
            <a:rect l="l" t="t" r="r" b="b"/>
            <a:pathLst>
              <a:path w="2844800" h="571500">
                <a:moveTo>
                  <a:pt x="101601" y="0"/>
                </a:moveTo>
                <a:lnTo>
                  <a:pt x="2743199" y="0"/>
                </a:lnTo>
                <a:cubicBezTo>
                  <a:pt x="2799312" y="0"/>
                  <a:pt x="2844800" y="45488"/>
                  <a:pt x="2844800" y="101601"/>
                </a:cubicBezTo>
                <a:lnTo>
                  <a:pt x="2844800" y="469899"/>
                </a:lnTo>
                <a:cubicBezTo>
                  <a:pt x="2844800" y="526012"/>
                  <a:pt x="2799312" y="571500"/>
                  <a:pt x="2743199" y="571500"/>
                </a:cubicBezTo>
                <a:lnTo>
                  <a:pt x="101601" y="571500"/>
                </a:lnTo>
                <a:cubicBezTo>
                  <a:pt x="45488" y="571500"/>
                  <a:pt x="0" y="526012"/>
                  <a:pt x="0" y="4698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5A7D9A">
              <a:alpha val="20000"/>
            </a:srgbClr>
          </a:solidFill>
          <a:ln w="12700">
            <a:solidFill>
              <a:srgbClr val="5A7D9A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74700" y="1619250"/>
            <a:ext cx="24396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kern="0" spc="90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Distributed Systems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368550"/>
            <a:ext cx="15849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dirty="0">
                <a:solidFill>
                  <a:srgbClr val="E2E8F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Chubby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08000" y="4095750"/>
            <a:ext cx="1562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5A7D9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分布式锁服务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5454650"/>
            <a:ext cx="9906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的分布式系统协调经典案例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2E8F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Chubby Lock Service for Loosely-Coupled Distributed Systems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8000" y="70548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A7D9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660400" y="72072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7656" y="155853"/>
                </a:moveTo>
                <a:cubicBezTo>
                  <a:pt x="297656" y="240090"/>
                  <a:pt x="239970" y="300038"/>
                  <a:pt x="154781" y="300038"/>
                </a:cubicBezTo>
                <a:cubicBezTo>
                  <a:pt x="73104" y="300038"/>
                  <a:pt x="7144" y="234077"/>
                  <a:pt x="7144" y="152400"/>
                </a:cubicBezTo>
                <a:cubicBezTo>
                  <a:pt x="7144" y="70723"/>
                  <a:pt x="73104" y="4763"/>
                  <a:pt x="154781" y="4763"/>
                </a:cubicBezTo>
                <a:cubicBezTo>
                  <a:pt x="194548" y="4763"/>
                  <a:pt x="228005" y="19348"/>
                  <a:pt x="253782" y="43398"/>
                </a:cubicBezTo>
                <a:lnTo>
                  <a:pt x="213598" y="82034"/>
                </a:lnTo>
                <a:cubicBezTo>
                  <a:pt x="161032" y="31313"/>
                  <a:pt x="63282" y="69413"/>
                  <a:pt x="63282" y="152400"/>
                </a:cubicBezTo>
                <a:cubicBezTo>
                  <a:pt x="63282" y="203895"/>
                  <a:pt x="104418" y="245626"/>
                  <a:pt x="154781" y="245626"/>
                </a:cubicBezTo>
                <a:cubicBezTo>
                  <a:pt x="213241" y="245626"/>
                  <a:pt x="235148" y="203716"/>
                  <a:pt x="238601" y="181987"/>
                </a:cubicBezTo>
                <a:lnTo>
                  <a:pt x="154781" y="181987"/>
                </a:lnTo>
                <a:lnTo>
                  <a:pt x="154781" y="131207"/>
                </a:lnTo>
                <a:lnTo>
                  <a:pt x="295335" y="131207"/>
                </a:lnTo>
                <a:cubicBezTo>
                  <a:pt x="296704" y="138767"/>
                  <a:pt x="297656" y="146030"/>
                  <a:pt x="297656" y="155853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1270000" y="7181850"/>
            <a:ext cx="1485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2006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045123" y="70548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DB3A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3216573" y="720725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50" y="147638"/>
                </a:moveTo>
                <a:cubicBezTo>
                  <a:pt x="172777" y="147638"/>
                  <a:pt x="204787" y="115627"/>
                  <a:pt x="204787" y="76200"/>
                </a:cubicBezTo>
                <a:cubicBezTo>
                  <a:pt x="204787" y="36773"/>
                  <a:pt x="172777" y="4763"/>
                  <a:pt x="133350" y="4763"/>
                </a:cubicBezTo>
                <a:cubicBezTo>
                  <a:pt x="93923" y="4763"/>
                  <a:pt x="61913" y="36773"/>
                  <a:pt x="61912" y="76200"/>
                </a:cubicBezTo>
                <a:cubicBezTo>
                  <a:pt x="61912" y="115627"/>
                  <a:pt x="93923" y="147638"/>
                  <a:pt x="133350" y="147638"/>
                </a:cubicBezTo>
                <a:close/>
                <a:moveTo>
                  <a:pt x="115669" y="180975"/>
                </a:moveTo>
                <a:cubicBezTo>
                  <a:pt x="57031" y="180975"/>
                  <a:pt x="9525" y="228481"/>
                  <a:pt x="9525" y="287119"/>
                </a:cubicBezTo>
                <a:cubicBezTo>
                  <a:pt x="9525" y="296882"/>
                  <a:pt x="17443" y="304800"/>
                  <a:pt x="27206" y="304800"/>
                </a:cubicBezTo>
                <a:lnTo>
                  <a:pt x="239494" y="304800"/>
                </a:lnTo>
                <a:cubicBezTo>
                  <a:pt x="249257" y="304800"/>
                  <a:pt x="257175" y="296882"/>
                  <a:pt x="257175" y="287119"/>
                </a:cubicBezTo>
                <a:cubicBezTo>
                  <a:pt x="257175" y="228481"/>
                  <a:pt x="209669" y="180975"/>
                  <a:pt x="151031" y="180975"/>
                </a:cubicBezTo>
                <a:lnTo>
                  <a:pt x="115669" y="180975"/>
                </a:ln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3807123" y="7181850"/>
            <a:ext cx="154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Mike Burrows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647531" y="70548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1AF63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5838031" y="720725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71438" y="152400"/>
                </a:moveTo>
                <a:cubicBezTo>
                  <a:pt x="63520" y="152400"/>
                  <a:pt x="57150" y="158770"/>
                  <a:pt x="57150" y="166688"/>
                </a:cubicBezTo>
                <a:cubicBezTo>
                  <a:pt x="57150" y="174605"/>
                  <a:pt x="63520" y="180975"/>
                  <a:pt x="71438" y="180975"/>
                </a:cubicBezTo>
                <a:lnTo>
                  <a:pt x="157163" y="180975"/>
                </a:lnTo>
                <a:cubicBezTo>
                  <a:pt x="165080" y="180975"/>
                  <a:pt x="171450" y="174605"/>
                  <a:pt x="171450" y="166688"/>
                </a:cubicBezTo>
                <a:cubicBezTo>
                  <a:pt x="171450" y="158770"/>
                  <a:pt x="165080" y="152400"/>
                  <a:pt x="157163" y="152400"/>
                </a:cubicBezTo>
                <a:lnTo>
                  <a:pt x="71438" y="152400"/>
                </a:lnTo>
                <a:close/>
                <a:moveTo>
                  <a:pt x="71438" y="209550"/>
                </a:moveTo>
                <a:cubicBezTo>
                  <a:pt x="63520" y="209550"/>
                  <a:pt x="57150" y="215920"/>
                  <a:pt x="57150" y="223838"/>
                </a:cubicBezTo>
                <a:cubicBezTo>
                  <a:pt x="57150" y="231755"/>
                  <a:pt x="63520" y="238125"/>
                  <a:pt x="71438" y="238125"/>
                </a:cubicBezTo>
                <a:lnTo>
                  <a:pt x="157163" y="238125"/>
                </a:lnTo>
                <a:cubicBezTo>
                  <a:pt x="165080" y="238125"/>
                  <a:pt x="171450" y="231755"/>
                  <a:pt x="171450" y="223838"/>
                </a:cubicBezTo>
                <a:cubicBezTo>
                  <a:pt x="171450" y="215920"/>
                  <a:pt x="165080" y="209550"/>
                  <a:pt x="157163" y="209550"/>
                </a:cubicBezTo>
                <a:lnTo>
                  <a:pt x="71438" y="209550"/>
                </a:ln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6409531" y="7181850"/>
            <a:ext cx="1041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OSDI '06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930400"/>
            <a:ext cx="15214600" cy="1181100"/>
          </a:xfrm>
          <a:custGeom>
            <a:avLst/>
            <a:gdLst/>
            <a:ahLst/>
            <a:cxnLst/>
            <a:rect l="l" t="t" r="r" b="b"/>
            <a:pathLst>
              <a:path w="15214600" h="1181100">
                <a:moveTo>
                  <a:pt x="50800" y="0"/>
                </a:moveTo>
                <a:lnTo>
                  <a:pt x="15113002" y="0"/>
                </a:lnTo>
                <a:cubicBezTo>
                  <a:pt x="15169113" y="0"/>
                  <a:pt x="15214600" y="45487"/>
                  <a:pt x="15214600" y="101598"/>
                </a:cubicBezTo>
                <a:lnTo>
                  <a:pt x="15214600" y="1079502"/>
                </a:lnTo>
                <a:cubicBezTo>
                  <a:pt x="15214600" y="1135613"/>
                  <a:pt x="15169113" y="1181100"/>
                  <a:pt x="15113002" y="1181100"/>
                </a:cubicBezTo>
                <a:lnTo>
                  <a:pt x="50800" y="1181100"/>
                </a:lnTo>
                <a:cubicBezTo>
                  <a:pt x="22763" y="1181100"/>
                  <a:pt x="0" y="1158337"/>
                  <a:pt x="0" y="11303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A7D9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930400"/>
            <a:ext cx="50800" cy="1181100"/>
          </a:xfrm>
          <a:custGeom>
            <a:avLst/>
            <a:gdLst/>
            <a:ahLst/>
            <a:cxnLst/>
            <a:rect l="l" t="t" r="r" b="b"/>
            <a:pathLst>
              <a:path w="50800" h="1181100">
                <a:moveTo>
                  <a:pt x="50800" y="0"/>
                </a:moveTo>
                <a:lnTo>
                  <a:pt x="50800" y="0"/>
                </a:lnTo>
                <a:lnTo>
                  <a:pt x="50800" y="1181100"/>
                </a:lnTo>
                <a:lnTo>
                  <a:pt x="50800" y="1181100"/>
                </a:lnTo>
                <a:cubicBezTo>
                  <a:pt x="22763" y="1181100"/>
                  <a:pt x="0" y="1158337"/>
                  <a:pt x="0" y="11303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63600" y="211326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45170" y="2291060"/>
            <a:ext cx="63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1A202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81200" y="2138660"/>
            <a:ext cx="1371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引言与设计背景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81200" y="2595860"/>
            <a:ext cx="1366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 Chubby 的诞生背景、设计动机与核心哲学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3400" y="3312120"/>
            <a:ext cx="15214600" cy="1181100"/>
          </a:xfrm>
          <a:custGeom>
            <a:avLst/>
            <a:gdLst/>
            <a:ahLst/>
            <a:cxnLst/>
            <a:rect l="l" t="t" r="r" b="b"/>
            <a:pathLst>
              <a:path w="15214600" h="1181100">
                <a:moveTo>
                  <a:pt x="50800" y="0"/>
                </a:moveTo>
                <a:lnTo>
                  <a:pt x="15113002" y="0"/>
                </a:lnTo>
                <a:cubicBezTo>
                  <a:pt x="15169113" y="0"/>
                  <a:pt x="15214600" y="45487"/>
                  <a:pt x="15214600" y="101598"/>
                </a:cubicBezTo>
                <a:lnTo>
                  <a:pt x="15214600" y="1079502"/>
                </a:lnTo>
                <a:cubicBezTo>
                  <a:pt x="15214600" y="1135613"/>
                  <a:pt x="15169113" y="1181100"/>
                  <a:pt x="15113002" y="1181100"/>
                </a:cubicBezTo>
                <a:lnTo>
                  <a:pt x="50800" y="1181100"/>
                </a:lnTo>
                <a:cubicBezTo>
                  <a:pt x="22763" y="1181100"/>
                  <a:pt x="0" y="1158337"/>
                  <a:pt x="0" y="11303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3A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33400" y="3312120"/>
            <a:ext cx="50800" cy="1181100"/>
          </a:xfrm>
          <a:custGeom>
            <a:avLst/>
            <a:gdLst/>
            <a:ahLst/>
            <a:cxnLst/>
            <a:rect l="l" t="t" r="r" b="b"/>
            <a:pathLst>
              <a:path w="50800" h="1181100">
                <a:moveTo>
                  <a:pt x="50800" y="0"/>
                </a:moveTo>
                <a:lnTo>
                  <a:pt x="50800" y="0"/>
                </a:lnTo>
                <a:lnTo>
                  <a:pt x="50800" y="1181100"/>
                </a:lnTo>
                <a:lnTo>
                  <a:pt x="50800" y="1181100"/>
                </a:lnTo>
                <a:cubicBezTo>
                  <a:pt x="22763" y="1181100"/>
                  <a:pt x="0" y="1158337"/>
                  <a:pt x="0" y="11303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863600" y="349498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45170" y="3672780"/>
            <a:ext cx="63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1A202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81200" y="3520380"/>
            <a:ext cx="1371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系统架构设计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81200" y="3977580"/>
            <a:ext cx="1366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 Chubby 的分布式架构、Paxos 共识机制与故障处理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3400" y="4693841"/>
            <a:ext cx="15214600" cy="1181100"/>
          </a:xfrm>
          <a:custGeom>
            <a:avLst/>
            <a:gdLst/>
            <a:ahLst/>
            <a:cxnLst/>
            <a:rect l="l" t="t" r="r" b="b"/>
            <a:pathLst>
              <a:path w="15214600" h="1181100">
                <a:moveTo>
                  <a:pt x="50800" y="0"/>
                </a:moveTo>
                <a:lnTo>
                  <a:pt x="15113002" y="0"/>
                </a:lnTo>
                <a:cubicBezTo>
                  <a:pt x="15169113" y="0"/>
                  <a:pt x="15214600" y="45487"/>
                  <a:pt x="15214600" y="101598"/>
                </a:cubicBezTo>
                <a:lnTo>
                  <a:pt x="15214600" y="1079502"/>
                </a:lnTo>
                <a:cubicBezTo>
                  <a:pt x="15214600" y="1135613"/>
                  <a:pt x="15169113" y="1181100"/>
                  <a:pt x="15113002" y="1181100"/>
                </a:cubicBezTo>
                <a:lnTo>
                  <a:pt x="50800" y="1181100"/>
                </a:lnTo>
                <a:cubicBezTo>
                  <a:pt x="22763" y="1181100"/>
                  <a:pt x="0" y="1158337"/>
                  <a:pt x="0" y="11303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E1AF63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33400" y="4693841"/>
            <a:ext cx="50800" cy="1181100"/>
          </a:xfrm>
          <a:custGeom>
            <a:avLst/>
            <a:gdLst/>
            <a:ahLst/>
            <a:cxnLst/>
            <a:rect l="l" t="t" r="r" b="b"/>
            <a:pathLst>
              <a:path w="50800" h="1181100">
                <a:moveTo>
                  <a:pt x="50800" y="0"/>
                </a:moveTo>
                <a:lnTo>
                  <a:pt x="50800" y="0"/>
                </a:lnTo>
                <a:lnTo>
                  <a:pt x="50800" y="1181100"/>
                </a:lnTo>
                <a:lnTo>
                  <a:pt x="50800" y="1181100"/>
                </a:lnTo>
                <a:cubicBezTo>
                  <a:pt x="22763" y="1181100"/>
                  <a:pt x="0" y="1158337"/>
                  <a:pt x="0" y="11303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63600" y="4876701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045170" y="5054501"/>
            <a:ext cx="63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1A202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81200" y="4902101"/>
            <a:ext cx="1371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核心技术特性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981200" y="5359301"/>
            <a:ext cx="1366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探索文件系统接口、锁机制、缓存与事件通知等关键技术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3400" y="6075660"/>
            <a:ext cx="15214600" cy="1181100"/>
          </a:xfrm>
          <a:custGeom>
            <a:avLst/>
            <a:gdLst/>
            <a:ahLst/>
            <a:cxnLst/>
            <a:rect l="l" t="t" r="r" b="b"/>
            <a:pathLst>
              <a:path w="15214600" h="1181100">
                <a:moveTo>
                  <a:pt x="50800" y="0"/>
                </a:moveTo>
                <a:lnTo>
                  <a:pt x="15113002" y="0"/>
                </a:lnTo>
                <a:cubicBezTo>
                  <a:pt x="15169113" y="0"/>
                  <a:pt x="15214600" y="45487"/>
                  <a:pt x="15214600" y="101598"/>
                </a:cubicBezTo>
                <a:lnTo>
                  <a:pt x="15214600" y="1079502"/>
                </a:lnTo>
                <a:cubicBezTo>
                  <a:pt x="15214600" y="1135613"/>
                  <a:pt x="15169113" y="1181100"/>
                  <a:pt x="15113002" y="1181100"/>
                </a:cubicBezTo>
                <a:lnTo>
                  <a:pt x="50800" y="1181100"/>
                </a:lnTo>
                <a:cubicBezTo>
                  <a:pt x="22763" y="1181100"/>
                  <a:pt x="0" y="1158337"/>
                  <a:pt x="0" y="11303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A7D9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33400" y="6075660"/>
            <a:ext cx="50800" cy="1181100"/>
          </a:xfrm>
          <a:custGeom>
            <a:avLst/>
            <a:gdLst/>
            <a:ahLst/>
            <a:cxnLst/>
            <a:rect l="l" t="t" r="r" b="b"/>
            <a:pathLst>
              <a:path w="50800" h="1181100">
                <a:moveTo>
                  <a:pt x="50800" y="0"/>
                </a:moveTo>
                <a:lnTo>
                  <a:pt x="50800" y="0"/>
                </a:lnTo>
                <a:lnTo>
                  <a:pt x="50800" y="1181100"/>
                </a:lnTo>
                <a:lnTo>
                  <a:pt x="50800" y="1181100"/>
                </a:lnTo>
                <a:cubicBezTo>
                  <a:pt x="22763" y="1181100"/>
                  <a:pt x="0" y="1158337"/>
                  <a:pt x="0" y="11303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63600" y="625852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045170" y="6436320"/>
            <a:ext cx="63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1A202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981200" y="6283920"/>
            <a:ext cx="1371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API 与应用场景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981200" y="6741120"/>
            <a:ext cx="1366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了解 Chubby 的 API 设计、实践价值与典型应用模式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3400" y="7457380"/>
            <a:ext cx="15214600" cy="1181100"/>
          </a:xfrm>
          <a:custGeom>
            <a:avLst/>
            <a:gdLst/>
            <a:ahLst/>
            <a:cxnLst/>
            <a:rect l="l" t="t" r="r" b="b"/>
            <a:pathLst>
              <a:path w="15214600" h="1181100">
                <a:moveTo>
                  <a:pt x="50800" y="0"/>
                </a:moveTo>
                <a:lnTo>
                  <a:pt x="15113002" y="0"/>
                </a:lnTo>
                <a:cubicBezTo>
                  <a:pt x="15169113" y="0"/>
                  <a:pt x="15214600" y="45487"/>
                  <a:pt x="15214600" y="101598"/>
                </a:cubicBezTo>
                <a:lnTo>
                  <a:pt x="15214600" y="1079502"/>
                </a:lnTo>
                <a:cubicBezTo>
                  <a:pt x="15214600" y="1135613"/>
                  <a:pt x="15169113" y="1181100"/>
                  <a:pt x="15113002" y="1181100"/>
                </a:cubicBezTo>
                <a:lnTo>
                  <a:pt x="50800" y="1181100"/>
                </a:lnTo>
                <a:cubicBezTo>
                  <a:pt x="22763" y="1181100"/>
                  <a:pt x="0" y="1158337"/>
                  <a:pt x="0" y="11303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3A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533400" y="7457380"/>
            <a:ext cx="50800" cy="1181100"/>
          </a:xfrm>
          <a:custGeom>
            <a:avLst/>
            <a:gdLst/>
            <a:ahLst/>
            <a:cxnLst/>
            <a:rect l="l" t="t" r="r" b="b"/>
            <a:pathLst>
              <a:path w="50800" h="1181100">
                <a:moveTo>
                  <a:pt x="50800" y="0"/>
                </a:moveTo>
                <a:lnTo>
                  <a:pt x="50800" y="0"/>
                </a:lnTo>
                <a:lnTo>
                  <a:pt x="50800" y="1181100"/>
                </a:lnTo>
                <a:lnTo>
                  <a:pt x="50800" y="1181100"/>
                </a:lnTo>
                <a:cubicBezTo>
                  <a:pt x="22763" y="1181100"/>
                  <a:pt x="0" y="1158337"/>
                  <a:pt x="0" y="11303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63600" y="7640241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045170" y="7818041"/>
            <a:ext cx="63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1A202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981200" y="7665641"/>
            <a:ext cx="1371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总结与影响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981200" y="8122841"/>
            <a:ext cx="1366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回顾 Chubby 的技术贡献、设计哲学与历史地位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33400" y="2043113"/>
            <a:ext cx="3314700" cy="787400"/>
          </a:xfrm>
          <a:custGeom>
            <a:avLst/>
            <a:gdLst/>
            <a:ahLst/>
            <a:cxnLst/>
            <a:rect l="l" t="t" r="r" b="b"/>
            <a:pathLst>
              <a:path w="3314700" h="787400">
                <a:moveTo>
                  <a:pt x="0" y="0"/>
                </a:moveTo>
                <a:lnTo>
                  <a:pt x="3314700" y="0"/>
                </a:lnTo>
                <a:lnTo>
                  <a:pt x="33147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solidFill>
            <a:srgbClr val="5A7D9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33400" y="2043113"/>
            <a:ext cx="50800" cy="787400"/>
          </a:xfrm>
          <a:custGeom>
            <a:avLst/>
            <a:gdLst/>
            <a:ahLst/>
            <a:cxnLst/>
            <a:rect l="l" t="t" r="r" b="b"/>
            <a:pathLst>
              <a:path w="50800" h="787400">
                <a:moveTo>
                  <a:pt x="0" y="0"/>
                </a:moveTo>
                <a:lnTo>
                  <a:pt x="50800" y="0"/>
                </a:lnTo>
                <a:lnTo>
                  <a:pt x="508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863600" y="2195513"/>
            <a:ext cx="2869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kern="0" spc="300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230563"/>
            <a:ext cx="9119772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dirty="0" err="1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引言与设计背景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973763"/>
            <a:ext cx="2032000" cy="101600"/>
          </a:xfrm>
          <a:custGeom>
            <a:avLst/>
            <a:gdLst/>
            <a:ahLst/>
            <a:cxnLst/>
            <a:rect l="l" t="t" r="r" b="b"/>
            <a:pathLst>
              <a:path w="2032000" h="101600">
                <a:moveTo>
                  <a:pt x="0" y="0"/>
                </a:moveTo>
                <a:lnTo>
                  <a:pt x="2032000" y="0"/>
                </a:lnTo>
                <a:lnTo>
                  <a:pt x="20320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A7D9A"/>
              </a:gs>
              <a:gs pos="100000">
                <a:srgbClr val="4DB3A2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08000" y="6481763"/>
            <a:ext cx="63373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 Chubby 的诞生背景与设计哲学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dirty="0">
                <a:solidFill>
                  <a:srgbClr val="E2E8F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Chubby</a:t>
            </a:r>
            <a:r>
              <a:rPr lang="en-US" sz="4800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 是什么？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835150"/>
            <a:ext cx="7454900" cy="2184400"/>
          </a:xfrm>
          <a:custGeom>
            <a:avLst/>
            <a:gdLst/>
            <a:ahLst/>
            <a:cxnLst/>
            <a:rect l="l" t="t" r="r" b="b"/>
            <a:pathLst>
              <a:path w="7454900" h="2184400">
                <a:moveTo>
                  <a:pt x="152406" y="0"/>
                </a:moveTo>
                <a:lnTo>
                  <a:pt x="7302494" y="0"/>
                </a:lnTo>
                <a:cubicBezTo>
                  <a:pt x="7386666" y="0"/>
                  <a:pt x="7454900" y="68234"/>
                  <a:pt x="7454900" y="152406"/>
                </a:cubicBezTo>
                <a:lnTo>
                  <a:pt x="7454900" y="2031994"/>
                </a:lnTo>
                <a:cubicBezTo>
                  <a:pt x="7454900" y="2116166"/>
                  <a:pt x="7386666" y="2184400"/>
                  <a:pt x="7302494" y="2184400"/>
                </a:cubicBezTo>
                <a:lnTo>
                  <a:pt x="152406" y="2184400"/>
                </a:lnTo>
                <a:cubicBezTo>
                  <a:pt x="68234" y="2184400"/>
                  <a:pt x="0" y="2116166"/>
                  <a:pt x="0" y="2031994"/>
                </a:cubicBezTo>
                <a:lnTo>
                  <a:pt x="0" y="152406"/>
                </a:lnTo>
                <a:cubicBezTo>
                  <a:pt x="0" y="68234"/>
                  <a:pt x="68234" y="0"/>
                  <a:pt x="152406" y="0"/>
                </a:cubicBezTo>
                <a:close/>
              </a:path>
            </a:pathLst>
          </a:custGeom>
          <a:gradFill flip="none" rotWithShape="1">
            <a:gsLst>
              <a:gs pos="0">
                <a:srgbClr val="5A7D9A">
                  <a:alpha val="30000"/>
                </a:srgbClr>
              </a:gs>
              <a:gs pos="100000">
                <a:srgbClr val="5A7D9A">
                  <a:alpha val="10000"/>
                </a:srgbClr>
              </a:gs>
            </a:gsLst>
            <a:lin ang="2700000" scaled="1"/>
          </a:gradFill>
          <a:ln w="12700">
            <a:solidFill>
              <a:srgbClr val="5A7D9A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25500" y="2146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016000" y="22987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76200" y="57150"/>
                </a:moveTo>
                <a:lnTo>
                  <a:pt x="76200" y="95250"/>
                </a:lnTo>
                <a:lnTo>
                  <a:pt x="152400" y="95250"/>
                </a:lnTo>
                <a:lnTo>
                  <a:pt x="152400" y="57150"/>
                </a:lnTo>
                <a:cubicBezTo>
                  <a:pt x="152400" y="36135"/>
                  <a:pt x="135315" y="19050"/>
                  <a:pt x="114300" y="19050"/>
                </a:cubicBezTo>
                <a:cubicBezTo>
                  <a:pt x="93285" y="19050"/>
                  <a:pt x="76200" y="36135"/>
                  <a:pt x="76200" y="57150"/>
                </a:cubicBezTo>
                <a:close/>
                <a:moveTo>
                  <a:pt x="38100" y="95250"/>
                </a:moveTo>
                <a:lnTo>
                  <a:pt x="38100" y="57150"/>
                </a:lnTo>
                <a:cubicBezTo>
                  <a:pt x="38100" y="15061"/>
                  <a:pt x="72211" y="-19050"/>
                  <a:pt x="114300" y="-19050"/>
                </a:cubicBezTo>
                <a:cubicBezTo>
                  <a:pt x="156389" y="-19050"/>
                  <a:pt x="190500" y="15061"/>
                  <a:pt x="190500" y="57150"/>
                </a:cubicBezTo>
                <a:lnTo>
                  <a:pt x="190500" y="95250"/>
                </a:lnTo>
                <a:cubicBezTo>
                  <a:pt x="211515" y="95250"/>
                  <a:pt x="228600" y="112335"/>
                  <a:pt x="228600" y="13335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133350"/>
                </a:lnTo>
                <a:cubicBezTo>
                  <a:pt x="0" y="112335"/>
                  <a:pt x="17085" y="95250"/>
                  <a:pt x="38100" y="95250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638300" y="2247900"/>
            <a:ext cx="198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分布式锁服务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5500" y="2959100"/>
            <a:ext cx="69469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Chubby</a:t>
            </a: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是 Google 开发的分布式锁服务，为松耦合的分布式系统提供</a:t>
            </a:r>
            <a:r>
              <a:rPr lang="en-US" sz="1800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粗粒度锁定</a:t>
            </a: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以及可靠的小容量存储服务。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4350" y="4279900"/>
            <a:ext cx="7454900" cy="2184400"/>
          </a:xfrm>
          <a:custGeom>
            <a:avLst/>
            <a:gdLst/>
            <a:ahLst/>
            <a:cxnLst/>
            <a:rect l="l" t="t" r="r" b="b"/>
            <a:pathLst>
              <a:path w="7454900" h="2184400">
                <a:moveTo>
                  <a:pt x="152406" y="0"/>
                </a:moveTo>
                <a:lnTo>
                  <a:pt x="7302494" y="0"/>
                </a:lnTo>
                <a:cubicBezTo>
                  <a:pt x="7386666" y="0"/>
                  <a:pt x="7454900" y="68234"/>
                  <a:pt x="7454900" y="152406"/>
                </a:cubicBezTo>
                <a:lnTo>
                  <a:pt x="7454900" y="2031994"/>
                </a:lnTo>
                <a:cubicBezTo>
                  <a:pt x="7454900" y="2116166"/>
                  <a:pt x="7386666" y="2184400"/>
                  <a:pt x="7302494" y="2184400"/>
                </a:cubicBezTo>
                <a:lnTo>
                  <a:pt x="152406" y="2184400"/>
                </a:lnTo>
                <a:cubicBezTo>
                  <a:pt x="68234" y="2184400"/>
                  <a:pt x="0" y="2116166"/>
                  <a:pt x="0" y="2031994"/>
                </a:cubicBezTo>
                <a:lnTo>
                  <a:pt x="0" y="152406"/>
                </a:lnTo>
                <a:cubicBezTo>
                  <a:pt x="0" y="68234"/>
                  <a:pt x="68234" y="0"/>
                  <a:pt x="152406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3A2">
                  <a:alpha val="30000"/>
                </a:srgbClr>
              </a:gs>
              <a:gs pos="100000">
                <a:srgbClr val="4DB3A2">
                  <a:alpha val="10000"/>
                </a:srgbClr>
              </a:gs>
            </a:gsLst>
            <a:lin ang="2700000" scaled="1"/>
          </a:gradFill>
          <a:ln w="12700">
            <a:solidFill>
              <a:srgbClr val="4DB3A2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25500" y="45910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977900" y="47434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638300" y="4692650"/>
            <a:ext cx="137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设计重点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5500" y="5403850"/>
            <a:ext cx="69469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设计重点是</a:t>
            </a:r>
            <a:r>
              <a:rPr lang="en-US" sz="1800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可用性和可靠性</a:t>
            </a: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，而非高性能。在 Google 内部广泛应用于 GFS、BigTable 等关键系统。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4350" y="6724650"/>
            <a:ext cx="7454900" cy="2184400"/>
          </a:xfrm>
          <a:custGeom>
            <a:avLst/>
            <a:gdLst/>
            <a:ahLst/>
            <a:cxnLst/>
            <a:rect l="l" t="t" r="r" b="b"/>
            <a:pathLst>
              <a:path w="7454900" h="2184400">
                <a:moveTo>
                  <a:pt x="152406" y="0"/>
                </a:moveTo>
                <a:lnTo>
                  <a:pt x="7302494" y="0"/>
                </a:lnTo>
                <a:cubicBezTo>
                  <a:pt x="7386666" y="0"/>
                  <a:pt x="7454900" y="68234"/>
                  <a:pt x="7454900" y="152406"/>
                </a:cubicBezTo>
                <a:lnTo>
                  <a:pt x="7454900" y="2031994"/>
                </a:lnTo>
                <a:cubicBezTo>
                  <a:pt x="7454900" y="2116166"/>
                  <a:pt x="7386666" y="2184400"/>
                  <a:pt x="7302494" y="2184400"/>
                </a:cubicBezTo>
                <a:lnTo>
                  <a:pt x="152406" y="2184400"/>
                </a:lnTo>
                <a:cubicBezTo>
                  <a:pt x="68234" y="2184400"/>
                  <a:pt x="0" y="2116166"/>
                  <a:pt x="0" y="2031994"/>
                </a:cubicBezTo>
                <a:lnTo>
                  <a:pt x="0" y="152406"/>
                </a:lnTo>
                <a:cubicBezTo>
                  <a:pt x="0" y="68234"/>
                  <a:pt x="68234" y="0"/>
                  <a:pt x="152406" y="0"/>
                </a:cubicBezTo>
                <a:close/>
              </a:path>
            </a:pathLst>
          </a:custGeom>
          <a:gradFill flip="none" rotWithShape="1">
            <a:gsLst>
              <a:gs pos="0">
                <a:srgbClr val="E1AF63">
                  <a:alpha val="30000"/>
                </a:srgbClr>
              </a:gs>
              <a:gs pos="100000">
                <a:srgbClr val="E1AF63">
                  <a:alpha val="10000"/>
                </a:srgbClr>
              </a:gs>
            </a:gsLst>
            <a:lin ang="2700000" scaled="1"/>
          </a:gradFill>
          <a:ln w="12700">
            <a:solidFill>
              <a:srgbClr val="E1AF63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25500" y="7035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958850" y="71882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38100"/>
                </a:moveTo>
                <a:cubicBezTo>
                  <a:pt x="234553" y="38100"/>
                  <a:pt x="285750" y="89297"/>
                  <a:pt x="285750" y="152400"/>
                </a:cubicBezTo>
                <a:cubicBezTo>
                  <a:pt x="285750" y="215503"/>
                  <a:pt x="234553" y="266700"/>
                  <a:pt x="171450" y="266700"/>
                </a:cubicBezTo>
                <a:cubicBezTo>
                  <a:pt x="132636" y="266700"/>
                  <a:pt x="98286" y="247352"/>
                  <a:pt x="77629" y="217706"/>
                </a:cubicBezTo>
                <a:cubicBezTo>
                  <a:pt x="71616" y="209074"/>
                  <a:pt x="59710" y="206990"/>
                  <a:pt x="51078" y="213003"/>
                </a:cubicBezTo>
                <a:cubicBezTo>
                  <a:pt x="42446" y="219015"/>
                  <a:pt x="40362" y="230922"/>
                  <a:pt x="46375" y="239554"/>
                </a:cubicBezTo>
                <a:cubicBezTo>
                  <a:pt x="73878" y="278963"/>
                  <a:pt x="119658" y="304800"/>
                  <a:pt x="171450" y="304800"/>
                </a:cubicBezTo>
                <a:cubicBezTo>
                  <a:pt x="255627" y="304800"/>
                  <a:pt x="323850" y="236577"/>
                  <a:pt x="323850" y="152400"/>
                </a:cubicBezTo>
                <a:cubicBezTo>
                  <a:pt x="323850" y="68223"/>
                  <a:pt x="255627" y="0"/>
                  <a:pt x="171450" y="0"/>
                </a:cubicBezTo>
                <a:cubicBezTo>
                  <a:pt x="120432" y="0"/>
                  <a:pt x="75307" y="25063"/>
                  <a:pt x="47625" y="63520"/>
                </a:cubicBezTo>
                <a:lnTo>
                  <a:pt x="47625" y="47625"/>
                </a:lnTo>
                <a:cubicBezTo>
                  <a:pt x="47625" y="37088"/>
                  <a:pt x="39112" y="28575"/>
                  <a:pt x="28575" y="28575"/>
                </a:cubicBezTo>
                <a:cubicBezTo>
                  <a:pt x="18038" y="28575"/>
                  <a:pt x="9525" y="37088"/>
                  <a:pt x="9525" y="47625"/>
                </a:cubicBezTo>
                <a:lnTo>
                  <a:pt x="9525" y="114300"/>
                </a:lnTo>
                <a:cubicBezTo>
                  <a:pt x="9525" y="124837"/>
                  <a:pt x="18038" y="133350"/>
                  <a:pt x="28575" y="133350"/>
                </a:cubicBezTo>
                <a:lnTo>
                  <a:pt x="43220" y="133350"/>
                </a:lnTo>
                <a:cubicBezTo>
                  <a:pt x="43517" y="133350"/>
                  <a:pt x="43815" y="133350"/>
                  <a:pt x="44113" y="133350"/>
                </a:cubicBezTo>
                <a:lnTo>
                  <a:pt x="95310" y="133350"/>
                </a:lnTo>
                <a:cubicBezTo>
                  <a:pt x="105847" y="133350"/>
                  <a:pt x="114360" y="124837"/>
                  <a:pt x="114360" y="114300"/>
                </a:cubicBezTo>
                <a:cubicBezTo>
                  <a:pt x="114360" y="103763"/>
                  <a:pt x="105847" y="95250"/>
                  <a:pt x="95310" y="95250"/>
                </a:cubicBezTo>
                <a:lnTo>
                  <a:pt x="72509" y="95250"/>
                </a:lnTo>
                <a:cubicBezTo>
                  <a:pt x="92214" y="61079"/>
                  <a:pt x="129183" y="38100"/>
                  <a:pt x="171450" y="38100"/>
                </a:cubicBezTo>
                <a:close/>
                <a:moveTo>
                  <a:pt x="185738" y="90488"/>
                </a:moveTo>
                <a:cubicBezTo>
                  <a:pt x="185738" y="82570"/>
                  <a:pt x="179368" y="76200"/>
                  <a:pt x="171450" y="76200"/>
                </a:cubicBezTo>
                <a:cubicBezTo>
                  <a:pt x="163532" y="76200"/>
                  <a:pt x="157163" y="82570"/>
                  <a:pt x="157163" y="90488"/>
                </a:cubicBezTo>
                <a:lnTo>
                  <a:pt x="157163" y="152400"/>
                </a:lnTo>
                <a:cubicBezTo>
                  <a:pt x="157163" y="156210"/>
                  <a:pt x="158651" y="159841"/>
                  <a:pt x="161330" y="162520"/>
                </a:cubicBezTo>
                <a:lnTo>
                  <a:pt x="204192" y="205383"/>
                </a:lnTo>
                <a:cubicBezTo>
                  <a:pt x="209788" y="210979"/>
                  <a:pt x="218837" y="210979"/>
                  <a:pt x="224373" y="205383"/>
                </a:cubicBezTo>
                <a:cubicBezTo>
                  <a:pt x="229910" y="199787"/>
                  <a:pt x="229969" y="190738"/>
                  <a:pt x="224373" y="185202"/>
                </a:cubicBezTo>
                <a:lnTo>
                  <a:pt x="185678" y="146506"/>
                </a:lnTo>
                <a:lnTo>
                  <a:pt x="185678" y="90488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638300" y="7137400"/>
            <a:ext cx="137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历史地位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5500" y="7848600"/>
            <a:ext cx="69469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2006 年由 </a:t>
            </a:r>
            <a:r>
              <a:rPr lang="en-US" sz="1800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Mike Burrows</a:t>
            </a: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在 OSDI 会议发表，成为分布式系统协调服务的经典案例。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86750" y="1835150"/>
            <a:ext cx="7454900" cy="3403600"/>
          </a:xfrm>
          <a:custGeom>
            <a:avLst/>
            <a:gdLst/>
            <a:ahLst/>
            <a:cxnLst/>
            <a:rect l="l" t="t" r="r" b="b"/>
            <a:pathLst>
              <a:path w="7454900" h="3403600">
                <a:moveTo>
                  <a:pt x="152413" y="0"/>
                </a:moveTo>
                <a:lnTo>
                  <a:pt x="7302487" y="0"/>
                </a:lnTo>
                <a:cubicBezTo>
                  <a:pt x="7386662" y="0"/>
                  <a:pt x="7454900" y="68238"/>
                  <a:pt x="7454900" y="152413"/>
                </a:cubicBezTo>
                <a:lnTo>
                  <a:pt x="7454900" y="3251187"/>
                </a:lnTo>
                <a:cubicBezTo>
                  <a:pt x="7454900" y="3335362"/>
                  <a:pt x="7386662" y="3403600"/>
                  <a:pt x="7302487" y="3403600"/>
                </a:cubicBezTo>
                <a:lnTo>
                  <a:pt x="152413" y="3403600"/>
                </a:lnTo>
                <a:cubicBezTo>
                  <a:pt x="68238" y="3403600"/>
                  <a:pt x="0" y="3335362"/>
                  <a:pt x="0" y="3251187"/>
                </a:cubicBezTo>
                <a:lnTo>
                  <a:pt x="0" y="152413"/>
                </a:lnTo>
                <a:cubicBezTo>
                  <a:pt x="0" y="68294"/>
                  <a:pt x="68294" y="0"/>
                  <a:pt x="152413" y="0"/>
                </a:cubicBezTo>
                <a:close/>
              </a:path>
            </a:pathLst>
          </a:custGeom>
          <a:solidFill>
            <a:srgbClr val="5A7D9A">
              <a:alpha val="10196"/>
            </a:srgbClr>
          </a:solidFill>
          <a:ln w="12700">
            <a:solidFill>
              <a:srgbClr val="5A7D9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636000" y="2197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978900" y="2146300"/>
            <a:ext cx="660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97900" y="29083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851900" y="2806700"/>
            <a:ext cx="514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粗粒度锁定：</a:t>
            </a: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提供小时或天级别的长时间锁定机制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97900" y="34671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851900" y="3365500"/>
            <a:ext cx="4914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可靠存储：</a:t>
            </a: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小容量、高可靠性的分布式数据存储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597900" y="40259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851900" y="3924300"/>
            <a:ext cx="5372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协调服务：</a:t>
            </a: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主节点选举、配置管理等分布式协调能力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86750" y="5502275"/>
            <a:ext cx="7454900" cy="3403600"/>
          </a:xfrm>
          <a:custGeom>
            <a:avLst/>
            <a:gdLst/>
            <a:ahLst/>
            <a:cxnLst/>
            <a:rect l="l" t="t" r="r" b="b"/>
            <a:pathLst>
              <a:path w="7454900" h="3403600">
                <a:moveTo>
                  <a:pt x="152413" y="0"/>
                </a:moveTo>
                <a:lnTo>
                  <a:pt x="7302487" y="0"/>
                </a:lnTo>
                <a:cubicBezTo>
                  <a:pt x="7386662" y="0"/>
                  <a:pt x="7454900" y="68238"/>
                  <a:pt x="7454900" y="152413"/>
                </a:cubicBezTo>
                <a:lnTo>
                  <a:pt x="7454900" y="3251187"/>
                </a:lnTo>
                <a:cubicBezTo>
                  <a:pt x="7454900" y="3335362"/>
                  <a:pt x="7386662" y="3403600"/>
                  <a:pt x="7302487" y="3403600"/>
                </a:cubicBezTo>
                <a:lnTo>
                  <a:pt x="152413" y="3403600"/>
                </a:lnTo>
                <a:cubicBezTo>
                  <a:pt x="68238" y="3403600"/>
                  <a:pt x="0" y="3335362"/>
                  <a:pt x="0" y="3251187"/>
                </a:cubicBezTo>
                <a:lnTo>
                  <a:pt x="0" y="152413"/>
                </a:lnTo>
                <a:cubicBezTo>
                  <a:pt x="0" y="68294"/>
                  <a:pt x="68294" y="0"/>
                  <a:pt x="152413" y="0"/>
                </a:cubicBezTo>
                <a:close/>
              </a:path>
            </a:pathLst>
          </a:custGeom>
          <a:solidFill>
            <a:srgbClr val="4DB3A2">
              <a:alpha val="10196"/>
            </a:srgbClr>
          </a:solidFill>
          <a:ln w="12700">
            <a:solidFill>
              <a:srgbClr val="4DB3A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616950" y="5864225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84249" y="-11251"/>
                </a:moveTo>
                <a:cubicBezTo>
                  <a:pt x="181808" y="-16014"/>
                  <a:pt x="176867" y="-19050"/>
                  <a:pt x="171510" y="-19050"/>
                </a:cubicBezTo>
                <a:cubicBezTo>
                  <a:pt x="166152" y="-19050"/>
                  <a:pt x="161211" y="-16014"/>
                  <a:pt x="158770" y="-11251"/>
                </a:cubicBezTo>
                <a:lnTo>
                  <a:pt x="114955" y="74593"/>
                </a:lnTo>
                <a:lnTo>
                  <a:pt x="19764" y="89714"/>
                </a:lnTo>
                <a:cubicBezTo>
                  <a:pt x="14466" y="90547"/>
                  <a:pt x="10061" y="94298"/>
                  <a:pt x="8394" y="99417"/>
                </a:cubicBezTo>
                <a:cubicBezTo>
                  <a:pt x="6727" y="104537"/>
                  <a:pt x="8096" y="110133"/>
                  <a:pt x="11847" y="113943"/>
                </a:cubicBezTo>
                <a:lnTo>
                  <a:pt x="79950" y="182106"/>
                </a:lnTo>
                <a:lnTo>
                  <a:pt x="64949" y="277297"/>
                </a:lnTo>
                <a:cubicBezTo>
                  <a:pt x="64115" y="282595"/>
                  <a:pt x="66318" y="287953"/>
                  <a:pt x="70664" y="291108"/>
                </a:cubicBezTo>
                <a:cubicBezTo>
                  <a:pt x="75009" y="294263"/>
                  <a:pt x="80724" y="294739"/>
                  <a:pt x="85546" y="292298"/>
                </a:cubicBezTo>
                <a:lnTo>
                  <a:pt x="171510" y="248603"/>
                </a:lnTo>
                <a:lnTo>
                  <a:pt x="257413" y="292298"/>
                </a:lnTo>
                <a:cubicBezTo>
                  <a:pt x="262176" y="294739"/>
                  <a:pt x="267950" y="294263"/>
                  <a:pt x="272296" y="291108"/>
                </a:cubicBezTo>
                <a:cubicBezTo>
                  <a:pt x="276642" y="287953"/>
                  <a:pt x="278844" y="282654"/>
                  <a:pt x="278011" y="277297"/>
                </a:cubicBezTo>
                <a:lnTo>
                  <a:pt x="262950" y="182106"/>
                </a:lnTo>
                <a:lnTo>
                  <a:pt x="331053" y="113943"/>
                </a:lnTo>
                <a:cubicBezTo>
                  <a:pt x="334863" y="110133"/>
                  <a:pt x="336173" y="104537"/>
                  <a:pt x="334506" y="99417"/>
                </a:cubicBezTo>
                <a:cubicBezTo>
                  <a:pt x="332839" y="94298"/>
                  <a:pt x="328493" y="90547"/>
                  <a:pt x="323136" y="89714"/>
                </a:cubicBezTo>
                <a:lnTo>
                  <a:pt x="228005" y="74593"/>
                </a:lnTo>
                <a:lnTo>
                  <a:pt x="184249" y="-11251"/>
                </a:ln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978900" y="5813425"/>
            <a:ext cx="660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Google 内部应用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604250" y="6480175"/>
            <a:ext cx="2159000" cy="1181100"/>
          </a:xfrm>
          <a:custGeom>
            <a:avLst/>
            <a:gdLst/>
            <a:ahLst/>
            <a:cxnLst/>
            <a:rect l="l" t="t" r="r" b="b"/>
            <a:pathLst>
              <a:path w="2159000" h="1181100">
                <a:moveTo>
                  <a:pt x="101598" y="0"/>
                </a:moveTo>
                <a:lnTo>
                  <a:pt x="2057402" y="0"/>
                </a:lnTo>
                <a:cubicBezTo>
                  <a:pt x="2113513" y="0"/>
                  <a:pt x="2159000" y="45487"/>
                  <a:pt x="2159000" y="101598"/>
                </a:cubicBezTo>
                <a:lnTo>
                  <a:pt x="2159000" y="1079502"/>
                </a:lnTo>
                <a:cubicBezTo>
                  <a:pt x="2159000" y="1135613"/>
                  <a:pt x="2113513" y="1181100"/>
                  <a:pt x="2057402" y="1181100"/>
                </a:cubicBezTo>
                <a:lnTo>
                  <a:pt x="101598" y="1181100"/>
                </a:lnTo>
                <a:cubicBezTo>
                  <a:pt x="45487" y="1181100"/>
                  <a:pt x="0" y="1135613"/>
                  <a:pt x="0" y="10795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2700">
            <a:solidFill>
              <a:srgbClr val="5A7D9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718550" y="6689725"/>
            <a:ext cx="19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dirty="0">
                <a:solidFill>
                  <a:srgbClr val="5A7D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GFS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769350" y="7197725"/>
            <a:ext cx="182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70000"/>
                  </a:srgbClr>
                </a:solidFill>
                <a:latin typeface="Calibri" panose="020F0502020204030204" pitchFamily="34" charset="0"/>
                <a:ea typeface="MiSans" pitchFamily="34" charset="-122"/>
                <a:cs typeface="Calibri" panose="020F0502020204030204" pitchFamily="34" charset="0"/>
              </a:rPr>
              <a:t>Google File System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0932517" y="6480175"/>
            <a:ext cx="2159000" cy="1181100"/>
          </a:xfrm>
          <a:custGeom>
            <a:avLst/>
            <a:gdLst/>
            <a:ahLst/>
            <a:cxnLst/>
            <a:rect l="l" t="t" r="r" b="b"/>
            <a:pathLst>
              <a:path w="2159000" h="1181100">
                <a:moveTo>
                  <a:pt x="101598" y="0"/>
                </a:moveTo>
                <a:lnTo>
                  <a:pt x="2057402" y="0"/>
                </a:lnTo>
                <a:cubicBezTo>
                  <a:pt x="2113513" y="0"/>
                  <a:pt x="2159000" y="45487"/>
                  <a:pt x="2159000" y="101598"/>
                </a:cubicBezTo>
                <a:lnTo>
                  <a:pt x="2159000" y="1079502"/>
                </a:lnTo>
                <a:cubicBezTo>
                  <a:pt x="2159000" y="1135613"/>
                  <a:pt x="2113513" y="1181100"/>
                  <a:pt x="2057402" y="1181100"/>
                </a:cubicBezTo>
                <a:lnTo>
                  <a:pt x="101598" y="1181100"/>
                </a:lnTo>
                <a:cubicBezTo>
                  <a:pt x="45487" y="1181100"/>
                  <a:pt x="0" y="1135613"/>
                  <a:pt x="0" y="10795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2700">
            <a:solidFill>
              <a:srgbClr val="4DB3A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1046817" y="6689725"/>
            <a:ext cx="19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dirty="0">
                <a:solidFill>
                  <a:srgbClr val="4DB3A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BigTable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097617" y="7197725"/>
            <a:ext cx="182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分布式存储系统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3260884" y="6480175"/>
            <a:ext cx="2159000" cy="1181100"/>
          </a:xfrm>
          <a:custGeom>
            <a:avLst/>
            <a:gdLst/>
            <a:ahLst/>
            <a:cxnLst/>
            <a:rect l="l" t="t" r="r" b="b"/>
            <a:pathLst>
              <a:path w="2159000" h="1181100">
                <a:moveTo>
                  <a:pt x="101598" y="0"/>
                </a:moveTo>
                <a:lnTo>
                  <a:pt x="2057402" y="0"/>
                </a:lnTo>
                <a:cubicBezTo>
                  <a:pt x="2113513" y="0"/>
                  <a:pt x="2159000" y="45487"/>
                  <a:pt x="2159000" y="101598"/>
                </a:cubicBezTo>
                <a:lnTo>
                  <a:pt x="2159000" y="1079502"/>
                </a:lnTo>
                <a:cubicBezTo>
                  <a:pt x="2159000" y="1135613"/>
                  <a:pt x="2113513" y="1181100"/>
                  <a:pt x="2057402" y="1181100"/>
                </a:cubicBezTo>
                <a:lnTo>
                  <a:pt x="101598" y="1181100"/>
                </a:lnTo>
                <a:cubicBezTo>
                  <a:pt x="45487" y="1181100"/>
                  <a:pt x="0" y="1135613"/>
                  <a:pt x="0" y="10795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2700">
            <a:solidFill>
              <a:srgbClr val="E1AF6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3294717" y="6689725"/>
            <a:ext cx="2135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dirty="0">
                <a:solidFill>
                  <a:srgbClr val="E1AF63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MapReduce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3425984" y="7197725"/>
            <a:ext cx="182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并行计算框架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DESIGN MOTIVATION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设计动机：为什么需要锁服务？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784350"/>
            <a:ext cx="4902200" cy="2184400"/>
          </a:xfrm>
          <a:custGeom>
            <a:avLst/>
            <a:gdLst/>
            <a:ahLst/>
            <a:cxnLst/>
            <a:rect l="l" t="t" r="r" b="b"/>
            <a:pathLst>
              <a:path w="4902200" h="2184400">
                <a:moveTo>
                  <a:pt x="152406" y="0"/>
                </a:moveTo>
                <a:lnTo>
                  <a:pt x="4749794" y="0"/>
                </a:lnTo>
                <a:cubicBezTo>
                  <a:pt x="4833966" y="0"/>
                  <a:pt x="4902200" y="68234"/>
                  <a:pt x="4902200" y="152406"/>
                </a:cubicBezTo>
                <a:lnTo>
                  <a:pt x="4902200" y="2031994"/>
                </a:lnTo>
                <a:cubicBezTo>
                  <a:pt x="4902200" y="2116166"/>
                  <a:pt x="4833966" y="2184400"/>
                  <a:pt x="4749794" y="2184400"/>
                </a:cubicBezTo>
                <a:lnTo>
                  <a:pt x="152406" y="2184400"/>
                </a:lnTo>
                <a:cubicBezTo>
                  <a:pt x="68234" y="2184400"/>
                  <a:pt x="0" y="2116166"/>
                  <a:pt x="0" y="2031994"/>
                </a:cubicBezTo>
                <a:lnTo>
                  <a:pt x="0" y="152406"/>
                </a:lnTo>
                <a:cubicBezTo>
                  <a:pt x="0" y="68234"/>
                  <a:pt x="68234" y="0"/>
                  <a:pt x="152406" y="0"/>
                </a:cubicBezTo>
                <a:close/>
              </a:path>
            </a:pathLst>
          </a:custGeom>
          <a:gradFill flip="none" rotWithShape="1">
            <a:gsLst>
              <a:gs pos="0">
                <a:srgbClr val="5A7D9A">
                  <a:alpha val="30000"/>
                </a:srgbClr>
              </a:gs>
              <a:gs pos="100000">
                <a:srgbClr val="5A7D9A">
                  <a:alpha val="10000"/>
                </a:srgbClr>
              </a:gs>
            </a:gsLst>
            <a:lin ang="2700000" scaled="1"/>
          </a:gradFill>
          <a:ln w="12700">
            <a:solidFill>
              <a:srgbClr val="5A7D9A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25500" y="2095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50416" y="21971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87500" y="2197100"/>
            <a:ext cx="167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主节点选举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5500" y="2908300"/>
            <a:ext cx="43942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确保整个系统中</a:t>
            </a:r>
            <a:r>
              <a:rPr lang="en-US" sz="1800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只有一个服务器</a:t>
            </a: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充当主节点，避免脑裂问题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78984" y="1784350"/>
            <a:ext cx="4902200" cy="2184400"/>
          </a:xfrm>
          <a:custGeom>
            <a:avLst/>
            <a:gdLst/>
            <a:ahLst/>
            <a:cxnLst/>
            <a:rect l="l" t="t" r="r" b="b"/>
            <a:pathLst>
              <a:path w="4902200" h="2184400">
                <a:moveTo>
                  <a:pt x="152406" y="0"/>
                </a:moveTo>
                <a:lnTo>
                  <a:pt x="4749794" y="0"/>
                </a:lnTo>
                <a:cubicBezTo>
                  <a:pt x="4833966" y="0"/>
                  <a:pt x="4902200" y="68234"/>
                  <a:pt x="4902200" y="152406"/>
                </a:cubicBezTo>
                <a:lnTo>
                  <a:pt x="4902200" y="2031994"/>
                </a:lnTo>
                <a:cubicBezTo>
                  <a:pt x="4902200" y="2116166"/>
                  <a:pt x="4833966" y="2184400"/>
                  <a:pt x="4749794" y="2184400"/>
                </a:cubicBezTo>
                <a:lnTo>
                  <a:pt x="152406" y="2184400"/>
                </a:lnTo>
                <a:cubicBezTo>
                  <a:pt x="68234" y="2184400"/>
                  <a:pt x="0" y="2116166"/>
                  <a:pt x="0" y="2031994"/>
                </a:cubicBezTo>
                <a:lnTo>
                  <a:pt x="0" y="152406"/>
                </a:lnTo>
                <a:cubicBezTo>
                  <a:pt x="0" y="68234"/>
                  <a:pt x="68234" y="0"/>
                  <a:pt x="152406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3A2">
                  <a:alpha val="30000"/>
                </a:srgbClr>
              </a:gs>
              <a:gs pos="100000">
                <a:srgbClr val="4DB3A2">
                  <a:alpha val="10000"/>
                </a:srgbClr>
              </a:gs>
            </a:gsLst>
            <a:lin ang="2700000" scaled="1"/>
          </a:gradFill>
          <a:ln w="12700">
            <a:solidFill>
              <a:srgbClr val="4DB3A2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990134" y="2095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115050" y="21971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1A202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52134" y="2197100"/>
            <a:ext cx="198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资源独占访问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90134" y="2908300"/>
            <a:ext cx="43942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确保只有</a:t>
            </a:r>
            <a:r>
              <a:rPr lang="en-US" sz="1800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一个服务器</a:t>
            </a: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可以写入数据库或文件，保证数据一致性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843617" y="1784350"/>
            <a:ext cx="4902200" cy="2184400"/>
          </a:xfrm>
          <a:custGeom>
            <a:avLst/>
            <a:gdLst/>
            <a:ahLst/>
            <a:cxnLst/>
            <a:rect l="l" t="t" r="r" b="b"/>
            <a:pathLst>
              <a:path w="4902200" h="2184400">
                <a:moveTo>
                  <a:pt x="152406" y="0"/>
                </a:moveTo>
                <a:lnTo>
                  <a:pt x="4749794" y="0"/>
                </a:lnTo>
                <a:cubicBezTo>
                  <a:pt x="4833966" y="0"/>
                  <a:pt x="4902200" y="68234"/>
                  <a:pt x="4902200" y="152406"/>
                </a:cubicBezTo>
                <a:lnTo>
                  <a:pt x="4902200" y="2031994"/>
                </a:lnTo>
                <a:cubicBezTo>
                  <a:pt x="4902200" y="2116166"/>
                  <a:pt x="4833966" y="2184400"/>
                  <a:pt x="4749794" y="2184400"/>
                </a:cubicBezTo>
                <a:lnTo>
                  <a:pt x="152406" y="2184400"/>
                </a:lnTo>
                <a:cubicBezTo>
                  <a:pt x="68234" y="2184400"/>
                  <a:pt x="0" y="2116166"/>
                  <a:pt x="0" y="2031994"/>
                </a:cubicBezTo>
                <a:lnTo>
                  <a:pt x="0" y="152406"/>
                </a:lnTo>
                <a:cubicBezTo>
                  <a:pt x="0" y="68234"/>
                  <a:pt x="68234" y="0"/>
                  <a:pt x="152406" y="0"/>
                </a:cubicBezTo>
                <a:close/>
              </a:path>
            </a:pathLst>
          </a:custGeom>
          <a:gradFill flip="none" rotWithShape="1">
            <a:gsLst>
              <a:gs pos="0">
                <a:srgbClr val="E1AF63">
                  <a:alpha val="30000"/>
                </a:srgbClr>
              </a:gs>
              <a:gs pos="100000">
                <a:srgbClr val="E1AF63">
                  <a:alpha val="10000"/>
                </a:srgbClr>
              </a:gs>
            </a:gsLst>
            <a:lin ang="2700000" scaled="1"/>
          </a:gradFill>
          <a:ln w="12700">
            <a:solidFill>
              <a:srgbClr val="E1AF63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1154767" y="2095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1279684" y="21971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1A202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916767" y="2197100"/>
            <a:ext cx="198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配置信息共享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54767" y="2908300"/>
            <a:ext cx="43942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在分布式环境中</a:t>
            </a:r>
            <a:r>
              <a:rPr lang="en-US" sz="1800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可靠地存储和访问</a:t>
            </a: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配置数据，实现配置同步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4350" y="4229100"/>
            <a:ext cx="7454900" cy="4406900"/>
          </a:xfrm>
          <a:custGeom>
            <a:avLst/>
            <a:gdLst/>
            <a:ahLst/>
            <a:cxnLst/>
            <a:rect l="l" t="t" r="r" b="b"/>
            <a:pathLst>
              <a:path w="7454900" h="4406900">
                <a:moveTo>
                  <a:pt x="152391" y="0"/>
                </a:moveTo>
                <a:lnTo>
                  <a:pt x="7302509" y="0"/>
                </a:lnTo>
                <a:cubicBezTo>
                  <a:pt x="7386672" y="0"/>
                  <a:pt x="7454900" y="68228"/>
                  <a:pt x="7454900" y="152391"/>
                </a:cubicBezTo>
                <a:lnTo>
                  <a:pt x="7454900" y="4254509"/>
                </a:lnTo>
                <a:cubicBezTo>
                  <a:pt x="7454900" y="4338672"/>
                  <a:pt x="7386672" y="4406900"/>
                  <a:pt x="7302509" y="4406900"/>
                </a:cubicBezTo>
                <a:lnTo>
                  <a:pt x="152391" y="4406900"/>
                </a:lnTo>
                <a:cubicBezTo>
                  <a:pt x="68228" y="4406900"/>
                  <a:pt x="0" y="4338672"/>
                  <a:pt x="0" y="425450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2700">
            <a:solidFill>
              <a:srgbClr val="5A7D9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63600" y="45910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206500" y="4540250"/>
            <a:ext cx="660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分布式系统协调问题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5500" y="5200650"/>
            <a:ext cx="69469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在大规模分布式系统中，</a:t>
            </a:r>
            <a:r>
              <a:rPr lang="en-US" sz="1800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多个进程需要协调它们的活动</a:t>
            </a: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并就系统的基本信息达成一致。典型的协调需求包括上述三个方面。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0900" y="6374033"/>
            <a:ext cx="6807200" cy="1016000"/>
          </a:xfrm>
          <a:custGeom>
            <a:avLst/>
            <a:gdLst/>
            <a:ahLst/>
            <a:cxnLst/>
            <a:rect l="l" t="t" r="r" b="b"/>
            <a:pathLst>
              <a:path w="6807200" h="1016000">
                <a:moveTo>
                  <a:pt x="50800" y="0"/>
                </a:moveTo>
                <a:lnTo>
                  <a:pt x="6705600" y="0"/>
                </a:lnTo>
                <a:cubicBezTo>
                  <a:pt x="6761675" y="0"/>
                  <a:pt x="6807200" y="45525"/>
                  <a:pt x="6807200" y="101600"/>
                </a:cubicBezTo>
                <a:lnTo>
                  <a:pt x="6807200" y="914400"/>
                </a:lnTo>
                <a:cubicBezTo>
                  <a:pt x="6807200" y="970475"/>
                  <a:pt x="6761675" y="1016000"/>
                  <a:pt x="6705600" y="1016000"/>
                </a:cubicBez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7D9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50900" y="6374033"/>
            <a:ext cx="50800" cy="1016000"/>
          </a:xfrm>
          <a:custGeom>
            <a:avLst/>
            <a:gdLst/>
            <a:ahLst/>
            <a:cxnLst/>
            <a:rect l="l" t="t" r="r" b="b"/>
            <a:pathLst>
              <a:path w="50800" h="1016000">
                <a:moveTo>
                  <a:pt x="50800" y="0"/>
                </a:moveTo>
                <a:lnTo>
                  <a:pt x="50800" y="0"/>
                </a:lnTo>
                <a:lnTo>
                  <a:pt x="50800" y="1016000"/>
                </a:ln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079500" y="6577233"/>
            <a:ext cx="647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这些协调问题是分布式系统设计中的核心挑战，需要可靠的机制来保证系统的一致性和可用性。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86750" y="4229100"/>
            <a:ext cx="7454900" cy="4406900"/>
          </a:xfrm>
          <a:custGeom>
            <a:avLst/>
            <a:gdLst/>
            <a:ahLst/>
            <a:cxnLst/>
            <a:rect l="l" t="t" r="r" b="b"/>
            <a:pathLst>
              <a:path w="7454900" h="4406900">
                <a:moveTo>
                  <a:pt x="152391" y="0"/>
                </a:moveTo>
                <a:lnTo>
                  <a:pt x="7302509" y="0"/>
                </a:lnTo>
                <a:cubicBezTo>
                  <a:pt x="7386672" y="0"/>
                  <a:pt x="7454900" y="68228"/>
                  <a:pt x="7454900" y="152391"/>
                </a:cubicBezTo>
                <a:lnTo>
                  <a:pt x="7454900" y="4254509"/>
                </a:lnTo>
                <a:cubicBezTo>
                  <a:pt x="7454900" y="4338672"/>
                  <a:pt x="7386672" y="4406900"/>
                  <a:pt x="7302509" y="4406900"/>
                </a:cubicBezTo>
                <a:lnTo>
                  <a:pt x="152391" y="4406900"/>
                </a:lnTo>
                <a:cubicBezTo>
                  <a:pt x="68228" y="4406900"/>
                  <a:pt x="0" y="4338672"/>
                  <a:pt x="0" y="425450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2700">
            <a:solidFill>
              <a:srgbClr val="4DB3A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674100" y="459105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978900" y="4540250"/>
            <a:ext cx="660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设计选择：锁服务 vs 直接 Paxos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597900" y="525145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712200" y="535305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9156700" y="5200650"/>
            <a:ext cx="605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开发者友好：</a:t>
            </a: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在代码中添加锁定语义比实现共识机制更容易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597900" y="591185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712200" y="601345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9156700" y="5861050"/>
            <a:ext cx="5829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数据服务结合：</a:t>
            </a: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事件通知与数据存储结合，满足综合需求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97900" y="657225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712200" y="667385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9156700" y="6422975"/>
            <a:ext cx="66929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 err="1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灵活进展：</a:t>
            </a:r>
            <a:r>
              <a:rPr lang="en-US" sz="1800" dirty="0" err="1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只要一个客户端正常且能访问Chubby，就能取得进展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DESIGN TRADE-OFFS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锁服务 vs Paxos 库：设计权衡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0700" y="1790700"/>
            <a:ext cx="7442200" cy="4445000"/>
          </a:xfrm>
          <a:custGeom>
            <a:avLst/>
            <a:gdLst/>
            <a:ahLst/>
            <a:cxnLst/>
            <a:rect l="l" t="t" r="r" b="b"/>
            <a:pathLst>
              <a:path w="7442200" h="4445000">
                <a:moveTo>
                  <a:pt x="152419" y="0"/>
                </a:moveTo>
                <a:lnTo>
                  <a:pt x="7289781" y="0"/>
                </a:lnTo>
                <a:cubicBezTo>
                  <a:pt x="7373960" y="0"/>
                  <a:pt x="7442200" y="68240"/>
                  <a:pt x="7442200" y="152419"/>
                </a:cubicBezTo>
                <a:lnTo>
                  <a:pt x="7442200" y="4292581"/>
                </a:lnTo>
                <a:cubicBezTo>
                  <a:pt x="7442200" y="4376760"/>
                  <a:pt x="7373960" y="4445000"/>
                  <a:pt x="7289781" y="4445000"/>
                </a:cubicBezTo>
                <a:lnTo>
                  <a:pt x="152419" y="4445000"/>
                </a:lnTo>
                <a:cubicBezTo>
                  <a:pt x="68240" y="4445000"/>
                  <a:pt x="0" y="4376760"/>
                  <a:pt x="0" y="4292581"/>
                </a:cubicBezTo>
                <a:lnTo>
                  <a:pt x="0" y="152419"/>
                </a:lnTo>
                <a:cubicBezTo>
                  <a:pt x="0" y="68297"/>
                  <a:pt x="68297" y="0"/>
                  <a:pt x="152419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3A2">
                  <a:alpha val="30000"/>
                </a:srgbClr>
              </a:gs>
              <a:gs pos="100000">
                <a:srgbClr val="4DB3A2">
                  <a:alpha val="10000"/>
                </a:srgbClr>
              </a:gs>
            </a:gsLst>
            <a:lin ang="2700000" scaled="1"/>
          </a:gradFill>
          <a:ln w="25400">
            <a:solidFill>
              <a:srgbClr val="4DB3A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38200" y="1600200"/>
            <a:ext cx="1993900" cy="419100"/>
          </a:xfrm>
          <a:custGeom>
            <a:avLst/>
            <a:gdLst/>
            <a:ahLst/>
            <a:cxnLst/>
            <a:rect l="l" t="t" r="r" b="b"/>
            <a:pathLst>
              <a:path w="1993900" h="419100">
                <a:moveTo>
                  <a:pt x="101598" y="0"/>
                </a:moveTo>
                <a:lnTo>
                  <a:pt x="1892302" y="0"/>
                </a:lnTo>
                <a:cubicBezTo>
                  <a:pt x="1948413" y="0"/>
                  <a:pt x="1993900" y="45487"/>
                  <a:pt x="1993900" y="101598"/>
                </a:cubicBezTo>
                <a:lnTo>
                  <a:pt x="1993900" y="317502"/>
                </a:lnTo>
                <a:cubicBezTo>
                  <a:pt x="1993900" y="373613"/>
                  <a:pt x="1948413" y="419100"/>
                  <a:pt x="1892302" y="419100"/>
                </a:cubicBezTo>
                <a:lnTo>
                  <a:pt x="101598" y="419100"/>
                </a:lnTo>
                <a:cubicBezTo>
                  <a:pt x="45487" y="419100"/>
                  <a:pt x="0" y="373613"/>
                  <a:pt x="0" y="3175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41400" y="1676400"/>
            <a:ext cx="16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A202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RECOMMENDED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85825" y="20701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95250" y="71438"/>
                </a:moveTo>
                <a:lnTo>
                  <a:pt x="95250" y="119063"/>
                </a:lnTo>
                <a:lnTo>
                  <a:pt x="190500" y="119063"/>
                </a:lnTo>
                <a:lnTo>
                  <a:pt x="190500" y="71438"/>
                </a:lnTo>
                <a:cubicBezTo>
                  <a:pt x="190500" y="45169"/>
                  <a:pt x="169143" y="23812"/>
                  <a:pt x="142875" y="23812"/>
                </a:cubicBezTo>
                <a:cubicBezTo>
                  <a:pt x="116607" y="23812"/>
                  <a:pt x="95250" y="45169"/>
                  <a:pt x="95250" y="71438"/>
                </a:cubicBezTo>
                <a:close/>
                <a:moveTo>
                  <a:pt x="47625" y="119063"/>
                </a:moveTo>
                <a:lnTo>
                  <a:pt x="47625" y="71438"/>
                </a:lnTo>
                <a:cubicBezTo>
                  <a:pt x="47625" y="18827"/>
                  <a:pt x="90264" y="-23812"/>
                  <a:pt x="142875" y="-23812"/>
                </a:cubicBezTo>
                <a:cubicBezTo>
                  <a:pt x="195486" y="-23812"/>
                  <a:pt x="238125" y="18827"/>
                  <a:pt x="238125" y="71438"/>
                </a:cubicBezTo>
                <a:lnTo>
                  <a:pt x="238125" y="119063"/>
                </a:lnTo>
                <a:cubicBezTo>
                  <a:pt x="264393" y="119063"/>
                  <a:pt x="285750" y="140419"/>
                  <a:pt x="285750" y="166688"/>
                </a:cubicBezTo>
                <a:lnTo>
                  <a:pt x="285750" y="333375"/>
                </a:lnTo>
                <a:cubicBezTo>
                  <a:pt x="285750" y="359643"/>
                  <a:pt x="264393" y="381000"/>
                  <a:pt x="238125" y="381000"/>
                </a:cubicBezTo>
                <a:lnTo>
                  <a:pt x="47625" y="381000"/>
                </a:lnTo>
                <a:cubicBezTo>
                  <a:pt x="21357" y="381000"/>
                  <a:pt x="0" y="359643"/>
                  <a:pt x="0" y="333375"/>
                </a:cubicBezTo>
                <a:lnTo>
                  <a:pt x="0" y="166688"/>
                </a:lnTo>
                <a:cubicBezTo>
                  <a:pt x="0" y="140419"/>
                  <a:pt x="21357" y="119063"/>
                  <a:pt x="47625" y="119063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270000" y="2057400"/>
            <a:ext cx="6578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4DB3A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Chubby 锁服务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87400" y="2717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93763" y="28067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4131" y="31299"/>
                </a:moveTo>
                <a:cubicBezTo>
                  <a:pt x="200516" y="35942"/>
                  <a:pt x="201945" y="44872"/>
                  <a:pt x="197301" y="51256"/>
                </a:cubicBezTo>
                <a:lnTo>
                  <a:pt x="83001" y="208419"/>
                </a:lnTo>
                <a:cubicBezTo>
                  <a:pt x="80546" y="211812"/>
                  <a:pt x="76751" y="213911"/>
                  <a:pt x="72554" y="214268"/>
                </a:cubicBezTo>
                <a:cubicBezTo>
                  <a:pt x="68357" y="214625"/>
                  <a:pt x="64294" y="213062"/>
                  <a:pt x="61347" y="210116"/>
                </a:cubicBezTo>
                <a:lnTo>
                  <a:pt x="4197" y="152966"/>
                </a:lnTo>
                <a:cubicBezTo>
                  <a:pt x="-1384" y="147384"/>
                  <a:pt x="-1384" y="138321"/>
                  <a:pt x="4197" y="132740"/>
                </a:cubicBezTo>
                <a:cubicBezTo>
                  <a:pt x="9778" y="127159"/>
                  <a:pt x="18842" y="127159"/>
                  <a:pt x="24423" y="132740"/>
                </a:cubicBezTo>
                <a:lnTo>
                  <a:pt x="69741" y="178058"/>
                </a:lnTo>
                <a:lnTo>
                  <a:pt x="174218" y="34424"/>
                </a:lnTo>
                <a:cubicBezTo>
                  <a:pt x="178862" y="28039"/>
                  <a:pt x="187791" y="26610"/>
                  <a:pt x="194176" y="31254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346200" y="2667000"/>
            <a:ext cx="336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更容易集成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46200" y="3073400"/>
            <a:ext cx="335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客户端库易于集成到现有程序结构中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7400" y="3581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93763" y="36703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4131" y="31299"/>
                </a:moveTo>
                <a:cubicBezTo>
                  <a:pt x="200516" y="35942"/>
                  <a:pt x="201945" y="44872"/>
                  <a:pt x="197301" y="51256"/>
                </a:cubicBezTo>
                <a:lnTo>
                  <a:pt x="83001" y="208419"/>
                </a:lnTo>
                <a:cubicBezTo>
                  <a:pt x="80546" y="211812"/>
                  <a:pt x="76751" y="213911"/>
                  <a:pt x="72554" y="214268"/>
                </a:cubicBezTo>
                <a:cubicBezTo>
                  <a:pt x="68357" y="214625"/>
                  <a:pt x="64294" y="213062"/>
                  <a:pt x="61347" y="210116"/>
                </a:cubicBezTo>
                <a:lnTo>
                  <a:pt x="4197" y="152966"/>
                </a:lnTo>
                <a:cubicBezTo>
                  <a:pt x="-1384" y="147384"/>
                  <a:pt x="-1384" y="138321"/>
                  <a:pt x="4197" y="132740"/>
                </a:cubicBezTo>
                <a:cubicBezTo>
                  <a:pt x="9778" y="127159"/>
                  <a:pt x="18842" y="127159"/>
                  <a:pt x="24423" y="132740"/>
                </a:cubicBezTo>
                <a:lnTo>
                  <a:pt x="69741" y="178058"/>
                </a:lnTo>
                <a:lnTo>
                  <a:pt x="174218" y="34424"/>
                </a:lnTo>
                <a:cubicBezTo>
                  <a:pt x="178862" y="28039"/>
                  <a:pt x="187791" y="26610"/>
                  <a:pt x="194176" y="31254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346200" y="3530600"/>
            <a:ext cx="255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数据服务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46200" y="39370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提供可靠的小容量存储功能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7400" y="444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93763" y="45339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4131" y="31299"/>
                </a:moveTo>
                <a:cubicBezTo>
                  <a:pt x="200516" y="35942"/>
                  <a:pt x="201945" y="44872"/>
                  <a:pt x="197301" y="51256"/>
                </a:cubicBezTo>
                <a:lnTo>
                  <a:pt x="83001" y="208419"/>
                </a:lnTo>
                <a:cubicBezTo>
                  <a:pt x="80546" y="211812"/>
                  <a:pt x="76751" y="213911"/>
                  <a:pt x="72554" y="214268"/>
                </a:cubicBezTo>
                <a:cubicBezTo>
                  <a:pt x="68357" y="214625"/>
                  <a:pt x="64294" y="213062"/>
                  <a:pt x="61347" y="210116"/>
                </a:cubicBezTo>
                <a:lnTo>
                  <a:pt x="4197" y="152966"/>
                </a:lnTo>
                <a:cubicBezTo>
                  <a:pt x="-1384" y="147384"/>
                  <a:pt x="-1384" y="138321"/>
                  <a:pt x="4197" y="132740"/>
                </a:cubicBezTo>
                <a:cubicBezTo>
                  <a:pt x="9778" y="127159"/>
                  <a:pt x="18842" y="127159"/>
                  <a:pt x="24423" y="132740"/>
                </a:cubicBezTo>
                <a:lnTo>
                  <a:pt x="69741" y="178058"/>
                </a:lnTo>
                <a:lnTo>
                  <a:pt x="174218" y="34424"/>
                </a:lnTo>
                <a:cubicBezTo>
                  <a:pt x="178862" y="28039"/>
                  <a:pt x="187791" y="26610"/>
                  <a:pt x="194176" y="31254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346200" y="4394200"/>
            <a:ext cx="255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友好的语义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46200" y="48006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对程序员更友好的锁定语义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87400" y="5308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93763" y="53975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4131" y="31299"/>
                </a:moveTo>
                <a:cubicBezTo>
                  <a:pt x="200516" y="35942"/>
                  <a:pt x="201945" y="44872"/>
                  <a:pt x="197301" y="51256"/>
                </a:cubicBezTo>
                <a:lnTo>
                  <a:pt x="83001" y="208419"/>
                </a:lnTo>
                <a:cubicBezTo>
                  <a:pt x="80546" y="211812"/>
                  <a:pt x="76751" y="213911"/>
                  <a:pt x="72554" y="214268"/>
                </a:cubicBezTo>
                <a:cubicBezTo>
                  <a:pt x="68357" y="214625"/>
                  <a:pt x="64294" y="213062"/>
                  <a:pt x="61347" y="210116"/>
                </a:cubicBezTo>
                <a:lnTo>
                  <a:pt x="4197" y="152966"/>
                </a:lnTo>
                <a:cubicBezTo>
                  <a:pt x="-1384" y="147384"/>
                  <a:pt x="-1384" y="138321"/>
                  <a:pt x="4197" y="132740"/>
                </a:cubicBezTo>
                <a:cubicBezTo>
                  <a:pt x="9778" y="127159"/>
                  <a:pt x="18842" y="127159"/>
                  <a:pt x="24423" y="132740"/>
                </a:cubicBezTo>
                <a:lnTo>
                  <a:pt x="69741" y="178058"/>
                </a:lnTo>
                <a:lnTo>
                  <a:pt x="174218" y="34424"/>
                </a:lnTo>
                <a:cubicBezTo>
                  <a:pt x="178862" y="28039"/>
                  <a:pt x="187791" y="26610"/>
                  <a:pt x="194176" y="31254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346200" y="5257800"/>
            <a:ext cx="255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集中化容错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46200" y="56642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集中化的容错和可用性管理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4350" y="6457950"/>
            <a:ext cx="7454900" cy="1079500"/>
          </a:xfrm>
          <a:custGeom>
            <a:avLst/>
            <a:gdLst/>
            <a:ahLst/>
            <a:cxnLst/>
            <a:rect l="l" t="t" r="r" b="b"/>
            <a:pathLst>
              <a:path w="7454900" h="1079500">
                <a:moveTo>
                  <a:pt x="152404" y="0"/>
                </a:moveTo>
                <a:lnTo>
                  <a:pt x="7302496" y="0"/>
                </a:lnTo>
                <a:cubicBezTo>
                  <a:pt x="7386666" y="0"/>
                  <a:pt x="7454900" y="68234"/>
                  <a:pt x="7454900" y="152404"/>
                </a:cubicBezTo>
                <a:lnTo>
                  <a:pt x="7454900" y="927096"/>
                </a:lnTo>
                <a:cubicBezTo>
                  <a:pt x="7454900" y="1011266"/>
                  <a:pt x="7386666" y="1079500"/>
                  <a:pt x="7302496" y="1079500"/>
                </a:cubicBezTo>
                <a:lnTo>
                  <a:pt x="152404" y="1079500"/>
                </a:lnTo>
                <a:cubicBezTo>
                  <a:pt x="68234" y="1079500"/>
                  <a:pt x="0" y="1011266"/>
                  <a:pt x="0" y="92709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5A7D9A">
              <a:alpha val="10196"/>
            </a:srgbClr>
          </a:solidFill>
          <a:ln w="12700">
            <a:solidFill>
              <a:srgbClr val="5A7D9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749300" y="673735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88900" y="63500"/>
                </a:moveTo>
                <a:cubicBezTo>
                  <a:pt x="88900" y="56491"/>
                  <a:pt x="94591" y="50800"/>
                  <a:pt x="101600" y="50800"/>
                </a:cubicBezTo>
                <a:cubicBezTo>
                  <a:pt x="108609" y="50800"/>
                  <a:pt x="114300" y="56491"/>
                  <a:pt x="114300" y="63500"/>
                </a:cubicBezTo>
                <a:cubicBezTo>
                  <a:pt x="114300" y="70509"/>
                  <a:pt x="108609" y="76200"/>
                  <a:pt x="101600" y="76200"/>
                </a:cubicBezTo>
                <a:cubicBezTo>
                  <a:pt x="94591" y="76200"/>
                  <a:pt x="88900" y="70509"/>
                  <a:pt x="88900" y="63500"/>
                </a:cubicBezTo>
                <a:close/>
                <a:moveTo>
                  <a:pt x="85725" y="88900"/>
                </a:moveTo>
                <a:lnTo>
                  <a:pt x="104775" y="88900"/>
                </a:lnTo>
                <a:cubicBezTo>
                  <a:pt x="110053" y="88900"/>
                  <a:pt x="114300" y="93147"/>
                  <a:pt x="114300" y="98425"/>
                </a:cubicBezTo>
                <a:lnTo>
                  <a:pt x="114300" y="133350"/>
                </a:lnTo>
                <a:lnTo>
                  <a:pt x="117475" y="133350"/>
                </a:lnTo>
                <a:cubicBezTo>
                  <a:pt x="122753" y="133350"/>
                  <a:pt x="127000" y="137597"/>
                  <a:pt x="127000" y="142875"/>
                </a:cubicBezTo>
                <a:cubicBezTo>
                  <a:pt x="127000" y="148153"/>
                  <a:pt x="122753" y="152400"/>
                  <a:pt x="117475" y="152400"/>
                </a:cubicBezTo>
                <a:lnTo>
                  <a:pt x="85725" y="152400"/>
                </a:lnTo>
                <a:cubicBezTo>
                  <a:pt x="80447" y="152400"/>
                  <a:pt x="76200" y="148153"/>
                  <a:pt x="76200" y="142875"/>
                </a:cubicBezTo>
                <a:cubicBezTo>
                  <a:pt x="76200" y="137597"/>
                  <a:pt x="80447" y="133350"/>
                  <a:pt x="85725" y="133350"/>
                </a:cubicBezTo>
                <a:lnTo>
                  <a:pt x="95250" y="133350"/>
                </a:lnTo>
                <a:lnTo>
                  <a:pt x="95250" y="107950"/>
                </a:lnTo>
                <a:lnTo>
                  <a:pt x="85725" y="107950"/>
                </a:lnTo>
                <a:cubicBezTo>
                  <a:pt x="80447" y="107950"/>
                  <a:pt x="76200" y="103703"/>
                  <a:pt x="76200" y="98425"/>
                </a:cubicBezTo>
                <a:cubicBezTo>
                  <a:pt x="76200" y="93147"/>
                  <a:pt x="80447" y="88900"/>
                  <a:pt x="85725" y="8890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079500" y="6667500"/>
            <a:ext cx="6781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Chubby 的选择</a:t>
            </a:r>
            <a:r>
              <a:rPr lang="en-US" sz="16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体现了在工程实践中对易用性和可维护性的重视，这种权衡在大型分布式系统中尤为重要。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86750" y="1784350"/>
            <a:ext cx="7454900" cy="4451350"/>
          </a:xfrm>
          <a:custGeom>
            <a:avLst/>
            <a:gdLst/>
            <a:ahLst/>
            <a:cxnLst/>
            <a:rect l="l" t="t" r="r" b="b"/>
            <a:pathLst>
              <a:path w="7454900" h="6845300">
                <a:moveTo>
                  <a:pt x="152376" y="0"/>
                </a:moveTo>
                <a:lnTo>
                  <a:pt x="7302524" y="0"/>
                </a:lnTo>
                <a:cubicBezTo>
                  <a:pt x="7386679" y="0"/>
                  <a:pt x="7454900" y="68221"/>
                  <a:pt x="7454900" y="152376"/>
                </a:cubicBezTo>
                <a:lnTo>
                  <a:pt x="7454900" y="6692924"/>
                </a:lnTo>
                <a:cubicBezTo>
                  <a:pt x="7454900" y="6777079"/>
                  <a:pt x="7386679" y="6845300"/>
                  <a:pt x="7302524" y="6845300"/>
                </a:cubicBezTo>
                <a:lnTo>
                  <a:pt x="152376" y="6845300"/>
                </a:lnTo>
                <a:cubicBezTo>
                  <a:pt x="68221" y="6845300"/>
                  <a:pt x="0" y="6777079"/>
                  <a:pt x="0" y="6692924"/>
                </a:cubicBezTo>
                <a:lnTo>
                  <a:pt x="0" y="152376"/>
                </a:lnTo>
                <a:cubicBezTo>
                  <a:pt x="0" y="68278"/>
                  <a:pt x="68278" y="0"/>
                  <a:pt x="152376" y="0"/>
                </a:cubicBezTo>
                <a:close/>
              </a:path>
            </a:pathLst>
          </a:custGeom>
          <a:gradFill flip="none" rotWithShape="1">
            <a:gsLst>
              <a:gs pos="0">
                <a:srgbClr val="5A7D9A">
                  <a:alpha val="20000"/>
                </a:srgbClr>
              </a:gs>
              <a:gs pos="100000">
                <a:srgbClr val="5A7D9A">
                  <a:alpha val="5000"/>
                </a:srgbClr>
              </a:gs>
            </a:gsLst>
            <a:lin ang="2700000" scaled="1"/>
          </a:gradFill>
          <a:ln w="12700">
            <a:solidFill>
              <a:srgbClr val="5A7D9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550275" y="20574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09488" y="156642"/>
                </a:moveTo>
                <a:cubicBezTo>
                  <a:pt x="318567" y="154186"/>
                  <a:pt x="328092" y="158502"/>
                  <a:pt x="332184" y="166911"/>
                </a:cubicBezTo>
                <a:lnTo>
                  <a:pt x="346025" y="194890"/>
                </a:lnTo>
                <a:cubicBezTo>
                  <a:pt x="353690" y="195932"/>
                  <a:pt x="361206" y="198016"/>
                  <a:pt x="368275" y="200918"/>
                </a:cubicBezTo>
                <a:lnTo>
                  <a:pt x="394320" y="183579"/>
                </a:lnTo>
                <a:cubicBezTo>
                  <a:pt x="402134" y="178371"/>
                  <a:pt x="412477" y="179412"/>
                  <a:pt x="419100" y="186035"/>
                </a:cubicBezTo>
                <a:lnTo>
                  <a:pt x="433388" y="200323"/>
                </a:lnTo>
                <a:cubicBezTo>
                  <a:pt x="440010" y="206946"/>
                  <a:pt x="441052" y="217363"/>
                  <a:pt x="435843" y="225103"/>
                </a:cubicBezTo>
                <a:lnTo>
                  <a:pt x="418505" y="251073"/>
                </a:lnTo>
                <a:cubicBezTo>
                  <a:pt x="419919" y="254571"/>
                  <a:pt x="421184" y="258217"/>
                  <a:pt x="422225" y="262012"/>
                </a:cubicBezTo>
                <a:cubicBezTo>
                  <a:pt x="423267" y="265807"/>
                  <a:pt x="423937" y="269528"/>
                  <a:pt x="424458" y="273323"/>
                </a:cubicBezTo>
                <a:lnTo>
                  <a:pt x="452512" y="287164"/>
                </a:lnTo>
                <a:cubicBezTo>
                  <a:pt x="460921" y="291331"/>
                  <a:pt x="465237" y="300856"/>
                  <a:pt x="462781" y="309860"/>
                </a:cubicBezTo>
                <a:lnTo>
                  <a:pt x="457572" y="329357"/>
                </a:lnTo>
                <a:cubicBezTo>
                  <a:pt x="455116" y="338361"/>
                  <a:pt x="446708" y="344463"/>
                  <a:pt x="437331" y="343867"/>
                </a:cubicBezTo>
                <a:lnTo>
                  <a:pt x="406078" y="341858"/>
                </a:lnTo>
                <a:cubicBezTo>
                  <a:pt x="401389" y="347886"/>
                  <a:pt x="395957" y="353467"/>
                  <a:pt x="389781" y="358229"/>
                </a:cubicBezTo>
                <a:lnTo>
                  <a:pt x="391790" y="389409"/>
                </a:lnTo>
                <a:cubicBezTo>
                  <a:pt x="392385" y="398785"/>
                  <a:pt x="386283" y="407268"/>
                  <a:pt x="377279" y="409649"/>
                </a:cubicBezTo>
                <a:lnTo>
                  <a:pt x="357783" y="414858"/>
                </a:lnTo>
                <a:cubicBezTo>
                  <a:pt x="348704" y="417314"/>
                  <a:pt x="339254" y="412998"/>
                  <a:pt x="335087" y="404589"/>
                </a:cubicBezTo>
                <a:lnTo>
                  <a:pt x="321246" y="376610"/>
                </a:lnTo>
                <a:cubicBezTo>
                  <a:pt x="313581" y="375568"/>
                  <a:pt x="306065" y="373484"/>
                  <a:pt x="298996" y="370582"/>
                </a:cubicBezTo>
                <a:lnTo>
                  <a:pt x="272951" y="387921"/>
                </a:lnTo>
                <a:cubicBezTo>
                  <a:pt x="265137" y="393129"/>
                  <a:pt x="254794" y="392088"/>
                  <a:pt x="248171" y="385465"/>
                </a:cubicBezTo>
                <a:lnTo>
                  <a:pt x="233883" y="371177"/>
                </a:lnTo>
                <a:cubicBezTo>
                  <a:pt x="227261" y="364554"/>
                  <a:pt x="226219" y="354211"/>
                  <a:pt x="231428" y="346397"/>
                </a:cubicBezTo>
                <a:lnTo>
                  <a:pt x="248766" y="320353"/>
                </a:lnTo>
                <a:cubicBezTo>
                  <a:pt x="247352" y="316855"/>
                  <a:pt x="246087" y="313209"/>
                  <a:pt x="245046" y="309414"/>
                </a:cubicBezTo>
                <a:cubicBezTo>
                  <a:pt x="244004" y="305619"/>
                  <a:pt x="243334" y="301823"/>
                  <a:pt x="242813" y="298103"/>
                </a:cubicBezTo>
                <a:lnTo>
                  <a:pt x="214759" y="284262"/>
                </a:lnTo>
                <a:cubicBezTo>
                  <a:pt x="206350" y="280095"/>
                  <a:pt x="202109" y="270570"/>
                  <a:pt x="204490" y="261565"/>
                </a:cubicBezTo>
                <a:lnTo>
                  <a:pt x="209699" y="242069"/>
                </a:lnTo>
                <a:cubicBezTo>
                  <a:pt x="212154" y="233065"/>
                  <a:pt x="220563" y="226963"/>
                  <a:pt x="229939" y="227558"/>
                </a:cubicBezTo>
                <a:lnTo>
                  <a:pt x="261119" y="229567"/>
                </a:lnTo>
                <a:cubicBezTo>
                  <a:pt x="265807" y="223540"/>
                  <a:pt x="271239" y="217959"/>
                  <a:pt x="277416" y="213196"/>
                </a:cubicBezTo>
                <a:lnTo>
                  <a:pt x="275406" y="182091"/>
                </a:lnTo>
                <a:cubicBezTo>
                  <a:pt x="274811" y="172715"/>
                  <a:pt x="280913" y="164232"/>
                  <a:pt x="289917" y="161851"/>
                </a:cubicBezTo>
                <a:lnTo>
                  <a:pt x="309414" y="156642"/>
                </a:lnTo>
                <a:close/>
                <a:moveTo>
                  <a:pt x="333673" y="253008"/>
                </a:moveTo>
                <a:cubicBezTo>
                  <a:pt x="315602" y="253028"/>
                  <a:pt x="300947" y="267716"/>
                  <a:pt x="300968" y="285787"/>
                </a:cubicBezTo>
                <a:cubicBezTo>
                  <a:pt x="300988" y="303858"/>
                  <a:pt x="315676" y="318513"/>
                  <a:pt x="333747" y="318492"/>
                </a:cubicBezTo>
                <a:cubicBezTo>
                  <a:pt x="351818" y="318472"/>
                  <a:pt x="366473" y="303784"/>
                  <a:pt x="366452" y="285713"/>
                </a:cubicBezTo>
                <a:cubicBezTo>
                  <a:pt x="366432" y="267642"/>
                  <a:pt x="351744" y="252987"/>
                  <a:pt x="333673" y="253008"/>
                </a:cubicBezTo>
                <a:close/>
                <a:moveTo>
                  <a:pt x="167357" y="-33858"/>
                </a:moveTo>
                <a:lnTo>
                  <a:pt x="186854" y="-28649"/>
                </a:lnTo>
                <a:cubicBezTo>
                  <a:pt x="195858" y="-26194"/>
                  <a:pt x="201960" y="-17711"/>
                  <a:pt x="201364" y="-8409"/>
                </a:cubicBezTo>
                <a:lnTo>
                  <a:pt x="199355" y="22696"/>
                </a:lnTo>
                <a:cubicBezTo>
                  <a:pt x="205532" y="27459"/>
                  <a:pt x="210964" y="32965"/>
                  <a:pt x="215652" y="39067"/>
                </a:cubicBezTo>
                <a:lnTo>
                  <a:pt x="246906" y="37058"/>
                </a:lnTo>
                <a:cubicBezTo>
                  <a:pt x="256208" y="36463"/>
                  <a:pt x="264691" y="42565"/>
                  <a:pt x="267146" y="51569"/>
                </a:cubicBezTo>
                <a:lnTo>
                  <a:pt x="272355" y="71065"/>
                </a:lnTo>
                <a:cubicBezTo>
                  <a:pt x="274737" y="80070"/>
                  <a:pt x="270495" y="89595"/>
                  <a:pt x="262086" y="93762"/>
                </a:cubicBezTo>
                <a:lnTo>
                  <a:pt x="234032" y="107603"/>
                </a:lnTo>
                <a:cubicBezTo>
                  <a:pt x="233511" y="111398"/>
                  <a:pt x="232767" y="115193"/>
                  <a:pt x="231800" y="118914"/>
                </a:cubicBezTo>
                <a:cubicBezTo>
                  <a:pt x="230832" y="122634"/>
                  <a:pt x="229493" y="126355"/>
                  <a:pt x="228079" y="129853"/>
                </a:cubicBezTo>
                <a:lnTo>
                  <a:pt x="245418" y="155897"/>
                </a:lnTo>
                <a:cubicBezTo>
                  <a:pt x="250627" y="163711"/>
                  <a:pt x="249585" y="174054"/>
                  <a:pt x="242962" y="180677"/>
                </a:cubicBezTo>
                <a:lnTo>
                  <a:pt x="228674" y="194965"/>
                </a:lnTo>
                <a:cubicBezTo>
                  <a:pt x="222052" y="201588"/>
                  <a:pt x="211708" y="202629"/>
                  <a:pt x="203895" y="197421"/>
                </a:cubicBezTo>
                <a:lnTo>
                  <a:pt x="177850" y="180082"/>
                </a:lnTo>
                <a:cubicBezTo>
                  <a:pt x="170780" y="182984"/>
                  <a:pt x="163264" y="185068"/>
                  <a:pt x="155600" y="186110"/>
                </a:cubicBezTo>
                <a:lnTo>
                  <a:pt x="141759" y="214089"/>
                </a:lnTo>
                <a:cubicBezTo>
                  <a:pt x="137592" y="222498"/>
                  <a:pt x="128067" y="226740"/>
                  <a:pt x="119063" y="224358"/>
                </a:cubicBezTo>
                <a:lnTo>
                  <a:pt x="99566" y="219149"/>
                </a:lnTo>
                <a:cubicBezTo>
                  <a:pt x="90488" y="216694"/>
                  <a:pt x="84460" y="208211"/>
                  <a:pt x="85055" y="198909"/>
                </a:cubicBezTo>
                <a:lnTo>
                  <a:pt x="87064" y="167729"/>
                </a:lnTo>
                <a:cubicBezTo>
                  <a:pt x="80888" y="162967"/>
                  <a:pt x="75456" y="157460"/>
                  <a:pt x="70768" y="151358"/>
                </a:cubicBezTo>
                <a:lnTo>
                  <a:pt x="39514" y="153367"/>
                </a:lnTo>
                <a:cubicBezTo>
                  <a:pt x="30212" y="153963"/>
                  <a:pt x="21729" y="147861"/>
                  <a:pt x="19273" y="138857"/>
                </a:cubicBezTo>
                <a:lnTo>
                  <a:pt x="14064" y="119360"/>
                </a:lnTo>
                <a:cubicBezTo>
                  <a:pt x="11683" y="110356"/>
                  <a:pt x="15925" y="100831"/>
                  <a:pt x="24333" y="96664"/>
                </a:cubicBezTo>
                <a:lnTo>
                  <a:pt x="52388" y="82823"/>
                </a:lnTo>
                <a:cubicBezTo>
                  <a:pt x="52908" y="79028"/>
                  <a:pt x="53653" y="75307"/>
                  <a:pt x="54620" y="71512"/>
                </a:cubicBezTo>
                <a:cubicBezTo>
                  <a:pt x="55662" y="67717"/>
                  <a:pt x="56852" y="64071"/>
                  <a:pt x="58341" y="60573"/>
                </a:cubicBezTo>
                <a:lnTo>
                  <a:pt x="41002" y="34603"/>
                </a:lnTo>
                <a:cubicBezTo>
                  <a:pt x="35793" y="26789"/>
                  <a:pt x="36835" y="16446"/>
                  <a:pt x="43458" y="9823"/>
                </a:cubicBezTo>
                <a:lnTo>
                  <a:pt x="57745" y="-4465"/>
                </a:lnTo>
                <a:cubicBezTo>
                  <a:pt x="64368" y="-11088"/>
                  <a:pt x="74712" y="-12129"/>
                  <a:pt x="82525" y="-6921"/>
                </a:cubicBezTo>
                <a:lnTo>
                  <a:pt x="108570" y="10418"/>
                </a:lnTo>
                <a:cubicBezTo>
                  <a:pt x="115639" y="7516"/>
                  <a:pt x="123155" y="5432"/>
                  <a:pt x="130820" y="4390"/>
                </a:cubicBezTo>
                <a:lnTo>
                  <a:pt x="144661" y="-23589"/>
                </a:lnTo>
                <a:cubicBezTo>
                  <a:pt x="148828" y="-31998"/>
                  <a:pt x="158279" y="-36240"/>
                  <a:pt x="167357" y="-33858"/>
                </a:cubicBezTo>
                <a:close/>
                <a:moveTo>
                  <a:pt x="143173" y="62508"/>
                </a:moveTo>
                <a:cubicBezTo>
                  <a:pt x="125102" y="62508"/>
                  <a:pt x="110430" y="77179"/>
                  <a:pt x="110430" y="95250"/>
                </a:cubicBezTo>
                <a:cubicBezTo>
                  <a:pt x="110430" y="113321"/>
                  <a:pt x="125102" y="127992"/>
                  <a:pt x="143173" y="127992"/>
                </a:cubicBezTo>
                <a:cubicBezTo>
                  <a:pt x="161244" y="127992"/>
                  <a:pt x="175915" y="113321"/>
                  <a:pt x="175915" y="95250"/>
                </a:cubicBezTo>
                <a:cubicBezTo>
                  <a:pt x="175915" y="77179"/>
                  <a:pt x="161244" y="62508"/>
                  <a:pt x="143173" y="62508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9029700" y="2044700"/>
            <a:ext cx="660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5A7D9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直接使用 Paxos 库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47100" y="27051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A7D9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667750" y="27940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4601" y="32772"/>
                </a:moveTo>
                <a:cubicBezTo>
                  <a:pt x="19020" y="27191"/>
                  <a:pt x="9957" y="27191"/>
                  <a:pt x="4376" y="32772"/>
                </a:cubicBezTo>
                <a:cubicBezTo>
                  <a:pt x="-1206" y="38353"/>
                  <a:pt x="-1206" y="47417"/>
                  <a:pt x="4376" y="52998"/>
                </a:cubicBezTo>
                <a:lnTo>
                  <a:pt x="65723" y="114300"/>
                </a:lnTo>
                <a:lnTo>
                  <a:pt x="4420" y="175647"/>
                </a:lnTo>
                <a:cubicBezTo>
                  <a:pt x="-1161" y="181228"/>
                  <a:pt x="-1161" y="190292"/>
                  <a:pt x="4420" y="195873"/>
                </a:cubicBezTo>
                <a:cubicBezTo>
                  <a:pt x="10001" y="201454"/>
                  <a:pt x="19065" y="201454"/>
                  <a:pt x="24646" y="195873"/>
                </a:cubicBezTo>
                <a:lnTo>
                  <a:pt x="85948" y="134526"/>
                </a:lnTo>
                <a:lnTo>
                  <a:pt x="147295" y="195828"/>
                </a:lnTo>
                <a:cubicBezTo>
                  <a:pt x="152876" y="201409"/>
                  <a:pt x="161940" y="201409"/>
                  <a:pt x="167521" y="195828"/>
                </a:cubicBezTo>
                <a:cubicBezTo>
                  <a:pt x="173102" y="190247"/>
                  <a:pt x="173102" y="181183"/>
                  <a:pt x="167521" y="175602"/>
                </a:cubicBezTo>
                <a:lnTo>
                  <a:pt x="106174" y="114300"/>
                </a:lnTo>
                <a:lnTo>
                  <a:pt x="167476" y="52953"/>
                </a:lnTo>
                <a:cubicBezTo>
                  <a:pt x="173057" y="47372"/>
                  <a:pt x="173057" y="38308"/>
                  <a:pt x="167476" y="32727"/>
                </a:cubicBezTo>
                <a:cubicBezTo>
                  <a:pt x="161895" y="27146"/>
                  <a:pt x="152832" y="27146"/>
                  <a:pt x="147251" y="32727"/>
                </a:cubicBezTo>
                <a:lnTo>
                  <a:pt x="85948" y="94074"/>
                </a:lnTo>
                <a:lnTo>
                  <a:pt x="24601" y="32772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9105900" y="2654300"/>
            <a:ext cx="356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集成复杂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05900" y="3060700"/>
            <a:ext cx="355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需要在应用层实现共识算法，复杂性高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47100" y="35687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A7D9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667750" y="36576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4601" y="32772"/>
                </a:moveTo>
                <a:cubicBezTo>
                  <a:pt x="19020" y="27191"/>
                  <a:pt x="9957" y="27191"/>
                  <a:pt x="4376" y="32772"/>
                </a:cubicBezTo>
                <a:cubicBezTo>
                  <a:pt x="-1206" y="38353"/>
                  <a:pt x="-1206" y="47417"/>
                  <a:pt x="4376" y="52998"/>
                </a:cubicBezTo>
                <a:lnTo>
                  <a:pt x="65723" y="114300"/>
                </a:lnTo>
                <a:lnTo>
                  <a:pt x="4420" y="175647"/>
                </a:lnTo>
                <a:cubicBezTo>
                  <a:pt x="-1161" y="181228"/>
                  <a:pt x="-1161" y="190292"/>
                  <a:pt x="4420" y="195873"/>
                </a:cubicBezTo>
                <a:cubicBezTo>
                  <a:pt x="10001" y="201454"/>
                  <a:pt x="19065" y="201454"/>
                  <a:pt x="24646" y="195873"/>
                </a:cubicBezTo>
                <a:lnTo>
                  <a:pt x="85948" y="134526"/>
                </a:lnTo>
                <a:lnTo>
                  <a:pt x="147295" y="195828"/>
                </a:lnTo>
                <a:cubicBezTo>
                  <a:pt x="152876" y="201409"/>
                  <a:pt x="161940" y="201409"/>
                  <a:pt x="167521" y="195828"/>
                </a:cubicBezTo>
                <a:cubicBezTo>
                  <a:pt x="173102" y="190247"/>
                  <a:pt x="173102" y="181183"/>
                  <a:pt x="167521" y="175602"/>
                </a:cubicBezTo>
                <a:lnTo>
                  <a:pt x="106174" y="114300"/>
                </a:lnTo>
                <a:lnTo>
                  <a:pt x="167476" y="52953"/>
                </a:lnTo>
                <a:cubicBezTo>
                  <a:pt x="173057" y="47372"/>
                  <a:pt x="173057" y="38308"/>
                  <a:pt x="167476" y="32727"/>
                </a:cubicBezTo>
                <a:cubicBezTo>
                  <a:pt x="161895" y="27146"/>
                  <a:pt x="152832" y="27146"/>
                  <a:pt x="147251" y="32727"/>
                </a:cubicBezTo>
                <a:lnTo>
                  <a:pt x="85948" y="94074"/>
                </a:lnTo>
                <a:lnTo>
                  <a:pt x="24601" y="32772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9105900" y="3517900"/>
            <a:ext cx="356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缺乏数据服务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105900" y="3924300"/>
            <a:ext cx="355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仅提供共识机制，不提供数据存储功能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547100" y="44323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A7D9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8667750" y="45212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4601" y="32772"/>
                </a:moveTo>
                <a:cubicBezTo>
                  <a:pt x="19020" y="27191"/>
                  <a:pt x="9957" y="27191"/>
                  <a:pt x="4376" y="32772"/>
                </a:cubicBezTo>
                <a:cubicBezTo>
                  <a:pt x="-1206" y="38353"/>
                  <a:pt x="-1206" y="47417"/>
                  <a:pt x="4376" y="52998"/>
                </a:cubicBezTo>
                <a:lnTo>
                  <a:pt x="65723" y="114300"/>
                </a:lnTo>
                <a:lnTo>
                  <a:pt x="4420" y="175647"/>
                </a:lnTo>
                <a:cubicBezTo>
                  <a:pt x="-1161" y="181228"/>
                  <a:pt x="-1161" y="190292"/>
                  <a:pt x="4420" y="195873"/>
                </a:cubicBezTo>
                <a:cubicBezTo>
                  <a:pt x="10001" y="201454"/>
                  <a:pt x="19065" y="201454"/>
                  <a:pt x="24646" y="195873"/>
                </a:cubicBezTo>
                <a:lnTo>
                  <a:pt x="85948" y="134526"/>
                </a:lnTo>
                <a:lnTo>
                  <a:pt x="147295" y="195828"/>
                </a:lnTo>
                <a:cubicBezTo>
                  <a:pt x="152876" y="201409"/>
                  <a:pt x="161940" y="201409"/>
                  <a:pt x="167521" y="195828"/>
                </a:cubicBezTo>
                <a:cubicBezTo>
                  <a:pt x="173102" y="190247"/>
                  <a:pt x="173102" y="181183"/>
                  <a:pt x="167521" y="175602"/>
                </a:cubicBezTo>
                <a:lnTo>
                  <a:pt x="106174" y="114300"/>
                </a:lnTo>
                <a:lnTo>
                  <a:pt x="167476" y="52953"/>
                </a:lnTo>
                <a:cubicBezTo>
                  <a:pt x="173057" y="47372"/>
                  <a:pt x="173057" y="38308"/>
                  <a:pt x="167476" y="32727"/>
                </a:cubicBezTo>
                <a:cubicBezTo>
                  <a:pt x="161895" y="27146"/>
                  <a:pt x="152832" y="27146"/>
                  <a:pt x="147251" y="32727"/>
                </a:cubicBezTo>
                <a:lnTo>
                  <a:pt x="85948" y="94074"/>
                </a:lnTo>
                <a:lnTo>
                  <a:pt x="24601" y="32772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9105900" y="4381500"/>
            <a:ext cx="336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语义复杂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105900" y="4787900"/>
            <a:ext cx="335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Paxos 算法的语义对开发者不够直观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547100" y="52959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A7D9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8667750" y="53848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4601" y="32772"/>
                </a:moveTo>
                <a:cubicBezTo>
                  <a:pt x="19020" y="27191"/>
                  <a:pt x="9957" y="27191"/>
                  <a:pt x="4376" y="32772"/>
                </a:cubicBezTo>
                <a:cubicBezTo>
                  <a:pt x="-1206" y="38353"/>
                  <a:pt x="-1206" y="47417"/>
                  <a:pt x="4376" y="52998"/>
                </a:cubicBezTo>
                <a:lnTo>
                  <a:pt x="65723" y="114300"/>
                </a:lnTo>
                <a:lnTo>
                  <a:pt x="4420" y="175647"/>
                </a:lnTo>
                <a:cubicBezTo>
                  <a:pt x="-1161" y="181228"/>
                  <a:pt x="-1161" y="190292"/>
                  <a:pt x="4420" y="195873"/>
                </a:cubicBezTo>
                <a:cubicBezTo>
                  <a:pt x="10001" y="201454"/>
                  <a:pt x="19065" y="201454"/>
                  <a:pt x="24646" y="195873"/>
                </a:cubicBezTo>
                <a:lnTo>
                  <a:pt x="85948" y="134526"/>
                </a:lnTo>
                <a:lnTo>
                  <a:pt x="147295" y="195828"/>
                </a:lnTo>
                <a:cubicBezTo>
                  <a:pt x="152876" y="201409"/>
                  <a:pt x="161940" y="201409"/>
                  <a:pt x="167521" y="195828"/>
                </a:cubicBezTo>
                <a:cubicBezTo>
                  <a:pt x="173102" y="190247"/>
                  <a:pt x="173102" y="181183"/>
                  <a:pt x="167521" y="175602"/>
                </a:cubicBezTo>
                <a:lnTo>
                  <a:pt x="106174" y="114300"/>
                </a:lnTo>
                <a:lnTo>
                  <a:pt x="167476" y="52953"/>
                </a:lnTo>
                <a:cubicBezTo>
                  <a:pt x="173057" y="47372"/>
                  <a:pt x="173057" y="38308"/>
                  <a:pt x="167476" y="32727"/>
                </a:cubicBezTo>
                <a:cubicBezTo>
                  <a:pt x="161895" y="27146"/>
                  <a:pt x="152832" y="27146"/>
                  <a:pt x="147251" y="32727"/>
                </a:cubicBezTo>
                <a:lnTo>
                  <a:pt x="85948" y="94074"/>
                </a:lnTo>
                <a:lnTo>
                  <a:pt x="24601" y="32772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9105900" y="5245100"/>
            <a:ext cx="2959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容错分散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105900" y="5651500"/>
            <a:ext cx="294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每个应用需要独立处理容错逻辑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86750" y="6457950"/>
            <a:ext cx="6921500" cy="1079500"/>
          </a:xfrm>
          <a:custGeom>
            <a:avLst/>
            <a:gdLst/>
            <a:ahLst/>
            <a:cxnLst/>
            <a:rect l="l" t="t" r="r" b="b"/>
            <a:pathLst>
              <a:path w="6921500" h="1079500">
                <a:moveTo>
                  <a:pt x="101603" y="0"/>
                </a:moveTo>
                <a:lnTo>
                  <a:pt x="6819897" y="0"/>
                </a:lnTo>
                <a:cubicBezTo>
                  <a:pt x="6876011" y="0"/>
                  <a:pt x="6921500" y="45489"/>
                  <a:pt x="6921500" y="101603"/>
                </a:cubicBezTo>
                <a:lnTo>
                  <a:pt x="6921500" y="977897"/>
                </a:lnTo>
                <a:cubicBezTo>
                  <a:pt x="6921500" y="1034011"/>
                  <a:pt x="6876011" y="1079500"/>
                  <a:pt x="6819897" y="1079500"/>
                </a:cubicBezTo>
                <a:lnTo>
                  <a:pt x="101603" y="1079500"/>
                </a:lnTo>
                <a:cubicBezTo>
                  <a:pt x="45489" y="1079500"/>
                  <a:pt x="0" y="1034011"/>
                  <a:pt x="0" y="9778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5A7D9A">
              <a:alpha val="10196"/>
            </a:srgbClr>
          </a:solidFill>
          <a:ln w="12700">
            <a:solidFill>
              <a:srgbClr val="5A7D9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8521700" y="673735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01600" y="53975"/>
                </a:moveTo>
                <a:cubicBezTo>
                  <a:pt x="106878" y="53975"/>
                  <a:pt x="111125" y="58222"/>
                  <a:pt x="111125" y="63500"/>
                </a:cubicBezTo>
                <a:lnTo>
                  <a:pt x="111125" y="107950"/>
                </a:lnTo>
                <a:cubicBezTo>
                  <a:pt x="111125" y="113228"/>
                  <a:pt x="106878" y="117475"/>
                  <a:pt x="101600" y="117475"/>
                </a:cubicBezTo>
                <a:cubicBezTo>
                  <a:pt x="96322" y="117475"/>
                  <a:pt x="92075" y="113228"/>
                  <a:pt x="92075" y="107950"/>
                </a:cubicBezTo>
                <a:lnTo>
                  <a:pt x="92075" y="63500"/>
                </a:lnTo>
                <a:cubicBezTo>
                  <a:pt x="92075" y="58222"/>
                  <a:pt x="96322" y="53975"/>
                  <a:pt x="101600" y="53975"/>
                </a:cubicBezTo>
                <a:close/>
                <a:moveTo>
                  <a:pt x="91003" y="139700"/>
                </a:moveTo>
                <a:cubicBezTo>
                  <a:pt x="90762" y="135767"/>
                  <a:pt x="92724" y="132024"/>
                  <a:pt x="96096" y="129985"/>
                </a:cubicBezTo>
                <a:cubicBezTo>
                  <a:pt x="99468" y="127945"/>
                  <a:pt x="103693" y="127945"/>
                  <a:pt x="107065" y="129985"/>
                </a:cubicBezTo>
                <a:cubicBezTo>
                  <a:pt x="110436" y="132024"/>
                  <a:pt x="112398" y="135767"/>
                  <a:pt x="112157" y="139700"/>
                </a:cubicBezTo>
                <a:cubicBezTo>
                  <a:pt x="112398" y="143633"/>
                  <a:pt x="110436" y="147376"/>
                  <a:pt x="107065" y="149415"/>
                </a:cubicBezTo>
                <a:cubicBezTo>
                  <a:pt x="103693" y="151455"/>
                  <a:pt x="99468" y="151455"/>
                  <a:pt x="96096" y="149415"/>
                </a:cubicBezTo>
                <a:cubicBezTo>
                  <a:pt x="92724" y="147376"/>
                  <a:pt x="90762" y="143633"/>
                  <a:pt x="91003" y="13970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8851900" y="6667500"/>
            <a:ext cx="6248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虽然 Paxos 算法在理论上很优雅，但在实际工程应用中，直接使用 Paxos 库会给开发者带来较大的负担。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12408396" y="2043113"/>
            <a:ext cx="3314700" cy="787400"/>
          </a:xfrm>
          <a:custGeom>
            <a:avLst/>
            <a:gdLst/>
            <a:ahLst/>
            <a:cxnLst/>
            <a:rect l="l" t="t" r="r" b="b"/>
            <a:pathLst>
              <a:path w="3314700" h="787400">
                <a:moveTo>
                  <a:pt x="0" y="0"/>
                </a:moveTo>
                <a:lnTo>
                  <a:pt x="3314700" y="0"/>
                </a:lnTo>
                <a:lnTo>
                  <a:pt x="33147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solidFill>
            <a:srgbClr val="4DB3A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15723096" y="2043113"/>
            <a:ext cx="50800" cy="787400"/>
          </a:xfrm>
          <a:custGeom>
            <a:avLst/>
            <a:gdLst/>
            <a:ahLst/>
            <a:cxnLst/>
            <a:rect l="l" t="t" r="r" b="b"/>
            <a:pathLst>
              <a:path w="50800" h="787400">
                <a:moveTo>
                  <a:pt x="0" y="0"/>
                </a:moveTo>
                <a:lnTo>
                  <a:pt x="50800" y="0"/>
                </a:lnTo>
                <a:lnTo>
                  <a:pt x="508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12522696" y="2195513"/>
            <a:ext cx="2869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3000" kern="0" spc="300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92609" y="3230563"/>
            <a:ext cx="8256979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9600" dirty="0" err="1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系统架构设计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3716000" y="5973763"/>
            <a:ext cx="2032000" cy="101600"/>
          </a:xfrm>
          <a:custGeom>
            <a:avLst/>
            <a:gdLst/>
            <a:ahLst/>
            <a:cxnLst/>
            <a:rect l="l" t="t" r="r" b="b"/>
            <a:pathLst>
              <a:path w="2032000" h="101600">
                <a:moveTo>
                  <a:pt x="0" y="0"/>
                </a:moveTo>
                <a:lnTo>
                  <a:pt x="2032000" y="0"/>
                </a:lnTo>
                <a:lnTo>
                  <a:pt x="20320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DB3A2"/>
              </a:gs>
              <a:gs pos="100000">
                <a:srgbClr val="5A7D9A"/>
              </a:gs>
            </a:gsLst>
            <a:lin ang="108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9031288" y="6481763"/>
            <a:ext cx="67183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3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 Chubby 的分布式架构与共识机制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2943" y="442943"/>
            <a:ext cx="15458703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5" b="1" kern="0" spc="70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42943" y="797297"/>
            <a:ext cx="15635880" cy="53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185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整体架构：客户端-服务器模式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8480" y="1372957"/>
            <a:ext cx="9124621" cy="7170135"/>
          </a:xfrm>
          <a:custGeom>
            <a:avLst/>
            <a:gdLst/>
            <a:ahLst/>
            <a:cxnLst/>
            <a:rect l="l" t="t" r="r" b="b"/>
            <a:pathLst>
              <a:path w="9124621" h="8493428">
                <a:moveTo>
                  <a:pt x="132922" y="0"/>
                </a:moveTo>
                <a:lnTo>
                  <a:pt x="8991699" y="0"/>
                </a:lnTo>
                <a:cubicBezTo>
                  <a:pt x="9065110" y="0"/>
                  <a:pt x="9124621" y="59511"/>
                  <a:pt x="9124621" y="132922"/>
                </a:cubicBezTo>
                <a:lnTo>
                  <a:pt x="9124621" y="8360506"/>
                </a:lnTo>
                <a:cubicBezTo>
                  <a:pt x="9124621" y="8433917"/>
                  <a:pt x="9065110" y="8493428"/>
                  <a:pt x="8991699" y="8493428"/>
                </a:cubicBezTo>
                <a:lnTo>
                  <a:pt x="132922" y="8493428"/>
                </a:lnTo>
                <a:cubicBezTo>
                  <a:pt x="59511" y="8493428"/>
                  <a:pt x="0" y="8433917"/>
                  <a:pt x="0" y="8360506"/>
                </a:cubicBezTo>
                <a:lnTo>
                  <a:pt x="0" y="132922"/>
                </a:lnTo>
                <a:cubicBezTo>
                  <a:pt x="0" y="59511"/>
                  <a:pt x="59511" y="0"/>
                  <a:pt x="132922" y="0"/>
                </a:cubicBezTo>
                <a:close/>
              </a:path>
            </a:pathLst>
          </a:custGeom>
          <a:gradFill flip="none" rotWithShape="1">
            <a:gsLst>
              <a:gs pos="0">
                <a:srgbClr val="5A7D9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5A7D9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75488" y="1599965"/>
            <a:ext cx="8803488" cy="354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93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系统组件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97635" y="2833543"/>
            <a:ext cx="8648458" cy="2347597"/>
          </a:xfrm>
          <a:custGeom>
            <a:avLst/>
            <a:gdLst/>
            <a:ahLst/>
            <a:cxnLst/>
            <a:rect l="l" t="t" r="r" b="b"/>
            <a:pathLst>
              <a:path w="8648458" h="2347597">
                <a:moveTo>
                  <a:pt x="44294" y="0"/>
                </a:moveTo>
                <a:lnTo>
                  <a:pt x="8515584" y="0"/>
                </a:lnTo>
                <a:cubicBezTo>
                  <a:pt x="8588968" y="0"/>
                  <a:pt x="8648458" y="59490"/>
                  <a:pt x="8648458" y="132874"/>
                </a:cubicBezTo>
                <a:lnTo>
                  <a:pt x="8648458" y="2214723"/>
                </a:lnTo>
                <a:cubicBezTo>
                  <a:pt x="8648458" y="2288107"/>
                  <a:pt x="8588968" y="2347597"/>
                  <a:pt x="8515584" y="2347597"/>
                </a:cubicBezTo>
                <a:lnTo>
                  <a:pt x="44294" y="2347597"/>
                </a:lnTo>
                <a:cubicBezTo>
                  <a:pt x="19831" y="2347597"/>
                  <a:pt x="0" y="2327766"/>
                  <a:pt x="0" y="2303302"/>
                </a:cubicBezTo>
                <a:lnTo>
                  <a:pt x="0" y="44294"/>
                </a:lnTo>
                <a:cubicBezTo>
                  <a:pt x="0" y="19831"/>
                  <a:pt x="19831" y="0"/>
                  <a:pt x="44294" y="0"/>
                </a:cubicBezTo>
                <a:close/>
              </a:path>
            </a:pathLst>
          </a:custGeom>
          <a:solidFill>
            <a:srgbClr val="4DB3A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97635" y="2833543"/>
            <a:ext cx="44294" cy="2347597"/>
          </a:xfrm>
          <a:custGeom>
            <a:avLst/>
            <a:gdLst/>
            <a:ahLst/>
            <a:cxnLst/>
            <a:rect l="l" t="t" r="r" b="b"/>
            <a:pathLst>
              <a:path w="44294" h="2347597">
                <a:moveTo>
                  <a:pt x="44294" y="0"/>
                </a:moveTo>
                <a:lnTo>
                  <a:pt x="44294" y="0"/>
                </a:lnTo>
                <a:lnTo>
                  <a:pt x="44294" y="2347597"/>
                </a:lnTo>
                <a:lnTo>
                  <a:pt x="44294" y="2347597"/>
                </a:lnTo>
                <a:cubicBezTo>
                  <a:pt x="19831" y="2347597"/>
                  <a:pt x="0" y="2327766"/>
                  <a:pt x="0" y="2303302"/>
                </a:cubicBezTo>
                <a:lnTo>
                  <a:pt x="0" y="44294"/>
                </a:lnTo>
                <a:cubicBezTo>
                  <a:pt x="0" y="19831"/>
                  <a:pt x="19831" y="0"/>
                  <a:pt x="44294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96959" y="3010720"/>
            <a:ext cx="531531" cy="531531"/>
          </a:xfrm>
          <a:custGeom>
            <a:avLst/>
            <a:gdLst/>
            <a:ahLst/>
            <a:cxnLst/>
            <a:rect l="l" t="t" r="r" b="b"/>
            <a:pathLst>
              <a:path w="531531" h="531531">
                <a:moveTo>
                  <a:pt x="88590" y="0"/>
                </a:moveTo>
                <a:lnTo>
                  <a:pt x="442941" y="0"/>
                </a:lnTo>
                <a:cubicBezTo>
                  <a:pt x="491835" y="0"/>
                  <a:pt x="531531" y="39696"/>
                  <a:pt x="531531" y="88590"/>
                </a:cubicBezTo>
                <a:lnTo>
                  <a:pt x="531531" y="442941"/>
                </a:lnTo>
                <a:cubicBezTo>
                  <a:pt x="531531" y="491868"/>
                  <a:pt x="491868" y="531531"/>
                  <a:pt x="442941" y="531531"/>
                </a:cubicBezTo>
                <a:lnTo>
                  <a:pt x="88590" y="531531"/>
                </a:lnTo>
                <a:cubicBezTo>
                  <a:pt x="39663" y="531531"/>
                  <a:pt x="0" y="491868"/>
                  <a:pt x="0" y="442941"/>
                </a:cubicBezTo>
                <a:lnTo>
                  <a:pt x="0" y="88590"/>
                </a:lnTo>
                <a:cubicBezTo>
                  <a:pt x="0" y="39663"/>
                  <a:pt x="39663" y="0"/>
                  <a:pt x="88590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051989" y="3165750"/>
            <a:ext cx="221471" cy="221471"/>
          </a:xfrm>
          <a:custGeom>
            <a:avLst/>
            <a:gdLst/>
            <a:ahLst/>
            <a:cxnLst/>
            <a:rect l="l" t="t" r="r" b="b"/>
            <a:pathLst>
              <a:path w="221471" h="221471">
                <a:moveTo>
                  <a:pt x="27684" y="13842"/>
                </a:moveTo>
                <a:cubicBezTo>
                  <a:pt x="12415" y="13842"/>
                  <a:pt x="0" y="26256"/>
                  <a:pt x="0" y="41526"/>
                </a:cubicBezTo>
                <a:lnTo>
                  <a:pt x="0" y="152262"/>
                </a:lnTo>
                <a:cubicBezTo>
                  <a:pt x="0" y="167531"/>
                  <a:pt x="12415" y="179946"/>
                  <a:pt x="27684" y="179946"/>
                </a:cubicBezTo>
                <a:lnTo>
                  <a:pt x="89973" y="179946"/>
                </a:lnTo>
                <a:lnTo>
                  <a:pt x="83052" y="200708"/>
                </a:lnTo>
                <a:lnTo>
                  <a:pt x="51907" y="200708"/>
                </a:lnTo>
                <a:cubicBezTo>
                  <a:pt x="46154" y="200708"/>
                  <a:pt x="41526" y="205337"/>
                  <a:pt x="41526" y="211090"/>
                </a:cubicBezTo>
                <a:cubicBezTo>
                  <a:pt x="41526" y="216843"/>
                  <a:pt x="46154" y="221471"/>
                  <a:pt x="51907" y="221471"/>
                </a:cubicBezTo>
                <a:lnTo>
                  <a:pt x="169564" y="221471"/>
                </a:lnTo>
                <a:cubicBezTo>
                  <a:pt x="175317" y="221471"/>
                  <a:pt x="179946" y="216843"/>
                  <a:pt x="179946" y="211090"/>
                </a:cubicBezTo>
                <a:cubicBezTo>
                  <a:pt x="179946" y="205337"/>
                  <a:pt x="175317" y="200708"/>
                  <a:pt x="169564" y="200708"/>
                </a:cubicBezTo>
                <a:lnTo>
                  <a:pt x="138420" y="200708"/>
                </a:lnTo>
                <a:lnTo>
                  <a:pt x="131499" y="179946"/>
                </a:lnTo>
                <a:lnTo>
                  <a:pt x="193787" y="179946"/>
                </a:lnTo>
                <a:cubicBezTo>
                  <a:pt x="209057" y="179946"/>
                  <a:pt x="221471" y="167531"/>
                  <a:pt x="221471" y="152262"/>
                </a:cubicBezTo>
                <a:lnTo>
                  <a:pt x="221471" y="41526"/>
                </a:lnTo>
                <a:cubicBezTo>
                  <a:pt x="221471" y="26256"/>
                  <a:pt x="209057" y="13842"/>
                  <a:pt x="193787" y="13842"/>
                </a:cubicBezTo>
                <a:lnTo>
                  <a:pt x="27684" y="13842"/>
                </a:lnTo>
                <a:close/>
                <a:moveTo>
                  <a:pt x="41526" y="41526"/>
                </a:moveTo>
                <a:lnTo>
                  <a:pt x="179946" y="41526"/>
                </a:lnTo>
                <a:cubicBezTo>
                  <a:pt x="187602" y="41526"/>
                  <a:pt x="193787" y="47712"/>
                  <a:pt x="193787" y="55368"/>
                </a:cubicBezTo>
                <a:lnTo>
                  <a:pt x="193787" y="124578"/>
                </a:lnTo>
                <a:cubicBezTo>
                  <a:pt x="193787" y="132234"/>
                  <a:pt x="187602" y="138420"/>
                  <a:pt x="179946" y="138420"/>
                </a:cubicBezTo>
                <a:lnTo>
                  <a:pt x="41526" y="138420"/>
                </a:lnTo>
                <a:cubicBezTo>
                  <a:pt x="33870" y="138420"/>
                  <a:pt x="27684" y="132234"/>
                  <a:pt x="27684" y="124578"/>
                </a:cubicBezTo>
                <a:lnTo>
                  <a:pt x="27684" y="55368"/>
                </a:lnTo>
                <a:cubicBezTo>
                  <a:pt x="27684" y="47712"/>
                  <a:pt x="33870" y="41526"/>
                  <a:pt x="41526" y="41526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561373" y="3121456"/>
            <a:ext cx="1871433" cy="31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44" dirty="0">
                <a:solidFill>
                  <a:srgbClr val="4DB3A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Chubby 客户端库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48174" y="3719429"/>
            <a:ext cx="96894" cy="155030"/>
          </a:xfrm>
          <a:custGeom>
            <a:avLst/>
            <a:gdLst/>
            <a:ahLst/>
            <a:cxnLst/>
            <a:rect l="l" t="t" r="r" b="b"/>
            <a:pathLst>
              <a:path w="96894" h="155030">
                <a:moveTo>
                  <a:pt x="94199" y="70672"/>
                </a:moveTo>
                <a:cubicBezTo>
                  <a:pt x="97984" y="74457"/>
                  <a:pt x="97984" y="80603"/>
                  <a:pt x="94199" y="84388"/>
                </a:cubicBezTo>
                <a:lnTo>
                  <a:pt x="36063" y="142525"/>
                </a:lnTo>
                <a:cubicBezTo>
                  <a:pt x="32278" y="146310"/>
                  <a:pt x="26131" y="146310"/>
                  <a:pt x="22346" y="142525"/>
                </a:cubicBezTo>
                <a:cubicBezTo>
                  <a:pt x="18561" y="138740"/>
                  <a:pt x="18561" y="132593"/>
                  <a:pt x="22346" y="128808"/>
                </a:cubicBezTo>
                <a:lnTo>
                  <a:pt x="73639" y="77515"/>
                </a:lnTo>
                <a:lnTo>
                  <a:pt x="22376" y="26222"/>
                </a:lnTo>
                <a:cubicBezTo>
                  <a:pt x="18591" y="22437"/>
                  <a:pt x="18591" y="16290"/>
                  <a:pt x="22376" y="12505"/>
                </a:cubicBezTo>
                <a:cubicBezTo>
                  <a:pt x="26161" y="8720"/>
                  <a:pt x="32308" y="8720"/>
                  <a:pt x="36093" y="12505"/>
                </a:cubicBezTo>
                <a:lnTo>
                  <a:pt x="94229" y="70642"/>
                </a:ln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179335" y="3675134"/>
            <a:ext cx="1506005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链接到应用程序中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48174" y="4073783"/>
            <a:ext cx="96894" cy="155030"/>
          </a:xfrm>
          <a:custGeom>
            <a:avLst/>
            <a:gdLst/>
            <a:ahLst/>
            <a:cxnLst/>
            <a:rect l="l" t="t" r="r" b="b"/>
            <a:pathLst>
              <a:path w="96894" h="155030">
                <a:moveTo>
                  <a:pt x="94199" y="70672"/>
                </a:moveTo>
                <a:cubicBezTo>
                  <a:pt x="97984" y="74457"/>
                  <a:pt x="97984" y="80603"/>
                  <a:pt x="94199" y="84388"/>
                </a:cubicBezTo>
                <a:lnTo>
                  <a:pt x="36063" y="142525"/>
                </a:lnTo>
                <a:cubicBezTo>
                  <a:pt x="32278" y="146310"/>
                  <a:pt x="26131" y="146310"/>
                  <a:pt x="22346" y="142525"/>
                </a:cubicBezTo>
                <a:cubicBezTo>
                  <a:pt x="18561" y="138740"/>
                  <a:pt x="18561" y="132593"/>
                  <a:pt x="22346" y="128808"/>
                </a:cubicBezTo>
                <a:lnTo>
                  <a:pt x="73639" y="77515"/>
                </a:lnTo>
                <a:lnTo>
                  <a:pt x="22376" y="26222"/>
                </a:lnTo>
                <a:cubicBezTo>
                  <a:pt x="18591" y="22437"/>
                  <a:pt x="18591" y="16290"/>
                  <a:pt x="22376" y="12505"/>
                </a:cubicBezTo>
                <a:cubicBezTo>
                  <a:pt x="26161" y="8720"/>
                  <a:pt x="32308" y="8720"/>
                  <a:pt x="36093" y="12505"/>
                </a:cubicBezTo>
                <a:lnTo>
                  <a:pt x="94229" y="70642"/>
                </a:ln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179335" y="4029489"/>
            <a:ext cx="2214714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代表应用程序执行锁定协议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48174" y="4428137"/>
            <a:ext cx="96894" cy="155030"/>
          </a:xfrm>
          <a:custGeom>
            <a:avLst/>
            <a:gdLst/>
            <a:ahLst/>
            <a:cxnLst/>
            <a:rect l="l" t="t" r="r" b="b"/>
            <a:pathLst>
              <a:path w="96894" h="155030">
                <a:moveTo>
                  <a:pt x="94199" y="70672"/>
                </a:moveTo>
                <a:cubicBezTo>
                  <a:pt x="97984" y="74457"/>
                  <a:pt x="97984" y="80603"/>
                  <a:pt x="94199" y="84388"/>
                </a:cubicBezTo>
                <a:lnTo>
                  <a:pt x="36063" y="142525"/>
                </a:lnTo>
                <a:cubicBezTo>
                  <a:pt x="32278" y="146310"/>
                  <a:pt x="26131" y="146310"/>
                  <a:pt x="22346" y="142525"/>
                </a:cubicBezTo>
                <a:cubicBezTo>
                  <a:pt x="18561" y="138740"/>
                  <a:pt x="18561" y="132593"/>
                  <a:pt x="22346" y="128808"/>
                </a:cubicBezTo>
                <a:lnTo>
                  <a:pt x="73639" y="77515"/>
                </a:lnTo>
                <a:lnTo>
                  <a:pt x="22376" y="26222"/>
                </a:lnTo>
                <a:cubicBezTo>
                  <a:pt x="18591" y="22437"/>
                  <a:pt x="18591" y="16290"/>
                  <a:pt x="22376" y="12505"/>
                </a:cubicBezTo>
                <a:cubicBezTo>
                  <a:pt x="26161" y="8720"/>
                  <a:pt x="32308" y="8720"/>
                  <a:pt x="36093" y="12505"/>
                </a:cubicBezTo>
                <a:lnTo>
                  <a:pt x="94229" y="70642"/>
                </a:ln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179335" y="4383843"/>
            <a:ext cx="1151651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维护本地缓存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48174" y="4782491"/>
            <a:ext cx="96894" cy="155030"/>
          </a:xfrm>
          <a:custGeom>
            <a:avLst/>
            <a:gdLst/>
            <a:ahLst/>
            <a:cxnLst/>
            <a:rect l="l" t="t" r="r" b="b"/>
            <a:pathLst>
              <a:path w="96894" h="155030">
                <a:moveTo>
                  <a:pt x="94199" y="70672"/>
                </a:moveTo>
                <a:cubicBezTo>
                  <a:pt x="97984" y="74457"/>
                  <a:pt x="97984" y="80603"/>
                  <a:pt x="94199" y="84388"/>
                </a:cubicBezTo>
                <a:lnTo>
                  <a:pt x="36063" y="142525"/>
                </a:lnTo>
                <a:cubicBezTo>
                  <a:pt x="32278" y="146310"/>
                  <a:pt x="26131" y="146310"/>
                  <a:pt x="22346" y="142525"/>
                </a:cubicBezTo>
                <a:cubicBezTo>
                  <a:pt x="18561" y="138740"/>
                  <a:pt x="18561" y="132593"/>
                  <a:pt x="22346" y="128808"/>
                </a:cubicBezTo>
                <a:lnTo>
                  <a:pt x="73639" y="77515"/>
                </a:lnTo>
                <a:lnTo>
                  <a:pt x="22376" y="26222"/>
                </a:lnTo>
                <a:cubicBezTo>
                  <a:pt x="18591" y="22437"/>
                  <a:pt x="18591" y="16290"/>
                  <a:pt x="22376" y="12505"/>
                </a:cubicBezTo>
                <a:cubicBezTo>
                  <a:pt x="26161" y="8720"/>
                  <a:pt x="32308" y="8720"/>
                  <a:pt x="36093" y="12505"/>
                </a:cubicBezTo>
                <a:lnTo>
                  <a:pt x="94229" y="70642"/>
                </a:ln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179335" y="4738197"/>
            <a:ext cx="1860360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处理与主服务器的通信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97635" y="5634258"/>
            <a:ext cx="8648458" cy="2347597"/>
          </a:xfrm>
          <a:custGeom>
            <a:avLst/>
            <a:gdLst/>
            <a:ahLst/>
            <a:cxnLst/>
            <a:rect l="l" t="t" r="r" b="b"/>
            <a:pathLst>
              <a:path w="8648458" h="2347597">
                <a:moveTo>
                  <a:pt x="44294" y="0"/>
                </a:moveTo>
                <a:lnTo>
                  <a:pt x="8515584" y="0"/>
                </a:lnTo>
                <a:cubicBezTo>
                  <a:pt x="8588968" y="0"/>
                  <a:pt x="8648458" y="59490"/>
                  <a:pt x="8648458" y="132874"/>
                </a:cubicBezTo>
                <a:lnTo>
                  <a:pt x="8648458" y="2214723"/>
                </a:lnTo>
                <a:cubicBezTo>
                  <a:pt x="8648458" y="2288107"/>
                  <a:pt x="8588968" y="2347597"/>
                  <a:pt x="8515584" y="2347597"/>
                </a:cubicBezTo>
                <a:lnTo>
                  <a:pt x="44294" y="2347597"/>
                </a:lnTo>
                <a:cubicBezTo>
                  <a:pt x="19831" y="2347597"/>
                  <a:pt x="0" y="2327766"/>
                  <a:pt x="0" y="2303302"/>
                </a:cubicBezTo>
                <a:lnTo>
                  <a:pt x="0" y="44294"/>
                </a:lnTo>
                <a:cubicBezTo>
                  <a:pt x="0" y="19831"/>
                  <a:pt x="19831" y="0"/>
                  <a:pt x="44294" y="0"/>
                </a:cubicBezTo>
                <a:close/>
              </a:path>
            </a:pathLst>
          </a:custGeom>
          <a:solidFill>
            <a:srgbClr val="5A7D9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97635" y="5634258"/>
            <a:ext cx="44294" cy="2347597"/>
          </a:xfrm>
          <a:custGeom>
            <a:avLst/>
            <a:gdLst/>
            <a:ahLst/>
            <a:cxnLst/>
            <a:rect l="l" t="t" r="r" b="b"/>
            <a:pathLst>
              <a:path w="44294" h="2347597">
                <a:moveTo>
                  <a:pt x="44294" y="0"/>
                </a:moveTo>
                <a:lnTo>
                  <a:pt x="44294" y="0"/>
                </a:lnTo>
                <a:lnTo>
                  <a:pt x="44294" y="2347597"/>
                </a:lnTo>
                <a:lnTo>
                  <a:pt x="44294" y="2347597"/>
                </a:lnTo>
                <a:cubicBezTo>
                  <a:pt x="19831" y="2347597"/>
                  <a:pt x="0" y="2327766"/>
                  <a:pt x="0" y="2303302"/>
                </a:cubicBezTo>
                <a:lnTo>
                  <a:pt x="0" y="44294"/>
                </a:lnTo>
                <a:cubicBezTo>
                  <a:pt x="0" y="19831"/>
                  <a:pt x="19831" y="0"/>
                  <a:pt x="44294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96959" y="5811435"/>
            <a:ext cx="531531" cy="531531"/>
          </a:xfrm>
          <a:custGeom>
            <a:avLst/>
            <a:gdLst/>
            <a:ahLst/>
            <a:cxnLst/>
            <a:rect l="l" t="t" r="r" b="b"/>
            <a:pathLst>
              <a:path w="531531" h="531531">
                <a:moveTo>
                  <a:pt x="88590" y="0"/>
                </a:moveTo>
                <a:lnTo>
                  <a:pt x="442941" y="0"/>
                </a:lnTo>
                <a:cubicBezTo>
                  <a:pt x="491835" y="0"/>
                  <a:pt x="531531" y="39696"/>
                  <a:pt x="531531" y="88590"/>
                </a:cubicBezTo>
                <a:lnTo>
                  <a:pt x="531531" y="442941"/>
                </a:lnTo>
                <a:cubicBezTo>
                  <a:pt x="531531" y="491868"/>
                  <a:pt x="491868" y="531531"/>
                  <a:pt x="442941" y="531531"/>
                </a:cubicBezTo>
                <a:lnTo>
                  <a:pt x="88590" y="531531"/>
                </a:lnTo>
                <a:cubicBezTo>
                  <a:pt x="39663" y="531531"/>
                  <a:pt x="0" y="491868"/>
                  <a:pt x="0" y="442941"/>
                </a:cubicBezTo>
                <a:lnTo>
                  <a:pt x="0" y="88590"/>
                </a:lnTo>
                <a:cubicBezTo>
                  <a:pt x="0" y="39663"/>
                  <a:pt x="39663" y="0"/>
                  <a:pt x="88590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1065831" y="5966465"/>
            <a:ext cx="193787" cy="221471"/>
          </a:xfrm>
          <a:custGeom>
            <a:avLst/>
            <a:gdLst/>
            <a:ahLst/>
            <a:cxnLst/>
            <a:rect l="l" t="t" r="r" b="b"/>
            <a:pathLst>
              <a:path w="193787" h="221471">
                <a:moveTo>
                  <a:pt x="27684" y="13842"/>
                </a:moveTo>
                <a:cubicBezTo>
                  <a:pt x="12415" y="13842"/>
                  <a:pt x="0" y="26256"/>
                  <a:pt x="0" y="41526"/>
                </a:cubicBezTo>
                <a:lnTo>
                  <a:pt x="0" y="69210"/>
                </a:lnTo>
                <a:cubicBezTo>
                  <a:pt x="0" y="84479"/>
                  <a:pt x="12415" y="96894"/>
                  <a:pt x="27684" y="96894"/>
                </a:cubicBezTo>
                <a:lnTo>
                  <a:pt x="166104" y="96894"/>
                </a:lnTo>
                <a:cubicBezTo>
                  <a:pt x="181373" y="96894"/>
                  <a:pt x="193787" y="84479"/>
                  <a:pt x="193787" y="69210"/>
                </a:cubicBezTo>
                <a:lnTo>
                  <a:pt x="193787" y="41526"/>
                </a:lnTo>
                <a:cubicBezTo>
                  <a:pt x="193787" y="26256"/>
                  <a:pt x="181373" y="13842"/>
                  <a:pt x="166104" y="13842"/>
                </a:cubicBezTo>
                <a:lnTo>
                  <a:pt x="27684" y="13842"/>
                </a:lnTo>
                <a:close/>
                <a:moveTo>
                  <a:pt x="121117" y="44986"/>
                </a:moveTo>
                <a:cubicBezTo>
                  <a:pt x="126847" y="44986"/>
                  <a:pt x="131499" y="49638"/>
                  <a:pt x="131499" y="55368"/>
                </a:cubicBezTo>
                <a:cubicBezTo>
                  <a:pt x="131499" y="61098"/>
                  <a:pt x="126847" y="65749"/>
                  <a:pt x="121117" y="65749"/>
                </a:cubicBezTo>
                <a:cubicBezTo>
                  <a:pt x="115387" y="65749"/>
                  <a:pt x="110736" y="61098"/>
                  <a:pt x="110736" y="55368"/>
                </a:cubicBezTo>
                <a:cubicBezTo>
                  <a:pt x="110736" y="49638"/>
                  <a:pt x="115387" y="44986"/>
                  <a:pt x="121117" y="44986"/>
                </a:cubicBezTo>
                <a:close/>
                <a:moveTo>
                  <a:pt x="145341" y="55368"/>
                </a:moveTo>
                <a:cubicBezTo>
                  <a:pt x="145341" y="49638"/>
                  <a:pt x="149992" y="44986"/>
                  <a:pt x="155722" y="44986"/>
                </a:cubicBezTo>
                <a:cubicBezTo>
                  <a:pt x="161452" y="44986"/>
                  <a:pt x="166104" y="49638"/>
                  <a:pt x="166104" y="55368"/>
                </a:cubicBezTo>
                <a:cubicBezTo>
                  <a:pt x="166104" y="61098"/>
                  <a:pt x="161452" y="65749"/>
                  <a:pt x="155722" y="65749"/>
                </a:cubicBezTo>
                <a:cubicBezTo>
                  <a:pt x="149992" y="65749"/>
                  <a:pt x="145341" y="61098"/>
                  <a:pt x="145341" y="55368"/>
                </a:cubicBezTo>
                <a:close/>
                <a:moveTo>
                  <a:pt x="27684" y="124578"/>
                </a:moveTo>
                <a:cubicBezTo>
                  <a:pt x="12415" y="124578"/>
                  <a:pt x="0" y="136992"/>
                  <a:pt x="0" y="152262"/>
                </a:cubicBezTo>
                <a:lnTo>
                  <a:pt x="0" y="179946"/>
                </a:lnTo>
                <a:cubicBezTo>
                  <a:pt x="0" y="195215"/>
                  <a:pt x="12415" y="207629"/>
                  <a:pt x="27684" y="207629"/>
                </a:cubicBezTo>
                <a:lnTo>
                  <a:pt x="166104" y="207629"/>
                </a:lnTo>
                <a:cubicBezTo>
                  <a:pt x="181373" y="207629"/>
                  <a:pt x="193787" y="195215"/>
                  <a:pt x="193787" y="179946"/>
                </a:cubicBezTo>
                <a:lnTo>
                  <a:pt x="193787" y="152262"/>
                </a:lnTo>
                <a:cubicBezTo>
                  <a:pt x="193787" y="136992"/>
                  <a:pt x="181373" y="124578"/>
                  <a:pt x="166104" y="124578"/>
                </a:cubicBezTo>
                <a:lnTo>
                  <a:pt x="27684" y="124578"/>
                </a:lnTo>
                <a:close/>
                <a:moveTo>
                  <a:pt x="121117" y="155722"/>
                </a:moveTo>
                <a:cubicBezTo>
                  <a:pt x="126847" y="155722"/>
                  <a:pt x="131499" y="160374"/>
                  <a:pt x="131499" y="166104"/>
                </a:cubicBezTo>
                <a:cubicBezTo>
                  <a:pt x="131499" y="171833"/>
                  <a:pt x="126847" y="176485"/>
                  <a:pt x="121117" y="176485"/>
                </a:cubicBezTo>
                <a:cubicBezTo>
                  <a:pt x="115387" y="176485"/>
                  <a:pt x="110736" y="171833"/>
                  <a:pt x="110736" y="166104"/>
                </a:cubicBezTo>
                <a:cubicBezTo>
                  <a:pt x="110736" y="160374"/>
                  <a:pt x="115387" y="155722"/>
                  <a:pt x="121117" y="155722"/>
                </a:cubicBezTo>
                <a:close/>
                <a:moveTo>
                  <a:pt x="145341" y="166104"/>
                </a:moveTo>
                <a:cubicBezTo>
                  <a:pt x="145341" y="160374"/>
                  <a:pt x="149992" y="155722"/>
                  <a:pt x="155722" y="155722"/>
                </a:cubicBezTo>
                <a:cubicBezTo>
                  <a:pt x="161452" y="155722"/>
                  <a:pt x="166104" y="160374"/>
                  <a:pt x="166104" y="166104"/>
                </a:cubicBezTo>
                <a:cubicBezTo>
                  <a:pt x="166104" y="171833"/>
                  <a:pt x="161452" y="176485"/>
                  <a:pt x="155722" y="176485"/>
                </a:cubicBezTo>
                <a:cubicBezTo>
                  <a:pt x="149992" y="176485"/>
                  <a:pt x="145341" y="171833"/>
                  <a:pt x="145341" y="166104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561373" y="5922171"/>
            <a:ext cx="1871433" cy="31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44" dirty="0">
                <a:solidFill>
                  <a:srgbClr val="5A7D9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Chubby 主服务器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48174" y="6520143"/>
            <a:ext cx="96894" cy="155030"/>
          </a:xfrm>
          <a:custGeom>
            <a:avLst/>
            <a:gdLst/>
            <a:ahLst/>
            <a:cxnLst/>
            <a:rect l="l" t="t" r="r" b="b"/>
            <a:pathLst>
              <a:path w="96894" h="155030">
                <a:moveTo>
                  <a:pt x="94199" y="70672"/>
                </a:moveTo>
                <a:cubicBezTo>
                  <a:pt x="97984" y="74457"/>
                  <a:pt x="97984" y="80603"/>
                  <a:pt x="94199" y="84388"/>
                </a:cubicBezTo>
                <a:lnTo>
                  <a:pt x="36063" y="142525"/>
                </a:lnTo>
                <a:cubicBezTo>
                  <a:pt x="32278" y="146310"/>
                  <a:pt x="26131" y="146310"/>
                  <a:pt x="22346" y="142525"/>
                </a:cubicBezTo>
                <a:cubicBezTo>
                  <a:pt x="18561" y="138740"/>
                  <a:pt x="18561" y="132593"/>
                  <a:pt x="22346" y="128808"/>
                </a:cubicBezTo>
                <a:lnTo>
                  <a:pt x="73639" y="77515"/>
                </a:lnTo>
                <a:lnTo>
                  <a:pt x="22376" y="26222"/>
                </a:lnTo>
                <a:cubicBezTo>
                  <a:pt x="18591" y="22437"/>
                  <a:pt x="18591" y="16290"/>
                  <a:pt x="22376" y="12505"/>
                </a:cubicBezTo>
                <a:cubicBezTo>
                  <a:pt x="26161" y="8720"/>
                  <a:pt x="32308" y="8720"/>
                  <a:pt x="36093" y="12505"/>
                </a:cubicBezTo>
                <a:lnTo>
                  <a:pt x="94229" y="70642"/>
                </a:ln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179335" y="6475849"/>
            <a:ext cx="1860360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由多个副本组成的集群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48174" y="6874498"/>
            <a:ext cx="96894" cy="155030"/>
          </a:xfrm>
          <a:custGeom>
            <a:avLst/>
            <a:gdLst/>
            <a:ahLst/>
            <a:cxnLst/>
            <a:rect l="l" t="t" r="r" b="b"/>
            <a:pathLst>
              <a:path w="96894" h="155030">
                <a:moveTo>
                  <a:pt x="94199" y="70672"/>
                </a:moveTo>
                <a:cubicBezTo>
                  <a:pt x="97984" y="74457"/>
                  <a:pt x="97984" y="80603"/>
                  <a:pt x="94199" y="84388"/>
                </a:cubicBezTo>
                <a:lnTo>
                  <a:pt x="36063" y="142525"/>
                </a:lnTo>
                <a:cubicBezTo>
                  <a:pt x="32278" y="146310"/>
                  <a:pt x="26131" y="146310"/>
                  <a:pt x="22346" y="142525"/>
                </a:cubicBezTo>
                <a:cubicBezTo>
                  <a:pt x="18561" y="138740"/>
                  <a:pt x="18561" y="132593"/>
                  <a:pt x="22346" y="128808"/>
                </a:cubicBezTo>
                <a:lnTo>
                  <a:pt x="73639" y="77515"/>
                </a:lnTo>
                <a:lnTo>
                  <a:pt x="22376" y="26222"/>
                </a:lnTo>
                <a:cubicBezTo>
                  <a:pt x="18591" y="22437"/>
                  <a:pt x="18591" y="16290"/>
                  <a:pt x="22376" y="12505"/>
                </a:cubicBezTo>
                <a:cubicBezTo>
                  <a:pt x="26161" y="8720"/>
                  <a:pt x="32308" y="8720"/>
                  <a:pt x="36093" y="12505"/>
                </a:cubicBezTo>
                <a:lnTo>
                  <a:pt x="94229" y="70642"/>
                </a:ln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179335" y="6830203"/>
            <a:ext cx="1539226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通常包含 </a:t>
            </a:r>
            <a:r>
              <a:rPr lang="en-US" sz="1395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 个副本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48174" y="7228852"/>
            <a:ext cx="96894" cy="155030"/>
          </a:xfrm>
          <a:custGeom>
            <a:avLst/>
            <a:gdLst/>
            <a:ahLst/>
            <a:cxnLst/>
            <a:rect l="l" t="t" r="r" b="b"/>
            <a:pathLst>
              <a:path w="96894" h="155030">
                <a:moveTo>
                  <a:pt x="94199" y="70672"/>
                </a:moveTo>
                <a:cubicBezTo>
                  <a:pt x="97984" y="74457"/>
                  <a:pt x="97984" y="80603"/>
                  <a:pt x="94199" y="84388"/>
                </a:cubicBezTo>
                <a:lnTo>
                  <a:pt x="36063" y="142525"/>
                </a:lnTo>
                <a:cubicBezTo>
                  <a:pt x="32278" y="146310"/>
                  <a:pt x="26131" y="146310"/>
                  <a:pt x="22346" y="142525"/>
                </a:cubicBezTo>
                <a:cubicBezTo>
                  <a:pt x="18561" y="138740"/>
                  <a:pt x="18561" y="132593"/>
                  <a:pt x="22346" y="128808"/>
                </a:cubicBezTo>
                <a:lnTo>
                  <a:pt x="73639" y="77515"/>
                </a:lnTo>
                <a:lnTo>
                  <a:pt x="22376" y="26222"/>
                </a:lnTo>
                <a:cubicBezTo>
                  <a:pt x="18591" y="22437"/>
                  <a:pt x="18591" y="16290"/>
                  <a:pt x="22376" y="12505"/>
                </a:cubicBezTo>
                <a:cubicBezTo>
                  <a:pt x="26161" y="8720"/>
                  <a:pt x="32308" y="8720"/>
                  <a:pt x="36093" y="12505"/>
                </a:cubicBezTo>
                <a:lnTo>
                  <a:pt x="94229" y="70642"/>
                </a:ln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179335" y="7184557"/>
            <a:ext cx="2259008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 Paxos 协议选举主节点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48174" y="7583206"/>
            <a:ext cx="96894" cy="155030"/>
          </a:xfrm>
          <a:custGeom>
            <a:avLst/>
            <a:gdLst/>
            <a:ahLst/>
            <a:cxnLst/>
            <a:rect l="l" t="t" r="r" b="b"/>
            <a:pathLst>
              <a:path w="96894" h="155030">
                <a:moveTo>
                  <a:pt x="94199" y="70672"/>
                </a:moveTo>
                <a:cubicBezTo>
                  <a:pt x="97984" y="74457"/>
                  <a:pt x="97984" y="80603"/>
                  <a:pt x="94199" y="84388"/>
                </a:cubicBezTo>
                <a:lnTo>
                  <a:pt x="36063" y="142525"/>
                </a:lnTo>
                <a:cubicBezTo>
                  <a:pt x="32278" y="146310"/>
                  <a:pt x="26131" y="146310"/>
                  <a:pt x="22346" y="142525"/>
                </a:cubicBezTo>
                <a:cubicBezTo>
                  <a:pt x="18561" y="138740"/>
                  <a:pt x="18561" y="132593"/>
                  <a:pt x="22346" y="128808"/>
                </a:cubicBezTo>
                <a:lnTo>
                  <a:pt x="73639" y="77515"/>
                </a:lnTo>
                <a:lnTo>
                  <a:pt x="22376" y="26222"/>
                </a:lnTo>
                <a:cubicBezTo>
                  <a:pt x="18591" y="22437"/>
                  <a:pt x="18591" y="16290"/>
                  <a:pt x="22376" y="12505"/>
                </a:cubicBezTo>
                <a:cubicBezTo>
                  <a:pt x="26161" y="8720"/>
                  <a:pt x="32308" y="8720"/>
                  <a:pt x="36093" y="12505"/>
                </a:cubicBezTo>
                <a:lnTo>
                  <a:pt x="94229" y="70642"/>
                </a:ln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179335" y="7538912"/>
            <a:ext cx="1683183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处理所有客户端请求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806338" y="1372957"/>
            <a:ext cx="6001875" cy="2801613"/>
          </a:xfrm>
          <a:custGeom>
            <a:avLst/>
            <a:gdLst/>
            <a:ahLst/>
            <a:cxnLst/>
            <a:rect l="l" t="t" r="r" b="b"/>
            <a:pathLst>
              <a:path w="6001875" h="2801613">
                <a:moveTo>
                  <a:pt x="132881" y="0"/>
                </a:moveTo>
                <a:lnTo>
                  <a:pt x="5868994" y="0"/>
                </a:lnTo>
                <a:cubicBezTo>
                  <a:pt x="5942382" y="0"/>
                  <a:pt x="6001875" y="59493"/>
                  <a:pt x="6001875" y="132881"/>
                </a:cubicBezTo>
                <a:lnTo>
                  <a:pt x="6001875" y="2668733"/>
                </a:lnTo>
                <a:cubicBezTo>
                  <a:pt x="6001875" y="2742071"/>
                  <a:pt x="5942333" y="2801613"/>
                  <a:pt x="5868994" y="2801613"/>
                </a:cubicBezTo>
                <a:lnTo>
                  <a:pt x="132881" y="2801613"/>
                </a:lnTo>
                <a:cubicBezTo>
                  <a:pt x="59493" y="2801613"/>
                  <a:pt x="0" y="2742120"/>
                  <a:pt x="0" y="2668733"/>
                </a:cubicBezTo>
                <a:lnTo>
                  <a:pt x="0" y="132881"/>
                </a:lnTo>
                <a:cubicBezTo>
                  <a:pt x="0" y="59493"/>
                  <a:pt x="59493" y="0"/>
                  <a:pt x="132881" y="0"/>
                </a:cubicBezTo>
                <a:close/>
              </a:path>
            </a:pathLst>
          </a:custGeom>
          <a:gradFill flip="none" rotWithShape="1">
            <a:gsLst>
              <a:gs pos="0">
                <a:srgbClr val="E1AF63">
                  <a:alpha val="30000"/>
                </a:srgbClr>
              </a:gs>
              <a:gs pos="100000">
                <a:srgbClr val="E1AF63">
                  <a:alpha val="10000"/>
                </a:srgbClr>
              </a:gs>
            </a:gsLst>
            <a:lin ang="2700000" scaled="1"/>
          </a:gradFill>
          <a:ln w="12700">
            <a:solidFill>
              <a:srgbClr val="E1AF63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10083177" y="1622112"/>
            <a:ext cx="232545" cy="265766"/>
          </a:xfrm>
          <a:custGeom>
            <a:avLst/>
            <a:gdLst/>
            <a:ahLst/>
            <a:cxnLst/>
            <a:rect l="l" t="t" r="r" b="b"/>
            <a:pathLst>
              <a:path w="232545" h="265766">
                <a:moveTo>
                  <a:pt x="66441" y="-16610"/>
                </a:moveTo>
                <a:cubicBezTo>
                  <a:pt x="75629" y="-16610"/>
                  <a:pt x="83052" y="-9188"/>
                  <a:pt x="83052" y="0"/>
                </a:cubicBezTo>
                <a:lnTo>
                  <a:pt x="83052" y="49831"/>
                </a:lnTo>
                <a:lnTo>
                  <a:pt x="149493" y="49831"/>
                </a:lnTo>
                <a:lnTo>
                  <a:pt x="149493" y="0"/>
                </a:lnTo>
                <a:cubicBezTo>
                  <a:pt x="149493" y="-9188"/>
                  <a:pt x="156916" y="-16610"/>
                  <a:pt x="166104" y="-16610"/>
                </a:cubicBezTo>
                <a:cubicBezTo>
                  <a:pt x="175291" y="-16610"/>
                  <a:pt x="182714" y="-9188"/>
                  <a:pt x="182714" y="0"/>
                </a:cubicBezTo>
                <a:lnTo>
                  <a:pt x="182714" y="49831"/>
                </a:lnTo>
                <a:lnTo>
                  <a:pt x="215935" y="49831"/>
                </a:lnTo>
                <a:cubicBezTo>
                  <a:pt x="225122" y="49831"/>
                  <a:pt x="232545" y="57254"/>
                  <a:pt x="232545" y="66441"/>
                </a:cubicBezTo>
                <a:cubicBezTo>
                  <a:pt x="232545" y="75629"/>
                  <a:pt x="225122" y="83052"/>
                  <a:pt x="215935" y="83052"/>
                </a:cubicBezTo>
                <a:lnTo>
                  <a:pt x="215935" y="116272"/>
                </a:lnTo>
                <a:cubicBezTo>
                  <a:pt x="215935" y="165636"/>
                  <a:pt x="180015" y="206643"/>
                  <a:pt x="132883" y="214533"/>
                </a:cubicBezTo>
                <a:lnTo>
                  <a:pt x="132883" y="249155"/>
                </a:lnTo>
                <a:cubicBezTo>
                  <a:pt x="132883" y="258343"/>
                  <a:pt x="125460" y="265766"/>
                  <a:pt x="116272" y="265766"/>
                </a:cubicBezTo>
                <a:cubicBezTo>
                  <a:pt x="107085" y="265766"/>
                  <a:pt x="99662" y="258343"/>
                  <a:pt x="99662" y="249155"/>
                </a:cubicBezTo>
                <a:lnTo>
                  <a:pt x="99662" y="214533"/>
                </a:lnTo>
                <a:cubicBezTo>
                  <a:pt x="52530" y="206643"/>
                  <a:pt x="16610" y="165636"/>
                  <a:pt x="16610" y="116272"/>
                </a:cubicBezTo>
                <a:lnTo>
                  <a:pt x="16610" y="83052"/>
                </a:lnTo>
                <a:cubicBezTo>
                  <a:pt x="7423" y="83052"/>
                  <a:pt x="0" y="75629"/>
                  <a:pt x="0" y="66441"/>
                </a:cubicBezTo>
                <a:cubicBezTo>
                  <a:pt x="0" y="57254"/>
                  <a:pt x="7423" y="49831"/>
                  <a:pt x="16610" y="49831"/>
                </a:cubicBezTo>
                <a:lnTo>
                  <a:pt x="49831" y="49831"/>
                </a:lnTo>
                <a:lnTo>
                  <a:pt x="49831" y="0"/>
                </a:lnTo>
                <a:cubicBezTo>
                  <a:pt x="49831" y="-9188"/>
                  <a:pt x="57254" y="-16610"/>
                  <a:pt x="66441" y="-1661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0365553" y="1599965"/>
            <a:ext cx="5326387" cy="31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44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客户端发现机制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033346" y="2087202"/>
            <a:ext cx="354354" cy="354354"/>
          </a:xfrm>
          <a:custGeom>
            <a:avLst/>
            <a:gdLst/>
            <a:ahLst/>
            <a:cxnLst/>
            <a:rect l="l" t="t" r="r" b="b"/>
            <a:pathLst>
              <a:path w="354354" h="354354">
                <a:moveTo>
                  <a:pt x="88589" y="0"/>
                </a:moveTo>
                <a:lnTo>
                  <a:pt x="265766" y="0"/>
                </a:lnTo>
                <a:cubicBezTo>
                  <a:pt x="314692" y="0"/>
                  <a:pt x="354354" y="39662"/>
                  <a:pt x="354354" y="88589"/>
                </a:cubicBezTo>
                <a:lnTo>
                  <a:pt x="354354" y="265766"/>
                </a:lnTo>
                <a:cubicBezTo>
                  <a:pt x="354354" y="314692"/>
                  <a:pt x="314692" y="354354"/>
                  <a:pt x="265766" y="354354"/>
                </a:cubicBezTo>
                <a:lnTo>
                  <a:pt x="88589" y="354354"/>
                </a:lnTo>
                <a:cubicBezTo>
                  <a:pt x="39662" y="354354"/>
                  <a:pt x="0" y="314692"/>
                  <a:pt x="0" y="265766"/>
                </a:cubicBezTo>
                <a:lnTo>
                  <a:pt x="0" y="88589"/>
                </a:lnTo>
                <a:cubicBezTo>
                  <a:pt x="0" y="39662"/>
                  <a:pt x="39662" y="0"/>
                  <a:pt x="88589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0175659" y="2131496"/>
            <a:ext cx="155030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5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520583" y="2087202"/>
            <a:ext cx="2048610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5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DNS 查询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520583" y="2397262"/>
            <a:ext cx="2037537" cy="221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客户端使用 DNS 查找主节点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033346" y="2751616"/>
            <a:ext cx="354354" cy="354354"/>
          </a:xfrm>
          <a:custGeom>
            <a:avLst/>
            <a:gdLst/>
            <a:ahLst/>
            <a:cxnLst/>
            <a:rect l="l" t="t" r="r" b="b"/>
            <a:pathLst>
              <a:path w="354354" h="354354">
                <a:moveTo>
                  <a:pt x="88589" y="0"/>
                </a:moveTo>
                <a:lnTo>
                  <a:pt x="265766" y="0"/>
                </a:lnTo>
                <a:cubicBezTo>
                  <a:pt x="314692" y="0"/>
                  <a:pt x="354354" y="39662"/>
                  <a:pt x="354354" y="88589"/>
                </a:cubicBezTo>
                <a:lnTo>
                  <a:pt x="354354" y="265766"/>
                </a:lnTo>
                <a:cubicBezTo>
                  <a:pt x="354354" y="314692"/>
                  <a:pt x="314692" y="354354"/>
                  <a:pt x="265766" y="354354"/>
                </a:cubicBezTo>
                <a:lnTo>
                  <a:pt x="88589" y="354354"/>
                </a:lnTo>
                <a:cubicBezTo>
                  <a:pt x="39662" y="354354"/>
                  <a:pt x="0" y="314692"/>
                  <a:pt x="0" y="265766"/>
                </a:cubicBezTo>
                <a:lnTo>
                  <a:pt x="0" y="88589"/>
                </a:lnTo>
                <a:cubicBezTo>
                  <a:pt x="0" y="39662"/>
                  <a:pt x="39662" y="0"/>
                  <a:pt x="88589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0160692" y="2795910"/>
            <a:ext cx="188251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5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520583" y="2751616"/>
            <a:ext cx="2414038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5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重定向机制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520583" y="3061676"/>
            <a:ext cx="2402965" cy="221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副本将客户端重定向到当前主节点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033346" y="3416030"/>
            <a:ext cx="354354" cy="354354"/>
          </a:xfrm>
          <a:custGeom>
            <a:avLst/>
            <a:gdLst/>
            <a:ahLst/>
            <a:cxnLst/>
            <a:rect l="l" t="t" r="r" b="b"/>
            <a:pathLst>
              <a:path w="354354" h="354354">
                <a:moveTo>
                  <a:pt x="88589" y="0"/>
                </a:moveTo>
                <a:lnTo>
                  <a:pt x="265766" y="0"/>
                </a:lnTo>
                <a:cubicBezTo>
                  <a:pt x="314692" y="0"/>
                  <a:pt x="354354" y="39662"/>
                  <a:pt x="354354" y="88589"/>
                </a:cubicBezTo>
                <a:lnTo>
                  <a:pt x="354354" y="265766"/>
                </a:lnTo>
                <a:cubicBezTo>
                  <a:pt x="354354" y="314692"/>
                  <a:pt x="314692" y="354354"/>
                  <a:pt x="265766" y="354354"/>
                </a:cubicBezTo>
                <a:lnTo>
                  <a:pt x="88589" y="354354"/>
                </a:lnTo>
                <a:cubicBezTo>
                  <a:pt x="39662" y="354354"/>
                  <a:pt x="0" y="314692"/>
                  <a:pt x="0" y="265766"/>
                </a:cubicBezTo>
                <a:lnTo>
                  <a:pt x="0" y="88589"/>
                </a:lnTo>
                <a:cubicBezTo>
                  <a:pt x="0" y="39662"/>
                  <a:pt x="39662" y="0"/>
                  <a:pt x="88589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0158356" y="3460324"/>
            <a:ext cx="188251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5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520583" y="3416030"/>
            <a:ext cx="1948948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5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请求处理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520583" y="3726090"/>
            <a:ext cx="1937875" cy="221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所有请求发送到当前主节点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806338" y="4362820"/>
            <a:ext cx="6001875" cy="4598300"/>
          </a:xfrm>
          <a:custGeom>
            <a:avLst/>
            <a:gdLst/>
            <a:ahLst/>
            <a:cxnLst/>
            <a:rect l="l" t="t" r="r" b="b"/>
            <a:pathLst>
              <a:path w="6001875" h="5503564">
                <a:moveTo>
                  <a:pt x="132856" y="0"/>
                </a:moveTo>
                <a:lnTo>
                  <a:pt x="5869019" y="0"/>
                </a:lnTo>
                <a:cubicBezTo>
                  <a:pt x="5942393" y="0"/>
                  <a:pt x="6001875" y="59482"/>
                  <a:pt x="6001875" y="132856"/>
                </a:cubicBezTo>
                <a:lnTo>
                  <a:pt x="6001875" y="5370708"/>
                </a:lnTo>
                <a:cubicBezTo>
                  <a:pt x="6001875" y="5444082"/>
                  <a:pt x="5942393" y="5503564"/>
                  <a:pt x="5869019" y="5503564"/>
                </a:cubicBezTo>
                <a:lnTo>
                  <a:pt x="132856" y="5503564"/>
                </a:lnTo>
                <a:cubicBezTo>
                  <a:pt x="59482" y="5503564"/>
                  <a:pt x="0" y="5444082"/>
                  <a:pt x="0" y="5370708"/>
                </a:cubicBezTo>
                <a:lnTo>
                  <a:pt x="0" y="132856"/>
                </a:lnTo>
                <a:cubicBezTo>
                  <a:pt x="0" y="59482"/>
                  <a:pt x="59482" y="0"/>
                  <a:pt x="132856" y="0"/>
                </a:cubicBezTo>
                <a:close/>
              </a:path>
            </a:pathLst>
          </a:custGeom>
          <a:solidFill>
            <a:srgbClr val="5A7D9A">
              <a:alpha val="10196"/>
            </a:srgbClr>
          </a:solidFill>
          <a:ln w="12700">
            <a:solidFill>
              <a:srgbClr val="5A7D9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10066567" y="4611976"/>
            <a:ext cx="265766" cy="265766"/>
          </a:xfrm>
          <a:custGeom>
            <a:avLst/>
            <a:gdLst/>
            <a:ahLst/>
            <a:cxnLst/>
            <a:rect l="l" t="t" r="r" b="b"/>
            <a:pathLst>
              <a:path w="265766" h="265766">
                <a:moveTo>
                  <a:pt x="16610" y="16610"/>
                </a:moveTo>
                <a:cubicBezTo>
                  <a:pt x="25798" y="16610"/>
                  <a:pt x="33221" y="24033"/>
                  <a:pt x="33221" y="33221"/>
                </a:cubicBezTo>
                <a:lnTo>
                  <a:pt x="33221" y="207629"/>
                </a:lnTo>
                <a:cubicBezTo>
                  <a:pt x="33221" y="212197"/>
                  <a:pt x="36958" y="215935"/>
                  <a:pt x="41526" y="215935"/>
                </a:cubicBezTo>
                <a:lnTo>
                  <a:pt x="249155" y="215935"/>
                </a:lnTo>
                <a:cubicBezTo>
                  <a:pt x="258343" y="215935"/>
                  <a:pt x="265766" y="223357"/>
                  <a:pt x="265766" y="232545"/>
                </a:cubicBezTo>
                <a:cubicBezTo>
                  <a:pt x="265766" y="241733"/>
                  <a:pt x="258343" y="249155"/>
                  <a:pt x="249155" y="249155"/>
                </a:cubicBezTo>
                <a:lnTo>
                  <a:pt x="41526" y="249155"/>
                </a:lnTo>
                <a:cubicBezTo>
                  <a:pt x="18583" y="249155"/>
                  <a:pt x="0" y="230572"/>
                  <a:pt x="0" y="207629"/>
                </a:cubicBezTo>
                <a:lnTo>
                  <a:pt x="0" y="33221"/>
                </a:lnTo>
                <a:cubicBezTo>
                  <a:pt x="0" y="24033"/>
                  <a:pt x="7423" y="16610"/>
                  <a:pt x="16610" y="16610"/>
                </a:cubicBezTo>
                <a:close/>
                <a:moveTo>
                  <a:pt x="66441" y="49831"/>
                </a:moveTo>
                <a:cubicBezTo>
                  <a:pt x="66441" y="40643"/>
                  <a:pt x="73864" y="33221"/>
                  <a:pt x="83052" y="33221"/>
                </a:cubicBezTo>
                <a:lnTo>
                  <a:pt x="182714" y="33221"/>
                </a:lnTo>
                <a:cubicBezTo>
                  <a:pt x="191901" y="33221"/>
                  <a:pt x="199324" y="40643"/>
                  <a:pt x="199324" y="49831"/>
                </a:cubicBezTo>
                <a:cubicBezTo>
                  <a:pt x="199324" y="59019"/>
                  <a:pt x="191901" y="66441"/>
                  <a:pt x="182714" y="66441"/>
                </a:cubicBezTo>
                <a:lnTo>
                  <a:pt x="83052" y="66441"/>
                </a:lnTo>
                <a:cubicBezTo>
                  <a:pt x="73864" y="66441"/>
                  <a:pt x="66441" y="59019"/>
                  <a:pt x="66441" y="49831"/>
                </a:cubicBezTo>
                <a:close/>
                <a:moveTo>
                  <a:pt x="83052" y="91357"/>
                </a:moveTo>
                <a:lnTo>
                  <a:pt x="149493" y="91357"/>
                </a:lnTo>
                <a:cubicBezTo>
                  <a:pt x="158681" y="91357"/>
                  <a:pt x="166104" y="98780"/>
                  <a:pt x="166104" y="107967"/>
                </a:cubicBezTo>
                <a:cubicBezTo>
                  <a:pt x="166104" y="117155"/>
                  <a:pt x="158681" y="124578"/>
                  <a:pt x="149493" y="124578"/>
                </a:cubicBezTo>
                <a:lnTo>
                  <a:pt x="83052" y="124578"/>
                </a:lnTo>
                <a:cubicBezTo>
                  <a:pt x="73864" y="124578"/>
                  <a:pt x="66441" y="117155"/>
                  <a:pt x="66441" y="107967"/>
                </a:cubicBezTo>
                <a:cubicBezTo>
                  <a:pt x="66441" y="98780"/>
                  <a:pt x="73864" y="91357"/>
                  <a:pt x="83052" y="91357"/>
                </a:cubicBezTo>
                <a:close/>
                <a:moveTo>
                  <a:pt x="83052" y="149493"/>
                </a:moveTo>
                <a:lnTo>
                  <a:pt x="215935" y="149493"/>
                </a:lnTo>
                <a:cubicBezTo>
                  <a:pt x="225122" y="149493"/>
                  <a:pt x="232545" y="156916"/>
                  <a:pt x="232545" y="166104"/>
                </a:cubicBezTo>
                <a:cubicBezTo>
                  <a:pt x="232545" y="175291"/>
                  <a:pt x="225122" y="182714"/>
                  <a:pt x="215935" y="182714"/>
                </a:cubicBezTo>
                <a:lnTo>
                  <a:pt x="83052" y="182714"/>
                </a:lnTo>
                <a:cubicBezTo>
                  <a:pt x="73864" y="182714"/>
                  <a:pt x="66441" y="175291"/>
                  <a:pt x="66441" y="166104"/>
                </a:cubicBezTo>
                <a:cubicBezTo>
                  <a:pt x="66441" y="156916"/>
                  <a:pt x="73864" y="149493"/>
                  <a:pt x="83052" y="149493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0365553" y="4589828"/>
            <a:ext cx="5326387" cy="31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44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典型配置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038883" y="5082602"/>
            <a:ext cx="5536785" cy="1118431"/>
          </a:xfrm>
          <a:custGeom>
            <a:avLst/>
            <a:gdLst/>
            <a:ahLst/>
            <a:cxnLst/>
            <a:rect l="l" t="t" r="r" b="b"/>
            <a:pathLst>
              <a:path w="5536785" h="1118431">
                <a:moveTo>
                  <a:pt x="88591" y="0"/>
                </a:moveTo>
                <a:lnTo>
                  <a:pt x="5448194" y="0"/>
                </a:lnTo>
                <a:cubicBezTo>
                  <a:pt x="5497121" y="0"/>
                  <a:pt x="5536785" y="39663"/>
                  <a:pt x="5536785" y="88591"/>
                </a:cubicBezTo>
                <a:lnTo>
                  <a:pt x="5536785" y="1029840"/>
                </a:lnTo>
                <a:cubicBezTo>
                  <a:pt x="5536785" y="1078767"/>
                  <a:pt x="5497121" y="1118431"/>
                  <a:pt x="5448194" y="1118431"/>
                </a:cubicBezTo>
                <a:lnTo>
                  <a:pt x="88591" y="1118431"/>
                </a:lnTo>
                <a:cubicBezTo>
                  <a:pt x="39663" y="1118431"/>
                  <a:pt x="0" y="1078767"/>
                  <a:pt x="0" y="1029840"/>
                </a:cubicBezTo>
                <a:lnTo>
                  <a:pt x="0" y="88591"/>
                </a:lnTo>
                <a:cubicBezTo>
                  <a:pt x="0" y="39696"/>
                  <a:pt x="39696" y="0"/>
                  <a:pt x="8859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2700">
            <a:solidFill>
              <a:srgbClr val="4DB3A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0121935" y="5265316"/>
            <a:ext cx="5370681" cy="442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139" dirty="0">
                <a:solidFill>
                  <a:srgbClr val="4DB3A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5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182839" y="5796848"/>
            <a:ext cx="5248872" cy="221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2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服务器副本数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0038883" y="6344989"/>
            <a:ext cx="5536785" cy="1118431"/>
          </a:xfrm>
          <a:custGeom>
            <a:avLst/>
            <a:gdLst/>
            <a:ahLst/>
            <a:cxnLst/>
            <a:rect l="l" t="t" r="r" b="b"/>
            <a:pathLst>
              <a:path w="5536785" h="1118431">
                <a:moveTo>
                  <a:pt x="88591" y="0"/>
                </a:moveTo>
                <a:lnTo>
                  <a:pt x="5448194" y="0"/>
                </a:lnTo>
                <a:cubicBezTo>
                  <a:pt x="5497121" y="0"/>
                  <a:pt x="5536785" y="39663"/>
                  <a:pt x="5536785" y="88591"/>
                </a:cubicBezTo>
                <a:lnTo>
                  <a:pt x="5536785" y="1029840"/>
                </a:lnTo>
                <a:cubicBezTo>
                  <a:pt x="5536785" y="1078767"/>
                  <a:pt x="5497121" y="1118431"/>
                  <a:pt x="5448194" y="1118431"/>
                </a:cubicBezTo>
                <a:lnTo>
                  <a:pt x="88591" y="1118431"/>
                </a:lnTo>
                <a:cubicBezTo>
                  <a:pt x="39663" y="1118431"/>
                  <a:pt x="0" y="1078767"/>
                  <a:pt x="0" y="1029840"/>
                </a:cubicBezTo>
                <a:lnTo>
                  <a:pt x="0" y="88591"/>
                </a:lnTo>
                <a:cubicBezTo>
                  <a:pt x="0" y="39696"/>
                  <a:pt x="39696" y="0"/>
                  <a:pt x="8859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2700">
            <a:solidFill>
              <a:srgbClr val="E1AF6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10121935" y="6527703"/>
            <a:ext cx="5370681" cy="442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139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3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182839" y="7059234"/>
            <a:ext cx="5248872" cy="221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2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最小多数派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0038883" y="7607376"/>
            <a:ext cx="5536785" cy="1118431"/>
          </a:xfrm>
          <a:custGeom>
            <a:avLst/>
            <a:gdLst/>
            <a:ahLst/>
            <a:cxnLst/>
            <a:rect l="l" t="t" r="r" b="b"/>
            <a:pathLst>
              <a:path w="5536785" h="1118431">
                <a:moveTo>
                  <a:pt x="88591" y="0"/>
                </a:moveTo>
                <a:lnTo>
                  <a:pt x="5448194" y="0"/>
                </a:lnTo>
                <a:cubicBezTo>
                  <a:pt x="5497121" y="0"/>
                  <a:pt x="5536785" y="39663"/>
                  <a:pt x="5536785" y="88591"/>
                </a:cubicBezTo>
                <a:lnTo>
                  <a:pt x="5536785" y="1029840"/>
                </a:lnTo>
                <a:cubicBezTo>
                  <a:pt x="5536785" y="1078767"/>
                  <a:pt x="5497121" y="1118431"/>
                  <a:pt x="5448194" y="1118431"/>
                </a:cubicBezTo>
                <a:lnTo>
                  <a:pt x="88591" y="1118431"/>
                </a:lnTo>
                <a:cubicBezTo>
                  <a:pt x="39663" y="1118431"/>
                  <a:pt x="0" y="1078767"/>
                  <a:pt x="0" y="1029840"/>
                </a:cubicBezTo>
                <a:lnTo>
                  <a:pt x="0" y="88591"/>
                </a:lnTo>
                <a:cubicBezTo>
                  <a:pt x="0" y="39696"/>
                  <a:pt x="39696" y="0"/>
                  <a:pt x="8859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2700">
            <a:solidFill>
              <a:srgbClr val="5A7D9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10121935" y="7790090"/>
            <a:ext cx="5370681" cy="442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139" dirty="0">
                <a:solidFill>
                  <a:srgbClr val="5A7D9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2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182839" y="8321621"/>
            <a:ext cx="5248872" cy="221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21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可容忍故障数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6D242C-4914-AD32-E51F-4618358C6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281731A-CD2D-B67F-2613-92AD65939B2A}"/>
              </a:ext>
            </a:extLst>
          </p:cNvPr>
          <p:cNvSpPr/>
          <p:nvPr/>
        </p:nvSpPr>
        <p:spPr>
          <a:xfrm>
            <a:off x="442943" y="442943"/>
            <a:ext cx="15458703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1" i="0" u="none" strike="noStrike" kern="0" cap="none" spc="70" normalizeH="0" baseline="0" noProof="0" dirty="0">
                <a:ln>
                  <a:noFill/>
                </a:ln>
                <a:solidFill>
                  <a:srgbClr val="E1AF63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SYSTEM ARCHITECTURE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EFFD5ED-EE64-D58C-097D-11E309F84BDC}"/>
              </a:ext>
            </a:extLst>
          </p:cNvPr>
          <p:cNvSpPr/>
          <p:nvPr/>
        </p:nvSpPr>
        <p:spPr>
          <a:xfrm>
            <a:off x="442943" y="797297"/>
            <a:ext cx="15635880" cy="53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85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整体架构：客户端-服务器模式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9" name="Image 2" descr="preencoded.png">
            <a:extLst>
              <a:ext uri="{FF2B5EF4-FFF2-40B4-BE49-F238E27FC236}">
                <a16:creationId xmlns:a16="http://schemas.microsoft.com/office/drawing/2014/main" id="{775C03E1-3DB1-1E1F-78F6-411DCE5E3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1" y="2582672"/>
            <a:ext cx="317500" cy="254000"/>
          </a:xfrm>
          <a:prstGeom prst="rect">
            <a:avLst/>
          </a:prstGeom>
        </p:spPr>
      </p:pic>
      <p:pic>
        <p:nvPicPr>
          <p:cNvPr id="60" name="Image 3" descr="preencoded.png">
            <a:extLst>
              <a:ext uri="{FF2B5EF4-FFF2-40B4-BE49-F238E27FC236}">
                <a16:creationId xmlns:a16="http://schemas.microsoft.com/office/drawing/2014/main" id="{657ED8B0-FDED-9DE9-D955-E1DA9052D3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767072"/>
            <a:ext cx="254000" cy="254000"/>
          </a:xfrm>
          <a:prstGeom prst="rect">
            <a:avLst/>
          </a:prstGeom>
        </p:spPr>
      </p:pic>
      <p:pic>
        <p:nvPicPr>
          <p:cNvPr id="61" name="Image 4" descr="preencoded.png">
            <a:extLst>
              <a:ext uri="{FF2B5EF4-FFF2-40B4-BE49-F238E27FC236}">
                <a16:creationId xmlns:a16="http://schemas.microsoft.com/office/drawing/2014/main" id="{9DB4AED2-9C3B-9F46-45FB-F787C13DD1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7053072"/>
            <a:ext cx="254000" cy="254000"/>
          </a:xfrm>
          <a:prstGeom prst="rect">
            <a:avLst/>
          </a:prstGeom>
        </p:spPr>
      </p:pic>
      <p:sp>
        <p:nvSpPr>
          <p:cNvPr id="62" name="Text 1">
            <a:extLst>
              <a:ext uri="{FF2B5EF4-FFF2-40B4-BE49-F238E27FC236}">
                <a16:creationId xmlns:a16="http://schemas.microsoft.com/office/drawing/2014/main" id="{E3549708-4192-91AB-A62D-CD10366B36B5}"/>
              </a:ext>
            </a:extLst>
          </p:cNvPr>
          <p:cNvSpPr/>
          <p:nvPr/>
        </p:nvSpPr>
        <p:spPr>
          <a:xfrm>
            <a:off x="609600" y="1922273"/>
            <a:ext cx="7823200" cy="380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en-US" sz="2195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系统结构组成</a:t>
            </a:r>
            <a:endParaRPr lang="en-US" sz="2195" dirty="0"/>
          </a:p>
        </p:txBody>
      </p:sp>
      <p:sp>
        <p:nvSpPr>
          <p:cNvPr id="63" name="Text 2">
            <a:extLst>
              <a:ext uri="{FF2B5EF4-FFF2-40B4-BE49-F238E27FC236}">
                <a16:creationId xmlns:a16="http://schemas.microsoft.com/office/drawing/2014/main" id="{C4839E4D-964B-C1CF-A540-CFCA89FDA010}"/>
              </a:ext>
            </a:extLst>
          </p:cNvPr>
          <p:cNvSpPr/>
          <p:nvPr/>
        </p:nvSpPr>
        <p:spPr>
          <a:xfrm>
            <a:off x="1028700" y="2531872"/>
            <a:ext cx="838200" cy="330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184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</a:t>
            </a:r>
            <a:endParaRPr lang="en-US" sz="1840" dirty="0">
              <a:solidFill>
                <a:schemeClr val="bg1"/>
              </a:solidFill>
            </a:endParaRPr>
          </a:p>
        </p:txBody>
      </p:sp>
      <p:sp>
        <p:nvSpPr>
          <p:cNvPr id="64" name="Text 3">
            <a:extLst>
              <a:ext uri="{FF2B5EF4-FFF2-40B4-BE49-F238E27FC236}">
                <a16:creationId xmlns:a16="http://schemas.microsoft.com/office/drawing/2014/main" id="{869EDE2E-5021-C3E7-AC14-ACE86C31CAFC}"/>
              </a:ext>
            </a:extLst>
          </p:cNvPr>
          <p:cNvSpPr/>
          <p:nvPr/>
        </p:nvSpPr>
        <p:spPr>
          <a:xfrm>
            <a:off x="762000" y="2989072"/>
            <a:ext cx="7655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2400"/>
              </a:lnSpc>
              <a:buSzPct val="100000"/>
              <a:buChar char="•"/>
            </a:pPr>
            <a:r>
              <a:rPr 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r>
              <a:rPr lang="en-US" sz="1493" dirty="0">
                <a:solidFill>
                  <a:srgbClr val="FFA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远程过程调用(RPC)</a:t>
            </a:r>
            <a:r>
              <a:rPr 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与服务端通信</a:t>
            </a:r>
            <a:endParaRPr lang="en-US" sz="1493" dirty="0">
              <a:solidFill>
                <a:schemeClr val="bg1"/>
              </a:solidFill>
            </a:endParaRPr>
          </a:p>
        </p:txBody>
      </p:sp>
      <p:sp>
        <p:nvSpPr>
          <p:cNvPr id="65" name="Text 4">
            <a:extLst>
              <a:ext uri="{FF2B5EF4-FFF2-40B4-BE49-F238E27FC236}">
                <a16:creationId xmlns:a16="http://schemas.microsoft.com/office/drawing/2014/main" id="{50ED16DA-ABBD-A27E-ABE2-FC6F3B1C97C4}"/>
              </a:ext>
            </a:extLst>
          </p:cNvPr>
          <p:cNvSpPr/>
          <p:nvPr/>
        </p:nvSpPr>
        <p:spPr>
          <a:xfrm>
            <a:off x="762000" y="3395473"/>
            <a:ext cx="6959600" cy="895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457189" indent="-457189">
              <a:lnSpc>
                <a:spcPts val="2400"/>
              </a:lnSpc>
              <a:buSzPct val="100000"/>
              <a:buChar char="•"/>
            </a:pPr>
            <a:r>
              <a:rPr lang="zh-CN" alt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</a:t>
            </a:r>
            <a:r>
              <a:rPr 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 </a:t>
            </a:r>
            <a:r>
              <a:rPr lang="zh-CN" alt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服务器的过程：</a:t>
            </a:r>
          </a:p>
          <a:p>
            <a:pPr marL="1066773" lvl="1" indent="-457189">
              <a:lnSpc>
                <a:spcPts val="2400"/>
              </a:lnSpc>
              <a:buSzPct val="100000"/>
              <a:buFont typeface="+mj-lt"/>
              <a:buAutoNum type="arabicPeriod"/>
            </a:pPr>
            <a:r>
              <a:rPr lang="zh-CN" alt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 </a:t>
            </a:r>
            <a:r>
              <a:rPr 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DNS </a:t>
            </a:r>
            <a:r>
              <a:rPr lang="zh-CN" alt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查询服务器列表</a:t>
            </a:r>
          </a:p>
          <a:p>
            <a:pPr marL="1066773" lvl="1" indent="-457189">
              <a:lnSpc>
                <a:spcPts val="2400"/>
              </a:lnSpc>
              <a:buSzPct val="100000"/>
              <a:buFont typeface="+mj-lt"/>
              <a:buAutoNum type="arabicPeriod"/>
            </a:pPr>
            <a:r>
              <a:rPr lang="zh-CN" alt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逐一向服务器发起请求确认 </a:t>
            </a:r>
            <a:r>
              <a:rPr 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 </a:t>
            </a:r>
            <a:r>
              <a:rPr lang="zh-CN" alt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</a:t>
            </a:r>
            <a:endParaRPr lang="en-US" sz="1493" dirty="0">
              <a:solidFill>
                <a:schemeClr val="bg1"/>
              </a:solidFill>
            </a:endParaRPr>
          </a:p>
        </p:txBody>
      </p:sp>
      <p:sp>
        <p:nvSpPr>
          <p:cNvPr id="66" name="Text 5">
            <a:extLst>
              <a:ext uri="{FF2B5EF4-FFF2-40B4-BE49-F238E27FC236}">
                <a16:creationId xmlns:a16="http://schemas.microsoft.com/office/drawing/2014/main" id="{2A374550-B9FA-B4E6-1AEE-1AE1F4721B7F}"/>
              </a:ext>
            </a:extLst>
          </p:cNvPr>
          <p:cNvSpPr/>
          <p:nvPr/>
        </p:nvSpPr>
        <p:spPr>
          <a:xfrm>
            <a:off x="965200" y="4716272"/>
            <a:ext cx="838200" cy="330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184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</a:t>
            </a:r>
            <a:endParaRPr lang="en-US" sz="1840" dirty="0">
              <a:solidFill>
                <a:schemeClr val="bg1"/>
              </a:solidFill>
            </a:endParaRPr>
          </a:p>
        </p:txBody>
      </p:sp>
      <p:sp>
        <p:nvSpPr>
          <p:cNvPr id="67" name="Text 6">
            <a:extLst>
              <a:ext uri="{FF2B5EF4-FFF2-40B4-BE49-F238E27FC236}">
                <a16:creationId xmlns:a16="http://schemas.microsoft.com/office/drawing/2014/main" id="{D3D05494-FB1B-B9E3-5B32-1973F4BD0FF2}"/>
              </a:ext>
            </a:extLst>
          </p:cNvPr>
          <p:cNvSpPr/>
          <p:nvPr/>
        </p:nvSpPr>
        <p:spPr>
          <a:xfrm>
            <a:off x="762000" y="5173472"/>
            <a:ext cx="7655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2400"/>
              </a:lnSpc>
              <a:buSzPct val="100000"/>
              <a:buChar char="•"/>
            </a:pPr>
            <a:r>
              <a:rPr 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</a:t>
            </a:r>
            <a:r>
              <a:rPr lang="en-US" sz="1493" dirty="0">
                <a:solidFill>
                  <a:srgbClr val="FFA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5台副本服务器</a:t>
            </a:r>
            <a:r>
              <a:rPr 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组成</a:t>
            </a:r>
            <a:r>
              <a:rPr lang="zh-CN" alt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Chubby</a:t>
            </a:r>
            <a:r>
              <a:rPr lang="zh-CN" alt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93" dirty="0" err="1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</a:t>
            </a:r>
            <a:endParaRPr lang="en-US" sz="1493" dirty="0">
              <a:solidFill>
                <a:schemeClr val="bg1"/>
              </a:solidFill>
            </a:endParaRPr>
          </a:p>
        </p:txBody>
      </p:sp>
      <p:sp>
        <p:nvSpPr>
          <p:cNvPr id="68" name="Text 7">
            <a:extLst>
              <a:ext uri="{FF2B5EF4-FFF2-40B4-BE49-F238E27FC236}">
                <a16:creationId xmlns:a16="http://schemas.microsoft.com/office/drawing/2014/main" id="{7E89B51C-1FAD-3412-2553-9C7D990C41CE}"/>
              </a:ext>
            </a:extLst>
          </p:cNvPr>
          <p:cNvSpPr/>
          <p:nvPr/>
        </p:nvSpPr>
        <p:spPr>
          <a:xfrm>
            <a:off x="762000" y="5579872"/>
            <a:ext cx="7655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2400"/>
              </a:lnSpc>
              <a:buSzPct val="100000"/>
              <a:buChar char="•"/>
            </a:pPr>
            <a:r>
              <a:rPr lang="en-US" sz="1493" dirty="0" err="1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r>
              <a:rPr lang="zh-CN" altLang="en-US" sz="1493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93" dirty="0">
                <a:solidFill>
                  <a:srgbClr val="FFA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Paxos</a:t>
            </a:r>
            <a:r>
              <a:rPr lang="zh-CN" altLang="en-US" sz="1493" dirty="0">
                <a:solidFill>
                  <a:srgbClr val="FFA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93" dirty="0" err="1">
                <a:solidFill>
                  <a:srgbClr val="FFA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</a:t>
            </a:r>
            <a:r>
              <a:rPr lang="en-US" sz="1493" dirty="0" err="1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选举产生</a:t>
            </a:r>
            <a:r>
              <a:rPr lang="zh-CN" alt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</a:t>
            </a:r>
            <a:r>
              <a:rPr lang="zh-CN" alt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93" dirty="0" err="1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493" dirty="0">
              <a:solidFill>
                <a:schemeClr val="bg1"/>
              </a:solidFill>
            </a:endParaRPr>
          </a:p>
        </p:txBody>
      </p:sp>
      <p:sp>
        <p:nvSpPr>
          <p:cNvPr id="69" name="Text 8">
            <a:extLst>
              <a:ext uri="{FF2B5EF4-FFF2-40B4-BE49-F238E27FC236}">
                <a16:creationId xmlns:a16="http://schemas.microsoft.com/office/drawing/2014/main" id="{B52A54E7-CA3C-BA37-E27E-56F9EB89DA5E}"/>
              </a:ext>
            </a:extLst>
          </p:cNvPr>
          <p:cNvSpPr/>
          <p:nvPr/>
        </p:nvSpPr>
        <p:spPr>
          <a:xfrm>
            <a:off x="762000" y="5986272"/>
            <a:ext cx="7655560" cy="280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457189" indent="-457189">
              <a:lnSpc>
                <a:spcPts val="2400"/>
              </a:lnSpc>
              <a:buSzPct val="100000"/>
              <a:buChar char="•"/>
            </a:pPr>
            <a:r>
              <a:rPr 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 </a:t>
            </a:r>
            <a:r>
              <a:rPr lang="zh-CN" alt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负责处理写请求并广播至所有副本</a:t>
            </a:r>
            <a:endParaRPr lang="en-US" sz="1493" dirty="0">
              <a:solidFill>
                <a:schemeClr val="bg1"/>
              </a:solidFill>
            </a:endParaRPr>
          </a:p>
        </p:txBody>
      </p:sp>
      <p:sp>
        <p:nvSpPr>
          <p:cNvPr id="70" name="Text 9">
            <a:extLst>
              <a:ext uri="{FF2B5EF4-FFF2-40B4-BE49-F238E27FC236}">
                <a16:creationId xmlns:a16="http://schemas.microsoft.com/office/drawing/2014/main" id="{A9D165DE-C1D1-4AB4-C5D0-F02E88235C08}"/>
              </a:ext>
            </a:extLst>
          </p:cNvPr>
          <p:cNvSpPr/>
          <p:nvPr/>
        </p:nvSpPr>
        <p:spPr>
          <a:xfrm>
            <a:off x="762000" y="6392672"/>
            <a:ext cx="7655560" cy="280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457189" indent="-457189">
              <a:lnSpc>
                <a:spcPts val="2400"/>
              </a:lnSpc>
              <a:buSzPct val="100000"/>
              <a:buChar char="•"/>
            </a:pPr>
            <a:r>
              <a:rPr lang="zh-CN" alt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客户端读请求由 </a:t>
            </a:r>
            <a:r>
              <a:rPr 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 </a:t>
            </a:r>
            <a:r>
              <a:rPr lang="zh-CN" alt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单独处理，无需广播</a:t>
            </a:r>
            <a:endParaRPr lang="en-US" sz="1493" dirty="0">
              <a:solidFill>
                <a:schemeClr val="bg1"/>
              </a:solidFill>
            </a:endParaRPr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1DAF66F6-79B9-DB9B-9649-F80999035199}"/>
              </a:ext>
            </a:extLst>
          </p:cNvPr>
          <p:cNvSpPr/>
          <p:nvPr/>
        </p:nvSpPr>
        <p:spPr>
          <a:xfrm>
            <a:off x="965200" y="7002272"/>
            <a:ext cx="1117600" cy="330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184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通信机制</a:t>
            </a:r>
            <a:endParaRPr lang="en-US" sz="1840" dirty="0">
              <a:solidFill>
                <a:schemeClr val="bg1"/>
              </a:solidFill>
            </a:endParaRPr>
          </a:p>
        </p:txBody>
      </p:sp>
      <p:sp>
        <p:nvSpPr>
          <p:cNvPr id="72" name="Text 11">
            <a:extLst>
              <a:ext uri="{FF2B5EF4-FFF2-40B4-BE49-F238E27FC236}">
                <a16:creationId xmlns:a16="http://schemas.microsoft.com/office/drawing/2014/main" id="{3AE39593-CA7F-2723-428E-0A9D0498250A}"/>
              </a:ext>
            </a:extLst>
          </p:cNvPr>
          <p:cNvSpPr/>
          <p:nvPr/>
        </p:nvSpPr>
        <p:spPr>
          <a:xfrm>
            <a:off x="1016000" y="7459472"/>
            <a:ext cx="7823200" cy="280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客户端与 </a:t>
            </a:r>
            <a:r>
              <a:rPr 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 </a:t>
            </a:r>
            <a:r>
              <a:rPr lang="zh-CN" alt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</a:t>
            </a:r>
            <a:r>
              <a:rPr 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</a:t>
            </a:r>
            <a:r>
              <a:rPr lang="zh-CN" alt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进行同步通信，确保请求的顺序性和一致性</a:t>
            </a:r>
            <a:endParaRPr lang="en-US" sz="1493" dirty="0">
              <a:solidFill>
                <a:schemeClr val="bg1"/>
              </a:solidFill>
            </a:endParaRPr>
          </a:p>
        </p:txBody>
      </p:sp>
      <p:sp>
        <p:nvSpPr>
          <p:cNvPr id="73" name="Text 18">
            <a:extLst>
              <a:ext uri="{FF2B5EF4-FFF2-40B4-BE49-F238E27FC236}">
                <a16:creationId xmlns:a16="http://schemas.microsoft.com/office/drawing/2014/main" id="{765D625E-95D1-A53A-9A26-BA364CA4C891}"/>
              </a:ext>
            </a:extLst>
          </p:cNvPr>
          <p:cNvSpPr/>
          <p:nvPr/>
        </p:nvSpPr>
        <p:spPr>
          <a:xfrm>
            <a:off x="8873450" y="7471706"/>
            <a:ext cx="6383417" cy="275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467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Chubby </a:t>
            </a:r>
            <a:r>
              <a:rPr lang="zh-CN" altLang="en-US" sz="1467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系统由客户端和服务端两大部分组成，通过 </a:t>
            </a:r>
            <a:r>
              <a:rPr lang="en-US" sz="1467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RPC </a:t>
            </a:r>
            <a:r>
              <a:rPr lang="zh-CN" altLang="en-US" sz="1467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进行通信</a:t>
            </a:r>
            <a:endParaRPr lang="en-US" sz="1467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FDD5EE2D-E48B-0B86-4CD3-4C504099B0B4}"/>
              </a:ext>
            </a:extLst>
          </p:cNvPr>
          <p:cNvSpPr/>
          <p:nvPr/>
        </p:nvSpPr>
        <p:spPr>
          <a:xfrm>
            <a:off x="10652760" y="1592072"/>
            <a:ext cx="4800000" cy="4800600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/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920F8E40-43DD-AD37-993F-26A063558FEE}"/>
              </a:ext>
            </a:extLst>
          </p:cNvPr>
          <p:cNvSpPr/>
          <p:nvPr/>
        </p:nvSpPr>
        <p:spPr>
          <a:xfrm>
            <a:off x="11030100" y="2938272"/>
            <a:ext cx="1219200" cy="1219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>
                <a:solidFill>
                  <a:schemeClr val="tx1"/>
                </a:solidFill>
              </a:rPr>
              <a:t>Master</a:t>
            </a:r>
            <a:endParaRPr kumimoji="1"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BAF18FC4-35F8-E7CC-835F-9B1F2F2E8B40}"/>
              </a:ext>
            </a:extLst>
          </p:cNvPr>
          <p:cNvSpPr/>
          <p:nvPr/>
        </p:nvSpPr>
        <p:spPr>
          <a:xfrm>
            <a:off x="12443160" y="1719072"/>
            <a:ext cx="1219200" cy="12192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/>
              <a:t>                   </a:t>
            </a:r>
            <a:endParaRPr kumimoji="1" lang="zh-CN" altLang="en-US" sz="2400" dirty="0"/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7CBBD5F5-4B10-59F5-DB74-478370C7EBAC}"/>
              </a:ext>
            </a:extLst>
          </p:cNvPr>
          <p:cNvSpPr/>
          <p:nvPr/>
        </p:nvSpPr>
        <p:spPr>
          <a:xfrm>
            <a:off x="13859660" y="2902712"/>
            <a:ext cx="1219200" cy="12192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58DC1745-2936-1289-A3A0-6024D7AFA8E9}"/>
              </a:ext>
            </a:extLst>
          </p:cNvPr>
          <p:cNvSpPr/>
          <p:nvPr/>
        </p:nvSpPr>
        <p:spPr>
          <a:xfrm>
            <a:off x="11639700" y="4613168"/>
            <a:ext cx="1219200" cy="12192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3EE8B19F-A077-D9A1-E0C8-5887893D6688}"/>
              </a:ext>
            </a:extLst>
          </p:cNvPr>
          <p:cNvSpPr/>
          <p:nvPr/>
        </p:nvSpPr>
        <p:spPr>
          <a:xfrm>
            <a:off x="13250060" y="4614672"/>
            <a:ext cx="1219200" cy="12192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12A7A0BA-08AF-0113-3286-7894023B3725}"/>
              </a:ext>
            </a:extLst>
          </p:cNvPr>
          <p:cNvSpPr/>
          <p:nvPr/>
        </p:nvSpPr>
        <p:spPr>
          <a:xfrm>
            <a:off x="6644640" y="4121912"/>
            <a:ext cx="1219200" cy="7467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67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客户端应用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E451D121-EEC1-2F57-EFA6-8E4BEF1C2333}"/>
              </a:ext>
            </a:extLst>
          </p:cNvPr>
          <p:cNvSpPr/>
          <p:nvPr/>
        </p:nvSpPr>
        <p:spPr>
          <a:xfrm>
            <a:off x="7874000" y="4115328"/>
            <a:ext cx="558800" cy="7467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67" b="1" dirty="0">
                <a:solidFill>
                  <a:schemeClr val="tx1"/>
                </a:solidFill>
              </a:rPr>
              <a:t>SDK</a:t>
            </a:r>
            <a:endParaRPr kumimoji="1" lang="zh-CN" altLang="en-US" sz="1467" b="1" dirty="0">
              <a:solidFill>
                <a:schemeClr val="tx1"/>
              </a:solidFill>
            </a:endParaRPr>
          </a:p>
        </p:txBody>
      </p:sp>
      <p:cxnSp>
        <p:nvCxnSpPr>
          <p:cNvPr id="83" name="曲线连接符 82">
            <a:extLst>
              <a:ext uri="{FF2B5EF4-FFF2-40B4-BE49-F238E27FC236}">
                <a16:creationId xmlns:a16="http://schemas.microsoft.com/office/drawing/2014/main" id="{638AC9E7-462F-D82A-C062-2AE205745BA1}"/>
              </a:ext>
            </a:extLst>
          </p:cNvPr>
          <p:cNvCxnSpPr>
            <a:stCxn id="82" idx="3"/>
            <a:endCxn id="76" idx="2"/>
          </p:cNvCxnSpPr>
          <p:nvPr/>
        </p:nvCxnSpPr>
        <p:spPr>
          <a:xfrm flipV="1">
            <a:off x="8432801" y="3547873"/>
            <a:ext cx="2597300" cy="940836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DE27412F-4616-BE36-E9CE-55510C62E563}"/>
              </a:ext>
            </a:extLst>
          </p:cNvPr>
          <p:cNvSpPr txBox="1"/>
          <p:nvPr/>
        </p:nvSpPr>
        <p:spPr>
          <a:xfrm>
            <a:off x="8839201" y="3363206"/>
            <a:ext cx="992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RPC</a:t>
            </a:r>
            <a:r>
              <a:rPr kumimoji="1"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通信</a:t>
            </a:r>
          </a:p>
        </p:txBody>
      </p: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45EEF512-7823-F0FA-C386-280609296326}"/>
              </a:ext>
            </a:extLst>
          </p:cNvPr>
          <p:cNvCxnSpPr>
            <a:stCxn id="76" idx="7"/>
            <a:endCxn id="77" idx="3"/>
          </p:cNvCxnSpPr>
          <p:nvPr/>
        </p:nvCxnSpPr>
        <p:spPr>
          <a:xfrm flipV="1">
            <a:off x="12070753" y="2759724"/>
            <a:ext cx="550956" cy="3570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5BB1C427-000C-FB96-30F2-164F08822430}"/>
              </a:ext>
            </a:extLst>
          </p:cNvPr>
          <p:cNvCxnSpPr>
            <a:stCxn id="76" idx="6"/>
            <a:endCxn id="78" idx="2"/>
          </p:cNvCxnSpPr>
          <p:nvPr/>
        </p:nvCxnSpPr>
        <p:spPr>
          <a:xfrm flipV="1">
            <a:off x="12249300" y="3512312"/>
            <a:ext cx="1610360" cy="355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7" name="直线箭头连接符 86">
            <a:extLst>
              <a:ext uri="{FF2B5EF4-FFF2-40B4-BE49-F238E27FC236}">
                <a16:creationId xmlns:a16="http://schemas.microsoft.com/office/drawing/2014/main" id="{D06CAC83-8AE6-EFEC-7915-F989D884B90A}"/>
              </a:ext>
            </a:extLst>
          </p:cNvPr>
          <p:cNvCxnSpPr>
            <a:stCxn id="76" idx="4"/>
            <a:endCxn id="79" idx="1"/>
          </p:cNvCxnSpPr>
          <p:nvPr/>
        </p:nvCxnSpPr>
        <p:spPr>
          <a:xfrm>
            <a:off x="11639701" y="4157473"/>
            <a:ext cx="178548" cy="6342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40AB1DAE-FF9B-4754-3F66-27FA81D2F06C}"/>
              </a:ext>
            </a:extLst>
          </p:cNvPr>
          <p:cNvCxnSpPr>
            <a:cxnSpLocks/>
            <a:stCxn id="76" idx="5"/>
            <a:endCxn id="80" idx="1"/>
          </p:cNvCxnSpPr>
          <p:nvPr/>
        </p:nvCxnSpPr>
        <p:spPr>
          <a:xfrm>
            <a:off x="12070752" y="3978924"/>
            <a:ext cx="1357856" cy="8142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9" name="矩形 88">
            <a:extLst>
              <a:ext uri="{FF2B5EF4-FFF2-40B4-BE49-F238E27FC236}">
                <a16:creationId xmlns:a16="http://schemas.microsoft.com/office/drawing/2014/main" id="{E8B6A97F-EEED-5F0D-D641-434816155D9C}"/>
              </a:ext>
            </a:extLst>
          </p:cNvPr>
          <p:cNvSpPr/>
          <p:nvPr/>
        </p:nvSpPr>
        <p:spPr>
          <a:xfrm>
            <a:off x="6908800" y="2032527"/>
            <a:ext cx="1219200" cy="6390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DNS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服务</a:t>
            </a:r>
          </a:p>
        </p:txBody>
      </p:sp>
      <p:cxnSp>
        <p:nvCxnSpPr>
          <p:cNvPr id="90" name="肘形连接符 89">
            <a:extLst>
              <a:ext uri="{FF2B5EF4-FFF2-40B4-BE49-F238E27FC236}">
                <a16:creationId xmlns:a16="http://schemas.microsoft.com/office/drawing/2014/main" id="{147DAA7D-45F0-7741-717A-3DCCE0DC9F61}"/>
              </a:ext>
            </a:extLst>
          </p:cNvPr>
          <p:cNvCxnSpPr>
            <a:stCxn id="82" idx="0"/>
            <a:endCxn id="89" idx="2"/>
          </p:cNvCxnSpPr>
          <p:nvPr/>
        </p:nvCxnSpPr>
        <p:spPr>
          <a:xfrm rot="16200000" flipV="1">
            <a:off x="7114022" y="3075949"/>
            <a:ext cx="1443757" cy="63500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91" name="文本框 90">
            <a:extLst>
              <a:ext uri="{FF2B5EF4-FFF2-40B4-BE49-F238E27FC236}">
                <a16:creationId xmlns:a16="http://schemas.microsoft.com/office/drawing/2014/main" id="{476B8FA4-0E8E-AF05-9390-4C970BBD7A09}"/>
              </a:ext>
            </a:extLst>
          </p:cNvPr>
          <p:cNvSpPr txBox="1"/>
          <p:nvPr/>
        </p:nvSpPr>
        <p:spPr>
          <a:xfrm>
            <a:off x="7549630" y="2911839"/>
            <a:ext cx="10374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DNS</a:t>
            </a:r>
            <a:r>
              <a:rPr kumimoji="1"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查询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67BECCC1-9215-CD27-CEB3-0C1D2B1C76E3}"/>
              </a:ext>
            </a:extLst>
          </p:cNvPr>
          <p:cNvSpPr txBox="1"/>
          <p:nvPr/>
        </p:nvSpPr>
        <p:spPr>
          <a:xfrm>
            <a:off x="12574010" y="3109580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写请求广播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E5390AEA-40C3-8070-81E7-E9A6DDC7E1E0}"/>
              </a:ext>
            </a:extLst>
          </p:cNvPr>
          <p:cNvSpPr txBox="1"/>
          <p:nvPr/>
        </p:nvSpPr>
        <p:spPr>
          <a:xfrm>
            <a:off x="12574010" y="3934608"/>
            <a:ext cx="1214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Paxos</a:t>
            </a:r>
            <a:r>
              <a:rPr kumimoji="1"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选举</a:t>
            </a:r>
          </a:p>
        </p:txBody>
      </p:sp>
    </p:spTree>
    <p:extLst>
      <p:ext uri="{BB962C8B-B14F-4D97-AF65-F5344CB8AC3E}">
        <p14:creationId xmlns:p14="http://schemas.microsoft.com/office/powerpoint/2010/main" val="126015252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2AF29F-6B30-A7CA-D351-ECAFB3D64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3AC9A08-1531-8D68-E35A-9473A67D0860}"/>
              </a:ext>
            </a:extLst>
          </p:cNvPr>
          <p:cNvSpPr/>
          <p:nvPr/>
        </p:nvSpPr>
        <p:spPr>
          <a:xfrm>
            <a:off x="442943" y="442943"/>
            <a:ext cx="15458703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1" i="0" u="none" strike="noStrike" kern="0" cap="none" spc="70" normalizeH="0" baseline="0" noProof="0" dirty="0">
                <a:ln>
                  <a:noFill/>
                </a:ln>
                <a:solidFill>
                  <a:srgbClr val="E1AF63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SYSTEM ARCHITECTURE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C592C70-0E34-B6DC-0987-692F21F05826}"/>
              </a:ext>
            </a:extLst>
          </p:cNvPr>
          <p:cNvSpPr/>
          <p:nvPr/>
        </p:nvSpPr>
        <p:spPr>
          <a:xfrm>
            <a:off x="442943" y="797297"/>
            <a:ext cx="15635880" cy="53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kumimoji="0" lang="en-US" sz="4185" b="0" i="0" u="none" strike="noStrike" kern="1200" cap="none" spc="0" normalizeH="0" baseline="0" noProof="0" dirty="0" err="1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整体架构：Chubby</a:t>
            </a:r>
            <a:r>
              <a:rPr kumimoji="0" lang="en-US" sz="4185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 </a:t>
            </a:r>
            <a:r>
              <a:rPr kumimoji="0" lang="zh-CN" altLang="en-US" sz="4185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集群结构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1" name="Image 2" descr="preencoded.png">
            <a:extLst>
              <a:ext uri="{FF2B5EF4-FFF2-40B4-BE49-F238E27FC236}">
                <a16:creationId xmlns:a16="http://schemas.microsoft.com/office/drawing/2014/main" id="{DE3A1F94-BA40-8816-82BA-D3CAE4B05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424176"/>
            <a:ext cx="203200" cy="203200"/>
          </a:xfrm>
          <a:prstGeom prst="rect">
            <a:avLst/>
          </a:prstGeom>
        </p:spPr>
      </p:pic>
      <p:pic>
        <p:nvPicPr>
          <p:cNvPr id="112" name="Image 3" descr="preencoded.png">
            <a:extLst>
              <a:ext uri="{FF2B5EF4-FFF2-40B4-BE49-F238E27FC236}">
                <a16:creationId xmlns:a16="http://schemas.microsoft.com/office/drawing/2014/main" id="{20AB3650-ED47-07C4-F575-EE309A8BC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2826487"/>
            <a:ext cx="203200" cy="203200"/>
          </a:xfrm>
          <a:prstGeom prst="rect">
            <a:avLst/>
          </a:prstGeom>
        </p:spPr>
      </p:pic>
      <p:pic>
        <p:nvPicPr>
          <p:cNvPr id="113" name="Image 4" descr="preencoded.png">
            <a:extLst>
              <a:ext uri="{FF2B5EF4-FFF2-40B4-BE49-F238E27FC236}">
                <a16:creationId xmlns:a16="http://schemas.microsoft.com/office/drawing/2014/main" id="{A57BACDA-6D50-96D7-5885-5CA6C914EE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3228798"/>
            <a:ext cx="228600" cy="203200"/>
          </a:xfrm>
          <a:prstGeom prst="rect">
            <a:avLst/>
          </a:prstGeom>
        </p:spPr>
      </p:pic>
      <p:pic>
        <p:nvPicPr>
          <p:cNvPr id="114" name="Image 5" descr="preencoded.png">
            <a:extLst>
              <a:ext uri="{FF2B5EF4-FFF2-40B4-BE49-F238E27FC236}">
                <a16:creationId xmlns:a16="http://schemas.microsoft.com/office/drawing/2014/main" id="{5945DC54-B2C6-D943-659B-8C3B98AAB5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000" y="3631110"/>
            <a:ext cx="203200" cy="203200"/>
          </a:xfrm>
          <a:prstGeom prst="rect">
            <a:avLst/>
          </a:prstGeom>
        </p:spPr>
      </p:pic>
      <p:pic>
        <p:nvPicPr>
          <p:cNvPr id="115" name="Image 6" descr="preencoded.png">
            <a:extLst>
              <a:ext uri="{FF2B5EF4-FFF2-40B4-BE49-F238E27FC236}">
                <a16:creationId xmlns:a16="http://schemas.microsoft.com/office/drawing/2014/main" id="{61FA232F-3FE5-4934-C198-6FE9ABAC92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000" y="4684776"/>
            <a:ext cx="203200" cy="203200"/>
          </a:xfrm>
          <a:prstGeom prst="rect">
            <a:avLst/>
          </a:prstGeom>
        </p:spPr>
      </p:pic>
      <p:pic>
        <p:nvPicPr>
          <p:cNvPr id="116" name="Image 7" descr="preencoded.png">
            <a:extLst>
              <a:ext uri="{FF2B5EF4-FFF2-40B4-BE49-F238E27FC236}">
                <a16:creationId xmlns:a16="http://schemas.microsoft.com/office/drawing/2014/main" id="{6BD4E42D-5B4A-34CC-00AC-E25168FA8B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000" y="5152136"/>
            <a:ext cx="203200" cy="203200"/>
          </a:xfrm>
          <a:prstGeom prst="rect">
            <a:avLst/>
          </a:prstGeom>
        </p:spPr>
      </p:pic>
      <p:pic>
        <p:nvPicPr>
          <p:cNvPr id="117" name="Image 8" descr="preencoded.png">
            <a:extLst>
              <a:ext uri="{FF2B5EF4-FFF2-40B4-BE49-F238E27FC236}">
                <a16:creationId xmlns:a16="http://schemas.microsoft.com/office/drawing/2014/main" id="{ED5F1ADC-1666-9E7C-0094-69C1F7F17E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000" y="5619496"/>
            <a:ext cx="203200" cy="203200"/>
          </a:xfrm>
          <a:prstGeom prst="rect">
            <a:avLst/>
          </a:prstGeom>
        </p:spPr>
      </p:pic>
      <p:pic>
        <p:nvPicPr>
          <p:cNvPr id="118" name="Image 9" descr="preencoded.png">
            <a:extLst>
              <a:ext uri="{FF2B5EF4-FFF2-40B4-BE49-F238E27FC236}">
                <a16:creationId xmlns:a16="http://schemas.microsoft.com/office/drawing/2014/main" id="{3C4BF541-14DC-5F1B-F09D-0E6F3382CE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8000" y="6869176"/>
            <a:ext cx="203200" cy="203200"/>
          </a:xfrm>
          <a:prstGeom prst="rect">
            <a:avLst/>
          </a:prstGeom>
        </p:spPr>
      </p:pic>
      <p:pic>
        <p:nvPicPr>
          <p:cNvPr id="119" name="Image 10" descr="preencoded.png">
            <a:extLst>
              <a:ext uri="{FF2B5EF4-FFF2-40B4-BE49-F238E27FC236}">
                <a16:creationId xmlns:a16="http://schemas.microsoft.com/office/drawing/2014/main" id="{2A7445EF-2172-ACB2-B28F-5F99CED1DF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000" y="7275576"/>
            <a:ext cx="177800" cy="203200"/>
          </a:xfrm>
          <a:prstGeom prst="rect">
            <a:avLst/>
          </a:prstGeom>
        </p:spPr>
      </p:pic>
      <p:pic>
        <p:nvPicPr>
          <p:cNvPr id="120" name="Image 11" descr="preencoded.png">
            <a:extLst>
              <a:ext uri="{FF2B5EF4-FFF2-40B4-BE49-F238E27FC236}">
                <a16:creationId xmlns:a16="http://schemas.microsoft.com/office/drawing/2014/main" id="{588E2E9B-9599-2EA3-3343-9BF61C9BE7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000" y="7681976"/>
            <a:ext cx="203200" cy="203200"/>
          </a:xfrm>
          <a:prstGeom prst="rect">
            <a:avLst/>
          </a:prstGeom>
        </p:spPr>
      </p:pic>
      <p:sp>
        <p:nvSpPr>
          <p:cNvPr id="121" name="Text 1">
            <a:extLst>
              <a:ext uri="{FF2B5EF4-FFF2-40B4-BE49-F238E27FC236}">
                <a16:creationId xmlns:a16="http://schemas.microsoft.com/office/drawing/2014/main" id="{C54EA985-FE6C-B2FD-11D9-DFBD6D96FC6B}"/>
              </a:ext>
            </a:extLst>
          </p:cNvPr>
          <p:cNvSpPr/>
          <p:nvPr/>
        </p:nvSpPr>
        <p:spPr>
          <a:xfrm>
            <a:off x="508000" y="1916177"/>
            <a:ext cx="6649720" cy="330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184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Chubby Cell 结构</a:t>
            </a:r>
            <a:endParaRPr lang="en-US" sz="1840" dirty="0"/>
          </a:p>
        </p:txBody>
      </p:sp>
      <p:sp>
        <p:nvSpPr>
          <p:cNvPr id="122" name="Text 2">
            <a:extLst>
              <a:ext uri="{FF2B5EF4-FFF2-40B4-BE49-F238E27FC236}">
                <a16:creationId xmlns:a16="http://schemas.microsoft.com/office/drawing/2014/main" id="{C043E9EB-C5F5-97F1-7DEE-3C45F7CA9A69}"/>
              </a:ext>
            </a:extLst>
          </p:cNvPr>
          <p:cNvSpPr/>
          <p:nvPr/>
        </p:nvSpPr>
        <p:spPr>
          <a:xfrm>
            <a:off x="838200" y="2373376"/>
            <a:ext cx="6649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  <a:buSzPct val="100000"/>
            </a:pPr>
            <a:r>
              <a:rPr lang="en-US" sz="1493" dirty="0" err="1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</a:t>
            </a:r>
            <a:r>
              <a:rPr lang="zh-CN" alt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Chubby</a:t>
            </a:r>
            <a:r>
              <a:rPr lang="zh-CN" alt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集群（称为Cell）由</a:t>
            </a:r>
            <a:r>
              <a:rPr lang="en-US" sz="1493" b="1" dirty="0">
                <a:solidFill>
                  <a:srgbClr val="FFA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5台</a:t>
            </a:r>
            <a:r>
              <a:rPr 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副本服务器构成</a:t>
            </a:r>
            <a:endParaRPr lang="en-US" sz="1493" dirty="0">
              <a:solidFill>
                <a:schemeClr val="bg1"/>
              </a:solidFill>
            </a:endParaRPr>
          </a:p>
        </p:txBody>
      </p:sp>
      <p:sp>
        <p:nvSpPr>
          <p:cNvPr id="123" name="Text 3">
            <a:extLst>
              <a:ext uri="{FF2B5EF4-FFF2-40B4-BE49-F238E27FC236}">
                <a16:creationId xmlns:a16="http://schemas.microsoft.com/office/drawing/2014/main" id="{6AC00298-7EC0-9225-2918-E9B9F9D330AC}"/>
              </a:ext>
            </a:extLst>
          </p:cNvPr>
          <p:cNvSpPr/>
          <p:nvPr/>
        </p:nvSpPr>
        <p:spPr>
          <a:xfrm>
            <a:off x="838200" y="2761502"/>
            <a:ext cx="6649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  <a:buSzPct val="100000"/>
            </a:pPr>
            <a:r>
              <a:rPr lang="en-US" sz="1493" dirty="0" err="1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服务器通过</a:t>
            </a:r>
            <a:r>
              <a:rPr lang="zh-CN" alt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93" dirty="0">
                <a:solidFill>
                  <a:srgbClr val="FFA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Paxos</a:t>
            </a:r>
            <a:r>
              <a:rPr lang="zh-CN" altLang="en-US" sz="1493" dirty="0">
                <a:solidFill>
                  <a:srgbClr val="FFA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93" dirty="0" err="1">
                <a:solidFill>
                  <a:srgbClr val="FFA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</a:t>
            </a:r>
            <a:r>
              <a:rPr lang="en-US" sz="1493" dirty="0" err="1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进行协作</a:t>
            </a:r>
            <a:endParaRPr lang="en-US" sz="1493" dirty="0">
              <a:solidFill>
                <a:schemeClr val="bg1"/>
              </a:solidFill>
            </a:endParaRPr>
          </a:p>
        </p:txBody>
      </p:sp>
      <p:sp>
        <p:nvSpPr>
          <p:cNvPr id="124" name="Text 4">
            <a:extLst>
              <a:ext uri="{FF2B5EF4-FFF2-40B4-BE49-F238E27FC236}">
                <a16:creationId xmlns:a16="http://schemas.microsoft.com/office/drawing/2014/main" id="{289BE4B7-7D9F-BB64-F667-2AA16D901329}"/>
              </a:ext>
            </a:extLst>
          </p:cNvPr>
          <p:cNvSpPr/>
          <p:nvPr/>
        </p:nvSpPr>
        <p:spPr>
          <a:xfrm>
            <a:off x="838200" y="3149628"/>
            <a:ext cx="6675120" cy="35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  <a:buSzPct val="100000"/>
            </a:pPr>
            <a:r>
              <a:rPr lang="en-US" sz="1493" dirty="0" err="1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选举产生一个</a:t>
            </a:r>
            <a:r>
              <a:rPr lang="zh-CN" altLang="en-US" sz="1493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93" b="1" dirty="0">
                <a:solidFill>
                  <a:srgbClr val="FFA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</a:t>
            </a:r>
            <a:r>
              <a:rPr lang="zh-CN" altLang="en-US" sz="1493" b="1" dirty="0">
                <a:solidFill>
                  <a:srgbClr val="FFA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93" b="1" dirty="0" err="1">
                <a:solidFill>
                  <a:srgbClr val="FFA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493" dirty="0"/>
          </a:p>
        </p:txBody>
      </p:sp>
      <p:sp>
        <p:nvSpPr>
          <p:cNvPr id="125" name="Text 5">
            <a:extLst>
              <a:ext uri="{FF2B5EF4-FFF2-40B4-BE49-F238E27FC236}">
                <a16:creationId xmlns:a16="http://schemas.microsoft.com/office/drawing/2014/main" id="{616081CF-0274-2CDF-A95D-1A82D2D02E78}"/>
              </a:ext>
            </a:extLst>
          </p:cNvPr>
          <p:cNvSpPr/>
          <p:nvPr/>
        </p:nvSpPr>
        <p:spPr>
          <a:xfrm>
            <a:off x="838200" y="3592575"/>
            <a:ext cx="6649720" cy="280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  <a:buSzPct val="100000"/>
            </a:pPr>
            <a:r>
              <a:rPr 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</a:t>
            </a:r>
            <a:r>
              <a:rPr lang="zh-CN" alt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93" dirty="0" err="1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租期机制确保同一时期只有一个</a:t>
            </a:r>
            <a:r>
              <a:rPr lang="zh-CN" alt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</a:t>
            </a:r>
            <a:endParaRPr lang="en-US" sz="1493" dirty="0">
              <a:solidFill>
                <a:schemeClr val="bg1"/>
              </a:solidFill>
            </a:endParaRPr>
          </a:p>
        </p:txBody>
      </p:sp>
      <p:sp>
        <p:nvSpPr>
          <p:cNvPr id="126" name="Text 6">
            <a:extLst>
              <a:ext uri="{FF2B5EF4-FFF2-40B4-BE49-F238E27FC236}">
                <a16:creationId xmlns:a16="http://schemas.microsoft.com/office/drawing/2014/main" id="{29AF3E57-7C34-E24E-0500-978C47ED8478}"/>
              </a:ext>
            </a:extLst>
          </p:cNvPr>
          <p:cNvSpPr/>
          <p:nvPr/>
        </p:nvSpPr>
        <p:spPr>
          <a:xfrm>
            <a:off x="508000" y="4202177"/>
            <a:ext cx="6649720" cy="330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184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Paxos协议作用</a:t>
            </a:r>
            <a:endParaRPr lang="en-US" sz="1840" dirty="0"/>
          </a:p>
        </p:txBody>
      </p:sp>
      <p:sp>
        <p:nvSpPr>
          <p:cNvPr id="127" name="Text 7">
            <a:extLst>
              <a:ext uri="{FF2B5EF4-FFF2-40B4-BE49-F238E27FC236}">
                <a16:creationId xmlns:a16="http://schemas.microsoft.com/office/drawing/2014/main" id="{7EE0D3E3-C74A-6448-DDE2-9117E68999EF}"/>
              </a:ext>
            </a:extLst>
          </p:cNvPr>
          <p:cNvSpPr/>
          <p:nvPr/>
        </p:nvSpPr>
        <p:spPr>
          <a:xfrm>
            <a:off x="838200" y="4604554"/>
            <a:ext cx="6526451" cy="280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  <a:buSzPct val="100000"/>
            </a:pPr>
            <a:r>
              <a:rPr lang="en-US" sz="1493" dirty="0" err="1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在服务器故障或通信不可靠的情况下，确保所有节点就</a:t>
            </a:r>
            <a:r>
              <a:rPr lang="zh-CN" alt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 </a:t>
            </a:r>
            <a:r>
              <a:rPr lang="en-US" sz="1493" dirty="0" err="1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选举达成共识</a:t>
            </a:r>
            <a:endParaRPr lang="en-US" sz="1493" dirty="0">
              <a:solidFill>
                <a:schemeClr val="bg1"/>
              </a:solidFill>
            </a:endParaRPr>
          </a:p>
        </p:txBody>
      </p:sp>
      <p:sp>
        <p:nvSpPr>
          <p:cNvPr id="128" name="Text 8">
            <a:extLst>
              <a:ext uri="{FF2B5EF4-FFF2-40B4-BE49-F238E27FC236}">
                <a16:creationId xmlns:a16="http://schemas.microsoft.com/office/drawing/2014/main" id="{2326B8FC-146E-9318-06AF-F205D3A77F24}"/>
              </a:ext>
            </a:extLst>
          </p:cNvPr>
          <p:cNvSpPr/>
          <p:nvPr/>
        </p:nvSpPr>
        <p:spPr>
          <a:xfrm>
            <a:off x="838200" y="5099325"/>
            <a:ext cx="3718694" cy="280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  <a:buSzPct val="100000"/>
            </a:pPr>
            <a:r>
              <a:rPr lang="en-US" sz="1493" dirty="0" err="1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通过多</a:t>
            </a:r>
            <a:r>
              <a:rPr lang="zh-CN" alt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Paxos</a:t>
            </a:r>
            <a:r>
              <a:rPr lang="zh-CN" alt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93" dirty="0" err="1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实例模式优化性能</a:t>
            </a:r>
            <a:endParaRPr lang="en-US" sz="1493" dirty="0">
              <a:solidFill>
                <a:schemeClr val="bg1"/>
              </a:solidFill>
            </a:endParaRPr>
          </a:p>
        </p:txBody>
      </p:sp>
      <p:sp>
        <p:nvSpPr>
          <p:cNvPr id="129" name="Text 9">
            <a:extLst>
              <a:ext uri="{FF2B5EF4-FFF2-40B4-BE49-F238E27FC236}">
                <a16:creationId xmlns:a16="http://schemas.microsoft.com/office/drawing/2014/main" id="{33A9785A-E134-B702-1685-94102BFA9122}"/>
              </a:ext>
            </a:extLst>
          </p:cNvPr>
          <p:cNvSpPr/>
          <p:nvPr/>
        </p:nvSpPr>
        <p:spPr>
          <a:xfrm>
            <a:off x="838200" y="5594096"/>
            <a:ext cx="6649720" cy="279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  <a:buSzPct val="100000"/>
            </a:pPr>
            <a:r>
              <a:rPr 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</a:t>
            </a:r>
            <a:r>
              <a:rPr lang="zh-CN" alt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93" dirty="0" err="1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负责提出提案，避免多轮</a:t>
            </a:r>
            <a:r>
              <a:rPr lang="zh-CN" alt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</a:t>
            </a:r>
            <a:r>
              <a:rPr lang="zh-CN" alt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93" dirty="0" err="1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</a:t>
            </a:r>
            <a:endParaRPr lang="en-US" sz="1493" dirty="0">
              <a:solidFill>
                <a:schemeClr val="bg1"/>
              </a:solidFill>
            </a:endParaRPr>
          </a:p>
        </p:txBody>
      </p:sp>
      <p:sp>
        <p:nvSpPr>
          <p:cNvPr id="130" name="Text 10">
            <a:extLst>
              <a:ext uri="{FF2B5EF4-FFF2-40B4-BE49-F238E27FC236}">
                <a16:creationId xmlns:a16="http://schemas.microsoft.com/office/drawing/2014/main" id="{98A78675-CE9A-4459-A8B0-53A30334E739}"/>
              </a:ext>
            </a:extLst>
          </p:cNvPr>
          <p:cNvSpPr/>
          <p:nvPr/>
        </p:nvSpPr>
        <p:spPr>
          <a:xfrm>
            <a:off x="508000" y="6386577"/>
            <a:ext cx="6649720" cy="330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184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Master职责</a:t>
            </a:r>
            <a:endParaRPr lang="en-US" sz="1840" dirty="0"/>
          </a:p>
        </p:txBody>
      </p:sp>
      <p:sp>
        <p:nvSpPr>
          <p:cNvPr id="131" name="Text 11">
            <a:extLst>
              <a:ext uri="{FF2B5EF4-FFF2-40B4-BE49-F238E27FC236}">
                <a16:creationId xmlns:a16="http://schemas.microsoft.com/office/drawing/2014/main" id="{5E2016B9-4080-B913-591C-5735817FDF46}"/>
              </a:ext>
            </a:extLst>
          </p:cNvPr>
          <p:cNvSpPr/>
          <p:nvPr/>
        </p:nvSpPr>
        <p:spPr>
          <a:xfrm>
            <a:off x="838200" y="6843775"/>
            <a:ext cx="6649720" cy="280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  <a:buSzPct val="100000"/>
            </a:pPr>
            <a:r>
              <a:rPr 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执行写操作并广播给集群中的所有副本服务器</a:t>
            </a:r>
            <a:endParaRPr lang="en-US" sz="1493" dirty="0">
              <a:solidFill>
                <a:schemeClr val="bg1"/>
              </a:solidFill>
            </a:endParaRPr>
          </a:p>
        </p:txBody>
      </p:sp>
      <p:sp>
        <p:nvSpPr>
          <p:cNvPr id="132" name="Text 12">
            <a:extLst>
              <a:ext uri="{FF2B5EF4-FFF2-40B4-BE49-F238E27FC236}">
                <a16:creationId xmlns:a16="http://schemas.microsoft.com/office/drawing/2014/main" id="{918FFD5D-A8FB-5125-B3E8-2964E6F68F63}"/>
              </a:ext>
            </a:extLst>
          </p:cNvPr>
          <p:cNvSpPr/>
          <p:nvPr/>
        </p:nvSpPr>
        <p:spPr>
          <a:xfrm>
            <a:off x="838200" y="7250176"/>
            <a:ext cx="6624320" cy="280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  <a:buSzPct val="100000"/>
            </a:pPr>
            <a:r>
              <a:rPr lang="en-US" sz="1493" dirty="0" err="1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r>
              <a:rPr lang="zh-CN" alt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Paxos</a:t>
            </a:r>
            <a:r>
              <a:rPr lang="zh-CN" alt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93" dirty="0" err="1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协议同步数据库更新</a:t>
            </a:r>
            <a:endParaRPr lang="en-US" sz="1493" dirty="0">
              <a:solidFill>
                <a:schemeClr val="bg1"/>
              </a:solidFill>
            </a:endParaRPr>
          </a:p>
        </p:txBody>
      </p:sp>
      <p:sp>
        <p:nvSpPr>
          <p:cNvPr id="133" name="Text 13">
            <a:extLst>
              <a:ext uri="{FF2B5EF4-FFF2-40B4-BE49-F238E27FC236}">
                <a16:creationId xmlns:a16="http://schemas.microsoft.com/office/drawing/2014/main" id="{633640B2-635F-69F9-56DB-D7698AD978F0}"/>
              </a:ext>
            </a:extLst>
          </p:cNvPr>
          <p:cNvSpPr/>
          <p:nvPr/>
        </p:nvSpPr>
        <p:spPr>
          <a:xfrm>
            <a:off x="838200" y="7656576"/>
            <a:ext cx="6649720" cy="280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  <a:buSzPct val="100000"/>
            </a:pPr>
            <a:r>
              <a:rPr lang="en-US" sz="1493" dirty="0" err="1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通过不断续租延长</a:t>
            </a:r>
            <a:r>
              <a:rPr lang="zh-CN" alt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</a:t>
            </a:r>
            <a:r>
              <a:rPr lang="zh-CN" altLang="en-US" sz="149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93" dirty="0" err="1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租期</a:t>
            </a:r>
            <a:endParaRPr lang="en-US" sz="1493" dirty="0">
              <a:solidFill>
                <a:schemeClr val="bg1"/>
              </a:solidFill>
            </a:endParaRPr>
          </a:p>
        </p:txBody>
      </p: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C0D315D0-1202-A9AB-0DC4-27F396690B82}"/>
              </a:ext>
            </a:extLst>
          </p:cNvPr>
          <p:cNvGrpSpPr/>
          <p:nvPr/>
        </p:nvGrpSpPr>
        <p:grpSpPr>
          <a:xfrm>
            <a:off x="10829952" y="1713443"/>
            <a:ext cx="1524000" cy="1524000"/>
            <a:chOff x="8020050" y="1581150"/>
            <a:chExt cx="1143000" cy="1143000"/>
          </a:xfrm>
        </p:grpSpPr>
        <p:pic>
          <p:nvPicPr>
            <p:cNvPr id="135" name="Image 12" descr="preencoded.png">
              <a:extLst>
                <a:ext uri="{FF2B5EF4-FFF2-40B4-BE49-F238E27FC236}">
                  <a16:creationId xmlns:a16="http://schemas.microsoft.com/office/drawing/2014/main" id="{42DF06F3-8376-C470-7D1C-00F286BC8F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020050" y="1581150"/>
              <a:ext cx="1143000" cy="1143000"/>
            </a:xfrm>
            <a:prstGeom prst="rect">
              <a:avLst/>
            </a:prstGeom>
          </p:spPr>
        </p:pic>
        <p:pic>
          <p:nvPicPr>
            <p:cNvPr id="136" name="Image 13" descr="preencoded.png">
              <a:extLst>
                <a:ext uri="{FF2B5EF4-FFF2-40B4-BE49-F238E27FC236}">
                  <a16:creationId xmlns:a16="http://schemas.microsoft.com/office/drawing/2014/main" id="{1B5C3593-1755-6864-23DF-912C10973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429476" y="1847850"/>
              <a:ext cx="323850" cy="342900"/>
            </a:xfrm>
            <a:prstGeom prst="rect">
              <a:avLst/>
            </a:prstGeom>
          </p:spPr>
        </p:pic>
        <p:sp>
          <p:nvSpPr>
            <p:cNvPr id="137" name="Text 14">
              <a:extLst>
                <a:ext uri="{FF2B5EF4-FFF2-40B4-BE49-F238E27FC236}">
                  <a16:creationId xmlns:a16="http://schemas.microsoft.com/office/drawing/2014/main" id="{DE282960-A36B-17C7-7FF7-F3C8027C90BE}"/>
                </a:ext>
              </a:extLst>
            </p:cNvPr>
            <p:cNvSpPr/>
            <p:nvPr/>
          </p:nvSpPr>
          <p:spPr>
            <a:xfrm>
              <a:off x="8321271" y="2228850"/>
              <a:ext cx="540410" cy="2102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1493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Master</a:t>
              </a:r>
              <a:endParaRPr lang="en-US" sz="1493" dirty="0"/>
            </a:p>
          </p:txBody>
        </p:sp>
      </p:grp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0954106F-58E8-6BF3-C1C0-7E3923E6878E}"/>
              </a:ext>
            </a:extLst>
          </p:cNvPr>
          <p:cNvGrpSpPr/>
          <p:nvPr/>
        </p:nvGrpSpPr>
        <p:grpSpPr>
          <a:xfrm>
            <a:off x="7688072" y="4227575"/>
            <a:ext cx="1270000" cy="1270000"/>
            <a:chOff x="5372100" y="2800350"/>
            <a:chExt cx="952500" cy="952500"/>
          </a:xfrm>
        </p:grpSpPr>
        <p:pic>
          <p:nvPicPr>
            <p:cNvPr id="139" name="Image 14" descr="preencoded.png">
              <a:extLst>
                <a:ext uri="{FF2B5EF4-FFF2-40B4-BE49-F238E27FC236}">
                  <a16:creationId xmlns:a16="http://schemas.microsoft.com/office/drawing/2014/main" id="{F53BDC0B-6143-3734-C460-265A7FD517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372100" y="2800350"/>
              <a:ext cx="952500" cy="952500"/>
            </a:xfrm>
            <a:prstGeom prst="rect">
              <a:avLst/>
            </a:prstGeom>
          </p:spPr>
        </p:pic>
        <p:pic>
          <p:nvPicPr>
            <p:cNvPr id="140" name="Image 15" descr="preencoded.png">
              <a:extLst>
                <a:ext uri="{FF2B5EF4-FFF2-40B4-BE49-F238E27FC236}">
                  <a16:creationId xmlns:a16="http://schemas.microsoft.com/office/drawing/2014/main" id="{9D002467-85B8-D0A7-2FF8-78BF9D3459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734050" y="3009900"/>
              <a:ext cx="228600" cy="304800"/>
            </a:xfrm>
            <a:prstGeom prst="rect">
              <a:avLst/>
            </a:prstGeom>
          </p:spPr>
        </p:pic>
        <p:sp>
          <p:nvSpPr>
            <p:cNvPr id="141" name="Text 15">
              <a:extLst>
                <a:ext uri="{FF2B5EF4-FFF2-40B4-BE49-F238E27FC236}">
                  <a16:creationId xmlns:a16="http://schemas.microsoft.com/office/drawing/2014/main" id="{E1C5CE08-392A-48E4-270C-942ACE0CC4B1}"/>
                </a:ext>
              </a:extLst>
            </p:cNvPr>
            <p:cNvSpPr/>
            <p:nvPr/>
          </p:nvSpPr>
          <p:spPr>
            <a:xfrm>
              <a:off x="5542538" y="3352800"/>
              <a:ext cx="611624" cy="176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000"/>
                </a:lnSpc>
              </a:pPr>
              <a:r>
                <a:rPr lang="en-US" sz="1307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Replica 1</a:t>
              </a:r>
              <a:endParaRPr lang="en-US" sz="1307" dirty="0"/>
            </a:p>
          </p:txBody>
        </p:sp>
      </p:grp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FC5449A5-E2E8-A615-9427-0DD0107A40E3}"/>
              </a:ext>
            </a:extLst>
          </p:cNvPr>
          <p:cNvGrpSpPr/>
          <p:nvPr/>
        </p:nvGrpSpPr>
        <p:grpSpPr>
          <a:xfrm>
            <a:off x="9867325" y="4227575"/>
            <a:ext cx="1270000" cy="1270000"/>
            <a:chOff x="6981825" y="2800350"/>
            <a:chExt cx="952500" cy="952500"/>
          </a:xfrm>
        </p:grpSpPr>
        <p:pic>
          <p:nvPicPr>
            <p:cNvPr id="143" name="Image 16" descr="preencoded.png">
              <a:extLst>
                <a:ext uri="{FF2B5EF4-FFF2-40B4-BE49-F238E27FC236}">
                  <a16:creationId xmlns:a16="http://schemas.microsoft.com/office/drawing/2014/main" id="{0D5CE5EF-5BF5-5868-7410-87D2E03752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81825" y="2800350"/>
              <a:ext cx="952500" cy="952500"/>
            </a:xfrm>
            <a:prstGeom prst="rect">
              <a:avLst/>
            </a:prstGeom>
          </p:spPr>
        </p:pic>
        <p:pic>
          <p:nvPicPr>
            <p:cNvPr id="144" name="Image 17" descr="preencoded.png">
              <a:extLst>
                <a:ext uri="{FF2B5EF4-FFF2-40B4-BE49-F238E27FC236}">
                  <a16:creationId xmlns:a16="http://schemas.microsoft.com/office/drawing/2014/main" id="{428B4EAD-8738-48C8-8348-E767DEE0A1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343775" y="3009900"/>
              <a:ext cx="228600" cy="304800"/>
            </a:xfrm>
            <a:prstGeom prst="rect">
              <a:avLst/>
            </a:prstGeom>
          </p:spPr>
        </p:pic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A2EFCC18-5FAD-5F2C-D0C5-AC10B8D676B8}"/>
                </a:ext>
              </a:extLst>
            </p:cNvPr>
            <p:cNvSpPr/>
            <p:nvPr/>
          </p:nvSpPr>
          <p:spPr>
            <a:xfrm>
              <a:off x="7152263" y="3352800"/>
              <a:ext cx="611624" cy="176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000"/>
                </a:lnSpc>
              </a:pPr>
              <a:r>
                <a:rPr lang="en-US" sz="1307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Replica 2</a:t>
              </a:r>
              <a:endParaRPr lang="en-US" sz="1307" dirty="0"/>
            </a:p>
          </p:txBody>
        </p:sp>
      </p:grp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6CF794E5-0A3B-3813-B01E-223829FC039D}"/>
              </a:ext>
            </a:extLst>
          </p:cNvPr>
          <p:cNvGrpSpPr/>
          <p:nvPr/>
        </p:nvGrpSpPr>
        <p:grpSpPr>
          <a:xfrm>
            <a:off x="12046579" y="4227575"/>
            <a:ext cx="1270000" cy="1270000"/>
            <a:chOff x="8115300" y="2800350"/>
            <a:chExt cx="952500" cy="952500"/>
          </a:xfrm>
        </p:grpSpPr>
        <p:pic>
          <p:nvPicPr>
            <p:cNvPr id="147" name="Image 18" descr="preencoded.png">
              <a:extLst>
                <a:ext uri="{FF2B5EF4-FFF2-40B4-BE49-F238E27FC236}">
                  <a16:creationId xmlns:a16="http://schemas.microsoft.com/office/drawing/2014/main" id="{090FC48F-82B2-41A0-EBFA-2B22917EB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115300" y="2800350"/>
              <a:ext cx="952500" cy="952500"/>
            </a:xfrm>
            <a:prstGeom prst="rect">
              <a:avLst/>
            </a:prstGeom>
          </p:spPr>
        </p:pic>
        <p:pic>
          <p:nvPicPr>
            <p:cNvPr id="148" name="Image 19" descr="preencoded.png">
              <a:extLst>
                <a:ext uri="{FF2B5EF4-FFF2-40B4-BE49-F238E27FC236}">
                  <a16:creationId xmlns:a16="http://schemas.microsoft.com/office/drawing/2014/main" id="{955C2782-308A-12EA-A35E-974BB3E51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477250" y="3009900"/>
              <a:ext cx="228600" cy="304800"/>
            </a:xfrm>
            <a:prstGeom prst="rect">
              <a:avLst/>
            </a:prstGeom>
          </p:spPr>
        </p:pic>
        <p:sp>
          <p:nvSpPr>
            <p:cNvPr id="149" name="Text 17">
              <a:extLst>
                <a:ext uri="{FF2B5EF4-FFF2-40B4-BE49-F238E27FC236}">
                  <a16:creationId xmlns:a16="http://schemas.microsoft.com/office/drawing/2014/main" id="{D9B6257A-96B0-2AD4-FFC9-092E3C400662}"/>
                </a:ext>
              </a:extLst>
            </p:cNvPr>
            <p:cNvSpPr/>
            <p:nvPr/>
          </p:nvSpPr>
          <p:spPr>
            <a:xfrm>
              <a:off x="8285738" y="3352800"/>
              <a:ext cx="611624" cy="176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000"/>
                </a:lnSpc>
              </a:pPr>
              <a:r>
                <a:rPr lang="en-US" sz="1307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Replica 3</a:t>
              </a:r>
              <a:endParaRPr lang="en-US" sz="1307" dirty="0"/>
            </a:p>
          </p:txBody>
        </p:sp>
      </p:grpSp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3FDA5A08-EFF3-09C4-0B21-46B6B9CAA0DB}"/>
              </a:ext>
            </a:extLst>
          </p:cNvPr>
          <p:cNvGrpSpPr/>
          <p:nvPr/>
        </p:nvGrpSpPr>
        <p:grpSpPr>
          <a:xfrm>
            <a:off x="14225833" y="4227575"/>
            <a:ext cx="1270000" cy="1270000"/>
            <a:chOff x="10201275" y="2800350"/>
            <a:chExt cx="952500" cy="952500"/>
          </a:xfrm>
        </p:grpSpPr>
        <p:pic>
          <p:nvPicPr>
            <p:cNvPr id="151" name="Image 20" descr="preencoded.png">
              <a:extLst>
                <a:ext uri="{FF2B5EF4-FFF2-40B4-BE49-F238E27FC236}">
                  <a16:creationId xmlns:a16="http://schemas.microsoft.com/office/drawing/2014/main" id="{8589F8CF-087F-20B6-1A55-F451E5C97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201275" y="2800350"/>
              <a:ext cx="952500" cy="952500"/>
            </a:xfrm>
            <a:prstGeom prst="rect">
              <a:avLst/>
            </a:prstGeom>
          </p:spPr>
        </p:pic>
        <p:pic>
          <p:nvPicPr>
            <p:cNvPr id="152" name="Image 21" descr="preencoded.png">
              <a:extLst>
                <a:ext uri="{FF2B5EF4-FFF2-40B4-BE49-F238E27FC236}">
                  <a16:creationId xmlns:a16="http://schemas.microsoft.com/office/drawing/2014/main" id="{64CAC309-0D16-FD65-1426-DB7A2AE85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563225" y="3009900"/>
              <a:ext cx="228600" cy="304800"/>
            </a:xfrm>
            <a:prstGeom prst="rect">
              <a:avLst/>
            </a:prstGeom>
          </p:spPr>
        </p:pic>
        <p:sp>
          <p:nvSpPr>
            <p:cNvPr id="153" name="Text 18">
              <a:extLst>
                <a:ext uri="{FF2B5EF4-FFF2-40B4-BE49-F238E27FC236}">
                  <a16:creationId xmlns:a16="http://schemas.microsoft.com/office/drawing/2014/main" id="{AF338BDF-DDD1-07D2-72CA-198E35CD7CEA}"/>
                </a:ext>
              </a:extLst>
            </p:cNvPr>
            <p:cNvSpPr/>
            <p:nvPr/>
          </p:nvSpPr>
          <p:spPr>
            <a:xfrm>
              <a:off x="10371713" y="3352800"/>
              <a:ext cx="611624" cy="1767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000"/>
                </a:lnSpc>
              </a:pPr>
              <a:r>
                <a:rPr lang="en-US" sz="1307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Replica 4</a:t>
              </a:r>
              <a:endParaRPr lang="en-US" sz="1307" dirty="0"/>
            </a:p>
          </p:txBody>
        </p:sp>
      </p:grpSp>
      <p:sp>
        <p:nvSpPr>
          <p:cNvPr id="154" name="Text 20">
            <a:extLst>
              <a:ext uri="{FF2B5EF4-FFF2-40B4-BE49-F238E27FC236}">
                <a16:creationId xmlns:a16="http://schemas.microsoft.com/office/drawing/2014/main" id="{C91C9603-1E21-3B6E-697B-B8CB3FF89C26}"/>
              </a:ext>
            </a:extLst>
          </p:cNvPr>
          <p:cNvSpPr/>
          <p:nvPr/>
        </p:nvSpPr>
        <p:spPr>
          <a:xfrm>
            <a:off x="6901180" y="6153954"/>
            <a:ext cx="9108440" cy="280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493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Paxos</a:t>
            </a:r>
            <a:r>
              <a:rPr lang="zh-CN" altLang="en-US" sz="1493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93" b="1" dirty="0" err="1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协议流程</a:t>
            </a:r>
            <a:endParaRPr lang="en-US" sz="1493" dirty="0">
              <a:solidFill>
                <a:schemeClr val="bg1"/>
              </a:solidFill>
            </a:endParaRPr>
          </a:p>
        </p:txBody>
      </p:sp>
      <p:grpSp>
        <p:nvGrpSpPr>
          <p:cNvPr id="155" name="组合 154">
            <a:extLst>
              <a:ext uri="{FF2B5EF4-FFF2-40B4-BE49-F238E27FC236}">
                <a16:creationId xmlns:a16="http://schemas.microsoft.com/office/drawing/2014/main" id="{73B26D74-945D-0E37-A0C6-5A5ED28234D1}"/>
              </a:ext>
            </a:extLst>
          </p:cNvPr>
          <p:cNvGrpSpPr/>
          <p:nvPr/>
        </p:nvGrpSpPr>
        <p:grpSpPr>
          <a:xfrm>
            <a:off x="10117239" y="6665974"/>
            <a:ext cx="899315" cy="913182"/>
            <a:chOff x="7327325" y="4629150"/>
            <a:chExt cx="674486" cy="684887"/>
          </a:xfrm>
        </p:grpSpPr>
        <p:grpSp>
          <p:nvGrpSpPr>
            <p:cNvPr id="156" name="组合 155">
              <a:extLst>
                <a:ext uri="{FF2B5EF4-FFF2-40B4-BE49-F238E27FC236}">
                  <a16:creationId xmlns:a16="http://schemas.microsoft.com/office/drawing/2014/main" id="{0A07BD53-8C7D-0C83-41C5-C87039F52D00}"/>
                </a:ext>
              </a:extLst>
            </p:cNvPr>
            <p:cNvGrpSpPr/>
            <p:nvPr/>
          </p:nvGrpSpPr>
          <p:grpSpPr>
            <a:xfrm>
              <a:off x="7496928" y="4629150"/>
              <a:ext cx="335280" cy="304800"/>
              <a:chOff x="7571571" y="4629150"/>
              <a:chExt cx="335280" cy="304800"/>
            </a:xfrm>
          </p:grpSpPr>
          <p:pic>
            <p:nvPicPr>
              <p:cNvPr id="158" name="Image 27" descr="preencoded.png">
                <a:extLst>
                  <a:ext uri="{FF2B5EF4-FFF2-40B4-BE49-F238E27FC236}">
                    <a16:creationId xmlns:a16="http://schemas.microsoft.com/office/drawing/2014/main" id="{8BC81A5A-2344-590F-A4F0-98DF4D97B0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586811" y="4629150"/>
                <a:ext cx="304800" cy="304800"/>
              </a:xfrm>
              <a:prstGeom prst="rect">
                <a:avLst/>
              </a:prstGeom>
            </p:spPr>
          </p:pic>
          <p:sp>
            <p:nvSpPr>
              <p:cNvPr id="159" name="Text 22">
                <a:extLst>
                  <a:ext uri="{FF2B5EF4-FFF2-40B4-BE49-F238E27FC236}">
                    <a16:creationId xmlns:a16="http://schemas.microsoft.com/office/drawing/2014/main" id="{2FC9BB0D-91D5-7433-1F46-A91402109C16}"/>
                  </a:ext>
                </a:extLst>
              </p:cNvPr>
              <p:cNvSpPr/>
              <p:nvPr/>
            </p:nvSpPr>
            <p:spPr>
              <a:xfrm>
                <a:off x="7571571" y="4676448"/>
                <a:ext cx="335280" cy="21020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en-US" sz="1493" dirty="0">
                    <a:solidFill>
                      <a:srgbClr val="FFFFFF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2</a:t>
                </a:r>
                <a:endParaRPr lang="en-US" sz="1493" dirty="0"/>
              </a:p>
            </p:txBody>
          </p:sp>
        </p:grpSp>
        <p:sp>
          <p:nvSpPr>
            <p:cNvPr id="157" name="Text 23">
              <a:extLst>
                <a:ext uri="{FF2B5EF4-FFF2-40B4-BE49-F238E27FC236}">
                  <a16:creationId xmlns:a16="http://schemas.microsoft.com/office/drawing/2014/main" id="{D0279DBD-C915-C77D-A4B6-B132ED4743F3}"/>
                </a:ext>
              </a:extLst>
            </p:cNvPr>
            <p:cNvSpPr/>
            <p:nvPr/>
          </p:nvSpPr>
          <p:spPr>
            <a:xfrm>
              <a:off x="7327325" y="5011647"/>
              <a:ext cx="674486" cy="3023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333" b="1" dirty="0">
                  <a:solidFill>
                    <a:schemeClr val="bg1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Promise</a:t>
              </a:r>
            </a:p>
            <a:p>
              <a:pPr algn="ctr">
                <a:lnSpc>
                  <a:spcPts val="1600"/>
                </a:lnSpc>
              </a:pPr>
              <a:r>
                <a:rPr lang="en-US" sz="1333" dirty="0" err="1">
                  <a:solidFill>
                    <a:schemeClr val="bg1"/>
                  </a:solidFill>
                  <a:latin typeface="Microsoft YaHei" pitchFamily="34" charset="0"/>
                  <a:ea typeface="Microsoft YaHei" pitchFamily="34" charset="-122"/>
                </a:rPr>
                <a:t>承诺响应</a:t>
              </a:r>
              <a:endParaRPr lang="en-US" sz="1333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0" name="组合 159">
            <a:extLst>
              <a:ext uri="{FF2B5EF4-FFF2-40B4-BE49-F238E27FC236}">
                <a16:creationId xmlns:a16="http://schemas.microsoft.com/office/drawing/2014/main" id="{DC9B2969-CA2B-32A9-1794-0BF0EE70FEB1}"/>
              </a:ext>
            </a:extLst>
          </p:cNvPr>
          <p:cNvGrpSpPr/>
          <p:nvPr/>
        </p:nvGrpSpPr>
        <p:grpSpPr>
          <a:xfrm>
            <a:off x="12500831" y="6665978"/>
            <a:ext cx="899315" cy="913183"/>
            <a:chOff x="9115019" y="4629150"/>
            <a:chExt cx="674486" cy="684887"/>
          </a:xfrm>
        </p:grpSpPr>
        <p:grpSp>
          <p:nvGrpSpPr>
            <p:cNvPr id="161" name="组合 160">
              <a:extLst>
                <a:ext uri="{FF2B5EF4-FFF2-40B4-BE49-F238E27FC236}">
                  <a16:creationId xmlns:a16="http://schemas.microsoft.com/office/drawing/2014/main" id="{3E1ADEB3-99D3-6561-546A-9360AA43603F}"/>
                </a:ext>
              </a:extLst>
            </p:cNvPr>
            <p:cNvGrpSpPr/>
            <p:nvPr/>
          </p:nvGrpSpPr>
          <p:grpSpPr>
            <a:xfrm>
              <a:off x="9284622" y="4629150"/>
              <a:ext cx="335280" cy="304800"/>
              <a:chOff x="9329976" y="4629150"/>
              <a:chExt cx="335280" cy="304800"/>
            </a:xfrm>
          </p:grpSpPr>
          <p:pic>
            <p:nvPicPr>
              <p:cNvPr id="163" name="Image 29" descr="preencoded.png">
                <a:extLst>
                  <a:ext uri="{FF2B5EF4-FFF2-40B4-BE49-F238E27FC236}">
                    <a16:creationId xmlns:a16="http://schemas.microsoft.com/office/drawing/2014/main" id="{AF62207B-AB17-671D-CA3F-24E08BFEA0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9345216" y="4629150"/>
                <a:ext cx="304800" cy="304800"/>
              </a:xfrm>
              <a:prstGeom prst="rect">
                <a:avLst/>
              </a:prstGeom>
            </p:spPr>
          </p:pic>
          <p:sp>
            <p:nvSpPr>
              <p:cNvPr id="164" name="Text 24">
                <a:extLst>
                  <a:ext uri="{FF2B5EF4-FFF2-40B4-BE49-F238E27FC236}">
                    <a16:creationId xmlns:a16="http://schemas.microsoft.com/office/drawing/2014/main" id="{F4F3643D-E94D-76D5-1BBC-8724D60D0673}"/>
                  </a:ext>
                </a:extLst>
              </p:cNvPr>
              <p:cNvSpPr/>
              <p:nvPr/>
            </p:nvSpPr>
            <p:spPr>
              <a:xfrm>
                <a:off x="9329976" y="4676448"/>
                <a:ext cx="335280" cy="21020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en-US" sz="1493" dirty="0">
                    <a:solidFill>
                      <a:srgbClr val="FFFFFF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3</a:t>
                </a:r>
                <a:endParaRPr lang="en-US" sz="1493" dirty="0"/>
              </a:p>
            </p:txBody>
          </p:sp>
        </p:grpSp>
        <p:sp>
          <p:nvSpPr>
            <p:cNvPr id="162" name="Text 25">
              <a:extLst>
                <a:ext uri="{FF2B5EF4-FFF2-40B4-BE49-F238E27FC236}">
                  <a16:creationId xmlns:a16="http://schemas.microsoft.com/office/drawing/2014/main" id="{F4200A65-A68A-513A-8F55-832DAFDF8BC8}"/>
                </a:ext>
              </a:extLst>
            </p:cNvPr>
            <p:cNvSpPr/>
            <p:nvPr/>
          </p:nvSpPr>
          <p:spPr>
            <a:xfrm>
              <a:off x="9115019" y="5011647"/>
              <a:ext cx="674486" cy="3023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333" b="1" dirty="0">
                  <a:solidFill>
                    <a:schemeClr val="bg1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Accept</a:t>
              </a:r>
            </a:p>
            <a:p>
              <a:pPr algn="ctr">
                <a:lnSpc>
                  <a:spcPts val="1600"/>
                </a:lnSpc>
              </a:pPr>
              <a:r>
                <a:rPr lang="en-US" sz="1333" dirty="0" err="1">
                  <a:solidFill>
                    <a:schemeClr val="bg1"/>
                  </a:solidFill>
                </a:rPr>
                <a:t>接受请求</a:t>
              </a:r>
              <a:endParaRPr lang="en-US" sz="1333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06D52CF3-1E25-41BD-F920-D326AF11DE89}"/>
              </a:ext>
            </a:extLst>
          </p:cNvPr>
          <p:cNvGrpSpPr/>
          <p:nvPr/>
        </p:nvGrpSpPr>
        <p:grpSpPr>
          <a:xfrm>
            <a:off x="14884422" y="6665974"/>
            <a:ext cx="899313" cy="913182"/>
            <a:chOff x="10902712" y="4629150"/>
            <a:chExt cx="674485" cy="684887"/>
          </a:xfrm>
        </p:grpSpPr>
        <p:grpSp>
          <p:nvGrpSpPr>
            <p:cNvPr id="166" name="组合 165">
              <a:extLst>
                <a:ext uri="{FF2B5EF4-FFF2-40B4-BE49-F238E27FC236}">
                  <a16:creationId xmlns:a16="http://schemas.microsoft.com/office/drawing/2014/main" id="{F39DF7FD-B566-D1A6-5618-C95F9A2F7381}"/>
                </a:ext>
              </a:extLst>
            </p:cNvPr>
            <p:cNvGrpSpPr/>
            <p:nvPr/>
          </p:nvGrpSpPr>
          <p:grpSpPr>
            <a:xfrm>
              <a:off x="11072314" y="4629150"/>
              <a:ext cx="335280" cy="304800"/>
              <a:chOff x="11053554" y="4629150"/>
              <a:chExt cx="335280" cy="304800"/>
            </a:xfrm>
          </p:grpSpPr>
          <p:pic>
            <p:nvPicPr>
              <p:cNvPr id="168" name="Image 31" descr="preencoded.png">
                <a:extLst>
                  <a:ext uri="{FF2B5EF4-FFF2-40B4-BE49-F238E27FC236}">
                    <a16:creationId xmlns:a16="http://schemas.microsoft.com/office/drawing/2014/main" id="{393B5452-4AA8-B94E-3780-0B9A3035F0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11068794" y="4629150"/>
                <a:ext cx="304800" cy="304800"/>
              </a:xfrm>
              <a:prstGeom prst="rect">
                <a:avLst/>
              </a:prstGeom>
            </p:spPr>
          </p:pic>
          <p:sp>
            <p:nvSpPr>
              <p:cNvPr id="169" name="Text 26">
                <a:extLst>
                  <a:ext uri="{FF2B5EF4-FFF2-40B4-BE49-F238E27FC236}">
                    <a16:creationId xmlns:a16="http://schemas.microsoft.com/office/drawing/2014/main" id="{8E31F77F-A791-7A67-1D65-361537CDB590}"/>
                  </a:ext>
                </a:extLst>
              </p:cNvPr>
              <p:cNvSpPr/>
              <p:nvPr/>
            </p:nvSpPr>
            <p:spPr>
              <a:xfrm>
                <a:off x="11053554" y="4676448"/>
                <a:ext cx="335280" cy="21020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en-US" sz="1493" dirty="0">
                    <a:solidFill>
                      <a:srgbClr val="FFFFFF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4</a:t>
                </a:r>
                <a:endParaRPr lang="en-US" sz="1493" dirty="0"/>
              </a:p>
            </p:txBody>
          </p:sp>
        </p:grpSp>
        <p:sp>
          <p:nvSpPr>
            <p:cNvPr id="167" name="Text 27">
              <a:extLst>
                <a:ext uri="{FF2B5EF4-FFF2-40B4-BE49-F238E27FC236}">
                  <a16:creationId xmlns:a16="http://schemas.microsoft.com/office/drawing/2014/main" id="{2950823D-368E-5B9F-B908-A62E0F9430CC}"/>
                </a:ext>
              </a:extLst>
            </p:cNvPr>
            <p:cNvSpPr/>
            <p:nvPr/>
          </p:nvSpPr>
          <p:spPr>
            <a:xfrm>
              <a:off x="10902712" y="5011647"/>
              <a:ext cx="674485" cy="3023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333" b="1" dirty="0">
                  <a:solidFill>
                    <a:schemeClr val="bg1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Accepted</a:t>
              </a:r>
            </a:p>
            <a:p>
              <a:pPr algn="ctr">
                <a:lnSpc>
                  <a:spcPts val="1600"/>
                </a:lnSpc>
              </a:pPr>
              <a:r>
                <a:rPr lang="en-US" sz="1333" dirty="0" err="1">
                  <a:solidFill>
                    <a:schemeClr val="bg1"/>
                  </a:solidFill>
                </a:rPr>
                <a:t>确认接受</a:t>
              </a:r>
              <a:endParaRPr lang="en-US" sz="1333" dirty="0">
                <a:solidFill>
                  <a:schemeClr val="bg1"/>
                </a:solidFill>
              </a:endParaRPr>
            </a:p>
          </p:txBody>
        </p:sp>
      </p:grpSp>
      <p:sp>
        <p:nvSpPr>
          <p:cNvPr id="170" name="Text 28">
            <a:extLst>
              <a:ext uri="{FF2B5EF4-FFF2-40B4-BE49-F238E27FC236}">
                <a16:creationId xmlns:a16="http://schemas.microsoft.com/office/drawing/2014/main" id="{D66AE8C1-CF10-3834-8193-8F3D25059D73}"/>
              </a:ext>
            </a:extLst>
          </p:cNvPr>
          <p:cNvSpPr/>
          <p:nvPr/>
        </p:nvSpPr>
        <p:spPr>
          <a:xfrm>
            <a:off x="7915323" y="7799805"/>
            <a:ext cx="8112383" cy="699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Chubby </a:t>
            </a:r>
            <a:r>
              <a:rPr lang="zh-CN" altLang="en-US" sz="16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</a:t>
            </a:r>
            <a:r>
              <a:rPr lang="en-US" sz="16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Paxos </a:t>
            </a:r>
            <a:r>
              <a:rPr lang="zh-CN" altLang="en-US" sz="16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协议确保集群中所有服务器就 </a:t>
            </a:r>
            <a:r>
              <a:rPr lang="en-US" sz="16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 </a:t>
            </a:r>
            <a:r>
              <a:rPr lang="zh-CN" altLang="en-US" sz="16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选举达成共识，即使部分服务器故障，只要 </a:t>
            </a:r>
            <a:r>
              <a:rPr lang="en-US" sz="16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majority </a:t>
            </a:r>
            <a:r>
              <a:rPr lang="zh-CN" altLang="en-US" sz="16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服务器正常运行，系统就能持续提供服务。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24F66BAB-58A7-08AD-CE93-E995E192A9D6}"/>
              </a:ext>
            </a:extLst>
          </p:cNvPr>
          <p:cNvGrpSpPr/>
          <p:nvPr/>
        </p:nvGrpSpPr>
        <p:grpSpPr>
          <a:xfrm>
            <a:off x="7952193" y="6665976"/>
            <a:ext cx="680769" cy="909721"/>
            <a:chOff x="5703540" y="4629150"/>
            <a:chExt cx="510577" cy="682291"/>
          </a:xfrm>
        </p:grpSpPr>
        <p:sp>
          <p:nvSpPr>
            <p:cNvPr id="173" name="Text 21">
              <a:extLst>
                <a:ext uri="{FF2B5EF4-FFF2-40B4-BE49-F238E27FC236}">
                  <a16:creationId xmlns:a16="http://schemas.microsoft.com/office/drawing/2014/main" id="{87541E21-833F-012C-5B24-18D0FDE30EF7}"/>
                </a:ext>
              </a:extLst>
            </p:cNvPr>
            <p:cNvSpPr/>
            <p:nvPr/>
          </p:nvSpPr>
          <p:spPr>
            <a:xfrm>
              <a:off x="5703540" y="5011647"/>
              <a:ext cx="510577" cy="2997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333" b="1" dirty="0">
                  <a:solidFill>
                    <a:schemeClr val="bg1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Prepare</a:t>
              </a:r>
            </a:p>
            <a:p>
              <a:pPr algn="ctr">
                <a:lnSpc>
                  <a:spcPts val="1600"/>
                </a:lnSpc>
              </a:pPr>
              <a:r>
                <a:rPr lang="en-US" sz="1333" dirty="0" err="1">
                  <a:solidFill>
                    <a:schemeClr val="bg1"/>
                  </a:solidFill>
                  <a:latin typeface="Microsoft YaHei" pitchFamily="34" charset="0"/>
                  <a:ea typeface="Microsoft YaHei" pitchFamily="34" charset="-122"/>
                </a:rPr>
                <a:t>准备阶段</a:t>
              </a:r>
              <a:endParaRPr lang="en-US" sz="1333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endParaRPr>
            </a:p>
          </p:txBody>
        </p:sp>
        <p:grpSp>
          <p:nvGrpSpPr>
            <p:cNvPr id="174" name="组合 173">
              <a:extLst>
                <a:ext uri="{FF2B5EF4-FFF2-40B4-BE49-F238E27FC236}">
                  <a16:creationId xmlns:a16="http://schemas.microsoft.com/office/drawing/2014/main" id="{50B44D4D-D770-42F1-09A5-C0280B59FB52}"/>
                </a:ext>
              </a:extLst>
            </p:cNvPr>
            <p:cNvGrpSpPr/>
            <p:nvPr/>
          </p:nvGrpSpPr>
          <p:grpSpPr>
            <a:xfrm>
              <a:off x="5791188" y="4629150"/>
              <a:ext cx="335280" cy="304800"/>
              <a:chOff x="7571571" y="4629150"/>
              <a:chExt cx="335280" cy="304800"/>
            </a:xfrm>
          </p:grpSpPr>
          <p:pic>
            <p:nvPicPr>
              <p:cNvPr id="175" name="Image 27" descr="preencoded.png">
                <a:extLst>
                  <a:ext uri="{FF2B5EF4-FFF2-40B4-BE49-F238E27FC236}">
                    <a16:creationId xmlns:a16="http://schemas.microsoft.com/office/drawing/2014/main" id="{20950CC7-FA4E-2CD4-31B4-0E58D3C17E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586811" y="4629150"/>
                <a:ext cx="304800" cy="304800"/>
              </a:xfrm>
              <a:prstGeom prst="rect">
                <a:avLst/>
              </a:prstGeom>
            </p:spPr>
          </p:pic>
          <p:sp>
            <p:nvSpPr>
              <p:cNvPr id="176" name="Text 22">
                <a:extLst>
                  <a:ext uri="{FF2B5EF4-FFF2-40B4-BE49-F238E27FC236}">
                    <a16:creationId xmlns:a16="http://schemas.microsoft.com/office/drawing/2014/main" id="{F54AA61C-6B2B-895F-B50F-9CA2C53AFD10}"/>
                  </a:ext>
                </a:extLst>
              </p:cNvPr>
              <p:cNvSpPr/>
              <p:nvPr/>
            </p:nvSpPr>
            <p:spPr>
              <a:xfrm>
                <a:off x="7571571" y="4676448"/>
                <a:ext cx="335280" cy="21020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en-US" altLang="zh-CN" sz="1493" dirty="0">
                    <a:solidFill>
                      <a:srgbClr val="FFFFFF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1</a:t>
                </a:r>
                <a:endParaRPr lang="en-US" sz="1493" dirty="0"/>
              </a:p>
            </p:txBody>
          </p:sp>
        </p:grpSp>
      </p:grpSp>
      <p:sp>
        <p:nvSpPr>
          <p:cNvPr id="177" name="右箭头 176">
            <a:extLst>
              <a:ext uri="{FF2B5EF4-FFF2-40B4-BE49-F238E27FC236}">
                <a16:creationId xmlns:a16="http://schemas.microsoft.com/office/drawing/2014/main" id="{917FBCE0-68D4-F876-DC05-BD8C2B904394}"/>
              </a:ext>
            </a:extLst>
          </p:cNvPr>
          <p:cNvSpPr/>
          <p:nvPr/>
        </p:nvSpPr>
        <p:spPr>
          <a:xfrm>
            <a:off x="9067065" y="6809105"/>
            <a:ext cx="616073" cy="182015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78" name="右箭头 177">
            <a:extLst>
              <a:ext uri="{FF2B5EF4-FFF2-40B4-BE49-F238E27FC236}">
                <a16:creationId xmlns:a16="http://schemas.microsoft.com/office/drawing/2014/main" id="{08475F60-FBBF-9041-72FF-7C0D005641EC}"/>
              </a:ext>
            </a:extLst>
          </p:cNvPr>
          <p:cNvSpPr/>
          <p:nvPr/>
        </p:nvSpPr>
        <p:spPr>
          <a:xfrm>
            <a:off x="11450656" y="6809105"/>
            <a:ext cx="616073" cy="182015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79" name="右箭头 178">
            <a:extLst>
              <a:ext uri="{FF2B5EF4-FFF2-40B4-BE49-F238E27FC236}">
                <a16:creationId xmlns:a16="http://schemas.microsoft.com/office/drawing/2014/main" id="{DBB8533B-41D9-D8C8-02A0-24076C4B7BEE}"/>
              </a:ext>
            </a:extLst>
          </p:cNvPr>
          <p:cNvSpPr/>
          <p:nvPr/>
        </p:nvSpPr>
        <p:spPr>
          <a:xfrm>
            <a:off x="13840730" y="6805197"/>
            <a:ext cx="616073" cy="182015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cxnSp>
        <p:nvCxnSpPr>
          <p:cNvPr id="180" name="直线箭头连接符 179">
            <a:extLst>
              <a:ext uri="{FF2B5EF4-FFF2-40B4-BE49-F238E27FC236}">
                <a16:creationId xmlns:a16="http://schemas.microsoft.com/office/drawing/2014/main" id="{C565FBEB-F9ED-067E-9827-0F2705B388DC}"/>
              </a:ext>
            </a:extLst>
          </p:cNvPr>
          <p:cNvCxnSpPr>
            <a:cxnSpLocks/>
            <a:stCxn id="135" idx="2"/>
            <a:endCxn id="139" idx="0"/>
          </p:cNvCxnSpPr>
          <p:nvPr/>
        </p:nvCxnSpPr>
        <p:spPr>
          <a:xfrm flipH="1">
            <a:off x="8323072" y="3237443"/>
            <a:ext cx="3268880" cy="9901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1" name="直线箭头连接符 180">
            <a:extLst>
              <a:ext uri="{FF2B5EF4-FFF2-40B4-BE49-F238E27FC236}">
                <a16:creationId xmlns:a16="http://schemas.microsoft.com/office/drawing/2014/main" id="{B507272A-F605-B37D-0954-153B36BBD617}"/>
              </a:ext>
            </a:extLst>
          </p:cNvPr>
          <p:cNvCxnSpPr>
            <a:cxnSpLocks/>
            <a:stCxn id="135" idx="2"/>
            <a:endCxn id="143" idx="0"/>
          </p:cNvCxnSpPr>
          <p:nvPr/>
        </p:nvCxnSpPr>
        <p:spPr>
          <a:xfrm flipH="1">
            <a:off x="10502325" y="3237443"/>
            <a:ext cx="1089627" cy="9901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2" name="直线箭头连接符 181">
            <a:extLst>
              <a:ext uri="{FF2B5EF4-FFF2-40B4-BE49-F238E27FC236}">
                <a16:creationId xmlns:a16="http://schemas.microsoft.com/office/drawing/2014/main" id="{62C8417B-7B32-3C95-2AB7-29372EDB5A23}"/>
              </a:ext>
            </a:extLst>
          </p:cNvPr>
          <p:cNvCxnSpPr>
            <a:cxnSpLocks/>
            <a:stCxn id="135" idx="2"/>
            <a:endCxn id="147" idx="0"/>
          </p:cNvCxnSpPr>
          <p:nvPr/>
        </p:nvCxnSpPr>
        <p:spPr>
          <a:xfrm>
            <a:off x="11591952" y="3237443"/>
            <a:ext cx="1089627" cy="9901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3" name="直线箭头连接符 182">
            <a:extLst>
              <a:ext uri="{FF2B5EF4-FFF2-40B4-BE49-F238E27FC236}">
                <a16:creationId xmlns:a16="http://schemas.microsoft.com/office/drawing/2014/main" id="{395CB263-1508-D150-ACCC-DD5E4850A9A9}"/>
              </a:ext>
            </a:extLst>
          </p:cNvPr>
          <p:cNvCxnSpPr>
            <a:cxnSpLocks/>
            <a:stCxn id="135" idx="2"/>
            <a:endCxn id="151" idx="0"/>
          </p:cNvCxnSpPr>
          <p:nvPr/>
        </p:nvCxnSpPr>
        <p:spPr>
          <a:xfrm>
            <a:off x="11591953" y="3237443"/>
            <a:ext cx="3268881" cy="9901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16283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CONSENSUS PROTOCOL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主节点选举：Paxos 共识协议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784350"/>
            <a:ext cx="4864100" cy="4889500"/>
          </a:xfrm>
          <a:custGeom>
            <a:avLst/>
            <a:gdLst/>
            <a:ahLst/>
            <a:cxnLst/>
            <a:rect l="l" t="t" r="r" b="b"/>
            <a:pathLst>
              <a:path w="4864100" h="4889500">
                <a:moveTo>
                  <a:pt x="152392" y="0"/>
                </a:moveTo>
                <a:lnTo>
                  <a:pt x="4711708" y="0"/>
                </a:lnTo>
                <a:cubicBezTo>
                  <a:pt x="4795872" y="0"/>
                  <a:pt x="4864100" y="68228"/>
                  <a:pt x="4864100" y="152392"/>
                </a:cubicBezTo>
                <a:lnTo>
                  <a:pt x="4864100" y="4737108"/>
                </a:lnTo>
                <a:cubicBezTo>
                  <a:pt x="4864100" y="4821272"/>
                  <a:pt x="4795872" y="4889500"/>
                  <a:pt x="4711708" y="4889500"/>
                </a:cubicBezTo>
                <a:lnTo>
                  <a:pt x="152392" y="4889500"/>
                </a:lnTo>
                <a:cubicBezTo>
                  <a:pt x="68228" y="4889500"/>
                  <a:pt x="0" y="4821272"/>
                  <a:pt x="0" y="4737108"/>
                </a:cubicBezTo>
                <a:lnTo>
                  <a:pt x="0" y="152392"/>
                </a:lnTo>
                <a:cubicBezTo>
                  <a:pt x="0" y="68285"/>
                  <a:pt x="68285" y="0"/>
                  <a:pt x="152392" y="0"/>
                </a:cubicBezTo>
                <a:close/>
              </a:path>
            </a:pathLst>
          </a:custGeom>
          <a:gradFill flip="none" rotWithShape="1">
            <a:gsLst>
              <a:gs pos="0">
                <a:srgbClr val="5A7D9A">
                  <a:alpha val="30000"/>
                </a:srgbClr>
              </a:gs>
              <a:gs pos="100000">
                <a:srgbClr val="5A7D9A">
                  <a:alpha val="10000"/>
                </a:srgbClr>
              </a:gs>
            </a:gsLst>
            <a:lin ang="2700000" scaled="1"/>
          </a:gradFill>
          <a:ln w="12700">
            <a:solidFill>
              <a:srgbClr val="5A7D9A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25500" y="2095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87425" y="22733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47625" y="47625"/>
                </a:moveTo>
                <a:cubicBezTo>
                  <a:pt x="47625" y="30113"/>
                  <a:pt x="61863" y="15875"/>
                  <a:pt x="79375" y="15875"/>
                </a:cubicBezTo>
                <a:lnTo>
                  <a:pt x="206375" y="15875"/>
                </a:lnTo>
                <a:cubicBezTo>
                  <a:pt x="223887" y="15875"/>
                  <a:pt x="238125" y="30113"/>
                  <a:pt x="238125" y="47625"/>
                </a:cubicBezTo>
                <a:lnTo>
                  <a:pt x="238125" y="158750"/>
                </a:lnTo>
                <a:cubicBezTo>
                  <a:pt x="238125" y="176262"/>
                  <a:pt x="223887" y="190500"/>
                  <a:pt x="206375" y="190500"/>
                </a:cubicBezTo>
                <a:lnTo>
                  <a:pt x="79375" y="190500"/>
                </a:lnTo>
                <a:cubicBezTo>
                  <a:pt x="61863" y="190500"/>
                  <a:pt x="47625" y="176262"/>
                  <a:pt x="47625" y="158750"/>
                </a:cubicBezTo>
                <a:lnTo>
                  <a:pt x="47625" y="47625"/>
                </a:lnTo>
                <a:close/>
                <a:moveTo>
                  <a:pt x="180925" y="57348"/>
                </a:moveTo>
                <a:cubicBezTo>
                  <a:pt x="175369" y="53876"/>
                  <a:pt x="168027" y="55563"/>
                  <a:pt x="164505" y="61119"/>
                </a:cubicBezTo>
                <a:lnTo>
                  <a:pt x="134045" y="109885"/>
                </a:lnTo>
                <a:lnTo>
                  <a:pt x="120650" y="92025"/>
                </a:lnTo>
                <a:cubicBezTo>
                  <a:pt x="116681" y="86767"/>
                  <a:pt x="109240" y="85675"/>
                  <a:pt x="103981" y="89644"/>
                </a:cubicBezTo>
                <a:cubicBezTo>
                  <a:pt x="98723" y="93613"/>
                  <a:pt x="97631" y="101054"/>
                  <a:pt x="101600" y="106313"/>
                </a:cubicBezTo>
                <a:lnTo>
                  <a:pt x="125413" y="138063"/>
                </a:lnTo>
                <a:cubicBezTo>
                  <a:pt x="127744" y="141188"/>
                  <a:pt x="131514" y="142974"/>
                  <a:pt x="135434" y="142825"/>
                </a:cubicBezTo>
                <a:cubicBezTo>
                  <a:pt x="139353" y="142677"/>
                  <a:pt x="142925" y="140593"/>
                  <a:pt x="145008" y="137220"/>
                </a:cubicBezTo>
                <a:lnTo>
                  <a:pt x="184696" y="73720"/>
                </a:lnTo>
                <a:cubicBezTo>
                  <a:pt x="188168" y="68163"/>
                  <a:pt x="186482" y="60821"/>
                  <a:pt x="180925" y="57299"/>
                </a:cubicBezTo>
                <a:close/>
                <a:moveTo>
                  <a:pt x="23812" y="154781"/>
                </a:moveTo>
                <a:lnTo>
                  <a:pt x="23812" y="206375"/>
                </a:lnTo>
                <a:cubicBezTo>
                  <a:pt x="23812" y="210741"/>
                  <a:pt x="27384" y="214313"/>
                  <a:pt x="31750" y="214313"/>
                </a:cubicBezTo>
                <a:lnTo>
                  <a:pt x="254000" y="214313"/>
                </a:lnTo>
                <a:cubicBezTo>
                  <a:pt x="258366" y="214313"/>
                  <a:pt x="261937" y="210741"/>
                  <a:pt x="261937" y="206375"/>
                </a:cubicBezTo>
                <a:lnTo>
                  <a:pt x="261937" y="154781"/>
                </a:lnTo>
                <a:cubicBezTo>
                  <a:pt x="261937" y="148183"/>
                  <a:pt x="267246" y="142875"/>
                  <a:pt x="273844" y="142875"/>
                </a:cubicBezTo>
                <a:cubicBezTo>
                  <a:pt x="280442" y="142875"/>
                  <a:pt x="285750" y="148183"/>
                  <a:pt x="285750" y="154781"/>
                </a:cubicBezTo>
                <a:lnTo>
                  <a:pt x="285750" y="206375"/>
                </a:lnTo>
                <a:cubicBezTo>
                  <a:pt x="285750" y="223887"/>
                  <a:pt x="271512" y="238125"/>
                  <a:pt x="254000" y="238125"/>
                </a:cubicBezTo>
                <a:lnTo>
                  <a:pt x="31750" y="238125"/>
                </a:lnTo>
                <a:cubicBezTo>
                  <a:pt x="14238" y="238125"/>
                  <a:pt x="0" y="223887"/>
                  <a:pt x="0" y="206375"/>
                </a:cubicBezTo>
                <a:lnTo>
                  <a:pt x="0" y="154781"/>
                </a:lnTo>
                <a:cubicBezTo>
                  <a:pt x="0" y="148183"/>
                  <a:pt x="5308" y="142875"/>
                  <a:pt x="11906" y="142875"/>
                </a:cubicBezTo>
                <a:cubicBezTo>
                  <a:pt x="18504" y="142875"/>
                  <a:pt x="23812" y="148183"/>
                  <a:pt x="23812" y="154781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587500" y="2197100"/>
            <a:ext cx="137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5A7D9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共识协议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5500" y="2959100"/>
            <a:ext cx="43561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所有副本</a:t>
            </a:r>
            <a:r>
              <a:rPr lang="en-US" sz="1800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 Paxos 算法</a:t>
            </a: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选举出一个主节点。Paxos 是一种分布式共识算法，能够在存在网络分区或节点故障的情况下，保证系统的一致性。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1850" y="5626100"/>
            <a:ext cx="4229100" cy="723900"/>
          </a:xfrm>
          <a:custGeom>
            <a:avLst/>
            <a:gdLst/>
            <a:ahLst/>
            <a:cxnLst/>
            <a:rect l="l" t="t" r="r" b="b"/>
            <a:pathLst>
              <a:path w="4229100" h="723900">
                <a:moveTo>
                  <a:pt x="101599" y="0"/>
                </a:moveTo>
                <a:lnTo>
                  <a:pt x="4127501" y="0"/>
                </a:lnTo>
                <a:cubicBezTo>
                  <a:pt x="4183612" y="0"/>
                  <a:pt x="4229100" y="45488"/>
                  <a:pt x="4229100" y="101599"/>
                </a:cubicBezTo>
                <a:lnTo>
                  <a:pt x="4229100" y="622301"/>
                </a:lnTo>
                <a:cubicBezTo>
                  <a:pt x="4229100" y="678412"/>
                  <a:pt x="4183612" y="723900"/>
                  <a:pt x="4127501" y="723900"/>
                </a:cubicBezTo>
                <a:lnTo>
                  <a:pt x="101599" y="723900"/>
                </a:lnTo>
                <a:cubicBezTo>
                  <a:pt x="45488" y="723900"/>
                  <a:pt x="0" y="678412"/>
                  <a:pt x="0" y="6223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5A7D9A">
              <a:alpha val="10196"/>
            </a:srgbClr>
          </a:solidFill>
          <a:ln w="12700">
            <a:solidFill>
              <a:srgbClr val="5A7D9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1066800" y="5892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88900" y="63500"/>
                </a:moveTo>
                <a:cubicBezTo>
                  <a:pt x="88900" y="56491"/>
                  <a:pt x="94591" y="50800"/>
                  <a:pt x="101600" y="50800"/>
                </a:cubicBezTo>
                <a:cubicBezTo>
                  <a:pt x="108609" y="50800"/>
                  <a:pt x="114300" y="56491"/>
                  <a:pt x="114300" y="63500"/>
                </a:cubicBezTo>
                <a:cubicBezTo>
                  <a:pt x="114300" y="70509"/>
                  <a:pt x="108609" y="76200"/>
                  <a:pt x="101600" y="76200"/>
                </a:cubicBezTo>
                <a:cubicBezTo>
                  <a:pt x="94591" y="76200"/>
                  <a:pt x="88900" y="70509"/>
                  <a:pt x="88900" y="63500"/>
                </a:cubicBezTo>
                <a:close/>
                <a:moveTo>
                  <a:pt x="85725" y="88900"/>
                </a:moveTo>
                <a:lnTo>
                  <a:pt x="104775" y="88900"/>
                </a:lnTo>
                <a:cubicBezTo>
                  <a:pt x="110053" y="88900"/>
                  <a:pt x="114300" y="93147"/>
                  <a:pt x="114300" y="98425"/>
                </a:cubicBezTo>
                <a:lnTo>
                  <a:pt x="114300" y="133350"/>
                </a:lnTo>
                <a:lnTo>
                  <a:pt x="117475" y="133350"/>
                </a:lnTo>
                <a:cubicBezTo>
                  <a:pt x="122753" y="133350"/>
                  <a:pt x="127000" y="137597"/>
                  <a:pt x="127000" y="142875"/>
                </a:cubicBezTo>
                <a:cubicBezTo>
                  <a:pt x="127000" y="148153"/>
                  <a:pt x="122753" y="152400"/>
                  <a:pt x="117475" y="152400"/>
                </a:cubicBezTo>
                <a:lnTo>
                  <a:pt x="85725" y="152400"/>
                </a:lnTo>
                <a:cubicBezTo>
                  <a:pt x="80447" y="152400"/>
                  <a:pt x="76200" y="148153"/>
                  <a:pt x="76200" y="142875"/>
                </a:cubicBezTo>
                <a:cubicBezTo>
                  <a:pt x="76200" y="137597"/>
                  <a:pt x="80447" y="133350"/>
                  <a:pt x="85725" y="133350"/>
                </a:cubicBezTo>
                <a:lnTo>
                  <a:pt x="95250" y="133350"/>
                </a:lnTo>
                <a:lnTo>
                  <a:pt x="95250" y="107950"/>
                </a:lnTo>
                <a:lnTo>
                  <a:pt x="85725" y="107950"/>
                </a:lnTo>
                <a:cubicBezTo>
                  <a:pt x="80447" y="107950"/>
                  <a:pt x="76200" y="103703"/>
                  <a:pt x="76200" y="98425"/>
                </a:cubicBezTo>
                <a:cubicBezTo>
                  <a:pt x="76200" y="93147"/>
                  <a:pt x="80447" y="88900"/>
                  <a:pt x="85725" y="8890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397000" y="5835650"/>
            <a:ext cx="355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任何时刻最多只有一个主节点被选出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95950" y="1784350"/>
            <a:ext cx="4864100" cy="4889500"/>
          </a:xfrm>
          <a:custGeom>
            <a:avLst/>
            <a:gdLst/>
            <a:ahLst/>
            <a:cxnLst/>
            <a:rect l="l" t="t" r="r" b="b"/>
            <a:pathLst>
              <a:path w="4864100" h="4889500">
                <a:moveTo>
                  <a:pt x="152392" y="0"/>
                </a:moveTo>
                <a:lnTo>
                  <a:pt x="4711708" y="0"/>
                </a:lnTo>
                <a:cubicBezTo>
                  <a:pt x="4795872" y="0"/>
                  <a:pt x="4864100" y="68228"/>
                  <a:pt x="4864100" y="152392"/>
                </a:cubicBezTo>
                <a:lnTo>
                  <a:pt x="4864100" y="4737108"/>
                </a:lnTo>
                <a:cubicBezTo>
                  <a:pt x="4864100" y="4821272"/>
                  <a:pt x="4795872" y="4889500"/>
                  <a:pt x="4711708" y="4889500"/>
                </a:cubicBezTo>
                <a:lnTo>
                  <a:pt x="152392" y="4889500"/>
                </a:lnTo>
                <a:cubicBezTo>
                  <a:pt x="68228" y="4889500"/>
                  <a:pt x="0" y="4821272"/>
                  <a:pt x="0" y="4737108"/>
                </a:cubicBezTo>
                <a:lnTo>
                  <a:pt x="0" y="152392"/>
                </a:lnTo>
                <a:cubicBezTo>
                  <a:pt x="0" y="68285"/>
                  <a:pt x="68285" y="0"/>
                  <a:pt x="152392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3A2">
                  <a:alpha val="30000"/>
                </a:srgbClr>
              </a:gs>
              <a:gs pos="100000">
                <a:srgbClr val="4DB3A2">
                  <a:alpha val="10000"/>
                </a:srgbClr>
              </a:gs>
            </a:gsLst>
            <a:lin ang="2700000" scaled="1"/>
          </a:gradFill>
          <a:ln w="12700">
            <a:solidFill>
              <a:srgbClr val="4DB3A2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007100" y="2095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216650" y="22733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0" y="31750"/>
                </a:moveTo>
                <a:cubicBezTo>
                  <a:pt x="0" y="14238"/>
                  <a:pt x="14238" y="0"/>
                  <a:pt x="31750" y="0"/>
                </a:cubicBezTo>
                <a:lnTo>
                  <a:pt x="105916" y="0"/>
                </a:lnTo>
                <a:cubicBezTo>
                  <a:pt x="114350" y="0"/>
                  <a:pt x="122436" y="3324"/>
                  <a:pt x="128389" y="9277"/>
                </a:cubicBezTo>
                <a:lnTo>
                  <a:pt x="181223" y="62161"/>
                </a:lnTo>
                <a:cubicBezTo>
                  <a:pt x="187176" y="68114"/>
                  <a:pt x="190500" y="76200"/>
                  <a:pt x="190500" y="84634"/>
                </a:cubicBezTo>
                <a:lnTo>
                  <a:pt x="190500" y="222250"/>
                </a:lnTo>
                <a:cubicBezTo>
                  <a:pt x="190500" y="239762"/>
                  <a:pt x="176262" y="254000"/>
                  <a:pt x="158750" y="254000"/>
                </a:cubicBezTo>
                <a:lnTo>
                  <a:pt x="31750" y="254000"/>
                </a:lnTo>
                <a:cubicBezTo>
                  <a:pt x="14238" y="254000"/>
                  <a:pt x="0" y="239762"/>
                  <a:pt x="0" y="222250"/>
                </a:cubicBezTo>
                <a:lnTo>
                  <a:pt x="0" y="31750"/>
                </a:lnTo>
                <a:close/>
                <a:moveTo>
                  <a:pt x="103188" y="29021"/>
                </a:moveTo>
                <a:lnTo>
                  <a:pt x="103188" y="75406"/>
                </a:lnTo>
                <a:cubicBezTo>
                  <a:pt x="103188" y="82004"/>
                  <a:pt x="108496" y="87313"/>
                  <a:pt x="115094" y="87313"/>
                </a:cubicBezTo>
                <a:lnTo>
                  <a:pt x="161479" y="87313"/>
                </a:lnTo>
                <a:lnTo>
                  <a:pt x="103188" y="29021"/>
                </a:lnTo>
                <a:close/>
                <a:moveTo>
                  <a:pt x="43656" y="31750"/>
                </a:moveTo>
                <a:cubicBezTo>
                  <a:pt x="37058" y="31750"/>
                  <a:pt x="31750" y="37058"/>
                  <a:pt x="31750" y="43656"/>
                </a:cubicBezTo>
                <a:cubicBezTo>
                  <a:pt x="31750" y="50254"/>
                  <a:pt x="37058" y="55563"/>
                  <a:pt x="43656" y="55563"/>
                </a:cubicBezTo>
                <a:lnTo>
                  <a:pt x="67469" y="55563"/>
                </a:lnTo>
                <a:cubicBezTo>
                  <a:pt x="74067" y="55563"/>
                  <a:pt x="79375" y="50254"/>
                  <a:pt x="79375" y="43656"/>
                </a:cubicBezTo>
                <a:cubicBezTo>
                  <a:pt x="79375" y="37058"/>
                  <a:pt x="74067" y="31750"/>
                  <a:pt x="67469" y="31750"/>
                </a:cubicBezTo>
                <a:lnTo>
                  <a:pt x="43656" y="31750"/>
                </a:lnTo>
                <a:close/>
                <a:moveTo>
                  <a:pt x="43656" y="79375"/>
                </a:moveTo>
                <a:cubicBezTo>
                  <a:pt x="37058" y="79375"/>
                  <a:pt x="31750" y="84683"/>
                  <a:pt x="31750" y="91281"/>
                </a:cubicBezTo>
                <a:cubicBezTo>
                  <a:pt x="31750" y="97879"/>
                  <a:pt x="37058" y="103188"/>
                  <a:pt x="43656" y="103188"/>
                </a:cubicBezTo>
                <a:lnTo>
                  <a:pt x="67469" y="103188"/>
                </a:lnTo>
                <a:cubicBezTo>
                  <a:pt x="74067" y="103188"/>
                  <a:pt x="79375" y="97879"/>
                  <a:pt x="79375" y="91281"/>
                </a:cubicBezTo>
                <a:cubicBezTo>
                  <a:pt x="79375" y="84683"/>
                  <a:pt x="74067" y="79375"/>
                  <a:pt x="67469" y="79375"/>
                </a:cubicBezTo>
                <a:lnTo>
                  <a:pt x="43656" y="79375"/>
                </a:lnTo>
                <a:close/>
                <a:moveTo>
                  <a:pt x="78532" y="158750"/>
                </a:moveTo>
                <a:cubicBezTo>
                  <a:pt x="72926" y="158750"/>
                  <a:pt x="67667" y="161280"/>
                  <a:pt x="64195" y="165646"/>
                </a:cubicBezTo>
                <a:lnTo>
                  <a:pt x="34379" y="202902"/>
                </a:lnTo>
                <a:cubicBezTo>
                  <a:pt x="30262" y="208012"/>
                  <a:pt x="31105" y="215553"/>
                  <a:pt x="36215" y="219621"/>
                </a:cubicBezTo>
                <a:cubicBezTo>
                  <a:pt x="41325" y="223689"/>
                  <a:pt x="48865" y="222895"/>
                  <a:pt x="52933" y="217736"/>
                </a:cubicBezTo>
                <a:lnTo>
                  <a:pt x="76299" y="188565"/>
                </a:lnTo>
                <a:lnTo>
                  <a:pt x="83840" y="213717"/>
                </a:lnTo>
                <a:cubicBezTo>
                  <a:pt x="85328" y="218777"/>
                  <a:pt x="89991" y="222200"/>
                  <a:pt x="95250" y="222200"/>
                </a:cubicBezTo>
                <a:lnTo>
                  <a:pt x="146844" y="222200"/>
                </a:lnTo>
                <a:cubicBezTo>
                  <a:pt x="153442" y="222200"/>
                  <a:pt x="158750" y="216892"/>
                  <a:pt x="158750" y="210294"/>
                </a:cubicBezTo>
                <a:cubicBezTo>
                  <a:pt x="158750" y="203696"/>
                  <a:pt x="153442" y="198388"/>
                  <a:pt x="146844" y="198388"/>
                </a:cubicBezTo>
                <a:lnTo>
                  <a:pt x="104130" y="198388"/>
                </a:lnTo>
                <a:lnTo>
                  <a:pt x="96143" y="171797"/>
                </a:lnTo>
                <a:cubicBezTo>
                  <a:pt x="93811" y="164009"/>
                  <a:pt x="86668" y="158700"/>
                  <a:pt x="78532" y="15870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769100" y="2197100"/>
            <a:ext cx="137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4DB3A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租约机制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07100" y="2959100"/>
            <a:ext cx="43561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其他副本向主节点</a:t>
            </a:r>
            <a:r>
              <a:rPr lang="en-US" sz="1800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授予租约</a:t>
            </a: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，在租约期间不会选举新的主节点。租约机制避免了频繁的主节点切换，提高了系统的稳定性。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13450" y="5626100"/>
            <a:ext cx="4229100" cy="723900"/>
          </a:xfrm>
          <a:custGeom>
            <a:avLst/>
            <a:gdLst/>
            <a:ahLst/>
            <a:cxnLst/>
            <a:rect l="l" t="t" r="r" b="b"/>
            <a:pathLst>
              <a:path w="4229100" h="723900">
                <a:moveTo>
                  <a:pt x="101599" y="0"/>
                </a:moveTo>
                <a:lnTo>
                  <a:pt x="4127501" y="0"/>
                </a:lnTo>
                <a:cubicBezTo>
                  <a:pt x="4183612" y="0"/>
                  <a:pt x="4229100" y="45488"/>
                  <a:pt x="4229100" y="101599"/>
                </a:cubicBezTo>
                <a:lnTo>
                  <a:pt x="4229100" y="622301"/>
                </a:lnTo>
                <a:cubicBezTo>
                  <a:pt x="4229100" y="678412"/>
                  <a:pt x="4183612" y="723900"/>
                  <a:pt x="4127501" y="723900"/>
                </a:cubicBezTo>
                <a:lnTo>
                  <a:pt x="101599" y="723900"/>
                </a:lnTo>
                <a:cubicBezTo>
                  <a:pt x="45488" y="723900"/>
                  <a:pt x="0" y="678412"/>
                  <a:pt x="0" y="6223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4DB3A2">
              <a:alpha val="10196"/>
            </a:srgbClr>
          </a:solidFill>
          <a:ln w="12700">
            <a:solidFill>
              <a:srgbClr val="4DB3A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248400" y="5892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57675" y="0"/>
                  <a:pt x="203200" y="45525"/>
                  <a:pt x="203200" y="101600"/>
                </a:cubicBezTo>
                <a:cubicBezTo>
                  <a:pt x="203200" y="157675"/>
                  <a:pt x="157675" y="203200"/>
                  <a:pt x="101600" y="203200"/>
                </a:cubicBezTo>
                <a:cubicBezTo>
                  <a:pt x="45525" y="203200"/>
                  <a:pt x="0" y="157675"/>
                  <a:pt x="0" y="101600"/>
                </a:cubicBezTo>
                <a:cubicBezTo>
                  <a:pt x="0" y="45525"/>
                  <a:pt x="45525" y="0"/>
                  <a:pt x="101600" y="0"/>
                </a:cubicBezTo>
                <a:close/>
                <a:moveTo>
                  <a:pt x="92075" y="47625"/>
                </a:moveTo>
                <a:lnTo>
                  <a:pt x="92075" y="101600"/>
                </a:lnTo>
                <a:cubicBezTo>
                  <a:pt x="92075" y="104775"/>
                  <a:pt x="93663" y="107752"/>
                  <a:pt x="96322" y="109538"/>
                </a:cubicBezTo>
                <a:lnTo>
                  <a:pt x="134422" y="134938"/>
                </a:lnTo>
                <a:cubicBezTo>
                  <a:pt x="138787" y="137874"/>
                  <a:pt x="144701" y="136684"/>
                  <a:pt x="147638" y="132278"/>
                </a:cubicBezTo>
                <a:cubicBezTo>
                  <a:pt x="150574" y="127873"/>
                  <a:pt x="149384" y="121999"/>
                  <a:pt x="144978" y="119063"/>
                </a:cubicBezTo>
                <a:lnTo>
                  <a:pt x="111125" y="96520"/>
                </a:lnTo>
                <a:lnTo>
                  <a:pt x="111125" y="47625"/>
                </a:lnTo>
                <a:cubicBezTo>
                  <a:pt x="111125" y="42347"/>
                  <a:pt x="106878" y="38100"/>
                  <a:pt x="101600" y="38100"/>
                </a:cubicBezTo>
                <a:cubicBezTo>
                  <a:pt x="96322" y="38100"/>
                  <a:pt x="92075" y="42347"/>
                  <a:pt x="92075" y="47625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578600" y="5835650"/>
            <a:ext cx="355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租约期内主节点拥有独占权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877550" y="1784350"/>
            <a:ext cx="4864100" cy="4889500"/>
          </a:xfrm>
          <a:custGeom>
            <a:avLst/>
            <a:gdLst/>
            <a:ahLst/>
            <a:cxnLst/>
            <a:rect l="l" t="t" r="r" b="b"/>
            <a:pathLst>
              <a:path w="4864100" h="4889500">
                <a:moveTo>
                  <a:pt x="152392" y="0"/>
                </a:moveTo>
                <a:lnTo>
                  <a:pt x="4711708" y="0"/>
                </a:lnTo>
                <a:cubicBezTo>
                  <a:pt x="4795872" y="0"/>
                  <a:pt x="4864100" y="68228"/>
                  <a:pt x="4864100" y="152392"/>
                </a:cubicBezTo>
                <a:lnTo>
                  <a:pt x="4864100" y="4737108"/>
                </a:lnTo>
                <a:cubicBezTo>
                  <a:pt x="4864100" y="4821272"/>
                  <a:pt x="4795872" y="4889500"/>
                  <a:pt x="4711708" y="4889500"/>
                </a:cubicBezTo>
                <a:lnTo>
                  <a:pt x="152392" y="4889500"/>
                </a:lnTo>
                <a:cubicBezTo>
                  <a:pt x="68228" y="4889500"/>
                  <a:pt x="0" y="4821272"/>
                  <a:pt x="0" y="4737108"/>
                </a:cubicBezTo>
                <a:lnTo>
                  <a:pt x="0" y="152392"/>
                </a:lnTo>
                <a:cubicBezTo>
                  <a:pt x="0" y="68285"/>
                  <a:pt x="68285" y="0"/>
                  <a:pt x="152392" y="0"/>
                </a:cubicBezTo>
                <a:close/>
              </a:path>
            </a:pathLst>
          </a:custGeom>
          <a:gradFill flip="none" rotWithShape="1">
            <a:gsLst>
              <a:gs pos="0">
                <a:srgbClr val="E1AF63">
                  <a:alpha val="30000"/>
                </a:srgbClr>
              </a:gs>
              <a:gs pos="100000">
                <a:srgbClr val="E1AF63">
                  <a:alpha val="10000"/>
                </a:srgbClr>
              </a:gs>
            </a:gsLst>
            <a:lin ang="2700000" scaled="1"/>
          </a:gradFill>
          <a:ln w="12700">
            <a:solidFill>
              <a:srgbClr val="E1AF63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11188700" y="2095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11366500" y="22733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2094" y="95250"/>
                </a:moveTo>
                <a:lnTo>
                  <a:pt x="170656" y="95250"/>
                </a:lnTo>
                <a:cubicBezTo>
                  <a:pt x="165844" y="95250"/>
                  <a:pt x="161479" y="92373"/>
                  <a:pt x="159643" y="87908"/>
                </a:cubicBezTo>
                <a:cubicBezTo>
                  <a:pt x="157807" y="83443"/>
                  <a:pt x="158800" y="78333"/>
                  <a:pt x="162223" y="74910"/>
                </a:cubicBezTo>
                <a:lnTo>
                  <a:pt x="185390" y="51743"/>
                </a:lnTo>
                <a:cubicBezTo>
                  <a:pt x="148034" y="22671"/>
                  <a:pt x="93960" y="25301"/>
                  <a:pt x="59630" y="59630"/>
                </a:cubicBezTo>
                <a:cubicBezTo>
                  <a:pt x="22423" y="96837"/>
                  <a:pt x="22423" y="157113"/>
                  <a:pt x="59630" y="194320"/>
                </a:cubicBezTo>
                <a:cubicBezTo>
                  <a:pt x="96837" y="231527"/>
                  <a:pt x="157113" y="231527"/>
                  <a:pt x="194320" y="194320"/>
                </a:cubicBezTo>
                <a:cubicBezTo>
                  <a:pt x="198388" y="190252"/>
                  <a:pt x="202009" y="185936"/>
                  <a:pt x="205184" y="181372"/>
                </a:cubicBezTo>
                <a:cubicBezTo>
                  <a:pt x="210195" y="174179"/>
                  <a:pt x="220117" y="172442"/>
                  <a:pt x="227310" y="177453"/>
                </a:cubicBezTo>
                <a:cubicBezTo>
                  <a:pt x="234504" y="182463"/>
                  <a:pt x="236240" y="192385"/>
                  <a:pt x="231229" y="199579"/>
                </a:cubicBezTo>
                <a:cubicBezTo>
                  <a:pt x="227012" y="205631"/>
                  <a:pt x="222200" y="211386"/>
                  <a:pt x="216793" y="216793"/>
                </a:cubicBezTo>
                <a:cubicBezTo>
                  <a:pt x="167184" y="266402"/>
                  <a:pt x="86767" y="266402"/>
                  <a:pt x="37207" y="216793"/>
                </a:cubicBezTo>
                <a:cubicBezTo>
                  <a:pt x="-12353" y="167184"/>
                  <a:pt x="-12402" y="86816"/>
                  <a:pt x="37207" y="37207"/>
                </a:cubicBezTo>
                <a:cubicBezTo>
                  <a:pt x="83989" y="-9575"/>
                  <a:pt x="158105" y="-12204"/>
                  <a:pt x="208012" y="29170"/>
                </a:cubicBezTo>
                <a:lnTo>
                  <a:pt x="233660" y="3473"/>
                </a:lnTo>
                <a:cubicBezTo>
                  <a:pt x="237083" y="50"/>
                  <a:pt x="242193" y="-943"/>
                  <a:pt x="246658" y="893"/>
                </a:cubicBezTo>
                <a:cubicBezTo>
                  <a:pt x="251123" y="2729"/>
                  <a:pt x="254000" y="7094"/>
                  <a:pt x="254000" y="11906"/>
                </a:cubicBezTo>
                <a:lnTo>
                  <a:pt x="254000" y="83344"/>
                </a:lnTo>
                <a:cubicBezTo>
                  <a:pt x="254000" y="89942"/>
                  <a:pt x="248692" y="95250"/>
                  <a:pt x="242094" y="9525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1950700" y="2197100"/>
            <a:ext cx="137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故障恢复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188700" y="2959100"/>
            <a:ext cx="43561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如果主节点失败，</a:t>
            </a:r>
            <a:r>
              <a:rPr lang="en-US" sz="1800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共识协议会重新运行</a:t>
            </a: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以选举新的主节点。故障检测通过心跳机制实现，副本在租约超时后触发新一轮选举。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195050" y="5626100"/>
            <a:ext cx="4229100" cy="723900"/>
          </a:xfrm>
          <a:custGeom>
            <a:avLst/>
            <a:gdLst/>
            <a:ahLst/>
            <a:cxnLst/>
            <a:rect l="l" t="t" r="r" b="b"/>
            <a:pathLst>
              <a:path w="4229100" h="723900">
                <a:moveTo>
                  <a:pt x="101599" y="0"/>
                </a:moveTo>
                <a:lnTo>
                  <a:pt x="4127501" y="0"/>
                </a:lnTo>
                <a:cubicBezTo>
                  <a:pt x="4183612" y="0"/>
                  <a:pt x="4229100" y="45488"/>
                  <a:pt x="4229100" y="101599"/>
                </a:cubicBezTo>
                <a:lnTo>
                  <a:pt x="4229100" y="622301"/>
                </a:lnTo>
                <a:cubicBezTo>
                  <a:pt x="4229100" y="678412"/>
                  <a:pt x="4183612" y="723900"/>
                  <a:pt x="4127501" y="723900"/>
                </a:cubicBezTo>
                <a:lnTo>
                  <a:pt x="101599" y="723900"/>
                </a:lnTo>
                <a:cubicBezTo>
                  <a:pt x="45488" y="723900"/>
                  <a:pt x="0" y="678412"/>
                  <a:pt x="0" y="6223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E1AF63">
              <a:alpha val="10196"/>
            </a:srgbClr>
          </a:solidFill>
          <a:ln w="12700">
            <a:solidFill>
              <a:srgbClr val="E1AF6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11430000" y="5892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03426" y="0"/>
                  <a:pt x="105251" y="397"/>
                  <a:pt x="106918" y="1151"/>
                </a:cubicBezTo>
                <a:lnTo>
                  <a:pt x="181689" y="32861"/>
                </a:lnTo>
                <a:cubicBezTo>
                  <a:pt x="190421" y="36552"/>
                  <a:pt x="196929" y="45164"/>
                  <a:pt x="196890" y="55563"/>
                </a:cubicBezTo>
                <a:cubicBezTo>
                  <a:pt x="196691" y="94932"/>
                  <a:pt x="180499" y="166965"/>
                  <a:pt x="112117" y="199708"/>
                </a:cubicBezTo>
                <a:cubicBezTo>
                  <a:pt x="105489" y="202883"/>
                  <a:pt x="97790" y="202883"/>
                  <a:pt x="91162" y="199708"/>
                </a:cubicBezTo>
                <a:cubicBezTo>
                  <a:pt x="22741" y="166965"/>
                  <a:pt x="6588" y="94932"/>
                  <a:pt x="6390" y="55563"/>
                </a:cubicBezTo>
                <a:cubicBezTo>
                  <a:pt x="6350" y="45164"/>
                  <a:pt x="12859" y="36552"/>
                  <a:pt x="21590" y="32861"/>
                </a:cubicBezTo>
                <a:lnTo>
                  <a:pt x="96322" y="1151"/>
                </a:lnTo>
                <a:cubicBezTo>
                  <a:pt x="97988" y="397"/>
                  <a:pt x="99774" y="0"/>
                  <a:pt x="101600" y="0"/>
                </a:cubicBezTo>
                <a:close/>
                <a:moveTo>
                  <a:pt x="101600" y="26511"/>
                </a:moveTo>
                <a:lnTo>
                  <a:pt x="101600" y="176570"/>
                </a:lnTo>
                <a:cubicBezTo>
                  <a:pt x="156369" y="150058"/>
                  <a:pt x="171093" y="91321"/>
                  <a:pt x="171450" y="56158"/>
                </a:cubicBezTo>
                <a:lnTo>
                  <a:pt x="101600" y="26551"/>
                </a:lnTo>
                <a:lnTo>
                  <a:pt x="101600" y="26551"/>
                </a:ln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1760200" y="5835650"/>
            <a:ext cx="355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自动故障检测与恢复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3400" y="6927850"/>
            <a:ext cx="15214600" cy="1714500"/>
          </a:xfrm>
          <a:custGeom>
            <a:avLst/>
            <a:gdLst/>
            <a:ahLst/>
            <a:cxnLst/>
            <a:rect l="l" t="t" r="r" b="b"/>
            <a:pathLst>
              <a:path w="15214600" h="1714500">
                <a:moveTo>
                  <a:pt x="50800" y="0"/>
                </a:moveTo>
                <a:lnTo>
                  <a:pt x="15062198" y="0"/>
                </a:lnTo>
                <a:cubicBezTo>
                  <a:pt x="15146367" y="0"/>
                  <a:pt x="15214600" y="68233"/>
                  <a:pt x="15214600" y="152402"/>
                </a:cubicBezTo>
                <a:lnTo>
                  <a:pt x="15214600" y="1562098"/>
                </a:lnTo>
                <a:cubicBezTo>
                  <a:pt x="15214600" y="1646267"/>
                  <a:pt x="15146367" y="1714500"/>
                  <a:pt x="15062198" y="1714500"/>
                </a:cubicBezTo>
                <a:lnTo>
                  <a:pt x="50800" y="1714500"/>
                </a:lnTo>
                <a:cubicBezTo>
                  <a:pt x="22763" y="1714500"/>
                  <a:pt x="0" y="1691737"/>
                  <a:pt x="0" y="1663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A7D9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533400" y="6927850"/>
            <a:ext cx="50800" cy="1714500"/>
          </a:xfrm>
          <a:custGeom>
            <a:avLst/>
            <a:gdLst/>
            <a:ahLst/>
            <a:cxnLst/>
            <a:rect l="l" t="t" r="r" b="b"/>
            <a:pathLst>
              <a:path w="50800" h="1714500">
                <a:moveTo>
                  <a:pt x="50800" y="0"/>
                </a:moveTo>
                <a:lnTo>
                  <a:pt x="50800" y="0"/>
                </a:lnTo>
                <a:lnTo>
                  <a:pt x="50800" y="1714500"/>
                </a:lnTo>
                <a:lnTo>
                  <a:pt x="50800" y="1714500"/>
                </a:lnTo>
                <a:cubicBezTo>
                  <a:pt x="22763" y="1714500"/>
                  <a:pt x="0" y="1691737"/>
                  <a:pt x="0" y="1663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12800" y="71818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1022350" y="735965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625600" y="7181850"/>
            <a:ext cx="13995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Paxos 在 Chubby 中的应用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625600" y="7639050"/>
            <a:ext cx="139827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Chubby </a:t>
            </a:r>
            <a:r>
              <a:rPr lang="en-US" sz="1800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没有提出新的算法</a:t>
            </a: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，而是将 Paxos 共识算法成功应用于大规模分布式系统中。这体现了在工程实践中，</a:t>
            </a:r>
            <a:r>
              <a:rPr lang="en-US" sz="1800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将理论转化为可靠产品</a:t>
            </a: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的重要性。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PAXOS ALGORITHM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Paxos 算法三阶段详解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0700" y="1739900"/>
            <a:ext cx="4914900" cy="5257800"/>
          </a:xfrm>
          <a:custGeom>
            <a:avLst/>
            <a:gdLst/>
            <a:ahLst/>
            <a:cxnLst/>
            <a:rect l="l" t="t" r="r" b="b"/>
            <a:pathLst>
              <a:path w="4914900" h="5257800">
                <a:moveTo>
                  <a:pt x="152411" y="0"/>
                </a:moveTo>
                <a:lnTo>
                  <a:pt x="4762489" y="0"/>
                </a:lnTo>
                <a:cubicBezTo>
                  <a:pt x="4846663" y="0"/>
                  <a:pt x="4914900" y="68237"/>
                  <a:pt x="4914900" y="152411"/>
                </a:cubicBezTo>
                <a:lnTo>
                  <a:pt x="4914900" y="5105389"/>
                </a:lnTo>
                <a:cubicBezTo>
                  <a:pt x="4914900" y="5189563"/>
                  <a:pt x="4846663" y="5257800"/>
                  <a:pt x="4762489" y="5257800"/>
                </a:cubicBezTo>
                <a:lnTo>
                  <a:pt x="152411" y="5257800"/>
                </a:lnTo>
                <a:cubicBezTo>
                  <a:pt x="68237" y="5257800"/>
                  <a:pt x="0" y="5189563"/>
                  <a:pt x="0" y="5105389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gradFill flip="none" rotWithShape="1">
            <a:gsLst>
              <a:gs pos="0">
                <a:srgbClr val="5A7D9A">
                  <a:alpha val="30000"/>
                </a:srgbClr>
              </a:gs>
              <a:gs pos="100000">
                <a:srgbClr val="5A7D9A">
                  <a:alpha val="10000"/>
                </a:srgbClr>
              </a:gs>
            </a:gsLst>
            <a:lin ang="2700000" scaled="1"/>
          </a:gradFill>
          <a:ln w="25400">
            <a:solidFill>
              <a:srgbClr val="5A7D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36600" y="1955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 lIns="0" rIns="0" anchor="ctr"/>
          <a:lstStyle/>
          <a:p>
            <a:pPr algn="ctr"/>
            <a:r>
              <a:rPr lang="en-US" altLang="zh-CN" sz="1200" dirty="0">
                <a:solidFill>
                  <a:srgbClr val="E2E8F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Phase 1</a:t>
            </a:r>
            <a:endParaRPr lang="en-US" altLang="zh-C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89657" y="1854200"/>
            <a:ext cx="88771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lang="en-US" sz="10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98600" y="2082800"/>
            <a:ext cx="1130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Prepare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717800"/>
            <a:ext cx="4457700" cy="1168400"/>
          </a:xfrm>
          <a:custGeom>
            <a:avLst/>
            <a:gdLst/>
            <a:ahLst/>
            <a:cxnLst/>
            <a:rect l="l" t="t" r="r" b="b"/>
            <a:pathLst>
              <a:path w="4457700" h="1168400">
                <a:moveTo>
                  <a:pt x="50800" y="0"/>
                </a:moveTo>
                <a:lnTo>
                  <a:pt x="4356096" y="0"/>
                </a:lnTo>
                <a:cubicBezTo>
                  <a:pt x="4412210" y="0"/>
                  <a:pt x="4457700" y="45490"/>
                  <a:pt x="4457700" y="101604"/>
                </a:cubicBezTo>
                <a:lnTo>
                  <a:pt x="4457700" y="1066796"/>
                </a:lnTo>
                <a:cubicBezTo>
                  <a:pt x="4457700" y="1122910"/>
                  <a:pt x="4412210" y="1168400"/>
                  <a:pt x="4356096" y="1168400"/>
                </a:cubicBezTo>
                <a:lnTo>
                  <a:pt x="50800" y="1168400"/>
                </a:lnTo>
                <a:cubicBezTo>
                  <a:pt x="22763" y="1168400"/>
                  <a:pt x="0" y="1145637"/>
                  <a:pt x="0" y="111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62000" y="2717800"/>
            <a:ext cx="50800" cy="1168400"/>
          </a:xfrm>
          <a:custGeom>
            <a:avLst/>
            <a:gdLst/>
            <a:ahLst/>
            <a:cxnLst/>
            <a:rect l="l" t="t" r="r" b="b"/>
            <a:pathLst>
              <a:path w="50800" h="1168400">
                <a:moveTo>
                  <a:pt x="50800" y="0"/>
                </a:moveTo>
                <a:lnTo>
                  <a:pt x="50800" y="0"/>
                </a:lnTo>
                <a:lnTo>
                  <a:pt x="50800" y="1168400"/>
                </a:lnTo>
                <a:lnTo>
                  <a:pt x="50800" y="1168400"/>
                </a:lnTo>
                <a:cubicBezTo>
                  <a:pt x="22763" y="1168400"/>
                  <a:pt x="0" y="1145637"/>
                  <a:pt x="0" y="111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939800" y="2870200"/>
            <a:ext cx="422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Proposer 发起提案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9800" y="3225800"/>
            <a:ext cx="421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选择提案编号 </a:t>
            </a:r>
            <a:r>
              <a:rPr lang="en-US" sz="1400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r>
              <a:rPr lang="en-US" sz="14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，向所有 Acceptor 发送 </a:t>
            </a:r>
            <a:r>
              <a:rPr lang="en-US" sz="1400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Prepare(n)</a:t>
            </a:r>
            <a:r>
              <a:rPr lang="en-US" sz="14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请求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3987800"/>
            <a:ext cx="4457700" cy="1524000"/>
          </a:xfrm>
          <a:custGeom>
            <a:avLst/>
            <a:gdLst/>
            <a:ahLst/>
            <a:cxnLst/>
            <a:rect l="l" t="t" r="r" b="b"/>
            <a:pathLst>
              <a:path w="4457700" h="1524000">
                <a:moveTo>
                  <a:pt x="50800" y="0"/>
                </a:moveTo>
                <a:lnTo>
                  <a:pt x="4356095" y="0"/>
                </a:lnTo>
                <a:cubicBezTo>
                  <a:pt x="4412210" y="0"/>
                  <a:pt x="4457700" y="45490"/>
                  <a:pt x="4457700" y="101605"/>
                </a:cubicBezTo>
                <a:lnTo>
                  <a:pt x="4457700" y="1422395"/>
                </a:lnTo>
                <a:cubicBezTo>
                  <a:pt x="4457700" y="1478510"/>
                  <a:pt x="4412210" y="1524000"/>
                  <a:pt x="4356095" y="1524000"/>
                </a:cubicBezTo>
                <a:lnTo>
                  <a:pt x="50800" y="1524000"/>
                </a:lnTo>
                <a:cubicBezTo>
                  <a:pt x="22763" y="1524000"/>
                  <a:pt x="0" y="1501237"/>
                  <a:pt x="0" y="147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762000" y="3987800"/>
            <a:ext cx="50800" cy="1524000"/>
          </a:xfrm>
          <a:custGeom>
            <a:avLst/>
            <a:gdLst/>
            <a:ahLst/>
            <a:cxnLst/>
            <a:rect l="l" t="t" r="r" b="b"/>
            <a:pathLst>
              <a:path w="50800" h="1524000">
                <a:moveTo>
                  <a:pt x="50800" y="0"/>
                </a:moveTo>
                <a:lnTo>
                  <a:pt x="50800" y="0"/>
                </a:lnTo>
                <a:lnTo>
                  <a:pt x="50800" y="1524000"/>
                </a:lnTo>
                <a:lnTo>
                  <a:pt x="50800" y="1524000"/>
                </a:lnTo>
                <a:cubicBezTo>
                  <a:pt x="22763" y="1524000"/>
                  <a:pt x="0" y="1501237"/>
                  <a:pt x="0" y="147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39800" y="4140200"/>
            <a:ext cx="422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Acceptor 响应承诺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9800" y="4495800"/>
            <a:ext cx="421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如果 </a:t>
            </a:r>
            <a:r>
              <a:rPr lang="en-US" sz="1400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r>
              <a:rPr lang="en-US" sz="14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大于之前见过的所有提案编号：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4800600"/>
            <a:ext cx="401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承诺不再接受编号小于 </a:t>
            </a:r>
            <a:r>
              <a:rPr lang="en-US" sz="1400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的提案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5105400"/>
            <a:ext cx="401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返回已接受的最大编号提案（如果存在）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68367" y="1739900"/>
            <a:ext cx="4914900" cy="5257800"/>
          </a:xfrm>
          <a:custGeom>
            <a:avLst/>
            <a:gdLst/>
            <a:ahLst/>
            <a:cxnLst/>
            <a:rect l="l" t="t" r="r" b="b"/>
            <a:pathLst>
              <a:path w="4914900" h="5257800">
                <a:moveTo>
                  <a:pt x="152411" y="0"/>
                </a:moveTo>
                <a:lnTo>
                  <a:pt x="4762489" y="0"/>
                </a:lnTo>
                <a:cubicBezTo>
                  <a:pt x="4846663" y="0"/>
                  <a:pt x="4914900" y="68237"/>
                  <a:pt x="4914900" y="152411"/>
                </a:cubicBezTo>
                <a:lnTo>
                  <a:pt x="4914900" y="5105389"/>
                </a:lnTo>
                <a:cubicBezTo>
                  <a:pt x="4914900" y="5189563"/>
                  <a:pt x="4846663" y="5257800"/>
                  <a:pt x="4762489" y="5257800"/>
                </a:cubicBezTo>
                <a:lnTo>
                  <a:pt x="152411" y="5257800"/>
                </a:lnTo>
                <a:cubicBezTo>
                  <a:pt x="68237" y="5257800"/>
                  <a:pt x="0" y="5189563"/>
                  <a:pt x="0" y="5105389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3A2">
                  <a:alpha val="30000"/>
                </a:srgbClr>
              </a:gs>
              <a:gs pos="100000">
                <a:srgbClr val="4DB3A2">
                  <a:alpha val="10000"/>
                </a:srgbClr>
              </a:gs>
            </a:gsLst>
            <a:lin ang="2700000" scaled="1"/>
          </a:gradFill>
          <a:ln w="25400">
            <a:solidFill>
              <a:srgbClr val="4DB3A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884267" y="1955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 lIns="0" rIns="0" anchor="ctr"/>
          <a:lstStyle/>
          <a:p>
            <a:pPr algn="ctr"/>
            <a:r>
              <a:rPr lang="en-US" altLang="zh-CN" sz="1200" dirty="0">
                <a:solidFill>
                  <a:srgbClr val="E2E8F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Phase 2</a:t>
            </a:r>
            <a:endParaRPr lang="zh-CN" altLang="en-US" sz="1200" dirty="0">
              <a:solidFill>
                <a:srgbClr val="E2E8F0"/>
              </a:solidFill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46267" y="2082800"/>
            <a:ext cx="99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Accept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09667" y="2717800"/>
            <a:ext cx="4457700" cy="2032000"/>
          </a:xfrm>
          <a:custGeom>
            <a:avLst/>
            <a:gdLst/>
            <a:ahLst/>
            <a:cxnLst/>
            <a:rect l="l" t="t" r="r" b="b"/>
            <a:pathLst>
              <a:path w="4457700" h="2032000">
                <a:moveTo>
                  <a:pt x="50800" y="0"/>
                </a:moveTo>
                <a:lnTo>
                  <a:pt x="4356100" y="0"/>
                </a:lnTo>
                <a:cubicBezTo>
                  <a:pt x="4412175" y="0"/>
                  <a:pt x="4457700" y="45525"/>
                  <a:pt x="4457700" y="101600"/>
                </a:cubicBezTo>
                <a:lnTo>
                  <a:pt x="4457700" y="1930400"/>
                </a:lnTo>
                <a:cubicBezTo>
                  <a:pt x="4457700" y="1986475"/>
                  <a:pt x="4412175" y="2032000"/>
                  <a:pt x="4356100" y="2032000"/>
                </a:cubicBezTo>
                <a:lnTo>
                  <a:pt x="50800" y="2032000"/>
                </a:lnTo>
                <a:cubicBezTo>
                  <a:pt x="22763" y="2032000"/>
                  <a:pt x="0" y="2009237"/>
                  <a:pt x="0" y="198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909667" y="2717800"/>
            <a:ext cx="50800" cy="2032000"/>
          </a:xfrm>
          <a:custGeom>
            <a:avLst/>
            <a:gdLst/>
            <a:ahLst/>
            <a:cxnLst/>
            <a:rect l="l" t="t" r="r" b="b"/>
            <a:pathLst>
              <a:path w="50800" h="2032000">
                <a:moveTo>
                  <a:pt x="50800" y="0"/>
                </a:moveTo>
                <a:lnTo>
                  <a:pt x="50800" y="0"/>
                </a:lnTo>
                <a:lnTo>
                  <a:pt x="50800" y="2032000"/>
                </a:lnTo>
                <a:lnTo>
                  <a:pt x="50800" y="2032000"/>
                </a:lnTo>
                <a:cubicBezTo>
                  <a:pt x="22763" y="2032000"/>
                  <a:pt x="0" y="2009237"/>
                  <a:pt x="0" y="198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087467" y="2870200"/>
            <a:ext cx="422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Proposer 发送接受请求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87467" y="3225800"/>
            <a:ext cx="421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收到</a:t>
            </a:r>
            <a:r>
              <a:rPr lang="en-US" sz="1400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大多数 Acceptor</a:t>
            </a:r>
            <a:r>
              <a:rPr lang="en-US" sz="14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 Promise 响应后：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90667" y="3530600"/>
            <a:ext cx="4013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如果响应中包含已接受的提案，选择编号最大的提案值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90667" y="4089400"/>
            <a:ext cx="4013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否则可以选择任意值（通常是候选主节点的 ID）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09667" y="4851400"/>
            <a:ext cx="4457700" cy="1168400"/>
          </a:xfrm>
          <a:custGeom>
            <a:avLst/>
            <a:gdLst/>
            <a:ahLst/>
            <a:cxnLst/>
            <a:rect l="l" t="t" r="r" b="b"/>
            <a:pathLst>
              <a:path w="4457700" h="1168400">
                <a:moveTo>
                  <a:pt x="50800" y="0"/>
                </a:moveTo>
                <a:lnTo>
                  <a:pt x="4356096" y="0"/>
                </a:lnTo>
                <a:cubicBezTo>
                  <a:pt x="4412210" y="0"/>
                  <a:pt x="4457700" y="45490"/>
                  <a:pt x="4457700" y="101604"/>
                </a:cubicBezTo>
                <a:lnTo>
                  <a:pt x="4457700" y="1066796"/>
                </a:lnTo>
                <a:cubicBezTo>
                  <a:pt x="4457700" y="1122910"/>
                  <a:pt x="4412210" y="1168400"/>
                  <a:pt x="4356096" y="1168400"/>
                </a:cubicBezTo>
                <a:lnTo>
                  <a:pt x="50800" y="1168400"/>
                </a:lnTo>
                <a:cubicBezTo>
                  <a:pt x="22763" y="1168400"/>
                  <a:pt x="0" y="1145637"/>
                  <a:pt x="0" y="111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5909667" y="4851400"/>
            <a:ext cx="50800" cy="1168400"/>
          </a:xfrm>
          <a:custGeom>
            <a:avLst/>
            <a:gdLst/>
            <a:ahLst/>
            <a:cxnLst/>
            <a:rect l="l" t="t" r="r" b="b"/>
            <a:pathLst>
              <a:path w="50800" h="1168400">
                <a:moveTo>
                  <a:pt x="50800" y="0"/>
                </a:moveTo>
                <a:lnTo>
                  <a:pt x="50800" y="0"/>
                </a:lnTo>
                <a:lnTo>
                  <a:pt x="50800" y="1168400"/>
                </a:lnTo>
                <a:lnTo>
                  <a:pt x="50800" y="1168400"/>
                </a:lnTo>
                <a:cubicBezTo>
                  <a:pt x="22763" y="1168400"/>
                  <a:pt x="0" y="1145637"/>
                  <a:pt x="0" y="111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087467" y="5003800"/>
            <a:ext cx="422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Acceptor 接受提案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87467" y="5359400"/>
            <a:ext cx="421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收到 </a:t>
            </a:r>
            <a:r>
              <a:rPr lang="en-US" sz="1400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Accept(n, value)</a:t>
            </a:r>
            <a:r>
              <a:rPr lang="en-US" sz="14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请求后，如果 </a:t>
            </a:r>
            <a:r>
              <a:rPr lang="en-US" sz="1400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r>
              <a:rPr lang="en-US" sz="14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不小于承诺的编号，则接受该提案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816134" y="1739900"/>
            <a:ext cx="4914900" cy="5257800"/>
          </a:xfrm>
          <a:custGeom>
            <a:avLst/>
            <a:gdLst/>
            <a:ahLst/>
            <a:cxnLst/>
            <a:rect l="l" t="t" r="r" b="b"/>
            <a:pathLst>
              <a:path w="4914900" h="5257800">
                <a:moveTo>
                  <a:pt x="152411" y="0"/>
                </a:moveTo>
                <a:lnTo>
                  <a:pt x="4762489" y="0"/>
                </a:lnTo>
                <a:cubicBezTo>
                  <a:pt x="4846663" y="0"/>
                  <a:pt x="4914900" y="68237"/>
                  <a:pt x="4914900" y="152411"/>
                </a:cubicBezTo>
                <a:lnTo>
                  <a:pt x="4914900" y="5105389"/>
                </a:lnTo>
                <a:cubicBezTo>
                  <a:pt x="4914900" y="5189563"/>
                  <a:pt x="4846663" y="5257800"/>
                  <a:pt x="4762489" y="5257800"/>
                </a:cubicBezTo>
                <a:lnTo>
                  <a:pt x="152411" y="5257800"/>
                </a:lnTo>
                <a:cubicBezTo>
                  <a:pt x="68237" y="5257800"/>
                  <a:pt x="0" y="5189563"/>
                  <a:pt x="0" y="5105389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gradFill flip="none" rotWithShape="1">
            <a:gsLst>
              <a:gs pos="0">
                <a:srgbClr val="E1AF63">
                  <a:alpha val="30000"/>
                </a:srgbClr>
              </a:gs>
              <a:gs pos="100000">
                <a:srgbClr val="E1AF63">
                  <a:alpha val="10000"/>
                </a:srgbClr>
              </a:gs>
            </a:gsLst>
            <a:lin ang="2700000" scaled="1"/>
          </a:gradFill>
          <a:ln w="25400">
            <a:solidFill>
              <a:srgbClr val="E1AF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11032034" y="1955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 lIns="0" rIns="0" anchor="ctr"/>
          <a:lstStyle/>
          <a:p>
            <a:pPr algn="ctr"/>
            <a:r>
              <a:rPr lang="en-US" altLang="zh-CN" sz="1200" dirty="0">
                <a:solidFill>
                  <a:srgbClr val="E2E8F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Phase 3</a:t>
            </a:r>
            <a:endParaRPr lang="zh-CN" altLang="en-US" sz="1200" dirty="0">
              <a:solidFill>
                <a:srgbClr val="E2E8F0"/>
              </a:solidFill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1794034" y="2082800"/>
            <a:ext cx="82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Learn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1057434" y="2717800"/>
            <a:ext cx="4457700" cy="914400"/>
          </a:xfrm>
          <a:custGeom>
            <a:avLst/>
            <a:gdLst/>
            <a:ahLst/>
            <a:cxnLst/>
            <a:rect l="l" t="t" r="r" b="b"/>
            <a:pathLst>
              <a:path w="4457700" h="914400">
                <a:moveTo>
                  <a:pt x="50800" y="0"/>
                </a:moveTo>
                <a:lnTo>
                  <a:pt x="4356101" y="0"/>
                </a:lnTo>
                <a:cubicBezTo>
                  <a:pt x="4412213" y="0"/>
                  <a:pt x="4457700" y="45487"/>
                  <a:pt x="4457700" y="101599"/>
                </a:cubicBezTo>
                <a:lnTo>
                  <a:pt x="4457700" y="812801"/>
                </a:lnTo>
                <a:cubicBezTo>
                  <a:pt x="4457700" y="868913"/>
                  <a:pt x="4412213" y="914400"/>
                  <a:pt x="4356101" y="914400"/>
                </a:cubicBez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11057434" y="2717800"/>
            <a:ext cx="50800" cy="914400"/>
          </a:xfrm>
          <a:custGeom>
            <a:avLst/>
            <a:gdLst/>
            <a:ahLst/>
            <a:cxnLst/>
            <a:rect l="l" t="t" r="r" b="b"/>
            <a:pathLst>
              <a:path w="50800" h="914400">
                <a:moveTo>
                  <a:pt x="50800" y="0"/>
                </a:moveTo>
                <a:lnTo>
                  <a:pt x="50800" y="0"/>
                </a:lnTo>
                <a:lnTo>
                  <a:pt x="50800" y="914400"/>
                </a:ln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1235234" y="2870200"/>
            <a:ext cx="422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值被选定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235234" y="3225800"/>
            <a:ext cx="421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</a:t>
            </a:r>
            <a:r>
              <a:rPr lang="en-US" sz="1400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大多数 Acceptor</a:t>
            </a:r>
            <a:r>
              <a:rPr lang="en-US" sz="14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接受提案后，该值被选定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1057434" y="3733800"/>
            <a:ext cx="4457700" cy="1168400"/>
          </a:xfrm>
          <a:custGeom>
            <a:avLst/>
            <a:gdLst/>
            <a:ahLst/>
            <a:cxnLst/>
            <a:rect l="l" t="t" r="r" b="b"/>
            <a:pathLst>
              <a:path w="4457700" h="1168400">
                <a:moveTo>
                  <a:pt x="50800" y="0"/>
                </a:moveTo>
                <a:lnTo>
                  <a:pt x="4356096" y="0"/>
                </a:lnTo>
                <a:cubicBezTo>
                  <a:pt x="4412210" y="0"/>
                  <a:pt x="4457700" y="45490"/>
                  <a:pt x="4457700" y="101604"/>
                </a:cubicBezTo>
                <a:lnTo>
                  <a:pt x="4457700" y="1066796"/>
                </a:lnTo>
                <a:cubicBezTo>
                  <a:pt x="4457700" y="1122910"/>
                  <a:pt x="4412210" y="1168400"/>
                  <a:pt x="4356096" y="1168400"/>
                </a:cubicBezTo>
                <a:lnTo>
                  <a:pt x="50800" y="1168400"/>
                </a:lnTo>
                <a:cubicBezTo>
                  <a:pt x="22763" y="1168400"/>
                  <a:pt x="0" y="1145637"/>
                  <a:pt x="0" y="111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1057434" y="3733800"/>
            <a:ext cx="50800" cy="1168400"/>
          </a:xfrm>
          <a:custGeom>
            <a:avLst/>
            <a:gdLst/>
            <a:ahLst/>
            <a:cxnLst/>
            <a:rect l="l" t="t" r="r" b="b"/>
            <a:pathLst>
              <a:path w="50800" h="1168400">
                <a:moveTo>
                  <a:pt x="50800" y="0"/>
                </a:moveTo>
                <a:lnTo>
                  <a:pt x="50800" y="0"/>
                </a:lnTo>
                <a:lnTo>
                  <a:pt x="50800" y="1168400"/>
                </a:lnTo>
                <a:lnTo>
                  <a:pt x="50800" y="1168400"/>
                </a:lnTo>
                <a:cubicBezTo>
                  <a:pt x="22763" y="1168400"/>
                  <a:pt x="0" y="1145637"/>
                  <a:pt x="0" y="111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1235234" y="3886200"/>
            <a:ext cx="422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Learner 获知结果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235234" y="4241800"/>
            <a:ext cx="421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Learner（其他副本）获知选定的值，</a:t>
            </a:r>
            <a:r>
              <a:rPr lang="en-US" sz="1400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确认新的主节点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33400" y="7162800"/>
            <a:ext cx="15214600" cy="1473200"/>
          </a:xfrm>
          <a:custGeom>
            <a:avLst/>
            <a:gdLst/>
            <a:ahLst/>
            <a:cxnLst/>
            <a:rect l="l" t="t" r="r" b="b"/>
            <a:pathLst>
              <a:path w="15214600" h="1473200">
                <a:moveTo>
                  <a:pt x="50800" y="0"/>
                </a:moveTo>
                <a:lnTo>
                  <a:pt x="15062197" y="0"/>
                </a:lnTo>
                <a:cubicBezTo>
                  <a:pt x="15146367" y="0"/>
                  <a:pt x="15214600" y="68233"/>
                  <a:pt x="15214600" y="152403"/>
                </a:cubicBezTo>
                <a:lnTo>
                  <a:pt x="15214600" y="1320797"/>
                </a:lnTo>
                <a:cubicBezTo>
                  <a:pt x="15214600" y="1404967"/>
                  <a:pt x="15146367" y="1473200"/>
                  <a:pt x="15062197" y="1473200"/>
                </a:cubicBezTo>
                <a:lnTo>
                  <a:pt x="50800" y="1473200"/>
                </a:lnTo>
                <a:cubicBezTo>
                  <a:pt x="22763" y="1473200"/>
                  <a:pt x="0" y="1450437"/>
                  <a:pt x="0" y="142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A7D9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533400" y="7162800"/>
            <a:ext cx="50800" cy="1473200"/>
          </a:xfrm>
          <a:custGeom>
            <a:avLst/>
            <a:gdLst/>
            <a:ahLst/>
            <a:cxnLst/>
            <a:rect l="l" t="t" r="r" b="b"/>
            <a:pathLst>
              <a:path w="50800" h="1473200">
                <a:moveTo>
                  <a:pt x="50800" y="0"/>
                </a:moveTo>
                <a:lnTo>
                  <a:pt x="50800" y="0"/>
                </a:lnTo>
                <a:lnTo>
                  <a:pt x="50800" y="1473200"/>
                </a:lnTo>
                <a:lnTo>
                  <a:pt x="50800" y="1473200"/>
                </a:lnTo>
                <a:cubicBezTo>
                  <a:pt x="22763" y="1473200"/>
                  <a:pt x="0" y="1450437"/>
                  <a:pt x="0" y="142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800100" y="7391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0025" y="209550"/>
                </a:moveTo>
                <a:cubicBezTo>
                  <a:pt x="257889" y="209550"/>
                  <a:pt x="304800" y="162639"/>
                  <a:pt x="304800" y="104775"/>
                </a:cubicBezTo>
                <a:cubicBezTo>
                  <a:pt x="304800" y="46911"/>
                  <a:pt x="257889" y="0"/>
                  <a:pt x="200025" y="0"/>
                </a:cubicBezTo>
                <a:cubicBezTo>
                  <a:pt x="142161" y="0"/>
                  <a:pt x="95250" y="46911"/>
                  <a:pt x="95250" y="104775"/>
                </a:cubicBezTo>
                <a:cubicBezTo>
                  <a:pt x="95250" y="115907"/>
                  <a:pt x="96976" y="126683"/>
                  <a:pt x="100191" y="136743"/>
                </a:cubicBezTo>
                <a:lnTo>
                  <a:pt x="4167" y="232767"/>
                </a:lnTo>
                <a:cubicBezTo>
                  <a:pt x="1488" y="235446"/>
                  <a:pt x="0" y="239078"/>
                  <a:pt x="0" y="242888"/>
                </a:cubicBezTo>
                <a:lnTo>
                  <a:pt x="0" y="290513"/>
                </a:lnTo>
                <a:cubicBezTo>
                  <a:pt x="0" y="298430"/>
                  <a:pt x="6370" y="304800"/>
                  <a:pt x="14288" y="304800"/>
                </a:cubicBezTo>
                <a:lnTo>
                  <a:pt x="61912" y="304800"/>
                </a:lnTo>
                <a:cubicBezTo>
                  <a:pt x="69830" y="304800"/>
                  <a:pt x="76200" y="298430"/>
                  <a:pt x="76200" y="290513"/>
                </a:cubicBezTo>
                <a:lnTo>
                  <a:pt x="76200" y="266700"/>
                </a:lnTo>
                <a:lnTo>
                  <a:pt x="100013" y="266700"/>
                </a:lnTo>
                <a:cubicBezTo>
                  <a:pt x="107930" y="266700"/>
                  <a:pt x="114300" y="260330"/>
                  <a:pt x="114300" y="252413"/>
                </a:cubicBezTo>
                <a:lnTo>
                  <a:pt x="114300" y="228600"/>
                </a:lnTo>
                <a:lnTo>
                  <a:pt x="138113" y="228600"/>
                </a:lnTo>
                <a:cubicBezTo>
                  <a:pt x="141923" y="228600"/>
                  <a:pt x="145554" y="227112"/>
                  <a:pt x="148233" y="224433"/>
                </a:cubicBezTo>
                <a:lnTo>
                  <a:pt x="168057" y="204609"/>
                </a:lnTo>
                <a:cubicBezTo>
                  <a:pt x="178117" y="207824"/>
                  <a:pt x="188893" y="209550"/>
                  <a:pt x="200025" y="209550"/>
                </a:cubicBezTo>
                <a:close/>
                <a:moveTo>
                  <a:pt x="223838" y="57150"/>
                </a:moveTo>
                <a:cubicBezTo>
                  <a:pt x="236980" y="57150"/>
                  <a:pt x="247650" y="67820"/>
                  <a:pt x="247650" y="80962"/>
                </a:cubicBezTo>
                <a:cubicBezTo>
                  <a:pt x="247650" y="94105"/>
                  <a:pt x="236980" y="104775"/>
                  <a:pt x="223838" y="104775"/>
                </a:cubicBezTo>
                <a:cubicBezTo>
                  <a:pt x="210695" y="104775"/>
                  <a:pt x="200025" y="94105"/>
                  <a:pt x="200025" y="80962"/>
                </a:cubicBezTo>
                <a:cubicBezTo>
                  <a:pt x="200025" y="67820"/>
                  <a:pt x="210695" y="57150"/>
                  <a:pt x="223838" y="5715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143000" y="7366000"/>
            <a:ext cx="1452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Paxos 的关键特性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93750" y="7874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231900" y="78232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安全性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231900" y="8178800"/>
            <a:ext cx="2578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任何时刻最多只有一个值被选定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789017" y="7874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2693" y="113357"/>
                </a:moveTo>
                <a:cubicBezTo>
                  <a:pt x="39291" y="67221"/>
                  <a:pt x="79028" y="31750"/>
                  <a:pt x="127000" y="31750"/>
                </a:cubicBezTo>
                <a:cubicBezTo>
                  <a:pt x="153293" y="31750"/>
                  <a:pt x="177105" y="42416"/>
                  <a:pt x="194370" y="59630"/>
                </a:cubicBezTo>
                <a:cubicBezTo>
                  <a:pt x="194469" y="59730"/>
                  <a:pt x="194568" y="59829"/>
                  <a:pt x="194667" y="59928"/>
                </a:cubicBezTo>
                <a:lnTo>
                  <a:pt x="198438" y="63500"/>
                </a:lnTo>
                <a:lnTo>
                  <a:pt x="174675" y="63500"/>
                </a:lnTo>
                <a:cubicBezTo>
                  <a:pt x="165894" y="63500"/>
                  <a:pt x="158800" y="70594"/>
                  <a:pt x="158800" y="79375"/>
                </a:cubicBezTo>
                <a:cubicBezTo>
                  <a:pt x="158800" y="88156"/>
                  <a:pt x="165894" y="95250"/>
                  <a:pt x="174675" y="95250"/>
                </a:cubicBezTo>
                <a:lnTo>
                  <a:pt x="238175" y="95250"/>
                </a:lnTo>
                <a:cubicBezTo>
                  <a:pt x="246955" y="95250"/>
                  <a:pt x="254050" y="88156"/>
                  <a:pt x="254050" y="79375"/>
                </a:cubicBezTo>
                <a:lnTo>
                  <a:pt x="254050" y="15875"/>
                </a:lnTo>
                <a:cubicBezTo>
                  <a:pt x="254050" y="7094"/>
                  <a:pt x="246955" y="0"/>
                  <a:pt x="238175" y="0"/>
                </a:cubicBezTo>
                <a:cubicBezTo>
                  <a:pt x="229394" y="0"/>
                  <a:pt x="222300" y="7094"/>
                  <a:pt x="222300" y="15875"/>
                </a:cubicBezTo>
                <a:lnTo>
                  <a:pt x="222300" y="42366"/>
                </a:lnTo>
                <a:lnTo>
                  <a:pt x="216694" y="37058"/>
                </a:lnTo>
                <a:cubicBezTo>
                  <a:pt x="193725" y="14188"/>
                  <a:pt x="161975" y="0"/>
                  <a:pt x="127000" y="0"/>
                </a:cubicBezTo>
                <a:cubicBezTo>
                  <a:pt x="63004" y="0"/>
                  <a:pt x="10071" y="47327"/>
                  <a:pt x="1290" y="108893"/>
                </a:cubicBezTo>
                <a:cubicBezTo>
                  <a:pt x="50" y="117574"/>
                  <a:pt x="6052" y="125611"/>
                  <a:pt x="14734" y="126851"/>
                </a:cubicBezTo>
                <a:cubicBezTo>
                  <a:pt x="23416" y="128091"/>
                  <a:pt x="31452" y="122039"/>
                  <a:pt x="32693" y="113407"/>
                </a:cubicBezTo>
                <a:close/>
                <a:moveTo>
                  <a:pt x="252710" y="145107"/>
                </a:moveTo>
                <a:cubicBezTo>
                  <a:pt x="253950" y="136426"/>
                  <a:pt x="247898" y="128389"/>
                  <a:pt x="239266" y="127149"/>
                </a:cubicBezTo>
                <a:cubicBezTo>
                  <a:pt x="230634" y="125909"/>
                  <a:pt x="222548" y="131961"/>
                  <a:pt x="221307" y="140593"/>
                </a:cubicBezTo>
                <a:cubicBezTo>
                  <a:pt x="214709" y="186730"/>
                  <a:pt x="174972" y="222200"/>
                  <a:pt x="127000" y="222200"/>
                </a:cubicBezTo>
                <a:cubicBezTo>
                  <a:pt x="100707" y="222200"/>
                  <a:pt x="76895" y="211534"/>
                  <a:pt x="59630" y="194320"/>
                </a:cubicBezTo>
                <a:cubicBezTo>
                  <a:pt x="59531" y="194221"/>
                  <a:pt x="59432" y="194121"/>
                  <a:pt x="59333" y="194022"/>
                </a:cubicBezTo>
                <a:lnTo>
                  <a:pt x="55562" y="190450"/>
                </a:lnTo>
                <a:lnTo>
                  <a:pt x="79325" y="190450"/>
                </a:lnTo>
                <a:cubicBezTo>
                  <a:pt x="88106" y="190450"/>
                  <a:pt x="95200" y="183356"/>
                  <a:pt x="95200" y="174575"/>
                </a:cubicBezTo>
                <a:cubicBezTo>
                  <a:pt x="95200" y="165795"/>
                  <a:pt x="88106" y="158700"/>
                  <a:pt x="79325" y="158700"/>
                </a:cubicBezTo>
                <a:lnTo>
                  <a:pt x="15875" y="158750"/>
                </a:lnTo>
                <a:cubicBezTo>
                  <a:pt x="11658" y="158750"/>
                  <a:pt x="7590" y="160437"/>
                  <a:pt x="4614" y="163463"/>
                </a:cubicBezTo>
                <a:cubicBezTo>
                  <a:pt x="1637" y="166489"/>
                  <a:pt x="-50" y="170507"/>
                  <a:pt x="0" y="174774"/>
                </a:cubicBezTo>
                <a:lnTo>
                  <a:pt x="496" y="237778"/>
                </a:lnTo>
                <a:cubicBezTo>
                  <a:pt x="546" y="246559"/>
                  <a:pt x="7739" y="253603"/>
                  <a:pt x="16520" y="253504"/>
                </a:cubicBezTo>
                <a:cubicBezTo>
                  <a:pt x="25301" y="253405"/>
                  <a:pt x="32345" y="246261"/>
                  <a:pt x="32246" y="237480"/>
                </a:cubicBezTo>
                <a:lnTo>
                  <a:pt x="32048" y="211931"/>
                </a:lnTo>
                <a:lnTo>
                  <a:pt x="37356" y="216942"/>
                </a:lnTo>
                <a:cubicBezTo>
                  <a:pt x="60325" y="239812"/>
                  <a:pt x="92025" y="254000"/>
                  <a:pt x="127000" y="254000"/>
                </a:cubicBezTo>
                <a:cubicBezTo>
                  <a:pt x="190996" y="254000"/>
                  <a:pt x="243929" y="206673"/>
                  <a:pt x="252710" y="145107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6227167" y="78232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活性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227167" y="8178800"/>
            <a:ext cx="2578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大多数副本正常就能选出主节点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0768509" y="78740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33400" y="42267"/>
                </a:moveTo>
                <a:lnTo>
                  <a:pt x="75555" y="106561"/>
                </a:lnTo>
                <a:cubicBezTo>
                  <a:pt x="73273" y="109091"/>
                  <a:pt x="73372" y="113010"/>
                  <a:pt x="75803" y="115441"/>
                </a:cubicBezTo>
                <a:cubicBezTo>
                  <a:pt x="90934" y="130572"/>
                  <a:pt x="115491" y="130572"/>
                  <a:pt x="130621" y="115441"/>
                </a:cubicBezTo>
                <a:lnTo>
                  <a:pt x="146397" y="99665"/>
                </a:lnTo>
                <a:cubicBezTo>
                  <a:pt x="148481" y="97582"/>
                  <a:pt x="151110" y="96441"/>
                  <a:pt x="153789" y="96242"/>
                </a:cubicBezTo>
                <a:cubicBezTo>
                  <a:pt x="157163" y="95945"/>
                  <a:pt x="160635" y="97086"/>
                  <a:pt x="163215" y="99665"/>
                </a:cubicBezTo>
                <a:lnTo>
                  <a:pt x="250825" y="186531"/>
                </a:lnTo>
                <a:lnTo>
                  <a:pt x="285750" y="158750"/>
                </a:lnTo>
                <a:lnTo>
                  <a:pt x="285750" y="15875"/>
                </a:lnTo>
                <a:lnTo>
                  <a:pt x="230188" y="47625"/>
                </a:lnTo>
                <a:lnTo>
                  <a:pt x="218380" y="39737"/>
                </a:lnTo>
                <a:cubicBezTo>
                  <a:pt x="210542" y="34528"/>
                  <a:pt x="201364" y="31750"/>
                  <a:pt x="191939" y="31750"/>
                </a:cubicBezTo>
                <a:lnTo>
                  <a:pt x="157014" y="31750"/>
                </a:lnTo>
                <a:cubicBezTo>
                  <a:pt x="156468" y="31750"/>
                  <a:pt x="155873" y="31750"/>
                  <a:pt x="155327" y="31800"/>
                </a:cubicBezTo>
                <a:cubicBezTo>
                  <a:pt x="146943" y="32246"/>
                  <a:pt x="139055" y="36016"/>
                  <a:pt x="133400" y="42267"/>
                </a:cubicBezTo>
                <a:close/>
                <a:moveTo>
                  <a:pt x="57845" y="90636"/>
                </a:moveTo>
                <a:lnTo>
                  <a:pt x="110827" y="31750"/>
                </a:lnTo>
                <a:lnTo>
                  <a:pt x="91182" y="31750"/>
                </a:lnTo>
                <a:cubicBezTo>
                  <a:pt x="78532" y="31750"/>
                  <a:pt x="66427" y="36761"/>
                  <a:pt x="57497" y="45690"/>
                </a:cubicBezTo>
                <a:lnTo>
                  <a:pt x="55563" y="47625"/>
                </a:lnTo>
                <a:lnTo>
                  <a:pt x="0" y="15875"/>
                </a:lnTo>
                <a:lnTo>
                  <a:pt x="0" y="158750"/>
                </a:lnTo>
                <a:lnTo>
                  <a:pt x="77589" y="223391"/>
                </a:lnTo>
                <a:cubicBezTo>
                  <a:pt x="88999" y="232916"/>
                  <a:pt x="103386" y="238125"/>
                  <a:pt x="118219" y="238125"/>
                </a:cubicBezTo>
                <a:lnTo>
                  <a:pt x="126008" y="238125"/>
                </a:lnTo>
                <a:lnTo>
                  <a:pt x="122535" y="234652"/>
                </a:lnTo>
                <a:cubicBezTo>
                  <a:pt x="117872" y="229989"/>
                  <a:pt x="117872" y="222448"/>
                  <a:pt x="122535" y="217835"/>
                </a:cubicBezTo>
                <a:cubicBezTo>
                  <a:pt x="127198" y="213221"/>
                  <a:pt x="134739" y="213171"/>
                  <a:pt x="139353" y="217835"/>
                </a:cubicBezTo>
                <a:lnTo>
                  <a:pt x="159693" y="238175"/>
                </a:lnTo>
                <a:lnTo>
                  <a:pt x="164157" y="238175"/>
                </a:lnTo>
                <a:cubicBezTo>
                  <a:pt x="173633" y="238175"/>
                  <a:pt x="182910" y="236041"/>
                  <a:pt x="191343" y="232073"/>
                </a:cubicBezTo>
                <a:lnTo>
                  <a:pt x="178098" y="218777"/>
                </a:lnTo>
                <a:cubicBezTo>
                  <a:pt x="173434" y="214114"/>
                  <a:pt x="173434" y="206573"/>
                  <a:pt x="178098" y="201960"/>
                </a:cubicBezTo>
                <a:cubicBezTo>
                  <a:pt x="182761" y="197346"/>
                  <a:pt x="190302" y="197296"/>
                  <a:pt x="194915" y="201960"/>
                </a:cubicBezTo>
                <a:lnTo>
                  <a:pt x="210790" y="217835"/>
                </a:lnTo>
                <a:lnTo>
                  <a:pt x="219472" y="209153"/>
                </a:lnTo>
                <a:cubicBezTo>
                  <a:pt x="223887" y="204738"/>
                  <a:pt x="225177" y="198338"/>
                  <a:pt x="223242" y="192732"/>
                </a:cubicBezTo>
                <a:lnTo>
                  <a:pt x="154831" y="124867"/>
                </a:lnTo>
                <a:lnTo>
                  <a:pt x="147439" y="132259"/>
                </a:lnTo>
                <a:cubicBezTo>
                  <a:pt x="122982" y="156716"/>
                  <a:pt x="83393" y="156716"/>
                  <a:pt x="58936" y="132259"/>
                </a:cubicBezTo>
                <a:cubicBezTo>
                  <a:pt x="47526" y="120848"/>
                  <a:pt x="47079" y="102543"/>
                  <a:pt x="57845" y="90587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11222534" y="78232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222534" y="8178800"/>
            <a:ext cx="2578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所有副本对主节点身份达成一致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5031" y="455031"/>
            <a:ext cx="15436943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 kern="0" spc="72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FAULT TOLERANCE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5031" y="819057"/>
            <a:ext cx="15618956" cy="546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300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故障检测与恢复机制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60719" y="1598298"/>
            <a:ext cx="7530771" cy="3196596"/>
          </a:xfrm>
          <a:custGeom>
            <a:avLst/>
            <a:gdLst/>
            <a:ahLst/>
            <a:cxnLst/>
            <a:rect l="l" t="t" r="r" b="b"/>
            <a:pathLst>
              <a:path w="7530771" h="3196596">
                <a:moveTo>
                  <a:pt x="136495" y="0"/>
                </a:moveTo>
                <a:lnTo>
                  <a:pt x="7394277" y="0"/>
                </a:lnTo>
                <a:cubicBezTo>
                  <a:pt x="7469660" y="0"/>
                  <a:pt x="7530771" y="61111"/>
                  <a:pt x="7530771" y="136495"/>
                </a:cubicBezTo>
                <a:lnTo>
                  <a:pt x="7530771" y="3060102"/>
                </a:lnTo>
                <a:cubicBezTo>
                  <a:pt x="7530771" y="3135435"/>
                  <a:pt x="7469610" y="3196596"/>
                  <a:pt x="7394277" y="3196596"/>
                </a:cubicBezTo>
                <a:lnTo>
                  <a:pt x="136495" y="3196596"/>
                </a:lnTo>
                <a:cubicBezTo>
                  <a:pt x="61111" y="3196596"/>
                  <a:pt x="0" y="3135485"/>
                  <a:pt x="0" y="3060102"/>
                </a:cubicBezTo>
                <a:lnTo>
                  <a:pt x="0" y="136495"/>
                </a:lnTo>
                <a:cubicBezTo>
                  <a:pt x="0" y="61161"/>
                  <a:pt x="61161" y="0"/>
                  <a:pt x="136495" y="0"/>
                </a:cubicBezTo>
                <a:close/>
              </a:path>
            </a:pathLst>
          </a:custGeom>
          <a:gradFill flip="none" rotWithShape="1">
            <a:gsLst>
              <a:gs pos="0">
                <a:srgbClr val="5A7D9A">
                  <a:alpha val="30000"/>
                </a:srgbClr>
              </a:gs>
              <a:gs pos="100000">
                <a:srgbClr val="5A7D9A">
                  <a:alpha val="10000"/>
                </a:srgbClr>
              </a:gs>
            </a:gsLst>
            <a:lin ang="2700000" scaled="1"/>
          </a:gradFill>
          <a:ln w="12700">
            <a:solidFill>
              <a:srgbClr val="5A7D9A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28050" y="1877005"/>
            <a:ext cx="273019" cy="273019"/>
          </a:xfrm>
          <a:custGeom>
            <a:avLst/>
            <a:gdLst/>
            <a:ahLst/>
            <a:cxnLst/>
            <a:rect l="l" t="t" r="r" b="b"/>
            <a:pathLst>
              <a:path w="273019" h="273019">
                <a:moveTo>
                  <a:pt x="221828" y="110914"/>
                </a:moveTo>
                <a:cubicBezTo>
                  <a:pt x="221828" y="135390"/>
                  <a:pt x="213883" y="157999"/>
                  <a:pt x="200498" y="176342"/>
                </a:cubicBezTo>
                <a:lnTo>
                  <a:pt x="268006" y="243904"/>
                </a:lnTo>
                <a:cubicBezTo>
                  <a:pt x="274672" y="250569"/>
                  <a:pt x="274672" y="261394"/>
                  <a:pt x="268006" y="268060"/>
                </a:cubicBezTo>
                <a:cubicBezTo>
                  <a:pt x="261341" y="274725"/>
                  <a:pt x="250516" y="274725"/>
                  <a:pt x="243851" y="268060"/>
                </a:cubicBezTo>
                <a:lnTo>
                  <a:pt x="176342" y="200498"/>
                </a:lnTo>
                <a:cubicBezTo>
                  <a:pt x="157999" y="213883"/>
                  <a:pt x="135390" y="221828"/>
                  <a:pt x="110914" y="221828"/>
                </a:cubicBezTo>
                <a:cubicBezTo>
                  <a:pt x="49645" y="221828"/>
                  <a:pt x="0" y="172183"/>
                  <a:pt x="0" y="110914"/>
                </a:cubicBezTo>
                <a:cubicBezTo>
                  <a:pt x="0" y="49645"/>
                  <a:pt x="49645" y="0"/>
                  <a:pt x="110914" y="0"/>
                </a:cubicBezTo>
                <a:cubicBezTo>
                  <a:pt x="172183" y="0"/>
                  <a:pt x="221828" y="49645"/>
                  <a:pt x="221828" y="110914"/>
                </a:cubicBezTo>
                <a:close/>
                <a:moveTo>
                  <a:pt x="110914" y="187700"/>
                </a:moveTo>
                <a:cubicBezTo>
                  <a:pt x="153294" y="187700"/>
                  <a:pt x="187700" y="153294"/>
                  <a:pt x="187700" y="110914"/>
                </a:cubicBezTo>
                <a:cubicBezTo>
                  <a:pt x="187700" y="68534"/>
                  <a:pt x="153294" y="34127"/>
                  <a:pt x="110914" y="34127"/>
                </a:cubicBezTo>
                <a:cubicBezTo>
                  <a:pt x="68534" y="34127"/>
                  <a:pt x="34127" y="68534"/>
                  <a:pt x="34127" y="110914"/>
                </a:cubicBezTo>
                <a:cubicBezTo>
                  <a:pt x="34127" y="153294"/>
                  <a:pt x="68534" y="187700"/>
                  <a:pt x="110914" y="18770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35197" y="1831502"/>
            <a:ext cx="6859600" cy="364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50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故障检测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93923" y="2377540"/>
            <a:ext cx="455031" cy="455031"/>
          </a:xfrm>
          <a:custGeom>
            <a:avLst/>
            <a:gdLst/>
            <a:ahLst/>
            <a:cxnLst/>
            <a:rect l="l" t="t" r="r" b="b"/>
            <a:pathLst>
              <a:path w="455031" h="455031">
                <a:moveTo>
                  <a:pt x="91006" y="0"/>
                </a:moveTo>
                <a:lnTo>
                  <a:pt x="364025" y="0"/>
                </a:lnTo>
                <a:cubicBezTo>
                  <a:pt x="414253" y="0"/>
                  <a:pt x="455031" y="40779"/>
                  <a:pt x="455031" y="91006"/>
                </a:cubicBezTo>
                <a:lnTo>
                  <a:pt x="455031" y="364025"/>
                </a:lnTo>
                <a:cubicBezTo>
                  <a:pt x="455031" y="414287"/>
                  <a:pt x="414287" y="455031"/>
                  <a:pt x="364025" y="455031"/>
                </a:cubicBezTo>
                <a:lnTo>
                  <a:pt x="91006" y="455031"/>
                </a:lnTo>
                <a:cubicBezTo>
                  <a:pt x="40745" y="455031"/>
                  <a:pt x="0" y="414287"/>
                  <a:pt x="0" y="364025"/>
                </a:cubicBezTo>
                <a:lnTo>
                  <a:pt x="0" y="91006"/>
                </a:lnTo>
                <a:cubicBezTo>
                  <a:pt x="0" y="40745"/>
                  <a:pt x="40745" y="0"/>
                  <a:pt x="91006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21901" y="2502673"/>
            <a:ext cx="204764" cy="204764"/>
          </a:xfrm>
          <a:custGeom>
            <a:avLst/>
            <a:gdLst/>
            <a:ahLst/>
            <a:cxnLst/>
            <a:rect l="l" t="t" r="r" b="b"/>
            <a:pathLst>
              <a:path w="204764" h="204764">
                <a:moveTo>
                  <a:pt x="102382" y="43152"/>
                </a:moveTo>
                <a:lnTo>
                  <a:pt x="96383" y="34834"/>
                </a:lnTo>
                <a:cubicBezTo>
                  <a:pt x="86385" y="20996"/>
                  <a:pt x="70348" y="12798"/>
                  <a:pt x="53231" y="12798"/>
                </a:cubicBezTo>
                <a:cubicBezTo>
                  <a:pt x="23836" y="12798"/>
                  <a:pt x="0" y="36634"/>
                  <a:pt x="0" y="66028"/>
                </a:cubicBezTo>
                <a:lnTo>
                  <a:pt x="0" y="67068"/>
                </a:lnTo>
                <a:cubicBezTo>
                  <a:pt x="0" y="76507"/>
                  <a:pt x="2480" y="86265"/>
                  <a:pt x="6639" y="95983"/>
                </a:cubicBezTo>
                <a:lnTo>
                  <a:pt x="49031" y="95983"/>
                </a:lnTo>
                <a:cubicBezTo>
                  <a:pt x="50311" y="95983"/>
                  <a:pt x="51471" y="95223"/>
                  <a:pt x="51991" y="94024"/>
                </a:cubicBezTo>
                <a:lnTo>
                  <a:pt x="64709" y="63509"/>
                </a:lnTo>
                <a:cubicBezTo>
                  <a:pt x="66188" y="59990"/>
                  <a:pt x="69628" y="57670"/>
                  <a:pt x="73427" y="57590"/>
                </a:cubicBezTo>
                <a:cubicBezTo>
                  <a:pt x="77226" y="57510"/>
                  <a:pt x="80746" y="59750"/>
                  <a:pt x="82306" y="63229"/>
                </a:cubicBezTo>
                <a:lnTo>
                  <a:pt x="102822" y="108781"/>
                </a:lnTo>
                <a:lnTo>
                  <a:pt x="119379" y="75667"/>
                </a:lnTo>
                <a:cubicBezTo>
                  <a:pt x="121019" y="72427"/>
                  <a:pt x="124338" y="70348"/>
                  <a:pt x="127978" y="70348"/>
                </a:cubicBezTo>
                <a:cubicBezTo>
                  <a:pt x="131617" y="70348"/>
                  <a:pt x="134936" y="72387"/>
                  <a:pt x="136576" y="75667"/>
                </a:cubicBezTo>
                <a:lnTo>
                  <a:pt x="145854" y="94184"/>
                </a:lnTo>
                <a:cubicBezTo>
                  <a:pt x="146414" y="95263"/>
                  <a:pt x="147494" y="95943"/>
                  <a:pt x="148734" y="95943"/>
                </a:cubicBezTo>
                <a:lnTo>
                  <a:pt x="198165" y="95943"/>
                </a:lnTo>
                <a:cubicBezTo>
                  <a:pt x="202365" y="86225"/>
                  <a:pt x="204804" y="76467"/>
                  <a:pt x="204804" y="67028"/>
                </a:cubicBezTo>
                <a:lnTo>
                  <a:pt x="204804" y="65988"/>
                </a:lnTo>
                <a:cubicBezTo>
                  <a:pt x="204764" y="36634"/>
                  <a:pt x="180928" y="12798"/>
                  <a:pt x="151533" y="12798"/>
                </a:cubicBezTo>
                <a:cubicBezTo>
                  <a:pt x="134456" y="12798"/>
                  <a:pt x="118379" y="20996"/>
                  <a:pt x="108381" y="34834"/>
                </a:cubicBezTo>
                <a:lnTo>
                  <a:pt x="102382" y="43112"/>
                </a:lnTo>
                <a:close/>
                <a:moveTo>
                  <a:pt x="187807" y="115180"/>
                </a:moveTo>
                <a:lnTo>
                  <a:pt x="148694" y="115180"/>
                </a:lnTo>
                <a:cubicBezTo>
                  <a:pt x="140215" y="115180"/>
                  <a:pt x="132457" y="110381"/>
                  <a:pt x="128657" y="102782"/>
                </a:cubicBezTo>
                <a:lnTo>
                  <a:pt x="127978" y="101422"/>
                </a:lnTo>
                <a:lnTo>
                  <a:pt x="110981" y="135456"/>
                </a:lnTo>
                <a:cubicBezTo>
                  <a:pt x="109341" y="138776"/>
                  <a:pt x="105901" y="140855"/>
                  <a:pt x="102182" y="140775"/>
                </a:cubicBezTo>
                <a:cubicBezTo>
                  <a:pt x="98463" y="140695"/>
                  <a:pt x="95143" y="138496"/>
                  <a:pt x="93624" y="135136"/>
                </a:cubicBezTo>
                <a:lnTo>
                  <a:pt x="73907" y="91344"/>
                </a:lnTo>
                <a:lnTo>
                  <a:pt x="69708" y="101422"/>
                </a:lnTo>
                <a:cubicBezTo>
                  <a:pt x="66228" y="109781"/>
                  <a:pt x="58070" y="115220"/>
                  <a:pt x="49031" y="115220"/>
                </a:cubicBezTo>
                <a:lnTo>
                  <a:pt x="16957" y="115220"/>
                </a:lnTo>
                <a:cubicBezTo>
                  <a:pt x="35834" y="144735"/>
                  <a:pt x="66148" y="171890"/>
                  <a:pt x="85105" y="186367"/>
                </a:cubicBezTo>
                <a:cubicBezTo>
                  <a:pt x="90064" y="190127"/>
                  <a:pt x="96143" y="192006"/>
                  <a:pt x="102342" y="192006"/>
                </a:cubicBezTo>
                <a:cubicBezTo>
                  <a:pt x="108541" y="192006"/>
                  <a:pt x="114660" y="190167"/>
                  <a:pt x="119579" y="186367"/>
                </a:cubicBezTo>
                <a:cubicBezTo>
                  <a:pt x="138616" y="171850"/>
                  <a:pt x="168930" y="144695"/>
                  <a:pt x="187807" y="11518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285464" y="2377540"/>
            <a:ext cx="4470684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12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心跳机制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5464" y="2741565"/>
            <a:ext cx="4459309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主节点定期向所有副本发送心跳消息，表明其正常运行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3923" y="3151093"/>
            <a:ext cx="455031" cy="455031"/>
          </a:xfrm>
          <a:custGeom>
            <a:avLst/>
            <a:gdLst/>
            <a:ahLst/>
            <a:cxnLst/>
            <a:rect l="l" t="t" r="r" b="b"/>
            <a:pathLst>
              <a:path w="455031" h="455031">
                <a:moveTo>
                  <a:pt x="91006" y="0"/>
                </a:moveTo>
                <a:lnTo>
                  <a:pt x="364025" y="0"/>
                </a:lnTo>
                <a:cubicBezTo>
                  <a:pt x="414253" y="0"/>
                  <a:pt x="455031" y="40779"/>
                  <a:pt x="455031" y="91006"/>
                </a:cubicBezTo>
                <a:lnTo>
                  <a:pt x="455031" y="364025"/>
                </a:lnTo>
                <a:cubicBezTo>
                  <a:pt x="455031" y="414287"/>
                  <a:pt x="414287" y="455031"/>
                  <a:pt x="364025" y="455031"/>
                </a:cubicBezTo>
                <a:lnTo>
                  <a:pt x="91006" y="455031"/>
                </a:lnTo>
                <a:cubicBezTo>
                  <a:pt x="40745" y="455031"/>
                  <a:pt x="0" y="414287"/>
                  <a:pt x="0" y="364025"/>
                </a:cubicBezTo>
                <a:lnTo>
                  <a:pt x="0" y="91006"/>
                </a:lnTo>
                <a:cubicBezTo>
                  <a:pt x="0" y="40745"/>
                  <a:pt x="40745" y="0"/>
                  <a:pt x="91006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821901" y="3276227"/>
            <a:ext cx="204764" cy="204764"/>
          </a:xfrm>
          <a:custGeom>
            <a:avLst/>
            <a:gdLst/>
            <a:ahLst/>
            <a:cxnLst/>
            <a:rect l="l" t="t" r="r" b="b"/>
            <a:pathLst>
              <a:path w="204764" h="204764">
                <a:moveTo>
                  <a:pt x="102382" y="0"/>
                </a:moveTo>
                <a:cubicBezTo>
                  <a:pt x="158888" y="0"/>
                  <a:pt x="204764" y="45876"/>
                  <a:pt x="204764" y="102382"/>
                </a:cubicBezTo>
                <a:cubicBezTo>
                  <a:pt x="204764" y="158888"/>
                  <a:pt x="158888" y="204764"/>
                  <a:pt x="102382" y="204764"/>
                </a:cubicBezTo>
                <a:cubicBezTo>
                  <a:pt x="45876" y="204764"/>
                  <a:pt x="0" y="158888"/>
                  <a:pt x="0" y="102382"/>
                </a:cubicBezTo>
                <a:cubicBezTo>
                  <a:pt x="0" y="45876"/>
                  <a:pt x="45876" y="0"/>
                  <a:pt x="102382" y="0"/>
                </a:cubicBezTo>
                <a:close/>
                <a:moveTo>
                  <a:pt x="92784" y="47992"/>
                </a:moveTo>
                <a:lnTo>
                  <a:pt x="92784" y="102382"/>
                </a:lnTo>
                <a:cubicBezTo>
                  <a:pt x="92784" y="105582"/>
                  <a:pt x="94383" y="108581"/>
                  <a:pt x="97063" y="110381"/>
                </a:cubicBezTo>
                <a:lnTo>
                  <a:pt x="135456" y="135976"/>
                </a:lnTo>
                <a:cubicBezTo>
                  <a:pt x="139856" y="138936"/>
                  <a:pt x="145814" y="137736"/>
                  <a:pt x="148774" y="133297"/>
                </a:cubicBezTo>
                <a:cubicBezTo>
                  <a:pt x="151733" y="128857"/>
                  <a:pt x="150534" y="122938"/>
                  <a:pt x="146094" y="119979"/>
                </a:cubicBezTo>
                <a:lnTo>
                  <a:pt x="111980" y="97263"/>
                </a:lnTo>
                <a:lnTo>
                  <a:pt x="111980" y="47992"/>
                </a:lnTo>
                <a:cubicBezTo>
                  <a:pt x="111980" y="42673"/>
                  <a:pt x="107701" y="38393"/>
                  <a:pt x="102382" y="38393"/>
                </a:cubicBezTo>
                <a:cubicBezTo>
                  <a:pt x="97063" y="38393"/>
                  <a:pt x="92784" y="42673"/>
                  <a:pt x="92784" y="47992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285464" y="3151093"/>
            <a:ext cx="3742634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12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租约超时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5464" y="3515118"/>
            <a:ext cx="3731258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副本在租约期内未收到心跳则认为主节点故障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3923" y="3924647"/>
            <a:ext cx="455031" cy="455031"/>
          </a:xfrm>
          <a:custGeom>
            <a:avLst/>
            <a:gdLst/>
            <a:ahLst/>
            <a:cxnLst/>
            <a:rect l="l" t="t" r="r" b="b"/>
            <a:pathLst>
              <a:path w="455031" h="455031">
                <a:moveTo>
                  <a:pt x="91006" y="0"/>
                </a:moveTo>
                <a:lnTo>
                  <a:pt x="364025" y="0"/>
                </a:lnTo>
                <a:cubicBezTo>
                  <a:pt x="414253" y="0"/>
                  <a:pt x="455031" y="40779"/>
                  <a:pt x="455031" y="91006"/>
                </a:cubicBezTo>
                <a:lnTo>
                  <a:pt x="455031" y="364025"/>
                </a:lnTo>
                <a:cubicBezTo>
                  <a:pt x="455031" y="414287"/>
                  <a:pt x="414287" y="455031"/>
                  <a:pt x="364025" y="455031"/>
                </a:cubicBezTo>
                <a:lnTo>
                  <a:pt x="91006" y="455031"/>
                </a:lnTo>
                <a:cubicBezTo>
                  <a:pt x="40745" y="455031"/>
                  <a:pt x="0" y="414287"/>
                  <a:pt x="0" y="364025"/>
                </a:cubicBezTo>
                <a:lnTo>
                  <a:pt x="0" y="91006"/>
                </a:lnTo>
                <a:cubicBezTo>
                  <a:pt x="0" y="40745"/>
                  <a:pt x="40745" y="0"/>
                  <a:pt x="91006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09103" y="4049780"/>
            <a:ext cx="230360" cy="204764"/>
          </a:xfrm>
          <a:custGeom>
            <a:avLst/>
            <a:gdLst/>
            <a:ahLst/>
            <a:cxnLst/>
            <a:rect l="l" t="t" r="r" b="b"/>
            <a:pathLst>
              <a:path w="230360" h="204764">
                <a:moveTo>
                  <a:pt x="99183" y="35194"/>
                </a:moveTo>
                <a:lnTo>
                  <a:pt x="131177" y="35194"/>
                </a:lnTo>
                <a:lnTo>
                  <a:pt x="131177" y="54390"/>
                </a:lnTo>
                <a:lnTo>
                  <a:pt x="99183" y="54390"/>
                </a:lnTo>
                <a:lnTo>
                  <a:pt x="99183" y="35194"/>
                </a:lnTo>
                <a:close/>
                <a:moveTo>
                  <a:pt x="95983" y="12798"/>
                </a:moveTo>
                <a:cubicBezTo>
                  <a:pt x="85385" y="12798"/>
                  <a:pt x="76787" y="21396"/>
                  <a:pt x="76787" y="31994"/>
                </a:cubicBezTo>
                <a:lnTo>
                  <a:pt x="76787" y="57590"/>
                </a:lnTo>
                <a:cubicBezTo>
                  <a:pt x="76787" y="68188"/>
                  <a:pt x="85385" y="76787"/>
                  <a:pt x="95983" y="76787"/>
                </a:cubicBezTo>
                <a:lnTo>
                  <a:pt x="102382" y="76787"/>
                </a:lnTo>
                <a:lnTo>
                  <a:pt x="102382" y="89584"/>
                </a:lnTo>
                <a:lnTo>
                  <a:pt x="12798" y="89584"/>
                </a:lnTo>
                <a:cubicBezTo>
                  <a:pt x="5719" y="89584"/>
                  <a:pt x="0" y="95303"/>
                  <a:pt x="0" y="102382"/>
                </a:cubicBezTo>
                <a:cubicBezTo>
                  <a:pt x="0" y="109461"/>
                  <a:pt x="5719" y="115180"/>
                  <a:pt x="12798" y="115180"/>
                </a:cubicBezTo>
                <a:lnTo>
                  <a:pt x="51191" y="115180"/>
                </a:lnTo>
                <a:lnTo>
                  <a:pt x="51191" y="127978"/>
                </a:lnTo>
                <a:lnTo>
                  <a:pt x="44792" y="127978"/>
                </a:lnTo>
                <a:cubicBezTo>
                  <a:pt x="34194" y="127978"/>
                  <a:pt x="25596" y="136576"/>
                  <a:pt x="25596" y="147174"/>
                </a:cubicBezTo>
                <a:lnTo>
                  <a:pt x="25596" y="172770"/>
                </a:lnTo>
                <a:cubicBezTo>
                  <a:pt x="25596" y="183368"/>
                  <a:pt x="34194" y="191966"/>
                  <a:pt x="44792" y="191966"/>
                </a:cubicBezTo>
                <a:lnTo>
                  <a:pt x="83185" y="191966"/>
                </a:lnTo>
                <a:cubicBezTo>
                  <a:pt x="93784" y="191966"/>
                  <a:pt x="102382" y="183368"/>
                  <a:pt x="102382" y="172770"/>
                </a:cubicBezTo>
                <a:lnTo>
                  <a:pt x="102382" y="147174"/>
                </a:lnTo>
                <a:cubicBezTo>
                  <a:pt x="102382" y="136576"/>
                  <a:pt x="93784" y="127978"/>
                  <a:pt x="83185" y="127978"/>
                </a:cubicBezTo>
                <a:lnTo>
                  <a:pt x="76787" y="127978"/>
                </a:lnTo>
                <a:lnTo>
                  <a:pt x="76787" y="115180"/>
                </a:lnTo>
                <a:lnTo>
                  <a:pt x="153573" y="115180"/>
                </a:lnTo>
                <a:lnTo>
                  <a:pt x="153573" y="127978"/>
                </a:lnTo>
                <a:lnTo>
                  <a:pt x="147174" y="127978"/>
                </a:lnTo>
                <a:cubicBezTo>
                  <a:pt x="136576" y="127978"/>
                  <a:pt x="127978" y="136576"/>
                  <a:pt x="127978" y="147174"/>
                </a:cubicBezTo>
                <a:lnTo>
                  <a:pt x="127978" y="172770"/>
                </a:lnTo>
                <a:cubicBezTo>
                  <a:pt x="127978" y="183368"/>
                  <a:pt x="136576" y="191966"/>
                  <a:pt x="147174" y="191966"/>
                </a:cubicBezTo>
                <a:lnTo>
                  <a:pt x="185568" y="191966"/>
                </a:lnTo>
                <a:cubicBezTo>
                  <a:pt x="196166" y="191966"/>
                  <a:pt x="204764" y="183368"/>
                  <a:pt x="204764" y="172770"/>
                </a:cubicBezTo>
                <a:lnTo>
                  <a:pt x="204764" y="147174"/>
                </a:lnTo>
                <a:cubicBezTo>
                  <a:pt x="204764" y="136576"/>
                  <a:pt x="196166" y="127978"/>
                  <a:pt x="185568" y="127978"/>
                </a:cubicBezTo>
                <a:lnTo>
                  <a:pt x="179169" y="127978"/>
                </a:lnTo>
                <a:lnTo>
                  <a:pt x="179169" y="115180"/>
                </a:lnTo>
                <a:lnTo>
                  <a:pt x="217562" y="115180"/>
                </a:lnTo>
                <a:cubicBezTo>
                  <a:pt x="224641" y="115180"/>
                  <a:pt x="230360" y="109461"/>
                  <a:pt x="230360" y="102382"/>
                </a:cubicBezTo>
                <a:cubicBezTo>
                  <a:pt x="230360" y="95303"/>
                  <a:pt x="224641" y="89584"/>
                  <a:pt x="217562" y="89584"/>
                </a:cubicBezTo>
                <a:lnTo>
                  <a:pt x="127978" y="89584"/>
                </a:lnTo>
                <a:lnTo>
                  <a:pt x="127978" y="76787"/>
                </a:lnTo>
                <a:lnTo>
                  <a:pt x="134376" y="76787"/>
                </a:lnTo>
                <a:cubicBezTo>
                  <a:pt x="144975" y="76787"/>
                  <a:pt x="153573" y="68188"/>
                  <a:pt x="153573" y="57590"/>
                </a:cubicBezTo>
                <a:lnTo>
                  <a:pt x="153573" y="31994"/>
                </a:lnTo>
                <a:cubicBezTo>
                  <a:pt x="153573" y="21396"/>
                  <a:pt x="144975" y="12798"/>
                  <a:pt x="134376" y="12798"/>
                </a:cubicBezTo>
                <a:lnTo>
                  <a:pt x="95983" y="12798"/>
                </a:lnTo>
                <a:close/>
                <a:moveTo>
                  <a:pt x="179169" y="150374"/>
                </a:moveTo>
                <a:lnTo>
                  <a:pt x="182368" y="150374"/>
                </a:lnTo>
                <a:lnTo>
                  <a:pt x="182368" y="169570"/>
                </a:lnTo>
                <a:lnTo>
                  <a:pt x="150374" y="169570"/>
                </a:lnTo>
                <a:lnTo>
                  <a:pt x="150374" y="150374"/>
                </a:lnTo>
                <a:lnTo>
                  <a:pt x="179169" y="150374"/>
                </a:lnTo>
                <a:close/>
                <a:moveTo>
                  <a:pt x="76787" y="150374"/>
                </a:moveTo>
                <a:lnTo>
                  <a:pt x="79986" y="150374"/>
                </a:lnTo>
                <a:lnTo>
                  <a:pt x="79986" y="169570"/>
                </a:lnTo>
                <a:lnTo>
                  <a:pt x="47992" y="169570"/>
                </a:lnTo>
                <a:lnTo>
                  <a:pt x="47992" y="150374"/>
                </a:lnTo>
                <a:lnTo>
                  <a:pt x="76787" y="150374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285464" y="3924647"/>
            <a:ext cx="2468546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12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网络分区检测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5464" y="4288672"/>
            <a:ext cx="2457170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通过多数派机制避免脑裂问题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0719" y="5033786"/>
            <a:ext cx="7530771" cy="3996278"/>
          </a:xfrm>
          <a:custGeom>
            <a:avLst/>
            <a:gdLst/>
            <a:ahLst/>
            <a:cxnLst/>
            <a:rect l="l" t="t" r="r" b="b"/>
            <a:pathLst>
              <a:path w="7530771" h="4720952">
                <a:moveTo>
                  <a:pt x="136530" y="0"/>
                </a:moveTo>
                <a:lnTo>
                  <a:pt x="7394241" y="0"/>
                </a:lnTo>
                <a:cubicBezTo>
                  <a:pt x="7469645" y="0"/>
                  <a:pt x="7530771" y="61127"/>
                  <a:pt x="7530771" y="136530"/>
                </a:cubicBezTo>
                <a:lnTo>
                  <a:pt x="7530771" y="4584422"/>
                </a:lnTo>
                <a:cubicBezTo>
                  <a:pt x="7530771" y="4659825"/>
                  <a:pt x="7469645" y="4720952"/>
                  <a:pt x="7394241" y="4720952"/>
                </a:cubicBezTo>
                <a:lnTo>
                  <a:pt x="136530" y="4720952"/>
                </a:lnTo>
                <a:cubicBezTo>
                  <a:pt x="61127" y="4720952"/>
                  <a:pt x="0" y="4659825"/>
                  <a:pt x="0" y="4584422"/>
                </a:cubicBezTo>
                <a:lnTo>
                  <a:pt x="0" y="136530"/>
                </a:lnTo>
                <a:cubicBezTo>
                  <a:pt x="0" y="61127"/>
                  <a:pt x="61127" y="0"/>
                  <a:pt x="136530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3A2">
                  <a:alpha val="30000"/>
                </a:srgbClr>
              </a:gs>
              <a:gs pos="100000">
                <a:srgbClr val="4DB3A2">
                  <a:alpha val="10000"/>
                </a:srgbClr>
              </a:gs>
            </a:gsLst>
            <a:lin ang="2700000" scaled="1"/>
          </a:gradFill>
          <a:ln w="12700">
            <a:solidFill>
              <a:srgbClr val="4DB3A2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710987" y="5312493"/>
            <a:ext cx="307146" cy="273019"/>
          </a:xfrm>
          <a:custGeom>
            <a:avLst/>
            <a:gdLst/>
            <a:ahLst/>
            <a:cxnLst/>
            <a:rect l="l" t="t" r="r" b="b"/>
            <a:pathLst>
              <a:path w="307146" h="273019">
                <a:moveTo>
                  <a:pt x="119499" y="51778"/>
                </a:moveTo>
                <a:lnTo>
                  <a:pt x="119499" y="78226"/>
                </a:lnTo>
                <a:lnTo>
                  <a:pt x="119766" y="78493"/>
                </a:lnTo>
                <a:cubicBezTo>
                  <a:pt x="123232" y="34554"/>
                  <a:pt x="159972" y="0"/>
                  <a:pt x="204817" y="0"/>
                </a:cubicBezTo>
                <a:cubicBezTo>
                  <a:pt x="215536" y="0"/>
                  <a:pt x="225827" y="1973"/>
                  <a:pt x="235266" y="5599"/>
                </a:cubicBezTo>
                <a:cubicBezTo>
                  <a:pt x="240598" y="7625"/>
                  <a:pt x="241558" y="14397"/>
                  <a:pt x="237558" y="18450"/>
                </a:cubicBezTo>
                <a:lnTo>
                  <a:pt x="190260" y="65748"/>
                </a:lnTo>
                <a:cubicBezTo>
                  <a:pt x="188660" y="67348"/>
                  <a:pt x="187754" y="69534"/>
                  <a:pt x="187754" y="71774"/>
                </a:cubicBezTo>
                <a:lnTo>
                  <a:pt x="187754" y="93850"/>
                </a:lnTo>
                <a:cubicBezTo>
                  <a:pt x="187754" y="98543"/>
                  <a:pt x="191593" y="102382"/>
                  <a:pt x="196286" y="102382"/>
                </a:cubicBezTo>
                <a:lnTo>
                  <a:pt x="218362" y="102382"/>
                </a:lnTo>
                <a:cubicBezTo>
                  <a:pt x="220601" y="102382"/>
                  <a:pt x="222788" y="101476"/>
                  <a:pt x="224387" y="99876"/>
                </a:cubicBezTo>
                <a:lnTo>
                  <a:pt x="271686" y="52577"/>
                </a:lnTo>
                <a:cubicBezTo>
                  <a:pt x="275738" y="48525"/>
                  <a:pt x="282511" y="49538"/>
                  <a:pt x="284537" y="54870"/>
                </a:cubicBezTo>
                <a:cubicBezTo>
                  <a:pt x="288163" y="64309"/>
                  <a:pt x="290136" y="74600"/>
                  <a:pt x="290136" y="85318"/>
                </a:cubicBezTo>
                <a:cubicBezTo>
                  <a:pt x="290136" y="117633"/>
                  <a:pt x="272166" y="145788"/>
                  <a:pt x="245610" y="160239"/>
                </a:cubicBezTo>
                <a:lnTo>
                  <a:pt x="289069" y="203698"/>
                </a:lnTo>
                <a:cubicBezTo>
                  <a:pt x="299041" y="213669"/>
                  <a:pt x="299041" y="229880"/>
                  <a:pt x="289069" y="239905"/>
                </a:cubicBezTo>
                <a:lnTo>
                  <a:pt x="257022" y="271952"/>
                </a:lnTo>
                <a:cubicBezTo>
                  <a:pt x="247050" y="281924"/>
                  <a:pt x="230840" y="281924"/>
                  <a:pt x="220815" y="271952"/>
                </a:cubicBezTo>
                <a:lnTo>
                  <a:pt x="153626" y="204764"/>
                </a:lnTo>
                <a:cubicBezTo>
                  <a:pt x="139016" y="190153"/>
                  <a:pt x="135710" y="168557"/>
                  <a:pt x="143762" y="150747"/>
                </a:cubicBezTo>
                <a:lnTo>
                  <a:pt x="95397" y="102382"/>
                </a:lnTo>
                <a:lnTo>
                  <a:pt x="68948" y="102382"/>
                </a:lnTo>
                <a:cubicBezTo>
                  <a:pt x="63242" y="102382"/>
                  <a:pt x="57910" y="99556"/>
                  <a:pt x="54764" y="94810"/>
                </a:cubicBezTo>
                <a:lnTo>
                  <a:pt x="12478" y="31408"/>
                </a:lnTo>
                <a:cubicBezTo>
                  <a:pt x="10238" y="28048"/>
                  <a:pt x="10665" y="23516"/>
                  <a:pt x="13544" y="20636"/>
                </a:cubicBezTo>
                <a:lnTo>
                  <a:pt x="37753" y="-3573"/>
                </a:lnTo>
                <a:cubicBezTo>
                  <a:pt x="40633" y="-6452"/>
                  <a:pt x="45112" y="-6879"/>
                  <a:pt x="48525" y="-4639"/>
                </a:cubicBezTo>
                <a:lnTo>
                  <a:pt x="111927" y="37593"/>
                </a:lnTo>
                <a:cubicBezTo>
                  <a:pt x="116673" y="40740"/>
                  <a:pt x="119499" y="46072"/>
                  <a:pt x="119499" y="51778"/>
                </a:cubicBezTo>
                <a:close/>
                <a:moveTo>
                  <a:pt x="114967" y="158159"/>
                </a:moveTo>
                <a:cubicBezTo>
                  <a:pt x="111607" y="177889"/>
                  <a:pt x="116246" y="198739"/>
                  <a:pt x="129044" y="215429"/>
                </a:cubicBezTo>
                <a:lnTo>
                  <a:pt x="78386" y="266033"/>
                </a:lnTo>
                <a:cubicBezTo>
                  <a:pt x="63402" y="281017"/>
                  <a:pt x="39086" y="281017"/>
                  <a:pt x="24102" y="266033"/>
                </a:cubicBezTo>
                <a:cubicBezTo>
                  <a:pt x="9118" y="251049"/>
                  <a:pt x="9118" y="226734"/>
                  <a:pt x="24102" y="211750"/>
                </a:cubicBezTo>
                <a:lnTo>
                  <a:pt x="96303" y="139549"/>
                </a:lnTo>
                <a:lnTo>
                  <a:pt x="114967" y="158212"/>
                </a:ln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35197" y="5266990"/>
            <a:ext cx="6859600" cy="364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50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故障恢复流程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93923" y="5813027"/>
            <a:ext cx="364025" cy="364025"/>
          </a:xfrm>
          <a:custGeom>
            <a:avLst/>
            <a:gdLst/>
            <a:ahLst/>
            <a:cxnLst/>
            <a:rect l="l" t="t" r="r" b="b"/>
            <a:pathLst>
              <a:path w="364025" h="364025">
                <a:moveTo>
                  <a:pt x="91006" y="0"/>
                </a:moveTo>
                <a:lnTo>
                  <a:pt x="273019" y="0"/>
                </a:lnTo>
                <a:cubicBezTo>
                  <a:pt x="323280" y="0"/>
                  <a:pt x="364025" y="40745"/>
                  <a:pt x="364025" y="91006"/>
                </a:cubicBezTo>
                <a:lnTo>
                  <a:pt x="364025" y="273019"/>
                </a:lnTo>
                <a:cubicBezTo>
                  <a:pt x="364025" y="323280"/>
                  <a:pt x="323280" y="364025"/>
                  <a:pt x="273019" y="364025"/>
                </a:cubicBezTo>
                <a:lnTo>
                  <a:pt x="91006" y="364025"/>
                </a:lnTo>
                <a:cubicBezTo>
                  <a:pt x="40745" y="364025"/>
                  <a:pt x="0" y="323280"/>
                  <a:pt x="0" y="273019"/>
                </a:cubicBezTo>
                <a:lnTo>
                  <a:pt x="0" y="91006"/>
                </a:lnTo>
                <a:cubicBezTo>
                  <a:pt x="0" y="40745"/>
                  <a:pt x="40745" y="0"/>
                  <a:pt x="91006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40120" y="5858530"/>
            <a:ext cx="159261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94458" y="5813027"/>
            <a:ext cx="2002139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故障检测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94458" y="6131549"/>
            <a:ext cx="1990763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副本检测到主节点心跳超时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3923" y="6450071"/>
            <a:ext cx="364025" cy="364025"/>
          </a:xfrm>
          <a:custGeom>
            <a:avLst/>
            <a:gdLst/>
            <a:ahLst/>
            <a:cxnLst/>
            <a:rect l="l" t="t" r="r" b="b"/>
            <a:pathLst>
              <a:path w="364025" h="364025">
                <a:moveTo>
                  <a:pt x="91006" y="0"/>
                </a:moveTo>
                <a:lnTo>
                  <a:pt x="273019" y="0"/>
                </a:lnTo>
                <a:cubicBezTo>
                  <a:pt x="323280" y="0"/>
                  <a:pt x="364025" y="40745"/>
                  <a:pt x="364025" y="91006"/>
                </a:cubicBezTo>
                <a:lnTo>
                  <a:pt x="364025" y="273019"/>
                </a:lnTo>
                <a:cubicBezTo>
                  <a:pt x="364025" y="323280"/>
                  <a:pt x="323280" y="364025"/>
                  <a:pt x="273019" y="364025"/>
                </a:cubicBezTo>
                <a:lnTo>
                  <a:pt x="91006" y="364025"/>
                </a:lnTo>
                <a:cubicBezTo>
                  <a:pt x="40745" y="364025"/>
                  <a:pt x="0" y="323280"/>
                  <a:pt x="0" y="273019"/>
                </a:cubicBezTo>
                <a:lnTo>
                  <a:pt x="0" y="91006"/>
                </a:lnTo>
                <a:cubicBezTo>
                  <a:pt x="0" y="40745"/>
                  <a:pt x="40745" y="0"/>
                  <a:pt x="91006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24745" y="6495575"/>
            <a:ext cx="193388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94458" y="6450071"/>
            <a:ext cx="2002139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随机退避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94458" y="6768593"/>
            <a:ext cx="1990763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等待随机时间避免同时选举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93923" y="7087115"/>
            <a:ext cx="364025" cy="364025"/>
          </a:xfrm>
          <a:custGeom>
            <a:avLst/>
            <a:gdLst/>
            <a:ahLst/>
            <a:cxnLst/>
            <a:rect l="l" t="t" r="r" b="b"/>
            <a:pathLst>
              <a:path w="364025" h="364025">
                <a:moveTo>
                  <a:pt x="91006" y="0"/>
                </a:moveTo>
                <a:lnTo>
                  <a:pt x="273019" y="0"/>
                </a:lnTo>
                <a:cubicBezTo>
                  <a:pt x="323280" y="0"/>
                  <a:pt x="364025" y="40745"/>
                  <a:pt x="364025" y="91006"/>
                </a:cubicBezTo>
                <a:lnTo>
                  <a:pt x="364025" y="273019"/>
                </a:lnTo>
                <a:cubicBezTo>
                  <a:pt x="364025" y="323280"/>
                  <a:pt x="323280" y="364025"/>
                  <a:pt x="273019" y="364025"/>
                </a:cubicBezTo>
                <a:lnTo>
                  <a:pt x="91006" y="364025"/>
                </a:lnTo>
                <a:cubicBezTo>
                  <a:pt x="40745" y="364025"/>
                  <a:pt x="0" y="323280"/>
                  <a:pt x="0" y="273019"/>
                </a:cubicBezTo>
                <a:lnTo>
                  <a:pt x="0" y="91006"/>
                </a:lnTo>
                <a:cubicBezTo>
                  <a:pt x="0" y="40745"/>
                  <a:pt x="40745" y="0"/>
                  <a:pt x="91006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22345" y="7132619"/>
            <a:ext cx="193388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94458" y="7087115"/>
            <a:ext cx="1729120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重新选举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94458" y="7405638"/>
            <a:ext cx="1717744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触发新一轮 Paxos 选举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93923" y="7724160"/>
            <a:ext cx="364025" cy="364025"/>
          </a:xfrm>
          <a:custGeom>
            <a:avLst/>
            <a:gdLst/>
            <a:ahLst/>
            <a:cxnLst/>
            <a:rect l="l" t="t" r="r" b="b"/>
            <a:pathLst>
              <a:path w="364025" h="364025">
                <a:moveTo>
                  <a:pt x="91006" y="0"/>
                </a:moveTo>
                <a:lnTo>
                  <a:pt x="273019" y="0"/>
                </a:lnTo>
                <a:cubicBezTo>
                  <a:pt x="323280" y="0"/>
                  <a:pt x="364025" y="40745"/>
                  <a:pt x="364025" y="91006"/>
                </a:cubicBezTo>
                <a:lnTo>
                  <a:pt x="364025" y="273019"/>
                </a:lnTo>
                <a:cubicBezTo>
                  <a:pt x="364025" y="323280"/>
                  <a:pt x="323280" y="364025"/>
                  <a:pt x="273019" y="364025"/>
                </a:cubicBezTo>
                <a:lnTo>
                  <a:pt x="91006" y="364025"/>
                </a:lnTo>
                <a:cubicBezTo>
                  <a:pt x="40745" y="364025"/>
                  <a:pt x="0" y="323280"/>
                  <a:pt x="0" y="273019"/>
                </a:cubicBezTo>
                <a:lnTo>
                  <a:pt x="0" y="91006"/>
                </a:lnTo>
                <a:cubicBezTo>
                  <a:pt x="0" y="40745"/>
                  <a:pt x="40745" y="0"/>
                  <a:pt x="91006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22523" y="7769663"/>
            <a:ext cx="193388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94458" y="7724160"/>
            <a:ext cx="2002139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状态同步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94458" y="8042682"/>
            <a:ext cx="1990763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新主节点获取最新数据状态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93923" y="8361204"/>
            <a:ext cx="364025" cy="364025"/>
          </a:xfrm>
          <a:custGeom>
            <a:avLst/>
            <a:gdLst/>
            <a:ahLst/>
            <a:cxnLst/>
            <a:rect l="l" t="t" r="r" b="b"/>
            <a:pathLst>
              <a:path w="364025" h="364025">
                <a:moveTo>
                  <a:pt x="91006" y="0"/>
                </a:moveTo>
                <a:lnTo>
                  <a:pt x="273019" y="0"/>
                </a:lnTo>
                <a:cubicBezTo>
                  <a:pt x="323280" y="0"/>
                  <a:pt x="364025" y="40745"/>
                  <a:pt x="364025" y="91006"/>
                </a:cubicBezTo>
                <a:lnTo>
                  <a:pt x="364025" y="273019"/>
                </a:lnTo>
                <a:cubicBezTo>
                  <a:pt x="364025" y="323280"/>
                  <a:pt x="323280" y="364025"/>
                  <a:pt x="273019" y="364025"/>
                </a:cubicBezTo>
                <a:lnTo>
                  <a:pt x="91006" y="364025"/>
                </a:lnTo>
                <a:cubicBezTo>
                  <a:pt x="40745" y="364025"/>
                  <a:pt x="0" y="323280"/>
                  <a:pt x="0" y="273019"/>
                </a:cubicBezTo>
                <a:lnTo>
                  <a:pt x="0" y="91006"/>
                </a:lnTo>
                <a:cubicBezTo>
                  <a:pt x="0" y="40745"/>
                  <a:pt x="40745" y="0"/>
                  <a:pt x="91006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21545" y="8406707"/>
            <a:ext cx="204764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94458" y="8361204"/>
            <a:ext cx="2798444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恢复服务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94458" y="8679726"/>
            <a:ext cx="2787068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向客户端发送变更通知，恢复正常服务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72064" y="1598299"/>
            <a:ext cx="7530771" cy="7431766"/>
          </a:xfrm>
          <a:custGeom>
            <a:avLst/>
            <a:gdLst/>
            <a:ahLst/>
            <a:cxnLst/>
            <a:rect l="l" t="t" r="r" b="b"/>
            <a:pathLst>
              <a:path w="7530771" h="8156439">
                <a:moveTo>
                  <a:pt x="136533" y="0"/>
                </a:moveTo>
                <a:lnTo>
                  <a:pt x="7394238" y="0"/>
                </a:lnTo>
                <a:cubicBezTo>
                  <a:pt x="7469643" y="0"/>
                  <a:pt x="7530771" y="61128"/>
                  <a:pt x="7530771" y="136533"/>
                </a:cubicBezTo>
                <a:lnTo>
                  <a:pt x="7530771" y="8019907"/>
                </a:lnTo>
                <a:cubicBezTo>
                  <a:pt x="7530771" y="8095312"/>
                  <a:pt x="7469643" y="8156439"/>
                  <a:pt x="7394238" y="8156439"/>
                </a:cubicBezTo>
                <a:lnTo>
                  <a:pt x="136533" y="8156439"/>
                </a:lnTo>
                <a:cubicBezTo>
                  <a:pt x="61128" y="8156439"/>
                  <a:pt x="0" y="8095312"/>
                  <a:pt x="0" y="8019907"/>
                </a:cubicBezTo>
                <a:lnTo>
                  <a:pt x="0" y="136533"/>
                </a:lnTo>
                <a:cubicBezTo>
                  <a:pt x="0" y="61178"/>
                  <a:pt x="61178" y="0"/>
                  <a:pt x="136533" y="0"/>
                </a:cubicBezTo>
                <a:close/>
              </a:path>
            </a:pathLst>
          </a:custGeom>
          <a:gradFill flip="none" rotWithShape="1">
            <a:gsLst>
              <a:gs pos="0">
                <a:srgbClr val="E1AF63">
                  <a:alpha val="30000"/>
                </a:srgbClr>
              </a:gs>
              <a:gs pos="100000">
                <a:srgbClr val="E1AF63">
                  <a:alpha val="10000"/>
                </a:srgbClr>
              </a:gs>
            </a:gsLst>
            <a:lin ang="2700000" scaled="1"/>
          </a:gradFill>
          <a:ln w="12700">
            <a:solidFill>
              <a:srgbClr val="E1AF63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8539395" y="1877005"/>
            <a:ext cx="273019" cy="273019"/>
          </a:xfrm>
          <a:custGeom>
            <a:avLst/>
            <a:gdLst/>
            <a:ahLst/>
            <a:cxnLst/>
            <a:rect l="l" t="t" r="r" b="b"/>
            <a:pathLst>
              <a:path w="273019" h="273019">
                <a:moveTo>
                  <a:pt x="136509" y="0"/>
                </a:moveTo>
                <a:cubicBezTo>
                  <a:pt x="138962" y="0"/>
                  <a:pt x="141415" y="533"/>
                  <a:pt x="143655" y="1546"/>
                </a:cubicBezTo>
                <a:lnTo>
                  <a:pt x="244117" y="44152"/>
                </a:lnTo>
                <a:cubicBezTo>
                  <a:pt x="255849" y="49111"/>
                  <a:pt x="264594" y="60683"/>
                  <a:pt x="264540" y="74654"/>
                </a:cubicBezTo>
                <a:cubicBezTo>
                  <a:pt x="264274" y="127551"/>
                  <a:pt x="242518" y="224334"/>
                  <a:pt x="150640" y="268326"/>
                </a:cubicBezTo>
                <a:cubicBezTo>
                  <a:pt x="141735" y="272592"/>
                  <a:pt x="131390" y="272592"/>
                  <a:pt x="122485" y="268326"/>
                </a:cubicBezTo>
                <a:cubicBezTo>
                  <a:pt x="30555" y="224334"/>
                  <a:pt x="8852" y="127551"/>
                  <a:pt x="8585" y="74654"/>
                </a:cubicBezTo>
                <a:cubicBezTo>
                  <a:pt x="8532" y="60683"/>
                  <a:pt x="17277" y="49111"/>
                  <a:pt x="29008" y="44152"/>
                </a:cubicBezTo>
                <a:lnTo>
                  <a:pt x="129417" y="1546"/>
                </a:lnTo>
                <a:cubicBezTo>
                  <a:pt x="131657" y="533"/>
                  <a:pt x="134057" y="0"/>
                  <a:pt x="136509" y="0"/>
                </a:cubicBezTo>
                <a:close/>
                <a:moveTo>
                  <a:pt x="136509" y="35620"/>
                </a:moveTo>
                <a:lnTo>
                  <a:pt x="136509" y="237238"/>
                </a:lnTo>
                <a:cubicBezTo>
                  <a:pt x="210097" y="201618"/>
                  <a:pt x="229880" y="122699"/>
                  <a:pt x="230360" y="75453"/>
                </a:cubicBezTo>
                <a:lnTo>
                  <a:pt x="136509" y="35674"/>
                </a:lnTo>
                <a:lnTo>
                  <a:pt x="136509" y="35674"/>
                </a:ln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846541" y="1831502"/>
            <a:ext cx="6859600" cy="364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50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容错保证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528019" y="2900381"/>
            <a:ext cx="7041612" cy="1046572"/>
          </a:xfrm>
          <a:custGeom>
            <a:avLst/>
            <a:gdLst/>
            <a:ahLst/>
            <a:cxnLst/>
            <a:rect l="l" t="t" r="r" b="b"/>
            <a:pathLst>
              <a:path w="7041612" h="1046572">
                <a:moveTo>
                  <a:pt x="45503" y="0"/>
                </a:moveTo>
                <a:lnTo>
                  <a:pt x="6950602" y="0"/>
                </a:lnTo>
                <a:cubicBezTo>
                  <a:pt x="7000866" y="0"/>
                  <a:pt x="7041612" y="40747"/>
                  <a:pt x="7041612" y="91010"/>
                </a:cubicBezTo>
                <a:lnTo>
                  <a:pt x="7041612" y="955562"/>
                </a:lnTo>
                <a:cubicBezTo>
                  <a:pt x="7041612" y="1005826"/>
                  <a:pt x="7000866" y="1046572"/>
                  <a:pt x="6950602" y="1046572"/>
                </a:cubicBezTo>
                <a:lnTo>
                  <a:pt x="45503" y="1046572"/>
                </a:lnTo>
                <a:cubicBezTo>
                  <a:pt x="20372" y="1046572"/>
                  <a:pt x="0" y="1026200"/>
                  <a:pt x="0" y="1001069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5A7D9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8528019" y="2900381"/>
            <a:ext cx="45503" cy="1046572"/>
          </a:xfrm>
          <a:custGeom>
            <a:avLst/>
            <a:gdLst/>
            <a:ahLst/>
            <a:cxnLst/>
            <a:rect l="l" t="t" r="r" b="b"/>
            <a:pathLst>
              <a:path w="45503" h="1046572">
                <a:moveTo>
                  <a:pt x="45503" y="0"/>
                </a:moveTo>
                <a:lnTo>
                  <a:pt x="45503" y="0"/>
                </a:lnTo>
                <a:lnTo>
                  <a:pt x="45503" y="1046572"/>
                </a:lnTo>
                <a:lnTo>
                  <a:pt x="45503" y="1046572"/>
                </a:lnTo>
                <a:cubicBezTo>
                  <a:pt x="20372" y="1046572"/>
                  <a:pt x="0" y="1026200"/>
                  <a:pt x="0" y="1001069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761223" y="3127897"/>
            <a:ext cx="227516" cy="227516"/>
          </a:xfrm>
          <a:custGeom>
            <a:avLst/>
            <a:gdLst/>
            <a:ahLst/>
            <a:cxnLst/>
            <a:rect l="l" t="t" r="r" b="b"/>
            <a:pathLst>
              <a:path w="227516" h="227516">
                <a:moveTo>
                  <a:pt x="113758" y="227516"/>
                </a:moveTo>
                <a:cubicBezTo>
                  <a:pt x="176543" y="227516"/>
                  <a:pt x="227516" y="176543"/>
                  <a:pt x="227516" y="113758"/>
                </a:cubicBezTo>
                <a:cubicBezTo>
                  <a:pt x="227516" y="50973"/>
                  <a:pt x="176543" y="0"/>
                  <a:pt x="113758" y="0"/>
                </a:cubicBezTo>
                <a:cubicBezTo>
                  <a:pt x="50973" y="0"/>
                  <a:pt x="0" y="50973"/>
                  <a:pt x="0" y="113758"/>
                </a:cubicBezTo>
                <a:cubicBezTo>
                  <a:pt x="0" y="176543"/>
                  <a:pt x="50973" y="227516"/>
                  <a:pt x="113758" y="227516"/>
                </a:cubicBezTo>
                <a:close/>
                <a:moveTo>
                  <a:pt x="151262" y="94517"/>
                </a:moveTo>
                <a:lnTo>
                  <a:pt x="115713" y="151396"/>
                </a:lnTo>
                <a:cubicBezTo>
                  <a:pt x="113847" y="154373"/>
                  <a:pt x="110647" y="156239"/>
                  <a:pt x="107137" y="156417"/>
                </a:cubicBezTo>
                <a:cubicBezTo>
                  <a:pt x="103626" y="156595"/>
                  <a:pt x="100249" y="154995"/>
                  <a:pt x="98161" y="152151"/>
                </a:cubicBezTo>
                <a:lnTo>
                  <a:pt x="76831" y="123712"/>
                </a:lnTo>
                <a:cubicBezTo>
                  <a:pt x="73276" y="119001"/>
                  <a:pt x="74254" y="112336"/>
                  <a:pt x="78964" y="108781"/>
                </a:cubicBezTo>
                <a:cubicBezTo>
                  <a:pt x="83674" y="105226"/>
                  <a:pt x="90340" y="106204"/>
                  <a:pt x="93895" y="110914"/>
                </a:cubicBezTo>
                <a:lnTo>
                  <a:pt x="105893" y="126911"/>
                </a:lnTo>
                <a:lnTo>
                  <a:pt x="133177" y="83230"/>
                </a:lnTo>
                <a:cubicBezTo>
                  <a:pt x="136287" y="78253"/>
                  <a:pt x="142864" y="76698"/>
                  <a:pt x="147885" y="79853"/>
                </a:cubicBezTo>
                <a:cubicBezTo>
                  <a:pt x="152907" y="83008"/>
                  <a:pt x="154417" y="89540"/>
                  <a:pt x="151262" y="94561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9153687" y="3082394"/>
            <a:ext cx="921439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12" dirty="0">
                <a:solidFill>
                  <a:srgbClr val="5A7D9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活性保证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732783" y="3491922"/>
            <a:ext cx="6745842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只要</a:t>
            </a:r>
            <a:r>
              <a:rPr lang="en-US" sz="1433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大多数副本正常</a:t>
            </a:r>
            <a:r>
              <a:rPr lang="en-US" sz="1433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，系统就能选出主节点并继续服务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528019" y="4261206"/>
            <a:ext cx="7041612" cy="1046572"/>
          </a:xfrm>
          <a:custGeom>
            <a:avLst/>
            <a:gdLst/>
            <a:ahLst/>
            <a:cxnLst/>
            <a:rect l="l" t="t" r="r" b="b"/>
            <a:pathLst>
              <a:path w="7041612" h="1046572">
                <a:moveTo>
                  <a:pt x="45503" y="0"/>
                </a:moveTo>
                <a:lnTo>
                  <a:pt x="6950602" y="0"/>
                </a:lnTo>
                <a:cubicBezTo>
                  <a:pt x="7000866" y="0"/>
                  <a:pt x="7041612" y="40747"/>
                  <a:pt x="7041612" y="91010"/>
                </a:cubicBezTo>
                <a:lnTo>
                  <a:pt x="7041612" y="955562"/>
                </a:lnTo>
                <a:cubicBezTo>
                  <a:pt x="7041612" y="1005826"/>
                  <a:pt x="7000866" y="1046572"/>
                  <a:pt x="6950602" y="1046572"/>
                </a:cubicBezTo>
                <a:lnTo>
                  <a:pt x="45503" y="1046572"/>
                </a:lnTo>
                <a:cubicBezTo>
                  <a:pt x="20372" y="1046572"/>
                  <a:pt x="0" y="1026200"/>
                  <a:pt x="0" y="1001069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4DB3A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8528019" y="4261206"/>
            <a:ext cx="45503" cy="1046572"/>
          </a:xfrm>
          <a:custGeom>
            <a:avLst/>
            <a:gdLst/>
            <a:ahLst/>
            <a:cxnLst/>
            <a:rect l="l" t="t" r="r" b="b"/>
            <a:pathLst>
              <a:path w="45503" h="1046572">
                <a:moveTo>
                  <a:pt x="45503" y="0"/>
                </a:moveTo>
                <a:lnTo>
                  <a:pt x="45503" y="0"/>
                </a:lnTo>
                <a:lnTo>
                  <a:pt x="45503" y="1046572"/>
                </a:lnTo>
                <a:lnTo>
                  <a:pt x="45503" y="1046572"/>
                </a:lnTo>
                <a:cubicBezTo>
                  <a:pt x="20372" y="1046572"/>
                  <a:pt x="0" y="1026200"/>
                  <a:pt x="0" y="1001069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8789662" y="4488722"/>
            <a:ext cx="170637" cy="227516"/>
          </a:xfrm>
          <a:custGeom>
            <a:avLst/>
            <a:gdLst/>
            <a:ahLst/>
            <a:cxnLst/>
            <a:rect l="l" t="t" r="r" b="b"/>
            <a:pathLst>
              <a:path w="170637" h="227516">
                <a:moveTo>
                  <a:pt x="56879" y="42659"/>
                </a:moveTo>
                <a:lnTo>
                  <a:pt x="56879" y="71099"/>
                </a:lnTo>
                <a:lnTo>
                  <a:pt x="113758" y="71099"/>
                </a:lnTo>
                <a:lnTo>
                  <a:pt x="113758" y="42659"/>
                </a:lnTo>
                <a:cubicBezTo>
                  <a:pt x="113758" y="26973"/>
                  <a:pt x="101005" y="14220"/>
                  <a:pt x="85318" y="14220"/>
                </a:cubicBezTo>
                <a:cubicBezTo>
                  <a:pt x="69632" y="14220"/>
                  <a:pt x="56879" y="26973"/>
                  <a:pt x="56879" y="42659"/>
                </a:cubicBezTo>
                <a:close/>
                <a:moveTo>
                  <a:pt x="28439" y="71099"/>
                </a:moveTo>
                <a:lnTo>
                  <a:pt x="28439" y="42659"/>
                </a:lnTo>
                <a:cubicBezTo>
                  <a:pt x="28439" y="11242"/>
                  <a:pt x="53902" y="-14220"/>
                  <a:pt x="85318" y="-14220"/>
                </a:cubicBezTo>
                <a:cubicBezTo>
                  <a:pt x="116735" y="-14220"/>
                  <a:pt x="142197" y="11242"/>
                  <a:pt x="142197" y="42659"/>
                </a:cubicBezTo>
                <a:lnTo>
                  <a:pt x="142197" y="71099"/>
                </a:lnTo>
                <a:cubicBezTo>
                  <a:pt x="157883" y="71099"/>
                  <a:pt x="170637" y="83852"/>
                  <a:pt x="170637" y="99538"/>
                </a:cubicBezTo>
                <a:lnTo>
                  <a:pt x="170637" y="199076"/>
                </a:lnTo>
                <a:cubicBezTo>
                  <a:pt x="170637" y="214762"/>
                  <a:pt x="157883" y="227516"/>
                  <a:pt x="142197" y="227516"/>
                </a:cubicBezTo>
                <a:lnTo>
                  <a:pt x="28439" y="227516"/>
                </a:lnTo>
                <a:cubicBezTo>
                  <a:pt x="12753" y="227516"/>
                  <a:pt x="0" y="214762"/>
                  <a:pt x="0" y="199076"/>
                </a:cubicBezTo>
                <a:lnTo>
                  <a:pt x="0" y="99538"/>
                </a:lnTo>
                <a:cubicBezTo>
                  <a:pt x="0" y="83852"/>
                  <a:pt x="12753" y="71099"/>
                  <a:pt x="28439" y="71099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9153687" y="4443219"/>
            <a:ext cx="1126203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12" dirty="0">
                <a:solidFill>
                  <a:srgbClr val="4DB3A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安全性保证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732783" y="4852747"/>
            <a:ext cx="6745842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任何时刻</a:t>
            </a:r>
            <a:r>
              <a:rPr lang="en-US" sz="1433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最多只有一个主节点</a:t>
            </a:r>
            <a:r>
              <a:rPr lang="en-US" sz="1433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被选出，避免了脑裂问题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528019" y="5640319"/>
            <a:ext cx="7041612" cy="1046572"/>
          </a:xfrm>
          <a:custGeom>
            <a:avLst/>
            <a:gdLst/>
            <a:ahLst/>
            <a:cxnLst/>
            <a:rect l="l" t="t" r="r" b="b"/>
            <a:pathLst>
              <a:path w="7041612" h="1046572">
                <a:moveTo>
                  <a:pt x="45503" y="0"/>
                </a:moveTo>
                <a:lnTo>
                  <a:pt x="6950602" y="0"/>
                </a:lnTo>
                <a:cubicBezTo>
                  <a:pt x="7000866" y="0"/>
                  <a:pt x="7041612" y="40747"/>
                  <a:pt x="7041612" y="91010"/>
                </a:cubicBezTo>
                <a:lnTo>
                  <a:pt x="7041612" y="955562"/>
                </a:lnTo>
                <a:cubicBezTo>
                  <a:pt x="7041612" y="1005826"/>
                  <a:pt x="7000866" y="1046572"/>
                  <a:pt x="6950602" y="1046572"/>
                </a:cubicBezTo>
                <a:lnTo>
                  <a:pt x="45503" y="1046572"/>
                </a:lnTo>
                <a:cubicBezTo>
                  <a:pt x="20372" y="1046572"/>
                  <a:pt x="0" y="1026200"/>
                  <a:pt x="0" y="1001069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E1AF6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8528019" y="5640319"/>
            <a:ext cx="45503" cy="1046572"/>
          </a:xfrm>
          <a:custGeom>
            <a:avLst/>
            <a:gdLst/>
            <a:ahLst/>
            <a:cxnLst/>
            <a:rect l="l" t="t" r="r" b="b"/>
            <a:pathLst>
              <a:path w="45503" h="1046572">
                <a:moveTo>
                  <a:pt x="45503" y="0"/>
                </a:moveTo>
                <a:lnTo>
                  <a:pt x="45503" y="0"/>
                </a:lnTo>
                <a:lnTo>
                  <a:pt x="45503" y="1046572"/>
                </a:lnTo>
                <a:lnTo>
                  <a:pt x="45503" y="1046572"/>
                </a:lnTo>
                <a:cubicBezTo>
                  <a:pt x="20372" y="1046572"/>
                  <a:pt x="0" y="1026200"/>
                  <a:pt x="0" y="1001069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8747003" y="5867835"/>
            <a:ext cx="255955" cy="227516"/>
          </a:xfrm>
          <a:custGeom>
            <a:avLst/>
            <a:gdLst/>
            <a:ahLst/>
            <a:cxnLst/>
            <a:rect l="l" t="t" r="r" b="b"/>
            <a:pathLst>
              <a:path w="255955" h="227516">
                <a:moveTo>
                  <a:pt x="119490" y="37860"/>
                </a:moveTo>
                <a:lnTo>
                  <a:pt x="67677" y="95450"/>
                </a:lnTo>
                <a:cubicBezTo>
                  <a:pt x="65633" y="97716"/>
                  <a:pt x="65722" y="101227"/>
                  <a:pt x="67899" y="103404"/>
                </a:cubicBezTo>
                <a:cubicBezTo>
                  <a:pt x="81452" y="116957"/>
                  <a:pt x="103449" y="116957"/>
                  <a:pt x="117002" y="103404"/>
                </a:cubicBezTo>
                <a:lnTo>
                  <a:pt x="131133" y="89273"/>
                </a:lnTo>
                <a:cubicBezTo>
                  <a:pt x="132999" y="87407"/>
                  <a:pt x="135354" y="86385"/>
                  <a:pt x="137754" y="86207"/>
                </a:cubicBezTo>
                <a:cubicBezTo>
                  <a:pt x="140775" y="85941"/>
                  <a:pt x="143886" y="86963"/>
                  <a:pt x="146197" y="89273"/>
                </a:cubicBezTo>
                <a:lnTo>
                  <a:pt x="224672" y="167082"/>
                </a:lnTo>
                <a:lnTo>
                  <a:pt x="255955" y="142197"/>
                </a:lnTo>
                <a:lnTo>
                  <a:pt x="255955" y="14220"/>
                </a:lnTo>
                <a:lnTo>
                  <a:pt x="206186" y="42659"/>
                </a:lnTo>
                <a:lnTo>
                  <a:pt x="195610" y="35594"/>
                </a:lnTo>
                <a:cubicBezTo>
                  <a:pt x="188589" y="30928"/>
                  <a:pt x="180368" y="28439"/>
                  <a:pt x="171925" y="28439"/>
                </a:cubicBezTo>
                <a:lnTo>
                  <a:pt x="140642" y="28439"/>
                </a:lnTo>
                <a:cubicBezTo>
                  <a:pt x="140153" y="28439"/>
                  <a:pt x="139620" y="28439"/>
                  <a:pt x="139131" y="28484"/>
                </a:cubicBezTo>
                <a:cubicBezTo>
                  <a:pt x="131621" y="28884"/>
                  <a:pt x="124556" y="32261"/>
                  <a:pt x="119490" y="37860"/>
                </a:cubicBezTo>
                <a:close/>
                <a:moveTo>
                  <a:pt x="51813" y="81186"/>
                </a:moveTo>
                <a:lnTo>
                  <a:pt x="99272" y="28439"/>
                </a:lnTo>
                <a:lnTo>
                  <a:pt x="81675" y="28439"/>
                </a:lnTo>
                <a:cubicBezTo>
                  <a:pt x="70343" y="28439"/>
                  <a:pt x="59501" y="32928"/>
                  <a:pt x="51502" y="40926"/>
                </a:cubicBezTo>
                <a:lnTo>
                  <a:pt x="49769" y="42659"/>
                </a:lnTo>
                <a:lnTo>
                  <a:pt x="0" y="14220"/>
                </a:lnTo>
                <a:lnTo>
                  <a:pt x="0" y="142197"/>
                </a:lnTo>
                <a:lnTo>
                  <a:pt x="69499" y="200098"/>
                </a:lnTo>
                <a:cubicBezTo>
                  <a:pt x="79719" y="208630"/>
                  <a:pt x="92606" y="213296"/>
                  <a:pt x="105893" y="213296"/>
                </a:cubicBezTo>
                <a:lnTo>
                  <a:pt x="112869" y="213296"/>
                </a:lnTo>
                <a:lnTo>
                  <a:pt x="109759" y="210185"/>
                </a:lnTo>
                <a:cubicBezTo>
                  <a:pt x="105582" y="206008"/>
                  <a:pt x="105582" y="199254"/>
                  <a:pt x="109759" y="195121"/>
                </a:cubicBezTo>
                <a:cubicBezTo>
                  <a:pt x="113936" y="190989"/>
                  <a:pt x="120690" y="190944"/>
                  <a:pt x="124823" y="195121"/>
                </a:cubicBezTo>
                <a:lnTo>
                  <a:pt x="143042" y="213340"/>
                </a:lnTo>
                <a:lnTo>
                  <a:pt x="147041" y="213340"/>
                </a:lnTo>
                <a:cubicBezTo>
                  <a:pt x="155528" y="213340"/>
                  <a:pt x="163838" y="211430"/>
                  <a:pt x="171392" y="207875"/>
                </a:cubicBezTo>
                <a:lnTo>
                  <a:pt x="159528" y="195966"/>
                </a:lnTo>
                <a:cubicBezTo>
                  <a:pt x="155351" y="191789"/>
                  <a:pt x="155351" y="185034"/>
                  <a:pt x="159528" y="180902"/>
                </a:cubicBezTo>
                <a:cubicBezTo>
                  <a:pt x="163705" y="176769"/>
                  <a:pt x="170459" y="176725"/>
                  <a:pt x="174592" y="180902"/>
                </a:cubicBezTo>
                <a:lnTo>
                  <a:pt x="188811" y="195121"/>
                </a:lnTo>
                <a:lnTo>
                  <a:pt x="196588" y="187345"/>
                </a:lnTo>
                <a:cubicBezTo>
                  <a:pt x="200543" y="183390"/>
                  <a:pt x="201698" y="177658"/>
                  <a:pt x="199965" y="172636"/>
                </a:cubicBezTo>
                <a:lnTo>
                  <a:pt x="138687" y="111847"/>
                </a:lnTo>
                <a:lnTo>
                  <a:pt x="132066" y="118468"/>
                </a:lnTo>
                <a:cubicBezTo>
                  <a:pt x="110159" y="140375"/>
                  <a:pt x="74698" y="140375"/>
                  <a:pt x="52791" y="118468"/>
                </a:cubicBezTo>
                <a:cubicBezTo>
                  <a:pt x="42570" y="108248"/>
                  <a:pt x="42170" y="91851"/>
                  <a:pt x="51813" y="81141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9153687" y="5822332"/>
            <a:ext cx="1126203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12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一致性保证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732783" y="6231860"/>
            <a:ext cx="6745842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所有副本对</a:t>
            </a:r>
            <a:r>
              <a:rPr lang="en-US" sz="1433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主节点身份</a:t>
            </a:r>
            <a:r>
              <a:rPr lang="en-US" sz="1433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达成一致，确保系统行为可预测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510955" y="6976988"/>
            <a:ext cx="7052988" cy="671171"/>
          </a:xfrm>
          <a:custGeom>
            <a:avLst/>
            <a:gdLst/>
            <a:ahLst/>
            <a:cxnLst/>
            <a:rect l="l" t="t" r="r" b="b"/>
            <a:pathLst>
              <a:path w="7052988" h="671171">
                <a:moveTo>
                  <a:pt x="91004" y="0"/>
                </a:moveTo>
                <a:lnTo>
                  <a:pt x="6961984" y="0"/>
                </a:lnTo>
                <a:cubicBezTo>
                  <a:pt x="7012244" y="0"/>
                  <a:pt x="7052988" y="40744"/>
                  <a:pt x="7052988" y="91004"/>
                </a:cubicBezTo>
                <a:lnTo>
                  <a:pt x="7052988" y="580167"/>
                </a:lnTo>
                <a:cubicBezTo>
                  <a:pt x="7052988" y="630428"/>
                  <a:pt x="7012244" y="671171"/>
                  <a:pt x="6961984" y="671171"/>
                </a:cubicBezTo>
                <a:lnTo>
                  <a:pt x="91004" y="671171"/>
                </a:lnTo>
                <a:cubicBezTo>
                  <a:pt x="40744" y="671171"/>
                  <a:pt x="0" y="630428"/>
                  <a:pt x="0" y="580167"/>
                </a:cubicBezTo>
                <a:lnTo>
                  <a:pt x="0" y="91004"/>
                </a:lnTo>
                <a:cubicBezTo>
                  <a:pt x="0" y="40778"/>
                  <a:pt x="40778" y="0"/>
                  <a:pt x="91004" y="0"/>
                </a:cubicBezTo>
                <a:close/>
              </a:path>
            </a:pathLst>
          </a:custGeom>
          <a:solidFill>
            <a:srgbClr val="5A7D9A">
              <a:alpha val="10196"/>
            </a:srgbClr>
          </a:solidFill>
          <a:ln w="12700">
            <a:solidFill>
              <a:srgbClr val="5A7D9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8721407" y="7227255"/>
            <a:ext cx="182013" cy="182013"/>
          </a:xfrm>
          <a:custGeom>
            <a:avLst/>
            <a:gdLst/>
            <a:ahLst/>
            <a:cxnLst/>
            <a:rect l="l" t="t" r="r" b="b"/>
            <a:pathLst>
              <a:path w="182013" h="182013">
                <a:moveTo>
                  <a:pt x="91006" y="182013"/>
                </a:moveTo>
                <a:cubicBezTo>
                  <a:pt x="141234" y="182013"/>
                  <a:pt x="182013" y="141234"/>
                  <a:pt x="182013" y="91006"/>
                </a:cubicBezTo>
                <a:cubicBezTo>
                  <a:pt x="182013" y="40779"/>
                  <a:pt x="141234" y="0"/>
                  <a:pt x="91006" y="0"/>
                </a:cubicBezTo>
                <a:cubicBezTo>
                  <a:pt x="40779" y="0"/>
                  <a:pt x="0" y="40779"/>
                  <a:pt x="0" y="91006"/>
                </a:cubicBezTo>
                <a:cubicBezTo>
                  <a:pt x="0" y="141234"/>
                  <a:pt x="40779" y="182013"/>
                  <a:pt x="91006" y="182013"/>
                </a:cubicBezTo>
                <a:close/>
                <a:moveTo>
                  <a:pt x="79631" y="56879"/>
                </a:moveTo>
                <a:cubicBezTo>
                  <a:pt x="79631" y="50600"/>
                  <a:pt x="84728" y="45503"/>
                  <a:pt x="91006" y="45503"/>
                </a:cubicBezTo>
                <a:cubicBezTo>
                  <a:pt x="97285" y="45503"/>
                  <a:pt x="102382" y="50600"/>
                  <a:pt x="102382" y="56879"/>
                </a:cubicBezTo>
                <a:cubicBezTo>
                  <a:pt x="102382" y="63157"/>
                  <a:pt x="97285" y="68255"/>
                  <a:pt x="91006" y="68255"/>
                </a:cubicBezTo>
                <a:cubicBezTo>
                  <a:pt x="84728" y="68255"/>
                  <a:pt x="79631" y="63157"/>
                  <a:pt x="79631" y="56879"/>
                </a:cubicBezTo>
                <a:close/>
                <a:moveTo>
                  <a:pt x="76787" y="79631"/>
                </a:moveTo>
                <a:lnTo>
                  <a:pt x="93850" y="79631"/>
                </a:lnTo>
                <a:cubicBezTo>
                  <a:pt x="98578" y="79631"/>
                  <a:pt x="102382" y="83434"/>
                  <a:pt x="102382" y="88162"/>
                </a:cubicBezTo>
                <a:lnTo>
                  <a:pt x="102382" y="119446"/>
                </a:lnTo>
                <a:lnTo>
                  <a:pt x="105226" y="119446"/>
                </a:lnTo>
                <a:cubicBezTo>
                  <a:pt x="109954" y="119446"/>
                  <a:pt x="113758" y="123250"/>
                  <a:pt x="113758" y="127978"/>
                </a:cubicBezTo>
                <a:cubicBezTo>
                  <a:pt x="113758" y="132706"/>
                  <a:pt x="109954" y="136509"/>
                  <a:pt x="105226" y="136509"/>
                </a:cubicBezTo>
                <a:lnTo>
                  <a:pt x="76787" y="136509"/>
                </a:lnTo>
                <a:cubicBezTo>
                  <a:pt x="72059" y="136509"/>
                  <a:pt x="68255" y="132706"/>
                  <a:pt x="68255" y="127978"/>
                </a:cubicBezTo>
                <a:cubicBezTo>
                  <a:pt x="68255" y="123250"/>
                  <a:pt x="72059" y="119446"/>
                  <a:pt x="76787" y="119446"/>
                </a:cubicBezTo>
                <a:lnTo>
                  <a:pt x="85318" y="119446"/>
                </a:lnTo>
                <a:lnTo>
                  <a:pt x="85318" y="96694"/>
                </a:lnTo>
                <a:lnTo>
                  <a:pt x="76787" y="96694"/>
                </a:lnTo>
                <a:cubicBezTo>
                  <a:pt x="72059" y="96694"/>
                  <a:pt x="68255" y="92890"/>
                  <a:pt x="68255" y="88162"/>
                </a:cubicBezTo>
                <a:cubicBezTo>
                  <a:pt x="68255" y="83434"/>
                  <a:pt x="72059" y="79631"/>
                  <a:pt x="76787" y="79631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9007689" y="7164688"/>
            <a:ext cx="6459560" cy="29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33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这些保证使得 Chubby 能够在复杂的分布式环境中提供可靠的协调服务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33400" y="2043113"/>
            <a:ext cx="3314700" cy="787400"/>
          </a:xfrm>
          <a:custGeom>
            <a:avLst/>
            <a:gdLst/>
            <a:ahLst/>
            <a:cxnLst/>
            <a:rect l="l" t="t" r="r" b="b"/>
            <a:pathLst>
              <a:path w="3314700" h="787400">
                <a:moveTo>
                  <a:pt x="0" y="0"/>
                </a:moveTo>
                <a:lnTo>
                  <a:pt x="3314700" y="0"/>
                </a:lnTo>
                <a:lnTo>
                  <a:pt x="33147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solidFill>
            <a:srgbClr val="E1AF63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33400" y="2043113"/>
            <a:ext cx="50800" cy="787400"/>
          </a:xfrm>
          <a:custGeom>
            <a:avLst/>
            <a:gdLst/>
            <a:ahLst/>
            <a:cxnLst/>
            <a:rect l="l" t="t" r="r" b="b"/>
            <a:pathLst>
              <a:path w="50800" h="787400">
                <a:moveTo>
                  <a:pt x="0" y="0"/>
                </a:moveTo>
                <a:lnTo>
                  <a:pt x="50800" y="0"/>
                </a:lnTo>
                <a:lnTo>
                  <a:pt x="508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863600" y="2195513"/>
            <a:ext cx="2869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kern="0" spc="300" dirty="0">
                <a:solidFill>
                  <a:srgbClr val="4DB3A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230563"/>
            <a:ext cx="10724896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dirty="0" err="1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核心技术特性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973763"/>
            <a:ext cx="2032000" cy="101600"/>
          </a:xfrm>
          <a:custGeom>
            <a:avLst/>
            <a:gdLst/>
            <a:ahLst/>
            <a:cxnLst/>
            <a:rect l="l" t="t" r="r" b="b"/>
            <a:pathLst>
              <a:path w="2032000" h="101600">
                <a:moveTo>
                  <a:pt x="0" y="0"/>
                </a:moveTo>
                <a:lnTo>
                  <a:pt x="2032000" y="0"/>
                </a:lnTo>
                <a:lnTo>
                  <a:pt x="20320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1AF63"/>
              </a:gs>
              <a:gs pos="100000">
                <a:srgbClr val="4DB3A2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08000" y="6481763"/>
            <a:ext cx="51943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探索 Chubby 的关键技术实现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 SYSTEM API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文件系统接口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784350"/>
            <a:ext cx="7454900" cy="5041900"/>
          </a:xfrm>
          <a:custGeom>
            <a:avLst/>
            <a:gdLst/>
            <a:ahLst/>
            <a:cxnLst/>
            <a:rect l="l" t="t" r="r" b="b"/>
            <a:pathLst>
              <a:path w="7454900" h="5041900">
                <a:moveTo>
                  <a:pt x="152417" y="0"/>
                </a:moveTo>
                <a:lnTo>
                  <a:pt x="7302483" y="0"/>
                </a:lnTo>
                <a:cubicBezTo>
                  <a:pt x="7386661" y="0"/>
                  <a:pt x="7454900" y="68239"/>
                  <a:pt x="7454900" y="152417"/>
                </a:cubicBezTo>
                <a:lnTo>
                  <a:pt x="7454900" y="4889483"/>
                </a:lnTo>
                <a:cubicBezTo>
                  <a:pt x="7454900" y="4973661"/>
                  <a:pt x="7386661" y="5041900"/>
                  <a:pt x="7302483" y="5041900"/>
                </a:cubicBezTo>
                <a:lnTo>
                  <a:pt x="152417" y="5041900"/>
                </a:lnTo>
                <a:cubicBezTo>
                  <a:pt x="68239" y="5041900"/>
                  <a:pt x="0" y="4973661"/>
                  <a:pt x="0" y="4889483"/>
                </a:cubicBezTo>
                <a:lnTo>
                  <a:pt x="0" y="152417"/>
                </a:lnTo>
                <a:cubicBezTo>
                  <a:pt x="0" y="68296"/>
                  <a:pt x="68296" y="0"/>
                  <a:pt x="152417" y="0"/>
                </a:cubicBezTo>
                <a:close/>
              </a:path>
            </a:pathLst>
          </a:custGeom>
          <a:gradFill flip="none" rotWithShape="1">
            <a:gsLst>
              <a:gs pos="0">
                <a:srgbClr val="5A7D9A">
                  <a:alpha val="30000"/>
                </a:srgbClr>
              </a:gs>
              <a:gs pos="100000">
                <a:srgbClr val="5A7D9A">
                  <a:alpha val="10000"/>
                </a:srgbClr>
              </a:gs>
            </a:gsLst>
            <a:lin ang="2700000" scaled="1"/>
          </a:gradFill>
          <a:ln w="12700">
            <a:solidFill>
              <a:srgbClr val="5A7D9A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93750" y="2095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3338" y="134303"/>
                </a:moveTo>
                <a:lnTo>
                  <a:pt x="19288" y="176332"/>
                </a:lnTo>
                <a:lnTo>
                  <a:pt x="19288" y="57150"/>
                </a:lnTo>
                <a:cubicBezTo>
                  <a:pt x="19288" y="36135"/>
                  <a:pt x="36374" y="19050"/>
                  <a:pt x="57388" y="19050"/>
                </a:cubicBezTo>
                <a:lnTo>
                  <a:pt x="139958" y="19050"/>
                </a:lnTo>
                <a:cubicBezTo>
                  <a:pt x="148173" y="19050"/>
                  <a:pt x="156210" y="21729"/>
                  <a:pt x="162818" y="26670"/>
                </a:cubicBezTo>
                <a:lnTo>
                  <a:pt x="185678" y="43815"/>
                </a:lnTo>
                <a:cubicBezTo>
                  <a:pt x="188952" y="46315"/>
                  <a:pt x="193000" y="47625"/>
                  <a:pt x="197108" y="47625"/>
                </a:cubicBezTo>
                <a:lnTo>
                  <a:pt x="266938" y="47625"/>
                </a:lnTo>
                <a:cubicBezTo>
                  <a:pt x="287953" y="47625"/>
                  <a:pt x="305038" y="64710"/>
                  <a:pt x="305038" y="85725"/>
                </a:cubicBezTo>
                <a:lnTo>
                  <a:pt x="305038" y="95250"/>
                </a:lnTo>
                <a:lnTo>
                  <a:pt x="87511" y="95250"/>
                </a:lnTo>
                <a:cubicBezTo>
                  <a:pt x="62925" y="95250"/>
                  <a:pt x="41077" y="110966"/>
                  <a:pt x="33278" y="134303"/>
                </a:cubicBezTo>
                <a:close/>
                <a:moveTo>
                  <a:pt x="284440" y="266700"/>
                </a:moveTo>
                <a:lnTo>
                  <a:pt x="58936" y="266700"/>
                </a:lnTo>
                <a:cubicBezTo>
                  <a:pt x="39410" y="266700"/>
                  <a:pt x="25658" y="247590"/>
                  <a:pt x="31849" y="229076"/>
                </a:cubicBezTo>
                <a:lnTo>
                  <a:pt x="60424" y="143351"/>
                </a:lnTo>
                <a:cubicBezTo>
                  <a:pt x="64294" y="131683"/>
                  <a:pt x="75248" y="123825"/>
                  <a:pt x="87511" y="123825"/>
                </a:cubicBezTo>
                <a:lnTo>
                  <a:pt x="313015" y="123825"/>
                </a:lnTo>
                <a:cubicBezTo>
                  <a:pt x="332542" y="123825"/>
                  <a:pt x="346293" y="142935"/>
                  <a:pt x="340102" y="161449"/>
                </a:cubicBezTo>
                <a:lnTo>
                  <a:pt x="311527" y="247174"/>
                </a:lnTo>
                <a:cubicBezTo>
                  <a:pt x="307658" y="258842"/>
                  <a:pt x="296704" y="266700"/>
                  <a:pt x="284440" y="26670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155700" y="2044700"/>
            <a:ext cx="6705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路径格式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4700" y="2654300"/>
            <a:ext cx="703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Chubby 提供类似 </a:t>
            </a:r>
            <a:r>
              <a:rPr lang="en-US" sz="1600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UNIX 文件系统</a:t>
            </a:r>
            <a:r>
              <a:rPr lang="en-US" sz="16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 API，路径格式如下：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81050" y="3168650"/>
            <a:ext cx="6921500" cy="1790700"/>
          </a:xfrm>
          <a:custGeom>
            <a:avLst/>
            <a:gdLst/>
            <a:ahLst/>
            <a:cxnLst/>
            <a:rect l="l" t="t" r="r" b="b"/>
            <a:pathLst>
              <a:path w="6921500" h="1790700">
                <a:moveTo>
                  <a:pt x="101604" y="0"/>
                </a:moveTo>
                <a:lnTo>
                  <a:pt x="6819896" y="0"/>
                </a:lnTo>
                <a:cubicBezTo>
                  <a:pt x="6876010" y="0"/>
                  <a:pt x="6921500" y="45490"/>
                  <a:pt x="6921500" y="101604"/>
                </a:cubicBezTo>
                <a:lnTo>
                  <a:pt x="6921500" y="1689096"/>
                </a:lnTo>
                <a:cubicBezTo>
                  <a:pt x="6921500" y="1745210"/>
                  <a:pt x="6876010" y="1790700"/>
                  <a:pt x="6819896" y="1790700"/>
                </a:cubicBezTo>
                <a:lnTo>
                  <a:pt x="101604" y="1790700"/>
                </a:lnTo>
                <a:cubicBezTo>
                  <a:pt x="45490" y="1790700"/>
                  <a:pt x="0" y="1745210"/>
                  <a:pt x="0" y="16890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1A202C">
              <a:alpha val="70196"/>
            </a:srgbClr>
          </a:solidFill>
          <a:ln w="12700">
            <a:solidFill>
              <a:srgbClr val="5A7D9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90600" y="3378200"/>
            <a:ext cx="662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1AF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/ls/cell/dir1/dir2/.../dirn/filename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3886200"/>
            <a:ext cx="30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57114" y="3886200"/>
            <a:ext cx="153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标识 Chubby 文件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0600" y="4191000"/>
            <a:ext cx="52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cell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71228" y="4191000"/>
            <a:ext cx="166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Chubby 单元的名称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0600" y="4495800"/>
            <a:ext cx="158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/dirn/filename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41699" y="4495800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常规路径结构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1050" y="5175250"/>
            <a:ext cx="6921500" cy="1384300"/>
          </a:xfrm>
          <a:custGeom>
            <a:avLst/>
            <a:gdLst/>
            <a:ahLst/>
            <a:cxnLst/>
            <a:rect l="l" t="t" r="r" b="b"/>
            <a:pathLst>
              <a:path w="6921500" h="1384300">
                <a:moveTo>
                  <a:pt x="101594" y="0"/>
                </a:moveTo>
                <a:lnTo>
                  <a:pt x="6819906" y="0"/>
                </a:lnTo>
                <a:cubicBezTo>
                  <a:pt x="6876015" y="0"/>
                  <a:pt x="6921500" y="45485"/>
                  <a:pt x="6921500" y="101594"/>
                </a:cubicBezTo>
                <a:lnTo>
                  <a:pt x="6921500" y="1282706"/>
                </a:lnTo>
                <a:cubicBezTo>
                  <a:pt x="6921500" y="1338815"/>
                  <a:pt x="6876015" y="1384300"/>
                  <a:pt x="6819906" y="1384300"/>
                </a:cubicBezTo>
                <a:lnTo>
                  <a:pt x="101594" y="1384300"/>
                </a:lnTo>
                <a:cubicBezTo>
                  <a:pt x="45485" y="1384300"/>
                  <a:pt x="0" y="1338815"/>
                  <a:pt x="0" y="1282706"/>
                </a:cubicBezTo>
                <a:lnTo>
                  <a:pt x="0" y="101594"/>
                </a:lnTo>
                <a:cubicBezTo>
                  <a:pt x="0" y="45485"/>
                  <a:pt x="45485" y="0"/>
                  <a:pt x="101594" y="0"/>
                </a:cubicBezTo>
                <a:close/>
              </a:path>
            </a:pathLst>
          </a:custGeom>
          <a:solidFill>
            <a:srgbClr val="4DB3A2">
              <a:alpha val="10196"/>
            </a:srgbClr>
          </a:solidFill>
          <a:ln w="12700">
            <a:solidFill>
              <a:srgbClr val="4DB3A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90600" y="5403850"/>
            <a:ext cx="111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示例路径：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0600" y="5791200"/>
            <a:ext cx="659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/ls/foo/wombat/pouch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90600" y="6096000"/>
            <a:ext cx="659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/ls/foo/wombat/pouch/file1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86750" y="1784350"/>
            <a:ext cx="7454900" cy="3619500"/>
          </a:xfrm>
          <a:custGeom>
            <a:avLst/>
            <a:gdLst/>
            <a:ahLst/>
            <a:cxnLst/>
            <a:rect l="l" t="t" r="r" b="b"/>
            <a:pathLst>
              <a:path w="7454900" h="3619500">
                <a:moveTo>
                  <a:pt x="152417" y="0"/>
                </a:moveTo>
                <a:lnTo>
                  <a:pt x="7302483" y="0"/>
                </a:lnTo>
                <a:cubicBezTo>
                  <a:pt x="7386604" y="0"/>
                  <a:pt x="7454900" y="68296"/>
                  <a:pt x="7454900" y="152417"/>
                </a:cubicBezTo>
                <a:lnTo>
                  <a:pt x="7454900" y="3467083"/>
                </a:lnTo>
                <a:cubicBezTo>
                  <a:pt x="7454900" y="3551261"/>
                  <a:pt x="7386661" y="3619500"/>
                  <a:pt x="7302483" y="3619500"/>
                </a:cubicBezTo>
                <a:lnTo>
                  <a:pt x="152417" y="3619500"/>
                </a:lnTo>
                <a:cubicBezTo>
                  <a:pt x="68296" y="3619500"/>
                  <a:pt x="0" y="3551204"/>
                  <a:pt x="0" y="3467083"/>
                </a:cubicBezTo>
                <a:lnTo>
                  <a:pt x="0" y="152417"/>
                </a:lnTo>
                <a:cubicBezTo>
                  <a:pt x="0" y="68296"/>
                  <a:pt x="68296" y="0"/>
                  <a:pt x="152417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3A2">
                  <a:alpha val="30000"/>
                </a:srgbClr>
              </a:gs>
              <a:gs pos="100000">
                <a:srgbClr val="4DB3A2">
                  <a:alpha val="10000"/>
                </a:srgbClr>
              </a:gs>
            </a:gsLst>
            <a:lin ang="2700000" scaled="1"/>
          </a:gradFill>
          <a:ln w="12700">
            <a:solidFill>
              <a:srgbClr val="4DB3A2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585200" y="2095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4300" y="38100"/>
                </a:moveTo>
                <a:cubicBezTo>
                  <a:pt x="114300" y="27563"/>
                  <a:pt x="122813" y="19050"/>
                  <a:pt x="133350" y="19050"/>
                </a:cubicBezTo>
                <a:lnTo>
                  <a:pt x="171450" y="19050"/>
                </a:lnTo>
                <a:cubicBezTo>
                  <a:pt x="181987" y="19050"/>
                  <a:pt x="190500" y="27563"/>
                  <a:pt x="190500" y="38100"/>
                </a:cubicBezTo>
                <a:lnTo>
                  <a:pt x="190500" y="76200"/>
                </a:lnTo>
                <a:cubicBezTo>
                  <a:pt x="190500" y="86737"/>
                  <a:pt x="181987" y="95250"/>
                  <a:pt x="171450" y="95250"/>
                </a:cubicBezTo>
                <a:lnTo>
                  <a:pt x="166688" y="95250"/>
                </a:lnTo>
                <a:lnTo>
                  <a:pt x="166688" y="133350"/>
                </a:lnTo>
                <a:lnTo>
                  <a:pt x="238125" y="133350"/>
                </a:lnTo>
                <a:cubicBezTo>
                  <a:pt x="261818" y="133350"/>
                  <a:pt x="280987" y="152519"/>
                  <a:pt x="280987" y="176212"/>
                </a:cubicBezTo>
                <a:lnTo>
                  <a:pt x="280987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lnTo>
                  <a:pt x="304800" y="266700"/>
                </a:lnTo>
                <a:cubicBezTo>
                  <a:pt x="304800" y="277237"/>
                  <a:pt x="296287" y="285750"/>
                  <a:pt x="285750" y="285750"/>
                </a:cubicBezTo>
                <a:lnTo>
                  <a:pt x="247650" y="285750"/>
                </a:lnTo>
                <a:cubicBezTo>
                  <a:pt x="237113" y="285750"/>
                  <a:pt x="228600" y="277237"/>
                  <a:pt x="228600" y="266700"/>
                </a:cubicBezTo>
                <a:lnTo>
                  <a:pt x="228600" y="228600"/>
                </a:lnTo>
                <a:cubicBezTo>
                  <a:pt x="228600" y="218063"/>
                  <a:pt x="237113" y="209550"/>
                  <a:pt x="247650" y="209550"/>
                </a:cubicBezTo>
                <a:lnTo>
                  <a:pt x="252413" y="209550"/>
                </a:lnTo>
                <a:lnTo>
                  <a:pt x="252413" y="176212"/>
                </a:lnTo>
                <a:cubicBezTo>
                  <a:pt x="252413" y="168295"/>
                  <a:pt x="246043" y="161925"/>
                  <a:pt x="238125" y="161925"/>
                </a:cubicBezTo>
                <a:lnTo>
                  <a:pt x="166688" y="161925"/>
                </a:lnTo>
                <a:lnTo>
                  <a:pt x="166688" y="209550"/>
                </a:lnTo>
                <a:lnTo>
                  <a:pt x="171450" y="209550"/>
                </a:lnTo>
                <a:cubicBezTo>
                  <a:pt x="181987" y="209550"/>
                  <a:pt x="190500" y="218063"/>
                  <a:pt x="190500" y="228600"/>
                </a:cubicBezTo>
                <a:lnTo>
                  <a:pt x="190500" y="266700"/>
                </a:lnTo>
                <a:cubicBezTo>
                  <a:pt x="190500" y="277237"/>
                  <a:pt x="181987" y="285750"/>
                  <a:pt x="171450" y="285750"/>
                </a:cubicBezTo>
                <a:lnTo>
                  <a:pt x="133350" y="285750"/>
                </a:lnTo>
                <a:cubicBezTo>
                  <a:pt x="122813" y="285750"/>
                  <a:pt x="114300" y="277237"/>
                  <a:pt x="114300" y="266700"/>
                </a:cubicBezTo>
                <a:lnTo>
                  <a:pt x="114300" y="228600"/>
                </a:lnTo>
                <a:cubicBezTo>
                  <a:pt x="114300" y="218063"/>
                  <a:pt x="122813" y="209550"/>
                  <a:pt x="133350" y="209550"/>
                </a:cubicBezTo>
                <a:lnTo>
                  <a:pt x="138113" y="209550"/>
                </a:lnTo>
                <a:lnTo>
                  <a:pt x="138113" y="161925"/>
                </a:lnTo>
                <a:lnTo>
                  <a:pt x="66675" y="161925"/>
                </a:lnTo>
                <a:cubicBezTo>
                  <a:pt x="58757" y="161925"/>
                  <a:pt x="52388" y="168295"/>
                  <a:pt x="52388" y="176212"/>
                </a:cubicBezTo>
                <a:lnTo>
                  <a:pt x="52388" y="209550"/>
                </a:lnTo>
                <a:lnTo>
                  <a:pt x="57150" y="209550"/>
                </a:lnTo>
                <a:cubicBezTo>
                  <a:pt x="67687" y="209550"/>
                  <a:pt x="76200" y="218063"/>
                  <a:pt x="76200" y="228600"/>
                </a:cubicBezTo>
                <a:lnTo>
                  <a:pt x="76200" y="266700"/>
                </a:lnTo>
                <a:cubicBezTo>
                  <a:pt x="76200" y="277237"/>
                  <a:pt x="67687" y="285750"/>
                  <a:pt x="57150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28600"/>
                </a:lnTo>
                <a:cubicBezTo>
                  <a:pt x="0" y="218063"/>
                  <a:pt x="8513" y="209550"/>
                  <a:pt x="19050" y="209550"/>
                </a:cubicBezTo>
                <a:lnTo>
                  <a:pt x="23813" y="209550"/>
                </a:lnTo>
                <a:lnTo>
                  <a:pt x="23813" y="176212"/>
                </a:lnTo>
                <a:cubicBezTo>
                  <a:pt x="23813" y="152519"/>
                  <a:pt x="42982" y="133350"/>
                  <a:pt x="66675" y="133350"/>
                </a:cubicBezTo>
                <a:lnTo>
                  <a:pt x="138113" y="133350"/>
                </a:lnTo>
                <a:lnTo>
                  <a:pt x="138113" y="95250"/>
                </a:lnTo>
                <a:lnTo>
                  <a:pt x="133350" y="95250"/>
                </a:lnTo>
                <a:cubicBezTo>
                  <a:pt x="122813" y="95250"/>
                  <a:pt x="114300" y="86737"/>
                  <a:pt x="114300" y="76200"/>
                </a:cubicBezTo>
                <a:lnTo>
                  <a:pt x="114300" y="38100"/>
                </a:ln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928100" y="2044700"/>
            <a:ext cx="6705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节点类型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72500" y="2654300"/>
            <a:ext cx="6908800" cy="1168400"/>
          </a:xfrm>
          <a:custGeom>
            <a:avLst/>
            <a:gdLst/>
            <a:ahLst/>
            <a:cxnLst/>
            <a:rect l="l" t="t" r="r" b="b"/>
            <a:pathLst>
              <a:path w="6908800" h="1168400">
                <a:moveTo>
                  <a:pt x="50800" y="0"/>
                </a:moveTo>
                <a:lnTo>
                  <a:pt x="6807196" y="0"/>
                </a:lnTo>
                <a:cubicBezTo>
                  <a:pt x="6863310" y="0"/>
                  <a:pt x="6908800" y="45490"/>
                  <a:pt x="6908800" y="101604"/>
                </a:cubicBezTo>
                <a:lnTo>
                  <a:pt x="6908800" y="1066796"/>
                </a:lnTo>
                <a:cubicBezTo>
                  <a:pt x="6908800" y="1122910"/>
                  <a:pt x="6863310" y="1168400"/>
                  <a:pt x="6807196" y="1168400"/>
                </a:cubicBezTo>
                <a:lnTo>
                  <a:pt x="50800" y="1168400"/>
                </a:lnTo>
                <a:cubicBezTo>
                  <a:pt x="22763" y="1168400"/>
                  <a:pt x="0" y="1145637"/>
                  <a:pt x="0" y="111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7D9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572500" y="2654300"/>
            <a:ext cx="50800" cy="1168400"/>
          </a:xfrm>
          <a:custGeom>
            <a:avLst/>
            <a:gdLst/>
            <a:ahLst/>
            <a:cxnLst/>
            <a:rect l="l" t="t" r="r" b="b"/>
            <a:pathLst>
              <a:path w="50800" h="1168400">
                <a:moveTo>
                  <a:pt x="50800" y="0"/>
                </a:moveTo>
                <a:lnTo>
                  <a:pt x="50800" y="0"/>
                </a:lnTo>
                <a:lnTo>
                  <a:pt x="50800" y="1168400"/>
                </a:lnTo>
                <a:lnTo>
                  <a:pt x="50800" y="1168400"/>
                </a:lnTo>
                <a:cubicBezTo>
                  <a:pt x="22763" y="1168400"/>
                  <a:pt x="0" y="1145637"/>
                  <a:pt x="0" y="111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864600" y="29083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31750" y="0"/>
                </a:moveTo>
                <a:cubicBezTo>
                  <a:pt x="14238" y="0"/>
                  <a:pt x="0" y="14238"/>
                  <a:pt x="0" y="31750"/>
                </a:cubicBezTo>
                <a:lnTo>
                  <a:pt x="0" y="222250"/>
                </a:lnTo>
                <a:cubicBezTo>
                  <a:pt x="0" y="239762"/>
                  <a:pt x="14238" y="254000"/>
                  <a:pt x="31750" y="254000"/>
                </a:cubicBezTo>
                <a:lnTo>
                  <a:pt x="158750" y="254000"/>
                </a:lnTo>
                <a:cubicBezTo>
                  <a:pt x="176262" y="254000"/>
                  <a:pt x="190500" y="239762"/>
                  <a:pt x="190500" y="222250"/>
                </a:cubicBezTo>
                <a:lnTo>
                  <a:pt x="190500" y="84584"/>
                </a:lnTo>
                <a:cubicBezTo>
                  <a:pt x="190500" y="76150"/>
                  <a:pt x="187176" y="68064"/>
                  <a:pt x="181223" y="62111"/>
                </a:cubicBezTo>
                <a:lnTo>
                  <a:pt x="128339" y="9277"/>
                </a:lnTo>
                <a:cubicBezTo>
                  <a:pt x="122386" y="3324"/>
                  <a:pt x="114350" y="0"/>
                  <a:pt x="105916" y="0"/>
                </a:cubicBezTo>
                <a:lnTo>
                  <a:pt x="31750" y="0"/>
                </a:lnTo>
                <a:close/>
                <a:moveTo>
                  <a:pt x="161479" y="87313"/>
                </a:moveTo>
                <a:lnTo>
                  <a:pt x="115094" y="87313"/>
                </a:lnTo>
                <a:cubicBezTo>
                  <a:pt x="108496" y="87313"/>
                  <a:pt x="103188" y="82004"/>
                  <a:pt x="103188" y="75406"/>
                </a:cubicBezTo>
                <a:lnTo>
                  <a:pt x="103188" y="29021"/>
                </a:lnTo>
                <a:lnTo>
                  <a:pt x="161479" y="87313"/>
                </a:ln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9271000" y="28575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5A7D9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永久节点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801100" y="3314700"/>
            <a:ext cx="657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持久存在的文件和目录，需要显式删除操作才会被移除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72500" y="3975100"/>
            <a:ext cx="6908800" cy="1168400"/>
          </a:xfrm>
          <a:custGeom>
            <a:avLst/>
            <a:gdLst/>
            <a:ahLst/>
            <a:cxnLst/>
            <a:rect l="l" t="t" r="r" b="b"/>
            <a:pathLst>
              <a:path w="6908800" h="1168400">
                <a:moveTo>
                  <a:pt x="50800" y="0"/>
                </a:moveTo>
                <a:lnTo>
                  <a:pt x="6807196" y="0"/>
                </a:lnTo>
                <a:cubicBezTo>
                  <a:pt x="6863310" y="0"/>
                  <a:pt x="6908800" y="45490"/>
                  <a:pt x="6908800" y="101604"/>
                </a:cubicBezTo>
                <a:lnTo>
                  <a:pt x="6908800" y="1066796"/>
                </a:lnTo>
                <a:cubicBezTo>
                  <a:pt x="6908800" y="1122910"/>
                  <a:pt x="6863310" y="1168400"/>
                  <a:pt x="6807196" y="1168400"/>
                </a:cubicBezTo>
                <a:lnTo>
                  <a:pt x="50800" y="1168400"/>
                </a:lnTo>
                <a:cubicBezTo>
                  <a:pt x="22763" y="1168400"/>
                  <a:pt x="0" y="1145637"/>
                  <a:pt x="0" y="111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1AF6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572500" y="3975100"/>
            <a:ext cx="50800" cy="1168400"/>
          </a:xfrm>
          <a:custGeom>
            <a:avLst/>
            <a:gdLst/>
            <a:ahLst/>
            <a:cxnLst/>
            <a:rect l="l" t="t" r="r" b="b"/>
            <a:pathLst>
              <a:path w="50800" h="1168400">
                <a:moveTo>
                  <a:pt x="50800" y="0"/>
                </a:moveTo>
                <a:lnTo>
                  <a:pt x="50800" y="0"/>
                </a:lnTo>
                <a:lnTo>
                  <a:pt x="50800" y="1168400"/>
                </a:lnTo>
                <a:lnTo>
                  <a:pt x="50800" y="1168400"/>
                </a:lnTo>
                <a:cubicBezTo>
                  <a:pt x="22763" y="1168400"/>
                  <a:pt x="0" y="1145637"/>
                  <a:pt x="0" y="111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832850" y="4229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ubicBezTo>
                  <a:pt x="0" y="56907"/>
                  <a:pt x="56907" y="0"/>
                  <a:pt x="127000" y="0"/>
                </a:cubicBezTo>
                <a:close/>
                <a:moveTo>
                  <a:pt x="115094" y="59531"/>
                </a:moveTo>
                <a:lnTo>
                  <a:pt x="115094" y="127000"/>
                </a:lnTo>
                <a:cubicBezTo>
                  <a:pt x="115094" y="130969"/>
                  <a:pt x="117078" y="134689"/>
                  <a:pt x="120402" y="136922"/>
                </a:cubicBezTo>
                <a:lnTo>
                  <a:pt x="168027" y="168672"/>
                </a:lnTo>
                <a:cubicBezTo>
                  <a:pt x="173484" y="172343"/>
                  <a:pt x="180876" y="170855"/>
                  <a:pt x="184547" y="165348"/>
                </a:cubicBezTo>
                <a:cubicBezTo>
                  <a:pt x="188218" y="159841"/>
                  <a:pt x="186730" y="152499"/>
                  <a:pt x="181223" y="148828"/>
                </a:cubicBezTo>
                <a:lnTo>
                  <a:pt x="138906" y="120650"/>
                </a:lnTo>
                <a:lnTo>
                  <a:pt x="138906" y="59531"/>
                </a:lnTo>
                <a:cubicBezTo>
                  <a:pt x="138906" y="52933"/>
                  <a:pt x="133598" y="47625"/>
                  <a:pt x="127000" y="47625"/>
                </a:cubicBezTo>
                <a:cubicBezTo>
                  <a:pt x="120402" y="47625"/>
                  <a:pt x="115094" y="52933"/>
                  <a:pt x="115094" y="59531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9271000" y="41783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临时节点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01100" y="4635500"/>
            <a:ext cx="657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当没有客户端打开时自动删除的文件；当目录为空时自动删除的目录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86750" y="5670550"/>
            <a:ext cx="7454900" cy="3365500"/>
          </a:xfrm>
          <a:custGeom>
            <a:avLst/>
            <a:gdLst/>
            <a:ahLst/>
            <a:cxnLst/>
            <a:rect l="l" t="t" r="r" b="b"/>
            <a:pathLst>
              <a:path w="7454900" h="3365500">
                <a:moveTo>
                  <a:pt x="152390" y="0"/>
                </a:moveTo>
                <a:lnTo>
                  <a:pt x="7302510" y="0"/>
                </a:lnTo>
                <a:cubicBezTo>
                  <a:pt x="7386673" y="0"/>
                  <a:pt x="7454900" y="68227"/>
                  <a:pt x="7454900" y="152390"/>
                </a:cubicBezTo>
                <a:lnTo>
                  <a:pt x="7454900" y="3213110"/>
                </a:lnTo>
                <a:cubicBezTo>
                  <a:pt x="7454900" y="3297273"/>
                  <a:pt x="7386673" y="3365500"/>
                  <a:pt x="7302510" y="3365500"/>
                </a:cubicBezTo>
                <a:lnTo>
                  <a:pt x="152390" y="3365500"/>
                </a:lnTo>
                <a:cubicBezTo>
                  <a:pt x="68284" y="3365500"/>
                  <a:pt x="0" y="3297216"/>
                  <a:pt x="0" y="3213110"/>
                </a:cubicBezTo>
                <a:lnTo>
                  <a:pt x="0" y="152390"/>
                </a:lnTo>
                <a:cubicBezTo>
                  <a:pt x="0" y="68284"/>
                  <a:pt x="68284" y="0"/>
                  <a:pt x="152390" y="0"/>
                </a:cubicBezTo>
                <a:close/>
              </a:path>
            </a:pathLst>
          </a:custGeom>
          <a:gradFill flip="none" rotWithShape="1">
            <a:gsLst>
              <a:gs pos="0">
                <a:srgbClr val="E1AF63">
                  <a:alpha val="30000"/>
                </a:srgbClr>
              </a:gs>
              <a:gs pos="100000">
                <a:srgbClr val="E1AF63">
                  <a:alpha val="10000"/>
                </a:srgbClr>
              </a:gs>
            </a:gsLst>
            <a:lin ang="2700000" scaled="1"/>
          </a:gradFill>
          <a:ln w="12700">
            <a:solidFill>
              <a:srgbClr val="E1AF63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585200" y="5981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27814" y="417"/>
                </a:moveTo>
                <a:cubicBezTo>
                  <a:pt x="138113" y="2619"/>
                  <a:pt x="144661" y="12740"/>
                  <a:pt x="142458" y="23039"/>
                </a:cubicBezTo>
                <a:lnTo>
                  <a:pt x="131088" y="76200"/>
                </a:lnTo>
                <a:lnTo>
                  <a:pt x="206395" y="76200"/>
                </a:lnTo>
                <a:lnTo>
                  <a:pt x="219492" y="15061"/>
                </a:lnTo>
                <a:cubicBezTo>
                  <a:pt x="221694" y="4763"/>
                  <a:pt x="231815" y="-1786"/>
                  <a:pt x="242114" y="417"/>
                </a:cubicBezTo>
                <a:cubicBezTo>
                  <a:pt x="252413" y="2619"/>
                  <a:pt x="258961" y="12740"/>
                  <a:pt x="256758" y="23039"/>
                </a:cubicBezTo>
                <a:lnTo>
                  <a:pt x="245388" y="76200"/>
                </a:lnTo>
                <a:lnTo>
                  <a:pt x="285750" y="76200"/>
                </a:lnTo>
                <a:cubicBezTo>
                  <a:pt x="296287" y="76200"/>
                  <a:pt x="304800" y="84713"/>
                  <a:pt x="304800" y="95250"/>
                </a:cubicBezTo>
                <a:cubicBezTo>
                  <a:pt x="304800" y="105787"/>
                  <a:pt x="296287" y="114300"/>
                  <a:pt x="285750" y="114300"/>
                </a:cubicBezTo>
                <a:lnTo>
                  <a:pt x="237173" y="114300"/>
                </a:lnTo>
                <a:lnTo>
                  <a:pt x="220861" y="190500"/>
                </a:lnTo>
                <a:lnTo>
                  <a:pt x="261223" y="190500"/>
                </a:lnTo>
                <a:cubicBezTo>
                  <a:pt x="271760" y="190500"/>
                  <a:pt x="280273" y="199013"/>
                  <a:pt x="280273" y="209550"/>
                </a:cubicBezTo>
                <a:cubicBezTo>
                  <a:pt x="280273" y="220087"/>
                  <a:pt x="271760" y="228600"/>
                  <a:pt x="261223" y="228600"/>
                </a:cubicBezTo>
                <a:lnTo>
                  <a:pt x="212646" y="228600"/>
                </a:lnTo>
                <a:lnTo>
                  <a:pt x="199549" y="289739"/>
                </a:lnTo>
                <a:cubicBezTo>
                  <a:pt x="197346" y="300038"/>
                  <a:pt x="187226" y="306586"/>
                  <a:pt x="176927" y="304383"/>
                </a:cubicBezTo>
                <a:cubicBezTo>
                  <a:pt x="166628" y="302181"/>
                  <a:pt x="160080" y="292060"/>
                  <a:pt x="162282" y="281761"/>
                </a:cubicBezTo>
                <a:lnTo>
                  <a:pt x="173653" y="228600"/>
                </a:lnTo>
                <a:lnTo>
                  <a:pt x="98346" y="228600"/>
                </a:lnTo>
                <a:lnTo>
                  <a:pt x="85249" y="289739"/>
                </a:lnTo>
                <a:cubicBezTo>
                  <a:pt x="83046" y="300038"/>
                  <a:pt x="72926" y="306586"/>
                  <a:pt x="62627" y="304383"/>
                </a:cubicBezTo>
                <a:cubicBezTo>
                  <a:pt x="52328" y="302181"/>
                  <a:pt x="45780" y="292060"/>
                  <a:pt x="47982" y="281761"/>
                </a:cubicBezTo>
                <a:lnTo>
                  <a:pt x="59412" y="228600"/>
                </a:lnTo>
                <a:lnTo>
                  <a:pt x="19050" y="228600"/>
                </a:lnTo>
                <a:cubicBezTo>
                  <a:pt x="8513" y="228600"/>
                  <a:pt x="0" y="220087"/>
                  <a:pt x="0" y="209550"/>
                </a:cubicBezTo>
                <a:cubicBezTo>
                  <a:pt x="0" y="199013"/>
                  <a:pt x="8513" y="190500"/>
                  <a:pt x="19050" y="190500"/>
                </a:cubicBezTo>
                <a:lnTo>
                  <a:pt x="67628" y="190500"/>
                </a:lnTo>
                <a:lnTo>
                  <a:pt x="83939" y="114300"/>
                </a:lnTo>
                <a:lnTo>
                  <a:pt x="43577" y="114300"/>
                </a:lnTo>
                <a:cubicBezTo>
                  <a:pt x="33040" y="114300"/>
                  <a:pt x="24527" y="105787"/>
                  <a:pt x="24527" y="95250"/>
                </a:cubicBezTo>
                <a:cubicBezTo>
                  <a:pt x="24527" y="84713"/>
                  <a:pt x="33040" y="76200"/>
                  <a:pt x="43577" y="76200"/>
                </a:cubicBezTo>
                <a:lnTo>
                  <a:pt x="92154" y="76200"/>
                </a:lnTo>
                <a:lnTo>
                  <a:pt x="105251" y="15061"/>
                </a:lnTo>
                <a:cubicBezTo>
                  <a:pt x="107394" y="4763"/>
                  <a:pt x="117515" y="-1786"/>
                  <a:pt x="127814" y="417"/>
                </a:cubicBezTo>
                <a:close/>
                <a:moveTo>
                  <a:pt x="122873" y="114300"/>
                </a:moveTo>
                <a:lnTo>
                  <a:pt x="106561" y="190500"/>
                </a:lnTo>
                <a:lnTo>
                  <a:pt x="181868" y="190500"/>
                </a:lnTo>
                <a:lnTo>
                  <a:pt x="198180" y="114300"/>
                </a:lnTo>
                <a:lnTo>
                  <a:pt x="122872" y="114300"/>
                </a:ln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928100" y="5930900"/>
            <a:ext cx="6705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元数据编号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47100" y="6540500"/>
            <a:ext cx="703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每个节点维护</a:t>
            </a:r>
            <a:r>
              <a:rPr lang="en-US" sz="1600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四个随时间递增</a:t>
            </a:r>
            <a:r>
              <a:rPr lang="en-US" sz="16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的数字：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553450" y="7004050"/>
            <a:ext cx="3403600" cy="825500"/>
          </a:xfrm>
          <a:custGeom>
            <a:avLst/>
            <a:gdLst/>
            <a:ahLst/>
            <a:cxnLst/>
            <a:rect l="l" t="t" r="r" b="b"/>
            <a:pathLst>
              <a:path w="3403600" h="825500">
                <a:moveTo>
                  <a:pt x="101603" y="0"/>
                </a:moveTo>
                <a:lnTo>
                  <a:pt x="3301997" y="0"/>
                </a:lnTo>
                <a:cubicBezTo>
                  <a:pt x="3358111" y="0"/>
                  <a:pt x="3403600" y="45489"/>
                  <a:pt x="3403600" y="101603"/>
                </a:cubicBezTo>
                <a:lnTo>
                  <a:pt x="3403600" y="723897"/>
                </a:lnTo>
                <a:cubicBezTo>
                  <a:pt x="3403600" y="780011"/>
                  <a:pt x="3358111" y="825500"/>
                  <a:pt x="3301997" y="825500"/>
                </a:cubicBezTo>
                <a:lnTo>
                  <a:pt x="101603" y="825500"/>
                </a:lnTo>
                <a:cubicBezTo>
                  <a:pt x="45527" y="825500"/>
                  <a:pt x="0" y="779973"/>
                  <a:pt x="0" y="7238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5A7D9A">
              <a:alpha val="20000"/>
            </a:srgbClr>
          </a:solidFill>
          <a:ln w="12700">
            <a:solidFill>
              <a:srgbClr val="5A7D9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712200" y="7162800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实例编号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712200" y="7467600"/>
            <a:ext cx="3162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创建文件时递增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2071350" y="7004050"/>
            <a:ext cx="3403600" cy="825500"/>
          </a:xfrm>
          <a:custGeom>
            <a:avLst/>
            <a:gdLst/>
            <a:ahLst/>
            <a:cxnLst/>
            <a:rect l="l" t="t" r="r" b="b"/>
            <a:pathLst>
              <a:path w="3403600" h="825500">
                <a:moveTo>
                  <a:pt x="101603" y="0"/>
                </a:moveTo>
                <a:lnTo>
                  <a:pt x="3301997" y="0"/>
                </a:lnTo>
                <a:cubicBezTo>
                  <a:pt x="3358111" y="0"/>
                  <a:pt x="3403600" y="45489"/>
                  <a:pt x="3403600" y="101603"/>
                </a:cubicBezTo>
                <a:lnTo>
                  <a:pt x="3403600" y="723897"/>
                </a:lnTo>
                <a:cubicBezTo>
                  <a:pt x="3403600" y="780011"/>
                  <a:pt x="3358111" y="825500"/>
                  <a:pt x="3301997" y="825500"/>
                </a:cubicBezTo>
                <a:lnTo>
                  <a:pt x="101603" y="825500"/>
                </a:lnTo>
                <a:cubicBezTo>
                  <a:pt x="45527" y="825500"/>
                  <a:pt x="0" y="779973"/>
                  <a:pt x="0" y="7238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DB3A2">
              <a:alpha val="20000"/>
            </a:srgbClr>
          </a:solidFill>
          <a:ln w="12700">
            <a:solidFill>
              <a:srgbClr val="4DB3A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2230100" y="7162800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内容生成编号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2230100" y="7467600"/>
            <a:ext cx="3162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内容更改时递增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553450" y="7943850"/>
            <a:ext cx="3403600" cy="825500"/>
          </a:xfrm>
          <a:custGeom>
            <a:avLst/>
            <a:gdLst/>
            <a:ahLst/>
            <a:cxnLst/>
            <a:rect l="l" t="t" r="r" b="b"/>
            <a:pathLst>
              <a:path w="3403600" h="825500">
                <a:moveTo>
                  <a:pt x="101603" y="0"/>
                </a:moveTo>
                <a:lnTo>
                  <a:pt x="3301997" y="0"/>
                </a:lnTo>
                <a:cubicBezTo>
                  <a:pt x="3358111" y="0"/>
                  <a:pt x="3403600" y="45489"/>
                  <a:pt x="3403600" y="101603"/>
                </a:cubicBezTo>
                <a:lnTo>
                  <a:pt x="3403600" y="723897"/>
                </a:lnTo>
                <a:cubicBezTo>
                  <a:pt x="3403600" y="780011"/>
                  <a:pt x="3358111" y="825500"/>
                  <a:pt x="3301997" y="825500"/>
                </a:cubicBezTo>
                <a:lnTo>
                  <a:pt x="101603" y="825500"/>
                </a:lnTo>
                <a:cubicBezTo>
                  <a:pt x="45527" y="825500"/>
                  <a:pt x="0" y="779973"/>
                  <a:pt x="0" y="7238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E1AF63">
              <a:alpha val="20000"/>
            </a:srgbClr>
          </a:solidFill>
          <a:ln w="12700">
            <a:solidFill>
              <a:srgbClr val="E1AF6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712200" y="8102600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锁生成编号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712200" y="8407400"/>
            <a:ext cx="3162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获取锁时递增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2071350" y="7943850"/>
            <a:ext cx="3403600" cy="825500"/>
          </a:xfrm>
          <a:custGeom>
            <a:avLst/>
            <a:gdLst/>
            <a:ahLst/>
            <a:cxnLst/>
            <a:rect l="l" t="t" r="r" b="b"/>
            <a:pathLst>
              <a:path w="3403600" h="825500">
                <a:moveTo>
                  <a:pt x="101603" y="0"/>
                </a:moveTo>
                <a:lnTo>
                  <a:pt x="3301997" y="0"/>
                </a:lnTo>
                <a:cubicBezTo>
                  <a:pt x="3358111" y="0"/>
                  <a:pt x="3403600" y="45489"/>
                  <a:pt x="3403600" y="101603"/>
                </a:cubicBezTo>
                <a:lnTo>
                  <a:pt x="3403600" y="723897"/>
                </a:lnTo>
                <a:cubicBezTo>
                  <a:pt x="3403600" y="780011"/>
                  <a:pt x="3358111" y="825500"/>
                  <a:pt x="3301997" y="825500"/>
                </a:cubicBezTo>
                <a:lnTo>
                  <a:pt x="101603" y="825500"/>
                </a:lnTo>
                <a:cubicBezTo>
                  <a:pt x="45527" y="825500"/>
                  <a:pt x="0" y="779973"/>
                  <a:pt x="0" y="7238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5A7D9A">
              <a:alpha val="20000"/>
            </a:srgbClr>
          </a:solidFill>
          <a:ln w="12700">
            <a:solidFill>
              <a:srgbClr val="5A7D9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2230100" y="8102600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ACL 生成编号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2230100" y="8407400"/>
            <a:ext cx="3162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 ACL 时递增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LOCKING STRATEGY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锁机制设计：粗粒度 vs 细粒度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0700" y="1790700"/>
            <a:ext cx="7442200" cy="5156200"/>
          </a:xfrm>
          <a:custGeom>
            <a:avLst/>
            <a:gdLst/>
            <a:ahLst/>
            <a:cxnLst/>
            <a:rect l="l" t="t" r="r" b="b"/>
            <a:pathLst>
              <a:path w="7442200" h="5156200">
                <a:moveTo>
                  <a:pt x="152417" y="0"/>
                </a:moveTo>
                <a:lnTo>
                  <a:pt x="7289783" y="0"/>
                </a:lnTo>
                <a:cubicBezTo>
                  <a:pt x="7373960" y="0"/>
                  <a:pt x="7442200" y="68240"/>
                  <a:pt x="7442200" y="152417"/>
                </a:cubicBezTo>
                <a:lnTo>
                  <a:pt x="7442200" y="5003783"/>
                </a:lnTo>
                <a:cubicBezTo>
                  <a:pt x="7442200" y="5087960"/>
                  <a:pt x="7373960" y="5156200"/>
                  <a:pt x="7289783" y="5156200"/>
                </a:cubicBezTo>
                <a:lnTo>
                  <a:pt x="152417" y="5156200"/>
                </a:lnTo>
                <a:cubicBezTo>
                  <a:pt x="68240" y="5156200"/>
                  <a:pt x="0" y="5087960"/>
                  <a:pt x="0" y="5003783"/>
                </a:cubicBezTo>
                <a:lnTo>
                  <a:pt x="0" y="152417"/>
                </a:lnTo>
                <a:cubicBezTo>
                  <a:pt x="0" y="68296"/>
                  <a:pt x="68296" y="0"/>
                  <a:pt x="152417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3A2">
                  <a:alpha val="30000"/>
                </a:srgbClr>
              </a:gs>
              <a:gs pos="100000">
                <a:srgbClr val="4DB3A2">
                  <a:alpha val="10000"/>
                </a:srgbClr>
              </a:gs>
            </a:gsLst>
            <a:lin ang="2700000" scaled="1"/>
          </a:gradFill>
          <a:ln w="25400">
            <a:solidFill>
              <a:srgbClr val="4DB3A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38200" y="2108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057275" y="2324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59531" y="119063"/>
                </a:moveTo>
                <a:cubicBezTo>
                  <a:pt x="72703" y="119063"/>
                  <a:pt x="83344" y="129704"/>
                  <a:pt x="83344" y="142875"/>
                </a:cubicBezTo>
                <a:lnTo>
                  <a:pt x="83344" y="333375"/>
                </a:lnTo>
                <a:cubicBezTo>
                  <a:pt x="83344" y="346546"/>
                  <a:pt x="72703" y="357188"/>
                  <a:pt x="59531" y="357188"/>
                </a:cubicBezTo>
                <a:lnTo>
                  <a:pt x="23812" y="357188"/>
                </a:lnTo>
                <a:cubicBezTo>
                  <a:pt x="10641" y="357188"/>
                  <a:pt x="0" y="346546"/>
                  <a:pt x="0" y="333375"/>
                </a:cubicBezTo>
                <a:lnTo>
                  <a:pt x="0" y="142875"/>
                </a:lnTo>
                <a:cubicBezTo>
                  <a:pt x="0" y="129704"/>
                  <a:pt x="10641" y="119063"/>
                  <a:pt x="23812" y="119063"/>
                </a:cubicBezTo>
                <a:lnTo>
                  <a:pt x="59531" y="119063"/>
                </a:lnTo>
                <a:close/>
                <a:moveTo>
                  <a:pt x="201364" y="11906"/>
                </a:moveTo>
                <a:cubicBezTo>
                  <a:pt x="221679" y="11906"/>
                  <a:pt x="238125" y="28352"/>
                  <a:pt x="238125" y="48667"/>
                </a:cubicBezTo>
                <a:lnTo>
                  <a:pt x="238125" y="51792"/>
                </a:lnTo>
                <a:cubicBezTo>
                  <a:pt x="238125" y="56852"/>
                  <a:pt x="237158" y="61913"/>
                  <a:pt x="235297" y="66601"/>
                </a:cubicBezTo>
                <a:lnTo>
                  <a:pt x="214313" y="119063"/>
                </a:lnTo>
                <a:lnTo>
                  <a:pt x="333375" y="119063"/>
                </a:lnTo>
                <a:cubicBezTo>
                  <a:pt x="353095" y="119063"/>
                  <a:pt x="369094" y="135062"/>
                  <a:pt x="369094" y="154781"/>
                </a:cubicBezTo>
                <a:cubicBezTo>
                  <a:pt x="369094" y="169441"/>
                  <a:pt x="360238" y="182017"/>
                  <a:pt x="347588" y="187523"/>
                </a:cubicBezTo>
                <a:cubicBezTo>
                  <a:pt x="360238" y="193030"/>
                  <a:pt x="369094" y="205606"/>
                  <a:pt x="369094" y="220266"/>
                </a:cubicBezTo>
                <a:cubicBezTo>
                  <a:pt x="369094" y="237679"/>
                  <a:pt x="356592" y="252189"/>
                  <a:pt x="340072" y="255315"/>
                </a:cubicBezTo>
                <a:cubicBezTo>
                  <a:pt x="343346" y="260747"/>
                  <a:pt x="345281" y="267072"/>
                  <a:pt x="345281" y="273844"/>
                </a:cubicBezTo>
                <a:cubicBezTo>
                  <a:pt x="345281" y="290364"/>
                  <a:pt x="334119" y="304205"/>
                  <a:pt x="318939" y="308297"/>
                </a:cubicBezTo>
                <a:cubicBezTo>
                  <a:pt x="320576" y="312390"/>
                  <a:pt x="321469" y="316855"/>
                  <a:pt x="321469" y="321469"/>
                </a:cubicBezTo>
                <a:cubicBezTo>
                  <a:pt x="321469" y="341188"/>
                  <a:pt x="305470" y="357188"/>
                  <a:pt x="285750" y="357188"/>
                </a:cubicBezTo>
                <a:lnTo>
                  <a:pt x="220340" y="357188"/>
                </a:lnTo>
                <a:cubicBezTo>
                  <a:pt x="193328" y="357188"/>
                  <a:pt x="167060" y="347960"/>
                  <a:pt x="146000" y="331068"/>
                </a:cubicBezTo>
                <a:lnTo>
                  <a:pt x="136922" y="323850"/>
                </a:lnTo>
                <a:cubicBezTo>
                  <a:pt x="125611" y="314846"/>
                  <a:pt x="119063" y="301154"/>
                  <a:pt x="119063" y="286643"/>
                </a:cubicBezTo>
                <a:lnTo>
                  <a:pt x="119063" y="147786"/>
                </a:lnTo>
                <a:cubicBezTo>
                  <a:pt x="119063" y="136699"/>
                  <a:pt x="121667" y="125760"/>
                  <a:pt x="126578" y="115863"/>
                </a:cubicBezTo>
                <a:lnTo>
                  <a:pt x="168399" y="32221"/>
                </a:lnTo>
                <a:cubicBezTo>
                  <a:pt x="174650" y="19794"/>
                  <a:pt x="187375" y="11906"/>
                  <a:pt x="201364" y="11906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854200" y="2133600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4DB3A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粗粒度锁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54200" y="2590800"/>
            <a:ext cx="162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Chubby 的选择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4550" y="3181350"/>
            <a:ext cx="6794500" cy="1181100"/>
          </a:xfrm>
          <a:custGeom>
            <a:avLst/>
            <a:gdLst/>
            <a:ahLst/>
            <a:cxnLst/>
            <a:rect l="l" t="t" r="r" b="b"/>
            <a:pathLst>
              <a:path w="6794500" h="1181100">
                <a:moveTo>
                  <a:pt x="101598" y="0"/>
                </a:moveTo>
                <a:lnTo>
                  <a:pt x="6692902" y="0"/>
                </a:lnTo>
                <a:cubicBezTo>
                  <a:pt x="6749013" y="0"/>
                  <a:pt x="6794500" y="45487"/>
                  <a:pt x="6794500" y="101598"/>
                </a:cubicBezTo>
                <a:lnTo>
                  <a:pt x="6794500" y="1079502"/>
                </a:lnTo>
                <a:cubicBezTo>
                  <a:pt x="6794500" y="1135613"/>
                  <a:pt x="6749013" y="1181100"/>
                  <a:pt x="6692902" y="1181100"/>
                </a:cubicBezTo>
                <a:lnTo>
                  <a:pt x="101598" y="1181100"/>
                </a:lnTo>
                <a:cubicBezTo>
                  <a:pt x="45487" y="1181100"/>
                  <a:pt x="0" y="1135613"/>
                  <a:pt x="0" y="10795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2700">
            <a:solidFill>
              <a:srgbClr val="4DB3A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054100" y="3390900"/>
            <a:ext cx="6489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持续时间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4100" y="3848100"/>
            <a:ext cx="647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小时或天</a:t>
            </a:r>
            <a:r>
              <a:rPr lang="en-US" sz="16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级别的长时间锁定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4550" y="4578350"/>
            <a:ext cx="6794500" cy="2044700"/>
          </a:xfrm>
          <a:custGeom>
            <a:avLst/>
            <a:gdLst/>
            <a:ahLst/>
            <a:cxnLst/>
            <a:rect l="l" t="t" r="r" b="b"/>
            <a:pathLst>
              <a:path w="6794500" h="2044700">
                <a:moveTo>
                  <a:pt x="101601" y="0"/>
                </a:moveTo>
                <a:lnTo>
                  <a:pt x="6692899" y="0"/>
                </a:lnTo>
                <a:cubicBezTo>
                  <a:pt x="6749012" y="0"/>
                  <a:pt x="6794500" y="45488"/>
                  <a:pt x="6794500" y="101601"/>
                </a:cubicBezTo>
                <a:lnTo>
                  <a:pt x="6794500" y="1943099"/>
                </a:lnTo>
                <a:cubicBezTo>
                  <a:pt x="6794500" y="1999212"/>
                  <a:pt x="6749012" y="2044700"/>
                  <a:pt x="6692899" y="2044700"/>
                </a:cubicBezTo>
                <a:lnTo>
                  <a:pt x="101601" y="2044700"/>
                </a:lnTo>
                <a:cubicBezTo>
                  <a:pt x="45488" y="2044700"/>
                  <a:pt x="0" y="1999212"/>
                  <a:pt x="0" y="19430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2700">
            <a:solidFill>
              <a:srgbClr val="4DB3A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54100" y="4787900"/>
            <a:ext cx="6489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优势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2200" y="53467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409700" y="5295900"/>
            <a:ext cx="193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对锁服务的负载较小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92200" y="57531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409700" y="5702300"/>
            <a:ext cx="314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锁获取率相对于客户端事务率较低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92200" y="61595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409700" y="6108700"/>
            <a:ext cx="396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客户端不会因服务器临时不可用而显著延迟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86750" y="1784350"/>
            <a:ext cx="7454900" cy="5168900"/>
          </a:xfrm>
          <a:custGeom>
            <a:avLst/>
            <a:gdLst/>
            <a:ahLst/>
            <a:cxnLst/>
            <a:rect l="l" t="t" r="r" b="b"/>
            <a:pathLst>
              <a:path w="7454900" h="5168900">
                <a:moveTo>
                  <a:pt x="152379" y="0"/>
                </a:moveTo>
                <a:lnTo>
                  <a:pt x="7302521" y="0"/>
                </a:lnTo>
                <a:cubicBezTo>
                  <a:pt x="7386678" y="0"/>
                  <a:pt x="7454900" y="68222"/>
                  <a:pt x="7454900" y="152379"/>
                </a:cubicBezTo>
                <a:lnTo>
                  <a:pt x="7454900" y="5016521"/>
                </a:lnTo>
                <a:cubicBezTo>
                  <a:pt x="7454900" y="5100678"/>
                  <a:pt x="7386678" y="5168900"/>
                  <a:pt x="7302521" y="5168900"/>
                </a:cubicBezTo>
                <a:lnTo>
                  <a:pt x="152379" y="5168900"/>
                </a:lnTo>
                <a:cubicBezTo>
                  <a:pt x="68222" y="5168900"/>
                  <a:pt x="0" y="5100678"/>
                  <a:pt x="0" y="5016521"/>
                </a:cubicBezTo>
                <a:lnTo>
                  <a:pt x="0" y="152379"/>
                </a:lnTo>
                <a:cubicBezTo>
                  <a:pt x="0" y="68222"/>
                  <a:pt x="68222" y="0"/>
                  <a:pt x="152379" y="0"/>
                </a:cubicBezTo>
                <a:close/>
              </a:path>
            </a:pathLst>
          </a:custGeom>
          <a:gradFill flip="none" rotWithShape="1">
            <a:gsLst>
              <a:gs pos="0">
                <a:srgbClr val="5A7D9A">
                  <a:alpha val="20000"/>
                </a:srgbClr>
              </a:gs>
              <a:gs pos="100000">
                <a:srgbClr val="5A7D9A">
                  <a:alpha val="5000"/>
                </a:srgbClr>
              </a:gs>
            </a:gsLst>
            <a:lin ang="2700000" scaled="1"/>
          </a:gradFill>
          <a:ln w="12700">
            <a:solidFill>
              <a:srgbClr val="5A7D9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597900" y="20955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A7D9A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840788" y="23114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252115" y="-7367"/>
                </a:moveTo>
                <a:cubicBezTo>
                  <a:pt x="260970" y="-967"/>
                  <a:pt x="264244" y="10641"/>
                  <a:pt x="260226" y="20762"/>
                </a:cubicBezTo>
                <a:lnTo>
                  <a:pt x="201885" y="166688"/>
                </a:lnTo>
                <a:lnTo>
                  <a:pt x="309563" y="166688"/>
                </a:lnTo>
                <a:cubicBezTo>
                  <a:pt x="319608" y="166688"/>
                  <a:pt x="328538" y="172938"/>
                  <a:pt x="331961" y="182389"/>
                </a:cubicBezTo>
                <a:cubicBezTo>
                  <a:pt x="335384" y="191839"/>
                  <a:pt x="332482" y="202406"/>
                  <a:pt x="324817" y="208806"/>
                </a:cubicBezTo>
                <a:lnTo>
                  <a:pt x="110505" y="387400"/>
                </a:lnTo>
                <a:cubicBezTo>
                  <a:pt x="102096" y="394395"/>
                  <a:pt x="90115" y="394767"/>
                  <a:pt x="81260" y="388367"/>
                </a:cubicBezTo>
                <a:cubicBezTo>
                  <a:pt x="72405" y="381967"/>
                  <a:pt x="69131" y="370359"/>
                  <a:pt x="73149" y="360238"/>
                </a:cubicBezTo>
                <a:lnTo>
                  <a:pt x="131490" y="214313"/>
                </a:lnTo>
                <a:lnTo>
                  <a:pt x="23812" y="214313"/>
                </a:lnTo>
                <a:cubicBezTo>
                  <a:pt x="13767" y="214313"/>
                  <a:pt x="4837" y="208062"/>
                  <a:pt x="1414" y="198611"/>
                </a:cubicBezTo>
                <a:cubicBezTo>
                  <a:pt x="-2009" y="189161"/>
                  <a:pt x="893" y="178594"/>
                  <a:pt x="8558" y="172194"/>
                </a:cubicBezTo>
                <a:lnTo>
                  <a:pt x="222870" y="-6400"/>
                </a:lnTo>
                <a:cubicBezTo>
                  <a:pt x="231279" y="-13395"/>
                  <a:pt x="243260" y="-13767"/>
                  <a:pt x="252115" y="-7367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613900" y="2120900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5A7D9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细粒度锁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13900" y="2578100"/>
            <a:ext cx="162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对比方案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604250" y="3168650"/>
            <a:ext cx="6819900" cy="1181100"/>
          </a:xfrm>
          <a:custGeom>
            <a:avLst/>
            <a:gdLst/>
            <a:ahLst/>
            <a:cxnLst/>
            <a:rect l="l" t="t" r="r" b="b"/>
            <a:pathLst>
              <a:path w="6819900" h="1181100">
                <a:moveTo>
                  <a:pt x="101598" y="0"/>
                </a:moveTo>
                <a:lnTo>
                  <a:pt x="6718302" y="0"/>
                </a:lnTo>
                <a:cubicBezTo>
                  <a:pt x="6774413" y="0"/>
                  <a:pt x="6819900" y="45487"/>
                  <a:pt x="6819900" y="101598"/>
                </a:cubicBezTo>
                <a:lnTo>
                  <a:pt x="6819900" y="1079502"/>
                </a:lnTo>
                <a:cubicBezTo>
                  <a:pt x="6819900" y="1135613"/>
                  <a:pt x="6774413" y="1181100"/>
                  <a:pt x="6718302" y="1181100"/>
                </a:cubicBezTo>
                <a:lnTo>
                  <a:pt x="101598" y="1181100"/>
                </a:lnTo>
                <a:cubicBezTo>
                  <a:pt x="45487" y="1181100"/>
                  <a:pt x="0" y="1135613"/>
                  <a:pt x="0" y="10795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2700">
            <a:solidFill>
              <a:srgbClr val="5A7D9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813800" y="3378200"/>
            <a:ext cx="6515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持续时间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813800" y="3835400"/>
            <a:ext cx="650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秒或更短</a:t>
            </a:r>
            <a:r>
              <a:rPr lang="en-US" sz="16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的短时间锁定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604250" y="4565650"/>
            <a:ext cx="6819900" cy="2044700"/>
          </a:xfrm>
          <a:custGeom>
            <a:avLst/>
            <a:gdLst/>
            <a:ahLst/>
            <a:cxnLst/>
            <a:rect l="l" t="t" r="r" b="b"/>
            <a:pathLst>
              <a:path w="6819900" h="2044700">
                <a:moveTo>
                  <a:pt x="101601" y="0"/>
                </a:moveTo>
                <a:lnTo>
                  <a:pt x="6718299" y="0"/>
                </a:lnTo>
                <a:cubicBezTo>
                  <a:pt x="6774412" y="0"/>
                  <a:pt x="6819900" y="45488"/>
                  <a:pt x="6819900" y="101601"/>
                </a:cubicBezTo>
                <a:lnTo>
                  <a:pt x="6819900" y="1943099"/>
                </a:lnTo>
                <a:cubicBezTo>
                  <a:pt x="6819900" y="1999212"/>
                  <a:pt x="6774412" y="2044700"/>
                  <a:pt x="6718299" y="2044700"/>
                </a:cubicBezTo>
                <a:lnTo>
                  <a:pt x="101601" y="2044700"/>
                </a:lnTo>
                <a:cubicBezTo>
                  <a:pt x="45488" y="2044700"/>
                  <a:pt x="0" y="1999212"/>
                  <a:pt x="0" y="19430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2700">
            <a:solidFill>
              <a:srgbClr val="5A7D9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813800" y="4775200"/>
            <a:ext cx="6515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特点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864600" y="53340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21868" y="29131"/>
                </a:moveTo>
                <a:cubicBezTo>
                  <a:pt x="16907" y="24170"/>
                  <a:pt x="8850" y="24170"/>
                  <a:pt x="3889" y="29131"/>
                </a:cubicBezTo>
                <a:cubicBezTo>
                  <a:pt x="-1072" y="34092"/>
                  <a:pt x="-1072" y="42148"/>
                  <a:pt x="3889" y="47109"/>
                </a:cubicBezTo>
                <a:lnTo>
                  <a:pt x="58420" y="101600"/>
                </a:lnTo>
                <a:lnTo>
                  <a:pt x="3929" y="156131"/>
                </a:lnTo>
                <a:cubicBezTo>
                  <a:pt x="-1032" y="161092"/>
                  <a:pt x="-1032" y="169148"/>
                  <a:pt x="3929" y="174109"/>
                </a:cubicBezTo>
                <a:cubicBezTo>
                  <a:pt x="8890" y="179070"/>
                  <a:pt x="16947" y="179070"/>
                  <a:pt x="21908" y="174109"/>
                </a:cubicBezTo>
                <a:lnTo>
                  <a:pt x="76398" y="119578"/>
                </a:lnTo>
                <a:lnTo>
                  <a:pt x="130929" y="174069"/>
                </a:lnTo>
                <a:cubicBezTo>
                  <a:pt x="135890" y="179030"/>
                  <a:pt x="143947" y="179030"/>
                  <a:pt x="148908" y="174069"/>
                </a:cubicBezTo>
                <a:cubicBezTo>
                  <a:pt x="153868" y="169108"/>
                  <a:pt x="153868" y="161052"/>
                  <a:pt x="148908" y="156091"/>
                </a:cubicBezTo>
                <a:lnTo>
                  <a:pt x="94377" y="101600"/>
                </a:lnTo>
                <a:lnTo>
                  <a:pt x="148868" y="47069"/>
                </a:lnTo>
                <a:cubicBezTo>
                  <a:pt x="153829" y="42108"/>
                  <a:pt x="153829" y="34052"/>
                  <a:pt x="148868" y="29091"/>
                </a:cubicBezTo>
                <a:cubicBezTo>
                  <a:pt x="143907" y="24130"/>
                  <a:pt x="135850" y="24130"/>
                  <a:pt x="130889" y="29091"/>
                </a:cubicBezTo>
                <a:lnTo>
                  <a:pt x="76398" y="83622"/>
                </a:lnTo>
                <a:lnTo>
                  <a:pt x="21868" y="29131"/>
                </a:ln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9169400" y="5283200"/>
            <a:ext cx="233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需要频繁地与锁服务交互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864600" y="57404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21868" y="29131"/>
                </a:moveTo>
                <a:cubicBezTo>
                  <a:pt x="16907" y="24170"/>
                  <a:pt x="8850" y="24170"/>
                  <a:pt x="3889" y="29131"/>
                </a:cubicBezTo>
                <a:cubicBezTo>
                  <a:pt x="-1072" y="34092"/>
                  <a:pt x="-1072" y="42148"/>
                  <a:pt x="3889" y="47109"/>
                </a:cubicBezTo>
                <a:lnTo>
                  <a:pt x="58420" y="101600"/>
                </a:lnTo>
                <a:lnTo>
                  <a:pt x="3929" y="156131"/>
                </a:lnTo>
                <a:cubicBezTo>
                  <a:pt x="-1032" y="161092"/>
                  <a:pt x="-1032" y="169148"/>
                  <a:pt x="3929" y="174109"/>
                </a:cubicBezTo>
                <a:cubicBezTo>
                  <a:pt x="8890" y="179070"/>
                  <a:pt x="16947" y="179070"/>
                  <a:pt x="21908" y="174109"/>
                </a:cubicBezTo>
                <a:lnTo>
                  <a:pt x="76398" y="119578"/>
                </a:lnTo>
                <a:lnTo>
                  <a:pt x="130929" y="174069"/>
                </a:lnTo>
                <a:cubicBezTo>
                  <a:pt x="135890" y="179030"/>
                  <a:pt x="143947" y="179030"/>
                  <a:pt x="148908" y="174069"/>
                </a:cubicBezTo>
                <a:cubicBezTo>
                  <a:pt x="153868" y="169108"/>
                  <a:pt x="153868" y="161052"/>
                  <a:pt x="148908" y="156091"/>
                </a:cubicBezTo>
                <a:lnTo>
                  <a:pt x="94377" y="101600"/>
                </a:lnTo>
                <a:lnTo>
                  <a:pt x="148868" y="47069"/>
                </a:lnTo>
                <a:cubicBezTo>
                  <a:pt x="153829" y="42108"/>
                  <a:pt x="153829" y="34052"/>
                  <a:pt x="148868" y="29091"/>
                </a:cubicBezTo>
                <a:cubicBezTo>
                  <a:pt x="143907" y="24130"/>
                  <a:pt x="135850" y="24130"/>
                  <a:pt x="130889" y="29091"/>
                </a:cubicBezTo>
                <a:lnTo>
                  <a:pt x="76398" y="83622"/>
                </a:lnTo>
                <a:lnTo>
                  <a:pt x="21868" y="29131"/>
                </a:ln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9169400" y="5689600"/>
            <a:ext cx="233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对锁服务器的负载压力大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864600" y="61468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21868" y="29131"/>
                </a:moveTo>
                <a:cubicBezTo>
                  <a:pt x="16907" y="24170"/>
                  <a:pt x="8850" y="24170"/>
                  <a:pt x="3889" y="29131"/>
                </a:cubicBezTo>
                <a:cubicBezTo>
                  <a:pt x="-1072" y="34092"/>
                  <a:pt x="-1072" y="42148"/>
                  <a:pt x="3889" y="47109"/>
                </a:cubicBezTo>
                <a:lnTo>
                  <a:pt x="58420" y="101600"/>
                </a:lnTo>
                <a:lnTo>
                  <a:pt x="3929" y="156131"/>
                </a:lnTo>
                <a:cubicBezTo>
                  <a:pt x="-1032" y="161092"/>
                  <a:pt x="-1032" y="169148"/>
                  <a:pt x="3929" y="174109"/>
                </a:cubicBezTo>
                <a:cubicBezTo>
                  <a:pt x="8890" y="179070"/>
                  <a:pt x="16947" y="179070"/>
                  <a:pt x="21908" y="174109"/>
                </a:cubicBezTo>
                <a:lnTo>
                  <a:pt x="76398" y="119578"/>
                </a:lnTo>
                <a:lnTo>
                  <a:pt x="130929" y="174069"/>
                </a:lnTo>
                <a:cubicBezTo>
                  <a:pt x="135890" y="179030"/>
                  <a:pt x="143947" y="179030"/>
                  <a:pt x="148908" y="174069"/>
                </a:cubicBezTo>
                <a:cubicBezTo>
                  <a:pt x="153868" y="169108"/>
                  <a:pt x="153868" y="161052"/>
                  <a:pt x="148908" y="156091"/>
                </a:cubicBezTo>
                <a:lnTo>
                  <a:pt x="94377" y="101600"/>
                </a:lnTo>
                <a:lnTo>
                  <a:pt x="148868" y="47069"/>
                </a:lnTo>
                <a:cubicBezTo>
                  <a:pt x="153829" y="42108"/>
                  <a:pt x="153829" y="34052"/>
                  <a:pt x="148868" y="29091"/>
                </a:cubicBezTo>
                <a:cubicBezTo>
                  <a:pt x="143907" y="24130"/>
                  <a:pt x="135850" y="24130"/>
                  <a:pt x="130889" y="29091"/>
                </a:cubicBezTo>
                <a:lnTo>
                  <a:pt x="76398" y="83622"/>
                </a:lnTo>
                <a:lnTo>
                  <a:pt x="21868" y="29131"/>
                </a:ln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9169400" y="6096000"/>
            <a:ext cx="294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锁服务器故障会导致客户端阻塞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33400" y="7213600"/>
            <a:ext cx="15214600" cy="1714500"/>
          </a:xfrm>
          <a:custGeom>
            <a:avLst/>
            <a:gdLst/>
            <a:ahLst/>
            <a:cxnLst/>
            <a:rect l="l" t="t" r="r" b="b"/>
            <a:pathLst>
              <a:path w="15214600" h="1714500">
                <a:moveTo>
                  <a:pt x="50800" y="0"/>
                </a:moveTo>
                <a:lnTo>
                  <a:pt x="15062198" y="0"/>
                </a:lnTo>
                <a:cubicBezTo>
                  <a:pt x="15146367" y="0"/>
                  <a:pt x="15214600" y="68233"/>
                  <a:pt x="15214600" y="152402"/>
                </a:cubicBezTo>
                <a:lnTo>
                  <a:pt x="15214600" y="1562098"/>
                </a:lnTo>
                <a:cubicBezTo>
                  <a:pt x="15214600" y="1646267"/>
                  <a:pt x="15146367" y="1714500"/>
                  <a:pt x="15062198" y="1714500"/>
                </a:cubicBezTo>
                <a:lnTo>
                  <a:pt x="50800" y="1714500"/>
                </a:lnTo>
                <a:cubicBezTo>
                  <a:pt x="22763" y="1714500"/>
                  <a:pt x="0" y="1691737"/>
                  <a:pt x="0" y="1663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3A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533400" y="7213600"/>
            <a:ext cx="50800" cy="1714500"/>
          </a:xfrm>
          <a:custGeom>
            <a:avLst/>
            <a:gdLst/>
            <a:ahLst/>
            <a:cxnLst/>
            <a:rect l="l" t="t" r="r" b="b"/>
            <a:pathLst>
              <a:path w="50800" h="1714500">
                <a:moveTo>
                  <a:pt x="50800" y="0"/>
                </a:moveTo>
                <a:lnTo>
                  <a:pt x="50800" y="0"/>
                </a:lnTo>
                <a:lnTo>
                  <a:pt x="50800" y="1714500"/>
                </a:lnTo>
                <a:lnTo>
                  <a:pt x="50800" y="1714500"/>
                </a:lnTo>
                <a:cubicBezTo>
                  <a:pt x="22763" y="1714500"/>
                  <a:pt x="0" y="1691737"/>
                  <a:pt x="0" y="1663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12800" y="7467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1022350" y="76454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625600" y="7467600"/>
            <a:ext cx="13995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设计权衡的哲学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625600" y="7924800"/>
            <a:ext cx="139827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Chubby 采用</a:t>
            </a:r>
            <a:r>
              <a:rPr lang="en-US" sz="1800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粗粒度锁</a:t>
            </a: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体现了其设计哲学：在分布式系统中，</a:t>
            </a:r>
            <a:r>
              <a:rPr lang="en-US" sz="1800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稳定性和可预测性</a:t>
            </a: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往往比极致的性能优化更重要。通过减少与锁服务的交互频率，Chubby 降低了系统对锁服务可用性的敏感度，提高了整个系统的</a:t>
            </a:r>
            <a:r>
              <a:rPr lang="en-US" sz="1800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容错能力</a:t>
            </a: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716" y="476716"/>
            <a:ext cx="15397912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b="1" kern="0" spc="75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ADVANCED LOCKING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76716" y="858088"/>
            <a:ext cx="15588598" cy="572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4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咨询锁与序列器机制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88633" y="1680422"/>
            <a:ext cx="7484434" cy="5580000"/>
          </a:xfrm>
          <a:custGeom>
            <a:avLst/>
            <a:gdLst/>
            <a:ahLst/>
            <a:cxnLst/>
            <a:rect l="l" t="t" r="r" b="b"/>
            <a:pathLst>
              <a:path w="7484434" h="5732504">
                <a:moveTo>
                  <a:pt x="143026" y="0"/>
                </a:moveTo>
                <a:lnTo>
                  <a:pt x="7341408" y="0"/>
                </a:lnTo>
                <a:cubicBezTo>
                  <a:pt x="7420399" y="0"/>
                  <a:pt x="7484434" y="64035"/>
                  <a:pt x="7484434" y="143026"/>
                </a:cubicBezTo>
                <a:lnTo>
                  <a:pt x="7484434" y="5589478"/>
                </a:lnTo>
                <a:cubicBezTo>
                  <a:pt x="7484434" y="5668469"/>
                  <a:pt x="7420399" y="5732504"/>
                  <a:pt x="7341408" y="5732504"/>
                </a:cubicBezTo>
                <a:lnTo>
                  <a:pt x="143026" y="5732504"/>
                </a:lnTo>
                <a:cubicBezTo>
                  <a:pt x="64035" y="5732504"/>
                  <a:pt x="0" y="5668469"/>
                  <a:pt x="0" y="5589478"/>
                </a:cubicBezTo>
                <a:lnTo>
                  <a:pt x="0" y="143026"/>
                </a:lnTo>
                <a:cubicBezTo>
                  <a:pt x="0" y="64035"/>
                  <a:pt x="64035" y="0"/>
                  <a:pt x="143026" y="0"/>
                </a:cubicBezTo>
                <a:close/>
              </a:path>
            </a:pathLst>
          </a:custGeom>
          <a:gradFill flip="none" rotWithShape="1">
            <a:gsLst>
              <a:gs pos="0">
                <a:srgbClr val="5A7D9A">
                  <a:alpha val="30000"/>
                </a:srgbClr>
              </a:gs>
              <a:gs pos="100000">
                <a:srgbClr val="5A7D9A">
                  <a:alpha val="10000"/>
                </a:srgbClr>
              </a:gs>
            </a:gsLst>
            <a:lin ang="2700000" scaled="1"/>
          </a:gradFill>
          <a:ln w="25400">
            <a:solidFill>
              <a:srgbClr val="5A7D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86581" y="1978370"/>
            <a:ext cx="667402" cy="667402"/>
          </a:xfrm>
          <a:custGeom>
            <a:avLst/>
            <a:gdLst/>
            <a:ahLst/>
            <a:cxnLst/>
            <a:rect l="l" t="t" r="r" b="b"/>
            <a:pathLst>
              <a:path w="667402" h="667402">
                <a:moveTo>
                  <a:pt x="143018" y="0"/>
                </a:moveTo>
                <a:lnTo>
                  <a:pt x="524384" y="0"/>
                </a:lnTo>
                <a:cubicBezTo>
                  <a:pt x="603371" y="0"/>
                  <a:pt x="667402" y="64031"/>
                  <a:pt x="667402" y="143018"/>
                </a:cubicBezTo>
                <a:lnTo>
                  <a:pt x="667402" y="524384"/>
                </a:lnTo>
                <a:cubicBezTo>
                  <a:pt x="667402" y="603371"/>
                  <a:pt x="603371" y="667402"/>
                  <a:pt x="524384" y="667402"/>
                </a:cubicBezTo>
                <a:lnTo>
                  <a:pt x="143018" y="667402"/>
                </a:lnTo>
                <a:cubicBezTo>
                  <a:pt x="64031" y="667402"/>
                  <a:pt x="0" y="603371"/>
                  <a:pt x="0" y="524384"/>
                </a:cubicBezTo>
                <a:lnTo>
                  <a:pt x="0" y="143018"/>
                </a:lnTo>
                <a:cubicBezTo>
                  <a:pt x="0" y="64031"/>
                  <a:pt x="64031" y="0"/>
                  <a:pt x="143018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77267" y="2169056"/>
            <a:ext cx="286029" cy="286029"/>
          </a:xfrm>
          <a:custGeom>
            <a:avLst/>
            <a:gdLst/>
            <a:ahLst/>
            <a:cxnLst/>
            <a:rect l="l" t="t" r="r" b="b"/>
            <a:pathLst>
              <a:path w="286029" h="286029">
                <a:moveTo>
                  <a:pt x="143015" y="286029"/>
                </a:moveTo>
                <a:cubicBezTo>
                  <a:pt x="221947" y="286029"/>
                  <a:pt x="286029" y="221947"/>
                  <a:pt x="286029" y="143015"/>
                </a:cubicBezTo>
                <a:cubicBezTo>
                  <a:pt x="286029" y="64083"/>
                  <a:pt x="221947" y="0"/>
                  <a:pt x="143015" y="0"/>
                </a:cubicBezTo>
                <a:cubicBezTo>
                  <a:pt x="64083" y="0"/>
                  <a:pt x="0" y="64083"/>
                  <a:pt x="0" y="143015"/>
                </a:cubicBezTo>
                <a:cubicBezTo>
                  <a:pt x="0" y="221947"/>
                  <a:pt x="64083" y="286029"/>
                  <a:pt x="143015" y="286029"/>
                </a:cubicBezTo>
                <a:close/>
                <a:moveTo>
                  <a:pt x="125138" y="89384"/>
                </a:moveTo>
                <a:cubicBezTo>
                  <a:pt x="125138" y="79518"/>
                  <a:pt x="133148" y="71507"/>
                  <a:pt x="143015" y="71507"/>
                </a:cubicBezTo>
                <a:cubicBezTo>
                  <a:pt x="152881" y="71507"/>
                  <a:pt x="160891" y="79518"/>
                  <a:pt x="160891" y="89384"/>
                </a:cubicBezTo>
                <a:cubicBezTo>
                  <a:pt x="160891" y="99251"/>
                  <a:pt x="152881" y="107261"/>
                  <a:pt x="143015" y="107261"/>
                </a:cubicBezTo>
                <a:cubicBezTo>
                  <a:pt x="133148" y="107261"/>
                  <a:pt x="125138" y="99251"/>
                  <a:pt x="125138" y="89384"/>
                </a:cubicBezTo>
                <a:close/>
                <a:moveTo>
                  <a:pt x="120669" y="125138"/>
                </a:moveTo>
                <a:lnTo>
                  <a:pt x="147484" y="125138"/>
                </a:lnTo>
                <a:cubicBezTo>
                  <a:pt x="154914" y="125138"/>
                  <a:pt x="160891" y="131115"/>
                  <a:pt x="160891" y="138545"/>
                </a:cubicBezTo>
                <a:lnTo>
                  <a:pt x="160891" y="187707"/>
                </a:lnTo>
                <a:lnTo>
                  <a:pt x="165361" y="187707"/>
                </a:lnTo>
                <a:cubicBezTo>
                  <a:pt x="172791" y="187707"/>
                  <a:pt x="178768" y="193684"/>
                  <a:pt x="178768" y="201114"/>
                </a:cubicBezTo>
                <a:cubicBezTo>
                  <a:pt x="178768" y="208544"/>
                  <a:pt x="172791" y="214522"/>
                  <a:pt x="165361" y="214522"/>
                </a:cubicBezTo>
                <a:lnTo>
                  <a:pt x="120669" y="214522"/>
                </a:lnTo>
                <a:cubicBezTo>
                  <a:pt x="113239" y="214522"/>
                  <a:pt x="107261" y="208544"/>
                  <a:pt x="107261" y="201114"/>
                </a:cubicBezTo>
                <a:cubicBezTo>
                  <a:pt x="107261" y="193684"/>
                  <a:pt x="113239" y="187707"/>
                  <a:pt x="120669" y="187707"/>
                </a:cubicBezTo>
                <a:lnTo>
                  <a:pt x="134076" y="187707"/>
                </a:lnTo>
                <a:lnTo>
                  <a:pt x="134076" y="151953"/>
                </a:lnTo>
                <a:lnTo>
                  <a:pt x="120669" y="151953"/>
                </a:lnTo>
                <a:cubicBezTo>
                  <a:pt x="113239" y="151953"/>
                  <a:pt x="107261" y="145976"/>
                  <a:pt x="107261" y="138545"/>
                </a:cubicBezTo>
                <a:cubicBezTo>
                  <a:pt x="107261" y="131115"/>
                  <a:pt x="113239" y="125138"/>
                  <a:pt x="120669" y="125138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644669" y="2121384"/>
            <a:ext cx="3158240" cy="38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52" dirty="0">
                <a:solidFill>
                  <a:srgbClr val="5A7D9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咨询锁 Advisory Locks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0416" y="3177793"/>
            <a:ext cx="6864704" cy="1048774"/>
          </a:xfrm>
          <a:custGeom>
            <a:avLst/>
            <a:gdLst/>
            <a:ahLst/>
            <a:cxnLst/>
            <a:rect l="l" t="t" r="r" b="b"/>
            <a:pathLst>
              <a:path w="6864704" h="1048774">
                <a:moveTo>
                  <a:pt x="47672" y="0"/>
                </a:moveTo>
                <a:lnTo>
                  <a:pt x="6769360" y="0"/>
                </a:lnTo>
                <a:cubicBezTo>
                  <a:pt x="6822017" y="0"/>
                  <a:pt x="6864704" y="42687"/>
                  <a:pt x="6864704" y="95344"/>
                </a:cubicBezTo>
                <a:lnTo>
                  <a:pt x="6864704" y="953430"/>
                </a:lnTo>
                <a:cubicBezTo>
                  <a:pt x="6864704" y="1006087"/>
                  <a:pt x="6822017" y="1048774"/>
                  <a:pt x="6769360" y="1048774"/>
                </a:cubicBezTo>
                <a:lnTo>
                  <a:pt x="47672" y="1048774"/>
                </a:lnTo>
                <a:cubicBezTo>
                  <a:pt x="21343" y="1048774"/>
                  <a:pt x="0" y="1027431"/>
                  <a:pt x="0" y="1001103"/>
                </a:cubicBezTo>
                <a:lnTo>
                  <a:pt x="0" y="47672"/>
                </a:lnTo>
                <a:cubicBezTo>
                  <a:pt x="0" y="21361"/>
                  <a:pt x="21361" y="0"/>
                  <a:pt x="4767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10416" y="3177793"/>
            <a:ext cx="47672" cy="1048774"/>
          </a:xfrm>
          <a:custGeom>
            <a:avLst/>
            <a:gdLst/>
            <a:ahLst/>
            <a:cxnLst/>
            <a:rect l="l" t="t" r="r" b="b"/>
            <a:pathLst>
              <a:path w="47672" h="1048774">
                <a:moveTo>
                  <a:pt x="47672" y="0"/>
                </a:moveTo>
                <a:lnTo>
                  <a:pt x="47672" y="0"/>
                </a:lnTo>
                <a:lnTo>
                  <a:pt x="47672" y="1048774"/>
                </a:lnTo>
                <a:lnTo>
                  <a:pt x="47672" y="1048774"/>
                </a:lnTo>
                <a:cubicBezTo>
                  <a:pt x="21343" y="1048774"/>
                  <a:pt x="0" y="1027431"/>
                  <a:pt x="0" y="1001103"/>
                </a:cubicBezTo>
                <a:lnTo>
                  <a:pt x="0" y="47672"/>
                </a:lnTo>
                <a:cubicBezTo>
                  <a:pt x="0" y="21361"/>
                  <a:pt x="21361" y="0"/>
                  <a:pt x="47672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024938" y="3368479"/>
            <a:ext cx="6554839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4938" y="3749852"/>
            <a:ext cx="6554839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不阻止</a:t>
            </a:r>
            <a:r>
              <a:rPr lang="en-US" sz="1501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其他客户端访问文件，客户端需要在操作文件前检查锁状态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0416" y="5052254"/>
            <a:ext cx="6864704" cy="1716176"/>
          </a:xfrm>
          <a:custGeom>
            <a:avLst/>
            <a:gdLst/>
            <a:ahLst/>
            <a:cxnLst/>
            <a:rect l="l" t="t" r="r" b="b"/>
            <a:pathLst>
              <a:path w="6864704" h="1716176">
                <a:moveTo>
                  <a:pt x="47672" y="0"/>
                </a:moveTo>
                <a:lnTo>
                  <a:pt x="6769353" y="0"/>
                </a:lnTo>
                <a:cubicBezTo>
                  <a:pt x="6822014" y="0"/>
                  <a:pt x="6864704" y="42690"/>
                  <a:pt x="6864704" y="95351"/>
                </a:cubicBezTo>
                <a:lnTo>
                  <a:pt x="6864704" y="1620825"/>
                </a:lnTo>
                <a:cubicBezTo>
                  <a:pt x="6864704" y="1673486"/>
                  <a:pt x="6822014" y="1716176"/>
                  <a:pt x="6769353" y="1716176"/>
                </a:cubicBezTo>
                <a:lnTo>
                  <a:pt x="47672" y="1716176"/>
                </a:lnTo>
                <a:cubicBezTo>
                  <a:pt x="21343" y="1716176"/>
                  <a:pt x="0" y="1694833"/>
                  <a:pt x="0" y="1668504"/>
                </a:cubicBezTo>
                <a:lnTo>
                  <a:pt x="0" y="47672"/>
                </a:lnTo>
                <a:cubicBezTo>
                  <a:pt x="0" y="21361"/>
                  <a:pt x="21361" y="0"/>
                  <a:pt x="4767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10416" y="5052254"/>
            <a:ext cx="47672" cy="1716176"/>
          </a:xfrm>
          <a:custGeom>
            <a:avLst/>
            <a:gdLst/>
            <a:ahLst/>
            <a:cxnLst/>
            <a:rect l="l" t="t" r="r" b="b"/>
            <a:pathLst>
              <a:path w="47672" h="1716176">
                <a:moveTo>
                  <a:pt x="47672" y="0"/>
                </a:moveTo>
                <a:lnTo>
                  <a:pt x="47672" y="0"/>
                </a:lnTo>
                <a:lnTo>
                  <a:pt x="47672" y="1716176"/>
                </a:lnTo>
                <a:lnTo>
                  <a:pt x="47672" y="1716176"/>
                </a:lnTo>
                <a:cubicBezTo>
                  <a:pt x="21343" y="1716176"/>
                  <a:pt x="0" y="1694833"/>
                  <a:pt x="0" y="1668504"/>
                </a:cubicBezTo>
                <a:lnTo>
                  <a:pt x="0" y="47672"/>
                </a:lnTo>
                <a:cubicBezTo>
                  <a:pt x="0" y="21361"/>
                  <a:pt x="21361" y="0"/>
                  <a:pt x="47672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024938" y="5242940"/>
            <a:ext cx="6554839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选择原因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59202" y="5719655"/>
            <a:ext cx="145994" cy="166850"/>
          </a:xfrm>
          <a:custGeom>
            <a:avLst/>
            <a:gdLst/>
            <a:ahLst/>
            <a:cxnLst/>
            <a:rect l="l" t="t" r="r" b="b"/>
            <a:pathLst>
              <a:path w="145994" h="166850">
                <a:moveTo>
                  <a:pt x="141693" y="22844"/>
                </a:moveTo>
                <a:cubicBezTo>
                  <a:pt x="146353" y="26233"/>
                  <a:pt x="147395" y="32751"/>
                  <a:pt x="144006" y="37411"/>
                </a:cubicBezTo>
                <a:lnTo>
                  <a:pt x="60581" y="152121"/>
                </a:lnTo>
                <a:cubicBezTo>
                  <a:pt x="58789" y="154597"/>
                  <a:pt x="56019" y="156129"/>
                  <a:pt x="52955" y="156390"/>
                </a:cubicBezTo>
                <a:cubicBezTo>
                  <a:pt x="49892" y="156650"/>
                  <a:pt x="46927" y="155510"/>
                  <a:pt x="44776" y="153359"/>
                </a:cubicBezTo>
                <a:lnTo>
                  <a:pt x="3063" y="111646"/>
                </a:lnTo>
                <a:cubicBezTo>
                  <a:pt x="-1010" y="107573"/>
                  <a:pt x="-1010" y="100958"/>
                  <a:pt x="3063" y="96884"/>
                </a:cubicBezTo>
                <a:cubicBezTo>
                  <a:pt x="7137" y="92811"/>
                  <a:pt x="13752" y="92811"/>
                  <a:pt x="17826" y="96884"/>
                </a:cubicBezTo>
                <a:lnTo>
                  <a:pt x="50902" y="129961"/>
                </a:lnTo>
                <a:lnTo>
                  <a:pt x="127158" y="25125"/>
                </a:lnTo>
                <a:cubicBezTo>
                  <a:pt x="130547" y="20465"/>
                  <a:pt x="137065" y="19422"/>
                  <a:pt x="141725" y="22812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328845" y="5671984"/>
            <a:ext cx="3754135" cy="23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4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便于调试：</a:t>
            </a:r>
            <a:r>
              <a:rPr lang="en-US" sz="1314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便于调试和管理访问，更容易排查问题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59202" y="6053356"/>
            <a:ext cx="145994" cy="166850"/>
          </a:xfrm>
          <a:custGeom>
            <a:avLst/>
            <a:gdLst/>
            <a:ahLst/>
            <a:cxnLst/>
            <a:rect l="l" t="t" r="r" b="b"/>
            <a:pathLst>
              <a:path w="145994" h="166850">
                <a:moveTo>
                  <a:pt x="141693" y="22844"/>
                </a:moveTo>
                <a:cubicBezTo>
                  <a:pt x="146353" y="26233"/>
                  <a:pt x="147395" y="32751"/>
                  <a:pt x="144006" y="37411"/>
                </a:cubicBezTo>
                <a:lnTo>
                  <a:pt x="60581" y="152121"/>
                </a:lnTo>
                <a:cubicBezTo>
                  <a:pt x="58789" y="154597"/>
                  <a:pt x="56019" y="156129"/>
                  <a:pt x="52955" y="156390"/>
                </a:cubicBezTo>
                <a:cubicBezTo>
                  <a:pt x="49892" y="156650"/>
                  <a:pt x="46927" y="155510"/>
                  <a:pt x="44776" y="153359"/>
                </a:cubicBezTo>
                <a:lnTo>
                  <a:pt x="3063" y="111646"/>
                </a:lnTo>
                <a:cubicBezTo>
                  <a:pt x="-1010" y="107573"/>
                  <a:pt x="-1010" y="100958"/>
                  <a:pt x="3063" y="96884"/>
                </a:cubicBezTo>
                <a:cubicBezTo>
                  <a:pt x="7137" y="92811"/>
                  <a:pt x="13752" y="92811"/>
                  <a:pt x="17826" y="96884"/>
                </a:cubicBezTo>
                <a:lnTo>
                  <a:pt x="50902" y="129961"/>
                </a:lnTo>
                <a:lnTo>
                  <a:pt x="127158" y="25125"/>
                </a:lnTo>
                <a:cubicBezTo>
                  <a:pt x="130547" y="20465"/>
                  <a:pt x="137065" y="19422"/>
                  <a:pt x="141725" y="22812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328845" y="6005685"/>
            <a:ext cx="3253584" cy="23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4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简化设计：</a:t>
            </a:r>
            <a:r>
              <a:rPr lang="en-US" sz="1314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避免强制锁带来的复杂性和开销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59202" y="6387057"/>
            <a:ext cx="145994" cy="166850"/>
          </a:xfrm>
          <a:custGeom>
            <a:avLst/>
            <a:gdLst/>
            <a:ahLst/>
            <a:cxnLst/>
            <a:rect l="l" t="t" r="r" b="b"/>
            <a:pathLst>
              <a:path w="145994" h="166850">
                <a:moveTo>
                  <a:pt x="141693" y="22844"/>
                </a:moveTo>
                <a:cubicBezTo>
                  <a:pt x="146353" y="26233"/>
                  <a:pt x="147395" y="32751"/>
                  <a:pt x="144006" y="37411"/>
                </a:cubicBezTo>
                <a:lnTo>
                  <a:pt x="60581" y="152121"/>
                </a:lnTo>
                <a:cubicBezTo>
                  <a:pt x="58789" y="154597"/>
                  <a:pt x="56019" y="156129"/>
                  <a:pt x="52955" y="156390"/>
                </a:cubicBezTo>
                <a:cubicBezTo>
                  <a:pt x="49892" y="156650"/>
                  <a:pt x="46927" y="155510"/>
                  <a:pt x="44776" y="153359"/>
                </a:cubicBezTo>
                <a:lnTo>
                  <a:pt x="3063" y="111646"/>
                </a:lnTo>
                <a:cubicBezTo>
                  <a:pt x="-1010" y="107573"/>
                  <a:pt x="-1010" y="100958"/>
                  <a:pt x="3063" y="96884"/>
                </a:cubicBezTo>
                <a:cubicBezTo>
                  <a:pt x="7137" y="92811"/>
                  <a:pt x="13752" y="92811"/>
                  <a:pt x="17826" y="96884"/>
                </a:cubicBezTo>
                <a:lnTo>
                  <a:pt x="50902" y="129961"/>
                </a:lnTo>
                <a:lnTo>
                  <a:pt x="127158" y="25125"/>
                </a:lnTo>
                <a:cubicBezTo>
                  <a:pt x="130547" y="20465"/>
                  <a:pt x="137065" y="19422"/>
                  <a:pt x="141725" y="22812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328845" y="6339386"/>
            <a:ext cx="3849478" cy="23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4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标准保证：</a:t>
            </a:r>
            <a:r>
              <a:rPr lang="en-US" sz="1314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有标准确保开发者进行错误检查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80232" y="1680422"/>
            <a:ext cx="7484434" cy="5580000"/>
          </a:xfrm>
          <a:custGeom>
            <a:avLst/>
            <a:gdLst/>
            <a:ahLst/>
            <a:cxnLst/>
            <a:rect l="l" t="t" r="r" b="b"/>
            <a:pathLst>
              <a:path w="7484434" h="5732504">
                <a:moveTo>
                  <a:pt x="143026" y="0"/>
                </a:moveTo>
                <a:lnTo>
                  <a:pt x="7341408" y="0"/>
                </a:lnTo>
                <a:cubicBezTo>
                  <a:pt x="7420399" y="0"/>
                  <a:pt x="7484434" y="64035"/>
                  <a:pt x="7484434" y="143026"/>
                </a:cubicBezTo>
                <a:lnTo>
                  <a:pt x="7484434" y="5589478"/>
                </a:lnTo>
                <a:cubicBezTo>
                  <a:pt x="7484434" y="5668469"/>
                  <a:pt x="7420399" y="5732504"/>
                  <a:pt x="7341408" y="5732504"/>
                </a:cubicBezTo>
                <a:lnTo>
                  <a:pt x="143026" y="5732504"/>
                </a:lnTo>
                <a:cubicBezTo>
                  <a:pt x="64035" y="5732504"/>
                  <a:pt x="0" y="5668469"/>
                  <a:pt x="0" y="5589478"/>
                </a:cubicBezTo>
                <a:lnTo>
                  <a:pt x="0" y="143026"/>
                </a:lnTo>
                <a:cubicBezTo>
                  <a:pt x="0" y="64035"/>
                  <a:pt x="64035" y="0"/>
                  <a:pt x="143026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3A2">
                  <a:alpha val="30000"/>
                </a:srgbClr>
              </a:gs>
              <a:gs pos="100000">
                <a:srgbClr val="4DB3A2">
                  <a:alpha val="10000"/>
                </a:srgbClr>
              </a:gs>
            </a:gsLst>
            <a:lin ang="2700000" scaled="1"/>
          </a:gradFill>
          <a:ln w="25400">
            <a:solidFill>
              <a:srgbClr val="4DB3A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578180" y="1978370"/>
            <a:ext cx="667402" cy="667402"/>
          </a:xfrm>
          <a:custGeom>
            <a:avLst/>
            <a:gdLst/>
            <a:ahLst/>
            <a:cxnLst/>
            <a:rect l="l" t="t" r="r" b="b"/>
            <a:pathLst>
              <a:path w="667402" h="667402">
                <a:moveTo>
                  <a:pt x="143018" y="0"/>
                </a:moveTo>
                <a:lnTo>
                  <a:pt x="524384" y="0"/>
                </a:lnTo>
                <a:cubicBezTo>
                  <a:pt x="603371" y="0"/>
                  <a:pt x="667402" y="64031"/>
                  <a:pt x="667402" y="143018"/>
                </a:cubicBezTo>
                <a:lnTo>
                  <a:pt x="667402" y="524384"/>
                </a:lnTo>
                <a:cubicBezTo>
                  <a:pt x="667402" y="603371"/>
                  <a:pt x="603371" y="667402"/>
                  <a:pt x="524384" y="667402"/>
                </a:cubicBezTo>
                <a:lnTo>
                  <a:pt x="143018" y="667402"/>
                </a:lnTo>
                <a:cubicBezTo>
                  <a:pt x="64031" y="667402"/>
                  <a:pt x="0" y="603371"/>
                  <a:pt x="0" y="524384"/>
                </a:cubicBezTo>
                <a:lnTo>
                  <a:pt x="0" y="143018"/>
                </a:lnTo>
                <a:cubicBezTo>
                  <a:pt x="0" y="64031"/>
                  <a:pt x="64031" y="0"/>
                  <a:pt x="143018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768866" y="2169056"/>
            <a:ext cx="286029" cy="286029"/>
          </a:xfrm>
          <a:custGeom>
            <a:avLst/>
            <a:gdLst/>
            <a:ahLst/>
            <a:cxnLst/>
            <a:rect l="l" t="t" r="r" b="b"/>
            <a:pathLst>
              <a:path w="286029" h="286029">
                <a:moveTo>
                  <a:pt x="84133" y="23128"/>
                </a:moveTo>
                <a:cubicBezTo>
                  <a:pt x="77150" y="16145"/>
                  <a:pt x="65809" y="16145"/>
                  <a:pt x="58826" y="23128"/>
                </a:cubicBezTo>
                <a:lnTo>
                  <a:pt x="5195" y="76759"/>
                </a:lnTo>
                <a:cubicBezTo>
                  <a:pt x="-1788" y="83742"/>
                  <a:pt x="-1788" y="95082"/>
                  <a:pt x="5195" y="102066"/>
                </a:cubicBezTo>
                <a:cubicBezTo>
                  <a:pt x="12179" y="109049"/>
                  <a:pt x="23519" y="109049"/>
                  <a:pt x="30502" y="102066"/>
                </a:cubicBezTo>
                <a:lnTo>
                  <a:pt x="53630" y="78937"/>
                </a:lnTo>
                <a:lnTo>
                  <a:pt x="53630" y="250276"/>
                </a:lnTo>
                <a:cubicBezTo>
                  <a:pt x="53630" y="260164"/>
                  <a:pt x="61619" y="268152"/>
                  <a:pt x="71507" y="268152"/>
                </a:cubicBezTo>
                <a:cubicBezTo>
                  <a:pt x="81395" y="268152"/>
                  <a:pt x="89384" y="260164"/>
                  <a:pt x="89384" y="250276"/>
                </a:cubicBezTo>
                <a:lnTo>
                  <a:pt x="89384" y="78937"/>
                </a:lnTo>
                <a:lnTo>
                  <a:pt x="112512" y="102066"/>
                </a:lnTo>
                <a:cubicBezTo>
                  <a:pt x="119495" y="109049"/>
                  <a:pt x="130836" y="109049"/>
                  <a:pt x="137819" y="102066"/>
                </a:cubicBezTo>
                <a:cubicBezTo>
                  <a:pt x="144802" y="95082"/>
                  <a:pt x="144802" y="83742"/>
                  <a:pt x="137819" y="76759"/>
                </a:cubicBezTo>
                <a:lnTo>
                  <a:pt x="84189" y="23128"/>
                </a:lnTo>
                <a:close/>
                <a:moveTo>
                  <a:pt x="233907" y="21229"/>
                </a:moveTo>
                <a:cubicBezTo>
                  <a:pt x="229270" y="17877"/>
                  <a:pt x="223237" y="16927"/>
                  <a:pt x="217818" y="18771"/>
                </a:cubicBezTo>
                <a:lnTo>
                  <a:pt x="191003" y="27709"/>
                </a:lnTo>
                <a:cubicBezTo>
                  <a:pt x="181617" y="30838"/>
                  <a:pt x="176590" y="40949"/>
                  <a:pt x="179718" y="50334"/>
                </a:cubicBezTo>
                <a:cubicBezTo>
                  <a:pt x="182846" y="59720"/>
                  <a:pt x="192958" y="64748"/>
                  <a:pt x="202343" y="61619"/>
                </a:cubicBezTo>
                <a:lnTo>
                  <a:pt x="205639" y="60502"/>
                </a:lnTo>
                <a:lnTo>
                  <a:pt x="205639" y="89328"/>
                </a:lnTo>
                <a:lnTo>
                  <a:pt x="196701" y="89328"/>
                </a:lnTo>
                <a:cubicBezTo>
                  <a:pt x="186813" y="89328"/>
                  <a:pt x="178824" y="97317"/>
                  <a:pt x="178824" y="107205"/>
                </a:cubicBezTo>
                <a:cubicBezTo>
                  <a:pt x="178824" y="117093"/>
                  <a:pt x="186813" y="125082"/>
                  <a:pt x="196701" y="125082"/>
                </a:cubicBezTo>
                <a:lnTo>
                  <a:pt x="250332" y="125082"/>
                </a:lnTo>
                <a:cubicBezTo>
                  <a:pt x="260220" y="125082"/>
                  <a:pt x="268208" y="117093"/>
                  <a:pt x="268208" y="107205"/>
                </a:cubicBezTo>
                <a:cubicBezTo>
                  <a:pt x="268208" y="97317"/>
                  <a:pt x="260220" y="89328"/>
                  <a:pt x="250332" y="89328"/>
                </a:cubicBezTo>
                <a:lnTo>
                  <a:pt x="241393" y="89328"/>
                </a:lnTo>
                <a:lnTo>
                  <a:pt x="241393" y="35698"/>
                </a:lnTo>
                <a:cubicBezTo>
                  <a:pt x="241393" y="29944"/>
                  <a:pt x="238656" y="24581"/>
                  <a:pt x="233963" y="21173"/>
                </a:cubicBezTo>
                <a:close/>
                <a:moveTo>
                  <a:pt x="203963" y="240555"/>
                </a:moveTo>
                <a:cubicBezTo>
                  <a:pt x="198600" y="248823"/>
                  <a:pt x="200947" y="259884"/>
                  <a:pt x="209215" y="265303"/>
                </a:cubicBezTo>
                <a:cubicBezTo>
                  <a:pt x="217483" y="270722"/>
                  <a:pt x="228544" y="268320"/>
                  <a:pt x="233963" y="260052"/>
                </a:cubicBezTo>
                <a:lnTo>
                  <a:pt x="257482" y="223796"/>
                </a:lnTo>
                <a:cubicBezTo>
                  <a:pt x="264410" y="213070"/>
                  <a:pt x="268152" y="200556"/>
                  <a:pt x="268152" y="187763"/>
                </a:cubicBezTo>
                <a:cubicBezTo>
                  <a:pt x="268152" y="163070"/>
                  <a:pt x="248153" y="143071"/>
                  <a:pt x="223460" y="143071"/>
                </a:cubicBezTo>
                <a:cubicBezTo>
                  <a:pt x="198768" y="143071"/>
                  <a:pt x="178768" y="163070"/>
                  <a:pt x="178768" y="187763"/>
                </a:cubicBezTo>
                <a:cubicBezTo>
                  <a:pt x="178768" y="207930"/>
                  <a:pt x="192120" y="225025"/>
                  <a:pt x="210500" y="230555"/>
                </a:cubicBezTo>
                <a:lnTo>
                  <a:pt x="203963" y="240611"/>
                </a:lnTo>
                <a:close/>
                <a:moveTo>
                  <a:pt x="210053" y="187707"/>
                </a:moveTo>
                <a:cubicBezTo>
                  <a:pt x="210053" y="180307"/>
                  <a:pt x="216061" y="174299"/>
                  <a:pt x="223460" y="174299"/>
                </a:cubicBezTo>
                <a:cubicBezTo>
                  <a:pt x="230860" y="174299"/>
                  <a:pt x="236868" y="180307"/>
                  <a:pt x="236868" y="187707"/>
                </a:cubicBezTo>
                <a:cubicBezTo>
                  <a:pt x="236868" y="195107"/>
                  <a:pt x="230860" y="201114"/>
                  <a:pt x="223460" y="201114"/>
                </a:cubicBezTo>
                <a:cubicBezTo>
                  <a:pt x="216061" y="201114"/>
                  <a:pt x="210053" y="195107"/>
                  <a:pt x="210053" y="187707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9436268" y="2121384"/>
            <a:ext cx="2562346" cy="38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52" dirty="0">
                <a:solidFill>
                  <a:srgbClr val="4DB3A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序列器 Sequencer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602015" y="2836457"/>
            <a:ext cx="6864704" cy="1048774"/>
          </a:xfrm>
          <a:custGeom>
            <a:avLst/>
            <a:gdLst/>
            <a:ahLst/>
            <a:cxnLst/>
            <a:rect l="l" t="t" r="r" b="b"/>
            <a:pathLst>
              <a:path w="6864704" h="1048774">
                <a:moveTo>
                  <a:pt x="47672" y="0"/>
                </a:moveTo>
                <a:lnTo>
                  <a:pt x="6769360" y="0"/>
                </a:lnTo>
                <a:cubicBezTo>
                  <a:pt x="6822017" y="0"/>
                  <a:pt x="6864704" y="42687"/>
                  <a:pt x="6864704" y="95344"/>
                </a:cubicBezTo>
                <a:lnTo>
                  <a:pt x="6864704" y="953430"/>
                </a:lnTo>
                <a:cubicBezTo>
                  <a:pt x="6864704" y="1006087"/>
                  <a:pt x="6822017" y="1048774"/>
                  <a:pt x="6769360" y="1048774"/>
                </a:cubicBezTo>
                <a:lnTo>
                  <a:pt x="47672" y="1048774"/>
                </a:lnTo>
                <a:cubicBezTo>
                  <a:pt x="21343" y="1048774"/>
                  <a:pt x="0" y="1027431"/>
                  <a:pt x="0" y="1001103"/>
                </a:cubicBezTo>
                <a:lnTo>
                  <a:pt x="0" y="47672"/>
                </a:lnTo>
                <a:cubicBezTo>
                  <a:pt x="0" y="21361"/>
                  <a:pt x="21361" y="0"/>
                  <a:pt x="4767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602015" y="2836457"/>
            <a:ext cx="47672" cy="1048774"/>
          </a:xfrm>
          <a:custGeom>
            <a:avLst/>
            <a:gdLst/>
            <a:ahLst/>
            <a:cxnLst/>
            <a:rect l="l" t="t" r="r" b="b"/>
            <a:pathLst>
              <a:path w="47672" h="1048774">
                <a:moveTo>
                  <a:pt x="47672" y="0"/>
                </a:moveTo>
                <a:lnTo>
                  <a:pt x="47672" y="0"/>
                </a:lnTo>
                <a:lnTo>
                  <a:pt x="47672" y="1048774"/>
                </a:lnTo>
                <a:lnTo>
                  <a:pt x="47672" y="1048774"/>
                </a:lnTo>
                <a:cubicBezTo>
                  <a:pt x="21343" y="1048774"/>
                  <a:pt x="0" y="1027431"/>
                  <a:pt x="0" y="1001103"/>
                </a:cubicBezTo>
                <a:lnTo>
                  <a:pt x="0" y="47672"/>
                </a:lnTo>
                <a:cubicBezTo>
                  <a:pt x="0" y="21361"/>
                  <a:pt x="21361" y="0"/>
                  <a:pt x="47672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816537" y="3027144"/>
            <a:ext cx="6554839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设计动机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816537" y="3408516"/>
            <a:ext cx="6554839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为解决分布式系统中</a:t>
            </a:r>
            <a:r>
              <a:rPr lang="en-US" sz="1501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消息乱序</a:t>
            </a:r>
            <a:r>
              <a:rPr lang="en-US" sz="1501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问题，Chubby 引入序列器机制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602015" y="4028246"/>
            <a:ext cx="6864704" cy="1585079"/>
          </a:xfrm>
          <a:custGeom>
            <a:avLst/>
            <a:gdLst/>
            <a:ahLst/>
            <a:cxnLst/>
            <a:rect l="l" t="t" r="r" b="b"/>
            <a:pathLst>
              <a:path w="6864704" h="1585079">
                <a:moveTo>
                  <a:pt x="47672" y="0"/>
                </a:moveTo>
                <a:lnTo>
                  <a:pt x="6769361" y="0"/>
                </a:lnTo>
                <a:cubicBezTo>
                  <a:pt x="6822018" y="0"/>
                  <a:pt x="6864704" y="42686"/>
                  <a:pt x="6864704" y="95343"/>
                </a:cubicBezTo>
                <a:lnTo>
                  <a:pt x="6864704" y="1489737"/>
                </a:lnTo>
                <a:cubicBezTo>
                  <a:pt x="6864704" y="1542393"/>
                  <a:pt x="6822018" y="1585079"/>
                  <a:pt x="6769361" y="1585079"/>
                </a:cubicBezTo>
                <a:lnTo>
                  <a:pt x="47672" y="1585079"/>
                </a:lnTo>
                <a:cubicBezTo>
                  <a:pt x="21343" y="1585079"/>
                  <a:pt x="0" y="1563736"/>
                  <a:pt x="0" y="1537408"/>
                </a:cubicBezTo>
                <a:lnTo>
                  <a:pt x="0" y="47672"/>
                </a:lnTo>
                <a:cubicBezTo>
                  <a:pt x="0" y="21361"/>
                  <a:pt x="21361" y="0"/>
                  <a:pt x="4767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602015" y="4028246"/>
            <a:ext cx="47672" cy="1585079"/>
          </a:xfrm>
          <a:custGeom>
            <a:avLst/>
            <a:gdLst/>
            <a:ahLst/>
            <a:cxnLst/>
            <a:rect l="l" t="t" r="r" b="b"/>
            <a:pathLst>
              <a:path w="47672" h="1585079">
                <a:moveTo>
                  <a:pt x="47672" y="0"/>
                </a:moveTo>
                <a:lnTo>
                  <a:pt x="47672" y="0"/>
                </a:lnTo>
                <a:lnTo>
                  <a:pt x="47672" y="1585079"/>
                </a:lnTo>
                <a:lnTo>
                  <a:pt x="47672" y="1585079"/>
                </a:lnTo>
                <a:cubicBezTo>
                  <a:pt x="21343" y="1585079"/>
                  <a:pt x="0" y="1563736"/>
                  <a:pt x="0" y="1537408"/>
                </a:cubicBezTo>
                <a:lnTo>
                  <a:pt x="0" y="47672"/>
                </a:lnTo>
                <a:cubicBezTo>
                  <a:pt x="0" y="21361"/>
                  <a:pt x="21361" y="0"/>
                  <a:pt x="47672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816537" y="4218933"/>
            <a:ext cx="6554839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序列器包含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816537" y="4647977"/>
            <a:ext cx="2085630" cy="774663"/>
          </a:xfrm>
          <a:custGeom>
            <a:avLst/>
            <a:gdLst/>
            <a:ahLst/>
            <a:cxnLst/>
            <a:rect l="l" t="t" r="r" b="b"/>
            <a:pathLst>
              <a:path w="2085630" h="774663">
                <a:moveTo>
                  <a:pt x="47673" y="0"/>
                </a:moveTo>
                <a:lnTo>
                  <a:pt x="2037958" y="0"/>
                </a:lnTo>
                <a:cubicBezTo>
                  <a:pt x="2064287" y="0"/>
                  <a:pt x="2085630" y="21344"/>
                  <a:pt x="2085630" y="47673"/>
                </a:cubicBezTo>
                <a:lnTo>
                  <a:pt x="2085630" y="726990"/>
                </a:lnTo>
                <a:cubicBezTo>
                  <a:pt x="2085630" y="753319"/>
                  <a:pt x="2064287" y="774663"/>
                  <a:pt x="2037958" y="774663"/>
                </a:cubicBezTo>
                <a:lnTo>
                  <a:pt x="47673" y="774663"/>
                </a:lnTo>
                <a:cubicBezTo>
                  <a:pt x="21344" y="774663"/>
                  <a:pt x="0" y="753319"/>
                  <a:pt x="0" y="726990"/>
                </a:cubicBezTo>
                <a:lnTo>
                  <a:pt x="0" y="47673"/>
                </a:lnTo>
                <a:cubicBezTo>
                  <a:pt x="0" y="21344"/>
                  <a:pt x="21344" y="0"/>
                  <a:pt x="47673" y="0"/>
                </a:cubicBezTo>
                <a:close/>
              </a:path>
            </a:pathLst>
          </a:custGeom>
          <a:solidFill>
            <a:srgbClr val="5A7D9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9729746" y="4820786"/>
            <a:ext cx="268152" cy="214522"/>
          </a:xfrm>
          <a:custGeom>
            <a:avLst/>
            <a:gdLst/>
            <a:ahLst/>
            <a:cxnLst/>
            <a:rect l="l" t="t" r="r" b="b"/>
            <a:pathLst>
              <a:path w="268152" h="214522">
                <a:moveTo>
                  <a:pt x="26857" y="26815"/>
                </a:moveTo>
                <a:cubicBezTo>
                  <a:pt x="26857" y="12025"/>
                  <a:pt x="38882" y="0"/>
                  <a:pt x="53672" y="0"/>
                </a:cubicBezTo>
                <a:lnTo>
                  <a:pt x="116311" y="0"/>
                </a:lnTo>
                <a:cubicBezTo>
                  <a:pt x="123434" y="0"/>
                  <a:pt x="130263" y="2807"/>
                  <a:pt x="135291" y="7835"/>
                </a:cubicBezTo>
                <a:lnTo>
                  <a:pt x="179872" y="52499"/>
                </a:lnTo>
                <a:cubicBezTo>
                  <a:pt x="184900" y="57527"/>
                  <a:pt x="187707" y="64357"/>
                  <a:pt x="187707" y="71479"/>
                </a:cubicBezTo>
                <a:lnTo>
                  <a:pt x="187707" y="112331"/>
                </a:lnTo>
                <a:lnTo>
                  <a:pt x="132400" y="167637"/>
                </a:lnTo>
                <a:lnTo>
                  <a:pt x="114761" y="167637"/>
                </a:lnTo>
                <a:lnTo>
                  <a:pt x="108015" y="145179"/>
                </a:lnTo>
                <a:cubicBezTo>
                  <a:pt x="106046" y="138601"/>
                  <a:pt x="100012" y="134118"/>
                  <a:pt x="93141" y="134118"/>
                </a:cubicBezTo>
                <a:cubicBezTo>
                  <a:pt x="88407" y="134118"/>
                  <a:pt x="83965" y="136255"/>
                  <a:pt x="81032" y="139942"/>
                </a:cubicBezTo>
                <a:lnTo>
                  <a:pt x="55851" y="171366"/>
                </a:lnTo>
                <a:cubicBezTo>
                  <a:pt x="52374" y="175682"/>
                  <a:pt x="53086" y="182050"/>
                  <a:pt x="57401" y="185486"/>
                </a:cubicBezTo>
                <a:cubicBezTo>
                  <a:pt x="61717" y="188922"/>
                  <a:pt x="68086" y="188251"/>
                  <a:pt x="71521" y="183894"/>
                </a:cubicBezTo>
                <a:lnTo>
                  <a:pt x="91256" y="159257"/>
                </a:lnTo>
                <a:lnTo>
                  <a:pt x="97624" y="180500"/>
                </a:lnTo>
                <a:cubicBezTo>
                  <a:pt x="98881" y="184774"/>
                  <a:pt x="102820" y="187665"/>
                  <a:pt x="107261" y="187665"/>
                </a:cubicBezTo>
                <a:lnTo>
                  <a:pt x="120459" y="187665"/>
                </a:lnTo>
                <a:cubicBezTo>
                  <a:pt x="120082" y="188964"/>
                  <a:pt x="119747" y="190304"/>
                  <a:pt x="119495" y="191645"/>
                </a:cubicBezTo>
                <a:lnTo>
                  <a:pt x="114928" y="214480"/>
                </a:lnTo>
                <a:lnTo>
                  <a:pt x="53672" y="214480"/>
                </a:lnTo>
                <a:cubicBezTo>
                  <a:pt x="38882" y="214480"/>
                  <a:pt x="26857" y="202455"/>
                  <a:pt x="26857" y="187665"/>
                </a:cubicBezTo>
                <a:lnTo>
                  <a:pt x="26857" y="26773"/>
                </a:lnTo>
                <a:close/>
                <a:moveTo>
                  <a:pt x="114007" y="24511"/>
                </a:moveTo>
                <a:lnTo>
                  <a:pt x="114007" y="63686"/>
                </a:lnTo>
                <a:cubicBezTo>
                  <a:pt x="114007" y="69259"/>
                  <a:pt x="118490" y="73742"/>
                  <a:pt x="124062" y="73742"/>
                </a:cubicBezTo>
                <a:lnTo>
                  <a:pt x="163238" y="73742"/>
                </a:lnTo>
                <a:lnTo>
                  <a:pt x="114007" y="24511"/>
                </a:lnTo>
                <a:close/>
                <a:moveTo>
                  <a:pt x="139230" y="195626"/>
                </a:moveTo>
                <a:cubicBezTo>
                  <a:pt x="140277" y="190430"/>
                  <a:pt x="142833" y="185654"/>
                  <a:pt x="146562" y="181925"/>
                </a:cubicBezTo>
                <a:lnTo>
                  <a:pt x="196380" y="132107"/>
                </a:lnTo>
                <a:lnTo>
                  <a:pt x="229899" y="165626"/>
                </a:lnTo>
                <a:lnTo>
                  <a:pt x="180081" y="215444"/>
                </a:lnTo>
                <a:cubicBezTo>
                  <a:pt x="176352" y="219173"/>
                  <a:pt x="171576" y="221729"/>
                  <a:pt x="166380" y="222776"/>
                </a:cubicBezTo>
                <a:lnTo>
                  <a:pt x="141409" y="227762"/>
                </a:lnTo>
                <a:cubicBezTo>
                  <a:pt x="141031" y="227846"/>
                  <a:pt x="140612" y="227888"/>
                  <a:pt x="140193" y="227888"/>
                </a:cubicBezTo>
                <a:cubicBezTo>
                  <a:pt x="136842" y="227888"/>
                  <a:pt x="134076" y="225164"/>
                  <a:pt x="134076" y="221770"/>
                </a:cubicBezTo>
                <a:cubicBezTo>
                  <a:pt x="134076" y="221352"/>
                  <a:pt x="134118" y="220974"/>
                  <a:pt x="134202" y="220555"/>
                </a:cubicBezTo>
                <a:lnTo>
                  <a:pt x="139188" y="195584"/>
                </a:lnTo>
                <a:close/>
                <a:moveTo>
                  <a:pt x="251435" y="144090"/>
                </a:moveTo>
                <a:lnTo>
                  <a:pt x="239368" y="156157"/>
                </a:lnTo>
                <a:lnTo>
                  <a:pt x="205849" y="122638"/>
                </a:lnTo>
                <a:lnTo>
                  <a:pt x="217916" y="110571"/>
                </a:lnTo>
                <a:cubicBezTo>
                  <a:pt x="227175" y="101311"/>
                  <a:pt x="242175" y="101311"/>
                  <a:pt x="251435" y="110571"/>
                </a:cubicBezTo>
                <a:cubicBezTo>
                  <a:pt x="260695" y="119831"/>
                  <a:pt x="260695" y="134830"/>
                  <a:pt x="251435" y="14409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923798" y="5082979"/>
            <a:ext cx="1871109" cy="190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26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锁的名称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1000584" y="4647977"/>
            <a:ext cx="2085630" cy="774663"/>
          </a:xfrm>
          <a:custGeom>
            <a:avLst/>
            <a:gdLst/>
            <a:ahLst/>
            <a:cxnLst/>
            <a:rect l="l" t="t" r="r" b="b"/>
            <a:pathLst>
              <a:path w="2085630" h="774663">
                <a:moveTo>
                  <a:pt x="47673" y="0"/>
                </a:moveTo>
                <a:lnTo>
                  <a:pt x="2037958" y="0"/>
                </a:lnTo>
                <a:cubicBezTo>
                  <a:pt x="2064287" y="0"/>
                  <a:pt x="2085630" y="21344"/>
                  <a:pt x="2085630" y="47673"/>
                </a:cubicBezTo>
                <a:lnTo>
                  <a:pt x="2085630" y="726990"/>
                </a:lnTo>
                <a:cubicBezTo>
                  <a:pt x="2085630" y="753319"/>
                  <a:pt x="2064287" y="774663"/>
                  <a:pt x="2037958" y="774663"/>
                </a:cubicBezTo>
                <a:lnTo>
                  <a:pt x="47673" y="774663"/>
                </a:lnTo>
                <a:cubicBezTo>
                  <a:pt x="21344" y="774663"/>
                  <a:pt x="0" y="753319"/>
                  <a:pt x="0" y="726990"/>
                </a:cubicBezTo>
                <a:lnTo>
                  <a:pt x="0" y="47673"/>
                </a:lnTo>
                <a:cubicBezTo>
                  <a:pt x="0" y="21344"/>
                  <a:pt x="21344" y="0"/>
                  <a:pt x="47673" y="0"/>
                </a:cubicBezTo>
                <a:close/>
              </a:path>
            </a:pathLst>
          </a:custGeom>
          <a:solidFill>
            <a:srgbClr val="4DB3A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1967422" y="4820786"/>
            <a:ext cx="160891" cy="214522"/>
          </a:xfrm>
          <a:custGeom>
            <a:avLst/>
            <a:gdLst/>
            <a:ahLst/>
            <a:cxnLst/>
            <a:rect l="l" t="t" r="r" b="b"/>
            <a:pathLst>
              <a:path w="160891" h="214522">
                <a:moveTo>
                  <a:pt x="53630" y="40223"/>
                </a:moveTo>
                <a:lnTo>
                  <a:pt x="53630" y="67038"/>
                </a:lnTo>
                <a:lnTo>
                  <a:pt x="107261" y="67038"/>
                </a:lnTo>
                <a:lnTo>
                  <a:pt x="107261" y="40223"/>
                </a:lnTo>
                <a:cubicBezTo>
                  <a:pt x="107261" y="25433"/>
                  <a:pt x="95236" y="13408"/>
                  <a:pt x="80446" y="13408"/>
                </a:cubicBezTo>
                <a:cubicBezTo>
                  <a:pt x="65655" y="13408"/>
                  <a:pt x="53630" y="25433"/>
                  <a:pt x="53630" y="40223"/>
                </a:cubicBezTo>
                <a:close/>
                <a:moveTo>
                  <a:pt x="26815" y="67038"/>
                </a:moveTo>
                <a:lnTo>
                  <a:pt x="26815" y="40223"/>
                </a:lnTo>
                <a:cubicBezTo>
                  <a:pt x="26815" y="10600"/>
                  <a:pt x="50823" y="-13408"/>
                  <a:pt x="80446" y="-13408"/>
                </a:cubicBezTo>
                <a:cubicBezTo>
                  <a:pt x="110068" y="-13408"/>
                  <a:pt x="134076" y="10600"/>
                  <a:pt x="134076" y="40223"/>
                </a:cubicBezTo>
                <a:lnTo>
                  <a:pt x="134076" y="67038"/>
                </a:lnTo>
                <a:cubicBezTo>
                  <a:pt x="148867" y="67038"/>
                  <a:pt x="160891" y="79063"/>
                  <a:pt x="160891" y="93853"/>
                </a:cubicBezTo>
                <a:lnTo>
                  <a:pt x="160891" y="187707"/>
                </a:lnTo>
                <a:cubicBezTo>
                  <a:pt x="160891" y="202497"/>
                  <a:pt x="148867" y="214522"/>
                  <a:pt x="134076" y="214522"/>
                </a:cubicBezTo>
                <a:lnTo>
                  <a:pt x="26815" y="214522"/>
                </a:lnTo>
                <a:cubicBezTo>
                  <a:pt x="12025" y="214522"/>
                  <a:pt x="0" y="202497"/>
                  <a:pt x="0" y="187707"/>
                </a:cubicBezTo>
                <a:lnTo>
                  <a:pt x="0" y="93853"/>
                </a:lnTo>
                <a:cubicBezTo>
                  <a:pt x="0" y="79063"/>
                  <a:pt x="12025" y="67038"/>
                  <a:pt x="26815" y="67038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1107845" y="5082979"/>
            <a:ext cx="1871109" cy="190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26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锁模式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3184630" y="4647977"/>
            <a:ext cx="2085630" cy="774663"/>
          </a:xfrm>
          <a:custGeom>
            <a:avLst/>
            <a:gdLst/>
            <a:ahLst/>
            <a:cxnLst/>
            <a:rect l="l" t="t" r="r" b="b"/>
            <a:pathLst>
              <a:path w="2085630" h="774663">
                <a:moveTo>
                  <a:pt x="47673" y="0"/>
                </a:moveTo>
                <a:lnTo>
                  <a:pt x="2037958" y="0"/>
                </a:lnTo>
                <a:cubicBezTo>
                  <a:pt x="2064287" y="0"/>
                  <a:pt x="2085630" y="21344"/>
                  <a:pt x="2085630" y="47673"/>
                </a:cubicBezTo>
                <a:lnTo>
                  <a:pt x="2085630" y="726990"/>
                </a:lnTo>
                <a:cubicBezTo>
                  <a:pt x="2085630" y="753319"/>
                  <a:pt x="2064287" y="774663"/>
                  <a:pt x="2037958" y="774663"/>
                </a:cubicBezTo>
                <a:lnTo>
                  <a:pt x="47673" y="774663"/>
                </a:lnTo>
                <a:cubicBezTo>
                  <a:pt x="21344" y="774663"/>
                  <a:pt x="0" y="753319"/>
                  <a:pt x="0" y="726990"/>
                </a:cubicBezTo>
                <a:lnTo>
                  <a:pt x="0" y="47673"/>
                </a:lnTo>
                <a:cubicBezTo>
                  <a:pt x="0" y="21344"/>
                  <a:pt x="21344" y="0"/>
                  <a:pt x="47673" y="0"/>
                </a:cubicBezTo>
                <a:close/>
              </a:path>
            </a:pathLst>
          </a:custGeom>
          <a:solidFill>
            <a:srgbClr val="E1AF6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14124746" y="4820786"/>
            <a:ext cx="214522" cy="214522"/>
          </a:xfrm>
          <a:custGeom>
            <a:avLst/>
            <a:gdLst/>
            <a:ahLst/>
            <a:cxnLst/>
            <a:rect l="l" t="t" r="r" b="b"/>
            <a:pathLst>
              <a:path w="214522" h="214522">
                <a:moveTo>
                  <a:pt x="89957" y="293"/>
                </a:moveTo>
                <a:cubicBezTo>
                  <a:pt x="97205" y="1844"/>
                  <a:pt x="101814" y="8966"/>
                  <a:pt x="100264" y="16215"/>
                </a:cubicBezTo>
                <a:lnTo>
                  <a:pt x="92261" y="53630"/>
                </a:lnTo>
                <a:lnTo>
                  <a:pt x="145263" y="53630"/>
                </a:lnTo>
                <a:lnTo>
                  <a:pt x="154481" y="10600"/>
                </a:lnTo>
                <a:cubicBezTo>
                  <a:pt x="156031" y="3352"/>
                  <a:pt x="163154" y="-1257"/>
                  <a:pt x="170403" y="293"/>
                </a:cubicBezTo>
                <a:cubicBezTo>
                  <a:pt x="177651" y="1844"/>
                  <a:pt x="182260" y="8966"/>
                  <a:pt x="180710" y="16215"/>
                </a:cubicBezTo>
                <a:lnTo>
                  <a:pt x="172707" y="53630"/>
                </a:lnTo>
                <a:lnTo>
                  <a:pt x="201114" y="53630"/>
                </a:lnTo>
                <a:cubicBezTo>
                  <a:pt x="208530" y="53630"/>
                  <a:pt x="214522" y="59622"/>
                  <a:pt x="214522" y="67038"/>
                </a:cubicBezTo>
                <a:cubicBezTo>
                  <a:pt x="214522" y="74454"/>
                  <a:pt x="208530" y="80446"/>
                  <a:pt x="201114" y="80446"/>
                </a:cubicBezTo>
                <a:lnTo>
                  <a:pt x="166925" y="80446"/>
                </a:lnTo>
                <a:lnTo>
                  <a:pt x="155445" y="134076"/>
                </a:lnTo>
                <a:lnTo>
                  <a:pt x="183852" y="134076"/>
                </a:lnTo>
                <a:cubicBezTo>
                  <a:pt x="191268" y="134076"/>
                  <a:pt x="197260" y="140068"/>
                  <a:pt x="197260" y="147484"/>
                </a:cubicBezTo>
                <a:cubicBezTo>
                  <a:pt x="197260" y="154900"/>
                  <a:pt x="191268" y="160891"/>
                  <a:pt x="183852" y="160891"/>
                </a:cubicBezTo>
                <a:lnTo>
                  <a:pt x="149663" y="160891"/>
                </a:lnTo>
                <a:lnTo>
                  <a:pt x="140445" y="203922"/>
                </a:lnTo>
                <a:cubicBezTo>
                  <a:pt x="138895" y="211170"/>
                  <a:pt x="131772" y="215779"/>
                  <a:pt x="124523" y="214229"/>
                </a:cubicBezTo>
                <a:cubicBezTo>
                  <a:pt x="117275" y="212678"/>
                  <a:pt x="112666" y="205556"/>
                  <a:pt x="114216" y="198307"/>
                </a:cubicBezTo>
                <a:lnTo>
                  <a:pt x="122219" y="160891"/>
                </a:lnTo>
                <a:lnTo>
                  <a:pt x="69217" y="160891"/>
                </a:lnTo>
                <a:lnTo>
                  <a:pt x="59999" y="203922"/>
                </a:lnTo>
                <a:cubicBezTo>
                  <a:pt x="58449" y="211170"/>
                  <a:pt x="51326" y="215779"/>
                  <a:pt x="44078" y="214229"/>
                </a:cubicBezTo>
                <a:cubicBezTo>
                  <a:pt x="36829" y="212678"/>
                  <a:pt x="32220" y="205556"/>
                  <a:pt x="33770" y="198307"/>
                </a:cubicBezTo>
                <a:lnTo>
                  <a:pt x="41815" y="160891"/>
                </a:lnTo>
                <a:lnTo>
                  <a:pt x="13408" y="160891"/>
                </a:lnTo>
                <a:cubicBezTo>
                  <a:pt x="5992" y="160891"/>
                  <a:pt x="0" y="154900"/>
                  <a:pt x="0" y="147484"/>
                </a:cubicBezTo>
                <a:cubicBezTo>
                  <a:pt x="0" y="140068"/>
                  <a:pt x="5992" y="134076"/>
                  <a:pt x="13408" y="134076"/>
                </a:cubicBezTo>
                <a:lnTo>
                  <a:pt x="47597" y="134076"/>
                </a:lnTo>
                <a:lnTo>
                  <a:pt x="59077" y="80446"/>
                </a:lnTo>
                <a:lnTo>
                  <a:pt x="30670" y="80446"/>
                </a:lnTo>
                <a:cubicBezTo>
                  <a:pt x="23254" y="80446"/>
                  <a:pt x="17262" y="74454"/>
                  <a:pt x="17262" y="67038"/>
                </a:cubicBezTo>
                <a:cubicBezTo>
                  <a:pt x="17262" y="59622"/>
                  <a:pt x="23254" y="53630"/>
                  <a:pt x="30670" y="53630"/>
                </a:cubicBezTo>
                <a:lnTo>
                  <a:pt x="64859" y="53630"/>
                </a:lnTo>
                <a:lnTo>
                  <a:pt x="74077" y="10600"/>
                </a:lnTo>
                <a:cubicBezTo>
                  <a:pt x="75585" y="3352"/>
                  <a:pt x="82708" y="-1257"/>
                  <a:pt x="89957" y="293"/>
                </a:cubicBezTo>
                <a:close/>
                <a:moveTo>
                  <a:pt x="86479" y="80446"/>
                </a:moveTo>
                <a:lnTo>
                  <a:pt x="74999" y="134076"/>
                </a:lnTo>
                <a:lnTo>
                  <a:pt x="128001" y="134076"/>
                </a:lnTo>
                <a:lnTo>
                  <a:pt x="139481" y="80446"/>
                </a:lnTo>
                <a:lnTo>
                  <a:pt x="86479" y="80446"/>
                </a:ln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3291891" y="5082979"/>
            <a:ext cx="1871109" cy="190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26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锁生成编号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602015" y="5870305"/>
            <a:ext cx="6864704" cy="1239460"/>
          </a:xfrm>
          <a:custGeom>
            <a:avLst/>
            <a:gdLst/>
            <a:ahLst/>
            <a:cxnLst/>
            <a:rect l="l" t="t" r="r" b="b"/>
            <a:pathLst>
              <a:path w="6864704" h="1239460">
                <a:moveTo>
                  <a:pt x="47672" y="0"/>
                </a:moveTo>
                <a:lnTo>
                  <a:pt x="6769365" y="0"/>
                </a:lnTo>
                <a:cubicBezTo>
                  <a:pt x="6822019" y="0"/>
                  <a:pt x="6864704" y="42685"/>
                  <a:pt x="6864704" y="95339"/>
                </a:cubicBezTo>
                <a:lnTo>
                  <a:pt x="6864704" y="1144121"/>
                </a:lnTo>
                <a:cubicBezTo>
                  <a:pt x="6864704" y="1196776"/>
                  <a:pt x="6822019" y="1239460"/>
                  <a:pt x="6769365" y="1239460"/>
                </a:cubicBezTo>
                <a:lnTo>
                  <a:pt x="47672" y="1239460"/>
                </a:lnTo>
                <a:cubicBezTo>
                  <a:pt x="21343" y="1239460"/>
                  <a:pt x="0" y="1218117"/>
                  <a:pt x="0" y="1191789"/>
                </a:cubicBezTo>
                <a:lnTo>
                  <a:pt x="0" y="47672"/>
                </a:lnTo>
                <a:cubicBezTo>
                  <a:pt x="0" y="21361"/>
                  <a:pt x="21361" y="0"/>
                  <a:pt x="4767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602015" y="5870305"/>
            <a:ext cx="47672" cy="1239460"/>
          </a:xfrm>
          <a:custGeom>
            <a:avLst/>
            <a:gdLst/>
            <a:ahLst/>
            <a:cxnLst/>
            <a:rect l="l" t="t" r="r" b="b"/>
            <a:pathLst>
              <a:path w="47672" h="1239460">
                <a:moveTo>
                  <a:pt x="47672" y="0"/>
                </a:moveTo>
                <a:lnTo>
                  <a:pt x="47672" y="0"/>
                </a:lnTo>
                <a:lnTo>
                  <a:pt x="47672" y="1239460"/>
                </a:lnTo>
                <a:lnTo>
                  <a:pt x="47672" y="1239460"/>
                </a:lnTo>
                <a:cubicBezTo>
                  <a:pt x="21343" y="1239460"/>
                  <a:pt x="0" y="1218117"/>
                  <a:pt x="0" y="1191789"/>
                </a:cubicBezTo>
                <a:lnTo>
                  <a:pt x="0" y="47672"/>
                </a:lnTo>
                <a:cubicBezTo>
                  <a:pt x="0" y="21361"/>
                  <a:pt x="21361" y="0"/>
                  <a:pt x="47672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816537" y="6060991"/>
            <a:ext cx="6554839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工作流程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816537" y="6442364"/>
            <a:ext cx="6542921" cy="47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4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客户端将序列器传递给文件服务器，服务器验证序列器并保护客户端在给定锁模式下的操作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00551" y="7365380"/>
            <a:ext cx="15278733" cy="1608915"/>
          </a:xfrm>
          <a:custGeom>
            <a:avLst/>
            <a:gdLst/>
            <a:ahLst/>
            <a:cxnLst/>
            <a:rect l="l" t="t" r="r" b="b"/>
            <a:pathLst>
              <a:path w="15278733" h="1608915">
                <a:moveTo>
                  <a:pt x="47672" y="0"/>
                </a:moveTo>
                <a:lnTo>
                  <a:pt x="15135717" y="0"/>
                </a:lnTo>
                <a:cubicBezTo>
                  <a:pt x="15214702" y="0"/>
                  <a:pt x="15278733" y="64031"/>
                  <a:pt x="15278733" y="143016"/>
                </a:cubicBezTo>
                <a:lnTo>
                  <a:pt x="15278733" y="1465899"/>
                </a:lnTo>
                <a:cubicBezTo>
                  <a:pt x="15278733" y="1544884"/>
                  <a:pt x="15214702" y="1608915"/>
                  <a:pt x="15135717" y="1608915"/>
                </a:cubicBezTo>
                <a:lnTo>
                  <a:pt x="47672" y="1608915"/>
                </a:lnTo>
                <a:cubicBezTo>
                  <a:pt x="21343" y="1608915"/>
                  <a:pt x="0" y="1587572"/>
                  <a:pt x="0" y="1561243"/>
                </a:cubicBezTo>
                <a:lnTo>
                  <a:pt x="0" y="47672"/>
                </a:lnTo>
                <a:cubicBezTo>
                  <a:pt x="0" y="21361"/>
                  <a:pt x="21361" y="0"/>
                  <a:pt x="47672" y="0"/>
                </a:cubicBezTo>
                <a:close/>
              </a:path>
            </a:pathLst>
          </a:custGeom>
          <a:gradFill flip="none" rotWithShape="1">
            <a:gsLst>
              <a:gs pos="0">
                <a:srgbClr val="5A7D9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500551" y="7365380"/>
            <a:ext cx="47672" cy="1608915"/>
          </a:xfrm>
          <a:custGeom>
            <a:avLst/>
            <a:gdLst/>
            <a:ahLst/>
            <a:cxnLst/>
            <a:rect l="l" t="t" r="r" b="b"/>
            <a:pathLst>
              <a:path w="47672" h="1608915">
                <a:moveTo>
                  <a:pt x="47672" y="0"/>
                </a:moveTo>
                <a:lnTo>
                  <a:pt x="47672" y="0"/>
                </a:lnTo>
                <a:lnTo>
                  <a:pt x="47672" y="1608915"/>
                </a:lnTo>
                <a:lnTo>
                  <a:pt x="47672" y="1608915"/>
                </a:lnTo>
                <a:cubicBezTo>
                  <a:pt x="21343" y="1608915"/>
                  <a:pt x="0" y="1587572"/>
                  <a:pt x="0" y="1561243"/>
                </a:cubicBezTo>
                <a:lnTo>
                  <a:pt x="0" y="47672"/>
                </a:lnTo>
                <a:cubicBezTo>
                  <a:pt x="0" y="21361"/>
                  <a:pt x="21361" y="0"/>
                  <a:pt x="47672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762745" y="7603738"/>
            <a:ext cx="572059" cy="572059"/>
          </a:xfrm>
          <a:custGeom>
            <a:avLst/>
            <a:gdLst/>
            <a:ahLst/>
            <a:cxnLst/>
            <a:rect l="l" t="t" r="r" b="b"/>
            <a:pathLst>
              <a:path w="572059" h="572059">
                <a:moveTo>
                  <a:pt x="95345" y="0"/>
                </a:moveTo>
                <a:lnTo>
                  <a:pt x="476714" y="0"/>
                </a:lnTo>
                <a:cubicBezTo>
                  <a:pt x="529371" y="0"/>
                  <a:pt x="572059" y="42687"/>
                  <a:pt x="572059" y="95345"/>
                </a:cubicBezTo>
                <a:lnTo>
                  <a:pt x="572059" y="476714"/>
                </a:lnTo>
                <a:cubicBezTo>
                  <a:pt x="572059" y="529371"/>
                  <a:pt x="529371" y="572059"/>
                  <a:pt x="476714" y="572059"/>
                </a:cubicBezTo>
                <a:lnTo>
                  <a:pt x="95345" y="572059"/>
                </a:lnTo>
                <a:cubicBezTo>
                  <a:pt x="42687" y="572059"/>
                  <a:pt x="0" y="529371"/>
                  <a:pt x="0" y="476714"/>
                </a:cubicBezTo>
                <a:lnTo>
                  <a:pt x="0" y="95345"/>
                </a:lnTo>
                <a:cubicBezTo>
                  <a:pt x="0" y="42687"/>
                  <a:pt x="42687" y="0"/>
                  <a:pt x="95345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959390" y="7770588"/>
            <a:ext cx="178768" cy="238358"/>
          </a:xfrm>
          <a:custGeom>
            <a:avLst/>
            <a:gdLst/>
            <a:ahLst/>
            <a:cxnLst/>
            <a:rect l="l" t="t" r="r" b="b"/>
            <a:pathLst>
              <a:path w="178768" h="238358">
                <a:moveTo>
                  <a:pt x="136357" y="178768"/>
                </a:moveTo>
                <a:cubicBezTo>
                  <a:pt x="139756" y="168387"/>
                  <a:pt x="146553" y="158983"/>
                  <a:pt x="154234" y="150882"/>
                </a:cubicBezTo>
                <a:cubicBezTo>
                  <a:pt x="169457" y="134868"/>
                  <a:pt x="178768" y="113220"/>
                  <a:pt x="178768" y="89384"/>
                </a:cubicBezTo>
                <a:cubicBezTo>
                  <a:pt x="178768" y="40037"/>
                  <a:pt x="138732" y="0"/>
                  <a:pt x="89384" y="0"/>
                </a:cubicBezTo>
                <a:cubicBezTo>
                  <a:pt x="40037" y="0"/>
                  <a:pt x="0" y="40037"/>
                  <a:pt x="0" y="89384"/>
                </a:cubicBezTo>
                <a:cubicBezTo>
                  <a:pt x="0" y="113220"/>
                  <a:pt x="9311" y="134868"/>
                  <a:pt x="24534" y="150882"/>
                </a:cubicBezTo>
                <a:cubicBezTo>
                  <a:pt x="32216" y="158983"/>
                  <a:pt x="39059" y="168387"/>
                  <a:pt x="42411" y="178768"/>
                </a:cubicBezTo>
                <a:lnTo>
                  <a:pt x="136311" y="178768"/>
                </a:lnTo>
                <a:close/>
                <a:moveTo>
                  <a:pt x="134076" y="201114"/>
                </a:moveTo>
                <a:lnTo>
                  <a:pt x="44692" y="201114"/>
                </a:lnTo>
                <a:lnTo>
                  <a:pt x="44692" y="208563"/>
                </a:lnTo>
                <a:cubicBezTo>
                  <a:pt x="44692" y="229140"/>
                  <a:pt x="61359" y="245806"/>
                  <a:pt x="81935" y="245806"/>
                </a:cubicBezTo>
                <a:lnTo>
                  <a:pt x="96833" y="245806"/>
                </a:lnTo>
                <a:cubicBezTo>
                  <a:pt x="117410" y="245806"/>
                  <a:pt x="134076" y="229140"/>
                  <a:pt x="134076" y="208563"/>
                </a:cubicBezTo>
                <a:lnTo>
                  <a:pt x="134076" y="201114"/>
                </a:lnTo>
                <a:close/>
                <a:moveTo>
                  <a:pt x="85660" y="52141"/>
                </a:moveTo>
                <a:cubicBezTo>
                  <a:pt x="67131" y="52141"/>
                  <a:pt x="52141" y="67131"/>
                  <a:pt x="52141" y="85660"/>
                </a:cubicBezTo>
                <a:cubicBezTo>
                  <a:pt x="52141" y="91852"/>
                  <a:pt x="47159" y="96833"/>
                  <a:pt x="40968" y="96833"/>
                </a:cubicBezTo>
                <a:cubicBezTo>
                  <a:pt x="34776" y="96833"/>
                  <a:pt x="29795" y="91852"/>
                  <a:pt x="29795" y="85660"/>
                </a:cubicBezTo>
                <a:cubicBezTo>
                  <a:pt x="29795" y="54794"/>
                  <a:pt x="54794" y="29795"/>
                  <a:pt x="85660" y="29795"/>
                </a:cubicBezTo>
                <a:cubicBezTo>
                  <a:pt x="91852" y="29795"/>
                  <a:pt x="96833" y="34776"/>
                  <a:pt x="96833" y="40968"/>
                </a:cubicBezTo>
                <a:cubicBezTo>
                  <a:pt x="96833" y="47159"/>
                  <a:pt x="91852" y="52141"/>
                  <a:pt x="85660" y="52141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525490" y="7603738"/>
            <a:ext cx="14134616" cy="333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77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工程实践的智慧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525490" y="8032782"/>
            <a:ext cx="14122698" cy="70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89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咨询锁和序列器的设计体现了 Chubby </a:t>
            </a:r>
            <a:r>
              <a:rPr lang="en-US" sz="1689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对工程实践的深刻理解</a:t>
            </a:r>
            <a:r>
              <a:rPr lang="en-US" sz="1689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。咨询锁简化了系统设计，降低了维护成本；序列器则巧妙地解决了分布式系统中的时序问题。这些设计选择表明，</a:t>
            </a:r>
            <a:r>
              <a:rPr lang="en-US" sz="1689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实用的解决方案</a:t>
            </a:r>
            <a:r>
              <a:rPr lang="en-US" sz="1689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往往比复杂的强制机制更有效。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 OPTIMIZATION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缓存机制与事件通知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784350"/>
            <a:ext cx="7454900" cy="7124700"/>
          </a:xfrm>
          <a:custGeom>
            <a:avLst/>
            <a:gdLst/>
            <a:ahLst/>
            <a:cxnLst/>
            <a:rect l="l" t="t" r="r" b="b"/>
            <a:pathLst>
              <a:path w="7454900" h="7124700">
                <a:moveTo>
                  <a:pt x="152397" y="0"/>
                </a:moveTo>
                <a:lnTo>
                  <a:pt x="7302503" y="0"/>
                </a:lnTo>
                <a:cubicBezTo>
                  <a:pt x="7386669" y="0"/>
                  <a:pt x="7454900" y="68231"/>
                  <a:pt x="7454900" y="152397"/>
                </a:cubicBezTo>
                <a:lnTo>
                  <a:pt x="7454900" y="6972303"/>
                </a:lnTo>
                <a:cubicBezTo>
                  <a:pt x="7454900" y="7056469"/>
                  <a:pt x="7386669" y="7124700"/>
                  <a:pt x="7302503" y="7124700"/>
                </a:cubicBezTo>
                <a:lnTo>
                  <a:pt x="152397" y="7124700"/>
                </a:lnTo>
                <a:cubicBezTo>
                  <a:pt x="68231" y="7124700"/>
                  <a:pt x="0" y="7056469"/>
                  <a:pt x="0" y="69723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5A7D9A">
                  <a:alpha val="30000"/>
                </a:srgbClr>
              </a:gs>
              <a:gs pos="100000">
                <a:srgbClr val="5A7D9A">
                  <a:alpha val="10000"/>
                </a:srgbClr>
              </a:gs>
            </a:gsLst>
            <a:lin ang="2700000" scaled="1"/>
          </a:gradFill>
          <a:ln w="12700">
            <a:solidFill>
              <a:srgbClr val="5A7D9A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63600" y="2146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17085" y="38100"/>
                  <a:pt x="0" y="55185"/>
                  <a:pt x="0" y="76200"/>
                </a:cubicBezTo>
                <a:lnTo>
                  <a:pt x="0" y="80605"/>
                </a:lnTo>
                <a:cubicBezTo>
                  <a:pt x="0" y="84653"/>
                  <a:pt x="2619" y="88106"/>
                  <a:pt x="6013" y="90309"/>
                </a:cubicBezTo>
                <a:cubicBezTo>
                  <a:pt x="13871" y="95429"/>
                  <a:pt x="19050" y="104239"/>
                  <a:pt x="19050" y="114300"/>
                </a:cubicBezTo>
                <a:cubicBezTo>
                  <a:pt x="19050" y="124361"/>
                  <a:pt x="13871" y="133171"/>
                  <a:pt x="6013" y="138291"/>
                </a:cubicBezTo>
                <a:cubicBezTo>
                  <a:pt x="2619" y="140494"/>
                  <a:pt x="0" y="143947"/>
                  <a:pt x="0" y="147995"/>
                </a:cubicBezTo>
                <a:lnTo>
                  <a:pt x="0" y="180975"/>
                </a:lnTo>
                <a:lnTo>
                  <a:pt x="304800" y="180975"/>
                </a:lnTo>
                <a:lnTo>
                  <a:pt x="304800" y="147995"/>
                </a:lnTo>
                <a:cubicBezTo>
                  <a:pt x="304800" y="143947"/>
                  <a:pt x="302181" y="140494"/>
                  <a:pt x="298787" y="138291"/>
                </a:cubicBezTo>
                <a:cubicBezTo>
                  <a:pt x="290929" y="133171"/>
                  <a:pt x="285750" y="124361"/>
                  <a:pt x="285750" y="114300"/>
                </a:cubicBezTo>
                <a:cubicBezTo>
                  <a:pt x="285750" y="104239"/>
                  <a:pt x="290929" y="95429"/>
                  <a:pt x="298787" y="90309"/>
                </a:cubicBezTo>
                <a:cubicBezTo>
                  <a:pt x="302181" y="88106"/>
                  <a:pt x="304800" y="84653"/>
                  <a:pt x="304800" y="80605"/>
                </a:cubicBezTo>
                <a:lnTo>
                  <a:pt x="304800" y="76200"/>
                </a:lnTo>
                <a:cubicBezTo>
                  <a:pt x="304800" y="55185"/>
                  <a:pt x="287715" y="38100"/>
                  <a:pt x="266700" y="38100"/>
                </a:cubicBezTo>
                <a:lnTo>
                  <a:pt x="38100" y="38100"/>
                </a:lnTo>
                <a:close/>
                <a:moveTo>
                  <a:pt x="304800" y="247650"/>
                </a:moveTo>
                <a:lnTo>
                  <a:pt x="304800" y="209550"/>
                </a:lnTo>
                <a:lnTo>
                  <a:pt x="0" y="209550"/>
                </a:lnTo>
                <a:lnTo>
                  <a:pt x="0" y="247650"/>
                </a:lnTo>
                <a:cubicBezTo>
                  <a:pt x="0" y="258187"/>
                  <a:pt x="8513" y="266700"/>
                  <a:pt x="19050" y="266700"/>
                </a:cubicBezTo>
                <a:lnTo>
                  <a:pt x="57150" y="266700"/>
                </a:lnTo>
                <a:lnTo>
                  <a:pt x="57150" y="252413"/>
                </a:lnTo>
                <a:cubicBezTo>
                  <a:pt x="57150" y="244495"/>
                  <a:pt x="63520" y="238125"/>
                  <a:pt x="71438" y="238125"/>
                </a:cubicBezTo>
                <a:cubicBezTo>
                  <a:pt x="79355" y="238125"/>
                  <a:pt x="85725" y="244495"/>
                  <a:pt x="85725" y="252413"/>
                </a:cubicBezTo>
                <a:lnTo>
                  <a:pt x="85725" y="266700"/>
                </a:lnTo>
                <a:lnTo>
                  <a:pt x="138113" y="266700"/>
                </a:lnTo>
                <a:lnTo>
                  <a:pt x="138113" y="252413"/>
                </a:lnTo>
                <a:cubicBezTo>
                  <a:pt x="138113" y="244495"/>
                  <a:pt x="144482" y="238125"/>
                  <a:pt x="152400" y="238125"/>
                </a:cubicBezTo>
                <a:cubicBezTo>
                  <a:pt x="160318" y="238125"/>
                  <a:pt x="166688" y="244495"/>
                  <a:pt x="166688" y="252413"/>
                </a:cubicBezTo>
                <a:lnTo>
                  <a:pt x="166688" y="266700"/>
                </a:lnTo>
                <a:lnTo>
                  <a:pt x="219075" y="266700"/>
                </a:lnTo>
                <a:lnTo>
                  <a:pt x="219075" y="252413"/>
                </a:lnTo>
                <a:cubicBezTo>
                  <a:pt x="219075" y="244495"/>
                  <a:pt x="225445" y="238125"/>
                  <a:pt x="233363" y="238125"/>
                </a:cubicBezTo>
                <a:cubicBezTo>
                  <a:pt x="241280" y="238125"/>
                  <a:pt x="247650" y="244495"/>
                  <a:pt x="247650" y="252413"/>
                </a:cubicBezTo>
                <a:lnTo>
                  <a:pt x="247650" y="266700"/>
                </a:lnTo>
                <a:lnTo>
                  <a:pt x="285750" y="266700"/>
                </a:lnTo>
                <a:cubicBezTo>
                  <a:pt x="296287" y="266700"/>
                  <a:pt x="304800" y="258187"/>
                  <a:pt x="304800" y="247650"/>
                </a:cubicBezTo>
                <a:close/>
                <a:moveTo>
                  <a:pt x="95250" y="95250"/>
                </a:moveTo>
                <a:lnTo>
                  <a:pt x="95250" y="133350"/>
                </a:lnTo>
                <a:cubicBezTo>
                  <a:pt x="95250" y="143887"/>
                  <a:pt x="86737" y="152400"/>
                  <a:pt x="76200" y="152400"/>
                </a:cubicBezTo>
                <a:cubicBezTo>
                  <a:pt x="65663" y="152400"/>
                  <a:pt x="57150" y="143887"/>
                  <a:pt x="57150" y="133350"/>
                </a:cubicBezTo>
                <a:lnTo>
                  <a:pt x="57150" y="95250"/>
                </a:lnTo>
                <a:cubicBezTo>
                  <a:pt x="57150" y="84713"/>
                  <a:pt x="65663" y="76200"/>
                  <a:pt x="76200" y="76200"/>
                </a:cubicBezTo>
                <a:cubicBezTo>
                  <a:pt x="86737" y="76200"/>
                  <a:pt x="95250" y="84713"/>
                  <a:pt x="95250" y="95250"/>
                </a:cubicBezTo>
                <a:close/>
                <a:moveTo>
                  <a:pt x="171450" y="95250"/>
                </a:moveTo>
                <a:lnTo>
                  <a:pt x="171450" y="133350"/>
                </a:lnTo>
                <a:cubicBezTo>
                  <a:pt x="171450" y="143887"/>
                  <a:pt x="162937" y="152400"/>
                  <a:pt x="152400" y="152400"/>
                </a:cubicBezTo>
                <a:cubicBezTo>
                  <a:pt x="141863" y="152400"/>
                  <a:pt x="133350" y="143887"/>
                  <a:pt x="133350" y="133350"/>
                </a:cubicBezTo>
                <a:lnTo>
                  <a:pt x="133350" y="95250"/>
                </a:lnTo>
                <a:cubicBezTo>
                  <a:pt x="133350" y="84713"/>
                  <a:pt x="141863" y="76200"/>
                  <a:pt x="152400" y="76200"/>
                </a:cubicBezTo>
                <a:cubicBezTo>
                  <a:pt x="162937" y="76200"/>
                  <a:pt x="171450" y="84713"/>
                  <a:pt x="171450" y="95250"/>
                </a:cubicBezTo>
                <a:close/>
                <a:moveTo>
                  <a:pt x="247650" y="95250"/>
                </a:moveTo>
                <a:lnTo>
                  <a:pt x="247650" y="133350"/>
                </a:lnTo>
                <a:cubicBezTo>
                  <a:pt x="247650" y="143887"/>
                  <a:pt x="239137" y="152400"/>
                  <a:pt x="228600" y="152400"/>
                </a:cubicBezTo>
                <a:cubicBezTo>
                  <a:pt x="218063" y="152400"/>
                  <a:pt x="209550" y="143887"/>
                  <a:pt x="209550" y="133350"/>
                </a:cubicBezTo>
                <a:lnTo>
                  <a:pt x="209550" y="95250"/>
                </a:lnTo>
                <a:cubicBezTo>
                  <a:pt x="209550" y="84713"/>
                  <a:pt x="218063" y="76200"/>
                  <a:pt x="228600" y="76200"/>
                </a:cubicBezTo>
                <a:cubicBezTo>
                  <a:pt x="239137" y="76200"/>
                  <a:pt x="247650" y="84713"/>
                  <a:pt x="247650" y="9525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206500" y="2095500"/>
            <a:ext cx="660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缓存机制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5500" y="2755900"/>
            <a:ext cx="69469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为减少对 Chubby 单元的读取流量，客户端维护</a:t>
            </a:r>
            <a:r>
              <a:rPr lang="en-US" sz="1800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一致的写透缓存</a:t>
            </a: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（write-through cache）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50900" y="3721100"/>
            <a:ext cx="6807200" cy="1625600"/>
          </a:xfrm>
          <a:custGeom>
            <a:avLst/>
            <a:gdLst/>
            <a:ahLst/>
            <a:cxnLst/>
            <a:rect l="l" t="t" r="r" b="b"/>
            <a:pathLst>
              <a:path w="6807200" h="1625600">
                <a:moveTo>
                  <a:pt x="50800" y="0"/>
                </a:moveTo>
                <a:lnTo>
                  <a:pt x="6705600" y="0"/>
                </a:lnTo>
                <a:cubicBezTo>
                  <a:pt x="6761675" y="0"/>
                  <a:pt x="6807200" y="45525"/>
                  <a:pt x="6807200" y="101600"/>
                </a:cubicBezTo>
                <a:lnTo>
                  <a:pt x="6807200" y="1524000"/>
                </a:lnTo>
                <a:cubicBezTo>
                  <a:pt x="6807200" y="1580075"/>
                  <a:pt x="6761675" y="1625600"/>
                  <a:pt x="6705600" y="1625600"/>
                </a:cubicBez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50900" y="3721100"/>
            <a:ext cx="50800" cy="1625600"/>
          </a:xfrm>
          <a:custGeom>
            <a:avLst/>
            <a:gdLst/>
            <a:ahLst/>
            <a:cxnLst/>
            <a:rect l="l" t="t" r="r" b="b"/>
            <a:pathLst>
              <a:path w="50800" h="1625600">
                <a:moveTo>
                  <a:pt x="50800" y="0"/>
                </a:moveTo>
                <a:lnTo>
                  <a:pt x="50800" y="0"/>
                </a:lnTo>
                <a:lnTo>
                  <a:pt x="50800" y="1625600"/>
                </a:ln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1079500" y="39243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1236663" y="40640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739900" y="4000500"/>
            <a:ext cx="125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4DB3A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主节点跟踪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9500" y="4533900"/>
            <a:ext cx="647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主节点维护每个客户端缓存内容的列表，能够精确知道哪些客户端缓存了哪些文件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50900" y="5499100"/>
            <a:ext cx="6807200" cy="1320800"/>
          </a:xfrm>
          <a:custGeom>
            <a:avLst/>
            <a:gdLst/>
            <a:ahLst/>
            <a:cxnLst/>
            <a:rect l="l" t="t" r="r" b="b"/>
            <a:pathLst>
              <a:path w="6807200" h="1320800">
                <a:moveTo>
                  <a:pt x="50800" y="0"/>
                </a:moveTo>
                <a:lnTo>
                  <a:pt x="6705604" y="0"/>
                </a:lnTo>
                <a:cubicBezTo>
                  <a:pt x="6761714" y="0"/>
                  <a:pt x="6807200" y="45486"/>
                  <a:pt x="6807200" y="101596"/>
                </a:cubicBezTo>
                <a:lnTo>
                  <a:pt x="6807200" y="1219204"/>
                </a:lnTo>
                <a:cubicBezTo>
                  <a:pt x="6807200" y="1275314"/>
                  <a:pt x="6761714" y="1320800"/>
                  <a:pt x="6705604" y="1320800"/>
                </a:cubicBezTo>
                <a:lnTo>
                  <a:pt x="50800" y="1320800"/>
                </a:lnTo>
                <a:cubicBezTo>
                  <a:pt x="22763" y="1320800"/>
                  <a:pt x="0" y="1298037"/>
                  <a:pt x="0" y="127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50900" y="5499100"/>
            <a:ext cx="50800" cy="1320800"/>
          </a:xfrm>
          <a:custGeom>
            <a:avLst/>
            <a:gdLst/>
            <a:ahLst/>
            <a:cxnLst/>
            <a:rect l="l" t="t" r="r" b="b"/>
            <a:pathLst>
              <a:path w="50800" h="1320800">
                <a:moveTo>
                  <a:pt x="50800" y="0"/>
                </a:moveTo>
                <a:lnTo>
                  <a:pt x="50800" y="0"/>
                </a:lnTo>
                <a:lnTo>
                  <a:pt x="50800" y="1320800"/>
                </a:lnTo>
                <a:lnTo>
                  <a:pt x="50800" y="1320800"/>
                </a:lnTo>
                <a:cubicBezTo>
                  <a:pt x="22763" y="1320800"/>
                  <a:pt x="0" y="1298037"/>
                  <a:pt x="0" y="127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079500" y="57023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250950" y="58420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39291" y="28575"/>
                </a:moveTo>
                <a:cubicBezTo>
                  <a:pt x="33352" y="28575"/>
                  <a:pt x="28575" y="33352"/>
                  <a:pt x="28575" y="39291"/>
                </a:cubicBezTo>
                <a:cubicBezTo>
                  <a:pt x="28575" y="45229"/>
                  <a:pt x="33352" y="50006"/>
                  <a:pt x="39291" y="50006"/>
                </a:cubicBezTo>
                <a:lnTo>
                  <a:pt x="60722" y="50006"/>
                </a:lnTo>
                <a:cubicBezTo>
                  <a:pt x="66660" y="50006"/>
                  <a:pt x="71438" y="45229"/>
                  <a:pt x="71438" y="39291"/>
                </a:cubicBezTo>
                <a:cubicBezTo>
                  <a:pt x="71438" y="33352"/>
                  <a:pt x="66660" y="28575"/>
                  <a:pt x="60722" y="28575"/>
                </a:cubicBezTo>
                <a:lnTo>
                  <a:pt x="39291" y="28575"/>
                </a:lnTo>
                <a:close/>
                <a:moveTo>
                  <a:pt x="39291" y="71438"/>
                </a:moveTo>
                <a:cubicBezTo>
                  <a:pt x="33352" y="71438"/>
                  <a:pt x="28575" y="76215"/>
                  <a:pt x="28575" y="82153"/>
                </a:cubicBezTo>
                <a:cubicBezTo>
                  <a:pt x="28575" y="88091"/>
                  <a:pt x="33352" y="92869"/>
                  <a:pt x="39291" y="92869"/>
                </a:cubicBezTo>
                <a:lnTo>
                  <a:pt x="60722" y="92869"/>
                </a:lnTo>
                <a:cubicBezTo>
                  <a:pt x="66660" y="92869"/>
                  <a:pt x="71438" y="88091"/>
                  <a:pt x="71438" y="82153"/>
                </a:cubicBezTo>
                <a:cubicBezTo>
                  <a:pt x="71438" y="76215"/>
                  <a:pt x="66660" y="71438"/>
                  <a:pt x="60722" y="71438"/>
                </a:cubicBezTo>
                <a:lnTo>
                  <a:pt x="39291" y="71438"/>
                </a:lnTo>
                <a:close/>
                <a:moveTo>
                  <a:pt x="70678" y="142875"/>
                </a:moveTo>
                <a:cubicBezTo>
                  <a:pt x="65633" y="142875"/>
                  <a:pt x="60900" y="145152"/>
                  <a:pt x="57775" y="149081"/>
                </a:cubicBezTo>
                <a:lnTo>
                  <a:pt x="30941" y="182612"/>
                </a:lnTo>
                <a:cubicBezTo>
                  <a:pt x="27236" y="187211"/>
                  <a:pt x="27995" y="193997"/>
                  <a:pt x="32593" y="197659"/>
                </a:cubicBezTo>
                <a:cubicBezTo>
                  <a:pt x="37192" y="201320"/>
                  <a:pt x="43979" y="200605"/>
                  <a:pt x="47640" y="195962"/>
                </a:cubicBezTo>
                <a:lnTo>
                  <a:pt x="68669" y="169709"/>
                </a:lnTo>
                <a:lnTo>
                  <a:pt x="75456" y="192345"/>
                </a:lnTo>
                <a:cubicBezTo>
                  <a:pt x="76795" y="196900"/>
                  <a:pt x="80992" y="199980"/>
                  <a:pt x="85725" y="199980"/>
                </a:cubicBezTo>
                <a:lnTo>
                  <a:pt x="132159" y="199980"/>
                </a:lnTo>
                <a:cubicBezTo>
                  <a:pt x="138098" y="199980"/>
                  <a:pt x="142875" y="195203"/>
                  <a:pt x="142875" y="189265"/>
                </a:cubicBezTo>
                <a:cubicBezTo>
                  <a:pt x="142875" y="183326"/>
                  <a:pt x="138098" y="178549"/>
                  <a:pt x="132159" y="178549"/>
                </a:cubicBezTo>
                <a:lnTo>
                  <a:pt x="93717" y="178549"/>
                </a:lnTo>
                <a:lnTo>
                  <a:pt x="86529" y="154618"/>
                </a:lnTo>
                <a:cubicBezTo>
                  <a:pt x="84430" y="147608"/>
                  <a:pt x="78001" y="142830"/>
                  <a:pt x="70678" y="14283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739900" y="5778500"/>
            <a:ext cx="125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租约和失效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9500" y="6311900"/>
            <a:ext cx="647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主节点发出租约和失效通知，确保缓存数据与主节点数据保持一致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0900" y="6972300"/>
            <a:ext cx="6807200" cy="1625600"/>
          </a:xfrm>
          <a:custGeom>
            <a:avLst/>
            <a:gdLst/>
            <a:ahLst/>
            <a:cxnLst/>
            <a:rect l="l" t="t" r="r" b="b"/>
            <a:pathLst>
              <a:path w="6807200" h="1625600">
                <a:moveTo>
                  <a:pt x="50800" y="0"/>
                </a:moveTo>
                <a:lnTo>
                  <a:pt x="6705600" y="0"/>
                </a:lnTo>
                <a:cubicBezTo>
                  <a:pt x="6761675" y="0"/>
                  <a:pt x="6807200" y="45525"/>
                  <a:pt x="6807200" y="101600"/>
                </a:cubicBezTo>
                <a:lnTo>
                  <a:pt x="6807200" y="1524000"/>
                </a:lnTo>
                <a:cubicBezTo>
                  <a:pt x="6807200" y="1580075"/>
                  <a:pt x="6761675" y="1625600"/>
                  <a:pt x="6705600" y="1625600"/>
                </a:cubicBez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50900" y="6972300"/>
            <a:ext cx="50800" cy="1625600"/>
          </a:xfrm>
          <a:custGeom>
            <a:avLst/>
            <a:gdLst/>
            <a:ahLst/>
            <a:cxnLst/>
            <a:rect l="l" t="t" r="r" b="b"/>
            <a:pathLst>
              <a:path w="50800" h="1625600">
                <a:moveTo>
                  <a:pt x="50800" y="0"/>
                </a:moveTo>
                <a:lnTo>
                  <a:pt x="50800" y="0"/>
                </a:lnTo>
                <a:lnTo>
                  <a:pt x="50800" y="1625600"/>
                </a:ln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1079500" y="717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1222375" y="7315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739900" y="7251700"/>
            <a:ext cx="125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5A7D9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一致性算法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79500" y="7785100"/>
            <a:ext cx="647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当客户端发出写请求时，服务器向所有缓存该文件的客户端发送失效通知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86750" y="1784350"/>
            <a:ext cx="7454900" cy="7124700"/>
          </a:xfrm>
          <a:custGeom>
            <a:avLst/>
            <a:gdLst/>
            <a:ahLst/>
            <a:cxnLst/>
            <a:rect l="l" t="t" r="r" b="b"/>
            <a:pathLst>
              <a:path w="7454900" h="7124700">
                <a:moveTo>
                  <a:pt x="152397" y="0"/>
                </a:moveTo>
                <a:lnTo>
                  <a:pt x="7302503" y="0"/>
                </a:lnTo>
                <a:cubicBezTo>
                  <a:pt x="7386669" y="0"/>
                  <a:pt x="7454900" y="68231"/>
                  <a:pt x="7454900" y="152397"/>
                </a:cubicBezTo>
                <a:lnTo>
                  <a:pt x="7454900" y="6972303"/>
                </a:lnTo>
                <a:cubicBezTo>
                  <a:pt x="7454900" y="7056469"/>
                  <a:pt x="7386669" y="7124700"/>
                  <a:pt x="7302503" y="7124700"/>
                </a:cubicBezTo>
                <a:lnTo>
                  <a:pt x="152397" y="7124700"/>
                </a:lnTo>
                <a:cubicBezTo>
                  <a:pt x="68231" y="7124700"/>
                  <a:pt x="0" y="7056469"/>
                  <a:pt x="0" y="69723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3A2">
                  <a:alpha val="30000"/>
                </a:srgbClr>
              </a:gs>
              <a:gs pos="100000">
                <a:srgbClr val="4DB3A2">
                  <a:alpha val="10000"/>
                </a:srgbClr>
              </a:gs>
            </a:gsLst>
            <a:lin ang="2700000" scaled="1"/>
          </a:gradFill>
          <a:ln w="12700">
            <a:solidFill>
              <a:srgbClr val="4DB3A2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655050" y="21463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50" y="0"/>
                </a:moveTo>
                <a:cubicBezTo>
                  <a:pt x="122813" y="0"/>
                  <a:pt x="114300" y="8513"/>
                  <a:pt x="114300" y="19050"/>
                </a:cubicBezTo>
                <a:lnTo>
                  <a:pt x="114300" y="20955"/>
                </a:lnTo>
                <a:cubicBezTo>
                  <a:pt x="70842" y="29766"/>
                  <a:pt x="38100" y="68223"/>
                  <a:pt x="38100" y="114300"/>
                </a:cubicBezTo>
                <a:lnTo>
                  <a:pt x="38100" y="127218"/>
                </a:lnTo>
                <a:cubicBezTo>
                  <a:pt x="38100" y="155853"/>
                  <a:pt x="28337" y="183654"/>
                  <a:pt x="10478" y="206038"/>
                </a:cubicBezTo>
                <a:lnTo>
                  <a:pt x="4643" y="213300"/>
                </a:lnTo>
                <a:cubicBezTo>
                  <a:pt x="1607" y="217051"/>
                  <a:pt x="0" y="221694"/>
                  <a:pt x="0" y="226516"/>
                </a:cubicBezTo>
                <a:cubicBezTo>
                  <a:pt x="0" y="238185"/>
                  <a:pt x="9465" y="247650"/>
                  <a:pt x="21134" y="247650"/>
                </a:cubicBezTo>
                <a:lnTo>
                  <a:pt x="245507" y="247650"/>
                </a:lnTo>
                <a:cubicBezTo>
                  <a:pt x="257175" y="247650"/>
                  <a:pt x="266640" y="238185"/>
                  <a:pt x="266640" y="226516"/>
                </a:cubicBezTo>
                <a:cubicBezTo>
                  <a:pt x="266640" y="221694"/>
                  <a:pt x="265033" y="217051"/>
                  <a:pt x="261997" y="213300"/>
                </a:cubicBezTo>
                <a:lnTo>
                  <a:pt x="256163" y="206038"/>
                </a:lnTo>
                <a:cubicBezTo>
                  <a:pt x="238363" y="183654"/>
                  <a:pt x="228600" y="155853"/>
                  <a:pt x="228600" y="127218"/>
                </a:cubicBezTo>
                <a:lnTo>
                  <a:pt x="228600" y="114300"/>
                </a:lnTo>
                <a:cubicBezTo>
                  <a:pt x="228600" y="68223"/>
                  <a:pt x="195858" y="29766"/>
                  <a:pt x="152400" y="20955"/>
                </a:cubicBezTo>
                <a:lnTo>
                  <a:pt x="152400" y="19050"/>
                </a:lnTo>
                <a:cubicBezTo>
                  <a:pt x="152400" y="8513"/>
                  <a:pt x="143887" y="0"/>
                  <a:pt x="133350" y="0"/>
                </a:cubicBezTo>
                <a:close/>
                <a:moveTo>
                  <a:pt x="96441" y="276225"/>
                </a:moveTo>
                <a:cubicBezTo>
                  <a:pt x="100667" y="292656"/>
                  <a:pt x="115610" y="304800"/>
                  <a:pt x="133350" y="304800"/>
                </a:cubicBezTo>
                <a:cubicBezTo>
                  <a:pt x="151090" y="304800"/>
                  <a:pt x="166033" y="292656"/>
                  <a:pt x="170259" y="276225"/>
                </a:cubicBezTo>
                <a:lnTo>
                  <a:pt x="96441" y="276225"/>
                </a:ln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978900" y="2095500"/>
            <a:ext cx="660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事件通知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97900" y="2755900"/>
            <a:ext cx="6946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Chubby 提供事件通知机制，客户端可以订阅以下事件：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604250" y="3397250"/>
            <a:ext cx="6819900" cy="1130300"/>
          </a:xfrm>
          <a:custGeom>
            <a:avLst/>
            <a:gdLst/>
            <a:ahLst/>
            <a:cxnLst/>
            <a:rect l="l" t="t" r="r" b="b"/>
            <a:pathLst>
              <a:path w="6819900" h="1130300">
                <a:moveTo>
                  <a:pt x="101603" y="0"/>
                </a:moveTo>
                <a:lnTo>
                  <a:pt x="6718297" y="0"/>
                </a:lnTo>
                <a:cubicBezTo>
                  <a:pt x="6774411" y="0"/>
                  <a:pt x="6819900" y="45489"/>
                  <a:pt x="6819900" y="101603"/>
                </a:cubicBezTo>
                <a:lnTo>
                  <a:pt x="6819900" y="1028697"/>
                </a:lnTo>
                <a:cubicBezTo>
                  <a:pt x="6819900" y="1084811"/>
                  <a:pt x="6774411" y="1130300"/>
                  <a:pt x="6718297" y="1130300"/>
                </a:cubicBezTo>
                <a:lnTo>
                  <a:pt x="101603" y="1130300"/>
                </a:lnTo>
                <a:cubicBezTo>
                  <a:pt x="45489" y="1130300"/>
                  <a:pt x="0" y="1084811"/>
                  <a:pt x="0" y="10286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2700">
            <a:solidFill>
              <a:srgbClr val="5A7D9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877300" y="36576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0" y="31750"/>
                </a:moveTo>
                <a:cubicBezTo>
                  <a:pt x="0" y="14238"/>
                  <a:pt x="14238" y="0"/>
                  <a:pt x="31750" y="0"/>
                </a:cubicBezTo>
                <a:lnTo>
                  <a:pt x="105916" y="0"/>
                </a:lnTo>
                <a:cubicBezTo>
                  <a:pt x="114350" y="0"/>
                  <a:pt x="122436" y="3324"/>
                  <a:pt x="128389" y="9277"/>
                </a:cubicBezTo>
                <a:lnTo>
                  <a:pt x="181223" y="62161"/>
                </a:lnTo>
                <a:cubicBezTo>
                  <a:pt x="187176" y="68114"/>
                  <a:pt x="190500" y="76200"/>
                  <a:pt x="190500" y="84634"/>
                </a:cubicBezTo>
                <a:lnTo>
                  <a:pt x="190500" y="222250"/>
                </a:lnTo>
                <a:cubicBezTo>
                  <a:pt x="190500" y="239762"/>
                  <a:pt x="176262" y="254000"/>
                  <a:pt x="158750" y="254000"/>
                </a:cubicBezTo>
                <a:lnTo>
                  <a:pt x="31750" y="254000"/>
                </a:lnTo>
                <a:cubicBezTo>
                  <a:pt x="14238" y="254000"/>
                  <a:pt x="0" y="239762"/>
                  <a:pt x="0" y="222250"/>
                </a:cubicBezTo>
                <a:lnTo>
                  <a:pt x="0" y="31750"/>
                </a:lnTo>
                <a:close/>
                <a:moveTo>
                  <a:pt x="103188" y="29021"/>
                </a:moveTo>
                <a:lnTo>
                  <a:pt x="103188" y="75406"/>
                </a:lnTo>
                <a:cubicBezTo>
                  <a:pt x="103188" y="82004"/>
                  <a:pt x="108496" y="87313"/>
                  <a:pt x="115094" y="87313"/>
                </a:cubicBezTo>
                <a:lnTo>
                  <a:pt x="161479" y="87313"/>
                </a:lnTo>
                <a:lnTo>
                  <a:pt x="103188" y="29021"/>
                </a:lnTo>
                <a:close/>
                <a:moveTo>
                  <a:pt x="59531" y="127000"/>
                </a:moveTo>
                <a:cubicBezTo>
                  <a:pt x="52933" y="127000"/>
                  <a:pt x="47625" y="132308"/>
                  <a:pt x="47625" y="138906"/>
                </a:cubicBezTo>
                <a:cubicBezTo>
                  <a:pt x="47625" y="145504"/>
                  <a:pt x="52933" y="150813"/>
                  <a:pt x="59531" y="150813"/>
                </a:cubicBezTo>
                <a:lnTo>
                  <a:pt x="130969" y="150813"/>
                </a:lnTo>
                <a:cubicBezTo>
                  <a:pt x="137567" y="150813"/>
                  <a:pt x="142875" y="145504"/>
                  <a:pt x="142875" y="138906"/>
                </a:cubicBezTo>
                <a:cubicBezTo>
                  <a:pt x="142875" y="132308"/>
                  <a:pt x="137567" y="127000"/>
                  <a:pt x="130969" y="127000"/>
                </a:cubicBezTo>
                <a:lnTo>
                  <a:pt x="59531" y="127000"/>
                </a:lnTo>
                <a:close/>
                <a:moveTo>
                  <a:pt x="59531" y="174625"/>
                </a:moveTo>
                <a:cubicBezTo>
                  <a:pt x="52933" y="174625"/>
                  <a:pt x="47625" y="179933"/>
                  <a:pt x="47625" y="186531"/>
                </a:cubicBezTo>
                <a:cubicBezTo>
                  <a:pt x="47625" y="193129"/>
                  <a:pt x="52933" y="198438"/>
                  <a:pt x="59531" y="198438"/>
                </a:cubicBezTo>
                <a:lnTo>
                  <a:pt x="130969" y="198438"/>
                </a:lnTo>
                <a:cubicBezTo>
                  <a:pt x="137567" y="198438"/>
                  <a:pt x="142875" y="193129"/>
                  <a:pt x="142875" y="186531"/>
                </a:cubicBezTo>
                <a:cubicBezTo>
                  <a:pt x="142875" y="179933"/>
                  <a:pt x="137567" y="174625"/>
                  <a:pt x="130969" y="174625"/>
                </a:cubicBezTo>
                <a:lnTo>
                  <a:pt x="59531" y="174625"/>
                </a:ln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9283700" y="36068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文件内容修改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813800" y="4064000"/>
            <a:ext cx="648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当文件内容发生变化时通知客户端，用于配置更新等场景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604250" y="4743450"/>
            <a:ext cx="6819900" cy="1130300"/>
          </a:xfrm>
          <a:custGeom>
            <a:avLst/>
            <a:gdLst/>
            <a:ahLst/>
            <a:cxnLst/>
            <a:rect l="l" t="t" r="r" b="b"/>
            <a:pathLst>
              <a:path w="6819900" h="1130300">
                <a:moveTo>
                  <a:pt x="101603" y="0"/>
                </a:moveTo>
                <a:lnTo>
                  <a:pt x="6718297" y="0"/>
                </a:lnTo>
                <a:cubicBezTo>
                  <a:pt x="6774411" y="0"/>
                  <a:pt x="6819900" y="45489"/>
                  <a:pt x="6819900" y="101603"/>
                </a:cubicBezTo>
                <a:lnTo>
                  <a:pt x="6819900" y="1028697"/>
                </a:lnTo>
                <a:cubicBezTo>
                  <a:pt x="6819900" y="1084811"/>
                  <a:pt x="6774411" y="1130300"/>
                  <a:pt x="6718297" y="1130300"/>
                </a:cubicBezTo>
                <a:lnTo>
                  <a:pt x="101603" y="1130300"/>
                </a:lnTo>
                <a:cubicBezTo>
                  <a:pt x="45489" y="1130300"/>
                  <a:pt x="0" y="1084811"/>
                  <a:pt x="0" y="10286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2700">
            <a:solidFill>
              <a:srgbClr val="4DB3A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829675" y="50038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7781" y="111919"/>
                </a:moveTo>
                <a:lnTo>
                  <a:pt x="16073" y="146943"/>
                </a:lnTo>
                <a:lnTo>
                  <a:pt x="16073" y="47625"/>
                </a:lnTo>
                <a:cubicBezTo>
                  <a:pt x="16073" y="30113"/>
                  <a:pt x="30311" y="15875"/>
                  <a:pt x="47823" y="15875"/>
                </a:cubicBezTo>
                <a:lnTo>
                  <a:pt x="116632" y="15875"/>
                </a:lnTo>
                <a:cubicBezTo>
                  <a:pt x="123478" y="15875"/>
                  <a:pt x="130175" y="18107"/>
                  <a:pt x="135682" y="22225"/>
                </a:cubicBezTo>
                <a:lnTo>
                  <a:pt x="154732" y="36513"/>
                </a:lnTo>
                <a:cubicBezTo>
                  <a:pt x="157460" y="38596"/>
                  <a:pt x="160834" y="39688"/>
                  <a:pt x="164257" y="39688"/>
                </a:cubicBezTo>
                <a:lnTo>
                  <a:pt x="222448" y="39688"/>
                </a:lnTo>
                <a:cubicBezTo>
                  <a:pt x="239961" y="39688"/>
                  <a:pt x="254198" y="53925"/>
                  <a:pt x="254198" y="71438"/>
                </a:cubicBezTo>
                <a:lnTo>
                  <a:pt x="254198" y="79375"/>
                </a:lnTo>
                <a:lnTo>
                  <a:pt x="72926" y="79375"/>
                </a:lnTo>
                <a:cubicBezTo>
                  <a:pt x="52437" y="79375"/>
                  <a:pt x="34230" y="92472"/>
                  <a:pt x="27732" y="111919"/>
                </a:cubicBezTo>
                <a:close/>
                <a:moveTo>
                  <a:pt x="237034" y="222250"/>
                </a:moveTo>
                <a:lnTo>
                  <a:pt x="49113" y="222250"/>
                </a:lnTo>
                <a:cubicBezTo>
                  <a:pt x="32841" y="222250"/>
                  <a:pt x="21382" y="206325"/>
                  <a:pt x="26541" y="190897"/>
                </a:cubicBezTo>
                <a:lnTo>
                  <a:pt x="50354" y="119459"/>
                </a:lnTo>
                <a:cubicBezTo>
                  <a:pt x="53578" y="109736"/>
                  <a:pt x="62706" y="103188"/>
                  <a:pt x="72926" y="103188"/>
                </a:cubicBezTo>
                <a:lnTo>
                  <a:pt x="260846" y="103188"/>
                </a:lnTo>
                <a:cubicBezTo>
                  <a:pt x="277118" y="103188"/>
                  <a:pt x="288578" y="119112"/>
                  <a:pt x="283418" y="134541"/>
                </a:cubicBezTo>
                <a:lnTo>
                  <a:pt x="259606" y="205978"/>
                </a:lnTo>
                <a:cubicBezTo>
                  <a:pt x="256381" y="215702"/>
                  <a:pt x="247253" y="222250"/>
                  <a:pt x="237034" y="22225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9283700" y="4953000"/>
            <a:ext cx="125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子节点变化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813800" y="5410200"/>
            <a:ext cx="648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子节点添加、删除或修改时通知，用于目录监控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604250" y="6089650"/>
            <a:ext cx="6819900" cy="1130300"/>
          </a:xfrm>
          <a:custGeom>
            <a:avLst/>
            <a:gdLst/>
            <a:ahLst/>
            <a:cxnLst/>
            <a:rect l="l" t="t" r="r" b="b"/>
            <a:pathLst>
              <a:path w="6819900" h="1130300">
                <a:moveTo>
                  <a:pt x="101603" y="0"/>
                </a:moveTo>
                <a:lnTo>
                  <a:pt x="6718297" y="0"/>
                </a:lnTo>
                <a:cubicBezTo>
                  <a:pt x="6774411" y="0"/>
                  <a:pt x="6819900" y="45489"/>
                  <a:pt x="6819900" y="101603"/>
                </a:cubicBezTo>
                <a:lnTo>
                  <a:pt x="6819900" y="1028697"/>
                </a:lnTo>
                <a:cubicBezTo>
                  <a:pt x="6819900" y="1084811"/>
                  <a:pt x="6774411" y="1130300"/>
                  <a:pt x="6718297" y="1130300"/>
                </a:cubicBezTo>
                <a:lnTo>
                  <a:pt x="101603" y="1130300"/>
                </a:lnTo>
                <a:cubicBezTo>
                  <a:pt x="45489" y="1130300"/>
                  <a:pt x="0" y="1084811"/>
                  <a:pt x="0" y="10286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2700">
            <a:solidFill>
              <a:srgbClr val="E1AF6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861425" y="63500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31750" y="15875"/>
                </a:moveTo>
                <a:cubicBezTo>
                  <a:pt x="14238" y="15875"/>
                  <a:pt x="0" y="30113"/>
                  <a:pt x="0" y="47625"/>
                </a:cubicBezTo>
                <a:lnTo>
                  <a:pt x="0" y="79375"/>
                </a:lnTo>
                <a:cubicBezTo>
                  <a:pt x="0" y="96887"/>
                  <a:pt x="14238" y="111125"/>
                  <a:pt x="31750" y="111125"/>
                </a:cubicBezTo>
                <a:lnTo>
                  <a:pt x="190500" y="111125"/>
                </a:lnTo>
                <a:cubicBezTo>
                  <a:pt x="208012" y="111125"/>
                  <a:pt x="222250" y="96887"/>
                  <a:pt x="222250" y="79375"/>
                </a:cubicBezTo>
                <a:lnTo>
                  <a:pt x="222250" y="47625"/>
                </a:lnTo>
                <a:cubicBezTo>
                  <a:pt x="222250" y="30113"/>
                  <a:pt x="208012" y="15875"/>
                  <a:pt x="190500" y="15875"/>
                </a:cubicBezTo>
                <a:lnTo>
                  <a:pt x="31750" y="15875"/>
                </a:lnTo>
                <a:close/>
                <a:moveTo>
                  <a:pt x="138906" y="51594"/>
                </a:moveTo>
                <a:cubicBezTo>
                  <a:pt x="145477" y="51594"/>
                  <a:pt x="150813" y="56929"/>
                  <a:pt x="150813" y="63500"/>
                </a:cubicBezTo>
                <a:cubicBezTo>
                  <a:pt x="150813" y="70071"/>
                  <a:pt x="145477" y="75406"/>
                  <a:pt x="138906" y="75406"/>
                </a:cubicBezTo>
                <a:cubicBezTo>
                  <a:pt x="132335" y="75406"/>
                  <a:pt x="127000" y="70071"/>
                  <a:pt x="127000" y="63500"/>
                </a:cubicBezTo>
                <a:cubicBezTo>
                  <a:pt x="127000" y="56929"/>
                  <a:pt x="132335" y="51594"/>
                  <a:pt x="138906" y="51594"/>
                </a:cubicBezTo>
                <a:close/>
                <a:moveTo>
                  <a:pt x="166688" y="63500"/>
                </a:moveTo>
                <a:cubicBezTo>
                  <a:pt x="166688" y="56929"/>
                  <a:pt x="172023" y="51594"/>
                  <a:pt x="178594" y="51594"/>
                </a:cubicBezTo>
                <a:cubicBezTo>
                  <a:pt x="185165" y="51594"/>
                  <a:pt x="190500" y="56929"/>
                  <a:pt x="190500" y="63500"/>
                </a:cubicBezTo>
                <a:cubicBezTo>
                  <a:pt x="190500" y="70071"/>
                  <a:pt x="185165" y="75406"/>
                  <a:pt x="178594" y="75406"/>
                </a:cubicBezTo>
                <a:cubicBezTo>
                  <a:pt x="172023" y="75406"/>
                  <a:pt x="166688" y="70071"/>
                  <a:pt x="166688" y="63500"/>
                </a:cubicBezTo>
                <a:close/>
                <a:moveTo>
                  <a:pt x="31750" y="142875"/>
                </a:moveTo>
                <a:cubicBezTo>
                  <a:pt x="14238" y="142875"/>
                  <a:pt x="0" y="157113"/>
                  <a:pt x="0" y="174625"/>
                </a:cubicBezTo>
                <a:lnTo>
                  <a:pt x="0" y="206375"/>
                </a:lnTo>
                <a:cubicBezTo>
                  <a:pt x="0" y="223887"/>
                  <a:pt x="14238" y="238125"/>
                  <a:pt x="31750" y="238125"/>
                </a:cubicBezTo>
                <a:lnTo>
                  <a:pt x="190500" y="238125"/>
                </a:lnTo>
                <a:cubicBezTo>
                  <a:pt x="208012" y="238125"/>
                  <a:pt x="222250" y="223887"/>
                  <a:pt x="222250" y="206375"/>
                </a:cubicBezTo>
                <a:lnTo>
                  <a:pt x="222250" y="174625"/>
                </a:lnTo>
                <a:cubicBezTo>
                  <a:pt x="222250" y="157113"/>
                  <a:pt x="208012" y="142875"/>
                  <a:pt x="190500" y="142875"/>
                </a:cubicBezTo>
                <a:lnTo>
                  <a:pt x="31750" y="142875"/>
                </a:lnTo>
                <a:close/>
                <a:moveTo>
                  <a:pt x="138906" y="178594"/>
                </a:moveTo>
                <a:cubicBezTo>
                  <a:pt x="145477" y="178594"/>
                  <a:pt x="150813" y="183929"/>
                  <a:pt x="150813" y="190500"/>
                </a:cubicBezTo>
                <a:cubicBezTo>
                  <a:pt x="150813" y="197071"/>
                  <a:pt x="145477" y="202406"/>
                  <a:pt x="138906" y="202406"/>
                </a:cubicBezTo>
                <a:cubicBezTo>
                  <a:pt x="132335" y="202406"/>
                  <a:pt x="127000" y="197071"/>
                  <a:pt x="127000" y="190500"/>
                </a:cubicBezTo>
                <a:cubicBezTo>
                  <a:pt x="127000" y="183929"/>
                  <a:pt x="132335" y="178594"/>
                  <a:pt x="138906" y="178594"/>
                </a:cubicBezTo>
                <a:close/>
                <a:moveTo>
                  <a:pt x="166688" y="190500"/>
                </a:moveTo>
                <a:cubicBezTo>
                  <a:pt x="166688" y="183929"/>
                  <a:pt x="172023" y="178594"/>
                  <a:pt x="178594" y="178594"/>
                </a:cubicBezTo>
                <a:cubicBezTo>
                  <a:pt x="185165" y="178594"/>
                  <a:pt x="190500" y="183929"/>
                  <a:pt x="190500" y="190500"/>
                </a:cubicBezTo>
                <a:cubicBezTo>
                  <a:pt x="190500" y="197071"/>
                  <a:pt x="185165" y="202406"/>
                  <a:pt x="178594" y="202406"/>
                </a:cubicBezTo>
                <a:cubicBezTo>
                  <a:pt x="172023" y="202406"/>
                  <a:pt x="166688" y="197071"/>
                  <a:pt x="166688" y="19050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9283700" y="6299200"/>
            <a:ext cx="171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主节点故障转移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813800" y="6756400"/>
            <a:ext cx="648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当主节点发生变更时通知，客户端需要重新连接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604250" y="7435850"/>
            <a:ext cx="6819900" cy="1130300"/>
          </a:xfrm>
          <a:custGeom>
            <a:avLst/>
            <a:gdLst/>
            <a:ahLst/>
            <a:cxnLst/>
            <a:rect l="l" t="t" r="r" b="b"/>
            <a:pathLst>
              <a:path w="6819900" h="1130300">
                <a:moveTo>
                  <a:pt x="101603" y="0"/>
                </a:moveTo>
                <a:lnTo>
                  <a:pt x="6718297" y="0"/>
                </a:lnTo>
                <a:cubicBezTo>
                  <a:pt x="6774411" y="0"/>
                  <a:pt x="6819900" y="45489"/>
                  <a:pt x="6819900" y="101603"/>
                </a:cubicBezTo>
                <a:lnTo>
                  <a:pt x="6819900" y="1028697"/>
                </a:lnTo>
                <a:cubicBezTo>
                  <a:pt x="6819900" y="1084811"/>
                  <a:pt x="6774411" y="1130300"/>
                  <a:pt x="6718297" y="1130300"/>
                </a:cubicBezTo>
                <a:lnTo>
                  <a:pt x="101603" y="1130300"/>
                </a:lnTo>
                <a:cubicBezTo>
                  <a:pt x="45489" y="1130300"/>
                  <a:pt x="0" y="1084811"/>
                  <a:pt x="0" y="10286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2700">
            <a:solidFill>
              <a:srgbClr val="5A7D9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8877300" y="76962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63500" y="47625"/>
                </a:moveTo>
                <a:lnTo>
                  <a:pt x="63500" y="79375"/>
                </a:lnTo>
                <a:lnTo>
                  <a:pt x="127000" y="79375"/>
                </a:lnTo>
                <a:lnTo>
                  <a:pt x="127000" y="47625"/>
                </a:lnTo>
                <a:cubicBezTo>
                  <a:pt x="127000" y="30113"/>
                  <a:pt x="112762" y="15875"/>
                  <a:pt x="95250" y="15875"/>
                </a:cubicBezTo>
                <a:cubicBezTo>
                  <a:pt x="77738" y="15875"/>
                  <a:pt x="63500" y="30113"/>
                  <a:pt x="63500" y="47625"/>
                </a:cubicBezTo>
                <a:close/>
                <a:moveTo>
                  <a:pt x="31750" y="79375"/>
                </a:moveTo>
                <a:lnTo>
                  <a:pt x="31750" y="47625"/>
                </a:lnTo>
                <a:cubicBezTo>
                  <a:pt x="31750" y="12551"/>
                  <a:pt x="60176" y="-15875"/>
                  <a:pt x="95250" y="-15875"/>
                </a:cubicBezTo>
                <a:cubicBezTo>
                  <a:pt x="130324" y="-15875"/>
                  <a:pt x="158750" y="12551"/>
                  <a:pt x="158750" y="47625"/>
                </a:cubicBezTo>
                <a:lnTo>
                  <a:pt x="158750" y="79375"/>
                </a:lnTo>
                <a:cubicBezTo>
                  <a:pt x="176262" y="79375"/>
                  <a:pt x="190500" y="93613"/>
                  <a:pt x="190500" y="111125"/>
                </a:cubicBezTo>
                <a:lnTo>
                  <a:pt x="190500" y="222250"/>
                </a:lnTo>
                <a:cubicBezTo>
                  <a:pt x="190500" y="239762"/>
                  <a:pt x="176262" y="254000"/>
                  <a:pt x="158750" y="254000"/>
                </a:cubicBezTo>
                <a:lnTo>
                  <a:pt x="31750" y="254000"/>
                </a:lnTo>
                <a:cubicBezTo>
                  <a:pt x="14238" y="254000"/>
                  <a:pt x="0" y="239762"/>
                  <a:pt x="0" y="222250"/>
                </a:cubicBezTo>
                <a:lnTo>
                  <a:pt x="0" y="111125"/>
                </a:lnTo>
                <a:cubicBezTo>
                  <a:pt x="0" y="93613"/>
                  <a:pt x="14238" y="79375"/>
                  <a:pt x="31750" y="79375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9283700" y="76454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锁被获取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813800" y="8102600"/>
            <a:ext cx="648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当锁被其他客户端获取或释放时通知，用于锁竞争监控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 INTERFACE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API 接口总览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784350"/>
            <a:ext cx="4902200" cy="4787900"/>
          </a:xfrm>
          <a:custGeom>
            <a:avLst/>
            <a:gdLst/>
            <a:ahLst/>
            <a:cxnLst/>
            <a:rect l="l" t="t" r="r" b="b"/>
            <a:pathLst>
              <a:path w="4902200" h="4787900">
                <a:moveTo>
                  <a:pt x="152399" y="0"/>
                </a:moveTo>
                <a:lnTo>
                  <a:pt x="4749801" y="0"/>
                </a:lnTo>
                <a:cubicBezTo>
                  <a:pt x="4833969" y="0"/>
                  <a:pt x="4902200" y="68231"/>
                  <a:pt x="4902200" y="152399"/>
                </a:cubicBezTo>
                <a:lnTo>
                  <a:pt x="4902200" y="4635501"/>
                </a:lnTo>
                <a:cubicBezTo>
                  <a:pt x="4902200" y="4719669"/>
                  <a:pt x="4833969" y="4787900"/>
                  <a:pt x="4749801" y="4787900"/>
                </a:cubicBezTo>
                <a:lnTo>
                  <a:pt x="152399" y="4787900"/>
                </a:lnTo>
                <a:cubicBezTo>
                  <a:pt x="68231" y="4787900"/>
                  <a:pt x="0" y="4719669"/>
                  <a:pt x="0" y="4635501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gradFill flip="none" rotWithShape="1">
            <a:gsLst>
              <a:gs pos="0">
                <a:srgbClr val="5A7D9A">
                  <a:alpha val="30000"/>
                </a:srgbClr>
              </a:gs>
              <a:gs pos="100000">
                <a:srgbClr val="5A7D9A">
                  <a:alpha val="10000"/>
                </a:srgbClr>
              </a:gs>
            </a:gsLst>
            <a:lin ang="2700000" scaled="1"/>
          </a:gradFill>
          <a:ln w="12700">
            <a:solidFill>
              <a:srgbClr val="5A7D9A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90575" y="20955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7781" y="111919"/>
                </a:moveTo>
                <a:lnTo>
                  <a:pt x="16073" y="146943"/>
                </a:lnTo>
                <a:lnTo>
                  <a:pt x="16073" y="47625"/>
                </a:lnTo>
                <a:cubicBezTo>
                  <a:pt x="16073" y="30113"/>
                  <a:pt x="30311" y="15875"/>
                  <a:pt x="47823" y="15875"/>
                </a:cubicBezTo>
                <a:lnTo>
                  <a:pt x="116632" y="15875"/>
                </a:lnTo>
                <a:cubicBezTo>
                  <a:pt x="123478" y="15875"/>
                  <a:pt x="130175" y="18107"/>
                  <a:pt x="135682" y="22225"/>
                </a:cubicBezTo>
                <a:lnTo>
                  <a:pt x="154732" y="36513"/>
                </a:lnTo>
                <a:cubicBezTo>
                  <a:pt x="157460" y="38596"/>
                  <a:pt x="160834" y="39688"/>
                  <a:pt x="164257" y="39688"/>
                </a:cubicBezTo>
                <a:lnTo>
                  <a:pt x="222448" y="39688"/>
                </a:lnTo>
                <a:cubicBezTo>
                  <a:pt x="239961" y="39688"/>
                  <a:pt x="254198" y="53925"/>
                  <a:pt x="254198" y="71438"/>
                </a:cubicBezTo>
                <a:lnTo>
                  <a:pt x="254198" y="79375"/>
                </a:lnTo>
                <a:lnTo>
                  <a:pt x="72926" y="79375"/>
                </a:lnTo>
                <a:cubicBezTo>
                  <a:pt x="52437" y="79375"/>
                  <a:pt x="34230" y="92472"/>
                  <a:pt x="27732" y="111919"/>
                </a:cubicBezTo>
                <a:close/>
                <a:moveTo>
                  <a:pt x="237034" y="222250"/>
                </a:moveTo>
                <a:lnTo>
                  <a:pt x="49113" y="222250"/>
                </a:lnTo>
                <a:cubicBezTo>
                  <a:pt x="32841" y="222250"/>
                  <a:pt x="21382" y="206325"/>
                  <a:pt x="26541" y="190897"/>
                </a:cubicBezTo>
                <a:lnTo>
                  <a:pt x="50354" y="119459"/>
                </a:lnTo>
                <a:cubicBezTo>
                  <a:pt x="53578" y="109736"/>
                  <a:pt x="62706" y="103188"/>
                  <a:pt x="72926" y="103188"/>
                </a:cubicBezTo>
                <a:lnTo>
                  <a:pt x="260846" y="103188"/>
                </a:lnTo>
                <a:cubicBezTo>
                  <a:pt x="277118" y="103188"/>
                  <a:pt x="288578" y="119112"/>
                  <a:pt x="283418" y="134541"/>
                </a:cubicBezTo>
                <a:lnTo>
                  <a:pt x="259606" y="205978"/>
                </a:lnTo>
                <a:cubicBezTo>
                  <a:pt x="256381" y="215702"/>
                  <a:pt x="247253" y="222250"/>
                  <a:pt x="237034" y="22225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92200" y="2044700"/>
            <a:ext cx="419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文件操作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4700" y="2603500"/>
            <a:ext cx="4381500" cy="660400"/>
          </a:xfrm>
          <a:custGeom>
            <a:avLst/>
            <a:gdLst/>
            <a:ahLst/>
            <a:cxnLst/>
            <a:rect l="l" t="t" r="r" b="b"/>
            <a:pathLst>
              <a:path w="4381500" h="660400">
                <a:moveTo>
                  <a:pt x="50798" y="0"/>
                </a:moveTo>
                <a:lnTo>
                  <a:pt x="4330702" y="0"/>
                </a:lnTo>
                <a:cubicBezTo>
                  <a:pt x="4358757" y="0"/>
                  <a:pt x="4381500" y="22743"/>
                  <a:pt x="4381500" y="50798"/>
                </a:cubicBezTo>
                <a:lnTo>
                  <a:pt x="4381500" y="609602"/>
                </a:lnTo>
                <a:cubicBezTo>
                  <a:pt x="4381500" y="637657"/>
                  <a:pt x="4358757" y="660400"/>
                  <a:pt x="43307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76300" y="27051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6300" y="2959100"/>
            <a:ext cx="425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打开文件或目录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4700" y="3365500"/>
            <a:ext cx="4381500" cy="660400"/>
          </a:xfrm>
          <a:custGeom>
            <a:avLst/>
            <a:gdLst/>
            <a:ahLst/>
            <a:cxnLst/>
            <a:rect l="l" t="t" r="r" b="b"/>
            <a:pathLst>
              <a:path w="4381500" h="660400">
                <a:moveTo>
                  <a:pt x="50798" y="0"/>
                </a:moveTo>
                <a:lnTo>
                  <a:pt x="4330702" y="0"/>
                </a:lnTo>
                <a:cubicBezTo>
                  <a:pt x="4358757" y="0"/>
                  <a:pt x="4381500" y="22743"/>
                  <a:pt x="4381500" y="50798"/>
                </a:cubicBezTo>
                <a:lnTo>
                  <a:pt x="4381500" y="609602"/>
                </a:lnTo>
                <a:cubicBezTo>
                  <a:pt x="4381500" y="637657"/>
                  <a:pt x="4358757" y="660400"/>
                  <a:pt x="43307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76300" y="34671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Close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6300" y="3721100"/>
            <a:ext cx="425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关闭句柄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4700" y="4127500"/>
            <a:ext cx="4381500" cy="660400"/>
          </a:xfrm>
          <a:custGeom>
            <a:avLst/>
            <a:gdLst/>
            <a:ahLst/>
            <a:cxnLst/>
            <a:rect l="l" t="t" r="r" b="b"/>
            <a:pathLst>
              <a:path w="4381500" h="660400">
                <a:moveTo>
                  <a:pt x="50798" y="0"/>
                </a:moveTo>
                <a:lnTo>
                  <a:pt x="4330702" y="0"/>
                </a:lnTo>
                <a:cubicBezTo>
                  <a:pt x="4358757" y="0"/>
                  <a:pt x="4381500" y="22743"/>
                  <a:pt x="4381500" y="50798"/>
                </a:cubicBezTo>
                <a:lnTo>
                  <a:pt x="4381500" y="609602"/>
                </a:lnTo>
                <a:cubicBezTo>
                  <a:pt x="4381500" y="637657"/>
                  <a:pt x="4358757" y="660400"/>
                  <a:pt x="43307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76300" y="42291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GetContentsAndStat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6300" y="4483100"/>
            <a:ext cx="425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获取文件内容和状态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4700" y="4889500"/>
            <a:ext cx="4381500" cy="660400"/>
          </a:xfrm>
          <a:custGeom>
            <a:avLst/>
            <a:gdLst/>
            <a:ahLst/>
            <a:cxnLst/>
            <a:rect l="l" t="t" r="r" b="b"/>
            <a:pathLst>
              <a:path w="4381500" h="660400">
                <a:moveTo>
                  <a:pt x="50798" y="0"/>
                </a:moveTo>
                <a:lnTo>
                  <a:pt x="4330702" y="0"/>
                </a:lnTo>
                <a:cubicBezTo>
                  <a:pt x="4358757" y="0"/>
                  <a:pt x="4381500" y="22743"/>
                  <a:pt x="4381500" y="50798"/>
                </a:cubicBezTo>
                <a:lnTo>
                  <a:pt x="4381500" y="609602"/>
                </a:lnTo>
                <a:cubicBezTo>
                  <a:pt x="4381500" y="637657"/>
                  <a:pt x="4358757" y="660400"/>
                  <a:pt x="43307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76300" y="49911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SetContents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6300" y="5245100"/>
            <a:ext cx="425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设置文件内容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74700" y="5651500"/>
            <a:ext cx="4381500" cy="660400"/>
          </a:xfrm>
          <a:custGeom>
            <a:avLst/>
            <a:gdLst/>
            <a:ahLst/>
            <a:cxnLst/>
            <a:rect l="l" t="t" r="r" b="b"/>
            <a:pathLst>
              <a:path w="4381500" h="660400">
                <a:moveTo>
                  <a:pt x="50798" y="0"/>
                </a:moveTo>
                <a:lnTo>
                  <a:pt x="4330702" y="0"/>
                </a:lnTo>
                <a:cubicBezTo>
                  <a:pt x="4358757" y="0"/>
                  <a:pt x="4381500" y="22743"/>
                  <a:pt x="4381500" y="50798"/>
                </a:cubicBezTo>
                <a:lnTo>
                  <a:pt x="4381500" y="609602"/>
                </a:lnTo>
                <a:cubicBezTo>
                  <a:pt x="4381500" y="637657"/>
                  <a:pt x="4358757" y="660400"/>
                  <a:pt x="43307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76300" y="57531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Delete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6300" y="6007100"/>
            <a:ext cx="425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删除文件或目录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78984" y="1784350"/>
            <a:ext cx="4902200" cy="4787900"/>
          </a:xfrm>
          <a:custGeom>
            <a:avLst/>
            <a:gdLst/>
            <a:ahLst/>
            <a:cxnLst/>
            <a:rect l="l" t="t" r="r" b="b"/>
            <a:pathLst>
              <a:path w="4902200" h="4787900">
                <a:moveTo>
                  <a:pt x="152399" y="0"/>
                </a:moveTo>
                <a:lnTo>
                  <a:pt x="4749801" y="0"/>
                </a:lnTo>
                <a:cubicBezTo>
                  <a:pt x="4833969" y="0"/>
                  <a:pt x="4902200" y="68231"/>
                  <a:pt x="4902200" y="152399"/>
                </a:cubicBezTo>
                <a:lnTo>
                  <a:pt x="4902200" y="4635501"/>
                </a:lnTo>
                <a:cubicBezTo>
                  <a:pt x="4902200" y="4719669"/>
                  <a:pt x="4833969" y="4787900"/>
                  <a:pt x="4749801" y="4787900"/>
                </a:cubicBezTo>
                <a:lnTo>
                  <a:pt x="152399" y="4787900"/>
                </a:lnTo>
                <a:cubicBezTo>
                  <a:pt x="68231" y="4787900"/>
                  <a:pt x="0" y="4719669"/>
                  <a:pt x="0" y="4635501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3A2">
                  <a:alpha val="30000"/>
                </a:srgbClr>
              </a:gs>
              <a:gs pos="100000">
                <a:srgbClr val="4DB3A2">
                  <a:alpha val="10000"/>
                </a:srgbClr>
              </a:gs>
            </a:gsLst>
            <a:lin ang="2700000" scaled="1"/>
          </a:gradFill>
          <a:ln w="12700">
            <a:solidFill>
              <a:srgbClr val="4DB3A2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002834" y="20955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63500" y="47625"/>
                </a:moveTo>
                <a:lnTo>
                  <a:pt x="63500" y="79375"/>
                </a:lnTo>
                <a:lnTo>
                  <a:pt x="127000" y="79375"/>
                </a:lnTo>
                <a:lnTo>
                  <a:pt x="127000" y="47625"/>
                </a:lnTo>
                <a:cubicBezTo>
                  <a:pt x="127000" y="30113"/>
                  <a:pt x="112762" y="15875"/>
                  <a:pt x="95250" y="15875"/>
                </a:cubicBezTo>
                <a:cubicBezTo>
                  <a:pt x="77738" y="15875"/>
                  <a:pt x="63500" y="30113"/>
                  <a:pt x="63500" y="47625"/>
                </a:cubicBezTo>
                <a:close/>
                <a:moveTo>
                  <a:pt x="31750" y="79375"/>
                </a:moveTo>
                <a:lnTo>
                  <a:pt x="31750" y="47625"/>
                </a:lnTo>
                <a:cubicBezTo>
                  <a:pt x="31750" y="12551"/>
                  <a:pt x="60176" y="-15875"/>
                  <a:pt x="95250" y="-15875"/>
                </a:cubicBezTo>
                <a:cubicBezTo>
                  <a:pt x="130324" y="-15875"/>
                  <a:pt x="158750" y="12551"/>
                  <a:pt x="158750" y="47625"/>
                </a:cubicBezTo>
                <a:lnTo>
                  <a:pt x="158750" y="79375"/>
                </a:lnTo>
                <a:cubicBezTo>
                  <a:pt x="176262" y="79375"/>
                  <a:pt x="190500" y="93613"/>
                  <a:pt x="190500" y="111125"/>
                </a:cubicBezTo>
                <a:lnTo>
                  <a:pt x="190500" y="222250"/>
                </a:lnTo>
                <a:cubicBezTo>
                  <a:pt x="190500" y="239762"/>
                  <a:pt x="176262" y="254000"/>
                  <a:pt x="158750" y="254000"/>
                </a:cubicBezTo>
                <a:lnTo>
                  <a:pt x="31750" y="254000"/>
                </a:lnTo>
                <a:cubicBezTo>
                  <a:pt x="14238" y="254000"/>
                  <a:pt x="0" y="239762"/>
                  <a:pt x="0" y="222250"/>
                </a:cubicBezTo>
                <a:lnTo>
                  <a:pt x="0" y="111125"/>
                </a:lnTo>
                <a:cubicBezTo>
                  <a:pt x="0" y="93613"/>
                  <a:pt x="14238" y="79375"/>
                  <a:pt x="31750" y="79375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256834" y="2044700"/>
            <a:ext cx="419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锁操作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39334" y="2603500"/>
            <a:ext cx="4381500" cy="660400"/>
          </a:xfrm>
          <a:custGeom>
            <a:avLst/>
            <a:gdLst/>
            <a:ahLst/>
            <a:cxnLst/>
            <a:rect l="l" t="t" r="r" b="b"/>
            <a:pathLst>
              <a:path w="4381500" h="660400">
                <a:moveTo>
                  <a:pt x="50798" y="0"/>
                </a:moveTo>
                <a:lnTo>
                  <a:pt x="4330702" y="0"/>
                </a:lnTo>
                <a:cubicBezTo>
                  <a:pt x="4358757" y="0"/>
                  <a:pt x="4381500" y="22743"/>
                  <a:pt x="4381500" y="50798"/>
                </a:cubicBezTo>
                <a:lnTo>
                  <a:pt x="4381500" y="609602"/>
                </a:lnTo>
                <a:cubicBezTo>
                  <a:pt x="4381500" y="637657"/>
                  <a:pt x="4358757" y="660400"/>
                  <a:pt x="43307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040934" y="27051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Acquire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40934" y="2959100"/>
            <a:ext cx="425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获取锁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39334" y="3365500"/>
            <a:ext cx="4381500" cy="660400"/>
          </a:xfrm>
          <a:custGeom>
            <a:avLst/>
            <a:gdLst/>
            <a:ahLst/>
            <a:cxnLst/>
            <a:rect l="l" t="t" r="r" b="b"/>
            <a:pathLst>
              <a:path w="4381500" h="660400">
                <a:moveTo>
                  <a:pt x="50798" y="0"/>
                </a:moveTo>
                <a:lnTo>
                  <a:pt x="4330702" y="0"/>
                </a:lnTo>
                <a:cubicBezTo>
                  <a:pt x="4358757" y="0"/>
                  <a:pt x="4381500" y="22743"/>
                  <a:pt x="4381500" y="50798"/>
                </a:cubicBezTo>
                <a:lnTo>
                  <a:pt x="4381500" y="609602"/>
                </a:lnTo>
                <a:cubicBezTo>
                  <a:pt x="4381500" y="637657"/>
                  <a:pt x="4358757" y="660400"/>
                  <a:pt x="43307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040934" y="34671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TryAcquire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40934" y="3721100"/>
            <a:ext cx="425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尝试获取锁（非阻塞）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939334" y="4127500"/>
            <a:ext cx="4381500" cy="660400"/>
          </a:xfrm>
          <a:custGeom>
            <a:avLst/>
            <a:gdLst/>
            <a:ahLst/>
            <a:cxnLst/>
            <a:rect l="l" t="t" r="r" b="b"/>
            <a:pathLst>
              <a:path w="4381500" h="660400">
                <a:moveTo>
                  <a:pt x="50798" y="0"/>
                </a:moveTo>
                <a:lnTo>
                  <a:pt x="4330702" y="0"/>
                </a:lnTo>
                <a:cubicBezTo>
                  <a:pt x="4358757" y="0"/>
                  <a:pt x="4381500" y="22743"/>
                  <a:pt x="4381500" y="50798"/>
                </a:cubicBezTo>
                <a:lnTo>
                  <a:pt x="4381500" y="609602"/>
                </a:lnTo>
                <a:cubicBezTo>
                  <a:pt x="4381500" y="637657"/>
                  <a:pt x="4358757" y="660400"/>
                  <a:pt x="43307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040934" y="42291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Release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040934" y="4483100"/>
            <a:ext cx="425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释放锁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939334" y="4889500"/>
            <a:ext cx="4381500" cy="660400"/>
          </a:xfrm>
          <a:custGeom>
            <a:avLst/>
            <a:gdLst/>
            <a:ahLst/>
            <a:cxnLst/>
            <a:rect l="l" t="t" r="r" b="b"/>
            <a:pathLst>
              <a:path w="4381500" h="660400">
                <a:moveTo>
                  <a:pt x="50798" y="0"/>
                </a:moveTo>
                <a:lnTo>
                  <a:pt x="4330702" y="0"/>
                </a:lnTo>
                <a:cubicBezTo>
                  <a:pt x="4358757" y="0"/>
                  <a:pt x="4381500" y="22743"/>
                  <a:pt x="4381500" y="50798"/>
                </a:cubicBezTo>
                <a:lnTo>
                  <a:pt x="4381500" y="609602"/>
                </a:lnTo>
                <a:cubicBezTo>
                  <a:pt x="4381500" y="637657"/>
                  <a:pt x="4358757" y="660400"/>
                  <a:pt x="43307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040934" y="49911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GetSequencer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040934" y="5245100"/>
            <a:ext cx="425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获取序列器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939334" y="5651500"/>
            <a:ext cx="4381500" cy="660400"/>
          </a:xfrm>
          <a:custGeom>
            <a:avLst/>
            <a:gdLst/>
            <a:ahLst/>
            <a:cxnLst/>
            <a:rect l="l" t="t" r="r" b="b"/>
            <a:pathLst>
              <a:path w="4381500" h="660400">
                <a:moveTo>
                  <a:pt x="50798" y="0"/>
                </a:moveTo>
                <a:lnTo>
                  <a:pt x="4330702" y="0"/>
                </a:lnTo>
                <a:cubicBezTo>
                  <a:pt x="4358757" y="0"/>
                  <a:pt x="4381500" y="22743"/>
                  <a:pt x="4381500" y="50798"/>
                </a:cubicBezTo>
                <a:lnTo>
                  <a:pt x="4381500" y="609602"/>
                </a:lnTo>
                <a:cubicBezTo>
                  <a:pt x="4381500" y="637657"/>
                  <a:pt x="4358757" y="660400"/>
                  <a:pt x="43307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040934" y="57531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CheckSequencer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040934" y="6007100"/>
            <a:ext cx="425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检查序列器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843617" y="1784350"/>
            <a:ext cx="4902200" cy="4787900"/>
          </a:xfrm>
          <a:custGeom>
            <a:avLst/>
            <a:gdLst/>
            <a:ahLst/>
            <a:cxnLst/>
            <a:rect l="l" t="t" r="r" b="b"/>
            <a:pathLst>
              <a:path w="4902200" h="4787900">
                <a:moveTo>
                  <a:pt x="152399" y="0"/>
                </a:moveTo>
                <a:lnTo>
                  <a:pt x="4749801" y="0"/>
                </a:lnTo>
                <a:cubicBezTo>
                  <a:pt x="4833969" y="0"/>
                  <a:pt x="4902200" y="68231"/>
                  <a:pt x="4902200" y="152399"/>
                </a:cubicBezTo>
                <a:lnTo>
                  <a:pt x="4902200" y="4635501"/>
                </a:lnTo>
                <a:cubicBezTo>
                  <a:pt x="4902200" y="4719669"/>
                  <a:pt x="4833969" y="4787900"/>
                  <a:pt x="4749801" y="4787900"/>
                </a:cubicBezTo>
                <a:lnTo>
                  <a:pt x="152399" y="4787900"/>
                </a:lnTo>
                <a:cubicBezTo>
                  <a:pt x="68231" y="4787900"/>
                  <a:pt x="0" y="4719669"/>
                  <a:pt x="0" y="4635501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gradFill flip="none" rotWithShape="1">
            <a:gsLst>
              <a:gs pos="0">
                <a:srgbClr val="E1AF63">
                  <a:alpha val="30000"/>
                </a:srgbClr>
              </a:gs>
              <a:gs pos="100000">
                <a:srgbClr val="E1AF63">
                  <a:alpha val="10000"/>
                </a:srgbClr>
              </a:gs>
            </a:gsLst>
            <a:lin ang="2700000" scaled="1"/>
          </a:gradFill>
          <a:ln w="12700">
            <a:solidFill>
              <a:srgbClr val="E1AF63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1135717" y="2095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11125" y="79375"/>
                </a:moveTo>
                <a:cubicBezTo>
                  <a:pt x="111125" y="70613"/>
                  <a:pt x="118238" y="63500"/>
                  <a:pt x="127000" y="63500"/>
                </a:cubicBezTo>
                <a:cubicBezTo>
                  <a:pt x="135762" y="63500"/>
                  <a:pt x="142875" y="70613"/>
                  <a:pt x="142875" y="79375"/>
                </a:cubicBezTo>
                <a:cubicBezTo>
                  <a:pt x="142875" y="88137"/>
                  <a:pt x="135762" y="95250"/>
                  <a:pt x="127000" y="95250"/>
                </a:cubicBezTo>
                <a:cubicBezTo>
                  <a:pt x="118238" y="95250"/>
                  <a:pt x="111125" y="88137"/>
                  <a:pt x="111125" y="79375"/>
                </a:cubicBezTo>
                <a:close/>
                <a:moveTo>
                  <a:pt x="107156" y="111125"/>
                </a:moveTo>
                <a:lnTo>
                  <a:pt x="130969" y="111125"/>
                </a:lnTo>
                <a:cubicBezTo>
                  <a:pt x="137567" y="111125"/>
                  <a:pt x="142875" y="116433"/>
                  <a:pt x="142875" y="123031"/>
                </a:cubicBezTo>
                <a:lnTo>
                  <a:pt x="142875" y="166688"/>
                </a:lnTo>
                <a:lnTo>
                  <a:pt x="146844" y="166688"/>
                </a:lnTo>
                <a:cubicBezTo>
                  <a:pt x="153442" y="166688"/>
                  <a:pt x="158750" y="171996"/>
                  <a:pt x="158750" y="178594"/>
                </a:cubicBezTo>
                <a:cubicBezTo>
                  <a:pt x="158750" y="185192"/>
                  <a:pt x="153442" y="190500"/>
                  <a:pt x="146844" y="190500"/>
                </a:cubicBezTo>
                <a:lnTo>
                  <a:pt x="107156" y="190500"/>
                </a:lnTo>
                <a:cubicBezTo>
                  <a:pt x="100558" y="190500"/>
                  <a:pt x="95250" y="185192"/>
                  <a:pt x="95250" y="178594"/>
                </a:cubicBezTo>
                <a:cubicBezTo>
                  <a:pt x="95250" y="171996"/>
                  <a:pt x="100558" y="166688"/>
                  <a:pt x="107156" y="166688"/>
                </a:cubicBezTo>
                <a:lnTo>
                  <a:pt x="119063" y="166688"/>
                </a:lnTo>
                <a:lnTo>
                  <a:pt x="119063" y="134938"/>
                </a:lnTo>
                <a:lnTo>
                  <a:pt x="107156" y="134938"/>
                </a:lnTo>
                <a:cubicBezTo>
                  <a:pt x="100558" y="134938"/>
                  <a:pt x="95250" y="129629"/>
                  <a:pt x="95250" y="123031"/>
                </a:cubicBezTo>
                <a:cubicBezTo>
                  <a:pt x="95250" y="116433"/>
                  <a:pt x="100558" y="111125"/>
                  <a:pt x="107156" y="111125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1421467" y="2044700"/>
            <a:ext cx="419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状态查询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103967" y="2603500"/>
            <a:ext cx="4381500" cy="660400"/>
          </a:xfrm>
          <a:custGeom>
            <a:avLst/>
            <a:gdLst/>
            <a:ahLst/>
            <a:cxnLst/>
            <a:rect l="l" t="t" r="r" b="b"/>
            <a:pathLst>
              <a:path w="4381500" h="660400">
                <a:moveTo>
                  <a:pt x="50798" y="0"/>
                </a:moveTo>
                <a:lnTo>
                  <a:pt x="4330702" y="0"/>
                </a:lnTo>
                <a:cubicBezTo>
                  <a:pt x="4358757" y="0"/>
                  <a:pt x="4381500" y="22743"/>
                  <a:pt x="4381500" y="50798"/>
                </a:cubicBezTo>
                <a:lnTo>
                  <a:pt x="4381500" y="609602"/>
                </a:lnTo>
                <a:cubicBezTo>
                  <a:pt x="4381500" y="637657"/>
                  <a:pt x="4358757" y="660400"/>
                  <a:pt x="43307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1205567" y="27051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GetStat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205567" y="2959100"/>
            <a:ext cx="425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获取文件状态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103967" y="3365500"/>
            <a:ext cx="4381500" cy="660400"/>
          </a:xfrm>
          <a:custGeom>
            <a:avLst/>
            <a:gdLst/>
            <a:ahLst/>
            <a:cxnLst/>
            <a:rect l="l" t="t" r="r" b="b"/>
            <a:pathLst>
              <a:path w="4381500" h="660400">
                <a:moveTo>
                  <a:pt x="50798" y="0"/>
                </a:moveTo>
                <a:lnTo>
                  <a:pt x="4330702" y="0"/>
                </a:lnTo>
                <a:cubicBezTo>
                  <a:pt x="4358757" y="0"/>
                  <a:pt x="4381500" y="22743"/>
                  <a:pt x="4381500" y="50798"/>
                </a:cubicBezTo>
                <a:lnTo>
                  <a:pt x="4381500" y="609602"/>
                </a:lnTo>
                <a:cubicBezTo>
                  <a:pt x="4381500" y="637657"/>
                  <a:pt x="4358757" y="660400"/>
                  <a:pt x="43307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1205567" y="34671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ReadDir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205567" y="3721100"/>
            <a:ext cx="425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读取目录内容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1103967" y="4127500"/>
            <a:ext cx="4381500" cy="660400"/>
          </a:xfrm>
          <a:custGeom>
            <a:avLst/>
            <a:gdLst/>
            <a:ahLst/>
            <a:cxnLst/>
            <a:rect l="l" t="t" r="r" b="b"/>
            <a:pathLst>
              <a:path w="4381500" h="660400">
                <a:moveTo>
                  <a:pt x="50798" y="0"/>
                </a:moveTo>
                <a:lnTo>
                  <a:pt x="4330702" y="0"/>
                </a:lnTo>
                <a:cubicBezTo>
                  <a:pt x="4358757" y="0"/>
                  <a:pt x="4381500" y="22743"/>
                  <a:pt x="4381500" y="50798"/>
                </a:cubicBezTo>
                <a:lnTo>
                  <a:pt x="4381500" y="609602"/>
                </a:lnTo>
                <a:cubicBezTo>
                  <a:pt x="4381500" y="637657"/>
                  <a:pt x="4358757" y="660400"/>
                  <a:pt x="43307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1205567" y="42291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Poison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205567" y="4483100"/>
            <a:ext cx="425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使句柄无效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33400" y="6832600"/>
            <a:ext cx="15214600" cy="1714500"/>
          </a:xfrm>
          <a:custGeom>
            <a:avLst/>
            <a:gdLst/>
            <a:ahLst/>
            <a:cxnLst/>
            <a:rect l="l" t="t" r="r" b="b"/>
            <a:pathLst>
              <a:path w="15214600" h="1714500">
                <a:moveTo>
                  <a:pt x="50800" y="0"/>
                </a:moveTo>
                <a:lnTo>
                  <a:pt x="15062198" y="0"/>
                </a:lnTo>
                <a:cubicBezTo>
                  <a:pt x="15146367" y="0"/>
                  <a:pt x="15214600" y="68233"/>
                  <a:pt x="15214600" y="152402"/>
                </a:cubicBezTo>
                <a:lnTo>
                  <a:pt x="15214600" y="1562098"/>
                </a:lnTo>
                <a:cubicBezTo>
                  <a:pt x="15214600" y="1646267"/>
                  <a:pt x="15146367" y="1714500"/>
                  <a:pt x="15062198" y="1714500"/>
                </a:cubicBezTo>
                <a:lnTo>
                  <a:pt x="50800" y="1714500"/>
                </a:lnTo>
                <a:cubicBezTo>
                  <a:pt x="22763" y="1714500"/>
                  <a:pt x="0" y="1691737"/>
                  <a:pt x="0" y="1663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A7D9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533400" y="6832600"/>
            <a:ext cx="50800" cy="1714500"/>
          </a:xfrm>
          <a:custGeom>
            <a:avLst/>
            <a:gdLst/>
            <a:ahLst/>
            <a:cxnLst/>
            <a:rect l="l" t="t" r="r" b="b"/>
            <a:pathLst>
              <a:path w="50800" h="1714500">
                <a:moveTo>
                  <a:pt x="50800" y="0"/>
                </a:moveTo>
                <a:lnTo>
                  <a:pt x="50800" y="0"/>
                </a:lnTo>
                <a:lnTo>
                  <a:pt x="50800" y="1714500"/>
                </a:lnTo>
                <a:lnTo>
                  <a:pt x="50800" y="1714500"/>
                </a:lnTo>
                <a:cubicBezTo>
                  <a:pt x="22763" y="1714500"/>
                  <a:pt x="0" y="1691737"/>
                  <a:pt x="0" y="1663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812800" y="7086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974725" y="72644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78991" y="595"/>
                </a:moveTo>
                <a:cubicBezTo>
                  <a:pt x="170557" y="-1836"/>
                  <a:pt x="161776" y="3076"/>
                  <a:pt x="159345" y="11509"/>
                </a:cubicBezTo>
                <a:lnTo>
                  <a:pt x="95845" y="233759"/>
                </a:lnTo>
                <a:cubicBezTo>
                  <a:pt x="93414" y="242193"/>
                  <a:pt x="98326" y="250974"/>
                  <a:pt x="106759" y="253405"/>
                </a:cubicBezTo>
                <a:cubicBezTo>
                  <a:pt x="115193" y="255836"/>
                  <a:pt x="123974" y="250924"/>
                  <a:pt x="126405" y="242491"/>
                </a:cubicBezTo>
                <a:lnTo>
                  <a:pt x="189905" y="20241"/>
                </a:lnTo>
                <a:cubicBezTo>
                  <a:pt x="192336" y="11807"/>
                  <a:pt x="187424" y="3026"/>
                  <a:pt x="178991" y="595"/>
                </a:cubicBezTo>
                <a:close/>
                <a:moveTo>
                  <a:pt x="211038" y="68114"/>
                </a:moveTo>
                <a:cubicBezTo>
                  <a:pt x="204837" y="74315"/>
                  <a:pt x="204837" y="84386"/>
                  <a:pt x="211038" y="90587"/>
                </a:cubicBezTo>
                <a:lnTo>
                  <a:pt x="247452" y="127000"/>
                </a:lnTo>
                <a:lnTo>
                  <a:pt x="211038" y="163413"/>
                </a:lnTo>
                <a:cubicBezTo>
                  <a:pt x="204837" y="169614"/>
                  <a:pt x="204837" y="179685"/>
                  <a:pt x="211038" y="185886"/>
                </a:cubicBezTo>
                <a:cubicBezTo>
                  <a:pt x="217239" y="192087"/>
                  <a:pt x="227310" y="192087"/>
                  <a:pt x="233511" y="185886"/>
                </a:cubicBezTo>
                <a:lnTo>
                  <a:pt x="281136" y="138261"/>
                </a:lnTo>
                <a:cubicBezTo>
                  <a:pt x="287338" y="132060"/>
                  <a:pt x="287338" y="121989"/>
                  <a:pt x="281136" y="115788"/>
                </a:cubicBezTo>
                <a:lnTo>
                  <a:pt x="233511" y="68163"/>
                </a:lnTo>
                <a:cubicBezTo>
                  <a:pt x="227310" y="61962"/>
                  <a:pt x="217239" y="61962"/>
                  <a:pt x="211038" y="68163"/>
                </a:cubicBezTo>
                <a:close/>
                <a:moveTo>
                  <a:pt x="74761" y="68114"/>
                </a:moveTo>
                <a:cubicBezTo>
                  <a:pt x="68560" y="61912"/>
                  <a:pt x="58489" y="61912"/>
                  <a:pt x="52288" y="68114"/>
                </a:cubicBezTo>
                <a:lnTo>
                  <a:pt x="4663" y="115739"/>
                </a:lnTo>
                <a:cubicBezTo>
                  <a:pt x="-1538" y="121940"/>
                  <a:pt x="-1538" y="132011"/>
                  <a:pt x="4663" y="138212"/>
                </a:cubicBezTo>
                <a:lnTo>
                  <a:pt x="52288" y="185837"/>
                </a:lnTo>
                <a:cubicBezTo>
                  <a:pt x="58489" y="192038"/>
                  <a:pt x="68560" y="192038"/>
                  <a:pt x="74761" y="185837"/>
                </a:cubicBezTo>
                <a:cubicBezTo>
                  <a:pt x="80962" y="179636"/>
                  <a:pt x="80962" y="169565"/>
                  <a:pt x="74761" y="163364"/>
                </a:cubicBezTo>
                <a:lnTo>
                  <a:pt x="38348" y="127000"/>
                </a:lnTo>
                <a:lnTo>
                  <a:pt x="74712" y="90587"/>
                </a:lnTo>
                <a:cubicBezTo>
                  <a:pt x="80913" y="84386"/>
                  <a:pt x="80913" y="74315"/>
                  <a:pt x="74712" y="68114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625600" y="7086600"/>
            <a:ext cx="13995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API 设计特点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625600" y="7543800"/>
            <a:ext cx="139827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Chubby 的 API 设计</a:t>
            </a:r>
            <a:r>
              <a:rPr lang="en-US" sz="1800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简洁而全面</a:t>
            </a: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，覆盖了分布式锁服务的核心需求。</a:t>
            </a:r>
            <a:r>
              <a:rPr lang="en-US" sz="1800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SetContents</a:t>
            </a: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支持比较并交换（CAS）语义，</a:t>
            </a:r>
            <a:r>
              <a:rPr lang="en-US" sz="1800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TryAcquire</a:t>
            </a: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提供非阻塞锁获取，</a:t>
            </a:r>
            <a:r>
              <a:rPr lang="en-US" sz="1800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序列器操作</a:t>
            </a: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解决消息乱序问题。这些设计体现了对分布式系统实际需求的深刻理解。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12408396" y="2043113"/>
            <a:ext cx="3314700" cy="787400"/>
          </a:xfrm>
          <a:custGeom>
            <a:avLst/>
            <a:gdLst/>
            <a:ahLst/>
            <a:cxnLst/>
            <a:rect l="l" t="t" r="r" b="b"/>
            <a:pathLst>
              <a:path w="3314700" h="787400">
                <a:moveTo>
                  <a:pt x="0" y="0"/>
                </a:moveTo>
                <a:lnTo>
                  <a:pt x="3314700" y="0"/>
                </a:lnTo>
                <a:lnTo>
                  <a:pt x="33147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solidFill>
            <a:srgbClr val="5A7D9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15723096" y="2043113"/>
            <a:ext cx="50800" cy="787400"/>
          </a:xfrm>
          <a:custGeom>
            <a:avLst/>
            <a:gdLst/>
            <a:ahLst/>
            <a:cxnLst/>
            <a:rect l="l" t="t" r="r" b="b"/>
            <a:pathLst>
              <a:path w="50800" h="787400">
                <a:moveTo>
                  <a:pt x="0" y="0"/>
                </a:moveTo>
                <a:lnTo>
                  <a:pt x="50800" y="0"/>
                </a:lnTo>
                <a:lnTo>
                  <a:pt x="508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12522696" y="2195513"/>
            <a:ext cx="2869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3000" kern="0" spc="300" dirty="0">
                <a:solidFill>
                  <a:srgbClr val="4DB3A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91456" y="3230563"/>
            <a:ext cx="10958132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9600" dirty="0" err="1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API与应用场景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3716000" y="5973763"/>
            <a:ext cx="2032000" cy="101600"/>
          </a:xfrm>
          <a:custGeom>
            <a:avLst/>
            <a:gdLst/>
            <a:ahLst/>
            <a:cxnLst/>
            <a:rect l="l" t="t" r="r" b="b"/>
            <a:pathLst>
              <a:path w="2032000" h="101600">
                <a:moveTo>
                  <a:pt x="0" y="0"/>
                </a:moveTo>
                <a:lnTo>
                  <a:pt x="2032000" y="0"/>
                </a:lnTo>
                <a:lnTo>
                  <a:pt x="20320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A7D9A"/>
              </a:gs>
              <a:gs pos="100000">
                <a:srgbClr val="4DB3A2"/>
              </a:gs>
            </a:gsLst>
            <a:lin ang="108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9412288" y="6481763"/>
            <a:ext cx="63373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3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了解 Chubby 的实践价值与典型应用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APPLICATIONS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Google 内部应用案例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0700" y="1790700"/>
            <a:ext cx="4889500" cy="4597400"/>
          </a:xfrm>
          <a:custGeom>
            <a:avLst/>
            <a:gdLst/>
            <a:ahLst/>
            <a:cxnLst/>
            <a:rect l="l" t="t" r="r" b="b"/>
            <a:pathLst>
              <a:path w="4889500" h="4597400">
                <a:moveTo>
                  <a:pt x="152404" y="0"/>
                </a:moveTo>
                <a:lnTo>
                  <a:pt x="4737096" y="0"/>
                </a:lnTo>
                <a:cubicBezTo>
                  <a:pt x="4821266" y="0"/>
                  <a:pt x="4889500" y="68234"/>
                  <a:pt x="4889500" y="152404"/>
                </a:cubicBezTo>
                <a:lnTo>
                  <a:pt x="4889500" y="4444996"/>
                </a:lnTo>
                <a:cubicBezTo>
                  <a:pt x="4889500" y="4529166"/>
                  <a:pt x="4821266" y="4597400"/>
                  <a:pt x="4737096" y="4597400"/>
                </a:cubicBezTo>
                <a:lnTo>
                  <a:pt x="152404" y="4597400"/>
                </a:lnTo>
                <a:cubicBezTo>
                  <a:pt x="68234" y="4597400"/>
                  <a:pt x="0" y="4529166"/>
                  <a:pt x="0" y="444499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gradFill flip="none" rotWithShape="1">
            <a:gsLst>
              <a:gs pos="0">
                <a:srgbClr val="5A7D9A">
                  <a:alpha val="30000"/>
                </a:srgbClr>
              </a:gs>
              <a:gs pos="100000">
                <a:srgbClr val="5A7D9A">
                  <a:alpha val="10000"/>
                </a:srgbClr>
              </a:gs>
            </a:gsLst>
            <a:lin ang="2700000" scaled="1"/>
          </a:gradFill>
          <a:ln w="25400">
            <a:solidFill>
              <a:srgbClr val="5A7D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38200" y="2108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081088" y="23241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333375" y="153144"/>
                </a:moveTo>
                <a:cubicBezTo>
                  <a:pt x="322362" y="160437"/>
                  <a:pt x="309711" y="166315"/>
                  <a:pt x="296540" y="171004"/>
                </a:cubicBezTo>
                <a:cubicBezTo>
                  <a:pt x="261565" y="183505"/>
                  <a:pt x="215652" y="190500"/>
                  <a:pt x="166688" y="190500"/>
                </a:cubicBezTo>
                <a:cubicBezTo>
                  <a:pt x="117723" y="190500"/>
                  <a:pt x="71735" y="183431"/>
                  <a:pt x="36835" y="171004"/>
                </a:cubicBezTo>
                <a:cubicBezTo>
                  <a:pt x="23738" y="166315"/>
                  <a:pt x="11013" y="160437"/>
                  <a:pt x="0" y="153144"/>
                </a:cubicBezTo>
                <a:lnTo>
                  <a:pt x="0" y="214313"/>
                </a:lnTo>
                <a:cubicBezTo>
                  <a:pt x="0" y="247204"/>
                  <a:pt x="74637" y="273844"/>
                  <a:pt x="166688" y="273844"/>
                </a:cubicBezTo>
                <a:cubicBezTo>
                  <a:pt x="258738" y="273844"/>
                  <a:pt x="333375" y="247204"/>
                  <a:pt x="333375" y="214313"/>
                </a:cubicBezTo>
                <a:lnTo>
                  <a:pt x="333375" y="153144"/>
                </a:lnTo>
                <a:close/>
                <a:moveTo>
                  <a:pt x="333375" y="95250"/>
                </a:moveTo>
                <a:lnTo>
                  <a:pt x="333375" y="59531"/>
                </a:lnTo>
                <a:cubicBezTo>
                  <a:pt x="333375" y="26640"/>
                  <a:pt x="258738" y="0"/>
                  <a:pt x="166688" y="0"/>
                </a:cubicBezTo>
                <a:cubicBezTo>
                  <a:pt x="74637" y="0"/>
                  <a:pt x="0" y="26640"/>
                  <a:pt x="0" y="59531"/>
                </a:cubicBezTo>
                <a:lnTo>
                  <a:pt x="0" y="95250"/>
                </a:lnTo>
                <a:cubicBezTo>
                  <a:pt x="0" y="128141"/>
                  <a:pt x="74637" y="154781"/>
                  <a:pt x="166688" y="154781"/>
                </a:cubicBezTo>
                <a:cubicBezTo>
                  <a:pt x="258738" y="154781"/>
                  <a:pt x="333375" y="128141"/>
                  <a:pt x="333375" y="95250"/>
                </a:cubicBezTo>
                <a:close/>
                <a:moveTo>
                  <a:pt x="296540" y="290066"/>
                </a:moveTo>
                <a:cubicBezTo>
                  <a:pt x="261640" y="302493"/>
                  <a:pt x="215726" y="309563"/>
                  <a:pt x="166688" y="309563"/>
                </a:cubicBezTo>
                <a:cubicBezTo>
                  <a:pt x="117649" y="309563"/>
                  <a:pt x="71735" y="302493"/>
                  <a:pt x="36835" y="290066"/>
                </a:cubicBezTo>
                <a:cubicBezTo>
                  <a:pt x="23738" y="285378"/>
                  <a:pt x="11013" y="279499"/>
                  <a:pt x="0" y="272207"/>
                </a:cubicBezTo>
                <a:lnTo>
                  <a:pt x="0" y="321469"/>
                </a:lnTo>
                <a:cubicBezTo>
                  <a:pt x="0" y="354360"/>
                  <a:pt x="74637" y="381000"/>
                  <a:pt x="166688" y="381000"/>
                </a:cubicBezTo>
                <a:cubicBezTo>
                  <a:pt x="258738" y="381000"/>
                  <a:pt x="333375" y="354360"/>
                  <a:pt x="333375" y="321469"/>
                </a:cubicBezTo>
                <a:lnTo>
                  <a:pt x="333375" y="272207"/>
                </a:lnTo>
                <a:cubicBezTo>
                  <a:pt x="322362" y="279499"/>
                  <a:pt x="309711" y="285378"/>
                  <a:pt x="296540" y="290066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854200" y="2184400"/>
            <a:ext cx="172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5A7D9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GFS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54200" y="2590800"/>
            <a:ext cx="166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File System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3600" y="3175000"/>
            <a:ext cx="4229100" cy="1574800"/>
          </a:xfrm>
          <a:custGeom>
            <a:avLst/>
            <a:gdLst/>
            <a:ahLst/>
            <a:cxnLst/>
            <a:rect l="l" t="t" r="r" b="b"/>
            <a:pathLst>
              <a:path w="4229100" h="1574800">
                <a:moveTo>
                  <a:pt x="50800" y="0"/>
                </a:moveTo>
                <a:lnTo>
                  <a:pt x="4127494" y="0"/>
                </a:lnTo>
                <a:cubicBezTo>
                  <a:pt x="4183609" y="0"/>
                  <a:pt x="4229100" y="45491"/>
                  <a:pt x="4229100" y="101606"/>
                </a:cubicBezTo>
                <a:lnTo>
                  <a:pt x="4229100" y="1473194"/>
                </a:lnTo>
                <a:cubicBezTo>
                  <a:pt x="4229100" y="1529309"/>
                  <a:pt x="4183609" y="1574800"/>
                  <a:pt x="4127494" y="1574800"/>
                </a:cubicBezTo>
                <a:lnTo>
                  <a:pt x="50800" y="1574800"/>
                </a:lnTo>
                <a:cubicBezTo>
                  <a:pt x="22744" y="1574800"/>
                  <a:pt x="0" y="1552056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63600" y="3175000"/>
            <a:ext cx="50800" cy="1574800"/>
          </a:xfrm>
          <a:custGeom>
            <a:avLst/>
            <a:gdLst/>
            <a:ahLst/>
            <a:cxnLst/>
            <a:rect l="l" t="t" r="r" b="b"/>
            <a:pathLst>
              <a:path w="50800" h="1574800">
                <a:moveTo>
                  <a:pt x="50800" y="0"/>
                </a:moveTo>
                <a:lnTo>
                  <a:pt x="50800" y="0"/>
                </a:lnTo>
                <a:lnTo>
                  <a:pt x="50800" y="1574800"/>
                </a:lnTo>
                <a:lnTo>
                  <a:pt x="50800" y="1574800"/>
                </a:lnTo>
                <a:cubicBezTo>
                  <a:pt x="22763" y="1574800"/>
                  <a:pt x="0" y="1552037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92200" y="3378200"/>
            <a:ext cx="3898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主节点选举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2200" y="3784600"/>
            <a:ext cx="3886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 GFS 集群中，Chubby 负责选举</a:t>
            </a:r>
            <a:r>
              <a:rPr lang="en-US" sz="1400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主服务器</a:t>
            </a:r>
            <a:r>
              <a:rPr lang="en-US" sz="14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（Master Server），确保只有一个主节点管理整个文件系统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3600" y="4749800"/>
            <a:ext cx="4229100" cy="1320800"/>
          </a:xfrm>
          <a:custGeom>
            <a:avLst/>
            <a:gdLst/>
            <a:ahLst/>
            <a:cxnLst/>
            <a:rect l="l" t="t" r="r" b="b"/>
            <a:pathLst>
              <a:path w="4229100" h="1320800">
                <a:moveTo>
                  <a:pt x="50800" y="0"/>
                </a:moveTo>
                <a:lnTo>
                  <a:pt x="4127504" y="0"/>
                </a:lnTo>
                <a:cubicBezTo>
                  <a:pt x="4183614" y="0"/>
                  <a:pt x="4229100" y="45486"/>
                  <a:pt x="4229100" y="101596"/>
                </a:cubicBezTo>
                <a:lnTo>
                  <a:pt x="4229100" y="1219204"/>
                </a:lnTo>
                <a:cubicBezTo>
                  <a:pt x="4229100" y="1275314"/>
                  <a:pt x="4183614" y="1320800"/>
                  <a:pt x="4127504" y="1320800"/>
                </a:cubicBezTo>
                <a:lnTo>
                  <a:pt x="50800" y="1320800"/>
                </a:lnTo>
                <a:cubicBezTo>
                  <a:pt x="22763" y="1320800"/>
                  <a:pt x="0" y="1298037"/>
                  <a:pt x="0" y="127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63600" y="4749800"/>
            <a:ext cx="50800" cy="1320800"/>
          </a:xfrm>
          <a:custGeom>
            <a:avLst/>
            <a:gdLst/>
            <a:ahLst/>
            <a:cxnLst/>
            <a:rect l="l" t="t" r="r" b="b"/>
            <a:pathLst>
              <a:path w="50800" h="1320800">
                <a:moveTo>
                  <a:pt x="50800" y="0"/>
                </a:moveTo>
                <a:lnTo>
                  <a:pt x="50800" y="0"/>
                </a:lnTo>
                <a:lnTo>
                  <a:pt x="50800" y="1320800"/>
                </a:lnTo>
                <a:lnTo>
                  <a:pt x="50800" y="1320800"/>
                </a:lnTo>
                <a:cubicBezTo>
                  <a:pt x="22763" y="1320800"/>
                  <a:pt x="0" y="1298037"/>
                  <a:pt x="0" y="127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092200" y="4953000"/>
            <a:ext cx="3898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元数据管理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2200" y="5359400"/>
            <a:ext cx="3886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存储和管理 GFS 的元数据信息，包括文件到 chunk 的映射、chunk 位置信息等关键数据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85334" y="1790700"/>
            <a:ext cx="4889500" cy="4597400"/>
          </a:xfrm>
          <a:custGeom>
            <a:avLst/>
            <a:gdLst/>
            <a:ahLst/>
            <a:cxnLst/>
            <a:rect l="l" t="t" r="r" b="b"/>
            <a:pathLst>
              <a:path w="4889500" h="4597400">
                <a:moveTo>
                  <a:pt x="152404" y="0"/>
                </a:moveTo>
                <a:lnTo>
                  <a:pt x="4737096" y="0"/>
                </a:lnTo>
                <a:cubicBezTo>
                  <a:pt x="4821266" y="0"/>
                  <a:pt x="4889500" y="68234"/>
                  <a:pt x="4889500" y="152404"/>
                </a:cubicBezTo>
                <a:lnTo>
                  <a:pt x="4889500" y="4444996"/>
                </a:lnTo>
                <a:cubicBezTo>
                  <a:pt x="4889500" y="4529166"/>
                  <a:pt x="4821266" y="4597400"/>
                  <a:pt x="4737096" y="4597400"/>
                </a:cubicBezTo>
                <a:lnTo>
                  <a:pt x="152404" y="4597400"/>
                </a:lnTo>
                <a:cubicBezTo>
                  <a:pt x="68234" y="4597400"/>
                  <a:pt x="0" y="4529166"/>
                  <a:pt x="0" y="444499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3A2">
                  <a:alpha val="30000"/>
                </a:srgbClr>
              </a:gs>
              <a:gs pos="100000">
                <a:srgbClr val="4DB3A2">
                  <a:alpha val="10000"/>
                </a:srgbClr>
              </a:gs>
            </a:gsLst>
            <a:lin ang="2700000" scaled="1"/>
          </a:gradFill>
          <a:ln w="25400">
            <a:solidFill>
              <a:srgbClr val="4DB3A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002834" y="2108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245721" y="23241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90500" y="119063"/>
                </a:moveTo>
                <a:lnTo>
                  <a:pt x="190500" y="190500"/>
                </a:lnTo>
                <a:lnTo>
                  <a:pt x="285750" y="190500"/>
                </a:lnTo>
                <a:lnTo>
                  <a:pt x="285750" y="119063"/>
                </a:lnTo>
                <a:lnTo>
                  <a:pt x="190500" y="119063"/>
                </a:lnTo>
                <a:close/>
                <a:moveTo>
                  <a:pt x="142875" y="119063"/>
                </a:moveTo>
                <a:lnTo>
                  <a:pt x="47625" y="119063"/>
                </a:lnTo>
                <a:lnTo>
                  <a:pt x="47625" y="190500"/>
                </a:lnTo>
                <a:lnTo>
                  <a:pt x="142875" y="190500"/>
                </a:lnTo>
                <a:lnTo>
                  <a:pt x="142875" y="119063"/>
                </a:lnTo>
                <a:close/>
                <a:moveTo>
                  <a:pt x="0" y="238125"/>
                </a:moveTo>
                <a:lnTo>
                  <a:pt x="0" y="71438"/>
                </a:lnTo>
                <a:cubicBezTo>
                  <a:pt x="0" y="45169"/>
                  <a:pt x="21357" y="23812"/>
                  <a:pt x="47625" y="23812"/>
                </a:cubicBezTo>
                <a:lnTo>
                  <a:pt x="285750" y="23812"/>
                </a:lnTo>
                <a:cubicBezTo>
                  <a:pt x="312018" y="23812"/>
                  <a:pt x="333375" y="45169"/>
                  <a:pt x="333375" y="71438"/>
                </a:cubicBezTo>
                <a:lnTo>
                  <a:pt x="333375" y="309563"/>
                </a:lnTo>
                <a:cubicBezTo>
                  <a:pt x="333375" y="335831"/>
                  <a:pt x="312018" y="357188"/>
                  <a:pt x="285750" y="357188"/>
                </a:cubicBezTo>
                <a:lnTo>
                  <a:pt x="47625" y="357188"/>
                </a:lnTo>
                <a:cubicBezTo>
                  <a:pt x="21357" y="357188"/>
                  <a:pt x="0" y="335831"/>
                  <a:pt x="0" y="309563"/>
                </a:cubicBezTo>
                <a:lnTo>
                  <a:pt x="0" y="238125"/>
                </a:lnTo>
                <a:close/>
                <a:moveTo>
                  <a:pt x="285750" y="238125"/>
                </a:moveTo>
                <a:lnTo>
                  <a:pt x="190500" y="238125"/>
                </a:lnTo>
                <a:lnTo>
                  <a:pt x="190500" y="309563"/>
                </a:lnTo>
                <a:lnTo>
                  <a:pt x="285750" y="309563"/>
                </a:lnTo>
                <a:lnTo>
                  <a:pt x="285750" y="238125"/>
                </a:lnTo>
                <a:close/>
                <a:moveTo>
                  <a:pt x="142875" y="309563"/>
                </a:moveTo>
                <a:lnTo>
                  <a:pt x="142875" y="238125"/>
                </a:lnTo>
                <a:lnTo>
                  <a:pt x="47625" y="238125"/>
                </a:lnTo>
                <a:lnTo>
                  <a:pt x="47625" y="309563"/>
                </a:lnTo>
                <a:lnTo>
                  <a:pt x="142875" y="309563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018834" y="2184400"/>
            <a:ext cx="1460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4DB3A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BigTable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18834" y="259080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分布式存储系统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028234" y="3238500"/>
            <a:ext cx="4229100" cy="1320800"/>
          </a:xfrm>
          <a:custGeom>
            <a:avLst/>
            <a:gdLst/>
            <a:ahLst/>
            <a:cxnLst/>
            <a:rect l="l" t="t" r="r" b="b"/>
            <a:pathLst>
              <a:path w="4229100" h="1320800">
                <a:moveTo>
                  <a:pt x="50800" y="0"/>
                </a:moveTo>
                <a:lnTo>
                  <a:pt x="4127504" y="0"/>
                </a:lnTo>
                <a:cubicBezTo>
                  <a:pt x="4183614" y="0"/>
                  <a:pt x="4229100" y="45486"/>
                  <a:pt x="4229100" y="101596"/>
                </a:cubicBezTo>
                <a:lnTo>
                  <a:pt x="4229100" y="1219204"/>
                </a:lnTo>
                <a:cubicBezTo>
                  <a:pt x="4229100" y="1275314"/>
                  <a:pt x="4183614" y="1320800"/>
                  <a:pt x="4127504" y="1320800"/>
                </a:cubicBezTo>
                <a:lnTo>
                  <a:pt x="50800" y="1320800"/>
                </a:lnTo>
                <a:cubicBezTo>
                  <a:pt x="22763" y="1320800"/>
                  <a:pt x="0" y="1298037"/>
                  <a:pt x="0" y="127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028234" y="3238500"/>
            <a:ext cx="50800" cy="1320800"/>
          </a:xfrm>
          <a:custGeom>
            <a:avLst/>
            <a:gdLst/>
            <a:ahLst/>
            <a:cxnLst/>
            <a:rect l="l" t="t" r="r" b="b"/>
            <a:pathLst>
              <a:path w="50800" h="1320800">
                <a:moveTo>
                  <a:pt x="50800" y="0"/>
                </a:moveTo>
                <a:lnTo>
                  <a:pt x="50800" y="0"/>
                </a:lnTo>
                <a:lnTo>
                  <a:pt x="50800" y="1320800"/>
                </a:lnTo>
                <a:lnTo>
                  <a:pt x="50800" y="1320800"/>
                </a:lnTo>
                <a:cubicBezTo>
                  <a:pt x="22763" y="1320800"/>
                  <a:pt x="0" y="1298037"/>
                  <a:pt x="0" y="127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256834" y="3441700"/>
            <a:ext cx="3898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主服务器选举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56834" y="3848100"/>
            <a:ext cx="3886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选举 BigTable 集群的</a:t>
            </a:r>
            <a:r>
              <a:rPr lang="en-US" sz="1400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主服务器</a:t>
            </a:r>
            <a:r>
              <a:rPr lang="en-US" sz="14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，协调各个 Tablet Server 的工作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028234" y="4686300"/>
            <a:ext cx="4229100" cy="1320800"/>
          </a:xfrm>
          <a:custGeom>
            <a:avLst/>
            <a:gdLst/>
            <a:ahLst/>
            <a:cxnLst/>
            <a:rect l="l" t="t" r="r" b="b"/>
            <a:pathLst>
              <a:path w="4229100" h="1320800">
                <a:moveTo>
                  <a:pt x="50800" y="0"/>
                </a:moveTo>
                <a:lnTo>
                  <a:pt x="4127504" y="0"/>
                </a:lnTo>
                <a:cubicBezTo>
                  <a:pt x="4183614" y="0"/>
                  <a:pt x="4229100" y="45486"/>
                  <a:pt x="4229100" y="101596"/>
                </a:cubicBezTo>
                <a:lnTo>
                  <a:pt x="4229100" y="1219204"/>
                </a:lnTo>
                <a:cubicBezTo>
                  <a:pt x="4229100" y="1275314"/>
                  <a:pt x="4183614" y="1320800"/>
                  <a:pt x="4127504" y="1320800"/>
                </a:cubicBezTo>
                <a:lnTo>
                  <a:pt x="50800" y="1320800"/>
                </a:lnTo>
                <a:cubicBezTo>
                  <a:pt x="22763" y="1320800"/>
                  <a:pt x="0" y="1298037"/>
                  <a:pt x="0" y="127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028234" y="4686300"/>
            <a:ext cx="50800" cy="1320800"/>
          </a:xfrm>
          <a:custGeom>
            <a:avLst/>
            <a:gdLst/>
            <a:ahLst/>
            <a:cxnLst/>
            <a:rect l="l" t="t" r="r" b="b"/>
            <a:pathLst>
              <a:path w="50800" h="1320800">
                <a:moveTo>
                  <a:pt x="50800" y="0"/>
                </a:moveTo>
                <a:lnTo>
                  <a:pt x="50800" y="0"/>
                </a:lnTo>
                <a:lnTo>
                  <a:pt x="50800" y="1320800"/>
                </a:lnTo>
                <a:lnTo>
                  <a:pt x="50800" y="1320800"/>
                </a:lnTo>
                <a:cubicBezTo>
                  <a:pt x="22763" y="1320800"/>
                  <a:pt x="0" y="1298037"/>
                  <a:pt x="0" y="127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256834" y="4889500"/>
            <a:ext cx="3898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表分片管理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56834" y="5295900"/>
            <a:ext cx="3886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 tablet 的分配和负载均衡，确保数据在 Tablet Server 之间均匀分布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849967" y="1790700"/>
            <a:ext cx="4889500" cy="4597400"/>
          </a:xfrm>
          <a:custGeom>
            <a:avLst/>
            <a:gdLst/>
            <a:ahLst/>
            <a:cxnLst/>
            <a:rect l="l" t="t" r="r" b="b"/>
            <a:pathLst>
              <a:path w="4889500" h="4597400">
                <a:moveTo>
                  <a:pt x="152404" y="0"/>
                </a:moveTo>
                <a:lnTo>
                  <a:pt x="4737096" y="0"/>
                </a:lnTo>
                <a:cubicBezTo>
                  <a:pt x="4821266" y="0"/>
                  <a:pt x="4889500" y="68234"/>
                  <a:pt x="4889500" y="152404"/>
                </a:cubicBezTo>
                <a:lnTo>
                  <a:pt x="4889500" y="4444996"/>
                </a:lnTo>
                <a:cubicBezTo>
                  <a:pt x="4889500" y="4529166"/>
                  <a:pt x="4821266" y="4597400"/>
                  <a:pt x="4737096" y="4597400"/>
                </a:cubicBezTo>
                <a:lnTo>
                  <a:pt x="152404" y="4597400"/>
                </a:lnTo>
                <a:cubicBezTo>
                  <a:pt x="68234" y="4597400"/>
                  <a:pt x="0" y="4529166"/>
                  <a:pt x="0" y="444499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gradFill flip="none" rotWithShape="1">
            <a:gsLst>
              <a:gs pos="0">
                <a:srgbClr val="E1AF63">
                  <a:alpha val="30000"/>
                </a:srgbClr>
              </a:gs>
              <a:gs pos="100000">
                <a:srgbClr val="E1AF63">
                  <a:alpha val="10000"/>
                </a:srgbClr>
              </a:gs>
            </a:gsLst>
            <a:lin ang="2700000" scaled="1"/>
          </a:gradFill>
          <a:ln w="25400">
            <a:solidFill>
              <a:srgbClr val="E1AF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11167467" y="2108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11386542" y="2324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9566" y="27012"/>
                </a:moveTo>
                <a:cubicBezTo>
                  <a:pt x="107677" y="32668"/>
                  <a:pt x="109612" y="43830"/>
                  <a:pt x="103956" y="51867"/>
                </a:cubicBezTo>
                <a:lnTo>
                  <a:pt x="62285" y="111398"/>
                </a:lnTo>
                <a:cubicBezTo>
                  <a:pt x="59234" y="115714"/>
                  <a:pt x="54471" y="118467"/>
                  <a:pt x="49188" y="118914"/>
                </a:cubicBezTo>
                <a:cubicBezTo>
                  <a:pt x="43904" y="119360"/>
                  <a:pt x="38695" y="117574"/>
                  <a:pt x="34975" y="113854"/>
                </a:cubicBezTo>
                <a:lnTo>
                  <a:pt x="5209" y="84088"/>
                </a:lnTo>
                <a:cubicBezTo>
                  <a:pt x="-1712" y="77093"/>
                  <a:pt x="-1712" y="65782"/>
                  <a:pt x="5209" y="58787"/>
                </a:cubicBezTo>
                <a:cubicBezTo>
                  <a:pt x="12129" y="51792"/>
                  <a:pt x="23515" y="51867"/>
                  <a:pt x="30510" y="58787"/>
                </a:cubicBezTo>
                <a:lnTo>
                  <a:pt x="45244" y="73521"/>
                </a:lnTo>
                <a:lnTo>
                  <a:pt x="74712" y="31403"/>
                </a:lnTo>
                <a:cubicBezTo>
                  <a:pt x="80367" y="23292"/>
                  <a:pt x="91529" y="21357"/>
                  <a:pt x="99566" y="27012"/>
                </a:cubicBezTo>
                <a:close/>
                <a:moveTo>
                  <a:pt x="99566" y="146075"/>
                </a:moveTo>
                <a:cubicBezTo>
                  <a:pt x="107677" y="151730"/>
                  <a:pt x="109612" y="162892"/>
                  <a:pt x="103956" y="170929"/>
                </a:cubicBezTo>
                <a:lnTo>
                  <a:pt x="62285" y="230460"/>
                </a:lnTo>
                <a:cubicBezTo>
                  <a:pt x="59234" y="234776"/>
                  <a:pt x="54471" y="237530"/>
                  <a:pt x="49188" y="237976"/>
                </a:cubicBezTo>
                <a:cubicBezTo>
                  <a:pt x="43904" y="238423"/>
                  <a:pt x="38695" y="236637"/>
                  <a:pt x="34975" y="232916"/>
                </a:cubicBezTo>
                <a:lnTo>
                  <a:pt x="5209" y="203150"/>
                </a:lnTo>
                <a:cubicBezTo>
                  <a:pt x="-1786" y="196155"/>
                  <a:pt x="-1786" y="184845"/>
                  <a:pt x="5209" y="177924"/>
                </a:cubicBezTo>
                <a:cubicBezTo>
                  <a:pt x="12204" y="171004"/>
                  <a:pt x="23515" y="170929"/>
                  <a:pt x="30435" y="177924"/>
                </a:cubicBezTo>
                <a:lnTo>
                  <a:pt x="45169" y="192658"/>
                </a:lnTo>
                <a:lnTo>
                  <a:pt x="74637" y="150540"/>
                </a:lnTo>
                <a:cubicBezTo>
                  <a:pt x="80293" y="142429"/>
                  <a:pt x="91455" y="140494"/>
                  <a:pt x="99492" y="146149"/>
                </a:cubicBezTo>
                <a:close/>
                <a:moveTo>
                  <a:pt x="166688" y="71438"/>
                </a:moveTo>
                <a:cubicBezTo>
                  <a:pt x="166688" y="58266"/>
                  <a:pt x="177329" y="47625"/>
                  <a:pt x="190500" y="47625"/>
                </a:cubicBezTo>
                <a:lnTo>
                  <a:pt x="357188" y="47625"/>
                </a:lnTo>
                <a:cubicBezTo>
                  <a:pt x="370359" y="47625"/>
                  <a:pt x="381000" y="58266"/>
                  <a:pt x="381000" y="71438"/>
                </a:cubicBezTo>
                <a:cubicBezTo>
                  <a:pt x="381000" y="84609"/>
                  <a:pt x="370359" y="95250"/>
                  <a:pt x="357188" y="95250"/>
                </a:cubicBezTo>
                <a:lnTo>
                  <a:pt x="190500" y="95250"/>
                </a:lnTo>
                <a:cubicBezTo>
                  <a:pt x="177329" y="95250"/>
                  <a:pt x="166688" y="84609"/>
                  <a:pt x="166688" y="71438"/>
                </a:cubicBezTo>
                <a:close/>
                <a:moveTo>
                  <a:pt x="166688" y="190500"/>
                </a:moveTo>
                <a:cubicBezTo>
                  <a:pt x="166688" y="177329"/>
                  <a:pt x="177329" y="166688"/>
                  <a:pt x="190500" y="166688"/>
                </a:cubicBezTo>
                <a:lnTo>
                  <a:pt x="357188" y="166688"/>
                </a:lnTo>
                <a:cubicBezTo>
                  <a:pt x="370359" y="166688"/>
                  <a:pt x="381000" y="177329"/>
                  <a:pt x="381000" y="190500"/>
                </a:cubicBezTo>
                <a:cubicBezTo>
                  <a:pt x="381000" y="203671"/>
                  <a:pt x="370359" y="214313"/>
                  <a:pt x="357188" y="214313"/>
                </a:cubicBezTo>
                <a:lnTo>
                  <a:pt x="190500" y="214313"/>
                </a:lnTo>
                <a:cubicBezTo>
                  <a:pt x="177329" y="214313"/>
                  <a:pt x="166688" y="203671"/>
                  <a:pt x="166688" y="190500"/>
                </a:cubicBezTo>
                <a:close/>
                <a:moveTo>
                  <a:pt x="119063" y="309563"/>
                </a:moveTo>
                <a:cubicBezTo>
                  <a:pt x="119063" y="296391"/>
                  <a:pt x="129704" y="285750"/>
                  <a:pt x="142875" y="285750"/>
                </a:cubicBezTo>
                <a:lnTo>
                  <a:pt x="357188" y="285750"/>
                </a:lnTo>
                <a:cubicBezTo>
                  <a:pt x="370359" y="285750"/>
                  <a:pt x="381000" y="296391"/>
                  <a:pt x="381000" y="309563"/>
                </a:cubicBezTo>
                <a:cubicBezTo>
                  <a:pt x="381000" y="322734"/>
                  <a:pt x="370359" y="333375"/>
                  <a:pt x="357188" y="333375"/>
                </a:cubicBezTo>
                <a:lnTo>
                  <a:pt x="142875" y="333375"/>
                </a:lnTo>
                <a:cubicBezTo>
                  <a:pt x="129704" y="333375"/>
                  <a:pt x="119063" y="322734"/>
                  <a:pt x="119063" y="309563"/>
                </a:cubicBezTo>
                <a:close/>
                <a:moveTo>
                  <a:pt x="47625" y="279797"/>
                </a:moveTo>
                <a:cubicBezTo>
                  <a:pt x="64053" y="279797"/>
                  <a:pt x="77391" y="293134"/>
                  <a:pt x="77391" y="309563"/>
                </a:cubicBezTo>
                <a:cubicBezTo>
                  <a:pt x="77391" y="325991"/>
                  <a:pt x="64053" y="339328"/>
                  <a:pt x="47625" y="339328"/>
                </a:cubicBezTo>
                <a:cubicBezTo>
                  <a:pt x="31197" y="339328"/>
                  <a:pt x="17859" y="325991"/>
                  <a:pt x="17859" y="309563"/>
                </a:cubicBezTo>
                <a:cubicBezTo>
                  <a:pt x="17859" y="293134"/>
                  <a:pt x="31197" y="279797"/>
                  <a:pt x="47625" y="279797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2183467" y="2184400"/>
            <a:ext cx="190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MapReduce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183467" y="2590800"/>
            <a:ext cx="184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并行计算框架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1192867" y="3238500"/>
            <a:ext cx="4229100" cy="1320800"/>
          </a:xfrm>
          <a:custGeom>
            <a:avLst/>
            <a:gdLst/>
            <a:ahLst/>
            <a:cxnLst/>
            <a:rect l="l" t="t" r="r" b="b"/>
            <a:pathLst>
              <a:path w="4229100" h="1320800">
                <a:moveTo>
                  <a:pt x="50800" y="0"/>
                </a:moveTo>
                <a:lnTo>
                  <a:pt x="4127504" y="0"/>
                </a:lnTo>
                <a:cubicBezTo>
                  <a:pt x="4183614" y="0"/>
                  <a:pt x="4229100" y="45486"/>
                  <a:pt x="4229100" y="101596"/>
                </a:cubicBezTo>
                <a:lnTo>
                  <a:pt x="4229100" y="1219204"/>
                </a:lnTo>
                <a:cubicBezTo>
                  <a:pt x="4229100" y="1275314"/>
                  <a:pt x="4183614" y="1320800"/>
                  <a:pt x="4127504" y="1320800"/>
                </a:cubicBezTo>
                <a:lnTo>
                  <a:pt x="50800" y="1320800"/>
                </a:lnTo>
                <a:cubicBezTo>
                  <a:pt x="22763" y="1320800"/>
                  <a:pt x="0" y="1298037"/>
                  <a:pt x="0" y="127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1192867" y="3238500"/>
            <a:ext cx="50800" cy="1320800"/>
          </a:xfrm>
          <a:custGeom>
            <a:avLst/>
            <a:gdLst/>
            <a:ahLst/>
            <a:cxnLst/>
            <a:rect l="l" t="t" r="r" b="b"/>
            <a:pathLst>
              <a:path w="50800" h="1320800">
                <a:moveTo>
                  <a:pt x="50800" y="0"/>
                </a:moveTo>
                <a:lnTo>
                  <a:pt x="50800" y="0"/>
                </a:lnTo>
                <a:lnTo>
                  <a:pt x="50800" y="1320800"/>
                </a:lnTo>
                <a:lnTo>
                  <a:pt x="50800" y="1320800"/>
                </a:lnTo>
                <a:cubicBezTo>
                  <a:pt x="22763" y="1320800"/>
                  <a:pt x="0" y="1298037"/>
                  <a:pt x="0" y="127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1421467" y="3441700"/>
            <a:ext cx="3898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作业协调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421467" y="3848100"/>
            <a:ext cx="3886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协调 MapReduce 作业的各个阶段，确保 Map 和 Reduce 任务的有序执行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192867" y="4686300"/>
            <a:ext cx="4229100" cy="1320800"/>
          </a:xfrm>
          <a:custGeom>
            <a:avLst/>
            <a:gdLst/>
            <a:ahLst/>
            <a:cxnLst/>
            <a:rect l="l" t="t" r="r" b="b"/>
            <a:pathLst>
              <a:path w="4229100" h="1320800">
                <a:moveTo>
                  <a:pt x="50800" y="0"/>
                </a:moveTo>
                <a:lnTo>
                  <a:pt x="4127504" y="0"/>
                </a:lnTo>
                <a:cubicBezTo>
                  <a:pt x="4183614" y="0"/>
                  <a:pt x="4229100" y="45486"/>
                  <a:pt x="4229100" y="101596"/>
                </a:cubicBezTo>
                <a:lnTo>
                  <a:pt x="4229100" y="1219204"/>
                </a:lnTo>
                <a:cubicBezTo>
                  <a:pt x="4229100" y="1275314"/>
                  <a:pt x="4183614" y="1320800"/>
                  <a:pt x="4127504" y="1320800"/>
                </a:cubicBezTo>
                <a:lnTo>
                  <a:pt x="50800" y="1320800"/>
                </a:lnTo>
                <a:cubicBezTo>
                  <a:pt x="22763" y="1320800"/>
                  <a:pt x="0" y="1298037"/>
                  <a:pt x="0" y="127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11192867" y="4686300"/>
            <a:ext cx="50800" cy="1320800"/>
          </a:xfrm>
          <a:custGeom>
            <a:avLst/>
            <a:gdLst/>
            <a:ahLst/>
            <a:cxnLst/>
            <a:rect l="l" t="t" r="r" b="b"/>
            <a:pathLst>
              <a:path w="50800" h="1320800">
                <a:moveTo>
                  <a:pt x="50800" y="0"/>
                </a:moveTo>
                <a:lnTo>
                  <a:pt x="50800" y="0"/>
                </a:lnTo>
                <a:lnTo>
                  <a:pt x="50800" y="1320800"/>
                </a:lnTo>
                <a:lnTo>
                  <a:pt x="50800" y="1320800"/>
                </a:lnTo>
                <a:cubicBezTo>
                  <a:pt x="22763" y="1320800"/>
                  <a:pt x="0" y="1298037"/>
                  <a:pt x="0" y="127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1421467" y="4889500"/>
            <a:ext cx="3898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资源管理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421467" y="5295900"/>
            <a:ext cx="3886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管理计算资源的分配和状态同步，避免资源冲突和数据不一致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33400" y="6654800"/>
            <a:ext cx="15214600" cy="2082800"/>
          </a:xfrm>
          <a:custGeom>
            <a:avLst/>
            <a:gdLst/>
            <a:ahLst/>
            <a:cxnLst/>
            <a:rect l="l" t="t" r="r" b="b"/>
            <a:pathLst>
              <a:path w="15214600" h="2082800">
                <a:moveTo>
                  <a:pt x="50800" y="0"/>
                </a:moveTo>
                <a:lnTo>
                  <a:pt x="15062202" y="0"/>
                </a:lnTo>
                <a:cubicBezTo>
                  <a:pt x="15146369" y="0"/>
                  <a:pt x="15214600" y="68231"/>
                  <a:pt x="15214600" y="152398"/>
                </a:cubicBezTo>
                <a:lnTo>
                  <a:pt x="15214600" y="1930402"/>
                </a:lnTo>
                <a:cubicBezTo>
                  <a:pt x="15214600" y="2014569"/>
                  <a:pt x="15146369" y="2082800"/>
                  <a:pt x="15062202" y="2082800"/>
                </a:cubicBezTo>
                <a:lnTo>
                  <a:pt x="50800" y="2082800"/>
                </a:lnTo>
                <a:cubicBezTo>
                  <a:pt x="22763" y="2082800"/>
                  <a:pt x="0" y="2060037"/>
                  <a:pt x="0" y="203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E1AF63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533400" y="6654800"/>
            <a:ext cx="50800" cy="2082800"/>
          </a:xfrm>
          <a:custGeom>
            <a:avLst/>
            <a:gdLst/>
            <a:ahLst/>
            <a:cxnLst/>
            <a:rect l="l" t="t" r="r" b="b"/>
            <a:pathLst>
              <a:path w="50800" h="2082800">
                <a:moveTo>
                  <a:pt x="50800" y="0"/>
                </a:moveTo>
                <a:lnTo>
                  <a:pt x="50800" y="0"/>
                </a:lnTo>
                <a:lnTo>
                  <a:pt x="50800" y="2082800"/>
                </a:lnTo>
                <a:lnTo>
                  <a:pt x="50800" y="2082800"/>
                </a:lnTo>
                <a:cubicBezTo>
                  <a:pt x="22763" y="2082800"/>
                  <a:pt x="0" y="2060037"/>
                  <a:pt x="0" y="203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812800" y="6908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974725" y="70866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53541" y="-9376"/>
                </a:moveTo>
                <a:cubicBezTo>
                  <a:pt x="151507" y="-13345"/>
                  <a:pt x="147389" y="-15875"/>
                  <a:pt x="142925" y="-15875"/>
                </a:cubicBezTo>
                <a:cubicBezTo>
                  <a:pt x="138460" y="-15875"/>
                  <a:pt x="134342" y="-13345"/>
                  <a:pt x="132308" y="-9376"/>
                </a:cubicBezTo>
                <a:lnTo>
                  <a:pt x="95796" y="62161"/>
                </a:lnTo>
                <a:lnTo>
                  <a:pt x="16470" y="74761"/>
                </a:lnTo>
                <a:cubicBezTo>
                  <a:pt x="12055" y="75456"/>
                  <a:pt x="8384" y="78581"/>
                  <a:pt x="6995" y="82848"/>
                </a:cubicBezTo>
                <a:cubicBezTo>
                  <a:pt x="5606" y="87114"/>
                  <a:pt x="6747" y="91777"/>
                  <a:pt x="9872" y="94952"/>
                </a:cubicBezTo>
                <a:lnTo>
                  <a:pt x="66625" y="151755"/>
                </a:lnTo>
                <a:lnTo>
                  <a:pt x="54124" y="231080"/>
                </a:lnTo>
                <a:cubicBezTo>
                  <a:pt x="53429" y="235496"/>
                  <a:pt x="55265" y="239961"/>
                  <a:pt x="58886" y="242590"/>
                </a:cubicBezTo>
                <a:cubicBezTo>
                  <a:pt x="62508" y="245219"/>
                  <a:pt x="67270" y="245616"/>
                  <a:pt x="71289" y="243582"/>
                </a:cubicBezTo>
                <a:lnTo>
                  <a:pt x="142925" y="207169"/>
                </a:lnTo>
                <a:lnTo>
                  <a:pt x="214511" y="243582"/>
                </a:lnTo>
                <a:cubicBezTo>
                  <a:pt x="218480" y="245616"/>
                  <a:pt x="223292" y="245219"/>
                  <a:pt x="226913" y="242590"/>
                </a:cubicBezTo>
                <a:cubicBezTo>
                  <a:pt x="230535" y="239961"/>
                  <a:pt x="232370" y="235545"/>
                  <a:pt x="231676" y="231080"/>
                </a:cubicBezTo>
                <a:lnTo>
                  <a:pt x="219125" y="151755"/>
                </a:lnTo>
                <a:lnTo>
                  <a:pt x="275878" y="94952"/>
                </a:lnTo>
                <a:cubicBezTo>
                  <a:pt x="279053" y="91777"/>
                  <a:pt x="280144" y="87114"/>
                  <a:pt x="278755" y="82848"/>
                </a:cubicBezTo>
                <a:cubicBezTo>
                  <a:pt x="277366" y="78581"/>
                  <a:pt x="273745" y="75456"/>
                  <a:pt x="269280" y="74761"/>
                </a:cubicBezTo>
                <a:lnTo>
                  <a:pt x="190004" y="62161"/>
                </a:lnTo>
                <a:lnTo>
                  <a:pt x="153541" y="-9376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625600" y="6908800"/>
            <a:ext cx="13995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基础设施的核心地位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625600" y="7366000"/>
            <a:ext cx="139827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这些应用案例表明，Chubby 在 Google 内部扮演着</a:t>
            </a:r>
            <a:r>
              <a:rPr lang="en-US" sz="1800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基础设施的核心角色</a:t>
            </a: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。GFS、BigTable 和 MapReduce 都是 Google 大规模数据处理系统的基石，而 Chubby 为它们提供了</a:t>
            </a:r>
            <a:r>
              <a:rPr lang="en-US" sz="1800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可靠的协调服务</a:t>
            </a: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。这种设计使得各个系统可以专注于自身的核心功能，将复杂的分布式协调问题交给专业的 Chubby 服务处理。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504" y="502504"/>
            <a:ext cx="1535149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kern="0" spc="79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USAGE PATTERNS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504" y="904507"/>
            <a:ext cx="15552495" cy="603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748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典型使用模式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5066" y="1771326"/>
            <a:ext cx="7474745" cy="3542652"/>
          </a:xfrm>
          <a:custGeom>
            <a:avLst/>
            <a:gdLst/>
            <a:ahLst/>
            <a:cxnLst/>
            <a:rect l="l" t="t" r="r" b="b"/>
            <a:pathLst>
              <a:path w="7474745" h="3542652">
                <a:moveTo>
                  <a:pt x="150740" y="0"/>
                </a:moveTo>
                <a:lnTo>
                  <a:pt x="7324005" y="0"/>
                </a:lnTo>
                <a:cubicBezTo>
                  <a:pt x="7407256" y="0"/>
                  <a:pt x="7474745" y="67489"/>
                  <a:pt x="7474745" y="150740"/>
                </a:cubicBezTo>
                <a:lnTo>
                  <a:pt x="7474745" y="3391912"/>
                </a:lnTo>
                <a:cubicBezTo>
                  <a:pt x="7474745" y="3475164"/>
                  <a:pt x="7407256" y="3542652"/>
                  <a:pt x="7324005" y="3542652"/>
                </a:cubicBezTo>
                <a:lnTo>
                  <a:pt x="150740" y="3542652"/>
                </a:lnTo>
                <a:cubicBezTo>
                  <a:pt x="67489" y="3542652"/>
                  <a:pt x="0" y="3475164"/>
                  <a:pt x="0" y="3391912"/>
                </a:cubicBezTo>
                <a:lnTo>
                  <a:pt x="0" y="150740"/>
                </a:lnTo>
                <a:cubicBezTo>
                  <a:pt x="0" y="67544"/>
                  <a:pt x="67544" y="0"/>
                  <a:pt x="150740" y="0"/>
                </a:cubicBezTo>
                <a:close/>
              </a:path>
            </a:pathLst>
          </a:custGeom>
          <a:gradFill flip="none" rotWithShape="1">
            <a:gsLst>
              <a:gs pos="0">
                <a:srgbClr val="5A7D9A">
                  <a:alpha val="30000"/>
                </a:srgbClr>
              </a:gs>
              <a:gs pos="100000">
                <a:srgbClr val="5A7D9A">
                  <a:alpha val="10000"/>
                </a:srgbClr>
              </a:gs>
            </a:gsLst>
            <a:lin ang="2700000" scaled="1"/>
          </a:gradFill>
          <a:ln w="25400">
            <a:solidFill>
              <a:srgbClr val="5A7D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78881" y="2035141"/>
            <a:ext cx="703505" cy="703505"/>
          </a:xfrm>
          <a:custGeom>
            <a:avLst/>
            <a:gdLst/>
            <a:ahLst/>
            <a:cxnLst/>
            <a:rect l="l" t="t" r="r" b="b"/>
            <a:pathLst>
              <a:path w="703505" h="703505">
                <a:moveTo>
                  <a:pt x="150754" y="0"/>
                </a:moveTo>
                <a:lnTo>
                  <a:pt x="552751" y="0"/>
                </a:lnTo>
                <a:cubicBezTo>
                  <a:pt x="635955" y="0"/>
                  <a:pt x="703505" y="67551"/>
                  <a:pt x="703505" y="150754"/>
                </a:cubicBezTo>
                <a:lnTo>
                  <a:pt x="703505" y="552751"/>
                </a:lnTo>
                <a:cubicBezTo>
                  <a:pt x="703505" y="635955"/>
                  <a:pt x="635955" y="703505"/>
                  <a:pt x="552751" y="703505"/>
                </a:cubicBezTo>
                <a:lnTo>
                  <a:pt x="150754" y="703505"/>
                </a:lnTo>
                <a:cubicBezTo>
                  <a:pt x="67551" y="703505"/>
                  <a:pt x="0" y="635955"/>
                  <a:pt x="0" y="552751"/>
                </a:cubicBezTo>
                <a:lnTo>
                  <a:pt x="0" y="150754"/>
                </a:lnTo>
                <a:cubicBezTo>
                  <a:pt x="0" y="67551"/>
                  <a:pt x="67551" y="0"/>
                  <a:pt x="150754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61039" y="2236142"/>
            <a:ext cx="339190" cy="301502"/>
          </a:xfrm>
          <a:custGeom>
            <a:avLst/>
            <a:gdLst/>
            <a:ahLst/>
            <a:cxnLst/>
            <a:rect l="l" t="t" r="r" b="b"/>
            <a:pathLst>
              <a:path w="339190" h="301502">
                <a:moveTo>
                  <a:pt x="184317" y="51350"/>
                </a:moveTo>
                <a:cubicBezTo>
                  <a:pt x="189734" y="47051"/>
                  <a:pt x="193150" y="40397"/>
                  <a:pt x="193150" y="32977"/>
                </a:cubicBezTo>
                <a:cubicBezTo>
                  <a:pt x="193150" y="19963"/>
                  <a:pt x="182609" y="9422"/>
                  <a:pt x="169595" y="9422"/>
                </a:cubicBezTo>
                <a:cubicBezTo>
                  <a:pt x="156581" y="9422"/>
                  <a:pt x="146040" y="19963"/>
                  <a:pt x="146040" y="32977"/>
                </a:cubicBezTo>
                <a:cubicBezTo>
                  <a:pt x="146040" y="40397"/>
                  <a:pt x="149515" y="47051"/>
                  <a:pt x="154873" y="51350"/>
                </a:cubicBezTo>
                <a:lnTo>
                  <a:pt x="114594" y="114712"/>
                </a:lnTo>
                <a:cubicBezTo>
                  <a:pt x="108706" y="123957"/>
                  <a:pt x="96163" y="126254"/>
                  <a:pt x="87389" y="119659"/>
                </a:cubicBezTo>
                <a:lnTo>
                  <a:pt x="52351" y="93454"/>
                </a:lnTo>
                <a:cubicBezTo>
                  <a:pt x="55001" y="89685"/>
                  <a:pt x="56532" y="85033"/>
                  <a:pt x="56532" y="80087"/>
                </a:cubicBezTo>
                <a:cubicBezTo>
                  <a:pt x="56532" y="67072"/>
                  <a:pt x="45991" y="56532"/>
                  <a:pt x="32977" y="56532"/>
                </a:cubicBezTo>
                <a:cubicBezTo>
                  <a:pt x="19963" y="56532"/>
                  <a:pt x="9422" y="67072"/>
                  <a:pt x="9422" y="80087"/>
                </a:cubicBezTo>
                <a:cubicBezTo>
                  <a:pt x="9422" y="92924"/>
                  <a:pt x="19727" y="103406"/>
                  <a:pt x="32506" y="103641"/>
                </a:cubicBezTo>
                <a:lnTo>
                  <a:pt x="51703" y="231721"/>
                </a:lnTo>
                <a:cubicBezTo>
                  <a:pt x="54471" y="250153"/>
                  <a:pt x="70311" y="263815"/>
                  <a:pt x="88979" y="263815"/>
                </a:cubicBezTo>
                <a:lnTo>
                  <a:pt x="250212" y="263815"/>
                </a:lnTo>
                <a:cubicBezTo>
                  <a:pt x="268879" y="263815"/>
                  <a:pt x="284719" y="250153"/>
                  <a:pt x="287487" y="231721"/>
                </a:cubicBezTo>
                <a:lnTo>
                  <a:pt x="306684" y="103641"/>
                </a:lnTo>
                <a:cubicBezTo>
                  <a:pt x="319463" y="103406"/>
                  <a:pt x="329768" y="92924"/>
                  <a:pt x="329768" y="80087"/>
                </a:cubicBezTo>
                <a:cubicBezTo>
                  <a:pt x="329768" y="67072"/>
                  <a:pt x="319227" y="56532"/>
                  <a:pt x="306213" y="56532"/>
                </a:cubicBezTo>
                <a:cubicBezTo>
                  <a:pt x="293199" y="56532"/>
                  <a:pt x="282658" y="67072"/>
                  <a:pt x="282658" y="80087"/>
                </a:cubicBezTo>
                <a:cubicBezTo>
                  <a:pt x="282658" y="85033"/>
                  <a:pt x="284189" y="89685"/>
                  <a:pt x="286839" y="93454"/>
                </a:cubicBezTo>
                <a:lnTo>
                  <a:pt x="251860" y="119718"/>
                </a:lnTo>
                <a:cubicBezTo>
                  <a:pt x="243086" y="126313"/>
                  <a:pt x="230543" y="124016"/>
                  <a:pt x="224655" y="114771"/>
                </a:cubicBezTo>
                <a:lnTo>
                  <a:pt x="184317" y="51350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683388" y="2185892"/>
            <a:ext cx="1658263" cy="402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74" dirty="0">
                <a:solidFill>
                  <a:srgbClr val="5A7D9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主节点选举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8881" y="2939648"/>
            <a:ext cx="7047617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多个应用程序</a:t>
            </a:r>
            <a:r>
              <a:rPr lang="en-US" sz="1583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竞争获取锁，第一个获得锁的成为主节点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006" y="3391901"/>
            <a:ext cx="6921991" cy="1658263"/>
          </a:xfrm>
          <a:custGeom>
            <a:avLst/>
            <a:gdLst/>
            <a:ahLst/>
            <a:cxnLst/>
            <a:rect l="l" t="t" r="r" b="b"/>
            <a:pathLst>
              <a:path w="6921991" h="1658263">
                <a:moveTo>
                  <a:pt x="50250" y="0"/>
                </a:moveTo>
                <a:lnTo>
                  <a:pt x="6821483" y="0"/>
                </a:lnTo>
                <a:cubicBezTo>
                  <a:pt x="6876992" y="0"/>
                  <a:pt x="6921991" y="44999"/>
                  <a:pt x="6921991" y="100507"/>
                </a:cubicBezTo>
                <a:lnTo>
                  <a:pt x="6921991" y="1557755"/>
                </a:lnTo>
                <a:cubicBezTo>
                  <a:pt x="6921991" y="1613264"/>
                  <a:pt x="6876992" y="1658263"/>
                  <a:pt x="6821483" y="1658263"/>
                </a:cubicBezTo>
                <a:lnTo>
                  <a:pt x="50250" y="1658263"/>
                </a:lnTo>
                <a:cubicBezTo>
                  <a:pt x="22498" y="1658263"/>
                  <a:pt x="0" y="1635765"/>
                  <a:pt x="0" y="1608012"/>
                </a:cubicBezTo>
                <a:lnTo>
                  <a:pt x="0" y="50250"/>
                </a:lnTo>
                <a:cubicBezTo>
                  <a:pt x="0" y="22498"/>
                  <a:pt x="22498" y="0"/>
                  <a:pt x="5025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04006" y="3391901"/>
            <a:ext cx="50250" cy="1658263"/>
          </a:xfrm>
          <a:custGeom>
            <a:avLst/>
            <a:gdLst/>
            <a:ahLst/>
            <a:cxnLst/>
            <a:rect l="l" t="t" r="r" b="b"/>
            <a:pathLst>
              <a:path w="50250" h="1658263">
                <a:moveTo>
                  <a:pt x="50250" y="0"/>
                </a:moveTo>
                <a:lnTo>
                  <a:pt x="50250" y="0"/>
                </a:lnTo>
                <a:lnTo>
                  <a:pt x="50250" y="1658263"/>
                </a:lnTo>
                <a:lnTo>
                  <a:pt x="50250" y="1658263"/>
                </a:lnTo>
                <a:cubicBezTo>
                  <a:pt x="22498" y="1658263"/>
                  <a:pt x="0" y="1635765"/>
                  <a:pt x="0" y="1608012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30133" y="3592903"/>
            <a:ext cx="659536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30133" y="3994906"/>
            <a:ext cx="6582801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分布式数据库主节点选举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30133" y="4296408"/>
            <a:ext cx="6582801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集群管理器 leader 选举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30133" y="4597910"/>
            <a:ext cx="6582801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服务发现中的主服务选择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67563" y="1771326"/>
            <a:ext cx="7474745" cy="3542652"/>
          </a:xfrm>
          <a:custGeom>
            <a:avLst/>
            <a:gdLst/>
            <a:ahLst/>
            <a:cxnLst/>
            <a:rect l="l" t="t" r="r" b="b"/>
            <a:pathLst>
              <a:path w="7474745" h="3542652">
                <a:moveTo>
                  <a:pt x="150740" y="0"/>
                </a:moveTo>
                <a:lnTo>
                  <a:pt x="7324005" y="0"/>
                </a:lnTo>
                <a:cubicBezTo>
                  <a:pt x="7407256" y="0"/>
                  <a:pt x="7474745" y="67489"/>
                  <a:pt x="7474745" y="150740"/>
                </a:cubicBezTo>
                <a:lnTo>
                  <a:pt x="7474745" y="3391912"/>
                </a:lnTo>
                <a:cubicBezTo>
                  <a:pt x="7474745" y="3475164"/>
                  <a:pt x="7407256" y="3542652"/>
                  <a:pt x="7324005" y="3542652"/>
                </a:cubicBezTo>
                <a:lnTo>
                  <a:pt x="150740" y="3542652"/>
                </a:lnTo>
                <a:cubicBezTo>
                  <a:pt x="67489" y="3542652"/>
                  <a:pt x="0" y="3475164"/>
                  <a:pt x="0" y="3391912"/>
                </a:cubicBezTo>
                <a:lnTo>
                  <a:pt x="0" y="150740"/>
                </a:lnTo>
                <a:cubicBezTo>
                  <a:pt x="0" y="67544"/>
                  <a:pt x="67544" y="0"/>
                  <a:pt x="150740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3A2">
                  <a:alpha val="30000"/>
                </a:srgbClr>
              </a:gs>
              <a:gs pos="100000">
                <a:srgbClr val="4DB3A2">
                  <a:alpha val="10000"/>
                </a:srgbClr>
              </a:gs>
            </a:gsLst>
            <a:lin ang="2700000" scaled="1"/>
          </a:gradFill>
          <a:ln w="25400">
            <a:solidFill>
              <a:srgbClr val="4DB3A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531377" y="2035141"/>
            <a:ext cx="703505" cy="703505"/>
          </a:xfrm>
          <a:custGeom>
            <a:avLst/>
            <a:gdLst/>
            <a:ahLst/>
            <a:cxnLst/>
            <a:rect l="l" t="t" r="r" b="b"/>
            <a:pathLst>
              <a:path w="703505" h="703505">
                <a:moveTo>
                  <a:pt x="150754" y="0"/>
                </a:moveTo>
                <a:lnTo>
                  <a:pt x="552751" y="0"/>
                </a:lnTo>
                <a:cubicBezTo>
                  <a:pt x="635955" y="0"/>
                  <a:pt x="703505" y="67551"/>
                  <a:pt x="703505" y="150754"/>
                </a:cubicBezTo>
                <a:lnTo>
                  <a:pt x="703505" y="552751"/>
                </a:lnTo>
                <a:cubicBezTo>
                  <a:pt x="703505" y="635955"/>
                  <a:pt x="635955" y="703505"/>
                  <a:pt x="552751" y="703505"/>
                </a:cubicBezTo>
                <a:lnTo>
                  <a:pt x="150754" y="703505"/>
                </a:lnTo>
                <a:cubicBezTo>
                  <a:pt x="67551" y="703505"/>
                  <a:pt x="0" y="635955"/>
                  <a:pt x="0" y="552751"/>
                </a:cubicBezTo>
                <a:lnTo>
                  <a:pt x="0" y="150754"/>
                </a:lnTo>
                <a:cubicBezTo>
                  <a:pt x="0" y="67551"/>
                  <a:pt x="67551" y="0"/>
                  <a:pt x="150754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732379" y="2236142"/>
            <a:ext cx="301502" cy="301502"/>
          </a:xfrm>
          <a:custGeom>
            <a:avLst/>
            <a:gdLst/>
            <a:ahLst/>
            <a:cxnLst/>
            <a:rect l="l" t="t" r="r" b="b"/>
            <a:pathLst>
              <a:path w="301502" h="301502">
                <a:moveTo>
                  <a:pt x="114889" y="5594"/>
                </a:moveTo>
                <a:cubicBezTo>
                  <a:pt x="116655" y="-3121"/>
                  <a:pt x="124370" y="-9422"/>
                  <a:pt x="133321" y="-9422"/>
                </a:cubicBezTo>
                <a:lnTo>
                  <a:pt x="168535" y="-9422"/>
                </a:lnTo>
                <a:cubicBezTo>
                  <a:pt x="177486" y="-9422"/>
                  <a:pt x="185200" y="-3121"/>
                  <a:pt x="186967" y="5594"/>
                </a:cubicBezTo>
                <a:lnTo>
                  <a:pt x="195505" y="46815"/>
                </a:lnTo>
                <a:cubicBezTo>
                  <a:pt x="203809" y="50349"/>
                  <a:pt x="211582" y="54883"/>
                  <a:pt x="218648" y="60242"/>
                </a:cubicBezTo>
                <a:lnTo>
                  <a:pt x="258574" y="46992"/>
                </a:lnTo>
                <a:cubicBezTo>
                  <a:pt x="267053" y="44165"/>
                  <a:pt x="276357" y="47699"/>
                  <a:pt x="280833" y="55472"/>
                </a:cubicBezTo>
                <a:lnTo>
                  <a:pt x="298440" y="85975"/>
                </a:lnTo>
                <a:cubicBezTo>
                  <a:pt x="302916" y="93748"/>
                  <a:pt x="301326" y="103524"/>
                  <a:pt x="294613" y="109471"/>
                </a:cubicBezTo>
                <a:lnTo>
                  <a:pt x="263226" y="137384"/>
                </a:lnTo>
                <a:cubicBezTo>
                  <a:pt x="263756" y="141741"/>
                  <a:pt x="263991" y="146217"/>
                  <a:pt x="263991" y="150751"/>
                </a:cubicBezTo>
                <a:cubicBezTo>
                  <a:pt x="263991" y="155285"/>
                  <a:pt x="263697" y="159761"/>
                  <a:pt x="263226" y="164119"/>
                </a:cubicBezTo>
                <a:lnTo>
                  <a:pt x="294671" y="192090"/>
                </a:lnTo>
                <a:cubicBezTo>
                  <a:pt x="301385" y="198038"/>
                  <a:pt x="302916" y="207872"/>
                  <a:pt x="298499" y="215586"/>
                </a:cubicBezTo>
                <a:lnTo>
                  <a:pt x="280892" y="246089"/>
                </a:lnTo>
                <a:cubicBezTo>
                  <a:pt x="276416" y="253804"/>
                  <a:pt x="267112" y="257396"/>
                  <a:pt x="258632" y="254569"/>
                </a:cubicBezTo>
                <a:lnTo>
                  <a:pt x="218707" y="241320"/>
                </a:lnTo>
                <a:cubicBezTo>
                  <a:pt x="211582" y="246678"/>
                  <a:pt x="203809" y="251154"/>
                  <a:pt x="195564" y="254746"/>
                </a:cubicBezTo>
                <a:lnTo>
                  <a:pt x="187085" y="295908"/>
                </a:lnTo>
                <a:cubicBezTo>
                  <a:pt x="185259" y="304682"/>
                  <a:pt x="177545" y="310924"/>
                  <a:pt x="168653" y="310924"/>
                </a:cubicBezTo>
                <a:lnTo>
                  <a:pt x="133438" y="310924"/>
                </a:lnTo>
                <a:cubicBezTo>
                  <a:pt x="124487" y="310924"/>
                  <a:pt x="116773" y="304623"/>
                  <a:pt x="115007" y="295908"/>
                </a:cubicBezTo>
                <a:lnTo>
                  <a:pt x="106527" y="254746"/>
                </a:lnTo>
                <a:cubicBezTo>
                  <a:pt x="98224" y="251213"/>
                  <a:pt x="90510" y="246678"/>
                  <a:pt x="83384" y="241320"/>
                </a:cubicBezTo>
                <a:lnTo>
                  <a:pt x="43282" y="254569"/>
                </a:lnTo>
                <a:cubicBezTo>
                  <a:pt x="34802" y="257396"/>
                  <a:pt x="25498" y="253863"/>
                  <a:pt x="21023" y="246089"/>
                </a:cubicBezTo>
                <a:lnTo>
                  <a:pt x="3415" y="215586"/>
                </a:lnTo>
                <a:cubicBezTo>
                  <a:pt x="-1060" y="207813"/>
                  <a:pt x="530" y="198038"/>
                  <a:pt x="7243" y="192090"/>
                </a:cubicBezTo>
                <a:lnTo>
                  <a:pt x="38689" y="164119"/>
                </a:lnTo>
                <a:cubicBezTo>
                  <a:pt x="38159" y="159761"/>
                  <a:pt x="37923" y="155285"/>
                  <a:pt x="37923" y="150751"/>
                </a:cubicBezTo>
                <a:cubicBezTo>
                  <a:pt x="37923" y="146217"/>
                  <a:pt x="38218" y="141741"/>
                  <a:pt x="38689" y="137384"/>
                </a:cubicBezTo>
                <a:lnTo>
                  <a:pt x="7243" y="109412"/>
                </a:lnTo>
                <a:cubicBezTo>
                  <a:pt x="530" y="103465"/>
                  <a:pt x="-1001" y="93631"/>
                  <a:pt x="3415" y="85916"/>
                </a:cubicBezTo>
                <a:lnTo>
                  <a:pt x="21023" y="55413"/>
                </a:lnTo>
                <a:cubicBezTo>
                  <a:pt x="25498" y="47640"/>
                  <a:pt x="34802" y="44106"/>
                  <a:pt x="43282" y="46933"/>
                </a:cubicBezTo>
                <a:lnTo>
                  <a:pt x="83208" y="60183"/>
                </a:lnTo>
                <a:cubicBezTo>
                  <a:pt x="90333" y="54824"/>
                  <a:pt x="98106" y="50349"/>
                  <a:pt x="106350" y="46756"/>
                </a:cubicBezTo>
                <a:lnTo>
                  <a:pt x="114889" y="5594"/>
                </a:lnTo>
                <a:close/>
                <a:moveTo>
                  <a:pt x="150928" y="197861"/>
                </a:moveTo>
                <a:cubicBezTo>
                  <a:pt x="167759" y="197798"/>
                  <a:pt x="183277" y="188760"/>
                  <a:pt x="191638" y="174153"/>
                </a:cubicBezTo>
                <a:cubicBezTo>
                  <a:pt x="199998" y="159546"/>
                  <a:pt x="199931" y="141588"/>
                  <a:pt x="191461" y="127043"/>
                </a:cubicBezTo>
                <a:cubicBezTo>
                  <a:pt x="182991" y="112499"/>
                  <a:pt x="167405" y="103578"/>
                  <a:pt x="150574" y="103641"/>
                </a:cubicBezTo>
                <a:cubicBezTo>
                  <a:pt x="133744" y="103705"/>
                  <a:pt x="118225" y="112742"/>
                  <a:pt x="109865" y="127349"/>
                </a:cubicBezTo>
                <a:cubicBezTo>
                  <a:pt x="101504" y="141957"/>
                  <a:pt x="101571" y="159915"/>
                  <a:pt x="110041" y="174459"/>
                </a:cubicBezTo>
                <a:cubicBezTo>
                  <a:pt x="118511" y="189003"/>
                  <a:pt x="134097" y="197924"/>
                  <a:pt x="150928" y="197861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435884" y="2185892"/>
            <a:ext cx="1356760" cy="402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74" dirty="0">
                <a:solidFill>
                  <a:srgbClr val="4DB3A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配置管理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31377" y="2939648"/>
            <a:ext cx="7047617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存储和分发</a:t>
            </a:r>
            <a:r>
              <a:rPr lang="en-US" sz="1583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系统配置信息，支持动态配置更新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56502" y="3391901"/>
            <a:ext cx="6921991" cy="1658263"/>
          </a:xfrm>
          <a:custGeom>
            <a:avLst/>
            <a:gdLst/>
            <a:ahLst/>
            <a:cxnLst/>
            <a:rect l="l" t="t" r="r" b="b"/>
            <a:pathLst>
              <a:path w="6921991" h="1658263">
                <a:moveTo>
                  <a:pt x="50250" y="0"/>
                </a:moveTo>
                <a:lnTo>
                  <a:pt x="6821483" y="0"/>
                </a:lnTo>
                <a:cubicBezTo>
                  <a:pt x="6876992" y="0"/>
                  <a:pt x="6921991" y="44999"/>
                  <a:pt x="6921991" y="100507"/>
                </a:cubicBezTo>
                <a:lnTo>
                  <a:pt x="6921991" y="1557755"/>
                </a:lnTo>
                <a:cubicBezTo>
                  <a:pt x="6921991" y="1613264"/>
                  <a:pt x="6876992" y="1658263"/>
                  <a:pt x="6821483" y="1658263"/>
                </a:cubicBezTo>
                <a:lnTo>
                  <a:pt x="50250" y="1658263"/>
                </a:lnTo>
                <a:cubicBezTo>
                  <a:pt x="22498" y="1658263"/>
                  <a:pt x="0" y="1635765"/>
                  <a:pt x="0" y="1608012"/>
                </a:cubicBezTo>
                <a:lnTo>
                  <a:pt x="0" y="50250"/>
                </a:lnTo>
                <a:cubicBezTo>
                  <a:pt x="0" y="22498"/>
                  <a:pt x="22498" y="0"/>
                  <a:pt x="5025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556502" y="3391901"/>
            <a:ext cx="50250" cy="1658263"/>
          </a:xfrm>
          <a:custGeom>
            <a:avLst/>
            <a:gdLst/>
            <a:ahLst/>
            <a:cxnLst/>
            <a:rect l="l" t="t" r="r" b="b"/>
            <a:pathLst>
              <a:path w="50250" h="1658263">
                <a:moveTo>
                  <a:pt x="50250" y="0"/>
                </a:moveTo>
                <a:lnTo>
                  <a:pt x="50250" y="0"/>
                </a:lnTo>
                <a:lnTo>
                  <a:pt x="50250" y="1658263"/>
                </a:lnTo>
                <a:lnTo>
                  <a:pt x="50250" y="1658263"/>
                </a:lnTo>
                <a:cubicBezTo>
                  <a:pt x="22498" y="1658263"/>
                  <a:pt x="0" y="1635765"/>
                  <a:pt x="0" y="1608012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782629" y="3592903"/>
            <a:ext cx="659536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82629" y="3994906"/>
            <a:ext cx="6582801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微服务配置中心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782629" y="4296408"/>
            <a:ext cx="6582801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feature flag 管理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782629" y="4597910"/>
            <a:ext cx="6582801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数据库连接配置共享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5066" y="5480627"/>
            <a:ext cx="7474745" cy="3542652"/>
          </a:xfrm>
          <a:custGeom>
            <a:avLst/>
            <a:gdLst/>
            <a:ahLst/>
            <a:cxnLst/>
            <a:rect l="l" t="t" r="r" b="b"/>
            <a:pathLst>
              <a:path w="7474745" h="3542652">
                <a:moveTo>
                  <a:pt x="150740" y="0"/>
                </a:moveTo>
                <a:lnTo>
                  <a:pt x="7324005" y="0"/>
                </a:lnTo>
                <a:cubicBezTo>
                  <a:pt x="7407256" y="0"/>
                  <a:pt x="7474745" y="67489"/>
                  <a:pt x="7474745" y="150740"/>
                </a:cubicBezTo>
                <a:lnTo>
                  <a:pt x="7474745" y="3391912"/>
                </a:lnTo>
                <a:cubicBezTo>
                  <a:pt x="7474745" y="3475164"/>
                  <a:pt x="7407256" y="3542652"/>
                  <a:pt x="7324005" y="3542652"/>
                </a:cubicBezTo>
                <a:lnTo>
                  <a:pt x="150740" y="3542652"/>
                </a:lnTo>
                <a:cubicBezTo>
                  <a:pt x="67489" y="3542652"/>
                  <a:pt x="0" y="3475164"/>
                  <a:pt x="0" y="3391912"/>
                </a:cubicBezTo>
                <a:lnTo>
                  <a:pt x="0" y="150740"/>
                </a:lnTo>
                <a:cubicBezTo>
                  <a:pt x="0" y="67544"/>
                  <a:pt x="67544" y="0"/>
                  <a:pt x="150740" y="0"/>
                </a:cubicBezTo>
                <a:close/>
              </a:path>
            </a:pathLst>
          </a:custGeom>
          <a:gradFill flip="none" rotWithShape="1">
            <a:gsLst>
              <a:gs pos="0">
                <a:srgbClr val="E1AF63">
                  <a:alpha val="30000"/>
                </a:srgbClr>
              </a:gs>
              <a:gs pos="100000">
                <a:srgbClr val="E1AF63">
                  <a:alpha val="10000"/>
                </a:srgbClr>
              </a:gs>
            </a:gsLst>
            <a:lin ang="2700000" scaled="1"/>
          </a:gradFill>
          <a:ln w="25400">
            <a:solidFill>
              <a:srgbClr val="E1AF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778881" y="5744442"/>
            <a:ext cx="703505" cy="703505"/>
          </a:xfrm>
          <a:custGeom>
            <a:avLst/>
            <a:gdLst/>
            <a:ahLst/>
            <a:cxnLst/>
            <a:rect l="l" t="t" r="r" b="b"/>
            <a:pathLst>
              <a:path w="703505" h="703505">
                <a:moveTo>
                  <a:pt x="150754" y="0"/>
                </a:moveTo>
                <a:lnTo>
                  <a:pt x="552751" y="0"/>
                </a:lnTo>
                <a:cubicBezTo>
                  <a:pt x="635955" y="0"/>
                  <a:pt x="703505" y="67551"/>
                  <a:pt x="703505" y="150754"/>
                </a:cubicBezTo>
                <a:lnTo>
                  <a:pt x="703505" y="552751"/>
                </a:lnTo>
                <a:cubicBezTo>
                  <a:pt x="703505" y="635955"/>
                  <a:pt x="635955" y="703505"/>
                  <a:pt x="552751" y="703505"/>
                </a:cubicBezTo>
                <a:lnTo>
                  <a:pt x="150754" y="703505"/>
                </a:lnTo>
                <a:cubicBezTo>
                  <a:pt x="67551" y="703505"/>
                  <a:pt x="0" y="635955"/>
                  <a:pt x="0" y="552751"/>
                </a:cubicBezTo>
                <a:lnTo>
                  <a:pt x="0" y="150754"/>
                </a:lnTo>
                <a:cubicBezTo>
                  <a:pt x="0" y="67551"/>
                  <a:pt x="67551" y="0"/>
                  <a:pt x="150754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979883" y="5945444"/>
            <a:ext cx="301502" cy="301502"/>
          </a:xfrm>
          <a:custGeom>
            <a:avLst/>
            <a:gdLst/>
            <a:ahLst/>
            <a:cxnLst/>
            <a:rect l="l" t="t" r="r" b="b"/>
            <a:pathLst>
              <a:path w="301502" h="301502">
                <a:moveTo>
                  <a:pt x="19138" y="56532"/>
                </a:moveTo>
                <a:lnTo>
                  <a:pt x="19138" y="144568"/>
                </a:lnTo>
                <a:cubicBezTo>
                  <a:pt x="19138" y="154579"/>
                  <a:pt x="23084" y="164177"/>
                  <a:pt x="30150" y="171244"/>
                </a:cubicBezTo>
                <a:lnTo>
                  <a:pt x="143214" y="284307"/>
                </a:lnTo>
                <a:cubicBezTo>
                  <a:pt x="157935" y="299029"/>
                  <a:pt x="181785" y="299029"/>
                  <a:pt x="196506" y="284307"/>
                </a:cubicBezTo>
                <a:lnTo>
                  <a:pt x="284543" y="196271"/>
                </a:lnTo>
                <a:cubicBezTo>
                  <a:pt x="299265" y="181549"/>
                  <a:pt x="299265" y="157700"/>
                  <a:pt x="284543" y="142978"/>
                </a:cubicBezTo>
                <a:lnTo>
                  <a:pt x="171479" y="29915"/>
                </a:lnTo>
                <a:cubicBezTo>
                  <a:pt x="164413" y="22789"/>
                  <a:pt x="154873" y="18844"/>
                  <a:pt x="144862" y="18844"/>
                </a:cubicBezTo>
                <a:lnTo>
                  <a:pt x="56826" y="18844"/>
                </a:lnTo>
                <a:cubicBezTo>
                  <a:pt x="36039" y="18844"/>
                  <a:pt x="19138" y="35745"/>
                  <a:pt x="19138" y="56532"/>
                </a:cubicBezTo>
                <a:close/>
                <a:moveTo>
                  <a:pt x="85092" y="65954"/>
                </a:moveTo>
                <a:cubicBezTo>
                  <a:pt x="95492" y="65954"/>
                  <a:pt x="103936" y="74397"/>
                  <a:pt x="103936" y="84798"/>
                </a:cubicBezTo>
                <a:cubicBezTo>
                  <a:pt x="103936" y="95198"/>
                  <a:pt x="95492" y="103641"/>
                  <a:pt x="85092" y="103641"/>
                </a:cubicBezTo>
                <a:cubicBezTo>
                  <a:pt x="74692" y="103641"/>
                  <a:pt x="66248" y="95198"/>
                  <a:pt x="66248" y="84798"/>
                </a:cubicBezTo>
                <a:cubicBezTo>
                  <a:pt x="66248" y="74397"/>
                  <a:pt x="74692" y="65954"/>
                  <a:pt x="85092" y="65954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683388" y="5895193"/>
            <a:ext cx="1356760" cy="402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74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命名服务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78881" y="6648949"/>
            <a:ext cx="7047617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作为</a:t>
            </a:r>
            <a:r>
              <a:rPr lang="en-US" sz="1583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分布式系统的命名服务</a:t>
            </a:r>
            <a:r>
              <a:rPr lang="en-US" sz="1583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使用，提供服务的注册和发现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04006" y="7101202"/>
            <a:ext cx="6921991" cy="1658263"/>
          </a:xfrm>
          <a:custGeom>
            <a:avLst/>
            <a:gdLst/>
            <a:ahLst/>
            <a:cxnLst/>
            <a:rect l="l" t="t" r="r" b="b"/>
            <a:pathLst>
              <a:path w="6921991" h="1658263">
                <a:moveTo>
                  <a:pt x="50250" y="0"/>
                </a:moveTo>
                <a:lnTo>
                  <a:pt x="6821483" y="0"/>
                </a:lnTo>
                <a:cubicBezTo>
                  <a:pt x="6876992" y="0"/>
                  <a:pt x="6921991" y="44999"/>
                  <a:pt x="6921991" y="100507"/>
                </a:cubicBezTo>
                <a:lnTo>
                  <a:pt x="6921991" y="1557755"/>
                </a:lnTo>
                <a:cubicBezTo>
                  <a:pt x="6921991" y="1613264"/>
                  <a:pt x="6876992" y="1658263"/>
                  <a:pt x="6821483" y="1658263"/>
                </a:cubicBezTo>
                <a:lnTo>
                  <a:pt x="50250" y="1658263"/>
                </a:lnTo>
                <a:cubicBezTo>
                  <a:pt x="22498" y="1658263"/>
                  <a:pt x="0" y="1635765"/>
                  <a:pt x="0" y="1608012"/>
                </a:cubicBezTo>
                <a:lnTo>
                  <a:pt x="0" y="50250"/>
                </a:lnTo>
                <a:cubicBezTo>
                  <a:pt x="0" y="22498"/>
                  <a:pt x="22498" y="0"/>
                  <a:pt x="5025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04006" y="7101202"/>
            <a:ext cx="50250" cy="1658263"/>
          </a:xfrm>
          <a:custGeom>
            <a:avLst/>
            <a:gdLst/>
            <a:ahLst/>
            <a:cxnLst/>
            <a:rect l="l" t="t" r="r" b="b"/>
            <a:pathLst>
              <a:path w="50250" h="1658263">
                <a:moveTo>
                  <a:pt x="50250" y="0"/>
                </a:moveTo>
                <a:lnTo>
                  <a:pt x="50250" y="0"/>
                </a:lnTo>
                <a:lnTo>
                  <a:pt x="50250" y="1658263"/>
                </a:lnTo>
                <a:lnTo>
                  <a:pt x="50250" y="1658263"/>
                </a:lnTo>
                <a:cubicBezTo>
                  <a:pt x="22498" y="1658263"/>
                  <a:pt x="0" y="1635765"/>
                  <a:pt x="0" y="1608012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030133" y="7302204"/>
            <a:ext cx="659536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30133" y="7704207"/>
            <a:ext cx="6582801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服务注册与发现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30133" y="8005709"/>
            <a:ext cx="6582801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DNS 替代方案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30133" y="8307212"/>
            <a:ext cx="6582801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负载均衡器配置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67563" y="5480627"/>
            <a:ext cx="7474745" cy="3542652"/>
          </a:xfrm>
          <a:custGeom>
            <a:avLst/>
            <a:gdLst/>
            <a:ahLst/>
            <a:cxnLst/>
            <a:rect l="l" t="t" r="r" b="b"/>
            <a:pathLst>
              <a:path w="7474745" h="3542652">
                <a:moveTo>
                  <a:pt x="150740" y="0"/>
                </a:moveTo>
                <a:lnTo>
                  <a:pt x="7324005" y="0"/>
                </a:lnTo>
                <a:cubicBezTo>
                  <a:pt x="7407256" y="0"/>
                  <a:pt x="7474745" y="67489"/>
                  <a:pt x="7474745" y="150740"/>
                </a:cubicBezTo>
                <a:lnTo>
                  <a:pt x="7474745" y="3391912"/>
                </a:lnTo>
                <a:cubicBezTo>
                  <a:pt x="7474745" y="3475164"/>
                  <a:pt x="7407256" y="3542652"/>
                  <a:pt x="7324005" y="3542652"/>
                </a:cubicBezTo>
                <a:lnTo>
                  <a:pt x="150740" y="3542652"/>
                </a:lnTo>
                <a:cubicBezTo>
                  <a:pt x="67489" y="3542652"/>
                  <a:pt x="0" y="3475164"/>
                  <a:pt x="0" y="3391912"/>
                </a:cubicBezTo>
                <a:lnTo>
                  <a:pt x="0" y="150740"/>
                </a:lnTo>
                <a:cubicBezTo>
                  <a:pt x="0" y="67544"/>
                  <a:pt x="67544" y="0"/>
                  <a:pt x="150740" y="0"/>
                </a:cubicBezTo>
                <a:close/>
              </a:path>
            </a:pathLst>
          </a:custGeom>
          <a:gradFill flip="none" rotWithShape="1">
            <a:gsLst>
              <a:gs pos="0">
                <a:srgbClr val="5A7D9A">
                  <a:alpha val="30000"/>
                </a:srgbClr>
              </a:gs>
              <a:gs pos="100000">
                <a:srgbClr val="5A7D9A">
                  <a:alpha val="10000"/>
                </a:srgbClr>
              </a:gs>
            </a:gsLst>
            <a:lin ang="2700000" scaled="1"/>
          </a:gradFill>
          <a:ln w="25400">
            <a:solidFill>
              <a:srgbClr val="5A7D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531377" y="5744442"/>
            <a:ext cx="703505" cy="703505"/>
          </a:xfrm>
          <a:custGeom>
            <a:avLst/>
            <a:gdLst/>
            <a:ahLst/>
            <a:cxnLst/>
            <a:rect l="l" t="t" r="r" b="b"/>
            <a:pathLst>
              <a:path w="703505" h="703505">
                <a:moveTo>
                  <a:pt x="150754" y="0"/>
                </a:moveTo>
                <a:lnTo>
                  <a:pt x="552751" y="0"/>
                </a:lnTo>
                <a:cubicBezTo>
                  <a:pt x="635955" y="0"/>
                  <a:pt x="703505" y="67551"/>
                  <a:pt x="703505" y="150754"/>
                </a:cubicBezTo>
                <a:lnTo>
                  <a:pt x="703505" y="552751"/>
                </a:lnTo>
                <a:cubicBezTo>
                  <a:pt x="703505" y="635955"/>
                  <a:pt x="635955" y="703505"/>
                  <a:pt x="552751" y="703505"/>
                </a:cubicBezTo>
                <a:lnTo>
                  <a:pt x="150754" y="703505"/>
                </a:lnTo>
                <a:cubicBezTo>
                  <a:pt x="67551" y="703505"/>
                  <a:pt x="0" y="635955"/>
                  <a:pt x="0" y="552751"/>
                </a:cubicBezTo>
                <a:lnTo>
                  <a:pt x="0" y="150754"/>
                </a:lnTo>
                <a:cubicBezTo>
                  <a:pt x="0" y="67551"/>
                  <a:pt x="67551" y="0"/>
                  <a:pt x="150754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732379" y="5945444"/>
            <a:ext cx="301502" cy="301502"/>
          </a:xfrm>
          <a:custGeom>
            <a:avLst/>
            <a:gdLst/>
            <a:ahLst/>
            <a:cxnLst/>
            <a:rect l="l" t="t" r="r" b="b"/>
            <a:pathLst>
              <a:path w="301502" h="301502">
                <a:moveTo>
                  <a:pt x="0" y="42399"/>
                </a:moveTo>
                <a:cubicBezTo>
                  <a:pt x="0" y="34626"/>
                  <a:pt x="6301" y="28266"/>
                  <a:pt x="14133" y="28266"/>
                </a:cubicBezTo>
                <a:lnTo>
                  <a:pt x="42399" y="28266"/>
                </a:lnTo>
                <a:cubicBezTo>
                  <a:pt x="50231" y="28266"/>
                  <a:pt x="56532" y="34567"/>
                  <a:pt x="56532" y="42399"/>
                </a:cubicBezTo>
                <a:lnTo>
                  <a:pt x="56532" y="103641"/>
                </a:lnTo>
                <a:lnTo>
                  <a:pt x="70665" y="103641"/>
                </a:lnTo>
                <a:cubicBezTo>
                  <a:pt x="78497" y="103641"/>
                  <a:pt x="84798" y="109942"/>
                  <a:pt x="84798" y="117774"/>
                </a:cubicBezTo>
                <a:cubicBezTo>
                  <a:pt x="84798" y="125606"/>
                  <a:pt x="78497" y="131907"/>
                  <a:pt x="70665" y="131907"/>
                </a:cubicBezTo>
                <a:lnTo>
                  <a:pt x="14133" y="131907"/>
                </a:lnTo>
                <a:cubicBezTo>
                  <a:pt x="6301" y="131907"/>
                  <a:pt x="0" y="125606"/>
                  <a:pt x="0" y="117774"/>
                </a:cubicBezTo>
                <a:cubicBezTo>
                  <a:pt x="0" y="109942"/>
                  <a:pt x="6301" y="103641"/>
                  <a:pt x="14133" y="103641"/>
                </a:cubicBezTo>
                <a:lnTo>
                  <a:pt x="28266" y="103641"/>
                </a:lnTo>
                <a:lnTo>
                  <a:pt x="28266" y="56532"/>
                </a:lnTo>
                <a:lnTo>
                  <a:pt x="14133" y="56532"/>
                </a:lnTo>
                <a:cubicBezTo>
                  <a:pt x="6301" y="56532"/>
                  <a:pt x="0" y="50231"/>
                  <a:pt x="0" y="42399"/>
                </a:cubicBezTo>
                <a:close/>
                <a:moveTo>
                  <a:pt x="17902" y="177368"/>
                </a:moveTo>
                <a:cubicBezTo>
                  <a:pt x="24615" y="172304"/>
                  <a:pt x="32800" y="169595"/>
                  <a:pt x="41221" y="169595"/>
                </a:cubicBezTo>
                <a:lnTo>
                  <a:pt x="44106" y="169595"/>
                </a:lnTo>
                <a:cubicBezTo>
                  <a:pt x="63951" y="169595"/>
                  <a:pt x="80087" y="185730"/>
                  <a:pt x="80087" y="205575"/>
                </a:cubicBezTo>
                <a:cubicBezTo>
                  <a:pt x="80087" y="217117"/>
                  <a:pt x="74551" y="227893"/>
                  <a:pt x="65247" y="234665"/>
                </a:cubicBezTo>
                <a:lnTo>
                  <a:pt x="51114" y="244971"/>
                </a:lnTo>
                <a:lnTo>
                  <a:pt x="70665" y="244971"/>
                </a:lnTo>
                <a:cubicBezTo>
                  <a:pt x="78497" y="244971"/>
                  <a:pt x="84798" y="251272"/>
                  <a:pt x="84798" y="259104"/>
                </a:cubicBezTo>
                <a:cubicBezTo>
                  <a:pt x="84798" y="266936"/>
                  <a:pt x="78497" y="273236"/>
                  <a:pt x="70665" y="273236"/>
                </a:cubicBezTo>
                <a:lnTo>
                  <a:pt x="17254" y="273236"/>
                </a:lnTo>
                <a:cubicBezTo>
                  <a:pt x="7714" y="273236"/>
                  <a:pt x="0" y="265522"/>
                  <a:pt x="0" y="255983"/>
                </a:cubicBezTo>
                <a:cubicBezTo>
                  <a:pt x="0" y="250447"/>
                  <a:pt x="2650" y="245265"/>
                  <a:pt x="7125" y="242026"/>
                </a:cubicBezTo>
                <a:lnTo>
                  <a:pt x="48641" y="211817"/>
                </a:lnTo>
                <a:cubicBezTo>
                  <a:pt x="50643" y="210345"/>
                  <a:pt x="51821" y="208048"/>
                  <a:pt x="51821" y="205575"/>
                </a:cubicBezTo>
                <a:cubicBezTo>
                  <a:pt x="51821" y="201335"/>
                  <a:pt x="48346" y="197861"/>
                  <a:pt x="44106" y="197861"/>
                </a:cubicBezTo>
                <a:lnTo>
                  <a:pt x="41221" y="197861"/>
                </a:lnTo>
                <a:cubicBezTo>
                  <a:pt x="38924" y="197861"/>
                  <a:pt x="36687" y="198626"/>
                  <a:pt x="34861" y="199981"/>
                </a:cubicBezTo>
                <a:lnTo>
                  <a:pt x="22613" y="209167"/>
                </a:lnTo>
                <a:cubicBezTo>
                  <a:pt x="16371" y="213878"/>
                  <a:pt x="7538" y="212583"/>
                  <a:pt x="2827" y="206341"/>
                </a:cubicBezTo>
                <a:cubicBezTo>
                  <a:pt x="-1884" y="200099"/>
                  <a:pt x="-589" y="191266"/>
                  <a:pt x="5653" y="186555"/>
                </a:cubicBezTo>
                <a:lnTo>
                  <a:pt x="17902" y="177368"/>
                </a:lnTo>
                <a:close/>
                <a:moveTo>
                  <a:pt x="131907" y="37688"/>
                </a:moveTo>
                <a:lnTo>
                  <a:pt x="282658" y="37688"/>
                </a:lnTo>
                <a:cubicBezTo>
                  <a:pt x="293081" y="37688"/>
                  <a:pt x="301502" y="46109"/>
                  <a:pt x="301502" y="56532"/>
                </a:cubicBezTo>
                <a:cubicBezTo>
                  <a:pt x="301502" y="66955"/>
                  <a:pt x="293081" y="75376"/>
                  <a:pt x="282658" y="75376"/>
                </a:cubicBezTo>
                <a:lnTo>
                  <a:pt x="131907" y="75376"/>
                </a:lnTo>
                <a:cubicBezTo>
                  <a:pt x="121484" y="75376"/>
                  <a:pt x="113063" y="66955"/>
                  <a:pt x="113063" y="56532"/>
                </a:cubicBezTo>
                <a:cubicBezTo>
                  <a:pt x="113063" y="46109"/>
                  <a:pt x="121484" y="37688"/>
                  <a:pt x="131907" y="37688"/>
                </a:cubicBezTo>
                <a:close/>
                <a:moveTo>
                  <a:pt x="131907" y="131907"/>
                </a:moveTo>
                <a:lnTo>
                  <a:pt x="282658" y="131907"/>
                </a:lnTo>
                <a:cubicBezTo>
                  <a:pt x="293081" y="131907"/>
                  <a:pt x="301502" y="140328"/>
                  <a:pt x="301502" y="150751"/>
                </a:cubicBezTo>
                <a:cubicBezTo>
                  <a:pt x="301502" y="161174"/>
                  <a:pt x="293081" y="169595"/>
                  <a:pt x="282658" y="169595"/>
                </a:cubicBezTo>
                <a:lnTo>
                  <a:pt x="131907" y="169595"/>
                </a:lnTo>
                <a:cubicBezTo>
                  <a:pt x="121484" y="169595"/>
                  <a:pt x="113063" y="161174"/>
                  <a:pt x="113063" y="150751"/>
                </a:cubicBezTo>
                <a:cubicBezTo>
                  <a:pt x="113063" y="140328"/>
                  <a:pt x="121484" y="131907"/>
                  <a:pt x="131907" y="131907"/>
                </a:cubicBezTo>
                <a:close/>
                <a:moveTo>
                  <a:pt x="131907" y="226127"/>
                </a:moveTo>
                <a:lnTo>
                  <a:pt x="282658" y="226127"/>
                </a:lnTo>
                <a:cubicBezTo>
                  <a:pt x="293081" y="226127"/>
                  <a:pt x="301502" y="234548"/>
                  <a:pt x="301502" y="244971"/>
                </a:cubicBezTo>
                <a:cubicBezTo>
                  <a:pt x="301502" y="255394"/>
                  <a:pt x="293081" y="263815"/>
                  <a:pt x="282658" y="263815"/>
                </a:cubicBezTo>
                <a:lnTo>
                  <a:pt x="131907" y="263815"/>
                </a:lnTo>
                <a:cubicBezTo>
                  <a:pt x="121484" y="263815"/>
                  <a:pt x="113063" y="255394"/>
                  <a:pt x="113063" y="244971"/>
                </a:cubicBezTo>
                <a:cubicBezTo>
                  <a:pt x="113063" y="234548"/>
                  <a:pt x="121484" y="226127"/>
                  <a:pt x="131907" y="226127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9435884" y="5895193"/>
            <a:ext cx="1658263" cy="402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74" dirty="0">
                <a:solidFill>
                  <a:srgbClr val="5A7D9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分布式队列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531377" y="6648949"/>
            <a:ext cx="7047617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</a:t>
            </a:r>
            <a:r>
              <a:rPr lang="en-US" sz="1583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分布式工作队列</a:t>
            </a:r>
            <a:r>
              <a:rPr lang="en-US" sz="1583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，协调多个工作进程的任务处理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556502" y="7101202"/>
            <a:ext cx="6921991" cy="1658263"/>
          </a:xfrm>
          <a:custGeom>
            <a:avLst/>
            <a:gdLst/>
            <a:ahLst/>
            <a:cxnLst/>
            <a:rect l="l" t="t" r="r" b="b"/>
            <a:pathLst>
              <a:path w="6921991" h="1658263">
                <a:moveTo>
                  <a:pt x="50250" y="0"/>
                </a:moveTo>
                <a:lnTo>
                  <a:pt x="6821483" y="0"/>
                </a:lnTo>
                <a:cubicBezTo>
                  <a:pt x="6876992" y="0"/>
                  <a:pt x="6921991" y="44999"/>
                  <a:pt x="6921991" y="100507"/>
                </a:cubicBezTo>
                <a:lnTo>
                  <a:pt x="6921991" y="1557755"/>
                </a:lnTo>
                <a:cubicBezTo>
                  <a:pt x="6921991" y="1613264"/>
                  <a:pt x="6876992" y="1658263"/>
                  <a:pt x="6821483" y="1658263"/>
                </a:cubicBezTo>
                <a:lnTo>
                  <a:pt x="50250" y="1658263"/>
                </a:lnTo>
                <a:cubicBezTo>
                  <a:pt x="22498" y="1658263"/>
                  <a:pt x="0" y="1635765"/>
                  <a:pt x="0" y="1608012"/>
                </a:cubicBezTo>
                <a:lnTo>
                  <a:pt x="0" y="50250"/>
                </a:lnTo>
                <a:cubicBezTo>
                  <a:pt x="0" y="22498"/>
                  <a:pt x="22498" y="0"/>
                  <a:pt x="5025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8556502" y="7101202"/>
            <a:ext cx="50250" cy="1658263"/>
          </a:xfrm>
          <a:custGeom>
            <a:avLst/>
            <a:gdLst/>
            <a:ahLst/>
            <a:cxnLst/>
            <a:rect l="l" t="t" r="r" b="b"/>
            <a:pathLst>
              <a:path w="50250" h="1658263">
                <a:moveTo>
                  <a:pt x="50250" y="0"/>
                </a:moveTo>
                <a:lnTo>
                  <a:pt x="50250" y="0"/>
                </a:lnTo>
                <a:lnTo>
                  <a:pt x="50250" y="1658263"/>
                </a:lnTo>
                <a:lnTo>
                  <a:pt x="50250" y="1658263"/>
                </a:lnTo>
                <a:cubicBezTo>
                  <a:pt x="22498" y="1658263"/>
                  <a:pt x="0" y="1635765"/>
                  <a:pt x="0" y="1608012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782629" y="7302204"/>
            <a:ext cx="659536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782629" y="7704207"/>
            <a:ext cx="6582801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任务队列管理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782629" y="8005709"/>
            <a:ext cx="6582801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消息队列协调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782629" y="8307212"/>
            <a:ext cx="6582801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批处理作业调度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9648" y="439648"/>
            <a:ext cx="15464633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5" b="1" kern="0" spc="69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39648" y="791367"/>
            <a:ext cx="15640492" cy="527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154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性能特征与设计权衡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5144" y="1544265"/>
            <a:ext cx="4968027" cy="2594699"/>
          </a:xfrm>
          <a:custGeom>
            <a:avLst/>
            <a:gdLst/>
            <a:ahLst/>
            <a:cxnLst/>
            <a:rect l="l" t="t" r="r" b="b"/>
            <a:pathLst>
              <a:path w="4968027" h="2736811">
                <a:moveTo>
                  <a:pt x="131887" y="0"/>
                </a:moveTo>
                <a:lnTo>
                  <a:pt x="4836140" y="0"/>
                </a:lnTo>
                <a:cubicBezTo>
                  <a:pt x="4908979" y="0"/>
                  <a:pt x="4968027" y="59048"/>
                  <a:pt x="4968027" y="131887"/>
                </a:cubicBezTo>
                <a:lnTo>
                  <a:pt x="4968027" y="2604924"/>
                </a:lnTo>
                <a:cubicBezTo>
                  <a:pt x="4968027" y="2677764"/>
                  <a:pt x="4908979" y="2736811"/>
                  <a:pt x="4836140" y="2736811"/>
                </a:cubicBezTo>
                <a:lnTo>
                  <a:pt x="131887" y="2736811"/>
                </a:lnTo>
                <a:cubicBezTo>
                  <a:pt x="59048" y="2736811"/>
                  <a:pt x="0" y="2677764"/>
                  <a:pt x="0" y="2604924"/>
                </a:cubicBezTo>
                <a:lnTo>
                  <a:pt x="0" y="131887"/>
                </a:lnTo>
                <a:cubicBezTo>
                  <a:pt x="0" y="59097"/>
                  <a:pt x="59097" y="0"/>
                  <a:pt x="131887" y="0"/>
                </a:cubicBezTo>
                <a:close/>
              </a:path>
            </a:pathLst>
          </a:custGeom>
          <a:gradFill flip="none" rotWithShape="1">
            <a:gsLst>
              <a:gs pos="0">
                <a:srgbClr val="5A7D9A">
                  <a:alpha val="30000"/>
                </a:srgbClr>
              </a:gs>
              <a:gs pos="100000">
                <a:srgbClr val="5A7D9A">
                  <a:alpha val="10000"/>
                </a:srgbClr>
              </a:gs>
            </a:gsLst>
            <a:lin ang="2700000" scaled="1"/>
          </a:gradFill>
          <a:ln w="12700">
            <a:solidFill>
              <a:srgbClr val="5A7D9A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14429" y="1813550"/>
            <a:ext cx="527578" cy="527578"/>
          </a:xfrm>
          <a:custGeom>
            <a:avLst/>
            <a:gdLst/>
            <a:ahLst/>
            <a:cxnLst/>
            <a:rect l="l" t="t" r="r" b="b"/>
            <a:pathLst>
              <a:path w="527578" h="527578">
                <a:moveTo>
                  <a:pt x="87931" y="0"/>
                </a:moveTo>
                <a:lnTo>
                  <a:pt x="439647" y="0"/>
                </a:lnTo>
                <a:cubicBezTo>
                  <a:pt x="488210" y="0"/>
                  <a:pt x="527578" y="39368"/>
                  <a:pt x="527578" y="87931"/>
                </a:cubicBezTo>
                <a:lnTo>
                  <a:pt x="527578" y="439647"/>
                </a:lnTo>
                <a:cubicBezTo>
                  <a:pt x="527578" y="488210"/>
                  <a:pt x="488210" y="527578"/>
                  <a:pt x="439647" y="527578"/>
                </a:cubicBezTo>
                <a:lnTo>
                  <a:pt x="87931" y="527578"/>
                </a:lnTo>
                <a:cubicBezTo>
                  <a:pt x="39368" y="527578"/>
                  <a:pt x="0" y="488210"/>
                  <a:pt x="0" y="439647"/>
                </a:cubicBezTo>
                <a:lnTo>
                  <a:pt x="0" y="87931"/>
                </a:lnTo>
                <a:cubicBezTo>
                  <a:pt x="0" y="39401"/>
                  <a:pt x="39401" y="0"/>
                  <a:pt x="87931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82045" y="1967427"/>
            <a:ext cx="192346" cy="219824"/>
          </a:xfrm>
          <a:custGeom>
            <a:avLst/>
            <a:gdLst/>
            <a:ahLst/>
            <a:cxnLst/>
            <a:rect l="l" t="t" r="r" b="b"/>
            <a:pathLst>
              <a:path w="192346" h="219824">
                <a:moveTo>
                  <a:pt x="27478" y="13739"/>
                </a:moveTo>
                <a:cubicBezTo>
                  <a:pt x="12322" y="13739"/>
                  <a:pt x="0" y="26061"/>
                  <a:pt x="0" y="41217"/>
                </a:cubicBezTo>
                <a:lnTo>
                  <a:pt x="0" y="68695"/>
                </a:lnTo>
                <a:cubicBezTo>
                  <a:pt x="0" y="83851"/>
                  <a:pt x="12322" y="96173"/>
                  <a:pt x="27478" y="96173"/>
                </a:cubicBezTo>
                <a:lnTo>
                  <a:pt x="164868" y="96173"/>
                </a:lnTo>
                <a:cubicBezTo>
                  <a:pt x="180024" y="96173"/>
                  <a:pt x="192346" y="83851"/>
                  <a:pt x="192346" y="68695"/>
                </a:cubicBezTo>
                <a:lnTo>
                  <a:pt x="192346" y="41217"/>
                </a:lnTo>
                <a:cubicBezTo>
                  <a:pt x="192346" y="26061"/>
                  <a:pt x="180024" y="13739"/>
                  <a:pt x="164868" y="13739"/>
                </a:cubicBezTo>
                <a:lnTo>
                  <a:pt x="27478" y="13739"/>
                </a:lnTo>
                <a:close/>
                <a:moveTo>
                  <a:pt x="120216" y="44652"/>
                </a:moveTo>
                <a:cubicBezTo>
                  <a:pt x="125903" y="44652"/>
                  <a:pt x="130521" y="49269"/>
                  <a:pt x="130521" y="54956"/>
                </a:cubicBezTo>
                <a:cubicBezTo>
                  <a:pt x="130521" y="60643"/>
                  <a:pt x="125903" y="65260"/>
                  <a:pt x="120216" y="65260"/>
                </a:cubicBezTo>
                <a:cubicBezTo>
                  <a:pt x="114529" y="65260"/>
                  <a:pt x="109912" y="60643"/>
                  <a:pt x="109912" y="54956"/>
                </a:cubicBezTo>
                <a:cubicBezTo>
                  <a:pt x="109912" y="49269"/>
                  <a:pt x="114529" y="44652"/>
                  <a:pt x="120216" y="44652"/>
                </a:cubicBezTo>
                <a:close/>
                <a:moveTo>
                  <a:pt x="144260" y="54956"/>
                </a:moveTo>
                <a:cubicBezTo>
                  <a:pt x="144260" y="49269"/>
                  <a:pt x="148877" y="44652"/>
                  <a:pt x="154564" y="44652"/>
                </a:cubicBezTo>
                <a:cubicBezTo>
                  <a:pt x="160251" y="44652"/>
                  <a:pt x="164868" y="49269"/>
                  <a:pt x="164868" y="54956"/>
                </a:cubicBezTo>
                <a:cubicBezTo>
                  <a:pt x="164868" y="60643"/>
                  <a:pt x="160251" y="65260"/>
                  <a:pt x="154564" y="65260"/>
                </a:cubicBezTo>
                <a:cubicBezTo>
                  <a:pt x="148877" y="65260"/>
                  <a:pt x="144260" y="60643"/>
                  <a:pt x="144260" y="54956"/>
                </a:cubicBezTo>
                <a:close/>
                <a:moveTo>
                  <a:pt x="27478" y="123651"/>
                </a:moveTo>
                <a:cubicBezTo>
                  <a:pt x="12322" y="123651"/>
                  <a:pt x="0" y="135973"/>
                  <a:pt x="0" y="151129"/>
                </a:cubicBezTo>
                <a:lnTo>
                  <a:pt x="0" y="178607"/>
                </a:lnTo>
                <a:cubicBezTo>
                  <a:pt x="0" y="193763"/>
                  <a:pt x="12322" y="206085"/>
                  <a:pt x="27478" y="206085"/>
                </a:cubicBezTo>
                <a:lnTo>
                  <a:pt x="164868" y="206085"/>
                </a:lnTo>
                <a:cubicBezTo>
                  <a:pt x="180024" y="206085"/>
                  <a:pt x="192346" y="193763"/>
                  <a:pt x="192346" y="178607"/>
                </a:cubicBezTo>
                <a:lnTo>
                  <a:pt x="192346" y="151129"/>
                </a:lnTo>
                <a:cubicBezTo>
                  <a:pt x="192346" y="135973"/>
                  <a:pt x="180024" y="123651"/>
                  <a:pt x="164868" y="123651"/>
                </a:cubicBezTo>
                <a:lnTo>
                  <a:pt x="27478" y="123651"/>
                </a:lnTo>
                <a:close/>
                <a:moveTo>
                  <a:pt x="120216" y="154564"/>
                </a:moveTo>
                <a:cubicBezTo>
                  <a:pt x="125903" y="154564"/>
                  <a:pt x="130521" y="159181"/>
                  <a:pt x="130521" y="164868"/>
                </a:cubicBezTo>
                <a:cubicBezTo>
                  <a:pt x="130521" y="170555"/>
                  <a:pt x="125903" y="175172"/>
                  <a:pt x="120216" y="175172"/>
                </a:cubicBezTo>
                <a:cubicBezTo>
                  <a:pt x="114529" y="175172"/>
                  <a:pt x="109912" y="170555"/>
                  <a:pt x="109912" y="164868"/>
                </a:cubicBezTo>
                <a:cubicBezTo>
                  <a:pt x="109912" y="159181"/>
                  <a:pt x="114529" y="154564"/>
                  <a:pt x="120216" y="154564"/>
                </a:cubicBezTo>
                <a:close/>
                <a:moveTo>
                  <a:pt x="144260" y="164868"/>
                </a:moveTo>
                <a:cubicBezTo>
                  <a:pt x="144260" y="159181"/>
                  <a:pt x="148877" y="154564"/>
                  <a:pt x="154564" y="154564"/>
                </a:cubicBezTo>
                <a:cubicBezTo>
                  <a:pt x="160251" y="154564"/>
                  <a:pt x="164868" y="159181"/>
                  <a:pt x="164868" y="164868"/>
                </a:cubicBezTo>
                <a:cubicBezTo>
                  <a:pt x="164868" y="170555"/>
                  <a:pt x="160251" y="175172"/>
                  <a:pt x="154564" y="175172"/>
                </a:cubicBezTo>
                <a:cubicBezTo>
                  <a:pt x="148877" y="175172"/>
                  <a:pt x="144260" y="170555"/>
                  <a:pt x="144260" y="164868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373901" y="1923462"/>
            <a:ext cx="1923462" cy="30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31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单个 Chubby 单元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9561" y="2352395"/>
            <a:ext cx="4759194" cy="659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193" dirty="0">
                <a:solidFill>
                  <a:srgbClr val="5A7D9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10K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4968" y="3099797"/>
            <a:ext cx="4528379" cy="30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58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服务机器数量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4429" y="3583411"/>
            <a:ext cx="4517387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通常服务约 </a:t>
            </a:r>
            <a:r>
              <a:rPr lang="en-US" sz="1385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10,000 台机器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44330" y="1544266"/>
            <a:ext cx="4968027" cy="2589204"/>
          </a:xfrm>
          <a:custGeom>
            <a:avLst/>
            <a:gdLst/>
            <a:ahLst/>
            <a:cxnLst/>
            <a:rect l="l" t="t" r="r" b="b"/>
            <a:pathLst>
              <a:path w="4968027" h="2736811">
                <a:moveTo>
                  <a:pt x="131887" y="0"/>
                </a:moveTo>
                <a:lnTo>
                  <a:pt x="4836140" y="0"/>
                </a:lnTo>
                <a:cubicBezTo>
                  <a:pt x="4908979" y="0"/>
                  <a:pt x="4968027" y="59048"/>
                  <a:pt x="4968027" y="131887"/>
                </a:cubicBezTo>
                <a:lnTo>
                  <a:pt x="4968027" y="2604924"/>
                </a:lnTo>
                <a:cubicBezTo>
                  <a:pt x="4968027" y="2677764"/>
                  <a:pt x="4908979" y="2736811"/>
                  <a:pt x="4836140" y="2736811"/>
                </a:cubicBezTo>
                <a:lnTo>
                  <a:pt x="131887" y="2736811"/>
                </a:lnTo>
                <a:cubicBezTo>
                  <a:pt x="59048" y="2736811"/>
                  <a:pt x="0" y="2677764"/>
                  <a:pt x="0" y="2604924"/>
                </a:cubicBezTo>
                <a:lnTo>
                  <a:pt x="0" y="131887"/>
                </a:lnTo>
                <a:cubicBezTo>
                  <a:pt x="0" y="59097"/>
                  <a:pt x="59097" y="0"/>
                  <a:pt x="131887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3A2">
                  <a:alpha val="30000"/>
                </a:srgbClr>
              </a:gs>
              <a:gs pos="100000">
                <a:srgbClr val="4DB3A2">
                  <a:alpha val="10000"/>
                </a:srgbClr>
              </a:gs>
            </a:gsLst>
            <a:lin ang="2700000" scaled="1"/>
          </a:gradFill>
          <a:ln w="12700">
            <a:solidFill>
              <a:srgbClr val="4DB3A2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913615" y="1813550"/>
            <a:ext cx="527578" cy="527578"/>
          </a:xfrm>
          <a:custGeom>
            <a:avLst/>
            <a:gdLst/>
            <a:ahLst/>
            <a:cxnLst/>
            <a:rect l="l" t="t" r="r" b="b"/>
            <a:pathLst>
              <a:path w="527578" h="527578">
                <a:moveTo>
                  <a:pt x="87931" y="0"/>
                </a:moveTo>
                <a:lnTo>
                  <a:pt x="439647" y="0"/>
                </a:lnTo>
                <a:cubicBezTo>
                  <a:pt x="488210" y="0"/>
                  <a:pt x="527578" y="39368"/>
                  <a:pt x="527578" y="87931"/>
                </a:cubicBezTo>
                <a:lnTo>
                  <a:pt x="527578" y="439647"/>
                </a:lnTo>
                <a:cubicBezTo>
                  <a:pt x="527578" y="488210"/>
                  <a:pt x="488210" y="527578"/>
                  <a:pt x="439647" y="527578"/>
                </a:cubicBezTo>
                <a:lnTo>
                  <a:pt x="87931" y="527578"/>
                </a:lnTo>
                <a:cubicBezTo>
                  <a:pt x="39368" y="527578"/>
                  <a:pt x="0" y="488210"/>
                  <a:pt x="0" y="439647"/>
                </a:cubicBezTo>
                <a:lnTo>
                  <a:pt x="0" y="87931"/>
                </a:lnTo>
                <a:cubicBezTo>
                  <a:pt x="0" y="39401"/>
                  <a:pt x="39401" y="0"/>
                  <a:pt x="87931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040014" y="1967427"/>
            <a:ext cx="274780" cy="219824"/>
          </a:xfrm>
          <a:custGeom>
            <a:avLst/>
            <a:gdLst/>
            <a:ahLst/>
            <a:cxnLst/>
            <a:rect l="l" t="t" r="r" b="b"/>
            <a:pathLst>
              <a:path w="274780" h="219824">
                <a:moveTo>
                  <a:pt x="137390" y="6870"/>
                </a:moveTo>
                <a:cubicBezTo>
                  <a:pt x="162034" y="6870"/>
                  <a:pt x="182042" y="26877"/>
                  <a:pt x="182042" y="51521"/>
                </a:cubicBezTo>
                <a:cubicBezTo>
                  <a:pt x="182042" y="76165"/>
                  <a:pt x="162034" y="96173"/>
                  <a:pt x="137390" y="96173"/>
                </a:cubicBezTo>
                <a:cubicBezTo>
                  <a:pt x="112746" y="96173"/>
                  <a:pt x="92738" y="76165"/>
                  <a:pt x="92738" y="51521"/>
                </a:cubicBezTo>
                <a:cubicBezTo>
                  <a:pt x="92738" y="26877"/>
                  <a:pt x="112746" y="6870"/>
                  <a:pt x="137390" y="6870"/>
                </a:cubicBezTo>
                <a:close/>
                <a:moveTo>
                  <a:pt x="41217" y="37782"/>
                </a:moveTo>
                <a:cubicBezTo>
                  <a:pt x="58278" y="37782"/>
                  <a:pt x="72130" y="51634"/>
                  <a:pt x="72130" y="68695"/>
                </a:cubicBezTo>
                <a:cubicBezTo>
                  <a:pt x="72130" y="85756"/>
                  <a:pt x="58278" y="99608"/>
                  <a:pt x="41217" y="99608"/>
                </a:cubicBezTo>
                <a:cubicBezTo>
                  <a:pt x="24156" y="99608"/>
                  <a:pt x="10304" y="85756"/>
                  <a:pt x="10304" y="68695"/>
                </a:cubicBezTo>
                <a:cubicBezTo>
                  <a:pt x="10304" y="51634"/>
                  <a:pt x="24156" y="37782"/>
                  <a:pt x="41217" y="37782"/>
                </a:cubicBezTo>
                <a:close/>
                <a:moveTo>
                  <a:pt x="0" y="178607"/>
                </a:moveTo>
                <a:cubicBezTo>
                  <a:pt x="0" y="148253"/>
                  <a:pt x="24601" y="123651"/>
                  <a:pt x="54956" y="123651"/>
                </a:cubicBezTo>
                <a:cubicBezTo>
                  <a:pt x="60452" y="123651"/>
                  <a:pt x="65776" y="124467"/>
                  <a:pt x="70799" y="125970"/>
                </a:cubicBezTo>
                <a:cubicBezTo>
                  <a:pt x="56673" y="141769"/>
                  <a:pt x="48087" y="162636"/>
                  <a:pt x="48087" y="185477"/>
                </a:cubicBezTo>
                <a:lnTo>
                  <a:pt x="48087" y="192346"/>
                </a:lnTo>
                <a:cubicBezTo>
                  <a:pt x="48087" y="197241"/>
                  <a:pt x="49117" y="201878"/>
                  <a:pt x="50963" y="206085"/>
                </a:cubicBezTo>
                <a:lnTo>
                  <a:pt x="13739" y="206085"/>
                </a:lnTo>
                <a:cubicBezTo>
                  <a:pt x="6140" y="206085"/>
                  <a:pt x="0" y="199946"/>
                  <a:pt x="0" y="192346"/>
                </a:cubicBezTo>
                <a:lnTo>
                  <a:pt x="0" y="178607"/>
                </a:lnTo>
                <a:close/>
                <a:moveTo>
                  <a:pt x="223817" y="206085"/>
                </a:moveTo>
                <a:cubicBezTo>
                  <a:pt x="225663" y="201878"/>
                  <a:pt x="226694" y="197241"/>
                  <a:pt x="226694" y="192346"/>
                </a:cubicBezTo>
                <a:lnTo>
                  <a:pt x="226694" y="185477"/>
                </a:lnTo>
                <a:cubicBezTo>
                  <a:pt x="226694" y="162636"/>
                  <a:pt x="218107" y="141769"/>
                  <a:pt x="203981" y="125970"/>
                </a:cubicBezTo>
                <a:cubicBezTo>
                  <a:pt x="209005" y="124467"/>
                  <a:pt x="214329" y="123651"/>
                  <a:pt x="219824" y="123651"/>
                </a:cubicBezTo>
                <a:cubicBezTo>
                  <a:pt x="250179" y="123651"/>
                  <a:pt x="274780" y="148253"/>
                  <a:pt x="274780" y="178607"/>
                </a:cubicBezTo>
                <a:lnTo>
                  <a:pt x="274780" y="192346"/>
                </a:lnTo>
                <a:cubicBezTo>
                  <a:pt x="274780" y="199946"/>
                  <a:pt x="268641" y="206085"/>
                  <a:pt x="261041" y="206085"/>
                </a:cubicBezTo>
                <a:lnTo>
                  <a:pt x="223817" y="206085"/>
                </a:lnTo>
                <a:close/>
                <a:moveTo>
                  <a:pt x="202650" y="68695"/>
                </a:moveTo>
                <a:cubicBezTo>
                  <a:pt x="202650" y="51634"/>
                  <a:pt x="216502" y="37782"/>
                  <a:pt x="233563" y="37782"/>
                </a:cubicBezTo>
                <a:cubicBezTo>
                  <a:pt x="250624" y="37782"/>
                  <a:pt x="264476" y="51634"/>
                  <a:pt x="264476" y="68695"/>
                </a:cubicBezTo>
                <a:cubicBezTo>
                  <a:pt x="264476" y="85756"/>
                  <a:pt x="250624" y="99608"/>
                  <a:pt x="233563" y="99608"/>
                </a:cubicBezTo>
                <a:cubicBezTo>
                  <a:pt x="216502" y="99608"/>
                  <a:pt x="202650" y="85756"/>
                  <a:pt x="202650" y="68695"/>
                </a:cubicBezTo>
                <a:close/>
                <a:moveTo>
                  <a:pt x="68695" y="185477"/>
                </a:moveTo>
                <a:cubicBezTo>
                  <a:pt x="68695" y="147523"/>
                  <a:pt x="99436" y="116782"/>
                  <a:pt x="137390" y="116782"/>
                </a:cubicBezTo>
                <a:cubicBezTo>
                  <a:pt x="175344" y="116782"/>
                  <a:pt x="206085" y="147523"/>
                  <a:pt x="206085" y="185477"/>
                </a:cubicBezTo>
                <a:lnTo>
                  <a:pt x="206085" y="192346"/>
                </a:lnTo>
                <a:cubicBezTo>
                  <a:pt x="206085" y="199946"/>
                  <a:pt x="199946" y="206085"/>
                  <a:pt x="192346" y="206085"/>
                </a:cubicBezTo>
                <a:lnTo>
                  <a:pt x="82434" y="206085"/>
                </a:lnTo>
                <a:cubicBezTo>
                  <a:pt x="74835" y="206085"/>
                  <a:pt x="68695" y="199946"/>
                  <a:pt x="68695" y="192346"/>
                </a:cubicBezTo>
                <a:lnTo>
                  <a:pt x="68695" y="185477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573087" y="1923462"/>
            <a:ext cx="1209033" cy="30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31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并发客户端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48746" y="2352395"/>
            <a:ext cx="4759194" cy="659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193" dirty="0">
                <a:solidFill>
                  <a:srgbClr val="4DB3A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10K+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64154" y="3099797"/>
            <a:ext cx="4528379" cy="30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58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并发客户端数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13615" y="3583411"/>
            <a:ext cx="4517387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每个实例可同时处理</a:t>
            </a:r>
            <a:r>
              <a:rPr lang="en-US" sz="1385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数万个客户端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843602" y="1544266"/>
            <a:ext cx="4968027" cy="2589204"/>
          </a:xfrm>
          <a:custGeom>
            <a:avLst/>
            <a:gdLst/>
            <a:ahLst/>
            <a:cxnLst/>
            <a:rect l="l" t="t" r="r" b="b"/>
            <a:pathLst>
              <a:path w="4968027" h="2736811">
                <a:moveTo>
                  <a:pt x="131887" y="0"/>
                </a:moveTo>
                <a:lnTo>
                  <a:pt x="4836140" y="0"/>
                </a:lnTo>
                <a:cubicBezTo>
                  <a:pt x="4908979" y="0"/>
                  <a:pt x="4968027" y="59048"/>
                  <a:pt x="4968027" y="131887"/>
                </a:cubicBezTo>
                <a:lnTo>
                  <a:pt x="4968027" y="2604924"/>
                </a:lnTo>
                <a:cubicBezTo>
                  <a:pt x="4968027" y="2677764"/>
                  <a:pt x="4908979" y="2736811"/>
                  <a:pt x="4836140" y="2736811"/>
                </a:cubicBezTo>
                <a:lnTo>
                  <a:pt x="131887" y="2736811"/>
                </a:lnTo>
                <a:cubicBezTo>
                  <a:pt x="59048" y="2736811"/>
                  <a:pt x="0" y="2677764"/>
                  <a:pt x="0" y="2604924"/>
                </a:cubicBezTo>
                <a:lnTo>
                  <a:pt x="0" y="131887"/>
                </a:lnTo>
                <a:cubicBezTo>
                  <a:pt x="0" y="59097"/>
                  <a:pt x="59097" y="0"/>
                  <a:pt x="131887" y="0"/>
                </a:cubicBezTo>
                <a:close/>
              </a:path>
            </a:pathLst>
          </a:custGeom>
          <a:gradFill flip="none" rotWithShape="1">
            <a:gsLst>
              <a:gs pos="0">
                <a:srgbClr val="E1AF63">
                  <a:alpha val="30000"/>
                </a:srgbClr>
              </a:gs>
              <a:gs pos="100000">
                <a:srgbClr val="E1AF63">
                  <a:alpha val="10000"/>
                </a:srgbClr>
              </a:gs>
            </a:gsLst>
            <a:lin ang="2700000" scaled="1"/>
          </a:gradFill>
          <a:ln w="12700">
            <a:solidFill>
              <a:srgbClr val="E1AF63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11112886" y="1813550"/>
            <a:ext cx="527578" cy="527578"/>
          </a:xfrm>
          <a:custGeom>
            <a:avLst/>
            <a:gdLst/>
            <a:ahLst/>
            <a:cxnLst/>
            <a:rect l="l" t="t" r="r" b="b"/>
            <a:pathLst>
              <a:path w="527578" h="527578">
                <a:moveTo>
                  <a:pt x="87931" y="0"/>
                </a:moveTo>
                <a:lnTo>
                  <a:pt x="439647" y="0"/>
                </a:lnTo>
                <a:cubicBezTo>
                  <a:pt x="488210" y="0"/>
                  <a:pt x="527578" y="39368"/>
                  <a:pt x="527578" y="87931"/>
                </a:cubicBezTo>
                <a:lnTo>
                  <a:pt x="527578" y="439647"/>
                </a:lnTo>
                <a:cubicBezTo>
                  <a:pt x="527578" y="488210"/>
                  <a:pt x="488210" y="527578"/>
                  <a:pt x="439647" y="527578"/>
                </a:cubicBezTo>
                <a:lnTo>
                  <a:pt x="87931" y="527578"/>
                </a:lnTo>
                <a:cubicBezTo>
                  <a:pt x="39368" y="527578"/>
                  <a:pt x="0" y="488210"/>
                  <a:pt x="0" y="439647"/>
                </a:cubicBezTo>
                <a:lnTo>
                  <a:pt x="0" y="87931"/>
                </a:lnTo>
                <a:cubicBezTo>
                  <a:pt x="0" y="39401"/>
                  <a:pt x="39401" y="0"/>
                  <a:pt x="87931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11253024" y="1967427"/>
            <a:ext cx="247302" cy="219824"/>
          </a:xfrm>
          <a:custGeom>
            <a:avLst/>
            <a:gdLst/>
            <a:ahLst/>
            <a:cxnLst/>
            <a:rect l="l" t="t" r="r" b="b"/>
            <a:pathLst>
              <a:path w="247302" h="219824">
                <a:moveTo>
                  <a:pt x="219996" y="103043"/>
                </a:moveTo>
                <a:lnTo>
                  <a:pt x="144431" y="103043"/>
                </a:lnTo>
                <a:cubicBezTo>
                  <a:pt x="136832" y="103043"/>
                  <a:pt x="130692" y="96903"/>
                  <a:pt x="130692" y="89304"/>
                </a:cubicBezTo>
                <a:lnTo>
                  <a:pt x="130692" y="13739"/>
                </a:lnTo>
                <a:cubicBezTo>
                  <a:pt x="130692" y="6140"/>
                  <a:pt x="136875" y="-86"/>
                  <a:pt x="144388" y="902"/>
                </a:cubicBezTo>
                <a:cubicBezTo>
                  <a:pt x="190328" y="6998"/>
                  <a:pt x="226737" y="43407"/>
                  <a:pt x="232833" y="89347"/>
                </a:cubicBezTo>
                <a:cubicBezTo>
                  <a:pt x="233821" y="96860"/>
                  <a:pt x="227595" y="103043"/>
                  <a:pt x="219996" y="103043"/>
                </a:cubicBezTo>
                <a:close/>
                <a:moveTo>
                  <a:pt x="95572" y="15972"/>
                </a:moveTo>
                <a:cubicBezTo>
                  <a:pt x="103343" y="14340"/>
                  <a:pt x="110084" y="20694"/>
                  <a:pt x="110084" y="28637"/>
                </a:cubicBezTo>
                <a:lnTo>
                  <a:pt x="110084" y="113347"/>
                </a:lnTo>
                <a:cubicBezTo>
                  <a:pt x="110084" y="115751"/>
                  <a:pt x="110943" y="118070"/>
                  <a:pt x="112445" y="119916"/>
                </a:cubicBezTo>
                <a:lnTo>
                  <a:pt x="169162" y="188353"/>
                </a:lnTo>
                <a:cubicBezTo>
                  <a:pt x="174185" y="194407"/>
                  <a:pt x="173112" y="203552"/>
                  <a:pt x="166199" y="207287"/>
                </a:cubicBezTo>
                <a:cubicBezTo>
                  <a:pt x="151558" y="215273"/>
                  <a:pt x="134771" y="219824"/>
                  <a:pt x="116953" y="219824"/>
                </a:cubicBezTo>
                <a:cubicBezTo>
                  <a:pt x="60065" y="219824"/>
                  <a:pt x="13911" y="173670"/>
                  <a:pt x="13911" y="116782"/>
                </a:cubicBezTo>
                <a:cubicBezTo>
                  <a:pt x="13911" y="67192"/>
                  <a:pt x="48902" y="25804"/>
                  <a:pt x="95572" y="15972"/>
                </a:cubicBezTo>
                <a:close/>
                <a:moveTo>
                  <a:pt x="205141" y="123651"/>
                </a:moveTo>
                <a:lnTo>
                  <a:pt x="232619" y="123651"/>
                </a:lnTo>
                <a:cubicBezTo>
                  <a:pt x="240562" y="123651"/>
                  <a:pt x="246916" y="130392"/>
                  <a:pt x="245284" y="138163"/>
                </a:cubicBezTo>
                <a:cubicBezTo>
                  <a:pt x="240905" y="158943"/>
                  <a:pt x="230257" y="177405"/>
                  <a:pt x="215402" y="191487"/>
                </a:cubicBezTo>
                <a:cubicBezTo>
                  <a:pt x="210121" y="196511"/>
                  <a:pt x="201835" y="195437"/>
                  <a:pt x="197198" y="189813"/>
                </a:cubicBezTo>
                <a:lnTo>
                  <a:pt x="160961" y="146149"/>
                </a:lnTo>
                <a:cubicBezTo>
                  <a:pt x="153533" y="137175"/>
                  <a:pt x="159931" y="123651"/>
                  <a:pt x="171523" y="123651"/>
                </a:cubicBezTo>
                <a:lnTo>
                  <a:pt x="205098" y="123651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1772359" y="1923462"/>
            <a:ext cx="1044165" cy="30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31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RPC 分布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48018" y="2352395"/>
            <a:ext cx="4759194" cy="659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193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93%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63426" y="3099797"/>
            <a:ext cx="4528379" cy="30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58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KeepAlive 消息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112886" y="3583411"/>
            <a:ext cx="4517387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5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93%</a:t>
            </a:r>
            <a:r>
              <a:rPr lang="en-US" sz="138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的 RPC 是 KeepAlive 消息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0640" y="4309330"/>
            <a:ext cx="7539970" cy="4619311"/>
          </a:xfrm>
          <a:custGeom>
            <a:avLst/>
            <a:gdLst/>
            <a:ahLst/>
            <a:cxnLst/>
            <a:rect l="l" t="t" r="r" b="b"/>
            <a:pathLst>
              <a:path w="7539970" h="5374702">
                <a:moveTo>
                  <a:pt x="131895" y="0"/>
                </a:moveTo>
                <a:lnTo>
                  <a:pt x="7408075" y="0"/>
                </a:lnTo>
                <a:cubicBezTo>
                  <a:pt x="7480919" y="0"/>
                  <a:pt x="7539970" y="59051"/>
                  <a:pt x="7539970" y="131895"/>
                </a:cubicBezTo>
                <a:lnTo>
                  <a:pt x="7539970" y="5242807"/>
                </a:lnTo>
                <a:cubicBezTo>
                  <a:pt x="7539970" y="5315650"/>
                  <a:pt x="7480919" y="5374702"/>
                  <a:pt x="7408075" y="5374702"/>
                </a:cubicBezTo>
                <a:lnTo>
                  <a:pt x="131895" y="5374702"/>
                </a:lnTo>
                <a:cubicBezTo>
                  <a:pt x="59051" y="5374702"/>
                  <a:pt x="0" y="5315650"/>
                  <a:pt x="0" y="5242807"/>
                </a:cubicBezTo>
                <a:lnTo>
                  <a:pt x="0" y="131895"/>
                </a:lnTo>
                <a:cubicBezTo>
                  <a:pt x="0" y="59100"/>
                  <a:pt x="59100" y="0"/>
                  <a:pt x="131895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3A2">
                  <a:alpha val="30000"/>
                </a:srgbClr>
              </a:gs>
              <a:gs pos="100000">
                <a:srgbClr val="4DB3A2">
                  <a:alpha val="10000"/>
                </a:srgbClr>
              </a:gs>
            </a:gsLst>
            <a:lin ang="2700000" scaled="1"/>
          </a:gradFill>
          <a:ln w="25400">
            <a:solidFill>
              <a:srgbClr val="4DB3A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758394" y="4616677"/>
            <a:ext cx="263789" cy="263789"/>
          </a:xfrm>
          <a:custGeom>
            <a:avLst/>
            <a:gdLst/>
            <a:ahLst/>
            <a:cxnLst/>
            <a:rect l="l" t="t" r="r" b="b"/>
            <a:pathLst>
              <a:path w="263789" h="263789">
                <a:moveTo>
                  <a:pt x="230815" y="131895"/>
                </a:moveTo>
                <a:cubicBezTo>
                  <a:pt x="230815" y="77299"/>
                  <a:pt x="186490" y="32974"/>
                  <a:pt x="131895" y="32974"/>
                </a:cubicBezTo>
                <a:cubicBezTo>
                  <a:pt x="77299" y="32974"/>
                  <a:pt x="32974" y="77299"/>
                  <a:pt x="32974" y="131895"/>
                </a:cubicBezTo>
                <a:cubicBezTo>
                  <a:pt x="32974" y="186490"/>
                  <a:pt x="77299" y="230815"/>
                  <a:pt x="131895" y="230815"/>
                </a:cubicBezTo>
                <a:cubicBezTo>
                  <a:pt x="186490" y="230815"/>
                  <a:pt x="230815" y="186490"/>
                  <a:pt x="230815" y="131895"/>
                </a:cubicBezTo>
                <a:close/>
                <a:moveTo>
                  <a:pt x="0" y="131895"/>
                </a:moveTo>
                <a:cubicBezTo>
                  <a:pt x="0" y="59100"/>
                  <a:pt x="59100" y="0"/>
                  <a:pt x="131895" y="0"/>
                </a:cubicBezTo>
                <a:cubicBezTo>
                  <a:pt x="204689" y="0"/>
                  <a:pt x="263789" y="59100"/>
                  <a:pt x="263789" y="131895"/>
                </a:cubicBezTo>
                <a:cubicBezTo>
                  <a:pt x="263789" y="204689"/>
                  <a:pt x="204689" y="263789"/>
                  <a:pt x="131895" y="263789"/>
                </a:cubicBezTo>
                <a:cubicBezTo>
                  <a:pt x="59100" y="263789"/>
                  <a:pt x="0" y="204689"/>
                  <a:pt x="0" y="131895"/>
                </a:cubicBezTo>
                <a:close/>
                <a:moveTo>
                  <a:pt x="131895" y="173112"/>
                </a:moveTo>
                <a:cubicBezTo>
                  <a:pt x="154643" y="173112"/>
                  <a:pt x="173112" y="154643"/>
                  <a:pt x="173112" y="131895"/>
                </a:cubicBezTo>
                <a:cubicBezTo>
                  <a:pt x="173112" y="109146"/>
                  <a:pt x="154643" y="90677"/>
                  <a:pt x="131895" y="90677"/>
                </a:cubicBezTo>
                <a:cubicBezTo>
                  <a:pt x="109146" y="90677"/>
                  <a:pt x="90677" y="109146"/>
                  <a:pt x="90677" y="131895"/>
                </a:cubicBezTo>
                <a:cubicBezTo>
                  <a:pt x="90677" y="154643"/>
                  <a:pt x="109146" y="173112"/>
                  <a:pt x="131895" y="173112"/>
                </a:cubicBezTo>
                <a:close/>
                <a:moveTo>
                  <a:pt x="131895" y="57704"/>
                </a:moveTo>
                <a:cubicBezTo>
                  <a:pt x="172841" y="57704"/>
                  <a:pt x="206085" y="90948"/>
                  <a:pt x="206085" y="131895"/>
                </a:cubicBezTo>
                <a:cubicBezTo>
                  <a:pt x="206085" y="172841"/>
                  <a:pt x="172841" y="206085"/>
                  <a:pt x="131895" y="206085"/>
                </a:cubicBezTo>
                <a:cubicBezTo>
                  <a:pt x="90948" y="206085"/>
                  <a:pt x="57704" y="172841"/>
                  <a:pt x="57704" y="131895"/>
                </a:cubicBezTo>
                <a:cubicBezTo>
                  <a:pt x="57704" y="90948"/>
                  <a:pt x="90948" y="57704"/>
                  <a:pt x="131895" y="57704"/>
                </a:cubicBezTo>
                <a:close/>
                <a:moveTo>
                  <a:pt x="115408" y="131895"/>
                </a:moveTo>
                <a:cubicBezTo>
                  <a:pt x="115408" y="122795"/>
                  <a:pt x="122795" y="115408"/>
                  <a:pt x="131895" y="115408"/>
                </a:cubicBezTo>
                <a:cubicBezTo>
                  <a:pt x="140994" y="115408"/>
                  <a:pt x="148381" y="122795"/>
                  <a:pt x="148381" y="131895"/>
                </a:cubicBezTo>
                <a:cubicBezTo>
                  <a:pt x="148381" y="140994"/>
                  <a:pt x="140994" y="148381"/>
                  <a:pt x="131895" y="148381"/>
                </a:cubicBezTo>
                <a:cubicBezTo>
                  <a:pt x="122795" y="148381"/>
                  <a:pt x="115408" y="140994"/>
                  <a:pt x="115408" y="131895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055156" y="4572712"/>
            <a:ext cx="6792568" cy="351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77" dirty="0">
                <a:solidFill>
                  <a:srgbClr val="4DB3A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主要目标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7402" y="5138262"/>
            <a:ext cx="6968427" cy="1011191"/>
          </a:xfrm>
          <a:custGeom>
            <a:avLst/>
            <a:gdLst/>
            <a:ahLst/>
            <a:cxnLst/>
            <a:rect l="l" t="t" r="r" b="b"/>
            <a:pathLst>
              <a:path w="6968427" h="1011191">
                <a:moveTo>
                  <a:pt x="43965" y="0"/>
                </a:moveTo>
                <a:lnTo>
                  <a:pt x="6880494" y="0"/>
                </a:lnTo>
                <a:cubicBezTo>
                  <a:pt x="6929058" y="0"/>
                  <a:pt x="6968427" y="39369"/>
                  <a:pt x="6968427" y="87933"/>
                </a:cubicBezTo>
                <a:lnTo>
                  <a:pt x="6968427" y="923258"/>
                </a:lnTo>
                <a:cubicBezTo>
                  <a:pt x="6968427" y="971822"/>
                  <a:pt x="6929058" y="1011191"/>
                  <a:pt x="6880494" y="1011191"/>
                </a:cubicBezTo>
                <a:lnTo>
                  <a:pt x="43965" y="1011191"/>
                </a:lnTo>
                <a:cubicBezTo>
                  <a:pt x="19684" y="1011191"/>
                  <a:pt x="0" y="991508"/>
                  <a:pt x="0" y="967227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747402" y="5138262"/>
            <a:ext cx="43965" cy="1011191"/>
          </a:xfrm>
          <a:custGeom>
            <a:avLst/>
            <a:gdLst/>
            <a:ahLst/>
            <a:cxnLst/>
            <a:rect l="l" t="t" r="r" b="b"/>
            <a:pathLst>
              <a:path w="43965" h="1011191">
                <a:moveTo>
                  <a:pt x="43965" y="0"/>
                </a:moveTo>
                <a:lnTo>
                  <a:pt x="43965" y="0"/>
                </a:lnTo>
                <a:lnTo>
                  <a:pt x="43965" y="1011191"/>
                </a:lnTo>
                <a:lnTo>
                  <a:pt x="43965" y="1011191"/>
                </a:lnTo>
                <a:cubicBezTo>
                  <a:pt x="19684" y="1011191"/>
                  <a:pt x="0" y="991508"/>
                  <a:pt x="0" y="967227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972722" y="5369078"/>
            <a:ext cx="197842" cy="197842"/>
          </a:xfrm>
          <a:custGeom>
            <a:avLst/>
            <a:gdLst/>
            <a:ahLst/>
            <a:cxnLst/>
            <a:rect l="l" t="t" r="r" b="b"/>
            <a:pathLst>
              <a:path w="197842" h="197842">
                <a:moveTo>
                  <a:pt x="98921" y="0"/>
                </a:moveTo>
                <a:cubicBezTo>
                  <a:pt x="100698" y="0"/>
                  <a:pt x="102476" y="386"/>
                  <a:pt x="104099" y="1121"/>
                </a:cubicBezTo>
                <a:lnTo>
                  <a:pt x="176898" y="31995"/>
                </a:lnTo>
                <a:cubicBezTo>
                  <a:pt x="185399" y="35588"/>
                  <a:pt x="191737" y="43973"/>
                  <a:pt x="191698" y="54097"/>
                </a:cubicBezTo>
                <a:cubicBezTo>
                  <a:pt x="191505" y="92429"/>
                  <a:pt x="175739" y="162563"/>
                  <a:pt x="109161" y="194441"/>
                </a:cubicBezTo>
                <a:cubicBezTo>
                  <a:pt x="102708" y="197533"/>
                  <a:pt x="95211" y="197533"/>
                  <a:pt x="88758" y="194441"/>
                </a:cubicBezTo>
                <a:cubicBezTo>
                  <a:pt x="22141" y="162563"/>
                  <a:pt x="6414" y="92429"/>
                  <a:pt x="6221" y="54097"/>
                </a:cubicBezTo>
                <a:cubicBezTo>
                  <a:pt x="6183" y="43973"/>
                  <a:pt x="12520" y="35588"/>
                  <a:pt x="21021" y="31995"/>
                </a:cubicBezTo>
                <a:lnTo>
                  <a:pt x="93782" y="1121"/>
                </a:lnTo>
                <a:cubicBezTo>
                  <a:pt x="95405" y="386"/>
                  <a:pt x="97143" y="0"/>
                  <a:pt x="98921" y="0"/>
                </a:cubicBezTo>
                <a:close/>
                <a:moveTo>
                  <a:pt x="98921" y="25812"/>
                </a:moveTo>
                <a:lnTo>
                  <a:pt x="98921" y="171914"/>
                </a:lnTo>
                <a:cubicBezTo>
                  <a:pt x="152245" y="146102"/>
                  <a:pt x="166581" y="88913"/>
                  <a:pt x="166929" y="54677"/>
                </a:cubicBezTo>
                <a:lnTo>
                  <a:pt x="98921" y="25851"/>
                </a:lnTo>
                <a:lnTo>
                  <a:pt x="98921" y="25851"/>
                </a:ln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324441" y="5314122"/>
            <a:ext cx="692446" cy="30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8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可靠性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45244" y="5709805"/>
            <a:ext cx="6682656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在各种故障场景下都能保持一致性和可用性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7402" y="6415754"/>
            <a:ext cx="6968427" cy="1011191"/>
          </a:xfrm>
          <a:custGeom>
            <a:avLst/>
            <a:gdLst/>
            <a:ahLst/>
            <a:cxnLst/>
            <a:rect l="l" t="t" r="r" b="b"/>
            <a:pathLst>
              <a:path w="6968427" h="1011191">
                <a:moveTo>
                  <a:pt x="43965" y="0"/>
                </a:moveTo>
                <a:lnTo>
                  <a:pt x="6880494" y="0"/>
                </a:lnTo>
                <a:cubicBezTo>
                  <a:pt x="6929058" y="0"/>
                  <a:pt x="6968427" y="39369"/>
                  <a:pt x="6968427" y="87933"/>
                </a:cubicBezTo>
                <a:lnTo>
                  <a:pt x="6968427" y="923258"/>
                </a:lnTo>
                <a:cubicBezTo>
                  <a:pt x="6968427" y="971822"/>
                  <a:pt x="6929058" y="1011191"/>
                  <a:pt x="6880494" y="1011191"/>
                </a:cubicBezTo>
                <a:lnTo>
                  <a:pt x="43965" y="1011191"/>
                </a:lnTo>
                <a:cubicBezTo>
                  <a:pt x="19684" y="1011191"/>
                  <a:pt x="0" y="991508"/>
                  <a:pt x="0" y="967227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747402" y="6415754"/>
            <a:ext cx="43965" cy="1011191"/>
          </a:xfrm>
          <a:custGeom>
            <a:avLst/>
            <a:gdLst/>
            <a:ahLst/>
            <a:cxnLst/>
            <a:rect l="l" t="t" r="r" b="b"/>
            <a:pathLst>
              <a:path w="43965" h="1011191">
                <a:moveTo>
                  <a:pt x="43965" y="0"/>
                </a:moveTo>
                <a:lnTo>
                  <a:pt x="43965" y="0"/>
                </a:lnTo>
                <a:lnTo>
                  <a:pt x="43965" y="1011191"/>
                </a:lnTo>
                <a:lnTo>
                  <a:pt x="43965" y="1011191"/>
                </a:lnTo>
                <a:cubicBezTo>
                  <a:pt x="19684" y="1011191"/>
                  <a:pt x="0" y="991508"/>
                  <a:pt x="0" y="967227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972722" y="6646569"/>
            <a:ext cx="197842" cy="197842"/>
          </a:xfrm>
          <a:custGeom>
            <a:avLst/>
            <a:gdLst/>
            <a:ahLst/>
            <a:cxnLst/>
            <a:rect l="l" t="t" r="r" b="b"/>
            <a:pathLst>
              <a:path w="197842" h="197842">
                <a:moveTo>
                  <a:pt x="111286" y="0"/>
                </a:moveTo>
                <a:cubicBezTo>
                  <a:pt x="111286" y="-6839"/>
                  <a:pt x="105760" y="-12365"/>
                  <a:pt x="98921" y="-12365"/>
                </a:cubicBezTo>
                <a:cubicBezTo>
                  <a:pt x="92081" y="-12365"/>
                  <a:pt x="86556" y="-6839"/>
                  <a:pt x="86556" y="0"/>
                </a:cubicBezTo>
                <a:lnTo>
                  <a:pt x="86556" y="98921"/>
                </a:lnTo>
                <a:cubicBezTo>
                  <a:pt x="86556" y="105760"/>
                  <a:pt x="92081" y="111286"/>
                  <a:pt x="98921" y="111286"/>
                </a:cubicBezTo>
                <a:cubicBezTo>
                  <a:pt x="105760" y="111286"/>
                  <a:pt x="111286" y="105760"/>
                  <a:pt x="111286" y="98921"/>
                </a:cubicBezTo>
                <a:lnTo>
                  <a:pt x="111286" y="0"/>
                </a:lnTo>
                <a:close/>
                <a:moveTo>
                  <a:pt x="56532" y="38023"/>
                </a:moveTo>
                <a:cubicBezTo>
                  <a:pt x="62135" y="34120"/>
                  <a:pt x="63487" y="26392"/>
                  <a:pt x="59584" y="20789"/>
                </a:cubicBezTo>
                <a:cubicBezTo>
                  <a:pt x="55682" y="15186"/>
                  <a:pt x="47953" y="13833"/>
                  <a:pt x="42351" y="17736"/>
                </a:cubicBezTo>
                <a:cubicBezTo>
                  <a:pt x="16770" y="35588"/>
                  <a:pt x="0" y="65303"/>
                  <a:pt x="0" y="98921"/>
                </a:cubicBezTo>
                <a:cubicBezTo>
                  <a:pt x="0" y="153559"/>
                  <a:pt x="44283" y="197842"/>
                  <a:pt x="98921" y="197842"/>
                </a:cubicBezTo>
                <a:cubicBezTo>
                  <a:pt x="153559" y="197842"/>
                  <a:pt x="197842" y="153559"/>
                  <a:pt x="197842" y="98921"/>
                </a:cubicBezTo>
                <a:cubicBezTo>
                  <a:pt x="197842" y="65303"/>
                  <a:pt x="181072" y="35588"/>
                  <a:pt x="155453" y="17736"/>
                </a:cubicBezTo>
                <a:cubicBezTo>
                  <a:pt x="149850" y="13833"/>
                  <a:pt x="142160" y="15186"/>
                  <a:pt x="138219" y="20789"/>
                </a:cubicBezTo>
                <a:cubicBezTo>
                  <a:pt x="134277" y="26392"/>
                  <a:pt x="135668" y="34081"/>
                  <a:pt x="141271" y="38023"/>
                </a:cubicBezTo>
                <a:cubicBezTo>
                  <a:pt x="160515" y="51470"/>
                  <a:pt x="173073" y="73727"/>
                  <a:pt x="173073" y="98921"/>
                </a:cubicBezTo>
                <a:cubicBezTo>
                  <a:pt x="173073" y="139880"/>
                  <a:pt x="139842" y="173112"/>
                  <a:pt x="98882" y="173112"/>
                </a:cubicBezTo>
                <a:cubicBezTo>
                  <a:pt x="57923" y="173112"/>
                  <a:pt x="24730" y="139880"/>
                  <a:pt x="24730" y="98921"/>
                </a:cubicBezTo>
                <a:cubicBezTo>
                  <a:pt x="24730" y="73727"/>
                  <a:pt x="37289" y="51431"/>
                  <a:pt x="56532" y="38023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324441" y="6591613"/>
            <a:ext cx="692446" cy="30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8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可用性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5244" y="6987296"/>
            <a:ext cx="6682656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最大化系统的正常运行时间，减少服务中断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47402" y="7729821"/>
            <a:ext cx="6968427" cy="1011191"/>
          </a:xfrm>
          <a:custGeom>
            <a:avLst/>
            <a:gdLst/>
            <a:ahLst/>
            <a:cxnLst/>
            <a:rect l="l" t="t" r="r" b="b"/>
            <a:pathLst>
              <a:path w="6968427" h="1011191">
                <a:moveTo>
                  <a:pt x="43965" y="0"/>
                </a:moveTo>
                <a:lnTo>
                  <a:pt x="6880494" y="0"/>
                </a:lnTo>
                <a:cubicBezTo>
                  <a:pt x="6929058" y="0"/>
                  <a:pt x="6968427" y="39369"/>
                  <a:pt x="6968427" y="87933"/>
                </a:cubicBezTo>
                <a:lnTo>
                  <a:pt x="6968427" y="923258"/>
                </a:lnTo>
                <a:cubicBezTo>
                  <a:pt x="6968427" y="971822"/>
                  <a:pt x="6929058" y="1011191"/>
                  <a:pt x="6880494" y="1011191"/>
                </a:cubicBezTo>
                <a:lnTo>
                  <a:pt x="43965" y="1011191"/>
                </a:lnTo>
                <a:cubicBezTo>
                  <a:pt x="19684" y="1011191"/>
                  <a:pt x="0" y="991508"/>
                  <a:pt x="0" y="967227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747402" y="7729821"/>
            <a:ext cx="43965" cy="1011191"/>
          </a:xfrm>
          <a:custGeom>
            <a:avLst/>
            <a:gdLst/>
            <a:ahLst/>
            <a:cxnLst/>
            <a:rect l="l" t="t" r="r" b="b"/>
            <a:pathLst>
              <a:path w="43965" h="1011191">
                <a:moveTo>
                  <a:pt x="43965" y="0"/>
                </a:moveTo>
                <a:lnTo>
                  <a:pt x="43965" y="0"/>
                </a:lnTo>
                <a:lnTo>
                  <a:pt x="43965" y="1011191"/>
                </a:lnTo>
                <a:lnTo>
                  <a:pt x="43965" y="1011191"/>
                </a:lnTo>
                <a:cubicBezTo>
                  <a:pt x="19684" y="1011191"/>
                  <a:pt x="0" y="991508"/>
                  <a:pt x="0" y="967227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960357" y="7960636"/>
            <a:ext cx="222572" cy="197842"/>
          </a:xfrm>
          <a:custGeom>
            <a:avLst/>
            <a:gdLst/>
            <a:ahLst/>
            <a:cxnLst/>
            <a:rect l="l" t="t" r="r" b="b"/>
            <a:pathLst>
              <a:path w="222572" h="197842">
                <a:moveTo>
                  <a:pt x="24730" y="49460"/>
                </a:moveTo>
                <a:cubicBezTo>
                  <a:pt x="24730" y="25575"/>
                  <a:pt x="44122" y="6183"/>
                  <a:pt x="68008" y="6183"/>
                </a:cubicBezTo>
                <a:cubicBezTo>
                  <a:pt x="91894" y="6183"/>
                  <a:pt x="111286" y="25575"/>
                  <a:pt x="111286" y="49460"/>
                </a:cubicBezTo>
                <a:cubicBezTo>
                  <a:pt x="111286" y="73346"/>
                  <a:pt x="91894" y="92738"/>
                  <a:pt x="68008" y="92738"/>
                </a:cubicBezTo>
                <a:cubicBezTo>
                  <a:pt x="44122" y="92738"/>
                  <a:pt x="24730" y="73346"/>
                  <a:pt x="24730" y="49460"/>
                </a:cubicBezTo>
                <a:close/>
                <a:moveTo>
                  <a:pt x="0" y="179294"/>
                </a:moveTo>
                <a:cubicBezTo>
                  <a:pt x="0" y="141735"/>
                  <a:pt x="30449" y="111286"/>
                  <a:pt x="68008" y="111286"/>
                </a:cubicBezTo>
                <a:cubicBezTo>
                  <a:pt x="105567" y="111286"/>
                  <a:pt x="136016" y="141735"/>
                  <a:pt x="136016" y="179294"/>
                </a:cubicBezTo>
                <a:lnTo>
                  <a:pt x="136016" y="181613"/>
                </a:lnTo>
                <a:cubicBezTo>
                  <a:pt x="136016" y="190577"/>
                  <a:pt x="128752" y="197842"/>
                  <a:pt x="119787" y="197842"/>
                </a:cubicBezTo>
                <a:lnTo>
                  <a:pt x="16229" y="197842"/>
                </a:lnTo>
                <a:cubicBezTo>
                  <a:pt x="7265" y="197842"/>
                  <a:pt x="0" y="190577"/>
                  <a:pt x="0" y="181613"/>
                </a:cubicBezTo>
                <a:lnTo>
                  <a:pt x="0" y="179294"/>
                </a:lnTo>
                <a:close/>
                <a:moveTo>
                  <a:pt x="166929" y="24730"/>
                </a:moveTo>
                <a:cubicBezTo>
                  <a:pt x="187402" y="24730"/>
                  <a:pt x="204024" y="41352"/>
                  <a:pt x="204024" y="61826"/>
                </a:cubicBezTo>
                <a:cubicBezTo>
                  <a:pt x="204024" y="82299"/>
                  <a:pt x="187402" y="98921"/>
                  <a:pt x="166929" y="98921"/>
                </a:cubicBezTo>
                <a:cubicBezTo>
                  <a:pt x="146456" y="98921"/>
                  <a:pt x="129834" y="82299"/>
                  <a:pt x="129834" y="61826"/>
                </a:cubicBezTo>
                <a:cubicBezTo>
                  <a:pt x="129834" y="41352"/>
                  <a:pt x="146456" y="24730"/>
                  <a:pt x="166929" y="24730"/>
                </a:cubicBezTo>
                <a:close/>
                <a:moveTo>
                  <a:pt x="166929" y="117469"/>
                </a:moveTo>
                <a:cubicBezTo>
                  <a:pt x="197649" y="117469"/>
                  <a:pt x="222572" y="142392"/>
                  <a:pt x="222572" y="173112"/>
                </a:cubicBezTo>
                <a:lnTo>
                  <a:pt x="222572" y="181767"/>
                </a:lnTo>
                <a:cubicBezTo>
                  <a:pt x="222572" y="190655"/>
                  <a:pt x="215385" y="197842"/>
                  <a:pt x="206497" y="197842"/>
                </a:cubicBezTo>
                <a:lnTo>
                  <a:pt x="150545" y="197842"/>
                </a:lnTo>
                <a:cubicBezTo>
                  <a:pt x="153096" y="193012"/>
                  <a:pt x="154564" y="187486"/>
                  <a:pt x="154564" y="181613"/>
                </a:cubicBezTo>
                <a:lnTo>
                  <a:pt x="154564" y="179294"/>
                </a:lnTo>
                <a:cubicBezTo>
                  <a:pt x="154564" y="159394"/>
                  <a:pt x="147840" y="141078"/>
                  <a:pt x="136596" y="126472"/>
                </a:cubicBezTo>
                <a:cubicBezTo>
                  <a:pt x="145329" y="120792"/>
                  <a:pt x="155762" y="117469"/>
                  <a:pt x="166929" y="117469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324441" y="7905680"/>
            <a:ext cx="1483813" cy="30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8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易于理解的语义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45244" y="8301364"/>
            <a:ext cx="6682656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提供直观的 API 和清晰的语义，降低开发者使用门槛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65991" y="4309330"/>
            <a:ext cx="7550961" cy="4619311"/>
          </a:xfrm>
          <a:custGeom>
            <a:avLst/>
            <a:gdLst/>
            <a:ahLst/>
            <a:cxnLst/>
            <a:rect l="l" t="t" r="r" b="b"/>
            <a:pathLst>
              <a:path w="7550961" h="5385693">
                <a:moveTo>
                  <a:pt x="131896" y="0"/>
                </a:moveTo>
                <a:lnTo>
                  <a:pt x="7419066" y="0"/>
                </a:lnTo>
                <a:cubicBezTo>
                  <a:pt x="7491910" y="0"/>
                  <a:pt x="7550961" y="59052"/>
                  <a:pt x="7550961" y="131896"/>
                </a:cubicBezTo>
                <a:lnTo>
                  <a:pt x="7550961" y="5253797"/>
                </a:lnTo>
                <a:cubicBezTo>
                  <a:pt x="7550961" y="5326641"/>
                  <a:pt x="7491910" y="5385693"/>
                  <a:pt x="7419066" y="5385693"/>
                </a:cubicBezTo>
                <a:lnTo>
                  <a:pt x="131896" y="5385693"/>
                </a:lnTo>
                <a:cubicBezTo>
                  <a:pt x="59052" y="5385693"/>
                  <a:pt x="0" y="5326641"/>
                  <a:pt x="0" y="5253797"/>
                </a:cubicBezTo>
                <a:lnTo>
                  <a:pt x="0" y="131896"/>
                </a:lnTo>
                <a:cubicBezTo>
                  <a:pt x="0" y="59100"/>
                  <a:pt x="59100" y="0"/>
                  <a:pt x="131896" y="0"/>
                </a:cubicBezTo>
                <a:close/>
              </a:path>
            </a:pathLst>
          </a:custGeom>
          <a:gradFill flip="none" rotWithShape="1">
            <a:gsLst>
              <a:gs pos="0">
                <a:srgbClr val="5A7D9A">
                  <a:alpha val="20000"/>
                </a:srgbClr>
              </a:gs>
              <a:gs pos="100000">
                <a:srgbClr val="5A7D9A">
                  <a:alpha val="5000"/>
                </a:srgbClr>
              </a:gs>
            </a:gsLst>
            <a:lin ang="2700000" scaled="1"/>
          </a:gradFill>
          <a:ln w="12700">
            <a:solidFill>
              <a:srgbClr val="5A7D9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8560485" y="4660642"/>
            <a:ext cx="263789" cy="263789"/>
          </a:xfrm>
          <a:custGeom>
            <a:avLst/>
            <a:gdLst/>
            <a:ahLst/>
            <a:cxnLst/>
            <a:rect l="l" t="t" r="r" b="b"/>
            <a:pathLst>
              <a:path w="263789" h="263789">
                <a:moveTo>
                  <a:pt x="32974" y="32974"/>
                </a:moveTo>
                <a:cubicBezTo>
                  <a:pt x="32974" y="23854"/>
                  <a:pt x="25606" y="16487"/>
                  <a:pt x="16487" y="16487"/>
                </a:cubicBezTo>
                <a:cubicBezTo>
                  <a:pt x="7368" y="16487"/>
                  <a:pt x="0" y="23854"/>
                  <a:pt x="0" y="32974"/>
                </a:cubicBezTo>
                <a:lnTo>
                  <a:pt x="0" y="206085"/>
                </a:lnTo>
                <a:cubicBezTo>
                  <a:pt x="0" y="228858"/>
                  <a:pt x="18445" y="247302"/>
                  <a:pt x="41217" y="247302"/>
                </a:cubicBezTo>
                <a:lnTo>
                  <a:pt x="247302" y="247302"/>
                </a:lnTo>
                <a:cubicBezTo>
                  <a:pt x="256422" y="247302"/>
                  <a:pt x="263789" y="239935"/>
                  <a:pt x="263789" y="230815"/>
                </a:cubicBezTo>
                <a:cubicBezTo>
                  <a:pt x="263789" y="221696"/>
                  <a:pt x="256422" y="214329"/>
                  <a:pt x="247302" y="214329"/>
                </a:cubicBezTo>
                <a:lnTo>
                  <a:pt x="41217" y="214329"/>
                </a:lnTo>
                <a:cubicBezTo>
                  <a:pt x="36683" y="214329"/>
                  <a:pt x="32974" y="210619"/>
                  <a:pt x="32974" y="206085"/>
                </a:cubicBezTo>
                <a:lnTo>
                  <a:pt x="32974" y="32974"/>
                </a:lnTo>
                <a:close/>
                <a:moveTo>
                  <a:pt x="242459" y="77591"/>
                </a:moveTo>
                <a:cubicBezTo>
                  <a:pt x="248899" y="71151"/>
                  <a:pt x="248899" y="60692"/>
                  <a:pt x="242459" y="54252"/>
                </a:cubicBezTo>
                <a:cubicBezTo>
                  <a:pt x="236019" y="47812"/>
                  <a:pt x="225560" y="47812"/>
                  <a:pt x="219120" y="54252"/>
                </a:cubicBezTo>
                <a:lnTo>
                  <a:pt x="164868" y="108555"/>
                </a:lnTo>
                <a:lnTo>
                  <a:pt x="135295" y="79034"/>
                </a:lnTo>
                <a:cubicBezTo>
                  <a:pt x="128855" y="72594"/>
                  <a:pt x="118396" y="72594"/>
                  <a:pt x="111956" y="79034"/>
                </a:cubicBezTo>
                <a:lnTo>
                  <a:pt x="62495" y="128494"/>
                </a:lnTo>
                <a:cubicBezTo>
                  <a:pt x="56055" y="134934"/>
                  <a:pt x="56055" y="145393"/>
                  <a:pt x="62495" y="151833"/>
                </a:cubicBezTo>
                <a:cubicBezTo>
                  <a:pt x="68935" y="158273"/>
                  <a:pt x="79394" y="158273"/>
                  <a:pt x="85834" y="151833"/>
                </a:cubicBezTo>
                <a:lnTo>
                  <a:pt x="123651" y="114017"/>
                </a:lnTo>
                <a:lnTo>
                  <a:pt x="153224" y="143590"/>
                </a:lnTo>
                <a:cubicBezTo>
                  <a:pt x="159665" y="150030"/>
                  <a:pt x="170123" y="150030"/>
                  <a:pt x="176563" y="143590"/>
                </a:cubicBezTo>
                <a:lnTo>
                  <a:pt x="242511" y="77643"/>
                </a:ln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857248" y="4616677"/>
            <a:ext cx="6814550" cy="351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77" dirty="0">
                <a:solidFill>
                  <a:srgbClr val="5A7D9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次要目标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537945" y="5177636"/>
            <a:ext cx="6990410" cy="1011191"/>
          </a:xfrm>
          <a:custGeom>
            <a:avLst/>
            <a:gdLst/>
            <a:ahLst/>
            <a:cxnLst/>
            <a:rect l="l" t="t" r="r" b="b"/>
            <a:pathLst>
              <a:path w="6990410" h="1011191">
                <a:moveTo>
                  <a:pt x="43965" y="0"/>
                </a:moveTo>
                <a:lnTo>
                  <a:pt x="6902477" y="0"/>
                </a:lnTo>
                <a:cubicBezTo>
                  <a:pt x="6951041" y="0"/>
                  <a:pt x="6990410" y="39369"/>
                  <a:pt x="6990410" y="87933"/>
                </a:cubicBezTo>
                <a:lnTo>
                  <a:pt x="6990410" y="923258"/>
                </a:lnTo>
                <a:cubicBezTo>
                  <a:pt x="6990410" y="971822"/>
                  <a:pt x="6951041" y="1011191"/>
                  <a:pt x="6902477" y="1011191"/>
                </a:cubicBezTo>
                <a:lnTo>
                  <a:pt x="43965" y="1011191"/>
                </a:lnTo>
                <a:cubicBezTo>
                  <a:pt x="19684" y="1011191"/>
                  <a:pt x="0" y="991508"/>
                  <a:pt x="0" y="967227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537945" y="5141060"/>
            <a:ext cx="43965" cy="1011191"/>
          </a:xfrm>
          <a:custGeom>
            <a:avLst/>
            <a:gdLst/>
            <a:ahLst/>
            <a:cxnLst/>
            <a:rect l="l" t="t" r="r" b="b"/>
            <a:pathLst>
              <a:path w="43965" h="1011191">
                <a:moveTo>
                  <a:pt x="43965" y="0"/>
                </a:moveTo>
                <a:lnTo>
                  <a:pt x="43965" y="0"/>
                </a:lnTo>
                <a:lnTo>
                  <a:pt x="43965" y="1011191"/>
                </a:lnTo>
                <a:lnTo>
                  <a:pt x="43965" y="1011191"/>
                </a:lnTo>
                <a:cubicBezTo>
                  <a:pt x="19684" y="1011191"/>
                  <a:pt x="0" y="991508"/>
                  <a:pt x="0" y="967227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8763265" y="5408451"/>
            <a:ext cx="197842" cy="197842"/>
          </a:xfrm>
          <a:custGeom>
            <a:avLst/>
            <a:gdLst/>
            <a:ahLst/>
            <a:cxnLst/>
            <a:rect l="l" t="t" r="r" b="b"/>
            <a:pathLst>
              <a:path w="197842" h="197842">
                <a:moveTo>
                  <a:pt x="0" y="98921"/>
                </a:moveTo>
                <a:cubicBezTo>
                  <a:pt x="0" y="44325"/>
                  <a:pt x="44325" y="0"/>
                  <a:pt x="98921" y="0"/>
                </a:cubicBezTo>
                <a:cubicBezTo>
                  <a:pt x="153517" y="0"/>
                  <a:pt x="197842" y="44325"/>
                  <a:pt x="197842" y="98921"/>
                </a:cubicBezTo>
                <a:cubicBezTo>
                  <a:pt x="197842" y="153517"/>
                  <a:pt x="153517" y="197842"/>
                  <a:pt x="98921" y="197842"/>
                </a:cubicBezTo>
                <a:cubicBezTo>
                  <a:pt x="44325" y="197842"/>
                  <a:pt x="0" y="153517"/>
                  <a:pt x="0" y="98921"/>
                </a:cubicBezTo>
                <a:close/>
                <a:moveTo>
                  <a:pt x="111286" y="37095"/>
                </a:moveTo>
                <a:cubicBezTo>
                  <a:pt x="111286" y="30271"/>
                  <a:pt x="105745" y="24730"/>
                  <a:pt x="98921" y="24730"/>
                </a:cubicBezTo>
                <a:cubicBezTo>
                  <a:pt x="92096" y="24730"/>
                  <a:pt x="86556" y="30271"/>
                  <a:pt x="86556" y="37095"/>
                </a:cubicBezTo>
                <a:cubicBezTo>
                  <a:pt x="86556" y="43920"/>
                  <a:pt x="92096" y="49460"/>
                  <a:pt x="98921" y="49460"/>
                </a:cubicBezTo>
                <a:cubicBezTo>
                  <a:pt x="105745" y="49460"/>
                  <a:pt x="111286" y="43920"/>
                  <a:pt x="111286" y="37095"/>
                </a:cubicBezTo>
                <a:close/>
                <a:moveTo>
                  <a:pt x="98921" y="160746"/>
                </a:moveTo>
                <a:cubicBezTo>
                  <a:pt x="112561" y="160746"/>
                  <a:pt x="123651" y="149656"/>
                  <a:pt x="123651" y="136016"/>
                </a:cubicBezTo>
                <a:cubicBezTo>
                  <a:pt x="123651" y="129756"/>
                  <a:pt x="121333" y="123999"/>
                  <a:pt x="117469" y="119671"/>
                </a:cubicBezTo>
                <a:lnTo>
                  <a:pt x="144324" y="65999"/>
                </a:lnTo>
                <a:cubicBezTo>
                  <a:pt x="146604" y="61401"/>
                  <a:pt x="144749" y="55836"/>
                  <a:pt x="140189" y="53556"/>
                </a:cubicBezTo>
                <a:cubicBezTo>
                  <a:pt x="135630" y="51277"/>
                  <a:pt x="130027" y="53131"/>
                  <a:pt x="127747" y="57691"/>
                </a:cubicBezTo>
                <a:lnTo>
                  <a:pt x="100892" y="111363"/>
                </a:lnTo>
                <a:cubicBezTo>
                  <a:pt x="100235" y="111325"/>
                  <a:pt x="99578" y="111286"/>
                  <a:pt x="98921" y="111286"/>
                </a:cubicBezTo>
                <a:cubicBezTo>
                  <a:pt x="85281" y="111286"/>
                  <a:pt x="74191" y="122376"/>
                  <a:pt x="74191" y="136016"/>
                </a:cubicBezTo>
                <a:cubicBezTo>
                  <a:pt x="74191" y="149656"/>
                  <a:pt x="85281" y="160746"/>
                  <a:pt x="98921" y="160746"/>
                </a:cubicBezTo>
                <a:close/>
                <a:moveTo>
                  <a:pt x="68008" y="55643"/>
                </a:moveTo>
                <a:cubicBezTo>
                  <a:pt x="68008" y="48819"/>
                  <a:pt x="62467" y="43278"/>
                  <a:pt x="55643" y="43278"/>
                </a:cubicBezTo>
                <a:cubicBezTo>
                  <a:pt x="48819" y="43278"/>
                  <a:pt x="43278" y="48819"/>
                  <a:pt x="43278" y="55643"/>
                </a:cubicBezTo>
                <a:cubicBezTo>
                  <a:pt x="43278" y="62467"/>
                  <a:pt x="48819" y="68008"/>
                  <a:pt x="55643" y="68008"/>
                </a:cubicBezTo>
                <a:cubicBezTo>
                  <a:pt x="62467" y="68008"/>
                  <a:pt x="68008" y="62467"/>
                  <a:pt x="68008" y="55643"/>
                </a:cubicBezTo>
                <a:close/>
                <a:moveTo>
                  <a:pt x="37095" y="111286"/>
                </a:moveTo>
                <a:cubicBezTo>
                  <a:pt x="43920" y="111286"/>
                  <a:pt x="49460" y="105745"/>
                  <a:pt x="49460" y="98921"/>
                </a:cubicBezTo>
                <a:cubicBezTo>
                  <a:pt x="49460" y="92096"/>
                  <a:pt x="43920" y="86556"/>
                  <a:pt x="37095" y="86556"/>
                </a:cubicBezTo>
                <a:cubicBezTo>
                  <a:pt x="30271" y="86556"/>
                  <a:pt x="24730" y="92096"/>
                  <a:pt x="24730" y="98921"/>
                </a:cubicBezTo>
                <a:cubicBezTo>
                  <a:pt x="24730" y="105745"/>
                  <a:pt x="30271" y="111286"/>
                  <a:pt x="37095" y="111286"/>
                </a:cubicBezTo>
                <a:close/>
                <a:moveTo>
                  <a:pt x="173112" y="98921"/>
                </a:moveTo>
                <a:cubicBezTo>
                  <a:pt x="173112" y="92096"/>
                  <a:pt x="167571" y="86556"/>
                  <a:pt x="160746" y="86556"/>
                </a:cubicBezTo>
                <a:cubicBezTo>
                  <a:pt x="153922" y="86556"/>
                  <a:pt x="148381" y="92096"/>
                  <a:pt x="148381" y="98921"/>
                </a:cubicBezTo>
                <a:cubicBezTo>
                  <a:pt x="148381" y="105745"/>
                  <a:pt x="153922" y="111286"/>
                  <a:pt x="160746" y="111286"/>
                </a:cubicBezTo>
                <a:cubicBezTo>
                  <a:pt x="167571" y="111286"/>
                  <a:pt x="173112" y="105745"/>
                  <a:pt x="173112" y="98921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9114984" y="5353495"/>
            <a:ext cx="692446" cy="30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8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吞吐量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735787" y="5749179"/>
            <a:ext cx="6704638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在满足可靠性和可用性的前提下，提供合理的吞吐量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557258" y="6447035"/>
            <a:ext cx="6990410" cy="1011191"/>
          </a:xfrm>
          <a:custGeom>
            <a:avLst/>
            <a:gdLst/>
            <a:ahLst/>
            <a:cxnLst/>
            <a:rect l="l" t="t" r="r" b="b"/>
            <a:pathLst>
              <a:path w="6990410" h="1011191">
                <a:moveTo>
                  <a:pt x="43965" y="0"/>
                </a:moveTo>
                <a:lnTo>
                  <a:pt x="6902477" y="0"/>
                </a:lnTo>
                <a:cubicBezTo>
                  <a:pt x="6951041" y="0"/>
                  <a:pt x="6990410" y="39369"/>
                  <a:pt x="6990410" y="87933"/>
                </a:cubicBezTo>
                <a:lnTo>
                  <a:pt x="6990410" y="923258"/>
                </a:lnTo>
                <a:cubicBezTo>
                  <a:pt x="6990410" y="971822"/>
                  <a:pt x="6951041" y="1011191"/>
                  <a:pt x="6902477" y="1011191"/>
                </a:cubicBezTo>
                <a:lnTo>
                  <a:pt x="43965" y="1011191"/>
                </a:lnTo>
                <a:cubicBezTo>
                  <a:pt x="19684" y="1011191"/>
                  <a:pt x="0" y="991508"/>
                  <a:pt x="0" y="967227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8557258" y="6410459"/>
            <a:ext cx="43965" cy="1011191"/>
          </a:xfrm>
          <a:custGeom>
            <a:avLst/>
            <a:gdLst/>
            <a:ahLst/>
            <a:cxnLst/>
            <a:rect l="l" t="t" r="r" b="b"/>
            <a:pathLst>
              <a:path w="43965" h="1011191">
                <a:moveTo>
                  <a:pt x="43965" y="0"/>
                </a:moveTo>
                <a:lnTo>
                  <a:pt x="43965" y="0"/>
                </a:lnTo>
                <a:lnTo>
                  <a:pt x="43965" y="1011191"/>
                </a:lnTo>
                <a:lnTo>
                  <a:pt x="43965" y="1011191"/>
                </a:lnTo>
                <a:cubicBezTo>
                  <a:pt x="19684" y="1011191"/>
                  <a:pt x="0" y="991508"/>
                  <a:pt x="0" y="967227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8794943" y="6677850"/>
            <a:ext cx="173112" cy="197842"/>
          </a:xfrm>
          <a:custGeom>
            <a:avLst/>
            <a:gdLst/>
            <a:ahLst/>
            <a:cxnLst/>
            <a:rect l="l" t="t" r="r" b="b"/>
            <a:pathLst>
              <a:path w="173112" h="197842">
                <a:moveTo>
                  <a:pt x="173112" y="79523"/>
                </a:moveTo>
                <a:cubicBezTo>
                  <a:pt x="167393" y="83310"/>
                  <a:pt x="160824" y="86363"/>
                  <a:pt x="153984" y="88797"/>
                </a:cubicBezTo>
                <a:cubicBezTo>
                  <a:pt x="135823" y="95289"/>
                  <a:pt x="111982" y="98921"/>
                  <a:pt x="86556" y="98921"/>
                </a:cubicBezTo>
                <a:cubicBezTo>
                  <a:pt x="61130" y="98921"/>
                  <a:pt x="37250" y="95250"/>
                  <a:pt x="19127" y="88797"/>
                </a:cubicBezTo>
                <a:cubicBezTo>
                  <a:pt x="12326" y="86363"/>
                  <a:pt x="5719" y="83310"/>
                  <a:pt x="0" y="79523"/>
                </a:cubicBezTo>
                <a:lnTo>
                  <a:pt x="0" y="111286"/>
                </a:lnTo>
                <a:cubicBezTo>
                  <a:pt x="0" y="128365"/>
                  <a:pt x="38757" y="142199"/>
                  <a:pt x="86556" y="142199"/>
                </a:cubicBezTo>
                <a:cubicBezTo>
                  <a:pt x="134355" y="142199"/>
                  <a:pt x="173112" y="128365"/>
                  <a:pt x="173112" y="111286"/>
                </a:cubicBezTo>
                <a:lnTo>
                  <a:pt x="173112" y="79523"/>
                </a:lnTo>
                <a:close/>
                <a:moveTo>
                  <a:pt x="173112" y="49460"/>
                </a:moveTo>
                <a:lnTo>
                  <a:pt x="173112" y="30913"/>
                </a:lnTo>
                <a:cubicBezTo>
                  <a:pt x="173112" y="13833"/>
                  <a:pt x="134355" y="0"/>
                  <a:pt x="86556" y="0"/>
                </a:cubicBezTo>
                <a:cubicBezTo>
                  <a:pt x="38757" y="0"/>
                  <a:pt x="0" y="13833"/>
                  <a:pt x="0" y="30913"/>
                </a:cubicBezTo>
                <a:lnTo>
                  <a:pt x="0" y="49460"/>
                </a:lnTo>
                <a:cubicBezTo>
                  <a:pt x="0" y="66540"/>
                  <a:pt x="38757" y="80373"/>
                  <a:pt x="86556" y="80373"/>
                </a:cubicBezTo>
                <a:cubicBezTo>
                  <a:pt x="134355" y="80373"/>
                  <a:pt x="173112" y="66540"/>
                  <a:pt x="173112" y="49460"/>
                </a:cubicBezTo>
                <a:close/>
                <a:moveTo>
                  <a:pt x="153984" y="150623"/>
                </a:moveTo>
                <a:cubicBezTo>
                  <a:pt x="135862" y="157076"/>
                  <a:pt x="112020" y="160746"/>
                  <a:pt x="86556" y="160746"/>
                </a:cubicBezTo>
                <a:cubicBezTo>
                  <a:pt x="61091" y="160746"/>
                  <a:pt x="37250" y="157076"/>
                  <a:pt x="19127" y="150623"/>
                </a:cubicBezTo>
                <a:cubicBezTo>
                  <a:pt x="12326" y="148188"/>
                  <a:pt x="5719" y="145135"/>
                  <a:pt x="0" y="141349"/>
                </a:cubicBezTo>
                <a:lnTo>
                  <a:pt x="0" y="166929"/>
                </a:lnTo>
                <a:cubicBezTo>
                  <a:pt x="0" y="184008"/>
                  <a:pt x="38757" y="197842"/>
                  <a:pt x="86556" y="197842"/>
                </a:cubicBezTo>
                <a:cubicBezTo>
                  <a:pt x="134355" y="197842"/>
                  <a:pt x="173112" y="184008"/>
                  <a:pt x="173112" y="166929"/>
                </a:cubicBezTo>
                <a:lnTo>
                  <a:pt x="173112" y="141349"/>
                </a:lnTo>
                <a:cubicBezTo>
                  <a:pt x="167393" y="145135"/>
                  <a:pt x="160824" y="148188"/>
                  <a:pt x="153984" y="150623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9134297" y="6622894"/>
            <a:ext cx="890288" cy="30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8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存储容量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755100" y="7018578"/>
            <a:ext cx="6704638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支持小容量数据存储，满足配置和元数据存储需求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557258" y="7806759"/>
            <a:ext cx="7001401" cy="934253"/>
          </a:xfrm>
          <a:custGeom>
            <a:avLst/>
            <a:gdLst/>
            <a:ahLst/>
            <a:cxnLst/>
            <a:rect l="l" t="t" r="r" b="b"/>
            <a:pathLst>
              <a:path w="7001401" h="934253">
                <a:moveTo>
                  <a:pt x="87932" y="0"/>
                </a:moveTo>
                <a:lnTo>
                  <a:pt x="6913469" y="0"/>
                </a:lnTo>
                <a:cubicBezTo>
                  <a:pt x="6962033" y="0"/>
                  <a:pt x="7001401" y="39368"/>
                  <a:pt x="7001401" y="87932"/>
                </a:cubicBezTo>
                <a:lnTo>
                  <a:pt x="7001401" y="846321"/>
                </a:lnTo>
                <a:cubicBezTo>
                  <a:pt x="7001401" y="894884"/>
                  <a:pt x="6962033" y="934253"/>
                  <a:pt x="6913469" y="934253"/>
                </a:cubicBezTo>
                <a:lnTo>
                  <a:pt x="87932" y="934253"/>
                </a:lnTo>
                <a:cubicBezTo>
                  <a:pt x="39368" y="934253"/>
                  <a:pt x="0" y="894884"/>
                  <a:pt x="0" y="846321"/>
                </a:cubicBezTo>
                <a:lnTo>
                  <a:pt x="0" y="87932"/>
                </a:lnTo>
                <a:cubicBezTo>
                  <a:pt x="0" y="39401"/>
                  <a:pt x="39401" y="0"/>
                  <a:pt x="87932" y="0"/>
                </a:cubicBezTo>
                <a:close/>
              </a:path>
            </a:pathLst>
          </a:custGeom>
          <a:solidFill>
            <a:srgbClr val="1A202C">
              <a:alpha val="30196"/>
            </a:srgbClr>
          </a:solidFill>
          <a:ln w="12700">
            <a:solidFill>
              <a:srgbClr val="5A7D9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8760596" y="8048566"/>
            <a:ext cx="175859" cy="175859"/>
          </a:xfrm>
          <a:custGeom>
            <a:avLst/>
            <a:gdLst/>
            <a:ahLst/>
            <a:cxnLst/>
            <a:rect l="l" t="t" r="r" b="b"/>
            <a:pathLst>
              <a:path w="175859" h="175859">
                <a:moveTo>
                  <a:pt x="87930" y="175859"/>
                </a:moveTo>
                <a:cubicBezTo>
                  <a:pt x="136459" y="175859"/>
                  <a:pt x="175859" y="136459"/>
                  <a:pt x="175859" y="87930"/>
                </a:cubicBezTo>
                <a:cubicBezTo>
                  <a:pt x="175859" y="39400"/>
                  <a:pt x="136459" y="0"/>
                  <a:pt x="87930" y="0"/>
                </a:cubicBezTo>
                <a:cubicBezTo>
                  <a:pt x="39400" y="0"/>
                  <a:pt x="0" y="39400"/>
                  <a:pt x="0" y="87930"/>
                </a:cubicBezTo>
                <a:cubicBezTo>
                  <a:pt x="0" y="136459"/>
                  <a:pt x="39400" y="175859"/>
                  <a:pt x="87930" y="175859"/>
                </a:cubicBezTo>
                <a:close/>
                <a:moveTo>
                  <a:pt x="76938" y="54956"/>
                </a:moveTo>
                <a:cubicBezTo>
                  <a:pt x="76938" y="48890"/>
                  <a:pt x="81863" y="43965"/>
                  <a:pt x="87930" y="43965"/>
                </a:cubicBezTo>
                <a:cubicBezTo>
                  <a:pt x="93996" y="43965"/>
                  <a:pt x="98921" y="48890"/>
                  <a:pt x="98921" y="54956"/>
                </a:cubicBezTo>
                <a:cubicBezTo>
                  <a:pt x="98921" y="61022"/>
                  <a:pt x="93996" y="65947"/>
                  <a:pt x="87930" y="65947"/>
                </a:cubicBezTo>
                <a:cubicBezTo>
                  <a:pt x="81863" y="65947"/>
                  <a:pt x="76938" y="61022"/>
                  <a:pt x="76938" y="54956"/>
                </a:cubicBezTo>
                <a:close/>
                <a:moveTo>
                  <a:pt x="74191" y="76938"/>
                </a:moveTo>
                <a:lnTo>
                  <a:pt x="90677" y="76938"/>
                </a:lnTo>
                <a:cubicBezTo>
                  <a:pt x="95246" y="76938"/>
                  <a:pt x="98921" y="80614"/>
                  <a:pt x="98921" y="85182"/>
                </a:cubicBezTo>
                <a:lnTo>
                  <a:pt x="98921" y="115408"/>
                </a:lnTo>
                <a:lnTo>
                  <a:pt x="101669" y="115408"/>
                </a:lnTo>
                <a:cubicBezTo>
                  <a:pt x="106237" y="115408"/>
                  <a:pt x="109912" y="119083"/>
                  <a:pt x="109912" y="123651"/>
                </a:cubicBezTo>
                <a:cubicBezTo>
                  <a:pt x="109912" y="128219"/>
                  <a:pt x="106237" y="131895"/>
                  <a:pt x="101669" y="131895"/>
                </a:cubicBezTo>
                <a:lnTo>
                  <a:pt x="74191" y="131895"/>
                </a:lnTo>
                <a:cubicBezTo>
                  <a:pt x="69622" y="131895"/>
                  <a:pt x="65947" y="128219"/>
                  <a:pt x="65947" y="123651"/>
                </a:cubicBezTo>
                <a:cubicBezTo>
                  <a:pt x="65947" y="119083"/>
                  <a:pt x="69622" y="115408"/>
                  <a:pt x="74191" y="115408"/>
                </a:cubicBezTo>
                <a:lnTo>
                  <a:pt x="82434" y="115408"/>
                </a:lnTo>
                <a:lnTo>
                  <a:pt x="82434" y="93425"/>
                </a:lnTo>
                <a:lnTo>
                  <a:pt x="74191" y="93425"/>
                </a:lnTo>
                <a:cubicBezTo>
                  <a:pt x="69622" y="93425"/>
                  <a:pt x="65947" y="89750"/>
                  <a:pt x="65947" y="85182"/>
                </a:cubicBezTo>
                <a:cubicBezTo>
                  <a:pt x="65947" y="80614"/>
                  <a:pt x="69622" y="76938"/>
                  <a:pt x="74191" y="76938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9034536" y="7988114"/>
            <a:ext cx="6430698" cy="571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5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设计权衡：</a:t>
            </a:r>
            <a:r>
              <a:rPr lang="en-US" sz="138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Chubby 明确</a:t>
            </a:r>
            <a:r>
              <a:rPr lang="en-US" sz="1385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优先考虑可靠性和可用性</a:t>
            </a:r>
            <a:r>
              <a:rPr lang="en-US" sz="1385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，而非极致性能。这种权衡在分布式系统中是合理的，因为协调服务的稳定性直接影响整个系统的可用性。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071" y="487071"/>
            <a:ext cx="15379272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34" b="1" kern="0" spc="77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COMPARISON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87071" y="876728"/>
            <a:ext cx="15574100" cy="584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602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与其他系统的比较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99248" y="1716926"/>
            <a:ext cx="7476542" cy="5528258"/>
          </a:xfrm>
          <a:custGeom>
            <a:avLst/>
            <a:gdLst/>
            <a:ahLst/>
            <a:cxnLst/>
            <a:rect l="l" t="t" r="r" b="b"/>
            <a:pathLst>
              <a:path w="7476542" h="5528258">
                <a:moveTo>
                  <a:pt x="146112" y="0"/>
                </a:moveTo>
                <a:lnTo>
                  <a:pt x="7330430" y="0"/>
                </a:lnTo>
                <a:cubicBezTo>
                  <a:pt x="7411126" y="0"/>
                  <a:pt x="7476542" y="65417"/>
                  <a:pt x="7476542" y="146112"/>
                </a:cubicBezTo>
                <a:lnTo>
                  <a:pt x="7476542" y="5382146"/>
                </a:lnTo>
                <a:cubicBezTo>
                  <a:pt x="7476542" y="5462841"/>
                  <a:pt x="7411126" y="5528258"/>
                  <a:pt x="7330430" y="5528258"/>
                </a:cubicBezTo>
                <a:lnTo>
                  <a:pt x="146112" y="5528258"/>
                </a:lnTo>
                <a:cubicBezTo>
                  <a:pt x="65417" y="5528258"/>
                  <a:pt x="0" y="5462841"/>
                  <a:pt x="0" y="5382146"/>
                </a:cubicBezTo>
                <a:lnTo>
                  <a:pt x="0" y="146112"/>
                </a:lnTo>
                <a:cubicBezTo>
                  <a:pt x="0" y="65471"/>
                  <a:pt x="65471" y="0"/>
                  <a:pt x="146112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3A2">
                  <a:alpha val="30000"/>
                </a:srgbClr>
              </a:gs>
              <a:gs pos="100000">
                <a:srgbClr val="4DB3A2">
                  <a:alpha val="10000"/>
                </a:srgbClr>
              </a:gs>
            </a:gsLst>
            <a:lin ang="2700000" scaled="1"/>
          </a:gradFill>
          <a:ln w="25400">
            <a:solidFill>
              <a:srgbClr val="4DB3A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03667" y="2021345"/>
            <a:ext cx="681900" cy="681900"/>
          </a:xfrm>
          <a:custGeom>
            <a:avLst/>
            <a:gdLst/>
            <a:ahLst/>
            <a:cxnLst/>
            <a:rect l="l" t="t" r="r" b="b"/>
            <a:pathLst>
              <a:path w="681900" h="681900">
                <a:moveTo>
                  <a:pt x="146124" y="0"/>
                </a:moveTo>
                <a:lnTo>
                  <a:pt x="535775" y="0"/>
                </a:lnTo>
                <a:cubicBezTo>
                  <a:pt x="616478" y="0"/>
                  <a:pt x="681900" y="65422"/>
                  <a:pt x="681900" y="146124"/>
                </a:cubicBezTo>
                <a:lnTo>
                  <a:pt x="681900" y="535775"/>
                </a:lnTo>
                <a:cubicBezTo>
                  <a:pt x="681900" y="616478"/>
                  <a:pt x="616478" y="681900"/>
                  <a:pt x="535775" y="681900"/>
                </a:cubicBezTo>
                <a:lnTo>
                  <a:pt x="146124" y="681900"/>
                </a:lnTo>
                <a:cubicBezTo>
                  <a:pt x="65422" y="681900"/>
                  <a:pt x="0" y="616478"/>
                  <a:pt x="0" y="535775"/>
                </a:cubicBezTo>
                <a:lnTo>
                  <a:pt x="0" y="146124"/>
                </a:lnTo>
                <a:cubicBezTo>
                  <a:pt x="0" y="65422"/>
                  <a:pt x="65422" y="0"/>
                  <a:pt x="146124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98496" y="2216174"/>
            <a:ext cx="292243" cy="292243"/>
          </a:xfrm>
          <a:custGeom>
            <a:avLst/>
            <a:gdLst/>
            <a:ahLst/>
            <a:cxnLst/>
            <a:rect l="l" t="t" r="r" b="b"/>
            <a:pathLst>
              <a:path w="292243" h="292243">
                <a:moveTo>
                  <a:pt x="286877" y="85960"/>
                </a:moveTo>
                <a:lnTo>
                  <a:pt x="232082" y="140756"/>
                </a:lnTo>
                <a:cubicBezTo>
                  <a:pt x="226831" y="146007"/>
                  <a:pt x="219011" y="147548"/>
                  <a:pt x="212161" y="144694"/>
                </a:cubicBezTo>
                <a:cubicBezTo>
                  <a:pt x="205312" y="141840"/>
                  <a:pt x="200917" y="135219"/>
                  <a:pt x="200917" y="127856"/>
                </a:cubicBezTo>
                <a:lnTo>
                  <a:pt x="200917" y="91326"/>
                </a:lnTo>
                <a:lnTo>
                  <a:pt x="18265" y="91326"/>
                </a:lnTo>
                <a:cubicBezTo>
                  <a:pt x="8162" y="91326"/>
                  <a:pt x="0" y="83164"/>
                  <a:pt x="0" y="73061"/>
                </a:cubicBezTo>
                <a:cubicBezTo>
                  <a:pt x="0" y="62958"/>
                  <a:pt x="8162" y="54796"/>
                  <a:pt x="18265" y="54796"/>
                </a:cubicBezTo>
                <a:lnTo>
                  <a:pt x="200917" y="54796"/>
                </a:lnTo>
                <a:lnTo>
                  <a:pt x="200917" y="18265"/>
                </a:lnTo>
                <a:cubicBezTo>
                  <a:pt x="200917" y="10902"/>
                  <a:pt x="205369" y="4224"/>
                  <a:pt x="212218" y="1370"/>
                </a:cubicBezTo>
                <a:cubicBezTo>
                  <a:pt x="219068" y="-1484"/>
                  <a:pt x="226888" y="114"/>
                  <a:pt x="232139" y="5308"/>
                </a:cubicBezTo>
                <a:lnTo>
                  <a:pt x="286934" y="60104"/>
                </a:lnTo>
                <a:cubicBezTo>
                  <a:pt x="294069" y="67239"/>
                  <a:pt x="294069" y="78826"/>
                  <a:pt x="286934" y="85960"/>
                </a:cubicBezTo>
                <a:close/>
                <a:moveTo>
                  <a:pt x="60104" y="286877"/>
                </a:moveTo>
                <a:lnTo>
                  <a:pt x="5308" y="232082"/>
                </a:lnTo>
                <a:cubicBezTo>
                  <a:pt x="-1827" y="224947"/>
                  <a:pt x="-1827" y="213360"/>
                  <a:pt x="5308" y="206225"/>
                </a:cubicBezTo>
                <a:lnTo>
                  <a:pt x="60104" y="151430"/>
                </a:lnTo>
                <a:cubicBezTo>
                  <a:pt x="65355" y="146178"/>
                  <a:pt x="73175" y="144637"/>
                  <a:pt x="80024" y="147491"/>
                </a:cubicBezTo>
                <a:cubicBezTo>
                  <a:pt x="86874" y="150345"/>
                  <a:pt x="91326" y="157023"/>
                  <a:pt x="91326" y="164387"/>
                </a:cubicBezTo>
                <a:lnTo>
                  <a:pt x="91326" y="200917"/>
                </a:lnTo>
                <a:lnTo>
                  <a:pt x="273978" y="200917"/>
                </a:lnTo>
                <a:cubicBezTo>
                  <a:pt x="284080" y="200917"/>
                  <a:pt x="292243" y="209079"/>
                  <a:pt x="292243" y="219182"/>
                </a:cubicBezTo>
                <a:cubicBezTo>
                  <a:pt x="292243" y="229285"/>
                  <a:pt x="284080" y="237447"/>
                  <a:pt x="273978" y="237447"/>
                </a:cubicBezTo>
                <a:lnTo>
                  <a:pt x="91326" y="237447"/>
                </a:lnTo>
                <a:lnTo>
                  <a:pt x="91326" y="273978"/>
                </a:lnTo>
                <a:cubicBezTo>
                  <a:pt x="91326" y="281341"/>
                  <a:pt x="86874" y="288019"/>
                  <a:pt x="80024" y="290873"/>
                </a:cubicBezTo>
                <a:cubicBezTo>
                  <a:pt x="73175" y="293727"/>
                  <a:pt x="65355" y="292129"/>
                  <a:pt x="60104" y="286934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680396" y="2167467"/>
            <a:ext cx="2898073" cy="389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01" dirty="0">
                <a:solidFill>
                  <a:srgbClr val="4DB3A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Apache ZooKeeper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3667" y="2946781"/>
            <a:ext cx="6977294" cy="68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26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ZooKeeper</a:t>
            </a:r>
            <a:r>
              <a:rPr lang="en-US" sz="1726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是 Chubby 的开源替代方案，提供类似的分布式协调服务功能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8021" y="3872216"/>
            <a:ext cx="6843350" cy="1607335"/>
          </a:xfrm>
          <a:custGeom>
            <a:avLst/>
            <a:gdLst/>
            <a:ahLst/>
            <a:cxnLst/>
            <a:rect l="l" t="t" r="r" b="b"/>
            <a:pathLst>
              <a:path w="6843350" h="1607335">
                <a:moveTo>
                  <a:pt x="48707" y="0"/>
                </a:moveTo>
                <a:lnTo>
                  <a:pt x="6745929" y="0"/>
                </a:lnTo>
                <a:cubicBezTo>
                  <a:pt x="6799733" y="0"/>
                  <a:pt x="6843350" y="43617"/>
                  <a:pt x="6843350" y="97421"/>
                </a:cubicBezTo>
                <a:lnTo>
                  <a:pt x="6843350" y="1509914"/>
                </a:lnTo>
                <a:cubicBezTo>
                  <a:pt x="6843350" y="1563718"/>
                  <a:pt x="6799733" y="1607335"/>
                  <a:pt x="6745929" y="1607335"/>
                </a:cubicBezTo>
                <a:lnTo>
                  <a:pt x="48707" y="1607335"/>
                </a:lnTo>
                <a:cubicBezTo>
                  <a:pt x="21807" y="1607335"/>
                  <a:pt x="0" y="1585528"/>
                  <a:pt x="0" y="1558628"/>
                </a:cubicBezTo>
                <a:lnTo>
                  <a:pt x="0" y="48707"/>
                </a:lnTo>
                <a:cubicBezTo>
                  <a:pt x="0" y="21825"/>
                  <a:pt x="21825" y="0"/>
                  <a:pt x="4870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28021" y="3872216"/>
            <a:ext cx="48707" cy="1607335"/>
          </a:xfrm>
          <a:custGeom>
            <a:avLst/>
            <a:gdLst/>
            <a:ahLst/>
            <a:cxnLst/>
            <a:rect l="l" t="t" r="r" b="b"/>
            <a:pathLst>
              <a:path w="48707" h="1607335">
                <a:moveTo>
                  <a:pt x="48707" y="0"/>
                </a:moveTo>
                <a:lnTo>
                  <a:pt x="48707" y="0"/>
                </a:lnTo>
                <a:lnTo>
                  <a:pt x="48707" y="1607335"/>
                </a:lnTo>
                <a:lnTo>
                  <a:pt x="48707" y="1607335"/>
                </a:lnTo>
                <a:cubicBezTo>
                  <a:pt x="21807" y="1607335"/>
                  <a:pt x="0" y="1585528"/>
                  <a:pt x="0" y="1558628"/>
                </a:cubicBezTo>
                <a:lnTo>
                  <a:pt x="0" y="48707"/>
                </a:lnTo>
                <a:cubicBezTo>
                  <a:pt x="0" y="21825"/>
                  <a:pt x="21825" y="0"/>
                  <a:pt x="48707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47203" y="4067044"/>
            <a:ext cx="6526754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34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相似之处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82211" y="4505408"/>
            <a:ext cx="149166" cy="170475"/>
          </a:xfrm>
          <a:custGeom>
            <a:avLst/>
            <a:gdLst/>
            <a:ahLst/>
            <a:cxnLst/>
            <a:rect l="l" t="t" r="r" b="b"/>
            <a:pathLst>
              <a:path w="149166" h="170475">
                <a:moveTo>
                  <a:pt x="144770" y="23340"/>
                </a:moveTo>
                <a:cubicBezTo>
                  <a:pt x="149532" y="26803"/>
                  <a:pt x="150597" y="33462"/>
                  <a:pt x="147134" y="38224"/>
                </a:cubicBezTo>
                <a:lnTo>
                  <a:pt x="61897" y="155425"/>
                </a:lnTo>
                <a:cubicBezTo>
                  <a:pt x="60066" y="157956"/>
                  <a:pt x="57236" y="159521"/>
                  <a:pt x="54106" y="159787"/>
                </a:cubicBezTo>
                <a:cubicBezTo>
                  <a:pt x="50976" y="160053"/>
                  <a:pt x="47946" y="158888"/>
                  <a:pt x="45749" y="156690"/>
                </a:cubicBezTo>
                <a:lnTo>
                  <a:pt x="3130" y="114072"/>
                </a:lnTo>
                <a:cubicBezTo>
                  <a:pt x="-1032" y="109910"/>
                  <a:pt x="-1032" y="103151"/>
                  <a:pt x="3130" y="98989"/>
                </a:cubicBezTo>
                <a:cubicBezTo>
                  <a:pt x="7292" y="94827"/>
                  <a:pt x="14051" y="94827"/>
                  <a:pt x="18213" y="98989"/>
                </a:cubicBezTo>
                <a:lnTo>
                  <a:pt x="52008" y="132784"/>
                </a:lnTo>
                <a:lnTo>
                  <a:pt x="129921" y="25671"/>
                </a:lnTo>
                <a:cubicBezTo>
                  <a:pt x="133383" y="20910"/>
                  <a:pt x="140042" y="19844"/>
                  <a:pt x="144804" y="23307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357711" y="4456701"/>
            <a:ext cx="1619512" cy="243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2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类似的文件系统接口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82211" y="4797651"/>
            <a:ext cx="149166" cy="170475"/>
          </a:xfrm>
          <a:custGeom>
            <a:avLst/>
            <a:gdLst/>
            <a:ahLst/>
            <a:cxnLst/>
            <a:rect l="l" t="t" r="r" b="b"/>
            <a:pathLst>
              <a:path w="149166" h="170475">
                <a:moveTo>
                  <a:pt x="144770" y="23340"/>
                </a:moveTo>
                <a:cubicBezTo>
                  <a:pt x="149532" y="26803"/>
                  <a:pt x="150597" y="33462"/>
                  <a:pt x="147134" y="38224"/>
                </a:cubicBezTo>
                <a:lnTo>
                  <a:pt x="61897" y="155425"/>
                </a:lnTo>
                <a:cubicBezTo>
                  <a:pt x="60066" y="157956"/>
                  <a:pt x="57236" y="159521"/>
                  <a:pt x="54106" y="159787"/>
                </a:cubicBezTo>
                <a:cubicBezTo>
                  <a:pt x="50976" y="160053"/>
                  <a:pt x="47946" y="158888"/>
                  <a:pt x="45749" y="156690"/>
                </a:cubicBezTo>
                <a:lnTo>
                  <a:pt x="3130" y="114072"/>
                </a:lnTo>
                <a:cubicBezTo>
                  <a:pt x="-1032" y="109910"/>
                  <a:pt x="-1032" y="103151"/>
                  <a:pt x="3130" y="98989"/>
                </a:cubicBezTo>
                <a:cubicBezTo>
                  <a:pt x="7292" y="94827"/>
                  <a:pt x="14051" y="94827"/>
                  <a:pt x="18213" y="98989"/>
                </a:cubicBezTo>
                <a:lnTo>
                  <a:pt x="52008" y="132784"/>
                </a:lnTo>
                <a:lnTo>
                  <a:pt x="129921" y="25671"/>
                </a:lnTo>
                <a:cubicBezTo>
                  <a:pt x="133383" y="20910"/>
                  <a:pt x="140042" y="19844"/>
                  <a:pt x="144804" y="23307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357711" y="4748944"/>
            <a:ext cx="1619512" cy="243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2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分布式锁和同步机制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82211" y="5089894"/>
            <a:ext cx="149166" cy="170475"/>
          </a:xfrm>
          <a:custGeom>
            <a:avLst/>
            <a:gdLst/>
            <a:ahLst/>
            <a:cxnLst/>
            <a:rect l="l" t="t" r="r" b="b"/>
            <a:pathLst>
              <a:path w="149166" h="170475">
                <a:moveTo>
                  <a:pt x="144770" y="23340"/>
                </a:moveTo>
                <a:cubicBezTo>
                  <a:pt x="149532" y="26803"/>
                  <a:pt x="150597" y="33462"/>
                  <a:pt x="147134" y="38224"/>
                </a:cubicBezTo>
                <a:lnTo>
                  <a:pt x="61897" y="155425"/>
                </a:lnTo>
                <a:cubicBezTo>
                  <a:pt x="60066" y="157956"/>
                  <a:pt x="57236" y="159521"/>
                  <a:pt x="54106" y="159787"/>
                </a:cubicBezTo>
                <a:cubicBezTo>
                  <a:pt x="50976" y="160053"/>
                  <a:pt x="47946" y="158888"/>
                  <a:pt x="45749" y="156690"/>
                </a:cubicBezTo>
                <a:lnTo>
                  <a:pt x="3130" y="114072"/>
                </a:lnTo>
                <a:cubicBezTo>
                  <a:pt x="-1032" y="109910"/>
                  <a:pt x="-1032" y="103151"/>
                  <a:pt x="3130" y="98989"/>
                </a:cubicBezTo>
                <a:cubicBezTo>
                  <a:pt x="7292" y="94827"/>
                  <a:pt x="14051" y="94827"/>
                  <a:pt x="18213" y="98989"/>
                </a:cubicBezTo>
                <a:lnTo>
                  <a:pt x="52008" y="132784"/>
                </a:lnTo>
                <a:lnTo>
                  <a:pt x="129921" y="25671"/>
                </a:lnTo>
                <a:cubicBezTo>
                  <a:pt x="133383" y="20910"/>
                  <a:pt x="140042" y="19844"/>
                  <a:pt x="144804" y="23307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357711" y="5041187"/>
            <a:ext cx="1108087" cy="243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2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配置管理服务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8021" y="5625672"/>
            <a:ext cx="6843350" cy="1315092"/>
          </a:xfrm>
          <a:custGeom>
            <a:avLst/>
            <a:gdLst/>
            <a:ahLst/>
            <a:cxnLst/>
            <a:rect l="l" t="t" r="r" b="b"/>
            <a:pathLst>
              <a:path w="6843350" h="1315092">
                <a:moveTo>
                  <a:pt x="48707" y="0"/>
                </a:moveTo>
                <a:lnTo>
                  <a:pt x="6745941" y="0"/>
                </a:lnTo>
                <a:cubicBezTo>
                  <a:pt x="6799738" y="0"/>
                  <a:pt x="6843350" y="43611"/>
                  <a:pt x="6843350" y="97409"/>
                </a:cubicBezTo>
                <a:lnTo>
                  <a:pt x="6843350" y="1217683"/>
                </a:lnTo>
                <a:cubicBezTo>
                  <a:pt x="6843350" y="1271481"/>
                  <a:pt x="6799738" y="1315092"/>
                  <a:pt x="6745941" y="1315092"/>
                </a:cubicBezTo>
                <a:lnTo>
                  <a:pt x="48707" y="1315092"/>
                </a:lnTo>
                <a:cubicBezTo>
                  <a:pt x="21807" y="1315092"/>
                  <a:pt x="0" y="1293285"/>
                  <a:pt x="0" y="1266385"/>
                </a:cubicBezTo>
                <a:lnTo>
                  <a:pt x="0" y="48707"/>
                </a:lnTo>
                <a:cubicBezTo>
                  <a:pt x="0" y="21807"/>
                  <a:pt x="21807" y="0"/>
                  <a:pt x="4870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28021" y="5625672"/>
            <a:ext cx="48707" cy="1315092"/>
          </a:xfrm>
          <a:custGeom>
            <a:avLst/>
            <a:gdLst/>
            <a:ahLst/>
            <a:cxnLst/>
            <a:rect l="l" t="t" r="r" b="b"/>
            <a:pathLst>
              <a:path w="48707" h="1315092">
                <a:moveTo>
                  <a:pt x="48707" y="0"/>
                </a:moveTo>
                <a:lnTo>
                  <a:pt x="48707" y="0"/>
                </a:lnTo>
                <a:lnTo>
                  <a:pt x="48707" y="1315092"/>
                </a:lnTo>
                <a:lnTo>
                  <a:pt x="48707" y="1315092"/>
                </a:lnTo>
                <a:cubicBezTo>
                  <a:pt x="21807" y="1315092"/>
                  <a:pt x="0" y="1293285"/>
                  <a:pt x="0" y="1266385"/>
                </a:cubicBezTo>
                <a:lnTo>
                  <a:pt x="0" y="48707"/>
                </a:lnTo>
                <a:cubicBezTo>
                  <a:pt x="0" y="21825"/>
                  <a:pt x="21825" y="0"/>
                  <a:pt x="48707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047203" y="5820500"/>
            <a:ext cx="6526754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34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差异之处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24830" y="6258864"/>
            <a:ext cx="63928" cy="170475"/>
          </a:xfrm>
          <a:custGeom>
            <a:avLst/>
            <a:gdLst/>
            <a:ahLst/>
            <a:cxnLst/>
            <a:rect l="l" t="t" r="r" b="b"/>
            <a:pathLst>
              <a:path w="63928" h="170475">
                <a:moveTo>
                  <a:pt x="15982" y="15982"/>
                </a:moveTo>
                <a:cubicBezTo>
                  <a:pt x="15982" y="7161"/>
                  <a:pt x="23143" y="0"/>
                  <a:pt x="31964" y="0"/>
                </a:cubicBezTo>
                <a:cubicBezTo>
                  <a:pt x="40785" y="0"/>
                  <a:pt x="47946" y="7161"/>
                  <a:pt x="47946" y="15982"/>
                </a:cubicBezTo>
                <a:cubicBezTo>
                  <a:pt x="47946" y="24803"/>
                  <a:pt x="40785" y="31964"/>
                  <a:pt x="31964" y="31964"/>
                </a:cubicBezTo>
                <a:cubicBezTo>
                  <a:pt x="23143" y="31964"/>
                  <a:pt x="15982" y="24803"/>
                  <a:pt x="15982" y="15982"/>
                </a:cubicBezTo>
                <a:close/>
                <a:moveTo>
                  <a:pt x="0" y="63928"/>
                </a:moveTo>
                <a:cubicBezTo>
                  <a:pt x="0" y="58035"/>
                  <a:pt x="4761" y="53273"/>
                  <a:pt x="10655" y="53273"/>
                </a:cubicBezTo>
                <a:lnTo>
                  <a:pt x="31964" y="53273"/>
                </a:lnTo>
                <a:cubicBezTo>
                  <a:pt x="37857" y="53273"/>
                  <a:pt x="42619" y="58035"/>
                  <a:pt x="42619" y="63928"/>
                </a:cubicBezTo>
                <a:lnTo>
                  <a:pt x="42619" y="149166"/>
                </a:lnTo>
                <a:lnTo>
                  <a:pt x="53273" y="149166"/>
                </a:lnTo>
                <a:cubicBezTo>
                  <a:pt x="59167" y="149166"/>
                  <a:pt x="63928" y="153927"/>
                  <a:pt x="63928" y="159820"/>
                </a:cubicBezTo>
                <a:cubicBezTo>
                  <a:pt x="63928" y="165714"/>
                  <a:pt x="59167" y="170475"/>
                  <a:pt x="53273" y="170475"/>
                </a:cubicBezTo>
                <a:lnTo>
                  <a:pt x="10655" y="170475"/>
                </a:lnTo>
                <a:cubicBezTo>
                  <a:pt x="4761" y="170475"/>
                  <a:pt x="0" y="165714"/>
                  <a:pt x="0" y="159820"/>
                </a:cubicBezTo>
                <a:cubicBezTo>
                  <a:pt x="0" y="153927"/>
                  <a:pt x="4761" y="149166"/>
                  <a:pt x="10655" y="149166"/>
                </a:cubicBezTo>
                <a:lnTo>
                  <a:pt x="21309" y="149166"/>
                </a:lnTo>
                <a:lnTo>
                  <a:pt x="21309" y="74583"/>
                </a:lnTo>
                <a:lnTo>
                  <a:pt x="10655" y="74583"/>
                </a:lnTo>
                <a:cubicBezTo>
                  <a:pt x="4761" y="74583"/>
                  <a:pt x="0" y="69821"/>
                  <a:pt x="0" y="63928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357711" y="6210157"/>
            <a:ext cx="2691068" cy="243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2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ZooKeeper 更注重性能和可扩展性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24830" y="6551107"/>
            <a:ext cx="63928" cy="170475"/>
          </a:xfrm>
          <a:custGeom>
            <a:avLst/>
            <a:gdLst/>
            <a:ahLst/>
            <a:cxnLst/>
            <a:rect l="l" t="t" r="r" b="b"/>
            <a:pathLst>
              <a:path w="63928" h="170475">
                <a:moveTo>
                  <a:pt x="15982" y="15982"/>
                </a:moveTo>
                <a:cubicBezTo>
                  <a:pt x="15982" y="7161"/>
                  <a:pt x="23143" y="0"/>
                  <a:pt x="31964" y="0"/>
                </a:cubicBezTo>
                <a:cubicBezTo>
                  <a:pt x="40785" y="0"/>
                  <a:pt x="47946" y="7161"/>
                  <a:pt x="47946" y="15982"/>
                </a:cubicBezTo>
                <a:cubicBezTo>
                  <a:pt x="47946" y="24803"/>
                  <a:pt x="40785" y="31964"/>
                  <a:pt x="31964" y="31964"/>
                </a:cubicBezTo>
                <a:cubicBezTo>
                  <a:pt x="23143" y="31964"/>
                  <a:pt x="15982" y="24803"/>
                  <a:pt x="15982" y="15982"/>
                </a:cubicBezTo>
                <a:close/>
                <a:moveTo>
                  <a:pt x="0" y="63928"/>
                </a:moveTo>
                <a:cubicBezTo>
                  <a:pt x="0" y="58035"/>
                  <a:pt x="4761" y="53273"/>
                  <a:pt x="10655" y="53273"/>
                </a:cubicBezTo>
                <a:lnTo>
                  <a:pt x="31964" y="53273"/>
                </a:lnTo>
                <a:cubicBezTo>
                  <a:pt x="37857" y="53273"/>
                  <a:pt x="42619" y="58035"/>
                  <a:pt x="42619" y="63928"/>
                </a:cubicBezTo>
                <a:lnTo>
                  <a:pt x="42619" y="149166"/>
                </a:lnTo>
                <a:lnTo>
                  <a:pt x="53273" y="149166"/>
                </a:lnTo>
                <a:cubicBezTo>
                  <a:pt x="59167" y="149166"/>
                  <a:pt x="63928" y="153927"/>
                  <a:pt x="63928" y="159820"/>
                </a:cubicBezTo>
                <a:cubicBezTo>
                  <a:pt x="63928" y="165714"/>
                  <a:pt x="59167" y="170475"/>
                  <a:pt x="53273" y="170475"/>
                </a:cubicBezTo>
                <a:lnTo>
                  <a:pt x="10655" y="170475"/>
                </a:lnTo>
                <a:cubicBezTo>
                  <a:pt x="4761" y="170475"/>
                  <a:pt x="0" y="165714"/>
                  <a:pt x="0" y="159820"/>
                </a:cubicBezTo>
                <a:cubicBezTo>
                  <a:pt x="0" y="153927"/>
                  <a:pt x="4761" y="149166"/>
                  <a:pt x="10655" y="149166"/>
                </a:cubicBezTo>
                <a:lnTo>
                  <a:pt x="21309" y="149166"/>
                </a:lnTo>
                <a:lnTo>
                  <a:pt x="21309" y="74583"/>
                </a:lnTo>
                <a:lnTo>
                  <a:pt x="10655" y="74583"/>
                </a:lnTo>
                <a:cubicBezTo>
                  <a:pt x="4761" y="74583"/>
                  <a:pt x="0" y="69821"/>
                  <a:pt x="0" y="63928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357711" y="6502400"/>
            <a:ext cx="2447533" cy="243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2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Chubby 更注重可靠性和易用性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86964" y="1716926"/>
            <a:ext cx="7476542" cy="5528258"/>
          </a:xfrm>
          <a:custGeom>
            <a:avLst/>
            <a:gdLst/>
            <a:ahLst/>
            <a:cxnLst/>
            <a:rect l="l" t="t" r="r" b="b"/>
            <a:pathLst>
              <a:path w="7476542" h="5528258">
                <a:moveTo>
                  <a:pt x="146112" y="0"/>
                </a:moveTo>
                <a:lnTo>
                  <a:pt x="7330430" y="0"/>
                </a:lnTo>
                <a:cubicBezTo>
                  <a:pt x="7411126" y="0"/>
                  <a:pt x="7476542" y="65417"/>
                  <a:pt x="7476542" y="146112"/>
                </a:cubicBezTo>
                <a:lnTo>
                  <a:pt x="7476542" y="5382146"/>
                </a:lnTo>
                <a:cubicBezTo>
                  <a:pt x="7476542" y="5462841"/>
                  <a:pt x="7411126" y="5528258"/>
                  <a:pt x="7330430" y="5528258"/>
                </a:cubicBezTo>
                <a:lnTo>
                  <a:pt x="146112" y="5528258"/>
                </a:lnTo>
                <a:cubicBezTo>
                  <a:pt x="65417" y="5528258"/>
                  <a:pt x="0" y="5462841"/>
                  <a:pt x="0" y="5382146"/>
                </a:cubicBezTo>
                <a:lnTo>
                  <a:pt x="0" y="146112"/>
                </a:lnTo>
                <a:cubicBezTo>
                  <a:pt x="0" y="65471"/>
                  <a:pt x="65471" y="0"/>
                  <a:pt x="146112" y="0"/>
                </a:cubicBezTo>
                <a:close/>
              </a:path>
            </a:pathLst>
          </a:custGeom>
          <a:gradFill flip="none" rotWithShape="1">
            <a:gsLst>
              <a:gs pos="0">
                <a:srgbClr val="5A7D9A">
                  <a:alpha val="30000"/>
                </a:srgbClr>
              </a:gs>
              <a:gs pos="100000">
                <a:srgbClr val="5A7D9A">
                  <a:alpha val="10000"/>
                </a:srgbClr>
              </a:gs>
            </a:gsLst>
            <a:lin ang="2700000" scaled="1"/>
          </a:gradFill>
          <a:ln w="25400">
            <a:solidFill>
              <a:srgbClr val="5A7D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591384" y="2021345"/>
            <a:ext cx="681900" cy="681900"/>
          </a:xfrm>
          <a:custGeom>
            <a:avLst/>
            <a:gdLst/>
            <a:ahLst/>
            <a:cxnLst/>
            <a:rect l="l" t="t" r="r" b="b"/>
            <a:pathLst>
              <a:path w="681900" h="681900">
                <a:moveTo>
                  <a:pt x="146124" y="0"/>
                </a:moveTo>
                <a:lnTo>
                  <a:pt x="535775" y="0"/>
                </a:lnTo>
                <a:cubicBezTo>
                  <a:pt x="616478" y="0"/>
                  <a:pt x="681900" y="65422"/>
                  <a:pt x="681900" y="146124"/>
                </a:cubicBezTo>
                <a:lnTo>
                  <a:pt x="681900" y="535775"/>
                </a:lnTo>
                <a:cubicBezTo>
                  <a:pt x="681900" y="616478"/>
                  <a:pt x="616478" y="681900"/>
                  <a:pt x="535775" y="681900"/>
                </a:cubicBezTo>
                <a:lnTo>
                  <a:pt x="146124" y="681900"/>
                </a:lnTo>
                <a:cubicBezTo>
                  <a:pt x="65422" y="681900"/>
                  <a:pt x="0" y="616478"/>
                  <a:pt x="0" y="535775"/>
                </a:cubicBezTo>
                <a:lnTo>
                  <a:pt x="0" y="146124"/>
                </a:lnTo>
                <a:cubicBezTo>
                  <a:pt x="0" y="65422"/>
                  <a:pt x="65422" y="0"/>
                  <a:pt x="146124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749682" y="2216174"/>
            <a:ext cx="365303" cy="292243"/>
          </a:xfrm>
          <a:custGeom>
            <a:avLst/>
            <a:gdLst/>
            <a:ahLst/>
            <a:cxnLst/>
            <a:rect l="l" t="t" r="r" b="b"/>
            <a:pathLst>
              <a:path w="365303" h="292243">
                <a:moveTo>
                  <a:pt x="219182" y="18265"/>
                </a:moveTo>
                <a:lnTo>
                  <a:pt x="292243" y="18265"/>
                </a:lnTo>
                <a:cubicBezTo>
                  <a:pt x="302346" y="18265"/>
                  <a:pt x="310508" y="26427"/>
                  <a:pt x="310508" y="36530"/>
                </a:cubicBezTo>
                <a:cubicBezTo>
                  <a:pt x="310508" y="46633"/>
                  <a:pt x="302346" y="54796"/>
                  <a:pt x="292243" y="54796"/>
                </a:cubicBezTo>
                <a:lnTo>
                  <a:pt x="227401" y="54796"/>
                </a:lnTo>
                <a:cubicBezTo>
                  <a:pt x="224433" y="69522"/>
                  <a:pt x="214330" y="81680"/>
                  <a:pt x="200917" y="87502"/>
                </a:cubicBezTo>
                <a:lnTo>
                  <a:pt x="200917" y="255712"/>
                </a:lnTo>
                <a:lnTo>
                  <a:pt x="292243" y="255712"/>
                </a:lnTo>
                <a:cubicBezTo>
                  <a:pt x="302346" y="255712"/>
                  <a:pt x="310508" y="263875"/>
                  <a:pt x="310508" y="273978"/>
                </a:cubicBezTo>
                <a:cubicBezTo>
                  <a:pt x="310508" y="284080"/>
                  <a:pt x="302346" y="292243"/>
                  <a:pt x="292243" y="292243"/>
                </a:cubicBezTo>
                <a:lnTo>
                  <a:pt x="73061" y="292243"/>
                </a:lnTo>
                <a:cubicBezTo>
                  <a:pt x="62958" y="292243"/>
                  <a:pt x="54796" y="284080"/>
                  <a:pt x="54796" y="273978"/>
                </a:cubicBezTo>
                <a:cubicBezTo>
                  <a:pt x="54796" y="263875"/>
                  <a:pt x="62958" y="255712"/>
                  <a:pt x="73061" y="255712"/>
                </a:cubicBezTo>
                <a:lnTo>
                  <a:pt x="164387" y="255712"/>
                </a:lnTo>
                <a:lnTo>
                  <a:pt x="164387" y="87502"/>
                </a:lnTo>
                <a:cubicBezTo>
                  <a:pt x="150973" y="81622"/>
                  <a:pt x="140870" y="69465"/>
                  <a:pt x="137902" y="54796"/>
                </a:cubicBezTo>
                <a:lnTo>
                  <a:pt x="73061" y="54796"/>
                </a:lnTo>
                <a:cubicBezTo>
                  <a:pt x="62958" y="54796"/>
                  <a:pt x="54796" y="46633"/>
                  <a:pt x="54796" y="36530"/>
                </a:cubicBezTo>
                <a:cubicBezTo>
                  <a:pt x="54796" y="26427"/>
                  <a:pt x="62958" y="18265"/>
                  <a:pt x="73061" y="18265"/>
                </a:cubicBezTo>
                <a:lnTo>
                  <a:pt x="146121" y="18265"/>
                </a:lnTo>
                <a:cubicBezTo>
                  <a:pt x="154455" y="7192"/>
                  <a:pt x="167697" y="0"/>
                  <a:pt x="182652" y="0"/>
                </a:cubicBezTo>
                <a:cubicBezTo>
                  <a:pt x="197606" y="0"/>
                  <a:pt x="210849" y="7192"/>
                  <a:pt x="219182" y="18265"/>
                </a:cubicBezTo>
                <a:close/>
                <a:moveTo>
                  <a:pt x="250918" y="182652"/>
                </a:moveTo>
                <a:lnTo>
                  <a:pt x="333568" y="182652"/>
                </a:lnTo>
                <a:lnTo>
                  <a:pt x="292243" y="111760"/>
                </a:lnTo>
                <a:lnTo>
                  <a:pt x="250918" y="182652"/>
                </a:lnTo>
                <a:close/>
                <a:moveTo>
                  <a:pt x="292243" y="237447"/>
                </a:moveTo>
                <a:cubicBezTo>
                  <a:pt x="256340" y="237447"/>
                  <a:pt x="226488" y="218040"/>
                  <a:pt x="220324" y="192412"/>
                </a:cubicBezTo>
                <a:cubicBezTo>
                  <a:pt x="218840" y="186133"/>
                  <a:pt x="220894" y="179684"/>
                  <a:pt x="224148" y="174090"/>
                </a:cubicBezTo>
                <a:lnTo>
                  <a:pt x="278487" y="80938"/>
                </a:lnTo>
                <a:cubicBezTo>
                  <a:pt x="281341" y="76029"/>
                  <a:pt x="286592" y="73061"/>
                  <a:pt x="292243" y="73061"/>
                </a:cubicBezTo>
                <a:cubicBezTo>
                  <a:pt x="297893" y="73061"/>
                  <a:pt x="303145" y="76086"/>
                  <a:pt x="305999" y="80938"/>
                </a:cubicBezTo>
                <a:lnTo>
                  <a:pt x="360338" y="174090"/>
                </a:lnTo>
                <a:cubicBezTo>
                  <a:pt x="363591" y="179684"/>
                  <a:pt x="365646" y="186133"/>
                  <a:pt x="364162" y="192412"/>
                </a:cubicBezTo>
                <a:cubicBezTo>
                  <a:pt x="357997" y="217983"/>
                  <a:pt x="328145" y="237447"/>
                  <a:pt x="292243" y="237447"/>
                </a:cubicBezTo>
                <a:close/>
                <a:moveTo>
                  <a:pt x="72376" y="111760"/>
                </a:moveTo>
                <a:lnTo>
                  <a:pt x="31051" y="182652"/>
                </a:lnTo>
                <a:lnTo>
                  <a:pt x="113758" y="182652"/>
                </a:lnTo>
                <a:lnTo>
                  <a:pt x="72376" y="111760"/>
                </a:lnTo>
                <a:close/>
                <a:moveTo>
                  <a:pt x="514" y="192412"/>
                </a:moveTo>
                <a:cubicBezTo>
                  <a:pt x="-970" y="186133"/>
                  <a:pt x="1084" y="179684"/>
                  <a:pt x="4338" y="174090"/>
                </a:cubicBezTo>
                <a:lnTo>
                  <a:pt x="58677" y="80938"/>
                </a:lnTo>
                <a:cubicBezTo>
                  <a:pt x="61531" y="76029"/>
                  <a:pt x="66782" y="73061"/>
                  <a:pt x="72433" y="73061"/>
                </a:cubicBezTo>
                <a:cubicBezTo>
                  <a:pt x="78084" y="73061"/>
                  <a:pt x="83335" y="76086"/>
                  <a:pt x="86189" y="80938"/>
                </a:cubicBezTo>
                <a:lnTo>
                  <a:pt x="140528" y="174090"/>
                </a:lnTo>
                <a:cubicBezTo>
                  <a:pt x="143781" y="179684"/>
                  <a:pt x="145836" y="186133"/>
                  <a:pt x="144352" y="192412"/>
                </a:cubicBezTo>
                <a:cubicBezTo>
                  <a:pt x="138187" y="217983"/>
                  <a:pt x="108335" y="237447"/>
                  <a:pt x="72433" y="237447"/>
                </a:cubicBezTo>
                <a:cubicBezTo>
                  <a:pt x="36530" y="237447"/>
                  <a:pt x="6678" y="218040"/>
                  <a:pt x="514" y="192412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9468112" y="2167467"/>
            <a:ext cx="1777810" cy="389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01" dirty="0">
                <a:solidFill>
                  <a:srgbClr val="5A7D9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vs Paxos 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91384" y="2946781"/>
            <a:ext cx="6977294" cy="34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26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相比直接使用 </a:t>
            </a:r>
            <a:r>
              <a:rPr lang="en-US" sz="1726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Paxos</a:t>
            </a:r>
            <a:r>
              <a:rPr lang="en-US" sz="1726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库，Chubby 锁服务的优势：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591384" y="3579973"/>
            <a:ext cx="389657" cy="389657"/>
          </a:xfrm>
          <a:custGeom>
            <a:avLst/>
            <a:gdLst/>
            <a:ahLst/>
            <a:cxnLst/>
            <a:rect l="l" t="t" r="r" b="b"/>
            <a:pathLst>
              <a:path w="389657" h="389657">
                <a:moveTo>
                  <a:pt x="97414" y="0"/>
                </a:moveTo>
                <a:lnTo>
                  <a:pt x="292243" y="0"/>
                </a:lnTo>
                <a:cubicBezTo>
                  <a:pt x="346007" y="0"/>
                  <a:pt x="389657" y="43650"/>
                  <a:pt x="389657" y="97414"/>
                </a:cubicBezTo>
                <a:lnTo>
                  <a:pt x="389657" y="292243"/>
                </a:lnTo>
                <a:cubicBezTo>
                  <a:pt x="389657" y="346007"/>
                  <a:pt x="346007" y="389657"/>
                  <a:pt x="292243" y="389657"/>
                </a:cubicBezTo>
                <a:lnTo>
                  <a:pt x="97414" y="389657"/>
                </a:lnTo>
                <a:cubicBezTo>
                  <a:pt x="43650" y="389657"/>
                  <a:pt x="0" y="346007"/>
                  <a:pt x="0" y="292243"/>
                </a:cubicBezTo>
                <a:lnTo>
                  <a:pt x="0" y="97414"/>
                </a:lnTo>
                <a:cubicBezTo>
                  <a:pt x="0" y="43650"/>
                  <a:pt x="43650" y="0"/>
                  <a:pt x="97414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693364" y="3665210"/>
            <a:ext cx="191784" cy="219182"/>
          </a:xfrm>
          <a:custGeom>
            <a:avLst/>
            <a:gdLst/>
            <a:ahLst/>
            <a:cxnLst/>
            <a:rect l="l" t="t" r="r" b="b"/>
            <a:pathLst>
              <a:path w="191784" h="219182">
                <a:moveTo>
                  <a:pt x="186133" y="30009"/>
                </a:moveTo>
                <a:cubicBezTo>
                  <a:pt x="192255" y="34461"/>
                  <a:pt x="193625" y="43023"/>
                  <a:pt x="189173" y="49145"/>
                </a:cubicBezTo>
                <a:lnTo>
                  <a:pt x="79582" y="199832"/>
                </a:lnTo>
                <a:cubicBezTo>
                  <a:pt x="77227" y="203086"/>
                  <a:pt x="73589" y="205098"/>
                  <a:pt x="69565" y="205440"/>
                </a:cubicBezTo>
                <a:cubicBezTo>
                  <a:pt x="65541" y="205783"/>
                  <a:pt x="61645" y="204284"/>
                  <a:pt x="58820" y="201459"/>
                </a:cubicBezTo>
                <a:lnTo>
                  <a:pt x="4024" y="146664"/>
                </a:lnTo>
                <a:cubicBezTo>
                  <a:pt x="-1327" y="141312"/>
                  <a:pt x="-1327" y="132622"/>
                  <a:pt x="4024" y="127271"/>
                </a:cubicBezTo>
                <a:cubicBezTo>
                  <a:pt x="9375" y="121920"/>
                  <a:pt x="18065" y="121920"/>
                  <a:pt x="23417" y="127271"/>
                </a:cubicBezTo>
                <a:lnTo>
                  <a:pt x="66868" y="170722"/>
                </a:lnTo>
                <a:lnTo>
                  <a:pt x="167041" y="33006"/>
                </a:lnTo>
                <a:cubicBezTo>
                  <a:pt x="171493" y="26884"/>
                  <a:pt x="180055" y="25514"/>
                  <a:pt x="186176" y="29966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9127162" y="3531266"/>
            <a:ext cx="4919419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34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更容易集成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27162" y="3872216"/>
            <a:ext cx="4907242" cy="243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2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客户端库易于集成到现有程序结构中，无需深入理解 Paxos 算法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591384" y="4310580"/>
            <a:ext cx="389657" cy="389657"/>
          </a:xfrm>
          <a:custGeom>
            <a:avLst/>
            <a:gdLst/>
            <a:ahLst/>
            <a:cxnLst/>
            <a:rect l="l" t="t" r="r" b="b"/>
            <a:pathLst>
              <a:path w="389657" h="389657">
                <a:moveTo>
                  <a:pt x="97414" y="0"/>
                </a:moveTo>
                <a:lnTo>
                  <a:pt x="292243" y="0"/>
                </a:lnTo>
                <a:cubicBezTo>
                  <a:pt x="346007" y="0"/>
                  <a:pt x="389657" y="43650"/>
                  <a:pt x="389657" y="97414"/>
                </a:cubicBezTo>
                <a:lnTo>
                  <a:pt x="389657" y="292243"/>
                </a:lnTo>
                <a:cubicBezTo>
                  <a:pt x="389657" y="346007"/>
                  <a:pt x="346007" y="389657"/>
                  <a:pt x="292243" y="389657"/>
                </a:cubicBezTo>
                <a:lnTo>
                  <a:pt x="97414" y="389657"/>
                </a:lnTo>
                <a:cubicBezTo>
                  <a:pt x="43650" y="389657"/>
                  <a:pt x="0" y="346007"/>
                  <a:pt x="0" y="292243"/>
                </a:cubicBezTo>
                <a:lnTo>
                  <a:pt x="0" y="97414"/>
                </a:lnTo>
                <a:cubicBezTo>
                  <a:pt x="0" y="43650"/>
                  <a:pt x="43650" y="0"/>
                  <a:pt x="97414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693364" y="4395817"/>
            <a:ext cx="191784" cy="219182"/>
          </a:xfrm>
          <a:custGeom>
            <a:avLst/>
            <a:gdLst/>
            <a:ahLst/>
            <a:cxnLst/>
            <a:rect l="l" t="t" r="r" b="b"/>
            <a:pathLst>
              <a:path w="191784" h="219182">
                <a:moveTo>
                  <a:pt x="186133" y="30009"/>
                </a:moveTo>
                <a:cubicBezTo>
                  <a:pt x="192255" y="34461"/>
                  <a:pt x="193625" y="43023"/>
                  <a:pt x="189173" y="49145"/>
                </a:cubicBezTo>
                <a:lnTo>
                  <a:pt x="79582" y="199832"/>
                </a:lnTo>
                <a:cubicBezTo>
                  <a:pt x="77227" y="203086"/>
                  <a:pt x="73589" y="205098"/>
                  <a:pt x="69565" y="205440"/>
                </a:cubicBezTo>
                <a:cubicBezTo>
                  <a:pt x="65541" y="205783"/>
                  <a:pt x="61645" y="204284"/>
                  <a:pt x="58820" y="201459"/>
                </a:cubicBezTo>
                <a:lnTo>
                  <a:pt x="4024" y="146664"/>
                </a:lnTo>
                <a:cubicBezTo>
                  <a:pt x="-1327" y="141312"/>
                  <a:pt x="-1327" y="132622"/>
                  <a:pt x="4024" y="127271"/>
                </a:cubicBezTo>
                <a:cubicBezTo>
                  <a:pt x="9375" y="121920"/>
                  <a:pt x="18065" y="121920"/>
                  <a:pt x="23417" y="127271"/>
                </a:cubicBezTo>
                <a:lnTo>
                  <a:pt x="66868" y="170722"/>
                </a:lnTo>
                <a:lnTo>
                  <a:pt x="167041" y="33006"/>
                </a:lnTo>
                <a:cubicBezTo>
                  <a:pt x="171493" y="26884"/>
                  <a:pt x="180055" y="25514"/>
                  <a:pt x="186176" y="29966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9127162" y="4261873"/>
            <a:ext cx="3336437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34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提供数据服务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127162" y="4602822"/>
            <a:ext cx="3324261" cy="243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2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除了锁服务，还提供可靠的小容量存储功能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591384" y="5041187"/>
            <a:ext cx="389657" cy="389657"/>
          </a:xfrm>
          <a:custGeom>
            <a:avLst/>
            <a:gdLst/>
            <a:ahLst/>
            <a:cxnLst/>
            <a:rect l="l" t="t" r="r" b="b"/>
            <a:pathLst>
              <a:path w="389657" h="389657">
                <a:moveTo>
                  <a:pt x="97414" y="0"/>
                </a:moveTo>
                <a:lnTo>
                  <a:pt x="292243" y="0"/>
                </a:lnTo>
                <a:cubicBezTo>
                  <a:pt x="346007" y="0"/>
                  <a:pt x="389657" y="43650"/>
                  <a:pt x="389657" y="97414"/>
                </a:cubicBezTo>
                <a:lnTo>
                  <a:pt x="389657" y="292243"/>
                </a:lnTo>
                <a:cubicBezTo>
                  <a:pt x="389657" y="346007"/>
                  <a:pt x="346007" y="389657"/>
                  <a:pt x="292243" y="389657"/>
                </a:cubicBezTo>
                <a:lnTo>
                  <a:pt x="97414" y="389657"/>
                </a:lnTo>
                <a:cubicBezTo>
                  <a:pt x="43650" y="389657"/>
                  <a:pt x="0" y="346007"/>
                  <a:pt x="0" y="292243"/>
                </a:cubicBezTo>
                <a:lnTo>
                  <a:pt x="0" y="97414"/>
                </a:lnTo>
                <a:cubicBezTo>
                  <a:pt x="0" y="43650"/>
                  <a:pt x="43650" y="0"/>
                  <a:pt x="97414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693364" y="5126424"/>
            <a:ext cx="191784" cy="219182"/>
          </a:xfrm>
          <a:custGeom>
            <a:avLst/>
            <a:gdLst/>
            <a:ahLst/>
            <a:cxnLst/>
            <a:rect l="l" t="t" r="r" b="b"/>
            <a:pathLst>
              <a:path w="191784" h="219182">
                <a:moveTo>
                  <a:pt x="186133" y="30009"/>
                </a:moveTo>
                <a:cubicBezTo>
                  <a:pt x="192255" y="34461"/>
                  <a:pt x="193625" y="43023"/>
                  <a:pt x="189173" y="49145"/>
                </a:cubicBezTo>
                <a:lnTo>
                  <a:pt x="79582" y="199832"/>
                </a:lnTo>
                <a:cubicBezTo>
                  <a:pt x="77227" y="203086"/>
                  <a:pt x="73589" y="205098"/>
                  <a:pt x="69565" y="205440"/>
                </a:cubicBezTo>
                <a:cubicBezTo>
                  <a:pt x="65541" y="205783"/>
                  <a:pt x="61645" y="204284"/>
                  <a:pt x="58820" y="201459"/>
                </a:cubicBezTo>
                <a:lnTo>
                  <a:pt x="4024" y="146664"/>
                </a:lnTo>
                <a:cubicBezTo>
                  <a:pt x="-1327" y="141312"/>
                  <a:pt x="-1327" y="132622"/>
                  <a:pt x="4024" y="127271"/>
                </a:cubicBezTo>
                <a:cubicBezTo>
                  <a:pt x="9375" y="121920"/>
                  <a:pt x="18065" y="121920"/>
                  <a:pt x="23417" y="127271"/>
                </a:cubicBezTo>
                <a:lnTo>
                  <a:pt x="66868" y="170722"/>
                </a:lnTo>
                <a:lnTo>
                  <a:pt x="167041" y="33006"/>
                </a:lnTo>
                <a:cubicBezTo>
                  <a:pt x="171493" y="26884"/>
                  <a:pt x="180055" y="25514"/>
                  <a:pt x="186176" y="29966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9127162" y="4992479"/>
            <a:ext cx="4067044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34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语义更友好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27162" y="5333429"/>
            <a:ext cx="4054867" cy="243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2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锁定语义比 Paxos 算法的共识语义更容易理解和使用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591384" y="5771793"/>
            <a:ext cx="389657" cy="389657"/>
          </a:xfrm>
          <a:custGeom>
            <a:avLst/>
            <a:gdLst/>
            <a:ahLst/>
            <a:cxnLst/>
            <a:rect l="l" t="t" r="r" b="b"/>
            <a:pathLst>
              <a:path w="389657" h="389657">
                <a:moveTo>
                  <a:pt x="97414" y="0"/>
                </a:moveTo>
                <a:lnTo>
                  <a:pt x="292243" y="0"/>
                </a:lnTo>
                <a:cubicBezTo>
                  <a:pt x="346007" y="0"/>
                  <a:pt x="389657" y="43650"/>
                  <a:pt x="389657" y="97414"/>
                </a:cubicBezTo>
                <a:lnTo>
                  <a:pt x="389657" y="292243"/>
                </a:lnTo>
                <a:cubicBezTo>
                  <a:pt x="389657" y="346007"/>
                  <a:pt x="346007" y="389657"/>
                  <a:pt x="292243" y="389657"/>
                </a:cubicBezTo>
                <a:lnTo>
                  <a:pt x="97414" y="389657"/>
                </a:lnTo>
                <a:cubicBezTo>
                  <a:pt x="43650" y="389657"/>
                  <a:pt x="0" y="346007"/>
                  <a:pt x="0" y="292243"/>
                </a:cubicBezTo>
                <a:lnTo>
                  <a:pt x="0" y="97414"/>
                </a:lnTo>
                <a:cubicBezTo>
                  <a:pt x="0" y="43650"/>
                  <a:pt x="43650" y="0"/>
                  <a:pt x="97414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8693364" y="5857031"/>
            <a:ext cx="191784" cy="219182"/>
          </a:xfrm>
          <a:custGeom>
            <a:avLst/>
            <a:gdLst/>
            <a:ahLst/>
            <a:cxnLst/>
            <a:rect l="l" t="t" r="r" b="b"/>
            <a:pathLst>
              <a:path w="191784" h="219182">
                <a:moveTo>
                  <a:pt x="186133" y="30009"/>
                </a:moveTo>
                <a:cubicBezTo>
                  <a:pt x="192255" y="34461"/>
                  <a:pt x="193625" y="43023"/>
                  <a:pt x="189173" y="49145"/>
                </a:cubicBezTo>
                <a:lnTo>
                  <a:pt x="79582" y="199832"/>
                </a:lnTo>
                <a:cubicBezTo>
                  <a:pt x="77227" y="203086"/>
                  <a:pt x="73589" y="205098"/>
                  <a:pt x="69565" y="205440"/>
                </a:cubicBezTo>
                <a:cubicBezTo>
                  <a:pt x="65541" y="205783"/>
                  <a:pt x="61645" y="204284"/>
                  <a:pt x="58820" y="201459"/>
                </a:cubicBezTo>
                <a:lnTo>
                  <a:pt x="4024" y="146664"/>
                </a:lnTo>
                <a:cubicBezTo>
                  <a:pt x="-1327" y="141312"/>
                  <a:pt x="-1327" y="132622"/>
                  <a:pt x="4024" y="127271"/>
                </a:cubicBezTo>
                <a:cubicBezTo>
                  <a:pt x="9375" y="121920"/>
                  <a:pt x="18065" y="121920"/>
                  <a:pt x="23417" y="127271"/>
                </a:cubicBezTo>
                <a:lnTo>
                  <a:pt x="66868" y="170722"/>
                </a:lnTo>
                <a:lnTo>
                  <a:pt x="167041" y="33006"/>
                </a:lnTo>
                <a:cubicBezTo>
                  <a:pt x="171493" y="26884"/>
                  <a:pt x="180055" y="25514"/>
                  <a:pt x="186176" y="29966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9127162" y="5723086"/>
            <a:ext cx="3847862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34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集中化容错管理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127162" y="6064036"/>
            <a:ext cx="3835685" cy="243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2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容错和可用性管理集中在服务端，简化客户端逻辑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11425" y="7391168"/>
            <a:ext cx="15257504" cy="1643865"/>
          </a:xfrm>
          <a:custGeom>
            <a:avLst/>
            <a:gdLst/>
            <a:ahLst/>
            <a:cxnLst/>
            <a:rect l="l" t="t" r="r" b="b"/>
            <a:pathLst>
              <a:path w="15257504" h="1643865">
                <a:moveTo>
                  <a:pt x="48707" y="0"/>
                </a:moveTo>
                <a:lnTo>
                  <a:pt x="15111381" y="0"/>
                </a:lnTo>
                <a:cubicBezTo>
                  <a:pt x="15192083" y="0"/>
                  <a:pt x="15257504" y="65422"/>
                  <a:pt x="15257504" y="146123"/>
                </a:cubicBezTo>
                <a:lnTo>
                  <a:pt x="15257504" y="1497742"/>
                </a:lnTo>
                <a:cubicBezTo>
                  <a:pt x="15257504" y="1578444"/>
                  <a:pt x="15192083" y="1643865"/>
                  <a:pt x="15111381" y="1643865"/>
                </a:cubicBezTo>
                <a:lnTo>
                  <a:pt x="48707" y="1643865"/>
                </a:lnTo>
                <a:cubicBezTo>
                  <a:pt x="21807" y="1643865"/>
                  <a:pt x="0" y="1622058"/>
                  <a:pt x="0" y="1595158"/>
                </a:cubicBezTo>
                <a:lnTo>
                  <a:pt x="0" y="48707"/>
                </a:lnTo>
                <a:cubicBezTo>
                  <a:pt x="0" y="21825"/>
                  <a:pt x="21825" y="0"/>
                  <a:pt x="48707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3A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511425" y="7391168"/>
            <a:ext cx="48707" cy="1643865"/>
          </a:xfrm>
          <a:custGeom>
            <a:avLst/>
            <a:gdLst/>
            <a:ahLst/>
            <a:cxnLst/>
            <a:rect l="l" t="t" r="r" b="b"/>
            <a:pathLst>
              <a:path w="48707" h="1643865">
                <a:moveTo>
                  <a:pt x="48707" y="0"/>
                </a:moveTo>
                <a:lnTo>
                  <a:pt x="48707" y="0"/>
                </a:lnTo>
                <a:lnTo>
                  <a:pt x="48707" y="1643865"/>
                </a:lnTo>
                <a:lnTo>
                  <a:pt x="48707" y="1643865"/>
                </a:lnTo>
                <a:cubicBezTo>
                  <a:pt x="21807" y="1643865"/>
                  <a:pt x="0" y="1622058"/>
                  <a:pt x="0" y="1595158"/>
                </a:cubicBezTo>
                <a:lnTo>
                  <a:pt x="0" y="48707"/>
                </a:lnTo>
                <a:cubicBezTo>
                  <a:pt x="0" y="21825"/>
                  <a:pt x="21825" y="0"/>
                  <a:pt x="48707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779314" y="7634703"/>
            <a:ext cx="584485" cy="584485"/>
          </a:xfrm>
          <a:custGeom>
            <a:avLst/>
            <a:gdLst/>
            <a:ahLst/>
            <a:cxnLst/>
            <a:rect l="l" t="t" r="r" b="b"/>
            <a:pathLst>
              <a:path w="584485" h="584485">
                <a:moveTo>
                  <a:pt x="97416" y="0"/>
                </a:moveTo>
                <a:lnTo>
                  <a:pt x="487069" y="0"/>
                </a:lnTo>
                <a:cubicBezTo>
                  <a:pt x="540871" y="0"/>
                  <a:pt x="584485" y="43615"/>
                  <a:pt x="584485" y="97416"/>
                </a:cubicBezTo>
                <a:lnTo>
                  <a:pt x="584485" y="487069"/>
                </a:lnTo>
                <a:cubicBezTo>
                  <a:pt x="584485" y="540871"/>
                  <a:pt x="540871" y="584485"/>
                  <a:pt x="487069" y="584485"/>
                </a:cubicBezTo>
                <a:lnTo>
                  <a:pt x="97416" y="584485"/>
                </a:lnTo>
                <a:cubicBezTo>
                  <a:pt x="43615" y="584485"/>
                  <a:pt x="0" y="540871"/>
                  <a:pt x="0" y="487069"/>
                </a:cubicBezTo>
                <a:lnTo>
                  <a:pt x="0" y="97416"/>
                </a:lnTo>
                <a:cubicBezTo>
                  <a:pt x="0" y="43651"/>
                  <a:pt x="43651" y="0"/>
                  <a:pt x="97416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980231" y="7805178"/>
            <a:ext cx="182652" cy="243536"/>
          </a:xfrm>
          <a:custGeom>
            <a:avLst/>
            <a:gdLst/>
            <a:ahLst/>
            <a:cxnLst/>
            <a:rect l="l" t="t" r="r" b="b"/>
            <a:pathLst>
              <a:path w="182652" h="243536">
                <a:moveTo>
                  <a:pt x="139319" y="182652"/>
                </a:moveTo>
                <a:cubicBezTo>
                  <a:pt x="142792" y="172045"/>
                  <a:pt x="149736" y="162436"/>
                  <a:pt x="157585" y="154160"/>
                </a:cubicBezTo>
                <a:cubicBezTo>
                  <a:pt x="173139" y="137797"/>
                  <a:pt x="182652" y="115679"/>
                  <a:pt x="182652" y="91326"/>
                </a:cubicBezTo>
                <a:cubicBezTo>
                  <a:pt x="182652" y="40906"/>
                  <a:pt x="141745" y="0"/>
                  <a:pt x="91326" y="0"/>
                </a:cubicBezTo>
                <a:cubicBezTo>
                  <a:pt x="40906" y="0"/>
                  <a:pt x="0" y="40906"/>
                  <a:pt x="0" y="91326"/>
                </a:cubicBezTo>
                <a:cubicBezTo>
                  <a:pt x="0" y="115679"/>
                  <a:pt x="9513" y="137797"/>
                  <a:pt x="25067" y="154160"/>
                </a:cubicBezTo>
                <a:cubicBezTo>
                  <a:pt x="32915" y="162436"/>
                  <a:pt x="39907" y="172045"/>
                  <a:pt x="43332" y="182652"/>
                </a:cubicBezTo>
                <a:lnTo>
                  <a:pt x="139272" y="182652"/>
                </a:lnTo>
                <a:close/>
                <a:moveTo>
                  <a:pt x="136989" y="205483"/>
                </a:moveTo>
                <a:lnTo>
                  <a:pt x="45663" y="205483"/>
                </a:lnTo>
                <a:lnTo>
                  <a:pt x="45663" y="213094"/>
                </a:lnTo>
                <a:cubicBezTo>
                  <a:pt x="45663" y="234118"/>
                  <a:pt x="62691" y="251146"/>
                  <a:pt x="83715" y="251146"/>
                </a:cubicBezTo>
                <a:lnTo>
                  <a:pt x="98936" y="251146"/>
                </a:lnTo>
                <a:cubicBezTo>
                  <a:pt x="119960" y="251146"/>
                  <a:pt x="136989" y="234118"/>
                  <a:pt x="136989" y="213094"/>
                </a:cubicBezTo>
                <a:lnTo>
                  <a:pt x="136989" y="205483"/>
                </a:lnTo>
                <a:close/>
                <a:moveTo>
                  <a:pt x="87521" y="53273"/>
                </a:moveTo>
                <a:cubicBezTo>
                  <a:pt x="68590" y="53273"/>
                  <a:pt x="53273" y="68590"/>
                  <a:pt x="53273" y="87521"/>
                </a:cubicBezTo>
                <a:cubicBezTo>
                  <a:pt x="53273" y="93847"/>
                  <a:pt x="48184" y="98936"/>
                  <a:pt x="41858" y="98936"/>
                </a:cubicBezTo>
                <a:cubicBezTo>
                  <a:pt x="35531" y="98936"/>
                  <a:pt x="30442" y="93847"/>
                  <a:pt x="30442" y="87521"/>
                </a:cubicBezTo>
                <a:cubicBezTo>
                  <a:pt x="30442" y="55985"/>
                  <a:pt x="55985" y="30442"/>
                  <a:pt x="87521" y="30442"/>
                </a:cubicBezTo>
                <a:cubicBezTo>
                  <a:pt x="93847" y="30442"/>
                  <a:pt x="98936" y="35531"/>
                  <a:pt x="98936" y="41858"/>
                </a:cubicBezTo>
                <a:cubicBezTo>
                  <a:pt x="98936" y="48184"/>
                  <a:pt x="93847" y="53273"/>
                  <a:pt x="87521" y="53273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558628" y="7634703"/>
            <a:ext cx="14088533" cy="34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18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工程实践的价值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558628" y="8073068"/>
            <a:ext cx="14076357" cy="718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26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Chubby 的成功证明了在分布式系统中，</a:t>
            </a:r>
            <a:r>
              <a:rPr lang="en-US" sz="1726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工程实践的价值</a:t>
            </a:r>
            <a:r>
              <a:rPr lang="en-US" sz="1726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。相比于直接使用复杂的共识算法库，一个设计良好、易于使用的协调服务能够更好地满足实际需求。这种理念影响了后续的开源项目，如 ZooKeeper、etcd 等。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33400" y="2043113"/>
            <a:ext cx="3314700" cy="787400"/>
          </a:xfrm>
          <a:custGeom>
            <a:avLst/>
            <a:gdLst/>
            <a:ahLst/>
            <a:cxnLst/>
            <a:rect l="l" t="t" r="r" b="b"/>
            <a:pathLst>
              <a:path w="3314700" h="787400">
                <a:moveTo>
                  <a:pt x="0" y="0"/>
                </a:moveTo>
                <a:lnTo>
                  <a:pt x="3314700" y="0"/>
                </a:lnTo>
                <a:lnTo>
                  <a:pt x="33147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solidFill>
            <a:srgbClr val="4DB3A2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33400" y="2043113"/>
            <a:ext cx="50800" cy="787400"/>
          </a:xfrm>
          <a:custGeom>
            <a:avLst/>
            <a:gdLst/>
            <a:ahLst/>
            <a:cxnLst/>
            <a:rect l="l" t="t" r="r" b="b"/>
            <a:pathLst>
              <a:path w="50800" h="787400">
                <a:moveTo>
                  <a:pt x="0" y="0"/>
                </a:moveTo>
                <a:lnTo>
                  <a:pt x="50800" y="0"/>
                </a:lnTo>
                <a:lnTo>
                  <a:pt x="508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863600" y="2195513"/>
            <a:ext cx="2869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kern="0" spc="300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230563"/>
            <a:ext cx="67564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dirty="0" err="1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总结与影响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973763"/>
            <a:ext cx="2032000" cy="101600"/>
          </a:xfrm>
          <a:custGeom>
            <a:avLst/>
            <a:gdLst/>
            <a:ahLst/>
            <a:cxnLst/>
            <a:rect l="l" t="t" r="r" b="b"/>
            <a:pathLst>
              <a:path w="2032000" h="101600">
                <a:moveTo>
                  <a:pt x="0" y="0"/>
                </a:moveTo>
                <a:lnTo>
                  <a:pt x="2032000" y="0"/>
                </a:lnTo>
                <a:lnTo>
                  <a:pt x="20320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DB3A2"/>
              </a:gs>
              <a:gs pos="100000">
                <a:srgbClr val="E1AF63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08000" y="6481763"/>
            <a:ext cx="63373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回顾 Chubby 的技术贡献与历史地位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2184" y="452184"/>
            <a:ext cx="15442070" cy="271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4" b="1" kern="0" spc="7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LEGACY &amp; INFLUENCE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2184" y="813930"/>
            <a:ext cx="15622943" cy="542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73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技术影响与产业贡献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63488" y="1593947"/>
            <a:ext cx="7517552" cy="5628273"/>
          </a:xfrm>
          <a:custGeom>
            <a:avLst/>
            <a:gdLst/>
            <a:ahLst/>
            <a:cxnLst/>
            <a:rect l="l" t="t" r="r" b="b"/>
            <a:pathLst>
              <a:path w="7517552" h="6172306">
                <a:moveTo>
                  <a:pt x="135667" y="0"/>
                </a:moveTo>
                <a:lnTo>
                  <a:pt x="7381885" y="0"/>
                </a:lnTo>
                <a:cubicBezTo>
                  <a:pt x="7456812" y="0"/>
                  <a:pt x="7517552" y="60740"/>
                  <a:pt x="7517552" y="135667"/>
                </a:cubicBezTo>
                <a:lnTo>
                  <a:pt x="7517552" y="6036639"/>
                </a:lnTo>
                <a:cubicBezTo>
                  <a:pt x="7517552" y="6111566"/>
                  <a:pt x="7456812" y="6172306"/>
                  <a:pt x="7381885" y="6172306"/>
                </a:cubicBezTo>
                <a:lnTo>
                  <a:pt x="135667" y="6172306"/>
                </a:lnTo>
                <a:cubicBezTo>
                  <a:pt x="60740" y="6172306"/>
                  <a:pt x="0" y="6111566"/>
                  <a:pt x="0" y="6036639"/>
                </a:cubicBezTo>
                <a:lnTo>
                  <a:pt x="0" y="135667"/>
                </a:lnTo>
                <a:cubicBezTo>
                  <a:pt x="0" y="60790"/>
                  <a:pt x="60790" y="0"/>
                  <a:pt x="135667" y="0"/>
                </a:cubicBezTo>
                <a:close/>
              </a:path>
            </a:pathLst>
          </a:custGeom>
          <a:gradFill flip="none" rotWithShape="1">
            <a:gsLst>
              <a:gs pos="0">
                <a:srgbClr val="5A7D9A">
                  <a:alpha val="30000"/>
                </a:srgbClr>
              </a:gs>
              <a:gs pos="100000">
                <a:srgbClr val="5A7D9A">
                  <a:alpha val="10000"/>
                </a:srgbClr>
              </a:gs>
            </a:gsLst>
            <a:lin ang="2700000" scaled="1"/>
          </a:gradFill>
          <a:ln w="25400">
            <a:solidFill>
              <a:srgbClr val="5A7D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46103" y="1921780"/>
            <a:ext cx="339138" cy="271310"/>
          </a:xfrm>
          <a:custGeom>
            <a:avLst/>
            <a:gdLst/>
            <a:ahLst/>
            <a:cxnLst/>
            <a:rect l="l" t="t" r="r" b="b"/>
            <a:pathLst>
              <a:path w="339138" h="271310">
                <a:moveTo>
                  <a:pt x="220387" y="111545"/>
                </a:moveTo>
                <a:cubicBezTo>
                  <a:pt x="226851" y="109796"/>
                  <a:pt x="233634" y="112869"/>
                  <a:pt x="236549" y="118857"/>
                </a:cubicBezTo>
                <a:lnTo>
                  <a:pt x="246405" y="138782"/>
                </a:lnTo>
                <a:cubicBezTo>
                  <a:pt x="251863" y="139523"/>
                  <a:pt x="257215" y="141007"/>
                  <a:pt x="262249" y="143074"/>
                </a:cubicBezTo>
                <a:lnTo>
                  <a:pt x="280795" y="130727"/>
                </a:lnTo>
                <a:cubicBezTo>
                  <a:pt x="286359" y="127018"/>
                  <a:pt x="293725" y="127760"/>
                  <a:pt x="298441" y="132476"/>
                </a:cubicBezTo>
                <a:lnTo>
                  <a:pt x="308615" y="142650"/>
                </a:lnTo>
                <a:cubicBezTo>
                  <a:pt x="313331" y="147366"/>
                  <a:pt x="314073" y="154785"/>
                  <a:pt x="310364" y="160296"/>
                </a:cubicBezTo>
                <a:lnTo>
                  <a:pt x="298017" y="178789"/>
                </a:lnTo>
                <a:cubicBezTo>
                  <a:pt x="299024" y="181280"/>
                  <a:pt x="299925" y="183876"/>
                  <a:pt x="300667" y="186579"/>
                </a:cubicBezTo>
                <a:cubicBezTo>
                  <a:pt x="301409" y="189281"/>
                  <a:pt x="301886" y="191931"/>
                  <a:pt x="302256" y="194633"/>
                </a:cubicBezTo>
                <a:lnTo>
                  <a:pt x="322234" y="204489"/>
                </a:lnTo>
                <a:cubicBezTo>
                  <a:pt x="328222" y="207457"/>
                  <a:pt x="331295" y="214240"/>
                  <a:pt x="329546" y="220651"/>
                </a:cubicBezTo>
                <a:lnTo>
                  <a:pt x="325837" y="234535"/>
                </a:lnTo>
                <a:cubicBezTo>
                  <a:pt x="324088" y="240947"/>
                  <a:pt x="318101" y="245292"/>
                  <a:pt x="311424" y="244868"/>
                </a:cubicBezTo>
                <a:lnTo>
                  <a:pt x="289168" y="243437"/>
                </a:lnTo>
                <a:cubicBezTo>
                  <a:pt x="285829" y="247729"/>
                  <a:pt x="281961" y="251704"/>
                  <a:pt x="277563" y="255095"/>
                </a:cubicBezTo>
                <a:lnTo>
                  <a:pt x="278994" y="277298"/>
                </a:lnTo>
                <a:cubicBezTo>
                  <a:pt x="279418" y="283975"/>
                  <a:pt x="275072" y="290016"/>
                  <a:pt x="268661" y="291711"/>
                </a:cubicBezTo>
                <a:lnTo>
                  <a:pt x="254777" y="295421"/>
                </a:lnTo>
                <a:cubicBezTo>
                  <a:pt x="248312" y="297169"/>
                  <a:pt x="241583" y="294096"/>
                  <a:pt x="238615" y="288108"/>
                </a:cubicBezTo>
                <a:lnTo>
                  <a:pt x="228759" y="268184"/>
                </a:lnTo>
                <a:cubicBezTo>
                  <a:pt x="223301" y="267442"/>
                  <a:pt x="217949" y="265958"/>
                  <a:pt x="212915" y="263892"/>
                </a:cubicBezTo>
                <a:lnTo>
                  <a:pt x="194368" y="276238"/>
                </a:lnTo>
                <a:cubicBezTo>
                  <a:pt x="188804" y="279948"/>
                  <a:pt x="181439" y="279206"/>
                  <a:pt x="176723" y="274490"/>
                </a:cubicBezTo>
                <a:lnTo>
                  <a:pt x="166548" y="264315"/>
                </a:lnTo>
                <a:cubicBezTo>
                  <a:pt x="161832" y="259599"/>
                  <a:pt x="161090" y="252234"/>
                  <a:pt x="164800" y="246670"/>
                </a:cubicBezTo>
                <a:lnTo>
                  <a:pt x="177146" y="228123"/>
                </a:lnTo>
                <a:cubicBezTo>
                  <a:pt x="176140" y="225633"/>
                  <a:pt x="175239" y="223036"/>
                  <a:pt x="174497" y="220334"/>
                </a:cubicBezTo>
                <a:cubicBezTo>
                  <a:pt x="173755" y="217631"/>
                  <a:pt x="173278" y="214929"/>
                  <a:pt x="172907" y="212279"/>
                </a:cubicBezTo>
                <a:lnTo>
                  <a:pt x="152930" y="202423"/>
                </a:lnTo>
                <a:cubicBezTo>
                  <a:pt x="146942" y="199455"/>
                  <a:pt x="143922" y="192673"/>
                  <a:pt x="145617" y="186261"/>
                </a:cubicBezTo>
                <a:lnTo>
                  <a:pt x="149327" y="172377"/>
                </a:lnTo>
                <a:cubicBezTo>
                  <a:pt x="151075" y="165966"/>
                  <a:pt x="157063" y="161620"/>
                  <a:pt x="163740" y="162044"/>
                </a:cubicBezTo>
                <a:lnTo>
                  <a:pt x="185943" y="163475"/>
                </a:lnTo>
                <a:cubicBezTo>
                  <a:pt x="189281" y="159183"/>
                  <a:pt x="193150" y="155208"/>
                  <a:pt x="197548" y="151817"/>
                </a:cubicBezTo>
                <a:lnTo>
                  <a:pt x="196117" y="129667"/>
                </a:lnTo>
                <a:cubicBezTo>
                  <a:pt x="195693" y="122990"/>
                  <a:pt x="200038" y="116950"/>
                  <a:pt x="206450" y="115254"/>
                </a:cubicBezTo>
                <a:lnTo>
                  <a:pt x="220334" y="111545"/>
                </a:lnTo>
                <a:close/>
                <a:moveTo>
                  <a:pt x="237608" y="180167"/>
                </a:moveTo>
                <a:cubicBezTo>
                  <a:pt x="224740" y="180182"/>
                  <a:pt x="214305" y="190641"/>
                  <a:pt x="214319" y="203509"/>
                </a:cubicBezTo>
                <a:cubicBezTo>
                  <a:pt x="214334" y="216377"/>
                  <a:pt x="224793" y="226813"/>
                  <a:pt x="237661" y="226798"/>
                </a:cubicBezTo>
                <a:cubicBezTo>
                  <a:pt x="250530" y="226784"/>
                  <a:pt x="260965" y="216324"/>
                  <a:pt x="260951" y="203456"/>
                </a:cubicBezTo>
                <a:cubicBezTo>
                  <a:pt x="260936" y="190588"/>
                  <a:pt x="250477" y="180152"/>
                  <a:pt x="237608" y="180167"/>
                </a:cubicBezTo>
                <a:close/>
                <a:moveTo>
                  <a:pt x="119175" y="-24111"/>
                </a:moveTo>
                <a:lnTo>
                  <a:pt x="133059" y="-20401"/>
                </a:lnTo>
                <a:cubicBezTo>
                  <a:pt x="139470" y="-18653"/>
                  <a:pt x="143816" y="-12612"/>
                  <a:pt x="143392" y="-5988"/>
                </a:cubicBezTo>
                <a:lnTo>
                  <a:pt x="141961" y="16162"/>
                </a:lnTo>
                <a:cubicBezTo>
                  <a:pt x="146359" y="19553"/>
                  <a:pt x="150227" y="23475"/>
                  <a:pt x="153566" y="27820"/>
                </a:cubicBezTo>
                <a:lnTo>
                  <a:pt x="175822" y="26389"/>
                </a:lnTo>
                <a:cubicBezTo>
                  <a:pt x="182445" y="25965"/>
                  <a:pt x="188486" y="30310"/>
                  <a:pt x="190235" y="36722"/>
                </a:cubicBezTo>
                <a:lnTo>
                  <a:pt x="193944" y="50606"/>
                </a:lnTo>
                <a:cubicBezTo>
                  <a:pt x="195640" y="57018"/>
                  <a:pt x="192620" y="63800"/>
                  <a:pt x="186632" y="66768"/>
                </a:cubicBezTo>
                <a:lnTo>
                  <a:pt x="166654" y="76624"/>
                </a:lnTo>
                <a:cubicBezTo>
                  <a:pt x="166283" y="79326"/>
                  <a:pt x="165754" y="82029"/>
                  <a:pt x="165065" y="84678"/>
                </a:cubicBezTo>
                <a:cubicBezTo>
                  <a:pt x="164376" y="87328"/>
                  <a:pt x="163422" y="89977"/>
                  <a:pt x="162415" y="92468"/>
                </a:cubicBezTo>
                <a:lnTo>
                  <a:pt x="174762" y="111015"/>
                </a:lnTo>
                <a:cubicBezTo>
                  <a:pt x="178471" y="116579"/>
                  <a:pt x="177729" y="123944"/>
                  <a:pt x="173013" y="128660"/>
                </a:cubicBezTo>
                <a:lnTo>
                  <a:pt x="162839" y="138834"/>
                </a:lnTo>
                <a:cubicBezTo>
                  <a:pt x="158123" y="143551"/>
                  <a:pt x="150757" y="144292"/>
                  <a:pt x="145193" y="140583"/>
                </a:cubicBezTo>
                <a:lnTo>
                  <a:pt x="126647" y="128236"/>
                </a:lnTo>
                <a:cubicBezTo>
                  <a:pt x="121613" y="130303"/>
                  <a:pt x="116261" y="131787"/>
                  <a:pt x="110803" y="132529"/>
                </a:cubicBezTo>
                <a:lnTo>
                  <a:pt x="100946" y="152453"/>
                </a:lnTo>
                <a:cubicBezTo>
                  <a:pt x="97979" y="158441"/>
                  <a:pt x="91196" y="161461"/>
                  <a:pt x="84784" y="159766"/>
                </a:cubicBezTo>
                <a:lnTo>
                  <a:pt x="70901" y="156056"/>
                </a:lnTo>
                <a:cubicBezTo>
                  <a:pt x="64436" y="154308"/>
                  <a:pt x="60144" y="148267"/>
                  <a:pt x="60568" y="141643"/>
                </a:cubicBezTo>
                <a:lnTo>
                  <a:pt x="61999" y="119440"/>
                </a:lnTo>
                <a:cubicBezTo>
                  <a:pt x="57600" y="116049"/>
                  <a:pt x="53732" y="112127"/>
                  <a:pt x="50394" y="107782"/>
                </a:cubicBezTo>
                <a:lnTo>
                  <a:pt x="28138" y="109213"/>
                </a:lnTo>
                <a:cubicBezTo>
                  <a:pt x="21514" y="109637"/>
                  <a:pt x="15473" y="105292"/>
                  <a:pt x="13724" y="98880"/>
                </a:cubicBezTo>
                <a:lnTo>
                  <a:pt x="10015" y="84996"/>
                </a:lnTo>
                <a:cubicBezTo>
                  <a:pt x="8319" y="78585"/>
                  <a:pt x="11340" y="71802"/>
                  <a:pt x="17328" y="68834"/>
                </a:cubicBezTo>
                <a:lnTo>
                  <a:pt x="37305" y="58978"/>
                </a:lnTo>
                <a:cubicBezTo>
                  <a:pt x="37676" y="56276"/>
                  <a:pt x="38206" y="53626"/>
                  <a:pt x="38895" y="50924"/>
                </a:cubicBezTo>
                <a:cubicBezTo>
                  <a:pt x="39637" y="48221"/>
                  <a:pt x="40485" y="45625"/>
                  <a:pt x="41544" y="43134"/>
                </a:cubicBezTo>
                <a:lnTo>
                  <a:pt x="29198" y="24640"/>
                </a:lnTo>
                <a:cubicBezTo>
                  <a:pt x="25488" y="19076"/>
                  <a:pt x="26230" y="11711"/>
                  <a:pt x="30946" y="6995"/>
                </a:cubicBezTo>
                <a:lnTo>
                  <a:pt x="41120" y="-3179"/>
                </a:lnTo>
                <a:cubicBezTo>
                  <a:pt x="45837" y="-7896"/>
                  <a:pt x="53202" y="-8637"/>
                  <a:pt x="58766" y="-4928"/>
                </a:cubicBezTo>
                <a:lnTo>
                  <a:pt x="77313" y="7419"/>
                </a:lnTo>
                <a:cubicBezTo>
                  <a:pt x="82347" y="5352"/>
                  <a:pt x="87699" y="3868"/>
                  <a:pt x="93157" y="3126"/>
                </a:cubicBezTo>
                <a:lnTo>
                  <a:pt x="103013" y="-16798"/>
                </a:lnTo>
                <a:cubicBezTo>
                  <a:pt x="105981" y="-22786"/>
                  <a:pt x="112710" y="-25806"/>
                  <a:pt x="119175" y="-24111"/>
                </a:cubicBezTo>
                <a:close/>
                <a:moveTo>
                  <a:pt x="101953" y="44512"/>
                </a:moveTo>
                <a:cubicBezTo>
                  <a:pt x="89085" y="44512"/>
                  <a:pt x="78638" y="54959"/>
                  <a:pt x="78638" y="67828"/>
                </a:cubicBezTo>
                <a:cubicBezTo>
                  <a:pt x="78638" y="80696"/>
                  <a:pt x="89085" y="91143"/>
                  <a:pt x="101953" y="91143"/>
                </a:cubicBezTo>
                <a:cubicBezTo>
                  <a:pt x="114822" y="91143"/>
                  <a:pt x="125269" y="80696"/>
                  <a:pt x="125269" y="67828"/>
                </a:cubicBezTo>
                <a:cubicBezTo>
                  <a:pt x="125269" y="54959"/>
                  <a:pt x="114822" y="44512"/>
                  <a:pt x="101953" y="44512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85241" y="1876562"/>
            <a:ext cx="6748840" cy="3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36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技术影响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8712" y="2629289"/>
            <a:ext cx="6929713" cy="1311332"/>
          </a:xfrm>
          <a:custGeom>
            <a:avLst/>
            <a:gdLst/>
            <a:ahLst/>
            <a:cxnLst/>
            <a:rect l="l" t="t" r="r" b="b"/>
            <a:pathLst>
              <a:path w="6929713" h="1311332">
                <a:moveTo>
                  <a:pt x="45218" y="0"/>
                </a:moveTo>
                <a:lnTo>
                  <a:pt x="6839271" y="0"/>
                </a:lnTo>
                <a:cubicBezTo>
                  <a:pt x="6889221" y="0"/>
                  <a:pt x="6929713" y="40493"/>
                  <a:pt x="6929713" y="90443"/>
                </a:cubicBezTo>
                <a:lnTo>
                  <a:pt x="6929713" y="1220890"/>
                </a:lnTo>
                <a:cubicBezTo>
                  <a:pt x="6929713" y="1270840"/>
                  <a:pt x="6889221" y="1311332"/>
                  <a:pt x="6839271" y="1311332"/>
                </a:cubicBezTo>
                <a:lnTo>
                  <a:pt x="45218" y="1311332"/>
                </a:lnTo>
                <a:cubicBezTo>
                  <a:pt x="20245" y="1311332"/>
                  <a:pt x="0" y="1291087"/>
                  <a:pt x="0" y="1266114"/>
                </a:cubicBezTo>
                <a:lnTo>
                  <a:pt x="0" y="45218"/>
                </a:lnTo>
                <a:cubicBezTo>
                  <a:pt x="0" y="20245"/>
                  <a:pt x="20245" y="0"/>
                  <a:pt x="4521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68712" y="2629289"/>
            <a:ext cx="45218" cy="1311332"/>
          </a:xfrm>
          <a:custGeom>
            <a:avLst/>
            <a:gdLst/>
            <a:ahLst/>
            <a:cxnLst/>
            <a:rect l="l" t="t" r="r" b="b"/>
            <a:pathLst>
              <a:path w="45218" h="1311332">
                <a:moveTo>
                  <a:pt x="45218" y="0"/>
                </a:moveTo>
                <a:lnTo>
                  <a:pt x="45218" y="0"/>
                </a:lnTo>
                <a:lnTo>
                  <a:pt x="45218" y="1311332"/>
                </a:lnTo>
                <a:lnTo>
                  <a:pt x="45218" y="1311332"/>
                </a:lnTo>
                <a:cubicBezTo>
                  <a:pt x="20245" y="1311332"/>
                  <a:pt x="0" y="1291087"/>
                  <a:pt x="0" y="1266114"/>
                </a:cubicBezTo>
                <a:lnTo>
                  <a:pt x="0" y="45218"/>
                </a:lnTo>
                <a:cubicBezTo>
                  <a:pt x="0" y="20245"/>
                  <a:pt x="20245" y="0"/>
                  <a:pt x="45218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986325" y="2855380"/>
            <a:ext cx="254353" cy="226092"/>
          </a:xfrm>
          <a:custGeom>
            <a:avLst/>
            <a:gdLst/>
            <a:ahLst/>
            <a:cxnLst/>
            <a:rect l="l" t="t" r="r" b="b"/>
            <a:pathLst>
              <a:path w="254353" h="226092">
                <a:moveTo>
                  <a:pt x="159324" y="530"/>
                </a:moveTo>
                <a:cubicBezTo>
                  <a:pt x="151817" y="-1634"/>
                  <a:pt x="144001" y="2738"/>
                  <a:pt x="141837" y="10245"/>
                </a:cubicBezTo>
                <a:lnTo>
                  <a:pt x="85314" y="208075"/>
                </a:lnTo>
                <a:cubicBezTo>
                  <a:pt x="83151" y="215582"/>
                  <a:pt x="87522" y="223398"/>
                  <a:pt x="95029" y="225562"/>
                </a:cubicBezTo>
                <a:cubicBezTo>
                  <a:pt x="102536" y="227726"/>
                  <a:pt x="110352" y="223354"/>
                  <a:pt x="112516" y="215847"/>
                </a:cubicBezTo>
                <a:lnTo>
                  <a:pt x="169039" y="18017"/>
                </a:lnTo>
                <a:cubicBezTo>
                  <a:pt x="171203" y="10510"/>
                  <a:pt x="166831" y="2694"/>
                  <a:pt x="159324" y="530"/>
                </a:cubicBezTo>
                <a:close/>
                <a:moveTo>
                  <a:pt x="187850" y="60630"/>
                </a:moveTo>
                <a:cubicBezTo>
                  <a:pt x="182331" y="66150"/>
                  <a:pt x="182331" y="75114"/>
                  <a:pt x="187850" y="80634"/>
                </a:cubicBezTo>
                <a:lnTo>
                  <a:pt x="220263" y="113046"/>
                </a:lnTo>
                <a:lnTo>
                  <a:pt x="187850" y="145458"/>
                </a:lnTo>
                <a:cubicBezTo>
                  <a:pt x="182331" y="150978"/>
                  <a:pt x="182331" y="159942"/>
                  <a:pt x="187850" y="165462"/>
                </a:cubicBezTo>
                <a:cubicBezTo>
                  <a:pt x="193370" y="170982"/>
                  <a:pt x="202334" y="170982"/>
                  <a:pt x="207854" y="165462"/>
                </a:cubicBezTo>
                <a:lnTo>
                  <a:pt x="250247" y="123070"/>
                </a:lnTo>
                <a:cubicBezTo>
                  <a:pt x="255766" y="117550"/>
                  <a:pt x="255766" y="108586"/>
                  <a:pt x="250247" y="103066"/>
                </a:cubicBezTo>
                <a:lnTo>
                  <a:pt x="207854" y="60674"/>
                </a:lnTo>
                <a:cubicBezTo>
                  <a:pt x="202334" y="55154"/>
                  <a:pt x="193370" y="55154"/>
                  <a:pt x="187850" y="60674"/>
                </a:cubicBezTo>
                <a:close/>
                <a:moveTo>
                  <a:pt x="66547" y="60630"/>
                </a:moveTo>
                <a:cubicBezTo>
                  <a:pt x="61027" y="55110"/>
                  <a:pt x="52063" y="55110"/>
                  <a:pt x="46543" y="60630"/>
                </a:cubicBezTo>
                <a:lnTo>
                  <a:pt x="4151" y="103022"/>
                </a:lnTo>
                <a:cubicBezTo>
                  <a:pt x="-1369" y="108542"/>
                  <a:pt x="-1369" y="117506"/>
                  <a:pt x="4151" y="123026"/>
                </a:cubicBezTo>
                <a:lnTo>
                  <a:pt x="46543" y="165418"/>
                </a:lnTo>
                <a:cubicBezTo>
                  <a:pt x="52063" y="170938"/>
                  <a:pt x="61027" y="170938"/>
                  <a:pt x="66547" y="165418"/>
                </a:cubicBezTo>
                <a:cubicBezTo>
                  <a:pt x="72067" y="159898"/>
                  <a:pt x="72067" y="150934"/>
                  <a:pt x="66547" y="145414"/>
                </a:cubicBezTo>
                <a:lnTo>
                  <a:pt x="34135" y="113046"/>
                </a:lnTo>
                <a:lnTo>
                  <a:pt x="66503" y="80634"/>
                </a:lnTo>
                <a:cubicBezTo>
                  <a:pt x="72023" y="75114"/>
                  <a:pt x="72023" y="66150"/>
                  <a:pt x="66503" y="6063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390465" y="2810162"/>
            <a:ext cx="915672" cy="31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2" dirty="0">
                <a:solidFill>
                  <a:srgbClr val="4DB3A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工程实现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72195" y="3217127"/>
            <a:ext cx="6635794" cy="542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4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展示了如何将 </a:t>
            </a:r>
            <a:r>
              <a:rPr lang="en-US" sz="1424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Paxos 共识算法</a:t>
            </a:r>
            <a:r>
              <a:rPr lang="en-US" sz="1424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应用于实际的大规模分布式系统，为业界提供了宝贵的工程实践经验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8712" y="4213527"/>
            <a:ext cx="6929713" cy="1311332"/>
          </a:xfrm>
          <a:custGeom>
            <a:avLst/>
            <a:gdLst/>
            <a:ahLst/>
            <a:cxnLst/>
            <a:rect l="l" t="t" r="r" b="b"/>
            <a:pathLst>
              <a:path w="6929713" h="1311332">
                <a:moveTo>
                  <a:pt x="45218" y="0"/>
                </a:moveTo>
                <a:lnTo>
                  <a:pt x="6839271" y="0"/>
                </a:lnTo>
                <a:cubicBezTo>
                  <a:pt x="6889221" y="0"/>
                  <a:pt x="6929713" y="40493"/>
                  <a:pt x="6929713" y="90443"/>
                </a:cubicBezTo>
                <a:lnTo>
                  <a:pt x="6929713" y="1220890"/>
                </a:lnTo>
                <a:cubicBezTo>
                  <a:pt x="6929713" y="1270840"/>
                  <a:pt x="6889221" y="1311332"/>
                  <a:pt x="6839271" y="1311332"/>
                </a:cubicBezTo>
                <a:lnTo>
                  <a:pt x="45218" y="1311332"/>
                </a:lnTo>
                <a:cubicBezTo>
                  <a:pt x="20245" y="1311332"/>
                  <a:pt x="0" y="1291087"/>
                  <a:pt x="0" y="1266114"/>
                </a:cubicBezTo>
                <a:lnTo>
                  <a:pt x="0" y="45218"/>
                </a:lnTo>
                <a:cubicBezTo>
                  <a:pt x="0" y="20245"/>
                  <a:pt x="20245" y="0"/>
                  <a:pt x="4521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768712" y="4213527"/>
            <a:ext cx="45218" cy="1311332"/>
          </a:xfrm>
          <a:custGeom>
            <a:avLst/>
            <a:gdLst/>
            <a:ahLst/>
            <a:cxnLst/>
            <a:rect l="l" t="t" r="r" b="b"/>
            <a:pathLst>
              <a:path w="45218" h="1311332">
                <a:moveTo>
                  <a:pt x="45218" y="0"/>
                </a:moveTo>
                <a:lnTo>
                  <a:pt x="45218" y="0"/>
                </a:lnTo>
                <a:lnTo>
                  <a:pt x="45218" y="1311332"/>
                </a:lnTo>
                <a:lnTo>
                  <a:pt x="45218" y="1311332"/>
                </a:lnTo>
                <a:cubicBezTo>
                  <a:pt x="20245" y="1311332"/>
                  <a:pt x="0" y="1291087"/>
                  <a:pt x="0" y="1266114"/>
                </a:cubicBezTo>
                <a:lnTo>
                  <a:pt x="0" y="45218"/>
                </a:lnTo>
                <a:cubicBezTo>
                  <a:pt x="0" y="20245"/>
                  <a:pt x="20245" y="0"/>
                  <a:pt x="45218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000456" y="4439618"/>
            <a:ext cx="226092" cy="226092"/>
          </a:xfrm>
          <a:custGeom>
            <a:avLst/>
            <a:gdLst/>
            <a:ahLst/>
            <a:cxnLst/>
            <a:rect l="l" t="t" r="r" b="b"/>
            <a:pathLst>
              <a:path w="226092" h="226092">
                <a:moveTo>
                  <a:pt x="43849" y="113090"/>
                </a:moveTo>
                <a:lnTo>
                  <a:pt x="74495" y="60144"/>
                </a:lnTo>
                <a:cubicBezTo>
                  <a:pt x="72023" y="54757"/>
                  <a:pt x="70610" y="48751"/>
                  <a:pt x="70610" y="42392"/>
                </a:cubicBezTo>
                <a:cubicBezTo>
                  <a:pt x="70610" y="18988"/>
                  <a:pt x="89598" y="0"/>
                  <a:pt x="113002" y="0"/>
                </a:cubicBezTo>
                <a:cubicBezTo>
                  <a:pt x="136406" y="0"/>
                  <a:pt x="155394" y="18988"/>
                  <a:pt x="155394" y="42392"/>
                </a:cubicBezTo>
                <a:cubicBezTo>
                  <a:pt x="155394" y="48707"/>
                  <a:pt x="154025" y="54712"/>
                  <a:pt x="151508" y="60144"/>
                </a:cubicBezTo>
                <a:lnTo>
                  <a:pt x="171114" y="94014"/>
                </a:lnTo>
                <a:cubicBezTo>
                  <a:pt x="160914" y="105495"/>
                  <a:pt x="147401" y="113929"/>
                  <a:pt x="132078" y="117771"/>
                </a:cubicBezTo>
                <a:lnTo>
                  <a:pt x="113046" y="84740"/>
                </a:lnTo>
                <a:lnTo>
                  <a:pt x="82974" y="136671"/>
                </a:lnTo>
                <a:cubicBezTo>
                  <a:pt x="92468" y="139674"/>
                  <a:pt x="102536" y="141307"/>
                  <a:pt x="113046" y="141307"/>
                </a:cubicBezTo>
                <a:cubicBezTo>
                  <a:pt x="144266" y="141307"/>
                  <a:pt x="172130" y="126868"/>
                  <a:pt x="190279" y="104214"/>
                </a:cubicBezTo>
                <a:cubicBezTo>
                  <a:pt x="195181" y="98120"/>
                  <a:pt x="204057" y="97149"/>
                  <a:pt x="210151" y="102006"/>
                </a:cubicBezTo>
                <a:cubicBezTo>
                  <a:pt x="216244" y="106864"/>
                  <a:pt x="217216" y="115784"/>
                  <a:pt x="212358" y="121878"/>
                </a:cubicBezTo>
                <a:cubicBezTo>
                  <a:pt x="189087" y="150934"/>
                  <a:pt x="153230" y="169569"/>
                  <a:pt x="113090" y="169569"/>
                </a:cubicBezTo>
                <a:cubicBezTo>
                  <a:pt x="97458" y="169569"/>
                  <a:pt x="82444" y="166743"/>
                  <a:pt x="68622" y="161576"/>
                </a:cubicBezTo>
                <a:lnTo>
                  <a:pt x="43584" y="204763"/>
                </a:lnTo>
                <a:cubicBezTo>
                  <a:pt x="41509" y="208340"/>
                  <a:pt x="38418" y="211255"/>
                  <a:pt x="34709" y="213109"/>
                </a:cubicBezTo>
                <a:lnTo>
                  <a:pt x="10245" y="225341"/>
                </a:lnTo>
                <a:cubicBezTo>
                  <a:pt x="8037" y="226445"/>
                  <a:pt x="5432" y="226313"/>
                  <a:pt x="3356" y="225032"/>
                </a:cubicBezTo>
                <a:cubicBezTo>
                  <a:pt x="1281" y="223751"/>
                  <a:pt x="0" y="221455"/>
                  <a:pt x="0" y="219026"/>
                </a:cubicBezTo>
                <a:lnTo>
                  <a:pt x="0" y="194563"/>
                </a:lnTo>
                <a:cubicBezTo>
                  <a:pt x="0" y="190853"/>
                  <a:pt x="971" y="187188"/>
                  <a:pt x="2870" y="183920"/>
                </a:cubicBezTo>
                <a:lnTo>
                  <a:pt x="29365" y="138128"/>
                </a:lnTo>
                <a:cubicBezTo>
                  <a:pt x="23713" y="133182"/>
                  <a:pt x="18502" y="127751"/>
                  <a:pt x="13777" y="121878"/>
                </a:cubicBezTo>
                <a:cubicBezTo>
                  <a:pt x="8876" y="115784"/>
                  <a:pt x="9892" y="106908"/>
                  <a:pt x="15985" y="102006"/>
                </a:cubicBezTo>
                <a:cubicBezTo>
                  <a:pt x="22079" y="97105"/>
                  <a:pt x="30955" y="98120"/>
                  <a:pt x="35857" y="104214"/>
                </a:cubicBezTo>
                <a:cubicBezTo>
                  <a:pt x="38374" y="107349"/>
                  <a:pt x="41067" y="110308"/>
                  <a:pt x="43894" y="113090"/>
                </a:cubicBezTo>
                <a:close/>
                <a:moveTo>
                  <a:pt x="168288" y="180123"/>
                </a:moveTo>
                <a:cubicBezTo>
                  <a:pt x="182640" y="174382"/>
                  <a:pt x="195843" y="166434"/>
                  <a:pt x="207545" y="156763"/>
                </a:cubicBezTo>
                <a:lnTo>
                  <a:pt x="223266" y="183920"/>
                </a:lnTo>
                <a:cubicBezTo>
                  <a:pt x="225120" y="187144"/>
                  <a:pt x="226136" y="190809"/>
                  <a:pt x="226136" y="194563"/>
                </a:cubicBezTo>
                <a:lnTo>
                  <a:pt x="226136" y="219026"/>
                </a:lnTo>
                <a:cubicBezTo>
                  <a:pt x="226136" y="221455"/>
                  <a:pt x="224855" y="223751"/>
                  <a:pt x="222780" y="225032"/>
                </a:cubicBezTo>
                <a:cubicBezTo>
                  <a:pt x="220704" y="226313"/>
                  <a:pt x="218099" y="226445"/>
                  <a:pt x="215891" y="225341"/>
                </a:cubicBezTo>
                <a:lnTo>
                  <a:pt x="191427" y="213109"/>
                </a:lnTo>
                <a:cubicBezTo>
                  <a:pt x="187718" y="211255"/>
                  <a:pt x="184627" y="208340"/>
                  <a:pt x="182551" y="204763"/>
                </a:cubicBezTo>
                <a:lnTo>
                  <a:pt x="168288" y="180123"/>
                </a:lnTo>
                <a:close/>
                <a:moveTo>
                  <a:pt x="113046" y="56523"/>
                </a:moveTo>
                <a:cubicBezTo>
                  <a:pt x="120845" y="56523"/>
                  <a:pt x="127177" y="50191"/>
                  <a:pt x="127177" y="42392"/>
                </a:cubicBezTo>
                <a:cubicBezTo>
                  <a:pt x="127177" y="34593"/>
                  <a:pt x="120845" y="28261"/>
                  <a:pt x="113046" y="28261"/>
                </a:cubicBezTo>
                <a:cubicBezTo>
                  <a:pt x="105247" y="28261"/>
                  <a:pt x="98915" y="34593"/>
                  <a:pt x="98915" y="42392"/>
                </a:cubicBezTo>
                <a:cubicBezTo>
                  <a:pt x="98915" y="50191"/>
                  <a:pt x="105247" y="56523"/>
                  <a:pt x="113046" y="56523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390465" y="4394400"/>
            <a:ext cx="915672" cy="31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2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设计经验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72195" y="4801365"/>
            <a:ext cx="6635794" cy="542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4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证明了在分布式协调服务中</a:t>
            </a:r>
            <a:r>
              <a:rPr lang="en-US" sz="1424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优先考虑可用性和易用性</a:t>
            </a:r>
            <a:r>
              <a:rPr lang="en-US" sz="1424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的价值，影响了后续系统设计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8712" y="5797764"/>
            <a:ext cx="6929713" cy="1040022"/>
          </a:xfrm>
          <a:custGeom>
            <a:avLst/>
            <a:gdLst/>
            <a:ahLst/>
            <a:cxnLst/>
            <a:rect l="l" t="t" r="r" b="b"/>
            <a:pathLst>
              <a:path w="6929713" h="1040022">
                <a:moveTo>
                  <a:pt x="45218" y="0"/>
                </a:moveTo>
                <a:lnTo>
                  <a:pt x="6839273" y="0"/>
                </a:lnTo>
                <a:cubicBezTo>
                  <a:pt x="6889222" y="0"/>
                  <a:pt x="6929713" y="40492"/>
                  <a:pt x="6929713" y="90440"/>
                </a:cubicBezTo>
                <a:lnTo>
                  <a:pt x="6929713" y="949582"/>
                </a:lnTo>
                <a:cubicBezTo>
                  <a:pt x="6929713" y="999531"/>
                  <a:pt x="6889222" y="1040022"/>
                  <a:pt x="6839273" y="1040022"/>
                </a:cubicBezTo>
                <a:lnTo>
                  <a:pt x="45218" y="1040022"/>
                </a:lnTo>
                <a:cubicBezTo>
                  <a:pt x="20245" y="1040022"/>
                  <a:pt x="0" y="1019777"/>
                  <a:pt x="0" y="994804"/>
                </a:cubicBezTo>
                <a:lnTo>
                  <a:pt x="0" y="45218"/>
                </a:lnTo>
                <a:cubicBezTo>
                  <a:pt x="0" y="20245"/>
                  <a:pt x="20245" y="0"/>
                  <a:pt x="4521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768712" y="5797764"/>
            <a:ext cx="45218" cy="1040022"/>
          </a:xfrm>
          <a:custGeom>
            <a:avLst/>
            <a:gdLst/>
            <a:ahLst/>
            <a:cxnLst/>
            <a:rect l="l" t="t" r="r" b="b"/>
            <a:pathLst>
              <a:path w="45218" h="1040022">
                <a:moveTo>
                  <a:pt x="45218" y="0"/>
                </a:moveTo>
                <a:lnTo>
                  <a:pt x="45218" y="0"/>
                </a:lnTo>
                <a:lnTo>
                  <a:pt x="45218" y="1040022"/>
                </a:lnTo>
                <a:lnTo>
                  <a:pt x="45218" y="1040022"/>
                </a:lnTo>
                <a:cubicBezTo>
                  <a:pt x="20245" y="1040022"/>
                  <a:pt x="0" y="1019777"/>
                  <a:pt x="0" y="994804"/>
                </a:cubicBezTo>
                <a:lnTo>
                  <a:pt x="0" y="45218"/>
                </a:lnTo>
                <a:cubicBezTo>
                  <a:pt x="0" y="20245"/>
                  <a:pt x="20245" y="0"/>
                  <a:pt x="45218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1014587" y="6023856"/>
            <a:ext cx="197830" cy="226092"/>
          </a:xfrm>
          <a:custGeom>
            <a:avLst/>
            <a:gdLst/>
            <a:ahLst/>
            <a:cxnLst/>
            <a:rect l="l" t="t" r="r" b="b"/>
            <a:pathLst>
              <a:path w="197830" h="226092">
                <a:moveTo>
                  <a:pt x="169569" y="226092"/>
                </a:moveTo>
                <a:lnTo>
                  <a:pt x="42392" y="226092"/>
                </a:lnTo>
                <a:cubicBezTo>
                  <a:pt x="18988" y="226092"/>
                  <a:pt x="0" y="207104"/>
                  <a:pt x="0" y="183700"/>
                </a:cubicBezTo>
                <a:lnTo>
                  <a:pt x="0" y="42392"/>
                </a:lnTo>
                <a:cubicBezTo>
                  <a:pt x="0" y="18988"/>
                  <a:pt x="18988" y="0"/>
                  <a:pt x="42392" y="0"/>
                </a:cubicBezTo>
                <a:lnTo>
                  <a:pt x="176634" y="0"/>
                </a:lnTo>
                <a:cubicBezTo>
                  <a:pt x="188336" y="0"/>
                  <a:pt x="197830" y="9494"/>
                  <a:pt x="197830" y="21196"/>
                </a:cubicBezTo>
                <a:lnTo>
                  <a:pt x="197830" y="148373"/>
                </a:lnTo>
                <a:cubicBezTo>
                  <a:pt x="197830" y="157602"/>
                  <a:pt x="191913" y="165462"/>
                  <a:pt x="183700" y="168377"/>
                </a:cubicBezTo>
                <a:lnTo>
                  <a:pt x="183700" y="197830"/>
                </a:lnTo>
                <a:cubicBezTo>
                  <a:pt x="191516" y="197830"/>
                  <a:pt x="197830" y="204145"/>
                  <a:pt x="197830" y="211961"/>
                </a:cubicBezTo>
                <a:cubicBezTo>
                  <a:pt x="197830" y="219777"/>
                  <a:pt x="191516" y="226092"/>
                  <a:pt x="183700" y="226092"/>
                </a:cubicBezTo>
                <a:lnTo>
                  <a:pt x="169569" y="226092"/>
                </a:lnTo>
                <a:close/>
                <a:moveTo>
                  <a:pt x="42392" y="169569"/>
                </a:moveTo>
                <a:cubicBezTo>
                  <a:pt x="34576" y="169569"/>
                  <a:pt x="28261" y="175884"/>
                  <a:pt x="28261" y="183700"/>
                </a:cubicBezTo>
                <a:cubicBezTo>
                  <a:pt x="28261" y="191516"/>
                  <a:pt x="34576" y="197830"/>
                  <a:pt x="42392" y="197830"/>
                </a:cubicBezTo>
                <a:lnTo>
                  <a:pt x="155438" y="197830"/>
                </a:lnTo>
                <a:lnTo>
                  <a:pt x="155438" y="169569"/>
                </a:lnTo>
                <a:lnTo>
                  <a:pt x="42392" y="169569"/>
                </a:lnTo>
                <a:close/>
                <a:moveTo>
                  <a:pt x="56523" y="67121"/>
                </a:moveTo>
                <a:cubicBezTo>
                  <a:pt x="56523" y="72994"/>
                  <a:pt x="61248" y="77719"/>
                  <a:pt x="67121" y="77719"/>
                </a:cubicBezTo>
                <a:lnTo>
                  <a:pt x="144840" y="77719"/>
                </a:lnTo>
                <a:cubicBezTo>
                  <a:pt x="150713" y="77719"/>
                  <a:pt x="155438" y="72994"/>
                  <a:pt x="155438" y="67121"/>
                </a:cubicBezTo>
                <a:cubicBezTo>
                  <a:pt x="155438" y="61248"/>
                  <a:pt x="150713" y="56523"/>
                  <a:pt x="144840" y="56523"/>
                </a:cubicBezTo>
                <a:lnTo>
                  <a:pt x="67121" y="56523"/>
                </a:lnTo>
                <a:cubicBezTo>
                  <a:pt x="61248" y="56523"/>
                  <a:pt x="56523" y="61248"/>
                  <a:pt x="56523" y="67121"/>
                </a:cubicBezTo>
                <a:close/>
                <a:moveTo>
                  <a:pt x="67121" y="98915"/>
                </a:moveTo>
                <a:cubicBezTo>
                  <a:pt x="61248" y="98915"/>
                  <a:pt x="56523" y="103640"/>
                  <a:pt x="56523" y="109513"/>
                </a:cubicBezTo>
                <a:cubicBezTo>
                  <a:pt x="56523" y="115386"/>
                  <a:pt x="61248" y="120111"/>
                  <a:pt x="67121" y="120111"/>
                </a:cubicBezTo>
                <a:lnTo>
                  <a:pt x="144840" y="120111"/>
                </a:lnTo>
                <a:cubicBezTo>
                  <a:pt x="150713" y="120111"/>
                  <a:pt x="155438" y="115386"/>
                  <a:pt x="155438" y="109513"/>
                </a:cubicBezTo>
                <a:cubicBezTo>
                  <a:pt x="155438" y="103640"/>
                  <a:pt x="150713" y="98915"/>
                  <a:pt x="144840" y="98915"/>
                </a:cubicBezTo>
                <a:lnTo>
                  <a:pt x="67121" y="98915"/>
                </a:ln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390465" y="5978638"/>
            <a:ext cx="915672" cy="31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2" dirty="0">
                <a:solidFill>
                  <a:srgbClr val="5A7D9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实践经验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72195" y="6385603"/>
            <a:ext cx="6635794" cy="271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4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提供了大规模部署分布式锁服务的宝贵经验，包括性能优化、故障处理等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76196" y="1593947"/>
            <a:ext cx="7517552" cy="5628273"/>
          </a:xfrm>
          <a:custGeom>
            <a:avLst/>
            <a:gdLst/>
            <a:ahLst/>
            <a:cxnLst/>
            <a:rect l="l" t="t" r="r" b="b"/>
            <a:pathLst>
              <a:path w="7517552" h="6172306">
                <a:moveTo>
                  <a:pt x="135667" y="0"/>
                </a:moveTo>
                <a:lnTo>
                  <a:pt x="7381885" y="0"/>
                </a:lnTo>
                <a:cubicBezTo>
                  <a:pt x="7456812" y="0"/>
                  <a:pt x="7517552" y="60740"/>
                  <a:pt x="7517552" y="135667"/>
                </a:cubicBezTo>
                <a:lnTo>
                  <a:pt x="7517552" y="6036639"/>
                </a:lnTo>
                <a:cubicBezTo>
                  <a:pt x="7517552" y="6111566"/>
                  <a:pt x="7456812" y="6172306"/>
                  <a:pt x="7381885" y="6172306"/>
                </a:cubicBezTo>
                <a:lnTo>
                  <a:pt x="135667" y="6172306"/>
                </a:lnTo>
                <a:cubicBezTo>
                  <a:pt x="60740" y="6172306"/>
                  <a:pt x="0" y="6111566"/>
                  <a:pt x="0" y="6036639"/>
                </a:cubicBezTo>
                <a:lnTo>
                  <a:pt x="0" y="135667"/>
                </a:lnTo>
                <a:cubicBezTo>
                  <a:pt x="0" y="60790"/>
                  <a:pt x="60790" y="0"/>
                  <a:pt x="135667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3A2">
                  <a:alpha val="30000"/>
                </a:srgbClr>
              </a:gs>
              <a:gs pos="100000">
                <a:srgbClr val="4DB3A2">
                  <a:alpha val="10000"/>
                </a:srgbClr>
              </a:gs>
            </a:gsLst>
            <a:lin ang="2700000" scaled="1"/>
          </a:gradFill>
          <a:ln w="25400">
            <a:solidFill>
              <a:srgbClr val="4DB3A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592725" y="1921780"/>
            <a:ext cx="271310" cy="271310"/>
          </a:xfrm>
          <a:custGeom>
            <a:avLst/>
            <a:gdLst/>
            <a:ahLst/>
            <a:cxnLst/>
            <a:rect l="l" t="t" r="r" b="b"/>
            <a:pathLst>
              <a:path w="271310" h="271310">
                <a:moveTo>
                  <a:pt x="16957" y="16957"/>
                </a:moveTo>
                <a:cubicBezTo>
                  <a:pt x="7578" y="16957"/>
                  <a:pt x="0" y="24534"/>
                  <a:pt x="0" y="33914"/>
                </a:cubicBezTo>
                <a:lnTo>
                  <a:pt x="0" y="228918"/>
                </a:lnTo>
                <a:cubicBezTo>
                  <a:pt x="0" y="242960"/>
                  <a:pt x="11393" y="254353"/>
                  <a:pt x="25435" y="254353"/>
                </a:cubicBezTo>
                <a:lnTo>
                  <a:pt x="245875" y="254353"/>
                </a:lnTo>
                <a:cubicBezTo>
                  <a:pt x="259917" y="254353"/>
                  <a:pt x="271310" y="242960"/>
                  <a:pt x="271310" y="228918"/>
                </a:cubicBezTo>
                <a:lnTo>
                  <a:pt x="271310" y="80651"/>
                </a:lnTo>
                <a:cubicBezTo>
                  <a:pt x="271310" y="71007"/>
                  <a:pt x="261030" y="64913"/>
                  <a:pt x="252552" y="69470"/>
                </a:cubicBezTo>
                <a:lnTo>
                  <a:pt x="169569" y="114141"/>
                </a:lnTo>
                <a:lnTo>
                  <a:pt x="169569" y="80651"/>
                </a:lnTo>
                <a:cubicBezTo>
                  <a:pt x="169569" y="71007"/>
                  <a:pt x="159289" y="64913"/>
                  <a:pt x="150810" y="69470"/>
                </a:cubicBezTo>
                <a:lnTo>
                  <a:pt x="67828" y="114141"/>
                </a:lnTo>
                <a:lnTo>
                  <a:pt x="67828" y="33914"/>
                </a:lnTo>
                <a:cubicBezTo>
                  <a:pt x="67828" y="24534"/>
                  <a:pt x="60250" y="16957"/>
                  <a:pt x="50871" y="16957"/>
                </a:cubicBezTo>
                <a:lnTo>
                  <a:pt x="16957" y="16957"/>
                </a:ln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897949" y="1876562"/>
            <a:ext cx="6748840" cy="361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36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产业影响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58811" y="2281521"/>
            <a:ext cx="7054064" cy="31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2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Chubby 的设计理念影响了后续的分布式协调系统：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564463" y="2892940"/>
            <a:ext cx="6941018" cy="1186982"/>
          </a:xfrm>
          <a:custGeom>
            <a:avLst/>
            <a:gdLst/>
            <a:ahLst/>
            <a:cxnLst/>
            <a:rect l="l" t="t" r="r" b="b"/>
            <a:pathLst>
              <a:path w="6941018" h="1186982">
                <a:moveTo>
                  <a:pt x="90436" y="0"/>
                </a:moveTo>
                <a:lnTo>
                  <a:pt x="6850582" y="0"/>
                </a:lnTo>
                <a:cubicBezTo>
                  <a:pt x="6900528" y="0"/>
                  <a:pt x="6941018" y="40490"/>
                  <a:pt x="6941018" y="90436"/>
                </a:cubicBezTo>
                <a:lnTo>
                  <a:pt x="6941018" y="1096546"/>
                </a:lnTo>
                <a:cubicBezTo>
                  <a:pt x="6941018" y="1146492"/>
                  <a:pt x="6900528" y="1186982"/>
                  <a:pt x="6850582" y="1186982"/>
                </a:cubicBezTo>
                <a:lnTo>
                  <a:pt x="90436" y="1186982"/>
                </a:lnTo>
                <a:cubicBezTo>
                  <a:pt x="40490" y="1186982"/>
                  <a:pt x="0" y="1146492"/>
                  <a:pt x="0" y="1096546"/>
                </a:cubicBezTo>
                <a:lnTo>
                  <a:pt x="0" y="90436"/>
                </a:lnTo>
                <a:cubicBezTo>
                  <a:pt x="0" y="40523"/>
                  <a:pt x="40523" y="0"/>
                  <a:pt x="90436" y="0"/>
                </a:cubicBezTo>
                <a:close/>
              </a:path>
            </a:pathLst>
          </a:custGeom>
          <a:solidFill>
            <a:srgbClr val="5A7D9A">
              <a:alpha val="20000"/>
            </a:srgbClr>
          </a:solidFill>
          <a:ln w="12700">
            <a:solidFill>
              <a:srgbClr val="5A7D9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750989" y="3079466"/>
            <a:ext cx="452184" cy="452184"/>
          </a:xfrm>
          <a:custGeom>
            <a:avLst/>
            <a:gdLst/>
            <a:ahLst/>
            <a:cxnLst/>
            <a:rect l="l" t="t" r="r" b="b"/>
            <a:pathLst>
              <a:path w="452184" h="452184">
                <a:moveTo>
                  <a:pt x="90437" y="0"/>
                </a:moveTo>
                <a:lnTo>
                  <a:pt x="361747" y="0"/>
                </a:lnTo>
                <a:cubicBezTo>
                  <a:pt x="411694" y="0"/>
                  <a:pt x="452184" y="40490"/>
                  <a:pt x="452184" y="90437"/>
                </a:cubicBezTo>
                <a:lnTo>
                  <a:pt x="452184" y="361747"/>
                </a:lnTo>
                <a:cubicBezTo>
                  <a:pt x="452184" y="411694"/>
                  <a:pt x="411694" y="452184"/>
                  <a:pt x="361747" y="452184"/>
                </a:cubicBezTo>
                <a:lnTo>
                  <a:pt x="90437" y="452184"/>
                </a:lnTo>
                <a:cubicBezTo>
                  <a:pt x="40490" y="452184"/>
                  <a:pt x="0" y="411694"/>
                  <a:pt x="0" y="361747"/>
                </a:cubicBezTo>
                <a:lnTo>
                  <a:pt x="0" y="90437"/>
                </a:lnTo>
                <a:cubicBezTo>
                  <a:pt x="0" y="40490"/>
                  <a:pt x="40490" y="0"/>
                  <a:pt x="90437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878166" y="3203816"/>
            <a:ext cx="203483" cy="203483"/>
          </a:xfrm>
          <a:custGeom>
            <a:avLst/>
            <a:gdLst/>
            <a:ahLst/>
            <a:cxnLst/>
            <a:rect l="l" t="t" r="r" b="b"/>
            <a:pathLst>
              <a:path w="203483" h="203483">
                <a:moveTo>
                  <a:pt x="187307" y="2663"/>
                </a:moveTo>
                <a:cubicBezTo>
                  <a:pt x="189851" y="238"/>
                  <a:pt x="193547" y="-636"/>
                  <a:pt x="196965" y="477"/>
                </a:cubicBezTo>
                <a:cubicBezTo>
                  <a:pt x="200860" y="1788"/>
                  <a:pt x="203483" y="5445"/>
                  <a:pt x="203483" y="9538"/>
                </a:cubicBezTo>
                <a:lnTo>
                  <a:pt x="203483" y="83817"/>
                </a:lnTo>
                <a:cubicBezTo>
                  <a:pt x="203483" y="135960"/>
                  <a:pt x="160521" y="178047"/>
                  <a:pt x="108577" y="178047"/>
                </a:cubicBezTo>
                <a:cubicBezTo>
                  <a:pt x="77975" y="178047"/>
                  <a:pt x="51586" y="158375"/>
                  <a:pt x="42008" y="130873"/>
                </a:cubicBezTo>
                <a:cubicBezTo>
                  <a:pt x="27939" y="143113"/>
                  <a:pt x="19076" y="161117"/>
                  <a:pt x="19076" y="181227"/>
                </a:cubicBezTo>
                <a:cubicBezTo>
                  <a:pt x="19076" y="186512"/>
                  <a:pt x="14824" y="190765"/>
                  <a:pt x="9538" y="190765"/>
                </a:cubicBezTo>
                <a:cubicBezTo>
                  <a:pt x="4252" y="190765"/>
                  <a:pt x="0" y="186512"/>
                  <a:pt x="0" y="181227"/>
                </a:cubicBezTo>
                <a:cubicBezTo>
                  <a:pt x="0" y="151459"/>
                  <a:pt x="15182" y="125229"/>
                  <a:pt x="38193" y="109809"/>
                </a:cubicBezTo>
                <a:cubicBezTo>
                  <a:pt x="52222" y="100430"/>
                  <a:pt x="68954" y="95382"/>
                  <a:pt x="85844" y="95382"/>
                </a:cubicBezTo>
                <a:lnTo>
                  <a:pt x="117638" y="95382"/>
                </a:lnTo>
                <a:cubicBezTo>
                  <a:pt x="122924" y="95382"/>
                  <a:pt x="127177" y="91130"/>
                  <a:pt x="127177" y="85844"/>
                </a:cubicBezTo>
                <a:cubicBezTo>
                  <a:pt x="127177" y="80558"/>
                  <a:pt x="122924" y="76306"/>
                  <a:pt x="117638" y="76306"/>
                </a:cubicBezTo>
                <a:lnTo>
                  <a:pt x="85844" y="76306"/>
                </a:lnTo>
                <a:cubicBezTo>
                  <a:pt x="70066" y="76306"/>
                  <a:pt x="55123" y="79803"/>
                  <a:pt x="41730" y="86043"/>
                </a:cubicBezTo>
                <a:cubicBezTo>
                  <a:pt x="50990" y="58223"/>
                  <a:pt x="77180" y="38153"/>
                  <a:pt x="108100" y="38153"/>
                </a:cubicBezTo>
                <a:cubicBezTo>
                  <a:pt x="134489" y="38153"/>
                  <a:pt x="154122" y="29370"/>
                  <a:pt x="167198" y="20666"/>
                </a:cubicBezTo>
                <a:cubicBezTo>
                  <a:pt x="174828" y="15579"/>
                  <a:pt x="181306" y="9499"/>
                  <a:pt x="187347" y="2663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9338828" y="3147293"/>
            <a:ext cx="2012217" cy="31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2" dirty="0">
                <a:solidFill>
                  <a:srgbClr val="5A7D9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Apache ZooKeeper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50989" y="3622086"/>
            <a:ext cx="6658403" cy="271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4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直接受到 Chubby 启发的开源实现，成为分布式协调领域的事实标准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64463" y="4279020"/>
            <a:ext cx="6941018" cy="1186982"/>
          </a:xfrm>
          <a:custGeom>
            <a:avLst/>
            <a:gdLst/>
            <a:ahLst/>
            <a:cxnLst/>
            <a:rect l="l" t="t" r="r" b="b"/>
            <a:pathLst>
              <a:path w="6941018" h="1186982">
                <a:moveTo>
                  <a:pt x="90436" y="0"/>
                </a:moveTo>
                <a:lnTo>
                  <a:pt x="6850582" y="0"/>
                </a:lnTo>
                <a:cubicBezTo>
                  <a:pt x="6900528" y="0"/>
                  <a:pt x="6941018" y="40490"/>
                  <a:pt x="6941018" y="90436"/>
                </a:cubicBezTo>
                <a:lnTo>
                  <a:pt x="6941018" y="1096546"/>
                </a:lnTo>
                <a:cubicBezTo>
                  <a:pt x="6941018" y="1146492"/>
                  <a:pt x="6900528" y="1186982"/>
                  <a:pt x="6850582" y="1186982"/>
                </a:cubicBezTo>
                <a:lnTo>
                  <a:pt x="90436" y="1186982"/>
                </a:lnTo>
                <a:cubicBezTo>
                  <a:pt x="40490" y="1186982"/>
                  <a:pt x="0" y="1146492"/>
                  <a:pt x="0" y="1096546"/>
                </a:cubicBezTo>
                <a:lnTo>
                  <a:pt x="0" y="90436"/>
                </a:lnTo>
                <a:cubicBezTo>
                  <a:pt x="0" y="40523"/>
                  <a:pt x="40523" y="0"/>
                  <a:pt x="90436" y="0"/>
                </a:cubicBezTo>
                <a:close/>
              </a:path>
            </a:pathLst>
          </a:custGeom>
          <a:solidFill>
            <a:srgbClr val="4DB3A2">
              <a:alpha val="20000"/>
            </a:srgbClr>
          </a:solidFill>
          <a:ln w="12700">
            <a:solidFill>
              <a:srgbClr val="4DB3A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750989" y="4465545"/>
            <a:ext cx="452184" cy="452184"/>
          </a:xfrm>
          <a:custGeom>
            <a:avLst/>
            <a:gdLst/>
            <a:ahLst/>
            <a:cxnLst/>
            <a:rect l="l" t="t" r="r" b="b"/>
            <a:pathLst>
              <a:path w="452184" h="452184">
                <a:moveTo>
                  <a:pt x="90437" y="0"/>
                </a:moveTo>
                <a:lnTo>
                  <a:pt x="361747" y="0"/>
                </a:lnTo>
                <a:cubicBezTo>
                  <a:pt x="411694" y="0"/>
                  <a:pt x="452184" y="40490"/>
                  <a:pt x="452184" y="90437"/>
                </a:cubicBezTo>
                <a:lnTo>
                  <a:pt x="452184" y="361747"/>
                </a:lnTo>
                <a:cubicBezTo>
                  <a:pt x="452184" y="411694"/>
                  <a:pt x="411694" y="452184"/>
                  <a:pt x="361747" y="452184"/>
                </a:cubicBezTo>
                <a:lnTo>
                  <a:pt x="90437" y="452184"/>
                </a:lnTo>
                <a:cubicBezTo>
                  <a:pt x="40490" y="452184"/>
                  <a:pt x="0" y="411694"/>
                  <a:pt x="0" y="361747"/>
                </a:cubicBezTo>
                <a:lnTo>
                  <a:pt x="0" y="90437"/>
                </a:lnTo>
                <a:cubicBezTo>
                  <a:pt x="0" y="40490"/>
                  <a:pt x="40490" y="0"/>
                  <a:pt x="90437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878166" y="4589896"/>
            <a:ext cx="203483" cy="203483"/>
          </a:xfrm>
          <a:custGeom>
            <a:avLst/>
            <a:gdLst/>
            <a:ahLst/>
            <a:cxnLst/>
            <a:rect l="l" t="t" r="r" b="b"/>
            <a:pathLst>
              <a:path w="203483" h="203483">
                <a:moveTo>
                  <a:pt x="89143" y="-994"/>
                </a:moveTo>
                <a:cubicBezTo>
                  <a:pt x="97012" y="-5524"/>
                  <a:pt x="106709" y="-5524"/>
                  <a:pt x="114578" y="-994"/>
                </a:cubicBezTo>
                <a:lnTo>
                  <a:pt x="184486" y="39345"/>
                </a:lnTo>
                <a:cubicBezTo>
                  <a:pt x="192355" y="43876"/>
                  <a:pt x="197203" y="52301"/>
                  <a:pt x="197203" y="61363"/>
                </a:cubicBezTo>
                <a:lnTo>
                  <a:pt x="197203" y="142040"/>
                </a:lnTo>
                <a:cubicBezTo>
                  <a:pt x="197203" y="151141"/>
                  <a:pt x="192355" y="159527"/>
                  <a:pt x="184486" y="164058"/>
                </a:cubicBezTo>
                <a:lnTo>
                  <a:pt x="114578" y="204476"/>
                </a:lnTo>
                <a:cubicBezTo>
                  <a:pt x="106709" y="209007"/>
                  <a:pt x="97012" y="209007"/>
                  <a:pt x="89143" y="204476"/>
                </a:cubicBezTo>
                <a:lnTo>
                  <a:pt x="19275" y="164137"/>
                </a:lnTo>
                <a:cubicBezTo>
                  <a:pt x="11406" y="159607"/>
                  <a:pt x="6558" y="151181"/>
                  <a:pt x="6558" y="142120"/>
                </a:cubicBezTo>
                <a:lnTo>
                  <a:pt x="6558" y="61442"/>
                </a:lnTo>
                <a:cubicBezTo>
                  <a:pt x="6558" y="52341"/>
                  <a:pt x="11406" y="43955"/>
                  <a:pt x="19275" y="39425"/>
                </a:cubicBezTo>
                <a:lnTo>
                  <a:pt x="89143" y="-994"/>
                </a:lnTo>
                <a:close/>
                <a:moveTo>
                  <a:pt x="171728" y="142080"/>
                </a:moveTo>
                <a:lnTo>
                  <a:pt x="171728" y="76068"/>
                </a:lnTo>
                <a:lnTo>
                  <a:pt x="114578" y="109054"/>
                </a:lnTo>
                <a:lnTo>
                  <a:pt x="114578" y="175067"/>
                </a:lnTo>
                <a:lnTo>
                  <a:pt x="171728" y="142080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9338828" y="4533373"/>
            <a:ext cx="531316" cy="31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2" dirty="0">
                <a:solidFill>
                  <a:srgbClr val="4DB3A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etcd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750989" y="5008166"/>
            <a:ext cx="6658403" cy="271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4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Kubernetes 生态系统中的分布式键值存储，继承了 Chubby 的设计思想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64463" y="5719963"/>
            <a:ext cx="6941018" cy="1186982"/>
          </a:xfrm>
          <a:custGeom>
            <a:avLst/>
            <a:gdLst/>
            <a:ahLst/>
            <a:cxnLst/>
            <a:rect l="l" t="t" r="r" b="b"/>
            <a:pathLst>
              <a:path w="6941018" h="1186982">
                <a:moveTo>
                  <a:pt x="90436" y="0"/>
                </a:moveTo>
                <a:lnTo>
                  <a:pt x="6850582" y="0"/>
                </a:lnTo>
                <a:cubicBezTo>
                  <a:pt x="6900528" y="0"/>
                  <a:pt x="6941018" y="40490"/>
                  <a:pt x="6941018" y="90436"/>
                </a:cubicBezTo>
                <a:lnTo>
                  <a:pt x="6941018" y="1096546"/>
                </a:lnTo>
                <a:cubicBezTo>
                  <a:pt x="6941018" y="1146492"/>
                  <a:pt x="6900528" y="1186982"/>
                  <a:pt x="6850582" y="1186982"/>
                </a:cubicBezTo>
                <a:lnTo>
                  <a:pt x="90436" y="1186982"/>
                </a:lnTo>
                <a:cubicBezTo>
                  <a:pt x="40490" y="1186982"/>
                  <a:pt x="0" y="1146492"/>
                  <a:pt x="0" y="1096546"/>
                </a:cubicBezTo>
                <a:lnTo>
                  <a:pt x="0" y="90436"/>
                </a:lnTo>
                <a:cubicBezTo>
                  <a:pt x="0" y="40523"/>
                  <a:pt x="40523" y="0"/>
                  <a:pt x="90436" y="0"/>
                </a:cubicBezTo>
                <a:close/>
              </a:path>
            </a:pathLst>
          </a:custGeom>
          <a:solidFill>
            <a:srgbClr val="E1AF63">
              <a:alpha val="20000"/>
            </a:srgbClr>
          </a:solidFill>
          <a:ln w="12700">
            <a:solidFill>
              <a:srgbClr val="E1AF6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750989" y="5906489"/>
            <a:ext cx="452184" cy="452184"/>
          </a:xfrm>
          <a:custGeom>
            <a:avLst/>
            <a:gdLst/>
            <a:ahLst/>
            <a:cxnLst/>
            <a:rect l="l" t="t" r="r" b="b"/>
            <a:pathLst>
              <a:path w="452184" h="452184">
                <a:moveTo>
                  <a:pt x="90437" y="0"/>
                </a:moveTo>
                <a:lnTo>
                  <a:pt x="361747" y="0"/>
                </a:lnTo>
                <a:cubicBezTo>
                  <a:pt x="411694" y="0"/>
                  <a:pt x="452184" y="40490"/>
                  <a:pt x="452184" y="90437"/>
                </a:cubicBezTo>
                <a:lnTo>
                  <a:pt x="452184" y="361747"/>
                </a:lnTo>
                <a:cubicBezTo>
                  <a:pt x="452184" y="411694"/>
                  <a:pt x="411694" y="452184"/>
                  <a:pt x="361747" y="452184"/>
                </a:cubicBezTo>
                <a:lnTo>
                  <a:pt x="90437" y="452184"/>
                </a:lnTo>
                <a:cubicBezTo>
                  <a:pt x="40490" y="452184"/>
                  <a:pt x="0" y="411694"/>
                  <a:pt x="0" y="361747"/>
                </a:cubicBezTo>
                <a:lnTo>
                  <a:pt x="0" y="90437"/>
                </a:lnTo>
                <a:cubicBezTo>
                  <a:pt x="0" y="40490"/>
                  <a:pt x="40490" y="0"/>
                  <a:pt x="90437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878166" y="6030840"/>
            <a:ext cx="203483" cy="203483"/>
          </a:xfrm>
          <a:custGeom>
            <a:avLst/>
            <a:gdLst/>
            <a:ahLst/>
            <a:cxnLst/>
            <a:rect l="l" t="t" r="r" b="b"/>
            <a:pathLst>
              <a:path w="203483" h="203483">
                <a:moveTo>
                  <a:pt x="76306" y="25435"/>
                </a:moveTo>
                <a:cubicBezTo>
                  <a:pt x="76306" y="18401"/>
                  <a:pt x="81989" y="12718"/>
                  <a:pt x="89024" y="12718"/>
                </a:cubicBezTo>
                <a:lnTo>
                  <a:pt x="114459" y="12718"/>
                </a:lnTo>
                <a:cubicBezTo>
                  <a:pt x="121493" y="12718"/>
                  <a:pt x="127177" y="18401"/>
                  <a:pt x="127177" y="25435"/>
                </a:cubicBezTo>
                <a:lnTo>
                  <a:pt x="127177" y="50871"/>
                </a:lnTo>
                <a:cubicBezTo>
                  <a:pt x="127177" y="57905"/>
                  <a:pt x="121493" y="63588"/>
                  <a:pt x="114459" y="63588"/>
                </a:cubicBezTo>
                <a:lnTo>
                  <a:pt x="111280" y="63588"/>
                </a:lnTo>
                <a:lnTo>
                  <a:pt x="111280" y="89024"/>
                </a:lnTo>
                <a:lnTo>
                  <a:pt x="158971" y="89024"/>
                </a:lnTo>
                <a:cubicBezTo>
                  <a:pt x="174788" y="89024"/>
                  <a:pt x="187586" y="101821"/>
                  <a:pt x="187586" y="117638"/>
                </a:cubicBezTo>
                <a:lnTo>
                  <a:pt x="187586" y="139894"/>
                </a:lnTo>
                <a:lnTo>
                  <a:pt x="190765" y="139894"/>
                </a:lnTo>
                <a:cubicBezTo>
                  <a:pt x="197799" y="139894"/>
                  <a:pt x="203483" y="145578"/>
                  <a:pt x="203483" y="152612"/>
                </a:cubicBezTo>
                <a:lnTo>
                  <a:pt x="203483" y="178047"/>
                </a:lnTo>
                <a:cubicBezTo>
                  <a:pt x="203483" y="185082"/>
                  <a:pt x="197799" y="190765"/>
                  <a:pt x="190765" y="190765"/>
                </a:cubicBezTo>
                <a:lnTo>
                  <a:pt x="165330" y="190765"/>
                </a:lnTo>
                <a:cubicBezTo>
                  <a:pt x="158295" y="190765"/>
                  <a:pt x="152612" y="185082"/>
                  <a:pt x="152612" y="178047"/>
                </a:cubicBezTo>
                <a:lnTo>
                  <a:pt x="152612" y="152612"/>
                </a:lnTo>
                <a:cubicBezTo>
                  <a:pt x="152612" y="145578"/>
                  <a:pt x="158295" y="139894"/>
                  <a:pt x="165330" y="139894"/>
                </a:cubicBezTo>
                <a:lnTo>
                  <a:pt x="168509" y="139894"/>
                </a:lnTo>
                <a:lnTo>
                  <a:pt x="168509" y="117638"/>
                </a:lnTo>
                <a:cubicBezTo>
                  <a:pt x="168509" y="112353"/>
                  <a:pt x="164257" y="108100"/>
                  <a:pt x="158971" y="108100"/>
                </a:cubicBezTo>
                <a:lnTo>
                  <a:pt x="111280" y="108100"/>
                </a:lnTo>
                <a:lnTo>
                  <a:pt x="111280" y="139894"/>
                </a:lnTo>
                <a:lnTo>
                  <a:pt x="114459" y="139894"/>
                </a:lnTo>
                <a:cubicBezTo>
                  <a:pt x="121493" y="139894"/>
                  <a:pt x="127177" y="145578"/>
                  <a:pt x="127177" y="152612"/>
                </a:cubicBezTo>
                <a:lnTo>
                  <a:pt x="127177" y="178047"/>
                </a:lnTo>
                <a:cubicBezTo>
                  <a:pt x="127177" y="185082"/>
                  <a:pt x="121493" y="190765"/>
                  <a:pt x="114459" y="190765"/>
                </a:cubicBezTo>
                <a:lnTo>
                  <a:pt x="89024" y="190765"/>
                </a:lnTo>
                <a:cubicBezTo>
                  <a:pt x="81989" y="190765"/>
                  <a:pt x="76306" y="185082"/>
                  <a:pt x="76306" y="178047"/>
                </a:cubicBezTo>
                <a:lnTo>
                  <a:pt x="76306" y="152612"/>
                </a:lnTo>
                <a:cubicBezTo>
                  <a:pt x="76306" y="145578"/>
                  <a:pt x="81989" y="139894"/>
                  <a:pt x="89024" y="139894"/>
                </a:cubicBezTo>
                <a:lnTo>
                  <a:pt x="92203" y="139894"/>
                </a:lnTo>
                <a:lnTo>
                  <a:pt x="92203" y="108100"/>
                </a:lnTo>
                <a:lnTo>
                  <a:pt x="44512" y="108100"/>
                </a:lnTo>
                <a:cubicBezTo>
                  <a:pt x="39226" y="108100"/>
                  <a:pt x="34974" y="112353"/>
                  <a:pt x="34974" y="117638"/>
                </a:cubicBezTo>
                <a:lnTo>
                  <a:pt x="34974" y="139894"/>
                </a:lnTo>
                <a:lnTo>
                  <a:pt x="38153" y="139894"/>
                </a:lnTo>
                <a:cubicBezTo>
                  <a:pt x="45187" y="139894"/>
                  <a:pt x="50871" y="145578"/>
                  <a:pt x="50871" y="152612"/>
                </a:cubicBezTo>
                <a:lnTo>
                  <a:pt x="50871" y="178047"/>
                </a:lnTo>
                <a:cubicBezTo>
                  <a:pt x="50871" y="185082"/>
                  <a:pt x="45187" y="190765"/>
                  <a:pt x="38153" y="190765"/>
                </a:cubicBezTo>
                <a:lnTo>
                  <a:pt x="12718" y="190765"/>
                </a:lnTo>
                <a:cubicBezTo>
                  <a:pt x="5683" y="190765"/>
                  <a:pt x="0" y="185082"/>
                  <a:pt x="0" y="178047"/>
                </a:cubicBezTo>
                <a:lnTo>
                  <a:pt x="0" y="152612"/>
                </a:lnTo>
                <a:cubicBezTo>
                  <a:pt x="0" y="145578"/>
                  <a:pt x="5683" y="139894"/>
                  <a:pt x="12718" y="139894"/>
                </a:cubicBezTo>
                <a:lnTo>
                  <a:pt x="15897" y="139894"/>
                </a:lnTo>
                <a:lnTo>
                  <a:pt x="15897" y="117638"/>
                </a:lnTo>
                <a:cubicBezTo>
                  <a:pt x="15897" y="101821"/>
                  <a:pt x="28694" y="89024"/>
                  <a:pt x="44512" y="89024"/>
                </a:cubicBezTo>
                <a:lnTo>
                  <a:pt x="92203" y="89024"/>
                </a:lnTo>
                <a:lnTo>
                  <a:pt x="92203" y="63588"/>
                </a:lnTo>
                <a:lnTo>
                  <a:pt x="89024" y="63588"/>
                </a:lnTo>
                <a:cubicBezTo>
                  <a:pt x="81989" y="63588"/>
                  <a:pt x="76306" y="57905"/>
                  <a:pt x="76306" y="50871"/>
                </a:cubicBezTo>
                <a:lnTo>
                  <a:pt x="76306" y="25435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9338828" y="5974317"/>
            <a:ext cx="780017" cy="31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2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Consul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750989" y="6449109"/>
            <a:ext cx="6658403" cy="271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4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HashiCorp 的服务发现和配置管理工具，体现了 Chubby 的设计哲学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74793" y="7467998"/>
            <a:ext cx="15329024" cy="1526120"/>
          </a:xfrm>
          <a:custGeom>
            <a:avLst/>
            <a:gdLst/>
            <a:ahLst/>
            <a:cxnLst/>
            <a:rect l="l" t="t" r="r" b="b"/>
            <a:pathLst>
              <a:path w="15329024" h="1526120">
                <a:moveTo>
                  <a:pt x="45218" y="0"/>
                </a:moveTo>
                <a:lnTo>
                  <a:pt x="15193367" y="0"/>
                </a:lnTo>
                <a:cubicBezTo>
                  <a:pt x="15268288" y="0"/>
                  <a:pt x="15329024" y="60736"/>
                  <a:pt x="15329024" y="135657"/>
                </a:cubicBezTo>
                <a:lnTo>
                  <a:pt x="15329024" y="1390463"/>
                </a:lnTo>
                <a:cubicBezTo>
                  <a:pt x="15329024" y="1465384"/>
                  <a:pt x="15268288" y="1526120"/>
                  <a:pt x="15193367" y="1526120"/>
                </a:cubicBezTo>
                <a:lnTo>
                  <a:pt x="45218" y="1526120"/>
                </a:lnTo>
                <a:cubicBezTo>
                  <a:pt x="20245" y="1526120"/>
                  <a:pt x="0" y="1505875"/>
                  <a:pt x="0" y="1480901"/>
                </a:cubicBezTo>
                <a:lnTo>
                  <a:pt x="0" y="45218"/>
                </a:lnTo>
                <a:cubicBezTo>
                  <a:pt x="0" y="20245"/>
                  <a:pt x="20245" y="0"/>
                  <a:pt x="45218" y="0"/>
                </a:cubicBezTo>
                <a:close/>
              </a:path>
            </a:pathLst>
          </a:custGeom>
          <a:gradFill flip="none" rotWithShape="1">
            <a:gsLst>
              <a:gs pos="0">
                <a:srgbClr val="5A7D9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474793" y="7467998"/>
            <a:ext cx="45218" cy="1526120"/>
          </a:xfrm>
          <a:custGeom>
            <a:avLst/>
            <a:gdLst/>
            <a:ahLst/>
            <a:cxnLst/>
            <a:rect l="l" t="t" r="r" b="b"/>
            <a:pathLst>
              <a:path w="45218" h="1526120">
                <a:moveTo>
                  <a:pt x="45218" y="0"/>
                </a:moveTo>
                <a:lnTo>
                  <a:pt x="45218" y="0"/>
                </a:lnTo>
                <a:lnTo>
                  <a:pt x="45218" y="1526120"/>
                </a:lnTo>
                <a:lnTo>
                  <a:pt x="45218" y="1526120"/>
                </a:lnTo>
                <a:cubicBezTo>
                  <a:pt x="20245" y="1526120"/>
                  <a:pt x="0" y="1505875"/>
                  <a:pt x="0" y="1480901"/>
                </a:cubicBezTo>
                <a:lnTo>
                  <a:pt x="0" y="45218"/>
                </a:lnTo>
                <a:cubicBezTo>
                  <a:pt x="0" y="20245"/>
                  <a:pt x="20245" y="0"/>
                  <a:pt x="45218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723494" y="7694090"/>
            <a:ext cx="542620" cy="542620"/>
          </a:xfrm>
          <a:custGeom>
            <a:avLst/>
            <a:gdLst/>
            <a:ahLst/>
            <a:cxnLst/>
            <a:rect l="l" t="t" r="r" b="b"/>
            <a:pathLst>
              <a:path w="542620" h="542620">
                <a:moveTo>
                  <a:pt x="90439" y="0"/>
                </a:moveTo>
                <a:lnTo>
                  <a:pt x="452182" y="0"/>
                </a:lnTo>
                <a:cubicBezTo>
                  <a:pt x="502130" y="0"/>
                  <a:pt x="542620" y="40491"/>
                  <a:pt x="542620" y="90439"/>
                </a:cubicBezTo>
                <a:lnTo>
                  <a:pt x="542620" y="452182"/>
                </a:lnTo>
                <a:cubicBezTo>
                  <a:pt x="542620" y="502130"/>
                  <a:pt x="502130" y="542620"/>
                  <a:pt x="452182" y="542620"/>
                </a:cubicBezTo>
                <a:lnTo>
                  <a:pt x="90439" y="542620"/>
                </a:lnTo>
                <a:cubicBezTo>
                  <a:pt x="40491" y="542620"/>
                  <a:pt x="0" y="502130"/>
                  <a:pt x="0" y="452182"/>
                </a:cubicBezTo>
                <a:lnTo>
                  <a:pt x="0" y="90439"/>
                </a:lnTo>
                <a:cubicBezTo>
                  <a:pt x="0" y="40491"/>
                  <a:pt x="40491" y="0"/>
                  <a:pt x="90439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867627" y="7852355"/>
            <a:ext cx="254353" cy="226092"/>
          </a:xfrm>
          <a:custGeom>
            <a:avLst/>
            <a:gdLst/>
            <a:ahLst/>
            <a:cxnLst/>
            <a:rect l="l" t="t" r="r" b="b"/>
            <a:pathLst>
              <a:path w="254353" h="226092">
                <a:moveTo>
                  <a:pt x="127177" y="28261"/>
                </a:moveTo>
                <a:cubicBezTo>
                  <a:pt x="173985" y="28261"/>
                  <a:pt x="211961" y="66238"/>
                  <a:pt x="211961" y="113046"/>
                </a:cubicBezTo>
                <a:cubicBezTo>
                  <a:pt x="211961" y="159854"/>
                  <a:pt x="173985" y="197830"/>
                  <a:pt x="127177" y="197830"/>
                </a:cubicBezTo>
                <a:cubicBezTo>
                  <a:pt x="98385" y="197830"/>
                  <a:pt x="72906" y="183479"/>
                  <a:pt x="57583" y="161488"/>
                </a:cubicBezTo>
                <a:cubicBezTo>
                  <a:pt x="53123" y="155085"/>
                  <a:pt x="44291" y="153539"/>
                  <a:pt x="37888" y="157999"/>
                </a:cubicBezTo>
                <a:cubicBezTo>
                  <a:pt x="31485" y="162459"/>
                  <a:pt x="29939" y="171291"/>
                  <a:pt x="34400" y="177694"/>
                </a:cubicBezTo>
                <a:cubicBezTo>
                  <a:pt x="54801" y="206927"/>
                  <a:pt x="88759" y="226092"/>
                  <a:pt x="127177" y="226092"/>
                </a:cubicBezTo>
                <a:cubicBezTo>
                  <a:pt x="189617" y="226092"/>
                  <a:pt x="240223" y="175486"/>
                  <a:pt x="240223" y="113046"/>
                </a:cubicBezTo>
                <a:cubicBezTo>
                  <a:pt x="240223" y="50606"/>
                  <a:pt x="189617" y="0"/>
                  <a:pt x="127177" y="0"/>
                </a:cubicBezTo>
                <a:cubicBezTo>
                  <a:pt x="89333" y="0"/>
                  <a:pt x="55861" y="18591"/>
                  <a:pt x="35327" y="47117"/>
                </a:cubicBezTo>
                <a:lnTo>
                  <a:pt x="35327" y="35327"/>
                </a:lnTo>
                <a:cubicBezTo>
                  <a:pt x="35327" y="27511"/>
                  <a:pt x="29012" y="21196"/>
                  <a:pt x="21196" y="21196"/>
                </a:cubicBezTo>
                <a:cubicBezTo>
                  <a:pt x="13380" y="21196"/>
                  <a:pt x="7065" y="27511"/>
                  <a:pt x="7065" y="35327"/>
                </a:cubicBezTo>
                <a:lnTo>
                  <a:pt x="7065" y="84784"/>
                </a:lnTo>
                <a:cubicBezTo>
                  <a:pt x="7065" y="92600"/>
                  <a:pt x="13380" y="98915"/>
                  <a:pt x="21196" y="98915"/>
                </a:cubicBezTo>
                <a:lnTo>
                  <a:pt x="32059" y="98915"/>
                </a:lnTo>
                <a:cubicBezTo>
                  <a:pt x="32280" y="98915"/>
                  <a:pt x="32501" y="98915"/>
                  <a:pt x="32721" y="98915"/>
                </a:cubicBezTo>
                <a:lnTo>
                  <a:pt x="70698" y="98915"/>
                </a:lnTo>
                <a:cubicBezTo>
                  <a:pt x="78514" y="98915"/>
                  <a:pt x="84829" y="92600"/>
                  <a:pt x="84829" y="84784"/>
                </a:cubicBezTo>
                <a:cubicBezTo>
                  <a:pt x="84829" y="76968"/>
                  <a:pt x="78514" y="70654"/>
                  <a:pt x="70698" y="70654"/>
                </a:cubicBezTo>
                <a:lnTo>
                  <a:pt x="53785" y="70654"/>
                </a:lnTo>
                <a:cubicBezTo>
                  <a:pt x="68402" y="45307"/>
                  <a:pt x="95824" y="28261"/>
                  <a:pt x="127177" y="28261"/>
                </a:cubicBezTo>
                <a:close/>
                <a:moveTo>
                  <a:pt x="137775" y="67121"/>
                </a:moveTo>
                <a:cubicBezTo>
                  <a:pt x="137775" y="61248"/>
                  <a:pt x="133050" y="56523"/>
                  <a:pt x="127177" y="56523"/>
                </a:cubicBezTo>
                <a:cubicBezTo>
                  <a:pt x="121304" y="56523"/>
                  <a:pt x="116579" y="61248"/>
                  <a:pt x="116579" y="67121"/>
                </a:cubicBezTo>
                <a:lnTo>
                  <a:pt x="116579" y="113046"/>
                </a:lnTo>
                <a:cubicBezTo>
                  <a:pt x="116579" y="115872"/>
                  <a:pt x="117683" y="118566"/>
                  <a:pt x="119670" y="120553"/>
                </a:cubicBezTo>
                <a:lnTo>
                  <a:pt x="151464" y="152347"/>
                </a:lnTo>
                <a:cubicBezTo>
                  <a:pt x="155615" y="156498"/>
                  <a:pt x="162327" y="156498"/>
                  <a:pt x="166434" y="152347"/>
                </a:cubicBezTo>
                <a:cubicBezTo>
                  <a:pt x="170540" y="148196"/>
                  <a:pt x="170584" y="141484"/>
                  <a:pt x="166434" y="137377"/>
                </a:cubicBezTo>
                <a:lnTo>
                  <a:pt x="137731" y="108674"/>
                </a:lnTo>
                <a:lnTo>
                  <a:pt x="137731" y="6712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446987" y="7694090"/>
            <a:ext cx="14243783" cy="31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80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历史意义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446987" y="8101056"/>
            <a:ext cx="14232478" cy="666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2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Chubby 作为</a:t>
            </a:r>
            <a:r>
              <a:rPr lang="en-US" sz="1602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最早的大规模分布式锁服务实践</a:t>
            </a:r>
            <a:r>
              <a:rPr lang="en-US" sz="1602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，为整个行业奠定了基础。它不仅证明了分布式锁服务的可行性，更重要的是展示了</a:t>
            </a:r>
            <a:r>
              <a:rPr lang="en-US" sz="1602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工程实用性</a:t>
            </a:r>
            <a:r>
              <a:rPr lang="en-US" sz="1602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在分布式系统设计中的重要性。今天，无论是 ZooKeeper、etcd 还是 Consul，都能看到 Chubby 设计思想的影子。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374" y="482374"/>
            <a:ext cx="15387727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b="1" kern="0" spc="76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SUMMARY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82374" y="868273"/>
            <a:ext cx="15580677" cy="578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58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核心贡献与设计哲学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94433" y="1700368"/>
            <a:ext cx="4908154" cy="2460107"/>
          </a:xfrm>
          <a:custGeom>
            <a:avLst/>
            <a:gdLst/>
            <a:ahLst/>
            <a:cxnLst/>
            <a:rect l="l" t="t" r="r" b="b"/>
            <a:pathLst>
              <a:path w="4908154" h="2460107">
                <a:moveTo>
                  <a:pt x="144703" y="0"/>
                </a:moveTo>
                <a:lnTo>
                  <a:pt x="4763451" y="0"/>
                </a:lnTo>
                <a:cubicBezTo>
                  <a:pt x="4843368" y="0"/>
                  <a:pt x="4908154" y="64786"/>
                  <a:pt x="4908154" y="144703"/>
                </a:cubicBezTo>
                <a:lnTo>
                  <a:pt x="4908154" y="2315403"/>
                </a:lnTo>
                <a:cubicBezTo>
                  <a:pt x="4908154" y="2395321"/>
                  <a:pt x="4843368" y="2460107"/>
                  <a:pt x="4763451" y="2460107"/>
                </a:cubicBezTo>
                <a:lnTo>
                  <a:pt x="144703" y="2460107"/>
                </a:lnTo>
                <a:cubicBezTo>
                  <a:pt x="64786" y="2460107"/>
                  <a:pt x="0" y="2395321"/>
                  <a:pt x="0" y="2315403"/>
                </a:cubicBezTo>
                <a:lnTo>
                  <a:pt x="0" y="144703"/>
                </a:lnTo>
                <a:cubicBezTo>
                  <a:pt x="0" y="64839"/>
                  <a:pt x="64839" y="0"/>
                  <a:pt x="144703" y="0"/>
                </a:cubicBezTo>
                <a:close/>
              </a:path>
            </a:pathLst>
          </a:custGeom>
          <a:gradFill flip="none" rotWithShape="1">
            <a:gsLst>
              <a:gs pos="0">
                <a:srgbClr val="5A7D9A">
                  <a:alpha val="30000"/>
                </a:srgbClr>
              </a:gs>
              <a:gs pos="100000">
                <a:srgbClr val="5A7D9A">
                  <a:alpha val="10000"/>
                </a:srgbClr>
              </a:gs>
            </a:gsLst>
            <a:lin ang="2700000" scaled="1"/>
          </a:gradFill>
          <a:ln w="25400">
            <a:solidFill>
              <a:srgbClr val="5A7D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95917" y="2001852"/>
            <a:ext cx="675323" cy="675323"/>
          </a:xfrm>
          <a:custGeom>
            <a:avLst/>
            <a:gdLst/>
            <a:ahLst/>
            <a:cxnLst/>
            <a:rect l="l" t="t" r="r" b="b"/>
            <a:pathLst>
              <a:path w="675323" h="675323">
                <a:moveTo>
                  <a:pt x="144715" y="0"/>
                </a:moveTo>
                <a:lnTo>
                  <a:pt x="530608" y="0"/>
                </a:lnTo>
                <a:cubicBezTo>
                  <a:pt x="610479" y="0"/>
                  <a:pt x="675323" y="64845"/>
                  <a:pt x="675323" y="144715"/>
                </a:cubicBezTo>
                <a:lnTo>
                  <a:pt x="675323" y="530608"/>
                </a:lnTo>
                <a:cubicBezTo>
                  <a:pt x="675323" y="610479"/>
                  <a:pt x="610479" y="675323"/>
                  <a:pt x="530608" y="675323"/>
                </a:cubicBezTo>
                <a:lnTo>
                  <a:pt x="144715" y="675323"/>
                </a:lnTo>
                <a:cubicBezTo>
                  <a:pt x="64845" y="675323"/>
                  <a:pt x="0" y="610479"/>
                  <a:pt x="0" y="530608"/>
                </a:cubicBezTo>
                <a:lnTo>
                  <a:pt x="0" y="144715"/>
                </a:lnTo>
                <a:cubicBezTo>
                  <a:pt x="0" y="64845"/>
                  <a:pt x="64845" y="0"/>
                  <a:pt x="144715" y="0"/>
                </a:cubicBez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20091" y="2122445"/>
            <a:ext cx="602967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9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64190" y="2146564"/>
            <a:ext cx="2460107" cy="385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79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实用的锁服务设计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917" y="2918362"/>
            <a:ext cx="4401662" cy="94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9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提供了比</a:t>
            </a:r>
            <a:r>
              <a:rPr lang="en-US" sz="1519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直接使用共识算法</a:t>
            </a:r>
            <a:r>
              <a:rPr lang="en-US" sz="1519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更易于使用的接口。通过文件系统 API、咨询锁、序列器等设计，将复杂的分布式协调问题封装在简单易用的接口背后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70060" y="1700368"/>
            <a:ext cx="4908154" cy="2460107"/>
          </a:xfrm>
          <a:custGeom>
            <a:avLst/>
            <a:gdLst/>
            <a:ahLst/>
            <a:cxnLst/>
            <a:rect l="l" t="t" r="r" b="b"/>
            <a:pathLst>
              <a:path w="4908154" h="2460107">
                <a:moveTo>
                  <a:pt x="144703" y="0"/>
                </a:moveTo>
                <a:lnTo>
                  <a:pt x="4763451" y="0"/>
                </a:lnTo>
                <a:cubicBezTo>
                  <a:pt x="4843368" y="0"/>
                  <a:pt x="4908154" y="64786"/>
                  <a:pt x="4908154" y="144703"/>
                </a:cubicBezTo>
                <a:lnTo>
                  <a:pt x="4908154" y="2315403"/>
                </a:lnTo>
                <a:cubicBezTo>
                  <a:pt x="4908154" y="2395321"/>
                  <a:pt x="4843368" y="2460107"/>
                  <a:pt x="4763451" y="2460107"/>
                </a:cubicBezTo>
                <a:lnTo>
                  <a:pt x="144703" y="2460107"/>
                </a:lnTo>
                <a:cubicBezTo>
                  <a:pt x="64786" y="2460107"/>
                  <a:pt x="0" y="2395321"/>
                  <a:pt x="0" y="2315403"/>
                </a:cubicBezTo>
                <a:lnTo>
                  <a:pt x="0" y="144703"/>
                </a:lnTo>
                <a:cubicBezTo>
                  <a:pt x="0" y="64839"/>
                  <a:pt x="64839" y="0"/>
                  <a:pt x="1447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DB3A2">
                  <a:alpha val="30000"/>
                </a:srgbClr>
              </a:gs>
              <a:gs pos="100000">
                <a:srgbClr val="4DB3A2">
                  <a:alpha val="10000"/>
                </a:srgbClr>
              </a:gs>
            </a:gsLst>
            <a:lin ang="2700000" scaled="1"/>
          </a:gradFill>
          <a:ln w="25400">
            <a:solidFill>
              <a:srgbClr val="4DB3A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971544" y="2001852"/>
            <a:ext cx="675323" cy="675323"/>
          </a:xfrm>
          <a:custGeom>
            <a:avLst/>
            <a:gdLst/>
            <a:ahLst/>
            <a:cxnLst/>
            <a:rect l="l" t="t" r="r" b="b"/>
            <a:pathLst>
              <a:path w="675323" h="675323">
                <a:moveTo>
                  <a:pt x="144715" y="0"/>
                </a:moveTo>
                <a:lnTo>
                  <a:pt x="530608" y="0"/>
                </a:lnTo>
                <a:cubicBezTo>
                  <a:pt x="610479" y="0"/>
                  <a:pt x="675323" y="64845"/>
                  <a:pt x="675323" y="144715"/>
                </a:cubicBezTo>
                <a:lnTo>
                  <a:pt x="675323" y="530608"/>
                </a:lnTo>
                <a:cubicBezTo>
                  <a:pt x="675323" y="610479"/>
                  <a:pt x="610479" y="675323"/>
                  <a:pt x="530608" y="675323"/>
                </a:cubicBezTo>
                <a:lnTo>
                  <a:pt x="144715" y="675323"/>
                </a:lnTo>
                <a:cubicBezTo>
                  <a:pt x="64845" y="675323"/>
                  <a:pt x="0" y="610479"/>
                  <a:pt x="0" y="530608"/>
                </a:cubicBezTo>
                <a:lnTo>
                  <a:pt x="0" y="144715"/>
                </a:lnTo>
                <a:cubicBezTo>
                  <a:pt x="0" y="64845"/>
                  <a:pt x="64845" y="0"/>
                  <a:pt x="144715" y="0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095717" y="2122445"/>
            <a:ext cx="602967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9" dirty="0">
                <a:solidFill>
                  <a:srgbClr val="1A202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39817" y="2146564"/>
            <a:ext cx="2170682" cy="385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79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成熟的工程实现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71544" y="2918362"/>
            <a:ext cx="4401662" cy="94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9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 Google 内部</a:t>
            </a:r>
            <a:r>
              <a:rPr lang="en-US" sz="1519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大规模部署并稳定运行多年</a:t>
            </a:r>
            <a:r>
              <a:rPr lang="en-US" sz="1519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，证明了设计的可靠性和实用性。这种经过生产环境验证的设计，为业界提供了宝贵的参考经验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845781" y="1700368"/>
            <a:ext cx="4908154" cy="2460107"/>
          </a:xfrm>
          <a:custGeom>
            <a:avLst/>
            <a:gdLst/>
            <a:ahLst/>
            <a:cxnLst/>
            <a:rect l="l" t="t" r="r" b="b"/>
            <a:pathLst>
              <a:path w="4908154" h="2460107">
                <a:moveTo>
                  <a:pt x="144703" y="0"/>
                </a:moveTo>
                <a:lnTo>
                  <a:pt x="4763451" y="0"/>
                </a:lnTo>
                <a:cubicBezTo>
                  <a:pt x="4843368" y="0"/>
                  <a:pt x="4908154" y="64786"/>
                  <a:pt x="4908154" y="144703"/>
                </a:cubicBezTo>
                <a:lnTo>
                  <a:pt x="4908154" y="2315403"/>
                </a:lnTo>
                <a:cubicBezTo>
                  <a:pt x="4908154" y="2395321"/>
                  <a:pt x="4843368" y="2460107"/>
                  <a:pt x="4763451" y="2460107"/>
                </a:cubicBezTo>
                <a:lnTo>
                  <a:pt x="144703" y="2460107"/>
                </a:lnTo>
                <a:cubicBezTo>
                  <a:pt x="64786" y="2460107"/>
                  <a:pt x="0" y="2395321"/>
                  <a:pt x="0" y="2315403"/>
                </a:cubicBezTo>
                <a:lnTo>
                  <a:pt x="0" y="144703"/>
                </a:lnTo>
                <a:cubicBezTo>
                  <a:pt x="0" y="64839"/>
                  <a:pt x="64839" y="0"/>
                  <a:pt x="144703" y="0"/>
                </a:cubicBezTo>
                <a:close/>
              </a:path>
            </a:pathLst>
          </a:custGeom>
          <a:gradFill flip="none" rotWithShape="1">
            <a:gsLst>
              <a:gs pos="0">
                <a:srgbClr val="E1AF63">
                  <a:alpha val="30000"/>
                </a:srgbClr>
              </a:gs>
              <a:gs pos="100000">
                <a:srgbClr val="E1AF63">
                  <a:alpha val="10000"/>
                </a:srgbClr>
              </a:gs>
            </a:gsLst>
            <a:lin ang="2700000" scaled="1"/>
          </a:gradFill>
          <a:ln w="25400">
            <a:solidFill>
              <a:srgbClr val="E1AF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1147265" y="2001852"/>
            <a:ext cx="675323" cy="675323"/>
          </a:xfrm>
          <a:custGeom>
            <a:avLst/>
            <a:gdLst/>
            <a:ahLst/>
            <a:cxnLst/>
            <a:rect l="l" t="t" r="r" b="b"/>
            <a:pathLst>
              <a:path w="675323" h="675323">
                <a:moveTo>
                  <a:pt x="144715" y="0"/>
                </a:moveTo>
                <a:lnTo>
                  <a:pt x="530608" y="0"/>
                </a:lnTo>
                <a:cubicBezTo>
                  <a:pt x="610479" y="0"/>
                  <a:pt x="675323" y="64845"/>
                  <a:pt x="675323" y="144715"/>
                </a:cubicBezTo>
                <a:lnTo>
                  <a:pt x="675323" y="530608"/>
                </a:lnTo>
                <a:cubicBezTo>
                  <a:pt x="675323" y="610479"/>
                  <a:pt x="610479" y="675323"/>
                  <a:pt x="530608" y="675323"/>
                </a:cubicBezTo>
                <a:lnTo>
                  <a:pt x="144715" y="675323"/>
                </a:lnTo>
                <a:cubicBezTo>
                  <a:pt x="64845" y="675323"/>
                  <a:pt x="0" y="610479"/>
                  <a:pt x="0" y="530608"/>
                </a:cubicBezTo>
                <a:lnTo>
                  <a:pt x="0" y="144715"/>
                </a:lnTo>
                <a:cubicBezTo>
                  <a:pt x="0" y="64845"/>
                  <a:pt x="64845" y="0"/>
                  <a:pt x="144715" y="0"/>
                </a:cubicBez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1271438" y="2122445"/>
            <a:ext cx="602967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9" dirty="0">
                <a:solidFill>
                  <a:srgbClr val="1A202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015538" y="2146564"/>
            <a:ext cx="1881258" cy="385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79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设计经验总结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47265" y="2918362"/>
            <a:ext cx="4401662" cy="94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9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为后续的分布式协调系统提供了</a:t>
            </a:r>
            <a:r>
              <a:rPr lang="en-US" sz="1519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重要的设计参考</a:t>
            </a:r>
            <a:r>
              <a:rPr lang="en-US" sz="1519" dirty="0">
                <a:solidFill>
                  <a:srgbClr val="E2E8F0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。包括粗粒度锁的选择、咨询锁的采用、缓存机制的设计等，都成为后续系统的借鉴对象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4433" y="4425780"/>
            <a:ext cx="15267134" cy="4389602"/>
          </a:xfrm>
          <a:custGeom>
            <a:avLst/>
            <a:gdLst/>
            <a:ahLst/>
            <a:cxnLst/>
            <a:rect l="l" t="t" r="r" b="b"/>
            <a:pathLst>
              <a:path w="15267134" h="4389602">
                <a:moveTo>
                  <a:pt x="144725" y="0"/>
                </a:moveTo>
                <a:lnTo>
                  <a:pt x="15122408" y="0"/>
                </a:lnTo>
                <a:cubicBezTo>
                  <a:pt x="15202338" y="0"/>
                  <a:pt x="15267134" y="64796"/>
                  <a:pt x="15267134" y="144725"/>
                </a:cubicBezTo>
                <a:lnTo>
                  <a:pt x="15267134" y="4244877"/>
                </a:lnTo>
                <a:cubicBezTo>
                  <a:pt x="15267134" y="4324807"/>
                  <a:pt x="15202338" y="4389602"/>
                  <a:pt x="15122408" y="4389602"/>
                </a:cubicBezTo>
                <a:lnTo>
                  <a:pt x="144725" y="4389602"/>
                </a:lnTo>
                <a:cubicBezTo>
                  <a:pt x="64796" y="4389602"/>
                  <a:pt x="0" y="4324807"/>
                  <a:pt x="0" y="4244877"/>
                </a:cubicBezTo>
                <a:lnTo>
                  <a:pt x="0" y="144725"/>
                </a:lnTo>
                <a:cubicBezTo>
                  <a:pt x="0" y="64796"/>
                  <a:pt x="64796" y="0"/>
                  <a:pt x="144725" y="0"/>
                </a:cubicBezTo>
                <a:close/>
              </a:path>
            </a:pathLst>
          </a:custGeom>
          <a:gradFill flip="none" rotWithShape="1">
            <a:gsLst>
              <a:gs pos="0">
                <a:srgbClr val="5A7D9A">
                  <a:alpha val="30000"/>
                </a:srgbClr>
              </a:gs>
              <a:gs pos="100000">
                <a:srgbClr val="5A7D9A">
                  <a:alpha val="10000"/>
                </a:srgbClr>
              </a:gs>
            </a:gsLst>
            <a:lin ang="2700000" scaled="1"/>
          </a:gradFill>
          <a:ln w="25400">
            <a:solidFill>
              <a:srgbClr val="5A7D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50184" y="4775501"/>
            <a:ext cx="253246" cy="289424"/>
          </a:xfrm>
          <a:custGeom>
            <a:avLst/>
            <a:gdLst/>
            <a:ahLst/>
            <a:cxnLst/>
            <a:rect l="l" t="t" r="r" b="b"/>
            <a:pathLst>
              <a:path w="253246" h="289424">
                <a:moveTo>
                  <a:pt x="0" y="122101"/>
                </a:moveTo>
                <a:cubicBezTo>
                  <a:pt x="0" y="84623"/>
                  <a:pt x="30356" y="54267"/>
                  <a:pt x="67834" y="54267"/>
                </a:cubicBezTo>
                <a:lnTo>
                  <a:pt x="72356" y="54267"/>
                </a:lnTo>
                <a:cubicBezTo>
                  <a:pt x="82362" y="54267"/>
                  <a:pt x="90445" y="62351"/>
                  <a:pt x="90445" y="72356"/>
                </a:cubicBezTo>
                <a:cubicBezTo>
                  <a:pt x="90445" y="82362"/>
                  <a:pt x="82362" y="90445"/>
                  <a:pt x="72356" y="90445"/>
                </a:cubicBezTo>
                <a:lnTo>
                  <a:pt x="67834" y="90445"/>
                </a:lnTo>
                <a:cubicBezTo>
                  <a:pt x="50367" y="90445"/>
                  <a:pt x="36178" y="104634"/>
                  <a:pt x="36178" y="122101"/>
                </a:cubicBezTo>
                <a:lnTo>
                  <a:pt x="36178" y="126623"/>
                </a:lnTo>
                <a:lnTo>
                  <a:pt x="72356" y="126623"/>
                </a:lnTo>
                <a:cubicBezTo>
                  <a:pt x="92311" y="126623"/>
                  <a:pt x="108534" y="142847"/>
                  <a:pt x="108534" y="162801"/>
                </a:cubicBezTo>
                <a:lnTo>
                  <a:pt x="108534" y="198979"/>
                </a:lnTo>
                <a:cubicBezTo>
                  <a:pt x="108534" y="218934"/>
                  <a:pt x="92311" y="235157"/>
                  <a:pt x="72356" y="235157"/>
                </a:cubicBezTo>
                <a:lnTo>
                  <a:pt x="36178" y="235157"/>
                </a:lnTo>
                <a:cubicBezTo>
                  <a:pt x="16224" y="235157"/>
                  <a:pt x="0" y="218934"/>
                  <a:pt x="0" y="198979"/>
                </a:cubicBezTo>
                <a:lnTo>
                  <a:pt x="0" y="122101"/>
                </a:lnTo>
                <a:close/>
                <a:moveTo>
                  <a:pt x="144712" y="122101"/>
                </a:moveTo>
                <a:cubicBezTo>
                  <a:pt x="144712" y="84623"/>
                  <a:pt x="175068" y="54267"/>
                  <a:pt x="212546" y="54267"/>
                </a:cubicBezTo>
                <a:lnTo>
                  <a:pt x="217068" y="54267"/>
                </a:lnTo>
                <a:cubicBezTo>
                  <a:pt x="227074" y="54267"/>
                  <a:pt x="235157" y="62351"/>
                  <a:pt x="235157" y="72356"/>
                </a:cubicBezTo>
                <a:cubicBezTo>
                  <a:pt x="235157" y="82362"/>
                  <a:pt x="227074" y="90445"/>
                  <a:pt x="217068" y="90445"/>
                </a:cubicBezTo>
                <a:lnTo>
                  <a:pt x="212546" y="90445"/>
                </a:lnTo>
                <a:cubicBezTo>
                  <a:pt x="195079" y="90445"/>
                  <a:pt x="180890" y="104634"/>
                  <a:pt x="180890" y="122101"/>
                </a:cubicBezTo>
                <a:lnTo>
                  <a:pt x="180890" y="126623"/>
                </a:lnTo>
                <a:lnTo>
                  <a:pt x="217068" y="126623"/>
                </a:lnTo>
                <a:cubicBezTo>
                  <a:pt x="237023" y="126623"/>
                  <a:pt x="253246" y="142847"/>
                  <a:pt x="253246" y="162801"/>
                </a:cubicBezTo>
                <a:lnTo>
                  <a:pt x="253246" y="198979"/>
                </a:lnTo>
                <a:cubicBezTo>
                  <a:pt x="253246" y="218934"/>
                  <a:pt x="237023" y="235157"/>
                  <a:pt x="217068" y="235157"/>
                </a:cubicBezTo>
                <a:lnTo>
                  <a:pt x="180890" y="235157"/>
                </a:lnTo>
                <a:cubicBezTo>
                  <a:pt x="160936" y="235157"/>
                  <a:pt x="144712" y="218934"/>
                  <a:pt x="144712" y="198979"/>
                </a:cubicBezTo>
                <a:lnTo>
                  <a:pt x="144712" y="122101"/>
                </a:ln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157697" y="4727264"/>
            <a:ext cx="14447098" cy="385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79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设计哲学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383" y="5354350"/>
            <a:ext cx="14881234" cy="1085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418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在分布式系统设计中，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3418" dirty="0">
                <a:solidFill>
                  <a:srgbClr val="E1AF63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工程实用性</a:t>
            </a:r>
            <a:r>
              <a:rPr lang="en-US" sz="3418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 往往比 </a:t>
            </a:r>
            <a:r>
              <a:rPr lang="en-US" sz="3418" dirty="0">
                <a:solidFill>
                  <a:srgbClr val="4DB3A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理论创新</a:t>
            </a:r>
            <a:r>
              <a:rPr lang="en-US" sz="3418" dirty="0">
                <a:solidFill>
                  <a:srgbClr val="E2E8F0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 更为重要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1947" y="6831620"/>
            <a:ext cx="4679027" cy="1676249"/>
          </a:xfrm>
          <a:custGeom>
            <a:avLst/>
            <a:gdLst/>
            <a:ahLst/>
            <a:cxnLst/>
            <a:rect l="l" t="t" r="r" b="b"/>
            <a:pathLst>
              <a:path w="4679027" h="1676249">
                <a:moveTo>
                  <a:pt x="144711" y="0"/>
                </a:moveTo>
                <a:lnTo>
                  <a:pt x="4534316" y="0"/>
                </a:lnTo>
                <a:cubicBezTo>
                  <a:pt x="4614238" y="0"/>
                  <a:pt x="4679027" y="64789"/>
                  <a:pt x="4679027" y="144711"/>
                </a:cubicBezTo>
                <a:lnTo>
                  <a:pt x="4679027" y="1531539"/>
                </a:lnTo>
                <a:cubicBezTo>
                  <a:pt x="4679027" y="1611460"/>
                  <a:pt x="4614238" y="1676249"/>
                  <a:pt x="4534316" y="1676249"/>
                </a:cubicBezTo>
                <a:lnTo>
                  <a:pt x="144711" y="1676249"/>
                </a:lnTo>
                <a:cubicBezTo>
                  <a:pt x="64789" y="1676249"/>
                  <a:pt x="0" y="1611460"/>
                  <a:pt x="0" y="1531539"/>
                </a:cubicBezTo>
                <a:lnTo>
                  <a:pt x="0" y="144711"/>
                </a:lnTo>
                <a:cubicBezTo>
                  <a:pt x="0" y="64843"/>
                  <a:pt x="64843" y="0"/>
                  <a:pt x="14471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2700">
            <a:solidFill>
              <a:srgbClr val="5A7D9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2942010" y="7078837"/>
            <a:ext cx="407003" cy="361780"/>
          </a:xfrm>
          <a:custGeom>
            <a:avLst/>
            <a:gdLst/>
            <a:ahLst/>
            <a:cxnLst/>
            <a:rect l="l" t="t" r="r" b="b"/>
            <a:pathLst>
              <a:path w="407003" h="361780">
                <a:moveTo>
                  <a:pt x="190005" y="60203"/>
                </a:moveTo>
                <a:lnTo>
                  <a:pt x="107616" y="151778"/>
                </a:lnTo>
                <a:cubicBezTo>
                  <a:pt x="104365" y="155382"/>
                  <a:pt x="104506" y="160964"/>
                  <a:pt x="107969" y="164426"/>
                </a:cubicBezTo>
                <a:cubicBezTo>
                  <a:pt x="129520" y="185978"/>
                  <a:pt x="164497" y="185978"/>
                  <a:pt x="186048" y="164426"/>
                </a:cubicBezTo>
                <a:lnTo>
                  <a:pt x="208518" y="141956"/>
                </a:lnTo>
                <a:cubicBezTo>
                  <a:pt x="211486" y="138989"/>
                  <a:pt x="215231" y="137364"/>
                  <a:pt x="219047" y="137081"/>
                </a:cubicBezTo>
                <a:cubicBezTo>
                  <a:pt x="223852" y="136657"/>
                  <a:pt x="228798" y="138282"/>
                  <a:pt x="232472" y="141956"/>
                </a:cubicBezTo>
                <a:lnTo>
                  <a:pt x="357258" y="265682"/>
                </a:lnTo>
                <a:lnTo>
                  <a:pt x="407003" y="226113"/>
                </a:lnTo>
                <a:lnTo>
                  <a:pt x="407003" y="22611"/>
                </a:lnTo>
                <a:lnTo>
                  <a:pt x="327864" y="67834"/>
                </a:lnTo>
                <a:lnTo>
                  <a:pt x="311046" y="56599"/>
                </a:lnTo>
                <a:cubicBezTo>
                  <a:pt x="299882" y="49180"/>
                  <a:pt x="286810" y="45223"/>
                  <a:pt x="273384" y="45223"/>
                </a:cubicBezTo>
                <a:lnTo>
                  <a:pt x="223640" y="45223"/>
                </a:lnTo>
                <a:cubicBezTo>
                  <a:pt x="222862" y="45223"/>
                  <a:pt x="222014" y="45223"/>
                  <a:pt x="221237" y="45293"/>
                </a:cubicBezTo>
                <a:cubicBezTo>
                  <a:pt x="209296" y="45929"/>
                  <a:pt x="198061" y="51299"/>
                  <a:pt x="190005" y="60203"/>
                </a:cubicBezTo>
                <a:close/>
                <a:moveTo>
                  <a:pt x="82390" y="129096"/>
                </a:moveTo>
                <a:lnTo>
                  <a:pt x="157855" y="45223"/>
                </a:lnTo>
                <a:lnTo>
                  <a:pt x="129874" y="45223"/>
                </a:lnTo>
                <a:cubicBezTo>
                  <a:pt x="111855" y="45223"/>
                  <a:pt x="94614" y="52359"/>
                  <a:pt x="81895" y="65078"/>
                </a:cubicBezTo>
                <a:lnTo>
                  <a:pt x="79139" y="67834"/>
                </a:lnTo>
                <a:lnTo>
                  <a:pt x="0" y="22611"/>
                </a:lnTo>
                <a:lnTo>
                  <a:pt x="0" y="226113"/>
                </a:lnTo>
                <a:lnTo>
                  <a:pt x="110513" y="318183"/>
                </a:lnTo>
                <a:cubicBezTo>
                  <a:pt x="126764" y="331750"/>
                  <a:pt x="147256" y="339169"/>
                  <a:pt x="168383" y="339169"/>
                </a:cubicBezTo>
                <a:lnTo>
                  <a:pt x="179477" y="339169"/>
                </a:lnTo>
                <a:lnTo>
                  <a:pt x="174531" y="334223"/>
                </a:lnTo>
                <a:cubicBezTo>
                  <a:pt x="167889" y="327581"/>
                  <a:pt x="167889" y="316841"/>
                  <a:pt x="174531" y="310269"/>
                </a:cubicBezTo>
                <a:cubicBezTo>
                  <a:pt x="181173" y="303698"/>
                  <a:pt x="191913" y="303627"/>
                  <a:pt x="198485" y="310269"/>
                </a:cubicBezTo>
                <a:lnTo>
                  <a:pt x="227455" y="339240"/>
                </a:lnTo>
                <a:lnTo>
                  <a:pt x="233815" y="339240"/>
                </a:lnTo>
                <a:cubicBezTo>
                  <a:pt x="247311" y="339240"/>
                  <a:pt x="260524" y="336201"/>
                  <a:pt x="272537" y="330549"/>
                </a:cubicBezTo>
                <a:lnTo>
                  <a:pt x="253670" y="311612"/>
                </a:lnTo>
                <a:cubicBezTo>
                  <a:pt x="247028" y="304970"/>
                  <a:pt x="247028" y="294229"/>
                  <a:pt x="253670" y="287658"/>
                </a:cubicBezTo>
                <a:cubicBezTo>
                  <a:pt x="260312" y="281086"/>
                  <a:pt x="271053" y="281016"/>
                  <a:pt x="277624" y="287658"/>
                </a:cubicBezTo>
                <a:lnTo>
                  <a:pt x="300235" y="310269"/>
                </a:lnTo>
                <a:lnTo>
                  <a:pt x="312601" y="297904"/>
                </a:lnTo>
                <a:cubicBezTo>
                  <a:pt x="318890" y="291615"/>
                  <a:pt x="320727" y="282500"/>
                  <a:pt x="317971" y="274515"/>
                </a:cubicBezTo>
                <a:lnTo>
                  <a:pt x="220531" y="177852"/>
                </a:lnTo>
                <a:lnTo>
                  <a:pt x="210002" y="188380"/>
                </a:lnTo>
                <a:cubicBezTo>
                  <a:pt x="175167" y="223216"/>
                  <a:pt x="118780" y="223216"/>
                  <a:pt x="83944" y="188380"/>
                </a:cubicBezTo>
                <a:cubicBezTo>
                  <a:pt x="67693" y="172128"/>
                  <a:pt x="67057" y="146055"/>
                  <a:pt x="82390" y="129026"/>
                </a:cubicBezTo>
                <a:close/>
              </a:path>
            </a:pathLst>
          </a:custGeom>
          <a:solidFill>
            <a:srgbClr val="4DB3A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94896" y="7585329"/>
            <a:ext cx="4293128" cy="33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09" b="1" dirty="0">
                <a:solidFill>
                  <a:srgbClr val="4DB3A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开发者友好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6955" y="8019466"/>
            <a:ext cx="4269009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9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易于理解和使用的 API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84624" y="6831620"/>
            <a:ext cx="4679027" cy="1676249"/>
          </a:xfrm>
          <a:custGeom>
            <a:avLst/>
            <a:gdLst/>
            <a:ahLst/>
            <a:cxnLst/>
            <a:rect l="l" t="t" r="r" b="b"/>
            <a:pathLst>
              <a:path w="4679027" h="1676249">
                <a:moveTo>
                  <a:pt x="144711" y="0"/>
                </a:moveTo>
                <a:lnTo>
                  <a:pt x="4534316" y="0"/>
                </a:lnTo>
                <a:cubicBezTo>
                  <a:pt x="4614238" y="0"/>
                  <a:pt x="4679027" y="64789"/>
                  <a:pt x="4679027" y="144711"/>
                </a:cubicBezTo>
                <a:lnTo>
                  <a:pt x="4679027" y="1531539"/>
                </a:lnTo>
                <a:cubicBezTo>
                  <a:pt x="4679027" y="1611460"/>
                  <a:pt x="4614238" y="1676249"/>
                  <a:pt x="4534316" y="1676249"/>
                </a:cubicBezTo>
                <a:lnTo>
                  <a:pt x="144711" y="1676249"/>
                </a:lnTo>
                <a:cubicBezTo>
                  <a:pt x="64789" y="1676249"/>
                  <a:pt x="0" y="1611460"/>
                  <a:pt x="0" y="1531539"/>
                </a:cubicBezTo>
                <a:lnTo>
                  <a:pt x="0" y="144711"/>
                </a:lnTo>
                <a:cubicBezTo>
                  <a:pt x="0" y="64843"/>
                  <a:pt x="64843" y="0"/>
                  <a:pt x="14471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2700">
            <a:solidFill>
              <a:srgbClr val="4DB3A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7947392" y="7078837"/>
            <a:ext cx="361780" cy="361780"/>
          </a:xfrm>
          <a:custGeom>
            <a:avLst/>
            <a:gdLst/>
            <a:ahLst/>
            <a:cxnLst/>
            <a:rect l="l" t="t" r="r" b="b"/>
            <a:pathLst>
              <a:path w="361780" h="361780">
                <a:moveTo>
                  <a:pt x="180890" y="0"/>
                </a:moveTo>
                <a:cubicBezTo>
                  <a:pt x="184141" y="0"/>
                  <a:pt x="187391" y="707"/>
                  <a:pt x="190359" y="2049"/>
                </a:cubicBezTo>
                <a:lnTo>
                  <a:pt x="323483" y="58507"/>
                </a:lnTo>
                <a:cubicBezTo>
                  <a:pt x="339028" y="65078"/>
                  <a:pt x="350616" y="80411"/>
                  <a:pt x="350545" y="98924"/>
                </a:cubicBezTo>
                <a:cubicBezTo>
                  <a:pt x="350192" y="169019"/>
                  <a:pt x="321363" y="297268"/>
                  <a:pt x="199615" y="355562"/>
                </a:cubicBezTo>
                <a:cubicBezTo>
                  <a:pt x="187815" y="361215"/>
                  <a:pt x="174107" y="361215"/>
                  <a:pt x="162307" y="355562"/>
                </a:cubicBezTo>
                <a:cubicBezTo>
                  <a:pt x="40488" y="297268"/>
                  <a:pt x="11730" y="169019"/>
                  <a:pt x="11376" y="98924"/>
                </a:cubicBezTo>
                <a:cubicBezTo>
                  <a:pt x="11306" y="80411"/>
                  <a:pt x="22894" y="65078"/>
                  <a:pt x="38439" y="58507"/>
                </a:cubicBezTo>
                <a:lnTo>
                  <a:pt x="171492" y="2049"/>
                </a:lnTo>
                <a:cubicBezTo>
                  <a:pt x="174460" y="707"/>
                  <a:pt x="177640" y="0"/>
                  <a:pt x="180890" y="0"/>
                </a:cubicBezTo>
                <a:close/>
                <a:moveTo>
                  <a:pt x="180890" y="47201"/>
                </a:moveTo>
                <a:lnTo>
                  <a:pt x="180890" y="314367"/>
                </a:lnTo>
                <a:cubicBezTo>
                  <a:pt x="278401" y="267166"/>
                  <a:pt x="304616" y="162589"/>
                  <a:pt x="305252" y="99984"/>
                </a:cubicBezTo>
                <a:lnTo>
                  <a:pt x="180890" y="47272"/>
                </a:lnTo>
                <a:lnTo>
                  <a:pt x="180890" y="47272"/>
                </a:lnTo>
                <a:close/>
              </a:path>
            </a:pathLst>
          </a:custGeom>
          <a:solidFill>
            <a:srgbClr val="E1AF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5977573" y="7585329"/>
            <a:ext cx="4293128" cy="33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09" b="1" dirty="0">
                <a:solidFill>
                  <a:srgbClr val="E1AF6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可靠性优先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989633" y="8019466"/>
            <a:ext cx="4269009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9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稳定性和可用性高于性能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767395" y="6831620"/>
            <a:ext cx="4679027" cy="1676249"/>
          </a:xfrm>
          <a:custGeom>
            <a:avLst/>
            <a:gdLst/>
            <a:ahLst/>
            <a:cxnLst/>
            <a:rect l="l" t="t" r="r" b="b"/>
            <a:pathLst>
              <a:path w="4679027" h="1676249">
                <a:moveTo>
                  <a:pt x="144711" y="0"/>
                </a:moveTo>
                <a:lnTo>
                  <a:pt x="4534316" y="0"/>
                </a:lnTo>
                <a:cubicBezTo>
                  <a:pt x="4614238" y="0"/>
                  <a:pt x="4679027" y="64789"/>
                  <a:pt x="4679027" y="144711"/>
                </a:cubicBezTo>
                <a:lnTo>
                  <a:pt x="4679027" y="1531539"/>
                </a:lnTo>
                <a:cubicBezTo>
                  <a:pt x="4679027" y="1611460"/>
                  <a:pt x="4614238" y="1676249"/>
                  <a:pt x="4534316" y="1676249"/>
                </a:cubicBezTo>
                <a:lnTo>
                  <a:pt x="144711" y="1676249"/>
                </a:lnTo>
                <a:cubicBezTo>
                  <a:pt x="64789" y="1676249"/>
                  <a:pt x="0" y="1611460"/>
                  <a:pt x="0" y="1531539"/>
                </a:cubicBezTo>
                <a:lnTo>
                  <a:pt x="0" y="144711"/>
                </a:lnTo>
                <a:cubicBezTo>
                  <a:pt x="0" y="64843"/>
                  <a:pt x="64843" y="0"/>
                  <a:pt x="14471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2700">
            <a:solidFill>
              <a:srgbClr val="E1AF6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12907553" y="7078837"/>
            <a:ext cx="407003" cy="361780"/>
          </a:xfrm>
          <a:custGeom>
            <a:avLst/>
            <a:gdLst/>
            <a:ahLst/>
            <a:cxnLst/>
            <a:rect l="l" t="t" r="r" b="b"/>
            <a:pathLst>
              <a:path w="407003" h="361780">
                <a:moveTo>
                  <a:pt x="359943" y="69671"/>
                </a:moveTo>
                <a:cubicBezTo>
                  <a:pt x="365313" y="64301"/>
                  <a:pt x="374287" y="65643"/>
                  <a:pt x="376972" y="72709"/>
                </a:cubicBezTo>
                <a:cubicBezTo>
                  <a:pt x="381777" y="85216"/>
                  <a:pt x="384392" y="98854"/>
                  <a:pt x="384392" y="113056"/>
                </a:cubicBezTo>
                <a:cubicBezTo>
                  <a:pt x="384392" y="175520"/>
                  <a:pt x="333799" y="226113"/>
                  <a:pt x="271335" y="226113"/>
                </a:cubicBezTo>
                <a:cubicBezTo>
                  <a:pt x="258970" y="226113"/>
                  <a:pt x="247028" y="224134"/>
                  <a:pt x="235864" y="220460"/>
                </a:cubicBezTo>
                <a:lnTo>
                  <a:pt x="103800" y="352524"/>
                </a:lnTo>
                <a:cubicBezTo>
                  <a:pt x="83944" y="372379"/>
                  <a:pt x="51723" y="372379"/>
                  <a:pt x="31868" y="352524"/>
                </a:cubicBezTo>
                <a:cubicBezTo>
                  <a:pt x="12012" y="332668"/>
                  <a:pt x="12012" y="300447"/>
                  <a:pt x="31868" y="280592"/>
                </a:cubicBezTo>
                <a:lnTo>
                  <a:pt x="163932" y="148528"/>
                </a:lnTo>
                <a:cubicBezTo>
                  <a:pt x="160257" y="137364"/>
                  <a:pt x="158279" y="125493"/>
                  <a:pt x="158279" y="113056"/>
                </a:cubicBezTo>
                <a:cubicBezTo>
                  <a:pt x="158279" y="50593"/>
                  <a:pt x="208872" y="0"/>
                  <a:pt x="271335" y="0"/>
                </a:cubicBezTo>
                <a:cubicBezTo>
                  <a:pt x="285538" y="0"/>
                  <a:pt x="299175" y="2614"/>
                  <a:pt x="311682" y="7419"/>
                </a:cubicBezTo>
                <a:cubicBezTo>
                  <a:pt x="318748" y="10104"/>
                  <a:pt x="320020" y="19078"/>
                  <a:pt x="314721" y="24448"/>
                </a:cubicBezTo>
                <a:lnTo>
                  <a:pt x="252045" y="87124"/>
                </a:lnTo>
                <a:cubicBezTo>
                  <a:pt x="249925" y="89244"/>
                  <a:pt x="248724" y="92141"/>
                  <a:pt x="248724" y="95109"/>
                </a:cubicBezTo>
                <a:lnTo>
                  <a:pt x="248724" y="124362"/>
                </a:lnTo>
                <a:cubicBezTo>
                  <a:pt x="248724" y="130580"/>
                  <a:pt x="253812" y="135668"/>
                  <a:pt x="260030" y="135668"/>
                </a:cubicBezTo>
                <a:lnTo>
                  <a:pt x="289283" y="135668"/>
                </a:lnTo>
                <a:cubicBezTo>
                  <a:pt x="292251" y="135668"/>
                  <a:pt x="295148" y="134466"/>
                  <a:pt x="297268" y="132347"/>
                </a:cubicBezTo>
                <a:lnTo>
                  <a:pt x="359943" y="69671"/>
                </a:lnTo>
                <a:close/>
              </a:path>
            </a:pathLst>
          </a:custGeom>
          <a:solidFill>
            <a:srgbClr val="5A7D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0960345" y="7585329"/>
            <a:ext cx="4293128" cy="33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09" b="1" dirty="0">
                <a:solidFill>
                  <a:srgbClr val="5A7D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可维护性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972404" y="8019466"/>
            <a:ext cx="4269009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9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简化系统设计，降低维护成本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1425</Words>
  <Application>Microsoft Macintosh PowerPoint</Application>
  <PresentationFormat>自定义</PresentationFormat>
  <Paragraphs>552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Microsoft YaHei</vt:lpstr>
      <vt:lpstr>Noto Sans SC</vt:lpstr>
      <vt:lpstr>等线</vt:lpstr>
      <vt:lpstr>MiSans</vt:lpstr>
      <vt:lpstr>Arial</vt:lpstr>
      <vt:lpstr>Calibri</vt:lpstr>
      <vt:lpstr>KaiTi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Chubby 分布式锁服务</dc:title>
  <dc:subject>Chubby 分布式锁服务</dc:subject>
  <dc:creator>Kimi</dc:creator>
  <cp:lastModifiedBy>王 天青</cp:lastModifiedBy>
  <cp:revision>9</cp:revision>
  <dcterms:created xsi:type="dcterms:W3CDTF">2025-12-20T08:55:23Z</dcterms:created>
  <dcterms:modified xsi:type="dcterms:W3CDTF">2025-12-20T09:24:45Z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{"Label":"Chubby 分布式锁服务","ContentProducer":"001191110108MACG2KBH8F10000","ProduceID":"19b3aec6-a702-8793-8000-00002ea36ab0","ReservedCode1":"","ContentPropagator":"001191110108MACG2KBH8F20000","PropagateID":"19b3aec6-a702-8793-8000-00002ea36ab0","ReservedCode2":""}</vt:lpwstr>
  </property>
</Properties>
</file>